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1.xml" ContentType="application/vnd.openxmlformats-officedocument.presentationml.notesSlide+xml"/>
  <Override PartName="/ppt/tags/tag17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7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notesSlides/notesSlide45.xml" ContentType="application/vnd.openxmlformats-officedocument.presentationml.notesSlide+xml"/>
  <Override PartName="/ppt/theme/themeOverride4.xml" ContentType="application/vnd.openxmlformats-officedocument.themeOverride+xml"/>
  <Override PartName="/ppt/notesSlides/notesSlide46.xml" ContentType="application/vnd.openxmlformats-officedocument.presentationml.notesSlide+xml"/>
  <Override PartName="/ppt/theme/themeOverride5.xml" ContentType="application/vnd.openxmlformats-officedocument.themeOverride+xml"/>
  <Override PartName="/ppt/notesSlides/notesSlide47.xml" ContentType="application/vnd.openxmlformats-officedocument.presentationml.notesSlide+xml"/>
  <Override PartName="/ppt/tags/tag172.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heme/themeOverride6.xml" ContentType="application/vnd.openxmlformats-officedocument.themeOverr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notesSlides/notesSlide52.xml" ContentType="application/vnd.openxmlformats-officedocument.presentationml.notesSlid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notesSlides/notesSlide53.xml" ContentType="application/vnd.openxmlformats-officedocument.presentationml.notesSlid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5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6" r:id="rId5"/>
    <p:sldMasterId id="2147483708" r:id="rId6"/>
  </p:sldMasterIdLst>
  <p:notesMasterIdLst>
    <p:notesMasterId r:id="rId395"/>
  </p:notesMasterIdLst>
  <p:sldIdLst>
    <p:sldId id="256" r:id="rId7"/>
    <p:sldId id="402" r:id="rId8"/>
    <p:sldId id="404" r:id="rId9"/>
    <p:sldId id="405" r:id="rId10"/>
    <p:sldId id="406" r:id="rId11"/>
    <p:sldId id="403" r:id="rId12"/>
    <p:sldId id="407" r:id="rId13"/>
    <p:sldId id="258" r:id="rId14"/>
    <p:sldId id="260" r:id="rId15"/>
    <p:sldId id="262" r:id="rId16"/>
    <p:sldId id="261" r:id="rId17"/>
    <p:sldId id="263" r:id="rId18"/>
    <p:sldId id="272" r:id="rId19"/>
    <p:sldId id="264" r:id="rId20"/>
    <p:sldId id="320" r:id="rId21"/>
    <p:sldId id="268" r:id="rId22"/>
    <p:sldId id="273" r:id="rId23"/>
    <p:sldId id="281" r:id="rId24"/>
    <p:sldId id="270" r:id="rId25"/>
    <p:sldId id="271" r:id="rId26"/>
    <p:sldId id="274" r:id="rId27"/>
    <p:sldId id="408" r:id="rId28"/>
    <p:sldId id="279" r:id="rId29"/>
    <p:sldId id="292" r:id="rId30"/>
    <p:sldId id="277" r:id="rId31"/>
    <p:sldId id="278" r:id="rId32"/>
    <p:sldId id="280" r:id="rId33"/>
    <p:sldId id="283" r:id="rId34"/>
    <p:sldId id="282" r:id="rId35"/>
    <p:sldId id="284" r:id="rId36"/>
    <p:sldId id="321" r:id="rId37"/>
    <p:sldId id="285" r:id="rId38"/>
    <p:sldId id="286" r:id="rId39"/>
    <p:sldId id="287" r:id="rId40"/>
    <p:sldId id="288" r:id="rId41"/>
    <p:sldId id="308" r:id="rId42"/>
    <p:sldId id="349" r:id="rId43"/>
    <p:sldId id="350" r:id="rId44"/>
    <p:sldId id="314" r:id="rId45"/>
    <p:sldId id="409" r:id="rId46"/>
    <p:sldId id="2371" r:id="rId47"/>
    <p:sldId id="2360" r:id="rId48"/>
    <p:sldId id="2326" r:id="rId49"/>
    <p:sldId id="2327" r:id="rId50"/>
    <p:sldId id="2414" r:id="rId51"/>
    <p:sldId id="2331" r:id="rId52"/>
    <p:sldId id="2332" r:id="rId53"/>
    <p:sldId id="2334" r:id="rId54"/>
    <p:sldId id="2340" r:id="rId55"/>
    <p:sldId id="2341" r:id="rId56"/>
    <p:sldId id="2342" r:id="rId57"/>
    <p:sldId id="2343" r:id="rId58"/>
    <p:sldId id="2344" r:id="rId59"/>
    <p:sldId id="2345" r:id="rId60"/>
    <p:sldId id="2346" r:id="rId61"/>
    <p:sldId id="2349" r:id="rId62"/>
    <p:sldId id="2351" r:id="rId63"/>
    <p:sldId id="2353" r:id="rId64"/>
    <p:sldId id="2355" r:id="rId65"/>
    <p:sldId id="2357" r:id="rId66"/>
    <p:sldId id="2358" r:id="rId67"/>
    <p:sldId id="2359" r:id="rId68"/>
    <p:sldId id="2361" r:id="rId69"/>
    <p:sldId id="2367" r:id="rId70"/>
    <p:sldId id="2368" r:id="rId71"/>
    <p:sldId id="2369" r:id="rId72"/>
    <p:sldId id="2453" r:id="rId73"/>
    <p:sldId id="2454" r:id="rId74"/>
    <p:sldId id="2455" r:id="rId75"/>
    <p:sldId id="2330" r:id="rId76"/>
    <p:sldId id="2347" r:id="rId77"/>
    <p:sldId id="2417" r:id="rId78"/>
    <p:sldId id="2348" r:id="rId79"/>
    <p:sldId id="2350" r:id="rId80"/>
    <p:sldId id="2352" r:id="rId81"/>
    <p:sldId id="2354" r:id="rId82"/>
    <p:sldId id="2356" r:id="rId83"/>
    <p:sldId id="2362" r:id="rId84"/>
    <p:sldId id="2363" r:id="rId85"/>
    <p:sldId id="2364" r:id="rId86"/>
    <p:sldId id="2365" r:id="rId87"/>
    <p:sldId id="2366" r:id="rId88"/>
    <p:sldId id="2370" r:id="rId89"/>
    <p:sldId id="2457" r:id="rId90"/>
    <p:sldId id="2477" r:id="rId91"/>
    <p:sldId id="2475" r:id="rId92"/>
    <p:sldId id="2474" r:id="rId93"/>
    <p:sldId id="2476" r:id="rId94"/>
    <p:sldId id="2478" r:id="rId95"/>
    <p:sldId id="2479" r:id="rId96"/>
    <p:sldId id="2480" r:id="rId97"/>
    <p:sldId id="2481" r:id="rId98"/>
    <p:sldId id="2482" r:id="rId99"/>
    <p:sldId id="2483" r:id="rId100"/>
    <p:sldId id="2484" r:id="rId101"/>
    <p:sldId id="2485" r:id="rId102"/>
    <p:sldId id="2486" r:id="rId103"/>
    <p:sldId id="2487" r:id="rId104"/>
    <p:sldId id="2488" r:id="rId105"/>
    <p:sldId id="2489" r:id="rId106"/>
    <p:sldId id="2490" r:id="rId107"/>
    <p:sldId id="2325" r:id="rId108"/>
    <p:sldId id="2491" r:id="rId109"/>
    <p:sldId id="2493" r:id="rId110"/>
    <p:sldId id="2494" r:id="rId111"/>
    <p:sldId id="2495" r:id="rId112"/>
    <p:sldId id="2496" r:id="rId113"/>
    <p:sldId id="2499" r:id="rId114"/>
    <p:sldId id="2500" r:id="rId115"/>
    <p:sldId id="2502" r:id="rId116"/>
    <p:sldId id="2503" r:id="rId117"/>
    <p:sldId id="2507" r:id="rId118"/>
    <p:sldId id="2510" r:id="rId119"/>
    <p:sldId id="2512" r:id="rId120"/>
    <p:sldId id="2511" r:id="rId121"/>
    <p:sldId id="2513" r:id="rId122"/>
    <p:sldId id="2514" r:id="rId123"/>
    <p:sldId id="2516" r:id="rId124"/>
    <p:sldId id="2515" r:id="rId125"/>
    <p:sldId id="2517" r:id="rId126"/>
    <p:sldId id="2518" r:id="rId127"/>
    <p:sldId id="2520" r:id="rId128"/>
    <p:sldId id="2519" r:id="rId129"/>
    <p:sldId id="2521" r:id="rId130"/>
    <p:sldId id="2504" r:id="rId131"/>
    <p:sldId id="2509" r:id="rId132"/>
    <p:sldId id="2522" r:id="rId133"/>
    <p:sldId id="2523" r:id="rId134"/>
    <p:sldId id="2526" r:id="rId135"/>
    <p:sldId id="2527" r:id="rId136"/>
    <p:sldId id="2528" r:id="rId137"/>
    <p:sldId id="2529" r:id="rId138"/>
    <p:sldId id="2530" r:id="rId139"/>
    <p:sldId id="2531" r:id="rId140"/>
    <p:sldId id="2532" r:id="rId141"/>
    <p:sldId id="2533" r:id="rId142"/>
    <p:sldId id="2534" r:id="rId143"/>
    <p:sldId id="2535" r:id="rId144"/>
    <p:sldId id="2536" r:id="rId145"/>
    <p:sldId id="2537" r:id="rId146"/>
    <p:sldId id="2539" r:id="rId147"/>
    <p:sldId id="2540" r:id="rId148"/>
    <p:sldId id="2541" r:id="rId149"/>
    <p:sldId id="2542" r:id="rId150"/>
    <p:sldId id="2543" r:id="rId151"/>
    <p:sldId id="2544" r:id="rId152"/>
    <p:sldId id="2545" r:id="rId153"/>
    <p:sldId id="2546" r:id="rId154"/>
    <p:sldId id="2547" r:id="rId155"/>
    <p:sldId id="2548" r:id="rId156"/>
    <p:sldId id="2549" r:id="rId157"/>
    <p:sldId id="2550" r:id="rId158"/>
    <p:sldId id="2551" r:id="rId159"/>
    <p:sldId id="2552" r:id="rId160"/>
    <p:sldId id="2554" r:id="rId161"/>
    <p:sldId id="2555" r:id="rId162"/>
    <p:sldId id="2556" r:id="rId163"/>
    <p:sldId id="2557" r:id="rId164"/>
    <p:sldId id="2559" r:id="rId165"/>
    <p:sldId id="2558" r:id="rId166"/>
    <p:sldId id="2560" r:id="rId167"/>
    <p:sldId id="2561" r:id="rId168"/>
    <p:sldId id="2562" r:id="rId169"/>
    <p:sldId id="2563" r:id="rId170"/>
    <p:sldId id="2564" r:id="rId171"/>
    <p:sldId id="2565" r:id="rId172"/>
    <p:sldId id="2566" r:id="rId173"/>
    <p:sldId id="2567" r:id="rId174"/>
    <p:sldId id="2568" r:id="rId175"/>
    <p:sldId id="2573" r:id="rId176"/>
    <p:sldId id="2569" r:id="rId177"/>
    <p:sldId id="2574" r:id="rId178"/>
    <p:sldId id="2570" r:id="rId179"/>
    <p:sldId id="2571" r:id="rId180"/>
    <p:sldId id="2575" r:id="rId181"/>
    <p:sldId id="2576" r:id="rId182"/>
    <p:sldId id="376" r:id="rId183"/>
    <p:sldId id="374" r:id="rId184"/>
    <p:sldId id="447" r:id="rId185"/>
    <p:sldId id="441" r:id="rId186"/>
    <p:sldId id="442" r:id="rId187"/>
    <p:sldId id="443" r:id="rId188"/>
    <p:sldId id="2577" r:id="rId189"/>
    <p:sldId id="351" r:id="rId190"/>
    <p:sldId id="428" r:id="rId191"/>
    <p:sldId id="2578" r:id="rId192"/>
    <p:sldId id="2579" r:id="rId193"/>
    <p:sldId id="400" r:id="rId194"/>
    <p:sldId id="352" r:id="rId195"/>
    <p:sldId id="353" r:id="rId196"/>
    <p:sldId id="2580" r:id="rId197"/>
    <p:sldId id="354" r:id="rId198"/>
    <p:sldId id="356" r:id="rId199"/>
    <p:sldId id="358" r:id="rId200"/>
    <p:sldId id="359" r:id="rId201"/>
    <p:sldId id="2581" r:id="rId202"/>
    <p:sldId id="361" r:id="rId203"/>
    <p:sldId id="429" r:id="rId204"/>
    <p:sldId id="430" r:id="rId205"/>
    <p:sldId id="431" r:id="rId206"/>
    <p:sldId id="432" r:id="rId207"/>
    <p:sldId id="433" r:id="rId208"/>
    <p:sldId id="434" r:id="rId209"/>
    <p:sldId id="435" r:id="rId210"/>
    <p:sldId id="436" r:id="rId211"/>
    <p:sldId id="437" r:id="rId212"/>
    <p:sldId id="438" r:id="rId213"/>
    <p:sldId id="439" r:id="rId214"/>
    <p:sldId id="440" r:id="rId215"/>
    <p:sldId id="445" r:id="rId216"/>
    <p:sldId id="446" r:id="rId217"/>
    <p:sldId id="444" r:id="rId218"/>
    <p:sldId id="2582" r:id="rId219"/>
    <p:sldId id="1729" r:id="rId220"/>
    <p:sldId id="1728" r:id="rId221"/>
    <p:sldId id="1730" r:id="rId222"/>
    <p:sldId id="1731" r:id="rId223"/>
    <p:sldId id="1732" r:id="rId224"/>
    <p:sldId id="1733" r:id="rId225"/>
    <p:sldId id="1880" r:id="rId226"/>
    <p:sldId id="1734" r:id="rId227"/>
    <p:sldId id="1735" r:id="rId228"/>
    <p:sldId id="1736" r:id="rId229"/>
    <p:sldId id="1737" r:id="rId230"/>
    <p:sldId id="1761" r:id="rId231"/>
    <p:sldId id="1861" r:id="rId232"/>
    <p:sldId id="1862" r:id="rId233"/>
    <p:sldId id="1863" r:id="rId234"/>
    <p:sldId id="1864" r:id="rId235"/>
    <p:sldId id="1865" r:id="rId236"/>
    <p:sldId id="1762" r:id="rId237"/>
    <p:sldId id="1763" r:id="rId238"/>
    <p:sldId id="1764" r:id="rId239"/>
    <p:sldId id="1765" r:id="rId240"/>
    <p:sldId id="1866" r:id="rId241"/>
    <p:sldId id="1879" r:id="rId242"/>
    <p:sldId id="1867" r:id="rId243"/>
    <p:sldId id="1868" r:id="rId244"/>
    <p:sldId id="1869" r:id="rId245"/>
    <p:sldId id="1766" r:id="rId246"/>
    <p:sldId id="1738" r:id="rId247"/>
    <p:sldId id="1739" r:id="rId248"/>
    <p:sldId id="1750" r:id="rId249"/>
    <p:sldId id="1740" r:id="rId250"/>
    <p:sldId id="1749" r:id="rId251"/>
    <p:sldId id="1751" r:id="rId252"/>
    <p:sldId id="1741" r:id="rId253"/>
    <p:sldId id="1742" r:id="rId254"/>
    <p:sldId id="1743" r:id="rId255"/>
    <p:sldId id="1744" r:id="rId256"/>
    <p:sldId id="1745" r:id="rId257"/>
    <p:sldId id="1746" r:id="rId258"/>
    <p:sldId id="1870" r:id="rId259"/>
    <p:sldId id="1871" r:id="rId260"/>
    <p:sldId id="1872" r:id="rId261"/>
    <p:sldId id="1873" r:id="rId262"/>
    <p:sldId id="1874" r:id="rId263"/>
    <p:sldId id="1883" r:id="rId264"/>
    <p:sldId id="1884" r:id="rId265"/>
    <p:sldId id="1885" r:id="rId266"/>
    <p:sldId id="1886" r:id="rId267"/>
    <p:sldId id="1875" r:id="rId268"/>
    <p:sldId id="1876" r:id="rId269"/>
    <p:sldId id="1877" r:id="rId270"/>
    <p:sldId id="1878" r:id="rId271"/>
    <p:sldId id="1882" r:id="rId272"/>
    <p:sldId id="1887" r:id="rId273"/>
    <p:sldId id="1888" r:id="rId274"/>
    <p:sldId id="1890" r:id="rId275"/>
    <p:sldId id="1940" r:id="rId276"/>
    <p:sldId id="2583" r:id="rId277"/>
    <p:sldId id="2584" r:id="rId278"/>
    <p:sldId id="1947" r:id="rId279"/>
    <p:sldId id="2585" r:id="rId280"/>
    <p:sldId id="2586" r:id="rId281"/>
    <p:sldId id="2587" r:id="rId282"/>
    <p:sldId id="2588" r:id="rId283"/>
    <p:sldId id="2589" r:id="rId284"/>
    <p:sldId id="1889" r:id="rId285"/>
    <p:sldId id="2590" r:id="rId286"/>
    <p:sldId id="1951" r:id="rId287"/>
    <p:sldId id="1891" r:id="rId288"/>
    <p:sldId id="1952" r:id="rId289"/>
    <p:sldId id="1961" r:id="rId290"/>
    <p:sldId id="2592" r:id="rId291"/>
    <p:sldId id="1966" r:id="rId292"/>
    <p:sldId id="1967" r:id="rId293"/>
    <p:sldId id="2593" r:id="rId294"/>
    <p:sldId id="2594" r:id="rId295"/>
    <p:sldId id="2595" r:id="rId296"/>
    <p:sldId id="1905" r:id="rId297"/>
    <p:sldId id="1953" r:id="rId298"/>
    <p:sldId id="1906" r:id="rId299"/>
    <p:sldId id="2596" r:id="rId300"/>
    <p:sldId id="1954" r:id="rId301"/>
    <p:sldId id="1931" r:id="rId302"/>
    <p:sldId id="1955" r:id="rId303"/>
    <p:sldId id="1934" r:id="rId304"/>
    <p:sldId id="1933" r:id="rId305"/>
    <p:sldId id="1935" r:id="rId306"/>
    <p:sldId id="1936" r:id="rId307"/>
    <p:sldId id="1937" r:id="rId308"/>
    <p:sldId id="1957" r:id="rId309"/>
    <p:sldId id="1917" r:id="rId310"/>
    <p:sldId id="1908" r:id="rId311"/>
    <p:sldId id="1921" r:id="rId312"/>
    <p:sldId id="1922" r:id="rId313"/>
    <p:sldId id="2597" r:id="rId314"/>
    <p:sldId id="2598" r:id="rId315"/>
    <p:sldId id="2599" r:id="rId316"/>
    <p:sldId id="1965" r:id="rId317"/>
    <p:sldId id="1897" r:id="rId318"/>
    <p:sldId id="1898" r:id="rId319"/>
    <p:sldId id="1899" r:id="rId320"/>
    <p:sldId id="1900" r:id="rId321"/>
    <p:sldId id="1902" r:id="rId322"/>
    <p:sldId id="1963" r:id="rId323"/>
    <p:sldId id="1958" r:id="rId324"/>
    <p:sldId id="1903" r:id="rId325"/>
    <p:sldId id="1904" r:id="rId326"/>
    <p:sldId id="1959" r:id="rId327"/>
    <p:sldId id="2600" r:id="rId328"/>
    <p:sldId id="1924" r:id="rId329"/>
    <p:sldId id="1926" r:id="rId330"/>
    <p:sldId id="1964" r:id="rId331"/>
    <p:sldId id="1881" r:id="rId332"/>
    <p:sldId id="2603" r:id="rId333"/>
    <p:sldId id="2604" r:id="rId334"/>
    <p:sldId id="2605" r:id="rId335"/>
    <p:sldId id="2606" r:id="rId336"/>
    <p:sldId id="2608" r:id="rId337"/>
    <p:sldId id="1810" r:id="rId338"/>
    <p:sldId id="1811" r:id="rId339"/>
    <p:sldId id="1813" r:id="rId340"/>
    <p:sldId id="2609" r:id="rId341"/>
    <p:sldId id="2610" r:id="rId342"/>
    <p:sldId id="2613" r:id="rId343"/>
    <p:sldId id="1773" r:id="rId344"/>
    <p:sldId id="1754" r:id="rId345"/>
    <p:sldId id="1768" r:id="rId346"/>
    <p:sldId id="1769" r:id="rId347"/>
    <p:sldId id="1770" r:id="rId348"/>
    <p:sldId id="1815" r:id="rId349"/>
    <p:sldId id="1816" r:id="rId350"/>
    <p:sldId id="1830" r:id="rId351"/>
    <p:sldId id="1832" r:id="rId352"/>
    <p:sldId id="1833" r:id="rId353"/>
    <p:sldId id="1834" r:id="rId354"/>
    <p:sldId id="1835" r:id="rId355"/>
    <p:sldId id="1837" r:id="rId356"/>
    <p:sldId id="1838" r:id="rId357"/>
    <p:sldId id="1839" r:id="rId358"/>
    <p:sldId id="1840" r:id="rId359"/>
    <p:sldId id="2618" r:id="rId360"/>
    <p:sldId id="2619" r:id="rId361"/>
    <p:sldId id="2620" r:id="rId362"/>
    <p:sldId id="2621" r:id="rId363"/>
    <p:sldId id="2622" r:id="rId364"/>
    <p:sldId id="1817" r:id="rId365"/>
    <p:sldId id="1845" r:id="rId366"/>
    <p:sldId id="1846" r:id="rId367"/>
    <p:sldId id="1771" r:id="rId368"/>
    <p:sldId id="1774" r:id="rId369"/>
    <p:sldId id="1775" r:id="rId370"/>
    <p:sldId id="1776" r:id="rId371"/>
    <p:sldId id="1848" r:id="rId372"/>
    <p:sldId id="1777" r:id="rId373"/>
    <p:sldId id="2624" r:id="rId374"/>
    <p:sldId id="1772" r:id="rId375"/>
    <p:sldId id="1780" r:id="rId376"/>
    <p:sldId id="1781" r:id="rId377"/>
    <p:sldId id="1782" r:id="rId378"/>
    <p:sldId id="1783" r:id="rId379"/>
    <p:sldId id="1784" r:id="rId380"/>
    <p:sldId id="1785" r:id="rId381"/>
    <p:sldId id="1859" r:id="rId382"/>
    <p:sldId id="1787" r:id="rId383"/>
    <p:sldId id="1788" r:id="rId384"/>
    <p:sldId id="1792" r:id="rId385"/>
    <p:sldId id="1794" r:id="rId386"/>
    <p:sldId id="1795" r:id="rId387"/>
    <p:sldId id="1797" r:id="rId388"/>
    <p:sldId id="1799" r:id="rId389"/>
    <p:sldId id="2626" r:id="rId390"/>
    <p:sldId id="2627" r:id="rId391"/>
    <p:sldId id="2628" r:id="rId392"/>
    <p:sldId id="2629" r:id="rId393"/>
    <p:sldId id="1804" r:id="rId39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BEB1760-EFD1-4A9B-BEC6-807A6D60048D}">
          <p14:sldIdLst>
            <p14:sldId id="256"/>
            <p14:sldId id="402"/>
            <p14:sldId id="404"/>
            <p14:sldId id="405"/>
            <p14:sldId id="406"/>
            <p14:sldId id="403"/>
            <p14:sldId id="407"/>
            <p14:sldId id="258"/>
            <p14:sldId id="260"/>
            <p14:sldId id="262"/>
            <p14:sldId id="261"/>
            <p14:sldId id="263"/>
            <p14:sldId id="272"/>
            <p14:sldId id="264"/>
            <p14:sldId id="320"/>
            <p14:sldId id="268"/>
            <p14:sldId id="273"/>
            <p14:sldId id="281"/>
            <p14:sldId id="270"/>
            <p14:sldId id="271"/>
            <p14:sldId id="274"/>
            <p14:sldId id="408"/>
            <p14:sldId id="279"/>
            <p14:sldId id="292"/>
            <p14:sldId id="277"/>
            <p14:sldId id="278"/>
            <p14:sldId id="280"/>
            <p14:sldId id="283"/>
            <p14:sldId id="282"/>
            <p14:sldId id="284"/>
            <p14:sldId id="321"/>
            <p14:sldId id="285"/>
            <p14:sldId id="286"/>
            <p14:sldId id="287"/>
            <p14:sldId id="288"/>
            <p14:sldId id="308"/>
            <p14:sldId id="349"/>
            <p14:sldId id="350"/>
            <p14:sldId id="314"/>
            <p14:sldId id="409"/>
            <p14:sldId id="2371"/>
            <p14:sldId id="2360"/>
            <p14:sldId id="2326"/>
            <p14:sldId id="2327"/>
            <p14:sldId id="2414"/>
            <p14:sldId id="2331"/>
            <p14:sldId id="2332"/>
            <p14:sldId id="2334"/>
            <p14:sldId id="2340"/>
            <p14:sldId id="2341"/>
            <p14:sldId id="2342"/>
            <p14:sldId id="2343"/>
            <p14:sldId id="2344"/>
            <p14:sldId id="2345"/>
            <p14:sldId id="2346"/>
            <p14:sldId id="2349"/>
            <p14:sldId id="2351"/>
            <p14:sldId id="2353"/>
            <p14:sldId id="2355"/>
            <p14:sldId id="2357"/>
            <p14:sldId id="2358"/>
            <p14:sldId id="2359"/>
            <p14:sldId id="2361"/>
            <p14:sldId id="2367"/>
            <p14:sldId id="2368"/>
            <p14:sldId id="2369"/>
            <p14:sldId id="2453"/>
            <p14:sldId id="2454"/>
            <p14:sldId id="2455"/>
            <p14:sldId id="2330"/>
            <p14:sldId id="2347"/>
            <p14:sldId id="2417"/>
            <p14:sldId id="2348"/>
            <p14:sldId id="2350"/>
            <p14:sldId id="2352"/>
            <p14:sldId id="2354"/>
            <p14:sldId id="2356"/>
            <p14:sldId id="2362"/>
            <p14:sldId id="2363"/>
            <p14:sldId id="2364"/>
            <p14:sldId id="2365"/>
            <p14:sldId id="2366"/>
            <p14:sldId id="2370"/>
            <p14:sldId id="2457"/>
            <p14:sldId id="2477"/>
            <p14:sldId id="2475"/>
            <p14:sldId id="2474"/>
            <p14:sldId id="2476"/>
            <p14:sldId id="2478"/>
            <p14:sldId id="2479"/>
            <p14:sldId id="2480"/>
            <p14:sldId id="2481"/>
            <p14:sldId id="2482"/>
            <p14:sldId id="2483"/>
            <p14:sldId id="2484"/>
            <p14:sldId id="2485"/>
            <p14:sldId id="2486"/>
            <p14:sldId id="2487"/>
            <p14:sldId id="2488"/>
            <p14:sldId id="2489"/>
            <p14:sldId id="2490"/>
            <p14:sldId id="2325"/>
            <p14:sldId id="2491"/>
            <p14:sldId id="2493"/>
            <p14:sldId id="2494"/>
            <p14:sldId id="2495"/>
            <p14:sldId id="2496"/>
            <p14:sldId id="2499"/>
            <p14:sldId id="2500"/>
            <p14:sldId id="2502"/>
            <p14:sldId id="2503"/>
            <p14:sldId id="2507"/>
            <p14:sldId id="2510"/>
            <p14:sldId id="2512"/>
            <p14:sldId id="2511"/>
            <p14:sldId id="2513"/>
            <p14:sldId id="2514"/>
            <p14:sldId id="2516"/>
            <p14:sldId id="2515"/>
            <p14:sldId id="2517"/>
            <p14:sldId id="2518"/>
            <p14:sldId id="2520"/>
            <p14:sldId id="2519"/>
            <p14:sldId id="2521"/>
            <p14:sldId id="2504"/>
            <p14:sldId id="2509"/>
            <p14:sldId id="2522"/>
            <p14:sldId id="2523"/>
            <p14:sldId id="2526"/>
            <p14:sldId id="2527"/>
            <p14:sldId id="2528"/>
            <p14:sldId id="2529"/>
            <p14:sldId id="2530"/>
            <p14:sldId id="2531"/>
            <p14:sldId id="2532"/>
            <p14:sldId id="2533"/>
            <p14:sldId id="2534"/>
            <p14:sldId id="2535"/>
            <p14:sldId id="2536"/>
            <p14:sldId id="2537"/>
            <p14:sldId id="2539"/>
            <p14:sldId id="2540"/>
            <p14:sldId id="2541"/>
            <p14:sldId id="2542"/>
            <p14:sldId id="2543"/>
            <p14:sldId id="2544"/>
            <p14:sldId id="2545"/>
            <p14:sldId id="2546"/>
            <p14:sldId id="2547"/>
            <p14:sldId id="2548"/>
            <p14:sldId id="2549"/>
            <p14:sldId id="2550"/>
            <p14:sldId id="2551"/>
            <p14:sldId id="2552"/>
            <p14:sldId id="2554"/>
            <p14:sldId id="2555"/>
            <p14:sldId id="2556"/>
            <p14:sldId id="2557"/>
            <p14:sldId id="2559"/>
            <p14:sldId id="2558"/>
            <p14:sldId id="2560"/>
            <p14:sldId id="2561"/>
            <p14:sldId id="2562"/>
            <p14:sldId id="2563"/>
            <p14:sldId id="2564"/>
            <p14:sldId id="2565"/>
            <p14:sldId id="2566"/>
            <p14:sldId id="2567"/>
            <p14:sldId id="2568"/>
            <p14:sldId id="2573"/>
            <p14:sldId id="2569"/>
            <p14:sldId id="2574"/>
            <p14:sldId id="2570"/>
            <p14:sldId id="2571"/>
            <p14:sldId id="2575"/>
            <p14:sldId id="2576"/>
            <p14:sldId id="376"/>
            <p14:sldId id="374"/>
            <p14:sldId id="447"/>
            <p14:sldId id="441"/>
            <p14:sldId id="442"/>
            <p14:sldId id="443"/>
            <p14:sldId id="2577"/>
            <p14:sldId id="351"/>
            <p14:sldId id="428"/>
            <p14:sldId id="2578"/>
            <p14:sldId id="2579"/>
            <p14:sldId id="400"/>
            <p14:sldId id="352"/>
            <p14:sldId id="353"/>
            <p14:sldId id="2580"/>
            <p14:sldId id="354"/>
            <p14:sldId id="356"/>
            <p14:sldId id="358"/>
            <p14:sldId id="359"/>
            <p14:sldId id="2581"/>
            <p14:sldId id="361"/>
            <p14:sldId id="429"/>
            <p14:sldId id="430"/>
            <p14:sldId id="431"/>
            <p14:sldId id="432"/>
            <p14:sldId id="433"/>
            <p14:sldId id="434"/>
            <p14:sldId id="435"/>
            <p14:sldId id="436"/>
            <p14:sldId id="437"/>
            <p14:sldId id="438"/>
            <p14:sldId id="439"/>
            <p14:sldId id="440"/>
            <p14:sldId id="445"/>
            <p14:sldId id="446"/>
            <p14:sldId id="444"/>
            <p14:sldId id="2582"/>
            <p14:sldId id="1729"/>
            <p14:sldId id="1728"/>
            <p14:sldId id="1730"/>
            <p14:sldId id="1731"/>
            <p14:sldId id="1732"/>
            <p14:sldId id="1733"/>
            <p14:sldId id="1880"/>
            <p14:sldId id="1734"/>
            <p14:sldId id="1735"/>
            <p14:sldId id="1736"/>
            <p14:sldId id="1737"/>
            <p14:sldId id="1761"/>
            <p14:sldId id="1861"/>
            <p14:sldId id="1862"/>
            <p14:sldId id="1863"/>
            <p14:sldId id="1864"/>
            <p14:sldId id="1865"/>
            <p14:sldId id="1762"/>
            <p14:sldId id="1763"/>
            <p14:sldId id="1764"/>
            <p14:sldId id="1765"/>
            <p14:sldId id="1866"/>
            <p14:sldId id="1879"/>
            <p14:sldId id="1867"/>
            <p14:sldId id="1868"/>
            <p14:sldId id="1869"/>
            <p14:sldId id="1766"/>
            <p14:sldId id="1738"/>
            <p14:sldId id="1739"/>
            <p14:sldId id="1750"/>
            <p14:sldId id="1740"/>
            <p14:sldId id="1749"/>
            <p14:sldId id="1751"/>
            <p14:sldId id="1741"/>
            <p14:sldId id="1742"/>
            <p14:sldId id="1743"/>
            <p14:sldId id="1744"/>
            <p14:sldId id="1745"/>
            <p14:sldId id="1746"/>
            <p14:sldId id="1870"/>
            <p14:sldId id="1871"/>
            <p14:sldId id="1872"/>
            <p14:sldId id="1873"/>
            <p14:sldId id="1874"/>
            <p14:sldId id="1883"/>
            <p14:sldId id="1884"/>
            <p14:sldId id="1885"/>
            <p14:sldId id="1886"/>
            <p14:sldId id="1875"/>
            <p14:sldId id="1876"/>
            <p14:sldId id="1877"/>
            <p14:sldId id="1878"/>
            <p14:sldId id="1882"/>
            <p14:sldId id="1887"/>
            <p14:sldId id="1888"/>
            <p14:sldId id="1890"/>
          </p14:sldIdLst>
        </p14:section>
        <p14:section name="默认节" id="{FC170CCB-DBF9-43BF-A51D-581246692BB4}">
          <p14:sldIdLst>
            <p14:sldId id="1940"/>
            <p14:sldId id="2583"/>
            <p14:sldId id="2584"/>
            <p14:sldId id="1947"/>
            <p14:sldId id="2585"/>
            <p14:sldId id="2586"/>
            <p14:sldId id="2587"/>
            <p14:sldId id="2588"/>
            <p14:sldId id="2589"/>
            <p14:sldId id="1889"/>
            <p14:sldId id="2590"/>
            <p14:sldId id="1951"/>
            <p14:sldId id="1891"/>
            <p14:sldId id="1952"/>
            <p14:sldId id="1961"/>
            <p14:sldId id="2592"/>
            <p14:sldId id="1966"/>
            <p14:sldId id="1967"/>
            <p14:sldId id="2593"/>
            <p14:sldId id="2594"/>
            <p14:sldId id="2595"/>
            <p14:sldId id="1905"/>
            <p14:sldId id="1953"/>
            <p14:sldId id="1906"/>
            <p14:sldId id="2596"/>
            <p14:sldId id="1954"/>
            <p14:sldId id="1931"/>
            <p14:sldId id="1955"/>
            <p14:sldId id="1934"/>
            <p14:sldId id="1933"/>
            <p14:sldId id="1935"/>
            <p14:sldId id="1936"/>
            <p14:sldId id="1937"/>
            <p14:sldId id="1957"/>
            <p14:sldId id="1917"/>
            <p14:sldId id="1908"/>
            <p14:sldId id="1921"/>
            <p14:sldId id="1922"/>
            <p14:sldId id="2597"/>
            <p14:sldId id="2598"/>
            <p14:sldId id="2599"/>
            <p14:sldId id="1965"/>
            <p14:sldId id="1897"/>
            <p14:sldId id="1898"/>
            <p14:sldId id="1899"/>
            <p14:sldId id="1900"/>
            <p14:sldId id="1902"/>
            <p14:sldId id="1963"/>
            <p14:sldId id="1958"/>
            <p14:sldId id="1903"/>
            <p14:sldId id="1904"/>
            <p14:sldId id="1959"/>
            <p14:sldId id="2600"/>
            <p14:sldId id="1924"/>
            <p14:sldId id="1926"/>
            <p14:sldId id="1964"/>
            <p14:sldId id="1881"/>
            <p14:sldId id="2603"/>
            <p14:sldId id="2604"/>
            <p14:sldId id="2605"/>
            <p14:sldId id="2606"/>
            <p14:sldId id="2608"/>
            <p14:sldId id="1810"/>
            <p14:sldId id="1811"/>
            <p14:sldId id="1813"/>
            <p14:sldId id="2609"/>
            <p14:sldId id="2610"/>
            <p14:sldId id="2613"/>
            <p14:sldId id="1773"/>
            <p14:sldId id="1754"/>
            <p14:sldId id="1768"/>
            <p14:sldId id="1769"/>
            <p14:sldId id="1770"/>
            <p14:sldId id="1815"/>
            <p14:sldId id="1816"/>
            <p14:sldId id="1830"/>
            <p14:sldId id="1832"/>
            <p14:sldId id="1833"/>
            <p14:sldId id="1834"/>
            <p14:sldId id="1835"/>
            <p14:sldId id="1837"/>
            <p14:sldId id="1838"/>
            <p14:sldId id="1839"/>
            <p14:sldId id="1840"/>
            <p14:sldId id="2618"/>
            <p14:sldId id="2619"/>
            <p14:sldId id="2620"/>
            <p14:sldId id="2621"/>
            <p14:sldId id="2622"/>
            <p14:sldId id="1817"/>
            <p14:sldId id="1845"/>
            <p14:sldId id="1846"/>
            <p14:sldId id="1771"/>
            <p14:sldId id="1774"/>
            <p14:sldId id="1775"/>
            <p14:sldId id="1776"/>
            <p14:sldId id="1848"/>
            <p14:sldId id="1777"/>
            <p14:sldId id="2624"/>
            <p14:sldId id="1772"/>
            <p14:sldId id="1780"/>
            <p14:sldId id="1781"/>
            <p14:sldId id="1782"/>
            <p14:sldId id="1783"/>
            <p14:sldId id="1784"/>
            <p14:sldId id="1785"/>
            <p14:sldId id="1859"/>
            <p14:sldId id="1787"/>
            <p14:sldId id="1788"/>
            <p14:sldId id="1792"/>
            <p14:sldId id="1794"/>
            <p14:sldId id="1795"/>
            <p14:sldId id="1797"/>
            <p14:sldId id="1799"/>
            <p14:sldId id="2626"/>
            <p14:sldId id="2627"/>
            <p14:sldId id="2628"/>
            <p14:sldId id="2629"/>
            <p14:sldId id="18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45" autoAdjust="0"/>
    <p:restoredTop sz="94660"/>
  </p:normalViewPr>
  <p:slideViewPr>
    <p:cSldViewPr snapToGrid="0">
      <p:cViewPr varScale="1">
        <p:scale>
          <a:sx n="90" d="100"/>
          <a:sy n="90" d="100"/>
        </p:scale>
        <p:origin x="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99" Type="http://schemas.openxmlformats.org/officeDocument/2006/relationships/slide" Target="slides/slide293.xml"/><Relationship Id="rId21" Type="http://schemas.openxmlformats.org/officeDocument/2006/relationships/slide" Target="slides/slide15.xml"/><Relationship Id="rId63" Type="http://schemas.openxmlformats.org/officeDocument/2006/relationships/slide" Target="slides/slide57.xml"/><Relationship Id="rId159" Type="http://schemas.openxmlformats.org/officeDocument/2006/relationships/slide" Target="slides/slide153.xml"/><Relationship Id="rId324" Type="http://schemas.openxmlformats.org/officeDocument/2006/relationships/slide" Target="slides/slide318.xml"/><Relationship Id="rId366" Type="http://schemas.openxmlformats.org/officeDocument/2006/relationships/slide" Target="slides/slide360.xml"/><Relationship Id="rId170" Type="http://schemas.openxmlformats.org/officeDocument/2006/relationships/slide" Target="slides/slide164.xml"/><Relationship Id="rId226" Type="http://schemas.openxmlformats.org/officeDocument/2006/relationships/slide" Target="slides/slide220.xml"/><Relationship Id="rId268" Type="http://schemas.openxmlformats.org/officeDocument/2006/relationships/slide" Target="slides/slide262.xml"/><Relationship Id="rId32" Type="http://schemas.openxmlformats.org/officeDocument/2006/relationships/slide" Target="slides/slide26.xml"/><Relationship Id="rId74" Type="http://schemas.openxmlformats.org/officeDocument/2006/relationships/slide" Target="slides/slide68.xml"/><Relationship Id="rId128" Type="http://schemas.openxmlformats.org/officeDocument/2006/relationships/slide" Target="slides/slide122.xml"/><Relationship Id="rId335" Type="http://schemas.openxmlformats.org/officeDocument/2006/relationships/slide" Target="slides/slide329.xml"/><Relationship Id="rId377" Type="http://schemas.openxmlformats.org/officeDocument/2006/relationships/slide" Target="slides/slide371.xml"/><Relationship Id="rId5" Type="http://schemas.openxmlformats.org/officeDocument/2006/relationships/slideMaster" Target="slideMasters/slideMaster5.xml"/><Relationship Id="rId181" Type="http://schemas.openxmlformats.org/officeDocument/2006/relationships/slide" Target="slides/slide175.xml"/><Relationship Id="rId237" Type="http://schemas.openxmlformats.org/officeDocument/2006/relationships/slide" Target="slides/slide231.xml"/><Relationship Id="rId279" Type="http://schemas.openxmlformats.org/officeDocument/2006/relationships/slide" Target="slides/slide273.xml"/><Relationship Id="rId43" Type="http://schemas.openxmlformats.org/officeDocument/2006/relationships/slide" Target="slides/slide37.xml"/><Relationship Id="rId139" Type="http://schemas.openxmlformats.org/officeDocument/2006/relationships/slide" Target="slides/slide133.xml"/><Relationship Id="rId290" Type="http://schemas.openxmlformats.org/officeDocument/2006/relationships/slide" Target="slides/slide284.xml"/><Relationship Id="rId304" Type="http://schemas.openxmlformats.org/officeDocument/2006/relationships/slide" Target="slides/slide298.xml"/><Relationship Id="rId346" Type="http://schemas.openxmlformats.org/officeDocument/2006/relationships/slide" Target="slides/slide340.xml"/><Relationship Id="rId388" Type="http://schemas.openxmlformats.org/officeDocument/2006/relationships/slide" Target="slides/slide382.xml"/><Relationship Id="rId85" Type="http://schemas.openxmlformats.org/officeDocument/2006/relationships/slide" Target="slides/slide79.xml"/><Relationship Id="rId150" Type="http://schemas.openxmlformats.org/officeDocument/2006/relationships/slide" Target="slides/slide144.xml"/><Relationship Id="rId192" Type="http://schemas.openxmlformats.org/officeDocument/2006/relationships/slide" Target="slides/slide186.xml"/><Relationship Id="rId206" Type="http://schemas.openxmlformats.org/officeDocument/2006/relationships/slide" Target="slides/slide200.xml"/><Relationship Id="rId248" Type="http://schemas.openxmlformats.org/officeDocument/2006/relationships/slide" Target="slides/slide242.xml"/><Relationship Id="rId12" Type="http://schemas.openxmlformats.org/officeDocument/2006/relationships/slide" Target="slides/slide6.xml"/><Relationship Id="rId108" Type="http://schemas.openxmlformats.org/officeDocument/2006/relationships/slide" Target="slides/slide102.xml"/><Relationship Id="rId315" Type="http://schemas.openxmlformats.org/officeDocument/2006/relationships/slide" Target="slides/slide309.xml"/><Relationship Id="rId357" Type="http://schemas.openxmlformats.org/officeDocument/2006/relationships/slide" Target="slides/slide351.xml"/><Relationship Id="rId54" Type="http://schemas.openxmlformats.org/officeDocument/2006/relationships/slide" Target="slides/slide48.xml"/><Relationship Id="rId96" Type="http://schemas.openxmlformats.org/officeDocument/2006/relationships/slide" Target="slides/slide90.xml"/><Relationship Id="rId161" Type="http://schemas.openxmlformats.org/officeDocument/2006/relationships/slide" Target="slides/slide155.xml"/><Relationship Id="rId217" Type="http://schemas.openxmlformats.org/officeDocument/2006/relationships/slide" Target="slides/slide211.xml"/><Relationship Id="rId399" Type="http://schemas.openxmlformats.org/officeDocument/2006/relationships/tableStyles" Target="tableStyles.xml"/><Relationship Id="rId259" Type="http://schemas.openxmlformats.org/officeDocument/2006/relationships/slide" Target="slides/slide253.xml"/><Relationship Id="rId23" Type="http://schemas.openxmlformats.org/officeDocument/2006/relationships/slide" Target="slides/slide17.xml"/><Relationship Id="rId119" Type="http://schemas.openxmlformats.org/officeDocument/2006/relationships/slide" Target="slides/slide113.xml"/><Relationship Id="rId270" Type="http://schemas.openxmlformats.org/officeDocument/2006/relationships/slide" Target="slides/slide264.xml"/><Relationship Id="rId326" Type="http://schemas.openxmlformats.org/officeDocument/2006/relationships/slide" Target="slides/slide320.xml"/><Relationship Id="rId65" Type="http://schemas.openxmlformats.org/officeDocument/2006/relationships/slide" Target="slides/slide59.xml"/><Relationship Id="rId130" Type="http://schemas.openxmlformats.org/officeDocument/2006/relationships/slide" Target="slides/slide124.xml"/><Relationship Id="rId368" Type="http://schemas.openxmlformats.org/officeDocument/2006/relationships/slide" Target="slides/slide362.xml"/><Relationship Id="rId172" Type="http://schemas.openxmlformats.org/officeDocument/2006/relationships/slide" Target="slides/slide166.xml"/><Relationship Id="rId228" Type="http://schemas.openxmlformats.org/officeDocument/2006/relationships/slide" Target="slides/slide222.xml"/><Relationship Id="rId281" Type="http://schemas.openxmlformats.org/officeDocument/2006/relationships/slide" Target="slides/slide275.xml"/><Relationship Id="rId337" Type="http://schemas.openxmlformats.org/officeDocument/2006/relationships/slide" Target="slides/slide331.xml"/><Relationship Id="rId34" Type="http://schemas.openxmlformats.org/officeDocument/2006/relationships/slide" Target="slides/slide28.xml"/><Relationship Id="rId76" Type="http://schemas.openxmlformats.org/officeDocument/2006/relationships/slide" Target="slides/slide70.xml"/><Relationship Id="rId141" Type="http://schemas.openxmlformats.org/officeDocument/2006/relationships/slide" Target="slides/slide135.xml"/><Relationship Id="rId379" Type="http://schemas.openxmlformats.org/officeDocument/2006/relationships/slide" Target="slides/slide373.xml"/><Relationship Id="rId7" Type="http://schemas.openxmlformats.org/officeDocument/2006/relationships/slide" Target="slides/slide1.xml"/><Relationship Id="rId183" Type="http://schemas.openxmlformats.org/officeDocument/2006/relationships/slide" Target="slides/slide177.xml"/><Relationship Id="rId239" Type="http://schemas.openxmlformats.org/officeDocument/2006/relationships/slide" Target="slides/slide233.xml"/><Relationship Id="rId390" Type="http://schemas.openxmlformats.org/officeDocument/2006/relationships/slide" Target="slides/slide384.xml"/><Relationship Id="rId250" Type="http://schemas.openxmlformats.org/officeDocument/2006/relationships/slide" Target="slides/slide244.xml"/><Relationship Id="rId292" Type="http://schemas.openxmlformats.org/officeDocument/2006/relationships/slide" Target="slides/slide286.xml"/><Relationship Id="rId306" Type="http://schemas.openxmlformats.org/officeDocument/2006/relationships/slide" Target="slides/slide300.xml"/><Relationship Id="rId45" Type="http://schemas.openxmlformats.org/officeDocument/2006/relationships/slide" Target="slides/slide39.xml"/><Relationship Id="rId87" Type="http://schemas.openxmlformats.org/officeDocument/2006/relationships/slide" Target="slides/slide81.xml"/><Relationship Id="rId110" Type="http://schemas.openxmlformats.org/officeDocument/2006/relationships/slide" Target="slides/slide104.xml"/><Relationship Id="rId348" Type="http://schemas.openxmlformats.org/officeDocument/2006/relationships/slide" Target="slides/slide342.xml"/><Relationship Id="rId152" Type="http://schemas.openxmlformats.org/officeDocument/2006/relationships/slide" Target="slides/slide146.xml"/><Relationship Id="rId194" Type="http://schemas.openxmlformats.org/officeDocument/2006/relationships/slide" Target="slides/slide188.xml"/><Relationship Id="rId208" Type="http://schemas.openxmlformats.org/officeDocument/2006/relationships/slide" Target="slides/slide202.xml"/><Relationship Id="rId261" Type="http://schemas.openxmlformats.org/officeDocument/2006/relationships/slide" Target="slides/slide255.xml"/><Relationship Id="rId14" Type="http://schemas.openxmlformats.org/officeDocument/2006/relationships/slide" Target="slides/slide8.xml"/><Relationship Id="rId56" Type="http://schemas.openxmlformats.org/officeDocument/2006/relationships/slide" Target="slides/slide50.xml"/><Relationship Id="rId317" Type="http://schemas.openxmlformats.org/officeDocument/2006/relationships/slide" Target="slides/slide311.xml"/><Relationship Id="rId359" Type="http://schemas.openxmlformats.org/officeDocument/2006/relationships/slide" Target="slides/slide353.xml"/><Relationship Id="rId98" Type="http://schemas.openxmlformats.org/officeDocument/2006/relationships/slide" Target="slides/slide92.xml"/><Relationship Id="rId121" Type="http://schemas.openxmlformats.org/officeDocument/2006/relationships/slide" Target="slides/slide115.xml"/><Relationship Id="rId163" Type="http://schemas.openxmlformats.org/officeDocument/2006/relationships/slide" Target="slides/slide157.xml"/><Relationship Id="rId219" Type="http://schemas.openxmlformats.org/officeDocument/2006/relationships/slide" Target="slides/slide213.xml"/><Relationship Id="rId370" Type="http://schemas.openxmlformats.org/officeDocument/2006/relationships/slide" Target="slides/slide364.xml"/><Relationship Id="rId230" Type="http://schemas.openxmlformats.org/officeDocument/2006/relationships/slide" Target="slides/slide224.xml"/><Relationship Id="rId25" Type="http://schemas.openxmlformats.org/officeDocument/2006/relationships/slide" Target="slides/slide19.xml"/><Relationship Id="rId67" Type="http://schemas.openxmlformats.org/officeDocument/2006/relationships/slide" Target="slides/slide61.xml"/><Relationship Id="rId272" Type="http://schemas.openxmlformats.org/officeDocument/2006/relationships/slide" Target="slides/slide266.xml"/><Relationship Id="rId328" Type="http://schemas.openxmlformats.org/officeDocument/2006/relationships/slide" Target="slides/slide322.xml"/><Relationship Id="rId132" Type="http://schemas.openxmlformats.org/officeDocument/2006/relationships/slide" Target="slides/slide126.xml"/><Relationship Id="rId174" Type="http://schemas.openxmlformats.org/officeDocument/2006/relationships/slide" Target="slides/slide168.xml"/><Relationship Id="rId381" Type="http://schemas.openxmlformats.org/officeDocument/2006/relationships/slide" Target="slides/slide375.xml"/><Relationship Id="rId241" Type="http://schemas.openxmlformats.org/officeDocument/2006/relationships/slide" Target="slides/slide235.xml"/><Relationship Id="rId36" Type="http://schemas.openxmlformats.org/officeDocument/2006/relationships/slide" Target="slides/slide30.xml"/><Relationship Id="rId283" Type="http://schemas.openxmlformats.org/officeDocument/2006/relationships/slide" Target="slides/slide277.xml"/><Relationship Id="rId339" Type="http://schemas.openxmlformats.org/officeDocument/2006/relationships/slide" Target="slides/slide333.xml"/><Relationship Id="rId78" Type="http://schemas.openxmlformats.org/officeDocument/2006/relationships/slide" Target="slides/slide72.xml"/><Relationship Id="rId101" Type="http://schemas.openxmlformats.org/officeDocument/2006/relationships/slide" Target="slides/slide95.xml"/><Relationship Id="rId143" Type="http://schemas.openxmlformats.org/officeDocument/2006/relationships/slide" Target="slides/slide137.xml"/><Relationship Id="rId185" Type="http://schemas.openxmlformats.org/officeDocument/2006/relationships/slide" Target="slides/slide179.xml"/><Relationship Id="rId350" Type="http://schemas.openxmlformats.org/officeDocument/2006/relationships/slide" Target="slides/slide344.xml"/><Relationship Id="rId9" Type="http://schemas.openxmlformats.org/officeDocument/2006/relationships/slide" Target="slides/slide3.xml"/><Relationship Id="rId210" Type="http://schemas.openxmlformats.org/officeDocument/2006/relationships/slide" Target="slides/slide204.xml"/><Relationship Id="rId392" Type="http://schemas.openxmlformats.org/officeDocument/2006/relationships/slide" Target="slides/slide386.xml"/><Relationship Id="rId252" Type="http://schemas.openxmlformats.org/officeDocument/2006/relationships/slide" Target="slides/slide246.xml"/><Relationship Id="rId294" Type="http://schemas.openxmlformats.org/officeDocument/2006/relationships/slide" Target="slides/slide288.xml"/><Relationship Id="rId308" Type="http://schemas.openxmlformats.org/officeDocument/2006/relationships/slide" Target="slides/slide302.xml"/><Relationship Id="rId47" Type="http://schemas.openxmlformats.org/officeDocument/2006/relationships/slide" Target="slides/slide41.xml"/><Relationship Id="rId89" Type="http://schemas.openxmlformats.org/officeDocument/2006/relationships/slide" Target="slides/slide83.xml"/><Relationship Id="rId112" Type="http://schemas.openxmlformats.org/officeDocument/2006/relationships/slide" Target="slides/slide106.xml"/><Relationship Id="rId154" Type="http://schemas.openxmlformats.org/officeDocument/2006/relationships/slide" Target="slides/slide148.xml"/><Relationship Id="rId361" Type="http://schemas.openxmlformats.org/officeDocument/2006/relationships/slide" Target="slides/slide355.xml"/><Relationship Id="rId196" Type="http://schemas.openxmlformats.org/officeDocument/2006/relationships/slide" Target="slides/slide190.xml"/><Relationship Id="rId16" Type="http://schemas.openxmlformats.org/officeDocument/2006/relationships/slide" Target="slides/slide10.xml"/><Relationship Id="rId221" Type="http://schemas.openxmlformats.org/officeDocument/2006/relationships/slide" Target="slides/slide215.xml"/><Relationship Id="rId263" Type="http://schemas.openxmlformats.org/officeDocument/2006/relationships/slide" Target="slides/slide257.xml"/><Relationship Id="rId319" Type="http://schemas.openxmlformats.org/officeDocument/2006/relationships/slide" Target="slides/slide313.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330" Type="http://schemas.openxmlformats.org/officeDocument/2006/relationships/slide" Target="slides/slide324.xml"/><Relationship Id="rId90" Type="http://schemas.openxmlformats.org/officeDocument/2006/relationships/slide" Target="slides/slide84.xml"/><Relationship Id="rId165" Type="http://schemas.openxmlformats.org/officeDocument/2006/relationships/slide" Target="slides/slide159.xml"/><Relationship Id="rId186" Type="http://schemas.openxmlformats.org/officeDocument/2006/relationships/slide" Target="slides/slide180.xml"/><Relationship Id="rId351" Type="http://schemas.openxmlformats.org/officeDocument/2006/relationships/slide" Target="slides/slide345.xml"/><Relationship Id="rId372" Type="http://schemas.openxmlformats.org/officeDocument/2006/relationships/slide" Target="slides/slide366.xml"/><Relationship Id="rId393" Type="http://schemas.openxmlformats.org/officeDocument/2006/relationships/slide" Target="slides/slide387.xml"/><Relationship Id="rId211" Type="http://schemas.openxmlformats.org/officeDocument/2006/relationships/slide" Target="slides/slide205.xml"/><Relationship Id="rId232" Type="http://schemas.openxmlformats.org/officeDocument/2006/relationships/slide" Target="slides/slide226.xml"/><Relationship Id="rId253" Type="http://schemas.openxmlformats.org/officeDocument/2006/relationships/slide" Target="slides/slide247.xml"/><Relationship Id="rId274" Type="http://schemas.openxmlformats.org/officeDocument/2006/relationships/slide" Target="slides/slide268.xml"/><Relationship Id="rId295" Type="http://schemas.openxmlformats.org/officeDocument/2006/relationships/slide" Target="slides/slide289.xml"/><Relationship Id="rId309" Type="http://schemas.openxmlformats.org/officeDocument/2006/relationships/slide" Target="slides/slide303.xml"/><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320" Type="http://schemas.openxmlformats.org/officeDocument/2006/relationships/slide" Target="slides/slide314.xml"/><Relationship Id="rId80" Type="http://schemas.openxmlformats.org/officeDocument/2006/relationships/slide" Target="slides/slide74.xml"/><Relationship Id="rId155" Type="http://schemas.openxmlformats.org/officeDocument/2006/relationships/slide" Target="slides/slide149.xml"/><Relationship Id="rId176" Type="http://schemas.openxmlformats.org/officeDocument/2006/relationships/slide" Target="slides/slide170.xml"/><Relationship Id="rId197" Type="http://schemas.openxmlformats.org/officeDocument/2006/relationships/slide" Target="slides/slide191.xml"/><Relationship Id="rId341" Type="http://schemas.openxmlformats.org/officeDocument/2006/relationships/slide" Target="slides/slide335.xml"/><Relationship Id="rId362" Type="http://schemas.openxmlformats.org/officeDocument/2006/relationships/slide" Target="slides/slide356.xml"/><Relationship Id="rId383" Type="http://schemas.openxmlformats.org/officeDocument/2006/relationships/slide" Target="slides/slide377.xml"/><Relationship Id="rId201" Type="http://schemas.openxmlformats.org/officeDocument/2006/relationships/slide" Target="slides/slide195.xml"/><Relationship Id="rId222" Type="http://schemas.openxmlformats.org/officeDocument/2006/relationships/slide" Target="slides/slide216.xml"/><Relationship Id="rId243" Type="http://schemas.openxmlformats.org/officeDocument/2006/relationships/slide" Target="slides/slide237.xml"/><Relationship Id="rId264" Type="http://schemas.openxmlformats.org/officeDocument/2006/relationships/slide" Target="slides/slide258.xml"/><Relationship Id="rId285" Type="http://schemas.openxmlformats.org/officeDocument/2006/relationships/slide" Target="slides/slide279.xml"/><Relationship Id="rId17" Type="http://schemas.openxmlformats.org/officeDocument/2006/relationships/slide" Target="slides/slide11.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24" Type="http://schemas.openxmlformats.org/officeDocument/2006/relationships/slide" Target="slides/slide118.xml"/><Relationship Id="rId310" Type="http://schemas.openxmlformats.org/officeDocument/2006/relationships/slide" Target="slides/slide304.xml"/><Relationship Id="rId70" Type="http://schemas.openxmlformats.org/officeDocument/2006/relationships/slide" Target="slides/slide64.xml"/><Relationship Id="rId91" Type="http://schemas.openxmlformats.org/officeDocument/2006/relationships/slide" Target="slides/slide85.xml"/><Relationship Id="rId145" Type="http://schemas.openxmlformats.org/officeDocument/2006/relationships/slide" Target="slides/slide139.xml"/><Relationship Id="rId166" Type="http://schemas.openxmlformats.org/officeDocument/2006/relationships/slide" Target="slides/slide160.xml"/><Relationship Id="rId187" Type="http://schemas.openxmlformats.org/officeDocument/2006/relationships/slide" Target="slides/slide181.xml"/><Relationship Id="rId331" Type="http://schemas.openxmlformats.org/officeDocument/2006/relationships/slide" Target="slides/slide325.xml"/><Relationship Id="rId352" Type="http://schemas.openxmlformats.org/officeDocument/2006/relationships/slide" Target="slides/slide346.xml"/><Relationship Id="rId373" Type="http://schemas.openxmlformats.org/officeDocument/2006/relationships/slide" Target="slides/slide367.xml"/><Relationship Id="rId394" Type="http://schemas.openxmlformats.org/officeDocument/2006/relationships/slide" Target="slides/slide388.xml"/><Relationship Id="rId1" Type="http://schemas.openxmlformats.org/officeDocument/2006/relationships/slideMaster" Target="slideMasters/slideMaster1.xml"/><Relationship Id="rId212" Type="http://schemas.openxmlformats.org/officeDocument/2006/relationships/slide" Target="slides/slide206.xml"/><Relationship Id="rId233" Type="http://schemas.openxmlformats.org/officeDocument/2006/relationships/slide" Target="slides/slide227.xml"/><Relationship Id="rId254" Type="http://schemas.openxmlformats.org/officeDocument/2006/relationships/slide" Target="slides/slide248.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275" Type="http://schemas.openxmlformats.org/officeDocument/2006/relationships/slide" Target="slides/slide269.xml"/><Relationship Id="rId296" Type="http://schemas.openxmlformats.org/officeDocument/2006/relationships/slide" Target="slides/slide290.xml"/><Relationship Id="rId300" Type="http://schemas.openxmlformats.org/officeDocument/2006/relationships/slide" Target="slides/slide294.xml"/><Relationship Id="rId60" Type="http://schemas.openxmlformats.org/officeDocument/2006/relationships/slide" Target="slides/slide54.xml"/><Relationship Id="rId81" Type="http://schemas.openxmlformats.org/officeDocument/2006/relationships/slide" Target="slides/slide75.xml"/><Relationship Id="rId135" Type="http://schemas.openxmlformats.org/officeDocument/2006/relationships/slide" Target="slides/slide129.xml"/><Relationship Id="rId156" Type="http://schemas.openxmlformats.org/officeDocument/2006/relationships/slide" Target="slides/slide150.xml"/><Relationship Id="rId177" Type="http://schemas.openxmlformats.org/officeDocument/2006/relationships/slide" Target="slides/slide171.xml"/><Relationship Id="rId198" Type="http://schemas.openxmlformats.org/officeDocument/2006/relationships/slide" Target="slides/slide192.xml"/><Relationship Id="rId321" Type="http://schemas.openxmlformats.org/officeDocument/2006/relationships/slide" Target="slides/slide315.xml"/><Relationship Id="rId342" Type="http://schemas.openxmlformats.org/officeDocument/2006/relationships/slide" Target="slides/slide336.xml"/><Relationship Id="rId363" Type="http://schemas.openxmlformats.org/officeDocument/2006/relationships/slide" Target="slides/slide357.xml"/><Relationship Id="rId384" Type="http://schemas.openxmlformats.org/officeDocument/2006/relationships/slide" Target="slides/slide378.xml"/><Relationship Id="rId202" Type="http://schemas.openxmlformats.org/officeDocument/2006/relationships/slide" Target="slides/slide196.xml"/><Relationship Id="rId223" Type="http://schemas.openxmlformats.org/officeDocument/2006/relationships/slide" Target="slides/slide217.xml"/><Relationship Id="rId244" Type="http://schemas.openxmlformats.org/officeDocument/2006/relationships/slide" Target="slides/slide238.xml"/><Relationship Id="rId18" Type="http://schemas.openxmlformats.org/officeDocument/2006/relationships/slide" Target="slides/slide12.xml"/><Relationship Id="rId39" Type="http://schemas.openxmlformats.org/officeDocument/2006/relationships/slide" Target="slides/slide33.xml"/><Relationship Id="rId265" Type="http://schemas.openxmlformats.org/officeDocument/2006/relationships/slide" Target="slides/slide259.xml"/><Relationship Id="rId286" Type="http://schemas.openxmlformats.org/officeDocument/2006/relationships/slide" Target="slides/slide280.xml"/><Relationship Id="rId50" Type="http://schemas.openxmlformats.org/officeDocument/2006/relationships/slide" Target="slides/slide44.xml"/><Relationship Id="rId104" Type="http://schemas.openxmlformats.org/officeDocument/2006/relationships/slide" Target="slides/slide98.xml"/><Relationship Id="rId125" Type="http://schemas.openxmlformats.org/officeDocument/2006/relationships/slide" Target="slides/slide119.xml"/><Relationship Id="rId146" Type="http://schemas.openxmlformats.org/officeDocument/2006/relationships/slide" Target="slides/slide140.xml"/><Relationship Id="rId167" Type="http://schemas.openxmlformats.org/officeDocument/2006/relationships/slide" Target="slides/slide161.xml"/><Relationship Id="rId188" Type="http://schemas.openxmlformats.org/officeDocument/2006/relationships/slide" Target="slides/slide182.xml"/><Relationship Id="rId311" Type="http://schemas.openxmlformats.org/officeDocument/2006/relationships/slide" Target="slides/slide305.xml"/><Relationship Id="rId332" Type="http://schemas.openxmlformats.org/officeDocument/2006/relationships/slide" Target="slides/slide326.xml"/><Relationship Id="rId353" Type="http://schemas.openxmlformats.org/officeDocument/2006/relationships/slide" Target="slides/slide347.xml"/><Relationship Id="rId374" Type="http://schemas.openxmlformats.org/officeDocument/2006/relationships/slide" Target="slides/slide368.xml"/><Relationship Id="rId395" Type="http://schemas.openxmlformats.org/officeDocument/2006/relationships/notesMaster" Target="notesMasters/notesMaster1.xml"/><Relationship Id="rId71" Type="http://schemas.openxmlformats.org/officeDocument/2006/relationships/slide" Target="slides/slide65.xml"/><Relationship Id="rId92" Type="http://schemas.openxmlformats.org/officeDocument/2006/relationships/slide" Target="slides/slide86.xml"/><Relationship Id="rId213" Type="http://schemas.openxmlformats.org/officeDocument/2006/relationships/slide" Target="slides/slide207.xml"/><Relationship Id="rId234" Type="http://schemas.openxmlformats.org/officeDocument/2006/relationships/slide" Target="slides/slide228.xml"/><Relationship Id="rId2" Type="http://schemas.openxmlformats.org/officeDocument/2006/relationships/slideMaster" Target="slideMasters/slideMaster2.xml"/><Relationship Id="rId29" Type="http://schemas.openxmlformats.org/officeDocument/2006/relationships/slide" Target="slides/slide23.xml"/><Relationship Id="rId255" Type="http://schemas.openxmlformats.org/officeDocument/2006/relationships/slide" Target="slides/slide249.xml"/><Relationship Id="rId276" Type="http://schemas.openxmlformats.org/officeDocument/2006/relationships/slide" Target="slides/slide270.xml"/><Relationship Id="rId297" Type="http://schemas.openxmlformats.org/officeDocument/2006/relationships/slide" Target="slides/slide291.xml"/><Relationship Id="rId40" Type="http://schemas.openxmlformats.org/officeDocument/2006/relationships/slide" Target="slides/slide34.xml"/><Relationship Id="rId115" Type="http://schemas.openxmlformats.org/officeDocument/2006/relationships/slide" Target="slides/slide109.xml"/><Relationship Id="rId136" Type="http://schemas.openxmlformats.org/officeDocument/2006/relationships/slide" Target="slides/slide130.xml"/><Relationship Id="rId157" Type="http://schemas.openxmlformats.org/officeDocument/2006/relationships/slide" Target="slides/slide151.xml"/><Relationship Id="rId178" Type="http://schemas.openxmlformats.org/officeDocument/2006/relationships/slide" Target="slides/slide172.xml"/><Relationship Id="rId301" Type="http://schemas.openxmlformats.org/officeDocument/2006/relationships/slide" Target="slides/slide295.xml"/><Relationship Id="rId322" Type="http://schemas.openxmlformats.org/officeDocument/2006/relationships/slide" Target="slides/slide316.xml"/><Relationship Id="rId343" Type="http://schemas.openxmlformats.org/officeDocument/2006/relationships/slide" Target="slides/slide337.xml"/><Relationship Id="rId364" Type="http://schemas.openxmlformats.org/officeDocument/2006/relationships/slide" Target="slides/slide358.xml"/><Relationship Id="rId61" Type="http://schemas.openxmlformats.org/officeDocument/2006/relationships/slide" Target="slides/slide55.xml"/><Relationship Id="rId82" Type="http://schemas.openxmlformats.org/officeDocument/2006/relationships/slide" Target="slides/slide76.xml"/><Relationship Id="rId199" Type="http://schemas.openxmlformats.org/officeDocument/2006/relationships/slide" Target="slides/slide193.xml"/><Relationship Id="rId203" Type="http://schemas.openxmlformats.org/officeDocument/2006/relationships/slide" Target="slides/slide197.xml"/><Relationship Id="rId385" Type="http://schemas.openxmlformats.org/officeDocument/2006/relationships/slide" Target="slides/slide379.xml"/><Relationship Id="rId19" Type="http://schemas.openxmlformats.org/officeDocument/2006/relationships/slide" Target="slides/slide13.xml"/><Relationship Id="rId224" Type="http://schemas.openxmlformats.org/officeDocument/2006/relationships/slide" Target="slides/slide218.xml"/><Relationship Id="rId245" Type="http://schemas.openxmlformats.org/officeDocument/2006/relationships/slide" Target="slides/slide239.xml"/><Relationship Id="rId266" Type="http://schemas.openxmlformats.org/officeDocument/2006/relationships/slide" Target="slides/slide260.xml"/><Relationship Id="rId287" Type="http://schemas.openxmlformats.org/officeDocument/2006/relationships/slide" Target="slides/slide281.xml"/><Relationship Id="rId30" Type="http://schemas.openxmlformats.org/officeDocument/2006/relationships/slide" Target="slides/slide2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168" Type="http://schemas.openxmlformats.org/officeDocument/2006/relationships/slide" Target="slides/slide162.xml"/><Relationship Id="rId312" Type="http://schemas.openxmlformats.org/officeDocument/2006/relationships/slide" Target="slides/slide306.xml"/><Relationship Id="rId333" Type="http://schemas.openxmlformats.org/officeDocument/2006/relationships/slide" Target="slides/slide327.xml"/><Relationship Id="rId354" Type="http://schemas.openxmlformats.org/officeDocument/2006/relationships/slide" Target="slides/slide348.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189" Type="http://schemas.openxmlformats.org/officeDocument/2006/relationships/slide" Target="slides/slide183.xml"/><Relationship Id="rId375" Type="http://schemas.openxmlformats.org/officeDocument/2006/relationships/slide" Target="slides/slide369.xml"/><Relationship Id="rId396" Type="http://schemas.openxmlformats.org/officeDocument/2006/relationships/presProps" Target="presProps.xml"/><Relationship Id="rId3" Type="http://schemas.openxmlformats.org/officeDocument/2006/relationships/slideMaster" Target="slideMasters/slideMaster3.xml"/><Relationship Id="rId214" Type="http://schemas.openxmlformats.org/officeDocument/2006/relationships/slide" Target="slides/slide208.xml"/><Relationship Id="rId235" Type="http://schemas.openxmlformats.org/officeDocument/2006/relationships/slide" Target="slides/slide229.xml"/><Relationship Id="rId256" Type="http://schemas.openxmlformats.org/officeDocument/2006/relationships/slide" Target="slides/slide250.xml"/><Relationship Id="rId277" Type="http://schemas.openxmlformats.org/officeDocument/2006/relationships/slide" Target="slides/slide271.xml"/><Relationship Id="rId298" Type="http://schemas.openxmlformats.org/officeDocument/2006/relationships/slide" Target="slides/slide292.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slide" Target="slides/slide152.xml"/><Relationship Id="rId302" Type="http://schemas.openxmlformats.org/officeDocument/2006/relationships/slide" Target="slides/slide296.xml"/><Relationship Id="rId323" Type="http://schemas.openxmlformats.org/officeDocument/2006/relationships/slide" Target="slides/slide317.xml"/><Relationship Id="rId344" Type="http://schemas.openxmlformats.org/officeDocument/2006/relationships/slide" Target="slides/slide338.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179" Type="http://schemas.openxmlformats.org/officeDocument/2006/relationships/slide" Target="slides/slide173.xml"/><Relationship Id="rId365" Type="http://schemas.openxmlformats.org/officeDocument/2006/relationships/slide" Target="slides/slide359.xml"/><Relationship Id="rId386" Type="http://schemas.openxmlformats.org/officeDocument/2006/relationships/slide" Target="slides/slide380.xml"/><Relationship Id="rId190" Type="http://schemas.openxmlformats.org/officeDocument/2006/relationships/slide" Target="slides/slide184.xml"/><Relationship Id="rId204" Type="http://schemas.openxmlformats.org/officeDocument/2006/relationships/slide" Target="slides/slide198.xml"/><Relationship Id="rId225" Type="http://schemas.openxmlformats.org/officeDocument/2006/relationships/slide" Target="slides/slide219.xml"/><Relationship Id="rId246" Type="http://schemas.openxmlformats.org/officeDocument/2006/relationships/slide" Target="slides/slide240.xml"/><Relationship Id="rId267" Type="http://schemas.openxmlformats.org/officeDocument/2006/relationships/slide" Target="slides/slide261.xml"/><Relationship Id="rId288" Type="http://schemas.openxmlformats.org/officeDocument/2006/relationships/slide" Target="slides/slide282.xml"/><Relationship Id="rId106" Type="http://schemas.openxmlformats.org/officeDocument/2006/relationships/slide" Target="slides/slide100.xml"/><Relationship Id="rId127" Type="http://schemas.openxmlformats.org/officeDocument/2006/relationships/slide" Target="slides/slide121.xml"/><Relationship Id="rId313" Type="http://schemas.openxmlformats.org/officeDocument/2006/relationships/slide" Target="slides/slide307.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94" Type="http://schemas.openxmlformats.org/officeDocument/2006/relationships/slide" Target="slides/slide88.xml"/><Relationship Id="rId148" Type="http://schemas.openxmlformats.org/officeDocument/2006/relationships/slide" Target="slides/slide142.xml"/><Relationship Id="rId169" Type="http://schemas.openxmlformats.org/officeDocument/2006/relationships/slide" Target="slides/slide163.xml"/><Relationship Id="rId334" Type="http://schemas.openxmlformats.org/officeDocument/2006/relationships/slide" Target="slides/slide328.xml"/><Relationship Id="rId355" Type="http://schemas.openxmlformats.org/officeDocument/2006/relationships/slide" Target="slides/slide349.xml"/><Relationship Id="rId376" Type="http://schemas.openxmlformats.org/officeDocument/2006/relationships/slide" Target="slides/slide370.xml"/><Relationship Id="rId397" Type="http://schemas.openxmlformats.org/officeDocument/2006/relationships/viewProps" Target="viewProps.xml"/><Relationship Id="rId4" Type="http://schemas.openxmlformats.org/officeDocument/2006/relationships/slideMaster" Target="slideMasters/slideMaster4.xml"/><Relationship Id="rId180" Type="http://schemas.openxmlformats.org/officeDocument/2006/relationships/slide" Target="slides/slide174.xml"/><Relationship Id="rId215" Type="http://schemas.openxmlformats.org/officeDocument/2006/relationships/slide" Target="slides/slide209.xml"/><Relationship Id="rId236" Type="http://schemas.openxmlformats.org/officeDocument/2006/relationships/slide" Target="slides/slide230.xml"/><Relationship Id="rId257" Type="http://schemas.openxmlformats.org/officeDocument/2006/relationships/slide" Target="slides/slide251.xml"/><Relationship Id="rId278" Type="http://schemas.openxmlformats.org/officeDocument/2006/relationships/slide" Target="slides/slide272.xml"/><Relationship Id="rId303" Type="http://schemas.openxmlformats.org/officeDocument/2006/relationships/slide" Target="slides/slide297.xml"/><Relationship Id="rId42" Type="http://schemas.openxmlformats.org/officeDocument/2006/relationships/slide" Target="slides/slide36.xml"/><Relationship Id="rId84" Type="http://schemas.openxmlformats.org/officeDocument/2006/relationships/slide" Target="slides/slide78.xml"/><Relationship Id="rId138" Type="http://schemas.openxmlformats.org/officeDocument/2006/relationships/slide" Target="slides/slide132.xml"/><Relationship Id="rId345" Type="http://schemas.openxmlformats.org/officeDocument/2006/relationships/slide" Target="slides/slide339.xml"/><Relationship Id="rId387" Type="http://schemas.openxmlformats.org/officeDocument/2006/relationships/slide" Target="slides/slide381.xml"/><Relationship Id="rId191" Type="http://schemas.openxmlformats.org/officeDocument/2006/relationships/slide" Target="slides/slide185.xml"/><Relationship Id="rId205" Type="http://schemas.openxmlformats.org/officeDocument/2006/relationships/slide" Target="slides/slide199.xml"/><Relationship Id="rId247" Type="http://schemas.openxmlformats.org/officeDocument/2006/relationships/slide" Target="slides/slide241.xml"/><Relationship Id="rId107" Type="http://schemas.openxmlformats.org/officeDocument/2006/relationships/slide" Target="slides/slide101.xml"/><Relationship Id="rId289" Type="http://schemas.openxmlformats.org/officeDocument/2006/relationships/slide" Target="slides/slide283.xml"/><Relationship Id="rId11" Type="http://schemas.openxmlformats.org/officeDocument/2006/relationships/slide" Target="slides/slide5.xml"/><Relationship Id="rId53" Type="http://schemas.openxmlformats.org/officeDocument/2006/relationships/slide" Target="slides/slide47.xml"/><Relationship Id="rId149" Type="http://schemas.openxmlformats.org/officeDocument/2006/relationships/slide" Target="slides/slide143.xml"/><Relationship Id="rId314" Type="http://schemas.openxmlformats.org/officeDocument/2006/relationships/slide" Target="slides/slide308.xml"/><Relationship Id="rId356" Type="http://schemas.openxmlformats.org/officeDocument/2006/relationships/slide" Target="slides/slide350.xml"/><Relationship Id="rId398" Type="http://schemas.openxmlformats.org/officeDocument/2006/relationships/theme" Target="theme/theme1.xml"/><Relationship Id="rId95" Type="http://schemas.openxmlformats.org/officeDocument/2006/relationships/slide" Target="slides/slide89.xml"/><Relationship Id="rId160" Type="http://schemas.openxmlformats.org/officeDocument/2006/relationships/slide" Target="slides/slide154.xml"/><Relationship Id="rId216" Type="http://schemas.openxmlformats.org/officeDocument/2006/relationships/slide" Target="slides/slide210.xml"/><Relationship Id="rId258" Type="http://schemas.openxmlformats.org/officeDocument/2006/relationships/slide" Target="slides/slide252.xml"/><Relationship Id="rId22" Type="http://schemas.openxmlformats.org/officeDocument/2006/relationships/slide" Target="slides/slide16.xml"/><Relationship Id="rId64" Type="http://schemas.openxmlformats.org/officeDocument/2006/relationships/slide" Target="slides/slide58.xml"/><Relationship Id="rId118" Type="http://schemas.openxmlformats.org/officeDocument/2006/relationships/slide" Target="slides/slide112.xml"/><Relationship Id="rId325" Type="http://schemas.openxmlformats.org/officeDocument/2006/relationships/slide" Target="slides/slide319.xml"/><Relationship Id="rId367" Type="http://schemas.openxmlformats.org/officeDocument/2006/relationships/slide" Target="slides/slide361.xml"/><Relationship Id="rId171" Type="http://schemas.openxmlformats.org/officeDocument/2006/relationships/slide" Target="slides/slide165.xml"/><Relationship Id="rId227" Type="http://schemas.openxmlformats.org/officeDocument/2006/relationships/slide" Target="slides/slide221.xml"/><Relationship Id="rId269" Type="http://schemas.openxmlformats.org/officeDocument/2006/relationships/slide" Target="slides/slide263.xml"/><Relationship Id="rId33" Type="http://schemas.openxmlformats.org/officeDocument/2006/relationships/slide" Target="slides/slide27.xml"/><Relationship Id="rId129" Type="http://schemas.openxmlformats.org/officeDocument/2006/relationships/slide" Target="slides/slide123.xml"/><Relationship Id="rId280" Type="http://schemas.openxmlformats.org/officeDocument/2006/relationships/slide" Target="slides/slide274.xml"/><Relationship Id="rId336" Type="http://schemas.openxmlformats.org/officeDocument/2006/relationships/slide" Target="slides/slide330.xml"/><Relationship Id="rId75" Type="http://schemas.openxmlformats.org/officeDocument/2006/relationships/slide" Target="slides/slide69.xml"/><Relationship Id="rId140" Type="http://schemas.openxmlformats.org/officeDocument/2006/relationships/slide" Target="slides/slide134.xml"/><Relationship Id="rId182" Type="http://schemas.openxmlformats.org/officeDocument/2006/relationships/slide" Target="slides/slide176.xml"/><Relationship Id="rId378" Type="http://schemas.openxmlformats.org/officeDocument/2006/relationships/slide" Target="slides/slide372.xml"/><Relationship Id="rId6" Type="http://schemas.openxmlformats.org/officeDocument/2006/relationships/slideMaster" Target="slideMasters/slideMaster6.xml"/><Relationship Id="rId238" Type="http://schemas.openxmlformats.org/officeDocument/2006/relationships/slide" Target="slides/slide232.xml"/><Relationship Id="rId291" Type="http://schemas.openxmlformats.org/officeDocument/2006/relationships/slide" Target="slides/slide285.xml"/><Relationship Id="rId305" Type="http://schemas.openxmlformats.org/officeDocument/2006/relationships/slide" Target="slides/slide299.xml"/><Relationship Id="rId347" Type="http://schemas.openxmlformats.org/officeDocument/2006/relationships/slide" Target="slides/slide341.xml"/><Relationship Id="rId44" Type="http://schemas.openxmlformats.org/officeDocument/2006/relationships/slide" Target="slides/slide38.xml"/><Relationship Id="rId86" Type="http://schemas.openxmlformats.org/officeDocument/2006/relationships/slide" Target="slides/slide80.xml"/><Relationship Id="rId151" Type="http://schemas.openxmlformats.org/officeDocument/2006/relationships/slide" Target="slides/slide145.xml"/><Relationship Id="rId389" Type="http://schemas.openxmlformats.org/officeDocument/2006/relationships/slide" Target="slides/slide383.xml"/><Relationship Id="rId193" Type="http://schemas.openxmlformats.org/officeDocument/2006/relationships/slide" Target="slides/slide187.xml"/><Relationship Id="rId207" Type="http://schemas.openxmlformats.org/officeDocument/2006/relationships/slide" Target="slides/slide201.xml"/><Relationship Id="rId249" Type="http://schemas.openxmlformats.org/officeDocument/2006/relationships/slide" Target="slides/slide243.xml"/><Relationship Id="rId13" Type="http://schemas.openxmlformats.org/officeDocument/2006/relationships/slide" Target="slides/slide7.xml"/><Relationship Id="rId109" Type="http://schemas.openxmlformats.org/officeDocument/2006/relationships/slide" Target="slides/slide103.xml"/><Relationship Id="rId260" Type="http://schemas.openxmlformats.org/officeDocument/2006/relationships/slide" Target="slides/slide254.xml"/><Relationship Id="rId316" Type="http://schemas.openxmlformats.org/officeDocument/2006/relationships/slide" Target="slides/slide310.xml"/><Relationship Id="rId55" Type="http://schemas.openxmlformats.org/officeDocument/2006/relationships/slide" Target="slides/slide49.xml"/><Relationship Id="rId97" Type="http://schemas.openxmlformats.org/officeDocument/2006/relationships/slide" Target="slides/slide91.xml"/><Relationship Id="rId120" Type="http://schemas.openxmlformats.org/officeDocument/2006/relationships/slide" Target="slides/slide114.xml"/><Relationship Id="rId358" Type="http://schemas.openxmlformats.org/officeDocument/2006/relationships/slide" Target="slides/slide352.xml"/><Relationship Id="rId162" Type="http://schemas.openxmlformats.org/officeDocument/2006/relationships/slide" Target="slides/slide156.xml"/><Relationship Id="rId218" Type="http://schemas.openxmlformats.org/officeDocument/2006/relationships/slide" Target="slides/slide212.xml"/><Relationship Id="rId271" Type="http://schemas.openxmlformats.org/officeDocument/2006/relationships/slide" Target="slides/slide265.xml"/><Relationship Id="rId24" Type="http://schemas.openxmlformats.org/officeDocument/2006/relationships/slide" Target="slides/slide18.xml"/><Relationship Id="rId66" Type="http://schemas.openxmlformats.org/officeDocument/2006/relationships/slide" Target="slides/slide60.xml"/><Relationship Id="rId131" Type="http://schemas.openxmlformats.org/officeDocument/2006/relationships/slide" Target="slides/slide125.xml"/><Relationship Id="rId327" Type="http://schemas.openxmlformats.org/officeDocument/2006/relationships/slide" Target="slides/slide321.xml"/><Relationship Id="rId369" Type="http://schemas.openxmlformats.org/officeDocument/2006/relationships/slide" Target="slides/slide363.xml"/><Relationship Id="rId173" Type="http://schemas.openxmlformats.org/officeDocument/2006/relationships/slide" Target="slides/slide167.xml"/><Relationship Id="rId229" Type="http://schemas.openxmlformats.org/officeDocument/2006/relationships/slide" Target="slides/slide223.xml"/><Relationship Id="rId380" Type="http://schemas.openxmlformats.org/officeDocument/2006/relationships/slide" Target="slides/slide374.xml"/><Relationship Id="rId240" Type="http://schemas.openxmlformats.org/officeDocument/2006/relationships/slide" Target="slides/slide234.xml"/><Relationship Id="rId35" Type="http://schemas.openxmlformats.org/officeDocument/2006/relationships/slide" Target="slides/slide29.xml"/><Relationship Id="rId77" Type="http://schemas.openxmlformats.org/officeDocument/2006/relationships/slide" Target="slides/slide71.xml"/><Relationship Id="rId100" Type="http://schemas.openxmlformats.org/officeDocument/2006/relationships/slide" Target="slides/slide94.xml"/><Relationship Id="rId282" Type="http://schemas.openxmlformats.org/officeDocument/2006/relationships/slide" Target="slides/slide276.xml"/><Relationship Id="rId338" Type="http://schemas.openxmlformats.org/officeDocument/2006/relationships/slide" Target="slides/slide332.xml"/><Relationship Id="rId8" Type="http://schemas.openxmlformats.org/officeDocument/2006/relationships/slide" Target="slides/slide2.xml"/><Relationship Id="rId142" Type="http://schemas.openxmlformats.org/officeDocument/2006/relationships/slide" Target="slides/slide136.xml"/><Relationship Id="rId184" Type="http://schemas.openxmlformats.org/officeDocument/2006/relationships/slide" Target="slides/slide178.xml"/><Relationship Id="rId391" Type="http://schemas.openxmlformats.org/officeDocument/2006/relationships/slide" Target="slides/slide385.xml"/><Relationship Id="rId251" Type="http://schemas.openxmlformats.org/officeDocument/2006/relationships/slide" Target="slides/slide245.xml"/><Relationship Id="rId46" Type="http://schemas.openxmlformats.org/officeDocument/2006/relationships/slide" Target="slides/slide40.xml"/><Relationship Id="rId293" Type="http://schemas.openxmlformats.org/officeDocument/2006/relationships/slide" Target="slides/slide287.xml"/><Relationship Id="rId307" Type="http://schemas.openxmlformats.org/officeDocument/2006/relationships/slide" Target="slides/slide301.xml"/><Relationship Id="rId349" Type="http://schemas.openxmlformats.org/officeDocument/2006/relationships/slide" Target="slides/slide343.xml"/><Relationship Id="rId88" Type="http://schemas.openxmlformats.org/officeDocument/2006/relationships/slide" Target="slides/slide82.xml"/><Relationship Id="rId111" Type="http://schemas.openxmlformats.org/officeDocument/2006/relationships/slide" Target="slides/slide105.xml"/><Relationship Id="rId153" Type="http://schemas.openxmlformats.org/officeDocument/2006/relationships/slide" Target="slides/slide147.xml"/><Relationship Id="rId195" Type="http://schemas.openxmlformats.org/officeDocument/2006/relationships/slide" Target="slides/slide189.xml"/><Relationship Id="rId209" Type="http://schemas.openxmlformats.org/officeDocument/2006/relationships/slide" Target="slides/slide203.xml"/><Relationship Id="rId360" Type="http://schemas.openxmlformats.org/officeDocument/2006/relationships/slide" Target="slides/slide354.xml"/><Relationship Id="rId220" Type="http://schemas.openxmlformats.org/officeDocument/2006/relationships/slide" Target="slides/slide214.xml"/><Relationship Id="rId15" Type="http://schemas.openxmlformats.org/officeDocument/2006/relationships/slide" Target="slides/slide9.xml"/><Relationship Id="rId57" Type="http://schemas.openxmlformats.org/officeDocument/2006/relationships/slide" Target="slides/slide51.xml"/><Relationship Id="rId262" Type="http://schemas.openxmlformats.org/officeDocument/2006/relationships/slide" Target="slides/slide256.xml"/><Relationship Id="rId318" Type="http://schemas.openxmlformats.org/officeDocument/2006/relationships/slide" Target="slides/slide312.xml"/><Relationship Id="rId99" Type="http://schemas.openxmlformats.org/officeDocument/2006/relationships/slide" Target="slides/slide93.xml"/><Relationship Id="rId122" Type="http://schemas.openxmlformats.org/officeDocument/2006/relationships/slide" Target="slides/slide116.xml"/><Relationship Id="rId164" Type="http://schemas.openxmlformats.org/officeDocument/2006/relationships/slide" Target="slides/slide158.xml"/><Relationship Id="rId371" Type="http://schemas.openxmlformats.org/officeDocument/2006/relationships/slide" Target="slides/slide365.xml"/><Relationship Id="rId26" Type="http://schemas.openxmlformats.org/officeDocument/2006/relationships/slide" Target="slides/slide20.xml"/><Relationship Id="rId231" Type="http://schemas.openxmlformats.org/officeDocument/2006/relationships/slide" Target="slides/slide225.xml"/><Relationship Id="rId273" Type="http://schemas.openxmlformats.org/officeDocument/2006/relationships/slide" Target="slides/slide267.xml"/><Relationship Id="rId329" Type="http://schemas.openxmlformats.org/officeDocument/2006/relationships/slide" Target="slides/slide323.xml"/><Relationship Id="rId68" Type="http://schemas.openxmlformats.org/officeDocument/2006/relationships/slide" Target="slides/slide62.xml"/><Relationship Id="rId133" Type="http://schemas.openxmlformats.org/officeDocument/2006/relationships/slide" Target="slides/slide127.xml"/><Relationship Id="rId175" Type="http://schemas.openxmlformats.org/officeDocument/2006/relationships/slide" Target="slides/slide169.xml"/><Relationship Id="rId340" Type="http://schemas.openxmlformats.org/officeDocument/2006/relationships/slide" Target="slides/slide334.xml"/><Relationship Id="rId200" Type="http://schemas.openxmlformats.org/officeDocument/2006/relationships/slide" Target="slides/slide194.xml"/><Relationship Id="rId382" Type="http://schemas.openxmlformats.org/officeDocument/2006/relationships/slide" Target="slides/slide376.xml"/><Relationship Id="rId242" Type="http://schemas.openxmlformats.org/officeDocument/2006/relationships/slide" Target="slides/slide236.xml"/><Relationship Id="rId284" Type="http://schemas.openxmlformats.org/officeDocument/2006/relationships/slide" Target="slides/slide278.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2">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DD44E8-EED5-4D51-9DF7-E4CE935655BF}" type="doc">
      <dgm:prSet loTypeId="urn:microsoft.com/office/officeart/2005/8/layout/hProcess3" loCatId="process" qsTypeId="urn:microsoft.com/office/officeart/2005/8/quickstyle/simple5#1" qsCatId="simple" csTypeId="urn:microsoft.com/office/officeart/2005/8/colors/accent1_2#1" csCatId="accent1" phldr="1"/>
      <dgm:spPr/>
      <dgm:t>
        <a:bodyPr/>
        <a:lstStyle/>
        <a:p>
          <a:endParaRPr lang="zh-CN" altLang="en-US"/>
        </a:p>
      </dgm:t>
    </dgm:pt>
    <dgm:pt modelId="{637F74FE-3419-40D4-9FC9-38A4167BE197}" type="pres">
      <dgm:prSet presAssocID="{57DD44E8-EED5-4D51-9DF7-E4CE935655BF}" presName="Name0" presStyleCnt="0">
        <dgm:presLayoutVars>
          <dgm:dir/>
          <dgm:animLvl val="lvl"/>
          <dgm:resizeHandles val="exact"/>
        </dgm:presLayoutVars>
      </dgm:prSet>
      <dgm:spPr/>
    </dgm:pt>
    <dgm:pt modelId="{8D0377E0-8C7E-4F68-8A88-272C039D8951}" type="pres">
      <dgm:prSet presAssocID="{57DD44E8-EED5-4D51-9DF7-E4CE935655BF}" presName="dummy" presStyleCnt="0"/>
      <dgm:spPr/>
    </dgm:pt>
    <dgm:pt modelId="{6076CED8-02A2-4F44-987A-6A48AF373337}" type="pres">
      <dgm:prSet presAssocID="{57DD44E8-EED5-4D51-9DF7-E4CE935655BF}" presName="linH" presStyleCnt="0"/>
      <dgm:spPr/>
    </dgm:pt>
    <dgm:pt modelId="{66F96B11-4DE1-4448-B380-7BC1E0B897D0}" type="pres">
      <dgm:prSet presAssocID="{57DD44E8-EED5-4D51-9DF7-E4CE935655BF}" presName="padding1" presStyleCnt="0"/>
      <dgm:spPr/>
    </dgm:pt>
    <dgm:pt modelId="{75DFF8A8-6C31-45BF-A0C8-2A9BC0290174}" type="pres">
      <dgm:prSet presAssocID="{57DD44E8-EED5-4D51-9DF7-E4CE935655BF}" presName="padding2" presStyleCnt="0"/>
      <dgm:spPr/>
    </dgm:pt>
    <dgm:pt modelId="{509EEF5B-F0E1-4E55-8E5B-0ECC1FDF1B4D}" type="pres">
      <dgm:prSet presAssocID="{57DD44E8-EED5-4D51-9DF7-E4CE935655BF}" presName="negArrow" presStyleCnt="0"/>
      <dgm:spPr/>
    </dgm:pt>
    <dgm:pt modelId="{F271F867-71F9-4854-B202-4094BCC4139E}" type="pres">
      <dgm:prSet presAssocID="{57DD44E8-EED5-4D51-9DF7-E4CE935655BF}" presName="backgroundArrow" presStyleLbl="node1" presStyleIdx="0" presStyleCnt="1" custScaleY="22234" custLinFactNeighborX="0" custLinFactNeighborY="269"/>
      <dgm:spPr/>
    </dgm:pt>
  </dgm:ptLst>
  <dgm:cxnLst>
    <dgm:cxn modelId="{74D7AFA9-C579-4CB2-91CF-F4BEF15F121C}" type="presOf" srcId="{57DD44E8-EED5-4D51-9DF7-E4CE935655BF}" destId="{637F74FE-3419-40D4-9FC9-38A4167BE197}" srcOrd="0" destOrd="0" presId="urn:microsoft.com/office/officeart/2005/8/layout/hProcess3"/>
    <dgm:cxn modelId="{0BFD08D5-1807-4E5E-B9C0-43D6990227CC}" type="presParOf" srcId="{637F74FE-3419-40D4-9FC9-38A4167BE197}" destId="{8D0377E0-8C7E-4F68-8A88-272C039D8951}" srcOrd="0" destOrd="0" presId="urn:microsoft.com/office/officeart/2005/8/layout/hProcess3"/>
    <dgm:cxn modelId="{C99B9656-5795-44EE-9B20-627ABBFDE528}" type="presParOf" srcId="{637F74FE-3419-40D4-9FC9-38A4167BE197}" destId="{6076CED8-02A2-4F44-987A-6A48AF373337}" srcOrd="1" destOrd="0" presId="urn:microsoft.com/office/officeart/2005/8/layout/hProcess3"/>
    <dgm:cxn modelId="{5428EA0D-5BA4-4BB4-8D7F-9DC788A32226}" type="presParOf" srcId="{6076CED8-02A2-4F44-987A-6A48AF373337}" destId="{66F96B11-4DE1-4448-B380-7BC1E0B897D0}" srcOrd="0" destOrd="0" presId="urn:microsoft.com/office/officeart/2005/8/layout/hProcess3"/>
    <dgm:cxn modelId="{727B2FB5-6F0C-41B0-96E9-A66BB964071A}" type="presParOf" srcId="{6076CED8-02A2-4F44-987A-6A48AF373337}" destId="{75DFF8A8-6C31-45BF-A0C8-2A9BC0290174}" srcOrd="1" destOrd="0" presId="urn:microsoft.com/office/officeart/2005/8/layout/hProcess3"/>
    <dgm:cxn modelId="{5BF6574A-0EA5-429F-A779-45A7D22085A7}" type="presParOf" srcId="{6076CED8-02A2-4F44-987A-6A48AF373337}" destId="{509EEF5B-F0E1-4E55-8E5B-0ECC1FDF1B4D}" srcOrd="2" destOrd="0" presId="urn:microsoft.com/office/officeart/2005/8/layout/hProcess3"/>
    <dgm:cxn modelId="{1454E164-EDCF-48BA-85A2-8BC8AA7677B6}" type="presParOf" srcId="{6076CED8-02A2-4F44-987A-6A48AF373337}" destId="{F271F867-71F9-4854-B202-4094BCC4139E}" srcOrd="3" destOrd="0" presId="urn:microsoft.com/office/officeart/2005/8/layout/h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8BE594-600A-4554-8EE5-C5827E507654}" type="doc">
      <dgm:prSet loTypeId="urn:microsoft.com/office/officeart/2005/8/layout/hProcess9#1" loCatId="process" qsTypeId="urn:microsoft.com/office/officeart/2005/8/quickstyle/simple1#1" qsCatId="simple" csTypeId="urn:microsoft.com/office/officeart/2005/8/colors/accent2_1#1" csCatId="accent2" phldr="1"/>
      <dgm:spPr/>
    </dgm:pt>
    <dgm:pt modelId="{44EBD383-30BF-4681-AF7F-76D9B8DFC80C}">
      <dgm:prSet phldrT="[文本]"/>
      <dgm:spPr/>
      <dgm:t>
        <a:bodyPr/>
        <a:lstStyle/>
        <a:p>
          <a:r>
            <a:rPr lang="en-US" altLang="zh-CN" b="1" dirty="0">
              <a:latin typeface="+mn-lt"/>
            </a:rPr>
            <a:t>2009</a:t>
          </a:r>
          <a:r>
            <a:rPr lang="zh-CN" altLang="en-US" b="1" dirty="0">
              <a:latin typeface="+mj-ea"/>
              <a:ea typeface="+mj-ea"/>
            </a:rPr>
            <a:t>年</a:t>
          </a:r>
          <a:endParaRPr lang="en-US" altLang="zh-CN" b="1" dirty="0">
            <a:latin typeface="+mj-ea"/>
            <a:ea typeface="+mj-ea"/>
          </a:endParaRPr>
        </a:p>
        <a:p>
          <a:r>
            <a:rPr lang="zh-CN" altLang="en-US" dirty="0">
              <a:latin typeface="+mn-ea"/>
            </a:rPr>
            <a:t>日本京都大学的教授使用密度演进的方法研究了</a:t>
          </a:r>
          <a:r>
            <a:rPr lang="en-US" altLang="zh-CN" dirty="0">
              <a:latin typeface="+mn-lt"/>
            </a:rPr>
            <a:t>Polar</a:t>
          </a:r>
          <a:r>
            <a:rPr lang="zh-CN" altLang="en-US" dirty="0">
              <a:latin typeface="+mn-ea"/>
            </a:rPr>
            <a:t>码的性能。</a:t>
          </a:r>
          <a:endParaRPr lang="zh-CN" altLang="en-US" dirty="0"/>
        </a:p>
      </dgm:t>
    </dgm:pt>
    <dgm:pt modelId="{ED72DCA6-5989-47C6-B96B-6FF5EFD2F919}" type="parTrans" cxnId="{B99E500A-7247-4BA6-B4CE-9CCA738FCBDB}">
      <dgm:prSet/>
      <dgm:spPr/>
      <dgm:t>
        <a:bodyPr/>
        <a:lstStyle/>
        <a:p>
          <a:endParaRPr lang="zh-CN" altLang="en-US"/>
        </a:p>
      </dgm:t>
    </dgm:pt>
    <dgm:pt modelId="{FE4C6828-97A8-4EDC-9828-62DDBF9DBD4F}" type="sibTrans" cxnId="{B99E500A-7247-4BA6-B4CE-9CCA738FCBDB}">
      <dgm:prSet/>
      <dgm:spPr/>
      <dgm:t>
        <a:bodyPr/>
        <a:lstStyle/>
        <a:p>
          <a:endParaRPr lang="zh-CN" altLang="en-US"/>
        </a:p>
      </dgm:t>
    </dgm:pt>
    <dgm:pt modelId="{FDFE2F93-F426-42ED-A060-CBFD6F28F536}">
      <dgm:prSet phldrT="[文本]"/>
      <dgm:spPr/>
      <dgm:t>
        <a:bodyPr/>
        <a:lstStyle/>
        <a:p>
          <a:r>
            <a:rPr lang="en-US" altLang="zh-CN" b="1" dirty="0">
              <a:latin typeface="+mn-lt"/>
            </a:rPr>
            <a:t>2013</a:t>
          </a:r>
          <a:r>
            <a:rPr lang="zh-CN" altLang="en-US" b="1" dirty="0">
              <a:latin typeface="+mn-lt"/>
            </a:rPr>
            <a:t>年</a:t>
          </a:r>
          <a:endParaRPr lang="en-US" altLang="zh-CN" b="1" dirty="0">
            <a:latin typeface="+mn-lt"/>
          </a:endParaRPr>
        </a:p>
        <a:p>
          <a:r>
            <a:rPr lang="zh-CN" altLang="en-US" dirty="0">
              <a:latin typeface="+mn-ea"/>
            </a:rPr>
            <a:t>美国德州大学的</a:t>
          </a:r>
          <a:r>
            <a:rPr lang="en-US" altLang="zh-CN" dirty="0">
              <a:latin typeface="+mn-lt"/>
            </a:rPr>
            <a:t>H. Si</a:t>
          </a:r>
          <a:r>
            <a:rPr lang="zh-CN" altLang="en-US" dirty="0">
              <a:latin typeface="+mn-ea"/>
            </a:rPr>
            <a:t>研究了在衰落信道下的分层</a:t>
          </a:r>
          <a:r>
            <a:rPr lang="en-US" altLang="zh-CN" dirty="0">
              <a:latin typeface="+mn-lt"/>
            </a:rPr>
            <a:t>Polar</a:t>
          </a:r>
          <a:r>
            <a:rPr lang="zh-CN" altLang="en-US" dirty="0">
              <a:latin typeface="+mn-ea"/>
            </a:rPr>
            <a:t>码，其编码方案达到了衰落</a:t>
          </a:r>
          <a:r>
            <a:rPr lang="en-US" altLang="zh-CN" dirty="0">
              <a:latin typeface="+mn-lt"/>
            </a:rPr>
            <a:t>DMC</a:t>
          </a:r>
          <a:r>
            <a:rPr lang="zh-CN" altLang="en-US" dirty="0">
              <a:latin typeface="+mn-ea"/>
            </a:rPr>
            <a:t>下的性能。</a:t>
          </a:r>
          <a:endParaRPr lang="zh-CN" altLang="en-US" dirty="0"/>
        </a:p>
      </dgm:t>
    </dgm:pt>
    <dgm:pt modelId="{5DC8193E-DF6F-42F4-B3B3-2623EDEA7458}" type="parTrans" cxnId="{058AE7AC-9739-4A1B-8736-02CBA7E5723E}">
      <dgm:prSet/>
      <dgm:spPr/>
      <dgm:t>
        <a:bodyPr/>
        <a:lstStyle/>
        <a:p>
          <a:endParaRPr lang="zh-CN" altLang="en-US"/>
        </a:p>
      </dgm:t>
    </dgm:pt>
    <dgm:pt modelId="{D38B3480-E9E8-4548-BC38-A4734EC95C47}" type="sibTrans" cxnId="{058AE7AC-9739-4A1B-8736-02CBA7E5723E}">
      <dgm:prSet/>
      <dgm:spPr/>
      <dgm:t>
        <a:bodyPr/>
        <a:lstStyle/>
        <a:p>
          <a:endParaRPr lang="zh-CN" altLang="en-US"/>
        </a:p>
      </dgm:t>
    </dgm:pt>
    <dgm:pt modelId="{512ACC93-0928-4AA7-AAEF-B48734587219}">
      <dgm:prSet phldrT="[文本]"/>
      <dgm:spPr/>
      <dgm:t>
        <a:bodyPr/>
        <a:lstStyle/>
        <a:p>
          <a:r>
            <a:rPr lang="en-US" altLang="zh-CN" b="1" dirty="0">
              <a:latin typeface="+mn-lt"/>
            </a:rPr>
            <a:t>2014</a:t>
          </a:r>
          <a:r>
            <a:rPr lang="zh-CN" altLang="en-US" b="1" dirty="0">
              <a:latin typeface="+mn-lt"/>
            </a:rPr>
            <a:t>年</a:t>
          </a:r>
          <a:endParaRPr lang="en-US" altLang="zh-CN" b="1" dirty="0">
            <a:latin typeface="+mn-lt"/>
          </a:endParaRPr>
        </a:p>
        <a:p>
          <a:r>
            <a:rPr lang="zh-CN" altLang="en-US" dirty="0">
              <a:latin typeface="+mn-ea"/>
            </a:rPr>
            <a:t>加拿大的</a:t>
          </a:r>
          <a:r>
            <a:rPr lang="en-US" altLang="zh-CN" dirty="0" err="1">
              <a:latin typeface="+mn-lt"/>
            </a:rPr>
            <a:t>P.Giard</a:t>
          </a:r>
          <a:r>
            <a:rPr lang="zh-CN" altLang="en-US" dirty="0">
              <a:latin typeface="+mn-ea"/>
            </a:rPr>
            <a:t>研究了在普通</a:t>
          </a:r>
          <a:r>
            <a:rPr lang="en-US" altLang="zh-CN" dirty="0">
              <a:latin typeface="+mn-lt"/>
            </a:rPr>
            <a:t>CPU</a:t>
          </a:r>
          <a:r>
            <a:rPr lang="zh-CN" altLang="en-US" dirty="0">
              <a:latin typeface="+mn-ea"/>
            </a:rPr>
            <a:t>上实现的</a:t>
          </a:r>
          <a:r>
            <a:rPr lang="en-US" altLang="zh-CN" dirty="0">
              <a:latin typeface="+mn-lt"/>
            </a:rPr>
            <a:t>Polar</a:t>
          </a:r>
          <a:r>
            <a:rPr lang="zh-CN" altLang="en-US" dirty="0">
              <a:latin typeface="+mn-ea"/>
            </a:rPr>
            <a:t>码软件解码算法</a:t>
          </a:r>
          <a:r>
            <a:rPr lang="en-US" altLang="zh-CN" dirty="0">
              <a:latin typeface="+mn-lt"/>
            </a:rPr>
            <a:t>7</a:t>
          </a:r>
          <a:r>
            <a:rPr lang="zh-CN" altLang="en-US" dirty="0">
              <a:latin typeface="+mn-ea"/>
            </a:rPr>
            <a:t>，其吞吐率超过了</a:t>
          </a:r>
          <a:r>
            <a:rPr lang="en-US" altLang="zh-CN" dirty="0">
              <a:latin typeface="+mn-lt"/>
            </a:rPr>
            <a:t>200Mbit/s</a:t>
          </a:r>
          <a:r>
            <a:rPr lang="zh-CN" altLang="en-US" dirty="0">
              <a:latin typeface="+mn-ea"/>
            </a:rPr>
            <a:t>。</a:t>
          </a:r>
          <a:endParaRPr lang="zh-CN" altLang="en-US" dirty="0"/>
        </a:p>
      </dgm:t>
    </dgm:pt>
    <dgm:pt modelId="{C4890183-E8E6-4BA8-8D86-B026683BF787}" type="parTrans" cxnId="{39446BF5-800E-4588-9DD7-C92FD3CB5791}">
      <dgm:prSet/>
      <dgm:spPr/>
      <dgm:t>
        <a:bodyPr/>
        <a:lstStyle/>
        <a:p>
          <a:endParaRPr lang="zh-CN" altLang="en-US"/>
        </a:p>
      </dgm:t>
    </dgm:pt>
    <dgm:pt modelId="{B2028236-6DC9-44FF-A6F5-48CA774B0BE6}" type="sibTrans" cxnId="{39446BF5-800E-4588-9DD7-C92FD3CB5791}">
      <dgm:prSet/>
      <dgm:spPr/>
      <dgm:t>
        <a:bodyPr/>
        <a:lstStyle/>
        <a:p>
          <a:endParaRPr lang="zh-CN" altLang="en-US"/>
        </a:p>
      </dgm:t>
    </dgm:pt>
    <dgm:pt modelId="{1F3F4905-02ED-4672-BC85-D57462E3C2E6}" type="pres">
      <dgm:prSet presAssocID="{DE8BE594-600A-4554-8EE5-C5827E507654}" presName="CompostProcess" presStyleCnt="0">
        <dgm:presLayoutVars>
          <dgm:dir/>
          <dgm:resizeHandles val="exact"/>
        </dgm:presLayoutVars>
      </dgm:prSet>
      <dgm:spPr/>
    </dgm:pt>
    <dgm:pt modelId="{6DA8EE2C-E286-453B-9C02-49B0E16D6B37}" type="pres">
      <dgm:prSet presAssocID="{DE8BE594-600A-4554-8EE5-C5827E507654}" presName="arrow" presStyleLbl="bgShp" presStyleIdx="0" presStyleCnt="1" custScaleX="99409" custScaleY="99389"/>
      <dgm:spPr/>
    </dgm:pt>
    <dgm:pt modelId="{A4F0F028-0802-4B58-8642-3B9F14754CE2}" type="pres">
      <dgm:prSet presAssocID="{DE8BE594-600A-4554-8EE5-C5827E507654}" presName="linearProcess" presStyleCnt="0"/>
      <dgm:spPr/>
    </dgm:pt>
    <dgm:pt modelId="{EA650095-E87E-405B-8B37-70FAD3A21BCC}" type="pres">
      <dgm:prSet presAssocID="{44EBD383-30BF-4681-AF7F-76D9B8DFC80C}" presName="textNode" presStyleLbl="node1" presStyleIdx="0" presStyleCnt="3">
        <dgm:presLayoutVars>
          <dgm:bulletEnabled val="1"/>
        </dgm:presLayoutVars>
      </dgm:prSet>
      <dgm:spPr/>
    </dgm:pt>
    <dgm:pt modelId="{7AD5A472-3D16-491F-95A1-ACF544D10157}" type="pres">
      <dgm:prSet presAssocID="{FE4C6828-97A8-4EDC-9828-62DDBF9DBD4F}" presName="sibTrans" presStyleCnt="0"/>
      <dgm:spPr/>
    </dgm:pt>
    <dgm:pt modelId="{CA4A91EB-0985-4BBE-A62E-4042DF0ED60B}" type="pres">
      <dgm:prSet presAssocID="{FDFE2F93-F426-42ED-A060-CBFD6F28F536}" presName="textNode" presStyleLbl="node1" presStyleIdx="1" presStyleCnt="3">
        <dgm:presLayoutVars>
          <dgm:bulletEnabled val="1"/>
        </dgm:presLayoutVars>
      </dgm:prSet>
      <dgm:spPr/>
    </dgm:pt>
    <dgm:pt modelId="{AEEE943C-E5CE-446B-8E2F-FA5E86D3BC03}" type="pres">
      <dgm:prSet presAssocID="{D38B3480-E9E8-4548-BC38-A4734EC95C47}" presName="sibTrans" presStyleCnt="0"/>
      <dgm:spPr/>
    </dgm:pt>
    <dgm:pt modelId="{C8FDAEEE-B6C8-4782-916D-28AD0DC1B16F}" type="pres">
      <dgm:prSet presAssocID="{512ACC93-0928-4AA7-AAEF-B48734587219}" presName="textNode" presStyleLbl="node1" presStyleIdx="2" presStyleCnt="3">
        <dgm:presLayoutVars>
          <dgm:bulletEnabled val="1"/>
        </dgm:presLayoutVars>
      </dgm:prSet>
      <dgm:spPr/>
    </dgm:pt>
  </dgm:ptLst>
  <dgm:cxnLst>
    <dgm:cxn modelId="{B99E500A-7247-4BA6-B4CE-9CCA738FCBDB}" srcId="{DE8BE594-600A-4554-8EE5-C5827E507654}" destId="{44EBD383-30BF-4681-AF7F-76D9B8DFC80C}" srcOrd="0" destOrd="0" parTransId="{ED72DCA6-5989-47C6-B96B-6FF5EFD2F919}" sibTransId="{FE4C6828-97A8-4EDC-9828-62DDBF9DBD4F}"/>
    <dgm:cxn modelId="{31F71D70-32D1-48F8-ABD8-C0A59D875DBF}" type="presOf" srcId="{DE8BE594-600A-4554-8EE5-C5827E507654}" destId="{1F3F4905-02ED-4672-BC85-D57462E3C2E6}" srcOrd="0" destOrd="0" presId="urn:microsoft.com/office/officeart/2005/8/layout/hProcess9#1"/>
    <dgm:cxn modelId="{40F6B580-CA22-43A5-951D-8F818A5621AC}" type="presOf" srcId="{FDFE2F93-F426-42ED-A060-CBFD6F28F536}" destId="{CA4A91EB-0985-4BBE-A62E-4042DF0ED60B}" srcOrd="0" destOrd="0" presId="urn:microsoft.com/office/officeart/2005/8/layout/hProcess9#1"/>
    <dgm:cxn modelId="{08AB248C-F3E7-4FF0-ADE6-CF0AFB1DE400}" type="presOf" srcId="{44EBD383-30BF-4681-AF7F-76D9B8DFC80C}" destId="{EA650095-E87E-405B-8B37-70FAD3A21BCC}" srcOrd="0" destOrd="0" presId="urn:microsoft.com/office/officeart/2005/8/layout/hProcess9#1"/>
    <dgm:cxn modelId="{8DE8A998-4D8C-4215-851C-350139CCE3AF}" type="presOf" srcId="{512ACC93-0928-4AA7-AAEF-B48734587219}" destId="{C8FDAEEE-B6C8-4782-916D-28AD0DC1B16F}" srcOrd="0" destOrd="0" presId="urn:microsoft.com/office/officeart/2005/8/layout/hProcess9#1"/>
    <dgm:cxn modelId="{058AE7AC-9739-4A1B-8736-02CBA7E5723E}" srcId="{DE8BE594-600A-4554-8EE5-C5827E507654}" destId="{FDFE2F93-F426-42ED-A060-CBFD6F28F536}" srcOrd="1" destOrd="0" parTransId="{5DC8193E-DF6F-42F4-B3B3-2623EDEA7458}" sibTransId="{D38B3480-E9E8-4548-BC38-A4734EC95C47}"/>
    <dgm:cxn modelId="{39446BF5-800E-4588-9DD7-C92FD3CB5791}" srcId="{DE8BE594-600A-4554-8EE5-C5827E507654}" destId="{512ACC93-0928-4AA7-AAEF-B48734587219}" srcOrd="2" destOrd="0" parTransId="{C4890183-E8E6-4BA8-8D86-B026683BF787}" sibTransId="{B2028236-6DC9-44FF-A6F5-48CA774B0BE6}"/>
    <dgm:cxn modelId="{3E0C4D7A-BD54-4B38-8E13-5303529CC0C9}" type="presParOf" srcId="{1F3F4905-02ED-4672-BC85-D57462E3C2E6}" destId="{6DA8EE2C-E286-453B-9C02-49B0E16D6B37}" srcOrd="0" destOrd="0" presId="urn:microsoft.com/office/officeart/2005/8/layout/hProcess9#1"/>
    <dgm:cxn modelId="{07795F15-1A39-40EE-88E2-EFD35D203207}" type="presParOf" srcId="{1F3F4905-02ED-4672-BC85-D57462E3C2E6}" destId="{A4F0F028-0802-4B58-8642-3B9F14754CE2}" srcOrd="1" destOrd="0" presId="urn:microsoft.com/office/officeart/2005/8/layout/hProcess9#1"/>
    <dgm:cxn modelId="{8C8E1469-76CA-43EB-B897-4DB84790C9E5}" type="presParOf" srcId="{A4F0F028-0802-4B58-8642-3B9F14754CE2}" destId="{EA650095-E87E-405B-8B37-70FAD3A21BCC}" srcOrd="0" destOrd="0" presId="urn:microsoft.com/office/officeart/2005/8/layout/hProcess9#1"/>
    <dgm:cxn modelId="{049926C1-8916-403B-9D24-578ED18EC479}" type="presParOf" srcId="{A4F0F028-0802-4B58-8642-3B9F14754CE2}" destId="{7AD5A472-3D16-491F-95A1-ACF544D10157}" srcOrd="1" destOrd="0" presId="urn:microsoft.com/office/officeart/2005/8/layout/hProcess9#1"/>
    <dgm:cxn modelId="{50996CEE-6AC2-40A4-98D8-E9667E55FA6D}" type="presParOf" srcId="{A4F0F028-0802-4B58-8642-3B9F14754CE2}" destId="{CA4A91EB-0985-4BBE-A62E-4042DF0ED60B}" srcOrd="2" destOrd="0" presId="urn:microsoft.com/office/officeart/2005/8/layout/hProcess9#1"/>
    <dgm:cxn modelId="{39F04FC7-20B1-4B15-BCCC-19786362CACB}" type="presParOf" srcId="{A4F0F028-0802-4B58-8642-3B9F14754CE2}" destId="{AEEE943C-E5CE-446B-8E2F-FA5E86D3BC03}" srcOrd="3" destOrd="0" presId="urn:microsoft.com/office/officeart/2005/8/layout/hProcess9#1"/>
    <dgm:cxn modelId="{CCE506B6-AECA-483D-AE5B-240CAC95879C}" type="presParOf" srcId="{A4F0F028-0802-4B58-8642-3B9F14754CE2}" destId="{C8FDAEEE-B6C8-4782-916D-28AD0DC1B16F}" srcOrd="4" destOrd="0" presId="urn:microsoft.com/office/officeart/2005/8/layout/hProcess9#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E8BE594-600A-4554-8EE5-C5827E507654}" type="doc">
      <dgm:prSet loTypeId="urn:microsoft.com/office/officeart/2005/8/layout/hProcess9#2" loCatId="process" qsTypeId="urn:microsoft.com/office/officeart/2005/8/quickstyle/simple1#2" qsCatId="simple" csTypeId="urn:microsoft.com/office/officeart/2005/8/colors/accent2_1#2" csCatId="accent2" phldr="1"/>
      <dgm:spPr/>
    </dgm:pt>
    <dgm:pt modelId="{44EBD383-30BF-4681-AF7F-76D9B8DFC80C}">
      <dgm:prSet phldrT="[文本]" custT="1"/>
      <dgm:spPr/>
      <dgm:t>
        <a:bodyPr/>
        <a:lstStyle/>
        <a:p>
          <a:r>
            <a:rPr lang="en-US" altLang="zh-CN" sz="1200" b="1" dirty="0">
              <a:latin typeface="+mn-lt"/>
            </a:rPr>
            <a:t>2017</a:t>
          </a:r>
          <a:r>
            <a:rPr lang="zh-CN" altLang="en-US" sz="1200" b="1" dirty="0">
              <a:latin typeface="+mn-lt"/>
            </a:rPr>
            <a:t>年</a:t>
          </a:r>
          <a:endParaRPr lang="en-US" altLang="zh-CN" sz="1200" b="1" dirty="0">
            <a:latin typeface="+mn-lt"/>
          </a:endParaRPr>
        </a:p>
        <a:p>
          <a:r>
            <a:rPr lang="zh-CN" altLang="en-US" sz="1300" dirty="0">
              <a:latin typeface="+mn-lt"/>
            </a:rPr>
            <a:t>在美国</a:t>
          </a:r>
          <a:r>
            <a:rPr lang="en-US" altLang="zh-CN" sz="1300" dirty="0">
              <a:latin typeface="+mn-lt"/>
            </a:rPr>
            <a:t>Spokane</a:t>
          </a:r>
          <a:r>
            <a:rPr lang="zh-CN" altLang="en-US" sz="1300" dirty="0">
              <a:latin typeface="+mn-lt"/>
            </a:rPr>
            <a:t>的</a:t>
          </a:r>
          <a:r>
            <a:rPr lang="en-US" altLang="zh-CN" sz="1300" dirty="0">
              <a:latin typeface="+mn-lt"/>
            </a:rPr>
            <a:t>3GPP RAN WG1#AH1_ NR</a:t>
          </a:r>
          <a:r>
            <a:rPr lang="zh-CN" altLang="en-US" sz="1300" dirty="0">
              <a:latin typeface="+mn-lt"/>
            </a:rPr>
            <a:t>会议上，不具有比特翻转模块的</a:t>
          </a:r>
          <a:r>
            <a:rPr lang="en-US" altLang="zh-CN" sz="1300" dirty="0">
              <a:latin typeface="+mn-lt"/>
            </a:rPr>
            <a:t>Polar</a:t>
          </a:r>
          <a:r>
            <a:rPr lang="zh-CN" altLang="en-US" sz="1300" dirty="0">
              <a:latin typeface="+mn-lt"/>
            </a:rPr>
            <a:t>码得以确定在</a:t>
          </a:r>
          <a:r>
            <a:rPr lang="en-US" altLang="zh-CN" sz="1300" dirty="0">
              <a:latin typeface="+mn-lt"/>
            </a:rPr>
            <a:t>5G</a:t>
          </a:r>
          <a:r>
            <a:rPr lang="zh-CN" altLang="en-US" sz="1300" dirty="0">
              <a:latin typeface="+mn-lt"/>
            </a:rPr>
            <a:t>中使用</a:t>
          </a:r>
        </a:p>
      </dgm:t>
    </dgm:pt>
    <dgm:pt modelId="{ED72DCA6-5989-47C6-B96B-6FF5EFD2F919}" type="parTrans" cxnId="{B99E500A-7247-4BA6-B4CE-9CCA738FCBDB}">
      <dgm:prSet/>
      <dgm:spPr/>
      <dgm:t>
        <a:bodyPr/>
        <a:lstStyle/>
        <a:p>
          <a:endParaRPr lang="zh-CN" altLang="en-US"/>
        </a:p>
      </dgm:t>
    </dgm:pt>
    <dgm:pt modelId="{FE4C6828-97A8-4EDC-9828-62DDBF9DBD4F}" type="sibTrans" cxnId="{B99E500A-7247-4BA6-B4CE-9CCA738FCBDB}">
      <dgm:prSet/>
      <dgm:spPr/>
      <dgm:t>
        <a:bodyPr/>
        <a:lstStyle/>
        <a:p>
          <a:endParaRPr lang="zh-CN" altLang="en-US"/>
        </a:p>
      </dgm:t>
    </dgm:pt>
    <dgm:pt modelId="{FDFE2F93-F426-42ED-A060-CBFD6F28F536}">
      <dgm:prSet phldrT="[文本]" custT="1"/>
      <dgm:spPr/>
      <dgm:t>
        <a:bodyPr/>
        <a:lstStyle/>
        <a:p>
          <a:r>
            <a:rPr lang="en-US" altLang="zh-CN" sz="1300" b="1" dirty="0">
              <a:latin typeface="+mn-lt"/>
            </a:rPr>
            <a:t>2016</a:t>
          </a:r>
          <a:r>
            <a:rPr lang="zh-CN" altLang="en-US" sz="1300" b="1" dirty="0">
              <a:latin typeface="+mn-ea"/>
              <a:ea typeface="+mn-ea"/>
            </a:rPr>
            <a:t>年</a:t>
          </a:r>
          <a:endParaRPr lang="en-US" altLang="zh-CN" sz="1300" b="1" dirty="0">
            <a:latin typeface="+mn-ea"/>
            <a:ea typeface="+mn-ea"/>
          </a:endParaRPr>
        </a:p>
        <a:p>
          <a:r>
            <a:rPr lang="zh-CN" altLang="en-US" sz="1300" dirty="0">
              <a:latin typeface="+mn-lt"/>
            </a:rPr>
            <a:t>美国</a:t>
          </a:r>
          <a:r>
            <a:rPr lang="en-US" altLang="zh-CN" sz="1300" dirty="0">
              <a:latin typeface="+mn-lt"/>
            </a:rPr>
            <a:t>Reno</a:t>
          </a:r>
          <a:r>
            <a:rPr lang="zh-CN" altLang="en-US" sz="1300" dirty="0">
              <a:latin typeface="+mn-lt"/>
            </a:rPr>
            <a:t>的</a:t>
          </a:r>
          <a:r>
            <a:rPr lang="en-US" altLang="zh-CN" sz="1300" dirty="0">
              <a:latin typeface="+mn-lt"/>
            </a:rPr>
            <a:t>3GPP TSG RAN WG1#87</a:t>
          </a:r>
          <a:r>
            <a:rPr lang="zh-CN" altLang="en-US" sz="1300" dirty="0">
              <a:latin typeface="+mn-lt"/>
            </a:rPr>
            <a:t>会议上</a:t>
          </a:r>
          <a:r>
            <a:rPr lang="en-US" altLang="zh-CN" sz="1300" dirty="0">
              <a:latin typeface="+mn-lt"/>
            </a:rPr>
            <a:t>, Polar</a:t>
          </a:r>
          <a:r>
            <a:rPr lang="zh-CN" altLang="en-US" sz="1300" dirty="0">
              <a:latin typeface="+mn-lt"/>
            </a:rPr>
            <a:t>码被确定为第五代移动通信</a:t>
          </a:r>
          <a:r>
            <a:rPr lang="en-US" altLang="zh-CN" sz="1300" dirty="0">
              <a:latin typeface="+mn-lt"/>
            </a:rPr>
            <a:t>(5G)</a:t>
          </a:r>
          <a:r>
            <a:rPr lang="zh-CN" altLang="en-US" sz="1300" dirty="0">
              <a:latin typeface="+mn-lt"/>
            </a:rPr>
            <a:t>的增强移动宽带</a:t>
          </a:r>
          <a:r>
            <a:rPr lang="en-US" altLang="zh-CN" sz="1300" dirty="0">
              <a:latin typeface="+mn-lt"/>
            </a:rPr>
            <a:t>(</a:t>
          </a:r>
          <a:r>
            <a:rPr lang="en-US" altLang="zh-CN" sz="1300" dirty="0" err="1">
              <a:latin typeface="+mn-lt"/>
            </a:rPr>
            <a:t>eMBB</a:t>
          </a:r>
          <a:r>
            <a:rPr lang="en-US" altLang="zh-CN" sz="1300" dirty="0">
              <a:latin typeface="+mn-lt"/>
            </a:rPr>
            <a:t>)</a:t>
          </a:r>
          <a:r>
            <a:rPr lang="zh-CN" altLang="en-US" sz="1300" dirty="0">
              <a:latin typeface="+mn-lt"/>
            </a:rPr>
            <a:t>物理控制信道的编码方案。 </a:t>
          </a:r>
        </a:p>
      </dgm:t>
    </dgm:pt>
    <dgm:pt modelId="{5DC8193E-DF6F-42F4-B3B3-2623EDEA7458}" type="parTrans" cxnId="{058AE7AC-9739-4A1B-8736-02CBA7E5723E}">
      <dgm:prSet/>
      <dgm:spPr/>
      <dgm:t>
        <a:bodyPr/>
        <a:lstStyle/>
        <a:p>
          <a:endParaRPr lang="zh-CN" altLang="en-US"/>
        </a:p>
      </dgm:t>
    </dgm:pt>
    <dgm:pt modelId="{D38B3480-E9E8-4548-BC38-A4734EC95C47}" type="sibTrans" cxnId="{058AE7AC-9739-4A1B-8736-02CBA7E5723E}">
      <dgm:prSet/>
      <dgm:spPr/>
      <dgm:t>
        <a:bodyPr/>
        <a:lstStyle/>
        <a:p>
          <a:endParaRPr lang="zh-CN" altLang="en-US"/>
        </a:p>
      </dgm:t>
    </dgm:pt>
    <dgm:pt modelId="{512ACC93-0928-4AA7-AAEF-B48734587219}">
      <dgm:prSet phldrT="[文本]" custT="1"/>
      <dgm:spPr/>
      <dgm:t>
        <a:bodyPr/>
        <a:lstStyle/>
        <a:p>
          <a:r>
            <a:rPr lang="en-US" altLang="zh-CN" sz="1300" b="1" dirty="0">
              <a:latin typeface="+mn-lt"/>
            </a:rPr>
            <a:t>2016</a:t>
          </a:r>
          <a:r>
            <a:rPr lang="zh-CN" altLang="en-US" sz="1300" b="1" dirty="0">
              <a:latin typeface="+mn-lt"/>
            </a:rPr>
            <a:t>年</a:t>
          </a:r>
          <a:endParaRPr lang="en-US" altLang="zh-CN" sz="1300" b="1" dirty="0">
            <a:latin typeface="+mn-lt"/>
          </a:endParaRPr>
        </a:p>
        <a:p>
          <a:r>
            <a:rPr lang="zh-CN" altLang="en-US" sz="1300" dirty="0">
              <a:latin typeface="+mn-lt"/>
            </a:rPr>
            <a:t>在</a:t>
          </a:r>
          <a:r>
            <a:rPr lang="en-US" altLang="zh-CN" sz="1300" dirty="0">
              <a:latin typeface="+mn-lt"/>
            </a:rPr>
            <a:t>3GPP</a:t>
          </a:r>
          <a:r>
            <a:rPr lang="zh-CN" altLang="en-US" sz="1300" dirty="0">
              <a:latin typeface="+mn-lt"/>
            </a:rPr>
            <a:t>第</a:t>
          </a:r>
          <a:r>
            <a:rPr lang="en-US" altLang="zh-CN" sz="1300" dirty="0">
              <a:latin typeface="+mn-lt"/>
            </a:rPr>
            <a:t>71</a:t>
          </a:r>
          <a:r>
            <a:rPr lang="zh-CN" altLang="en-US" sz="1300" dirty="0">
              <a:latin typeface="+mn-lt"/>
            </a:rPr>
            <a:t>次</a:t>
          </a:r>
          <a:r>
            <a:rPr lang="en-US" altLang="zh-CN" sz="1300" dirty="0">
              <a:latin typeface="+mn-lt"/>
            </a:rPr>
            <a:t>RAN</a:t>
          </a:r>
          <a:r>
            <a:rPr lang="zh-CN" altLang="en-US" sz="1300" dirty="0">
              <a:latin typeface="+mn-lt"/>
            </a:rPr>
            <a:t>全会上，下一代新的无线接入网</a:t>
          </a:r>
          <a:r>
            <a:rPr lang="en-US" altLang="zh-CN" sz="1300" dirty="0">
              <a:latin typeface="+mn-lt"/>
            </a:rPr>
            <a:t>(NR</a:t>
          </a:r>
          <a:r>
            <a:rPr lang="zh-CN" altLang="en-US" sz="1300" dirty="0">
              <a:latin typeface="+mn-lt"/>
            </a:rPr>
            <a:t>、</a:t>
          </a:r>
          <a:r>
            <a:rPr lang="en-US" altLang="zh-CN" sz="1300" dirty="0">
              <a:latin typeface="+mn-lt"/>
            </a:rPr>
            <a:t>5G</a:t>
          </a:r>
          <a:r>
            <a:rPr lang="zh-CN" altLang="en-US" sz="1300" dirty="0">
              <a:latin typeface="+mn-lt"/>
            </a:rPr>
            <a:t>、</a:t>
          </a:r>
          <a:r>
            <a:rPr lang="en-US" altLang="zh-CN" sz="1300" dirty="0">
              <a:latin typeface="+mn-lt"/>
            </a:rPr>
            <a:t>5G-NR)</a:t>
          </a:r>
          <a:r>
            <a:rPr lang="zh-CN" altLang="en-US" sz="1300" dirty="0">
              <a:latin typeface="+mn-lt"/>
            </a:rPr>
            <a:t>的研究项目的立项通过。</a:t>
          </a:r>
          <a:r>
            <a:rPr lang="en-US" altLang="zh-CN" sz="1300" dirty="0">
              <a:latin typeface="+mn-lt"/>
            </a:rPr>
            <a:t>Polar</a:t>
          </a:r>
          <a:r>
            <a:rPr lang="zh-CN" altLang="en-US" sz="1300" dirty="0">
              <a:latin typeface="+mn-lt"/>
            </a:rPr>
            <a:t>码在短码长、低码率上的性能和实现复杂度优势。</a:t>
          </a:r>
        </a:p>
      </dgm:t>
    </dgm:pt>
    <dgm:pt modelId="{C4890183-E8E6-4BA8-8D86-B026683BF787}" type="parTrans" cxnId="{39446BF5-800E-4588-9DD7-C92FD3CB5791}">
      <dgm:prSet/>
      <dgm:spPr/>
      <dgm:t>
        <a:bodyPr/>
        <a:lstStyle/>
        <a:p>
          <a:endParaRPr lang="zh-CN" altLang="en-US"/>
        </a:p>
      </dgm:t>
    </dgm:pt>
    <dgm:pt modelId="{B2028236-6DC9-44FF-A6F5-48CA774B0BE6}" type="sibTrans" cxnId="{39446BF5-800E-4588-9DD7-C92FD3CB5791}">
      <dgm:prSet/>
      <dgm:spPr/>
      <dgm:t>
        <a:bodyPr/>
        <a:lstStyle/>
        <a:p>
          <a:endParaRPr lang="zh-CN" altLang="en-US"/>
        </a:p>
      </dgm:t>
    </dgm:pt>
    <dgm:pt modelId="{1F3F4905-02ED-4672-BC85-D57462E3C2E6}" type="pres">
      <dgm:prSet presAssocID="{DE8BE594-600A-4554-8EE5-C5827E507654}" presName="CompostProcess" presStyleCnt="0">
        <dgm:presLayoutVars>
          <dgm:dir/>
          <dgm:resizeHandles val="exact"/>
        </dgm:presLayoutVars>
      </dgm:prSet>
      <dgm:spPr/>
    </dgm:pt>
    <dgm:pt modelId="{6DA8EE2C-E286-453B-9C02-49B0E16D6B37}" type="pres">
      <dgm:prSet presAssocID="{DE8BE594-600A-4554-8EE5-C5827E507654}" presName="arrow" presStyleLbl="bgShp" presStyleIdx="0" presStyleCnt="1" custAng="10800000" custLinFactNeighborX="0">
        <dgm:style>
          <a:lnRef idx="0">
            <a:scrgbClr r="0" g="0" b="0"/>
          </a:lnRef>
          <a:fillRef idx="0">
            <a:scrgbClr r="0" g="0" b="0"/>
          </a:fillRef>
          <a:effectRef idx="0">
            <a:scrgbClr r="0" g="0" b="0"/>
          </a:effectRef>
          <a:fontRef idx="minor">
            <a:schemeClr val="lt1"/>
          </a:fontRef>
        </dgm:style>
      </dgm:prSet>
      <dgm:spPr>
        <a:solidFill>
          <a:schemeClr val="accent2">
            <a:alpha val="50000"/>
          </a:schemeClr>
        </a:solidFill>
        <a:ln>
          <a:noFill/>
        </a:ln>
      </dgm:spPr>
    </dgm:pt>
    <dgm:pt modelId="{A4F0F028-0802-4B58-8642-3B9F14754CE2}" type="pres">
      <dgm:prSet presAssocID="{DE8BE594-600A-4554-8EE5-C5827E507654}" presName="linearProcess" presStyleCnt="0"/>
      <dgm:spPr/>
    </dgm:pt>
    <dgm:pt modelId="{EA650095-E87E-405B-8B37-70FAD3A21BCC}" type="pres">
      <dgm:prSet presAssocID="{44EBD383-30BF-4681-AF7F-76D9B8DFC80C}" presName="textNode" presStyleLbl="node1" presStyleIdx="0" presStyleCnt="3" custLinFactNeighborX="-3434" custLinFactNeighborY="758">
        <dgm:presLayoutVars>
          <dgm:bulletEnabled val="1"/>
        </dgm:presLayoutVars>
      </dgm:prSet>
      <dgm:spPr/>
    </dgm:pt>
    <dgm:pt modelId="{7AD5A472-3D16-491F-95A1-ACF544D10157}" type="pres">
      <dgm:prSet presAssocID="{FE4C6828-97A8-4EDC-9828-62DDBF9DBD4F}" presName="sibTrans" presStyleCnt="0"/>
      <dgm:spPr/>
    </dgm:pt>
    <dgm:pt modelId="{CA4A91EB-0985-4BBE-A62E-4042DF0ED60B}" type="pres">
      <dgm:prSet presAssocID="{FDFE2F93-F426-42ED-A060-CBFD6F28F536}" presName="textNode" presStyleLbl="node1" presStyleIdx="1" presStyleCnt="3">
        <dgm:presLayoutVars>
          <dgm:bulletEnabled val="1"/>
        </dgm:presLayoutVars>
      </dgm:prSet>
      <dgm:spPr/>
    </dgm:pt>
    <dgm:pt modelId="{AEEE943C-E5CE-446B-8E2F-FA5E86D3BC03}" type="pres">
      <dgm:prSet presAssocID="{D38B3480-E9E8-4548-BC38-A4734EC95C47}" presName="sibTrans" presStyleCnt="0"/>
      <dgm:spPr/>
    </dgm:pt>
    <dgm:pt modelId="{C8FDAEEE-B6C8-4782-916D-28AD0DC1B16F}" type="pres">
      <dgm:prSet presAssocID="{512ACC93-0928-4AA7-AAEF-B48734587219}" presName="textNode" presStyleLbl="node1" presStyleIdx="2" presStyleCnt="3" custScaleX="104028" custScaleY="105263">
        <dgm:presLayoutVars>
          <dgm:bulletEnabled val="1"/>
        </dgm:presLayoutVars>
      </dgm:prSet>
      <dgm:spPr/>
    </dgm:pt>
  </dgm:ptLst>
  <dgm:cxnLst>
    <dgm:cxn modelId="{B99E500A-7247-4BA6-B4CE-9CCA738FCBDB}" srcId="{DE8BE594-600A-4554-8EE5-C5827E507654}" destId="{44EBD383-30BF-4681-AF7F-76D9B8DFC80C}" srcOrd="0" destOrd="0" parTransId="{ED72DCA6-5989-47C6-B96B-6FF5EFD2F919}" sibTransId="{FE4C6828-97A8-4EDC-9828-62DDBF9DBD4F}"/>
    <dgm:cxn modelId="{31F71D70-32D1-48F8-ABD8-C0A59D875DBF}" type="presOf" srcId="{DE8BE594-600A-4554-8EE5-C5827E507654}" destId="{1F3F4905-02ED-4672-BC85-D57462E3C2E6}" srcOrd="0" destOrd="0" presId="urn:microsoft.com/office/officeart/2005/8/layout/hProcess9#2"/>
    <dgm:cxn modelId="{40F6B580-CA22-43A5-951D-8F818A5621AC}" type="presOf" srcId="{FDFE2F93-F426-42ED-A060-CBFD6F28F536}" destId="{CA4A91EB-0985-4BBE-A62E-4042DF0ED60B}" srcOrd="0" destOrd="0" presId="urn:microsoft.com/office/officeart/2005/8/layout/hProcess9#2"/>
    <dgm:cxn modelId="{08AB248C-F3E7-4FF0-ADE6-CF0AFB1DE400}" type="presOf" srcId="{44EBD383-30BF-4681-AF7F-76D9B8DFC80C}" destId="{EA650095-E87E-405B-8B37-70FAD3A21BCC}" srcOrd="0" destOrd="0" presId="urn:microsoft.com/office/officeart/2005/8/layout/hProcess9#2"/>
    <dgm:cxn modelId="{8DE8A998-4D8C-4215-851C-350139CCE3AF}" type="presOf" srcId="{512ACC93-0928-4AA7-AAEF-B48734587219}" destId="{C8FDAEEE-B6C8-4782-916D-28AD0DC1B16F}" srcOrd="0" destOrd="0" presId="urn:microsoft.com/office/officeart/2005/8/layout/hProcess9#2"/>
    <dgm:cxn modelId="{058AE7AC-9739-4A1B-8736-02CBA7E5723E}" srcId="{DE8BE594-600A-4554-8EE5-C5827E507654}" destId="{FDFE2F93-F426-42ED-A060-CBFD6F28F536}" srcOrd="1" destOrd="0" parTransId="{5DC8193E-DF6F-42F4-B3B3-2623EDEA7458}" sibTransId="{D38B3480-E9E8-4548-BC38-A4734EC95C47}"/>
    <dgm:cxn modelId="{39446BF5-800E-4588-9DD7-C92FD3CB5791}" srcId="{DE8BE594-600A-4554-8EE5-C5827E507654}" destId="{512ACC93-0928-4AA7-AAEF-B48734587219}" srcOrd="2" destOrd="0" parTransId="{C4890183-E8E6-4BA8-8D86-B026683BF787}" sibTransId="{B2028236-6DC9-44FF-A6F5-48CA774B0BE6}"/>
    <dgm:cxn modelId="{3E0C4D7A-BD54-4B38-8E13-5303529CC0C9}" type="presParOf" srcId="{1F3F4905-02ED-4672-BC85-D57462E3C2E6}" destId="{6DA8EE2C-E286-453B-9C02-49B0E16D6B37}" srcOrd="0" destOrd="0" presId="urn:microsoft.com/office/officeart/2005/8/layout/hProcess9#2"/>
    <dgm:cxn modelId="{07795F15-1A39-40EE-88E2-EFD35D203207}" type="presParOf" srcId="{1F3F4905-02ED-4672-BC85-D57462E3C2E6}" destId="{A4F0F028-0802-4B58-8642-3B9F14754CE2}" srcOrd="1" destOrd="0" presId="urn:microsoft.com/office/officeart/2005/8/layout/hProcess9#2"/>
    <dgm:cxn modelId="{8C8E1469-76CA-43EB-B897-4DB84790C9E5}" type="presParOf" srcId="{A4F0F028-0802-4B58-8642-3B9F14754CE2}" destId="{EA650095-E87E-405B-8B37-70FAD3A21BCC}" srcOrd="0" destOrd="0" presId="urn:microsoft.com/office/officeart/2005/8/layout/hProcess9#2"/>
    <dgm:cxn modelId="{049926C1-8916-403B-9D24-578ED18EC479}" type="presParOf" srcId="{A4F0F028-0802-4B58-8642-3B9F14754CE2}" destId="{7AD5A472-3D16-491F-95A1-ACF544D10157}" srcOrd="1" destOrd="0" presId="urn:microsoft.com/office/officeart/2005/8/layout/hProcess9#2"/>
    <dgm:cxn modelId="{50996CEE-6AC2-40A4-98D8-E9667E55FA6D}" type="presParOf" srcId="{A4F0F028-0802-4B58-8642-3B9F14754CE2}" destId="{CA4A91EB-0985-4BBE-A62E-4042DF0ED60B}" srcOrd="2" destOrd="0" presId="urn:microsoft.com/office/officeart/2005/8/layout/hProcess9#2"/>
    <dgm:cxn modelId="{39F04FC7-20B1-4B15-BCCC-19786362CACB}" type="presParOf" srcId="{A4F0F028-0802-4B58-8642-3B9F14754CE2}" destId="{AEEE943C-E5CE-446B-8E2F-FA5E86D3BC03}" srcOrd="3" destOrd="0" presId="urn:microsoft.com/office/officeart/2005/8/layout/hProcess9#2"/>
    <dgm:cxn modelId="{CCE506B6-AECA-483D-AE5B-240CAC95879C}" type="presParOf" srcId="{A4F0F028-0802-4B58-8642-3B9F14754CE2}" destId="{C8FDAEEE-B6C8-4782-916D-28AD0DC1B16F}" srcOrd="4" destOrd="0" presId="urn:microsoft.com/office/officeart/2005/8/layout/hProcess9#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71F867-71F9-4854-B202-4094BCC4139E}">
      <dsp:nvSpPr>
        <dsp:cNvPr id="0" name=""/>
        <dsp:cNvSpPr/>
      </dsp:nvSpPr>
      <dsp:spPr>
        <a:xfrm>
          <a:off x="0" y="2425936"/>
          <a:ext cx="9143999" cy="1040551"/>
        </a:xfrm>
        <a:prstGeom prst="rightArrow">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8EE2C-E286-453B-9C02-49B0E16D6B37}">
      <dsp:nvSpPr>
        <dsp:cNvPr id="0" name=""/>
        <dsp:cNvSpPr/>
      </dsp:nvSpPr>
      <dsp:spPr>
        <a:xfrm>
          <a:off x="724686" y="8589"/>
          <a:ext cx="7900001" cy="2794464"/>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650095-E87E-405B-8B37-70FAD3A21BCC}">
      <dsp:nvSpPr>
        <dsp:cNvPr id="0" name=""/>
        <dsp:cNvSpPr/>
      </dsp:nvSpPr>
      <dsp:spPr>
        <a:xfrm>
          <a:off x="316819" y="843493"/>
          <a:ext cx="2804812" cy="11246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b="1" kern="1200" dirty="0">
              <a:latin typeface="+mn-lt"/>
            </a:rPr>
            <a:t>2009</a:t>
          </a:r>
          <a:r>
            <a:rPr lang="zh-CN" altLang="en-US" sz="1300" b="1" kern="1200" dirty="0">
              <a:latin typeface="+mj-ea"/>
              <a:ea typeface="+mj-ea"/>
            </a:rPr>
            <a:t>年</a:t>
          </a:r>
          <a:endParaRPr lang="en-US" altLang="zh-CN" sz="1300" b="1" kern="1200" dirty="0">
            <a:latin typeface="+mj-ea"/>
            <a:ea typeface="+mj-ea"/>
          </a:endParaRPr>
        </a:p>
        <a:p>
          <a:pPr marL="0" lvl="0" indent="0" algn="ctr" defTabSz="577850">
            <a:lnSpc>
              <a:spcPct val="90000"/>
            </a:lnSpc>
            <a:spcBef>
              <a:spcPct val="0"/>
            </a:spcBef>
            <a:spcAft>
              <a:spcPct val="35000"/>
            </a:spcAft>
            <a:buNone/>
          </a:pPr>
          <a:r>
            <a:rPr lang="zh-CN" altLang="en-US" sz="1300" kern="1200" dirty="0">
              <a:latin typeface="+mn-ea"/>
            </a:rPr>
            <a:t>日本京都大学的教授使用密度演进的方法研究了</a:t>
          </a:r>
          <a:r>
            <a:rPr lang="en-US" altLang="zh-CN" sz="1300" kern="1200" dirty="0">
              <a:latin typeface="+mn-lt"/>
            </a:rPr>
            <a:t>Polar</a:t>
          </a:r>
          <a:r>
            <a:rPr lang="zh-CN" altLang="en-US" sz="1300" kern="1200" dirty="0">
              <a:latin typeface="+mn-ea"/>
            </a:rPr>
            <a:t>码的性能。</a:t>
          </a:r>
          <a:endParaRPr lang="zh-CN" altLang="en-US" sz="1300" kern="1200" dirty="0"/>
        </a:p>
      </dsp:txBody>
      <dsp:txXfrm>
        <a:off x="371720" y="898394"/>
        <a:ext cx="2695010" cy="1014855"/>
      </dsp:txXfrm>
    </dsp:sp>
    <dsp:sp modelId="{CA4A91EB-0985-4BBE-A62E-4042DF0ED60B}">
      <dsp:nvSpPr>
        <dsp:cNvPr id="0" name=""/>
        <dsp:cNvSpPr/>
      </dsp:nvSpPr>
      <dsp:spPr>
        <a:xfrm>
          <a:off x="3272280" y="843493"/>
          <a:ext cx="2804812" cy="11246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b="1" kern="1200" dirty="0">
              <a:latin typeface="+mn-lt"/>
            </a:rPr>
            <a:t>2013</a:t>
          </a:r>
          <a:r>
            <a:rPr lang="zh-CN" altLang="en-US" sz="1300" b="1" kern="1200" dirty="0">
              <a:latin typeface="+mn-lt"/>
            </a:rPr>
            <a:t>年</a:t>
          </a:r>
          <a:endParaRPr lang="en-US" altLang="zh-CN" sz="1300" b="1" kern="1200" dirty="0">
            <a:latin typeface="+mn-lt"/>
          </a:endParaRPr>
        </a:p>
        <a:p>
          <a:pPr marL="0" lvl="0" indent="0" algn="ctr" defTabSz="577850">
            <a:lnSpc>
              <a:spcPct val="90000"/>
            </a:lnSpc>
            <a:spcBef>
              <a:spcPct val="0"/>
            </a:spcBef>
            <a:spcAft>
              <a:spcPct val="35000"/>
            </a:spcAft>
            <a:buNone/>
          </a:pPr>
          <a:r>
            <a:rPr lang="zh-CN" altLang="en-US" sz="1300" kern="1200" dirty="0">
              <a:latin typeface="+mn-ea"/>
            </a:rPr>
            <a:t>美国德州大学的</a:t>
          </a:r>
          <a:r>
            <a:rPr lang="en-US" altLang="zh-CN" sz="1300" kern="1200" dirty="0">
              <a:latin typeface="+mn-lt"/>
            </a:rPr>
            <a:t>H. Si</a:t>
          </a:r>
          <a:r>
            <a:rPr lang="zh-CN" altLang="en-US" sz="1300" kern="1200" dirty="0">
              <a:latin typeface="+mn-ea"/>
            </a:rPr>
            <a:t>研究了在衰落信道下的分层</a:t>
          </a:r>
          <a:r>
            <a:rPr lang="en-US" altLang="zh-CN" sz="1300" kern="1200" dirty="0">
              <a:latin typeface="+mn-lt"/>
            </a:rPr>
            <a:t>Polar</a:t>
          </a:r>
          <a:r>
            <a:rPr lang="zh-CN" altLang="en-US" sz="1300" kern="1200" dirty="0">
              <a:latin typeface="+mn-ea"/>
            </a:rPr>
            <a:t>码，其编码方案达到了衰落</a:t>
          </a:r>
          <a:r>
            <a:rPr lang="en-US" altLang="zh-CN" sz="1300" kern="1200" dirty="0">
              <a:latin typeface="+mn-lt"/>
            </a:rPr>
            <a:t>DMC</a:t>
          </a:r>
          <a:r>
            <a:rPr lang="zh-CN" altLang="en-US" sz="1300" kern="1200" dirty="0">
              <a:latin typeface="+mn-ea"/>
            </a:rPr>
            <a:t>下的性能。</a:t>
          </a:r>
          <a:endParaRPr lang="zh-CN" altLang="en-US" sz="1300" kern="1200" dirty="0"/>
        </a:p>
      </dsp:txBody>
      <dsp:txXfrm>
        <a:off x="3327181" y="898394"/>
        <a:ext cx="2695010" cy="1014855"/>
      </dsp:txXfrm>
    </dsp:sp>
    <dsp:sp modelId="{C8FDAEEE-B6C8-4782-916D-28AD0DC1B16F}">
      <dsp:nvSpPr>
        <dsp:cNvPr id="0" name=""/>
        <dsp:cNvSpPr/>
      </dsp:nvSpPr>
      <dsp:spPr>
        <a:xfrm>
          <a:off x="6227742" y="843493"/>
          <a:ext cx="2804812" cy="11246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b="1" kern="1200" dirty="0">
              <a:latin typeface="+mn-lt"/>
            </a:rPr>
            <a:t>2014</a:t>
          </a:r>
          <a:r>
            <a:rPr lang="zh-CN" altLang="en-US" sz="1300" b="1" kern="1200" dirty="0">
              <a:latin typeface="+mn-lt"/>
            </a:rPr>
            <a:t>年</a:t>
          </a:r>
          <a:endParaRPr lang="en-US" altLang="zh-CN" sz="1300" b="1" kern="1200" dirty="0">
            <a:latin typeface="+mn-lt"/>
          </a:endParaRPr>
        </a:p>
        <a:p>
          <a:pPr marL="0" lvl="0" indent="0" algn="ctr" defTabSz="577850">
            <a:lnSpc>
              <a:spcPct val="90000"/>
            </a:lnSpc>
            <a:spcBef>
              <a:spcPct val="0"/>
            </a:spcBef>
            <a:spcAft>
              <a:spcPct val="35000"/>
            </a:spcAft>
            <a:buNone/>
          </a:pPr>
          <a:r>
            <a:rPr lang="zh-CN" altLang="en-US" sz="1300" kern="1200" dirty="0">
              <a:latin typeface="+mn-ea"/>
            </a:rPr>
            <a:t>加拿大的</a:t>
          </a:r>
          <a:r>
            <a:rPr lang="en-US" altLang="zh-CN" sz="1300" kern="1200" dirty="0" err="1">
              <a:latin typeface="+mn-lt"/>
            </a:rPr>
            <a:t>P.Giard</a:t>
          </a:r>
          <a:r>
            <a:rPr lang="zh-CN" altLang="en-US" sz="1300" kern="1200" dirty="0">
              <a:latin typeface="+mn-ea"/>
            </a:rPr>
            <a:t>研究了在普通</a:t>
          </a:r>
          <a:r>
            <a:rPr lang="en-US" altLang="zh-CN" sz="1300" kern="1200" dirty="0">
              <a:latin typeface="+mn-lt"/>
            </a:rPr>
            <a:t>CPU</a:t>
          </a:r>
          <a:r>
            <a:rPr lang="zh-CN" altLang="en-US" sz="1300" kern="1200" dirty="0">
              <a:latin typeface="+mn-ea"/>
            </a:rPr>
            <a:t>上实现的</a:t>
          </a:r>
          <a:r>
            <a:rPr lang="en-US" altLang="zh-CN" sz="1300" kern="1200" dirty="0">
              <a:latin typeface="+mn-lt"/>
            </a:rPr>
            <a:t>Polar</a:t>
          </a:r>
          <a:r>
            <a:rPr lang="zh-CN" altLang="en-US" sz="1300" kern="1200" dirty="0">
              <a:latin typeface="+mn-ea"/>
            </a:rPr>
            <a:t>码软件解码算法</a:t>
          </a:r>
          <a:r>
            <a:rPr lang="en-US" altLang="zh-CN" sz="1300" kern="1200" dirty="0">
              <a:latin typeface="+mn-lt"/>
            </a:rPr>
            <a:t>7</a:t>
          </a:r>
          <a:r>
            <a:rPr lang="zh-CN" altLang="en-US" sz="1300" kern="1200" dirty="0">
              <a:latin typeface="+mn-ea"/>
            </a:rPr>
            <a:t>，其吞吐率超过了</a:t>
          </a:r>
          <a:r>
            <a:rPr lang="en-US" altLang="zh-CN" sz="1300" kern="1200" dirty="0">
              <a:latin typeface="+mn-lt"/>
            </a:rPr>
            <a:t>200Mbit/s</a:t>
          </a:r>
          <a:r>
            <a:rPr lang="zh-CN" altLang="en-US" sz="1300" kern="1200" dirty="0">
              <a:latin typeface="+mn-ea"/>
            </a:rPr>
            <a:t>。</a:t>
          </a:r>
          <a:endParaRPr lang="zh-CN" altLang="en-US" sz="1300" kern="1200" dirty="0"/>
        </a:p>
      </dsp:txBody>
      <dsp:txXfrm>
        <a:off x="6282643" y="898394"/>
        <a:ext cx="2695010" cy="10148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8EE2C-E286-453B-9C02-49B0E16D6B37}">
      <dsp:nvSpPr>
        <dsp:cNvPr id="0" name=""/>
        <dsp:cNvSpPr/>
      </dsp:nvSpPr>
      <dsp:spPr>
        <a:xfrm rot="10800000">
          <a:off x="671494" y="0"/>
          <a:ext cx="7610275" cy="3047920"/>
        </a:xfrm>
        <a:prstGeom prst="rightArrow">
          <a:avLst/>
        </a:prstGeom>
        <a:solidFill>
          <a:schemeClr val="accent2">
            <a:alpha val="50000"/>
          </a:schemeClr>
        </a:solidFill>
        <a:ln>
          <a:noFill/>
        </a:ln>
        <a:effectLst/>
      </dsp:spPr>
      <dsp:style>
        <a:lnRef idx="0">
          <a:scrgbClr r="0" g="0" b="0"/>
        </a:lnRef>
        <a:fillRef idx="0">
          <a:scrgbClr r="0" g="0" b="0"/>
        </a:fillRef>
        <a:effectRef idx="0">
          <a:scrgbClr r="0" g="0" b="0"/>
        </a:effectRef>
        <a:fontRef idx="minor">
          <a:schemeClr val="lt1"/>
        </a:fontRef>
      </dsp:style>
    </dsp:sp>
    <dsp:sp modelId="{EA650095-E87E-405B-8B37-70FAD3A21BCC}">
      <dsp:nvSpPr>
        <dsp:cNvPr id="0" name=""/>
        <dsp:cNvSpPr/>
      </dsp:nvSpPr>
      <dsp:spPr>
        <a:xfrm>
          <a:off x="0" y="923617"/>
          <a:ext cx="2719848" cy="1219168"/>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b="1" kern="1200" dirty="0">
              <a:latin typeface="+mn-lt"/>
            </a:rPr>
            <a:t>2017</a:t>
          </a:r>
          <a:r>
            <a:rPr lang="zh-CN" altLang="en-US" sz="1200" b="1" kern="1200" dirty="0">
              <a:latin typeface="+mn-lt"/>
            </a:rPr>
            <a:t>年</a:t>
          </a:r>
          <a:endParaRPr lang="en-US" altLang="zh-CN" sz="1200" b="1" kern="1200" dirty="0">
            <a:latin typeface="+mn-lt"/>
          </a:endParaRPr>
        </a:p>
        <a:p>
          <a:pPr marL="0" lvl="0" indent="0" algn="ctr" defTabSz="533400">
            <a:lnSpc>
              <a:spcPct val="90000"/>
            </a:lnSpc>
            <a:spcBef>
              <a:spcPct val="0"/>
            </a:spcBef>
            <a:spcAft>
              <a:spcPct val="35000"/>
            </a:spcAft>
            <a:buNone/>
          </a:pPr>
          <a:r>
            <a:rPr lang="zh-CN" altLang="en-US" sz="1300" kern="1200" dirty="0">
              <a:latin typeface="+mn-lt"/>
            </a:rPr>
            <a:t>在美国</a:t>
          </a:r>
          <a:r>
            <a:rPr lang="en-US" altLang="zh-CN" sz="1300" kern="1200" dirty="0">
              <a:latin typeface="+mn-lt"/>
            </a:rPr>
            <a:t>Spokane</a:t>
          </a:r>
          <a:r>
            <a:rPr lang="zh-CN" altLang="en-US" sz="1300" kern="1200" dirty="0">
              <a:latin typeface="+mn-lt"/>
            </a:rPr>
            <a:t>的</a:t>
          </a:r>
          <a:r>
            <a:rPr lang="en-US" altLang="zh-CN" sz="1300" kern="1200" dirty="0">
              <a:latin typeface="+mn-lt"/>
            </a:rPr>
            <a:t>3GPP RAN WG1#AH1_ NR</a:t>
          </a:r>
          <a:r>
            <a:rPr lang="zh-CN" altLang="en-US" sz="1300" kern="1200" dirty="0">
              <a:latin typeface="+mn-lt"/>
            </a:rPr>
            <a:t>会议上，不具有比特翻转模块的</a:t>
          </a:r>
          <a:r>
            <a:rPr lang="en-US" altLang="zh-CN" sz="1300" kern="1200" dirty="0">
              <a:latin typeface="+mn-lt"/>
            </a:rPr>
            <a:t>Polar</a:t>
          </a:r>
          <a:r>
            <a:rPr lang="zh-CN" altLang="en-US" sz="1300" kern="1200" dirty="0">
              <a:latin typeface="+mn-lt"/>
            </a:rPr>
            <a:t>码得以确定在</a:t>
          </a:r>
          <a:r>
            <a:rPr lang="en-US" altLang="zh-CN" sz="1300" kern="1200" dirty="0">
              <a:latin typeface="+mn-lt"/>
            </a:rPr>
            <a:t>5G</a:t>
          </a:r>
          <a:r>
            <a:rPr lang="zh-CN" altLang="en-US" sz="1300" kern="1200" dirty="0">
              <a:latin typeface="+mn-lt"/>
            </a:rPr>
            <a:t>中使用</a:t>
          </a:r>
        </a:p>
      </dsp:txBody>
      <dsp:txXfrm>
        <a:off x="59515" y="983132"/>
        <a:ext cx="2600818" cy="1100138"/>
      </dsp:txXfrm>
    </dsp:sp>
    <dsp:sp modelId="{CA4A91EB-0985-4BBE-A62E-4042DF0ED60B}">
      <dsp:nvSpPr>
        <dsp:cNvPr id="0" name=""/>
        <dsp:cNvSpPr/>
      </dsp:nvSpPr>
      <dsp:spPr>
        <a:xfrm>
          <a:off x="3061930" y="914376"/>
          <a:ext cx="2719848" cy="1219168"/>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b="1" kern="1200" dirty="0">
              <a:latin typeface="+mn-lt"/>
            </a:rPr>
            <a:t>2016</a:t>
          </a:r>
          <a:r>
            <a:rPr lang="zh-CN" altLang="en-US" sz="1300" b="1" kern="1200" dirty="0">
              <a:latin typeface="+mn-ea"/>
              <a:ea typeface="+mn-ea"/>
            </a:rPr>
            <a:t>年</a:t>
          </a:r>
          <a:endParaRPr lang="en-US" altLang="zh-CN" sz="1300" b="1" kern="1200" dirty="0">
            <a:latin typeface="+mn-ea"/>
            <a:ea typeface="+mn-ea"/>
          </a:endParaRPr>
        </a:p>
        <a:p>
          <a:pPr marL="0" lvl="0" indent="0" algn="ctr" defTabSz="577850">
            <a:lnSpc>
              <a:spcPct val="90000"/>
            </a:lnSpc>
            <a:spcBef>
              <a:spcPct val="0"/>
            </a:spcBef>
            <a:spcAft>
              <a:spcPct val="35000"/>
            </a:spcAft>
            <a:buNone/>
          </a:pPr>
          <a:r>
            <a:rPr lang="zh-CN" altLang="en-US" sz="1300" kern="1200" dirty="0">
              <a:latin typeface="+mn-lt"/>
            </a:rPr>
            <a:t>美国</a:t>
          </a:r>
          <a:r>
            <a:rPr lang="en-US" altLang="zh-CN" sz="1300" kern="1200" dirty="0">
              <a:latin typeface="+mn-lt"/>
            </a:rPr>
            <a:t>Reno</a:t>
          </a:r>
          <a:r>
            <a:rPr lang="zh-CN" altLang="en-US" sz="1300" kern="1200" dirty="0">
              <a:latin typeface="+mn-lt"/>
            </a:rPr>
            <a:t>的</a:t>
          </a:r>
          <a:r>
            <a:rPr lang="en-US" altLang="zh-CN" sz="1300" kern="1200" dirty="0">
              <a:latin typeface="+mn-lt"/>
            </a:rPr>
            <a:t>3GPP TSG RAN WG1#87</a:t>
          </a:r>
          <a:r>
            <a:rPr lang="zh-CN" altLang="en-US" sz="1300" kern="1200" dirty="0">
              <a:latin typeface="+mn-lt"/>
            </a:rPr>
            <a:t>会议上</a:t>
          </a:r>
          <a:r>
            <a:rPr lang="en-US" altLang="zh-CN" sz="1300" kern="1200" dirty="0">
              <a:latin typeface="+mn-lt"/>
            </a:rPr>
            <a:t>, Polar</a:t>
          </a:r>
          <a:r>
            <a:rPr lang="zh-CN" altLang="en-US" sz="1300" kern="1200" dirty="0">
              <a:latin typeface="+mn-lt"/>
            </a:rPr>
            <a:t>码被确定为第五代移动通信</a:t>
          </a:r>
          <a:r>
            <a:rPr lang="en-US" altLang="zh-CN" sz="1300" kern="1200" dirty="0">
              <a:latin typeface="+mn-lt"/>
            </a:rPr>
            <a:t>(5G)</a:t>
          </a:r>
          <a:r>
            <a:rPr lang="zh-CN" altLang="en-US" sz="1300" kern="1200" dirty="0">
              <a:latin typeface="+mn-lt"/>
            </a:rPr>
            <a:t>的增强移动宽带</a:t>
          </a:r>
          <a:r>
            <a:rPr lang="en-US" altLang="zh-CN" sz="1300" kern="1200" dirty="0">
              <a:latin typeface="+mn-lt"/>
            </a:rPr>
            <a:t>(</a:t>
          </a:r>
          <a:r>
            <a:rPr lang="en-US" altLang="zh-CN" sz="1300" kern="1200" dirty="0" err="1">
              <a:latin typeface="+mn-lt"/>
            </a:rPr>
            <a:t>eMBB</a:t>
          </a:r>
          <a:r>
            <a:rPr lang="en-US" altLang="zh-CN" sz="1300" kern="1200" dirty="0">
              <a:latin typeface="+mn-lt"/>
            </a:rPr>
            <a:t>)</a:t>
          </a:r>
          <a:r>
            <a:rPr lang="zh-CN" altLang="en-US" sz="1300" kern="1200" dirty="0">
              <a:latin typeface="+mn-lt"/>
            </a:rPr>
            <a:t>物理控制信道的编码方案。 </a:t>
          </a:r>
        </a:p>
      </dsp:txBody>
      <dsp:txXfrm>
        <a:off x="3121445" y="973891"/>
        <a:ext cx="2600818" cy="1100138"/>
      </dsp:txXfrm>
    </dsp:sp>
    <dsp:sp modelId="{C8FDAEEE-B6C8-4782-916D-28AD0DC1B16F}">
      <dsp:nvSpPr>
        <dsp:cNvPr id="0" name=""/>
        <dsp:cNvSpPr/>
      </dsp:nvSpPr>
      <dsp:spPr>
        <a:xfrm>
          <a:off x="6118400" y="882293"/>
          <a:ext cx="2829403" cy="128333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b="1" kern="1200" dirty="0">
              <a:latin typeface="+mn-lt"/>
            </a:rPr>
            <a:t>2016</a:t>
          </a:r>
          <a:r>
            <a:rPr lang="zh-CN" altLang="en-US" sz="1300" b="1" kern="1200" dirty="0">
              <a:latin typeface="+mn-lt"/>
            </a:rPr>
            <a:t>年</a:t>
          </a:r>
          <a:endParaRPr lang="en-US" altLang="zh-CN" sz="1300" b="1" kern="1200" dirty="0">
            <a:latin typeface="+mn-lt"/>
          </a:endParaRPr>
        </a:p>
        <a:p>
          <a:pPr marL="0" lvl="0" indent="0" algn="ctr" defTabSz="577850">
            <a:lnSpc>
              <a:spcPct val="90000"/>
            </a:lnSpc>
            <a:spcBef>
              <a:spcPct val="0"/>
            </a:spcBef>
            <a:spcAft>
              <a:spcPct val="35000"/>
            </a:spcAft>
            <a:buNone/>
          </a:pPr>
          <a:r>
            <a:rPr lang="zh-CN" altLang="en-US" sz="1300" kern="1200" dirty="0">
              <a:latin typeface="+mn-lt"/>
            </a:rPr>
            <a:t>在</a:t>
          </a:r>
          <a:r>
            <a:rPr lang="en-US" altLang="zh-CN" sz="1300" kern="1200" dirty="0">
              <a:latin typeface="+mn-lt"/>
            </a:rPr>
            <a:t>3GPP</a:t>
          </a:r>
          <a:r>
            <a:rPr lang="zh-CN" altLang="en-US" sz="1300" kern="1200" dirty="0">
              <a:latin typeface="+mn-lt"/>
            </a:rPr>
            <a:t>第</a:t>
          </a:r>
          <a:r>
            <a:rPr lang="en-US" altLang="zh-CN" sz="1300" kern="1200" dirty="0">
              <a:latin typeface="+mn-lt"/>
            </a:rPr>
            <a:t>71</a:t>
          </a:r>
          <a:r>
            <a:rPr lang="zh-CN" altLang="en-US" sz="1300" kern="1200" dirty="0">
              <a:latin typeface="+mn-lt"/>
            </a:rPr>
            <a:t>次</a:t>
          </a:r>
          <a:r>
            <a:rPr lang="en-US" altLang="zh-CN" sz="1300" kern="1200" dirty="0">
              <a:latin typeface="+mn-lt"/>
            </a:rPr>
            <a:t>RAN</a:t>
          </a:r>
          <a:r>
            <a:rPr lang="zh-CN" altLang="en-US" sz="1300" kern="1200" dirty="0">
              <a:latin typeface="+mn-lt"/>
            </a:rPr>
            <a:t>全会上，下一代新的无线接入网</a:t>
          </a:r>
          <a:r>
            <a:rPr lang="en-US" altLang="zh-CN" sz="1300" kern="1200" dirty="0">
              <a:latin typeface="+mn-lt"/>
            </a:rPr>
            <a:t>(NR</a:t>
          </a:r>
          <a:r>
            <a:rPr lang="zh-CN" altLang="en-US" sz="1300" kern="1200" dirty="0">
              <a:latin typeface="+mn-lt"/>
            </a:rPr>
            <a:t>、</a:t>
          </a:r>
          <a:r>
            <a:rPr lang="en-US" altLang="zh-CN" sz="1300" kern="1200" dirty="0">
              <a:latin typeface="+mn-lt"/>
            </a:rPr>
            <a:t>5G</a:t>
          </a:r>
          <a:r>
            <a:rPr lang="zh-CN" altLang="en-US" sz="1300" kern="1200" dirty="0">
              <a:latin typeface="+mn-lt"/>
            </a:rPr>
            <a:t>、</a:t>
          </a:r>
          <a:r>
            <a:rPr lang="en-US" altLang="zh-CN" sz="1300" kern="1200" dirty="0">
              <a:latin typeface="+mn-lt"/>
            </a:rPr>
            <a:t>5G-NR)</a:t>
          </a:r>
          <a:r>
            <a:rPr lang="zh-CN" altLang="en-US" sz="1300" kern="1200" dirty="0">
              <a:latin typeface="+mn-lt"/>
            </a:rPr>
            <a:t>的研究项目的立项通过。</a:t>
          </a:r>
          <a:r>
            <a:rPr lang="en-US" altLang="zh-CN" sz="1300" kern="1200" dirty="0">
              <a:latin typeface="+mn-lt"/>
            </a:rPr>
            <a:t>Polar</a:t>
          </a:r>
          <a:r>
            <a:rPr lang="zh-CN" altLang="en-US" sz="1300" kern="1200" dirty="0">
              <a:latin typeface="+mn-lt"/>
            </a:rPr>
            <a:t>码在短码长、低码率上的性能和实现复杂度优势。</a:t>
          </a:r>
        </a:p>
      </dsp:txBody>
      <dsp:txXfrm>
        <a:off x="6181047" y="944940"/>
        <a:ext cx="2704109" cy="115803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1">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2">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9B642E-F789-4815-B3AE-99E6ACC29A8F}" type="datetimeFigureOut">
              <a:rPr lang="zh-CN" altLang="en-US" smtClean="0"/>
              <a:t>2024/12/10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6756CA-9812-4DEF-92AF-F41CB35508C8}" type="slidenum">
              <a:rPr lang="zh-CN" altLang="en-US" smtClean="0"/>
              <a:t>‹#›</a:t>
            </a:fld>
            <a:endParaRPr lang="zh-CN" altLang="en-US"/>
          </a:p>
        </p:txBody>
      </p:sp>
    </p:spTree>
    <p:extLst>
      <p:ext uri="{BB962C8B-B14F-4D97-AF65-F5344CB8AC3E}">
        <p14:creationId xmlns:p14="http://schemas.microsoft.com/office/powerpoint/2010/main" val="369779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32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33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33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33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34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35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35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35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35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35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35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3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38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3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3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uFillTx/>
                <a:latin typeface="Times New Roman" panose="02020603050405020304" pitchFamily="18" charset="0"/>
                <a:ea typeface="黑体" panose="02010609060101010101" pitchFamily="49" charset="-122"/>
                <a:sym typeface="+mn-ea"/>
              </a:rPr>
              <a:t>在香农定理的指导下，信道编码理论和技术逐步发展成熟。纠删码</a:t>
            </a:r>
            <a:r>
              <a:rPr lang="en-US" altLang="zh-CN" sz="1200" dirty="0">
                <a:uFillTx/>
                <a:latin typeface="Times New Roman" panose="02020603050405020304" pitchFamily="18" charset="0"/>
                <a:ea typeface="黑体" panose="02010609060101010101" pitchFamily="49" charset="-122"/>
                <a:sym typeface="+mn-ea"/>
              </a:rPr>
              <a:t>(Erasure Code)</a:t>
            </a:r>
            <a:r>
              <a:rPr lang="zh-CN" altLang="en-US" sz="1200" dirty="0">
                <a:uFillTx/>
                <a:latin typeface="Times New Roman" panose="02020603050405020304" pitchFamily="18" charset="0"/>
                <a:ea typeface="黑体" panose="02010609060101010101" pitchFamily="49" charset="-122"/>
                <a:sym typeface="+mn-ea"/>
              </a:rPr>
              <a:t>原来是</a:t>
            </a:r>
            <a:r>
              <a:rPr lang="zh-CN" altLang="en-US" sz="1200" dirty="0">
                <a:solidFill>
                  <a:schemeClr val="accent2"/>
                </a:solidFill>
                <a:uFillTx/>
                <a:latin typeface="Times New Roman" panose="02020603050405020304" pitchFamily="18" charset="0"/>
                <a:ea typeface="黑体" panose="02010609060101010101" pitchFamily="49" charset="-122"/>
                <a:sym typeface="+mn-ea"/>
              </a:rPr>
              <a:t>无线通信中有噪信道编码的一种</a:t>
            </a:r>
            <a:r>
              <a:rPr lang="zh-CN" altLang="en-US" sz="1200" dirty="0">
                <a:uFillTx/>
                <a:latin typeface="Times New Roman" panose="02020603050405020304" pitchFamily="18" charset="0"/>
                <a:ea typeface="黑体" panose="02010609060101010101" pitchFamily="49" charset="-122"/>
                <a:sym typeface="+mn-ea"/>
              </a:rPr>
              <a:t>，后来由</a:t>
            </a:r>
            <a:r>
              <a:rPr lang="en-US" altLang="zh-CN" sz="1200" dirty="0" err="1">
                <a:uFillTx/>
                <a:latin typeface="Times New Roman" panose="02020603050405020304" pitchFamily="18" charset="0"/>
                <a:ea typeface="黑体" panose="02010609060101010101" pitchFamily="49" charset="-122"/>
                <a:sym typeface="+mn-ea"/>
              </a:rPr>
              <a:t>Karnin</a:t>
            </a:r>
            <a:r>
              <a:rPr lang="zh-CN" altLang="en-US" sz="1200" dirty="0">
                <a:uFillTx/>
                <a:latin typeface="Times New Roman" panose="02020603050405020304" pitchFamily="18" charset="0"/>
                <a:ea typeface="黑体" panose="02010609060101010101" pitchFamily="49" charset="-122"/>
                <a:sym typeface="+mn-ea"/>
              </a:rPr>
              <a:t>提出的密钥共享</a:t>
            </a:r>
            <a:r>
              <a:rPr lang="en-US" altLang="zh-CN" sz="1200" dirty="0">
                <a:uFillTx/>
                <a:latin typeface="Times New Roman" panose="02020603050405020304" pitchFamily="18" charset="0"/>
                <a:ea typeface="黑体" panose="02010609060101010101" pitchFamily="49" charset="-122"/>
                <a:sym typeface="+mn-ea"/>
              </a:rPr>
              <a:t>(Secret Sharing)</a:t>
            </a:r>
            <a:r>
              <a:rPr lang="zh-CN" altLang="en-US" sz="1200" dirty="0">
                <a:uFillTx/>
                <a:latin typeface="Times New Roman" panose="02020603050405020304" pitchFamily="18" charset="0"/>
                <a:ea typeface="黑体" panose="02010609060101010101" pitchFamily="49" charset="-122"/>
                <a:sym typeface="+mn-ea"/>
              </a:rPr>
              <a:t>以及</a:t>
            </a:r>
            <a:r>
              <a:rPr lang="en-US" altLang="zh-CN" sz="1200" dirty="0" err="1">
                <a:uFillTx/>
                <a:latin typeface="Times New Roman" panose="02020603050405020304" pitchFamily="18" charset="0"/>
                <a:ea typeface="黑体" panose="02010609060101010101" pitchFamily="49" charset="-122"/>
                <a:sym typeface="+mn-ea"/>
              </a:rPr>
              <a:t>M.O.Rabin</a:t>
            </a:r>
            <a:r>
              <a:rPr lang="zh-CN" altLang="en-US" sz="1200" dirty="0">
                <a:uFillTx/>
                <a:latin typeface="Times New Roman" panose="02020603050405020304" pitchFamily="18" charset="0"/>
                <a:ea typeface="黑体" panose="02010609060101010101" pitchFamily="49" charset="-122"/>
                <a:sym typeface="+mn-ea"/>
              </a:rPr>
              <a:t>提出的</a:t>
            </a:r>
            <a:r>
              <a:rPr lang="en-US" altLang="zh-CN" sz="1200" dirty="0">
                <a:uFillTx/>
                <a:latin typeface="Times New Roman" panose="02020603050405020304" pitchFamily="18" charset="0"/>
                <a:ea typeface="黑体" panose="02010609060101010101" pitchFamily="49" charset="-122"/>
                <a:sym typeface="+mn-ea"/>
              </a:rPr>
              <a:t>IDA(Information Dispersal Algorithm)</a:t>
            </a:r>
            <a:r>
              <a:rPr lang="zh-CN" altLang="en-US" sz="1200" dirty="0">
                <a:uFillTx/>
                <a:latin typeface="Times New Roman" panose="02020603050405020304" pitchFamily="18" charset="0"/>
                <a:ea typeface="黑体" panose="02010609060101010101" pitchFamily="49" charset="-122"/>
                <a:sym typeface="+mn-ea"/>
              </a:rPr>
              <a:t>算法，将其引入到计算机应用中</a:t>
            </a:r>
            <a:r>
              <a:rPr lang="en-US" altLang="zh-CN" sz="1200" dirty="0">
                <a:uFillTx/>
                <a:latin typeface="Times New Roman" panose="02020603050405020304" pitchFamily="18" charset="0"/>
                <a:ea typeface="黑体" panose="02010609060101010101" pitchFamily="49" charset="-122"/>
                <a:sym typeface="+mn-ea"/>
              </a:rPr>
              <a:t>,</a:t>
            </a:r>
            <a:r>
              <a:rPr lang="zh-CN" altLang="en-US" sz="1200" dirty="0">
                <a:uFillTx/>
                <a:latin typeface="Times New Roman" panose="02020603050405020304" pitchFamily="18" charset="0"/>
                <a:ea typeface="黑体" panose="02010609060101010101" pitchFamily="49" charset="-122"/>
                <a:sym typeface="+mn-ea"/>
              </a:rPr>
              <a:t>发展到现在已有数十种编码。</a:t>
            </a:r>
            <a:endParaRPr lang="en-US" altLang="zh-CN" sz="1200" dirty="0">
              <a:uFillTx/>
              <a:latin typeface="Times New Roman" panose="02020603050405020304" pitchFamily="18" charset="0"/>
              <a:ea typeface="黑体" panose="02010609060101010101" pitchFamily="49" charset="-122"/>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a:uFillTx/>
                <a:latin typeface="Times New Roman" panose="02020603050405020304" pitchFamily="18" charset="0"/>
                <a:ea typeface="黑体" panose="02010609060101010101" pitchFamily="49" charset="-122"/>
                <a:sym typeface="+mn-ea"/>
              </a:rPr>
              <a:t>前向纠错</a:t>
            </a:r>
            <a:r>
              <a:rPr lang="en-US" altLang="zh-CN" sz="1200" dirty="0">
                <a:uFillTx/>
                <a:latin typeface="Times New Roman" panose="02020603050405020304" pitchFamily="18" charset="0"/>
                <a:ea typeface="黑体" panose="02010609060101010101" pitchFamily="49" charset="-122"/>
                <a:sym typeface="+mn-ea"/>
              </a:rPr>
              <a:t>(Forward Error Correcting</a:t>
            </a:r>
            <a:r>
              <a:rPr lang="zh-CN" altLang="en-US" sz="1200" dirty="0">
                <a:uFillTx/>
                <a:latin typeface="Times New Roman" panose="02020603050405020304" pitchFamily="18" charset="0"/>
                <a:ea typeface="黑体" panose="02010609060101010101" pitchFamily="49" charset="-122"/>
                <a:sym typeface="+mn-ea"/>
              </a:rPr>
              <a:t>，</a:t>
            </a:r>
            <a:r>
              <a:rPr lang="en-US" altLang="zh-CN" sz="1200" dirty="0">
                <a:uFillTx/>
                <a:latin typeface="Times New Roman" panose="02020603050405020304" pitchFamily="18" charset="0"/>
                <a:ea typeface="黑体" panose="02010609060101010101" pitchFamily="49" charset="-122"/>
                <a:sym typeface="+mn-ea"/>
              </a:rPr>
              <a:t>FEC)</a:t>
            </a:r>
            <a:r>
              <a:rPr lang="zh-CN" altLang="en-US" sz="1200" dirty="0">
                <a:uFillTx/>
                <a:latin typeface="Times New Roman" panose="02020603050405020304" pitchFamily="18" charset="0"/>
                <a:ea typeface="黑体" panose="02010609060101010101" pitchFamily="49" charset="-122"/>
                <a:sym typeface="+mn-ea"/>
              </a:rPr>
              <a:t>技术近年来广泛应用于信息处理的各个领域。各种纠错码所讨论的错误检测和纠错也多用于低层协议</a:t>
            </a:r>
            <a:r>
              <a:rPr lang="en-US" altLang="zh-CN" sz="1200" dirty="0">
                <a:uFillTx/>
                <a:latin typeface="Times New Roman" panose="02020603050405020304" pitchFamily="18" charset="0"/>
                <a:ea typeface="黑体" panose="02010609060101010101" pitchFamily="49" charset="-122"/>
                <a:sym typeface="+mn-ea"/>
              </a:rPr>
              <a:t>(</a:t>
            </a:r>
            <a:r>
              <a:rPr lang="zh-CN" altLang="en-US" sz="1200" dirty="0">
                <a:uFillTx/>
                <a:latin typeface="Times New Roman" panose="02020603050405020304" pitchFamily="18" charset="0"/>
                <a:ea typeface="黑体" panose="02010609060101010101" pitchFamily="49" charset="-122"/>
                <a:sym typeface="+mn-ea"/>
              </a:rPr>
              <a:t>如链路层</a:t>
            </a:r>
            <a:r>
              <a:rPr lang="en-US" altLang="zh-CN" sz="1200" dirty="0">
                <a:uFillTx/>
                <a:latin typeface="Times New Roman" panose="02020603050405020304" pitchFamily="18" charset="0"/>
                <a:ea typeface="黑体" panose="02010609060101010101" pitchFamily="49" charset="-122"/>
                <a:sym typeface="+mn-ea"/>
              </a:rPr>
              <a:t>)</a:t>
            </a:r>
            <a:r>
              <a:rPr lang="zh-CN" altLang="en-US" sz="1200" dirty="0">
                <a:uFillTx/>
                <a:latin typeface="Times New Roman" panose="02020603050405020304" pitchFamily="18" charset="0"/>
                <a:ea typeface="黑体" panose="02010609060101010101" pitchFamily="49" charset="-122"/>
                <a:sym typeface="+mn-ea"/>
              </a:rPr>
              <a:t>以比特串为单位的纠错。纠错码纠正的误码位置一般是未知的，而误码位置可知的错误被称为删除错误，</a:t>
            </a:r>
            <a:r>
              <a:rPr lang="zh-CN" altLang="en-US" sz="1200" dirty="0">
                <a:solidFill>
                  <a:srgbClr val="FF0000"/>
                </a:solidFill>
                <a:uFillTx/>
                <a:latin typeface="Times New Roman" panose="02020603050405020304" pitchFamily="18" charset="0"/>
                <a:ea typeface="黑体" panose="02010609060101010101" pitchFamily="49" charset="-122"/>
                <a:sym typeface="+mn-ea"/>
              </a:rPr>
              <a:t>纠正删除错误的纠错码称为纠删码</a:t>
            </a:r>
            <a:r>
              <a:rPr lang="zh-CN" altLang="en-US" sz="1200" dirty="0">
                <a:uFillTx/>
                <a:latin typeface="Times New Roman" panose="02020603050405020304" pitchFamily="18" charset="0"/>
                <a:ea typeface="黑体" panose="02010609060101010101" pitchFamily="49" charset="-122"/>
                <a:sym typeface="+mn-ea"/>
              </a:rPr>
              <a:t>（</a:t>
            </a:r>
            <a:r>
              <a:rPr lang="en-US" altLang="zh-CN" sz="1200" dirty="0">
                <a:uFillTx/>
                <a:latin typeface="Times New Roman" panose="02020603050405020304" pitchFamily="18" charset="0"/>
                <a:ea typeface="黑体" panose="02010609060101010101" pitchFamily="49" charset="-122"/>
                <a:sym typeface="+mn-ea"/>
              </a:rPr>
              <a:t>Erasure Codes</a:t>
            </a:r>
            <a:r>
              <a:rPr lang="zh-CN" altLang="en-US" sz="1200" dirty="0">
                <a:uFillTx/>
                <a:latin typeface="Times New Roman" panose="02020603050405020304" pitchFamily="18" charset="0"/>
                <a:ea typeface="黑体" panose="02010609060101010101" pitchFamily="49" charset="-122"/>
                <a:sym typeface="+mn-ea"/>
              </a:rPr>
              <a: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latin typeface="+mn-lt"/>
              </a:rPr>
              <a:t>Raptor</a:t>
            </a:r>
            <a:r>
              <a:rPr lang="zh-CN" altLang="en-US" dirty="0">
                <a:latin typeface="+mn-lt"/>
              </a:rPr>
              <a:t>码是</a:t>
            </a:r>
            <a:r>
              <a:rPr lang="en-US" altLang="zh-CN" dirty="0">
                <a:latin typeface="+mn-lt"/>
              </a:rPr>
              <a:t>LT</a:t>
            </a:r>
            <a:r>
              <a:rPr lang="zh-CN" altLang="en-US" dirty="0">
                <a:latin typeface="+mn-lt"/>
              </a:rPr>
              <a:t>码的基础上发展出来的改进版。</a:t>
            </a:r>
            <a:endParaRPr lang="en-US" altLang="zh-CN" dirty="0">
              <a:latin typeface="+mn-lt"/>
            </a:endParaRPr>
          </a:p>
          <a:p>
            <a:r>
              <a:rPr lang="zh-CN" altLang="en-US" dirty="0">
                <a:latin typeface="+mn-lt"/>
              </a:rPr>
              <a:t>它是基于这样一个认识：</a:t>
            </a:r>
            <a:r>
              <a:rPr lang="en-US" altLang="zh-CN" dirty="0">
                <a:latin typeface="+mn-lt"/>
              </a:rPr>
              <a:t>LT</a:t>
            </a:r>
            <a:r>
              <a:rPr lang="zh-CN" altLang="en-US" dirty="0">
                <a:latin typeface="+mn-lt"/>
              </a:rPr>
              <a:t>码生成的编码包中有少量连接度很高的包，这些包的作用主要是保证对所有数据包的良好覆盖，从而保证译码的完整性，然而这些高连接度包的存在消耗了很多编译码异或操作，同时也降低了低连接度包的比例，从而减小了译码过程中可译集的大小，降低了译码成功率。如果能采用别的方法来代替高连接度包完成对数据包的良好覆盖则可以有效地提高译码成功率并降低编译码复杂度。</a:t>
            </a:r>
            <a:endParaRPr lang="en-US" altLang="zh-CN" dirty="0">
              <a:latin typeface="+mn-lt"/>
            </a:endParaRPr>
          </a:p>
          <a:p>
            <a:r>
              <a:rPr lang="zh-CN" altLang="en-US" dirty="0">
                <a:latin typeface="+mn-lt"/>
              </a:rPr>
              <a:t>基于这个思想，</a:t>
            </a:r>
            <a:r>
              <a:rPr lang="en-US" altLang="zh-CN" dirty="0">
                <a:latin typeface="+mn-lt"/>
              </a:rPr>
              <a:t>Raptor</a:t>
            </a:r>
            <a:r>
              <a:rPr lang="zh-CN" altLang="en-US" dirty="0">
                <a:latin typeface="+mn-lt"/>
              </a:rPr>
              <a:t>码提出</a:t>
            </a:r>
            <a:r>
              <a:rPr lang="zh-CN" altLang="en-US" dirty="0">
                <a:solidFill>
                  <a:srgbClr val="FF0000"/>
                </a:solidFill>
                <a:latin typeface="+mn-lt"/>
              </a:rPr>
              <a:t>采用两步编码</a:t>
            </a:r>
            <a:r>
              <a:rPr lang="zh-CN" altLang="en-US" dirty="0">
                <a:latin typeface="+mn-lt"/>
              </a:rPr>
              <a:t>的方式。首先对</a:t>
            </a:r>
            <a:r>
              <a:rPr lang="zh-CN" altLang="en-US" dirty="0">
                <a:solidFill>
                  <a:srgbClr val="FF0000"/>
                </a:solidFill>
                <a:latin typeface="+mn-lt"/>
              </a:rPr>
              <a:t>原始信息用一个分组码进行预编码</a:t>
            </a:r>
            <a:r>
              <a:rPr lang="zh-CN" altLang="en-US" dirty="0">
                <a:latin typeface="+mn-lt"/>
              </a:rPr>
              <a:t>，然后</a:t>
            </a:r>
            <a:r>
              <a:rPr lang="zh-CN" altLang="en-US" dirty="0">
                <a:solidFill>
                  <a:srgbClr val="FF0000"/>
                </a:solidFill>
                <a:latin typeface="+mn-lt"/>
              </a:rPr>
              <a:t>采用一个弱化的</a:t>
            </a:r>
            <a:r>
              <a:rPr lang="en-US" altLang="zh-CN" dirty="0">
                <a:solidFill>
                  <a:srgbClr val="FF0000"/>
                </a:solidFill>
                <a:latin typeface="+mn-lt"/>
              </a:rPr>
              <a:t>LT</a:t>
            </a:r>
            <a:r>
              <a:rPr lang="zh-CN" altLang="en-US" dirty="0">
                <a:solidFill>
                  <a:srgbClr val="FF0000"/>
                </a:solidFill>
                <a:latin typeface="+mn-lt"/>
              </a:rPr>
              <a:t>码对数据进行编码并发送</a:t>
            </a:r>
            <a:r>
              <a:rPr lang="zh-CN" altLang="en-US" dirty="0">
                <a:latin typeface="+mn-lt"/>
              </a:rPr>
              <a:t>。所谓弱化的</a:t>
            </a:r>
            <a:r>
              <a:rPr lang="en-US" altLang="zh-CN" dirty="0">
                <a:latin typeface="+mn-lt"/>
              </a:rPr>
              <a:t>LT</a:t>
            </a:r>
            <a:r>
              <a:rPr lang="zh-CN" altLang="en-US" dirty="0">
                <a:latin typeface="+mn-lt"/>
              </a:rPr>
              <a:t>码是指它生成的编码包没有高连接度包，无法完全译出原始数据。</a:t>
            </a:r>
            <a:r>
              <a:rPr lang="en-US" altLang="zh-CN" dirty="0">
                <a:latin typeface="+mn-lt"/>
              </a:rPr>
              <a:t>Raptor</a:t>
            </a:r>
            <a:r>
              <a:rPr lang="zh-CN" altLang="en-US" dirty="0">
                <a:latin typeface="+mn-lt"/>
              </a:rPr>
              <a:t>码译码时，首先用</a:t>
            </a:r>
            <a:r>
              <a:rPr lang="en-US" altLang="zh-CN" dirty="0">
                <a:latin typeface="+mn-lt"/>
              </a:rPr>
              <a:t>BP</a:t>
            </a:r>
            <a:r>
              <a:rPr lang="zh-CN" altLang="en-US" dirty="0">
                <a:latin typeface="+mn-lt"/>
              </a:rPr>
              <a:t>算法对数据进行正常译码。由于弱化</a:t>
            </a:r>
            <a:r>
              <a:rPr lang="en-US" altLang="zh-CN" dirty="0">
                <a:latin typeface="+mn-lt"/>
              </a:rPr>
              <a:t>LT</a:t>
            </a:r>
            <a:r>
              <a:rPr lang="zh-CN" altLang="en-US" dirty="0">
                <a:latin typeface="+mn-lt"/>
              </a:rPr>
              <a:t>码能以很高的概率恢复出绝大多数的数据包，因此剩下未被译码的数据包所占的比例就被控制在一个很小的范围以内，这些未被译码的数据不再通过高连接度的编码包来保证覆盖和恢复，而是利用预编码的纠错能力进行恢复。通过联合优化弱化</a:t>
            </a:r>
            <a:r>
              <a:rPr lang="en-US" altLang="zh-CN" dirty="0">
                <a:latin typeface="+mn-lt"/>
              </a:rPr>
              <a:t>LT</a:t>
            </a:r>
            <a:r>
              <a:rPr lang="zh-CN" altLang="en-US" dirty="0">
                <a:latin typeface="+mn-lt"/>
              </a:rPr>
              <a:t>码和预编码的码率和参数，</a:t>
            </a:r>
            <a:r>
              <a:rPr lang="en-US" altLang="zh-CN" dirty="0">
                <a:latin typeface="+mn-lt"/>
              </a:rPr>
              <a:t>Raptor</a:t>
            </a:r>
            <a:r>
              <a:rPr lang="zh-CN" altLang="en-US" dirty="0">
                <a:latin typeface="+mn-lt"/>
              </a:rPr>
              <a:t>可以获得更低的编译码复杂度，而在相同译码开销下能实现更高的译码成功率。</a:t>
            </a:r>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latin typeface="+mn-lt"/>
              </a:rPr>
              <a:t>RAID</a:t>
            </a:r>
            <a:r>
              <a:rPr lang="zh-CN" altLang="en-US" dirty="0">
                <a:latin typeface="+mn-lt"/>
              </a:rPr>
              <a:t>全称独立磁盘冗余阵列，</a:t>
            </a:r>
            <a:r>
              <a:rPr lang="en-US" altLang="zh-CN" dirty="0">
                <a:latin typeface="+mn-lt"/>
              </a:rPr>
              <a:t>1989 </a:t>
            </a:r>
            <a:r>
              <a:rPr lang="zh-CN" altLang="en-US" dirty="0">
                <a:latin typeface="+mn-lt"/>
              </a:rPr>
              <a:t>年开始成为基于磁盘的数据保护标准，事实证明它是一个可靠的数据保护方法，但现在最基本的存储原理正在慢慢发生变化，</a:t>
            </a:r>
            <a:r>
              <a:rPr lang="en-US" altLang="zh-CN" dirty="0">
                <a:latin typeface="+mn-lt"/>
              </a:rPr>
              <a:t>RAID </a:t>
            </a:r>
            <a:r>
              <a:rPr lang="zh-CN" altLang="en-US" dirty="0">
                <a:latin typeface="+mn-lt"/>
              </a:rPr>
              <a:t>也面临再次革命。</a:t>
            </a:r>
            <a:r>
              <a:rPr lang="en-US" altLang="zh-CN" dirty="0">
                <a:latin typeface="+mn-lt"/>
              </a:rPr>
              <a:t>RAID</a:t>
            </a:r>
            <a:r>
              <a:rPr lang="zh-CN" altLang="en-US" dirty="0">
                <a:latin typeface="+mn-lt"/>
              </a:rPr>
              <a:t>的目的是在硬盘驱动器</a:t>
            </a:r>
            <a:r>
              <a:rPr lang="en-US" altLang="zh-CN" dirty="0">
                <a:latin typeface="+mn-lt"/>
              </a:rPr>
              <a:t>(HDD)</a:t>
            </a:r>
            <a:r>
              <a:rPr lang="zh-CN" altLang="en-US" dirty="0">
                <a:latin typeface="+mn-lt"/>
              </a:rPr>
              <a:t>失效时保护数据，当</a:t>
            </a:r>
            <a:r>
              <a:rPr lang="en-US" altLang="zh-CN" dirty="0">
                <a:latin typeface="+mn-lt"/>
              </a:rPr>
              <a:t>HDD</a:t>
            </a:r>
            <a:r>
              <a:rPr lang="zh-CN" altLang="en-US" dirty="0">
                <a:latin typeface="+mn-lt"/>
              </a:rPr>
              <a:t>发生故障时，根据不同类型的</a:t>
            </a:r>
            <a:r>
              <a:rPr lang="en-US" altLang="zh-CN" dirty="0">
                <a:latin typeface="+mn-lt"/>
              </a:rPr>
              <a:t>RAID</a:t>
            </a:r>
            <a:r>
              <a:rPr lang="zh-CN" altLang="en-US" dirty="0">
                <a:latin typeface="+mn-lt"/>
              </a:rPr>
              <a:t>，它里面的数据可通过奇偶校验或镜像副本重新创建，但电子机械式硬盘发生故障的几率很高。</a:t>
            </a:r>
            <a:r>
              <a:rPr lang="en-US" altLang="zh-CN" dirty="0">
                <a:latin typeface="+mn-lt"/>
              </a:rPr>
              <a:t>Erasure code </a:t>
            </a:r>
            <a:r>
              <a:rPr lang="zh-CN" altLang="en-US" dirty="0">
                <a:latin typeface="+mn-lt"/>
              </a:rPr>
              <a:t>存储与</a:t>
            </a:r>
            <a:r>
              <a:rPr lang="en-US" altLang="zh-CN" dirty="0">
                <a:latin typeface="+mn-lt"/>
              </a:rPr>
              <a:t>RAID</a:t>
            </a:r>
            <a:r>
              <a:rPr lang="zh-CN" altLang="en-US" dirty="0">
                <a:latin typeface="+mn-lt"/>
              </a:rPr>
              <a:t>完全不同，它消除了所有</a:t>
            </a:r>
            <a:r>
              <a:rPr lang="en-US" altLang="zh-CN" dirty="0">
                <a:latin typeface="+mn-lt"/>
              </a:rPr>
              <a:t>RAID</a:t>
            </a:r>
            <a:r>
              <a:rPr lang="zh-CN" altLang="en-US" dirty="0">
                <a:latin typeface="+mn-lt"/>
              </a:rPr>
              <a:t>问题，它是一种全新的技术。</a:t>
            </a:r>
            <a:endParaRPr lang="en-US" altLang="zh-CN" dirty="0">
              <a:latin typeface="+mn-lt"/>
            </a:endParaRPr>
          </a:p>
          <a:p>
            <a:pPr>
              <a:lnSpc>
                <a:spcPts val="3400"/>
              </a:lnSpc>
            </a:pPr>
            <a:r>
              <a:rPr lang="zh-CN" altLang="en-US" dirty="0">
                <a:latin typeface="+mn-lt"/>
              </a:rPr>
              <a:t>在</a:t>
            </a:r>
            <a:r>
              <a:rPr lang="en-US" altLang="zh-CN" dirty="0" err="1">
                <a:latin typeface="+mn-lt"/>
              </a:rPr>
              <a:t>Ceph</a:t>
            </a:r>
            <a:r>
              <a:rPr lang="zh-CN" altLang="en-US" dirty="0">
                <a:latin typeface="+mn-lt"/>
              </a:rPr>
              <a:t>中纠删码相对于多副本而言，读取数据需要同时访问更多的磁盘，由算法本身带来的额外网络消耗，以及磁盘故障时额外</a:t>
            </a:r>
            <a:r>
              <a:rPr lang="en-US" altLang="zh-CN" dirty="0">
                <a:latin typeface="+mn-lt"/>
              </a:rPr>
              <a:t>CPU</a:t>
            </a:r>
            <a:r>
              <a:rPr lang="zh-CN" altLang="en-US" dirty="0">
                <a:latin typeface="+mn-lt"/>
              </a:rPr>
              <a:t>消耗，导致纠删码性能比多副本要差，因此仅适合于存储大量对时延不敏感的冷数据（如备份数据）。</a:t>
            </a:r>
          </a:p>
          <a:p>
            <a:pPr>
              <a:lnSpc>
                <a:spcPts val="3400"/>
              </a:lnSpc>
            </a:pPr>
            <a:r>
              <a:rPr lang="en-US" altLang="zh-CN" dirty="0">
                <a:latin typeface="+mn-lt"/>
              </a:rPr>
              <a:t>         </a:t>
            </a:r>
            <a:r>
              <a:rPr lang="en-US" altLang="zh-CN" dirty="0" err="1">
                <a:latin typeface="+mn-lt"/>
              </a:rPr>
              <a:t>AWCloud</a:t>
            </a:r>
            <a:r>
              <a:rPr lang="zh-CN" altLang="en-US" dirty="0">
                <a:latin typeface="+mn-lt"/>
              </a:rPr>
              <a:t>利用</a:t>
            </a:r>
            <a:r>
              <a:rPr lang="en-US" altLang="zh-CN" dirty="0">
                <a:latin typeface="+mn-lt"/>
              </a:rPr>
              <a:t>FPGA</a:t>
            </a:r>
            <a:r>
              <a:rPr lang="zh-CN" altLang="en-US" dirty="0">
                <a:latin typeface="+mn-lt"/>
              </a:rPr>
              <a:t>高效的计算能力，将原本使用</a:t>
            </a:r>
            <a:r>
              <a:rPr lang="en-US" altLang="zh-CN" dirty="0">
                <a:latin typeface="+mn-lt"/>
              </a:rPr>
              <a:t>CPU</a:t>
            </a:r>
            <a:r>
              <a:rPr lang="zh-CN" altLang="en-US" dirty="0">
                <a:latin typeface="+mn-lt"/>
              </a:rPr>
              <a:t>计算的纠删码算法</a:t>
            </a:r>
            <a:r>
              <a:rPr lang="en-US" altLang="zh-CN" dirty="0">
                <a:latin typeface="+mn-lt"/>
              </a:rPr>
              <a:t>offload</a:t>
            </a:r>
            <a:r>
              <a:rPr lang="zh-CN" altLang="en-US" dirty="0">
                <a:latin typeface="+mn-lt"/>
              </a:rPr>
              <a:t>到</a:t>
            </a:r>
            <a:r>
              <a:rPr lang="en-US" altLang="zh-CN" dirty="0">
                <a:latin typeface="+mn-lt"/>
              </a:rPr>
              <a:t>FPGA</a:t>
            </a:r>
            <a:r>
              <a:rPr lang="zh-CN" altLang="en-US" dirty="0">
                <a:latin typeface="+mn-lt"/>
              </a:rPr>
              <a:t>硬件上，通过</a:t>
            </a:r>
            <a:r>
              <a:rPr lang="en-US" altLang="zh-CN" dirty="0">
                <a:latin typeface="+mn-lt"/>
              </a:rPr>
              <a:t>PCI-e</a:t>
            </a:r>
            <a:r>
              <a:rPr lang="zh-CN" altLang="en-US" dirty="0">
                <a:latin typeface="+mn-lt"/>
              </a:rPr>
              <a:t>方式完成数据在</a:t>
            </a:r>
            <a:r>
              <a:rPr lang="en-US" altLang="zh-CN" dirty="0">
                <a:latin typeface="+mn-lt"/>
              </a:rPr>
              <a:t>CPU</a:t>
            </a:r>
            <a:r>
              <a:rPr lang="zh-CN" altLang="en-US" dirty="0">
                <a:latin typeface="+mn-lt"/>
              </a:rPr>
              <a:t>和</a:t>
            </a:r>
            <a:r>
              <a:rPr lang="en-US" altLang="zh-CN" dirty="0">
                <a:latin typeface="+mn-lt"/>
              </a:rPr>
              <a:t>FPGA</a:t>
            </a:r>
            <a:r>
              <a:rPr lang="zh-CN" altLang="en-US" dirty="0">
                <a:latin typeface="+mn-lt"/>
              </a:rPr>
              <a:t>硬件之间的交换，最终达到降低</a:t>
            </a:r>
            <a:r>
              <a:rPr lang="en-US" altLang="zh-CN" dirty="0">
                <a:latin typeface="+mn-lt"/>
              </a:rPr>
              <a:t>CPU</a:t>
            </a:r>
            <a:r>
              <a:rPr lang="zh-CN" altLang="en-US" dirty="0">
                <a:latin typeface="+mn-lt"/>
              </a:rPr>
              <a:t>消耗的方式来提升集群性能，寻求成本与性能之间的平衡。</a:t>
            </a:r>
          </a:p>
          <a:p>
            <a:endParaRPr lang="zh-CN"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ts val="3400"/>
              </a:lnSpc>
            </a:pPr>
            <a:r>
              <a:rPr lang="zh-CN" altLang="en-US" sz="1200" dirty="0">
                <a:latin typeface="+mn-lt"/>
              </a:rPr>
              <a:t>（</a:t>
            </a:r>
            <a:r>
              <a:rPr lang="en-US" altLang="zh-CN" sz="1200" dirty="0">
                <a:latin typeface="+mn-lt"/>
              </a:rPr>
              <a:t>1</a:t>
            </a:r>
            <a:r>
              <a:rPr lang="zh-CN" altLang="en-US" sz="1200" dirty="0">
                <a:latin typeface="+mn-lt"/>
              </a:rPr>
              <a:t>）</a:t>
            </a:r>
            <a:r>
              <a:rPr lang="en-US" altLang="zh-CN" sz="1200" dirty="0">
                <a:latin typeface="+mn-lt"/>
              </a:rPr>
              <a:t>Erasure Code</a:t>
            </a:r>
            <a:r>
              <a:rPr lang="zh-CN" altLang="en-US" sz="1200" dirty="0">
                <a:latin typeface="+mn-lt"/>
              </a:rPr>
              <a:t>最大的优势是能够</a:t>
            </a:r>
            <a:r>
              <a:rPr lang="zh-CN" altLang="en-US" sz="1200" dirty="0">
                <a:solidFill>
                  <a:srgbClr val="FF0000"/>
                </a:solidFill>
                <a:latin typeface="+mn-lt"/>
              </a:rPr>
              <a:t>灵活的设定副本数量</a:t>
            </a:r>
            <a:r>
              <a:rPr lang="zh-CN" altLang="en-US" sz="1200" dirty="0">
                <a:latin typeface="+mn-lt"/>
              </a:rPr>
              <a:t>，从而在数据持久性和成本间做出权衡，满足不同的应用场景。比如储存冷数据时，可将副本数缩小至</a:t>
            </a:r>
            <a:r>
              <a:rPr lang="en-US" altLang="zh-CN" sz="1200" dirty="0">
                <a:latin typeface="+mn-lt"/>
              </a:rPr>
              <a:t>1.2</a:t>
            </a:r>
            <a:r>
              <a:rPr lang="zh-CN" altLang="en-US" sz="1200" dirty="0">
                <a:latin typeface="+mn-lt"/>
              </a:rPr>
              <a:t>，即冗余数据是有</a:t>
            </a:r>
            <a:r>
              <a:rPr lang="en-US" altLang="zh-CN" sz="1200" dirty="0">
                <a:latin typeface="+mn-lt"/>
              </a:rPr>
              <a:t>0.2</a:t>
            </a:r>
            <a:r>
              <a:rPr lang="zh-CN" altLang="en-US" sz="1200" dirty="0">
                <a:latin typeface="+mn-lt"/>
              </a:rPr>
              <a:t>。</a:t>
            </a:r>
            <a:endParaRPr lang="en-US" altLang="zh-CN" sz="1200" dirty="0">
              <a:latin typeface="+mn-lt"/>
            </a:endParaRPr>
          </a:p>
          <a:p>
            <a:pPr>
              <a:lnSpc>
                <a:spcPts val="3400"/>
              </a:lnSpc>
            </a:pPr>
            <a:r>
              <a:rPr lang="en-US" altLang="zh-CN" sz="1200" dirty="0">
                <a:latin typeface="+mn-lt"/>
              </a:rPr>
              <a:t>         </a:t>
            </a:r>
            <a:r>
              <a:rPr lang="zh-CN" altLang="en-US" sz="1200" dirty="0">
                <a:latin typeface="+mn-lt"/>
              </a:rPr>
              <a:t>（</a:t>
            </a:r>
            <a:r>
              <a:rPr lang="en-US" altLang="zh-CN" sz="1200" dirty="0">
                <a:latin typeface="+mn-lt"/>
              </a:rPr>
              <a:t>2</a:t>
            </a:r>
            <a:r>
              <a:rPr lang="zh-CN" altLang="en-US" sz="1200" dirty="0">
                <a:latin typeface="+mn-lt"/>
              </a:rPr>
              <a:t>）</a:t>
            </a:r>
            <a:r>
              <a:rPr lang="en-US" altLang="zh-CN" sz="1200" dirty="0">
                <a:latin typeface="+mn-lt"/>
              </a:rPr>
              <a:t>Erasure code</a:t>
            </a:r>
            <a:r>
              <a:rPr lang="zh-CN" altLang="en-US" sz="1200" dirty="0">
                <a:latin typeface="+mn-lt"/>
              </a:rPr>
              <a:t>使用的</a:t>
            </a:r>
            <a:r>
              <a:rPr lang="zh-CN" altLang="en-US" sz="1200" dirty="0">
                <a:solidFill>
                  <a:srgbClr val="FF0000"/>
                </a:solidFill>
                <a:latin typeface="+mn-lt"/>
              </a:rPr>
              <a:t>数据块可以分布在一个数据中心</a:t>
            </a:r>
            <a:r>
              <a:rPr lang="zh-CN" altLang="en-US" sz="1200" dirty="0">
                <a:latin typeface="+mn-lt"/>
              </a:rPr>
              <a:t>、城市、地区或全球任何地方</a:t>
            </a:r>
            <a:r>
              <a:rPr lang="zh-CN" altLang="en-US" sz="1200" dirty="0">
                <a:solidFill>
                  <a:srgbClr val="FF0000"/>
                </a:solidFill>
                <a:latin typeface="+mn-lt"/>
              </a:rPr>
              <a:t>的不同存储位置</a:t>
            </a:r>
            <a:r>
              <a:rPr lang="zh-CN" altLang="en-US" sz="1200" dirty="0">
                <a:latin typeface="+mn-lt"/>
              </a:rPr>
              <a:t>。</a:t>
            </a:r>
            <a:r>
              <a:rPr lang="en-US" altLang="zh-CN" sz="1200" dirty="0">
                <a:latin typeface="+mn-lt"/>
              </a:rPr>
              <a:t>Erasure code</a:t>
            </a:r>
            <a:r>
              <a:rPr lang="zh-CN" altLang="en-US" sz="1200" dirty="0">
                <a:solidFill>
                  <a:srgbClr val="FF0000"/>
                </a:solidFill>
                <a:latin typeface="+mn-lt"/>
              </a:rPr>
              <a:t>有内置的数据安全性</a:t>
            </a:r>
            <a:r>
              <a:rPr lang="zh-CN" altLang="en-US" sz="1200" dirty="0">
                <a:latin typeface="+mn-lt"/>
              </a:rPr>
              <a:t>，因为每个独立的数据块不包含足以泄露原始数据集的信息，要完全挽回完整的数据集，需要用到不同存储节点上的大量数据块子集，究竞需要多少数据块取决于当初加入到每个数据块的额外信息决定的，额外信息越多意味着恢复整个数据集需要的数据块越少。</a:t>
            </a:r>
            <a:endParaRPr lang="en-US" altLang="zh-CN" sz="1200" dirty="0">
              <a:latin typeface="+mn-lt"/>
            </a:endParaRPr>
          </a:p>
          <a:p>
            <a:pPr>
              <a:lnSpc>
                <a:spcPts val="3400"/>
              </a:lnSpc>
            </a:pPr>
            <a:r>
              <a:rPr lang="en-US" altLang="zh-CN" sz="1200" dirty="0">
                <a:latin typeface="+mn-lt"/>
              </a:rPr>
              <a:t>         </a:t>
            </a:r>
            <a:r>
              <a:rPr lang="zh-CN" altLang="en-US" sz="1200" dirty="0">
                <a:latin typeface="+mn-lt"/>
              </a:rPr>
              <a:t>（</a:t>
            </a:r>
            <a:r>
              <a:rPr lang="en-US" altLang="zh-CN" sz="1200" dirty="0">
                <a:latin typeface="+mn-lt"/>
              </a:rPr>
              <a:t>3</a:t>
            </a:r>
            <a:r>
              <a:rPr lang="zh-CN" altLang="en-US" sz="1200" dirty="0">
                <a:latin typeface="+mn-lt"/>
              </a:rPr>
              <a:t>）</a:t>
            </a:r>
            <a:r>
              <a:rPr lang="en-US" altLang="zh-CN" sz="1200" dirty="0">
                <a:latin typeface="+mn-lt"/>
              </a:rPr>
              <a:t>Erasure code</a:t>
            </a:r>
            <a:r>
              <a:rPr lang="zh-CN" altLang="en-US" sz="1200" dirty="0">
                <a:solidFill>
                  <a:srgbClr val="FF0000"/>
                </a:solidFill>
                <a:latin typeface="+mn-lt"/>
              </a:rPr>
              <a:t>在面对自然灾难或技术故障时具有很好的恢复能力</a:t>
            </a:r>
            <a:r>
              <a:rPr lang="zh-CN" altLang="en-US" sz="1200" dirty="0">
                <a:latin typeface="+mn-lt"/>
              </a:rPr>
              <a:t>，因为只需要数据块的一个子集就可以恢复原始数据，实际上，使用</a:t>
            </a:r>
            <a:r>
              <a:rPr lang="en-US" altLang="zh-CN" sz="1200" dirty="0">
                <a:latin typeface="+mn-lt"/>
              </a:rPr>
              <a:t>Erasure code </a:t>
            </a:r>
            <a:r>
              <a:rPr lang="zh-CN" altLang="en-US" sz="1200" dirty="0">
                <a:latin typeface="+mn-lt"/>
              </a:rPr>
              <a:t>时，允许同时发生多种故障，包括托管设备，服务器，存储元件，</a:t>
            </a:r>
            <a:r>
              <a:rPr lang="en-US" altLang="zh-CN" sz="1200" dirty="0">
                <a:latin typeface="+mn-lt"/>
              </a:rPr>
              <a:t>HDD </a:t>
            </a:r>
            <a:r>
              <a:rPr lang="zh-CN" altLang="en-US" sz="1200" dirty="0">
                <a:latin typeface="+mn-lt"/>
              </a:rPr>
              <a:t>或网络，数据始终保持是可访问的。</a:t>
            </a:r>
            <a:endParaRPr lang="en-US" altLang="zh-CN" sz="1200" dirty="0">
              <a:latin typeface="+mn-lt"/>
              <a:sym typeface="+mn-ea"/>
            </a:endParaRPr>
          </a:p>
          <a:p>
            <a:endParaRPr lang="zh-CN"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21212"/>
                </a:solidFill>
                <a:effectLst/>
                <a:latin typeface="Marlett" charset="0"/>
              </a:rPr>
              <a:t>网络负载：在出现硬盘故障后，重建数据非常耗</a:t>
            </a:r>
            <a:r>
              <a:rPr lang="en-US" altLang="zh-CN" b="0" i="0" dirty="0">
                <a:solidFill>
                  <a:srgbClr val="121212"/>
                </a:solidFill>
                <a:effectLst/>
                <a:latin typeface="Marlett" charset="0"/>
              </a:rPr>
              <a:t>CPU</a:t>
            </a:r>
            <a:r>
              <a:rPr lang="zh-CN" altLang="en-US" b="0" i="0" dirty="0">
                <a:solidFill>
                  <a:srgbClr val="121212"/>
                </a:solidFill>
                <a:effectLst/>
                <a:latin typeface="Marlett" charset="0"/>
              </a:rPr>
              <a:t>，而且计算一个数据块需要通过网络读出</a:t>
            </a:r>
            <a:r>
              <a:rPr lang="en-US" altLang="zh-CN" b="0" i="0" dirty="0">
                <a:solidFill>
                  <a:srgbClr val="121212"/>
                </a:solidFill>
                <a:effectLst/>
                <a:latin typeface="Marlett" charset="0"/>
              </a:rPr>
              <a:t>k</a:t>
            </a:r>
            <a:r>
              <a:rPr lang="zh-CN" altLang="en-US" b="0" i="0" dirty="0">
                <a:solidFill>
                  <a:srgbClr val="121212"/>
                </a:solidFill>
                <a:effectLst/>
                <a:latin typeface="Marlett" charset="0"/>
              </a:rPr>
              <a:t>倍的数据并传输，因而网络负载成倍增加。</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2.xml"/><Relationship Id="rId5" Type="http://schemas.openxmlformats.org/officeDocument/2006/relationships/tags" Target="../tags/tag11.xml"/><Relationship Id="rId4" Type="http://schemas.openxmlformats.org/officeDocument/2006/relationships/tags" Target="../tags/tag10.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2.xml"/><Relationship Id="rId5" Type="http://schemas.openxmlformats.org/officeDocument/2006/relationships/tags" Target="../tags/tag16.xml"/><Relationship Id="rId4"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2.xml"/><Relationship Id="rId5" Type="http://schemas.openxmlformats.org/officeDocument/2006/relationships/tags" Target="../tags/tag21.xml"/><Relationship Id="rId4" Type="http://schemas.openxmlformats.org/officeDocument/2006/relationships/tags" Target="../tags/tag20.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2.xml"/><Relationship Id="rId4" Type="http://schemas.openxmlformats.org/officeDocument/2006/relationships/tags" Target="../tags/tag3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2.xml"/><Relationship Id="rId5" Type="http://schemas.openxmlformats.org/officeDocument/2006/relationships/tags" Target="../tags/tag53.xml"/><Relationship Id="rId4" Type="http://schemas.openxmlformats.org/officeDocument/2006/relationships/tags" Target="../tags/tag5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2.xml"/><Relationship Id="rId4" Type="http://schemas.openxmlformats.org/officeDocument/2006/relationships/tags" Target="../tags/tag57.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2.xml"/><Relationship Id="rId5" Type="http://schemas.openxmlformats.org/officeDocument/2006/relationships/tags" Target="../tags/tag62.xml"/><Relationship Id="rId4" Type="http://schemas.openxmlformats.org/officeDocument/2006/relationships/tags" Target="../tags/tag6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jpeg"/><Relationship Id="rId2" Type="http://schemas.openxmlformats.org/officeDocument/2006/relationships/image" Target="../media/image12.png"/><Relationship Id="rId1" Type="http://schemas.openxmlformats.org/officeDocument/2006/relationships/slideMaster" Target="../slideMasters/slideMaster4.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1.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slideMaster" Target="../slideMasters/slideMaster5.xml"/><Relationship Id="rId5" Type="http://schemas.openxmlformats.org/officeDocument/2006/relationships/tags" Target="../tags/tag73.xml"/><Relationship Id="rId4" Type="http://schemas.openxmlformats.org/officeDocument/2006/relationships/tags" Target="../tags/tag72.xml"/></Relationships>
</file>

<file path=ppt/slideLayouts/_rels/slideLayout46.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slideMaster" Target="../slideMasters/slideMaster5.xml"/><Relationship Id="rId5" Type="http://schemas.openxmlformats.org/officeDocument/2006/relationships/tags" Target="../tags/tag78.xml"/><Relationship Id="rId4" Type="http://schemas.openxmlformats.org/officeDocument/2006/relationships/tags" Target="../tags/tag77.xml"/></Relationships>
</file>

<file path=ppt/slideLayouts/_rels/slideLayout47.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slideMaster" Target="../slideMasters/slideMaster5.xml"/><Relationship Id="rId5" Type="http://schemas.openxmlformats.org/officeDocument/2006/relationships/tags" Target="../tags/tag83.xml"/><Relationship Id="rId4" Type="http://schemas.openxmlformats.org/officeDocument/2006/relationships/tags" Target="../tags/tag82.xml"/></Relationships>
</file>

<file path=ppt/slideLayouts/_rels/slideLayout48.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slideMaster" Target="../slideMasters/slideMaster5.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s>
</file>

<file path=ppt/slideLayouts/_rels/slideLayout49.xml.rels><?xml version="1.0" encoding="UTF-8" standalone="yes"?>
<Relationships xmlns="http://schemas.openxmlformats.org/package/2006/relationships"><Relationship Id="rId8" Type="http://schemas.openxmlformats.org/officeDocument/2006/relationships/tags" Target="../tags/tag97.xml"/><Relationship Id="rId3" Type="http://schemas.openxmlformats.org/officeDocument/2006/relationships/tags" Target="../tags/tag92.xml"/><Relationship Id="rId7" Type="http://schemas.openxmlformats.org/officeDocument/2006/relationships/tags" Target="../tags/tag96.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9"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 Id="rId5" Type="http://schemas.openxmlformats.org/officeDocument/2006/relationships/slideMaster" Target="../slideMasters/slideMaster5.xml"/><Relationship Id="rId4" Type="http://schemas.openxmlformats.org/officeDocument/2006/relationships/tags" Target="../tags/tag101.xml"/></Relationships>
</file>

<file path=ppt/slideLayouts/_rels/slideLayout51.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4"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tags" Target="../tags/tag107.xml"/><Relationship Id="rId7" Type="http://schemas.openxmlformats.org/officeDocument/2006/relationships/slideMaster" Target="../slideMasters/slideMaster5.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s>
</file>

<file path=ppt/slideLayouts/_rels/slideLayout53.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Master" Target="../slideMasters/slideMaster5.xml"/><Relationship Id="rId5" Type="http://schemas.openxmlformats.org/officeDocument/2006/relationships/tags" Target="../tags/tag115.xml"/><Relationship Id="rId4" Type="http://schemas.openxmlformats.org/officeDocument/2006/relationships/tags" Target="../tags/tag114.xml"/></Relationships>
</file>

<file path=ppt/slideLayouts/_rels/slideLayout54.xml.rels><?xml version="1.0" encoding="UTF-8" standalone="yes"?>
<Relationships xmlns="http://schemas.openxmlformats.org/package/2006/relationships"><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 Id="rId5" Type="http://schemas.openxmlformats.org/officeDocument/2006/relationships/slideMaster" Target="../slideMasters/slideMaster5.xml"/><Relationship Id="rId4" Type="http://schemas.openxmlformats.org/officeDocument/2006/relationships/tags" Target="../tags/tag119.xml"/></Relationships>
</file>

<file path=ppt/slideLayouts/_rels/slideLayout55.xml.rels><?xml version="1.0" encoding="UTF-8" standalone="yes"?>
<Relationships xmlns="http://schemas.openxmlformats.org/package/2006/relationships"><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slideMaster" Target="../slideMasters/slideMaster5.xml"/><Relationship Id="rId5" Type="http://schemas.openxmlformats.org/officeDocument/2006/relationships/tags" Target="../tags/tag124.xml"/><Relationship Id="rId4" Type="http://schemas.openxmlformats.org/officeDocument/2006/relationships/tags" Target="../tags/tag12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C2507-A9C2-E278-8536-F48BEF90E5E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56E9344-4708-6CFD-E7B7-83B9A924C5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5B8F86A-2479-4BF1-84DD-58F8376BA508}"/>
              </a:ext>
            </a:extLst>
          </p:cNvPr>
          <p:cNvSpPr>
            <a:spLocks noGrp="1"/>
          </p:cNvSpPr>
          <p:nvPr>
            <p:ph type="dt" sz="half" idx="10"/>
          </p:nvPr>
        </p:nvSpPr>
        <p:spPr/>
        <p:txBody>
          <a:bodyPr/>
          <a:lstStyle/>
          <a:p>
            <a:fld id="{9E48549E-5777-4938-A192-AF80D58186EE}" type="datetimeFigureOut">
              <a:rPr lang="zh-CN" altLang="en-US" smtClean="0"/>
              <a:t>2024/12/10</a:t>
            </a:fld>
            <a:endParaRPr lang="zh-CN" altLang="en-US"/>
          </a:p>
        </p:txBody>
      </p:sp>
      <p:sp>
        <p:nvSpPr>
          <p:cNvPr id="5" name="页脚占位符 4">
            <a:extLst>
              <a:ext uri="{FF2B5EF4-FFF2-40B4-BE49-F238E27FC236}">
                <a16:creationId xmlns:a16="http://schemas.microsoft.com/office/drawing/2014/main" id="{9F75BAF6-F409-C897-C484-104FA49374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9BC1BA7-771D-9E77-4DBA-62BA3A30167A}"/>
              </a:ext>
            </a:extLst>
          </p:cNvPr>
          <p:cNvSpPr>
            <a:spLocks noGrp="1"/>
          </p:cNvSpPr>
          <p:nvPr>
            <p:ph type="sldNum" sz="quarter" idx="12"/>
          </p:nvPr>
        </p:nvSpPr>
        <p:spPr/>
        <p:txBody>
          <a:bodyPr/>
          <a:lstStyle/>
          <a:p>
            <a:fld id="{923AF64E-7A4F-4C44-A3B7-586C0A0C237D}" type="slidenum">
              <a:rPr lang="zh-CN" altLang="en-US" smtClean="0"/>
              <a:t>‹#›</a:t>
            </a:fld>
            <a:endParaRPr lang="zh-CN" altLang="en-US"/>
          </a:p>
        </p:txBody>
      </p:sp>
    </p:spTree>
    <p:extLst>
      <p:ext uri="{BB962C8B-B14F-4D97-AF65-F5344CB8AC3E}">
        <p14:creationId xmlns:p14="http://schemas.microsoft.com/office/powerpoint/2010/main" val="2712895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5835EB-CE14-71E0-8D36-F7CC5FAA88E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3E3FD76-372A-6F78-0B3C-7015201CD47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21B26BB-2795-78D6-944E-63C79A8D7057}"/>
              </a:ext>
            </a:extLst>
          </p:cNvPr>
          <p:cNvSpPr>
            <a:spLocks noGrp="1"/>
          </p:cNvSpPr>
          <p:nvPr>
            <p:ph type="dt" sz="half" idx="10"/>
          </p:nvPr>
        </p:nvSpPr>
        <p:spPr/>
        <p:txBody>
          <a:bodyPr/>
          <a:lstStyle/>
          <a:p>
            <a:fld id="{9E48549E-5777-4938-A192-AF80D58186EE}" type="datetimeFigureOut">
              <a:rPr lang="zh-CN" altLang="en-US" smtClean="0"/>
              <a:t>2024/12/10</a:t>
            </a:fld>
            <a:endParaRPr lang="zh-CN" altLang="en-US"/>
          </a:p>
        </p:txBody>
      </p:sp>
      <p:sp>
        <p:nvSpPr>
          <p:cNvPr id="5" name="页脚占位符 4">
            <a:extLst>
              <a:ext uri="{FF2B5EF4-FFF2-40B4-BE49-F238E27FC236}">
                <a16:creationId xmlns:a16="http://schemas.microsoft.com/office/drawing/2014/main" id="{0EDCD9BD-8E60-8DE1-C0BC-C6676A5A9AE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F659A32-02AC-9099-D9FF-BF5D2B0F7475}"/>
              </a:ext>
            </a:extLst>
          </p:cNvPr>
          <p:cNvSpPr>
            <a:spLocks noGrp="1"/>
          </p:cNvSpPr>
          <p:nvPr>
            <p:ph type="sldNum" sz="quarter" idx="12"/>
          </p:nvPr>
        </p:nvSpPr>
        <p:spPr/>
        <p:txBody>
          <a:bodyPr/>
          <a:lstStyle/>
          <a:p>
            <a:fld id="{923AF64E-7A4F-4C44-A3B7-586C0A0C237D}" type="slidenum">
              <a:rPr lang="zh-CN" altLang="en-US" smtClean="0"/>
              <a:t>‹#›</a:t>
            </a:fld>
            <a:endParaRPr lang="zh-CN" altLang="en-US"/>
          </a:p>
        </p:txBody>
      </p:sp>
    </p:spTree>
    <p:extLst>
      <p:ext uri="{BB962C8B-B14F-4D97-AF65-F5344CB8AC3E}">
        <p14:creationId xmlns:p14="http://schemas.microsoft.com/office/powerpoint/2010/main" val="565189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8F576-057C-D161-8043-E6CD7047F3F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78E3447-AF74-549D-0370-005BCB0D53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616763A-07B8-A35E-9303-8444EC8B927C}"/>
              </a:ext>
            </a:extLst>
          </p:cNvPr>
          <p:cNvSpPr>
            <a:spLocks noGrp="1"/>
          </p:cNvSpPr>
          <p:nvPr>
            <p:ph type="dt" sz="half" idx="10"/>
          </p:nvPr>
        </p:nvSpPr>
        <p:spPr/>
        <p:txBody>
          <a:bodyPr/>
          <a:lstStyle/>
          <a:p>
            <a:fld id="{9E48549E-5777-4938-A192-AF80D58186EE}" type="datetimeFigureOut">
              <a:rPr lang="zh-CN" altLang="en-US" smtClean="0"/>
              <a:t>2024/12/10</a:t>
            </a:fld>
            <a:endParaRPr lang="zh-CN" altLang="en-US"/>
          </a:p>
        </p:txBody>
      </p:sp>
      <p:sp>
        <p:nvSpPr>
          <p:cNvPr id="5" name="页脚占位符 4">
            <a:extLst>
              <a:ext uri="{FF2B5EF4-FFF2-40B4-BE49-F238E27FC236}">
                <a16:creationId xmlns:a16="http://schemas.microsoft.com/office/drawing/2014/main" id="{510D70A3-6A4C-4288-EA80-48074552727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085E3EC-39E0-650B-6928-10A6F15F1CCB}"/>
              </a:ext>
            </a:extLst>
          </p:cNvPr>
          <p:cNvSpPr>
            <a:spLocks noGrp="1"/>
          </p:cNvSpPr>
          <p:nvPr>
            <p:ph type="sldNum" sz="quarter" idx="12"/>
          </p:nvPr>
        </p:nvSpPr>
        <p:spPr/>
        <p:txBody>
          <a:bodyPr/>
          <a:lstStyle/>
          <a:p>
            <a:fld id="{923AF64E-7A4F-4C44-A3B7-586C0A0C237D}" type="slidenum">
              <a:rPr lang="zh-CN" altLang="en-US" smtClean="0"/>
              <a:t>‹#›</a:t>
            </a:fld>
            <a:endParaRPr lang="zh-CN" altLang="en-US"/>
          </a:p>
        </p:txBody>
      </p:sp>
    </p:spTree>
    <p:extLst>
      <p:ext uri="{BB962C8B-B14F-4D97-AF65-F5344CB8AC3E}">
        <p14:creationId xmlns:p14="http://schemas.microsoft.com/office/powerpoint/2010/main" val="2841944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103807-ABA1-5AA1-F54E-E75EC84FD0F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ED56D0D-0510-557F-6ADF-66A07F02F5B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2C570DB-A96C-D0A1-D4FE-770E81ED093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40E169D-B619-00B7-A8DE-685540ADF194}"/>
              </a:ext>
            </a:extLst>
          </p:cNvPr>
          <p:cNvSpPr>
            <a:spLocks noGrp="1"/>
          </p:cNvSpPr>
          <p:nvPr>
            <p:ph type="dt" sz="half" idx="10"/>
          </p:nvPr>
        </p:nvSpPr>
        <p:spPr/>
        <p:txBody>
          <a:bodyPr/>
          <a:lstStyle/>
          <a:p>
            <a:fld id="{9E48549E-5777-4938-A192-AF80D58186EE}" type="datetimeFigureOut">
              <a:rPr lang="zh-CN" altLang="en-US" smtClean="0"/>
              <a:t>2024/12/10</a:t>
            </a:fld>
            <a:endParaRPr lang="zh-CN" altLang="en-US"/>
          </a:p>
        </p:txBody>
      </p:sp>
      <p:sp>
        <p:nvSpPr>
          <p:cNvPr id="6" name="页脚占位符 5">
            <a:extLst>
              <a:ext uri="{FF2B5EF4-FFF2-40B4-BE49-F238E27FC236}">
                <a16:creationId xmlns:a16="http://schemas.microsoft.com/office/drawing/2014/main" id="{25BCA6F9-773D-4BBE-5CE2-3E52AFB1EA4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4EA29AB-96BB-0F1F-1117-ECC3FB9D3AE6}"/>
              </a:ext>
            </a:extLst>
          </p:cNvPr>
          <p:cNvSpPr>
            <a:spLocks noGrp="1"/>
          </p:cNvSpPr>
          <p:nvPr>
            <p:ph type="sldNum" sz="quarter" idx="12"/>
          </p:nvPr>
        </p:nvSpPr>
        <p:spPr/>
        <p:txBody>
          <a:bodyPr/>
          <a:lstStyle/>
          <a:p>
            <a:fld id="{923AF64E-7A4F-4C44-A3B7-586C0A0C237D}" type="slidenum">
              <a:rPr lang="zh-CN" altLang="en-US" smtClean="0"/>
              <a:t>‹#›</a:t>
            </a:fld>
            <a:endParaRPr lang="zh-CN" altLang="en-US"/>
          </a:p>
        </p:txBody>
      </p:sp>
    </p:spTree>
    <p:extLst>
      <p:ext uri="{BB962C8B-B14F-4D97-AF65-F5344CB8AC3E}">
        <p14:creationId xmlns:p14="http://schemas.microsoft.com/office/powerpoint/2010/main" val="1439175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D34AFF-2CA5-1DC8-3E4C-A253E246627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0E04F6C-0BC5-1600-5E4A-72ACD81BB3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61F3BEC-5163-D1B7-6BBF-CD9600CBCF7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20DF826-5659-0799-7013-AF2A04C6AA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9682F2A-5136-1EB2-F7D2-1B0633AFBE9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871BC9A-443D-285B-DB86-A4215B45DA2B}"/>
              </a:ext>
            </a:extLst>
          </p:cNvPr>
          <p:cNvSpPr>
            <a:spLocks noGrp="1"/>
          </p:cNvSpPr>
          <p:nvPr>
            <p:ph type="dt" sz="half" idx="10"/>
          </p:nvPr>
        </p:nvSpPr>
        <p:spPr/>
        <p:txBody>
          <a:bodyPr/>
          <a:lstStyle/>
          <a:p>
            <a:fld id="{9E48549E-5777-4938-A192-AF80D58186EE}" type="datetimeFigureOut">
              <a:rPr lang="zh-CN" altLang="en-US" smtClean="0"/>
              <a:t>2024/12/10</a:t>
            </a:fld>
            <a:endParaRPr lang="zh-CN" altLang="en-US"/>
          </a:p>
        </p:txBody>
      </p:sp>
      <p:sp>
        <p:nvSpPr>
          <p:cNvPr id="8" name="页脚占位符 7">
            <a:extLst>
              <a:ext uri="{FF2B5EF4-FFF2-40B4-BE49-F238E27FC236}">
                <a16:creationId xmlns:a16="http://schemas.microsoft.com/office/drawing/2014/main" id="{576C660E-BCF7-220E-58C7-32334333BB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A12E798-61DC-70FB-DE59-48940E5D5EBC}"/>
              </a:ext>
            </a:extLst>
          </p:cNvPr>
          <p:cNvSpPr>
            <a:spLocks noGrp="1"/>
          </p:cNvSpPr>
          <p:nvPr>
            <p:ph type="sldNum" sz="quarter" idx="12"/>
          </p:nvPr>
        </p:nvSpPr>
        <p:spPr/>
        <p:txBody>
          <a:bodyPr/>
          <a:lstStyle/>
          <a:p>
            <a:fld id="{923AF64E-7A4F-4C44-A3B7-586C0A0C237D}" type="slidenum">
              <a:rPr lang="zh-CN" altLang="en-US" smtClean="0"/>
              <a:t>‹#›</a:t>
            </a:fld>
            <a:endParaRPr lang="zh-CN" altLang="en-US"/>
          </a:p>
        </p:txBody>
      </p:sp>
    </p:spTree>
    <p:extLst>
      <p:ext uri="{BB962C8B-B14F-4D97-AF65-F5344CB8AC3E}">
        <p14:creationId xmlns:p14="http://schemas.microsoft.com/office/powerpoint/2010/main" val="2838975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FA8679-4C21-C711-F37F-E48D21BA11E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65F1A1C-1D67-6EFC-DD00-21AF035711AA}"/>
              </a:ext>
            </a:extLst>
          </p:cNvPr>
          <p:cNvSpPr>
            <a:spLocks noGrp="1"/>
          </p:cNvSpPr>
          <p:nvPr>
            <p:ph type="dt" sz="half" idx="10"/>
          </p:nvPr>
        </p:nvSpPr>
        <p:spPr/>
        <p:txBody>
          <a:bodyPr/>
          <a:lstStyle/>
          <a:p>
            <a:fld id="{9E48549E-5777-4938-A192-AF80D58186EE}" type="datetimeFigureOut">
              <a:rPr lang="zh-CN" altLang="en-US" smtClean="0"/>
              <a:t>2024/12/10</a:t>
            </a:fld>
            <a:endParaRPr lang="zh-CN" altLang="en-US"/>
          </a:p>
        </p:txBody>
      </p:sp>
      <p:sp>
        <p:nvSpPr>
          <p:cNvPr id="4" name="页脚占位符 3">
            <a:extLst>
              <a:ext uri="{FF2B5EF4-FFF2-40B4-BE49-F238E27FC236}">
                <a16:creationId xmlns:a16="http://schemas.microsoft.com/office/drawing/2014/main" id="{3F58B595-00C1-9535-98DA-A0144B8FDDA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692A838-889C-6323-649B-6DD52C2DA43F}"/>
              </a:ext>
            </a:extLst>
          </p:cNvPr>
          <p:cNvSpPr>
            <a:spLocks noGrp="1"/>
          </p:cNvSpPr>
          <p:nvPr>
            <p:ph type="sldNum" sz="quarter" idx="12"/>
          </p:nvPr>
        </p:nvSpPr>
        <p:spPr/>
        <p:txBody>
          <a:bodyPr/>
          <a:lstStyle/>
          <a:p>
            <a:fld id="{923AF64E-7A4F-4C44-A3B7-586C0A0C237D}" type="slidenum">
              <a:rPr lang="zh-CN" altLang="en-US" smtClean="0"/>
              <a:t>‹#›</a:t>
            </a:fld>
            <a:endParaRPr lang="zh-CN" altLang="en-US"/>
          </a:p>
        </p:txBody>
      </p:sp>
    </p:spTree>
    <p:extLst>
      <p:ext uri="{BB962C8B-B14F-4D97-AF65-F5344CB8AC3E}">
        <p14:creationId xmlns:p14="http://schemas.microsoft.com/office/powerpoint/2010/main" val="867856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740E7BA-9A56-9464-C8F9-380827E3754F}"/>
              </a:ext>
            </a:extLst>
          </p:cNvPr>
          <p:cNvSpPr>
            <a:spLocks noGrp="1"/>
          </p:cNvSpPr>
          <p:nvPr>
            <p:ph type="dt" sz="half" idx="10"/>
          </p:nvPr>
        </p:nvSpPr>
        <p:spPr/>
        <p:txBody>
          <a:bodyPr/>
          <a:lstStyle/>
          <a:p>
            <a:fld id="{9E48549E-5777-4938-A192-AF80D58186EE}" type="datetimeFigureOut">
              <a:rPr lang="zh-CN" altLang="en-US" smtClean="0"/>
              <a:t>2024/12/10</a:t>
            </a:fld>
            <a:endParaRPr lang="zh-CN" altLang="en-US"/>
          </a:p>
        </p:txBody>
      </p:sp>
      <p:sp>
        <p:nvSpPr>
          <p:cNvPr id="3" name="页脚占位符 2">
            <a:extLst>
              <a:ext uri="{FF2B5EF4-FFF2-40B4-BE49-F238E27FC236}">
                <a16:creationId xmlns:a16="http://schemas.microsoft.com/office/drawing/2014/main" id="{EF1979B0-ECD9-3EB3-3C7F-66B633705A8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F5957B6-4540-0724-4965-40C51C46B87C}"/>
              </a:ext>
            </a:extLst>
          </p:cNvPr>
          <p:cNvSpPr>
            <a:spLocks noGrp="1"/>
          </p:cNvSpPr>
          <p:nvPr>
            <p:ph type="sldNum" sz="quarter" idx="12"/>
          </p:nvPr>
        </p:nvSpPr>
        <p:spPr/>
        <p:txBody>
          <a:bodyPr/>
          <a:lstStyle/>
          <a:p>
            <a:fld id="{923AF64E-7A4F-4C44-A3B7-586C0A0C237D}" type="slidenum">
              <a:rPr lang="zh-CN" altLang="en-US" smtClean="0"/>
              <a:t>‹#›</a:t>
            </a:fld>
            <a:endParaRPr lang="zh-CN" altLang="en-US"/>
          </a:p>
        </p:txBody>
      </p:sp>
    </p:spTree>
    <p:extLst>
      <p:ext uri="{BB962C8B-B14F-4D97-AF65-F5344CB8AC3E}">
        <p14:creationId xmlns:p14="http://schemas.microsoft.com/office/powerpoint/2010/main" val="2913417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07A5C-89DF-880F-0596-EAD893B104C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0CE7DD9-EA46-2250-9B34-1F92999344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7DE026F-D1BD-B88D-55BE-439BB61D3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7E41602-A637-5CD9-2B24-CB47D82FE903}"/>
              </a:ext>
            </a:extLst>
          </p:cNvPr>
          <p:cNvSpPr>
            <a:spLocks noGrp="1"/>
          </p:cNvSpPr>
          <p:nvPr>
            <p:ph type="dt" sz="half" idx="10"/>
          </p:nvPr>
        </p:nvSpPr>
        <p:spPr/>
        <p:txBody>
          <a:bodyPr/>
          <a:lstStyle/>
          <a:p>
            <a:fld id="{9E48549E-5777-4938-A192-AF80D58186EE}" type="datetimeFigureOut">
              <a:rPr lang="zh-CN" altLang="en-US" smtClean="0"/>
              <a:t>2024/12/10</a:t>
            </a:fld>
            <a:endParaRPr lang="zh-CN" altLang="en-US"/>
          </a:p>
        </p:txBody>
      </p:sp>
      <p:sp>
        <p:nvSpPr>
          <p:cNvPr id="6" name="页脚占位符 5">
            <a:extLst>
              <a:ext uri="{FF2B5EF4-FFF2-40B4-BE49-F238E27FC236}">
                <a16:creationId xmlns:a16="http://schemas.microsoft.com/office/drawing/2014/main" id="{B1F8723F-5609-B527-F6BA-0AB31607E91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083C9E7-2964-8087-32B0-0ACDE52FCE63}"/>
              </a:ext>
            </a:extLst>
          </p:cNvPr>
          <p:cNvSpPr>
            <a:spLocks noGrp="1"/>
          </p:cNvSpPr>
          <p:nvPr>
            <p:ph type="sldNum" sz="quarter" idx="12"/>
          </p:nvPr>
        </p:nvSpPr>
        <p:spPr/>
        <p:txBody>
          <a:bodyPr/>
          <a:lstStyle/>
          <a:p>
            <a:fld id="{923AF64E-7A4F-4C44-A3B7-586C0A0C237D}" type="slidenum">
              <a:rPr lang="zh-CN" altLang="en-US" smtClean="0"/>
              <a:t>‹#›</a:t>
            </a:fld>
            <a:endParaRPr lang="zh-CN" altLang="en-US"/>
          </a:p>
        </p:txBody>
      </p:sp>
    </p:spTree>
    <p:extLst>
      <p:ext uri="{BB962C8B-B14F-4D97-AF65-F5344CB8AC3E}">
        <p14:creationId xmlns:p14="http://schemas.microsoft.com/office/powerpoint/2010/main" val="2798201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FE3CF4-937B-0365-C6AD-314F54118C3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866DF6A-DEB5-BC30-0C97-5D62E463C2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8FCBD66-2687-A5E0-CCF4-917E3A655E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BAAB50D-F25F-D707-5C48-E85014909A9D}"/>
              </a:ext>
            </a:extLst>
          </p:cNvPr>
          <p:cNvSpPr>
            <a:spLocks noGrp="1"/>
          </p:cNvSpPr>
          <p:nvPr>
            <p:ph type="dt" sz="half" idx="10"/>
          </p:nvPr>
        </p:nvSpPr>
        <p:spPr/>
        <p:txBody>
          <a:bodyPr/>
          <a:lstStyle/>
          <a:p>
            <a:fld id="{9E48549E-5777-4938-A192-AF80D58186EE}" type="datetimeFigureOut">
              <a:rPr lang="zh-CN" altLang="en-US" smtClean="0"/>
              <a:t>2024/12/10</a:t>
            </a:fld>
            <a:endParaRPr lang="zh-CN" altLang="en-US"/>
          </a:p>
        </p:txBody>
      </p:sp>
      <p:sp>
        <p:nvSpPr>
          <p:cNvPr id="6" name="页脚占位符 5">
            <a:extLst>
              <a:ext uri="{FF2B5EF4-FFF2-40B4-BE49-F238E27FC236}">
                <a16:creationId xmlns:a16="http://schemas.microsoft.com/office/drawing/2014/main" id="{ED6AD47C-7C47-94BE-F644-6C9EFB1D770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B65D184-94C2-D466-F340-CEA3B972DF3F}"/>
              </a:ext>
            </a:extLst>
          </p:cNvPr>
          <p:cNvSpPr>
            <a:spLocks noGrp="1"/>
          </p:cNvSpPr>
          <p:nvPr>
            <p:ph type="sldNum" sz="quarter" idx="12"/>
          </p:nvPr>
        </p:nvSpPr>
        <p:spPr/>
        <p:txBody>
          <a:bodyPr/>
          <a:lstStyle/>
          <a:p>
            <a:fld id="{923AF64E-7A4F-4C44-A3B7-586C0A0C237D}" type="slidenum">
              <a:rPr lang="zh-CN" altLang="en-US" smtClean="0"/>
              <a:t>‹#›</a:t>
            </a:fld>
            <a:endParaRPr lang="zh-CN" altLang="en-US"/>
          </a:p>
        </p:txBody>
      </p:sp>
    </p:spTree>
    <p:extLst>
      <p:ext uri="{BB962C8B-B14F-4D97-AF65-F5344CB8AC3E}">
        <p14:creationId xmlns:p14="http://schemas.microsoft.com/office/powerpoint/2010/main" val="2273106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AACAE4-FA0E-CB54-9D7D-8EF2758283E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6C2E5C3-E1F2-DBF4-2700-169E1F13709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E2AE14C-96D3-4AA3-E974-0C5A5E5B4CEF}"/>
              </a:ext>
            </a:extLst>
          </p:cNvPr>
          <p:cNvSpPr>
            <a:spLocks noGrp="1"/>
          </p:cNvSpPr>
          <p:nvPr>
            <p:ph type="dt" sz="half" idx="10"/>
          </p:nvPr>
        </p:nvSpPr>
        <p:spPr/>
        <p:txBody>
          <a:bodyPr/>
          <a:lstStyle/>
          <a:p>
            <a:fld id="{9E48549E-5777-4938-A192-AF80D58186EE}" type="datetimeFigureOut">
              <a:rPr lang="zh-CN" altLang="en-US" smtClean="0"/>
              <a:t>2024/12/10</a:t>
            </a:fld>
            <a:endParaRPr lang="zh-CN" altLang="en-US"/>
          </a:p>
        </p:txBody>
      </p:sp>
      <p:sp>
        <p:nvSpPr>
          <p:cNvPr id="5" name="页脚占位符 4">
            <a:extLst>
              <a:ext uri="{FF2B5EF4-FFF2-40B4-BE49-F238E27FC236}">
                <a16:creationId xmlns:a16="http://schemas.microsoft.com/office/drawing/2014/main" id="{AF23BC46-2827-1EEF-156F-F6A22209D1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659A06D-6441-C1AE-A235-41C3911B573A}"/>
              </a:ext>
            </a:extLst>
          </p:cNvPr>
          <p:cNvSpPr>
            <a:spLocks noGrp="1"/>
          </p:cNvSpPr>
          <p:nvPr>
            <p:ph type="sldNum" sz="quarter" idx="12"/>
          </p:nvPr>
        </p:nvSpPr>
        <p:spPr/>
        <p:txBody>
          <a:bodyPr/>
          <a:lstStyle/>
          <a:p>
            <a:fld id="{923AF64E-7A4F-4C44-A3B7-586C0A0C237D}" type="slidenum">
              <a:rPr lang="zh-CN" altLang="en-US" smtClean="0"/>
              <a:t>‹#›</a:t>
            </a:fld>
            <a:endParaRPr lang="zh-CN" altLang="en-US"/>
          </a:p>
        </p:txBody>
      </p:sp>
    </p:spTree>
    <p:extLst>
      <p:ext uri="{BB962C8B-B14F-4D97-AF65-F5344CB8AC3E}">
        <p14:creationId xmlns:p14="http://schemas.microsoft.com/office/powerpoint/2010/main" val="838612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5FCF313-7732-6FCB-8B32-44AF4E0F003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7E236CF-053F-8169-6E8B-A38BBB7D6CC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47980BC-AB74-4E30-694F-E7AD7D60AACD}"/>
              </a:ext>
            </a:extLst>
          </p:cNvPr>
          <p:cNvSpPr>
            <a:spLocks noGrp="1"/>
          </p:cNvSpPr>
          <p:nvPr>
            <p:ph type="dt" sz="half" idx="10"/>
          </p:nvPr>
        </p:nvSpPr>
        <p:spPr/>
        <p:txBody>
          <a:bodyPr/>
          <a:lstStyle/>
          <a:p>
            <a:fld id="{9E48549E-5777-4938-A192-AF80D58186EE}" type="datetimeFigureOut">
              <a:rPr lang="zh-CN" altLang="en-US" smtClean="0"/>
              <a:t>2024/12/10</a:t>
            </a:fld>
            <a:endParaRPr lang="zh-CN" altLang="en-US"/>
          </a:p>
        </p:txBody>
      </p:sp>
      <p:sp>
        <p:nvSpPr>
          <p:cNvPr id="5" name="页脚占位符 4">
            <a:extLst>
              <a:ext uri="{FF2B5EF4-FFF2-40B4-BE49-F238E27FC236}">
                <a16:creationId xmlns:a16="http://schemas.microsoft.com/office/drawing/2014/main" id="{D90158F0-D6C2-2F00-7082-3CF47A6A37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BE3A077-0F6F-DA8D-D505-5619619360F8}"/>
              </a:ext>
            </a:extLst>
          </p:cNvPr>
          <p:cNvSpPr>
            <a:spLocks noGrp="1"/>
          </p:cNvSpPr>
          <p:nvPr>
            <p:ph type="sldNum" sz="quarter" idx="12"/>
          </p:nvPr>
        </p:nvSpPr>
        <p:spPr/>
        <p:txBody>
          <a:bodyPr/>
          <a:lstStyle/>
          <a:p>
            <a:fld id="{923AF64E-7A4F-4C44-A3B7-586C0A0C237D}" type="slidenum">
              <a:rPr lang="zh-CN" altLang="en-US" smtClean="0"/>
              <a:t>‹#›</a:t>
            </a:fld>
            <a:endParaRPr lang="zh-CN" altLang="en-US"/>
          </a:p>
        </p:txBody>
      </p:sp>
    </p:spTree>
    <p:extLst>
      <p:ext uri="{BB962C8B-B14F-4D97-AF65-F5344CB8AC3E}">
        <p14:creationId xmlns:p14="http://schemas.microsoft.com/office/powerpoint/2010/main" val="1514953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2024/12/10</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96543270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2024/12/10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29295706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2024/12/10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38137537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2024/12/10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78443612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2024/12/10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726508393"/>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2024/12/10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674551612"/>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2024/12/10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418413882"/>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2024/12/10</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extLst>
      <p:ext uri="{BB962C8B-B14F-4D97-AF65-F5344CB8AC3E}">
        <p14:creationId xmlns:p14="http://schemas.microsoft.com/office/powerpoint/2010/main" val="3979404041"/>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2024/12/10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086979237"/>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2024/12/10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019644487"/>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2024/12/10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extLst>
      <p:ext uri="{BB962C8B-B14F-4D97-AF65-F5344CB8AC3E}">
        <p14:creationId xmlns:p14="http://schemas.microsoft.com/office/powerpoint/2010/main" val="1870314102"/>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tLang="zh-CN"/>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tLang="zh-CN"/>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16924735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5137" name="Picture 2"/>
          <p:cNvPicPr>
            <a:picLocks noChangeAspect="1"/>
          </p:cNvPicPr>
          <p:nvPr userDrawn="1"/>
        </p:nvPicPr>
        <p:blipFill>
          <a:blip r:embed="rId2"/>
          <a:stretch>
            <a:fillRect/>
          </a:stretch>
        </p:blipFill>
        <p:spPr>
          <a:xfrm>
            <a:off x="10972800" y="3175"/>
            <a:ext cx="1219200" cy="914400"/>
          </a:xfrm>
          <a:prstGeom prst="rect">
            <a:avLst/>
          </a:prstGeom>
          <a:noFill/>
          <a:ln w="9525">
            <a:noFill/>
          </a:ln>
        </p:spPr>
      </p:pic>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3" name="Rectangle 4"/>
          <p:cNvSpPr>
            <a:spLocks noGrp="1" noChangeArrowheads="1"/>
          </p:cNvSpPr>
          <p:nvPr>
            <p:ph type="dt" sz="half" idx="2"/>
          </p:nvPr>
        </p:nvSpPr>
        <p:spPr bwMode="auto">
          <a:xfrm>
            <a:off x="609600" y="6245225"/>
            <a:ext cx="28448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fontAlgn="base">
              <a:spcBef>
                <a:spcPct val="0"/>
              </a:spcBef>
              <a:spcAft>
                <a:spcPct val="0"/>
              </a:spcAft>
              <a:defRPr/>
            </a:pPr>
            <a:endParaRPr lang="en-US" altLang="zh-CN"/>
          </a:p>
        </p:txBody>
      </p:sp>
      <p:sp>
        <p:nvSpPr>
          <p:cNvPr id="24" name="Rectangle 5"/>
          <p:cNvSpPr>
            <a:spLocks noGrp="1" noChangeArrowheads="1"/>
          </p:cNvSpPr>
          <p:nvPr>
            <p:ph type="ftr" sz="quarter" idx="3"/>
          </p:nvPr>
        </p:nvSpPr>
        <p:spPr bwMode="auto">
          <a:xfrm>
            <a:off x="4165600" y="6245225"/>
            <a:ext cx="38608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fontAlgn="base">
              <a:spcBef>
                <a:spcPct val="0"/>
              </a:spcBef>
              <a:spcAft>
                <a:spcPct val="0"/>
              </a:spcAft>
              <a:defRPr/>
            </a:pPr>
            <a:endParaRPr lang="en-US" altLang="zh-CN"/>
          </a:p>
        </p:txBody>
      </p:sp>
      <p:sp>
        <p:nvSpPr>
          <p:cNvPr id="25" name="Rectangle 6"/>
          <p:cNvSpPr>
            <a:spLocks noGrp="1" noChangeArrowheads="1"/>
          </p:cNvSpPr>
          <p:nvPr>
            <p:ph type="sldNum" sz="quarter" idx="4"/>
          </p:nvPr>
        </p:nvSpPr>
        <p:spPr bwMode="auto">
          <a:xfrm>
            <a:off x="8737600" y="6245225"/>
            <a:ext cx="28448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2076715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tLang="zh-CN"/>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tLang="zh-CN"/>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24519379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320800" y="838200"/>
            <a:ext cx="5232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756400" y="838200"/>
            <a:ext cx="5232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fontAlgn="base">
              <a:spcBef>
                <a:spcPct val="0"/>
              </a:spcBef>
              <a:spcAft>
                <a:spcPct val="0"/>
              </a:spcAft>
              <a:defRPr/>
            </a:pPr>
            <a:endParaRPr lang="en-US" altLang="zh-CN"/>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en-US" altLang="zh-CN"/>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19825067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fontAlgn="base">
              <a:spcBef>
                <a:spcPct val="0"/>
              </a:spcBef>
              <a:spcAft>
                <a:spcPct val="0"/>
              </a:spcAft>
              <a:defRPr/>
            </a:pPr>
            <a:endParaRPr lang="en-US" altLang="zh-CN"/>
          </a:p>
        </p:txBody>
      </p:sp>
      <p:sp>
        <p:nvSpPr>
          <p:cNvPr id="8" name="页脚占位符 7"/>
          <p:cNvSpPr>
            <a:spLocks noGrp="1"/>
          </p:cNvSpPr>
          <p:nvPr>
            <p:ph type="ftr" sz="quarter" idx="11"/>
          </p:nvPr>
        </p:nvSpPr>
        <p:spPr/>
        <p:txBody>
          <a:bodyPr/>
          <a:lstStyle/>
          <a:p>
            <a:pPr fontAlgn="base">
              <a:spcBef>
                <a:spcPct val="0"/>
              </a:spcBef>
              <a:spcAft>
                <a:spcPct val="0"/>
              </a:spcAft>
              <a:defRPr/>
            </a:pPr>
            <a:endParaRPr lang="en-US" altLang="zh-CN"/>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831654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fontAlgn="base">
              <a:spcBef>
                <a:spcPct val="0"/>
              </a:spcBef>
              <a:spcAft>
                <a:spcPct val="0"/>
              </a:spcAft>
              <a:defRPr/>
            </a:pPr>
            <a:endParaRPr lang="en-US" altLang="zh-CN"/>
          </a:p>
        </p:txBody>
      </p:sp>
      <p:sp>
        <p:nvSpPr>
          <p:cNvPr id="4" name="页脚占位符 3"/>
          <p:cNvSpPr>
            <a:spLocks noGrp="1"/>
          </p:cNvSpPr>
          <p:nvPr>
            <p:ph type="ftr" sz="quarter" idx="11"/>
          </p:nvPr>
        </p:nvSpPr>
        <p:spPr/>
        <p:txBody>
          <a:bodyPr/>
          <a:lstStyle/>
          <a:p>
            <a:pPr fontAlgn="base">
              <a:spcBef>
                <a:spcPct val="0"/>
              </a:spcBef>
              <a:spcAft>
                <a:spcPct val="0"/>
              </a:spcAft>
              <a:defRPr/>
            </a:pPr>
            <a:endParaRPr lang="en-US" altLang="zh-CN"/>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28746647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base">
              <a:spcBef>
                <a:spcPct val="0"/>
              </a:spcBef>
              <a:spcAft>
                <a:spcPct val="0"/>
              </a:spcAft>
              <a:defRPr/>
            </a:pPr>
            <a:endParaRPr lang="en-US" altLang="zh-CN"/>
          </a:p>
        </p:txBody>
      </p:sp>
      <p:sp>
        <p:nvSpPr>
          <p:cNvPr id="3" name="页脚占位符 2"/>
          <p:cNvSpPr>
            <a:spLocks noGrp="1"/>
          </p:cNvSpPr>
          <p:nvPr>
            <p:ph type="ftr" sz="quarter" idx="11"/>
          </p:nvPr>
        </p:nvSpPr>
        <p:spPr/>
        <p:txBody>
          <a:bodyPr/>
          <a:lstStyle/>
          <a:p>
            <a:pPr fontAlgn="base">
              <a:spcBef>
                <a:spcPct val="0"/>
              </a:spcBef>
              <a:spcAft>
                <a:spcPct val="0"/>
              </a:spcAft>
              <a:defRPr/>
            </a:pPr>
            <a:endParaRPr lang="en-US" altLang="zh-CN"/>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25461860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fontAlgn="base">
              <a:spcBef>
                <a:spcPct val="0"/>
              </a:spcBef>
              <a:spcAft>
                <a:spcPct val="0"/>
              </a:spcAft>
              <a:defRPr/>
            </a:pPr>
            <a:endParaRPr lang="en-US" altLang="zh-CN"/>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en-US" altLang="zh-CN"/>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18054001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fontAlgn="base">
              <a:spcBef>
                <a:spcPct val="0"/>
              </a:spcBef>
              <a:spcAft>
                <a:spcPct val="0"/>
              </a:spcAft>
              <a:defRPr/>
            </a:pPr>
            <a:endParaRPr lang="en-US" altLang="zh-CN"/>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en-US" altLang="zh-CN"/>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42829256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tLang="zh-CN"/>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tLang="zh-CN"/>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9039994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1800" y="152400"/>
            <a:ext cx="2667000" cy="5867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320800" y="152400"/>
            <a:ext cx="7797800" cy="5867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tLang="zh-CN"/>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tLang="zh-CN"/>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30040723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6146" name="Picture 4"/>
          <p:cNvPicPr>
            <a:picLocks noChangeAspect="1"/>
          </p:cNvPicPr>
          <p:nvPr/>
        </p:nvPicPr>
        <p:blipFill>
          <a:blip r:embed="rId2"/>
          <a:stretch>
            <a:fillRect/>
          </a:stretch>
        </p:blipFill>
        <p:spPr>
          <a:xfrm>
            <a:off x="8487834" y="5973763"/>
            <a:ext cx="3246967" cy="601662"/>
          </a:xfrm>
          <a:prstGeom prst="rect">
            <a:avLst/>
          </a:prstGeom>
          <a:noFill/>
          <a:ln w="9525">
            <a:noFill/>
          </a:ln>
        </p:spPr>
      </p:pic>
      <p:sp>
        <p:nvSpPr>
          <p:cNvPr id="6147" name="Line 2"/>
          <p:cNvSpPr/>
          <p:nvPr userDrawn="1"/>
        </p:nvSpPr>
        <p:spPr>
          <a:xfrm flipV="1">
            <a:off x="431800" y="1268413"/>
            <a:ext cx="11328400" cy="0"/>
          </a:xfrm>
          <a:prstGeom prst="line">
            <a:avLst/>
          </a:prstGeom>
          <a:ln w="25400" cap="flat" cmpd="sng">
            <a:solidFill>
              <a:schemeClr val="tx2"/>
            </a:solidFill>
            <a:prstDash val="solid"/>
            <a:headEnd type="none" w="sm" len="sm"/>
            <a:tailEnd type="none" w="sm" len="sm"/>
          </a:ln>
        </p:spPr>
      </p:sp>
      <p:sp>
        <p:nvSpPr>
          <p:cNvPr id="6148" name="Rectangle 6"/>
          <p:cNvSpPr/>
          <p:nvPr userDrawn="1"/>
        </p:nvSpPr>
        <p:spPr>
          <a:xfrm>
            <a:off x="11377674" y="6453188"/>
            <a:ext cx="814326" cy="243656"/>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rPr>
              <a:t>   </a:t>
            </a:r>
            <a:r>
              <a:rPr lang="en-US" altLang="zh-CN" sz="1000" dirty="0">
                <a:solidFill>
                  <a:srgbClr val="000000"/>
                </a:solidFill>
                <a:latin typeface="FuturaA Md BT" charset="0"/>
              </a:rPr>
              <a:t>Page </a:t>
            </a:r>
            <a:fld id="{9A0DB2DC-4C9A-4742-B13C-FB6460FD3503}" type="slidenum">
              <a:rPr lang="en-US" altLang="zh-CN" sz="1000" dirty="0">
                <a:solidFill>
                  <a:srgbClr val="000000"/>
                </a:solidFill>
                <a:latin typeface="FuturaA Md BT" charset="0"/>
              </a:rPr>
              <a:t>‹#›</a:t>
            </a:fld>
            <a:endParaRPr lang="en-US" altLang="zh-CN" sz="1000" dirty="0">
              <a:solidFill>
                <a:srgbClr val="000000"/>
              </a:solidFill>
              <a:latin typeface="FuturaA Md BT" charset="0"/>
            </a:endParaRPr>
          </a:p>
        </p:txBody>
      </p:sp>
      <p:grpSp>
        <p:nvGrpSpPr>
          <p:cNvPr id="6149" name="Group 10"/>
          <p:cNvGrpSpPr/>
          <p:nvPr userDrawn="1"/>
        </p:nvGrpSpPr>
        <p:grpSpPr>
          <a:xfrm>
            <a:off x="1102785" y="5516564"/>
            <a:ext cx="11087100" cy="1363861"/>
            <a:chOff x="249" y="2341"/>
            <a:chExt cx="5178" cy="1617"/>
          </a:xfrm>
        </p:grpSpPr>
        <p:pic>
          <p:nvPicPr>
            <p:cNvPr id="6157" name="Picture 11" descr="未命名-1"/>
            <p:cNvPicPr>
              <a:picLocks noChangeAspect="1"/>
            </p:cNvPicPr>
            <p:nvPr/>
          </p:nvPicPr>
          <p:blipFill>
            <a:blip r:embed="rId3"/>
            <a:stretch>
              <a:fillRect/>
            </a:stretch>
          </p:blipFill>
          <p:spPr>
            <a:xfrm>
              <a:off x="249" y="2341"/>
              <a:ext cx="5178" cy="1434"/>
            </a:xfrm>
            <a:prstGeom prst="rect">
              <a:avLst/>
            </a:prstGeom>
            <a:noFill/>
            <a:ln w="9525">
              <a:noFill/>
            </a:ln>
          </p:spPr>
        </p:pic>
        <p:sp>
          <p:nvSpPr>
            <p:cNvPr id="15" name="Rectangle 12"/>
            <p:cNvSpPr>
              <a:spLocks noChangeArrowheads="1"/>
            </p:cNvSpPr>
            <p:nvPr/>
          </p:nvSpPr>
          <p:spPr bwMode="gray">
            <a:xfrm>
              <a:off x="1891" y="3593"/>
              <a:ext cx="86" cy="365"/>
            </a:xfrm>
            <a:prstGeom prst="rect">
              <a:avLst/>
            </a:prstGeom>
            <a:noFill/>
            <a:ln w="9525" algn="ctr">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pic>
        <p:nvPicPr>
          <p:cNvPr id="6150" name="Picture 16" descr="logo"/>
          <p:cNvPicPr>
            <a:picLocks noChangeAspect="1"/>
          </p:cNvPicPr>
          <p:nvPr userDrawn="1"/>
        </p:nvPicPr>
        <p:blipFill>
          <a:blip r:embed="rId4"/>
          <a:stretch>
            <a:fillRect/>
          </a:stretch>
        </p:blipFill>
        <p:spPr>
          <a:xfrm>
            <a:off x="192618" y="333375"/>
            <a:ext cx="4464049" cy="719138"/>
          </a:xfrm>
          <a:prstGeom prst="rect">
            <a:avLst/>
          </a:prstGeom>
          <a:noFill/>
          <a:ln w="9525">
            <a:noFill/>
          </a:ln>
        </p:spPr>
      </p:pic>
      <p:pic>
        <p:nvPicPr>
          <p:cNvPr id="6151" name="Picture 17"/>
          <p:cNvPicPr>
            <a:picLocks noChangeAspect="1"/>
          </p:cNvPicPr>
          <p:nvPr userDrawn="1"/>
        </p:nvPicPr>
        <p:blipFill>
          <a:blip r:embed="rId5"/>
          <a:stretch>
            <a:fillRect/>
          </a:stretch>
        </p:blipFill>
        <p:spPr>
          <a:xfrm>
            <a:off x="239184" y="5734051"/>
            <a:ext cx="1439333" cy="1057275"/>
          </a:xfrm>
          <a:prstGeom prst="rect">
            <a:avLst/>
          </a:prstGeom>
          <a:noFill/>
          <a:ln w="9525">
            <a:noFill/>
          </a:ln>
        </p:spPr>
      </p:pic>
      <p:sp>
        <p:nvSpPr>
          <p:cNvPr id="6152" name="Rectangle 13"/>
          <p:cNvSpPr/>
          <p:nvPr userDrawn="1"/>
        </p:nvSpPr>
        <p:spPr>
          <a:xfrm>
            <a:off x="11377674" y="6453188"/>
            <a:ext cx="814326" cy="243656"/>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rPr>
              <a:t>   </a:t>
            </a:r>
            <a:r>
              <a:rPr lang="en-US" altLang="zh-CN" sz="1000" dirty="0">
                <a:solidFill>
                  <a:srgbClr val="000000"/>
                </a:solidFill>
                <a:latin typeface="FuturaA Md BT" charset="0"/>
              </a:rPr>
              <a:t>Page </a:t>
            </a:r>
            <a:fld id="{9A0DB2DC-4C9A-4742-B13C-FB6460FD3503}" type="slidenum">
              <a:rPr lang="en-US" altLang="zh-CN" sz="1000" dirty="0">
                <a:solidFill>
                  <a:srgbClr val="000000"/>
                </a:solidFill>
                <a:latin typeface="FuturaA Md BT" charset="0"/>
              </a:rPr>
              <a:t>‹#›</a:t>
            </a:fld>
            <a:endParaRPr lang="en-US" altLang="zh-CN" sz="1000" dirty="0">
              <a:solidFill>
                <a:srgbClr val="000000"/>
              </a:solidFill>
              <a:latin typeface="FuturaA Md BT" charset="0"/>
            </a:endParaRPr>
          </a:p>
        </p:txBody>
      </p:sp>
      <p:pic>
        <p:nvPicPr>
          <p:cNvPr id="6153" name="Picture 14" descr="蓝色LOGO"/>
          <p:cNvPicPr>
            <a:picLocks noChangeAspect="1"/>
          </p:cNvPicPr>
          <p:nvPr userDrawn="1"/>
        </p:nvPicPr>
        <p:blipFill>
          <a:blip r:embed="rId6"/>
          <a:stretch>
            <a:fillRect/>
          </a:stretch>
        </p:blipFill>
        <p:spPr>
          <a:xfrm>
            <a:off x="46567" y="188913"/>
            <a:ext cx="4897967" cy="863600"/>
          </a:xfrm>
          <a:prstGeom prst="rect">
            <a:avLst/>
          </a:prstGeom>
          <a:noFill/>
          <a:ln w="9525">
            <a:noFill/>
          </a:ln>
        </p:spPr>
      </p:pic>
      <p:pic>
        <p:nvPicPr>
          <p:cNvPr id="6154" name="Picture 15" descr="教3楼"/>
          <p:cNvPicPr>
            <a:picLocks noChangeAspect="1"/>
          </p:cNvPicPr>
          <p:nvPr userDrawn="1"/>
        </p:nvPicPr>
        <p:blipFill>
          <a:blip r:embed="rId7"/>
          <a:stretch>
            <a:fillRect/>
          </a:stretch>
        </p:blipFill>
        <p:spPr>
          <a:xfrm>
            <a:off x="0" y="3789364"/>
            <a:ext cx="12192000" cy="3095625"/>
          </a:xfrm>
          <a:prstGeom prst="rect">
            <a:avLst/>
          </a:prstGeom>
          <a:noFill/>
          <a:ln w="9525">
            <a:noFill/>
          </a:ln>
        </p:spPr>
      </p:pic>
      <p:sp>
        <p:nvSpPr>
          <p:cNvPr id="2999298" name="Rectangle 2"/>
          <p:cNvSpPr>
            <a:spLocks noGrp="1" noChangeArrowheads="1"/>
          </p:cNvSpPr>
          <p:nvPr>
            <p:ph type="ctrTitle"/>
          </p:nvPr>
        </p:nvSpPr>
        <p:spPr>
          <a:xfrm>
            <a:off x="914400" y="1273176"/>
            <a:ext cx="10363200" cy="1470025"/>
          </a:xfrm>
        </p:spPr>
        <p:txBody>
          <a:bodyPr/>
          <a:lstStyle>
            <a:lvl1pPr algn="ctr">
              <a:defRPr sz="4400">
                <a:solidFill>
                  <a:srgbClr val="FF3300"/>
                </a:solidFill>
                <a:ea typeface="华文中宋" panose="02010600040101010101" pitchFamily="2" charset="-122"/>
              </a:defRPr>
            </a:lvl1pPr>
          </a:lstStyle>
          <a:p>
            <a:pPr lvl="0"/>
            <a:r>
              <a:rPr lang="zh-CN" altLang="en-US" noProof="0"/>
              <a:t>单击此处编辑母版标题样式</a:t>
            </a:r>
          </a:p>
        </p:txBody>
      </p:sp>
      <p:sp>
        <p:nvSpPr>
          <p:cNvPr id="2999299" name="Rectangle 3"/>
          <p:cNvSpPr>
            <a:spLocks noGrp="1" noChangeArrowheads="1"/>
          </p:cNvSpPr>
          <p:nvPr>
            <p:ph type="subTitle" idx="1"/>
          </p:nvPr>
        </p:nvSpPr>
        <p:spPr>
          <a:xfrm>
            <a:off x="1828800" y="3028950"/>
            <a:ext cx="8534400" cy="1752600"/>
          </a:xfrm>
        </p:spPr>
        <p:txBody>
          <a:bodyPr/>
          <a:lstStyle>
            <a:lvl1pPr marL="0" indent="0" algn="ctr">
              <a:buFont typeface="Wingdings" panose="05000000000000000000" pitchFamily="2" charset="2"/>
              <a:buNone/>
              <a:defRPr>
                <a:solidFill>
                  <a:srgbClr val="0000FF"/>
                </a:solidFill>
                <a:ea typeface="隶书" panose="02010509060101010101" pitchFamily="49" charset="-122"/>
              </a:defRPr>
            </a:lvl1pPr>
          </a:lstStyle>
          <a:p>
            <a:pPr lvl="0"/>
            <a:r>
              <a:rPr lang="zh-CN" altLang="en-US" noProof="0"/>
              <a:t>单击此处编辑母版副标题样式</a:t>
            </a:r>
          </a:p>
        </p:txBody>
      </p:sp>
    </p:spTree>
    <p:extLst>
      <p:ext uri="{BB962C8B-B14F-4D97-AF65-F5344CB8AC3E}">
        <p14:creationId xmlns:p14="http://schemas.microsoft.com/office/powerpoint/2010/main" val="22935599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595744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30336051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054100" y="1219200"/>
            <a:ext cx="5080000" cy="4876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37300" y="1219200"/>
            <a:ext cx="5080000" cy="4876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757904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811863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9940962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15698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879954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6"/>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40000"/>
              </a:spcBef>
              <a:spcAft>
                <a:spcPct val="1000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66"/>
              </a:solidFill>
              <a:effectLst/>
              <a:uLnTx/>
              <a:uFillTx/>
              <a:latin typeface="+mn-lt"/>
              <a:ea typeface="+mn-ea"/>
              <a:cs typeface="+mn-cs"/>
            </a:endParaRPr>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9370499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001466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1885" y="104776"/>
            <a:ext cx="2694516" cy="59912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054100" y="104776"/>
            <a:ext cx="7884584" cy="59912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357875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2024/12/10</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695475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2024/12/10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42236826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2024/12/10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6117364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2024/12/10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269707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2024/12/10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13160001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2024/12/10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7391126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2024/12/10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3143984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2024/12/10</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extLst>
      <p:ext uri="{BB962C8B-B14F-4D97-AF65-F5344CB8AC3E}">
        <p14:creationId xmlns:p14="http://schemas.microsoft.com/office/powerpoint/2010/main" val="32790438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2024/12/10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5215860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2024/12/10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2804461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2024/12/10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extLst>
      <p:ext uri="{BB962C8B-B14F-4D97-AF65-F5344CB8AC3E}">
        <p14:creationId xmlns:p14="http://schemas.microsoft.com/office/powerpoint/2010/main" val="31243484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tLang="zh-CN"/>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tLang="zh-CN"/>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242522422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5137" name="Picture 2"/>
          <p:cNvPicPr>
            <a:picLocks noChangeAspect="1"/>
          </p:cNvPicPr>
          <p:nvPr userDrawn="1"/>
        </p:nvPicPr>
        <p:blipFill>
          <a:blip/>
          <a:stretch>
            <a:fillRect/>
          </a:stretch>
        </p:blipFill>
        <p:spPr>
          <a:xfrm>
            <a:off x="10972800" y="3175"/>
            <a:ext cx="1219200" cy="914400"/>
          </a:xfrm>
          <a:prstGeom prst="rect">
            <a:avLst/>
          </a:prstGeom>
          <a:noFill/>
          <a:ln w="9525">
            <a:noFill/>
          </a:ln>
        </p:spPr>
      </p:pic>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3" name="Rectangle 4"/>
          <p:cNvSpPr>
            <a:spLocks noGrp="1" noChangeArrowheads="1"/>
          </p:cNvSpPr>
          <p:nvPr>
            <p:ph type="dt" sz="half" idx="2"/>
          </p:nvPr>
        </p:nvSpPr>
        <p:spPr bwMode="auto">
          <a:xfrm>
            <a:off x="609600" y="6245225"/>
            <a:ext cx="28448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fontAlgn="base">
              <a:spcBef>
                <a:spcPct val="0"/>
              </a:spcBef>
              <a:spcAft>
                <a:spcPct val="0"/>
              </a:spcAft>
              <a:defRPr/>
            </a:pPr>
            <a:endParaRPr lang="en-US" altLang="zh-CN"/>
          </a:p>
        </p:txBody>
      </p:sp>
      <p:sp>
        <p:nvSpPr>
          <p:cNvPr id="24" name="Rectangle 5"/>
          <p:cNvSpPr>
            <a:spLocks noGrp="1" noChangeArrowheads="1"/>
          </p:cNvSpPr>
          <p:nvPr>
            <p:ph type="ftr" sz="quarter" idx="3"/>
          </p:nvPr>
        </p:nvSpPr>
        <p:spPr bwMode="auto">
          <a:xfrm>
            <a:off x="4165600" y="6245225"/>
            <a:ext cx="38608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fontAlgn="base">
              <a:spcBef>
                <a:spcPct val="0"/>
              </a:spcBef>
              <a:spcAft>
                <a:spcPct val="0"/>
              </a:spcAft>
              <a:defRPr/>
            </a:pPr>
            <a:endParaRPr lang="en-US" altLang="zh-CN"/>
          </a:p>
        </p:txBody>
      </p:sp>
      <p:sp>
        <p:nvSpPr>
          <p:cNvPr id="25" name="Rectangle 6"/>
          <p:cNvSpPr>
            <a:spLocks noGrp="1" noChangeArrowheads="1"/>
          </p:cNvSpPr>
          <p:nvPr>
            <p:ph type="sldNum" sz="quarter" idx="4"/>
          </p:nvPr>
        </p:nvSpPr>
        <p:spPr bwMode="auto">
          <a:xfrm>
            <a:off x="8737600" y="6245225"/>
            <a:ext cx="28448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67837226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tLang="zh-CN"/>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tLang="zh-CN"/>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282030979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320800" y="838200"/>
            <a:ext cx="5232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756400" y="838200"/>
            <a:ext cx="5232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fontAlgn="base">
              <a:spcBef>
                <a:spcPct val="0"/>
              </a:spcBef>
              <a:spcAft>
                <a:spcPct val="0"/>
              </a:spcAft>
              <a:defRPr/>
            </a:pPr>
            <a:endParaRPr lang="en-US" altLang="zh-CN"/>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en-US" altLang="zh-CN"/>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144617675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fontAlgn="base">
              <a:spcBef>
                <a:spcPct val="0"/>
              </a:spcBef>
              <a:spcAft>
                <a:spcPct val="0"/>
              </a:spcAft>
              <a:defRPr/>
            </a:pPr>
            <a:endParaRPr lang="en-US" altLang="zh-CN"/>
          </a:p>
        </p:txBody>
      </p:sp>
      <p:sp>
        <p:nvSpPr>
          <p:cNvPr id="8" name="页脚占位符 7"/>
          <p:cNvSpPr>
            <a:spLocks noGrp="1"/>
          </p:cNvSpPr>
          <p:nvPr>
            <p:ph type="ftr" sz="quarter" idx="11"/>
          </p:nvPr>
        </p:nvSpPr>
        <p:spPr/>
        <p:txBody>
          <a:bodyPr/>
          <a:lstStyle/>
          <a:p>
            <a:pPr fontAlgn="base">
              <a:spcBef>
                <a:spcPct val="0"/>
              </a:spcBef>
              <a:spcAft>
                <a:spcPct val="0"/>
              </a:spcAft>
              <a:defRPr/>
            </a:pPr>
            <a:endParaRPr lang="en-US" altLang="zh-CN"/>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95591574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fontAlgn="base">
              <a:spcBef>
                <a:spcPct val="0"/>
              </a:spcBef>
              <a:spcAft>
                <a:spcPct val="0"/>
              </a:spcAft>
              <a:defRPr/>
            </a:pPr>
            <a:endParaRPr lang="en-US" altLang="zh-CN"/>
          </a:p>
        </p:txBody>
      </p:sp>
      <p:sp>
        <p:nvSpPr>
          <p:cNvPr id="4" name="页脚占位符 3"/>
          <p:cNvSpPr>
            <a:spLocks noGrp="1"/>
          </p:cNvSpPr>
          <p:nvPr>
            <p:ph type="ftr" sz="quarter" idx="11"/>
          </p:nvPr>
        </p:nvSpPr>
        <p:spPr/>
        <p:txBody>
          <a:bodyPr/>
          <a:lstStyle/>
          <a:p>
            <a:pPr fontAlgn="base">
              <a:spcBef>
                <a:spcPct val="0"/>
              </a:spcBef>
              <a:spcAft>
                <a:spcPct val="0"/>
              </a:spcAft>
              <a:defRPr/>
            </a:pPr>
            <a:endParaRPr lang="en-US" altLang="zh-CN"/>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36419566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base">
              <a:spcBef>
                <a:spcPct val="0"/>
              </a:spcBef>
              <a:spcAft>
                <a:spcPct val="0"/>
              </a:spcAft>
              <a:defRPr/>
            </a:pPr>
            <a:endParaRPr lang="en-US" altLang="zh-CN"/>
          </a:p>
        </p:txBody>
      </p:sp>
      <p:sp>
        <p:nvSpPr>
          <p:cNvPr id="3" name="页脚占位符 2"/>
          <p:cNvSpPr>
            <a:spLocks noGrp="1"/>
          </p:cNvSpPr>
          <p:nvPr>
            <p:ph type="ftr" sz="quarter" idx="11"/>
          </p:nvPr>
        </p:nvSpPr>
        <p:spPr/>
        <p:txBody>
          <a:bodyPr/>
          <a:lstStyle/>
          <a:p>
            <a:pPr fontAlgn="base">
              <a:spcBef>
                <a:spcPct val="0"/>
              </a:spcBef>
              <a:spcAft>
                <a:spcPct val="0"/>
              </a:spcAft>
              <a:defRPr/>
            </a:pPr>
            <a:endParaRPr lang="en-US" altLang="zh-CN"/>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92598520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fontAlgn="base">
              <a:spcBef>
                <a:spcPct val="0"/>
              </a:spcBef>
              <a:spcAft>
                <a:spcPct val="0"/>
              </a:spcAft>
              <a:defRPr/>
            </a:pPr>
            <a:endParaRPr lang="en-US" altLang="zh-CN"/>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en-US" altLang="zh-CN"/>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13440867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fontAlgn="base">
              <a:spcBef>
                <a:spcPct val="0"/>
              </a:spcBef>
              <a:spcAft>
                <a:spcPct val="0"/>
              </a:spcAft>
              <a:defRPr/>
            </a:pPr>
            <a:endParaRPr lang="en-US" altLang="zh-CN"/>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en-US" altLang="zh-CN"/>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332469250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tLang="zh-CN"/>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tLang="zh-CN"/>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3820670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1800" y="152400"/>
            <a:ext cx="2667000" cy="5867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320800" y="152400"/>
            <a:ext cx="7797800" cy="5867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fontAlgn="base">
              <a:spcBef>
                <a:spcPct val="0"/>
              </a:spcBef>
              <a:spcAft>
                <a:spcPct val="0"/>
              </a:spcAft>
              <a:defRPr/>
            </a:pPr>
            <a:endParaRPr lang="en-US" altLang="zh-CN"/>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en-US" altLang="zh-CN"/>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2490886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5.xml"/><Relationship Id="rId2" Type="http://schemas.openxmlformats.org/officeDocument/2006/relationships/slideLayout" Target="../slideLayouts/slideLayout13.xml"/><Relationship Id="rId16" Type="http://schemas.openxmlformats.org/officeDocument/2006/relationships/tags" Target="../tags/tag4.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3.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18" Type="http://schemas.openxmlformats.org/officeDocument/2006/relationships/image" Target="../media/image6.jpeg"/><Relationship Id="rId3" Type="http://schemas.openxmlformats.org/officeDocument/2006/relationships/slideLayout" Target="../slideLayouts/slideLayout25.xml"/><Relationship Id="rId21" Type="http://schemas.openxmlformats.org/officeDocument/2006/relationships/image" Target="../media/image9.png"/><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5.jpeg"/><Relationship Id="rId2" Type="http://schemas.openxmlformats.org/officeDocument/2006/relationships/slideLayout" Target="../slideLayouts/slideLayout24.xml"/><Relationship Id="rId16" Type="http://schemas.openxmlformats.org/officeDocument/2006/relationships/image" Target="../media/image4.jpeg"/><Relationship Id="rId20" Type="http://schemas.openxmlformats.org/officeDocument/2006/relationships/image" Target="../media/image8.jpe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jpeg"/><Relationship Id="rId10" Type="http://schemas.openxmlformats.org/officeDocument/2006/relationships/slideLayout" Target="../slideLayouts/slideLayout32.xml"/><Relationship Id="rId19" Type="http://schemas.openxmlformats.org/officeDocument/2006/relationships/image" Target="../media/image7.jpeg"/><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1.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ags" Target="../tags/tag63.xml"/><Relationship Id="rId18" Type="http://schemas.openxmlformats.org/officeDocument/2006/relationships/tags" Target="../tags/tag68.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17" Type="http://schemas.openxmlformats.org/officeDocument/2006/relationships/tags" Target="../tags/tag67.xml"/><Relationship Id="rId2" Type="http://schemas.openxmlformats.org/officeDocument/2006/relationships/slideLayout" Target="../slideLayouts/slideLayout46.xml"/><Relationship Id="rId16" Type="http://schemas.openxmlformats.org/officeDocument/2006/relationships/tags" Target="../tags/tag6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tags" Target="../tags/tag65.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tags" Target="../tags/tag6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2.png"/><Relationship Id="rId18" Type="http://schemas.openxmlformats.org/officeDocument/2006/relationships/image" Target="../media/image7.jpe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17" Type="http://schemas.openxmlformats.org/officeDocument/2006/relationships/image" Target="../media/image6.jpeg"/><Relationship Id="rId2" Type="http://schemas.openxmlformats.org/officeDocument/2006/relationships/slideLayout" Target="../slideLayouts/slideLayout57.xml"/><Relationship Id="rId16" Type="http://schemas.openxmlformats.org/officeDocument/2006/relationships/image" Target="../media/image5.jpeg"/><Relationship Id="rId20" Type="http://schemas.openxmlformats.org/officeDocument/2006/relationships/image" Target="../media/image9.png"/><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image" Target="../media/image4.jpeg"/><Relationship Id="rId10" Type="http://schemas.openxmlformats.org/officeDocument/2006/relationships/slideLayout" Target="../slideLayouts/slideLayout65.xml"/><Relationship Id="rId19" Type="http://schemas.openxmlformats.org/officeDocument/2006/relationships/image" Target="../media/image8.jpeg"/><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219B6CB-B05E-44E1-202C-1F2B1B69AE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84DE014-C588-9BCC-C27E-57FD918AD6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B7FA2C-E899-E4C7-0392-F11D33E6A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48549E-5777-4938-A192-AF80D58186EE}" type="datetimeFigureOut">
              <a:rPr lang="zh-CN" altLang="en-US" smtClean="0"/>
              <a:t>2024/12/10</a:t>
            </a:fld>
            <a:endParaRPr lang="zh-CN" altLang="en-US"/>
          </a:p>
        </p:txBody>
      </p:sp>
      <p:sp>
        <p:nvSpPr>
          <p:cNvPr id="5" name="页脚占位符 4">
            <a:extLst>
              <a:ext uri="{FF2B5EF4-FFF2-40B4-BE49-F238E27FC236}">
                <a16:creationId xmlns:a16="http://schemas.microsoft.com/office/drawing/2014/main" id="{D6C5B3C7-E9EA-EB1B-FB2C-452AD0A975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5096E62-357C-3567-2EFC-23C97560A4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3AF64E-7A4F-4C44-A3B7-586C0A0C237D}" type="slidenum">
              <a:rPr lang="zh-CN" altLang="en-US" smtClean="0"/>
              <a:t>‹#›</a:t>
            </a:fld>
            <a:endParaRPr lang="zh-CN" altLang="en-US"/>
          </a:p>
        </p:txBody>
      </p:sp>
    </p:spTree>
    <p:extLst>
      <p:ext uri="{BB962C8B-B14F-4D97-AF65-F5344CB8AC3E}">
        <p14:creationId xmlns:p14="http://schemas.microsoft.com/office/powerpoint/2010/main" val="219122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2024/12/10</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extLst>
      <p:ext uri="{BB962C8B-B14F-4D97-AF65-F5344CB8AC3E}">
        <p14:creationId xmlns:p14="http://schemas.microsoft.com/office/powerpoint/2010/main" val="6994593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10"/>
          <p:cNvPicPr>
            <a:picLocks noChangeAspect="1"/>
          </p:cNvPicPr>
          <p:nvPr userDrawn="1"/>
        </p:nvPicPr>
        <p:blipFill>
          <a:blip r:embed="rId13"/>
          <a:stretch>
            <a:fillRect/>
          </a:stretch>
        </p:blipFill>
        <p:spPr>
          <a:xfrm>
            <a:off x="0" y="0"/>
            <a:ext cx="12192000" cy="6858000"/>
          </a:xfrm>
          <a:prstGeom prst="rect">
            <a:avLst/>
          </a:prstGeom>
          <a:noFill/>
          <a:ln w="9525">
            <a:noFill/>
          </a:ln>
        </p:spPr>
      </p:pic>
      <p:pic>
        <p:nvPicPr>
          <p:cNvPr id="2051" name="Picture 12" descr="a_1"/>
          <p:cNvPicPr>
            <a:picLocks noChangeAspect="1"/>
          </p:cNvPicPr>
          <p:nvPr userDrawn="1"/>
        </p:nvPicPr>
        <p:blipFill>
          <a:blip r:embed="rId14"/>
          <a:srcRect l="2174"/>
          <a:stretch>
            <a:fillRect/>
          </a:stretch>
        </p:blipFill>
        <p:spPr>
          <a:xfrm>
            <a:off x="0" y="0"/>
            <a:ext cx="12192000" cy="5308600"/>
          </a:xfrm>
          <a:prstGeom prst="rect">
            <a:avLst/>
          </a:prstGeom>
          <a:noFill/>
          <a:ln w="9525">
            <a:noFill/>
          </a:ln>
        </p:spPr>
      </p:pic>
      <p:sp>
        <p:nvSpPr>
          <p:cNvPr id="2052" name="Rectangle 22"/>
          <p:cNvSpPr>
            <a:spLocks noChangeArrowheads="1"/>
          </p:cNvSpPr>
          <p:nvPr/>
        </p:nvSpPr>
        <p:spPr bwMode="auto">
          <a:xfrm>
            <a:off x="0" y="2590800"/>
            <a:ext cx="12192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Rectangle 14" descr="mao1-1"/>
          <p:cNvSpPr>
            <a:spLocks noChangeAspect="1" noChangeArrowheads="1"/>
          </p:cNvSpPr>
          <p:nvPr/>
        </p:nvSpPr>
        <p:spPr bwMode="auto">
          <a:xfrm>
            <a:off x="10871201" y="4967289"/>
            <a:ext cx="1293284" cy="900113"/>
          </a:xfrm>
          <a:prstGeom prst="rect">
            <a:avLst/>
          </a:prstGeom>
          <a:blipFill dpi="0" rotWithShape="1">
            <a:blip r:embed="rId15"/>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Rectangle 15" descr="xmy2-1"/>
          <p:cNvSpPr>
            <a:spLocks noChangeAspect="1" noChangeArrowheads="1"/>
          </p:cNvSpPr>
          <p:nvPr/>
        </p:nvSpPr>
        <p:spPr bwMode="auto">
          <a:xfrm>
            <a:off x="10871201" y="3976689"/>
            <a:ext cx="1293284" cy="900113"/>
          </a:xfrm>
          <a:prstGeom prst="rect">
            <a:avLst/>
          </a:prstGeom>
          <a:blipFill dpi="0" rotWithShape="1">
            <a:blip r:embed="rId16"/>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16" descr="xm-1"/>
          <p:cNvSpPr>
            <a:spLocks noChangeArrowheads="1"/>
          </p:cNvSpPr>
          <p:nvPr/>
        </p:nvSpPr>
        <p:spPr bwMode="auto">
          <a:xfrm>
            <a:off x="8026400" y="5957889"/>
            <a:ext cx="1422400" cy="900113"/>
          </a:xfrm>
          <a:prstGeom prst="rect">
            <a:avLst/>
          </a:prstGeom>
          <a:blipFill dpi="0" rotWithShape="1">
            <a:blip r:embed="rId17"/>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6" name="Rectangle 17" descr="xue2-1"/>
          <p:cNvSpPr>
            <a:spLocks noChangeAspect="1" noChangeArrowheads="1"/>
          </p:cNvSpPr>
          <p:nvPr/>
        </p:nvSpPr>
        <p:spPr bwMode="auto">
          <a:xfrm>
            <a:off x="9512301" y="5943601"/>
            <a:ext cx="1293284" cy="900113"/>
          </a:xfrm>
          <a:prstGeom prst="rect">
            <a:avLst/>
          </a:prstGeom>
          <a:blipFill dpi="0" rotWithShape="1">
            <a:blip r:embed="rId18"/>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7" name="Rectangle 18" descr="mao-1"/>
          <p:cNvSpPr>
            <a:spLocks noChangeAspect="1" noChangeArrowheads="1"/>
          </p:cNvSpPr>
          <p:nvPr/>
        </p:nvSpPr>
        <p:spPr bwMode="auto">
          <a:xfrm>
            <a:off x="9476318" y="4967289"/>
            <a:ext cx="1293284" cy="900113"/>
          </a:xfrm>
          <a:prstGeom prst="rect">
            <a:avLst/>
          </a:prstGeom>
          <a:blipFill dpi="0" rotWithShape="1">
            <a:blip r:embed="rId19"/>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 name="Rectangle 19" descr="xiaoxun-1"/>
          <p:cNvSpPr>
            <a:spLocks noChangeAspect="1" noChangeArrowheads="1"/>
          </p:cNvSpPr>
          <p:nvPr/>
        </p:nvSpPr>
        <p:spPr bwMode="auto">
          <a:xfrm>
            <a:off x="10871201" y="5943601"/>
            <a:ext cx="1293284" cy="900113"/>
          </a:xfrm>
          <a:prstGeom prst="rect">
            <a:avLst/>
          </a:prstGeom>
          <a:blipFill dpi="0" rotWithShape="1">
            <a:blip r:embed="rId20"/>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83" name="Line 26"/>
          <p:cNvSpPr/>
          <p:nvPr userDrawn="1"/>
        </p:nvSpPr>
        <p:spPr>
          <a:xfrm>
            <a:off x="0" y="3657600"/>
            <a:ext cx="12192000" cy="0"/>
          </a:xfrm>
          <a:prstGeom prst="line">
            <a:avLst/>
          </a:prstGeom>
          <a:ln w="38100" cap="flat" cmpd="sng">
            <a:solidFill>
              <a:srgbClr val="FFFFFF"/>
            </a:solidFill>
            <a:prstDash val="solid"/>
            <a:headEnd type="none" w="med" len="med"/>
            <a:tailEnd type="none" w="med" len="med"/>
          </a:ln>
        </p:spPr>
      </p:sp>
      <p:sp>
        <p:nvSpPr>
          <p:cNvPr id="3084" name="Line 27"/>
          <p:cNvSpPr/>
          <p:nvPr userDrawn="1"/>
        </p:nvSpPr>
        <p:spPr>
          <a:xfrm>
            <a:off x="0" y="2590800"/>
            <a:ext cx="12192000" cy="0"/>
          </a:xfrm>
          <a:prstGeom prst="line">
            <a:avLst/>
          </a:prstGeom>
          <a:ln w="38100" cap="flat" cmpd="sng">
            <a:solidFill>
              <a:srgbClr val="FFFFFF"/>
            </a:solidFill>
            <a:prstDash val="solid"/>
            <a:headEnd type="none" w="med" len="med"/>
            <a:tailEnd type="none" w="med" len="med"/>
          </a:ln>
        </p:spPr>
      </p:sp>
      <p:sp>
        <p:nvSpPr>
          <p:cNvPr id="2061" name="Rectangle 29"/>
          <p:cNvSpPr>
            <a:spLocks noChangeArrowheads="1"/>
          </p:cNvSpPr>
          <p:nvPr/>
        </p:nvSpPr>
        <p:spPr bwMode="auto">
          <a:xfrm>
            <a:off x="1" y="0"/>
            <a:ext cx="12189884"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2" name="Rectangle 33"/>
          <p:cNvSpPr>
            <a:spLocks noChangeArrowheads="1"/>
          </p:cNvSpPr>
          <p:nvPr/>
        </p:nvSpPr>
        <p:spPr bwMode="auto">
          <a:xfrm>
            <a:off x="0" y="1447800"/>
            <a:ext cx="12192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087" name="Picture 31"/>
          <p:cNvPicPr>
            <a:picLocks noChangeAspect="1"/>
          </p:cNvPicPr>
          <p:nvPr userDrawn="1"/>
        </p:nvPicPr>
        <p:blipFill>
          <a:blip r:embed="rId21"/>
          <a:stretch>
            <a:fillRect/>
          </a:stretch>
        </p:blipFill>
        <p:spPr>
          <a:xfrm>
            <a:off x="2540000" y="1219200"/>
            <a:ext cx="7416800" cy="992188"/>
          </a:xfrm>
          <a:prstGeom prst="rect">
            <a:avLst/>
          </a:prstGeom>
          <a:noFill/>
          <a:ln w="9525">
            <a:noFill/>
          </a:ln>
        </p:spPr>
      </p:pic>
      <p:sp>
        <p:nvSpPr>
          <p:cNvPr id="3088" name="Line 34"/>
          <p:cNvSpPr/>
          <p:nvPr userDrawn="1"/>
        </p:nvSpPr>
        <p:spPr>
          <a:xfrm>
            <a:off x="0" y="2590800"/>
            <a:ext cx="12192000" cy="0"/>
          </a:xfrm>
          <a:prstGeom prst="line">
            <a:avLst/>
          </a:prstGeom>
          <a:ln w="38100" cap="flat" cmpd="sng">
            <a:solidFill>
              <a:srgbClr val="FFFFFF"/>
            </a:solidFill>
            <a:prstDash val="solid"/>
            <a:headEnd type="none" w="med" len="med"/>
            <a:tailEnd type="none" w="med" len="med"/>
          </a:ln>
        </p:spPr>
      </p:sp>
      <p:sp>
        <p:nvSpPr>
          <p:cNvPr id="3089" name="Rectangle 3"/>
          <p:cNvSpPr>
            <a:spLocks noGrp="1"/>
          </p:cNvSpPr>
          <p:nvPr>
            <p:ph type="body" idx="1"/>
          </p:nvPr>
        </p:nvSpPr>
        <p:spPr>
          <a:xfrm>
            <a:off x="1320800" y="838200"/>
            <a:ext cx="10668000" cy="5181600"/>
          </a:xfrm>
          <a:prstGeom prst="rect">
            <a:avLst/>
          </a:prstGeom>
          <a:noFill/>
          <a:ln w="9525">
            <a:noFill/>
          </a:ln>
        </p:spPr>
        <p:txBody>
          <a:bodyPr/>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a:p>
            <a:pPr lvl="4"/>
            <a:r>
              <a:rPr lang="zh-CN" altLang="zh-CN" dirty="0"/>
              <a:t>第五级</a:t>
            </a:r>
          </a:p>
        </p:txBody>
      </p:sp>
      <p:sp>
        <p:nvSpPr>
          <p:cNvPr id="3090" name="Rectangle 2"/>
          <p:cNvSpPr>
            <a:spLocks noGrp="1"/>
          </p:cNvSpPr>
          <p:nvPr>
            <p:ph type="title"/>
          </p:nvPr>
        </p:nvSpPr>
        <p:spPr>
          <a:xfrm>
            <a:off x="1422400" y="152400"/>
            <a:ext cx="8128000" cy="381000"/>
          </a:xfrm>
          <a:prstGeom prst="rect">
            <a:avLst/>
          </a:prstGeom>
          <a:noFill/>
          <a:ln w="9525">
            <a:noFill/>
          </a:ln>
        </p:spPr>
        <p:txBody>
          <a:bodyPr anchor="ctr"/>
          <a:lstStyle/>
          <a:p>
            <a:pPr lvl="0"/>
            <a:r>
              <a:rPr lang="zh-CN" altLang="zh-CN" dirty="0"/>
              <a:t>单击此处编辑母版标题样式</a:t>
            </a:r>
          </a:p>
        </p:txBody>
      </p:sp>
      <p:sp>
        <p:nvSpPr>
          <p:cNvPr id="2067" name="Rectangle 4"/>
          <p:cNvSpPr>
            <a:spLocks noGrp="1" noChangeArrowheads="1"/>
          </p:cNvSpPr>
          <p:nvPr>
            <p:ph type="dt" sz="half" idx="2"/>
          </p:nvPr>
        </p:nvSpPr>
        <p:spPr bwMode="auto">
          <a:xfrm>
            <a:off x="609600" y="6245225"/>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latin typeface="Arial" panose="020B0604020202020204" pitchFamily="34" charset="0"/>
              </a:defRPr>
            </a:lvl1pPr>
          </a:lstStyle>
          <a:p>
            <a:pPr fontAlgn="base">
              <a:spcBef>
                <a:spcPct val="0"/>
              </a:spcBef>
              <a:spcAft>
                <a:spcPct val="0"/>
              </a:spcAft>
              <a:defRPr/>
            </a:pPr>
            <a:endParaRPr lang="en-US" altLang="zh-CN"/>
          </a:p>
        </p:txBody>
      </p:sp>
      <p:sp>
        <p:nvSpPr>
          <p:cNvPr id="2068" name="Rectangle 5"/>
          <p:cNvSpPr>
            <a:spLocks noGrp="1" noChangeArrowheads="1"/>
          </p:cNvSpPr>
          <p:nvPr>
            <p:ph type="ftr" sz="quarter" idx="3"/>
          </p:nvPr>
        </p:nvSpPr>
        <p:spPr bwMode="auto">
          <a:xfrm>
            <a:off x="4165600" y="6245225"/>
            <a:ext cx="3860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latin typeface="Arial" panose="020B0604020202020204" pitchFamily="34" charset="0"/>
              </a:defRPr>
            </a:lvl1pPr>
          </a:lstStyle>
          <a:p>
            <a:pPr fontAlgn="base">
              <a:spcBef>
                <a:spcPct val="0"/>
              </a:spcBef>
              <a:spcAft>
                <a:spcPct val="0"/>
              </a:spcAft>
              <a:defRPr/>
            </a:pPr>
            <a:endParaRPr lang="en-US" altLang="zh-CN"/>
          </a:p>
        </p:txBody>
      </p:sp>
      <p:sp>
        <p:nvSpPr>
          <p:cNvPr id="2069" name="Rectangle 6"/>
          <p:cNvSpPr>
            <a:spLocks noGrp="1" noChangeArrowheads="1"/>
          </p:cNvSpPr>
          <p:nvPr>
            <p:ph type="sldNum" sz="quarter" idx="4"/>
          </p:nvPr>
        </p:nvSpPr>
        <p:spPr bwMode="auto">
          <a:xfrm>
            <a:off x="8737600" y="6245225"/>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29812674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wipe(up)">
                                      <p:cBhvr>
                                        <p:cTn id="7"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2pPr>
      <a:lvl3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3pPr>
      <a:lvl4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4pPr>
      <a:lvl5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5pPr>
      <a:lvl6pPr marL="4572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6pPr>
      <a:lvl7pPr marL="9144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7pPr>
      <a:lvl8pPr marL="13716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8pPr>
      <a:lvl9pPr marL="18288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4"/>
          <p:cNvSpPr>
            <a:spLocks noGrp="1"/>
          </p:cNvSpPr>
          <p:nvPr>
            <p:ph type="title"/>
          </p:nvPr>
        </p:nvSpPr>
        <p:spPr>
          <a:xfrm>
            <a:off x="8769352" y="104775"/>
            <a:ext cx="3067049" cy="685800"/>
          </a:xfrm>
          <a:prstGeom prst="rect">
            <a:avLst/>
          </a:prstGeom>
          <a:noFill/>
          <a:ln w="9525">
            <a:noFill/>
          </a:ln>
        </p:spPr>
        <p:txBody>
          <a:bodyPr anchor="ctr"/>
          <a:lstStyle/>
          <a:p>
            <a:pPr lvl="0"/>
            <a:r>
              <a:rPr lang="zh-CN" altLang="en-US" dirty="0"/>
              <a:t>母版标题</a:t>
            </a:r>
          </a:p>
        </p:txBody>
      </p:sp>
      <p:sp>
        <p:nvSpPr>
          <p:cNvPr id="4099" name="Rectangle 5"/>
          <p:cNvSpPr>
            <a:spLocks noGrp="1"/>
          </p:cNvSpPr>
          <p:nvPr>
            <p:ph type="body" idx="1"/>
          </p:nvPr>
        </p:nvSpPr>
        <p:spPr>
          <a:xfrm>
            <a:off x="601134" y="931546"/>
            <a:ext cx="10816167" cy="516445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101" name="Rectangle 2"/>
          <p:cNvSpPr/>
          <p:nvPr userDrawn="1"/>
        </p:nvSpPr>
        <p:spPr>
          <a:xfrm>
            <a:off x="11412940" y="6453188"/>
            <a:ext cx="779060" cy="243656"/>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ea typeface="宋体" panose="02010600030101010101" pitchFamily="2" charset="-122"/>
              </a:rPr>
              <a:t>  </a:t>
            </a:r>
            <a:r>
              <a:rPr lang="en-US" altLang="zh-CN" sz="1000" dirty="0">
                <a:solidFill>
                  <a:srgbClr val="000000"/>
                </a:solidFill>
                <a:latin typeface="FuturaA Md BT" charset="0"/>
                <a:ea typeface="宋体" panose="02010600030101010101" pitchFamily="2" charset="-122"/>
              </a:rPr>
              <a:t>Page </a:t>
            </a:r>
            <a:fld id="{9A0DB2DC-4C9A-4742-B13C-FB6460FD3503}" type="slidenum">
              <a:rPr lang="en-US" altLang="zh-CN" sz="1000" dirty="0">
                <a:solidFill>
                  <a:srgbClr val="000000"/>
                </a:solidFill>
                <a:latin typeface="FuturaA Md BT" charset="0"/>
                <a:ea typeface="宋体" panose="02010600030101010101" pitchFamily="2" charset="-122"/>
              </a:rPr>
              <a:t>‹#›</a:t>
            </a:fld>
            <a:endParaRPr lang="en-US" altLang="zh-CN" sz="1000" dirty="0">
              <a:solidFill>
                <a:srgbClr val="000000"/>
              </a:solidFill>
              <a:latin typeface="FuturaA Md BT" charset="0"/>
              <a:ea typeface="宋体" panose="02010600030101010101" pitchFamily="2" charset="-122"/>
            </a:endParaRPr>
          </a:p>
        </p:txBody>
      </p:sp>
      <p:sp>
        <p:nvSpPr>
          <p:cNvPr id="4102" name="Line 4"/>
          <p:cNvSpPr/>
          <p:nvPr userDrawn="1"/>
        </p:nvSpPr>
        <p:spPr>
          <a:xfrm>
            <a:off x="239185" y="765175"/>
            <a:ext cx="11618383" cy="0"/>
          </a:xfrm>
          <a:prstGeom prst="line">
            <a:avLst/>
          </a:prstGeom>
          <a:ln w="25400" cap="flat" cmpd="sng">
            <a:solidFill>
              <a:schemeClr val="tx2"/>
            </a:solidFill>
            <a:prstDash val="solid"/>
            <a:headEnd type="none" w="sm" len="sm"/>
            <a:tailEnd type="none" w="sm" len="sm"/>
          </a:ln>
        </p:spPr>
      </p:sp>
      <p:sp>
        <p:nvSpPr>
          <p:cNvPr id="1031" name="Rectangle 5"/>
          <p:cNvSpPr>
            <a:spLocks noChangeArrowheads="1"/>
          </p:cNvSpPr>
          <p:nvPr/>
        </p:nvSpPr>
        <p:spPr bwMode="auto">
          <a:xfrm>
            <a:off x="0" y="6237288"/>
            <a:ext cx="12192000"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1pPr>
            <a:lvl2pPr marL="742950" indent="-28575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2pPr>
            <a:lvl3pPr marL="11430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3pPr>
            <a:lvl4pPr marL="16002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4pPr>
            <a:lvl5pPr marL="20574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436ACB"/>
                </a:solidFill>
                <a:effectLst/>
                <a:uLnTx/>
                <a:uFillTx/>
                <a:latin typeface="Arial" panose="020B0604020202020204" pitchFamily="34" charset="0"/>
                <a:ea typeface="隶书" panose="02010509060101010101" pitchFamily="49" charset="-122"/>
                <a:cs typeface="+mn-cs"/>
              </a:rPr>
              <a:t>      </a:t>
            </a:r>
            <a:endParaRPr kumimoji="0" lang="zh-CN" altLang="en-US" sz="2400" b="1" i="0" u="none" strike="noStrike" kern="1200" cap="none" spc="0" normalizeH="0" baseline="0" noProof="0">
              <a:ln>
                <a:noFill/>
              </a:ln>
              <a:solidFill>
                <a:srgbClr val="000000"/>
              </a:solidFill>
              <a:effectLst/>
              <a:uLnTx/>
              <a:uFillTx/>
              <a:latin typeface="FuturaA Md BT" charset="0"/>
              <a:ea typeface="隶书" panose="02010509060101010101" pitchFamily="49" charset="-122"/>
              <a:cs typeface="+mn-cs"/>
            </a:endParaRPr>
          </a:p>
        </p:txBody>
      </p:sp>
      <p:pic>
        <p:nvPicPr>
          <p:cNvPr id="4104" name="Picture 10" descr="logo"/>
          <p:cNvPicPr>
            <a:picLocks noChangeAspect="1"/>
          </p:cNvPicPr>
          <p:nvPr userDrawn="1"/>
        </p:nvPicPr>
        <p:blipFill>
          <a:blip r:embed="rId13"/>
          <a:stretch>
            <a:fillRect/>
          </a:stretch>
        </p:blipFill>
        <p:spPr>
          <a:xfrm>
            <a:off x="192618" y="115889"/>
            <a:ext cx="3598333" cy="504825"/>
          </a:xfrm>
          <a:prstGeom prst="rect">
            <a:avLst/>
          </a:prstGeom>
          <a:noFill/>
          <a:ln w="9525">
            <a:noFill/>
          </a:ln>
        </p:spPr>
      </p:pic>
    </p:spTree>
    <p:extLst>
      <p:ext uri="{BB962C8B-B14F-4D97-AF65-F5344CB8AC3E}">
        <p14:creationId xmlns:p14="http://schemas.microsoft.com/office/powerpoint/2010/main" val="1403036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r" rtl="0" eaLnBrk="0" fontAlgn="base" hangingPunct="0">
        <a:spcBef>
          <a:spcPct val="0"/>
        </a:spcBef>
        <a:spcAft>
          <a:spcPct val="0"/>
        </a:spcAft>
        <a:defRPr kumimoji="1" sz="3600" kern="1200">
          <a:solidFill>
            <a:schemeClr val="tx1"/>
          </a:solidFill>
          <a:latin typeface="+mj-lt"/>
          <a:ea typeface="+mj-ea"/>
          <a:cs typeface="+mj-cs"/>
        </a:defRPr>
      </a:lvl1pPr>
      <a:lvl2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2pPr>
      <a:lvl3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3pPr>
      <a:lvl4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4pPr>
      <a:lvl5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5pPr>
      <a:lvl6pPr marL="4572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6pPr>
      <a:lvl7pPr marL="9144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7pPr>
      <a:lvl8pPr marL="13716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8pPr>
      <a:lvl9pPr marL="18288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9pPr>
    </p:titleStyle>
    <p:body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2024/12/10</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extLst>
      <p:ext uri="{BB962C8B-B14F-4D97-AF65-F5344CB8AC3E}">
        <p14:creationId xmlns:p14="http://schemas.microsoft.com/office/powerpoint/2010/main" val="37257849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10"/>
          <p:cNvPicPr>
            <a:picLocks noChangeAspect="1"/>
          </p:cNvPicPr>
          <p:nvPr userDrawn="1"/>
        </p:nvPicPr>
        <p:blipFill>
          <a:blip/>
          <a:stretch>
            <a:fillRect/>
          </a:stretch>
        </p:blipFill>
        <p:spPr>
          <a:xfrm>
            <a:off x="0" y="0"/>
            <a:ext cx="12192000" cy="6858000"/>
          </a:xfrm>
          <a:prstGeom prst="rect">
            <a:avLst/>
          </a:prstGeom>
          <a:noFill/>
          <a:ln w="9525">
            <a:noFill/>
          </a:ln>
        </p:spPr>
      </p:pic>
      <p:pic>
        <p:nvPicPr>
          <p:cNvPr id="2051" name="Picture 12" descr="a_1"/>
          <p:cNvPicPr>
            <a:picLocks noChangeAspect="1"/>
          </p:cNvPicPr>
          <p:nvPr userDrawn="1"/>
        </p:nvPicPr>
        <p:blipFill>
          <a:blip r:embed="rId13"/>
          <a:srcRect l="2174"/>
          <a:stretch>
            <a:fillRect/>
          </a:stretch>
        </p:blipFill>
        <p:spPr>
          <a:xfrm>
            <a:off x="0" y="0"/>
            <a:ext cx="12192000" cy="5308600"/>
          </a:xfrm>
          <a:prstGeom prst="rect">
            <a:avLst/>
          </a:prstGeom>
          <a:noFill/>
          <a:ln w="9525">
            <a:noFill/>
          </a:ln>
        </p:spPr>
      </p:pic>
      <p:sp>
        <p:nvSpPr>
          <p:cNvPr id="2052" name="Rectangle 22"/>
          <p:cNvSpPr>
            <a:spLocks noChangeArrowheads="1"/>
          </p:cNvSpPr>
          <p:nvPr/>
        </p:nvSpPr>
        <p:spPr bwMode="auto">
          <a:xfrm>
            <a:off x="0" y="2590800"/>
            <a:ext cx="12192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Rectangle 14" descr="mao1-1"/>
          <p:cNvSpPr>
            <a:spLocks noChangeAspect="1" noChangeArrowheads="1"/>
          </p:cNvSpPr>
          <p:nvPr/>
        </p:nvSpPr>
        <p:spPr bwMode="auto">
          <a:xfrm>
            <a:off x="10871201" y="4967289"/>
            <a:ext cx="1293284" cy="900113"/>
          </a:xfrm>
          <a:prstGeom prst="rect">
            <a:avLst/>
          </a:prstGeom>
          <a:blipFill dpi="0" rotWithShape="1">
            <a:blip r:embed="rId14"/>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Rectangle 15" descr="xmy2-1"/>
          <p:cNvSpPr>
            <a:spLocks noChangeAspect="1" noChangeArrowheads="1"/>
          </p:cNvSpPr>
          <p:nvPr/>
        </p:nvSpPr>
        <p:spPr bwMode="auto">
          <a:xfrm>
            <a:off x="10871201" y="3976689"/>
            <a:ext cx="1293284" cy="900113"/>
          </a:xfrm>
          <a:prstGeom prst="rect">
            <a:avLst/>
          </a:prstGeom>
          <a:blipFill dpi="0" rotWithShape="1">
            <a:blip r:embed="rId15"/>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16" descr="xm-1"/>
          <p:cNvSpPr>
            <a:spLocks noChangeArrowheads="1"/>
          </p:cNvSpPr>
          <p:nvPr/>
        </p:nvSpPr>
        <p:spPr bwMode="auto">
          <a:xfrm>
            <a:off x="8026400" y="5957889"/>
            <a:ext cx="1422400" cy="900113"/>
          </a:xfrm>
          <a:prstGeom prst="rect">
            <a:avLst/>
          </a:prstGeom>
          <a:blipFill dpi="0" rotWithShape="1">
            <a:blip r:embed="rId16"/>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6" name="Rectangle 17" descr="xue2-1"/>
          <p:cNvSpPr>
            <a:spLocks noChangeAspect="1" noChangeArrowheads="1"/>
          </p:cNvSpPr>
          <p:nvPr/>
        </p:nvSpPr>
        <p:spPr bwMode="auto">
          <a:xfrm>
            <a:off x="9512301" y="5943601"/>
            <a:ext cx="1293284" cy="900113"/>
          </a:xfrm>
          <a:prstGeom prst="rect">
            <a:avLst/>
          </a:prstGeom>
          <a:blipFill dpi="0" rotWithShape="1">
            <a:blip r:embed="rId17"/>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7" name="Rectangle 18" descr="mao-1"/>
          <p:cNvSpPr>
            <a:spLocks noChangeAspect="1" noChangeArrowheads="1"/>
          </p:cNvSpPr>
          <p:nvPr/>
        </p:nvSpPr>
        <p:spPr bwMode="auto">
          <a:xfrm>
            <a:off x="9476318" y="4967289"/>
            <a:ext cx="1293284" cy="900113"/>
          </a:xfrm>
          <a:prstGeom prst="rect">
            <a:avLst/>
          </a:prstGeom>
          <a:blipFill dpi="0" rotWithShape="1">
            <a:blip r:embed="rId18"/>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 name="Rectangle 19" descr="xiaoxun-1"/>
          <p:cNvSpPr>
            <a:spLocks noChangeAspect="1" noChangeArrowheads="1"/>
          </p:cNvSpPr>
          <p:nvPr/>
        </p:nvSpPr>
        <p:spPr bwMode="auto">
          <a:xfrm>
            <a:off x="10871201" y="5943601"/>
            <a:ext cx="1293284" cy="900113"/>
          </a:xfrm>
          <a:prstGeom prst="rect">
            <a:avLst/>
          </a:prstGeom>
          <a:blipFill dpi="0" rotWithShape="1">
            <a:blip r:embed="rId19"/>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83" name="Line 26"/>
          <p:cNvSpPr/>
          <p:nvPr userDrawn="1"/>
        </p:nvSpPr>
        <p:spPr>
          <a:xfrm>
            <a:off x="0" y="3657600"/>
            <a:ext cx="12192000" cy="0"/>
          </a:xfrm>
          <a:prstGeom prst="line">
            <a:avLst/>
          </a:prstGeom>
          <a:ln w="38100" cap="flat" cmpd="sng">
            <a:solidFill>
              <a:srgbClr val="FFFFFF"/>
            </a:solidFill>
            <a:prstDash val="solid"/>
            <a:headEnd type="none" w="med" len="med"/>
            <a:tailEnd type="none" w="med" len="med"/>
          </a:ln>
        </p:spPr>
      </p:sp>
      <p:sp>
        <p:nvSpPr>
          <p:cNvPr id="3084" name="Line 27"/>
          <p:cNvSpPr/>
          <p:nvPr userDrawn="1"/>
        </p:nvSpPr>
        <p:spPr>
          <a:xfrm>
            <a:off x="0" y="2590800"/>
            <a:ext cx="12192000" cy="0"/>
          </a:xfrm>
          <a:prstGeom prst="line">
            <a:avLst/>
          </a:prstGeom>
          <a:ln w="38100" cap="flat" cmpd="sng">
            <a:solidFill>
              <a:srgbClr val="FFFFFF"/>
            </a:solidFill>
            <a:prstDash val="solid"/>
            <a:headEnd type="none" w="med" len="med"/>
            <a:tailEnd type="none" w="med" len="med"/>
          </a:ln>
        </p:spPr>
      </p:sp>
      <p:sp>
        <p:nvSpPr>
          <p:cNvPr id="2061" name="Rectangle 29"/>
          <p:cNvSpPr>
            <a:spLocks noChangeArrowheads="1"/>
          </p:cNvSpPr>
          <p:nvPr/>
        </p:nvSpPr>
        <p:spPr bwMode="auto">
          <a:xfrm>
            <a:off x="1" y="0"/>
            <a:ext cx="12189884"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2" name="Rectangle 33"/>
          <p:cNvSpPr>
            <a:spLocks noChangeArrowheads="1"/>
          </p:cNvSpPr>
          <p:nvPr/>
        </p:nvSpPr>
        <p:spPr bwMode="auto">
          <a:xfrm>
            <a:off x="0" y="1447800"/>
            <a:ext cx="12192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087" name="Picture 31"/>
          <p:cNvPicPr>
            <a:picLocks noChangeAspect="1"/>
          </p:cNvPicPr>
          <p:nvPr userDrawn="1"/>
        </p:nvPicPr>
        <p:blipFill>
          <a:blip r:embed="rId20"/>
          <a:stretch>
            <a:fillRect/>
          </a:stretch>
        </p:blipFill>
        <p:spPr>
          <a:xfrm>
            <a:off x="2540000" y="1219200"/>
            <a:ext cx="7416800" cy="992188"/>
          </a:xfrm>
          <a:prstGeom prst="rect">
            <a:avLst/>
          </a:prstGeom>
          <a:noFill/>
          <a:ln w="9525">
            <a:noFill/>
          </a:ln>
        </p:spPr>
      </p:pic>
      <p:sp>
        <p:nvSpPr>
          <p:cNvPr id="3088" name="Line 34"/>
          <p:cNvSpPr/>
          <p:nvPr userDrawn="1"/>
        </p:nvSpPr>
        <p:spPr>
          <a:xfrm>
            <a:off x="0" y="2590800"/>
            <a:ext cx="12192000" cy="0"/>
          </a:xfrm>
          <a:prstGeom prst="line">
            <a:avLst/>
          </a:prstGeom>
          <a:ln w="38100" cap="flat" cmpd="sng">
            <a:solidFill>
              <a:srgbClr val="FFFFFF"/>
            </a:solidFill>
            <a:prstDash val="solid"/>
            <a:headEnd type="none" w="med" len="med"/>
            <a:tailEnd type="none" w="med" len="med"/>
          </a:ln>
        </p:spPr>
      </p:sp>
      <p:sp>
        <p:nvSpPr>
          <p:cNvPr id="3089" name="Rectangle 3"/>
          <p:cNvSpPr>
            <a:spLocks noGrp="1"/>
          </p:cNvSpPr>
          <p:nvPr>
            <p:ph type="body" idx="1"/>
          </p:nvPr>
        </p:nvSpPr>
        <p:spPr>
          <a:xfrm>
            <a:off x="1320800" y="838200"/>
            <a:ext cx="10668000" cy="5181600"/>
          </a:xfrm>
          <a:prstGeom prst="rect">
            <a:avLst/>
          </a:prstGeom>
          <a:noFill/>
          <a:ln w="9525">
            <a:noFill/>
          </a:ln>
        </p:spPr>
        <p:txBody>
          <a:bodyPr/>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a:p>
            <a:pPr lvl="4"/>
            <a:r>
              <a:rPr lang="zh-CN" altLang="zh-CN" dirty="0"/>
              <a:t>第五级</a:t>
            </a:r>
          </a:p>
        </p:txBody>
      </p:sp>
      <p:sp>
        <p:nvSpPr>
          <p:cNvPr id="3090" name="Rectangle 2"/>
          <p:cNvSpPr>
            <a:spLocks noGrp="1"/>
          </p:cNvSpPr>
          <p:nvPr>
            <p:ph type="title"/>
          </p:nvPr>
        </p:nvSpPr>
        <p:spPr>
          <a:xfrm>
            <a:off x="1422400" y="152400"/>
            <a:ext cx="8128000" cy="381000"/>
          </a:xfrm>
          <a:prstGeom prst="rect">
            <a:avLst/>
          </a:prstGeom>
          <a:noFill/>
          <a:ln w="9525">
            <a:noFill/>
          </a:ln>
        </p:spPr>
        <p:txBody>
          <a:bodyPr anchor="ctr"/>
          <a:lstStyle/>
          <a:p>
            <a:pPr lvl="0"/>
            <a:r>
              <a:rPr lang="zh-CN" altLang="zh-CN" dirty="0"/>
              <a:t>单击此处编辑母版标题样式</a:t>
            </a:r>
          </a:p>
        </p:txBody>
      </p:sp>
      <p:sp>
        <p:nvSpPr>
          <p:cNvPr id="2067" name="Rectangle 4"/>
          <p:cNvSpPr>
            <a:spLocks noGrp="1" noChangeArrowheads="1"/>
          </p:cNvSpPr>
          <p:nvPr>
            <p:ph type="dt" sz="half" idx="2"/>
          </p:nvPr>
        </p:nvSpPr>
        <p:spPr bwMode="auto">
          <a:xfrm>
            <a:off x="609600" y="6245225"/>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latin typeface="Arial" panose="020B0604020202020204" pitchFamily="34" charset="0"/>
              </a:defRPr>
            </a:lvl1pPr>
          </a:lstStyle>
          <a:p>
            <a:pPr fontAlgn="base">
              <a:spcBef>
                <a:spcPct val="0"/>
              </a:spcBef>
              <a:spcAft>
                <a:spcPct val="0"/>
              </a:spcAft>
              <a:defRPr/>
            </a:pPr>
            <a:endParaRPr lang="en-US" altLang="zh-CN"/>
          </a:p>
        </p:txBody>
      </p:sp>
      <p:sp>
        <p:nvSpPr>
          <p:cNvPr id="2068" name="Rectangle 5"/>
          <p:cNvSpPr>
            <a:spLocks noGrp="1" noChangeArrowheads="1"/>
          </p:cNvSpPr>
          <p:nvPr>
            <p:ph type="ftr" sz="quarter" idx="3"/>
          </p:nvPr>
        </p:nvSpPr>
        <p:spPr bwMode="auto">
          <a:xfrm>
            <a:off x="4165600" y="6245225"/>
            <a:ext cx="3860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latin typeface="Arial" panose="020B0604020202020204" pitchFamily="34" charset="0"/>
              </a:defRPr>
            </a:lvl1pPr>
          </a:lstStyle>
          <a:p>
            <a:pPr fontAlgn="base">
              <a:spcBef>
                <a:spcPct val="0"/>
              </a:spcBef>
              <a:spcAft>
                <a:spcPct val="0"/>
              </a:spcAft>
              <a:defRPr/>
            </a:pPr>
            <a:endParaRPr lang="en-US" altLang="zh-CN"/>
          </a:p>
        </p:txBody>
      </p:sp>
      <p:sp>
        <p:nvSpPr>
          <p:cNvPr id="2069" name="Rectangle 6"/>
          <p:cNvSpPr>
            <a:spLocks noGrp="1" noChangeArrowheads="1"/>
          </p:cNvSpPr>
          <p:nvPr>
            <p:ph type="sldNum" sz="quarter" idx="4"/>
          </p:nvPr>
        </p:nvSpPr>
        <p:spPr bwMode="auto">
          <a:xfrm>
            <a:off x="8737600" y="6245225"/>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lgn="r" eaLnBrk="1" hangingPunct="1">
              <a:buChar char="•"/>
            </a:pPr>
            <a:fld id="{9A0DB2DC-4C9A-4742-B13C-FB6460FD3503}" type="slidenum">
              <a:rPr lang="en-US" altLang="zh-CN" sz="1400" dirty="0"/>
              <a:t>‹#›</a:t>
            </a:fld>
            <a:endParaRPr lang="en-US" altLang="zh-CN" sz="1400" dirty="0"/>
          </a:p>
        </p:txBody>
      </p:sp>
    </p:spTree>
    <p:extLst>
      <p:ext uri="{BB962C8B-B14F-4D97-AF65-F5344CB8AC3E}">
        <p14:creationId xmlns:p14="http://schemas.microsoft.com/office/powerpoint/2010/main" val="150359643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wipe(up)">
                                      <p:cBhvr>
                                        <p:cTn id="7"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2pPr>
      <a:lvl3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3pPr>
      <a:lvl4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4pPr>
      <a:lvl5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5pPr>
      <a:lvl6pPr marL="4572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6pPr>
      <a:lvl7pPr marL="9144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7pPr>
      <a:lvl8pPr marL="13716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8pPr>
      <a:lvl9pPr marL="18288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 Id="rId4"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8.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9.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30.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3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3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3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34.xml"/></Relationships>
</file>

<file path=ppt/slides/_rels/slide9.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21.wmf"/><Relationship Id="rId2" Type="http://schemas.openxmlformats.org/officeDocument/2006/relationships/slideLayout" Target="../slideLayouts/slideLayout13.xml"/><Relationship Id="rId1" Type="http://schemas.openxmlformats.org/officeDocument/2006/relationships/tags" Target="../tags/tag135.xml"/><Relationship Id="rId6" Type="http://schemas.openxmlformats.org/officeDocument/2006/relationships/image" Target="../media/image18.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6.bin"/><Relationship Id="rId7" Type="http://schemas.openxmlformats.org/officeDocument/2006/relationships/oleObject" Target="../embeddings/oleObject5.bin"/><Relationship Id="rId2" Type="http://schemas.openxmlformats.org/officeDocument/2006/relationships/slideLayout" Target="../slideLayouts/slideLayout13.xml"/><Relationship Id="rId1" Type="http://schemas.openxmlformats.org/officeDocument/2006/relationships/tags" Target="../tags/tag136.xml"/><Relationship Id="rId6" Type="http://schemas.openxmlformats.org/officeDocument/2006/relationships/image" Target="../media/image23.wmf"/><Relationship Id="rId5" Type="http://schemas.openxmlformats.org/officeDocument/2006/relationships/oleObject" Target="../embeddings/oleObject7.bin"/><Relationship Id="rId4" Type="http://schemas.openxmlformats.org/officeDocument/2006/relationships/image" Target="../media/image22.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tags" Target="../tags/tag137.xml"/><Relationship Id="rId6" Type="http://schemas.openxmlformats.org/officeDocument/2006/relationships/image" Target="../media/image25.wmf"/><Relationship Id="rId5" Type="http://schemas.openxmlformats.org/officeDocument/2006/relationships/oleObject" Target="../embeddings/oleObject9.bin"/><Relationship Id="rId4" Type="http://schemas.openxmlformats.org/officeDocument/2006/relationships/image" Target="../media/image24.wm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38.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3.xml"/><Relationship Id="rId1" Type="http://schemas.openxmlformats.org/officeDocument/2006/relationships/tags" Target="../tags/tag139.xml"/><Relationship Id="rId4" Type="http://schemas.openxmlformats.org/officeDocument/2006/relationships/image" Target="../media/image26.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3.xml"/><Relationship Id="rId1" Type="http://schemas.openxmlformats.org/officeDocument/2006/relationships/tags" Target="../tags/tag140.xml"/><Relationship Id="rId4" Type="http://schemas.openxmlformats.org/officeDocument/2006/relationships/image" Target="../media/image27.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3.xml"/><Relationship Id="rId1" Type="http://schemas.openxmlformats.org/officeDocument/2006/relationships/tags" Target="../tags/tag141.xml"/><Relationship Id="rId4" Type="http://schemas.openxmlformats.org/officeDocument/2006/relationships/image" Target="../media/image28.wmf"/></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42.xml"/></Relationships>
</file>

<file path=ppt/slides/_rels/slide17.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33.wmf"/><Relationship Id="rId2" Type="http://schemas.openxmlformats.org/officeDocument/2006/relationships/slideLayout" Target="../slideLayouts/slideLayout13.xml"/><Relationship Id="rId1" Type="http://schemas.openxmlformats.org/officeDocument/2006/relationships/tags" Target="../tags/tag143.xml"/><Relationship Id="rId6" Type="http://schemas.openxmlformats.org/officeDocument/2006/relationships/image" Target="../media/image30.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3.xml"/><Relationship Id="rId1" Type="http://schemas.openxmlformats.org/officeDocument/2006/relationships/tags" Target="../tags/tag144.xml"/><Relationship Id="rId6" Type="http://schemas.openxmlformats.org/officeDocument/2006/relationships/image" Target="../media/image35.wmf"/><Relationship Id="rId5" Type="http://schemas.openxmlformats.org/officeDocument/2006/relationships/oleObject" Target="../embeddings/oleObject19.bin"/><Relationship Id="rId4" Type="http://schemas.openxmlformats.org/officeDocument/2006/relationships/image" Target="../media/image34.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3.xml"/><Relationship Id="rId1" Type="http://schemas.openxmlformats.org/officeDocument/2006/relationships/tags" Target="../tags/tag145.xml"/><Relationship Id="rId4" Type="http://schemas.openxmlformats.org/officeDocument/2006/relationships/image" Target="../media/image36.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3.xml"/><Relationship Id="rId1" Type="http://schemas.openxmlformats.org/officeDocument/2006/relationships/tags" Target="../tags/tag146.xml"/><Relationship Id="rId6" Type="http://schemas.openxmlformats.org/officeDocument/2006/relationships/image" Target="../media/image38.wmf"/><Relationship Id="rId5" Type="http://schemas.openxmlformats.org/officeDocument/2006/relationships/oleObject" Target="../embeddings/oleObject22.bin"/><Relationship Id="rId4" Type="http://schemas.openxmlformats.org/officeDocument/2006/relationships/image" Target="../media/image37.wmf"/></Relationships>
</file>

<file path=ppt/slides/_rels/slide21.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13.xml"/><Relationship Id="rId1" Type="http://schemas.openxmlformats.org/officeDocument/2006/relationships/tags" Target="../tags/tag147.xml"/><Relationship Id="rId6" Type="http://schemas.openxmlformats.org/officeDocument/2006/relationships/image" Target="../media/image40.wmf"/><Relationship Id="rId5" Type="http://schemas.openxmlformats.org/officeDocument/2006/relationships/oleObject" Target="../embeddings/oleObject24.bin"/><Relationship Id="rId4" Type="http://schemas.openxmlformats.org/officeDocument/2006/relationships/image" Target="../media/image39.wmf"/></Relationships>
</file>

<file path=ppt/slides/_rels/slide22.xml.rels><?xml version="1.0" encoding="UTF-8" standalone="yes"?>
<Relationships xmlns="http://schemas.openxmlformats.org/package/2006/relationships"><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 Id="rId4"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51.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3.xml"/><Relationship Id="rId1" Type="http://schemas.openxmlformats.org/officeDocument/2006/relationships/tags" Target="../tags/tag152.xml"/><Relationship Id="rId4" Type="http://schemas.openxmlformats.org/officeDocument/2006/relationships/image" Target="../media/image42.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3.xml"/><Relationship Id="rId1" Type="http://schemas.openxmlformats.org/officeDocument/2006/relationships/tags" Target="../tags/tag153.xml"/><Relationship Id="rId4" Type="http://schemas.openxmlformats.org/officeDocument/2006/relationships/image" Target="../media/image43.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3.xml"/><Relationship Id="rId1" Type="http://schemas.openxmlformats.org/officeDocument/2006/relationships/tags" Target="../tags/tag154.xml"/><Relationship Id="rId4" Type="http://schemas.openxmlformats.org/officeDocument/2006/relationships/image" Target="../media/image44.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3.xml"/><Relationship Id="rId1" Type="http://schemas.openxmlformats.org/officeDocument/2006/relationships/tags" Target="../tags/tag155.xml"/><Relationship Id="rId4" Type="http://schemas.openxmlformats.org/officeDocument/2006/relationships/image" Target="../media/image45.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3.xml"/><Relationship Id="rId1" Type="http://schemas.openxmlformats.org/officeDocument/2006/relationships/tags" Target="../tags/tag156.xml"/><Relationship Id="rId4" Type="http://schemas.openxmlformats.org/officeDocument/2006/relationships/image" Target="../media/image46.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3.xml"/><Relationship Id="rId1" Type="http://schemas.openxmlformats.org/officeDocument/2006/relationships/tags" Target="../tags/tag157.xml"/><Relationship Id="rId4" Type="http://schemas.openxmlformats.org/officeDocument/2006/relationships/image" Target="../media/image47.wmf"/></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59.xml"/><Relationship Id="rId1" Type="http://schemas.openxmlformats.org/officeDocument/2006/relationships/tags" Target="../tags/tag158.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3.xml"/><Relationship Id="rId1" Type="http://schemas.openxmlformats.org/officeDocument/2006/relationships/tags" Target="../tags/tag160.xml"/><Relationship Id="rId4" Type="http://schemas.openxmlformats.org/officeDocument/2006/relationships/image" Target="../media/image48.wmf"/></Relationships>
</file>

<file path=ppt/slides/_rels/slide32.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slideLayout" Target="../slideLayouts/slideLayout13.xml"/><Relationship Id="rId1" Type="http://schemas.openxmlformats.org/officeDocument/2006/relationships/tags" Target="../tags/tag161.xml"/><Relationship Id="rId6" Type="http://schemas.openxmlformats.org/officeDocument/2006/relationships/image" Target="../media/image50.wmf"/><Relationship Id="rId5" Type="http://schemas.openxmlformats.org/officeDocument/2006/relationships/oleObject" Target="../embeddings/oleObject34.bin"/><Relationship Id="rId4" Type="http://schemas.openxmlformats.org/officeDocument/2006/relationships/image" Target="../media/image49.wmf"/></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63.xml"/><Relationship Id="rId1" Type="http://schemas.openxmlformats.org/officeDocument/2006/relationships/tags" Target="../tags/tag162.xml"/><Relationship Id="rId4" Type="http://schemas.openxmlformats.org/officeDocument/2006/relationships/image" Target="../media/image5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6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65.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13.xml"/><Relationship Id="rId1" Type="http://schemas.openxmlformats.org/officeDocument/2006/relationships/tags" Target="../tags/tag166.xml"/><Relationship Id="rId6" Type="http://schemas.openxmlformats.org/officeDocument/2006/relationships/image" Target="../media/image54.wmf"/><Relationship Id="rId5" Type="http://schemas.openxmlformats.org/officeDocument/2006/relationships/oleObject" Target="../embeddings/oleObject37.bin"/><Relationship Id="rId4" Type="http://schemas.openxmlformats.org/officeDocument/2006/relationships/image" Target="../media/image53.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3.xml"/><Relationship Id="rId1" Type="http://schemas.openxmlformats.org/officeDocument/2006/relationships/tags" Target="../tags/tag167.xml"/><Relationship Id="rId6" Type="http://schemas.openxmlformats.org/officeDocument/2006/relationships/image" Target="../media/image56.wmf"/><Relationship Id="rId5" Type="http://schemas.openxmlformats.org/officeDocument/2006/relationships/oleObject" Target="../embeddings/oleObject39.bin"/><Relationship Id="rId4" Type="http://schemas.openxmlformats.org/officeDocument/2006/relationships/image" Target="../media/image55.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13.xml"/><Relationship Id="rId1" Type="http://schemas.openxmlformats.org/officeDocument/2006/relationships/tags" Target="../tags/tag168.xml"/><Relationship Id="rId6" Type="http://schemas.openxmlformats.org/officeDocument/2006/relationships/image" Target="../media/image58.wmf"/><Relationship Id="rId5" Type="http://schemas.openxmlformats.org/officeDocument/2006/relationships/oleObject" Target="../embeddings/oleObject41.bin"/><Relationship Id="rId4" Type="http://schemas.openxmlformats.org/officeDocument/2006/relationships/image" Target="../media/image57.wm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6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42.bin"/><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70.xml"/></Relationships>
</file>

<file path=ppt/slides/_rels/slide44.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43.bin"/><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44.bin"/><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oleObject" Target="../embeddings/oleObject45.bin"/><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oleObject" Target="../embeddings/oleObject46.bin"/><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notesSlide" Target="../notesSlides/notesSlide2.xml"/><Relationship Id="rId1" Type="http://schemas.openxmlformats.org/officeDocument/2006/relationships/slideLayout" Target="../slideLayouts/slideLayout35.xml"/><Relationship Id="rId4" Type="http://schemas.openxmlformats.org/officeDocument/2006/relationships/image" Target="../media/image64.w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notesSlide" Target="../notesSlides/notesSlide4.xml"/><Relationship Id="rId1" Type="http://schemas.openxmlformats.org/officeDocument/2006/relationships/slideLayout" Target="../slideLayouts/slideLayout35.xml"/><Relationship Id="rId4" Type="http://schemas.openxmlformats.org/officeDocument/2006/relationships/image" Target="../media/image65.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notesSlide" Target="../notesSlides/notesSlide6.xml"/><Relationship Id="rId1" Type="http://schemas.openxmlformats.org/officeDocument/2006/relationships/slideLayout" Target="../slideLayouts/slideLayout35.xml"/><Relationship Id="rId4" Type="http://schemas.openxmlformats.org/officeDocument/2006/relationships/image" Target="../media/image64.w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notesSlide" Target="../notesSlides/notesSlide12.xml"/><Relationship Id="rId1" Type="http://schemas.openxmlformats.org/officeDocument/2006/relationships/slideLayout" Target="../slideLayouts/slideLayout35.xml"/><Relationship Id="rId6" Type="http://schemas.openxmlformats.org/officeDocument/2006/relationships/image" Target="../media/image67.wmf"/><Relationship Id="rId5" Type="http://schemas.openxmlformats.org/officeDocument/2006/relationships/oleObject" Target="../embeddings/oleObject50.bin"/><Relationship Id="rId4" Type="http://schemas.openxmlformats.org/officeDocument/2006/relationships/image" Target="../media/image66.w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notesSlide" Target="../notesSlides/notesSlide15.xml"/><Relationship Id="rId1" Type="http://schemas.openxmlformats.org/officeDocument/2006/relationships/slideLayout" Target="../slideLayouts/slideLayout35.xml"/><Relationship Id="rId4" Type="http://schemas.openxmlformats.org/officeDocument/2006/relationships/image" Target="../media/image67.wm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65.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51.bin"/><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35.xml"/><Relationship Id="rId1" Type="http://schemas.openxmlformats.org/officeDocument/2006/relationships/tags" Target="../tags/tag171.xml"/><Relationship Id="rId4" Type="http://schemas.openxmlformats.org/officeDocument/2006/relationships/image" Target="../media/image69.wmf"/></Relationships>
</file>

<file path=ppt/slides/_rels/slide67.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53.bin"/><Relationship Id="rId1" Type="http://schemas.openxmlformats.org/officeDocument/2006/relationships/slideLayout" Target="../slideLayouts/slideLayout35.xml"/><Relationship Id="rId5" Type="http://schemas.openxmlformats.org/officeDocument/2006/relationships/image" Target="../media/image71.wmf"/><Relationship Id="rId4" Type="http://schemas.openxmlformats.org/officeDocument/2006/relationships/oleObject" Target="../embeddings/oleObject54.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9.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oleObject" Target="../embeddings/oleObject55.bin"/><Relationship Id="rId1" Type="http://schemas.openxmlformats.org/officeDocument/2006/relationships/slideLayout" Target="../slideLayouts/slideLayout35.xml"/></Relationships>
</file>

<file path=ppt/slides/_rels/slide70.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oleObject" Target="../embeddings/oleObject56.bin"/><Relationship Id="rId1" Type="http://schemas.openxmlformats.org/officeDocument/2006/relationships/slideLayout" Target="../slideLayouts/slideLayout35.xml"/><Relationship Id="rId5" Type="http://schemas.openxmlformats.org/officeDocument/2006/relationships/image" Target="../media/image74.wmf"/><Relationship Id="rId4" Type="http://schemas.openxmlformats.org/officeDocument/2006/relationships/oleObject" Target="../embeddings/oleObject57.bin"/></Relationships>
</file>

<file path=ppt/slides/_rels/slide71.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oleObject" Target="../embeddings/oleObject58.bin"/><Relationship Id="rId1" Type="http://schemas.openxmlformats.org/officeDocument/2006/relationships/slideLayout" Target="../slideLayouts/slideLayout35.xml"/><Relationship Id="rId5" Type="http://schemas.openxmlformats.org/officeDocument/2006/relationships/image" Target="../media/image76.wmf"/><Relationship Id="rId4" Type="http://schemas.openxmlformats.org/officeDocument/2006/relationships/oleObject" Target="../embeddings/oleObject59.bin"/></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notesSlide" Target="../notesSlides/notesSlide18.xml"/><Relationship Id="rId1" Type="http://schemas.openxmlformats.org/officeDocument/2006/relationships/slideLayout" Target="../slideLayouts/slideLayout35.xml"/><Relationship Id="rId4" Type="http://schemas.openxmlformats.org/officeDocument/2006/relationships/image" Target="../media/image77.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notesSlide" Target="../notesSlides/notesSlide23.xml"/><Relationship Id="rId1" Type="http://schemas.openxmlformats.org/officeDocument/2006/relationships/slideLayout" Target="../slideLayouts/slideLayout35.xml"/><Relationship Id="rId4" Type="http://schemas.openxmlformats.org/officeDocument/2006/relationships/image" Target="../media/image78.wmf"/></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notesSlide" Target="../notesSlides/notesSlide26.xml"/><Relationship Id="rId1" Type="http://schemas.openxmlformats.org/officeDocument/2006/relationships/slideLayout" Target="../slideLayouts/slideLayout35.xml"/><Relationship Id="rId6" Type="http://schemas.openxmlformats.org/officeDocument/2006/relationships/image" Target="../media/image80.wmf"/><Relationship Id="rId5" Type="http://schemas.openxmlformats.org/officeDocument/2006/relationships/oleObject" Target="../embeddings/oleObject63.bin"/><Relationship Id="rId4" Type="http://schemas.openxmlformats.org/officeDocument/2006/relationships/image" Target="../media/image79.w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notesSlide" Target="../notesSlides/notesSlide27.xml"/><Relationship Id="rId1" Type="http://schemas.openxmlformats.org/officeDocument/2006/relationships/slideLayout" Target="../slideLayouts/slideLayout35.xml"/><Relationship Id="rId6" Type="http://schemas.openxmlformats.org/officeDocument/2006/relationships/image" Target="../media/image82.wmf"/><Relationship Id="rId5" Type="http://schemas.openxmlformats.org/officeDocument/2006/relationships/oleObject" Target="../embeddings/oleObject65.bin"/><Relationship Id="rId4" Type="http://schemas.openxmlformats.org/officeDocument/2006/relationships/image" Target="../media/image81.wmf"/></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5.xml"/></Relationships>
</file>

<file path=ppt/slides/_rels/slide84.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66.bin"/><Relationship Id="rId7" Type="http://schemas.openxmlformats.org/officeDocument/2006/relationships/oleObject" Target="../embeddings/oleObject68.bin"/><Relationship Id="rId2" Type="http://schemas.openxmlformats.org/officeDocument/2006/relationships/notesSlide" Target="../notesSlides/notesSlide29.xml"/><Relationship Id="rId1" Type="http://schemas.openxmlformats.org/officeDocument/2006/relationships/slideLayout" Target="../slideLayouts/slideLayout35.xml"/><Relationship Id="rId6" Type="http://schemas.openxmlformats.org/officeDocument/2006/relationships/image" Target="../media/image84.wmf"/><Relationship Id="rId5" Type="http://schemas.openxmlformats.org/officeDocument/2006/relationships/oleObject" Target="../embeddings/oleObject67.bin"/><Relationship Id="rId4" Type="http://schemas.openxmlformats.org/officeDocument/2006/relationships/image" Target="../media/image83.wmf"/></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5.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notesSlide" Target="../notesSlides/notesSlide31.xml"/><Relationship Id="rId1" Type="http://schemas.openxmlformats.org/officeDocument/2006/relationships/slideLayout" Target="../slideLayouts/slideLayout35.xml"/><Relationship Id="rId6" Type="http://schemas.openxmlformats.org/officeDocument/2006/relationships/image" Target="../media/image87.wmf"/><Relationship Id="rId5" Type="http://schemas.openxmlformats.org/officeDocument/2006/relationships/oleObject" Target="../embeddings/oleObject70.bin"/><Relationship Id="rId4" Type="http://schemas.openxmlformats.org/officeDocument/2006/relationships/image" Target="../media/image86.wmf"/></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5.xml"/></Relationships>
</file>

<file path=ppt/slides/_rels/slide92.xml.rels><?xml version="1.0" encoding="UTF-8" standalone="yes"?>
<Relationships xmlns="http://schemas.openxmlformats.org/package/2006/relationships"><Relationship Id="rId8" Type="http://schemas.openxmlformats.org/officeDocument/2006/relationships/image" Target="../media/image90.wmf"/><Relationship Id="rId3" Type="http://schemas.openxmlformats.org/officeDocument/2006/relationships/oleObject" Target="../embeddings/oleObject71.bin"/><Relationship Id="rId7" Type="http://schemas.openxmlformats.org/officeDocument/2006/relationships/oleObject" Target="../embeddings/oleObject73.bin"/><Relationship Id="rId2" Type="http://schemas.openxmlformats.org/officeDocument/2006/relationships/notesSlide" Target="../notesSlides/notesSlide37.xml"/><Relationship Id="rId1" Type="http://schemas.openxmlformats.org/officeDocument/2006/relationships/slideLayout" Target="../slideLayouts/slideLayout35.xml"/><Relationship Id="rId6" Type="http://schemas.openxmlformats.org/officeDocument/2006/relationships/image" Target="../media/image89.wmf"/><Relationship Id="rId5" Type="http://schemas.openxmlformats.org/officeDocument/2006/relationships/oleObject" Target="../embeddings/oleObject72.bin"/><Relationship Id="rId4" Type="http://schemas.openxmlformats.org/officeDocument/2006/relationships/image" Target="../media/image88.wmf"/></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notesSlide" Target="../notesSlides/notesSlide38.xml"/><Relationship Id="rId1" Type="http://schemas.openxmlformats.org/officeDocument/2006/relationships/slideLayout" Target="../slideLayouts/slideLayout35.xml"/><Relationship Id="rId6" Type="http://schemas.openxmlformats.org/officeDocument/2006/relationships/image" Target="../media/image92.wmf"/><Relationship Id="rId5" Type="http://schemas.openxmlformats.org/officeDocument/2006/relationships/oleObject" Target="../embeddings/oleObject75.bin"/><Relationship Id="rId4" Type="http://schemas.openxmlformats.org/officeDocument/2006/relationships/image" Target="../media/image91.wmf"/></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notesSlide" Target="../notesSlides/notesSlide39.xml"/><Relationship Id="rId1" Type="http://schemas.openxmlformats.org/officeDocument/2006/relationships/slideLayout" Target="../slideLayouts/slideLayout35.xml"/><Relationship Id="rId4" Type="http://schemas.openxmlformats.org/officeDocument/2006/relationships/image" Target="../media/image93.wmf"/></Relationships>
</file>

<file path=ppt/slides/_rels/slide95.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oleObject" Target="../embeddings/oleObject77.bin"/><Relationship Id="rId7" Type="http://schemas.openxmlformats.org/officeDocument/2006/relationships/oleObject" Target="../embeddings/oleObject79.bin"/><Relationship Id="rId2" Type="http://schemas.openxmlformats.org/officeDocument/2006/relationships/notesSlide" Target="../notesSlides/notesSlide40.xml"/><Relationship Id="rId1" Type="http://schemas.openxmlformats.org/officeDocument/2006/relationships/slideLayout" Target="../slideLayouts/slideLayout35.xml"/><Relationship Id="rId6" Type="http://schemas.openxmlformats.org/officeDocument/2006/relationships/image" Target="../media/image95.wmf"/><Relationship Id="rId5" Type="http://schemas.openxmlformats.org/officeDocument/2006/relationships/oleObject" Target="../embeddings/oleObject78.bin"/><Relationship Id="rId4" Type="http://schemas.openxmlformats.org/officeDocument/2006/relationships/image" Target="../media/image94.wmf"/></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5.xml"/></Relationships>
</file>

<file path=ppt/slides/_rels/slide98.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oleObject" Target="../embeddings/oleObject80.bin"/><Relationship Id="rId7" Type="http://schemas.openxmlformats.org/officeDocument/2006/relationships/oleObject" Target="../embeddings/oleObject82.bin"/><Relationship Id="rId2" Type="http://schemas.openxmlformats.org/officeDocument/2006/relationships/notesSlide" Target="../notesSlides/notesSlide43.xml"/><Relationship Id="rId1" Type="http://schemas.openxmlformats.org/officeDocument/2006/relationships/slideLayout" Target="../slideLayouts/slideLayout35.xml"/><Relationship Id="rId6" Type="http://schemas.openxmlformats.org/officeDocument/2006/relationships/image" Target="../media/image98.wmf"/><Relationship Id="rId5" Type="http://schemas.openxmlformats.org/officeDocument/2006/relationships/oleObject" Target="../embeddings/oleObject81.bin"/><Relationship Id="rId10" Type="http://schemas.openxmlformats.org/officeDocument/2006/relationships/image" Target="../media/image100.wmf"/><Relationship Id="rId4" Type="http://schemas.openxmlformats.org/officeDocument/2006/relationships/image" Target="../media/image97.wmf"/><Relationship Id="rId9" Type="http://schemas.openxmlformats.org/officeDocument/2006/relationships/oleObject" Target="../embeddings/oleObject83.bin"/></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2.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oleObject" Target="../embeddings/oleObject84.bin"/><Relationship Id="rId1" Type="http://schemas.openxmlformats.org/officeDocument/2006/relationships/slideLayout" Target="../slideLayouts/slideLayout35.xml"/></Relationships>
</file>

<file path=ppt/slides/_rels/slide103.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oleObject" Target="../embeddings/oleObject85.bin"/><Relationship Id="rId1" Type="http://schemas.openxmlformats.org/officeDocument/2006/relationships/slideLayout" Target="../slideLayouts/slideLayout35.xml"/><Relationship Id="rId5" Type="http://schemas.openxmlformats.org/officeDocument/2006/relationships/image" Target="../media/image103.wmf"/><Relationship Id="rId4" Type="http://schemas.openxmlformats.org/officeDocument/2006/relationships/oleObject" Target="../embeddings/oleObject86.bin"/></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hemeOverride" Target="../theme/themeOverride1.xml"/></Relationships>
</file>

<file path=ppt/slides/_rels/slide109.x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oleObject" Target="../embeddings/oleObject87.bin"/><Relationship Id="rId1" Type="http://schemas.openxmlformats.org/officeDocument/2006/relationships/slideLayout" Target="../slideLayouts/slideLayout35.xml"/></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35.xml"/><Relationship Id="rId1" Type="http://schemas.openxmlformats.org/officeDocument/2006/relationships/themeOverride" Target="../theme/themeOverride2.xml"/><Relationship Id="rId6" Type="http://schemas.openxmlformats.org/officeDocument/2006/relationships/image" Target="../media/image106.wmf"/><Relationship Id="rId5" Type="http://schemas.openxmlformats.org/officeDocument/2006/relationships/oleObject" Target="../embeddings/oleObject89.bin"/><Relationship Id="rId4" Type="http://schemas.openxmlformats.org/officeDocument/2006/relationships/image" Target="../media/image105.wmf"/></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35.xml"/><Relationship Id="rId1" Type="http://schemas.openxmlformats.org/officeDocument/2006/relationships/themeOverride" Target="../theme/themeOverride3.xml"/><Relationship Id="rId6" Type="http://schemas.openxmlformats.org/officeDocument/2006/relationships/image" Target="../media/image108.wmf"/><Relationship Id="rId5" Type="http://schemas.openxmlformats.org/officeDocument/2006/relationships/oleObject" Target="../embeddings/oleObject91.bin"/><Relationship Id="rId4" Type="http://schemas.openxmlformats.org/officeDocument/2006/relationships/image" Target="../media/image107.wmf"/></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notesSlide" Target="../notesSlides/notesSlide45.xml"/><Relationship Id="rId1" Type="http://schemas.openxmlformats.org/officeDocument/2006/relationships/slideLayout" Target="../slideLayouts/slideLayout35.xml"/><Relationship Id="rId6" Type="http://schemas.openxmlformats.org/officeDocument/2006/relationships/image" Target="../media/image110.wmf"/><Relationship Id="rId5" Type="http://schemas.openxmlformats.org/officeDocument/2006/relationships/oleObject" Target="../embeddings/oleObject93.bin"/><Relationship Id="rId4" Type="http://schemas.openxmlformats.org/officeDocument/2006/relationships/image" Target="../media/image109.wmf"/></Relationships>
</file>

<file path=ppt/slides/_rels/slide113.xml.rels><?xml version="1.0" encoding="UTF-8" standalone="yes"?>
<Relationships xmlns="http://schemas.openxmlformats.org/package/2006/relationships"><Relationship Id="rId8" Type="http://schemas.openxmlformats.org/officeDocument/2006/relationships/image" Target="../media/image113.wmf"/><Relationship Id="rId3" Type="http://schemas.openxmlformats.org/officeDocument/2006/relationships/oleObject" Target="../embeddings/oleObject94.bin"/><Relationship Id="rId7" Type="http://schemas.openxmlformats.org/officeDocument/2006/relationships/oleObject" Target="../embeddings/oleObject96.bin"/><Relationship Id="rId2" Type="http://schemas.openxmlformats.org/officeDocument/2006/relationships/slideLayout" Target="../slideLayouts/slideLayout35.xml"/><Relationship Id="rId1" Type="http://schemas.openxmlformats.org/officeDocument/2006/relationships/themeOverride" Target="../theme/themeOverride4.xml"/><Relationship Id="rId6" Type="http://schemas.openxmlformats.org/officeDocument/2006/relationships/image" Target="../media/image112.wmf"/><Relationship Id="rId5" Type="http://schemas.openxmlformats.org/officeDocument/2006/relationships/oleObject" Target="../embeddings/oleObject95.bin"/><Relationship Id="rId4" Type="http://schemas.openxmlformats.org/officeDocument/2006/relationships/image" Target="../media/image111.wmf"/></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5.xml"/></Relationships>
</file>

<file path=ppt/slides/_rels/slide115.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35.xml"/><Relationship Id="rId1" Type="http://schemas.openxmlformats.org/officeDocument/2006/relationships/themeOverride" Target="../theme/themeOverride5.xml"/><Relationship Id="rId4" Type="http://schemas.openxmlformats.org/officeDocument/2006/relationships/image" Target="../media/image114.wmf"/></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5.xml"/></Relationships>
</file>

<file path=ppt/slides/_rels/slide117.xml.rels><?xml version="1.0" encoding="UTF-8" standalone="yes"?>
<Relationships xmlns="http://schemas.openxmlformats.org/package/2006/relationships"><Relationship Id="rId13" Type="http://schemas.openxmlformats.org/officeDocument/2006/relationships/image" Target="../media/image119.wmf"/><Relationship Id="rId18" Type="http://schemas.openxmlformats.org/officeDocument/2006/relationships/oleObject" Target="../embeddings/oleObject105.bin"/><Relationship Id="rId26" Type="http://schemas.openxmlformats.org/officeDocument/2006/relationships/oleObject" Target="../embeddings/oleObject109.bin"/><Relationship Id="rId39" Type="http://schemas.openxmlformats.org/officeDocument/2006/relationships/image" Target="../media/image132.wmf"/><Relationship Id="rId21" Type="http://schemas.openxmlformats.org/officeDocument/2006/relationships/image" Target="../media/image123.wmf"/><Relationship Id="rId34" Type="http://schemas.openxmlformats.org/officeDocument/2006/relationships/oleObject" Target="../embeddings/oleObject113.bin"/><Relationship Id="rId42" Type="http://schemas.openxmlformats.org/officeDocument/2006/relationships/oleObject" Target="../embeddings/oleObject117.bin"/><Relationship Id="rId47" Type="http://schemas.openxmlformats.org/officeDocument/2006/relationships/image" Target="../media/image136.wmf"/><Relationship Id="rId50" Type="http://schemas.openxmlformats.org/officeDocument/2006/relationships/image" Target="../media/image137.wmf"/><Relationship Id="rId7" Type="http://schemas.openxmlformats.org/officeDocument/2006/relationships/image" Target="../media/image116.wmf"/><Relationship Id="rId2" Type="http://schemas.openxmlformats.org/officeDocument/2006/relationships/slideLayout" Target="../slideLayouts/slideLayout35.xml"/><Relationship Id="rId16" Type="http://schemas.openxmlformats.org/officeDocument/2006/relationships/oleObject" Target="../embeddings/oleObject104.bin"/><Relationship Id="rId29" Type="http://schemas.openxmlformats.org/officeDocument/2006/relationships/image" Target="../media/image127.wmf"/><Relationship Id="rId11" Type="http://schemas.openxmlformats.org/officeDocument/2006/relationships/image" Target="../media/image118.wmf"/><Relationship Id="rId24" Type="http://schemas.openxmlformats.org/officeDocument/2006/relationships/oleObject" Target="../embeddings/oleObject108.bin"/><Relationship Id="rId32" Type="http://schemas.openxmlformats.org/officeDocument/2006/relationships/oleObject" Target="../embeddings/oleObject112.bin"/><Relationship Id="rId37" Type="http://schemas.openxmlformats.org/officeDocument/2006/relationships/image" Target="../media/image131.wmf"/><Relationship Id="rId40" Type="http://schemas.openxmlformats.org/officeDocument/2006/relationships/oleObject" Target="../embeddings/oleObject116.bin"/><Relationship Id="rId45" Type="http://schemas.openxmlformats.org/officeDocument/2006/relationships/image" Target="../media/image135.wmf"/><Relationship Id="rId5" Type="http://schemas.openxmlformats.org/officeDocument/2006/relationships/image" Target="../media/image115.wmf"/><Relationship Id="rId15" Type="http://schemas.openxmlformats.org/officeDocument/2006/relationships/image" Target="../media/image120.wmf"/><Relationship Id="rId23" Type="http://schemas.openxmlformats.org/officeDocument/2006/relationships/image" Target="../media/image124.wmf"/><Relationship Id="rId28" Type="http://schemas.openxmlformats.org/officeDocument/2006/relationships/oleObject" Target="../embeddings/oleObject110.bin"/><Relationship Id="rId36" Type="http://schemas.openxmlformats.org/officeDocument/2006/relationships/oleObject" Target="../embeddings/oleObject114.bin"/><Relationship Id="rId49" Type="http://schemas.openxmlformats.org/officeDocument/2006/relationships/oleObject" Target="../embeddings/oleObject121.bin"/><Relationship Id="rId10" Type="http://schemas.openxmlformats.org/officeDocument/2006/relationships/oleObject" Target="../embeddings/oleObject101.bin"/><Relationship Id="rId19" Type="http://schemas.openxmlformats.org/officeDocument/2006/relationships/image" Target="../media/image122.wmf"/><Relationship Id="rId31" Type="http://schemas.openxmlformats.org/officeDocument/2006/relationships/image" Target="../media/image128.wmf"/><Relationship Id="rId44" Type="http://schemas.openxmlformats.org/officeDocument/2006/relationships/oleObject" Target="../embeddings/oleObject118.bin"/><Relationship Id="rId4" Type="http://schemas.openxmlformats.org/officeDocument/2006/relationships/oleObject" Target="../embeddings/oleObject98.bin"/><Relationship Id="rId9" Type="http://schemas.openxmlformats.org/officeDocument/2006/relationships/image" Target="../media/image117.wmf"/><Relationship Id="rId14" Type="http://schemas.openxmlformats.org/officeDocument/2006/relationships/oleObject" Target="../embeddings/oleObject103.bin"/><Relationship Id="rId22" Type="http://schemas.openxmlformats.org/officeDocument/2006/relationships/oleObject" Target="../embeddings/oleObject107.bin"/><Relationship Id="rId27" Type="http://schemas.openxmlformats.org/officeDocument/2006/relationships/image" Target="../media/image126.wmf"/><Relationship Id="rId30" Type="http://schemas.openxmlformats.org/officeDocument/2006/relationships/oleObject" Target="../embeddings/oleObject111.bin"/><Relationship Id="rId35" Type="http://schemas.openxmlformats.org/officeDocument/2006/relationships/image" Target="../media/image130.wmf"/><Relationship Id="rId43" Type="http://schemas.openxmlformats.org/officeDocument/2006/relationships/image" Target="../media/image134.wmf"/><Relationship Id="rId48" Type="http://schemas.openxmlformats.org/officeDocument/2006/relationships/oleObject" Target="../embeddings/oleObject120.bin"/><Relationship Id="rId8" Type="http://schemas.openxmlformats.org/officeDocument/2006/relationships/oleObject" Target="../embeddings/oleObject100.bin"/><Relationship Id="rId3" Type="http://schemas.openxmlformats.org/officeDocument/2006/relationships/notesSlide" Target="../notesSlides/notesSlide48.xml"/><Relationship Id="rId12" Type="http://schemas.openxmlformats.org/officeDocument/2006/relationships/oleObject" Target="../embeddings/oleObject102.bin"/><Relationship Id="rId17" Type="http://schemas.openxmlformats.org/officeDocument/2006/relationships/image" Target="../media/image121.wmf"/><Relationship Id="rId25" Type="http://schemas.openxmlformats.org/officeDocument/2006/relationships/image" Target="../media/image125.wmf"/><Relationship Id="rId33" Type="http://schemas.openxmlformats.org/officeDocument/2006/relationships/image" Target="../media/image129.wmf"/><Relationship Id="rId38" Type="http://schemas.openxmlformats.org/officeDocument/2006/relationships/oleObject" Target="../embeddings/oleObject115.bin"/><Relationship Id="rId46" Type="http://schemas.openxmlformats.org/officeDocument/2006/relationships/oleObject" Target="../embeddings/oleObject119.bin"/><Relationship Id="rId20" Type="http://schemas.openxmlformats.org/officeDocument/2006/relationships/oleObject" Target="../embeddings/oleObject106.bin"/><Relationship Id="rId41" Type="http://schemas.openxmlformats.org/officeDocument/2006/relationships/image" Target="../media/image133.wmf"/><Relationship Id="rId1" Type="http://schemas.openxmlformats.org/officeDocument/2006/relationships/tags" Target="../tags/tag172.xml"/><Relationship Id="rId6" Type="http://schemas.openxmlformats.org/officeDocument/2006/relationships/oleObject" Target="../embeddings/oleObject99.bin"/></Relationships>
</file>

<file path=ppt/slides/_rels/slide118.x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oleObject" Target="../embeddings/oleObject122.bin"/><Relationship Id="rId1" Type="http://schemas.openxmlformats.org/officeDocument/2006/relationships/slideLayout" Target="../slideLayouts/slideLayout35.xml"/><Relationship Id="rId5" Type="http://schemas.openxmlformats.org/officeDocument/2006/relationships/image" Target="../media/image139.wmf"/><Relationship Id="rId4" Type="http://schemas.openxmlformats.org/officeDocument/2006/relationships/oleObject" Target="../embeddings/oleObject123.bin"/></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5.xml"/></Relationships>
</file>

<file path=ppt/slides/_rels/slide120.xml.rels><?xml version="1.0" encoding="UTF-8" standalone="yes"?>
<Relationships xmlns="http://schemas.openxmlformats.org/package/2006/relationships"><Relationship Id="rId8" Type="http://schemas.openxmlformats.org/officeDocument/2006/relationships/image" Target="../media/image142.wmf"/><Relationship Id="rId3" Type="http://schemas.openxmlformats.org/officeDocument/2006/relationships/oleObject" Target="../embeddings/oleObject124.bin"/><Relationship Id="rId7" Type="http://schemas.openxmlformats.org/officeDocument/2006/relationships/oleObject" Target="../embeddings/oleObject126.bin"/><Relationship Id="rId2" Type="http://schemas.openxmlformats.org/officeDocument/2006/relationships/slideLayout" Target="../slideLayouts/slideLayout35.xml"/><Relationship Id="rId1" Type="http://schemas.openxmlformats.org/officeDocument/2006/relationships/themeOverride" Target="../theme/themeOverride6.xml"/><Relationship Id="rId6" Type="http://schemas.openxmlformats.org/officeDocument/2006/relationships/image" Target="../media/image141.wmf"/><Relationship Id="rId5" Type="http://schemas.openxmlformats.org/officeDocument/2006/relationships/oleObject" Target="../embeddings/oleObject125.bin"/><Relationship Id="rId10" Type="http://schemas.openxmlformats.org/officeDocument/2006/relationships/image" Target="../media/image143.wmf"/><Relationship Id="rId4" Type="http://schemas.openxmlformats.org/officeDocument/2006/relationships/image" Target="../media/image140.wmf"/><Relationship Id="rId9" Type="http://schemas.openxmlformats.org/officeDocument/2006/relationships/oleObject" Target="../embeddings/oleObject127.bin"/></Relationships>
</file>

<file path=ppt/slides/_rels/slide121.xml.rels><?xml version="1.0" encoding="UTF-8" standalone="yes"?>
<Relationships xmlns="http://schemas.openxmlformats.org/package/2006/relationships"><Relationship Id="rId8" Type="http://schemas.openxmlformats.org/officeDocument/2006/relationships/image" Target="../media/image146.wmf"/><Relationship Id="rId13" Type="http://schemas.openxmlformats.org/officeDocument/2006/relationships/oleObject" Target="../embeddings/oleObject133.bin"/><Relationship Id="rId18" Type="http://schemas.openxmlformats.org/officeDocument/2006/relationships/image" Target="../media/image151.wmf"/><Relationship Id="rId26" Type="http://schemas.openxmlformats.org/officeDocument/2006/relationships/image" Target="../media/image155.wmf"/><Relationship Id="rId3" Type="http://schemas.openxmlformats.org/officeDocument/2006/relationships/oleObject" Target="../embeddings/oleObject128.bin"/><Relationship Id="rId21" Type="http://schemas.openxmlformats.org/officeDocument/2006/relationships/oleObject" Target="../embeddings/oleObject137.bin"/><Relationship Id="rId7" Type="http://schemas.openxmlformats.org/officeDocument/2006/relationships/oleObject" Target="../embeddings/oleObject130.bin"/><Relationship Id="rId12" Type="http://schemas.openxmlformats.org/officeDocument/2006/relationships/image" Target="../media/image148.wmf"/><Relationship Id="rId17" Type="http://schemas.openxmlformats.org/officeDocument/2006/relationships/oleObject" Target="../embeddings/oleObject135.bin"/><Relationship Id="rId25" Type="http://schemas.openxmlformats.org/officeDocument/2006/relationships/oleObject" Target="../embeddings/oleObject139.bin"/><Relationship Id="rId2" Type="http://schemas.openxmlformats.org/officeDocument/2006/relationships/notesSlide" Target="../notesSlides/notesSlide50.xml"/><Relationship Id="rId16" Type="http://schemas.openxmlformats.org/officeDocument/2006/relationships/image" Target="../media/image150.wmf"/><Relationship Id="rId20" Type="http://schemas.openxmlformats.org/officeDocument/2006/relationships/image" Target="../media/image152.wmf"/><Relationship Id="rId1" Type="http://schemas.openxmlformats.org/officeDocument/2006/relationships/slideLayout" Target="../slideLayouts/slideLayout35.xml"/><Relationship Id="rId6" Type="http://schemas.openxmlformats.org/officeDocument/2006/relationships/image" Target="../media/image145.wmf"/><Relationship Id="rId11" Type="http://schemas.openxmlformats.org/officeDocument/2006/relationships/oleObject" Target="../embeddings/oleObject132.bin"/><Relationship Id="rId24" Type="http://schemas.openxmlformats.org/officeDocument/2006/relationships/image" Target="../media/image154.wmf"/><Relationship Id="rId5" Type="http://schemas.openxmlformats.org/officeDocument/2006/relationships/oleObject" Target="../embeddings/oleObject129.bin"/><Relationship Id="rId15" Type="http://schemas.openxmlformats.org/officeDocument/2006/relationships/oleObject" Target="../embeddings/oleObject134.bin"/><Relationship Id="rId23" Type="http://schemas.openxmlformats.org/officeDocument/2006/relationships/oleObject" Target="../embeddings/oleObject138.bin"/><Relationship Id="rId28" Type="http://schemas.openxmlformats.org/officeDocument/2006/relationships/image" Target="../media/image156.wmf"/><Relationship Id="rId10" Type="http://schemas.openxmlformats.org/officeDocument/2006/relationships/image" Target="../media/image147.wmf"/><Relationship Id="rId19" Type="http://schemas.openxmlformats.org/officeDocument/2006/relationships/oleObject" Target="../embeddings/oleObject136.bin"/><Relationship Id="rId4" Type="http://schemas.openxmlformats.org/officeDocument/2006/relationships/image" Target="../media/image144.wmf"/><Relationship Id="rId9" Type="http://schemas.openxmlformats.org/officeDocument/2006/relationships/oleObject" Target="../embeddings/oleObject131.bin"/><Relationship Id="rId14" Type="http://schemas.openxmlformats.org/officeDocument/2006/relationships/image" Target="../media/image149.wmf"/><Relationship Id="rId22" Type="http://schemas.openxmlformats.org/officeDocument/2006/relationships/image" Target="../media/image153.wmf"/><Relationship Id="rId27" Type="http://schemas.openxmlformats.org/officeDocument/2006/relationships/oleObject" Target="../embeddings/oleObject140.bin"/></Relationships>
</file>

<file path=ppt/slides/_rels/slide122.xml.rels><?xml version="1.0" encoding="UTF-8" standalone="yes"?>
<Relationships xmlns="http://schemas.openxmlformats.org/package/2006/relationships"><Relationship Id="rId3" Type="http://schemas.openxmlformats.org/officeDocument/2006/relationships/oleObject" Target="../embeddings/oleObject141.bin"/><Relationship Id="rId2" Type="http://schemas.openxmlformats.org/officeDocument/2006/relationships/notesSlide" Target="../notesSlides/notesSlide51.xml"/><Relationship Id="rId1" Type="http://schemas.openxmlformats.org/officeDocument/2006/relationships/slideLayout" Target="../slideLayouts/slideLayout35.xml"/><Relationship Id="rId6" Type="http://schemas.openxmlformats.org/officeDocument/2006/relationships/image" Target="../media/image158.wmf"/><Relationship Id="rId5" Type="http://schemas.openxmlformats.org/officeDocument/2006/relationships/oleObject" Target="../embeddings/oleObject142.bin"/><Relationship Id="rId4" Type="http://schemas.openxmlformats.org/officeDocument/2006/relationships/image" Target="../media/image157.wmf"/></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hemeOverride" Target="../theme/themeOverride7.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hemeOverride" Target="../theme/themeOverride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hemeOverride" Target="../theme/themeOverride9.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0.xml.rels><?xml version="1.0" encoding="UTF-8" standalone="yes"?>
<Relationships xmlns="http://schemas.openxmlformats.org/package/2006/relationships"><Relationship Id="rId3" Type="http://schemas.openxmlformats.org/officeDocument/2006/relationships/image" Target="../media/image159.wmf"/><Relationship Id="rId2" Type="http://schemas.openxmlformats.org/officeDocument/2006/relationships/oleObject" Target="../embeddings/oleObject143.bin"/><Relationship Id="rId1" Type="http://schemas.openxmlformats.org/officeDocument/2006/relationships/slideLayout" Target="../slideLayouts/slideLayout3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2.x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oleObject" Target="../embeddings/oleObject144.bin"/><Relationship Id="rId1" Type="http://schemas.openxmlformats.org/officeDocument/2006/relationships/slideLayout" Target="../slideLayouts/slideLayout35.xml"/></Relationships>
</file>

<file path=ppt/slides/_rels/slide133.x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oleObject" Target="../embeddings/oleObject145.bin"/><Relationship Id="rId1" Type="http://schemas.openxmlformats.org/officeDocument/2006/relationships/slideLayout" Target="../slideLayouts/slideLayout35.xml"/></Relationships>
</file>

<file path=ppt/slides/_rels/slide134.x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oleObject" Target="../embeddings/oleObject146.bin"/><Relationship Id="rId1" Type="http://schemas.openxmlformats.org/officeDocument/2006/relationships/slideLayout" Target="../slideLayouts/slideLayout35.xml"/><Relationship Id="rId5" Type="http://schemas.openxmlformats.org/officeDocument/2006/relationships/image" Target="../media/image162.wmf"/><Relationship Id="rId4" Type="http://schemas.openxmlformats.org/officeDocument/2006/relationships/oleObject" Target="../embeddings/oleObject147.bin"/></Relationships>
</file>

<file path=ppt/slides/_rels/slide135.x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oleObject" Target="../embeddings/oleObject148.bin"/><Relationship Id="rId1" Type="http://schemas.openxmlformats.org/officeDocument/2006/relationships/slideLayout" Target="../slideLayouts/slideLayout35.xml"/><Relationship Id="rId5" Type="http://schemas.openxmlformats.org/officeDocument/2006/relationships/image" Target="../media/image164.wmf"/><Relationship Id="rId4" Type="http://schemas.openxmlformats.org/officeDocument/2006/relationships/oleObject" Target="../embeddings/oleObject149.bin"/></Relationships>
</file>

<file path=ppt/slides/_rels/slide136.xml.rels><?xml version="1.0" encoding="UTF-8" standalone="yes"?>
<Relationships xmlns="http://schemas.openxmlformats.org/package/2006/relationships"><Relationship Id="rId3" Type="http://schemas.openxmlformats.org/officeDocument/2006/relationships/image" Target="../media/image165.wmf"/><Relationship Id="rId2" Type="http://schemas.openxmlformats.org/officeDocument/2006/relationships/oleObject" Target="../embeddings/oleObject150.bin"/><Relationship Id="rId1" Type="http://schemas.openxmlformats.org/officeDocument/2006/relationships/slideLayout" Target="../slideLayouts/slideLayout35.xml"/><Relationship Id="rId5" Type="http://schemas.openxmlformats.org/officeDocument/2006/relationships/image" Target="../media/image166.wmf"/><Relationship Id="rId4" Type="http://schemas.openxmlformats.org/officeDocument/2006/relationships/oleObject" Target="../embeddings/oleObject151.bin"/></Relationships>
</file>

<file path=ppt/slides/_rels/slide137.x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oleObject" Target="../embeddings/oleObject152.bin"/><Relationship Id="rId1" Type="http://schemas.openxmlformats.org/officeDocument/2006/relationships/slideLayout" Target="../slideLayouts/slideLayout3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9.x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oleObject" Target="../embeddings/oleObject153.bin"/><Relationship Id="rId1" Type="http://schemas.openxmlformats.org/officeDocument/2006/relationships/slideLayout" Target="../slideLayouts/slideLayout35.xml"/><Relationship Id="rId5" Type="http://schemas.openxmlformats.org/officeDocument/2006/relationships/image" Target="../media/image169.wmf"/><Relationship Id="rId4" Type="http://schemas.openxmlformats.org/officeDocument/2006/relationships/oleObject" Target="../embeddings/oleObject154.bin"/></Relationships>
</file>

<file path=ppt/slides/_rels/slide140.xml.rels><?xml version="1.0" encoding="UTF-8" standalone="yes"?>
<Relationships xmlns="http://schemas.openxmlformats.org/package/2006/relationships"><Relationship Id="rId3" Type="http://schemas.openxmlformats.org/officeDocument/2006/relationships/image" Target="../media/image170.wmf"/><Relationship Id="rId7" Type="http://schemas.openxmlformats.org/officeDocument/2006/relationships/image" Target="../media/image172.wmf"/><Relationship Id="rId2" Type="http://schemas.openxmlformats.org/officeDocument/2006/relationships/oleObject" Target="../embeddings/oleObject155.bin"/><Relationship Id="rId1" Type="http://schemas.openxmlformats.org/officeDocument/2006/relationships/slideLayout" Target="../slideLayouts/slideLayout35.xml"/><Relationship Id="rId6" Type="http://schemas.openxmlformats.org/officeDocument/2006/relationships/oleObject" Target="../embeddings/oleObject157.bin"/><Relationship Id="rId5" Type="http://schemas.openxmlformats.org/officeDocument/2006/relationships/image" Target="../media/image171.wmf"/><Relationship Id="rId4" Type="http://schemas.openxmlformats.org/officeDocument/2006/relationships/oleObject" Target="../embeddings/oleObject156.bin"/></Relationships>
</file>

<file path=ppt/slides/_rels/slide141.xml.rels><?xml version="1.0" encoding="UTF-8" standalone="yes"?>
<Relationships xmlns="http://schemas.openxmlformats.org/package/2006/relationships"><Relationship Id="rId3" Type="http://schemas.openxmlformats.org/officeDocument/2006/relationships/image" Target="../media/image173.wmf"/><Relationship Id="rId2" Type="http://schemas.openxmlformats.org/officeDocument/2006/relationships/oleObject" Target="../embeddings/oleObject158.bin"/><Relationship Id="rId1" Type="http://schemas.openxmlformats.org/officeDocument/2006/relationships/slideLayout" Target="../slideLayouts/slideLayout35.xml"/><Relationship Id="rId5" Type="http://schemas.openxmlformats.org/officeDocument/2006/relationships/image" Target="../media/image174.wmf"/><Relationship Id="rId4" Type="http://schemas.openxmlformats.org/officeDocument/2006/relationships/oleObject" Target="../embeddings/oleObject159.bin"/></Relationships>
</file>

<file path=ppt/slides/_rels/slide142.xml.rels><?xml version="1.0" encoding="UTF-8" standalone="yes"?>
<Relationships xmlns="http://schemas.openxmlformats.org/package/2006/relationships"><Relationship Id="rId3" Type="http://schemas.openxmlformats.org/officeDocument/2006/relationships/image" Target="../media/image175.wmf"/><Relationship Id="rId7" Type="http://schemas.openxmlformats.org/officeDocument/2006/relationships/image" Target="../media/image177.wmf"/><Relationship Id="rId2" Type="http://schemas.openxmlformats.org/officeDocument/2006/relationships/oleObject" Target="../embeddings/oleObject160.bin"/><Relationship Id="rId1" Type="http://schemas.openxmlformats.org/officeDocument/2006/relationships/slideLayout" Target="../slideLayouts/slideLayout35.xml"/><Relationship Id="rId6" Type="http://schemas.openxmlformats.org/officeDocument/2006/relationships/oleObject" Target="../embeddings/oleObject162.bin"/><Relationship Id="rId5" Type="http://schemas.openxmlformats.org/officeDocument/2006/relationships/image" Target="../media/image176.wmf"/><Relationship Id="rId4" Type="http://schemas.openxmlformats.org/officeDocument/2006/relationships/oleObject" Target="../embeddings/oleObject161.bin"/></Relationships>
</file>

<file path=ppt/slides/_rels/slide143.xml.rels><?xml version="1.0" encoding="UTF-8" standalone="yes"?>
<Relationships xmlns="http://schemas.openxmlformats.org/package/2006/relationships"><Relationship Id="rId3" Type="http://schemas.openxmlformats.org/officeDocument/2006/relationships/image" Target="../media/image178.wmf"/><Relationship Id="rId2" Type="http://schemas.openxmlformats.org/officeDocument/2006/relationships/oleObject" Target="../embeddings/oleObject163.bin"/><Relationship Id="rId1" Type="http://schemas.openxmlformats.org/officeDocument/2006/relationships/slideLayout" Target="../slideLayouts/slideLayout35.xml"/></Relationships>
</file>

<file path=ppt/slides/_rels/slide144.xml.rels><?xml version="1.0" encoding="UTF-8" standalone="yes"?>
<Relationships xmlns="http://schemas.openxmlformats.org/package/2006/relationships"><Relationship Id="rId3" Type="http://schemas.openxmlformats.org/officeDocument/2006/relationships/image" Target="../media/image179.wmf"/><Relationship Id="rId7" Type="http://schemas.openxmlformats.org/officeDocument/2006/relationships/image" Target="../media/image181.wmf"/><Relationship Id="rId2" Type="http://schemas.openxmlformats.org/officeDocument/2006/relationships/oleObject" Target="../embeddings/oleObject164.bin"/><Relationship Id="rId1" Type="http://schemas.openxmlformats.org/officeDocument/2006/relationships/slideLayout" Target="../slideLayouts/slideLayout35.xml"/><Relationship Id="rId6" Type="http://schemas.openxmlformats.org/officeDocument/2006/relationships/oleObject" Target="../embeddings/oleObject166.bin"/><Relationship Id="rId5" Type="http://schemas.openxmlformats.org/officeDocument/2006/relationships/image" Target="../media/image180.wmf"/><Relationship Id="rId4" Type="http://schemas.openxmlformats.org/officeDocument/2006/relationships/oleObject" Target="../embeddings/oleObject165.bin"/></Relationships>
</file>

<file path=ppt/slides/_rels/slide145.xml.rels><?xml version="1.0" encoding="UTF-8" standalone="yes"?>
<Relationships xmlns="http://schemas.openxmlformats.org/package/2006/relationships"><Relationship Id="rId3" Type="http://schemas.openxmlformats.org/officeDocument/2006/relationships/image" Target="../media/image182.wmf"/><Relationship Id="rId2" Type="http://schemas.openxmlformats.org/officeDocument/2006/relationships/oleObject" Target="../embeddings/oleObject167.bin"/><Relationship Id="rId1" Type="http://schemas.openxmlformats.org/officeDocument/2006/relationships/slideLayout" Target="../slideLayouts/slideLayout35.xml"/></Relationships>
</file>

<file path=ppt/slides/_rels/slide146.xml.rels><?xml version="1.0" encoding="UTF-8" standalone="yes"?>
<Relationships xmlns="http://schemas.openxmlformats.org/package/2006/relationships"><Relationship Id="rId3" Type="http://schemas.openxmlformats.org/officeDocument/2006/relationships/image" Target="../media/image183.wmf"/><Relationship Id="rId2" Type="http://schemas.openxmlformats.org/officeDocument/2006/relationships/oleObject" Target="../embeddings/oleObject168.bin"/><Relationship Id="rId1" Type="http://schemas.openxmlformats.org/officeDocument/2006/relationships/slideLayout" Target="../slideLayouts/slideLayout35.xml"/><Relationship Id="rId5" Type="http://schemas.openxmlformats.org/officeDocument/2006/relationships/image" Target="../media/image184.wmf"/><Relationship Id="rId4" Type="http://schemas.openxmlformats.org/officeDocument/2006/relationships/oleObject" Target="../embeddings/oleObject169.bin"/></Relationships>
</file>

<file path=ppt/slides/_rels/slide147.xml.rels><?xml version="1.0" encoding="UTF-8" standalone="yes"?>
<Relationships xmlns="http://schemas.openxmlformats.org/package/2006/relationships"><Relationship Id="rId3" Type="http://schemas.openxmlformats.org/officeDocument/2006/relationships/image" Target="../media/image185.wmf"/><Relationship Id="rId2" Type="http://schemas.openxmlformats.org/officeDocument/2006/relationships/oleObject" Target="../embeddings/oleObject170.bin"/><Relationship Id="rId1" Type="http://schemas.openxmlformats.org/officeDocument/2006/relationships/slideLayout" Target="../slideLayouts/slideLayout35.xml"/></Relationships>
</file>

<file path=ppt/slides/_rels/slide148.xml.rels><?xml version="1.0" encoding="UTF-8" standalone="yes"?>
<Relationships xmlns="http://schemas.openxmlformats.org/package/2006/relationships"><Relationship Id="rId3" Type="http://schemas.openxmlformats.org/officeDocument/2006/relationships/image" Target="../media/image186.wmf"/><Relationship Id="rId2" Type="http://schemas.openxmlformats.org/officeDocument/2006/relationships/oleObject" Target="../embeddings/oleObject171.bin"/><Relationship Id="rId1" Type="http://schemas.openxmlformats.org/officeDocument/2006/relationships/slideLayout" Target="../slideLayouts/slideLayout3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0.x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oleObject" Target="../embeddings/oleObject172.bin"/><Relationship Id="rId1" Type="http://schemas.openxmlformats.org/officeDocument/2006/relationships/slideLayout" Target="../slideLayouts/slideLayout35.xml"/></Relationships>
</file>

<file path=ppt/slides/_rels/slide151.xml.rels><?xml version="1.0" encoding="UTF-8" standalone="yes"?>
<Relationships xmlns="http://schemas.openxmlformats.org/package/2006/relationships"><Relationship Id="rId3" Type="http://schemas.openxmlformats.org/officeDocument/2006/relationships/image" Target="../media/image188.wmf"/><Relationship Id="rId2" Type="http://schemas.openxmlformats.org/officeDocument/2006/relationships/oleObject" Target="../embeddings/oleObject173.bin"/><Relationship Id="rId1" Type="http://schemas.openxmlformats.org/officeDocument/2006/relationships/slideLayout" Target="../slideLayouts/slideLayout35.xml"/><Relationship Id="rId5" Type="http://schemas.openxmlformats.org/officeDocument/2006/relationships/image" Target="../media/image189.wmf"/><Relationship Id="rId4" Type="http://schemas.openxmlformats.org/officeDocument/2006/relationships/oleObject" Target="../embeddings/oleObject174.bin"/></Relationships>
</file>

<file path=ppt/slides/_rels/slide152.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35.xml"/></Relationships>
</file>

<file path=ppt/slides/_rels/slide153.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191.png"/><Relationship Id="rId1" Type="http://schemas.openxmlformats.org/officeDocument/2006/relationships/slideLayout" Target="../slideLayouts/slideLayout35.xml"/></Relationships>
</file>

<file path=ppt/slides/_rels/slide154.xml.rels><?xml version="1.0" encoding="UTF-8" standalone="yes"?>
<Relationships xmlns="http://schemas.openxmlformats.org/package/2006/relationships"><Relationship Id="rId3" Type="http://schemas.openxmlformats.org/officeDocument/2006/relationships/image" Target="../media/image193.wmf"/><Relationship Id="rId2" Type="http://schemas.openxmlformats.org/officeDocument/2006/relationships/oleObject" Target="../embeddings/oleObject175.bin"/><Relationship Id="rId1" Type="http://schemas.openxmlformats.org/officeDocument/2006/relationships/slideLayout" Target="../slideLayouts/slideLayout35.xml"/><Relationship Id="rId6" Type="http://schemas.openxmlformats.org/officeDocument/2006/relationships/image" Target="../media/image195.wmf"/><Relationship Id="rId5" Type="http://schemas.openxmlformats.org/officeDocument/2006/relationships/oleObject" Target="../embeddings/oleObject176.bin"/><Relationship Id="rId4" Type="http://schemas.openxmlformats.org/officeDocument/2006/relationships/image" Target="../media/image194.png"/></Relationships>
</file>

<file path=ppt/slides/_rels/slide155.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3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8.xml.rels><?xml version="1.0" encoding="UTF-8" standalone="yes"?>
<Relationships xmlns="http://schemas.openxmlformats.org/package/2006/relationships"><Relationship Id="rId3" Type="http://schemas.openxmlformats.org/officeDocument/2006/relationships/image" Target="../media/image193.wmf"/><Relationship Id="rId2" Type="http://schemas.openxmlformats.org/officeDocument/2006/relationships/oleObject" Target="../embeddings/oleObject177.bin"/><Relationship Id="rId1" Type="http://schemas.openxmlformats.org/officeDocument/2006/relationships/slideLayout" Target="../slideLayouts/slideLayout35.xml"/></Relationships>
</file>

<file path=ppt/slides/_rels/slide159.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35.xml"/></Relationships>
</file>

<file path=ppt/slides/_rels/slide160.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35.xml"/></Relationships>
</file>

<file path=ppt/slides/_rels/slide161.xml.rels><?xml version="1.0" encoding="UTF-8" standalone="yes"?>
<Relationships xmlns="http://schemas.openxmlformats.org/package/2006/relationships"><Relationship Id="rId2" Type="http://schemas.openxmlformats.org/officeDocument/2006/relationships/image" Target="../media/image199.png"/><Relationship Id="rId1" Type="http://schemas.openxmlformats.org/officeDocument/2006/relationships/slideLayout" Target="../slideLayouts/slideLayout35.xml"/></Relationships>
</file>

<file path=ppt/slides/_rels/slide162.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35.xml"/></Relationships>
</file>

<file path=ppt/slides/_rels/slide163.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35.xml"/></Relationships>
</file>

<file path=ppt/slides/_rels/slide164.xml.rels><?xml version="1.0" encoding="UTF-8" standalone="yes"?>
<Relationships xmlns="http://schemas.openxmlformats.org/package/2006/relationships"><Relationship Id="rId2" Type="http://schemas.openxmlformats.org/officeDocument/2006/relationships/image" Target="../media/image202.png"/><Relationship Id="rId1" Type="http://schemas.openxmlformats.org/officeDocument/2006/relationships/slideLayout" Target="../slideLayouts/slideLayout35.xml"/></Relationships>
</file>

<file path=ppt/slides/_rels/slide165.xml.rels><?xml version="1.0" encoding="UTF-8" standalone="yes"?>
<Relationships xmlns="http://schemas.openxmlformats.org/package/2006/relationships"><Relationship Id="rId2" Type="http://schemas.openxmlformats.org/officeDocument/2006/relationships/image" Target="../media/image203.png"/><Relationship Id="rId1" Type="http://schemas.openxmlformats.org/officeDocument/2006/relationships/slideLayout" Target="../slideLayouts/slideLayout35.xml"/></Relationships>
</file>

<file path=ppt/slides/_rels/slide166.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3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8.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35.xml"/></Relationships>
</file>

<file path=ppt/slides/_rels/slide169.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3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1.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3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3.xml.rels><?xml version="1.0" encoding="UTF-8" standalone="yes"?>
<Relationships xmlns="http://schemas.openxmlformats.org/package/2006/relationships"><Relationship Id="rId2" Type="http://schemas.openxmlformats.org/officeDocument/2006/relationships/image" Target="../media/image208.png"/><Relationship Id="rId1" Type="http://schemas.openxmlformats.org/officeDocument/2006/relationships/slideLayout" Target="../slideLayouts/slideLayout35.xml"/></Relationships>
</file>

<file path=ppt/slides/_rels/slide174.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35.xml"/></Relationships>
</file>

<file path=ppt/slides/_rels/slide175.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4" Type="http://schemas.openxmlformats.org/officeDocument/2006/relationships/slideLayout" Target="../slideLayouts/slideLayout45.xml"/></Relationships>
</file>

<file path=ppt/slides/_rels/slide176.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76.xml"/></Relationships>
</file>

<file path=ppt/slides/_rels/slide177.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77.xml"/></Relationships>
</file>

<file path=ppt/slides/_rels/slide178.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78.xml"/></Relationships>
</file>

<file path=ppt/slides/_rels/slide179.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79.xml"/></Relationships>
</file>

<file path=ppt/slides/_rels/slide180.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80.xml"/></Relationships>
</file>

<file path=ppt/slides/_rels/slide181.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81.xml"/></Relationships>
</file>

<file path=ppt/slides/_rels/slide182.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82.xml"/></Relationships>
</file>

<file path=ppt/slides/_rels/slide183.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83.xml"/></Relationships>
</file>

<file path=ppt/slides/_rels/slide184.xml.rels><?xml version="1.0" encoding="UTF-8" standalone="yes"?>
<Relationships xmlns="http://schemas.openxmlformats.org/package/2006/relationships"><Relationship Id="rId3" Type="http://schemas.openxmlformats.org/officeDocument/2006/relationships/oleObject" Target="../embeddings/oleObject178.bin"/><Relationship Id="rId2" Type="http://schemas.openxmlformats.org/officeDocument/2006/relationships/slideLayout" Target="../slideLayouts/slideLayout46.xml"/><Relationship Id="rId1" Type="http://schemas.openxmlformats.org/officeDocument/2006/relationships/tags" Target="../tags/tag184.xml"/><Relationship Id="rId4" Type="http://schemas.openxmlformats.org/officeDocument/2006/relationships/image" Target="../media/image210.wmf"/></Relationships>
</file>

<file path=ppt/slides/_rels/slide185.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85.xml"/></Relationships>
</file>

<file path=ppt/slides/_rels/slide186.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slideLayout" Target="../slideLayouts/slideLayout46.xml"/><Relationship Id="rId1" Type="http://schemas.openxmlformats.org/officeDocument/2006/relationships/tags" Target="../tags/tag186.xml"/></Relationships>
</file>

<file path=ppt/slides/_rels/slide187.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slideLayout" Target="../slideLayouts/slideLayout46.xml"/><Relationship Id="rId1" Type="http://schemas.openxmlformats.org/officeDocument/2006/relationships/tags" Target="../tags/tag187.xml"/></Relationships>
</file>

<file path=ppt/slides/_rels/slide188.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88.xml"/></Relationships>
</file>

<file path=ppt/slides/_rels/slide189.xml.rels><?xml version="1.0" encoding="UTF-8" standalone="yes"?>
<Relationships xmlns="http://schemas.openxmlformats.org/package/2006/relationships"><Relationship Id="rId8" Type="http://schemas.openxmlformats.org/officeDocument/2006/relationships/image" Target="../media/image215.wmf"/><Relationship Id="rId3" Type="http://schemas.openxmlformats.org/officeDocument/2006/relationships/oleObject" Target="../embeddings/oleObject179.bin"/><Relationship Id="rId7" Type="http://schemas.openxmlformats.org/officeDocument/2006/relationships/oleObject" Target="../embeddings/oleObject181.bin"/><Relationship Id="rId2" Type="http://schemas.openxmlformats.org/officeDocument/2006/relationships/slideLayout" Target="../slideLayouts/slideLayout46.xml"/><Relationship Id="rId1" Type="http://schemas.openxmlformats.org/officeDocument/2006/relationships/tags" Target="../tags/tag189.xml"/><Relationship Id="rId6" Type="http://schemas.openxmlformats.org/officeDocument/2006/relationships/image" Target="../media/image214.wmf"/><Relationship Id="rId5" Type="http://schemas.openxmlformats.org/officeDocument/2006/relationships/oleObject" Target="../embeddings/oleObject180.bin"/><Relationship Id="rId10" Type="http://schemas.openxmlformats.org/officeDocument/2006/relationships/image" Target="../media/image216.wmf"/><Relationship Id="rId4" Type="http://schemas.openxmlformats.org/officeDocument/2006/relationships/image" Target="../media/image213.wmf"/><Relationship Id="rId9" Type="http://schemas.openxmlformats.org/officeDocument/2006/relationships/oleObject" Target="../embeddings/oleObject182.bin"/></Relationships>
</file>

<file path=ppt/slides/_rels/slide19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slideLayout" Target="../slideLayouts/slideLayout46.xml"/><Relationship Id="rId1" Type="http://schemas.openxmlformats.org/officeDocument/2006/relationships/tags" Target="../tags/tag190.xml"/></Relationships>
</file>

<file path=ppt/slides/_rels/slide19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slideLayout" Target="../slideLayouts/slideLayout46.xml"/><Relationship Id="rId1" Type="http://schemas.openxmlformats.org/officeDocument/2006/relationships/tags" Target="../tags/tag191.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92.xml.rels><?xml version="1.0" encoding="UTF-8" standalone="yes"?>
<Relationships xmlns="http://schemas.openxmlformats.org/package/2006/relationships"><Relationship Id="rId3" Type="http://schemas.openxmlformats.org/officeDocument/2006/relationships/oleObject" Target="../embeddings/oleObject183.bin"/><Relationship Id="rId2" Type="http://schemas.openxmlformats.org/officeDocument/2006/relationships/slideLayout" Target="../slideLayouts/slideLayout46.xml"/><Relationship Id="rId1" Type="http://schemas.openxmlformats.org/officeDocument/2006/relationships/tags" Target="../tags/tag192.xml"/><Relationship Id="rId4" Type="http://schemas.openxmlformats.org/officeDocument/2006/relationships/image" Target="../media/image217.wmf"/></Relationships>
</file>

<file path=ppt/slides/_rels/slide19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oleObject" Target="../embeddings/oleObject184.bin"/><Relationship Id="rId7" Type="http://schemas.openxmlformats.org/officeDocument/2006/relationships/image" Target="NULL"/><Relationship Id="rId2" Type="http://schemas.openxmlformats.org/officeDocument/2006/relationships/slideLayout" Target="../slideLayouts/slideLayout46.xml"/><Relationship Id="rId1" Type="http://schemas.openxmlformats.org/officeDocument/2006/relationships/tags" Target="../tags/tag19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218.wmf"/><Relationship Id="rId9" Type="http://schemas.openxmlformats.org/officeDocument/2006/relationships/image" Target="NULL"/></Relationships>
</file>

<file path=ppt/slides/_rels/slide19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6.xml"/><Relationship Id="rId1" Type="http://schemas.openxmlformats.org/officeDocument/2006/relationships/tags" Target="../tags/tag194.xml"/><Relationship Id="rId5" Type="http://schemas.openxmlformats.org/officeDocument/2006/relationships/image" Target="../media/image219.wmf"/><Relationship Id="rId4" Type="http://schemas.openxmlformats.org/officeDocument/2006/relationships/oleObject" Target="../embeddings/oleObject185.bin"/></Relationships>
</file>

<file path=ppt/slides/_rels/slide195.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95.xml"/></Relationships>
</file>

<file path=ppt/slides/_rels/slide196.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96.xml"/></Relationships>
</file>

<file path=ppt/slides/_rels/slide197.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97.xml"/></Relationships>
</file>

<file path=ppt/slides/_rels/slide198.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98.xml"/></Relationships>
</file>

<file path=ppt/slides/_rels/slide199.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199.xml"/></Relationships>
</file>

<file path=ppt/slides/_rels/slide200.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200.xml"/></Relationships>
</file>

<file path=ppt/slides/_rels/slide201.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201.xml"/></Relationships>
</file>

<file path=ppt/slides/_rels/slide202.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slideLayout" Target="../slideLayouts/slideLayout46.xml"/><Relationship Id="rId1" Type="http://schemas.openxmlformats.org/officeDocument/2006/relationships/tags" Target="../tags/tag20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203.xml.rels><?xml version="1.0" encoding="UTF-8" standalone="yes"?>
<Relationships xmlns="http://schemas.openxmlformats.org/package/2006/relationships"><Relationship Id="rId3" Type="http://schemas.openxmlformats.org/officeDocument/2006/relationships/image" Target="../media/image2070.png"/><Relationship Id="rId2" Type="http://schemas.openxmlformats.org/officeDocument/2006/relationships/slideLayout" Target="../slideLayouts/slideLayout46.xml"/><Relationship Id="rId1" Type="http://schemas.openxmlformats.org/officeDocument/2006/relationships/tags" Target="../tags/tag203.xml"/></Relationships>
</file>

<file path=ppt/slides/_rels/slide204.xml.rels><?xml version="1.0" encoding="UTF-8" standalone="yes"?>
<Relationships xmlns="http://schemas.openxmlformats.org/package/2006/relationships"><Relationship Id="rId3" Type="http://schemas.openxmlformats.org/officeDocument/2006/relationships/image" Target="../media/image2080.png"/><Relationship Id="rId2" Type="http://schemas.openxmlformats.org/officeDocument/2006/relationships/slideLayout" Target="../slideLayouts/slideLayout46.xml"/><Relationship Id="rId1" Type="http://schemas.openxmlformats.org/officeDocument/2006/relationships/tags" Target="../tags/tag204.xml"/><Relationship Id="rId5" Type="http://schemas.openxmlformats.org/officeDocument/2006/relationships/image" Target="NULL"/><Relationship Id="rId4" Type="http://schemas.openxmlformats.org/officeDocument/2006/relationships/image" Target="NULL"/></Relationships>
</file>

<file path=ppt/slides/_rels/slide205.xml.rels><?xml version="1.0" encoding="UTF-8" standalone="yes"?>
<Relationships xmlns="http://schemas.openxmlformats.org/package/2006/relationships"><Relationship Id="rId3" Type="http://schemas.openxmlformats.org/officeDocument/2006/relationships/image" Target="../media/image2090.png"/><Relationship Id="rId2" Type="http://schemas.openxmlformats.org/officeDocument/2006/relationships/slideLayout" Target="../slideLayouts/slideLayout46.xml"/><Relationship Id="rId1" Type="http://schemas.openxmlformats.org/officeDocument/2006/relationships/tags" Target="../tags/tag205.xml"/></Relationships>
</file>

<file path=ppt/slides/_rels/slide20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slideLayout" Target="../slideLayouts/slideLayout46.xml"/><Relationship Id="rId1" Type="http://schemas.openxmlformats.org/officeDocument/2006/relationships/tags" Target="../tags/tag206.xml"/><Relationship Id="rId4" Type="http://schemas.openxmlformats.org/officeDocument/2006/relationships/image" Target="../media/image210.png"/></Relationships>
</file>

<file path=ppt/slides/_rels/slide20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slideLayout" Target="../slideLayouts/slideLayout46.xml"/><Relationship Id="rId1" Type="http://schemas.openxmlformats.org/officeDocument/2006/relationships/tags" Target="../tags/tag207.xml"/><Relationship Id="rId4" Type="http://schemas.openxmlformats.org/officeDocument/2006/relationships/image" Target="../media/image2110.png"/></Relationships>
</file>

<file path=ppt/slides/_rels/slide208.xml.rels><?xml version="1.0" encoding="UTF-8" standalone="yes"?>
<Relationships xmlns="http://schemas.openxmlformats.org/package/2006/relationships"><Relationship Id="rId3" Type="http://schemas.openxmlformats.org/officeDocument/2006/relationships/image" Target="../media/image2120.png"/><Relationship Id="rId2" Type="http://schemas.openxmlformats.org/officeDocument/2006/relationships/slideLayout" Target="../slideLayouts/slideLayout46.xml"/><Relationship Id="rId1" Type="http://schemas.openxmlformats.org/officeDocument/2006/relationships/tags" Target="../tags/tag208.xml"/></Relationships>
</file>

<file path=ppt/slides/_rels/slide209.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slideLayout" Target="../slideLayouts/slideLayout46.xml"/><Relationship Id="rId1" Type="http://schemas.openxmlformats.org/officeDocument/2006/relationships/tags" Target="../tags/tag209.xml"/></Relationships>
</file>

<file path=ppt/slides/_rels/slide210.xml.rels><?xml version="1.0" encoding="UTF-8" standalone="yes"?>
<Relationships xmlns="http://schemas.openxmlformats.org/package/2006/relationships"><Relationship Id="rId3" Type="http://schemas.openxmlformats.org/officeDocument/2006/relationships/image" Target="../media/image220.jpeg"/><Relationship Id="rId2" Type="http://schemas.openxmlformats.org/officeDocument/2006/relationships/slideLayout" Target="../slideLayouts/slideLayout46.xml"/><Relationship Id="rId1" Type="http://schemas.openxmlformats.org/officeDocument/2006/relationships/tags" Target="../tags/tag210.xml"/></Relationships>
</file>

<file path=ppt/slides/_rels/slide211.xml.rels><?xml version="1.0" encoding="UTF-8" standalone="yes"?>
<Relationships xmlns="http://schemas.openxmlformats.org/package/2006/relationships"><Relationship Id="rId3" Type="http://schemas.openxmlformats.org/officeDocument/2006/relationships/image" Target="../media/image221.jpeg"/><Relationship Id="rId2" Type="http://schemas.openxmlformats.org/officeDocument/2006/relationships/slideLayout" Target="../slideLayouts/slideLayout46.xml"/><Relationship Id="rId1" Type="http://schemas.openxmlformats.org/officeDocument/2006/relationships/tags" Target="../tags/tag211.xml"/></Relationships>
</file>

<file path=ppt/slides/_rels/slide212.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21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9.xml"/></Relationships>
</file>

<file path=ppt/slides/_rels/slide2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5.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22.jpeg"/><Relationship Id="rId1" Type="http://schemas.openxmlformats.org/officeDocument/2006/relationships/slideLayout" Target="../slideLayouts/slideLayout35.xml"/></Relationships>
</file>

<file path=ppt/slides/_rels/slide216.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image" Target="../media/image224.jpeg"/><Relationship Id="rId1" Type="http://schemas.openxmlformats.org/officeDocument/2006/relationships/slideLayout" Target="../slideLayouts/slideLayout35.xml"/></Relationships>
</file>

<file path=ppt/slides/_rels/slide217.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image" Target="../media/image226.png"/><Relationship Id="rId1" Type="http://schemas.openxmlformats.org/officeDocument/2006/relationships/slideLayout" Target="../slideLayouts/slideLayout35.xml"/><Relationship Id="rId4" Type="http://schemas.openxmlformats.org/officeDocument/2006/relationships/image" Target="../media/image228.png"/></Relationships>
</file>

<file path=ppt/slides/_rels/slide218.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29.png"/><Relationship Id="rId1" Type="http://schemas.openxmlformats.org/officeDocument/2006/relationships/slideLayout" Target="../slideLayouts/slideLayout35.xml"/><Relationship Id="rId4" Type="http://schemas.openxmlformats.org/officeDocument/2006/relationships/image" Target="../media/image231.png"/></Relationships>
</file>

<file path=ppt/slides/_rels/slide219.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image" Target="../media/image232.png"/><Relationship Id="rId1" Type="http://schemas.openxmlformats.org/officeDocument/2006/relationships/slideLayout" Target="../slideLayouts/slideLayout35.xml"/></Relationships>
</file>

<file path=ppt/slides/_rels/slide220.xml.rels><?xml version="1.0" encoding="UTF-8" standalone="yes"?>
<Relationships xmlns="http://schemas.openxmlformats.org/package/2006/relationships"><Relationship Id="rId2" Type="http://schemas.openxmlformats.org/officeDocument/2006/relationships/image" Target="../media/image234.png"/><Relationship Id="rId1" Type="http://schemas.openxmlformats.org/officeDocument/2006/relationships/slideLayout" Target="../slideLayouts/slideLayout35.xml"/></Relationships>
</file>

<file path=ppt/slides/_rels/slide221.xml.rels><?xml version="1.0" encoding="UTF-8" standalone="yes"?>
<Relationships xmlns="http://schemas.openxmlformats.org/package/2006/relationships"><Relationship Id="rId2" Type="http://schemas.openxmlformats.org/officeDocument/2006/relationships/image" Target="../media/image235.png"/><Relationship Id="rId1" Type="http://schemas.openxmlformats.org/officeDocument/2006/relationships/slideLayout" Target="../slideLayouts/slideLayout35.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3.xml.rels><?xml version="1.0" encoding="UTF-8" standalone="yes"?>
<Relationships xmlns="http://schemas.openxmlformats.org/package/2006/relationships"><Relationship Id="rId2" Type="http://schemas.openxmlformats.org/officeDocument/2006/relationships/image" Target="../media/image236.png"/><Relationship Id="rId1" Type="http://schemas.openxmlformats.org/officeDocument/2006/relationships/slideLayout" Target="../slideLayouts/slideLayout35.xml"/></Relationships>
</file>

<file path=ppt/slides/_rels/slide224.xml.rels><?xml version="1.0" encoding="UTF-8" standalone="yes"?>
<Relationships xmlns="http://schemas.openxmlformats.org/package/2006/relationships"><Relationship Id="rId2" Type="http://schemas.openxmlformats.org/officeDocument/2006/relationships/image" Target="../media/image237.jpeg"/><Relationship Id="rId1" Type="http://schemas.openxmlformats.org/officeDocument/2006/relationships/slideLayout" Target="../slideLayouts/slideLayout35.xml"/></Relationships>
</file>

<file path=ppt/slides/_rels/slide225.xml.rels><?xml version="1.0" encoding="UTF-8" standalone="yes"?>
<Relationships xmlns="http://schemas.openxmlformats.org/package/2006/relationships"><Relationship Id="rId2" Type="http://schemas.openxmlformats.org/officeDocument/2006/relationships/image" Target="../media/image238.jpeg"/><Relationship Id="rId1" Type="http://schemas.openxmlformats.org/officeDocument/2006/relationships/slideLayout" Target="../slideLayouts/slideLayout35.xml"/></Relationships>
</file>

<file path=ppt/slides/_rels/slide226.xml.rels><?xml version="1.0" encoding="UTF-8" standalone="yes"?>
<Relationships xmlns="http://schemas.openxmlformats.org/package/2006/relationships"><Relationship Id="rId2" Type="http://schemas.openxmlformats.org/officeDocument/2006/relationships/image" Target="../media/image238.jpeg"/><Relationship Id="rId1" Type="http://schemas.openxmlformats.org/officeDocument/2006/relationships/slideLayout" Target="../slideLayouts/slideLayout35.xml"/></Relationships>
</file>

<file path=ppt/slides/_rels/slide227.xml.rels><?xml version="1.0" encoding="UTF-8" standalone="yes"?>
<Relationships xmlns="http://schemas.openxmlformats.org/package/2006/relationships"><Relationship Id="rId2" Type="http://schemas.openxmlformats.org/officeDocument/2006/relationships/image" Target="../media/image238.jpeg"/><Relationship Id="rId1" Type="http://schemas.openxmlformats.org/officeDocument/2006/relationships/slideLayout" Target="../slideLayouts/slideLayout35.xml"/></Relationships>
</file>

<file path=ppt/slides/_rels/slide228.xml.rels><?xml version="1.0" encoding="UTF-8" standalone="yes"?>
<Relationships xmlns="http://schemas.openxmlformats.org/package/2006/relationships"><Relationship Id="rId2" Type="http://schemas.openxmlformats.org/officeDocument/2006/relationships/image" Target="../media/image238.jpeg"/><Relationship Id="rId1" Type="http://schemas.openxmlformats.org/officeDocument/2006/relationships/slideLayout" Target="../slideLayouts/slideLayout35.xml"/></Relationships>
</file>

<file path=ppt/slides/_rels/slide229.xml.rels><?xml version="1.0" encoding="UTF-8" standalone="yes"?>
<Relationships xmlns="http://schemas.openxmlformats.org/package/2006/relationships"><Relationship Id="rId2" Type="http://schemas.openxmlformats.org/officeDocument/2006/relationships/image" Target="../media/image238.jpeg"/><Relationship Id="rId1" Type="http://schemas.openxmlformats.org/officeDocument/2006/relationships/slideLayout" Target="../slideLayouts/slideLayout35.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2.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35.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5.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7.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35.xml"/></Relationships>
</file>

<file path=ppt/slides/_rels/slide238.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35.xml"/></Relationships>
</file>

<file path=ppt/slides/_rels/slide239.xml.rels><?xml version="1.0" encoding="UTF-8" standalone="yes"?>
<Relationships xmlns="http://schemas.openxmlformats.org/package/2006/relationships"><Relationship Id="rId2" Type="http://schemas.openxmlformats.org/officeDocument/2006/relationships/image" Target="../media/image242.png"/><Relationship Id="rId1" Type="http://schemas.openxmlformats.org/officeDocument/2006/relationships/slideLayout" Target="../slideLayouts/slideLayout35.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2.xml.rels><?xml version="1.0" encoding="UTF-8" standalone="yes"?>
<Relationships xmlns="http://schemas.openxmlformats.org/package/2006/relationships"><Relationship Id="rId2" Type="http://schemas.openxmlformats.org/officeDocument/2006/relationships/image" Target="../media/image242.png"/><Relationship Id="rId1" Type="http://schemas.openxmlformats.org/officeDocument/2006/relationships/slideLayout" Target="../slideLayouts/slideLayout35.xml"/></Relationships>
</file>

<file path=ppt/slides/_rels/slide243.xml.rels><?xml version="1.0" encoding="UTF-8" standalone="yes"?>
<Relationships xmlns="http://schemas.openxmlformats.org/package/2006/relationships"><Relationship Id="rId2" Type="http://schemas.openxmlformats.org/officeDocument/2006/relationships/image" Target="../media/image243.png"/><Relationship Id="rId1" Type="http://schemas.openxmlformats.org/officeDocument/2006/relationships/slideLayout" Target="../slideLayouts/slideLayout35.xml"/></Relationships>
</file>

<file path=ppt/slides/_rels/slide244.xml.rels><?xml version="1.0" encoding="UTF-8" standalone="yes"?>
<Relationships xmlns="http://schemas.openxmlformats.org/package/2006/relationships"><Relationship Id="rId2" Type="http://schemas.openxmlformats.org/officeDocument/2006/relationships/image" Target="../media/image244.png"/><Relationship Id="rId1" Type="http://schemas.openxmlformats.org/officeDocument/2006/relationships/slideLayout" Target="../slideLayouts/slideLayout35.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6.xml.rels><?xml version="1.0" encoding="UTF-8" standalone="yes"?>
<Relationships xmlns="http://schemas.openxmlformats.org/package/2006/relationships"><Relationship Id="rId2" Type="http://schemas.openxmlformats.org/officeDocument/2006/relationships/image" Target="../media/image245.png"/><Relationship Id="rId1" Type="http://schemas.openxmlformats.org/officeDocument/2006/relationships/slideLayout" Target="../slideLayouts/slideLayout35.xml"/></Relationships>
</file>

<file path=ppt/slides/_rels/slide247.xml.rels><?xml version="1.0" encoding="UTF-8" standalone="yes"?>
<Relationships xmlns="http://schemas.openxmlformats.org/package/2006/relationships"><Relationship Id="rId2" Type="http://schemas.openxmlformats.org/officeDocument/2006/relationships/image" Target="../media/image246.png"/><Relationship Id="rId1" Type="http://schemas.openxmlformats.org/officeDocument/2006/relationships/slideLayout" Target="../slideLayouts/slideLayout35.xml"/></Relationships>
</file>

<file path=ppt/slides/_rels/slide248.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image" Target="../media/image244.png"/><Relationship Id="rId1" Type="http://schemas.openxmlformats.org/officeDocument/2006/relationships/slideLayout" Target="../slideLayouts/slideLayout35.xml"/></Relationships>
</file>

<file path=ppt/slides/_rels/slide249.xml.rels><?xml version="1.0" encoding="UTF-8" standalone="yes"?>
<Relationships xmlns="http://schemas.openxmlformats.org/package/2006/relationships"><Relationship Id="rId8" Type="http://schemas.openxmlformats.org/officeDocument/2006/relationships/image" Target="../media/image253.png"/><Relationship Id="rId3" Type="http://schemas.openxmlformats.org/officeDocument/2006/relationships/image" Target="../media/image248.png"/><Relationship Id="rId7" Type="http://schemas.openxmlformats.org/officeDocument/2006/relationships/image" Target="../media/image252.png"/><Relationship Id="rId2" Type="http://schemas.openxmlformats.org/officeDocument/2006/relationships/image" Target="../media/image247.png"/><Relationship Id="rId1" Type="http://schemas.openxmlformats.org/officeDocument/2006/relationships/slideLayout" Target="../slideLayouts/slideLayout35.xml"/><Relationship Id="rId6" Type="http://schemas.openxmlformats.org/officeDocument/2006/relationships/image" Target="../media/image251.png"/><Relationship Id="rId5" Type="http://schemas.openxmlformats.org/officeDocument/2006/relationships/image" Target="../media/image250.png"/><Relationship Id="rId4" Type="http://schemas.openxmlformats.org/officeDocument/2006/relationships/image" Target="../media/image249.png"/><Relationship Id="rId9" Type="http://schemas.openxmlformats.org/officeDocument/2006/relationships/image" Target="../media/image254.png"/></Relationships>
</file>

<file path=ppt/slides/_rels/slide250.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35.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2.xml.rels><?xml version="1.0" encoding="UTF-8" standalone="yes"?>
<Relationships xmlns="http://schemas.openxmlformats.org/package/2006/relationships"><Relationship Id="rId2" Type="http://schemas.openxmlformats.org/officeDocument/2006/relationships/image" Target="../media/image256.jpeg"/><Relationship Id="rId1" Type="http://schemas.openxmlformats.org/officeDocument/2006/relationships/slideLayout" Target="../slideLayouts/slideLayout35.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5.xml.rels><?xml version="1.0" encoding="UTF-8" standalone="yes"?>
<Relationships xmlns="http://schemas.openxmlformats.org/package/2006/relationships"><Relationship Id="rId2" Type="http://schemas.openxmlformats.org/officeDocument/2006/relationships/image" Target="../media/image257.png"/><Relationship Id="rId1" Type="http://schemas.openxmlformats.org/officeDocument/2006/relationships/slideLayout" Target="../slideLayouts/slideLayout35.xml"/></Relationships>
</file>

<file path=ppt/slides/_rels/slide256.xml.rels><?xml version="1.0" encoding="UTF-8" standalone="yes"?>
<Relationships xmlns="http://schemas.openxmlformats.org/package/2006/relationships"><Relationship Id="rId2" Type="http://schemas.openxmlformats.org/officeDocument/2006/relationships/image" Target="../media/image258.png"/><Relationship Id="rId1" Type="http://schemas.openxmlformats.org/officeDocument/2006/relationships/slideLayout" Target="../slideLayouts/slideLayout35.xml"/></Relationships>
</file>

<file path=ppt/slides/_rels/slide257.xml.rels><?xml version="1.0" encoding="UTF-8" standalone="yes"?>
<Relationships xmlns="http://schemas.openxmlformats.org/package/2006/relationships"><Relationship Id="rId2" Type="http://schemas.openxmlformats.org/officeDocument/2006/relationships/image" Target="../media/image259.png"/><Relationship Id="rId1" Type="http://schemas.openxmlformats.org/officeDocument/2006/relationships/slideLayout" Target="../slideLayouts/slideLayout35.xml"/></Relationships>
</file>

<file path=ppt/slides/_rels/slide258.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35.xml"/></Relationships>
</file>

<file path=ppt/slides/_rels/slide259.xml.rels><?xml version="1.0" encoding="UTF-8" standalone="yes"?>
<Relationships xmlns="http://schemas.openxmlformats.org/package/2006/relationships"><Relationship Id="rId2" Type="http://schemas.openxmlformats.org/officeDocument/2006/relationships/image" Target="../media/image261.png"/><Relationship Id="rId1" Type="http://schemas.openxmlformats.org/officeDocument/2006/relationships/slideLayout" Target="../slideLayouts/slideLayout35.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2.xml.rels><?xml version="1.0" encoding="UTF-8" standalone="yes"?>
<Relationships xmlns="http://schemas.openxmlformats.org/package/2006/relationships"><Relationship Id="rId3" Type="http://schemas.openxmlformats.org/officeDocument/2006/relationships/image" Target="../media/image263.jpeg"/><Relationship Id="rId2" Type="http://schemas.openxmlformats.org/officeDocument/2006/relationships/image" Target="../media/image262.jpeg"/><Relationship Id="rId1" Type="http://schemas.openxmlformats.org/officeDocument/2006/relationships/slideLayout" Target="../slideLayouts/slideLayout35.xml"/></Relationships>
</file>

<file path=ppt/slides/_rels/slide263.xml.rels><?xml version="1.0" encoding="UTF-8" standalone="yes"?>
<Relationships xmlns="http://schemas.openxmlformats.org/package/2006/relationships"><Relationship Id="rId3" Type="http://schemas.openxmlformats.org/officeDocument/2006/relationships/image" Target="../media/image265.jpeg"/><Relationship Id="rId2" Type="http://schemas.openxmlformats.org/officeDocument/2006/relationships/image" Target="../media/image264.png"/><Relationship Id="rId1" Type="http://schemas.openxmlformats.org/officeDocument/2006/relationships/slideLayout" Target="../slideLayouts/slideLayout35.xml"/></Relationships>
</file>

<file path=ppt/slides/_rels/slide264.xml.rels><?xml version="1.0" encoding="UTF-8" standalone="yes"?>
<Relationships xmlns="http://schemas.openxmlformats.org/package/2006/relationships"><Relationship Id="rId2" Type="http://schemas.openxmlformats.org/officeDocument/2006/relationships/image" Target="../media/image266.jpeg"/><Relationship Id="rId1" Type="http://schemas.openxmlformats.org/officeDocument/2006/relationships/slideLayout" Target="../slideLayouts/slideLayout35.xml"/></Relationships>
</file>

<file path=ppt/slides/_rels/slide265.xml.rels><?xml version="1.0" encoding="UTF-8" standalone="yes"?>
<Relationships xmlns="http://schemas.openxmlformats.org/package/2006/relationships"><Relationship Id="rId3" Type="http://schemas.openxmlformats.org/officeDocument/2006/relationships/image" Target="../media/image268.jpeg"/><Relationship Id="rId2" Type="http://schemas.openxmlformats.org/officeDocument/2006/relationships/image" Target="../media/image267.jpeg"/><Relationship Id="rId1" Type="http://schemas.openxmlformats.org/officeDocument/2006/relationships/slideLayout" Target="../slideLayouts/slideLayout3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9.xml"/></Relationships>
</file>

<file path=ppt/slides/_rels/slide271.xml.rels><?xml version="1.0" encoding="UTF-8" standalone="yes"?>
<Relationships xmlns="http://schemas.openxmlformats.org/package/2006/relationships"><Relationship Id="rId2" Type="http://schemas.openxmlformats.org/officeDocument/2006/relationships/image" Target="../media/image269.png"/><Relationship Id="rId1" Type="http://schemas.openxmlformats.org/officeDocument/2006/relationships/slideLayout" Target="../slideLayouts/slideLayout35.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3.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35.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5.xml.rels><?xml version="1.0" encoding="UTF-8" standalone="yes"?>
<Relationships xmlns="http://schemas.openxmlformats.org/package/2006/relationships"><Relationship Id="rId2" Type="http://schemas.openxmlformats.org/officeDocument/2006/relationships/image" Target="../media/image265.png"/><Relationship Id="rId1" Type="http://schemas.openxmlformats.org/officeDocument/2006/relationships/slideLayout" Target="../slideLayouts/slideLayout35.xml"/></Relationships>
</file>

<file path=ppt/slides/_rels/slide276.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66.png"/><Relationship Id="rId1" Type="http://schemas.openxmlformats.org/officeDocument/2006/relationships/slideLayout" Target="../slideLayouts/slideLayout35.xml"/><Relationship Id="rId4" Type="http://schemas.openxmlformats.org/officeDocument/2006/relationships/image" Target="../media/image27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8.xml.rels><?xml version="1.0" encoding="UTF-8" standalone="yes"?>
<Relationships xmlns="http://schemas.openxmlformats.org/package/2006/relationships"><Relationship Id="rId3" Type="http://schemas.openxmlformats.org/officeDocument/2006/relationships/image" Target="../media/image2690.png"/><Relationship Id="rId2" Type="http://schemas.openxmlformats.org/officeDocument/2006/relationships/notesSlide" Target="../notesSlides/notesSlide56.xml"/><Relationship Id="rId1" Type="http://schemas.openxmlformats.org/officeDocument/2006/relationships/slideLayout" Target="../slideLayouts/slideLayout35.xml"/></Relationships>
</file>

<file path=ppt/slides/_rels/slide279.xml.rels><?xml version="1.0" encoding="UTF-8" standalone="yes"?>
<Relationships xmlns="http://schemas.openxmlformats.org/package/2006/relationships"><Relationship Id="rId2" Type="http://schemas.openxmlformats.org/officeDocument/2006/relationships/image" Target="../media/image2700.png"/><Relationship Id="rId1" Type="http://schemas.openxmlformats.org/officeDocument/2006/relationships/slideLayout" Target="../slideLayouts/slideLayout35.xml"/></Relationships>
</file>

<file path=ppt/slides/_rels/slide280.xml.rels><?xml version="1.0" encoding="UTF-8" standalone="yes"?>
<Relationships xmlns="http://schemas.openxmlformats.org/package/2006/relationships"><Relationship Id="rId3" Type="http://schemas.openxmlformats.org/officeDocument/2006/relationships/image" Target="../media/image273.png"/><Relationship Id="rId2" Type="http://schemas.openxmlformats.org/officeDocument/2006/relationships/image" Target="../media/image272.png"/><Relationship Id="rId1" Type="http://schemas.openxmlformats.org/officeDocument/2006/relationships/slideLayout" Target="../slideLayouts/slideLayout35.xml"/></Relationships>
</file>

<file path=ppt/slides/_rels/slide281.xml.rels><?xml version="1.0" encoding="UTF-8" standalone="yes"?>
<Relationships xmlns="http://schemas.openxmlformats.org/package/2006/relationships"><Relationship Id="rId2" Type="http://schemas.openxmlformats.org/officeDocument/2006/relationships/image" Target="../media/image274.png"/><Relationship Id="rId1" Type="http://schemas.openxmlformats.org/officeDocument/2006/relationships/slideLayout" Target="../slideLayouts/slideLayout35.xml"/></Relationships>
</file>

<file path=ppt/slides/_rels/slide282.xml.rels><?xml version="1.0" encoding="UTF-8" standalone="yes"?>
<Relationships xmlns="http://schemas.openxmlformats.org/package/2006/relationships"><Relationship Id="rId2" Type="http://schemas.openxmlformats.org/officeDocument/2006/relationships/image" Target="../media/image2740.png"/><Relationship Id="rId1" Type="http://schemas.openxmlformats.org/officeDocument/2006/relationships/slideLayout" Target="../slideLayouts/slideLayout35.xml"/></Relationships>
</file>

<file path=ppt/slides/_rels/slide283.xml.rels><?xml version="1.0" encoding="UTF-8" standalone="yes"?>
<Relationships xmlns="http://schemas.openxmlformats.org/package/2006/relationships"><Relationship Id="rId2" Type="http://schemas.openxmlformats.org/officeDocument/2006/relationships/image" Target="../media/image275.png"/><Relationship Id="rId1" Type="http://schemas.openxmlformats.org/officeDocument/2006/relationships/slideLayout" Target="../slideLayouts/slideLayout35.xml"/></Relationships>
</file>

<file path=ppt/slides/_rels/slide284.xml.rels><?xml version="1.0" encoding="UTF-8" standalone="yes"?>
<Relationships xmlns="http://schemas.openxmlformats.org/package/2006/relationships"><Relationship Id="rId3" Type="http://schemas.openxmlformats.org/officeDocument/2006/relationships/image" Target="../media/image2720.png"/><Relationship Id="rId2" Type="http://schemas.openxmlformats.org/officeDocument/2006/relationships/image" Target="../media/image2710.png"/><Relationship Id="rId1" Type="http://schemas.openxmlformats.org/officeDocument/2006/relationships/slideLayout" Target="../slideLayouts/slideLayout35.xml"/></Relationships>
</file>

<file path=ppt/slides/_rels/slide285.xml.rels><?xml version="1.0" encoding="UTF-8" standalone="yes"?>
<Relationships xmlns="http://schemas.openxmlformats.org/package/2006/relationships"><Relationship Id="rId2" Type="http://schemas.openxmlformats.org/officeDocument/2006/relationships/image" Target="../media/image2730.png"/><Relationship Id="rId1" Type="http://schemas.openxmlformats.org/officeDocument/2006/relationships/slideLayout" Target="../slideLayouts/slideLayout35.xml"/></Relationships>
</file>

<file path=ppt/slides/_rels/slide286.xml.rels><?xml version="1.0" encoding="UTF-8" standalone="yes"?>
<Relationships xmlns="http://schemas.openxmlformats.org/package/2006/relationships"><Relationship Id="rId2" Type="http://schemas.openxmlformats.org/officeDocument/2006/relationships/image" Target="../media/image279.png"/><Relationship Id="rId1" Type="http://schemas.openxmlformats.org/officeDocument/2006/relationships/slideLayout" Target="../slideLayouts/slideLayout35.xml"/></Relationships>
</file>

<file path=ppt/slides/_rels/slide287.xml.rels><?xml version="1.0" encoding="UTF-8" standalone="yes"?>
<Relationships xmlns="http://schemas.openxmlformats.org/package/2006/relationships"><Relationship Id="rId3" Type="http://schemas.openxmlformats.org/officeDocument/2006/relationships/image" Target="../media/image276.png"/><Relationship Id="rId2" Type="http://schemas.openxmlformats.org/officeDocument/2006/relationships/image" Target="../media/image280.png"/><Relationship Id="rId1" Type="http://schemas.openxmlformats.org/officeDocument/2006/relationships/slideLayout" Target="../slideLayouts/slideLayout35.xml"/><Relationship Id="rId4" Type="http://schemas.openxmlformats.org/officeDocument/2006/relationships/image" Target="../media/image282.png"/></Relationships>
</file>

<file path=ppt/slides/_rels/slide288.xml.rels><?xml version="1.0" encoding="UTF-8" standalone="yes"?>
<Relationships xmlns="http://schemas.openxmlformats.org/package/2006/relationships"><Relationship Id="rId3" Type="http://schemas.openxmlformats.org/officeDocument/2006/relationships/image" Target="../media/image277.png"/><Relationship Id="rId2" Type="http://schemas.openxmlformats.org/officeDocument/2006/relationships/image" Target="../media/image2760.png"/><Relationship Id="rId1" Type="http://schemas.openxmlformats.org/officeDocument/2006/relationships/slideLayout" Target="../slideLayouts/slideLayout35.xml"/><Relationship Id="rId5" Type="http://schemas.openxmlformats.org/officeDocument/2006/relationships/image" Target="../media/image281.png"/><Relationship Id="rId4" Type="http://schemas.openxmlformats.org/officeDocument/2006/relationships/image" Target="../media/image278.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0.xml.rels><?xml version="1.0" encoding="UTF-8" standalone="yes"?>
<Relationships xmlns="http://schemas.openxmlformats.org/package/2006/relationships"><Relationship Id="rId2" Type="http://schemas.openxmlformats.org/officeDocument/2006/relationships/image" Target="../media/image287.png"/><Relationship Id="rId1" Type="http://schemas.openxmlformats.org/officeDocument/2006/relationships/slideLayout" Target="../slideLayouts/slideLayout35.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2.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image" Target="../media/image288.png"/><Relationship Id="rId1" Type="http://schemas.openxmlformats.org/officeDocument/2006/relationships/slideLayout" Target="../slideLayouts/slideLayout35.xml"/><Relationship Id="rId4" Type="http://schemas.openxmlformats.org/officeDocument/2006/relationships/image" Target="../media/image290.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5.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image" Target="../media/image291.png"/><Relationship Id="rId1" Type="http://schemas.openxmlformats.org/officeDocument/2006/relationships/slideLayout" Target="../slideLayouts/slideLayout35.xml"/></Relationships>
</file>

<file path=ppt/slides/_rels/slide296.xml.rels><?xml version="1.0" encoding="UTF-8" standalone="yes"?>
<Relationships xmlns="http://schemas.openxmlformats.org/package/2006/relationships"><Relationship Id="rId2" Type="http://schemas.openxmlformats.org/officeDocument/2006/relationships/image" Target="../media/image293.png"/><Relationship Id="rId1" Type="http://schemas.openxmlformats.org/officeDocument/2006/relationships/slideLayout" Target="../slideLayouts/slideLayout35.xml"/></Relationships>
</file>

<file path=ppt/slides/_rels/slide297.xml.rels><?xml version="1.0" encoding="UTF-8" standalone="yes"?>
<Relationships xmlns="http://schemas.openxmlformats.org/package/2006/relationships"><Relationship Id="rId3" Type="http://schemas.openxmlformats.org/officeDocument/2006/relationships/image" Target="../media/image284.png"/><Relationship Id="rId2" Type="http://schemas.openxmlformats.org/officeDocument/2006/relationships/image" Target="../media/image294.png"/><Relationship Id="rId1" Type="http://schemas.openxmlformats.org/officeDocument/2006/relationships/slideLayout" Target="../slideLayouts/slideLayout35.xml"/></Relationships>
</file>

<file path=ppt/slides/_rels/slide298.xml.rels><?xml version="1.0" encoding="UTF-8" standalone="yes"?>
<Relationships xmlns="http://schemas.openxmlformats.org/package/2006/relationships"><Relationship Id="rId3" Type="http://schemas.openxmlformats.org/officeDocument/2006/relationships/image" Target="../media/image285.png"/><Relationship Id="rId2" Type="http://schemas.openxmlformats.org/officeDocument/2006/relationships/image" Target="../media/image296.png"/><Relationship Id="rId1" Type="http://schemas.openxmlformats.org/officeDocument/2006/relationships/slideLayout" Target="../slideLayouts/slideLayout35.xml"/></Relationships>
</file>

<file path=ppt/slides/_rels/slide299.xml.rels><?xml version="1.0" encoding="UTF-8" standalone="yes"?>
<Relationships xmlns="http://schemas.openxmlformats.org/package/2006/relationships"><Relationship Id="rId3" Type="http://schemas.openxmlformats.org/officeDocument/2006/relationships/image" Target="../media/image286.png"/><Relationship Id="rId2" Type="http://schemas.openxmlformats.org/officeDocument/2006/relationships/image" Target="../media/image298.png"/><Relationship Id="rId1" Type="http://schemas.openxmlformats.org/officeDocument/2006/relationships/slideLayout" Target="../slideLayouts/slideLayout35.xml"/></Relationships>
</file>

<file path=ppt/slides/_rels/slide300.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image" Target="../media/image300.png"/><Relationship Id="rId1" Type="http://schemas.openxmlformats.org/officeDocument/2006/relationships/slideLayout" Target="../slideLayouts/slideLayout35.xml"/><Relationship Id="rId4" Type="http://schemas.openxmlformats.org/officeDocument/2006/relationships/image" Target="../media/image295.png"/></Relationships>
</file>

<file path=ppt/slides/_rels/slide301.xml.rels><?xml version="1.0" encoding="UTF-8" standalone="yes"?>
<Relationships xmlns="http://schemas.openxmlformats.org/package/2006/relationships"><Relationship Id="rId3" Type="http://schemas.openxmlformats.org/officeDocument/2006/relationships/image" Target="../media/image304.png"/><Relationship Id="rId2" Type="http://schemas.openxmlformats.org/officeDocument/2006/relationships/image" Target="../media/image297.png"/><Relationship Id="rId1" Type="http://schemas.openxmlformats.org/officeDocument/2006/relationships/slideLayout" Target="../slideLayouts/slideLayout35.xml"/><Relationship Id="rId4" Type="http://schemas.openxmlformats.org/officeDocument/2006/relationships/image" Target="../media/image299.png"/></Relationships>
</file>

<file path=ppt/slides/_rels/slide302.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306.png"/><Relationship Id="rId1" Type="http://schemas.openxmlformats.org/officeDocument/2006/relationships/slideLayout" Target="../slideLayouts/slideLayout35.xml"/><Relationship Id="rId4" Type="http://schemas.openxmlformats.org/officeDocument/2006/relationships/image" Target="../media/image302.png"/></Relationships>
</file>

<file path=ppt/slides/_rels/slide303.xml.rels><?xml version="1.0" encoding="UTF-8" standalone="yes"?>
<Relationships xmlns="http://schemas.openxmlformats.org/package/2006/relationships"><Relationship Id="rId3" Type="http://schemas.openxmlformats.org/officeDocument/2006/relationships/image" Target="../media/image305.png"/><Relationship Id="rId2" Type="http://schemas.openxmlformats.org/officeDocument/2006/relationships/image" Target="../media/image303.png"/><Relationship Id="rId1" Type="http://schemas.openxmlformats.org/officeDocument/2006/relationships/slideLayout" Target="../slideLayouts/slideLayout35.xml"/></Relationships>
</file>

<file path=ppt/slides/_rels/slide304.xml.rels><?xml version="1.0" encoding="UTF-8" standalone="yes"?>
<Relationships xmlns="http://schemas.openxmlformats.org/package/2006/relationships"><Relationship Id="rId2" Type="http://schemas.openxmlformats.org/officeDocument/2006/relationships/image" Target="../media/image307.png"/><Relationship Id="rId1" Type="http://schemas.openxmlformats.org/officeDocument/2006/relationships/slideLayout" Target="../slideLayouts/slideLayout35.xml"/></Relationships>
</file>

<file path=ppt/slides/_rels/slide305.xml.rels><?xml version="1.0" encoding="UTF-8" standalone="yes"?>
<Relationships xmlns="http://schemas.openxmlformats.org/package/2006/relationships"><Relationship Id="rId2" Type="http://schemas.openxmlformats.org/officeDocument/2006/relationships/image" Target="../media/image308.png"/><Relationship Id="rId1" Type="http://schemas.openxmlformats.org/officeDocument/2006/relationships/slideLayout" Target="../slideLayouts/slideLayout35.xml"/></Relationships>
</file>

<file path=ppt/slides/_rels/slide306.xml.rels><?xml version="1.0" encoding="UTF-8" standalone="yes"?>
<Relationships xmlns="http://schemas.openxmlformats.org/package/2006/relationships"><Relationship Id="rId2" Type="http://schemas.openxmlformats.org/officeDocument/2006/relationships/image" Target="../media/image309.png"/><Relationship Id="rId1" Type="http://schemas.openxmlformats.org/officeDocument/2006/relationships/slideLayout" Target="../slideLayouts/slideLayout35.xml"/></Relationships>
</file>

<file path=ppt/slides/_rels/slide307.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14.png"/><Relationship Id="rId1" Type="http://schemas.openxmlformats.org/officeDocument/2006/relationships/slideLayout" Target="../slideLayouts/slideLayout35.xml"/></Relationships>
</file>

<file path=ppt/slides/_rels/slide308.xml.rels><?xml version="1.0" encoding="UTF-8" standalone="yes"?>
<Relationships xmlns="http://schemas.openxmlformats.org/package/2006/relationships"><Relationship Id="rId2" Type="http://schemas.openxmlformats.org/officeDocument/2006/relationships/image" Target="../media/image316.png"/><Relationship Id="rId1" Type="http://schemas.openxmlformats.org/officeDocument/2006/relationships/slideLayout" Target="../slideLayouts/slideLayout35.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0.xml.rels><?xml version="1.0" encoding="UTF-8" standalone="yes"?>
<Relationships xmlns="http://schemas.openxmlformats.org/package/2006/relationships"><Relationship Id="rId2" Type="http://schemas.openxmlformats.org/officeDocument/2006/relationships/image" Target="../media/image317.png"/><Relationship Id="rId1" Type="http://schemas.openxmlformats.org/officeDocument/2006/relationships/slideLayout" Target="../slideLayouts/slideLayout35.xml"/></Relationships>
</file>

<file path=ppt/slides/_rels/slide311.xml.rels><?xml version="1.0" encoding="UTF-8" standalone="yes"?>
<Relationships xmlns="http://schemas.openxmlformats.org/package/2006/relationships"><Relationship Id="rId2" Type="http://schemas.openxmlformats.org/officeDocument/2006/relationships/image" Target="../media/image318.png"/><Relationship Id="rId1" Type="http://schemas.openxmlformats.org/officeDocument/2006/relationships/slideLayout" Target="../slideLayouts/slideLayout35.xml"/></Relationships>
</file>

<file path=ppt/slides/_rels/slide312.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image" Target="../media/image319.png"/><Relationship Id="rId1" Type="http://schemas.openxmlformats.org/officeDocument/2006/relationships/slideLayout" Target="../slideLayouts/slideLayout35.xml"/><Relationship Id="rId4" Type="http://schemas.openxmlformats.org/officeDocument/2006/relationships/image" Target="../media/image321.png"/></Relationships>
</file>

<file path=ppt/slides/_rels/slide313.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image" Target="../media/image322.png"/><Relationship Id="rId1" Type="http://schemas.openxmlformats.org/officeDocument/2006/relationships/slideLayout" Target="../slideLayouts/slideLayout35.xml"/><Relationship Id="rId6" Type="http://schemas.openxmlformats.org/officeDocument/2006/relationships/image" Target="../media/image315.png"/><Relationship Id="rId5" Type="http://schemas.openxmlformats.org/officeDocument/2006/relationships/image" Target="../media/image325.png"/><Relationship Id="rId4" Type="http://schemas.openxmlformats.org/officeDocument/2006/relationships/image" Target="../media/image313.png"/></Relationships>
</file>

<file path=ppt/slides/_rels/slide314.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27.png"/><Relationship Id="rId1" Type="http://schemas.openxmlformats.org/officeDocument/2006/relationships/slideLayout" Target="../slideLayouts/slideLayout35.xml"/><Relationship Id="rId5" Type="http://schemas.openxmlformats.org/officeDocument/2006/relationships/image" Target="../media/image323.png"/><Relationship Id="rId4" Type="http://schemas.openxmlformats.org/officeDocument/2006/relationships/image" Target="../media/image329.png"/></Relationships>
</file>

<file path=ppt/slides/_rels/slide315.xml.rels><?xml version="1.0" encoding="UTF-8" standalone="yes"?>
<Relationships xmlns="http://schemas.openxmlformats.org/package/2006/relationships"><Relationship Id="rId3" Type="http://schemas.openxmlformats.org/officeDocument/2006/relationships/image" Target="../media/image324.png"/><Relationship Id="rId2" Type="http://schemas.openxmlformats.org/officeDocument/2006/relationships/image" Target="../media/image331.png"/><Relationship Id="rId1" Type="http://schemas.openxmlformats.org/officeDocument/2006/relationships/slideLayout" Target="../slideLayouts/slideLayout35.xml"/><Relationship Id="rId5" Type="http://schemas.openxmlformats.org/officeDocument/2006/relationships/image" Target="../media/image326.png"/><Relationship Id="rId4" Type="http://schemas.openxmlformats.org/officeDocument/2006/relationships/image" Target="../media/image333.png"/></Relationships>
</file>

<file path=ppt/slides/_rels/slide316.xml.rels><?xml version="1.0" encoding="UTF-8" standalone="yes"?>
<Relationships xmlns="http://schemas.openxmlformats.org/package/2006/relationships"><Relationship Id="rId3" Type="http://schemas.openxmlformats.org/officeDocument/2006/relationships/image" Target="../media/image336.png"/><Relationship Id="rId2" Type="http://schemas.openxmlformats.org/officeDocument/2006/relationships/image" Target="../media/image335.png"/><Relationship Id="rId1" Type="http://schemas.openxmlformats.org/officeDocument/2006/relationships/slideLayout" Target="../slideLayouts/slideLayout35.xml"/></Relationships>
</file>

<file path=ppt/slides/_rels/slide317.xml.rels><?xml version="1.0" encoding="UTF-8" standalone="yes"?>
<Relationships xmlns="http://schemas.openxmlformats.org/package/2006/relationships"><Relationship Id="rId2" Type="http://schemas.openxmlformats.org/officeDocument/2006/relationships/image" Target="../media/image337.png"/><Relationship Id="rId1" Type="http://schemas.openxmlformats.org/officeDocument/2006/relationships/slideLayout" Target="../slideLayouts/slideLayout35.xml"/></Relationships>
</file>

<file path=ppt/slides/_rels/slide318.xml.rels><?xml version="1.0" encoding="UTF-8" standalone="yes"?>
<Relationships xmlns="http://schemas.openxmlformats.org/package/2006/relationships"><Relationship Id="rId2" Type="http://schemas.openxmlformats.org/officeDocument/2006/relationships/image" Target="../media/image338.png"/><Relationship Id="rId1" Type="http://schemas.openxmlformats.org/officeDocument/2006/relationships/slideLayout" Target="../slideLayouts/slideLayout35.xml"/></Relationships>
</file>

<file path=ppt/slides/_rels/slide319.xml.rels><?xml version="1.0" encoding="UTF-8" standalone="yes"?>
<Relationships xmlns="http://schemas.openxmlformats.org/package/2006/relationships"><Relationship Id="rId2" Type="http://schemas.openxmlformats.org/officeDocument/2006/relationships/image" Target="../media/image339.png"/><Relationship Id="rId1" Type="http://schemas.openxmlformats.org/officeDocument/2006/relationships/slideLayout" Target="../slideLayouts/slideLayout35.xml"/></Relationships>
</file>

<file path=ppt/slides/_rels/slide320.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35.xml"/></Relationships>
</file>

<file path=ppt/slides/_rels/slide321.xml.rels><?xml version="1.0" encoding="UTF-8" standalone="yes"?>
<Relationships xmlns="http://schemas.openxmlformats.org/package/2006/relationships"><Relationship Id="rId2" Type="http://schemas.openxmlformats.org/officeDocument/2006/relationships/image" Target="../media/image341.png"/><Relationship Id="rId1" Type="http://schemas.openxmlformats.org/officeDocument/2006/relationships/slideLayout" Target="../slideLayouts/slideLayout35.xml"/></Relationships>
</file>

<file path=ppt/slides/_rels/slide322.xml.rels><?xml version="1.0" encoding="UTF-8" standalone="yes"?>
<Relationships xmlns="http://schemas.openxmlformats.org/package/2006/relationships"><Relationship Id="rId2" Type="http://schemas.openxmlformats.org/officeDocument/2006/relationships/image" Target="../media/image328.png"/><Relationship Id="rId1" Type="http://schemas.openxmlformats.org/officeDocument/2006/relationships/slideLayout" Target="../slideLayouts/slideLayout35.xml"/></Relationships>
</file>

<file path=ppt/slides/_rels/slide323.xml.rels><?xml version="1.0" encoding="UTF-8" standalone="yes"?>
<Relationships xmlns="http://schemas.openxmlformats.org/package/2006/relationships"><Relationship Id="rId3" Type="http://schemas.openxmlformats.org/officeDocument/2006/relationships/image" Target="../media/image332.png"/><Relationship Id="rId2" Type="http://schemas.openxmlformats.org/officeDocument/2006/relationships/image" Target="../media/image330.png"/><Relationship Id="rId1" Type="http://schemas.openxmlformats.org/officeDocument/2006/relationships/slideLayout" Target="../slideLayouts/slideLayout35.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5.xml.rels><?xml version="1.0" encoding="UTF-8" standalone="yes"?>
<Relationships xmlns="http://schemas.openxmlformats.org/package/2006/relationships"><Relationship Id="rId2" Type="http://schemas.openxmlformats.org/officeDocument/2006/relationships/image" Target="../media/image334.png"/><Relationship Id="rId1" Type="http://schemas.openxmlformats.org/officeDocument/2006/relationships/slideLayout" Target="../slideLayouts/slideLayout35.xml"/></Relationships>
</file>

<file path=ppt/slides/_rels/slide326.xml.rels><?xml version="1.0" encoding="UTF-8" standalone="yes"?>
<Relationships xmlns="http://schemas.openxmlformats.org/package/2006/relationships"><Relationship Id="rId3" Type="http://schemas.openxmlformats.org/officeDocument/2006/relationships/image" Target="../media/image342.png"/><Relationship Id="rId2" Type="http://schemas.openxmlformats.org/officeDocument/2006/relationships/notesSlide" Target="../notesSlides/notesSlide57.xml"/><Relationship Id="rId1" Type="http://schemas.openxmlformats.org/officeDocument/2006/relationships/slideLayout" Target="../slideLayouts/slideLayout35.xml"/><Relationship Id="rId4" Type="http://schemas.openxmlformats.org/officeDocument/2006/relationships/image" Target="../media/image343.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2.xml"/></Relationships>
</file>

<file path=ppt/slides/_rels/slide33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5.xml"/></Relationships>
</file>

<file path=ppt/slides/_rels/slide33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5.xml"/></Relationships>
</file>

<file path=ppt/slides/_rels/slide333.xml.rels><?xml version="1.0" encoding="UTF-8" standalone="yes"?>
<Relationships xmlns="http://schemas.openxmlformats.org/package/2006/relationships"><Relationship Id="rId8" Type="http://schemas.openxmlformats.org/officeDocument/2006/relationships/tags" Target="../tags/tag220.xml"/><Relationship Id="rId13" Type="http://schemas.openxmlformats.org/officeDocument/2006/relationships/slideLayout" Target="../slideLayouts/slideLayout35.xml"/><Relationship Id="rId3" Type="http://schemas.openxmlformats.org/officeDocument/2006/relationships/tags" Target="../tags/tag215.xml"/><Relationship Id="rId7" Type="http://schemas.openxmlformats.org/officeDocument/2006/relationships/tags" Target="../tags/tag219.xml"/><Relationship Id="rId12" Type="http://schemas.openxmlformats.org/officeDocument/2006/relationships/tags" Target="../tags/tag224.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tags" Target="../tags/tag218.xml"/><Relationship Id="rId11" Type="http://schemas.openxmlformats.org/officeDocument/2006/relationships/tags" Target="../tags/tag223.xml"/><Relationship Id="rId5" Type="http://schemas.openxmlformats.org/officeDocument/2006/relationships/tags" Target="../tags/tag217.xml"/><Relationship Id="rId10" Type="http://schemas.openxmlformats.org/officeDocument/2006/relationships/tags" Target="../tags/tag222.xml"/><Relationship Id="rId4" Type="http://schemas.openxmlformats.org/officeDocument/2006/relationships/tags" Target="../tags/tag216.xml"/><Relationship Id="rId9" Type="http://schemas.openxmlformats.org/officeDocument/2006/relationships/tags" Target="../tags/tag221.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5.xml.rels><?xml version="1.0" encoding="UTF-8" standalone="yes"?>
<Relationships xmlns="http://schemas.openxmlformats.org/package/2006/relationships"><Relationship Id="rId2" Type="http://schemas.openxmlformats.org/officeDocument/2006/relationships/image" Target="../media/image344.png"/><Relationship Id="rId1" Type="http://schemas.openxmlformats.org/officeDocument/2006/relationships/slideLayout" Target="../slideLayouts/slideLayout35.xml"/></Relationships>
</file>

<file path=ppt/slides/_rels/slide336.xml.rels><?xml version="1.0" encoding="UTF-8" standalone="yes"?>
<Relationships xmlns="http://schemas.openxmlformats.org/package/2006/relationships"><Relationship Id="rId3" Type="http://schemas.openxmlformats.org/officeDocument/2006/relationships/image" Target="../media/image346.png"/><Relationship Id="rId2" Type="http://schemas.openxmlformats.org/officeDocument/2006/relationships/image" Target="../media/image345.png"/><Relationship Id="rId1" Type="http://schemas.openxmlformats.org/officeDocument/2006/relationships/slideLayout" Target="../slideLayouts/slideLayout35.xml"/></Relationships>
</file>

<file path=ppt/slides/_rels/slide337.xml.rels><?xml version="1.0" encoding="UTF-8" standalone="yes"?>
<Relationships xmlns="http://schemas.openxmlformats.org/package/2006/relationships"><Relationship Id="rId2" Type="http://schemas.openxmlformats.org/officeDocument/2006/relationships/image" Target="../media/image347.png"/><Relationship Id="rId1" Type="http://schemas.openxmlformats.org/officeDocument/2006/relationships/slideLayout" Target="../slideLayouts/slideLayout35.xml"/></Relationships>
</file>

<file path=ppt/slides/_rels/slide338.xml.rels><?xml version="1.0" encoding="UTF-8" standalone="yes"?>
<Relationships xmlns="http://schemas.openxmlformats.org/package/2006/relationships"><Relationship Id="rId3" Type="http://schemas.openxmlformats.org/officeDocument/2006/relationships/image" Target="../media/image349.png"/><Relationship Id="rId2" Type="http://schemas.openxmlformats.org/officeDocument/2006/relationships/image" Target="../media/image348.png"/><Relationship Id="rId1" Type="http://schemas.openxmlformats.org/officeDocument/2006/relationships/slideLayout" Target="../slideLayouts/slideLayout35.xml"/><Relationship Id="rId5" Type="http://schemas.openxmlformats.org/officeDocument/2006/relationships/image" Target="../media/image351.png"/><Relationship Id="rId4" Type="http://schemas.openxmlformats.org/officeDocument/2006/relationships/image" Target="../media/image350.png"/></Relationships>
</file>

<file path=ppt/slides/_rels/slide339.xml.rels><?xml version="1.0" encoding="UTF-8" standalone="yes"?>
<Relationships xmlns="http://schemas.openxmlformats.org/package/2006/relationships"><Relationship Id="rId2" Type="http://schemas.openxmlformats.org/officeDocument/2006/relationships/image" Target="../media/image352.png"/><Relationship Id="rId1" Type="http://schemas.openxmlformats.org/officeDocument/2006/relationships/slideLayout" Target="../slideLayouts/slideLayout35.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1.xml.rels><?xml version="1.0" encoding="UTF-8" standalone="yes"?>
<Relationships xmlns="http://schemas.openxmlformats.org/package/2006/relationships"><Relationship Id="rId3" Type="http://schemas.openxmlformats.org/officeDocument/2006/relationships/image" Target="../media/image354.png"/><Relationship Id="rId2" Type="http://schemas.openxmlformats.org/officeDocument/2006/relationships/image" Target="../media/image353.png"/><Relationship Id="rId1" Type="http://schemas.openxmlformats.org/officeDocument/2006/relationships/slideLayout" Target="../slideLayouts/slideLayout35.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4.xml.rels><?xml version="1.0" encoding="UTF-8" standalone="yes"?>
<Relationships xmlns="http://schemas.openxmlformats.org/package/2006/relationships"><Relationship Id="rId2" Type="http://schemas.openxmlformats.org/officeDocument/2006/relationships/image" Target="../media/image355.png"/><Relationship Id="rId1" Type="http://schemas.openxmlformats.org/officeDocument/2006/relationships/slideLayout" Target="../slideLayouts/slideLayout35.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5.xml"/></Relationships>
</file>

<file path=ppt/slides/_rels/slide347.xml.rels><?xml version="1.0" encoding="UTF-8" standalone="yes"?>
<Relationships xmlns="http://schemas.openxmlformats.org/package/2006/relationships"><Relationship Id="rId2" Type="http://schemas.openxmlformats.org/officeDocument/2006/relationships/image" Target="../media/image356.png"/><Relationship Id="rId1" Type="http://schemas.openxmlformats.org/officeDocument/2006/relationships/slideLayout" Target="../slideLayouts/slideLayout35.xml"/></Relationships>
</file>

<file path=ppt/slides/_rels/slide348.xml.rels><?xml version="1.0" encoding="UTF-8" standalone="yes"?>
<Relationships xmlns="http://schemas.openxmlformats.org/package/2006/relationships"><Relationship Id="rId3" Type="http://schemas.openxmlformats.org/officeDocument/2006/relationships/image" Target="../media/image358.png"/><Relationship Id="rId2" Type="http://schemas.openxmlformats.org/officeDocument/2006/relationships/image" Target="../media/image357.png"/><Relationship Id="rId1" Type="http://schemas.openxmlformats.org/officeDocument/2006/relationships/slideLayout" Target="../slideLayouts/slideLayout35.xml"/></Relationships>
</file>

<file path=ppt/slides/_rels/slide349.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59.png"/><Relationship Id="rId1" Type="http://schemas.openxmlformats.org/officeDocument/2006/relationships/slideLayout" Target="../slideLayouts/slideLayout35.xml"/><Relationship Id="rId6" Type="http://schemas.openxmlformats.org/officeDocument/2006/relationships/image" Target="../media/image363.png"/><Relationship Id="rId5" Type="http://schemas.openxmlformats.org/officeDocument/2006/relationships/image" Target="../media/image362.png"/><Relationship Id="rId4" Type="http://schemas.openxmlformats.org/officeDocument/2006/relationships/image" Target="../media/image361.png"/></Relationships>
</file>

<file path=ppt/slides/_rels/slide350.xml.rels><?xml version="1.0" encoding="UTF-8" standalone="yes"?>
<Relationships xmlns="http://schemas.openxmlformats.org/package/2006/relationships"><Relationship Id="rId2" Type="http://schemas.openxmlformats.org/officeDocument/2006/relationships/image" Target="../media/image364.png"/><Relationship Id="rId1" Type="http://schemas.openxmlformats.org/officeDocument/2006/relationships/slideLayout" Target="../slideLayouts/slideLayout35.xml"/></Relationships>
</file>

<file path=ppt/slides/_rels/slide351.xml.rels><?xml version="1.0" encoding="UTF-8" standalone="yes"?>
<Relationships xmlns="http://schemas.openxmlformats.org/package/2006/relationships"><Relationship Id="rId2" Type="http://schemas.openxmlformats.org/officeDocument/2006/relationships/image" Target="../media/image372.png"/><Relationship Id="rId1" Type="http://schemas.openxmlformats.org/officeDocument/2006/relationships/slideLayout" Target="../slideLayouts/slideLayout35.xml"/></Relationships>
</file>

<file path=ppt/slides/_rels/slide352.xml.rels><?xml version="1.0" encoding="UTF-8" standalone="yes"?>
<Relationships xmlns="http://schemas.openxmlformats.org/package/2006/relationships"><Relationship Id="rId2" Type="http://schemas.openxmlformats.org/officeDocument/2006/relationships/image" Target="../media/image364.jpeg"/><Relationship Id="rId1" Type="http://schemas.openxmlformats.org/officeDocument/2006/relationships/slideLayout" Target="../slideLayouts/slideLayout35.xml"/></Relationships>
</file>

<file path=ppt/slides/_rels/slide35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5.xml"/></Relationships>
</file>

<file path=ppt/slides/_rels/slide35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5.xml"/></Relationships>
</file>

<file path=ppt/slides/_rels/slide35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5.xml"/></Relationships>
</file>

<file path=ppt/slides/_rels/slide356.xml.rels><?xml version="1.0" encoding="UTF-8" standalone="yes"?>
<Relationships xmlns="http://schemas.openxmlformats.org/package/2006/relationships"><Relationship Id="rId3" Type="http://schemas.openxmlformats.org/officeDocument/2006/relationships/image" Target="../media/image374.png"/><Relationship Id="rId2" Type="http://schemas.openxmlformats.org/officeDocument/2006/relationships/notesSlide" Target="../notesSlides/notesSlide65.xml"/><Relationship Id="rId1" Type="http://schemas.openxmlformats.org/officeDocument/2006/relationships/slideLayout" Target="../slideLayouts/slideLayout35.xml"/></Relationships>
</file>

<file path=ppt/slides/_rels/slide357.xml.rels><?xml version="1.0" encoding="UTF-8" standalone="yes"?>
<Relationships xmlns="http://schemas.openxmlformats.org/package/2006/relationships"><Relationship Id="rId3" Type="http://schemas.openxmlformats.org/officeDocument/2006/relationships/image" Target="../media/image375.png"/><Relationship Id="rId2" Type="http://schemas.openxmlformats.org/officeDocument/2006/relationships/notesSlide" Target="../notesSlides/notesSlide66.xml"/><Relationship Id="rId1" Type="http://schemas.openxmlformats.org/officeDocument/2006/relationships/slideLayout" Target="../slideLayouts/slideLayout35.xml"/></Relationships>
</file>

<file path=ppt/slides/_rels/slide358.xml.rels><?xml version="1.0" encoding="UTF-8" standalone="yes"?>
<Relationships xmlns="http://schemas.openxmlformats.org/package/2006/relationships"><Relationship Id="rId3" Type="http://schemas.openxmlformats.org/officeDocument/2006/relationships/image" Target="../media/image366.png"/><Relationship Id="rId2" Type="http://schemas.openxmlformats.org/officeDocument/2006/relationships/notesSlide" Target="../notesSlides/notesSlide67.xml"/><Relationship Id="rId1" Type="http://schemas.openxmlformats.org/officeDocument/2006/relationships/slideLayout" Target="../slideLayouts/slideLayout35.xml"/><Relationship Id="rId4" Type="http://schemas.openxmlformats.org/officeDocument/2006/relationships/image" Target="../media/image367.png"/></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0.xml.rels><?xml version="1.0" encoding="UTF-8" standalone="yes"?>
<Relationships xmlns="http://schemas.openxmlformats.org/package/2006/relationships"><Relationship Id="rId3" Type="http://schemas.openxmlformats.org/officeDocument/2006/relationships/image" Target="../media/image379.png"/><Relationship Id="rId2" Type="http://schemas.openxmlformats.org/officeDocument/2006/relationships/image" Target="../media/image365.png"/><Relationship Id="rId1" Type="http://schemas.openxmlformats.org/officeDocument/2006/relationships/slideLayout" Target="../slideLayouts/slideLayout35.xml"/></Relationships>
</file>

<file path=ppt/slides/_rels/slide361.xml.rels><?xml version="1.0" encoding="UTF-8" standalone="yes"?>
<Relationships xmlns="http://schemas.openxmlformats.org/package/2006/relationships"><Relationship Id="rId2" Type="http://schemas.openxmlformats.org/officeDocument/2006/relationships/image" Target="../media/image368.png"/><Relationship Id="rId1" Type="http://schemas.openxmlformats.org/officeDocument/2006/relationships/slideLayout" Target="../slideLayouts/slideLayout35.xml"/></Relationships>
</file>

<file path=ppt/slides/_rels/slide362.xml.rels><?xml version="1.0" encoding="UTF-8" standalone="yes"?>
<Relationships xmlns="http://schemas.openxmlformats.org/package/2006/relationships"><Relationship Id="rId2" Type="http://schemas.openxmlformats.org/officeDocument/2006/relationships/image" Target="../media/image369.png"/><Relationship Id="rId1" Type="http://schemas.openxmlformats.org/officeDocument/2006/relationships/slideLayout" Target="../slideLayouts/slideLayout35.xml"/></Relationships>
</file>

<file path=ppt/slides/_rels/slide363.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35.xml"/></Relationships>
</file>

<file path=ppt/slides/_rels/slide364.xml.rels><?xml version="1.0" encoding="UTF-8" standalone="yes"?>
<Relationships xmlns="http://schemas.openxmlformats.org/package/2006/relationships"><Relationship Id="rId2" Type="http://schemas.openxmlformats.org/officeDocument/2006/relationships/image" Target="../media/image371.png"/><Relationship Id="rId1" Type="http://schemas.openxmlformats.org/officeDocument/2006/relationships/slideLayout" Target="../slideLayouts/slideLayout35.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9.xml.rels><?xml version="1.0" encoding="UTF-8" standalone="yes"?>
<Relationships xmlns="http://schemas.openxmlformats.org/package/2006/relationships"><Relationship Id="rId2" Type="http://schemas.openxmlformats.org/officeDocument/2006/relationships/image" Target="../media/image373.png"/><Relationship Id="rId1" Type="http://schemas.openxmlformats.org/officeDocument/2006/relationships/slideLayout" Target="../slideLayouts/slideLayout35.xml"/></Relationships>
</file>

<file path=ppt/slides/_rels/slide370.xml.rels><?xml version="1.0" encoding="UTF-8" standalone="yes"?>
<Relationships xmlns="http://schemas.openxmlformats.org/package/2006/relationships"><Relationship Id="rId3" Type="http://schemas.openxmlformats.org/officeDocument/2006/relationships/image" Target="../media/image377.png"/><Relationship Id="rId2" Type="http://schemas.openxmlformats.org/officeDocument/2006/relationships/image" Target="../media/image376.png"/><Relationship Id="rId1" Type="http://schemas.openxmlformats.org/officeDocument/2006/relationships/slideLayout" Target="../slideLayouts/slideLayout35.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2.xml.rels><?xml version="1.0" encoding="UTF-8" standalone="yes"?>
<Relationships xmlns="http://schemas.openxmlformats.org/package/2006/relationships"><Relationship Id="rId3" Type="http://schemas.openxmlformats.org/officeDocument/2006/relationships/image" Target="../media/image378.png"/><Relationship Id="rId2" Type="http://schemas.openxmlformats.org/officeDocument/2006/relationships/image" Target="../media/image388.png"/><Relationship Id="rId1" Type="http://schemas.openxmlformats.org/officeDocument/2006/relationships/slideLayout" Target="../slideLayouts/slideLayout35.xml"/></Relationships>
</file>

<file path=ppt/slides/_rels/slide373.xml.rels><?xml version="1.0" encoding="UTF-8" standalone="yes"?>
<Relationships xmlns="http://schemas.openxmlformats.org/package/2006/relationships"><Relationship Id="rId3" Type="http://schemas.openxmlformats.org/officeDocument/2006/relationships/image" Target="../media/image378.png"/><Relationship Id="rId2" Type="http://schemas.openxmlformats.org/officeDocument/2006/relationships/image" Target="../media/image380.png"/><Relationship Id="rId1" Type="http://schemas.openxmlformats.org/officeDocument/2006/relationships/slideLayout" Target="../slideLayouts/slideLayout35.xml"/><Relationship Id="rId4" Type="http://schemas.openxmlformats.org/officeDocument/2006/relationships/image" Target="../media/image381.png"/></Relationships>
</file>

<file path=ppt/slides/_rels/slide374.xml.rels><?xml version="1.0" encoding="UTF-8" standalone="yes"?>
<Relationships xmlns="http://schemas.openxmlformats.org/package/2006/relationships"><Relationship Id="rId2" Type="http://schemas.openxmlformats.org/officeDocument/2006/relationships/image" Target="../media/image383.png"/><Relationship Id="rId1" Type="http://schemas.openxmlformats.org/officeDocument/2006/relationships/slideLayout" Target="../slideLayouts/slideLayout35.xml"/></Relationships>
</file>

<file path=ppt/slides/_rels/slide375.xml.rels><?xml version="1.0" encoding="UTF-8" standalone="yes"?>
<Relationships xmlns="http://schemas.openxmlformats.org/package/2006/relationships"><Relationship Id="rId2" Type="http://schemas.openxmlformats.org/officeDocument/2006/relationships/image" Target="../media/image382.png"/><Relationship Id="rId1" Type="http://schemas.openxmlformats.org/officeDocument/2006/relationships/slideLayout" Target="../slideLayouts/slideLayout35.xml"/></Relationships>
</file>

<file path=ppt/slides/_rels/slide376.xml.rels><?xml version="1.0" encoding="UTF-8" standalone="yes"?>
<Relationships xmlns="http://schemas.openxmlformats.org/package/2006/relationships"><Relationship Id="rId2" Type="http://schemas.openxmlformats.org/officeDocument/2006/relationships/image" Target="../media/image385.png"/><Relationship Id="rId1" Type="http://schemas.openxmlformats.org/officeDocument/2006/relationships/slideLayout" Target="../slideLayouts/slideLayout35.xml"/></Relationships>
</file>

<file path=ppt/slides/_rels/slide377.xml.rels><?xml version="1.0" encoding="UTF-8" standalone="yes"?>
<Relationships xmlns="http://schemas.openxmlformats.org/package/2006/relationships"><Relationship Id="rId2" Type="http://schemas.openxmlformats.org/officeDocument/2006/relationships/image" Target="../media/image384.png"/><Relationship Id="rId1" Type="http://schemas.openxmlformats.org/officeDocument/2006/relationships/slideLayout" Target="../slideLayouts/slideLayout35.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5.xml"/></Relationships>
</file>

<file path=ppt/slides/_rels/slide381.xml.rels><?xml version="1.0" encoding="UTF-8" standalone="yes"?>
<Relationships xmlns="http://schemas.openxmlformats.org/package/2006/relationships"><Relationship Id="rId2" Type="http://schemas.openxmlformats.org/officeDocument/2006/relationships/image" Target="../media/image386.png"/><Relationship Id="rId1" Type="http://schemas.openxmlformats.org/officeDocument/2006/relationships/slideLayout" Target="../slideLayouts/slideLayout35.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5.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7.xml.rels><?xml version="1.0" encoding="UTF-8" standalone="yes"?>
<Relationships xmlns="http://schemas.openxmlformats.org/package/2006/relationships"><Relationship Id="rId3" Type="http://schemas.openxmlformats.org/officeDocument/2006/relationships/image" Target="../media/image387.png"/><Relationship Id="rId2" Type="http://schemas.openxmlformats.org/officeDocument/2006/relationships/notesSlide" Target="../notesSlides/notesSlide70.xml"/><Relationship Id="rId1" Type="http://schemas.openxmlformats.org/officeDocument/2006/relationships/slideLayout" Target="../slideLayouts/slideLayout35.xml"/></Relationships>
</file>

<file path=ppt/slides/_rels/slide38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80" y="1264920"/>
            <a:ext cx="9799320" cy="1594485"/>
          </a:xfrm>
        </p:spPr>
        <p:txBody>
          <a:bodyPr>
            <a:normAutofit/>
          </a:bodyPr>
          <a:lstStyle/>
          <a:p>
            <a:r>
              <a:rPr lang="zh-CN" altLang="zh-CN" sz="4800"/>
              <a:t>第一章 信息论与编码理论概述</a:t>
            </a:r>
          </a:p>
        </p:txBody>
      </p:sp>
      <p:sp>
        <p:nvSpPr>
          <p:cNvPr id="3" name="副标题 2"/>
          <p:cNvSpPr>
            <a:spLocks noGrp="1"/>
          </p:cNvSpPr>
          <p:nvPr>
            <p:ph type="subTitle" idx="1"/>
            <p:custDataLst>
              <p:tags r:id="rId3"/>
            </p:custDataLst>
          </p:nvPr>
        </p:nvSpPr>
        <p:spPr>
          <a:xfrm>
            <a:off x="1198800" y="4138250"/>
            <a:ext cx="9799200" cy="1472400"/>
          </a:xfrm>
        </p:spPr>
        <p:txBody>
          <a:bodyPr/>
          <a:lstStyle/>
          <a:p>
            <a:r>
              <a:rPr lang="zh-CN" altLang="en-US"/>
              <a:t>李丽香</a:t>
            </a:r>
          </a:p>
          <a:p>
            <a:r>
              <a:rPr lang="zh-CN" altLang="en-US"/>
              <a:t>北京邮电大学网络空间安全学院</a:t>
            </a:r>
          </a:p>
        </p:txBody>
      </p:sp>
      <p:sp>
        <p:nvSpPr>
          <p:cNvPr id="5" name="文本框 4"/>
          <p:cNvSpPr txBox="1"/>
          <p:nvPr/>
        </p:nvSpPr>
        <p:spPr>
          <a:xfrm>
            <a:off x="680720" y="268605"/>
            <a:ext cx="3891915"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Arial"/>
                <a:ea typeface="微软雅黑"/>
                <a:cs typeface="+mn-cs"/>
              </a:rPr>
              <a:t>《信息论与编码》课程</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000" b="0" i="0" u="none" strike="noStrike" kern="1200" cap="none" spc="0" normalizeH="0" baseline="0" noProof="0" dirty="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编码机制</a:t>
            </a:r>
          </a:p>
        </p:txBody>
      </p:sp>
      <p:sp>
        <p:nvSpPr>
          <p:cNvPr id="3" name="内容占位符 2"/>
          <p:cNvSpPr>
            <a:spLocks noGrp="1"/>
          </p:cNvSpPr>
          <p:nvPr>
            <p:ph idx="1"/>
          </p:nvPr>
        </p:nvSpPr>
        <p:spPr>
          <a:xfrm>
            <a:off x="608330" y="1490345"/>
            <a:ext cx="10909300" cy="3456305"/>
          </a:xfrm>
        </p:spPr>
        <p:txBody>
          <a:bodyPr>
            <a:normAutofit/>
          </a:bodyPr>
          <a:lstStyle/>
          <a:p>
            <a:r>
              <a:rPr lang="zh-CN" sz="2400" b="1">
                <a:solidFill>
                  <a:schemeClr val="accent6">
                    <a:lumMod val="75000"/>
                  </a:schemeClr>
                </a:solidFill>
                <a:sym typeface="+mn-ea"/>
              </a:rPr>
              <a:t>编码</a:t>
            </a:r>
            <a:r>
              <a:rPr sz="2400"/>
              <a:t>：信息从一种形式或格式转换为另一种形式的过程</a:t>
            </a:r>
            <a:r>
              <a:rPr lang="zh-CN" sz="2400"/>
              <a:t>。</a:t>
            </a:r>
            <a:endParaRPr sz="2400"/>
          </a:p>
          <a:p>
            <a:r>
              <a:rPr lang="zh-CN" sz="2400" b="1">
                <a:solidFill>
                  <a:schemeClr val="accent6">
                    <a:lumMod val="75000"/>
                  </a:schemeClr>
                </a:solidFill>
              </a:rPr>
              <a:t>编码机制</a:t>
            </a:r>
            <a:r>
              <a:rPr sz="2400"/>
              <a:t>：用预先规定的方法将文字、数字或其它对象编成数码，或将信息、数据转换成规定的电脉冲信号</a:t>
            </a:r>
            <a:r>
              <a:rPr lang="zh-CN" sz="2400"/>
              <a:t>。</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信源编码</a:t>
            </a:r>
          </a:p>
        </p:txBody>
      </p:sp>
      <p:sp>
        <p:nvSpPr>
          <p:cNvPr id="3" name="内容占位符 2"/>
          <p:cNvSpPr>
            <a:spLocks noGrp="1"/>
          </p:cNvSpPr>
          <p:nvPr>
            <p:ph idx="1"/>
          </p:nvPr>
        </p:nvSpPr>
        <p:spPr>
          <a:xfrm>
            <a:off x="608330" y="1490345"/>
            <a:ext cx="10968990" cy="3176905"/>
          </a:xfrm>
        </p:spPr>
        <p:txBody>
          <a:bodyPr>
            <a:noAutofit/>
          </a:bodyPr>
          <a:lstStyle/>
          <a:p>
            <a:r>
              <a:rPr lang="zh-CN" sz="2400" b="1">
                <a:solidFill>
                  <a:schemeClr val="accent6">
                    <a:lumMod val="75000"/>
                  </a:schemeClr>
                </a:solidFill>
              </a:rPr>
              <a:t>目的</a:t>
            </a:r>
            <a:r>
              <a:rPr sz="2400"/>
              <a:t>：</a:t>
            </a:r>
            <a:r>
              <a:rPr lang="zh-CN" sz="2400"/>
              <a:t>提高通信的有效性，即以更少的符号来表示原始消息</a:t>
            </a:r>
          </a:p>
          <a:p>
            <a:r>
              <a:rPr lang="zh-CN" sz="2400" b="1">
                <a:solidFill>
                  <a:schemeClr val="accent6">
                    <a:lumMod val="75000"/>
                  </a:schemeClr>
                </a:solidFill>
              </a:rPr>
              <a:t>设计机制</a:t>
            </a:r>
            <a:r>
              <a:rPr lang="zh-CN" sz="2400"/>
              <a:t>：</a:t>
            </a:r>
            <a:r>
              <a:rPr sz="2400"/>
              <a:t>根据消息符号序列的统计特性来设计各种方法，把消息序列变换为较短的码字序列，同时又能保证无失真地恢复原来的消息序列</a:t>
            </a:r>
          </a:p>
          <a:p>
            <a:r>
              <a:rPr lang="zh-CN" sz="2400">
                <a:sym typeface="+mn-ea"/>
              </a:rPr>
              <a:t>简而言之，就是</a:t>
            </a:r>
            <a:r>
              <a:rPr sz="2400">
                <a:sym typeface="+mn-ea"/>
              </a:rPr>
              <a:t>通过减少消息符号序列中的冗余度，提高平均信息量</a:t>
            </a:r>
            <a:endParaRPr sz="2400"/>
          </a:p>
          <a:p>
            <a:r>
              <a:rPr lang="zh-CN" sz="2400"/>
              <a:t>信源编码就是通常所说的数据压缩</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随机错误</a:t>
            </a:r>
          </a:p>
        </p:txBody>
      </p:sp>
      <p:sp>
        <p:nvSpPr>
          <p:cNvPr id="3" name="内容占位符 2"/>
          <p:cNvSpPr>
            <a:spLocks noGrp="1"/>
          </p:cNvSpPr>
          <p:nvPr>
            <p:ph idx="1"/>
          </p:nvPr>
        </p:nvSpPr>
        <p:spPr>
          <a:xfrm>
            <a:off x="608330" y="1490345"/>
            <a:ext cx="10909300" cy="3456305"/>
          </a:xfrm>
        </p:spPr>
        <p:txBody>
          <a:bodyPr>
            <a:normAutofit/>
          </a:bodyPr>
          <a:lstStyle/>
          <a:p>
            <a:r>
              <a:rPr lang="zh-CN" sz="2400" b="1">
                <a:solidFill>
                  <a:schemeClr val="accent6">
                    <a:lumMod val="75000"/>
                  </a:schemeClr>
                </a:solidFill>
              </a:rPr>
              <a:t>随机错误</a:t>
            </a:r>
            <a:r>
              <a:rPr sz="2400"/>
              <a:t>：接收序列中的传输错误是随机出现的</a:t>
            </a:r>
            <a:r>
              <a:rPr lang="zh-CN" sz="2400"/>
              <a:t>。</a:t>
            </a:r>
            <a:endParaRPr sz="2400"/>
          </a:p>
          <a:p>
            <a:r>
              <a:rPr lang="zh-CN" sz="2400" b="1">
                <a:solidFill>
                  <a:schemeClr val="accent6">
                    <a:lumMod val="75000"/>
                  </a:schemeClr>
                </a:solidFill>
              </a:rPr>
              <a:t>随机错误信道</a:t>
            </a:r>
            <a:r>
              <a:rPr sz="2400"/>
              <a:t>：这样的信道称为随机错误信道</a:t>
            </a:r>
            <a:r>
              <a:rPr lang="zh-CN" sz="2400"/>
              <a:t>。</a:t>
            </a:r>
            <a:endParaRPr sz="2400"/>
          </a:p>
          <a:p>
            <a:r>
              <a:rPr sz="2400"/>
              <a:t>常见于无记忆信道中，因为噪声随机独立</a:t>
            </a:r>
            <a:r>
              <a:rPr lang="zh-CN" sz="2400"/>
              <a:t>地</a:t>
            </a:r>
            <a:r>
              <a:rPr sz="2400"/>
              <a:t>影响每个传输信号</a:t>
            </a:r>
            <a:r>
              <a:rPr lang="zh-CN" sz="2400"/>
              <a:t>。</a:t>
            </a:r>
            <a:endParaRPr sz="2400"/>
          </a:p>
          <a:p>
            <a:r>
              <a:rPr sz="2400"/>
              <a:t>深空通信和卫星通信信道都是典型的随机错误信道</a:t>
            </a:r>
            <a:r>
              <a:rPr lang="zh-CN" sz="2400"/>
              <a:t>。</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突发错误</a:t>
            </a:r>
          </a:p>
        </p:txBody>
      </p:sp>
      <p:sp>
        <p:nvSpPr>
          <p:cNvPr id="3" name="内容占位符 2"/>
          <p:cNvSpPr>
            <a:spLocks noGrp="1"/>
          </p:cNvSpPr>
          <p:nvPr>
            <p:ph idx="1"/>
          </p:nvPr>
        </p:nvSpPr>
        <p:spPr>
          <a:xfrm>
            <a:off x="608330" y="1490345"/>
            <a:ext cx="10968990" cy="4697095"/>
          </a:xfrm>
        </p:spPr>
        <p:txBody>
          <a:bodyPr>
            <a:noAutofit/>
          </a:bodyPr>
          <a:lstStyle/>
          <a:p>
            <a:r>
              <a:rPr sz="2000"/>
              <a:t>由于噪声和干扰或读写头接触不良所引起的错误，往往不是随机错误，而是成群成串出现的错误。</a:t>
            </a:r>
          </a:p>
          <a:p>
            <a:r>
              <a:rPr lang="zh-CN" sz="2000" b="1">
                <a:solidFill>
                  <a:schemeClr val="accent6">
                    <a:lumMod val="75000"/>
                  </a:schemeClr>
                </a:solidFill>
              </a:rPr>
              <a:t>突发错误</a:t>
            </a:r>
            <a:r>
              <a:rPr sz="2000"/>
              <a:t>：不同状态特性下，错误出现的概率不一样，这种错误为突发错误。</a:t>
            </a:r>
          </a:p>
          <a:p>
            <a:r>
              <a:rPr sz="2000"/>
              <a:t>突发错误的例子：无线通信(由多径传输引起的信号衰落造成的错误)，有线和电缆传输(开关脉冲和串话的影响)，磁带记录(涂层缺损和灰尘引起的带脱落)。</a:t>
            </a:r>
          </a:p>
          <a:p>
            <a:r>
              <a:rPr lang="zh-CN" sz="2000" b="1">
                <a:solidFill>
                  <a:schemeClr val="accent6">
                    <a:lumMod val="75000"/>
                  </a:schemeClr>
                </a:solidFill>
              </a:rPr>
              <a:t>突发错误信道</a:t>
            </a:r>
            <a:r>
              <a:rPr sz="2000"/>
              <a:t>：由于信道状态特性变化较大，进而有突发错误信道的概念。这种产生比较密集错误的信道称为突发错误信道或者有记忆信道。</a:t>
            </a:r>
          </a:p>
          <a:p>
            <a:r>
              <a:rPr sz="2000">
                <a:sym typeface="+mn-ea"/>
              </a:rPr>
              <a:t>突发错误常出现在有记忆信道中，此时噪声对各次传输的影响是彼此相关的。</a:t>
            </a:r>
            <a:endParaRPr sz="2000"/>
          </a:p>
          <a:p>
            <a:endParaRPr sz="200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纠错码</a:t>
            </a:r>
          </a:p>
        </p:txBody>
      </p:sp>
      <p:sp>
        <p:nvSpPr>
          <p:cNvPr id="3" name="内容占位符 2"/>
          <p:cNvSpPr>
            <a:spLocks noGrp="1"/>
          </p:cNvSpPr>
          <p:nvPr>
            <p:ph idx="1"/>
          </p:nvPr>
        </p:nvSpPr>
        <p:spPr>
          <a:xfrm>
            <a:off x="608330" y="1490345"/>
            <a:ext cx="10968990" cy="2973705"/>
          </a:xfrm>
        </p:spPr>
        <p:txBody>
          <a:bodyPr>
            <a:noAutofit/>
          </a:bodyPr>
          <a:lstStyle/>
          <a:p>
            <a:r>
              <a:rPr lang="zh-CN" sz="2400" b="1">
                <a:solidFill>
                  <a:schemeClr val="accent6">
                    <a:lumMod val="75000"/>
                  </a:schemeClr>
                </a:solidFill>
              </a:rPr>
              <a:t>目的</a:t>
            </a:r>
            <a:r>
              <a:rPr sz="2400"/>
              <a:t>：检测和纠正由于非人为(自然)因素引起的传输错误</a:t>
            </a:r>
            <a:r>
              <a:rPr lang="zh-CN" sz="2400"/>
              <a:t>。</a:t>
            </a:r>
          </a:p>
          <a:p>
            <a:r>
              <a:rPr lang="zh-CN" sz="2400"/>
              <a:t>即提高通信的可靠性</a:t>
            </a:r>
            <a:endParaRPr sz="2400"/>
          </a:p>
          <a:p>
            <a:r>
              <a:rPr sz="2400"/>
              <a:t>纠错编码主要用于实现信道纠错，又叫做信道编码或者差错控制编码</a:t>
            </a:r>
            <a:r>
              <a:rPr lang="zh-CN" sz="2400"/>
              <a:t>。</a:t>
            </a:r>
          </a:p>
          <a:p>
            <a:r>
              <a:rPr lang="zh-CN" sz="2400" b="1">
                <a:solidFill>
                  <a:schemeClr val="accent6">
                    <a:lumMod val="75000"/>
                  </a:schemeClr>
                </a:solidFill>
              </a:rPr>
              <a:t>设计机制</a:t>
            </a:r>
            <a:r>
              <a:rPr lang="zh-CN" sz="2400"/>
              <a:t>：通过对消息符号序列加入冗余信息，使得接收方收到信号后，可以通过这些冗余信息进行检错和纠错</a:t>
            </a:r>
          </a:p>
          <a:p>
            <a:r>
              <a:rPr lang="zh-CN" sz="2400"/>
              <a:t>本课程主要讲述各种纠错码</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纠错码的分类</a:t>
            </a:r>
          </a:p>
        </p:txBody>
      </p:sp>
      <p:sp>
        <p:nvSpPr>
          <p:cNvPr id="3" name="内容占位符 2"/>
          <p:cNvSpPr>
            <a:spLocks noGrp="1"/>
          </p:cNvSpPr>
          <p:nvPr>
            <p:ph idx="1"/>
          </p:nvPr>
        </p:nvSpPr>
        <p:spPr>
          <a:xfrm>
            <a:off x="608330" y="1490345"/>
            <a:ext cx="10909300" cy="3456305"/>
          </a:xfrm>
        </p:spPr>
        <p:txBody>
          <a:bodyPr>
            <a:normAutofit/>
          </a:bodyPr>
          <a:lstStyle/>
          <a:p>
            <a:r>
              <a:rPr lang="zh-CN" sz="2400" b="1">
                <a:solidFill>
                  <a:schemeClr val="accent6">
                    <a:lumMod val="75000"/>
                  </a:schemeClr>
                </a:solidFill>
                <a:sym typeface="+mn-ea"/>
              </a:rPr>
              <a:t>纠随机错误码</a:t>
            </a:r>
            <a:r>
              <a:rPr sz="2400">
                <a:sym typeface="+mn-ea"/>
              </a:rPr>
              <a:t>：为纠正随机错误而设计的码称为纠随机错误码</a:t>
            </a:r>
            <a:r>
              <a:rPr lang="zh-CN" sz="2400">
                <a:sym typeface="+mn-ea"/>
              </a:rPr>
              <a:t>。</a:t>
            </a:r>
          </a:p>
          <a:p>
            <a:r>
              <a:rPr lang="zh-CN" sz="2400" b="1">
                <a:solidFill>
                  <a:schemeClr val="accent6">
                    <a:lumMod val="75000"/>
                  </a:schemeClr>
                </a:solidFill>
                <a:sym typeface="+mn-ea"/>
              </a:rPr>
              <a:t>纠突发错误码</a:t>
            </a:r>
            <a:r>
              <a:rPr sz="2400">
                <a:sym typeface="+mn-ea"/>
              </a:rPr>
              <a:t>：为纠正突发错误而设计的码称为纠突发错误码。</a:t>
            </a:r>
            <a:endParaRPr lang="zh-CN" sz="240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数字通信系统模型</a:t>
            </a:r>
          </a:p>
        </p:txBody>
      </p:sp>
      <p:grpSp>
        <p:nvGrpSpPr>
          <p:cNvPr id="9220" name="组合 114828"/>
          <p:cNvGrpSpPr/>
          <p:nvPr/>
        </p:nvGrpSpPr>
        <p:grpSpPr>
          <a:xfrm>
            <a:off x="883285" y="2113598"/>
            <a:ext cx="7991475" cy="3887787"/>
            <a:chOff x="476" y="1253"/>
            <a:chExt cx="5034" cy="2449"/>
          </a:xfrm>
        </p:grpSpPr>
        <p:sp>
          <p:nvSpPr>
            <p:cNvPr id="9221" name="直接连接符 114814"/>
            <p:cNvSpPr/>
            <p:nvPr/>
          </p:nvSpPr>
          <p:spPr>
            <a:xfrm>
              <a:off x="3515" y="1434"/>
              <a:ext cx="45" cy="2268"/>
            </a:xfrm>
            <a:prstGeom prst="line">
              <a:avLst/>
            </a:prstGeom>
            <a:ln w="25400" cap="flat" cmpd="sng">
              <a:solidFill>
                <a:srgbClr val="000000"/>
              </a:solidFill>
              <a:prstDash val="dash"/>
              <a:round/>
              <a:headEnd type="none" w="med" len="med"/>
              <a:tailEnd type="none" w="med" len="med"/>
            </a:ln>
          </p:spPr>
        </p:sp>
        <p:sp>
          <p:nvSpPr>
            <p:cNvPr id="9222" name="椭圆 114736"/>
            <p:cNvSpPr/>
            <p:nvPr/>
          </p:nvSpPr>
          <p:spPr>
            <a:xfrm>
              <a:off x="476" y="1582"/>
              <a:ext cx="454" cy="363"/>
            </a:xfrm>
            <a:prstGeom prst="ellipse">
              <a:avLst/>
            </a:prstGeom>
            <a:solidFill>
              <a:srgbClr val="92D050"/>
            </a:solidFill>
            <a:ln w="9525" cap="flat" cmpd="sng">
              <a:solidFill>
                <a:schemeClr val="tx1"/>
              </a:solidFill>
              <a:prstDash val="solid"/>
              <a:round/>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223" name="文本框 114735"/>
            <p:cNvSpPr txBox="1"/>
            <p:nvPr/>
          </p:nvSpPr>
          <p:spPr>
            <a:xfrm>
              <a:off x="521" y="1673"/>
              <a:ext cx="408" cy="19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信 源</a:t>
              </a:r>
            </a:p>
          </p:txBody>
        </p:sp>
        <p:sp>
          <p:nvSpPr>
            <p:cNvPr id="9224" name="椭圆 114737"/>
            <p:cNvSpPr/>
            <p:nvPr/>
          </p:nvSpPr>
          <p:spPr>
            <a:xfrm>
              <a:off x="476" y="3169"/>
              <a:ext cx="454" cy="363"/>
            </a:xfrm>
            <a:prstGeom prst="ellipse">
              <a:avLst/>
            </a:prstGeom>
            <a:solidFill>
              <a:srgbClr val="92D050"/>
            </a:solidFill>
            <a:ln w="9525" cap="flat" cmpd="sng">
              <a:solidFill>
                <a:schemeClr val="tx1"/>
              </a:solidFill>
              <a:prstDash val="solid"/>
              <a:round/>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225" name="文本框 114738"/>
            <p:cNvSpPr txBox="1"/>
            <p:nvPr/>
          </p:nvSpPr>
          <p:spPr>
            <a:xfrm>
              <a:off x="521" y="3260"/>
              <a:ext cx="408" cy="19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信 宿</a:t>
              </a:r>
            </a:p>
          </p:txBody>
        </p:sp>
        <p:sp>
          <p:nvSpPr>
            <p:cNvPr id="9226" name="矩形 114739"/>
            <p:cNvSpPr/>
            <p:nvPr/>
          </p:nvSpPr>
          <p:spPr>
            <a:xfrm>
              <a:off x="1202" y="1537"/>
              <a:ext cx="998" cy="40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227" name="文本框 114740"/>
            <p:cNvSpPr txBox="1"/>
            <p:nvPr/>
          </p:nvSpPr>
          <p:spPr>
            <a:xfrm>
              <a:off x="1293" y="1650"/>
              <a:ext cx="817" cy="19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信 源 编 码 器</a:t>
              </a:r>
            </a:p>
          </p:txBody>
        </p:sp>
        <p:sp>
          <p:nvSpPr>
            <p:cNvPr id="9228" name="矩形 114741"/>
            <p:cNvSpPr/>
            <p:nvPr/>
          </p:nvSpPr>
          <p:spPr>
            <a:xfrm>
              <a:off x="2472" y="1537"/>
              <a:ext cx="998" cy="40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229" name="文本框 114742"/>
            <p:cNvSpPr txBox="1"/>
            <p:nvPr/>
          </p:nvSpPr>
          <p:spPr>
            <a:xfrm>
              <a:off x="2563" y="1649"/>
              <a:ext cx="817" cy="193"/>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信 道 编 码 器</a:t>
              </a:r>
            </a:p>
          </p:txBody>
        </p:sp>
        <p:sp>
          <p:nvSpPr>
            <p:cNvPr id="9230" name="矩形 114743"/>
            <p:cNvSpPr/>
            <p:nvPr/>
          </p:nvSpPr>
          <p:spPr>
            <a:xfrm>
              <a:off x="3742" y="1491"/>
              <a:ext cx="1044"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231" name="文本框 114744"/>
            <p:cNvSpPr txBox="1"/>
            <p:nvPr/>
          </p:nvSpPr>
          <p:spPr>
            <a:xfrm>
              <a:off x="3736" y="1537"/>
              <a:ext cx="1198" cy="397"/>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调 制 器</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（或  写 入 单 元）</a:t>
              </a:r>
            </a:p>
          </p:txBody>
        </p:sp>
        <p:sp>
          <p:nvSpPr>
            <p:cNvPr id="9232" name="矩形 114745"/>
            <p:cNvSpPr/>
            <p:nvPr/>
          </p:nvSpPr>
          <p:spPr>
            <a:xfrm>
              <a:off x="3742" y="2308"/>
              <a:ext cx="1044"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233" name="文本框 114746"/>
            <p:cNvSpPr txBox="1"/>
            <p:nvPr/>
          </p:nvSpPr>
          <p:spPr>
            <a:xfrm>
              <a:off x="3736" y="2354"/>
              <a:ext cx="1172" cy="397"/>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信 道</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（或  存 储 媒 质）</a:t>
              </a:r>
            </a:p>
          </p:txBody>
        </p:sp>
        <p:sp>
          <p:nvSpPr>
            <p:cNvPr id="9234" name="矩形 114747"/>
            <p:cNvSpPr/>
            <p:nvPr/>
          </p:nvSpPr>
          <p:spPr>
            <a:xfrm>
              <a:off x="3742" y="3124"/>
              <a:ext cx="1044"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235" name="文本框 114748"/>
            <p:cNvSpPr txBox="1"/>
            <p:nvPr/>
          </p:nvSpPr>
          <p:spPr>
            <a:xfrm>
              <a:off x="3736" y="3170"/>
              <a:ext cx="1173" cy="397"/>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解 调 器</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（或  读 出 单 元）</a:t>
              </a:r>
            </a:p>
          </p:txBody>
        </p:sp>
        <p:sp>
          <p:nvSpPr>
            <p:cNvPr id="9236" name="矩形 114749"/>
            <p:cNvSpPr/>
            <p:nvPr/>
          </p:nvSpPr>
          <p:spPr>
            <a:xfrm>
              <a:off x="1202" y="3169"/>
              <a:ext cx="998" cy="40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237" name="文本框 114750"/>
            <p:cNvSpPr txBox="1"/>
            <p:nvPr/>
          </p:nvSpPr>
          <p:spPr>
            <a:xfrm>
              <a:off x="1293" y="3288"/>
              <a:ext cx="817" cy="19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信 源 译 码 器</a:t>
              </a:r>
            </a:p>
          </p:txBody>
        </p:sp>
        <p:sp>
          <p:nvSpPr>
            <p:cNvPr id="9238" name="矩形 114751"/>
            <p:cNvSpPr/>
            <p:nvPr/>
          </p:nvSpPr>
          <p:spPr>
            <a:xfrm>
              <a:off x="2472" y="3169"/>
              <a:ext cx="998" cy="40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239" name="文本框 114752"/>
            <p:cNvSpPr txBox="1"/>
            <p:nvPr/>
          </p:nvSpPr>
          <p:spPr>
            <a:xfrm>
              <a:off x="2563" y="3288"/>
              <a:ext cx="817" cy="19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信 道 译 码 器</a:t>
              </a:r>
            </a:p>
          </p:txBody>
        </p:sp>
        <p:sp>
          <p:nvSpPr>
            <p:cNvPr id="9240" name="文本框 114753"/>
            <p:cNvSpPr txBox="1"/>
            <p:nvPr/>
          </p:nvSpPr>
          <p:spPr>
            <a:xfrm>
              <a:off x="5102" y="2489"/>
              <a:ext cx="408" cy="19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噪 声</a:t>
              </a:r>
            </a:p>
          </p:txBody>
        </p:sp>
        <p:sp>
          <p:nvSpPr>
            <p:cNvPr id="9241" name="直接连接符 114754"/>
            <p:cNvSpPr/>
            <p:nvPr/>
          </p:nvSpPr>
          <p:spPr>
            <a:xfrm>
              <a:off x="930" y="1764"/>
              <a:ext cx="273" cy="0"/>
            </a:xfrm>
            <a:prstGeom prst="line">
              <a:avLst/>
            </a:prstGeom>
            <a:ln w="9525" cap="flat" cmpd="sng">
              <a:solidFill>
                <a:schemeClr val="tx1"/>
              </a:solidFill>
              <a:prstDash val="solid"/>
              <a:round/>
              <a:headEnd type="none" w="med" len="med"/>
              <a:tailEnd type="triangle" w="med" len="med"/>
            </a:ln>
          </p:spPr>
        </p:sp>
        <p:sp>
          <p:nvSpPr>
            <p:cNvPr id="9242" name="直接连接符 114755"/>
            <p:cNvSpPr/>
            <p:nvPr/>
          </p:nvSpPr>
          <p:spPr>
            <a:xfrm>
              <a:off x="2200" y="1764"/>
              <a:ext cx="273" cy="0"/>
            </a:xfrm>
            <a:prstGeom prst="line">
              <a:avLst/>
            </a:prstGeom>
            <a:ln w="9525" cap="flat" cmpd="sng">
              <a:solidFill>
                <a:schemeClr val="tx1"/>
              </a:solidFill>
              <a:prstDash val="solid"/>
              <a:round/>
              <a:headEnd type="none" w="med" len="med"/>
              <a:tailEnd type="triangle" w="med" len="med"/>
            </a:ln>
          </p:spPr>
        </p:sp>
        <p:sp>
          <p:nvSpPr>
            <p:cNvPr id="9243" name="直接连接符 114756"/>
            <p:cNvSpPr/>
            <p:nvPr/>
          </p:nvSpPr>
          <p:spPr>
            <a:xfrm>
              <a:off x="3470" y="1764"/>
              <a:ext cx="273" cy="0"/>
            </a:xfrm>
            <a:prstGeom prst="line">
              <a:avLst/>
            </a:prstGeom>
            <a:ln w="9525" cap="flat" cmpd="sng">
              <a:solidFill>
                <a:schemeClr val="tx1"/>
              </a:solidFill>
              <a:prstDash val="solid"/>
              <a:round/>
              <a:headEnd type="none" w="med" len="med"/>
              <a:tailEnd type="triangle" w="med" len="med"/>
            </a:ln>
          </p:spPr>
        </p:sp>
        <p:sp>
          <p:nvSpPr>
            <p:cNvPr id="9244" name="直接连接符 114760"/>
            <p:cNvSpPr/>
            <p:nvPr/>
          </p:nvSpPr>
          <p:spPr>
            <a:xfrm>
              <a:off x="4241" y="1990"/>
              <a:ext cx="0" cy="318"/>
            </a:xfrm>
            <a:prstGeom prst="line">
              <a:avLst/>
            </a:prstGeom>
            <a:ln w="9525" cap="flat" cmpd="sng">
              <a:solidFill>
                <a:schemeClr val="tx1"/>
              </a:solidFill>
              <a:prstDash val="solid"/>
              <a:round/>
              <a:headEnd type="none" w="med" len="med"/>
              <a:tailEnd type="triangle" w="med" len="med"/>
            </a:ln>
          </p:spPr>
        </p:sp>
        <p:sp>
          <p:nvSpPr>
            <p:cNvPr id="9245" name="直接连接符 114761"/>
            <p:cNvSpPr/>
            <p:nvPr/>
          </p:nvSpPr>
          <p:spPr>
            <a:xfrm>
              <a:off x="4241" y="2806"/>
              <a:ext cx="0" cy="318"/>
            </a:xfrm>
            <a:prstGeom prst="line">
              <a:avLst/>
            </a:prstGeom>
            <a:ln w="9525" cap="flat" cmpd="sng">
              <a:solidFill>
                <a:schemeClr val="tx1"/>
              </a:solidFill>
              <a:prstDash val="solid"/>
              <a:round/>
              <a:headEnd type="none" w="med" len="med"/>
              <a:tailEnd type="triangle" w="med" len="med"/>
            </a:ln>
          </p:spPr>
        </p:sp>
        <p:sp>
          <p:nvSpPr>
            <p:cNvPr id="9246" name="文本框 114763"/>
            <p:cNvSpPr txBox="1"/>
            <p:nvPr/>
          </p:nvSpPr>
          <p:spPr>
            <a:xfrm>
              <a:off x="2200" y="1537"/>
              <a:ext cx="227" cy="231"/>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U</a:t>
              </a:r>
            </a:p>
          </p:txBody>
        </p:sp>
        <p:sp>
          <p:nvSpPr>
            <p:cNvPr id="9247" name="文本框 114764"/>
            <p:cNvSpPr txBox="1"/>
            <p:nvPr/>
          </p:nvSpPr>
          <p:spPr>
            <a:xfrm>
              <a:off x="2200" y="3154"/>
              <a:ext cx="227" cy="231"/>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V</a:t>
              </a:r>
            </a:p>
          </p:txBody>
        </p:sp>
        <p:sp>
          <p:nvSpPr>
            <p:cNvPr id="9248" name="文本框 114765"/>
            <p:cNvSpPr txBox="1"/>
            <p:nvPr/>
          </p:nvSpPr>
          <p:spPr>
            <a:xfrm>
              <a:off x="3515" y="1537"/>
              <a:ext cx="227" cy="231"/>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p>
          </p:txBody>
        </p:sp>
        <p:sp>
          <p:nvSpPr>
            <p:cNvPr id="9249" name="文本框 114766"/>
            <p:cNvSpPr txBox="1"/>
            <p:nvPr/>
          </p:nvSpPr>
          <p:spPr>
            <a:xfrm>
              <a:off x="3515" y="3154"/>
              <a:ext cx="227" cy="231"/>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Y</a:t>
              </a:r>
            </a:p>
          </p:txBody>
        </p:sp>
        <p:sp>
          <p:nvSpPr>
            <p:cNvPr id="9250" name="文本框 114767"/>
            <p:cNvSpPr txBox="1"/>
            <p:nvPr/>
          </p:nvSpPr>
          <p:spPr>
            <a:xfrm>
              <a:off x="4286" y="2031"/>
              <a:ext cx="363" cy="231"/>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en-US" altLang="zh-CN" sz="1800" b="0" i="0"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18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0"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9251" name="文本框 114768"/>
            <p:cNvSpPr txBox="1"/>
            <p:nvPr/>
          </p:nvSpPr>
          <p:spPr>
            <a:xfrm>
              <a:off x="4287" y="2848"/>
              <a:ext cx="362" cy="231"/>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y</a:t>
              </a:r>
              <a:r>
                <a:rPr kumimoji="0" lang="en-US" altLang="zh-CN" sz="1800" b="0" i="0"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18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0"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9252" name="文本框 114769"/>
            <p:cNvSpPr txBox="1"/>
            <p:nvPr/>
          </p:nvSpPr>
          <p:spPr>
            <a:xfrm>
              <a:off x="4785" y="2308"/>
              <a:ext cx="453" cy="231"/>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0" lang="en-US" altLang="zh-CN" sz="1800" b="0" i="0"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18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0"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9253" name="直接连接符 114816"/>
            <p:cNvSpPr/>
            <p:nvPr/>
          </p:nvSpPr>
          <p:spPr>
            <a:xfrm flipH="1">
              <a:off x="4785" y="2580"/>
              <a:ext cx="317" cy="0"/>
            </a:xfrm>
            <a:prstGeom prst="line">
              <a:avLst/>
            </a:prstGeom>
            <a:ln w="9525" cap="flat" cmpd="sng">
              <a:solidFill>
                <a:schemeClr val="tx1"/>
              </a:solidFill>
              <a:prstDash val="dash"/>
              <a:round/>
              <a:headEnd type="none" w="med" len="med"/>
              <a:tailEnd type="triangle" w="med" len="med"/>
            </a:ln>
          </p:spPr>
        </p:sp>
        <p:sp>
          <p:nvSpPr>
            <p:cNvPr id="9254" name="文本框 114817"/>
            <p:cNvSpPr txBox="1"/>
            <p:nvPr/>
          </p:nvSpPr>
          <p:spPr>
            <a:xfrm>
              <a:off x="3969" y="1253"/>
              <a:ext cx="408" cy="19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信  道</a:t>
              </a:r>
            </a:p>
          </p:txBody>
        </p:sp>
        <p:sp>
          <p:nvSpPr>
            <p:cNvPr id="9255" name="直接连接符 114824"/>
            <p:cNvSpPr/>
            <p:nvPr/>
          </p:nvSpPr>
          <p:spPr>
            <a:xfrm flipH="1">
              <a:off x="3470" y="3385"/>
              <a:ext cx="272" cy="0"/>
            </a:xfrm>
            <a:prstGeom prst="line">
              <a:avLst/>
            </a:prstGeom>
            <a:ln w="9525" cap="flat" cmpd="sng">
              <a:solidFill>
                <a:schemeClr val="tx1"/>
              </a:solidFill>
              <a:prstDash val="solid"/>
              <a:round/>
              <a:headEnd type="none" w="med" len="med"/>
              <a:tailEnd type="triangle" w="med" len="med"/>
            </a:ln>
          </p:spPr>
        </p:sp>
        <p:sp>
          <p:nvSpPr>
            <p:cNvPr id="9256" name="直接连接符 114825"/>
            <p:cNvSpPr/>
            <p:nvPr/>
          </p:nvSpPr>
          <p:spPr>
            <a:xfrm flipH="1">
              <a:off x="930" y="3385"/>
              <a:ext cx="272" cy="0"/>
            </a:xfrm>
            <a:prstGeom prst="line">
              <a:avLst/>
            </a:prstGeom>
            <a:ln w="9525" cap="flat" cmpd="sng">
              <a:solidFill>
                <a:schemeClr val="tx1"/>
              </a:solidFill>
              <a:prstDash val="solid"/>
              <a:round/>
              <a:headEnd type="none" w="med" len="med"/>
              <a:tailEnd type="triangle" w="med" len="med"/>
            </a:ln>
          </p:spPr>
        </p:sp>
        <p:sp>
          <p:nvSpPr>
            <p:cNvPr id="9257" name="直接连接符 114826"/>
            <p:cNvSpPr/>
            <p:nvPr/>
          </p:nvSpPr>
          <p:spPr>
            <a:xfrm flipH="1">
              <a:off x="2200" y="3385"/>
              <a:ext cx="272" cy="0"/>
            </a:xfrm>
            <a:prstGeom prst="line">
              <a:avLst/>
            </a:prstGeom>
            <a:ln w="9525" cap="flat" cmpd="sng">
              <a:solidFill>
                <a:schemeClr val="tx1"/>
              </a:solidFill>
              <a:prstDash val="solid"/>
              <a:round/>
              <a:headEnd type="none" w="med" len="med"/>
              <a:tailEnd type="triangle" w="med" len="med"/>
            </a:ln>
          </p:spPr>
        </p:sp>
      </p:grpSp>
      <p:sp>
        <p:nvSpPr>
          <p:cNvPr id="9219" name="文本框 114821"/>
          <p:cNvSpPr txBox="1"/>
          <p:nvPr/>
        </p:nvSpPr>
        <p:spPr>
          <a:xfrm>
            <a:off x="9173210" y="3115945"/>
            <a:ext cx="2190115" cy="193802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信道</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传输和存储有共同之处，两者都是将数据从信源传送到目的地。</a:t>
            </a:r>
            <a:endParaRPr kumimoji="0" lang="zh-CN" altLang="en-US" sz="2400" b="1" i="0" u="none" strike="noStrike" kern="1200" cap="none" spc="150" normalizeH="0" baseline="0" noProof="0" dirty="0">
              <a:ln>
                <a:noFill/>
              </a:ln>
              <a:solidFill>
                <a:srgbClr val="000000">
                  <a:lumMod val="65000"/>
                  <a:lumOff val="35000"/>
                </a:srgbClr>
              </a:solidFill>
              <a:effectLst/>
              <a:uLnTx/>
              <a:uFillTx/>
              <a:latin typeface="Arial" panose="020B0604020202020204" pitchFamily="34" charset="0"/>
              <a:ea typeface="黑体" panose="02010609060101010101" pitchFamily="49" charset="-122"/>
              <a:cs typeface="+mn-cs"/>
            </a:endParaRPr>
          </a:p>
        </p:txBody>
      </p:sp>
      <p:sp>
        <p:nvSpPr>
          <p:cNvPr id="13" name="文本框 114821"/>
          <p:cNvSpPr txBox="1"/>
          <p:nvPr/>
        </p:nvSpPr>
        <p:spPr>
          <a:xfrm>
            <a:off x="608965" y="1403985"/>
            <a:ext cx="11089005" cy="829945"/>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       </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所有的数字通信系统，如雷达、遥控遥测、数字存储系统、计算机等，都可以归结为</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下</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图所示的模型</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a:t>
            </a:r>
            <a:endParaRPr kumimoji="0" lang="zh-CN" altLang="en-US" sz="2400" b="1" i="0" u="none" strike="noStrike" kern="1200" cap="none" spc="150" normalizeH="0" baseline="0" noProof="0" dirty="0">
              <a:ln>
                <a:noFill/>
              </a:ln>
              <a:solidFill>
                <a:srgbClr val="000000">
                  <a:lumMod val="65000"/>
                  <a:lumOff val="35000"/>
                </a:srgbClr>
              </a:solidFill>
              <a:effectLst/>
              <a:uLnTx/>
              <a:uFillTx/>
              <a:latin typeface="Arial" panose="020B0604020202020204" pitchFamily="34" charset="0"/>
              <a:ea typeface="黑体" panose="02010609060101010101" pitchFamily="49" charset="-122"/>
              <a:cs typeface="+mn-cs"/>
            </a:endParaRPr>
          </a:p>
        </p:txBody>
      </p:sp>
      <p:sp>
        <p:nvSpPr>
          <p:cNvPr id="14" name="文本框 114821"/>
          <p:cNvSpPr txBox="1"/>
          <p:nvPr/>
        </p:nvSpPr>
        <p:spPr>
          <a:xfrm>
            <a:off x="3078480" y="6174105"/>
            <a:ext cx="3622040" cy="36830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图</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 </a:t>
            </a:r>
            <a:r>
              <a:rPr kumimoji="0" lang="zh-CN" altLang="en-US" sz="1800" b="1" i="0" u="none" strike="noStrike" kern="1200" cap="none" spc="0" normalizeH="0" baseline="0" noProof="0" dirty="0">
                <a:ln>
                  <a:noFill/>
                </a:ln>
                <a:solidFill>
                  <a:srgbClr val="000000"/>
                </a:solidFill>
                <a:effectLst/>
                <a:uLnTx/>
                <a:uFillTx/>
                <a:latin typeface="楷体" panose="02010609060101010101" charset="-122"/>
                <a:ea typeface="楷体" panose="02010609060101010101" charset="-122"/>
                <a:cs typeface="+mn-cs"/>
              </a:rPr>
              <a:t>数字通信</a:t>
            </a:r>
            <a:r>
              <a:rPr kumimoji="0" lang="en-US" altLang="zh-CN" sz="1800" b="1" i="0" u="none" strike="noStrike" kern="1200" cap="none" spc="0" normalizeH="0" baseline="0" noProof="0" dirty="0">
                <a:ln>
                  <a:noFill/>
                </a:ln>
                <a:solidFill>
                  <a:srgbClr val="000000"/>
                </a:solidFill>
                <a:effectLst/>
                <a:uLnTx/>
                <a:uFillTx/>
                <a:latin typeface="楷体" panose="02010609060101010101" charset="-122"/>
                <a:ea typeface="楷体" panose="02010609060101010101" charset="-122"/>
                <a:cs typeface="+mn-cs"/>
              </a:rPr>
              <a:t>(</a:t>
            </a:r>
            <a:r>
              <a:rPr kumimoji="0" lang="zh-CN" altLang="en-US" sz="1800" b="1" i="0" u="none" strike="noStrike" kern="1200" cap="none" spc="0" normalizeH="0" baseline="0" noProof="0" dirty="0">
                <a:ln>
                  <a:noFill/>
                </a:ln>
                <a:solidFill>
                  <a:srgbClr val="000000"/>
                </a:solidFill>
                <a:effectLst/>
                <a:uLnTx/>
                <a:uFillTx/>
                <a:latin typeface="楷体" panose="02010609060101010101" charset="-122"/>
                <a:ea typeface="楷体" panose="02010609060101010101" charset="-122"/>
                <a:cs typeface="+mn-cs"/>
              </a:rPr>
              <a:t>存储</a:t>
            </a:r>
            <a:r>
              <a:rPr kumimoji="0" lang="en-US" altLang="zh-CN" sz="1800" b="1" i="0" u="none" strike="noStrike" kern="1200" cap="none" spc="0" normalizeH="0" baseline="0" noProof="0" dirty="0">
                <a:ln>
                  <a:noFill/>
                </a:ln>
                <a:solidFill>
                  <a:srgbClr val="000000"/>
                </a:solidFill>
                <a:effectLst/>
                <a:uLnTx/>
                <a:uFillTx/>
                <a:latin typeface="楷体" panose="02010609060101010101" charset="-122"/>
                <a:ea typeface="楷体" panose="02010609060101010101" charset="-122"/>
                <a:cs typeface="+mn-cs"/>
              </a:rPr>
              <a:t>)</a:t>
            </a:r>
            <a:r>
              <a:rPr kumimoji="0" lang="zh-CN" altLang="en-US" sz="1800" b="1" i="0" u="none" strike="noStrike" kern="1200" cap="none" spc="0" normalizeH="0" baseline="0" noProof="0" dirty="0">
                <a:ln>
                  <a:noFill/>
                </a:ln>
                <a:solidFill>
                  <a:srgbClr val="000000"/>
                </a:solidFill>
                <a:effectLst/>
                <a:uLnTx/>
                <a:uFillTx/>
                <a:latin typeface="楷体" panose="02010609060101010101" charset="-122"/>
                <a:ea typeface="楷体" panose="02010609060101010101" charset="-122"/>
                <a:cs typeface="+mn-cs"/>
              </a:rPr>
              <a:t>系统模型</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数字通信系统的简化模型</a:t>
            </a:r>
          </a:p>
        </p:txBody>
      </p:sp>
      <p:sp>
        <p:nvSpPr>
          <p:cNvPr id="28" name="文本框 27"/>
          <p:cNvSpPr txBox="1"/>
          <p:nvPr/>
        </p:nvSpPr>
        <p:spPr>
          <a:xfrm>
            <a:off x="2818130" y="7590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29" name="文本框 28"/>
          <p:cNvSpPr txBox="1"/>
          <p:nvPr/>
        </p:nvSpPr>
        <p:spPr>
          <a:xfrm>
            <a:off x="2945130" y="7717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0" name="文本框 29"/>
          <p:cNvSpPr txBox="1"/>
          <p:nvPr/>
        </p:nvSpPr>
        <p:spPr>
          <a:xfrm>
            <a:off x="3072130" y="7844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1" name="文本框 30"/>
          <p:cNvSpPr txBox="1"/>
          <p:nvPr/>
        </p:nvSpPr>
        <p:spPr>
          <a:xfrm>
            <a:off x="3199130" y="7971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2" name="文本框 31"/>
          <p:cNvSpPr txBox="1"/>
          <p:nvPr/>
        </p:nvSpPr>
        <p:spPr>
          <a:xfrm>
            <a:off x="3326130" y="8098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3" name="文本框 32"/>
          <p:cNvSpPr txBox="1"/>
          <p:nvPr/>
        </p:nvSpPr>
        <p:spPr>
          <a:xfrm>
            <a:off x="3453130" y="8225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4" name="文本框 33"/>
          <p:cNvSpPr txBox="1"/>
          <p:nvPr/>
        </p:nvSpPr>
        <p:spPr>
          <a:xfrm>
            <a:off x="3580130" y="8352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grpSp>
        <p:nvGrpSpPr>
          <p:cNvPr id="15362" name="组合 129076"/>
          <p:cNvGrpSpPr/>
          <p:nvPr/>
        </p:nvGrpSpPr>
        <p:grpSpPr>
          <a:xfrm>
            <a:off x="898525" y="2566353"/>
            <a:ext cx="7345363" cy="1879600"/>
            <a:chOff x="566" y="981"/>
            <a:chExt cx="4627" cy="1184"/>
          </a:xfrm>
        </p:grpSpPr>
        <p:sp>
          <p:nvSpPr>
            <p:cNvPr id="15363" name="矩形 129034"/>
            <p:cNvSpPr/>
            <p:nvPr/>
          </p:nvSpPr>
          <p:spPr>
            <a:xfrm>
              <a:off x="566" y="985"/>
              <a:ext cx="726"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364" name="文本框 129035"/>
            <p:cNvSpPr txBox="1"/>
            <p:nvPr/>
          </p:nvSpPr>
          <p:spPr>
            <a:xfrm>
              <a:off x="611" y="1031"/>
              <a:ext cx="681" cy="393"/>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等 效 </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离 散 信 源</a:t>
              </a:r>
            </a:p>
          </p:txBody>
        </p:sp>
        <p:sp>
          <p:nvSpPr>
            <p:cNvPr id="15365" name="矩形 129036"/>
            <p:cNvSpPr/>
            <p:nvPr/>
          </p:nvSpPr>
          <p:spPr>
            <a:xfrm>
              <a:off x="1566" y="985"/>
              <a:ext cx="635"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366" name="文本框 129037"/>
            <p:cNvSpPr txBox="1"/>
            <p:nvPr/>
          </p:nvSpPr>
          <p:spPr>
            <a:xfrm>
              <a:off x="1474" y="1134"/>
              <a:ext cx="680" cy="19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编 码 器</a:t>
              </a:r>
            </a:p>
          </p:txBody>
        </p:sp>
        <p:sp>
          <p:nvSpPr>
            <p:cNvPr id="15367" name="矩形 129040"/>
            <p:cNvSpPr/>
            <p:nvPr/>
          </p:nvSpPr>
          <p:spPr>
            <a:xfrm>
              <a:off x="2472" y="985"/>
              <a:ext cx="725"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368" name="文本框 129041"/>
            <p:cNvSpPr txBox="1"/>
            <p:nvPr/>
          </p:nvSpPr>
          <p:spPr>
            <a:xfrm>
              <a:off x="2472" y="1121"/>
              <a:ext cx="725" cy="19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编 码 信 道</a:t>
              </a:r>
            </a:p>
          </p:txBody>
        </p:sp>
        <p:sp>
          <p:nvSpPr>
            <p:cNvPr id="15369" name="矩形 129042"/>
            <p:cNvSpPr/>
            <p:nvPr/>
          </p:nvSpPr>
          <p:spPr>
            <a:xfrm>
              <a:off x="2472" y="1711"/>
              <a:ext cx="726" cy="454"/>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370" name="文本框 129043"/>
            <p:cNvSpPr txBox="1"/>
            <p:nvPr/>
          </p:nvSpPr>
          <p:spPr>
            <a:xfrm>
              <a:off x="2562" y="1847"/>
              <a:ext cx="590" cy="19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噪 声 源</a:t>
              </a:r>
            </a:p>
          </p:txBody>
        </p:sp>
        <p:sp>
          <p:nvSpPr>
            <p:cNvPr id="15371" name="矩形 129044"/>
            <p:cNvSpPr/>
            <p:nvPr/>
          </p:nvSpPr>
          <p:spPr>
            <a:xfrm>
              <a:off x="4467" y="985"/>
              <a:ext cx="726"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372" name="文本框 129045"/>
            <p:cNvSpPr txBox="1"/>
            <p:nvPr/>
          </p:nvSpPr>
          <p:spPr>
            <a:xfrm>
              <a:off x="4603" y="1121"/>
              <a:ext cx="453" cy="19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信 宿</a:t>
              </a:r>
            </a:p>
          </p:txBody>
        </p:sp>
        <p:sp>
          <p:nvSpPr>
            <p:cNvPr id="15373" name="矩形 129046"/>
            <p:cNvSpPr/>
            <p:nvPr/>
          </p:nvSpPr>
          <p:spPr>
            <a:xfrm>
              <a:off x="3469" y="985"/>
              <a:ext cx="726"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374" name="文本框 129047"/>
            <p:cNvSpPr txBox="1"/>
            <p:nvPr/>
          </p:nvSpPr>
          <p:spPr>
            <a:xfrm>
              <a:off x="3560" y="1111"/>
              <a:ext cx="635" cy="19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译 码 器</a:t>
              </a:r>
            </a:p>
          </p:txBody>
        </p:sp>
        <p:sp>
          <p:nvSpPr>
            <p:cNvPr id="15375" name="直接连接符 129050"/>
            <p:cNvSpPr/>
            <p:nvPr/>
          </p:nvSpPr>
          <p:spPr>
            <a:xfrm>
              <a:off x="1292" y="1224"/>
              <a:ext cx="273" cy="0"/>
            </a:xfrm>
            <a:prstGeom prst="line">
              <a:avLst/>
            </a:prstGeom>
            <a:ln w="9525" cap="flat" cmpd="sng">
              <a:solidFill>
                <a:schemeClr val="tx1"/>
              </a:solidFill>
              <a:prstDash val="solid"/>
              <a:round/>
              <a:headEnd type="none" w="med" len="med"/>
              <a:tailEnd type="triangle" w="med" len="med"/>
            </a:ln>
          </p:spPr>
        </p:sp>
        <p:sp>
          <p:nvSpPr>
            <p:cNvPr id="15376" name="直接连接符 129051"/>
            <p:cNvSpPr/>
            <p:nvPr/>
          </p:nvSpPr>
          <p:spPr>
            <a:xfrm>
              <a:off x="2200" y="1212"/>
              <a:ext cx="273" cy="0"/>
            </a:xfrm>
            <a:prstGeom prst="line">
              <a:avLst/>
            </a:prstGeom>
            <a:ln w="9525" cap="flat" cmpd="sng">
              <a:solidFill>
                <a:schemeClr val="tx1"/>
              </a:solidFill>
              <a:prstDash val="solid"/>
              <a:round/>
              <a:headEnd type="none" w="med" len="med"/>
              <a:tailEnd type="triangle" w="med" len="med"/>
            </a:ln>
          </p:spPr>
        </p:sp>
        <p:sp>
          <p:nvSpPr>
            <p:cNvPr id="15377" name="文本框 129054"/>
            <p:cNvSpPr txBox="1"/>
            <p:nvPr/>
          </p:nvSpPr>
          <p:spPr>
            <a:xfrm>
              <a:off x="1292" y="985"/>
              <a:ext cx="227" cy="231"/>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U</a:t>
              </a:r>
            </a:p>
          </p:txBody>
        </p:sp>
        <p:sp>
          <p:nvSpPr>
            <p:cNvPr id="15378" name="文本框 129055"/>
            <p:cNvSpPr txBox="1"/>
            <p:nvPr/>
          </p:nvSpPr>
          <p:spPr>
            <a:xfrm>
              <a:off x="4195" y="981"/>
              <a:ext cx="227" cy="231"/>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V</a:t>
              </a:r>
            </a:p>
          </p:txBody>
        </p:sp>
        <p:sp>
          <p:nvSpPr>
            <p:cNvPr id="15379" name="文本框 129056"/>
            <p:cNvSpPr txBox="1"/>
            <p:nvPr/>
          </p:nvSpPr>
          <p:spPr>
            <a:xfrm>
              <a:off x="2245" y="981"/>
              <a:ext cx="227" cy="231"/>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p>
          </p:txBody>
        </p:sp>
        <p:sp>
          <p:nvSpPr>
            <p:cNvPr id="15380" name="文本框 129057"/>
            <p:cNvSpPr txBox="1"/>
            <p:nvPr/>
          </p:nvSpPr>
          <p:spPr>
            <a:xfrm>
              <a:off x="3198" y="981"/>
              <a:ext cx="227" cy="231"/>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Y</a:t>
              </a:r>
            </a:p>
          </p:txBody>
        </p:sp>
        <p:sp>
          <p:nvSpPr>
            <p:cNvPr id="15381" name="直接连接符 129066"/>
            <p:cNvSpPr/>
            <p:nvPr/>
          </p:nvSpPr>
          <p:spPr>
            <a:xfrm>
              <a:off x="4195" y="1212"/>
              <a:ext cx="273" cy="0"/>
            </a:xfrm>
            <a:prstGeom prst="line">
              <a:avLst/>
            </a:prstGeom>
            <a:ln w="9525" cap="flat" cmpd="sng">
              <a:solidFill>
                <a:schemeClr val="tx1"/>
              </a:solidFill>
              <a:prstDash val="solid"/>
              <a:round/>
              <a:headEnd type="none" w="med" len="med"/>
              <a:tailEnd type="triangle" w="med" len="med"/>
            </a:ln>
          </p:spPr>
        </p:sp>
        <p:sp>
          <p:nvSpPr>
            <p:cNvPr id="15382" name="直接连接符 129067"/>
            <p:cNvSpPr/>
            <p:nvPr/>
          </p:nvSpPr>
          <p:spPr>
            <a:xfrm>
              <a:off x="3197" y="1212"/>
              <a:ext cx="273" cy="0"/>
            </a:xfrm>
            <a:prstGeom prst="line">
              <a:avLst/>
            </a:prstGeom>
            <a:ln w="9525" cap="flat" cmpd="sng">
              <a:solidFill>
                <a:schemeClr val="tx1"/>
              </a:solidFill>
              <a:prstDash val="solid"/>
              <a:round/>
              <a:headEnd type="none" w="med" len="med"/>
              <a:tailEnd type="triangle" w="med" len="med"/>
            </a:ln>
          </p:spPr>
        </p:sp>
        <p:sp>
          <p:nvSpPr>
            <p:cNvPr id="15383" name="直接连接符 129068"/>
            <p:cNvSpPr/>
            <p:nvPr/>
          </p:nvSpPr>
          <p:spPr>
            <a:xfrm flipV="1">
              <a:off x="2835" y="1480"/>
              <a:ext cx="0" cy="227"/>
            </a:xfrm>
            <a:prstGeom prst="line">
              <a:avLst/>
            </a:prstGeom>
            <a:ln w="9525" cap="flat" cmpd="sng">
              <a:solidFill>
                <a:schemeClr val="tx1"/>
              </a:solidFill>
              <a:prstDash val="solid"/>
              <a:round/>
              <a:headEnd type="none" w="med" len="med"/>
              <a:tailEnd type="triangle" w="med" len="med"/>
            </a:ln>
          </p:spPr>
        </p:sp>
      </p:grpSp>
      <p:sp>
        <p:nvSpPr>
          <p:cNvPr id="16" name="文本框 114821"/>
          <p:cNvSpPr txBox="1"/>
          <p:nvPr/>
        </p:nvSpPr>
        <p:spPr>
          <a:xfrm>
            <a:off x="3078480" y="4563745"/>
            <a:ext cx="3246120" cy="36830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图</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rPr>
              <a:t>2 </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简化的</a:t>
            </a:r>
            <a:r>
              <a:rPr kumimoji="0" lang="zh-CN" altLang="en-US" sz="1800" b="1" i="0" u="none" strike="noStrike" kern="1200" cap="none" spc="0" normalizeH="0" baseline="0" noProof="0" dirty="0">
                <a:ln>
                  <a:noFill/>
                </a:ln>
                <a:solidFill>
                  <a:srgbClr val="000000"/>
                </a:solidFill>
                <a:effectLst/>
                <a:uLnTx/>
                <a:uFillTx/>
                <a:latin typeface="楷体" panose="02010609060101010101" charset="-122"/>
                <a:ea typeface="楷体" panose="02010609060101010101" charset="-122"/>
                <a:cs typeface="+mn-cs"/>
              </a:rPr>
              <a:t>数字通信系统模型</a:t>
            </a:r>
          </a:p>
        </p:txBody>
      </p:sp>
      <p:sp>
        <p:nvSpPr>
          <p:cNvPr id="6" name="文本框 114821"/>
          <p:cNvSpPr txBox="1"/>
          <p:nvPr/>
        </p:nvSpPr>
        <p:spPr>
          <a:xfrm>
            <a:off x="608965" y="1403985"/>
            <a:ext cx="11089005" cy="829945"/>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       </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编码理论关注的是信道编码器和信道译码器。为集中考虑信道编码与译码，将</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图</a:t>
            </a:r>
            <a:r>
              <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1</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的模型</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简化为</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a:t>
            </a:r>
            <a:endParaRPr kumimoji="0" lang="zh-CN" altLang="en-US" sz="2400" b="1" i="0" u="none" strike="noStrike" kern="1200" cap="none" spc="150" normalizeH="0" baseline="0" noProof="0" dirty="0">
              <a:ln>
                <a:noFill/>
              </a:ln>
              <a:solidFill>
                <a:srgbClr val="000000">
                  <a:lumMod val="65000"/>
                  <a:lumOff val="35000"/>
                </a:srgbClr>
              </a:solidFill>
              <a:effectLst/>
              <a:uLnTx/>
              <a:uFillTx/>
              <a:latin typeface="Arial" panose="020B0604020202020204" pitchFamily="34" charset="0"/>
              <a:ea typeface="黑体" panose="02010609060101010101" pitchFamily="49" charset="-122"/>
              <a:cs typeface="+mn-cs"/>
            </a:endParaRPr>
          </a:p>
        </p:txBody>
      </p:sp>
      <p:graphicFrame>
        <p:nvGraphicFramePr>
          <p:cNvPr id="7" name="对象 6">
            <a:hlinkClick r:id="" action="ppaction://ole?verb=0"/>
          </p:cNvPr>
          <p:cNvGraphicFramePr>
            <a:graphicFrameLocks noChangeAspect="1"/>
          </p:cNvGraphicFramePr>
          <p:nvPr/>
        </p:nvGraphicFramePr>
        <p:xfrm>
          <a:off x="1002665" y="5304155"/>
          <a:ext cx="4853305" cy="474345"/>
        </p:xfrm>
        <a:graphic>
          <a:graphicData uri="http://schemas.openxmlformats.org/presentationml/2006/ole">
            <mc:AlternateContent xmlns:mc="http://schemas.openxmlformats.org/markup-compatibility/2006">
              <mc:Choice xmlns:v="urn:schemas-microsoft-com:vml" Requires="v">
                <p:oleObj r:id="rId3" imgW="2501900" imgH="241300" progId="Equation.KSEE3">
                  <p:embed/>
                </p:oleObj>
              </mc:Choice>
              <mc:Fallback>
                <p:oleObj r:id="rId3" imgW="2501900" imgH="241300" progId="Equation.KSEE3">
                  <p:embed/>
                  <p:pic>
                    <p:nvPicPr>
                      <p:cNvPr id="7" name="对象 6">
                        <a:hlinkClick r:id="" action="ppaction://ole?verb=0"/>
                      </p:cNvPr>
                      <p:cNvPicPr/>
                      <p:nvPr/>
                    </p:nvPicPr>
                    <p:blipFill>
                      <a:blip r:embed="rId4"/>
                      <a:stretch>
                        <a:fillRect/>
                      </a:stretch>
                    </p:blipFill>
                    <p:spPr>
                      <a:xfrm>
                        <a:off x="1002665" y="5304155"/>
                        <a:ext cx="4853305" cy="474345"/>
                      </a:xfrm>
                      <a:prstGeom prst="rect">
                        <a:avLst/>
                      </a:prstGeom>
                    </p:spPr>
                  </p:pic>
                </p:oleObj>
              </mc:Fallback>
            </mc:AlternateContent>
          </a:graphicData>
        </a:graphic>
      </p:graphicFrame>
      <p:graphicFrame>
        <p:nvGraphicFramePr>
          <p:cNvPr id="8" name="对象 7">
            <a:hlinkClick r:id="" action="ppaction://ole?verb=0"/>
          </p:cNvPr>
          <p:cNvGraphicFramePr>
            <a:graphicFrameLocks noChangeAspect="1"/>
          </p:cNvGraphicFramePr>
          <p:nvPr/>
        </p:nvGraphicFramePr>
        <p:xfrm>
          <a:off x="998855" y="5854065"/>
          <a:ext cx="4805045" cy="474345"/>
        </p:xfrm>
        <a:graphic>
          <a:graphicData uri="http://schemas.openxmlformats.org/presentationml/2006/ole">
            <mc:AlternateContent xmlns:mc="http://schemas.openxmlformats.org/markup-compatibility/2006">
              <mc:Choice xmlns:v="urn:schemas-microsoft-com:vml" Requires="v">
                <p:oleObj r:id="rId5" imgW="2476500" imgH="241300" progId="Equation.KSEE3">
                  <p:embed/>
                </p:oleObj>
              </mc:Choice>
              <mc:Fallback>
                <p:oleObj r:id="rId5" imgW="2476500" imgH="241300" progId="Equation.KSEE3">
                  <p:embed/>
                  <p:pic>
                    <p:nvPicPr>
                      <p:cNvPr id="8" name="对象 7">
                        <a:hlinkClick r:id="" action="ppaction://ole?verb=0"/>
                      </p:cNvPr>
                      <p:cNvPicPr/>
                      <p:nvPr/>
                    </p:nvPicPr>
                    <p:blipFill>
                      <a:blip r:embed="rId6"/>
                      <a:stretch>
                        <a:fillRect/>
                      </a:stretch>
                    </p:blipFill>
                    <p:spPr>
                      <a:xfrm>
                        <a:off x="998855" y="5854065"/>
                        <a:ext cx="4805045" cy="474345"/>
                      </a:xfrm>
                      <a:prstGeom prst="rect">
                        <a:avLst/>
                      </a:prstGeom>
                    </p:spPr>
                  </p:pic>
                </p:oleObj>
              </mc:Fallback>
            </mc:AlternateContent>
          </a:graphicData>
        </a:graphic>
      </p:graphicFrame>
      <p:graphicFrame>
        <p:nvGraphicFramePr>
          <p:cNvPr id="10" name="对象 9">
            <a:hlinkClick r:id="" action="ppaction://ole?verb=0"/>
          </p:cNvPr>
          <p:cNvGraphicFramePr>
            <a:graphicFrameLocks noChangeAspect="1"/>
          </p:cNvGraphicFramePr>
          <p:nvPr/>
        </p:nvGraphicFramePr>
        <p:xfrm>
          <a:off x="6742748" y="5269548"/>
          <a:ext cx="2513330" cy="449580"/>
        </p:xfrm>
        <a:graphic>
          <a:graphicData uri="http://schemas.openxmlformats.org/presentationml/2006/ole">
            <mc:AlternateContent xmlns:mc="http://schemas.openxmlformats.org/markup-compatibility/2006">
              <mc:Choice xmlns:v="urn:schemas-microsoft-com:vml" Requires="v">
                <p:oleObj r:id="rId7" imgW="1295400" imgH="228600" progId="Equation.KSEE3">
                  <p:embed/>
                </p:oleObj>
              </mc:Choice>
              <mc:Fallback>
                <p:oleObj r:id="rId7" imgW="1295400" imgH="228600" progId="Equation.KSEE3">
                  <p:embed/>
                  <p:pic>
                    <p:nvPicPr>
                      <p:cNvPr id="10" name="对象 9">
                        <a:hlinkClick r:id="" action="ppaction://ole?verb=0"/>
                      </p:cNvPr>
                      <p:cNvPicPr/>
                      <p:nvPr/>
                    </p:nvPicPr>
                    <p:blipFill>
                      <a:blip r:embed="rId8"/>
                      <a:stretch>
                        <a:fillRect/>
                      </a:stretch>
                    </p:blipFill>
                    <p:spPr>
                      <a:xfrm>
                        <a:off x="6742748" y="5269548"/>
                        <a:ext cx="2513330" cy="449580"/>
                      </a:xfrm>
                      <a:prstGeom prst="rect">
                        <a:avLst/>
                      </a:prstGeom>
                    </p:spPr>
                  </p:pic>
                </p:oleObj>
              </mc:Fallback>
            </mc:AlternateContent>
          </a:graphicData>
        </a:graphic>
      </p:graphicFrame>
      <p:graphicFrame>
        <p:nvGraphicFramePr>
          <p:cNvPr id="15" name="对象 14">
            <a:hlinkClick r:id="" action="ppaction://ole?verb=0"/>
          </p:cNvPr>
          <p:cNvGraphicFramePr>
            <a:graphicFrameLocks noChangeAspect="1"/>
          </p:cNvGraphicFramePr>
          <p:nvPr/>
        </p:nvGraphicFramePr>
        <p:xfrm>
          <a:off x="6742748" y="5851843"/>
          <a:ext cx="2513330" cy="449580"/>
        </p:xfrm>
        <a:graphic>
          <a:graphicData uri="http://schemas.openxmlformats.org/presentationml/2006/ole">
            <mc:AlternateContent xmlns:mc="http://schemas.openxmlformats.org/markup-compatibility/2006">
              <mc:Choice xmlns:v="urn:schemas-microsoft-com:vml" Requires="v">
                <p:oleObj r:id="rId9" imgW="1295400" imgH="228600" progId="Equation.KSEE3">
                  <p:embed/>
                </p:oleObj>
              </mc:Choice>
              <mc:Fallback>
                <p:oleObj r:id="rId9" imgW="1295400" imgH="228600" progId="Equation.KSEE3">
                  <p:embed/>
                  <p:pic>
                    <p:nvPicPr>
                      <p:cNvPr id="15" name="对象 14">
                        <a:hlinkClick r:id="" action="ppaction://ole?verb=0"/>
                      </p:cNvPr>
                      <p:cNvPicPr/>
                      <p:nvPr/>
                    </p:nvPicPr>
                    <p:blipFill>
                      <a:blip r:embed="rId10"/>
                      <a:stretch>
                        <a:fillRect/>
                      </a:stretch>
                    </p:blipFill>
                    <p:spPr>
                      <a:xfrm>
                        <a:off x="6742748" y="5851843"/>
                        <a:ext cx="2513330" cy="449580"/>
                      </a:xfrm>
                      <a:prstGeom prst="rect">
                        <a:avLst/>
                      </a:prstGeom>
                    </p:spPr>
                  </p:pic>
                </p:oleObj>
              </mc:Fallback>
            </mc:AlternateContent>
          </a:graphicData>
        </a:graphic>
      </p:graphicFrame>
      <p:sp>
        <p:nvSpPr>
          <p:cNvPr id="18" name="文本框 17"/>
          <p:cNvSpPr txBox="1"/>
          <p:nvPr/>
        </p:nvSpPr>
        <p:spPr>
          <a:xfrm>
            <a:off x="553720" y="5342890"/>
            <a:ext cx="247015" cy="92202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5400" b="1" i="0" u="none" strike="noStrike" kern="1200" cap="none" spc="0" normalizeH="0" baseline="0" noProof="0" dirty="0">
                <a:ln>
                  <a:noFill/>
                </a:ln>
                <a:solidFill>
                  <a:srgbClr val="58B6E5"/>
                </a:solidFill>
                <a:effectLst/>
                <a:uLnTx/>
                <a:uFillTx/>
                <a:latin typeface="黑体" panose="02010609060101010101" pitchFamily="49" charset="-122"/>
                <a:ea typeface="黑体" panose="02010609060101010101" pitchFamily="49" charset="-122"/>
                <a:cs typeface="+mn-cs"/>
                <a:sym typeface="+mn-ea"/>
              </a:rPr>
              <a:t>{</a:t>
            </a:r>
          </a:p>
        </p:txBody>
      </p:sp>
      <p:sp>
        <p:nvSpPr>
          <p:cNvPr id="19" name="文本框 18"/>
          <p:cNvSpPr txBox="1"/>
          <p:nvPr/>
        </p:nvSpPr>
        <p:spPr>
          <a:xfrm>
            <a:off x="6346190" y="5318760"/>
            <a:ext cx="608965" cy="92202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5400" b="1" i="0" u="none" strike="noStrike" kern="1200" cap="none" spc="0" normalizeH="0" baseline="0" noProof="0" dirty="0">
                <a:ln>
                  <a:noFill/>
                </a:ln>
                <a:solidFill>
                  <a:srgbClr val="58B6E5"/>
                </a:solidFill>
                <a:effectLst/>
                <a:uLnTx/>
                <a:uFillTx/>
                <a:latin typeface="黑体" panose="02010609060101010101" pitchFamily="49" charset="-122"/>
                <a:ea typeface="黑体" panose="02010609060101010101" pitchFamily="49" charset="-122"/>
                <a:cs typeface="+mn-cs"/>
                <a:sym typeface="+mn-ea"/>
              </a:rPr>
              <a:t>{</a:t>
            </a:r>
          </a:p>
        </p:txBody>
      </p:sp>
      <p:graphicFrame>
        <p:nvGraphicFramePr>
          <p:cNvPr id="20" name="对象 19">
            <a:hlinkClick r:id="" action="ppaction://ole?verb=0"/>
          </p:cNvPr>
          <p:cNvGraphicFramePr>
            <a:graphicFrameLocks noChangeAspect="1"/>
          </p:cNvGraphicFramePr>
          <p:nvPr/>
        </p:nvGraphicFramePr>
        <p:xfrm>
          <a:off x="9870123" y="5313363"/>
          <a:ext cx="1502410" cy="849630"/>
        </p:xfrm>
        <a:graphic>
          <a:graphicData uri="http://schemas.openxmlformats.org/presentationml/2006/ole">
            <mc:AlternateContent xmlns:mc="http://schemas.openxmlformats.org/markup-compatibility/2006">
              <mc:Choice xmlns:v="urn:schemas-microsoft-com:vml" Requires="v">
                <p:oleObj r:id="rId11" imgW="774065" imgH="431800" progId="Equation.KSEE3">
                  <p:embed/>
                </p:oleObj>
              </mc:Choice>
              <mc:Fallback>
                <p:oleObj r:id="rId11" imgW="774065" imgH="431800" progId="Equation.KSEE3">
                  <p:embed/>
                  <p:pic>
                    <p:nvPicPr>
                      <p:cNvPr id="20" name="对象 19">
                        <a:hlinkClick r:id="" action="ppaction://ole?verb=0"/>
                      </p:cNvPr>
                      <p:cNvPicPr/>
                      <p:nvPr/>
                    </p:nvPicPr>
                    <p:blipFill>
                      <a:blip r:embed="rId12"/>
                      <a:stretch>
                        <a:fillRect/>
                      </a:stretch>
                    </p:blipFill>
                    <p:spPr>
                      <a:xfrm>
                        <a:off x="9870123" y="5313363"/>
                        <a:ext cx="1502410" cy="849630"/>
                      </a:xfrm>
                      <a:prstGeom prst="rect">
                        <a:avLst/>
                      </a:prstGeom>
                    </p:spPr>
                  </p:pic>
                </p:oleObj>
              </mc:Fallback>
            </mc:AlternateContent>
          </a:graphicData>
        </a:graphic>
      </p:graphicFrame>
      <p:sp>
        <p:nvSpPr>
          <p:cNvPr id="22" name="文本框 21"/>
          <p:cNvSpPr txBox="1"/>
          <p:nvPr/>
        </p:nvSpPr>
        <p:spPr>
          <a:xfrm>
            <a:off x="9426575" y="5292725"/>
            <a:ext cx="247015" cy="92202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5400" b="1" i="0" u="none" strike="noStrike" kern="1200" cap="none" spc="0" normalizeH="0" baseline="0" noProof="0" dirty="0">
                <a:ln>
                  <a:noFill/>
                </a:ln>
                <a:solidFill>
                  <a:srgbClr val="58B6E5"/>
                </a:solidFill>
                <a:effectLst/>
                <a:uLnTx/>
                <a:uFillTx/>
                <a:latin typeface="黑体" panose="02010609060101010101" pitchFamily="49" charset="-122"/>
                <a:ea typeface="黑体" panose="02010609060101010101" pitchFamily="49" charset="-122"/>
                <a:cs typeface="+mn-cs"/>
                <a:sym typeface="+mn-ea"/>
              </a:rPr>
              <a:t>{</a:t>
            </a:r>
          </a:p>
        </p:txBody>
      </p:sp>
      <p:sp>
        <p:nvSpPr>
          <p:cNvPr id="9219" name="文本框 114821"/>
          <p:cNvSpPr txBox="1"/>
          <p:nvPr/>
        </p:nvSpPr>
        <p:spPr>
          <a:xfrm>
            <a:off x="8528685" y="2049145"/>
            <a:ext cx="3148965" cy="2676525"/>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150" normalizeH="0" baseline="0" noProof="0">
                <a:ln>
                  <a:noFill/>
                </a:ln>
                <a:solidFill>
                  <a:srgbClr val="EC5F74">
                    <a:lumMod val="75000"/>
                  </a:srgbClr>
                </a:solidFill>
                <a:effectLst/>
                <a:uLnTx/>
                <a:uFillTx/>
                <a:latin typeface="Arial"/>
                <a:ea typeface="微软雅黑"/>
                <a:cs typeface="+mn-cs"/>
                <a:sym typeface="+mn-ea"/>
              </a:rPr>
              <a:t>离散信源</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：即图1中的信源和信源编码器</a:t>
            </a:r>
            <a:endPar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endParaRP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150" normalizeH="0" baseline="0" noProof="0">
                <a:ln>
                  <a:noFill/>
                </a:ln>
                <a:solidFill>
                  <a:srgbClr val="EC5F74">
                    <a:lumMod val="75000"/>
                  </a:srgbClr>
                </a:solidFill>
                <a:effectLst/>
                <a:uLnTx/>
                <a:uFillTx/>
                <a:latin typeface="Arial"/>
                <a:ea typeface="微软雅黑"/>
                <a:cs typeface="+mn-cs"/>
                <a:sym typeface="+mn-ea"/>
              </a:rPr>
              <a:t>编码信道</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：调制器、实际信道和解调器</a:t>
            </a:r>
            <a:endPar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endParaRP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150" normalizeH="0" baseline="0" noProof="0">
                <a:ln>
                  <a:noFill/>
                </a:ln>
                <a:solidFill>
                  <a:srgbClr val="EC5F74">
                    <a:lumMod val="75000"/>
                  </a:srgbClr>
                </a:solidFill>
                <a:effectLst/>
                <a:uLnTx/>
                <a:uFillTx/>
                <a:latin typeface="Arial"/>
                <a:ea typeface="微软雅黑"/>
                <a:cs typeface="+mn-cs"/>
                <a:sym typeface="+mn-ea"/>
              </a:rPr>
              <a:t>信宿</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：信源译码器和用户</a:t>
            </a:r>
            <a:endPar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信道模型</a:t>
            </a:r>
          </a:p>
        </p:txBody>
      </p:sp>
      <p:sp>
        <p:nvSpPr>
          <p:cNvPr id="26626" name="矩形 142340"/>
          <p:cNvSpPr/>
          <p:nvPr/>
        </p:nvSpPr>
        <p:spPr>
          <a:xfrm>
            <a:off x="3563938" y="3036253"/>
            <a:ext cx="1944687" cy="935037"/>
          </a:xfrm>
          <a:prstGeom prst="rect">
            <a:avLst/>
          </a:prstGeom>
          <a:solidFill>
            <a:srgbClr val="92D050"/>
          </a:solidFill>
          <a:ln w="9525" cap="flat" cmpd="sng">
            <a:solidFill>
              <a:schemeClr val="tx1"/>
            </a:solidFill>
            <a:prstDash val="dash"/>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6627" name="文本框 142341"/>
          <p:cNvSpPr txBox="1"/>
          <p:nvPr/>
        </p:nvSpPr>
        <p:spPr>
          <a:xfrm>
            <a:off x="3851275" y="3252153"/>
            <a:ext cx="1295400" cy="457200"/>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信 道</a:t>
            </a:r>
          </a:p>
        </p:txBody>
      </p:sp>
      <p:sp>
        <p:nvSpPr>
          <p:cNvPr id="26628" name="直接连接符 142343"/>
          <p:cNvSpPr/>
          <p:nvPr/>
        </p:nvSpPr>
        <p:spPr>
          <a:xfrm>
            <a:off x="2124075" y="3468053"/>
            <a:ext cx="1439863" cy="0"/>
          </a:xfrm>
          <a:prstGeom prst="line">
            <a:avLst/>
          </a:prstGeom>
          <a:ln w="9525" cap="flat" cmpd="sng">
            <a:solidFill>
              <a:schemeClr val="tx1"/>
            </a:solidFill>
            <a:prstDash val="solid"/>
            <a:round/>
            <a:headEnd type="none" w="med" len="med"/>
            <a:tailEnd type="triangle" w="med" len="med"/>
          </a:ln>
        </p:spPr>
      </p:sp>
      <p:sp>
        <p:nvSpPr>
          <p:cNvPr id="26629" name="直接连接符 142344"/>
          <p:cNvSpPr/>
          <p:nvPr/>
        </p:nvSpPr>
        <p:spPr>
          <a:xfrm>
            <a:off x="5508625" y="3468053"/>
            <a:ext cx="1439863" cy="0"/>
          </a:xfrm>
          <a:prstGeom prst="line">
            <a:avLst/>
          </a:prstGeom>
          <a:ln w="9525" cap="flat" cmpd="sng">
            <a:solidFill>
              <a:schemeClr val="tx1"/>
            </a:solidFill>
            <a:prstDash val="solid"/>
            <a:round/>
            <a:headEnd type="none" w="med" len="med"/>
            <a:tailEnd type="triangle" w="med" len="med"/>
          </a:ln>
        </p:spPr>
      </p:sp>
      <p:sp>
        <p:nvSpPr>
          <p:cNvPr id="26630" name="文本框 142345"/>
          <p:cNvSpPr txBox="1"/>
          <p:nvPr/>
        </p:nvSpPr>
        <p:spPr>
          <a:xfrm>
            <a:off x="2482850" y="2939415"/>
            <a:ext cx="649288" cy="457200"/>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p>
        </p:txBody>
      </p:sp>
      <p:sp>
        <p:nvSpPr>
          <p:cNvPr id="26631" name="文本框 142346"/>
          <p:cNvSpPr txBox="1"/>
          <p:nvPr/>
        </p:nvSpPr>
        <p:spPr>
          <a:xfrm>
            <a:off x="5867400" y="2963228"/>
            <a:ext cx="649288" cy="457200"/>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Y</a:t>
            </a:r>
          </a:p>
        </p:txBody>
      </p:sp>
      <p:sp>
        <p:nvSpPr>
          <p:cNvPr id="26632" name="文本框 142347"/>
          <p:cNvSpPr txBox="1"/>
          <p:nvPr/>
        </p:nvSpPr>
        <p:spPr>
          <a:xfrm>
            <a:off x="3708400" y="2434590"/>
            <a:ext cx="1439863" cy="457200"/>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Y</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16" name="文本框 114821"/>
          <p:cNvSpPr txBox="1"/>
          <p:nvPr/>
        </p:nvSpPr>
        <p:spPr>
          <a:xfrm>
            <a:off x="3607435" y="4187825"/>
            <a:ext cx="1833880" cy="36830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图</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rPr>
              <a:t>3 </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信道</a:t>
            </a:r>
            <a:r>
              <a:rPr kumimoji="0" lang="zh-CN" altLang="en-US" sz="1800" b="1" i="0" u="none" strike="noStrike" kern="1200" cap="none" spc="0" normalizeH="0" baseline="0" noProof="0" dirty="0">
                <a:ln>
                  <a:noFill/>
                </a:ln>
                <a:solidFill>
                  <a:srgbClr val="000000"/>
                </a:solidFill>
                <a:effectLst/>
                <a:uLnTx/>
                <a:uFillTx/>
                <a:latin typeface="楷体" panose="02010609060101010101" charset="-122"/>
                <a:ea typeface="楷体" panose="02010609060101010101" charset="-122"/>
                <a:cs typeface="+mn-cs"/>
              </a:rPr>
              <a:t>模型</a:t>
            </a:r>
          </a:p>
        </p:txBody>
      </p:sp>
      <p:sp>
        <p:nvSpPr>
          <p:cNvPr id="6" name="文本框 114821"/>
          <p:cNvSpPr txBox="1"/>
          <p:nvPr/>
        </p:nvSpPr>
        <p:spPr>
          <a:xfrm>
            <a:off x="608965" y="1403985"/>
            <a:ext cx="11089005" cy="460375"/>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设计通信系统的关键问题之一：如何解决可靠性和有效性(快速性)这对矛盾</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a:t>
            </a:r>
          </a:p>
        </p:txBody>
      </p:sp>
      <p:sp>
        <p:nvSpPr>
          <p:cNvPr id="9219" name="文本框 114821"/>
          <p:cNvSpPr txBox="1"/>
          <p:nvPr/>
        </p:nvSpPr>
        <p:spPr>
          <a:xfrm>
            <a:off x="7482205" y="2973705"/>
            <a:ext cx="3148965" cy="829945"/>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条件概率 </a:t>
            </a:r>
            <a:r>
              <a:rPr kumimoji="0"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sym typeface="+mn-ea"/>
              </a:rPr>
              <a:t>P</a:t>
            </a:r>
            <a:r>
              <a:rPr kumimoji="0" sz="2400" b="0" i="0"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sym typeface="+mn-ea"/>
              </a:rPr>
              <a:t>(</a:t>
            </a:r>
            <a:r>
              <a:rPr kumimoji="0"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sym typeface="+mn-ea"/>
              </a:rPr>
              <a:t>Y</a:t>
            </a:r>
            <a:r>
              <a:rPr kumimoji="0" sz="2400" b="0" i="0"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sym typeface="+mn-ea"/>
              </a:rPr>
              <a:t>/</a:t>
            </a:r>
            <a:r>
              <a:rPr kumimoji="0"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sym typeface="+mn-ea"/>
              </a:rPr>
              <a:t>X</a:t>
            </a:r>
            <a:r>
              <a:rPr kumimoji="0" sz="2400" b="0" i="0"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sym typeface="+mn-ea"/>
              </a:rPr>
              <a:t>)</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 </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，也叫做</a:t>
            </a:r>
            <a:r>
              <a:rPr kumimoji="0" lang="zh-CN" altLang="en-US" sz="2400" b="1" i="0" u="none" strike="noStrike" kern="1200" cap="none" spc="150" normalizeH="0" baseline="0" noProof="0">
                <a:ln>
                  <a:noFill/>
                </a:ln>
                <a:solidFill>
                  <a:srgbClr val="EC5F74">
                    <a:lumMod val="75000"/>
                  </a:srgbClr>
                </a:solidFill>
                <a:effectLst/>
                <a:uLnTx/>
                <a:uFillTx/>
                <a:latin typeface="Arial"/>
                <a:ea typeface="微软雅黑"/>
                <a:cs typeface="+mn-cs"/>
                <a:sym typeface="+mn-ea"/>
              </a:rPr>
              <a:t>似然函数</a:t>
            </a:r>
            <a:endPar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endParaRPr>
          </a:p>
        </p:txBody>
      </p:sp>
      <p:graphicFrame>
        <p:nvGraphicFramePr>
          <p:cNvPr id="7" name="对象 6">
            <a:hlinkClick r:id="" action="ppaction://ole?verb=0"/>
          </p:cNvPr>
          <p:cNvGraphicFramePr>
            <a:graphicFrameLocks noChangeAspect="1"/>
          </p:cNvGraphicFramePr>
          <p:nvPr/>
        </p:nvGraphicFramePr>
        <p:xfrm>
          <a:off x="2551748" y="4957763"/>
          <a:ext cx="2513330" cy="449580"/>
        </p:xfrm>
        <a:graphic>
          <a:graphicData uri="http://schemas.openxmlformats.org/presentationml/2006/ole">
            <mc:AlternateContent xmlns:mc="http://schemas.openxmlformats.org/markup-compatibility/2006">
              <mc:Choice xmlns:v="urn:schemas-microsoft-com:vml" Requires="v">
                <p:oleObj r:id="rId3" imgW="1295400" imgH="228600" progId="Equation.KSEE3">
                  <p:embed/>
                </p:oleObj>
              </mc:Choice>
              <mc:Fallback>
                <p:oleObj r:id="rId3" imgW="1295400" imgH="228600" progId="Equation.KSEE3">
                  <p:embed/>
                  <p:pic>
                    <p:nvPicPr>
                      <p:cNvPr id="7" name="对象 6">
                        <a:hlinkClick r:id="" action="ppaction://ole?verb=0"/>
                      </p:cNvPr>
                      <p:cNvPicPr/>
                      <p:nvPr/>
                    </p:nvPicPr>
                    <p:blipFill>
                      <a:blip r:embed="rId4"/>
                      <a:stretch>
                        <a:fillRect/>
                      </a:stretch>
                    </p:blipFill>
                    <p:spPr>
                      <a:xfrm>
                        <a:off x="2551748" y="4957763"/>
                        <a:ext cx="2513330" cy="449580"/>
                      </a:xfrm>
                      <a:prstGeom prst="rect">
                        <a:avLst/>
                      </a:prstGeom>
                    </p:spPr>
                  </p:pic>
                </p:oleObj>
              </mc:Fallback>
            </mc:AlternateContent>
          </a:graphicData>
        </a:graphic>
      </p:graphicFrame>
      <p:graphicFrame>
        <p:nvGraphicFramePr>
          <p:cNvPr id="8" name="对象 7">
            <a:hlinkClick r:id="" action="ppaction://ole?verb=0"/>
          </p:cNvPr>
          <p:cNvGraphicFramePr>
            <a:graphicFrameLocks noChangeAspect="1"/>
          </p:cNvGraphicFramePr>
          <p:nvPr/>
        </p:nvGraphicFramePr>
        <p:xfrm>
          <a:off x="2527301" y="5613718"/>
          <a:ext cx="2513965" cy="449580"/>
        </p:xfrm>
        <a:graphic>
          <a:graphicData uri="http://schemas.openxmlformats.org/presentationml/2006/ole">
            <mc:AlternateContent xmlns:mc="http://schemas.openxmlformats.org/markup-compatibility/2006">
              <mc:Choice xmlns:v="urn:schemas-microsoft-com:vml" Requires="v">
                <p:oleObj r:id="rId5" imgW="1295400" imgH="228600" progId="Equation.KSEE3">
                  <p:embed/>
                </p:oleObj>
              </mc:Choice>
              <mc:Fallback>
                <p:oleObj r:id="rId5" imgW="1295400" imgH="228600" progId="Equation.KSEE3">
                  <p:embed/>
                  <p:pic>
                    <p:nvPicPr>
                      <p:cNvPr id="8" name="对象 7">
                        <a:hlinkClick r:id="" action="ppaction://ole?verb=0"/>
                      </p:cNvPr>
                      <p:cNvPicPr/>
                      <p:nvPr/>
                    </p:nvPicPr>
                    <p:blipFill>
                      <a:blip r:embed="rId6"/>
                      <a:stretch>
                        <a:fillRect/>
                      </a:stretch>
                    </p:blipFill>
                    <p:spPr>
                      <a:xfrm>
                        <a:off x="2527301" y="5613718"/>
                        <a:ext cx="2513965" cy="449580"/>
                      </a:xfrm>
                      <a:prstGeom prst="rect">
                        <a:avLst/>
                      </a:prstGeom>
                    </p:spPr>
                  </p:pic>
                </p:oleObj>
              </mc:Fallback>
            </mc:AlternateContent>
          </a:graphicData>
        </a:graphic>
      </p:graphicFrame>
      <p:graphicFrame>
        <p:nvGraphicFramePr>
          <p:cNvPr id="10" name="对象 9">
            <a:hlinkClick r:id="" action="ppaction://ole?verb=0"/>
          </p:cNvPr>
          <p:cNvGraphicFramePr>
            <a:graphicFrameLocks noChangeAspect="1"/>
          </p:cNvGraphicFramePr>
          <p:nvPr/>
        </p:nvGraphicFramePr>
        <p:xfrm>
          <a:off x="6323013" y="5040313"/>
          <a:ext cx="1502410" cy="849630"/>
        </p:xfrm>
        <a:graphic>
          <a:graphicData uri="http://schemas.openxmlformats.org/presentationml/2006/ole">
            <mc:AlternateContent xmlns:mc="http://schemas.openxmlformats.org/markup-compatibility/2006">
              <mc:Choice xmlns:v="urn:schemas-microsoft-com:vml" Requires="v">
                <p:oleObj r:id="rId7" imgW="774065" imgH="431800" progId="Equation.KSEE3">
                  <p:embed/>
                </p:oleObj>
              </mc:Choice>
              <mc:Fallback>
                <p:oleObj r:id="rId7" imgW="774065" imgH="431800" progId="Equation.KSEE3">
                  <p:embed/>
                  <p:pic>
                    <p:nvPicPr>
                      <p:cNvPr id="10" name="对象 9">
                        <a:hlinkClick r:id="" action="ppaction://ole?verb=0"/>
                      </p:cNvPr>
                      <p:cNvPicPr/>
                      <p:nvPr/>
                    </p:nvPicPr>
                    <p:blipFill>
                      <a:blip r:embed="rId8"/>
                      <a:stretch>
                        <a:fillRect/>
                      </a:stretch>
                    </p:blipFill>
                    <p:spPr>
                      <a:xfrm>
                        <a:off x="6323013" y="5040313"/>
                        <a:ext cx="1502410" cy="849630"/>
                      </a:xfrm>
                      <a:prstGeom prst="rect">
                        <a:avLst/>
                      </a:prstGeom>
                    </p:spPr>
                  </p:pic>
                </p:oleObj>
              </mc:Fallback>
            </mc:AlternateContent>
          </a:graphicData>
        </a:graphic>
      </p:graphicFrame>
      <p:sp>
        <p:nvSpPr>
          <p:cNvPr id="15" name="文本框 14"/>
          <p:cNvSpPr txBox="1"/>
          <p:nvPr/>
        </p:nvSpPr>
        <p:spPr>
          <a:xfrm>
            <a:off x="5879465" y="5019675"/>
            <a:ext cx="247015" cy="92202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5400" b="1" i="0" u="none" strike="noStrike" kern="1200" cap="none" spc="0" normalizeH="0" baseline="0" noProof="0" dirty="0">
                <a:ln>
                  <a:noFill/>
                </a:ln>
                <a:solidFill>
                  <a:srgbClr val="58B6E5"/>
                </a:solidFill>
                <a:effectLst/>
                <a:uLnTx/>
                <a:uFillTx/>
                <a:latin typeface="黑体" panose="02010609060101010101" pitchFamily="49" charset="-122"/>
                <a:ea typeface="黑体" panose="02010609060101010101" pitchFamily="49" charset="-122"/>
                <a:cs typeface="+mn-cs"/>
                <a:sym typeface="+mn-ea"/>
              </a:rPr>
              <a:t>{</a:t>
            </a:r>
          </a:p>
        </p:txBody>
      </p:sp>
      <p:sp>
        <p:nvSpPr>
          <p:cNvPr id="12" name="文本框 11"/>
          <p:cNvSpPr txBox="1"/>
          <p:nvPr/>
        </p:nvSpPr>
        <p:spPr>
          <a:xfrm>
            <a:off x="1924050" y="4892040"/>
            <a:ext cx="267970" cy="119888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200" b="1" i="0" u="none" strike="noStrike" kern="1200" cap="none" spc="0" normalizeH="0" baseline="0" noProof="0" dirty="0">
                <a:ln>
                  <a:noFill/>
                </a:ln>
                <a:solidFill>
                  <a:srgbClr val="58B6E5"/>
                </a:solidFill>
                <a:effectLst/>
                <a:uLnTx/>
                <a:uFillTx/>
                <a:latin typeface="黑体" panose="02010609060101010101" pitchFamily="49" charset="-122"/>
                <a:ea typeface="黑体" panose="02010609060101010101" pitchFamily="49" charset="-122"/>
                <a:cs typeface="+mn-cs"/>
                <a:sym typeface="+mn-ea"/>
              </a:rPr>
              <a:t>{</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无记忆信道和有记忆信道</a:t>
            </a:r>
          </a:p>
        </p:txBody>
      </p:sp>
      <p:sp>
        <p:nvSpPr>
          <p:cNvPr id="6" name="文本框 114821"/>
          <p:cNvSpPr txBox="1"/>
          <p:nvPr/>
        </p:nvSpPr>
        <p:spPr>
          <a:xfrm>
            <a:off x="608965" y="1607185"/>
            <a:ext cx="11089005" cy="119888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150" normalizeH="0" baseline="0" noProof="0">
                <a:ln>
                  <a:noFill/>
                </a:ln>
                <a:solidFill>
                  <a:srgbClr val="EC5F74">
                    <a:lumMod val="75000"/>
                  </a:srgbClr>
                </a:solidFill>
                <a:effectLst/>
                <a:uLnTx/>
                <a:uFillTx/>
                <a:latin typeface="Arial"/>
                <a:ea typeface="微软雅黑"/>
                <a:cs typeface="+mn-cs"/>
              </a:rPr>
              <a:t>无记忆信道</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：如果在给定时间间隔上，检测器的输出只与在该时间间隔上传送的信号有关，而与任何前面时间的传送的信号无关，称此信道为无记忆信道。该信道可以用如下公式表示：</a:t>
            </a:r>
          </a:p>
        </p:txBody>
      </p:sp>
      <p:graphicFrame>
        <p:nvGraphicFramePr>
          <p:cNvPr id="7" name="对象 6">
            <a:hlinkClick r:id="" action="ppaction://ole?verb=0"/>
          </p:cNvPr>
          <p:cNvGraphicFramePr>
            <a:graphicFrameLocks noChangeAspect="1"/>
          </p:cNvGraphicFramePr>
          <p:nvPr/>
        </p:nvGraphicFramePr>
        <p:xfrm>
          <a:off x="3853815" y="3038475"/>
          <a:ext cx="4222750" cy="780415"/>
        </p:xfrm>
        <a:graphic>
          <a:graphicData uri="http://schemas.openxmlformats.org/presentationml/2006/ole">
            <mc:AlternateContent xmlns:mc="http://schemas.openxmlformats.org/markup-compatibility/2006">
              <mc:Choice xmlns:v="urn:schemas-microsoft-com:vml" Requires="v">
                <p:oleObj r:id="rId3" imgW="1459865" imgH="292100" progId="Equation.KSEE3">
                  <p:embed/>
                </p:oleObj>
              </mc:Choice>
              <mc:Fallback>
                <p:oleObj r:id="rId3" imgW="1459865" imgH="292100" progId="Equation.KSEE3">
                  <p:embed/>
                  <p:pic>
                    <p:nvPicPr>
                      <p:cNvPr id="7" name="对象 6">
                        <a:hlinkClick r:id="" action="ppaction://ole?verb=0"/>
                      </p:cNvPr>
                      <p:cNvPicPr/>
                      <p:nvPr/>
                    </p:nvPicPr>
                    <p:blipFill>
                      <a:blip r:embed="rId4"/>
                      <a:stretch>
                        <a:fillRect/>
                      </a:stretch>
                    </p:blipFill>
                    <p:spPr>
                      <a:xfrm>
                        <a:off x="3853815" y="3038475"/>
                        <a:ext cx="4222750" cy="780415"/>
                      </a:xfrm>
                      <a:prstGeom prst="rect">
                        <a:avLst/>
                      </a:prstGeom>
                    </p:spPr>
                  </p:pic>
                </p:oleObj>
              </mc:Fallback>
            </mc:AlternateContent>
          </a:graphicData>
        </a:graphic>
      </p:graphicFrame>
      <p:sp>
        <p:nvSpPr>
          <p:cNvPr id="9" name="文本框 114821"/>
          <p:cNvSpPr txBox="1"/>
          <p:nvPr/>
        </p:nvSpPr>
        <p:spPr>
          <a:xfrm>
            <a:off x="603885" y="3928745"/>
            <a:ext cx="11089005" cy="829945"/>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150" normalizeH="0" baseline="0" noProof="0">
                <a:ln>
                  <a:noFill/>
                </a:ln>
                <a:solidFill>
                  <a:srgbClr val="EC5F74">
                    <a:lumMod val="75000"/>
                  </a:srgbClr>
                </a:solidFill>
                <a:effectLst/>
                <a:uLnTx/>
                <a:uFillTx/>
                <a:latin typeface="Arial"/>
                <a:ea typeface="微软雅黑"/>
                <a:cs typeface="+mn-cs"/>
              </a:rPr>
              <a:t>有记忆信道</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：一种</a:t>
            </a:r>
            <a:r>
              <a:rPr kumimoji="0" lang="en-US" altLang="zh-CN"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M</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元输入、</a:t>
            </a:r>
            <a:r>
              <a:rPr kumimoji="0" lang="en-US" altLang="zh-CN"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Q</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元输出的信道模型。该信道可以用如下公式表示：</a:t>
            </a:r>
          </a:p>
        </p:txBody>
      </p:sp>
      <p:graphicFrame>
        <p:nvGraphicFramePr>
          <p:cNvPr id="10" name="对象 9">
            <a:hlinkClick r:id="" action="ppaction://ole?verb=0"/>
          </p:cNvPr>
          <p:cNvGraphicFramePr>
            <a:graphicFrameLocks noChangeAspect="1"/>
          </p:cNvGraphicFramePr>
          <p:nvPr/>
        </p:nvGraphicFramePr>
        <p:xfrm>
          <a:off x="3981450" y="4758690"/>
          <a:ext cx="3967480" cy="1052195"/>
        </p:xfrm>
        <a:graphic>
          <a:graphicData uri="http://schemas.openxmlformats.org/presentationml/2006/ole">
            <mc:AlternateContent xmlns:mc="http://schemas.openxmlformats.org/markup-compatibility/2006">
              <mc:Choice xmlns:v="urn:schemas-microsoft-com:vml" Requires="v">
                <p:oleObj r:id="rId5" imgW="1371600" imgH="393700" progId="Equation.KSEE3">
                  <p:embed/>
                </p:oleObj>
              </mc:Choice>
              <mc:Fallback>
                <p:oleObj r:id="rId5" imgW="1371600" imgH="393700" progId="Equation.KSEE3">
                  <p:embed/>
                  <p:pic>
                    <p:nvPicPr>
                      <p:cNvPr id="10" name="对象 9">
                        <a:hlinkClick r:id="" action="ppaction://ole?verb=0"/>
                      </p:cNvPr>
                      <p:cNvPicPr/>
                      <p:nvPr/>
                    </p:nvPicPr>
                    <p:blipFill>
                      <a:blip r:embed="rId6"/>
                      <a:stretch>
                        <a:fillRect/>
                      </a:stretch>
                    </p:blipFill>
                    <p:spPr>
                      <a:xfrm>
                        <a:off x="3981450" y="4758690"/>
                        <a:ext cx="3967480" cy="1052195"/>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离散无记忆(DMC)信道</a:t>
            </a:r>
          </a:p>
        </p:txBody>
      </p:sp>
      <p:sp>
        <p:nvSpPr>
          <p:cNvPr id="5" name="文本框 114821"/>
          <p:cNvSpPr txBox="1"/>
          <p:nvPr/>
        </p:nvSpPr>
        <p:spPr>
          <a:xfrm>
            <a:off x="1076325" y="1403985"/>
            <a:ext cx="6228080" cy="460375"/>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是一种</a:t>
            </a:r>
            <a:r>
              <a:rPr kumimoji="0"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M</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元输入、</a:t>
            </a:r>
            <a:r>
              <a:rPr kumimoji="0"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Q</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元输出的信道模型</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a:t>
            </a:r>
          </a:p>
        </p:txBody>
      </p:sp>
      <p:sp>
        <p:nvSpPr>
          <p:cNvPr id="6" name="文本框 114821"/>
          <p:cNvSpPr txBox="1"/>
          <p:nvPr/>
        </p:nvSpPr>
        <p:spPr>
          <a:xfrm>
            <a:off x="694690" y="2069465"/>
            <a:ext cx="11035665" cy="829945"/>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150" normalizeH="0" baseline="0" noProof="0">
                <a:ln>
                  <a:noFill/>
                </a:ln>
                <a:solidFill>
                  <a:srgbClr val="EC5F74">
                    <a:lumMod val="75000"/>
                  </a:srgbClr>
                </a:solidFill>
                <a:effectLst/>
                <a:uLnTx/>
                <a:uFillTx/>
                <a:latin typeface="Arial"/>
                <a:ea typeface="微软雅黑"/>
                <a:cs typeface="+mn-cs"/>
              </a:rPr>
              <a:t>条件概率</a:t>
            </a:r>
            <a:r>
              <a:rPr kumimoji="0" lang="en-US" altLang="zh-CN" sz="2400" b="1" i="1" u="none" strike="noStrike" kern="1200" cap="none" spc="150" normalizeH="0" baseline="0" noProof="0">
                <a:ln>
                  <a:noFill/>
                </a:ln>
                <a:solidFill>
                  <a:srgbClr val="EC5F74">
                    <a:lumMod val="75000"/>
                  </a:srgbClr>
                </a:solidFill>
                <a:effectLst/>
                <a:uLnTx/>
                <a:uFillTx/>
                <a:latin typeface="Times New Roman" panose="02020603050405020304" pitchFamily="18" charset="0"/>
                <a:ea typeface="微软雅黑"/>
                <a:cs typeface="Times New Roman" panose="02020603050405020304" pitchFamily="18" charset="0"/>
              </a:rPr>
              <a:t>P</a:t>
            </a:r>
            <a:r>
              <a:rPr kumimoji="0" lang="en-US" altLang="zh-CN" sz="2400" b="1" i="0" u="none" strike="noStrike" kern="1200" cap="none" spc="150" normalizeH="0" baseline="0" noProof="0">
                <a:ln>
                  <a:noFill/>
                </a:ln>
                <a:solidFill>
                  <a:srgbClr val="EC5F74">
                    <a:lumMod val="75000"/>
                  </a:srgbClr>
                </a:solidFill>
                <a:effectLst/>
                <a:uLnTx/>
                <a:uFillTx/>
                <a:latin typeface="Arial"/>
                <a:ea typeface="微软雅黑"/>
                <a:cs typeface="+mn-cs"/>
              </a:rPr>
              <a:t>(</a:t>
            </a:r>
            <a:r>
              <a:rPr kumimoji="0" lang="en-US" altLang="zh-CN" sz="2400" b="1" i="1" u="none" strike="noStrike" kern="1200" cap="none" spc="150" normalizeH="0" baseline="0" noProof="0">
                <a:ln>
                  <a:noFill/>
                </a:ln>
                <a:solidFill>
                  <a:srgbClr val="EC5F74">
                    <a:lumMod val="75000"/>
                  </a:srgbClr>
                </a:solidFill>
                <a:effectLst/>
                <a:uLnTx/>
                <a:uFillTx/>
                <a:latin typeface="Times New Roman" panose="02020603050405020304" pitchFamily="18" charset="0"/>
                <a:ea typeface="微软雅黑"/>
                <a:cs typeface="Times New Roman" panose="02020603050405020304" pitchFamily="18" charset="0"/>
              </a:rPr>
              <a:t>Y</a:t>
            </a:r>
            <a:r>
              <a:rPr kumimoji="0" lang="en-US" altLang="zh-CN" sz="2400" b="1" i="0" u="none" strike="noStrike" kern="1200" cap="none" spc="150" normalizeH="0" baseline="0" noProof="0">
                <a:ln>
                  <a:noFill/>
                </a:ln>
                <a:solidFill>
                  <a:srgbClr val="EC5F74">
                    <a:lumMod val="75000"/>
                  </a:srgbClr>
                </a:solidFill>
                <a:effectLst/>
                <a:uLnTx/>
                <a:uFillTx/>
                <a:latin typeface="Arial"/>
                <a:ea typeface="微软雅黑"/>
                <a:cs typeface="+mn-cs"/>
              </a:rPr>
              <a:t>/</a:t>
            </a:r>
            <a:r>
              <a:rPr kumimoji="0" lang="en-US" altLang="zh-CN" sz="2400" b="1" i="1" u="none" strike="noStrike" kern="1200" cap="none" spc="150" normalizeH="0" baseline="0" noProof="0">
                <a:ln>
                  <a:noFill/>
                </a:ln>
                <a:solidFill>
                  <a:srgbClr val="EC5F74">
                    <a:lumMod val="75000"/>
                  </a:srgbClr>
                </a:solidFill>
                <a:effectLst/>
                <a:uLnTx/>
                <a:uFillTx/>
                <a:latin typeface="Times New Roman" panose="02020603050405020304" pitchFamily="18" charset="0"/>
                <a:ea typeface="微软雅黑"/>
                <a:cs typeface="Times New Roman" panose="02020603050405020304" pitchFamily="18" charset="0"/>
              </a:rPr>
              <a:t>X</a:t>
            </a:r>
            <a:r>
              <a:rPr kumimoji="0" lang="en-US" altLang="zh-CN" sz="2400" b="1" i="0" u="none" strike="noStrike" kern="1200" cap="none" spc="150" normalizeH="0" baseline="0" noProof="0">
                <a:ln>
                  <a:noFill/>
                </a:ln>
                <a:solidFill>
                  <a:srgbClr val="EC5F74">
                    <a:lumMod val="75000"/>
                  </a:srgbClr>
                </a:solidFill>
                <a:effectLst/>
                <a:uLnTx/>
                <a:uFillTx/>
                <a:latin typeface="Arial"/>
                <a:ea typeface="微软雅黑"/>
                <a:cs typeface="+mn-cs"/>
              </a:rPr>
              <a:t>)</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是</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描述</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该信道的最好方式，也叫做转移概率，其中</a:t>
            </a:r>
            <a:r>
              <a:rPr kumimoji="0" lang="en-US" altLang="zh-CN"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X</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表示调制器输入符号，</a:t>
            </a:r>
            <a:r>
              <a:rPr kumimoji="0" lang="en-US" altLang="zh-CN"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Y</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表示解调器输出符号，</a:t>
            </a:r>
            <a:r>
              <a:rPr kumimoji="0" lang="en-US" altLang="zh-CN"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P</a:t>
            </a:r>
            <a:r>
              <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a:t>
            </a:r>
            <a:r>
              <a:rPr kumimoji="0" lang="en-US" altLang="zh-CN"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sym typeface="+mn-ea"/>
              </a:rPr>
              <a:t>Y</a:t>
            </a:r>
            <a:r>
              <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a:t>
            </a:r>
            <a:r>
              <a:rPr kumimoji="0" lang="en-US" altLang="zh-CN"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sym typeface="+mn-ea"/>
              </a:rPr>
              <a:t>X</a:t>
            </a:r>
            <a:r>
              <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表示发送为</a:t>
            </a:r>
            <a:r>
              <a:rPr kumimoji="0" lang="en-US" altLang="zh-CN"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X</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接收为</a:t>
            </a:r>
            <a:r>
              <a:rPr kumimoji="0" lang="en-US" altLang="zh-CN"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Y</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的概率。</a:t>
            </a:r>
          </a:p>
        </p:txBody>
      </p:sp>
      <p:grpSp>
        <p:nvGrpSpPr>
          <p:cNvPr id="28675" name="组合 148498"/>
          <p:cNvGrpSpPr/>
          <p:nvPr/>
        </p:nvGrpSpPr>
        <p:grpSpPr>
          <a:xfrm>
            <a:off x="4708208" y="3237548"/>
            <a:ext cx="2665412" cy="2590800"/>
            <a:chOff x="1837" y="2523"/>
            <a:chExt cx="1679" cy="1632"/>
          </a:xfrm>
        </p:grpSpPr>
        <p:sp>
          <p:nvSpPr>
            <p:cNvPr id="28676" name="椭圆 148484"/>
            <p:cNvSpPr/>
            <p:nvPr/>
          </p:nvSpPr>
          <p:spPr>
            <a:xfrm>
              <a:off x="1837" y="3003"/>
              <a:ext cx="192" cy="192"/>
            </a:xfrm>
            <a:prstGeom prst="ellipse">
              <a:avLst/>
            </a:prstGeom>
            <a:solidFill>
              <a:srgbClr val="92D050"/>
            </a:solidFill>
            <a:ln w="9525" cap="flat" cmpd="sng">
              <a:solidFill>
                <a:schemeClr val="tx1"/>
              </a:solidFill>
              <a:prstDash val="solid"/>
              <a:round/>
              <a:headEnd type="none" w="med" len="med"/>
              <a:tailEnd type="none" w="med" len="med"/>
            </a:ln>
          </p:spPr>
          <p:txBody>
            <a:bodyPr wrap="non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28677" name="椭圆 148485"/>
            <p:cNvSpPr/>
            <p:nvPr/>
          </p:nvSpPr>
          <p:spPr>
            <a:xfrm>
              <a:off x="1837" y="3675"/>
              <a:ext cx="192" cy="192"/>
            </a:xfrm>
            <a:prstGeom prst="ellipse">
              <a:avLst/>
            </a:prstGeom>
            <a:solidFill>
              <a:srgbClr val="92D050"/>
            </a:solidFill>
            <a:ln w="9525" cap="flat" cmpd="sng">
              <a:solidFill>
                <a:schemeClr val="tx1"/>
              </a:solidFill>
              <a:prstDash val="solid"/>
              <a:round/>
              <a:headEnd type="none" w="med" len="med"/>
              <a:tailEnd type="none" w="med" len="med"/>
            </a:ln>
          </p:spPr>
          <p:txBody>
            <a:bodyPr wrap="non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28678" name="椭圆 148486"/>
            <p:cNvSpPr/>
            <p:nvPr/>
          </p:nvSpPr>
          <p:spPr>
            <a:xfrm>
              <a:off x="3289" y="2523"/>
              <a:ext cx="192" cy="192"/>
            </a:xfrm>
            <a:prstGeom prst="ellipse">
              <a:avLst/>
            </a:prstGeom>
            <a:solidFill>
              <a:srgbClr val="92D050"/>
            </a:solidFill>
            <a:ln w="9525" cap="flat" cmpd="sng">
              <a:solidFill>
                <a:schemeClr val="tx1"/>
              </a:solidFill>
              <a:prstDash val="solid"/>
              <a:round/>
              <a:headEnd type="none" w="med" len="med"/>
              <a:tailEnd type="none" w="med" len="med"/>
            </a:ln>
          </p:spPr>
          <p:txBody>
            <a:bodyPr wrap="non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28679" name="椭圆 148487"/>
            <p:cNvSpPr/>
            <p:nvPr/>
          </p:nvSpPr>
          <p:spPr>
            <a:xfrm>
              <a:off x="3277" y="3051"/>
              <a:ext cx="192" cy="192"/>
            </a:xfrm>
            <a:prstGeom prst="ellipse">
              <a:avLst/>
            </a:prstGeom>
            <a:solidFill>
              <a:srgbClr val="92D050"/>
            </a:solidFill>
            <a:ln w="9525" cap="flat" cmpd="sng">
              <a:solidFill>
                <a:schemeClr val="tx1"/>
              </a:solidFill>
              <a:prstDash val="solid"/>
              <a:round/>
              <a:headEnd type="none" w="med" len="med"/>
              <a:tailEnd type="none" w="med" len="med"/>
            </a:ln>
          </p:spPr>
          <p:txBody>
            <a:bodyPr wrap="non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28680" name="椭圆 148488"/>
            <p:cNvSpPr/>
            <p:nvPr/>
          </p:nvSpPr>
          <p:spPr>
            <a:xfrm>
              <a:off x="3324" y="3963"/>
              <a:ext cx="192" cy="192"/>
            </a:xfrm>
            <a:prstGeom prst="ellipse">
              <a:avLst/>
            </a:prstGeom>
            <a:solidFill>
              <a:srgbClr val="92D050"/>
            </a:solidFill>
            <a:ln w="9525" cap="flat" cmpd="sng">
              <a:solidFill>
                <a:schemeClr val="tx1"/>
              </a:solidFill>
              <a:prstDash val="solid"/>
              <a:round/>
              <a:headEnd type="none" w="med" len="med"/>
              <a:tailEnd type="none" w="med" len="med"/>
            </a:ln>
          </p:spPr>
          <p:txBody>
            <a:bodyPr wrap="non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Q</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28681" name="直接连接符 148489"/>
            <p:cNvSpPr/>
            <p:nvPr/>
          </p:nvSpPr>
          <p:spPr>
            <a:xfrm flipV="1">
              <a:off x="1981" y="2619"/>
              <a:ext cx="1296" cy="384"/>
            </a:xfrm>
            <a:prstGeom prst="line">
              <a:avLst/>
            </a:prstGeom>
            <a:ln w="9525" cap="flat" cmpd="sng">
              <a:solidFill>
                <a:schemeClr val="tx1"/>
              </a:solidFill>
              <a:prstDash val="solid"/>
              <a:round/>
              <a:headEnd type="none" w="med" len="med"/>
              <a:tailEnd type="triangle" w="med" len="med"/>
            </a:ln>
          </p:spPr>
        </p:sp>
        <p:sp>
          <p:nvSpPr>
            <p:cNvPr id="28682" name="直接连接符 148490"/>
            <p:cNvSpPr/>
            <p:nvPr/>
          </p:nvSpPr>
          <p:spPr>
            <a:xfrm>
              <a:off x="2029" y="3099"/>
              <a:ext cx="1248" cy="48"/>
            </a:xfrm>
            <a:prstGeom prst="line">
              <a:avLst/>
            </a:prstGeom>
            <a:ln w="9525" cap="flat" cmpd="sng">
              <a:solidFill>
                <a:schemeClr val="tx1"/>
              </a:solidFill>
              <a:prstDash val="solid"/>
              <a:round/>
              <a:headEnd type="none" w="med" len="med"/>
              <a:tailEnd type="triangle" w="med" len="med"/>
            </a:ln>
          </p:spPr>
        </p:sp>
        <p:sp>
          <p:nvSpPr>
            <p:cNvPr id="28683" name="直接连接符 148491"/>
            <p:cNvSpPr/>
            <p:nvPr/>
          </p:nvSpPr>
          <p:spPr>
            <a:xfrm>
              <a:off x="1981" y="3147"/>
              <a:ext cx="1296" cy="864"/>
            </a:xfrm>
            <a:prstGeom prst="line">
              <a:avLst/>
            </a:prstGeom>
            <a:ln w="9525" cap="flat" cmpd="sng">
              <a:solidFill>
                <a:schemeClr val="tx1"/>
              </a:solidFill>
              <a:prstDash val="solid"/>
              <a:round/>
              <a:headEnd type="none" w="med" len="med"/>
              <a:tailEnd type="triangle" w="med" len="med"/>
            </a:ln>
          </p:spPr>
        </p:sp>
        <p:sp>
          <p:nvSpPr>
            <p:cNvPr id="28684" name="直接连接符 148492"/>
            <p:cNvSpPr/>
            <p:nvPr/>
          </p:nvSpPr>
          <p:spPr>
            <a:xfrm flipV="1">
              <a:off x="1981" y="2667"/>
              <a:ext cx="1296" cy="1056"/>
            </a:xfrm>
            <a:prstGeom prst="line">
              <a:avLst/>
            </a:prstGeom>
            <a:ln w="9525" cap="flat" cmpd="sng">
              <a:solidFill>
                <a:schemeClr val="tx1"/>
              </a:solidFill>
              <a:prstDash val="solid"/>
              <a:round/>
              <a:headEnd type="none" w="med" len="med"/>
              <a:tailEnd type="triangle" w="med" len="med"/>
            </a:ln>
          </p:spPr>
        </p:sp>
        <p:sp>
          <p:nvSpPr>
            <p:cNvPr id="28685" name="直接连接符 148493"/>
            <p:cNvSpPr/>
            <p:nvPr/>
          </p:nvSpPr>
          <p:spPr>
            <a:xfrm flipV="1">
              <a:off x="1981" y="3195"/>
              <a:ext cx="1248" cy="624"/>
            </a:xfrm>
            <a:prstGeom prst="line">
              <a:avLst/>
            </a:prstGeom>
            <a:ln w="9525" cap="flat" cmpd="sng">
              <a:solidFill>
                <a:schemeClr val="tx1"/>
              </a:solidFill>
              <a:prstDash val="solid"/>
              <a:round/>
              <a:headEnd type="none" w="med" len="med"/>
              <a:tailEnd type="triangle" w="med" len="med"/>
            </a:ln>
          </p:spPr>
        </p:sp>
        <p:sp>
          <p:nvSpPr>
            <p:cNvPr id="28686" name="直接连接符 148494"/>
            <p:cNvSpPr/>
            <p:nvPr/>
          </p:nvSpPr>
          <p:spPr>
            <a:xfrm>
              <a:off x="2029" y="3819"/>
              <a:ext cx="1248" cy="288"/>
            </a:xfrm>
            <a:prstGeom prst="line">
              <a:avLst/>
            </a:prstGeom>
            <a:ln w="9525" cap="flat" cmpd="sng">
              <a:solidFill>
                <a:schemeClr val="tx1"/>
              </a:solidFill>
              <a:prstDash val="solid"/>
              <a:round/>
              <a:headEnd type="none" w="med" len="med"/>
              <a:tailEnd type="triangle" w="med" len="med"/>
            </a:ln>
          </p:spPr>
        </p:sp>
        <p:sp>
          <p:nvSpPr>
            <p:cNvPr id="28687" name="文本框 148495"/>
            <p:cNvSpPr txBox="1"/>
            <p:nvPr/>
          </p:nvSpPr>
          <p:spPr>
            <a:xfrm>
              <a:off x="2365" y="2619"/>
              <a:ext cx="644" cy="29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(0,0)</a:t>
              </a:r>
            </a:p>
          </p:txBody>
        </p:sp>
        <p:sp>
          <p:nvSpPr>
            <p:cNvPr id="28688" name="文本框 148496"/>
            <p:cNvSpPr txBox="1"/>
            <p:nvPr/>
          </p:nvSpPr>
          <p:spPr>
            <a:xfrm>
              <a:off x="2426" y="2976"/>
              <a:ext cx="748" cy="29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(0,1)</a:t>
              </a:r>
            </a:p>
          </p:txBody>
        </p:sp>
        <p:sp>
          <p:nvSpPr>
            <p:cNvPr id="28689" name="文本框 148497"/>
            <p:cNvSpPr txBox="1"/>
            <p:nvPr/>
          </p:nvSpPr>
          <p:spPr>
            <a:xfrm>
              <a:off x="2200" y="3793"/>
              <a:ext cx="816" cy="288"/>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Q</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grpSp>
      <p:sp>
        <p:nvSpPr>
          <p:cNvPr id="16" name="文本框 114821"/>
          <p:cNvSpPr txBox="1"/>
          <p:nvPr/>
        </p:nvSpPr>
        <p:spPr>
          <a:xfrm>
            <a:off x="3843655" y="6013450"/>
            <a:ext cx="4952365" cy="36830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图</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rPr>
              <a:t>4 </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二元输入</a:t>
            </a:r>
            <a:r>
              <a:rPr kumimoji="0" lang="zh-CN" altLang="en-US" sz="1800" b="1" i="1"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rPr>
              <a:t>Q</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元输出的离散无记忆信道</a:t>
            </a:r>
            <a:r>
              <a:rPr kumimoji="0" lang="zh-CN" altLang="en-US" sz="1800" b="1" i="0" u="none" strike="noStrike" kern="1200" cap="none" spc="0" normalizeH="0" baseline="0" noProof="0" dirty="0">
                <a:ln>
                  <a:noFill/>
                </a:ln>
                <a:solidFill>
                  <a:srgbClr val="000000"/>
                </a:solidFill>
                <a:effectLst/>
                <a:uLnTx/>
                <a:uFillTx/>
                <a:latin typeface="楷体" panose="02010609060101010101" charset="-122"/>
                <a:ea typeface="楷体" panose="02010609060101010101" charset="-122"/>
                <a:cs typeface="+mn-cs"/>
              </a:rPr>
              <a:t>模型</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二元对称(BSC)信道</a:t>
            </a:r>
          </a:p>
        </p:txBody>
      </p:sp>
      <p:grpSp>
        <p:nvGrpSpPr>
          <p:cNvPr id="29699" name="组合 145478"/>
          <p:cNvGrpSpPr/>
          <p:nvPr/>
        </p:nvGrpSpPr>
        <p:grpSpPr>
          <a:xfrm>
            <a:off x="798830" y="2129473"/>
            <a:ext cx="3384550" cy="2116137"/>
            <a:chOff x="884" y="2643"/>
            <a:chExt cx="2132" cy="1333"/>
          </a:xfrm>
        </p:grpSpPr>
        <p:sp>
          <p:nvSpPr>
            <p:cNvPr id="29700" name="直接连接符 145466"/>
            <p:cNvSpPr/>
            <p:nvPr/>
          </p:nvSpPr>
          <p:spPr>
            <a:xfrm>
              <a:off x="1247" y="2931"/>
              <a:ext cx="1361" cy="0"/>
            </a:xfrm>
            <a:prstGeom prst="line">
              <a:avLst/>
            </a:prstGeom>
            <a:ln w="25400" cap="flat" cmpd="sng">
              <a:solidFill>
                <a:schemeClr val="tx1"/>
              </a:solidFill>
              <a:prstDash val="solid"/>
              <a:round/>
              <a:headEnd type="none" w="med" len="med"/>
              <a:tailEnd type="none" w="med" len="med"/>
            </a:ln>
          </p:spPr>
        </p:sp>
        <p:sp>
          <p:nvSpPr>
            <p:cNvPr id="29701" name="直接连接符 145467"/>
            <p:cNvSpPr/>
            <p:nvPr/>
          </p:nvSpPr>
          <p:spPr>
            <a:xfrm>
              <a:off x="1247" y="3657"/>
              <a:ext cx="1361" cy="0"/>
            </a:xfrm>
            <a:prstGeom prst="line">
              <a:avLst/>
            </a:prstGeom>
            <a:ln w="25400" cap="flat" cmpd="sng">
              <a:solidFill>
                <a:schemeClr val="tx1"/>
              </a:solidFill>
              <a:prstDash val="solid"/>
              <a:round/>
              <a:headEnd type="none" w="med" len="med"/>
              <a:tailEnd type="none" w="med" len="med"/>
            </a:ln>
          </p:spPr>
        </p:sp>
        <p:sp>
          <p:nvSpPr>
            <p:cNvPr id="29702" name="直接连接符 145468"/>
            <p:cNvSpPr/>
            <p:nvPr/>
          </p:nvSpPr>
          <p:spPr>
            <a:xfrm flipV="1">
              <a:off x="1247" y="2931"/>
              <a:ext cx="1361" cy="726"/>
            </a:xfrm>
            <a:prstGeom prst="line">
              <a:avLst/>
            </a:prstGeom>
            <a:ln w="25400" cap="flat" cmpd="sng">
              <a:solidFill>
                <a:schemeClr val="tx1"/>
              </a:solidFill>
              <a:prstDash val="solid"/>
              <a:round/>
              <a:headEnd type="none" w="med" len="med"/>
              <a:tailEnd type="none" w="med" len="med"/>
            </a:ln>
          </p:spPr>
        </p:sp>
        <p:sp>
          <p:nvSpPr>
            <p:cNvPr id="29703" name="直接连接符 145469"/>
            <p:cNvSpPr/>
            <p:nvPr/>
          </p:nvSpPr>
          <p:spPr>
            <a:xfrm>
              <a:off x="1247" y="2931"/>
              <a:ext cx="1361" cy="726"/>
            </a:xfrm>
            <a:prstGeom prst="line">
              <a:avLst/>
            </a:prstGeom>
            <a:ln w="25400" cap="flat" cmpd="sng">
              <a:solidFill>
                <a:schemeClr val="tx1"/>
              </a:solidFill>
              <a:prstDash val="solid"/>
              <a:round/>
              <a:headEnd type="none" w="med" len="med"/>
              <a:tailEnd type="none" w="med" len="med"/>
            </a:ln>
          </p:spPr>
        </p:sp>
        <p:sp>
          <p:nvSpPr>
            <p:cNvPr id="29704" name="文本框 145470"/>
            <p:cNvSpPr txBox="1"/>
            <p:nvPr/>
          </p:nvSpPr>
          <p:spPr>
            <a:xfrm>
              <a:off x="884" y="2779"/>
              <a:ext cx="363" cy="288"/>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29705" name="文本框 145471"/>
            <p:cNvSpPr txBox="1"/>
            <p:nvPr/>
          </p:nvSpPr>
          <p:spPr>
            <a:xfrm>
              <a:off x="2653" y="2779"/>
              <a:ext cx="363" cy="288"/>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29706" name="文本框 145472"/>
            <p:cNvSpPr txBox="1"/>
            <p:nvPr/>
          </p:nvSpPr>
          <p:spPr>
            <a:xfrm>
              <a:off x="884" y="3520"/>
              <a:ext cx="363" cy="288"/>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29707" name="文本框 145473"/>
            <p:cNvSpPr txBox="1"/>
            <p:nvPr/>
          </p:nvSpPr>
          <p:spPr>
            <a:xfrm>
              <a:off x="2653" y="3520"/>
              <a:ext cx="363" cy="288"/>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29708" name="文本框 145474"/>
            <p:cNvSpPr txBox="1"/>
            <p:nvPr/>
          </p:nvSpPr>
          <p:spPr>
            <a:xfrm>
              <a:off x="2108" y="2960"/>
              <a:ext cx="363" cy="290"/>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p>
          </p:txBody>
        </p:sp>
        <p:sp>
          <p:nvSpPr>
            <p:cNvPr id="29709" name="文本框 145475"/>
            <p:cNvSpPr txBox="1"/>
            <p:nvPr/>
          </p:nvSpPr>
          <p:spPr>
            <a:xfrm>
              <a:off x="2108" y="3323"/>
              <a:ext cx="363" cy="290"/>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p>
          </p:txBody>
        </p:sp>
        <p:sp>
          <p:nvSpPr>
            <p:cNvPr id="29710" name="文本框 145476"/>
            <p:cNvSpPr txBox="1"/>
            <p:nvPr/>
          </p:nvSpPr>
          <p:spPr>
            <a:xfrm>
              <a:off x="1564" y="2643"/>
              <a:ext cx="636" cy="290"/>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p>
          </p:txBody>
        </p:sp>
        <p:sp>
          <p:nvSpPr>
            <p:cNvPr id="29711" name="文本框 145477"/>
            <p:cNvSpPr txBox="1"/>
            <p:nvPr/>
          </p:nvSpPr>
          <p:spPr>
            <a:xfrm>
              <a:off x="1563" y="3686"/>
              <a:ext cx="636" cy="290"/>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p>
          </p:txBody>
        </p:sp>
      </p:grpSp>
      <p:sp>
        <p:nvSpPr>
          <p:cNvPr id="7" name="文本框 114821"/>
          <p:cNvSpPr txBox="1"/>
          <p:nvPr/>
        </p:nvSpPr>
        <p:spPr>
          <a:xfrm>
            <a:off x="1198245" y="4283075"/>
            <a:ext cx="2691130" cy="36830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图</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rPr>
              <a:t>5 </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二元</a:t>
            </a:r>
            <a:r>
              <a:rPr kumimoji="0" lang="zh-CN" altLang="en-US" sz="1800" b="1" i="0" u="none" strike="noStrike" kern="1200" cap="none" spc="0" normalizeH="0" baseline="0" noProof="0">
                <a:ln>
                  <a:noFill/>
                </a:ln>
                <a:solidFill>
                  <a:srgbClr val="000000"/>
                </a:solidFill>
                <a:effectLst/>
                <a:uLnTx/>
                <a:uFillTx/>
                <a:latin typeface="Arial"/>
                <a:ea typeface="楷体" panose="02010609060101010101" charset="-122"/>
                <a:cs typeface="+mn-cs"/>
              </a:rPr>
              <a:t>对称信道</a:t>
            </a:r>
            <a:r>
              <a:rPr kumimoji="0" lang="zh-CN" altLang="en-US" sz="1800" b="1" i="0" u="none" strike="noStrike" kern="1200" cap="none" spc="0" normalizeH="0" baseline="0" noProof="0" dirty="0">
                <a:ln>
                  <a:noFill/>
                </a:ln>
                <a:solidFill>
                  <a:srgbClr val="000000"/>
                </a:solidFill>
                <a:effectLst/>
                <a:uLnTx/>
                <a:uFillTx/>
                <a:latin typeface="楷体" panose="02010609060101010101" charset="-122"/>
                <a:ea typeface="楷体" panose="02010609060101010101" charset="-122"/>
                <a:cs typeface="+mn-cs"/>
              </a:rPr>
              <a:t>模型</a:t>
            </a:r>
          </a:p>
        </p:txBody>
      </p:sp>
      <p:sp>
        <p:nvSpPr>
          <p:cNvPr id="29712" name="文本框 145479"/>
          <p:cNvSpPr txBox="1"/>
          <p:nvPr/>
        </p:nvSpPr>
        <p:spPr>
          <a:xfrm>
            <a:off x="5295583" y="2376488"/>
            <a:ext cx="3095625" cy="1568450"/>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(0/0)=</a:t>
            </a: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(1/1)=1-</a:t>
            </a: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(0/1)=</a:t>
            </a: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(1/0)=</a:t>
            </a: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8" name="左右箭头 7"/>
          <p:cNvSpPr/>
          <p:nvPr/>
        </p:nvSpPr>
        <p:spPr>
          <a:xfrm>
            <a:off x="4267200" y="3007360"/>
            <a:ext cx="762000" cy="304800"/>
          </a:xfrm>
          <a:prstGeom prst="leftRightArrow">
            <a:avLst/>
          </a:prstGeom>
          <a:solidFill>
            <a:srgbClr val="92D05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9" name="文本框 114821"/>
          <p:cNvSpPr txBox="1"/>
          <p:nvPr/>
        </p:nvSpPr>
        <p:spPr>
          <a:xfrm>
            <a:off x="1076325" y="5224145"/>
            <a:ext cx="9548495" cy="460375"/>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150" normalizeH="0" baseline="0" noProof="0">
                <a:ln>
                  <a:noFill/>
                </a:ln>
                <a:solidFill>
                  <a:srgbClr val="EC5F74">
                    <a:lumMod val="75000"/>
                  </a:srgbClr>
                </a:solidFill>
                <a:effectLst/>
                <a:uLnTx/>
                <a:uFillTx/>
                <a:latin typeface="Arial"/>
                <a:ea typeface="微软雅黑"/>
                <a:cs typeface="+mn-cs"/>
              </a:rPr>
              <a:t>信道矩阵</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：一个信道也可由它的转移概率组成的矩阵来表示。</a:t>
            </a:r>
          </a:p>
        </p:txBody>
      </p:sp>
      <p:sp>
        <p:nvSpPr>
          <p:cNvPr id="11" name="左右箭头 10"/>
          <p:cNvSpPr/>
          <p:nvPr/>
        </p:nvSpPr>
        <p:spPr>
          <a:xfrm>
            <a:off x="7807960" y="3042920"/>
            <a:ext cx="762000" cy="304800"/>
          </a:xfrm>
          <a:prstGeom prst="leftRightArrow">
            <a:avLst/>
          </a:prstGeom>
          <a:solidFill>
            <a:srgbClr val="92D05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aphicFrame>
        <p:nvGraphicFramePr>
          <p:cNvPr id="12" name="对象 11">
            <a:hlinkClick r:id="" action="ppaction://ole?verb=0"/>
          </p:cNvPr>
          <p:cNvGraphicFramePr>
            <a:graphicFrameLocks noChangeAspect="1"/>
          </p:cNvGraphicFramePr>
          <p:nvPr/>
        </p:nvGraphicFramePr>
        <p:xfrm>
          <a:off x="8965883" y="2438400"/>
          <a:ext cx="2143760" cy="1247775"/>
        </p:xfrm>
        <a:graphic>
          <a:graphicData uri="http://schemas.openxmlformats.org/presentationml/2006/ole">
            <mc:AlternateContent xmlns:mc="http://schemas.openxmlformats.org/markup-compatibility/2006">
              <mc:Choice xmlns:v="urn:schemas-microsoft-com:vml" Requires="v">
                <p:oleObj r:id="rId3" imgW="1104900" imgH="634365" progId="Equation.KSEE3">
                  <p:embed/>
                </p:oleObj>
              </mc:Choice>
              <mc:Fallback>
                <p:oleObj r:id="rId3" imgW="1104900" imgH="634365" progId="Equation.KSEE3">
                  <p:embed/>
                  <p:pic>
                    <p:nvPicPr>
                      <p:cNvPr id="12" name="对象 11">
                        <a:hlinkClick r:id="" action="ppaction://ole?verb=0"/>
                      </p:cNvPr>
                      <p:cNvPicPr/>
                      <p:nvPr/>
                    </p:nvPicPr>
                    <p:blipFill>
                      <a:blip r:embed="rId4"/>
                      <a:stretch>
                        <a:fillRect/>
                      </a:stretch>
                    </p:blipFill>
                    <p:spPr>
                      <a:xfrm>
                        <a:off x="8965883" y="2438400"/>
                        <a:ext cx="2143760" cy="1247775"/>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信道矩阵</a:t>
            </a:r>
          </a:p>
        </p:txBody>
      </p:sp>
      <p:sp>
        <p:nvSpPr>
          <p:cNvPr id="7" name="文本框 114821"/>
          <p:cNvSpPr txBox="1"/>
          <p:nvPr/>
        </p:nvSpPr>
        <p:spPr>
          <a:xfrm>
            <a:off x="1137285" y="1576705"/>
            <a:ext cx="6163310" cy="460375"/>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 </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一般离散单符号信道的信道矩阵为</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a:t>
            </a:r>
            <a:endParaRPr kumimoji="0" lang="zh-CN" altLang="en-US" sz="2400" b="1" i="0" u="none" strike="noStrike" kern="1200" cap="none" spc="150" normalizeH="0" baseline="0" noProof="0" dirty="0">
              <a:ln>
                <a:noFill/>
              </a:ln>
              <a:solidFill>
                <a:srgbClr val="000000">
                  <a:lumMod val="65000"/>
                  <a:lumOff val="35000"/>
                </a:srgbClr>
              </a:solidFill>
              <a:effectLst/>
              <a:uLnTx/>
              <a:uFillTx/>
              <a:latin typeface="Arial" panose="020B0604020202020204" pitchFamily="34" charset="0"/>
              <a:ea typeface="黑体" panose="02010609060101010101" pitchFamily="49" charset="-122"/>
              <a:cs typeface="+mn-cs"/>
            </a:endParaRPr>
          </a:p>
        </p:txBody>
      </p:sp>
      <p:graphicFrame>
        <p:nvGraphicFramePr>
          <p:cNvPr id="8" name="对象 7">
            <a:hlinkClick r:id="" action="ppaction://ole?verb=0"/>
          </p:cNvPr>
          <p:cNvGraphicFramePr>
            <a:graphicFrameLocks noChangeAspect="1"/>
          </p:cNvGraphicFramePr>
          <p:nvPr/>
        </p:nvGraphicFramePr>
        <p:xfrm>
          <a:off x="3580765" y="2275840"/>
          <a:ext cx="5545455" cy="2248535"/>
        </p:xfrm>
        <a:graphic>
          <a:graphicData uri="http://schemas.openxmlformats.org/presentationml/2006/ole">
            <mc:AlternateContent xmlns:mc="http://schemas.openxmlformats.org/markup-compatibility/2006">
              <mc:Choice xmlns:v="urn:schemas-microsoft-com:vml" Requires="v">
                <p:oleObj r:id="rId3" imgW="2425700" imgH="1143000" progId="Equation.KSEE3">
                  <p:embed/>
                </p:oleObj>
              </mc:Choice>
              <mc:Fallback>
                <p:oleObj r:id="rId3" imgW="2425700" imgH="1143000" progId="Equation.KSEE3">
                  <p:embed/>
                  <p:pic>
                    <p:nvPicPr>
                      <p:cNvPr id="8" name="对象 7">
                        <a:hlinkClick r:id="" action="ppaction://ole?verb=0"/>
                      </p:cNvPr>
                      <p:cNvPicPr/>
                      <p:nvPr/>
                    </p:nvPicPr>
                    <p:blipFill>
                      <a:blip r:embed="rId4"/>
                      <a:stretch>
                        <a:fillRect/>
                      </a:stretch>
                    </p:blipFill>
                    <p:spPr>
                      <a:xfrm>
                        <a:off x="3580765" y="2275840"/>
                        <a:ext cx="5545455" cy="2248535"/>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加性高斯白噪声(AWGN)信道</a:t>
            </a:r>
          </a:p>
        </p:txBody>
      </p:sp>
      <p:sp>
        <p:nvSpPr>
          <p:cNvPr id="3" name="内容占位符 2"/>
          <p:cNvSpPr>
            <a:spLocks noGrp="1"/>
          </p:cNvSpPr>
          <p:nvPr>
            <p:ph idx="1"/>
          </p:nvPr>
        </p:nvSpPr>
        <p:spPr>
          <a:xfrm>
            <a:off x="608330" y="1490345"/>
            <a:ext cx="10909300" cy="2399665"/>
          </a:xfrm>
        </p:spPr>
        <p:txBody>
          <a:bodyPr>
            <a:normAutofit/>
          </a:bodyPr>
          <a:lstStyle/>
          <a:p>
            <a:r>
              <a:rPr lang="zh-CN" sz="2400" b="1">
                <a:solidFill>
                  <a:schemeClr val="accent6">
                    <a:lumMod val="75000"/>
                  </a:schemeClr>
                </a:solidFill>
              </a:rPr>
              <a:t>加性噪声</a:t>
            </a:r>
            <a:r>
              <a:rPr sz="2400"/>
              <a:t>：叠加在信号上的一种噪声</a:t>
            </a:r>
            <a:r>
              <a:rPr lang="zh-CN" sz="2400"/>
              <a:t>。</a:t>
            </a:r>
            <a:endParaRPr sz="2400"/>
          </a:p>
          <a:p>
            <a:r>
              <a:rPr lang="zh-CN" sz="2400" b="1">
                <a:solidFill>
                  <a:schemeClr val="accent6">
                    <a:lumMod val="75000"/>
                  </a:schemeClr>
                </a:solidFill>
              </a:rPr>
              <a:t>白噪声</a:t>
            </a:r>
            <a:r>
              <a:rPr sz="2400"/>
              <a:t>：噪声的功率谱密度在所有的频率上均为一常数</a:t>
            </a:r>
            <a:r>
              <a:rPr lang="zh-CN" sz="2400"/>
              <a:t>。</a:t>
            </a:r>
            <a:endParaRPr sz="2400"/>
          </a:p>
          <a:p>
            <a:r>
              <a:rPr lang="zh-CN" sz="2400" b="1">
                <a:solidFill>
                  <a:schemeClr val="accent6">
                    <a:lumMod val="75000"/>
                  </a:schemeClr>
                </a:solidFill>
              </a:rPr>
              <a:t>高斯白噪声</a:t>
            </a:r>
            <a:r>
              <a:rPr sz="2400"/>
              <a:t>：白噪声取值的概率分布服从高斯分布</a:t>
            </a:r>
            <a:r>
              <a:rPr lang="zh-CN" sz="2400"/>
              <a:t>，</a:t>
            </a:r>
            <a:r>
              <a:rPr sz="2400"/>
              <a:t>其自相关系数为无延时的冲击函数</a:t>
            </a:r>
            <a:r>
              <a:rPr lang="zh-CN" sz="2400"/>
              <a:t>。</a:t>
            </a:r>
          </a:p>
        </p:txBody>
      </p:sp>
      <p:grpSp>
        <p:nvGrpSpPr>
          <p:cNvPr id="36869" name="组合 35853"/>
          <p:cNvGrpSpPr/>
          <p:nvPr/>
        </p:nvGrpSpPr>
        <p:grpSpPr>
          <a:xfrm>
            <a:off x="2505710" y="4182745"/>
            <a:ext cx="3313113" cy="1368425"/>
            <a:chOff x="612" y="2976"/>
            <a:chExt cx="2087" cy="862"/>
          </a:xfrm>
        </p:grpSpPr>
        <p:sp>
          <p:nvSpPr>
            <p:cNvPr id="36870" name="文本框 154645"/>
            <p:cNvSpPr txBox="1"/>
            <p:nvPr/>
          </p:nvSpPr>
          <p:spPr>
            <a:xfrm>
              <a:off x="884" y="3338"/>
              <a:ext cx="408" cy="228"/>
            </a:xfrm>
            <a:prstGeom prst="rect">
              <a:avLst/>
            </a:prstGeom>
            <a:noFill/>
            <a:ln w="9525">
              <a:noFill/>
            </a:ln>
          </p:spPr>
          <p:txBody>
            <a:bodyPr anchor="t" anchorCtr="0"/>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36871" name="椭圆 154657"/>
            <p:cNvSpPr/>
            <p:nvPr/>
          </p:nvSpPr>
          <p:spPr>
            <a:xfrm>
              <a:off x="1428" y="3430"/>
              <a:ext cx="454" cy="408"/>
            </a:xfrm>
            <a:prstGeom prst="ellipse">
              <a:avLst/>
            </a:prstGeom>
            <a:solidFill>
              <a:srgbClr val="92D050"/>
            </a:solidFill>
            <a:ln w="9525" cap="flat" cmpd="sng">
              <a:solidFill>
                <a:schemeClr val="tx1"/>
              </a:solidFill>
              <a:prstDash val="solid"/>
              <a:round/>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6872" name="文本框 154658"/>
            <p:cNvSpPr txBox="1"/>
            <p:nvPr/>
          </p:nvSpPr>
          <p:spPr>
            <a:xfrm>
              <a:off x="1519" y="3476"/>
              <a:ext cx="272" cy="288"/>
            </a:xfrm>
            <a:prstGeom prst="rect">
              <a:avLst/>
            </a:prstGeom>
            <a:noFill/>
            <a:ln w="9525">
              <a:noFill/>
            </a:ln>
          </p:spPr>
          <p:txBody>
            <a:bodyPr anchor="t" anchorCtr="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36873" name="直接连接符 154659"/>
            <p:cNvSpPr/>
            <p:nvPr/>
          </p:nvSpPr>
          <p:spPr>
            <a:xfrm>
              <a:off x="612" y="3657"/>
              <a:ext cx="817" cy="0"/>
            </a:xfrm>
            <a:prstGeom prst="line">
              <a:avLst/>
            </a:prstGeom>
            <a:ln w="25400" cap="flat" cmpd="sng">
              <a:solidFill>
                <a:schemeClr val="tx1"/>
              </a:solidFill>
              <a:prstDash val="solid"/>
              <a:round/>
              <a:headEnd type="none" w="med" len="med"/>
              <a:tailEnd type="triangle" w="med" len="med"/>
            </a:ln>
          </p:spPr>
        </p:sp>
        <p:sp>
          <p:nvSpPr>
            <p:cNvPr id="36874" name="直接连接符 154660"/>
            <p:cNvSpPr/>
            <p:nvPr/>
          </p:nvSpPr>
          <p:spPr>
            <a:xfrm>
              <a:off x="1882" y="3657"/>
              <a:ext cx="817" cy="0"/>
            </a:xfrm>
            <a:prstGeom prst="line">
              <a:avLst/>
            </a:prstGeom>
            <a:ln w="25400" cap="flat" cmpd="sng">
              <a:solidFill>
                <a:schemeClr val="tx1"/>
              </a:solidFill>
              <a:prstDash val="solid"/>
              <a:round/>
              <a:headEnd type="none" w="med" len="med"/>
              <a:tailEnd type="triangle" w="med" len="med"/>
            </a:ln>
          </p:spPr>
        </p:sp>
        <p:sp>
          <p:nvSpPr>
            <p:cNvPr id="36875" name="直接连接符 154661"/>
            <p:cNvSpPr/>
            <p:nvPr/>
          </p:nvSpPr>
          <p:spPr>
            <a:xfrm>
              <a:off x="1655" y="3023"/>
              <a:ext cx="0" cy="409"/>
            </a:xfrm>
            <a:prstGeom prst="line">
              <a:avLst/>
            </a:prstGeom>
            <a:ln w="25400" cap="flat" cmpd="sng">
              <a:solidFill>
                <a:schemeClr val="tx1"/>
              </a:solidFill>
              <a:prstDash val="solid"/>
              <a:round/>
              <a:headEnd type="none" w="med" len="med"/>
              <a:tailEnd type="triangle" w="med" len="med"/>
            </a:ln>
          </p:spPr>
        </p:sp>
        <p:sp>
          <p:nvSpPr>
            <p:cNvPr id="36876" name="文本框 154662"/>
            <p:cNvSpPr txBox="1"/>
            <p:nvPr/>
          </p:nvSpPr>
          <p:spPr>
            <a:xfrm>
              <a:off x="2064" y="3294"/>
              <a:ext cx="408" cy="228"/>
            </a:xfrm>
            <a:prstGeom prst="rect">
              <a:avLst/>
            </a:prstGeom>
            <a:noFill/>
            <a:ln w="9525">
              <a:noFill/>
            </a:ln>
          </p:spPr>
          <p:txBody>
            <a:bodyPr anchor="t" anchorCtr="0"/>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24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y</a:t>
              </a:r>
              <a:r>
                <a:rPr kumimoji="0" lang="en-US" altLang="zh-CN" sz="2400" b="0" i="0"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4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36877" name="文本框 154663"/>
            <p:cNvSpPr txBox="1"/>
            <p:nvPr/>
          </p:nvSpPr>
          <p:spPr>
            <a:xfrm>
              <a:off x="1655" y="2976"/>
              <a:ext cx="408" cy="228"/>
            </a:xfrm>
            <a:prstGeom prst="rect">
              <a:avLst/>
            </a:prstGeom>
            <a:noFill/>
            <a:ln w="9525">
              <a:noFill/>
            </a:ln>
          </p:spPr>
          <p:txBody>
            <a:bodyPr anchor="t" anchorCtr="0"/>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24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0" lang="en-US" altLang="zh-CN" sz="2400" b="0" i="0"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4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grpSp>
      <p:sp>
        <p:nvSpPr>
          <p:cNvPr id="36867" name="矩形 154643"/>
          <p:cNvSpPr/>
          <p:nvPr/>
        </p:nvSpPr>
        <p:spPr>
          <a:xfrm>
            <a:off x="6483985" y="4385945"/>
            <a:ext cx="3180080" cy="457200"/>
          </a:xfrm>
          <a:prstGeom prst="rect">
            <a:avLst/>
          </a:prstGeom>
          <a:noFill/>
          <a:ln w="9525">
            <a:noFill/>
          </a:ln>
        </p:spPr>
        <p:txBody>
          <a:bodyPr anchor="t" anchorCtr="0"/>
          <a:lstStyle/>
          <a:p>
            <a:pPr marL="342900" marR="0" lvl="0" indent="-342900" algn="l" defTabSz="914400" rtl="0" eaLnBrk="1" fontAlgn="auto" latinLnBrk="0" hangingPunct="1">
              <a:lnSpc>
                <a:spcPct val="100000"/>
              </a:lnSpc>
              <a:spcBef>
                <a:spcPct val="20000"/>
              </a:spcBef>
              <a:spcAft>
                <a:spcPts val="0"/>
              </a:spcAft>
              <a:buClr>
                <a:srgbClr val="0563C1"/>
              </a:buClr>
              <a:buSzPct val="65000"/>
              <a:buFont typeface="Wingdings" panose="05000000000000000000" pitchFamily="2" charset="2"/>
              <a:buNone/>
              <a:tabLst/>
              <a:defRPr/>
            </a:pP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高斯白噪声</a:t>
            </a:r>
            <a:endParaRPr kumimoji="0" lang="zh-CN" altLang="en-US" sz="2800" b="0" i="0" u="none" strike="noStrike" kern="1200" cap="none" spc="0" normalizeH="0" baseline="0" noProof="0">
              <a:ln>
                <a:noFill/>
              </a:ln>
              <a:solidFill>
                <a:srgbClr val="000000"/>
              </a:solidFill>
              <a:effectLst/>
              <a:uLnTx/>
              <a:uFillTx/>
              <a:latin typeface="华文行楷" panose="02010800040101010101" pitchFamily="2" charset="-122"/>
              <a:ea typeface="华文行楷" panose="02010800040101010101" pitchFamily="2" charset="-122"/>
              <a:cs typeface="+mn-cs"/>
            </a:endParaRPr>
          </a:p>
        </p:txBody>
      </p:sp>
      <p:graphicFrame>
        <p:nvGraphicFramePr>
          <p:cNvPr id="6" name="对象 5">
            <a:hlinkClick r:id="" action="ppaction://ole?verb=0"/>
          </p:cNvPr>
          <p:cNvGraphicFramePr>
            <a:graphicFrameLocks noChangeAspect="1"/>
          </p:cNvGraphicFramePr>
          <p:nvPr/>
        </p:nvGraphicFramePr>
        <p:xfrm>
          <a:off x="6424296" y="5103813"/>
          <a:ext cx="3030855" cy="774700"/>
        </p:xfrm>
        <a:graphic>
          <a:graphicData uri="http://schemas.openxmlformats.org/presentationml/2006/ole">
            <mc:AlternateContent xmlns:mc="http://schemas.openxmlformats.org/markup-compatibility/2006">
              <mc:Choice xmlns:v="urn:schemas-microsoft-com:vml" Requires="v">
                <p:oleObj r:id="rId3" imgW="1562100" imgH="393700" progId="Equation.KSEE3">
                  <p:embed/>
                </p:oleObj>
              </mc:Choice>
              <mc:Fallback>
                <p:oleObj r:id="rId3" imgW="1562100" imgH="393700" progId="Equation.KSEE3">
                  <p:embed/>
                  <p:pic>
                    <p:nvPicPr>
                      <p:cNvPr id="6" name="对象 5">
                        <a:hlinkClick r:id="" action="ppaction://ole?verb=0"/>
                      </p:cNvPr>
                      <p:cNvPicPr/>
                      <p:nvPr/>
                    </p:nvPicPr>
                    <p:blipFill>
                      <a:blip r:embed="rId4"/>
                      <a:stretch>
                        <a:fillRect/>
                      </a:stretch>
                    </p:blipFill>
                    <p:spPr>
                      <a:xfrm>
                        <a:off x="6424296" y="5103813"/>
                        <a:ext cx="3030855" cy="774700"/>
                      </a:xfrm>
                      <a:prstGeom prst="rect">
                        <a:avLst/>
                      </a:prstGeom>
                    </p:spPr>
                  </p:pic>
                </p:oleObj>
              </mc:Fallback>
            </mc:AlternateContent>
          </a:graphicData>
        </a:graphic>
      </p:graphicFrame>
      <p:sp>
        <p:nvSpPr>
          <p:cNvPr id="5" name="文本框 114821"/>
          <p:cNvSpPr txBox="1"/>
          <p:nvPr/>
        </p:nvSpPr>
        <p:spPr>
          <a:xfrm>
            <a:off x="2946400" y="5682615"/>
            <a:ext cx="2462530" cy="36830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图</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rPr>
              <a:t>6 AWGN</a:t>
            </a:r>
            <a:r>
              <a:rPr kumimoji="0" lang="zh-CN" altLang="en-US" sz="1800" b="1" i="0" u="none" strike="noStrike" kern="1200" cap="none" spc="0" normalizeH="0" baseline="0" noProof="0">
                <a:ln>
                  <a:noFill/>
                </a:ln>
                <a:solidFill>
                  <a:srgbClr val="000000"/>
                </a:solidFill>
                <a:effectLst/>
                <a:uLnTx/>
                <a:uFillTx/>
                <a:latin typeface="Arial"/>
                <a:ea typeface="楷体" panose="02010609060101010101" charset="-122"/>
                <a:cs typeface="+mn-cs"/>
              </a:rPr>
              <a:t>信道模型</a:t>
            </a: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信息传输率</a:t>
            </a:r>
          </a:p>
        </p:txBody>
      </p:sp>
      <p:sp>
        <p:nvSpPr>
          <p:cNvPr id="3" name="内容占位符 2"/>
          <p:cNvSpPr>
            <a:spLocks noGrp="1"/>
          </p:cNvSpPr>
          <p:nvPr>
            <p:ph idx="1"/>
          </p:nvPr>
        </p:nvSpPr>
        <p:spPr>
          <a:xfrm>
            <a:off x="261001" y="1412373"/>
            <a:ext cx="4885158" cy="3483610"/>
          </a:xfrm>
        </p:spPr>
        <p:txBody>
          <a:bodyPr>
            <a:noAutofit/>
          </a:bodyPr>
          <a:lstStyle/>
          <a:p>
            <a:pPr algn="just"/>
            <a:r>
              <a:rPr lang="zh-CN" sz="2400" b="1" dirty="0">
                <a:solidFill>
                  <a:schemeClr val="accent6">
                    <a:lumMod val="75000"/>
                  </a:schemeClr>
                </a:solidFill>
              </a:rPr>
              <a:t>符号传输率</a:t>
            </a:r>
            <a:r>
              <a:rPr sz="2400" dirty="0"/>
              <a:t>：为</a:t>
            </a:r>
            <a:r>
              <a:rPr sz="2400" dirty="0">
                <a:latin typeface="Times New Roman" panose="02020603050405020304" pitchFamily="18" charset="0"/>
                <a:cs typeface="Times New Roman" panose="02020603050405020304" pitchFamily="18" charset="0"/>
              </a:rPr>
              <a:t>1</a:t>
            </a:r>
            <a:r>
              <a:rPr sz="2400" dirty="0"/>
              <a:t>/</a:t>
            </a:r>
            <a:r>
              <a:rPr sz="2400" i="1" dirty="0" err="1">
                <a:latin typeface="Times New Roman" panose="02020603050405020304" pitchFamily="18" charset="0"/>
                <a:cs typeface="Times New Roman" panose="02020603050405020304" pitchFamily="18" charset="0"/>
              </a:rPr>
              <a:t>T</a:t>
            </a:r>
            <a:r>
              <a:rPr sz="2400" dirty="0" err="1"/>
              <a:t>，每</a:t>
            </a:r>
            <a:r>
              <a:rPr sz="2400" i="1" dirty="0" err="1">
                <a:latin typeface="Times New Roman" panose="02020603050405020304" pitchFamily="18" charset="0"/>
                <a:cs typeface="Times New Roman" panose="02020603050405020304" pitchFamily="18" charset="0"/>
              </a:rPr>
              <a:t>T</a:t>
            </a:r>
            <a:r>
              <a:rPr sz="2400" dirty="0" err="1"/>
              <a:t>秒传输一个编码符号</a:t>
            </a:r>
            <a:r>
              <a:rPr lang="zh-CN" sz="2400" dirty="0"/>
              <a:t>，即单位时间内传输的符号个数。</a:t>
            </a:r>
          </a:p>
          <a:p>
            <a:pPr algn="just"/>
            <a:r>
              <a:rPr lang="zh-CN" sz="2400" b="1" dirty="0">
                <a:solidFill>
                  <a:schemeClr val="accent6">
                    <a:lumMod val="75000"/>
                  </a:schemeClr>
                </a:solidFill>
                <a:sym typeface="+mn-ea"/>
              </a:rPr>
              <a:t>码速率</a:t>
            </a:r>
            <a:r>
              <a:rPr lang="zh-CN" sz="2400" dirty="0">
                <a:sym typeface="+mn-ea"/>
              </a:rPr>
              <a:t>：编码后的数据流中有用部分的比例，对于</a:t>
            </a:r>
            <a:r>
              <a:rPr lang="en-US" altLang="zh-CN" sz="2400" dirty="0">
                <a:sym typeface="+mn-ea"/>
              </a:rPr>
              <a:t>(</a:t>
            </a:r>
            <a:r>
              <a:rPr lang="zh-CN" sz="2400" i="1" dirty="0">
                <a:latin typeface="Times New Roman" panose="02020603050405020304" pitchFamily="18" charset="0"/>
                <a:cs typeface="Times New Roman" panose="02020603050405020304" pitchFamily="18" charset="0"/>
                <a:sym typeface="+mn-ea"/>
              </a:rPr>
              <a:t>n</a:t>
            </a:r>
            <a:r>
              <a:rPr lang="en-US" altLang="zh-CN" sz="2400" dirty="0">
                <a:latin typeface="Times New Roman" panose="02020603050405020304" pitchFamily="18" charset="0"/>
                <a:cs typeface="Times New Roman" panose="02020603050405020304" pitchFamily="18" charset="0"/>
                <a:sym typeface="+mn-ea"/>
              </a:rPr>
              <a:t>,</a:t>
            </a:r>
            <a:r>
              <a:rPr lang="zh-CN" sz="2400" i="1" dirty="0">
                <a:latin typeface="Times New Roman" panose="02020603050405020304" pitchFamily="18" charset="0"/>
                <a:cs typeface="Times New Roman" panose="02020603050405020304" pitchFamily="18" charset="0"/>
                <a:sym typeface="+mn-ea"/>
              </a:rPr>
              <a:t>k</a:t>
            </a:r>
            <a:r>
              <a:rPr lang="en-US" altLang="zh-CN" sz="2400" dirty="0">
                <a:sym typeface="+mn-ea"/>
              </a:rPr>
              <a:t>)</a:t>
            </a:r>
            <a:r>
              <a:rPr lang="zh-CN" sz="2400" dirty="0">
                <a:sym typeface="+mn-ea"/>
              </a:rPr>
              <a:t>线性分组码，</a:t>
            </a:r>
            <a:r>
              <a:rPr sz="2400" dirty="0" err="1">
                <a:sym typeface="+mn-ea"/>
              </a:rPr>
              <a:t>码速率</a:t>
            </a:r>
            <a:r>
              <a:rPr lang="zh-CN" sz="2400" dirty="0">
                <a:sym typeface="+mn-ea"/>
              </a:rPr>
              <a:t>为</a:t>
            </a:r>
            <a:r>
              <a:rPr sz="2400" i="1" dirty="0">
                <a:latin typeface="Times New Roman" panose="02020603050405020304" pitchFamily="18" charset="0"/>
                <a:cs typeface="Times New Roman" panose="02020603050405020304" pitchFamily="18" charset="0"/>
                <a:sym typeface="+mn-ea"/>
              </a:rPr>
              <a:t>R</a:t>
            </a:r>
            <a:r>
              <a:rPr sz="2400" dirty="0">
                <a:sym typeface="+mn-ea"/>
              </a:rPr>
              <a:t>=</a:t>
            </a:r>
            <a:r>
              <a:rPr sz="2400" i="1" dirty="0">
                <a:latin typeface="Times New Roman" panose="02020603050405020304" pitchFamily="18" charset="0"/>
                <a:cs typeface="Times New Roman" panose="02020603050405020304" pitchFamily="18" charset="0"/>
                <a:sym typeface="+mn-ea"/>
              </a:rPr>
              <a:t>k</a:t>
            </a:r>
            <a:r>
              <a:rPr sz="2400" dirty="0">
                <a:sym typeface="+mn-ea"/>
              </a:rPr>
              <a:t>/</a:t>
            </a:r>
            <a:r>
              <a:rPr sz="2400" i="1" dirty="0" err="1">
                <a:latin typeface="Times New Roman" panose="02020603050405020304" pitchFamily="18" charset="0"/>
                <a:cs typeface="Times New Roman" panose="02020603050405020304" pitchFamily="18" charset="0"/>
                <a:sym typeface="+mn-ea"/>
              </a:rPr>
              <a:t>n</a:t>
            </a:r>
            <a:r>
              <a:rPr sz="2400" dirty="0" err="1">
                <a:sym typeface="+mn-ea"/>
              </a:rPr>
              <a:t>，即</a:t>
            </a:r>
            <a:r>
              <a:rPr sz="2400" i="1" dirty="0" err="1">
                <a:latin typeface="Times New Roman" panose="02020603050405020304" pitchFamily="18" charset="0"/>
                <a:cs typeface="Times New Roman" panose="02020603050405020304" pitchFamily="18" charset="0"/>
                <a:sym typeface="+mn-ea"/>
              </a:rPr>
              <a:t>k</a:t>
            </a:r>
            <a:r>
              <a:rPr sz="2400" dirty="0" err="1">
                <a:sym typeface="+mn-ea"/>
              </a:rPr>
              <a:t>个信息比特对应于传送</a:t>
            </a:r>
            <a:r>
              <a:rPr sz="2400" i="1" dirty="0" err="1">
                <a:latin typeface="Times New Roman" panose="02020603050405020304" pitchFamily="18" charset="0"/>
                <a:cs typeface="Times New Roman" panose="02020603050405020304" pitchFamily="18" charset="0"/>
                <a:sym typeface="+mn-ea"/>
              </a:rPr>
              <a:t>n</a:t>
            </a:r>
            <a:r>
              <a:rPr sz="2400" dirty="0" err="1">
                <a:sym typeface="+mn-ea"/>
              </a:rPr>
              <a:t>个符号</a:t>
            </a:r>
            <a:r>
              <a:rPr lang="zh-CN" sz="2400" dirty="0">
                <a:sym typeface="+mn-ea"/>
              </a:rPr>
              <a:t>。</a:t>
            </a:r>
          </a:p>
          <a:p>
            <a:pPr algn="just"/>
            <a:r>
              <a:rPr lang="zh-CN" sz="2400" b="1" dirty="0">
                <a:solidFill>
                  <a:schemeClr val="accent6">
                    <a:lumMod val="75000"/>
                  </a:schemeClr>
                </a:solidFill>
              </a:rPr>
              <a:t>信息传输率(数据率)</a:t>
            </a:r>
            <a:r>
              <a:rPr sz="2400" dirty="0"/>
              <a:t>：</a:t>
            </a:r>
            <a:r>
              <a:rPr sz="2400" dirty="0" err="1"/>
              <a:t>在编码系统中，若码速率是</a:t>
            </a:r>
            <a:r>
              <a:rPr sz="2400" i="1" dirty="0" err="1">
                <a:latin typeface="Times New Roman" panose="02020603050405020304" pitchFamily="18" charset="0"/>
                <a:cs typeface="Times New Roman" panose="02020603050405020304" pitchFamily="18" charset="0"/>
              </a:rPr>
              <a:t>R</a:t>
            </a:r>
            <a:r>
              <a:rPr sz="2400" dirty="0"/>
              <a:t>=</a:t>
            </a:r>
            <a:r>
              <a:rPr sz="2400" i="1" dirty="0">
                <a:latin typeface="Times New Roman" panose="02020603050405020304" pitchFamily="18" charset="0"/>
                <a:cs typeface="Times New Roman" panose="02020603050405020304" pitchFamily="18" charset="0"/>
              </a:rPr>
              <a:t>k</a:t>
            </a:r>
            <a:r>
              <a:rPr sz="2400" dirty="0"/>
              <a:t>/</a:t>
            </a:r>
            <a:r>
              <a:rPr sz="2400" i="1" dirty="0" err="1">
                <a:latin typeface="Times New Roman" panose="02020603050405020304" pitchFamily="18" charset="0"/>
                <a:cs typeface="Times New Roman" panose="02020603050405020304" pitchFamily="18" charset="0"/>
              </a:rPr>
              <a:t>n</a:t>
            </a:r>
            <a:r>
              <a:rPr sz="2400" dirty="0" err="1"/>
              <a:t>，则信息传输率</a:t>
            </a:r>
            <a:r>
              <a:rPr sz="2400" dirty="0"/>
              <a:t>(</a:t>
            </a:r>
            <a:r>
              <a:rPr sz="2400" dirty="0" err="1"/>
              <a:t>数据率</a:t>
            </a:r>
            <a:r>
              <a:rPr sz="2400" dirty="0"/>
              <a:t>)</a:t>
            </a:r>
            <a:r>
              <a:rPr sz="2400" dirty="0" err="1"/>
              <a:t>为</a:t>
            </a:r>
            <a:r>
              <a:rPr sz="2400" i="1" dirty="0" err="1">
                <a:latin typeface="Times New Roman" panose="02020603050405020304" pitchFamily="18" charset="0"/>
                <a:cs typeface="Times New Roman" panose="02020603050405020304" pitchFamily="18" charset="0"/>
              </a:rPr>
              <a:t>R</a:t>
            </a:r>
            <a:r>
              <a:rPr sz="2400" dirty="0"/>
              <a:t>/</a:t>
            </a:r>
            <a:r>
              <a:rPr sz="2400" i="1" dirty="0">
                <a:latin typeface="Times New Roman" panose="02020603050405020304" pitchFamily="18" charset="0"/>
                <a:cs typeface="Times New Roman" panose="02020603050405020304" pitchFamily="18" charset="0"/>
              </a:rPr>
              <a:t>T</a:t>
            </a:r>
            <a:r>
              <a:rPr sz="2400" dirty="0">
                <a:sym typeface="+mn-ea"/>
              </a:rPr>
              <a:t>(bit/s)</a:t>
            </a:r>
            <a:r>
              <a:rPr lang="zh-CN" sz="2400" dirty="0"/>
              <a:t>。</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
        <p:nvSpPr>
          <p:cNvPr id="5" name="标题 1">
            <a:extLst>
              <a:ext uri="{FF2B5EF4-FFF2-40B4-BE49-F238E27FC236}">
                <a16:creationId xmlns:a16="http://schemas.microsoft.com/office/drawing/2014/main" id="{2473C2E6-AD6C-F8F6-2178-40D932A91CBB}"/>
              </a:ext>
            </a:extLst>
          </p:cNvPr>
          <p:cNvSpPr txBox="1">
            <a:spLocks/>
          </p:cNvSpPr>
          <p:nvPr/>
        </p:nvSpPr>
        <p:spPr>
          <a:xfrm>
            <a:off x="5904614" y="608400"/>
            <a:ext cx="4157498" cy="70560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a:t>信道带宽</a:t>
            </a:r>
            <a:endParaRPr lang="zh-CN" altLang="en-US" dirty="0"/>
          </a:p>
        </p:txBody>
      </p:sp>
      <p:sp>
        <p:nvSpPr>
          <p:cNvPr id="6" name="内容占位符 2">
            <a:extLst>
              <a:ext uri="{FF2B5EF4-FFF2-40B4-BE49-F238E27FC236}">
                <a16:creationId xmlns:a16="http://schemas.microsoft.com/office/drawing/2014/main" id="{CA09A280-3DAC-A971-F6D7-D3C7AC325399}"/>
              </a:ext>
            </a:extLst>
          </p:cNvPr>
          <p:cNvSpPr txBox="1">
            <a:spLocks/>
          </p:cNvSpPr>
          <p:nvPr/>
        </p:nvSpPr>
        <p:spPr>
          <a:xfrm>
            <a:off x="5697781" y="1412373"/>
            <a:ext cx="6407133" cy="417957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sz="2400">
                <a:sym typeface="+mn-ea"/>
              </a:rPr>
              <a:t>除了噪声的作用造成信号改变外，所有的通信系统都会因为带宽有限而造成信号失真。</a:t>
            </a:r>
          </a:p>
          <a:p>
            <a:pPr algn="just"/>
            <a:r>
              <a:rPr lang="zh-CN" altLang="en-US" sz="2400" b="1">
                <a:solidFill>
                  <a:schemeClr val="accent6">
                    <a:lumMod val="75000"/>
                  </a:schemeClr>
                </a:solidFill>
                <a:sym typeface="+mn-ea"/>
              </a:rPr>
              <a:t>最小信道带宽</a:t>
            </a:r>
            <a:r>
              <a:rPr lang="zh-CN" altLang="en-US" sz="2400">
                <a:sym typeface="+mn-ea"/>
              </a:rPr>
              <a:t>：为基本保证信号不因带宽原因而失真，粗略估计等于</a:t>
            </a:r>
            <a:r>
              <a:rPr lang="en-US" altLang="zh-CN" sz="2400" i="1">
                <a:latin typeface="Times New Roman" panose="02020603050405020304" pitchFamily="18" charset="0"/>
                <a:cs typeface="Times New Roman" panose="02020603050405020304" pitchFamily="18" charset="0"/>
                <a:sym typeface="+mn-ea"/>
              </a:rPr>
              <a:t>W</a:t>
            </a:r>
            <a:r>
              <a:rPr lang="en-US" altLang="zh-CN" sz="2400">
                <a:sym typeface="+mn-ea"/>
              </a:rPr>
              <a:t>=</a:t>
            </a:r>
            <a:r>
              <a:rPr lang="en-US" altLang="zh-CN" sz="2400">
                <a:latin typeface="Times New Roman" panose="02020603050405020304" pitchFamily="18" charset="0"/>
                <a:cs typeface="Times New Roman" panose="02020603050405020304" pitchFamily="18" charset="0"/>
                <a:sym typeface="+mn-ea"/>
              </a:rPr>
              <a:t>1</a:t>
            </a:r>
            <a:r>
              <a:rPr lang="en-US" altLang="zh-CN" sz="2400">
                <a:sym typeface="+mn-ea"/>
              </a:rPr>
              <a:t>/(</a:t>
            </a:r>
            <a:r>
              <a:rPr lang="en-US" altLang="zh-CN" sz="2400">
                <a:latin typeface="Times New Roman" panose="02020603050405020304" pitchFamily="18" charset="0"/>
                <a:cs typeface="Times New Roman" panose="02020603050405020304" pitchFamily="18" charset="0"/>
                <a:sym typeface="+mn-ea"/>
              </a:rPr>
              <a:t>2</a:t>
            </a:r>
            <a:r>
              <a:rPr lang="en-US" altLang="zh-CN" sz="2400" i="1">
                <a:latin typeface="Times New Roman" panose="02020603050405020304" pitchFamily="18" charset="0"/>
                <a:cs typeface="Times New Roman" panose="02020603050405020304" pitchFamily="18" charset="0"/>
                <a:sym typeface="+mn-ea"/>
              </a:rPr>
              <a:t>T</a:t>
            </a:r>
            <a:r>
              <a:rPr lang="en-US" altLang="zh-CN" sz="2400">
                <a:sym typeface="+mn-ea"/>
              </a:rPr>
              <a:t>)(</a:t>
            </a:r>
            <a:r>
              <a:rPr lang="en-US" altLang="zh-CN" sz="2400">
                <a:latin typeface="Times New Roman" panose="02020603050405020304" pitchFamily="18" charset="0"/>
                <a:cs typeface="Times New Roman" panose="02020603050405020304" pitchFamily="18" charset="0"/>
                <a:sym typeface="+mn-ea"/>
              </a:rPr>
              <a:t>Hz</a:t>
            </a:r>
            <a:r>
              <a:rPr lang="en-US" altLang="zh-CN" sz="2400">
                <a:sym typeface="+mn-ea"/>
              </a:rPr>
              <a:t>)</a:t>
            </a:r>
            <a:r>
              <a:rPr lang="zh-CN" altLang="en-US" sz="2400">
                <a:sym typeface="+mn-ea"/>
              </a:rPr>
              <a:t>。</a:t>
            </a:r>
          </a:p>
          <a:p>
            <a:r>
              <a:rPr lang="zh-CN" altLang="en-US" sz="2400" b="1">
                <a:solidFill>
                  <a:schemeClr val="accent6">
                    <a:lumMod val="75000"/>
                  </a:schemeClr>
                </a:solidFill>
                <a:sym typeface="+mn-ea"/>
              </a:rPr>
              <a:t>未编码系统</a:t>
            </a:r>
            <a:r>
              <a:rPr lang="zh-CN" altLang="en-US" sz="2400">
                <a:sym typeface="+mn-ea"/>
              </a:rPr>
              <a:t>：数据率</a:t>
            </a:r>
            <a:r>
              <a:rPr lang="en-US" altLang="zh-CN" sz="2400">
                <a:latin typeface="Times New Roman" panose="02020603050405020304" pitchFamily="18" charset="0"/>
                <a:cs typeface="Times New Roman" panose="02020603050405020304" pitchFamily="18" charset="0"/>
                <a:sym typeface="+mn-ea"/>
              </a:rPr>
              <a:t>1</a:t>
            </a:r>
            <a:r>
              <a:rPr lang="en-US" altLang="zh-CN" sz="2400">
                <a:sym typeface="+mn-ea"/>
              </a:rPr>
              <a:t>/</a:t>
            </a:r>
            <a:r>
              <a:rPr lang="en-US" altLang="zh-CN" sz="2400" i="1">
                <a:latin typeface="Times New Roman" panose="02020603050405020304" pitchFamily="18" charset="0"/>
                <a:cs typeface="Times New Roman" panose="02020603050405020304" pitchFamily="18" charset="0"/>
                <a:sym typeface="+mn-ea"/>
              </a:rPr>
              <a:t>T</a:t>
            </a:r>
            <a:r>
              <a:rPr lang="en-US" altLang="zh-CN" sz="2400">
                <a:sym typeface="+mn-ea"/>
              </a:rPr>
              <a:t>=</a:t>
            </a:r>
            <a:r>
              <a:rPr lang="en-US" altLang="zh-CN" sz="2400">
                <a:latin typeface="Times New Roman" panose="02020603050405020304" pitchFamily="18" charset="0"/>
                <a:cs typeface="Times New Roman" panose="02020603050405020304" pitchFamily="18" charset="0"/>
                <a:sym typeface="+mn-ea"/>
              </a:rPr>
              <a:t>2</a:t>
            </a:r>
            <a:r>
              <a:rPr lang="en-US" altLang="zh-CN" sz="2400" i="1">
                <a:latin typeface="Times New Roman" panose="02020603050405020304" pitchFamily="18" charset="0"/>
                <a:cs typeface="Times New Roman" panose="02020603050405020304" pitchFamily="18" charset="0"/>
                <a:sym typeface="+mn-ea"/>
              </a:rPr>
              <a:t>W</a:t>
            </a:r>
            <a:r>
              <a:rPr lang="zh-CN" altLang="en-US" sz="2400">
                <a:sym typeface="+mn-ea"/>
              </a:rPr>
              <a:t>，受到带宽影响。</a:t>
            </a:r>
          </a:p>
          <a:p>
            <a:pPr algn="just"/>
            <a:r>
              <a:rPr lang="zh-CN" altLang="en-US" sz="2400" b="1">
                <a:solidFill>
                  <a:schemeClr val="accent6">
                    <a:lumMod val="75000"/>
                  </a:schemeClr>
                </a:solidFill>
                <a:sym typeface="+mn-ea"/>
              </a:rPr>
              <a:t>二元编码系统</a:t>
            </a:r>
            <a:r>
              <a:rPr lang="zh-CN" altLang="en-US" sz="2400">
                <a:sym typeface="+mn-ea"/>
              </a:rPr>
              <a:t>：数据率</a:t>
            </a:r>
            <a:r>
              <a:rPr lang="en-US" altLang="zh-CN" sz="2400" i="1">
                <a:latin typeface="Times New Roman" panose="02020603050405020304" pitchFamily="18" charset="0"/>
                <a:cs typeface="Times New Roman" panose="02020603050405020304" pitchFamily="18" charset="0"/>
                <a:sym typeface="+mn-ea"/>
              </a:rPr>
              <a:t>R</a:t>
            </a:r>
            <a:r>
              <a:rPr lang="en-US" altLang="zh-CN" sz="2400">
                <a:sym typeface="+mn-ea"/>
              </a:rPr>
              <a:t>/</a:t>
            </a:r>
            <a:r>
              <a:rPr lang="en-US" altLang="zh-CN" sz="2400" i="1">
                <a:latin typeface="Times New Roman" panose="02020603050405020304" pitchFamily="18" charset="0"/>
                <a:cs typeface="Times New Roman" panose="02020603050405020304" pitchFamily="18" charset="0"/>
                <a:sym typeface="+mn-ea"/>
              </a:rPr>
              <a:t>T</a:t>
            </a:r>
            <a:r>
              <a:rPr lang="en-US" altLang="zh-CN" sz="2400">
                <a:sym typeface="+mn-ea"/>
              </a:rPr>
              <a:t>=</a:t>
            </a:r>
            <a:r>
              <a:rPr lang="en-US" altLang="zh-CN" sz="2400">
                <a:latin typeface="Times New Roman" panose="02020603050405020304" pitchFamily="18" charset="0"/>
                <a:cs typeface="Times New Roman" panose="02020603050405020304" pitchFamily="18" charset="0"/>
                <a:sym typeface="+mn-ea"/>
              </a:rPr>
              <a:t>2</a:t>
            </a:r>
            <a:r>
              <a:rPr lang="en-US" altLang="zh-CN" sz="2400" i="1">
                <a:latin typeface="Times New Roman" panose="02020603050405020304" pitchFamily="18" charset="0"/>
                <a:cs typeface="Times New Roman" panose="02020603050405020304" pitchFamily="18" charset="0"/>
                <a:sym typeface="+mn-ea"/>
              </a:rPr>
              <a:t>RW</a:t>
            </a:r>
            <a:r>
              <a:rPr lang="zh-CN" altLang="en-US" sz="2400">
                <a:sym typeface="+mn-ea"/>
              </a:rPr>
              <a:t>。同未编码系统相比，若要保持数据率不变，则要求带宽扩展</a:t>
            </a:r>
            <a:r>
              <a:rPr lang="en-US" altLang="zh-CN" sz="2400">
                <a:latin typeface="Times New Roman" panose="02020603050405020304" pitchFamily="18" charset="0"/>
                <a:cs typeface="Times New Roman" panose="02020603050405020304" pitchFamily="18" charset="0"/>
                <a:sym typeface="+mn-ea"/>
              </a:rPr>
              <a:t>1</a:t>
            </a:r>
            <a:r>
              <a:rPr lang="en-US" altLang="zh-CN" sz="2400">
                <a:sym typeface="+mn-ea"/>
              </a:rPr>
              <a:t>/</a:t>
            </a:r>
            <a:r>
              <a:rPr lang="en-US" altLang="zh-CN" sz="2400" i="1">
                <a:latin typeface="Times New Roman" panose="02020603050405020304" pitchFamily="18" charset="0"/>
                <a:cs typeface="Times New Roman" panose="02020603050405020304" pitchFamily="18" charset="0"/>
                <a:sym typeface="+mn-ea"/>
              </a:rPr>
              <a:t>R</a:t>
            </a:r>
            <a:r>
              <a:rPr lang="zh-CN" altLang="en-US" sz="2400">
                <a:sym typeface="+mn-ea"/>
              </a:rPr>
              <a:t>倍。</a:t>
            </a:r>
            <a:endParaRPr lang="zh-CN" altLang="en-US" sz="2400" dirty="0">
              <a:sym typeface="+mn-ea"/>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AWGN信道的分组编码系统</a:t>
            </a:r>
          </a:p>
        </p:txBody>
      </p:sp>
      <p:sp>
        <p:nvSpPr>
          <p:cNvPr id="39937" name="矩形 157740"/>
          <p:cNvSpPr/>
          <p:nvPr/>
        </p:nvSpPr>
        <p:spPr>
          <a:xfrm>
            <a:off x="1131253" y="3656648"/>
            <a:ext cx="1008062" cy="576262"/>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直接连接符 157701"/>
          <p:cNvSpPr/>
          <p:nvPr/>
        </p:nvSpPr>
        <p:spPr>
          <a:xfrm>
            <a:off x="3939540" y="1424623"/>
            <a:ext cx="73025" cy="3024187"/>
          </a:xfrm>
          <a:prstGeom prst="line">
            <a:avLst/>
          </a:prstGeom>
          <a:ln w="25400" cap="flat" cmpd="sng">
            <a:solidFill>
              <a:srgbClr val="000000"/>
            </a:solidFill>
            <a:prstDash val="dash"/>
            <a:round/>
            <a:headEnd type="none" w="med" len="med"/>
            <a:tailEnd type="none" w="med" len="med"/>
          </a:ln>
        </p:spPr>
      </p:sp>
      <p:sp>
        <p:nvSpPr>
          <p:cNvPr id="39940" name="文本框 157705"/>
          <p:cNvSpPr txBox="1"/>
          <p:nvPr/>
        </p:nvSpPr>
        <p:spPr>
          <a:xfrm>
            <a:off x="1275715" y="3801110"/>
            <a:ext cx="647700" cy="304800"/>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信 宿</a:t>
            </a:r>
          </a:p>
        </p:txBody>
      </p:sp>
      <p:sp>
        <p:nvSpPr>
          <p:cNvPr id="39941" name="矩形 157706"/>
          <p:cNvSpPr/>
          <p:nvPr/>
        </p:nvSpPr>
        <p:spPr>
          <a:xfrm>
            <a:off x="2571115" y="1856423"/>
            <a:ext cx="1079500" cy="577850"/>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42" name="文本框 157707"/>
          <p:cNvSpPr txBox="1"/>
          <p:nvPr/>
        </p:nvSpPr>
        <p:spPr>
          <a:xfrm>
            <a:off x="2713990" y="2000885"/>
            <a:ext cx="936625" cy="304800"/>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编 码 器</a:t>
            </a:r>
          </a:p>
        </p:txBody>
      </p:sp>
      <p:sp>
        <p:nvSpPr>
          <p:cNvPr id="39943" name="矩形 157710"/>
          <p:cNvSpPr/>
          <p:nvPr/>
        </p:nvSpPr>
        <p:spPr>
          <a:xfrm>
            <a:off x="4084003" y="1856423"/>
            <a:ext cx="1152525" cy="576262"/>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44" name="文本框 157711"/>
          <p:cNvSpPr txBox="1"/>
          <p:nvPr/>
        </p:nvSpPr>
        <p:spPr>
          <a:xfrm>
            <a:off x="4228465" y="2000885"/>
            <a:ext cx="863600" cy="304800"/>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调 制 器</a:t>
            </a:r>
          </a:p>
        </p:txBody>
      </p:sp>
      <p:sp>
        <p:nvSpPr>
          <p:cNvPr id="39945" name="矩形 157712"/>
          <p:cNvSpPr/>
          <p:nvPr/>
        </p:nvSpPr>
        <p:spPr>
          <a:xfrm>
            <a:off x="6100128" y="2648585"/>
            <a:ext cx="1368425" cy="576263"/>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46" name="文本框 157713"/>
          <p:cNvSpPr txBox="1"/>
          <p:nvPr/>
        </p:nvSpPr>
        <p:spPr>
          <a:xfrm>
            <a:off x="6171565" y="2793048"/>
            <a:ext cx="1295400" cy="304800"/>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AWGN</a:t>
            </a:r>
            <a:r>
              <a:rPr kumimoji="0" lang="en-US" altLang="zh-CN" sz="1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信 道</a:t>
            </a:r>
          </a:p>
        </p:txBody>
      </p:sp>
      <p:sp>
        <p:nvSpPr>
          <p:cNvPr id="39947" name="矩形 157714"/>
          <p:cNvSpPr/>
          <p:nvPr/>
        </p:nvSpPr>
        <p:spPr>
          <a:xfrm>
            <a:off x="6100128" y="3656648"/>
            <a:ext cx="1368425" cy="576262"/>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48" name="文本框 157715"/>
          <p:cNvSpPr txBox="1"/>
          <p:nvPr/>
        </p:nvSpPr>
        <p:spPr>
          <a:xfrm>
            <a:off x="6100128" y="3801110"/>
            <a:ext cx="1368425" cy="304800"/>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匹 配 滤 波 器</a:t>
            </a:r>
          </a:p>
        </p:txBody>
      </p:sp>
      <p:sp>
        <p:nvSpPr>
          <p:cNvPr id="39949" name="矩形 157716"/>
          <p:cNvSpPr/>
          <p:nvPr/>
        </p:nvSpPr>
        <p:spPr>
          <a:xfrm>
            <a:off x="2644140" y="3656648"/>
            <a:ext cx="1008063" cy="577850"/>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50" name="文本框 157717"/>
          <p:cNvSpPr txBox="1"/>
          <p:nvPr/>
        </p:nvSpPr>
        <p:spPr>
          <a:xfrm>
            <a:off x="2715578" y="3801110"/>
            <a:ext cx="863600" cy="304800"/>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译 码 器</a:t>
            </a:r>
          </a:p>
        </p:txBody>
      </p:sp>
      <p:sp>
        <p:nvSpPr>
          <p:cNvPr id="39951" name="矩形 157718"/>
          <p:cNvSpPr/>
          <p:nvPr/>
        </p:nvSpPr>
        <p:spPr>
          <a:xfrm>
            <a:off x="4084003" y="3656648"/>
            <a:ext cx="1295400" cy="576262"/>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52" name="文本框 157719"/>
          <p:cNvSpPr txBox="1"/>
          <p:nvPr/>
        </p:nvSpPr>
        <p:spPr>
          <a:xfrm>
            <a:off x="4084003" y="3801110"/>
            <a:ext cx="1296987" cy="304800"/>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Q</a:t>
            </a:r>
            <a:r>
              <a:rPr kumimoji="0" lang="en-US" altLang="zh-CN" sz="1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级 量 化 器</a:t>
            </a:r>
          </a:p>
        </p:txBody>
      </p:sp>
      <p:sp>
        <p:nvSpPr>
          <p:cNvPr id="39953" name="直接连接符 157721"/>
          <p:cNvSpPr/>
          <p:nvPr/>
        </p:nvSpPr>
        <p:spPr>
          <a:xfrm>
            <a:off x="2139315" y="2164398"/>
            <a:ext cx="433388" cy="0"/>
          </a:xfrm>
          <a:prstGeom prst="line">
            <a:avLst/>
          </a:prstGeom>
          <a:ln w="9525" cap="flat" cmpd="sng">
            <a:solidFill>
              <a:schemeClr val="tx1"/>
            </a:solidFill>
            <a:prstDash val="solid"/>
            <a:round/>
            <a:headEnd type="none" w="med" len="med"/>
            <a:tailEnd type="triangle" w="med" len="med"/>
          </a:ln>
        </p:spPr>
      </p:sp>
      <p:sp>
        <p:nvSpPr>
          <p:cNvPr id="39954" name="直接连接符 157722"/>
          <p:cNvSpPr/>
          <p:nvPr/>
        </p:nvSpPr>
        <p:spPr>
          <a:xfrm>
            <a:off x="3652203" y="2164398"/>
            <a:ext cx="433387" cy="0"/>
          </a:xfrm>
          <a:prstGeom prst="line">
            <a:avLst/>
          </a:prstGeom>
          <a:ln w="9525" cap="flat" cmpd="sng">
            <a:solidFill>
              <a:schemeClr val="tx1"/>
            </a:solidFill>
            <a:prstDash val="solid"/>
            <a:round/>
            <a:headEnd type="none" w="med" len="med"/>
            <a:tailEnd type="triangle" w="med" len="med"/>
          </a:ln>
        </p:spPr>
      </p:sp>
      <p:sp>
        <p:nvSpPr>
          <p:cNvPr id="39955" name="直接连接符 157724"/>
          <p:cNvSpPr/>
          <p:nvPr/>
        </p:nvSpPr>
        <p:spPr>
          <a:xfrm>
            <a:off x="6747828" y="2145348"/>
            <a:ext cx="0" cy="503237"/>
          </a:xfrm>
          <a:prstGeom prst="line">
            <a:avLst/>
          </a:prstGeom>
          <a:ln w="9525" cap="flat" cmpd="sng">
            <a:solidFill>
              <a:schemeClr val="tx1"/>
            </a:solidFill>
            <a:prstDash val="solid"/>
            <a:round/>
            <a:headEnd type="none" w="med" len="med"/>
            <a:tailEnd type="triangle" w="med" len="med"/>
          </a:ln>
        </p:spPr>
      </p:sp>
      <p:sp>
        <p:nvSpPr>
          <p:cNvPr id="39956" name="直接连接符 157725"/>
          <p:cNvSpPr/>
          <p:nvPr/>
        </p:nvSpPr>
        <p:spPr>
          <a:xfrm>
            <a:off x="6747828" y="3224848"/>
            <a:ext cx="0" cy="431800"/>
          </a:xfrm>
          <a:prstGeom prst="line">
            <a:avLst/>
          </a:prstGeom>
          <a:ln w="9525" cap="flat" cmpd="sng">
            <a:solidFill>
              <a:schemeClr val="tx1"/>
            </a:solidFill>
            <a:prstDash val="solid"/>
            <a:round/>
            <a:headEnd type="none" w="med" len="med"/>
            <a:tailEnd type="triangle" w="med" len="med"/>
          </a:ln>
        </p:spPr>
      </p:sp>
      <p:sp>
        <p:nvSpPr>
          <p:cNvPr id="39957" name="文本框 157726"/>
          <p:cNvSpPr txBox="1"/>
          <p:nvPr/>
        </p:nvSpPr>
        <p:spPr>
          <a:xfrm>
            <a:off x="1131253" y="1346835"/>
            <a:ext cx="935037" cy="366713"/>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U</a:t>
            </a:r>
            <a:r>
              <a:rPr kumimoji="0" lang="en-US" altLang="zh-CN" sz="18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1800" b="1"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0" lang="en-US" altLang="zh-CN" sz="1800" b="1" i="1" u="none" strike="noStrike" kern="1200" cap="none" spc="0" normalizeH="0" baseline="-25000" noProof="0" err="1">
                <a:ln>
                  <a:noFill/>
                </a:ln>
                <a:solidFill>
                  <a:srgbClr val="000000"/>
                </a:solidFill>
                <a:effectLst/>
                <a:uLnTx/>
                <a:uFillTx/>
                <a:latin typeface="Times New Roman" panose="02020603050405020304" pitchFamily="18" charset="0"/>
                <a:ea typeface="宋体" panose="02010600030101010101" pitchFamily="2" charset="-122"/>
                <a:cs typeface="+mn-cs"/>
              </a:rPr>
              <a:t>m</a:t>
            </a:r>
            <a:endParaRPr kumimoji="0" lang="en-US" altLang="zh-CN" sz="18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9958" name="文本框 157727"/>
          <p:cNvSpPr txBox="1"/>
          <p:nvPr/>
        </p:nvSpPr>
        <p:spPr>
          <a:xfrm>
            <a:off x="2210753" y="4010660"/>
            <a:ext cx="360362" cy="366713"/>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V</a:t>
            </a:r>
          </a:p>
        </p:txBody>
      </p:sp>
      <p:sp>
        <p:nvSpPr>
          <p:cNvPr id="39959" name="文本框 157728"/>
          <p:cNvSpPr txBox="1"/>
          <p:nvPr/>
        </p:nvSpPr>
        <p:spPr>
          <a:xfrm>
            <a:off x="3652203" y="1705610"/>
            <a:ext cx="576262" cy="366713"/>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en-US" altLang="zh-CN" sz="1800" b="1" i="1" u="none" strike="noStrike" kern="1200" cap="none" spc="0" normalizeH="0" baseline="-25000" noProof="0" err="1">
                <a:ln>
                  <a:noFill/>
                </a:ln>
                <a:solidFill>
                  <a:srgbClr val="000000"/>
                </a:solidFill>
                <a:effectLst/>
                <a:uLnTx/>
                <a:uFillTx/>
                <a:latin typeface="Times New Roman" panose="02020603050405020304" pitchFamily="18" charset="0"/>
                <a:ea typeface="宋体" panose="02010600030101010101" pitchFamily="2" charset="-122"/>
                <a:cs typeface="+mn-cs"/>
              </a:rPr>
              <a:t>m</a:t>
            </a:r>
            <a:endParaRPr kumimoji="0" lang="en-US" altLang="zh-CN" sz="18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9960" name="文本框 157729"/>
          <p:cNvSpPr txBox="1"/>
          <p:nvPr/>
        </p:nvSpPr>
        <p:spPr>
          <a:xfrm>
            <a:off x="3652203" y="4010660"/>
            <a:ext cx="360362" cy="366713"/>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Y</a:t>
            </a:r>
          </a:p>
        </p:txBody>
      </p:sp>
      <p:sp>
        <p:nvSpPr>
          <p:cNvPr id="39961" name="文本框 157730"/>
          <p:cNvSpPr txBox="1"/>
          <p:nvPr/>
        </p:nvSpPr>
        <p:spPr>
          <a:xfrm>
            <a:off x="5452428" y="1705610"/>
            <a:ext cx="647700" cy="366713"/>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en-US" altLang="zh-CN" sz="1800" b="0" i="1" u="none" strike="noStrike" kern="1200" cap="none" spc="0" normalizeH="0" baseline="-25000" noProof="0" err="1">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0" lang="en-US" altLang="zh-CN" sz="1800" b="0" i="0"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18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0"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39962" name="文本框 157731"/>
          <p:cNvSpPr txBox="1"/>
          <p:nvPr/>
        </p:nvSpPr>
        <p:spPr>
          <a:xfrm>
            <a:off x="5523865" y="3945573"/>
            <a:ext cx="574675" cy="366712"/>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y</a:t>
            </a:r>
            <a:r>
              <a:rPr kumimoji="0" lang="en-US" altLang="zh-CN" sz="1800" b="0" i="0"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1800" b="0" i="1" u="none" strike="noStrike" kern="1200" cap="none" spc="0" normalizeH="0" baseline="0" noProof="0" err="1">
                <a:ln>
                  <a:noFill/>
                </a:ln>
                <a:solidFill>
                  <a:srgbClr val="000000"/>
                </a:solidFill>
                <a:effectLst/>
                <a:uLnTx/>
                <a:uFillTx/>
                <a:latin typeface="Times New Roman" panose="02020603050405020304" pitchFamily="18" charset="0"/>
                <a:ea typeface="宋体" panose="02010600030101010101" pitchFamily="2" charset="-122"/>
                <a:cs typeface="+mn-cs"/>
              </a:rPr>
              <a:t>t</a:t>
            </a:r>
            <a:r>
              <a:rPr kumimoji="0"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39963" name="直接连接符 157735"/>
          <p:cNvSpPr/>
          <p:nvPr/>
        </p:nvSpPr>
        <p:spPr>
          <a:xfrm flipH="1">
            <a:off x="5379403" y="3945573"/>
            <a:ext cx="720725" cy="0"/>
          </a:xfrm>
          <a:prstGeom prst="line">
            <a:avLst/>
          </a:prstGeom>
          <a:ln w="9525" cap="flat" cmpd="sng">
            <a:solidFill>
              <a:schemeClr val="tx1"/>
            </a:solidFill>
            <a:prstDash val="solid"/>
            <a:round/>
            <a:headEnd type="none" w="med" len="med"/>
            <a:tailEnd type="triangle" w="med" len="med"/>
          </a:ln>
        </p:spPr>
      </p:sp>
      <p:sp>
        <p:nvSpPr>
          <p:cNvPr id="39964" name="直接连接符 157737"/>
          <p:cNvSpPr/>
          <p:nvPr/>
        </p:nvSpPr>
        <p:spPr>
          <a:xfrm flipH="1">
            <a:off x="3652203" y="3945573"/>
            <a:ext cx="431800" cy="0"/>
          </a:xfrm>
          <a:prstGeom prst="line">
            <a:avLst/>
          </a:prstGeom>
          <a:ln w="9525" cap="flat" cmpd="sng">
            <a:solidFill>
              <a:schemeClr val="tx1"/>
            </a:solidFill>
            <a:prstDash val="solid"/>
            <a:round/>
            <a:headEnd type="none" w="med" len="med"/>
            <a:tailEnd type="triangle" w="med" len="med"/>
          </a:ln>
        </p:spPr>
      </p:sp>
      <p:sp>
        <p:nvSpPr>
          <p:cNvPr id="39965" name="矩形 157738"/>
          <p:cNvSpPr/>
          <p:nvPr/>
        </p:nvSpPr>
        <p:spPr>
          <a:xfrm>
            <a:off x="1131253" y="1856423"/>
            <a:ext cx="1008062" cy="576262"/>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66" name="文本框 157703"/>
          <p:cNvSpPr txBox="1"/>
          <p:nvPr/>
        </p:nvSpPr>
        <p:spPr>
          <a:xfrm>
            <a:off x="1202690" y="2000885"/>
            <a:ext cx="863600" cy="304800"/>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数 字 源</a:t>
            </a:r>
          </a:p>
        </p:txBody>
      </p:sp>
      <p:sp>
        <p:nvSpPr>
          <p:cNvPr id="39967" name="直接连接符 157739"/>
          <p:cNvSpPr/>
          <p:nvPr/>
        </p:nvSpPr>
        <p:spPr>
          <a:xfrm>
            <a:off x="5236528" y="2145348"/>
            <a:ext cx="1511300" cy="0"/>
          </a:xfrm>
          <a:prstGeom prst="line">
            <a:avLst/>
          </a:prstGeom>
          <a:ln w="9525" cap="flat" cmpd="sng">
            <a:solidFill>
              <a:schemeClr val="tx1"/>
            </a:solidFill>
            <a:prstDash val="solid"/>
            <a:round/>
            <a:headEnd type="none" w="med" len="med"/>
            <a:tailEnd type="none" w="med" len="med"/>
          </a:ln>
        </p:spPr>
      </p:sp>
      <p:sp>
        <p:nvSpPr>
          <p:cNvPr id="39968" name="直接连接符 157741"/>
          <p:cNvSpPr/>
          <p:nvPr/>
        </p:nvSpPr>
        <p:spPr>
          <a:xfrm flipH="1">
            <a:off x="2139315" y="3945573"/>
            <a:ext cx="504825" cy="0"/>
          </a:xfrm>
          <a:prstGeom prst="line">
            <a:avLst/>
          </a:prstGeom>
          <a:ln w="9525" cap="flat" cmpd="sng">
            <a:solidFill>
              <a:schemeClr val="tx1"/>
            </a:solidFill>
            <a:prstDash val="solid"/>
            <a:round/>
            <a:headEnd type="none" w="med" len="med"/>
            <a:tailEnd type="triangle" w="med" len="med"/>
          </a:ln>
        </p:spPr>
      </p:sp>
      <p:sp>
        <p:nvSpPr>
          <p:cNvPr id="39969" name="文本框 157742"/>
          <p:cNvSpPr txBox="1"/>
          <p:nvPr/>
        </p:nvSpPr>
        <p:spPr>
          <a:xfrm>
            <a:off x="4155440" y="1371283"/>
            <a:ext cx="1800225" cy="304800"/>
          </a:xfrm>
          <a:prstGeom prst="rect">
            <a:avLst/>
          </a:prstGeom>
          <a:noFill/>
          <a:ln w="9525">
            <a:noFill/>
          </a:ln>
        </p:spPr>
        <p:txBody>
          <a:bodyPr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离 散 无 记 忆 信 道</a:t>
            </a:r>
          </a:p>
        </p:txBody>
      </p:sp>
      <p:sp>
        <p:nvSpPr>
          <p:cNvPr id="7" name="文本框 114821"/>
          <p:cNvSpPr txBox="1"/>
          <p:nvPr/>
        </p:nvSpPr>
        <p:spPr>
          <a:xfrm>
            <a:off x="2249170" y="4451350"/>
            <a:ext cx="4095115" cy="36830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图</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rPr>
              <a:t>7 AWGN</a:t>
            </a:r>
            <a:r>
              <a:rPr kumimoji="0" lang="zh-CN" altLang="en-US" sz="1800" b="1" i="0" u="none" strike="noStrike" kern="1200" cap="none" spc="0" normalizeH="0" baseline="0" noProof="0">
                <a:ln>
                  <a:noFill/>
                </a:ln>
                <a:solidFill>
                  <a:srgbClr val="000000"/>
                </a:solidFill>
                <a:effectLst/>
                <a:uLnTx/>
                <a:uFillTx/>
                <a:latin typeface="Arial"/>
                <a:ea typeface="楷体" panose="02010609060101010101" charset="-122"/>
                <a:cs typeface="+mn-cs"/>
              </a:rPr>
              <a:t>信道的分组编码系统模型</a:t>
            </a:r>
          </a:p>
        </p:txBody>
      </p:sp>
      <p:graphicFrame>
        <p:nvGraphicFramePr>
          <p:cNvPr id="6" name="对象 5">
            <a:hlinkClick r:id="" action="ppaction://ole?verb=0"/>
          </p:cNvPr>
          <p:cNvGraphicFramePr>
            <a:graphicFrameLocks noChangeAspect="1"/>
          </p:cNvGraphicFramePr>
          <p:nvPr/>
        </p:nvGraphicFramePr>
        <p:xfrm>
          <a:off x="8313421" y="1778001"/>
          <a:ext cx="2883535" cy="450215"/>
        </p:xfrm>
        <a:graphic>
          <a:graphicData uri="http://schemas.openxmlformats.org/presentationml/2006/ole">
            <mc:AlternateContent xmlns:mc="http://schemas.openxmlformats.org/markup-compatibility/2006">
              <mc:Choice xmlns:v="urn:schemas-microsoft-com:vml" Requires="v">
                <p:oleObj r:id="rId3" imgW="1485900" imgH="228600" progId="Equation.KSEE3">
                  <p:embed/>
                </p:oleObj>
              </mc:Choice>
              <mc:Fallback>
                <p:oleObj r:id="rId3" imgW="1485900" imgH="228600" progId="Equation.KSEE3">
                  <p:embed/>
                  <p:pic>
                    <p:nvPicPr>
                      <p:cNvPr id="6" name="对象 5">
                        <a:hlinkClick r:id="" action="ppaction://ole?verb=0"/>
                      </p:cNvPr>
                      <p:cNvPicPr/>
                      <p:nvPr/>
                    </p:nvPicPr>
                    <p:blipFill>
                      <a:blip r:embed="rId4"/>
                      <a:stretch>
                        <a:fillRect/>
                      </a:stretch>
                    </p:blipFill>
                    <p:spPr>
                      <a:xfrm>
                        <a:off x="8313421" y="1778001"/>
                        <a:ext cx="2883535" cy="450215"/>
                      </a:xfrm>
                      <a:prstGeom prst="rect">
                        <a:avLst/>
                      </a:prstGeom>
                    </p:spPr>
                  </p:pic>
                </p:oleObj>
              </mc:Fallback>
            </mc:AlternateContent>
          </a:graphicData>
        </a:graphic>
      </p:graphicFrame>
      <p:graphicFrame>
        <p:nvGraphicFramePr>
          <p:cNvPr id="5" name="对象 4">
            <a:hlinkClick r:id="" action="ppaction://ole?verb=0"/>
          </p:cNvPr>
          <p:cNvGraphicFramePr>
            <a:graphicFrameLocks noChangeAspect="1"/>
          </p:cNvGraphicFramePr>
          <p:nvPr/>
        </p:nvGraphicFramePr>
        <p:xfrm>
          <a:off x="8382001" y="2478406"/>
          <a:ext cx="2562225" cy="450215"/>
        </p:xfrm>
        <a:graphic>
          <a:graphicData uri="http://schemas.openxmlformats.org/presentationml/2006/ole">
            <mc:AlternateContent xmlns:mc="http://schemas.openxmlformats.org/markup-compatibility/2006">
              <mc:Choice xmlns:v="urn:schemas-microsoft-com:vml" Requires="v">
                <p:oleObj r:id="rId5" imgW="1320165" imgH="228600" progId="Equation.KSEE3">
                  <p:embed/>
                </p:oleObj>
              </mc:Choice>
              <mc:Fallback>
                <p:oleObj r:id="rId5" imgW="1320165" imgH="228600" progId="Equation.KSEE3">
                  <p:embed/>
                  <p:pic>
                    <p:nvPicPr>
                      <p:cNvPr id="5" name="对象 4">
                        <a:hlinkClick r:id="" action="ppaction://ole?verb=0"/>
                      </p:cNvPr>
                      <p:cNvPicPr/>
                      <p:nvPr/>
                    </p:nvPicPr>
                    <p:blipFill>
                      <a:blip r:embed="rId6"/>
                      <a:stretch>
                        <a:fillRect/>
                      </a:stretch>
                    </p:blipFill>
                    <p:spPr>
                      <a:xfrm>
                        <a:off x="8382001" y="2478406"/>
                        <a:ext cx="2562225" cy="450215"/>
                      </a:xfrm>
                      <a:prstGeom prst="rect">
                        <a:avLst/>
                      </a:prstGeom>
                    </p:spPr>
                  </p:pic>
                </p:oleObj>
              </mc:Fallback>
            </mc:AlternateContent>
          </a:graphicData>
        </a:graphic>
      </p:graphicFrame>
      <p:sp>
        <p:nvSpPr>
          <p:cNvPr id="39972" name="矩形 157745"/>
          <p:cNvSpPr/>
          <p:nvPr/>
        </p:nvSpPr>
        <p:spPr>
          <a:xfrm>
            <a:off x="8646795" y="3233420"/>
            <a:ext cx="2662555" cy="1345565"/>
          </a:xfrm>
          <a:prstGeom prst="rect">
            <a:avLst/>
          </a:prstGeom>
          <a:noFill/>
          <a:ln w="9525">
            <a:noFill/>
          </a:ln>
        </p:spPr>
        <p:txBody>
          <a:bodyPr anchor="t" anchorCtr="0"/>
          <a:lstStyle/>
          <a:p>
            <a:pPr marL="342900" marR="0" lvl="0" indent="-342900" algn="l" defTabSz="914400" rtl="0" eaLnBrk="1" fontAlgn="auto" latinLnBrk="0" hangingPunct="1">
              <a:lnSpc>
                <a:spcPct val="130000"/>
              </a:lnSpc>
              <a:spcBef>
                <a:spcPct val="20000"/>
              </a:spcBef>
              <a:spcAft>
                <a:spcPts val="0"/>
              </a:spcAft>
              <a:buClrTx/>
              <a:buSzTx/>
              <a:buFontTx/>
              <a:buNone/>
              <a:tabLst/>
              <a:defRPr/>
            </a:pP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K </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mn-cs"/>
              </a:rPr>
              <a:t>分组长度</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mn-cs"/>
            </a:endParaRPr>
          </a:p>
          <a:p>
            <a:pPr marL="342900" marR="0" lvl="0" indent="-342900" algn="l" defTabSz="914400" rtl="0" eaLnBrk="1" fontAlgn="auto" latinLnBrk="0" hangingPunct="1">
              <a:lnSpc>
                <a:spcPct val="130000"/>
              </a:lnSpc>
              <a:spcBef>
                <a:spcPct val="20000"/>
              </a:spcBef>
              <a:spcAft>
                <a:spcPts val="0"/>
              </a:spcAft>
              <a:buClrTx/>
              <a:buSzTx/>
              <a:buFontTx/>
              <a:buNone/>
              <a:tabLst/>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0" lang="en-US" altLang="zh-CN" sz="2400" b="1" i="1" u="none" strike="noStrike" kern="1200" cap="none" spc="0" normalizeH="0" baseline="-30000" noProof="0">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0"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第</a:t>
            </a:r>
            <a:r>
              <a:rPr kumimoji="0" lang="en-US" altLang="zh-CN" sz="24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个消息</a:t>
            </a:r>
          </a:p>
        </p:txBody>
      </p:sp>
      <p:sp>
        <p:nvSpPr>
          <p:cNvPr id="9" name="内容占位符 8"/>
          <p:cNvSpPr>
            <a:spLocks noGrp="1"/>
          </p:cNvSpPr>
          <p:nvPr>
            <p:ph idx="1"/>
          </p:nvPr>
        </p:nvSpPr>
        <p:spPr>
          <a:xfrm>
            <a:off x="364490" y="4934585"/>
            <a:ext cx="6605905" cy="619125"/>
          </a:xfrm>
        </p:spPr>
        <p:txBody>
          <a:bodyPr/>
          <a:lstStyle/>
          <a:p>
            <a:r>
              <a:rPr sz="2400"/>
              <a:t>译码器的</a:t>
            </a:r>
            <a:r>
              <a:rPr lang="zh-CN" sz="2400" b="1">
                <a:solidFill>
                  <a:schemeClr val="accent6">
                    <a:lumMod val="75000"/>
                  </a:schemeClr>
                </a:solidFill>
              </a:rPr>
              <a:t>条件错误概率</a:t>
            </a:r>
            <a:r>
              <a:rPr sz="2400"/>
              <a:t>：已知接收序列</a:t>
            </a:r>
            <a:r>
              <a:rPr sz="2400" i="1">
                <a:latin typeface="Times New Roman" panose="02020603050405020304" pitchFamily="18" charset="0"/>
                <a:cs typeface="Times New Roman" panose="02020603050405020304" pitchFamily="18" charset="0"/>
              </a:rPr>
              <a:t>Y</a:t>
            </a:r>
            <a:r>
              <a:rPr sz="2400"/>
              <a:t>时</a:t>
            </a:r>
          </a:p>
        </p:txBody>
      </p:sp>
      <p:graphicFrame>
        <p:nvGraphicFramePr>
          <p:cNvPr id="10" name="对象 9">
            <a:hlinkClick r:id="" action="ppaction://ole?verb=0"/>
          </p:cNvPr>
          <p:cNvGraphicFramePr>
            <a:graphicFrameLocks noChangeAspect="1"/>
          </p:cNvGraphicFramePr>
          <p:nvPr/>
        </p:nvGraphicFramePr>
        <p:xfrm>
          <a:off x="6811963" y="5019041"/>
          <a:ext cx="4904740" cy="450215"/>
        </p:xfrm>
        <a:graphic>
          <a:graphicData uri="http://schemas.openxmlformats.org/presentationml/2006/ole">
            <mc:AlternateContent xmlns:mc="http://schemas.openxmlformats.org/markup-compatibility/2006">
              <mc:Choice xmlns:v="urn:schemas-microsoft-com:vml" Requires="v">
                <p:oleObj r:id="rId7" imgW="2527300" imgH="228600" progId="Equation.KSEE3">
                  <p:embed/>
                </p:oleObj>
              </mc:Choice>
              <mc:Fallback>
                <p:oleObj r:id="rId7" imgW="2527300" imgH="228600" progId="Equation.KSEE3">
                  <p:embed/>
                  <p:pic>
                    <p:nvPicPr>
                      <p:cNvPr id="10" name="对象 9">
                        <a:hlinkClick r:id="" action="ppaction://ole?verb=0"/>
                      </p:cNvPr>
                      <p:cNvPicPr/>
                      <p:nvPr/>
                    </p:nvPicPr>
                    <p:blipFill>
                      <a:blip r:embed="rId8"/>
                      <a:stretch>
                        <a:fillRect/>
                      </a:stretch>
                    </p:blipFill>
                    <p:spPr>
                      <a:xfrm>
                        <a:off x="6811963" y="5019041"/>
                        <a:ext cx="4904740" cy="450215"/>
                      </a:xfrm>
                      <a:prstGeom prst="rect">
                        <a:avLst/>
                      </a:prstGeom>
                    </p:spPr>
                  </p:pic>
                </p:oleObj>
              </mc:Fallback>
            </mc:AlternateContent>
          </a:graphicData>
        </a:graphic>
      </p:graphicFrame>
      <p:sp>
        <p:nvSpPr>
          <p:cNvPr id="12" name="内容占位符 8"/>
          <p:cNvSpPr>
            <a:spLocks noGrp="1"/>
          </p:cNvSpPr>
          <p:nvPr/>
        </p:nvSpPr>
        <p:spPr>
          <a:xfrm>
            <a:off x="8035290" y="5478145"/>
            <a:ext cx="1018540" cy="619125"/>
          </a:xfrm>
          <a:prstGeom prst="rect">
            <a:avLst/>
          </a:prstGeom>
        </p:spPr>
        <p:txBody>
          <a:bodyPr vert="horz" lIns="90000" tIns="46800" rIns="90000" bIns="46800" rtlCol="0"/>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zh-CN" altLang="en-US" sz="20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简记为</a:t>
            </a:r>
          </a:p>
        </p:txBody>
      </p:sp>
      <p:graphicFrame>
        <p:nvGraphicFramePr>
          <p:cNvPr id="13" name="对象 12">
            <a:hlinkClick r:id="" action="ppaction://ole?verb=0"/>
          </p:cNvPr>
          <p:cNvGraphicFramePr>
            <a:graphicFrameLocks noChangeAspect="1"/>
          </p:cNvGraphicFramePr>
          <p:nvPr/>
        </p:nvGraphicFramePr>
        <p:xfrm>
          <a:off x="9054466" y="5552441"/>
          <a:ext cx="2489835" cy="450215"/>
        </p:xfrm>
        <a:graphic>
          <a:graphicData uri="http://schemas.openxmlformats.org/presentationml/2006/ole">
            <mc:AlternateContent xmlns:mc="http://schemas.openxmlformats.org/markup-compatibility/2006">
              <mc:Choice xmlns:v="urn:schemas-microsoft-com:vml" Requires="v">
                <p:oleObj r:id="rId9" imgW="1282700" imgH="228600" progId="Equation.KSEE3">
                  <p:embed/>
                </p:oleObj>
              </mc:Choice>
              <mc:Fallback>
                <p:oleObj r:id="rId9" imgW="1282700" imgH="228600" progId="Equation.KSEE3">
                  <p:embed/>
                  <p:pic>
                    <p:nvPicPr>
                      <p:cNvPr id="13" name="对象 12">
                        <a:hlinkClick r:id="" action="ppaction://ole?verb=0"/>
                      </p:cNvPr>
                      <p:cNvPicPr/>
                      <p:nvPr/>
                    </p:nvPicPr>
                    <p:blipFill>
                      <a:blip r:embed="rId10"/>
                      <a:stretch>
                        <a:fillRect/>
                      </a:stretch>
                    </p:blipFill>
                    <p:spPr>
                      <a:xfrm>
                        <a:off x="9054466" y="5552441"/>
                        <a:ext cx="2489835" cy="450215"/>
                      </a:xfrm>
                      <a:prstGeom prst="rect">
                        <a:avLst/>
                      </a:prstGeom>
                    </p:spPr>
                  </p:pic>
                </p:oleObj>
              </mc:Fallback>
            </mc:AlternateContent>
          </a:graphicData>
        </a:graphic>
      </p:graphicFrame>
      <p:sp>
        <p:nvSpPr>
          <p:cNvPr id="15" name="内容占位符 8"/>
          <p:cNvSpPr>
            <a:spLocks noGrp="1"/>
          </p:cNvSpPr>
          <p:nvPr/>
        </p:nvSpPr>
        <p:spPr>
          <a:xfrm>
            <a:off x="369570" y="5874385"/>
            <a:ext cx="3282315" cy="619125"/>
          </a:xfrm>
          <a:prstGeom prst="rect">
            <a:avLst/>
          </a:prstGeom>
        </p:spPr>
        <p:txBody>
          <a:bodyPr vert="horz" lIns="90000" tIns="46800" rIns="90000" bIns="46800" rtlCol="0">
            <a:normAutofit fontScale="925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tabLst/>
              <a:defRPr/>
            </a:pP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译码器的</a:t>
            </a:r>
            <a:r>
              <a:rPr kumimoji="0" lang="zh-CN" altLang="en-US" sz="2400" b="1" i="0" u="none" strike="noStrike" kern="1200" cap="none" spc="150" normalizeH="0" baseline="0" noProof="0">
                <a:ln>
                  <a:noFill/>
                </a:ln>
                <a:solidFill>
                  <a:srgbClr val="EC5F74">
                    <a:lumMod val="75000"/>
                  </a:srgbClr>
                </a:solidFill>
                <a:effectLst/>
                <a:uLnTx/>
                <a:uFillTx/>
                <a:latin typeface="Arial"/>
                <a:ea typeface="微软雅黑"/>
                <a:cs typeface="+mn-cs"/>
              </a:rPr>
              <a:t>错误概率</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a:t>
            </a:r>
          </a:p>
        </p:txBody>
      </p:sp>
      <p:graphicFrame>
        <p:nvGraphicFramePr>
          <p:cNvPr id="16" name="对象 15">
            <a:hlinkClick r:id="" action="ppaction://ole?verb=0"/>
          </p:cNvPr>
          <p:cNvGraphicFramePr>
            <a:graphicFrameLocks noChangeAspect="1"/>
          </p:cNvGraphicFramePr>
          <p:nvPr/>
        </p:nvGraphicFramePr>
        <p:xfrm>
          <a:off x="3482023" y="6002338"/>
          <a:ext cx="4658360" cy="675640"/>
        </p:xfrm>
        <a:graphic>
          <a:graphicData uri="http://schemas.openxmlformats.org/presentationml/2006/ole">
            <mc:AlternateContent xmlns:mc="http://schemas.openxmlformats.org/markup-compatibility/2006">
              <mc:Choice xmlns:v="urn:schemas-microsoft-com:vml" Requires="v">
                <p:oleObj r:id="rId11" imgW="2400300" imgH="342900" progId="Equation.KSEE3">
                  <p:embed/>
                </p:oleObj>
              </mc:Choice>
              <mc:Fallback>
                <p:oleObj r:id="rId11" imgW="2400300" imgH="342900" progId="Equation.KSEE3">
                  <p:embed/>
                  <p:pic>
                    <p:nvPicPr>
                      <p:cNvPr id="16" name="对象 15">
                        <a:hlinkClick r:id="" action="ppaction://ole?verb=0"/>
                      </p:cNvPr>
                      <p:cNvPicPr/>
                      <p:nvPr/>
                    </p:nvPicPr>
                    <p:blipFill>
                      <a:blip r:embed="rId12"/>
                      <a:stretch>
                        <a:fillRect/>
                      </a:stretch>
                    </p:blipFill>
                    <p:spPr>
                      <a:xfrm>
                        <a:off x="3482023" y="6002338"/>
                        <a:ext cx="4658360" cy="675640"/>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最佳译码规则和最大后验概率译码</a:t>
            </a:r>
          </a:p>
        </p:txBody>
      </p:sp>
      <p:sp>
        <p:nvSpPr>
          <p:cNvPr id="3" name="内容占位符 2"/>
          <p:cNvSpPr>
            <a:spLocks noGrp="1"/>
          </p:cNvSpPr>
          <p:nvPr>
            <p:ph idx="1"/>
          </p:nvPr>
        </p:nvSpPr>
        <p:spPr>
          <a:xfrm>
            <a:off x="608330" y="1490345"/>
            <a:ext cx="10831830" cy="3076575"/>
          </a:xfrm>
        </p:spPr>
        <p:txBody>
          <a:bodyPr>
            <a:normAutofit/>
          </a:bodyPr>
          <a:lstStyle/>
          <a:p>
            <a:r>
              <a:rPr lang="zh-CN" sz="2400" b="1">
                <a:solidFill>
                  <a:schemeClr val="accent6">
                    <a:lumMod val="75000"/>
                  </a:schemeClr>
                </a:solidFill>
              </a:rPr>
              <a:t>最佳译码规则</a:t>
            </a:r>
            <a:r>
              <a:rPr sz="2400"/>
              <a:t>：能够使译码错误概率</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E</a:t>
            </a:r>
            <a:r>
              <a:rPr sz="2400"/>
              <a:t>)达到最小的译码规则</a:t>
            </a:r>
          </a:p>
          <a:p>
            <a:r>
              <a:rPr sz="2400">
                <a:sym typeface="+mn-ea"/>
              </a:rPr>
              <a:t>由于接收序列</a:t>
            </a:r>
            <a:r>
              <a:rPr sz="2400" i="1">
                <a:latin typeface="Times New Roman" panose="02020603050405020304" pitchFamily="18" charset="0"/>
                <a:cs typeface="Times New Roman" panose="02020603050405020304" pitchFamily="18" charset="0"/>
                <a:sym typeface="+mn-ea"/>
              </a:rPr>
              <a:t>Y</a:t>
            </a:r>
            <a:r>
              <a:rPr sz="2400">
                <a:sym typeface="+mn-ea"/>
              </a:rPr>
              <a:t>是译码前产生的</a:t>
            </a:r>
            <a:r>
              <a:rPr lang="zh-CN" sz="2400"/>
              <a:t>，所以</a:t>
            </a:r>
            <a:r>
              <a:rPr sz="2400" i="1">
                <a:latin typeface="Times New Roman" panose="02020603050405020304" pitchFamily="18" charset="0"/>
                <a:cs typeface="Times New Roman" panose="02020603050405020304" pitchFamily="18" charset="0"/>
                <a:sym typeface="+mn-ea"/>
              </a:rPr>
              <a:t>P</a:t>
            </a:r>
            <a:r>
              <a:rPr sz="2400">
                <a:sym typeface="+mn-ea"/>
              </a:rPr>
              <a:t>(</a:t>
            </a:r>
            <a:r>
              <a:rPr sz="2400" i="1">
                <a:latin typeface="Times New Roman" panose="02020603050405020304" pitchFamily="18" charset="0"/>
                <a:cs typeface="Times New Roman" panose="02020603050405020304" pitchFamily="18" charset="0"/>
                <a:sym typeface="+mn-ea"/>
              </a:rPr>
              <a:t>Y</a:t>
            </a:r>
            <a:r>
              <a:rPr sz="2400">
                <a:sym typeface="+mn-ea"/>
              </a:rPr>
              <a:t>)与译码规则无关</a:t>
            </a:r>
            <a:endParaRPr sz="2400"/>
          </a:p>
          <a:p>
            <a:r>
              <a:rPr sz="2400"/>
              <a:t>最佳译码规则必须对所有</a:t>
            </a:r>
            <a:r>
              <a:rPr sz="2400" i="1">
                <a:latin typeface="Times New Roman" panose="02020603050405020304" pitchFamily="18" charset="0"/>
                <a:cs typeface="Times New Roman" panose="02020603050405020304" pitchFamily="18" charset="0"/>
              </a:rPr>
              <a:t>Y</a:t>
            </a:r>
            <a:r>
              <a:rPr sz="2400"/>
              <a:t>，使得</a:t>
            </a:r>
            <a:r>
              <a:rPr lang="en-US" sz="2400"/>
              <a:t>                            </a:t>
            </a:r>
            <a:r>
              <a:rPr lang="zh-CN" altLang="en-US" sz="2400"/>
              <a:t>最小，即</a:t>
            </a:r>
          </a:p>
          <a:p>
            <a:pPr marL="0" indent="0">
              <a:buNone/>
            </a:pPr>
            <a:r>
              <a:rPr lang="en-US" altLang="zh-CN" sz="2400"/>
              <a:t>                        </a:t>
            </a:r>
            <a:r>
              <a:rPr lang="zh-CN" altLang="en-US" sz="2400"/>
              <a:t>最大。</a:t>
            </a:r>
          </a:p>
        </p:txBody>
      </p:sp>
      <p:graphicFrame>
        <p:nvGraphicFramePr>
          <p:cNvPr id="9" name="对象 8">
            <a:hlinkClick r:id="" action="ppaction://ole?verb=0"/>
          </p:cNvPr>
          <p:cNvGraphicFramePr>
            <a:graphicFrameLocks noChangeAspect="1"/>
          </p:cNvGraphicFramePr>
          <p:nvPr/>
        </p:nvGraphicFramePr>
        <p:xfrm>
          <a:off x="5738813" y="2843848"/>
          <a:ext cx="2711450" cy="425450"/>
        </p:xfrm>
        <a:graphic>
          <a:graphicData uri="http://schemas.openxmlformats.org/presentationml/2006/ole">
            <mc:AlternateContent xmlns:mc="http://schemas.openxmlformats.org/markup-compatibility/2006">
              <mc:Choice xmlns:v="urn:schemas-microsoft-com:vml" Requires="v">
                <p:oleObj r:id="rId3" imgW="1397000" imgH="215900" progId="Equation.KSEE3">
                  <p:embed/>
                </p:oleObj>
              </mc:Choice>
              <mc:Fallback>
                <p:oleObj r:id="rId3" imgW="1397000" imgH="215900" progId="Equation.KSEE3">
                  <p:embed/>
                  <p:pic>
                    <p:nvPicPr>
                      <p:cNvPr id="9" name="对象 8">
                        <a:hlinkClick r:id="" action="ppaction://ole?verb=0"/>
                      </p:cNvPr>
                      <p:cNvPicPr/>
                      <p:nvPr/>
                    </p:nvPicPr>
                    <p:blipFill>
                      <a:blip r:embed="rId4"/>
                      <a:stretch>
                        <a:fillRect/>
                      </a:stretch>
                    </p:blipFill>
                    <p:spPr>
                      <a:xfrm>
                        <a:off x="5738813" y="2843848"/>
                        <a:ext cx="2711450" cy="425450"/>
                      </a:xfrm>
                      <a:prstGeom prst="rect">
                        <a:avLst/>
                      </a:prstGeom>
                    </p:spPr>
                  </p:pic>
                </p:oleObj>
              </mc:Fallback>
            </mc:AlternateContent>
          </a:graphicData>
        </a:graphic>
      </p:graphicFrame>
      <p:graphicFrame>
        <p:nvGraphicFramePr>
          <p:cNvPr id="11" name="对象 10">
            <a:hlinkClick r:id="" action="ppaction://ole?verb=0"/>
          </p:cNvPr>
          <p:cNvGraphicFramePr>
            <a:graphicFrameLocks noChangeAspect="1"/>
          </p:cNvGraphicFramePr>
          <p:nvPr/>
        </p:nvGraphicFramePr>
        <p:xfrm>
          <a:off x="1295400" y="3425825"/>
          <a:ext cx="1553210" cy="404495"/>
        </p:xfrm>
        <a:graphic>
          <a:graphicData uri="http://schemas.openxmlformats.org/presentationml/2006/ole">
            <mc:AlternateContent xmlns:mc="http://schemas.openxmlformats.org/markup-compatibility/2006">
              <mc:Choice xmlns:v="urn:schemas-microsoft-com:vml" Requires="v">
                <p:oleObj r:id="rId5" imgW="800100" imgH="215900" progId="Equation.KSEE3">
                  <p:embed/>
                </p:oleObj>
              </mc:Choice>
              <mc:Fallback>
                <p:oleObj r:id="rId5" imgW="800100" imgH="215900" progId="Equation.KSEE3">
                  <p:embed/>
                  <p:pic>
                    <p:nvPicPr>
                      <p:cNvPr id="11" name="对象 10">
                        <a:hlinkClick r:id="" action="ppaction://ole?verb=0"/>
                      </p:cNvPr>
                      <p:cNvPicPr/>
                      <p:nvPr/>
                    </p:nvPicPr>
                    <p:blipFill>
                      <a:blip r:embed="rId6"/>
                      <a:stretch>
                        <a:fillRect/>
                      </a:stretch>
                    </p:blipFill>
                    <p:spPr>
                      <a:xfrm>
                        <a:off x="1295400" y="3425825"/>
                        <a:ext cx="1553210" cy="404495"/>
                      </a:xfrm>
                      <a:prstGeom prst="rect">
                        <a:avLst/>
                      </a:prstGeom>
                    </p:spPr>
                  </p:pic>
                </p:oleObj>
              </mc:Fallback>
            </mc:AlternateContent>
          </a:graphicData>
        </a:graphic>
      </p:graphicFrame>
      <p:sp>
        <p:nvSpPr>
          <p:cNvPr id="4" name="内容占位符 2"/>
          <p:cNvSpPr>
            <a:spLocks noGrp="1"/>
          </p:cNvSpPr>
          <p:nvPr/>
        </p:nvSpPr>
        <p:spPr>
          <a:xfrm>
            <a:off x="608330" y="3928745"/>
            <a:ext cx="10840085" cy="221488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tabLst/>
              <a:defRPr/>
            </a:pPr>
            <a:r>
              <a:rPr kumimoji="0" lang="zh-CN" altLang="en-US" sz="2400" b="1" i="0" u="none" strike="noStrike" kern="1200" cap="none" spc="150" normalizeH="0" baseline="0" noProof="0">
                <a:ln>
                  <a:noFill/>
                </a:ln>
                <a:solidFill>
                  <a:srgbClr val="EC5F74">
                    <a:lumMod val="75000"/>
                  </a:srgbClr>
                </a:solidFill>
                <a:effectLst/>
                <a:uLnTx/>
                <a:uFillTx/>
                <a:latin typeface="Arial"/>
                <a:ea typeface="微软雅黑"/>
                <a:cs typeface="+mn-cs"/>
              </a:rPr>
              <a:t>最大后验概率译码</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：对于每个输入</a:t>
            </a:r>
            <a:r>
              <a:rPr kumimoji="0"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Y</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，如果译码器能在码字集合中选择一个码字，作为发送码字的估值，并且使</a:t>
            </a:r>
            <a:r>
              <a:rPr kumimoji="0"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P</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a:t>
            </a:r>
            <a:r>
              <a:rPr kumimoji="0"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X</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a:t>
            </a:r>
            <a:r>
              <a:rPr kumimoji="0"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Y</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)最大，则这种译码规则一定能使译码器输出的错误概率最小</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a:t>
            </a: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似然函数</a:t>
            </a:r>
          </a:p>
        </p:txBody>
      </p:sp>
      <p:sp>
        <p:nvSpPr>
          <p:cNvPr id="3" name="内容占位符 2"/>
          <p:cNvSpPr>
            <a:spLocks noGrp="1"/>
          </p:cNvSpPr>
          <p:nvPr>
            <p:ph idx="1"/>
          </p:nvPr>
        </p:nvSpPr>
        <p:spPr>
          <a:xfrm>
            <a:off x="608330" y="2465705"/>
            <a:ext cx="10831830" cy="2501900"/>
          </a:xfrm>
        </p:spPr>
        <p:txBody>
          <a:bodyPr>
            <a:normAutofit/>
          </a:bodyPr>
          <a:lstStyle/>
          <a:p>
            <a:r>
              <a:rPr sz="2400"/>
              <a:t>对于给定的</a:t>
            </a:r>
            <a:r>
              <a:rPr sz="2400" i="1">
                <a:latin typeface="Times New Roman" panose="02020603050405020304" pitchFamily="18" charset="0"/>
                <a:cs typeface="Times New Roman" panose="02020603050405020304" pitchFamily="18" charset="0"/>
              </a:rPr>
              <a:t>Y</a:t>
            </a:r>
            <a:r>
              <a:rPr sz="2400"/>
              <a:t>，可选择能使公式(1)右边最大的向量作为</a:t>
            </a:r>
            <a:r>
              <a:rPr sz="2400" i="1">
                <a:latin typeface="Times New Roman" panose="02020603050405020304" pitchFamily="18" charset="0"/>
                <a:cs typeface="Times New Roman" panose="02020603050405020304" pitchFamily="18" charset="0"/>
              </a:rPr>
              <a:t>X</a:t>
            </a:r>
            <a:r>
              <a:rPr sz="2400"/>
              <a:t>的估计值</a:t>
            </a:r>
            <a:r>
              <a:rPr lang="zh-CN" sz="2400"/>
              <a:t>。</a:t>
            </a:r>
            <a:endParaRPr sz="2400"/>
          </a:p>
          <a:p>
            <a:r>
              <a:rPr sz="2400"/>
              <a:t>如果所有码字都是等可能的，即</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X</a:t>
            </a:r>
            <a:r>
              <a:rPr sz="2400"/>
              <a:t>)是常数，那么公式(1)左边最大，就推导出</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Y</a:t>
            </a:r>
            <a:r>
              <a:rPr sz="2400"/>
              <a:t>/</a:t>
            </a:r>
            <a:r>
              <a:rPr sz="2400" i="1">
                <a:latin typeface="Times New Roman" panose="02020603050405020304" pitchFamily="18" charset="0"/>
                <a:cs typeface="Times New Roman" panose="02020603050405020304" pitchFamily="18" charset="0"/>
              </a:rPr>
              <a:t>X</a:t>
            </a:r>
            <a:r>
              <a:rPr sz="2400"/>
              <a:t>)最大</a:t>
            </a:r>
            <a:r>
              <a:rPr lang="zh-CN" sz="2400"/>
              <a:t>。</a:t>
            </a:r>
            <a:endParaRPr sz="2400"/>
          </a:p>
          <a:p>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Y</a:t>
            </a:r>
            <a:r>
              <a:rPr sz="2400"/>
              <a:t>/</a:t>
            </a:r>
            <a:r>
              <a:rPr sz="2400" i="1">
                <a:latin typeface="Times New Roman" panose="02020603050405020304" pitchFamily="18" charset="0"/>
                <a:cs typeface="Times New Roman" panose="02020603050405020304" pitchFamily="18" charset="0"/>
              </a:rPr>
              <a:t>X</a:t>
            </a:r>
            <a:r>
              <a:rPr sz="2400"/>
              <a:t>)：叫做似然函数、信道转移概率</a:t>
            </a:r>
            <a:r>
              <a:rPr lang="zh-CN" sz="2400"/>
              <a:t>。</a:t>
            </a:r>
          </a:p>
        </p:txBody>
      </p:sp>
      <p:sp>
        <p:nvSpPr>
          <p:cNvPr id="4" name="内容占位符 2"/>
          <p:cNvSpPr>
            <a:spLocks noGrp="1"/>
          </p:cNvSpPr>
          <p:nvPr/>
        </p:nvSpPr>
        <p:spPr>
          <a:xfrm>
            <a:off x="654050" y="1536065"/>
            <a:ext cx="2477135" cy="65849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tabLst/>
              <a:defRPr/>
            </a:pP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Bayes公式：</a:t>
            </a:r>
          </a:p>
        </p:txBody>
      </p:sp>
      <p:graphicFrame>
        <p:nvGraphicFramePr>
          <p:cNvPr id="7" name="对象 6">
            <a:hlinkClick r:id="" action="ppaction://ole?verb=0"/>
          </p:cNvPr>
          <p:cNvGraphicFramePr>
            <a:graphicFrameLocks noChangeAspect="1"/>
          </p:cNvGraphicFramePr>
          <p:nvPr/>
        </p:nvGraphicFramePr>
        <p:xfrm>
          <a:off x="3128011" y="1477010"/>
          <a:ext cx="3303905" cy="826135"/>
        </p:xfrm>
        <a:graphic>
          <a:graphicData uri="http://schemas.openxmlformats.org/presentationml/2006/ole">
            <mc:AlternateContent xmlns:mc="http://schemas.openxmlformats.org/markup-compatibility/2006">
              <mc:Choice xmlns:v="urn:schemas-microsoft-com:vml" Requires="v">
                <p:oleObj r:id="rId3" imgW="1701800" imgH="419100" progId="Equation.KSEE3">
                  <p:embed/>
                </p:oleObj>
              </mc:Choice>
              <mc:Fallback>
                <p:oleObj r:id="rId3" imgW="1701800" imgH="419100" progId="Equation.KSEE3">
                  <p:embed/>
                  <p:pic>
                    <p:nvPicPr>
                      <p:cNvPr id="7" name="对象 6">
                        <a:hlinkClick r:id="" action="ppaction://ole?verb=0"/>
                      </p:cNvPr>
                      <p:cNvPicPr/>
                      <p:nvPr/>
                    </p:nvPicPr>
                    <p:blipFill>
                      <a:blip r:embed="rId4"/>
                      <a:stretch>
                        <a:fillRect/>
                      </a:stretch>
                    </p:blipFill>
                    <p:spPr>
                      <a:xfrm>
                        <a:off x="3128011" y="1477010"/>
                        <a:ext cx="3303905" cy="826135"/>
                      </a:xfrm>
                      <a:prstGeom prst="rect">
                        <a:avLst/>
                      </a:prstGeom>
                    </p:spPr>
                  </p:pic>
                </p:oleObj>
              </mc:Fallback>
            </mc:AlternateContent>
          </a:graphicData>
        </a:graphic>
      </p:graphicFrame>
      <p:sp>
        <p:nvSpPr>
          <p:cNvPr id="5" name="文本框 4"/>
          <p:cNvSpPr txBox="1"/>
          <p:nvPr/>
        </p:nvSpPr>
        <p:spPr>
          <a:xfrm>
            <a:off x="6852920" y="1732280"/>
            <a:ext cx="1346835" cy="39878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公式</a:t>
            </a:r>
            <a:r>
              <a:rPr kumimoji="0" lang="en-US" sz="20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a:t>
            </a:r>
            <a:r>
              <a:rPr kumimoji="0" sz="20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1</a:t>
            </a:r>
            <a:r>
              <a:rPr kumimoji="0" lang="en-US" sz="20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a:t>
            </a:r>
            <a:endParaRPr kumimoji="0" lang="en-US" sz="2000" b="1" i="0" u="none" strike="noStrike" kern="1200" cap="none" spc="150" normalizeH="0" baseline="0" noProof="0" dirty="0">
              <a:ln>
                <a:noFill/>
              </a:ln>
              <a:solidFill>
                <a:srgbClr val="000000">
                  <a:lumMod val="65000"/>
                  <a:lumOff val="35000"/>
                </a:srgbClr>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最大似然译码</a:t>
            </a:r>
          </a:p>
        </p:txBody>
      </p:sp>
      <p:sp>
        <p:nvSpPr>
          <p:cNvPr id="3" name="内容占位符 2"/>
          <p:cNvSpPr>
            <a:spLocks noGrp="1"/>
          </p:cNvSpPr>
          <p:nvPr>
            <p:ph idx="1"/>
          </p:nvPr>
        </p:nvSpPr>
        <p:spPr>
          <a:xfrm>
            <a:off x="608330" y="1490345"/>
            <a:ext cx="10831830" cy="5055235"/>
          </a:xfrm>
        </p:spPr>
        <p:txBody>
          <a:bodyPr>
            <a:normAutofit/>
          </a:bodyPr>
          <a:lstStyle/>
          <a:p>
            <a:r>
              <a:rPr lang="zh-CN" sz="2400" b="1">
                <a:solidFill>
                  <a:schemeClr val="accent6">
                    <a:lumMod val="75000"/>
                  </a:schemeClr>
                </a:solidFill>
              </a:rPr>
              <a:t>定义</a:t>
            </a:r>
            <a:r>
              <a:rPr sz="2400"/>
              <a:t>：若能在码字集合选择合适的码字</a:t>
            </a:r>
            <a:r>
              <a:rPr sz="2400" i="1">
                <a:latin typeface="Times New Roman" panose="02020603050405020304" pitchFamily="18" charset="0"/>
                <a:cs typeface="Times New Roman" panose="02020603050405020304" pitchFamily="18" charset="0"/>
              </a:rPr>
              <a:t>X</a:t>
            </a:r>
            <a:r>
              <a:rPr sz="2400"/>
              <a:t>，使得</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Y</a:t>
            </a:r>
            <a:r>
              <a:rPr sz="2400"/>
              <a:t>/</a:t>
            </a:r>
            <a:r>
              <a:rPr sz="2400" i="1">
                <a:latin typeface="Times New Roman" panose="02020603050405020304" pitchFamily="18" charset="0"/>
                <a:cs typeface="Times New Roman" panose="02020603050405020304" pitchFamily="18" charset="0"/>
              </a:rPr>
              <a:t>X</a:t>
            </a:r>
            <a:r>
              <a:rPr sz="2400"/>
              <a:t>)最大，则这种译码规则被称为最大似然译码</a:t>
            </a:r>
            <a:r>
              <a:rPr lang="zh-CN" sz="2400"/>
              <a:t>。</a:t>
            </a:r>
            <a:endParaRPr sz="2400"/>
          </a:p>
          <a:p>
            <a:r>
              <a:rPr sz="2400"/>
              <a:t>对数似然函数：由于</a:t>
            </a:r>
            <a:r>
              <a:rPr sz="2400">
                <a:latin typeface="Times New Roman" panose="02020603050405020304" pitchFamily="18" charset="0"/>
                <a:cs typeface="Times New Roman" panose="02020603050405020304" pitchFamily="18" charset="0"/>
              </a:rPr>
              <a:t>ln</a:t>
            </a:r>
            <a:r>
              <a:rPr sz="2400" i="1">
                <a:latin typeface="Times New Roman" panose="02020603050405020304" pitchFamily="18" charset="0"/>
                <a:cs typeface="Times New Roman" panose="02020603050405020304" pitchFamily="18" charset="0"/>
              </a:rPr>
              <a:t>x</a:t>
            </a:r>
            <a:r>
              <a:rPr sz="2400"/>
              <a:t>与</a:t>
            </a:r>
            <a:r>
              <a:rPr sz="2400" i="1">
                <a:latin typeface="Times New Roman" panose="02020603050405020304" pitchFamily="18" charset="0"/>
                <a:cs typeface="Times New Roman" panose="02020603050405020304" pitchFamily="18" charset="0"/>
              </a:rPr>
              <a:t>x</a:t>
            </a:r>
            <a:r>
              <a:rPr sz="2400"/>
              <a:t>是单调关系，故有</a:t>
            </a:r>
            <a:r>
              <a:rPr sz="2400">
                <a:latin typeface="Times New Roman" panose="02020603050405020304" pitchFamily="18" charset="0"/>
                <a:cs typeface="Times New Roman" panose="02020603050405020304" pitchFamily="18" charset="0"/>
              </a:rPr>
              <a:t>ln</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Y</a:t>
            </a:r>
            <a:r>
              <a:rPr sz="2400"/>
              <a:t>/</a:t>
            </a:r>
            <a:r>
              <a:rPr sz="2400" i="1">
                <a:latin typeface="Times New Roman" panose="02020603050405020304" pitchFamily="18" charset="0"/>
                <a:cs typeface="Times New Roman" panose="02020603050405020304" pitchFamily="18" charset="0"/>
              </a:rPr>
              <a:t>X</a:t>
            </a:r>
            <a:r>
              <a:rPr sz="2400"/>
              <a:t>)</a:t>
            </a:r>
            <a:r>
              <a:rPr lang="zh-CN" sz="2400"/>
              <a:t>。</a:t>
            </a:r>
            <a:endParaRPr sz="2400"/>
          </a:p>
          <a:p>
            <a:r>
              <a:rPr sz="2400"/>
              <a:t>对于离散无记忆信道，由于</a:t>
            </a:r>
            <a:r>
              <a:rPr lang="en-US" sz="2400"/>
              <a:t>                           </a:t>
            </a:r>
            <a:r>
              <a:rPr lang="zh-CN" altLang="en-US" sz="2400"/>
              <a:t>，</a:t>
            </a:r>
            <a:r>
              <a:rPr sz="2400"/>
              <a:t>所以</a:t>
            </a:r>
          </a:p>
          <a:p>
            <a:r>
              <a:rPr sz="2400">
                <a:sym typeface="+mn-ea"/>
              </a:rPr>
              <a:t>MLD：对应的译码器称为最大似然译码器</a:t>
            </a:r>
            <a:r>
              <a:rPr lang="zh-CN" sz="2400">
                <a:sym typeface="+mn-ea"/>
              </a:rPr>
              <a:t>。</a:t>
            </a:r>
          </a:p>
          <a:p>
            <a:r>
              <a:rPr lang="zh-CN" sz="2400">
                <a:sym typeface="+mn-ea"/>
              </a:rPr>
              <a:t>MLD规则</a:t>
            </a:r>
            <a:r>
              <a:rPr sz="2400">
                <a:sym typeface="+mn-ea"/>
              </a:rPr>
              <a:t>：</a:t>
            </a:r>
            <a:r>
              <a:rPr lang="zh-CN" sz="2400">
                <a:sym typeface="+mn-ea"/>
              </a:rPr>
              <a:t>是最为可行的一种译码规则。</a:t>
            </a:r>
          </a:p>
          <a:p>
            <a:r>
              <a:rPr lang="zh-CN" sz="2400">
                <a:sym typeface="+mn-ea"/>
              </a:rPr>
              <a:t>对于DMC和BSC信道是一种最佳译码准则。但是在某些情况下并不是最佳的译码规则，如当发送端不是以等概率发送码字的时候。</a:t>
            </a:r>
          </a:p>
        </p:txBody>
      </p:sp>
      <p:graphicFrame>
        <p:nvGraphicFramePr>
          <p:cNvPr id="7" name="对象 6">
            <a:hlinkClick r:id="" action="ppaction://ole?verb=0"/>
          </p:cNvPr>
          <p:cNvGraphicFramePr>
            <a:graphicFrameLocks noChangeAspect="1"/>
          </p:cNvGraphicFramePr>
          <p:nvPr/>
        </p:nvGraphicFramePr>
        <p:xfrm>
          <a:off x="4848226" y="3236595"/>
          <a:ext cx="2834005" cy="676275"/>
        </p:xfrm>
        <a:graphic>
          <a:graphicData uri="http://schemas.openxmlformats.org/presentationml/2006/ole">
            <mc:AlternateContent xmlns:mc="http://schemas.openxmlformats.org/markup-compatibility/2006">
              <mc:Choice xmlns:v="urn:schemas-microsoft-com:vml" Requires="v">
                <p:oleObj r:id="rId3" imgW="1459865" imgH="342900" progId="Equation.KSEE3">
                  <p:embed/>
                </p:oleObj>
              </mc:Choice>
              <mc:Fallback>
                <p:oleObj r:id="rId3" imgW="1459865" imgH="342900" progId="Equation.KSEE3">
                  <p:embed/>
                  <p:pic>
                    <p:nvPicPr>
                      <p:cNvPr id="7" name="对象 6">
                        <a:hlinkClick r:id="" action="ppaction://ole?verb=0"/>
                      </p:cNvPr>
                      <p:cNvPicPr/>
                      <p:nvPr/>
                    </p:nvPicPr>
                    <p:blipFill>
                      <a:blip r:embed="rId4"/>
                      <a:stretch>
                        <a:fillRect/>
                      </a:stretch>
                    </p:blipFill>
                    <p:spPr>
                      <a:xfrm>
                        <a:off x="4848226" y="3236595"/>
                        <a:ext cx="2834005" cy="676275"/>
                      </a:xfrm>
                      <a:prstGeom prst="rect">
                        <a:avLst/>
                      </a:prstGeom>
                    </p:spPr>
                  </p:pic>
                </p:oleObj>
              </mc:Fallback>
            </mc:AlternateContent>
          </a:graphicData>
        </a:graphic>
      </p:graphicFrame>
      <p:graphicFrame>
        <p:nvGraphicFramePr>
          <p:cNvPr id="4" name="对象 3">
            <a:hlinkClick r:id="" action="ppaction://ole?verb=0"/>
          </p:cNvPr>
          <p:cNvGraphicFramePr>
            <a:graphicFrameLocks noChangeAspect="1"/>
          </p:cNvGraphicFramePr>
          <p:nvPr/>
        </p:nvGraphicFramePr>
        <p:xfrm>
          <a:off x="8588693" y="3256915"/>
          <a:ext cx="3277870" cy="676275"/>
        </p:xfrm>
        <a:graphic>
          <a:graphicData uri="http://schemas.openxmlformats.org/presentationml/2006/ole">
            <mc:AlternateContent xmlns:mc="http://schemas.openxmlformats.org/markup-compatibility/2006">
              <mc:Choice xmlns:v="urn:schemas-microsoft-com:vml" Requires="v">
                <p:oleObj r:id="rId5" imgW="1688465" imgH="342900" progId="Equation.KSEE3">
                  <p:embed/>
                </p:oleObj>
              </mc:Choice>
              <mc:Fallback>
                <p:oleObj r:id="rId5" imgW="1688465" imgH="342900" progId="Equation.KSEE3">
                  <p:embed/>
                  <p:pic>
                    <p:nvPicPr>
                      <p:cNvPr id="4" name="对象 3">
                        <a:hlinkClick r:id="" action="ppaction://ole?verb=0"/>
                      </p:cNvPr>
                      <p:cNvPicPr/>
                      <p:nvPr/>
                    </p:nvPicPr>
                    <p:blipFill>
                      <a:blip r:embed="rId6"/>
                      <a:stretch>
                        <a:fillRect/>
                      </a:stretch>
                    </p:blipFill>
                    <p:spPr>
                      <a:xfrm>
                        <a:off x="8588693" y="3256915"/>
                        <a:ext cx="3277870" cy="676275"/>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BSC信道的最大似然译码</a:t>
            </a:r>
          </a:p>
        </p:txBody>
      </p:sp>
      <p:sp>
        <p:nvSpPr>
          <p:cNvPr id="3" name="内容占位符 2"/>
          <p:cNvSpPr>
            <a:spLocks noGrp="1"/>
          </p:cNvSpPr>
          <p:nvPr>
            <p:ph idx="1"/>
          </p:nvPr>
        </p:nvSpPr>
        <p:spPr>
          <a:xfrm>
            <a:off x="608330" y="2526665"/>
            <a:ext cx="10831830" cy="694690"/>
          </a:xfrm>
        </p:spPr>
        <p:txBody>
          <a:bodyPr>
            <a:noAutofit/>
          </a:bodyPr>
          <a:lstStyle/>
          <a:p>
            <a:r>
              <a:rPr sz="2400" i="1">
                <a:latin typeface="Times New Roman" panose="02020603050405020304" pitchFamily="18" charset="0"/>
                <a:cs typeface="Times New Roman" panose="02020603050405020304" pitchFamily="18" charset="0"/>
              </a:rPr>
              <a:t>Y</a:t>
            </a:r>
            <a:r>
              <a:rPr sz="2400"/>
              <a:t>为二元序列，用</a:t>
            </a:r>
            <a:r>
              <a:rPr sz="2400" i="1">
                <a:latin typeface="Times New Roman" panose="02020603050405020304" pitchFamily="18" charset="0"/>
                <a:cs typeface="Times New Roman" panose="02020603050405020304" pitchFamily="18" charset="0"/>
              </a:rPr>
              <a:t>d</a:t>
            </a:r>
            <a:r>
              <a:rPr sz="2400"/>
              <a:t>(</a:t>
            </a:r>
            <a:r>
              <a:rPr sz="2400" i="1">
                <a:latin typeface="Times New Roman" panose="02020603050405020304" pitchFamily="18" charset="0"/>
                <a:cs typeface="Times New Roman" panose="02020603050405020304" pitchFamily="18" charset="0"/>
              </a:rPr>
              <a:t>Y</a:t>
            </a:r>
            <a:r>
              <a:rPr sz="2400"/>
              <a:t>, </a:t>
            </a:r>
            <a:r>
              <a:rPr sz="2400" i="1">
                <a:latin typeface="Times New Roman" panose="02020603050405020304" pitchFamily="18" charset="0"/>
                <a:cs typeface="Times New Roman" panose="02020603050405020304" pitchFamily="18" charset="0"/>
              </a:rPr>
              <a:t>X</a:t>
            </a:r>
            <a:r>
              <a:rPr sz="2400"/>
              <a:t>)表示</a:t>
            </a:r>
            <a:r>
              <a:rPr sz="2400" i="1">
                <a:latin typeface="Times New Roman" panose="02020603050405020304" pitchFamily="18" charset="0"/>
                <a:cs typeface="Times New Roman" panose="02020603050405020304" pitchFamily="18" charset="0"/>
              </a:rPr>
              <a:t>Y</a:t>
            </a:r>
            <a:r>
              <a:rPr sz="2400"/>
              <a:t>和</a:t>
            </a:r>
            <a:r>
              <a:rPr sz="2400" i="1">
                <a:latin typeface="Times New Roman" panose="02020603050405020304" pitchFamily="18" charset="0"/>
                <a:cs typeface="Times New Roman" panose="02020603050405020304" pitchFamily="18" charset="0"/>
              </a:rPr>
              <a:t>X</a:t>
            </a:r>
            <a:r>
              <a:rPr sz="2400"/>
              <a:t>之间的距离，即不同位数的个数</a:t>
            </a:r>
          </a:p>
        </p:txBody>
      </p:sp>
      <p:graphicFrame>
        <p:nvGraphicFramePr>
          <p:cNvPr id="7" name="对象 6">
            <a:hlinkClick r:id="" action="ppaction://ole?verb=0"/>
          </p:cNvPr>
          <p:cNvGraphicFramePr>
            <a:graphicFrameLocks noChangeAspect="1"/>
          </p:cNvGraphicFramePr>
          <p:nvPr/>
        </p:nvGraphicFramePr>
        <p:xfrm>
          <a:off x="4207511" y="1511935"/>
          <a:ext cx="3180715" cy="951865"/>
        </p:xfrm>
        <a:graphic>
          <a:graphicData uri="http://schemas.openxmlformats.org/presentationml/2006/ole">
            <mc:AlternateContent xmlns:mc="http://schemas.openxmlformats.org/markup-compatibility/2006">
              <mc:Choice xmlns:v="urn:schemas-microsoft-com:vml" Requires="v">
                <p:oleObj r:id="rId3" imgW="1638300" imgH="482600" progId="Equation.KSEE3">
                  <p:embed/>
                </p:oleObj>
              </mc:Choice>
              <mc:Fallback>
                <p:oleObj r:id="rId3" imgW="1638300" imgH="482600" progId="Equation.KSEE3">
                  <p:embed/>
                  <p:pic>
                    <p:nvPicPr>
                      <p:cNvPr id="7" name="对象 6">
                        <a:hlinkClick r:id="" action="ppaction://ole?verb=0"/>
                      </p:cNvPr>
                      <p:cNvPicPr/>
                      <p:nvPr/>
                    </p:nvPicPr>
                    <p:blipFill>
                      <a:blip r:embed="rId4"/>
                      <a:stretch>
                        <a:fillRect/>
                      </a:stretch>
                    </p:blipFill>
                    <p:spPr>
                      <a:xfrm>
                        <a:off x="4207511" y="1511935"/>
                        <a:ext cx="3180715" cy="951865"/>
                      </a:xfrm>
                      <a:prstGeom prst="rect">
                        <a:avLst/>
                      </a:prstGeom>
                    </p:spPr>
                  </p:pic>
                </p:oleObj>
              </mc:Fallback>
            </mc:AlternateContent>
          </a:graphicData>
        </a:graphic>
      </p:graphicFrame>
      <p:graphicFrame>
        <p:nvGraphicFramePr>
          <p:cNvPr id="4" name="对象 3">
            <a:hlinkClick r:id="" action="ppaction://ole?verb=0"/>
          </p:cNvPr>
          <p:cNvGraphicFramePr>
            <a:graphicFrameLocks noChangeAspect="1"/>
          </p:cNvGraphicFramePr>
          <p:nvPr/>
        </p:nvGraphicFramePr>
        <p:xfrm>
          <a:off x="1056640" y="3351213"/>
          <a:ext cx="5744845" cy="1303020"/>
        </p:xfrm>
        <a:graphic>
          <a:graphicData uri="http://schemas.openxmlformats.org/presentationml/2006/ole">
            <mc:AlternateContent xmlns:mc="http://schemas.openxmlformats.org/markup-compatibility/2006">
              <mc:Choice xmlns:v="urn:schemas-microsoft-com:vml" Requires="v">
                <p:oleObj r:id="rId5" imgW="2959100" imgH="660400" progId="Equation.KSEE3">
                  <p:embed/>
                </p:oleObj>
              </mc:Choice>
              <mc:Fallback>
                <p:oleObj r:id="rId5" imgW="2959100" imgH="660400" progId="Equation.KSEE3">
                  <p:embed/>
                  <p:pic>
                    <p:nvPicPr>
                      <p:cNvPr id="4" name="对象 3">
                        <a:hlinkClick r:id="" action="ppaction://ole?verb=0"/>
                      </p:cNvPr>
                      <p:cNvPicPr/>
                      <p:nvPr/>
                    </p:nvPicPr>
                    <p:blipFill>
                      <a:blip r:embed="rId6"/>
                      <a:stretch>
                        <a:fillRect/>
                      </a:stretch>
                    </p:blipFill>
                    <p:spPr>
                      <a:xfrm>
                        <a:off x="1056640" y="3351213"/>
                        <a:ext cx="5744845" cy="1303020"/>
                      </a:xfrm>
                      <a:prstGeom prst="rect">
                        <a:avLst/>
                      </a:prstGeom>
                    </p:spPr>
                  </p:pic>
                </p:oleObj>
              </mc:Fallback>
            </mc:AlternateContent>
          </a:graphicData>
        </a:graphic>
      </p:graphicFrame>
      <p:sp>
        <p:nvSpPr>
          <p:cNvPr id="9" name="矩形 8"/>
          <p:cNvSpPr/>
          <p:nvPr/>
        </p:nvSpPr>
        <p:spPr>
          <a:xfrm>
            <a:off x="7579360" y="3552825"/>
            <a:ext cx="2624455" cy="88709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aphicFrame>
        <p:nvGraphicFramePr>
          <p:cNvPr id="6" name="对象 5">
            <a:hlinkClick r:id="" action="ppaction://ole?verb=0"/>
          </p:cNvPr>
          <p:cNvGraphicFramePr>
            <a:graphicFrameLocks noChangeAspect="1"/>
          </p:cNvGraphicFramePr>
          <p:nvPr/>
        </p:nvGraphicFramePr>
        <p:xfrm>
          <a:off x="7682231" y="3589338"/>
          <a:ext cx="2465705" cy="826770"/>
        </p:xfrm>
        <a:graphic>
          <a:graphicData uri="http://schemas.openxmlformats.org/presentationml/2006/ole">
            <mc:AlternateContent xmlns:mc="http://schemas.openxmlformats.org/markup-compatibility/2006">
              <mc:Choice xmlns:v="urn:schemas-microsoft-com:vml" Requires="v">
                <p:oleObj r:id="rId7" imgW="1270000" imgH="419100" progId="Equation.KSEE3">
                  <p:embed/>
                </p:oleObj>
              </mc:Choice>
              <mc:Fallback>
                <p:oleObj r:id="rId7" imgW="1270000" imgH="419100" progId="Equation.KSEE3">
                  <p:embed/>
                  <p:pic>
                    <p:nvPicPr>
                      <p:cNvPr id="6" name="对象 5">
                        <a:hlinkClick r:id="" action="ppaction://ole?verb=0"/>
                      </p:cNvPr>
                      <p:cNvPicPr/>
                      <p:nvPr/>
                    </p:nvPicPr>
                    <p:blipFill>
                      <a:blip r:embed="rId8"/>
                      <a:stretch>
                        <a:fillRect/>
                      </a:stretch>
                    </p:blipFill>
                    <p:spPr>
                      <a:xfrm>
                        <a:off x="7682231" y="3589338"/>
                        <a:ext cx="2465705" cy="826770"/>
                      </a:xfrm>
                      <a:prstGeom prst="rect">
                        <a:avLst/>
                      </a:prstGeom>
                    </p:spPr>
                  </p:pic>
                </p:oleObj>
              </mc:Fallback>
            </mc:AlternateContent>
          </a:graphicData>
        </a:graphic>
      </p:graphicFrame>
      <p:sp>
        <p:nvSpPr>
          <p:cNvPr id="11" name="圆角矩形 10"/>
          <p:cNvSpPr/>
          <p:nvPr/>
        </p:nvSpPr>
        <p:spPr>
          <a:xfrm>
            <a:off x="3281680" y="4765675"/>
            <a:ext cx="5486400" cy="619125"/>
          </a:xfrm>
          <a:prstGeom prst="round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2" name="文本框 11"/>
          <p:cNvSpPr txBox="1"/>
          <p:nvPr/>
        </p:nvSpPr>
        <p:spPr>
          <a:xfrm>
            <a:off x="3355975" y="4803140"/>
            <a:ext cx="5370195" cy="534035"/>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00000"/>
              </a:buClr>
              <a:buSzPct val="65000"/>
              <a:buFont typeface="Wingdings" panose="05000000000000000000" charset="0"/>
              <a:buNone/>
              <a:tabLst/>
              <a:defRPr/>
            </a:pPr>
            <a:r>
              <a:rPr kumimoji="0" lang="en-US" altLang="zh-CN" sz="24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即想要</a:t>
            </a:r>
            <a:r>
              <a:rPr kumimoji="0" lang="en-US" altLang="zh-CN" sz="24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P</a:t>
            </a:r>
            <a:r>
              <a:rPr kumimoji="0" lang="en-US" altLang="zh-CN" sz="24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a:t>
            </a:r>
            <a:r>
              <a:rPr kumimoji="0" lang="en-US" altLang="zh-CN" sz="24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Y</a:t>
            </a:r>
            <a:r>
              <a:rPr kumimoji="0" lang="en-US" altLang="zh-CN" sz="24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a:t>
            </a:r>
            <a:r>
              <a:rPr kumimoji="0" lang="en-US" altLang="zh-CN" sz="24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X</a:t>
            </a:r>
            <a:r>
              <a:rPr kumimoji="0" lang="en-US" altLang="zh-CN" sz="24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)最大，则需要</a:t>
            </a:r>
            <a:r>
              <a:rPr kumimoji="0" lang="en-US" altLang="zh-CN" sz="24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d</a:t>
            </a:r>
            <a:r>
              <a:rPr kumimoji="0" lang="en-US" altLang="zh-CN" sz="24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a:t>
            </a:r>
            <a:r>
              <a:rPr kumimoji="0" lang="en-US" altLang="zh-CN" sz="24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Y</a:t>
            </a:r>
            <a:r>
              <a:rPr kumimoji="0" lang="en-US" altLang="zh-CN" sz="24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 </a:t>
            </a:r>
            <a:r>
              <a:rPr kumimoji="0" lang="en-US" altLang="zh-CN" sz="24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X</a:t>
            </a:r>
            <a:r>
              <a:rPr kumimoji="0" lang="en-US" altLang="zh-CN" sz="24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ea"/>
                <a:sym typeface="+mn-ea"/>
              </a:rPr>
              <a:t>)最小</a:t>
            </a:r>
          </a:p>
        </p:txBody>
      </p:sp>
      <p:sp>
        <p:nvSpPr>
          <p:cNvPr id="13" name="内容占位符 2"/>
          <p:cNvSpPr>
            <a:spLocks noGrp="1"/>
          </p:cNvSpPr>
          <p:nvPr/>
        </p:nvSpPr>
        <p:spPr>
          <a:xfrm>
            <a:off x="664210" y="5457825"/>
            <a:ext cx="11068685" cy="108204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tabLst/>
              <a:defRPr/>
            </a:pP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最小距离译码器：在BSC中，MLD规则变成了选择能使</a:t>
            </a:r>
            <a:r>
              <a:rPr kumimoji="0"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Y</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和</a:t>
            </a:r>
            <a:r>
              <a:rPr kumimoji="0"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X</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之间的汉明距离为最小的向量，作为码字</a:t>
            </a:r>
            <a:r>
              <a:rPr kumimoji="0"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X</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的估计值</a:t>
            </a:r>
          </a:p>
        </p:txBody>
      </p:sp>
      <p:sp>
        <p:nvSpPr>
          <p:cNvPr id="14" name="灯片编号占位符 1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80" y="1131570"/>
            <a:ext cx="9799320" cy="1594485"/>
          </a:xfrm>
        </p:spPr>
        <p:txBody>
          <a:bodyPr>
            <a:normAutofit/>
          </a:bodyPr>
          <a:lstStyle/>
          <a:p>
            <a:r>
              <a:rPr lang="zh-CN" altLang="zh-CN" sz="4800"/>
              <a:t>第二章 信息论基础与信源编码理论</a:t>
            </a:r>
          </a:p>
        </p:txBody>
      </p:sp>
      <p:sp>
        <p:nvSpPr>
          <p:cNvPr id="3" name="副标题 2"/>
          <p:cNvSpPr>
            <a:spLocks noGrp="1"/>
          </p:cNvSpPr>
          <p:nvPr>
            <p:ph type="subTitle" idx="1"/>
            <p:custDataLst>
              <p:tags r:id="rId3"/>
            </p:custDataLst>
          </p:nvPr>
        </p:nvSpPr>
        <p:spPr/>
        <p:txBody>
          <a:bodyPr/>
          <a:lstStyle/>
          <a:p>
            <a:r>
              <a:rPr lang="zh-CN" altLang="en-US"/>
              <a:t>李丽香</a:t>
            </a:r>
          </a:p>
          <a:p>
            <a:r>
              <a:rPr lang="zh-CN" altLang="en-US"/>
              <a:t>北京邮电大学网络空间安全学院</a:t>
            </a:r>
          </a:p>
        </p:txBody>
      </p:sp>
      <p:sp>
        <p:nvSpPr>
          <p:cNvPr id="5" name="文本框 4"/>
          <p:cNvSpPr txBox="1"/>
          <p:nvPr/>
        </p:nvSpPr>
        <p:spPr>
          <a:xfrm>
            <a:off x="680720" y="268605"/>
            <a:ext cx="3891915"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a:ln>
                  <a:noFill/>
                </a:ln>
                <a:solidFill>
                  <a:srgbClr val="000000"/>
                </a:solidFill>
                <a:effectLst/>
                <a:uLnTx/>
                <a:uFillTx/>
                <a:latin typeface="Arial"/>
                <a:ea typeface="微软雅黑"/>
                <a:cs typeface="+mn-cs"/>
              </a:rPr>
              <a:t>《编码理论》课程</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000" b="0" i="0" u="none" strike="noStrike" kern="1200" cap="none" spc="0" normalizeH="0" baseline="0" noProof="0" dirty="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信息的概念</a:t>
            </a:r>
          </a:p>
        </p:txBody>
      </p:sp>
      <p:sp>
        <p:nvSpPr>
          <p:cNvPr id="3" name="内容占位符 2"/>
          <p:cNvSpPr>
            <a:spLocks noGrp="1"/>
          </p:cNvSpPr>
          <p:nvPr>
            <p:ph idx="1"/>
          </p:nvPr>
        </p:nvSpPr>
        <p:spPr>
          <a:xfrm>
            <a:off x="608330" y="1490345"/>
            <a:ext cx="10831830" cy="4839335"/>
          </a:xfrm>
        </p:spPr>
        <p:txBody>
          <a:bodyPr>
            <a:noAutofit/>
          </a:bodyPr>
          <a:lstStyle/>
          <a:p>
            <a:r>
              <a:rPr sz="2400"/>
              <a:t>1948年，仙农发表了一篇重要的论文《通信的数学理论》，对信息作了科学的定义</a:t>
            </a:r>
            <a:r>
              <a:rPr lang="zh-CN" sz="2400"/>
              <a:t>。</a:t>
            </a:r>
            <a:endParaRPr sz="2400"/>
          </a:p>
          <a:p>
            <a:r>
              <a:rPr sz="2400"/>
              <a:t>先请读几个句子：</a:t>
            </a:r>
          </a:p>
          <a:p>
            <a:pPr lvl="1">
              <a:buFont typeface="Wingdings" panose="05000000000000000000" charset="0"/>
              <a:buChar char="p"/>
            </a:pPr>
            <a:r>
              <a:rPr sz="2130"/>
              <a:t>明天，太阳从东方升起</a:t>
            </a:r>
            <a:r>
              <a:rPr lang="zh-CN" sz="2130"/>
              <a:t>。</a:t>
            </a:r>
            <a:endParaRPr sz="2130"/>
          </a:p>
          <a:p>
            <a:pPr lvl="1">
              <a:buFont typeface="Wingdings" panose="05000000000000000000" charset="0"/>
              <a:buChar char="p"/>
            </a:pPr>
            <a:r>
              <a:rPr sz="2130"/>
              <a:t>电话铃声将会在一个小时之内响</a:t>
            </a:r>
            <a:r>
              <a:rPr lang="zh-CN" sz="2130"/>
              <a:t>。</a:t>
            </a:r>
            <a:endParaRPr sz="2130"/>
          </a:p>
          <a:p>
            <a:pPr lvl="1">
              <a:buFont typeface="Wingdings" panose="05000000000000000000" charset="0"/>
              <a:buChar char="p"/>
            </a:pPr>
            <a:r>
              <a:rPr sz="2130"/>
              <a:t>这个冬天，哈尔滨将下雨</a:t>
            </a:r>
            <a:r>
              <a:rPr lang="zh-CN" sz="2130"/>
              <a:t>。</a:t>
            </a:r>
            <a:endParaRPr sz="2130"/>
          </a:p>
          <a:p>
            <a:r>
              <a:rPr sz="2400"/>
              <a:t>一个句子中所含信息的多少，同句子中所表达的事件出现的概率有关</a:t>
            </a:r>
            <a:r>
              <a:rPr lang="zh-CN" sz="2400"/>
              <a:t>，</a:t>
            </a:r>
            <a:r>
              <a:rPr sz="2400"/>
              <a:t>呈现相反的关系</a:t>
            </a:r>
            <a:r>
              <a:rPr lang="zh-CN" sz="2400"/>
              <a:t>。</a:t>
            </a:r>
            <a:endParaRPr sz="2400"/>
          </a:p>
          <a:p>
            <a:r>
              <a:rPr sz="2400"/>
              <a:t>仙农对于</a:t>
            </a:r>
            <a:r>
              <a:rPr lang="zh-CN" sz="2400" b="1">
                <a:solidFill>
                  <a:schemeClr val="accent6">
                    <a:lumMod val="75000"/>
                  </a:schemeClr>
                </a:solidFill>
              </a:rPr>
              <a:t>信息的定义</a:t>
            </a:r>
            <a:r>
              <a:rPr sz="2400"/>
              <a:t>：</a:t>
            </a:r>
            <a:r>
              <a:rPr sz="2400">
                <a:highlight>
                  <a:srgbClr val="FFFF00"/>
                </a:highlight>
              </a:rPr>
              <a:t>信息是事物运动状态或存在方式不确定性的描述</a:t>
            </a:r>
            <a:r>
              <a:rPr lang="zh-CN" sz="2400"/>
              <a:t>。</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自信息</a:t>
            </a:r>
          </a:p>
        </p:txBody>
      </p:sp>
      <p:sp>
        <p:nvSpPr>
          <p:cNvPr id="3" name="内容占位符 2"/>
          <p:cNvSpPr>
            <a:spLocks noGrp="1"/>
          </p:cNvSpPr>
          <p:nvPr>
            <p:ph idx="1"/>
          </p:nvPr>
        </p:nvSpPr>
        <p:spPr>
          <a:xfrm>
            <a:off x="608330" y="1490345"/>
            <a:ext cx="10831830" cy="2937510"/>
          </a:xfrm>
        </p:spPr>
        <p:txBody>
          <a:bodyPr>
            <a:noAutofit/>
          </a:bodyPr>
          <a:lstStyle/>
          <a:p>
            <a:r>
              <a:rPr lang="zh-CN" sz="2400" b="1">
                <a:solidFill>
                  <a:schemeClr val="accent6">
                    <a:lumMod val="75000"/>
                  </a:schemeClr>
                </a:solidFill>
              </a:rPr>
              <a:t>定义</a:t>
            </a:r>
            <a:r>
              <a:rPr sz="2400"/>
              <a:t>：考虑离散随机变量</a:t>
            </a:r>
            <a:r>
              <a:rPr sz="2400" i="1">
                <a:latin typeface="Times New Roman" panose="02020603050405020304" pitchFamily="18" charset="0"/>
                <a:cs typeface="Times New Roman" panose="02020603050405020304" pitchFamily="18" charset="0"/>
              </a:rPr>
              <a:t>X</a:t>
            </a:r>
            <a:r>
              <a:rPr sz="2400"/>
              <a:t>，其样本空间为{</a:t>
            </a:r>
            <a:r>
              <a:rPr sz="2400" i="1">
                <a:latin typeface="Times New Roman" panose="02020603050405020304" pitchFamily="18" charset="0"/>
                <a:cs typeface="Times New Roman" panose="02020603050405020304" pitchFamily="18" charset="0"/>
              </a:rPr>
              <a:t>x</a:t>
            </a:r>
            <a:r>
              <a:rPr sz="2400" i="1" baseline="-25000">
                <a:latin typeface="Times New Roman" panose="02020603050405020304" pitchFamily="18" charset="0"/>
                <a:cs typeface="Times New Roman" panose="02020603050405020304" pitchFamily="18" charset="0"/>
              </a:rPr>
              <a:t>i</a:t>
            </a:r>
            <a:r>
              <a:rPr sz="2400"/>
              <a:t>, </a:t>
            </a:r>
            <a:r>
              <a:rPr sz="2400" i="1">
                <a:latin typeface="Times New Roman" panose="02020603050405020304" pitchFamily="18" charset="0"/>
                <a:cs typeface="Times New Roman" panose="02020603050405020304" pitchFamily="18" charset="0"/>
              </a:rPr>
              <a:t>i</a:t>
            </a:r>
            <a:r>
              <a:rPr sz="2400"/>
              <a:t>=</a:t>
            </a:r>
            <a:r>
              <a:rPr sz="2400">
                <a:latin typeface="Times New Roman" panose="02020603050405020304" pitchFamily="18" charset="0"/>
                <a:cs typeface="Times New Roman" panose="02020603050405020304" pitchFamily="18" charset="0"/>
              </a:rPr>
              <a:t>1, 2,…,</a:t>
            </a:r>
            <a:r>
              <a:rPr sz="2400" i="1">
                <a:latin typeface="Times New Roman" panose="02020603050405020304" pitchFamily="18" charset="0"/>
                <a:cs typeface="Times New Roman" panose="02020603050405020304" pitchFamily="18" charset="0"/>
              </a:rPr>
              <a:t>n</a:t>
            </a:r>
            <a:r>
              <a:rPr sz="2400"/>
              <a:t>}，则事件</a:t>
            </a:r>
            <a:r>
              <a:rPr sz="2400" i="1">
                <a:latin typeface="Times New Roman" panose="02020603050405020304" pitchFamily="18" charset="0"/>
                <a:cs typeface="Times New Roman" panose="02020603050405020304" pitchFamily="18" charset="0"/>
              </a:rPr>
              <a:t>X</a:t>
            </a:r>
            <a:r>
              <a:rPr sz="2400"/>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t>的自信息的定义为</a:t>
            </a:r>
          </a:p>
          <a:p>
            <a:pPr marL="0" indent="0">
              <a:buNone/>
            </a:pPr>
            <a:endParaRPr sz="2400"/>
          </a:p>
          <a:p>
            <a:r>
              <a:rPr sz="2400"/>
              <a:t>自信息的单位由对数的底来决定，以</a:t>
            </a:r>
            <a:r>
              <a:rPr sz="2400">
                <a:latin typeface="Times New Roman" panose="02020603050405020304" pitchFamily="18" charset="0"/>
                <a:cs typeface="Times New Roman" panose="02020603050405020304" pitchFamily="18" charset="0"/>
              </a:rPr>
              <a:t>2</a:t>
            </a:r>
            <a:r>
              <a:rPr sz="2400"/>
              <a:t>为底，单位就是比特(bits)，以</a:t>
            </a:r>
            <a:r>
              <a:rPr sz="2400" i="1">
                <a:latin typeface="Times New Roman" panose="02020603050405020304" pitchFamily="18" charset="0"/>
                <a:cs typeface="Times New Roman" panose="02020603050405020304" pitchFamily="18" charset="0"/>
              </a:rPr>
              <a:t>e</a:t>
            </a:r>
            <a:r>
              <a:rPr sz="2400"/>
              <a:t>为底就是奈特(nats)</a:t>
            </a:r>
            <a:r>
              <a:rPr lang="zh-CN" sz="2400"/>
              <a:t>。</a:t>
            </a:r>
            <a:r>
              <a:rPr sz="2400"/>
              <a:t>自信息非负</a:t>
            </a:r>
            <a:r>
              <a:rPr lang="zh-CN" sz="2400"/>
              <a:t>。</a:t>
            </a:r>
          </a:p>
        </p:txBody>
      </p:sp>
      <p:graphicFrame>
        <p:nvGraphicFramePr>
          <p:cNvPr id="7" name="对象 6">
            <a:hlinkClick r:id="" action="ppaction://ole?verb=0"/>
          </p:cNvPr>
          <p:cNvGraphicFramePr>
            <a:graphicFrameLocks noChangeAspect="1"/>
          </p:cNvGraphicFramePr>
          <p:nvPr/>
        </p:nvGraphicFramePr>
        <p:xfrm>
          <a:off x="3754756" y="2131695"/>
          <a:ext cx="3772535" cy="951865"/>
        </p:xfrm>
        <a:graphic>
          <a:graphicData uri="http://schemas.openxmlformats.org/presentationml/2006/ole">
            <mc:AlternateContent xmlns:mc="http://schemas.openxmlformats.org/markup-compatibility/2006">
              <mc:Choice xmlns:v="urn:schemas-microsoft-com:vml" Requires="v">
                <p:oleObj r:id="rId3" imgW="1943100" imgH="482600" progId="Equation.KSEE3">
                  <p:embed/>
                </p:oleObj>
              </mc:Choice>
              <mc:Fallback>
                <p:oleObj r:id="rId3" imgW="1943100" imgH="482600" progId="Equation.KSEE3">
                  <p:embed/>
                  <p:pic>
                    <p:nvPicPr>
                      <p:cNvPr id="7" name="对象 6">
                        <a:hlinkClick r:id="" action="ppaction://ole?verb=0"/>
                      </p:cNvPr>
                      <p:cNvPicPr/>
                      <p:nvPr/>
                    </p:nvPicPr>
                    <p:blipFill>
                      <a:blip r:embed="rId4"/>
                      <a:stretch>
                        <a:fillRect/>
                      </a:stretch>
                    </p:blipFill>
                    <p:spPr>
                      <a:xfrm>
                        <a:off x="3754756" y="2131695"/>
                        <a:ext cx="3772535" cy="951865"/>
                      </a:xfrm>
                      <a:prstGeom prst="rect">
                        <a:avLst/>
                      </a:prstGeom>
                    </p:spPr>
                  </p:pic>
                </p:oleObj>
              </mc:Fallback>
            </mc:AlternateContent>
          </a:graphicData>
        </a:graphic>
      </p:graphicFrame>
      <p:sp>
        <p:nvSpPr>
          <p:cNvPr id="9" name="矩形 8"/>
          <p:cNvSpPr/>
          <p:nvPr/>
        </p:nvSpPr>
        <p:spPr>
          <a:xfrm>
            <a:off x="1050925" y="4535805"/>
            <a:ext cx="10006965" cy="171513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 name="文本框 3"/>
          <p:cNvSpPr txBox="1"/>
          <p:nvPr/>
        </p:nvSpPr>
        <p:spPr>
          <a:xfrm>
            <a:off x="1198245" y="4595495"/>
            <a:ext cx="9703435" cy="1568450"/>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lang="zh-CN" altLang="en-US" sz="20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例子：</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考虑一个可以同时输出</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2</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个比特的离散无记忆的信源</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C</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。该信源有</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4</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种可能的输出</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{00, 01, 10, 11}</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，其中每一种可能的输出都是独立不相关的，其出现的概率为</a:t>
            </a:r>
            <a:r>
              <a:rPr kumimoji="0" lang="en-US" altLang="zh-CN"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P</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a:t>
            </a:r>
            <a:r>
              <a:rPr kumimoji="0" lang="en-US" altLang="zh-CN"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C</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)=0.25</a:t>
            </a:r>
            <a:r>
              <a:rPr kumimoji="0" lang="zh-CN" altLang="en-US"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。因此，</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信源</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C</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的每个可能的输出的自信息为</a:t>
            </a:r>
            <a:endParaRPr kumimoji="0" lang="zh-CN" altLang="en-US" sz="2000" b="1" i="0" u="none" strike="noStrike" kern="1200" cap="none" spc="0" normalizeH="0" baseline="0" noProof="0" dirty="0">
              <a:ln>
                <a:noFill/>
              </a:ln>
              <a:solidFill>
                <a:srgbClr val="0070C0"/>
              </a:solidFill>
              <a:effectLst/>
              <a:uLnTx/>
              <a:uFillTx/>
              <a:latin typeface="Times New Roman" panose="02020603050405020304" pitchFamily="18" charset="0"/>
              <a:ea typeface="黑体" panose="02010609060101010101" pitchFamily="49" charset="-122"/>
              <a:cs typeface="+mn-cs"/>
            </a:endParaRPr>
          </a:p>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lang="en-US" altLang="zh-CN"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I</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a:t>
            </a:r>
            <a:r>
              <a:rPr kumimoji="0" lang="en-US" altLang="zh-CN"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C</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)=-log</a:t>
            </a:r>
            <a:r>
              <a:rPr kumimoji="0" lang="en-US" altLang="zh-CN" sz="2000" b="1" i="0" u="none" strike="noStrike" kern="1200" cap="none" spc="0" normalizeH="0" baseline="-2500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2</a:t>
            </a:r>
            <a:r>
              <a:rPr kumimoji="0" lang="en-US" altLang="zh-CN"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P</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a:t>
            </a:r>
            <a:r>
              <a:rPr kumimoji="0" lang="en-US" altLang="zh-CN"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x</a:t>
            </a:r>
            <a:r>
              <a:rPr kumimoji="0" lang="en-US" altLang="zh-CN" sz="2000" b="1" i="1" u="none" strike="noStrike" kern="1200" cap="none" spc="0" normalizeH="0" baseline="-2500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i</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)=-log</a:t>
            </a:r>
            <a:r>
              <a:rPr kumimoji="0" lang="en-US" altLang="zh-CN" sz="2000" b="1" i="0" u="none" strike="noStrike" kern="1200" cap="none" spc="0" normalizeH="0" baseline="-2500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2</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0.25=2bits</a:t>
            </a:r>
            <a:endParaRPr kumimoji="0" lang="en-US" altLang="zh-CN" sz="2000" b="1" i="0" u="none" strike="noStrike" kern="1200" cap="none" spc="0" normalizeH="0" baseline="0" noProof="0" dirty="0">
              <a:ln>
                <a:noFill/>
              </a:ln>
              <a:solidFill>
                <a:srgbClr val="0070C0"/>
              </a:solidFill>
              <a:effectLst/>
              <a:uLnTx/>
              <a:uFillTx/>
              <a:latin typeface="Times New Roman" panose="02020603050405020304" pitchFamily="18" charset="0"/>
              <a:ea typeface="黑体" panose="02010609060101010101" pitchFamily="49" charset="-122"/>
              <a:cs typeface="楷体" panose="02010609060101010101" charset="-122"/>
              <a:sym typeface="+mn-ea"/>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条件自信息</a:t>
            </a:r>
          </a:p>
        </p:txBody>
      </p:sp>
      <p:sp>
        <p:nvSpPr>
          <p:cNvPr id="3" name="内容占位符 2"/>
          <p:cNvSpPr>
            <a:spLocks noGrp="1"/>
          </p:cNvSpPr>
          <p:nvPr>
            <p:ph idx="1"/>
          </p:nvPr>
        </p:nvSpPr>
        <p:spPr>
          <a:xfrm>
            <a:off x="608330" y="1490345"/>
            <a:ext cx="10831830" cy="3830955"/>
          </a:xfrm>
        </p:spPr>
        <p:txBody>
          <a:bodyPr>
            <a:noAutofit/>
          </a:bodyPr>
          <a:lstStyle/>
          <a:p>
            <a:r>
              <a:rPr lang="zh-CN" sz="2400" b="1">
                <a:solidFill>
                  <a:schemeClr val="accent6">
                    <a:lumMod val="75000"/>
                  </a:schemeClr>
                </a:solidFill>
              </a:rPr>
              <a:t>定义</a:t>
            </a:r>
            <a:r>
              <a:rPr sz="2400"/>
              <a:t>：在给定</a:t>
            </a:r>
            <a:r>
              <a:rPr sz="2400" i="1">
                <a:latin typeface="Times New Roman" panose="02020603050405020304" pitchFamily="18" charset="0"/>
                <a:cs typeface="Times New Roman" panose="02020603050405020304" pitchFamily="18" charset="0"/>
              </a:rPr>
              <a:t>Y</a:t>
            </a:r>
            <a:r>
              <a:rPr sz="2400"/>
              <a:t>=</a:t>
            </a:r>
            <a:r>
              <a:rPr sz="2400" i="1">
                <a:latin typeface="Times New Roman" panose="02020603050405020304" pitchFamily="18" charset="0"/>
                <a:cs typeface="Times New Roman" panose="02020603050405020304" pitchFamily="18" charset="0"/>
              </a:rPr>
              <a:t>y</a:t>
            </a:r>
            <a:r>
              <a:rPr sz="2400" i="1" baseline="-25000">
                <a:latin typeface="Times New Roman" panose="02020603050405020304" pitchFamily="18" charset="0"/>
                <a:cs typeface="Times New Roman" panose="02020603050405020304" pitchFamily="18" charset="0"/>
              </a:rPr>
              <a:t>i</a:t>
            </a:r>
            <a:r>
              <a:rPr sz="2400"/>
              <a:t>的情况下，考虑离散随机变量</a:t>
            </a:r>
            <a:r>
              <a:rPr sz="2400" i="1">
                <a:latin typeface="Times New Roman" panose="02020603050405020304" pitchFamily="18" charset="0"/>
                <a:cs typeface="Times New Roman" panose="02020603050405020304" pitchFamily="18" charset="0"/>
              </a:rPr>
              <a:t>X</a:t>
            </a:r>
            <a:r>
              <a:rPr sz="2400"/>
              <a:t>，其样本空间为</a:t>
            </a:r>
            <a:r>
              <a:rPr sz="2400">
                <a:sym typeface="+mn-ea"/>
              </a:rPr>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sym typeface="+mn-ea"/>
              </a:rPr>
              <a:t>, </a:t>
            </a:r>
            <a:r>
              <a:rPr sz="2400" i="1">
                <a:latin typeface="Times New Roman" panose="02020603050405020304" pitchFamily="18" charset="0"/>
                <a:cs typeface="Times New Roman" panose="02020603050405020304" pitchFamily="18" charset="0"/>
                <a:sym typeface="+mn-ea"/>
              </a:rPr>
              <a:t>i</a:t>
            </a:r>
            <a:r>
              <a:rPr sz="2400">
                <a:sym typeface="+mn-ea"/>
              </a:rPr>
              <a:t>=</a:t>
            </a:r>
            <a:r>
              <a:rPr sz="2400">
                <a:latin typeface="Times New Roman" panose="02020603050405020304" pitchFamily="18" charset="0"/>
                <a:cs typeface="Times New Roman" panose="02020603050405020304" pitchFamily="18" charset="0"/>
                <a:sym typeface="+mn-ea"/>
              </a:rPr>
              <a:t>1, 2,…,</a:t>
            </a:r>
            <a:r>
              <a:rPr sz="2400" i="1">
                <a:latin typeface="Times New Roman" panose="02020603050405020304" pitchFamily="18" charset="0"/>
                <a:cs typeface="Times New Roman" panose="02020603050405020304" pitchFamily="18" charset="0"/>
                <a:sym typeface="+mn-ea"/>
              </a:rPr>
              <a:t>n</a:t>
            </a:r>
            <a:r>
              <a:rPr sz="2400">
                <a:sym typeface="+mn-ea"/>
              </a:rPr>
              <a:t>}</a:t>
            </a:r>
            <a:r>
              <a:rPr sz="2400"/>
              <a:t>，则事件</a:t>
            </a:r>
            <a:r>
              <a:rPr sz="2400" i="1">
                <a:latin typeface="Times New Roman" panose="02020603050405020304" pitchFamily="18" charset="0"/>
                <a:cs typeface="Times New Roman" panose="02020603050405020304" pitchFamily="18" charset="0"/>
                <a:sym typeface="+mn-ea"/>
              </a:rPr>
              <a:t>X</a:t>
            </a:r>
            <a:r>
              <a:rPr sz="2400">
                <a:sym typeface="+mn-ea"/>
              </a:rPr>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t>的条件自信息量的定义为</a:t>
            </a:r>
          </a:p>
          <a:p>
            <a:endParaRPr sz="2400"/>
          </a:p>
          <a:p>
            <a:endParaRPr sz="2400"/>
          </a:p>
          <a:p>
            <a:pPr marL="0" indent="0">
              <a:buNone/>
            </a:pPr>
            <a:r>
              <a:rPr lang="en-US" sz="2400"/>
              <a:t>   </a:t>
            </a:r>
            <a:r>
              <a:rPr sz="2400"/>
              <a:t>其中</a:t>
            </a:r>
            <a:r>
              <a:rPr lang="zh-CN" sz="2400"/>
              <a:t>，</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t>|</a:t>
            </a:r>
            <a:r>
              <a:rPr lang="en-US" sz="2400" i="1">
                <a:latin typeface="Times New Roman" panose="02020603050405020304" pitchFamily="18" charset="0"/>
                <a:cs typeface="Times New Roman" panose="02020603050405020304" pitchFamily="18" charset="0"/>
                <a:sym typeface="+mn-ea"/>
              </a:rPr>
              <a:t>y</a:t>
            </a:r>
            <a:r>
              <a:rPr sz="2400" i="1" baseline="-25000">
                <a:latin typeface="Times New Roman" panose="02020603050405020304" pitchFamily="18" charset="0"/>
                <a:cs typeface="Times New Roman" panose="02020603050405020304" pitchFamily="18" charset="0"/>
                <a:sym typeface="+mn-ea"/>
              </a:rPr>
              <a:t>i</a:t>
            </a:r>
            <a:r>
              <a:rPr sz="2400"/>
              <a:t>)是</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t>的条件概率，也称为后验概率</a:t>
            </a:r>
            <a:r>
              <a:rPr lang="zh-CN" sz="2400"/>
              <a:t>。</a:t>
            </a:r>
            <a:r>
              <a:rPr sz="2400" i="1">
                <a:latin typeface="Times New Roman" panose="02020603050405020304" pitchFamily="18" charset="0"/>
                <a:cs typeface="Times New Roman" panose="02020603050405020304" pitchFamily="18" charset="0"/>
                <a:sym typeface="+mn-ea"/>
              </a:rPr>
              <a:t>P</a:t>
            </a:r>
            <a:r>
              <a:rPr sz="2400">
                <a:sym typeface="+mn-ea"/>
              </a:rPr>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sym typeface="+mn-ea"/>
              </a:rPr>
              <a:t>)称为先验概率</a:t>
            </a:r>
            <a:r>
              <a:rPr lang="zh-CN" sz="2400">
                <a:sym typeface="+mn-ea"/>
              </a:rPr>
              <a:t>。</a:t>
            </a:r>
            <a:endParaRPr sz="2400"/>
          </a:p>
          <a:p>
            <a:r>
              <a:rPr sz="2400"/>
              <a:t>条件自信息量非负</a:t>
            </a:r>
            <a:r>
              <a:rPr lang="zh-CN" sz="2400"/>
              <a:t>。</a:t>
            </a:r>
          </a:p>
        </p:txBody>
      </p:sp>
      <p:graphicFrame>
        <p:nvGraphicFramePr>
          <p:cNvPr id="7" name="对象 6">
            <a:hlinkClick r:id="" action="ppaction://ole?verb=0"/>
          </p:cNvPr>
          <p:cNvGraphicFramePr>
            <a:graphicFrameLocks noChangeAspect="1"/>
          </p:cNvGraphicFramePr>
          <p:nvPr/>
        </p:nvGraphicFramePr>
        <p:xfrm>
          <a:off x="3790633" y="2677478"/>
          <a:ext cx="4610100" cy="1002030"/>
        </p:xfrm>
        <a:graphic>
          <a:graphicData uri="http://schemas.openxmlformats.org/presentationml/2006/ole">
            <mc:AlternateContent xmlns:mc="http://schemas.openxmlformats.org/markup-compatibility/2006">
              <mc:Choice xmlns:v="urn:schemas-microsoft-com:vml" Requires="v">
                <p:oleObj r:id="rId3" imgW="2374265" imgH="508000" progId="Equation.KSEE3">
                  <p:embed/>
                </p:oleObj>
              </mc:Choice>
              <mc:Fallback>
                <p:oleObj r:id="rId3" imgW="2374265" imgH="508000" progId="Equation.KSEE3">
                  <p:embed/>
                  <p:pic>
                    <p:nvPicPr>
                      <p:cNvPr id="7" name="对象 6">
                        <a:hlinkClick r:id="" action="ppaction://ole?verb=0"/>
                      </p:cNvPr>
                      <p:cNvPicPr/>
                      <p:nvPr/>
                    </p:nvPicPr>
                    <p:blipFill>
                      <a:blip r:embed="rId4"/>
                      <a:stretch>
                        <a:fillRect/>
                      </a:stretch>
                    </p:blipFill>
                    <p:spPr>
                      <a:xfrm>
                        <a:off x="3790633" y="2677478"/>
                        <a:ext cx="4610100" cy="1002030"/>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互信息</a:t>
            </a:r>
          </a:p>
        </p:txBody>
      </p:sp>
      <p:sp>
        <p:nvSpPr>
          <p:cNvPr id="3" name="内容占位符 2"/>
          <p:cNvSpPr>
            <a:spLocks noGrp="1"/>
          </p:cNvSpPr>
          <p:nvPr>
            <p:ph idx="1"/>
          </p:nvPr>
        </p:nvSpPr>
        <p:spPr>
          <a:xfrm>
            <a:off x="608330" y="1490345"/>
            <a:ext cx="10831830" cy="3035300"/>
          </a:xfrm>
        </p:spPr>
        <p:txBody>
          <a:bodyPr>
            <a:noAutofit/>
          </a:bodyPr>
          <a:lstStyle/>
          <a:p>
            <a:r>
              <a:rPr lang="zh-CN" sz="2400" b="1">
                <a:solidFill>
                  <a:schemeClr val="accent6">
                    <a:lumMod val="75000"/>
                  </a:schemeClr>
                </a:solidFill>
                <a:sym typeface="+mn-ea"/>
              </a:rPr>
              <a:t>定义</a:t>
            </a:r>
            <a:r>
              <a:rPr sz="2400">
                <a:sym typeface="+mn-ea"/>
              </a:rPr>
              <a:t>： </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sym typeface="+mn-ea"/>
              </a:rPr>
              <a:t>和</a:t>
            </a:r>
            <a:r>
              <a:rPr lang="en-US" sz="2400" i="1">
                <a:latin typeface="Times New Roman" panose="02020603050405020304" pitchFamily="18" charset="0"/>
                <a:cs typeface="Times New Roman" panose="02020603050405020304" pitchFamily="18" charset="0"/>
                <a:sym typeface="+mn-ea"/>
              </a:rPr>
              <a:t>y</a:t>
            </a:r>
            <a:r>
              <a:rPr sz="2400" i="1" baseline="-25000">
                <a:latin typeface="Times New Roman" panose="02020603050405020304" pitchFamily="18" charset="0"/>
                <a:cs typeface="Times New Roman" panose="02020603050405020304" pitchFamily="18" charset="0"/>
                <a:sym typeface="+mn-ea"/>
              </a:rPr>
              <a:t>i</a:t>
            </a:r>
            <a:r>
              <a:rPr sz="2400">
                <a:sym typeface="+mn-ea"/>
              </a:rPr>
              <a:t>之间的互信息定义为</a:t>
            </a:r>
          </a:p>
          <a:p>
            <a:r>
              <a:rPr sz="2400">
                <a:sym typeface="+mn-ea"/>
              </a:rPr>
              <a:t>互信息的性质：</a:t>
            </a:r>
          </a:p>
          <a:p>
            <a:pPr lvl="1">
              <a:buFont typeface="Wingdings" panose="05000000000000000000" charset="0"/>
              <a:buChar char="p"/>
            </a:pPr>
            <a:r>
              <a:rPr sz="2130">
                <a:sym typeface="+mn-ea"/>
              </a:rPr>
              <a:t>性质1：互易性 </a:t>
            </a:r>
            <a:r>
              <a:rPr sz="2130" i="1">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sz="2130" i="1">
                <a:latin typeface="Times New Roman" panose="02020603050405020304" pitchFamily="18" charset="0"/>
                <a:cs typeface="Times New Roman" panose="02020603050405020304" pitchFamily="18" charset="0"/>
                <a:sym typeface="+mn-ea"/>
              </a:rPr>
              <a:t>x</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lang="en-US" sz="2130" i="1">
                <a:latin typeface="Times New Roman" panose="02020603050405020304" pitchFamily="18" charset="0"/>
                <a:cs typeface="Times New Roman" panose="02020603050405020304" pitchFamily="18" charset="0"/>
                <a:sym typeface="+mn-ea"/>
              </a:rPr>
              <a:t>y</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 </a:t>
            </a:r>
            <a:r>
              <a:rPr sz="2130" i="1">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lang="en-US" sz="2130" i="1">
                <a:latin typeface="Times New Roman" panose="02020603050405020304" pitchFamily="18" charset="0"/>
                <a:cs typeface="Times New Roman" panose="02020603050405020304" pitchFamily="18" charset="0"/>
                <a:sym typeface="+mn-ea"/>
              </a:rPr>
              <a:t>y</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sz="2130" i="1">
                <a:latin typeface="Times New Roman" panose="02020603050405020304" pitchFamily="18" charset="0"/>
                <a:cs typeface="Times New Roman" panose="02020603050405020304" pitchFamily="18" charset="0"/>
                <a:sym typeface="+mn-ea"/>
              </a:rPr>
              <a:t>x</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lang="zh-CN" sz="2130">
                <a:latin typeface="Times New Roman" panose="02020603050405020304" pitchFamily="18" charset="0"/>
                <a:cs typeface="Times New Roman" panose="02020603050405020304" pitchFamily="18" charset="0"/>
                <a:sym typeface="+mn-ea"/>
              </a:rPr>
              <a:t>。</a:t>
            </a:r>
            <a:endParaRPr sz="2130">
              <a:sym typeface="+mn-ea"/>
            </a:endParaRPr>
          </a:p>
          <a:p>
            <a:pPr lvl="1">
              <a:buFont typeface="Wingdings" panose="05000000000000000000" charset="0"/>
              <a:buChar char="p"/>
            </a:pPr>
            <a:r>
              <a:rPr sz="2130">
                <a:sym typeface="+mn-ea"/>
              </a:rPr>
              <a:t>性质2：当</a:t>
            </a:r>
            <a:r>
              <a:rPr sz="2130" i="1">
                <a:latin typeface="Times New Roman" panose="02020603050405020304" pitchFamily="18" charset="0"/>
                <a:cs typeface="Times New Roman" panose="02020603050405020304" pitchFamily="18" charset="0"/>
                <a:sym typeface="+mn-ea"/>
              </a:rPr>
              <a:t>x</a:t>
            </a:r>
            <a:r>
              <a:rPr sz="2130" i="1" baseline="-25000">
                <a:latin typeface="Times New Roman" panose="02020603050405020304" pitchFamily="18" charset="0"/>
                <a:cs typeface="Times New Roman" panose="02020603050405020304" pitchFamily="18" charset="0"/>
                <a:sym typeface="+mn-ea"/>
              </a:rPr>
              <a:t>i</a:t>
            </a:r>
            <a:r>
              <a:rPr sz="2130">
                <a:sym typeface="+mn-ea"/>
              </a:rPr>
              <a:t>和</a:t>
            </a:r>
            <a:r>
              <a:rPr lang="en-US" sz="2130" i="1">
                <a:latin typeface="Times New Roman" panose="02020603050405020304" pitchFamily="18" charset="0"/>
                <a:cs typeface="Times New Roman" panose="02020603050405020304" pitchFamily="18" charset="0"/>
                <a:sym typeface="+mn-ea"/>
              </a:rPr>
              <a:t>y</a:t>
            </a:r>
            <a:r>
              <a:rPr sz="2130" i="1" baseline="-25000">
                <a:latin typeface="Times New Roman" panose="02020603050405020304" pitchFamily="18" charset="0"/>
                <a:cs typeface="Times New Roman" panose="02020603050405020304" pitchFamily="18" charset="0"/>
                <a:sym typeface="+mn-ea"/>
              </a:rPr>
              <a:t>i</a:t>
            </a:r>
            <a:r>
              <a:rPr sz="2130">
                <a:sym typeface="+mn-ea"/>
              </a:rPr>
              <a:t>是统计上独立的，即</a:t>
            </a:r>
            <a:r>
              <a:rPr sz="2130" i="1">
                <a:latin typeface="Times New Roman" panose="02020603050405020304" pitchFamily="18" charset="0"/>
                <a:cs typeface="Times New Roman" panose="02020603050405020304" pitchFamily="18" charset="0"/>
                <a:sym typeface="+mn-ea"/>
              </a:rPr>
              <a:t>P</a:t>
            </a:r>
            <a:r>
              <a:rPr sz="2130">
                <a:latin typeface="Times New Roman" panose="02020603050405020304" pitchFamily="18" charset="0"/>
                <a:cs typeface="Times New Roman" panose="02020603050405020304" pitchFamily="18" charset="0"/>
                <a:sym typeface="+mn-ea"/>
              </a:rPr>
              <a:t>(</a:t>
            </a:r>
            <a:r>
              <a:rPr sz="2130" i="1">
                <a:latin typeface="Times New Roman" panose="02020603050405020304" pitchFamily="18" charset="0"/>
                <a:cs typeface="Times New Roman" panose="02020603050405020304" pitchFamily="18" charset="0"/>
                <a:sym typeface="+mn-ea"/>
              </a:rPr>
              <a:t>x</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lang="en-US" sz="2130" i="1">
                <a:latin typeface="Times New Roman" panose="02020603050405020304" pitchFamily="18" charset="0"/>
                <a:cs typeface="Times New Roman" panose="02020603050405020304" pitchFamily="18" charset="0"/>
                <a:sym typeface="+mn-ea"/>
              </a:rPr>
              <a:t>y</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 </a:t>
            </a:r>
            <a:r>
              <a:rPr sz="2130" i="1">
                <a:latin typeface="Times New Roman" panose="02020603050405020304" pitchFamily="18" charset="0"/>
                <a:cs typeface="Times New Roman" panose="02020603050405020304" pitchFamily="18" charset="0"/>
                <a:sym typeface="+mn-ea"/>
              </a:rPr>
              <a:t>P</a:t>
            </a:r>
            <a:r>
              <a:rPr sz="2130">
                <a:latin typeface="Times New Roman" panose="02020603050405020304" pitchFamily="18" charset="0"/>
                <a:cs typeface="Times New Roman" panose="02020603050405020304" pitchFamily="18" charset="0"/>
                <a:sym typeface="+mn-ea"/>
              </a:rPr>
              <a:t>(</a:t>
            </a:r>
            <a:r>
              <a:rPr sz="2130" i="1">
                <a:latin typeface="Times New Roman" panose="02020603050405020304" pitchFamily="18" charset="0"/>
                <a:cs typeface="Times New Roman" panose="02020603050405020304" pitchFamily="18" charset="0"/>
                <a:sym typeface="+mn-ea"/>
              </a:rPr>
              <a:t>x</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sz="2130">
                <a:sym typeface="+mn-ea"/>
              </a:rPr>
              <a:t>，则</a:t>
            </a:r>
            <a:r>
              <a:rPr sz="2130" i="1">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sz="2130" i="1">
                <a:latin typeface="Times New Roman" panose="02020603050405020304" pitchFamily="18" charset="0"/>
                <a:cs typeface="Times New Roman" panose="02020603050405020304" pitchFamily="18" charset="0"/>
                <a:sym typeface="+mn-ea"/>
              </a:rPr>
              <a:t>x</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a:t>
            </a:r>
            <a:r>
              <a:rPr lang="en-US" sz="2130" i="1">
                <a:latin typeface="Times New Roman" panose="02020603050405020304" pitchFamily="18" charset="0"/>
                <a:cs typeface="Times New Roman" panose="02020603050405020304" pitchFamily="18" charset="0"/>
                <a:sym typeface="+mn-ea"/>
              </a:rPr>
              <a:t>y</a:t>
            </a:r>
            <a:r>
              <a:rPr sz="2130" i="1" baseline="-25000">
                <a:latin typeface="Times New Roman" panose="02020603050405020304" pitchFamily="18" charset="0"/>
                <a:cs typeface="Times New Roman" panose="02020603050405020304" pitchFamily="18" charset="0"/>
                <a:sym typeface="+mn-ea"/>
              </a:rPr>
              <a:t>i</a:t>
            </a:r>
            <a:r>
              <a:rPr sz="2130">
                <a:latin typeface="Times New Roman" panose="02020603050405020304" pitchFamily="18" charset="0"/>
                <a:cs typeface="Times New Roman" panose="02020603050405020304" pitchFamily="18" charset="0"/>
                <a:sym typeface="+mn-ea"/>
              </a:rPr>
              <a:t>)=0</a:t>
            </a:r>
            <a:r>
              <a:rPr lang="zh-CN" sz="2130">
                <a:latin typeface="Times New Roman" panose="02020603050405020304" pitchFamily="18" charset="0"/>
                <a:cs typeface="Times New Roman" panose="02020603050405020304" pitchFamily="18" charset="0"/>
                <a:sym typeface="+mn-ea"/>
              </a:rPr>
              <a:t>。</a:t>
            </a:r>
            <a:endParaRPr sz="2130">
              <a:sym typeface="+mn-ea"/>
            </a:endParaRPr>
          </a:p>
          <a:p>
            <a:pPr lvl="1">
              <a:buFont typeface="Wingdings" panose="05000000000000000000" charset="0"/>
              <a:buChar char="p"/>
            </a:pPr>
            <a:r>
              <a:rPr sz="2130">
                <a:sym typeface="+mn-ea"/>
              </a:rPr>
              <a:t>性质3：互信息量可以是正的，也可以是负的</a:t>
            </a:r>
            <a:r>
              <a:rPr lang="zh-CN" sz="2130">
                <a:sym typeface="+mn-ea"/>
              </a:rPr>
              <a:t>。</a:t>
            </a:r>
          </a:p>
        </p:txBody>
      </p:sp>
      <p:graphicFrame>
        <p:nvGraphicFramePr>
          <p:cNvPr id="6" name="对象 5">
            <a:hlinkClick r:id="" action="ppaction://ole?verb=0"/>
          </p:cNvPr>
          <p:cNvGraphicFramePr>
            <a:graphicFrameLocks noChangeAspect="1"/>
          </p:cNvGraphicFramePr>
          <p:nvPr/>
        </p:nvGraphicFramePr>
        <p:xfrm>
          <a:off x="5735638" y="1364298"/>
          <a:ext cx="2885440" cy="952500"/>
        </p:xfrm>
        <a:graphic>
          <a:graphicData uri="http://schemas.openxmlformats.org/presentationml/2006/ole">
            <mc:AlternateContent xmlns:mc="http://schemas.openxmlformats.org/markup-compatibility/2006">
              <mc:Choice xmlns:v="urn:schemas-microsoft-com:vml" Requires="v">
                <p:oleObj r:id="rId3" imgW="1485900" imgH="482600" progId="Equation.KSEE3">
                  <p:embed/>
                </p:oleObj>
              </mc:Choice>
              <mc:Fallback>
                <p:oleObj r:id="rId3" imgW="1485900" imgH="482600" progId="Equation.KSEE3">
                  <p:embed/>
                  <p:pic>
                    <p:nvPicPr>
                      <p:cNvPr id="6" name="对象 5">
                        <a:hlinkClick r:id="" action="ppaction://ole?verb=0"/>
                      </p:cNvPr>
                      <p:cNvPicPr/>
                      <p:nvPr/>
                    </p:nvPicPr>
                    <p:blipFill>
                      <a:blip r:embed="rId4"/>
                      <a:stretch>
                        <a:fillRect/>
                      </a:stretch>
                    </p:blipFill>
                    <p:spPr>
                      <a:xfrm>
                        <a:off x="5735638" y="1364298"/>
                        <a:ext cx="2885440" cy="952500"/>
                      </a:xfrm>
                      <a:prstGeom prst="rect">
                        <a:avLst/>
                      </a:prstGeom>
                    </p:spPr>
                  </p:pic>
                </p:oleObj>
              </mc:Fallback>
            </mc:AlternateContent>
          </a:graphicData>
        </a:graphic>
      </p:graphicFrame>
      <p:sp>
        <p:nvSpPr>
          <p:cNvPr id="9" name="矩形 8"/>
          <p:cNvSpPr/>
          <p:nvPr/>
        </p:nvSpPr>
        <p:spPr>
          <a:xfrm>
            <a:off x="2710180" y="5006975"/>
            <a:ext cx="6113780" cy="5702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8" name="文本框 7"/>
          <p:cNvSpPr txBox="1"/>
          <p:nvPr/>
        </p:nvSpPr>
        <p:spPr>
          <a:xfrm>
            <a:off x="2973070" y="5033645"/>
            <a:ext cx="5737225" cy="460375"/>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sz="2000" b="1" i="0" u="none" strike="noStrike" kern="1200" cap="none" spc="0" normalizeH="0" baseline="0" noProof="0">
                <a:ln>
                  <a:noFill/>
                </a:ln>
                <a:solidFill>
                  <a:srgbClr val="FF0000"/>
                </a:solidFill>
                <a:effectLst/>
                <a:uLnTx/>
                <a:uFillTx/>
                <a:latin typeface="楷体" panose="02010609060101010101" charset="-122"/>
                <a:ea typeface="楷体" panose="02010609060101010101" charset="-122"/>
                <a:cs typeface="+mn-cs"/>
              </a:rPr>
              <a:t>思考题：</a:t>
            </a:r>
            <a:r>
              <a:rPr kumimoji="0"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计算二元对称(BSC)信道的互信息量</a:t>
            </a:r>
            <a:r>
              <a:rPr kumimoji="0" lang="en-US"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平均自信息量(信息熵)</a:t>
            </a:r>
          </a:p>
        </p:txBody>
      </p:sp>
      <p:sp>
        <p:nvSpPr>
          <p:cNvPr id="3" name="内容占位符 2"/>
          <p:cNvSpPr>
            <a:spLocks noGrp="1"/>
          </p:cNvSpPr>
          <p:nvPr>
            <p:ph idx="1"/>
          </p:nvPr>
        </p:nvSpPr>
        <p:spPr>
          <a:xfrm>
            <a:off x="608330" y="1490345"/>
            <a:ext cx="10831830" cy="3018790"/>
          </a:xfrm>
        </p:spPr>
        <p:txBody>
          <a:bodyPr>
            <a:noAutofit/>
          </a:bodyPr>
          <a:lstStyle/>
          <a:p>
            <a:r>
              <a:rPr lang="zh-CN" sz="2400" b="1">
                <a:solidFill>
                  <a:schemeClr val="accent6">
                    <a:lumMod val="75000"/>
                  </a:schemeClr>
                </a:solidFill>
                <a:sym typeface="+mn-ea"/>
              </a:rPr>
              <a:t>定义</a:t>
            </a:r>
            <a:r>
              <a:rPr lang="zh-CN" sz="2400">
                <a:sym typeface="+mn-ea"/>
              </a:rPr>
              <a:t>：离散随机变量</a:t>
            </a:r>
            <a:r>
              <a:rPr lang="zh-CN" sz="2400" i="1">
                <a:latin typeface="Times New Roman" panose="02020603050405020304" pitchFamily="18" charset="0"/>
                <a:cs typeface="Times New Roman" panose="02020603050405020304" pitchFamily="18" charset="0"/>
                <a:sym typeface="+mn-ea"/>
              </a:rPr>
              <a:t>X</a:t>
            </a:r>
            <a:r>
              <a:rPr lang="zh-CN" sz="2400">
                <a:sym typeface="+mn-ea"/>
              </a:rPr>
              <a:t>的平均自信息定义为，其样本空间为</a:t>
            </a:r>
            <a:r>
              <a:rPr sz="2400">
                <a:sym typeface="+mn-ea"/>
              </a:rPr>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sym typeface="+mn-ea"/>
              </a:rPr>
              <a:t>, </a:t>
            </a:r>
            <a:r>
              <a:rPr sz="2400" i="1">
                <a:latin typeface="Times New Roman" panose="02020603050405020304" pitchFamily="18" charset="0"/>
                <a:cs typeface="Times New Roman" panose="02020603050405020304" pitchFamily="18" charset="0"/>
                <a:sym typeface="+mn-ea"/>
              </a:rPr>
              <a:t>i</a:t>
            </a:r>
            <a:r>
              <a:rPr sz="2400">
                <a:sym typeface="+mn-ea"/>
              </a:rPr>
              <a:t>=</a:t>
            </a:r>
            <a:r>
              <a:rPr sz="2400">
                <a:latin typeface="Times New Roman" panose="02020603050405020304" pitchFamily="18" charset="0"/>
                <a:cs typeface="Times New Roman" panose="02020603050405020304" pitchFamily="18" charset="0"/>
                <a:sym typeface="+mn-ea"/>
              </a:rPr>
              <a:t>1, 2,…,</a:t>
            </a:r>
            <a:r>
              <a:rPr sz="2400" i="1">
                <a:latin typeface="Times New Roman" panose="02020603050405020304" pitchFamily="18" charset="0"/>
                <a:cs typeface="Times New Roman" panose="02020603050405020304" pitchFamily="18" charset="0"/>
                <a:sym typeface="+mn-ea"/>
              </a:rPr>
              <a:t>n</a:t>
            </a:r>
            <a:r>
              <a:rPr sz="2400">
                <a:sym typeface="+mn-ea"/>
              </a:rPr>
              <a:t>}</a:t>
            </a:r>
            <a:r>
              <a:rPr lang="zh-CN" sz="2400">
                <a:sym typeface="+mn-ea"/>
              </a:rPr>
              <a:t>，则事件</a:t>
            </a:r>
            <a:r>
              <a:rPr lang="zh-CN" sz="2400" i="1">
                <a:latin typeface="Times New Roman" panose="02020603050405020304" pitchFamily="18" charset="0"/>
                <a:cs typeface="Times New Roman" panose="02020603050405020304" pitchFamily="18" charset="0"/>
                <a:sym typeface="+mn-ea"/>
              </a:rPr>
              <a:t>X</a:t>
            </a:r>
            <a:r>
              <a:rPr lang="zh-CN"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lang="zh-CN" sz="2400">
                <a:sym typeface="+mn-ea"/>
              </a:rPr>
              <a:t>的平均自信息量的定义为</a:t>
            </a:r>
          </a:p>
          <a:p>
            <a:pPr marL="0" indent="0">
              <a:buNone/>
            </a:pPr>
            <a:endParaRPr lang="zh-CN" sz="2400">
              <a:sym typeface="+mn-ea"/>
            </a:endParaRPr>
          </a:p>
          <a:p>
            <a:pPr marL="0" indent="0">
              <a:buNone/>
            </a:pPr>
            <a:endParaRPr lang="zh-CN" sz="2400">
              <a:sym typeface="+mn-ea"/>
            </a:endParaRPr>
          </a:p>
          <a:p>
            <a:pPr marL="0" indent="0">
              <a:buNone/>
            </a:pPr>
            <a:r>
              <a:rPr lang="en-US" altLang="zh-CN" sz="2400">
                <a:sym typeface="+mn-ea"/>
              </a:rPr>
              <a:t>  </a:t>
            </a:r>
            <a:r>
              <a:rPr lang="zh-CN" sz="2400">
                <a:sym typeface="+mn-ea"/>
              </a:rPr>
              <a:t>其中</a:t>
            </a:r>
            <a:r>
              <a:rPr lang="zh-CN" sz="2400" i="1">
                <a:latin typeface="Times New Roman" panose="02020603050405020304" pitchFamily="18" charset="0"/>
                <a:cs typeface="Times New Roman" panose="02020603050405020304" pitchFamily="18" charset="0"/>
                <a:sym typeface="+mn-ea"/>
              </a:rPr>
              <a:t>H</a:t>
            </a:r>
            <a:r>
              <a:rPr lang="zh-CN" sz="2400">
                <a:latin typeface="Times New Roman" panose="02020603050405020304" pitchFamily="18" charset="0"/>
                <a:cs typeface="Times New Roman" panose="02020603050405020304" pitchFamily="18" charset="0"/>
                <a:sym typeface="+mn-ea"/>
              </a:rPr>
              <a:t>(</a:t>
            </a:r>
            <a:r>
              <a:rPr lang="zh-CN" sz="2400" i="1">
                <a:latin typeface="Times New Roman" panose="02020603050405020304" pitchFamily="18" charset="0"/>
                <a:cs typeface="Times New Roman" panose="02020603050405020304" pitchFamily="18" charset="0"/>
                <a:sym typeface="+mn-ea"/>
              </a:rPr>
              <a:t>X</a:t>
            </a:r>
            <a:r>
              <a:rPr lang="zh-CN" sz="2400">
                <a:latin typeface="Times New Roman" panose="02020603050405020304" pitchFamily="18" charset="0"/>
                <a:cs typeface="Times New Roman" panose="02020603050405020304" pitchFamily="18" charset="0"/>
                <a:sym typeface="+mn-ea"/>
              </a:rPr>
              <a:t>)</a:t>
            </a:r>
            <a:r>
              <a:rPr lang="zh-CN" sz="2400">
                <a:sym typeface="+mn-ea"/>
              </a:rPr>
              <a:t>表示每个信源符号的平均信息量。</a:t>
            </a:r>
          </a:p>
        </p:txBody>
      </p:sp>
      <p:graphicFrame>
        <p:nvGraphicFramePr>
          <p:cNvPr id="4" name="对象 3">
            <a:hlinkClick r:id="" action="ppaction://ole?verb=0"/>
          </p:cNvPr>
          <p:cNvGraphicFramePr>
            <a:graphicFrameLocks noChangeAspect="1"/>
          </p:cNvGraphicFramePr>
          <p:nvPr/>
        </p:nvGraphicFramePr>
        <p:xfrm>
          <a:off x="1945640" y="2655570"/>
          <a:ext cx="7151370" cy="969010"/>
        </p:xfrm>
        <a:graphic>
          <a:graphicData uri="http://schemas.openxmlformats.org/presentationml/2006/ole">
            <mc:AlternateContent xmlns:mc="http://schemas.openxmlformats.org/markup-compatibility/2006">
              <mc:Choice xmlns:v="urn:schemas-microsoft-com:vml" Requires="v">
                <p:oleObj r:id="rId3" imgW="3683000" imgH="508000" progId="Equation.KSEE3">
                  <p:embed/>
                </p:oleObj>
              </mc:Choice>
              <mc:Fallback>
                <p:oleObj r:id="rId3" imgW="3683000" imgH="508000" progId="Equation.KSEE3">
                  <p:embed/>
                  <p:pic>
                    <p:nvPicPr>
                      <p:cNvPr id="4" name="对象 3">
                        <a:hlinkClick r:id="" action="ppaction://ole?verb=0"/>
                      </p:cNvPr>
                      <p:cNvPicPr/>
                      <p:nvPr/>
                    </p:nvPicPr>
                    <p:blipFill>
                      <a:blip r:embed="rId4"/>
                      <a:stretch>
                        <a:fillRect/>
                      </a:stretch>
                    </p:blipFill>
                    <p:spPr>
                      <a:xfrm>
                        <a:off x="1945640" y="2655570"/>
                        <a:ext cx="7151370" cy="969010"/>
                      </a:xfrm>
                      <a:prstGeom prst="rect">
                        <a:avLst/>
                      </a:prstGeom>
                    </p:spPr>
                  </p:pic>
                </p:oleObj>
              </mc:Fallback>
            </mc:AlternateContent>
          </a:graphicData>
        </a:graphic>
      </p:graphicFrame>
      <p:sp>
        <p:nvSpPr>
          <p:cNvPr id="9" name="矩形 8"/>
          <p:cNvSpPr/>
          <p:nvPr/>
        </p:nvSpPr>
        <p:spPr>
          <a:xfrm>
            <a:off x="1050925" y="4627245"/>
            <a:ext cx="10006965" cy="132651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6" name="文本框 5"/>
          <p:cNvSpPr txBox="1"/>
          <p:nvPr/>
        </p:nvSpPr>
        <p:spPr>
          <a:xfrm>
            <a:off x="1198245" y="4686935"/>
            <a:ext cx="9703435" cy="1198880"/>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lang="zh-CN" altLang="en-US" sz="20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例子：</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变量</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X</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P</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X</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x</a:t>
            </a:r>
            <a:r>
              <a:rPr kumimoji="0" sz="2000" b="1" i="0" u="none" strike="noStrike" kern="1200" cap="none" spc="0" normalizeH="0" baseline="-25000" noProof="0">
                <a:ln>
                  <a:noFill/>
                </a:ln>
                <a:solidFill>
                  <a:srgbClr val="0070C0"/>
                </a:solidFill>
                <a:effectLst/>
                <a:uLnTx/>
                <a:uFillTx/>
                <a:latin typeface="Times New Roman" panose="02020603050405020304" pitchFamily="18" charset="0"/>
                <a:ea typeface="黑体" panose="02010609060101010101" pitchFamily="49" charset="-122"/>
                <a:cs typeface="+mn-cs"/>
              </a:rPr>
              <a:t>1</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)=0.99, </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P</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X</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x</a:t>
            </a:r>
            <a:r>
              <a:rPr kumimoji="0" sz="2000" b="1" i="0" u="none" strike="noStrike" kern="1200" cap="none" spc="0" normalizeH="0" baseline="-25000" noProof="0">
                <a:ln>
                  <a:noFill/>
                </a:ln>
                <a:solidFill>
                  <a:srgbClr val="0070C0"/>
                </a:solidFill>
                <a:effectLst/>
                <a:uLnTx/>
                <a:uFillTx/>
                <a:latin typeface="Times New Roman" panose="02020603050405020304" pitchFamily="18" charset="0"/>
                <a:ea typeface="黑体" panose="02010609060101010101" pitchFamily="49" charset="-122"/>
                <a:cs typeface="+mn-cs"/>
              </a:rPr>
              <a:t>2</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)=0.01, 变量</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Y</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P</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Y</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y</a:t>
            </a:r>
            <a:r>
              <a:rPr kumimoji="0" sz="2000" b="1" i="0" u="none" strike="noStrike" kern="1200" cap="none" spc="0" normalizeH="0" baseline="-25000" noProof="0">
                <a:ln>
                  <a:noFill/>
                </a:ln>
                <a:solidFill>
                  <a:srgbClr val="0070C0"/>
                </a:solidFill>
                <a:effectLst/>
                <a:uLnTx/>
                <a:uFillTx/>
                <a:latin typeface="Times New Roman" panose="02020603050405020304" pitchFamily="18" charset="0"/>
                <a:ea typeface="黑体" panose="02010609060101010101" pitchFamily="49" charset="-122"/>
                <a:cs typeface="+mn-cs"/>
              </a:rPr>
              <a:t>1</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)=0.5, </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P</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Y</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y</a:t>
            </a:r>
            <a:r>
              <a:rPr kumimoji="0" sz="2000" b="1" i="0" u="none" strike="noStrike" kern="1200" cap="none" spc="0" normalizeH="0" baseline="-25000" noProof="0">
                <a:ln>
                  <a:noFill/>
                </a:ln>
                <a:solidFill>
                  <a:srgbClr val="0070C0"/>
                </a:solidFill>
                <a:effectLst/>
                <a:uLnTx/>
                <a:uFillTx/>
                <a:latin typeface="Times New Roman" panose="02020603050405020304" pitchFamily="18" charset="0"/>
                <a:ea typeface="黑体" panose="02010609060101010101" pitchFamily="49" charset="-122"/>
                <a:cs typeface="+mn-cs"/>
              </a:rPr>
              <a:t>2</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)=0.5, 则信息熵为</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H</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X</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)=-0.99log0.99-0.01log0.01=0.08(比特/符号)</a:t>
            </a:r>
            <a:r>
              <a:rPr kumimoji="0" lang="zh-CN" altLang="en-US"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endPar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endParaRPr>
          </a:p>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H</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Y</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)=-0.5log0.5-0.5log0.5=1(比特/符号)</a:t>
            </a:r>
            <a:r>
              <a:rPr kumimoji="0" lang="zh-CN" altLang="en-US"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平均条件自信息量(条件熵)</a:t>
            </a:r>
          </a:p>
        </p:txBody>
      </p:sp>
      <p:sp>
        <p:nvSpPr>
          <p:cNvPr id="3" name="内容占位符 2"/>
          <p:cNvSpPr>
            <a:spLocks noGrp="1"/>
          </p:cNvSpPr>
          <p:nvPr>
            <p:ph idx="1"/>
          </p:nvPr>
        </p:nvSpPr>
        <p:spPr>
          <a:xfrm>
            <a:off x="608330" y="1490345"/>
            <a:ext cx="10831830" cy="672465"/>
          </a:xfrm>
        </p:spPr>
        <p:txBody>
          <a:bodyPr>
            <a:noAutofit/>
          </a:bodyPr>
          <a:lstStyle/>
          <a:p>
            <a:r>
              <a:rPr lang="zh-CN" sz="2400" b="1">
                <a:solidFill>
                  <a:schemeClr val="accent6">
                    <a:lumMod val="75000"/>
                  </a:schemeClr>
                </a:solidFill>
                <a:sym typeface="+mn-ea"/>
              </a:rPr>
              <a:t>定义</a:t>
            </a:r>
            <a:r>
              <a:rPr sz="2400">
                <a:sym typeface="+mn-ea"/>
              </a:rPr>
              <a:t>：平均条件自信息</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Y</a:t>
            </a:r>
            <a:r>
              <a:rPr sz="2400">
                <a:latin typeface="Times New Roman" panose="02020603050405020304" pitchFamily="18" charset="0"/>
                <a:cs typeface="Times New Roman" panose="02020603050405020304" pitchFamily="18" charset="0"/>
                <a:sym typeface="+mn-ea"/>
              </a:rPr>
              <a:t>)</a:t>
            </a:r>
            <a:r>
              <a:rPr sz="2400">
                <a:sym typeface="+mn-ea"/>
              </a:rPr>
              <a:t>定义为</a:t>
            </a:r>
          </a:p>
        </p:txBody>
      </p:sp>
      <p:graphicFrame>
        <p:nvGraphicFramePr>
          <p:cNvPr id="5" name="对象 4">
            <a:hlinkClick r:id="" action="ppaction://ole?verb=0"/>
          </p:cNvPr>
          <p:cNvGraphicFramePr>
            <a:graphicFrameLocks noChangeAspect="1"/>
          </p:cNvGraphicFramePr>
          <p:nvPr/>
        </p:nvGraphicFramePr>
        <p:xfrm>
          <a:off x="3664585" y="2339340"/>
          <a:ext cx="4507230" cy="921385"/>
        </p:xfrm>
        <a:graphic>
          <a:graphicData uri="http://schemas.openxmlformats.org/presentationml/2006/ole">
            <mc:AlternateContent xmlns:mc="http://schemas.openxmlformats.org/markup-compatibility/2006">
              <mc:Choice xmlns:v="urn:schemas-microsoft-com:vml" Requires="v">
                <p:oleObj r:id="rId3" imgW="2222500" imgH="482600" progId="Equation.KSEE3">
                  <p:embed/>
                </p:oleObj>
              </mc:Choice>
              <mc:Fallback>
                <p:oleObj r:id="rId3" imgW="2222500" imgH="482600" progId="Equation.KSEE3">
                  <p:embed/>
                  <p:pic>
                    <p:nvPicPr>
                      <p:cNvPr id="5" name="对象 4">
                        <a:hlinkClick r:id="" action="ppaction://ole?verb=0"/>
                      </p:cNvPr>
                      <p:cNvPicPr/>
                      <p:nvPr/>
                    </p:nvPicPr>
                    <p:blipFill>
                      <a:blip r:embed="rId4"/>
                      <a:stretch>
                        <a:fillRect/>
                      </a:stretch>
                    </p:blipFill>
                    <p:spPr>
                      <a:xfrm>
                        <a:off x="3664585" y="2339340"/>
                        <a:ext cx="4507230" cy="921385"/>
                      </a:xfrm>
                      <a:prstGeom prst="rect">
                        <a:avLst/>
                      </a:prstGeom>
                    </p:spPr>
                  </p:pic>
                </p:oleObj>
              </mc:Fallback>
            </mc:AlternateContent>
          </a:graphicData>
        </a:graphic>
      </p:graphicFrame>
      <p:sp>
        <p:nvSpPr>
          <p:cNvPr id="9" name="矩形 8"/>
          <p:cNvSpPr/>
          <p:nvPr/>
        </p:nvSpPr>
        <p:spPr>
          <a:xfrm>
            <a:off x="2305685" y="3801110"/>
            <a:ext cx="7607300" cy="5702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0" name="文本框 9"/>
          <p:cNvSpPr txBox="1"/>
          <p:nvPr/>
        </p:nvSpPr>
        <p:spPr>
          <a:xfrm>
            <a:off x="2467610" y="3827780"/>
            <a:ext cx="7345680" cy="460375"/>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sz="2000" b="1" i="0" u="none" strike="noStrike" kern="1200" cap="none" spc="0" normalizeH="0" baseline="0" noProof="0">
                <a:ln>
                  <a:noFill/>
                </a:ln>
                <a:solidFill>
                  <a:srgbClr val="FF0000"/>
                </a:solidFill>
                <a:effectLst/>
                <a:uLnTx/>
                <a:uFillTx/>
                <a:latin typeface="楷体" panose="02010609060101010101" charset="-122"/>
                <a:ea typeface="楷体" panose="02010609060101010101" charset="-122"/>
                <a:cs typeface="+mn-cs"/>
              </a:rPr>
              <a:t>思考题：</a:t>
            </a:r>
            <a:r>
              <a:rPr kumimoji="0"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计算二元对称(BSC)信道的平均条件自信息量(条件熵)</a:t>
            </a:r>
            <a:r>
              <a:rPr kumimoji="0" lang="en-US"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等长信源编码定理</a:t>
            </a:r>
          </a:p>
        </p:txBody>
      </p:sp>
      <p:sp>
        <p:nvSpPr>
          <p:cNvPr id="3" name="内容占位符 2"/>
          <p:cNvSpPr>
            <a:spLocks noGrp="1"/>
          </p:cNvSpPr>
          <p:nvPr>
            <p:ph idx="1"/>
          </p:nvPr>
        </p:nvSpPr>
        <p:spPr>
          <a:xfrm>
            <a:off x="608330" y="1490345"/>
            <a:ext cx="10831830" cy="3702050"/>
          </a:xfrm>
        </p:spPr>
        <p:txBody>
          <a:bodyPr>
            <a:noAutofit/>
          </a:bodyPr>
          <a:lstStyle/>
          <a:p>
            <a:r>
              <a:rPr lang="zh-CN" sz="2400" b="1">
                <a:solidFill>
                  <a:schemeClr val="accent6">
                    <a:lumMod val="75000"/>
                  </a:schemeClr>
                </a:solidFill>
                <a:sym typeface="+mn-ea"/>
              </a:rPr>
              <a:t>定理</a:t>
            </a:r>
            <a:r>
              <a:rPr sz="2400">
                <a:sym typeface="+mn-ea"/>
              </a:rPr>
              <a:t>: 一个熵为</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a:sym typeface="+mn-ea"/>
              </a:rPr>
              <a:t>的离散无记忆信源，若对信源长为</a:t>
            </a:r>
            <a:r>
              <a:rPr sz="2400" i="1">
                <a:latin typeface="Times New Roman" panose="02020603050405020304" pitchFamily="18" charset="0"/>
                <a:cs typeface="Times New Roman" panose="02020603050405020304" pitchFamily="18" charset="0"/>
                <a:sym typeface="+mn-ea"/>
              </a:rPr>
              <a:t>N</a:t>
            </a:r>
            <a:r>
              <a:rPr sz="2400">
                <a:sym typeface="+mn-ea"/>
              </a:rPr>
              <a:t>的符号序列进行等长编码，设码字是从</a:t>
            </a:r>
            <a:r>
              <a:rPr sz="2400" i="1">
                <a:latin typeface="Times New Roman" panose="02020603050405020304" pitchFamily="18" charset="0"/>
                <a:cs typeface="Times New Roman" panose="02020603050405020304" pitchFamily="18" charset="0"/>
                <a:sym typeface="+mn-ea"/>
              </a:rPr>
              <a:t>r</a:t>
            </a:r>
            <a:r>
              <a:rPr sz="2400">
                <a:sym typeface="+mn-ea"/>
              </a:rPr>
              <a:t>个字母的码符号集合中，选取</a:t>
            </a:r>
            <a:r>
              <a:rPr sz="2400" i="1">
                <a:latin typeface="Times New Roman" panose="02020603050405020304" pitchFamily="18" charset="0"/>
                <a:cs typeface="Times New Roman" panose="02020603050405020304" pitchFamily="18" charset="0"/>
                <a:sym typeface="+mn-ea"/>
              </a:rPr>
              <a:t>l</a:t>
            </a:r>
            <a:r>
              <a:rPr sz="2400">
                <a:sym typeface="+mn-ea"/>
              </a:rPr>
              <a:t>个码元组成。对于任意的</a:t>
            </a:r>
            <a:r>
              <a:rPr sz="2400" i="1">
                <a:latin typeface="Times New Roman" panose="02020603050405020304" pitchFamily="18" charset="0"/>
                <a:cs typeface="Times New Roman" panose="02020603050405020304" pitchFamily="18" charset="0"/>
                <a:sym typeface="+mn-ea"/>
              </a:rPr>
              <a:t>ε</a:t>
            </a:r>
            <a:r>
              <a:rPr sz="2400">
                <a:latin typeface="Times New Roman" panose="02020603050405020304" pitchFamily="18" charset="0"/>
                <a:cs typeface="Times New Roman" panose="02020603050405020304" pitchFamily="18" charset="0"/>
                <a:sym typeface="+mn-ea"/>
              </a:rPr>
              <a:t>&gt;0</a:t>
            </a:r>
            <a:r>
              <a:rPr sz="2400">
                <a:sym typeface="+mn-ea"/>
              </a:rPr>
              <a:t>，只要满足</a:t>
            </a:r>
          </a:p>
          <a:p>
            <a:endParaRPr sz="2400">
              <a:sym typeface="+mn-ea"/>
            </a:endParaRPr>
          </a:p>
          <a:p>
            <a:endParaRPr sz="2400">
              <a:sym typeface="+mn-ea"/>
            </a:endParaRPr>
          </a:p>
          <a:p>
            <a:pPr marL="0" indent="0">
              <a:buNone/>
            </a:pPr>
            <a:r>
              <a:rPr lang="en-US" sz="2400">
                <a:sym typeface="+mn-ea"/>
              </a:rPr>
              <a:t>  </a:t>
            </a:r>
            <a:r>
              <a:rPr sz="2400">
                <a:sym typeface="+mn-ea"/>
              </a:rPr>
              <a:t>则当</a:t>
            </a:r>
            <a:r>
              <a:rPr sz="2400" i="1">
                <a:latin typeface="Times New Roman" panose="02020603050405020304" pitchFamily="18" charset="0"/>
                <a:cs typeface="Times New Roman" panose="02020603050405020304" pitchFamily="18" charset="0"/>
                <a:sym typeface="+mn-ea"/>
              </a:rPr>
              <a:t>N</a:t>
            </a:r>
            <a:r>
              <a:rPr sz="2400">
                <a:sym typeface="+mn-ea"/>
              </a:rPr>
              <a:t>足够大时，可实现几乎无失真编码，即译码错误概率可为任意小。</a:t>
            </a:r>
          </a:p>
        </p:txBody>
      </p:sp>
      <p:graphicFrame>
        <p:nvGraphicFramePr>
          <p:cNvPr id="5" name="对象 4">
            <a:hlinkClick r:id="" action="ppaction://ole?verb=0"/>
          </p:cNvPr>
          <p:cNvGraphicFramePr>
            <a:graphicFrameLocks noChangeAspect="1"/>
          </p:cNvGraphicFramePr>
          <p:nvPr/>
        </p:nvGraphicFramePr>
        <p:xfrm>
          <a:off x="4951730" y="3207385"/>
          <a:ext cx="1931670" cy="800735"/>
        </p:xfrm>
        <a:graphic>
          <a:graphicData uri="http://schemas.openxmlformats.org/presentationml/2006/ole">
            <mc:AlternateContent xmlns:mc="http://schemas.openxmlformats.org/markup-compatibility/2006">
              <mc:Choice xmlns:v="urn:schemas-microsoft-com:vml" Requires="v">
                <p:oleObj r:id="rId3" imgW="952500" imgH="419100" progId="Equation.KSEE3">
                  <p:embed/>
                </p:oleObj>
              </mc:Choice>
              <mc:Fallback>
                <p:oleObj r:id="rId3" imgW="952500" imgH="419100" progId="Equation.KSEE3">
                  <p:embed/>
                  <p:pic>
                    <p:nvPicPr>
                      <p:cNvPr id="5" name="对象 4">
                        <a:hlinkClick r:id="" action="ppaction://ole?verb=0"/>
                      </p:cNvPr>
                      <p:cNvPicPr/>
                      <p:nvPr/>
                    </p:nvPicPr>
                    <p:blipFill>
                      <a:blip r:embed="rId4"/>
                      <a:stretch>
                        <a:fillRect/>
                      </a:stretch>
                    </p:blipFill>
                    <p:spPr>
                      <a:xfrm>
                        <a:off x="4951730" y="3207385"/>
                        <a:ext cx="1931670" cy="800735"/>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变长码</a:t>
            </a:r>
          </a:p>
        </p:txBody>
      </p:sp>
      <p:graphicFrame>
        <p:nvGraphicFramePr>
          <p:cNvPr id="228426" name="内容占位符 228425"/>
          <p:cNvGraphicFramePr>
            <a:graphicFrameLocks noGrp="1"/>
          </p:cNvGraphicFramePr>
          <p:nvPr>
            <p:ph idx="1"/>
            <p:custDataLst>
              <p:tags r:id="rId2"/>
            </p:custDataLst>
          </p:nvPr>
        </p:nvGraphicFramePr>
        <p:xfrm>
          <a:off x="1044575" y="2069148"/>
          <a:ext cx="5407025" cy="2286000"/>
        </p:xfrm>
        <a:graphic>
          <a:graphicData uri="http://schemas.openxmlformats.org/drawingml/2006/table">
            <a:tbl>
              <a:tblPr/>
              <a:tblGrid>
                <a:gridCol w="1352550">
                  <a:extLst>
                    <a:ext uri="{9D8B030D-6E8A-4147-A177-3AD203B41FA5}">
                      <a16:colId xmlns:a16="http://schemas.microsoft.com/office/drawing/2014/main" val="20000"/>
                    </a:ext>
                  </a:extLst>
                </a:gridCol>
                <a:gridCol w="1350963">
                  <a:extLst>
                    <a:ext uri="{9D8B030D-6E8A-4147-A177-3AD203B41FA5}">
                      <a16:colId xmlns:a16="http://schemas.microsoft.com/office/drawing/2014/main" val="20001"/>
                    </a:ext>
                  </a:extLst>
                </a:gridCol>
                <a:gridCol w="1352550">
                  <a:extLst>
                    <a:ext uri="{9D8B030D-6E8A-4147-A177-3AD203B41FA5}">
                      <a16:colId xmlns:a16="http://schemas.microsoft.com/office/drawing/2014/main" val="20002"/>
                    </a:ext>
                  </a:extLst>
                </a:gridCol>
                <a:gridCol w="1350962">
                  <a:extLst>
                    <a:ext uri="{9D8B030D-6E8A-4147-A177-3AD203B41FA5}">
                      <a16:colId xmlns:a16="http://schemas.microsoft.com/office/drawing/2014/main" val="20003"/>
                    </a:ext>
                  </a:extLst>
                </a:gridCol>
              </a:tblGrid>
              <a:tr h="455613">
                <a:tc>
                  <a:txBody>
                    <a:bodyPr/>
                    <a:lstStyle/>
                    <a:p>
                      <a:pPr marL="0" lvl="0" indent="0">
                        <a:buNone/>
                      </a:pPr>
                      <a:r>
                        <a:rPr lang="zh-CN" altLang="en-US" sz="2400" b="1" dirty="0">
                          <a:ea typeface="黑体" panose="02010609060101010101" pitchFamily="49" charset="-122"/>
                        </a:rPr>
                        <a:t>字母</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zh-CN" altLang="en-US" sz="2400" b="1" dirty="0">
                          <a:ea typeface="黑体" panose="02010609060101010101" pitchFamily="49" charset="-122"/>
                        </a:rPr>
                        <a:t>码字</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zh-CN" altLang="en-US" sz="2400" b="1" dirty="0">
                          <a:ea typeface="黑体" panose="02010609060101010101" pitchFamily="49" charset="-122"/>
                        </a:rPr>
                        <a:t>字母</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zh-CN" altLang="en-US" sz="2400" b="1" dirty="0">
                          <a:ea typeface="黑体" panose="02010609060101010101" pitchFamily="49" charset="-122"/>
                        </a:rPr>
                        <a:t>码字</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5612">
                <a:tc>
                  <a:txBody>
                    <a:bodyPr/>
                    <a:lstStyle/>
                    <a:p>
                      <a:pPr marL="0" lvl="0" indent="0">
                        <a:buNone/>
                      </a:pPr>
                      <a:r>
                        <a:rPr lang="en-US" altLang="zh-CN" sz="2400">
                          <a:latin typeface="Times New Roman" panose="02020603050405020304" pitchFamily="18" charset="0"/>
                        </a:rPr>
                        <a:t>A</a:t>
                      </a:r>
                      <a:endParaRPr lang="zh-CN" altLang="en-US" sz="240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en-US" altLang="zh-CN" sz="2400">
                          <a:latin typeface="Times New Roman" panose="02020603050405020304" pitchFamily="18" charset="0"/>
                        </a:rPr>
                        <a:t>0</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en-US" altLang="zh-CN" sz="2400">
                          <a:latin typeface="Times New Roman" panose="02020603050405020304" pitchFamily="18" charset="0"/>
                        </a:rPr>
                        <a:t>E</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en-US" altLang="zh-CN" sz="2400">
                          <a:latin typeface="Times New Roman" panose="02020603050405020304" pitchFamily="18" charset="0"/>
                        </a:rPr>
                        <a:t>10</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5613">
                <a:tc>
                  <a:txBody>
                    <a:bodyPr/>
                    <a:lstStyle/>
                    <a:p>
                      <a:pPr marL="0" lvl="0" indent="0">
                        <a:buNone/>
                      </a:pPr>
                      <a:r>
                        <a:rPr lang="en-US" altLang="zh-CN" sz="2400">
                          <a:latin typeface="Times New Roman" panose="02020603050405020304" pitchFamily="18" charset="0"/>
                        </a:rPr>
                        <a:t>B</a:t>
                      </a:r>
                      <a:endParaRPr lang="zh-CN" altLang="en-US" sz="240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en-US" altLang="zh-CN" sz="2400">
                          <a:latin typeface="Times New Roman" panose="02020603050405020304" pitchFamily="18" charset="0"/>
                        </a:rPr>
                        <a:t>1</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en-US" altLang="zh-CN" sz="2400">
                          <a:latin typeface="Times New Roman" panose="02020603050405020304" pitchFamily="18" charset="0"/>
                        </a:rPr>
                        <a:t>F</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en-US" altLang="zh-CN" sz="2400">
                          <a:latin typeface="Times New Roman" panose="02020603050405020304" pitchFamily="18" charset="0"/>
                        </a:rPr>
                        <a:t>11</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5612">
                <a:tc>
                  <a:txBody>
                    <a:bodyPr/>
                    <a:lstStyle/>
                    <a:p>
                      <a:pPr marL="0" lvl="0" indent="0">
                        <a:buNone/>
                      </a:pPr>
                      <a:r>
                        <a:rPr lang="en-US" altLang="zh-CN" sz="2400">
                          <a:latin typeface="Times New Roman" panose="02020603050405020304" pitchFamily="18" charset="0"/>
                        </a:rPr>
                        <a:t>C</a:t>
                      </a:r>
                      <a:endParaRPr lang="zh-CN" altLang="en-US" sz="240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en-US" altLang="zh-CN" sz="2400">
                          <a:latin typeface="Times New Roman" panose="02020603050405020304" pitchFamily="18" charset="0"/>
                        </a:rPr>
                        <a:t>00</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en-US" altLang="zh-CN" sz="2400">
                          <a:latin typeface="Times New Roman" panose="02020603050405020304" pitchFamily="18" charset="0"/>
                        </a:rPr>
                        <a:t>G</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en-US" altLang="zh-CN" sz="2400">
                          <a:latin typeface="Times New Roman" panose="02020603050405020304" pitchFamily="18" charset="0"/>
                        </a:rPr>
                        <a:t>000</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5613">
                <a:tc>
                  <a:txBody>
                    <a:bodyPr/>
                    <a:lstStyle/>
                    <a:p>
                      <a:pPr marL="0" lvl="0" indent="0">
                        <a:buNone/>
                      </a:pPr>
                      <a:r>
                        <a:rPr lang="en-US" altLang="zh-CN" sz="2400">
                          <a:latin typeface="Times New Roman" panose="02020603050405020304" pitchFamily="18" charset="0"/>
                        </a:rPr>
                        <a:t>D</a:t>
                      </a:r>
                      <a:endParaRPr lang="zh-CN" altLang="en-US" sz="240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en-US" altLang="zh-CN" sz="2400">
                          <a:latin typeface="Times New Roman" panose="02020603050405020304" pitchFamily="18" charset="0"/>
                        </a:rPr>
                        <a:t>01</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en-US" altLang="zh-CN" sz="2400">
                          <a:latin typeface="Times New Roman" panose="02020603050405020304" pitchFamily="18" charset="0"/>
                        </a:rPr>
                        <a:t>H</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buNone/>
                      </a:pPr>
                      <a:r>
                        <a:rPr lang="en-US" altLang="zh-CN" sz="2400">
                          <a:latin typeface="Times New Roman" panose="02020603050405020304" pitchFamily="18" charset="0"/>
                        </a:rPr>
                        <a:t>111</a:t>
                      </a:r>
                      <a:endParaRPr lang="zh-CN" altLang="en-US" sz="240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文本框 114821"/>
          <p:cNvSpPr txBox="1"/>
          <p:nvPr/>
        </p:nvSpPr>
        <p:spPr>
          <a:xfrm>
            <a:off x="1953260" y="1595120"/>
            <a:ext cx="3319780" cy="36830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表</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rPr>
              <a:t>1 </a:t>
            </a:r>
            <a:r>
              <a:rPr kumimoji="0"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rPr>
              <a:t>译码不唯一的变长码例子</a:t>
            </a:r>
          </a:p>
        </p:txBody>
      </p:sp>
      <p:sp>
        <p:nvSpPr>
          <p:cNvPr id="5" name="内容占位符 2"/>
          <p:cNvSpPr>
            <a:spLocks noGrp="1"/>
          </p:cNvSpPr>
          <p:nvPr/>
        </p:nvSpPr>
        <p:spPr>
          <a:xfrm>
            <a:off x="6854190" y="1724025"/>
            <a:ext cx="4722495" cy="295846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tabLst/>
              <a:defRPr/>
            </a:pP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若对字母序列ABADCAB进行编码，则得到0 1 0 01 00 0 1</a:t>
            </a:r>
          </a:p>
          <a:p>
            <a: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tabLst/>
              <a:defRPr/>
            </a:pPr>
            <a:r>
              <a:rPr kumimoji="0" lang="zh-CN" altLang="en-US" sz="2400" b="1" i="0" u="none" strike="noStrike" kern="1200" cap="none" spc="150" normalizeH="0" baseline="0" noProof="0">
                <a:ln>
                  <a:noFill/>
                </a:ln>
                <a:solidFill>
                  <a:srgbClr val="EC5F74">
                    <a:lumMod val="75000"/>
                  </a:srgbClr>
                </a:solidFill>
                <a:effectLst/>
                <a:uLnTx/>
                <a:uFillTx/>
                <a:latin typeface="Arial"/>
                <a:ea typeface="微软雅黑"/>
                <a:cs typeface="+mn-cs"/>
                <a:sym typeface="+mn-ea"/>
              </a:rPr>
              <a:t>译码不唯一</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：可能被译为DADAAAB(01 0 01 0 0 0 1)或者AEDGB(0 10 01 000 1)</a:t>
            </a:r>
          </a:p>
        </p:txBody>
      </p:sp>
      <p:sp>
        <p:nvSpPr>
          <p:cNvPr id="11" name="圆角矩形 10"/>
          <p:cNvSpPr/>
          <p:nvPr/>
        </p:nvSpPr>
        <p:spPr>
          <a:xfrm>
            <a:off x="2031365" y="5151755"/>
            <a:ext cx="7943850" cy="619125"/>
          </a:xfrm>
          <a:prstGeom prst="round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2" name="文本框 11"/>
          <p:cNvSpPr txBox="1"/>
          <p:nvPr/>
        </p:nvSpPr>
        <p:spPr>
          <a:xfrm>
            <a:off x="2256155" y="5189220"/>
            <a:ext cx="7449820" cy="534035"/>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00000"/>
              </a:buClr>
              <a:buSzPct val="65000"/>
              <a:buFont typeface="Wingdings" panose="05000000000000000000" charset="0"/>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mn-ea"/>
                <a:sym typeface="+mn-ea"/>
              </a:rPr>
              <a:t>注：变长码必须是惟一可译码</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mn-ea"/>
                <a:sym typeface="+mn-ea"/>
              </a:rPr>
              <a:t>，</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mn-ea"/>
                <a:sym typeface="+mn-ea"/>
              </a:rPr>
              <a:t>才能实现无失真编码</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mn-ea"/>
                <a:sym typeface="+mn-ea"/>
              </a:rPr>
              <a:t>。</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变长信源编码定理</a:t>
            </a:r>
          </a:p>
        </p:txBody>
      </p:sp>
      <p:sp>
        <p:nvSpPr>
          <p:cNvPr id="3" name="内容占位符 2"/>
          <p:cNvSpPr>
            <a:spLocks noGrp="1"/>
          </p:cNvSpPr>
          <p:nvPr>
            <p:ph idx="1"/>
          </p:nvPr>
        </p:nvSpPr>
        <p:spPr>
          <a:xfrm>
            <a:off x="608330" y="1490345"/>
            <a:ext cx="10831830" cy="3702050"/>
          </a:xfrm>
        </p:spPr>
        <p:txBody>
          <a:bodyPr>
            <a:noAutofit/>
          </a:bodyPr>
          <a:lstStyle/>
          <a:p>
            <a:r>
              <a:rPr lang="zh-CN" sz="2400" b="1">
                <a:solidFill>
                  <a:schemeClr val="accent6">
                    <a:lumMod val="75000"/>
                  </a:schemeClr>
                </a:solidFill>
                <a:sym typeface="+mn-ea"/>
              </a:rPr>
              <a:t>定理</a:t>
            </a:r>
            <a:r>
              <a:rPr sz="2400">
                <a:sym typeface="+mn-ea"/>
              </a:rPr>
              <a:t>:一个熵为</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a:sym typeface="+mn-ea"/>
              </a:rPr>
              <a:t>的离散无记忆信源，并有</a:t>
            </a:r>
            <a:r>
              <a:rPr sz="2400" i="1">
                <a:latin typeface="Times New Roman" panose="02020603050405020304" pitchFamily="18" charset="0"/>
                <a:cs typeface="Times New Roman" panose="02020603050405020304" pitchFamily="18" charset="0"/>
                <a:sym typeface="+mn-ea"/>
              </a:rPr>
              <a:t>r</a:t>
            </a:r>
            <a:r>
              <a:rPr sz="2400">
                <a:sym typeface="+mn-ea"/>
              </a:rPr>
              <a:t>个码元的码符号集合，总可以找到一种无失真编码方法，构成惟一可译码，使其平均码长满足</a:t>
            </a:r>
          </a:p>
          <a:p>
            <a:endParaRPr sz="2400">
              <a:sym typeface="+mn-ea"/>
            </a:endParaRPr>
          </a:p>
          <a:p>
            <a:endParaRPr sz="2400">
              <a:sym typeface="+mn-ea"/>
            </a:endParaRPr>
          </a:p>
          <a:p>
            <a:pPr marL="0" indent="0">
              <a:buNone/>
            </a:pPr>
            <a:r>
              <a:rPr lang="en-US" sz="2400">
                <a:sym typeface="+mn-ea"/>
              </a:rPr>
              <a:t>  </a:t>
            </a:r>
            <a:r>
              <a:rPr sz="2400">
                <a:sym typeface="+mn-ea"/>
              </a:rPr>
              <a:t>则当</a:t>
            </a:r>
            <a:r>
              <a:rPr sz="2400" i="1">
                <a:latin typeface="Times New Roman" panose="02020603050405020304" pitchFamily="18" charset="0"/>
                <a:cs typeface="Times New Roman" panose="02020603050405020304" pitchFamily="18" charset="0"/>
                <a:sym typeface="+mn-ea"/>
              </a:rPr>
              <a:t>N</a:t>
            </a:r>
            <a:r>
              <a:rPr sz="2400">
                <a:sym typeface="+mn-ea"/>
              </a:rPr>
              <a:t>足够大时，可实现几乎无失真编码，即译码错误概率可为任意小。</a:t>
            </a:r>
          </a:p>
        </p:txBody>
      </p:sp>
      <p:graphicFrame>
        <p:nvGraphicFramePr>
          <p:cNvPr id="4" name="对象 3">
            <a:hlinkClick r:id="" action="ppaction://ole?verb=0"/>
          </p:cNvPr>
          <p:cNvGraphicFramePr>
            <a:graphicFrameLocks noChangeAspect="1"/>
          </p:cNvGraphicFramePr>
          <p:nvPr/>
        </p:nvGraphicFramePr>
        <p:xfrm>
          <a:off x="4197985" y="2732405"/>
          <a:ext cx="3931920" cy="967740"/>
        </p:xfrm>
        <a:graphic>
          <a:graphicData uri="http://schemas.openxmlformats.org/presentationml/2006/ole">
            <mc:AlternateContent xmlns:mc="http://schemas.openxmlformats.org/markup-compatibility/2006">
              <mc:Choice xmlns:v="urn:schemas-microsoft-com:vml" Requires="v">
                <p:oleObj r:id="rId3" imgW="1397000" imgH="419100" progId="Equation.KSEE3">
                  <p:embed/>
                </p:oleObj>
              </mc:Choice>
              <mc:Fallback>
                <p:oleObj r:id="rId3" imgW="1397000" imgH="419100" progId="Equation.KSEE3">
                  <p:embed/>
                  <p:pic>
                    <p:nvPicPr>
                      <p:cNvPr id="4" name="对象 3">
                        <a:hlinkClick r:id="" action="ppaction://ole?verb=0"/>
                      </p:cNvPr>
                      <p:cNvPicPr/>
                      <p:nvPr/>
                    </p:nvPicPr>
                    <p:blipFill>
                      <a:blip r:embed="rId4"/>
                      <a:stretch>
                        <a:fillRect/>
                      </a:stretch>
                    </p:blipFill>
                    <p:spPr>
                      <a:xfrm>
                        <a:off x="4197985" y="2732405"/>
                        <a:ext cx="3931920" cy="967740"/>
                      </a:xfrm>
                      <a:prstGeom prst="rect">
                        <a:avLst/>
                      </a:prstGeom>
                    </p:spPr>
                  </p:pic>
                </p:oleObj>
              </mc:Fallback>
            </mc:AlternateContent>
          </a:graphicData>
        </a:graphic>
      </p:graphicFrame>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信道的信息传输率</a:t>
            </a:r>
          </a:p>
        </p:txBody>
      </p:sp>
      <p:sp>
        <p:nvSpPr>
          <p:cNvPr id="3" name="内容占位符 2"/>
          <p:cNvSpPr>
            <a:spLocks noGrp="1"/>
          </p:cNvSpPr>
          <p:nvPr>
            <p:ph idx="1"/>
          </p:nvPr>
        </p:nvSpPr>
        <p:spPr>
          <a:xfrm>
            <a:off x="608330" y="1490345"/>
            <a:ext cx="10831830" cy="3054985"/>
          </a:xfrm>
        </p:spPr>
        <p:txBody>
          <a:bodyPr>
            <a:noAutofit/>
          </a:bodyPr>
          <a:lstStyle/>
          <a:p>
            <a:r>
              <a:rPr sz="2400">
                <a:sym typeface="+mn-ea"/>
              </a:rPr>
              <a:t>变长信源编码定理中的极限值</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)/log</a:t>
            </a:r>
            <a:r>
              <a:rPr sz="2400" i="1">
                <a:latin typeface="Times New Roman" panose="02020603050405020304" pitchFamily="18" charset="0"/>
                <a:cs typeface="Times New Roman" panose="02020603050405020304" pitchFamily="18" charset="0"/>
                <a:sym typeface="+mn-ea"/>
              </a:rPr>
              <a:t>r</a:t>
            </a:r>
            <a:r>
              <a:rPr sz="2400">
                <a:sym typeface="+mn-ea"/>
              </a:rPr>
              <a:t>同等长信源编码定理中的极限值是一致的</a:t>
            </a:r>
            <a:r>
              <a:rPr lang="zh-CN" sz="2400">
                <a:sym typeface="+mn-ea"/>
              </a:rPr>
              <a:t>。</a:t>
            </a:r>
            <a:endParaRPr sz="2400">
              <a:sym typeface="+mn-ea"/>
            </a:endParaRPr>
          </a:p>
          <a:p>
            <a:r>
              <a:rPr lang="zh-CN" sz="2400" b="1">
                <a:solidFill>
                  <a:schemeClr val="accent6">
                    <a:lumMod val="75000"/>
                  </a:schemeClr>
                </a:solidFill>
                <a:sym typeface="+mn-ea"/>
              </a:rPr>
              <a:t>定义</a:t>
            </a:r>
            <a:r>
              <a:rPr sz="2400">
                <a:sym typeface="+mn-ea"/>
              </a:rPr>
              <a:t>：信道的信息传输率(码率)为</a:t>
            </a:r>
          </a:p>
          <a:p>
            <a:endParaRPr sz="2400">
              <a:sym typeface="+mn-ea"/>
            </a:endParaRPr>
          </a:p>
          <a:p>
            <a:r>
              <a:rPr sz="2400">
                <a:sym typeface="+mn-ea"/>
              </a:rPr>
              <a:t>因为                 </a:t>
            </a:r>
            <a:r>
              <a:rPr lang="en-US" sz="2400">
                <a:sym typeface="+mn-ea"/>
              </a:rPr>
              <a:t>            </a:t>
            </a:r>
            <a:r>
              <a:rPr sz="2400">
                <a:sym typeface="+mn-ea"/>
              </a:rPr>
              <a:t>所以得到编码后信道的信息传输率为</a:t>
            </a:r>
          </a:p>
        </p:txBody>
      </p:sp>
      <p:graphicFrame>
        <p:nvGraphicFramePr>
          <p:cNvPr id="4" name="对象 3">
            <a:hlinkClick r:id="" action="ppaction://ole?verb=0"/>
          </p:cNvPr>
          <p:cNvGraphicFramePr>
            <a:graphicFrameLocks noChangeAspect="1"/>
          </p:cNvGraphicFramePr>
          <p:nvPr/>
        </p:nvGraphicFramePr>
        <p:xfrm>
          <a:off x="5956300" y="2453640"/>
          <a:ext cx="1930400" cy="967740"/>
        </p:xfrm>
        <a:graphic>
          <a:graphicData uri="http://schemas.openxmlformats.org/presentationml/2006/ole">
            <mc:AlternateContent xmlns:mc="http://schemas.openxmlformats.org/markup-compatibility/2006">
              <mc:Choice xmlns:v="urn:schemas-microsoft-com:vml" Requires="v">
                <p:oleObj r:id="rId3" imgW="685800" imgH="419100" progId="Equation.KSEE3">
                  <p:embed/>
                </p:oleObj>
              </mc:Choice>
              <mc:Fallback>
                <p:oleObj r:id="rId3" imgW="685800" imgH="419100" progId="Equation.KSEE3">
                  <p:embed/>
                  <p:pic>
                    <p:nvPicPr>
                      <p:cNvPr id="4" name="对象 3">
                        <a:hlinkClick r:id="" action="ppaction://ole?verb=0"/>
                      </p:cNvPr>
                      <p:cNvPicPr/>
                      <p:nvPr/>
                    </p:nvPicPr>
                    <p:blipFill>
                      <a:blip r:embed="rId4"/>
                      <a:stretch>
                        <a:fillRect/>
                      </a:stretch>
                    </p:blipFill>
                    <p:spPr>
                      <a:xfrm>
                        <a:off x="5956300" y="2453640"/>
                        <a:ext cx="1930400" cy="967740"/>
                      </a:xfrm>
                      <a:prstGeom prst="rect">
                        <a:avLst/>
                      </a:prstGeom>
                    </p:spPr>
                  </p:pic>
                </p:oleObj>
              </mc:Fallback>
            </mc:AlternateContent>
          </a:graphicData>
        </a:graphic>
      </p:graphicFrame>
      <p:graphicFrame>
        <p:nvGraphicFramePr>
          <p:cNvPr id="7" name="对象 6">
            <a:hlinkClick r:id="" action="ppaction://ole?verb=0"/>
          </p:cNvPr>
          <p:cNvGraphicFramePr>
            <a:graphicFrameLocks noChangeAspect="1"/>
          </p:cNvGraphicFramePr>
          <p:nvPr/>
        </p:nvGraphicFramePr>
        <p:xfrm>
          <a:off x="1590358" y="3790315"/>
          <a:ext cx="2931795" cy="557530"/>
        </p:xfrm>
        <a:graphic>
          <a:graphicData uri="http://schemas.openxmlformats.org/presentationml/2006/ole">
            <mc:AlternateContent xmlns:mc="http://schemas.openxmlformats.org/markup-compatibility/2006">
              <mc:Choice xmlns:v="urn:schemas-microsoft-com:vml" Requires="v">
                <p:oleObj r:id="rId5" imgW="1041400" imgH="241300" progId="Equation.KSEE3">
                  <p:embed/>
                </p:oleObj>
              </mc:Choice>
              <mc:Fallback>
                <p:oleObj r:id="rId5" imgW="1041400" imgH="241300" progId="Equation.KSEE3">
                  <p:embed/>
                  <p:pic>
                    <p:nvPicPr>
                      <p:cNvPr id="7" name="对象 6">
                        <a:hlinkClick r:id="" action="ppaction://ole?verb=0"/>
                      </p:cNvPr>
                      <p:cNvPicPr/>
                      <p:nvPr/>
                    </p:nvPicPr>
                    <p:blipFill>
                      <a:blip r:embed="rId6"/>
                      <a:stretch>
                        <a:fillRect/>
                      </a:stretch>
                    </p:blipFill>
                    <p:spPr>
                      <a:xfrm>
                        <a:off x="1590358" y="3790315"/>
                        <a:ext cx="2931795" cy="557530"/>
                      </a:xfrm>
                      <a:prstGeom prst="rect">
                        <a:avLst/>
                      </a:prstGeom>
                    </p:spPr>
                  </p:pic>
                </p:oleObj>
              </mc:Fallback>
            </mc:AlternateContent>
          </a:graphicData>
        </a:graphic>
      </p:graphicFrame>
      <p:graphicFrame>
        <p:nvGraphicFramePr>
          <p:cNvPr id="9" name="对象 8">
            <a:hlinkClick r:id="" action="ppaction://ole?verb=0"/>
          </p:cNvPr>
          <p:cNvGraphicFramePr>
            <a:graphicFrameLocks noChangeAspect="1"/>
          </p:cNvGraphicFramePr>
          <p:nvPr/>
        </p:nvGraphicFramePr>
        <p:xfrm>
          <a:off x="9819641" y="3790315"/>
          <a:ext cx="1108710" cy="469900"/>
        </p:xfrm>
        <a:graphic>
          <a:graphicData uri="http://schemas.openxmlformats.org/presentationml/2006/ole">
            <mc:AlternateContent xmlns:mc="http://schemas.openxmlformats.org/markup-compatibility/2006">
              <mc:Choice xmlns:v="urn:schemas-microsoft-com:vml" Requires="v">
                <p:oleObj r:id="rId7" imgW="393700" imgH="203200" progId="Equation.KSEE3">
                  <p:embed/>
                </p:oleObj>
              </mc:Choice>
              <mc:Fallback>
                <p:oleObj r:id="rId7" imgW="393700" imgH="203200" progId="Equation.KSEE3">
                  <p:embed/>
                  <p:pic>
                    <p:nvPicPr>
                      <p:cNvPr id="9" name="对象 8">
                        <a:hlinkClick r:id="" action="ppaction://ole?verb=0"/>
                      </p:cNvPr>
                      <p:cNvPicPr/>
                      <p:nvPr/>
                    </p:nvPicPr>
                    <p:blipFill>
                      <a:blip r:embed="rId8"/>
                      <a:stretch>
                        <a:fillRect/>
                      </a:stretch>
                    </p:blipFill>
                    <p:spPr>
                      <a:xfrm>
                        <a:off x="9819641" y="3790315"/>
                        <a:ext cx="1108710" cy="469900"/>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信源编码—霍夫曼(Huffman)编码</a:t>
            </a:r>
          </a:p>
        </p:txBody>
      </p:sp>
      <p:sp>
        <p:nvSpPr>
          <p:cNvPr id="3" name="内容占位符 2"/>
          <p:cNvSpPr>
            <a:spLocks noGrp="1"/>
          </p:cNvSpPr>
          <p:nvPr>
            <p:ph idx="1"/>
          </p:nvPr>
        </p:nvSpPr>
        <p:spPr>
          <a:xfrm>
            <a:off x="608330" y="1490345"/>
            <a:ext cx="10831830" cy="2882265"/>
          </a:xfrm>
        </p:spPr>
        <p:txBody>
          <a:bodyPr>
            <a:noAutofit/>
          </a:bodyPr>
          <a:lstStyle/>
          <a:p>
            <a:r>
              <a:rPr sz="2400">
                <a:sym typeface="+mn-ea"/>
              </a:rPr>
              <a:t>一个离散无记忆信源有7个符号</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i</a:t>
            </a:r>
            <a:r>
              <a:rPr sz="2400">
                <a:latin typeface="Times New Roman" panose="02020603050405020304" pitchFamily="18" charset="0"/>
                <a:cs typeface="Times New Roman" panose="02020603050405020304" pitchFamily="18" charset="0"/>
                <a:sym typeface="+mn-ea"/>
              </a:rPr>
              <a:t>, </a:t>
            </a:r>
            <a:r>
              <a:rPr sz="2400" i="1">
                <a:latin typeface="Times New Roman" panose="02020603050405020304" pitchFamily="18" charset="0"/>
                <a:cs typeface="Times New Roman" panose="02020603050405020304" pitchFamily="18" charset="0"/>
                <a:sym typeface="+mn-ea"/>
              </a:rPr>
              <a:t>i</a:t>
            </a:r>
            <a:r>
              <a:rPr sz="2400">
                <a:latin typeface="Times New Roman" panose="02020603050405020304" pitchFamily="18" charset="0"/>
                <a:cs typeface="Times New Roman" panose="02020603050405020304" pitchFamily="18" charset="0"/>
                <a:sym typeface="+mn-ea"/>
              </a:rPr>
              <a:t>=1,..,7，</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baseline="-25000">
                <a:latin typeface="Times New Roman" panose="02020603050405020304" pitchFamily="18" charset="0"/>
                <a:cs typeface="Times New Roman" panose="02020603050405020304" pitchFamily="18" charset="0"/>
                <a:sym typeface="+mn-ea"/>
              </a:rPr>
              <a:t>1</a:t>
            </a:r>
            <a:r>
              <a:rPr sz="2400">
                <a:latin typeface="Times New Roman" panose="02020603050405020304" pitchFamily="18" charset="0"/>
                <a:cs typeface="Times New Roman" panose="02020603050405020304" pitchFamily="18" charset="0"/>
                <a:sym typeface="+mn-ea"/>
              </a:rPr>
              <a:t>)=0.37, </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2</a:t>
            </a:r>
            <a:r>
              <a:rPr sz="2400">
                <a:latin typeface="Times New Roman" panose="02020603050405020304" pitchFamily="18" charset="0"/>
                <a:cs typeface="Times New Roman" panose="02020603050405020304" pitchFamily="18" charset="0"/>
                <a:sym typeface="+mn-ea"/>
              </a:rPr>
              <a:t>)=0.33, </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3</a:t>
            </a:r>
            <a:r>
              <a:rPr sz="2400">
                <a:latin typeface="Times New Roman" panose="02020603050405020304" pitchFamily="18" charset="0"/>
                <a:cs typeface="Times New Roman" panose="02020603050405020304" pitchFamily="18" charset="0"/>
                <a:sym typeface="+mn-ea"/>
              </a:rPr>
              <a:t>)=0.16, </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4</a:t>
            </a:r>
            <a:r>
              <a:rPr sz="2400">
                <a:latin typeface="Times New Roman" panose="02020603050405020304" pitchFamily="18" charset="0"/>
                <a:cs typeface="Times New Roman" panose="02020603050405020304" pitchFamily="18" charset="0"/>
                <a:sym typeface="+mn-ea"/>
              </a:rPr>
              <a:t>)=0.07, </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5</a:t>
            </a:r>
            <a:r>
              <a:rPr sz="2400">
                <a:latin typeface="Times New Roman" panose="02020603050405020304" pitchFamily="18" charset="0"/>
                <a:cs typeface="Times New Roman" panose="02020603050405020304" pitchFamily="18" charset="0"/>
                <a:sym typeface="+mn-ea"/>
              </a:rPr>
              <a:t>)=0.04, </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6</a:t>
            </a:r>
            <a:r>
              <a:rPr sz="2400">
                <a:latin typeface="Times New Roman" panose="02020603050405020304" pitchFamily="18" charset="0"/>
                <a:cs typeface="Times New Roman" panose="02020603050405020304" pitchFamily="18" charset="0"/>
                <a:sym typeface="+mn-ea"/>
              </a:rPr>
              <a:t>)=0.02, </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7</a:t>
            </a:r>
            <a:r>
              <a:rPr sz="2400">
                <a:latin typeface="Times New Roman" panose="02020603050405020304" pitchFamily="18" charset="0"/>
                <a:cs typeface="Times New Roman" panose="02020603050405020304" pitchFamily="18" charset="0"/>
                <a:sym typeface="+mn-ea"/>
              </a:rPr>
              <a:t>)=0.01</a:t>
            </a:r>
            <a:r>
              <a:rPr sz="2400">
                <a:sym typeface="+mn-ea"/>
              </a:rPr>
              <a:t>, 将7个信源符号按照概率递减的顺序进行排序</a:t>
            </a:r>
            <a:r>
              <a:rPr lang="zh-CN" sz="2400">
                <a:sym typeface="+mn-ea"/>
              </a:rPr>
              <a:t>，</a:t>
            </a:r>
            <a:r>
              <a:rPr sz="2400">
                <a:sym typeface="+mn-ea"/>
              </a:rPr>
              <a:t>构造如图8所示的霍夫曼树</a:t>
            </a:r>
            <a:r>
              <a:rPr lang="zh-CN" sz="2400">
                <a:sym typeface="+mn-ea"/>
              </a:rPr>
              <a:t>。</a:t>
            </a:r>
            <a:endParaRPr sz="2400">
              <a:sym typeface="+mn-ea"/>
            </a:endParaRPr>
          </a:p>
          <a:p>
            <a:r>
              <a:rPr sz="2400">
                <a:sym typeface="+mn-ea"/>
              </a:rPr>
              <a:t>按照编码路径从后往前返回，就得到对应的码字</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7</a:t>
            </a:r>
            <a:r>
              <a:rPr sz="2400">
                <a:latin typeface="Times New Roman" panose="02020603050405020304" pitchFamily="18" charset="0"/>
                <a:cs typeface="Times New Roman" panose="02020603050405020304" pitchFamily="18" charset="0"/>
                <a:sym typeface="+mn-ea"/>
              </a:rPr>
              <a:t>=111111, </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6</a:t>
            </a:r>
            <a:r>
              <a:rPr sz="2400">
                <a:latin typeface="Times New Roman" panose="02020603050405020304" pitchFamily="18" charset="0"/>
                <a:cs typeface="Times New Roman" panose="02020603050405020304" pitchFamily="18" charset="0"/>
                <a:sym typeface="+mn-ea"/>
              </a:rPr>
              <a:t>=111110, </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5</a:t>
            </a:r>
            <a:r>
              <a:rPr sz="2400">
                <a:latin typeface="Times New Roman" panose="02020603050405020304" pitchFamily="18" charset="0"/>
                <a:cs typeface="Times New Roman" panose="02020603050405020304" pitchFamily="18" charset="0"/>
                <a:sym typeface="+mn-ea"/>
              </a:rPr>
              <a:t>=11110, </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4</a:t>
            </a:r>
            <a:r>
              <a:rPr sz="2400">
                <a:latin typeface="Times New Roman" panose="02020603050405020304" pitchFamily="18" charset="0"/>
                <a:cs typeface="Times New Roman" panose="02020603050405020304" pitchFamily="18" charset="0"/>
                <a:sym typeface="+mn-ea"/>
              </a:rPr>
              <a:t>=1110，</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3</a:t>
            </a:r>
            <a:r>
              <a:rPr sz="2400">
                <a:latin typeface="Times New Roman" panose="02020603050405020304" pitchFamily="18" charset="0"/>
                <a:cs typeface="Times New Roman" panose="02020603050405020304" pitchFamily="18" charset="0"/>
                <a:sym typeface="+mn-ea"/>
              </a:rPr>
              <a:t>=110, </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2</a:t>
            </a:r>
            <a:r>
              <a:rPr sz="2400">
                <a:latin typeface="Times New Roman" panose="02020603050405020304" pitchFamily="18" charset="0"/>
                <a:cs typeface="Times New Roman" panose="02020603050405020304" pitchFamily="18" charset="0"/>
                <a:sym typeface="+mn-ea"/>
              </a:rPr>
              <a:t>=10，</a:t>
            </a:r>
            <a:r>
              <a:rPr sz="2400" i="1">
                <a:latin typeface="Times New Roman" panose="02020603050405020304" pitchFamily="18" charset="0"/>
                <a:cs typeface="Times New Roman" panose="02020603050405020304" pitchFamily="18" charset="0"/>
                <a:sym typeface="+mn-ea"/>
              </a:rPr>
              <a:t>x</a:t>
            </a:r>
            <a:r>
              <a:rPr lang="en-US" sz="2400" baseline="-25000">
                <a:latin typeface="Times New Roman" panose="02020603050405020304" pitchFamily="18" charset="0"/>
                <a:cs typeface="Times New Roman" panose="02020603050405020304" pitchFamily="18" charset="0"/>
                <a:sym typeface="+mn-ea"/>
              </a:rPr>
              <a:t>1</a:t>
            </a:r>
            <a:r>
              <a:rPr sz="2400">
                <a:latin typeface="Times New Roman" panose="02020603050405020304" pitchFamily="18" charset="0"/>
                <a:cs typeface="Times New Roman" panose="02020603050405020304" pitchFamily="18" charset="0"/>
                <a:sym typeface="+mn-ea"/>
              </a:rPr>
              <a:t>=0</a:t>
            </a:r>
            <a:r>
              <a:rPr lang="zh-CN" sz="2400">
                <a:latin typeface="Times New Roman" panose="02020603050405020304" pitchFamily="18" charset="0"/>
                <a:cs typeface="Times New Roman" panose="02020603050405020304" pitchFamily="18" charset="0"/>
                <a:sym typeface="+mn-ea"/>
              </a:rPr>
              <a:t>。</a:t>
            </a:r>
          </a:p>
        </p:txBody>
      </p:sp>
      <p:sp>
        <p:nvSpPr>
          <p:cNvPr id="5" name="文本框 114821"/>
          <p:cNvSpPr txBox="1"/>
          <p:nvPr/>
        </p:nvSpPr>
        <p:spPr>
          <a:xfrm>
            <a:off x="2427605" y="6129655"/>
            <a:ext cx="1964690" cy="368300"/>
          </a:xfrm>
          <a:prstGeom prst="rect">
            <a:avLst/>
          </a:prstGeom>
          <a:noFill/>
          <a:ln w="9525">
            <a:noFill/>
          </a:ln>
        </p:spPr>
        <p:txBody>
          <a:bodyPr wrap="square" anchor="t" anchorCtr="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 </a:t>
            </a:r>
            <a:r>
              <a:rPr kumimoji="0" lang="zh-CN" altLang="en-US" sz="1800" b="1" i="0" u="none" strike="noStrike" kern="1200" cap="none" spc="0" normalizeH="0" baseline="0" noProof="0">
                <a:ln>
                  <a:noFill/>
                </a:ln>
                <a:solidFill>
                  <a:srgbClr val="000000"/>
                </a:solidFill>
                <a:effectLst/>
                <a:uLnTx/>
                <a:uFillTx/>
                <a:latin typeface="楷体" panose="02010609060101010101" charset="-122"/>
                <a:ea typeface="楷体" panose="02010609060101010101" charset="-122"/>
                <a:cs typeface="楷体" panose="02010609060101010101" charset="-122"/>
              </a:rPr>
              <a:t>图</a:t>
            </a: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rPr>
              <a:t>8 </a:t>
            </a:r>
            <a:r>
              <a:rPr kumimoji="0" sz="18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rPr>
              <a:t>霍夫曼树</a:t>
            </a:r>
            <a:endParaRPr kumimoji="0"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endParaRPr>
          </a:p>
        </p:txBody>
      </p:sp>
      <p:pic>
        <p:nvPicPr>
          <p:cNvPr id="101379" name="图片 236551"/>
          <p:cNvPicPr>
            <a:picLocks noChangeAspect="1"/>
          </p:cNvPicPr>
          <p:nvPr>
            <p:custDataLst>
              <p:tags r:id="rId2"/>
            </p:custDataLst>
          </p:nvPr>
        </p:nvPicPr>
        <p:blipFill>
          <a:blip r:embed="rId4"/>
          <a:stretch>
            <a:fillRect/>
          </a:stretch>
        </p:blipFill>
        <p:spPr>
          <a:xfrm>
            <a:off x="1381760" y="4170363"/>
            <a:ext cx="4572000" cy="1989137"/>
          </a:xfrm>
          <a:prstGeom prst="rect">
            <a:avLst/>
          </a:prstGeom>
          <a:noFill/>
          <a:ln w="9525">
            <a:noFill/>
          </a:ln>
        </p:spPr>
      </p:pic>
      <p:sp>
        <p:nvSpPr>
          <p:cNvPr id="6" name="矩形 5"/>
          <p:cNvSpPr/>
          <p:nvPr/>
        </p:nvSpPr>
        <p:spPr>
          <a:xfrm>
            <a:off x="7208520" y="4843780"/>
            <a:ext cx="3382645" cy="92646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1" name="文本框 10"/>
          <p:cNvSpPr txBox="1"/>
          <p:nvPr/>
        </p:nvSpPr>
        <p:spPr>
          <a:xfrm>
            <a:off x="7320280" y="4870450"/>
            <a:ext cx="3152140" cy="829945"/>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sz="2000" b="1" i="0" u="none" strike="noStrike" kern="1200" cap="none" spc="0" normalizeH="0" baseline="0" noProof="0">
                <a:ln>
                  <a:noFill/>
                </a:ln>
                <a:solidFill>
                  <a:srgbClr val="FF0000"/>
                </a:solidFill>
                <a:effectLst/>
                <a:uLnTx/>
                <a:uFillTx/>
                <a:latin typeface="楷体" panose="02010609060101010101" charset="-122"/>
                <a:ea typeface="楷体" panose="02010609060101010101" charset="-122"/>
                <a:cs typeface="+mn-cs"/>
              </a:rPr>
              <a:t>思考题：</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如何编程序实现霍夫曼编码</a:t>
            </a:r>
            <a:r>
              <a:rPr kumimoji="0" lang="en-US"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游程编码</a:t>
            </a:r>
          </a:p>
        </p:txBody>
      </p:sp>
      <p:sp>
        <p:nvSpPr>
          <p:cNvPr id="3" name="内容占位符 2"/>
          <p:cNvSpPr>
            <a:spLocks noGrp="1"/>
          </p:cNvSpPr>
          <p:nvPr>
            <p:ph idx="1"/>
          </p:nvPr>
        </p:nvSpPr>
        <p:spPr>
          <a:xfrm>
            <a:off x="608330" y="1490345"/>
            <a:ext cx="10831830" cy="2430145"/>
          </a:xfrm>
        </p:spPr>
        <p:txBody>
          <a:bodyPr>
            <a:noAutofit/>
          </a:bodyPr>
          <a:lstStyle/>
          <a:p>
            <a:r>
              <a:rPr lang="zh-CN" sz="2400" b="1">
                <a:solidFill>
                  <a:schemeClr val="accent6">
                    <a:lumMod val="75000"/>
                  </a:schemeClr>
                </a:solidFill>
                <a:sym typeface="+mn-ea"/>
              </a:rPr>
              <a:t>游程</a:t>
            </a:r>
            <a:r>
              <a:rPr sz="2400">
                <a:sym typeface="+mn-ea"/>
              </a:rPr>
              <a:t>：信源输出的字符序列中，各种字符连续的重复出现的字符串的个数</a:t>
            </a:r>
            <a:r>
              <a:rPr lang="zh-CN" sz="2400">
                <a:sym typeface="+mn-ea"/>
              </a:rPr>
              <a:t>。</a:t>
            </a:r>
            <a:endParaRPr sz="2400">
              <a:sym typeface="+mn-ea"/>
            </a:endParaRPr>
          </a:p>
          <a:p>
            <a:r>
              <a:rPr lang="zh-CN" sz="2400" b="1">
                <a:solidFill>
                  <a:schemeClr val="accent6">
                    <a:lumMod val="75000"/>
                  </a:schemeClr>
                </a:solidFill>
                <a:sym typeface="+mn-ea"/>
              </a:rPr>
              <a:t>游程编码</a:t>
            </a:r>
            <a:r>
              <a:rPr sz="2400">
                <a:sym typeface="+mn-ea"/>
              </a:rPr>
              <a:t>：就是将这种字符序列映射成字符串的长度和字符串的位置的标志序列</a:t>
            </a:r>
            <a:r>
              <a:rPr lang="zh-CN" sz="2400">
                <a:sym typeface="+mn-ea"/>
              </a:rPr>
              <a:t>。</a:t>
            </a:r>
            <a:endParaRPr sz="2400">
              <a:sym typeface="+mn-ea"/>
            </a:endParaRPr>
          </a:p>
          <a:p>
            <a:r>
              <a:rPr sz="2400">
                <a:sym typeface="+mn-ea"/>
              </a:rPr>
              <a:t>游程编码常用作图形文件的编码方式，如.bmp和.tiff</a:t>
            </a:r>
            <a:r>
              <a:rPr lang="zh-CN" sz="2400">
                <a:sym typeface="+mn-ea"/>
              </a:rPr>
              <a:t>。</a:t>
            </a:r>
          </a:p>
        </p:txBody>
      </p:sp>
      <p:sp>
        <p:nvSpPr>
          <p:cNvPr id="9" name="矩形 8"/>
          <p:cNvSpPr/>
          <p:nvPr/>
        </p:nvSpPr>
        <p:spPr>
          <a:xfrm>
            <a:off x="1050925" y="3926205"/>
            <a:ext cx="10006965" cy="132651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6" name="文本框 5"/>
          <p:cNvSpPr txBox="1"/>
          <p:nvPr/>
        </p:nvSpPr>
        <p:spPr>
          <a:xfrm>
            <a:off x="1198245" y="3985895"/>
            <a:ext cx="9703435" cy="1198880"/>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lang="zh-CN" altLang="en-US" sz="20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例子：</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考虑比特序列11111111111111100000000000000000001111，可以被表示成(15,1),(19,0),(4,1)，字符最长的重复的数目为19，因此，把该比特序列编码为(01111,1), (10011,0), (00100,1)，此时压缩率为18:38=1:2.11</a:t>
            </a:r>
            <a:r>
              <a:rPr kumimoji="0" lang="zh-CN" altLang="en-US"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p>
        </p:txBody>
      </p:sp>
      <p:sp>
        <p:nvSpPr>
          <p:cNvPr id="4" name="矩形 3"/>
          <p:cNvSpPr/>
          <p:nvPr/>
        </p:nvSpPr>
        <p:spPr>
          <a:xfrm>
            <a:off x="3432810" y="5730240"/>
            <a:ext cx="4426585" cy="51689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1" name="文本框 10"/>
          <p:cNvSpPr txBox="1"/>
          <p:nvPr/>
        </p:nvSpPr>
        <p:spPr>
          <a:xfrm>
            <a:off x="3544570" y="5756910"/>
            <a:ext cx="4328795" cy="460375"/>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sz="2000" b="1" i="0" u="none" strike="noStrike" kern="1200" cap="none" spc="0" normalizeH="0" baseline="0" noProof="0">
                <a:ln>
                  <a:noFill/>
                </a:ln>
                <a:solidFill>
                  <a:srgbClr val="FF0000"/>
                </a:solidFill>
                <a:effectLst/>
                <a:uLnTx/>
                <a:uFillTx/>
                <a:latin typeface="楷体" panose="02010609060101010101" charset="-122"/>
                <a:ea typeface="楷体" panose="02010609060101010101" charset="-122"/>
                <a:cs typeface="+mn-cs"/>
              </a:rPr>
              <a:t>思考题：</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如何编程序实现游程编码</a:t>
            </a:r>
            <a:r>
              <a:rPr kumimoji="0" lang="en-US"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LZ(Lemple-Ziv)编码</a:t>
            </a:r>
          </a:p>
        </p:txBody>
      </p:sp>
      <p:sp>
        <p:nvSpPr>
          <p:cNvPr id="3" name="内容占位符 2"/>
          <p:cNvSpPr>
            <a:spLocks noGrp="1"/>
          </p:cNvSpPr>
          <p:nvPr>
            <p:ph idx="1"/>
          </p:nvPr>
        </p:nvSpPr>
        <p:spPr>
          <a:xfrm>
            <a:off x="608330" y="1490345"/>
            <a:ext cx="10831830" cy="2849880"/>
          </a:xfrm>
        </p:spPr>
        <p:txBody>
          <a:bodyPr>
            <a:noAutofit/>
          </a:bodyPr>
          <a:lstStyle/>
          <a:p>
            <a:r>
              <a:rPr sz="2000">
                <a:sym typeface="+mn-ea"/>
              </a:rPr>
              <a:t>分段的方法：1)游程先取第一个符号作为第一段，然后再继续分段</a:t>
            </a:r>
            <a:r>
              <a:rPr lang="zh-CN" sz="2000">
                <a:sym typeface="+mn-ea"/>
              </a:rPr>
              <a:t>；</a:t>
            </a:r>
            <a:r>
              <a:rPr sz="2000">
                <a:sym typeface="+mn-ea"/>
              </a:rPr>
              <a:t>2)若有出现与前面符号一样时，就再添加紧跟后面的一个符号一起组成一段</a:t>
            </a:r>
            <a:r>
              <a:rPr lang="zh-CN" sz="2000">
                <a:sym typeface="+mn-ea"/>
              </a:rPr>
              <a:t>；</a:t>
            </a:r>
            <a:r>
              <a:rPr sz="2000">
                <a:sym typeface="+mn-ea"/>
              </a:rPr>
              <a:t>3)尽可能取最少个连着的符号并保证各段都不相同</a:t>
            </a:r>
            <a:r>
              <a:rPr lang="zh-CN" sz="2000">
                <a:sym typeface="+mn-ea"/>
              </a:rPr>
              <a:t>；</a:t>
            </a:r>
            <a:r>
              <a:rPr sz="2000">
                <a:sym typeface="+mn-ea"/>
              </a:rPr>
              <a:t>4)以此类推，直至信源符号序列结束</a:t>
            </a:r>
            <a:r>
              <a:rPr lang="zh-CN" sz="2000">
                <a:sym typeface="+mn-ea"/>
              </a:rPr>
              <a:t>。</a:t>
            </a:r>
            <a:endParaRPr sz="2000">
              <a:sym typeface="+mn-ea"/>
            </a:endParaRPr>
          </a:p>
          <a:p>
            <a:r>
              <a:rPr sz="2000">
                <a:sym typeface="+mn-ea"/>
              </a:rPr>
              <a:t>编码方法：首先去掉最后一个符号，然后看剩下的字符串在字典中的排序，这个排序值转换成二进制数作为指针</a:t>
            </a:r>
            <a:r>
              <a:rPr lang="en-US" sz="2000" i="1">
                <a:latin typeface="Times New Roman" panose="02020603050405020304" pitchFamily="18" charset="0"/>
                <a:cs typeface="Times New Roman" panose="02020603050405020304" pitchFamily="18" charset="0"/>
                <a:sym typeface="+mn-ea"/>
              </a:rPr>
              <a:t>X</a:t>
            </a:r>
            <a:r>
              <a:rPr sz="2000">
                <a:sym typeface="+mn-ea"/>
              </a:rPr>
              <a:t>的值，最后一个信源符号作为码字第2项</a:t>
            </a:r>
            <a:r>
              <a:rPr sz="2000" i="1">
                <a:latin typeface="Times New Roman" panose="02020603050405020304" pitchFamily="18" charset="0"/>
                <a:cs typeface="Times New Roman" panose="02020603050405020304" pitchFamily="18" charset="0"/>
                <a:sym typeface="+mn-ea"/>
              </a:rPr>
              <a:t>d</a:t>
            </a:r>
            <a:r>
              <a:rPr sz="2000">
                <a:sym typeface="+mn-ea"/>
              </a:rPr>
              <a:t>的值，即得到码字</a:t>
            </a:r>
            <a:r>
              <a:rPr sz="2000">
                <a:latin typeface="Times New Roman" panose="02020603050405020304" pitchFamily="18" charset="0"/>
                <a:cs typeface="Times New Roman" panose="02020603050405020304" pitchFamily="18" charset="0"/>
                <a:sym typeface="+mn-ea"/>
              </a:rPr>
              <a:t>(</a:t>
            </a:r>
            <a:r>
              <a:rPr sz="2000" i="1">
                <a:latin typeface="Times New Roman" panose="02020603050405020304" pitchFamily="18" charset="0"/>
                <a:cs typeface="Times New Roman" panose="02020603050405020304" pitchFamily="18" charset="0"/>
                <a:sym typeface="+mn-ea"/>
              </a:rPr>
              <a:t>X</a:t>
            </a:r>
            <a:r>
              <a:rPr sz="2000">
                <a:latin typeface="Times New Roman" panose="02020603050405020304" pitchFamily="18" charset="0"/>
                <a:cs typeface="Times New Roman" panose="02020603050405020304" pitchFamily="18" charset="0"/>
                <a:sym typeface="+mn-ea"/>
              </a:rPr>
              <a:t>, </a:t>
            </a:r>
            <a:r>
              <a:rPr sz="2000" i="1">
                <a:latin typeface="Times New Roman" panose="02020603050405020304" pitchFamily="18" charset="0"/>
                <a:cs typeface="Times New Roman" panose="02020603050405020304" pitchFamily="18" charset="0"/>
                <a:sym typeface="+mn-ea"/>
              </a:rPr>
              <a:t>d</a:t>
            </a:r>
            <a:r>
              <a:rPr sz="2000">
                <a:latin typeface="Times New Roman" panose="02020603050405020304" pitchFamily="18" charset="0"/>
                <a:cs typeface="Times New Roman" panose="02020603050405020304" pitchFamily="18" charset="0"/>
                <a:sym typeface="+mn-ea"/>
              </a:rPr>
              <a:t>)</a:t>
            </a:r>
            <a:r>
              <a:rPr lang="zh-CN" sz="2000">
                <a:sym typeface="+mn-ea"/>
              </a:rPr>
              <a:t>。</a:t>
            </a:r>
          </a:p>
        </p:txBody>
      </p:sp>
      <p:sp>
        <p:nvSpPr>
          <p:cNvPr id="9" name="矩形 8"/>
          <p:cNvSpPr/>
          <p:nvPr/>
        </p:nvSpPr>
        <p:spPr>
          <a:xfrm>
            <a:off x="1050925" y="4200525"/>
            <a:ext cx="10006965" cy="132651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6" name="文本框 5"/>
          <p:cNvSpPr txBox="1"/>
          <p:nvPr/>
        </p:nvSpPr>
        <p:spPr>
          <a:xfrm>
            <a:off x="1198245" y="4260215"/>
            <a:ext cx="9703435" cy="1198880"/>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lang="zh-CN" altLang="en-US" sz="20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例子：</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考虑比特序列101011011010101011，根据上面的编码方法可把该比特序列分段为1, 0, 10, 11, 01, 101, 010, 1011</a:t>
            </a:r>
            <a:r>
              <a:rPr kumimoji="0" lang="zh-CN" altLang="en-US"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p>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lang="zh-CN" altLang="en-US"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码字为：</a:t>
            </a:r>
            <a:r>
              <a:rPr kumimoji="0" lang="en-US" altLang="zh-CN"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(000,1),( 000,0), (001,0), (001,1), (010,1), (011,1), (101,0), (110,1)</a:t>
            </a:r>
            <a:r>
              <a:rPr kumimoji="0" lang="zh-CN" altLang="en-US"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rPr>
              <a:t>。</a:t>
            </a:r>
          </a:p>
        </p:txBody>
      </p:sp>
      <p:cxnSp>
        <p:nvCxnSpPr>
          <p:cNvPr id="5" name="直接箭头连接符 4"/>
          <p:cNvCxnSpPr/>
          <p:nvPr/>
        </p:nvCxnSpPr>
        <p:spPr>
          <a:xfrm>
            <a:off x="2102485" y="4950460"/>
            <a:ext cx="2251075" cy="307340"/>
          </a:xfrm>
          <a:prstGeom prst="straightConnector1">
            <a:avLst/>
          </a:prstGeom>
          <a:noFill/>
          <a:ln>
            <a:solidFill>
              <a:srgbClr val="7030A0"/>
            </a:solidFill>
            <a:tailEnd type="arrow"/>
          </a:ln>
        </p:spPr>
      </p:cxnSp>
      <p:cxnSp>
        <p:nvCxnSpPr>
          <p:cNvPr id="4" name="直接箭头连接符 3"/>
          <p:cNvCxnSpPr/>
          <p:nvPr/>
        </p:nvCxnSpPr>
        <p:spPr>
          <a:xfrm>
            <a:off x="2293620" y="4852035"/>
            <a:ext cx="2373630" cy="322580"/>
          </a:xfrm>
          <a:prstGeom prst="straightConnector1">
            <a:avLst/>
          </a:prstGeom>
          <a:noFill/>
          <a:ln>
            <a:solidFill>
              <a:srgbClr val="0070C0"/>
            </a:solidFill>
            <a:tailEnd type="arrow"/>
          </a:ln>
        </p:spPr>
      </p:cxnSp>
      <p:sp>
        <p:nvSpPr>
          <p:cNvPr id="7" name="矩形 6"/>
          <p:cNvSpPr/>
          <p:nvPr/>
        </p:nvSpPr>
        <p:spPr>
          <a:xfrm>
            <a:off x="3448685" y="5862320"/>
            <a:ext cx="4426585" cy="51689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1" name="文本框 10"/>
          <p:cNvSpPr txBox="1"/>
          <p:nvPr/>
        </p:nvSpPr>
        <p:spPr>
          <a:xfrm>
            <a:off x="3560445" y="5888990"/>
            <a:ext cx="4328795" cy="460375"/>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sz="2000" b="1" i="0" u="none" strike="noStrike" kern="1200" cap="none" spc="0" normalizeH="0" baseline="0" noProof="0">
                <a:ln>
                  <a:noFill/>
                </a:ln>
                <a:solidFill>
                  <a:srgbClr val="FF0000"/>
                </a:solidFill>
                <a:effectLst/>
                <a:uLnTx/>
                <a:uFillTx/>
                <a:latin typeface="楷体" panose="02010609060101010101" charset="-122"/>
                <a:ea typeface="楷体" panose="02010609060101010101" charset="-122"/>
                <a:cs typeface="+mn-cs"/>
              </a:rPr>
              <a:t>思考题：</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如何编程序实现</a:t>
            </a:r>
            <a:r>
              <a:rPr kumimoji="0"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LZ</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编码</a:t>
            </a:r>
            <a:r>
              <a:rPr kumimoji="0" lang="en-US"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8" name="灯片编号占位符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信道容量</a:t>
            </a:r>
          </a:p>
        </p:txBody>
      </p:sp>
      <p:sp>
        <p:nvSpPr>
          <p:cNvPr id="3" name="内容占位符 2"/>
          <p:cNvSpPr>
            <a:spLocks noGrp="1"/>
          </p:cNvSpPr>
          <p:nvPr>
            <p:ph idx="1"/>
          </p:nvPr>
        </p:nvSpPr>
        <p:spPr>
          <a:xfrm>
            <a:off x="608330" y="1490345"/>
            <a:ext cx="10831830" cy="1765300"/>
          </a:xfrm>
        </p:spPr>
        <p:txBody>
          <a:bodyPr>
            <a:noAutofit/>
          </a:bodyPr>
          <a:lstStyle/>
          <a:p>
            <a:r>
              <a:rPr lang="zh-CN" sz="2400" b="1">
                <a:solidFill>
                  <a:schemeClr val="accent6">
                    <a:lumMod val="75000"/>
                  </a:schemeClr>
                </a:solidFill>
                <a:sym typeface="+mn-ea"/>
              </a:rPr>
              <a:t>定义</a:t>
            </a:r>
            <a:r>
              <a:rPr sz="2400">
                <a:sym typeface="+mn-ea"/>
              </a:rPr>
              <a:t>：考虑某种概率分布为</a:t>
            </a:r>
            <a:r>
              <a:rPr sz="2400" i="1">
                <a:latin typeface="Times New Roman" panose="02020603050405020304" pitchFamily="18" charset="0"/>
                <a:cs typeface="Times New Roman" panose="02020603050405020304" pitchFamily="18" charset="0"/>
                <a:sym typeface="+mn-ea"/>
              </a:rPr>
              <a:t>P</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a:sym typeface="+mn-ea"/>
              </a:rPr>
              <a:t>的离散无记忆信源，对于一个固定的信道，信道容量被定义为最大的平均互信息，此时传输每个符号平均获得的信息量最大，即对于每个固定的信道可以达到最大的信息传输率，即</a:t>
            </a:r>
          </a:p>
        </p:txBody>
      </p:sp>
      <p:graphicFrame>
        <p:nvGraphicFramePr>
          <p:cNvPr id="4" name="对象 3">
            <a:hlinkClick r:id="" action="ppaction://ole?verb=0"/>
          </p:cNvPr>
          <p:cNvGraphicFramePr>
            <a:graphicFrameLocks noChangeAspect="1"/>
          </p:cNvGraphicFramePr>
          <p:nvPr/>
        </p:nvGraphicFramePr>
        <p:xfrm>
          <a:off x="2261870" y="3136900"/>
          <a:ext cx="7861935" cy="925195"/>
        </p:xfrm>
        <a:graphic>
          <a:graphicData uri="http://schemas.openxmlformats.org/presentationml/2006/ole">
            <mc:AlternateContent xmlns:mc="http://schemas.openxmlformats.org/markup-compatibility/2006">
              <mc:Choice xmlns:v="urn:schemas-microsoft-com:vml" Requires="v">
                <p:oleObj r:id="rId3" imgW="3352800" imgH="495300" progId="Equation.KSEE3">
                  <p:embed/>
                </p:oleObj>
              </mc:Choice>
              <mc:Fallback>
                <p:oleObj r:id="rId3" imgW="3352800" imgH="495300" progId="Equation.KSEE3">
                  <p:embed/>
                  <p:pic>
                    <p:nvPicPr>
                      <p:cNvPr id="4" name="对象 3">
                        <a:hlinkClick r:id="" action="ppaction://ole?verb=0"/>
                      </p:cNvPr>
                      <p:cNvPicPr/>
                      <p:nvPr/>
                    </p:nvPicPr>
                    <p:blipFill>
                      <a:blip r:embed="rId4"/>
                      <a:stretch>
                        <a:fillRect/>
                      </a:stretch>
                    </p:blipFill>
                    <p:spPr>
                      <a:xfrm>
                        <a:off x="2261870" y="3136900"/>
                        <a:ext cx="7861935" cy="925195"/>
                      </a:xfrm>
                      <a:prstGeom prst="rect">
                        <a:avLst/>
                      </a:prstGeom>
                    </p:spPr>
                  </p:pic>
                </p:oleObj>
              </mc:Fallback>
            </mc:AlternateContent>
          </a:graphicData>
        </a:graphic>
      </p:graphicFrame>
      <p:sp>
        <p:nvSpPr>
          <p:cNvPr id="6" name="内容占位符 2"/>
          <p:cNvSpPr>
            <a:spLocks noGrp="1"/>
          </p:cNvSpPr>
          <p:nvPr/>
        </p:nvSpPr>
        <p:spPr>
          <a:xfrm>
            <a:off x="582930" y="4340225"/>
            <a:ext cx="2649855" cy="52641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  </a:t>
            </a: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其约束条件为</a:t>
            </a:r>
          </a:p>
        </p:txBody>
      </p:sp>
      <p:graphicFrame>
        <p:nvGraphicFramePr>
          <p:cNvPr id="7" name="对象 6">
            <a:hlinkClick r:id="" action="ppaction://ole?verb=0"/>
          </p:cNvPr>
          <p:cNvGraphicFramePr>
            <a:graphicFrameLocks noChangeAspect="1"/>
          </p:cNvGraphicFramePr>
          <p:nvPr/>
        </p:nvGraphicFramePr>
        <p:xfrm>
          <a:off x="2924810" y="4273550"/>
          <a:ext cx="3187065" cy="854075"/>
        </p:xfrm>
        <a:graphic>
          <a:graphicData uri="http://schemas.openxmlformats.org/presentationml/2006/ole">
            <mc:AlternateContent xmlns:mc="http://schemas.openxmlformats.org/markup-compatibility/2006">
              <mc:Choice xmlns:v="urn:schemas-microsoft-com:vml" Requires="v">
                <p:oleObj r:id="rId5" imgW="1358900" imgH="457200" progId="Equation.KSEE3">
                  <p:embed/>
                </p:oleObj>
              </mc:Choice>
              <mc:Fallback>
                <p:oleObj r:id="rId5" imgW="1358900" imgH="457200" progId="Equation.KSEE3">
                  <p:embed/>
                  <p:pic>
                    <p:nvPicPr>
                      <p:cNvPr id="7" name="对象 6">
                        <a:hlinkClick r:id="" action="ppaction://ole?verb=0"/>
                      </p:cNvPr>
                      <p:cNvPicPr/>
                      <p:nvPr/>
                    </p:nvPicPr>
                    <p:blipFill>
                      <a:blip r:embed="rId6"/>
                      <a:stretch>
                        <a:fillRect/>
                      </a:stretch>
                    </p:blipFill>
                    <p:spPr>
                      <a:xfrm>
                        <a:off x="2924810" y="4273550"/>
                        <a:ext cx="3187065" cy="854075"/>
                      </a:xfrm>
                      <a:prstGeom prst="rect">
                        <a:avLst/>
                      </a:prstGeom>
                    </p:spPr>
                  </p:pic>
                </p:oleObj>
              </mc:Fallback>
            </mc:AlternateContent>
          </a:graphicData>
        </a:graphic>
      </p:graphicFrame>
      <p:sp>
        <p:nvSpPr>
          <p:cNvPr id="9" name="矩形 8"/>
          <p:cNvSpPr/>
          <p:nvPr/>
        </p:nvSpPr>
        <p:spPr>
          <a:xfrm>
            <a:off x="3266440" y="5394960"/>
            <a:ext cx="5396865" cy="51689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0" name="文本框 9"/>
          <p:cNvSpPr txBox="1"/>
          <p:nvPr/>
        </p:nvSpPr>
        <p:spPr>
          <a:xfrm>
            <a:off x="3378200" y="5421630"/>
            <a:ext cx="5522595" cy="460375"/>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sz="2000" b="1" i="0" u="none" strike="noStrike" kern="1200" cap="none" spc="0" normalizeH="0" baseline="0" noProof="0">
                <a:ln>
                  <a:noFill/>
                </a:ln>
                <a:solidFill>
                  <a:srgbClr val="FF0000"/>
                </a:solidFill>
                <a:effectLst/>
                <a:uLnTx/>
                <a:uFillTx/>
                <a:latin typeface="楷体" panose="02010609060101010101" charset="-122"/>
                <a:ea typeface="楷体" panose="02010609060101010101" charset="-122"/>
                <a:cs typeface="+mn-cs"/>
              </a:rPr>
              <a:t>思考题：</a:t>
            </a:r>
            <a:r>
              <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如何计算给定某种信道的信道容量</a:t>
            </a:r>
            <a:r>
              <a:rPr kumimoji="0" lang="en-US" sz="2000" b="1"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1" name="灯片编号占位符 10"/>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纠错编码的理论基础</a:t>
            </a:r>
          </a:p>
        </p:txBody>
      </p:sp>
      <p:sp>
        <p:nvSpPr>
          <p:cNvPr id="3" name="内容占位符 2"/>
          <p:cNvSpPr>
            <a:spLocks noGrp="1"/>
          </p:cNvSpPr>
          <p:nvPr>
            <p:ph idx="1"/>
          </p:nvPr>
        </p:nvSpPr>
        <p:spPr>
          <a:xfrm>
            <a:off x="608330" y="1490345"/>
            <a:ext cx="10831830" cy="4930775"/>
          </a:xfrm>
        </p:spPr>
        <p:txBody>
          <a:bodyPr>
            <a:normAutofit/>
          </a:bodyPr>
          <a:lstStyle/>
          <a:p>
            <a:pPr>
              <a:lnSpc>
                <a:spcPct val="150000"/>
              </a:lnSpc>
            </a:pPr>
            <a:r>
              <a:rPr lang="zh-CN" sz="2400" b="1">
                <a:solidFill>
                  <a:schemeClr val="accent6">
                    <a:lumMod val="75000"/>
                  </a:schemeClr>
                </a:solidFill>
              </a:rPr>
              <a:t>香农编码定理</a:t>
            </a:r>
            <a:r>
              <a:rPr sz="2400"/>
              <a:t>：</a:t>
            </a:r>
            <a:r>
              <a:rPr sz="2400">
                <a:highlight>
                  <a:srgbClr val="FFFF00"/>
                </a:highlight>
              </a:rPr>
              <a:t>如果系统的传输率小于信道容量，那么适当选择编码技术就能实现可靠通信，即可以将差错率减小到任意小的程度</a:t>
            </a:r>
            <a:r>
              <a:rPr sz="2400"/>
              <a:t>。更确切地，每个信道都具有固定的信道容量</a:t>
            </a:r>
            <a:r>
              <a:rPr sz="2400" i="1">
                <a:latin typeface="Times New Roman" panose="02020603050405020304" pitchFamily="18" charset="0"/>
                <a:cs typeface="Times New Roman" panose="02020603050405020304" pitchFamily="18" charset="0"/>
              </a:rPr>
              <a:t>C</a:t>
            </a:r>
            <a:r>
              <a:rPr sz="2400"/>
              <a:t>，对任何小于</a:t>
            </a:r>
            <a:r>
              <a:rPr sz="2400" i="1">
                <a:latin typeface="Times New Roman" panose="02020603050405020304" pitchFamily="18" charset="0"/>
                <a:cs typeface="Times New Roman" panose="02020603050405020304" pitchFamily="18" charset="0"/>
              </a:rPr>
              <a:t>C</a:t>
            </a:r>
            <a:r>
              <a:rPr sz="2400"/>
              <a:t>的信息传输率</a:t>
            </a:r>
            <a:r>
              <a:rPr sz="2400" i="1">
                <a:latin typeface="Times New Roman" panose="02020603050405020304" pitchFamily="18" charset="0"/>
                <a:cs typeface="Times New Roman" panose="02020603050405020304" pitchFamily="18" charset="0"/>
              </a:rPr>
              <a:t>R</a:t>
            </a:r>
            <a:r>
              <a:rPr sz="2400"/>
              <a:t>，存在一个码长为</a:t>
            </a:r>
            <a:r>
              <a:rPr sz="2400" i="1">
                <a:latin typeface="Times New Roman" panose="02020603050405020304" pitchFamily="18" charset="0"/>
                <a:cs typeface="Times New Roman" panose="02020603050405020304" pitchFamily="18" charset="0"/>
              </a:rPr>
              <a:t>n</a:t>
            </a:r>
            <a:r>
              <a:rPr sz="2400"/>
              <a:t>码率为</a:t>
            </a:r>
            <a:r>
              <a:rPr sz="2400" i="1">
                <a:latin typeface="Times New Roman" panose="02020603050405020304" pitchFamily="18" charset="0"/>
                <a:cs typeface="Times New Roman" panose="02020603050405020304" pitchFamily="18" charset="0"/>
              </a:rPr>
              <a:t>R</a:t>
            </a:r>
            <a:r>
              <a:rPr sz="2400"/>
              <a:t>的分组码，若用最大似然译码，则其译码错误概率为   		。对于码率为</a:t>
            </a:r>
            <a:r>
              <a:rPr sz="2400" i="1">
                <a:latin typeface="Times New Roman" panose="02020603050405020304" pitchFamily="18" charset="0"/>
                <a:cs typeface="Times New Roman" panose="02020603050405020304" pitchFamily="18" charset="0"/>
              </a:rPr>
              <a:t>R</a:t>
            </a:r>
            <a:r>
              <a:rPr sz="2400"/>
              <a:t>约束长度为</a:t>
            </a:r>
            <a:r>
              <a:rPr sz="2400" i="1">
                <a:latin typeface="Times New Roman" panose="02020603050405020304" pitchFamily="18" charset="0"/>
                <a:cs typeface="Times New Roman" panose="02020603050405020304" pitchFamily="18" charset="0"/>
              </a:rPr>
              <a:t>n</a:t>
            </a:r>
            <a:r>
              <a:rPr sz="2400" i="1" baseline="-25000">
                <a:latin typeface="Times New Roman" panose="02020603050405020304" pitchFamily="18" charset="0"/>
                <a:cs typeface="Times New Roman" panose="02020603050405020304" pitchFamily="18" charset="0"/>
              </a:rPr>
              <a:t>e</a:t>
            </a:r>
            <a:r>
              <a:rPr sz="2400"/>
              <a:t>的卷积码，其译码错误概率也有类似的关系，即            </a:t>
            </a:r>
            <a:r>
              <a:rPr lang="en-US" sz="2400"/>
              <a:t>    </a:t>
            </a:r>
            <a:r>
              <a:rPr sz="2400"/>
              <a:t>，其中</a:t>
            </a:r>
            <a:r>
              <a:rPr sz="2400" i="1">
                <a:latin typeface="Times New Roman" panose="02020603050405020304" pitchFamily="18" charset="0"/>
                <a:cs typeface="Times New Roman" panose="02020603050405020304" pitchFamily="18" charset="0"/>
              </a:rPr>
              <a:t>A</a:t>
            </a:r>
            <a:r>
              <a:rPr sz="2400"/>
              <a:t>和</a:t>
            </a:r>
            <a:r>
              <a:rPr sz="2400" i="1">
                <a:latin typeface="Times New Roman" panose="02020603050405020304" pitchFamily="18" charset="0"/>
                <a:cs typeface="Times New Roman" panose="02020603050405020304" pitchFamily="18" charset="0"/>
              </a:rPr>
              <a:t>B</a:t>
            </a:r>
            <a:r>
              <a:rPr sz="2400"/>
              <a:t>都为大于</a:t>
            </a:r>
            <a:r>
              <a:rPr sz="2400">
                <a:latin typeface="Times New Roman" panose="02020603050405020304" pitchFamily="18" charset="0"/>
                <a:cs typeface="Times New Roman" panose="02020603050405020304" pitchFamily="18" charset="0"/>
              </a:rPr>
              <a:t>0</a:t>
            </a:r>
            <a:r>
              <a:rPr sz="2400"/>
              <a:t>的数，</a:t>
            </a:r>
            <a:r>
              <a:rPr sz="2400" i="1">
                <a:latin typeface="Times New Roman" panose="02020603050405020304" pitchFamily="18" charset="0"/>
                <a:cs typeface="Times New Roman" panose="02020603050405020304" pitchFamily="18" charset="0"/>
              </a:rPr>
              <a:t>E</a:t>
            </a:r>
            <a:r>
              <a:rPr sz="2400" i="1" baseline="-25000">
                <a:latin typeface="Times New Roman" panose="02020603050405020304" pitchFamily="18" charset="0"/>
                <a:cs typeface="Times New Roman" panose="02020603050405020304" pitchFamily="18" charset="0"/>
              </a:rPr>
              <a:t>b</a:t>
            </a:r>
            <a:r>
              <a:rPr sz="2400"/>
              <a:t>(</a:t>
            </a:r>
            <a:r>
              <a:rPr sz="2400" i="1">
                <a:latin typeface="Times New Roman" panose="02020603050405020304" pitchFamily="18" charset="0"/>
                <a:cs typeface="Times New Roman" panose="02020603050405020304" pitchFamily="18" charset="0"/>
              </a:rPr>
              <a:t>R</a:t>
            </a:r>
            <a:r>
              <a:rPr sz="2400"/>
              <a:t>)和</a:t>
            </a:r>
            <a:r>
              <a:rPr sz="2400" i="1">
                <a:latin typeface="Times New Roman" panose="02020603050405020304" pitchFamily="18" charset="0"/>
                <a:cs typeface="Times New Roman" panose="02020603050405020304" pitchFamily="18" charset="0"/>
              </a:rPr>
              <a:t>E</a:t>
            </a:r>
            <a:r>
              <a:rPr sz="2400" i="1" baseline="-25000">
                <a:latin typeface="Times New Roman" panose="02020603050405020304" pitchFamily="18" charset="0"/>
                <a:cs typeface="Times New Roman" panose="02020603050405020304" pitchFamily="18" charset="0"/>
              </a:rPr>
              <a:t>e</a:t>
            </a:r>
            <a:r>
              <a:rPr sz="2400"/>
              <a:t>(</a:t>
            </a:r>
            <a:r>
              <a:rPr sz="2400" i="1">
                <a:latin typeface="Times New Roman" panose="02020603050405020304" pitchFamily="18" charset="0"/>
                <a:cs typeface="Times New Roman" panose="02020603050405020304" pitchFamily="18" charset="0"/>
              </a:rPr>
              <a:t>R</a:t>
            </a:r>
            <a:r>
              <a:rPr sz="2400"/>
              <a:t>)为正实函数，叫做误差指数。</a:t>
            </a:r>
          </a:p>
        </p:txBody>
      </p:sp>
      <p:graphicFrame>
        <p:nvGraphicFramePr>
          <p:cNvPr id="4" name="对象 3">
            <a:hlinkClick r:id="" action="ppaction://ole?verb=0"/>
          </p:cNvPr>
          <p:cNvGraphicFramePr>
            <a:graphicFrameLocks noChangeAspect="1"/>
          </p:cNvGraphicFramePr>
          <p:nvPr>
            <p:extLst>
              <p:ext uri="{D42A27DB-BD31-4B8C-83A1-F6EECF244321}">
                <p14:modId xmlns:p14="http://schemas.microsoft.com/office/powerpoint/2010/main" val="1378514808"/>
              </p:ext>
            </p:extLst>
          </p:nvPr>
        </p:nvGraphicFramePr>
        <p:xfrm>
          <a:off x="942015" y="3875169"/>
          <a:ext cx="1583690" cy="376555"/>
        </p:xfrm>
        <a:graphic>
          <a:graphicData uri="http://schemas.openxmlformats.org/presentationml/2006/ole">
            <mc:AlternateContent xmlns:mc="http://schemas.openxmlformats.org/markup-compatibility/2006">
              <mc:Choice xmlns:v="urn:schemas-microsoft-com:vml" Requires="v">
                <p:oleObj r:id="rId3" imgW="876300" imgH="203200" progId="Equation.KSEE3">
                  <p:embed/>
                </p:oleObj>
              </mc:Choice>
              <mc:Fallback>
                <p:oleObj r:id="rId3" imgW="876300" imgH="203200" progId="Equation.KSEE3">
                  <p:embed/>
                  <p:pic>
                    <p:nvPicPr>
                      <p:cNvPr id="4" name="对象 3">
                        <a:hlinkClick r:id="" action="ppaction://ole?verb=0"/>
                      </p:cNvPr>
                      <p:cNvPicPr/>
                      <p:nvPr/>
                    </p:nvPicPr>
                    <p:blipFill>
                      <a:blip r:embed="rId4"/>
                      <a:stretch>
                        <a:fillRect/>
                      </a:stretch>
                    </p:blipFill>
                    <p:spPr>
                      <a:xfrm>
                        <a:off x="942015" y="3875169"/>
                        <a:ext cx="1583690" cy="376555"/>
                      </a:xfrm>
                      <a:prstGeom prst="rect">
                        <a:avLst/>
                      </a:prstGeom>
                    </p:spPr>
                  </p:pic>
                </p:oleObj>
              </mc:Fallback>
            </mc:AlternateContent>
          </a:graphicData>
        </a:graphic>
      </p:graphicFrame>
      <p:graphicFrame>
        <p:nvGraphicFramePr>
          <p:cNvPr id="5" name="对象 4">
            <a:hlinkClick r:id="" action="ppaction://ole?verb=0"/>
          </p:cNvPr>
          <p:cNvGraphicFramePr>
            <a:graphicFrameLocks noChangeAspect="1"/>
          </p:cNvGraphicFramePr>
          <p:nvPr>
            <p:extLst>
              <p:ext uri="{D42A27DB-BD31-4B8C-83A1-F6EECF244321}">
                <p14:modId xmlns:p14="http://schemas.microsoft.com/office/powerpoint/2010/main" val="3959092724"/>
              </p:ext>
            </p:extLst>
          </p:nvPr>
        </p:nvGraphicFramePr>
        <p:xfrm>
          <a:off x="3221990" y="4336090"/>
          <a:ext cx="1637030" cy="379095"/>
        </p:xfrm>
        <a:graphic>
          <a:graphicData uri="http://schemas.openxmlformats.org/presentationml/2006/ole">
            <mc:AlternateContent xmlns:mc="http://schemas.openxmlformats.org/markup-compatibility/2006">
              <mc:Choice xmlns:v="urn:schemas-microsoft-com:vml" Requires="v">
                <p:oleObj r:id="rId5" imgW="901700" imgH="203200" progId="Equation.KSEE3">
                  <p:embed/>
                </p:oleObj>
              </mc:Choice>
              <mc:Fallback>
                <p:oleObj r:id="rId5" imgW="901700" imgH="203200" progId="Equation.KSEE3">
                  <p:embed/>
                  <p:pic>
                    <p:nvPicPr>
                      <p:cNvPr id="5" name="对象 4">
                        <a:hlinkClick r:id="" action="ppaction://ole?verb=0"/>
                      </p:cNvPr>
                      <p:cNvPicPr/>
                      <p:nvPr/>
                    </p:nvPicPr>
                    <p:blipFill>
                      <a:blip r:embed="rId6"/>
                      <a:stretch>
                        <a:fillRect/>
                      </a:stretch>
                    </p:blipFill>
                    <p:spPr>
                      <a:xfrm>
                        <a:off x="3221990" y="4336090"/>
                        <a:ext cx="1637030" cy="379095"/>
                      </a:xfrm>
                      <a:prstGeom prst="rect">
                        <a:avLst/>
                      </a:prstGeom>
                    </p:spPr>
                  </p:pic>
                </p:oleObj>
              </mc:Fallback>
            </mc:AlternateContent>
          </a:graphicData>
        </a:graphic>
      </p:graphicFrame>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科学哲学：过程比结果更重要</a:t>
            </a:r>
            <a:r>
              <a:rPr lang="en-US" altLang="zh-CN"/>
              <a:t>(</a:t>
            </a:r>
            <a:r>
              <a:rPr lang="zh-CN" altLang="en-US"/>
              <a:t>课堂思政</a:t>
            </a:r>
            <a:r>
              <a:rPr lang="en-US" altLang="zh-CN"/>
              <a:t>)</a:t>
            </a:r>
          </a:p>
        </p:txBody>
      </p:sp>
      <p:sp>
        <p:nvSpPr>
          <p:cNvPr id="3" name="内容占位符 2"/>
          <p:cNvSpPr>
            <a:spLocks noGrp="1"/>
          </p:cNvSpPr>
          <p:nvPr>
            <p:ph idx="1"/>
          </p:nvPr>
        </p:nvSpPr>
        <p:spPr>
          <a:xfrm>
            <a:off x="608330" y="1490345"/>
            <a:ext cx="10831830" cy="3271520"/>
          </a:xfrm>
        </p:spPr>
        <p:txBody>
          <a:bodyPr>
            <a:noAutofit/>
          </a:bodyPr>
          <a:lstStyle/>
          <a:p>
            <a:r>
              <a:rPr lang="zh-CN" sz="2400">
                <a:sym typeface="+mn-ea"/>
              </a:rPr>
              <a:t>香</a:t>
            </a:r>
            <a:r>
              <a:rPr sz="2400"/>
              <a:t>农编码定理解决了纠错码的存在性问题，虽然仙农当时未能构造出一个纠错码，但是从此之后纠错编码的研究与应用开始了前所未有的发展，人们一直在不停的努力解决构造性问题。为了接近信息传输率的上限，已经提出了很多的纠错编码技术。</a:t>
            </a:r>
          </a:p>
          <a:p>
            <a:r>
              <a:rPr sz="2400"/>
              <a:t>我们从</a:t>
            </a:r>
            <a:r>
              <a:rPr lang="zh-CN" sz="2400"/>
              <a:t>香</a:t>
            </a:r>
            <a:r>
              <a:rPr sz="2400"/>
              <a:t>农(1916-2001)生平故事中得到一个启示：富有创造性的富有成果的生活也可以是快乐的生活</a:t>
            </a:r>
            <a:r>
              <a:rPr lang="zh-CN" sz="2400"/>
              <a:t>。</a:t>
            </a:r>
          </a:p>
        </p:txBody>
      </p:sp>
      <p:graphicFrame>
        <p:nvGraphicFramePr>
          <p:cNvPr id="12" name="对象 11"/>
          <p:cNvGraphicFramePr/>
          <p:nvPr/>
        </p:nvGraphicFramePr>
        <p:xfrm>
          <a:off x="802640" y="4938395"/>
          <a:ext cx="5115560" cy="1207135"/>
        </p:xfrm>
        <a:graphic>
          <a:graphicData uri="http://schemas.openxmlformats.org/presentationml/2006/ole">
            <mc:AlternateContent xmlns:mc="http://schemas.openxmlformats.org/markup-compatibility/2006">
              <mc:Choice xmlns:v="urn:schemas-microsoft-com:vml" Requires="v">
                <p:oleObj r:id="rId3" imgW="5422900" imgH="1206500" progId="Paint.Picture">
                  <p:embed/>
                </p:oleObj>
              </mc:Choice>
              <mc:Fallback>
                <p:oleObj r:id="rId3" imgW="5422900" imgH="1206500" progId="Paint.Picture">
                  <p:embed/>
                  <p:pic>
                    <p:nvPicPr>
                      <p:cNvPr id="12" name="对象 11"/>
                      <p:cNvPicPr/>
                      <p:nvPr/>
                    </p:nvPicPr>
                    <p:blipFill>
                      <a:blip r:embed="rId4"/>
                      <a:stretch>
                        <a:fillRect/>
                      </a:stretch>
                    </p:blipFill>
                    <p:spPr>
                      <a:xfrm>
                        <a:off x="802640" y="4938395"/>
                        <a:ext cx="5115560" cy="1207135"/>
                      </a:xfrm>
                      <a:prstGeom prst="rect">
                        <a:avLst/>
                      </a:prstGeom>
                    </p:spPr>
                  </p:pic>
                </p:oleObj>
              </mc:Fallback>
            </mc:AlternateContent>
          </a:graphicData>
        </a:graphic>
      </p:graphicFrame>
      <p:graphicFrame>
        <p:nvGraphicFramePr>
          <p:cNvPr id="16" name="对象 15"/>
          <p:cNvGraphicFramePr/>
          <p:nvPr/>
        </p:nvGraphicFramePr>
        <p:xfrm>
          <a:off x="6175375" y="4938395"/>
          <a:ext cx="5028565" cy="1283970"/>
        </p:xfrm>
        <a:graphic>
          <a:graphicData uri="http://schemas.openxmlformats.org/presentationml/2006/ole">
            <mc:AlternateContent xmlns:mc="http://schemas.openxmlformats.org/markup-compatibility/2006">
              <mc:Choice xmlns:v="urn:schemas-microsoft-com:vml" Requires="v">
                <p:oleObj r:id="rId5" imgW="5422900" imgH="1282700" progId="Paint.Picture">
                  <p:embed/>
                </p:oleObj>
              </mc:Choice>
              <mc:Fallback>
                <p:oleObj r:id="rId5" imgW="5422900" imgH="1282700" progId="Paint.Picture">
                  <p:embed/>
                  <p:pic>
                    <p:nvPicPr>
                      <p:cNvPr id="16" name="对象 15"/>
                      <p:cNvPicPr/>
                      <p:nvPr/>
                    </p:nvPicPr>
                    <p:blipFill>
                      <a:blip r:embed="rId6"/>
                      <a:stretch>
                        <a:fillRect/>
                      </a:stretch>
                    </p:blipFill>
                    <p:spPr>
                      <a:xfrm>
                        <a:off x="6175375" y="4938395"/>
                        <a:ext cx="5028565" cy="1283970"/>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信道编码定理</a:t>
            </a:r>
          </a:p>
        </p:txBody>
      </p:sp>
      <p:sp>
        <p:nvSpPr>
          <p:cNvPr id="3" name="内容占位符 2"/>
          <p:cNvSpPr>
            <a:spLocks noGrp="1"/>
          </p:cNvSpPr>
          <p:nvPr>
            <p:ph idx="1"/>
          </p:nvPr>
        </p:nvSpPr>
        <p:spPr>
          <a:xfrm>
            <a:off x="608330" y="1490345"/>
            <a:ext cx="10831830" cy="3119755"/>
          </a:xfrm>
        </p:spPr>
        <p:txBody>
          <a:bodyPr>
            <a:noAutofit/>
          </a:bodyPr>
          <a:lstStyle/>
          <a:p>
            <a:r>
              <a:rPr lang="zh-CN" sz="2400" b="1">
                <a:solidFill>
                  <a:schemeClr val="accent6">
                    <a:lumMod val="75000"/>
                  </a:schemeClr>
                </a:solidFill>
                <a:sym typeface="+mn-ea"/>
              </a:rPr>
              <a:t>定理</a:t>
            </a:r>
            <a:r>
              <a:rPr sz="2400">
                <a:sym typeface="+mn-ea"/>
              </a:rPr>
              <a:t>：假设DMS有信源字符集</a:t>
            </a:r>
            <a:r>
              <a:rPr sz="2400" i="1">
                <a:latin typeface="Times New Roman" panose="02020603050405020304" pitchFamily="18" charset="0"/>
                <a:cs typeface="Times New Roman" panose="02020603050405020304" pitchFamily="18" charset="0"/>
                <a:sym typeface="+mn-ea"/>
              </a:rPr>
              <a:t>X</a:t>
            </a:r>
            <a:r>
              <a:rPr sz="2400">
                <a:sym typeface="+mn-ea"/>
              </a:rPr>
              <a:t>，熵为每信源符号</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a:sym typeface="+mn-ea"/>
              </a:rPr>
              <a:t>比特，而且信源每</a:t>
            </a:r>
            <a:r>
              <a:rPr sz="2400" i="1">
                <a:latin typeface="Times New Roman" panose="02020603050405020304" pitchFamily="18" charset="0"/>
                <a:cs typeface="Times New Roman" panose="02020603050405020304" pitchFamily="18" charset="0"/>
                <a:sym typeface="+mn-ea"/>
              </a:rPr>
              <a:t>T</a:t>
            </a:r>
            <a:r>
              <a:rPr sz="2400" i="1" baseline="-25000">
                <a:latin typeface="Times New Roman" panose="02020603050405020304" pitchFamily="18" charset="0"/>
                <a:cs typeface="Times New Roman" panose="02020603050405020304" pitchFamily="18" charset="0"/>
                <a:sym typeface="+mn-ea"/>
              </a:rPr>
              <a:t>s</a:t>
            </a:r>
            <a:r>
              <a:rPr sz="2400">
                <a:sym typeface="+mn-ea"/>
              </a:rPr>
              <a:t>秒产生一个符号，那么信源的平均信息率为每秒</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T</a:t>
            </a:r>
            <a:r>
              <a:rPr sz="2400" i="1" baseline="-25000">
                <a:latin typeface="Times New Roman" panose="02020603050405020304" pitchFamily="18" charset="0"/>
                <a:cs typeface="Times New Roman" panose="02020603050405020304" pitchFamily="18" charset="0"/>
                <a:sym typeface="+mn-ea"/>
              </a:rPr>
              <a:t>s</a:t>
            </a:r>
            <a:r>
              <a:rPr sz="2400">
                <a:sym typeface="+mn-ea"/>
              </a:rPr>
              <a:t>比特，假设信道可以每</a:t>
            </a:r>
            <a:r>
              <a:rPr sz="2400" i="1">
                <a:latin typeface="Times New Roman" panose="02020603050405020304" pitchFamily="18" charset="0"/>
                <a:cs typeface="Times New Roman" panose="02020603050405020304" pitchFamily="18" charset="0"/>
                <a:sym typeface="+mn-ea"/>
              </a:rPr>
              <a:t>T</a:t>
            </a:r>
            <a:r>
              <a:rPr lang="en-US" sz="2400" i="1" baseline="-25000">
                <a:latin typeface="Times New Roman" panose="02020603050405020304" pitchFamily="18" charset="0"/>
                <a:cs typeface="Times New Roman" panose="02020603050405020304" pitchFamily="18" charset="0"/>
                <a:sym typeface="+mn-ea"/>
              </a:rPr>
              <a:t>c</a:t>
            </a:r>
            <a:r>
              <a:rPr sz="2400">
                <a:sym typeface="+mn-ea"/>
              </a:rPr>
              <a:t>秒使用一次，而信道容量为每次信道使用</a:t>
            </a:r>
            <a:r>
              <a:rPr sz="2400" i="1">
                <a:latin typeface="Times New Roman" panose="02020603050405020304" pitchFamily="18" charset="0"/>
                <a:cs typeface="Times New Roman" panose="02020603050405020304" pitchFamily="18" charset="0"/>
                <a:sym typeface="+mn-ea"/>
              </a:rPr>
              <a:t>C</a:t>
            </a:r>
            <a:r>
              <a:rPr sz="2400">
                <a:sym typeface="+mn-ea"/>
              </a:rPr>
              <a:t>比特，那么每单位时间的信道容量为每秒钟</a:t>
            </a:r>
            <a:r>
              <a:rPr sz="2400" i="1">
                <a:latin typeface="Times New Roman" panose="02020603050405020304" pitchFamily="18" charset="0"/>
                <a:cs typeface="Times New Roman" panose="02020603050405020304" pitchFamily="18" charset="0"/>
                <a:sym typeface="+mn-ea"/>
              </a:rPr>
              <a:t>C</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T</a:t>
            </a:r>
            <a:r>
              <a:rPr lang="en-US" sz="2400" i="1" baseline="-25000">
                <a:latin typeface="Times New Roman" panose="02020603050405020304" pitchFamily="18" charset="0"/>
                <a:cs typeface="Times New Roman" panose="02020603050405020304" pitchFamily="18" charset="0"/>
                <a:sym typeface="+mn-ea"/>
              </a:rPr>
              <a:t>c</a:t>
            </a:r>
            <a:r>
              <a:rPr sz="2400">
                <a:sym typeface="+mn-ea"/>
              </a:rPr>
              <a:t>比特。如果</a:t>
            </a:r>
            <a:r>
              <a:rPr sz="2400" i="1">
                <a:latin typeface="Times New Roman" panose="02020603050405020304" pitchFamily="18" charset="0"/>
                <a:cs typeface="Times New Roman" panose="02020603050405020304" pitchFamily="18" charset="0"/>
                <a:sym typeface="+mn-ea"/>
              </a:rPr>
              <a:t>H</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X</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T</a:t>
            </a:r>
            <a:r>
              <a:rPr sz="2400" i="1" baseline="-25000">
                <a:latin typeface="Times New Roman" panose="02020603050405020304" pitchFamily="18" charset="0"/>
                <a:cs typeface="Times New Roman" panose="02020603050405020304" pitchFamily="18" charset="0"/>
                <a:sym typeface="+mn-ea"/>
              </a:rPr>
              <a:t>s</a:t>
            </a:r>
            <a:r>
              <a:rPr sz="2400">
                <a:latin typeface="Times New Roman" panose="02020603050405020304" pitchFamily="18" charset="0"/>
                <a:cs typeface="Times New Roman" panose="02020603050405020304" pitchFamily="18" charset="0"/>
                <a:sym typeface="+mn-ea"/>
              </a:rPr>
              <a:t>≤ </a:t>
            </a:r>
            <a:r>
              <a:rPr sz="2400" i="1">
                <a:latin typeface="Times New Roman" panose="02020603050405020304" pitchFamily="18" charset="0"/>
                <a:cs typeface="Times New Roman" panose="02020603050405020304" pitchFamily="18" charset="0"/>
                <a:sym typeface="+mn-ea"/>
              </a:rPr>
              <a:t>C</a:t>
            </a:r>
            <a:r>
              <a:rPr sz="2400">
                <a:latin typeface="Times New Roman" panose="02020603050405020304" pitchFamily="18" charset="0"/>
                <a:cs typeface="Times New Roman" panose="02020603050405020304" pitchFamily="18" charset="0"/>
                <a:sym typeface="+mn-ea"/>
              </a:rPr>
              <a:t>/</a:t>
            </a:r>
            <a:r>
              <a:rPr sz="2400" i="1">
                <a:latin typeface="Times New Roman" panose="02020603050405020304" pitchFamily="18" charset="0"/>
                <a:cs typeface="Times New Roman" panose="02020603050405020304" pitchFamily="18" charset="0"/>
                <a:sym typeface="+mn-ea"/>
              </a:rPr>
              <a:t>T</a:t>
            </a:r>
            <a:r>
              <a:rPr lang="en-US" sz="2400" i="1" baseline="-25000">
                <a:latin typeface="Times New Roman" panose="02020603050405020304" pitchFamily="18" charset="0"/>
                <a:cs typeface="Times New Roman" panose="02020603050405020304" pitchFamily="18" charset="0"/>
                <a:sym typeface="+mn-ea"/>
              </a:rPr>
              <a:t>c</a:t>
            </a:r>
            <a:r>
              <a:rPr sz="2400">
                <a:sym typeface="+mn-ea"/>
              </a:rPr>
              <a:t>，那么就存在编码方案使得在有噪声的信道上传输的信源消息，能够以任意小的错误概率进行恢复。</a:t>
            </a:r>
          </a:p>
        </p:txBody>
      </p:sp>
      <p:sp>
        <p:nvSpPr>
          <p:cNvPr id="6" name="矩形 5"/>
          <p:cNvSpPr/>
          <p:nvPr/>
        </p:nvSpPr>
        <p:spPr>
          <a:xfrm>
            <a:off x="997585" y="4750435"/>
            <a:ext cx="10134600" cy="135445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0" name="文本框 9"/>
          <p:cNvSpPr txBox="1"/>
          <p:nvPr/>
        </p:nvSpPr>
        <p:spPr>
          <a:xfrm>
            <a:off x="1122045" y="4813300"/>
            <a:ext cx="9888220" cy="1198880"/>
          </a:xfrm>
          <a:prstGeom prst="rect">
            <a:avLst/>
          </a:prstGeom>
          <a:noFill/>
        </p:spPr>
        <p:txBody>
          <a:bodyPr wrap="square" rtlCol="0" anchor="t">
            <a:spAutoFit/>
          </a:bodyPr>
          <a:lstStyle/>
          <a:p>
            <a:pPr marL="0" marR="0" lvl="0" indent="0" algn="just" defTabSz="914400" rtl="0" eaLnBrk="1" fontAlgn="auto" latinLnBrk="0" hangingPunct="1">
              <a:lnSpc>
                <a:spcPct val="120000"/>
              </a:lnSpc>
              <a:spcBef>
                <a:spcPts val="0"/>
              </a:spcBef>
              <a:spcAft>
                <a:spcPts val="0"/>
              </a:spcAft>
              <a:buClr>
                <a:srgbClr val="0563C1"/>
              </a:buClr>
              <a:buSzPct val="65000"/>
              <a:buFontTx/>
              <a:buNone/>
              <a:tabLst/>
              <a:defRPr/>
            </a:pPr>
            <a:r>
              <a:rPr kumimoji="0" lang="zh-CN" altLang="en-US" sz="2000" b="1" i="0" u="none" strike="noStrike" kern="1200" cap="none" spc="0" normalizeH="0" baseline="0" noProof="0">
                <a:ln>
                  <a:noFill/>
                </a:ln>
                <a:solidFill>
                  <a:srgbClr val="FF0000"/>
                </a:solidFill>
                <a:effectLst/>
                <a:uLnTx/>
                <a:uFillTx/>
                <a:latin typeface="楷体" panose="02010609060101010101" charset="-122"/>
                <a:ea typeface="楷体" panose="02010609060101010101" charset="-122"/>
                <a:cs typeface="+mn-cs"/>
              </a:rPr>
              <a:t>例子</a:t>
            </a:r>
            <a:r>
              <a:rPr kumimoji="0" sz="2000" b="1" i="0" u="none" strike="noStrike" kern="1200" cap="none" spc="0" normalizeH="0" baseline="0" noProof="0">
                <a:ln>
                  <a:noFill/>
                </a:ln>
                <a:solidFill>
                  <a:srgbClr val="FF0000"/>
                </a:solidFill>
                <a:effectLst/>
                <a:uLnTx/>
                <a:uFillTx/>
                <a:latin typeface="楷体" panose="02010609060101010101" charset="-122"/>
                <a:ea typeface="楷体" panose="02010609060101010101" charset="-122"/>
                <a:cs typeface="+mn-cs"/>
              </a:rPr>
              <a:t>：</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考虑BSC信道，信道容量</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C</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=1+</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p</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log2</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p</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 (1-</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p</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)log2(1-</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p</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)，如果转移概率</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p</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=10</a:t>
            </a:r>
            <a:r>
              <a:rPr kumimoji="0" sz="2000" b="1" i="0" u="none" strike="noStrike" kern="1200" cap="none" spc="0" normalizeH="0" baseline="3000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-2</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，则可计算出</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C</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=0.919，那么就可以知道肯定存在信息传输率为</a:t>
            </a:r>
            <a:r>
              <a:rPr kumimoji="0" sz="2000" b="1" i="1"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r</a:t>
            </a:r>
            <a:r>
              <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sym typeface="+mn-ea"/>
              </a:rPr>
              <a:t>≤0.919的编码方案，使得信息可以在有噪声的信道上传输的信源消息，能够以任意小的错误概率进行恢复。</a:t>
            </a:r>
            <a:endParaRPr kumimoji="0" sz="2000" b="1" i="0" u="none" strike="noStrike" kern="1200" cap="none" spc="0" normalizeH="0" baseline="0" noProof="0">
              <a:ln>
                <a:noFill/>
              </a:ln>
              <a:solidFill>
                <a:srgbClr val="0070C0"/>
              </a:solidFill>
              <a:effectLst/>
              <a:uLnTx/>
              <a:uFillTx/>
              <a:latin typeface="Times New Roman" panose="02020603050405020304" pitchFamily="18" charset="0"/>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srgbClr val="000000">
                    <a:tint val="75000"/>
                  </a:srgb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000" b="0" i="0" u="none" strike="noStrike" kern="1200" cap="none" spc="0" normalizeH="0" baseline="0" noProof="0">
              <a:ln>
                <a:noFill/>
              </a:ln>
              <a:solidFill>
                <a:srgbClr val="000000">
                  <a:tint val="75000"/>
                </a:srgbClr>
              </a:solidFill>
              <a:effectLst/>
              <a:uLnTx/>
              <a:uFillTx/>
              <a:latin typeface="Arial"/>
              <a:ea typeface="微软雅黑"/>
              <a:cs typeface="+mn-cs"/>
            </a:endParaRP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1701166" y="2819400"/>
            <a:ext cx="8738235" cy="685800"/>
          </a:xfrm>
        </p:spPr>
        <p:txBody>
          <a:bodyPr vert="horz" wrap="square" lIns="91440" tIns="45720" rIns="91440" bIns="45720" anchor="ctr"/>
          <a:lstStyle>
            <a:lvl1pPr lvl="0">
              <a:defRPr kern="1200"/>
            </a:lvl1pPr>
          </a:lstStyle>
          <a:p>
            <a:pPr lvl="0" algn="ctr" eaLnBrk="1" hangingPunct="1"/>
            <a:r>
              <a:rPr lang="zh-CN" altLang="en-US" sz="3600" dirty="0">
                <a:solidFill>
                  <a:schemeClr val="bg1"/>
                </a:solidFill>
                <a:latin typeface="黑体" panose="02010609060101010101" pitchFamily="49" charset="-122"/>
                <a:ea typeface="黑体" panose="02010609060101010101" pitchFamily="49" charset="-122"/>
                <a:sym typeface="+mn-ea"/>
              </a:rPr>
              <a:t>第三章 线性分组码</a:t>
            </a:r>
          </a:p>
        </p:txBody>
      </p:sp>
      <p:sp>
        <p:nvSpPr>
          <p:cNvPr id="2" name="文本框 1"/>
          <p:cNvSpPr txBox="1"/>
          <p:nvPr/>
        </p:nvSpPr>
        <p:spPr>
          <a:xfrm>
            <a:off x="3829686" y="3879851"/>
            <a:ext cx="4815205" cy="1731243"/>
          </a:xfrm>
          <a:prstGeom prst="rect">
            <a:avLst/>
          </a:prstGeom>
          <a:noFill/>
        </p:spPr>
        <p:txBody>
          <a:bodyPr wrap="square" rtlCol="0">
            <a:spAutoFit/>
          </a:bodyPr>
          <a:lstStyle/>
          <a:p>
            <a:pPr eaLnBrk="0" fontAlgn="base" hangingPunct="0">
              <a:lnSpc>
                <a:spcPts val="4500"/>
              </a:lnSpc>
              <a:spcBef>
                <a:spcPct val="0"/>
              </a:spcBef>
              <a:spcAft>
                <a:spcPct val="0"/>
              </a:spcAft>
            </a:pPr>
            <a:r>
              <a:rPr lang="zh-CN" altLang="en-US" sz="28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李丽香，彭海朋</a:t>
            </a:r>
            <a:endPar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endParaRPr>
          </a:p>
          <a:p>
            <a:pPr eaLnBrk="0" fontAlgn="base" hangingPunct="0">
              <a:lnSpc>
                <a:spcPts val="4500"/>
              </a:lnSpc>
              <a:spcBef>
                <a:spcPct val="0"/>
              </a:spcBef>
              <a:spcAft>
                <a:spcPct val="0"/>
              </a:spcAft>
            </a:pPr>
            <a:r>
              <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北京邮电大学网络空间安全学院</a:t>
            </a:r>
          </a:p>
          <a:p>
            <a:pPr eaLnBrk="0" fontAlgn="base" hangingPunct="0">
              <a:lnSpc>
                <a:spcPts val="4500"/>
              </a:lnSpc>
              <a:spcBef>
                <a:spcPct val="0"/>
              </a:spcBef>
              <a:spcAft>
                <a:spcPct val="0"/>
              </a:spcAft>
            </a:pPr>
            <a:r>
              <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网络与交换技术国家重点实验室</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课堂思政</a:t>
            </a:r>
          </a:p>
        </p:txBody>
      </p:sp>
      <p:sp>
        <p:nvSpPr>
          <p:cNvPr id="5122" name="文本占位符 120834"/>
          <p:cNvSpPr>
            <a:spLocks noGrp="1" noRot="1"/>
          </p:cNvSpPr>
          <p:nvPr>
            <p:ph idx="1"/>
          </p:nvPr>
        </p:nvSpPr>
        <p:spPr>
          <a:xfrm>
            <a:off x="2001520" y="5602606"/>
            <a:ext cx="8271510" cy="869315"/>
          </a:xfrm>
        </p:spPr>
        <p:txBody>
          <a:bodyPr anchor="t" anchorCtr="0"/>
          <a:lstStyle/>
          <a:p>
            <a:pPr marL="0" indent="508000">
              <a:lnSpc>
                <a:spcPct val="120000"/>
              </a:lnSpc>
              <a:spcBef>
                <a:spcPts val="0"/>
              </a:spcBef>
              <a:spcAft>
                <a:spcPts val="0"/>
              </a:spcAft>
              <a:buNone/>
              <a:extLst>
                <a:ext uri="{35155182-B16C-46BC-9424-99874614C6A1}">
                  <wpsdc:indentchars xmlns="" xmlns:wpsdc="http://www.wps.cn/officeDocument/2017/drawingmlCustomData" val="200" checksum="282533468"/>
                </a:ext>
              </a:extLst>
            </a:pPr>
            <a:r>
              <a:rPr lang="zh-CN" altLang="en-US" sz="2000" b="1">
                <a:latin typeface="楷体" panose="02010609060101010101" charset="-122"/>
                <a:ea typeface="楷体" panose="02010609060101010101" charset="-122"/>
                <a:cs typeface="Times New Roman" panose="02020603050405020304" pitchFamily="18" charset="0"/>
                <a:sym typeface="+mn-ea"/>
              </a:rPr>
              <a:t>数学是一种有趣的智力运动，但不允许它阻挡获取关于物理过程的有用信息</a:t>
            </a:r>
            <a:r>
              <a:rPr lang="zh-CN" altLang="en-US" sz="2000" b="1">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a:latin typeface="Times New Roman" panose="02020603050405020304" pitchFamily="18" charset="0"/>
                <a:ea typeface="黑体" panose="02010609060101010101" pitchFamily="49" charset="-122"/>
                <a:cs typeface="Times New Roman" panose="02020603050405020304" pitchFamily="18" charset="0"/>
                <a:sym typeface="+mn-ea"/>
              </a:rPr>
              <a:t>————Richard W. Hamming</a:t>
            </a:r>
          </a:p>
        </p:txBody>
      </p:sp>
      <p:graphicFrame>
        <p:nvGraphicFramePr>
          <p:cNvPr id="3" name="对象 2"/>
          <p:cNvGraphicFramePr/>
          <p:nvPr/>
        </p:nvGraphicFramePr>
        <p:xfrm>
          <a:off x="2034540" y="1143000"/>
          <a:ext cx="2071370" cy="2476500"/>
        </p:xfrm>
        <a:graphic>
          <a:graphicData uri="http://schemas.openxmlformats.org/presentationml/2006/ole">
            <mc:AlternateContent xmlns:mc="http://schemas.openxmlformats.org/markup-compatibility/2006">
              <mc:Choice xmlns:v="urn:schemas-microsoft-com:vml" Requires="v">
                <p:oleObj r:id="rId2" imgW="1206500" imgH="1581150" progId="Paint.Picture">
                  <p:embed/>
                </p:oleObj>
              </mc:Choice>
              <mc:Fallback>
                <p:oleObj r:id="rId2" imgW="1206500" imgH="1581150" progId="Paint.Picture">
                  <p:embed/>
                  <p:pic>
                    <p:nvPicPr>
                      <p:cNvPr id="3" name="对象 2"/>
                      <p:cNvPicPr/>
                      <p:nvPr/>
                    </p:nvPicPr>
                    <p:blipFill>
                      <a:blip r:embed="rId3"/>
                      <a:stretch>
                        <a:fillRect/>
                      </a:stretch>
                    </p:blipFill>
                    <p:spPr>
                      <a:xfrm>
                        <a:off x="2034540" y="1143000"/>
                        <a:ext cx="2071370" cy="2476500"/>
                      </a:xfrm>
                      <a:prstGeom prst="rect">
                        <a:avLst/>
                      </a:prstGeom>
                    </p:spPr>
                  </p:pic>
                </p:oleObj>
              </mc:Fallback>
            </mc:AlternateContent>
          </a:graphicData>
        </a:graphic>
      </p:graphicFrame>
      <p:sp>
        <p:nvSpPr>
          <p:cNvPr id="5" name="文本框 4"/>
          <p:cNvSpPr txBox="1"/>
          <p:nvPr/>
        </p:nvSpPr>
        <p:spPr>
          <a:xfrm>
            <a:off x="4265931" y="975360"/>
            <a:ext cx="6062345" cy="2491740"/>
          </a:xfrm>
          <a:prstGeom prst="rect">
            <a:avLst/>
          </a:prstGeom>
          <a:noFill/>
        </p:spPr>
        <p:txBody>
          <a:bodyPr wrap="square" rtlCol="0" anchor="t">
            <a:spAutoFit/>
          </a:bodyPr>
          <a:lstStyle/>
          <a:p>
            <a:pPr indent="508000" algn="just" eaLnBrk="0" fontAlgn="base" hangingPunct="0">
              <a:lnSpc>
                <a:spcPct val="130000"/>
              </a:lnSpc>
              <a:spcBef>
                <a:spcPct val="0"/>
              </a:spcBef>
              <a:spcAft>
                <a:spcPct val="0"/>
              </a:spcAft>
              <a:extLst>
                <a:ext uri="{35155182-B16C-46BC-9424-99874614C6A1}">
                  <wpsdc:indentchars xmlns="" xmlns:wpsdc="http://www.wps.cn/officeDocument/2017/drawingmlCustomData" val="200" checksum="282533468"/>
                </a:ext>
              </a:extLst>
            </a:pPr>
            <a:r>
              <a:rPr sz="20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1986年3月7日，</a:t>
            </a:r>
            <a:r>
              <a:rPr lang="zh-CN" altLang="en-US" sz="20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汉明</a:t>
            </a:r>
            <a:r>
              <a:rPr sz="20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在贝尔通信研究中心给200</a:t>
            </a:r>
            <a:r>
              <a:rPr sz="2000">
                <a:solidFill>
                  <a:srgbClr val="000000"/>
                </a:solidFill>
                <a:latin typeface="Arial" panose="020B0604020202020204" pitchFamily="34" charset="0"/>
                <a:ea typeface="宋体" panose="02010600030101010101" pitchFamily="2" charset="-122"/>
                <a:sym typeface="+mn-ea"/>
              </a:rPr>
              <a:t>多名科学家们，做了一次演讲，题目</a:t>
            </a:r>
            <a:r>
              <a:rPr lang="en-US" sz="2000">
                <a:solidFill>
                  <a:srgbClr val="000000"/>
                </a:solidFill>
                <a:latin typeface="Arial" panose="020B0604020202020204" pitchFamily="34" charset="0"/>
                <a:ea typeface="宋体" panose="02010600030101010101" pitchFamily="2" charset="-122"/>
                <a:sym typeface="+mn-ea"/>
              </a:rPr>
              <a:t>:</a:t>
            </a:r>
            <a:r>
              <a:rPr sz="2000">
                <a:solidFill>
                  <a:srgbClr val="000000"/>
                </a:solidFill>
                <a:latin typeface="Arial" panose="020B0604020202020204" pitchFamily="34" charset="0"/>
                <a:ea typeface="宋体" panose="02010600030101010101" pitchFamily="2" charset="-122"/>
                <a:sym typeface="+mn-ea"/>
              </a:rPr>
              <a:t>《你和你的研究》。他试图回答下面这样一个问题：</a:t>
            </a:r>
            <a:r>
              <a:rPr lang="en-US" sz="20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sz="2000" b="1">
                <a:solidFill>
                  <a:srgbClr val="0070C0"/>
                </a:solidFill>
                <a:latin typeface="Arial" panose="020B0604020202020204" pitchFamily="34" charset="0"/>
                <a:ea typeface="宋体" panose="02010600030101010101" pitchFamily="2" charset="-122"/>
                <a:sym typeface="+mn-ea"/>
              </a:rPr>
              <a:t>为什么有的科学家做出了影响深远的重大成果，而大多数其他人的成果都被历史遗忘了？</a:t>
            </a:r>
            <a:r>
              <a:rPr lang="en-US" sz="20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sz="2000">
                <a:solidFill>
                  <a:srgbClr val="000000"/>
                </a:solidFill>
                <a:latin typeface="Arial" panose="020B0604020202020204" pitchFamily="34" charset="0"/>
                <a:ea typeface="宋体" panose="02010600030101010101" pitchFamily="2" charset="-122"/>
                <a:sym typeface="+mn-ea"/>
              </a:rPr>
              <a:t>这篇演讲非常有名，每一个从事创造性工作的人，都应该读一下。</a:t>
            </a:r>
          </a:p>
        </p:txBody>
      </p:sp>
      <p:sp>
        <p:nvSpPr>
          <p:cNvPr id="7" name="文本框 6"/>
          <p:cNvSpPr txBox="1"/>
          <p:nvPr/>
        </p:nvSpPr>
        <p:spPr>
          <a:xfrm>
            <a:off x="2184401" y="3785871"/>
            <a:ext cx="3877945" cy="1630045"/>
          </a:xfrm>
          <a:prstGeom prst="rect">
            <a:avLst/>
          </a:prstGeom>
          <a:noFill/>
        </p:spPr>
        <p:txBody>
          <a:bodyPr wrap="square" rtlCol="0" anchor="t">
            <a:spAutoFit/>
          </a:bodyPr>
          <a:lstStyle/>
          <a:p>
            <a:pPr eaLnBrk="0" fontAlgn="base" hangingPunct="0">
              <a:spcBef>
                <a:spcPct val="0"/>
              </a:spcBef>
              <a:spcAft>
                <a:spcPct val="0"/>
              </a:spcAft>
            </a:pPr>
            <a:r>
              <a:rPr sz="2000" dirty="0">
                <a:solidFill>
                  <a:srgbClr val="FF0000"/>
                </a:solidFill>
                <a:latin typeface="Times New Roman" panose="02020603050405020304" pitchFamily="18" charset="0"/>
                <a:ea typeface="黑体" panose="02010609060101010101" pitchFamily="49" charset="-122"/>
                <a:sym typeface="+mn-ea"/>
              </a:rPr>
              <a:t>要有做大事的想法</a:t>
            </a:r>
          </a:p>
          <a:p>
            <a:pPr eaLnBrk="0" fontAlgn="base" hangingPunct="0">
              <a:spcBef>
                <a:spcPct val="0"/>
              </a:spcBef>
              <a:spcAft>
                <a:spcPct val="0"/>
              </a:spcAft>
            </a:pPr>
            <a:r>
              <a:rPr sz="2000" dirty="0">
                <a:solidFill>
                  <a:srgbClr val="FF0000"/>
                </a:solidFill>
                <a:latin typeface="Times New Roman" panose="02020603050405020304" pitchFamily="18" charset="0"/>
                <a:ea typeface="黑体" panose="02010609060101010101" pitchFamily="49" charset="-122"/>
                <a:sym typeface="+mn-ea"/>
              </a:rPr>
              <a:t>年轻的时候就要有勇气追求答案</a:t>
            </a:r>
          </a:p>
          <a:p>
            <a:pPr eaLnBrk="0" fontAlgn="base" hangingPunct="0">
              <a:spcBef>
                <a:spcPct val="0"/>
              </a:spcBef>
              <a:spcAft>
                <a:spcPct val="0"/>
              </a:spcAft>
            </a:pPr>
            <a:r>
              <a:rPr sz="2000" dirty="0">
                <a:solidFill>
                  <a:srgbClr val="FF0000"/>
                </a:solidFill>
                <a:latin typeface="Times New Roman" panose="02020603050405020304" pitchFamily="18" charset="0"/>
                <a:ea typeface="黑体" panose="02010609060101010101" pitchFamily="49" charset="-122"/>
                <a:sym typeface="+mn-ea"/>
              </a:rPr>
              <a:t>忍受不确定的状态</a:t>
            </a:r>
          </a:p>
          <a:p>
            <a:pPr eaLnBrk="0" fontAlgn="base" hangingPunct="0">
              <a:spcBef>
                <a:spcPct val="0"/>
              </a:spcBef>
              <a:spcAft>
                <a:spcPct val="0"/>
              </a:spcAft>
            </a:pPr>
            <a:r>
              <a:rPr sz="2000" dirty="0">
                <a:solidFill>
                  <a:srgbClr val="FF0000"/>
                </a:solidFill>
                <a:latin typeface="Times New Roman" panose="02020603050405020304" pitchFamily="18" charset="0"/>
                <a:ea typeface="黑体" panose="02010609060101010101" pitchFamily="49" charset="-122"/>
                <a:sym typeface="+mn-ea"/>
              </a:rPr>
              <a:t>比别人多努力10%</a:t>
            </a:r>
          </a:p>
          <a:p>
            <a:pPr eaLnBrk="0" fontAlgn="base" hangingPunct="0">
              <a:spcBef>
                <a:spcPct val="0"/>
              </a:spcBef>
              <a:spcAft>
                <a:spcPct val="0"/>
              </a:spcAft>
            </a:pPr>
            <a:r>
              <a:rPr sz="2000" dirty="0">
                <a:solidFill>
                  <a:srgbClr val="FF0000"/>
                </a:solidFill>
                <a:latin typeface="Times New Roman" panose="02020603050405020304" pitchFamily="18" charset="0"/>
                <a:ea typeface="黑体" panose="02010609060101010101" pitchFamily="49" charset="-122"/>
                <a:sym typeface="+mn-ea"/>
              </a:rPr>
              <a:t>全力投入重要的问题</a:t>
            </a:r>
          </a:p>
        </p:txBody>
      </p:sp>
      <p:sp>
        <p:nvSpPr>
          <p:cNvPr id="6" name="文本框 5"/>
          <p:cNvSpPr txBox="1"/>
          <p:nvPr/>
        </p:nvSpPr>
        <p:spPr>
          <a:xfrm>
            <a:off x="6257926" y="3509010"/>
            <a:ext cx="4260215" cy="1938020"/>
          </a:xfrm>
          <a:prstGeom prst="rect">
            <a:avLst/>
          </a:prstGeom>
          <a:noFill/>
        </p:spPr>
        <p:txBody>
          <a:bodyPr wrap="square" rtlCol="0" anchor="t">
            <a:spAutoFit/>
          </a:bodyPr>
          <a:lstStyle/>
          <a:p>
            <a:pPr eaLnBrk="0" fontAlgn="base" hangingPunct="0">
              <a:spcBef>
                <a:spcPct val="0"/>
              </a:spcBef>
              <a:spcAft>
                <a:spcPct val="0"/>
              </a:spcAft>
            </a:pPr>
            <a:r>
              <a:rPr sz="2000" dirty="0">
                <a:solidFill>
                  <a:srgbClr val="FF0000"/>
                </a:solidFill>
                <a:latin typeface="Times New Roman" panose="02020603050405020304" pitchFamily="18" charset="0"/>
                <a:ea typeface="黑体" panose="02010609060101010101" pitchFamily="49" charset="-122"/>
                <a:sym typeface="+mn-ea"/>
              </a:rPr>
              <a:t>敞开办公室大门</a:t>
            </a:r>
          </a:p>
          <a:p>
            <a:pPr eaLnBrk="0" fontAlgn="base" hangingPunct="0">
              <a:spcBef>
                <a:spcPct val="0"/>
              </a:spcBef>
              <a:spcAft>
                <a:spcPct val="0"/>
              </a:spcAft>
            </a:pPr>
            <a:r>
              <a:rPr sz="2000" dirty="0">
                <a:solidFill>
                  <a:srgbClr val="FF0000"/>
                </a:solidFill>
                <a:latin typeface="Times New Roman" panose="02020603050405020304" pitchFamily="18" charset="0"/>
                <a:ea typeface="黑体" panose="02010609060101010101" pitchFamily="49" charset="-122"/>
                <a:sym typeface="+mn-ea"/>
              </a:rPr>
              <a:t>做可以成为他人基石的工作</a:t>
            </a:r>
          </a:p>
          <a:p>
            <a:pPr eaLnBrk="0" fontAlgn="base" hangingPunct="0">
              <a:spcBef>
                <a:spcPct val="0"/>
              </a:spcBef>
              <a:spcAft>
                <a:spcPct val="0"/>
              </a:spcAft>
            </a:pPr>
            <a:r>
              <a:rPr sz="2000" dirty="0">
                <a:solidFill>
                  <a:srgbClr val="FF0000"/>
                </a:solidFill>
                <a:latin typeface="Times New Roman" panose="02020603050405020304" pitchFamily="18" charset="0"/>
                <a:ea typeface="黑体" panose="02010609060101010101" pitchFamily="49" charset="-122"/>
                <a:sym typeface="+mn-ea"/>
              </a:rPr>
              <a:t>重视推销和表达自己</a:t>
            </a:r>
          </a:p>
          <a:p>
            <a:pPr eaLnBrk="0" fontAlgn="base" hangingPunct="0">
              <a:spcBef>
                <a:spcPct val="0"/>
              </a:spcBef>
              <a:spcAft>
                <a:spcPct val="0"/>
              </a:spcAft>
            </a:pPr>
            <a:r>
              <a:rPr sz="2000" dirty="0">
                <a:solidFill>
                  <a:srgbClr val="FF0000"/>
                </a:solidFill>
                <a:latin typeface="Times New Roman" panose="02020603050405020304" pitchFamily="18" charset="0"/>
                <a:ea typeface="黑体" panose="02010609060101010101" pitchFamily="49" charset="-122"/>
                <a:sym typeface="+mn-ea"/>
              </a:rPr>
              <a:t>阅读方法比数量更重要</a:t>
            </a:r>
          </a:p>
          <a:p>
            <a:pPr eaLnBrk="0" fontAlgn="base" hangingPunct="0">
              <a:spcBef>
                <a:spcPct val="0"/>
              </a:spcBef>
              <a:spcAft>
                <a:spcPct val="0"/>
              </a:spcAft>
            </a:pPr>
            <a:r>
              <a:rPr sz="2000" dirty="0">
                <a:solidFill>
                  <a:srgbClr val="FF0000"/>
                </a:solidFill>
                <a:latin typeface="Times New Roman" panose="02020603050405020304" pitchFamily="18" charset="0"/>
                <a:ea typeface="黑体" panose="02010609060101010101" pitchFamily="49" charset="-122"/>
                <a:sym typeface="+mn-ea"/>
              </a:rPr>
              <a:t>重视写书</a:t>
            </a:r>
          </a:p>
          <a:p>
            <a:pPr eaLnBrk="0" fontAlgn="base" hangingPunct="0">
              <a:spcBef>
                <a:spcPct val="0"/>
              </a:spcBef>
              <a:spcAft>
                <a:spcPct val="0"/>
              </a:spcAft>
            </a:pPr>
            <a:r>
              <a:rPr sz="2000" dirty="0">
                <a:solidFill>
                  <a:srgbClr val="FF0000"/>
                </a:solidFill>
                <a:latin typeface="Times New Roman" panose="02020603050405020304" pitchFamily="18" charset="0"/>
                <a:ea typeface="黑体" panose="02010609060101010101" pitchFamily="49" charset="-122"/>
                <a:sym typeface="+mn-ea"/>
              </a:rPr>
              <a:t>远见超出你的能力时，才去做管理</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分组码</a:t>
            </a:r>
          </a:p>
        </p:txBody>
      </p:sp>
      <p:sp>
        <p:nvSpPr>
          <p:cNvPr id="11" name="内容占位符 2"/>
          <p:cNvSpPr txBox="1"/>
          <p:nvPr/>
        </p:nvSpPr>
        <p:spPr>
          <a:xfrm>
            <a:off x="3190876" y="1196976"/>
            <a:ext cx="5885815" cy="82232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2" name="文本框 11"/>
          <p:cNvSpPr txBox="1"/>
          <p:nvPr/>
        </p:nvSpPr>
        <p:spPr>
          <a:xfrm>
            <a:off x="3520440" y="1374776"/>
            <a:ext cx="5370830" cy="460375"/>
          </a:xfrm>
          <a:prstGeom prst="rect">
            <a:avLst/>
          </a:prstGeom>
          <a:noFill/>
        </p:spPr>
        <p:txBody>
          <a:bodyPr wrap="square" rtlCol="0" anchor="t">
            <a:spAutoFit/>
          </a:bodyPr>
          <a:lstStyle/>
          <a:p>
            <a:pPr eaLnBrk="0" fontAlgn="base" hangingPunct="0">
              <a:spcBef>
                <a:spcPct val="0"/>
              </a:spcBef>
              <a:spcAft>
                <a:spcPct val="0"/>
              </a:spcAft>
            </a:pPr>
            <a:r>
              <a:rPr sz="2400" dirty="0">
                <a:solidFill>
                  <a:srgbClr val="000000"/>
                </a:solidFill>
                <a:latin typeface="Times New Roman" panose="02020603050405020304" pitchFamily="18" charset="0"/>
                <a:ea typeface="黑体" panose="02010609060101010101" pitchFamily="49" charset="-122"/>
                <a:sym typeface="+mn-ea"/>
              </a:rPr>
              <a:t>分组码：将消息序列分组进行编码</a:t>
            </a:r>
          </a:p>
        </p:txBody>
      </p:sp>
      <p:sp>
        <p:nvSpPr>
          <p:cNvPr id="4" name="文本框 3"/>
          <p:cNvSpPr txBox="1"/>
          <p:nvPr/>
        </p:nvSpPr>
        <p:spPr>
          <a:xfrm>
            <a:off x="2718435" y="2420621"/>
            <a:ext cx="6518910" cy="460375"/>
          </a:xfrm>
          <a:prstGeom prst="rect">
            <a:avLst/>
          </a:prstGeom>
          <a:noFill/>
        </p:spPr>
        <p:txBody>
          <a:bodyPr wrap="square" rtlCol="0" anchor="t">
            <a:spAutoFit/>
          </a:bodyPr>
          <a:lstStyle/>
          <a:p>
            <a:pPr eaLnBrk="0" fontAlgn="base" hangingPunct="0">
              <a:spcBef>
                <a:spcPct val="0"/>
              </a:spcBef>
              <a:spcAft>
                <a:spcPct val="0"/>
              </a:spcAft>
            </a:pPr>
            <a:r>
              <a:rPr sz="2400" dirty="0">
                <a:solidFill>
                  <a:srgbClr val="000000"/>
                </a:solidFill>
                <a:latin typeface="Times New Roman" panose="02020603050405020304" pitchFamily="18" charset="0"/>
                <a:ea typeface="黑体" panose="02010609060101010101" pitchFamily="49" charset="-122"/>
                <a:sym typeface="+mn-ea"/>
              </a:rPr>
              <a:t>每组消息</a:t>
            </a:r>
            <a:r>
              <a:rPr sz="2400" i="1" dirty="0">
                <a:solidFill>
                  <a:srgbClr val="000000"/>
                </a:solidFill>
                <a:latin typeface="Times New Roman" panose="02020603050405020304" pitchFamily="18" charset="0"/>
                <a:ea typeface="黑体" panose="02010609060101010101" pitchFamily="49" charset="-122"/>
                <a:sym typeface="+mn-ea"/>
              </a:rPr>
              <a:t>u</a:t>
            </a:r>
            <a:r>
              <a:rPr sz="2400" dirty="0">
                <a:solidFill>
                  <a:srgbClr val="000000"/>
                </a:solidFill>
                <a:latin typeface="Times New Roman" panose="02020603050405020304" pitchFamily="18" charset="0"/>
                <a:ea typeface="黑体" panose="02010609060101010101" pitchFamily="49" charset="-122"/>
                <a:sym typeface="+mn-ea"/>
              </a:rPr>
              <a:t>有</a:t>
            </a:r>
            <a:r>
              <a:rPr sz="2400" i="1" dirty="0">
                <a:solidFill>
                  <a:srgbClr val="000000"/>
                </a:solidFill>
                <a:latin typeface="Times New Roman" panose="02020603050405020304" pitchFamily="18" charset="0"/>
                <a:ea typeface="黑体" panose="02010609060101010101" pitchFamily="49" charset="-122"/>
                <a:sym typeface="+mn-ea"/>
              </a:rPr>
              <a:t>k</a:t>
            </a:r>
            <a:r>
              <a:rPr sz="2400" dirty="0">
                <a:solidFill>
                  <a:srgbClr val="000000"/>
                </a:solidFill>
                <a:latin typeface="Times New Roman" panose="02020603050405020304" pitchFamily="18" charset="0"/>
                <a:ea typeface="黑体" panose="02010609060101010101" pitchFamily="49" charset="-122"/>
                <a:sym typeface="+mn-ea"/>
              </a:rPr>
              <a:t>个信息位，共有2</a:t>
            </a:r>
            <a:r>
              <a:rPr sz="2400" i="1" baseline="30000" dirty="0">
                <a:solidFill>
                  <a:srgbClr val="000000"/>
                </a:solidFill>
                <a:latin typeface="Times New Roman" panose="02020603050405020304" pitchFamily="18" charset="0"/>
                <a:ea typeface="黑体" panose="02010609060101010101" pitchFamily="49" charset="-122"/>
                <a:sym typeface="+mn-ea"/>
              </a:rPr>
              <a:t>k</a:t>
            </a:r>
            <a:r>
              <a:rPr sz="2400" dirty="0">
                <a:solidFill>
                  <a:srgbClr val="000000"/>
                </a:solidFill>
                <a:latin typeface="Times New Roman" panose="02020603050405020304" pitchFamily="18" charset="0"/>
                <a:ea typeface="黑体" panose="02010609060101010101" pitchFamily="49" charset="-122"/>
                <a:sym typeface="+mn-ea"/>
              </a:rPr>
              <a:t>个不同的消息</a:t>
            </a:r>
          </a:p>
        </p:txBody>
      </p:sp>
      <p:sp>
        <p:nvSpPr>
          <p:cNvPr id="5" name="内容占位符 2"/>
          <p:cNvSpPr txBox="1"/>
          <p:nvPr/>
        </p:nvSpPr>
        <p:spPr>
          <a:xfrm>
            <a:off x="1905001" y="3218816"/>
            <a:ext cx="8394065" cy="140271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2072640" y="3431541"/>
            <a:ext cx="8068310" cy="936347"/>
          </a:xfrm>
          <a:prstGeom prst="rect">
            <a:avLst/>
          </a:prstGeom>
          <a:noFill/>
        </p:spPr>
        <p:txBody>
          <a:bodyPr wrap="square" rtlCol="0" anchor="t">
            <a:spAutoFit/>
          </a:bodyPr>
          <a:lstStyle/>
          <a:p>
            <a:pPr eaLnBrk="0" fontAlgn="base" hangingPunct="0">
              <a:lnSpc>
                <a:spcPct val="120000"/>
              </a:lnSpc>
              <a:spcBef>
                <a:spcPct val="0"/>
              </a:spcBef>
              <a:spcAft>
                <a:spcPct val="0"/>
              </a:spcAft>
            </a:pPr>
            <a:r>
              <a:rPr sz="2400" dirty="0">
                <a:solidFill>
                  <a:srgbClr val="FF0000"/>
                </a:solidFill>
                <a:latin typeface="Times New Roman" panose="02020603050405020304" pitchFamily="18" charset="0"/>
                <a:ea typeface="黑体" panose="02010609060101010101" pitchFamily="49" charset="-122"/>
                <a:sym typeface="+mn-ea"/>
              </a:rPr>
              <a:t>码字</a:t>
            </a:r>
            <a:r>
              <a:rPr sz="2400" dirty="0">
                <a:solidFill>
                  <a:srgbClr val="000000"/>
                </a:solidFill>
                <a:latin typeface="Times New Roman" panose="02020603050405020304" pitchFamily="18" charset="0"/>
                <a:ea typeface="黑体" panose="02010609060101010101" pitchFamily="49" charset="-122"/>
                <a:sym typeface="+mn-ea"/>
              </a:rPr>
              <a:t>：编码器按照一定规则将每个输入消息</a:t>
            </a:r>
            <a:r>
              <a:rPr sz="2400" i="1" dirty="0">
                <a:solidFill>
                  <a:srgbClr val="000000"/>
                </a:solidFill>
                <a:latin typeface="Times New Roman" panose="02020603050405020304" pitchFamily="18" charset="0"/>
                <a:ea typeface="黑体" panose="02010609060101010101" pitchFamily="49" charset="-122"/>
                <a:sym typeface="+mn-ea"/>
              </a:rPr>
              <a:t>u</a:t>
            </a:r>
            <a:r>
              <a:rPr sz="2400" dirty="0">
                <a:solidFill>
                  <a:srgbClr val="000000"/>
                </a:solidFill>
                <a:latin typeface="Times New Roman" panose="02020603050405020304" pitchFamily="18" charset="0"/>
                <a:ea typeface="黑体" panose="02010609060101010101" pitchFamily="49" charset="-122"/>
                <a:sym typeface="+mn-ea"/>
              </a:rPr>
              <a:t>变换成二元</a:t>
            </a:r>
            <a:r>
              <a:rPr sz="2400" i="1" dirty="0">
                <a:solidFill>
                  <a:srgbClr val="000000"/>
                </a:solidFill>
                <a:latin typeface="Times New Roman" panose="02020603050405020304" pitchFamily="18" charset="0"/>
                <a:ea typeface="黑体" panose="02010609060101010101" pitchFamily="49" charset="-122"/>
                <a:sym typeface="+mn-ea"/>
              </a:rPr>
              <a:t>n</a:t>
            </a:r>
            <a:r>
              <a:rPr lang="en-US" sz="2400" i="1" dirty="0">
                <a:solidFill>
                  <a:srgbClr val="000000"/>
                </a:solidFill>
                <a:latin typeface="Times New Roman" panose="02020603050405020304" pitchFamily="18" charset="0"/>
                <a:ea typeface="黑体" panose="02010609060101010101" pitchFamily="49" charset="-122"/>
                <a:sym typeface="+mn-ea"/>
              </a:rPr>
              <a:t>	</a:t>
            </a:r>
            <a:r>
              <a:rPr sz="2400" dirty="0">
                <a:solidFill>
                  <a:srgbClr val="000000"/>
                </a:solidFill>
                <a:latin typeface="Times New Roman" panose="02020603050405020304" pitchFamily="18" charset="0"/>
                <a:ea typeface="黑体" panose="02010609060101010101" pitchFamily="49" charset="-122"/>
                <a:sym typeface="+mn-ea"/>
              </a:rPr>
              <a:t>重</a:t>
            </a:r>
            <a:r>
              <a:rPr sz="2400" i="1" dirty="0">
                <a:solidFill>
                  <a:srgbClr val="000000"/>
                </a:solidFill>
                <a:latin typeface="Times New Roman" panose="02020603050405020304" pitchFamily="18" charset="0"/>
                <a:ea typeface="黑体" panose="02010609060101010101" pitchFamily="49" charset="-122"/>
                <a:sym typeface="+mn-ea"/>
              </a:rPr>
              <a:t>v</a:t>
            </a:r>
            <a:r>
              <a:rPr sz="2400" dirty="0">
                <a:solidFill>
                  <a:srgbClr val="000000"/>
                </a:solidFill>
                <a:latin typeface="Times New Roman" panose="02020603050405020304" pitchFamily="18" charset="0"/>
                <a:ea typeface="黑体" panose="02010609060101010101" pitchFamily="49" charset="-122"/>
                <a:sym typeface="+mn-ea"/>
              </a:rPr>
              <a:t>，</a:t>
            </a:r>
            <a:r>
              <a:rPr sz="2400" i="1" dirty="0">
                <a:solidFill>
                  <a:srgbClr val="000000"/>
                </a:solidFill>
                <a:latin typeface="Times New Roman" panose="02020603050405020304" pitchFamily="18" charset="0"/>
                <a:ea typeface="黑体" panose="02010609060101010101" pitchFamily="49" charset="-122"/>
                <a:sym typeface="+mn-ea"/>
              </a:rPr>
              <a:t>n</a:t>
            </a:r>
            <a:r>
              <a:rPr sz="2400" dirty="0">
                <a:solidFill>
                  <a:srgbClr val="000000"/>
                </a:solidFill>
                <a:latin typeface="Times New Roman" panose="02020603050405020304" pitchFamily="18" charset="0"/>
                <a:ea typeface="黑体" panose="02010609060101010101" pitchFamily="49" charset="-122"/>
                <a:sym typeface="+mn-ea"/>
              </a:rPr>
              <a:t>&gt;</a:t>
            </a:r>
            <a:r>
              <a:rPr sz="2400" i="1" dirty="0">
                <a:solidFill>
                  <a:srgbClr val="000000"/>
                </a:solidFill>
                <a:latin typeface="Times New Roman" panose="02020603050405020304" pitchFamily="18" charset="0"/>
                <a:ea typeface="黑体" panose="02010609060101010101" pitchFamily="49" charset="-122"/>
                <a:sym typeface="+mn-ea"/>
              </a:rPr>
              <a:t>k</a:t>
            </a:r>
            <a:r>
              <a:rPr sz="2400" dirty="0">
                <a:solidFill>
                  <a:srgbClr val="000000"/>
                </a:solidFill>
                <a:latin typeface="Times New Roman" panose="02020603050405020304" pitchFamily="18" charset="0"/>
                <a:ea typeface="黑体" panose="02010609060101010101" pitchFamily="49" charset="-122"/>
                <a:sym typeface="+mn-ea"/>
              </a:rPr>
              <a:t>，这个二元</a:t>
            </a:r>
            <a:r>
              <a:rPr sz="2400" i="1" dirty="0">
                <a:solidFill>
                  <a:srgbClr val="000000"/>
                </a:solidFill>
                <a:latin typeface="Times New Roman" panose="02020603050405020304" pitchFamily="18" charset="0"/>
                <a:ea typeface="黑体" panose="02010609060101010101" pitchFamily="49" charset="-122"/>
                <a:sym typeface="+mn-ea"/>
              </a:rPr>
              <a:t>n</a:t>
            </a:r>
            <a:r>
              <a:rPr sz="2400" dirty="0">
                <a:solidFill>
                  <a:srgbClr val="000000"/>
                </a:solidFill>
                <a:latin typeface="Times New Roman" panose="02020603050405020304" pitchFamily="18" charset="0"/>
                <a:ea typeface="黑体" panose="02010609060101010101" pitchFamily="49" charset="-122"/>
                <a:sym typeface="+mn-ea"/>
              </a:rPr>
              <a:t>重</a:t>
            </a:r>
            <a:r>
              <a:rPr sz="2400" i="1" dirty="0">
                <a:solidFill>
                  <a:srgbClr val="000000"/>
                </a:solidFill>
                <a:latin typeface="Times New Roman" panose="02020603050405020304" pitchFamily="18" charset="0"/>
                <a:ea typeface="黑体" panose="02010609060101010101" pitchFamily="49" charset="-122"/>
                <a:sym typeface="+mn-ea"/>
              </a:rPr>
              <a:t>v</a:t>
            </a:r>
            <a:r>
              <a:rPr sz="2400" dirty="0">
                <a:solidFill>
                  <a:srgbClr val="000000"/>
                </a:solidFill>
                <a:latin typeface="Times New Roman" panose="02020603050405020304" pitchFamily="18" charset="0"/>
                <a:ea typeface="黑体" panose="02010609060101010101" pitchFamily="49" charset="-122"/>
                <a:sym typeface="+mn-ea"/>
              </a:rPr>
              <a:t>称作消息</a:t>
            </a:r>
            <a:r>
              <a:rPr sz="2400" i="1" dirty="0">
                <a:solidFill>
                  <a:srgbClr val="000000"/>
                </a:solidFill>
                <a:latin typeface="Times New Roman" panose="02020603050405020304" pitchFamily="18" charset="0"/>
                <a:ea typeface="黑体" panose="02010609060101010101" pitchFamily="49" charset="-122"/>
                <a:sym typeface="+mn-ea"/>
              </a:rPr>
              <a:t>u</a:t>
            </a:r>
            <a:r>
              <a:rPr sz="2400" dirty="0">
                <a:solidFill>
                  <a:srgbClr val="000000"/>
                </a:solidFill>
                <a:latin typeface="Times New Roman" panose="02020603050405020304" pitchFamily="18" charset="0"/>
                <a:ea typeface="黑体" panose="02010609060101010101" pitchFamily="49" charset="-122"/>
                <a:sym typeface="+mn-ea"/>
              </a:rPr>
              <a:t>的码字或码矢。</a:t>
            </a:r>
          </a:p>
        </p:txBody>
      </p:sp>
      <p:sp>
        <p:nvSpPr>
          <p:cNvPr id="7" name="文本框 6"/>
          <p:cNvSpPr txBox="1"/>
          <p:nvPr/>
        </p:nvSpPr>
        <p:spPr>
          <a:xfrm>
            <a:off x="3544570" y="4994911"/>
            <a:ext cx="5506720" cy="460375"/>
          </a:xfrm>
          <a:prstGeom prst="rect">
            <a:avLst/>
          </a:prstGeom>
          <a:noFill/>
        </p:spPr>
        <p:txBody>
          <a:bodyPr wrap="square" rtlCol="0" anchor="t">
            <a:spAutoFit/>
          </a:bodyPr>
          <a:lstStyle/>
          <a:p>
            <a:pPr eaLnBrk="0" fontAlgn="base" hangingPunct="0">
              <a:spcBef>
                <a:spcPct val="0"/>
              </a:spcBef>
              <a:spcAft>
                <a:spcPct val="0"/>
              </a:spcAft>
            </a:pPr>
            <a:r>
              <a:rPr sz="2400" dirty="0">
                <a:solidFill>
                  <a:srgbClr val="000000"/>
                </a:solidFill>
                <a:latin typeface="Times New Roman" panose="02020603050405020304" pitchFamily="18" charset="0"/>
                <a:ea typeface="黑体" panose="02010609060101010101" pitchFamily="49" charset="-122"/>
                <a:sym typeface="+mn-ea"/>
              </a:rPr>
              <a:t>所有2</a:t>
            </a:r>
            <a:r>
              <a:rPr sz="2400" i="1" baseline="30000" dirty="0">
                <a:solidFill>
                  <a:srgbClr val="000000"/>
                </a:solidFill>
                <a:latin typeface="Times New Roman" panose="02020603050405020304" pitchFamily="18" charset="0"/>
                <a:ea typeface="黑体" panose="02010609060101010101" pitchFamily="49" charset="-122"/>
                <a:sym typeface="+mn-ea"/>
              </a:rPr>
              <a:t>k</a:t>
            </a:r>
            <a:r>
              <a:rPr sz="2400" dirty="0">
                <a:solidFill>
                  <a:srgbClr val="000000"/>
                </a:solidFill>
                <a:latin typeface="Times New Roman" panose="02020603050405020304" pitchFamily="18" charset="0"/>
                <a:ea typeface="黑体" panose="02010609060101010101" pitchFamily="49" charset="-122"/>
                <a:sym typeface="+mn-ea"/>
              </a:rPr>
              <a:t>个码字组成的集合称作是分组码</a:t>
            </a:r>
          </a:p>
        </p:txBody>
      </p:sp>
      <p:sp>
        <p:nvSpPr>
          <p:cNvPr id="9" name="矩形 8"/>
          <p:cNvSpPr/>
          <p:nvPr/>
        </p:nvSpPr>
        <p:spPr>
          <a:xfrm>
            <a:off x="3234690" y="5711190"/>
            <a:ext cx="6113780" cy="5702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8" name="文本框 7"/>
          <p:cNvSpPr txBox="1"/>
          <p:nvPr/>
        </p:nvSpPr>
        <p:spPr>
          <a:xfrm>
            <a:off x="3497581" y="5737861"/>
            <a:ext cx="5737225" cy="426335"/>
          </a:xfrm>
          <a:prstGeom prst="rect">
            <a:avLst/>
          </a:prstGeom>
          <a:noFill/>
        </p:spPr>
        <p:txBody>
          <a:bodyPr wrap="square" rtlCol="0" anchor="t">
            <a:spAutoFit/>
          </a:bodyPr>
          <a:lstStyle/>
          <a:p>
            <a:pPr algn="just" eaLnBrk="0" fontAlgn="base" hangingPunct="0">
              <a:lnSpc>
                <a:spcPct val="120000"/>
              </a:lnSpc>
              <a:spcAft>
                <a:spcPct val="0"/>
              </a:spcAft>
              <a:buClr>
                <a:srgbClr val="CCCCFF"/>
              </a:buClr>
              <a:buSzPct val="65000"/>
            </a:pPr>
            <a:r>
              <a:rPr sz="2000" b="1">
                <a:solidFill>
                  <a:srgbClr val="FF0000"/>
                </a:solidFill>
                <a:latin typeface="楷体" panose="02010609060101010101" charset="-122"/>
                <a:ea typeface="楷体" panose="02010609060101010101" charset="-122"/>
              </a:rPr>
              <a:t>思考题：</a:t>
            </a:r>
            <a:r>
              <a:rPr lang="zh-CN" altLang="en-US" sz="2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为什么在分组码中码字的个数是</a:t>
            </a:r>
            <a:r>
              <a:rPr sz="2000" dirty="0">
                <a:solidFill>
                  <a:srgbClr val="000000"/>
                </a:solidFill>
                <a:latin typeface="Times New Roman" panose="02020603050405020304" pitchFamily="18" charset="0"/>
                <a:ea typeface="黑体" panose="02010609060101010101" pitchFamily="49" charset="-122"/>
                <a:sym typeface="+mn-ea"/>
              </a:rPr>
              <a:t>2</a:t>
            </a:r>
            <a:r>
              <a:rPr sz="2000" i="1" baseline="30000" dirty="0">
                <a:solidFill>
                  <a:srgbClr val="000000"/>
                </a:solidFill>
                <a:latin typeface="Times New Roman" panose="02020603050405020304" pitchFamily="18" charset="0"/>
                <a:ea typeface="黑体" panose="02010609060101010101" pitchFamily="49" charset="-122"/>
                <a:sym typeface="+mn-ea"/>
              </a:rPr>
              <a:t>k</a:t>
            </a:r>
            <a:r>
              <a:rPr sz="2000" dirty="0">
                <a:solidFill>
                  <a:srgbClr val="000000"/>
                </a:solidFill>
                <a:latin typeface="Times New Roman" panose="02020603050405020304" pitchFamily="18" charset="0"/>
                <a:ea typeface="黑体" panose="02010609060101010101" pitchFamily="49" charset="-122"/>
                <a:sym typeface="+mn-ea"/>
              </a:rPr>
              <a:t>个</a:t>
            </a:r>
            <a:r>
              <a:rPr lang="en-US" sz="2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线性分组码</a:t>
            </a:r>
          </a:p>
        </p:txBody>
      </p:sp>
      <p:sp>
        <p:nvSpPr>
          <p:cNvPr id="12" name="文本框 11"/>
          <p:cNvSpPr txBox="1"/>
          <p:nvPr/>
        </p:nvSpPr>
        <p:spPr>
          <a:xfrm>
            <a:off x="3520440" y="1072516"/>
            <a:ext cx="5129530" cy="460375"/>
          </a:xfrm>
          <a:prstGeom prst="rect">
            <a:avLst/>
          </a:prstGeom>
          <a:noFill/>
        </p:spPr>
        <p:txBody>
          <a:bodyPr wrap="square" rtlCol="0" anchor="t">
            <a:spAutoFit/>
          </a:bodyPr>
          <a:lstStyle/>
          <a:p>
            <a:pPr eaLnBrk="0" fontAlgn="base" hangingPunct="0">
              <a:spcBef>
                <a:spcPct val="0"/>
              </a:spcBef>
              <a:spcAft>
                <a:spcPct val="0"/>
              </a:spcAft>
            </a:pPr>
            <a:r>
              <a:rPr sz="2400" dirty="0">
                <a:solidFill>
                  <a:srgbClr val="000000"/>
                </a:solidFill>
                <a:latin typeface="Times New Roman" panose="02020603050405020304" pitchFamily="18" charset="0"/>
                <a:ea typeface="黑体" panose="02010609060101010101" pitchFamily="49" charset="-122"/>
                <a:sym typeface="+mn-ea"/>
              </a:rPr>
              <a:t>线性分组码</a:t>
            </a:r>
            <a:r>
              <a:rPr lang="zh-CN" altLang="en-US" sz="2400" dirty="0">
                <a:solidFill>
                  <a:srgbClr val="000000"/>
                </a:solidFill>
                <a:latin typeface="Times New Roman" panose="02020603050405020304" pitchFamily="18" charset="0"/>
                <a:ea typeface="黑体" panose="02010609060101010101" pitchFamily="49" charset="-122"/>
                <a:sym typeface="+mn-ea"/>
              </a:rPr>
              <a:t>即</a:t>
            </a:r>
            <a:r>
              <a:rPr sz="2400" dirty="0">
                <a:solidFill>
                  <a:srgbClr val="000000"/>
                </a:solidFill>
                <a:latin typeface="Times New Roman" panose="02020603050405020304" pitchFamily="18" charset="0"/>
                <a:ea typeface="黑体" panose="02010609060101010101" pitchFamily="49" charset="-122"/>
                <a:sym typeface="+mn-ea"/>
              </a:rPr>
              <a:t>具有线性性质的分组码</a:t>
            </a:r>
          </a:p>
        </p:txBody>
      </p:sp>
      <p:sp>
        <p:nvSpPr>
          <p:cNvPr id="5" name="内容占位符 2"/>
          <p:cNvSpPr txBox="1"/>
          <p:nvPr/>
        </p:nvSpPr>
        <p:spPr>
          <a:xfrm>
            <a:off x="2050415" y="2387601"/>
            <a:ext cx="3714750" cy="306895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2192656" y="2449196"/>
            <a:ext cx="3322955" cy="296862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sz="2400" dirty="0">
                <a:solidFill>
                  <a:srgbClr val="000000"/>
                </a:solidFill>
                <a:latin typeface="Times New Roman" panose="02020603050405020304" pitchFamily="18" charset="0"/>
                <a:ea typeface="黑体" panose="02010609060101010101" pitchFamily="49" charset="-122"/>
                <a:sym typeface="+mn-ea"/>
              </a:rPr>
              <a:t>定义：长为</a:t>
            </a:r>
            <a:r>
              <a:rPr sz="2400" i="1" dirty="0">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sz="2400" dirty="0">
                <a:solidFill>
                  <a:srgbClr val="000000"/>
                </a:solidFill>
                <a:latin typeface="Times New Roman" panose="02020603050405020304" pitchFamily="18" charset="0"/>
                <a:ea typeface="黑体" panose="02010609060101010101" pitchFamily="49" charset="-122"/>
                <a:sym typeface="+mn-ea"/>
              </a:rPr>
              <a:t>有2</a:t>
            </a:r>
            <a:r>
              <a:rPr sz="2400" i="1" baseline="30000" dirty="0">
                <a:solidFill>
                  <a:srgbClr val="000000"/>
                </a:solidFill>
                <a:latin typeface="Times New Roman" panose="02020603050405020304" pitchFamily="18" charset="0"/>
                <a:ea typeface="黑体" panose="02010609060101010101" pitchFamily="49" charset="-122"/>
                <a:sym typeface="+mn-ea"/>
              </a:rPr>
              <a:t>k</a:t>
            </a:r>
            <a:r>
              <a:rPr sz="2400" dirty="0">
                <a:solidFill>
                  <a:srgbClr val="000000"/>
                </a:solidFill>
                <a:latin typeface="Times New Roman" panose="02020603050405020304" pitchFamily="18" charset="0"/>
                <a:ea typeface="黑体" panose="02010609060101010101" pitchFamily="49" charset="-122"/>
                <a:sym typeface="+mn-ea"/>
              </a:rPr>
              <a:t>个码字的分组码，当且仅当其2</a:t>
            </a:r>
            <a:r>
              <a:rPr sz="2400" i="1" baseline="30000" dirty="0">
                <a:solidFill>
                  <a:srgbClr val="000000"/>
                </a:solidFill>
                <a:latin typeface="Times New Roman" panose="02020603050405020304" pitchFamily="18" charset="0"/>
                <a:ea typeface="黑体" panose="02010609060101010101" pitchFamily="49" charset="-122"/>
                <a:sym typeface="+mn-ea"/>
              </a:rPr>
              <a:t>k</a:t>
            </a:r>
            <a:r>
              <a:rPr sz="2400" dirty="0">
                <a:solidFill>
                  <a:srgbClr val="000000"/>
                </a:solidFill>
                <a:latin typeface="Times New Roman" panose="02020603050405020304" pitchFamily="18" charset="0"/>
                <a:ea typeface="黑体" panose="02010609060101010101" pitchFamily="49" charset="-122"/>
                <a:sym typeface="+mn-ea"/>
              </a:rPr>
              <a:t>个码字构成GF(2)上所有</a:t>
            </a:r>
            <a:r>
              <a:rPr sz="2400" i="1" dirty="0">
                <a:solidFill>
                  <a:srgbClr val="000000"/>
                </a:solidFill>
                <a:latin typeface="Times New Roman" panose="02020603050405020304" pitchFamily="18" charset="0"/>
                <a:ea typeface="黑体" panose="02010609060101010101" pitchFamily="49" charset="-122"/>
                <a:sym typeface="+mn-ea"/>
              </a:rPr>
              <a:t>n</a:t>
            </a:r>
            <a:r>
              <a:rPr sz="2400" dirty="0">
                <a:solidFill>
                  <a:srgbClr val="000000"/>
                </a:solidFill>
                <a:latin typeface="Times New Roman" panose="02020603050405020304" pitchFamily="18" charset="0"/>
                <a:ea typeface="黑体" panose="02010609060101010101" pitchFamily="49" charset="-122"/>
                <a:sym typeface="+mn-ea"/>
              </a:rPr>
              <a:t>重矢量空间的一个</a:t>
            </a:r>
            <a:r>
              <a:rPr sz="2400" i="1" dirty="0">
                <a:solidFill>
                  <a:srgbClr val="000000"/>
                </a:solidFill>
                <a:latin typeface="Times New Roman" panose="02020603050405020304" pitchFamily="18" charset="0"/>
                <a:ea typeface="黑体" panose="02010609060101010101" pitchFamily="49" charset="-122"/>
                <a:sym typeface="+mn-ea"/>
              </a:rPr>
              <a:t>k</a:t>
            </a:r>
            <a:r>
              <a:rPr sz="2400" dirty="0">
                <a:solidFill>
                  <a:srgbClr val="000000"/>
                </a:solidFill>
                <a:latin typeface="Times New Roman" panose="02020603050405020304" pitchFamily="18" charset="0"/>
                <a:ea typeface="黑体" panose="02010609060101010101" pitchFamily="49" charset="-122"/>
                <a:sym typeface="+mn-ea"/>
              </a:rPr>
              <a:t>维子空间时，称作</a:t>
            </a:r>
            <a:r>
              <a:rPr sz="2400" dirty="0">
                <a:solidFill>
                  <a:srgbClr val="FF0000"/>
                </a:solidFill>
                <a:latin typeface="Times New Roman" panose="02020603050405020304" pitchFamily="18" charset="0"/>
                <a:ea typeface="黑体" panose="02010609060101010101" pitchFamily="49" charset="-122"/>
                <a:sym typeface="+mn-ea"/>
              </a:rPr>
              <a:t>线性(</a:t>
            </a:r>
            <a:r>
              <a:rPr sz="2400" i="1" dirty="0">
                <a:solidFill>
                  <a:srgbClr val="FF0000"/>
                </a:solidFill>
                <a:latin typeface="Times New Roman" panose="02020603050405020304" pitchFamily="18" charset="0"/>
                <a:ea typeface="黑体" panose="02010609060101010101" pitchFamily="49" charset="-122"/>
                <a:sym typeface="+mn-ea"/>
              </a:rPr>
              <a:t>n</a:t>
            </a:r>
            <a:r>
              <a:rPr sz="2400" dirty="0">
                <a:solidFill>
                  <a:srgbClr val="FF0000"/>
                </a:solidFill>
                <a:latin typeface="Times New Roman" panose="02020603050405020304" pitchFamily="18" charset="0"/>
                <a:ea typeface="黑体" panose="02010609060101010101" pitchFamily="49" charset="-122"/>
                <a:sym typeface="+mn-ea"/>
              </a:rPr>
              <a:t>,</a:t>
            </a:r>
            <a:r>
              <a:rPr lang="en-US" sz="2400" dirty="0">
                <a:solidFill>
                  <a:srgbClr val="FF0000"/>
                </a:solidFill>
                <a:latin typeface="Times New Roman" panose="02020603050405020304" pitchFamily="18" charset="0"/>
                <a:ea typeface="黑体" panose="02010609060101010101" pitchFamily="49" charset="-122"/>
                <a:sym typeface="+mn-ea"/>
              </a:rPr>
              <a:t> </a:t>
            </a:r>
            <a:r>
              <a:rPr sz="2400" i="1" dirty="0">
                <a:solidFill>
                  <a:srgbClr val="FF0000"/>
                </a:solidFill>
                <a:latin typeface="Times New Roman" panose="02020603050405020304" pitchFamily="18" charset="0"/>
                <a:ea typeface="黑体" panose="02010609060101010101" pitchFamily="49" charset="-122"/>
                <a:sym typeface="+mn-ea"/>
              </a:rPr>
              <a:t>k</a:t>
            </a:r>
            <a:r>
              <a:rPr sz="2400" dirty="0">
                <a:solidFill>
                  <a:srgbClr val="FF0000"/>
                </a:solidFill>
                <a:latin typeface="Times New Roman" panose="02020603050405020304" pitchFamily="18" charset="0"/>
                <a:ea typeface="黑体" panose="02010609060101010101" pitchFamily="49" charset="-122"/>
                <a:sym typeface="+mn-ea"/>
              </a:rPr>
              <a:t>)分组码</a:t>
            </a:r>
            <a:r>
              <a:rPr sz="2400" dirty="0">
                <a:solidFill>
                  <a:srgbClr val="000000"/>
                </a:solidFill>
                <a:latin typeface="Times New Roman" panose="02020603050405020304" pitchFamily="18" charset="0"/>
                <a:ea typeface="黑体" panose="02010609060101010101" pitchFamily="49" charset="-122"/>
                <a:sym typeface="+mn-ea"/>
              </a:rPr>
              <a:t>。</a:t>
            </a:r>
          </a:p>
        </p:txBody>
      </p:sp>
      <p:graphicFrame>
        <p:nvGraphicFramePr>
          <p:cNvPr id="3" name="内容占位符 2"/>
          <p:cNvGraphicFramePr>
            <a:graphicFrameLocks noGrp="1"/>
          </p:cNvGraphicFramePr>
          <p:nvPr>
            <p:ph idx="1"/>
            <p:custDataLst>
              <p:tags r:id="rId1"/>
            </p:custDataLst>
          </p:nvPr>
        </p:nvGraphicFramePr>
        <p:xfrm>
          <a:off x="6507480" y="2072640"/>
          <a:ext cx="3620770" cy="4260850"/>
        </p:xfrm>
        <a:graphic>
          <a:graphicData uri="http://schemas.openxmlformats.org/drawingml/2006/table">
            <a:tbl>
              <a:tblPr/>
              <a:tblGrid>
                <a:gridCol w="1810385">
                  <a:extLst>
                    <a:ext uri="{9D8B030D-6E8A-4147-A177-3AD203B41FA5}">
                      <a16:colId xmlns:a16="http://schemas.microsoft.com/office/drawing/2014/main" val="20000"/>
                    </a:ext>
                  </a:extLst>
                </a:gridCol>
                <a:gridCol w="1810385">
                  <a:extLst>
                    <a:ext uri="{9D8B030D-6E8A-4147-A177-3AD203B41FA5}">
                      <a16:colId xmlns:a16="http://schemas.microsoft.com/office/drawing/2014/main" val="20001"/>
                    </a:ext>
                  </a:extLst>
                </a:gridCol>
              </a:tblGrid>
              <a:tr h="4260850">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400" b="1">
                          <a:latin typeface="Times New Roman" panose="02020603050405020304" pitchFamily="18" charset="0"/>
                        </a:rPr>
                        <a:t>message</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0 0 0 0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1 0 0 0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0 1 0 0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1 1 0 0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0 0 1 0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1 0 1 0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0 1 1 0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1 1 1 0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0 0 0 1</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1 0 0 1</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0 1 0 1</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1 1 0 1</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0 0 1 1</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0 1 1 1</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1 1 1 1</a:t>
                      </a:r>
                      <a:r>
                        <a:rPr lang="zh-CN" altLang="en-US" sz="1400" b="1" dirty="0">
                          <a:latin typeface="Times New Roman" panose="02020603050405020304" pitchFamily="18" charset="0"/>
                        </a:rPr>
                        <a:t>）</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400" b="1">
                          <a:latin typeface="Times New Roman" panose="02020603050405020304" pitchFamily="18" charset="0"/>
                        </a:rPr>
                        <a:t>Code words</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0 0 0 0 0 0 0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1 1 0 1 0 0 0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0 1 1 0 1 0 0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1 0 1 1 1 0 0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1 1 1 0 0 1 0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0 0 1 1 0 1 0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1 0 0 0 1 1 0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0 1 0 1 1 1 0</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1 0 1 0 0 0 1</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0 1 1 1 0 0 1</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1 1 0 0 1 0 1</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0 0 0 1 1 0 1</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0 1 0 0 0 1 1</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0 0 1 0 1 1 1</a:t>
                      </a:r>
                      <a:r>
                        <a:rPr lang="zh-CN" altLang="en-US" sz="1400" b="1" dirty="0">
                          <a:latin typeface="Times New Roman" panose="02020603050405020304" pitchFamily="18" charset="0"/>
                        </a:rPr>
                        <a:t>）</a:t>
                      </a:r>
                    </a:p>
                    <a:p>
                      <a:pPr marL="0" lvl="0" indent="0" algn="ctr">
                        <a:buNone/>
                      </a:pPr>
                      <a:r>
                        <a:rPr lang="zh-CN" altLang="en-US" sz="1400" b="1" dirty="0">
                          <a:latin typeface="Times New Roman" panose="02020603050405020304" pitchFamily="18" charset="0"/>
                        </a:rPr>
                        <a:t>（</a:t>
                      </a:r>
                      <a:r>
                        <a:rPr lang="en-US" altLang="zh-CN" sz="1400" b="1">
                          <a:latin typeface="Times New Roman" panose="02020603050405020304" pitchFamily="18" charset="0"/>
                        </a:rPr>
                        <a:t>1 1 1 1 1 1 1</a:t>
                      </a:r>
                      <a:r>
                        <a:rPr lang="zh-CN" altLang="en-US" sz="1400" b="1" dirty="0">
                          <a:latin typeface="Times New Roman" panose="02020603050405020304" pitchFamily="18" charset="0"/>
                        </a:rPr>
                        <a:t>）</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 name="文本框 7"/>
          <p:cNvSpPr txBox="1"/>
          <p:nvPr/>
        </p:nvSpPr>
        <p:spPr>
          <a:xfrm>
            <a:off x="6851651" y="1724026"/>
            <a:ext cx="3075305" cy="337185"/>
          </a:xfrm>
          <a:prstGeom prst="rect">
            <a:avLst/>
          </a:prstGeom>
          <a:noFill/>
        </p:spPr>
        <p:txBody>
          <a:bodyPr wrap="square" rtlCol="0" anchor="t">
            <a:spAutoFit/>
          </a:bodyPr>
          <a:lstStyle/>
          <a:p>
            <a:pPr eaLnBrk="0" fontAlgn="base" hangingPunct="0">
              <a:spcBef>
                <a:spcPct val="0"/>
              </a:spcBef>
              <a:spcAft>
                <a:spcPct val="0"/>
              </a:spcAft>
            </a:pPr>
            <a:r>
              <a:rPr lang="zh-CN" altLang="en-US" sz="1600" dirty="0">
                <a:solidFill>
                  <a:srgbClr val="000000"/>
                </a:solidFill>
                <a:latin typeface="Times New Roman" panose="02020603050405020304" pitchFamily="18" charset="0"/>
                <a:ea typeface="黑体" panose="02010609060101010101" pitchFamily="49" charset="-122"/>
                <a:sym typeface="+mn-ea"/>
              </a:rPr>
              <a:t>表</a:t>
            </a:r>
            <a:r>
              <a:rPr lang="en-US" altLang="zh-CN" sz="1600" dirty="0">
                <a:solidFill>
                  <a:srgbClr val="000000"/>
                </a:solidFill>
                <a:latin typeface="Times New Roman" panose="02020603050405020304" pitchFamily="18" charset="0"/>
                <a:ea typeface="黑体" panose="02010609060101010101" pitchFamily="49" charset="-122"/>
                <a:sym typeface="+mn-ea"/>
              </a:rPr>
              <a:t>1 </a:t>
            </a:r>
            <a:r>
              <a:rPr lang="zh-CN" altLang="en-US" sz="1600" dirty="0">
                <a:solidFill>
                  <a:srgbClr val="000000"/>
                </a:solidFill>
                <a:latin typeface="Times New Roman" panose="02020603050405020304" pitchFamily="18" charset="0"/>
                <a:ea typeface="黑体" panose="02010609060101010101" pitchFamily="49" charset="-122"/>
                <a:sym typeface="+mn-ea"/>
              </a:rPr>
              <a:t>一个</a:t>
            </a:r>
            <a:r>
              <a:rPr lang="en-US" altLang="zh-CN" sz="1600" dirty="0">
                <a:solidFill>
                  <a:srgbClr val="000000"/>
                </a:solidFill>
                <a:latin typeface="Times New Roman" panose="02020603050405020304" pitchFamily="18" charset="0"/>
                <a:ea typeface="黑体" panose="02010609060101010101" pitchFamily="49" charset="-122"/>
                <a:sym typeface="+mn-ea"/>
              </a:rPr>
              <a:t>(7,4)线性分组码</a:t>
            </a:r>
            <a:r>
              <a:rPr lang="zh-CN" altLang="en-US" sz="1600" dirty="0">
                <a:solidFill>
                  <a:srgbClr val="000000"/>
                </a:solidFill>
                <a:latin typeface="Times New Roman" panose="02020603050405020304" pitchFamily="18" charset="0"/>
                <a:ea typeface="黑体" panose="02010609060101010101" pitchFamily="49" charset="-122"/>
                <a:sym typeface="+mn-ea"/>
              </a:rPr>
              <a:t>的例子</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生成矩阵</a:t>
            </a:r>
          </a:p>
        </p:txBody>
      </p:sp>
      <p:sp>
        <p:nvSpPr>
          <p:cNvPr id="12" name="文本框 11"/>
          <p:cNvSpPr txBox="1"/>
          <p:nvPr/>
        </p:nvSpPr>
        <p:spPr>
          <a:xfrm>
            <a:off x="2287906" y="1673860"/>
            <a:ext cx="7779385" cy="1714500"/>
          </a:xfrm>
          <a:prstGeom prst="rect">
            <a:avLst/>
          </a:prstGeom>
          <a:noFill/>
        </p:spPr>
        <p:txBody>
          <a:bodyPr wrap="square" rtlCol="0" anchor="t">
            <a:spAutoFit/>
          </a:bodyPr>
          <a:lstStyle/>
          <a:p>
            <a:pPr eaLnBrk="0" fontAlgn="base" hangingPunct="0">
              <a:lnSpc>
                <a:spcPct val="110000"/>
              </a:lnSpc>
              <a:spcBef>
                <a:spcPct val="0"/>
              </a:spcBef>
              <a:spcAft>
                <a:spcPct val="0"/>
              </a:spcAft>
              <a:buClr>
                <a:srgbClr val="CCCCFF"/>
              </a:buClr>
              <a:buSzPct val="65000"/>
            </a:pPr>
            <a:r>
              <a:rPr lang="zh-CN" altLang="en-US" sz="2400" dirty="0">
                <a:solidFill>
                  <a:srgbClr val="000000"/>
                </a:solidFill>
                <a:latin typeface="微软雅黑" panose="020B0503020204020204" charset="-122"/>
                <a:ea typeface="微软雅黑" panose="020B0503020204020204" charset="-122"/>
                <a:sym typeface="+mn-ea"/>
              </a:rPr>
              <a:t>∵</a:t>
            </a:r>
            <a:r>
              <a:rPr lang="en-US" altLang="zh-CN" sz="2400" dirty="0">
                <a:solidFill>
                  <a:srgbClr val="000000"/>
                </a:solidFill>
                <a:latin typeface="微软雅黑" panose="020B0503020204020204" charset="-122"/>
                <a:ea typeface="微软雅黑" panose="020B0503020204020204"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线性</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分组码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是一个</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黑体" panose="02010609060101010101" pitchFamily="49" charset="-122"/>
                <a:ea typeface="黑体" panose="02010609060101010101" pitchFamily="49" charset="-122"/>
                <a:sym typeface="+mn-ea"/>
              </a:rPr>
              <a:t>维子空间</a:t>
            </a:r>
          </a:p>
          <a:p>
            <a:pPr eaLnBrk="0" fontAlgn="base" hangingPunct="0">
              <a:lnSpc>
                <a:spcPct val="110000"/>
              </a:lnSpc>
              <a:spcBef>
                <a:spcPct val="0"/>
              </a:spcBef>
              <a:spcAft>
                <a:spcPct val="0"/>
              </a:spcAft>
              <a:buClr>
                <a:srgbClr val="CCCCFF"/>
              </a:buClr>
              <a:buSzPct val="65000"/>
            </a:pPr>
            <a:r>
              <a:rPr lang="zh-CN" altLang="en-US" sz="2400" dirty="0">
                <a:solidFill>
                  <a:srgbClr val="000000"/>
                </a:solidFill>
                <a:latin typeface="微软雅黑" panose="020B0503020204020204" charset="-122"/>
                <a:ea typeface="微软雅黑" panose="020B0503020204020204" charset="-122"/>
                <a:sym typeface="+mn-ea"/>
              </a:rPr>
              <a:t>∴</a:t>
            </a:r>
            <a:r>
              <a:rPr lang="en-US" altLang="zh-CN" sz="2400" dirty="0">
                <a:solidFill>
                  <a:srgbClr val="000000"/>
                </a:solidFill>
                <a:latin typeface="微软雅黑" panose="020B0503020204020204" charset="-122"/>
                <a:ea typeface="微软雅黑" panose="020B0503020204020204"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在码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中能找到</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黑体" panose="02010609060101010101" pitchFamily="49" charset="-122"/>
                <a:ea typeface="黑体" panose="02010609060101010101" pitchFamily="49" charset="-122"/>
                <a:sym typeface="+mn-ea"/>
              </a:rPr>
              <a:t>个线性独立的码字</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i="1" baseline="-25000">
                <a:solidFill>
                  <a:srgbClr val="000000"/>
                </a:solidFill>
                <a:latin typeface="Times New Roman" panose="02020603050405020304" pitchFamily="18" charset="0"/>
                <a:ea typeface="黑体" panose="02010609060101010101" pitchFamily="49" charset="-122"/>
                <a:sym typeface="+mn-ea"/>
              </a:rPr>
              <a:t>k</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zh-CN" altLang="en-US"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使得</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中的每个码字</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zh-CN" altLang="en-US" sz="2400" dirty="0">
                <a:solidFill>
                  <a:srgbClr val="000000"/>
                </a:solidFill>
                <a:latin typeface="黑体" panose="02010609060101010101" pitchFamily="49" charset="-122"/>
                <a:ea typeface="黑体" panose="02010609060101010101" pitchFamily="49" charset="-122"/>
                <a:sym typeface="+mn-ea"/>
              </a:rPr>
              <a:t>都是这</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黑体" panose="02010609060101010101" pitchFamily="49" charset="-122"/>
                <a:ea typeface="黑体" panose="02010609060101010101" pitchFamily="49" charset="-122"/>
                <a:sym typeface="+mn-ea"/>
              </a:rPr>
              <a:t>个码字的一种线性组合，即</a:t>
            </a:r>
            <a:r>
              <a:rPr lang="en-US" altLang="zh-CN" sz="2400" dirty="0">
                <a:solidFill>
                  <a:srgbClr val="000000"/>
                </a:solidFill>
                <a:latin typeface="黑体" panose="02010609060101010101" pitchFamily="49" charset="-122"/>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i="1" baseline="-25000">
                <a:solidFill>
                  <a:srgbClr val="000000"/>
                </a:solidFill>
                <a:latin typeface="Times New Roman" panose="02020603050405020304" pitchFamily="18" charset="0"/>
                <a:ea typeface="黑体" panose="02010609060101010101" pitchFamily="49" charset="-122"/>
                <a:sym typeface="+mn-ea"/>
              </a:rPr>
              <a:t>k-</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i="1" baseline="-25000">
                <a:solidFill>
                  <a:srgbClr val="000000"/>
                </a:solidFill>
                <a:latin typeface="Times New Roman" panose="02020603050405020304" pitchFamily="18" charset="0"/>
                <a:ea typeface="黑体" panose="02010609060101010101" pitchFamily="49" charset="-122"/>
                <a:sym typeface="+mn-ea"/>
              </a:rPr>
              <a:t>k-</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endParaRPr lang="en-US" altLang="zh-CN" sz="2400" baseline="-25000" dirty="0">
              <a:solidFill>
                <a:srgbClr val="000000"/>
              </a:solidFill>
              <a:latin typeface="Times New Roman" panose="02020603050405020304" pitchFamily="18" charset="0"/>
              <a:ea typeface="黑体" panose="02010609060101010101" pitchFamily="49" charset="-122"/>
              <a:sym typeface="+mn-ea"/>
            </a:endParaRPr>
          </a:p>
        </p:txBody>
      </p:sp>
      <p:sp>
        <p:nvSpPr>
          <p:cNvPr id="5" name="内容占位符 2"/>
          <p:cNvSpPr txBox="1"/>
          <p:nvPr/>
        </p:nvSpPr>
        <p:spPr>
          <a:xfrm>
            <a:off x="1905001" y="3521075"/>
            <a:ext cx="8394065" cy="274066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2072640" y="3658235"/>
            <a:ext cx="8068310" cy="493148"/>
          </a:xfrm>
          <a:prstGeom prst="rect">
            <a:avLst/>
          </a:prstGeom>
          <a:noFill/>
        </p:spPr>
        <p:txBody>
          <a:bodyPr wrap="square" rtlCol="0" anchor="t">
            <a:spAutoFit/>
          </a:bodyPr>
          <a:lstStyle/>
          <a:p>
            <a:pPr eaLnBrk="0" fontAlgn="base" hangingPunct="0">
              <a:lnSpc>
                <a:spcPct val="120000"/>
              </a:lnSpc>
              <a:spcBef>
                <a:spcPct val="0"/>
              </a:spcBef>
              <a:spcAft>
                <a:spcPct val="0"/>
              </a:spcAft>
            </a:pPr>
            <a:r>
              <a:rPr sz="2400" dirty="0">
                <a:solidFill>
                  <a:srgbClr val="FF0000"/>
                </a:solidFill>
                <a:latin typeface="Times New Roman" panose="02020603050405020304" pitchFamily="18" charset="0"/>
                <a:ea typeface="黑体" panose="02010609060101010101" pitchFamily="49" charset="-122"/>
                <a:sym typeface="+mn-ea"/>
              </a:rPr>
              <a:t>生成矩阵</a:t>
            </a:r>
            <a:r>
              <a:rPr sz="2400" dirty="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将</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黑体" panose="02010609060101010101" pitchFamily="49" charset="-122"/>
                <a:ea typeface="黑体" panose="02010609060101010101" pitchFamily="49" charset="-122"/>
                <a:sym typeface="+mn-ea"/>
              </a:rPr>
              <a:t>个线性独立的码字作为行，得到</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Arial" panose="020B0604020202020204" pitchFamily="34"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阶矩阵</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9" name="矩形 8"/>
          <p:cNvSpPr/>
          <p:nvPr/>
        </p:nvSpPr>
        <p:spPr>
          <a:xfrm>
            <a:off x="3385820" y="1026160"/>
            <a:ext cx="5298440" cy="5702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8" name="文本框 7"/>
          <p:cNvSpPr txBox="1"/>
          <p:nvPr/>
        </p:nvSpPr>
        <p:spPr>
          <a:xfrm>
            <a:off x="3573145" y="1052831"/>
            <a:ext cx="4989830" cy="426335"/>
          </a:xfrm>
          <a:prstGeom prst="rect">
            <a:avLst/>
          </a:prstGeom>
          <a:noFill/>
        </p:spPr>
        <p:txBody>
          <a:bodyPr wrap="square" rtlCol="0" anchor="t">
            <a:spAutoFit/>
          </a:bodyPr>
          <a:lstStyle/>
          <a:p>
            <a:pPr algn="just" eaLnBrk="0" fontAlgn="base" hangingPunct="0">
              <a:lnSpc>
                <a:spcPct val="120000"/>
              </a:lnSpc>
              <a:spcAft>
                <a:spcPct val="0"/>
              </a:spcAft>
              <a:buClr>
                <a:srgbClr val="CCCCFF"/>
              </a:buClr>
              <a:buSzPct val="65000"/>
            </a:pPr>
            <a:r>
              <a:rPr sz="2000" b="1">
                <a:solidFill>
                  <a:srgbClr val="FF0000"/>
                </a:solidFill>
                <a:latin typeface="楷体" panose="02010609060101010101" charset="-122"/>
                <a:ea typeface="楷体" panose="02010609060101010101" charset="-122"/>
              </a:rPr>
              <a:t>思考题：</a:t>
            </a:r>
            <a:r>
              <a:rPr lang="zh-CN" altLang="en-US" sz="2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在线性分组码中，如何进行编码</a:t>
            </a:r>
            <a:r>
              <a:rPr lang="en-US" sz="2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graphicFrame>
        <p:nvGraphicFramePr>
          <p:cNvPr id="3" name="对象 2">
            <a:hlinkClick r:id="" action="ppaction://ole?verb=0"/>
          </p:cNvPr>
          <p:cNvGraphicFramePr>
            <a:graphicFrameLocks noChangeAspect="1"/>
          </p:cNvGraphicFramePr>
          <p:nvPr/>
        </p:nvGraphicFramePr>
        <p:xfrm>
          <a:off x="3536950" y="4229736"/>
          <a:ext cx="4413250" cy="1843405"/>
        </p:xfrm>
        <a:graphic>
          <a:graphicData uri="http://schemas.openxmlformats.org/presentationml/2006/ole">
            <mc:AlternateContent xmlns:mc="http://schemas.openxmlformats.org/markup-compatibility/2006">
              <mc:Choice xmlns:v="urn:schemas-microsoft-com:vml" Requires="v">
                <p:oleObj r:id="rId2" imgW="2501900" imgH="939800" progId="Equation.KSEE3">
                  <p:embed/>
                </p:oleObj>
              </mc:Choice>
              <mc:Fallback>
                <p:oleObj r:id="rId2" imgW="2501900" imgH="939800" progId="Equation.KSEE3">
                  <p:embed/>
                  <p:pic>
                    <p:nvPicPr>
                      <p:cNvPr id="3" name="对象 2">
                        <a:hlinkClick r:id="" action="ppaction://ole?verb=0"/>
                      </p:cNvPr>
                      <p:cNvPicPr/>
                      <p:nvPr/>
                    </p:nvPicPr>
                    <p:blipFill>
                      <a:blip r:embed="rId3"/>
                      <a:stretch>
                        <a:fillRect/>
                      </a:stretch>
                    </p:blipFill>
                    <p:spPr>
                      <a:xfrm>
                        <a:off x="3536950" y="4229736"/>
                        <a:ext cx="4413250" cy="1843405"/>
                      </a:xfrm>
                      <a:prstGeom prst="rect">
                        <a:avLst/>
                      </a:prstGeom>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7886066" y="2562860"/>
            <a:ext cx="1641475" cy="125095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 name="标题 1"/>
          <p:cNvSpPr>
            <a:spLocks noGrp="1"/>
          </p:cNvSpPr>
          <p:nvPr>
            <p:ph type="title"/>
          </p:nvPr>
        </p:nvSpPr>
        <p:spPr>
          <a:xfrm>
            <a:off x="6486526" y="104775"/>
            <a:ext cx="39147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一致校验</a:t>
            </a:r>
            <a:r>
              <a:rPr lang="en-US" altLang="zh-CN" sz="2800">
                <a:latin typeface="黑体" panose="02010609060101010101" pitchFamily="49" charset="-122"/>
                <a:ea typeface="黑体" panose="02010609060101010101" pitchFamily="49" charset="-122"/>
                <a:cs typeface="黑体" panose="02010609060101010101" pitchFamily="49" charset="-122"/>
                <a:sym typeface="+mn-ea"/>
              </a:rPr>
              <a:t>(</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监督</a:t>
            </a:r>
            <a:r>
              <a:rPr lang="en-US" altLang="zh-CN" sz="2800">
                <a:latin typeface="黑体" panose="02010609060101010101" pitchFamily="49" charset="-122"/>
                <a:ea typeface="黑体" panose="02010609060101010101" pitchFamily="49" charset="-122"/>
                <a:cs typeface="黑体" panose="02010609060101010101" pitchFamily="49" charset="-122"/>
                <a:sym typeface="+mn-ea"/>
              </a:rPr>
              <a:t>)</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矩阵</a:t>
            </a:r>
          </a:p>
        </p:txBody>
      </p:sp>
      <p:sp>
        <p:nvSpPr>
          <p:cNvPr id="4" name="文本框 3"/>
          <p:cNvSpPr txBox="1"/>
          <p:nvPr/>
        </p:nvSpPr>
        <p:spPr>
          <a:xfrm>
            <a:off x="1788161" y="918210"/>
            <a:ext cx="5116195" cy="902970"/>
          </a:xfrm>
          <a:prstGeom prst="rect">
            <a:avLst/>
          </a:prstGeom>
          <a:noFill/>
        </p:spPr>
        <p:txBody>
          <a:bodyPr wrap="square" rtlCol="0" anchor="t">
            <a:spAutoFit/>
          </a:bodyPr>
          <a:lstStyle/>
          <a:p>
            <a:pPr eaLnBrk="0" fontAlgn="base" hangingPunct="0">
              <a:lnSpc>
                <a:spcPct val="110000"/>
              </a:lnSpc>
              <a:spcBef>
                <a:spcPct val="0"/>
              </a:spcBef>
              <a:spcAft>
                <a:spcPct val="0"/>
              </a:spcAft>
              <a:buClr>
                <a:srgbClr val="CCCCFF"/>
              </a:buClr>
              <a:buSzPct val="65000"/>
            </a:pPr>
            <a:r>
              <a:rPr lang="zh-CN" altLang="en-US" sz="2400" dirty="0">
                <a:solidFill>
                  <a:srgbClr val="000000"/>
                </a:solidFill>
                <a:latin typeface="微软雅黑" panose="020B0503020204020204" charset="-122"/>
                <a:ea typeface="微软雅黑" panose="020B0503020204020204" charset="-122"/>
                <a:sym typeface="+mn-ea"/>
              </a:rPr>
              <a:t>∵</a:t>
            </a:r>
            <a:r>
              <a:rPr lang="en-US" altLang="zh-CN" sz="2400" dirty="0">
                <a:solidFill>
                  <a:srgbClr val="000000"/>
                </a:solidFill>
                <a:latin typeface="微软雅黑" panose="020B0503020204020204" charset="-122"/>
                <a:ea typeface="微软雅黑" panose="020B0503020204020204" charset="-122"/>
                <a:sym typeface="+mn-ea"/>
              </a:rPr>
              <a:t> </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k</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线性码有</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k</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个校验码元</a:t>
            </a:r>
          </a:p>
          <a:p>
            <a:pPr eaLnBrk="0" fontAlgn="base" hangingPunct="0">
              <a:lnSpc>
                <a:spcPct val="110000"/>
              </a:lnSpc>
              <a:spcBef>
                <a:spcPct val="0"/>
              </a:spcBef>
              <a:spcAft>
                <a:spcPct val="0"/>
              </a:spcAft>
              <a:buClr>
                <a:srgbClr val="CCCCFF"/>
              </a:buClr>
              <a:buSzPct val="65000"/>
            </a:pPr>
            <a:r>
              <a:rPr lang="zh-CN" altLang="en-US" sz="2400" dirty="0">
                <a:solidFill>
                  <a:srgbClr val="000000"/>
                </a:solidFill>
                <a:latin typeface="微软雅黑" panose="020B0503020204020204" charset="-122"/>
                <a:ea typeface="微软雅黑" panose="020B0503020204020204" charset="-122"/>
                <a:sym typeface="+mn-ea"/>
              </a:rPr>
              <a:t>∴</a:t>
            </a:r>
            <a:r>
              <a:rPr lang="en-US" altLang="zh-CN" sz="2400" dirty="0">
                <a:solidFill>
                  <a:srgbClr val="000000"/>
                </a:solidFill>
                <a:latin typeface="微软雅黑" panose="020B0503020204020204" charset="-122"/>
                <a:ea typeface="微软雅黑" panose="020B0503020204020204"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必须有</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个独立的线性方程</a:t>
            </a:r>
          </a:p>
        </p:txBody>
      </p:sp>
      <p:sp>
        <p:nvSpPr>
          <p:cNvPr id="7" name="内容占位符 2"/>
          <p:cNvSpPr txBox="1"/>
          <p:nvPr/>
        </p:nvSpPr>
        <p:spPr>
          <a:xfrm>
            <a:off x="1905000" y="2119631"/>
            <a:ext cx="5035550" cy="249237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0" name="文本框 9"/>
          <p:cNvSpPr txBox="1"/>
          <p:nvPr/>
        </p:nvSpPr>
        <p:spPr>
          <a:xfrm>
            <a:off x="1921510" y="2146935"/>
            <a:ext cx="5115560" cy="493148"/>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dirty="0">
                <a:solidFill>
                  <a:srgbClr val="FF0000"/>
                </a:solidFill>
                <a:latin typeface="Times New Roman" panose="02020603050405020304" pitchFamily="18" charset="0"/>
                <a:ea typeface="黑体" panose="02010609060101010101" pitchFamily="49" charset="-122"/>
                <a:sym typeface="+mn-ea"/>
              </a:rPr>
              <a:t>校验矩阵</a:t>
            </a:r>
            <a:r>
              <a:rPr sz="2400" dirty="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该矩阵由</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行</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400" dirty="0">
                <a:solidFill>
                  <a:srgbClr val="000000"/>
                </a:solidFill>
                <a:latin typeface="黑体" panose="02010609060101010101" pitchFamily="49" charset="-122"/>
                <a:ea typeface="黑体" panose="02010609060101010101" pitchFamily="49" charset="-122"/>
                <a:sym typeface="+mn-ea"/>
              </a:rPr>
              <a:t>列组成，即</a:t>
            </a:r>
          </a:p>
        </p:txBody>
      </p:sp>
      <p:graphicFrame>
        <p:nvGraphicFramePr>
          <p:cNvPr id="11" name="对象 10">
            <a:hlinkClick r:id="" action="ppaction://ole?verb=0"/>
          </p:cNvPr>
          <p:cNvGraphicFramePr>
            <a:graphicFrameLocks noChangeAspect="1"/>
          </p:cNvGraphicFramePr>
          <p:nvPr/>
        </p:nvGraphicFramePr>
        <p:xfrm>
          <a:off x="2972754" y="2680971"/>
          <a:ext cx="3024505" cy="1843405"/>
        </p:xfrm>
        <a:graphic>
          <a:graphicData uri="http://schemas.openxmlformats.org/presentationml/2006/ole">
            <mc:AlternateContent xmlns:mc="http://schemas.openxmlformats.org/markup-compatibility/2006">
              <mc:Choice xmlns:v="urn:schemas-microsoft-com:vml" Requires="v">
                <p:oleObj r:id="rId2" imgW="1714500" imgH="939800" progId="Equation.KSEE3">
                  <p:embed/>
                </p:oleObj>
              </mc:Choice>
              <mc:Fallback>
                <p:oleObj r:id="rId2" imgW="1714500" imgH="939800" progId="Equation.KSEE3">
                  <p:embed/>
                  <p:pic>
                    <p:nvPicPr>
                      <p:cNvPr id="11" name="对象 10">
                        <a:hlinkClick r:id="" action="ppaction://ole?verb=0"/>
                      </p:cNvPr>
                      <p:cNvPicPr/>
                      <p:nvPr/>
                    </p:nvPicPr>
                    <p:blipFill>
                      <a:blip r:embed="rId3"/>
                      <a:stretch>
                        <a:fillRect/>
                      </a:stretch>
                    </p:blipFill>
                    <p:spPr>
                      <a:xfrm>
                        <a:off x="2972754" y="2680971"/>
                        <a:ext cx="3024505" cy="1843405"/>
                      </a:xfrm>
                      <a:prstGeom prst="rect">
                        <a:avLst/>
                      </a:prstGeom>
                    </p:spPr>
                  </p:pic>
                </p:oleObj>
              </mc:Fallback>
            </mc:AlternateContent>
          </a:graphicData>
        </a:graphic>
      </p:graphicFrame>
      <p:sp>
        <p:nvSpPr>
          <p:cNvPr id="14" name="文本框 13"/>
          <p:cNvSpPr txBox="1"/>
          <p:nvPr/>
        </p:nvSpPr>
        <p:spPr>
          <a:xfrm>
            <a:off x="6931660" y="1355725"/>
            <a:ext cx="2849880" cy="469616"/>
          </a:xfrm>
          <a:prstGeom prst="rect">
            <a:avLst/>
          </a:prstGeom>
          <a:noFill/>
        </p:spPr>
        <p:txBody>
          <a:bodyPr wrap="square" rtlCol="0" anchor="t">
            <a:spAutoFit/>
          </a:bodyPr>
          <a:lstStyle/>
          <a:p>
            <a:pPr eaLnBrk="0" fontAlgn="base" hangingPunct="0">
              <a:lnSpc>
                <a:spcPct val="11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c</a:t>
            </a:r>
            <a:r>
              <a:rPr lang="en-US" altLang="zh-CN" sz="24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iG, </a:t>
            </a:r>
            <a:r>
              <a:rPr lang="zh-CN" altLang="en-US" sz="2400" dirty="0">
                <a:solidFill>
                  <a:srgbClr val="000000"/>
                </a:solidFill>
                <a:latin typeface="微软雅黑" panose="020B0503020204020204" charset="-122"/>
                <a:ea typeface="微软雅黑" panose="020B0503020204020204" charset="-122"/>
                <a:sym typeface="+mn-ea"/>
              </a:rPr>
              <a:t>∴</a:t>
            </a:r>
            <a:r>
              <a:rPr lang="en-US" altLang="zh-CN" sz="2400" dirty="0">
                <a:solidFill>
                  <a:srgbClr val="000000"/>
                </a:solidFill>
                <a:latin typeface="微软雅黑" panose="020B0503020204020204" charset="-122"/>
                <a:ea typeface="微软雅黑" panose="020B0503020204020204" charset="-122"/>
                <a:sym typeface="+mn-ea"/>
              </a:rPr>
              <a:t> </a:t>
            </a:r>
            <a:r>
              <a:rPr lang="en-US" sz="24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GH</a:t>
            </a:r>
            <a:r>
              <a:rPr lang="en-US" sz="2400" i="1"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T</a:t>
            </a:r>
            <a:r>
              <a:rPr 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=0</a:t>
            </a:r>
            <a:endParaRPr 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5" name="文本框 14"/>
          <p:cNvSpPr txBox="1"/>
          <p:nvPr/>
        </p:nvSpPr>
        <p:spPr>
          <a:xfrm>
            <a:off x="6902451" y="900430"/>
            <a:ext cx="3546475" cy="465448"/>
          </a:xfrm>
          <a:prstGeom prst="rect">
            <a:avLst/>
          </a:prstGeom>
          <a:noFill/>
        </p:spPr>
        <p:txBody>
          <a:bodyPr wrap="square" rtlCol="0" anchor="t">
            <a:spAutoFit/>
          </a:bodyPr>
          <a:lstStyle/>
          <a:p>
            <a:pPr eaLnBrk="0" fontAlgn="base" hangingPunct="0">
              <a:lnSpc>
                <a:spcPct val="11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对于任一码字</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c</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有</a:t>
            </a:r>
            <a:r>
              <a:rPr lang="en-US" sz="24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cH</a:t>
            </a:r>
            <a:r>
              <a:rPr lang="en-US" sz="2400" i="1"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T</a:t>
            </a:r>
            <a:r>
              <a:rPr 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=0</a:t>
            </a:r>
            <a:endParaRPr lang="zh-CN" alt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sp>
        <p:nvSpPr>
          <p:cNvPr id="17" name="文本框 16"/>
          <p:cNvSpPr txBox="1"/>
          <p:nvPr/>
        </p:nvSpPr>
        <p:spPr>
          <a:xfrm>
            <a:off x="8238491" y="2689861"/>
            <a:ext cx="1141095" cy="469167"/>
          </a:xfrm>
          <a:prstGeom prst="rect">
            <a:avLst/>
          </a:prstGeom>
          <a:noFill/>
        </p:spPr>
        <p:txBody>
          <a:bodyPr wrap="square" rtlCol="0" anchor="t">
            <a:spAutoFit/>
          </a:bodyPr>
          <a:lstStyle/>
          <a:p>
            <a:pPr eaLnBrk="0" fontAlgn="base" hangingPunct="0">
              <a:lnSpc>
                <a:spcPct val="110000"/>
              </a:lnSpc>
              <a:spcBef>
                <a:spcPct val="0"/>
              </a:spcBef>
              <a:spcAft>
                <a:spcPct val="0"/>
              </a:spcAft>
              <a:buClr>
                <a:srgbClr val="CCCCFF"/>
              </a:buClr>
              <a:buSzPct val="65000"/>
            </a:pPr>
            <a:r>
              <a:rPr lang="en-US" sz="24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cH</a:t>
            </a:r>
            <a:r>
              <a:rPr lang="en-US" sz="2400" i="1"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T</a:t>
            </a:r>
            <a:r>
              <a:rPr 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=0</a:t>
            </a:r>
            <a:endParaRPr lang="zh-CN" alt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sp>
        <p:nvSpPr>
          <p:cNvPr id="18" name="文本框 17"/>
          <p:cNvSpPr txBox="1"/>
          <p:nvPr/>
        </p:nvSpPr>
        <p:spPr>
          <a:xfrm>
            <a:off x="8192135" y="3220721"/>
            <a:ext cx="1215390" cy="469167"/>
          </a:xfrm>
          <a:prstGeom prst="rect">
            <a:avLst/>
          </a:prstGeom>
          <a:noFill/>
        </p:spPr>
        <p:txBody>
          <a:bodyPr wrap="square" rtlCol="0" anchor="t">
            <a:spAutoFit/>
          </a:bodyPr>
          <a:lstStyle/>
          <a:p>
            <a:pPr eaLnBrk="0" fontAlgn="base" hangingPunct="0">
              <a:lnSpc>
                <a:spcPct val="110000"/>
              </a:lnSpc>
              <a:spcBef>
                <a:spcPct val="0"/>
              </a:spcBef>
              <a:spcAft>
                <a:spcPct val="0"/>
              </a:spcAft>
              <a:buClr>
                <a:srgbClr val="CCCCFF"/>
              </a:buClr>
              <a:buSzPct val="65000"/>
            </a:pPr>
            <a:r>
              <a:rPr lang="en-US" sz="2400" i="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GH</a:t>
            </a:r>
            <a:r>
              <a:rPr lang="en-US" sz="2400" i="1"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T</a:t>
            </a:r>
            <a:r>
              <a:rPr 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=0</a:t>
            </a:r>
            <a:endParaRPr 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9" name="文本框 18"/>
          <p:cNvSpPr txBox="1"/>
          <p:nvPr/>
        </p:nvSpPr>
        <p:spPr>
          <a:xfrm>
            <a:off x="2368551" y="5276850"/>
            <a:ext cx="7853045" cy="465448"/>
          </a:xfrm>
          <a:prstGeom prst="rect">
            <a:avLst/>
          </a:prstGeom>
          <a:noFill/>
        </p:spPr>
        <p:txBody>
          <a:bodyPr wrap="square" rtlCol="0" anchor="t">
            <a:spAutoFit/>
          </a:bodyPr>
          <a:lstStyle/>
          <a:p>
            <a:pPr eaLnBrk="0" fontAlgn="base" hangingPunct="0">
              <a:lnSpc>
                <a:spcPct val="11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一致校验矩阵的标准形式：经过初等变换，得到</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H</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I</a:t>
            </a:r>
            <a:r>
              <a:rPr lang="en-US" altLang="zh-CN" sz="2400" i="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endPar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21" name="内容占位符 2"/>
          <p:cNvSpPr txBox="1"/>
          <p:nvPr/>
        </p:nvSpPr>
        <p:spPr>
          <a:xfrm>
            <a:off x="2222500" y="5118101"/>
            <a:ext cx="7932420" cy="788035"/>
          </a:xfrm>
          <a:prstGeom prst="rect">
            <a:avLst/>
          </a:prstGeom>
          <a:ln>
            <a:solidFill>
              <a:srgbClr val="00B05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线性系统分组码</a:t>
            </a:r>
          </a:p>
        </p:txBody>
      </p:sp>
      <p:sp>
        <p:nvSpPr>
          <p:cNvPr id="5" name="内容占位符 2"/>
          <p:cNvSpPr txBox="1"/>
          <p:nvPr/>
        </p:nvSpPr>
        <p:spPr>
          <a:xfrm>
            <a:off x="2358391" y="1027431"/>
            <a:ext cx="7576185" cy="128206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2526031" y="1164591"/>
            <a:ext cx="7267575" cy="936347"/>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dirty="0">
                <a:solidFill>
                  <a:srgbClr val="FF0000"/>
                </a:solidFill>
                <a:latin typeface="Times New Roman" panose="02020603050405020304" pitchFamily="18" charset="0"/>
                <a:ea typeface="黑体" panose="02010609060101010101" pitchFamily="49" charset="-122"/>
                <a:sym typeface="+mn-ea"/>
              </a:rPr>
              <a:t>定义</a:t>
            </a:r>
            <a:r>
              <a:rPr sz="2400" dirty="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若</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线性分组码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的生成矩阵形如</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P </a:t>
            </a:r>
            <a:r>
              <a:rPr lang="en-US" altLang="zh-CN" sz="2400" i="1" err="1">
                <a:solidFill>
                  <a:srgbClr val="000000"/>
                </a:solidFill>
                <a:latin typeface="Times New Roman" panose="02020603050405020304" pitchFamily="18" charset="0"/>
                <a:ea typeface="黑体" panose="02010609060101010101" pitchFamily="49" charset="-122"/>
                <a:sym typeface="+mn-ea"/>
              </a:rPr>
              <a:t>I</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或</a:t>
            </a:r>
            <a:r>
              <a:rPr lang="en-US" altLang="zh-CN" sz="2400" dirty="0">
                <a:solidFill>
                  <a:srgbClr val="000000"/>
                </a:solidFill>
                <a:latin typeface="黑体" panose="02010609060101010101" pitchFamily="49" charset="-122"/>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I</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k</a:t>
            </a:r>
            <a:r>
              <a:rPr lang="en-US" altLang="zh-CN" sz="2400" i="1" baseline="-250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P</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，此时称</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为线性系统分组码。</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3" name="对象 2">
            <a:hlinkClick r:id="" action="ppaction://ole?verb=0"/>
          </p:cNvPr>
          <p:cNvGraphicFramePr>
            <a:graphicFrameLocks noChangeAspect="1"/>
          </p:cNvGraphicFramePr>
          <p:nvPr/>
        </p:nvGraphicFramePr>
        <p:xfrm>
          <a:off x="1995806" y="2666365"/>
          <a:ext cx="8272145" cy="2292350"/>
        </p:xfrm>
        <a:graphic>
          <a:graphicData uri="http://schemas.openxmlformats.org/presentationml/2006/ole">
            <mc:AlternateContent xmlns:mc="http://schemas.openxmlformats.org/markup-compatibility/2006">
              <mc:Choice xmlns:v="urn:schemas-microsoft-com:vml" Requires="v">
                <p:oleObj r:id="rId2" imgW="4648200" imgH="1168400" progId="Equation.KSEE3">
                  <p:embed/>
                </p:oleObj>
              </mc:Choice>
              <mc:Fallback>
                <p:oleObj r:id="rId2" imgW="4648200" imgH="1168400" progId="Equation.KSEE3">
                  <p:embed/>
                  <p:pic>
                    <p:nvPicPr>
                      <p:cNvPr id="3" name="对象 2">
                        <a:hlinkClick r:id="" action="ppaction://ole?verb=0"/>
                      </p:cNvPr>
                      <p:cNvPicPr/>
                      <p:nvPr/>
                    </p:nvPicPr>
                    <p:blipFill>
                      <a:blip r:embed="rId3"/>
                      <a:stretch>
                        <a:fillRect/>
                      </a:stretch>
                    </p:blipFill>
                    <p:spPr>
                      <a:xfrm>
                        <a:off x="1995806" y="2666365"/>
                        <a:ext cx="8272145" cy="2292350"/>
                      </a:xfrm>
                      <a:prstGeom prst="rect">
                        <a:avLst/>
                      </a:prstGeom>
                    </p:spPr>
                  </p:pic>
                </p:oleObj>
              </mc:Fallback>
            </mc:AlternateContent>
          </a:graphicData>
        </a:graphic>
      </p:graphicFrame>
      <p:sp>
        <p:nvSpPr>
          <p:cNvPr id="4" name="文本框 3"/>
          <p:cNvSpPr txBox="1"/>
          <p:nvPr/>
        </p:nvSpPr>
        <p:spPr>
          <a:xfrm>
            <a:off x="1922146" y="5296536"/>
            <a:ext cx="8345805" cy="936347"/>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此时，如果用任意消息</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u</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同</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G</a:t>
            </a:r>
            <a:r>
              <a:rPr lang="zh-CN" altLang="en-US" sz="2400" dirty="0">
                <a:solidFill>
                  <a:srgbClr val="000000"/>
                </a:solidFill>
                <a:latin typeface="黑体" panose="02010609060101010101" pitchFamily="49" charset="-122"/>
                <a:ea typeface="黑体" panose="02010609060101010101" pitchFamily="49" charset="-122"/>
                <a:sym typeface="+mn-ea"/>
              </a:rPr>
              <a:t>做乘法，就会发现每个码字都可以被分成两个部分：消息部分和冗余部分。</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949450" y="5474971"/>
            <a:ext cx="8479790" cy="936347"/>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上面两个式子正好反映系统的组成特性，最后这</a:t>
            </a:r>
            <a:r>
              <a:rPr lang="en-US" altLang="zh-CN" sz="2400" i="1" err="1">
                <a:solidFill>
                  <a:srgbClr val="000000"/>
                </a:solidFill>
                <a:latin typeface="Times New Roman" panose="02020603050405020304" pitchFamily="18" charset="0"/>
                <a:ea typeface="黑体" panose="02010609060101010101" pitchFamily="49" charset="-122"/>
                <a:sym typeface="+mn-ea"/>
              </a:rPr>
              <a:t>n-k</a:t>
            </a:r>
            <a:r>
              <a:rPr lang="zh-CN" altLang="en-US" sz="2400" dirty="0">
                <a:solidFill>
                  <a:srgbClr val="000000"/>
                </a:solidFill>
                <a:latin typeface="Times New Roman" panose="02020603050405020304" pitchFamily="18" charset="0"/>
                <a:ea typeface="黑体" panose="02010609060101010101" pitchFamily="49" charset="-122"/>
                <a:sym typeface="+mn-ea"/>
              </a:rPr>
              <a:t>个方程称为码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的</a:t>
            </a:r>
            <a:r>
              <a:rPr lang="zh-CN" altLang="en-US" sz="2400" dirty="0">
                <a:solidFill>
                  <a:srgbClr val="000000"/>
                </a:solidFill>
                <a:latin typeface="Times New Roman" panose="02020603050405020304" pitchFamily="18" charset="0"/>
                <a:ea typeface="黑体" panose="02010609060101010101" pitchFamily="49" charset="-122"/>
                <a:cs typeface="+mn-ea"/>
                <a:sym typeface="+mn-ea"/>
              </a:rPr>
              <a:t>一致校验方程。</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10" name="矩形 9"/>
          <p:cNvSpPr/>
          <p:nvPr/>
        </p:nvSpPr>
        <p:spPr>
          <a:xfrm>
            <a:off x="3447415" y="4885055"/>
            <a:ext cx="5298440" cy="59817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一致校验方程</a:t>
            </a:r>
          </a:p>
        </p:txBody>
      </p:sp>
      <p:graphicFrame>
        <p:nvGraphicFramePr>
          <p:cNvPr id="3" name="对象 2">
            <a:hlinkClick r:id="" action="ppaction://ole?verb=0"/>
          </p:cNvPr>
          <p:cNvGraphicFramePr>
            <a:graphicFrameLocks noChangeAspect="1"/>
          </p:cNvGraphicFramePr>
          <p:nvPr/>
        </p:nvGraphicFramePr>
        <p:xfrm>
          <a:off x="1790701" y="1371600"/>
          <a:ext cx="8611235" cy="2292350"/>
        </p:xfrm>
        <a:graphic>
          <a:graphicData uri="http://schemas.openxmlformats.org/presentationml/2006/ole">
            <mc:AlternateContent xmlns:mc="http://schemas.openxmlformats.org/markup-compatibility/2006">
              <mc:Choice xmlns:v="urn:schemas-microsoft-com:vml" Requires="v">
                <p:oleObj r:id="rId2" imgW="4838700" imgH="1168400" progId="Equation.KSEE3">
                  <p:embed/>
                </p:oleObj>
              </mc:Choice>
              <mc:Fallback>
                <p:oleObj r:id="rId2" imgW="4838700" imgH="1168400" progId="Equation.KSEE3">
                  <p:embed/>
                  <p:pic>
                    <p:nvPicPr>
                      <p:cNvPr id="3" name="对象 2">
                        <a:hlinkClick r:id="" action="ppaction://ole?verb=0"/>
                      </p:cNvPr>
                      <p:cNvPicPr/>
                      <p:nvPr/>
                    </p:nvPicPr>
                    <p:blipFill>
                      <a:blip r:embed="rId3"/>
                      <a:stretch>
                        <a:fillRect/>
                      </a:stretch>
                    </p:blipFill>
                    <p:spPr>
                      <a:xfrm>
                        <a:off x="1790701" y="1371600"/>
                        <a:ext cx="8611235" cy="2292350"/>
                      </a:xfrm>
                      <a:prstGeom prst="rect">
                        <a:avLst/>
                      </a:prstGeom>
                    </p:spPr>
                  </p:pic>
                </p:oleObj>
              </mc:Fallback>
            </mc:AlternateContent>
          </a:graphicData>
        </a:graphic>
      </p:graphicFrame>
      <p:sp>
        <p:nvSpPr>
          <p:cNvPr id="4" name="文本框 3"/>
          <p:cNvSpPr txBox="1"/>
          <p:nvPr/>
        </p:nvSpPr>
        <p:spPr>
          <a:xfrm>
            <a:off x="1790701" y="3785235"/>
            <a:ext cx="8611235" cy="493148"/>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对应于消息</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i="1" baseline="-25000">
                <a:solidFill>
                  <a:srgbClr val="000000"/>
                </a:solidFill>
                <a:latin typeface="Times New Roman" panose="02020603050405020304" pitchFamily="18" charset="0"/>
                <a:ea typeface="黑体" panose="02010609060101010101" pitchFamily="49" charset="-122"/>
                <a:sym typeface="+mn-ea"/>
              </a:rPr>
              <a:t>k-</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的码字是</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en-US" sz="2400" i="1" err="1">
                <a:solidFill>
                  <a:srgbClr val="000000"/>
                </a:solidFill>
                <a:latin typeface="Arial" panose="020B0604020202020204" pitchFamily="34"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zh-CN" altLang="en-US" sz="2400" dirty="0">
                <a:solidFill>
                  <a:srgbClr val="000000"/>
                </a:solidFill>
                <a:latin typeface="Times New Roman" panose="02020603050405020304" pitchFamily="18" charset="0"/>
                <a:ea typeface="黑体" panose="02010609060101010101" pitchFamily="49" charset="-122"/>
                <a:sym typeface="+mn-ea"/>
              </a:rPr>
              <a:t>，即</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7" name="文本框 6"/>
          <p:cNvSpPr txBox="1"/>
          <p:nvPr/>
        </p:nvSpPr>
        <p:spPr>
          <a:xfrm>
            <a:off x="1887221" y="909321"/>
            <a:ext cx="3117215" cy="460375"/>
          </a:xfrm>
          <a:prstGeom prst="rect">
            <a:avLst/>
          </a:prstGeom>
          <a:noFill/>
        </p:spPr>
        <p:txBody>
          <a:bodyPr wrap="square" rtlCol="0" anchor="t">
            <a:spAutoFit/>
          </a:bodyPr>
          <a:lstStyle/>
          <a:p>
            <a:pPr eaLnBrk="0" fontAlgn="base" hangingPunct="0">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对</a:t>
            </a:r>
            <a:r>
              <a:rPr sz="2400" dirty="0">
                <a:solidFill>
                  <a:srgbClr val="000000"/>
                </a:solidFill>
                <a:latin typeface="Times New Roman" panose="02020603050405020304" pitchFamily="18" charset="0"/>
                <a:ea typeface="黑体" panose="02010609060101010101" pitchFamily="49" charset="-122"/>
                <a:sym typeface="+mn-ea"/>
              </a:rPr>
              <a:t>于线性系统分组码</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8" name="文本框 7"/>
          <p:cNvSpPr txBox="1"/>
          <p:nvPr/>
        </p:nvSpPr>
        <p:spPr>
          <a:xfrm>
            <a:off x="2049145" y="4290061"/>
            <a:ext cx="8479790" cy="1068947"/>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en-US" altLang="zh-CN" sz="2400" dirty="0">
                <a:solidFill>
                  <a:srgbClr val="000000"/>
                </a:solidFill>
                <a:latin typeface="黑体" panose="02010609060101010101" pitchFamily="49" charset="-122"/>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n-k+i</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i</a:t>
            </a:r>
            <a:r>
              <a:rPr lang="en-US" altLang="zh-CN" sz="2400" baseline="-25000">
                <a:solidFill>
                  <a:srgbClr val="000000"/>
                </a:solidFill>
                <a:latin typeface="Times New Roman" panose="02020603050405020304" pitchFamily="18" charset="0"/>
                <a:ea typeface="黑体" panose="02010609060101010101" pitchFamily="49" charset="-122"/>
                <a:sym typeface="+mn-ea"/>
              </a:rPr>
              <a:t> </a:t>
            </a:r>
            <a:r>
              <a:rPr lang="en-US" altLang="zh-CN" sz="2400">
                <a:solidFill>
                  <a:srgbClr val="000000"/>
                </a:solidFill>
                <a:latin typeface="Times New Roman" panose="02020603050405020304" pitchFamily="18" charset="0"/>
                <a:ea typeface="黑体" panose="02010609060101010101" pitchFamily="49" charset="-122"/>
                <a:sym typeface="+mn-ea"/>
              </a:rPr>
              <a:t>, 0</a:t>
            </a:r>
            <a:r>
              <a:rPr lang="en-US" altLang="zh-CN" sz="2400">
                <a:solidFill>
                  <a:srgbClr val="000000"/>
                </a:solidFill>
                <a:latin typeface="Arial" panose="020B0604020202020204" pitchFamily="34"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i</a:t>
            </a:r>
            <a:r>
              <a:rPr lang="en-US" altLang="zh-CN" sz="2400">
                <a:solidFill>
                  <a:srgbClr val="000000"/>
                </a:solidFill>
                <a:latin typeface="Arial" panose="020B0604020202020204" pitchFamily="34"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-1</a:t>
            </a:r>
            <a:endParaRPr lang="en-US" altLang="zh-CN" sz="2400">
              <a:solidFill>
                <a:srgbClr val="000000"/>
              </a:solidFill>
              <a:latin typeface="Times New Roman" panose="02020603050405020304" pitchFamily="18" charset="0"/>
              <a:ea typeface="黑体" panose="02010609060101010101" pitchFamily="49" charset="-122"/>
            </a:endParaRPr>
          </a:p>
          <a:p>
            <a:pPr eaLnBrk="0" fontAlgn="base" hangingPunct="0">
              <a:lnSpc>
                <a:spcPct val="140000"/>
              </a:lnSpc>
              <a:spcBef>
                <a:spcPct val="0"/>
              </a:spcBef>
              <a:spcAft>
                <a:spcPct val="0"/>
              </a:spcAft>
              <a:buClr>
                <a:srgbClr val="CCCCFF"/>
              </a:buClr>
              <a:buSzPct val="65000"/>
            </a:pPr>
            <a:r>
              <a:rPr lang="en-US" altLang="zh-CN" sz="2400" i="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j</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i="1">
                <a:solidFill>
                  <a:srgbClr val="000000"/>
                </a:solidFill>
                <a:latin typeface="Times New Roman" panose="02020603050405020304" pitchFamily="18" charset="0"/>
                <a:ea typeface="黑体" panose="02010609060101010101" pitchFamily="49" charset="-122"/>
                <a:sym typeface="+mn-ea"/>
              </a:rPr>
              <a:t>p</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i="1" baseline="-25000">
                <a:solidFill>
                  <a:srgbClr val="000000"/>
                </a:solidFill>
                <a:latin typeface="Times New Roman" panose="02020603050405020304" pitchFamily="18" charset="0"/>
                <a:ea typeface="黑体" panose="02010609060101010101" pitchFamily="49" charset="-122"/>
                <a:sym typeface="+mn-ea"/>
              </a:rPr>
              <a:t>j</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p</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baseline="-25000">
                <a:solidFill>
                  <a:srgbClr val="000000"/>
                </a:solidFill>
                <a:latin typeface="Times New Roman" panose="02020603050405020304" pitchFamily="18" charset="0"/>
                <a:ea typeface="黑体" panose="02010609060101010101" pitchFamily="49" charset="-122"/>
                <a:sym typeface="+mn-ea"/>
              </a:rPr>
              <a:t>j</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i="1" baseline="-25000">
                <a:solidFill>
                  <a:srgbClr val="000000"/>
                </a:solidFill>
                <a:latin typeface="Times New Roman" panose="02020603050405020304" pitchFamily="18" charset="0"/>
                <a:ea typeface="黑体" panose="02010609060101010101" pitchFamily="49" charset="-122"/>
                <a:sym typeface="+mn-ea"/>
              </a:rPr>
              <a:t>k-</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p</a:t>
            </a:r>
            <a:r>
              <a:rPr lang="en-US" altLang="zh-CN" sz="2400" i="1" baseline="-25000">
                <a:solidFill>
                  <a:srgbClr val="000000"/>
                </a:solidFill>
                <a:latin typeface="Times New Roman" panose="02020603050405020304" pitchFamily="18" charset="0"/>
                <a:ea typeface="黑体" panose="02010609060101010101" pitchFamily="49" charset="-122"/>
                <a:sym typeface="+mn-ea"/>
              </a:rPr>
              <a:t>k-</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baseline="-25000">
                <a:solidFill>
                  <a:srgbClr val="000000"/>
                </a:solidFill>
                <a:latin typeface="Times New Roman" panose="02020603050405020304" pitchFamily="18" charset="0"/>
                <a:ea typeface="黑体" panose="02010609060101010101" pitchFamily="49" charset="-122"/>
                <a:sym typeface="+mn-ea"/>
              </a:rPr>
              <a:t>j</a:t>
            </a:r>
            <a:r>
              <a:rPr lang="en-US" altLang="zh-CN" sz="2400">
                <a:solidFill>
                  <a:srgbClr val="000000"/>
                </a:solidFill>
                <a:latin typeface="Times New Roman" panose="02020603050405020304" pitchFamily="18" charset="0"/>
                <a:ea typeface="黑体" panose="02010609060101010101" pitchFamily="49" charset="-122"/>
                <a:sym typeface="+mn-ea"/>
              </a:rPr>
              <a:t>, 0</a:t>
            </a:r>
            <a:r>
              <a:rPr lang="en-US" altLang="zh-CN" sz="2400">
                <a:solidFill>
                  <a:srgbClr val="000000"/>
                </a:solidFill>
                <a:latin typeface="Arial" panose="020B0604020202020204" pitchFamily="34"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j</a:t>
            </a:r>
            <a:r>
              <a:rPr lang="en-US" altLang="zh-CN" sz="2400">
                <a:solidFill>
                  <a:srgbClr val="000000"/>
                </a:solidFill>
                <a:latin typeface="Arial" panose="020B0604020202020204" pitchFamily="34"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n-k-</a:t>
            </a:r>
            <a:r>
              <a:rPr lang="en-US" altLang="zh-CN" sz="2400">
                <a:solidFill>
                  <a:srgbClr val="000000"/>
                </a:solidFill>
                <a:latin typeface="Times New Roman" panose="02020603050405020304" pitchFamily="18" charset="0"/>
                <a:ea typeface="黑体" panose="02010609060101010101" pitchFamily="49" charset="-122"/>
                <a:sym typeface="+mn-ea"/>
              </a:rPr>
              <a:t>1      </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0"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234565" y="3382010"/>
            <a:ext cx="7797800" cy="119634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文本框 8"/>
          <p:cNvSpPr txBox="1"/>
          <p:nvPr/>
        </p:nvSpPr>
        <p:spPr>
          <a:xfrm>
            <a:off x="2385695" y="3510281"/>
            <a:ext cx="7349490" cy="936347"/>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zh-CN" altLang="en-US" sz="2400" dirty="0">
                <a:solidFill>
                  <a:srgbClr val="000000"/>
                </a:solidFill>
                <a:latin typeface="Times New Roman" panose="02020603050405020304" pitchFamily="18" charset="0"/>
                <a:ea typeface="黑体" panose="02010609060101010101" pitchFamily="49" charset="-122"/>
                <a:sym typeface="+mn-ea"/>
              </a:rPr>
              <a:t>令</a:t>
            </a:r>
            <a:r>
              <a:rPr lang="en-US" altLang="zh-CN" sz="2400" i="1">
                <a:solidFill>
                  <a:srgbClr val="000000"/>
                </a:solidFill>
                <a:latin typeface="Times New Roman" panose="02020603050405020304" pitchFamily="18" charset="0"/>
                <a:ea typeface="黑体" panose="02010609060101010101" pitchFamily="49" charset="-122"/>
                <a:sym typeface="+mn-ea"/>
              </a:rPr>
              <a:t>S</a:t>
            </a:r>
            <a:r>
              <a:rPr lang="zh-CN" altLang="en-US" sz="2400" dirty="0">
                <a:solidFill>
                  <a:srgbClr val="000000"/>
                </a:solidFill>
                <a:latin typeface="Times New Roman" panose="02020603050405020304" pitchFamily="18" charset="0"/>
                <a:ea typeface="黑体" panose="02010609060101010101" pitchFamily="49" charset="-122"/>
                <a:sym typeface="+mn-ea"/>
              </a:rPr>
              <a:t>是</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中</a:t>
            </a:r>
            <a:r>
              <a:rPr lang="zh-CN" altLang="en-US" sz="2400" dirty="0">
                <a:solidFill>
                  <a:srgbClr val="000000"/>
                </a:solidFill>
                <a:latin typeface="黑体" panose="02010609060101010101" pitchFamily="49" charset="-122"/>
                <a:ea typeface="黑体" panose="02010609060101010101" pitchFamily="49" charset="-122"/>
                <a:sym typeface="+mn-ea"/>
              </a:rPr>
              <a:t>的一个</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维子空间，则</a:t>
            </a:r>
            <a:r>
              <a:rPr lang="en-US" altLang="zh-CN" sz="2400" i="1">
                <a:solidFill>
                  <a:srgbClr val="000000"/>
                </a:solidFill>
                <a:latin typeface="Times New Roman" panose="02020603050405020304" pitchFamily="18" charset="0"/>
                <a:ea typeface="黑体" panose="02010609060101010101" pitchFamily="49" charset="-122"/>
                <a:sym typeface="+mn-ea"/>
              </a:rPr>
              <a:t>S</a:t>
            </a:r>
            <a:r>
              <a:rPr lang="zh-CN" altLang="en-US" sz="2400" dirty="0">
                <a:solidFill>
                  <a:srgbClr val="000000"/>
                </a:solidFill>
                <a:latin typeface="Times New Roman" panose="02020603050405020304" pitchFamily="18" charset="0"/>
                <a:ea typeface="黑体" panose="02010609060101010101" pitchFamily="49" charset="-122"/>
                <a:sym typeface="+mn-ea"/>
              </a:rPr>
              <a:t>的对偶空间的</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维数是</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对偶码</a:t>
            </a:r>
          </a:p>
        </p:txBody>
      </p:sp>
      <p:sp>
        <p:nvSpPr>
          <p:cNvPr id="5" name="内容占位符 2"/>
          <p:cNvSpPr txBox="1"/>
          <p:nvPr/>
        </p:nvSpPr>
        <p:spPr>
          <a:xfrm>
            <a:off x="1815466" y="1178560"/>
            <a:ext cx="8509635" cy="174752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1946275" y="1315721"/>
            <a:ext cx="8256270" cy="152971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FF0000"/>
                </a:solidFill>
                <a:latin typeface="Times New Roman" panose="02020603050405020304" pitchFamily="18" charset="0"/>
                <a:ea typeface="黑体" panose="02010609060101010101" pitchFamily="49" charset="-122"/>
                <a:sym typeface="+mn-ea"/>
              </a:rPr>
              <a:t>定义</a:t>
            </a:r>
            <a:r>
              <a:rPr sz="2400" dirty="0">
                <a:solidFill>
                  <a:srgbClr val="FF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令</a:t>
            </a:r>
            <a:r>
              <a:rPr lang="en-US" altLang="zh-CN" sz="2400" i="1">
                <a:solidFill>
                  <a:srgbClr val="000000"/>
                </a:solidFill>
                <a:latin typeface="Times New Roman" panose="02020603050405020304" pitchFamily="18" charset="0"/>
                <a:ea typeface="黑体" panose="02010609060101010101" pitchFamily="49" charset="-122"/>
                <a:sym typeface="+mn-ea"/>
              </a:rPr>
              <a:t>S</a:t>
            </a:r>
            <a:r>
              <a:rPr lang="zh-CN" altLang="en-US" sz="2400" dirty="0">
                <a:solidFill>
                  <a:srgbClr val="000000"/>
                </a:solidFill>
                <a:latin typeface="Times New Roman" panose="02020603050405020304" pitchFamily="18" charset="0"/>
                <a:ea typeface="黑体" panose="02010609060101010101" pitchFamily="49" charset="-122"/>
                <a:sym typeface="+mn-ea"/>
              </a:rPr>
              <a:t>是</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维子空间，并令</a:t>
            </a:r>
            <a:r>
              <a:rPr lang="en-US" altLang="zh-CN" sz="2400" i="1" err="1">
                <a:solidFill>
                  <a:srgbClr val="000000"/>
                </a:solidFill>
                <a:latin typeface="Times New Roman" panose="02020603050405020304" pitchFamily="18" charset="0"/>
                <a:ea typeface="黑体" panose="02010609060101010101" pitchFamily="49" charset="-122"/>
                <a:sym typeface="+mn-ea"/>
              </a:rPr>
              <a:t>S</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d</a:t>
            </a:r>
            <a:r>
              <a:rPr lang="zh-CN" altLang="en-US" sz="2400" dirty="0">
                <a:solidFill>
                  <a:srgbClr val="000000"/>
                </a:solidFill>
                <a:latin typeface="Times New Roman" panose="02020603050405020304" pitchFamily="18" charset="0"/>
                <a:ea typeface="黑体" panose="02010609060101010101" pitchFamily="49" charset="-122"/>
                <a:sym typeface="+mn-ea"/>
              </a:rPr>
              <a:t>是</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中这样矢量的集合</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，即对</a:t>
            </a:r>
            <a:r>
              <a:rPr lang="en-US" altLang="zh-CN" sz="2400" i="1">
                <a:solidFill>
                  <a:srgbClr val="000000"/>
                </a:solidFill>
                <a:latin typeface="Times New Roman" panose="02020603050405020304" pitchFamily="18" charset="0"/>
                <a:ea typeface="黑体" panose="02010609060101010101" pitchFamily="49" charset="-122"/>
                <a:sym typeface="+mn-ea"/>
              </a:rPr>
              <a:t>S</a:t>
            </a:r>
            <a:r>
              <a:rPr lang="zh-CN" altLang="en-US" sz="2400" dirty="0">
                <a:solidFill>
                  <a:srgbClr val="000000"/>
                </a:solidFill>
                <a:latin typeface="Times New Roman" panose="02020603050405020304" pitchFamily="18" charset="0"/>
                <a:ea typeface="黑体" panose="02010609060101010101" pitchFamily="49" charset="-122"/>
                <a:sym typeface="+mn-ea"/>
              </a:rPr>
              <a:t>中的任意</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zh-CN" altLang="en-US" sz="2400" dirty="0">
                <a:solidFill>
                  <a:srgbClr val="000000"/>
                </a:solidFill>
                <a:latin typeface="Times New Roman" panose="02020603050405020304" pitchFamily="18" charset="0"/>
                <a:ea typeface="黑体" panose="02010609060101010101" pitchFamily="49" charset="-122"/>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S</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d</a:t>
            </a:r>
            <a:r>
              <a:rPr lang="zh-CN" altLang="en-US" sz="2400" dirty="0">
                <a:solidFill>
                  <a:srgbClr val="000000"/>
                </a:solidFill>
                <a:latin typeface="Times New Roman" panose="02020603050405020304" pitchFamily="18" charset="0"/>
                <a:ea typeface="黑体" panose="02010609060101010101" pitchFamily="49" charset="-122"/>
                <a:sym typeface="+mn-ea"/>
              </a:rPr>
              <a:t>中的任意</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zh-CN" altLang="en-US" sz="2400" dirty="0">
                <a:solidFill>
                  <a:srgbClr val="000000"/>
                </a:solidFill>
                <a:latin typeface="Times New Roman" panose="02020603050405020304" pitchFamily="18" charset="0"/>
                <a:ea typeface="黑体" panose="02010609060101010101" pitchFamily="49" charset="-122"/>
                <a:sym typeface="+mn-ea"/>
              </a:rPr>
              <a:t>，有</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en-US"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，则</a:t>
            </a:r>
            <a:r>
              <a:rPr lang="en-US" altLang="zh-CN" sz="2400" i="1" err="1">
                <a:solidFill>
                  <a:srgbClr val="000000"/>
                </a:solidFill>
                <a:latin typeface="Times New Roman" panose="02020603050405020304" pitchFamily="18" charset="0"/>
                <a:ea typeface="黑体" panose="02010609060101010101" pitchFamily="49" charset="-122"/>
                <a:sym typeface="+mn-ea"/>
              </a:rPr>
              <a:t>S</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d</a:t>
            </a:r>
            <a:r>
              <a:rPr lang="zh-CN" altLang="en-US" sz="2400" dirty="0">
                <a:solidFill>
                  <a:srgbClr val="000000"/>
                </a:solidFill>
                <a:latin typeface="Times New Roman" panose="02020603050405020304" pitchFamily="18" charset="0"/>
                <a:ea typeface="黑体" panose="02010609060101010101" pitchFamily="49" charset="-122"/>
                <a:sym typeface="+mn-ea"/>
              </a:rPr>
              <a:t>也</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是</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zh-CN" altLang="en-US" sz="2400" dirty="0">
                <a:solidFill>
                  <a:srgbClr val="000000"/>
                </a:solidFill>
                <a:latin typeface="Times New Roman" panose="02020603050405020304" pitchFamily="18" charset="0"/>
                <a:ea typeface="黑体" panose="02010609060101010101" pitchFamily="49" charset="-122"/>
                <a:sym typeface="+mn-ea"/>
              </a:rPr>
              <a:t>一个子空间，它称为</a:t>
            </a:r>
            <a:r>
              <a:rPr lang="en-US" altLang="zh-CN" sz="2400" i="1">
                <a:solidFill>
                  <a:srgbClr val="000000"/>
                </a:solidFill>
                <a:latin typeface="Times New Roman" panose="02020603050405020304" pitchFamily="18" charset="0"/>
                <a:ea typeface="黑体" panose="02010609060101010101" pitchFamily="49" charset="-122"/>
                <a:sym typeface="+mn-ea"/>
              </a:rPr>
              <a:t>S</a:t>
            </a:r>
            <a:r>
              <a:rPr lang="zh-CN" altLang="en-US" sz="2400" dirty="0">
                <a:solidFill>
                  <a:srgbClr val="000000"/>
                </a:solidFill>
                <a:latin typeface="Times New Roman" panose="02020603050405020304" pitchFamily="18" charset="0"/>
                <a:ea typeface="黑体" panose="02010609060101010101" pitchFamily="49" charset="-122"/>
                <a:sym typeface="+mn-ea"/>
              </a:rPr>
              <a:t>的对偶空间或零化空间</a:t>
            </a:r>
            <a:r>
              <a:rPr lang="zh-CN" altLang="en-US" sz="2400" dirty="0">
                <a:solidFill>
                  <a:srgbClr val="000000"/>
                </a:solidFill>
                <a:latin typeface="黑体" panose="02010609060101010101" pitchFamily="49" charset="-122"/>
                <a:ea typeface="黑体" panose="02010609060101010101" pitchFamily="49" charset="-122"/>
                <a:sym typeface="+mn-ea"/>
              </a:rPr>
              <a:t>。</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12" name="内容占位符 2"/>
          <p:cNvSpPr txBox="1"/>
          <p:nvPr/>
        </p:nvSpPr>
        <p:spPr>
          <a:xfrm>
            <a:off x="1866901" y="5083811"/>
            <a:ext cx="8509635" cy="110299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3" name="文本框 12"/>
          <p:cNvSpPr txBox="1"/>
          <p:nvPr/>
        </p:nvSpPr>
        <p:spPr>
          <a:xfrm>
            <a:off x="1997710" y="5145406"/>
            <a:ext cx="8256270" cy="936347"/>
          </a:xfrm>
          <a:prstGeom prst="rect">
            <a:avLst/>
          </a:prstGeom>
          <a:noFill/>
        </p:spPr>
        <p:txBody>
          <a:bodyPr wrap="square" rtlCol="0" anchor="t">
            <a:spAutoFit/>
          </a:bodyPr>
          <a:lstStyle/>
          <a:p>
            <a:pPr algn="just" eaLnBrk="0" fontAlgn="base" hangingPunct="0">
              <a:lnSpc>
                <a:spcPct val="120000"/>
              </a:lnSpc>
              <a:spcBef>
                <a:spcPct val="0"/>
              </a:spcBef>
              <a:spcAft>
                <a:spcPct val="0"/>
              </a:spcAft>
            </a:pPr>
            <a:r>
              <a:rPr lang="zh-CN" altLang="en-US" sz="2400" dirty="0">
                <a:solidFill>
                  <a:srgbClr val="FF0000"/>
                </a:solidFill>
                <a:latin typeface="黑体" panose="02010609060101010101" pitchFamily="49" charset="-122"/>
                <a:ea typeface="黑体" panose="02010609060101010101" pitchFamily="49" charset="-122"/>
                <a:sym typeface="+mn-ea"/>
              </a:rPr>
              <a:t>对偶码：</a:t>
            </a:r>
            <a:r>
              <a:rPr lang="zh-CN" altLang="en-US" sz="2400" dirty="0">
                <a:solidFill>
                  <a:srgbClr val="000000"/>
                </a:solidFill>
                <a:latin typeface="黑体" panose="02010609060101010101" pitchFamily="49" charset="-122"/>
                <a:ea typeface="黑体" panose="02010609060101010101" pitchFamily="49" charset="-122"/>
                <a:sym typeface="+mn-ea"/>
              </a:rPr>
              <a:t>以</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zh-CN" altLang="en-US" sz="2400" dirty="0">
                <a:solidFill>
                  <a:srgbClr val="000000"/>
                </a:solidFill>
                <a:latin typeface="黑体" panose="02010609060101010101" pitchFamily="49" charset="-122"/>
                <a:ea typeface="黑体" panose="02010609060101010101" pitchFamily="49" charset="-122"/>
                <a:sym typeface="+mn-ea"/>
              </a:rPr>
              <a:t>为生成矩阵得到的</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n,n-k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码称为码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的对偶码，</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记为</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d</a:t>
            </a:r>
            <a:r>
              <a:rPr lang="zh-CN" altLang="en-US" sz="2400" dirty="0">
                <a:solidFill>
                  <a:srgbClr val="000000"/>
                </a:solidFill>
                <a:latin typeface="黑体" panose="02010609060101010101" pitchFamily="49" charset="-122"/>
                <a:ea typeface="黑体" panose="02010609060101010101" pitchFamily="49" charset="-122"/>
                <a:sym typeface="+mn-ea"/>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p:cNvSpPr/>
          <p:nvPr/>
        </p:nvSpPr>
        <p:spPr>
          <a:xfrm>
            <a:off x="8306435" y="3572510"/>
            <a:ext cx="1050290" cy="2057400"/>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0" name="圆角矩形 9"/>
          <p:cNvSpPr/>
          <p:nvPr/>
        </p:nvSpPr>
        <p:spPr>
          <a:xfrm>
            <a:off x="3310255" y="3717926"/>
            <a:ext cx="1371600" cy="1612265"/>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文本框 8"/>
          <p:cNvSpPr txBox="1"/>
          <p:nvPr/>
        </p:nvSpPr>
        <p:spPr>
          <a:xfrm>
            <a:off x="1949450" y="1092201"/>
            <a:ext cx="8479790" cy="1065613"/>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若码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的生成矩阵具有系统形式</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P </a:t>
            </a:r>
            <a:r>
              <a:rPr lang="en-US" altLang="zh-CN" sz="2400" i="1" err="1">
                <a:solidFill>
                  <a:srgbClr val="000000"/>
                </a:solidFill>
                <a:latin typeface="Times New Roman" panose="02020603050405020304" pitchFamily="18" charset="0"/>
                <a:ea typeface="黑体" panose="02010609060101010101" pitchFamily="49" charset="-122"/>
                <a:sym typeface="+mn-ea"/>
              </a:rPr>
              <a:t>I</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a:solidFill>
                  <a:srgbClr val="000000"/>
                </a:solidFill>
                <a:latin typeface="Times New Roman" panose="02020603050405020304" pitchFamily="18" charset="0"/>
                <a:ea typeface="黑体" panose="02010609060101010101" pitchFamily="49" charset="-122"/>
                <a:sym typeface="+mn-ea"/>
              </a:rPr>
              <a:t>或</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I</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k </a:t>
            </a:r>
            <a:r>
              <a:rPr lang="en-US" altLang="zh-CN" sz="2400" i="1">
                <a:solidFill>
                  <a:srgbClr val="000000"/>
                </a:solidFill>
                <a:latin typeface="Times New Roman" panose="02020603050405020304" pitchFamily="18" charset="0"/>
                <a:ea typeface="黑体" panose="02010609060101010101" pitchFamily="49" charset="-122"/>
                <a:sym typeface="+mn-ea"/>
              </a:rPr>
              <a:t>P</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，则其</a:t>
            </a:r>
            <a:r>
              <a:rPr lang="zh-CN" altLang="en-US" sz="2400" dirty="0">
                <a:solidFill>
                  <a:srgbClr val="000000"/>
                </a:solidFill>
                <a:latin typeface="黑体" panose="02010609060101010101" pitchFamily="49" charset="-122"/>
                <a:ea typeface="黑体" panose="02010609060101010101" pitchFamily="49" charset="-122"/>
                <a:sym typeface="+mn-ea"/>
              </a:rPr>
              <a:t>一致校验矩阵形如</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I</a:t>
            </a:r>
            <a:r>
              <a:rPr lang="en-US" altLang="zh-CN" sz="2400" i="1" baseline="-25000">
                <a:solidFill>
                  <a:srgbClr val="000000"/>
                </a:solidFill>
                <a:latin typeface="Times New Roman" panose="02020603050405020304" pitchFamily="18" charset="0"/>
                <a:ea typeface="黑体" panose="02010609060101010101" pitchFamily="49" charset="-122"/>
                <a:sym typeface="+mn-ea"/>
              </a:rPr>
              <a:t>n-k</a:t>
            </a:r>
            <a:r>
              <a:rPr lang="en-US" altLang="zh-CN" sz="2400" i="1">
                <a:solidFill>
                  <a:srgbClr val="000000"/>
                </a:solidFill>
                <a:latin typeface="Times New Roman" panose="02020603050405020304" pitchFamily="18" charset="0"/>
                <a:ea typeface="黑体" panose="02010609060101010101" pitchFamily="49" charset="-122"/>
                <a:sym typeface="+mn-ea"/>
              </a:rPr>
              <a:t> P</a:t>
            </a:r>
            <a:r>
              <a:rPr lang="en-US" altLang="zh-CN" sz="2400" i="1" baseline="30000">
                <a:solidFill>
                  <a:srgbClr val="000000"/>
                </a:solidFill>
                <a:latin typeface="Times New Roman" panose="02020603050405020304" pitchFamily="18" charset="0"/>
                <a:ea typeface="黑体" panose="02010609060101010101" pitchFamily="49" charset="-122"/>
                <a:sym typeface="+mn-ea"/>
              </a:rPr>
              <a:t>T</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a:solidFill>
                  <a:srgbClr val="000000"/>
                </a:solidFill>
                <a:latin typeface="Times New Roman" panose="02020603050405020304" pitchFamily="18" charset="0"/>
                <a:ea typeface="黑体" panose="02010609060101010101" pitchFamily="49" charset="-122"/>
                <a:sym typeface="+mn-ea"/>
              </a:rPr>
              <a:t>或</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P</a:t>
            </a:r>
            <a:r>
              <a:rPr lang="en-US" altLang="zh-CN" sz="2400" i="1" baseline="30000">
                <a:solidFill>
                  <a:srgbClr val="000000"/>
                </a:solidFill>
                <a:latin typeface="Times New Roman" panose="02020603050405020304" pitchFamily="18" charset="0"/>
                <a:ea typeface="黑体" panose="02010609060101010101" pitchFamily="49" charset="-122"/>
                <a:sym typeface="+mn-ea"/>
              </a:rPr>
              <a:t>T </a:t>
            </a:r>
            <a:r>
              <a:rPr lang="en-US" altLang="zh-CN" sz="2400" i="1">
                <a:solidFill>
                  <a:srgbClr val="000000"/>
                </a:solidFill>
                <a:latin typeface="Times New Roman" panose="02020603050405020304" pitchFamily="18" charset="0"/>
                <a:ea typeface="黑体" panose="02010609060101010101" pitchFamily="49" charset="-122"/>
                <a:sym typeface="+mn-ea"/>
              </a:rPr>
              <a:t>I</a:t>
            </a:r>
            <a:r>
              <a:rPr lang="en-US" altLang="zh-CN" sz="2400" i="1" baseline="-25000">
                <a:solidFill>
                  <a:srgbClr val="000000"/>
                </a:solidFill>
                <a:latin typeface="Times New Roman" panose="02020603050405020304" pitchFamily="18" charset="0"/>
                <a:ea typeface="黑体" panose="02010609060101010101" pitchFamily="49" charset="-122"/>
                <a:sym typeface="+mn-ea"/>
              </a:rPr>
              <a:t>n-k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cs typeface="+mn-ea"/>
                <a:sym typeface="+mn-ea"/>
              </a:rPr>
              <a:t>。</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2" name="标题 1"/>
          <p:cNvSpPr>
            <a:spLocks noGrp="1"/>
          </p:cNvSpPr>
          <p:nvPr>
            <p:ph type="title"/>
          </p:nvPr>
        </p:nvSpPr>
        <p:spPr>
          <a:xfrm>
            <a:off x="6436996" y="104775"/>
            <a:ext cx="39643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系统码的一致校验矩阵</a:t>
            </a:r>
          </a:p>
        </p:txBody>
      </p:sp>
      <p:graphicFrame>
        <p:nvGraphicFramePr>
          <p:cNvPr id="3" name="对象 2">
            <a:hlinkClick r:id="" action="ppaction://ole?verb=0"/>
          </p:cNvPr>
          <p:cNvGraphicFramePr>
            <a:graphicFrameLocks noChangeAspect="1"/>
          </p:cNvGraphicFramePr>
          <p:nvPr/>
        </p:nvGraphicFramePr>
        <p:xfrm>
          <a:off x="2762568" y="3698875"/>
          <a:ext cx="6690360" cy="1794510"/>
        </p:xfrm>
        <a:graphic>
          <a:graphicData uri="http://schemas.openxmlformats.org/presentationml/2006/ole">
            <mc:AlternateContent xmlns:mc="http://schemas.openxmlformats.org/markup-compatibility/2006">
              <mc:Choice xmlns:v="urn:schemas-microsoft-com:vml" Requires="v">
                <p:oleObj r:id="rId3" imgW="3759200" imgH="914400" progId="Equation.KSEE3">
                  <p:embed/>
                </p:oleObj>
              </mc:Choice>
              <mc:Fallback>
                <p:oleObj r:id="rId3" imgW="3759200" imgH="914400" progId="Equation.KSEE3">
                  <p:embed/>
                  <p:pic>
                    <p:nvPicPr>
                      <p:cNvPr id="3" name="对象 2">
                        <a:hlinkClick r:id="" action="ppaction://ole?verb=0"/>
                      </p:cNvPr>
                      <p:cNvPicPr/>
                      <p:nvPr/>
                    </p:nvPicPr>
                    <p:blipFill>
                      <a:blip r:embed="rId4"/>
                      <a:stretch>
                        <a:fillRect/>
                      </a:stretch>
                    </p:blipFill>
                    <p:spPr>
                      <a:xfrm>
                        <a:off x="2762568" y="3698875"/>
                        <a:ext cx="6690360" cy="1794510"/>
                      </a:xfrm>
                      <a:prstGeom prst="rect">
                        <a:avLst/>
                      </a:prstGeom>
                    </p:spPr>
                  </p:pic>
                </p:oleObj>
              </mc:Fallback>
            </mc:AlternateContent>
          </a:graphicData>
        </a:graphic>
      </p:graphicFrame>
      <p:sp>
        <p:nvSpPr>
          <p:cNvPr id="4" name="文本框 3"/>
          <p:cNvSpPr txBox="1"/>
          <p:nvPr/>
        </p:nvSpPr>
        <p:spPr>
          <a:xfrm>
            <a:off x="2299336" y="2428240"/>
            <a:ext cx="7840345" cy="548548"/>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400" dirty="0">
                <a:solidFill>
                  <a:srgbClr val="FF000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某个</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(7,</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)系统</a:t>
            </a:r>
            <a:r>
              <a:rPr lang="zh-CN" altLang="en-US" sz="2400" dirty="0">
                <a:solidFill>
                  <a:srgbClr val="000000"/>
                </a:solidFill>
                <a:latin typeface="黑体" panose="02010609060101010101" pitchFamily="49" charset="-122"/>
                <a:ea typeface="黑体" panose="02010609060101010101" pitchFamily="49" charset="-122"/>
                <a:sym typeface="+mn-ea"/>
              </a:rPr>
              <a:t>线性码的生成矩阵和一致校验矩阵为</a:t>
            </a:r>
          </a:p>
        </p:txBody>
      </p:sp>
      <p:cxnSp>
        <p:nvCxnSpPr>
          <p:cNvPr id="7" name="直接连接符 6"/>
          <p:cNvCxnSpPr/>
          <p:nvPr/>
        </p:nvCxnSpPr>
        <p:spPr>
          <a:xfrm flipH="1">
            <a:off x="4800600" y="3216275"/>
            <a:ext cx="20320" cy="262636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8176895" y="3216275"/>
            <a:ext cx="20320" cy="2626360"/>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3436621" y="5904230"/>
            <a:ext cx="6100445" cy="548548"/>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400" dirty="0">
                <a:solidFill>
                  <a:srgbClr val="000000"/>
                </a:solidFill>
                <a:latin typeface="黑体" panose="02010609060101010101" pitchFamily="49" charset="-122"/>
                <a:ea typeface="黑体" panose="02010609060101010101" pitchFamily="49" charset="-122"/>
                <a:sym typeface="+mn-ea"/>
              </a:rPr>
              <a:t>有的书中把</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I</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k </a:t>
            </a:r>
            <a:r>
              <a:rPr lang="en-US" altLang="zh-CN" sz="2400" i="1">
                <a:solidFill>
                  <a:srgbClr val="000000"/>
                </a:solidFill>
                <a:latin typeface="Times New Roman" panose="02020603050405020304" pitchFamily="18" charset="0"/>
                <a:ea typeface="黑体" panose="02010609060101010101" pitchFamily="49" charset="-122"/>
                <a:sym typeface="+mn-ea"/>
              </a:rPr>
              <a:t>P</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称为标准型生成矩阵</a:t>
            </a:r>
            <a:r>
              <a:rPr lang="zh-CN" altLang="en-US" sz="2400" dirty="0">
                <a:solidFill>
                  <a:srgbClr val="000000"/>
                </a:solidFill>
                <a:latin typeface="Times New Roman" panose="02020603050405020304" pitchFamily="18" charset="0"/>
                <a:ea typeface="黑体" panose="02010609060101010101" pitchFamily="49" charset="-122"/>
                <a:cs typeface="+mn-ea"/>
                <a:sym typeface="+mn-ea"/>
              </a:rPr>
              <a:t>。</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4" grpId="1" animBg="1"/>
      <p:bldP spid="10" grpId="0" bldLvl="0" animBg="1"/>
      <p:bldP spid="10"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伴随式</a:t>
            </a:r>
          </a:p>
        </p:txBody>
      </p:sp>
      <p:sp>
        <p:nvSpPr>
          <p:cNvPr id="3" name="文本框 2"/>
          <p:cNvSpPr txBox="1"/>
          <p:nvPr/>
        </p:nvSpPr>
        <p:spPr>
          <a:xfrm>
            <a:off x="2496821" y="865506"/>
            <a:ext cx="7653655" cy="2009775"/>
          </a:xfrm>
          <a:prstGeom prst="rect">
            <a:avLst/>
          </a:prstGeom>
          <a:noFill/>
        </p:spPr>
        <p:txBody>
          <a:bodyPr wrap="square" rtlCol="0" anchor="t">
            <a:spAutoFit/>
          </a:bodyPr>
          <a:lstStyle/>
          <a:p>
            <a:pPr algn="just" eaLnBrk="0" fontAlgn="base" hangingPunct="0">
              <a:lnSpc>
                <a:spcPct val="130000"/>
              </a:lnSpc>
              <a:spcBef>
                <a:spcPct val="0"/>
              </a:spcBef>
              <a:spcAft>
                <a:spcPct val="0"/>
              </a:spcAft>
              <a:buClr>
                <a:srgbClr val="CCCCFF"/>
              </a:buClr>
              <a:buSzPct val="65000"/>
            </a:pPr>
            <a:r>
              <a:rPr lang="zh-CN" altLang="en-US" sz="2400" dirty="0">
                <a:solidFill>
                  <a:srgbClr val="000000"/>
                </a:solidFill>
                <a:latin typeface="黑体" panose="02010609060101010101" pitchFamily="49" charset="-122"/>
                <a:ea typeface="黑体" panose="02010609060101010101" pitchFamily="49" charset="-122"/>
                <a:sym typeface="+mn-ea"/>
              </a:rPr>
              <a:t>设</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线性分组码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的生成矩阵为</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zh-CN" altLang="en-US" sz="2400" dirty="0">
                <a:solidFill>
                  <a:srgbClr val="000000"/>
                </a:solidFill>
                <a:latin typeface="黑体" panose="02010609060101010101" pitchFamily="49" charset="-122"/>
                <a:ea typeface="黑体" panose="02010609060101010101" pitchFamily="49" charset="-122"/>
                <a:sym typeface="+mn-ea"/>
              </a:rPr>
              <a:t>，其校验矩阵为</a:t>
            </a:r>
            <a:r>
              <a:rPr lang="en-US" altLang="zh-CN" sz="2400" i="1">
                <a:solidFill>
                  <a:srgbClr val="000000"/>
                </a:solidFill>
                <a:latin typeface="Times New Roman" panose="02020603050405020304" pitchFamily="18" charset="0"/>
                <a:ea typeface="黑体" panose="02010609060101010101" pitchFamily="49" charset="-122"/>
                <a:sym typeface="+mn-ea"/>
              </a:rPr>
              <a:t>H</a:t>
            </a:r>
            <a:endParaRPr lang="zh-CN" altLang="en-US" sz="2400" i="1" dirty="0">
              <a:solidFill>
                <a:srgbClr val="000000"/>
              </a:solidFill>
              <a:latin typeface="黑体" panose="02010609060101010101" pitchFamily="49" charset="-122"/>
              <a:ea typeface="黑体" panose="02010609060101010101" pitchFamily="49" charset="-122"/>
              <a:sym typeface="+mn-ea"/>
            </a:endParaRPr>
          </a:p>
          <a:p>
            <a:pPr algn="just" eaLnBrk="0" fontAlgn="base" hangingPunct="0">
              <a:lnSpc>
                <a:spcPct val="130000"/>
              </a:lnSpc>
              <a:spcBef>
                <a:spcPct val="0"/>
              </a:spcBef>
              <a:spcAft>
                <a:spcPct val="0"/>
              </a:spcAft>
              <a:buClr>
                <a:srgbClr val="CCCCFF"/>
              </a:buClr>
              <a:buSzPct val="65000"/>
            </a:pPr>
            <a:r>
              <a:rPr lang="zh-CN" altLang="en-US" sz="2400" dirty="0">
                <a:solidFill>
                  <a:srgbClr val="000000"/>
                </a:solidFill>
                <a:latin typeface="黑体" panose="02010609060101010101" pitchFamily="49" charset="-122"/>
                <a:ea typeface="黑体" panose="02010609060101010101" pitchFamily="49" charset="-122"/>
                <a:sym typeface="+mn-ea"/>
              </a:rPr>
              <a:t>令</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是经有扰信道传送的码字</a:t>
            </a:r>
          </a:p>
          <a:p>
            <a:pPr algn="just" eaLnBrk="0" fontAlgn="base" hangingPunct="0">
              <a:lnSpc>
                <a:spcPct val="130000"/>
              </a:lnSpc>
              <a:spcBef>
                <a:spcPct val="0"/>
              </a:spcBef>
              <a:spcAft>
                <a:spcPct val="0"/>
              </a:spcAft>
              <a:buClr>
                <a:srgbClr val="CCCCFF"/>
              </a:buClr>
              <a:buSzPct val="65000"/>
            </a:pPr>
            <a:r>
              <a:rPr lang="en-US" altLang="zh-CN" sz="2400" i="1" dirty="0">
                <a:solidFill>
                  <a:srgbClr val="000000"/>
                </a:solidFill>
                <a:latin typeface="Times New Roman" panose="02020603050405020304" pitchFamily="18" charset="0"/>
                <a:ea typeface="黑体" panose="02010609060101010101" pitchFamily="49" charset="-122"/>
                <a:sym typeface="+mn-ea"/>
              </a:rPr>
              <a:t>    r</a:t>
            </a:r>
            <a:r>
              <a:rPr lang="en-US" altLang="zh-CN" sz="2400" dirty="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是信道输出端的接收矢量</a:t>
            </a:r>
          </a:p>
          <a:p>
            <a:pPr algn="just" eaLnBrk="0" fontAlgn="base" hangingPunct="0">
              <a:lnSpc>
                <a:spcPct val="130000"/>
              </a:lnSpc>
              <a:spcBef>
                <a:spcPct val="0"/>
              </a:spcBef>
              <a:spcAft>
                <a:spcPct val="0"/>
              </a:spcAft>
              <a:buClr>
                <a:srgbClr val="CCCCFF"/>
              </a:buClr>
              <a:buSzPct val="65000"/>
            </a:pP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称矢量和</a:t>
            </a:r>
            <a:r>
              <a:rPr lang="en-US" altLang="zh-CN" sz="2400" i="1">
                <a:solidFill>
                  <a:srgbClr val="000000"/>
                </a:solidFill>
                <a:latin typeface="Times New Roman" panose="02020603050405020304" pitchFamily="18" charset="0"/>
                <a:ea typeface="黑体" panose="02010609060101010101" pitchFamily="49" charset="-122"/>
                <a:sym typeface="+mn-ea"/>
              </a:rPr>
              <a:t>e</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v+r</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黑体" panose="02010609060101010101" pitchFamily="49" charset="-122"/>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e</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e</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e</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为错误矢量</a:t>
            </a:r>
          </a:p>
        </p:txBody>
      </p:sp>
      <p:sp>
        <p:nvSpPr>
          <p:cNvPr id="7" name="文本框 6"/>
          <p:cNvSpPr txBox="1"/>
          <p:nvPr/>
        </p:nvSpPr>
        <p:spPr>
          <a:xfrm>
            <a:off x="1929765" y="4989831"/>
            <a:ext cx="8309610" cy="1363065"/>
          </a:xfrm>
          <a:prstGeom prst="rect">
            <a:avLst/>
          </a:prstGeom>
          <a:noFill/>
        </p:spPr>
        <p:txBody>
          <a:bodyPr wrap="square" rtlCol="0" anchor="t">
            <a:spAutoFit/>
          </a:bodyPr>
          <a:lstStyle/>
          <a:p>
            <a:pPr algn="just" eaLnBrk="0" fontAlgn="base" hangingPunct="0">
              <a:lnSpc>
                <a:spcPct val="120000"/>
              </a:lnSpc>
              <a:spcBef>
                <a:spcPct val="0"/>
              </a:spcBef>
              <a:spcAft>
                <a:spcPct val="0"/>
              </a:spcAft>
            </a:pP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当且仅当是一个码字</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即无传输错误</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时有</a:t>
            </a:r>
            <a:r>
              <a:rPr lang="en-US" altLang="zh-CN" sz="2400" i="1">
                <a:solidFill>
                  <a:srgbClr val="000000"/>
                </a:solidFill>
                <a:latin typeface="Times New Roman" panose="02020603050405020304" pitchFamily="18" charset="0"/>
                <a:ea typeface="黑体" panose="02010609060101010101" pitchFamily="49" charset="-122"/>
                <a:sym typeface="+mn-ea"/>
              </a:rPr>
              <a:t>S</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，否则错误矢量本身就是一个码字，此时出现了不可检错误。只要码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设计适当，就几乎不会出现不可检错误。</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sp>
        <p:nvSpPr>
          <p:cNvPr id="5" name="内容占位符 2"/>
          <p:cNvSpPr txBox="1"/>
          <p:nvPr/>
        </p:nvSpPr>
        <p:spPr>
          <a:xfrm>
            <a:off x="2952750" y="3046095"/>
            <a:ext cx="6455410" cy="174752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3079751" y="3129281"/>
            <a:ext cx="6243955" cy="1004699"/>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b="1" dirty="0">
                <a:solidFill>
                  <a:srgbClr val="FF0000"/>
                </a:solidFill>
                <a:latin typeface="Times New Roman" panose="02020603050405020304" pitchFamily="18" charset="0"/>
                <a:ea typeface="黑体" panose="02010609060101010101" pitchFamily="49" charset="-122"/>
                <a:sym typeface="+mn-ea"/>
              </a:rPr>
              <a:t>伴随式：</a:t>
            </a:r>
            <a:r>
              <a:rPr lang="zh-CN" altLang="en-US" sz="2400" dirty="0">
                <a:solidFill>
                  <a:srgbClr val="000000"/>
                </a:solidFill>
                <a:latin typeface="黑体" panose="02010609060101010101" pitchFamily="49" charset="-122"/>
                <a:ea typeface="黑体" panose="02010609060101010101" pitchFamily="49" charset="-122"/>
                <a:sym typeface="+mn-ea"/>
              </a:rPr>
              <a:t>当接收到</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zh-CN" altLang="en-US" sz="2400" dirty="0">
                <a:solidFill>
                  <a:srgbClr val="000000"/>
                </a:solidFill>
                <a:latin typeface="黑体" panose="02010609060101010101" pitchFamily="49" charset="-122"/>
                <a:ea typeface="黑体" panose="02010609060101010101" pitchFamily="49" charset="-122"/>
                <a:sym typeface="+mn-ea"/>
              </a:rPr>
              <a:t>后，译码器计算下述</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黑体" panose="02010609060101010101" pitchFamily="49" charset="-122"/>
                <a:ea typeface="黑体" panose="02010609060101010101" pitchFamily="49" charset="-122"/>
                <a:sym typeface="+mn-ea"/>
              </a:rPr>
              <a:t>重</a:t>
            </a:r>
          </a:p>
          <a:p>
            <a:pPr algn="just" eaLnBrk="0" fontAlgn="base" hangingPunct="0">
              <a:lnSpc>
                <a:spcPct val="130000"/>
              </a:lnSpc>
              <a:spcBef>
                <a:spcPct val="0"/>
              </a:spcBef>
              <a:spcAft>
                <a:spcPct val="0"/>
              </a:spcAft>
            </a:pP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8" name="文本框 7"/>
          <p:cNvSpPr txBox="1"/>
          <p:nvPr/>
        </p:nvSpPr>
        <p:spPr>
          <a:xfrm>
            <a:off x="5020310" y="3634106"/>
            <a:ext cx="3337560" cy="524567"/>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en-US" altLang="zh-CN" sz="2400" i="1">
                <a:solidFill>
                  <a:srgbClr val="000000"/>
                </a:solidFill>
                <a:latin typeface="Times New Roman" panose="02020603050405020304" pitchFamily="18" charset="0"/>
                <a:ea typeface="黑体" panose="02010609060101010101" pitchFamily="49" charset="-122"/>
                <a:sym typeface="+mn-ea"/>
              </a:rPr>
              <a:t>S</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r</a:t>
            </a:r>
            <a:r>
              <a:rPr lang="en-US" altLang="en-US" sz="2400" i="1"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T</a:t>
            </a:r>
            <a:r>
              <a:rPr lang="en-US" altLang="zh-CN" sz="2400" i="1" baseline="30000">
                <a:solidFill>
                  <a:srgbClr val="000000"/>
                </a:solidFill>
                <a:latin typeface="Times New Roman" panose="02020603050405020304" pitchFamily="18" charset="0"/>
                <a:ea typeface="黑体" panose="02010609060101010101" pitchFamily="49" charset="-122"/>
                <a:sym typeface="+mn-ea"/>
              </a:rPr>
              <a:t> </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s</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s</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s</a:t>
            </a:r>
            <a:r>
              <a:rPr lang="en-US" altLang="zh-CN" sz="2400" i="1" baseline="-25000">
                <a:solidFill>
                  <a:srgbClr val="000000"/>
                </a:solidFill>
                <a:latin typeface="Times New Roman" panose="02020603050405020304" pitchFamily="18" charset="0"/>
                <a:ea typeface="黑体" panose="02010609060101010101" pitchFamily="49" charset="-122"/>
                <a:sym typeface="+mn-ea"/>
              </a:rPr>
              <a:t>n-k-</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9" name="文本框 8"/>
          <p:cNvSpPr txBox="1"/>
          <p:nvPr/>
        </p:nvSpPr>
        <p:spPr>
          <a:xfrm>
            <a:off x="4307206" y="4126230"/>
            <a:ext cx="3358515" cy="520848"/>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则称</a:t>
            </a:r>
            <a:r>
              <a:rPr lang="en-US" altLang="zh-CN" sz="2400" i="1">
                <a:solidFill>
                  <a:srgbClr val="000000"/>
                </a:solidFill>
                <a:latin typeface="Times New Roman" panose="02020603050405020304" pitchFamily="18" charset="0"/>
                <a:ea typeface="黑体" panose="02010609060101010101" pitchFamily="49" charset="-122"/>
                <a:sym typeface="+mn-ea"/>
              </a:rPr>
              <a:t>S</a:t>
            </a:r>
            <a:r>
              <a:rPr lang="zh-CN" altLang="en-US" sz="2400" dirty="0">
                <a:solidFill>
                  <a:srgbClr val="000000"/>
                </a:solidFill>
                <a:latin typeface="Times New Roman" panose="02020603050405020304" pitchFamily="18" charset="0"/>
                <a:ea typeface="黑体" panose="02010609060101010101" pitchFamily="49" charset="-122"/>
                <a:sym typeface="+mn-ea"/>
              </a:rPr>
              <a:t>为</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zh-CN" altLang="en-US" sz="2400" dirty="0">
                <a:solidFill>
                  <a:srgbClr val="000000"/>
                </a:solidFill>
                <a:latin typeface="Times New Roman" panose="02020603050405020304" pitchFamily="18" charset="0"/>
                <a:ea typeface="黑体" panose="02010609060101010101" pitchFamily="49" charset="-122"/>
                <a:sym typeface="+mn-ea"/>
              </a:rPr>
              <a:t>的伴随式</a:t>
            </a:r>
            <a:r>
              <a:rPr lang="zh-CN" altLang="en-US" sz="2400" dirty="0">
                <a:solidFill>
                  <a:srgbClr val="000000"/>
                </a:solidFill>
                <a:latin typeface="黑体" panose="02010609060101010101" pitchFamily="49" charset="-122"/>
                <a:ea typeface="黑体" panose="02010609060101010101" pitchFamily="49" charset="-122"/>
                <a:sym typeface="+mn-ea"/>
              </a:rPr>
              <a:t>。</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伴随式纠错</a:t>
            </a:r>
          </a:p>
        </p:txBody>
      </p:sp>
      <p:sp>
        <p:nvSpPr>
          <p:cNvPr id="3" name="文本框 2"/>
          <p:cNvSpPr txBox="1"/>
          <p:nvPr/>
        </p:nvSpPr>
        <p:spPr>
          <a:xfrm>
            <a:off x="2513330" y="865506"/>
            <a:ext cx="3822700" cy="460375"/>
          </a:xfrm>
          <a:prstGeom prst="rect">
            <a:avLst/>
          </a:prstGeom>
          <a:noFill/>
        </p:spPr>
        <p:txBody>
          <a:bodyPr wrap="square" rtlCol="0" anchor="t">
            <a:spAutoFit/>
          </a:bodyPr>
          <a:lstStyle/>
          <a:p>
            <a:pPr eaLnBrk="0" fontAlgn="base" hangingPunct="0">
              <a:spcBef>
                <a:spcPct val="0"/>
              </a:spcBef>
              <a:spcAft>
                <a:spcPct val="0"/>
              </a:spcAft>
              <a:buClr>
                <a:srgbClr val="CCCCFF"/>
              </a:buClr>
              <a:buSzPct val="65000"/>
            </a:pPr>
            <a:r>
              <a:rPr lang="zh-CN" altLang="en-US" sz="2400" dirty="0">
                <a:solidFill>
                  <a:srgbClr val="000000"/>
                </a:solidFill>
                <a:latin typeface="黑体" panose="02010609060101010101" pitchFamily="49" charset="-122"/>
                <a:ea typeface="黑体" panose="02010609060101010101" pitchFamily="49" charset="-122"/>
                <a:sym typeface="+mn-ea"/>
              </a:rPr>
              <a:t>根据</a:t>
            </a:r>
            <a:r>
              <a:rPr lang="zh-CN" altLang="en-US" sz="2400" dirty="0">
                <a:solidFill>
                  <a:srgbClr val="000000"/>
                </a:solidFill>
                <a:latin typeface="Times New Roman" panose="02020603050405020304" pitchFamily="18" charset="0"/>
                <a:ea typeface="黑体" panose="02010609060101010101" pitchFamily="49" charset="-122"/>
                <a:sym typeface="+mn-ea"/>
              </a:rPr>
              <a:t>伴随式定义， 我们有</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sp>
        <p:nvSpPr>
          <p:cNvPr id="7" name="文本框 6"/>
          <p:cNvSpPr txBox="1"/>
          <p:nvPr/>
        </p:nvSpPr>
        <p:spPr>
          <a:xfrm>
            <a:off x="1854200" y="4612005"/>
            <a:ext cx="8309610" cy="1464632"/>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可以</a:t>
            </a:r>
            <a:r>
              <a:rPr lang="zh-CN" altLang="en-US" sz="2400" dirty="0">
                <a:solidFill>
                  <a:srgbClr val="000000"/>
                </a:solidFill>
                <a:latin typeface="黑体" panose="02010609060101010101" pitchFamily="49" charset="-122"/>
                <a:ea typeface="黑体" panose="02010609060101010101" pitchFamily="49" charset="-122"/>
                <a:sym typeface="+mn-ea"/>
              </a:rPr>
              <a:t>看出，</a:t>
            </a:r>
            <a:r>
              <a:rPr lang="zh-CN" altLang="en-US" sz="2400" dirty="0">
                <a:solidFill>
                  <a:srgbClr val="000000"/>
                </a:solidFill>
                <a:latin typeface="黑体" panose="02010609060101010101" pitchFamily="49" charset="-122"/>
                <a:ea typeface="黑体" panose="02010609060101010101" pitchFamily="49" charset="-122"/>
                <a:cs typeface="+mn-ea"/>
                <a:sym typeface="+mn-ea"/>
              </a:rPr>
              <a:t>伴随式是错误图样的组合，</a:t>
            </a:r>
            <a:r>
              <a:rPr lang="zh-CN" altLang="en-US" sz="2400" dirty="0">
                <a:solidFill>
                  <a:srgbClr val="000000"/>
                </a:solidFill>
                <a:latin typeface="黑体" panose="02010609060101010101" pitchFamily="49" charset="-122"/>
                <a:ea typeface="黑体" panose="02010609060101010101" pitchFamily="49" charset="-122"/>
                <a:sym typeface="+mn-ea"/>
              </a:rPr>
              <a:t>即伴随式包含了一定程度的错误图样信息，因而可以用来纠错</a:t>
            </a:r>
            <a:r>
              <a:rPr lang="en-US" altLang="zh-CN" sz="2400">
                <a:solidFill>
                  <a:srgbClr val="00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伴随式纠错</a:t>
            </a:r>
            <a:r>
              <a:rPr lang="zh-CN" altLang="en-US" sz="2400" dirty="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sp>
        <p:nvSpPr>
          <p:cNvPr id="8" name="文本框 7"/>
          <p:cNvSpPr txBox="1"/>
          <p:nvPr/>
        </p:nvSpPr>
        <p:spPr>
          <a:xfrm>
            <a:off x="3685540" y="1367156"/>
            <a:ext cx="4730750" cy="524567"/>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en-US" altLang="zh-CN" sz="2400" i="1">
                <a:solidFill>
                  <a:srgbClr val="000000"/>
                </a:solidFill>
                <a:latin typeface="Times New Roman" panose="02020603050405020304" pitchFamily="18" charset="0"/>
                <a:ea typeface="黑体" panose="02010609060101010101" pitchFamily="49" charset="-122"/>
                <a:sym typeface="+mn-ea"/>
              </a:rPr>
              <a:t>S</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r</a:t>
            </a:r>
            <a:r>
              <a:rPr lang="en-US" altLang="en-US" sz="2400" i="1"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T</a:t>
            </a:r>
            <a:r>
              <a:rPr lang="en-US" altLang="zh-CN" sz="2400" i="1" baseline="30000">
                <a:solidFill>
                  <a:srgbClr val="000000"/>
                </a:solidFill>
                <a:latin typeface="Times New Roman" panose="02020603050405020304" pitchFamily="18" charset="0"/>
                <a:ea typeface="黑体" panose="02010609060101010101" pitchFamily="49" charset="-122"/>
                <a:sym typeface="+mn-ea"/>
              </a:rPr>
              <a:t> </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v+e</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en-US" sz="2400" i="1"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T</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en-US" sz="2400" i="1"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T</a:t>
            </a:r>
            <a:r>
              <a:rPr lang="en-US" altLang="zh-CN" sz="2400" i="1" err="1">
                <a:solidFill>
                  <a:srgbClr val="000000"/>
                </a:solidFill>
                <a:latin typeface="Times New Roman" panose="02020603050405020304" pitchFamily="18" charset="0"/>
                <a:ea typeface="黑体" panose="02010609060101010101" pitchFamily="49" charset="-122"/>
                <a:sym typeface="+mn-ea"/>
              </a:rPr>
              <a:t>+e</a:t>
            </a:r>
            <a:r>
              <a:rPr lang="en-US" altLang="en-US" sz="2400" i="1"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T</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e</a:t>
            </a:r>
            <a:r>
              <a:rPr lang="en-US" altLang="en-US" sz="2400" i="1"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T</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9" name="文本框 8"/>
          <p:cNvSpPr txBox="1"/>
          <p:nvPr/>
        </p:nvSpPr>
        <p:spPr>
          <a:xfrm>
            <a:off x="2493646" y="1859280"/>
            <a:ext cx="2983865" cy="520848"/>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展开后，可以得到</a:t>
            </a:r>
          </a:p>
        </p:txBody>
      </p:sp>
      <p:graphicFrame>
        <p:nvGraphicFramePr>
          <p:cNvPr id="4" name="对象 3">
            <a:hlinkClick r:id="" action="ppaction://ole?verb=0"/>
          </p:cNvPr>
          <p:cNvGraphicFramePr>
            <a:graphicFrameLocks noChangeAspect="1"/>
          </p:cNvGraphicFramePr>
          <p:nvPr/>
        </p:nvGraphicFramePr>
        <p:xfrm>
          <a:off x="2971801" y="2477454"/>
          <a:ext cx="6374765" cy="1895475"/>
        </p:xfrm>
        <a:graphic>
          <a:graphicData uri="http://schemas.openxmlformats.org/presentationml/2006/ole">
            <mc:AlternateContent xmlns:mc="http://schemas.openxmlformats.org/markup-compatibility/2006">
              <mc:Choice xmlns:v="urn:schemas-microsoft-com:vml" Requires="v">
                <p:oleObj r:id="rId3" imgW="3581400" imgH="965200" progId="Equation.KSEE3">
                  <p:embed/>
                </p:oleObj>
              </mc:Choice>
              <mc:Fallback>
                <p:oleObj r:id="rId3" imgW="3581400" imgH="965200" progId="Equation.KSEE3">
                  <p:embed/>
                  <p:pic>
                    <p:nvPicPr>
                      <p:cNvPr id="4" name="对象 3">
                        <a:hlinkClick r:id="" action="ppaction://ole?verb=0"/>
                      </p:cNvPr>
                      <p:cNvPicPr/>
                      <p:nvPr/>
                    </p:nvPicPr>
                    <p:blipFill>
                      <a:blip r:embed="rId4"/>
                      <a:stretch>
                        <a:fillRect/>
                      </a:stretch>
                    </p:blipFill>
                    <p:spPr>
                      <a:xfrm>
                        <a:off x="2971801" y="2477454"/>
                        <a:ext cx="6374765" cy="1895475"/>
                      </a:xfrm>
                      <a:prstGeom prst="rect">
                        <a:avLst/>
                      </a:prstGeom>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伴随式纠错</a:t>
            </a:r>
          </a:p>
        </p:txBody>
      </p:sp>
      <p:sp>
        <p:nvSpPr>
          <p:cNvPr id="7" name="文本框 6"/>
          <p:cNvSpPr txBox="1"/>
          <p:nvPr/>
        </p:nvSpPr>
        <p:spPr>
          <a:xfrm>
            <a:off x="1854201" y="909321"/>
            <a:ext cx="8474075" cy="296862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上述方程有</a:t>
            </a:r>
            <a:r>
              <a:rPr lang="en-US" altLang="zh-CN" sz="2400">
                <a:solidFill>
                  <a:srgbClr val="000000"/>
                </a:solidFill>
                <a:latin typeface="Times New Roman" panose="02020603050405020304" pitchFamily="18" charset="0"/>
                <a:ea typeface="黑体" panose="02010609060101010101" pitchFamily="49" charset="-122"/>
                <a:sym typeface="+mn-ea"/>
              </a:rPr>
              <a:t>2</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黑体" panose="02010609060101010101" pitchFamily="49" charset="-122"/>
                <a:ea typeface="黑体" panose="02010609060101010101" pitchFamily="49" charset="-122"/>
                <a:sym typeface="+mn-ea"/>
              </a:rPr>
              <a:t>个解，即对同一个伴随式，存在</a:t>
            </a:r>
            <a:r>
              <a:rPr lang="en-US" altLang="zh-CN" sz="2400">
                <a:solidFill>
                  <a:srgbClr val="000000"/>
                </a:solidFill>
                <a:latin typeface="Times New Roman" panose="02020603050405020304" pitchFamily="18" charset="0"/>
                <a:ea typeface="黑体" panose="02010609060101010101" pitchFamily="49" charset="-122"/>
                <a:sym typeface="+mn-ea"/>
              </a:rPr>
              <a:t>2</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黑体" panose="02010609060101010101" pitchFamily="49" charset="-122"/>
                <a:ea typeface="黑体" panose="02010609060101010101" pitchFamily="49" charset="-122"/>
                <a:sym typeface="+mn-ea"/>
              </a:rPr>
              <a:t>个可能的错误图样，因此，上述方程虽然包含错误图样的信息，但是实际应用起来纠错困难。</a:t>
            </a:r>
          </a:p>
          <a:p>
            <a:pPr algn="just" eaLnBrk="0" fontAlgn="base" hangingPunct="0">
              <a:lnSpc>
                <a:spcPct val="130000"/>
              </a:lnSpc>
              <a:spcBef>
                <a:spcPct val="0"/>
              </a:spcBef>
              <a:spcAft>
                <a:spcPct val="0"/>
              </a:spcAft>
            </a:pPr>
            <a:r>
              <a:rPr lang="zh-CN" altLang="en-US" sz="2400" dirty="0">
                <a:solidFill>
                  <a:srgbClr val="000000"/>
                </a:solidFill>
                <a:latin typeface="黑体" panose="02010609060101010101" pitchFamily="49" charset="-122"/>
                <a:ea typeface="黑体" panose="02010609060101010101" pitchFamily="49" charset="-122"/>
                <a:sym typeface="+mn-ea"/>
              </a:rPr>
              <a:t> </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实际中的纠错，都是如何有效地从这些错误图样中选取真正的错误图样，从而得到正确的发送矢量。对于</a:t>
            </a:r>
            <a:r>
              <a:rPr lang="en-US" altLang="zh-CN" sz="2400">
                <a:solidFill>
                  <a:srgbClr val="000000"/>
                </a:solidFill>
                <a:latin typeface="Times New Roman" panose="02020603050405020304" pitchFamily="18" charset="0"/>
                <a:ea typeface="黑体" panose="02010609060101010101" pitchFamily="49" charset="-122"/>
                <a:sym typeface="+mn-ea"/>
              </a:rPr>
              <a:t>BSC</a:t>
            </a:r>
            <a:r>
              <a:rPr lang="zh-CN" altLang="en-US" sz="2400" dirty="0">
                <a:solidFill>
                  <a:srgbClr val="000000"/>
                </a:solidFill>
                <a:latin typeface="黑体" panose="02010609060101010101" pitchFamily="49" charset="-122"/>
                <a:ea typeface="黑体" panose="02010609060101010101" pitchFamily="49" charset="-122"/>
                <a:sym typeface="+mn-ea"/>
              </a:rPr>
              <a:t>信道，最可能的错误图样是非零数字最少的那个</a:t>
            </a:r>
            <a:r>
              <a:rPr lang="zh-CN" altLang="en-US" sz="2400" dirty="0">
                <a:solidFill>
                  <a:srgbClr val="000000"/>
                </a:solidFill>
                <a:latin typeface="Times New Roman" panose="02020603050405020304" pitchFamily="18" charset="0"/>
                <a:ea typeface="黑体" panose="02010609060101010101" pitchFamily="49" charset="-122"/>
                <a:sym typeface="+mn-ea"/>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伴随式纠错</a:t>
            </a:r>
          </a:p>
        </p:txBody>
      </p:sp>
      <p:sp>
        <p:nvSpPr>
          <p:cNvPr id="7" name="文本框 6"/>
          <p:cNvSpPr txBox="1"/>
          <p:nvPr/>
        </p:nvSpPr>
        <p:spPr>
          <a:xfrm>
            <a:off x="1854201" y="909320"/>
            <a:ext cx="8474075" cy="449418"/>
          </a:xfrm>
          <a:prstGeom prst="rect">
            <a:avLst/>
          </a:prstGeom>
          <a:noFill/>
        </p:spPr>
        <p:txBody>
          <a:bodyPr wrap="square" rtlCol="0" anchor="t">
            <a:spAutoFit/>
          </a:bodyPr>
          <a:lstStyle/>
          <a:p>
            <a:pPr indent="508000" algn="just" eaLnBrk="0" fontAlgn="base" hangingPunct="0">
              <a:lnSpc>
                <a:spcPct val="130000"/>
              </a:lnSpc>
              <a:spcBef>
                <a:spcPct val="0"/>
              </a:spcBef>
              <a:spcAft>
                <a:spcPct val="0"/>
              </a:spcAft>
              <a:extLst>
                <a:ext uri="{35155182-B16C-46BC-9424-99874614C6A1}">
                  <wpsdc:indentchars xmlns="" xmlns:wpsdc="http://www.wps.cn/officeDocument/2017/drawingmlCustomData" val="200" checksum="282533468"/>
                </a:ext>
              </a:extLst>
            </a:pPr>
            <a:r>
              <a:rPr lang="zh-CN" altLang="en-US" sz="2000" dirty="0">
                <a:solidFill>
                  <a:srgbClr val="000000"/>
                </a:solidFill>
                <a:latin typeface="黑体" panose="02010609060101010101" pitchFamily="49" charset="-122"/>
                <a:ea typeface="黑体" panose="02010609060101010101" pitchFamily="49" charset="-122"/>
                <a:sym typeface="+mn-ea"/>
              </a:rPr>
              <a:t>考虑某</a:t>
            </a:r>
            <a:r>
              <a:rPr lang="en-US" altLang="zh-CN" sz="2000">
                <a:solidFill>
                  <a:srgbClr val="000000"/>
                </a:solidFill>
                <a:latin typeface="Times New Roman" panose="02020603050405020304" pitchFamily="18" charset="0"/>
                <a:ea typeface="黑体" panose="02010609060101010101" pitchFamily="49" charset="-122"/>
                <a:sym typeface="+mn-ea"/>
              </a:rPr>
              <a:t>(7,3)</a:t>
            </a:r>
            <a:r>
              <a:rPr lang="zh-CN" altLang="en-US" sz="2000" dirty="0">
                <a:solidFill>
                  <a:srgbClr val="000000"/>
                </a:solidFill>
                <a:latin typeface="黑体" panose="02010609060101010101" pitchFamily="49" charset="-122"/>
                <a:ea typeface="黑体" panose="02010609060101010101" pitchFamily="49" charset="-122"/>
                <a:sym typeface="+mn-ea"/>
              </a:rPr>
              <a:t>码，该码的生成矩阵</a:t>
            </a:r>
            <a:r>
              <a:rPr lang="en-US" altLang="zh-CN" sz="20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G</a:t>
            </a:r>
            <a:r>
              <a:rPr lang="zh-CN" altLang="en-US" sz="2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0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H</a:t>
            </a:r>
            <a:r>
              <a:rPr lang="zh-CN" altLang="en-US" sz="2000" dirty="0">
                <a:solidFill>
                  <a:srgbClr val="000000"/>
                </a:solidFill>
                <a:latin typeface="黑体" panose="02010609060101010101" pitchFamily="49" charset="-122"/>
                <a:ea typeface="黑体" panose="02010609060101010101" pitchFamily="49" charset="-122"/>
                <a:sym typeface="+mn-ea"/>
              </a:rPr>
              <a:t>为</a:t>
            </a:r>
            <a:endParaRPr lang="zh-CN" altLang="en-US" sz="2000" dirty="0">
              <a:solidFill>
                <a:srgbClr val="000000"/>
              </a:solidFill>
              <a:latin typeface="Times New Roman" panose="02020603050405020304" pitchFamily="18" charset="0"/>
              <a:ea typeface="黑体" panose="02010609060101010101" pitchFamily="49" charset="-122"/>
              <a:sym typeface="+mn-ea"/>
            </a:endParaRPr>
          </a:p>
        </p:txBody>
      </p:sp>
      <p:sp>
        <p:nvSpPr>
          <p:cNvPr id="3" name="文本框 2"/>
          <p:cNvSpPr txBox="1"/>
          <p:nvPr/>
        </p:nvSpPr>
        <p:spPr>
          <a:xfrm>
            <a:off x="1854201" y="3378835"/>
            <a:ext cx="8474075" cy="2491740"/>
          </a:xfrm>
          <a:prstGeom prst="rect">
            <a:avLst/>
          </a:prstGeom>
          <a:noFill/>
        </p:spPr>
        <p:txBody>
          <a:bodyPr wrap="square" rtlCol="0" anchor="t">
            <a:spAutoFit/>
          </a:bodyPr>
          <a:lstStyle/>
          <a:p>
            <a:pPr indent="508000" algn="just" eaLnBrk="0" fontAlgn="base" hangingPunct="0">
              <a:lnSpc>
                <a:spcPct val="130000"/>
              </a:lnSpc>
              <a:spcBef>
                <a:spcPct val="0"/>
              </a:spcBef>
              <a:spcAft>
                <a:spcPct val="0"/>
              </a:spcAft>
              <a:extLst>
                <a:ext uri="{35155182-B16C-46BC-9424-99874614C6A1}">
                  <wpsdc:indentchars xmlns="" xmlns:wpsdc="http://www.wps.cn/officeDocument/2017/drawingmlCustomData" val="200" checksum="282533468"/>
                </a:ext>
              </a:extLst>
            </a:pPr>
            <a:r>
              <a:rPr lang="zh-CN" altLang="en-US" sz="2000" dirty="0">
                <a:solidFill>
                  <a:srgbClr val="000000"/>
                </a:solidFill>
                <a:latin typeface="黑体" panose="02010609060101010101" pitchFamily="49" charset="-122"/>
                <a:ea typeface="黑体" panose="02010609060101010101" pitchFamily="49" charset="-122"/>
                <a:sym typeface="+mn-ea"/>
              </a:rPr>
              <a:t>令</a:t>
            </a:r>
            <a:r>
              <a:rPr lang="en-US" altLang="zh-CN" sz="20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u</a:t>
            </a:r>
            <a:r>
              <a:rPr lang="en-US" altLang="zh-CN" sz="2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=(101),</a:t>
            </a:r>
            <a:r>
              <a:rPr lang="en-US" altLang="zh-CN" sz="2000" i="1">
                <a:solidFill>
                  <a:srgbClr val="000000"/>
                </a:solidFill>
                <a:latin typeface="Times New Roman" panose="02020603050405020304" pitchFamily="18" charset="0"/>
                <a:ea typeface="黑体" panose="02010609060101010101" pitchFamily="49" charset="-122"/>
                <a:sym typeface="+mn-ea"/>
              </a:rPr>
              <a:t>v</a:t>
            </a:r>
            <a:r>
              <a:rPr lang="en-US" altLang="zh-CN" sz="2000">
                <a:solidFill>
                  <a:srgbClr val="000000"/>
                </a:solidFill>
                <a:latin typeface="Times New Roman" panose="02020603050405020304" pitchFamily="18" charset="0"/>
                <a:ea typeface="黑体" panose="02010609060101010101" pitchFamily="49" charset="-122"/>
                <a:sym typeface="+mn-ea"/>
              </a:rPr>
              <a:t>=(1001101)</a:t>
            </a:r>
            <a:r>
              <a:rPr lang="zh-CN" altLang="en-US" sz="2000" dirty="0">
                <a:solidFill>
                  <a:srgbClr val="000000"/>
                </a:solidFill>
                <a:latin typeface="黑体" panose="02010609060101010101" pitchFamily="49" charset="-122"/>
                <a:ea typeface="黑体" panose="02010609060101010101" pitchFamily="49" charset="-122"/>
                <a:sym typeface="+mn-ea"/>
              </a:rPr>
              <a:t>是发送码字，</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a:solidFill>
                  <a:srgbClr val="000000"/>
                </a:solidFill>
                <a:latin typeface="Times New Roman" panose="02020603050405020304" pitchFamily="18" charset="0"/>
                <a:ea typeface="黑体" panose="02010609060101010101" pitchFamily="49" charset="-122"/>
                <a:sym typeface="+mn-ea"/>
              </a:rPr>
              <a:t>=(0001101)</a:t>
            </a:r>
            <a:r>
              <a:rPr lang="zh-CN" altLang="en-US" sz="2000" dirty="0">
                <a:solidFill>
                  <a:srgbClr val="000000"/>
                </a:solidFill>
                <a:latin typeface="黑体" panose="02010609060101010101" pitchFamily="49" charset="-122"/>
                <a:ea typeface="黑体" panose="02010609060101010101" pitchFamily="49" charset="-122"/>
                <a:sym typeface="+mn-ea"/>
              </a:rPr>
              <a:t>是接收矢量，收到</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zh-CN" altLang="en-US" sz="2000" dirty="0">
                <a:solidFill>
                  <a:srgbClr val="000000"/>
                </a:solidFill>
                <a:latin typeface="黑体" panose="02010609060101010101" pitchFamily="49" charset="-122"/>
                <a:ea typeface="黑体" panose="02010609060101010101" pitchFamily="49" charset="-122"/>
                <a:sym typeface="+mn-ea"/>
              </a:rPr>
              <a:t>后首先计算</a:t>
            </a:r>
            <a:r>
              <a:rPr lang="en-US" altLang="zh-CN" sz="2000" i="1">
                <a:solidFill>
                  <a:srgbClr val="000000"/>
                </a:solidFill>
                <a:latin typeface="Times New Roman" panose="02020603050405020304" pitchFamily="18" charset="0"/>
                <a:ea typeface="黑体" panose="02010609060101010101" pitchFamily="49" charset="-122"/>
                <a:sym typeface="+mn-ea"/>
              </a:rPr>
              <a:t>S</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r</a:t>
            </a:r>
            <a:r>
              <a:rPr lang="en-US" altLang="en-US" sz="2000" i="1" err="1">
                <a:solidFill>
                  <a:srgbClr val="000000"/>
                </a:solidFill>
                <a:latin typeface="Times New Roman" panose="02020603050405020304" pitchFamily="18" charset="0"/>
                <a:ea typeface="宋体" panose="02010600030101010101" pitchFamily="2"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H</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T</a:t>
            </a:r>
            <a:r>
              <a:rPr lang="en-US" altLang="zh-CN" sz="2000" i="1" baseline="30000">
                <a:solidFill>
                  <a:srgbClr val="000000"/>
                </a:solidFill>
                <a:latin typeface="Times New Roman" panose="02020603050405020304" pitchFamily="18" charset="0"/>
                <a:ea typeface="黑体" panose="02010609060101010101" pitchFamily="49" charset="-122"/>
                <a:sym typeface="+mn-ea"/>
              </a:rPr>
              <a:t> </a:t>
            </a:r>
            <a:r>
              <a:rPr lang="en-US" altLang="zh-CN" sz="2000">
                <a:solidFill>
                  <a:srgbClr val="000000"/>
                </a:solidFill>
                <a:latin typeface="Times New Roman" panose="02020603050405020304" pitchFamily="18" charset="0"/>
                <a:ea typeface="黑体" panose="02010609060101010101" pitchFamily="49" charset="-122"/>
                <a:sym typeface="+mn-ea"/>
              </a:rPr>
              <a:t>=(1000)</a:t>
            </a:r>
            <a:r>
              <a:rPr lang="en-US" altLang="zh-CN" sz="2000">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，由伴随式和错误图样的关系方程有：</a:t>
            </a:r>
            <a:r>
              <a:rPr lang="en-US" altLang="zh-CN" sz="2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0</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5</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6</a:t>
            </a:r>
            <a:r>
              <a:rPr lang="en-US" altLang="zh-CN" sz="2000">
                <a:solidFill>
                  <a:srgbClr val="000000"/>
                </a:solidFill>
                <a:latin typeface="Times New Roman" panose="02020603050405020304" pitchFamily="18" charset="0"/>
                <a:ea typeface="黑体" panose="02010609060101010101" pitchFamily="49" charset="-122"/>
                <a:sym typeface="+mn-ea"/>
              </a:rPr>
              <a:t>, 0=</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4</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6</a:t>
            </a:r>
            <a:r>
              <a:rPr lang="en-US" altLang="zh-CN" sz="2000">
                <a:solidFill>
                  <a:srgbClr val="000000"/>
                </a:solidFill>
                <a:latin typeface="Times New Roman" panose="02020603050405020304" pitchFamily="18" charset="0"/>
                <a:ea typeface="黑体" panose="02010609060101010101" pitchFamily="49" charset="-122"/>
                <a:sym typeface="+mn-ea"/>
              </a:rPr>
              <a:t>, 0=</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2</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4</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5</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6</a:t>
            </a:r>
            <a:r>
              <a:rPr lang="en-US" altLang="zh-CN" sz="2000">
                <a:solidFill>
                  <a:srgbClr val="000000"/>
                </a:solidFill>
                <a:latin typeface="Times New Roman" panose="02020603050405020304" pitchFamily="18" charset="0"/>
                <a:ea typeface="黑体" panose="02010609060101010101" pitchFamily="49" charset="-122"/>
                <a:sym typeface="+mn-ea"/>
              </a:rPr>
              <a:t>, 0=</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3</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4</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baseline="-25000">
                <a:solidFill>
                  <a:srgbClr val="000000"/>
                </a:solidFill>
                <a:latin typeface="Times New Roman" panose="02020603050405020304" pitchFamily="18" charset="0"/>
                <a:ea typeface="黑体" panose="02010609060101010101" pitchFamily="49" charset="-122"/>
                <a:sym typeface="+mn-ea"/>
              </a:rPr>
              <a:t>5</a:t>
            </a:r>
            <a:r>
              <a:rPr lang="en-US" altLang="zh-CN" sz="200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则得到</a:t>
            </a:r>
            <a:r>
              <a:rPr lang="en-US" altLang="zh-CN" sz="2000">
                <a:solidFill>
                  <a:srgbClr val="000000"/>
                </a:solidFill>
                <a:latin typeface="Times New Roman" panose="02020603050405020304" pitchFamily="18" charset="0"/>
                <a:ea typeface="黑体" panose="02010609060101010101" pitchFamily="49" charset="-122"/>
                <a:sym typeface="+mn-ea"/>
              </a:rPr>
              <a:t>2</a:t>
            </a:r>
            <a:r>
              <a:rPr lang="en-US" altLang="zh-CN" sz="2000" baseline="30000">
                <a:solidFill>
                  <a:srgbClr val="000000"/>
                </a:solidFill>
                <a:latin typeface="Times New Roman" panose="02020603050405020304" pitchFamily="18" charset="0"/>
                <a:ea typeface="黑体" panose="02010609060101010101" pitchFamily="49" charset="-122"/>
                <a:sym typeface="+mn-ea"/>
              </a:rPr>
              <a:t>3</a:t>
            </a:r>
            <a:r>
              <a:rPr lang="en-US" altLang="zh-CN" sz="200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个错误图样</a:t>
            </a:r>
            <a:r>
              <a:rPr lang="en-US" altLang="zh-CN" sz="2000">
                <a:solidFill>
                  <a:srgbClr val="000000"/>
                </a:solidFill>
                <a:latin typeface="Times New Roman" panose="02020603050405020304" pitchFamily="18" charset="0"/>
                <a:ea typeface="黑体" panose="02010609060101010101" pitchFamily="49" charset="-122"/>
                <a:sym typeface="+mn-ea"/>
              </a:rPr>
              <a:t>(1000000), (1010111), (1101011), ... ..., </a:t>
            </a:r>
            <a:r>
              <a:rPr lang="zh-CN" altLang="en-US" sz="2000" dirty="0">
                <a:solidFill>
                  <a:srgbClr val="000000"/>
                </a:solidFill>
                <a:latin typeface="Times New Roman" panose="02020603050405020304" pitchFamily="18" charset="0"/>
                <a:ea typeface="黑体" panose="02010609060101010101" pitchFamily="49" charset="-122"/>
                <a:sym typeface="+mn-ea"/>
              </a:rPr>
              <a:t>其中</a:t>
            </a:r>
            <a:r>
              <a:rPr lang="en-US" altLang="zh-CN" sz="2000">
                <a:solidFill>
                  <a:srgbClr val="000000"/>
                </a:solidFill>
                <a:latin typeface="Times New Roman" panose="02020603050405020304" pitchFamily="18" charset="0"/>
                <a:ea typeface="黑体" panose="02010609060101010101" pitchFamily="49" charset="-122"/>
                <a:sym typeface="+mn-ea"/>
              </a:rPr>
              <a:t>(1000000)</a:t>
            </a:r>
            <a:r>
              <a:rPr lang="zh-CN" altLang="en-US" sz="2000" dirty="0">
                <a:solidFill>
                  <a:srgbClr val="000000"/>
                </a:solidFill>
                <a:latin typeface="Times New Roman" panose="02020603050405020304" pitchFamily="18" charset="0"/>
                <a:ea typeface="黑体" panose="02010609060101010101" pitchFamily="49" charset="-122"/>
                <a:sym typeface="+mn-ea"/>
              </a:rPr>
              <a:t>是非零分量最少的图样，考虑</a:t>
            </a:r>
            <a:r>
              <a:rPr lang="en-US" altLang="zh-CN" sz="2000">
                <a:solidFill>
                  <a:srgbClr val="000000"/>
                </a:solidFill>
                <a:latin typeface="Times New Roman" panose="02020603050405020304" pitchFamily="18" charset="0"/>
                <a:ea typeface="黑体" panose="02010609060101010101" pitchFamily="49" charset="-122"/>
                <a:sym typeface="+mn-ea"/>
              </a:rPr>
              <a:t>BSC</a:t>
            </a:r>
            <a:r>
              <a:rPr lang="zh-CN" altLang="en-US" sz="2000" dirty="0">
                <a:solidFill>
                  <a:srgbClr val="000000"/>
                </a:solidFill>
                <a:latin typeface="Times New Roman" panose="02020603050405020304" pitchFamily="18" charset="0"/>
                <a:ea typeface="黑体" panose="02010609060101010101" pitchFamily="49" charset="-122"/>
                <a:sym typeface="+mn-ea"/>
              </a:rPr>
              <a:t>信道，则</a:t>
            </a:r>
            <a:r>
              <a:rPr lang="en-US" altLang="zh-CN" sz="2000">
                <a:solidFill>
                  <a:srgbClr val="000000"/>
                </a:solidFill>
                <a:latin typeface="Times New Roman" panose="02020603050405020304" pitchFamily="18" charset="0"/>
                <a:ea typeface="黑体" panose="02010609060101010101" pitchFamily="49" charset="-122"/>
                <a:sym typeface="+mn-ea"/>
              </a:rPr>
              <a:t>(1000000)</a:t>
            </a:r>
            <a:r>
              <a:rPr lang="zh-CN" altLang="en-US" sz="2000" dirty="0">
                <a:solidFill>
                  <a:srgbClr val="000000"/>
                </a:solidFill>
                <a:latin typeface="Times New Roman" panose="02020603050405020304" pitchFamily="18" charset="0"/>
                <a:ea typeface="黑体" panose="02010609060101010101" pitchFamily="49" charset="-122"/>
                <a:sym typeface="+mn-ea"/>
              </a:rPr>
              <a:t>是最为可能的错误矢量，因而确定</a:t>
            </a:r>
            <a:r>
              <a:rPr lang="en-US" altLang="zh-CN" sz="2000" i="1">
                <a:solidFill>
                  <a:srgbClr val="000000"/>
                </a:solidFill>
                <a:latin typeface="Times New Roman" panose="02020603050405020304" pitchFamily="18" charset="0"/>
                <a:ea typeface="黑体" panose="02010609060101010101" pitchFamily="49" charset="-122"/>
                <a:sym typeface="+mn-ea"/>
              </a:rPr>
              <a:t>v</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r</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e</a:t>
            </a:r>
            <a:r>
              <a:rPr lang="en-US" altLang="zh-CN" sz="2000">
                <a:solidFill>
                  <a:srgbClr val="000000"/>
                </a:solidFill>
                <a:latin typeface="Times New Roman" panose="02020603050405020304" pitchFamily="18" charset="0"/>
                <a:ea typeface="黑体" panose="02010609060101010101" pitchFamily="49" charset="-122"/>
                <a:sym typeface="+mn-ea"/>
              </a:rPr>
              <a:t>=(0001101)+ (1000000)=(1001101)</a:t>
            </a:r>
          </a:p>
        </p:txBody>
      </p:sp>
      <p:graphicFrame>
        <p:nvGraphicFramePr>
          <p:cNvPr id="14" name="对象 13">
            <a:hlinkClick r:id="" action="ppaction://ole?verb=0"/>
          </p:cNvPr>
          <p:cNvGraphicFramePr>
            <a:graphicFrameLocks noChangeAspect="1"/>
          </p:cNvGraphicFramePr>
          <p:nvPr/>
        </p:nvGraphicFramePr>
        <p:xfrm>
          <a:off x="2742883" y="1524000"/>
          <a:ext cx="6690360" cy="1794510"/>
        </p:xfrm>
        <a:graphic>
          <a:graphicData uri="http://schemas.openxmlformats.org/presentationml/2006/ole">
            <mc:AlternateContent xmlns:mc="http://schemas.openxmlformats.org/markup-compatibility/2006">
              <mc:Choice xmlns:v="urn:schemas-microsoft-com:vml" Requires="v">
                <p:oleObj r:id="rId3" imgW="3759200" imgH="914400" progId="Equation.KSEE3">
                  <p:embed/>
                </p:oleObj>
              </mc:Choice>
              <mc:Fallback>
                <p:oleObj r:id="rId3" imgW="3759200" imgH="914400" progId="Equation.KSEE3">
                  <p:embed/>
                  <p:pic>
                    <p:nvPicPr>
                      <p:cNvPr id="14" name="对象 13">
                        <a:hlinkClick r:id="" action="ppaction://ole?verb=0"/>
                      </p:cNvPr>
                      <p:cNvPicPr/>
                      <p:nvPr/>
                    </p:nvPicPr>
                    <p:blipFill>
                      <a:blip r:embed="rId4"/>
                      <a:stretch>
                        <a:fillRect/>
                      </a:stretch>
                    </p:blipFill>
                    <p:spPr>
                      <a:xfrm>
                        <a:off x="2742883" y="1524000"/>
                        <a:ext cx="6690360" cy="1794510"/>
                      </a:xfrm>
                      <a:prstGeom prst="rect">
                        <a:avLst/>
                      </a:prstGeom>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汉明重量</a:t>
            </a:r>
          </a:p>
        </p:txBody>
      </p:sp>
      <p:sp>
        <p:nvSpPr>
          <p:cNvPr id="12" name="内容占位符 2"/>
          <p:cNvSpPr txBox="1"/>
          <p:nvPr/>
        </p:nvSpPr>
        <p:spPr>
          <a:xfrm>
            <a:off x="1866901" y="1381126"/>
            <a:ext cx="8509635" cy="110299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3" name="文本框 12"/>
          <p:cNvSpPr txBox="1"/>
          <p:nvPr/>
        </p:nvSpPr>
        <p:spPr>
          <a:xfrm>
            <a:off x="1997710" y="1442721"/>
            <a:ext cx="8256270" cy="936347"/>
          </a:xfrm>
          <a:prstGeom prst="rect">
            <a:avLst/>
          </a:prstGeom>
          <a:noFill/>
        </p:spPr>
        <p:txBody>
          <a:bodyPr wrap="square" rtlCol="0" anchor="t">
            <a:spAutoFit/>
          </a:bodyPr>
          <a:lstStyle/>
          <a:p>
            <a:pPr algn="just" eaLnBrk="0" fontAlgn="base" hangingPunct="0">
              <a:lnSpc>
                <a:spcPct val="12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sym typeface="+mn-ea"/>
              </a:rPr>
              <a:t>汉明重量：</a:t>
            </a:r>
            <a:r>
              <a:rPr lang="zh-CN" altLang="en-US" sz="2400" dirty="0">
                <a:solidFill>
                  <a:srgbClr val="000000"/>
                </a:solidFill>
                <a:latin typeface="黑体" panose="02010609060101010101" pitchFamily="49" charset="-122"/>
                <a:ea typeface="黑体" panose="02010609060101010101" pitchFamily="49" charset="-122"/>
                <a:sym typeface="+mn-ea"/>
              </a:rPr>
              <a:t>令</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是二元</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黑体" panose="02010609060101010101" pitchFamily="49" charset="-122"/>
                <a:ea typeface="黑体" panose="02010609060101010101" pitchFamily="49" charset="-122"/>
                <a:sym typeface="+mn-ea"/>
              </a:rPr>
              <a:t>重，</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zh-CN" altLang="en-US" sz="2400" dirty="0">
                <a:solidFill>
                  <a:srgbClr val="000000"/>
                </a:solidFill>
                <a:latin typeface="黑体" panose="02010609060101010101" pitchFamily="49" charset="-122"/>
                <a:ea typeface="黑体" panose="02010609060101010101" pitchFamily="49" charset="-122"/>
                <a:sym typeface="+mn-ea"/>
              </a:rPr>
              <a:t>的汉明重量</a:t>
            </a:r>
            <a:r>
              <a:rPr lang="en-US" altLang="zh-CN" sz="2400" i="1" err="1">
                <a:solidFill>
                  <a:srgbClr val="000000"/>
                </a:solidFill>
                <a:latin typeface="Times New Roman" panose="02020603050405020304" pitchFamily="18" charset="0"/>
                <a:ea typeface="黑体" panose="02010609060101010101" pitchFamily="49" charset="-122"/>
                <a:sym typeface="+mn-ea"/>
              </a:rPr>
              <a:t>w</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定义为</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zh-CN" altLang="en-US" sz="2400" dirty="0">
                <a:solidFill>
                  <a:srgbClr val="000000"/>
                </a:solidFill>
                <a:latin typeface="黑体" panose="02010609060101010101" pitchFamily="49" charset="-122"/>
                <a:ea typeface="黑体" panose="02010609060101010101" pitchFamily="49" charset="-122"/>
                <a:sym typeface="+mn-ea"/>
              </a:rPr>
              <a:t>中非零分量的个数。</a:t>
            </a:r>
          </a:p>
        </p:txBody>
      </p:sp>
      <p:sp>
        <p:nvSpPr>
          <p:cNvPr id="3" name="内容占位符 2"/>
          <p:cNvSpPr txBox="1"/>
          <p:nvPr/>
        </p:nvSpPr>
        <p:spPr>
          <a:xfrm>
            <a:off x="1918336" y="4379595"/>
            <a:ext cx="8509635" cy="160147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4" name="文本框 3"/>
          <p:cNvSpPr txBox="1"/>
          <p:nvPr/>
        </p:nvSpPr>
        <p:spPr>
          <a:xfrm>
            <a:off x="2049145" y="4441191"/>
            <a:ext cx="8256270" cy="1420495"/>
          </a:xfrm>
          <a:prstGeom prst="rect">
            <a:avLst/>
          </a:prstGeom>
          <a:noFill/>
        </p:spPr>
        <p:txBody>
          <a:bodyPr wrap="square" rtlCol="0" anchor="t">
            <a:spAutoFit/>
          </a:bodyPr>
          <a:lstStyle/>
          <a:p>
            <a:pPr algn="just" eaLnBrk="0" fontAlgn="base" hangingPunct="0">
              <a:lnSpc>
                <a:spcPct val="12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sym typeface="+mn-ea"/>
              </a:rPr>
              <a:t>重量分布：</a:t>
            </a:r>
            <a:r>
              <a:rPr lang="zh-CN" altLang="en-US" sz="2400" dirty="0">
                <a:solidFill>
                  <a:srgbClr val="000000"/>
                </a:solidFill>
                <a:latin typeface="Times New Roman" panose="02020603050405020304" pitchFamily="18" charset="0"/>
                <a:ea typeface="黑体" panose="02010609060101010101" pitchFamily="49" charset="-122"/>
                <a:sym typeface="+mn-ea"/>
              </a:rPr>
              <a:t>对于</a:t>
            </a:r>
            <a:r>
              <a:rPr lang="zh-CN" altLang="en-US" sz="2400" dirty="0">
                <a:solidFill>
                  <a:srgbClr val="000000"/>
                </a:solidFill>
                <a:latin typeface="黑体" panose="02010609060101010101" pitchFamily="49" charset="-122"/>
                <a:ea typeface="黑体" panose="02010609060101010101" pitchFamily="49" charset="-122"/>
                <a:sym typeface="+mn-ea"/>
              </a:rPr>
              <a:t>码长为</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a:solidFill>
                  <a:srgbClr val="000000"/>
                </a:solidFill>
                <a:latin typeface="Times New Roman" panose="02020603050405020304" pitchFamily="18" charset="0"/>
                <a:ea typeface="黑体" panose="02010609060101010101" pitchFamily="49" charset="-122"/>
                <a:sym typeface="+mn-ea"/>
              </a:rPr>
              <a:t>的</a:t>
            </a:r>
            <a:r>
              <a:rPr lang="zh-CN" altLang="en-US" sz="2400" dirty="0">
                <a:solidFill>
                  <a:srgbClr val="000000"/>
                </a:solidFill>
                <a:latin typeface="Times New Roman" panose="02020603050405020304" pitchFamily="18" charset="0"/>
                <a:ea typeface="黑体" panose="02010609060101010101" pitchFamily="49" charset="-122"/>
                <a:sym typeface="+mn-ea"/>
              </a:rPr>
              <a:t>一个分组码</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不同的码字可能具有</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相同的汉明重量</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若记</a:t>
            </a:r>
            <a:r>
              <a:rPr lang="en-US" altLang="zh-CN" sz="2400" i="1">
                <a:solidFill>
                  <a:srgbClr val="000000"/>
                </a:solidFill>
                <a:latin typeface="Times New Roman" panose="02020603050405020304" pitchFamily="18" charset="0"/>
                <a:ea typeface="黑体" panose="02010609060101010101" pitchFamily="49" charset="-122"/>
                <a:sym typeface="+mn-ea"/>
              </a:rPr>
              <a:t>A</a:t>
            </a:r>
            <a:r>
              <a:rPr lang="en-US" altLang="zh-CN" sz="2400" i="1" baseline="-25000">
                <a:solidFill>
                  <a:srgbClr val="000000"/>
                </a:solidFill>
                <a:latin typeface="Times New Roman" panose="02020603050405020304" pitchFamily="18" charset="0"/>
                <a:ea typeface="黑体" panose="02010609060101010101" pitchFamily="49" charset="-122"/>
                <a:sym typeface="+mn-ea"/>
              </a:rPr>
              <a:t>i</a:t>
            </a:r>
            <a:r>
              <a:rPr lang="zh-CN" altLang="en-US" sz="2400" dirty="0">
                <a:solidFill>
                  <a:srgbClr val="000000"/>
                </a:solidFill>
                <a:latin typeface="黑体" panose="02010609060101010101" pitchFamily="49" charset="-122"/>
                <a:ea typeface="黑体" panose="02010609060101010101" pitchFamily="49" charset="-122"/>
                <a:sym typeface="+mn-ea"/>
              </a:rPr>
              <a:t>为该码中汉明重量为</a:t>
            </a:r>
            <a:r>
              <a:rPr lang="en-US" altLang="zh-CN" sz="2400" i="1">
                <a:solidFill>
                  <a:srgbClr val="000000"/>
                </a:solidFill>
                <a:latin typeface="Times New Roman" panose="02020603050405020304" pitchFamily="18" charset="0"/>
                <a:ea typeface="黑体" panose="02010609060101010101" pitchFamily="49" charset="-122"/>
                <a:sym typeface="+mn-ea"/>
              </a:rPr>
              <a:t>i</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码字个数</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称</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A</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A</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A</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是该码的重量分布。</a:t>
            </a:r>
          </a:p>
        </p:txBody>
      </p:sp>
      <p:sp>
        <p:nvSpPr>
          <p:cNvPr id="5" name="文本框 4"/>
          <p:cNvSpPr txBox="1"/>
          <p:nvPr/>
        </p:nvSpPr>
        <p:spPr>
          <a:xfrm>
            <a:off x="2410460" y="2806066"/>
            <a:ext cx="7600950" cy="1065613"/>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400" dirty="0">
                <a:solidFill>
                  <a:srgbClr val="FF000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cs typeface="+mn-ea"/>
                <a:sym typeface="+mn-ea"/>
              </a:rPr>
              <a:t>设有</a:t>
            </a:r>
            <a:r>
              <a:rPr lang="zh-CN" altLang="en-US" sz="2400" dirty="0">
                <a:solidFill>
                  <a:srgbClr val="000000"/>
                </a:solidFill>
                <a:latin typeface="黑体" panose="02010609060101010101" pitchFamily="49" charset="-122"/>
                <a:ea typeface="黑体" panose="02010609060101010101" pitchFamily="49" charset="-122"/>
                <a:sym typeface="+mn-ea"/>
              </a:rPr>
              <a:t>两个码字</a:t>
            </a:r>
            <a:r>
              <a:rPr lang="en-US" altLang="zh-CN" sz="2400">
                <a:solidFill>
                  <a:srgbClr val="000000"/>
                </a:solidFill>
                <a:latin typeface="Times New Roman" panose="02020603050405020304" pitchFamily="18" charset="0"/>
                <a:ea typeface="黑体" panose="02010609060101010101" pitchFamily="49" charset="-122"/>
                <a:sym typeface="+mn-ea"/>
              </a:rPr>
              <a:t>{0100,1111}</a:t>
            </a:r>
            <a:r>
              <a:rPr lang="en-US" altLang="zh-CN" sz="2400">
                <a:solidFill>
                  <a:srgbClr val="000000"/>
                </a:solidFill>
                <a:latin typeface="黑体" panose="02010609060101010101" pitchFamily="49" charset="-122"/>
                <a:ea typeface="黑体" panose="02010609060101010101" pitchFamily="49" charset="-122"/>
                <a:sym typeface="+mn-ea"/>
              </a:rPr>
              <a:t>,</a:t>
            </a:r>
            <a:r>
              <a:rPr lang="zh-CN" altLang="en-US" sz="2400">
                <a:solidFill>
                  <a:srgbClr val="000000"/>
                </a:solidFill>
                <a:latin typeface="黑体" panose="02010609060101010101" pitchFamily="49" charset="-122"/>
                <a:ea typeface="黑体" panose="02010609060101010101" pitchFamily="49" charset="-122"/>
                <a:sym typeface="+mn-ea"/>
              </a:rPr>
              <a:t>则</a:t>
            </a:r>
            <a:r>
              <a:rPr lang="zh-CN" altLang="en-US" sz="2400" dirty="0">
                <a:solidFill>
                  <a:srgbClr val="000000"/>
                </a:solidFill>
                <a:latin typeface="黑体" panose="02010609060101010101" pitchFamily="49" charset="-122"/>
                <a:ea typeface="黑体" panose="02010609060101010101" pitchFamily="49" charset="-122"/>
                <a:sym typeface="+mn-ea"/>
              </a:rPr>
              <a:t>它们的汉明重量为</a:t>
            </a:r>
            <a:r>
              <a:rPr lang="en-US" altLang="zh-CN" sz="2400" dirty="0">
                <a:solidFill>
                  <a:srgbClr val="000000"/>
                </a:solidFill>
                <a:latin typeface="黑体" panose="02010609060101010101" pitchFamily="49" charset="-122"/>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w</a:t>
            </a:r>
            <a:r>
              <a:rPr lang="en-US" altLang="zh-CN" sz="2400">
                <a:solidFill>
                  <a:srgbClr val="000000"/>
                </a:solidFill>
                <a:latin typeface="Times New Roman" panose="02020603050405020304" pitchFamily="18" charset="0"/>
                <a:ea typeface="黑体" panose="02010609060101010101" pitchFamily="49" charset="-122"/>
                <a:sym typeface="+mn-ea"/>
              </a:rPr>
              <a:t>(0100)=1, </a:t>
            </a:r>
            <a:r>
              <a:rPr lang="en-US" altLang="zh-CN" sz="2400" i="1">
                <a:solidFill>
                  <a:srgbClr val="000000"/>
                </a:solidFill>
                <a:latin typeface="Times New Roman" panose="02020603050405020304" pitchFamily="18" charset="0"/>
                <a:ea typeface="黑体" panose="02010609060101010101" pitchFamily="49" charset="-122"/>
                <a:sym typeface="+mn-ea"/>
              </a:rPr>
              <a:t>w</a:t>
            </a:r>
            <a:r>
              <a:rPr lang="en-US" altLang="zh-CN" sz="2400">
                <a:solidFill>
                  <a:srgbClr val="000000"/>
                </a:solidFill>
                <a:latin typeface="Times New Roman" panose="02020603050405020304" pitchFamily="18" charset="0"/>
                <a:ea typeface="黑体" panose="02010609060101010101" pitchFamily="49" charset="-122"/>
                <a:sym typeface="+mn-ea"/>
              </a:rPr>
              <a:t>(1111)=4</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汉明距离</a:t>
            </a:r>
          </a:p>
        </p:txBody>
      </p:sp>
      <p:sp>
        <p:nvSpPr>
          <p:cNvPr id="12" name="内容占位符 2"/>
          <p:cNvSpPr txBox="1"/>
          <p:nvPr/>
        </p:nvSpPr>
        <p:spPr>
          <a:xfrm>
            <a:off x="1866901" y="1154431"/>
            <a:ext cx="8509635" cy="120205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3" name="文本框 12"/>
          <p:cNvSpPr txBox="1"/>
          <p:nvPr/>
        </p:nvSpPr>
        <p:spPr>
          <a:xfrm>
            <a:off x="2073275" y="1216025"/>
            <a:ext cx="8256270" cy="1000980"/>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sym typeface="+mn-ea"/>
              </a:rPr>
              <a:t>定义：</a:t>
            </a:r>
            <a:r>
              <a:rPr lang="zh-CN" altLang="en-US" sz="2400" dirty="0">
                <a:solidFill>
                  <a:srgbClr val="000000"/>
                </a:solidFill>
                <a:latin typeface="黑体" panose="02010609060101010101" pitchFamily="49" charset="-122"/>
                <a:ea typeface="黑体" panose="02010609060101010101" pitchFamily="49" charset="-122"/>
                <a:sym typeface="+mn-ea"/>
              </a:rPr>
              <a:t>令</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和</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是两个二元</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黑体" panose="02010609060101010101" pitchFamily="49" charset="-122"/>
                <a:ea typeface="黑体" panose="02010609060101010101" pitchFamily="49" charset="-122"/>
                <a:sym typeface="+mn-ea"/>
              </a:rPr>
              <a:t>重，</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则</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zh-CN" altLang="en-US" sz="2400" dirty="0">
                <a:solidFill>
                  <a:srgbClr val="000000"/>
                </a:solidFill>
                <a:latin typeface="黑体" panose="02010609060101010101" pitchFamily="49" charset="-122"/>
                <a:ea typeface="黑体" panose="02010609060101010101" pitchFamily="49" charset="-122"/>
                <a:sym typeface="+mn-ea"/>
              </a:rPr>
              <a:t>和</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zh-CN" altLang="en-US" sz="2400" dirty="0">
                <a:solidFill>
                  <a:srgbClr val="000000"/>
                </a:solidFill>
                <a:latin typeface="黑体" panose="02010609060101010101" pitchFamily="49" charset="-122"/>
                <a:ea typeface="黑体" panose="02010609060101010101" pitchFamily="49" charset="-122"/>
                <a:sym typeface="+mn-ea"/>
              </a:rPr>
              <a:t>之间的汉明距离</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定义为</a:t>
            </a:r>
            <a:r>
              <a:rPr lang="en-US" altLang="zh-CN" sz="2400" i="1" err="1">
                <a:solidFill>
                  <a:srgbClr val="000000"/>
                </a:solidFill>
                <a:latin typeface="Times New Roman" panose="02020603050405020304" pitchFamily="18" charset="0"/>
                <a:ea typeface="黑体" panose="02010609060101010101" pitchFamily="49" charset="-122"/>
                <a:sym typeface="+mn-ea"/>
              </a:rPr>
              <a:t>u+v</a:t>
            </a:r>
            <a:r>
              <a:rPr lang="zh-CN" altLang="en-US" sz="2400" dirty="0">
                <a:solidFill>
                  <a:srgbClr val="000000"/>
                </a:solidFill>
                <a:latin typeface="黑体" panose="02010609060101010101" pitchFamily="49" charset="-122"/>
                <a:ea typeface="黑体" panose="02010609060101010101" pitchFamily="49" charset="-122"/>
                <a:sym typeface="+mn-ea"/>
              </a:rPr>
              <a:t>的汉明重量。</a:t>
            </a:r>
          </a:p>
        </p:txBody>
      </p:sp>
      <p:sp>
        <p:nvSpPr>
          <p:cNvPr id="5" name="文本框 4"/>
          <p:cNvSpPr txBox="1"/>
          <p:nvPr/>
        </p:nvSpPr>
        <p:spPr>
          <a:xfrm>
            <a:off x="2410460" y="2503806"/>
            <a:ext cx="7600950" cy="1065613"/>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400" dirty="0">
                <a:solidFill>
                  <a:srgbClr val="FF000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cs typeface="+mn-ea"/>
                <a:sym typeface="+mn-ea"/>
              </a:rPr>
              <a:t>设有</a:t>
            </a:r>
            <a:r>
              <a:rPr lang="zh-CN" altLang="en-US" sz="2400" dirty="0">
                <a:solidFill>
                  <a:srgbClr val="000000"/>
                </a:solidFill>
                <a:latin typeface="黑体" panose="02010609060101010101" pitchFamily="49" charset="-122"/>
                <a:ea typeface="黑体" panose="02010609060101010101" pitchFamily="49" charset="-122"/>
                <a:sym typeface="+mn-ea"/>
              </a:rPr>
              <a:t>两个码字</a:t>
            </a:r>
            <a:r>
              <a:rPr lang="en-US" altLang="zh-CN" sz="2400">
                <a:solidFill>
                  <a:srgbClr val="000000"/>
                </a:solidFill>
                <a:latin typeface="Times New Roman" panose="02020603050405020304" pitchFamily="18" charset="0"/>
                <a:ea typeface="黑体" panose="02010609060101010101" pitchFamily="49" charset="-122"/>
                <a:sym typeface="+mn-ea"/>
              </a:rPr>
              <a:t>{0100,1111}</a:t>
            </a:r>
            <a:r>
              <a:rPr lang="en-US" altLang="zh-CN" sz="2400">
                <a:solidFill>
                  <a:srgbClr val="000000"/>
                </a:solidFill>
                <a:latin typeface="黑体" panose="02010609060101010101" pitchFamily="49" charset="-122"/>
                <a:ea typeface="黑体" panose="02010609060101010101" pitchFamily="49" charset="-122"/>
                <a:sym typeface="+mn-ea"/>
              </a:rPr>
              <a:t>,</a:t>
            </a:r>
            <a:r>
              <a:rPr lang="zh-CN" altLang="en-US" sz="2400">
                <a:solidFill>
                  <a:srgbClr val="000000"/>
                </a:solidFill>
                <a:latin typeface="黑体" panose="02010609060101010101" pitchFamily="49" charset="-122"/>
                <a:ea typeface="黑体" panose="02010609060101010101" pitchFamily="49" charset="-122"/>
                <a:sym typeface="+mn-ea"/>
              </a:rPr>
              <a:t>则</a:t>
            </a:r>
            <a:r>
              <a:rPr lang="zh-CN" altLang="en-US" sz="2400" dirty="0">
                <a:solidFill>
                  <a:srgbClr val="000000"/>
                </a:solidFill>
                <a:latin typeface="黑体" panose="02010609060101010101" pitchFamily="49" charset="-122"/>
                <a:ea typeface="黑体" panose="02010609060101010101" pitchFamily="49" charset="-122"/>
                <a:sym typeface="+mn-ea"/>
              </a:rPr>
              <a:t>它们的</a:t>
            </a:r>
            <a:r>
              <a:rPr lang="zh-CN" altLang="en-US" sz="2400" dirty="0">
                <a:solidFill>
                  <a:srgbClr val="000000"/>
                </a:solidFill>
                <a:latin typeface="Times New Roman" panose="02020603050405020304" pitchFamily="18" charset="0"/>
                <a:ea typeface="黑体" panose="02010609060101010101" pitchFamily="49" charset="-122"/>
                <a:sym typeface="+mn-ea"/>
              </a:rPr>
              <a:t>汉明距离</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zh-CN" sz="2400">
                <a:solidFill>
                  <a:srgbClr val="000000"/>
                </a:solidFill>
                <a:latin typeface="Times New Roman" panose="02020603050405020304" pitchFamily="18" charset="0"/>
                <a:ea typeface="黑体" panose="02010609060101010101" pitchFamily="49" charset="-122"/>
                <a:sym typeface="+mn-ea"/>
              </a:rPr>
              <a:t>(0100, 1111)=3</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sp>
        <p:nvSpPr>
          <p:cNvPr id="10" name="矩形 9"/>
          <p:cNvSpPr/>
          <p:nvPr/>
        </p:nvSpPr>
        <p:spPr>
          <a:xfrm>
            <a:off x="3281046" y="3810001"/>
            <a:ext cx="6217285" cy="261556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6" name="文本框 5"/>
          <p:cNvSpPr txBox="1"/>
          <p:nvPr/>
        </p:nvSpPr>
        <p:spPr>
          <a:xfrm>
            <a:off x="3433445" y="3962400"/>
            <a:ext cx="5999480" cy="2306320"/>
          </a:xfrm>
          <a:prstGeom prst="rect">
            <a:avLst/>
          </a:prstGeom>
          <a:noFill/>
        </p:spPr>
        <p:txBody>
          <a:bodyPr wrap="square" rtlCol="0" anchor="t">
            <a:spAutoFit/>
          </a:bodyPr>
          <a:lstStyle/>
          <a:p>
            <a:pPr algn="just" eaLnBrk="0" fontAlgn="base" hangingPunct="0">
              <a:lnSpc>
                <a:spcPct val="120000"/>
              </a:lnSpc>
              <a:spcBef>
                <a:spcPct val="0"/>
              </a:spcBef>
              <a:spcAft>
                <a:spcPct val="0"/>
              </a:spcAft>
              <a:buClr>
                <a:srgbClr val="CCCCFF"/>
              </a:buClr>
              <a:buSzPct val="65000"/>
            </a:pPr>
            <a:r>
              <a:rPr lang="zh-CN" altLang="en-US" sz="2400" b="1" dirty="0">
                <a:solidFill>
                  <a:srgbClr val="0070C0"/>
                </a:solidFill>
                <a:latin typeface="Times New Roman" panose="02020603050405020304" pitchFamily="18" charset="0"/>
                <a:ea typeface="黑体" panose="02010609060101010101" pitchFamily="49" charset="-122"/>
                <a:sym typeface="+mn-ea"/>
              </a:rPr>
              <a:t>汉明距离的性质：</a:t>
            </a:r>
            <a:endParaRPr lang="zh-CN" altLang="en-US" sz="2400" b="1" dirty="0">
              <a:solidFill>
                <a:srgbClr val="B2B2B2"/>
              </a:solidFill>
              <a:latin typeface="Times New Roman" panose="02020603050405020304" pitchFamily="18" charset="0"/>
              <a:ea typeface="黑体" panose="02010609060101010101" pitchFamily="49" charset="-122"/>
              <a:sym typeface="+mn-ea"/>
            </a:endParaRPr>
          </a:p>
          <a:p>
            <a:pPr lvl="1" algn="just" eaLnBrk="0" fontAlgn="base" hangingPunct="0">
              <a:lnSpc>
                <a:spcPct val="120000"/>
              </a:lnSpc>
              <a:spcBef>
                <a:spcPct val="0"/>
              </a:spcBef>
              <a:spcAft>
                <a:spcPct val="0"/>
              </a:spcAft>
              <a:buClr>
                <a:srgbClr val="CCCCFF"/>
              </a:buClr>
              <a:buSzPct val="65000"/>
            </a:pPr>
            <a:r>
              <a:rPr lang="en-US" altLang="zh-CN" sz="2400">
                <a:solidFill>
                  <a:srgbClr val="000000"/>
                </a:solidFill>
                <a:latin typeface="Times New Roman" panose="02020603050405020304" pitchFamily="18" charset="0"/>
                <a:ea typeface="黑体" panose="02010609060101010101" pitchFamily="49" charset="-122"/>
                <a:sym typeface="+mn-ea"/>
              </a:rPr>
              <a:t>1) </a:t>
            </a:r>
            <a:r>
              <a:rPr lang="zh-CN" altLang="en-US" sz="2400" dirty="0">
                <a:solidFill>
                  <a:srgbClr val="000000"/>
                </a:solidFill>
                <a:latin typeface="黑体" panose="02010609060101010101" pitchFamily="49" charset="-122"/>
                <a:ea typeface="黑体" panose="02010609060101010101" pitchFamily="49" charset="-122"/>
                <a:sym typeface="+mn-ea"/>
              </a:rPr>
              <a:t>非负性，</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en-US" sz="2400">
                <a:solidFill>
                  <a:srgbClr val="000000"/>
                </a:solidFill>
                <a:latin typeface="Arial" panose="020B0604020202020204" pitchFamily="34" charset="0"/>
                <a:ea typeface="宋体" panose="02010600030101010101" pitchFamily="2"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a:t>
            </a:r>
          </a:p>
          <a:p>
            <a:pPr lvl="1" algn="just" eaLnBrk="0" fontAlgn="base" hangingPunct="0">
              <a:lnSpc>
                <a:spcPct val="120000"/>
              </a:lnSpc>
              <a:spcBef>
                <a:spcPct val="0"/>
              </a:spcBef>
              <a:spcAft>
                <a:spcPct val="0"/>
              </a:spcAft>
              <a:buClr>
                <a:srgbClr val="CCCCFF"/>
              </a:buClr>
              <a:buSzPct val="65000"/>
            </a:pPr>
            <a:r>
              <a:rPr lang="en-US" altLang="zh-CN" sz="2400">
                <a:solidFill>
                  <a:srgbClr val="000000"/>
                </a:solidFill>
                <a:latin typeface="Times New Roman" panose="02020603050405020304" pitchFamily="18" charset="0"/>
                <a:ea typeface="黑体" panose="02010609060101010101" pitchFamily="49" charset="-122"/>
                <a:sym typeface="+mn-ea"/>
              </a:rPr>
              <a:t>2)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，当且仅当</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zh-CN" altLang="en-US" sz="2400" dirty="0">
                <a:solidFill>
                  <a:srgbClr val="000000"/>
                </a:solidFill>
                <a:latin typeface="Times New Roman" panose="02020603050405020304" pitchFamily="18" charset="0"/>
                <a:ea typeface="黑体" panose="02010609060101010101" pitchFamily="49" charset="-122"/>
                <a:sym typeface="+mn-ea"/>
              </a:rPr>
              <a:t>的时候；</a:t>
            </a:r>
          </a:p>
          <a:p>
            <a:pPr lvl="1" algn="just" eaLnBrk="0" fontAlgn="base" hangingPunct="0">
              <a:lnSpc>
                <a:spcPct val="120000"/>
              </a:lnSpc>
              <a:spcBef>
                <a:spcPct val="0"/>
              </a:spcBef>
              <a:spcAft>
                <a:spcPct val="0"/>
              </a:spcAft>
              <a:buClr>
                <a:srgbClr val="CCCCFF"/>
              </a:buClr>
              <a:buSzPct val="65000"/>
            </a:pPr>
            <a:r>
              <a:rPr lang="en-US" altLang="zh-CN" sz="2400">
                <a:solidFill>
                  <a:srgbClr val="000000"/>
                </a:solidFill>
                <a:latin typeface="Times New Roman" panose="02020603050405020304" pitchFamily="18" charset="0"/>
                <a:ea typeface="黑体" panose="02010609060101010101" pitchFamily="49" charset="-122"/>
                <a:sym typeface="+mn-ea"/>
              </a:rPr>
              <a:t>3) </a:t>
            </a:r>
            <a:r>
              <a:rPr lang="zh-CN" altLang="en-US" sz="2400" dirty="0">
                <a:solidFill>
                  <a:srgbClr val="000000"/>
                </a:solidFill>
                <a:latin typeface="Times New Roman" panose="02020603050405020304" pitchFamily="18" charset="0"/>
                <a:ea typeface="黑体" panose="02010609060101010101" pitchFamily="49" charset="-122"/>
                <a:sym typeface="+mn-ea"/>
              </a:rPr>
              <a:t>对称性：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a:t>
            </a:r>
          </a:p>
          <a:p>
            <a:pPr lvl="1" algn="just" eaLnBrk="0" fontAlgn="base" hangingPunct="0">
              <a:lnSpc>
                <a:spcPct val="120000"/>
              </a:lnSpc>
              <a:spcBef>
                <a:spcPct val="0"/>
              </a:spcBef>
              <a:spcAft>
                <a:spcPct val="0"/>
              </a:spcAft>
              <a:buClr>
                <a:srgbClr val="CCCCFF"/>
              </a:buClr>
              <a:buSzPct val="65000"/>
            </a:pPr>
            <a:r>
              <a:rPr lang="en-US" altLang="zh-CN" sz="2400">
                <a:solidFill>
                  <a:srgbClr val="000000"/>
                </a:solidFill>
                <a:latin typeface="Times New Roman" panose="02020603050405020304" pitchFamily="18" charset="0"/>
                <a:ea typeface="黑体" panose="02010609060101010101" pitchFamily="49" charset="-122"/>
                <a:sym typeface="+mn-ea"/>
              </a:rPr>
              <a:t>4) </a:t>
            </a:r>
            <a:r>
              <a:rPr lang="zh-CN" altLang="en-US" sz="2400" dirty="0">
                <a:solidFill>
                  <a:srgbClr val="000000"/>
                </a:solidFill>
                <a:latin typeface="黑体" panose="02010609060101010101" pitchFamily="49" charset="-122"/>
                <a:ea typeface="黑体" panose="02010609060101010101" pitchFamily="49" charset="-122"/>
                <a:sym typeface="+mn-ea"/>
              </a:rPr>
              <a:t>三角不等式：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w</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en-US"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w</a:t>
            </a:r>
            <a:r>
              <a:rPr lang="en-US" altLang="zh-CN" sz="2400">
                <a:solidFill>
                  <a:srgbClr val="000000"/>
                </a:solidFill>
                <a:latin typeface="Times New Roman" panose="02020603050405020304" pitchFamily="18" charset="0"/>
                <a:ea typeface="黑体" panose="02010609060101010101" pitchFamily="49" charset="-122"/>
                <a:sym typeface="+mn-ea"/>
              </a:rPr>
              <a:t>)</a:t>
            </a:r>
            <a:endParaRPr lang="zh-CN" altLang="en-US" sz="2400" err="1">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距离分布</a:t>
            </a:r>
          </a:p>
        </p:txBody>
      </p:sp>
      <p:sp>
        <p:nvSpPr>
          <p:cNvPr id="12" name="内容占位符 2"/>
          <p:cNvSpPr txBox="1"/>
          <p:nvPr/>
        </p:nvSpPr>
        <p:spPr>
          <a:xfrm>
            <a:off x="1866901" y="1154430"/>
            <a:ext cx="8509635" cy="269367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3" name="文本框 12"/>
          <p:cNvSpPr txBox="1"/>
          <p:nvPr/>
        </p:nvSpPr>
        <p:spPr>
          <a:xfrm>
            <a:off x="2073275" y="1216025"/>
            <a:ext cx="8256270" cy="2489200"/>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FF0000"/>
                </a:solidFill>
                <a:latin typeface="黑体" panose="02010609060101010101" pitchFamily="49" charset="-122"/>
                <a:ea typeface="黑体" panose="02010609060101010101" pitchFamily="49" charset="-122"/>
                <a:sym typeface="+mn-ea"/>
              </a:rPr>
              <a:t>定义：</a:t>
            </a:r>
            <a:r>
              <a:rPr lang="zh-CN" altLang="en-US" sz="2400" dirty="0">
                <a:solidFill>
                  <a:srgbClr val="000000"/>
                </a:solidFill>
                <a:latin typeface="Times New Roman" panose="02020603050405020304" pitchFamily="18" charset="0"/>
                <a:ea typeface="黑体" panose="02010609060101010101" pitchFamily="49" charset="-122"/>
                <a:sym typeface="+mn-ea"/>
              </a:rPr>
              <a:t>在</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码中，任意两个码字之间都有一个汉明距离，</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两组不同码字之间可能有相同的汉明距离。若记</a:t>
            </a:r>
            <a:r>
              <a:rPr lang="en-US" altLang="zh-CN" sz="2400" dirty="0">
                <a:solidFill>
                  <a:srgbClr val="000000"/>
                </a:solidFill>
                <a:latin typeface="黑体" panose="02010609060101010101" pitchFamily="49" charset="-122"/>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zh-CN" sz="2400" i="1" baseline="-25000">
                <a:solidFill>
                  <a:srgbClr val="000000"/>
                </a:solidFill>
                <a:latin typeface="Times New Roman" panose="02020603050405020304" pitchFamily="18" charset="0"/>
                <a:ea typeface="黑体" panose="02010609060101010101" pitchFamily="49" charset="-122"/>
                <a:sym typeface="+mn-ea"/>
              </a:rPr>
              <a:t>i</a:t>
            </a:r>
            <a:r>
              <a:rPr lang="en-US" altLang="zh-CN" sz="2400">
                <a:solidFill>
                  <a:srgbClr val="000000"/>
                </a:solidFill>
                <a:latin typeface="Times New Roman" panose="02020603050405020304" pitchFamily="18" charset="0"/>
                <a:ea typeface="黑体" panose="02010609060101010101" pitchFamily="49" charset="-122"/>
                <a:sym typeface="+mn-ea"/>
              </a:rPr>
              <a:t>(0</a:t>
            </a:r>
            <a:r>
              <a:rPr lang="en-US" altLang="en-US" sz="2400">
                <a:solidFill>
                  <a:srgbClr val="000000"/>
                </a:solidFill>
                <a:latin typeface="Arial" panose="020B0604020202020204" pitchFamily="34"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i</a:t>
            </a:r>
            <a:r>
              <a:rPr lang="en-US" altLang="en-US" sz="2400" i="1">
                <a:solidFill>
                  <a:srgbClr val="000000"/>
                </a:solidFill>
                <a:latin typeface="Arial" panose="020B0604020202020204" pitchFamily="34"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为距离为</a:t>
            </a:r>
            <a:r>
              <a:rPr lang="en-US" altLang="zh-CN" sz="2400" i="1">
                <a:solidFill>
                  <a:srgbClr val="000000"/>
                </a:solidFill>
                <a:latin typeface="Times New Roman" panose="02020603050405020304" pitchFamily="18" charset="0"/>
                <a:ea typeface="黑体" panose="02010609060101010101" pitchFamily="49" charset="-122"/>
                <a:sym typeface="+mn-ea"/>
              </a:rPr>
              <a:t>i</a:t>
            </a:r>
            <a:r>
              <a:rPr lang="zh-CN" altLang="en-US" sz="2400" dirty="0">
                <a:solidFill>
                  <a:srgbClr val="000000"/>
                </a:solidFill>
                <a:latin typeface="黑体" panose="02010609060101010101" pitchFamily="49" charset="-122"/>
                <a:ea typeface="黑体" panose="02010609060101010101" pitchFamily="49" charset="-122"/>
                <a:sym typeface="+mn-ea"/>
              </a:rPr>
              <a:t>的码字组数，那么称</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为此分组码的距离分布，并且称能够使</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zh-CN" sz="2400" i="1" baseline="-25000">
                <a:solidFill>
                  <a:srgbClr val="000000"/>
                </a:solidFill>
                <a:latin typeface="Times New Roman" panose="02020603050405020304" pitchFamily="18" charset="0"/>
                <a:ea typeface="黑体" panose="02010609060101010101" pitchFamily="49" charset="-122"/>
                <a:sym typeface="+mn-ea"/>
              </a:rPr>
              <a:t>i</a:t>
            </a:r>
            <a:r>
              <a:rPr lang="en-US" altLang="en-US" sz="2400">
                <a:solidFill>
                  <a:srgbClr val="000000"/>
                </a:solidFill>
                <a:latin typeface="Times New Roman" panose="02020603050405020304" pitchFamily="18" charset="0"/>
                <a:ea typeface="宋体" panose="02010600030101010101" pitchFamily="2"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黑体" panose="02010609060101010101" pitchFamily="49" charset="-122"/>
                <a:ea typeface="黑体" panose="02010609060101010101" pitchFamily="49" charset="-122"/>
                <a:sym typeface="+mn-ea"/>
              </a:rPr>
              <a:t>的那个</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最小整数</a:t>
            </a:r>
            <a:r>
              <a:rPr lang="en-US" altLang="zh-CN" sz="2400" i="1">
                <a:solidFill>
                  <a:srgbClr val="000000"/>
                </a:solidFill>
                <a:latin typeface="Times New Roman" panose="02020603050405020304" pitchFamily="18" charset="0"/>
                <a:ea typeface="黑体" panose="02010609060101010101" pitchFamily="49" charset="-122"/>
                <a:sym typeface="+mn-ea"/>
              </a:rPr>
              <a:t>i</a:t>
            </a:r>
            <a:r>
              <a:rPr lang="zh-CN" altLang="en-US" sz="2400" dirty="0">
                <a:solidFill>
                  <a:srgbClr val="000000"/>
                </a:solidFill>
                <a:latin typeface="黑体" panose="02010609060101010101" pitchFamily="49" charset="-122"/>
                <a:ea typeface="黑体" panose="02010609060101010101" pitchFamily="49" charset="-122"/>
                <a:sym typeface="+mn-ea"/>
              </a:rPr>
              <a:t>为该码的最小码间距离。</a:t>
            </a:r>
          </a:p>
        </p:txBody>
      </p:sp>
      <p:sp>
        <p:nvSpPr>
          <p:cNvPr id="9" name="文本框 8"/>
          <p:cNvSpPr txBox="1"/>
          <p:nvPr/>
        </p:nvSpPr>
        <p:spPr>
          <a:xfrm>
            <a:off x="2493645" y="4050665"/>
            <a:ext cx="6601460" cy="520848"/>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000000"/>
                </a:solidFill>
                <a:latin typeface="黑体" panose="02010609060101010101" pitchFamily="49" charset="-122"/>
                <a:ea typeface="黑体" panose="02010609060101010101" pitchFamily="49" charset="-122"/>
                <a:sym typeface="+mn-ea"/>
              </a:rPr>
              <a:t>特别的，对于线性分组码，有如下定理：</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3" name="矩形 2"/>
          <p:cNvSpPr/>
          <p:nvPr/>
        </p:nvSpPr>
        <p:spPr>
          <a:xfrm>
            <a:off x="2209800" y="4770756"/>
            <a:ext cx="7797800" cy="140779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4" name="文本框 3"/>
          <p:cNvSpPr txBox="1"/>
          <p:nvPr/>
        </p:nvSpPr>
        <p:spPr>
          <a:xfrm>
            <a:off x="2385695" y="4870450"/>
            <a:ext cx="7349490" cy="1130246"/>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线性码的最小码间距离等于非零码字的最</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小汉明重量</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纠错和检错能力</a:t>
            </a:r>
          </a:p>
        </p:txBody>
      </p:sp>
      <p:sp>
        <p:nvSpPr>
          <p:cNvPr id="9" name="文本框 8"/>
          <p:cNvSpPr txBox="1"/>
          <p:nvPr/>
        </p:nvSpPr>
        <p:spPr>
          <a:xfrm>
            <a:off x="1870075" y="952501"/>
            <a:ext cx="8591550" cy="504369"/>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000000"/>
                </a:solidFill>
                <a:latin typeface="黑体" panose="02010609060101010101" pitchFamily="49" charset="-122"/>
                <a:ea typeface="黑体" panose="02010609060101010101" pitchFamily="49" charset="-122"/>
                <a:sym typeface="+mn-ea"/>
              </a:rPr>
              <a:t>分组码的最小码间距离是决定该码纠错和检错能力的重要指标</a:t>
            </a:r>
          </a:p>
        </p:txBody>
      </p:sp>
      <p:sp>
        <p:nvSpPr>
          <p:cNvPr id="3" name="矩形 2"/>
          <p:cNvSpPr/>
          <p:nvPr/>
        </p:nvSpPr>
        <p:spPr>
          <a:xfrm>
            <a:off x="2197100" y="1752601"/>
            <a:ext cx="7797800" cy="303974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4" name="文本框 3"/>
          <p:cNvSpPr txBox="1"/>
          <p:nvPr/>
        </p:nvSpPr>
        <p:spPr>
          <a:xfrm>
            <a:off x="2385695" y="1847850"/>
            <a:ext cx="7470140" cy="2861310"/>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zh-CN" altLang="en-US" sz="2400" dirty="0">
                <a:solidFill>
                  <a:srgbClr val="000000"/>
                </a:solidFill>
                <a:latin typeface="黑体" panose="02010609060101010101" pitchFamily="49" charset="-122"/>
                <a:ea typeface="黑体" panose="02010609060101010101" pitchFamily="49" charset="-122"/>
                <a:sym typeface="+mn-ea"/>
              </a:rPr>
              <a:t>设</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线性码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的最小码间距离为</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zh-CN" altLang="en-US" sz="2400" dirty="0">
                <a:solidFill>
                  <a:srgbClr val="000000"/>
                </a:solidFill>
                <a:latin typeface="黑体" panose="02010609060101010101" pitchFamily="49" charset="-122"/>
                <a:ea typeface="黑体" panose="02010609060101010101" pitchFamily="49" charset="-122"/>
                <a:sym typeface="+mn-ea"/>
              </a:rPr>
              <a:t>，则</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若</a:t>
            </a:r>
            <a:r>
              <a:rPr lang="en-US" altLang="zh-CN" sz="2400" dirty="0">
                <a:solidFill>
                  <a:srgbClr val="000000"/>
                </a:solidFill>
                <a:latin typeface="黑体" panose="02010609060101010101" pitchFamily="49" charset="-122"/>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en-US"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，则码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能检测</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zh-CN" altLang="en-US" sz="2400" dirty="0">
                <a:solidFill>
                  <a:srgbClr val="000000"/>
                </a:solidFill>
                <a:latin typeface="黑体" panose="02010609060101010101" pitchFamily="49" charset="-122"/>
                <a:ea typeface="黑体" panose="02010609060101010101" pitchFamily="49" charset="-122"/>
                <a:sym typeface="+mn-ea"/>
              </a:rPr>
              <a:t>个随机错误；</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黑体" panose="02010609060101010101" pitchFamily="49" charset="-122"/>
                <a:ea typeface="黑体" panose="02010609060101010101" pitchFamily="49" charset="-122"/>
                <a:sym typeface="+mn-ea"/>
              </a:rPr>
              <a:t>若</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en-US" sz="24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2</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en-US" altLang="zh-CN" sz="2400">
                <a:solidFill>
                  <a:srgbClr val="000000"/>
                </a:solidFill>
                <a:latin typeface="Times New Roman" panose="02020603050405020304" pitchFamily="18" charset="0"/>
                <a:ea typeface="黑体" panose="02010609060101010101" pitchFamily="49" charset="-122"/>
                <a:sym typeface="+mn-ea"/>
              </a:rPr>
              <a:t>+1	</a:t>
            </a:r>
            <a:r>
              <a:rPr lang="zh-CN" altLang="en-US" sz="2400" dirty="0">
                <a:solidFill>
                  <a:srgbClr val="000000"/>
                </a:solidFill>
                <a:latin typeface="黑体" panose="02010609060101010101" pitchFamily="49" charset="-122"/>
                <a:ea typeface="黑体" panose="02010609060101010101" pitchFamily="49" charset="-122"/>
                <a:sym typeface="+mn-ea"/>
              </a:rPr>
              <a:t>，则码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能纠正</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zh-CN" altLang="en-US" sz="2400" dirty="0">
                <a:solidFill>
                  <a:srgbClr val="000000"/>
                </a:solidFill>
                <a:latin typeface="黑体" panose="02010609060101010101" pitchFamily="49" charset="-122"/>
                <a:ea typeface="黑体" panose="02010609060101010101" pitchFamily="49" charset="-122"/>
                <a:sym typeface="+mn-ea"/>
              </a:rPr>
              <a:t>个随机错误；</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黑体" panose="02010609060101010101" pitchFamily="49" charset="-122"/>
                <a:ea typeface="黑体" panose="02010609060101010101" pitchFamily="49" charset="-122"/>
                <a:sym typeface="+mn-ea"/>
              </a:rPr>
              <a:t>若</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en-US"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t+e</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，则</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能纠正</a:t>
            </a:r>
            <a:r>
              <a:rPr lang="en-US" altLang="zh-CN" sz="2400" i="1" err="1">
                <a:solidFill>
                  <a:srgbClr val="000000"/>
                </a:solidFill>
                <a:latin typeface="Times New Roman" panose="02020603050405020304" pitchFamily="18" charset="0"/>
                <a:ea typeface="黑体" panose="02010609060101010101" pitchFamily="49" charset="-122"/>
                <a:sym typeface="+mn-ea"/>
              </a:rPr>
              <a:t>t </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t</a:t>
            </a:r>
            <a:r>
              <a:rPr lang="en-US" altLang="en-US" sz="2400" i="1" err="1">
                <a:solidFill>
                  <a:srgbClr val="000000"/>
                </a:solidFill>
                <a:latin typeface="Arial" panose="020B0604020202020204" pitchFamily="34"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e</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个随机错误，同时还能检测</a:t>
            </a:r>
            <a:r>
              <a:rPr lang="en-US" altLang="zh-CN" sz="2400" i="1">
                <a:solidFill>
                  <a:srgbClr val="000000"/>
                </a:solidFill>
                <a:latin typeface="Times New Roman" panose="02020603050405020304" pitchFamily="18" charset="0"/>
                <a:ea typeface="黑体" panose="02010609060101010101" pitchFamily="49" charset="-122"/>
                <a:sym typeface="+mn-ea"/>
              </a:rPr>
              <a:t>e</a:t>
            </a:r>
            <a:r>
              <a:rPr lang="zh-CN" altLang="en-US" sz="2400" dirty="0">
                <a:solidFill>
                  <a:srgbClr val="000000"/>
                </a:solidFill>
                <a:latin typeface="黑体" panose="02010609060101010101" pitchFamily="49" charset="-122"/>
                <a:ea typeface="黑体" panose="02010609060101010101" pitchFamily="49" charset="-122"/>
                <a:sym typeface="+mn-ea"/>
              </a:rPr>
              <a:t>个</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随机错误</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sp>
        <p:nvSpPr>
          <p:cNvPr id="5" name="矩形 4"/>
          <p:cNvSpPr/>
          <p:nvPr/>
        </p:nvSpPr>
        <p:spPr>
          <a:xfrm>
            <a:off x="2460625" y="5257801"/>
            <a:ext cx="7274560" cy="909955"/>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8" name="文本框 7"/>
          <p:cNvSpPr txBox="1"/>
          <p:nvPr/>
        </p:nvSpPr>
        <p:spPr>
          <a:xfrm>
            <a:off x="2640965" y="5284471"/>
            <a:ext cx="6860540" cy="795667"/>
          </a:xfrm>
          <a:prstGeom prst="rect">
            <a:avLst/>
          </a:prstGeom>
          <a:noFill/>
        </p:spPr>
        <p:txBody>
          <a:bodyPr wrap="square" rtlCol="0" anchor="t">
            <a:spAutoFit/>
          </a:bodyPr>
          <a:lstStyle/>
          <a:p>
            <a:pPr algn="just" eaLnBrk="0" fontAlgn="base" hangingPunct="0">
              <a:lnSpc>
                <a:spcPct val="120000"/>
              </a:lnSpc>
              <a:spcAft>
                <a:spcPct val="0"/>
              </a:spcAft>
              <a:buClr>
                <a:srgbClr val="CCCCFF"/>
              </a:buClr>
              <a:buSzPct val="65000"/>
            </a:pPr>
            <a:r>
              <a:rPr sz="2000" b="1">
                <a:solidFill>
                  <a:srgbClr val="FF0000"/>
                </a:solidFill>
                <a:latin typeface="楷体" panose="02010609060101010101" charset="-122"/>
                <a:ea typeface="楷体" panose="02010609060101010101" charset="-122"/>
              </a:rPr>
              <a:t>思考题：</a:t>
            </a:r>
            <a:r>
              <a:rPr lang="zh-CN" altLang="en-US" sz="2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分组码的最小汉明距离同</a:t>
            </a:r>
            <a:r>
              <a:rPr lang="zh-CN" altLang="en-US" sz="2000" dirty="0">
                <a:solidFill>
                  <a:srgbClr val="000000"/>
                </a:solidFill>
                <a:latin typeface="黑体" panose="02010609060101010101" pitchFamily="49" charset="-122"/>
                <a:ea typeface="黑体" panose="02010609060101010101" pitchFamily="49" charset="-122"/>
                <a:sym typeface="+mn-ea"/>
              </a:rPr>
              <a:t>该码的纠错和检错能力有</a:t>
            </a:r>
            <a:r>
              <a:rPr lang="en-US" altLang="zh-CN" sz="2000" dirty="0">
                <a:solidFill>
                  <a:srgbClr val="000000"/>
                </a:solidFill>
                <a:latin typeface="黑体" panose="02010609060101010101" pitchFamily="49" charset="-122"/>
                <a:ea typeface="黑体" panose="02010609060101010101" pitchFamily="49" charset="-122"/>
                <a:sym typeface="+mn-ea"/>
              </a:rPr>
              <a:t>	 </a:t>
            </a:r>
            <a:r>
              <a:rPr lang="zh-CN" altLang="en-US" sz="2000" dirty="0">
                <a:solidFill>
                  <a:srgbClr val="000000"/>
                </a:solidFill>
                <a:latin typeface="黑体" panose="02010609060101010101" pitchFamily="49" charset="-122"/>
                <a:ea typeface="黑体" panose="02010609060101010101" pitchFamily="49" charset="-122"/>
                <a:sym typeface="+mn-ea"/>
              </a:rPr>
              <a:t>什么关系</a:t>
            </a:r>
            <a:r>
              <a:rPr lang="en-US" sz="2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最大距离可分码</a:t>
            </a:r>
          </a:p>
        </p:txBody>
      </p:sp>
      <p:sp>
        <p:nvSpPr>
          <p:cNvPr id="9" name="文本框 8"/>
          <p:cNvSpPr txBox="1"/>
          <p:nvPr/>
        </p:nvSpPr>
        <p:spPr>
          <a:xfrm>
            <a:off x="3003551" y="2085975"/>
            <a:ext cx="3474085" cy="520848"/>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该定理给出了</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zh-CN" altLang="en-US" sz="2400" dirty="0">
                <a:solidFill>
                  <a:srgbClr val="000000"/>
                </a:solidFill>
                <a:latin typeface="Times New Roman" panose="02020603050405020304" pitchFamily="18" charset="0"/>
                <a:ea typeface="黑体" panose="02010609060101010101" pitchFamily="49" charset="-122"/>
                <a:sym typeface="+mn-ea"/>
              </a:rPr>
              <a:t>的上界</a:t>
            </a:r>
            <a:r>
              <a:rPr lang="zh-CN" altLang="en-US" sz="2400" err="1">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sp>
        <p:nvSpPr>
          <p:cNvPr id="3" name="矩形 2"/>
          <p:cNvSpPr/>
          <p:nvPr/>
        </p:nvSpPr>
        <p:spPr>
          <a:xfrm>
            <a:off x="1879601" y="1072515"/>
            <a:ext cx="8212455" cy="82804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4" name="文本框 3"/>
          <p:cNvSpPr txBox="1"/>
          <p:nvPr/>
        </p:nvSpPr>
        <p:spPr>
          <a:xfrm>
            <a:off x="2265680" y="1136650"/>
            <a:ext cx="7771130" cy="576248"/>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k,d</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线性码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的最小码间距离</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满足</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a:t>
            </a:r>
            <a:r>
              <a:rPr lang="en-US" altLang="en-US" sz="2400">
                <a:solidFill>
                  <a:srgbClr val="000000"/>
                </a:solidFill>
                <a:latin typeface="Arial" panose="020B0604020202020204" pitchFamily="34"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n-k+</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a:t>
            </a:r>
            <a:endParaRPr lang="zh-CN" altLang="en-US" sz="2400" err="1">
              <a:solidFill>
                <a:srgbClr val="000000"/>
              </a:solidFill>
              <a:latin typeface="Times New Roman" panose="02020603050405020304" pitchFamily="18" charset="0"/>
              <a:ea typeface="黑体" panose="02010609060101010101" pitchFamily="49" charset="-122"/>
              <a:sym typeface="+mn-ea"/>
            </a:endParaRPr>
          </a:p>
        </p:txBody>
      </p:sp>
      <p:sp>
        <p:nvSpPr>
          <p:cNvPr id="12" name="内容占位符 2"/>
          <p:cNvSpPr txBox="1"/>
          <p:nvPr/>
        </p:nvSpPr>
        <p:spPr>
          <a:xfrm>
            <a:off x="1942466" y="3194686"/>
            <a:ext cx="8509635" cy="110299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3" name="文本框 12"/>
          <p:cNvSpPr txBox="1"/>
          <p:nvPr/>
        </p:nvSpPr>
        <p:spPr>
          <a:xfrm>
            <a:off x="2073275" y="3256281"/>
            <a:ext cx="8256270" cy="936347"/>
          </a:xfrm>
          <a:prstGeom prst="rect">
            <a:avLst/>
          </a:prstGeom>
          <a:noFill/>
        </p:spPr>
        <p:txBody>
          <a:bodyPr wrap="square" rtlCol="0" anchor="t">
            <a:spAutoFit/>
          </a:bodyPr>
          <a:lstStyle/>
          <a:p>
            <a:pPr algn="just" eaLnBrk="0" fontAlgn="base" hangingPunct="0">
              <a:lnSpc>
                <a:spcPct val="12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sym typeface="+mn-ea"/>
              </a:rPr>
              <a:t>定义：</a:t>
            </a:r>
            <a:r>
              <a:rPr lang="zh-CN" altLang="en-US" sz="2400" dirty="0">
                <a:solidFill>
                  <a:srgbClr val="000000"/>
                </a:solidFill>
                <a:latin typeface="黑体" panose="02010609060101010101" pitchFamily="49" charset="-122"/>
                <a:ea typeface="黑体" panose="02010609060101010101" pitchFamily="49" charset="-122"/>
                <a:sym typeface="+mn-ea"/>
              </a:rPr>
              <a:t>若</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线性码的最小码间距离</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zh-CN" altLang="en-US" sz="2400" dirty="0">
                <a:solidFill>
                  <a:srgbClr val="000000"/>
                </a:solidFill>
                <a:latin typeface="黑体" panose="02010609060101010101" pitchFamily="49" charset="-122"/>
                <a:ea typeface="黑体" panose="02010609060101010101" pitchFamily="49" charset="-122"/>
                <a:sym typeface="+mn-ea"/>
              </a:rPr>
              <a:t>满足</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zh-CN" sz="2400">
                <a:solidFill>
                  <a:srgbClr val="000000"/>
                </a:solidFill>
                <a:latin typeface="Times New Roman" panose="02020603050405020304" pitchFamily="18"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n-k+</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，那么称</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该码为最大距离可分码，简称</a:t>
            </a:r>
            <a:r>
              <a:rPr lang="en-US" altLang="zh-CN" sz="2400">
                <a:solidFill>
                  <a:srgbClr val="000000"/>
                </a:solidFill>
                <a:latin typeface="Times New Roman" panose="02020603050405020304" pitchFamily="18" charset="0"/>
                <a:ea typeface="黑体" panose="02010609060101010101" pitchFamily="49" charset="-122"/>
                <a:sym typeface="+mn-ea"/>
              </a:rPr>
              <a:t>MDS</a:t>
            </a:r>
            <a:r>
              <a:rPr lang="zh-CN" altLang="en-US" sz="2400" dirty="0">
                <a:solidFill>
                  <a:srgbClr val="000000"/>
                </a:solidFill>
                <a:latin typeface="黑体" panose="02010609060101010101" pitchFamily="49" charset="-122"/>
                <a:ea typeface="黑体" panose="02010609060101010101" pitchFamily="49" charset="-122"/>
                <a:sym typeface="+mn-ea"/>
              </a:rPr>
              <a:t>码。</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标准阵</a:t>
            </a:r>
          </a:p>
        </p:txBody>
      </p:sp>
      <p:sp>
        <p:nvSpPr>
          <p:cNvPr id="9" name="文本框 8"/>
          <p:cNvSpPr txBox="1"/>
          <p:nvPr/>
        </p:nvSpPr>
        <p:spPr>
          <a:xfrm>
            <a:off x="1946911" y="952500"/>
            <a:ext cx="8507095" cy="849528"/>
          </a:xfrm>
          <a:prstGeom prst="rect">
            <a:avLst/>
          </a:prstGeom>
          <a:noFill/>
        </p:spPr>
        <p:txBody>
          <a:bodyPr wrap="square" rtlCol="0" anchor="t">
            <a:spAutoFit/>
          </a:bodyPr>
          <a:lstStyle/>
          <a:p>
            <a:pPr indent="508000" eaLnBrk="0" fontAlgn="base" hangingPunct="0">
              <a:lnSpc>
                <a:spcPct val="130000"/>
              </a:lnSpc>
              <a:spcBef>
                <a:spcPct val="0"/>
              </a:spcBef>
              <a:spcAft>
                <a:spcPct val="0"/>
              </a:spcAft>
              <a:buClr>
                <a:srgbClr val="CCCCFF"/>
              </a:buClr>
              <a:buSzPct val="65000"/>
              <a:extLst>
                <a:ext uri="{35155182-B16C-46BC-9424-99874614C6A1}">
                  <wpsdc:indentchars xmlns="" xmlns:wpsdc="http://www.wps.cn/officeDocument/2017/drawingmlCustomData" val="200" checksum="282533468"/>
                </a:ext>
              </a:extLst>
            </a:pPr>
            <a:r>
              <a:rPr lang="zh-CN" altLang="en-US" sz="2000" dirty="0">
                <a:solidFill>
                  <a:srgbClr val="000000"/>
                </a:solidFill>
                <a:latin typeface="Arial" panose="020B0604020202020204" pitchFamily="34" charset="0"/>
                <a:ea typeface="黑体" panose="02010609060101010101" pitchFamily="49" charset="-122"/>
                <a:sym typeface="+mn-ea"/>
              </a:rPr>
              <a:t>令</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n</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k</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Arial" panose="020B0604020202020204" pitchFamily="34" charset="0"/>
                <a:ea typeface="黑体" panose="02010609060101010101" pitchFamily="49" charset="-122"/>
                <a:sym typeface="+mn-ea"/>
              </a:rPr>
              <a:t>线性码</a:t>
            </a:r>
            <a:r>
              <a:rPr lang="en-US" altLang="zh-CN" sz="2000" i="1">
                <a:solidFill>
                  <a:srgbClr val="000000"/>
                </a:solidFill>
                <a:latin typeface="Times New Roman" panose="02020603050405020304" pitchFamily="18" charset="0"/>
                <a:ea typeface="黑体" panose="02010609060101010101" pitchFamily="49" charset="-122"/>
                <a:sym typeface="+mn-ea"/>
              </a:rPr>
              <a:t>C</a:t>
            </a:r>
            <a:r>
              <a:rPr lang="zh-CN" altLang="en-US" sz="2000" dirty="0">
                <a:solidFill>
                  <a:srgbClr val="000000"/>
                </a:solidFill>
                <a:latin typeface="Arial" panose="020B0604020202020204" pitchFamily="34" charset="0"/>
                <a:ea typeface="黑体" panose="02010609060101010101" pitchFamily="49" charset="-122"/>
                <a:sym typeface="+mn-ea"/>
              </a:rPr>
              <a:t>的所有码字是接收矢量</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zh-CN" altLang="en-US" sz="2000" dirty="0">
                <a:solidFill>
                  <a:srgbClr val="000000"/>
                </a:solidFill>
                <a:latin typeface="Arial" panose="020B0604020202020204" pitchFamily="34" charset="0"/>
                <a:ea typeface="黑体" panose="02010609060101010101" pitchFamily="49" charset="-122"/>
                <a:sym typeface="+mn-ea"/>
              </a:rPr>
              <a:t>是一个</a:t>
            </a:r>
            <a:r>
              <a:rPr lang="en-US" altLang="zh-CN" sz="2000" i="1">
                <a:solidFill>
                  <a:srgbClr val="000000"/>
                </a:solidFill>
                <a:latin typeface="Times New Roman" panose="02020603050405020304" pitchFamily="18" charset="0"/>
                <a:ea typeface="黑体" panose="02010609060101010101" pitchFamily="49" charset="-122"/>
                <a:sym typeface="+mn-ea"/>
              </a:rPr>
              <a:t>n</a:t>
            </a:r>
            <a:r>
              <a:rPr lang="zh-CN" altLang="en-US" sz="2000" dirty="0">
                <a:solidFill>
                  <a:srgbClr val="000000"/>
                </a:solidFill>
                <a:latin typeface="Arial" panose="020B0604020202020204" pitchFamily="34" charset="0"/>
                <a:ea typeface="黑体" panose="02010609060101010101" pitchFamily="49" charset="-122"/>
                <a:sym typeface="+mn-ea"/>
              </a:rPr>
              <a:t>重，则按如下的方式构造码</a:t>
            </a:r>
            <a:r>
              <a:rPr lang="en-US" altLang="zh-CN" sz="2000" i="1">
                <a:solidFill>
                  <a:srgbClr val="000000"/>
                </a:solidFill>
                <a:latin typeface="Times New Roman" panose="02020603050405020304" pitchFamily="18" charset="0"/>
                <a:ea typeface="黑体" panose="02010609060101010101" pitchFamily="49" charset="-122"/>
                <a:sym typeface="+mn-ea"/>
              </a:rPr>
              <a:t>C</a:t>
            </a:r>
            <a:r>
              <a:rPr lang="zh-CN" altLang="en-US" sz="2000" dirty="0">
                <a:solidFill>
                  <a:srgbClr val="000000"/>
                </a:solidFill>
                <a:latin typeface="Arial" panose="020B0604020202020204" pitchFamily="34" charset="0"/>
                <a:ea typeface="黑体" panose="02010609060101010101" pitchFamily="49" charset="-122"/>
                <a:sym typeface="+mn-ea"/>
              </a:rPr>
              <a:t>的标准阵：</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graphicFrame>
        <p:nvGraphicFramePr>
          <p:cNvPr id="14" name="对象 13">
            <a:hlinkClick r:id="" action="ppaction://ole?verb=0"/>
          </p:cNvPr>
          <p:cNvGraphicFramePr>
            <a:graphicFrameLocks noChangeAspect="1"/>
          </p:cNvGraphicFramePr>
          <p:nvPr/>
        </p:nvGraphicFramePr>
        <p:xfrm>
          <a:off x="4114801" y="1524000"/>
          <a:ext cx="4346575" cy="1920240"/>
        </p:xfrm>
        <a:graphic>
          <a:graphicData uri="http://schemas.openxmlformats.org/presentationml/2006/ole">
            <mc:AlternateContent xmlns:mc="http://schemas.openxmlformats.org/markup-compatibility/2006">
              <mc:Choice xmlns:v="urn:schemas-microsoft-com:vml" Requires="v">
                <p:oleObj r:id="rId3" imgW="3035300" imgH="1168400" progId="Equation.KSEE3">
                  <p:embed/>
                </p:oleObj>
              </mc:Choice>
              <mc:Fallback>
                <p:oleObj r:id="rId3" imgW="3035300" imgH="1168400" progId="Equation.KSEE3">
                  <p:embed/>
                  <p:pic>
                    <p:nvPicPr>
                      <p:cNvPr id="14" name="对象 13">
                        <a:hlinkClick r:id="" action="ppaction://ole?verb=0"/>
                      </p:cNvPr>
                      <p:cNvPicPr/>
                      <p:nvPr/>
                    </p:nvPicPr>
                    <p:blipFill>
                      <a:blip r:embed="rId4"/>
                      <a:stretch>
                        <a:fillRect/>
                      </a:stretch>
                    </p:blipFill>
                    <p:spPr>
                      <a:xfrm>
                        <a:off x="4114801" y="1524000"/>
                        <a:ext cx="4346575" cy="1920240"/>
                      </a:xfrm>
                      <a:prstGeom prst="rect">
                        <a:avLst/>
                      </a:prstGeom>
                    </p:spPr>
                  </p:pic>
                </p:oleObj>
              </mc:Fallback>
            </mc:AlternateContent>
          </a:graphicData>
        </a:graphic>
      </p:graphicFrame>
      <p:sp>
        <p:nvSpPr>
          <p:cNvPr id="5" name="文本框 4"/>
          <p:cNvSpPr txBox="1"/>
          <p:nvPr/>
        </p:nvSpPr>
        <p:spPr>
          <a:xfrm>
            <a:off x="2429511" y="3637280"/>
            <a:ext cx="7318375" cy="472502"/>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000" dirty="0">
                <a:solidFill>
                  <a:srgbClr val="FF0000"/>
                </a:solidFill>
                <a:latin typeface="黑体" panose="02010609060101010101" pitchFamily="49" charset="-122"/>
                <a:ea typeface="黑体" panose="02010609060101010101" pitchFamily="49" charset="-122"/>
                <a:sym typeface="+mn-ea"/>
              </a:rPr>
              <a:t>举例：</a:t>
            </a:r>
            <a:r>
              <a:rPr lang="zh-CN" altLang="en-US" sz="2000" dirty="0">
                <a:solidFill>
                  <a:srgbClr val="000000"/>
                </a:solidFill>
                <a:latin typeface="黑体" panose="02010609060101010101" pitchFamily="49" charset="-122"/>
                <a:ea typeface="黑体" panose="02010609060101010101" pitchFamily="49" charset="-122"/>
                <a:sym typeface="+mn-ea"/>
              </a:rPr>
              <a:t>考虑码</a:t>
            </a:r>
            <a:r>
              <a:rPr lang="en-US" altLang="zh-CN" sz="2000">
                <a:solidFill>
                  <a:srgbClr val="000000"/>
                </a:solidFill>
                <a:latin typeface="Times New Roman" panose="02020603050405020304" pitchFamily="18" charset="0"/>
                <a:ea typeface="黑体" panose="02010609060101010101" pitchFamily="49" charset="-122"/>
                <a:sym typeface="+mn-ea"/>
              </a:rPr>
              <a:t>C={0000,1011,0101,1110}</a:t>
            </a:r>
            <a:r>
              <a:rPr lang="zh-CN" altLang="en-US" sz="2000" dirty="0">
                <a:solidFill>
                  <a:srgbClr val="000000"/>
                </a:solidFill>
                <a:latin typeface="黑体" panose="02010609060101010101" pitchFamily="49" charset="-122"/>
                <a:ea typeface="黑体" panose="02010609060101010101" pitchFamily="49" charset="-122"/>
                <a:sym typeface="+mn-ea"/>
              </a:rPr>
              <a:t>，对应的标准阵为</a:t>
            </a:r>
          </a:p>
        </p:txBody>
      </p:sp>
      <p:graphicFrame>
        <p:nvGraphicFramePr>
          <p:cNvPr id="6" name="对象 5">
            <a:hlinkClick r:id="" action="ppaction://ole?verb=0"/>
          </p:cNvPr>
          <p:cNvGraphicFramePr>
            <a:graphicFrameLocks noChangeAspect="1"/>
          </p:cNvGraphicFramePr>
          <p:nvPr/>
        </p:nvGraphicFramePr>
        <p:xfrm>
          <a:off x="4827905" y="4269105"/>
          <a:ext cx="3281680" cy="1551940"/>
        </p:xfrm>
        <a:graphic>
          <a:graphicData uri="http://schemas.openxmlformats.org/presentationml/2006/ole">
            <mc:AlternateContent xmlns:mc="http://schemas.openxmlformats.org/markup-compatibility/2006">
              <mc:Choice xmlns:v="urn:schemas-microsoft-com:vml" Requires="v">
                <p:oleObj r:id="rId5" imgW="1663700" imgH="889000" progId="Equation.KSEE3">
                  <p:embed/>
                </p:oleObj>
              </mc:Choice>
              <mc:Fallback>
                <p:oleObj r:id="rId5" imgW="1663700" imgH="889000" progId="Equation.KSEE3">
                  <p:embed/>
                  <p:pic>
                    <p:nvPicPr>
                      <p:cNvPr id="6" name="对象 5">
                        <a:hlinkClick r:id="" action="ppaction://ole?verb=0"/>
                      </p:cNvPr>
                      <p:cNvPicPr/>
                      <p:nvPr/>
                    </p:nvPicPr>
                    <p:blipFill>
                      <a:blip r:embed="rId6"/>
                      <a:stretch>
                        <a:fillRect/>
                      </a:stretch>
                    </p:blipFill>
                    <p:spPr>
                      <a:xfrm>
                        <a:off x="4827905" y="4269105"/>
                        <a:ext cx="3281680" cy="1551940"/>
                      </a:xfrm>
                      <a:prstGeom prst="rect">
                        <a:avLst/>
                      </a:prstGeom>
                    </p:spPr>
                  </p:pic>
                </p:oleObj>
              </mc:Fallback>
            </mc:AlternateContent>
          </a:graphicData>
        </a:graphic>
      </p:graphicFrame>
      <p:grpSp>
        <p:nvGrpSpPr>
          <p:cNvPr id="10" name="组合 9"/>
          <p:cNvGrpSpPr/>
          <p:nvPr/>
        </p:nvGrpSpPr>
        <p:grpSpPr>
          <a:xfrm>
            <a:off x="3207386" y="4274820"/>
            <a:ext cx="1527175" cy="398780"/>
            <a:chOff x="2651" y="6732"/>
            <a:chExt cx="2405" cy="628"/>
          </a:xfrm>
        </p:grpSpPr>
        <p:sp>
          <p:nvSpPr>
            <p:cNvPr id="43012" name="右箭头 357381"/>
            <p:cNvSpPr/>
            <p:nvPr/>
          </p:nvSpPr>
          <p:spPr>
            <a:xfrm flipV="1">
              <a:off x="4148" y="6845"/>
              <a:ext cx="908" cy="340"/>
            </a:xfrm>
            <a:prstGeom prst="rightArrow">
              <a:avLst>
                <a:gd name="adj1" fmla="val 50000"/>
                <a:gd name="adj2" fmla="val 66690"/>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43014" name="文本框 357383"/>
            <p:cNvSpPr txBox="1"/>
            <p:nvPr/>
          </p:nvSpPr>
          <p:spPr>
            <a:xfrm>
              <a:off x="2651" y="6732"/>
              <a:ext cx="1588" cy="628"/>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b="1" dirty="0">
                  <a:solidFill>
                    <a:srgbClr val="000000"/>
                  </a:solidFill>
                  <a:latin typeface="Arial" panose="020B0604020202020204" pitchFamily="34" charset="0"/>
                  <a:ea typeface="黑体" panose="02010609060101010101" pitchFamily="49" charset="-122"/>
                </a:rPr>
                <a:t>码字</a:t>
              </a:r>
            </a:p>
          </p:txBody>
        </p:sp>
      </p:grpSp>
      <p:grpSp>
        <p:nvGrpSpPr>
          <p:cNvPr id="11" name="组合 10"/>
          <p:cNvGrpSpPr/>
          <p:nvPr/>
        </p:nvGrpSpPr>
        <p:grpSpPr>
          <a:xfrm>
            <a:off x="4294505" y="5833745"/>
            <a:ext cx="1654810" cy="736600"/>
            <a:chOff x="4363" y="9187"/>
            <a:chExt cx="2606" cy="1160"/>
          </a:xfrm>
        </p:grpSpPr>
        <p:sp>
          <p:nvSpPr>
            <p:cNvPr id="43015" name="文本框 357384"/>
            <p:cNvSpPr txBox="1"/>
            <p:nvPr/>
          </p:nvSpPr>
          <p:spPr>
            <a:xfrm>
              <a:off x="4363" y="9719"/>
              <a:ext cx="2607" cy="628"/>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b="1" dirty="0">
                  <a:solidFill>
                    <a:srgbClr val="000000"/>
                  </a:solidFill>
                  <a:latin typeface="Arial" panose="020B0604020202020204" pitchFamily="34" charset="0"/>
                  <a:ea typeface="黑体" panose="02010609060101010101" pitchFamily="49" charset="-122"/>
                </a:rPr>
                <a:t>陪集首</a:t>
              </a:r>
            </a:p>
          </p:txBody>
        </p:sp>
        <p:sp>
          <p:nvSpPr>
            <p:cNvPr id="8" name="上箭头 357382"/>
            <p:cNvSpPr/>
            <p:nvPr/>
          </p:nvSpPr>
          <p:spPr>
            <a:xfrm>
              <a:off x="5379" y="9187"/>
              <a:ext cx="532" cy="431"/>
            </a:xfrm>
            <a:prstGeom prst="upArrow">
              <a:avLst>
                <a:gd name="adj1" fmla="val 50000"/>
                <a:gd name="adj2" fmla="val 62328"/>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标准阵的性质</a:t>
            </a:r>
          </a:p>
        </p:txBody>
      </p:sp>
      <p:sp>
        <p:nvSpPr>
          <p:cNvPr id="3" name="矩形 2"/>
          <p:cNvSpPr/>
          <p:nvPr/>
        </p:nvSpPr>
        <p:spPr>
          <a:xfrm>
            <a:off x="1879601" y="1072515"/>
            <a:ext cx="8212455" cy="194437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4" name="文本框 3"/>
          <p:cNvSpPr txBox="1"/>
          <p:nvPr/>
        </p:nvSpPr>
        <p:spPr>
          <a:xfrm>
            <a:off x="2007870" y="1136650"/>
            <a:ext cx="8028940" cy="1684244"/>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性质</a:t>
            </a:r>
            <a:r>
              <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400" b="1" dirty="0">
                <a:solidFill>
                  <a:srgbClr val="0070C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同一行中任意两个</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Arial" panose="020B0604020202020204" pitchFamily="34" charset="0"/>
                <a:ea typeface="黑体" panose="02010609060101010101" pitchFamily="49" charset="-122"/>
                <a:sym typeface="+mn-ea"/>
              </a:rPr>
              <a:t>重之和为一个码字</a:t>
            </a:r>
            <a:r>
              <a:rPr lang="zh-CN" altLang="en-US" sz="2400" dirty="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cs typeface="+mn-ea"/>
                <a:sym typeface="+mn-ea"/>
              </a:rPr>
              <a:t>性质</a:t>
            </a:r>
            <a:r>
              <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400" b="1" dirty="0">
                <a:solidFill>
                  <a:srgbClr val="0070C0"/>
                </a:solidFill>
                <a:latin typeface="黑体" panose="02010609060101010101" pitchFamily="49" charset="-122"/>
                <a:ea typeface="黑体" panose="02010609060101010101" pitchFamily="49" charset="-122"/>
                <a:cs typeface="+mn-ea"/>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在标准阵中，同一行没有两个</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Arial" panose="020B0604020202020204" pitchFamily="34" charset="0"/>
                <a:ea typeface="黑体" panose="02010609060101010101" pitchFamily="49" charset="-122"/>
                <a:sym typeface="+mn-ea"/>
              </a:rPr>
              <a:t>重是相同的，每个</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Arial" panose="020B0604020202020204" pitchFamily="34" charset="0"/>
                <a:ea typeface="黑体" panose="02010609060101010101" pitchFamily="49" charset="-122"/>
                <a:sym typeface="+mn-ea"/>
              </a:rPr>
              <a:t>重在且仅在一行中出现。</a:t>
            </a:r>
            <a:endParaRPr lang="zh-CN" altLang="en-US" sz="2400" err="1">
              <a:solidFill>
                <a:srgbClr val="000000"/>
              </a:solidFill>
              <a:latin typeface="Times New Roman" panose="02020603050405020304" pitchFamily="18" charset="0"/>
              <a:ea typeface="黑体" panose="02010609060101010101" pitchFamily="49" charset="-122"/>
              <a:sym typeface="+mn-ea"/>
            </a:endParaRPr>
          </a:p>
        </p:txBody>
      </p:sp>
      <p:sp>
        <p:nvSpPr>
          <p:cNvPr id="5" name="文本框 4"/>
          <p:cNvSpPr txBox="1"/>
          <p:nvPr/>
        </p:nvSpPr>
        <p:spPr>
          <a:xfrm>
            <a:off x="1854201" y="3227705"/>
            <a:ext cx="8474075" cy="2891790"/>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000" dirty="0">
                <a:solidFill>
                  <a:srgbClr val="000000"/>
                </a:solidFill>
                <a:latin typeface="Arial" panose="020B0604020202020204" pitchFamily="34" charset="0"/>
                <a:ea typeface="黑体" panose="02010609060101010101" pitchFamily="49" charset="-122"/>
                <a:sym typeface="+mn-ea"/>
              </a:rPr>
              <a:t>性质</a:t>
            </a:r>
            <a:r>
              <a:rPr lang="en-US" altLang="zh-CN" sz="200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Arial" panose="020B0604020202020204" pitchFamily="34" charset="0"/>
                <a:ea typeface="黑体" panose="02010609060101010101" pitchFamily="49" charset="-122"/>
                <a:sym typeface="+mn-ea"/>
              </a:rPr>
              <a:t>的证明：</a:t>
            </a:r>
          </a:p>
          <a:p>
            <a:pPr lvl="1" algn="just" eaLnBrk="0" fontAlgn="base" hangingPunct="0">
              <a:lnSpc>
                <a:spcPct val="130000"/>
              </a:lnSpc>
              <a:spcBef>
                <a:spcPct val="0"/>
              </a:spcBef>
              <a:spcAft>
                <a:spcPct val="0"/>
              </a:spcAft>
            </a:pPr>
            <a:r>
              <a:rPr lang="en-US" altLang="zh-CN" sz="2000">
                <a:solidFill>
                  <a:srgbClr val="000000"/>
                </a:solidFill>
                <a:latin typeface="Times New Roman" panose="02020603050405020304" pitchFamily="18" charset="0"/>
                <a:ea typeface="黑体" panose="02010609060101010101" pitchFamily="49" charset="-122"/>
                <a:sym typeface="+mn-ea"/>
              </a:rPr>
              <a:t>1) </a:t>
            </a:r>
            <a:r>
              <a:rPr lang="zh-CN" altLang="en-US" sz="2000" dirty="0">
                <a:solidFill>
                  <a:srgbClr val="000000"/>
                </a:solidFill>
                <a:latin typeface="Arial" panose="020B0604020202020204" pitchFamily="34" charset="0"/>
                <a:ea typeface="黑体" panose="02010609060101010101" pitchFamily="49" charset="-122"/>
                <a:sym typeface="+mn-ea"/>
              </a:rPr>
              <a:t>假设第</a:t>
            </a:r>
            <a:r>
              <a:rPr lang="en-US" altLang="zh-CN" sz="2000" i="1">
                <a:solidFill>
                  <a:srgbClr val="000000"/>
                </a:solidFill>
                <a:latin typeface="Times New Roman" panose="02020603050405020304" pitchFamily="18" charset="0"/>
                <a:ea typeface="黑体" panose="02010609060101010101" pitchFamily="49" charset="-122"/>
                <a:sym typeface="+mn-ea"/>
              </a:rPr>
              <a:t>l</a:t>
            </a:r>
            <a:r>
              <a:rPr lang="zh-CN" altLang="en-US" sz="2000" dirty="0">
                <a:solidFill>
                  <a:srgbClr val="000000"/>
                </a:solidFill>
                <a:latin typeface="Arial" panose="020B0604020202020204" pitchFamily="34" charset="0"/>
                <a:ea typeface="黑体" panose="02010609060101010101" pitchFamily="49" charset="-122"/>
                <a:sym typeface="+mn-ea"/>
              </a:rPr>
              <a:t>行有</a:t>
            </a:r>
            <a:r>
              <a:rPr lang="en-US" altLang="zh-CN" sz="200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Arial" panose="020B0604020202020204" pitchFamily="34" charset="0"/>
                <a:ea typeface="黑体" panose="02010609060101010101" pitchFamily="49" charset="-122"/>
                <a:sym typeface="+mn-ea"/>
              </a:rPr>
              <a:t>个</a:t>
            </a:r>
            <a:r>
              <a:rPr lang="en-US" altLang="zh-CN" sz="2000" i="1">
                <a:solidFill>
                  <a:srgbClr val="000000"/>
                </a:solidFill>
                <a:latin typeface="Times New Roman" panose="02020603050405020304" pitchFamily="18" charset="0"/>
                <a:ea typeface="黑体" panose="02010609060101010101" pitchFamily="49" charset="-122"/>
                <a:sym typeface="+mn-ea"/>
              </a:rPr>
              <a:t>n</a:t>
            </a:r>
            <a:r>
              <a:rPr lang="zh-CN" altLang="en-US" sz="2000" dirty="0">
                <a:solidFill>
                  <a:srgbClr val="000000"/>
                </a:solidFill>
                <a:latin typeface="Arial" panose="020B0604020202020204" pitchFamily="34" charset="0"/>
                <a:ea typeface="黑体" panose="02010609060101010101" pitchFamily="49" charset="-122"/>
                <a:sym typeface="+mn-ea"/>
              </a:rPr>
              <a:t>重是相同的，如对</a:t>
            </a:r>
            <a:r>
              <a:rPr lang="en-US" altLang="zh-CN" sz="2000" i="1" err="1">
                <a:solidFill>
                  <a:srgbClr val="000000"/>
                </a:solidFill>
                <a:latin typeface="Times New Roman" panose="02020603050405020304" pitchFamily="18" charset="0"/>
                <a:ea typeface="黑体" panose="02010609060101010101" pitchFamily="49" charset="-122"/>
                <a:sym typeface="+mn-ea"/>
              </a:rPr>
              <a:t>i</a:t>
            </a:r>
            <a:r>
              <a:rPr lang="en-US" altLang="en-US" sz="2000" i="1" err="1">
                <a:solidFill>
                  <a:srgbClr val="000000"/>
                </a:solidFill>
                <a:latin typeface="Arial" panose="020B0604020202020204" pitchFamily="34" charset="0"/>
                <a:ea typeface="宋体" panose="02010600030101010101" pitchFamily="2"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j</a:t>
            </a:r>
            <a:r>
              <a:rPr lang="zh-CN" altLang="en-US" sz="2000" dirty="0">
                <a:solidFill>
                  <a:srgbClr val="000000"/>
                </a:solidFill>
                <a:latin typeface="Arial" panose="020B0604020202020204" pitchFamily="34" charset="0"/>
                <a:ea typeface="黑体" panose="02010609060101010101" pitchFamily="49" charset="-122"/>
                <a:sym typeface="+mn-ea"/>
              </a:rPr>
              <a:t>有</a:t>
            </a:r>
            <a:r>
              <a:rPr lang="en-US" altLang="zh-CN" sz="2000" i="1" err="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l</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v</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i</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l</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v</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j</a:t>
            </a:r>
            <a:r>
              <a:rPr lang="zh-CN" altLang="en-US" sz="2000" dirty="0">
                <a:solidFill>
                  <a:srgbClr val="000000"/>
                </a:solidFill>
                <a:latin typeface="Arial" panose="020B0604020202020204" pitchFamily="34" charset="0"/>
                <a:ea typeface="黑体" panose="02010609060101010101" pitchFamily="49" charset="-122"/>
                <a:sym typeface="+mn-ea"/>
              </a:rPr>
              <a:t>，即</a:t>
            </a:r>
            <a:r>
              <a:rPr lang="en-US" altLang="zh-CN" sz="2000" i="1">
                <a:solidFill>
                  <a:srgbClr val="000000"/>
                </a:solidFill>
                <a:latin typeface="Times New Roman" panose="02020603050405020304" pitchFamily="18" charset="0"/>
                <a:ea typeface="黑体" panose="02010609060101010101" pitchFamily="49" charset="-122"/>
                <a:sym typeface="+mn-ea"/>
              </a:rPr>
              <a:t>v</a:t>
            </a:r>
            <a:r>
              <a:rPr lang="en-US" altLang="zh-CN" sz="2000" i="1" baseline="-25000">
                <a:solidFill>
                  <a:srgbClr val="000000"/>
                </a:solidFill>
                <a:latin typeface="Times New Roman" panose="02020603050405020304" pitchFamily="18" charset="0"/>
                <a:ea typeface="黑体" panose="02010609060101010101" pitchFamily="49" charset="-122"/>
                <a:sym typeface="+mn-ea"/>
              </a:rPr>
              <a:t>i</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v</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j</a:t>
            </a:r>
            <a:r>
              <a:rPr lang="zh-CN" altLang="en-US" sz="2000" dirty="0">
                <a:solidFill>
                  <a:srgbClr val="000000"/>
                </a:solidFill>
                <a:latin typeface="Arial" panose="020B0604020202020204" pitchFamily="34" charset="0"/>
                <a:ea typeface="黑体" panose="02010609060101010101" pitchFamily="49" charset="-122"/>
                <a:sym typeface="+mn-ea"/>
              </a:rPr>
              <a:t>，这与标准阵的构造相矛盾，故性质</a:t>
            </a:r>
            <a:r>
              <a:rPr lang="en-US" altLang="zh-CN" sz="200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Arial" panose="020B0604020202020204" pitchFamily="34" charset="0"/>
                <a:ea typeface="黑体" panose="02010609060101010101" pitchFamily="49" charset="-122"/>
                <a:sym typeface="+mn-ea"/>
              </a:rPr>
              <a:t>的第一句话得证。</a:t>
            </a:r>
          </a:p>
          <a:p>
            <a:pPr lvl="1" algn="just" eaLnBrk="0" fontAlgn="base" hangingPunct="0">
              <a:lnSpc>
                <a:spcPct val="130000"/>
              </a:lnSpc>
              <a:spcBef>
                <a:spcPct val="0"/>
              </a:spcBef>
              <a:spcAft>
                <a:spcPct val="0"/>
              </a:spcAft>
            </a:pPr>
            <a:r>
              <a:rPr lang="en-US" altLang="zh-CN" sz="2000">
                <a:solidFill>
                  <a:srgbClr val="000000"/>
                </a:solidFill>
                <a:latin typeface="Times New Roman" panose="02020603050405020304" pitchFamily="18" charset="0"/>
                <a:ea typeface="黑体" panose="02010609060101010101" pitchFamily="49" charset="-122"/>
                <a:sym typeface="+mn-ea"/>
              </a:rPr>
              <a:t>2) </a:t>
            </a:r>
            <a:r>
              <a:rPr lang="zh-CN" altLang="en-US" sz="2000" dirty="0">
                <a:solidFill>
                  <a:srgbClr val="000000"/>
                </a:solidFill>
                <a:latin typeface="Arial" panose="020B0604020202020204" pitchFamily="34" charset="0"/>
                <a:ea typeface="黑体" panose="02010609060101010101" pitchFamily="49" charset="-122"/>
                <a:sym typeface="+mn-ea"/>
              </a:rPr>
              <a:t>首先由定义知每个</a:t>
            </a:r>
            <a:r>
              <a:rPr lang="en-US" altLang="zh-CN" sz="2000" i="1">
                <a:solidFill>
                  <a:srgbClr val="000000"/>
                </a:solidFill>
                <a:latin typeface="Times New Roman" panose="02020603050405020304" pitchFamily="18" charset="0"/>
                <a:ea typeface="黑体" panose="02010609060101010101" pitchFamily="49" charset="-122"/>
                <a:sym typeface="+mn-ea"/>
              </a:rPr>
              <a:t>n</a:t>
            </a:r>
            <a:r>
              <a:rPr lang="zh-CN" altLang="en-US" sz="2000" dirty="0">
                <a:solidFill>
                  <a:srgbClr val="000000"/>
                </a:solidFill>
                <a:latin typeface="Arial" panose="020B0604020202020204" pitchFamily="34" charset="0"/>
                <a:ea typeface="黑体" panose="02010609060101010101" pitchFamily="49" charset="-122"/>
                <a:sym typeface="+mn-ea"/>
              </a:rPr>
              <a:t>重至少出现一次，假设一个</a:t>
            </a:r>
            <a:r>
              <a:rPr lang="en-US" altLang="zh-CN" sz="2000" i="1">
                <a:solidFill>
                  <a:srgbClr val="000000"/>
                </a:solidFill>
                <a:latin typeface="Times New Roman" panose="02020603050405020304" pitchFamily="18" charset="0"/>
                <a:ea typeface="黑体" panose="02010609060101010101" pitchFamily="49" charset="-122"/>
                <a:sym typeface="+mn-ea"/>
              </a:rPr>
              <a:t>n</a:t>
            </a:r>
            <a:r>
              <a:rPr lang="zh-CN" altLang="en-US" sz="2000" dirty="0">
                <a:solidFill>
                  <a:srgbClr val="000000"/>
                </a:solidFill>
                <a:latin typeface="Arial" panose="020B0604020202020204" pitchFamily="34" charset="0"/>
                <a:ea typeface="黑体" panose="02010609060101010101" pitchFamily="49" charset="-122"/>
                <a:sym typeface="+mn-ea"/>
              </a:rPr>
              <a:t>重在第</a:t>
            </a:r>
            <a:r>
              <a:rPr lang="en-US" altLang="zh-CN" sz="2000" i="1">
                <a:solidFill>
                  <a:srgbClr val="000000"/>
                </a:solidFill>
                <a:latin typeface="Times New Roman" panose="02020603050405020304" pitchFamily="18" charset="0"/>
                <a:ea typeface="黑体" panose="02010609060101010101" pitchFamily="49" charset="-122"/>
                <a:sym typeface="+mn-ea"/>
              </a:rPr>
              <a:t>l</a:t>
            </a:r>
            <a:r>
              <a:rPr lang="zh-CN" altLang="en-US" sz="2000" dirty="0">
                <a:solidFill>
                  <a:srgbClr val="000000"/>
                </a:solidFill>
                <a:latin typeface="Arial" panose="020B0604020202020204" pitchFamily="34" charset="0"/>
                <a:ea typeface="黑体" panose="02010609060101010101" pitchFamily="49" charset="-122"/>
                <a:sym typeface="+mn-ea"/>
              </a:rPr>
              <a:t>行和第</a:t>
            </a:r>
            <a:r>
              <a:rPr lang="en-US" altLang="zh-CN" sz="2000" i="1">
                <a:solidFill>
                  <a:srgbClr val="000000"/>
                </a:solidFill>
                <a:latin typeface="Times New Roman" panose="02020603050405020304" pitchFamily="18" charset="0"/>
                <a:ea typeface="黑体" panose="02010609060101010101" pitchFamily="49" charset="-122"/>
                <a:sym typeface="+mn-ea"/>
              </a:rPr>
              <a:t>m</a:t>
            </a:r>
            <a:r>
              <a:rPr lang="zh-CN" altLang="en-US" sz="2000" dirty="0">
                <a:solidFill>
                  <a:srgbClr val="000000"/>
                </a:solidFill>
                <a:latin typeface="Arial" panose="020B0604020202020204" pitchFamily="34" charset="0"/>
                <a:ea typeface="黑体" panose="02010609060101010101" pitchFamily="49" charset="-122"/>
                <a:sym typeface="+mn-ea"/>
              </a:rPr>
              <a:t>行</a:t>
            </a:r>
            <a:r>
              <a:rPr lang="en-US" altLang="zh-CN" sz="2000">
                <a:solidFill>
                  <a:srgbClr val="000000"/>
                </a:solidFill>
                <a:latin typeface="Arial" panose="020B0604020202020204" pitchFamily="34"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l&lt;m</a:t>
            </a:r>
            <a:r>
              <a:rPr lang="en-US" altLang="zh-CN" sz="2000">
                <a:solidFill>
                  <a:srgbClr val="000000"/>
                </a:solidFill>
                <a:latin typeface="Arial" panose="020B0604020202020204" pitchFamily="34" charset="0"/>
                <a:ea typeface="黑体" panose="02010609060101010101" pitchFamily="49" charset="-122"/>
                <a:sym typeface="+mn-ea"/>
              </a:rPr>
              <a:t>)</a:t>
            </a:r>
            <a:r>
              <a:rPr lang="zh-CN" altLang="en-US" sz="2000" dirty="0">
                <a:solidFill>
                  <a:srgbClr val="000000"/>
                </a:solidFill>
                <a:latin typeface="Arial" panose="020B0604020202020204" pitchFamily="34" charset="0"/>
                <a:ea typeface="黑体" panose="02010609060101010101" pitchFamily="49" charset="-122"/>
                <a:sym typeface="+mn-ea"/>
              </a:rPr>
              <a:t>都出现，则必存在</a:t>
            </a:r>
            <a:r>
              <a:rPr lang="en-US" altLang="zh-CN" sz="2000" i="1">
                <a:solidFill>
                  <a:srgbClr val="000000"/>
                </a:solidFill>
                <a:latin typeface="Times New Roman" panose="02020603050405020304" pitchFamily="18" charset="0"/>
                <a:ea typeface="黑体" panose="02010609060101010101" pitchFamily="49" charset="-122"/>
                <a:sym typeface="+mn-ea"/>
              </a:rPr>
              <a:t>i</a:t>
            </a:r>
            <a:r>
              <a:rPr lang="zh-CN" altLang="en-US" sz="2000" dirty="0">
                <a:solidFill>
                  <a:srgbClr val="000000"/>
                </a:solidFill>
                <a:latin typeface="Arial" panose="020B0604020202020204" pitchFamily="34" charset="0"/>
                <a:ea typeface="黑体" panose="02010609060101010101" pitchFamily="49" charset="-122"/>
                <a:sym typeface="+mn-ea"/>
              </a:rPr>
              <a:t>，使得该</a:t>
            </a:r>
            <a:r>
              <a:rPr lang="en-US" altLang="zh-CN" sz="2000" i="1">
                <a:solidFill>
                  <a:srgbClr val="000000"/>
                </a:solidFill>
                <a:latin typeface="Times New Roman" panose="02020603050405020304" pitchFamily="18" charset="0"/>
                <a:ea typeface="黑体" panose="02010609060101010101" pitchFamily="49" charset="-122"/>
                <a:sym typeface="+mn-ea"/>
              </a:rPr>
              <a:t>n</a:t>
            </a:r>
            <a:r>
              <a:rPr lang="zh-CN" altLang="en-US" sz="2000" dirty="0">
                <a:solidFill>
                  <a:srgbClr val="000000"/>
                </a:solidFill>
                <a:latin typeface="Arial" panose="020B0604020202020204" pitchFamily="34" charset="0"/>
                <a:ea typeface="黑体" panose="02010609060101010101" pitchFamily="49" charset="-122"/>
                <a:sym typeface="+mn-ea"/>
              </a:rPr>
              <a:t>重等于</a:t>
            </a:r>
            <a:r>
              <a:rPr lang="en-US" altLang="zh-CN" sz="2000" i="1" err="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l</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v</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i</a:t>
            </a:r>
            <a:r>
              <a:rPr lang="zh-CN" altLang="en-US" sz="2000" dirty="0">
                <a:solidFill>
                  <a:srgbClr val="000000"/>
                </a:solidFill>
                <a:latin typeface="Arial" panose="020B0604020202020204" pitchFamily="34" charset="0"/>
                <a:ea typeface="黑体" panose="02010609060101010101" pitchFamily="49" charset="-122"/>
                <a:sym typeface="+mn-ea"/>
              </a:rPr>
              <a:t>，且存在</a:t>
            </a:r>
            <a:r>
              <a:rPr lang="en-US" altLang="zh-CN" sz="2000" i="1">
                <a:solidFill>
                  <a:srgbClr val="000000"/>
                </a:solidFill>
                <a:latin typeface="Times New Roman" panose="02020603050405020304" pitchFamily="18" charset="0"/>
                <a:ea typeface="黑体" panose="02010609060101010101" pitchFamily="49" charset="-122"/>
                <a:sym typeface="+mn-ea"/>
              </a:rPr>
              <a:t>j</a:t>
            </a:r>
            <a:r>
              <a:rPr lang="zh-CN" altLang="en-US" sz="2000" dirty="0">
                <a:solidFill>
                  <a:srgbClr val="000000"/>
                </a:solidFill>
                <a:latin typeface="Arial" panose="020B0604020202020204" pitchFamily="34" charset="0"/>
                <a:ea typeface="黑体" panose="02010609060101010101" pitchFamily="49" charset="-122"/>
                <a:sym typeface="+mn-ea"/>
              </a:rPr>
              <a:t>，使得该</a:t>
            </a:r>
            <a:r>
              <a:rPr lang="en-US" altLang="zh-CN" sz="2000" i="1">
                <a:solidFill>
                  <a:srgbClr val="000000"/>
                </a:solidFill>
                <a:latin typeface="Times New Roman" panose="02020603050405020304" pitchFamily="18" charset="0"/>
                <a:ea typeface="黑体" panose="02010609060101010101" pitchFamily="49" charset="-122"/>
                <a:sym typeface="+mn-ea"/>
              </a:rPr>
              <a:t>n</a:t>
            </a:r>
            <a:r>
              <a:rPr lang="zh-CN" altLang="en-US" sz="2000" dirty="0">
                <a:solidFill>
                  <a:srgbClr val="000000"/>
                </a:solidFill>
                <a:latin typeface="Arial" panose="020B0604020202020204" pitchFamily="34" charset="0"/>
                <a:ea typeface="黑体" panose="02010609060101010101" pitchFamily="49" charset="-122"/>
                <a:sym typeface="+mn-ea"/>
              </a:rPr>
              <a:t>重等于</a:t>
            </a:r>
            <a:r>
              <a:rPr lang="en-US" altLang="zh-CN" sz="2000" i="1" err="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m</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v</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j</a:t>
            </a:r>
            <a:r>
              <a:rPr lang="zh-CN" altLang="en-US" sz="2000" dirty="0">
                <a:solidFill>
                  <a:srgbClr val="000000"/>
                </a:solidFill>
                <a:latin typeface="Arial" panose="020B0604020202020204" pitchFamily="34" charset="0"/>
                <a:ea typeface="黑体" panose="02010609060101010101" pitchFamily="49" charset="-122"/>
                <a:sym typeface="+mn-ea"/>
              </a:rPr>
              <a:t>，即有</a:t>
            </a:r>
            <a:r>
              <a:rPr lang="en-US" altLang="zh-CN" sz="2000" i="1" err="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m</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l</a:t>
            </a:r>
            <a:r>
              <a:rPr lang="en-US" altLang="zh-CN" sz="2000" i="1" err="1">
                <a:solidFill>
                  <a:srgbClr val="000000"/>
                </a:solidFill>
                <a:latin typeface="Times New Roman" panose="02020603050405020304" pitchFamily="18" charset="0"/>
                <a:ea typeface="黑体" panose="02010609060101010101" pitchFamily="49" charset="-122"/>
                <a:sym typeface="+mn-ea"/>
              </a:rPr>
              <a:t>+</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v</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i</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v</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j</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l</a:t>
            </a:r>
            <a:r>
              <a:rPr lang="en-US" altLang="zh-CN" sz="2000" i="1" err="1">
                <a:solidFill>
                  <a:srgbClr val="000000"/>
                </a:solidFill>
                <a:latin typeface="Times New Roman" panose="02020603050405020304" pitchFamily="18" charset="0"/>
                <a:ea typeface="黑体" panose="02010609060101010101" pitchFamily="49" charset="-122"/>
                <a:sym typeface="+mn-ea"/>
              </a:rPr>
              <a:t>+v</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s</a:t>
            </a:r>
            <a:r>
              <a:rPr lang="zh-CN" altLang="en-US" sz="2000" dirty="0">
                <a:solidFill>
                  <a:srgbClr val="000000"/>
                </a:solidFill>
                <a:latin typeface="Arial" panose="020B0604020202020204" pitchFamily="34" charset="0"/>
                <a:ea typeface="黑体" panose="02010609060101010101" pitchFamily="49" charset="-122"/>
                <a:sym typeface="+mn-ea"/>
              </a:rPr>
              <a:t>，这意味着</a:t>
            </a:r>
            <a:r>
              <a:rPr lang="en-US" altLang="zh-CN" sz="2000" i="1" err="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err="1">
                <a:solidFill>
                  <a:srgbClr val="000000"/>
                </a:solidFill>
                <a:latin typeface="Times New Roman" panose="02020603050405020304" pitchFamily="18" charset="0"/>
                <a:ea typeface="黑体" panose="02010609060101010101" pitchFamily="49" charset="-122"/>
                <a:sym typeface="+mn-ea"/>
              </a:rPr>
              <a:t>m</a:t>
            </a:r>
            <a:r>
              <a:rPr lang="zh-CN" altLang="en-US" sz="2000" dirty="0">
                <a:solidFill>
                  <a:srgbClr val="000000"/>
                </a:solidFill>
                <a:latin typeface="Arial" panose="020B0604020202020204" pitchFamily="34" charset="0"/>
                <a:ea typeface="黑体" panose="02010609060101010101" pitchFamily="49" charset="-122"/>
                <a:sym typeface="+mn-ea"/>
              </a:rPr>
              <a:t>在第</a:t>
            </a:r>
            <a:r>
              <a:rPr lang="en-US" altLang="zh-CN" sz="2000" i="1">
                <a:solidFill>
                  <a:srgbClr val="000000"/>
                </a:solidFill>
                <a:latin typeface="Times New Roman" panose="02020603050405020304" pitchFamily="18" charset="0"/>
                <a:ea typeface="黑体" panose="02010609060101010101" pitchFamily="49" charset="-122"/>
                <a:sym typeface="+mn-ea"/>
              </a:rPr>
              <a:t>l</a:t>
            </a:r>
            <a:r>
              <a:rPr lang="zh-CN" altLang="en-US" sz="2000" dirty="0">
                <a:solidFill>
                  <a:srgbClr val="000000"/>
                </a:solidFill>
                <a:latin typeface="Arial" panose="020B0604020202020204" pitchFamily="34" charset="0"/>
                <a:ea typeface="黑体" panose="02010609060101010101" pitchFamily="49" charset="-122"/>
                <a:sym typeface="+mn-ea"/>
              </a:rPr>
              <a:t>行，这与标准阵的构造定义相矛盾。</a:t>
            </a:r>
            <a:endParaRPr lang="zh-CN" altLang="en-US"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18930" y="104775"/>
            <a:ext cx="118237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陪集</a:t>
            </a:r>
          </a:p>
        </p:txBody>
      </p:sp>
      <p:sp>
        <p:nvSpPr>
          <p:cNvPr id="12" name="内容占位符 2"/>
          <p:cNvSpPr txBox="1"/>
          <p:nvPr/>
        </p:nvSpPr>
        <p:spPr>
          <a:xfrm>
            <a:off x="1791336" y="1078865"/>
            <a:ext cx="8509635" cy="168148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3" name="文本框 12"/>
          <p:cNvSpPr txBox="1"/>
          <p:nvPr/>
        </p:nvSpPr>
        <p:spPr>
          <a:xfrm>
            <a:off x="1922145" y="1140461"/>
            <a:ext cx="8256270" cy="152971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sym typeface="+mn-ea"/>
              </a:rPr>
              <a:t>定义：</a:t>
            </a:r>
            <a:r>
              <a:rPr lang="zh-CN" altLang="en-US" sz="2400" dirty="0">
                <a:solidFill>
                  <a:srgbClr val="000000"/>
                </a:solidFill>
                <a:latin typeface="Arial" panose="020B0604020202020204" pitchFamily="34" charset="0"/>
                <a:ea typeface="黑体" panose="02010609060101010101" pitchFamily="49" charset="-122"/>
                <a:sym typeface="+mn-ea"/>
              </a:rPr>
              <a:t>标准阵中共有</a:t>
            </a:r>
            <a:r>
              <a:rPr lang="en-US" altLang="zh-CN" sz="2400">
                <a:solidFill>
                  <a:srgbClr val="000000"/>
                </a:solidFill>
                <a:latin typeface="Times New Roman" panose="02020603050405020304" pitchFamily="18" charset="0"/>
                <a:ea typeface="黑体" panose="02010609060101010101" pitchFamily="49" charset="-122"/>
                <a:sym typeface="+mn-ea"/>
              </a:rPr>
              <a:t>2</a:t>
            </a:r>
            <a:r>
              <a:rPr lang="en-US" altLang="zh-CN" sz="2400" i="1" baseline="30000">
                <a:solidFill>
                  <a:srgbClr val="000000"/>
                </a:solidFill>
                <a:latin typeface="Times New Roman" panose="02020603050405020304" pitchFamily="18" charset="0"/>
                <a:ea typeface="黑体" panose="02010609060101010101" pitchFamily="49" charset="-122"/>
                <a:sym typeface="+mn-ea"/>
              </a:rPr>
              <a:t>n-k</a:t>
            </a:r>
            <a:r>
              <a:rPr lang="zh-CN" altLang="en-US" sz="2400" dirty="0">
                <a:solidFill>
                  <a:srgbClr val="000000"/>
                </a:solidFill>
                <a:latin typeface="Arial" panose="020B0604020202020204" pitchFamily="34" charset="0"/>
                <a:ea typeface="黑体" panose="02010609060101010101" pitchFamily="49" charset="-122"/>
                <a:sym typeface="+mn-ea"/>
              </a:rPr>
              <a:t>行，它们称为码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的陪集</a:t>
            </a:r>
            <a:r>
              <a:rPr lang="zh-CN" altLang="en-US" sz="2400" dirty="0">
                <a:solidFill>
                  <a:srgbClr val="000000"/>
                </a:solidFill>
                <a:latin typeface="黑体" panose="02010609060101010101" pitchFamily="49" charset="-122"/>
                <a:ea typeface="黑体" panose="02010609060101010101" pitchFamily="49" charset="-122"/>
                <a:sym typeface="+mn-ea"/>
              </a:rPr>
              <a:t>。</a:t>
            </a:r>
          </a:p>
          <a:p>
            <a:pPr algn="just" eaLnBrk="0" fontAlgn="base" hangingPunct="0">
              <a:lnSpc>
                <a:spcPct val="13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cs typeface="+mn-ea"/>
                <a:sym typeface="+mn-ea"/>
              </a:rPr>
              <a:t>陪集首：</a:t>
            </a:r>
            <a:r>
              <a:rPr lang="zh-CN" altLang="en-US" sz="2400" dirty="0">
                <a:solidFill>
                  <a:srgbClr val="000000"/>
                </a:solidFill>
                <a:latin typeface="Arial" panose="020B0604020202020204" pitchFamily="34" charset="0"/>
                <a:ea typeface="黑体" panose="02010609060101010101" pitchFamily="49" charset="-122"/>
                <a:sym typeface="+mn-ea"/>
              </a:rPr>
              <a:t>每个陪集中的第一个</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Arial" panose="020B0604020202020204" pitchFamily="34" charset="0"/>
                <a:ea typeface="黑体" panose="02010609060101010101" pitchFamily="49" charset="-122"/>
                <a:sym typeface="+mn-ea"/>
              </a:rPr>
              <a:t>重</a:t>
            </a:r>
            <a:r>
              <a:rPr lang="en-US" altLang="zh-CN" sz="2400" i="1" err="1">
                <a:solidFill>
                  <a:srgbClr val="000000"/>
                </a:solidFill>
                <a:latin typeface="Times New Roman" panose="02020603050405020304" pitchFamily="18" charset="0"/>
                <a:ea typeface="黑体" panose="02010609060101010101" pitchFamily="49" charset="-122"/>
                <a:sym typeface="+mn-ea"/>
              </a:rPr>
              <a:t>e</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i</a:t>
            </a:r>
            <a:r>
              <a:rPr lang="zh-CN" altLang="en-US" sz="2400" dirty="0">
                <a:solidFill>
                  <a:srgbClr val="000000"/>
                </a:solidFill>
                <a:latin typeface="Arial" panose="020B0604020202020204" pitchFamily="34" charset="0"/>
                <a:ea typeface="黑体" panose="02010609060101010101" pitchFamily="49" charset="-122"/>
                <a:sym typeface="+mn-ea"/>
              </a:rPr>
              <a:t>称为陪集首。陪集中的任</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何一个元素都可以作为陪集首，需要做置换操作。</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sp>
        <p:nvSpPr>
          <p:cNvPr id="5" name="文本框 4"/>
          <p:cNvSpPr txBox="1"/>
          <p:nvPr/>
        </p:nvSpPr>
        <p:spPr>
          <a:xfrm>
            <a:off x="1795145" y="2925446"/>
            <a:ext cx="8533130" cy="1529715"/>
          </a:xfrm>
          <a:prstGeom prst="rect">
            <a:avLst/>
          </a:prstGeom>
          <a:noFill/>
        </p:spPr>
        <p:txBody>
          <a:bodyPr wrap="square" rtlCol="0" anchor="t">
            <a:spAutoFit/>
          </a:bodyPr>
          <a:lstStyle/>
          <a:p>
            <a:pPr indent="609600" algn="just" eaLnBrk="0" fontAlgn="base" hangingPunct="0">
              <a:lnSpc>
                <a:spcPct val="13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Arial" panose="020B0604020202020204" pitchFamily="34" charset="0"/>
                <a:ea typeface="黑体" panose="02010609060101010101" pitchFamily="49" charset="-122"/>
                <a:sym typeface="+mn-ea"/>
              </a:rPr>
              <a:t>对于一个码字</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i</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如果信道造成的错误图样是陪集首</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则接收矢量</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zh-CN" altLang="en-US" sz="2400" dirty="0">
                <a:solidFill>
                  <a:srgbClr val="000000"/>
                </a:solidFill>
                <a:latin typeface="Arial" panose="020B0604020202020204" pitchFamily="34" charset="0"/>
                <a:ea typeface="黑体" panose="02010609060101010101" pitchFamily="49" charset="-122"/>
                <a:sym typeface="+mn-ea"/>
              </a:rPr>
              <a:t>在陪集中</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此时</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可以将接收矢量正确的译码为</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i</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否则</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若信道造成的错误图样不是陪集首</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则会造成错误译码。</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6" name="矩形 5"/>
          <p:cNvSpPr/>
          <p:nvPr/>
        </p:nvSpPr>
        <p:spPr>
          <a:xfrm>
            <a:off x="2030731" y="4775200"/>
            <a:ext cx="8212455" cy="132588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7" name="文本框 6"/>
          <p:cNvSpPr txBox="1"/>
          <p:nvPr/>
        </p:nvSpPr>
        <p:spPr>
          <a:xfrm>
            <a:off x="2301876" y="4839335"/>
            <a:ext cx="7886065" cy="1130246"/>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zh-CN" altLang="en-US" sz="2400" dirty="0">
                <a:solidFill>
                  <a:srgbClr val="000000"/>
                </a:solidFill>
                <a:latin typeface="Arial" panose="020B0604020202020204" pitchFamily="34" charset="0"/>
                <a:ea typeface="黑体" panose="02010609060101010101" pitchFamily="49" charset="-122"/>
                <a:sym typeface="+mn-ea"/>
              </a:rPr>
              <a:t>陪集首是可纠正的错误图样，共有</a:t>
            </a:r>
            <a:r>
              <a:rPr lang="en-US" altLang="zh-CN" sz="2400">
                <a:solidFill>
                  <a:srgbClr val="000000"/>
                </a:solidFill>
                <a:latin typeface="Times New Roman" panose="02020603050405020304" pitchFamily="18" charset="0"/>
                <a:ea typeface="黑体" panose="02010609060101010101" pitchFamily="49" charset="-122"/>
                <a:sym typeface="+mn-ea"/>
              </a:rPr>
              <a:t>2</a:t>
            </a:r>
            <a:r>
              <a:rPr lang="en-US" altLang="zh-CN" sz="2400" i="1" baseline="30000">
                <a:solidFill>
                  <a:srgbClr val="000000"/>
                </a:solidFill>
                <a:latin typeface="Times New Roman" panose="02020603050405020304" pitchFamily="18" charset="0"/>
                <a:ea typeface="黑体" panose="02010609060101010101" pitchFamily="49" charset="-122"/>
                <a:sym typeface="+mn-ea"/>
              </a:rPr>
              <a:t>n-k</a:t>
            </a:r>
            <a:r>
              <a:rPr lang="zh-CN" altLang="en-US" sz="2400" dirty="0">
                <a:solidFill>
                  <a:srgbClr val="000000"/>
                </a:solidFill>
                <a:latin typeface="Arial" panose="020B0604020202020204" pitchFamily="34" charset="0"/>
                <a:ea typeface="黑体" panose="02010609060101010101" pitchFamily="49" charset="-122"/>
                <a:sym typeface="+mn-ea"/>
              </a:rPr>
              <a:t>个可纠正的错误图样</a:t>
            </a:r>
            <a:r>
              <a:rPr lang="zh-CN" altLang="en-US" sz="2400" dirty="0">
                <a:solidFill>
                  <a:srgbClr val="000000"/>
                </a:solidFill>
                <a:latin typeface="Times New Roman" panose="02020603050405020304" pitchFamily="18" charset="0"/>
                <a:ea typeface="黑体" panose="02010609060101010101" pitchFamily="49" charset="-122"/>
                <a:sym typeface="+mn-ea"/>
              </a:rPr>
              <a:t>。</a:t>
            </a:r>
            <a:endParaRPr lang="zh-CN" altLang="en-US" sz="2400" err="1">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3207386" y="3840480"/>
            <a:ext cx="819785" cy="340360"/>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0" name="矩形 19"/>
          <p:cNvSpPr/>
          <p:nvPr/>
        </p:nvSpPr>
        <p:spPr>
          <a:xfrm>
            <a:off x="4994911" y="3383281"/>
            <a:ext cx="795655" cy="374015"/>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8" name="圆角矩形 17"/>
          <p:cNvSpPr/>
          <p:nvPr/>
        </p:nvSpPr>
        <p:spPr>
          <a:xfrm>
            <a:off x="5029200" y="3807460"/>
            <a:ext cx="685800" cy="381000"/>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 name="标题 1"/>
          <p:cNvSpPr>
            <a:spLocks noGrp="1"/>
          </p:cNvSpPr>
          <p:nvPr>
            <p:ph type="title"/>
          </p:nvPr>
        </p:nvSpPr>
        <p:spPr>
          <a:xfrm>
            <a:off x="6562090" y="104775"/>
            <a:ext cx="383921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基于标准阵的译码方法</a:t>
            </a:r>
          </a:p>
        </p:txBody>
      </p:sp>
      <p:sp>
        <p:nvSpPr>
          <p:cNvPr id="3" name="内容占位符 2"/>
          <p:cNvSpPr txBox="1"/>
          <p:nvPr/>
        </p:nvSpPr>
        <p:spPr>
          <a:xfrm>
            <a:off x="1791336" y="1078866"/>
            <a:ext cx="8509635" cy="122110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4" name="文本框 3"/>
          <p:cNvSpPr txBox="1"/>
          <p:nvPr/>
        </p:nvSpPr>
        <p:spPr>
          <a:xfrm>
            <a:off x="1922145" y="1140460"/>
            <a:ext cx="8256270" cy="1000980"/>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sym typeface="+mn-ea"/>
              </a:rPr>
              <a:t>方法：</a:t>
            </a:r>
            <a:r>
              <a:rPr lang="zh-CN" altLang="en-US" sz="2400" dirty="0">
                <a:solidFill>
                  <a:srgbClr val="000000"/>
                </a:solidFill>
                <a:latin typeface="Arial" panose="020B0604020202020204" pitchFamily="34" charset="0"/>
                <a:ea typeface="黑体" panose="02010609060101010101" pitchFamily="49" charset="-122"/>
                <a:sym typeface="+mn-ea"/>
              </a:rPr>
              <a:t>如果接收矢量</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zh-CN" altLang="en-US" sz="2400" dirty="0">
                <a:solidFill>
                  <a:srgbClr val="000000"/>
                </a:solidFill>
                <a:latin typeface="Arial" panose="020B0604020202020204" pitchFamily="34" charset="0"/>
                <a:ea typeface="黑体" panose="02010609060101010101" pitchFamily="49" charset="-122"/>
                <a:sym typeface="+mn-ea"/>
              </a:rPr>
              <a:t>落在标准阵中的第</a:t>
            </a:r>
            <a:r>
              <a:rPr lang="en-US" altLang="zh-CN" sz="2400" i="1">
                <a:solidFill>
                  <a:srgbClr val="000000"/>
                </a:solidFill>
                <a:latin typeface="Times New Roman" panose="02020603050405020304" pitchFamily="18" charset="0"/>
                <a:ea typeface="黑体" panose="02010609060101010101" pitchFamily="49" charset="-122"/>
                <a:sym typeface="+mn-ea"/>
              </a:rPr>
              <a:t>i</a:t>
            </a:r>
            <a:r>
              <a:rPr lang="zh-CN" altLang="en-US" sz="2400" dirty="0">
                <a:solidFill>
                  <a:srgbClr val="000000"/>
                </a:solidFill>
                <a:latin typeface="Arial" panose="020B0604020202020204" pitchFamily="34" charset="0"/>
                <a:ea typeface="黑体" panose="02010609060101010101" pitchFamily="49" charset="-122"/>
                <a:sym typeface="+mn-ea"/>
              </a:rPr>
              <a:t>行第</a:t>
            </a:r>
            <a:r>
              <a:rPr lang="en-US" altLang="zh-CN" sz="2400" i="1">
                <a:solidFill>
                  <a:srgbClr val="000000"/>
                </a:solidFill>
                <a:latin typeface="Times New Roman" panose="02020603050405020304" pitchFamily="18" charset="0"/>
                <a:ea typeface="黑体" panose="02010609060101010101" pitchFamily="49" charset="-122"/>
                <a:sym typeface="+mn-ea"/>
              </a:rPr>
              <a:t>j</a:t>
            </a:r>
            <a:r>
              <a:rPr lang="zh-CN" altLang="en-US" sz="2400" dirty="0">
                <a:solidFill>
                  <a:srgbClr val="000000"/>
                </a:solidFill>
                <a:latin typeface="Arial" panose="020B0604020202020204" pitchFamily="34" charset="0"/>
                <a:ea typeface="黑体" panose="02010609060101010101" pitchFamily="49" charset="-122"/>
                <a:sym typeface="+mn-ea"/>
              </a:rPr>
              <a:t>列，那么就将</a:t>
            </a:r>
            <a:r>
              <a:rPr lang="en-US" altLang="zh-CN" sz="2400" i="1">
                <a:solidFill>
                  <a:srgbClr val="000000"/>
                </a:solidFill>
                <a:latin typeface="Times New Roman" panose="02020603050405020304" pitchFamily="18" charset="0"/>
                <a:ea typeface="黑体" panose="02010609060101010101" pitchFamily="49" charset="-122"/>
                <a:sym typeface="+mn-ea"/>
              </a:rPr>
              <a:t>r	</a:t>
            </a:r>
            <a:r>
              <a:rPr lang="zh-CN" altLang="en-US" sz="2400" dirty="0">
                <a:solidFill>
                  <a:srgbClr val="000000"/>
                </a:solidFill>
                <a:latin typeface="Arial" panose="020B0604020202020204" pitchFamily="34" charset="0"/>
                <a:ea typeface="黑体" panose="02010609060101010101" pitchFamily="49" charset="-122"/>
                <a:sym typeface="+mn-ea"/>
              </a:rPr>
              <a:t>译码为</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j</a:t>
            </a:r>
            <a:r>
              <a:rPr lang="zh-CN" altLang="en-US" sz="2400" dirty="0">
                <a:solidFill>
                  <a:srgbClr val="000000"/>
                </a:solidFill>
                <a:latin typeface="Arial" panose="020B0604020202020204" pitchFamily="34" charset="0"/>
                <a:ea typeface="黑体" panose="02010609060101010101" pitchFamily="49" charset="-122"/>
                <a:sym typeface="+mn-ea"/>
              </a:rPr>
              <a:t>，同时错误图样为</a:t>
            </a:r>
            <a:r>
              <a:rPr lang="en-US" altLang="zh-CN" sz="2400" i="1" err="1">
                <a:solidFill>
                  <a:srgbClr val="000000"/>
                </a:solidFill>
                <a:latin typeface="Times New Roman" panose="02020603050405020304" pitchFamily="18" charset="0"/>
                <a:ea typeface="黑体" panose="02010609060101010101" pitchFamily="49" charset="-122"/>
                <a:sym typeface="+mn-ea"/>
              </a:rPr>
              <a:t>e</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i</a:t>
            </a:r>
            <a:r>
              <a:rPr lang="zh-CN" altLang="en-US" sz="2400" dirty="0">
                <a:solidFill>
                  <a:srgbClr val="000000"/>
                </a:solidFill>
                <a:latin typeface="Arial" panose="020B0604020202020204" pitchFamily="34" charset="0"/>
                <a:ea typeface="黑体" panose="02010609060101010101" pitchFamily="49" charset="-122"/>
                <a:sym typeface="+mn-ea"/>
              </a:rPr>
              <a:t>，即</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i="1" err="1">
                <a:solidFill>
                  <a:srgbClr val="000000"/>
                </a:solidFill>
                <a:latin typeface="Times New Roman" panose="02020603050405020304" pitchFamily="18" charset="0"/>
                <a:ea typeface="黑体" panose="02010609060101010101" pitchFamily="49" charset="-122"/>
                <a:sym typeface="+mn-ea"/>
              </a:rPr>
              <a:t>e</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i</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j</a:t>
            </a:r>
            <a:r>
              <a:rPr lang="zh-CN" altLang="en-US" sz="2400" dirty="0">
                <a:solidFill>
                  <a:srgbClr val="000000"/>
                </a:solidFill>
                <a:latin typeface="黑体" panose="02010609060101010101" pitchFamily="49" charset="-122"/>
                <a:ea typeface="黑体" panose="02010609060101010101" pitchFamily="49" charset="-122"/>
                <a:sym typeface="+mn-ea"/>
              </a:rPr>
              <a:t>。</a:t>
            </a:r>
          </a:p>
        </p:txBody>
      </p:sp>
      <p:sp>
        <p:nvSpPr>
          <p:cNvPr id="8" name="文本框 7"/>
          <p:cNvSpPr txBox="1"/>
          <p:nvPr/>
        </p:nvSpPr>
        <p:spPr>
          <a:xfrm>
            <a:off x="2429511" y="2635885"/>
            <a:ext cx="7318375" cy="472502"/>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000" dirty="0">
                <a:solidFill>
                  <a:srgbClr val="FF0000"/>
                </a:solidFill>
                <a:latin typeface="黑体" panose="02010609060101010101" pitchFamily="49" charset="-122"/>
                <a:ea typeface="黑体" panose="02010609060101010101" pitchFamily="49" charset="-122"/>
                <a:sym typeface="+mn-ea"/>
              </a:rPr>
              <a:t>举例：</a:t>
            </a:r>
            <a:r>
              <a:rPr lang="zh-CN" altLang="en-US" sz="2000" dirty="0">
                <a:solidFill>
                  <a:srgbClr val="000000"/>
                </a:solidFill>
                <a:latin typeface="黑体" panose="02010609060101010101" pitchFamily="49" charset="-122"/>
                <a:ea typeface="黑体" panose="02010609060101010101" pitchFamily="49" charset="-122"/>
                <a:sym typeface="+mn-ea"/>
              </a:rPr>
              <a:t>考虑码</a:t>
            </a:r>
            <a:r>
              <a:rPr lang="en-US" altLang="zh-CN" sz="2000">
                <a:solidFill>
                  <a:srgbClr val="000000"/>
                </a:solidFill>
                <a:latin typeface="Times New Roman" panose="02020603050405020304" pitchFamily="18" charset="0"/>
                <a:ea typeface="黑体" panose="02010609060101010101" pitchFamily="49" charset="-122"/>
                <a:sym typeface="+mn-ea"/>
              </a:rPr>
              <a:t>C={0000,1011,0101,1110}</a:t>
            </a:r>
            <a:r>
              <a:rPr lang="zh-CN" altLang="en-US" sz="2000" dirty="0">
                <a:solidFill>
                  <a:srgbClr val="000000"/>
                </a:solidFill>
                <a:latin typeface="黑体" panose="02010609060101010101" pitchFamily="49" charset="-122"/>
                <a:ea typeface="黑体" panose="02010609060101010101" pitchFamily="49" charset="-122"/>
                <a:sym typeface="+mn-ea"/>
              </a:rPr>
              <a:t>，对应的标准阵为</a:t>
            </a:r>
          </a:p>
        </p:txBody>
      </p:sp>
      <p:graphicFrame>
        <p:nvGraphicFramePr>
          <p:cNvPr id="9" name="对象 8">
            <a:hlinkClick r:id="" action="ppaction://ole?verb=0"/>
          </p:cNvPr>
          <p:cNvGraphicFramePr>
            <a:graphicFrameLocks noChangeAspect="1"/>
          </p:cNvGraphicFramePr>
          <p:nvPr/>
        </p:nvGraphicFramePr>
        <p:xfrm>
          <a:off x="3324225" y="3462020"/>
          <a:ext cx="3281680" cy="1551940"/>
        </p:xfrm>
        <a:graphic>
          <a:graphicData uri="http://schemas.openxmlformats.org/presentationml/2006/ole">
            <mc:AlternateContent xmlns:mc="http://schemas.openxmlformats.org/markup-compatibility/2006">
              <mc:Choice xmlns:v="urn:schemas-microsoft-com:vml" Requires="v">
                <p:oleObj r:id="rId3" imgW="1663700" imgH="889000" progId="Equation.KSEE3">
                  <p:embed/>
                </p:oleObj>
              </mc:Choice>
              <mc:Fallback>
                <p:oleObj r:id="rId3" imgW="1663700" imgH="889000" progId="Equation.KSEE3">
                  <p:embed/>
                  <p:pic>
                    <p:nvPicPr>
                      <p:cNvPr id="9" name="对象 8">
                        <a:hlinkClick r:id="" action="ppaction://ole?verb=0"/>
                      </p:cNvPr>
                      <p:cNvPicPr/>
                      <p:nvPr/>
                    </p:nvPicPr>
                    <p:blipFill>
                      <a:blip r:embed="rId4"/>
                      <a:stretch>
                        <a:fillRect/>
                      </a:stretch>
                    </p:blipFill>
                    <p:spPr>
                      <a:xfrm>
                        <a:off x="3324225" y="3462020"/>
                        <a:ext cx="3281680" cy="1551940"/>
                      </a:xfrm>
                      <a:prstGeom prst="rect">
                        <a:avLst/>
                      </a:prstGeom>
                    </p:spPr>
                  </p:pic>
                </p:oleObj>
              </mc:Fallback>
            </mc:AlternateContent>
          </a:graphicData>
        </a:graphic>
      </p:graphicFrame>
      <p:grpSp>
        <p:nvGrpSpPr>
          <p:cNvPr id="11" name="组合 10"/>
          <p:cNvGrpSpPr/>
          <p:nvPr/>
        </p:nvGrpSpPr>
        <p:grpSpPr>
          <a:xfrm>
            <a:off x="1872616" y="3443605"/>
            <a:ext cx="1350645" cy="398586"/>
            <a:chOff x="2651" y="6732"/>
            <a:chExt cx="2405" cy="694"/>
          </a:xfrm>
        </p:grpSpPr>
        <p:sp>
          <p:nvSpPr>
            <p:cNvPr id="43012" name="右箭头 357381"/>
            <p:cNvSpPr/>
            <p:nvPr/>
          </p:nvSpPr>
          <p:spPr>
            <a:xfrm flipV="1">
              <a:off x="4148" y="6845"/>
              <a:ext cx="908" cy="340"/>
            </a:xfrm>
            <a:prstGeom prst="rightArrow">
              <a:avLst>
                <a:gd name="adj1" fmla="val 50000"/>
                <a:gd name="adj2" fmla="val 66690"/>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43014" name="文本框 357383"/>
            <p:cNvSpPr txBox="1"/>
            <p:nvPr/>
          </p:nvSpPr>
          <p:spPr>
            <a:xfrm>
              <a:off x="2651" y="6732"/>
              <a:ext cx="1588" cy="694"/>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b="1" dirty="0">
                  <a:solidFill>
                    <a:srgbClr val="000000"/>
                  </a:solidFill>
                  <a:latin typeface="Arial" panose="020B0604020202020204" pitchFamily="34" charset="0"/>
                  <a:ea typeface="黑体" panose="02010609060101010101" pitchFamily="49" charset="-122"/>
                </a:rPr>
                <a:t>码字</a:t>
              </a:r>
            </a:p>
          </p:txBody>
        </p:sp>
      </p:grpSp>
      <p:grpSp>
        <p:nvGrpSpPr>
          <p:cNvPr id="14" name="组合 13"/>
          <p:cNvGrpSpPr/>
          <p:nvPr/>
        </p:nvGrpSpPr>
        <p:grpSpPr>
          <a:xfrm>
            <a:off x="2783205" y="5002530"/>
            <a:ext cx="1654810" cy="736600"/>
            <a:chOff x="4363" y="9187"/>
            <a:chExt cx="2606" cy="1160"/>
          </a:xfrm>
        </p:grpSpPr>
        <p:sp>
          <p:nvSpPr>
            <p:cNvPr id="43015" name="文本框 357384"/>
            <p:cNvSpPr txBox="1"/>
            <p:nvPr/>
          </p:nvSpPr>
          <p:spPr>
            <a:xfrm>
              <a:off x="4363" y="9719"/>
              <a:ext cx="2607" cy="628"/>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b="1" dirty="0">
                  <a:solidFill>
                    <a:srgbClr val="000000"/>
                  </a:solidFill>
                  <a:latin typeface="Arial" panose="020B0604020202020204" pitchFamily="34" charset="0"/>
                  <a:ea typeface="黑体" panose="02010609060101010101" pitchFamily="49" charset="-122"/>
                </a:rPr>
                <a:t>陪集首</a:t>
              </a:r>
            </a:p>
          </p:txBody>
        </p:sp>
        <p:sp>
          <p:nvSpPr>
            <p:cNvPr id="15" name="上箭头 357382"/>
            <p:cNvSpPr/>
            <p:nvPr/>
          </p:nvSpPr>
          <p:spPr>
            <a:xfrm>
              <a:off x="5379" y="9187"/>
              <a:ext cx="532" cy="431"/>
            </a:xfrm>
            <a:prstGeom prst="upArrow">
              <a:avLst>
                <a:gd name="adj1" fmla="val 50000"/>
                <a:gd name="adj2" fmla="val 62328"/>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grpSp>
      <p:sp>
        <p:nvSpPr>
          <p:cNvPr id="17" name="文本框 16"/>
          <p:cNvSpPr txBox="1"/>
          <p:nvPr/>
        </p:nvSpPr>
        <p:spPr>
          <a:xfrm>
            <a:off x="6863715" y="3745230"/>
            <a:ext cx="3314700" cy="472502"/>
          </a:xfrm>
          <a:prstGeom prst="rect">
            <a:avLst/>
          </a:prstGeom>
          <a:noFill/>
        </p:spPr>
        <p:txBody>
          <a:bodyPr wrap="square" rtlCol="0" anchor="t">
            <a:spAutoFit/>
          </a:bodyPr>
          <a:lstStyle/>
          <a:p>
            <a:pPr indent="508000" eaLnBrk="0" fontAlgn="base" hangingPunct="0">
              <a:lnSpc>
                <a:spcPct val="140000"/>
              </a:lnSpc>
              <a:spcBef>
                <a:spcPct val="0"/>
              </a:spcBef>
              <a:spcAft>
                <a:spcPct val="0"/>
              </a:spcAft>
              <a:buClr>
                <a:srgbClr val="CCCCFF"/>
              </a:buClr>
              <a:buSzPct val="65000"/>
              <a:extLst>
                <a:ext uri="{35155182-B16C-46BC-9424-99874614C6A1}">
                  <wpsdc:indentchars xmlns="" xmlns:wpsdc="http://www.wps.cn/officeDocument/2017/drawingmlCustomData" val="200" checksum="282533468"/>
                </a:ext>
              </a:extLst>
            </a:pPr>
            <a:r>
              <a:rPr lang="zh-CN" altLang="en-US" sz="2000" b="1" dirty="0">
                <a:solidFill>
                  <a:srgbClr val="FF0000"/>
                </a:solidFill>
                <a:latin typeface="黑体" panose="02010609060101010101" pitchFamily="49" charset="-122"/>
                <a:ea typeface="黑体" panose="02010609060101010101" pitchFamily="49" charset="-122"/>
                <a:sym typeface="+mn-ea"/>
              </a:rPr>
              <a:t>如果接收矢量是</a:t>
            </a:r>
            <a:r>
              <a:rPr lang="en-US" altLang="zh-CN" sz="2000" b="1">
                <a:solidFill>
                  <a:srgbClr val="FF0000"/>
                </a:solidFill>
                <a:latin typeface="Times New Roman" panose="02020603050405020304" pitchFamily="18" charset="0"/>
                <a:ea typeface="黑体" panose="02010609060101010101" pitchFamily="49" charset="-122"/>
                <a:sym typeface="+mn-ea"/>
              </a:rPr>
              <a:t>1101</a:t>
            </a:r>
            <a:r>
              <a:rPr lang="zh-CN" altLang="en-US" sz="2000" b="1" dirty="0">
                <a:solidFill>
                  <a:srgbClr val="FF0000"/>
                </a:solidFill>
                <a:latin typeface="黑体" panose="02010609060101010101" pitchFamily="49" charset="-122"/>
                <a:ea typeface="黑体" panose="02010609060101010101" pitchFamily="49" charset="-122"/>
                <a:sym typeface="+mn-ea"/>
              </a:rPr>
              <a:t>，</a:t>
            </a:r>
            <a:endParaRPr lang="en-US" altLang="zh-CN" sz="2000" b="1" dirty="0">
              <a:solidFill>
                <a:srgbClr val="0070C0"/>
              </a:solidFill>
              <a:latin typeface="Times New Roman" panose="02020603050405020304" pitchFamily="18" charset="0"/>
              <a:ea typeface="黑体" panose="02010609060101010101" pitchFamily="49" charset="-122"/>
              <a:sym typeface="+mn-ea"/>
            </a:endParaRPr>
          </a:p>
        </p:txBody>
      </p:sp>
      <p:sp>
        <p:nvSpPr>
          <p:cNvPr id="19" name="文本框 18"/>
          <p:cNvSpPr txBox="1"/>
          <p:nvPr/>
        </p:nvSpPr>
        <p:spPr>
          <a:xfrm>
            <a:off x="7160896" y="4250055"/>
            <a:ext cx="3068955" cy="472502"/>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000" b="1" dirty="0">
                <a:solidFill>
                  <a:srgbClr val="0070C0"/>
                </a:solidFill>
                <a:latin typeface="黑体" panose="02010609060101010101" pitchFamily="49" charset="-122"/>
                <a:ea typeface="黑体" panose="02010609060101010101" pitchFamily="49" charset="-122"/>
                <a:sym typeface="+mn-ea"/>
              </a:rPr>
              <a:t>那么估计的码字是</a:t>
            </a:r>
            <a:r>
              <a:rPr lang="en-US" altLang="zh-CN" sz="2000" b="1">
                <a:solidFill>
                  <a:srgbClr val="0070C0"/>
                </a:solidFill>
                <a:latin typeface="Times New Roman" panose="02020603050405020304" pitchFamily="18" charset="0"/>
                <a:ea typeface="黑体" panose="02010609060101010101" pitchFamily="49" charset="-122"/>
                <a:sym typeface="+mn-ea"/>
              </a:rPr>
              <a:t>0101</a:t>
            </a:r>
            <a:r>
              <a:rPr lang="zh-CN" altLang="en-US" sz="2000" b="1">
                <a:solidFill>
                  <a:srgbClr val="0070C0"/>
                </a:solidFill>
                <a:latin typeface="Times New Roman" panose="02020603050405020304" pitchFamily="18" charset="0"/>
                <a:ea typeface="黑体" panose="02010609060101010101" pitchFamily="49" charset="-122"/>
                <a:sym typeface="+mn-ea"/>
              </a:rPr>
              <a:t>，</a:t>
            </a:r>
            <a:endParaRPr lang="zh-CN" altLang="en-US" sz="2000" b="1" dirty="0">
              <a:solidFill>
                <a:srgbClr val="0070C0"/>
              </a:solidFill>
              <a:latin typeface="Times New Roman" panose="02020603050405020304" pitchFamily="18" charset="0"/>
              <a:ea typeface="黑体" panose="02010609060101010101" pitchFamily="49" charset="-122"/>
              <a:sym typeface="+mn-ea"/>
            </a:endParaRPr>
          </a:p>
        </p:txBody>
      </p:sp>
      <p:sp>
        <p:nvSpPr>
          <p:cNvPr id="22" name="文本框 21"/>
          <p:cNvSpPr txBox="1"/>
          <p:nvPr/>
        </p:nvSpPr>
        <p:spPr>
          <a:xfrm>
            <a:off x="7136766" y="4754880"/>
            <a:ext cx="3068955" cy="472502"/>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000" b="1" dirty="0">
                <a:solidFill>
                  <a:srgbClr val="7030A0"/>
                </a:solidFill>
                <a:latin typeface="黑体" panose="02010609060101010101" pitchFamily="49" charset="-122"/>
                <a:ea typeface="黑体" panose="02010609060101010101" pitchFamily="49" charset="-122"/>
                <a:sym typeface="+mn-ea"/>
              </a:rPr>
              <a:t>错误图样就是</a:t>
            </a:r>
            <a:r>
              <a:rPr lang="en-US" altLang="zh-CN" sz="2000" b="1">
                <a:solidFill>
                  <a:srgbClr val="7030A0"/>
                </a:solidFill>
                <a:latin typeface="Times New Roman" panose="02020603050405020304" pitchFamily="18" charset="0"/>
                <a:ea typeface="黑体" panose="02010609060101010101" pitchFamily="49" charset="-122"/>
                <a:sym typeface="+mn-ea"/>
              </a:rPr>
              <a:t>1000</a:t>
            </a:r>
            <a:r>
              <a:rPr lang="zh-CN" altLang="en-US" sz="2000" b="1">
                <a:solidFill>
                  <a:srgbClr val="7030A0"/>
                </a:solidFill>
                <a:latin typeface="Times New Roman" panose="02020603050405020304" pitchFamily="18" charset="0"/>
                <a:ea typeface="黑体" panose="02010609060101010101" pitchFamily="49" charset="-122"/>
                <a:sym typeface="+mn-ea"/>
              </a:rPr>
              <a:t>。</a:t>
            </a:r>
            <a:endParaRPr lang="zh-CN" altLang="en-US" sz="2000" b="1" dirty="0">
              <a:solidFill>
                <a:srgbClr val="7030A0"/>
              </a:solidFill>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1" grpId="1" animBg="1"/>
      <p:bldP spid="20" grpId="0" bldLvl="0" animBg="1"/>
      <p:bldP spid="20" grpId="1" animBg="1"/>
      <p:bldP spid="18" grpId="0" bldLvl="0" animBg="1"/>
      <p:bldP spid="18"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62090" y="104775"/>
            <a:ext cx="383921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最小距离译码方法</a:t>
            </a:r>
          </a:p>
        </p:txBody>
      </p:sp>
      <p:sp>
        <p:nvSpPr>
          <p:cNvPr id="3" name="内容占位符 2"/>
          <p:cNvSpPr txBox="1"/>
          <p:nvPr/>
        </p:nvSpPr>
        <p:spPr>
          <a:xfrm>
            <a:off x="1791336" y="1078865"/>
            <a:ext cx="8509635" cy="174117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4" name="文本框 3"/>
          <p:cNvSpPr txBox="1"/>
          <p:nvPr/>
        </p:nvSpPr>
        <p:spPr>
          <a:xfrm>
            <a:off x="1922145" y="1140461"/>
            <a:ext cx="8256270" cy="152971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sym typeface="+mn-ea"/>
              </a:rPr>
              <a:t>方法：</a:t>
            </a:r>
            <a:r>
              <a:rPr lang="zh-CN" altLang="en-US" sz="2400" dirty="0">
                <a:solidFill>
                  <a:srgbClr val="000000"/>
                </a:solidFill>
                <a:latin typeface="Arial" panose="020B0604020202020204" pitchFamily="34" charset="0"/>
                <a:ea typeface="黑体" panose="02010609060101010101" pitchFamily="49" charset="-122"/>
                <a:sym typeface="+mn-ea"/>
              </a:rPr>
              <a:t>对</a:t>
            </a:r>
            <a:r>
              <a:rPr lang="en-US" altLang="zh-CN" sz="2400">
                <a:solidFill>
                  <a:srgbClr val="000000"/>
                </a:solidFill>
                <a:latin typeface="Times New Roman" panose="02020603050405020304" pitchFamily="18" charset="0"/>
                <a:ea typeface="黑体" panose="02010609060101010101" pitchFamily="49" charset="-122"/>
                <a:sym typeface="+mn-ea"/>
              </a:rPr>
              <a:t>BSC</a:t>
            </a:r>
            <a:r>
              <a:rPr lang="zh-CN" altLang="en-US" sz="2400" dirty="0">
                <a:solidFill>
                  <a:srgbClr val="000000"/>
                </a:solidFill>
                <a:latin typeface="Arial" panose="020B0604020202020204" pitchFamily="34" charset="0"/>
                <a:ea typeface="黑体" panose="02010609060101010101" pitchFamily="49" charset="-122"/>
                <a:sym typeface="+mn-ea"/>
              </a:rPr>
              <a:t>信道，为了使译码错误概率最小，可以选择汉</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明重量最小的</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Arial" panose="020B0604020202020204" pitchFamily="34" charset="0"/>
                <a:ea typeface="黑体" panose="02010609060101010101" pitchFamily="49" charset="-122"/>
                <a:sym typeface="+mn-ea"/>
              </a:rPr>
              <a:t>重做为陪集首，即将接收矢量</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zh-CN" altLang="en-US" sz="2400" dirty="0">
                <a:solidFill>
                  <a:srgbClr val="000000"/>
                </a:solidFill>
                <a:latin typeface="Arial" panose="020B0604020202020204" pitchFamily="34" charset="0"/>
                <a:ea typeface="黑体" panose="02010609060101010101" pitchFamily="49" charset="-122"/>
                <a:sym typeface="+mn-ea"/>
              </a:rPr>
              <a:t>译码为</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与</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zh-CN" altLang="en-US" sz="2400" dirty="0">
                <a:solidFill>
                  <a:srgbClr val="000000"/>
                </a:solidFill>
                <a:latin typeface="Arial" panose="020B0604020202020204" pitchFamily="34" charset="0"/>
                <a:ea typeface="黑体" panose="02010609060101010101" pitchFamily="49" charset="-122"/>
                <a:sym typeface="+mn-ea"/>
              </a:rPr>
              <a:t>的汉明距离最小的那个码字</a:t>
            </a:r>
            <a:r>
              <a:rPr lang="zh-CN" altLang="en-US" sz="2400" dirty="0">
                <a:solidFill>
                  <a:srgbClr val="000000"/>
                </a:solidFill>
                <a:latin typeface="黑体" panose="02010609060101010101" pitchFamily="49" charset="-122"/>
                <a:ea typeface="黑体" panose="02010609060101010101" pitchFamily="49" charset="-122"/>
                <a:sym typeface="+mn-ea"/>
              </a:rPr>
              <a:t>。</a:t>
            </a:r>
          </a:p>
        </p:txBody>
      </p:sp>
      <p:sp>
        <p:nvSpPr>
          <p:cNvPr id="8" name="文本框 7"/>
          <p:cNvSpPr txBox="1"/>
          <p:nvPr/>
        </p:nvSpPr>
        <p:spPr>
          <a:xfrm>
            <a:off x="1884680" y="3013710"/>
            <a:ext cx="8347710" cy="3192780"/>
          </a:xfrm>
          <a:prstGeom prst="rect">
            <a:avLst/>
          </a:prstGeom>
          <a:noFill/>
        </p:spPr>
        <p:txBody>
          <a:bodyPr wrap="square" rtlCol="0" anchor="t">
            <a:spAutoFit/>
          </a:bodyPr>
          <a:lstStyle/>
          <a:p>
            <a:pPr algn="just" eaLnBrk="0" fontAlgn="base" hangingPunct="0">
              <a:lnSpc>
                <a:spcPct val="12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Times New Roman" panose="02020603050405020304" pitchFamily="18" charset="0"/>
                <a:ea typeface="黑体" panose="02010609060101010101" pitchFamily="49" charset="-122"/>
                <a:sym typeface="+mn-ea"/>
              </a:rPr>
              <a:t>考虑码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a:solidFill>
                  <a:srgbClr val="000000"/>
                </a:solidFill>
                <a:latin typeface="Times New Roman" panose="02020603050405020304" pitchFamily="18" charset="0"/>
                <a:ea typeface="黑体" panose="02010609060101010101" pitchFamily="49" charset="-122"/>
                <a:sym typeface="+mn-ea"/>
              </a:rPr>
              <a:t>={00000,01010,10101,11111}</a:t>
            </a:r>
            <a:r>
              <a:rPr lang="zh-CN" altLang="en-US" sz="2400" dirty="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lnSpc>
                <a:spcPct val="120000"/>
              </a:lnSpc>
              <a:spcBef>
                <a:spcPct val="0"/>
              </a:spcBef>
              <a:spcAft>
                <a:spcPct val="0"/>
              </a:spcAft>
            </a:pP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该码的最小距离是</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lnSpc>
                <a:spcPct val="120000"/>
              </a:lnSpc>
              <a:spcBef>
                <a:spcPct val="0"/>
              </a:spcBef>
              <a:spcAft>
                <a:spcPct val="0"/>
              </a:spcAft>
            </a:pP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如果传输的码字是</a:t>
            </a:r>
            <a:r>
              <a:rPr lang="en-US" altLang="zh-CN" sz="2400">
                <a:solidFill>
                  <a:srgbClr val="000000"/>
                </a:solidFill>
                <a:latin typeface="Times New Roman" panose="02020603050405020304" pitchFamily="18" charset="0"/>
                <a:ea typeface="黑体" panose="02010609060101010101" pitchFamily="49" charset="-122"/>
                <a:sym typeface="+mn-ea"/>
              </a:rPr>
              <a:t>11111</a:t>
            </a:r>
            <a:r>
              <a:rPr lang="zh-CN" altLang="en-US" sz="2400" dirty="0">
                <a:solidFill>
                  <a:srgbClr val="000000"/>
                </a:solidFill>
                <a:latin typeface="Times New Roman" panose="02020603050405020304" pitchFamily="18" charset="0"/>
                <a:ea typeface="黑体" panose="02010609060101010101" pitchFamily="49" charset="-122"/>
                <a:sym typeface="+mn-ea"/>
              </a:rPr>
              <a:t>，接收的矢量是</a:t>
            </a:r>
            <a:r>
              <a:rPr lang="en-US" altLang="zh-CN" sz="2400">
                <a:solidFill>
                  <a:srgbClr val="000000"/>
                </a:solidFill>
                <a:latin typeface="Times New Roman" panose="02020603050405020304" pitchFamily="18" charset="0"/>
                <a:ea typeface="黑体" panose="02010609060101010101" pitchFamily="49" charset="-122"/>
                <a:sym typeface="+mn-ea"/>
              </a:rPr>
              <a:t>11110</a:t>
            </a:r>
            <a:r>
              <a:rPr lang="zh-CN" altLang="en-US" sz="2400" dirty="0">
                <a:solidFill>
                  <a:srgbClr val="000000"/>
                </a:solidFill>
                <a:latin typeface="Times New Roman" panose="02020603050405020304" pitchFamily="18" charset="0"/>
                <a:ea typeface="黑体" panose="02010609060101010101" pitchFamily="49" charset="-122"/>
                <a:sym typeface="+mn-ea"/>
              </a:rPr>
              <a:t>，那么，</a:t>
            </a:r>
          </a:p>
          <a:p>
            <a:pPr algn="just" eaLnBrk="0" fontAlgn="base" hangingPunct="0">
              <a:lnSpc>
                <a:spcPct val="120000"/>
              </a:lnSpc>
              <a:spcBef>
                <a:spcPct val="0"/>
              </a:spcBef>
              <a:spcAft>
                <a:spcPct val="0"/>
              </a:spcAft>
            </a:pP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zh-CN" sz="2400">
                <a:solidFill>
                  <a:srgbClr val="000000"/>
                </a:solidFill>
                <a:latin typeface="Times New Roman" panose="02020603050405020304" pitchFamily="18" charset="0"/>
                <a:ea typeface="黑体" panose="02010609060101010101" pitchFamily="49" charset="-122"/>
                <a:sym typeface="+mn-ea"/>
              </a:rPr>
              <a:t>(11110, 00000)=4, </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zh-CN" sz="2400">
                <a:solidFill>
                  <a:srgbClr val="000000"/>
                </a:solidFill>
                <a:latin typeface="Times New Roman" panose="02020603050405020304" pitchFamily="18" charset="0"/>
                <a:ea typeface="黑体" panose="02010609060101010101" pitchFamily="49" charset="-122"/>
                <a:sym typeface="+mn-ea"/>
              </a:rPr>
              <a:t>(11110, 01010)=2,</a:t>
            </a:r>
          </a:p>
          <a:p>
            <a:pPr algn="just" eaLnBrk="0" fontAlgn="base" hangingPunct="0">
              <a:lnSpc>
                <a:spcPct val="120000"/>
              </a:lnSpc>
              <a:spcBef>
                <a:spcPct val="0"/>
              </a:spcBef>
              <a:spcAft>
                <a:spcPct val="0"/>
              </a:spcAft>
            </a:pP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zh-CN" sz="2400">
                <a:solidFill>
                  <a:srgbClr val="000000"/>
                </a:solidFill>
                <a:latin typeface="Times New Roman" panose="02020603050405020304" pitchFamily="18" charset="0"/>
                <a:ea typeface="黑体" panose="02010609060101010101" pitchFamily="49" charset="-122"/>
                <a:sym typeface="+mn-ea"/>
              </a:rPr>
              <a:t>(11110, 10101)=3, </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zh-CN" sz="2400">
                <a:solidFill>
                  <a:srgbClr val="000000"/>
                </a:solidFill>
                <a:latin typeface="Times New Roman" panose="02020603050405020304" pitchFamily="18" charset="0"/>
                <a:ea typeface="黑体" panose="02010609060101010101" pitchFamily="49" charset="-122"/>
                <a:sym typeface="+mn-ea"/>
              </a:rPr>
              <a:t>(11110, 11111)=1</a:t>
            </a:r>
            <a:r>
              <a:rPr lang="zh-CN" altLang="en-US" sz="240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lnSpc>
                <a:spcPct val="120000"/>
              </a:lnSpc>
              <a:spcBef>
                <a:spcPct val="0"/>
              </a:spcBef>
              <a:spcAft>
                <a:spcPct val="0"/>
              </a:spcAft>
            </a:pP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用最小距离译码方法可以得出传输的码字就是</a:t>
            </a:r>
            <a:r>
              <a:rPr lang="en-US" altLang="zh-CN" sz="2400">
                <a:solidFill>
                  <a:srgbClr val="000000"/>
                </a:solidFill>
                <a:latin typeface="Times New Roman" panose="02020603050405020304" pitchFamily="18" charset="0"/>
                <a:ea typeface="黑体" panose="02010609060101010101" pitchFamily="49" charset="-122"/>
                <a:sym typeface="+mn-ea"/>
              </a:rPr>
              <a:t>11111</a:t>
            </a:r>
            <a:r>
              <a:rPr lang="zh-CN" altLang="en-US" sz="2400" dirty="0">
                <a:solidFill>
                  <a:srgbClr val="000000"/>
                </a:solidFill>
                <a:latin typeface="Times New Roman" panose="02020603050405020304" pitchFamily="18" charset="0"/>
                <a:ea typeface="黑体" panose="02010609060101010101" pitchFamily="49" charset="-122"/>
                <a:sym typeface="+mn-ea"/>
              </a:rPr>
              <a:t>这</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样的结论。</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35906" y="104775"/>
            <a:ext cx="506539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基于标准阵的译码方法的缺点</a:t>
            </a:r>
          </a:p>
        </p:txBody>
      </p:sp>
      <p:sp>
        <p:nvSpPr>
          <p:cNvPr id="7" name="文本框 6"/>
          <p:cNvSpPr txBox="1"/>
          <p:nvPr/>
        </p:nvSpPr>
        <p:spPr>
          <a:xfrm>
            <a:off x="2176781" y="909321"/>
            <a:ext cx="7863205" cy="152971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FF0000"/>
                </a:solidFill>
                <a:latin typeface="Times New Roman" panose="02020603050405020304" pitchFamily="18" charset="0"/>
                <a:ea typeface="黑体" panose="02010609060101010101" pitchFamily="49" charset="-122"/>
                <a:sym typeface="+mn-ea"/>
              </a:rPr>
              <a:t>缺点：</a:t>
            </a:r>
            <a:r>
              <a:rPr lang="zh-CN" altLang="en-US" sz="2400" dirty="0">
                <a:solidFill>
                  <a:srgbClr val="000000"/>
                </a:solidFill>
                <a:latin typeface="Times New Roman" panose="02020603050405020304" pitchFamily="18" charset="0"/>
                <a:ea typeface="黑体" panose="02010609060101010101" pitchFamily="49" charset="-122"/>
                <a:sym typeface="+mn-ea"/>
              </a:rPr>
              <a:t>当所考虑的码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的</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和</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的值都很大的时候，标准阵列的长度就变得非常的巨大，此时，用标准阵来译码就变得不实用了。</a:t>
            </a:r>
          </a:p>
        </p:txBody>
      </p:sp>
      <p:sp>
        <p:nvSpPr>
          <p:cNvPr id="5" name="矩形 4"/>
          <p:cNvSpPr/>
          <p:nvPr/>
        </p:nvSpPr>
        <p:spPr>
          <a:xfrm>
            <a:off x="3234690" y="2990850"/>
            <a:ext cx="6113780" cy="5702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6" name="文本框 5"/>
          <p:cNvSpPr txBox="1"/>
          <p:nvPr/>
        </p:nvSpPr>
        <p:spPr>
          <a:xfrm>
            <a:off x="3497581" y="3017521"/>
            <a:ext cx="5737225" cy="426335"/>
          </a:xfrm>
          <a:prstGeom prst="rect">
            <a:avLst/>
          </a:prstGeom>
          <a:noFill/>
        </p:spPr>
        <p:txBody>
          <a:bodyPr wrap="square" rtlCol="0" anchor="t">
            <a:spAutoFit/>
          </a:bodyPr>
          <a:lstStyle/>
          <a:p>
            <a:pPr algn="just" eaLnBrk="0" fontAlgn="base" hangingPunct="0">
              <a:lnSpc>
                <a:spcPct val="120000"/>
              </a:lnSpc>
              <a:spcAft>
                <a:spcPct val="0"/>
              </a:spcAft>
              <a:buClr>
                <a:srgbClr val="CCCCFF"/>
              </a:buClr>
              <a:buSzPct val="65000"/>
            </a:pPr>
            <a:r>
              <a:rPr sz="2000" b="1">
                <a:solidFill>
                  <a:srgbClr val="FF0000"/>
                </a:solidFill>
                <a:latin typeface="楷体" panose="02010609060101010101" charset="-122"/>
                <a:ea typeface="楷体" panose="02010609060101010101" charset="-122"/>
              </a:rPr>
              <a:t>思考题：</a:t>
            </a:r>
            <a:r>
              <a:rPr sz="2000">
                <a:solidFill>
                  <a:srgbClr val="000000"/>
                </a:solidFill>
                <a:latin typeface="Times New Roman" panose="02020603050405020304" pitchFamily="18" charset="0"/>
                <a:ea typeface="黑体" panose="02010609060101010101" pitchFamily="49" charset="-122"/>
              </a:rPr>
              <a:t>有办法来给标准阵降阶么</a:t>
            </a:r>
            <a:r>
              <a:rPr lang="en-US" sz="2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2" name="文本框 11"/>
          <p:cNvSpPr txBox="1"/>
          <p:nvPr/>
        </p:nvSpPr>
        <p:spPr>
          <a:xfrm>
            <a:off x="2410460" y="3939540"/>
            <a:ext cx="7600950" cy="1566198"/>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400" dirty="0">
                <a:solidFill>
                  <a:srgbClr val="FF0000"/>
                </a:solidFill>
                <a:latin typeface="黑体" panose="02010609060101010101" pitchFamily="49" charset="-122"/>
                <a:ea typeface="黑体" panose="02010609060101010101" pitchFamily="49" charset="-122"/>
                <a:cs typeface="+mn-ea"/>
                <a:sym typeface="+mn-ea"/>
              </a:rPr>
              <a:t>提示</a:t>
            </a:r>
            <a:r>
              <a:rPr lang="zh-CN" altLang="en-US" sz="2400" dirty="0">
                <a:solidFill>
                  <a:srgbClr val="FF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cs typeface="+mn-ea"/>
                <a:sym typeface="+mn-ea"/>
              </a:rPr>
              <a:t>结合前面计算伴随式的例子，可以知道伴随式比标准阵的长度短很多。因此，可以用伴随式译码来代替标准阵译码方法。</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743076" y="963930"/>
            <a:ext cx="8576945" cy="119634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文本框 8"/>
          <p:cNvSpPr txBox="1"/>
          <p:nvPr/>
        </p:nvSpPr>
        <p:spPr>
          <a:xfrm>
            <a:off x="1913256" y="1092201"/>
            <a:ext cx="8235315" cy="936347"/>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zh-CN" altLang="en-US" sz="2400" dirty="0">
                <a:solidFill>
                  <a:srgbClr val="000000"/>
                </a:solidFill>
                <a:latin typeface="Times New Roman" panose="02020603050405020304" pitchFamily="18" charset="0"/>
                <a:ea typeface="黑体" panose="02010609060101010101" pitchFamily="49" charset="-122"/>
                <a:sym typeface="+mn-ea"/>
              </a:rPr>
              <a:t>一个陪集的所有</a:t>
            </a:r>
            <a:r>
              <a:rPr lang="en-US" altLang="zh-CN" sz="2400">
                <a:solidFill>
                  <a:srgbClr val="000000"/>
                </a:solidFill>
                <a:latin typeface="Times New Roman" panose="02020603050405020304" pitchFamily="18" charset="0"/>
                <a:ea typeface="黑体" panose="02010609060101010101" pitchFamily="49" charset="-122"/>
                <a:sym typeface="+mn-ea"/>
              </a:rPr>
              <a:t>2</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个</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重有同样的伴随式。不同陪集的</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伴随式不同</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伴随式译码</a:t>
            </a:r>
          </a:p>
        </p:txBody>
      </p:sp>
      <p:sp>
        <p:nvSpPr>
          <p:cNvPr id="12" name="文本框 11"/>
          <p:cNvSpPr txBox="1"/>
          <p:nvPr/>
        </p:nvSpPr>
        <p:spPr>
          <a:xfrm>
            <a:off x="2202181" y="2428241"/>
            <a:ext cx="5234305" cy="460375"/>
          </a:xfrm>
          <a:prstGeom prst="rect">
            <a:avLst/>
          </a:prstGeom>
          <a:noFill/>
        </p:spPr>
        <p:txBody>
          <a:bodyPr wrap="square" rtlCol="0" anchor="t">
            <a:spAutoFit/>
          </a:bodyPr>
          <a:lstStyle/>
          <a:p>
            <a:pPr eaLnBrk="0" fontAlgn="base" hangingPunct="0">
              <a:spcBef>
                <a:spcPct val="0"/>
              </a:spcBef>
              <a:spcAft>
                <a:spcPct val="0"/>
              </a:spcAft>
              <a:buClr>
                <a:srgbClr val="CCCCFF"/>
              </a:buClr>
              <a:buSzPct val="65000"/>
            </a:pPr>
            <a:r>
              <a:rPr lang="zh-CN" altLang="en-US" sz="2400" dirty="0">
                <a:solidFill>
                  <a:srgbClr val="FF0000"/>
                </a:solidFill>
                <a:latin typeface="黑体" panose="02010609060101010101" pitchFamily="49" charset="-122"/>
                <a:ea typeface="黑体" panose="02010609060101010101" pitchFamily="49" charset="-122"/>
                <a:cs typeface="+mn-ea"/>
                <a:sym typeface="+mn-ea"/>
              </a:rPr>
              <a:t>证明</a:t>
            </a:r>
            <a:r>
              <a:rPr lang="zh-CN" altLang="en-US" sz="2400" dirty="0">
                <a:solidFill>
                  <a:srgbClr val="FF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如果</a:t>
            </a:r>
            <a:r>
              <a:rPr lang="en-US" altLang="zh-CN" sz="2400" i="1" err="1">
                <a:solidFill>
                  <a:srgbClr val="000000"/>
                </a:solidFill>
                <a:latin typeface="Times New Roman" panose="02020603050405020304" pitchFamily="18" charset="0"/>
                <a:ea typeface="黑体" panose="02010609060101010101" pitchFamily="49" charset="-122"/>
                <a:sym typeface="+mn-ea"/>
              </a:rPr>
              <a:t>x,y</a:t>
            </a:r>
            <a:r>
              <a:rPr lang="zh-CN" altLang="en-US" sz="2400" dirty="0">
                <a:solidFill>
                  <a:srgbClr val="000000"/>
                </a:solidFill>
                <a:latin typeface="Times New Roman" panose="02020603050405020304" pitchFamily="18" charset="0"/>
                <a:ea typeface="黑体" panose="02010609060101010101" pitchFamily="49" charset="-122"/>
                <a:sym typeface="+mn-ea"/>
              </a:rPr>
              <a:t>属于同一个陪集，那么</a:t>
            </a:r>
            <a:endParaRPr lang="zh-CN" altLang="en-US" sz="2400" dirty="0">
              <a:solidFill>
                <a:srgbClr val="000000"/>
              </a:solidFill>
              <a:latin typeface="黑体" panose="02010609060101010101" pitchFamily="49" charset="-122"/>
              <a:ea typeface="黑体" panose="02010609060101010101" pitchFamily="49" charset="-122"/>
              <a:cs typeface="+mn-ea"/>
              <a:sym typeface="+mn-ea"/>
            </a:endParaRPr>
          </a:p>
        </p:txBody>
      </p:sp>
      <p:graphicFrame>
        <p:nvGraphicFramePr>
          <p:cNvPr id="14" name="对象 13">
            <a:hlinkClick r:id="" action="ppaction://ole?verb=0"/>
          </p:cNvPr>
          <p:cNvGraphicFramePr>
            <a:graphicFrameLocks noChangeAspect="1"/>
          </p:cNvGraphicFramePr>
          <p:nvPr/>
        </p:nvGraphicFramePr>
        <p:xfrm>
          <a:off x="4800600" y="3048000"/>
          <a:ext cx="2321560" cy="2915920"/>
        </p:xfrm>
        <a:graphic>
          <a:graphicData uri="http://schemas.openxmlformats.org/presentationml/2006/ole">
            <mc:AlternateContent xmlns:mc="http://schemas.openxmlformats.org/markup-compatibility/2006">
              <mc:Choice xmlns:v="urn:schemas-microsoft-com:vml" Requires="v">
                <p:oleObj r:id="rId2" imgW="1079500" imgH="1155700" progId="Equation.KSEE3">
                  <p:embed/>
                </p:oleObj>
              </mc:Choice>
              <mc:Fallback>
                <p:oleObj r:id="rId2" imgW="1079500" imgH="1155700" progId="Equation.KSEE3">
                  <p:embed/>
                  <p:pic>
                    <p:nvPicPr>
                      <p:cNvPr id="14" name="对象 13">
                        <a:hlinkClick r:id="" action="ppaction://ole?verb=0"/>
                      </p:cNvPr>
                      <p:cNvPicPr/>
                      <p:nvPr/>
                    </p:nvPicPr>
                    <p:blipFill>
                      <a:blip r:embed="rId3"/>
                      <a:stretch>
                        <a:fillRect/>
                      </a:stretch>
                    </p:blipFill>
                    <p:spPr>
                      <a:xfrm>
                        <a:off x="4800600" y="3048000"/>
                        <a:ext cx="2321560" cy="2915920"/>
                      </a:xfrm>
                      <a:prstGeom prst="rect">
                        <a:avLst/>
                      </a:prstGeom>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伴随式译码举例</a:t>
            </a:r>
          </a:p>
        </p:txBody>
      </p:sp>
      <p:sp>
        <p:nvSpPr>
          <p:cNvPr id="5" name="文本框 4"/>
          <p:cNvSpPr txBox="1"/>
          <p:nvPr/>
        </p:nvSpPr>
        <p:spPr>
          <a:xfrm>
            <a:off x="1957071" y="765810"/>
            <a:ext cx="8302625" cy="548548"/>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400" dirty="0">
                <a:solidFill>
                  <a:srgbClr val="FF000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Arial" panose="020B0604020202020204" pitchFamily="34" charset="0"/>
                <a:ea typeface="黑体" panose="02010609060101010101" pitchFamily="49" charset="-122"/>
                <a:sym typeface="+mn-ea"/>
              </a:rPr>
              <a:t>考虑码</a:t>
            </a:r>
            <a:r>
              <a:rPr lang="en-US" altLang="zh-CN" sz="2400">
                <a:solidFill>
                  <a:srgbClr val="000000"/>
                </a:solidFill>
                <a:latin typeface="Times New Roman" panose="02020603050405020304" pitchFamily="18" charset="0"/>
                <a:ea typeface="宋体" panose="02010600030101010101" pitchFamily="2" charset="-122"/>
                <a:sym typeface="+mn-ea"/>
              </a:rPr>
              <a:t>C={0000,1011,0101,1110}</a:t>
            </a:r>
            <a:r>
              <a:rPr lang="zh-CN" altLang="en-US" sz="2400" dirty="0">
                <a:solidFill>
                  <a:srgbClr val="000000"/>
                </a:solidFill>
                <a:latin typeface="Arial" panose="020B0604020202020204" pitchFamily="34" charset="0"/>
                <a:ea typeface="宋体" panose="02010600030101010101" pitchFamily="2"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对应的标准阵就是</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graphicFrame>
        <p:nvGraphicFramePr>
          <p:cNvPr id="3" name="对象 2">
            <a:hlinkClick r:id="" action="ppaction://ole?verb=0"/>
          </p:cNvPr>
          <p:cNvGraphicFramePr>
            <a:graphicFrameLocks noChangeAspect="1"/>
          </p:cNvGraphicFramePr>
          <p:nvPr/>
        </p:nvGraphicFramePr>
        <p:xfrm>
          <a:off x="2601595" y="1678940"/>
          <a:ext cx="3858260" cy="1551940"/>
        </p:xfrm>
        <a:graphic>
          <a:graphicData uri="http://schemas.openxmlformats.org/presentationml/2006/ole">
            <mc:AlternateContent xmlns:mc="http://schemas.openxmlformats.org/markup-compatibility/2006">
              <mc:Choice xmlns:v="urn:schemas-microsoft-com:vml" Requires="v">
                <p:oleObj r:id="rId3" imgW="1955800" imgH="889000" progId="Equation.KSEE3">
                  <p:embed/>
                </p:oleObj>
              </mc:Choice>
              <mc:Fallback>
                <p:oleObj r:id="rId3" imgW="1955800" imgH="889000" progId="Equation.KSEE3">
                  <p:embed/>
                  <p:pic>
                    <p:nvPicPr>
                      <p:cNvPr id="3" name="对象 2">
                        <a:hlinkClick r:id="" action="ppaction://ole?verb=0"/>
                      </p:cNvPr>
                      <p:cNvPicPr/>
                      <p:nvPr/>
                    </p:nvPicPr>
                    <p:blipFill>
                      <a:blip r:embed="rId4"/>
                      <a:stretch>
                        <a:fillRect/>
                      </a:stretch>
                    </p:blipFill>
                    <p:spPr>
                      <a:xfrm>
                        <a:off x="2601595" y="1678940"/>
                        <a:ext cx="3858260" cy="1551940"/>
                      </a:xfrm>
                      <a:prstGeom prst="rect">
                        <a:avLst/>
                      </a:prstGeom>
                    </p:spPr>
                  </p:pic>
                </p:oleObj>
              </mc:Fallback>
            </mc:AlternateContent>
          </a:graphicData>
        </a:graphic>
      </p:graphicFrame>
      <p:sp>
        <p:nvSpPr>
          <p:cNvPr id="43012" name="右箭头 357381"/>
          <p:cNvSpPr/>
          <p:nvPr/>
        </p:nvSpPr>
        <p:spPr>
          <a:xfrm flipV="1">
            <a:off x="2233931" y="1664970"/>
            <a:ext cx="338455" cy="302260"/>
          </a:xfrm>
          <a:prstGeom prst="rightArrow">
            <a:avLst>
              <a:gd name="adj1" fmla="val 50000"/>
              <a:gd name="adj2" fmla="val 66690"/>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43014" name="文本框 357383"/>
          <p:cNvSpPr txBox="1"/>
          <p:nvPr/>
        </p:nvSpPr>
        <p:spPr>
          <a:xfrm>
            <a:off x="1675130" y="1600201"/>
            <a:ext cx="586740" cy="706755"/>
          </a:xfrm>
          <a:prstGeom prst="rect">
            <a:avLst/>
          </a:prstGeom>
          <a:noFill/>
          <a:ln w="9525">
            <a:noFill/>
          </a:ln>
        </p:spPr>
        <p:txBody>
          <a:bodyPr wrap="square" anchor="t" anchorCtr="0">
            <a:spAutoFit/>
          </a:bodyPr>
          <a:lstStyle/>
          <a:p>
            <a:pPr algn="ctr" eaLnBrk="0" fontAlgn="base" hangingPunct="0">
              <a:spcBef>
                <a:spcPct val="50000"/>
              </a:spcBef>
              <a:spcAft>
                <a:spcPct val="0"/>
              </a:spcAft>
            </a:pPr>
            <a:r>
              <a:rPr lang="zh-CN" altLang="en-US" sz="2000" b="1" dirty="0">
                <a:solidFill>
                  <a:srgbClr val="000000"/>
                </a:solidFill>
                <a:latin typeface="Arial" panose="020B0604020202020204" pitchFamily="34" charset="0"/>
                <a:ea typeface="黑体" panose="02010609060101010101" pitchFamily="49" charset="-122"/>
              </a:rPr>
              <a:t>码字</a:t>
            </a:r>
          </a:p>
        </p:txBody>
      </p:sp>
      <p:grpSp>
        <p:nvGrpSpPr>
          <p:cNvPr id="6" name="组合 5"/>
          <p:cNvGrpSpPr/>
          <p:nvPr/>
        </p:nvGrpSpPr>
        <p:grpSpPr>
          <a:xfrm>
            <a:off x="2103120" y="3188970"/>
            <a:ext cx="1654810" cy="736600"/>
            <a:chOff x="4363" y="9187"/>
            <a:chExt cx="2606" cy="1160"/>
          </a:xfrm>
        </p:grpSpPr>
        <p:sp>
          <p:nvSpPr>
            <p:cNvPr id="43015" name="文本框 357384"/>
            <p:cNvSpPr txBox="1"/>
            <p:nvPr/>
          </p:nvSpPr>
          <p:spPr>
            <a:xfrm>
              <a:off x="4363" y="9719"/>
              <a:ext cx="2607" cy="628"/>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b="1" dirty="0">
                  <a:solidFill>
                    <a:srgbClr val="000000"/>
                  </a:solidFill>
                  <a:latin typeface="Arial" panose="020B0604020202020204" pitchFamily="34" charset="0"/>
                  <a:ea typeface="黑体" panose="02010609060101010101" pitchFamily="49" charset="-122"/>
                </a:rPr>
                <a:t>陪集首</a:t>
              </a:r>
            </a:p>
          </p:txBody>
        </p:sp>
        <p:sp>
          <p:nvSpPr>
            <p:cNvPr id="7" name="上箭头 357382"/>
            <p:cNvSpPr/>
            <p:nvPr/>
          </p:nvSpPr>
          <p:spPr>
            <a:xfrm>
              <a:off x="5379" y="9187"/>
              <a:ext cx="532" cy="431"/>
            </a:xfrm>
            <a:prstGeom prst="upArrow">
              <a:avLst>
                <a:gd name="adj1" fmla="val 50000"/>
                <a:gd name="adj2" fmla="val 62328"/>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grpSp>
      <p:grpSp>
        <p:nvGrpSpPr>
          <p:cNvPr id="8" name="组合 7"/>
          <p:cNvGrpSpPr/>
          <p:nvPr/>
        </p:nvGrpSpPr>
        <p:grpSpPr>
          <a:xfrm>
            <a:off x="5403851" y="3240405"/>
            <a:ext cx="1655445" cy="736600"/>
            <a:chOff x="4363" y="9187"/>
            <a:chExt cx="2607" cy="1160"/>
          </a:xfrm>
        </p:grpSpPr>
        <p:sp>
          <p:nvSpPr>
            <p:cNvPr id="13" name="文本框 357384"/>
            <p:cNvSpPr txBox="1"/>
            <p:nvPr/>
          </p:nvSpPr>
          <p:spPr>
            <a:xfrm>
              <a:off x="4363" y="9719"/>
              <a:ext cx="2607" cy="628"/>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b="1" dirty="0">
                  <a:solidFill>
                    <a:srgbClr val="000000"/>
                  </a:solidFill>
                  <a:latin typeface="Arial" panose="020B0604020202020204" pitchFamily="34" charset="0"/>
                  <a:ea typeface="黑体" panose="02010609060101010101" pitchFamily="49" charset="-122"/>
                </a:rPr>
                <a:t>伴随式</a:t>
              </a:r>
            </a:p>
          </p:txBody>
        </p:sp>
        <p:sp>
          <p:nvSpPr>
            <p:cNvPr id="16" name="上箭头 357382"/>
            <p:cNvSpPr/>
            <p:nvPr/>
          </p:nvSpPr>
          <p:spPr>
            <a:xfrm>
              <a:off x="5379" y="9187"/>
              <a:ext cx="532" cy="431"/>
            </a:xfrm>
            <a:prstGeom prst="upArrow">
              <a:avLst>
                <a:gd name="adj1" fmla="val 50000"/>
                <a:gd name="adj2" fmla="val 62328"/>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grpSp>
      <p:sp>
        <p:nvSpPr>
          <p:cNvPr id="17" name="文本框 16"/>
          <p:cNvSpPr txBox="1"/>
          <p:nvPr/>
        </p:nvSpPr>
        <p:spPr>
          <a:xfrm>
            <a:off x="6906895" y="1402716"/>
            <a:ext cx="3352800" cy="4225925"/>
          </a:xfrm>
          <a:prstGeom prst="rect">
            <a:avLst/>
          </a:prstGeom>
          <a:noFill/>
        </p:spPr>
        <p:txBody>
          <a:bodyPr wrap="square" rtlCol="0" anchor="t">
            <a:spAutoFit/>
          </a:bodyPr>
          <a:lstStyle/>
          <a:p>
            <a:pPr indent="609600" algn="just" eaLnBrk="0" fontAlgn="base" hangingPunct="0">
              <a:lnSpc>
                <a:spcPct val="140000"/>
              </a:lnSpc>
              <a:spcBef>
                <a:spcPct val="0"/>
              </a:spcBef>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如果接收矢量是</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v</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1101)</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，先通过公式</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S</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vH</a:t>
            </a:r>
            <a:r>
              <a:rPr lang="en-US" altLang="zh-CN" sz="2400" i="1" baseline="30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T</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求出伴随式</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(11)</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，确定对应的陪集首</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(1000)</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，这就是错误向量</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e</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。然后根据</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e</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v</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=(1000)+(</a:t>
            </a:r>
            <a:r>
              <a:rPr lang="en-US" altLang="zh-CN"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1101)</a:t>
            </a:r>
            <a:r>
              <a:rPr lang="zh-CN" altLang="en-US"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求出传输的码字为</a:t>
            </a:r>
            <a:r>
              <a:rPr lang="en-US" altLang="zh-CN"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(0101)</a:t>
            </a:r>
            <a:endParaRPr lang="zh-CN" altLang="en-US"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8" name="矩形 17"/>
          <p:cNvSpPr/>
          <p:nvPr/>
        </p:nvSpPr>
        <p:spPr>
          <a:xfrm>
            <a:off x="3234690" y="5711190"/>
            <a:ext cx="6113780" cy="5702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0" name="文本框 19"/>
          <p:cNvSpPr txBox="1"/>
          <p:nvPr/>
        </p:nvSpPr>
        <p:spPr>
          <a:xfrm>
            <a:off x="3497581" y="5737861"/>
            <a:ext cx="5737225" cy="426335"/>
          </a:xfrm>
          <a:prstGeom prst="rect">
            <a:avLst/>
          </a:prstGeom>
          <a:noFill/>
        </p:spPr>
        <p:txBody>
          <a:bodyPr wrap="square" rtlCol="0" anchor="t">
            <a:spAutoFit/>
          </a:bodyPr>
          <a:lstStyle/>
          <a:p>
            <a:pPr algn="just" eaLnBrk="0" fontAlgn="base" hangingPunct="0">
              <a:lnSpc>
                <a:spcPct val="120000"/>
              </a:lnSpc>
              <a:spcAft>
                <a:spcPct val="0"/>
              </a:spcAft>
              <a:buClr>
                <a:srgbClr val="CCCCFF"/>
              </a:buClr>
              <a:buSzPct val="65000"/>
            </a:pPr>
            <a:r>
              <a:rPr sz="2000" b="1">
                <a:solidFill>
                  <a:srgbClr val="FF0000"/>
                </a:solidFill>
                <a:latin typeface="楷体" panose="02010609060101010101" charset="-122"/>
                <a:ea typeface="楷体" panose="02010609060101010101" charset="-122"/>
              </a:rPr>
              <a:t>思</a:t>
            </a:r>
            <a:r>
              <a:rPr sz="2000" b="1">
                <a:solidFill>
                  <a:srgbClr val="FF0000"/>
                </a:solidFill>
                <a:latin typeface="楷体" panose="02010609060101010101" charset="-122"/>
                <a:ea typeface="楷体" panose="02010609060101010101" charset="-122"/>
                <a:cs typeface="+mn-ea"/>
              </a:rPr>
              <a:t>考题</a:t>
            </a:r>
            <a:r>
              <a:rPr sz="2000">
                <a:solidFill>
                  <a:srgbClr val="FF0000"/>
                </a:solidFill>
                <a:latin typeface="Times New Roman" panose="02020603050405020304" pitchFamily="18" charset="0"/>
                <a:ea typeface="黑体" panose="02010609060101010101" pitchFamily="49" charset="-122"/>
                <a:cs typeface="+mn-ea"/>
              </a:rPr>
              <a:t>：</a:t>
            </a:r>
            <a:r>
              <a:rPr sz="2000">
                <a:solidFill>
                  <a:srgbClr val="000000"/>
                </a:solidFill>
                <a:latin typeface="Times New Roman" panose="02020603050405020304" pitchFamily="18" charset="0"/>
                <a:ea typeface="黑体" panose="02010609060101010101" pitchFamily="49" charset="-122"/>
                <a:cs typeface="+mn-ea"/>
              </a:rPr>
              <a:t>伴随式译码的步骤是什</a:t>
            </a:r>
            <a:r>
              <a:rPr sz="2000">
                <a:solidFill>
                  <a:srgbClr val="000000"/>
                </a:solidFill>
                <a:latin typeface="Times New Roman" panose="02020603050405020304" pitchFamily="18" charset="0"/>
                <a:ea typeface="黑体" panose="02010609060101010101" pitchFamily="49" charset="-122"/>
              </a:rPr>
              <a:t>么</a:t>
            </a:r>
            <a:r>
              <a:rPr lang="en-US" sz="2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graphicFrame>
        <p:nvGraphicFramePr>
          <p:cNvPr id="9" name="表格 8"/>
          <p:cNvGraphicFramePr/>
          <p:nvPr>
            <p:custDataLst>
              <p:tags r:id="rId1"/>
            </p:custDataLst>
          </p:nvPr>
        </p:nvGraphicFramePr>
        <p:xfrm>
          <a:off x="1988820" y="4559300"/>
          <a:ext cx="4620260" cy="762000"/>
        </p:xfrm>
        <a:graphic>
          <a:graphicData uri="http://schemas.openxmlformats.org/drawingml/2006/table">
            <a:tbl>
              <a:tblPr firstRow="1" bandRow="1">
                <a:tableStyleId>{5C22544A-7EE6-4342-B048-85BDC9FD1C3A}</a:tableStyleId>
              </a:tblPr>
              <a:tblGrid>
                <a:gridCol w="1121410">
                  <a:extLst>
                    <a:ext uri="{9D8B030D-6E8A-4147-A177-3AD203B41FA5}">
                      <a16:colId xmlns:a16="http://schemas.microsoft.com/office/drawing/2014/main" val="20000"/>
                    </a:ext>
                  </a:extLst>
                </a:gridCol>
                <a:gridCol w="771525">
                  <a:extLst>
                    <a:ext uri="{9D8B030D-6E8A-4147-A177-3AD203B41FA5}">
                      <a16:colId xmlns:a16="http://schemas.microsoft.com/office/drawing/2014/main" val="20001"/>
                    </a:ext>
                  </a:extLst>
                </a:gridCol>
                <a:gridCol w="1020445">
                  <a:extLst>
                    <a:ext uri="{9D8B030D-6E8A-4147-A177-3AD203B41FA5}">
                      <a16:colId xmlns:a16="http://schemas.microsoft.com/office/drawing/2014/main" val="20002"/>
                    </a:ext>
                  </a:extLst>
                </a:gridCol>
                <a:gridCol w="820420">
                  <a:extLst>
                    <a:ext uri="{9D8B030D-6E8A-4147-A177-3AD203B41FA5}">
                      <a16:colId xmlns:a16="http://schemas.microsoft.com/office/drawing/2014/main" val="20003"/>
                    </a:ext>
                  </a:extLst>
                </a:gridCol>
                <a:gridCol w="886460">
                  <a:extLst>
                    <a:ext uri="{9D8B030D-6E8A-4147-A177-3AD203B41FA5}">
                      <a16:colId xmlns:a16="http://schemas.microsoft.com/office/drawing/2014/main" val="20004"/>
                    </a:ext>
                  </a:extLst>
                </a:gridCol>
              </a:tblGrid>
              <a:tr h="381000">
                <a:tc>
                  <a:txBody>
                    <a:bodyPr/>
                    <a:lstStyle/>
                    <a:p>
                      <a:pPr algn="ctr">
                        <a:buClrTx/>
                        <a:buSzTx/>
                        <a:buFontTx/>
                        <a:buNone/>
                      </a:pPr>
                      <a:r>
                        <a:rPr lang="zh-CN" altLang="en-US" b="0">
                          <a:solidFill>
                            <a:schemeClr val="dk1"/>
                          </a:solidFill>
                        </a:rPr>
                        <a:t>错误图样</a:t>
                      </a:r>
                    </a:p>
                  </a:txBody>
                  <a:tcPr>
                    <a:solidFill>
                      <a:schemeClr val="accent5">
                        <a:alpha val="80000"/>
                      </a:schemeClr>
                    </a:solidFill>
                  </a:tcPr>
                </a:tc>
                <a:tc>
                  <a:txBody>
                    <a:bodyPr/>
                    <a:lstStyle/>
                    <a:p>
                      <a:pPr algn="ctr">
                        <a:buClrTx/>
                        <a:buSzTx/>
                        <a:buFontTx/>
                        <a:buNone/>
                      </a:pPr>
                      <a:r>
                        <a:rPr lang="zh-CN" altLang="en-US" b="0">
                          <a:solidFill>
                            <a:schemeClr val="dk1"/>
                          </a:solidFill>
                        </a:rPr>
                        <a:t>0000</a:t>
                      </a:r>
                    </a:p>
                  </a:txBody>
                  <a:tcPr>
                    <a:solidFill>
                      <a:schemeClr val="accent5">
                        <a:alpha val="80000"/>
                      </a:schemeClr>
                    </a:solidFill>
                  </a:tcPr>
                </a:tc>
                <a:tc>
                  <a:txBody>
                    <a:bodyPr/>
                    <a:lstStyle/>
                    <a:p>
                      <a:pPr algn="ctr">
                        <a:buClrTx/>
                        <a:buSzTx/>
                        <a:buFontTx/>
                        <a:buNone/>
                      </a:pPr>
                      <a:r>
                        <a:rPr lang="zh-CN" altLang="en-US" b="0">
                          <a:solidFill>
                            <a:schemeClr val="dk1"/>
                          </a:solidFill>
                        </a:rPr>
                        <a:t>1000</a:t>
                      </a:r>
                    </a:p>
                  </a:txBody>
                  <a:tcPr>
                    <a:solidFill>
                      <a:schemeClr val="accent5">
                        <a:alpha val="80000"/>
                      </a:schemeClr>
                    </a:solidFill>
                  </a:tcPr>
                </a:tc>
                <a:tc>
                  <a:txBody>
                    <a:bodyPr/>
                    <a:lstStyle/>
                    <a:p>
                      <a:pPr algn="ctr">
                        <a:buClrTx/>
                        <a:buSzTx/>
                        <a:buFontTx/>
                        <a:buNone/>
                      </a:pPr>
                      <a:r>
                        <a:rPr lang="zh-CN" altLang="en-US" b="0">
                          <a:solidFill>
                            <a:schemeClr val="dk1"/>
                          </a:solidFill>
                        </a:rPr>
                        <a:t>0100</a:t>
                      </a:r>
                    </a:p>
                  </a:txBody>
                  <a:tcPr>
                    <a:solidFill>
                      <a:schemeClr val="accent5">
                        <a:alpha val="80000"/>
                      </a:schemeClr>
                    </a:solidFill>
                  </a:tcPr>
                </a:tc>
                <a:tc>
                  <a:txBody>
                    <a:bodyPr/>
                    <a:lstStyle/>
                    <a:p>
                      <a:pPr algn="ctr">
                        <a:buClrTx/>
                        <a:buSzTx/>
                        <a:buFontTx/>
                        <a:buNone/>
                      </a:pPr>
                      <a:r>
                        <a:rPr lang="zh-CN" altLang="en-US" b="0">
                          <a:solidFill>
                            <a:schemeClr val="dk1"/>
                          </a:solidFill>
                        </a:rPr>
                        <a:t>0010</a:t>
                      </a:r>
                    </a:p>
                  </a:txBody>
                  <a:tcPr>
                    <a:solidFill>
                      <a:schemeClr val="accent5">
                        <a:alpha val="80000"/>
                      </a:schemeClr>
                    </a:solidFill>
                  </a:tcPr>
                </a:tc>
                <a:extLst>
                  <a:ext uri="{0D108BD9-81ED-4DB2-BD59-A6C34878D82A}">
                    <a16:rowId xmlns:a16="http://schemas.microsoft.com/office/drawing/2014/main" val="10000"/>
                  </a:ext>
                </a:extLst>
              </a:tr>
              <a:tr h="381000">
                <a:tc>
                  <a:txBody>
                    <a:bodyPr/>
                    <a:lstStyle/>
                    <a:p>
                      <a:pPr algn="ctr">
                        <a:buNone/>
                      </a:pPr>
                      <a:r>
                        <a:rPr lang="zh-CN" altLang="en-US"/>
                        <a:t>伴随式</a:t>
                      </a:r>
                    </a:p>
                  </a:txBody>
                  <a:tcPr/>
                </a:tc>
                <a:tc>
                  <a:txBody>
                    <a:bodyPr/>
                    <a:lstStyle/>
                    <a:p>
                      <a:pPr algn="ctr">
                        <a:buClrTx/>
                        <a:buSzTx/>
                        <a:buFontTx/>
                        <a:buNone/>
                      </a:pPr>
                      <a:r>
                        <a:rPr lang="zh-CN" altLang="en-US"/>
                        <a:t>00</a:t>
                      </a:r>
                    </a:p>
                  </a:txBody>
                  <a:tcPr/>
                </a:tc>
                <a:tc>
                  <a:txBody>
                    <a:bodyPr/>
                    <a:lstStyle/>
                    <a:p>
                      <a:pPr algn="ctr">
                        <a:buClrTx/>
                        <a:buSzTx/>
                        <a:buFontTx/>
                        <a:buNone/>
                      </a:pPr>
                      <a:r>
                        <a:rPr lang="zh-CN" altLang="en-US"/>
                        <a:t>11</a:t>
                      </a:r>
                    </a:p>
                  </a:txBody>
                  <a:tcPr/>
                </a:tc>
                <a:tc>
                  <a:txBody>
                    <a:bodyPr/>
                    <a:lstStyle/>
                    <a:p>
                      <a:pPr algn="ctr">
                        <a:buClrTx/>
                        <a:buSzTx/>
                        <a:buFontTx/>
                        <a:buNone/>
                      </a:pPr>
                      <a:r>
                        <a:rPr lang="zh-CN" altLang="en-US"/>
                        <a:t>01</a:t>
                      </a:r>
                    </a:p>
                  </a:txBody>
                  <a:tcPr/>
                </a:tc>
                <a:tc>
                  <a:txBody>
                    <a:bodyPr/>
                    <a:lstStyle/>
                    <a:p>
                      <a:pPr algn="ctr">
                        <a:buClrTx/>
                        <a:buSzTx/>
                        <a:buFontTx/>
                        <a:buNone/>
                      </a:pPr>
                      <a:r>
                        <a:rPr lang="zh-CN" altLang="en-US"/>
                        <a:t>10</a:t>
                      </a:r>
                    </a:p>
                  </a:txBody>
                  <a:tcPr/>
                </a:tc>
                <a:extLst>
                  <a:ext uri="{0D108BD9-81ED-4DB2-BD59-A6C34878D82A}">
                    <a16:rowId xmlns:a16="http://schemas.microsoft.com/office/drawing/2014/main" val="10001"/>
                  </a:ext>
                </a:extLst>
              </a:tr>
            </a:tbl>
          </a:graphicData>
        </a:graphic>
      </p:graphicFrame>
      <p:sp>
        <p:nvSpPr>
          <p:cNvPr id="10" name="文本框 9"/>
          <p:cNvSpPr txBox="1"/>
          <p:nvPr/>
        </p:nvSpPr>
        <p:spPr>
          <a:xfrm>
            <a:off x="3784601" y="4174491"/>
            <a:ext cx="1627505" cy="396455"/>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16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简化译码表</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完备码</a:t>
            </a:r>
          </a:p>
        </p:txBody>
      </p:sp>
      <p:sp>
        <p:nvSpPr>
          <p:cNvPr id="5" name="内容占位符 2"/>
          <p:cNvSpPr txBox="1"/>
          <p:nvPr/>
        </p:nvSpPr>
        <p:spPr>
          <a:xfrm>
            <a:off x="1905001" y="1027431"/>
            <a:ext cx="8394065" cy="254063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2072640" y="1164591"/>
            <a:ext cx="8068310" cy="476669"/>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dirty="0">
                <a:solidFill>
                  <a:srgbClr val="FF0000"/>
                </a:solidFill>
                <a:latin typeface="Times New Roman" panose="02020603050405020304" pitchFamily="18" charset="0"/>
                <a:ea typeface="黑体" panose="02010609060101010101" pitchFamily="49" charset="-122"/>
                <a:sym typeface="+mn-ea"/>
              </a:rPr>
              <a:t>定义</a:t>
            </a:r>
            <a:r>
              <a:rPr sz="2400" dirty="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一个能达到汉明界的码称为完备码，满足</a:t>
            </a:r>
          </a:p>
        </p:txBody>
      </p:sp>
      <p:graphicFrame>
        <p:nvGraphicFramePr>
          <p:cNvPr id="3" name="对象 2">
            <a:hlinkClick r:id="" action="ppaction://ole?verb=0"/>
          </p:cNvPr>
          <p:cNvGraphicFramePr>
            <a:graphicFrameLocks noChangeAspect="1"/>
          </p:cNvGraphicFramePr>
          <p:nvPr/>
        </p:nvGraphicFramePr>
        <p:xfrm>
          <a:off x="3200400" y="1828801"/>
          <a:ext cx="5958840" cy="946785"/>
        </p:xfrm>
        <a:graphic>
          <a:graphicData uri="http://schemas.openxmlformats.org/presentationml/2006/ole">
            <mc:AlternateContent xmlns:mc="http://schemas.openxmlformats.org/markup-compatibility/2006">
              <mc:Choice xmlns:v="urn:schemas-microsoft-com:vml" Requires="v">
                <p:oleObj r:id="rId2" imgW="3377565" imgH="482600" progId="Equation.KSEE3">
                  <p:embed/>
                </p:oleObj>
              </mc:Choice>
              <mc:Fallback>
                <p:oleObj r:id="rId2" imgW="3377565" imgH="482600" progId="Equation.KSEE3">
                  <p:embed/>
                  <p:pic>
                    <p:nvPicPr>
                      <p:cNvPr id="3" name="对象 2">
                        <a:hlinkClick r:id="" action="ppaction://ole?verb=0"/>
                      </p:cNvPr>
                      <p:cNvPicPr/>
                      <p:nvPr/>
                    </p:nvPicPr>
                    <p:blipFill>
                      <a:blip r:embed="rId3"/>
                      <a:stretch>
                        <a:fillRect/>
                      </a:stretch>
                    </p:blipFill>
                    <p:spPr>
                      <a:xfrm>
                        <a:off x="3200400" y="1828801"/>
                        <a:ext cx="5958840" cy="946785"/>
                      </a:xfrm>
                      <a:prstGeom prst="rect">
                        <a:avLst/>
                      </a:prstGeom>
                    </p:spPr>
                  </p:pic>
                </p:oleObj>
              </mc:Fallback>
            </mc:AlternateContent>
          </a:graphicData>
        </a:graphic>
      </p:graphicFrame>
      <p:sp>
        <p:nvSpPr>
          <p:cNvPr id="4" name="文本框 3"/>
          <p:cNvSpPr txBox="1"/>
          <p:nvPr/>
        </p:nvSpPr>
        <p:spPr>
          <a:xfrm>
            <a:off x="3039111" y="2896870"/>
            <a:ext cx="6901815" cy="493148"/>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其中</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为码字数目,</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是</a:t>
            </a:r>
            <a:r>
              <a:rPr lang="zh-CN" altLang="en-US"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元</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是码长</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t</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是纠错能力</a:t>
            </a:r>
          </a:p>
        </p:txBody>
      </p:sp>
      <p:sp>
        <p:nvSpPr>
          <p:cNvPr id="7" name="文本框 6"/>
          <p:cNvSpPr txBox="1"/>
          <p:nvPr/>
        </p:nvSpPr>
        <p:spPr>
          <a:xfrm>
            <a:off x="2788285" y="4686300"/>
            <a:ext cx="4978400" cy="493148"/>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特殊的</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对于二元完备码</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满足</a:t>
            </a:r>
          </a:p>
        </p:txBody>
      </p:sp>
      <p:graphicFrame>
        <p:nvGraphicFramePr>
          <p:cNvPr id="10" name="对象 9">
            <a:hlinkClick r:id="" action="ppaction://ole?verb=0"/>
          </p:cNvPr>
          <p:cNvGraphicFramePr>
            <a:graphicFrameLocks noChangeAspect="1"/>
          </p:cNvGraphicFramePr>
          <p:nvPr/>
        </p:nvGraphicFramePr>
        <p:xfrm>
          <a:off x="6930074" y="4517391"/>
          <a:ext cx="1501775" cy="897255"/>
        </p:xfrm>
        <a:graphic>
          <a:graphicData uri="http://schemas.openxmlformats.org/presentationml/2006/ole">
            <mc:AlternateContent xmlns:mc="http://schemas.openxmlformats.org/markup-compatibility/2006">
              <mc:Choice xmlns:v="urn:schemas-microsoft-com:vml" Requires="v">
                <p:oleObj r:id="rId4" imgW="850900" imgH="457200" progId="Equation.KSEE3">
                  <p:embed/>
                </p:oleObj>
              </mc:Choice>
              <mc:Fallback>
                <p:oleObj r:id="rId4" imgW="850900" imgH="457200" progId="Equation.KSEE3">
                  <p:embed/>
                  <p:pic>
                    <p:nvPicPr>
                      <p:cNvPr id="10" name="对象 9">
                        <a:hlinkClick r:id="" action="ppaction://ole?verb=0"/>
                      </p:cNvPr>
                      <p:cNvPicPr/>
                      <p:nvPr/>
                    </p:nvPicPr>
                    <p:blipFill>
                      <a:blip r:embed="rId5"/>
                      <a:stretch>
                        <a:fillRect/>
                      </a:stretch>
                    </p:blipFill>
                    <p:spPr>
                      <a:xfrm>
                        <a:off x="6930074" y="4517391"/>
                        <a:ext cx="1501775" cy="897255"/>
                      </a:xfrm>
                      <a:prstGeom prst="rect">
                        <a:avLst/>
                      </a:prstGeom>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汉明码</a:t>
            </a:r>
          </a:p>
        </p:txBody>
      </p:sp>
      <p:sp>
        <p:nvSpPr>
          <p:cNvPr id="7" name="文本框 6"/>
          <p:cNvSpPr txBox="1"/>
          <p:nvPr/>
        </p:nvSpPr>
        <p:spPr>
          <a:xfrm>
            <a:off x="2752726" y="3879215"/>
            <a:ext cx="6976745" cy="493148"/>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特殊的</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对于二元汉明码</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满足</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k</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)=(2</a:t>
            </a:r>
            <a:r>
              <a:rPr lang="en-US" altLang="zh-CN" sz="2400" i="1" baseline="30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-1, 2</a:t>
            </a:r>
            <a:r>
              <a:rPr lang="en-US" altLang="zh-CN" sz="2400" i="1" baseline="30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p>
        </p:txBody>
      </p:sp>
      <p:sp>
        <p:nvSpPr>
          <p:cNvPr id="8" name="矩形 7"/>
          <p:cNvSpPr/>
          <p:nvPr/>
        </p:nvSpPr>
        <p:spPr>
          <a:xfrm>
            <a:off x="1995171" y="2003425"/>
            <a:ext cx="8212455" cy="132588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文本框 8"/>
          <p:cNvSpPr txBox="1"/>
          <p:nvPr/>
        </p:nvSpPr>
        <p:spPr>
          <a:xfrm>
            <a:off x="2266316" y="2067560"/>
            <a:ext cx="7886065" cy="1130246"/>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en-US"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元汉明码</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Ham(</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是参数为</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k</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d</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的线性码，其中</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k</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a:t>
            </a:r>
            <a:r>
              <a:rPr lang="en-US" altLang="zh-CN" sz="2400" i="1" baseline="30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 </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k</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a:t>
            </a:r>
            <a:r>
              <a:rPr lang="en-US" altLang="zh-CN" sz="2400" i="1" baseline="30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d</a:t>
            </a:r>
            <a:r>
              <a:rPr lang="en-US" altLang="zh-CN" sz="2400"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min</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p>
        </p:txBody>
      </p:sp>
      <p:sp>
        <p:nvSpPr>
          <p:cNvPr id="12" name="文本框 11"/>
          <p:cNvSpPr txBox="1"/>
          <p:nvPr/>
        </p:nvSpPr>
        <p:spPr>
          <a:xfrm>
            <a:off x="3897631" y="1110615"/>
            <a:ext cx="4655185" cy="493148"/>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汉明码是可以纠</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个错的完备码。</a:t>
            </a:r>
          </a:p>
        </p:txBody>
      </p:sp>
      <p:sp>
        <p:nvSpPr>
          <p:cNvPr id="15" name="文本框 14"/>
          <p:cNvSpPr txBox="1"/>
          <p:nvPr/>
        </p:nvSpPr>
        <p:spPr>
          <a:xfrm>
            <a:off x="2286636" y="4921886"/>
            <a:ext cx="7875905" cy="532069"/>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400" dirty="0">
                <a:solidFill>
                  <a:srgbClr val="FF0000"/>
                </a:solidFill>
                <a:latin typeface="黑体" panose="02010609060101010101" pitchFamily="49" charset="-122"/>
                <a:ea typeface="黑体" panose="02010609060101010101" pitchFamily="49" charset="-122"/>
                <a:cs typeface="+mn-ea"/>
                <a:sym typeface="+mn-ea"/>
              </a:rPr>
              <a:t>提示</a:t>
            </a:r>
            <a:r>
              <a:rPr lang="zh-CN" altLang="en-US" sz="2400" dirty="0">
                <a:solidFill>
                  <a:srgbClr val="FF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cs typeface="+mn-ea"/>
                <a:sym typeface="+mn-ea"/>
              </a:rPr>
              <a:t>为啥汉明码是完备码，要根据完备码的定义考虑。</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汉明码</a:t>
            </a:r>
          </a:p>
        </p:txBody>
      </p:sp>
      <p:sp>
        <p:nvSpPr>
          <p:cNvPr id="8" name="矩形 7"/>
          <p:cNvSpPr/>
          <p:nvPr/>
        </p:nvSpPr>
        <p:spPr>
          <a:xfrm>
            <a:off x="1995171" y="1172210"/>
            <a:ext cx="8212455" cy="218059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3" name="文本框 12"/>
          <p:cNvSpPr txBox="1"/>
          <p:nvPr/>
        </p:nvSpPr>
        <p:spPr>
          <a:xfrm>
            <a:off x="2310766" y="1263016"/>
            <a:ext cx="7554595" cy="200977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000000"/>
                </a:solidFill>
                <a:latin typeface="Arial" panose="020B0604020202020204" pitchFamily="34" charset="0"/>
                <a:ea typeface="黑体" panose="02010609060101010101" pitchFamily="49" charset="-122"/>
                <a:sym typeface="+mn-ea"/>
              </a:rPr>
              <a:t>构造汉明码的两种方法：</a:t>
            </a:r>
          </a:p>
          <a:p>
            <a:pPr lvl="1" algn="just" eaLnBrk="0" fontAlgn="base" hangingPunct="0">
              <a:lnSpc>
                <a:spcPct val="130000"/>
              </a:lnSpc>
              <a:spcBef>
                <a:spcPct val="0"/>
              </a:spcBef>
              <a:spcAft>
                <a:spcPct val="0"/>
              </a:spcAft>
            </a:pPr>
            <a:r>
              <a:rPr lang="en-US" altLang="zh-CN" sz="2400">
                <a:solidFill>
                  <a:srgbClr val="000000"/>
                </a:solidFill>
                <a:latin typeface="Times New Roman" panose="02020603050405020304" pitchFamily="18" charset="0"/>
                <a:ea typeface="黑体" panose="02010609060101010101" pitchFamily="49" charset="-122"/>
                <a:sym typeface="+mn-ea"/>
              </a:rPr>
              <a:t>1) </a:t>
            </a:r>
            <a:r>
              <a:rPr lang="zh-CN" altLang="en-US" sz="2400" dirty="0">
                <a:solidFill>
                  <a:srgbClr val="000000"/>
                </a:solidFill>
                <a:latin typeface="Arial" panose="020B0604020202020204" pitchFamily="34" charset="0"/>
                <a:ea typeface="黑体" panose="02010609060101010101" pitchFamily="49" charset="-122"/>
                <a:sym typeface="+mn-ea"/>
              </a:rPr>
              <a:t>构</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造</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H</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阵的标准形式</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H</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 I</a:t>
            </a:r>
            <a:r>
              <a:rPr lang="en-US" altLang="zh-CN" sz="2400" i="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Q</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是构造</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I</a:t>
            </a:r>
            <a:r>
              <a:rPr lang="en-US" altLang="zh-CN" sz="2400" i="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后</a:t>
            </a:r>
            <a:r>
              <a:rPr lang="zh-CN" altLang="en-US" sz="2400" dirty="0">
                <a:solidFill>
                  <a:srgbClr val="000000"/>
                </a:solidFill>
                <a:latin typeface="Arial" panose="020B0604020202020204" pitchFamily="34" charset="0"/>
                <a:ea typeface="黑体" panose="02010609060101010101" pitchFamily="49" charset="-122"/>
                <a:sym typeface="+mn-ea"/>
              </a:rPr>
              <a:t>剩下的</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2</a:t>
            </a:r>
            <a:r>
              <a:rPr lang="en-US" altLang="zh-CN" sz="2400" i="1" baseline="30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列任意排列</a:t>
            </a:r>
            <a:r>
              <a:rPr lang="zh-CN" altLang="en-US" sz="2400" dirty="0">
                <a:solidFill>
                  <a:srgbClr val="000000"/>
                </a:solidFill>
                <a:latin typeface="Arial" panose="020B0604020202020204" pitchFamily="34" charset="0"/>
                <a:ea typeface="黑体" panose="02010609060101010101" pitchFamily="49" charset="-122"/>
                <a:sym typeface="+mn-ea"/>
              </a:rPr>
              <a:t>。</a:t>
            </a:r>
          </a:p>
          <a:p>
            <a:pPr lvl="1" algn="just" eaLnBrk="0" fontAlgn="base" hangingPunct="0">
              <a:lnSpc>
                <a:spcPct val="130000"/>
              </a:lnSpc>
              <a:spcBef>
                <a:spcPct val="0"/>
              </a:spcBef>
              <a:spcAft>
                <a:spcPct val="0"/>
              </a:spcAft>
            </a:pPr>
            <a:r>
              <a:rPr lang="en-US" altLang="zh-CN" sz="2400">
                <a:solidFill>
                  <a:srgbClr val="000000"/>
                </a:solidFill>
                <a:latin typeface="Times New Roman" panose="02020603050405020304" pitchFamily="18" charset="0"/>
                <a:ea typeface="黑体" panose="02010609060101010101" pitchFamily="49" charset="-122"/>
                <a:sym typeface="+mn-ea"/>
              </a:rPr>
              <a:t>2) </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H</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阵的列是按</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r</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重表示的二进制数的顺序排列</a:t>
            </a:r>
            <a:r>
              <a:rPr lang="zh-CN" altLang="en-US" sz="2400" dirty="0">
                <a:solidFill>
                  <a:srgbClr val="000000"/>
                </a:solidFill>
                <a:latin typeface="Arial" panose="020B0604020202020204" pitchFamily="34"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14" name="文本框 13"/>
          <p:cNvSpPr txBox="1"/>
          <p:nvPr/>
        </p:nvSpPr>
        <p:spPr>
          <a:xfrm>
            <a:off x="2547621" y="3663950"/>
            <a:ext cx="6641465" cy="548548"/>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举例：</a:t>
            </a:r>
            <a:r>
              <a:rPr 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(7, 4)</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码的</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H</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阵的列为</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001, 010, ... , 111, </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即</a:t>
            </a:r>
          </a:p>
        </p:txBody>
      </p:sp>
      <p:graphicFrame>
        <p:nvGraphicFramePr>
          <p:cNvPr id="3" name="对象 2">
            <a:hlinkClick r:id="" action="ppaction://ole?verb=0"/>
          </p:cNvPr>
          <p:cNvGraphicFramePr>
            <a:graphicFrameLocks noChangeAspect="1"/>
          </p:cNvGraphicFramePr>
          <p:nvPr/>
        </p:nvGraphicFramePr>
        <p:xfrm>
          <a:off x="4471672" y="4495800"/>
          <a:ext cx="3232785" cy="1395730"/>
        </p:xfrm>
        <a:graphic>
          <a:graphicData uri="http://schemas.openxmlformats.org/presentationml/2006/ole">
            <mc:AlternateContent xmlns:mc="http://schemas.openxmlformats.org/markup-compatibility/2006">
              <mc:Choice xmlns:v="urn:schemas-microsoft-com:vml" Requires="v">
                <p:oleObj r:id="rId2" imgW="1816100" imgH="711200" progId="Equation.KSEE3">
                  <p:embed/>
                </p:oleObj>
              </mc:Choice>
              <mc:Fallback>
                <p:oleObj r:id="rId2" imgW="1816100" imgH="711200" progId="Equation.KSEE3">
                  <p:embed/>
                  <p:pic>
                    <p:nvPicPr>
                      <p:cNvPr id="3" name="对象 2">
                        <a:hlinkClick r:id="" action="ppaction://ole?verb=0"/>
                      </p:cNvPr>
                      <p:cNvPicPr/>
                      <p:nvPr/>
                    </p:nvPicPr>
                    <p:blipFill>
                      <a:blip r:embed="rId3"/>
                      <a:stretch>
                        <a:fillRect/>
                      </a:stretch>
                    </p:blipFill>
                    <p:spPr>
                      <a:xfrm>
                        <a:off x="4471672" y="4495800"/>
                        <a:ext cx="3232785" cy="1395730"/>
                      </a:xfrm>
                      <a:prstGeom prst="rect">
                        <a:avLst/>
                      </a:prstGeom>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2339975" y="5354955"/>
            <a:ext cx="7437120" cy="81788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 name="标题 1"/>
          <p:cNvSpPr>
            <a:spLocks noGrp="1"/>
          </p:cNvSpPr>
          <p:nvPr>
            <p:ph type="title"/>
          </p:nvPr>
        </p:nvSpPr>
        <p:spPr>
          <a:xfrm>
            <a:off x="6039486" y="104775"/>
            <a:ext cx="436181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根据生成矩阵计算码字</a:t>
            </a:r>
          </a:p>
        </p:txBody>
      </p:sp>
      <p:sp>
        <p:nvSpPr>
          <p:cNvPr id="4" name="文本框 3"/>
          <p:cNvSpPr txBox="1"/>
          <p:nvPr/>
        </p:nvSpPr>
        <p:spPr>
          <a:xfrm>
            <a:off x="2287905" y="1069341"/>
            <a:ext cx="5946140" cy="448969"/>
          </a:xfrm>
          <a:prstGeom prst="rect">
            <a:avLst/>
          </a:prstGeom>
          <a:noFill/>
        </p:spPr>
        <p:txBody>
          <a:bodyPr wrap="square" rtlCol="0" anchor="t">
            <a:spAutoFit/>
          </a:bodyPr>
          <a:lstStyle/>
          <a:p>
            <a:pPr eaLnBrk="0" fontAlgn="base" hangingPunct="0">
              <a:lnSpc>
                <a:spcPct val="110000"/>
              </a:lnSpc>
              <a:spcBef>
                <a:spcPct val="0"/>
              </a:spcBef>
              <a:spcAft>
                <a:spcPct val="0"/>
              </a:spcAft>
              <a:buClr>
                <a:srgbClr val="CCCCFF"/>
              </a:buClr>
              <a:buSzPct val="65000"/>
            </a:pPr>
            <a:r>
              <a:rPr lang="zh-CN" altLang="en-US" sz="2400" dirty="0">
                <a:solidFill>
                  <a:srgbClr val="000000"/>
                </a:solidFill>
                <a:latin typeface="黑体" panose="02010609060101010101" pitchFamily="49" charset="-122"/>
                <a:ea typeface="黑体" panose="02010609060101010101" pitchFamily="49" charset="-122"/>
                <a:sym typeface="+mn-ea"/>
              </a:rPr>
              <a:t>假设某线性分组码有如下的生成矩阵：</a:t>
            </a:r>
            <a:endParaRPr lang="en-US" altLang="zh-CN" sz="2400" baseline="-250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0"/>
          </p:cNvPr>
          <p:cNvGraphicFramePr>
            <a:graphicFrameLocks noChangeAspect="1"/>
          </p:cNvGraphicFramePr>
          <p:nvPr/>
        </p:nvGraphicFramePr>
        <p:xfrm>
          <a:off x="3962084" y="1971041"/>
          <a:ext cx="4010025" cy="1843405"/>
        </p:xfrm>
        <a:graphic>
          <a:graphicData uri="http://schemas.openxmlformats.org/presentationml/2006/ole">
            <mc:AlternateContent xmlns:mc="http://schemas.openxmlformats.org/markup-compatibility/2006">
              <mc:Choice xmlns:v="urn:schemas-microsoft-com:vml" Requires="v">
                <p:oleObj r:id="rId2" imgW="2273300" imgH="939800" progId="Equation.KSEE3">
                  <p:embed/>
                </p:oleObj>
              </mc:Choice>
              <mc:Fallback>
                <p:oleObj r:id="rId2" imgW="2273300" imgH="939800" progId="Equation.KSEE3">
                  <p:embed/>
                  <p:pic>
                    <p:nvPicPr>
                      <p:cNvPr id="7" name="对象 6">
                        <a:hlinkClick r:id="" action="ppaction://ole?verb=0"/>
                      </p:cNvPr>
                      <p:cNvPicPr/>
                      <p:nvPr/>
                    </p:nvPicPr>
                    <p:blipFill>
                      <a:blip r:embed="rId3"/>
                      <a:stretch>
                        <a:fillRect/>
                      </a:stretch>
                    </p:blipFill>
                    <p:spPr>
                      <a:xfrm>
                        <a:off x="3962084" y="1971041"/>
                        <a:ext cx="4010025" cy="1843405"/>
                      </a:xfrm>
                      <a:prstGeom prst="rect">
                        <a:avLst/>
                      </a:prstGeom>
                    </p:spPr>
                  </p:pic>
                </p:oleObj>
              </mc:Fallback>
            </mc:AlternateContent>
          </a:graphicData>
        </a:graphic>
      </p:graphicFrame>
      <p:sp>
        <p:nvSpPr>
          <p:cNvPr id="11" name="文本框 10"/>
          <p:cNvSpPr txBox="1"/>
          <p:nvPr/>
        </p:nvSpPr>
        <p:spPr>
          <a:xfrm>
            <a:off x="2414905" y="4294505"/>
            <a:ext cx="2646680" cy="465448"/>
          </a:xfrm>
          <a:prstGeom prst="rect">
            <a:avLst/>
          </a:prstGeom>
          <a:noFill/>
        </p:spPr>
        <p:txBody>
          <a:bodyPr wrap="square" rtlCol="0" anchor="t">
            <a:spAutoFit/>
          </a:bodyPr>
          <a:lstStyle/>
          <a:p>
            <a:pPr eaLnBrk="0" fontAlgn="base" hangingPunct="0">
              <a:lnSpc>
                <a:spcPct val="110000"/>
              </a:lnSpc>
              <a:spcBef>
                <a:spcPct val="0"/>
              </a:spcBef>
              <a:spcAft>
                <a:spcPct val="0"/>
              </a:spcAft>
              <a:buClr>
                <a:srgbClr val="CCCCFF"/>
              </a:buClr>
              <a:buSzPct val="65000"/>
            </a:pPr>
            <a:r>
              <a:rPr lang="zh-CN" altLang="en-US" sz="2400" dirty="0">
                <a:solidFill>
                  <a:srgbClr val="000000"/>
                </a:solidFill>
                <a:latin typeface="黑体" panose="02010609060101010101" pitchFamily="49" charset="-122"/>
                <a:ea typeface="黑体" panose="02010609060101010101" pitchFamily="49" charset="-122"/>
                <a:sym typeface="+mn-ea"/>
              </a:rPr>
              <a:t>若</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=(1101)</a:t>
            </a:r>
            <a:r>
              <a:rPr lang="zh-CN" altLang="en-US" sz="2400" dirty="0">
                <a:solidFill>
                  <a:srgbClr val="000000"/>
                </a:solidFill>
                <a:latin typeface="黑体" panose="02010609060101010101" pitchFamily="49" charset="-122"/>
                <a:ea typeface="黑体" panose="02010609060101010101" pitchFamily="49" charset="-122"/>
                <a:sym typeface="+mn-ea"/>
              </a:rPr>
              <a:t>，则</a:t>
            </a:r>
            <a:endParaRPr lang="en-US" altLang="zh-CN" sz="2400" baseline="-250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3" name="对象 12">
            <a:hlinkClick r:id="" action="ppaction://ole?verb=0"/>
          </p:cNvPr>
          <p:cNvGraphicFramePr>
            <a:graphicFrameLocks noChangeAspect="1"/>
          </p:cNvGraphicFramePr>
          <p:nvPr/>
        </p:nvGraphicFramePr>
        <p:xfrm>
          <a:off x="4648200" y="4342766"/>
          <a:ext cx="4823460" cy="448945"/>
        </p:xfrm>
        <a:graphic>
          <a:graphicData uri="http://schemas.openxmlformats.org/presentationml/2006/ole">
            <mc:AlternateContent xmlns:mc="http://schemas.openxmlformats.org/markup-compatibility/2006">
              <mc:Choice xmlns:v="urn:schemas-microsoft-com:vml" Requires="v">
                <p:oleObj r:id="rId4" imgW="2298700" imgH="228600" progId="Equation.KSEE3">
                  <p:embed/>
                </p:oleObj>
              </mc:Choice>
              <mc:Fallback>
                <p:oleObj r:id="rId4" imgW="2298700" imgH="228600" progId="Equation.KSEE3">
                  <p:embed/>
                  <p:pic>
                    <p:nvPicPr>
                      <p:cNvPr id="13" name="对象 12">
                        <a:hlinkClick r:id="" action="ppaction://ole?verb=0"/>
                      </p:cNvPr>
                      <p:cNvPicPr/>
                      <p:nvPr/>
                    </p:nvPicPr>
                    <p:blipFill>
                      <a:blip r:embed="rId5"/>
                      <a:stretch>
                        <a:fillRect/>
                      </a:stretch>
                    </p:blipFill>
                    <p:spPr>
                      <a:xfrm>
                        <a:off x="4648200" y="4342766"/>
                        <a:ext cx="4823460" cy="448945"/>
                      </a:xfrm>
                      <a:prstGeom prst="rect">
                        <a:avLst/>
                      </a:prstGeom>
                    </p:spPr>
                  </p:pic>
                </p:oleObj>
              </mc:Fallback>
            </mc:AlternateContent>
          </a:graphicData>
        </a:graphic>
      </p:graphicFrame>
      <p:sp>
        <p:nvSpPr>
          <p:cNvPr id="15" name="文本框 14"/>
          <p:cNvSpPr txBox="1"/>
          <p:nvPr/>
        </p:nvSpPr>
        <p:spPr>
          <a:xfrm>
            <a:off x="2514600" y="5527675"/>
            <a:ext cx="7517130" cy="465448"/>
          </a:xfrm>
          <a:prstGeom prst="rect">
            <a:avLst/>
          </a:prstGeom>
          <a:noFill/>
        </p:spPr>
        <p:txBody>
          <a:bodyPr wrap="square" rtlCol="0" anchor="t">
            <a:spAutoFit/>
          </a:bodyPr>
          <a:lstStyle/>
          <a:p>
            <a:pPr eaLnBrk="0" fontAlgn="base" hangingPunct="0">
              <a:lnSpc>
                <a:spcPct val="110000"/>
              </a:lnSpc>
              <a:spcBef>
                <a:spcPct val="0"/>
              </a:spcBef>
              <a:spcAft>
                <a:spcPct val="0"/>
              </a:spcAft>
              <a:buClr>
                <a:srgbClr val="CCCCFF"/>
              </a:buClr>
              <a:buSzPct val="65000"/>
            </a:pPr>
            <a:r>
              <a:rPr lang="zh-CN" altLang="en-US" sz="2400" b="1" dirty="0">
                <a:solidFill>
                  <a:srgbClr val="FF0000"/>
                </a:solidFill>
                <a:latin typeface="楷体" panose="02010609060101010101" charset="-122"/>
                <a:ea typeface="楷体" panose="02010609060101010101" charset="-122"/>
                <a:cs typeface="+mn-ea"/>
                <a:sym typeface="+mn-ea"/>
              </a:rPr>
              <a:t>做题方法：</a:t>
            </a:r>
            <a:r>
              <a:rPr lang="zh-CN" altLang="en-US" sz="2400" dirty="0">
                <a:solidFill>
                  <a:srgbClr val="000000"/>
                </a:solidFill>
                <a:latin typeface="黑体" panose="02010609060101010101" pitchFamily="49" charset="-122"/>
                <a:ea typeface="黑体" panose="02010609060101010101" pitchFamily="49" charset="-122"/>
                <a:cs typeface="+mn-ea"/>
                <a:sym typeface="+mn-ea"/>
              </a:rPr>
              <a:t>根据公式</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i="1" baseline="-25000">
                <a:solidFill>
                  <a:srgbClr val="000000"/>
                </a:solidFill>
                <a:latin typeface="Times New Roman" panose="02020603050405020304" pitchFamily="18" charset="0"/>
                <a:ea typeface="黑体" panose="02010609060101010101" pitchFamily="49" charset="-122"/>
                <a:sym typeface="+mn-ea"/>
              </a:rPr>
              <a:t>k-</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i="1" baseline="-25000">
                <a:solidFill>
                  <a:srgbClr val="000000"/>
                </a:solidFill>
                <a:latin typeface="Times New Roman" panose="02020603050405020304" pitchFamily="18" charset="0"/>
                <a:ea typeface="黑体" panose="02010609060101010101" pitchFamily="49" charset="-122"/>
                <a:sym typeface="+mn-ea"/>
              </a:rPr>
              <a:t>k-</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zh-CN" altLang="en-US" sz="2400">
                <a:solidFill>
                  <a:srgbClr val="000000"/>
                </a:solidFill>
                <a:latin typeface="Times New Roman" panose="02020603050405020304" pitchFamily="18" charset="0"/>
                <a:ea typeface="黑体" panose="02010609060101010101" pitchFamily="49" charset="-122"/>
                <a:sym typeface="+mn-ea"/>
              </a:rPr>
              <a:t>进行计算</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39486" y="104775"/>
            <a:ext cx="4361815" cy="685800"/>
          </a:xfrm>
        </p:spPr>
        <p:txBody>
          <a:bodyPr/>
          <a:lstStyle/>
          <a:p>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mn-ea"/>
              </a:rPr>
              <a:t>Macwilliam</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恒等式</a:t>
            </a:r>
          </a:p>
        </p:txBody>
      </p:sp>
      <p:sp>
        <p:nvSpPr>
          <p:cNvPr id="4" name="文本框 3"/>
          <p:cNvSpPr txBox="1"/>
          <p:nvPr/>
        </p:nvSpPr>
        <p:spPr>
          <a:xfrm>
            <a:off x="1713231" y="1121410"/>
            <a:ext cx="8540115" cy="1130246"/>
          </a:xfrm>
          <a:prstGeom prst="rect">
            <a:avLst/>
          </a:prstGeom>
          <a:noFill/>
        </p:spPr>
        <p:txBody>
          <a:bodyPr wrap="square" rtlCol="0" anchor="t">
            <a:spAutoFit/>
          </a:bodyPr>
          <a:lstStyle/>
          <a:p>
            <a:pPr indent="609600" eaLnBrk="0" fontAlgn="base" hangingPunct="0">
              <a:lnSpc>
                <a:spcPct val="150000"/>
              </a:lnSpc>
              <a:spcBef>
                <a:spcPct val="0"/>
              </a:spcBef>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黑体" panose="02010609060101010101" pitchFamily="49" charset="-122"/>
                <a:ea typeface="黑体" panose="02010609060101010101" pitchFamily="49" charset="-122"/>
                <a:sym typeface="+mn-ea"/>
              </a:rPr>
              <a:t>若将</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线性分组码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与其对偶码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d</a:t>
            </a:r>
            <a:r>
              <a:rPr lang="zh-CN" altLang="en-US" sz="2400" dirty="0">
                <a:solidFill>
                  <a:srgbClr val="000000"/>
                </a:solidFill>
                <a:latin typeface="黑体" panose="02010609060101010101" pitchFamily="49" charset="-122"/>
                <a:ea typeface="黑体" panose="02010609060101010101" pitchFamily="49" charset="-122"/>
                <a:sym typeface="+mn-ea"/>
              </a:rPr>
              <a:t>的重量分布分别记为</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A</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A</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A</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和</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B</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B</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，又记多项式</a:t>
            </a:r>
            <a:endParaRPr lang="en-US" altLang="zh-CN" sz="2400" baseline="-250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0"/>
          </p:cNvPr>
          <p:cNvGraphicFramePr>
            <a:graphicFrameLocks noChangeAspect="1"/>
          </p:cNvGraphicFramePr>
          <p:nvPr/>
        </p:nvGraphicFramePr>
        <p:xfrm>
          <a:off x="4419601" y="2436178"/>
          <a:ext cx="3181350" cy="847090"/>
        </p:xfrm>
        <a:graphic>
          <a:graphicData uri="http://schemas.openxmlformats.org/presentationml/2006/ole">
            <mc:AlternateContent xmlns:mc="http://schemas.openxmlformats.org/markup-compatibility/2006">
              <mc:Choice xmlns:v="urn:schemas-microsoft-com:vml" Requires="v">
                <p:oleObj r:id="rId2" imgW="1803400" imgH="431800" progId="Equation.KSEE3">
                  <p:embed/>
                </p:oleObj>
              </mc:Choice>
              <mc:Fallback>
                <p:oleObj r:id="rId2" imgW="1803400" imgH="431800" progId="Equation.KSEE3">
                  <p:embed/>
                  <p:pic>
                    <p:nvPicPr>
                      <p:cNvPr id="7" name="对象 6">
                        <a:hlinkClick r:id="" action="ppaction://ole?verb=0"/>
                      </p:cNvPr>
                      <p:cNvPicPr/>
                      <p:nvPr/>
                    </p:nvPicPr>
                    <p:blipFill>
                      <a:blip r:embed="rId3"/>
                      <a:stretch>
                        <a:fillRect/>
                      </a:stretch>
                    </p:blipFill>
                    <p:spPr>
                      <a:xfrm>
                        <a:off x="4419601" y="2436178"/>
                        <a:ext cx="3181350" cy="847090"/>
                      </a:xfrm>
                      <a:prstGeom prst="rect">
                        <a:avLst/>
                      </a:prstGeom>
                    </p:spPr>
                  </p:pic>
                </p:oleObj>
              </mc:Fallback>
            </mc:AlternateContent>
          </a:graphicData>
        </a:graphic>
      </p:graphicFrame>
      <p:sp>
        <p:nvSpPr>
          <p:cNvPr id="11" name="文本框 10"/>
          <p:cNvSpPr txBox="1"/>
          <p:nvPr/>
        </p:nvSpPr>
        <p:spPr>
          <a:xfrm>
            <a:off x="2372995" y="3453130"/>
            <a:ext cx="7233920" cy="465448"/>
          </a:xfrm>
          <a:prstGeom prst="rect">
            <a:avLst/>
          </a:prstGeom>
          <a:noFill/>
        </p:spPr>
        <p:txBody>
          <a:bodyPr wrap="square" rtlCol="0" anchor="t">
            <a:spAutoFit/>
          </a:bodyPr>
          <a:lstStyle/>
          <a:p>
            <a:pPr eaLnBrk="0" fontAlgn="base" hangingPunct="0">
              <a:lnSpc>
                <a:spcPct val="110000"/>
              </a:lnSpc>
              <a:spcBef>
                <a:spcPct val="0"/>
              </a:spcBef>
              <a:spcAft>
                <a:spcPct val="0"/>
              </a:spcAft>
              <a:buClr>
                <a:srgbClr val="CCCCFF"/>
              </a:buClr>
              <a:buSzPct val="65000"/>
            </a:pPr>
            <a:r>
              <a:rPr lang="zh-CN" altLang="en-US" sz="2400" dirty="0">
                <a:solidFill>
                  <a:srgbClr val="000000"/>
                </a:solidFill>
                <a:latin typeface="黑体" panose="02010609060101010101" pitchFamily="49" charset="-122"/>
                <a:ea typeface="黑体" panose="02010609060101010101" pitchFamily="49" charset="-122"/>
                <a:sym typeface="+mn-ea"/>
              </a:rPr>
              <a:t>那么多项式</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z</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z</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之间满足如下关系：</a:t>
            </a:r>
            <a:endParaRPr lang="en-US" altLang="zh-CN" sz="2400" baseline="-250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3" name="对象 12">
            <a:hlinkClick r:id="" action="ppaction://ole?verb=0"/>
          </p:cNvPr>
          <p:cNvGraphicFramePr>
            <a:graphicFrameLocks noChangeAspect="1"/>
          </p:cNvGraphicFramePr>
          <p:nvPr/>
        </p:nvGraphicFramePr>
        <p:xfrm>
          <a:off x="4108134" y="4187508"/>
          <a:ext cx="3758565" cy="848360"/>
        </p:xfrm>
        <a:graphic>
          <a:graphicData uri="http://schemas.openxmlformats.org/presentationml/2006/ole">
            <mc:AlternateContent xmlns:mc="http://schemas.openxmlformats.org/markup-compatibility/2006">
              <mc:Choice xmlns:v="urn:schemas-microsoft-com:vml" Requires="v">
                <p:oleObj r:id="rId4" imgW="1790700" imgH="431800" progId="Equation.KSEE3">
                  <p:embed/>
                </p:oleObj>
              </mc:Choice>
              <mc:Fallback>
                <p:oleObj r:id="rId4" imgW="1790700" imgH="431800" progId="Equation.KSEE3">
                  <p:embed/>
                  <p:pic>
                    <p:nvPicPr>
                      <p:cNvPr id="13" name="对象 12">
                        <a:hlinkClick r:id="" action="ppaction://ole?verb=0"/>
                      </p:cNvPr>
                      <p:cNvPicPr/>
                      <p:nvPr/>
                    </p:nvPicPr>
                    <p:blipFill>
                      <a:blip r:embed="rId5"/>
                      <a:stretch>
                        <a:fillRect/>
                      </a:stretch>
                    </p:blipFill>
                    <p:spPr>
                      <a:xfrm>
                        <a:off x="4108134" y="4187508"/>
                        <a:ext cx="3758565" cy="848360"/>
                      </a:xfrm>
                      <a:prstGeom prst="rect">
                        <a:avLst/>
                      </a:prstGeom>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一致校验矩阵</a:t>
            </a:r>
          </a:p>
        </p:txBody>
      </p:sp>
      <p:sp>
        <p:nvSpPr>
          <p:cNvPr id="10" name="矩形 9"/>
          <p:cNvSpPr/>
          <p:nvPr/>
        </p:nvSpPr>
        <p:spPr>
          <a:xfrm>
            <a:off x="2234565" y="3230881"/>
            <a:ext cx="7797800" cy="215074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3" name="文本框 2"/>
          <p:cNvSpPr txBox="1"/>
          <p:nvPr/>
        </p:nvSpPr>
        <p:spPr>
          <a:xfrm>
            <a:off x="2385695" y="3359151"/>
            <a:ext cx="7440930" cy="1863725"/>
          </a:xfrm>
          <a:prstGeom prst="rect">
            <a:avLst/>
          </a:prstGeom>
          <a:noFill/>
        </p:spPr>
        <p:txBody>
          <a:bodyPr wrap="square" rtlCol="0" anchor="t">
            <a:spAutoFit/>
          </a:bodyPr>
          <a:lstStyle/>
          <a:p>
            <a:pPr algn="just" eaLnBrk="0" fontAlgn="base" hangingPunct="0">
              <a:lnSpc>
                <a:spcPct val="12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zh-CN" altLang="en-US" sz="2400" dirty="0">
                <a:solidFill>
                  <a:srgbClr val="000000"/>
                </a:solidFill>
                <a:latin typeface="Arial" panose="020B0604020202020204" pitchFamily="34" charset="0"/>
                <a:ea typeface="黑体" panose="02010609060101010101" pitchFamily="49" charset="-122"/>
                <a:sym typeface="+mn-ea"/>
              </a:rPr>
              <a:t>如果线性码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是</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zh-CN" altLang="en-US" sz="2400" dirty="0">
                <a:solidFill>
                  <a:srgbClr val="000000"/>
                </a:solidFill>
                <a:latin typeface="Arial" panose="020B0604020202020204" pitchFamily="34" charset="0"/>
                <a:ea typeface="黑体" panose="02010609060101010101" pitchFamily="49" charset="-122"/>
                <a:sym typeface="+mn-ea"/>
              </a:rPr>
              <a:t>矩阵的零化空间，则对每一个重量为</a:t>
            </a:r>
            <a:r>
              <a:rPr lang="en-US" altLang="zh-CN" sz="2400" i="1">
                <a:solidFill>
                  <a:srgbClr val="000000"/>
                </a:solidFill>
                <a:latin typeface="Times New Roman" panose="02020603050405020304" pitchFamily="18" charset="0"/>
                <a:ea typeface="黑体" panose="02010609060101010101" pitchFamily="49" charset="-122"/>
                <a:sym typeface="+mn-ea"/>
              </a:rPr>
              <a:t>w</a:t>
            </a:r>
            <a:r>
              <a:rPr lang="zh-CN" altLang="en-US" sz="2400" dirty="0">
                <a:solidFill>
                  <a:srgbClr val="000000"/>
                </a:solidFill>
                <a:latin typeface="Arial" panose="020B0604020202020204" pitchFamily="34" charset="0"/>
                <a:ea typeface="黑体" panose="02010609060101010101" pitchFamily="49" charset="-122"/>
                <a:sym typeface="+mn-ea"/>
              </a:rPr>
              <a:t>的码矢，</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zh-CN" altLang="en-US" sz="2400" dirty="0">
                <a:solidFill>
                  <a:srgbClr val="000000"/>
                </a:solidFill>
                <a:latin typeface="Arial" panose="020B0604020202020204" pitchFamily="34" charset="0"/>
                <a:ea typeface="黑体" panose="02010609060101010101" pitchFamily="49" charset="-122"/>
                <a:sym typeface="+mn-ea"/>
              </a:rPr>
              <a:t>中有相应的</a:t>
            </a:r>
            <a:r>
              <a:rPr lang="en-US" altLang="zh-CN" sz="2400" i="1">
                <a:solidFill>
                  <a:srgbClr val="000000"/>
                </a:solidFill>
                <a:latin typeface="Times New Roman" panose="02020603050405020304" pitchFamily="18" charset="0"/>
                <a:ea typeface="黑体" panose="02010609060101010101" pitchFamily="49" charset="-122"/>
                <a:sym typeface="+mn-ea"/>
              </a:rPr>
              <a:t>w</a:t>
            </a:r>
            <a:r>
              <a:rPr lang="zh-CN" altLang="en-US" sz="2400" dirty="0">
                <a:solidFill>
                  <a:srgbClr val="000000"/>
                </a:solidFill>
                <a:latin typeface="Arial" panose="020B0604020202020204" pitchFamily="34" charset="0"/>
                <a:ea typeface="黑体" panose="02010609060101010101" pitchFamily="49" charset="-122"/>
                <a:sym typeface="+mn-ea"/>
              </a:rPr>
              <a:t>列线性相关。反之，</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zh-CN" altLang="en-US" sz="2400" dirty="0">
                <a:solidFill>
                  <a:srgbClr val="000000"/>
                </a:solidFill>
                <a:latin typeface="Arial" panose="020B0604020202020204" pitchFamily="34" charset="0"/>
                <a:ea typeface="黑体" panose="02010609060101010101" pitchFamily="49" charset="-122"/>
                <a:sym typeface="+mn-ea"/>
              </a:rPr>
              <a:t>中若有</a:t>
            </a:r>
            <a:r>
              <a:rPr lang="en-US" altLang="zh-CN" sz="2400" i="1">
                <a:solidFill>
                  <a:srgbClr val="000000"/>
                </a:solidFill>
                <a:latin typeface="Times New Roman" panose="02020603050405020304" pitchFamily="18" charset="0"/>
                <a:ea typeface="黑体" panose="02010609060101010101" pitchFamily="49" charset="-122"/>
                <a:sym typeface="+mn-ea"/>
              </a:rPr>
              <a:t>w</a:t>
            </a:r>
            <a:r>
              <a:rPr lang="zh-CN" altLang="en-US" sz="2400" dirty="0">
                <a:solidFill>
                  <a:srgbClr val="000000"/>
                </a:solidFill>
                <a:latin typeface="Arial" panose="020B0604020202020204" pitchFamily="34" charset="0"/>
                <a:ea typeface="黑体" panose="02010609060101010101" pitchFamily="49" charset="-122"/>
                <a:sym typeface="+mn-ea"/>
              </a:rPr>
              <a:t>列线性相关，那么就有相应的重量为</a:t>
            </a:r>
            <a:r>
              <a:rPr lang="en-US" altLang="zh-CN" sz="2400" i="1">
                <a:solidFill>
                  <a:srgbClr val="000000"/>
                </a:solidFill>
                <a:latin typeface="Times New Roman" panose="02020603050405020304" pitchFamily="18" charset="0"/>
                <a:ea typeface="黑体" panose="02010609060101010101" pitchFamily="49" charset="-122"/>
                <a:sym typeface="+mn-ea"/>
              </a:rPr>
              <a:t>w</a:t>
            </a:r>
            <a:r>
              <a:rPr lang="zh-CN" altLang="en-US" sz="2400" dirty="0">
                <a:solidFill>
                  <a:srgbClr val="000000"/>
                </a:solidFill>
                <a:latin typeface="Arial" panose="020B0604020202020204" pitchFamily="34" charset="0"/>
                <a:ea typeface="黑体" panose="02010609060101010101" pitchFamily="49" charset="-122"/>
                <a:sym typeface="+mn-ea"/>
              </a:rPr>
              <a:t>的一个码矢</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graphicFrame>
        <p:nvGraphicFramePr>
          <p:cNvPr id="4" name="对象 3">
            <a:hlinkClick r:id="" action="ppaction://ole?verb=0"/>
          </p:cNvPr>
          <p:cNvGraphicFramePr>
            <a:graphicFrameLocks noChangeAspect="1"/>
          </p:cNvGraphicFramePr>
          <p:nvPr/>
        </p:nvGraphicFramePr>
        <p:xfrm>
          <a:off x="4495483" y="5443539"/>
          <a:ext cx="4814570" cy="847725"/>
        </p:xfrm>
        <a:graphic>
          <a:graphicData uri="http://schemas.openxmlformats.org/presentationml/2006/ole">
            <mc:AlternateContent xmlns:mc="http://schemas.openxmlformats.org/markup-compatibility/2006">
              <mc:Choice xmlns:v="urn:schemas-microsoft-com:vml" Requires="v">
                <p:oleObj r:id="rId3" imgW="2705100" imgH="431800" progId="Equation.KSEE3">
                  <p:embed/>
                </p:oleObj>
              </mc:Choice>
              <mc:Fallback>
                <p:oleObj r:id="rId3" imgW="2705100" imgH="431800" progId="Equation.KSEE3">
                  <p:embed/>
                  <p:pic>
                    <p:nvPicPr>
                      <p:cNvPr id="4" name="对象 3">
                        <a:hlinkClick r:id="" action="ppaction://ole?verb=0"/>
                      </p:cNvPr>
                      <p:cNvPicPr/>
                      <p:nvPr/>
                    </p:nvPicPr>
                    <p:blipFill>
                      <a:blip r:embed="rId4"/>
                      <a:stretch>
                        <a:fillRect/>
                      </a:stretch>
                    </p:blipFill>
                    <p:spPr>
                      <a:xfrm>
                        <a:off x="4495483" y="5443539"/>
                        <a:ext cx="4814570" cy="847725"/>
                      </a:xfrm>
                      <a:prstGeom prst="rect">
                        <a:avLst/>
                      </a:prstGeom>
                    </p:spPr>
                  </p:pic>
                </p:oleObj>
              </mc:Fallback>
            </mc:AlternateContent>
          </a:graphicData>
        </a:graphic>
      </p:graphicFrame>
      <p:sp>
        <p:nvSpPr>
          <p:cNvPr id="7" name="文本框 6"/>
          <p:cNvSpPr txBox="1"/>
          <p:nvPr/>
        </p:nvSpPr>
        <p:spPr>
          <a:xfrm>
            <a:off x="2869565" y="5669916"/>
            <a:ext cx="1703070" cy="460375"/>
          </a:xfrm>
          <a:prstGeom prst="rect">
            <a:avLst/>
          </a:prstGeom>
          <a:noFill/>
        </p:spPr>
        <p:txBody>
          <a:bodyPr wrap="square" rtlCol="0" anchor="t">
            <a:spAutoFit/>
          </a:bodyPr>
          <a:lstStyle/>
          <a:p>
            <a:pPr eaLnBrk="0" fontAlgn="base" hangingPunct="0">
              <a:spcBef>
                <a:spcPct val="0"/>
              </a:spcBef>
              <a:spcAft>
                <a:spcPct val="0"/>
              </a:spcAft>
            </a:pPr>
            <a:r>
              <a:rPr lang="zh-CN" altLang="en-US" sz="2400" dirty="0">
                <a:solidFill>
                  <a:srgbClr val="000000"/>
                </a:solidFill>
                <a:latin typeface="黑体" panose="02010609060101010101" pitchFamily="49" charset="-122"/>
                <a:ea typeface="黑体" panose="02010609060101010101" pitchFamily="49" charset="-122"/>
                <a:sym typeface="+mn-ea"/>
              </a:rPr>
              <a:t>这是由于</a:t>
            </a:r>
          </a:p>
        </p:txBody>
      </p:sp>
      <p:sp>
        <p:nvSpPr>
          <p:cNvPr id="5" name="内容占位符 2"/>
          <p:cNvSpPr txBox="1"/>
          <p:nvPr/>
        </p:nvSpPr>
        <p:spPr>
          <a:xfrm>
            <a:off x="1815466" y="1027430"/>
            <a:ext cx="8509635" cy="154559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1946275" y="1089026"/>
            <a:ext cx="8256270" cy="1420495"/>
          </a:xfrm>
          <a:prstGeom prst="rect">
            <a:avLst/>
          </a:prstGeom>
          <a:noFill/>
        </p:spPr>
        <p:txBody>
          <a:bodyPr wrap="square" rtlCol="0" anchor="t">
            <a:spAutoFit/>
          </a:bodyPr>
          <a:lstStyle/>
          <a:p>
            <a:pPr algn="just" eaLnBrk="0" fontAlgn="base" hangingPunct="0">
              <a:lnSpc>
                <a:spcPct val="120000"/>
              </a:lnSpc>
              <a:spcBef>
                <a:spcPct val="0"/>
              </a:spcBef>
              <a:spcAft>
                <a:spcPct val="0"/>
              </a:spcAft>
            </a:pPr>
            <a:r>
              <a:rPr lang="zh-CN" altLang="en-US" sz="2400" dirty="0">
                <a:solidFill>
                  <a:srgbClr val="FF0000"/>
                </a:solidFill>
                <a:latin typeface="Times New Roman" panose="02020603050405020304" pitchFamily="18" charset="0"/>
                <a:ea typeface="黑体" panose="02010609060101010101" pitchFamily="49" charset="-122"/>
                <a:sym typeface="+mn-ea"/>
              </a:rPr>
              <a:t>定义</a:t>
            </a:r>
            <a:r>
              <a:rPr sz="2400" dirty="0">
                <a:solidFill>
                  <a:srgbClr val="FF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与</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线性分组码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的生成矩阵</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zh-CN" altLang="en-US" sz="2400" dirty="0">
                <a:solidFill>
                  <a:srgbClr val="000000"/>
                </a:solidFill>
                <a:latin typeface="黑体" panose="02010609060101010101" pitchFamily="49" charset="-122"/>
                <a:ea typeface="黑体" panose="02010609060101010101" pitchFamily="49" charset="-122"/>
                <a:sym typeface="+mn-ea"/>
              </a:rPr>
              <a:t>相对应有一个</a:t>
            </a:r>
            <a:r>
              <a:rPr lang="en-US" altLang="zh-CN" sz="2400" dirty="0">
                <a:solidFill>
                  <a:srgbClr val="000000"/>
                </a:solidFill>
                <a:latin typeface="黑体" panose="02010609060101010101" pitchFamily="49" charset="-122"/>
                <a:ea typeface="黑体" panose="02010609060101010101" pitchFamily="49" charset="-122"/>
                <a:sym typeface="+mn-ea"/>
              </a:rPr>
              <a:t>		</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n-k</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Arial" panose="020B0604020202020204" pitchFamily="34"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黑体" panose="02010609060101010101" pitchFamily="49" charset="-122"/>
                <a:ea typeface="黑体" panose="02010609060101010101" pitchFamily="49" charset="-122"/>
                <a:sym typeface="+mn-ea"/>
              </a:rPr>
              <a:t>阶矩阵</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zh-CN" altLang="en-US" sz="2400" dirty="0">
                <a:solidFill>
                  <a:srgbClr val="000000"/>
                </a:solidFill>
                <a:latin typeface="黑体" panose="02010609060101010101" pitchFamily="49" charset="-122"/>
                <a:ea typeface="黑体" panose="02010609060101010101" pitchFamily="49" charset="-122"/>
                <a:sym typeface="+mn-ea"/>
              </a:rPr>
              <a:t>，它的</a:t>
            </a:r>
            <a:r>
              <a:rPr lang="en-US" altLang="zh-CN" sz="2400" i="1" err="1">
                <a:solidFill>
                  <a:srgbClr val="000000"/>
                </a:solidFill>
                <a:latin typeface="Times New Roman" panose="02020603050405020304" pitchFamily="18" charset="0"/>
                <a:ea typeface="黑体" panose="02010609060101010101" pitchFamily="49" charset="-122"/>
                <a:sym typeface="+mn-ea"/>
              </a:rPr>
              <a:t>n-k</a:t>
            </a:r>
            <a:r>
              <a:rPr lang="zh-CN" altLang="en-US" sz="2400" dirty="0">
                <a:solidFill>
                  <a:srgbClr val="000000"/>
                </a:solidFill>
                <a:latin typeface="黑体" panose="02010609060101010101" pitchFamily="49" charset="-122"/>
                <a:ea typeface="黑体" panose="02010609060101010101" pitchFamily="49" charset="-122"/>
                <a:sym typeface="+mn-ea"/>
              </a:rPr>
              <a:t>个行是码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的对偶空间的一</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组基底，该矩阵</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zh-CN" altLang="en-US" sz="2400" dirty="0">
                <a:solidFill>
                  <a:srgbClr val="000000"/>
                </a:solidFill>
                <a:latin typeface="黑体" panose="02010609060101010101" pitchFamily="49" charset="-122"/>
                <a:ea typeface="黑体" panose="02010609060101010101" pitchFamily="49" charset="-122"/>
                <a:sym typeface="+mn-ea"/>
              </a:rPr>
              <a:t>称为码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的一致校验矩阵。</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209800" y="1219200"/>
            <a:ext cx="7797800" cy="261112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文本框 8"/>
          <p:cNvSpPr txBox="1"/>
          <p:nvPr/>
        </p:nvSpPr>
        <p:spPr>
          <a:xfrm>
            <a:off x="2385695" y="1318896"/>
            <a:ext cx="7349490" cy="2306955"/>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zh-CN" altLang="en-US" sz="2400" dirty="0">
                <a:solidFill>
                  <a:srgbClr val="000000"/>
                </a:solidFill>
                <a:latin typeface="Arial" panose="020B0604020202020204" pitchFamily="34" charset="0"/>
                <a:ea typeface="黑体" panose="02010609060101010101" pitchFamily="49" charset="-122"/>
                <a:sym typeface="+mn-ea"/>
              </a:rPr>
              <a:t>令</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是一致校验矩阵为</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zh-CN" altLang="en-US" sz="2400" dirty="0">
                <a:solidFill>
                  <a:srgbClr val="000000"/>
                </a:solidFill>
                <a:latin typeface="Arial" panose="020B0604020202020204" pitchFamily="34" charset="0"/>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线性码，对于汉</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明重量为</a:t>
            </a:r>
            <a:r>
              <a:rPr lang="en-US" altLang="zh-CN" sz="2400" i="1">
                <a:solidFill>
                  <a:srgbClr val="000000"/>
                </a:solidFill>
                <a:latin typeface="Times New Roman" panose="02020603050405020304" pitchFamily="18" charset="0"/>
                <a:ea typeface="黑体" panose="02010609060101010101" pitchFamily="49" charset="-122"/>
                <a:sym typeface="+mn-ea"/>
              </a:rPr>
              <a:t>l</a:t>
            </a:r>
            <a:r>
              <a:rPr lang="zh-CN" altLang="en-US" sz="2400" dirty="0">
                <a:solidFill>
                  <a:srgbClr val="000000"/>
                </a:solidFill>
                <a:latin typeface="Arial" panose="020B0604020202020204" pitchFamily="34" charset="0"/>
                <a:ea typeface="黑体" panose="02010609060101010101" pitchFamily="49" charset="-122"/>
                <a:sym typeface="+mn-ea"/>
              </a:rPr>
              <a:t>的每个码矢，在</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zh-CN" altLang="en-US" sz="2400" dirty="0">
                <a:solidFill>
                  <a:srgbClr val="000000"/>
                </a:solidFill>
                <a:latin typeface="Arial" panose="020B0604020202020204" pitchFamily="34" charset="0"/>
                <a:ea typeface="黑体" panose="02010609060101010101" pitchFamily="49" charset="-122"/>
                <a:sym typeface="+mn-ea"/>
              </a:rPr>
              <a:t>中都有</a:t>
            </a:r>
            <a:r>
              <a:rPr lang="en-US" altLang="zh-CN" sz="2400" i="1">
                <a:solidFill>
                  <a:srgbClr val="000000"/>
                </a:solidFill>
                <a:latin typeface="Times New Roman" panose="02020603050405020304" pitchFamily="18" charset="0"/>
                <a:ea typeface="黑体" panose="02010609060101010101" pitchFamily="49" charset="-122"/>
                <a:sym typeface="+mn-ea"/>
              </a:rPr>
              <a:t>l</a:t>
            </a:r>
            <a:r>
              <a:rPr lang="zh-CN" altLang="en-US" sz="2400" dirty="0">
                <a:solidFill>
                  <a:srgbClr val="000000"/>
                </a:solidFill>
                <a:latin typeface="Arial" panose="020B0604020202020204" pitchFamily="34" charset="0"/>
                <a:ea typeface="黑体" panose="02010609060101010101" pitchFamily="49" charset="-122"/>
                <a:sym typeface="+mn-ea"/>
              </a:rPr>
              <a:t>列，使得这</a:t>
            </a:r>
            <a:r>
              <a:rPr lang="en-US" altLang="zh-CN" sz="2400" dirty="0">
                <a:solidFill>
                  <a:srgbClr val="000000"/>
                </a:solidFill>
                <a:latin typeface="Arial" panose="020B0604020202020204" pitchFamily="34"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l</a:t>
            </a:r>
            <a:r>
              <a:rPr lang="zh-CN" altLang="en-US" sz="2400" dirty="0">
                <a:solidFill>
                  <a:srgbClr val="000000"/>
                </a:solidFill>
                <a:latin typeface="Arial" panose="020B0604020202020204" pitchFamily="34" charset="0"/>
                <a:ea typeface="黑体" panose="02010609060101010101" pitchFamily="49" charset="-122"/>
                <a:sym typeface="+mn-ea"/>
              </a:rPr>
              <a:t>列的矢量和为</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Arial" panose="020B0604020202020204" pitchFamily="34" charset="0"/>
                <a:ea typeface="黑体" panose="02010609060101010101" pitchFamily="49" charset="-122"/>
                <a:sym typeface="+mn-ea"/>
              </a:rPr>
              <a:t>，反之，若</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zh-CN" altLang="en-US" sz="2400" dirty="0">
                <a:solidFill>
                  <a:srgbClr val="000000"/>
                </a:solidFill>
                <a:latin typeface="Arial" panose="020B0604020202020204" pitchFamily="34" charset="0"/>
                <a:ea typeface="黑体" panose="02010609060101010101" pitchFamily="49" charset="-122"/>
                <a:sym typeface="+mn-ea"/>
              </a:rPr>
              <a:t>中存在</a:t>
            </a:r>
            <a:r>
              <a:rPr lang="en-US" altLang="zh-CN" sz="2400" i="1">
                <a:solidFill>
                  <a:srgbClr val="000000"/>
                </a:solidFill>
                <a:latin typeface="Times New Roman" panose="02020603050405020304" pitchFamily="18" charset="0"/>
                <a:ea typeface="黑体" panose="02010609060101010101" pitchFamily="49" charset="-122"/>
                <a:sym typeface="+mn-ea"/>
              </a:rPr>
              <a:t>l</a:t>
            </a:r>
            <a:r>
              <a:rPr lang="zh-CN" altLang="en-US" sz="2400" dirty="0">
                <a:solidFill>
                  <a:srgbClr val="000000"/>
                </a:solidFill>
                <a:latin typeface="Arial" panose="020B0604020202020204" pitchFamily="34" charset="0"/>
                <a:ea typeface="黑体" panose="02010609060101010101" pitchFamily="49" charset="-122"/>
                <a:sym typeface="+mn-ea"/>
              </a:rPr>
              <a:t>列，其矢</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量和为</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Arial" panose="020B0604020202020204" pitchFamily="34" charset="0"/>
                <a:ea typeface="黑体" panose="02010609060101010101" pitchFamily="49" charset="-122"/>
                <a:sym typeface="+mn-ea"/>
              </a:rPr>
              <a:t>，则</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中必有一个汉明重量为</a:t>
            </a:r>
            <a:r>
              <a:rPr lang="en-US" altLang="zh-CN" sz="2400" i="1">
                <a:solidFill>
                  <a:srgbClr val="000000"/>
                </a:solidFill>
                <a:latin typeface="Times New Roman" panose="02020603050405020304" pitchFamily="18" charset="0"/>
                <a:ea typeface="黑体" panose="02010609060101010101" pitchFamily="49" charset="-122"/>
                <a:sym typeface="+mn-ea"/>
              </a:rPr>
              <a:t>l</a:t>
            </a:r>
            <a:r>
              <a:rPr lang="zh-CN" altLang="en-US" sz="2400" dirty="0">
                <a:solidFill>
                  <a:srgbClr val="000000"/>
                </a:solidFill>
                <a:latin typeface="Arial" panose="020B0604020202020204" pitchFamily="34" charset="0"/>
                <a:ea typeface="黑体" panose="02010609060101010101" pitchFamily="49" charset="-122"/>
                <a:sym typeface="+mn-ea"/>
              </a:rPr>
              <a:t>的码矢</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sp>
        <p:nvSpPr>
          <p:cNvPr id="2" name="标题 1"/>
          <p:cNvSpPr>
            <a:spLocks noGrp="1"/>
          </p:cNvSpPr>
          <p:nvPr>
            <p:ph type="title"/>
          </p:nvPr>
        </p:nvSpPr>
        <p:spPr>
          <a:xfrm>
            <a:off x="4982210" y="104775"/>
            <a:ext cx="541909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一致校验矩阵与汉明重量</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举例</a:t>
            </a:r>
          </a:p>
        </p:txBody>
      </p:sp>
      <p:sp>
        <p:nvSpPr>
          <p:cNvPr id="9" name="文本框 8"/>
          <p:cNvSpPr txBox="1"/>
          <p:nvPr/>
        </p:nvSpPr>
        <p:spPr>
          <a:xfrm>
            <a:off x="2493645" y="876935"/>
            <a:ext cx="6601460" cy="520848"/>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000000"/>
                </a:solidFill>
                <a:latin typeface="黑体" panose="02010609060101010101" pitchFamily="49" charset="-122"/>
                <a:ea typeface="黑体" panose="02010609060101010101" pitchFamily="49" charset="-122"/>
                <a:sym typeface="+mn-ea"/>
              </a:rPr>
              <a:t>特别的，对于线性分组码，有如下定理：</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3" name="矩形 2"/>
          <p:cNvSpPr/>
          <p:nvPr/>
        </p:nvSpPr>
        <p:spPr>
          <a:xfrm>
            <a:off x="2209800" y="1597026"/>
            <a:ext cx="7797800" cy="140779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4" name="文本框 3"/>
          <p:cNvSpPr txBox="1"/>
          <p:nvPr/>
        </p:nvSpPr>
        <p:spPr>
          <a:xfrm>
            <a:off x="2385695" y="1696720"/>
            <a:ext cx="7349490" cy="1130246"/>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线性码的最小码间距离等于非零码字的最</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小汉明重量</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sp>
        <p:nvSpPr>
          <p:cNvPr id="7" name="文本框 6"/>
          <p:cNvSpPr txBox="1"/>
          <p:nvPr/>
        </p:nvSpPr>
        <p:spPr>
          <a:xfrm>
            <a:off x="1854201" y="3251835"/>
            <a:ext cx="8474075" cy="2896870"/>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FF0000"/>
                </a:solidFill>
                <a:latin typeface="黑体" panose="02010609060101010101" pitchFamily="49" charset="-122"/>
                <a:ea typeface="黑体" panose="02010609060101010101" pitchFamily="49" charset="-122"/>
                <a:sym typeface="+mn-ea"/>
              </a:rPr>
              <a:t>例如：</a:t>
            </a:r>
            <a:r>
              <a:rPr lang="zh-CN" altLang="en-US" sz="2400" dirty="0">
                <a:solidFill>
                  <a:srgbClr val="000000"/>
                </a:solidFill>
                <a:latin typeface="黑体" panose="02010609060101010101" pitchFamily="49" charset="-122"/>
                <a:ea typeface="黑体" panose="02010609060101010101" pitchFamily="49" charset="-122"/>
                <a:sym typeface="+mn-ea"/>
              </a:rPr>
              <a:t>线性分组码</a:t>
            </a:r>
            <a:r>
              <a:rPr lang="en-US" altLang="zh-CN" sz="2400" i="1">
                <a:solidFill>
                  <a:srgbClr val="000000"/>
                </a:solidFill>
                <a:latin typeface="Times New Roman" panose="02020603050405020304" pitchFamily="18" charset="0"/>
                <a:ea typeface="宋体" panose="02010600030101010101" pitchFamily="2" charset="-122"/>
                <a:sym typeface="+mn-ea"/>
              </a:rPr>
              <a:t>C</a:t>
            </a:r>
            <a:r>
              <a:rPr lang="en-US" altLang="zh-CN" sz="2400">
                <a:solidFill>
                  <a:srgbClr val="000000"/>
                </a:solidFill>
                <a:latin typeface="Times New Roman" panose="02020603050405020304" pitchFamily="18" charset="0"/>
                <a:ea typeface="宋体" panose="02010600030101010101" pitchFamily="2" charset="-122"/>
                <a:sym typeface="+mn-ea"/>
              </a:rPr>
              <a:t>={0000, 1010, 0101, 1111}, </a:t>
            </a:r>
            <a:r>
              <a:rPr lang="zh-CN" altLang="en-US" sz="2400" dirty="0">
                <a:solidFill>
                  <a:srgbClr val="000000"/>
                </a:solidFill>
                <a:latin typeface="黑体" panose="02010609060101010101" pitchFamily="49" charset="-122"/>
                <a:ea typeface="黑体" panose="02010609060101010101" pitchFamily="49" charset="-122"/>
                <a:sym typeface="+mn-ea"/>
              </a:rPr>
              <a:t>其中分组长度为</a:t>
            </a:r>
            <a:r>
              <a:rPr lang="en-US" altLang="zh-CN" sz="2400" dirty="0">
                <a:solidFill>
                  <a:srgbClr val="000000"/>
                </a:solidFill>
                <a:latin typeface="黑体" panose="02010609060101010101" pitchFamily="49" charset="-122"/>
                <a:ea typeface="黑体" panose="02010609060101010101" pitchFamily="49" charset="-122"/>
                <a:sym typeface="+mn-ea"/>
              </a:rPr>
              <a:t>	</a:t>
            </a:r>
            <a:r>
              <a:rPr lang="en-US" altLang="zh-CN" sz="2400" i="1">
                <a:solidFill>
                  <a:srgbClr val="000000"/>
                </a:solidFill>
                <a:latin typeface="Times New Roman" panose="02020603050405020304" pitchFamily="18" charset="0"/>
                <a:ea typeface="宋体" panose="02010600030101010101" pitchFamily="2" charset="-122"/>
                <a:sym typeface="+mn-ea"/>
              </a:rPr>
              <a:t>n</a:t>
            </a:r>
            <a:r>
              <a:rPr lang="en-US" altLang="zh-CN" sz="2400">
                <a:solidFill>
                  <a:srgbClr val="000000"/>
                </a:solidFill>
                <a:latin typeface="Times New Roman" panose="02020603050405020304" pitchFamily="18" charset="0"/>
                <a:ea typeface="宋体" panose="02010600030101010101" pitchFamily="2" charset="-122"/>
                <a:sym typeface="+mn-ea"/>
              </a:rPr>
              <a:t>=4</a:t>
            </a:r>
            <a:r>
              <a:rPr lang="zh-CN" altLang="en-US" sz="2400" dirty="0">
                <a:solidFill>
                  <a:srgbClr val="000000"/>
                </a:solidFill>
                <a:latin typeface="Times New Roman" panose="02020603050405020304" pitchFamily="18" charset="0"/>
                <a:ea typeface="宋体" panose="02010600030101010101" pitchFamily="2"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计算码字之间的汉明距离</a:t>
            </a:r>
            <a:endParaRPr lang="zh-CN" altLang="en-US" sz="2400" dirty="0">
              <a:solidFill>
                <a:srgbClr val="000000"/>
              </a:solidFill>
              <a:latin typeface="黑体" panose="02010609060101010101" pitchFamily="49" charset="-122"/>
              <a:ea typeface="黑体" panose="02010609060101010101" pitchFamily="49" charset="-122"/>
            </a:endParaRPr>
          </a:p>
          <a:p>
            <a:pPr eaLnBrk="0" fontAlgn="base" hangingPunct="0">
              <a:spcBef>
                <a:spcPct val="0"/>
              </a:spcBef>
              <a:spcAft>
                <a:spcPct val="0"/>
              </a:spcAft>
            </a:pPr>
            <a:r>
              <a:rPr lang="zh-CN" altLang="en-US" sz="2400">
                <a:solidFill>
                  <a:srgbClr val="000000"/>
                </a:solidFill>
                <a:latin typeface="Arial" panose="020B0604020202020204" pitchFamily="34" charset="0"/>
                <a:ea typeface="宋体" panose="02010600030101010101" pitchFamily="2" charset="-122"/>
                <a:sym typeface="+mn-ea"/>
              </a:rPr>
              <a:t>   </a:t>
            </a:r>
            <a:r>
              <a:rPr lang="en-US" altLang="zh-CN" sz="2400">
                <a:solidFill>
                  <a:srgbClr val="000000"/>
                </a:solidFill>
                <a:latin typeface="Arial" panose="020B0604020202020204" pitchFamily="34" charset="0"/>
                <a:ea typeface="宋体" panose="02010600030101010101" pitchFamily="2" charset="-122"/>
                <a:sym typeface="+mn-ea"/>
              </a:rPr>
              <a:t>	</a:t>
            </a:r>
            <a:r>
              <a:rPr lang="en-US" altLang="zh-CN" sz="2400" i="1">
                <a:solidFill>
                  <a:srgbClr val="000000"/>
                </a:solidFill>
                <a:latin typeface="Times New Roman" panose="02020603050405020304" pitchFamily="18" charset="0"/>
                <a:ea typeface="宋体" panose="02010600030101010101" pitchFamily="2" charset="-122"/>
                <a:sym typeface="+mn-ea"/>
              </a:rPr>
              <a:t>d</a:t>
            </a:r>
            <a:r>
              <a:rPr lang="en-US" altLang="zh-CN" sz="2400">
                <a:solidFill>
                  <a:srgbClr val="000000"/>
                </a:solidFill>
                <a:latin typeface="Times New Roman" panose="02020603050405020304" pitchFamily="18" charset="0"/>
                <a:ea typeface="宋体" panose="02010600030101010101" pitchFamily="2" charset="-122"/>
                <a:sym typeface="+mn-ea"/>
              </a:rPr>
              <a:t>(0000, 1010) = 2, </a:t>
            </a:r>
            <a:r>
              <a:rPr lang="en-US" altLang="zh-CN" sz="2400" i="1">
                <a:solidFill>
                  <a:srgbClr val="000000"/>
                </a:solidFill>
                <a:latin typeface="Times New Roman" panose="02020603050405020304" pitchFamily="18" charset="0"/>
                <a:ea typeface="宋体" panose="02010600030101010101" pitchFamily="2" charset="-122"/>
                <a:sym typeface="+mn-ea"/>
              </a:rPr>
              <a:t>d</a:t>
            </a:r>
            <a:r>
              <a:rPr lang="en-US" altLang="zh-CN" sz="2400">
                <a:solidFill>
                  <a:srgbClr val="000000"/>
                </a:solidFill>
                <a:latin typeface="Times New Roman" panose="02020603050405020304" pitchFamily="18" charset="0"/>
                <a:ea typeface="宋体" panose="02010600030101010101" pitchFamily="2" charset="-122"/>
                <a:sym typeface="+mn-ea"/>
              </a:rPr>
              <a:t>(0000, 0101) = 2, </a:t>
            </a:r>
            <a:endParaRPr lang="en-US" altLang="zh-CN" sz="2400">
              <a:solidFill>
                <a:srgbClr val="000000"/>
              </a:solidFill>
              <a:latin typeface="Times New Roman" panose="02020603050405020304" pitchFamily="18" charset="0"/>
              <a:ea typeface="宋体" panose="02010600030101010101" pitchFamily="2" charset="-122"/>
            </a:endParaRPr>
          </a:p>
          <a:p>
            <a:pPr eaLnBrk="0" fontAlgn="base" hangingPunct="0">
              <a:spcBef>
                <a:spcPct val="0"/>
              </a:spcBef>
              <a:spcAft>
                <a:spcPct val="0"/>
              </a:spcAft>
            </a:pPr>
            <a:r>
              <a:rPr lang="en-US" altLang="zh-CN" sz="2400">
                <a:solidFill>
                  <a:srgbClr val="000000"/>
                </a:solidFill>
                <a:latin typeface="Times New Roman" panose="02020603050405020304" pitchFamily="18" charset="0"/>
                <a:ea typeface="宋体" panose="02010600030101010101" pitchFamily="2" charset="-122"/>
                <a:sym typeface="+mn-ea"/>
              </a:rPr>
              <a:t>   	</a:t>
            </a:r>
            <a:r>
              <a:rPr lang="en-US" altLang="zh-CN" sz="2400" i="1">
                <a:solidFill>
                  <a:srgbClr val="000000"/>
                </a:solidFill>
                <a:latin typeface="Times New Roman" panose="02020603050405020304" pitchFamily="18" charset="0"/>
                <a:ea typeface="宋体" panose="02010600030101010101" pitchFamily="2" charset="-122"/>
                <a:sym typeface="+mn-ea"/>
              </a:rPr>
              <a:t>d</a:t>
            </a:r>
            <a:r>
              <a:rPr lang="en-US" altLang="zh-CN" sz="2400">
                <a:solidFill>
                  <a:srgbClr val="000000"/>
                </a:solidFill>
                <a:latin typeface="Times New Roman" panose="02020603050405020304" pitchFamily="18" charset="0"/>
                <a:ea typeface="宋体" panose="02010600030101010101" pitchFamily="2" charset="-122"/>
                <a:sym typeface="+mn-ea"/>
              </a:rPr>
              <a:t>(0000, 1111) = 4, </a:t>
            </a:r>
            <a:r>
              <a:rPr lang="en-US" altLang="zh-CN" sz="2400" i="1">
                <a:solidFill>
                  <a:srgbClr val="000000"/>
                </a:solidFill>
                <a:latin typeface="Times New Roman" panose="02020603050405020304" pitchFamily="18" charset="0"/>
                <a:ea typeface="宋体" panose="02010600030101010101" pitchFamily="2" charset="-122"/>
                <a:sym typeface="+mn-ea"/>
              </a:rPr>
              <a:t>d</a:t>
            </a:r>
            <a:r>
              <a:rPr lang="en-US" altLang="zh-CN" sz="2400">
                <a:solidFill>
                  <a:srgbClr val="000000"/>
                </a:solidFill>
                <a:latin typeface="Times New Roman" panose="02020603050405020304" pitchFamily="18" charset="0"/>
                <a:ea typeface="宋体" panose="02010600030101010101" pitchFamily="2" charset="-122"/>
                <a:sym typeface="+mn-ea"/>
              </a:rPr>
              <a:t>(1010, 0101) = 4, </a:t>
            </a:r>
            <a:endParaRPr lang="en-US" altLang="zh-CN" sz="2400">
              <a:solidFill>
                <a:srgbClr val="000000"/>
              </a:solidFill>
              <a:latin typeface="Times New Roman" panose="02020603050405020304" pitchFamily="18" charset="0"/>
              <a:ea typeface="宋体" panose="02010600030101010101" pitchFamily="2" charset="-122"/>
            </a:endParaRPr>
          </a:p>
          <a:p>
            <a:pPr eaLnBrk="0" fontAlgn="base" hangingPunct="0">
              <a:spcBef>
                <a:spcPct val="0"/>
              </a:spcBef>
              <a:spcAft>
                <a:spcPct val="0"/>
              </a:spcAft>
            </a:pPr>
            <a:r>
              <a:rPr lang="en-US" altLang="zh-CN" sz="2400">
                <a:solidFill>
                  <a:srgbClr val="000000"/>
                </a:solidFill>
                <a:latin typeface="Times New Roman" panose="02020603050405020304" pitchFamily="18" charset="0"/>
                <a:ea typeface="宋体" panose="02010600030101010101" pitchFamily="2" charset="-122"/>
                <a:sym typeface="+mn-ea"/>
              </a:rPr>
              <a:t>   	</a:t>
            </a:r>
            <a:r>
              <a:rPr lang="en-US" altLang="zh-CN" sz="2400" i="1">
                <a:solidFill>
                  <a:srgbClr val="000000"/>
                </a:solidFill>
                <a:latin typeface="Times New Roman" panose="02020603050405020304" pitchFamily="18" charset="0"/>
                <a:ea typeface="宋体" panose="02010600030101010101" pitchFamily="2" charset="-122"/>
                <a:sym typeface="+mn-ea"/>
              </a:rPr>
              <a:t>d</a:t>
            </a:r>
            <a:r>
              <a:rPr lang="en-US" altLang="zh-CN" sz="2400">
                <a:solidFill>
                  <a:srgbClr val="000000"/>
                </a:solidFill>
                <a:latin typeface="Times New Roman" panose="02020603050405020304" pitchFamily="18" charset="0"/>
                <a:ea typeface="宋体" panose="02010600030101010101" pitchFamily="2" charset="-122"/>
                <a:sym typeface="+mn-ea"/>
              </a:rPr>
              <a:t>(1010, 1111) = 2, </a:t>
            </a:r>
            <a:r>
              <a:rPr lang="en-US" altLang="zh-CN" sz="2400" i="1">
                <a:solidFill>
                  <a:srgbClr val="000000"/>
                </a:solidFill>
                <a:latin typeface="Times New Roman" panose="02020603050405020304" pitchFamily="18" charset="0"/>
                <a:ea typeface="宋体" panose="02010600030101010101" pitchFamily="2" charset="-122"/>
                <a:sym typeface="+mn-ea"/>
              </a:rPr>
              <a:t>d</a:t>
            </a:r>
            <a:r>
              <a:rPr lang="en-US" altLang="zh-CN" sz="2400">
                <a:solidFill>
                  <a:srgbClr val="000000"/>
                </a:solidFill>
                <a:latin typeface="Times New Roman" panose="02020603050405020304" pitchFamily="18" charset="0"/>
                <a:ea typeface="宋体" panose="02010600030101010101" pitchFamily="2" charset="-122"/>
                <a:sym typeface="+mn-ea"/>
              </a:rPr>
              <a:t>(0101, 1111) = 2.</a:t>
            </a:r>
            <a:endParaRPr lang="en-US" altLang="zh-CN" sz="2400">
              <a:solidFill>
                <a:srgbClr val="000000"/>
              </a:solidFill>
              <a:latin typeface="Times New Roman" panose="02020603050405020304" pitchFamily="18" charset="0"/>
              <a:ea typeface="宋体" panose="02010600030101010101" pitchFamily="2" charset="-122"/>
            </a:endParaRPr>
          </a:p>
          <a:p>
            <a:pPr eaLnBrk="0" fontAlgn="base" hangingPunct="0">
              <a:spcBef>
                <a:spcPct val="0"/>
              </a:spcBef>
              <a:spcAft>
                <a:spcPct val="0"/>
              </a:spcAft>
            </a:pPr>
            <a:r>
              <a:rPr lang="en-US" altLang="zh-CN" sz="240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该码的最小距离是</a:t>
            </a:r>
            <a:r>
              <a:rPr lang="en-US" altLang="zh-CN" sz="2400">
                <a:solidFill>
                  <a:srgbClr val="000000"/>
                </a:solidFill>
                <a:latin typeface="Times New Roman" panose="02020603050405020304" pitchFamily="18" charset="0"/>
                <a:ea typeface="宋体" panose="02010600030101010101" pitchFamily="2" charset="-122"/>
                <a:sym typeface="+mn-ea"/>
              </a:rPr>
              <a:t>2</a:t>
            </a:r>
            <a:r>
              <a:rPr lang="en-US" altLang="zh-CN" sz="240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并且该码的最小重量也是</a:t>
            </a:r>
            <a:r>
              <a:rPr lang="en-US" altLang="zh-CN" sz="2400">
                <a:solidFill>
                  <a:srgbClr val="000000"/>
                </a:solidFill>
                <a:latin typeface="Times New Roman" panose="02020603050405020304" pitchFamily="18" charset="0"/>
                <a:ea typeface="宋体" panose="02010600030101010101" pitchFamily="2" charset="-122"/>
                <a:sym typeface="+mn-ea"/>
              </a:rPr>
              <a:t>2</a:t>
            </a:r>
            <a:endParaRPr lang="en-US" altLang="zh-CN" sz="2400">
              <a:solidFill>
                <a:srgbClr val="000000"/>
              </a:solidFill>
              <a:latin typeface="Times New Roman" panose="02020603050405020304" pitchFamily="18" charset="0"/>
              <a:ea typeface="宋体" panose="02010600030101010101" pitchFamily="2" charset="-122"/>
            </a:endParaRPr>
          </a:p>
          <a:p>
            <a:pPr eaLnBrk="0" fontAlgn="base" hangingPunct="0">
              <a:spcBef>
                <a:spcPct val="0"/>
              </a:spcBef>
              <a:spcAft>
                <a:spcPct val="0"/>
              </a:spcAft>
            </a:pPr>
            <a:r>
              <a:rPr lang="en-US" altLang="zh-CN" sz="240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所以最小距离和最小重量是相等的。</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42966" y="104775"/>
            <a:ext cx="445833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纠错和检错能力举例</a:t>
            </a:r>
          </a:p>
        </p:txBody>
      </p:sp>
      <p:sp>
        <p:nvSpPr>
          <p:cNvPr id="7" name="文本框 6"/>
          <p:cNvSpPr txBox="1"/>
          <p:nvPr/>
        </p:nvSpPr>
        <p:spPr>
          <a:xfrm>
            <a:off x="1854201" y="1136016"/>
            <a:ext cx="8474075" cy="152971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FF0000"/>
                </a:solidFill>
                <a:latin typeface="黑体" panose="02010609060101010101" pitchFamily="49" charset="-122"/>
                <a:ea typeface="黑体" panose="02010609060101010101" pitchFamily="49" charset="-122"/>
                <a:sym typeface="+mn-ea"/>
              </a:rPr>
              <a:t>例</a:t>
            </a:r>
            <a:r>
              <a:rPr lang="en-US" altLang="zh-CN"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400" dirty="0">
                <a:solidFill>
                  <a:srgbClr val="FF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={000,111}</a:t>
            </a:r>
            <a:r>
              <a:rPr lang="zh-CN" altLang="en-US" sz="2400" dirty="0">
                <a:solidFill>
                  <a:srgbClr val="000000"/>
                </a:solidFill>
                <a:latin typeface="黑体" panose="02010609060101010101" pitchFamily="49" charset="-122"/>
                <a:ea typeface="黑体" panose="02010609060101010101" pitchFamily="49" charset="-122"/>
                <a:sym typeface="+mn-ea"/>
              </a:rPr>
              <a:t>，码的最小距离是</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黑体" panose="02010609060101010101" pitchFamily="49" charset="-122"/>
                <a:ea typeface="黑体" panose="02010609060101010101" pitchFamily="49" charset="-122"/>
                <a:sym typeface="+mn-ea"/>
              </a:rPr>
              <a:t>，因此重量为</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和</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黑体" panose="02010609060101010101" pitchFamily="49" charset="-122"/>
                <a:ea typeface="黑体" panose="02010609060101010101" pitchFamily="49" charset="-122"/>
                <a:sym typeface="+mn-ea"/>
              </a:rPr>
              <a:t>个错误图样可以被检测出来，即错误图样如果为</a:t>
            </a:r>
            <a:r>
              <a:rPr lang="en-US" altLang="zh-CN" sz="2400">
                <a:solidFill>
                  <a:srgbClr val="000000"/>
                </a:solidFill>
                <a:latin typeface="Times New Roman" panose="02020603050405020304" pitchFamily="18" charset="0"/>
                <a:ea typeface="黑体" panose="02010609060101010101" pitchFamily="49" charset="-122"/>
                <a:sym typeface="+mn-ea"/>
              </a:rPr>
              <a:t>{011,101,110,001, 010,100}</a:t>
            </a:r>
            <a:r>
              <a:rPr lang="zh-CN" altLang="en-US" sz="2400" dirty="0">
                <a:solidFill>
                  <a:srgbClr val="000000"/>
                </a:solidFill>
                <a:latin typeface="黑体" panose="02010609060101010101" pitchFamily="49" charset="-122"/>
                <a:ea typeface="黑体" panose="02010609060101010101" pitchFamily="49" charset="-122"/>
                <a:sym typeface="+mn-ea"/>
              </a:rPr>
              <a:t>，就可以被检测出来。</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5" name="文本框 4"/>
          <p:cNvSpPr txBox="1"/>
          <p:nvPr/>
        </p:nvSpPr>
        <p:spPr>
          <a:xfrm>
            <a:off x="1830071" y="3378836"/>
            <a:ext cx="8474075" cy="200977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dirty="0">
                <a:solidFill>
                  <a:srgbClr val="FF0000"/>
                </a:solidFill>
                <a:latin typeface="黑体" panose="02010609060101010101" pitchFamily="49" charset="-122"/>
                <a:ea typeface="黑体" panose="02010609060101010101" pitchFamily="49" charset="-122"/>
                <a:sym typeface="+mn-ea"/>
              </a:rPr>
              <a:t>例</a:t>
            </a:r>
            <a:r>
              <a:rPr lang="en-US" altLang="zh-CN"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400" dirty="0">
                <a:solidFill>
                  <a:srgbClr val="FF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对于码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={001,110,101}</a:t>
            </a:r>
            <a:r>
              <a:rPr lang="zh-CN" altLang="en-US" sz="2400" dirty="0">
                <a:solidFill>
                  <a:srgbClr val="000000"/>
                </a:solidFill>
                <a:latin typeface="黑体" panose="02010609060101010101" pitchFamily="49" charset="-122"/>
                <a:ea typeface="黑体" panose="02010609060101010101" pitchFamily="49" charset="-122"/>
                <a:sym typeface="+mn-ea"/>
              </a:rPr>
              <a:t>，码的最小距离是</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，由于</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zh-CN" sz="2400">
                <a:solidFill>
                  <a:srgbClr val="000000"/>
                </a:solidFill>
                <a:latin typeface="Times New Roman" panose="02020603050405020304" pitchFamily="18" charset="0"/>
                <a:ea typeface="黑体" panose="02010609060101010101" pitchFamily="49" charset="-122"/>
                <a:sym typeface="+mn-ea"/>
              </a:rPr>
              <a:t>-1=0</a:t>
            </a:r>
            <a:r>
              <a:rPr lang="zh-CN" altLang="en-US" sz="2400" dirty="0">
                <a:solidFill>
                  <a:srgbClr val="000000"/>
                </a:solidFill>
                <a:latin typeface="黑体" panose="02010609060101010101" pitchFamily="49" charset="-122"/>
                <a:ea typeface="黑体" panose="02010609060101010101" pitchFamily="49" charset="-122"/>
                <a:sym typeface="+mn-ea"/>
              </a:rPr>
              <a:t>，所以我们什么都不能说。重量为</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的错误图样</a:t>
            </a:r>
            <a:r>
              <a:rPr lang="en-US" altLang="zh-CN" sz="2400">
                <a:solidFill>
                  <a:srgbClr val="000000"/>
                </a:solidFill>
                <a:latin typeface="Times New Roman" panose="02020603050405020304" pitchFamily="18" charset="0"/>
                <a:ea typeface="黑体" panose="02010609060101010101" pitchFamily="49" charset="-122"/>
                <a:sym typeface="+mn-ea"/>
              </a:rPr>
              <a:t>010</a:t>
            </a:r>
            <a:r>
              <a:rPr lang="zh-CN" altLang="en-US" sz="2400" dirty="0">
                <a:solidFill>
                  <a:srgbClr val="000000"/>
                </a:solidFill>
                <a:latin typeface="黑体" panose="02010609060101010101" pitchFamily="49" charset="-122"/>
                <a:ea typeface="黑体" panose="02010609060101010101" pitchFamily="49" charset="-122"/>
                <a:sym typeface="+mn-ea"/>
              </a:rPr>
              <a:t>可以被检测出来，但是该码不能检测所有重量为</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的错误图样，比如错误图样</a:t>
            </a:r>
            <a:r>
              <a:rPr lang="en-US" altLang="zh-CN" sz="2400">
                <a:solidFill>
                  <a:srgbClr val="000000"/>
                </a:solidFill>
                <a:latin typeface="Times New Roman" panose="02020603050405020304" pitchFamily="18" charset="0"/>
                <a:ea typeface="黑体" panose="02010609060101010101" pitchFamily="49" charset="-122"/>
                <a:sym typeface="+mn-ea"/>
              </a:rPr>
              <a:t>100</a:t>
            </a:r>
            <a:r>
              <a:rPr lang="zh-CN" altLang="en-US" sz="2400" dirty="0">
                <a:solidFill>
                  <a:srgbClr val="000000"/>
                </a:solidFill>
                <a:latin typeface="黑体" panose="02010609060101010101" pitchFamily="49" charset="-122"/>
                <a:ea typeface="黑体" panose="02010609060101010101" pitchFamily="49" charset="-122"/>
                <a:sym typeface="+mn-ea"/>
              </a:rPr>
              <a:t>就不能被检测出来。</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一致校验矩阵与码间最小距离</a:t>
            </a:r>
          </a:p>
        </p:txBody>
      </p:sp>
      <p:sp>
        <p:nvSpPr>
          <p:cNvPr id="7" name="文本框 6"/>
          <p:cNvSpPr txBox="1"/>
          <p:nvPr/>
        </p:nvSpPr>
        <p:spPr>
          <a:xfrm>
            <a:off x="1854201" y="909321"/>
            <a:ext cx="8474075" cy="2676525"/>
          </a:xfrm>
          <a:prstGeom prst="rect">
            <a:avLst/>
          </a:prstGeom>
          <a:noFill/>
        </p:spPr>
        <p:txBody>
          <a:bodyPr wrap="square" rtlCol="0" anchor="t">
            <a:spAutoFit/>
          </a:bodyPr>
          <a:lstStyle/>
          <a:p>
            <a:pPr algn="just" eaLnBrk="0" fontAlgn="base" hangingPunct="0">
              <a:lnSpc>
                <a:spcPct val="150000"/>
              </a:lnSpc>
              <a:spcBef>
                <a:spcPct val="0"/>
              </a:spcBef>
              <a:spcAft>
                <a:spcPct val="0"/>
              </a:spcAft>
            </a:pP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800" dirty="0">
                <a:solidFill>
                  <a:srgbClr val="000000"/>
                </a:solidFill>
                <a:latin typeface="Arial" panose="020B0604020202020204" pitchFamily="34" charset="0"/>
                <a:ea typeface="黑体" panose="02010609060101010101" pitchFamily="49" charset="-122"/>
                <a:sym typeface="+mn-ea"/>
              </a:rPr>
              <a:t>令</a:t>
            </a:r>
            <a:r>
              <a:rPr lang="en-US" altLang="zh-CN" sz="2800" i="1">
                <a:solidFill>
                  <a:srgbClr val="000000"/>
                </a:solidFill>
                <a:latin typeface="Times New Roman" panose="02020603050405020304" pitchFamily="18" charset="0"/>
                <a:ea typeface="黑体" panose="02010609060101010101" pitchFamily="49" charset="-122"/>
                <a:sym typeface="+mn-ea"/>
              </a:rPr>
              <a:t>C</a:t>
            </a:r>
            <a:r>
              <a:rPr lang="zh-CN" altLang="en-US" sz="2800" dirty="0">
                <a:solidFill>
                  <a:srgbClr val="000000"/>
                </a:solidFill>
                <a:latin typeface="Arial" panose="020B0604020202020204" pitchFamily="34" charset="0"/>
                <a:ea typeface="黑体" panose="02010609060101010101" pitchFamily="49" charset="-122"/>
                <a:sym typeface="+mn-ea"/>
              </a:rPr>
              <a:t>是一致校验矩阵为</a:t>
            </a:r>
            <a:r>
              <a:rPr lang="en-US" altLang="zh-CN" sz="2800" i="1">
                <a:solidFill>
                  <a:srgbClr val="000000"/>
                </a:solidFill>
                <a:latin typeface="Times New Roman" panose="02020603050405020304" pitchFamily="18" charset="0"/>
                <a:ea typeface="黑体" panose="02010609060101010101" pitchFamily="49" charset="-122"/>
                <a:sym typeface="+mn-ea"/>
              </a:rPr>
              <a:t>H</a:t>
            </a:r>
            <a:r>
              <a:rPr lang="zh-CN" altLang="en-US" sz="2800" dirty="0">
                <a:solidFill>
                  <a:srgbClr val="000000"/>
                </a:solidFill>
                <a:latin typeface="Arial" panose="020B0604020202020204" pitchFamily="34" charset="0"/>
                <a:ea typeface="黑体" panose="02010609060101010101" pitchFamily="49" charset="-122"/>
                <a:sym typeface="+mn-ea"/>
              </a:rPr>
              <a:t>的</a:t>
            </a:r>
            <a:r>
              <a:rPr lang="en-US" altLang="zh-CN" sz="2800">
                <a:solidFill>
                  <a:srgbClr val="000000"/>
                </a:solidFill>
                <a:latin typeface="Times New Roman" panose="02020603050405020304" pitchFamily="18" charset="0"/>
                <a:ea typeface="黑体" panose="02010609060101010101" pitchFamily="49" charset="-122"/>
                <a:sym typeface="+mn-ea"/>
              </a:rPr>
              <a:t>(</a:t>
            </a:r>
            <a:r>
              <a:rPr lang="en-US" altLang="zh-CN" sz="2800" i="1" err="1">
                <a:solidFill>
                  <a:srgbClr val="000000"/>
                </a:solidFill>
                <a:latin typeface="Times New Roman" panose="02020603050405020304" pitchFamily="18" charset="0"/>
                <a:ea typeface="黑体" panose="02010609060101010101" pitchFamily="49" charset="-122"/>
                <a:sym typeface="+mn-ea"/>
              </a:rPr>
              <a:t>n</a:t>
            </a:r>
            <a:r>
              <a:rPr lang="en-US" altLang="zh-CN" sz="2800" err="1">
                <a:solidFill>
                  <a:srgbClr val="000000"/>
                </a:solidFill>
                <a:latin typeface="Times New Roman" panose="02020603050405020304" pitchFamily="18" charset="0"/>
                <a:ea typeface="黑体" panose="02010609060101010101" pitchFamily="49" charset="-122"/>
                <a:sym typeface="+mn-ea"/>
              </a:rPr>
              <a:t>,</a:t>
            </a:r>
            <a:r>
              <a:rPr lang="en-US" altLang="zh-CN" sz="2800" i="1" err="1">
                <a:solidFill>
                  <a:srgbClr val="000000"/>
                </a:solidFill>
                <a:latin typeface="Times New Roman" panose="02020603050405020304" pitchFamily="18" charset="0"/>
                <a:ea typeface="黑体" panose="02010609060101010101" pitchFamily="49" charset="-122"/>
                <a:sym typeface="+mn-ea"/>
              </a:rPr>
              <a:t>k</a:t>
            </a:r>
            <a:r>
              <a:rPr lang="en-US" altLang="zh-CN" sz="2800">
                <a:solidFill>
                  <a:srgbClr val="000000"/>
                </a:solidFill>
                <a:latin typeface="Times New Roman" panose="02020603050405020304" pitchFamily="18" charset="0"/>
                <a:ea typeface="黑体" panose="02010609060101010101" pitchFamily="49" charset="-122"/>
                <a:sym typeface="+mn-ea"/>
              </a:rPr>
              <a:t>)</a:t>
            </a:r>
            <a:r>
              <a:rPr lang="zh-CN" altLang="en-US" sz="2800" dirty="0">
                <a:solidFill>
                  <a:srgbClr val="000000"/>
                </a:solidFill>
                <a:latin typeface="Arial" panose="020B0604020202020204" pitchFamily="34" charset="0"/>
                <a:ea typeface="黑体" panose="02010609060101010101" pitchFamily="49" charset="-122"/>
                <a:sym typeface="+mn-ea"/>
              </a:rPr>
              <a:t>线性码：</a:t>
            </a:r>
            <a:endParaRPr lang="zh-CN" altLang="en-US" sz="2800">
              <a:solidFill>
                <a:srgbClr val="000000"/>
              </a:solidFill>
              <a:latin typeface="Arial" panose="020B0604020202020204" pitchFamily="34" charset="0"/>
              <a:ea typeface="黑体" panose="02010609060101010101" pitchFamily="49" charset="-122"/>
            </a:endParaRPr>
          </a:p>
          <a:p>
            <a:pPr lvl="1" eaLnBrk="0" fontAlgn="base" hangingPunct="0">
              <a:lnSpc>
                <a:spcPct val="150000"/>
              </a:lnSpc>
              <a:spcBef>
                <a:spcPct val="0"/>
              </a:spcBef>
              <a:spcAft>
                <a:spcPct val="0"/>
              </a:spcAft>
            </a:pPr>
            <a:r>
              <a:rPr lang="en-US" altLang="zh-CN" sz="2800">
                <a:solidFill>
                  <a:srgbClr val="000000"/>
                </a:solidFill>
                <a:latin typeface="Times New Roman" panose="02020603050405020304" pitchFamily="18" charset="0"/>
                <a:ea typeface="黑体" panose="02010609060101010101" pitchFamily="49" charset="-122"/>
                <a:sym typeface="+mn-ea"/>
              </a:rPr>
              <a:t>1)</a:t>
            </a:r>
            <a:r>
              <a:rPr lang="en-US" altLang="zh-CN" sz="2800">
                <a:solidFill>
                  <a:srgbClr val="000000"/>
                </a:solidFill>
                <a:latin typeface="Arial" panose="020B0604020202020204" pitchFamily="34" charset="0"/>
                <a:ea typeface="黑体" panose="02010609060101010101" pitchFamily="49" charset="-122"/>
                <a:sym typeface="+mn-ea"/>
              </a:rPr>
              <a:t> </a:t>
            </a:r>
            <a:r>
              <a:rPr lang="zh-CN" altLang="en-US" sz="2800" dirty="0">
                <a:solidFill>
                  <a:srgbClr val="000000"/>
                </a:solidFill>
                <a:latin typeface="Arial" panose="020B0604020202020204" pitchFamily="34" charset="0"/>
                <a:ea typeface="黑体" panose="02010609060101010101" pitchFamily="49" charset="-122"/>
                <a:sym typeface="+mn-ea"/>
              </a:rPr>
              <a:t>若</a:t>
            </a:r>
            <a:r>
              <a:rPr lang="en-US" altLang="zh-CN" sz="2800" i="1">
                <a:solidFill>
                  <a:srgbClr val="000000"/>
                </a:solidFill>
                <a:latin typeface="Times New Roman" panose="02020603050405020304" pitchFamily="18" charset="0"/>
                <a:ea typeface="黑体" panose="02010609060101010101" pitchFamily="49" charset="-122"/>
                <a:sym typeface="+mn-ea"/>
              </a:rPr>
              <a:t>H</a:t>
            </a:r>
            <a:r>
              <a:rPr lang="zh-CN" altLang="en-US" sz="2800" dirty="0">
                <a:solidFill>
                  <a:srgbClr val="000000"/>
                </a:solidFill>
                <a:latin typeface="Arial" panose="020B0604020202020204" pitchFamily="34" charset="0"/>
                <a:ea typeface="黑体" panose="02010609060101010101" pitchFamily="49" charset="-122"/>
                <a:sym typeface="+mn-ea"/>
              </a:rPr>
              <a:t>中没有</a:t>
            </a:r>
            <a:r>
              <a:rPr lang="en-US" altLang="zh-CN" sz="2800" i="1">
                <a:solidFill>
                  <a:srgbClr val="000000"/>
                </a:solidFill>
                <a:latin typeface="Times New Roman" panose="02020603050405020304" pitchFamily="18" charset="0"/>
                <a:ea typeface="黑体" panose="02010609060101010101" pitchFamily="49" charset="-122"/>
                <a:sym typeface="+mn-ea"/>
              </a:rPr>
              <a:t>d</a:t>
            </a:r>
            <a:r>
              <a:rPr lang="en-US" altLang="zh-CN" sz="2800">
                <a:solidFill>
                  <a:srgbClr val="000000"/>
                </a:solidFill>
                <a:latin typeface="Times New Roman" panose="02020603050405020304" pitchFamily="18" charset="0"/>
                <a:ea typeface="黑体" panose="02010609060101010101" pitchFamily="49" charset="-122"/>
                <a:sym typeface="+mn-ea"/>
              </a:rPr>
              <a:t>-1</a:t>
            </a:r>
            <a:r>
              <a:rPr lang="zh-CN" altLang="en-US" sz="2800" dirty="0">
                <a:solidFill>
                  <a:srgbClr val="000000"/>
                </a:solidFill>
                <a:latin typeface="Arial" panose="020B0604020202020204" pitchFamily="34" charset="0"/>
                <a:ea typeface="黑体" panose="02010609060101010101" pitchFamily="49" charset="-122"/>
                <a:sym typeface="+mn-ea"/>
              </a:rPr>
              <a:t>列或者更少的列矢量和为</a:t>
            </a:r>
            <a:r>
              <a:rPr lang="en-US" altLang="zh-CN" sz="2800">
                <a:solidFill>
                  <a:srgbClr val="000000"/>
                </a:solidFill>
                <a:latin typeface="Times New Roman" panose="02020603050405020304" pitchFamily="18" charset="0"/>
                <a:ea typeface="黑体" panose="02010609060101010101" pitchFamily="49" charset="-122"/>
                <a:sym typeface="+mn-ea"/>
              </a:rPr>
              <a:t>0</a:t>
            </a:r>
            <a:r>
              <a:rPr lang="zh-CN" altLang="en-US" sz="2800" dirty="0">
                <a:solidFill>
                  <a:srgbClr val="000000"/>
                </a:solidFill>
                <a:latin typeface="Arial" panose="020B0604020202020204" pitchFamily="34" charset="0"/>
                <a:ea typeface="黑体" panose="02010609060101010101" pitchFamily="49" charset="-122"/>
                <a:sym typeface="+mn-ea"/>
              </a:rPr>
              <a:t>，则</a:t>
            </a:r>
            <a:r>
              <a:rPr lang="en-US" altLang="zh-CN" sz="2800" i="1">
                <a:solidFill>
                  <a:srgbClr val="000000"/>
                </a:solidFill>
                <a:latin typeface="Times New Roman" panose="02020603050405020304" pitchFamily="18" charset="0"/>
                <a:ea typeface="黑体" panose="02010609060101010101" pitchFamily="49" charset="-122"/>
                <a:sym typeface="+mn-ea"/>
              </a:rPr>
              <a:t>C</a:t>
            </a:r>
            <a:r>
              <a:rPr lang="zh-CN" altLang="en-US" sz="2800" dirty="0">
                <a:solidFill>
                  <a:srgbClr val="000000"/>
                </a:solidFill>
                <a:latin typeface="Arial" panose="020B0604020202020204" pitchFamily="34" charset="0"/>
                <a:ea typeface="黑体" panose="02010609060101010101" pitchFamily="49" charset="-122"/>
                <a:sym typeface="+mn-ea"/>
              </a:rPr>
              <a:t>的最小码间距离至少为</a:t>
            </a:r>
            <a:r>
              <a:rPr lang="en-US" altLang="zh-CN" sz="2800" i="1">
                <a:solidFill>
                  <a:srgbClr val="000000"/>
                </a:solidFill>
                <a:latin typeface="Times New Roman" panose="02020603050405020304" pitchFamily="18" charset="0"/>
                <a:ea typeface="黑体" panose="02010609060101010101" pitchFamily="49" charset="-122"/>
                <a:sym typeface="+mn-ea"/>
              </a:rPr>
              <a:t>d</a:t>
            </a:r>
            <a:r>
              <a:rPr lang="en-US" altLang="zh-CN" sz="2800">
                <a:solidFill>
                  <a:srgbClr val="000000"/>
                </a:solidFill>
                <a:latin typeface="Times New Roman" panose="02020603050405020304" pitchFamily="18" charset="0"/>
                <a:ea typeface="黑体" panose="02010609060101010101" pitchFamily="49" charset="-122"/>
                <a:sym typeface="+mn-ea"/>
              </a:rPr>
              <a:t>;</a:t>
            </a:r>
            <a:endParaRPr lang="en-US" altLang="zh-CN" sz="2800" i="1">
              <a:solidFill>
                <a:srgbClr val="000000"/>
              </a:solidFill>
              <a:latin typeface="Times New Roman" panose="02020603050405020304" pitchFamily="18" charset="0"/>
              <a:ea typeface="黑体" panose="02010609060101010101" pitchFamily="49" charset="-122"/>
            </a:endParaRPr>
          </a:p>
          <a:p>
            <a:pPr lvl="1" eaLnBrk="0" fontAlgn="base" hangingPunct="0">
              <a:lnSpc>
                <a:spcPct val="150000"/>
              </a:lnSpc>
              <a:spcBef>
                <a:spcPct val="0"/>
              </a:spcBef>
              <a:spcAft>
                <a:spcPct val="0"/>
              </a:spcAft>
            </a:pPr>
            <a:r>
              <a:rPr lang="en-US" altLang="zh-CN" sz="2800">
                <a:solidFill>
                  <a:srgbClr val="000000"/>
                </a:solidFill>
                <a:latin typeface="Times New Roman" panose="02020603050405020304" pitchFamily="18" charset="0"/>
                <a:ea typeface="黑体" panose="02010609060101010101" pitchFamily="49" charset="-122"/>
                <a:sym typeface="+mn-ea"/>
              </a:rPr>
              <a:t>2)</a:t>
            </a:r>
            <a:r>
              <a:rPr lang="en-US" altLang="zh-CN" sz="2800">
                <a:solidFill>
                  <a:srgbClr val="000000"/>
                </a:solidFill>
                <a:latin typeface="Arial" panose="020B0604020202020204" pitchFamily="34" charset="0"/>
                <a:ea typeface="黑体" panose="02010609060101010101" pitchFamily="49" charset="-122"/>
                <a:sym typeface="+mn-ea"/>
              </a:rPr>
              <a:t> </a:t>
            </a:r>
            <a:r>
              <a:rPr lang="en-US" altLang="zh-CN" sz="2800" i="1">
                <a:solidFill>
                  <a:srgbClr val="000000"/>
                </a:solidFill>
                <a:latin typeface="Times New Roman" panose="02020603050405020304" pitchFamily="18" charset="0"/>
                <a:ea typeface="黑体" panose="02010609060101010101" pitchFamily="49" charset="-122"/>
                <a:sym typeface="+mn-ea"/>
              </a:rPr>
              <a:t>C</a:t>
            </a:r>
            <a:r>
              <a:rPr lang="zh-CN" altLang="en-US" sz="2800" dirty="0">
                <a:solidFill>
                  <a:srgbClr val="000000"/>
                </a:solidFill>
                <a:latin typeface="Arial" panose="020B0604020202020204" pitchFamily="34" charset="0"/>
                <a:ea typeface="黑体" panose="02010609060101010101" pitchFamily="49" charset="-122"/>
                <a:sym typeface="+mn-ea"/>
              </a:rPr>
              <a:t>的最小码间距离等于</a:t>
            </a:r>
            <a:r>
              <a:rPr lang="en-US" altLang="zh-CN" sz="2800" i="1">
                <a:solidFill>
                  <a:srgbClr val="000000"/>
                </a:solidFill>
                <a:latin typeface="Times New Roman" panose="02020603050405020304" pitchFamily="18" charset="0"/>
                <a:ea typeface="黑体" panose="02010609060101010101" pitchFamily="49" charset="-122"/>
                <a:sym typeface="+mn-ea"/>
              </a:rPr>
              <a:t>H</a:t>
            </a:r>
            <a:r>
              <a:rPr lang="zh-CN" altLang="en-US" sz="2800" dirty="0">
                <a:solidFill>
                  <a:srgbClr val="000000"/>
                </a:solidFill>
                <a:latin typeface="Arial" panose="020B0604020202020204" pitchFamily="34" charset="0"/>
                <a:ea typeface="黑体" panose="02010609060101010101" pitchFamily="49" charset="-122"/>
                <a:sym typeface="+mn-ea"/>
              </a:rPr>
              <a:t>中和为</a:t>
            </a:r>
            <a:r>
              <a:rPr lang="en-US" altLang="zh-CN" sz="2800">
                <a:solidFill>
                  <a:srgbClr val="000000"/>
                </a:solidFill>
                <a:latin typeface="Times New Roman" panose="02020603050405020304" pitchFamily="18" charset="0"/>
                <a:ea typeface="黑体" panose="02010609060101010101" pitchFamily="49" charset="-122"/>
                <a:sym typeface="+mn-ea"/>
              </a:rPr>
              <a:t>0</a:t>
            </a:r>
            <a:r>
              <a:rPr lang="zh-CN" altLang="en-US" sz="2800" dirty="0">
                <a:solidFill>
                  <a:srgbClr val="000000"/>
                </a:solidFill>
                <a:latin typeface="Arial" panose="020B0604020202020204" pitchFamily="34" charset="0"/>
                <a:ea typeface="黑体" panose="02010609060101010101" pitchFamily="49" charset="-122"/>
                <a:sym typeface="+mn-ea"/>
              </a:rPr>
              <a:t>的最小列数。</a:t>
            </a:r>
            <a:endParaRPr lang="en-US" altLang="zh-CN" sz="28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构造标准阵的步骤</a:t>
            </a:r>
          </a:p>
        </p:txBody>
      </p:sp>
      <p:sp>
        <p:nvSpPr>
          <p:cNvPr id="7" name="文本框 6"/>
          <p:cNvSpPr txBox="1"/>
          <p:nvPr/>
        </p:nvSpPr>
        <p:spPr>
          <a:xfrm>
            <a:off x="1854201" y="909321"/>
            <a:ext cx="8474075" cy="3969385"/>
          </a:xfrm>
          <a:prstGeom prst="rect">
            <a:avLst/>
          </a:prstGeom>
          <a:noFill/>
        </p:spPr>
        <p:txBody>
          <a:bodyPr wrap="square" rtlCol="0" anchor="t">
            <a:spAutoFit/>
          </a:bodyPr>
          <a:lstStyle/>
          <a:p>
            <a:pPr algn="just" eaLnBrk="0" fontAlgn="base" hangingPunct="0">
              <a:lnSpc>
                <a:spcPct val="150000"/>
              </a:lnSpc>
              <a:spcBef>
                <a:spcPct val="0"/>
              </a:spcBef>
              <a:spcAft>
                <a:spcPct val="0"/>
              </a:spcAft>
            </a:pPr>
            <a:r>
              <a:rPr lang="zh-CN" altLang="en-US" sz="2400" dirty="0">
                <a:solidFill>
                  <a:srgbClr val="FF0000"/>
                </a:solidFill>
                <a:latin typeface="Arial" panose="020B0604020202020204" pitchFamily="34" charset="0"/>
                <a:ea typeface="黑体" panose="02010609060101010101" pitchFamily="49" charset="-122"/>
                <a:sym typeface="+mn-ea"/>
              </a:rPr>
              <a:t>步骤</a:t>
            </a:r>
            <a:r>
              <a:rPr lang="en-US" altLang="zh-CN" sz="2400">
                <a:solidFill>
                  <a:srgbClr val="FF0000"/>
                </a:solidFill>
                <a:latin typeface="Times New Roman" panose="02020603050405020304" pitchFamily="18" charset="0"/>
                <a:ea typeface="黑体" panose="02010609060101010101" pitchFamily="49" charset="-122"/>
                <a:sym typeface="+mn-ea"/>
              </a:rPr>
              <a:t>1</a:t>
            </a:r>
            <a:r>
              <a:rPr lang="zh-CN" altLang="en-US" sz="2400" dirty="0">
                <a:solidFill>
                  <a:srgbClr val="FF0000"/>
                </a:solidFill>
                <a:latin typeface="Arial" panose="020B0604020202020204" pitchFamily="34"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在第一行写下所有合法的</a:t>
            </a:r>
            <a:r>
              <a:rPr lang="en-US" altLang="zh-CN" sz="2400">
                <a:solidFill>
                  <a:srgbClr val="000000"/>
                </a:solidFill>
                <a:latin typeface="Times New Roman" panose="02020603050405020304" pitchFamily="18" charset="0"/>
                <a:ea typeface="黑体" panose="02010609060101010101" pitchFamily="49" charset="-122"/>
                <a:sym typeface="+mn-ea"/>
              </a:rPr>
              <a:t>2</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Arial" panose="020B0604020202020204" pitchFamily="34" charset="0"/>
                <a:ea typeface="黑体" panose="02010609060101010101" pitchFamily="49" charset="-122"/>
                <a:sym typeface="+mn-ea"/>
              </a:rPr>
              <a:t>个码字</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 v</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i="1" baseline="-25000">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，第一个码字为全零码字；</a:t>
            </a:r>
            <a:endParaRPr lang="zh-CN" altLang="en-US" sz="2400" dirty="0">
              <a:solidFill>
                <a:srgbClr val="000000"/>
              </a:solidFill>
              <a:latin typeface="Arial" panose="020B0604020202020204" pitchFamily="34" charset="0"/>
              <a:ea typeface="黑体" panose="02010609060101010101" pitchFamily="49" charset="-122"/>
            </a:endParaRPr>
          </a:p>
          <a:p>
            <a:pPr algn="just" eaLnBrk="0" fontAlgn="base" hangingPunct="0">
              <a:lnSpc>
                <a:spcPct val="150000"/>
              </a:lnSpc>
              <a:spcBef>
                <a:spcPct val="0"/>
              </a:spcBef>
              <a:spcAft>
                <a:spcPct val="0"/>
              </a:spcAft>
            </a:pPr>
            <a:r>
              <a:rPr lang="zh-CN" altLang="en-US" sz="2400" dirty="0">
                <a:solidFill>
                  <a:srgbClr val="FF0000"/>
                </a:solidFill>
                <a:latin typeface="Arial" panose="020B0604020202020204" pitchFamily="34" charset="0"/>
                <a:ea typeface="黑体" panose="02010609060101010101" pitchFamily="49" charset="-122"/>
                <a:sym typeface="+mn-ea"/>
              </a:rPr>
              <a:t>步骤</a:t>
            </a:r>
            <a:r>
              <a:rPr lang="en-US" altLang="zh-CN" sz="2400">
                <a:solidFill>
                  <a:srgbClr val="FF0000"/>
                </a:solidFill>
                <a:latin typeface="Times New Roman" panose="02020603050405020304" pitchFamily="18" charset="0"/>
                <a:ea typeface="黑体" panose="02010609060101010101" pitchFamily="49" charset="-122"/>
                <a:sym typeface="+mn-ea"/>
              </a:rPr>
              <a:t>2</a:t>
            </a:r>
            <a:r>
              <a:rPr lang="zh-CN" altLang="en-US" sz="2400" dirty="0">
                <a:solidFill>
                  <a:srgbClr val="FF0000"/>
                </a:solidFill>
                <a:latin typeface="Arial" panose="020B0604020202020204" pitchFamily="34"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选择一个第一行没有出现的矢量作为</a:t>
            </a:r>
            <a:r>
              <a:rPr lang="en-US" altLang="zh-CN" sz="2400" i="1">
                <a:solidFill>
                  <a:srgbClr val="000000"/>
                </a:solidFill>
                <a:latin typeface="Times New Roman" panose="02020603050405020304" pitchFamily="18" charset="0"/>
                <a:ea typeface="黑体" panose="02010609060101010101" pitchFamily="49" charset="-122"/>
                <a:sym typeface="+mn-ea"/>
              </a:rPr>
              <a:t>e</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Arial" panose="020B0604020202020204" pitchFamily="34" charset="0"/>
                <a:ea typeface="黑体" panose="02010609060101010101" pitchFamily="49" charset="-122"/>
                <a:sym typeface="+mn-ea"/>
              </a:rPr>
              <a:t>，标准阵第</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Arial" panose="020B0604020202020204" pitchFamily="34" charset="0"/>
                <a:ea typeface="黑体" panose="02010609060101010101" pitchFamily="49" charset="-122"/>
                <a:sym typeface="+mn-ea"/>
              </a:rPr>
              <a:t>行写</a:t>
            </a:r>
            <a:r>
              <a:rPr lang="en-US" altLang="zh-CN" sz="2400" i="1">
                <a:solidFill>
                  <a:srgbClr val="000000"/>
                </a:solidFill>
                <a:latin typeface="Times New Roman" panose="02020603050405020304" pitchFamily="18" charset="0"/>
                <a:ea typeface="黑体" panose="02010609060101010101" pitchFamily="49" charset="-122"/>
                <a:sym typeface="+mn-ea"/>
              </a:rPr>
              <a:t>e</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zh-CN" altLang="en-US" sz="2400" dirty="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endParaRPr>
          </a:p>
          <a:p>
            <a:pPr algn="just" eaLnBrk="0" fontAlgn="base" hangingPunct="0">
              <a:lnSpc>
                <a:spcPct val="150000"/>
              </a:lnSpc>
              <a:spcBef>
                <a:spcPct val="0"/>
              </a:spcBef>
              <a:spcAft>
                <a:spcPct val="0"/>
              </a:spcAft>
            </a:pPr>
            <a:r>
              <a:rPr lang="zh-CN" altLang="en-US" sz="2400" dirty="0">
                <a:solidFill>
                  <a:srgbClr val="FF0000"/>
                </a:solidFill>
                <a:latin typeface="Arial" panose="020B0604020202020204" pitchFamily="34" charset="0"/>
                <a:ea typeface="黑体" panose="02010609060101010101" pitchFamily="49" charset="-122"/>
                <a:sym typeface="+mn-ea"/>
              </a:rPr>
              <a:t>步骤</a:t>
            </a:r>
            <a:r>
              <a:rPr lang="en-US" altLang="zh-CN" sz="2400">
                <a:solidFill>
                  <a:srgbClr val="FF0000"/>
                </a:solidFill>
                <a:latin typeface="Times New Roman" panose="02020603050405020304" pitchFamily="18" charset="0"/>
                <a:ea typeface="黑体" panose="02010609060101010101" pitchFamily="49" charset="-122"/>
                <a:sym typeface="+mn-ea"/>
              </a:rPr>
              <a:t>3</a:t>
            </a:r>
            <a:r>
              <a:rPr lang="zh-CN" altLang="en-US" sz="2400" dirty="0">
                <a:solidFill>
                  <a:srgbClr val="FF0000"/>
                </a:solidFill>
                <a:latin typeface="Arial" panose="020B0604020202020204" pitchFamily="34"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继续选择一个第一行和第二行都没有出现的矢量</a:t>
            </a:r>
            <a:r>
              <a:rPr lang="en-US" altLang="zh-CN" sz="2400" i="1">
                <a:solidFill>
                  <a:srgbClr val="000000"/>
                </a:solidFill>
                <a:latin typeface="Times New Roman" panose="02020603050405020304" pitchFamily="18" charset="0"/>
                <a:ea typeface="黑体" panose="02010609060101010101" pitchFamily="49" charset="-122"/>
                <a:sym typeface="+mn-ea"/>
              </a:rPr>
              <a:t>e</a:t>
            </a:r>
            <a:r>
              <a:rPr lang="en-US" altLang="zh-CN" sz="2400" baseline="-25000">
                <a:solidFill>
                  <a:srgbClr val="000000"/>
                </a:solidFill>
                <a:latin typeface="Times New Roman" panose="02020603050405020304" pitchFamily="18" charset="0"/>
                <a:ea typeface="黑体" panose="02010609060101010101" pitchFamily="49" charset="-122"/>
                <a:sym typeface="+mn-ea"/>
              </a:rPr>
              <a:t>3 </a:t>
            </a:r>
            <a:r>
              <a:rPr lang="zh-CN" altLang="en-US" sz="2400" dirty="0">
                <a:solidFill>
                  <a:srgbClr val="000000"/>
                </a:solidFill>
                <a:latin typeface="Arial" panose="020B0604020202020204" pitchFamily="34" charset="0"/>
                <a:ea typeface="黑体" panose="02010609060101010101" pitchFamily="49" charset="-122"/>
                <a:sym typeface="+mn-ea"/>
              </a:rPr>
              <a:t>，标准阵第</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Arial" panose="020B0604020202020204" pitchFamily="34" charset="0"/>
                <a:ea typeface="黑体" panose="02010609060101010101" pitchFamily="49" charset="-122"/>
                <a:sym typeface="+mn-ea"/>
              </a:rPr>
              <a:t>行写</a:t>
            </a:r>
            <a:r>
              <a:rPr lang="en-US" altLang="zh-CN" sz="2400" i="1">
                <a:solidFill>
                  <a:srgbClr val="000000"/>
                </a:solidFill>
                <a:latin typeface="Times New Roman" panose="02020603050405020304" pitchFamily="18" charset="0"/>
                <a:ea typeface="黑体" panose="02010609060101010101" pitchFamily="49" charset="-122"/>
                <a:sym typeface="+mn-ea"/>
              </a:rPr>
              <a:t>e</a:t>
            </a:r>
            <a:r>
              <a:rPr lang="en-US" altLang="zh-CN" sz="2400" baseline="-25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zh-CN" altLang="en-US" sz="2400" dirty="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endParaRPr>
          </a:p>
          <a:p>
            <a:pPr algn="just" eaLnBrk="0" fontAlgn="base" hangingPunct="0">
              <a:lnSpc>
                <a:spcPct val="150000"/>
              </a:lnSpc>
              <a:spcBef>
                <a:spcPct val="0"/>
              </a:spcBef>
              <a:spcAft>
                <a:spcPct val="0"/>
              </a:spcAft>
            </a:pPr>
            <a:r>
              <a:rPr lang="zh-CN" altLang="en-US" sz="2400" dirty="0">
                <a:solidFill>
                  <a:srgbClr val="FF0000"/>
                </a:solidFill>
                <a:latin typeface="Arial" panose="020B0604020202020204" pitchFamily="34" charset="0"/>
                <a:ea typeface="黑体" panose="02010609060101010101" pitchFamily="49" charset="-122"/>
                <a:sym typeface="+mn-ea"/>
              </a:rPr>
              <a:t>步骤</a:t>
            </a:r>
            <a:r>
              <a:rPr lang="en-US" altLang="zh-CN" sz="2400">
                <a:solidFill>
                  <a:srgbClr val="FF0000"/>
                </a:solidFill>
                <a:latin typeface="Times New Roman" panose="02020603050405020304" pitchFamily="18" charset="0"/>
                <a:ea typeface="黑体" panose="02010609060101010101" pitchFamily="49" charset="-122"/>
                <a:sym typeface="+mn-ea"/>
              </a:rPr>
              <a:t>4</a:t>
            </a:r>
            <a:r>
              <a:rPr lang="zh-CN" altLang="en-US" sz="2400" dirty="0">
                <a:solidFill>
                  <a:srgbClr val="FF0000"/>
                </a:solidFill>
                <a:latin typeface="Arial" panose="020B0604020202020204" pitchFamily="34"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依次类推，直到</a:t>
            </a:r>
            <a:r>
              <a:rPr lang="en-US" altLang="zh-CN" sz="2400">
                <a:solidFill>
                  <a:srgbClr val="000000"/>
                </a:solidFill>
                <a:latin typeface="Times New Roman" panose="02020603050405020304" pitchFamily="18" charset="0"/>
                <a:ea typeface="黑体" panose="02010609060101010101" pitchFamily="49" charset="-122"/>
                <a:sym typeface="+mn-ea"/>
              </a:rPr>
              <a:t>GF(2</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中所有的矢量都被列出来一次</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陪集首</a:t>
            </a:r>
          </a:p>
        </p:txBody>
      </p:sp>
      <p:sp>
        <p:nvSpPr>
          <p:cNvPr id="9" name="文本框 8"/>
          <p:cNvSpPr txBox="1"/>
          <p:nvPr/>
        </p:nvSpPr>
        <p:spPr>
          <a:xfrm>
            <a:off x="1890396" y="876936"/>
            <a:ext cx="8453755" cy="936347"/>
          </a:xfrm>
          <a:prstGeom prst="rect">
            <a:avLst/>
          </a:prstGeom>
          <a:noFill/>
        </p:spPr>
        <p:txBody>
          <a:bodyPr wrap="square" rtlCol="0" anchor="t">
            <a:spAutoFit/>
          </a:bodyPr>
          <a:lstStyle/>
          <a:p>
            <a:pPr indent="609600" eaLnBrk="0" fontAlgn="base" hangingPunct="0">
              <a:lnSpc>
                <a:spcPct val="120000"/>
              </a:lnSpc>
              <a:spcBef>
                <a:spcPct val="0"/>
              </a:spcBef>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Arial" panose="020B0604020202020204" pitchFamily="34" charset="0"/>
                <a:ea typeface="黑体" panose="02010609060101010101" pitchFamily="49" charset="-122"/>
                <a:sym typeface="+mn-ea"/>
              </a:rPr>
              <a:t>对转移概率为</a:t>
            </a:r>
            <a:r>
              <a:rPr lang="en-US" altLang="zh-CN" sz="2400" i="1">
                <a:solidFill>
                  <a:srgbClr val="000000"/>
                </a:solidFill>
                <a:latin typeface="Times New Roman" panose="02020603050405020304" pitchFamily="18" charset="0"/>
                <a:ea typeface="黑体" panose="02010609060101010101" pitchFamily="49" charset="-122"/>
                <a:sym typeface="+mn-ea"/>
              </a:rPr>
              <a:t>p</a:t>
            </a:r>
            <a:r>
              <a:rPr lang="zh-CN" altLang="en-US" sz="2400" dirty="0">
                <a:solidFill>
                  <a:srgbClr val="000000"/>
                </a:solidFill>
                <a:latin typeface="Arial" panose="020B0604020202020204" pitchFamily="34" charset="0"/>
                <a:ea typeface="黑体" panose="02010609060101010101" pitchFamily="49" charset="-122"/>
                <a:sym typeface="+mn-ea"/>
              </a:rPr>
              <a:t>的二元对称信道而言，陪集首的重量分布</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A</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A</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A</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与译码错误概率之间满足</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3" name="矩形 2"/>
          <p:cNvSpPr/>
          <p:nvPr/>
        </p:nvSpPr>
        <p:spPr>
          <a:xfrm>
            <a:off x="1936115" y="2806066"/>
            <a:ext cx="8126730" cy="197421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4" name="文本框 3"/>
          <p:cNvSpPr txBox="1"/>
          <p:nvPr/>
        </p:nvSpPr>
        <p:spPr>
          <a:xfrm>
            <a:off x="2007871" y="2905760"/>
            <a:ext cx="7964805" cy="1684244"/>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zh-CN" altLang="en-US" sz="2400" dirty="0">
                <a:solidFill>
                  <a:srgbClr val="000000"/>
                </a:solidFill>
                <a:latin typeface="Arial" panose="020B0604020202020204" pitchFamily="34" charset="0"/>
                <a:ea typeface="黑体" panose="02010609060101010101" pitchFamily="49" charset="-122"/>
                <a:sym typeface="+mn-ea"/>
              </a:rPr>
              <a:t>对码间最小距离为</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zh-CN" altLang="en-US" sz="2400" dirty="0">
                <a:solidFill>
                  <a:srgbClr val="000000"/>
                </a:solidFill>
                <a:latin typeface="Arial" panose="020B0604020202020204" pitchFamily="34" charset="0"/>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线性码，重量</a:t>
            </a:r>
            <a:r>
              <a:rPr lang="en-US" altLang="zh-CN" sz="2400" i="1">
                <a:solidFill>
                  <a:srgbClr val="000000"/>
                </a:solidFill>
                <a:latin typeface="Times New Roman" panose="02020603050405020304" pitchFamily="18" charset="0"/>
                <a:ea typeface="黑体" panose="02010609060101010101" pitchFamily="49" charset="-122"/>
                <a:sym typeface="+mn-ea"/>
              </a:rPr>
              <a:t>w</a:t>
            </a:r>
            <a:r>
              <a:rPr lang="en-US" altLang="zh-CN" sz="2400">
                <a:solidFill>
                  <a:srgbClr val="000000"/>
                </a:solidFill>
                <a:latin typeface="Times New Roman" panose="02020603050405020304" pitchFamily="18" charset="0"/>
                <a:ea typeface="宋体" panose="02010600030101010101" pitchFamily="2"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d</a:t>
            </a:r>
            <a:r>
              <a:rPr lang="en-US" altLang="zh-CN" sz="2400">
                <a:solidFill>
                  <a:srgbClr val="000000"/>
                </a:solidFill>
                <a:latin typeface="Times New Roman" panose="02020603050405020304" pitchFamily="18" charset="0"/>
                <a:ea typeface="黑体" panose="02010609060101010101" pitchFamily="49" charset="-122"/>
                <a:sym typeface="+mn-ea"/>
              </a:rPr>
              <a:t>-1)/2=</a:t>
            </a:r>
            <a:r>
              <a:rPr lang="en-US" altLang="zh-CN" sz="2400" i="1">
                <a:solidFill>
                  <a:srgbClr val="000000"/>
                </a:solidFill>
                <a:latin typeface="Times New Roman" panose="02020603050405020304" pitchFamily="18" charset="0"/>
                <a:ea typeface="黑体" panose="02010609060101010101" pitchFamily="49" charset="-122"/>
                <a:sym typeface="+mn-ea"/>
              </a:rPr>
              <a:t>t	</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Arial" panose="020B0604020202020204" pitchFamily="34" charset="0"/>
                <a:ea typeface="黑体" panose="02010609060101010101" pitchFamily="49" charset="-122"/>
                <a:sym typeface="+mn-ea"/>
              </a:rPr>
              <a:t>重都可以被用作标准阵的陪集首，并且至少有一</a:t>
            </a:r>
            <a:r>
              <a:rPr lang="en-US" altLang="zh-CN" sz="2400" dirty="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个重量为</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Arial" panose="020B0604020202020204" pitchFamily="34" charset="0"/>
                <a:ea typeface="黑体" panose="02010609060101010101" pitchFamily="49" charset="-122"/>
                <a:sym typeface="+mn-ea"/>
              </a:rPr>
              <a:t>的</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Arial" panose="020B0604020202020204" pitchFamily="34" charset="0"/>
                <a:ea typeface="黑体" panose="02010609060101010101" pitchFamily="49" charset="-122"/>
                <a:sym typeface="+mn-ea"/>
              </a:rPr>
              <a:t>重不能作为陪集首</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graphicFrame>
        <p:nvGraphicFramePr>
          <p:cNvPr id="5" name="对象 4">
            <a:hlinkClick r:id="" action="ppaction://ole?verb=0"/>
          </p:cNvPr>
          <p:cNvGraphicFramePr>
            <a:graphicFrameLocks noChangeAspect="1"/>
          </p:cNvGraphicFramePr>
          <p:nvPr/>
        </p:nvGraphicFramePr>
        <p:xfrm>
          <a:off x="4542791" y="1831658"/>
          <a:ext cx="2934970" cy="847090"/>
        </p:xfrm>
        <a:graphic>
          <a:graphicData uri="http://schemas.openxmlformats.org/presentationml/2006/ole">
            <mc:AlternateContent xmlns:mc="http://schemas.openxmlformats.org/markup-compatibility/2006">
              <mc:Choice xmlns:v="urn:schemas-microsoft-com:vml" Requires="v">
                <p:oleObj r:id="rId3" imgW="1663700" imgH="431800" progId="Equation.KSEE3">
                  <p:embed/>
                </p:oleObj>
              </mc:Choice>
              <mc:Fallback>
                <p:oleObj r:id="rId3" imgW="1663700" imgH="431800" progId="Equation.KSEE3">
                  <p:embed/>
                  <p:pic>
                    <p:nvPicPr>
                      <p:cNvPr id="5" name="对象 4">
                        <a:hlinkClick r:id="" action="ppaction://ole?verb=0"/>
                      </p:cNvPr>
                      <p:cNvPicPr/>
                      <p:nvPr/>
                    </p:nvPicPr>
                    <p:blipFill>
                      <a:blip r:embed="rId4"/>
                      <a:stretch>
                        <a:fillRect/>
                      </a:stretch>
                    </p:blipFill>
                    <p:spPr>
                      <a:xfrm>
                        <a:off x="4542791" y="1831658"/>
                        <a:ext cx="2934970" cy="847090"/>
                      </a:xfrm>
                      <a:prstGeom prst="rect">
                        <a:avLst/>
                      </a:prstGeom>
                    </p:spPr>
                  </p:pic>
                </p:oleObj>
              </mc:Fallback>
            </mc:AlternateContent>
          </a:graphicData>
        </a:graphic>
      </p:graphicFrame>
      <p:sp>
        <p:nvSpPr>
          <p:cNvPr id="6" name="文本框 5"/>
          <p:cNvSpPr txBox="1"/>
          <p:nvPr/>
        </p:nvSpPr>
        <p:spPr>
          <a:xfrm>
            <a:off x="1854201" y="4989830"/>
            <a:ext cx="8474075" cy="1000980"/>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sym typeface="+mn-ea"/>
              </a:rPr>
              <a:t>注：</a:t>
            </a:r>
            <a:r>
              <a:rPr lang="zh-CN" altLang="en-US" sz="2400" dirty="0">
                <a:solidFill>
                  <a:srgbClr val="000000"/>
                </a:solidFill>
                <a:latin typeface="Arial" panose="020B0604020202020204" pitchFamily="34" charset="0"/>
                <a:ea typeface="黑体" panose="02010609060101010101" pitchFamily="49" charset="-122"/>
                <a:sym typeface="+mn-ea"/>
              </a:rPr>
              <a:t>此定理再次表明了码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能纠正</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zh-CN" altLang="en-US" sz="2400" dirty="0">
                <a:solidFill>
                  <a:srgbClr val="000000"/>
                </a:solidFill>
                <a:latin typeface="Arial" panose="020B0604020202020204" pitchFamily="34" charset="0"/>
                <a:ea typeface="黑体" panose="02010609060101010101" pitchFamily="49" charset="-122"/>
                <a:sym typeface="+mn-ea"/>
              </a:rPr>
              <a:t>个错误，但是不能纠正所有</a:t>
            </a:r>
            <a:r>
              <a:rPr lang="en-US" altLang="zh-CN" sz="2400" dirty="0">
                <a:solidFill>
                  <a:srgbClr val="000000"/>
                </a:solidFill>
                <a:latin typeface="Arial" panose="020B0604020202020204" pitchFamily="34"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Arial" panose="020B0604020202020204" pitchFamily="34" charset="0"/>
                <a:ea typeface="黑体" panose="02010609060101010101" pitchFamily="49" charset="-122"/>
                <a:sym typeface="+mn-ea"/>
              </a:rPr>
              <a:t>个错误。</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陪集的性质</a:t>
            </a:r>
          </a:p>
        </p:txBody>
      </p:sp>
      <p:sp>
        <p:nvSpPr>
          <p:cNvPr id="3" name="矩形 2"/>
          <p:cNvSpPr/>
          <p:nvPr/>
        </p:nvSpPr>
        <p:spPr>
          <a:xfrm>
            <a:off x="2002790" y="1140460"/>
            <a:ext cx="8126730" cy="419608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4" name="文本框 3"/>
          <p:cNvSpPr txBox="1"/>
          <p:nvPr/>
        </p:nvSpPr>
        <p:spPr>
          <a:xfrm>
            <a:off x="2083436" y="1243331"/>
            <a:ext cx="7964805" cy="3969385"/>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zh-CN" altLang="en-US" sz="2400" dirty="0">
                <a:solidFill>
                  <a:srgbClr val="000000"/>
                </a:solidFill>
                <a:latin typeface="Arial" panose="020B0604020202020204" pitchFamily="34" charset="0"/>
                <a:ea typeface="黑体" panose="02010609060101010101" pitchFamily="49" charset="-122"/>
                <a:sym typeface="+mn-ea"/>
              </a:rPr>
              <a:t>若</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是</a:t>
            </a:r>
            <a:r>
              <a:rPr lang="en-US" altLang="zh-CN" sz="2400" err="1">
                <a:solidFill>
                  <a:srgbClr val="000000"/>
                </a:solidFill>
                <a:latin typeface="Times New Roman" panose="02020603050405020304" pitchFamily="18" charset="0"/>
                <a:ea typeface="黑体" panose="02010609060101010101" pitchFamily="49" charset="-122"/>
                <a:sym typeface="+mn-ea"/>
              </a:rPr>
              <a:t>GF(</a:t>
            </a:r>
            <a:r>
              <a:rPr lang="en-US" altLang="zh-CN" sz="2400" i="1" err="1">
                <a:solidFill>
                  <a:srgbClr val="000000"/>
                </a:solidFill>
                <a:latin typeface="Times New Roman" panose="02020603050405020304" pitchFamily="18" charset="0"/>
                <a:ea typeface="黑体" panose="02010609060101010101" pitchFamily="49" charset="-122"/>
                <a:sym typeface="+mn-ea"/>
              </a:rPr>
              <a:t>q</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上的一个</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线性码，则</a:t>
            </a:r>
          </a:p>
          <a:p>
            <a:pPr lvl="1" algn="just" eaLnBrk="0" fontAlgn="base" hangingPunct="0">
              <a:lnSpc>
                <a:spcPct val="150000"/>
              </a:lnSpc>
              <a:spcBef>
                <a:spcPct val="0"/>
              </a:spcBef>
              <a:spcAft>
                <a:spcPct val="0"/>
              </a:spcAft>
              <a:buClr>
                <a:srgbClr val="CCCCFF"/>
              </a:buClr>
              <a:buSzPct val="65000"/>
            </a:pPr>
            <a:r>
              <a:rPr lang="en-US" altLang="zh-CN" sz="2400">
                <a:solidFill>
                  <a:srgbClr val="000000"/>
                </a:solidFill>
                <a:latin typeface="Times New Roman" panose="02020603050405020304" pitchFamily="18" charset="0"/>
                <a:ea typeface="黑体" panose="02010609060101010101" pitchFamily="49" charset="-122"/>
                <a:sym typeface="+mn-ea"/>
              </a:rPr>
              <a:t>1) </a:t>
            </a:r>
            <a:r>
              <a:rPr lang="zh-CN" altLang="en-US" sz="2400" dirty="0">
                <a:solidFill>
                  <a:srgbClr val="000000"/>
                </a:solidFill>
                <a:latin typeface="Arial" panose="020B0604020202020204" pitchFamily="34" charset="0"/>
                <a:ea typeface="黑体" panose="02010609060101010101" pitchFamily="49" charset="-122"/>
                <a:sym typeface="+mn-ea"/>
              </a:rPr>
              <a:t>长度为</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Arial" panose="020B0604020202020204" pitchFamily="34" charset="0"/>
                <a:ea typeface="黑体" panose="02010609060101010101" pitchFamily="49" charset="-122"/>
                <a:sym typeface="+mn-ea"/>
              </a:rPr>
              <a:t>的矢量</a:t>
            </a:r>
            <a:r>
              <a:rPr lang="en-US" altLang="zh-CN" sz="2400" i="1">
                <a:solidFill>
                  <a:srgbClr val="000000"/>
                </a:solidFill>
                <a:latin typeface="Times New Roman" panose="02020603050405020304" pitchFamily="18" charset="0"/>
                <a:ea typeface="黑体" panose="02010609060101010101" pitchFamily="49" charset="-122"/>
                <a:sym typeface="+mn-ea"/>
              </a:rPr>
              <a:t>b</a:t>
            </a:r>
            <a:r>
              <a:rPr lang="zh-CN" altLang="en-US" sz="2400" dirty="0">
                <a:solidFill>
                  <a:srgbClr val="000000"/>
                </a:solidFill>
                <a:latin typeface="Arial" panose="020B0604020202020204" pitchFamily="34" charset="0"/>
                <a:ea typeface="黑体" panose="02010609060101010101" pitchFamily="49" charset="-122"/>
                <a:sym typeface="+mn-ea"/>
              </a:rPr>
              <a:t>一定在码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的某个陪集中；</a:t>
            </a:r>
          </a:p>
          <a:p>
            <a:pPr lvl="1" algn="just" eaLnBrk="0" fontAlgn="base" hangingPunct="0">
              <a:lnSpc>
                <a:spcPct val="150000"/>
              </a:lnSpc>
              <a:spcBef>
                <a:spcPct val="0"/>
              </a:spcBef>
              <a:spcAft>
                <a:spcPct val="0"/>
              </a:spcAft>
              <a:buClr>
                <a:srgbClr val="CCCCFF"/>
              </a:buClr>
              <a:buSzPct val="65000"/>
            </a:pPr>
            <a:r>
              <a:rPr lang="en-US" altLang="zh-CN" sz="2400">
                <a:solidFill>
                  <a:srgbClr val="000000"/>
                </a:solidFill>
                <a:latin typeface="Times New Roman" panose="02020603050405020304" pitchFamily="18" charset="0"/>
                <a:ea typeface="黑体" panose="02010609060101010101" pitchFamily="49" charset="-122"/>
                <a:sym typeface="+mn-ea"/>
              </a:rPr>
              <a:t>2) </a:t>
            </a:r>
            <a:r>
              <a:rPr lang="zh-CN" altLang="en-US" sz="2400" dirty="0">
                <a:solidFill>
                  <a:srgbClr val="000000"/>
                </a:solidFill>
                <a:latin typeface="Arial" panose="020B0604020202020204" pitchFamily="34" charset="0"/>
                <a:ea typeface="黑体" panose="02010609060101010101" pitchFamily="49" charset="-122"/>
                <a:sym typeface="+mn-ea"/>
              </a:rPr>
              <a:t>每个陪集都包含</a:t>
            </a:r>
            <a:r>
              <a:rPr lang="en-US" altLang="zh-CN" sz="2400" i="1" err="1">
                <a:solidFill>
                  <a:srgbClr val="000000"/>
                </a:solidFill>
                <a:latin typeface="Times New Roman" panose="02020603050405020304" pitchFamily="18" charset="0"/>
                <a:ea typeface="黑体" panose="02010609060101010101" pitchFamily="49" charset="-122"/>
                <a:sym typeface="+mn-ea"/>
              </a:rPr>
              <a:t>q</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Arial" panose="020B0604020202020204" pitchFamily="34" charset="0"/>
                <a:ea typeface="黑体" panose="02010609060101010101" pitchFamily="49" charset="-122"/>
                <a:sym typeface="+mn-ea"/>
              </a:rPr>
              <a:t>个矢量；</a:t>
            </a:r>
          </a:p>
          <a:p>
            <a:pPr lvl="1" algn="just" eaLnBrk="0" fontAlgn="base" hangingPunct="0">
              <a:lnSpc>
                <a:spcPct val="150000"/>
              </a:lnSpc>
              <a:spcBef>
                <a:spcPct val="0"/>
              </a:spcBef>
              <a:spcAft>
                <a:spcPct val="0"/>
              </a:spcAft>
              <a:buClr>
                <a:srgbClr val="CCCCFF"/>
              </a:buClr>
              <a:buSzPct val="65000"/>
            </a:pPr>
            <a:r>
              <a:rPr lang="en-US" altLang="zh-CN" sz="2400">
                <a:solidFill>
                  <a:srgbClr val="000000"/>
                </a:solidFill>
                <a:latin typeface="Times New Roman" panose="02020603050405020304" pitchFamily="18" charset="0"/>
                <a:ea typeface="黑体" panose="02010609060101010101" pitchFamily="49" charset="-122"/>
                <a:sym typeface="+mn-ea"/>
              </a:rPr>
              <a:t>3) </a:t>
            </a:r>
            <a:r>
              <a:rPr lang="zh-CN" altLang="en-US" sz="2400" dirty="0">
                <a:solidFill>
                  <a:srgbClr val="000000"/>
                </a:solidFill>
                <a:latin typeface="Arial" panose="020B0604020202020204" pitchFamily="34" charset="0"/>
                <a:ea typeface="黑体" panose="02010609060101010101" pitchFamily="49" charset="-122"/>
                <a:sym typeface="+mn-ea"/>
              </a:rPr>
              <a:t>两个陪集要么是不相交的要么就是重合的</a:t>
            </a:r>
            <a:r>
              <a:rPr lang="en-US" altLang="zh-CN" sz="2400">
                <a:solidFill>
                  <a:srgbClr val="000000"/>
                </a:solidFill>
                <a:latin typeface="Arial" panose="020B0604020202020204" pitchFamily="34"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即相互部分重叠是不可能的</a:t>
            </a:r>
            <a:r>
              <a:rPr lang="en-US" altLang="zh-CN" sz="2400">
                <a:solidFill>
                  <a:srgbClr val="000000"/>
                </a:solidFill>
                <a:latin typeface="Arial" panose="020B0604020202020204" pitchFamily="34"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a:t>
            </a:r>
          </a:p>
          <a:p>
            <a:pPr lvl="1" algn="just" eaLnBrk="0" fontAlgn="base" hangingPunct="0">
              <a:lnSpc>
                <a:spcPct val="150000"/>
              </a:lnSpc>
              <a:spcBef>
                <a:spcPct val="0"/>
              </a:spcBef>
              <a:spcAft>
                <a:spcPct val="0"/>
              </a:spcAft>
              <a:buClr>
                <a:srgbClr val="CCCCFF"/>
              </a:buClr>
              <a:buSzPct val="65000"/>
            </a:pPr>
            <a:r>
              <a:rPr lang="en-US" altLang="zh-CN" sz="2400">
                <a:solidFill>
                  <a:srgbClr val="000000"/>
                </a:solidFill>
                <a:latin typeface="Times New Roman" panose="02020603050405020304" pitchFamily="18" charset="0"/>
                <a:ea typeface="黑体" panose="02010609060101010101" pitchFamily="49" charset="-122"/>
                <a:sym typeface="+mn-ea"/>
              </a:rPr>
              <a:t>4) </a:t>
            </a:r>
            <a:r>
              <a:rPr lang="zh-CN" altLang="en-US" sz="2400" dirty="0">
                <a:solidFill>
                  <a:srgbClr val="000000"/>
                </a:solidFill>
                <a:latin typeface="Arial" panose="020B0604020202020204" pitchFamily="34" charset="0"/>
                <a:ea typeface="黑体" panose="02010609060101010101" pitchFamily="49" charset="-122"/>
                <a:sym typeface="+mn-ea"/>
              </a:rPr>
              <a:t>如果</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是码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的一个陪集，且有</a:t>
            </a:r>
            <a:r>
              <a:rPr lang="en-US" altLang="zh-CN" sz="2400" i="1" err="1">
                <a:solidFill>
                  <a:srgbClr val="000000"/>
                </a:solidFill>
                <a:latin typeface="Times New Roman" panose="02020603050405020304" pitchFamily="18" charset="0"/>
                <a:ea typeface="宋体" panose="02010600030101010101" pitchFamily="2" charset="-122"/>
                <a:sym typeface="+mn-ea"/>
              </a:rPr>
              <a:t>b</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a</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，那么一定有</a:t>
            </a:r>
            <a:r>
              <a:rPr lang="en-US" altLang="zh-CN" sz="2400" i="1" err="1">
                <a:solidFill>
                  <a:srgbClr val="000000"/>
                </a:solidFill>
                <a:latin typeface="Times New Roman" panose="02020603050405020304" pitchFamily="18" charset="0"/>
                <a:ea typeface="宋体" panose="02010600030101010101" pitchFamily="2" charset="-122"/>
                <a:sym typeface="+mn-ea"/>
              </a:rPr>
              <a:t>b</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en-US" altLang="zh-CN" sz="2400">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a</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54446" y="104775"/>
            <a:ext cx="404685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陪集的性质定理的证明</a:t>
            </a:r>
          </a:p>
        </p:txBody>
      </p:sp>
      <p:sp>
        <p:nvSpPr>
          <p:cNvPr id="3" name="矩形 2"/>
          <p:cNvSpPr/>
          <p:nvPr/>
        </p:nvSpPr>
        <p:spPr>
          <a:xfrm>
            <a:off x="2002790" y="1218565"/>
            <a:ext cx="8126730" cy="7861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4" name="文本框 3"/>
          <p:cNvSpPr txBox="1"/>
          <p:nvPr/>
        </p:nvSpPr>
        <p:spPr>
          <a:xfrm>
            <a:off x="2083436" y="1243330"/>
            <a:ext cx="7964805" cy="576248"/>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en-US" altLang="zh-CN" sz="2400">
                <a:solidFill>
                  <a:srgbClr val="000000"/>
                </a:solidFill>
                <a:latin typeface="Times New Roman" panose="02020603050405020304" pitchFamily="18" charset="0"/>
                <a:ea typeface="黑体" panose="02010609060101010101" pitchFamily="49" charset="-122"/>
                <a:sym typeface="+mn-ea"/>
              </a:rPr>
              <a:t>1) </a:t>
            </a:r>
            <a:r>
              <a:rPr lang="zh-CN" altLang="en-US" sz="2400" dirty="0">
                <a:solidFill>
                  <a:srgbClr val="000000"/>
                </a:solidFill>
                <a:latin typeface="Arial" panose="020B0604020202020204" pitchFamily="34" charset="0"/>
                <a:ea typeface="黑体" panose="02010609060101010101" pitchFamily="49" charset="-122"/>
                <a:sym typeface="+mn-ea"/>
              </a:rPr>
              <a:t>长度为</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Arial" panose="020B0604020202020204" pitchFamily="34" charset="0"/>
                <a:ea typeface="黑体" panose="02010609060101010101" pitchFamily="49" charset="-122"/>
                <a:sym typeface="+mn-ea"/>
              </a:rPr>
              <a:t>的矢量</a:t>
            </a:r>
            <a:r>
              <a:rPr lang="en-US" altLang="zh-CN" sz="2400" i="1">
                <a:solidFill>
                  <a:srgbClr val="000000"/>
                </a:solidFill>
                <a:latin typeface="Times New Roman" panose="02020603050405020304" pitchFamily="18" charset="0"/>
                <a:ea typeface="黑体" panose="02010609060101010101" pitchFamily="49" charset="-122"/>
                <a:sym typeface="+mn-ea"/>
              </a:rPr>
              <a:t>b</a:t>
            </a:r>
            <a:r>
              <a:rPr lang="zh-CN" altLang="en-US" sz="2400" dirty="0">
                <a:solidFill>
                  <a:srgbClr val="000000"/>
                </a:solidFill>
                <a:latin typeface="Arial" panose="020B0604020202020204" pitchFamily="34" charset="0"/>
                <a:ea typeface="黑体" panose="02010609060101010101" pitchFamily="49" charset="-122"/>
                <a:sym typeface="+mn-ea"/>
              </a:rPr>
              <a:t>一定在码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的某个陪集中；</a:t>
            </a:r>
            <a:endParaRPr lang="zh-CN" altLang="en-US" sz="2400" err="1">
              <a:solidFill>
                <a:srgbClr val="000000"/>
              </a:solidFill>
              <a:latin typeface="Times New Roman" panose="02020603050405020304" pitchFamily="18" charset="0"/>
              <a:ea typeface="黑体" panose="02010609060101010101" pitchFamily="49" charset="-122"/>
              <a:sym typeface="+mn-ea"/>
            </a:endParaRPr>
          </a:p>
        </p:txBody>
      </p:sp>
      <p:sp>
        <p:nvSpPr>
          <p:cNvPr id="6" name="文本框 5"/>
          <p:cNvSpPr txBox="1"/>
          <p:nvPr/>
        </p:nvSpPr>
        <p:spPr>
          <a:xfrm>
            <a:off x="2609851" y="2193925"/>
            <a:ext cx="3115945" cy="520848"/>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sym typeface="+mn-ea"/>
              </a:rPr>
              <a:t>证明：</a:t>
            </a:r>
            <a:r>
              <a:rPr lang="en-US" altLang="zh-CN" sz="2400" i="1">
                <a:solidFill>
                  <a:srgbClr val="000000"/>
                </a:solidFill>
                <a:latin typeface="Times New Roman" panose="02020603050405020304" pitchFamily="18" charset="0"/>
                <a:ea typeface="黑体" panose="02010609060101010101" pitchFamily="49" charset="-122"/>
                <a:sym typeface="+mn-ea"/>
              </a:rPr>
              <a:t>b</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b</a:t>
            </a:r>
            <a:r>
              <a:rPr lang="en-US" altLang="zh-CN" sz="24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宋体" panose="02010600030101010101" pitchFamily="2" charset="-122"/>
                <a:sym typeface="+mn-ea"/>
              </a:rPr>
              <a:t>b</a:t>
            </a:r>
            <a:r>
              <a:rPr lang="en-US" altLang="zh-CN" sz="2400">
                <a:solidFill>
                  <a:srgbClr val="000000"/>
                </a:solidFill>
                <a:latin typeface="Times New Roman" panose="02020603050405020304" pitchFamily="18"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宋体" panose="02010600030101010101" pitchFamily="2"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5" name="矩形 4"/>
          <p:cNvSpPr/>
          <p:nvPr/>
        </p:nvSpPr>
        <p:spPr>
          <a:xfrm>
            <a:off x="2054225" y="3159125"/>
            <a:ext cx="8126730" cy="7861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7" name="文本框 6"/>
          <p:cNvSpPr txBox="1"/>
          <p:nvPr/>
        </p:nvSpPr>
        <p:spPr>
          <a:xfrm>
            <a:off x="2134871" y="3183890"/>
            <a:ext cx="7964805" cy="576248"/>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en-US" altLang="zh-CN" sz="2400">
                <a:solidFill>
                  <a:srgbClr val="000000"/>
                </a:solidFill>
                <a:latin typeface="Times New Roman" panose="02020603050405020304" pitchFamily="18" charset="0"/>
                <a:ea typeface="黑体" panose="02010609060101010101" pitchFamily="49" charset="-122"/>
                <a:sym typeface="+mn-ea"/>
              </a:rPr>
              <a:t>2) </a:t>
            </a:r>
            <a:r>
              <a:rPr lang="zh-CN" altLang="en-US" sz="2400" dirty="0">
                <a:solidFill>
                  <a:srgbClr val="000000"/>
                </a:solidFill>
                <a:latin typeface="Arial" panose="020B0604020202020204" pitchFamily="34" charset="0"/>
                <a:ea typeface="黑体" panose="02010609060101010101" pitchFamily="49" charset="-122"/>
                <a:sym typeface="+mn-ea"/>
              </a:rPr>
              <a:t>每个陪集都包含</a:t>
            </a:r>
            <a:r>
              <a:rPr lang="en-US" altLang="zh-CN" sz="2400" i="1" err="1">
                <a:solidFill>
                  <a:srgbClr val="000000"/>
                </a:solidFill>
                <a:latin typeface="Times New Roman" panose="02020603050405020304" pitchFamily="18" charset="0"/>
                <a:ea typeface="黑体" panose="02010609060101010101" pitchFamily="49" charset="-122"/>
                <a:sym typeface="+mn-ea"/>
              </a:rPr>
              <a:t>q</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Arial" panose="020B0604020202020204" pitchFamily="34" charset="0"/>
                <a:ea typeface="黑体" panose="02010609060101010101" pitchFamily="49" charset="-122"/>
                <a:sym typeface="+mn-ea"/>
              </a:rPr>
              <a:t>个矢量；</a:t>
            </a:r>
            <a:endParaRPr lang="zh-CN" altLang="en-US" sz="2400" err="1">
              <a:solidFill>
                <a:srgbClr val="000000"/>
              </a:solidFill>
              <a:latin typeface="Times New Roman" panose="02020603050405020304" pitchFamily="18" charset="0"/>
              <a:ea typeface="黑体" panose="02010609060101010101" pitchFamily="49" charset="-122"/>
              <a:sym typeface="+mn-ea"/>
            </a:endParaRPr>
          </a:p>
        </p:txBody>
      </p:sp>
      <p:sp>
        <p:nvSpPr>
          <p:cNvPr id="8" name="文本框 7"/>
          <p:cNvSpPr txBox="1"/>
          <p:nvPr/>
        </p:nvSpPr>
        <p:spPr>
          <a:xfrm>
            <a:off x="2054226" y="4134486"/>
            <a:ext cx="8044815" cy="152971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sym typeface="+mn-ea"/>
              </a:rPr>
              <a:t>证明：</a:t>
            </a:r>
            <a:r>
              <a:rPr lang="zh-CN" altLang="en-US" sz="2400" dirty="0">
                <a:solidFill>
                  <a:srgbClr val="000000"/>
                </a:solidFill>
                <a:latin typeface="黑体" panose="02010609060101010101" pitchFamily="49" charset="-122"/>
                <a:ea typeface="黑体" panose="02010609060101010101" pitchFamily="49" charset="-122"/>
                <a:sym typeface="+mn-ea"/>
              </a:rPr>
              <a:t>对于所有的</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a:solidFill>
                  <a:srgbClr val="00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由</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zh-CN" altLang="en-US" sz="2400" dirty="0">
                <a:solidFill>
                  <a:srgbClr val="000000"/>
                </a:solidFill>
                <a:latin typeface="黑体" panose="02010609060101010101" pitchFamily="49" charset="-122"/>
                <a:ea typeface="黑体" panose="02010609060101010101" pitchFamily="49" charset="-122"/>
                <a:sym typeface="+mn-ea"/>
              </a:rPr>
              <a:t>定义的映射</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是个</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一一映射，所以陪集</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中矢量的个数和码集中码矢</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的个数相等，即</a:t>
            </a:r>
            <a:r>
              <a:rPr lang="en-US" altLang="zh-CN" sz="2400" i="1" err="1">
                <a:solidFill>
                  <a:srgbClr val="000000"/>
                </a:solidFill>
                <a:latin typeface="Times New Roman" panose="02020603050405020304" pitchFamily="18" charset="0"/>
                <a:ea typeface="黑体" panose="02010609060101010101" pitchFamily="49" charset="-122"/>
                <a:sym typeface="+mn-ea"/>
              </a:rPr>
              <a:t>q</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Arial" panose="020B0604020202020204" pitchFamily="34"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54446" y="104775"/>
            <a:ext cx="404685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陪集的性质定理的证明</a:t>
            </a:r>
          </a:p>
        </p:txBody>
      </p:sp>
      <p:sp>
        <p:nvSpPr>
          <p:cNvPr id="3" name="矩形 2"/>
          <p:cNvSpPr/>
          <p:nvPr/>
        </p:nvSpPr>
        <p:spPr>
          <a:xfrm>
            <a:off x="2002790" y="1218566"/>
            <a:ext cx="8126730" cy="125412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4" name="文本框 3"/>
          <p:cNvSpPr txBox="1"/>
          <p:nvPr/>
        </p:nvSpPr>
        <p:spPr>
          <a:xfrm>
            <a:off x="2083436" y="1243330"/>
            <a:ext cx="7964805" cy="1130246"/>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en-US" altLang="zh-CN" sz="2400">
                <a:solidFill>
                  <a:srgbClr val="000000"/>
                </a:solidFill>
                <a:latin typeface="Times New Roman" panose="02020603050405020304" pitchFamily="18" charset="0"/>
                <a:ea typeface="黑体" panose="02010609060101010101" pitchFamily="49" charset="-122"/>
                <a:sym typeface="+mn-ea"/>
              </a:rPr>
              <a:t>3) </a:t>
            </a:r>
            <a:r>
              <a:rPr lang="zh-CN" altLang="en-US" sz="2400" dirty="0">
                <a:solidFill>
                  <a:srgbClr val="000000"/>
                </a:solidFill>
                <a:latin typeface="Arial" panose="020B0604020202020204" pitchFamily="34" charset="0"/>
                <a:ea typeface="黑体" panose="02010609060101010101" pitchFamily="49" charset="-122"/>
                <a:sym typeface="+mn-ea"/>
              </a:rPr>
              <a:t>两个陪集要么是不相交的要么就是重合的</a:t>
            </a:r>
            <a:r>
              <a:rPr lang="en-US" altLang="zh-CN" sz="2400">
                <a:solidFill>
                  <a:srgbClr val="000000"/>
                </a:solidFill>
                <a:latin typeface="Arial" panose="020B0604020202020204" pitchFamily="34"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即相互部分重叠是不可能的</a:t>
            </a:r>
            <a:r>
              <a:rPr lang="en-US" altLang="zh-CN" sz="2400">
                <a:solidFill>
                  <a:srgbClr val="000000"/>
                </a:solidFill>
                <a:latin typeface="Arial" panose="020B0604020202020204" pitchFamily="34" charset="0"/>
                <a:ea typeface="黑体" panose="02010609060101010101" pitchFamily="49"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a:t>
            </a:r>
            <a:endParaRPr lang="zh-CN" altLang="en-US" sz="2400" err="1">
              <a:solidFill>
                <a:srgbClr val="000000"/>
              </a:solidFill>
              <a:latin typeface="Times New Roman" panose="02020603050405020304" pitchFamily="18" charset="0"/>
              <a:ea typeface="黑体" panose="02010609060101010101" pitchFamily="49" charset="-122"/>
              <a:sym typeface="+mn-ea"/>
            </a:endParaRPr>
          </a:p>
        </p:txBody>
      </p:sp>
      <p:sp>
        <p:nvSpPr>
          <p:cNvPr id="6" name="文本框 5"/>
          <p:cNvSpPr txBox="1"/>
          <p:nvPr/>
        </p:nvSpPr>
        <p:spPr>
          <a:xfrm>
            <a:off x="1948181" y="2571751"/>
            <a:ext cx="8311515" cy="3448685"/>
          </a:xfrm>
          <a:prstGeom prst="rect">
            <a:avLst/>
          </a:prstGeom>
          <a:noFill/>
        </p:spPr>
        <p:txBody>
          <a:bodyPr wrap="square" rtlCol="0" anchor="t">
            <a:spAutoFit/>
          </a:bodyPr>
          <a:lstStyle/>
          <a:p>
            <a:pPr algn="just" eaLnBrk="0" fontAlgn="base" hangingPunct="0">
              <a:lnSpc>
                <a:spcPct val="130000"/>
              </a:lnSpc>
              <a:spcBef>
                <a:spcPct val="0"/>
              </a:spcBef>
              <a:spcAft>
                <a:spcPct val="0"/>
              </a:spcAft>
              <a:buClr>
                <a:srgbClr val="CCCCFF"/>
              </a:buClr>
              <a:buSzPct val="65000"/>
            </a:pPr>
            <a:r>
              <a:rPr lang="zh-CN" altLang="en-US" sz="2400" b="1" dirty="0">
                <a:solidFill>
                  <a:srgbClr val="FF0000"/>
                </a:solidFill>
                <a:latin typeface="黑体" panose="02010609060101010101" pitchFamily="49" charset="-122"/>
                <a:ea typeface="黑体" panose="02010609060101010101" pitchFamily="49" charset="-122"/>
                <a:sym typeface="+mn-ea"/>
              </a:rPr>
              <a:t>证明：</a:t>
            </a:r>
            <a:r>
              <a:rPr lang="zh-CN" altLang="en-US" sz="2400" dirty="0">
                <a:solidFill>
                  <a:srgbClr val="000000"/>
                </a:solidFill>
                <a:latin typeface="黑体" panose="02010609060101010101" pitchFamily="49" charset="-122"/>
                <a:ea typeface="黑体" panose="02010609060101010101" pitchFamily="49" charset="-122"/>
                <a:sym typeface="+mn-ea"/>
              </a:rPr>
              <a:t>反证法。假设陪集</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是相交的，即它们至少有</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一个向量是相同的，令</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en-US" sz="2400" err="1">
                <a:solidFill>
                  <a:srgbClr val="000000"/>
                </a:solidFill>
                <a:latin typeface="Times New Roman" panose="02020603050405020304" pitchFamily="18" charset="0"/>
                <a:ea typeface="宋体" panose="02010600030101010101" pitchFamily="2" charset="-122"/>
                <a:sym typeface="+mn-ea"/>
              </a:rPr>
              <a:t>∩</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，那么对于任意</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y</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，有</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y</a:t>
            </a:r>
            <a:r>
              <a:rPr lang="en-US" altLang="zh-CN" sz="2400" i="1">
                <a:solidFill>
                  <a:srgbClr val="000000"/>
                </a:solidFill>
                <a:latin typeface="Times New Roman" panose="02020603050405020304" pitchFamily="18" charset="0"/>
                <a:ea typeface="黑体" panose="02010609060101010101" pitchFamily="49" charset="-122"/>
                <a:sym typeface="+mn-ea"/>
              </a:rPr>
              <a:t>, b=</a:t>
            </a:r>
            <a:r>
              <a:rPr lang="en-US" altLang="zh-CN" sz="2400" i="1" err="1">
                <a:solidFill>
                  <a:srgbClr val="000000"/>
                </a:solidFill>
                <a:latin typeface="Times New Roman" panose="02020603050405020304" pitchFamily="18" charset="0"/>
                <a:ea typeface="黑体" panose="02010609060101010101" pitchFamily="49" charset="-122"/>
                <a:sym typeface="+mn-ea"/>
              </a:rPr>
              <a:t>a+x+y</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a+z</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其中</a:t>
            </a:r>
            <a:r>
              <a:rPr lang="en-US" altLang="zh-CN" sz="2400" i="1" err="1">
                <a:solidFill>
                  <a:srgbClr val="000000"/>
                </a:solidFill>
                <a:latin typeface="Times New Roman" panose="02020603050405020304" pitchFamily="18" charset="0"/>
                <a:ea typeface="黑体" panose="02010609060101010101" pitchFamily="49" charset="-122"/>
                <a:sym typeface="+mn-ea"/>
              </a:rPr>
              <a:t>z</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，这</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是根据码字集合的封闭性，两个码字之和仍然是一个</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码字，因此，</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a+z</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a+C</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z</a:t>
            </a:r>
            <a:r>
              <a:rPr lang="zh-CN" altLang="en-US" sz="2400" dirty="0">
                <a:solidFill>
                  <a:srgbClr val="000000"/>
                </a:solidFill>
                <a:latin typeface="Times New Roman" panose="02020603050405020304" pitchFamily="18" charset="0"/>
                <a:ea typeface="黑体" panose="02010609060101010101" pitchFamily="49" charset="-122"/>
                <a:sym typeface="+mn-ea"/>
              </a:rPr>
              <a:t>或者</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。类似的，还可以得到</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所以</a:t>
            </a:r>
            <a:r>
              <a:rPr lang="en-US" altLang="zh-CN" sz="2400">
                <a:solidFill>
                  <a:srgbClr val="000000"/>
                </a:solidFill>
                <a:latin typeface="黑体" panose="02010609060101010101" pitchFamily="49" charset="-122"/>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b</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en-US" altLang="zh-CN" sz="2400">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a</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en-US" altLang="zh-CN" sz="2400">
                <a:solidFill>
                  <a:srgbClr val="000000"/>
                </a:solidFill>
                <a:latin typeface="Times New Roman" panose="02020603050405020304" pitchFamily="18" charset="0"/>
                <a:ea typeface="宋体" panose="02010600030101010101" pitchFamily="2" charset="-122"/>
                <a:sym typeface="+mn-ea"/>
              </a:rPr>
              <a:t>)</a:t>
            </a:r>
            <a:r>
              <a:rPr lang="zh-CN" altLang="en-US" sz="2400" dirty="0">
                <a:solidFill>
                  <a:srgbClr val="000000"/>
                </a:solidFill>
                <a:latin typeface="Arial" panose="020B0604020202020204" pitchFamily="34"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9" name="对象 8">
            <a:hlinkClick r:id="" action="ppaction://ole?verb=0"/>
          </p:cNvPr>
          <p:cNvGraphicFramePr>
            <a:graphicFrameLocks noChangeAspect="1"/>
          </p:cNvGraphicFramePr>
          <p:nvPr/>
        </p:nvGraphicFramePr>
        <p:xfrm>
          <a:off x="2895601" y="5029202"/>
          <a:ext cx="1837690" cy="423545"/>
        </p:xfrm>
        <a:graphic>
          <a:graphicData uri="http://schemas.openxmlformats.org/presentationml/2006/ole">
            <mc:AlternateContent xmlns:mc="http://schemas.openxmlformats.org/markup-compatibility/2006">
              <mc:Choice xmlns:v="urn:schemas-microsoft-com:vml" Requires="v">
                <p:oleObj r:id="rId3" imgW="1041400" imgH="215900" progId="Equation.KSEE3">
                  <p:embed/>
                </p:oleObj>
              </mc:Choice>
              <mc:Fallback>
                <p:oleObj r:id="rId3" imgW="1041400" imgH="215900" progId="Equation.KSEE3">
                  <p:embed/>
                  <p:pic>
                    <p:nvPicPr>
                      <p:cNvPr id="9" name="对象 8">
                        <a:hlinkClick r:id="" action="ppaction://ole?verb=0"/>
                      </p:cNvPr>
                      <p:cNvPicPr/>
                      <p:nvPr/>
                    </p:nvPicPr>
                    <p:blipFill>
                      <a:blip r:embed="rId4"/>
                      <a:stretch>
                        <a:fillRect/>
                      </a:stretch>
                    </p:blipFill>
                    <p:spPr>
                      <a:xfrm>
                        <a:off x="2895601" y="5029202"/>
                        <a:ext cx="1837690" cy="423545"/>
                      </a:xfrm>
                      <a:prstGeom prst="rect">
                        <a:avLst/>
                      </a:prstGeom>
                    </p:spPr>
                  </p:pic>
                </p:oleObj>
              </mc:Fallback>
            </mc:AlternateContent>
          </a:graphicData>
        </a:graphic>
      </p:graphicFrame>
      <p:graphicFrame>
        <p:nvGraphicFramePr>
          <p:cNvPr id="11" name="对象 10">
            <a:hlinkClick r:id="" action="ppaction://ole?verb=0"/>
          </p:cNvPr>
          <p:cNvGraphicFramePr>
            <a:graphicFrameLocks noChangeAspect="1"/>
          </p:cNvGraphicFramePr>
          <p:nvPr/>
        </p:nvGraphicFramePr>
        <p:xfrm>
          <a:off x="7924801" y="5105402"/>
          <a:ext cx="1837690" cy="423545"/>
        </p:xfrm>
        <a:graphic>
          <a:graphicData uri="http://schemas.openxmlformats.org/presentationml/2006/ole">
            <mc:AlternateContent xmlns:mc="http://schemas.openxmlformats.org/markup-compatibility/2006">
              <mc:Choice xmlns:v="urn:schemas-microsoft-com:vml" Requires="v">
                <p:oleObj r:id="rId5" imgW="1041400" imgH="215900" progId="Equation.KSEE3">
                  <p:embed/>
                </p:oleObj>
              </mc:Choice>
              <mc:Fallback>
                <p:oleObj r:id="rId5" imgW="1041400" imgH="215900" progId="Equation.KSEE3">
                  <p:embed/>
                  <p:pic>
                    <p:nvPicPr>
                      <p:cNvPr id="11" name="对象 10">
                        <a:hlinkClick r:id="" action="ppaction://ole?verb=0"/>
                      </p:cNvPr>
                      <p:cNvPicPr/>
                      <p:nvPr/>
                    </p:nvPicPr>
                    <p:blipFill>
                      <a:blip r:embed="rId6"/>
                      <a:stretch>
                        <a:fillRect/>
                      </a:stretch>
                    </p:blipFill>
                    <p:spPr>
                      <a:xfrm>
                        <a:off x="7924801" y="5105402"/>
                        <a:ext cx="1837690" cy="423545"/>
                      </a:xfrm>
                      <a:prstGeom prst="rect">
                        <a:avLst/>
                      </a:prstGeom>
                    </p:spPr>
                  </p:pic>
                </p:oleObj>
              </mc:Fallback>
            </mc:AlternateContent>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54446" y="104775"/>
            <a:ext cx="404685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陪集的性质定理的证明</a:t>
            </a:r>
          </a:p>
        </p:txBody>
      </p:sp>
      <p:sp>
        <p:nvSpPr>
          <p:cNvPr id="3" name="矩形 2"/>
          <p:cNvSpPr/>
          <p:nvPr/>
        </p:nvSpPr>
        <p:spPr>
          <a:xfrm>
            <a:off x="2002790" y="1218566"/>
            <a:ext cx="8126730" cy="125412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4" name="文本框 3"/>
          <p:cNvSpPr txBox="1"/>
          <p:nvPr/>
        </p:nvSpPr>
        <p:spPr>
          <a:xfrm>
            <a:off x="2083436" y="1243330"/>
            <a:ext cx="7964805" cy="1130246"/>
          </a:xfrm>
          <a:prstGeom prst="rect">
            <a:avLst/>
          </a:prstGeom>
          <a:noFill/>
        </p:spPr>
        <p:txBody>
          <a:bodyPr wrap="square" rtlCol="0" anchor="t">
            <a:spAutoFit/>
          </a:bodyPr>
          <a:lstStyle/>
          <a:p>
            <a:pPr algn="just" eaLnBrk="0" fontAlgn="base" hangingPunct="0">
              <a:lnSpc>
                <a:spcPct val="150000"/>
              </a:lnSpc>
              <a:spcBef>
                <a:spcPct val="0"/>
              </a:spcBef>
              <a:spcAft>
                <a:spcPct val="0"/>
              </a:spcAft>
              <a:buClr>
                <a:srgbClr val="CCCCFF"/>
              </a:buClr>
              <a:buSzPct val="65000"/>
            </a:pPr>
            <a:r>
              <a:rPr lang="zh-CN" altLang="en-US" sz="2400" b="1" dirty="0">
                <a:solidFill>
                  <a:srgbClr val="0070C0"/>
                </a:solidFill>
                <a:latin typeface="黑体" panose="02010609060101010101" pitchFamily="49" charset="-122"/>
                <a:ea typeface="黑体" panose="02010609060101010101" pitchFamily="49" charset="-122"/>
                <a:sym typeface="+mn-ea"/>
              </a:rPr>
              <a:t>定理：</a:t>
            </a:r>
            <a:r>
              <a:rPr lang="en-US" altLang="zh-CN" sz="2400">
                <a:solidFill>
                  <a:srgbClr val="000000"/>
                </a:solidFill>
                <a:latin typeface="Times New Roman" panose="02020603050405020304" pitchFamily="18" charset="0"/>
                <a:ea typeface="黑体" panose="02010609060101010101" pitchFamily="49" charset="-122"/>
                <a:sym typeface="+mn-ea"/>
              </a:rPr>
              <a:t>4) </a:t>
            </a:r>
            <a:r>
              <a:rPr lang="zh-CN" altLang="en-US" sz="2400" dirty="0">
                <a:solidFill>
                  <a:srgbClr val="000000"/>
                </a:solidFill>
                <a:latin typeface="Arial" panose="020B0604020202020204" pitchFamily="34" charset="0"/>
                <a:ea typeface="黑体" panose="02010609060101010101" pitchFamily="49" charset="-122"/>
                <a:sym typeface="+mn-ea"/>
              </a:rPr>
              <a:t>如果</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是码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的一个陪集，且有</a:t>
            </a:r>
            <a:r>
              <a:rPr lang="en-US" altLang="zh-CN" sz="2400" i="1" err="1">
                <a:solidFill>
                  <a:srgbClr val="000000"/>
                </a:solidFill>
                <a:latin typeface="Times New Roman" panose="02020603050405020304" pitchFamily="18" charset="0"/>
                <a:ea typeface="宋体" panose="02010600030101010101" pitchFamily="2" charset="-122"/>
                <a:sym typeface="+mn-ea"/>
              </a:rPr>
              <a:t>b</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a</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，那么一定有</a:t>
            </a:r>
            <a:r>
              <a:rPr lang="en-US" altLang="zh-CN" sz="2400" i="1" err="1">
                <a:solidFill>
                  <a:srgbClr val="000000"/>
                </a:solidFill>
                <a:latin typeface="Times New Roman" panose="02020603050405020304" pitchFamily="18" charset="0"/>
                <a:ea typeface="宋体" panose="02010600030101010101" pitchFamily="2" charset="-122"/>
                <a:sym typeface="+mn-ea"/>
              </a:rPr>
              <a:t>b</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en-US" altLang="zh-CN" sz="2400">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a</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a:t>
            </a:r>
            <a:endParaRPr lang="zh-CN" altLang="en-US" sz="2400" err="1">
              <a:solidFill>
                <a:srgbClr val="000000"/>
              </a:solidFill>
              <a:latin typeface="Times New Roman" panose="02020603050405020304" pitchFamily="18" charset="0"/>
              <a:ea typeface="黑体" panose="02010609060101010101" pitchFamily="49" charset="-122"/>
              <a:sym typeface="+mn-ea"/>
            </a:endParaRPr>
          </a:p>
        </p:txBody>
      </p:sp>
      <p:sp>
        <p:nvSpPr>
          <p:cNvPr id="6" name="文本框 5"/>
          <p:cNvSpPr txBox="1"/>
          <p:nvPr/>
        </p:nvSpPr>
        <p:spPr>
          <a:xfrm>
            <a:off x="1884681" y="3100705"/>
            <a:ext cx="8526145" cy="2489200"/>
          </a:xfrm>
          <a:prstGeom prst="rect">
            <a:avLst/>
          </a:prstGeom>
          <a:noFill/>
        </p:spPr>
        <p:txBody>
          <a:bodyPr wrap="square" rtlCol="0" anchor="t">
            <a:spAutoFit/>
          </a:bodyPr>
          <a:lstStyle/>
          <a:p>
            <a:pPr algn="just" eaLnBrk="0" fontAlgn="base" hangingPunct="0">
              <a:lnSpc>
                <a:spcPct val="130000"/>
              </a:lnSpc>
              <a:spcBef>
                <a:spcPct val="0"/>
              </a:spcBef>
              <a:spcAft>
                <a:spcPct val="0"/>
              </a:spcAft>
              <a:buClr>
                <a:srgbClr val="CCCCFF"/>
              </a:buClr>
              <a:buSzPct val="65000"/>
            </a:pPr>
            <a:r>
              <a:rPr lang="zh-CN" altLang="en-US" sz="2400" dirty="0">
                <a:solidFill>
                  <a:srgbClr val="FF0000"/>
                </a:solidFill>
                <a:latin typeface="黑体" panose="02010609060101010101" pitchFamily="49" charset="-122"/>
                <a:ea typeface="黑体" panose="02010609060101010101" pitchFamily="49" charset="-122"/>
                <a:sym typeface="+mn-ea"/>
              </a:rPr>
              <a:t>证明：</a:t>
            </a:r>
            <a:r>
              <a:rPr lang="zh-CN" altLang="en-US" sz="2400" dirty="0">
                <a:solidFill>
                  <a:srgbClr val="000000"/>
                </a:solidFill>
                <a:latin typeface="黑体" panose="02010609060101010101" pitchFamily="49" charset="-122"/>
                <a:ea typeface="黑体" panose="02010609060101010101" pitchFamily="49" charset="-122"/>
                <a:sym typeface="+mn-ea"/>
              </a:rPr>
              <a:t>由于</a:t>
            </a:r>
            <a:r>
              <a:rPr lang="en-US" altLang="zh-CN" sz="2400" i="1" err="1">
                <a:solidFill>
                  <a:srgbClr val="000000"/>
                </a:solidFill>
                <a:latin typeface="Times New Roman" panose="02020603050405020304" pitchFamily="18" charset="0"/>
                <a:ea typeface="宋体" panose="02010600030101010101" pitchFamily="2" charset="-122"/>
                <a:sym typeface="+mn-ea"/>
              </a:rPr>
              <a:t>b</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a</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表明对于某个</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en-US" altLang="zh-CN" sz="2400">
                <a:solidFill>
                  <a:srgbClr val="000000"/>
                </a:solidFill>
                <a:latin typeface="Times New Roman" panose="02020603050405020304" pitchFamily="18" charset="0"/>
                <a:ea typeface="宋体" panose="02010600030101010101" pitchFamily="2" charset="-122"/>
                <a:sym typeface="+mn-ea"/>
              </a:rPr>
              <a:t>, </a:t>
            </a:r>
            <a:r>
              <a:rPr lang="en-US" altLang="zh-CN" sz="2400" i="1">
                <a:solidFill>
                  <a:srgbClr val="000000"/>
                </a:solidFill>
                <a:latin typeface="Times New Roman" panose="02020603050405020304" pitchFamily="18" charset="0"/>
                <a:ea typeface="宋体" panose="02010600030101010101" pitchFamily="2" charset="-122"/>
                <a:sym typeface="+mn-ea"/>
              </a:rPr>
              <a:t>b</a:t>
            </a:r>
            <a:r>
              <a:rPr lang="en-US" altLang="zh-CN" sz="2400">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a</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x</a:t>
            </a:r>
            <a:r>
              <a:rPr lang="zh-CN" altLang="en-US" sz="2400" dirty="0">
                <a:solidFill>
                  <a:srgbClr val="000000"/>
                </a:solidFill>
                <a:latin typeface="Times New Roman" panose="02020603050405020304" pitchFamily="18" charset="0"/>
                <a:ea typeface="宋体" panose="02010600030101010101" pitchFamily="2"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接下来，如果</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宋体" panose="02010600030101010101" pitchFamily="2" charset="-122"/>
                <a:sym typeface="+mn-ea"/>
              </a:rPr>
              <a:t>b+y</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b</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zh-CN" altLang="en-US" sz="2400" dirty="0">
                <a:solidFill>
                  <a:srgbClr val="000000"/>
                </a:solidFill>
                <a:latin typeface="Times New Roman" panose="02020603050405020304" pitchFamily="18" charset="0"/>
                <a:ea typeface="宋体" panose="02010600030101010101" pitchFamily="2" charset="-122"/>
                <a:sym typeface="+mn-ea"/>
              </a:rPr>
              <a:t>，那么</a:t>
            </a:r>
            <a:r>
              <a:rPr lang="en-US" altLang="zh-CN" sz="2400" i="1" err="1">
                <a:solidFill>
                  <a:srgbClr val="000000"/>
                </a:solidFill>
                <a:latin typeface="Times New Roman" panose="02020603050405020304" pitchFamily="18" charset="0"/>
                <a:ea typeface="宋体" panose="02010600030101010101" pitchFamily="2" charset="-122"/>
                <a:sym typeface="+mn-ea"/>
              </a:rPr>
              <a:t>b+y</a:t>
            </a:r>
            <a:r>
              <a:rPr lang="en-US" altLang="zh-CN" sz="2400" i="1">
                <a:solidFill>
                  <a:srgbClr val="000000"/>
                </a:solidFill>
                <a:latin typeface="Times New Roman" panose="02020603050405020304" pitchFamily="18" charset="0"/>
                <a:ea typeface="宋体" panose="02010600030101010101" pitchFamily="2" charset="-122"/>
                <a:sym typeface="+mn-ea"/>
              </a:rPr>
              <a:t>=</a:t>
            </a:r>
            <a:r>
              <a:rPr lang="en-US" altLang="zh-CN" sz="2400">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a</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x</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+y</a:t>
            </a:r>
            <a:r>
              <a:rPr lang="en-US" altLang="zh-CN" sz="2400" i="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a</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x+y</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a</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en-US" altLang="zh-CN" sz="2400">
                <a:solidFill>
                  <a:srgbClr val="00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即</a:t>
            </a:r>
            <a:r>
              <a:rPr lang="en-US" altLang="zh-CN" sz="2400" dirty="0">
                <a:solidFill>
                  <a:srgbClr val="000000"/>
                </a:solidFill>
                <a:latin typeface="黑体" panose="02010609060101010101" pitchFamily="49" charset="-122"/>
                <a:ea typeface="黑体" panose="02010609060101010101" pitchFamily="49" charset="-122"/>
                <a:sym typeface="+mn-ea"/>
              </a:rPr>
              <a:t> 		</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lnSpc>
                <a:spcPct val="130000"/>
              </a:lnSpc>
              <a:spcBef>
                <a:spcPct val="0"/>
              </a:spcBef>
              <a:spcAft>
                <a:spcPct val="0"/>
              </a:spcAft>
              <a:buClr>
                <a:srgbClr val="CCCCFF"/>
              </a:buClr>
              <a:buSzPct val="65000"/>
            </a:pP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另一方面，类似的，如果</a:t>
            </a:r>
            <a:r>
              <a:rPr lang="en-US" altLang="zh-CN" sz="2400" i="1" err="1">
                <a:solidFill>
                  <a:srgbClr val="000000"/>
                </a:solidFill>
                <a:latin typeface="Times New Roman" panose="02020603050405020304" pitchFamily="18" charset="0"/>
                <a:ea typeface="宋体" panose="02010600030101010101" pitchFamily="2" charset="-122"/>
                <a:sym typeface="+mn-ea"/>
              </a:rPr>
              <a:t>a+z</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a</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zh-CN" altLang="en-US" sz="2400" dirty="0">
                <a:solidFill>
                  <a:srgbClr val="000000"/>
                </a:solidFill>
                <a:latin typeface="Times New Roman" panose="02020603050405020304" pitchFamily="18" charset="0"/>
                <a:ea typeface="宋体" panose="02010600030101010101" pitchFamily="2" charset="-122"/>
                <a:sym typeface="+mn-ea"/>
              </a:rPr>
              <a:t>，那么</a:t>
            </a:r>
            <a:r>
              <a:rPr lang="en-US" altLang="zh-CN" sz="2400" i="1" err="1">
                <a:solidFill>
                  <a:srgbClr val="000000"/>
                </a:solidFill>
                <a:latin typeface="Times New Roman" panose="02020603050405020304" pitchFamily="18" charset="0"/>
                <a:ea typeface="宋体" panose="02010600030101010101" pitchFamily="2" charset="-122"/>
                <a:sym typeface="+mn-ea"/>
              </a:rPr>
              <a:t>a+z</a:t>
            </a:r>
            <a:r>
              <a:rPr lang="en-US" altLang="zh-CN" sz="2400" i="1">
                <a:solidFill>
                  <a:srgbClr val="000000"/>
                </a:solidFill>
                <a:latin typeface="Times New Roman" panose="02020603050405020304" pitchFamily="18" charset="0"/>
                <a:ea typeface="宋体" panose="02010600030101010101" pitchFamily="2" charset="-122"/>
                <a:sym typeface="+mn-ea"/>
              </a:rPr>
              <a:t>=</a:t>
            </a:r>
            <a:r>
              <a:rPr lang="en-US" altLang="zh-CN" sz="2400">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b+x</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+z</a:t>
            </a:r>
          </a:p>
          <a:p>
            <a:pPr algn="just" eaLnBrk="0" fontAlgn="base" hangingPunct="0">
              <a:lnSpc>
                <a:spcPct val="130000"/>
              </a:lnSpc>
              <a:spcBef>
                <a:spcPct val="0"/>
              </a:spcBef>
              <a:spcAft>
                <a:spcPct val="0"/>
              </a:spcAft>
              <a:buClr>
                <a:srgbClr val="CCCCFF"/>
              </a:buClr>
              <a:buSzPct val="65000"/>
            </a:pPr>
            <a:r>
              <a:rPr lang="en-US" altLang="zh-CN" sz="2400" i="1" err="1">
                <a:solidFill>
                  <a:srgbClr val="000000"/>
                </a:solidFill>
                <a:latin typeface="Times New Roman" panose="02020603050405020304" pitchFamily="18" charset="0"/>
                <a:ea typeface="宋体" panose="02010600030101010101" pitchFamily="2" charset="-122"/>
                <a:sym typeface="+mn-ea"/>
              </a:rPr>
              <a:t>	</a:t>
            </a:r>
            <a:r>
              <a:rPr lang="en-US" altLang="zh-CN" sz="2400" i="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b+</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x+z</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b</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en-US" altLang="zh-CN" sz="2400" i="1">
                <a:solidFill>
                  <a:srgbClr val="000000"/>
                </a:solidFill>
                <a:latin typeface="Times New Roman" panose="02020603050405020304" pitchFamily="18" charset="0"/>
                <a:ea typeface="宋体" panose="02010600030101010101" pitchFamily="2" charset="-122"/>
                <a:sym typeface="+mn-ea"/>
              </a:rPr>
              <a:t> </a:t>
            </a:r>
            <a:r>
              <a:rPr lang="en-US" altLang="zh-CN" sz="2400">
                <a:solidFill>
                  <a:srgbClr val="00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即</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因此，</a:t>
            </a:r>
            <a:r>
              <a:rPr lang="en-US" altLang="zh-CN" sz="2400" i="1" err="1">
                <a:solidFill>
                  <a:srgbClr val="000000"/>
                </a:solidFill>
                <a:latin typeface="Times New Roman" panose="02020603050405020304" pitchFamily="18" charset="0"/>
                <a:ea typeface="宋体" panose="02010600030101010101" pitchFamily="2" charset="-122"/>
                <a:sym typeface="+mn-ea"/>
              </a:rPr>
              <a:t>b</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en-US" altLang="zh-CN" sz="2400">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a</a:t>
            </a:r>
            <a:r>
              <a:rPr lang="en-US" altLang="zh-CN" sz="2400" err="1">
                <a:solidFill>
                  <a:srgbClr val="000000"/>
                </a:solidFill>
                <a:latin typeface="Times New Roman" panose="02020603050405020304" pitchFamily="18"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宋体" panose="02010600030101010101" pitchFamily="2" charset="-122"/>
                <a:sym typeface="+mn-ea"/>
              </a:rPr>
              <a:t>C</a:t>
            </a:r>
            <a:r>
              <a:rPr lang="zh-CN" altLang="en-US" sz="2400" dirty="0">
                <a:solidFill>
                  <a:srgbClr val="000000"/>
                </a:solidFill>
                <a:latin typeface="Arial" panose="020B0604020202020204" pitchFamily="34"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9" name="对象 8">
            <a:hlinkClick r:id="" action="ppaction://ole?verb=0"/>
          </p:cNvPr>
          <p:cNvGraphicFramePr>
            <a:graphicFrameLocks noChangeAspect="1"/>
          </p:cNvGraphicFramePr>
          <p:nvPr/>
        </p:nvGraphicFramePr>
        <p:xfrm>
          <a:off x="2894014" y="4110356"/>
          <a:ext cx="1842135" cy="423545"/>
        </p:xfrm>
        <a:graphic>
          <a:graphicData uri="http://schemas.openxmlformats.org/presentationml/2006/ole">
            <mc:AlternateContent xmlns:mc="http://schemas.openxmlformats.org/markup-compatibility/2006">
              <mc:Choice xmlns:v="urn:schemas-microsoft-com:vml" Requires="v">
                <p:oleObj r:id="rId3" imgW="1041400" imgH="215900" progId="Equation.KSEE3">
                  <p:embed/>
                </p:oleObj>
              </mc:Choice>
              <mc:Fallback>
                <p:oleObj r:id="rId3" imgW="1041400" imgH="215900" progId="Equation.KSEE3">
                  <p:embed/>
                  <p:pic>
                    <p:nvPicPr>
                      <p:cNvPr id="9" name="对象 8">
                        <a:hlinkClick r:id="" action="ppaction://ole?verb=0"/>
                      </p:cNvPr>
                      <p:cNvPicPr/>
                      <p:nvPr/>
                    </p:nvPicPr>
                    <p:blipFill>
                      <a:blip r:embed="rId4"/>
                      <a:stretch>
                        <a:fillRect/>
                      </a:stretch>
                    </p:blipFill>
                    <p:spPr>
                      <a:xfrm>
                        <a:off x="2894014" y="4110356"/>
                        <a:ext cx="1842135" cy="423545"/>
                      </a:xfrm>
                      <a:prstGeom prst="rect">
                        <a:avLst/>
                      </a:prstGeom>
                    </p:spPr>
                  </p:pic>
                </p:oleObj>
              </mc:Fallback>
            </mc:AlternateContent>
          </a:graphicData>
        </a:graphic>
      </p:graphicFrame>
      <p:graphicFrame>
        <p:nvGraphicFramePr>
          <p:cNvPr id="11" name="对象 10">
            <a:hlinkClick r:id="" action="ppaction://ole?verb=0"/>
          </p:cNvPr>
          <p:cNvGraphicFramePr>
            <a:graphicFrameLocks noChangeAspect="1"/>
          </p:cNvGraphicFramePr>
          <p:nvPr/>
        </p:nvGraphicFramePr>
        <p:xfrm>
          <a:off x="5561331" y="5100957"/>
          <a:ext cx="1837690" cy="423545"/>
        </p:xfrm>
        <a:graphic>
          <a:graphicData uri="http://schemas.openxmlformats.org/presentationml/2006/ole">
            <mc:AlternateContent xmlns:mc="http://schemas.openxmlformats.org/markup-compatibility/2006">
              <mc:Choice xmlns:v="urn:schemas-microsoft-com:vml" Requires="v">
                <p:oleObj r:id="rId5" imgW="1041400" imgH="215900" progId="Equation.KSEE3">
                  <p:embed/>
                </p:oleObj>
              </mc:Choice>
              <mc:Fallback>
                <p:oleObj r:id="rId5" imgW="1041400" imgH="215900" progId="Equation.KSEE3">
                  <p:embed/>
                  <p:pic>
                    <p:nvPicPr>
                      <p:cNvPr id="11" name="对象 10">
                        <a:hlinkClick r:id="" action="ppaction://ole?verb=0"/>
                      </p:cNvPr>
                      <p:cNvPicPr/>
                      <p:nvPr/>
                    </p:nvPicPr>
                    <p:blipFill>
                      <a:blip r:embed="rId6"/>
                      <a:stretch>
                        <a:fillRect/>
                      </a:stretch>
                    </p:blipFill>
                    <p:spPr>
                      <a:xfrm>
                        <a:off x="5561331" y="5100957"/>
                        <a:ext cx="1837690" cy="423545"/>
                      </a:xfrm>
                      <a:prstGeom prst="rect">
                        <a:avLst/>
                      </a:prstGeom>
                    </p:spPr>
                  </p:pic>
                </p:oleObj>
              </mc:Fallback>
            </mc:AlternateContent>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伴随式译码方法的步骤</a:t>
            </a:r>
          </a:p>
        </p:txBody>
      </p:sp>
      <p:sp>
        <p:nvSpPr>
          <p:cNvPr id="7" name="文本框 6"/>
          <p:cNvSpPr txBox="1"/>
          <p:nvPr/>
        </p:nvSpPr>
        <p:spPr>
          <a:xfrm>
            <a:off x="1854201" y="909321"/>
            <a:ext cx="8474075" cy="2676525"/>
          </a:xfrm>
          <a:prstGeom prst="rect">
            <a:avLst/>
          </a:prstGeom>
          <a:noFill/>
        </p:spPr>
        <p:txBody>
          <a:bodyPr wrap="square" rtlCol="0" anchor="t">
            <a:spAutoFit/>
          </a:bodyPr>
          <a:lstStyle/>
          <a:p>
            <a:pPr algn="just" eaLnBrk="0" fontAlgn="base" hangingPunct="0">
              <a:lnSpc>
                <a:spcPct val="150000"/>
              </a:lnSpc>
              <a:spcBef>
                <a:spcPct val="0"/>
              </a:spcBef>
              <a:spcAft>
                <a:spcPct val="0"/>
              </a:spcAft>
            </a:pPr>
            <a:r>
              <a:rPr lang="zh-CN" altLang="en-US" sz="2800" dirty="0">
                <a:solidFill>
                  <a:srgbClr val="FF0000"/>
                </a:solidFill>
                <a:latin typeface="Arial" panose="020B0604020202020204" pitchFamily="34" charset="0"/>
                <a:ea typeface="黑体" panose="02010609060101010101" pitchFamily="49" charset="-122"/>
                <a:sym typeface="+mn-ea"/>
              </a:rPr>
              <a:t>步骤</a:t>
            </a:r>
            <a:r>
              <a:rPr lang="en-US" altLang="zh-CN" sz="2800">
                <a:solidFill>
                  <a:srgbClr val="FF0000"/>
                </a:solidFill>
                <a:latin typeface="Times New Roman" panose="02020603050405020304" pitchFamily="18" charset="0"/>
                <a:ea typeface="黑体" panose="02010609060101010101" pitchFamily="49" charset="-122"/>
                <a:sym typeface="+mn-ea"/>
              </a:rPr>
              <a:t>1</a:t>
            </a:r>
            <a:r>
              <a:rPr lang="zh-CN" altLang="en-US" sz="2800" dirty="0">
                <a:solidFill>
                  <a:srgbClr val="FF0000"/>
                </a:solidFill>
                <a:latin typeface="Arial" panose="020B0604020202020204" pitchFamily="34" charset="0"/>
                <a:ea typeface="黑体" panose="02010609060101010101" pitchFamily="49" charset="-122"/>
                <a:sym typeface="+mn-ea"/>
              </a:rPr>
              <a:t>：</a:t>
            </a:r>
            <a:r>
              <a:rPr lang="zh-CN" altLang="en-US" sz="2800" dirty="0">
                <a:solidFill>
                  <a:srgbClr val="000000"/>
                </a:solidFill>
                <a:latin typeface="Arial" panose="020B0604020202020204" pitchFamily="34" charset="0"/>
                <a:ea typeface="黑体" panose="02010609060101010101" pitchFamily="49" charset="-122"/>
                <a:sym typeface="+mn-ea"/>
              </a:rPr>
              <a:t>计算接收矢量</a:t>
            </a:r>
            <a:r>
              <a:rPr lang="en-US" altLang="zh-CN" sz="2800" i="1">
                <a:solidFill>
                  <a:srgbClr val="000000"/>
                </a:solidFill>
                <a:latin typeface="Times New Roman" panose="02020603050405020304" pitchFamily="18" charset="0"/>
                <a:ea typeface="黑体" panose="02010609060101010101" pitchFamily="49" charset="-122"/>
                <a:sym typeface="+mn-ea"/>
              </a:rPr>
              <a:t>r</a:t>
            </a:r>
            <a:r>
              <a:rPr lang="zh-CN" altLang="en-US" sz="2800" dirty="0">
                <a:solidFill>
                  <a:srgbClr val="000000"/>
                </a:solidFill>
                <a:latin typeface="Arial" panose="020B0604020202020204" pitchFamily="34" charset="0"/>
                <a:ea typeface="黑体" panose="02010609060101010101" pitchFamily="49" charset="-122"/>
                <a:sym typeface="+mn-ea"/>
              </a:rPr>
              <a:t>的伴随式</a:t>
            </a:r>
            <a:r>
              <a:rPr lang="en-US" altLang="zh-CN" sz="2800" i="1" err="1">
                <a:solidFill>
                  <a:srgbClr val="000000"/>
                </a:solidFill>
                <a:latin typeface="Times New Roman" panose="02020603050405020304" pitchFamily="18" charset="0"/>
                <a:ea typeface="黑体" panose="02010609060101010101" pitchFamily="49" charset="-122"/>
                <a:sym typeface="+mn-ea"/>
              </a:rPr>
              <a:t>r</a:t>
            </a:r>
            <a:r>
              <a:rPr lang="en-US" altLang="en-US" sz="2800" i="1" err="1">
                <a:solidFill>
                  <a:srgbClr val="000000"/>
                </a:solidFill>
                <a:latin typeface="Times New Roman" panose="02020603050405020304" pitchFamily="18" charset="0"/>
                <a:ea typeface="宋体" panose="02010600030101010101" pitchFamily="2" charset="-122"/>
                <a:sym typeface="+mn-ea"/>
              </a:rPr>
              <a:t>·</a:t>
            </a:r>
            <a:r>
              <a:rPr lang="en-US" altLang="zh-CN" sz="2800" i="1" err="1">
                <a:solidFill>
                  <a:srgbClr val="000000"/>
                </a:solidFill>
                <a:latin typeface="Times New Roman" panose="02020603050405020304" pitchFamily="18" charset="0"/>
                <a:ea typeface="黑体" panose="02010609060101010101" pitchFamily="49" charset="-122"/>
                <a:sym typeface="+mn-ea"/>
              </a:rPr>
              <a:t>H</a:t>
            </a:r>
            <a:r>
              <a:rPr lang="en-US" altLang="zh-CN" sz="2800" i="1" baseline="30000" err="1">
                <a:solidFill>
                  <a:srgbClr val="000000"/>
                </a:solidFill>
                <a:latin typeface="Times New Roman" panose="02020603050405020304" pitchFamily="18" charset="0"/>
                <a:ea typeface="黑体" panose="02010609060101010101" pitchFamily="49" charset="-122"/>
                <a:sym typeface="+mn-ea"/>
              </a:rPr>
              <a:t>T</a:t>
            </a:r>
            <a:r>
              <a:rPr lang="zh-CN" altLang="en-US" sz="2800" err="1">
                <a:solidFill>
                  <a:srgbClr val="000000"/>
                </a:solidFill>
                <a:latin typeface="Times New Roman" panose="02020603050405020304" pitchFamily="18" charset="0"/>
                <a:ea typeface="黑体" panose="02010609060101010101" pitchFamily="49" charset="-122"/>
                <a:sym typeface="+mn-ea"/>
              </a:rPr>
              <a:t>；</a:t>
            </a:r>
            <a:endParaRPr lang="en-US" altLang="zh-CN" sz="2800">
              <a:solidFill>
                <a:srgbClr val="000000"/>
              </a:solidFill>
              <a:latin typeface="Arial" panose="020B0604020202020204" pitchFamily="34" charset="0"/>
              <a:ea typeface="黑体" panose="02010609060101010101" pitchFamily="49" charset="-122"/>
            </a:endParaRPr>
          </a:p>
          <a:p>
            <a:pPr algn="just" eaLnBrk="0" fontAlgn="base" hangingPunct="0">
              <a:lnSpc>
                <a:spcPct val="150000"/>
              </a:lnSpc>
              <a:spcBef>
                <a:spcPct val="0"/>
              </a:spcBef>
              <a:spcAft>
                <a:spcPct val="0"/>
              </a:spcAft>
            </a:pPr>
            <a:r>
              <a:rPr lang="zh-CN" altLang="en-US" sz="2800" dirty="0">
                <a:solidFill>
                  <a:srgbClr val="FF0000"/>
                </a:solidFill>
                <a:latin typeface="Arial" panose="020B0604020202020204" pitchFamily="34" charset="0"/>
                <a:ea typeface="黑体" panose="02010609060101010101" pitchFamily="49" charset="-122"/>
                <a:sym typeface="+mn-ea"/>
              </a:rPr>
              <a:t>步骤</a:t>
            </a:r>
            <a:r>
              <a:rPr lang="en-US" altLang="zh-CN" sz="2800">
                <a:solidFill>
                  <a:srgbClr val="FF0000"/>
                </a:solidFill>
                <a:latin typeface="Times New Roman" panose="02020603050405020304" pitchFamily="18" charset="0"/>
                <a:ea typeface="黑体" panose="02010609060101010101" pitchFamily="49" charset="-122"/>
                <a:sym typeface="+mn-ea"/>
              </a:rPr>
              <a:t>2</a:t>
            </a:r>
            <a:r>
              <a:rPr lang="zh-CN" altLang="en-US" sz="2800" dirty="0">
                <a:solidFill>
                  <a:srgbClr val="FF0000"/>
                </a:solidFill>
                <a:latin typeface="Arial" panose="020B0604020202020204" pitchFamily="34" charset="0"/>
                <a:ea typeface="黑体" panose="02010609060101010101" pitchFamily="49" charset="-122"/>
                <a:sym typeface="+mn-ea"/>
              </a:rPr>
              <a:t>：</a:t>
            </a:r>
            <a:r>
              <a:rPr lang="zh-CN" altLang="en-US" sz="2800" dirty="0">
                <a:solidFill>
                  <a:srgbClr val="000000"/>
                </a:solidFill>
                <a:latin typeface="Arial" panose="020B0604020202020204" pitchFamily="34" charset="0"/>
                <a:ea typeface="黑体" panose="02010609060101010101" pitchFamily="49" charset="-122"/>
                <a:sym typeface="+mn-ea"/>
              </a:rPr>
              <a:t>确定伴随式等于</a:t>
            </a:r>
            <a:r>
              <a:rPr lang="en-US" altLang="zh-CN" sz="2800" i="1" err="1">
                <a:solidFill>
                  <a:srgbClr val="000000"/>
                </a:solidFill>
                <a:latin typeface="Times New Roman" panose="02020603050405020304" pitchFamily="18" charset="0"/>
                <a:ea typeface="黑体" panose="02010609060101010101" pitchFamily="49" charset="-122"/>
                <a:sym typeface="+mn-ea"/>
              </a:rPr>
              <a:t>r</a:t>
            </a:r>
            <a:r>
              <a:rPr lang="en-US" altLang="en-US" sz="2800" i="1" err="1">
                <a:solidFill>
                  <a:srgbClr val="000000"/>
                </a:solidFill>
                <a:latin typeface="Times New Roman" panose="02020603050405020304" pitchFamily="18" charset="0"/>
                <a:ea typeface="宋体" panose="02010600030101010101" pitchFamily="2" charset="-122"/>
                <a:sym typeface="+mn-ea"/>
              </a:rPr>
              <a:t>·</a:t>
            </a:r>
            <a:r>
              <a:rPr lang="en-US" altLang="zh-CN" sz="2800" i="1" err="1">
                <a:solidFill>
                  <a:srgbClr val="000000"/>
                </a:solidFill>
                <a:latin typeface="Times New Roman" panose="02020603050405020304" pitchFamily="18" charset="0"/>
                <a:ea typeface="黑体" panose="02010609060101010101" pitchFamily="49" charset="-122"/>
                <a:sym typeface="+mn-ea"/>
              </a:rPr>
              <a:t>H</a:t>
            </a:r>
            <a:r>
              <a:rPr lang="en-US" altLang="zh-CN" sz="2800" i="1" baseline="30000" err="1">
                <a:solidFill>
                  <a:srgbClr val="000000"/>
                </a:solidFill>
                <a:latin typeface="Times New Roman" panose="02020603050405020304" pitchFamily="18" charset="0"/>
                <a:ea typeface="黑体" panose="02010609060101010101" pitchFamily="49" charset="-122"/>
                <a:sym typeface="+mn-ea"/>
              </a:rPr>
              <a:t>T</a:t>
            </a:r>
            <a:r>
              <a:rPr lang="zh-CN" altLang="en-US" sz="2800" dirty="0">
                <a:solidFill>
                  <a:srgbClr val="000000"/>
                </a:solidFill>
                <a:latin typeface="Times New Roman" panose="02020603050405020304" pitchFamily="18" charset="0"/>
                <a:ea typeface="黑体" panose="02010609060101010101" pitchFamily="49" charset="-122"/>
                <a:sym typeface="+mn-ea"/>
              </a:rPr>
              <a:t>对应</a:t>
            </a:r>
            <a:r>
              <a:rPr lang="zh-CN" altLang="en-US" sz="2800" dirty="0">
                <a:solidFill>
                  <a:srgbClr val="000000"/>
                </a:solidFill>
                <a:latin typeface="Arial" panose="020B0604020202020204" pitchFamily="34" charset="0"/>
                <a:ea typeface="黑体" panose="02010609060101010101" pitchFamily="49" charset="-122"/>
                <a:sym typeface="+mn-ea"/>
              </a:rPr>
              <a:t>的陪集首</a:t>
            </a:r>
            <a:r>
              <a:rPr lang="en-US" altLang="zh-CN" sz="2800" i="1" err="1">
                <a:solidFill>
                  <a:srgbClr val="000000"/>
                </a:solidFill>
                <a:latin typeface="Times New Roman" panose="02020603050405020304" pitchFamily="18" charset="0"/>
                <a:ea typeface="黑体" panose="02010609060101010101" pitchFamily="49" charset="-122"/>
                <a:sym typeface="+mn-ea"/>
              </a:rPr>
              <a:t>e</a:t>
            </a:r>
            <a:r>
              <a:rPr lang="en-US" altLang="zh-CN" sz="2800" i="1" baseline="-25000" err="1">
                <a:solidFill>
                  <a:srgbClr val="000000"/>
                </a:solidFill>
                <a:latin typeface="Times New Roman" panose="02020603050405020304" pitchFamily="18" charset="0"/>
                <a:ea typeface="黑体" panose="02010609060101010101" pitchFamily="49" charset="-122"/>
                <a:sym typeface="+mn-ea"/>
              </a:rPr>
              <a:t>i</a:t>
            </a:r>
            <a:r>
              <a:rPr lang="zh-CN" altLang="en-US" sz="2800" dirty="0">
                <a:solidFill>
                  <a:srgbClr val="000000"/>
                </a:solidFill>
                <a:latin typeface="Arial" panose="020B0604020202020204" pitchFamily="34" charset="0"/>
                <a:ea typeface="黑体" panose="02010609060101010101" pitchFamily="49" charset="-122"/>
                <a:sym typeface="+mn-ea"/>
              </a:rPr>
              <a:t>，然后假</a:t>
            </a:r>
            <a:r>
              <a:rPr lang="en-US" altLang="zh-CN" sz="2800" dirty="0">
                <a:solidFill>
                  <a:srgbClr val="000000"/>
                </a:solidFill>
                <a:latin typeface="Arial" panose="020B0604020202020204" pitchFamily="34" charset="0"/>
                <a:ea typeface="黑体" panose="02010609060101010101" pitchFamily="49" charset="-122"/>
                <a:sym typeface="+mn-ea"/>
              </a:rPr>
              <a:t>		    </a:t>
            </a:r>
            <a:r>
              <a:rPr lang="zh-CN" altLang="en-US" sz="2800" dirty="0">
                <a:solidFill>
                  <a:srgbClr val="000000"/>
                </a:solidFill>
                <a:latin typeface="Arial" panose="020B0604020202020204" pitchFamily="34" charset="0"/>
                <a:ea typeface="黑体" panose="02010609060101010101" pitchFamily="49" charset="-122"/>
                <a:sym typeface="+mn-ea"/>
              </a:rPr>
              <a:t>定</a:t>
            </a:r>
            <a:r>
              <a:rPr lang="en-US" altLang="zh-CN" sz="2800" i="1" err="1">
                <a:solidFill>
                  <a:srgbClr val="000000"/>
                </a:solidFill>
                <a:latin typeface="Times New Roman" panose="02020603050405020304" pitchFamily="18" charset="0"/>
                <a:ea typeface="黑体" panose="02010609060101010101" pitchFamily="49" charset="-122"/>
                <a:sym typeface="+mn-ea"/>
              </a:rPr>
              <a:t>e</a:t>
            </a:r>
            <a:r>
              <a:rPr lang="en-US" altLang="zh-CN" sz="2800" i="1" baseline="-25000" err="1">
                <a:solidFill>
                  <a:srgbClr val="000000"/>
                </a:solidFill>
                <a:latin typeface="Times New Roman" panose="02020603050405020304" pitchFamily="18" charset="0"/>
                <a:ea typeface="黑体" panose="02010609060101010101" pitchFamily="49" charset="-122"/>
                <a:sym typeface="+mn-ea"/>
              </a:rPr>
              <a:t>i</a:t>
            </a:r>
            <a:r>
              <a:rPr lang="zh-CN" altLang="en-US" sz="2800" dirty="0">
                <a:solidFill>
                  <a:srgbClr val="000000"/>
                </a:solidFill>
                <a:latin typeface="Arial" panose="020B0604020202020204" pitchFamily="34" charset="0"/>
                <a:ea typeface="黑体" panose="02010609060101010101" pitchFamily="49" charset="-122"/>
                <a:sym typeface="+mn-ea"/>
              </a:rPr>
              <a:t>是信道引起的错误图样；</a:t>
            </a:r>
            <a:endParaRPr lang="zh-CN" altLang="en-US" sz="2800" i="1" dirty="0">
              <a:solidFill>
                <a:srgbClr val="000000"/>
              </a:solidFill>
              <a:latin typeface="Times New Roman" panose="02020603050405020304" pitchFamily="18" charset="0"/>
              <a:ea typeface="黑体" panose="02010609060101010101" pitchFamily="49" charset="-122"/>
            </a:endParaRPr>
          </a:p>
          <a:p>
            <a:pPr algn="just" eaLnBrk="0" fontAlgn="base" hangingPunct="0">
              <a:lnSpc>
                <a:spcPct val="150000"/>
              </a:lnSpc>
              <a:spcBef>
                <a:spcPct val="0"/>
              </a:spcBef>
              <a:spcAft>
                <a:spcPct val="0"/>
              </a:spcAft>
            </a:pPr>
            <a:r>
              <a:rPr lang="zh-CN" altLang="en-US" sz="2800" dirty="0">
                <a:solidFill>
                  <a:srgbClr val="FF0000"/>
                </a:solidFill>
                <a:latin typeface="Arial" panose="020B0604020202020204" pitchFamily="34" charset="0"/>
                <a:ea typeface="黑体" panose="02010609060101010101" pitchFamily="49" charset="-122"/>
                <a:sym typeface="+mn-ea"/>
              </a:rPr>
              <a:t>步骤</a:t>
            </a:r>
            <a:r>
              <a:rPr lang="en-US" altLang="zh-CN" sz="2800">
                <a:solidFill>
                  <a:srgbClr val="FF0000"/>
                </a:solidFill>
                <a:latin typeface="Times New Roman" panose="02020603050405020304" pitchFamily="18" charset="0"/>
                <a:ea typeface="黑体" panose="02010609060101010101" pitchFamily="49" charset="-122"/>
                <a:sym typeface="+mn-ea"/>
              </a:rPr>
              <a:t>3</a:t>
            </a:r>
            <a:r>
              <a:rPr lang="zh-CN" altLang="en-US" sz="2800" dirty="0">
                <a:solidFill>
                  <a:srgbClr val="FF0000"/>
                </a:solidFill>
                <a:latin typeface="Arial" panose="020B0604020202020204" pitchFamily="34" charset="0"/>
                <a:ea typeface="黑体" panose="02010609060101010101" pitchFamily="49" charset="-122"/>
                <a:sym typeface="+mn-ea"/>
              </a:rPr>
              <a:t>：</a:t>
            </a:r>
            <a:r>
              <a:rPr lang="zh-CN" altLang="en-US" sz="2800" dirty="0">
                <a:solidFill>
                  <a:srgbClr val="000000"/>
                </a:solidFill>
                <a:latin typeface="Arial" panose="020B0604020202020204" pitchFamily="34" charset="0"/>
                <a:ea typeface="黑体" panose="02010609060101010101" pitchFamily="49" charset="-122"/>
                <a:sym typeface="+mn-ea"/>
              </a:rPr>
              <a:t>将接收矢量</a:t>
            </a:r>
            <a:r>
              <a:rPr lang="en-US" altLang="zh-CN" sz="2800" i="1">
                <a:solidFill>
                  <a:srgbClr val="000000"/>
                </a:solidFill>
                <a:latin typeface="Times New Roman" panose="02020603050405020304" pitchFamily="18" charset="0"/>
                <a:ea typeface="黑体" panose="02010609060101010101" pitchFamily="49" charset="-122"/>
                <a:sym typeface="+mn-ea"/>
              </a:rPr>
              <a:t>r</a:t>
            </a:r>
            <a:r>
              <a:rPr lang="zh-CN" altLang="en-US" sz="2800" dirty="0">
                <a:solidFill>
                  <a:srgbClr val="000000"/>
                </a:solidFill>
                <a:latin typeface="Arial" panose="020B0604020202020204" pitchFamily="34" charset="0"/>
                <a:ea typeface="黑体" panose="02010609060101010101" pitchFamily="49" charset="-122"/>
                <a:sym typeface="+mn-ea"/>
              </a:rPr>
              <a:t>译码为码字</a:t>
            </a:r>
            <a:r>
              <a:rPr lang="en-US" altLang="zh-CN" sz="2800" i="1">
                <a:solidFill>
                  <a:srgbClr val="000000"/>
                </a:solidFill>
                <a:latin typeface="Times New Roman" panose="02020603050405020304" pitchFamily="18" charset="0"/>
                <a:ea typeface="黑体" panose="02010609060101010101" pitchFamily="49" charset="-122"/>
                <a:sym typeface="+mn-ea"/>
              </a:rPr>
              <a:t>v=</a:t>
            </a:r>
            <a:r>
              <a:rPr lang="en-US" altLang="zh-CN" sz="2800" i="1" err="1">
                <a:solidFill>
                  <a:srgbClr val="000000"/>
                </a:solidFill>
                <a:latin typeface="Times New Roman" panose="02020603050405020304" pitchFamily="18" charset="0"/>
                <a:ea typeface="黑体" panose="02010609060101010101" pitchFamily="49" charset="-122"/>
                <a:sym typeface="+mn-ea"/>
              </a:rPr>
              <a:t>r+e</a:t>
            </a:r>
            <a:r>
              <a:rPr lang="en-US" altLang="zh-CN" sz="2800" i="1" baseline="-25000" err="1">
                <a:solidFill>
                  <a:srgbClr val="000000"/>
                </a:solidFill>
                <a:latin typeface="Times New Roman" panose="02020603050405020304" pitchFamily="18" charset="0"/>
                <a:ea typeface="黑体" panose="02010609060101010101" pitchFamily="49" charset="-122"/>
                <a:sym typeface="+mn-ea"/>
              </a:rPr>
              <a:t>i</a:t>
            </a:r>
            <a:r>
              <a:rPr lang="zh-CN" altLang="en-US" sz="2800" err="1">
                <a:solidFill>
                  <a:srgbClr val="000000"/>
                </a:solidFill>
                <a:latin typeface="Times New Roman" panose="02020603050405020304" pitchFamily="18" charset="0"/>
                <a:ea typeface="黑体" panose="02010609060101010101" pitchFamily="49" charset="-122"/>
                <a:sym typeface="+mn-ea"/>
              </a:rPr>
              <a: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线性码在</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BSC</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的不可检错误概率</a:t>
            </a:r>
          </a:p>
        </p:txBody>
      </p:sp>
      <p:sp>
        <p:nvSpPr>
          <p:cNvPr id="7" name="文本框 6"/>
          <p:cNvSpPr txBox="1"/>
          <p:nvPr/>
        </p:nvSpPr>
        <p:spPr>
          <a:xfrm>
            <a:off x="1854201" y="909320"/>
            <a:ext cx="7440295" cy="656846"/>
          </a:xfrm>
          <a:prstGeom prst="rect">
            <a:avLst/>
          </a:prstGeom>
          <a:noFill/>
        </p:spPr>
        <p:txBody>
          <a:bodyPr wrap="square" rtlCol="0" anchor="t">
            <a:spAutoFit/>
          </a:bodyPr>
          <a:lstStyle/>
          <a:p>
            <a:pPr algn="just" eaLnBrk="0" fontAlgn="base" hangingPunct="0">
              <a:lnSpc>
                <a:spcPct val="150000"/>
              </a:lnSpc>
              <a:spcBef>
                <a:spcPct val="0"/>
              </a:spcBef>
              <a:spcAft>
                <a:spcPct val="0"/>
              </a:spcAft>
            </a:pPr>
            <a:r>
              <a:rPr lang="zh-CN" altLang="en-US" sz="2800" err="1">
                <a:solidFill>
                  <a:srgbClr val="000000"/>
                </a:solidFill>
                <a:latin typeface="Times New Roman" panose="02020603050405020304" pitchFamily="18" charset="0"/>
                <a:ea typeface="黑体" panose="02010609060101010101" pitchFamily="49" charset="-122"/>
                <a:sym typeface="+mn-ea"/>
              </a:rPr>
              <a:t>用码长和最小距离计算</a:t>
            </a:r>
            <a:r>
              <a:rPr lang="en-US" altLang="zh-CN" sz="2800" err="1">
                <a:solidFill>
                  <a:srgbClr val="000000"/>
                </a:solidFill>
                <a:latin typeface="Times New Roman" panose="02020603050405020304" pitchFamily="18" charset="0"/>
                <a:ea typeface="黑体" panose="02010609060101010101" pitchFamily="49" charset="-122"/>
                <a:sym typeface="+mn-ea"/>
              </a:rPr>
              <a:t>(</a:t>
            </a:r>
            <a:r>
              <a:rPr lang="en-US" altLang="zh-CN" sz="2800" i="1" err="1">
                <a:solidFill>
                  <a:srgbClr val="000000"/>
                </a:solidFill>
                <a:latin typeface="Times New Roman" panose="02020603050405020304" pitchFamily="18" charset="0"/>
                <a:ea typeface="黑体" panose="02010609060101010101" pitchFamily="49" charset="-122"/>
                <a:sym typeface="+mn-ea"/>
              </a:rPr>
              <a:t>p</a:t>
            </a:r>
            <a:r>
              <a:rPr lang="zh-CN" altLang="en-US" sz="2800" err="1">
                <a:solidFill>
                  <a:srgbClr val="000000"/>
                </a:solidFill>
                <a:latin typeface="Times New Roman" panose="02020603050405020304" pitchFamily="18" charset="0"/>
                <a:ea typeface="黑体" panose="02010609060101010101" pitchFamily="49" charset="-122"/>
                <a:sym typeface="+mn-ea"/>
              </a:rPr>
              <a:t>为信道转移概率</a:t>
            </a:r>
            <a:r>
              <a:rPr lang="en-US" altLang="zh-CN" sz="2800" err="1">
                <a:solidFill>
                  <a:srgbClr val="000000"/>
                </a:solidFill>
                <a:latin typeface="Times New Roman" panose="02020603050405020304" pitchFamily="18" charset="0"/>
                <a:ea typeface="黑体" panose="02010609060101010101" pitchFamily="49" charset="-122"/>
                <a:sym typeface="+mn-ea"/>
              </a:rPr>
              <a:t>)</a:t>
            </a:r>
            <a:r>
              <a:rPr lang="zh-CN" altLang="en-US" sz="2800" err="1">
                <a:solidFill>
                  <a:srgbClr val="000000"/>
                </a:solidFill>
                <a:latin typeface="Times New Roman" panose="02020603050405020304" pitchFamily="18" charset="0"/>
                <a:ea typeface="黑体" panose="02010609060101010101" pitchFamily="49" charset="-122"/>
                <a:sym typeface="+mn-ea"/>
              </a:rPr>
              <a:t>：</a:t>
            </a:r>
          </a:p>
        </p:txBody>
      </p:sp>
      <p:graphicFrame>
        <p:nvGraphicFramePr>
          <p:cNvPr id="3" name="对象 2">
            <a:hlinkClick r:id="" action="ppaction://ole?verb=0"/>
          </p:cNvPr>
          <p:cNvGraphicFramePr>
            <a:graphicFrameLocks noChangeAspect="1"/>
          </p:cNvGraphicFramePr>
          <p:nvPr/>
        </p:nvGraphicFramePr>
        <p:xfrm>
          <a:off x="2742884" y="1752601"/>
          <a:ext cx="2646045" cy="922655"/>
        </p:xfrm>
        <a:graphic>
          <a:graphicData uri="http://schemas.openxmlformats.org/presentationml/2006/ole">
            <mc:AlternateContent xmlns:mc="http://schemas.openxmlformats.org/markup-compatibility/2006">
              <mc:Choice xmlns:v="urn:schemas-microsoft-com:vml" Requires="v">
                <p:oleObj r:id="rId3" imgW="1498600" imgH="469900" progId="Equation.KSEE3">
                  <p:embed/>
                </p:oleObj>
              </mc:Choice>
              <mc:Fallback>
                <p:oleObj r:id="rId3" imgW="1498600" imgH="469900" progId="Equation.KSEE3">
                  <p:embed/>
                  <p:pic>
                    <p:nvPicPr>
                      <p:cNvPr id="3" name="对象 2">
                        <a:hlinkClick r:id="" action="ppaction://ole?verb=0"/>
                      </p:cNvPr>
                      <p:cNvPicPr/>
                      <p:nvPr/>
                    </p:nvPicPr>
                    <p:blipFill>
                      <a:blip r:embed="rId4"/>
                      <a:stretch>
                        <a:fillRect/>
                      </a:stretch>
                    </p:blipFill>
                    <p:spPr>
                      <a:xfrm>
                        <a:off x="2742884" y="1752601"/>
                        <a:ext cx="2646045" cy="922655"/>
                      </a:xfrm>
                      <a:prstGeom prst="rect">
                        <a:avLst/>
                      </a:prstGeom>
                    </p:spPr>
                  </p:pic>
                </p:oleObj>
              </mc:Fallback>
            </mc:AlternateContent>
          </a:graphicData>
        </a:graphic>
      </p:graphicFrame>
      <p:graphicFrame>
        <p:nvGraphicFramePr>
          <p:cNvPr id="4" name="对象 3">
            <a:hlinkClick r:id="" action="ppaction://ole?verb=0"/>
          </p:cNvPr>
          <p:cNvGraphicFramePr>
            <a:graphicFrameLocks noChangeAspect="1"/>
          </p:cNvGraphicFramePr>
          <p:nvPr/>
        </p:nvGraphicFramePr>
        <p:xfrm>
          <a:off x="6857684" y="1827213"/>
          <a:ext cx="2961005" cy="897890"/>
        </p:xfrm>
        <a:graphic>
          <a:graphicData uri="http://schemas.openxmlformats.org/presentationml/2006/ole">
            <mc:AlternateContent xmlns:mc="http://schemas.openxmlformats.org/markup-compatibility/2006">
              <mc:Choice xmlns:v="urn:schemas-microsoft-com:vml" Requires="v">
                <p:oleObj r:id="rId5" imgW="1676400" imgH="457200" progId="Equation.KSEE3">
                  <p:embed/>
                </p:oleObj>
              </mc:Choice>
              <mc:Fallback>
                <p:oleObj r:id="rId5" imgW="1676400" imgH="457200" progId="Equation.KSEE3">
                  <p:embed/>
                  <p:pic>
                    <p:nvPicPr>
                      <p:cNvPr id="4" name="对象 3">
                        <a:hlinkClick r:id="" action="ppaction://ole?verb=0"/>
                      </p:cNvPr>
                      <p:cNvPicPr/>
                      <p:nvPr/>
                    </p:nvPicPr>
                    <p:blipFill>
                      <a:blip r:embed="rId6"/>
                      <a:stretch>
                        <a:fillRect/>
                      </a:stretch>
                    </p:blipFill>
                    <p:spPr>
                      <a:xfrm>
                        <a:off x="6857684" y="1827213"/>
                        <a:ext cx="2961005" cy="897890"/>
                      </a:xfrm>
                      <a:prstGeom prst="rect">
                        <a:avLst/>
                      </a:prstGeom>
                    </p:spPr>
                  </p:pic>
                </p:oleObj>
              </mc:Fallback>
            </mc:AlternateContent>
          </a:graphicData>
        </a:graphic>
      </p:graphicFrame>
      <p:sp>
        <p:nvSpPr>
          <p:cNvPr id="6" name="文本框 5"/>
          <p:cNvSpPr txBox="1"/>
          <p:nvPr/>
        </p:nvSpPr>
        <p:spPr>
          <a:xfrm>
            <a:off x="5759450" y="1716405"/>
            <a:ext cx="679450" cy="656846"/>
          </a:xfrm>
          <a:prstGeom prst="rect">
            <a:avLst/>
          </a:prstGeom>
          <a:noFill/>
        </p:spPr>
        <p:txBody>
          <a:bodyPr wrap="square" rtlCol="0" anchor="t">
            <a:spAutoFit/>
          </a:bodyPr>
          <a:lstStyle/>
          <a:p>
            <a:pPr algn="just" eaLnBrk="0" fontAlgn="base" hangingPunct="0">
              <a:lnSpc>
                <a:spcPct val="150000"/>
              </a:lnSpc>
              <a:spcBef>
                <a:spcPct val="0"/>
              </a:spcBef>
              <a:spcAft>
                <a:spcPct val="0"/>
              </a:spcAft>
            </a:pPr>
            <a:r>
              <a:rPr lang="zh-CN" altLang="en-US" sz="2800" err="1">
                <a:solidFill>
                  <a:srgbClr val="000000"/>
                </a:solidFill>
                <a:latin typeface="Times New Roman" panose="02020603050405020304" pitchFamily="18" charset="0"/>
                <a:ea typeface="黑体" panose="02010609060101010101" pitchFamily="49" charset="-122"/>
                <a:sym typeface="+mn-ea"/>
              </a:rPr>
              <a:t>或</a:t>
            </a:r>
          </a:p>
        </p:txBody>
      </p:sp>
      <p:sp>
        <p:nvSpPr>
          <p:cNvPr id="8" name="文本框 7"/>
          <p:cNvSpPr txBox="1"/>
          <p:nvPr/>
        </p:nvSpPr>
        <p:spPr>
          <a:xfrm>
            <a:off x="1905635" y="3076575"/>
            <a:ext cx="6240780" cy="656846"/>
          </a:xfrm>
          <a:prstGeom prst="rect">
            <a:avLst/>
          </a:prstGeom>
          <a:noFill/>
        </p:spPr>
        <p:txBody>
          <a:bodyPr wrap="square" rtlCol="0" anchor="t">
            <a:spAutoFit/>
          </a:bodyPr>
          <a:lstStyle/>
          <a:p>
            <a:pPr algn="just" eaLnBrk="0" fontAlgn="base" hangingPunct="0">
              <a:lnSpc>
                <a:spcPct val="150000"/>
              </a:lnSpc>
              <a:spcBef>
                <a:spcPct val="0"/>
              </a:spcBef>
              <a:spcAft>
                <a:spcPct val="0"/>
              </a:spcAft>
            </a:pPr>
            <a:r>
              <a:rPr lang="zh-CN" altLang="en-US" sz="2800" err="1">
                <a:solidFill>
                  <a:srgbClr val="000000"/>
                </a:solidFill>
                <a:latin typeface="Times New Roman" panose="02020603050405020304" pitchFamily="18" charset="0"/>
                <a:ea typeface="黑体" panose="02010609060101010101" pitchFamily="49" charset="-122"/>
                <a:sym typeface="+mn-ea"/>
              </a:rPr>
              <a:t>用码的重量分布计算</a:t>
            </a:r>
            <a:r>
              <a:rPr lang="en-US" altLang="zh-CN" sz="2800" err="1">
                <a:solidFill>
                  <a:srgbClr val="000000"/>
                </a:solidFill>
                <a:latin typeface="Times New Roman" panose="02020603050405020304" pitchFamily="18" charset="0"/>
                <a:ea typeface="黑体" panose="02010609060101010101" pitchFamily="49" charset="-122"/>
                <a:sym typeface="+mn-ea"/>
              </a:rPr>
              <a:t>(</a:t>
            </a:r>
            <a:r>
              <a:rPr lang="en-US" altLang="zh-CN" sz="2800" i="1" err="1">
                <a:solidFill>
                  <a:srgbClr val="000000"/>
                </a:solidFill>
                <a:latin typeface="Times New Roman" panose="02020603050405020304" pitchFamily="18" charset="0"/>
                <a:ea typeface="黑体" panose="02010609060101010101" pitchFamily="49" charset="-122"/>
                <a:sym typeface="+mn-ea"/>
              </a:rPr>
              <a:t>A</a:t>
            </a:r>
            <a:r>
              <a:rPr lang="en-US" altLang="zh-CN" sz="2800" i="1" baseline="-25000" err="1">
                <a:solidFill>
                  <a:srgbClr val="000000"/>
                </a:solidFill>
                <a:latin typeface="Times New Roman" panose="02020603050405020304" pitchFamily="18" charset="0"/>
                <a:ea typeface="黑体" panose="02010609060101010101" pitchFamily="49" charset="-122"/>
                <a:sym typeface="+mn-ea"/>
              </a:rPr>
              <a:t>i</a:t>
            </a:r>
            <a:r>
              <a:rPr lang="zh-CN" altLang="en-US" sz="2800" err="1">
                <a:solidFill>
                  <a:srgbClr val="000000"/>
                </a:solidFill>
                <a:latin typeface="Times New Roman" panose="02020603050405020304" pitchFamily="18" charset="0"/>
                <a:ea typeface="黑体" panose="02010609060101010101" pitchFamily="49" charset="-122"/>
                <a:sym typeface="+mn-ea"/>
              </a:rPr>
              <a:t>为重量分布</a:t>
            </a:r>
            <a:r>
              <a:rPr lang="en-US" altLang="zh-CN" sz="2800" err="1">
                <a:solidFill>
                  <a:srgbClr val="000000"/>
                </a:solidFill>
                <a:latin typeface="Times New Roman" panose="02020603050405020304" pitchFamily="18" charset="0"/>
                <a:ea typeface="黑体" panose="02010609060101010101" pitchFamily="49" charset="-122"/>
                <a:sym typeface="+mn-ea"/>
              </a:rPr>
              <a:t>)</a:t>
            </a:r>
            <a:r>
              <a:rPr lang="zh-CN" altLang="en-US" sz="2800" err="1">
                <a:solidFill>
                  <a:srgbClr val="000000"/>
                </a:solidFill>
                <a:latin typeface="Times New Roman" panose="02020603050405020304" pitchFamily="18" charset="0"/>
                <a:ea typeface="黑体" panose="02010609060101010101" pitchFamily="49" charset="-122"/>
                <a:sym typeface="+mn-ea"/>
              </a:rPr>
              <a:t>：</a:t>
            </a:r>
          </a:p>
        </p:txBody>
      </p:sp>
      <p:graphicFrame>
        <p:nvGraphicFramePr>
          <p:cNvPr id="9" name="对象 8">
            <a:hlinkClick r:id="" action="ppaction://ole?verb=0"/>
          </p:cNvPr>
          <p:cNvGraphicFramePr>
            <a:graphicFrameLocks noChangeAspect="1"/>
          </p:cNvGraphicFramePr>
          <p:nvPr/>
        </p:nvGraphicFramePr>
        <p:xfrm>
          <a:off x="2819084" y="3962083"/>
          <a:ext cx="2331085" cy="848360"/>
        </p:xfrm>
        <a:graphic>
          <a:graphicData uri="http://schemas.openxmlformats.org/presentationml/2006/ole">
            <mc:AlternateContent xmlns:mc="http://schemas.openxmlformats.org/markup-compatibility/2006">
              <mc:Choice xmlns:v="urn:schemas-microsoft-com:vml" Requires="v">
                <p:oleObj r:id="rId7" imgW="1320165" imgH="431800" progId="Equation.KSEE3">
                  <p:embed/>
                </p:oleObj>
              </mc:Choice>
              <mc:Fallback>
                <p:oleObj r:id="rId7" imgW="1320165" imgH="431800" progId="Equation.KSEE3">
                  <p:embed/>
                  <p:pic>
                    <p:nvPicPr>
                      <p:cNvPr id="9" name="对象 8">
                        <a:hlinkClick r:id="" action="ppaction://ole?verb=0"/>
                      </p:cNvPr>
                      <p:cNvPicPr/>
                      <p:nvPr/>
                    </p:nvPicPr>
                    <p:blipFill>
                      <a:blip r:embed="rId8"/>
                      <a:stretch>
                        <a:fillRect/>
                      </a:stretch>
                    </p:blipFill>
                    <p:spPr>
                      <a:xfrm>
                        <a:off x="2819084" y="3962083"/>
                        <a:ext cx="2331085" cy="848360"/>
                      </a:xfrm>
                      <a:prstGeom prst="rect">
                        <a:avLst/>
                      </a:prstGeom>
                    </p:spPr>
                  </p:pic>
                </p:oleObj>
              </mc:Fallback>
            </mc:AlternateContent>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a:xfrm>
            <a:off x="1853565" y="1027431"/>
            <a:ext cx="8445500" cy="254063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扩张码</a:t>
            </a:r>
          </a:p>
        </p:txBody>
      </p:sp>
      <p:sp>
        <p:nvSpPr>
          <p:cNvPr id="7" name="文本框 6"/>
          <p:cNvSpPr txBox="1"/>
          <p:nvPr/>
        </p:nvSpPr>
        <p:spPr>
          <a:xfrm>
            <a:off x="2016126" y="891541"/>
            <a:ext cx="8061325" cy="2676525"/>
          </a:xfrm>
          <a:prstGeom prst="rect">
            <a:avLst/>
          </a:prstGeom>
          <a:noFill/>
        </p:spPr>
        <p:txBody>
          <a:bodyPr wrap="square" rtlCol="0" anchor="t">
            <a:spAutoFit/>
          </a:bodyPr>
          <a:lstStyle/>
          <a:p>
            <a:pPr algn="just" eaLnBrk="0" fontAlgn="base" hangingPunct="0">
              <a:lnSpc>
                <a:spcPct val="150000"/>
              </a:lnSpc>
              <a:spcBef>
                <a:spcPct val="0"/>
              </a:spcBef>
              <a:spcAft>
                <a:spcPct val="0"/>
              </a:spcAft>
            </a:pPr>
            <a:r>
              <a:rPr lang="zh-CN" altLang="en-US" sz="2800" err="1">
                <a:solidFill>
                  <a:srgbClr val="FF0000"/>
                </a:solidFill>
                <a:latin typeface="Times New Roman" panose="02020603050405020304" pitchFamily="18" charset="0"/>
                <a:ea typeface="黑体" panose="02010609060101010101" pitchFamily="49" charset="-122"/>
                <a:sym typeface="+mn-ea"/>
              </a:rPr>
              <a:t>线性扩张：</a:t>
            </a:r>
            <a:r>
              <a:rPr lang="zh-CN" altLang="en-US"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设</a:t>
            </a:r>
            <a:r>
              <a:rPr lang="en-US" altLang="zh-CN" sz="28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S</a:t>
            </a:r>
            <a:r>
              <a:rPr lang="zh-CN" altLang="en-US"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为一个长度为</a:t>
            </a:r>
            <a:r>
              <a:rPr lang="en-US" altLang="zh-CN" sz="28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且分量在</a:t>
            </a:r>
            <a:r>
              <a:rPr lang="en-US" altLang="zh-CN"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GF(</a:t>
            </a:r>
            <a:r>
              <a:rPr lang="en-US" altLang="zh-CN" sz="28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a:t>
            </a:r>
            <a:r>
              <a:rPr lang="en-US" altLang="zh-CN"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上的向量集合。</a:t>
            </a:r>
            <a:r>
              <a:rPr lang="en-US" altLang="zh-CN" sz="28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S</a:t>
            </a:r>
            <a:r>
              <a:rPr lang="zh-CN" altLang="en-US"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中所有向量的线性组合称为</a:t>
            </a:r>
            <a:r>
              <a:rPr lang="en-US" altLang="zh-CN" sz="28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S</a:t>
            </a:r>
            <a:r>
              <a:rPr lang="zh-CN" altLang="en-US"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的线性扩张，记为</a:t>
            </a:r>
            <a:r>
              <a:rPr lang="en-US" altLang="zh-CN"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&lt;</a:t>
            </a:r>
            <a:r>
              <a:rPr lang="en-US" altLang="zh-CN" sz="28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S</a:t>
            </a:r>
            <a:r>
              <a:rPr lang="en-US" altLang="zh-CN"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&gt;</a:t>
            </a:r>
            <a:r>
              <a:rPr lang="zh-CN" altLang="en-US"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。即线性扩张是由</a:t>
            </a:r>
            <a:r>
              <a:rPr lang="en-US" altLang="zh-CN" sz="28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S</a:t>
            </a:r>
            <a:r>
              <a:rPr lang="zh-CN" altLang="en-US"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生成的</a:t>
            </a:r>
            <a:r>
              <a:rPr lang="en-US" altLang="zh-CN"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GF(</a:t>
            </a:r>
            <a:r>
              <a:rPr lang="en-US" altLang="zh-CN" sz="28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a:t>
            </a:r>
            <a:r>
              <a:rPr lang="en-US" altLang="zh-CN" sz="2800" i="1" baseline="300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的一个子空间。</a:t>
            </a:r>
          </a:p>
        </p:txBody>
      </p:sp>
      <p:sp>
        <p:nvSpPr>
          <p:cNvPr id="3" name="文本框 2"/>
          <p:cNvSpPr txBox="1"/>
          <p:nvPr/>
        </p:nvSpPr>
        <p:spPr>
          <a:xfrm>
            <a:off x="1905001" y="3886200"/>
            <a:ext cx="8474075" cy="2489200"/>
          </a:xfrm>
          <a:prstGeom prst="rect">
            <a:avLst/>
          </a:prstGeom>
          <a:noFill/>
        </p:spPr>
        <p:txBody>
          <a:bodyPr wrap="square" rtlCol="0" anchor="t">
            <a:spAutoFit/>
          </a:bodyPr>
          <a:lstStyle/>
          <a:p>
            <a:pPr indent="609600" algn="just" eaLnBrk="0" fontAlgn="base" hangingPunct="0">
              <a:lnSpc>
                <a:spcPct val="13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给定</a:t>
            </a:r>
            <a:r>
              <a:rPr lang="en-US" altLang="zh-CN"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GF(</a:t>
            </a:r>
            <a:r>
              <a:rPr lang="en-US" altLang="zh-CN" sz="24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q</a:t>
            </a:r>
            <a:r>
              <a:rPr lang="en-US" altLang="zh-CN" sz="2400" i="1" baseline="300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的任意子集</a:t>
            </a:r>
            <a:r>
              <a:rPr lang="en-US" altLang="zh-CN" sz="24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S</a:t>
            </a:r>
            <a:r>
              <a:rPr lang="zh-CN" altLang="en-US"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，可以得到一个由</a:t>
            </a:r>
            <a:r>
              <a:rPr lang="en-US" altLang="zh-CN" sz="24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S</a:t>
            </a:r>
            <a:r>
              <a:rPr lang="zh-CN" altLang="en-US"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生成的线性码</a:t>
            </a:r>
            <a:r>
              <a:rPr lang="en-US" altLang="zh-CN" sz="24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C</a:t>
            </a:r>
            <a:r>
              <a:rPr lang="en-US" altLang="zh-CN"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=&lt;</a:t>
            </a:r>
            <a:r>
              <a:rPr lang="en-US" altLang="zh-CN" sz="24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S</a:t>
            </a:r>
            <a:r>
              <a:rPr lang="en-US" altLang="zh-CN"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&gt;, </a:t>
            </a:r>
            <a:r>
              <a:rPr lang="zh-CN" altLang="en-US"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它恰好包含下列码字：</a:t>
            </a:r>
          </a:p>
          <a:p>
            <a:pPr lvl="1" algn="just" eaLnBrk="0" fontAlgn="base" hangingPunct="0">
              <a:lnSpc>
                <a:spcPct val="130000"/>
              </a:lnSpc>
              <a:spcBef>
                <a:spcPct val="0"/>
              </a:spcBef>
              <a:spcAft>
                <a:spcPct val="0"/>
              </a:spcAft>
            </a:pPr>
            <a:r>
              <a:rPr lang="en-US" altLang="zh-CN"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）全零码字；</a:t>
            </a:r>
          </a:p>
          <a:p>
            <a:pPr lvl="1" algn="just" eaLnBrk="0" fontAlgn="base" hangingPunct="0">
              <a:lnSpc>
                <a:spcPct val="130000"/>
              </a:lnSpc>
              <a:spcBef>
                <a:spcPct val="0"/>
              </a:spcBef>
              <a:spcAft>
                <a:spcPct val="0"/>
              </a:spcAft>
            </a:pPr>
            <a:r>
              <a:rPr lang="en-US" altLang="zh-CN"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S</a:t>
            </a:r>
            <a:r>
              <a:rPr lang="zh-CN" altLang="en-US"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中所有的字；</a:t>
            </a:r>
          </a:p>
          <a:p>
            <a:pPr lvl="1" algn="just" eaLnBrk="0" fontAlgn="base" hangingPunct="0">
              <a:lnSpc>
                <a:spcPct val="130000"/>
              </a:lnSpc>
              <a:spcBef>
                <a:spcPct val="0"/>
              </a:spcBef>
              <a:spcAft>
                <a:spcPct val="0"/>
              </a:spcAft>
            </a:pPr>
            <a:r>
              <a:rPr lang="en-US" altLang="zh-CN"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i="1"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S</a:t>
            </a:r>
            <a:r>
              <a:rPr lang="zh-CN" altLang="en-US" sz="2400" err="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中两个或两个以上的字的所有线性组合。</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扩展码</a:t>
            </a:r>
          </a:p>
        </p:txBody>
      </p:sp>
      <p:graphicFrame>
        <p:nvGraphicFramePr>
          <p:cNvPr id="3" name="对象 2">
            <a:hlinkClick r:id="" action="ppaction://ole?verb=0"/>
          </p:cNvPr>
          <p:cNvGraphicFramePr>
            <a:graphicFrameLocks noChangeAspect="1"/>
          </p:cNvGraphicFramePr>
          <p:nvPr/>
        </p:nvGraphicFramePr>
        <p:xfrm>
          <a:off x="6096001" y="4271646"/>
          <a:ext cx="2298065" cy="1768475"/>
        </p:xfrm>
        <a:graphic>
          <a:graphicData uri="http://schemas.openxmlformats.org/presentationml/2006/ole">
            <mc:AlternateContent xmlns:mc="http://schemas.openxmlformats.org/markup-compatibility/2006">
              <mc:Choice xmlns:v="urn:schemas-microsoft-com:vml" Requires="v">
                <p:oleObj r:id="rId3" imgW="1422400" imgH="1091565" progId="Equation.KSEE3">
                  <p:embed/>
                </p:oleObj>
              </mc:Choice>
              <mc:Fallback>
                <p:oleObj r:id="rId3" imgW="1422400" imgH="1091565" progId="Equation.KSEE3">
                  <p:embed/>
                  <p:pic>
                    <p:nvPicPr>
                      <p:cNvPr id="3" name="对象 2">
                        <a:hlinkClick r:id="" action="ppaction://ole?verb=0"/>
                      </p:cNvPr>
                      <p:cNvPicPr/>
                      <p:nvPr/>
                    </p:nvPicPr>
                    <p:blipFill>
                      <a:blip r:embed="rId4"/>
                      <a:stretch>
                        <a:fillRect/>
                      </a:stretch>
                    </p:blipFill>
                    <p:spPr>
                      <a:xfrm>
                        <a:off x="6096001" y="4271646"/>
                        <a:ext cx="2298065" cy="1768475"/>
                      </a:xfrm>
                      <a:prstGeom prst="rect">
                        <a:avLst/>
                      </a:prstGeom>
                    </p:spPr>
                  </p:pic>
                </p:oleObj>
              </mc:Fallback>
            </mc:AlternateContent>
          </a:graphicData>
        </a:graphic>
      </p:graphicFrame>
      <p:sp>
        <p:nvSpPr>
          <p:cNvPr id="16" name="内容占位符 2"/>
          <p:cNvSpPr txBox="1"/>
          <p:nvPr/>
        </p:nvSpPr>
        <p:spPr>
          <a:xfrm>
            <a:off x="1829435" y="1003301"/>
            <a:ext cx="8445500" cy="263461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7" name="文本框 16"/>
          <p:cNvSpPr txBox="1"/>
          <p:nvPr/>
        </p:nvSpPr>
        <p:spPr>
          <a:xfrm>
            <a:off x="2978151" y="2496185"/>
            <a:ext cx="7047865" cy="1000980"/>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err="1">
                <a:solidFill>
                  <a:srgbClr val="000000"/>
                </a:solidFill>
                <a:latin typeface="Times New Roman" panose="02020603050405020304" pitchFamily="18" charset="0"/>
                <a:ea typeface="黑体" panose="02010609060101010101" pitchFamily="49" charset="-122"/>
                <a:sym typeface="+mn-ea"/>
              </a:rPr>
              <a:t>则称新构造的</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+1,</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为原码的扩展码，称</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zh-CN" altLang="en-US" sz="2400" err="1">
                <a:solidFill>
                  <a:srgbClr val="000000"/>
                </a:solidFill>
                <a:latin typeface="Times New Roman" panose="02020603050405020304" pitchFamily="18" charset="0"/>
                <a:ea typeface="黑体" panose="02010609060101010101" pitchFamily="49" charset="-122"/>
                <a:sym typeface="+mn-ea"/>
              </a:rPr>
              <a:t>为奇偶校验位。</a:t>
            </a:r>
          </a:p>
        </p:txBody>
      </p:sp>
      <p:graphicFrame>
        <p:nvGraphicFramePr>
          <p:cNvPr id="18" name="对象 17">
            <a:hlinkClick r:id="" action="ppaction://ole?verb=0"/>
          </p:cNvPr>
          <p:cNvGraphicFramePr>
            <a:graphicFrameLocks noChangeAspect="1"/>
          </p:cNvGraphicFramePr>
          <p:nvPr/>
        </p:nvGraphicFramePr>
        <p:xfrm>
          <a:off x="4572001" y="2073593"/>
          <a:ext cx="2691130" cy="449580"/>
        </p:xfrm>
        <a:graphic>
          <a:graphicData uri="http://schemas.openxmlformats.org/presentationml/2006/ole">
            <mc:AlternateContent xmlns:mc="http://schemas.openxmlformats.org/markup-compatibility/2006">
              <mc:Choice xmlns:v="urn:schemas-microsoft-com:vml" Requires="v">
                <p:oleObj r:id="rId5" imgW="1524000" imgH="228600" progId="Equation.KSEE3">
                  <p:embed/>
                </p:oleObj>
              </mc:Choice>
              <mc:Fallback>
                <p:oleObj r:id="rId5" imgW="1524000" imgH="228600" progId="Equation.KSEE3">
                  <p:embed/>
                  <p:pic>
                    <p:nvPicPr>
                      <p:cNvPr id="18" name="对象 17">
                        <a:hlinkClick r:id="" action="ppaction://ole?verb=0"/>
                      </p:cNvPr>
                      <p:cNvPicPr/>
                      <p:nvPr/>
                    </p:nvPicPr>
                    <p:blipFill>
                      <a:blip r:embed="rId6"/>
                      <a:stretch>
                        <a:fillRect/>
                      </a:stretch>
                    </p:blipFill>
                    <p:spPr>
                      <a:xfrm>
                        <a:off x="4572001" y="2073593"/>
                        <a:ext cx="2691130" cy="449580"/>
                      </a:xfrm>
                      <a:prstGeom prst="rect">
                        <a:avLst/>
                      </a:prstGeom>
                    </p:spPr>
                  </p:pic>
                </p:oleObj>
              </mc:Fallback>
            </mc:AlternateContent>
          </a:graphicData>
        </a:graphic>
      </p:graphicFrame>
      <p:sp>
        <p:nvSpPr>
          <p:cNvPr id="20" name="文本框 19"/>
          <p:cNvSpPr txBox="1"/>
          <p:nvPr/>
        </p:nvSpPr>
        <p:spPr>
          <a:xfrm>
            <a:off x="1991995" y="1018540"/>
            <a:ext cx="8169910" cy="1000980"/>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err="1">
                <a:solidFill>
                  <a:srgbClr val="FF0000"/>
                </a:solidFill>
                <a:latin typeface="Times New Roman" panose="02020603050405020304" pitchFamily="18" charset="0"/>
                <a:ea typeface="黑体" panose="02010609060101010101" pitchFamily="49" charset="-122"/>
                <a:sym typeface="+mn-ea"/>
              </a:rPr>
              <a:t>定义：</a:t>
            </a:r>
            <a:r>
              <a:rPr lang="zh-CN" altLang="en-US" sz="2400" err="1">
                <a:solidFill>
                  <a:srgbClr val="000000"/>
                </a:solidFill>
                <a:latin typeface="Times New Roman" panose="02020603050405020304" pitchFamily="18" charset="0"/>
                <a:ea typeface="黑体" panose="02010609060101010101" pitchFamily="49" charset="-122"/>
                <a:sym typeface="+mn-ea"/>
              </a:rPr>
              <a:t>设</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err="1">
                <a:solidFill>
                  <a:srgbClr val="000000"/>
                </a:solidFill>
                <a:latin typeface="Times New Roman" panose="02020603050405020304" pitchFamily="18" charset="0"/>
                <a:ea typeface="黑体" panose="02010609060101010101" pitchFamily="49" charset="-122"/>
                <a:sym typeface="+mn-ea"/>
              </a:rPr>
              <a:t>是二元</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线性分组码，若对每一个码字</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b="1" i="1" err="1">
                <a:solidFill>
                  <a:srgbClr val="000000"/>
                </a:solidFill>
                <a:latin typeface="Times New Roman" panose="02020603050405020304" pitchFamily="18" charset="0"/>
                <a:ea typeface="黑体" panose="02010609060101010101" pitchFamily="49" charset="-122"/>
                <a:sym typeface="+mn-ea"/>
              </a:rPr>
              <a:t>c</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0</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增加一个校验位</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zh-CN" altLang="en-US" sz="2400" err="1">
                <a:solidFill>
                  <a:srgbClr val="000000"/>
                </a:solidFill>
                <a:latin typeface="Times New Roman" panose="02020603050405020304" pitchFamily="18" charset="0"/>
                <a:ea typeface="黑体" panose="02010609060101010101" pitchFamily="49" charset="-122"/>
                <a:sym typeface="+mn-ea"/>
              </a:rPr>
              <a:t>。满足如下校验关系</a:t>
            </a:r>
          </a:p>
        </p:txBody>
      </p:sp>
      <p:sp>
        <p:nvSpPr>
          <p:cNvPr id="22" name="文本框 21"/>
          <p:cNvSpPr txBox="1"/>
          <p:nvPr/>
        </p:nvSpPr>
        <p:spPr>
          <a:xfrm>
            <a:off x="1971675" y="3756660"/>
            <a:ext cx="8235950" cy="849528"/>
          </a:xfrm>
          <a:prstGeom prst="rect">
            <a:avLst/>
          </a:prstGeom>
          <a:noFill/>
        </p:spPr>
        <p:txBody>
          <a:bodyPr wrap="square" rtlCol="0" anchor="t">
            <a:spAutoFit/>
          </a:bodyPr>
          <a:lstStyle/>
          <a:p>
            <a:pPr indent="508000" eaLnBrk="0" fontAlgn="base" hangingPunct="0">
              <a:lnSpc>
                <a:spcPct val="130000"/>
              </a:lnSpc>
              <a:spcBef>
                <a:spcPct val="0"/>
              </a:spcBef>
              <a:spcAft>
                <a:spcPct val="0"/>
              </a:spcAft>
              <a:extLst>
                <a:ext uri="{35155182-B16C-46BC-9424-99874614C6A1}">
                  <wpsdc:indentchars xmlns="" xmlns:wpsdc="http://www.wps.cn/officeDocument/2017/drawingmlCustomData" val="200" checksum="282533468"/>
                </a:ext>
              </a:extLst>
            </a:pPr>
            <a:r>
              <a:rPr lang="zh-CN" altLang="en-US" sz="2000" err="1">
                <a:solidFill>
                  <a:srgbClr val="000000"/>
                </a:solidFill>
                <a:latin typeface="Times New Roman" panose="02020603050405020304" pitchFamily="18" charset="0"/>
                <a:ea typeface="黑体" panose="02010609060101010101" pitchFamily="49" charset="-122"/>
                <a:sym typeface="+mn-ea"/>
              </a:rPr>
              <a:t>若原线性分组码</a:t>
            </a:r>
            <a:r>
              <a:rPr lang="en-US" altLang="zh-CN" sz="2000" i="1" err="1">
                <a:solidFill>
                  <a:srgbClr val="000000"/>
                </a:solidFill>
                <a:latin typeface="Times New Roman" panose="02020603050405020304" pitchFamily="18" charset="0"/>
                <a:ea typeface="黑体" panose="02010609060101010101" pitchFamily="49" charset="-122"/>
                <a:sym typeface="+mn-ea"/>
              </a:rPr>
              <a:t>C</a:t>
            </a:r>
            <a:r>
              <a:rPr lang="zh-CN" altLang="en-US" sz="2000" err="1">
                <a:solidFill>
                  <a:srgbClr val="000000"/>
                </a:solidFill>
                <a:latin typeface="Times New Roman" panose="02020603050405020304" pitchFamily="18" charset="0"/>
                <a:ea typeface="黑体" panose="02010609060101010101" pitchFamily="49" charset="-122"/>
                <a:sym typeface="+mn-ea"/>
              </a:rPr>
              <a:t>的校验矩阵为</a:t>
            </a:r>
            <a:r>
              <a:rPr lang="en-US" altLang="zh-CN" sz="2000" i="1" err="1">
                <a:solidFill>
                  <a:srgbClr val="000000"/>
                </a:solidFill>
                <a:latin typeface="Times New Roman" panose="02020603050405020304" pitchFamily="18" charset="0"/>
                <a:ea typeface="黑体" panose="02010609060101010101" pitchFamily="49" charset="-122"/>
                <a:sym typeface="+mn-ea"/>
              </a:rPr>
              <a:t>H</a:t>
            </a:r>
            <a:r>
              <a:rPr lang="zh-CN" altLang="en-US" sz="2000" err="1">
                <a:solidFill>
                  <a:srgbClr val="000000"/>
                </a:solidFill>
                <a:latin typeface="Times New Roman" panose="02020603050405020304" pitchFamily="18" charset="0"/>
                <a:ea typeface="黑体" panose="02010609060101010101" pitchFamily="49" charset="-122"/>
                <a:sym typeface="+mn-ea"/>
              </a:rPr>
              <a:t>，则可以得到扩展码</a:t>
            </a:r>
            <a:r>
              <a:rPr lang="en-US" altLang="zh-CN" sz="2000" i="1" err="1">
                <a:solidFill>
                  <a:srgbClr val="000000"/>
                </a:solidFill>
                <a:latin typeface="Times New Roman" panose="02020603050405020304" pitchFamily="18" charset="0"/>
                <a:ea typeface="黑体" panose="02010609060101010101" pitchFamily="49" charset="-122"/>
                <a:sym typeface="+mn-ea"/>
              </a:rPr>
              <a:t>C</a:t>
            </a:r>
            <a:r>
              <a:rPr lang="en-US" altLang="zh-CN" sz="2000" baseline="-25000" err="1">
                <a:solidFill>
                  <a:srgbClr val="000000"/>
                </a:solidFill>
                <a:latin typeface="Times New Roman" panose="02020603050405020304" pitchFamily="18" charset="0"/>
                <a:ea typeface="黑体" panose="02010609060101010101" pitchFamily="49" charset="-122"/>
                <a:sym typeface="+mn-ea"/>
              </a:rPr>
              <a:t>1</a:t>
            </a:r>
            <a:r>
              <a:rPr lang="zh-CN" altLang="en-US" sz="2000" err="1">
                <a:solidFill>
                  <a:srgbClr val="000000"/>
                </a:solidFill>
                <a:latin typeface="Times New Roman" panose="02020603050405020304" pitchFamily="18" charset="0"/>
                <a:ea typeface="黑体" panose="02010609060101010101" pitchFamily="49" charset="-122"/>
                <a:sym typeface="+mn-ea"/>
              </a:rPr>
              <a:t>的校验矩阵为</a:t>
            </a:r>
            <a:r>
              <a:rPr lang="en-US" altLang="zh-CN" sz="2000" i="1" err="1">
                <a:solidFill>
                  <a:srgbClr val="000000"/>
                </a:solidFill>
                <a:latin typeface="Times New Roman" panose="02020603050405020304" pitchFamily="18" charset="0"/>
                <a:ea typeface="黑体" panose="02010609060101010101" pitchFamily="49" charset="-122"/>
                <a:sym typeface="+mn-ea"/>
              </a:rPr>
              <a:t>H</a:t>
            </a:r>
            <a:r>
              <a:rPr lang="en-US" altLang="zh-CN" sz="2000" baseline="-25000" err="1">
                <a:solidFill>
                  <a:srgbClr val="000000"/>
                </a:solidFill>
                <a:latin typeface="Times New Roman" panose="02020603050405020304" pitchFamily="18" charset="0"/>
                <a:ea typeface="黑体" panose="02010609060101010101" pitchFamily="49" charset="-122"/>
                <a:sym typeface="+mn-ea"/>
              </a:rPr>
              <a:t>1</a:t>
            </a:r>
            <a:r>
              <a:rPr lang="en-US" altLang="zh-CN" sz="2000" err="1">
                <a:solidFill>
                  <a:srgbClr val="000000"/>
                </a:solidFill>
                <a:latin typeface="Times New Roman" panose="02020603050405020304" pitchFamily="18" charset="0"/>
                <a:ea typeface="黑体" panose="02010609060101010101" pitchFamily="49" charset="-122"/>
                <a:sym typeface="+mn-ea"/>
              </a:rPr>
              <a:t>, </a:t>
            </a:r>
            <a:r>
              <a:rPr lang="zh-CN" altLang="en-US" sz="2000" err="1">
                <a:solidFill>
                  <a:srgbClr val="000000"/>
                </a:solidFill>
                <a:latin typeface="Times New Roman" panose="02020603050405020304" pitchFamily="18" charset="0"/>
                <a:ea typeface="黑体" panose="02010609060101010101" pitchFamily="49" charset="-122"/>
                <a:sym typeface="+mn-ea"/>
              </a:rPr>
              <a:t>其最小距离</a:t>
            </a:r>
            <a:r>
              <a:rPr lang="en-US" altLang="zh-CN" sz="2000" i="1" err="1">
                <a:solidFill>
                  <a:srgbClr val="000000"/>
                </a:solidFill>
                <a:latin typeface="Times New Roman" panose="02020603050405020304" pitchFamily="18" charset="0"/>
                <a:ea typeface="黑体" panose="02010609060101010101" pitchFamily="49" charset="-122"/>
                <a:sym typeface="+mn-ea"/>
              </a:rPr>
              <a:t>d</a:t>
            </a:r>
            <a:r>
              <a:rPr lang="en-US" altLang="zh-CN" sz="2000" baseline="30000" err="1">
                <a:solidFill>
                  <a:srgbClr val="000000"/>
                </a:solidFill>
                <a:latin typeface="Times New Roman" panose="02020603050405020304" pitchFamily="18" charset="0"/>
                <a:ea typeface="黑体" panose="02010609060101010101" pitchFamily="49" charset="-122"/>
                <a:sym typeface="+mn-ea"/>
              </a:rPr>
              <a:t>*</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d</a:t>
            </a:r>
            <a:r>
              <a:rPr lang="zh-CN" altLang="en-US" sz="2000" err="1">
                <a:solidFill>
                  <a:srgbClr val="000000"/>
                </a:solidFill>
                <a:latin typeface="Times New Roman" panose="02020603050405020304" pitchFamily="18" charset="0"/>
                <a:ea typeface="黑体" panose="02010609060101010101" pitchFamily="49" charset="-122"/>
                <a:sym typeface="+mn-ea"/>
              </a:rPr>
              <a:t>或</a:t>
            </a:r>
            <a:r>
              <a:rPr lang="en-US" altLang="zh-CN" sz="2000" i="1" err="1">
                <a:solidFill>
                  <a:srgbClr val="000000"/>
                </a:solidFill>
                <a:latin typeface="Times New Roman" panose="02020603050405020304" pitchFamily="18" charset="0"/>
                <a:ea typeface="黑体" panose="02010609060101010101" pitchFamily="49" charset="-122"/>
                <a:sym typeface="+mn-ea"/>
              </a:rPr>
              <a:t>d</a:t>
            </a:r>
            <a:r>
              <a:rPr lang="en-US" altLang="zh-CN" sz="2000" err="1">
                <a:solidFill>
                  <a:srgbClr val="000000"/>
                </a:solidFill>
                <a:latin typeface="Times New Roman" panose="02020603050405020304" pitchFamily="18" charset="0"/>
                <a:ea typeface="黑体" panose="02010609060101010101" pitchFamily="49" charset="-122"/>
                <a:sym typeface="+mn-ea"/>
              </a:rPr>
              <a:t>+1</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删余码</a:t>
            </a:r>
          </a:p>
        </p:txBody>
      </p:sp>
      <p:sp>
        <p:nvSpPr>
          <p:cNvPr id="12" name="内容占位符 2"/>
          <p:cNvSpPr txBox="1"/>
          <p:nvPr/>
        </p:nvSpPr>
        <p:spPr>
          <a:xfrm>
            <a:off x="1873250" y="1024891"/>
            <a:ext cx="8445500" cy="158178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3" name="文本框 12"/>
          <p:cNvSpPr txBox="1"/>
          <p:nvPr/>
        </p:nvSpPr>
        <p:spPr>
          <a:xfrm>
            <a:off x="2016126" y="1042671"/>
            <a:ext cx="8189595" cy="1529715"/>
          </a:xfrm>
          <a:prstGeom prst="rect">
            <a:avLst/>
          </a:prstGeom>
          <a:noFill/>
        </p:spPr>
        <p:txBody>
          <a:bodyPr wrap="square" rtlCol="0" anchor="t">
            <a:spAutoFit/>
          </a:bodyPr>
          <a:lstStyle/>
          <a:p>
            <a:pPr algn="dist" eaLnBrk="0" fontAlgn="base" hangingPunct="0">
              <a:lnSpc>
                <a:spcPct val="130000"/>
              </a:lnSpc>
              <a:spcBef>
                <a:spcPct val="0"/>
              </a:spcBef>
              <a:spcAft>
                <a:spcPct val="0"/>
              </a:spcAft>
            </a:pPr>
            <a:r>
              <a:rPr lang="zh-CN" altLang="en-US" sz="2400" err="1">
                <a:solidFill>
                  <a:srgbClr val="FF0000"/>
                </a:solidFill>
                <a:latin typeface="Times New Roman" panose="02020603050405020304" pitchFamily="18" charset="0"/>
                <a:ea typeface="黑体" panose="02010609060101010101" pitchFamily="49" charset="-122"/>
                <a:cs typeface="+mn-ea"/>
                <a:sym typeface="+mn-ea"/>
              </a:rPr>
              <a:t>删余码</a:t>
            </a:r>
            <a:r>
              <a:rPr lang="zh-CN" altLang="en-US" sz="2400" err="1">
                <a:solidFill>
                  <a:srgbClr val="FF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将二元</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err="1">
                <a:solidFill>
                  <a:srgbClr val="000000"/>
                </a:solidFill>
                <a:latin typeface="Times New Roman" panose="02020603050405020304" pitchFamily="18" charset="0"/>
                <a:ea typeface="黑体" panose="02010609060101010101" pitchFamily="49" charset="-122"/>
                <a:sym typeface="+mn-ea"/>
              </a:rPr>
              <a:t>删去一个校验元得到</a:t>
            </a:r>
          </a:p>
          <a:p>
            <a:pPr algn="just" eaLnBrk="0" fontAlgn="base" hangingPunct="0">
              <a:lnSpc>
                <a:spcPct val="130000"/>
              </a:lnSpc>
              <a:spcBef>
                <a:spcPct val="0"/>
              </a:spcBef>
              <a:spcAft>
                <a:spcPct val="0"/>
              </a:spcAft>
            </a:pP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-1,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为原码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err="1">
                <a:solidFill>
                  <a:srgbClr val="000000"/>
                </a:solidFill>
                <a:latin typeface="Times New Roman" panose="02020603050405020304" pitchFamily="18" charset="0"/>
                <a:ea typeface="黑体" panose="02010609060101010101" pitchFamily="49" charset="-122"/>
                <a:sym typeface="+mn-ea"/>
              </a:rPr>
              <a:t>的</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删余码</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其最小</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距离</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zh-CN" altLang="en-US" sz="2400" err="1">
                <a:solidFill>
                  <a:srgbClr val="000000"/>
                </a:solidFill>
                <a:latin typeface="Times New Roman" panose="02020603050405020304" pitchFamily="18" charset="0"/>
                <a:ea typeface="黑体" panose="02010609060101010101" pitchFamily="49" charset="-122"/>
                <a:sym typeface="+mn-ea"/>
              </a:rPr>
              <a:t>或</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增广码</a:t>
            </a:r>
          </a:p>
        </p:txBody>
      </p:sp>
      <p:sp>
        <p:nvSpPr>
          <p:cNvPr id="12" name="内容占位符 2"/>
          <p:cNvSpPr txBox="1"/>
          <p:nvPr/>
        </p:nvSpPr>
        <p:spPr>
          <a:xfrm>
            <a:off x="1873250" y="1024891"/>
            <a:ext cx="8445500" cy="161480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3" name="文本框 12"/>
          <p:cNvSpPr txBox="1"/>
          <p:nvPr/>
        </p:nvSpPr>
        <p:spPr>
          <a:xfrm>
            <a:off x="2016126" y="1042671"/>
            <a:ext cx="8061325" cy="152971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err="1">
                <a:solidFill>
                  <a:srgbClr val="FF0000"/>
                </a:solidFill>
                <a:latin typeface="Times New Roman" panose="02020603050405020304" pitchFamily="18" charset="0"/>
                <a:ea typeface="黑体" panose="02010609060101010101" pitchFamily="49" charset="-122"/>
                <a:sym typeface="+mn-ea"/>
              </a:rPr>
              <a:t>定义：</a:t>
            </a:r>
            <a:r>
              <a:rPr lang="zh-CN" altLang="en-US" sz="2400" err="1">
                <a:solidFill>
                  <a:srgbClr val="000000"/>
                </a:solidFill>
                <a:latin typeface="Times New Roman" panose="02020603050405020304" pitchFamily="18" charset="0"/>
                <a:ea typeface="黑体" panose="02010609060101010101" pitchFamily="49" charset="-122"/>
                <a:sym typeface="+mn-ea"/>
              </a:rPr>
              <a:t>设二元</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err="1">
                <a:solidFill>
                  <a:srgbClr val="000000"/>
                </a:solidFill>
                <a:latin typeface="Times New Roman" panose="02020603050405020304" pitchFamily="18" charset="0"/>
                <a:ea typeface="黑体" panose="02010609060101010101" pitchFamily="49" charset="-122"/>
                <a:sym typeface="+mn-ea"/>
              </a:rPr>
              <a:t>没有全</a:t>
            </a:r>
            <a:r>
              <a:rPr lang="en-US" altLang="zh-CN" sz="24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码字</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在它的</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zh-CN" altLang="en-US" sz="2400" err="1">
                <a:solidFill>
                  <a:srgbClr val="000000"/>
                </a:solidFill>
                <a:latin typeface="Times New Roman" panose="02020603050405020304" pitchFamily="18" charset="0"/>
                <a:ea typeface="黑体" panose="02010609060101010101" pitchFamily="49" charset="-122"/>
                <a:sym typeface="+mn-ea"/>
              </a:rPr>
              <a:t>矩阵上增加一组全</a:t>
            </a:r>
            <a:r>
              <a:rPr lang="en-US" altLang="zh-CN" sz="24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行</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得到生成矩阵</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则称由</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定义的</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+1,</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为原码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err="1">
                <a:solidFill>
                  <a:srgbClr val="000000"/>
                </a:solidFill>
                <a:latin typeface="Times New Roman" panose="02020603050405020304" pitchFamily="18" charset="0"/>
                <a:ea typeface="黑体" panose="02010609060101010101" pitchFamily="49" charset="-122"/>
                <a:sym typeface="+mn-ea"/>
              </a:rPr>
              <a:t>的</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增广码或增信删余码</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sp>
        <p:nvSpPr>
          <p:cNvPr id="22" name="文本框 21"/>
          <p:cNvSpPr txBox="1"/>
          <p:nvPr/>
        </p:nvSpPr>
        <p:spPr>
          <a:xfrm>
            <a:off x="2964181" y="3046730"/>
            <a:ext cx="6777355"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err="1">
                <a:solidFill>
                  <a:srgbClr val="000000"/>
                </a:solidFill>
                <a:latin typeface="Times New Roman" panose="02020603050405020304" pitchFamily="18" charset="0"/>
                <a:ea typeface="黑体" panose="02010609060101010101" pitchFamily="49" charset="-122"/>
                <a:sym typeface="+mn-ea"/>
              </a:rPr>
              <a:t>与</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增信删余码构造过程相反的码是增余删信码。</a:t>
            </a:r>
          </a:p>
        </p:txBody>
      </p:sp>
      <p:sp>
        <p:nvSpPr>
          <p:cNvPr id="3" name="内容占位符 2"/>
          <p:cNvSpPr txBox="1"/>
          <p:nvPr/>
        </p:nvSpPr>
        <p:spPr>
          <a:xfrm>
            <a:off x="1924685" y="3872231"/>
            <a:ext cx="8445500" cy="215074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4" name="文本框 3"/>
          <p:cNvSpPr txBox="1"/>
          <p:nvPr/>
        </p:nvSpPr>
        <p:spPr>
          <a:xfrm>
            <a:off x="2067561" y="3890011"/>
            <a:ext cx="8061325" cy="200977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err="1">
                <a:solidFill>
                  <a:srgbClr val="FF0000"/>
                </a:solidFill>
                <a:latin typeface="Times New Roman" panose="02020603050405020304" pitchFamily="18" charset="0"/>
                <a:ea typeface="黑体" panose="02010609060101010101" pitchFamily="49" charset="-122"/>
                <a:sym typeface="+mn-ea"/>
              </a:rPr>
              <a:t>定义：</a:t>
            </a:r>
            <a:r>
              <a:rPr lang="zh-CN" altLang="en-US" sz="2400" err="1">
                <a:solidFill>
                  <a:srgbClr val="000000"/>
                </a:solidFill>
                <a:latin typeface="Times New Roman" panose="02020603050405020304" pitchFamily="18" charset="0"/>
                <a:ea typeface="黑体" panose="02010609060101010101" pitchFamily="49" charset="-122"/>
                <a:sym typeface="+mn-ea"/>
              </a:rPr>
              <a:t>设二元</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err="1">
                <a:solidFill>
                  <a:srgbClr val="000000"/>
                </a:solidFill>
                <a:latin typeface="Times New Roman" panose="02020603050405020304" pitchFamily="18" charset="0"/>
                <a:ea typeface="黑体" panose="02010609060101010101" pitchFamily="49" charset="-122"/>
                <a:sym typeface="+mn-ea"/>
              </a:rPr>
              <a:t>的最小汉明距离</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zh-CN" altLang="en-US" sz="2400" err="1">
                <a:solidFill>
                  <a:srgbClr val="000000"/>
                </a:solidFill>
                <a:latin typeface="Times New Roman" panose="02020603050405020304" pitchFamily="18" charset="0"/>
                <a:ea typeface="黑体" panose="02010609060101010101" pitchFamily="49" charset="-122"/>
                <a:sym typeface="+mn-ea"/>
              </a:rPr>
              <a:t>为奇数</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则其全体偶数重量的码字组成一个新的</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-1,</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分组码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称</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为原码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err="1">
                <a:solidFill>
                  <a:srgbClr val="000000"/>
                </a:solidFill>
                <a:latin typeface="Times New Roman" panose="02020603050405020304" pitchFamily="18" charset="0"/>
                <a:ea typeface="黑体" panose="02010609060101010101" pitchFamily="49" charset="-122"/>
                <a:sym typeface="+mn-ea"/>
              </a:rPr>
              <a:t>的</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增余删信码</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其最小距离</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缩短码</a:t>
            </a:r>
          </a:p>
        </p:txBody>
      </p:sp>
      <p:sp>
        <p:nvSpPr>
          <p:cNvPr id="22" name="内容占位符 2"/>
          <p:cNvSpPr txBox="1"/>
          <p:nvPr/>
        </p:nvSpPr>
        <p:spPr>
          <a:xfrm>
            <a:off x="1849120" y="925196"/>
            <a:ext cx="8445500" cy="158178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23" name="文本框 22"/>
          <p:cNvSpPr txBox="1"/>
          <p:nvPr/>
        </p:nvSpPr>
        <p:spPr>
          <a:xfrm>
            <a:off x="1991996" y="942976"/>
            <a:ext cx="8208645" cy="152971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err="1">
                <a:solidFill>
                  <a:srgbClr val="FF0000"/>
                </a:solidFill>
                <a:latin typeface="Times New Roman" panose="02020603050405020304" pitchFamily="18" charset="0"/>
                <a:ea typeface="黑体" panose="02010609060101010101" pitchFamily="49" charset="-122"/>
                <a:sym typeface="+mn-ea"/>
              </a:rPr>
              <a:t>缩短码：</a:t>
            </a:r>
            <a:r>
              <a:rPr lang="zh-CN" altLang="en-US" sz="2400" err="1">
                <a:solidFill>
                  <a:srgbClr val="000000"/>
                </a:solidFill>
                <a:latin typeface="Times New Roman" panose="02020603050405020304" pitchFamily="18" charset="0"/>
                <a:ea typeface="黑体" panose="02010609060101010101" pitchFamily="49" charset="-122"/>
                <a:sym typeface="+mn-ea"/>
              </a:rPr>
              <a:t>对于二元</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选出最高位码元</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=0</a:t>
            </a:r>
            <a:r>
              <a:rPr lang="zh-CN" altLang="en-US" sz="2400" err="1">
                <a:solidFill>
                  <a:srgbClr val="000000"/>
                </a:solidFill>
                <a:latin typeface="Times New Roman" panose="02020603050405020304" pitchFamily="18" charset="0"/>
                <a:ea typeface="黑体" panose="02010609060101010101" pitchFamily="49" charset="-122"/>
                <a:sym typeface="+mn-ea"/>
              </a:rPr>
              <a:t>的全体码字</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并去掉这一位得到一个</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长的</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新码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，称</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为原码的缩短码。</a:t>
            </a:r>
          </a:p>
        </p:txBody>
      </p:sp>
      <p:sp>
        <p:nvSpPr>
          <p:cNvPr id="24" name="文本框 23"/>
          <p:cNvSpPr txBox="1"/>
          <p:nvPr/>
        </p:nvSpPr>
        <p:spPr>
          <a:xfrm>
            <a:off x="1971675" y="2925445"/>
            <a:ext cx="8235950" cy="1000980"/>
          </a:xfrm>
          <a:prstGeom prst="rect">
            <a:avLst/>
          </a:prstGeom>
          <a:noFill/>
        </p:spPr>
        <p:txBody>
          <a:bodyPr wrap="square" rtlCol="0" anchor="t">
            <a:spAutoFit/>
          </a:bodyPr>
          <a:lstStyle/>
          <a:p>
            <a:pPr indent="609600" eaLnBrk="0" fontAlgn="base" hangingPunct="0">
              <a:lnSpc>
                <a:spcPct val="13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err="1">
                <a:solidFill>
                  <a:srgbClr val="000000"/>
                </a:solidFill>
                <a:latin typeface="Times New Roman" panose="02020603050405020304" pitchFamily="18" charset="0"/>
                <a:ea typeface="黑体" panose="02010609060101010101" pitchFamily="49" charset="-122"/>
                <a:sym typeface="+mn-ea"/>
              </a:rPr>
              <a:t>反复使用缩短码的方法缩短</a:t>
            </a:r>
            <a:r>
              <a:rPr lang="en-US" altLang="zh-CN" sz="2400" i="1" err="1">
                <a:solidFill>
                  <a:srgbClr val="000000"/>
                </a:solidFill>
                <a:latin typeface="Times New Roman" panose="02020603050405020304" pitchFamily="18" charset="0"/>
                <a:ea typeface="黑体" panose="02010609060101010101" pitchFamily="49" charset="-122"/>
                <a:sym typeface="+mn-ea"/>
              </a:rPr>
              <a:t>i</a:t>
            </a:r>
            <a:r>
              <a:rPr lang="zh-CN" altLang="en-US" sz="2400" err="1">
                <a:solidFill>
                  <a:srgbClr val="000000"/>
                </a:solidFill>
                <a:latin typeface="Times New Roman" panose="02020603050405020304" pitchFamily="18" charset="0"/>
                <a:ea typeface="黑体" panose="02010609060101010101" pitchFamily="49" charset="-122"/>
                <a:sym typeface="+mn-ea"/>
              </a:rPr>
              <a:t>位后，就得到</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i</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i</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缩短的线性分组码。</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延长码</a:t>
            </a:r>
          </a:p>
        </p:txBody>
      </p:sp>
      <p:sp>
        <p:nvSpPr>
          <p:cNvPr id="22" name="内容占位符 2"/>
          <p:cNvSpPr txBox="1"/>
          <p:nvPr/>
        </p:nvSpPr>
        <p:spPr>
          <a:xfrm>
            <a:off x="1849120" y="1680846"/>
            <a:ext cx="8445500" cy="158178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23" name="文本框 22"/>
          <p:cNvSpPr txBox="1"/>
          <p:nvPr/>
        </p:nvSpPr>
        <p:spPr>
          <a:xfrm>
            <a:off x="1991996" y="1698626"/>
            <a:ext cx="8208645" cy="152971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err="1">
                <a:solidFill>
                  <a:srgbClr val="FF0000"/>
                </a:solidFill>
                <a:latin typeface="Times New Roman" panose="02020603050405020304" pitchFamily="18" charset="0"/>
                <a:ea typeface="黑体" panose="02010609060101010101" pitchFamily="49" charset="-122"/>
                <a:sym typeface="+mn-ea"/>
              </a:rPr>
              <a:t>延长码：</a:t>
            </a:r>
            <a:r>
              <a:rPr lang="zh-CN" altLang="en-US" sz="2400" err="1">
                <a:solidFill>
                  <a:srgbClr val="000000"/>
                </a:solidFill>
                <a:latin typeface="Times New Roman" panose="02020603050405020304" pitchFamily="18" charset="0"/>
                <a:ea typeface="黑体" panose="02010609060101010101" pitchFamily="49" charset="-122"/>
                <a:sym typeface="+mn-ea"/>
              </a:rPr>
              <a:t>二元</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err="1">
                <a:solidFill>
                  <a:srgbClr val="000000"/>
                </a:solidFill>
                <a:latin typeface="Times New Roman" panose="02020603050405020304" pitchFamily="18" charset="0"/>
                <a:ea typeface="黑体" panose="02010609060101010101" pitchFamily="49" charset="-122"/>
                <a:sym typeface="+mn-ea"/>
              </a:rPr>
              <a:t>先进行增广</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再将得到的增</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广码进行扩展，则最后的</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+1,</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扩展码</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就称为</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原码的延长码。</a:t>
            </a:r>
          </a:p>
        </p:txBody>
      </p:sp>
      <p:sp>
        <p:nvSpPr>
          <p:cNvPr id="24" name="文本框 23"/>
          <p:cNvSpPr txBox="1"/>
          <p:nvPr/>
        </p:nvSpPr>
        <p:spPr>
          <a:xfrm>
            <a:off x="3124200" y="936625"/>
            <a:ext cx="4693920"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err="1">
                <a:solidFill>
                  <a:srgbClr val="000000"/>
                </a:solidFill>
                <a:latin typeface="Times New Roman" panose="02020603050405020304" pitchFamily="18" charset="0"/>
                <a:ea typeface="黑体" panose="02010609060101010101" pitchFamily="49" charset="-122"/>
                <a:sym typeface="+mn-ea"/>
              </a:rPr>
              <a:t>与缩短码相反的就是延长码。</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009516" y="2121535"/>
            <a:ext cx="2200275" cy="1267460"/>
          </a:xfrm>
          <a:prstGeom prst="round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各类码之间的关系</a:t>
            </a:r>
          </a:p>
        </p:txBody>
      </p:sp>
      <p:sp>
        <p:nvSpPr>
          <p:cNvPr id="24" name="文本框 23"/>
          <p:cNvSpPr txBox="1"/>
          <p:nvPr/>
        </p:nvSpPr>
        <p:spPr>
          <a:xfrm>
            <a:off x="3124200" y="1012190"/>
            <a:ext cx="2995930"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err="1">
                <a:solidFill>
                  <a:srgbClr val="000000"/>
                </a:solidFill>
                <a:latin typeface="Times New Roman" panose="02020603050405020304" pitchFamily="18" charset="0"/>
                <a:ea typeface="黑体" panose="02010609060101010101" pitchFamily="49" charset="-122"/>
                <a:sym typeface="+mn-ea"/>
              </a:rPr>
              <a:t>以</a:t>
            </a:r>
            <a:r>
              <a:rPr lang="en-US" altLang="zh-CN" sz="2400" err="1">
                <a:solidFill>
                  <a:srgbClr val="000000"/>
                </a:solidFill>
                <a:latin typeface="Times New Roman" panose="02020603050405020304" pitchFamily="18" charset="0"/>
                <a:ea typeface="黑体" panose="02010609060101010101" pitchFamily="49" charset="-122"/>
                <a:sym typeface="+mn-ea"/>
              </a:rPr>
              <a:t>(7,3,4)</a:t>
            </a:r>
            <a:r>
              <a:rPr lang="zh-CN" altLang="en-US" sz="2400" err="1">
                <a:solidFill>
                  <a:srgbClr val="000000"/>
                </a:solidFill>
                <a:latin typeface="Times New Roman" panose="02020603050405020304" pitchFamily="18" charset="0"/>
                <a:ea typeface="黑体" panose="02010609060101010101" pitchFamily="49" charset="-122"/>
                <a:sym typeface="+mn-ea"/>
              </a:rPr>
              <a:t>汉明码为例</a:t>
            </a:r>
          </a:p>
        </p:txBody>
      </p:sp>
      <p:sp>
        <p:nvSpPr>
          <p:cNvPr id="3" name="文本框 2"/>
          <p:cNvSpPr txBox="1"/>
          <p:nvPr/>
        </p:nvSpPr>
        <p:spPr>
          <a:xfrm>
            <a:off x="5142231" y="2121535"/>
            <a:ext cx="1993265" cy="1198880"/>
          </a:xfrm>
          <a:prstGeom prst="rect">
            <a:avLst/>
          </a:prstGeom>
          <a:noFill/>
        </p:spPr>
        <p:txBody>
          <a:bodyPr wrap="square" rtlCol="0" anchor="t">
            <a:spAutoFit/>
          </a:bodyPr>
          <a:lstStyle/>
          <a:p>
            <a:pPr algn="ctr" eaLnBrk="0" fontAlgn="base" hangingPunct="0">
              <a:lnSpc>
                <a:spcPct val="120000"/>
              </a:lnSpc>
              <a:spcBef>
                <a:spcPct val="0"/>
              </a:spcBef>
              <a:spcAft>
                <a:spcPct val="0"/>
              </a:spcAft>
            </a:pPr>
            <a:r>
              <a:rPr lang="zh-CN" altLang="en-US" sz="2000" err="1">
                <a:solidFill>
                  <a:srgbClr val="000000"/>
                </a:solidFill>
                <a:latin typeface="Times New Roman" panose="02020603050405020304" pitchFamily="18" charset="0"/>
                <a:ea typeface="黑体" panose="02010609060101010101" pitchFamily="49" charset="-122"/>
                <a:sym typeface="+mn-ea"/>
              </a:rPr>
              <a:t>扩展汉明码</a:t>
            </a:r>
          </a:p>
          <a:p>
            <a:pPr algn="ctr" eaLnBrk="0" fontAlgn="base" hangingPunct="0">
              <a:lnSpc>
                <a:spcPct val="120000"/>
              </a:lnSpc>
              <a:spcBef>
                <a:spcPct val="0"/>
              </a:spcBef>
              <a:spcAft>
                <a:spcPct val="0"/>
              </a:spcAft>
            </a:pPr>
            <a:r>
              <a:rPr lang="en-US" altLang="zh-CN" sz="2000" err="1">
                <a:solidFill>
                  <a:srgbClr val="000000"/>
                </a:solidFill>
                <a:latin typeface="Times New Roman" panose="02020603050405020304" pitchFamily="18" charset="0"/>
                <a:ea typeface="黑体" panose="02010609060101010101" pitchFamily="49" charset="-122"/>
                <a:sym typeface="+mn-ea"/>
              </a:rPr>
              <a:t>(2</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m</a:t>
            </a:r>
            <a:r>
              <a:rPr lang="en-US" altLang="zh-CN" sz="2000" err="1">
                <a:solidFill>
                  <a:srgbClr val="000000"/>
                </a:solidFill>
                <a:latin typeface="Times New Roman" panose="02020603050405020304" pitchFamily="18" charset="0"/>
                <a:ea typeface="黑体" panose="02010609060101010101" pitchFamily="49" charset="-122"/>
                <a:sym typeface="+mn-ea"/>
              </a:rPr>
              <a:t>, 2</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m</a:t>
            </a:r>
            <a:r>
              <a:rPr lang="en-US" altLang="zh-CN" sz="2000" err="1">
                <a:solidFill>
                  <a:srgbClr val="000000"/>
                </a:solidFill>
                <a:latin typeface="Times New Roman" panose="02020603050405020304" pitchFamily="18" charset="0"/>
                <a:ea typeface="黑体" panose="02010609060101010101" pitchFamily="49" charset="-122"/>
                <a:sym typeface="+mn-ea"/>
              </a:rPr>
              <a:t>-1-</a:t>
            </a:r>
            <a:r>
              <a:rPr lang="en-US" altLang="zh-CN" sz="2000" i="1" err="1">
                <a:solidFill>
                  <a:srgbClr val="000000"/>
                </a:solidFill>
                <a:latin typeface="Times New Roman" panose="02020603050405020304" pitchFamily="18" charset="0"/>
                <a:ea typeface="黑体" panose="02010609060101010101" pitchFamily="49" charset="-122"/>
                <a:sym typeface="+mn-ea"/>
              </a:rPr>
              <a:t>m</a:t>
            </a:r>
            <a:r>
              <a:rPr lang="en-US" altLang="zh-CN" sz="2000" err="1">
                <a:solidFill>
                  <a:srgbClr val="000000"/>
                </a:solidFill>
                <a:latin typeface="Times New Roman" panose="02020603050405020304" pitchFamily="18" charset="0"/>
                <a:ea typeface="黑体" panose="02010609060101010101" pitchFamily="49" charset="-122"/>
                <a:sym typeface="+mn-ea"/>
              </a:rPr>
              <a:t>, 4)</a:t>
            </a:r>
          </a:p>
          <a:p>
            <a:pPr algn="ctr" eaLnBrk="0" fontAlgn="base" hangingPunct="0">
              <a:lnSpc>
                <a:spcPct val="120000"/>
              </a:lnSpc>
              <a:spcBef>
                <a:spcPct val="0"/>
              </a:spcBef>
              <a:spcAft>
                <a:spcPct val="0"/>
              </a:spcAft>
            </a:pPr>
            <a:r>
              <a:rPr lang="zh-CN" altLang="en-US" sz="2000" err="1">
                <a:solidFill>
                  <a:srgbClr val="000000"/>
                </a:solidFill>
                <a:latin typeface="Times New Roman" panose="02020603050405020304" pitchFamily="18" charset="0"/>
                <a:ea typeface="黑体" panose="02010609060101010101" pitchFamily="49" charset="-122"/>
                <a:sym typeface="+mn-ea"/>
              </a:rPr>
              <a:t>如</a:t>
            </a:r>
            <a:r>
              <a:rPr lang="en-US" altLang="zh-CN" sz="2000" err="1">
                <a:solidFill>
                  <a:srgbClr val="000000"/>
                </a:solidFill>
                <a:latin typeface="Times New Roman" panose="02020603050405020304" pitchFamily="18" charset="0"/>
                <a:ea typeface="黑体" panose="02010609060101010101" pitchFamily="49" charset="-122"/>
                <a:sym typeface="+mn-ea"/>
              </a:rPr>
              <a:t>(8, 8, 4)</a:t>
            </a:r>
          </a:p>
        </p:txBody>
      </p:sp>
      <p:sp>
        <p:nvSpPr>
          <p:cNvPr id="5" name="圆角矩形 4"/>
          <p:cNvSpPr/>
          <p:nvPr/>
        </p:nvSpPr>
        <p:spPr>
          <a:xfrm>
            <a:off x="2869566" y="4439920"/>
            <a:ext cx="2200275" cy="1267460"/>
          </a:xfrm>
          <a:prstGeom prst="round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6" name="文本框 5"/>
          <p:cNvSpPr txBox="1"/>
          <p:nvPr/>
        </p:nvSpPr>
        <p:spPr>
          <a:xfrm>
            <a:off x="3002281" y="4439920"/>
            <a:ext cx="1993265" cy="1198880"/>
          </a:xfrm>
          <a:prstGeom prst="rect">
            <a:avLst/>
          </a:prstGeom>
          <a:noFill/>
        </p:spPr>
        <p:txBody>
          <a:bodyPr wrap="square" rtlCol="0" anchor="t">
            <a:spAutoFit/>
          </a:bodyPr>
          <a:lstStyle/>
          <a:p>
            <a:pPr algn="ctr" eaLnBrk="0" fontAlgn="base" hangingPunct="0">
              <a:lnSpc>
                <a:spcPct val="120000"/>
              </a:lnSpc>
              <a:spcBef>
                <a:spcPct val="0"/>
              </a:spcBef>
              <a:spcAft>
                <a:spcPct val="0"/>
              </a:spcAft>
            </a:pPr>
            <a:r>
              <a:rPr lang="zh-CN" altLang="en-US" sz="2000" err="1">
                <a:solidFill>
                  <a:srgbClr val="000000"/>
                </a:solidFill>
                <a:latin typeface="Times New Roman" panose="02020603050405020304" pitchFamily="18" charset="0"/>
                <a:ea typeface="黑体" panose="02010609060101010101" pitchFamily="49" charset="-122"/>
                <a:sym typeface="+mn-ea"/>
              </a:rPr>
              <a:t>汉明码</a:t>
            </a:r>
          </a:p>
          <a:p>
            <a:pPr algn="ctr" eaLnBrk="0" fontAlgn="base" hangingPunct="0">
              <a:lnSpc>
                <a:spcPct val="120000"/>
              </a:lnSpc>
              <a:spcBef>
                <a:spcPct val="0"/>
              </a:spcBef>
              <a:spcAft>
                <a:spcPct val="0"/>
              </a:spcAft>
            </a:pPr>
            <a:r>
              <a:rPr lang="en-US" altLang="zh-CN" sz="2000" err="1">
                <a:solidFill>
                  <a:srgbClr val="000000"/>
                </a:solidFill>
                <a:latin typeface="Times New Roman" panose="02020603050405020304" pitchFamily="18" charset="0"/>
                <a:ea typeface="黑体" panose="02010609060101010101" pitchFamily="49" charset="-122"/>
                <a:sym typeface="+mn-ea"/>
              </a:rPr>
              <a:t>(2</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m</a:t>
            </a:r>
            <a:r>
              <a:rPr lang="en-US" altLang="zh-CN" sz="2000" err="1">
                <a:solidFill>
                  <a:srgbClr val="000000"/>
                </a:solidFill>
                <a:latin typeface="Times New Roman" panose="02020603050405020304" pitchFamily="18" charset="0"/>
                <a:ea typeface="黑体" panose="02010609060101010101" pitchFamily="49" charset="-122"/>
                <a:sym typeface="+mn-ea"/>
              </a:rPr>
              <a:t>-1, 2</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m</a:t>
            </a:r>
            <a:r>
              <a:rPr lang="en-US" altLang="zh-CN" sz="2000" err="1">
                <a:solidFill>
                  <a:srgbClr val="000000"/>
                </a:solidFill>
                <a:latin typeface="Times New Roman" panose="02020603050405020304" pitchFamily="18" charset="0"/>
                <a:ea typeface="黑体" panose="02010609060101010101" pitchFamily="49" charset="-122"/>
                <a:sym typeface="+mn-ea"/>
              </a:rPr>
              <a:t>-1-</a:t>
            </a:r>
            <a:r>
              <a:rPr lang="en-US" altLang="zh-CN" sz="2000" i="1" err="1">
                <a:solidFill>
                  <a:srgbClr val="000000"/>
                </a:solidFill>
                <a:latin typeface="Times New Roman" panose="02020603050405020304" pitchFamily="18" charset="0"/>
                <a:ea typeface="黑体" panose="02010609060101010101" pitchFamily="49" charset="-122"/>
                <a:sym typeface="+mn-ea"/>
              </a:rPr>
              <a:t>m</a:t>
            </a:r>
            <a:r>
              <a:rPr lang="en-US" altLang="zh-CN" sz="2000" err="1">
                <a:solidFill>
                  <a:srgbClr val="000000"/>
                </a:solidFill>
                <a:latin typeface="Times New Roman" panose="02020603050405020304" pitchFamily="18" charset="0"/>
                <a:ea typeface="黑体" panose="02010609060101010101" pitchFamily="49" charset="-122"/>
                <a:sym typeface="+mn-ea"/>
              </a:rPr>
              <a:t>, 3)</a:t>
            </a:r>
          </a:p>
          <a:p>
            <a:pPr algn="ctr" eaLnBrk="0" fontAlgn="base" hangingPunct="0">
              <a:lnSpc>
                <a:spcPct val="120000"/>
              </a:lnSpc>
              <a:spcBef>
                <a:spcPct val="0"/>
              </a:spcBef>
              <a:spcAft>
                <a:spcPct val="0"/>
              </a:spcAft>
            </a:pPr>
            <a:r>
              <a:rPr lang="zh-CN" altLang="en-US" sz="2000" err="1">
                <a:solidFill>
                  <a:srgbClr val="000000"/>
                </a:solidFill>
                <a:latin typeface="Times New Roman" panose="02020603050405020304" pitchFamily="18" charset="0"/>
                <a:ea typeface="黑体" panose="02010609060101010101" pitchFamily="49" charset="-122"/>
                <a:sym typeface="+mn-ea"/>
              </a:rPr>
              <a:t>如</a:t>
            </a:r>
            <a:r>
              <a:rPr lang="en-US" altLang="zh-CN" sz="2000" err="1">
                <a:solidFill>
                  <a:srgbClr val="000000"/>
                </a:solidFill>
                <a:latin typeface="Times New Roman" panose="02020603050405020304" pitchFamily="18" charset="0"/>
                <a:ea typeface="黑体" panose="02010609060101010101" pitchFamily="49" charset="-122"/>
                <a:sym typeface="+mn-ea"/>
              </a:rPr>
              <a:t>(7, 4, 3)</a:t>
            </a:r>
          </a:p>
        </p:txBody>
      </p:sp>
      <p:sp>
        <p:nvSpPr>
          <p:cNvPr id="7" name="圆角矩形 6"/>
          <p:cNvSpPr/>
          <p:nvPr/>
        </p:nvSpPr>
        <p:spPr>
          <a:xfrm>
            <a:off x="7025641" y="4439920"/>
            <a:ext cx="2200275" cy="1267460"/>
          </a:xfrm>
          <a:prstGeom prst="round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8" name="文本框 7"/>
          <p:cNvSpPr txBox="1"/>
          <p:nvPr/>
        </p:nvSpPr>
        <p:spPr>
          <a:xfrm>
            <a:off x="7158356" y="4439920"/>
            <a:ext cx="1993265" cy="1198880"/>
          </a:xfrm>
          <a:prstGeom prst="rect">
            <a:avLst/>
          </a:prstGeom>
          <a:noFill/>
        </p:spPr>
        <p:txBody>
          <a:bodyPr wrap="square" rtlCol="0" anchor="t">
            <a:spAutoFit/>
          </a:bodyPr>
          <a:lstStyle/>
          <a:p>
            <a:pPr algn="ctr" eaLnBrk="0" fontAlgn="base" hangingPunct="0">
              <a:lnSpc>
                <a:spcPct val="120000"/>
              </a:lnSpc>
              <a:spcBef>
                <a:spcPct val="0"/>
              </a:spcBef>
              <a:spcAft>
                <a:spcPct val="0"/>
              </a:spcAft>
            </a:pPr>
            <a:r>
              <a:rPr lang="zh-CN" altLang="en-US" sz="2000" err="1">
                <a:solidFill>
                  <a:srgbClr val="000000"/>
                </a:solidFill>
                <a:latin typeface="Times New Roman" panose="02020603050405020304" pitchFamily="18" charset="0"/>
                <a:ea typeface="黑体" panose="02010609060101010101" pitchFamily="49" charset="-122"/>
                <a:sym typeface="+mn-ea"/>
              </a:rPr>
              <a:t>增余删信汉明码</a:t>
            </a:r>
          </a:p>
          <a:p>
            <a:pPr algn="ctr" eaLnBrk="0" fontAlgn="base" hangingPunct="0">
              <a:lnSpc>
                <a:spcPct val="120000"/>
              </a:lnSpc>
              <a:spcBef>
                <a:spcPct val="0"/>
              </a:spcBef>
              <a:spcAft>
                <a:spcPct val="0"/>
              </a:spcAft>
            </a:pPr>
            <a:r>
              <a:rPr lang="en-US" altLang="zh-CN" sz="2000" err="1">
                <a:solidFill>
                  <a:srgbClr val="000000"/>
                </a:solidFill>
                <a:latin typeface="Times New Roman" panose="02020603050405020304" pitchFamily="18" charset="0"/>
                <a:ea typeface="黑体" panose="02010609060101010101" pitchFamily="49" charset="-122"/>
                <a:sym typeface="+mn-ea"/>
              </a:rPr>
              <a:t>(2</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m</a:t>
            </a:r>
            <a:r>
              <a:rPr lang="en-US" altLang="zh-CN" sz="2000" err="1">
                <a:solidFill>
                  <a:srgbClr val="000000"/>
                </a:solidFill>
                <a:latin typeface="Times New Roman" panose="02020603050405020304" pitchFamily="18" charset="0"/>
                <a:ea typeface="黑体" panose="02010609060101010101" pitchFamily="49" charset="-122"/>
                <a:sym typeface="+mn-ea"/>
              </a:rPr>
              <a:t>-1, 2</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m</a:t>
            </a:r>
            <a:r>
              <a:rPr lang="en-US" altLang="zh-CN" sz="2000" err="1">
                <a:solidFill>
                  <a:srgbClr val="000000"/>
                </a:solidFill>
                <a:latin typeface="Times New Roman" panose="02020603050405020304" pitchFamily="18" charset="0"/>
                <a:ea typeface="黑体" panose="02010609060101010101" pitchFamily="49" charset="-122"/>
                <a:sym typeface="+mn-ea"/>
              </a:rPr>
              <a:t>-2-</a:t>
            </a:r>
            <a:r>
              <a:rPr lang="en-US" altLang="zh-CN" sz="2000" i="1" err="1">
                <a:solidFill>
                  <a:srgbClr val="000000"/>
                </a:solidFill>
                <a:latin typeface="Times New Roman" panose="02020603050405020304" pitchFamily="18" charset="0"/>
                <a:ea typeface="黑体" panose="02010609060101010101" pitchFamily="49" charset="-122"/>
                <a:sym typeface="+mn-ea"/>
              </a:rPr>
              <a:t>m</a:t>
            </a:r>
            <a:r>
              <a:rPr lang="en-US" altLang="zh-CN" sz="2000" err="1">
                <a:solidFill>
                  <a:srgbClr val="000000"/>
                </a:solidFill>
                <a:latin typeface="Times New Roman" panose="02020603050405020304" pitchFamily="18" charset="0"/>
                <a:ea typeface="黑体" panose="02010609060101010101" pitchFamily="49" charset="-122"/>
                <a:sym typeface="+mn-ea"/>
              </a:rPr>
              <a:t>, 4)</a:t>
            </a:r>
          </a:p>
          <a:p>
            <a:pPr algn="ctr" eaLnBrk="0" fontAlgn="base" hangingPunct="0">
              <a:lnSpc>
                <a:spcPct val="120000"/>
              </a:lnSpc>
              <a:spcBef>
                <a:spcPct val="0"/>
              </a:spcBef>
              <a:spcAft>
                <a:spcPct val="0"/>
              </a:spcAft>
            </a:pPr>
            <a:r>
              <a:rPr lang="zh-CN" altLang="en-US" sz="2000" err="1">
                <a:solidFill>
                  <a:srgbClr val="000000"/>
                </a:solidFill>
                <a:latin typeface="Times New Roman" panose="02020603050405020304" pitchFamily="18" charset="0"/>
                <a:ea typeface="黑体" panose="02010609060101010101" pitchFamily="49" charset="-122"/>
                <a:sym typeface="+mn-ea"/>
              </a:rPr>
              <a:t>如</a:t>
            </a:r>
            <a:r>
              <a:rPr lang="en-US" altLang="zh-CN" sz="2000" err="1">
                <a:solidFill>
                  <a:srgbClr val="000000"/>
                </a:solidFill>
                <a:latin typeface="Times New Roman" panose="02020603050405020304" pitchFamily="18" charset="0"/>
                <a:ea typeface="黑体" panose="02010609060101010101" pitchFamily="49" charset="-122"/>
                <a:sym typeface="+mn-ea"/>
              </a:rPr>
              <a:t>(7, 3, 4)</a:t>
            </a:r>
          </a:p>
        </p:txBody>
      </p:sp>
      <p:cxnSp>
        <p:nvCxnSpPr>
          <p:cNvPr id="9" name="直接箭头连接符 8"/>
          <p:cNvCxnSpPr/>
          <p:nvPr/>
        </p:nvCxnSpPr>
        <p:spPr>
          <a:xfrm>
            <a:off x="7239001" y="3274060"/>
            <a:ext cx="1144905" cy="1078230"/>
          </a:xfrm>
          <a:prstGeom prst="straightConnector1">
            <a:avLst/>
          </a:prstGeom>
          <a:noFill/>
          <a:ln>
            <a:solidFill>
              <a:srgbClr val="00B0F0"/>
            </a:solidFill>
            <a:tailEnd type="arrow"/>
          </a:ln>
        </p:spPr>
      </p:cxnSp>
      <p:sp>
        <p:nvSpPr>
          <p:cNvPr id="10" name="文本框 9"/>
          <p:cNvSpPr txBox="1"/>
          <p:nvPr/>
        </p:nvSpPr>
        <p:spPr>
          <a:xfrm>
            <a:off x="7738746" y="3347721"/>
            <a:ext cx="644525" cy="413703"/>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err="1">
                <a:solidFill>
                  <a:srgbClr val="000000"/>
                </a:solidFill>
                <a:latin typeface="Times New Roman" panose="02020603050405020304" pitchFamily="18" charset="0"/>
                <a:ea typeface="黑体" panose="02010609060101010101" pitchFamily="49" charset="-122"/>
                <a:sym typeface="+mn-ea"/>
              </a:rPr>
              <a:t>缩短</a:t>
            </a:r>
          </a:p>
        </p:txBody>
      </p:sp>
      <p:cxnSp>
        <p:nvCxnSpPr>
          <p:cNvPr id="11" name="直接箭头连接符 10"/>
          <p:cNvCxnSpPr/>
          <p:nvPr/>
        </p:nvCxnSpPr>
        <p:spPr>
          <a:xfrm flipH="1" flipV="1">
            <a:off x="7025640" y="3426461"/>
            <a:ext cx="942340" cy="975995"/>
          </a:xfrm>
          <a:prstGeom prst="straightConnector1">
            <a:avLst/>
          </a:prstGeom>
          <a:noFill/>
          <a:ln>
            <a:solidFill>
              <a:srgbClr val="7030A0"/>
            </a:solidFill>
            <a:tailEnd type="arrow"/>
          </a:ln>
        </p:spPr>
      </p:cxnSp>
      <p:sp>
        <p:nvSpPr>
          <p:cNvPr id="12" name="文本框 11"/>
          <p:cNvSpPr txBox="1"/>
          <p:nvPr/>
        </p:nvSpPr>
        <p:spPr>
          <a:xfrm>
            <a:off x="6899910" y="3778886"/>
            <a:ext cx="796290" cy="413703"/>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err="1">
                <a:solidFill>
                  <a:srgbClr val="000000"/>
                </a:solidFill>
                <a:latin typeface="Times New Roman" panose="02020603050405020304" pitchFamily="18" charset="0"/>
                <a:ea typeface="黑体" panose="02010609060101010101" pitchFamily="49" charset="-122"/>
                <a:sym typeface="+mn-ea"/>
              </a:rPr>
              <a:t>延长</a:t>
            </a:r>
          </a:p>
        </p:txBody>
      </p:sp>
      <p:cxnSp>
        <p:nvCxnSpPr>
          <p:cNvPr id="13" name="直接箭头连接符 12"/>
          <p:cNvCxnSpPr/>
          <p:nvPr/>
        </p:nvCxnSpPr>
        <p:spPr>
          <a:xfrm flipV="1">
            <a:off x="3657600" y="3121660"/>
            <a:ext cx="1371600" cy="1295400"/>
          </a:xfrm>
          <a:prstGeom prst="straightConnector1">
            <a:avLst/>
          </a:prstGeom>
          <a:noFill/>
          <a:ln>
            <a:solidFill>
              <a:srgbClr val="7030A0"/>
            </a:solidFill>
            <a:tailEnd type="arrow"/>
          </a:ln>
        </p:spPr>
      </p:cxnSp>
      <p:sp>
        <p:nvSpPr>
          <p:cNvPr id="14" name="文本框 13"/>
          <p:cNvSpPr txBox="1"/>
          <p:nvPr/>
        </p:nvSpPr>
        <p:spPr>
          <a:xfrm>
            <a:off x="3777615" y="3376931"/>
            <a:ext cx="796290" cy="413703"/>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err="1">
                <a:solidFill>
                  <a:srgbClr val="000000"/>
                </a:solidFill>
                <a:latin typeface="Times New Roman" panose="02020603050405020304" pitchFamily="18" charset="0"/>
                <a:ea typeface="黑体" panose="02010609060101010101" pitchFamily="49" charset="-122"/>
                <a:sym typeface="+mn-ea"/>
              </a:rPr>
              <a:t>扩展</a:t>
            </a:r>
          </a:p>
        </p:txBody>
      </p:sp>
      <p:cxnSp>
        <p:nvCxnSpPr>
          <p:cNvPr id="15" name="直接箭头连接符 14"/>
          <p:cNvCxnSpPr/>
          <p:nvPr/>
        </p:nvCxnSpPr>
        <p:spPr>
          <a:xfrm flipH="1">
            <a:off x="4343400" y="3401060"/>
            <a:ext cx="906780" cy="1016000"/>
          </a:xfrm>
          <a:prstGeom prst="straightConnector1">
            <a:avLst/>
          </a:prstGeom>
          <a:noFill/>
          <a:ln>
            <a:solidFill>
              <a:srgbClr val="00B0F0"/>
            </a:solidFill>
            <a:tailEnd type="arrow"/>
          </a:ln>
        </p:spPr>
      </p:cxnSp>
      <p:sp>
        <p:nvSpPr>
          <p:cNvPr id="16" name="文本框 15"/>
          <p:cNvSpPr txBox="1"/>
          <p:nvPr/>
        </p:nvSpPr>
        <p:spPr>
          <a:xfrm>
            <a:off x="4843146" y="3701416"/>
            <a:ext cx="644525" cy="413703"/>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err="1">
                <a:solidFill>
                  <a:srgbClr val="000000"/>
                </a:solidFill>
                <a:latin typeface="Times New Roman" panose="02020603050405020304" pitchFamily="18" charset="0"/>
                <a:ea typeface="黑体" panose="02010609060101010101" pitchFamily="49" charset="-122"/>
                <a:sym typeface="+mn-ea"/>
              </a:rPr>
              <a:t>删余</a:t>
            </a:r>
          </a:p>
        </p:txBody>
      </p:sp>
      <p:cxnSp>
        <p:nvCxnSpPr>
          <p:cNvPr id="17" name="直接箭头连接符 16"/>
          <p:cNvCxnSpPr/>
          <p:nvPr/>
        </p:nvCxnSpPr>
        <p:spPr>
          <a:xfrm>
            <a:off x="5105401" y="5257801"/>
            <a:ext cx="1905635" cy="5715"/>
          </a:xfrm>
          <a:prstGeom prst="straightConnector1">
            <a:avLst/>
          </a:prstGeom>
          <a:noFill/>
          <a:ln>
            <a:solidFill>
              <a:srgbClr val="00B0F0"/>
            </a:solidFill>
            <a:tailEnd type="arrow"/>
          </a:ln>
        </p:spPr>
      </p:cxnSp>
      <p:sp>
        <p:nvSpPr>
          <p:cNvPr id="18" name="文本框 17"/>
          <p:cNvSpPr txBox="1"/>
          <p:nvPr/>
        </p:nvSpPr>
        <p:spPr>
          <a:xfrm>
            <a:off x="5801361" y="5188586"/>
            <a:ext cx="644525" cy="413703"/>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err="1">
                <a:solidFill>
                  <a:srgbClr val="000000"/>
                </a:solidFill>
                <a:latin typeface="Times New Roman" panose="02020603050405020304" pitchFamily="18" charset="0"/>
                <a:ea typeface="黑体" panose="02010609060101010101" pitchFamily="49" charset="-122"/>
                <a:sym typeface="+mn-ea"/>
              </a:rPr>
              <a:t>删信</a:t>
            </a:r>
          </a:p>
        </p:txBody>
      </p:sp>
      <p:cxnSp>
        <p:nvCxnSpPr>
          <p:cNvPr id="19" name="直接箭头连接符 18"/>
          <p:cNvCxnSpPr/>
          <p:nvPr/>
        </p:nvCxnSpPr>
        <p:spPr>
          <a:xfrm flipH="1">
            <a:off x="5105400" y="4874260"/>
            <a:ext cx="1905000" cy="2540"/>
          </a:xfrm>
          <a:prstGeom prst="straightConnector1">
            <a:avLst/>
          </a:prstGeom>
          <a:noFill/>
          <a:ln>
            <a:solidFill>
              <a:srgbClr val="7030A0"/>
            </a:solidFill>
            <a:tailEnd type="arrow"/>
          </a:ln>
        </p:spPr>
      </p:cxnSp>
      <p:sp>
        <p:nvSpPr>
          <p:cNvPr id="20" name="文本框 19"/>
          <p:cNvSpPr txBox="1"/>
          <p:nvPr/>
        </p:nvSpPr>
        <p:spPr>
          <a:xfrm>
            <a:off x="5852796" y="4408806"/>
            <a:ext cx="644525" cy="413703"/>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err="1">
                <a:solidFill>
                  <a:srgbClr val="000000"/>
                </a:solidFill>
                <a:latin typeface="Times New Roman" panose="02020603050405020304" pitchFamily="18" charset="0"/>
                <a:ea typeface="黑体" panose="02010609060101010101" pitchFamily="49" charset="-122"/>
                <a:sym typeface="+mn-ea"/>
              </a:rPr>
              <a:t>增信</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直和码</a:t>
            </a:r>
          </a:p>
        </p:txBody>
      </p:sp>
      <p:sp>
        <p:nvSpPr>
          <p:cNvPr id="22" name="内容占位符 2"/>
          <p:cNvSpPr txBox="1"/>
          <p:nvPr/>
        </p:nvSpPr>
        <p:spPr>
          <a:xfrm>
            <a:off x="1849120" y="925196"/>
            <a:ext cx="8445500" cy="170116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23" name="文本框 22"/>
          <p:cNvSpPr txBox="1"/>
          <p:nvPr/>
        </p:nvSpPr>
        <p:spPr>
          <a:xfrm>
            <a:off x="1934846" y="942976"/>
            <a:ext cx="8208645" cy="1001813"/>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err="1">
                <a:solidFill>
                  <a:srgbClr val="FF0000"/>
                </a:solidFill>
                <a:latin typeface="Times New Roman" panose="02020603050405020304" pitchFamily="18" charset="0"/>
                <a:ea typeface="黑体" panose="02010609060101010101" pitchFamily="49" charset="-122"/>
                <a:sym typeface="+mn-ea"/>
              </a:rPr>
              <a:t>定义：</a:t>
            </a:r>
            <a:r>
              <a:rPr lang="zh-CN" altLang="en-US" sz="2400" err="1">
                <a:solidFill>
                  <a:srgbClr val="000000"/>
                </a:solidFill>
                <a:latin typeface="Times New Roman" panose="02020603050405020304" pitchFamily="18" charset="0"/>
                <a:ea typeface="黑体" panose="02010609060101010101" pitchFamily="49" charset="-122"/>
                <a:sym typeface="+mn-ea"/>
              </a:rPr>
              <a:t>设</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sym typeface="+mn-ea"/>
              </a:rPr>
              <a:t>分别是二元</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和</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且</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微软雅黑" panose="020B0503020204020204" charset="-122"/>
                <a:ea typeface="微软雅黑" panose="020B0503020204020204"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微软雅黑" panose="020B0503020204020204" charset="-122"/>
                <a:ea typeface="微软雅黑" panose="020B0503020204020204" charset="-122"/>
                <a:sym typeface="+mn-ea"/>
              </a:rPr>
              <a:t>=</a:t>
            </a:r>
            <a:r>
              <a:rPr lang="zh-CN" altLang="en-US" sz="2400" err="1">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err="1">
                <a:solidFill>
                  <a:srgbClr val="000000"/>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则定义</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的直和码</a:t>
            </a:r>
            <a:r>
              <a:rPr lang="zh-CN" altLang="en-US" sz="2400" i="1" err="1">
                <a:solidFill>
                  <a:srgbClr val="000000"/>
                </a:solidFill>
                <a:latin typeface="Times New Roman" panose="02020603050405020304" pitchFamily="18" charset="0"/>
                <a:ea typeface="黑体" panose="02010609060101010101" pitchFamily="49" charset="-122"/>
                <a:cs typeface="+mn-ea"/>
                <a:sym typeface="+mn-ea"/>
              </a:rPr>
              <a:t>C</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是</a:t>
            </a:r>
            <a:endParaRPr lang="zh-CN" altLang="en-US" sz="2400" err="1">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0"/>
          </p:cNvPr>
          <p:cNvGraphicFramePr>
            <a:graphicFrameLocks noChangeAspect="1"/>
          </p:cNvGraphicFramePr>
          <p:nvPr/>
        </p:nvGraphicFramePr>
        <p:xfrm>
          <a:off x="4010979" y="1981201"/>
          <a:ext cx="4055745" cy="498475"/>
        </p:xfrm>
        <a:graphic>
          <a:graphicData uri="http://schemas.openxmlformats.org/presentationml/2006/ole">
            <mc:AlternateContent xmlns:mc="http://schemas.openxmlformats.org/markup-compatibility/2006">
              <mc:Choice xmlns:v="urn:schemas-microsoft-com:vml" Requires="v">
                <p:oleObj r:id="rId3" imgW="2298700" imgH="254000" progId="Equation.KSEE3">
                  <p:embed/>
                </p:oleObj>
              </mc:Choice>
              <mc:Fallback>
                <p:oleObj r:id="rId3" imgW="2298700" imgH="254000" progId="Equation.KSEE3">
                  <p:embed/>
                  <p:pic>
                    <p:nvPicPr>
                      <p:cNvPr id="7" name="对象 6">
                        <a:hlinkClick r:id="" action="ppaction://ole?verb=0"/>
                      </p:cNvPr>
                      <p:cNvPicPr/>
                      <p:nvPr/>
                    </p:nvPicPr>
                    <p:blipFill>
                      <a:blip r:embed="rId4"/>
                      <a:stretch>
                        <a:fillRect/>
                      </a:stretch>
                    </p:blipFill>
                    <p:spPr>
                      <a:xfrm>
                        <a:off x="4010979" y="1981201"/>
                        <a:ext cx="4055745" cy="498475"/>
                      </a:xfrm>
                      <a:prstGeom prst="rect">
                        <a:avLst/>
                      </a:prstGeom>
                    </p:spPr>
                  </p:pic>
                </p:oleObj>
              </mc:Fallback>
            </mc:AlternateContent>
          </a:graphicData>
        </a:graphic>
      </p:graphicFrame>
      <p:sp>
        <p:nvSpPr>
          <p:cNvPr id="3" name="文本框 2"/>
          <p:cNvSpPr txBox="1"/>
          <p:nvPr/>
        </p:nvSpPr>
        <p:spPr>
          <a:xfrm>
            <a:off x="2576195" y="3303270"/>
            <a:ext cx="4605020"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err="1">
                <a:solidFill>
                  <a:srgbClr val="000000"/>
                </a:solidFill>
                <a:latin typeface="Times New Roman" panose="02020603050405020304" pitchFamily="18" charset="0"/>
                <a:ea typeface="黑体" panose="02010609060101010101" pitchFamily="49" charset="-122"/>
                <a:sym typeface="+mn-ea"/>
              </a:rPr>
              <a:t>不难推导出直和码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err="1">
                <a:solidFill>
                  <a:srgbClr val="000000"/>
                </a:solidFill>
                <a:latin typeface="Times New Roman" panose="02020603050405020304" pitchFamily="18" charset="0"/>
                <a:ea typeface="黑体" panose="02010609060101010101" pitchFamily="49" charset="-122"/>
                <a:sym typeface="+mn-ea"/>
              </a:rPr>
              <a:t>的生成矩阵</a:t>
            </a:r>
          </a:p>
        </p:txBody>
      </p:sp>
      <p:graphicFrame>
        <p:nvGraphicFramePr>
          <p:cNvPr id="4" name="对象 3">
            <a:hlinkClick r:id="" action="ppaction://ole?verb=0"/>
          </p:cNvPr>
          <p:cNvGraphicFramePr>
            <a:graphicFrameLocks noChangeAspect="1"/>
          </p:cNvGraphicFramePr>
          <p:nvPr/>
        </p:nvGraphicFramePr>
        <p:xfrm>
          <a:off x="6991351" y="3123883"/>
          <a:ext cx="1075690" cy="947420"/>
        </p:xfrm>
        <a:graphic>
          <a:graphicData uri="http://schemas.openxmlformats.org/presentationml/2006/ole">
            <mc:AlternateContent xmlns:mc="http://schemas.openxmlformats.org/markup-compatibility/2006">
              <mc:Choice xmlns:v="urn:schemas-microsoft-com:vml" Requires="v">
                <p:oleObj r:id="rId5" imgW="609600" imgH="482600" progId="Equation.KSEE3">
                  <p:embed/>
                </p:oleObj>
              </mc:Choice>
              <mc:Fallback>
                <p:oleObj r:id="rId5" imgW="609600" imgH="482600" progId="Equation.KSEE3">
                  <p:embed/>
                  <p:pic>
                    <p:nvPicPr>
                      <p:cNvPr id="4" name="对象 3">
                        <a:hlinkClick r:id="" action="ppaction://ole?verb=0"/>
                      </p:cNvPr>
                      <p:cNvPicPr/>
                      <p:nvPr/>
                    </p:nvPicPr>
                    <p:blipFill>
                      <a:blip r:embed="rId6"/>
                      <a:stretch>
                        <a:fillRect/>
                      </a:stretch>
                    </p:blipFill>
                    <p:spPr>
                      <a:xfrm>
                        <a:off x="6991351" y="3123883"/>
                        <a:ext cx="1075690" cy="947420"/>
                      </a:xfrm>
                      <a:prstGeom prst="rect">
                        <a:avLst/>
                      </a:prstGeom>
                    </p:spPr>
                  </p:pic>
                </p:oleObj>
              </mc:Fallback>
            </mc:AlternateContent>
          </a:graphicData>
        </a:graphic>
      </p:graphicFrame>
      <p:sp>
        <p:nvSpPr>
          <p:cNvPr id="6" name="文本框 5"/>
          <p:cNvSpPr txBox="1"/>
          <p:nvPr/>
        </p:nvSpPr>
        <p:spPr>
          <a:xfrm>
            <a:off x="1947545" y="4412615"/>
            <a:ext cx="8347710" cy="1130246"/>
          </a:xfrm>
          <a:prstGeom prst="rect">
            <a:avLst/>
          </a:prstGeom>
          <a:noFill/>
        </p:spPr>
        <p:txBody>
          <a:bodyPr wrap="square" rtlCol="0" anchor="t">
            <a:spAutoFit/>
          </a:bodyPr>
          <a:lstStyle/>
          <a:p>
            <a:pPr indent="609600" eaLnBrk="0" fontAlgn="base" hangingPunct="0">
              <a:lnSpc>
                <a:spcPct val="15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err="1">
                <a:solidFill>
                  <a:srgbClr val="000000"/>
                </a:solidFill>
                <a:latin typeface="Times New Roman" panose="02020603050405020304" pitchFamily="18" charset="0"/>
                <a:ea typeface="黑体" panose="02010609060101010101" pitchFamily="49" charset="-122"/>
                <a:sym typeface="+mn-ea"/>
              </a:rPr>
              <a:t>由该生成矩阵可生成</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其最小汉明距离</a:t>
            </a:r>
          </a:p>
        </p:txBody>
      </p:sp>
      <p:graphicFrame>
        <p:nvGraphicFramePr>
          <p:cNvPr id="8" name="对象 7">
            <a:hlinkClick r:id="" action="ppaction://ole?verb=0"/>
          </p:cNvPr>
          <p:cNvGraphicFramePr>
            <a:graphicFrameLocks noChangeAspect="1"/>
          </p:cNvGraphicFramePr>
          <p:nvPr/>
        </p:nvGraphicFramePr>
        <p:xfrm>
          <a:off x="2742884" y="5105083"/>
          <a:ext cx="1703705" cy="424180"/>
        </p:xfrm>
        <a:graphic>
          <a:graphicData uri="http://schemas.openxmlformats.org/presentationml/2006/ole">
            <mc:AlternateContent xmlns:mc="http://schemas.openxmlformats.org/markup-compatibility/2006">
              <mc:Choice xmlns:v="urn:schemas-microsoft-com:vml" Requires="v">
                <p:oleObj r:id="rId7" imgW="965200" imgH="215900" progId="Equation.KSEE3">
                  <p:embed/>
                </p:oleObj>
              </mc:Choice>
              <mc:Fallback>
                <p:oleObj r:id="rId7" imgW="965200" imgH="215900" progId="Equation.KSEE3">
                  <p:embed/>
                  <p:pic>
                    <p:nvPicPr>
                      <p:cNvPr id="8" name="对象 7">
                        <a:hlinkClick r:id="" action="ppaction://ole?verb=0"/>
                      </p:cNvPr>
                      <p:cNvPicPr/>
                      <p:nvPr/>
                    </p:nvPicPr>
                    <p:blipFill>
                      <a:blip r:embed="rId8"/>
                      <a:stretch>
                        <a:fillRect/>
                      </a:stretch>
                    </p:blipFill>
                    <p:spPr>
                      <a:xfrm>
                        <a:off x="2742884" y="5105083"/>
                        <a:ext cx="1703705" cy="424180"/>
                      </a:xfrm>
                      <a:prstGeom prst="rect">
                        <a:avLst/>
                      </a:prstGeom>
                    </p:spPr>
                  </p:pic>
                </p:oleObj>
              </mc:Fallback>
            </mc:AlternateContent>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笛卡尔积码</a:t>
            </a:r>
          </a:p>
        </p:txBody>
      </p:sp>
      <p:sp>
        <p:nvSpPr>
          <p:cNvPr id="22" name="内容占位符 2"/>
          <p:cNvSpPr txBox="1"/>
          <p:nvPr/>
        </p:nvSpPr>
        <p:spPr>
          <a:xfrm>
            <a:off x="1849120" y="925196"/>
            <a:ext cx="8445500" cy="170116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23" name="文本框 22"/>
          <p:cNvSpPr txBox="1"/>
          <p:nvPr/>
        </p:nvSpPr>
        <p:spPr>
          <a:xfrm>
            <a:off x="1934846" y="942975"/>
            <a:ext cx="8267065" cy="1000980"/>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err="1">
                <a:solidFill>
                  <a:srgbClr val="FF0000"/>
                </a:solidFill>
                <a:latin typeface="Times New Roman" panose="02020603050405020304" pitchFamily="18" charset="0"/>
                <a:ea typeface="黑体" panose="02010609060101010101" pitchFamily="49" charset="-122"/>
                <a:sym typeface="+mn-ea"/>
              </a:rPr>
              <a:t>定义：</a:t>
            </a:r>
            <a:r>
              <a:rPr lang="zh-CN" altLang="en-US" sz="2400" err="1">
                <a:solidFill>
                  <a:srgbClr val="000000"/>
                </a:solidFill>
                <a:latin typeface="Times New Roman" panose="02020603050405020304" pitchFamily="18" charset="0"/>
                <a:ea typeface="黑体" panose="02010609060101010101" pitchFamily="49" charset="-122"/>
                <a:sym typeface="+mn-ea"/>
              </a:rPr>
              <a:t>设</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sym typeface="+mn-ea"/>
              </a:rPr>
              <a:t>分别是二元</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和</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则定义</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的笛卡尔积码</a:t>
            </a:r>
            <a:r>
              <a:rPr lang="zh-CN" altLang="en-US" sz="2400" i="1" err="1">
                <a:solidFill>
                  <a:srgbClr val="000000"/>
                </a:solidFill>
                <a:latin typeface="Times New Roman" panose="02020603050405020304" pitchFamily="18" charset="0"/>
                <a:ea typeface="黑体" panose="02010609060101010101" pitchFamily="49" charset="-122"/>
                <a:cs typeface="+mn-ea"/>
                <a:sym typeface="+mn-ea"/>
              </a:rPr>
              <a:t>C</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是</a:t>
            </a:r>
            <a:endParaRPr lang="zh-CN" altLang="en-US" sz="2400" err="1">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0"/>
          </p:cNvPr>
          <p:cNvGraphicFramePr>
            <a:graphicFrameLocks noChangeAspect="1"/>
          </p:cNvGraphicFramePr>
          <p:nvPr/>
        </p:nvGraphicFramePr>
        <p:xfrm>
          <a:off x="4044316" y="1981201"/>
          <a:ext cx="3989070" cy="498475"/>
        </p:xfrm>
        <a:graphic>
          <a:graphicData uri="http://schemas.openxmlformats.org/presentationml/2006/ole">
            <mc:AlternateContent xmlns:mc="http://schemas.openxmlformats.org/markup-compatibility/2006">
              <mc:Choice xmlns:v="urn:schemas-microsoft-com:vml" Requires="v">
                <p:oleObj r:id="rId3" imgW="2260600" imgH="254000" progId="Equation.KSEE3">
                  <p:embed/>
                </p:oleObj>
              </mc:Choice>
              <mc:Fallback>
                <p:oleObj r:id="rId3" imgW="2260600" imgH="254000" progId="Equation.KSEE3">
                  <p:embed/>
                  <p:pic>
                    <p:nvPicPr>
                      <p:cNvPr id="7" name="对象 6">
                        <a:hlinkClick r:id="" action="ppaction://ole?verb=0"/>
                      </p:cNvPr>
                      <p:cNvPicPr/>
                      <p:nvPr/>
                    </p:nvPicPr>
                    <p:blipFill>
                      <a:blip r:embed="rId4"/>
                      <a:stretch>
                        <a:fillRect/>
                      </a:stretch>
                    </p:blipFill>
                    <p:spPr>
                      <a:xfrm>
                        <a:off x="4044316" y="1981201"/>
                        <a:ext cx="3989070" cy="498475"/>
                      </a:xfrm>
                      <a:prstGeom prst="rect">
                        <a:avLst/>
                      </a:prstGeom>
                    </p:spPr>
                  </p:pic>
                </p:oleObj>
              </mc:Fallback>
            </mc:AlternateContent>
          </a:graphicData>
        </a:graphic>
      </p:graphicFrame>
      <p:sp>
        <p:nvSpPr>
          <p:cNvPr id="3" name="文本框 2"/>
          <p:cNvSpPr txBox="1"/>
          <p:nvPr/>
        </p:nvSpPr>
        <p:spPr>
          <a:xfrm>
            <a:off x="2576195" y="3303270"/>
            <a:ext cx="4605020"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err="1">
                <a:solidFill>
                  <a:srgbClr val="000000"/>
                </a:solidFill>
                <a:latin typeface="Times New Roman" panose="02020603050405020304" pitchFamily="18" charset="0"/>
                <a:ea typeface="黑体" panose="02010609060101010101" pitchFamily="49" charset="-122"/>
                <a:cs typeface="+mn-ea"/>
                <a:sym typeface="+mn-ea"/>
              </a:rPr>
              <a:t>笛卡尔积</a:t>
            </a:r>
            <a:r>
              <a:rPr lang="zh-CN" altLang="en-US" sz="2400" err="1">
                <a:solidFill>
                  <a:srgbClr val="000000"/>
                </a:solidFill>
                <a:latin typeface="Times New Roman" panose="02020603050405020304" pitchFamily="18" charset="0"/>
                <a:ea typeface="黑体" panose="02010609060101010101" pitchFamily="49" charset="-122"/>
                <a:sym typeface="+mn-ea"/>
              </a:rPr>
              <a:t>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err="1">
                <a:solidFill>
                  <a:srgbClr val="000000"/>
                </a:solidFill>
                <a:latin typeface="Times New Roman" panose="02020603050405020304" pitchFamily="18" charset="0"/>
                <a:ea typeface="黑体" panose="02010609060101010101" pitchFamily="49" charset="-122"/>
                <a:sym typeface="+mn-ea"/>
              </a:rPr>
              <a:t>的生成矩阵</a:t>
            </a:r>
          </a:p>
        </p:txBody>
      </p:sp>
      <p:graphicFrame>
        <p:nvGraphicFramePr>
          <p:cNvPr id="4" name="对象 3">
            <a:hlinkClick r:id="" action="ppaction://ole?verb=0"/>
          </p:cNvPr>
          <p:cNvGraphicFramePr>
            <a:graphicFrameLocks noChangeAspect="1"/>
          </p:cNvGraphicFramePr>
          <p:nvPr/>
        </p:nvGraphicFramePr>
        <p:xfrm>
          <a:off x="6172201" y="3124518"/>
          <a:ext cx="1591310" cy="947420"/>
        </p:xfrm>
        <a:graphic>
          <a:graphicData uri="http://schemas.openxmlformats.org/presentationml/2006/ole">
            <mc:AlternateContent xmlns:mc="http://schemas.openxmlformats.org/markup-compatibility/2006">
              <mc:Choice xmlns:v="urn:schemas-microsoft-com:vml" Requires="v">
                <p:oleObj r:id="rId5" imgW="901700" imgH="482600" progId="Equation.KSEE3">
                  <p:embed/>
                </p:oleObj>
              </mc:Choice>
              <mc:Fallback>
                <p:oleObj r:id="rId5" imgW="901700" imgH="482600" progId="Equation.KSEE3">
                  <p:embed/>
                  <p:pic>
                    <p:nvPicPr>
                      <p:cNvPr id="4" name="对象 3">
                        <a:hlinkClick r:id="" action="ppaction://ole?verb=0"/>
                      </p:cNvPr>
                      <p:cNvPicPr/>
                      <p:nvPr/>
                    </p:nvPicPr>
                    <p:blipFill>
                      <a:blip r:embed="rId6"/>
                      <a:stretch>
                        <a:fillRect/>
                      </a:stretch>
                    </p:blipFill>
                    <p:spPr>
                      <a:xfrm>
                        <a:off x="6172201" y="3124518"/>
                        <a:ext cx="1591310" cy="947420"/>
                      </a:xfrm>
                      <a:prstGeom prst="rect">
                        <a:avLst/>
                      </a:prstGeom>
                    </p:spPr>
                  </p:pic>
                </p:oleObj>
              </mc:Fallback>
            </mc:AlternateContent>
          </a:graphicData>
        </a:graphic>
      </p:graphicFrame>
      <p:sp>
        <p:nvSpPr>
          <p:cNvPr id="6" name="文本框 5"/>
          <p:cNvSpPr txBox="1"/>
          <p:nvPr/>
        </p:nvSpPr>
        <p:spPr>
          <a:xfrm>
            <a:off x="1644650" y="4419600"/>
            <a:ext cx="8347710" cy="1130246"/>
          </a:xfrm>
          <a:prstGeom prst="rect">
            <a:avLst/>
          </a:prstGeom>
          <a:noFill/>
        </p:spPr>
        <p:txBody>
          <a:bodyPr wrap="square" rtlCol="0" anchor="t">
            <a:spAutoFit/>
          </a:bodyPr>
          <a:lstStyle/>
          <a:p>
            <a:pPr indent="609600" eaLnBrk="0" fontAlgn="base" hangingPunct="0">
              <a:lnSpc>
                <a:spcPct val="15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err="1">
                <a:solidFill>
                  <a:srgbClr val="000000"/>
                </a:solidFill>
                <a:latin typeface="Times New Roman" panose="02020603050405020304" pitchFamily="18" charset="0"/>
                <a:ea typeface="黑体" panose="02010609060101010101" pitchFamily="49" charset="-122"/>
                <a:sym typeface="+mn-ea"/>
              </a:rPr>
              <a:t>由该生成矩阵可生成</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min{</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链接码</a:t>
            </a:r>
          </a:p>
        </p:txBody>
      </p:sp>
      <p:sp>
        <p:nvSpPr>
          <p:cNvPr id="22" name="内容占位符 2"/>
          <p:cNvSpPr txBox="1"/>
          <p:nvPr/>
        </p:nvSpPr>
        <p:spPr>
          <a:xfrm>
            <a:off x="1849120" y="925196"/>
            <a:ext cx="8445500" cy="208216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23" name="文本框 22"/>
          <p:cNvSpPr txBox="1"/>
          <p:nvPr/>
        </p:nvSpPr>
        <p:spPr>
          <a:xfrm>
            <a:off x="1934846" y="942976"/>
            <a:ext cx="8267065" cy="1001813"/>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err="1">
                <a:solidFill>
                  <a:srgbClr val="FF0000"/>
                </a:solidFill>
                <a:latin typeface="Times New Roman" panose="02020603050405020304" pitchFamily="18" charset="0"/>
                <a:ea typeface="黑体" panose="02010609060101010101" pitchFamily="49" charset="-122"/>
                <a:sym typeface="+mn-ea"/>
              </a:rPr>
              <a:t>定义：</a:t>
            </a:r>
            <a:r>
              <a:rPr lang="zh-CN" altLang="en-US" sz="2400" err="1">
                <a:solidFill>
                  <a:srgbClr val="000000"/>
                </a:solidFill>
                <a:latin typeface="Times New Roman" panose="02020603050405020304" pitchFamily="18" charset="0"/>
                <a:ea typeface="黑体" panose="02010609060101010101" pitchFamily="49" charset="-122"/>
                <a:sym typeface="+mn-ea"/>
              </a:rPr>
              <a:t>设</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sym typeface="+mn-ea"/>
              </a:rPr>
              <a:t>分别是二元</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和</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且</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微软雅黑" panose="020B0503020204020204" charset="-122"/>
                <a:ea typeface="微软雅黑" panose="020B0503020204020204"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则定义</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的链接码</a:t>
            </a:r>
            <a:r>
              <a:rPr lang="zh-CN" altLang="en-US" sz="2400" i="1" err="1">
                <a:solidFill>
                  <a:srgbClr val="000000"/>
                </a:solidFill>
                <a:latin typeface="Times New Roman" panose="02020603050405020304" pitchFamily="18" charset="0"/>
                <a:ea typeface="黑体" panose="02010609060101010101" pitchFamily="49" charset="-122"/>
                <a:cs typeface="+mn-ea"/>
                <a:sym typeface="+mn-ea"/>
              </a:rPr>
              <a:t>C</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的生成矩阵为</a:t>
            </a:r>
          </a:p>
        </p:txBody>
      </p:sp>
      <p:sp>
        <p:nvSpPr>
          <p:cNvPr id="3" name="文本框 2"/>
          <p:cNvSpPr txBox="1"/>
          <p:nvPr/>
        </p:nvSpPr>
        <p:spPr>
          <a:xfrm>
            <a:off x="2576195" y="3303270"/>
            <a:ext cx="4605020"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err="1">
                <a:solidFill>
                  <a:srgbClr val="000000"/>
                </a:solidFill>
                <a:latin typeface="Times New Roman" panose="02020603050405020304" pitchFamily="18" charset="0"/>
                <a:ea typeface="黑体" panose="02010609060101010101" pitchFamily="49" charset="-122"/>
                <a:cs typeface="+mn-ea"/>
                <a:sym typeface="+mn-ea"/>
              </a:rPr>
              <a:t>笛卡尔积</a:t>
            </a:r>
            <a:r>
              <a:rPr lang="zh-CN" altLang="en-US" sz="2400" err="1">
                <a:solidFill>
                  <a:srgbClr val="000000"/>
                </a:solidFill>
                <a:latin typeface="Times New Roman" panose="02020603050405020304" pitchFamily="18" charset="0"/>
                <a:ea typeface="黑体" panose="02010609060101010101" pitchFamily="49" charset="-122"/>
                <a:sym typeface="+mn-ea"/>
              </a:rPr>
              <a:t>码</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zh-CN" altLang="en-US" sz="2400" err="1">
                <a:solidFill>
                  <a:srgbClr val="000000"/>
                </a:solidFill>
                <a:latin typeface="Times New Roman" panose="02020603050405020304" pitchFamily="18" charset="0"/>
                <a:ea typeface="黑体" panose="02010609060101010101" pitchFamily="49" charset="-122"/>
                <a:sym typeface="+mn-ea"/>
              </a:rPr>
              <a:t>的生成矩阵</a:t>
            </a:r>
          </a:p>
        </p:txBody>
      </p:sp>
      <p:graphicFrame>
        <p:nvGraphicFramePr>
          <p:cNvPr id="4" name="对象 3">
            <a:hlinkClick r:id="" action="ppaction://ole?verb=0"/>
          </p:cNvPr>
          <p:cNvGraphicFramePr>
            <a:graphicFrameLocks noChangeAspect="1"/>
          </p:cNvGraphicFramePr>
          <p:nvPr/>
        </p:nvGraphicFramePr>
        <p:xfrm>
          <a:off x="5194936" y="1992948"/>
          <a:ext cx="1412240" cy="947420"/>
        </p:xfrm>
        <a:graphic>
          <a:graphicData uri="http://schemas.openxmlformats.org/presentationml/2006/ole">
            <mc:AlternateContent xmlns:mc="http://schemas.openxmlformats.org/markup-compatibility/2006">
              <mc:Choice xmlns:v="urn:schemas-microsoft-com:vml" Requires="v">
                <p:oleObj r:id="rId3" imgW="800100" imgH="482600" progId="Equation.KSEE3">
                  <p:embed/>
                </p:oleObj>
              </mc:Choice>
              <mc:Fallback>
                <p:oleObj r:id="rId3" imgW="800100" imgH="482600" progId="Equation.KSEE3">
                  <p:embed/>
                  <p:pic>
                    <p:nvPicPr>
                      <p:cNvPr id="4" name="对象 3">
                        <a:hlinkClick r:id="" action="ppaction://ole?verb=0"/>
                      </p:cNvPr>
                      <p:cNvPicPr/>
                      <p:nvPr/>
                    </p:nvPicPr>
                    <p:blipFill>
                      <a:blip r:embed="rId4"/>
                      <a:stretch>
                        <a:fillRect/>
                      </a:stretch>
                    </p:blipFill>
                    <p:spPr>
                      <a:xfrm>
                        <a:off x="5194936" y="1992948"/>
                        <a:ext cx="1412240" cy="947420"/>
                      </a:xfrm>
                      <a:prstGeom prst="rect">
                        <a:avLst/>
                      </a:prstGeom>
                    </p:spPr>
                  </p:pic>
                </p:oleObj>
              </mc:Fallback>
            </mc:AlternateContent>
          </a:graphicData>
        </a:graphic>
      </p:graphicFrame>
      <p:sp>
        <p:nvSpPr>
          <p:cNvPr id="6" name="文本框 5"/>
          <p:cNvSpPr txBox="1"/>
          <p:nvPr/>
        </p:nvSpPr>
        <p:spPr>
          <a:xfrm>
            <a:off x="1644650" y="4419600"/>
            <a:ext cx="8347710" cy="1130246"/>
          </a:xfrm>
          <a:prstGeom prst="rect">
            <a:avLst/>
          </a:prstGeom>
          <a:noFill/>
        </p:spPr>
        <p:txBody>
          <a:bodyPr wrap="square" rtlCol="0" anchor="t">
            <a:spAutoFit/>
          </a:bodyPr>
          <a:lstStyle/>
          <a:p>
            <a:pPr indent="609600" eaLnBrk="0" fontAlgn="base" hangingPunct="0">
              <a:lnSpc>
                <a:spcPct val="15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err="1">
                <a:solidFill>
                  <a:srgbClr val="000000"/>
                </a:solidFill>
                <a:latin typeface="Times New Roman" panose="02020603050405020304" pitchFamily="18" charset="0"/>
                <a:ea typeface="黑体" panose="02010609060101010101" pitchFamily="49" charset="-122"/>
                <a:sym typeface="+mn-ea"/>
              </a:rPr>
              <a:t>由该生成矩阵可生成</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min{</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849120" y="3587750"/>
            <a:ext cx="8450580" cy="153670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直积码</a:t>
            </a:r>
          </a:p>
        </p:txBody>
      </p:sp>
      <p:sp>
        <p:nvSpPr>
          <p:cNvPr id="22" name="内容占位符 2"/>
          <p:cNvSpPr txBox="1"/>
          <p:nvPr/>
        </p:nvSpPr>
        <p:spPr>
          <a:xfrm>
            <a:off x="1849120" y="848360"/>
            <a:ext cx="8445500" cy="257175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23" name="文本框 22"/>
          <p:cNvSpPr txBox="1"/>
          <p:nvPr/>
        </p:nvSpPr>
        <p:spPr>
          <a:xfrm>
            <a:off x="1934846" y="3587750"/>
            <a:ext cx="8267065" cy="1000980"/>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err="1">
                <a:solidFill>
                  <a:srgbClr val="FF0000"/>
                </a:solidFill>
                <a:latin typeface="Times New Roman" panose="02020603050405020304" pitchFamily="18" charset="0"/>
                <a:ea typeface="黑体" panose="02010609060101010101" pitchFamily="49" charset="-122"/>
                <a:sym typeface="+mn-ea"/>
              </a:rPr>
              <a:t>直积码：</a:t>
            </a:r>
            <a:r>
              <a:rPr lang="zh-CN" altLang="en-US" sz="2400" err="1">
                <a:solidFill>
                  <a:srgbClr val="000000"/>
                </a:solidFill>
                <a:latin typeface="Times New Roman" panose="02020603050405020304" pitchFamily="18" charset="0"/>
                <a:ea typeface="黑体" panose="02010609060101010101" pitchFamily="49" charset="-122"/>
                <a:sym typeface="+mn-ea"/>
              </a:rPr>
              <a:t>设</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sym typeface="+mn-ea"/>
              </a:rPr>
              <a:t>分别是二元</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和</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码</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则定义</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C</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的直积码</a:t>
            </a:r>
            <a:r>
              <a:rPr lang="zh-CN" altLang="en-US" sz="2400" i="1" err="1">
                <a:solidFill>
                  <a:srgbClr val="000000"/>
                </a:solidFill>
                <a:latin typeface="Times New Roman" panose="02020603050405020304" pitchFamily="18" charset="0"/>
                <a:ea typeface="黑体" panose="02010609060101010101" pitchFamily="49" charset="-122"/>
                <a:cs typeface="+mn-ea"/>
                <a:sym typeface="+mn-ea"/>
              </a:rPr>
              <a:t>C</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是</a:t>
            </a:r>
            <a:endParaRPr lang="zh-CN" altLang="en-US" sz="2400" err="1">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0"/>
          </p:cNvPr>
          <p:cNvGraphicFramePr>
            <a:graphicFrameLocks noChangeAspect="1"/>
          </p:cNvGraphicFramePr>
          <p:nvPr/>
        </p:nvGraphicFramePr>
        <p:xfrm>
          <a:off x="3982404" y="4625976"/>
          <a:ext cx="4101465" cy="498475"/>
        </p:xfrm>
        <a:graphic>
          <a:graphicData uri="http://schemas.openxmlformats.org/presentationml/2006/ole">
            <mc:AlternateContent xmlns:mc="http://schemas.openxmlformats.org/markup-compatibility/2006">
              <mc:Choice xmlns:v="urn:schemas-microsoft-com:vml" Requires="v">
                <p:oleObj r:id="rId3" imgW="2324100" imgH="254000" progId="Equation.KSEE3">
                  <p:embed/>
                </p:oleObj>
              </mc:Choice>
              <mc:Fallback>
                <p:oleObj r:id="rId3" imgW="2324100" imgH="254000" progId="Equation.KSEE3">
                  <p:embed/>
                  <p:pic>
                    <p:nvPicPr>
                      <p:cNvPr id="7" name="对象 6">
                        <a:hlinkClick r:id="" action="ppaction://ole?verb=0"/>
                      </p:cNvPr>
                      <p:cNvPicPr/>
                      <p:nvPr/>
                    </p:nvPicPr>
                    <p:blipFill>
                      <a:blip r:embed="rId4"/>
                      <a:stretch>
                        <a:fillRect/>
                      </a:stretch>
                    </p:blipFill>
                    <p:spPr>
                      <a:xfrm>
                        <a:off x="3982404" y="4625976"/>
                        <a:ext cx="4101465" cy="498475"/>
                      </a:xfrm>
                      <a:prstGeom prst="rect">
                        <a:avLst/>
                      </a:prstGeom>
                    </p:spPr>
                  </p:pic>
                </p:oleObj>
              </mc:Fallback>
            </mc:AlternateContent>
          </a:graphicData>
        </a:graphic>
      </p:graphicFrame>
      <p:sp>
        <p:nvSpPr>
          <p:cNvPr id="3" name="文本框 2"/>
          <p:cNvSpPr txBox="1"/>
          <p:nvPr/>
        </p:nvSpPr>
        <p:spPr>
          <a:xfrm>
            <a:off x="2878456" y="2849880"/>
            <a:ext cx="6022975"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err="1">
                <a:solidFill>
                  <a:srgbClr val="000000"/>
                </a:solidFill>
                <a:latin typeface="Times New Roman" panose="02020603050405020304" pitchFamily="18" charset="0"/>
                <a:ea typeface="黑体" panose="02010609060101010101" pitchFamily="49" charset="-122"/>
                <a:cs typeface="+mn-ea"/>
                <a:sym typeface="+mn-ea"/>
              </a:rPr>
              <a:t>称为两个矩阵</a:t>
            </a:r>
            <a:r>
              <a:rPr lang="en-US" altLang="zh-CN" sz="2400" i="1" err="1">
                <a:solidFill>
                  <a:srgbClr val="000000"/>
                </a:solidFill>
                <a:latin typeface="Times New Roman" panose="02020603050405020304" pitchFamily="18" charset="0"/>
                <a:ea typeface="黑体" panose="02010609060101010101" pitchFamily="49" charset="-122"/>
                <a:cs typeface="+mn-ea"/>
                <a:sym typeface="+mn-ea"/>
              </a:rPr>
              <a:t>A</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和</a:t>
            </a:r>
            <a:r>
              <a:rPr lang="en-US" altLang="zh-CN" sz="2400" i="1" err="1">
                <a:solidFill>
                  <a:srgbClr val="000000"/>
                </a:solidFill>
                <a:latin typeface="Times New Roman" panose="02020603050405020304" pitchFamily="18" charset="0"/>
                <a:ea typeface="黑体" panose="02010609060101010101" pitchFamily="49" charset="-122"/>
                <a:cs typeface="+mn-ea"/>
                <a:sym typeface="+mn-ea"/>
              </a:rPr>
              <a:t>B</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的直积或</a:t>
            </a:r>
            <a:r>
              <a:rPr lang="en-US" altLang="zh-CN" sz="2400" err="1">
                <a:solidFill>
                  <a:srgbClr val="000000"/>
                </a:solidFill>
                <a:latin typeface="Times New Roman" panose="02020603050405020304" pitchFamily="18" charset="0"/>
                <a:ea typeface="黑体" panose="02010609060101010101" pitchFamily="49" charset="-122"/>
                <a:cs typeface="+mn-ea"/>
                <a:sym typeface="+mn-ea"/>
              </a:rPr>
              <a:t>Kronecker</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积。</a:t>
            </a:r>
          </a:p>
        </p:txBody>
      </p:sp>
      <p:graphicFrame>
        <p:nvGraphicFramePr>
          <p:cNvPr id="4" name="对象 3">
            <a:hlinkClick r:id="" action="ppaction://ole?verb=0"/>
          </p:cNvPr>
          <p:cNvGraphicFramePr>
            <a:graphicFrameLocks noChangeAspect="1"/>
          </p:cNvGraphicFramePr>
          <p:nvPr/>
        </p:nvGraphicFramePr>
        <p:xfrm>
          <a:off x="5257801" y="5862003"/>
          <a:ext cx="1366520" cy="424180"/>
        </p:xfrm>
        <a:graphic>
          <a:graphicData uri="http://schemas.openxmlformats.org/presentationml/2006/ole">
            <mc:AlternateContent xmlns:mc="http://schemas.openxmlformats.org/markup-compatibility/2006">
              <mc:Choice xmlns:v="urn:schemas-microsoft-com:vml" Requires="v">
                <p:oleObj r:id="rId5" imgW="774065" imgH="215900" progId="Equation.KSEE3">
                  <p:embed/>
                </p:oleObj>
              </mc:Choice>
              <mc:Fallback>
                <p:oleObj r:id="rId5" imgW="774065" imgH="215900" progId="Equation.KSEE3">
                  <p:embed/>
                  <p:pic>
                    <p:nvPicPr>
                      <p:cNvPr id="4" name="对象 3">
                        <a:hlinkClick r:id="" action="ppaction://ole?verb=0"/>
                      </p:cNvPr>
                      <p:cNvPicPr/>
                      <p:nvPr/>
                    </p:nvPicPr>
                    <p:blipFill>
                      <a:blip r:embed="rId6"/>
                      <a:stretch>
                        <a:fillRect/>
                      </a:stretch>
                    </p:blipFill>
                    <p:spPr>
                      <a:xfrm>
                        <a:off x="5257801" y="5862003"/>
                        <a:ext cx="1366520" cy="424180"/>
                      </a:xfrm>
                      <a:prstGeom prst="rect">
                        <a:avLst/>
                      </a:prstGeom>
                    </p:spPr>
                  </p:pic>
                </p:oleObj>
              </mc:Fallback>
            </mc:AlternateContent>
          </a:graphicData>
        </a:graphic>
      </p:graphicFrame>
      <p:sp>
        <p:nvSpPr>
          <p:cNvPr id="6" name="文本框 5"/>
          <p:cNvSpPr txBox="1"/>
          <p:nvPr/>
        </p:nvSpPr>
        <p:spPr>
          <a:xfrm>
            <a:off x="2526665" y="5175250"/>
            <a:ext cx="7315200" cy="576248"/>
          </a:xfrm>
          <a:prstGeom prst="rect">
            <a:avLst/>
          </a:prstGeom>
          <a:noFill/>
        </p:spPr>
        <p:txBody>
          <a:bodyPr wrap="square" rtlCol="0" anchor="t">
            <a:spAutoFit/>
          </a:bodyPr>
          <a:lstStyle/>
          <a:p>
            <a:pPr eaLnBrk="0" fontAlgn="base" hangingPunct="0">
              <a:lnSpc>
                <a:spcPct val="150000"/>
              </a:lnSpc>
              <a:spcBef>
                <a:spcPct val="0"/>
              </a:spcBef>
              <a:spcAft>
                <a:spcPct val="0"/>
              </a:spcAft>
            </a:pPr>
            <a:r>
              <a:rPr lang="zh-CN" altLang="en-US" sz="2400" err="1">
                <a:solidFill>
                  <a:srgbClr val="000000"/>
                </a:solidFill>
                <a:latin typeface="Times New Roman" panose="02020603050405020304" pitchFamily="18" charset="0"/>
                <a:ea typeface="黑体" panose="02010609060101010101" pitchFamily="49" charset="-122"/>
                <a:cs typeface="+mn-ea"/>
                <a:sym typeface="+mn-ea"/>
              </a:rPr>
              <a:t>直积码</a:t>
            </a:r>
            <a:r>
              <a:rPr lang="zh-CN" altLang="en-US" sz="2400" i="1" err="1">
                <a:solidFill>
                  <a:srgbClr val="000000"/>
                </a:solidFill>
                <a:latin typeface="Times New Roman" panose="02020603050405020304" pitchFamily="18" charset="0"/>
                <a:ea typeface="黑体" panose="02010609060101010101" pitchFamily="49" charset="-122"/>
                <a:cs typeface="+mn-ea"/>
                <a:sym typeface="+mn-ea"/>
              </a:rPr>
              <a:t>C</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是</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i="1" err="1">
                <a:solidFill>
                  <a:srgbClr val="000000"/>
                </a:solidFill>
                <a:latin typeface="Times New Roman" panose="02020603050405020304" pitchFamily="18" charset="0"/>
                <a:ea typeface="黑体" panose="02010609060101010101" pitchFamily="49" charset="-122"/>
                <a:sym typeface="+mn-ea"/>
              </a:rPr>
              <a:t>d</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线性分组码</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生成矩阵为</a:t>
            </a:r>
          </a:p>
        </p:txBody>
      </p:sp>
      <p:sp>
        <p:nvSpPr>
          <p:cNvPr id="11" name="文本框 10"/>
          <p:cNvSpPr txBox="1"/>
          <p:nvPr/>
        </p:nvSpPr>
        <p:spPr>
          <a:xfrm>
            <a:off x="1986281" y="843281"/>
            <a:ext cx="8267065" cy="1001813"/>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zh-CN" altLang="en-US" sz="2400" err="1">
                <a:solidFill>
                  <a:srgbClr val="FF0000"/>
                </a:solidFill>
                <a:latin typeface="Times New Roman" panose="02020603050405020304" pitchFamily="18" charset="0"/>
                <a:ea typeface="黑体" panose="02010609060101010101" pitchFamily="49" charset="-122"/>
                <a:sym typeface="+mn-ea"/>
              </a:rPr>
              <a:t>直积：</a:t>
            </a:r>
            <a:r>
              <a:rPr lang="zh-CN" altLang="en-US" sz="2400" err="1">
                <a:solidFill>
                  <a:srgbClr val="000000"/>
                </a:solidFill>
                <a:latin typeface="Times New Roman" panose="02020603050405020304" pitchFamily="18" charset="0"/>
                <a:ea typeface="黑体" panose="02010609060101010101" pitchFamily="49" charset="-122"/>
                <a:sym typeface="+mn-ea"/>
              </a:rPr>
              <a:t>设</a:t>
            </a:r>
            <a:r>
              <a:rPr lang="en-US" sz="2400" i="1" err="1">
                <a:solidFill>
                  <a:srgbClr val="000000"/>
                </a:solidFill>
                <a:latin typeface="Times New Roman" panose="02020603050405020304" pitchFamily="18" charset="0"/>
                <a:ea typeface="黑体" panose="02010609060101010101" pitchFamily="49" charset="-122"/>
                <a:sym typeface="+mn-ea"/>
              </a:rPr>
              <a:t>A=</a:t>
            </a:r>
            <a:r>
              <a:rPr lang="en-US" sz="2400" err="1">
                <a:solidFill>
                  <a:srgbClr val="000000"/>
                </a:solidFill>
                <a:latin typeface="Times New Roman" panose="02020603050405020304" pitchFamily="18" charset="0"/>
                <a:ea typeface="黑体" panose="02010609060101010101" pitchFamily="49" charset="-122"/>
                <a:sym typeface="+mn-ea"/>
              </a:rPr>
              <a:t>(</a:t>
            </a:r>
            <a:r>
              <a:rPr lang="en-US" sz="2400" i="1" err="1">
                <a:solidFill>
                  <a:srgbClr val="000000"/>
                </a:solidFill>
                <a:latin typeface="Times New Roman" panose="02020603050405020304" pitchFamily="18" charset="0"/>
                <a:ea typeface="黑体" panose="02010609060101010101" pitchFamily="49" charset="-122"/>
                <a:sym typeface="+mn-ea"/>
              </a:rPr>
              <a:t>a</a:t>
            </a:r>
            <a:r>
              <a:rPr lang="en-US" sz="2400" i="1" baseline="-25000" err="1">
                <a:solidFill>
                  <a:srgbClr val="000000"/>
                </a:solidFill>
                <a:latin typeface="Times New Roman" panose="02020603050405020304" pitchFamily="18" charset="0"/>
                <a:ea typeface="黑体" panose="02010609060101010101" pitchFamily="49" charset="-122"/>
                <a:sym typeface="+mn-ea"/>
              </a:rPr>
              <a:t>ij</a:t>
            </a:r>
            <a:r>
              <a:rPr lang="en-US"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为</a:t>
            </a:r>
            <a:r>
              <a:rPr lang="en-US" altLang="zh-CN" sz="2400" i="1" err="1">
                <a:solidFill>
                  <a:srgbClr val="000000"/>
                </a:solidFill>
                <a:latin typeface="Times New Roman" panose="02020603050405020304" pitchFamily="18" charset="0"/>
                <a:ea typeface="黑体" panose="02010609060101010101" pitchFamily="49" charset="-122"/>
                <a:sym typeface="+mn-ea"/>
              </a:rPr>
              <a:t>m</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err="1">
                <a:solidFill>
                  <a:srgbClr val="000000"/>
                </a:solidFill>
                <a:latin typeface="微软雅黑" panose="020B0503020204020204" charset="-122"/>
                <a:ea typeface="微软雅黑" panose="020B0503020204020204"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q</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维矩阵、</a:t>
            </a:r>
            <a:r>
              <a:rPr lang="en-US" sz="2400" i="1" err="1">
                <a:solidFill>
                  <a:srgbClr val="000000"/>
                </a:solidFill>
                <a:latin typeface="Times New Roman" panose="02020603050405020304" pitchFamily="18" charset="0"/>
                <a:ea typeface="黑体" panose="02010609060101010101" pitchFamily="49" charset="-122"/>
                <a:sym typeface="+mn-ea"/>
              </a:rPr>
              <a:t>B=</a:t>
            </a:r>
            <a:r>
              <a:rPr lang="en-US" sz="2400" err="1">
                <a:solidFill>
                  <a:srgbClr val="000000"/>
                </a:solidFill>
                <a:latin typeface="Times New Roman" panose="02020603050405020304" pitchFamily="18" charset="0"/>
                <a:ea typeface="黑体" panose="02010609060101010101" pitchFamily="49" charset="-122"/>
                <a:sym typeface="+mn-ea"/>
              </a:rPr>
              <a:t>(</a:t>
            </a:r>
            <a:r>
              <a:rPr lang="en-US" sz="2400" i="1" err="1">
                <a:solidFill>
                  <a:srgbClr val="000000"/>
                </a:solidFill>
                <a:latin typeface="Times New Roman" panose="02020603050405020304" pitchFamily="18" charset="0"/>
                <a:ea typeface="黑体" panose="02010609060101010101" pitchFamily="49" charset="-122"/>
                <a:sym typeface="+mn-ea"/>
              </a:rPr>
              <a:t>b</a:t>
            </a:r>
            <a:r>
              <a:rPr lang="en-US" sz="2400" i="1" baseline="-25000" err="1">
                <a:solidFill>
                  <a:srgbClr val="000000"/>
                </a:solidFill>
                <a:latin typeface="Times New Roman" panose="02020603050405020304" pitchFamily="18" charset="0"/>
                <a:ea typeface="黑体" panose="02010609060101010101" pitchFamily="49" charset="-122"/>
                <a:sym typeface="+mn-ea"/>
              </a:rPr>
              <a:t>ij</a:t>
            </a:r>
            <a:r>
              <a:rPr lang="en-US" sz="2400" err="1">
                <a:solidFill>
                  <a:srgbClr val="000000"/>
                </a:solidFill>
                <a:latin typeface="Times New Roman" panose="02020603050405020304" pitchFamily="18" charset="0"/>
                <a:ea typeface="黑体" panose="02010609060101010101" pitchFamily="49" charset="-122"/>
                <a:sym typeface="+mn-ea"/>
              </a:rPr>
              <a:t>)</a:t>
            </a:r>
            <a:r>
              <a:rPr lang="zh-CN" altLang="en-US" sz="2400" err="1">
                <a:solidFill>
                  <a:srgbClr val="000000"/>
                </a:solidFill>
                <a:latin typeface="Times New Roman" panose="02020603050405020304" pitchFamily="18" charset="0"/>
                <a:ea typeface="黑体" panose="02010609060101010101" pitchFamily="49" charset="-122"/>
                <a:sym typeface="+mn-ea"/>
              </a:rPr>
              <a:t>为</a:t>
            </a:r>
            <a:r>
              <a:rPr lang="en-US" altLang="zh-CN" sz="2400" i="1" err="1">
                <a:solidFill>
                  <a:srgbClr val="000000"/>
                </a:solidFill>
                <a:latin typeface="Times New Roman" panose="02020603050405020304" pitchFamily="18" charset="0"/>
                <a:ea typeface="黑体" panose="02010609060101010101" pitchFamily="49" charset="-122"/>
                <a:sym typeface="+mn-ea"/>
              </a:rPr>
              <a:t>m</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微软雅黑" panose="020B0503020204020204" charset="-122"/>
                <a:ea typeface="微软雅黑" panose="020B0503020204020204"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q</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sym typeface="+mn-ea"/>
              </a:rPr>
              <a:t>维矩阵</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则矩</a:t>
            </a:r>
            <a:r>
              <a:rPr lang="en-US" altLang="zh-CN" sz="2400" err="1">
                <a:solidFill>
                  <a:srgbClr val="000000"/>
                </a:solidFill>
                <a:latin typeface="Times New Roman" panose="02020603050405020304" pitchFamily="18" charset="0"/>
                <a:ea typeface="黑体" panose="02010609060101010101" pitchFamily="49" charset="-122"/>
                <a:cs typeface="+mn-ea"/>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m</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i="1" err="1">
                <a:solidFill>
                  <a:srgbClr val="000000"/>
                </a:solidFill>
                <a:latin typeface="Times New Roman" panose="02020603050405020304" pitchFamily="18" charset="0"/>
                <a:ea typeface="黑体" panose="02010609060101010101" pitchFamily="49" charset="-122"/>
                <a:sym typeface="+mn-ea"/>
              </a:rPr>
              <a:t>m</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en-US" altLang="zh-CN" sz="2400" err="1">
                <a:solidFill>
                  <a:srgbClr val="000000"/>
                </a:solidFill>
                <a:latin typeface="微软雅黑" panose="020B0503020204020204" charset="-122"/>
                <a:ea typeface="微软雅黑" panose="020B0503020204020204"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q</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i="1" err="1">
                <a:solidFill>
                  <a:srgbClr val="000000"/>
                </a:solidFill>
                <a:latin typeface="Times New Roman" panose="02020603050405020304" pitchFamily="18" charset="0"/>
                <a:ea typeface="黑体" panose="02010609060101010101" pitchFamily="49" charset="-122"/>
                <a:sym typeface="+mn-ea"/>
              </a:rPr>
              <a:t>q</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sym typeface="+mn-ea"/>
              </a:rPr>
              <a:t>维矩阵</a:t>
            </a:r>
          </a:p>
        </p:txBody>
      </p:sp>
      <p:graphicFrame>
        <p:nvGraphicFramePr>
          <p:cNvPr id="12" name="对象 11">
            <a:hlinkClick r:id="" action="ppaction://ole?verb=0"/>
          </p:cNvPr>
          <p:cNvGraphicFramePr>
            <a:graphicFrameLocks noChangeAspect="1"/>
          </p:cNvGraphicFramePr>
          <p:nvPr/>
        </p:nvGraphicFramePr>
        <p:xfrm>
          <a:off x="5715001" y="1479233"/>
          <a:ext cx="2265680" cy="1447800"/>
        </p:xfrm>
        <a:graphic>
          <a:graphicData uri="http://schemas.openxmlformats.org/presentationml/2006/ole">
            <mc:AlternateContent xmlns:mc="http://schemas.openxmlformats.org/markup-compatibility/2006">
              <mc:Choice xmlns:v="urn:schemas-microsoft-com:vml" Requires="v">
                <p:oleObj r:id="rId7" imgW="1282700" imgH="736600" progId="Equation.KSEE3">
                  <p:embed/>
                </p:oleObj>
              </mc:Choice>
              <mc:Fallback>
                <p:oleObj r:id="rId7" imgW="1282700" imgH="736600" progId="Equation.KSEE3">
                  <p:embed/>
                  <p:pic>
                    <p:nvPicPr>
                      <p:cNvPr id="12" name="对象 11">
                        <a:hlinkClick r:id="" action="ppaction://ole?verb=0"/>
                      </p:cNvPr>
                      <p:cNvPicPr/>
                      <p:nvPr/>
                    </p:nvPicPr>
                    <p:blipFill>
                      <a:blip r:embed="rId8"/>
                      <a:stretch>
                        <a:fillRect/>
                      </a:stretch>
                    </p:blipFill>
                    <p:spPr>
                      <a:xfrm>
                        <a:off x="5715001" y="1479233"/>
                        <a:ext cx="2265680" cy="1447800"/>
                      </a:xfrm>
                      <a:prstGeom prst="rect">
                        <a:avLst/>
                      </a:prstGeom>
                    </p:spPr>
                  </p:pic>
                </p:oleObj>
              </mc:Fallback>
            </mc:AlternateContent>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1924685" y="3560446"/>
            <a:ext cx="8445500" cy="259778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交织码</a:t>
            </a:r>
          </a:p>
        </p:txBody>
      </p:sp>
      <p:sp>
        <p:nvSpPr>
          <p:cNvPr id="24" name="文本框 23"/>
          <p:cNvSpPr txBox="1"/>
          <p:nvPr/>
        </p:nvSpPr>
        <p:spPr>
          <a:xfrm>
            <a:off x="1992630" y="1163320"/>
            <a:ext cx="8143240" cy="1770380"/>
          </a:xfrm>
          <a:prstGeom prst="rect">
            <a:avLst/>
          </a:prstGeom>
          <a:noFill/>
        </p:spPr>
        <p:txBody>
          <a:bodyPr wrap="square" rtlCol="0" anchor="t">
            <a:spAutoFit/>
          </a:bodyPr>
          <a:lstStyle/>
          <a:p>
            <a:pPr indent="711200" eaLnBrk="0" fontAlgn="base" hangingPunct="0">
              <a:lnSpc>
                <a:spcPct val="130000"/>
              </a:lnSpc>
              <a:spcBef>
                <a:spcPct val="0"/>
              </a:spcBef>
              <a:spcAft>
                <a:spcPct val="0"/>
              </a:spcAft>
              <a:extLst>
                <a:ext uri="{35155182-B16C-46BC-9424-99874614C6A1}">
                  <wpsdc:indentchars xmlns="" xmlns:wpsdc="http://www.wps.cn/officeDocument/2017/drawingmlCustomData" val="200" checksum="3773799597"/>
                </a:ext>
              </a:extLst>
            </a:pPr>
            <a:r>
              <a:rPr lang="zh-CN" altLang="en-US" sz="2800" err="1">
                <a:solidFill>
                  <a:srgbClr val="000000"/>
                </a:solidFill>
                <a:latin typeface="Times New Roman" panose="02020603050405020304" pitchFamily="18" charset="0"/>
                <a:ea typeface="黑体" panose="02010609060101010101" pitchFamily="49" charset="-122"/>
                <a:sym typeface="+mn-ea"/>
              </a:rPr>
              <a:t>大多数线性分组码都是用来纠正随机错误。但是在有些信道中，如衰落信道，衰落严重时，就会发生一连串的连续错误，这种错误具有突发性。</a:t>
            </a:r>
          </a:p>
        </p:txBody>
      </p:sp>
      <p:sp>
        <p:nvSpPr>
          <p:cNvPr id="3" name="文本框 2"/>
          <p:cNvSpPr txBox="1"/>
          <p:nvPr/>
        </p:nvSpPr>
        <p:spPr>
          <a:xfrm>
            <a:off x="1993266" y="3708400"/>
            <a:ext cx="8425815" cy="2330450"/>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800" err="1">
                <a:solidFill>
                  <a:srgbClr val="FF0000"/>
                </a:solidFill>
                <a:latin typeface="Times New Roman" panose="02020603050405020304" pitchFamily="18" charset="0"/>
                <a:ea typeface="黑体" panose="02010609060101010101" pitchFamily="49" charset="-122"/>
                <a:sym typeface="+mn-ea"/>
              </a:rPr>
              <a:t>交织码的思想：</a:t>
            </a:r>
            <a:r>
              <a:rPr lang="zh-CN" altLang="en-US" sz="2800" err="1">
                <a:solidFill>
                  <a:srgbClr val="000000"/>
                </a:solidFill>
                <a:latin typeface="Times New Roman" panose="02020603050405020304" pitchFamily="18" charset="0"/>
                <a:ea typeface="黑体" panose="02010609060101010101" pitchFamily="49" charset="-122"/>
                <a:sym typeface="+mn-ea"/>
              </a:rPr>
              <a:t>通过数据交织使得突发错误在一定</a:t>
            </a:r>
            <a:r>
              <a:rPr lang="en-US" altLang="zh-CN" sz="2800" err="1">
                <a:solidFill>
                  <a:srgbClr val="000000"/>
                </a:solidFill>
                <a:latin typeface="Times New Roman" panose="02020603050405020304" pitchFamily="18" charset="0"/>
                <a:ea typeface="黑体" panose="02010609060101010101" pitchFamily="49" charset="-122"/>
                <a:sym typeface="+mn-ea"/>
              </a:rPr>
              <a:t>	</a:t>
            </a:r>
            <a:r>
              <a:rPr lang="zh-CN" altLang="en-US" sz="2800" err="1">
                <a:solidFill>
                  <a:srgbClr val="000000"/>
                </a:solidFill>
                <a:latin typeface="Times New Roman" panose="02020603050405020304" pitchFamily="18" charset="0"/>
                <a:ea typeface="黑体" panose="02010609060101010101" pitchFamily="49" charset="-122"/>
                <a:sym typeface="+mn-ea"/>
              </a:rPr>
              <a:t>程度上转变为随机错误</a:t>
            </a:r>
            <a:r>
              <a:rPr lang="en-US" altLang="zh-CN" sz="2800" err="1">
                <a:solidFill>
                  <a:srgbClr val="000000"/>
                </a:solidFill>
                <a:latin typeface="Times New Roman" panose="02020603050405020304" pitchFamily="18" charset="0"/>
                <a:ea typeface="黑体" panose="02010609060101010101" pitchFamily="49" charset="-122"/>
                <a:sym typeface="+mn-ea"/>
              </a:rPr>
              <a:t>, </a:t>
            </a:r>
            <a:r>
              <a:rPr lang="zh-CN" altLang="en-US" sz="2800" err="1">
                <a:solidFill>
                  <a:srgbClr val="000000"/>
                </a:solidFill>
                <a:latin typeface="Times New Roman" panose="02020603050405020304" pitchFamily="18" charset="0"/>
                <a:ea typeface="黑体" panose="02010609060101010101" pitchFamily="49" charset="-122"/>
                <a:sym typeface="+mn-ea"/>
              </a:rPr>
              <a:t>并且使原来的突发错误分布在多个码字之间</a:t>
            </a:r>
            <a:r>
              <a:rPr lang="en-US" altLang="zh-CN" sz="2800" err="1">
                <a:solidFill>
                  <a:srgbClr val="000000"/>
                </a:solidFill>
                <a:latin typeface="Times New Roman" panose="02020603050405020304" pitchFamily="18" charset="0"/>
                <a:ea typeface="黑体" panose="02010609060101010101" pitchFamily="49" charset="-122"/>
                <a:sym typeface="+mn-ea"/>
              </a:rPr>
              <a:t>, </a:t>
            </a:r>
            <a:r>
              <a:rPr lang="zh-CN" altLang="en-US" sz="2800" err="1">
                <a:solidFill>
                  <a:srgbClr val="000000"/>
                </a:solidFill>
                <a:latin typeface="Times New Roman" panose="02020603050405020304" pitchFamily="18" charset="0"/>
                <a:ea typeface="黑体" panose="02010609060101010101" pitchFamily="49" charset="-122"/>
                <a:sym typeface="+mn-ea"/>
              </a:rPr>
              <a:t>这样就可以用纠正随机错误的编码纠正突发错误。</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交织码</a:t>
            </a:r>
          </a:p>
        </p:txBody>
      </p:sp>
      <p:sp>
        <p:nvSpPr>
          <p:cNvPr id="7" name="文本框 6"/>
          <p:cNvSpPr txBox="1"/>
          <p:nvPr/>
        </p:nvSpPr>
        <p:spPr>
          <a:xfrm>
            <a:off x="1854201" y="909321"/>
            <a:ext cx="8474075" cy="5262245"/>
          </a:xfrm>
          <a:prstGeom prst="rect">
            <a:avLst/>
          </a:prstGeom>
          <a:noFill/>
        </p:spPr>
        <p:txBody>
          <a:bodyPr wrap="square" rtlCol="0" anchor="t">
            <a:spAutoFit/>
          </a:bodyPr>
          <a:lstStyle/>
          <a:p>
            <a:pPr algn="just" eaLnBrk="0" fontAlgn="base" hangingPunct="0">
              <a:lnSpc>
                <a:spcPct val="150000"/>
              </a:lnSpc>
              <a:spcBef>
                <a:spcPct val="0"/>
              </a:spcBef>
              <a:spcAft>
                <a:spcPct val="0"/>
              </a:spcAft>
            </a:pPr>
            <a:r>
              <a:rPr lang="en-US" altLang="zh-CN" sz="2800" dirty="0">
                <a:solidFill>
                  <a:srgbClr val="FF0000"/>
                </a:solidFill>
                <a:latin typeface="Times New Roman" panose="02020603050405020304" pitchFamily="18" charset="0"/>
                <a:ea typeface="黑体" panose="02010609060101010101" pitchFamily="49" charset="-122"/>
                <a:sym typeface="+mn-ea"/>
              </a:rPr>
              <a:t>交织码的编码和译码方法如下：</a:t>
            </a:r>
            <a:endParaRPr lang="zh-CN" altLang="en-US" sz="2800" dirty="0">
              <a:solidFill>
                <a:srgbClr val="000000"/>
              </a:solidFill>
              <a:latin typeface="Arial" panose="020B0604020202020204" pitchFamily="34" charset="0"/>
              <a:ea typeface="黑体" panose="02010609060101010101" pitchFamily="49" charset="-122"/>
              <a:sym typeface="+mn-ea"/>
            </a:endParaRPr>
          </a:p>
          <a:p>
            <a:pPr algn="just" eaLnBrk="0" fontAlgn="base" hangingPunct="0">
              <a:lnSpc>
                <a:spcPct val="150000"/>
              </a:lnSpc>
              <a:spcBef>
                <a:spcPct val="0"/>
              </a:spcBef>
              <a:spcAft>
                <a:spcPct val="0"/>
              </a:spcAft>
            </a:pPr>
            <a:r>
              <a:rPr lang="en-US" altLang="zh-CN" sz="2800">
                <a:solidFill>
                  <a:srgbClr val="000000"/>
                </a:solidFill>
                <a:latin typeface="Times New Roman" panose="02020603050405020304" pitchFamily="18" charset="0"/>
                <a:ea typeface="黑体" panose="02010609060101010101" pitchFamily="49" charset="-122"/>
                <a:sym typeface="+mn-ea"/>
              </a:rPr>
              <a:t>    1)</a:t>
            </a:r>
            <a:r>
              <a:rPr lang="en-US" altLang="zh-CN" sz="2800">
                <a:solidFill>
                  <a:srgbClr val="000000"/>
                </a:solidFill>
                <a:latin typeface="Arial" panose="020B0604020202020204" pitchFamily="34" charset="0"/>
                <a:ea typeface="黑体" panose="02010609060101010101" pitchFamily="49" charset="-122"/>
                <a:sym typeface="+mn-ea"/>
              </a:rPr>
              <a:t> </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将</a:t>
            </a:r>
            <a:r>
              <a:rPr lang="en-US" altLang="zh-CN" sz="28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个</a:t>
            </a:r>
            <a:r>
              <a:rPr lang="en-US"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8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k</a:t>
            </a:r>
            <a:r>
              <a:rPr lang="en-US"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8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d</a:t>
            </a:r>
            <a:r>
              <a:rPr lang="en-US"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分组码的码字，按每个码字为一行</a:t>
            </a:r>
            <a:r>
              <a:rPr lang="en-US"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排列成</a:t>
            </a:r>
            <a:r>
              <a:rPr lang="en-US" altLang="zh-CN" sz="28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行</a:t>
            </a:r>
            <a:r>
              <a:rPr lang="en-US" altLang="zh-CN" sz="28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列的码矩阵的形式</a:t>
            </a:r>
            <a:r>
              <a:rPr lang="en-US" altLang="zh-CN" sz="280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lnSpc>
                <a:spcPct val="150000"/>
              </a:lnSpc>
              <a:spcBef>
                <a:spcPct val="0"/>
              </a:spcBef>
              <a:spcAft>
                <a:spcPct val="0"/>
              </a:spcAft>
            </a:pPr>
            <a:r>
              <a:rPr lang="en-US" altLang="zh-CN" sz="2800">
                <a:solidFill>
                  <a:srgbClr val="000000"/>
                </a:solidFill>
                <a:latin typeface="Times New Roman" panose="02020603050405020304" pitchFamily="18" charset="0"/>
                <a:ea typeface="黑体" panose="02010609060101010101" pitchFamily="49" charset="-122"/>
                <a:sym typeface="+mn-ea"/>
              </a:rPr>
              <a:t>    2)</a:t>
            </a:r>
            <a:r>
              <a:rPr lang="en-US" altLang="zh-CN" sz="2800">
                <a:solidFill>
                  <a:srgbClr val="000000"/>
                </a:solidFill>
                <a:latin typeface="Arial" panose="020B0604020202020204" pitchFamily="34" charset="0"/>
                <a:ea typeface="黑体" panose="02010609060101010101" pitchFamily="49" charset="-122"/>
                <a:sym typeface="+mn-ea"/>
              </a:rPr>
              <a:t> </a:t>
            </a:r>
            <a:r>
              <a:rPr lang="zh-CN" altLang="en-US" sz="2800">
                <a:solidFill>
                  <a:srgbClr val="000000"/>
                </a:solidFill>
                <a:latin typeface="Arial" panose="020B0604020202020204" pitchFamily="34" charset="0"/>
                <a:ea typeface="黑体" panose="02010609060101010101" pitchFamily="49" charset="-122"/>
                <a:sym typeface="+mn-ea"/>
              </a:rPr>
              <a:t>按列将</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码阵中的元素读出</a:t>
            </a:r>
            <a:r>
              <a:rPr lang="en-US"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并送入信道发送</a:t>
            </a:r>
            <a:r>
              <a:rPr lang="en-US" altLang="zh-CN" sz="2800" dirty="0">
                <a:solidFill>
                  <a:srgbClr val="000000"/>
                </a:solidFill>
                <a:latin typeface="Arial" panose="020B0604020202020204" pitchFamily="34" charset="0"/>
                <a:ea typeface="黑体" panose="02010609060101010101" pitchFamily="49" charset="-122"/>
                <a:sym typeface="+mn-ea"/>
              </a:rPr>
              <a:t>;</a:t>
            </a:r>
            <a:endParaRPr lang="zh-CN" altLang="en-US" sz="2800" dirty="0">
              <a:solidFill>
                <a:srgbClr val="000000"/>
              </a:solidFill>
              <a:latin typeface="Arial" panose="020B0604020202020204" pitchFamily="34" charset="0"/>
              <a:ea typeface="黑体" panose="02010609060101010101" pitchFamily="49" charset="-122"/>
              <a:sym typeface="+mn-ea"/>
            </a:endParaRPr>
          </a:p>
          <a:p>
            <a:pPr algn="just" eaLnBrk="0" fontAlgn="base" hangingPunct="0">
              <a:lnSpc>
                <a:spcPct val="150000"/>
              </a:lnSpc>
              <a:spcBef>
                <a:spcPct val="0"/>
              </a:spcBef>
              <a:spcAft>
                <a:spcPct val="0"/>
              </a:spcAft>
            </a:pPr>
            <a:r>
              <a:rPr lang="en-US" altLang="zh-CN" sz="2800" dirty="0">
                <a:solidFill>
                  <a:srgbClr val="000000"/>
                </a:solidFill>
                <a:latin typeface="Times New Roman" panose="02020603050405020304" pitchFamily="18" charset="0"/>
                <a:ea typeface="黑体" panose="02010609060101010101" pitchFamily="49" charset="-122"/>
                <a:sym typeface="+mn-ea"/>
              </a:rPr>
              <a:t>    3</a:t>
            </a:r>
            <a:r>
              <a:rPr lang="en-US" altLang="zh-CN" sz="2800">
                <a:solidFill>
                  <a:srgbClr val="000000"/>
                </a:solidFill>
                <a:latin typeface="Times New Roman" panose="02020603050405020304" pitchFamily="18" charset="0"/>
                <a:ea typeface="黑体" panose="02010609060101010101" pitchFamily="49" charset="-122"/>
                <a:sym typeface="+mn-ea"/>
              </a:rPr>
              <a:t>)</a:t>
            </a:r>
            <a:r>
              <a:rPr lang="en-US" altLang="zh-CN" sz="2800">
                <a:solidFill>
                  <a:srgbClr val="000000"/>
                </a:solidFill>
                <a:latin typeface="Arial" panose="020B0604020202020204" pitchFamily="34" charset="0"/>
                <a:ea typeface="黑体" panose="02010609060101010101" pitchFamily="49" charset="-122"/>
                <a:sym typeface="+mn-ea"/>
              </a:rPr>
              <a:t> </a:t>
            </a:r>
            <a:r>
              <a:rPr lang="zh-CN" altLang="en-US" sz="2800">
                <a:solidFill>
                  <a:srgbClr val="000000"/>
                </a:solidFill>
                <a:latin typeface="Arial" panose="020B0604020202020204" pitchFamily="34" charset="0"/>
                <a:ea typeface="黑体" panose="02010609060101010101" pitchFamily="49" charset="-122"/>
                <a:sym typeface="+mn-ea"/>
              </a:rPr>
              <a:t>接收端收到接收字后，按接收顺序以每</a:t>
            </a:r>
            <a:r>
              <a:rPr lang="en-US" altLang="zh-CN" sz="28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个</a:t>
            </a:r>
            <a:r>
              <a:rPr lang="zh-CN" altLang="en-US" sz="2800">
                <a:solidFill>
                  <a:srgbClr val="000000"/>
                </a:solidFill>
                <a:latin typeface="Arial" panose="020B0604020202020204" pitchFamily="34" charset="0"/>
                <a:ea typeface="黑体" panose="02010609060101010101" pitchFamily="49" charset="-122"/>
                <a:sym typeface="+mn-ea"/>
              </a:rPr>
              <a:t>元素为一列排列成</a:t>
            </a:r>
            <a:r>
              <a:rPr lang="en-US" altLang="zh-CN" sz="28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行</a:t>
            </a:r>
            <a:r>
              <a:rPr lang="en-US" altLang="zh-CN" sz="28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列的矩阵</a:t>
            </a:r>
            <a:r>
              <a:rPr lang="zh-CN" altLang="en-US" sz="2800">
                <a:solidFill>
                  <a:srgbClr val="000000"/>
                </a:solidFill>
                <a:latin typeface="Arial" panose="020B0604020202020204" pitchFamily="34" charset="0"/>
                <a:ea typeface="黑体" panose="02010609060101010101" pitchFamily="49" charset="-122"/>
                <a:sym typeface="+mn-ea"/>
              </a:rPr>
              <a:t>；</a:t>
            </a:r>
          </a:p>
          <a:p>
            <a:pPr algn="just" eaLnBrk="0" fontAlgn="base" hangingPunct="0">
              <a:lnSpc>
                <a:spcPct val="150000"/>
              </a:lnSpc>
              <a:spcBef>
                <a:spcPct val="0"/>
              </a:spcBef>
              <a:spcAft>
                <a:spcPct val="0"/>
              </a:spcAft>
            </a:pPr>
            <a:r>
              <a:rPr lang="en-US"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4</a:t>
            </a:r>
            <a:r>
              <a:rPr lang="en-US" altLang="zh-CN" sz="2800">
                <a:solidFill>
                  <a:srgbClr val="000000"/>
                </a:solidFill>
                <a:latin typeface="Times New Roman" panose="02020603050405020304" pitchFamily="18" charset="0"/>
                <a:ea typeface="黑体" panose="02010609060101010101" pitchFamily="49" charset="-122"/>
                <a:sym typeface="+mn-ea"/>
              </a:rPr>
              <a:t>)</a:t>
            </a:r>
            <a:r>
              <a:rPr lang="en-US" altLang="zh-CN" sz="2800">
                <a:solidFill>
                  <a:srgbClr val="000000"/>
                </a:solidFill>
                <a:latin typeface="Arial" panose="020B0604020202020204" pitchFamily="34" charset="0"/>
                <a:ea typeface="黑体" panose="02010609060101010101" pitchFamily="49" charset="-122"/>
                <a:sym typeface="+mn-ea"/>
              </a:rPr>
              <a:t> </a:t>
            </a:r>
            <a:r>
              <a:rPr lang="zh-CN" altLang="en-US" sz="2800">
                <a:solidFill>
                  <a:srgbClr val="000000"/>
                </a:solidFill>
                <a:latin typeface="Arial" panose="020B0604020202020204" pitchFamily="34" charset="0"/>
                <a:ea typeface="黑体" panose="02010609060101010101" pitchFamily="49" charset="-122"/>
                <a:sym typeface="+mn-ea"/>
              </a:rPr>
              <a:t>按接收码阵的每一行</a:t>
            </a:r>
            <a:r>
              <a:rPr lang="en-US" altLang="zh-CN" sz="2800">
                <a:solidFill>
                  <a:srgbClr val="000000"/>
                </a:solidFill>
                <a:latin typeface="Arial" panose="020B0604020202020204" pitchFamily="34" charset="0"/>
                <a:ea typeface="黑体" panose="02010609060101010101" pitchFamily="49" charset="-122"/>
                <a:sym typeface="+mn-ea"/>
              </a:rPr>
              <a:t>, </a:t>
            </a:r>
            <a:r>
              <a:rPr lang="zh-CN" altLang="en-US" sz="2800">
                <a:solidFill>
                  <a:srgbClr val="000000"/>
                </a:solidFill>
                <a:latin typeface="Arial" panose="020B0604020202020204" pitchFamily="34" charset="0"/>
                <a:ea typeface="黑体" panose="02010609060101010101" pitchFamily="49" charset="-122"/>
                <a:sym typeface="+mn-ea"/>
              </a:rPr>
              <a:t>用相应的</a:t>
            </a:r>
            <a:r>
              <a:rPr lang="en-US"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8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k</a:t>
            </a:r>
            <a:r>
              <a:rPr lang="en-US"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8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d</a:t>
            </a:r>
            <a:r>
              <a:rPr lang="en-US"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分组码的译码方法进行译码。</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33926" y="104775"/>
            <a:ext cx="5667375" cy="685800"/>
          </a:xfrm>
        </p:spPr>
        <p:txBody>
          <a:bodyPr/>
          <a:lstStyle/>
          <a:p>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Hadamard</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a:t>
            </a:r>
          </a:p>
        </p:txBody>
      </p:sp>
      <p:sp>
        <p:nvSpPr>
          <p:cNvPr id="22" name="内容占位符 2"/>
          <p:cNvSpPr txBox="1"/>
          <p:nvPr/>
        </p:nvSpPr>
        <p:spPr>
          <a:xfrm>
            <a:off x="1849120" y="848360"/>
            <a:ext cx="8445500" cy="152527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3" name="文本框 2"/>
          <p:cNvSpPr txBox="1"/>
          <p:nvPr/>
        </p:nvSpPr>
        <p:spPr>
          <a:xfrm>
            <a:off x="1896110" y="3378835"/>
            <a:ext cx="3102610"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en-US" altLang="zh-CN" sz="2400" i="1" err="1">
                <a:solidFill>
                  <a:srgbClr val="000000"/>
                </a:solidFill>
                <a:latin typeface="Times New Roman" panose="02020603050405020304" pitchFamily="18" charset="0"/>
                <a:ea typeface="黑体" panose="02010609060101010101" pitchFamily="49" charset="-122"/>
                <a:cs typeface="+mn-ea"/>
                <a:sym typeface="+mn-ea"/>
              </a:rPr>
              <a:t>n</a:t>
            </a:r>
            <a:r>
              <a:rPr lang="en-US" altLang="zh-CN" sz="2400" err="1">
                <a:solidFill>
                  <a:srgbClr val="000000"/>
                </a:solidFill>
                <a:latin typeface="Times New Roman" panose="02020603050405020304" pitchFamily="18" charset="0"/>
                <a:ea typeface="黑体" panose="02010609060101010101" pitchFamily="49" charset="-122"/>
                <a:cs typeface="+mn-ea"/>
                <a:sym typeface="+mn-ea"/>
              </a:rPr>
              <a:t>=2, </a:t>
            </a:r>
            <a:r>
              <a:rPr lang="en-US" sz="2400" err="1">
                <a:solidFill>
                  <a:srgbClr val="000000"/>
                </a:solidFill>
                <a:latin typeface="Times New Roman" panose="02020603050405020304" pitchFamily="18" charset="0"/>
                <a:ea typeface="黑体" panose="02010609060101010101" pitchFamily="49" charset="-122"/>
                <a:sym typeface="+mn-ea"/>
              </a:rPr>
              <a:t>Hadamard</a:t>
            </a:r>
            <a:r>
              <a:rPr lang="zh-CN" altLang="en-US" sz="2400" err="1">
                <a:solidFill>
                  <a:srgbClr val="000000"/>
                </a:solidFill>
                <a:latin typeface="Times New Roman" panose="02020603050405020304" pitchFamily="18" charset="0"/>
                <a:ea typeface="黑体" panose="02010609060101010101" pitchFamily="49" charset="-122"/>
                <a:sym typeface="+mn-ea"/>
              </a:rPr>
              <a:t>矩阵为</a:t>
            </a:r>
            <a:endParaRPr lang="zh-CN" altLang="en-US" sz="2400" err="1">
              <a:solidFill>
                <a:srgbClr val="000000"/>
              </a:solidFill>
              <a:latin typeface="Times New Roman" panose="02020603050405020304" pitchFamily="18" charset="0"/>
              <a:ea typeface="黑体" panose="02010609060101010101" pitchFamily="49" charset="-122"/>
              <a:cs typeface="+mn-ea"/>
              <a:sym typeface="+mn-ea"/>
            </a:endParaRPr>
          </a:p>
        </p:txBody>
      </p:sp>
      <p:sp>
        <p:nvSpPr>
          <p:cNvPr id="11" name="文本框 10"/>
          <p:cNvSpPr txBox="1"/>
          <p:nvPr/>
        </p:nvSpPr>
        <p:spPr>
          <a:xfrm>
            <a:off x="1986281" y="843281"/>
            <a:ext cx="8267065" cy="1529715"/>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en-US" sz="2400" err="1">
                <a:solidFill>
                  <a:srgbClr val="000000"/>
                </a:solidFill>
                <a:latin typeface="Times New Roman" panose="02020603050405020304" pitchFamily="18" charset="0"/>
                <a:ea typeface="黑体" panose="02010609060101010101" pitchFamily="49" charset="-122"/>
                <a:sym typeface="+mn-ea"/>
              </a:rPr>
              <a:t>Hadamard</a:t>
            </a:r>
            <a:r>
              <a:rPr lang="zh-CN" altLang="en-US" sz="2400" err="1">
                <a:solidFill>
                  <a:srgbClr val="000000"/>
                </a:solidFill>
                <a:latin typeface="Times New Roman" panose="02020603050405020304" pitchFamily="18" charset="0"/>
                <a:ea typeface="黑体" panose="02010609060101010101" pitchFamily="49" charset="-122"/>
                <a:sym typeface="+mn-ea"/>
              </a:rPr>
              <a:t>矩阵</a:t>
            </a:r>
            <a:r>
              <a:rPr lang="en-US" altLang="zh-CN" sz="2400" i="1" err="1">
                <a:solidFill>
                  <a:srgbClr val="000000"/>
                </a:solidFill>
                <a:latin typeface="Times New Roman" panose="02020603050405020304" pitchFamily="18" charset="0"/>
                <a:ea typeface="黑体" panose="02010609060101010101" pitchFamily="49" charset="-122"/>
                <a:sym typeface="+mn-ea"/>
              </a:rPr>
              <a:t>M</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zh-CN" altLang="en-US" sz="2400" err="1">
                <a:solidFill>
                  <a:srgbClr val="000000"/>
                </a:solidFill>
                <a:latin typeface="Times New Roman" panose="02020603050405020304" pitchFamily="18" charset="0"/>
                <a:ea typeface="黑体" panose="02010609060101010101" pitchFamily="49" charset="-122"/>
                <a:sym typeface="+mn-ea"/>
              </a:rPr>
              <a:t>是个</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微软雅黑" panose="020B0503020204020204" charset="-122"/>
                <a:ea typeface="微软雅黑" panose="020B0503020204020204"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zh-CN" altLang="en-US" sz="2400" err="1">
                <a:solidFill>
                  <a:srgbClr val="000000"/>
                </a:solidFill>
                <a:latin typeface="Times New Roman" panose="02020603050405020304" pitchFamily="18" charset="0"/>
                <a:ea typeface="黑体" panose="02010609060101010101" pitchFamily="49" charset="-122"/>
                <a:sym typeface="+mn-ea"/>
              </a:rPr>
              <a:t>的二元矩阵</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zh-CN" altLang="en-US" sz="2400" err="1">
                <a:solidFill>
                  <a:srgbClr val="000000"/>
                </a:solidFill>
                <a:latin typeface="Times New Roman" panose="02020603050405020304" pitchFamily="18" charset="0"/>
                <a:ea typeface="黑体" panose="02010609060101010101" pitchFamily="49" charset="-122"/>
                <a:sym typeface="+mn-ea"/>
              </a:rPr>
              <a:t>且任意一行与其他的行中有</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sym typeface="+mn-ea"/>
              </a:rPr>
              <a:t>个位置不同。其中一行全为</a:t>
            </a:r>
            <a:r>
              <a:rPr lang="en-US" altLang="zh-CN" sz="2400" err="1">
                <a:solidFill>
                  <a:srgbClr val="000000"/>
                </a:solidFill>
                <a:latin typeface="Times New Roman" panose="02020603050405020304" pitchFamily="18" charset="0"/>
                <a:ea typeface="黑体" panose="02010609060101010101" pitchFamily="49" charset="-122"/>
                <a:sym typeface="+mn-ea"/>
              </a:rPr>
              <a:t>0</a:t>
            </a:r>
            <a:r>
              <a:rPr lang="zh-CN" altLang="en-US" sz="2400" err="1">
                <a:solidFill>
                  <a:srgbClr val="000000"/>
                </a:solidFill>
                <a:latin typeface="Times New Roman" panose="02020603050405020304" pitchFamily="18" charset="0"/>
                <a:ea typeface="黑体" panose="02010609060101010101" pitchFamily="49" charset="-122"/>
                <a:sym typeface="+mn-ea"/>
              </a:rPr>
              <a:t>，其余的行有</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sym typeface="+mn-ea"/>
              </a:rPr>
              <a:t>个</a:t>
            </a:r>
            <a:r>
              <a:rPr lang="en-US" altLang="zh-CN" sz="2400" err="1">
                <a:solidFill>
                  <a:srgbClr val="000000"/>
                </a:solidFill>
                <a:latin typeface="Times New Roman" panose="02020603050405020304" pitchFamily="18" charset="0"/>
                <a:ea typeface="黑体" panose="02010609060101010101" pitchFamily="49" charset="-122"/>
                <a:sym typeface="+mn-ea"/>
              </a:rPr>
              <a:t>0</a:t>
            </a:r>
            <a:r>
              <a:rPr lang="zh-CN" altLang="en-US" sz="2400" err="1">
                <a:solidFill>
                  <a:srgbClr val="000000"/>
                </a:solidFill>
                <a:latin typeface="Times New Roman" panose="02020603050405020304" pitchFamily="18" charset="0"/>
                <a:ea typeface="黑体" panose="02010609060101010101" pitchFamily="49" charset="-122"/>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sym typeface="+mn-ea"/>
              </a:rPr>
              <a:t>个</a:t>
            </a:r>
            <a:r>
              <a:rPr lang="en-US" altLang="zh-CN" sz="2400" err="1">
                <a:solidFill>
                  <a:srgbClr val="000000"/>
                </a:solidFill>
                <a:latin typeface="Times New Roman" panose="02020603050405020304" pitchFamily="18" charset="0"/>
                <a:ea typeface="黑体" panose="02010609060101010101" pitchFamily="49" charset="-122"/>
                <a:sym typeface="+mn-ea"/>
              </a:rPr>
              <a:t>1</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graphicFrame>
        <p:nvGraphicFramePr>
          <p:cNvPr id="12" name="对象 11">
            <a:hlinkClick r:id="" action="ppaction://ole?verb=0"/>
          </p:cNvPr>
          <p:cNvGraphicFramePr>
            <a:graphicFrameLocks noChangeAspect="1"/>
          </p:cNvGraphicFramePr>
          <p:nvPr/>
        </p:nvGraphicFramePr>
        <p:xfrm>
          <a:off x="4878389" y="3269933"/>
          <a:ext cx="1458595" cy="899160"/>
        </p:xfrm>
        <a:graphic>
          <a:graphicData uri="http://schemas.openxmlformats.org/presentationml/2006/ole">
            <mc:AlternateContent xmlns:mc="http://schemas.openxmlformats.org/markup-compatibility/2006">
              <mc:Choice xmlns:v="urn:schemas-microsoft-com:vml" Requires="v">
                <p:oleObj r:id="rId3" imgW="825500" imgH="457200" progId="Equation.KSEE3">
                  <p:embed/>
                </p:oleObj>
              </mc:Choice>
              <mc:Fallback>
                <p:oleObj r:id="rId3" imgW="825500" imgH="457200" progId="Equation.KSEE3">
                  <p:embed/>
                  <p:pic>
                    <p:nvPicPr>
                      <p:cNvPr id="12" name="对象 11">
                        <a:hlinkClick r:id="" action="ppaction://ole?verb=0"/>
                      </p:cNvPr>
                      <p:cNvPicPr/>
                      <p:nvPr/>
                    </p:nvPicPr>
                    <p:blipFill>
                      <a:blip r:embed="rId4"/>
                      <a:stretch>
                        <a:fillRect/>
                      </a:stretch>
                    </p:blipFill>
                    <p:spPr>
                      <a:xfrm>
                        <a:off x="4878389" y="3269933"/>
                        <a:ext cx="1458595" cy="899160"/>
                      </a:xfrm>
                      <a:prstGeom prst="rect">
                        <a:avLst/>
                      </a:prstGeom>
                    </p:spPr>
                  </p:pic>
                </p:oleObj>
              </mc:Fallback>
            </mc:AlternateContent>
          </a:graphicData>
        </a:graphic>
      </p:graphicFrame>
      <p:sp>
        <p:nvSpPr>
          <p:cNvPr id="9" name="文本框 8"/>
          <p:cNvSpPr txBox="1"/>
          <p:nvPr/>
        </p:nvSpPr>
        <p:spPr>
          <a:xfrm>
            <a:off x="1896110" y="2581275"/>
            <a:ext cx="4264660"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cs typeface="+mn-ea"/>
                <a:sym typeface="+mn-ea"/>
              </a:rPr>
              <a:t>从</a:t>
            </a:r>
            <a:r>
              <a:rPr lang="en-US" altLang="zh-CN" sz="2400" i="1" dirty="0">
                <a:solidFill>
                  <a:srgbClr val="000000"/>
                </a:solidFill>
                <a:latin typeface="Times New Roman" panose="02020603050405020304" pitchFamily="18" charset="0"/>
                <a:ea typeface="黑体" panose="02010609060101010101" pitchFamily="49" charset="-122"/>
                <a:sym typeface="+mn-ea"/>
              </a:rPr>
              <a:t>M</a:t>
            </a:r>
            <a:r>
              <a:rPr lang="en-US" altLang="zh-CN" sz="2400" i="1" baseline="-25000" dirty="0">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cs typeface="+mn-ea"/>
                <a:sym typeface="+mn-ea"/>
              </a:rPr>
              <a:t>可以按下面的规则构造出</a:t>
            </a:r>
          </a:p>
        </p:txBody>
      </p:sp>
      <p:graphicFrame>
        <p:nvGraphicFramePr>
          <p:cNvPr id="14" name="对象 13">
            <a:hlinkClick r:id="" action="ppaction://ole?verb=0"/>
          </p:cNvPr>
          <p:cNvGraphicFramePr>
            <a:graphicFrameLocks noChangeAspect="1"/>
          </p:cNvGraphicFramePr>
          <p:nvPr/>
        </p:nvGraphicFramePr>
        <p:xfrm>
          <a:off x="6022341" y="2447292"/>
          <a:ext cx="2042160" cy="949325"/>
        </p:xfrm>
        <a:graphic>
          <a:graphicData uri="http://schemas.openxmlformats.org/presentationml/2006/ole">
            <mc:AlternateContent xmlns:mc="http://schemas.openxmlformats.org/markup-compatibility/2006">
              <mc:Choice xmlns:v="urn:schemas-microsoft-com:vml" Requires="v">
                <p:oleObj r:id="rId5" imgW="1155700" imgH="482600" progId="Equation.KSEE3">
                  <p:embed/>
                </p:oleObj>
              </mc:Choice>
              <mc:Fallback>
                <p:oleObj r:id="rId5" imgW="1155700" imgH="482600" progId="Equation.KSEE3">
                  <p:embed/>
                  <p:pic>
                    <p:nvPicPr>
                      <p:cNvPr id="14" name="对象 13">
                        <a:hlinkClick r:id="" action="ppaction://ole?verb=0"/>
                      </p:cNvPr>
                      <p:cNvPicPr/>
                      <p:nvPr/>
                    </p:nvPicPr>
                    <p:blipFill>
                      <a:blip r:embed="rId6"/>
                      <a:stretch>
                        <a:fillRect/>
                      </a:stretch>
                    </p:blipFill>
                    <p:spPr>
                      <a:xfrm>
                        <a:off x="6022341" y="2447292"/>
                        <a:ext cx="2042160" cy="949325"/>
                      </a:xfrm>
                      <a:prstGeom prst="rect">
                        <a:avLst/>
                      </a:prstGeom>
                    </p:spPr>
                  </p:pic>
                </p:oleObj>
              </mc:Fallback>
            </mc:AlternateContent>
          </a:graphicData>
        </a:graphic>
      </p:graphicFrame>
      <p:sp>
        <p:nvSpPr>
          <p:cNvPr id="16" name="文本框 15"/>
          <p:cNvSpPr txBox="1"/>
          <p:nvPr/>
        </p:nvSpPr>
        <p:spPr>
          <a:xfrm>
            <a:off x="8761730" y="2522856"/>
            <a:ext cx="1532890" cy="2009775"/>
          </a:xfrm>
          <a:prstGeom prst="rect">
            <a:avLst/>
          </a:prstGeom>
          <a:noFill/>
        </p:spPr>
        <p:txBody>
          <a:bodyPr wrap="square" rtlCol="0" anchor="t">
            <a:spAutoFit/>
          </a:bodyPr>
          <a:lstStyle/>
          <a:p>
            <a:pPr indent="609600" eaLnBrk="0" fontAlgn="base" hangingPunct="0">
              <a:lnSpc>
                <a:spcPct val="13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err="1">
                <a:solidFill>
                  <a:srgbClr val="000000"/>
                </a:solidFill>
                <a:latin typeface="Times New Roman" panose="02020603050405020304" pitchFamily="18" charset="0"/>
                <a:ea typeface="黑体" panose="02010609060101010101" pitchFamily="49" charset="-122"/>
                <a:cs typeface="+mn-ea"/>
                <a:sym typeface="+mn-ea"/>
              </a:rPr>
              <a:t>通过将</a:t>
            </a:r>
            <a:r>
              <a:rPr lang="en-US" altLang="zh-CN" sz="2400" i="1" err="1">
                <a:solidFill>
                  <a:srgbClr val="000000"/>
                </a:solidFill>
                <a:latin typeface="Times New Roman" panose="02020603050405020304" pitchFamily="18" charset="0"/>
                <a:ea typeface="黑体" panose="02010609060101010101" pitchFamily="49" charset="-122"/>
                <a:sym typeface="+mn-ea"/>
              </a:rPr>
              <a:t>M</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中的</a:t>
            </a:r>
            <a:r>
              <a:rPr lang="en-US" altLang="zh-CN" sz="2400" err="1">
                <a:solidFill>
                  <a:srgbClr val="000000"/>
                </a:solidFill>
                <a:latin typeface="Times New Roman" panose="02020603050405020304" pitchFamily="18" charset="0"/>
                <a:ea typeface="黑体" panose="02010609060101010101" pitchFamily="49" charset="-122"/>
                <a:cs typeface="+mn-ea"/>
                <a:sym typeface="+mn-ea"/>
              </a:rPr>
              <a:t>0</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和</a:t>
            </a:r>
            <a:r>
              <a:rPr lang="en-US" altLang="zh-CN" sz="2400" err="1">
                <a:solidFill>
                  <a:srgbClr val="000000"/>
                </a:solidFill>
                <a:latin typeface="Times New Roman" panose="02020603050405020304" pitchFamily="18" charset="0"/>
                <a:ea typeface="黑体" panose="02010609060101010101" pitchFamily="49" charset="-122"/>
                <a:cs typeface="+mn-ea"/>
                <a:sym typeface="+mn-ea"/>
              </a:rPr>
              <a:t>1</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互反得到</a:t>
            </a:r>
          </a:p>
        </p:txBody>
      </p:sp>
      <p:graphicFrame>
        <p:nvGraphicFramePr>
          <p:cNvPr id="17" name="对象 16">
            <a:hlinkClick r:id="" action="ppaction://ole?verb=0"/>
          </p:cNvPr>
          <p:cNvGraphicFramePr>
            <a:graphicFrameLocks noChangeAspect="1"/>
          </p:cNvGraphicFramePr>
          <p:nvPr/>
        </p:nvGraphicFramePr>
        <p:xfrm>
          <a:off x="8915400" y="2592070"/>
          <a:ext cx="497840" cy="474980"/>
        </p:xfrm>
        <a:graphic>
          <a:graphicData uri="http://schemas.openxmlformats.org/presentationml/2006/ole">
            <mc:AlternateContent xmlns:mc="http://schemas.openxmlformats.org/markup-compatibility/2006">
              <mc:Choice xmlns:v="urn:schemas-microsoft-com:vml" Requires="v">
                <p:oleObj r:id="rId7" imgW="241300" imgH="241300" progId="Equation.KSEE3">
                  <p:embed/>
                </p:oleObj>
              </mc:Choice>
              <mc:Fallback>
                <p:oleObj r:id="rId7" imgW="241300" imgH="241300" progId="Equation.KSEE3">
                  <p:embed/>
                  <p:pic>
                    <p:nvPicPr>
                      <p:cNvPr id="17" name="对象 16">
                        <a:hlinkClick r:id="" action="ppaction://ole?verb=0"/>
                      </p:cNvPr>
                      <p:cNvPicPr/>
                      <p:nvPr/>
                    </p:nvPicPr>
                    <p:blipFill>
                      <a:blip r:embed="rId8"/>
                      <a:stretch>
                        <a:fillRect/>
                      </a:stretch>
                    </p:blipFill>
                    <p:spPr>
                      <a:xfrm>
                        <a:off x="8915400" y="2592070"/>
                        <a:ext cx="497840" cy="474980"/>
                      </a:xfrm>
                      <a:prstGeom prst="rect">
                        <a:avLst/>
                      </a:prstGeom>
                    </p:spPr>
                  </p:pic>
                </p:oleObj>
              </mc:Fallback>
            </mc:AlternateContent>
          </a:graphicData>
        </a:graphic>
      </p:graphicFrame>
      <p:sp>
        <p:nvSpPr>
          <p:cNvPr id="19" name="文本框 18"/>
          <p:cNvSpPr txBox="1"/>
          <p:nvPr/>
        </p:nvSpPr>
        <p:spPr>
          <a:xfrm>
            <a:off x="1847851" y="4690745"/>
            <a:ext cx="2073275"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err="1">
                <a:solidFill>
                  <a:srgbClr val="000000"/>
                </a:solidFill>
                <a:latin typeface="Times New Roman" panose="02020603050405020304" pitchFamily="18" charset="0"/>
                <a:ea typeface="黑体" panose="02010609060101010101" pitchFamily="49" charset="-122"/>
                <a:cs typeface="+mn-ea"/>
                <a:sym typeface="+mn-ea"/>
              </a:rPr>
              <a:t>从</a:t>
            </a:r>
            <a:r>
              <a:rPr lang="en-US" altLang="zh-CN" sz="2400" i="1" err="1">
                <a:solidFill>
                  <a:srgbClr val="000000"/>
                </a:solidFill>
                <a:latin typeface="Times New Roman" panose="02020603050405020304" pitchFamily="18" charset="0"/>
                <a:ea typeface="黑体" panose="02010609060101010101" pitchFamily="49" charset="-122"/>
                <a:sym typeface="+mn-ea"/>
              </a:rPr>
              <a:t>M</a:t>
            </a:r>
            <a:r>
              <a:rPr lang="en-US" altLang="zh-CN" sz="2400" baseline="-25000" err="1">
                <a:solidFill>
                  <a:srgbClr val="000000"/>
                </a:solidFill>
                <a:latin typeface="Times New Roman" panose="02020603050405020304" pitchFamily="18" charset="0"/>
                <a:ea typeface="黑体" panose="02010609060101010101" pitchFamily="49" charset="-122"/>
                <a:sym typeface="+mn-ea"/>
              </a:rPr>
              <a:t>2</a:t>
            </a:r>
            <a:r>
              <a:rPr lang="zh-CN" altLang="en-US" sz="2400" err="1">
                <a:solidFill>
                  <a:srgbClr val="000000"/>
                </a:solidFill>
                <a:latin typeface="Times New Roman" panose="02020603050405020304" pitchFamily="18" charset="0"/>
                <a:ea typeface="黑体" panose="02010609060101010101" pitchFamily="49" charset="-122"/>
                <a:cs typeface="+mn-ea"/>
                <a:sym typeface="+mn-ea"/>
              </a:rPr>
              <a:t>可以得到</a:t>
            </a:r>
          </a:p>
        </p:txBody>
      </p:sp>
      <p:graphicFrame>
        <p:nvGraphicFramePr>
          <p:cNvPr id="20" name="对象 19">
            <a:hlinkClick r:id="" action="ppaction://ole?verb=0"/>
          </p:cNvPr>
          <p:cNvGraphicFramePr>
            <a:graphicFrameLocks noChangeAspect="1"/>
          </p:cNvGraphicFramePr>
          <p:nvPr/>
        </p:nvGraphicFramePr>
        <p:xfrm>
          <a:off x="3898266" y="4192588"/>
          <a:ext cx="4443730" cy="1798320"/>
        </p:xfrm>
        <a:graphic>
          <a:graphicData uri="http://schemas.openxmlformats.org/presentationml/2006/ole">
            <mc:AlternateContent xmlns:mc="http://schemas.openxmlformats.org/markup-compatibility/2006">
              <mc:Choice xmlns:v="urn:schemas-microsoft-com:vml" Requires="v">
                <p:oleObj r:id="rId9" imgW="2514600" imgH="914400" progId="Equation.KSEE3">
                  <p:embed/>
                </p:oleObj>
              </mc:Choice>
              <mc:Fallback>
                <p:oleObj r:id="rId9" imgW="2514600" imgH="914400" progId="Equation.KSEE3">
                  <p:embed/>
                  <p:pic>
                    <p:nvPicPr>
                      <p:cNvPr id="20" name="对象 19">
                        <a:hlinkClick r:id="" action="ppaction://ole?verb=0"/>
                      </p:cNvPr>
                      <p:cNvPicPr/>
                      <p:nvPr/>
                    </p:nvPicPr>
                    <p:blipFill>
                      <a:blip r:embed="rId10"/>
                      <a:stretch>
                        <a:fillRect/>
                      </a:stretch>
                    </p:blipFill>
                    <p:spPr>
                      <a:xfrm>
                        <a:off x="3898266" y="4192588"/>
                        <a:ext cx="4443730" cy="1798320"/>
                      </a:xfrm>
                      <a:prstGeom prst="rect">
                        <a:avLst/>
                      </a:prstGeom>
                    </p:spPr>
                  </p:pic>
                </p:oleObj>
              </mc:Fallback>
            </mc:AlternateContent>
          </a:graphicData>
        </a:graphic>
      </p:graphicFrame>
      <p:sp>
        <p:nvSpPr>
          <p:cNvPr id="24" name="文本框 23"/>
          <p:cNvSpPr txBox="1"/>
          <p:nvPr/>
        </p:nvSpPr>
        <p:spPr>
          <a:xfrm>
            <a:off x="1803400" y="5981700"/>
            <a:ext cx="8200390"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err="1">
                <a:solidFill>
                  <a:srgbClr val="000000"/>
                </a:solidFill>
                <a:latin typeface="Times New Roman" panose="02020603050405020304" pitchFamily="18" charset="0"/>
                <a:ea typeface="黑体" panose="02010609060101010101" pitchFamily="49" charset="-122"/>
                <a:sym typeface="+mn-ea"/>
              </a:rPr>
              <a:t>这两个矩阵的行构成一个长</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=4, </a:t>
            </a:r>
            <a:r>
              <a:rPr lang="zh-CN" altLang="en-US" sz="2400" err="1">
                <a:solidFill>
                  <a:srgbClr val="000000"/>
                </a:solidFill>
                <a:latin typeface="Times New Roman" panose="02020603050405020304" pitchFamily="18" charset="0"/>
                <a:ea typeface="黑体" panose="02010609060101010101" pitchFamily="49" charset="-122"/>
                <a:sym typeface="+mn-ea"/>
              </a:rPr>
              <a:t>有</a:t>
            </a:r>
            <a:r>
              <a:rPr lang="en-US" altLang="zh-CN" sz="2400" err="1">
                <a:solidFill>
                  <a:srgbClr val="000000"/>
                </a:solidFill>
                <a:latin typeface="Times New Roman" panose="02020603050405020304" pitchFamily="18" charset="0"/>
                <a:ea typeface="黑体" panose="02010609060101010101" pitchFamily="49" charset="-122"/>
                <a:sym typeface="+mn-ea"/>
              </a:rPr>
              <a:t>2</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=8</a:t>
            </a:r>
            <a:r>
              <a:rPr lang="zh-CN" altLang="en-US" sz="2400" err="1">
                <a:solidFill>
                  <a:srgbClr val="000000"/>
                </a:solidFill>
                <a:latin typeface="Times New Roman" panose="02020603050405020304" pitchFamily="18" charset="0"/>
                <a:ea typeface="黑体" panose="02010609060101010101" pitchFamily="49" charset="-122"/>
                <a:sym typeface="+mn-ea"/>
              </a:rPr>
              <a:t>个码字的线性二元码</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1701166" y="2819400"/>
            <a:ext cx="8738235" cy="685800"/>
          </a:xfrm>
        </p:spPr>
        <p:txBody>
          <a:bodyPr vert="horz" wrap="square" lIns="91440" tIns="45720" rIns="91440" bIns="45720" anchor="ctr"/>
          <a:lstStyle>
            <a:lvl1pPr lvl="0">
              <a:defRPr kern="1200"/>
            </a:lvl1pPr>
          </a:lstStyle>
          <a:p>
            <a:pPr lvl="0" algn="ctr" eaLnBrk="1" hangingPunct="1"/>
            <a:r>
              <a:rPr lang="zh-CN" altLang="en-US" sz="3600" dirty="0">
                <a:solidFill>
                  <a:schemeClr val="bg1"/>
                </a:solidFill>
                <a:latin typeface="黑体" panose="02010609060101010101" pitchFamily="49" charset="-122"/>
                <a:ea typeface="黑体" panose="02010609060101010101" pitchFamily="49" charset="-122"/>
                <a:sym typeface="+mn-ea"/>
              </a:rPr>
              <a:t>第四章 </a:t>
            </a:r>
            <a:r>
              <a:rPr lang="en-US" altLang="zh-CN" sz="3600" dirty="0">
                <a:solidFill>
                  <a:schemeClr val="bg1"/>
                </a:solidFill>
                <a:latin typeface="黑体" panose="02010609060101010101" pitchFamily="49" charset="-122"/>
                <a:ea typeface="黑体" panose="02010609060101010101" pitchFamily="49" charset="-122"/>
                <a:sym typeface="+mn-ea"/>
              </a:rPr>
              <a:t> </a:t>
            </a:r>
            <a:r>
              <a:rPr lang="zh-CN" altLang="en-US" sz="3600" dirty="0">
                <a:solidFill>
                  <a:schemeClr val="bg1"/>
                </a:solidFill>
                <a:latin typeface="黑体" panose="02010609060101010101" pitchFamily="49" charset="-122"/>
                <a:ea typeface="黑体" panose="02010609060101010101" pitchFamily="49" charset="-122"/>
                <a:sym typeface="+mn-ea"/>
              </a:rPr>
              <a:t>循环码</a:t>
            </a:r>
          </a:p>
        </p:txBody>
      </p:sp>
      <p:sp>
        <p:nvSpPr>
          <p:cNvPr id="2" name="文本框 1"/>
          <p:cNvSpPr txBox="1"/>
          <p:nvPr/>
        </p:nvSpPr>
        <p:spPr>
          <a:xfrm>
            <a:off x="3829686" y="3879851"/>
            <a:ext cx="4815205" cy="1731243"/>
          </a:xfrm>
          <a:prstGeom prst="rect">
            <a:avLst/>
          </a:prstGeom>
          <a:noFill/>
        </p:spPr>
        <p:txBody>
          <a:bodyPr wrap="square" rtlCol="0">
            <a:spAutoFit/>
          </a:bodyPr>
          <a:lstStyle/>
          <a:p>
            <a:pPr eaLnBrk="0" fontAlgn="base" hangingPunct="0">
              <a:lnSpc>
                <a:spcPts val="4500"/>
              </a:lnSpc>
              <a:spcBef>
                <a:spcPct val="0"/>
              </a:spcBef>
              <a:spcAft>
                <a:spcPct val="0"/>
              </a:spcAft>
            </a:pPr>
            <a:r>
              <a:rPr lang="zh-CN" altLang="en-US" sz="28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李丽香，彭海朋</a:t>
            </a:r>
            <a:endPar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endParaRPr>
          </a:p>
          <a:p>
            <a:pPr eaLnBrk="0" fontAlgn="base" hangingPunct="0">
              <a:lnSpc>
                <a:spcPts val="4500"/>
              </a:lnSpc>
              <a:spcBef>
                <a:spcPct val="0"/>
              </a:spcBef>
              <a:spcAft>
                <a:spcPct val="0"/>
              </a:spcAft>
            </a:pPr>
            <a:r>
              <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北京邮电大学网络空间安全学院</a:t>
            </a:r>
          </a:p>
          <a:p>
            <a:pPr eaLnBrk="0" fontAlgn="base" hangingPunct="0">
              <a:lnSpc>
                <a:spcPts val="4500"/>
              </a:lnSpc>
              <a:spcBef>
                <a:spcPct val="0"/>
              </a:spcBef>
              <a:spcAft>
                <a:spcPct val="0"/>
              </a:spcAft>
            </a:pPr>
            <a:r>
              <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网络与交换技术国家重点实验室</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a:t>
            </a:r>
          </a:p>
        </p:txBody>
      </p:sp>
      <p:sp>
        <p:nvSpPr>
          <p:cNvPr id="5122" name="文本占位符 120834"/>
          <p:cNvSpPr>
            <a:spLocks noGrp="1" noRot="1"/>
          </p:cNvSpPr>
          <p:nvPr>
            <p:ph idx="1"/>
          </p:nvPr>
        </p:nvSpPr>
        <p:spPr>
          <a:xfrm>
            <a:off x="2001520" y="5300346"/>
            <a:ext cx="8271510" cy="869315"/>
          </a:xfrm>
        </p:spPr>
        <p:txBody>
          <a:bodyPr anchor="t" anchorCtr="0"/>
          <a:lstStyle/>
          <a:p>
            <a:pPr marL="0" indent="508000">
              <a:lnSpc>
                <a:spcPct val="120000"/>
              </a:lnSpc>
              <a:spcBef>
                <a:spcPts val="0"/>
              </a:spcBef>
              <a:spcAft>
                <a:spcPts val="0"/>
              </a:spcAft>
              <a:buNone/>
              <a:extLst>
                <a:ext uri="{35155182-B16C-46BC-9424-99874614C6A1}">
                  <wpsdc:indentchars xmlns="" xmlns:wpsdc="http://www.wps.cn/officeDocument/2017/drawingmlCustomData" val="200" checksum="282533468"/>
                </a:ext>
              </a:extLst>
            </a:pPr>
            <a:r>
              <a:rPr lang="zh-CN" altLang="en-US" sz="2000" b="1">
                <a:latin typeface="楷体" panose="02010609060101010101" charset="-122"/>
                <a:ea typeface="楷体" panose="02010609060101010101" charset="-122"/>
                <a:cs typeface="Times New Roman" panose="02020603050405020304" pitchFamily="18" charset="0"/>
                <a:sym typeface="+mn-ea"/>
              </a:rPr>
              <a:t>一个数学理论在被搞得如此清楚以至于你能给马路上第一个遇到的人解释之前，不能算是完备的</a:t>
            </a:r>
            <a:r>
              <a:rPr lang="zh-CN" altLang="en-US" sz="2000" b="1">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a:latin typeface="Times New Roman" panose="02020603050405020304" pitchFamily="18" charset="0"/>
                <a:ea typeface="黑体" panose="02010609060101010101" pitchFamily="49" charset="-122"/>
                <a:cs typeface="Times New Roman" panose="02020603050405020304" pitchFamily="18" charset="0"/>
                <a:sym typeface="+mn-ea"/>
              </a:rPr>
              <a:t>————David Hilbert (1862—1943)</a:t>
            </a:r>
          </a:p>
        </p:txBody>
      </p:sp>
      <p:sp>
        <p:nvSpPr>
          <p:cNvPr id="5" name="文本框 4"/>
          <p:cNvSpPr txBox="1"/>
          <p:nvPr/>
        </p:nvSpPr>
        <p:spPr>
          <a:xfrm>
            <a:off x="1901825" y="975360"/>
            <a:ext cx="8426450" cy="3769360"/>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1949</a:t>
            </a:r>
            <a:r>
              <a:rPr lang="zh-CN" alt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年，二元和三元</a:t>
            </a:r>
            <a:r>
              <a:rPr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Golay</a:t>
            </a:r>
            <a:r>
              <a:rPr lang="zh-CN" alt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码</a:t>
            </a:r>
            <a:endParaRPr 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algn="just" eaLnBrk="0" fontAlgn="base" hangingPunct="0">
              <a:lnSpc>
                <a:spcPct val="130000"/>
              </a:lnSpc>
              <a:spcBef>
                <a:spcPct val="0"/>
              </a:spcBef>
              <a:spcAft>
                <a:spcPct val="0"/>
              </a:spcAft>
            </a:pPr>
            <a:r>
              <a:rPr 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1957</a:t>
            </a:r>
            <a:r>
              <a:rPr lang="zh-CN" alt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年，</a:t>
            </a:r>
            <a:r>
              <a:rPr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Prange</a:t>
            </a:r>
            <a:r>
              <a:rPr lang="zh-CN" alt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提出循环码的概念</a:t>
            </a:r>
          </a:p>
          <a:p>
            <a:pPr algn="just" eaLnBrk="0" fontAlgn="base" hangingPunct="0">
              <a:lnSpc>
                <a:spcPct val="130000"/>
              </a:lnSpc>
              <a:spcBef>
                <a:spcPct val="0"/>
              </a:spcBef>
              <a:spcAft>
                <a:spcPct val="0"/>
              </a:spcAft>
            </a:pPr>
            <a:r>
              <a:rPr lang="zh-CN" alt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之后，</a:t>
            </a:r>
            <a:r>
              <a:rPr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Peterson</a:t>
            </a:r>
            <a:r>
              <a:rPr lang="zh-CN" alt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和</a:t>
            </a:r>
            <a:r>
              <a:rPr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Kasami</a:t>
            </a:r>
            <a:r>
              <a:rPr lang="zh-CN" alt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进一步开展了循环码的研究工作</a:t>
            </a:r>
          </a:p>
          <a:p>
            <a:pPr algn="just" eaLnBrk="0" fontAlgn="base" hangingPunct="0">
              <a:lnSpc>
                <a:spcPct val="130000"/>
              </a:lnSpc>
              <a:spcBef>
                <a:spcPct val="0"/>
              </a:spcBef>
              <a:spcAft>
                <a:spcPct val="0"/>
              </a:spcAft>
            </a:pPr>
            <a:r>
              <a:rPr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1960s, Bose</a:t>
            </a:r>
            <a:r>
              <a:rPr lang="zh-CN" alt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和</a:t>
            </a:r>
            <a:r>
              <a:rPr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Raychaudhuri</a:t>
            </a:r>
            <a:r>
              <a:rPr lang="zh-CN" alt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进行了循环码最小距离方面的开创工作</a:t>
            </a:r>
          </a:p>
          <a:p>
            <a:pPr algn="just" eaLnBrk="0" fontAlgn="base" hangingPunct="0">
              <a:lnSpc>
                <a:spcPct val="130000"/>
              </a:lnSpc>
              <a:spcBef>
                <a:spcPct val="0"/>
              </a:spcBef>
              <a:spcAft>
                <a:spcPct val="0"/>
              </a:spcAft>
            </a:pPr>
            <a:r>
              <a:rPr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1959</a:t>
            </a:r>
            <a:r>
              <a:rPr lang="zh-CN" alt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年</a:t>
            </a:r>
            <a:r>
              <a:rPr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Abramson</a:t>
            </a:r>
            <a:r>
              <a:rPr lang="zh-CN" alt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进行了突发错误纠错方面的研究工作</a:t>
            </a:r>
            <a:r>
              <a:rPr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Fire</a:t>
            </a:r>
            <a:r>
              <a:rPr lang="zh-CN" altLang="en-US"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码</a:t>
            </a:r>
          </a:p>
          <a:p>
            <a:pPr algn="just" eaLnBrk="0" fontAlgn="base" hangingPunct="0">
              <a:lnSpc>
                <a:spcPct val="130000"/>
              </a:lnSpc>
              <a:spcBef>
                <a:spcPct val="0"/>
              </a:spcBef>
              <a:spcAft>
                <a:spcPct val="0"/>
              </a:spcAft>
            </a:pPr>
            <a:endParaRPr lang="zh-CN" altLang="en-US" sz="20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algn="just" eaLnBrk="0" fontAlgn="base" hangingPunct="0">
              <a:lnSpc>
                <a:spcPct val="130000"/>
              </a:lnSpc>
              <a:spcBef>
                <a:spcPct val="0"/>
              </a:spcBef>
              <a:spcAft>
                <a:spcPct val="0"/>
              </a:spcAft>
            </a:pPr>
            <a:endParaRPr lang="en-US" altLang="zh-CN" sz="20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01410" y="104775"/>
            <a:ext cx="419989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循环码的定义和优势</a:t>
            </a:r>
          </a:p>
        </p:txBody>
      </p:sp>
      <p:sp>
        <p:nvSpPr>
          <p:cNvPr id="11" name="内容占位符 2"/>
          <p:cNvSpPr txBox="1"/>
          <p:nvPr/>
        </p:nvSpPr>
        <p:spPr>
          <a:xfrm>
            <a:off x="1905001" y="894715"/>
            <a:ext cx="8371205" cy="135763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2" name="文本框 11"/>
          <p:cNvSpPr txBox="1"/>
          <p:nvPr/>
        </p:nvSpPr>
        <p:spPr>
          <a:xfrm>
            <a:off x="2009140" y="996950"/>
            <a:ext cx="8224520" cy="1198880"/>
          </a:xfrm>
          <a:prstGeom prst="rect">
            <a:avLst/>
          </a:prstGeom>
          <a:noFill/>
        </p:spPr>
        <p:txBody>
          <a:bodyPr wrap="square" rtlCol="0" anchor="t">
            <a:spAutoFit/>
          </a:bodyPr>
          <a:lstStyle/>
          <a:p>
            <a:pPr eaLnBrk="0" fontAlgn="base" hangingPunct="0">
              <a:spcBef>
                <a:spcPct val="0"/>
              </a:spcBef>
              <a:spcAft>
                <a:spcPct val="0"/>
              </a:spcAft>
            </a:pPr>
            <a:r>
              <a:rPr lang="zh-CN" altLang="en-US" sz="2400" b="1">
                <a:solidFill>
                  <a:srgbClr val="0070C0"/>
                </a:solidFill>
                <a:latin typeface="黑体" panose="02010609060101010101" pitchFamily="49" charset="-122"/>
                <a:ea typeface="黑体" panose="02010609060101010101" pitchFamily="49" charset="-122"/>
                <a:sym typeface="+mn-ea"/>
              </a:rPr>
              <a:t>循环移位</a:t>
            </a:r>
            <a:r>
              <a:rPr sz="2400" dirty="0">
                <a:solidFill>
                  <a:srgbClr val="0070C0"/>
                </a:solidFill>
                <a:latin typeface="Times New Roman" panose="02020603050405020304" pitchFamily="18" charset="0"/>
                <a:ea typeface="黑体" panose="02010609060101010101" pitchFamily="49" charset="-122"/>
                <a:sym typeface="+mn-ea"/>
              </a:rPr>
              <a:t>：</a:t>
            </a:r>
            <a:r>
              <a:rPr lang="zh-CN" altLang="en-US" sz="2400">
                <a:solidFill>
                  <a:srgbClr val="000000"/>
                </a:solidFill>
                <a:latin typeface="黑体" panose="02010609060101010101" pitchFamily="49" charset="-122"/>
                <a:ea typeface="黑体" panose="02010609060101010101" pitchFamily="49" charset="-122"/>
                <a:sym typeface="+mn-ea"/>
              </a:rPr>
              <a:t>将</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a:solidFill>
                  <a:srgbClr val="000000"/>
                </a:solidFill>
                <a:latin typeface="黑体" panose="02010609060101010101" pitchFamily="49" charset="-122"/>
                <a:ea typeface="黑体" panose="02010609060101010101" pitchFamily="49" charset="-122"/>
                <a:sym typeface="+mn-ea"/>
              </a:rPr>
              <a:t>重</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 ,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a:solidFill>
                  <a:srgbClr val="000000"/>
                </a:solidFill>
                <a:latin typeface="黑体" panose="02010609060101010101" pitchFamily="49" charset="-122"/>
                <a:ea typeface="黑体" panose="02010609060101010101" pitchFamily="49" charset="-122"/>
                <a:sym typeface="+mn-ea"/>
              </a:rPr>
              <a:t>的分量循环左移一位</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a:solidFill>
                  <a:srgbClr val="000000"/>
                </a:solidFill>
                <a:latin typeface="黑体" panose="02010609060101010101" pitchFamily="49" charset="-122"/>
                <a:ea typeface="黑体" panose="02010609060101010101" pitchFamily="49" charset="-122"/>
                <a:sym typeface="+mn-ea"/>
              </a:rPr>
              <a:t>得到另一个</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a:solidFill>
                  <a:srgbClr val="000000"/>
                </a:solidFill>
                <a:latin typeface="黑体" panose="02010609060101010101" pitchFamily="49" charset="-122"/>
                <a:ea typeface="黑体" panose="02010609060101010101" pitchFamily="49" charset="-122"/>
                <a:sym typeface="+mn-ea"/>
              </a:rPr>
              <a:t>重</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 ,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a:solidFill>
                  <a:srgbClr val="000000"/>
                </a:solidFill>
                <a:latin typeface="黑体" panose="02010609060101010101" pitchFamily="49" charset="-122"/>
                <a:ea typeface="黑体" panose="02010609060101010101" pitchFamily="49" charset="-122"/>
                <a:sym typeface="+mn-ea"/>
              </a:rPr>
              <a:t>称为</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zh-CN" altLang="en-US" sz="2400">
                <a:solidFill>
                  <a:srgbClr val="000000"/>
                </a:solidFill>
                <a:latin typeface="黑体" panose="02010609060101010101" pitchFamily="49" charset="-122"/>
                <a:ea typeface="黑体" panose="02010609060101010101" pitchFamily="49" charset="-122"/>
                <a:sym typeface="+mn-ea"/>
              </a:rPr>
              <a:t>的循环移位。若</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zh-CN" altLang="en-US" sz="2400">
                <a:solidFill>
                  <a:srgbClr val="000000"/>
                </a:solidFill>
                <a:latin typeface="黑体" panose="02010609060101010101" pitchFamily="49" charset="-122"/>
                <a:ea typeface="黑体" panose="02010609060101010101" pitchFamily="49" charset="-122"/>
                <a:sym typeface="+mn-ea"/>
              </a:rPr>
              <a:t>的分量循环左移</a:t>
            </a:r>
            <a:r>
              <a:rPr lang="en-US" altLang="zh-CN" sz="2400" i="1">
                <a:solidFill>
                  <a:srgbClr val="000000"/>
                </a:solidFill>
                <a:latin typeface="Times New Roman" panose="02020603050405020304" pitchFamily="18" charset="0"/>
                <a:ea typeface="黑体" panose="02010609060101010101" pitchFamily="49" charset="-122"/>
                <a:sym typeface="+mn-ea"/>
              </a:rPr>
              <a:t>i</a:t>
            </a:r>
            <a:r>
              <a:rPr lang="zh-CN" altLang="en-US" sz="2400">
                <a:solidFill>
                  <a:srgbClr val="000000"/>
                </a:solidFill>
                <a:latin typeface="黑体" panose="02010609060101010101" pitchFamily="49" charset="-122"/>
                <a:ea typeface="黑体" panose="02010609060101010101" pitchFamily="49" charset="-122"/>
                <a:sym typeface="+mn-ea"/>
              </a:rPr>
              <a:t>位</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a:solidFill>
                  <a:srgbClr val="000000"/>
                </a:solidFill>
                <a:latin typeface="黑体" panose="02010609060101010101" pitchFamily="49" charset="-122"/>
                <a:ea typeface="黑体" panose="02010609060101010101" pitchFamily="49" charset="-122"/>
                <a:sym typeface="+mn-ea"/>
              </a:rPr>
              <a:t>得到</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i</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 ,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 ,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5" name="内容占位符 2"/>
          <p:cNvSpPr txBox="1"/>
          <p:nvPr/>
        </p:nvSpPr>
        <p:spPr>
          <a:xfrm>
            <a:off x="2251075" y="2526031"/>
            <a:ext cx="7617460" cy="111188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2310131" y="2590166"/>
            <a:ext cx="7614285" cy="936347"/>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b="1">
                <a:solidFill>
                  <a:srgbClr val="FF0000"/>
                </a:solidFill>
                <a:latin typeface="黑体" panose="02010609060101010101" pitchFamily="49" charset="-122"/>
                <a:ea typeface="黑体" panose="02010609060101010101" pitchFamily="49" charset="-122"/>
                <a:sym typeface="+mn-ea"/>
              </a:rPr>
              <a:t>循环码的定义：</a:t>
            </a:r>
            <a:r>
              <a:rPr lang="zh-CN" altLang="en-US" sz="2400" b="1">
                <a:solidFill>
                  <a:srgbClr val="000000"/>
                </a:solidFill>
                <a:latin typeface="黑体" panose="02010609060101010101" pitchFamily="49" charset="-122"/>
                <a:ea typeface="黑体" panose="02010609060101010101" pitchFamily="49" charset="-122"/>
                <a:sym typeface="+mn-ea"/>
              </a:rPr>
              <a:t>一个</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n, k</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a:solidFill>
                  <a:srgbClr val="000000"/>
                </a:solidFill>
                <a:latin typeface="黑体" panose="02010609060101010101" pitchFamily="49" charset="-122"/>
                <a:ea typeface="黑体" panose="02010609060101010101" pitchFamily="49" charset="-122"/>
                <a:sym typeface="+mn-ea"/>
              </a:rPr>
              <a:t>线性码</a:t>
            </a:r>
            <a:r>
              <a:rPr lang="en-US" altLang="zh-CN" sz="2400" b="1" i="1">
                <a:solidFill>
                  <a:srgbClr val="000000"/>
                </a:solidFill>
                <a:latin typeface="Times New Roman" panose="02020603050405020304" pitchFamily="18" charset="0"/>
                <a:ea typeface="黑体" panose="02010609060101010101" pitchFamily="49" charset="-122"/>
                <a:sym typeface="+mn-ea"/>
              </a:rPr>
              <a:t>C</a:t>
            </a:r>
            <a:r>
              <a:rPr lang="zh-CN" altLang="en-US" sz="2400" b="1">
                <a:solidFill>
                  <a:srgbClr val="000000"/>
                </a:solidFill>
                <a:latin typeface="黑体" panose="02010609060101010101" pitchFamily="49" charset="-122"/>
                <a:ea typeface="黑体" panose="02010609060101010101" pitchFamily="49" charset="-122"/>
                <a:sym typeface="+mn-ea"/>
              </a:rPr>
              <a:t>，若它的每个码字的任何循环移位都仍然是一个码字，则称此码为循环码。</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9" name="矩形 8"/>
          <p:cNvSpPr/>
          <p:nvPr/>
        </p:nvSpPr>
        <p:spPr>
          <a:xfrm>
            <a:off x="2988310" y="4502150"/>
            <a:ext cx="6409690" cy="5702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8" name="文本框 7"/>
          <p:cNvSpPr txBox="1"/>
          <p:nvPr/>
        </p:nvSpPr>
        <p:spPr>
          <a:xfrm>
            <a:off x="3151505" y="4528821"/>
            <a:ext cx="6245860" cy="426335"/>
          </a:xfrm>
          <a:prstGeom prst="rect">
            <a:avLst/>
          </a:prstGeom>
          <a:noFill/>
        </p:spPr>
        <p:txBody>
          <a:bodyPr wrap="square" rtlCol="0" anchor="t">
            <a:spAutoFit/>
          </a:bodyPr>
          <a:lstStyle/>
          <a:p>
            <a:pPr algn="just" eaLnBrk="0" fontAlgn="base" hangingPunct="0">
              <a:lnSpc>
                <a:spcPct val="120000"/>
              </a:lnSpc>
              <a:spcAft>
                <a:spcPct val="0"/>
              </a:spcAft>
              <a:buClr>
                <a:srgbClr val="CCCCFF"/>
              </a:buClr>
              <a:buSzPct val="65000"/>
            </a:pPr>
            <a:r>
              <a:rPr sz="2000" b="1">
                <a:solidFill>
                  <a:srgbClr val="FF0000"/>
                </a:solidFill>
                <a:latin typeface="楷体" panose="02010609060101010101" charset="-122"/>
                <a:ea typeface="楷体" panose="02010609060101010101" charset="-122"/>
              </a:rPr>
              <a:t>思考题：</a:t>
            </a:r>
            <a:r>
              <a:rPr lang="zh-CN" altLang="en-US" sz="2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循环码特殊的代数结构导致其具有什么优点</a:t>
            </a:r>
            <a:r>
              <a:rPr lang="en-US" sz="2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3" name="文本框 2"/>
          <p:cNvSpPr txBox="1"/>
          <p:nvPr/>
        </p:nvSpPr>
        <p:spPr>
          <a:xfrm>
            <a:off x="2242186" y="5221605"/>
            <a:ext cx="7991475" cy="1198880"/>
          </a:xfrm>
          <a:prstGeom prst="rect">
            <a:avLst/>
          </a:prstGeom>
          <a:noFill/>
        </p:spPr>
        <p:txBody>
          <a:bodyPr wrap="square" rtlCol="0" anchor="t">
            <a:spAutoFit/>
          </a:bodyPr>
          <a:lstStyle/>
          <a:p>
            <a:pPr eaLnBrk="0" fontAlgn="base" hangingPunct="0">
              <a:spcBef>
                <a:spcPct val="0"/>
              </a:spcBef>
              <a:spcAft>
                <a:spcPct val="0"/>
              </a:spcAft>
            </a:pPr>
            <a:r>
              <a:rPr lang="zh-CN" altLang="en-US" sz="2400" b="1" dirty="0">
                <a:solidFill>
                  <a:srgbClr val="00B050"/>
                </a:solidFill>
                <a:latin typeface="黑体" panose="02010609060101010101" pitchFamily="49" charset="-122"/>
                <a:ea typeface="黑体" panose="02010609060101010101" pitchFamily="49" charset="-122"/>
                <a:sym typeface="+mn-ea"/>
              </a:rPr>
              <a:t>循环码的优势</a:t>
            </a:r>
            <a:r>
              <a:rPr lang="zh-CN" altLang="en-US" sz="2400" b="1">
                <a:solidFill>
                  <a:srgbClr val="00B050"/>
                </a:solidFill>
                <a:latin typeface="黑体" panose="02010609060101010101" pitchFamily="49" charset="-122"/>
                <a:ea typeface="黑体" panose="02010609060101010101" pitchFamily="49" charset="-122"/>
                <a:sym typeface="Wingdings" panose="05000000000000000000" pitchFamily="2" charset="2"/>
              </a:rPr>
              <a:t>：</a:t>
            </a:r>
            <a:r>
              <a:rPr lang="zh-CN" altLang="en-US" sz="2400">
                <a:solidFill>
                  <a:srgbClr val="000000"/>
                </a:solidFill>
                <a:latin typeface="黑体" panose="02010609060101010101" pitchFamily="49" charset="-122"/>
                <a:ea typeface="黑体" panose="02010609060101010101" pitchFamily="49" charset="-122"/>
                <a:sym typeface="Wingdings" panose="05000000000000000000" pitchFamily="2" charset="2"/>
              </a:rPr>
              <a:t>具有许多固有的代数结构，可以找到各种实用的译码方法，使用具有反馈的线性移位寄存器可以容易的实现编码和伴随式计算。</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10" name="文本框 9"/>
          <p:cNvSpPr txBox="1"/>
          <p:nvPr/>
        </p:nvSpPr>
        <p:spPr>
          <a:xfrm>
            <a:off x="2278380" y="3837306"/>
            <a:ext cx="7993380" cy="460375"/>
          </a:xfrm>
          <a:prstGeom prst="rect">
            <a:avLst/>
          </a:prstGeom>
          <a:noFill/>
        </p:spPr>
        <p:txBody>
          <a:bodyPr wrap="square" rtlCol="0" anchor="t">
            <a:spAutoFit/>
          </a:bodyPr>
          <a:lstStyle/>
          <a:p>
            <a:pPr eaLnBrk="0" fontAlgn="base" hangingPunct="0">
              <a:spcBef>
                <a:spcPct val="0"/>
              </a:spcBef>
              <a:spcAft>
                <a:spcPct val="0"/>
              </a:spcAft>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二元码</a:t>
            </a:r>
            <a:r>
              <a:rPr lang="en-US" altLang="zh-CN" sz="2400" i="1">
                <a:solidFill>
                  <a:srgbClr val="000000"/>
                </a:solidFill>
                <a:latin typeface="Times New Roman" panose="02020603050405020304" pitchFamily="18" charset="0"/>
                <a:ea typeface="宋体" panose="02010600030101010101" pitchFamily="2" charset="-122"/>
                <a:sym typeface="+mn-ea"/>
              </a:rPr>
              <a:t>C</a:t>
            </a:r>
            <a:r>
              <a:rPr lang="en-US" altLang="zh-CN" sz="2400" baseline="-25000">
                <a:solidFill>
                  <a:srgbClr val="000000"/>
                </a:solidFill>
                <a:latin typeface="Times New Roman" panose="02020603050405020304" pitchFamily="18" charset="0"/>
                <a:ea typeface="宋体" panose="02010600030101010101" pitchFamily="2" charset="-122"/>
                <a:sym typeface="+mn-ea"/>
              </a:rPr>
              <a:t>1</a:t>
            </a:r>
            <a:r>
              <a:rPr lang="en-US" altLang="zh-CN" sz="2400">
                <a:solidFill>
                  <a:srgbClr val="000000"/>
                </a:solidFill>
                <a:latin typeface="Times New Roman" panose="02020603050405020304" pitchFamily="18" charset="0"/>
                <a:ea typeface="宋体" panose="02010600030101010101" pitchFamily="2" charset="-122"/>
                <a:sym typeface="+mn-ea"/>
              </a:rPr>
              <a:t>={0000, 0101, 1010, 1111}</a:t>
            </a:r>
            <a:r>
              <a:rPr lang="en-US" altLang="zh-CN" sz="2400">
                <a:solidFill>
                  <a:srgbClr val="000000"/>
                </a:solidFill>
                <a:latin typeface="Arial" panose="020B0604020202020204" pitchFamily="34" charset="0"/>
                <a:ea typeface="宋体" panose="02010600030101010101" pitchFamily="2"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是一个循环码。</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码字多项式</a:t>
            </a:r>
          </a:p>
        </p:txBody>
      </p:sp>
      <p:sp>
        <p:nvSpPr>
          <p:cNvPr id="5" name="内容占位符 2"/>
          <p:cNvSpPr txBox="1"/>
          <p:nvPr/>
        </p:nvSpPr>
        <p:spPr>
          <a:xfrm>
            <a:off x="1808480" y="915036"/>
            <a:ext cx="8605520" cy="251777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1808480" y="1013461"/>
            <a:ext cx="8713470" cy="936347"/>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b="1" dirty="0">
                <a:solidFill>
                  <a:srgbClr val="FF0000"/>
                </a:solidFill>
                <a:latin typeface="黑体" panose="02010609060101010101" pitchFamily="49" charset="-122"/>
                <a:ea typeface="黑体" panose="02010609060101010101" pitchFamily="49" charset="-122"/>
                <a:sym typeface="+mn-ea"/>
              </a:rPr>
              <a:t>码字多项式：</a:t>
            </a:r>
            <a:r>
              <a:rPr lang="zh-CN" altLang="en-US" sz="2400" b="1" dirty="0">
                <a:solidFill>
                  <a:srgbClr val="000000"/>
                </a:solidFill>
                <a:latin typeface="黑体" panose="02010609060101010101" pitchFamily="49" charset="-122"/>
                <a:ea typeface="黑体" panose="02010609060101010101" pitchFamily="49" charset="-122"/>
                <a:sym typeface="+mn-ea"/>
              </a:rPr>
              <a:t>为研究循环码的代数特性，将码字</a:t>
            </a:r>
            <a:r>
              <a:rPr lang="en-US" altLang="zh-CN" sz="2400" b="1" i="1">
                <a:solidFill>
                  <a:srgbClr val="000000"/>
                </a:solidFill>
                <a:latin typeface="Times New Roman" panose="02020603050405020304" pitchFamily="18" charset="0"/>
                <a:ea typeface="黑体" panose="02010609060101010101" pitchFamily="49" charset="-122"/>
                <a:sym typeface="+mn-ea"/>
              </a:rPr>
              <a:t>v</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v</a:t>
            </a:r>
            <a:r>
              <a:rPr lang="en-US" altLang="zh-CN" sz="2400" b="1"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1" baseline="-25000">
                <a:solidFill>
                  <a:srgbClr val="000000"/>
                </a:solidFill>
                <a:latin typeface="Times New Roman" panose="02020603050405020304" pitchFamily="18" charset="0"/>
                <a:ea typeface="黑体" panose="02010609060101010101" pitchFamily="49" charset="-122"/>
                <a:sym typeface="+mn-ea"/>
              </a:rPr>
              <a:t>-1</a:t>
            </a:r>
            <a:r>
              <a:rPr lang="en-US" altLang="zh-CN" sz="2400" b="1">
                <a:solidFill>
                  <a:srgbClr val="000000"/>
                </a:solidFill>
                <a:latin typeface="Times New Roman" panose="02020603050405020304" pitchFamily="18" charset="0"/>
                <a:ea typeface="黑体" panose="02010609060101010101" pitchFamily="49" charset="-122"/>
                <a:sym typeface="+mn-ea"/>
              </a:rPr>
              <a:t>, </a:t>
            </a:r>
            <a:r>
              <a:rPr lang="en-US" altLang="zh-CN" sz="2400" b="1" i="1">
                <a:solidFill>
                  <a:srgbClr val="000000"/>
                </a:solidFill>
                <a:latin typeface="Times New Roman" panose="02020603050405020304" pitchFamily="18" charset="0"/>
                <a:ea typeface="黑体" panose="02010609060101010101" pitchFamily="49" charset="-122"/>
                <a:sym typeface="+mn-ea"/>
              </a:rPr>
              <a:t>v</a:t>
            </a:r>
            <a:r>
              <a:rPr lang="en-US" altLang="zh-CN" sz="2400" b="1"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1" baseline="-25000">
                <a:solidFill>
                  <a:srgbClr val="000000"/>
                </a:solidFill>
                <a:latin typeface="Times New Roman" panose="02020603050405020304" pitchFamily="18" charset="0"/>
                <a:ea typeface="黑体" panose="02010609060101010101" pitchFamily="49" charset="-122"/>
                <a:sym typeface="+mn-ea"/>
              </a:rPr>
              <a:t>-2</a:t>
            </a:r>
            <a:r>
              <a:rPr lang="en-US" altLang="zh-CN" sz="2400" b="1">
                <a:solidFill>
                  <a:srgbClr val="000000"/>
                </a:solidFill>
                <a:latin typeface="Times New Roman" panose="02020603050405020304" pitchFamily="18" charset="0"/>
                <a:ea typeface="黑体" panose="02010609060101010101" pitchFamily="49" charset="-122"/>
                <a:sym typeface="+mn-ea"/>
              </a:rPr>
              <a:t>, … , </a:t>
            </a:r>
            <a:r>
              <a:rPr lang="en-US" altLang="zh-CN" sz="2400" b="1" i="1">
                <a:solidFill>
                  <a:srgbClr val="000000"/>
                </a:solidFill>
                <a:latin typeface="Times New Roman" panose="02020603050405020304" pitchFamily="18" charset="0"/>
                <a:ea typeface="黑体" panose="02010609060101010101" pitchFamily="49" charset="-122"/>
                <a:sym typeface="+mn-ea"/>
              </a:rPr>
              <a:t>v</a:t>
            </a:r>
            <a:r>
              <a:rPr lang="en-US" altLang="zh-CN" sz="2400" b="1" baseline="-25000">
                <a:solidFill>
                  <a:srgbClr val="000000"/>
                </a:solidFill>
                <a:latin typeface="Times New Roman" panose="02020603050405020304" pitchFamily="18" charset="0"/>
                <a:ea typeface="黑体" panose="02010609060101010101" pitchFamily="49" charset="-122"/>
                <a:sym typeface="+mn-ea"/>
              </a:rPr>
              <a:t>1</a:t>
            </a:r>
            <a:r>
              <a:rPr lang="en-US" altLang="zh-CN" sz="2400" b="1">
                <a:solidFill>
                  <a:srgbClr val="000000"/>
                </a:solidFill>
                <a:latin typeface="Times New Roman" panose="02020603050405020304" pitchFamily="18" charset="0"/>
                <a:ea typeface="黑体" panose="02010609060101010101" pitchFamily="49" charset="-122"/>
                <a:sym typeface="+mn-ea"/>
              </a:rPr>
              <a:t>, </a:t>
            </a:r>
            <a:r>
              <a:rPr lang="en-US" altLang="zh-CN" sz="2400" b="1" i="1">
                <a:solidFill>
                  <a:srgbClr val="000000"/>
                </a:solidFill>
                <a:latin typeface="Times New Roman" panose="02020603050405020304" pitchFamily="18" charset="0"/>
                <a:ea typeface="黑体" panose="02010609060101010101" pitchFamily="49" charset="-122"/>
                <a:sym typeface="+mn-ea"/>
              </a:rPr>
              <a:t>v</a:t>
            </a:r>
            <a:r>
              <a:rPr lang="en-US" altLang="zh-CN" sz="2400" b="1" baseline="-25000">
                <a:solidFill>
                  <a:srgbClr val="000000"/>
                </a:solidFill>
                <a:latin typeface="Times New Roman" panose="02020603050405020304" pitchFamily="18" charset="0"/>
                <a:ea typeface="黑体" panose="02010609060101010101" pitchFamily="49" charset="-122"/>
                <a:sym typeface="+mn-ea"/>
              </a:rPr>
              <a:t>0</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的各个分量看成是多项式</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7" name="文本框 6"/>
          <p:cNvSpPr txBox="1"/>
          <p:nvPr/>
        </p:nvSpPr>
        <p:spPr>
          <a:xfrm>
            <a:off x="1858646" y="3559176"/>
            <a:ext cx="8564245" cy="936347"/>
          </a:xfrm>
          <a:prstGeom prst="rect">
            <a:avLst/>
          </a:prstGeom>
          <a:noFill/>
        </p:spPr>
        <p:txBody>
          <a:bodyPr wrap="square" rtlCol="0" anchor="t">
            <a:spAutoFit/>
          </a:bodyPr>
          <a:lstStyle/>
          <a:p>
            <a:pPr indent="609600" eaLnBrk="0" fontAlgn="base" hangingPunct="0">
              <a:lnSpc>
                <a:spcPct val="12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黑体" panose="02010609060101010101" pitchFamily="49" charset="-122"/>
                <a:ea typeface="黑体" panose="02010609060101010101" pitchFamily="49" charset="-122"/>
                <a:sym typeface="+mn-ea"/>
              </a:rPr>
              <a:t>对应于码矢</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baseline="300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i</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 ,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 ,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的码字多项式为</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i</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i</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r>
              <a:rPr lang="en-US" altLang="zh-CN" sz="2400" baseline="30000">
                <a:solidFill>
                  <a:srgbClr val="000000"/>
                </a:solidFill>
                <a:latin typeface="Times New Roman" panose="02020603050405020304" pitchFamily="18" charset="0"/>
                <a:ea typeface="黑体" panose="02010609060101010101" pitchFamily="49" charset="-122"/>
                <a:sym typeface="+mn-ea"/>
              </a:rPr>
              <a:t> </a:t>
            </a:r>
            <a:endParaRPr lang="en-US" altLang="zh-CN" sz="2400" dirty="0">
              <a:solidFill>
                <a:srgbClr val="000000"/>
              </a:solidFill>
              <a:latin typeface="Times New Roman" panose="02020603050405020304" pitchFamily="18" charset="0"/>
              <a:ea typeface="黑体" panose="02010609060101010101" pitchFamily="49" charset="-122"/>
              <a:sym typeface="+mn-ea"/>
            </a:endParaRPr>
          </a:p>
        </p:txBody>
      </p:sp>
      <p:sp>
        <p:nvSpPr>
          <p:cNvPr id="9" name="矩形 8"/>
          <p:cNvSpPr/>
          <p:nvPr/>
        </p:nvSpPr>
        <p:spPr>
          <a:xfrm>
            <a:off x="2997201" y="4711066"/>
            <a:ext cx="6450965" cy="81343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8" name="文本框 7"/>
          <p:cNvSpPr txBox="1"/>
          <p:nvPr/>
        </p:nvSpPr>
        <p:spPr>
          <a:xfrm>
            <a:off x="3254376" y="4831080"/>
            <a:ext cx="6193155" cy="493148"/>
          </a:xfrm>
          <a:prstGeom prst="rect">
            <a:avLst/>
          </a:prstGeom>
          <a:noFill/>
        </p:spPr>
        <p:txBody>
          <a:bodyPr wrap="square" rtlCol="0" anchor="t">
            <a:spAutoFit/>
          </a:bodyPr>
          <a:lstStyle/>
          <a:p>
            <a:pPr algn="just" eaLnBrk="0" fontAlgn="base" hangingPunct="0">
              <a:lnSpc>
                <a:spcPct val="120000"/>
              </a:lnSpc>
              <a:spcAft>
                <a:spcPct val="0"/>
              </a:spcAft>
              <a:buClr>
                <a:srgbClr val="CCCCFF"/>
              </a:buClr>
              <a:buSzPct val="65000"/>
            </a:pPr>
            <a:r>
              <a:rPr lang="zh-CN" altLang="en-US" sz="2400" b="1" dirty="0">
                <a:solidFill>
                  <a:srgbClr val="000000"/>
                </a:solidFill>
                <a:latin typeface="黑体" panose="02010609060101010101" pitchFamily="49" charset="-122"/>
                <a:ea typeface="黑体" panose="02010609060101010101" pitchFamily="49" charset="-122"/>
                <a:sym typeface="+mn-ea"/>
              </a:rPr>
              <a:t>码字多项式</a:t>
            </a:r>
            <a:r>
              <a:rPr lang="en-US" altLang="zh-CN" sz="2400" b="1" i="1" err="1">
                <a:solidFill>
                  <a:srgbClr val="000000"/>
                </a:solidFill>
                <a:latin typeface="Times New Roman" panose="02020603050405020304" pitchFamily="18" charset="0"/>
                <a:ea typeface="黑体" panose="02010609060101010101" pitchFamily="49" charset="-122"/>
                <a:sym typeface="+mn-ea"/>
              </a:rPr>
              <a:t>v</a:t>
            </a:r>
            <a:r>
              <a:rPr lang="en-US" altLang="zh-CN" sz="2400" b="1"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b="1" i="1" baseline="30000" err="1">
                <a:solidFill>
                  <a:srgbClr val="000000"/>
                </a:solidFill>
                <a:latin typeface="Times New Roman" panose="02020603050405020304" pitchFamily="18" charset="0"/>
                <a:ea typeface="黑体" panose="02010609060101010101" pitchFamily="49" charset="-122"/>
                <a:sym typeface="+mn-ea"/>
              </a:rPr>
              <a:t>i</a:t>
            </a:r>
            <a:r>
              <a:rPr lang="en-US" altLang="zh-CN" sz="2400" b="1"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Times New Roman" panose="02020603050405020304" pitchFamily="18" charset="0"/>
                <a:ea typeface="黑体" panose="02010609060101010101" pitchFamily="49" charset="-122"/>
                <a:sym typeface="+mn-ea"/>
              </a:rPr>
              <a:t>就是</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1" i="1">
                <a:solidFill>
                  <a:srgbClr val="000000"/>
                </a:solidFill>
                <a:latin typeface="Times New Roman" panose="02020603050405020304" pitchFamily="18" charset="0"/>
                <a:ea typeface="黑体" panose="02010609060101010101" pitchFamily="49" charset="-122"/>
                <a:sym typeface="+mn-ea"/>
              </a:rPr>
              <a:t>v</a:t>
            </a:r>
            <a:r>
              <a:rPr lang="en-US" altLang="zh-CN" sz="2400" b="1" baseline="30000">
                <a:solidFill>
                  <a:srgbClr val="000000"/>
                </a:solidFill>
                <a:latin typeface="Times New Roman" panose="02020603050405020304" pitchFamily="18" charset="0"/>
                <a:ea typeface="黑体" panose="02010609060101010101" pitchFamily="49" charset="-122"/>
                <a:sym typeface="+mn-ea"/>
              </a:rPr>
              <a:t>(0)</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1">
                <a:solidFill>
                  <a:srgbClr val="000000"/>
                </a:solidFill>
                <a:latin typeface="Times New Roman" panose="02020603050405020304" pitchFamily="18" charset="0"/>
                <a:ea typeface="黑体" panose="02010609060101010101" pitchFamily="49" charset="-122"/>
                <a:sym typeface="+mn-ea"/>
              </a:rPr>
              <a:t>+1)</a:t>
            </a:r>
            <a:r>
              <a:rPr lang="zh-CN" altLang="en-US" sz="2400" b="1" dirty="0">
                <a:solidFill>
                  <a:srgbClr val="000000"/>
                </a:solidFill>
                <a:latin typeface="Times New Roman" panose="02020603050405020304" pitchFamily="18" charset="0"/>
                <a:ea typeface="黑体" panose="02010609060101010101" pitchFamily="49" charset="-122"/>
                <a:sym typeface="+mn-ea"/>
              </a:rPr>
              <a:t>的余式。</a:t>
            </a:r>
            <a:endPar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3" name="对象 2">
            <a:hlinkClick r:id="" action="ppaction://ole?verb=0"/>
          </p:cNvPr>
          <p:cNvGraphicFramePr>
            <a:graphicFrameLocks noChangeAspect="1"/>
          </p:cNvGraphicFramePr>
          <p:nvPr/>
        </p:nvGraphicFramePr>
        <p:xfrm>
          <a:off x="4044950" y="1981200"/>
          <a:ext cx="4316730" cy="847090"/>
        </p:xfrm>
        <a:graphic>
          <a:graphicData uri="http://schemas.openxmlformats.org/presentationml/2006/ole">
            <mc:AlternateContent xmlns:mc="http://schemas.openxmlformats.org/markup-compatibility/2006">
              <mc:Choice xmlns:v="urn:schemas-microsoft-com:vml" Requires="v">
                <p:oleObj r:id="rId2" imgW="2234565" imgH="431800" progId="Equation.KSEE3">
                  <p:embed/>
                </p:oleObj>
              </mc:Choice>
              <mc:Fallback>
                <p:oleObj r:id="rId2" imgW="2234565" imgH="431800" progId="Equation.KSEE3">
                  <p:embed/>
                  <p:pic>
                    <p:nvPicPr>
                      <p:cNvPr id="3" name="对象 2">
                        <a:hlinkClick r:id="" action="ppaction://ole?verb=0"/>
                      </p:cNvPr>
                      <p:cNvPicPr/>
                      <p:nvPr/>
                    </p:nvPicPr>
                    <p:blipFill>
                      <a:blip r:embed="rId3"/>
                      <a:stretch>
                        <a:fillRect/>
                      </a:stretch>
                    </p:blipFill>
                    <p:spPr>
                      <a:xfrm>
                        <a:off x="4044950" y="1981200"/>
                        <a:ext cx="4316730" cy="847090"/>
                      </a:xfrm>
                      <a:prstGeom prst="rect">
                        <a:avLst/>
                      </a:prstGeom>
                    </p:spPr>
                  </p:pic>
                </p:oleObj>
              </mc:Fallback>
            </mc:AlternateContent>
          </a:graphicData>
        </a:graphic>
      </p:graphicFrame>
      <p:sp>
        <p:nvSpPr>
          <p:cNvPr id="10" name="文本框 9"/>
          <p:cNvSpPr txBox="1"/>
          <p:nvPr/>
        </p:nvSpPr>
        <p:spPr>
          <a:xfrm>
            <a:off x="1821816" y="2802890"/>
            <a:ext cx="5628005" cy="493148"/>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b="1" dirty="0">
                <a:solidFill>
                  <a:srgbClr val="000000"/>
                </a:solidFill>
                <a:latin typeface="黑体" panose="02010609060101010101" pitchFamily="49" charset="-122"/>
                <a:ea typeface="黑体" panose="02010609060101010101" pitchFamily="49" charset="-122"/>
                <a:sym typeface="+mn-ea"/>
              </a:rPr>
              <a:t>的系数，此多项式称为</a:t>
            </a:r>
            <a:r>
              <a:rPr lang="en-US" altLang="zh-CN" sz="2400" b="1" i="1">
                <a:solidFill>
                  <a:srgbClr val="000000"/>
                </a:solidFill>
                <a:latin typeface="Times New Roman" panose="02020603050405020304" pitchFamily="18" charset="0"/>
                <a:ea typeface="黑体" panose="02010609060101010101" pitchFamily="49" charset="-122"/>
                <a:sym typeface="+mn-ea"/>
              </a:rPr>
              <a:t>v</a:t>
            </a:r>
            <a:r>
              <a:rPr lang="zh-CN" altLang="en-US" sz="2400" b="1" dirty="0">
                <a:solidFill>
                  <a:srgbClr val="000000"/>
                </a:solidFill>
                <a:latin typeface="黑体" panose="02010609060101010101" pitchFamily="49" charset="-122"/>
                <a:ea typeface="黑体" panose="02010609060101010101" pitchFamily="49" charset="-122"/>
                <a:sym typeface="+mn-ea"/>
              </a:rPr>
              <a:t>的码字多项式。</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14" name="矩形 13"/>
          <p:cNvSpPr/>
          <p:nvPr/>
        </p:nvSpPr>
        <p:spPr>
          <a:xfrm>
            <a:off x="4197351" y="5786755"/>
            <a:ext cx="4187825" cy="57023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5" name="文本框 14"/>
          <p:cNvSpPr txBox="1"/>
          <p:nvPr/>
        </p:nvSpPr>
        <p:spPr>
          <a:xfrm>
            <a:off x="4360545" y="5813426"/>
            <a:ext cx="3907790" cy="426335"/>
          </a:xfrm>
          <a:prstGeom prst="rect">
            <a:avLst/>
          </a:prstGeom>
          <a:noFill/>
        </p:spPr>
        <p:txBody>
          <a:bodyPr wrap="square" rtlCol="0" anchor="t">
            <a:spAutoFit/>
          </a:bodyPr>
          <a:lstStyle/>
          <a:p>
            <a:pPr algn="just" eaLnBrk="0" fontAlgn="base" hangingPunct="0">
              <a:lnSpc>
                <a:spcPct val="120000"/>
              </a:lnSpc>
              <a:spcAft>
                <a:spcPct val="0"/>
              </a:spcAft>
              <a:buClr>
                <a:srgbClr val="CCCCFF"/>
              </a:buClr>
              <a:buSzPct val="65000"/>
            </a:pPr>
            <a:r>
              <a:rPr sz="2000" b="1">
                <a:solidFill>
                  <a:srgbClr val="FF0000"/>
                </a:solidFill>
                <a:latin typeface="楷体" panose="02010609060101010101" charset="-122"/>
                <a:ea typeface="楷体" panose="02010609060101010101" charset="-122"/>
              </a:rPr>
              <a:t>思考题：</a:t>
            </a:r>
            <a:r>
              <a:rPr lang="zh-CN" altLang="en-US" sz="2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循环码有哪些代数性质</a:t>
            </a:r>
            <a:r>
              <a:rPr lang="en-US" sz="2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循环码的代数性质</a:t>
            </a:r>
          </a:p>
        </p:txBody>
      </p:sp>
      <p:sp>
        <p:nvSpPr>
          <p:cNvPr id="10" name="矩形 9"/>
          <p:cNvSpPr/>
          <p:nvPr/>
        </p:nvSpPr>
        <p:spPr>
          <a:xfrm>
            <a:off x="1873885" y="1115060"/>
            <a:ext cx="8488680" cy="86995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文本框 8"/>
          <p:cNvSpPr txBox="1"/>
          <p:nvPr/>
        </p:nvSpPr>
        <p:spPr>
          <a:xfrm>
            <a:off x="2212341" y="1243330"/>
            <a:ext cx="8063865" cy="493148"/>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FF0000"/>
                </a:solidFill>
                <a:latin typeface="Times New Roman" panose="02020603050405020304" pitchFamily="18" charset="0"/>
                <a:ea typeface="黑体" panose="02010609060101010101" pitchFamily="49" charset="-122"/>
                <a:sym typeface="+mn-ea"/>
              </a:rPr>
              <a:t>1</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循环码</a:t>
            </a:r>
            <a:r>
              <a:rPr lang="en-US" altLang="zh-CN" sz="2400" b="1" i="1">
                <a:solidFill>
                  <a:srgbClr val="000000"/>
                </a:solidFill>
                <a:latin typeface="Times New Roman" panose="02020603050405020304" pitchFamily="18" charset="0"/>
                <a:ea typeface="黑体" panose="02010609060101010101" pitchFamily="49" charset="-122"/>
                <a:sym typeface="+mn-ea"/>
              </a:rPr>
              <a:t>C</a:t>
            </a:r>
            <a:r>
              <a:rPr lang="zh-CN" altLang="en-US" sz="2400" b="1" dirty="0">
                <a:solidFill>
                  <a:srgbClr val="000000"/>
                </a:solidFill>
                <a:latin typeface="黑体" panose="02010609060101010101" pitchFamily="49" charset="-122"/>
                <a:ea typeface="黑体" panose="02010609060101010101" pitchFamily="49" charset="-122"/>
                <a:sym typeface="+mn-ea"/>
              </a:rPr>
              <a:t>中次数最低的非零码字多项式是唯一的。</a:t>
            </a:r>
          </a:p>
        </p:txBody>
      </p:sp>
      <p:sp>
        <p:nvSpPr>
          <p:cNvPr id="7" name="文本框 6"/>
          <p:cNvSpPr txBox="1"/>
          <p:nvPr/>
        </p:nvSpPr>
        <p:spPr>
          <a:xfrm>
            <a:off x="1913890" y="2123440"/>
            <a:ext cx="8540750" cy="3784600"/>
          </a:xfrm>
          <a:prstGeom prst="rect">
            <a:avLst/>
          </a:prstGeom>
          <a:noFill/>
        </p:spPr>
        <p:txBody>
          <a:bodyPr wrap="square" rtlCol="0" anchor="t">
            <a:spAutoFit/>
          </a:bodyPr>
          <a:lstStyle/>
          <a:p>
            <a:pPr eaLnBrk="0" fontAlgn="base" hangingPunct="0">
              <a:lnSpc>
                <a:spcPct val="200000"/>
              </a:lnSpc>
              <a:spcBef>
                <a:spcPct val="0"/>
              </a:spcBef>
              <a:spcAft>
                <a:spcPct val="0"/>
              </a:spcAft>
            </a:pPr>
            <a:r>
              <a:rPr lang="zh-CN" altLang="en-US" sz="2400" b="1" dirty="0">
                <a:solidFill>
                  <a:srgbClr val="00B050"/>
                </a:solidFill>
                <a:latin typeface="黑体" panose="02010609060101010101" pitchFamily="49" charset="-122"/>
                <a:ea typeface="黑体" panose="02010609060101010101" pitchFamily="49" charset="-122"/>
                <a:sym typeface="+mn-ea"/>
              </a:rPr>
              <a:t>证明：</a:t>
            </a:r>
            <a:r>
              <a:rPr lang="zh-CN" altLang="en-US" sz="2400" dirty="0">
                <a:solidFill>
                  <a:srgbClr val="000000"/>
                </a:solidFill>
                <a:latin typeface="黑体" panose="02010609060101010101" pitchFamily="49" charset="-122"/>
                <a:ea typeface="黑体" panose="02010609060101010101" pitchFamily="49" charset="-122"/>
                <a:sym typeface="+mn-ea"/>
              </a:rPr>
              <a:t>令           </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是</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中次数最低的码字多项式，若</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不唯一，则存在另一个码字多项式           </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，由线性性质可知，</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也是一个码字多项式，但它的次数小于</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zh-CN" altLang="en-US" sz="2400" dirty="0">
                <a:solidFill>
                  <a:srgbClr val="000000"/>
                </a:solidFill>
                <a:latin typeface="黑体" panose="02010609060101010101" pitchFamily="49" charset="-122"/>
                <a:ea typeface="黑体" panose="02010609060101010101" pitchFamily="49" charset="-122"/>
                <a:sym typeface="+mn-ea"/>
              </a:rPr>
              <a:t>，和前提矛盾，因此，循环码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中次数最低的非零码字多项式是唯一的。证毕。</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0"/>
          </p:cNvPr>
          <p:cNvGraphicFramePr>
            <a:graphicFrameLocks noChangeAspect="1"/>
          </p:cNvGraphicFramePr>
          <p:nvPr/>
        </p:nvGraphicFramePr>
        <p:xfrm>
          <a:off x="3276600" y="2208530"/>
          <a:ext cx="2396490" cy="847090"/>
        </p:xfrm>
        <a:graphic>
          <a:graphicData uri="http://schemas.openxmlformats.org/presentationml/2006/ole">
            <mc:AlternateContent xmlns:mc="http://schemas.openxmlformats.org/markup-compatibility/2006">
              <mc:Choice xmlns:v="urn:schemas-microsoft-com:vml" Requires="v">
                <p:oleObj r:id="rId2" imgW="1308100" imgH="431800" progId="Equation.KSEE3">
                  <p:embed/>
                </p:oleObj>
              </mc:Choice>
              <mc:Fallback>
                <p:oleObj r:id="rId2" imgW="1308100" imgH="431800" progId="Equation.KSEE3">
                  <p:embed/>
                  <p:pic>
                    <p:nvPicPr>
                      <p:cNvPr id="11" name="对象 10">
                        <a:hlinkClick r:id="" action="ppaction://ole?verb=0"/>
                      </p:cNvPr>
                      <p:cNvPicPr/>
                      <p:nvPr/>
                    </p:nvPicPr>
                    <p:blipFill>
                      <a:blip r:embed="rId3"/>
                      <a:stretch>
                        <a:fillRect/>
                      </a:stretch>
                    </p:blipFill>
                    <p:spPr>
                      <a:xfrm>
                        <a:off x="3276600" y="2208530"/>
                        <a:ext cx="2396490" cy="847090"/>
                      </a:xfrm>
                      <a:prstGeom prst="rect">
                        <a:avLst/>
                      </a:prstGeom>
                    </p:spPr>
                  </p:pic>
                </p:oleObj>
              </mc:Fallback>
            </mc:AlternateContent>
          </a:graphicData>
        </a:graphic>
      </p:graphicFrame>
      <p:graphicFrame>
        <p:nvGraphicFramePr>
          <p:cNvPr id="14" name="对象 13">
            <a:hlinkClick r:id="" action="ppaction://ole?verb=0"/>
          </p:cNvPr>
          <p:cNvGraphicFramePr>
            <a:graphicFrameLocks noChangeAspect="1"/>
          </p:cNvGraphicFramePr>
          <p:nvPr/>
        </p:nvGraphicFramePr>
        <p:xfrm>
          <a:off x="7162484" y="2970530"/>
          <a:ext cx="2629535" cy="847090"/>
        </p:xfrm>
        <a:graphic>
          <a:graphicData uri="http://schemas.openxmlformats.org/presentationml/2006/ole">
            <mc:AlternateContent xmlns:mc="http://schemas.openxmlformats.org/markup-compatibility/2006">
              <mc:Choice xmlns:v="urn:schemas-microsoft-com:vml" Requires="v">
                <p:oleObj r:id="rId4" imgW="1435100" imgH="431800" progId="Equation.KSEE3">
                  <p:embed/>
                </p:oleObj>
              </mc:Choice>
              <mc:Fallback>
                <p:oleObj r:id="rId4" imgW="1435100" imgH="431800" progId="Equation.KSEE3">
                  <p:embed/>
                  <p:pic>
                    <p:nvPicPr>
                      <p:cNvPr id="14" name="对象 13">
                        <a:hlinkClick r:id="" action="ppaction://ole?verb=0"/>
                      </p:cNvPr>
                      <p:cNvPicPr/>
                      <p:nvPr/>
                    </p:nvPicPr>
                    <p:blipFill>
                      <a:blip r:embed="rId5"/>
                      <a:stretch>
                        <a:fillRect/>
                      </a:stretch>
                    </p:blipFill>
                    <p:spPr>
                      <a:xfrm>
                        <a:off x="7162484" y="2970530"/>
                        <a:ext cx="2629535" cy="847090"/>
                      </a:xfrm>
                      <a:prstGeom prst="rect">
                        <a:avLst/>
                      </a:prstGeom>
                    </p:spPr>
                  </p:pic>
                </p:oleObj>
              </mc:Fallback>
            </mc:AlternateContent>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循环码的代数性质</a:t>
            </a:r>
          </a:p>
        </p:txBody>
      </p:sp>
      <p:sp>
        <p:nvSpPr>
          <p:cNvPr id="10" name="矩形 9"/>
          <p:cNvSpPr/>
          <p:nvPr/>
        </p:nvSpPr>
        <p:spPr>
          <a:xfrm>
            <a:off x="1949450" y="1039496"/>
            <a:ext cx="8242300" cy="106743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文本框 8"/>
          <p:cNvSpPr txBox="1"/>
          <p:nvPr/>
        </p:nvSpPr>
        <p:spPr>
          <a:xfrm>
            <a:off x="2098675" y="1092201"/>
            <a:ext cx="8139430" cy="936347"/>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FF0000"/>
                </a:solidFill>
                <a:latin typeface="Times New Roman" panose="02020603050405020304" pitchFamily="18" charset="0"/>
                <a:ea typeface="黑体" panose="02010609060101010101" pitchFamily="49" charset="-122"/>
                <a:sym typeface="+mn-ea"/>
              </a:rPr>
              <a:t>2</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若</a:t>
            </a:r>
            <a:r>
              <a:rPr lang="en-US" altLang="zh-CN" sz="2400" b="1" i="1" err="1">
                <a:solidFill>
                  <a:srgbClr val="000000"/>
                </a:solidFill>
                <a:latin typeface="Times New Roman" panose="02020603050405020304" pitchFamily="18" charset="0"/>
                <a:ea typeface="黑体" panose="02010609060101010101" pitchFamily="49" charset="-122"/>
                <a:sym typeface="+mn-ea"/>
              </a:rPr>
              <a:t>g</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i="1" baseline="30000">
                <a:solidFill>
                  <a:srgbClr val="000000"/>
                </a:solidFill>
                <a:latin typeface="Times New Roman" panose="02020603050405020304" pitchFamily="18" charset="0"/>
                <a:ea typeface="黑体" panose="02010609060101010101" pitchFamily="49" charset="-122"/>
                <a:sym typeface="+mn-ea"/>
              </a:rPr>
              <a:t>r</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g</a:t>
            </a:r>
            <a:r>
              <a:rPr lang="en-US" altLang="zh-CN" sz="2400" b="1" i="1" baseline="-25000">
                <a:solidFill>
                  <a:srgbClr val="000000"/>
                </a:solidFill>
                <a:latin typeface="Times New Roman" panose="02020603050405020304" pitchFamily="18" charset="0"/>
                <a:ea typeface="黑体" panose="02010609060101010101" pitchFamily="49" charset="-122"/>
                <a:sym typeface="+mn-ea"/>
              </a:rPr>
              <a:t>r-</a:t>
            </a:r>
            <a:r>
              <a:rPr lang="en-US" altLang="zh-CN" sz="2400" b="1" baseline="-25000">
                <a:solidFill>
                  <a:srgbClr val="000000"/>
                </a:solidFill>
                <a:latin typeface="Times New Roman" panose="02020603050405020304" pitchFamily="18" charset="0"/>
                <a:ea typeface="黑体" panose="02010609060101010101" pitchFamily="49" charset="-122"/>
                <a:sym typeface="+mn-ea"/>
              </a:rPr>
              <a:t>1</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i="1" baseline="30000">
                <a:solidFill>
                  <a:srgbClr val="000000"/>
                </a:solidFill>
                <a:latin typeface="Times New Roman" panose="02020603050405020304" pitchFamily="18" charset="0"/>
                <a:ea typeface="黑体" panose="02010609060101010101" pitchFamily="49" charset="-122"/>
                <a:sym typeface="+mn-ea"/>
              </a:rPr>
              <a:t>r-</a:t>
            </a:r>
            <a:r>
              <a:rPr lang="en-US" altLang="zh-CN" sz="2400" b="1" baseline="30000">
                <a:solidFill>
                  <a:srgbClr val="000000"/>
                </a:solidFill>
                <a:latin typeface="Times New Roman" panose="02020603050405020304" pitchFamily="18" charset="0"/>
                <a:ea typeface="黑体" panose="02010609060101010101" pitchFamily="49" charset="-122"/>
                <a:sym typeface="+mn-ea"/>
              </a:rPr>
              <a:t>1</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g</a:t>
            </a:r>
            <a:r>
              <a:rPr lang="en-US" altLang="zh-CN" sz="2400" b="1" baseline="-25000">
                <a:solidFill>
                  <a:srgbClr val="000000"/>
                </a:solidFill>
                <a:latin typeface="Times New Roman" panose="02020603050405020304" pitchFamily="18" charset="0"/>
                <a:ea typeface="黑体" panose="02010609060101010101" pitchFamily="49" charset="-122"/>
                <a:sym typeface="+mn-ea"/>
              </a:rPr>
              <a:t>1</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g</a:t>
            </a:r>
            <a:r>
              <a:rPr lang="en-US" altLang="zh-CN" sz="2400" b="1" baseline="-25000">
                <a:solidFill>
                  <a:srgbClr val="000000"/>
                </a:solidFill>
                <a:latin typeface="Times New Roman" panose="02020603050405020304" pitchFamily="18" charset="0"/>
                <a:ea typeface="黑体" panose="02010609060101010101" pitchFamily="49" charset="-122"/>
                <a:sym typeface="+mn-ea"/>
              </a:rPr>
              <a:t>0</a:t>
            </a:r>
            <a:r>
              <a:rPr lang="zh-CN" altLang="en-US" sz="2400" b="1" dirty="0">
                <a:solidFill>
                  <a:srgbClr val="000000"/>
                </a:solidFill>
                <a:latin typeface="黑体" panose="02010609060101010101" pitchFamily="49" charset="-122"/>
                <a:ea typeface="黑体" panose="02010609060101010101" pitchFamily="49" charset="-122"/>
                <a:sym typeface="+mn-ea"/>
              </a:rPr>
              <a:t>是</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n</a:t>
            </a:r>
            <a:r>
              <a:rPr lang="en-US" altLang="zh-CN" sz="2400" b="1" err="1">
                <a:solidFill>
                  <a:srgbClr val="000000"/>
                </a:solidFill>
                <a:latin typeface="Times New Roman" panose="02020603050405020304" pitchFamily="18" charset="0"/>
                <a:ea typeface="黑体" panose="02010609060101010101" pitchFamily="49" charset="-122"/>
                <a:sym typeface="+mn-ea"/>
              </a:rPr>
              <a:t>, </a:t>
            </a:r>
            <a:r>
              <a:rPr lang="en-US" altLang="zh-CN" sz="2400" b="1" i="1" err="1">
                <a:solidFill>
                  <a:srgbClr val="000000"/>
                </a:solidFill>
                <a:latin typeface="Times New Roman" panose="02020603050405020304" pitchFamily="18" charset="0"/>
                <a:ea typeface="黑体" panose="02010609060101010101" pitchFamily="49" charset="-122"/>
                <a:sym typeface="+mn-ea"/>
              </a:rPr>
              <a:t>k</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循环码</a:t>
            </a:r>
            <a:r>
              <a:rPr lang="en-US" altLang="zh-CN" sz="2400" b="1" i="1">
                <a:solidFill>
                  <a:srgbClr val="000000"/>
                </a:solidFill>
                <a:latin typeface="Times New Roman" panose="02020603050405020304" pitchFamily="18" charset="0"/>
                <a:ea typeface="黑体" panose="02010609060101010101" pitchFamily="49" charset="-122"/>
                <a:sym typeface="+mn-ea"/>
              </a:rPr>
              <a:t>C</a:t>
            </a:r>
            <a:r>
              <a:rPr lang="zh-CN" altLang="en-US" sz="2400" b="1" dirty="0">
                <a:solidFill>
                  <a:srgbClr val="000000"/>
                </a:solidFill>
                <a:latin typeface="黑体" panose="02010609060101010101" pitchFamily="49" charset="-122"/>
                <a:ea typeface="黑体" panose="02010609060101010101" pitchFamily="49" charset="-122"/>
                <a:sym typeface="+mn-ea"/>
              </a:rPr>
              <a:t>中次数最低的非零码字多项式</a:t>
            </a:r>
            <a:r>
              <a:rPr lang="en-US" altLang="zh-CN" sz="2400" b="1" err="1">
                <a:solidFill>
                  <a:srgbClr val="000000"/>
                </a:solidFill>
                <a:latin typeface="Times New Roman" panose="02020603050405020304" pitchFamily="18" charset="0"/>
                <a:ea typeface="黑体" panose="02010609060101010101" pitchFamily="49" charset="-122"/>
                <a:sym typeface="+mn-ea"/>
              </a:rPr>
              <a:t>, </a:t>
            </a:r>
            <a:r>
              <a:rPr lang="zh-CN" altLang="en-US" sz="2400" b="1" dirty="0">
                <a:solidFill>
                  <a:srgbClr val="000000"/>
                </a:solidFill>
                <a:latin typeface="黑体" panose="02010609060101010101" pitchFamily="49" charset="-122"/>
                <a:ea typeface="黑体" panose="02010609060101010101" pitchFamily="49" charset="-122"/>
                <a:sym typeface="+mn-ea"/>
              </a:rPr>
              <a:t>则必有</a:t>
            </a:r>
            <a:r>
              <a:rPr lang="en-US" altLang="zh-CN" sz="2400" b="1" i="1">
                <a:solidFill>
                  <a:srgbClr val="000000"/>
                </a:solidFill>
                <a:latin typeface="Times New Roman" panose="02020603050405020304" pitchFamily="18" charset="0"/>
                <a:ea typeface="黑体" panose="02010609060101010101" pitchFamily="49" charset="-122"/>
                <a:sym typeface="+mn-ea"/>
              </a:rPr>
              <a:t>g</a:t>
            </a:r>
            <a:r>
              <a:rPr lang="en-US" altLang="zh-CN" sz="2400" b="1" baseline="-25000">
                <a:solidFill>
                  <a:srgbClr val="000000"/>
                </a:solidFill>
                <a:latin typeface="Times New Roman" panose="02020603050405020304" pitchFamily="18" charset="0"/>
                <a:ea typeface="黑体" panose="02010609060101010101" pitchFamily="49" charset="-122"/>
                <a:sym typeface="+mn-ea"/>
              </a:rPr>
              <a:t>0</a:t>
            </a:r>
            <a:r>
              <a:rPr lang="en-US" altLang="zh-CN" sz="2400" b="1">
                <a:solidFill>
                  <a:srgbClr val="000000"/>
                </a:solidFill>
                <a:latin typeface="Times New Roman" panose="02020603050405020304" pitchFamily="18" charset="0"/>
                <a:ea typeface="黑体" panose="02010609060101010101" pitchFamily="49" charset="-122"/>
                <a:sym typeface="+mn-ea"/>
              </a:rPr>
              <a:t>=1</a:t>
            </a:r>
            <a:r>
              <a:rPr lang="zh-CN" altLang="en-US" sz="2400" b="1" dirty="0">
                <a:solidFill>
                  <a:srgbClr val="000000"/>
                </a:solidFill>
                <a:latin typeface="黑体" panose="02010609060101010101" pitchFamily="49" charset="-122"/>
                <a:ea typeface="黑体" panose="02010609060101010101" pitchFamily="49" charset="-122"/>
                <a:sym typeface="+mn-ea"/>
              </a:rPr>
              <a:t>。</a:t>
            </a:r>
          </a:p>
        </p:txBody>
      </p:sp>
      <p:sp>
        <p:nvSpPr>
          <p:cNvPr id="7" name="文本框 6"/>
          <p:cNvSpPr txBox="1"/>
          <p:nvPr/>
        </p:nvSpPr>
        <p:spPr>
          <a:xfrm>
            <a:off x="1989456" y="2274570"/>
            <a:ext cx="8352155" cy="3784600"/>
          </a:xfrm>
          <a:prstGeom prst="rect">
            <a:avLst/>
          </a:prstGeom>
          <a:noFill/>
        </p:spPr>
        <p:txBody>
          <a:bodyPr wrap="square" rtlCol="0" anchor="t">
            <a:spAutoFit/>
          </a:bodyPr>
          <a:lstStyle/>
          <a:p>
            <a:pPr eaLnBrk="0" fontAlgn="base" hangingPunct="0">
              <a:lnSpc>
                <a:spcPct val="200000"/>
              </a:lnSpc>
              <a:spcBef>
                <a:spcPct val="0"/>
              </a:spcBef>
              <a:spcAft>
                <a:spcPct val="0"/>
              </a:spcAft>
            </a:pPr>
            <a:r>
              <a:rPr lang="zh-CN" altLang="en-US" sz="2400" b="1" dirty="0">
                <a:solidFill>
                  <a:srgbClr val="00B050"/>
                </a:solidFill>
                <a:latin typeface="黑体" panose="02010609060101010101" pitchFamily="49" charset="-122"/>
                <a:ea typeface="黑体" panose="02010609060101010101" pitchFamily="49" charset="-122"/>
                <a:sym typeface="+mn-ea"/>
              </a:rPr>
              <a:t>证明：</a:t>
            </a:r>
            <a:r>
              <a:rPr lang="zh-CN" altLang="en-US" sz="2400" dirty="0">
                <a:solidFill>
                  <a:srgbClr val="000000"/>
                </a:solidFill>
                <a:latin typeface="黑体" panose="02010609060101010101" pitchFamily="49" charset="-122"/>
                <a:ea typeface="黑体" panose="02010609060101010101" pitchFamily="49" charset="-122"/>
                <a:sym typeface="+mn-ea"/>
              </a:rPr>
              <a:t>若</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，则</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r</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i="1" baseline="-25000">
                <a:solidFill>
                  <a:srgbClr val="000000"/>
                </a:solidFill>
                <a:latin typeface="Times New Roman" panose="02020603050405020304" pitchFamily="18" charset="0"/>
                <a:ea typeface="黑体" panose="02010609060101010101" pitchFamily="49" charset="-122"/>
                <a:sym typeface="+mn-ea"/>
              </a:rPr>
              <a:t>r-</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r-</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，将</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循环左移</a:t>
            </a:r>
            <a:r>
              <a:rPr lang="en-US" altLang="zh-CN" sz="2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位之后，可以得到一个次数更低的码字多项式，其次数为</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，和前提矛盾，则必有</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。证毕。</a:t>
            </a:r>
            <a:endParaRPr lang="zh-CN" altLang="en-US" sz="2400" dirty="0">
              <a:solidFill>
                <a:srgbClr val="000000"/>
              </a:solidFill>
              <a:latin typeface="黑体" panose="02010609060101010101" pitchFamily="49" charset="-122"/>
              <a:ea typeface="黑体" panose="02010609060101010101" pitchFamily="49" charset="-122"/>
            </a:endParaRPr>
          </a:p>
          <a:p>
            <a:pPr eaLnBrk="0" fontAlgn="base" hangingPunct="0">
              <a:lnSpc>
                <a:spcPct val="200000"/>
              </a:lnSpc>
              <a:spcBef>
                <a:spcPct val="0"/>
              </a:spcBef>
              <a:spcAft>
                <a:spcPct val="0"/>
              </a:spcAft>
            </a:pP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结合定理</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和定理</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黑体" panose="02010609060101010101" pitchFamily="49" charset="-122"/>
                <a:ea typeface="黑体" panose="02010609060101010101" pitchFamily="49" charset="-122"/>
                <a:sym typeface="+mn-ea"/>
              </a:rPr>
              <a:t>，知在</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循环码中，次数最低的非零码字多项式形如</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r</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i="1" baseline="-25000">
                <a:solidFill>
                  <a:srgbClr val="000000"/>
                </a:solidFill>
                <a:latin typeface="Times New Roman" panose="02020603050405020304" pitchFamily="18" charset="0"/>
                <a:ea typeface="黑体" panose="02010609060101010101" pitchFamily="49" charset="-122"/>
                <a:sym typeface="+mn-ea"/>
              </a:rPr>
              <a:t>r-</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r-</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循环码的代数性质</a:t>
            </a:r>
          </a:p>
        </p:txBody>
      </p:sp>
      <p:sp>
        <p:nvSpPr>
          <p:cNvPr id="7" name="文本框 6"/>
          <p:cNvSpPr txBox="1"/>
          <p:nvPr/>
        </p:nvSpPr>
        <p:spPr>
          <a:xfrm>
            <a:off x="1682115" y="914400"/>
            <a:ext cx="8745220" cy="5077460"/>
          </a:xfrm>
          <a:prstGeom prst="rect">
            <a:avLst/>
          </a:prstGeom>
          <a:noFill/>
        </p:spPr>
        <p:txBody>
          <a:bodyPr wrap="square" rtlCol="0" anchor="t">
            <a:spAutoFit/>
          </a:bodyPr>
          <a:lstStyle/>
          <a:p>
            <a:pPr indent="609600" eaLnBrk="0" fontAlgn="base" hangingPunct="0">
              <a:lnSpc>
                <a:spcPct val="15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黑体" panose="02010609060101010101" pitchFamily="49" charset="-122"/>
                <a:ea typeface="黑体" panose="02010609060101010101" pitchFamily="49" charset="-122"/>
                <a:sym typeface="+mn-ea"/>
              </a:rPr>
              <a:t>考虑多项式</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i="1" baseline="30000">
                <a:solidFill>
                  <a:srgbClr val="000000"/>
                </a:solidFill>
                <a:latin typeface="Times New Roman" panose="02020603050405020304" pitchFamily="18" charset="0"/>
                <a:ea typeface="黑体" panose="02010609060101010101" pitchFamily="49" charset="-122"/>
                <a:sym typeface="+mn-ea"/>
              </a:rPr>
              <a:t>n-r</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n-r</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都</a:t>
            </a:r>
            <a:r>
              <a:rPr lang="zh-CN" altLang="en-US" sz="2400" dirty="0">
                <a:solidFill>
                  <a:srgbClr val="000000"/>
                </a:solidFill>
                <a:latin typeface="黑体" panose="02010609060101010101" pitchFamily="49" charset="-122"/>
                <a:ea typeface="黑体" panose="02010609060101010101" pitchFamily="49" charset="-122"/>
                <a:sym typeface="+mn-ea"/>
              </a:rPr>
              <a:t>是</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的</a:t>
            </a:r>
            <a:r>
              <a:rPr lang="zh-CN" altLang="en-US" sz="2400" dirty="0">
                <a:solidFill>
                  <a:srgbClr val="000000"/>
                </a:solidFill>
                <a:latin typeface="黑体" panose="02010609060101010101" pitchFamily="49" charset="-122"/>
                <a:ea typeface="黑体" panose="02010609060101010101" pitchFamily="49" charset="-122"/>
                <a:sym typeface="+mn-ea"/>
              </a:rPr>
              <a:t>循环移位</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它们都是码字多项式</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次数分别为</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a:solidFill>
                  <a:srgbClr val="000000"/>
                </a:solidFill>
                <a:latin typeface="Times New Roman" panose="02020603050405020304" pitchFamily="18" charset="0"/>
                <a:ea typeface="黑体" panose="02010609060101010101" pitchFamily="49" charset="-122"/>
                <a:sym typeface="+mn-ea"/>
              </a:rPr>
              <a:t>+2</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en-US" altLang="zh-CN" sz="2400">
                <a:solidFill>
                  <a:srgbClr val="000000"/>
                </a:solidFill>
                <a:latin typeface="Times New Roman" panose="02020603050405020304" pitchFamily="18" charset="0"/>
                <a:ea typeface="黑体" panose="02010609060101010101" pitchFamily="49" charset="-122"/>
                <a:sym typeface="+mn-ea"/>
              </a:rPr>
              <a:t> …, </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a:solidFill>
                  <a:srgbClr val="000000"/>
                </a:solidFill>
                <a:latin typeface="Times New Roman" panose="02020603050405020304" pitchFamily="18" charset="0"/>
                <a:ea typeface="黑体" panose="02010609060101010101" pitchFamily="49" charset="-122"/>
                <a:sym typeface="+mn-ea"/>
              </a:rPr>
              <a:t>。</a:t>
            </a:r>
          </a:p>
          <a:p>
            <a:pPr indent="609600" eaLnBrk="0" fontAlgn="base" hangingPunct="0">
              <a:lnSpc>
                <a:spcPct val="15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黑体" panose="02010609060101010101" pitchFamily="49" charset="-122"/>
                <a:ea typeface="黑体" panose="02010609060101010101" pitchFamily="49" charset="-122"/>
                <a:sym typeface="+mn-ea"/>
              </a:rPr>
              <a:t>根据码字多项式的线性性质可知，它们的任意线性组合</a:t>
            </a:r>
          </a:p>
          <a:p>
            <a:pPr eaLnBrk="0" fontAlgn="base" hangingPunct="0">
              <a:lnSpc>
                <a:spcPct val="150000"/>
              </a:lnSpc>
              <a:spcBef>
                <a:spcPct val="0"/>
              </a:spcBef>
              <a:spcAft>
                <a:spcPct val="0"/>
              </a:spcAft>
            </a:pP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i="1" baseline="-25000">
                <a:solidFill>
                  <a:srgbClr val="000000"/>
                </a:solidFill>
                <a:latin typeface="Times New Roman" panose="02020603050405020304" pitchFamily="18" charset="0"/>
                <a:ea typeface="黑体" panose="02010609060101010101" pitchFamily="49" charset="-122"/>
                <a:sym typeface="+mn-ea"/>
              </a:rPr>
              <a:t>n-r</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n-r</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i="1" baseline="-25000">
                <a:solidFill>
                  <a:srgbClr val="000000"/>
                </a:solidFill>
                <a:latin typeface="Times New Roman" panose="02020603050405020304" pitchFamily="18" charset="0"/>
                <a:ea typeface="黑体" panose="02010609060101010101" pitchFamily="49" charset="-122"/>
                <a:sym typeface="+mn-ea"/>
              </a:rPr>
              <a:t>n-r</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n-r</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x+u</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也是</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的码字多项式。</a:t>
            </a:r>
          </a:p>
          <a:p>
            <a:pPr indent="457200" eaLnBrk="0" fontAlgn="base" hangingPunct="0">
              <a:lnSpc>
                <a:spcPct val="150000"/>
              </a:lnSpc>
              <a:spcBef>
                <a:spcPct val="0"/>
              </a:spcBef>
              <a:spcAft>
                <a:spcPct val="0"/>
              </a:spcAft>
            </a:pP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循环码的码字多项式</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次数分别为</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a:solidFill>
                  <a:srgbClr val="000000"/>
                </a:solidFill>
                <a:latin typeface="Times New Roman" panose="02020603050405020304" pitchFamily="18" charset="0"/>
                <a:ea typeface="黑体" panose="02010609060101010101" pitchFamily="49" charset="-122"/>
                <a:sym typeface="+mn-ea"/>
              </a:rPr>
              <a:t>+1, </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a:solidFill>
                  <a:srgbClr val="000000"/>
                </a:solidFill>
                <a:latin typeface="Times New Roman" panose="02020603050405020304" pitchFamily="18" charset="0"/>
                <a:ea typeface="黑体" panose="02010609060101010101" pitchFamily="49" charset="-122"/>
                <a:sym typeface="+mn-ea"/>
              </a:rPr>
              <a:t>+2, … , </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次数小于或等于</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并且</a:t>
            </a:r>
            <a:r>
              <a:rPr lang="zh-CN" altLang="en-US" sz="2400" dirty="0">
                <a:solidFill>
                  <a:srgbClr val="000000"/>
                </a:solidFill>
                <a:latin typeface="黑体" panose="02010609060101010101" pitchFamily="49" charset="-122"/>
                <a:ea typeface="黑体" panose="02010609060101010101" pitchFamily="49" charset="-122"/>
                <a:sym typeface="+mn-ea"/>
              </a:rPr>
              <a:t>是</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的倍式的二元多项式共有</a:t>
            </a:r>
            <a:r>
              <a:rPr lang="en-US" altLang="zh-CN" sz="2400">
                <a:solidFill>
                  <a:srgbClr val="000000"/>
                </a:solidFill>
                <a:latin typeface="黑体" panose="02010609060101010101" pitchFamily="49" charset="-122"/>
                <a:ea typeface="黑体" panose="02010609060101010101" pitchFamily="49" charset="-122"/>
                <a:sym typeface="+mn-ea"/>
              </a:rPr>
              <a:t>2</a:t>
            </a:r>
            <a:r>
              <a:rPr lang="en-US" altLang="zh-CN" sz="2400" i="1" baseline="30000">
                <a:solidFill>
                  <a:srgbClr val="000000"/>
                </a:solidFill>
                <a:latin typeface="Times New Roman" panose="02020603050405020304" pitchFamily="18" charset="0"/>
                <a:ea typeface="黑体" panose="02010609060101010101" pitchFamily="49" charset="-122"/>
                <a:sym typeface="+mn-ea"/>
              </a:rPr>
              <a:t>n-r</a:t>
            </a:r>
            <a:r>
              <a:rPr lang="zh-CN" altLang="en-US" sz="2400" dirty="0">
                <a:solidFill>
                  <a:srgbClr val="000000"/>
                </a:solidFill>
                <a:latin typeface="黑体" panose="02010609060101010101" pitchFamily="49" charset="-122"/>
                <a:ea typeface="黑体" panose="02010609060101010101" pitchFamily="49" charset="-122"/>
                <a:sym typeface="+mn-ea"/>
              </a:rPr>
              <a:t>个</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它们是</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循环码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的所有码字</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因此</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必有</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en-US" altLang="zh-CN" sz="2400" i="1" err="1">
                <a:solidFill>
                  <a:srgbClr val="000000"/>
                </a:solidFill>
                <a:latin typeface="Times New Roman" panose="02020603050405020304" pitchFamily="18" charset="0"/>
                <a:ea typeface="黑体" panose="02010609060101010101" pitchFamily="49" charset="-122"/>
                <a:sym typeface="+mn-ea"/>
              </a:rPr>
              <a:t>n-r</a:t>
            </a:r>
            <a:r>
              <a:rPr lang="zh-CN" altLang="en-US" sz="2400" dirty="0">
                <a:solidFill>
                  <a:srgbClr val="000000"/>
                </a:solidFill>
                <a:latin typeface="Times New Roman" panose="02020603050405020304" pitchFamily="18" charset="0"/>
                <a:ea typeface="黑体" panose="02010609060101010101" pitchFamily="49" charset="-122"/>
                <a:sym typeface="+mn-ea"/>
              </a:rPr>
              <a:t>或</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i="1" err="1">
                <a:solidFill>
                  <a:srgbClr val="000000"/>
                </a:solidFill>
                <a:latin typeface="Times New Roman" panose="02020603050405020304" pitchFamily="18" charset="0"/>
                <a:ea typeface="黑体" panose="02010609060101010101" pitchFamily="49" charset="-122"/>
                <a:sym typeface="+mn-ea"/>
              </a:rPr>
              <a:t>n-k</a:t>
            </a:r>
            <a:r>
              <a:rPr lang="zh-CN" altLang="en-US" sz="2400" dirty="0">
                <a:solidFill>
                  <a:srgbClr val="000000"/>
                </a:solidFill>
                <a:latin typeface="黑体" panose="02010609060101010101" pitchFamily="49" charset="-122"/>
                <a:ea typeface="黑体" panose="02010609060101010101" pitchFamily="49" charset="-122"/>
                <a:sym typeface="+mn-ea"/>
              </a:rPr>
              <a:t>。</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循环码的代数性质</a:t>
            </a:r>
          </a:p>
        </p:txBody>
      </p:sp>
      <p:sp>
        <p:nvSpPr>
          <p:cNvPr id="10" name="矩形 9"/>
          <p:cNvSpPr/>
          <p:nvPr/>
        </p:nvSpPr>
        <p:spPr>
          <a:xfrm>
            <a:off x="1949450" y="1039495"/>
            <a:ext cx="8242300" cy="154305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文本框 8"/>
          <p:cNvSpPr txBox="1"/>
          <p:nvPr/>
        </p:nvSpPr>
        <p:spPr>
          <a:xfrm>
            <a:off x="2098676" y="1092201"/>
            <a:ext cx="8034655" cy="1420495"/>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FF0000"/>
                </a:solidFill>
                <a:latin typeface="Times New Roman" panose="02020603050405020304" pitchFamily="18" charset="0"/>
                <a:ea typeface="黑体" panose="02010609060101010101" pitchFamily="49" charset="-122"/>
                <a:sym typeface="+mn-ea"/>
              </a:rPr>
              <a:t>3</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若</a:t>
            </a:r>
            <a:r>
              <a:rPr lang="en-US" altLang="zh-CN" sz="2400" b="1" i="1" err="1">
                <a:solidFill>
                  <a:srgbClr val="000000"/>
                </a:solidFill>
                <a:latin typeface="Times New Roman" panose="02020603050405020304" pitchFamily="18" charset="0"/>
                <a:ea typeface="黑体" panose="02010609060101010101" pitchFamily="49" charset="-122"/>
                <a:sym typeface="+mn-ea"/>
              </a:rPr>
              <a:t>g</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是</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n</a:t>
            </a:r>
            <a:r>
              <a:rPr lang="en-US" altLang="zh-CN" sz="2400" b="1" err="1">
                <a:solidFill>
                  <a:srgbClr val="000000"/>
                </a:solidFill>
                <a:latin typeface="Times New Roman" panose="02020603050405020304" pitchFamily="18" charset="0"/>
                <a:ea typeface="黑体" panose="02010609060101010101" pitchFamily="49" charset="-122"/>
                <a:sym typeface="+mn-ea"/>
              </a:rPr>
              <a:t>, </a:t>
            </a:r>
            <a:r>
              <a:rPr lang="en-US" altLang="zh-CN" sz="2400" b="1" i="1" err="1">
                <a:solidFill>
                  <a:srgbClr val="000000"/>
                </a:solidFill>
                <a:latin typeface="Times New Roman" panose="02020603050405020304" pitchFamily="18" charset="0"/>
                <a:ea typeface="黑体" panose="02010609060101010101" pitchFamily="49" charset="-122"/>
                <a:sym typeface="+mn-ea"/>
              </a:rPr>
              <a:t>k</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循环码</a:t>
            </a:r>
            <a:r>
              <a:rPr lang="en-US" altLang="zh-CN" sz="2400" b="1" i="1">
                <a:solidFill>
                  <a:srgbClr val="000000"/>
                </a:solidFill>
                <a:latin typeface="Times New Roman" panose="02020603050405020304" pitchFamily="18" charset="0"/>
                <a:ea typeface="黑体" panose="02010609060101010101" pitchFamily="49" charset="-122"/>
                <a:sym typeface="+mn-ea"/>
              </a:rPr>
              <a:t>C</a:t>
            </a:r>
            <a:r>
              <a:rPr lang="zh-CN" altLang="en-US" sz="2400" b="1" dirty="0">
                <a:solidFill>
                  <a:srgbClr val="000000"/>
                </a:solidFill>
                <a:latin typeface="黑体" panose="02010609060101010101" pitchFamily="49" charset="-122"/>
                <a:ea typeface="黑体" panose="02010609060101010101" pitchFamily="49" charset="-122"/>
                <a:sym typeface="+mn-ea"/>
              </a:rPr>
              <a:t>中次数最低的非零码字多项式，一个次数小于或等于</a:t>
            </a:r>
            <a:r>
              <a:rPr lang="en-US" altLang="zh-CN" sz="2400" b="1" i="1">
                <a:solidFill>
                  <a:srgbClr val="000000"/>
                </a:solidFill>
                <a:latin typeface="Times New Roman" panose="02020603050405020304" pitchFamily="18" charset="0"/>
                <a:ea typeface="黑体" panose="02010609060101010101" pitchFamily="49" charset="-122"/>
                <a:sym typeface="+mn-ea"/>
              </a:rPr>
              <a:t>n</a:t>
            </a:r>
            <a:r>
              <a:rPr lang="en-US" altLang="zh-CN" sz="2400" b="1">
                <a:solidFill>
                  <a:srgbClr val="000000"/>
                </a:solidFill>
                <a:latin typeface="Times New Roman" panose="02020603050405020304" pitchFamily="18" charset="0"/>
                <a:ea typeface="黑体" panose="02010609060101010101" pitchFamily="49" charset="-122"/>
                <a:sym typeface="+mn-ea"/>
              </a:rPr>
              <a:t>-1</a:t>
            </a:r>
            <a:r>
              <a:rPr lang="zh-CN" altLang="en-US" sz="2400" b="1" dirty="0">
                <a:solidFill>
                  <a:srgbClr val="000000"/>
                </a:solidFill>
                <a:latin typeface="黑体" panose="02010609060101010101" pitchFamily="49" charset="-122"/>
                <a:ea typeface="黑体" panose="02010609060101010101" pitchFamily="49" charset="-122"/>
                <a:sym typeface="+mn-ea"/>
              </a:rPr>
              <a:t>的二元多项式</a:t>
            </a:r>
            <a:r>
              <a:rPr lang="en-US" altLang="zh-CN" sz="2400" b="1" i="1" err="1">
                <a:solidFill>
                  <a:srgbClr val="000000"/>
                </a:solidFill>
                <a:latin typeface="Times New Roman" panose="02020603050405020304" pitchFamily="18" charset="0"/>
                <a:ea typeface="黑体" panose="02010609060101010101" pitchFamily="49" charset="-122"/>
                <a:sym typeface="+mn-ea"/>
              </a:rPr>
              <a:t>f</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是码字多项式当且仅当</a:t>
            </a:r>
            <a:r>
              <a:rPr lang="en-US" altLang="zh-CN" sz="2400" b="1" i="1" err="1">
                <a:solidFill>
                  <a:srgbClr val="000000"/>
                </a:solidFill>
                <a:latin typeface="Times New Roman" panose="02020603050405020304" pitchFamily="18" charset="0"/>
                <a:ea typeface="黑体" panose="02010609060101010101" pitchFamily="49" charset="-122"/>
                <a:sym typeface="+mn-ea"/>
              </a:rPr>
              <a:t>f</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是</a:t>
            </a:r>
            <a:r>
              <a:rPr lang="en-US" altLang="zh-CN" sz="2400" b="1" i="1" err="1">
                <a:solidFill>
                  <a:srgbClr val="000000"/>
                </a:solidFill>
                <a:latin typeface="Times New Roman" panose="02020603050405020304" pitchFamily="18" charset="0"/>
                <a:ea typeface="黑体" panose="02010609060101010101" pitchFamily="49" charset="-122"/>
                <a:sym typeface="+mn-ea"/>
              </a:rPr>
              <a:t>g</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的倍式。</a:t>
            </a:r>
          </a:p>
        </p:txBody>
      </p:sp>
      <p:sp>
        <p:nvSpPr>
          <p:cNvPr id="7" name="文本框 6"/>
          <p:cNvSpPr txBox="1"/>
          <p:nvPr/>
        </p:nvSpPr>
        <p:spPr>
          <a:xfrm>
            <a:off x="1931035" y="2727960"/>
            <a:ext cx="8411210" cy="3412490"/>
          </a:xfrm>
          <a:prstGeom prst="rect">
            <a:avLst/>
          </a:prstGeom>
          <a:noFill/>
        </p:spPr>
        <p:txBody>
          <a:bodyPr wrap="square" rtlCol="0" anchor="t">
            <a:spAutoFit/>
          </a:bodyPr>
          <a:lstStyle/>
          <a:p>
            <a:pPr eaLnBrk="0" fontAlgn="base" hangingPunct="0">
              <a:lnSpc>
                <a:spcPct val="180000"/>
              </a:lnSpc>
              <a:spcBef>
                <a:spcPct val="0"/>
              </a:spcBef>
              <a:spcAft>
                <a:spcPct val="0"/>
              </a:spcAft>
            </a:pPr>
            <a:r>
              <a:rPr lang="zh-CN" altLang="en-US" sz="2400" b="1" dirty="0">
                <a:solidFill>
                  <a:srgbClr val="00B050"/>
                </a:solidFill>
                <a:latin typeface="黑体" panose="02010609060101010101" pitchFamily="49" charset="-122"/>
                <a:ea typeface="黑体" panose="02010609060101010101" pitchFamily="49" charset="-122"/>
                <a:sym typeface="+mn-ea"/>
              </a:rPr>
              <a:t>证明：</a:t>
            </a:r>
            <a:r>
              <a:rPr lang="zh-CN" altLang="en-US" sz="2400" dirty="0">
                <a:solidFill>
                  <a:srgbClr val="000000"/>
                </a:solidFill>
                <a:latin typeface="黑体" panose="02010609060101010101" pitchFamily="49" charset="-122"/>
                <a:ea typeface="黑体" panose="02010609060101010101" pitchFamily="49" charset="-122"/>
                <a:sym typeface="+mn-ea"/>
              </a:rPr>
              <a:t>反证法。设</a:t>
            </a:r>
            <a:r>
              <a:rPr lang="en-US" altLang="zh-CN" sz="2400" i="1" err="1">
                <a:solidFill>
                  <a:srgbClr val="000000"/>
                </a:solidFill>
                <a:latin typeface="Times New Roman" panose="02020603050405020304" pitchFamily="18" charset="0"/>
                <a:ea typeface="黑体" panose="02010609060101010101" pitchFamily="49" charset="-122"/>
                <a:sym typeface="+mn-ea"/>
              </a:rPr>
              <a:t>f</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是码字多项式且其次数小于或等于</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假设</a:t>
            </a:r>
            <a:r>
              <a:rPr lang="en-US" altLang="zh-CN" sz="2400" i="1" err="1">
                <a:solidFill>
                  <a:srgbClr val="000000"/>
                </a:solidFill>
                <a:latin typeface="Times New Roman" panose="02020603050405020304" pitchFamily="18" charset="0"/>
                <a:ea typeface="黑体" panose="02010609060101010101" pitchFamily="49" charset="-122"/>
                <a:sym typeface="+mn-ea"/>
              </a:rPr>
              <a:t>f</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黑体" panose="02010609060101010101" pitchFamily="49" charset="-122"/>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黑体" panose="02010609060101010101" pitchFamily="49" charset="-122"/>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err="1">
                <a:solidFill>
                  <a:srgbClr val="000000"/>
                </a:solidFill>
                <a:latin typeface="Times New Roman" panose="02020603050405020304" pitchFamily="18" charset="0"/>
                <a:ea typeface="黑体" panose="02010609060101010101" pitchFamily="49" charset="-122"/>
                <a:sym typeface="+mn-ea"/>
              </a:rPr>
              <a:t>deg(</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))&lt;</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zh-CN" altLang="en-US" sz="2400" dirty="0">
                <a:solidFill>
                  <a:srgbClr val="000000"/>
                </a:solidFill>
                <a:latin typeface="黑体" panose="02010609060101010101" pitchFamily="49" charset="-122"/>
                <a:ea typeface="黑体" panose="02010609060101010101" pitchFamily="49" charset="-122"/>
                <a:sym typeface="+mn-ea"/>
              </a:rPr>
              <a:t>，</a:t>
            </a:r>
          </a:p>
          <a:p>
            <a:pPr eaLnBrk="0" fontAlgn="base" hangingPunct="0">
              <a:lnSpc>
                <a:spcPct val="180000"/>
              </a:lnSpc>
              <a:spcBef>
                <a:spcPct val="0"/>
              </a:spcBef>
              <a:spcAft>
                <a:spcPct val="0"/>
              </a:spcAft>
            </a:pPr>
            <a:r>
              <a:rPr lang="en-US" altLang="zh-CN" sz="2400" dirty="0">
                <a:solidFill>
                  <a:srgbClr val="000000"/>
                </a:solidFill>
                <a:latin typeface="黑体" panose="02010609060101010101" pitchFamily="49" charset="-122"/>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由线性性质知</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f</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黑体" panose="02010609060101010101" pitchFamily="49" charset="-122"/>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也是一个</a:t>
            </a:r>
            <a:r>
              <a:rPr lang="zh-CN" altLang="en-US" sz="2400" dirty="0">
                <a:solidFill>
                  <a:srgbClr val="000000"/>
                </a:solidFill>
                <a:latin typeface="黑体" panose="02010609060101010101" pitchFamily="49" charset="-122"/>
                <a:ea typeface="黑体" panose="02010609060101010101" pitchFamily="49" charset="-122"/>
                <a:sym typeface="+mn-ea"/>
              </a:rPr>
              <a:t>码字多项式</a:t>
            </a:r>
            <a:r>
              <a:rPr lang="en-US" altLang="zh-CN" sz="2400" dirty="0">
                <a:solidFill>
                  <a:srgbClr val="00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而</a:t>
            </a:r>
            <a:r>
              <a:rPr lang="en-US" altLang="zh-CN" sz="2400" err="1">
                <a:solidFill>
                  <a:srgbClr val="000000"/>
                </a:solidFill>
                <a:latin typeface="Times New Roman" panose="02020603050405020304" pitchFamily="18" charset="0"/>
                <a:ea typeface="黑体" panose="02010609060101010101" pitchFamily="49" charset="-122"/>
                <a:sym typeface="+mn-ea"/>
              </a:rPr>
              <a:t>deg(</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))&lt;</a:t>
            </a:r>
            <a:r>
              <a:rPr lang="en-US" altLang="zh-CN" sz="2400" err="1">
                <a:solidFill>
                  <a:srgbClr val="000000"/>
                </a:solidFill>
                <a:latin typeface="Times New Roman" panose="02020603050405020304" pitchFamily="18" charset="0"/>
                <a:ea typeface="黑体" panose="02010609060101010101" pitchFamily="49" charset="-122"/>
                <a:sym typeface="+mn-ea"/>
              </a:rPr>
              <a:t>deg(</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，这和前提矛盾，则只能当</a:t>
            </a:r>
            <a:r>
              <a:rPr lang="en-US" altLang="zh-CN" sz="2400" i="1" err="1">
                <a:solidFill>
                  <a:srgbClr val="000000"/>
                </a:solidFill>
                <a:latin typeface="Times New Roman" panose="02020603050405020304" pitchFamily="18" charset="0"/>
                <a:ea typeface="黑体" panose="02010609060101010101" pitchFamily="49" charset="-122"/>
                <a:sym typeface="+mn-ea"/>
              </a:rPr>
              <a:t>f</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是</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的倍式的时候，</a:t>
            </a:r>
            <a:r>
              <a:rPr lang="en-US" altLang="zh-CN" sz="2400" i="1" err="1">
                <a:solidFill>
                  <a:srgbClr val="000000"/>
                </a:solidFill>
                <a:latin typeface="Times New Roman" panose="02020603050405020304" pitchFamily="18" charset="0"/>
                <a:ea typeface="黑体" panose="02010609060101010101" pitchFamily="49" charset="-122"/>
                <a:sym typeface="+mn-ea"/>
              </a:rPr>
              <a:t>f</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是码字多项式。证毕。</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生成多项式</a:t>
            </a:r>
          </a:p>
        </p:txBody>
      </p:sp>
      <p:sp>
        <p:nvSpPr>
          <p:cNvPr id="10" name="矩形 9"/>
          <p:cNvSpPr/>
          <p:nvPr/>
        </p:nvSpPr>
        <p:spPr>
          <a:xfrm>
            <a:off x="1949450" y="1039495"/>
            <a:ext cx="8242300" cy="213487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文本框 8"/>
          <p:cNvSpPr txBox="1"/>
          <p:nvPr/>
        </p:nvSpPr>
        <p:spPr>
          <a:xfrm>
            <a:off x="2098676" y="1092201"/>
            <a:ext cx="8034655" cy="2009775"/>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FF0000"/>
                </a:solidFill>
                <a:latin typeface="Times New Roman" panose="02020603050405020304" pitchFamily="18" charset="0"/>
                <a:ea typeface="黑体" panose="02010609060101010101" pitchFamily="49" charset="-122"/>
                <a:sym typeface="+mn-ea"/>
              </a:rPr>
              <a:t>1</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在</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n</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k</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循环码</a:t>
            </a:r>
            <a:r>
              <a:rPr lang="en-US" altLang="zh-CN" sz="2400" b="1" i="1">
                <a:solidFill>
                  <a:srgbClr val="000000"/>
                </a:solidFill>
                <a:latin typeface="Times New Roman" panose="02020603050405020304" pitchFamily="18" charset="0"/>
                <a:ea typeface="黑体" panose="02010609060101010101" pitchFamily="49" charset="-122"/>
                <a:sym typeface="+mn-ea"/>
              </a:rPr>
              <a:t>C</a:t>
            </a:r>
            <a:r>
              <a:rPr lang="zh-CN" altLang="en-US" sz="2400" b="1" dirty="0">
                <a:solidFill>
                  <a:srgbClr val="000000"/>
                </a:solidFill>
                <a:latin typeface="黑体" panose="02010609060101010101" pitchFamily="49" charset="-122"/>
                <a:ea typeface="黑体" panose="02010609060101010101" pitchFamily="49" charset="-122"/>
                <a:sym typeface="+mn-ea"/>
              </a:rPr>
              <a:t>中存在且仅存在一个次数为</a:t>
            </a:r>
            <a:r>
              <a:rPr lang="en-US" altLang="zh-CN" sz="2400" b="1" i="1" err="1">
                <a:solidFill>
                  <a:srgbClr val="000000"/>
                </a:solidFill>
                <a:latin typeface="Times New Roman" panose="02020603050405020304" pitchFamily="18" charset="0"/>
                <a:ea typeface="黑体" panose="02010609060101010101" pitchFamily="49" charset="-122"/>
                <a:sym typeface="+mn-ea"/>
              </a:rPr>
              <a:t>n</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k</a:t>
            </a:r>
            <a:r>
              <a:rPr lang="zh-CN" altLang="en-US" sz="2400" b="1" dirty="0">
                <a:solidFill>
                  <a:srgbClr val="000000"/>
                </a:solidFill>
                <a:latin typeface="黑体" panose="02010609060101010101" pitchFamily="49" charset="-122"/>
                <a:ea typeface="黑体" panose="02010609060101010101" pitchFamily="49" charset="-122"/>
                <a:sym typeface="+mn-ea"/>
              </a:rPr>
              <a:t>的码字多项式</a:t>
            </a:r>
            <a:r>
              <a:rPr lang="en-US" altLang="zh-CN" sz="2400" b="1" i="1" err="1">
                <a:solidFill>
                  <a:srgbClr val="000000"/>
                </a:solidFill>
                <a:latin typeface="Times New Roman" panose="02020603050405020304" pitchFamily="18" charset="0"/>
                <a:ea typeface="黑体" panose="02010609060101010101" pitchFamily="49" charset="-122"/>
                <a:sym typeface="+mn-ea"/>
              </a:rPr>
              <a:t>g</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i="1" baseline="30000">
                <a:solidFill>
                  <a:srgbClr val="000000"/>
                </a:solidFill>
                <a:latin typeface="Times New Roman" panose="02020603050405020304" pitchFamily="18" charset="0"/>
                <a:ea typeface="黑体" panose="02010609060101010101" pitchFamily="49" charset="-122"/>
                <a:sym typeface="+mn-ea"/>
              </a:rPr>
              <a:t>n-k</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g</a:t>
            </a:r>
            <a:r>
              <a:rPr lang="en-US" altLang="zh-CN" sz="2400" b="1" i="1" baseline="-25000">
                <a:solidFill>
                  <a:srgbClr val="000000"/>
                </a:solidFill>
                <a:latin typeface="Times New Roman" panose="02020603050405020304" pitchFamily="18" charset="0"/>
                <a:ea typeface="黑体" panose="02010609060101010101" pitchFamily="49" charset="-122"/>
                <a:sym typeface="+mn-ea"/>
              </a:rPr>
              <a:t>n-k-</a:t>
            </a:r>
            <a:r>
              <a:rPr lang="en-US" altLang="zh-CN" sz="2400" b="1" baseline="-25000">
                <a:solidFill>
                  <a:srgbClr val="000000"/>
                </a:solidFill>
                <a:latin typeface="Times New Roman" panose="02020603050405020304" pitchFamily="18" charset="0"/>
                <a:ea typeface="黑体" panose="02010609060101010101" pitchFamily="49" charset="-122"/>
                <a:sym typeface="+mn-ea"/>
              </a:rPr>
              <a:t>1</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i="1" baseline="30000">
                <a:solidFill>
                  <a:srgbClr val="000000"/>
                </a:solidFill>
                <a:latin typeface="Times New Roman" panose="02020603050405020304" pitchFamily="18" charset="0"/>
                <a:ea typeface="黑体" panose="02010609060101010101" pitchFamily="49" charset="-122"/>
                <a:sym typeface="+mn-ea"/>
              </a:rPr>
              <a:t>n-k-</a:t>
            </a:r>
            <a:r>
              <a:rPr lang="en-US" altLang="zh-CN" sz="2400" b="1" baseline="30000">
                <a:solidFill>
                  <a:srgbClr val="000000"/>
                </a:solidFill>
                <a:latin typeface="Times New Roman" panose="02020603050405020304" pitchFamily="18" charset="0"/>
                <a:ea typeface="黑体" panose="02010609060101010101" pitchFamily="49" charset="-122"/>
                <a:sym typeface="+mn-ea"/>
              </a:rPr>
              <a:t>1</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g</a:t>
            </a:r>
            <a:r>
              <a:rPr lang="en-US" altLang="zh-CN" sz="2400" b="1" baseline="-25000">
                <a:solidFill>
                  <a:srgbClr val="000000"/>
                </a:solidFill>
                <a:latin typeface="Times New Roman" panose="02020603050405020304" pitchFamily="18" charset="0"/>
                <a:ea typeface="黑体" panose="02010609060101010101" pitchFamily="49" charset="-122"/>
                <a:sym typeface="+mn-ea"/>
              </a:rPr>
              <a:t>2</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baseline="30000">
                <a:solidFill>
                  <a:srgbClr val="000000"/>
                </a:solidFill>
                <a:latin typeface="Times New Roman" panose="02020603050405020304" pitchFamily="18" charset="0"/>
                <a:ea typeface="黑体" panose="02010609060101010101" pitchFamily="49" charset="-122"/>
                <a:sym typeface="+mn-ea"/>
              </a:rPr>
              <a:t>2</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g</a:t>
            </a:r>
            <a:r>
              <a:rPr lang="en-US" altLang="zh-CN" sz="2400" b="1" baseline="-25000">
                <a:solidFill>
                  <a:srgbClr val="000000"/>
                </a:solidFill>
                <a:latin typeface="Times New Roman" panose="02020603050405020304" pitchFamily="18" charset="0"/>
                <a:ea typeface="黑体" panose="02010609060101010101" pitchFamily="49" charset="-122"/>
                <a:sym typeface="+mn-ea"/>
              </a:rPr>
              <a:t>1</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+1</a:t>
            </a:r>
            <a:r>
              <a:rPr lang="zh-CN" altLang="en-US" sz="2400" b="1" dirty="0">
                <a:solidFill>
                  <a:srgbClr val="000000"/>
                </a:solidFill>
                <a:latin typeface="黑体" panose="02010609060101010101" pitchFamily="49" charset="-122"/>
                <a:ea typeface="黑体" panose="02010609060101010101" pitchFamily="49" charset="-122"/>
                <a:sym typeface="+mn-ea"/>
              </a:rPr>
              <a:t>，称为生成多项式，使得每个次数小于或等于</a:t>
            </a:r>
            <a:r>
              <a:rPr lang="en-US" altLang="zh-CN" sz="2400" b="1" i="1">
                <a:solidFill>
                  <a:srgbClr val="000000"/>
                </a:solidFill>
                <a:latin typeface="Times New Roman" panose="02020603050405020304" pitchFamily="18" charset="0"/>
                <a:ea typeface="黑体" panose="02010609060101010101" pitchFamily="49" charset="-122"/>
                <a:sym typeface="+mn-ea"/>
              </a:rPr>
              <a:t>n</a:t>
            </a:r>
            <a:r>
              <a:rPr lang="en-US" altLang="zh-CN" sz="2400" b="1">
                <a:solidFill>
                  <a:srgbClr val="000000"/>
                </a:solidFill>
                <a:latin typeface="Times New Roman" panose="02020603050405020304" pitchFamily="18" charset="0"/>
                <a:ea typeface="黑体" panose="02010609060101010101" pitchFamily="49" charset="-122"/>
                <a:sym typeface="+mn-ea"/>
              </a:rPr>
              <a:t>-1</a:t>
            </a:r>
            <a:r>
              <a:rPr lang="zh-CN" altLang="en-US" sz="2400" b="1" dirty="0">
                <a:solidFill>
                  <a:srgbClr val="000000"/>
                </a:solidFill>
                <a:latin typeface="黑体" panose="02010609060101010101" pitchFamily="49" charset="-122"/>
                <a:ea typeface="黑体" panose="02010609060101010101" pitchFamily="49" charset="-122"/>
                <a:sym typeface="+mn-ea"/>
              </a:rPr>
              <a:t>的二元多项式是码字多项式当且仅当此多项式是</a:t>
            </a:r>
            <a:r>
              <a:rPr lang="en-US" altLang="zh-CN" sz="2400" b="1" i="1" err="1">
                <a:solidFill>
                  <a:srgbClr val="000000"/>
                </a:solidFill>
                <a:latin typeface="Times New Roman" panose="02020603050405020304" pitchFamily="18" charset="0"/>
                <a:ea typeface="黑体" panose="02010609060101010101" pitchFamily="49" charset="-122"/>
                <a:sym typeface="+mn-ea"/>
              </a:rPr>
              <a:t>g</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的倍式。</a:t>
            </a:r>
          </a:p>
        </p:txBody>
      </p:sp>
      <p:sp>
        <p:nvSpPr>
          <p:cNvPr id="3" name="文本框 2"/>
          <p:cNvSpPr txBox="1"/>
          <p:nvPr/>
        </p:nvSpPr>
        <p:spPr>
          <a:xfrm>
            <a:off x="1856106" y="3403601"/>
            <a:ext cx="8545195" cy="2968625"/>
          </a:xfrm>
          <a:prstGeom prst="rect">
            <a:avLst/>
          </a:prstGeom>
          <a:noFill/>
        </p:spPr>
        <p:txBody>
          <a:bodyPr wrap="square" rtlCol="0" anchor="t">
            <a:spAutoFit/>
          </a:bodyPr>
          <a:lstStyle/>
          <a:p>
            <a:pPr indent="609600" eaLnBrk="0" fontAlgn="base" hangingPunct="0">
              <a:lnSpc>
                <a:spcPct val="13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根据该定理</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循环码的任意码字多项式可以表示为</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i="1" baseline="-25000">
                <a:solidFill>
                  <a:srgbClr val="000000"/>
                </a:solidFill>
                <a:latin typeface="Times New Roman" panose="02020603050405020304" pitchFamily="18" charset="0"/>
                <a:ea typeface="黑体" panose="02010609060101010101" pitchFamily="49" charset="-122"/>
                <a:sym typeface="+mn-ea"/>
              </a:rPr>
              <a:t>k-</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en-US" altLang="zh-CN" sz="2400" dirty="0">
                <a:solidFill>
                  <a:srgbClr val="000000"/>
                </a:solidFill>
                <a:latin typeface="Times New Roman" panose="02020603050405020304" pitchFamily="18" charset="0"/>
                <a:ea typeface="黑体" panose="02010609060101010101" pitchFamily="49" charset="-122"/>
                <a:sym typeface="+mn-ea"/>
              </a:rPr>
              <a:t> </a:t>
            </a:r>
          </a:p>
          <a:p>
            <a:pPr indent="609600" eaLnBrk="0" fontAlgn="base" hangingPunct="0">
              <a:lnSpc>
                <a:spcPct val="13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若</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的系数</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i="1" baseline="-25000">
                <a:solidFill>
                  <a:srgbClr val="000000"/>
                </a:solidFill>
                <a:latin typeface="Times New Roman" panose="02020603050405020304" pitchFamily="18" charset="0"/>
                <a:ea typeface="黑体" panose="02010609060101010101" pitchFamily="49" charset="-122"/>
                <a:sym typeface="+mn-ea"/>
              </a:rPr>
              <a:t>k-</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 , </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是待编码的</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个信息数据</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则</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就是相应的</a:t>
            </a:r>
            <a:r>
              <a:rPr lang="zh-CN" altLang="en-US" sz="2400" dirty="0">
                <a:solidFill>
                  <a:srgbClr val="000000"/>
                </a:solidFill>
                <a:latin typeface="黑体" panose="02010609060101010101" pitchFamily="49" charset="-122"/>
                <a:ea typeface="黑体" panose="02010609060101010101" pitchFamily="49" charset="-122"/>
                <a:sym typeface="+mn-ea"/>
              </a:rPr>
              <a:t>码字多项式</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即用</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相乘就完成了编码。</a:t>
            </a:r>
            <a:endParaRPr lang="zh-CN" altLang="en-US" sz="2400" dirty="0">
              <a:solidFill>
                <a:srgbClr val="000000"/>
              </a:solidFill>
              <a:latin typeface="黑体" panose="02010609060101010101" pitchFamily="49" charset="-122"/>
              <a:ea typeface="黑体" panose="02010609060101010101" pitchFamily="49" charset="-122"/>
            </a:endParaRPr>
          </a:p>
          <a:p>
            <a:pPr indent="609600" eaLnBrk="0" fontAlgn="base" hangingPunct="0">
              <a:lnSpc>
                <a:spcPct val="13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黑体" panose="02010609060101010101" pitchFamily="49" charset="-122"/>
                <a:ea typeface="黑体" panose="02010609060101010101" pitchFamily="49" charset="-122"/>
                <a:sym typeface="+mn-ea"/>
              </a:rPr>
              <a:t>因此，一个</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循环码就完全由次数最低的非零多项式</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决定</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的次数等于一致校验位数的数目。</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生成多项式</a:t>
            </a:r>
          </a:p>
        </p:txBody>
      </p:sp>
      <p:sp>
        <p:nvSpPr>
          <p:cNvPr id="10" name="矩形 9"/>
          <p:cNvSpPr/>
          <p:nvPr/>
        </p:nvSpPr>
        <p:spPr>
          <a:xfrm>
            <a:off x="1949450" y="1039496"/>
            <a:ext cx="8242300" cy="66357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文本框 8"/>
          <p:cNvSpPr txBox="1"/>
          <p:nvPr/>
        </p:nvSpPr>
        <p:spPr>
          <a:xfrm>
            <a:off x="2098676" y="1092200"/>
            <a:ext cx="8034655" cy="520848"/>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FF0000"/>
                </a:solidFill>
                <a:latin typeface="Times New Roman" panose="02020603050405020304" pitchFamily="18" charset="0"/>
                <a:ea typeface="黑体" panose="02010609060101010101" pitchFamily="49" charset="-122"/>
                <a:sym typeface="+mn-ea"/>
              </a:rPr>
              <a:t>2</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n</a:t>
            </a:r>
            <a:r>
              <a:rPr lang="en-US" altLang="zh-CN" sz="2400" b="1">
                <a:solidFill>
                  <a:srgbClr val="000000"/>
                </a:solidFill>
                <a:latin typeface="Times New Roman" panose="02020603050405020304" pitchFamily="18" charset="0"/>
                <a:ea typeface="黑体" panose="02010609060101010101" pitchFamily="49" charset="-122"/>
                <a:sym typeface="+mn-ea"/>
              </a:rPr>
              <a:t>, </a:t>
            </a:r>
            <a:r>
              <a:rPr lang="en-US" altLang="zh-CN" sz="2400" b="1" i="1">
                <a:solidFill>
                  <a:srgbClr val="000000"/>
                </a:solidFill>
                <a:latin typeface="Times New Roman" panose="02020603050405020304" pitchFamily="18" charset="0"/>
                <a:ea typeface="黑体" panose="02010609060101010101" pitchFamily="49" charset="-122"/>
                <a:sym typeface="+mn-ea"/>
              </a:rPr>
              <a:t>k</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循环码的生成多项式</a:t>
            </a:r>
            <a:r>
              <a:rPr lang="en-US" altLang="zh-CN" sz="2400" b="1" i="1" err="1">
                <a:solidFill>
                  <a:srgbClr val="000000"/>
                </a:solidFill>
                <a:latin typeface="Times New Roman" panose="02020603050405020304" pitchFamily="18" charset="0"/>
                <a:ea typeface="黑体" panose="02010609060101010101" pitchFamily="49" charset="-122"/>
                <a:sym typeface="+mn-ea"/>
              </a:rPr>
              <a:t>g</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是</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1">
                <a:solidFill>
                  <a:srgbClr val="000000"/>
                </a:solidFill>
                <a:latin typeface="Times New Roman" panose="02020603050405020304" pitchFamily="18" charset="0"/>
                <a:ea typeface="黑体" panose="02010609060101010101" pitchFamily="49" charset="-122"/>
                <a:sym typeface="+mn-ea"/>
              </a:rPr>
              <a:t>+1</a:t>
            </a:r>
            <a:r>
              <a:rPr lang="zh-CN" altLang="en-US" sz="2400" b="1" dirty="0">
                <a:solidFill>
                  <a:srgbClr val="000000"/>
                </a:solidFill>
                <a:latin typeface="Times New Roman" panose="02020603050405020304" pitchFamily="18" charset="0"/>
                <a:ea typeface="黑体" panose="02010609060101010101" pitchFamily="49" charset="-122"/>
                <a:sym typeface="+mn-ea"/>
              </a:rPr>
              <a:t>的因式。</a:t>
            </a:r>
            <a:endParaRPr lang="zh-CN" altLang="en-US" sz="2400" b="1" dirty="0">
              <a:solidFill>
                <a:srgbClr val="000000"/>
              </a:solidFill>
              <a:latin typeface="黑体" panose="02010609060101010101" pitchFamily="49" charset="-122"/>
              <a:ea typeface="黑体" panose="02010609060101010101" pitchFamily="49" charset="-122"/>
              <a:sym typeface="+mn-ea"/>
            </a:endParaRPr>
          </a:p>
        </p:txBody>
      </p:sp>
      <p:sp>
        <p:nvSpPr>
          <p:cNvPr id="7" name="文本框 6"/>
          <p:cNvSpPr txBox="1"/>
          <p:nvPr/>
        </p:nvSpPr>
        <p:spPr>
          <a:xfrm>
            <a:off x="1848486" y="1896746"/>
            <a:ext cx="8493125" cy="2192075"/>
          </a:xfrm>
          <a:prstGeom prst="rect">
            <a:avLst/>
          </a:prstGeom>
          <a:noFill/>
        </p:spPr>
        <p:txBody>
          <a:bodyPr wrap="square" rtlCol="0" anchor="t">
            <a:spAutoFit/>
          </a:bodyPr>
          <a:lstStyle/>
          <a:p>
            <a:pPr eaLnBrk="0" fontAlgn="base" hangingPunct="0">
              <a:lnSpc>
                <a:spcPct val="200000"/>
              </a:lnSpc>
              <a:spcBef>
                <a:spcPct val="0"/>
              </a:spcBef>
              <a:spcAft>
                <a:spcPct val="0"/>
              </a:spcAft>
            </a:pPr>
            <a:r>
              <a:rPr lang="zh-CN" altLang="en-US" sz="2400" b="1" dirty="0">
                <a:solidFill>
                  <a:srgbClr val="00B050"/>
                </a:solidFill>
                <a:latin typeface="黑体" panose="02010609060101010101" pitchFamily="49" charset="-122"/>
                <a:ea typeface="黑体" panose="02010609060101010101" pitchFamily="49" charset="-122"/>
                <a:sym typeface="+mn-ea"/>
              </a:rPr>
              <a:t>证明：</a:t>
            </a:r>
            <a:r>
              <a:rPr lang="zh-CN" altLang="en-US" sz="2400" dirty="0">
                <a:solidFill>
                  <a:srgbClr val="000000"/>
                </a:solidFill>
                <a:latin typeface="黑体" panose="02010609060101010101" pitchFamily="49" charset="-122"/>
                <a:ea typeface="黑体" panose="02010609060101010101" pitchFamily="49" charset="-122"/>
                <a:sym typeface="+mn-ea"/>
              </a:rPr>
              <a:t>根据</a:t>
            </a:r>
            <a:r>
              <a:rPr lang="en-US" altLang="zh-CN" sz="2400">
                <a:solidFill>
                  <a:srgbClr val="000000"/>
                </a:solidFill>
                <a:latin typeface="Times New Roman" panose="02020603050405020304" pitchFamily="18" charset="0"/>
                <a:ea typeface="黑体" panose="02010609060101010101" pitchFamily="49" charset="-122"/>
                <a:sym typeface="+mn-ea"/>
              </a:rPr>
              <a:t>PPT</a:t>
            </a:r>
            <a:r>
              <a:rPr lang="zh-CN" altLang="en-US" sz="2400" dirty="0">
                <a:solidFill>
                  <a:srgbClr val="000000"/>
                </a:solidFill>
                <a:latin typeface="黑体" panose="02010609060101010101" pitchFamily="49" charset="-122"/>
                <a:ea typeface="黑体" panose="02010609060101010101" pitchFamily="49" charset="-122"/>
                <a:sym typeface="+mn-ea"/>
              </a:rPr>
              <a:t>第</a:t>
            </a:r>
            <a:r>
              <a:rPr lang="en-US" altLang="zh-CN" sz="2400">
                <a:solidFill>
                  <a:srgbClr val="000000"/>
                </a:solidFill>
                <a:latin typeface="Times New Roman" panose="02020603050405020304" pitchFamily="18" charset="0"/>
                <a:ea typeface="黑体" panose="02010609060101010101" pitchFamily="49" charset="-122"/>
                <a:sym typeface="+mn-ea"/>
              </a:rPr>
              <a:t>5</a:t>
            </a:r>
            <a:r>
              <a:rPr lang="zh-CN" altLang="en-US" sz="2400" dirty="0">
                <a:solidFill>
                  <a:srgbClr val="000000"/>
                </a:solidFill>
                <a:latin typeface="黑体" panose="02010609060101010101" pitchFamily="49" charset="-122"/>
                <a:ea typeface="黑体" panose="02010609060101010101" pitchFamily="49" charset="-122"/>
                <a:sym typeface="+mn-ea"/>
              </a:rPr>
              <a:t>页的结论：码字多项式</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i</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就是</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的余式。则</a:t>
            </a:r>
            <a:r>
              <a:rPr lang="zh-CN" altLang="en-US" sz="2400" dirty="0">
                <a:solidFill>
                  <a:srgbClr val="000000"/>
                </a:solidFill>
                <a:latin typeface="黑体" panose="02010609060101010101" pitchFamily="49" charset="-122"/>
                <a:ea typeface="黑体" panose="02010609060101010101" pitchFamily="49" charset="-122"/>
                <a:sym typeface="+mn-ea"/>
              </a:rPr>
              <a:t>有</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k</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黑体" panose="02010609060101010101" pitchFamily="49" charset="-122"/>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，而</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k</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是</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黑体" panose="02010609060101010101" pitchFamily="49" charset="-122"/>
                <a:ea typeface="黑体" panose="02010609060101010101" pitchFamily="49" charset="-122"/>
                <a:sym typeface="+mn-ea"/>
              </a:rPr>
              <a:t>次循环移位，也是码字多项式，因此，它是</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的倍式。</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生成多项式</a:t>
            </a:r>
          </a:p>
        </p:txBody>
      </p:sp>
      <p:sp>
        <p:nvSpPr>
          <p:cNvPr id="10" name="矩形 9"/>
          <p:cNvSpPr/>
          <p:nvPr/>
        </p:nvSpPr>
        <p:spPr>
          <a:xfrm>
            <a:off x="1949450" y="1039496"/>
            <a:ext cx="8242300" cy="110299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文本框 8"/>
          <p:cNvSpPr txBox="1"/>
          <p:nvPr/>
        </p:nvSpPr>
        <p:spPr>
          <a:xfrm>
            <a:off x="2098676" y="1092200"/>
            <a:ext cx="8034655" cy="1000980"/>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FF0000"/>
                </a:solidFill>
                <a:latin typeface="Times New Roman" panose="02020603050405020304" pitchFamily="18" charset="0"/>
                <a:ea typeface="黑体" panose="02010609060101010101" pitchFamily="49" charset="-122"/>
                <a:sym typeface="+mn-ea"/>
              </a:rPr>
              <a:t>3</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若</a:t>
            </a:r>
            <a:r>
              <a:rPr lang="en-US" altLang="zh-CN" sz="2400" b="1" i="1" err="1">
                <a:solidFill>
                  <a:srgbClr val="000000"/>
                </a:solidFill>
                <a:latin typeface="Times New Roman" panose="02020603050405020304" pitchFamily="18" charset="0"/>
                <a:ea typeface="黑体" panose="02010609060101010101" pitchFamily="49" charset="-122"/>
                <a:sym typeface="+mn-ea"/>
              </a:rPr>
              <a:t>g</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是一个</a:t>
            </a:r>
            <a:r>
              <a:rPr lang="en-US" altLang="zh-CN" sz="2400" b="1" i="1" err="1">
                <a:solidFill>
                  <a:srgbClr val="000000"/>
                </a:solidFill>
                <a:latin typeface="Times New Roman" panose="02020603050405020304" pitchFamily="18" charset="0"/>
                <a:ea typeface="黑体" panose="02010609060101010101" pitchFamily="49" charset="-122"/>
                <a:sym typeface="+mn-ea"/>
              </a:rPr>
              <a:t>n</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k</a:t>
            </a:r>
            <a:r>
              <a:rPr lang="zh-CN" altLang="en-US" sz="2400" b="1" dirty="0">
                <a:solidFill>
                  <a:srgbClr val="000000"/>
                </a:solidFill>
                <a:latin typeface="黑体" panose="02010609060101010101" pitchFamily="49" charset="-122"/>
                <a:ea typeface="黑体" panose="02010609060101010101" pitchFamily="49" charset="-122"/>
                <a:sym typeface="+mn-ea"/>
              </a:rPr>
              <a:t>次多项式，并且是</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1">
                <a:solidFill>
                  <a:srgbClr val="000000"/>
                </a:solidFill>
                <a:latin typeface="Times New Roman" panose="02020603050405020304" pitchFamily="18" charset="0"/>
                <a:ea typeface="黑体" panose="02010609060101010101" pitchFamily="49" charset="-122"/>
                <a:sym typeface="+mn-ea"/>
              </a:rPr>
              <a:t>+1</a:t>
            </a:r>
            <a:r>
              <a:rPr lang="zh-CN" altLang="en-US" sz="2400" b="1" dirty="0">
                <a:solidFill>
                  <a:srgbClr val="000000"/>
                </a:solidFill>
                <a:latin typeface="Times New Roman" panose="02020603050405020304" pitchFamily="18" charset="0"/>
                <a:ea typeface="黑体" panose="02010609060101010101" pitchFamily="49" charset="-122"/>
                <a:sym typeface="+mn-ea"/>
              </a:rPr>
              <a:t>的因式，则</a:t>
            </a:r>
            <a:r>
              <a:rPr lang="en-US" altLang="zh-CN" sz="2400" b="1" i="1" err="1">
                <a:solidFill>
                  <a:srgbClr val="000000"/>
                </a:solidFill>
                <a:latin typeface="Times New Roman" panose="02020603050405020304" pitchFamily="18" charset="0"/>
                <a:ea typeface="黑体" panose="02010609060101010101" pitchFamily="49" charset="-122"/>
                <a:sym typeface="+mn-ea"/>
              </a:rPr>
              <a:t>g</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Times New Roman" panose="02020603050405020304" pitchFamily="18" charset="0"/>
                <a:ea typeface="黑体" panose="02010609060101010101" pitchFamily="49" charset="-122"/>
                <a:sym typeface="+mn-ea"/>
              </a:rPr>
              <a:t>生成一个</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n</a:t>
            </a:r>
            <a:r>
              <a:rPr lang="en-US" altLang="zh-CN" sz="2400" b="1" err="1">
                <a:solidFill>
                  <a:srgbClr val="000000"/>
                </a:solidFill>
                <a:latin typeface="Times New Roman" panose="02020603050405020304" pitchFamily="18" charset="0"/>
                <a:ea typeface="黑体" panose="02010609060101010101" pitchFamily="49" charset="-122"/>
                <a:sym typeface="+mn-ea"/>
              </a:rPr>
              <a:t>, </a:t>
            </a:r>
            <a:r>
              <a:rPr lang="en-US" altLang="zh-CN" sz="2400" b="1" i="1" err="1">
                <a:solidFill>
                  <a:srgbClr val="000000"/>
                </a:solidFill>
                <a:latin typeface="Times New Roman" panose="02020603050405020304" pitchFamily="18" charset="0"/>
                <a:ea typeface="黑体" panose="02010609060101010101" pitchFamily="49" charset="-122"/>
                <a:sym typeface="+mn-ea"/>
              </a:rPr>
              <a:t>k</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循环码</a:t>
            </a:r>
            <a:r>
              <a:rPr lang="zh-CN" altLang="en-US" sz="2400" b="1" dirty="0">
                <a:solidFill>
                  <a:srgbClr val="000000"/>
                </a:solidFill>
                <a:latin typeface="Times New Roman" panose="02020603050405020304" pitchFamily="18" charset="0"/>
                <a:ea typeface="黑体" panose="02010609060101010101" pitchFamily="49" charset="-122"/>
                <a:sym typeface="+mn-ea"/>
              </a:rPr>
              <a:t>。</a:t>
            </a:r>
            <a:endParaRPr lang="zh-CN" altLang="en-US" sz="2400" b="1" dirty="0">
              <a:solidFill>
                <a:srgbClr val="000000"/>
              </a:solidFill>
              <a:latin typeface="黑体" panose="02010609060101010101" pitchFamily="49" charset="-122"/>
              <a:ea typeface="黑体" panose="02010609060101010101" pitchFamily="49" charset="-122"/>
              <a:sym typeface="+mn-ea"/>
            </a:endParaRPr>
          </a:p>
        </p:txBody>
      </p:sp>
      <p:graphicFrame>
        <p:nvGraphicFramePr>
          <p:cNvPr id="4" name="对象 3">
            <a:hlinkClick r:id="" action="ppaction://ole?verb=0"/>
          </p:cNvPr>
          <p:cNvGraphicFramePr>
            <a:graphicFrameLocks noChangeAspect="1"/>
          </p:cNvGraphicFramePr>
          <p:nvPr/>
        </p:nvGraphicFramePr>
        <p:xfrm>
          <a:off x="1981836" y="2286001"/>
          <a:ext cx="5380355" cy="4214495"/>
        </p:xfrm>
        <a:graphic>
          <a:graphicData uri="http://schemas.openxmlformats.org/presentationml/2006/ole">
            <mc:AlternateContent xmlns:mc="http://schemas.openxmlformats.org/markup-compatibility/2006">
              <mc:Choice xmlns:v="urn:schemas-microsoft-com:vml" Requires="v">
                <p:oleObj r:id="rId2" imgW="2578100" imgH="3886200" progId="Equation.KSEE3">
                  <p:embed/>
                </p:oleObj>
              </mc:Choice>
              <mc:Fallback>
                <p:oleObj r:id="rId2" imgW="2578100" imgH="3886200" progId="Equation.KSEE3">
                  <p:embed/>
                  <p:pic>
                    <p:nvPicPr>
                      <p:cNvPr id="4" name="对象 3">
                        <a:hlinkClick r:id="" action="ppaction://ole?verb=0"/>
                      </p:cNvPr>
                      <p:cNvPicPr/>
                      <p:nvPr/>
                    </p:nvPicPr>
                    <p:blipFill>
                      <a:blip r:embed="rId3"/>
                      <a:stretch>
                        <a:fillRect/>
                      </a:stretch>
                    </p:blipFill>
                    <p:spPr>
                      <a:xfrm>
                        <a:off x="1981836" y="2286001"/>
                        <a:ext cx="5380355" cy="4214495"/>
                      </a:xfrm>
                      <a:prstGeom prst="rect">
                        <a:avLst/>
                      </a:prstGeom>
                    </p:spPr>
                  </p:pic>
                </p:oleObj>
              </mc:Fallback>
            </mc:AlternateContent>
          </a:graphicData>
        </a:graphic>
      </p:graphicFrame>
      <p:sp>
        <p:nvSpPr>
          <p:cNvPr id="5" name="文本框 4"/>
          <p:cNvSpPr txBox="1"/>
          <p:nvPr/>
        </p:nvSpPr>
        <p:spPr>
          <a:xfrm>
            <a:off x="7494270" y="2628265"/>
            <a:ext cx="2848610" cy="3415030"/>
          </a:xfrm>
          <a:prstGeom prst="rect">
            <a:avLst/>
          </a:prstGeom>
          <a:noFill/>
        </p:spPr>
        <p:txBody>
          <a:bodyPr wrap="square" rtlCol="0" anchor="t">
            <a:spAutoFit/>
          </a:bodyPr>
          <a:lstStyle/>
          <a:p>
            <a:pPr eaLnBrk="0" fontAlgn="base" hangingPunct="0">
              <a:spcBef>
                <a:spcPct val="0"/>
              </a:spcBef>
              <a:spcAft>
                <a:spcPct val="0"/>
              </a:spcAft>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多项式</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7</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可以分解为</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+1)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+1)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，其中有两个次数为</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的因式，都可以生成</a:t>
            </a:r>
            <a:r>
              <a:rPr lang="en-US" altLang="zh-CN" sz="2400">
                <a:solidFill>
                  <a:srgbClr val="000000"/>
                </a:solidFill>
                <a:latin typeface="Times New Roman" panose="02020603050405020304" pitchFamily="18" charset="0"/>
                <a:ea typeface="黑体" panose="02010609060101010101" pitchFamily="49" charset="-122"/>
                <a:sym typeface="+mn-ea"/>
              </a:rPr>
              <a:t>(7,4)</a:t>
            </a:r>
            <a:r>
              <a:rPr lang="zh-CN" altLang="en-US" sz="2400" dirty="0">
                <a:solidFill>
                  <a:srgbClr val="000000"/>
                </a:solidFill>
                <a:latin typeface="Times New Roman" panose="02020603050405020304" pitchFamily="18" charset="0"/>
                <a:ea typeface="黑体" panose="02010609060101010101" pitchFamily="49" charset="-122"/>
                <a:sym typeface="+mn-ea"/>
              </a:rPr>
              <a:t>循环码，左边表格的循环码是由</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生成的，</a:t>
            </a:r>
            <a:r>
              <a:rPr lang="en-US" altLang="zh-CN" sz="2400" i="1" dirty="0">
                <a:solidFill>
                  <a:srgbClr val="000000"/>
                </a:solidFill>
                <a:latin typeface="Times New Roman" panose="02020603050405020304" pitchFamily="18" charset="0"/>
                <a:ea typeface="黑体" panose="02010609060101010101" pitchFamily="49" charset="-122"/>
                <a:sym typeface="+mn-ea"/>
              </a:rPr>
              <a:t>d</a:t>
            </a:r>
            <a:r>
              <a:rPr lang="en-US" altLang="zh-CN" sz="2400" dirty="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，能纠</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个错。</a:t>
            </a:r>
            <a:endParaRPr sz="2400" dirty="0">
              <a:solidFill>
                <a:srgbClr val="000000"/>
              </a:solidFill>
              <a:latin typeface="Times New Roman" panose="02020603050405020304" pitchFamily="18" charset="0"/>
              <a:ea typeface="黑体" panose="02010609060101010101" pitchFamily="49" charset="-122"/>
              <a:sym typeface="+mn-ea"/>
            </a:endParaRPr>
          </a:p>
        </p:txBody>
      </p:sp>
      <p:cxnSp>
        <p:nvCxnSpPr>
          <p:cNvPr id="3" name="直接连接符 2"/>
          <p:cNvCxnSpPr/>
          <p:nvPr/>
        </p:nvCxnSpPr>
        <p:spPr>
          <a:xfrm>
            <a:off x="4495800" y="3048000"/>
            <a:ext cx="2667000" cy="0"/>
          </a:xfrm>
          <a:prstGeom prst="line">
            <a:avLst/>
          </a:prstGeom>
          <a:noFill/>
          <a:ln w="25400">
            <a:solidFill>
              <a:srgbClr val="FF0000"/>
            </a:solidFill>
          </a:ln>
        </p:spPr>
      </p:cxn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循环码的生成矩阵</a:t>
            </a:r>
          </a:p>
        </p:txBody>
      </p:sp>
      <p:sp>
        <p:nvSpPr>
          <p:cNvPr id="9" name="文本框 8"/>
          <p:cNvSpPr txBox="1"/>
          <p:nvPr/>
        </p:nvSpPr>
        <p:spPr>
          <a:xfrm>
            <a:off x="1955166" y="865505"/>
            <a:ext cx="8178165" cy="2602230"/>
          </a:xfrm>
          <a:prstGeom prst="rect">
            <a:avLst/>
          </a:prstGeom>
          <a:noFill/>
        </p:spPr>
        <p:txBody>
          <a:bodyPr wrap="square" rtlCol="0" anchor="t">
            <a:spAutoFit/>
          </a:bodyPr>
          <a:lstStyle/>
          <a:p>
            <a:pPr indent="609600" eaLnBrk="0" fontAlgn="base" hangingPunct="0">
              <a:lnSpc>
                <a:spcPct val="170000"/>
              </a:lnSpc>
              <a:spcBef>
                <a:spcPct val="0"/>
              </a:spcBef>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考虑以                 </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为生成矩阵的</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循环码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黑体" panose="02010609060101010101" pitchFamily="49" charset="-122"/>
                <a:ea typeface="黑体" panose="02010609060101010101" pitchFamily="49" charset="-122"/>
                <a:sym typeface="+mn-ea"/>
              </a:rPr>
              <a:t>，由于</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xg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 ,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张成</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，将这</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个多项式的</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个</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重做为</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en-US" sz="2400" err="1">
                <a:solidFill>
                  <a:srgbClr val="000000"/>
                </a:solidFill>
                <a:latin typeface="Arial" panose="020B0604020202020204" pitchFamily="34"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阶矩阵的行，一般选择前</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位为</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的向量作为</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，则得到</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的生成矩阵为</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graphicFrame>
        <p:nvGraphicFramePr>
          <p:cNvPr id="3" name="对象 2">
            <a:hlinkClick r:id="" action="ppaction://ole?verb=0"/>
          </p:cNvPr>
          <p:cNvGraphicFramePr>
            <a:graphicFrameLocks noChangeAspect="1"/>
          </p:cNvGraphicFramePr>
          <p:nvPr/>
        </p:nvGraphicFramePr>
        <p:xfrm>
          <a:off x="3658236" y="914083"/>
          <a:ext cx="1591310" cy="847090"/>
        </p:xfrm>
        <a:graphic>
          <a:graphicData uri="http://schemas.openxmlformats.org/presentationml/2006/ole">
            <mc:AlternateContent xmlns:mc="http://schemas.openxmlformats.org/markup-compatibility/2006">
              <mc:Choice xmlns:v="urn:schemas-microsoft-com:vml" Requires="v">
                <p:oleObj r:id="rId3" imgW="901700" imgH="431800" progId="Equation.KSEE3">
                  <p:embed/>
                </p:oleObj>
              </mc:Choice>
              <mc:Fallback>
                <p:oleObj r:id="rId3" imgW="901700" imgH="431800" progId="Equation.KSEE3">
                  <p:embed/>
                  <p:pic>
                    <p:nvPicPr>
                      <p:cNvPr id="3" name="对象 2">
                        <a:hlinkClick r:id="" action="ppaction://ole?verb=0"/>
                      </p:cNvPr>
                      <p:cNvPicPr/>
                      <p:nvPr/>
                    </p:nvPicPr>
                    <p:blipFill>
                      <a:blip r:embed="rId4"/>
                      <a:stretch>
                        <a:fillRect/>
                      </a:stretch>
                    </p:blipFill>
                    <p:spPr>
                      <a:xfrm>
                        <a:off x="3658236" y="914083"/>
                        <a:ext cx="1591310" cy="847090"/>
                      </a:xfrm>
                      <a:prstGeom prst="rect">
                        <a:avLst/>
                      </a:prstGeom>
                    </p:spPr>
                  </p:pic>
                </p:oleObj>
              </mc:Fallback>
            </mc:AlternateContent>
          </a:graphicData>
        </a:graphic>
      </p:graphicFrame>
      <p:graphicFrame>
        <p:nvGraphicFramePr>
          <p:cNvPr id="4" name="对象 3">
            <a:hlinkClick r:id="" action="ppaction://ole?verb=0"/>
          </p:cNvPr>
          <p:cNvGraphicFramePr>
            <a:graphicFrameLocks noChangeAspect="1"/>
          </p:cNvGraphicFramePr>
          <p:nvPr/>
        </p:nvGraphicFramePr>
        <p:xfrm>
          <a:off x="2144079" y="3503295"/>
          <a:ext cx="7908925" cy="2292350"/>
        </p:xfrm>
        <a:graphic>
          <a:graphicData uri="http://schemas.openxmlformats.org/presentationml/2006/ole">
            <mc:AlternateContent xmlns:mc="http://schemas.openxmlformats.org/markup-compatibility/2006">
              <mc:Choice xmlns:v="urn:schemas-microsoft-com:vml" Requires="v">
                <p:oleObj r:id="rId5" imgW="4635500" imgH="1168400" progId="Equation.KSEE3">
                  <p:embed/>
                </p:oleObj>
              </mc:Choice>
              <mc:Fallback>
                <p:oleObj r:id="rId5" imgW="4635500" imgH="1168400" progId="Equation.KSEE3">
                  <p:embed/>
                  <p:pic>
                    <p:nvPicPr>
                      <p:cNvPr id="4" name="对象 3">
                        <a:hlinkClick r:id="" action="ppaction://ole?verb=0"/>
                      </p:cNvPr>
                      <p:cNvPicPr/>
                      <p:nvPr/>
                    </p:nvPicPr>
                    <p:blipFill>
                      <a:blip r:embed="rId6"/>
                      <a:stretch>
                        <a:fillRect/>
                      </a:stretch>
                    </p:blipFill>
                    <p:spPr>
                      <a:xfrm>
                        <a:off x="2144079" y="3503295"/>
                        <a:ext cx="7908925" cy="2292350"/>
                      </a:xfrm>
                      <a:prstGeom prst="rect">
                        <a:avLst/>
                      </a:prstGeom>
                    </p:spPr>
                  </p:pic>
                </p:oleObj>
              </mc:Fallback>
            </mc:AlternateContent>
          </a:graphicData>
        </a:graphic>
      </p:graphicFrame>
      <p:sp>
        <p:nvSpPr>
          <p:cNvPr id="6" name="文本框 5"/>
          <p:cNvSpPr txBox="1"/>
          <p:nvPr/>
        </p:nvSpPr>
        <p:spPr>
          <a:xfrm>
            <a:off x="2082166" y="5753100"/>
            <a:ext cx="2604135" cy="520848"/>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其中</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n-k</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举例：求生成矩阵</a:t>
            </a:r>
          </a:p>
        </p:txBody>
      </p:sp>
      <p:sp>
        <p:nvSpPr>
          <p:cNvPr id="9" name="文本框 8"/>
          <p:cNvSpPr txBox="1"/>
          <p:nvPr/>
        </p:nvSpPr>
        <p:spPr>
          <a:xfrm>
            <a:off x="1955166" y="1092201"/>
            <a:ext cx="8178165" cy="2009775"/>
          </a:xfrm>
          <a:prstGeom prst="rect">
            <a:avLst/>
          </a:prstGeom>
          <a:noFill/>
        </p:spPr>
        <p:txBody>
          <a:bodyPr wrap="square" rtlCol="0" anchor="t">
            <a:spAutoFit/>
          </a:bodyPr>
          <a:lstStyle/>
          <a:p>
            <a:pPr indent="609600" algn="just" eaLnBrk="0" fontAlgn="base" hangingPunct="0">
              <a:lnSpc>
                <a:spcPct val="13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黑体" panose="02010609060101010101" pitchFamily="49" charset="-122"/>
                <a:ea typeface="黑体" panose="02010609060101010101" pitchFamily="49" charset="-122"/>
                <a:sym typeface="+mn-ea"/>
              </a:rPr>
              <a:t>考虑</a:t>
            </a:r>
            <a:r>
              <a:rPr lang="en-US" altLang="zh-CN" sz="2400">
                <a:solidFill>
                  <a:srgbClr val="000000"/>
                </a:solidFill>
                <a:latin typeface="Times New Roman" panose="02020603050405020304" pitchFamily="18" charset="0"/>
                <a:ea typeface="黑体" panose="02010609060101010101" pitchFamily="49" charset="-122"/>
                <a:sym typeface="+mn-ea"/>
              </a:rPr>
              <a:t>(7, 3)</a:t>
            </a:r>
            <a:r>
              <a:rPr lang="zh-CN" altLang="en-US" sz="2400" dirty="0">
                <a:solidFill>
                  <a:srgbClr val="000000"/>
                </a:solidFill>
                <a:latin typeface="黑体" panose="02010609060101010101" pitchFamily="49" charset="-122"/>
                <a:ea typeface="黑体" panose="02010609060101010101" pitchFamily="49" charset="-122"/>
                <a:sym typeface="+mn-ea"/>
              </a:rPr>
              <a:t>汉明码</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7</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3</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2, </a:t>
            </a:r>
            <a:r>
              <a:rPr lang="zh-CN" altLang="en-US" sz="2400" dirty="0">
                <a:solidFill>
                  <a:srgbClr val="000000"/>
                </a:solidFill>
                <a:latin typeface="Times New Roman" panose="02020603050405020304" pitchFamily="18" charset="0"/>
                <a:ea typeface="黑体" panose="02010609060101010101" pitchFamily="49" charset="-122"/>
                <a:sym typeface="+mn-ea"/>
              </a:rPr>
              <a:t>码字为</a:t>
            </a:r>
            <a:r>
              <a:rPr lang="en-US" altLang="zh-CN" sz="2400">
                <a:solidFill>
                  <a:srgbClr val="000000"/>
                </a:solidFill>
                <a:latin typeface="Times New Roman" panose="02020603050405020304" pitchFamily="18" charset="0"/>
                <a:ea typeface="黑体" panose="02010609060101010101" pitchFamily="49" charset="-122"/>
                <a:sym typeface="+mn-ea"/>
              </a:rPr>
              <a:t>(1001110), (0100111), (1010011), (1101001), (1110100), (0111010), (0011101), </a:t>
            </a:r>
            <a:r>
              <a:rPr lang="zh-CN" altLang="en-US" sz="2400" dirty="0">
                <a:solidFill>
                  <a:srgbClr val="000000"/>
                </a:solidFill>
                <a:latin typeface="Times New Roman" panose="02020603050405020304" pitchFamily="18" charset="0"/>
                <a:ea typeface="黑体" panose="02010609060101010101" pitchFamily="49" charset="-122"/>
                <a:sym typeface="+mn-ea"/>
              </a:rPr>
              <a:t>因为码字</a:t>
            </a:r>
            <a:r>
              <a:rPr lang="en-US" altLang="zh-CN" sz="2400">
                <a:solidFill>
                  <a:srgbClr val="000000"/>
                </a:solidFill>
                <a:latin typeface="Times New Roman" panose="02020603050405020304" pitchFamily="18" charset="0"/>
                <a:ea typeface="黑体" panose="02010609060101010101" pitchFamily="49" charset="-122"/>
                <a:sym typeface="+mn-ea"/>
              </a:rPr>
              <a:t>(0011101)</a:t>
            </a:r>
            <a:r>
              <a:rPr lang="zh-CN" altLang="en-US" sz="2400" dirty="0">
                <a:solidFill>
                  <a:srgbClr val="000000"/>
                </a:solidFill>
                <a:latin typeface="Times New Roman" panose="02020603050405020304" pitchFamily="18" charset="0"/>
                <a:ea typeface="黑体" panose="02010609060101010101" pitchFamily="49" charset="-122"/>
                <a:sym typeface="+mn-ea"/>
              </a:rPr>
              <a:t>前面有</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个零</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将它作为</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即</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4</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 </a:t>
            </a:r>
            <a:r>
              <a:rPr lang="zh-CN" altLang="en-US" sz="2400" dirty="0">
                <a:solidFill>
                  <a:srgbClr val="000000"/>
                </a:solidFill>
                <a:latin typeface="Times New Roman" panose="02020603050405020304" pitchFamily="18" charset="0"/>
                <a:ea typeface="黑体" panose="02010609060101010101" pitchFamily="49" charset="-122"/>
                <a:sym typeface="+mn-ea"/>
              </a:rPr>
              <a:t>得到</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graphicFrame>
        <p:nvGraphicFramePr>
          <p:cNvPr id="4" name="对象 3">
            <a:hlinkClick r:id="" action="ppaction://ole?verb=0"/>
          </p:cNvPr>
          <p:cNvGraphicFramePr>
            <a:graphicFrameLocks noChangeAspect="1"/>
          </p:cNvGraphicFramePr>
          <p:nvPr/>
        </p:nvGraphicFramePr>
        <p:xfrm>
          <a:off x="2133600" y="3504884"/>
          <a:ext cx="3964940" cy="1544955"/>
        </p:xfrm>
        <a:graphic>
          <a:graphicData uri="http://schemas.openxmlformats.org/presentationml/2006/ole">
            <mc:AlternateContent xmlns:mc="http://schemas.openxmlformats.org/markup-compatibility/2006">
              <mc:Choice xmlns:v="urn:schemas-microsoft-com:vml" Requires="v">
                <p:oleObj r:id="rId3" imgW="2324100" imgH="787400" progId="Equation.KSEE3">
                  <p:embed/>
                </p:oleObj>
              </mc:Choice>
              <mc:Fallback>
                <p:oleObj r:id="rId3" imgW="2324100" imgH="787400" progId="Equation.KSEE3">
                  <p:embed/>
                  <p:pic>
                    <p:nvPicPr>
                      <p:cNvPr id="4" name="对象 3">
                        <a:hlinkClick r:id="" action="ppaction://ole?verb=0"/>
                      </p:cNvPr>
                      <p:cNvPicPr/>
                      <p:nvPr/>
                    </p:nvPicPr>
                    <p:blipFill>
                      <a:blip r:embed="rId4"/>
                      <a:stretch>
                        <a:fillRect/>
                      </a:stretch>
                    </p:blipFill>
                    <p:spPr>
                      <a:xfrm>
                        <a:off x="2133600" y="3504884"/>
                        <a:ext cx="3964940" cy="1544955"/>
                      </a:xfrm>
                      <a:prstGeom prst="rect">
                        <a:avLst/>
                      </a:prstGeom>
                    </p:spPr>
                  </p:pic>
                </p:oleObj>
              </mc:Fallback>
            </mc:AlternateContent>
          </a:graphicData>
        </a:graphic>
      </p:graphicFrame>
      <p:sp>
        <p:nvSpPr>
          <p:cNvPr id="6" name="文本框 5"/>
          <p:cNvSpPr txBox="1"/>
          <p:nvPr/>
        </p:nvSpPr>
        <p:spPr>
          <a:xfrm>
            <a:off x="2082166" y="5299710"/>
            <a:ext cx="2604135" cy="520848"/>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其中</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n-k</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0"/>
          </p:cNvPr>
          <p:cNvGraphicFramePr>
            <a:graphicFrameLocks noChangeAspect="1"/>
          </p:cNvGraphicFramePr>
          <p:nvPr/>
        </p:nvGraphicFramePr>
        <p:xfrm>
          <a:off x="6629400" y="3580131"/>
          <a:ext cx="3077210" cy="1395730"/>
        </p:xfrm>
        <a:graphic>
          <a:graphicData uri="http://schemas.openxmlformats.org/presentationml/2006/ole">
            <mc:AlternateContent xmlns:mc="http://schemas.openxmlformats.org/markup-compatibility/2006">
              <mc:Choice xmlns:v="urn:schemas-microsoft-com:vml" Requires="v">
                <p:oleObj r:id="rId5" imgW="1803400" imgH="711200" progId="Equation.KSEE3">
                  <p:embed/>
                </p:oleObj>
              </mc:Choice>
              <mc:Fallback>
                <p:oleObj r:id="rId5" imgW="1803400" imgH="711200" progId="Equation.KSEE3">
                  <p:embed/>
                  <p:pic>
                    <p:nvPicPr>
                      <p:cNvPr id="7" name="对象 6">
                        <a:hlinkClick r:id="" action="ppaction://ole?verb=0"/>
                      </p:cNvPr>
                      <p:cNvPicPr/>
                      <p:nvPr/>
                    </p:nvPicPr>
                    <p:blipFill>
                      <a:blip r:embed="rId6"/>
                      <a:stretch>
                        <a:fillRect/>
                      </a:stretch>
                    </p:blipFill>
                    <p:spPr>
                      <a:xfrm>
                        <a:off x="6629400" y="3580131"/>
                        <a:ext cx="3077210" cy="1395730"/>
                      </a:xfrm>
                      <a:prstGeom prst="rect">
                        <a:avLst/>
                      </a:prstGeom>
                    </p:spPr>
                  </p:pic>
                </p:oleObj>
              </mc:Fallback>
            </mc:AlternateContent>
          </a:graphicData>
        </a:graphic>
      </p:graphicFrame>
      <p:sp>
        <p:nvSpPr>
          <p:cNvPr id="3" name="右箭头 2"/>
          <p:cNvSpPr/>
          <p:nvPr/>
        </p:nvSpPr>
        <p:spPr>
          <a:xfrm>
            <a:off x="6248400" y="4086860"/>
            <a:ext cx="304800" cy="381000"/>
          </a:xfrm>
          <a:prstGeom prst="rightArrow">
            <a:avLst/>
          </a:prstGeom>
          <a:gradFill>
            <a:gsLst>
              <a:gs pos="0">
                <a:srgbClr val="14CD68"/>
              </a:gs>
              <a:gs pos="100000">
                <a:srgbClr val="035C7D"/>
              </a:gs>
            </a:gsLst>
            <a:lin ang="5400000" scaled="0"/>
          </a:gra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Tree>
  </p:cSld>
  <p:clrMapOvr>
    <a:overrideClrMapping bg1="lt1" tx1="dk1" bg2="lt2" tx2="dk2" accent1="accent1" accent2="accent2" accent3="accent3" accent4="accent4" accent5="accent5" accent6="accent6" hlink="hlink" folHlink="folHlink"/>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690236" y="104775"/>
            <a:ext cx="471106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一致校验矩阵</a:t>
            </a:r>
          </a:p>
        </p:txBody>
      </p:sp>
      <p:sp>
        <p:nvSpPr>
          <p:cNvPr id="7" name="文本框 6"/>
          <p:cNvSpPr txBox="1"/>
          <p:nvPr/>
        </p:nvSpPr>
        <p:spPr>
          <a:xfrm>
            <a:off x="1903730" y="838836"/>
            <a:ext cx="8394700" cy="4078605"/>
          </a:xfrm>
          <a:prstGeom prst="rect">
            <a:avLst/>
          </a:prstGeom>
          <a:noFill/>
        </p:spPr>
        <p:txBody>
          <a:bodyPr wrap="square" rtlCol="0" anchor="t">
            <a:spAutoFit/>
          </a:bodyPr>
          <a:lstStyle/>
          <a:p>
            <a:pPr indent="609600" eaLnBrk="0" fontAlgn="base" hangingPunct="0">
              <a:lnSpc>
                <a:spcPct val="12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因为生成多项式</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是</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的因式</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所以存在另一个多项式</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                                  </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使得</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 </a:t>
            </a:r>
            <a:r>
              <a:rPr lang="zh-CN" altLang="en-US" sz="2400" dirty="0">
                <a:solidFill>
                  <a:srgbClr val="000000"/>
                </a:solidFill>
                <a:latin typeface="Times New Roman" panose="02020603050405020304" pitchFamily="18" charset="0"/>
                <a:ea typeface="黑体" panose="02010609060101010101" pitchFamily="49" charset="-122"/>
                <a:sym typeface="+mn-ea"/>
              </a:rPr>
              <a:t>此多项式</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称为码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的校验多项式</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a:solidFill>
                  <a:srgbClr val="000000"/>
                </a:solidFill>
                <a:latin typeface="Times New Roman" panose="02020603050405020304" pitchFamily="18" charset="0"/>
                <a:ea typeface="黑体" panose="02010609060101010101" pitchFamily="49" charset="-122"/>
                <a:sym typeface="+mn-ea"/>
              </a:rPr>
              <a:t>故</a:t>
            </a:r>
            <a:r>
              <a:rPr lang="zh-CN" altLang="en-US" sz="2400" dirty="0">
                <a:solidFill>
                  <a:srgbClr val="000000"/>
                </a:solidFill>
                <a:latin typeface="Times New Roman" panose="02020603050405020304" pitchFamily="18" charset="0"/>
                <a:ea typeface="黑体" panose="02010609060101010101" pitchFamily="49" charset="-122"/>
                <a:sym typeface="+mn-ea"/>
              </a:rPr>
              <a:t>可以得到码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的一致校验矩阵</a:t>
            </a:r>
            <a:r>
              <a:rPr lang="en-US" altLang="zh-CN" sz="2400" i="1" dirty="0">
                <a:solidFill>
                  <a:srgbClr val="000000"/>
                </a:solidFill>
                <a:latin typeface="Times New Roman" panose="02020603050405020304" pitchFamily="18" charset="0"/>
                <a:ea typeface="黑体" panose="02010609060101010101" pitchFamily="49" charset="-122"/>
                <a:sym typeface="+mn-ea"/>
              </a:rPr>
              <a:t>H</a:t>
            </a:r>
            <a:r>
              <a:rPr lang="zh-CN" altLang="en-US" sz="2400" dirty="0">
                <a:solidFill>
                  <a:srgbClr val="000000"/>
                </a:solidFill>
                <a:latin typeface="Times New Roman" panose="02020603050405020304" pitchFamily="18" charset="0"/>
                <a:ea typeface="黑体" panose="02010609060101010101" pitchFamily="49" charset="-122"/>
                <a:sym typeface="+mn-ea"/>
              </a:rPr>
              <a:t>。</a:t>
            </a:r>
            <a:endParaRPr lang="en-US" altLang="zh-CN" sz="240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2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设</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 ,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是</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的一个码矢</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则</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有</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a</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由于</a:t>
            </a:r>
            <a:r>
              <a:rPr lang="en-US" altLang="zh-CN" sz="2400">
                <a:solidFill>
                  <a:srgbClr val="000000"/>
                </a:solidFill>
                <a:latin typeface="Times New Roman" panose="02020603050405020304" pitchFamily="18" charset="0"/>
                <a:ea typeface="黑体" panose="02010609060101010101" pitchFamily="49" charset="-122"/>
                <a:sym typeface="+mn-ea"/>
              </a:rPr>
              <a:t>deg(</a:t>
            </a:r>
            <a:r>
              <a:rPr lang="en-US" altLang="zh-CN" sz="2400" i="1">
                <a:solidFill>
                  <a:srgbClr val="000000"/>
                </a:solidFill>
                <a:latin typeface="Times New Roman" panose="02020603050405020304" pitchFamily="18" charset="0"/>
                <a:ea typeface="黑体" panose="02010609060101010101" pitchFamily="49" charset="-122"/>
                <a:sym typeface="+mn-ea"/>
              </a:rPr>
              <a:t>a</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en-US" sz="2400">
                <a:solidFill>
                  <a:srgbClr val="000000"/>
                </a:solidFill>
                <a:latin typeface="Arial" panose="020B0604020202020204" pitchFamily="34"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-1, </a:t>
            </a:r>
            <a:r>
              <a:rPr lang="zh-CN" altLang="en-US" sz="2400" dirty="0">
                <a:solidFill>
                  <a:srgbClr val="000000"/>
                </a:solidFill>
                <a:latin typeface="Times New Roman" panose="02020603050405020304" pitchFamily="18" charset="0"/>
                <a:ea typeface="黑体" panose="02010609060101010101" pitchFamily="49" charset="-122"/>
                <a:sym typeface="+mn-ea"/>
              </a:rPr>
              <a:t>故在</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中不会出现</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 ,</a:t>
            </a:r>
            <a:r>
              <a:rPr lang="en-US" altLang="zh-CN" sz="2400" i="1">
                <a:solidFill>
                  <a:srgbClr val="000000"/>
                </a:solidFill>
                <a:latin typeface="Times New Roman" panose="02020603050405020304" pitchFamily="18" charset="0"/>
                <a:ea typeface="黑体" panose="02010609060101010101" pitchFamily="49" charset="-122"/>
                <a:sym typeface="+mn-ea"/>
              </a:rPr>
              <a:t> x</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等各次幂</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于是</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的展开式中</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 ,</a:t>
            </a:r>
            <a:r>
              <a:rPr lang="en-US" altLang="zh-CN" sz="2400" i="1">
                <a:solidFill>
                  <a:srgbClr val="000000"/>
                </a:solidFill>
                <a:latin typeface="Times New Roman" panose="02020603050405020304" pitchFamily="18" charset="0"/>
                <a:ea typeface="黑体" panose="02010609060101010101" pitchFamily="49" charset="-122"/>
                <a:sym typeface="+mn-ea"/>
              </a:rPr>
              <a:t> x</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的系数等于零。</a:t>
            </a:r>
          </a:p>
          <a:p>
            <a:pPr indent="711200" eaLnBrk="0" fontAlgn="base" hangingPunct="0">
              <a:lnSpc>
                <a:spcPct val="12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因此</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得到以下</a:t>
            </a:r>
            <a:r>
              <a:rPr lang="en-US" altLang="zh-CN" sz="2400" i="1" err="1">
                <a:solidFill>
                  <a:srgbClr val="000000"/>
                </a:solidFill>
                <a:latin typeface="Times New Roman" panose="02020603050405020304" pitchFamily="18" charset="0"/>
                <a:ea typeface="黑体" panose="02010609060101010101" pitchFamily="49" charset="-122"/>
                <a:sym typeface="+mn-ea"/>
              </a:rPr>
              <a:t>n-k</a:t>
            </a:r>
            <a:r>
              <a:rPr lang="zh-CN" altLang="en-US" sz="2400" dirty="0">
                <a:solidFill>
                  <a:srgbClr val="000000"/>
                </a:solidFill>
                <a:latin typeface="Times New Roman" panose="02020603050405020304" pitchFamily="18" charset="0"/>
                <a:ea typeface="黑体" panose="02010609060101010101" pitchFamily="49" charset="-122"/>
                <a:sym typeface="+mn-ea"/>
              </a:rPr>
              <a:t>个方程</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n-j</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n-j-</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k</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n-j-k</a:t>
            </a:r>
            <a:r>
              <a:rPr lang="en-US" altLang="zh-CN" sz="2400">
                <a:solidFill>
                  <a:srgbClr val="000000"/>
                </a:solidFill>
                <a:latin typeface="Times New Roman" panose="02020603050405020304" pitchFamily="18" charset="0"/>
                <a:ea typeface="黑体" panose="02010609060101010101" pitchFamily="49" charset="-122"/>
                <a:sym typeface="+mn-ea"/>
              </a:rPr>
              <a:t>=0,  </a:t>
            </a:r>
            <a:r>
              <a:rPr lang="en-US" altLang="zh-CN" sz="2400" i="1">
                <a:solidFill>
                  <a:srgbClr val="000000"/>
                </a:solidFill>
                <a:latin typeface="Times New Roman" panose="02020603050405020304" pitchFamily="18" charset="0"/>
                <a:ea typeface="黑体" panose="02010609060101010101" pitchFamily="49" charset="-122"/>
                <a:sym typeface="+mn-ea"/>
              </a:rPr>
              <a:t>j</a:t>
            </a:r>
            <a:r>
              <a:rPr lang="en-US" altLang="zh-CN" sz="2400">
                <a:solidFill>
                  <a:srgbClr val="000000"/>
                </a:solidFill>
                <a:latin typeface="Times New Roman" panose="02020603050405020304" pitchFamily="18" charset="0"/>
                <a:ea typeface="黑体" panose="02010609060101010101" pitchFamily="49" charset="-122"/>
                <a:sym typeface="+mn-ea"/>
              </a:rPr>
              <a:t>=1, … , </a:t>
            </a:r>
            <a:r>
              <a:rPr lang="en-US" altLang="zh-CN" sz="2400" i="1" err="1">
                <a:solidFill>
                  <a:srgbClr val="000000"/>
                </a:solidFill>
                <a:latin typeface="Times New Roman" panose="02020603050405020304" pitchFamily="18" charset="0"/>
                <a:ea typeface="黑体" panose="02010609060101010101" pitchFamily="49" charset="-122"/>
                <a:sym typeface="+mn-ea"/>
              </a:rPr>
              <a:t>n-k</a:t>
            </a:r>
            <a:r>
              <a:rPr lang="zh-CN" altLang="en-US" sz="2400">
                <a:solidFill>
                  <a:srgbClr val="000000"/>
                </a:solidFill>
                <a:latin typeface="Times New Roman" panose="02020603050405020304" pitchFamily="18" charset="0"/>
                <a:ea typeface="黑体" panose="02010609060101010101" pitchFamily="49" charset="-122"/>
                <a:sym typeface="+mn-ea"/>
              </a:rPr>
              <a:t>。则</a:t>
            </a:r>
            <a:r>
              <a:rPr lang="zh-CN" altLang="en-US" sz="2400" dirty="0">
                <a:solidFill>
                  <a:srgbClr val="000000"/>
                </a:solidFill>
                <a:latin typeface="Times New Roman" panose="02020603050405020304" pitchFamily="18" charset="0"/>
                <a:ea typeface="黑体" panose="02010609060101010101" pitchFamily="49" charset="-122"/>
                <a:sym typeface="+mn-ea"/>
              </a:rPr>
              <a:t>码</a:t>
            </a:r>
            <a:r>
              <a:rPr lang="en-US" altLang="zh-CN" sz="2400">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的一致校验矩阵为</a:t>
            </a:r>
          </a:p>
        </p:txBody>
      </p:sp>
      <p:graphicFrame>
        <p:nvGraphicFramePr>
          <p:cNvPr id="4" name="对象 3">
            <a:hlinkClick r:id="" action="ppaction://ole?verb=0"/>
          </p:cNvPr>
          <p:cNvGraphicFramePr>
            <a:graphicFrameLocks noChangeAspect="1"/>
          </p:cNvGraphicFramePr>
          <p:nvPr/>
        </p:nvGraphicFramePr>
        <p:xfrm>
          <a:off x="2286001" y="1296035"/>
          <a:ext cx="2985135" cy="513080"/>
        </p:xfrm>
        <a:graphic>
          <a:graphicData uri="http://schemas.openxmlformats.org/presentationml/2006/ole">
            <mc:AlternateContent xmlns:mc="http://schemas.openxmlformats.org/markup-compatibility/2006">
              <mc:Choice xmlns:v="urn:schemas-microsoft-com:vml" Requires="v">
                <p:oleObj r:id="rId3" imgW="1663700" imgH="292100" progId="Equation.KSEE3">
                  <p:embed/>
                </p:oleObj>
              </mc:Choice>
              <mc:Fallback>
                <p:oleObj r:id="rId3" imgW="1663700" imgH="292100" progId="Equation.KSEE3">
                  <p:embed/>
                  <p:pic>
                    <p:nvPicPr>
                      <p:cNvPr id="4" name="对象 3">
                        <a:hlinkClick r:id="" action="ppaction://ole?verb=0"/>
                      </p:cNvPr>
                      <p:cNvPicPr/>
                      <p:nvPr/>
                    </p:nvPicPr>
                    <p:blipFill>
                      <a:blip r:embed="rId4"/>
                      <a:stretch>
                        <a:fillRect/>
                      </a:stretch>
                    </p:blipFill>
                    <p:spPr>
                      <a:xfrm>
                        <a:off x="2286001" y="1296035"/>
                        <a:ext cx="2985135" cy="513080"/>
                      </a:xfrm>
                      <a:prstGeom prst="rect">
                        <a:avLst/>
                      </a:prstGeom>
                    </p:spPr>
                  </p:pic>
                </p:oleObj>
              </mc:Fallback>
            </mc:AlternateContent>
          </a:graphicData>
        </a:graphic>
      </p:graphicFrame>
      <p:graphicFrame>
        <p:nvGraphicFramePr>
          <p:cNvPr id="8" name="对象 7">
            <a:hlinkClick r:id="" action="ppaction://ole?verb=0"/>
          </p:cNvPr>
          <p:cNvGraphicFramePr>
            <a:graphicFrameLocks noChangeAspect="1"/>
          </p:cNvGraphicFramePr>
          <p:nvPr/>
        </p:nvGraphicFramePr>
        <p:xfrm>
          <a:off x="3276283" y="4917440"/>
          <a:ext cx="5720080" cy="1651000"/>
        </p:xfrm>
        <a:graphic>
          <a:graphicData uri="http://schemas.openxmlformats.org/presentationml/2006/ole">
            <mc:AlternateContent xmlns:mc="http://schemas.openxmlformats.org/markup-compatibility/2006">
              <mc:Choice xmlns:v="urn:schemas-microsoft-com:vml" Requires="v">
                <p:oleObj r:id="rId5" imgW="3187700" imgH="939800" progId="Equation.KSEE3">
                  <p:embed/>
                </p:oleObj>
              </mc:Choice>
              <mc:Fallback>
                <p:oleObj r:id="rId5" imgW="3187700" imgH="939800" progId="Equation.KSEE3">
                  <p:embed/>
                  <p:pic>
                    <p:nvPicPr>
                      <p:cNvPr id="8" name="对象 7">
                        <a:hlinkClick r:id="" action="ppaction://ole?verb=0"/>
                      </p:cNvPr>
                      <p:cNvPicPr/>
                      <p:nvPr/>
                    </p:nvPicPr>
                    <p:blipFill>
                      <a:blip r:embed="rId6"/>
                      <a:stretch>
                        <a:fillRect/>
                      </a:stretch>
                    </p:blipFill>
                    <p:spPr>
                      <a:xfrm>
                        <a:off x="3276283" y="4917440"/>
                        <a:ext cx="5720080" cy="1651000"/>
                      </a:xfrm>
                      <a:prstGeom prst="rect">
                        <a:avLst/>
                      </a:prstGeom>
                    </p:spPr>
                  </p:pic>
                </p:oleObj>
              </mc:Fallback>
            </mc:AlternateContent>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336416" y="104775"/>
            <a:ext cx="606488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系统形式的生成矩阵和一致校验矩阵</a:t>
            </a:r>
          </a:p>
        </p:txBody>
      </p:sp>
      <p:sp>
        <p:nvSpPr>
          <p:cNvPr id="9" name="文本框 8"/>
          <p:cNvSpPr txBox="1"/>
          <p:nvPr/>
        </p:nvSpPr>
        <p:spPr>
          <a:xfrm>
            <a:off x="1833881" y="941071"/>
            <a:ext cx="8568055" cy="2306955"/>
          </a:xfrm>
          <a:prstGeom prst="rect">
            <a:avLst/>
          </a:prstGeom>
          <a:noFill/>
        </p:spPr>
        <p:txBody>
          <a:bodyPr wrap="square" rtlCol="0" anchor="t">
            <a:spAutoFit/>
          </a:bodyPr>
          <a:lstStyle/>
          <a:p>
            <a:pPr indent="609600" eaLnBrk="0" fontAlgn="base" hangingPunct="0">
              <a:lnSpc>
                <a:spcPct val="15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用生成多项式</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去除</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n-k+i</a:t>
            </a:r>
            <a:r>
              <a:rPr lang="en-US" altLang="zh-CN" sz="2400">
                <a:solidFill>
                  <a:srgbClr val="000000"/>
                </a:solidFill>
                <a:latin typeface="Times New Roman" panose="02020603050405020304" pitchFamily="18" charset="0"/>
                <a:ea typeface="黑体" panose="02010609060101010101" pitchFamily="49" charset="-122"/>
                <a:sym typeface="+mn-ea"/>
              </a:rPr>
              <a:t>, 0</a:t>
            </a:r>
            <a:r>
              <a:rPr lang="en-US" altLang="zh-CN" sz="2400">
                <a:solidFill>
                  <a:srgbClr val="000000"/>
                </a:solidFill>
                <a:latin typeface="Arial" panose="020B0604020202020204" pitchFamily="34"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i</a:t>
            </a:r>
            <a:r>
              <a:rPr lang="en-US" altLang="zh-CN" sz="2400">
                <a:solidFill>
                  <a:srgbClr val="000000"/>
                </a:solidFill>
                <a:latin typeface="Arial" panose="020B0604020202020204" pitchFamily="34" charset="0"/>
                <a:ea typeface="宋体" panose="02010600030101010101" pitchFamily="2"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-1, </a:t>
            </a:r>
            <a:r>
              <a:rPr lang="zh-CN" altLang="en-US" sz="2400" dirty="0">
                <a:solidFill>
                  <a:srgbClr val="000000"/>
                </a:solidFill>
                <a:latin typeface="Times New Roman" panose="02020603050405020304" pitchFamily="18" charset="0"/>
                <a:ea typeface="黑体" panose="02010609060101010101" pitchFamily="49" charset="-122"/>
                <a:sym typeface="+mn-ea"/>
              </a:rPr>
              <a:t>有</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n-k+i</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i</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i</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其中                     </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 </a:t>
            </a:r>
            <a:r>
              <a:rPr lang="zh-CN" altLang="en-US"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由于</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n-k+i</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i</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是</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的倍式</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它是一个码字多项式</a:t>
            </a:r>
            <a:r>
              <a:rPr lang="zh-CN" altLang="en-US"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将这</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个码字多项式排成</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en-US" sz="2400" err="1">
                <a:solidFill>
                  <a:srgbClr val="000000"/>
                </a:solidFill>
                <a:latin typeface="Arial" panose="020B0604020202020204" pitchFamily="34"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阶矩阵的行</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得到循环码</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系统形式的生成矩阵</a:t>
            </a:r>
            <a:endParaRPr lang="zh-CN" altLang="en-US" sz="240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3" name="对象 2">
            <a:hlinkClick r:id="" action="ppaction://ole?verb=0"/>
          </p:cNvPr>
          <p:cNvGraphicFramePr>
            <a:graphicFrameLocks noChangeAspect="1"/>
          </p:cNvGraphicFramePr>
          <p:nvPr/>
        </p:nvGraphicFramePr>
        <p:xfrm>
          <a:off x="2514601" y="1599248"/>
          <a:ext cx="2062480" cy="598170"/>
        </p:xfrm>
        <a:graphic>
          <a:graphicData uri="http://schemas.openxmlformats.org/presentationml/2006/ole">
            <mc:AlternateContent xmlns:mc="http://schemas.openxmlformats.org/markup-compatibility/2006">
              <mc:Choice xmlns:v="urn:schemas-microsoft-com:vml" Requires="v">
                <p:oleObj r:id="rId3" imgW="1168400" imgH="304800" progId="Equation.KSEE3">
                  <p:embed/>
                </p:oleObj>
              </mc:Choice>
              <mc:Fallback>
                <p:oleObj r:id="rId3" imgW="1168400" imgH="304800" progId="Equation.KSEE3">
                  <p:embed/>
                  <p:pic>
                    <p:nvPicPr>
                      <p:cNvPr id="3" name="对象 2">
                        <a:hlinkClick r:id="" action="ppaction://ole?verb=0"/>
                      </p:cNvPr>
                      <p:cNvPicPr/>
                      <p:nvPr/>
                    </p:nvPicPr>
                    <p:blipFill>
                      <a:blip r:embed="rId4"/>
                      <a:stretch>
                        <a:fillRect/>
                      </a:stretch>
                    </p:blipFill>
                    <p:spPr>
                      <a:xfrm>
                        <a:off x="2514601" y="1599248"/>
                        <a:ext cx="2062480" cy="598170"/>
                      </a:xfrm>
                      <a:prstGeom prst="rect">
                        <a:avLst/>
                      </a:prstGeom>
                    </p:spPr>
                  </p:pic>
                </p:oleObj>
              </mc:Fallback>
            </mc:AlternateContent>
          </a:graphicData>
        </a:graphic>
      </p:graphicFrame>
      <p:graphicFrame>
        <p:nvGraphicFramePr>
          <p:cNvPr id="4" name="对象 3">
            <a:hlinkClick r:id="" action="ppaction://ole?verb=0"/>
          </p:cNvPr>
          <p:cNvGraphicFramePr>
            <a:graphicFrameLocks noChangeAspect="1"/>
          </p:cNvGraphicFramePr>
          <p:nvPr/>
        </p:nvGraphicFramePr>
        <p:xfrm>
          <a:off x="1905636" y="3428366"/>
          <a:ext cx="3758565" cy="1445895"/>
        </p:xfrm>
        <a:graphic>
          <a:graphicData uri="http://schemas.openxmlformats.org/presentationml/2006/ole">
            <mc:AlternateContent xmlns:mc="http://schemas.openxmlformats.org/markup-compatibility/2006">
              <mc:Choice xmlns:v="urn:schemas-microsoft-com:vml" Requires="v">
                <p:oleObj r:id="rId5" imgW="2920365" imgH="939800" progId="Equation.KSEE3">
                  <p:embed/>
                </p:oleObj>
              </mc:Choice>
              <mc:Fallback>
                <p:oleObj r:id="rId5" imgW="2920365" imgH="939800" progId="Equation.KSEE3">
                  <p:embed/>
                  <p:pic>
                    <p:nvPicPr>
                      <p:cNvPr id="4" name="对象 3">
                        <a:hlinkClick r:id="" action="ppaction://ole?verb=0"/>
                      </p:cNvPr>
                      <p:cNvPicPr/>
                      <p:nvPr/>
                    </p:nvPicPr>
                    <p:blipFill>
                      <a:blip r:embed="rId6"/>
                      <a:stretch>
                        <a:fillRect/>
                      </a:stretch>
                    </p:blipFill>
                    <p:spPr>
                      <a:xfrm>
                        <a:off x="1905636" y="3428366"/>
                        <a:ext cx="3758565" cy="1445895"/>
                      </a:xfrm>
                      <a:prstGeom prst="rect">
                        <a:avLst/>
                      </a:prstGeom>
                    </p:spPr>
                  </p:pic>
                </p:oleObj>
              </mc:Fallback>
            </mc:AlternateContent>
          </a:graphicData>
        </a:graphic>
      </p:graphicFrame>
      <p:graphicFrame>
        <p:nvGraphicFramePr>
          <p:cNvPr id="7" name="对象 6">
            <a:hlinkClick r:id="" action="ppaction://ole?verb=0"/>
          </p:cNvPr>
          <p:cNvGraphicFramePr>
            <a:graphicFrameLocks noChangeAspect="1"/>
          </p:cNvGraphicFramePr>
          <p:nvPr/>
        </p:nvGraphicFramePr>
        <p:xfrm>
          <a:off x="6247765" y="3442336"/>
          <a:ext cx="3952240" cy="1416685"/>
        </p:xfrm>
        <a:graphic>
          <a:graphicData uri="http://schemas.openxmlformats.org/presentationml/2006/ole">
            <mc:AlternateContent xmlns:mc="http://schemas.openxmlformats.org/markup-compatibility/2006">
              <mc:Choice xmlns:v="urn:schemas-microsoft-com:vml" Requires="v">
                <p:oleObj r:id="rId7" imgW="3340100" imgH="939800" progId="Equation.KSEE3">
                  <p:embed/>
                </p:oleObj>
              </mc:Choice>
              <mc:Fallback>
                <p:oleObj r:id="rId7" imgW="3340100" imgH="939800" progId="Equation.KSEE3">
                  <p:embed/>
                  <p:pic>
                    <p:nvPicPr>
                      <p:cNvPr id="7" name="对象 6">
                        <a:hlinkClick r:id="" action="ppaction://ole?verb=0"/>
                      </p:cNvPr>
                      <p:cNvPicPr/>
                      <p:nvPr/>
                    </p:nvPicPr>
                    <p:blipFill>
                      <a:blip r:embed="rId8"/>
                      <a:stretch>
                        <a:fillRect/>
                      </a:stretch>
                    </p:blipFill>
                    <p:spPr>
                      <a:xfrm>
                        <a:off x="6247765" y="3442336"/>
                        <a:ext cx="3952240" cy="1416685"/>
                      </a:xfrm>
                      <a:prstGeom prst="rect">
                        <a:avLst/>
                      </a:prstGeom>
                    </p:spPr>
                  </p:pic>
                </p:oleObj>
              </mc:Fallback>
            </mc:AlternateContent>
          </a:graphicData>
        </a:graphic>
      </p:graphicFrame>
      <p:sp>
        <p:nvSpPr>
          <p:cNvPr id="10" name="右箭头 9"/>
          <p:cNvSpPr/>
          <p:nvPr/>
        </p:nvSpPr>
        <p:spPr>
          <a:xfrm>
            <a:off x="5867400" y="3961765"/>
            <a:ext cx="304800" cy="381000"/>
          </a:xfrm>
          <a:prstGeom prst="rightArrow">
            <a:avLst/>
          </a:prstGeom>
          <a:gradFill>
            <a:gsLst>
              <a:gs pos="0">
                <a:srgbClr val="14CD68"/>
              </a:gs>
              <a:gs pos="100000">
                <a:srgbClr val="035C7D"/>
              </a:gs>
            </a:gsLst>
            <a:lin ang="5400000" scaled="0"/>
          </a:gra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Tree>
  </p:cSld>
  <p:clrMapOvr>
    <a:overrideClrMapping bg1="lt1" tx1="dk1" bg2="lt2" tx2="dk2" accent1="accent1" accent2="accent2" accent3="accent3" accent4="accent4" accent5="accent5" accent6="accent6" hlink="hlink" folHlink="folHlink"/>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a:xfrm>
            <a:off x="1953896" y="4079876"/>
            <a:ext cx="8352155" cy="230822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2" name="标题 1"/>
          <p:cNvSpPr>
            <a:spLocks noGrp="1"/>
          </p:cNvSpPr>
          <p:nvPr>
            <p:ph type="title"/>
          </p:nvPr>
        </p:nvSpPr>
        <p:spPr>
          <a:xfrm>
            <a:off x="5690236" y="104775"/>
            <a:ext cx="471106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系统循环码的编码方法</a:t>
            </a:r>
          </a:p>
        </p:txBody>
      </p:sp>
      <p:sp>
        <p:nvSpPr>
          <p:cNvPr id="7" name="文本框 6"/>
          <p:cNvSpPr txBox="1"/>
          <p:nvPr/>
        </p:nvSpPr>
        <p:spPr>
          <a:xfrm>
            <a:off x="1682115" y="914400"/>
            <a:ext cx="8745220" cy="2891790"/>
          </a:xfrm>
          <a:prstGeom prst="rect">
            <a:avLst/>
          </a:prstGeom>
          <a:noFill/>
        </p:spPr>
        <p:txBody>
          <a:bodyPr wrap="square" rtlCol="0" anchor="t">
            <a:spAutoFit/>
          </a:bodyPr>
          <a:lstStyle/>
          <a:p>
            <a:pPr indent="508000" eaLnBrk="0" fontAlgn="base" hangingPunct="0">
              <a:lnSpc>
                <a:spcPct val="130000"/>
              </a:lnSpc>
              <a:spcBef>
                <a:spcPct val="0"/>
              </a:spcBef>
              <a:spcAft>
                <a:spcPct val="0"/>
              </a:spcAft>
              <a:extLst>
                <a:ext uri="{35155182-B16C-46BC-9424-99874614C6A1}">
                  <wpsdc:indentchars xmlns="" xmlns:wpsdc="http://www.wps.cn/officeDocument/2017/drawingmlCustomData" val="200" checksum="282533468"/>
                </a:ext>
              </a:extLst>
            </a:pPr>
            <a:r>
              <a:rPr lang="zh-CN" altLang="en-US" sz="2000" dirty="0">
                <a:solidFill>
                  <a:srgbClr val="FF0000"/>
                </a:solidFill>
                <a:latin typeface="Times New Roman" panose="02020603050405020304" pitchFamily="18" charset="0"/>
                <a:ea typeface="黑体" panose="02010609060101010101" pitchFamily="49" charset="-122"/>
                <a:sym typeface="+mn-ea"/>
              </a:rPr>
              <a:t>给定循环码的生成多项式</a:t>
            </a:r>
            <a:r>
              <a:rPr lang="en-US" altLang="zh-CN" sz="2000" i="1" err="1">
                <a:solidFill>
                  <a:srgbClr val="FF0000"/>
                </a:solidFill>
                <a:latin typeface="Times New Roman" panose="02020603050405020304" pitchFamily="18" charset="0"/>
                <a:ea typeface="黑体" panose="02010609060101010101" pitchFamily="49" charset="-122"/>
                <a:sym typeface="+mn-ea"/>
              </a:rPr>
              <a:t>g</a:t>
            </a:r>
            <a:r>
              <a:rPr lang="en-US" altLang="zh-CN" sz="2000" err="1">
                <a:solidFill>
                  <a:srgbClr val="FF0000"/>
                </a:solidFill>
                <a:latin typeface="Times New Roman" panose="02020603050405020304" pitchFamily="18" charset="0"/>
                <a:ea typeface="黑体" panose="02010609060101010101" pitchFamily="49" charset="-122"/>
                <a:sym typeface="+mn-ea"/>
              </a:rPr>
              <a:t>(</a:t>
            </a:r>
            <a:r>
              <a:rPr lang="en-US" altLang="zh-CN" sz="2000" i="1" err="1">
                <a:solidFill>
                  <a:srgbClr val="FF0000"/>
                </a:solidFill>
                <a:latin typeface="Times New Roman" panose="02020603050405020304" pitchFamily="18" charset="0"/>
                <a:ea typeface="黑体" panose="02010609060101010101" pitchFamily="49" charset="-122"/>
                <a:sym typeface="+mn-ea"/>
              </a:rPr>
              <a:t>x</a:t>
            </a:r>
            <a:r>
              <a:rPr lang="en-US" altLang="zh-CN" sz="2000">
                <a:solidFill>
                  <a:srgbClr val="FF0000"/>
                </a:solidFill>
                <a:latin typeface="Times New Roman" panose="02020603050405020304" pitchFamily="18" charset="0"/>
                <a:ea typeface="黑体" panose="02010609060101010101" pitchFamily="49" charset="-122"/>
                <a:sym typeface="+mn-ea"/>
              </a:rPr>
              <a:t>)</a:t>
            </a:r>
            <a:r>
              <a:rPr lang="en-US" altLang="zh-CN" sz="2000" dirty="0">
                <a:solidFill>
                  <a:srgbClr val="FF0000"/>
                </a:solidFill>
                <a:latin typeface="Times New Roman" panose="02020603050405020304" pitchFamily="18" charset="0"/>
                <a:ea typeface="黑体" panose="02010609060101010101" pitchFamily="49" charset="-122"/>
                <a:sym typeface="+mn-ea"/>
              </a:rPr>
              <a:t>, </a:t>
            </a:r>
            <a:r>
              <a:rPr lang="zh-CN" altLang="en-US" sz="2000" dirty="0">
                <a:solidFill>
                  <a:srgbClr val="FF0000"/>
                </a:solidFill>
                <a:latin typeface="Times New Roman" panose="02020603050405020304" pitchFamily="18" charset="0"/>
                <a:ea typeface="黑体" panose="02010609060101010101" pitchFamily="49" charset="-122"/>
                <a:sym typeface="+mn-ea"/>
              </a:rPr>
              <a:t>可以使该码成为系统形式。</a:t>
            </a:r>
            <a:endParaRPr lang="en-US" altLang="zh-CN" sz="2000">
              <a:solidFill>
                <a:srgbClr val="000000"/>
              </a:solidFill>
              <a:latin typeface="Times New Roman" panose="02020603050405020304" pitchFamily="18" charset="0"/>
              <a:ea typeface="黑体" panose="02010609060101010101" pitchFamily="49" charset="-122"/>
            </a:endParaRPr>
          </a:p>
          <a:p>
            <a:pPr indent="508000" eaLnBrk="0" fontAlgn="base" hangingPunct="0">
              <a:lnSpc>
                <a:spcPct val="130000"/>
              </a:lnSpc>
              <a:spcBef>
                <a:spcPct val="0"/>
              </a:spcBef>
              <a:spcAft>
                <a:spcPct val="0"/>
              </a:spcAft>
              <a:extLst>
                <a:ext uri="{35155182-B16C-46BC-9424-99874614C6A1}">
                  <wpsdc:indentchars xmlns="" xmlns:wpsdc="http://www.wps.cn/officeDocument/2017/drawingmlCustomData" val="200" checksum="282533468"/>
                </a:ext>
              </a:extLst>
            </a:pPr>
            <a:r>
              <a:rPr lang="zh-CN" altLang="en-US" sz="2000" dirty="0">
                <a:solidFill>
                  <a:srgbClr val="000000"/>
                </a:solidFill>
                <a:latin typeface="Times New Roman" panose="02020603050405020304" pitchFamily="18" charset="0"/>
                <a:ea typeface="黑体" panose="02010609060101010101" pitchFamily="49" charset="-122"/>
                <a:sym typeface="+mn-ea"/>
              </a:rPr>
              <a:t>假定待编码的消息是</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i="1" baseline="-25000">
                <a:solidFill>
                  <a:srgbClr val="000000"/>
                </a:solidFill>
                <a:latin typeface="Times New Roman" panose="02020603050405020304" pitchFamily="18" charset="0"/>
                <a:ea typeface="黑体" panose="02010609060101010101" pitchFamily="49" charset="-122"/>
                <a:sym typeface="+mn-ea"/>
              </a:rPr>
              <a:t>k-</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 … , </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 </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0</a:t>
            </a:r>
            <a:r>
              <a:rPr lang="en-US" altLang="zh-CN" sz="200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则对应的</a:t>
            </a:r>
            <a:r>
              <a:rPr lang="zh-CN" altLang="en-US" sz="2000" dirty="0">
                <a:solidFill>
                  <a:srgbClr val="000000"/>
                </a:solidFill>
                <a:latin typeface="黑体" panose="02010609060101010101" pitchFamily="49" charset="-122"/>
                <a:ea typeface="黑体" panose="02010609060101010101" pitchFamily="49" charset="-122"/>
                <a:sym typeface="+mn-ea"/>
              </a:rPr>
              <a:t>消息多项式为</a:t>
            </a:r>
          </a:p>
          <a:p>
            <a:pPr indent="508000" eaLnBrk="0" fontAlgn="base" hangingPunct="0">
              <a:lnSpc>
                <a:spcPct val="130000"/>
              </a:lnSpc>
              <a:spcBef>
                <a:spcPct val="0"/>
              </a:spcBef>
              <a:spcAft>
                <a:spcPct val="0"/>
              </a:spcAft>
              <a:extLst>
                <a:ext uri="{35155182-B16C-46BC-9424-99874614C6A1}">
                  <wpsdc:indentchars xmlns="" xmlns:wpsdc="http://www.wps.cn/officeDocument/2017/drawingmlCustomData" val="200" checksum="282533468"/>
                </a:ext>
              </a:extLst>
            </a:pPr>
            <a:r>
              <a:rPr lang="en-US" altLang="zh-CN" sz="2000" i="1" err="1">
                <a:solidFill>
                  <a:srgbClr val="000000"/>
                </a:solidFill>
                <a:latin typeface="Times New Roman" panose="02020603050405020304" pitchFamily="18" charset="0"/>
                <a:ea typeface="黑体" panose="02010609060101010101" pitchFamily="49" charset="-122"/>
                <a:sym typeface="+mn-ea"/>
              </a:rPr>
              <a:t>u</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i="1" baseline="-25000">
                <a:solidFill>
                  <a:srgbClr val="000000"/>
                </a:solidFill>
                <a:latin typeface="Times New Roman" panose="02020603050405020304" pitchFamily="18" charset="0"/>
                <a:ea typeface="黑体" panose="02010609060101010101" pitchFamily="49" charset="-122"/>
                <a:sym typeface="+mn-ea"/>
              </a:rPr>
              <a:t>k</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k</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2</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baseline="30000">
                <a:solidFill>
                  <a:srgbClr val="000000"/>
                </a:solidFill>
                <a:latin typeface="Times New Roman" panose="02020603050405020304" pitchFamily="18" charset="0"/>
                <a:ea typeface="黑体" panose="02010609060101010101" pitchFamily="49" charset="-122"/>
                <a:sym typeface="+mn-ea"/>
              </a:rPr>
              <a:t>2</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x+u</a:t>
            </a:r>
            <a:r>
              <a:rPr lang="en-US" altLang="zh-CN" sz="2000" baseline="-25000">
                <a:solidFill>
                  <a:srgbClr val="000000"/>
                </a:solidFill>
                <a:latin typeface="Times New Roman" panose="02020603050405020304" pitchFamily="18" charset="0"/>
                <a:ea typeface="黑体" panose="02010609060101010101" pitchFamily="49" charset="-122"/>
                <a:sym typeface="+mn-ea"/>
              </a:rPr>
              <a:t>0</a:t>
            </a:r>
            <a:r>
              <a:rPr lang="en-US" altLang="zh-CN" sz="200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黑体" panose="02010609060101010101" pitchFamily="49" charset="-122"/>
                <a:ea typeface="黑体" panose="02010609060101010101" pitchFamily="49" charset="-122"/>
                <a:sym typeface="+mn-ea"/>
              </a:rPr>
              <a:t>从而有</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n-k</a:t>
            </a:r>
            <a:r>
              <a:rPr lang="en-US" altLang="zh-CN" sz="2000" i="1" err="1">
                <a:solidFill>
                  <a:srgbClr val="000000"/>
                </a:solidFill>
                <a:latin typeface="Times New Roman" panose="02020603050405020304" pitchFamily="18" charset="0"/>
                <a:ea typeface="黑体" panose="02010609060101010101" pitchFamily="49" charset="-122"/>
                <a:sym typeface="+mn-ea"/>
              </a:rPr>
              <a:t>u</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i="1" baseline="-25000">
                <a:solidFill>
                  <a:srgbClr val="000000"/>
                </a:solidFill>
                <a:latin typeface="Times New Roman" panose="02020603050405020304" pitchFamily="18" charset="0"/>
                <a:ea typeface="黑体" panose="02010609060101010101" pitchFamily="49" charset="-122"/>
                <a:sym typeface="+mn-ea"/>
              </a:rPr>
              <a:t>k-</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n-</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n-k</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0</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n-k</a:t>
            </a:r>
            <a:r>
              <a:rPr lang="zh-CN" altLang="en-US" sz="2000">
                <a:solidFill>
                  <a:srgbClr val="000000"/>
                </a:solidFill>
                <a:latin typeface="Times New Roman" panose="02020603050405020304" pitchFamily="18" charset="0"/>
                <a:ea typeface="黑体" panose="02010609060101010101" pitchFamily="49" charset="-122"/>
                <a:sym typeface="+mn-ea"/>
              </a:rPr>
              <a:t>。</a:t>
            </a:r>
            <a:endParaRPr lang="zh-CN" altLang="en-US" sz="2000" dirty="0">
              <a:solidFill>
                <a:srgbClr val="000000"/>
              </a:solidFill>
              <a:latin typeface="黑体" panose="02010609060101010101" pitchFamily="49" charset="-122"/>
              <a:ea typeface="黑体" panose="02010609060101010101" pitchFamily="49" charset="-122"/>
            </a:endParaRPr>
          </a:p>
          <a:p>
            <a:pPr indent="508000" eaLnBrk="0" fontAlgn="base" hangingPunct="0">
              <a:lnSpc>
                <a:spcPct val="130000"/>
              </a:lnSpc>
              <a:spcBef>
                <a:spcPct val="0"/>
              </a:spcBef>
              <a:spcAft>
                <a:spcPct val="0"/>
              </a:spcAft>
              <a:extLst>
                <a:ext uri="{35155182-B16C-46BC-9424-99874614C6A1}">
                  <wpsdc:indentchars xmlns="" xmlns:wpsdc="http://www.wps.cn/officeDocument/2017/drawingmlCustomData" val="200" checksum="282533468"/>
                </a:ext>
              </a:extLst>
            </a:pPr>
            <a:r>
              <a:rPr lang="zh-CN" altLang="en-US" sz="2000" dirty="0">
                <a:solidFill>
                  <a:srgbClr val="000000"/>
                </a:solidFill>
                <a:latin typeface="黑体" panose="02010609060101010101" pitchFamily="49" charset="-122"/>
                <a:ea typeface="黑体" panose="02010609060101010101" pitchFamily="49" charset="-122"/>
                <a:sym typeface="+mn-ea"/>
              </a:rPr>
              <a:t>用</a:t>
            </a:r>
            <a:r>
              <a:rPr lang="zh-CN" altLang="en-US" sz="2000" dirty="0">
                <a:solidFill>
                  <a:srgbClr val="000000"/>
                </a:solidFill>
                <a:latin typeface="Times New Roman" panose="02020603050405020304" pitchFamily="18" charset="0"/>
                <a:ea typeface="黑体" panose="02010609060101010101" pitchFamily="49" charset="-122"/>
                <a:sym typeface="+mn-ea"/>
              </a:rPr>
              <a:t>生成多项式</a:t>
            </a:r>
            <a:r>
              <a:rPr lang="en-US" altLang="zh-CN" sz="2000" i="1" err="1">
                <a:solidFill>
                  <a:srgbClr val="000000"/>
                </a:solidFill>
                <a:latin typeface="Times New Roman" panose="02020603050405020304" pitchFamily="18" charset="0"/>
                <a:ea typeface="黑体" panose="02010609060101010101" pitchFamily="49" charset="-122"/>
                <a:sym typeface="+mn-ea"/>
              </a:rPr>
              <a:t>g</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黑体" panose="02010609060101010101" pitchFamily="49" charset="-122"/>
                <a:ea typeface="黑体" panose="02010609060101010101" pitchFamily="49" charset="-122"/>
                <a:sym typeface="+mn-ea"/>
              </a:rPr>
              <a:t>除</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n-k</a:t>
            </a:r>
            <a:r>
              <a:rPr lang="en-US" altLang="zh-CN" sz="2000" i="1" err="1">
                <a:solidFill>
                  <a:srgbClr val="000000"/>
                </a:solidFill>
                <a:latin typeface="Times New Roman" panose="02020603050405020304" pitchFamily="18" charset="0"/>
                <a:ea typeface="黑体" panose="02010609060101010101" pitchFamily="49" charset="-122"/>
                <a:sym typeface="+mn-ea"/>
              </a:rPr>
              <a:t>u</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黑体" panose="02010609060101010101" pitchFamily="49" charset="-122"/>
                <a:ea typeface="黑体" panose="02010609060101010101" pitchFamily="49" charset="-122"/>
                <a:sym typeface="+mn-ea"/>
              </a:rPr>
              <a:t>得到</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n-k</a:t>
            </a:r>
            <a:r>
              <a:rPr lang="en-US" altLang="zh-CN" sz="2000" i="1" err="1">
                <a:solidFill>
                  <a:srgbClr val="000000"/>
                </a:solidFill>
                <a:latin typeface="Times New Roman" panose="02020603050405020304" pitchFamily="18" charset="0"/>
                <a:ea typeface="黑体" panose="02010609060101010101" pitchFamily="49" charset="-122"/>
                <a:sym typeface="+mn-ea"/>
              </a:rPr>
              <a:t>u</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 </a:t>
            </a:r>
            <a:r>
              <a:rPr lang="en-US" altLang="zh-CN" sz="2000" i="1" err="1">
                <a:solidFill>
                  <a:srgbClr val="000000"/>
                </a:solidFill>
                <a:latin typeface="Times New Roman" panose="02020603050405020304" pitchFamily="18" charset="0"/>
                <a:ea typeface="黑体" panose="02010609060101010101" pitchFamily="49" charset="-122"/>
                <a:sym typeface="+mn-ea"/>
              </a:rPr>
              <a:t>a</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g</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b</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en-US" altLang="zh-CN" sz="2000">
                <a:solidFill>
                  <a:srgbClr val="000000"/>
                </a:solidFill>
                <a:latin typeface="Times New Roman" panose="02020603050405020304" pitchFamily="18" charset="0"/>
                <a:ea typeface="黑体" panose="02010609060101010101" pitchFamily="49" charset="-122"/>
                <a:sym typeface="+mn-ea"/>
              </a:rPr>
              <a:t>deg(</a:t>
            </a:r>
            <a:r>
              <a:rPr lang="en-US" altLang="zh-CN" sz="2000" i="1">
                <a:solidFill>
                  <a:srgbClr val="000000"/>
                </a:solidFill>
                <a:latin typeface="Times New Roman" panose="02020603050405020304" pitchFamily="18" charset="0"/>
                <a:ea typeface="黑体" panose="02010609060101010101" pitchFamily="49" charset="-122"/>
                <a:sym typeface="+mn-ea"/>
              </a:rPr>
              <a:t>b</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))&lt;</a:t>
            </a:r>
            <a:r>
              <a:rPr lang="en-US" altLang="zh-CN" sz="2000" i="1" err="1">
                <a:solidFill>
                  <a:srgbClr val="000000"/>
                </a:solidFill>
                <a:latin typeface="Times New Roman" panose="02020603050405020304" pitchFamily="18" charset="0"/>
                <a:ea typeface="黑体" panose="02010609060101010101" pitchFamily="49" charset="-122"/>
                <a:sym typeface="+mn-ea"/>
              </a:rPr>
              <a:t>n-k</a:t>
            </a:r>
            <a:r>
              <a:rPr lang="zh-CN" altLang="en-US" sz="2000" err="1">
                <a:solidFill>
                  <a:srgbClr val="000000"/>
                </a:solidFill>
                <a:latin typeface="Times New Roman" panose="02020603050405020304" pitchFamily="18" charset="0"/>
                <a:ea typeface="黑体" panose="02010609060101010101" pitchFamily="49" charset="-122"/>
                <a:sym typeface="+mn-ea"/>
              </a:rPr>
              <a:t>。</a:t>
            </a:r>
            <a:endParaRPr lang="en-US" altLang="zh-CN" sz="2000">
              <a:solidFill>
                <a:srgbClr val="000000"/>
              </a:solidFill>
              <a:latin typeface="Times New Roman" panose="02020603050405020304" pitchFamily="18" charset="0"/>
              <a:ea typeface="黑体" panose="02010609060101010101" pitchFamily="49" charset="-122"/>
            </a:endParaRPr>
          </a:p>
          <a:p>
            <a:pPr indent="508000" eaLnBrk="0" fontAlgn="base" hangingPunct="0">
              <a:lnSpc>
                <a:spcPct val="130000"/>
              </a:lnSpc>
              <a:spcBef>
                <a:spcPct val="0"/>
              </a:spcBef>
              <a:spcAft>
                <a:spcPct val="0"/>
              </a:spcAft>
              <a:extLst>
                <a:ext uri="{35155182-B16C-46BC-9424-99874614C6A1}">
                  <wpsdc:indentchars xmlns="" xmlns:wpsdc="http://www.wps.cn/officeDocument/2017/drawingmlCustomData" val="200" checksum="282533468"/>
                </a:ext>
              </a:extLst>
            </a:pPr>
            <a:r>
              <a:rPr lang="zh-CN" altLang="en-US" sz="2000" dirty="0">
                <a:solidFill>
                  <a:srgbClr val="000000"/>
                </a:solidFill>
                <a:latin typeface="Times New Roman" panose="02020603050405020304" pitchFamily="18" charset="0"/>
                <a:ea typeface="黑体" panose="02010609060101010101" pitchFamily="49" charset="-122"/>
                <a:sym typeface="+mn-ea"/>
              </a:rPr>
              <a:t>于是</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n-k</a:t>
            </a:r>
            <a:r>
              <a:rPr lang="en-US" altLang="zh-CN" sz="2000" i="1" err="1">
                <a:solidFill>
                  <a:srgbClr val="000000"/>
                </a:solidFill>
                <a:latin typeface="Times New Roman" panose="02020603050405020304" pitchFamily="18" charset="0"/>
                <a:ea typeface="黑体" panose="02010609060101010101" pitchFamily="49" charset="-122"/>
                <a:sym typeface="+mn-ea"/>
              </a:rPr>
              <a:t>u</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b</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a</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g</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即</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n-k</a:t>
            </a:r>
            <a:r>
              <a:rPr lang="en-US" altLang="zh-CN" sz="2000" i="1" err="1">
                <a:solidFill>
                  <a:srgbClr val="000000"/>
                </a:solidFill>
                <a:latin typeface="Times New Roman" panose="02020603050405020304" pitchFamily="18" charset="0"/>
                <a:ea typeface="黑体" panose="02010609060101010101" pitchFamily="49" charset="-122"/>
                <a:sym typeface="+mn-ea"/>
              </a:rPr>
              <a:t>u</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 </a:t>
            </a:r>
            <a:r>
              <a:rPr lang="en-US" altLang="zh-CN" sz="2000" i="1" err="1">
                <a:solidFill>
                  <a:srgbClr val="000000"/>
                </a:solidFill>
                <a:latin typeface="Times New Roman" panose="02020603050405020304" pitchFamily="18" charset="0"/>
                <a:ea typeface="黑体" panose="02010609060101010101" pitchFamily="49" charset="-122"/>
                <a:sym typeface="+mn-ea"/>
              </a:rPr>
              <a:t>b</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是</a:t>
            </a:r>
            <a:r>
              <a:rPr lang="en-US" altLang="zh-CN" sz="2000" i="1" err="1">
                <a:solidFill>
                  <a:srgbClr val="000000"/>
                </a:solidFill>
                <a:latin typeface="Times New Roman" panose="02020603050405020304" pitchFamily="18" charset="0"/>
                <a:ea typeface="黑体" panose="02010609060101010101" pitchFamily="49" charset="-122"/>
                <a:sym typeface="+mn-ea"/>
              </a:rPr>
              <a:t>g</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的倍式</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因而是</a:t>
            </a:r>
            <a:r>
              <a:rPr lang="en-US" altLang="zh-CN" sz="2000" i="1">
                <a:solidFill>
                  <a:srgbClr val="000000"/>
                </a:solidFill>
                <a:latin typeface="Times New Roman" panose="02020603050405020304" pitchFamily="18" charset="0"/>
                <a:ea typeface="黑体" panose="02010609060101010101" pitchFamily="49" charset="-122"/>
                <a:sym typeface="+mn-ea"/>
              </a:rPr>
              <a:t>C</a:t>
            </a:r>
            <a:r>
              <a:rPr lang="zh-CN" altLang="en-US" sz="2000" dirty="0">
                <a:solidFill>
                  <a:srgbClr val="000000"/>
                </a:solidFill>
                <a:latin typeface="Times New Roman" panose="02020603050405020304" pitchFamily="18" charset="0"/>
                <a:ea typeface="黑体" panose="02010609060101010101" pitchFamily="49" charset="-122"/>
                <a:sym typeface="+mn-ea"/>
              </a:rPr>
              <a:t>的码字多项式</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n-k</a:t>
            </a:r>
            <a:r>
              <a:rPr lang="en-US" altLang="zh-CN" sz="2000" i="1" err="1">
                <a:solidFill>
                  <a:srgbClr val="000000"/>
                </a:solidFill>
                <a:latin typeface="Times New Roman" panose="02020603050405020304" pitchFamily="18" charset="0"/>
                <a:ea typeface="黑体" panose="02010609060101010101" pitchFamily="49" charset="-122"/>
                <a:sym typeface="+mn-ea"/>
              </a:rPr>
              <a:t>u</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b</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i="1" baseline="-25000">
                <a:solidFill>
                  <a:srgbClr val="000000"/>
                </a:solidFill>
                <a:latin typeface="Times New Roman" panose="02020603050405020304" pitchFamily="18" charset="0"/>
                <a:ea typeface="黑体" panose="02010609060101010101" pitchFamily="49" charset="-122"/>
                <a:sym typeface="+mn-ea"/>
              </a:rPr>
              <a:t>k-</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n-</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n-k</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 </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0</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n-k</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b</a:t>
            </a:r>
            <a:r>
              <a:rPr lang="en-US" altLang="zh-CN" sz="2000" i="1" baseline="-25000">
                <a:solidFill>
                  <a:srgbClr val="000000"/>
                </a:solidFill>
                <a:latin typeface="Times New Roman" panose="02020603050405020304" pitchFamily="18" charset="0"/>
                <a:ea typeface="黑体" panose="02010609060101010101" pitchFamily="49" charset="-122"/>
                <a:sym typeface="+mn-ea"/>
              </a:rPr>
              <a:t>n-k-</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n-k-</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b</a:t>
            </a:r>
            <a:r>
              <a:rPr lang="en-US" altLang="zh-CN" sz="2000" baseline="-25000">
                <a:solidFill>
                  <a:srgbClr val="000000"/>
                </a:solidFill>
                <a:latin typeface="Times New Roman" panose="02020603050405020304" pitchFamily="18" charset="0"/>
                <a:ea typeface="黑体" panose="02010609060101010101" pitchFamily="49" charset="-122"/>
                <a:sym typeface="+mn-ea"/>
              </a:rPr>
              <a:t>2</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baseline="30000">
                <a:solidFill>
                  <a:srgbClr val="000000"/>
                </a:solidFill>
                <a:latin typeface="Times New Roman" panose="02020603050405020304" pitchFamily="18" charset="0"/>
                <a:ea typeface="黑体" panose="02010609060101010101" pitchFamily="49" charset="-122"/>
                <a:sym typeface="+mn-ea"/>
              </a:rPr>
              <a:t>2</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b</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b</a:t>
            </a:r>
            <a:r>
              <a:rPr lang="en-US" altLang="zh-CN" sz="2000" baseline="-25000">
                <a:solidFill>
                  <a:srgbClr val="000000"/>
                </a:solidFill>
                <a:latin typeface="Times New Roman" panose="02020603050405020304" pitchFamily="18" charset="0"/>
                <a:ea typeface="黑体" panose="02010609060101010101" pitchFamily="49" charset="-122"/>
                <a:sym typeface="+mn-ea"/>
              </a:rPr>
              <a:t>0</a:t>
            </a:r>
            <a:r>
              <a:rPr lang="en-US" altLang="zh-CN" sz="2000" baseline="3000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这对应码矢</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i="1" baseline="-25000">
                <a:solidFill>
                  <a:srgbClr val="000000"/>
                </a:solidFill>
                <a:latin typeface="Times New Roman" panose="02020603050405020304" pitchFamily="18" charset="0"/>
                <a:ea typeface="黑体" panose="02010609060101010101" pitchFamily="49" charset="-122"/>
                <a:sym typeface="+mn-ea"/>
              </a:rPr>
              <a:t>k-</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 … , </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 </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0</a:t>
            </a:r>
            <a:r>
              <a:rPr lang="en-US" altLang="zh-CN" sz="2000">
                <a:solidFill>
                  <a:srgbClr val="000000"/>
                </a:solidFill>
                <a:latin typeface="Times New Roman" panose="02020603050405020304" pitchFamily="18" charset="0"/>
                <a:ea typeface="黑体" panose="02010609060101010101" pitchFamily="49" charset="-122"/>
                <a:sym typeface="+mn-ea"/>
              </a:rPr>
              <a:t>, </a:t>
            </a:r>
            <a:r>
              <a:rPr lang="en-US" altLang="zh-CN" sz="2000" i="1">
                <a:solidFill>
                  <a:srgbClr val="000000"/>
                </a:solidFill>
                <a:latin typeface="Times New Roman" panose="02020603050405020304" pitchFamily="18" charset="0"/>
                <a:ea typeface="黑体" panose="02010609060101010101" pitchFamily="49" charset="-122"/>
                <a:sym typeface="+mn-ea"/>
              </a:rPr>
              <a:t>b</a:t>
            </a:r>
            <a:r>
              <a:rPr lang="en-US" altLang="zh-CN" sz="2000" i="1" baseline="-25000">
                <a:solidFill>
                  <a:srgbClr val="000000"/>
                </a:solidFill>
                <a:latin typeface="Times New Roman" panose="02020603050405020304" pitchFamily="18" charset="0"/>
                <a:ea typeface="黑体" panose="02010609060101010101" pitchFamily="49" charset="-122"/>
                <a:sym typeface="+mn-ea"/>
              </a:rPr>
              <a:t>n-k-</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 … , </a:t>
            </a:r>
            <a:r>
              <a:rPr lang="en-US" altLang="zh-CN" sz="2000" i="1">
                <a:solidFill>
                  <a:srgbClr val="000000"/>
                </a:solidFill>
                <a:latin typeface="Times New Roman" panose="02020603050405020304" pitchFamily="18" charset="0"/>
                <a:ea typeface="黑体" panose="02010609060101010101" pitchFamily="49" charset="-122"/>
                <a:sym typeface="+mn-ea"/>
              </a:rPr>
              <a:t>b</a:t>
            </a:r>
            <a:r>
              <a:rPr lang="en-US" altLang="zh-CN" sz="2000" baseline="-25000">
                <a:solidFill>
                  <a:srgbClr val="000000"/>
                </a:solidFill>
                <a:latin typeface="Times New Roman" panose="02020603050405020304" pitchFamily="18" charset="0"/>
                <a:ea typeface="黑体" panose="02010609060101010101" pitchFamily="49" charset="-122"/>
                <a:sym typeface="+mn-ea"/>
              </a:rPr>
              <a:t>2</a:t>
            </a:r>
            <a:r>
              <a:rPr lang="en-US" altLang="zh-CN" sz="2000">
                <a:solidFill>
                  <a:srgbClr val="000000"/>
                </a:solidFill>
                <a:latin typeface="Times New Roman" panose="02020603050405020304" pitchFamily="18" charset="0"/>
                <a:ea typeface="黑体" panose="02010609060101010101" pitchFamily="49" charset="-122"/>
                <a:sym typeface="+mn-ea"/>
              </a:rPr>
              <a:t>, </a:t>
            </a:r>
            <a:r>
              <a:rPr lang="en-US" altLang="zh-CN" sz="2000" i="1">
                <a:solidFill>
                  <a:srgbClr val="000000"/>
                </a:solidFill>
                <a:latin typeface="Times New Roman" panose="02020603050405020304" pitchFamily="18" charset="0"/>
                <a:ea typeface="黑体" panose="02010609060101010101" pitchFamily="49" charset="-122"/>
                <a:sym typeface="+mn-ea"/>
              </a:rPr>
              <a:t>b</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 </a:t>
            </a:r>
            <a:r>
              <a:rPr lang="en-US" altLang="zh-CN" sz="2000" i="1">
                <a:solidFill>
                  <a:srgbClr val="000000"/>
                </a:solidFill>
                <a:latin typeface="Times New Roman" panose="02020603050405020304" pitchFamily="18" charset="0"/>
                <a:ea typeface="黑体" panose="02010609060101010101" pitchFamily="49" charset="-122"/>
                <a:sym typeface="+mn-ea"/>
              </a:rPr>
              <a:t>b</a:t>
            </a:r>
            <a:r>
              <a:rPr lang="en-US" altLang="zh-CN" sz="2000" baseline="-25000">
                <a:solidFill>
                  <a:srgbClr val="000000"/>
                </a:solidFill>
                <a:latin typeface="Times New Roman" panose="02020603050405020304" pitchFamily="18" charset="0"/>
                <a:ea typeface="黑体" panose="02010609060101010101" pitchFamily="49" charset="-122"/>
                <a:sym typeface="+mn-ea"/>
              </a:rPr>
              <a:t>0</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此即为系统形式。</a:t>
            </a:r>
          </a:p>
        </p:txBody>
      </p:sp>
      <p:sp>
        <p:nvSpPr>
          <p:cNvPr id="3" name="文本框 2"/>
          <p:cNvSpPr txBox="1"/>
          <p:nvPr/>
        </p:nvSpPr>
        <p:spPr>
          <a:xfrm>
            <a:off x="2005331" y="4007486"/>
            <a:ext cx="8474075" cy="2792239"/>
          </a:xfrm>
          <a:prstGeom prst="rect">
            <a:avLst/>
          </a:prstGeom>
          <a:noFill/>
        </p:spPr>
        <p:txBody>
          <a:bodyPr wrap="square" rtlCol="0" anchor="t">
            <a:spAutoFit/>
          </a:bodyPr>
          <a:lstStyle/>
          <a:p>
            <a:pPr algn="just" eaLnBrk="0" fontAlgn="base" hangingPunct="0">
              <a:lnSpc>
                <a:spcPct val="150000"/>
              </a:lnSpc>
              <a:spcBef>
                <a:spcPct val="0"/>
              </a:spcBef>
              <a:spcAft>
                <a:spcPct val="0"/>
              </a:spcAft>
            </a:pPr>
            <a:r>
              <a:rPr lang="zh-CN" altLang="en-US" sz="2400" dirty="0">
                <a:solidFill>
                  <a:srgbClr val="FF0000"/>
                </a:solidFill>
                <a:latin typeface="Arial" panose="020B0604020202020204" pitchFamily="34" charset="0"/>
                <a:ea typeface="黑体" panose="02010609060101010101" pitchFamily="49" charset="-122"/>
                <a:sym typeface="+mn-ea"/>
              </a:rPr>
              <a:t>系统循环码的编码步骤如下：</a:t>
            </a:r>
            <a:endParaRPr lang="zh-CN" altLang="en-US" sz="2400" dirty="0">
              <a:solidFill>
                <a:srgbClr val="0070C0"/>
              </a:solidFill>
              <a:latin typeface="Arial" panose="020B0604020202020204" pitchFamily="34" charset="0"/>
              <a:ea typeface="黑体" panose="02010609060101010101" pitchFamily="49" charset="-122"/>
              <a:sym typeface="+mn-ea"/>
            </a:endParaRPr>
          </a:p>
          <a:p>
            <a:pPr algn="just" eaLnBrk="0" fontAlgn="base" hangingPunct="0">
              <a:lnSpc>
                <a:spcPct val="150000"/>
              </a:lnSpc>
              <a:spcBef>
                <a:spcPct val="0"/>
              </a:spcBef>
              <a:spcAft>
                <a:spcPct val="0"/>
              </a:spcAft>
            </a:pPr>
            <a:r>
              <a:rPr lang="zh-CN" altLang="en-US" sz="2400" dirty="0">
                <a:solidFill>
                  <a:srgbClr val="0070C0"/>
                </a:solidFill>
                <a:latin typeface="Arial" panose="020B0604020202020204" pitchFamily="34" charset="0"/>
                <a:ea typeface="黑体" panose="02010609060101010101" pitchFamily="49" charset="-122"/>
                <a:sym typeface="+mn-ea"/>
              </a:rPr>
              <a:t>步骤</a:t>
            </a:r>
            <a:r>
              <a:rPr lang="en-US" altLang="zh-CN" sz="2400">
                <a:solidFill>
                  <a:srgbClr val="0070C0"/>
                </a:solidFill>
                <a:latin typeface="Times New Roman" panose="02020603050405020304" pitchFamily="18" charset="0"/>
                <a:ea typeface="黑体" panose="02010609060101010101" pitchFamily="49" charset="-122"/>
                <a:sym typeface="+mn-ea"/>
              </a:rPr>
              <a:t>1</a:t>
            </a:r>
            <a:r>
              <a:rPr lang="zh-CN" altLang="en-US" sz="2400" dirty="0">
                <a:solidFill>
                  <a:srgbClr val="0070C0"/>
                </a:solidFill>
                <a:latin typeface="Arial" panose="020B0604020202020204" pitchFamily="34"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先用</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n-k</a:t>
            </a:r>
            <a:r>
              <a:rPr lang="zh-CN" altLang="en-US" sz="2400" dirty="0">
                <a:solidFill>
                  <a:srgbClr val="000000"/>
                </a:solidFill>
                <a:latin typeface="黑体" panose="02010609060101010101" pitchFamily="49" charset="-122"/>
                <a:ea typeface="黑体" panose="02010609060101010101" pitchFamily="49" charset="-122"/>
                <a:sym typeface="+mn-ea"/>
              </a:rPr>
              <a:t>乘以消息多项式</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i="1" baseline="-25000">
                <a:solidFill>
                  <a:srgbClr val="000000"/>
                </a:solidFill>
                <a:latin typeface="Times New Roman" panose="02020603050405020304" pitchFamily="18" charset="0"/>
                <a:ea typeface="黑体" panose="02010609060101010101" pitchFamily="49" charset="-122"/>
                <a:sym typeface="+mn-ea"/>
              </a:rPr>
              <a:t>k</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x+u</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Arial" panose="020B0604020202020204" pitchFamily="34" charset="0"/>
                <a:ea typeface="黑体" panose="02010609060101010101" pitchFamily="49" charset="-122"/>
                <a:sym typeface="+mn-ea"/>
              </a:rPr>
              <a:t>；</a:t>
            </a:r>
            <a:endParaRPr lang="zh-CN" altLang="en-US" sz="2400" dirty="0">
              <a:solidFill>
                <a:srgbClr val="000000"/>
              </a:solidFill>
              <a:latin typeface="Arial" panose="020B0604020202020204" pitchFamily="34" charset="0"/>
              <a:ea typeface="黑体" panose="02010609060101010101" pitchFamily="49" charset="-122"/>
            </a:endParaRPr>
          </a:p>
          <a:p>
            <a:pPr algn="just" eaLnBrk="0" fontAlgn="base" hangingPunct="0">
              <a:lnSpc>
                <a:spcPct val="150000"/>
              </a:lnSpc>
              <a:spcBef>
                <a:spcPct val="0"/>
              </a:spcBef>
              <a:spcAft>
                <a:spcPct val="0"/>
              </a:spcAft>
            </a:pPr>
            <a:r>
              <a:rPr lang="zh-CN" altLang="en-US" sz="2400" dirty="0">
                <a:solidFill>
                  <a:srgbClr val="0070C0"/>
                </a:solidFill>
                <a:latin typeface="Arial" panose="020B0604020202020204" pitchFamily="34" charset="0"/>
                <a:ea typeface="黑体" panose="02010609060101010101" pitchFamily="49" charset="-122"/>
                <a:sym typeface="+mn-ea"/>
              </a:rPr>
              <a:t>步骤</a:t>
            </a:r>
            <a:r>
              <a:rPr lang="en-US" altLang="zh-CN" sz="2400">
                <a:solidFill>
                  <a:srgbClr val="0070C0"/>
                </a:solidFill>
                <a:latin typeface="Times New Roman" panose="02020603050405020304" pitchFamily="18" charset="0"/>
                <a:ea typeface="黑体" panose="02010609060101010101" pitchFamily="49" charset="-122"/>
                <a:sym typeface="+mn-ea"/>
              </a:rPr>
              <a:t>2</a:t>
            </a:r>
            <a:r>
              <a:rPr lang="zh-CN" altLang="en-US" sz="2400" dirty="0">
                <a:solidFill>
                  <a:srgbClr val="0070C0"/>
                </a:solidFill>
                <a:latin typeface="Arial" panose="020B0604020202020204" pitchFamily="34"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用生成多项式</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除</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n-k</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，得到余式</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endParaRPr>
          </a:p>
          <a:p>
            <a:pPr algn="just" eaLnBrk="0" fontAlgn="base" hangingPunct="0">
              <a:lnSpc>
                <a:spcPct val="150000"/>
              </a:lnSpc>
              <a:spcBef>
                <a:spcPct val="0"/>
              </a:spcBef>
              <a:spcAft>
                <a:spcPct val="0"/>
              </a:spcAft>
            </a:pPr>
            <a:r>
              <a:rPr lang="zh-CN" altLang="en-US" sz="2400" dirty="0">
                <a:solidFill>
                  <a:srgbClr val="0070C0"/>
                </a:solidFill>
                <a:latin typeface="Arial" panose="020B0604020202020204" pitchFamily="34" charset="0"/>
                <a:ea typeface="黑体" panose="02010609060101010101" pitchFamily="49" charset="-122"/>
                <a:sym typeface="+mn-ea"/>
              </a:rPr>
              <a:t>步骤</a:t>
            </a:r>
            <a:r>
              <a:rPr lang="en-US" altLang="zh-CN" sz="2400">
                <a:solidFill>
                  <a:srgbClr val="0070C0"/>
                </a:solidFill>
                <a:latin typeface="Times New Roman" panose="02020603050405020304" pitchFamily="18" charset="0"/>
                <a:ea typeface="黑体" panose="02010609060101010101" pitchFamily="49" charset="-122"/>
                <a:sym typeface="+mn-ea"/>
              </a:rPr>
              <a:t>3</a:t>
            </a:r>
            <a:r>
              <a:rPr lang="zh-CN" altLang="en-US" sz="2400" dirty="0">
                <a:solidFill>
                  <a:srgbClr val="0070C0"/>
                </a:solidFill>
                <a:latin typeface="Arial" panose="020B0604020202020204" pitchFamily="34"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联合</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n-k</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，得到码字多项式</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n-k</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b</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a:t>
            </a:r>
          </a:p>
        </p:txBody>
      </p:sp>
      <p:sp>
        <p:nvSpPr>
          <p:cNvPr id="4" name="圆角矩形 3"/>
          <p:cNvSpPr/>
          <p:nvPr/>
        </p:nvSpPr>
        <p:spPr>
          <a:xfrm>
            <a:off x="1804671" y="2649856"/>
            <a:ext cx="8597265" cy="1161415"/>
          </a:xfrm>
          <a:prstGeom prst="roundRect">
            <a:avLst/>
          </a:prstGeom>
          <a:solidFill>
            <a:srgbClr val="92D05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lnSpc>
                <a:spcPct val="120000"/>
              </a:lnSpc>
              <a:spcBef>
                <a:spcPct val="0"/>
              </a:spcBef>
              <a:spcAft>
                <a:spcPct val="0"/>
              </a:spcAft>
            </a:pPr>
            <a:r>
              <a:rPr lang="en-US" altLang="zh-CN" sz="2400">
                <a:solidFill>
                  <a:srgbClr val="000000"/>
                </a:solidFill>
                <a:latin typeface="Times New Roman"/>
                <a:ea typeface="黑体"/>
              </a:rPr>
              <a:t>循环码的编码是由多项式的乘法、除法以及加法运算完成的, 这些运算都可以由移位寄存器、加法器以及门电路来实现</a:t>
            </a:r>
            <a:r>
              <a:rPr lang="zh-CN" altLang="en-US" sz="2400">
                <a:solidFill>
                  <a:srgbClr val="000000"/>
                </a:solidFill>
                <a:latin typeface="Times New Roman"/>
                <a:ea typeface="黑体"/>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6088380" y="2476501"/>
            <a:ext cx="4201160" cy="62547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 name="标题 1"/>
          <p:cNvSpPr>
            <a:spLocks noGrp="1"/>
          </p:cNvSpPr>
          <p:nvPr>
            <p:ph type="title"/>
          </p:nvPr>
        </p:nvSpPr>
        <p:spPr>
          <a:xfrm>
            <a:off x="6682106" y="104775"/>
            <a:ext cx="371919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复习：多项式的除法</a:t>
            </a:r>
          </a:p>
        </p:txBody>
      </p:sp>
      <p:sp>
        <p:nvSpPr>
          <p:cNvPr id="10" name="文本框 9"/>
          <p:cNvSpPr txBox="1"/>
          <p:nvPr/>
        </p:nvSpPr>
        <p:spPr>
          <a:xfrm>
            <a:off x="1908811" y="838835"/>
            <a:ext cx="7113905"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err="1">
                <a:solidFill>
                  <a:srgbClr val="7030A0"/>
                </a:solidFill>
                <a:latin typeface="Times New Roman" panose="02020603050405020304" pitchFamily="18" charset="0"/>
                <a:ea typeface="黑体" panose="02010609060101010101" pitchFamily="49" charset="-122"/>
                <a:sym typeface="+mn-ea"/>
              </a:rPr>
              <a:t>举例：</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6</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4</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4</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求</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0"/>
          </p:cNvPr>
          <p:cNvGraphicFramePr>
            <a:graphicFrameLocks noChangeAspect="1"/>
          </p:cNvGraphicFramePr>
          <p:nvPr/>
        </p:nvGraphicFramePr>
        <p:xfrm>
          <a:off x="3136266" y="1457961"/>
          <a:ext cx="1641475" cy="2908935"/>
        </p:xfrm>
        <a:graphic>
          <a:graphicData uri="http://schemas.openxmlformats.org/presentationml/2006/ole">
            <mc:AlternateContent xmlns:mc="http://schemas.openxmlformats.org/markup-compatibility/2006">
              <mc:Choice xmlns:v="urn:schemas-microsoft-com:vml" Requires="v">
                <p:oleObj r:id="rId3" imgW="1041400" imgH="1803400" progId="Equation.KSEE3">
                  <p:embed/>
                </p:oleObj>
              </mc:Choice>
              <mc:Fallback>
                <p:oleObj r:id="rId3" imgW="1041400" imgH="1803400" progId="Equation.KSEE3">
                  <p:embed/>
                  <p:pic>
                    <p:nvPicPr>
                      <p:cNvPr id="11" name="对象 10">
                        <a:hlinkClick r:id="" action="ppaction://ole?verb=0"/>
                      </p:cNvPr>
                      <p:cNvPicPr/>
                      <p:nvPr/>
                    </p:nvPicPr>
                    <p:blipFill>
                      <a:blip r:embed="rId4"/>
                      <a:stretch>
                        <a:fillRect/>
                      </a:stretch>
                    </p:blipFill>
                    <p:spPr>
                      <a:xfrm>
                        <a:off x="3136266" y="1457961"/>
                        <a:ext cx="1641475" cy="2908935"/>
                      </a:xfrm>
                      <a:prstGeom prst="rect">
                        <a:avLst/>
                      </a:prstGeom>
                    </p:spPr>
                  </p:pic>
                </p:oleObj>
              </mc:Fallback>
            </mc:AlternateContent>
          </a:graphicData>
        </a:graphic>
      </p:graphicFrame>
      <p:sp>
        <p:nvSpPr>
          <p:cNvPr id="28677" name="文本框 102404"/>
          <p:cNvSpPr txBox="1"/>
          <p:nvPr/>
        </p:nvSpPr>
        <p:spPr>
          <a:xfrm>
            <a:off x="1790701" y="1846581"/>
            <a:ext cx="935355" cy="396875"/>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dirty="0">
                <a:solidFill>
                  <a:srgbClr val="000000"/>
                </a:solidFill>
                <a:latin typeface="Arial" panose="020B0604020202020204" pitchFamily="34" charset="0"/>
                <a:ea typeface="宋体" panose="02010600030101010101" pitchFamily="2" charset="-122"/>
              </a:rPr>
              <a:t> </a:t>
            </a:r>
            <a:r>
              <a:rPr lang="zh-CN" altLang="en-US" sz="2000" b="1" dirty="0">
                <a:solidFill>
                  <a:srgbClr val="000000"/>
                </a:solidFill>
                <a:latin typeface="Arial" panose="020B0604020202020204" pitchFamily="34" charset="0"/>
                <a:ea typeface="黑体" panose="02010609060101010101" pitchFamily="49" charset="-122"/>
              </a:rPr>
              <a:t>除数</a:t>
            </a:r>
          </a:p>
        </p:txBody>
      </p:sp>
      <p:sp>
        <p:nvSpPr>
          <p:cNvPr id="28678" name="右箭头 102405"/>
          <p:cNvSpPr/>
          <p:nvPr/>
        </p:nvSpPr>
        <p:spPr>
          <a:xfrm>
            <a:off x="2643506" y="1971041"/>
            <a:ext cx="424815" cy="182245"/>
          </a:xfrm>
          <a:prstGeom prst="rightArrow">
            <a:avLst>
              <a:gd name="adj1" fmla="val 50000"/>
              <a:gd name="adj2" fmla="val 66666"/>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8679" name="文本框 102406"/>
          <p:cNvSpPr txBox="1"/>
          <p:nvPr/>
        </p:nvSpPr>
        <p:spPr>
          <a:xfrm>
            <a:off x="5203825" y="1811656"/>
            <a:ext cx="1008380" cy="396875"/>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b="1" dirty="0">
                <a:solidFill>
                  <a:srgbClr val="000000"/>
                </a:solidFill>
                <a:latin typeface="Arial" panose="020B0604020202020204" pitchFamily="34" charset="0"/>
                <a:ea typeface="黑体" panose="02010609060101010101" pitchFamily="49" charset="-122"/>
              </a:rPr>
              <a:t>被除数</a:t>
            </a:r>
          </a:p>
        </p:txBody>
      </p:sp>
      <p:sp>
        <p:nvSpPr>
          <p:cNvPr id="28680" name="左箭头 102407"/>
          <p:cNvSpPr/>
          <p:nvPr/>
        </p:nvSpPr>
        <p:spPr>
          <a:xfrm>
            <a:off x="4786630" y="1931036"/>
            <a:ext cx="452120" cy="165735"/>
          </a:xfrm>
          <a:prstGeom prst="leftArrow">
            <a:avLst>
              <a:gd name="adj1" fmla="val 50000"/>
              <a:gd name="adj2" fmla="val 75000"/>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8681" name="文本框 102408"/>
          <p:cNvSpPr txBox="1"/>
          <p:nvPr/>
        </p:nvSpPr>
        <p:spPr>
          <a:xfrm>
            <a:off x="5050156" y="3985896"/>
            <a:ext cx="935355" cy="396875"/>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dirty="0">
                <a:solidFill>
                  <a:srgbClr val="000000"/>
                </a:solidFill>
                <a:latin typeface="Arial" panose="020B0604020202020204" pitchFamily="34" charset="0"/>
                <a:ea typeface="宋体" panose="02010600030101010101" pitchFamily="2" charset="-122"/>
              </a:rPr>
              <a:t> </a:t>
            </a:r>
            <a:r>
              <a:rPr lang="zh-CN" altLang="en-US" sz="2000" b="1" dirty="0">
                <a:solidFill>
                  <a:srgbClr val="000000"/>
                </a:solidFill>
                <a:latin typeface="Arial" panose="020B0604020202020204" pitchFamily="34" charset="0"/>
                <a:ea typeface="黑体" panose="02010609060101010101" pitchFamily="49" charset="-122"/>
              </a:rPr>
              <a:t>余数</a:t>
            </a:r>
          </a:p>
        </p:txBody>
      </p:sp>
      <p:sp>
        <p:nvSpPr>
          <p:cNvPr id="28682" name="左箭头 102409"/>
          <p:cNvSpPr/>
          <p:nvPr/>
        </p:nvSpPr>
        <p:spPr>
          <a:xfrm>
            <a:off x="4778375" y="4055111"/>
            <a:ext cx="415290" cy="255905"/>
          </a:xfrm>
          <a:prstGeom prst="leftArrow">
            <a:avLst>
              <a:gd name="adj1" fmla="val 50000"/>
              <a:gd name="adj2" fmla="val 75000"/>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8683" name="文本框 102410"/>
          <p:cNvSpPr txBox="1"/>
          <p:nvPr/>
        </p:nvSpPr>
        <p:spPr>
          <a:xfrm>
            <a:off x="5132071" y="1339216"/>
            <a:ext cx="504825" cy="396875"/>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dirty="0">
                <a:solidFill>
                  <a:srgbClr val="000000"/>
                </a:solidFill>
                <a:latin typeface="Arial" panose="020B0604020202020204" pitchFamily="34" charset="0"/>
                <a:ea typeface="宋体" panose="02010600030101010101" pitchFamily="2" charset="-122"/>
              </a:rPr>
              <a:t> </a:t>
            </a:r>
            <a:r>
              <a:rPr lang="zh-CN" altLang="en-US" sz="2000" b="1" dirty="0">
                <a:solidFill>
                  <a:srgbClr val="000000"/>
                </a:solidFill>
                <a:latin typeface="Arial" panose="020B0604020202020204" pitchFamily="34" charset="0"/>
                <a:ea typeface="黑体" panose="02010609060101010101" pitchFamily="49" charset="-122"/>
              </a:rPr>
              <a:t>商</a:t>
            </a:r>
          </a:p>
        </p:txBody>
      </p:sp>
      <p:sp>
        <p:nvSpPr>
          <p:cNvPr id="28684" name="左箭头 102411"/>
          <p:cNvSpPr/>
          <p:nvPr/>
        </p:nvSpPr>
        <p:spPr>
          <a:xfrm>
            <a:off x="4786630" y="1480186"/>
            <a:ext cx="452120" cy="184785"/>
          </a:xfrm>
          <a:prstGeom prst="leftArrow">
            <a:avLst>
              <a:gd name="adj1" fmla="val 50000"/>
              <a:gd name="adj2" fmla="val 75000"/>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14" name="文本框 13"/>
          <p:cNvSpPr txBox="1"/>
          <p:nvPr/>
        </p:nvSpPr>
        <p:spPr>
          <a:xfrm>
            <a:off x="6116321" y="2552700"/>
            <a:ext cx="4121785" cy="44941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000" err="1">
                <a:solidFill>
                  <a:srgbClr val="000000"/>
                </a:solidFill>
                <a:latin typeface="Times New Roman" panose="02020603050405020304" pitchFamily="18" charset="0"/>
                <a:ea typeface="黑体" panose="02010609060101010101" pitchFamily="49" charset="-122"/>
                <a:sym typeface="+mn-ea"/>
              </a:rPr>
              <a:t>即</a:t>
            </a:r>
            <a:r>
              <a:rPr lang="en-US" altLang="zh-CN" sz="2000" err="1">
                <a:solidFill>
                  <a:srgbClr val="000000"/>
                </a:solidFill>
                <a:latin typeface="Times New Roman" panose="02020603050405020304" pitchFamily="18" charset="0"/>
                <a:ea typeface="黑体" panose="02010609060101010101" pitchFamily="49" charset="-122"/>
                <a:sym typeface="+mn-ea"/>
              </a:rPr>
              <a:t> </a:t>
            </a:r>
            <a:r>
              <a:rPr lang="en-US" altLang="zh-CN" sz="2000" b="1" i="1" err="1">
                <a:solidFill>
                  <a:srgbClr val="000000"/>
                </a:solidFill>
                <a:latin typeface="Times New Roman" panose="02020603050405020304" pitchFamily="18" charset="0"/>
                <a:ea typeface="黑体" panose="02010609060101010101" pitchFamily="49" charset="-122"/>
                <a:sym typeface="+mn-ea"/>
              </a:rPr>
              <a:t>u</a:t>
            </a:r>
            <a:r>
              <a:rPr lang="en-US" altLang="zh-CN" sz="2000" b="1" err="1">
                <a:solidFill>
                  <a:srgbClr val="000000"/>
                </a:solidFill>
                <a:latin typeface="Times New Roman" panose="02020603050405020304" pitchFamily="18" charset="0"/>
                <a:ea typeface="黑体" panose="02010609060101010101" pitchFamily="49" charset="-122"/>
                <a:sym typeface="+mn-ea"/>
              </a:rPr>
              <a:t>(</a:t>
            </a:r>
            <a:r>
              <a:rPr lang="en-US" altLang="zh-CN" sz="2000" b="1" i="1" err="1">
                <a:solidFill>
                  <a:srgbClr val="000000"/>
                </a:solidFill>
                <a:latin typeface="Times New Roman" panose="02020603050405020304" pitchFamily="18" charset="0"/>
                <a:ea typeface="黑体" panose="02010609060101010101" pitchFamily="49" charset="-122"/>
                <a:sym typeface="+mn-ea"/>
              </a:rPr>
              <a:t>x</a:t>
            </a:r>
            <a:r>
              <a:rPr lang="en-US" altLang="zh-CN" sz="2000" b="1">
                <a:solidFill>
                  <a:srgbClr val="000000"/>
                </a:solidFill>
                <a:latin typeface="Times New Roman" panose="02020603050405020304" pitchFamily="18" charset="0"/>
                <a:ea typeface="黑体" panose="02010609060101010101" pitchFamily="49" charset="-122"/>
                <a:sym typeface="+mn-ea"/>
              </a:rPr>
              <a:t>)=(</a:t>
            </a:r>
            <a:r>
              <a:rPr lang="en-US" altLang="zh-CN" sz="2000" b="1" i="1">
                <a:solidFill>
                  <a:srgbClr val="000000"/>
                </a:solidFill>
                <a:latin typeface="Times New Roman" panose="02020603050405020304" pitchFamily="18" charset="0"/>
                <a:ea typeface="黑体" panose="02010609060101010101" pitchFamily="49" charset="-122"/>
                <a:sym typeface="+mn-ea"/>
              </a:rPr>
              <a:t>x</a:t>
            </a:r>
            <a:r>
              <a:rPr lang="en-US" altLang="zh-CN" sz="2000" b="1" baseline="30000">
                <a:solidFill>
                  <a:srgbClr val="000000"/>
                </a:solidFill>
                <a:latin typeface="Times New Roman" panose="02020603050405020304" pitchFamily="18" charset="0"/>
                <a:ea typeface="黑体" panose="02010609060101010101" pitchFamily="49" charset="-122"/>
                <a:sym typeface="+mn-ea"/>
              </a:rPr>
              <a:t>4</a:t>
            </a:r>
            <a:r>
              <a:rPr lang="en-US" altLang="zh-CN" sz="2000" b="1">
                <a:solidFill>
                  <a:srgbClr val="000000"/>
                </a:solidFill>
                <a:latin typeface="Times New Roman" panose="02020603050405020304" pitchFamily="18" charset="0"/>
                <a:ea typeface="黑体" panose="02010609060101010101" pitchFamily="49" charset="-122"/>
                <a:sym typeface="+mn-ea"/>
              </a:rPr>
              <a:t>+</a:t>
            </a:r>
            <a:r>
              <a:rPr lang="en-US" altLang="zh-CN" sz="2000" b="1" i="1">
                <a:solidFill>
                  <a:srgbClr val="000000"/>
                </a:solidFill>
                <a:latin typeface="Times New Roman" panose="02020603050405020304" pitchFamily="18" charset="0"/>
                <a:ea typeface="黑体" panose="02010609060101010101" pitchFamily="49" charset="-122"/>
                <a:sym typeface="+mn-ea"/>
              </a:rPr>
              <a:t>x</a:t>
            </a:r>
            <a:r>
              <a:rPr lang="en-US" altLang="zh-CN" sz="2000" b="1" baseline="30000">
                <a:solidFill>
                  <a:srgbClr val="000000"/>
                </a:solidFill>
                <a:latin typeface="Times New Roman" panose="02020603050405020304" pitchFamily="18" charset="0"/>
                <a:ea typeface="黑体" panose="02010609060101010101" pitchFamily="49" charset="-122"/>
                <a:sym typeface="+mn-ea"/>
              </a:rPr>
              <a:t>3</a:t>
            </a:r>
            <a:r>
              <a:rPr lang="en-US" altLang="zh-CN" sz="2000" b="1">
                <a:solidFill>
                  <a:srgbClr val="000000"/>
                </a:solidFill>
                <a:latin typeface="Times New Roman" panose="02020603050405020304" pitchFamily="18" charset="0"/>
                <a:ea typeface="黑体" panose="02010609060101010101" pitchFamily="49" charset="-122"/>
                <a:sym typeface="+mn-ea"/>
              </a:rPr>
              <a:t>+</a:t>
            </a:r>
            <a:r>
              <a:rPr lang="en-US" altLang="zh-CN" sz="2000" b="1" i="1">
                <a:solidFill>
                  <a:srgbClr val="000000"/>
                </a:solidFill>
                <a:latin typeface="Times New Roman" panose="02020603050405020304" pitchFamily="18" charset="0"/>
                <a:ea typeface="黑体" panose="02010609060101010101" pitchFamily="49" charset="-122"/>
                <a:sym typeface="+mn-ea"/>
              </a:rPr>
              <a:t>x</a:t>
            </a:r>
            <a:r>
              <a:rPr lang="en-US" altLang="zh-CN" sz="2000" b="1" baseline="30000">
                <a:solidFill>
                  <a:srgbClr val="000000"/>
                </a:solidFill>
                <a:latin typeface="Times New Roman" panose="02020603050405020304" pitchFamily="18" charset="0"/>
                <a:ea typeface="黑体" panose="02010609060101010101" pitchFamily="49" charset="-122"/>
                <a:sym typeface="+mn-ea"/>
              </a:rPr>
              <a:t>2</a:t>
            </a:r>
            <a:r>
              <a:rPr lang="en-US" altLang="zh-CN" sz="2000" b="1">
                <a:solidFill>
                  <a:srgbClr val="000000"/>
                </a:solidFill>
                <a:latin typeface="Times New Roman" panose="02020603050405020304" pitchFamily="18" charset="0"/>
                <a:ea typeface="黑体" panose="02010609060101010101" pitchFamily="49" charset="-122"/>
                <a:sym typeface="+mn-ea"/>
              </a:rPr>
              <a:t>+1)(</a:t>
            </a:r>
            <a:r>
              <a:rPr lang="en-US" altLang="zh-CN" sz="2000" b="1" i="1">
                <a:solidFill>
                  <a:srgbClr val="000000"/>
                </a:solidFill>
                <a:latin typeface="Times New Roman" panose="02020603050405020304" pitchFamily="18" charset="0"/>
                <a:ea typeface="黑体" panose="02010609060101010101" pitchFamily="49" charset="-122"/>
                <a:sym typeface="+mn-ea"/>
              </a:rPr>
              <a:t>x</a:t>
            </a:r>
            <a:r>
              <a:rPr lang="en-US" altLang="zh-CN" sz="2000" b="1" baseline="30000">
                <a:solidFill>
                  <a:srgbClr val="000000"/>
                </a:solidFill>
                <a:latin typeface="Times New Roman" panose="02020603050405020304" pitchFamily="18" charset="0"/>
                <a:ea typeface="黑体" panose="02010609060101010101" pitchFamily="49" charset="-122"/>
                <a:sym typeface="+mn-ea"/>
              </a:rPr>
              <a:t>2</a:t>
            </a:r>
            <a:r>
              <a:rPr lang="en-US" altLang="zh-CN" sz="2000" b="1">
                <a:solidFill>
                  <a:srgbClr val="000000"/>
                </a:solidFill>
                <a:latin typeface="Times New Roman" panose="02020603050405020304" pitchFamily="18" charset="0"/>
                <a:ea typeface="黑体" panose="02010609060101010101" pitchFamily="49" charset="-122"/>
                <a:sym typeface="+mn-ea"/>
              </a:rPr>
              <a:t>+</a:t>
            </a:r>
            <a:r>
              <a:rPr lang="en-US" altLang="zh-CN" sz="2000" b="1" i="1">
                <a:solidFill>
                  <a:srgbClr val="000000"/>
                </a:solidFill>
                <a:latin typeface="Times New Roman" panose="02020603050405020304" pitchFamily="18" charset="0"/>
                <a:ea typeface="黑体" panose="02010609060101010101" pitchFamily="49" charset="-122"/>
                <a:sym typeface="+mn-ea"/>
              </a:rPr>
              <a:t>x</a:t>
            </a:r>
            <a:r>
              <a:rPr lang="en-US" altLang="zh-CN" sz="2000" b="1">
                <a:solidFill>
                  <a:srgbClr val="000000"/>
                </a:solidFill>
                <a:latin typeface="Times New Roman" panose="02020603050405020304" pitchFamily="18" charset="0"/>
                <a:ea typeface="黑体" panose="02010609060101010101" pitchFamily="49" charset="-122"/>
                <a:sym typeface="+mn-ea"/>
              </a:rPr>
              <a:t>+1)+(</a:t>
            </a:r>
            <a:r>
              <a:rPr lang="en-US" altLang="zh-CN" sz="2000" b="1" i="1">
                <a:solidFill>
                  <a:srgbClr val="000000"/>
                </a:solidFill>
                <a:latin typeface="Times New Roman" panose="02020603050405020304" pitchFamily="18" charset="0"/>
                <a:ea typeface="黑体" panose="02010609060101010101" pitchFamily="49" charset="-122"/>
                <a:sym typeface="+mn-ea"/>
              </a:rPr>
              <a:t>x</a:t>
            </a:r>
            <a:r>
              <a:rPr lang="en-US" altLang="zh-CN" sz="2000" b="1">
                <a:solidFill>
                  <a:srgbClr val="000000"/>
                </a:solidFill>
                <a:latin typeface="Times New Roman" panose="02020603050405020304" pitchFamily="18" charset="0"/>
                <a:ea typeface="黑体" panose="02010609060101010101" pitchFamily="49" charset="-122"/>
                <a:sym typeface="+mn-ea"/>
              </a:rPr>
              <a:t>+1)</a:t>
            </a:r>
            <a:endParaRPr lang="en-US" altLang="zh-CN" sz="2000" b="1" dirty="0">
              <a:solidFill>
                <a:srgbClr val="000000"/>
              </a:solidFill>
              <a:latin typeface="Times New Roman" panose="02020603050405020304" pitchFamily="18" charset="0"/>
              <a:ea typeface="黑体" panose="02010609060101010101" pitchFamily="49" charset="-122"/>
              <a:sym typeface="+mn-ea"/>
            </a:endParaRPr>
          </a:p>
        </p:txBody>
      </p:sp>
      <p:grpSp>
        <p:nvGrpSpPr>
          <p:cNvPr id="53" name="组合 52"/>
          <p:cNvGrpSpPr/>
          <p:nvPr/>
        </p:nvGrpSpPr>
        <p:grpSpPr>
          <a:xfrm>
            <a:off x="1877061" y="4669790"/>
            <a:ext cx="8494395" cy="2099310"/>
            <a:chOff x="556" y="7354"/>
            <a:chExt cx="13377" cy="3306"/>
          </a:xfrm>
        </p:grpSpPr>
        <p:sp>
          <p:nvSpPr>
            <p:cNvPr id="17" name="椭圆 103427"/>
            <p:cNvSpPr/>
            <p:nvPr/>
          </p:nvSpPr>
          <p:spPr>
            <a:xfrm>
              <a:off x="2380" y="8115"/>
              <a:ext cx="579" cy="591"/>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18" name="文本框 103428"/>
            <p:cNvSpPr txBox="1"/>
            <p:nvPr/>
          </p:nvSpPr>
          <p:spPr>
            <a:xfrm>
              <a:off x="2380" y="7996"/>
              <a:ext cx="579" cy="725"/>
            </a:xfrm>
            <a:prstGeom prst="rect">
              <a:avLst/>
            </a:prstGeom>
            <a:noFill/>
            <a:ln w="9525">
              <a:noFill/>
            </a:ln>
          </p:spPr>
          <p:txBody>
            <a:bodyPr wrap="square"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19" name="流程图: 延期 103429"/>
            <p:cNvSpPr/>
            <p:nvPr/>
          </p:nvSpPr>
          <p:spPr>
            <a:xfrm>
              <a:off x="3731" y="8117"/>
              <a:ext cx="868" cy="591"/>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0" name="流程图: 延期 103430"/>
            <p:cNvSpPr/>
            <p:nvPr/>
          </p:nvSpPr>
          <p:spPr>
            <a:xfrm>
              <a:off x="5372" y="8115"/>
              <a:ext cx="868" cy="591"/>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1" name="流程图: 延期 103431"/>
            <p:cNvSpPr/>
            <p:nvPr/>
          </p:nvSpPr>
          <p:spPr>
            <a:xfrm>
              <a:off x="11360" y="8115"/>
              <a:ext cx="868" cy="591"/>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2" name="流程图: 延期 103432"/>
            <p:cNvSpPr/>
            <p:nvPr/>
          </p:nvSpPr>
          <p:spPr>
            <a:xfrm>
              <a:off x="8365" y="8115"/>
              <a:ext cx="868" cy="591"/>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3" name="椭圆 103433"/>
            <p:cNvSpPr/>
            <p:nvPr/>
          </p:nvSpPr>
          <p:spPr>
            <a:xfrm>
              <a:off x="7013" y="8115"/>
              <a:ext cx="579" cy="591"/>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4" name="文本框 103434"/>
            <p:cNvSpPr txBox="1"/>
            <p:nvPr/>
          </p:nvSpPr>
          <p:spPr>
            <a:xfrm>
              <a:off x="7013" y="7996"/>
              <a:ext cx="579" cy="726"/>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25" name="椭圆 103435"/>
            <p:cNvSpPr/>
            <p:nvPr/>
          </p:nvSpPr>
          <p:spPr>
            <a:xfrm>
              <a:off x="10008" y="8115"/>
              <a:ext cx="579" cy="591"/>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6" name="文本框 103436"/>
            <p:cNvSpPr txBox="1"/>
            <p:nvPr/>
          </p:nvSpPr>
          <p:spPr>
            <a:xfrm>
              <a:off x="10008" y="7996"/>
              <a:ext cx="579" cy="726"/>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27" name="直接连接符 103437"/>
            <p:cNvSpPr/>
            <p:nvPr/>
          </p:nvSpPr>
          <p:spPr>
            <a:xfrm>
              <a:off x="2959" y="8369"/>
              <a:ext cx="773" cy="0"/>
            </a:xfrm>
            <a:prstGeom prst="line">
              <a:avLst/>
            </a:prstGeom>
            <a:ln w="19050" cap="flat" cmpd="sng">
              <a:solidFill>
                <a:schemeClr val="tx1"/>
              </a:solidFill>
              <a:prstDash val="solid"/>
              <a:round/>
              <a:headEnd type="none" w="med" len="med"/>
              <a:tailEnd type="triangle" w="med" len="med"/>
            </a:ln>
          </p:spPr>
        </p:sp>
        <p:sp>
          <p:nvSpPr>
            <p:cNvPr id="28" name="直接连接符 103438"/>
            <p:cNvSpPr/>
            <p:nvPr/>
          </p:nvSpPr>
          <p:spPr>
            <a:xfrm>
              <a:off x="4600" y="8369"/>
              <a:ext cx="773" cy="0"/>
            </a:xfrm>
            <a:prstGeom prst="line">
              <a:avLst/>
            </a:prstGeom>
            <a:ln w="19050" cap="flat" cmpd="sng">
              <a:solidFill>
                <a:schemeClr val="tx1"/>
              </a:solidFill>
              <a:prstDash val="solid"/>
              <a:round/>
              <a:headEnd type="none" w="med" len="med"/>
              <a:tailEnd type="triangle" w="med" len="med"/>
            </a:ln>
          </p:spPr>
        </p:sp>
        <p:sp>
          <p:nvSpPr>
            <p:cNvPr id="29" name="直接连接符 103439"/>
            <p:cNvSpPr/>
            <p:nvPr/>
          </p:nvSpPr>
          <p:spPr>
            <a:xfrm>
              <a:off x="6241" y="8369"/>
              <a:ext cx="773" cy="0"/>
            </a:xfrm>
            <a:prstGeom prst="line">
              <a:avLst/>
            </a:prstGeom>
            <a:ln w="19050" cap="flat" cmpd="sng">
              <a:solidFill>
                <a:schemeClr val="tx1"/>
              </a:solidFill>
              <a:prstDash val="solid"/>
              <a:round/>
              <a:headEnd type="none" w="med" len="med"/>
              <a:tailEnd type="triangle" w="med" len="med"/>
            </a:ln>
          </p:spPr>
        </p:sp>
        <p:sp>
          <p:nvSpPr>
            <p:cNvPr id="30" name="直接连接符 103440"/>
            <p:cNvSpPr/>
            <p:nvPr/>
          </p:nvSpPr>
          <p:spPr>
            <a:xfrm>
              <a:off x="7595" y="8369"/>
              <a:ext cx="773" cy="0"/>
            </a:xfrm>
            <a:prstGeom prst="line">
              <a:avLst/>
            </a:prstGeom>
            <a:ln w="19050" cap="flat" cmpd="sng">
              <a:solidFill>
                <a:schemeClr val="tx1"/>
              </a:solidFill>
              <a:prstDash val="solid"/>
              <a:round/>
              <a:headEnd type="none" w="med" len="med"/>
              <a:tailEnd type="triangle" w="med" len="med"/>
            </a:ln>
          </p:spPr>
        </p:sp>
        <p:sp>
          <p:nvSpPr>
            <p:cNvPr id="31" name="直接连接符 103441"/>
            <p:cNvSpPr/>
            <p:nvPr/>
          </p:nvSpPr>
          <p:spPr>
            <a:xfrm>
              <a:off x="9236" y="8369"/>
              <a:ext cx="773" cy="0"/>
            </a:xfrm>
            <a:prstGeom prst="line">
              <a:avLst/>
            </a:prstGeom>
            <a:ln w="19050" cap="flat" cmpd="sng">
              <a:solidFill>
                <a:schemeClr val="tx1"/>
              </a:solidFill>
              <a:prstDash val="solid"/>
              <a:round/>
              <a:headEnd type="none" w="med" len="med"/>
              <a:tailEnd type="triangle" w="med" len="med"/>
            </a:ln>
          </p:spPr>
        </p:sp>
        <p:sp>
          <p:nvSpPr>
            <p:cNvPr id="32" name="直接连接符 103442"/>
            <p:cNvSpPr/>
            <p:nvPr/>
          </p:nvSpPr>
          <p:spPr>
            <a:xfrm>
              <a:off x="10587" y="8369"/>
              <a:ext cx="773" cy="0"/>
            </a:xfrm>
            <a:prstGeom prst="line">
              <a:avLst/>
            </a:prstGeom>
            <a:ln w="19050" cap="flat" cmpd="sng">
              <a:solidFill>
                <a:schemeClr val="tx1"/>
              </a:solidFill>
              <a:prstDash val="solid"/>
              <a:round/>
              <a:headEnd type="none" w="med" len="med"/>
              <a:tailEnd type="triangle" w="med" len="med"/>
            </a:ln>
          </p:spPr>
        </p:sp>
        <p:sp>
          <p:nvSpPr>
            <p:cNvPr id="33" name="直接连接符 103443"/>
            <p:cNvSpPr/>
            <p:nvPr/>
          </p:nvSpPr>
          <p:spPr>
            <a:xfrm>
              <a:off x="1607" y="8369"/>
              <a:ext cx="773" cy="0"/>
            </a:xfrm>
            <a:prstGeom prst="line">
              <a:avLst/>
            </a:prstGeom>
            <a:ln w="19050" cap="flat" cmpd="sng">
              <a:solidFill>
                <a:schemeClr val="tx1"/>
              </a:solidFill>
              <a:prstDash val="solid"/>
              <a:round/>
              <a:headEnd type="none" w="med" len="med"/>
              <a:tailEnd type="triangle" w="med" len="med"/>
            </a:ln>
          </p:spPr>
        </p:sp>
        <p:sp>
          <p:nvSpPr>
            <p:cNvPr id="34" name="直接连接符 103444"/>
            <p:cNvSpPr/>
            <p:nvPr/>
          </p:nvSpPr>
          <p:spPr>
            <a:xfrm>
              <a:off x="12228" y="8369"/>
              <a:ext cx="773" cy="0"/>
            </a:xfrm>
            <a:prstGeom prst="line">
              <a:avLst/>
            </a:prstGeom>
            <a:ln w="19050" cap="flat" cmpd="sng">
              <a:solidFill>
                <a:schemeClr val="tx1"/>
              </a:solidFill>
              <a:prstDash val="solid"/>
              <a:round/>
              <a:headEnd type="none" w="med" len="med"/>
              <a:tailEnd type="triangle" w="med" len="med"/>
            </a:ln>
          </p:spPr>
        </p:sp>
        <p:sp>
          <p:nvSpPr>
            <p:cNvPr id="35" name="直接连接符 103445"/>
            <p:cNvSpPr/>
            <p:nvPr/>
          </p:nvSpPr>
          <p:spPr>
            <a:xfrm>
              <a:off x="2669" y="7354"/>
              <a:ext cx="9848" cy="0"/>
            </a:xfrm>
            <a:prstGeom prst="line">
              <a:avLst/>
            </a:prstGeom>
            <a:ln w="15875" cap="flat" cmpd="sng">
              <a:solidFill>
                <a:schemeClr val="tx1"/>
              </a:solidFill>
              <a:prstDash val="solid"/>
              <a:round/>
              <a:headEnd type="none" w="med" len="med"/>
              <a:tailEnd type="none" w="med" len="med"/>
            </a:ln>
          </p:spPr>
        </p:sp>
        <p:sp>
          <p:nvSpPr>
            <p:cNvPr id="36" name="直接连接符 103446"/>
            <p:cNvSpPr/>
            <p:nvPr/>
          </p:nvSpPr>
          <p:spPr>
            <a:xfrm>
              <a:off x="2669" y="7354"/>
              <a:ext cx="0" cy="761"/>
            </a:xfrm>
            <a:prstGeom prst="line">
              <a:avLst/>
            </a:prstGeom>
            <a:ln w="15875" cap="flat" cmpd="sng">
              <a:solidFill>
                <a:schemeClr val="tx1"/>
              </a:solidFill>
              <a:prstDash val="solid"/>
              <a:round/>
              <a:headEnd type="none" w="med" len="med"/>
              <a:tailEnd type="triangle" w="med" len="med"/>
            </a:ln>
          </p:spPr>
        </p:sp>
        <p:sp>
          <p:nvSpPr>
            <p:cNvPr id="37" name="直接连接符 103447"/>
            <p:cNvSpPr/>
            <p:nvPr/>
          </p:nvSpPr>
          <p:spPr>
            <a:xfrm>
              <a:off x="7305" y="7354"/>
              <a:ext cx="0" cy="761"/>
            </a:xfrm>
            <a:prstGeom prst="line">
              <a:avLst/>
            </a:prstGeom>
            <a:ln w="15875" cap="flat" cmpd="sng">
              <a:solidFill>
                <a:schemeClr val="tx1"/>
              </a:solidFill>
              <a:prstDash val="solid"/>
              <a:round/>
              <a:headEnd type="none" w="med" len="med"/>
              <a:tailEnd type="triangle" w="med" len="med"/>
            </a:ln>
          </p:spPr>
        </p:sp>
        <p:sp>
          <p:nvSpPr>
            <p:cNvPr id="38" name="直接连接符 103448"/>
            <p:cNvSpPr/>
            <p:nvPr/>
          </p:nvSpPr>
          <p:spPr>
            <a:xfrm>
              <a:off x="10298" y="7354"/>
              <a:ext cx="0" cy="761"/>
            </a:xfrm>
            <a:prstGeom prst="line">
              <a:avLst/>
            </a:prstGeom>
            <a:ln w="15875" cap="flat" cmpd="sng">
              <a:solidFill>
                <a:schemeClr val="tx1"/>
              </a:solidFill>
              <a:prstDash val="solid"/>
              <a:round/>
              <a:headEnd type="none" w="med" len="med"/>
              <a:tailEnd type="triangle" w="med" len="med"/>
            </a:ln>
          </p:spPr>
        </p:sp>
        <p:sp>
          <p:nvSpPr>
            <p:cNvPr id="39" name="直接连接符 103450"/>
            <p:cNvSpPr/>
            <p:nvPr/>
          </p:nvSpPr>
          <p:spPr>
            <a:xfrm>
              <a:off x="12518" y="7354"/>
              <a:ext cx="0" cy="1015"/>
            </a:xfrm>
            <a:prstGeom prst="line">
              <a:avLst/>
            </a:prstGeom>
            <a:ln w="15875" cap="flat" cmpd="sng">
              <a:solidFill>
                <a:schemeClr val="tx1"/>
              </a:solidFill>
              <a:prstDash val="solid"/>
              <a:round/>
              <a:headEnd type="none" w="med" len="med"/>
              <a:tailEnd type="none" w="med" len="med"/>
            </a:ln>
          </p:spPr>
        </p:sp>
        <p:sp>
          <p:nvSpPr>
            <p:cNvPr id="40" name="文本框 103451"/>
            <p:cNvSpPr txBox="1"/>
            <p:nvPr/>
          </p:nvSpPr>
          <p:spPr>
            <a:xfrm>
              <a:off x="4891" y="9355"/>
              <a:ext cx="4827" cy="726"/>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b="1" dirty="0">
                  <a:solidFill>
                    <a:srgbClr val="000000"/>
                  </a:solidFill>
                  <a:latin typeface="Times New Roman" panose="02020603050405020304" pitchFamily="18" charset="0"/>
                  <a:ea typeface="黑体" panose="02010609060101010101" pitchFamily="49" charset="-122"/>
                </a:rPr>
                <a:t>除数</a:t>
              </a:r>
              <a:r>
                <a:rPr lang="en-US" altLang="zh-CN" sz="2400" b="1" i="1" err="1">
                  <a:solidFill>
                    <a:srgbClr val="000000"/>
                  </a:solidFill>
                  <a:latin typeface="Times New Roman" panose="02020603050405020304" pitchFamily="18" charset="0"/>
                  <a:ea typeface="宋体" panose="02010600030101010101" pitchFamily="2" charset="-122"/>
                </a:rPr>
                <a:t>g</a:t>
              </a:r>
              <a:r>
                <a:rPr lang="en-US" altLang="zh-CN" sz="2400" b="1" err="1">
                  <a:solidFill>
                    <a:srgbClr val="000000"/>
                  </a:solidFill>
                  <a:latin typeface="Times New Roman" panose="02020603050405020304" pitchFamily="18" charset="0"/>
                  <a:ea typeface="宋体" panose="02010600030101010101" pitchFamily="2" charset="-122"/>
                </a:rPr>
                <a:t>(</a:t>
              </a:r>
              <a:r>
                <a:rPr lang="en-US" altLang="zh-CN" sz="2400" b="1" i="1" err="1">
                  <a:solidFill>
                    <a:srgbClr val="000000"/>
                  </a:solidFill>
                  <a:latin typeface="Times New Roman" panose="02020603050405020304" pitchFamily="18" charset="0"/>
                  <a:ea typeface="宋体" panose="02010600030101010101" pitchFamily="2" charset="-122"/>
                </a:rPr>
                <a:t>x</a:t>
              </a:r>
              <a:r>
                <a:rPr lang="en-US" altLang="zh-CN" sz="2400" b="1">
                  <a:solidFill>
                    <a:srgbClr val="000000"/>
                  </a:solidFill>
                  <a:latin typeface="Times New Roman" panose="02020603050405020304" pitchFamily="18" charset="0"/>
                  <a:ea typeface="宋体" panose="02010600030101010101" pitchFamily="2" charset="-122"/>
                </a:rPr>
                <a:t>)=1+</a:t>
              </a:r>
              <a:r>
                <a:rPr lang="en-US" altLang="zh-CN" sz="2400" b="1" i="1">
                  <a:solidFill>
                    <a:srgbClr val="000000"/>
                  </a:solidFill>
                  <a:latin typeface="Times New Roman" panose="02020603050405020304" pitchFamily="18" charset="0"/>
                  <a:ea typeface="宋体" panose="02010600030101010101" pitchFamily="2" charset="-122"/>
                </a:rPr>
                <a:t>x</a:t>
              </a:r>
              <a:r>
                <a:rPr lang="en-US" altLang="zh-CN" sz="2400" b="1" baseline="30000">
                  <a:solidFill>
                    <a:srgbClr val="000000"/>
                  </a:solidFill>
                  <a:latin typeface="Times New Roman" panose="02020603050405020304" pitchFamily="18" charset="0"/>
                  <a:ea typeface="宋体" panose="02010600030101010101" pitchFamily="2" charset="-122"/>
                </a:rPr>
                <a:t>2</a:t>
              </a:r>
              <a:r>
                <a:rPr lang="en-US" altLang="zh-CN" sz="2400" b="1">
                  <a:solidFill>
                    <a:srgbClr val="000000"/>
                  </a:solidFill>
                  <a:latin typeface="Times New Roman" panose="02020603050405020304" pitchFamily="18" charset="0"/>
                  <a:ea typeface="宋体" panose="02010600030101010101" pitchFamily="2" charset="-122"/>
                </a:rPr>
                <a:t>+</a:t>
              </a:r>
              <a:r>
                <a:rPr lang="en-US" altLang="zh-CN" sz="2400" b="1" i="1">
                  <a:solidFill>
                    <a:srgbClr val="000000"/>
                  </a:solidFill>
                  <a:latin typeface="Times New Roman" panose="02020603050405020304" pitchFamily="18" charset="0"/>
                  <a:ea typeface="宋体" panose="02010600030101010101" pitchFamily="2" charset="-122"/>
                </a:rPr>
                <a:t>x</a:t>
              </a:r>
              <a:r>
                <a:rPr lang="en-US" altLang="zh-CN" sz="2400" b="1" baseline="30000">
                  <a:solidFill>
                    <a:srgbClr val="000000"/>
                  </a:solidFill>
                  <a:latin typeface="Times New Roman" panose="02020603050405020304" pitchFamily="18" charset="0"/>
                  <a:ea typeface="宋体" panose="02010600030101010101" pitchFamily="2" charset="-122"/>
                </a:rPr>
                <a:t>3</a:t>
              </a:r>
              <a:r>
                <a:rPr lang="en-US" altLang="zh-CN" sz="2400" b="1">
                  <a:solidFill>
                    <a:srgbClr val="000000"/>
                  </a:solidFill>
                  <a:latin typeface="Times New Roman" panose="02020603050405020304" pitchFamily="18" charset="0"/>
                  <a:ea typeface="宋体" panose="02010600030101010101" pitchFamily="2" charset="-122"/>
                </a:rPr>
                <a:t>+</a:t>
              </a:r>
              <a:r>
                <a:rPr lang="en-US" altLang="zh-CN" sz="2400" b="1" i="1">
                  <a:solidFill>
                    <a:srgbClr val="000000"/>
                  </a:solidFill>
                  <a:latin typeface="Times New Roman" panose="02020603050405020304" pitchFamily="18" charset="0"/>
                  <a:ea typeface="宋体" panose="02010600030101010101" pitchFamily="2" charset="-122"/>
                </a:rPr>
                <a:t>x</a:t>
              </a:r>
              <a:r>
                <a:rPr lang="en-US" altLang="zh-CN" sz="2400" b="1" baseline="30000">
                  <a:solidFill>
                    <a:srgbClr val="000000"/>
                  </a:solidFill>
                  <a:latin typeface="Times New Roman" panose="02020603050405020304" pitchFamily="18" charset="0"/>
                  <a:ea typeface="宋体" panose="02010600030101010101" pitchFamily="2" charset="-122"/>
                </a:rPr>
                <a:t>4</a:t>
              </a:r>
              <a:endParaRPr lang="zh-CN" altLang="en-US" sz="2400" b="1" dirty="0">
                <a:solidFill>
                  <a:srgbClr val="000000"/>
                </a:solidFill>
                <a:latin typeface="Times New Roman" panose="02020603050405020304" pitchFamily="18" charset="0"/>
                <a:ea typeface="宋体" panose="02010600030101010101" pitchFamily="2" charset="-122"/>
              </a:endParaRPr>
            </a:p>
          </p:txBody>
        </p:sp>
        <p:sp>
          <p:nvSpPr>
            <p:cNvPr id="41" name="文本框 103453"/>
            <p:cNvSpPr txBox="1"/>
            <p:nvPr/>
          </p:nvSpPr>
          <p:spPr>
            <a:xfrm>
              <a:off x="556" y="8384"/>
              <a:ext cx="2154" cy="1210"/>
            </a:xfrm>
            <a:prstGeom prst="rect">
              <a:avLst/>
            </a:prstGeom>
            <a:noFill/>
            <a:ln w="9525">
              <a:noFill/>
            </a:ln>
          </p:spPr>
          <p:txBody>
            <a:bodyPr wrap="square" anchor="t" anchorCtr="0">
              <a:spAutoFit/>
            </a:bodyPr>
            <a:lstStyle/>
            <a:p>
              <a:pPr algn="ctr" eaLnBrk="0" fontAlgn="base" hangingPunct="0">
                <a:spcAft>
                  <a:spcPct val="0"/>
                </a:spcAft>
              </a:pPr>
              <a:r>
                <a:rPr lang="en-US" altLang="zh-CN" sz="2400" b="1" i="1" err="1">
                  <a:solidFill>
                    <a:srgbClr val="000000"/>
                  </a:solidFill>
                  <a:latin typeface="Times New Roman" panose="02020603050405020304" pitchFamily="18" charset="0"/>
                  <a:ea typeface="宋体" panose="02010600030101010101" pitchFamily="2" charset="-122"/>
                </a:rPr>
                <a:t>u</a:t>
              </a:r>
              <a:r>
                <a:rPr lang="en-US" altLang="zh-CN" sz="2400" b="1" err="1">
                  <a:solidFill>
                    <a:srgbClr val="000000"/>
                  </a:solidFill>
                  <a:latin typeface="Times New Roman" panose="02020603050405020304" pitchFamily="18" charset="0"/>
                  <a:ea typeface="宋体" panose="02010600030101010101" pitchFamily="2" charset="-122"/>
                </a:rPr>
                <a:t>(</a:t>
              </a:r>
              <a:r>
                <a:rPr lang="en-US" altLang="zh-CN" sz="2400" b="1" i="1" err="1">
                  <a:solidFill>
                    <a:srgbClr val="000000"/>
                  </a:solidFill>
                  <a:latin typeface="Times New Roman" panose="02020603050405020304" pitchFamily="18" charset="0"/>
                  <a:ea typeface="宋体" panose="02010600030101010101" pitchFamily="2" charset="-122"/>
                </a:rPr>
                <a:t>x</a:t>
              </a:r>
              <a:r>
                <a:rPr lang="en-US" altLang="zh-CN" sz="2400" b="1">
                  <a:solidFill>
                    <a:srgbClr val="000000"/>
                  </a:solidFill>
                  <a:latin typeface="Times New Roman" panose="02020603050405020304" pitchFamily="18" charset="0"/>
                  <a:ea typeface="宋体" panose="02010600030101010101" pitchFamily="2" charset="-122"/>
                </a:rPr>
                <a:t>)</a:t>
              </a:r>
            </a:p>
            <a:p>
              <a:pPr algn="ctr" eaLnBrk="0" fontAlgn="base" hangingPunct="0">
                <a:spcAft>
                  <a:spcPct val="0"/>
                </a:spcAft>
              </a:pPr>
              <a:r>
                <a:rPr lang="zh-CN" altLang="en-US" sz="2000" b="1" dirty="0">
                  <a:solidFill>
                    <a:srgbClr val="000000"/>
                  </a:solidFill>
                  <a:latin typeface="Times New Roman" panose="02020603050405020304" pitchFamily="18" charset="0"/>
                  <a:ea typeface="黑体" panose="02010609060101010101" pitchFamily="49" charset="-122"/>
                </a:rPr>
                <a:t>被除数</a:t>
              </a:r>
            </a:p>
          </p:txBody>
        </p:sp>
        <p:sp>
          <p:nvSpPr>
            <p:cNvPr id="42" name="文本框 103454"/>
            <p:cNvSpPr txBox="1"/>
            <p:nvPr/>
          </p:nvSpPr>
          <p:spPr>
            <a:xfrm>
              <a:off x="3636" y="7438"/>
              <a:ext cx="868" cy="726"/>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D</a:t>
              </a:r>
              <a:r>
                <a:rPr lang="en-US" altLang="zh-CN" sz="2400" b="1" baseline="-25000">
                  <a:solidFill>
                    <a:srgbClr val="000000"/>
                  </a:solidFill>
                  <a:latin typeface="Times New Roman" panose="02020603050405020304" pitchFamily="18" charset="0"/>
                  <a:ea typeface="宋体" panose="02010600030101010101" pitchFamily="2" charset="-122"/>
                </a:rPr>
                <a:t>0</a:t>
              </a:r>
              <a:endParaRPr lang="zh-CN" altLang="en-US" sz="2400" b="1" baseline="-25000" dirty="0">
                <a:solidFill>
                  <a:srgbClr val="000000"/>
                </a:solidFill>
                <a:latin typeface="Times New Roman" panose="02020603050405020304" pitchFamily="18" charset="0"/>
                <a:ea typeface="宋体" panose="02010600030101010101" pitchFamily="2" charset="-122"/>
              </a:endParaRPr>
            </a:p>
          </p:txBody>
        </p:sp>
        <p:sp>
          <p:nvSpPr>
            <p:cNvPr id="43" name="文本框 103455"/>
            <p:cNvSpPr txBox="1"/>
            <p:nvPr/>
          </p:nvSpPr>
          <p:spPr>
            <a:xfrm>
              <a:off x="5277" y="7438"/>
              <a:ext cx="868" cy="726"/>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D</a:t>
              </a:r>
              <a:r>
                <a:rPr lang="en-US" altLang="zh-CN" sz="2400" b="1" baseline="-25000">
                  <a:solidFill>
                    <a:srgbClr val="000000"/>
                  </a:solidFill>
                  <a:latin typeface="Times New Roman" panose="02020603050405020304" pitchFamily="18" charset="0"/>
                  <a:ea typeface="宋体" panose="02010600030101010101" pitchFamily="2" charset="-122"/>
                </a:rPr>
                <a:t>1</a:t>
              </a:r>
              <a:endParaRPr lang="zh-CN" altLang="en-US" sz="2400" b="1" baseline="-25000" dirty="0">
                <a:solidFill>
                  <a:srgbClr val="000000"/>
                </a:solidFill>
                <a:latin typeface="Times New Roman" panose="02020603050405020304" pitchFamily="18" charset="0"/>
                <a:ea typeface="宋体" panose="02010600030101010101" pitchFamily="2" charset="-122"/>
              </a:endParaRPr>
            </a:p>
          </p:txBody>
        </p:sp>
        <p:sp>
          <p:nvSpPr>
            <p:cNvPr id="44" name="文本框 103456"/>
            <p:cNvSpPr txBox="1"/>
            <p:nvPr/>
          </p:nvSpPr>
          <p:spPr>
            <a:xfrm>
              <a:off x="8269" y="7402"/>
              <a:ext cx="868" cy="726"/>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D</a:t>
              </a:r>
              <a:r>
                <a:rPr lang="en-US" altLang="zh-CN" sz="2400" b="1" baseline="-25000">
                  <a:solidFill>
                    <a:srgbClr val="000000"/>
                  </a:solidFill>
                  <a:latin typeface="Times New Roman" panose="02020603050405020304" pitchFamily="18" charset="0"/>
                  <a:ea typeface="宋体" panose="02010600030101010101" pitchFamily="2" charset="-122"/>
                </a:rPr>
                <a:t>2</a:t>
              </a:r>
              <a:endParaRPr lang="zh-CN" altLang="en-US" sz="2400" b="1" baseline="-25000" dirty="0">
                <a:solidFill>
                  <a:srgbClr val="000000"/>
                </a:solidFill>
                <a:latin typeface="Times New Roman" panose="02020603050405020304" pitchFamily="18" charset="0"/>
                <a:ea typeface="宋体" panose="02010600030101010101" pitchFamily="2" charset="-122"/>
              </a:endParaRPr>
            </a:p>
          </p:txBody>
        </p:sp>
        <p:sp>
          <p:nvSpPr>
            <p:cNvPr id="45" name="文本框 103457"/>
            <p:cNvSpPr txBox="1"/>
            <p:nvPr/>
          </p:nvSpPr>
          <p:spPr>
            <a:xfrm>
              <a:off x="11262" y="7402"/>
              <a:ext cx="868" cy="726"/>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D</a:t>
              </a:r>
              <a:r>
                <a:rPr lang="en-US" altLang="zh-CN" sz="2400" b="1" baseline="-25000">
                  <a:solidFill>
                    <a:srgbClr val="000000"/>
                  </a:solidFill>
                  <a:latin typeface="Times New Roman" panose="02020603050405020304" pitchFamily="18" charset="0"/>
                  <a:ea typeface="宋体" panose="02010600030101010101" pitchFamily="2" charset="-122"/>
                </a:rPr>
                <a:t>3</a:t>
              </a:r>
              <a:endParaRPr lang="zh-CN" altLang="en-US" sz="2400" b="1" baseline="-25000" dirty="0">
                <a:solidFill>
                  <a:srgbClr val="000000"/>
                </a:solidFill>
                <a:latin typeface="Times New Roman" panose="02020603050405020304" pitchFamily="18" charset="0"/>
                <a:ea typeface="宋体" panose="02010600030101010101" pitchFamily="2" charset="-122"/>
              </a:endParaRPr>
            </a:p>
          </p:txBody>
        </p:sp>
        <p:sp>
          <p:nvSpPr>
            <p:cNvPr id="46" name="文本框 103458"/>
            <p:cNvSpPr txBox="1"/>
            <p:nvPr/>
          </p:nvSpPr>
          <p:spPr>
            <a:xfrm>
              <a:off x="12247" y="8688"/>
              <a:ext cx="1686" cy="629"/>
            </a:xfrm>
            <a:prstGeom prst="rect">
              <a:avLst/>
            </a:prstGeom>
            <a:noFill/>
            <a:ln w="9525">
              <a:noFill/>
            </a:ln>
          </p:spPr>
          <p:txBody>
            <a:bodyPr wrap="square" anchor="t" anchorCtr="0">
              <a:spAutoFit/>
            </a:bodyPr>
            <a:lstStyle/>
            <a:p>
              <a:pPr algn="ctr" eaLnBrk="0" fontAlgn="base" hangingPunct="0">
                <a:spcBef>
                  <a:spcPct val="50000"/>
                </a:spcBef>
                <a:spcAft>
                  <a:spcPct val="0"/>
                </a:spcAft>
              </a:pPr>
              <a:r>
                <a:rPr lang="zh-CN" altLang="en-US" sz="2000" b="1" dirty="0">
                  <a:solidFill>
                    <a:srgbClr val="000000"/>
                  </a:solidFill>
                  <a:latin typeface="Times New Roman" panose="02020603050405020304" pitchFamily="18" charset="0"/>
                  <a:ea typeface="黑体" panose="02010609060101010101" pitchFamily="49" charset="-122"/>
                </a:rPr>
                <a:t>输出商</a:t>
              </a:r>
            </a:p>
          </p:txBody>
        </p:sp>
        <p:sp>
          <p:nvSpPr>
            <p:cNvPr id="47" name="直接连接符 103459"/>
            <p:cNvSpPr/>
            <p:nvPr/>
          </p:nvSpPr>
          <p:spPr>
            <a:xfrm>
              <a:off x="2669" y="7777"/>
              <a:ext cx="4636" cy="1692"/>
            </a:xfrm>
            <a:prstGeom prst="line">
              <a:avLst/>
            </a:prstGeom>
            <a:ln w="25400" cap="flat" cmpd="sng">
              <a:solidFill>
                <a:srgbClr val="FF6600"/>
              </a:solidFill>
              <a:prstDash val="dash"/>
              <a:round/>
              <a:headEnd type="none" w="med" len="med"/>
              <a:tailEnd type="none" w="med" len="med"/>
            </a:ln>
          </p:spPr>
        </p:sp>
        <p:sp>
          <p:nvSpPr>
            <p:cNvPr id="48" name="直接连接符 103460"/>
            <p:cNvSpPr/>
            <p:nvPr/>
          </p:nvSpPr>
          <p:spPr>
            <a:xfrm>
              <a:off x="7305" y="7692"/>
              <a:ext cx="481" cy="1692"/>
            </a:xfrm>
            <a:prstGeom prst="line">
              <a:avLst/>
            </a:prstGeom>
            <a:ln w="25400" cap="flat" cmpd="sng">
              <a:solidFill>
                <a:srgbClr val="FF6600"/>
              </a:solidFill>
              <a:prstDash val="dash"/>
              <a:round/>
              <a:headEnd type="none" w="med" len="med"/>
              <a:tailEnd type="none" w="med" len="med"/>
            </a:ln>
          </p:spPr>
        </p:sp>
        <p:sp>
          <p:nvSpPr>
            <p:cNvPr id="49" name="直接连接符 103461"/>
            <p:cNvSpPr/>
            <p:nvPr/>
          </p:nvSpPr>
          <p:spPr>
            <a:xfrm flipH="1">
              <a:off x="8463" y="7777"/>
              <a:ext cx="1737" cy="1606"/>
            </a:xfrm>
            <a:prstGeom prst="line">
              <a:avLst/>
            </a:prstGeom>
            <a:ln w="25400" cap="flat" cmpd="sng">
              <a:solidFill>
                <a:srgbClr val="FF6600"/>
              </a:solidFill>
              <a:prstDash val="dash"/>
              <a:round/>
              <a:headEnd type="none" w="med" len="med"/>
              <a:tailEnd type="none" w="med" len="med"/>
            </a:ln>
          </p:spPr>
        </p:sp>
        <p:sp>
          <p:nvSpPr>
            <p:cNvPr id="50" name="直接连接符 103462"/>
            <p:cNvSpPr/>
            <p:nvPr/>
          </p:nvSpPr>
          <p:spPr>
            <a:xfrm flipH="1">
              <a:off x="9042" y="7945"/>
              <a:ext cx="3378" cy="1522"/>
            </a:xfrm>
            <a:prstGeom prst="line">
              <a:avLst/>
            </a:prstGeom>
            <a:ln w="25400" cap="flat" cmpd="sng">
              <a:solidFill>
                <a:srgbClr val="FF6600"/>
              </a:solidFill>
              <a:prstDash val="dash"/>
              <a:round/>
              <a:headEnd type="none" w="med" len="med"/>
              <a:tailEnd type="none" w="med" len="med"/>
            </a:ln>
          </p:spPr>
        </p:sp>
        <p:sp>
          <p:nvSpPr>
            <p:cNvPr id="51" name="文本框 114821"/>
            <p:cNvSpPr txBox="1"/>
            <p:nvPr/>
          </p:nvSpPr>
          <p:spPr>
            <a:xfrm>
              <a:off x="6000" y="10080"/>
              <a:ext cx="3305" cy="580"/>
            </a:xfrm>
            <a:prstGeom prst="rect">
              <a:avLst/>
            </a:prstGeom>
            <a:noFill/>
            <a:ln w="9525">
              <a:noFill/>
            </a:ln>
          </p:spPr>
          <p:txBody>
            <a:bodyPr wrap="square" anchor="t" anchorCtr="0">
              <a:spAutoFit/>
            </a:bodyPr>
            <a:lstStyle/>
            <a:p>
              <a:pPr eaLnBrk="0" fontAlgn="base" hangingPunct="0">
                <a:spcBef>
                  <a:spcPct val="50000"/>
                </a:spcBef>
                <a:spcAft>
                  <a:spcPct val="0"/>
                </a:spcAft>
              </a:pPr>
              <a:r>
                <a:rPr lang="en-US" altLang="zh-CN" b="1">
                  <a:solidFill>
                    <a:srgbClr val="000000"/>
                  </a:solidFill>
                  <a:latin typeface="楷体" panose="02010609060101010101" charset="-122"/>
                  <a:ea typeface="楷体" panose="02010609060101010101" charset="-122"/>
                  <a:cs typeface="楷体" panose="02010609060101010101" charset="-122"/>
                </a:rPr>
                <a:t> </a:t>
              </a:r>
              <a:r>
                <a:rPr lang="zh-CN" altLang="en-US" b="1">
                  <a:solidFill>
                    <a:srgbClr val="000000"/>
                  </a:solidFill>
                  <a:latin typeface="楷体" panose="02010609060101010101" charset="-122"/>
                  <a:ea typeface="楷体" panose="02010609060101010101" charset="-122"/>
                  <a:cs typeface="楷体" panose="02010609060101010101" charset="-122"/>
                </a:rPr>
                <a:t>对应的除法电路</a:t>
              </a:r>
            </a:p>
          </p:txBody>
        </p:sp>
      </p:grpSp>
      <p:cxnSp>
        <p:nvCxnSpPr>
          <p:cNvPr id="52" name="直接连接符 51"/>
          <p:cNvCxnSpPr/>
          <p:nvPr/>
        </p:nvCxnSpPr>
        <p:spPr>
          <a:xfrm flipV="1">
            <a:off x="1828800" y="4495166"/>
            <a:ext cx="8458200" cy="635"/>
          </a:xfrm>
          <a:prstGeom prst="line">
            <a:avLst/>
          </a:prstGeom>
          <a:noFill/>
          <a:ln>
            <a:gradFill>
              <a:gsLst>
                <a:gs pos="0">
                  <a:srgbClr val="007BD3"/>
                </a:gs>
                <a:gs pos="100000">
                  <a:srgbClr val="034373"/>
                </a:gs>
              </a:gsLst>
            </a:gradFill>
          </a:ln>
        </p:spPr>
      </p:cxn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690236" y="104775"/>
            <a:ext cx="4711065" cy="685800"/>
          </a:xfrm>
        </p:spPr>
        <p:txBody>
          <a:bodyPr/>
          <a:lstStyle/>
          <a:p>
            <a:r>
              <a:rPr lang="zh-CN" altLang="en-US" sz="2800" i="1">
                <a:latin typeface="Times New Roman" panose="02020603050405020304" pitchFamily="18" charset="0"/>
                <a:ea typeface="黑体" panose="02010609060101010101" pitchFamily="49" charset="-122"/>
                <a:cs typeface="Times New Roman" panose="02020603050405020304" pitchFamily="18" charset="0"/>
                <a:sym typeface="+mn-ea"/>
              </a:rPr>
              <a:t>g</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i="1">
                <a:latin typeface="Times New Roman" panose="02020603050405020304" pitchFamily="18" charset="0"/>
                <a:ea typeface="黑体" panose="02010609060101010101" pitchFamily="49" charset="-122"/>
                <a:cs typeface="Times New Roman" panose="02020603050405020304" pitchFamily="18" charset="0"/>
                <a:sym typeface="+mn-ea"/>
              </a:rPr>
              <a:t>x</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除法电路编码器</a:t>
            </a:r>
          </a:p>
        </p:txBody>
      </p:sp>
      <p:grpSp>
        <p:nvGrpSpPr>
          <p:cNvPr id="6" name="组合 5"/>
          <p:cNvGrpSpPr/>
          <p:nvPr/>
        </p:nvGrpSpPr>
        <p:grpSpPr>
          <a:xfrm>
            <a:off x="2686050" y="908686"/>
            <a:ext cx="7345680" cy="2469621"/>
            <a:chOff x="283" y="2978"/>
            <a:chExt cx="13835" cy="5595"/>
          </a:xfrm>
        </p:grpSpPr>
        <p:sp>
          <p:nvSpPr>
            <p:cNvPr id="31745" name="直接连接符 105606"/>
            <p:cNvSpPr/>
            <p:nvPr/>
          </p:nvSpPr>
          <p:spPr>
            <a:xfrm>
              <a:off x="9583" y="6720"/>
              <a:ext cx="565" cy="0"/>
            </a:xfrm>
            <a:prstGeom prst="line">
              <a:avLst/>
            </a:prstGeom>
            <a:ln w="15875" cap="flat" cmpd="sng">
              <a:solidFill>
                <a:schemeClr val="tx1"/>
              </a:solidFill>
              <a:prstDash val="solid"/>
              <a:round/>
              <a:headEnd type="none" w="med" len="med"/>
              <a:tailEnd type="none" w="med" len="med"/>
            </a:ln>
          </p:spPr>
        </p:sp>
        <p:sp>
          <p:nvSpPr>
            <p:cNvPr id="31746" name="直接连接符 105605"/>
            <p:cNvSpPr/>
            <p:nvPr/>
          </p:nvSpPr>
          <p:spPr>
            <a:xfrm>
              <a:off x="8223" y="6720"/>
              <a:ext cx="565" cy="0"/>
            </a:xfrm>
            <a:prstGeom prst="line">
              <a:avLst/>
            </a:prstGeom>
            <a:ln w="15875" cap="flat" cmpd="sng">
              <a:solidFill>
                <a:schemeClr val="tx1"/>
              </a:solidFill>
              <a:prstDash val="solid"/>
              <a:round/>
              <a:headEnd type="none" w="med" len="med"/>
              <a:tailEnd type="none" w="med" len="med"/>
            </a:ln>
          </p:spPr>
        </p:sp>
        <p:sp>
          <p:nvSpPr>
            <p:cNvPr id="31748" name="流程图: 延期 105479"/>
            <p:cNvSpPr/>
            <p:nvPr/>
          </p:nvSpPr>
          <p:spPr>
            <a:xfrm>
              <a:off x="4140" y="6268"/>
              <a:ext cx="795" cy="792"/>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49" name="直接连接符 105496"/>
            <p:cNvSpPr/>
            <p:nvPr/>
          </p:nvSpPr>
          <p:spPr>
            <a:xfrm>
              <a:off x="623" y="5248"/>
              <a:ext cx="0" cy="1020"/>
            </a:xfrm>
            <a:prstGeom prst="line">
              <a:avLst/>
            </a:prstGeom>
            <a:ln w="15875" cap="flat" cmpd="sng">
              <a:solidFill>
                <a:schemeClr val="tx1"/>
              </a:solidFill>
              <a:prstDash val="solid"/>
              <a:round/>
              <a:headEnd type="none" w="med" len="med"/>
              <a:tailEnd type="triangle" w="med" len="med"/>
            </a:ln>
          </p:spPr>
        </p:sp>
        <p:sp>
          <p:nvSpPr>
            <p:cNvPr id="31750" name="直接连接符 105513"/>
            <p:cNvSpPr/>
            <p:nvPr/>
          </p:nvSpPr>
          <p:spPr>
            <a:xfrm>
              <a:off x="623" y="3433"/>
              <a:ext cx="9865" cy="0"/>
            </a:xfrm>
            <a:prstGeom prst="line">
              <a:avLst/>
            </a:prstGeom>
            <a:ln w="15875" cap="flat" cmpd="sng">
              <a:solidFill>
                <a:schemeClr val="tx1"/>
              </a:solidFill>
              <a:prstDash val="solid"/>
              <a:round/>
              <a:headEnd type="none" w="med" len="med"/>
              <a:tailEnd type="none" w="med" len="med"/>
            </a:ln>
          </p:spPr>
        </p:sp>
        <p:sp>
          <p:nvSpPr>
            <p:cNvPr id="31751" name="椭圆 105514"/>
            <p:cNvSpPr/>
            <p:nvPr/>
          </p:nvSpPr>
          <p:spPr>
            <a:xfrm>
              <a:off x="283" y="6268"/>
              <a:ext cx="680" cy="792"/>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52" name="文本框 105515"/>
            <p:cNvSpPr txBox="1"/>
            <p:nvPr/>
          </p:nvSpPr>
          <p:spPr>
            <a:xfrm>
              <a:off x="283" y="6097"/>
              <a:ext cx="680" cy="1043"/>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31753" name="椭圆 105516"/>
            <p:cNvSpPr/>
            <p:nvPr/>
          </p:nvSpPr>
          <p:spPr>
            <a:xfrm>
              <a:off x="285" y="4455"/>
              <a:ext cx="680" cy="793"/>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54" name="文本框 105517"/>
            <p:cNvSpPr txBox="1"/>
            <p:nvPr/>
          </p:nvSpPr>
          <p:spPr>
            <a:xfrm>
              <a:off x="285" y="4510"/>
              <a:ext cx="680" cy="904"/>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000" b="1">
                  <a:solidFill>
                    <a:srgbClr val="000000"/>
                  </a:solidFill>
                  <a:latin typeface="Times New Roman" panose="02020603050405020304" pitchFamily="18" charset="0"/>
                  <a:ea typeface="宋体" panose="02010600030101010101" pitchFamily="2" charset="-122"/>
                </a:rPr>
                <a:t>×</a:t>
              </a:r>
            </a:p>
          </p:txBody>
        </p:sp>
        <p:sp>
          <p:nvSpPr>
            <p:cNvPr id="31755" name="椭圆 105518"/>
            <p:cNvSpPr/>
            <p:nvPr/>
          </p:nvSpPr>
          <p:spPr>
            <a:xfrm>
              <a:off x="2893" y="6268"/>
              <a:ext cx="680" cy="792"/>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56" name="文本框 105519"/>
            <p:cNvSpPr txBox="1"/>
            <p:nvPr/>
          </p:nvSpPr>
          <p:spPr>
            <a:xfrm>
              <a:off x="2893" y="6097"/>
              <a:ext cx="680" cy="1043"/>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31757" name="椭圆 105520"/>
            <p:cNvSpPr/>
            <p:nvPr/>
          </p:nvSpPr>
          <p:spPr>
            <a:xfrm>
              <a:off x="2895" y="4455"/>
              <a:ext cx="680" cy="793"/>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58" name="文本框 105521"/>
            <p:cNvSpPr txBox="1"/>
            <p:nvPr/>
          </p:nvSpPr>
          <p:spPr>
            <a:xfrm>
              <a:off x="2895" y="4510"/>
              <a:ext cx="680" cy="904"/>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000" b="1">
                  <a:solidFill>
                    <a:srgbClr val="000000"/>
                  </a:solidFill>
                  <a:latin typeface="Times New Roman" panose="02020603050405020304" pitchFamily="18" charset="0"/>
                  <a:ea typeface="宋体" panose="02010600030101010101" pitchFamily="2" charset="-122"/>
                </a:rPr>
                <a:t>×</a:t>
              </a:r>
            </a:p>
          </p:txBody>
        </p:sp>
        <p:sp>
          <p:nvSpPr>
            <p:cNvPr id="31759" name="椭圆 105522"/>
            <p:cNvSpPr/>
            <p:nvPr/>
          </p:nvSpPr>
          <p:spPr>
            <a:xfrm>
              <a:off x="5500" y="6265"/>
              <a:ext cx="680" cy="793"/>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60" name="文本框 105523"/>
            <p:cNvSpPr txBox="1"/>
            <p:nvPr/>
          </p:nvSpPr>
          <p:spPr>
            <a:xfrm>
              <a:off x="5500" y="6094"/>
              <a:ext cx="680" cy="1043"/>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31761" name="椭圆 105524"/>
            <p:cNvSpPr/>
            <p:nvPr/>
          </p:nvSpPr>
          <p:spPr>
            <a:xfrm>
              <a:off x="5503" y="4453"/>
              <a:ext cx="680" cy="792"/>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62" name="文本框 105525"/>
            <p:cNvSpPr txBox="1"/>
            <p:nvPr/>
          </p:nvSpPr>
          <p:spPr>
            <a:xfrm>
              <a:off x="5503" y="4508"/>
              <a:ext cx="680" cy="904"/>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000" b="1">
                  <a:solidFill>
                    <a:srgbClr val="000000"/>
                  </a:solidFill>
                  <a:latin typeface="Times New Roman" panose="02020603050405020304" pitchFamily="18" charset="0"/>
                  <a:ea typeface="宋体" panose="02010600030101010101" pitchFamily="2" charset="-122"/>
                </a:rPr>
                <a:t>×</a:t>
              </a:r>
            </a:p>
          </p:txBody>
        </p:sp>
        <p:sp>
          <p:nvSpPr>
            <p:cNvPr id="31763" name="椭圆 105526"/>
            <p:cNvSpPr/>
            <p:nvPr/>
          </p:nvSpPr>
          <p:spPr>
            <a:xfrm>
              <a:off x="7538" y="6268"/>
              <a:ext cx="680" cy="792"/>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64" name="文本框 105527"/>
            <p:cNvSpPr txBox="1"/>
            <p:nvPr/>
          </p:nvSpPr>
          <p:spPr>
            <a:xfrm>
              <a:off x="7538" y="6097"/>
              <a:ext cx="680" cy="1043"/>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31765" name="椭圆 105528"/>
            <p:cNvSpPr/>
            <p:nvPr/>
          </p:nvSpPr>
          <p:spPr>
            <a:xfrm>
              <a:off x="7540" y="4455"/>
              <a:ext cx="680" cy="793"/>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66" name="文本框 105529"/>
            <p:cNvSpPr txBox="1"/>
            <p:nvPr/>
          </p:nvSpPr>
          <p:spPr>
            <a:xfrm>
              <a:off x="7540" y="4510"/>
              <a:ext cx="680" cy="904"/>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000" b="1">
                  <a:solidFill>
                    <a:srgbClr val="000000"/>
                  </a:solidFill>
                  <a:latin typeface="Times New Roman" panose="02020603050405020304" pitchFamily="18" charset="0"/>
                  <a:ea typeface="宋体" panose="02010600030101010101" pitchFamily="2" charset="-122"/>
                </a:rPr>
                <a:t>×</a:t>
              </a:r>
            </a:p>
          </p:txBody>
        </p:sp>
        <p:sp>
          <p:nvSpPr>
            <p:cNvPr id="31767" name="椭圆 105590"/>
            <p:cNvSpPr/>
            <p:nvPr/>
          </p:nvSpPr>
          <p:spPr>
            <a:xfrm>
              <a:off x="10148" y="6268"/>
              <a:ext cx="680" cy="792"/>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68" name="文本框 105591"/>
            <p:cNvSpPr txBox="1"/>
            <p:nvPr/>
          </p:nvSpPr>
          <p:spPr>
            <a:xfrm>
              <a:off x="10148" y="6268"/>
              <a:ext cx="680" cy="1043"/>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31769" name="椭圆 105592"/>
            <p:cNvSpPr/>
            <p:nvPr/>
          </p:nvSpPr>
          <p:spPr>
            <a:xfrm>
              <a:off x="10150" y="4455"/>
              <a:ext cx="680" cy="793"/>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70" name="文本框 105593"/>
            <p:cNvSpPr txBox="1"/>
            <p:nvPr/>
          </p:nvSpPr>
          <p:spPr>
            <a:xfrm>
              <a:off x="10150" y="4510"/>
              <a:ext cx="680" cy="904"/>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000" b="1">
                  <a:solidFill>
                    <a:srgbClr val="000000"/>
                  </a:solidFill>
                  <a:latin typeface="Times New Roman" panose="02020603050405020304" pitchFamily="18" charset="0"/>
                  <a:ea typeface="宋体" panose="02010600030101010101" pitchFamily="2" charset="-122"/>
                </a:rPr>
                <a:t>×</a:t>
              </a:r>
            </a:p>
          </p:txBody>
        </p:sp>
        <p:sp>
          <p:nvSpPr>
            <p:cNvPr id="31771" name="流程图: 延期 105594"/>
            <p:cNvSpPr/>
            <p:nvPr/>
          </p:nvSpPr>
          <p:spPr>
            <a:xfrm>
              <a:off x="1530" y="6268"/>
              <a:ext cx="795" cy="792"/>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72" name="流程图: 延期 105595"/>
            <p:cNvSpPr/>
            <p:nvPr/>
          </p:nvSpPr>
          <p:spPr>
            <a:xfrm>
              <a:off x="8675" y="6268"/>
              <a:ext cx="1020" cy="792"/>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773" name="直接连接符 105596"/>
            <p:cNvSpPr/>
            <p:nvPr/>
          </p:nvSpPr>
          <p:spPr>
            <a:xfrm>
              <a:off x="3233" y="5248"/>
              <a:ext cx="0" cy="1020"/>
            </a:xfrm>
            <a:prstGeom prst="line">
              <a:avLst/>
            </a:prstGeom>
            <a:ln w="15875" cap="flat" cmpd="sng">
              <a:solidFill>
                <a:schemeClr val="tx1"/>
              </a:solidFill>
              <a:prstDash val="solid"/>
              <a:round/>
              <a:headEnd type="none" w="med" len="med"/>
              <a:tailEnd type="triangle" w="med" len="med"/>
            </a:ln>
          </p:spPr>
        </p:sp>
        <p:sp>
          <p:nvSpPr>
            <p:cNvPr id="31774" name="直接连接符 105597"/>
            <p:cNvSpPr/>
            <p:nvPr/>
          </p:nvSpPr>
          <p:spPr>
            <a:xfrm>
              <a:off x="5840" y="5248"/>
              <a:ext cx="0" cy="1020"/>
            </a:xfrm>
            <a:prstGeom prst="line">
              <a:avLst/>
            </a:prstGeom>
            <a:ln w="15875" cap="flat" cmpd="sng">
              <a:solidFill>
                <a:schemeClr val="tx1"/>
              </a:solidFill>
              <a:prstDash val="solid"/>
              <a:round/>
              <a:headEnd type="none" w="med" len="med"/>
              <a:tailEnd type="triangle" w="med" len="med"/>
            </a:ln>
          </p:spPr>
        </p:sp>
        <p:sp>
          <p:nvSpPr>
            <p:cNvPr id="31775" name="直接连接符 105598"/>
            <p:cNvSpPr/>
            <p:nvPr/>
          </p:nvSpPr>
          <p:spPr>
            <a:xfrm>
              <a:off x="7880" y="5248"/>
              <a:ext cx="0" cy="1020"/>
            </a:xfrm>
            <a:prstGeom prst="line">
              <a:avLst/>
            </a:prstGeom>
            <a:ln w="15875" cap="flat" cmpd="sng">
              <a:solidFill>
                <a:schemeClr val="tx1"/>
              </a:solidFill>
              <a:prstDash val="solid"/>
              <a:round/>
              <a:headEnd type="none" w="med" len="med"/>
              <a:tailEnd type="triangle" w="med" len="med"/>
            </a:ln>
          </p:spPr>
        </p:sp>
        <p:sp>
          <p:nvSpPr>
            <p:cNvPr id="31776" name="直接连接符 105600"/>
            <p:cNvSpPr/>
            <p:nvPr/>
          </p:nvSpPr>
          <p:spPr>
            <a:xfrm>
              <a:off x="10490" y="5248"/>
              <a:ext cx="0" cy="1020"/>
            </a:xfrm>
            <a:prstGeom prst="line">
              <a:avLst/>
            </a:prstGeom>
            <a:ln w="15875" cap="flat" cmpd="sng">
              <a:solidFill>
                <a:schemeClr val="tx1"/>
              </a:solidFill>
              <a:prstDash val="solid"/>
              <a:round/>
              <a:headEnd type="none" w="med" len="med"/>
              <a:tailEnd type="none" w="med" len="med"/>
            </a:ln>
          </p:spPr>
        </p:sp>
        <p:sp>
          <p:nvSpPr>
            <p:cNvPr id="31777" name="直接连接符 105601"/>
            <p:cNvSpPr/>
            <p:nvPr/>
          </p:nvSpPr>
          <p:spPr>
            <a:xfrm>
              <a:off x="965" y="6720"/>
              <a:ext cx="565" cy="0"/>
            </a:xfrm>
            <a:prstGeom prst="line">
              <a:avLst/>
            </a:prstGeom>
            <a:ln w="15875" cap="flat" cmpd="sng">
              <a:solidFill>
                <a:schemeClr val="tx1"/>
              </a:solidFill>
              <a:prstDash val="solid"/>
              <a:round/>
              <a:headEnd type="none" w="med" len="med"/>
              <a:tailEnd type="none" w="med" len="med"/>
            </a:ln>
          </p:spPr>
        </p:sp>
        <p:sp>
          <p:nvSpPr>
            <p:cNvPr id="31778" name="直接连接符 105602"/>
            <p:cNvSpPr/>
            <p:nvPr/>
          </p:nvSpPr>
          <p:spPr>
            <a:xfrm>
              <a:off x="2325" y="6720"/>
              <a:ext cx="565" cy="0"/>
            </a:xfrm>
            <a:prstGeom prst="line">
              <a:avLst/>
            </a:prstGeom>
            <a:ln w="15875" cap="flat" cmpd="sng">
              <a:solidFill>
                <a:schemeClr val="tx1"/>
              </a:solidFill>
              <a:prstDash val="solid"/>
              <a:round/>
              <a:headEnd type="none" w="med" len="med"/>
              <a:tailEnd type="none" w="med" len="med"/>
            </a:ln>
          </p:spPr>
        </p:sp>
        <p:sp>
          <p:nvSpPr>
            <p:cNvPr id="31779" name="直接连接符 105603"/>
            <p:cNvSpPr/>
            <p:nvPr/>
          </p:nvSpPr>
          <p:spPr>
            <a:xfrm>
              <a:off x="3573" y="6720"/>
              <a:ext cx="565" cy="0"/>
            </a:xfrm>
            <a:prstGeom prst="line">
              <a:avLst/>
            </a:prstGeom>
            <a:ln w="15875" cap="flat" cmpd="sng">
              <a:solidFill>
                <a:schemeClr val="tx1"/>
              </a:solidFill>
              <a:prstDash val="solid"/>
              <a:round/>
              <a:headEnd type="none" w="med" len="med"/>
              <a:tailEnd type="none" w="med" len="med"/>
            </a:ln>
          </p:spPr>
        </p:sp>
        <p:sp>
          <p:nvSpPr>
            <p:cNvPr id="31780" name="直接连接符 105604"/>
            <p:cNvSpPr/>
            <p:nvPr/>
          </p:nvSpPr>
          <p:spPr>
            <a:xfrm>
              <a:off x="4933" y="6720"/>
              <a:ext cx="565" cy="0"/>
            </a:xfrm>
            <a:prstGeom prst="line">
              <a:avLst/>
            </a:prstGeom>
            <a:ln w="15875" cap="flat" cmpd="sng">
              <a:solidFill>
                <a:schemeClr val="tx1"/>
              </a:solidFill>
              <a:prstDash val="solid"/>
              <a:round/>
              <a:headEnd type="none" w="med" len="med"/>
              <a:tailEnd type="none" w="med" len="med"/>
            </a:ln>
          </p:spPr>
        </p:sp>
        <p:sp>
          <p:nvSpPr>
            <p:cNvPr id="31781" name="直接连接符 105607"/>
            <p:cNvSpPr/>
            <p:nvPr/>
          </p:nvSpPr>
          <p:spPr>
            <a:xfrm>
              <a:off x="623" y="3433"/>
              <a:ext cx="0" cy="1020"/>
            </a:xfrm>
            <a:prstGeom prst="line">
              <a:avLst/>
            </a:prstGeom>
            <a:ln w="15875" cap="flat" cmpd="sng">
              <a:solidFill>
                <a:schemeClr val="tx1"/>
              </a:solidFill>
              <a:prstDash val="solid"/>
              <a:round/>
              <a:headEnd type="none" w="med" len="med"/>
              <a:tailEnd type="triangle" w="med" len="med"/>
            </a:ln>
          </p:spPr>
        </p:sp>
        <p:sp>
          <p:nvSpPr>
            <p:cNvPr id="31782" name="直接连接符 105608"/>
            <p:cNvSpPr/>
            <p:nvPr/>
          </p:nvSpPr>
          <p:spPr>
            <a:xfrm>
              <a:off x="3233" y="3433"/>
              <a:ext cx="0" cy="1020"/>
            </a:xfrm>
            <a:prstGeom prst="line">
              <a:avLst/>
            </a:prstGeom>
            <a:ln w="15875" cap="flat" cmpd="sng">
              <a:solidFill>
                <a:schemeClr val="tx1"/>
              </a:solidFill>
              <a:prstDash val="solid"/>
              <a:round/>
              <a:headEnd type="none" w="med" len="med"/>
              <a:tailEnd type="triangle" w="med" len="med"/>
            </a:ln>
          </p:spPr>
        </p:sp>
        <p:sp>
          <p:nvSpPr>
            <p:cNvPr id="31783" name="直接连接符 105609"/>
            <p:cNvSpPr/>
            <p:nvPr/>
          </p:nvSpPr>
          <p:spPr>
            <a:xfrm>
              <a:off x="5840" y="3433"/>
              <a:ext cx="0" cy="1020"/>
            </a:xfrm>
            <a:prstGeom prst="line">
              <a:avLst/>
            </a:prstGeom>
            <a:ln w="15875" cap="flat" cmpd="sng">
              <a:solidFill>
                <a:schemeClr val="tx1"/>
              </a:solidFill>
              <a:prstDash val="solid"/>
              <a:round/>
              <a:headEnd type="none" w="med" len="med"/>
              <a:tailEnd type="triangle" w="med" len="med"/>
            </a:ln>
          </p:spPr>
        </p:sp>
        <p:sp>
          <p:nvSpPr>
            <p:cNvPr id="31784" name="直接连接符 105610"/>
            <p:cNvSpPr/>
            <p:nvPr/>
          </p:nvSpPr>
          <p:spPr>
            <a:xfrm>
              <a:off x="7880" y="3433"/>
              <a:ext cx="0" cy="1020"/>
            </a:xfrm>
            <a:prstGeom prst="line">
              <a:avLst/>
            </a:prstGeom>
            <a:ln w="15875" cap="flat" cmpd="sng">
              <a:solidFill>
                <a:schemeClr val="tx1"/>
              </a:solidFill>
              <a:prstDash val="solid"/>
              <a:round/>
              <a:headEnd type="none" w="med" len="med"/>
              <a:tailEnd type="triangle" w="med" len="med"/>
            </a:ln>
          </p:spPr>
        </p:sp>
        <p:sp>
          <p:nvSpPr>
            <p:cNvPr id="31785" name="直接连接符 105611"/>
            <p:cNvSpPr/>
            <p:nvPr/>
          </p:nvSpPr>
          <p:spPr>
            <a:xfrm flipV="1">
              <a:off x="10490" y="3433"/>
              <a:ext cx="0" cy="1020"/>
            </a:xfrm>
            <a:prstGeom prst="line">
              <a:avLst/>
            </a:prstGeom>
            <a:ln w="15875" cap="flat" cmpd="sng">
              <a:solidFill>
                <a:schemeClr val="tx1"/>
              </a:solidFill>
              <a:prstDash val="solid"/>
              <a:round/>
              <a:headEnd type="none" w="med" len="med"/>
              <a:tailEnd type="none" w="med" len="med"/>
            </a:ln>
          </p:spPr>
        </p:sp>
        <p:sp>
          <p:nvSpPr>
            <p:cNvPr id="31786" name="矩形 105612"/>
            <p:cNvSpPr/>
            <p:nvPr/>
          </p:nvSpPr>
          <p:spPr>
            <a:xfrm>
              <a:off x="1388" y="6209"/>
              <a:ext cx="903" cy="764"/>
            </a:xfrm>
            <a:prstGeom prst="rect">
              <a:avLst/>
            </a:prstGeom>
            <a:noFill/>
            <a:ln w="9525">
              <a:noFill/>
            </a:ln>
          </p:spPr>
          <p:txBody>
            <a:bodyPr wrap="square" anchor="t" anchorCtr="0">
              <a:spAutoFit/>
            </a:bodyPr>
            <a:lstStyle/>
            <a:p>
              <a:pPr algn="ctr" eaLnBrk="0" fontAlgn="base" hangingPunct="0">
                <a:spcBef>
                  <a:spcPct val="50000"/>
                </a:spcBef>
                <a:spcAft>
                  <a:spcPct val="0"/>
                </a:spcAft>
              </a:pPr>
              <a:r>
                <a:rPr lang="en-US" altLang="zh-CN" sz="1600" b="1" i="1">
                  <a:solidFill>
                    <a:srgbClr val="000000"/>
                  </a:solidFill>
                  <a:latin typeface="Times New Roman" panose="02020603050405020304" pitchFamily="18" charset="0"/>
                  <a:ea typeface="宋体" panose="02010600030101010101" pitchFamily="2" charset="-122"/>
                </a:rPr>
                <a:t>D</a:t>
              </a:r>
              <a:r>
                <a:rPr lang="en-US" altLang="zh-CN" sz="1600" b="1" baseline="-25000">
                  <a:solidFill>
                    <a:srgbClr val="000000"/>
                  </a:solidFill>
                  <a:latin typeface="Times New Roman" panose="02020603050405020304" pitchFamily="18" charset="0"/>
                  <a:ea typeface="宋体" panose="02010600030101010101" pitchFamily="2" charset="-122"/>
                </a:rPr>
                <a:t>0</a:t>
              </a:r>
              <a:endParaRPr lang="en-US" altLang="zh-CN" sz="1600" b="1" baseline="-25000" dirty="0">
                <a:solidFill>
                  <a:srgbClr val="000000"/>
                </a:solidFill>
                <a:latin typeface="Times New Roman" panose="02020603050405020304" pitchFamily="18" charset="0"/>
                <a:ea typeface="宋体" panose="02010600030101010101" pitchFamily="2" charset="-122"/>
              </a:endParaRPr>
            </a:p>
          </p:txBody>
        </p:sp>
        <p:sp>
          <p:nvSpPr>
            <p:cNvPr id="31787" name="矩形 105613"/>
            <p:cNvSpPr/>
            <p:nvPr/>
          </p:nvSpPr>
          <p:spPr>
            <a:xfrm>
              <a:off x="3998" y="6209"/>
              <a:ext cx="1014" cy="764"/>
            </a:xfrm>
            <a:prstGeom prst="rect">
              <a:avLst/>
            </a:prstGeom>
            <a:noFill/>
            <a:ln w="9525">
              <a:noFill/>
            </a:ln>
          </p:spPr>
          <p:txBody>
            <a:bodyPr wrap="square" anchor="t" anchorCtr="0">
              <a:spAutoFit/>
            </a:bodyPr>
            <a:lstStyle/>
            <a:p>
              <a:pPr algn="ctr" eaLnBrk="0" fontAlgn="base" hangingPunct="0">
                <a:spcBef>
                  <a:spcPct val="50000"/>
                </a:spcBef>
                <a:spcAft>
                  <a:spcPct val="0"/>
                </a:spcAft>
              </a:pPr>
              <a:r>
                <a:rPr lang="en-US" altLang="zh-CN" sz="1600" b="1" i="1">
                  <a:solidFill>
                    <a:srgbClr val="000000"/>
                  </a:solidFill>
                  <a:latin typeface="Times New Roman" panose="02020603050405020304" pitchFamily="18" charset="0"/>
                  <a:ea typeface="宋体" panose="02010600030101010101" pitchFamily="2" charset="-122"/>
                </a:rPr>
                <a:t>D</a:t>
              </a:r>
              <a:r>
                <a:rPr lang="en-US" altLang="zh-CN" sz="1600" b="1" baseline="-25000">
                  <a:solidFill>
                    <a:srgbClr val="000000"/>
                  </a:solidFill>
                  <a:latin typeface="Times New Roman" panose="02020603050405020304" pitchFamily="18" charset="0"/>
                  <a:ea typeface="宋体" panose="02010600030101010101" pitchFamily="2" charset="-122"/>
                </a:rPr>
                <a:t>1</a:t>
              </a:r>
              <a:endParaRPr lang="zh-CN" altLang="en-US" sz="1600" b="1" baseline="-25000" dirty="0">
                <a:solidFill>
                  <a:srgbClr val="000000"/>
                </a:solidFill>
                <a:latin typeface="Times New Roman" panose="02020603050405020304" pitchFamily="18" charset="0"/>
                <a:ea typeface="宋体" panose="02010600030101010101" pitchFamily="2" charset="-122"/>
              </a:endParaRPr>
            </a:p>
          </p:txBody>
        </p:sp>
        <p:sp>
          <p:nvSpPr>
            <p:cNvPr id="31788" name="矩形 105614"/>
            <p:cNvSpPr/>
            <p:nvPr/>
          </p:nvSpPr>
          <p:spPr>
            <a:xfrm>
              <a:off x="8563" y="6268"/>
              <a:ext cx="1273" cy="764"/>
            </a:xfrm>
            <a:prstGeom prst="rect">
              <a:avLst/>
            </a:prstGeom>
            <a:noFill/>
            <a:ln w="9525">
              <a:noFill/>
            </a:ln>
          </p:spPr>
          <p:txBody>
            <a:bodyPr wrap="square" anchor="t" anchorCtr="0">
              <a:spAutoFit/>
            </a:bodyPr>
            <a:lstStyle/>
            <a:p>
              <a:pPr algn="ctr" eaLnBrk="0" fontAlgn="base" hangingPunct="0">
                <a:spcBef>
                  <a:spcPct val="50000"/>
                </a:spcBef>
                <a:spcAft>
                  <a:spcPct val="0"/>
                </a:spcAft>
              </a:pPr>
              <a:r>
                <a:rPr lang="en-US" altLang="zh-CN" sz="1600" b="1" i="1">
                  <a:solidFill>
                    <a:srgbClr val="000000"/>
                  </a:solidFill>
                  <a:latin typeface="Times New Roman" panose="02020603050405020304" pitchFamily="18" charset="0"/>
                  <a:ea typeface="宋体" panose="02010600030101010101" pitchFamily="2" charset="-122"/>
                </a:rPr>
                <a:t>D</a:t>
              </a:r>
              <a:r>
                <a:rPr lang="en-US" altLang="zh-CN" sz="1600" b="1" i="1" baseline="-25000">
                  <a:solidFill>
                    <a:srgbClr val="000000"/>
                  </a:solidFill>
                  <a:latin typeface="Times New Roman" panose="02020603050405020304" pitchFamily="18" charset="0"/>
                  <a:ea typeface="宋体" panose="02010600030101010101" pitchFamily="2" charset="-122"/>
                </a:rPr>
                <a:t>n-k</a:t>
              </a:r>
              <a:r>
                <a:rPr lang="en-US" altLang="zh-CN" sz="1600" b="1" baseline="-25000">
                  <a:solidFill>
                    <a:srgbClr val="000000"/>
                  </a:solidFill>
                  <a:latin typeface="Times New Roman" panose="02020603050405020304" pitchFamily="18" charset="0"/>
                  <a:ea typeface="宋体" panose="02010600030101010101" pitchFamily="2" charset="-122"/>
                </a:rPr>
                <a:t>-1</a:t>
              </a:r>
              <a:endParaRPr lang="zh-CN" altLang="en-US" sz="1600" b="1" baseline="-25000" dirty="0">
                <a:solidFill>
                  <a:srgbClr val="000000"/>
                </a:solidFill>
                <a:latin typeface="Times New Roman" panose="02020603050405020304" pitchFamily="18" charset="0"/>
                <a:ea typeface="宋体" panose="02010600030101010101" pitchFamily="2" charset="-122"/>
              </a:endParaRPr>
            </a:p>
          </p:txBody>
        </p:sp>
        <p:sp>
          <p:nvSpPr>
            <p:cNvPr id="31789" name="矩形 105615"/>
            <p:cNvSpPr/>
            <p:nvPr/>
          </p:nvSpPr>
          <p:spPr>
            <a:xfrm>
              <a:off x="6520" y="6380"/>
              <a:ext cx="650" cy="834"/>
            </a:xfrm>
            <a:prstGeom prst="rect">
              <a:avLst/>
            </a:prstGeom>
            <a:noFill/>
            <a:ln w="9525">
              <a:noFill/>
            </a:ln>
          </p:spPr>
          <p:txBody>
            <a:bodyPr wrap="square" anchor="t" anchorCtr="0">
              <a:spAutoFit/>
            </a:bodyPr>
            <a:lstStyle/>
            <a:p>
              <a:pPr algn="ctr" eaLnBrk="0" fontAlgn="base" hangingPunct="0">
                <a:spcBef>
                  <a:spcPct val="50000"/>
                </a:spcBef>
                <a:spcAft>
                  <a:spcPct val="0"/>
                </a:spcAft>
              </a:pPr>
              <a:r>
                <a:rPr lang="en-US" altLang="zh-CN" b="1" i="1">
                  <a:solidFill>
                    <a:srgbClr val="000000"/>
                  </a:solidFill>
                  <a:latin typeface="Times New Roman" panose="02020603050405020304" pitchFamily="18" charset="0"/>
                  <a:ea typeface="宋体" panose="02010600030101010101" pitchFamily="2" charset="-122"/>
                </a:rPr>
                <a:t>…</a:t>
              </a:r>
              <a:endParaRPr lang="zh-CN" altLang="en-US" b="1" baseline="-25000" dirty="0">
                <a:solidFill>
                  <a:srgbClr val="000000"/>
                </a:solidFill>
                <a:latin typeface="Times New Roman" panose="02020603050405020304" pitchFamily="18" charset="0"/>
                <a:ea typeface="宋体" panose="02010600030101010101" pitchFamily="2" charset="-122"/>
              </a:endParaRPr>
            </a:p>
          </p:txBody>
        </p:sp>
        <p:sp>
          <p:nvSpPr>
            <p:cNvPr id="31790" name="直接连接符 105616"/>
            <p:cNvSpPr/>
            <p:nvPr/>
          </p:nvSpPr>
          <p:spPr>
            <a:xfrm>
              <a:off x="10830" y="6720"/>
              <a:ext cx="1928" cy="0"/>
            </a:xfrm>
            <a:prstGeom prst="line">
              <a:avLst/>
            </a:prstGeom>
            <a:ln w="15875" cap="flat" cmpd="sng">
              <a:solidFill>
                <a:schemeClr val="tx1"/>
              </a:solidFill>
              <a:prstDash val="solid"/>
              <a:round/>
              <a:headEnd type="none" w="med" len="med"/>
              <a:tailEnd type="triangle" w="med" len="med"/>
            </a:ln>
          </p:spPr>
        </p:sp>
        <p:sp>
          <p:nvSpPr>
            <p:cNvPr id="31791" name="直接连接符 105617"/>
            <p:cNvSpPr/>
            <p:nvPr/>
          </p:nvSpPr>
          <p:spPr>
            <a:xfrm flipV="1">
              <a:off x="10488" y="7060"/>
              <a:ext cx="0" cy="1248"/>
            </a:xfrm>
            <a:prstGeom prst="line">
              <a:avLst/>
            </a:prstGeom>
            <a:ln w="15875" cap="flat" cmpd="sng">
              <a:solidFill>
                <a:schemeClr val="tx1"/>
              </a:solidFill>
              <a:prstDash val="solid"/>
              <a:round/>
              <a:headEnd type="none" w="med" len="med"/>
              <a:tailEnd type="triangle" w="med" len="med"/>
            </a:ln>
          </p:spPr>
        </p:sp>
        <p:sp>
          <p:nvSpPr>
            <p:cNvPr id="31792" name="直接连接符 105618"/>
            <p:cNvSpPr/>
            <p:nvPr/>
          </p:nvSpPr>
          <p:spPr>
            <a:xfrm flipH="1">
              <a:off x="965" y="4793"/>
              <a:ext cx="453" cy="0"/>
            </a:xfrm>
            <a:prstGeom prst="line">
              <a:avLst/>
            </a:prstGeom>
            <a:ln w="15875" cap="flat" cmpd="sng">
              <a:solidFill>
                <a:schemeClr val="tx1"/>
              </a:solidFill>
              <a:prstDash val="solid"/>
              <a:round/>
              <a:headEnd type="none" w="med" len="med"/>
              <a:tailEnd type="triangle" w="med" len="med"/>
            </a:ln>
          </p:spPr>
        </p:sp>
        <p:sp>
          <p:nvSpPr>
            <p:cNvPr id="31793" name="矩形 105619"/>
            <p:cNvSpPr/>
            <p:nvPr/>
          </p:nvSpPr>
          <p:spPr>
            <a:xfrm>
              <a:off x="1276" y="4282"/>
              <a:ext cx="710" cy="834"/>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b="1" i="1">
                  <a:solidFill>
                    <a:srgbClr val="000000"/>
                  </a:solidFill>
                  <a:latin typeface="Times New Roman" panose="02020603050405020304" pitchFamily="18" charset="0"/>
                  <a:ea typeface="宋体" panose="02010600030101010101" pitchFamily="2" charset="-122"/>
                </a:rPr>
                <a:t>g</a:t>
              </a:r>
              <a:r>
                <a:rPr lang="en-US" altLang="zh-CN" b="1" baseline="-25000">
                  <a:solidFill>
                    <a:srgbClr val="000000"/>
                  </a:solidFill>
                  <a:latin typeface="Times New Roman" panose="02020603050405020304" pitchFamily="18" charset="0"/>
                  <a:ea typeface="宋体" panose="02010600030101010101" pitchFamily="2" charset="-122"/>
                </a:rPr>
                <a:t>0</a:t>
              </a:r>
              <a:endParaRPr lang="en-US" altLang="zh-CN" b="1" baseline="-25000" dirty="0">
                <a:solidFill>
                  <a:srgbClr val="000000"/>
                </a:solidFill>
                <a:latin typeface="Times New Roman" panose="02020603050405020304" pitchFamily="18" charset="0"/>
                <a:ea typeface="宋体" panose="02010600030101010101" pitchFamily="2" charset="-122"/>
              </a:endParaRPr>
            </a:p>
          </p:txBody>
        </p:sp>
        <p:sp>
          <p:nvSpPr>
            <p:cNvPr id="31794" name="直接连接符 105620"/>
            <p:cNvSpPr/>
            <p:nvPr/>
          </p:nvSpPr>
          <p:spPr>
            <a:xfrm flipH="1">
              <a:off x="3573" y="4793"/>
              <a:ext cx="452" cy="0"/>
            </a:xfrm>
            <a:prstGeom prst="line">
              <a:avLst/>
            </a:prstGeom>
            <a:ln w="15875" cap="flat" cmpd="sng">
              <a:solidFill>
                <a:schemeClr val="tx1"/>
              </a:solidFill>
              <a:prstDash val="solid"/>
              <a:round/>
              <a:headEnd type="none" w="med" len="med"/>
              <a:tailEnd type="triangle" w="med" len="med"/>
            </a:ln>
          </p:spPr>
        </p:sp>
        <p:sp>
          <p:nvSpPr>
            <p:cNvPr id="31795" name="矩形 105621"/>
            <p:cNvSpPr/>
            <p:nvPr/>
          </p:nvSpPr>
          <p:spPr>
            <a:xfrm>
              <a:off x="3883" y="4282"/>
              <a:ext cx="710" cy="834"/>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b="1" i="1">
                  <a:solidFill>
                    <a:srgbClr val="000000"/>
                  </a:solidFill>
                  <a:latin typeface="Times New Roman" panose="02020603050405020304" pitchFamily="18" charset="0"/>
                  <a:ea typeface="宋体" panose="02010600030101010101" pitchFamily="2" charset="-122"/>
                </a:rPr>
                <a:t>g</a:t>
              </a:r>
              <a:r>
                <a:rPr lang="en-US" altLang="zh-CN" b="1" baseline="-25000">
                  <a:solidFill>
                    <a:srgbClr val="000000"/>
                  </a:solidFill>
                  <a:latin typeface="Times New Roman" panose="02020603050405020304" pitchFamily="18" charset="0"/>
                  <a:ea typeface="宋体" panose="02010600030101010101" pitchFamily="2" charset="-122"/>
                </a:rPr>
                <a:t>1</a:t>
              </a:r>
              <a:endParaRPr lang="en-US" altLang="zh-CN" b="1" baseline="-25000" dirty="0">
                <a:solidFill>
                  <a:srgbClr val="000000"/>
                </a:solidFill>
                <a:latin typeface="Times New Roman" panose="02020603050405020304" pitchFamily="18" charset="0"/>
                <a:ea typeface="宋体" panose="02010600030101010101" pitchFamily="2" charset="-122"/>
              </a:endParaRPr>
            </a:p>
          </p:txBody>
        </p:sp>
        <p:sp>
          <p:nvSpPr>
            <p:cNvPr id="31796" name="直接连接符 105622"/>
            <p:cNvSpPr/>
            <p:nvPr/>
          </p:nvSpPr>
          <p:spPr>
            <a:xfrm flipH="1">
              <a:off x="8223" y="4868"/>
              <a:ext cx="452" cy="0"/>
            </a:xfrm>
            <a:prstGeom prst="line">
              <a:avLst/>
            </a:prstGeom>
            <a:ln w="15875" cap="flat" cmpd="sng">
              <a:solidFill>
                <a:schemeClr val="tx1"/>
              </a:solidFill>
              <a:prstDash val="solid"/>
              <a:round/>
              <a:headEnd type="none" w="med" len="med"/>
              <a:tailEnd type="triangle" w="med" len="med"/>
            </a:ln>
          </p:spPr>
        </p:sp>
        <p:sp>
          <p:nvSpPr>
            <p:cNvPr id="31797" name="矩形 105623"/>
            <p:cNvSpPr/>
            <p:nvPr/>
          </p:nvSpPr>
          <p:spPr>
            <a:xfrm>
              <a:off x="8421" y="4357"/>
              <a:ext cx="1475" cy="834"/>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b="1" i="1">
                  <a:solidFill>
                    <a:srgbClr val="000000"/>
                  </a:solidFill>
                  <a:latin typeface="Times New Roman" panose="02020603050405020304" pitchFamily="18" charset="0"/>
                  <a:ea typeface="宋体" panose="02010600030101010101" pitchFamily="2" charset="-122"/>
                </a:rPr>
                <a:t>g</a:t>
              </a:r>
              <a:r>
                <a:rPr lang="en-US" altLang="zh-CN" b="1" i="1" baseline="-25000">
                  <a:solidFill>
                    <a:srgbClr val="000000"/>
                  </a:solidFill>
                  <a:latin typeface="Times New Roman" panose="02020603050405020304" pitchFamily="18" charset="0"/>
                  <a:ea typeface="宋体" panose="02010600030101010101" pitchFamily="2" charset="-122"/>
                </a:rPr>
                <a:t>n-k</a:t>
              </a:r>
              <a:r>
                <a:rPr lang="en-US" altLang="zh-CN" b="1" baseline="-25000">
                  <a:solidFill>
                    <a:srgbClr val="000000"/>
                  </a:solidFill>
                  <a:latin typeface="Times New Roman" panose="02020603050405020304" pitchFamily="18" charset="0"/>
                  <a:ea typeface="宋体" panose="02010600030101010101" pitchFamily="2" charset="-122"/>
                </a:rPr>
                <a:t>-1</a:t>
              </a:r>
              <a:endParaRPr lang="zh-CN" altLang="en-US" b="1" baseline="-25000" dirty="0">
                <a:solidFill>
                  <a:srgbClr val="000000"/>
                </a:solidFill>
                <a:latin typeface="Times New Roman" panose="02020603050405020304" pitchFamily="18" charset="0"/>
                <a:ea typeface="宋体" panose="02010600030101010101" pitchFamily="2" charset="-122"/>
              </a:endParaRPr>
            </a:p>
          </p:txBody>
        </p:sp>
        <p:sp>
          <p:nvSpPr>
            <p:cNvPr id="31798" name="直接连接符 105624"/>
            <p:cNvSpPr/>
            <p:nvPr/>
          </p:nvSpPr>
          <p:spPr>
            <a:xfrm flipH="1">
              <a:off x="6153" y="4793"/>
              <a:ext cx="452" cy="0"/>
            </a:xfrm>
            <a:prstGeom prst="line">
              <a:avLst/>
            </a:prstGeom>
            <a:ln w="15875" cap="flat" cmpd="sng">
              <a:solidFill>
                <a:schemeClr val="tx1"/>
              </a:solidFill>
              <a:prstDash val="solid"/>
              <a:round/>
              <a:headEnd type="none" w="med" len="med"/>
              <a:tailEnd type="triangle" w="med" len="med"/>
            </a:ln>
          </p:spPr>
        </p:sp>
        <p:sp>
          <p:nvSpPr>
            <p:cNvPr id="31799" name="矩形 105625"/>
            <p:cNvSpPr/>
            <p:nvPr/>
          </p:nvSpPr>
          <p:spPr>
            <a:xfrm>
              <a:off x="6463" y="4282"/>
              <a:ext cx="710" cy="834"/>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b="1" i="1">
                  <a:solidFill>
                    <a:srgbClr val="000000"/>
                  </a:solidFill>
                  <a:latin typeface="Times New Roman" panose="02020603050405020304" pitchFamily="18" charset="0"/>
                  <a:ea typeface="宋体" panose="02010600030101010101" pitchFamily="2" charset="-122"/>
                </a:rPr>
                <a:t>g</a:t>
              </a:r>
              <a:r>
                <a:rPr lang="en-US" altLang="zh-CN" b="1" baseline="-25000">
                  <a:solidFill>
                    <a:srgbClr val="000000"/>
                  </a:solidFill>
                  <a:latin typeface="Times New Roman" panose="02020603050405020304" pitchFamily="18" charset="0"/>
                  <a:ea typeface="宋体" panose="02010600030101010101" pitchFamily="2" charset="-122"/>
                </a:rPr>
                <a:t>2</a:t>
              </a:r>
              <a:endParaRPr lang="zh-CN" altLang="en-US" b="1" baseline="-25000" dirty="0">
                <a:solidFill>
                  <a:srgbClr val="000000"/>
                </a:solidFill>
                <a:latin typeface="Times New Roman" panose="02020603050405020304" pitchFamily="18" charset="0"/>
                <a:ea typeface="宋体" panose="02010600030101010101" pitchFamily="2" charset="-122"/>
              </a:endParaRPr>
            </a:p>
          </p:txBody>
        </p:sp>
        <p:sp>
          <p:nvSpPr>
            <p:cNvPr id="31800" name="矩形 105626"/>
            <p:cNvSpPr/>
            <p:nvPr/>
          </p:nvSpPr>
          <p:spPr>
            <a:xfrm>
              <a:off x="8843" y="7739"/>
              <a:ext cx="1847" cy="834"/>
            </a:xfrm>
            <a:prstGeom prst="rect">
              <a:avLst/>
            </a:prstGeom>
            <a:noFill/>
            <a:ln w="9525">
              <a:noFill/>
            </a:ln>
          </p:spPr>
          <p:txBody>
            <a:bodyPr wrap="square" anchor="t" anchorCtr="0">
              <a:spAutoFit/>
            </a:bodyPr>
            <a:lstStyle/>
            <a:p>
              <a:pPr eaLnBrk="0" fontAlgn="base" hangingPunct="0">
                <a:spcBef>
                  <a:spcPct val="0"/>
                </a:spcBef>
                <a:spcAft>
                  <a:spcPct val="0"/>
                </a:spcAft>
              </a:pPr>
              <a:r>
                <a:rPr lang="en-US" altLang="zh-CN" b="1" i="1" err="1">
                  <a:solidFill>
                    <a:srgbClr val="000000"/>
                  </a:solidFill>
                  <a:latin typeface="Times New Roman" panose="02020603050405020304" pitchFamily="18" charset="0"/>
                  <a:ea typeface="宋体" panose="02010600030101010101" pitchFamily="2" charset="-122"/>
                </a:rPr>
                <a:t>x</a:t>
              </a:r>
              <a:r>
                <a:rPr lang="en-US" altLang="zh-CN" b="1" i="1" baseline="30000" err="1">
                  <a:solidFill>
                    <a:srgbClr val="000000"/>
                  </a:solidFill>
                  <a:latin typeface="Times New Roman" panose="02020603050405020304" pitchFamily="18" charset="0"/>
                  <a:ea typeface="宋体" panose="02010600030101010101" pitchFamily="2" charset="-122"/>
                </a:rPr>
                <a:t>n-k</a:t>
              </a:r>
              <a:r>
                <a:rPr lang="en-US" altLang="zh-CN" b="1" i="1" err="1">
                  <a:solidFill>
                    <a:srgbClr val="000000"/>
                  </a:solidFill>
                  <a:latin typeface="Times New Roman" panose="02020603050405020304" pitchFamily="18" charset="0"/>
                  <a:ea typeface="宋体" panose="02010600030101010101" pitchFamily="2" charset="-122"/>
                </a:rPr>
                <a:t>u</a:t>
              </a:r>
              <a:r>
                <a:rPr lang="en-US" altLang="zh-CN" b="1" err="1">
                  <a:solidFill>
                    <a:srgbClr val="000000"/>
                  </a:solidFill>
                  <a:latin typeface="Times New Roman" panose="02020603050405020304" pitchFamily="18" charset="0"/>
                  <a:ea typeface="宋体" panose="02010600030101010101" pitchFamily="2" charset="-122"/>
                </a:rPr>
                <a:t>(</a:t>
              </a:r>
              <a:r>
                <a:rPr lang="en-US" altLang="zh-CN" b="1" i="1" err="1">
                  <a:solidFill>
                    <a:srgbClr val="000000"/>
                  </a:solidFill>
                  <a:latin typeface="Times New Roman" panose="02020603050405020304" pitchFamily="18" charset="0"/>
                  <a:ea typeface="宋体" panose="02010600030101010101" pitchFamily="2" charset="-122"/>
                </a:rPr>
                <a:t>x</a:t>
              </a:r>
              <a:r>
                <a:rPr lang="en-US" altLang="zh-CN" b="1">
                  <a:solidFill>
                    <a:srgbClr val="000000"/>
                  </a:solidFill>
                  <a:latin typeface="Times New Roman" panose="02020603050405020304" pitchFamily="18" charset="0"/>
                  <a:ea typeface="宋体" panose="02010600030101010101" pitchFamily="2" charset="-122"/>
                </a:rPr>
                <a:t>)</a:t>
              </a:r>
              <a:endParaRPr lang="en-US" altLang="zh-CN" b="1" dirty="0">
                <a:solidFill>
                  <a:srgbClr val="000000"/>
                </a:solidFill>
                <a:latin typeface="Times New Roman" panose="02020603050405020304" pitchFamily="18" charset="0"/>
                <a:ea typeface="宋体" panose="02010600030101010101" pitchFamily="2" charset="-122"/>
              </a:endParaRPr>
            </a:p>
          </p:txBody>
        </p:sp>
        <p:sp>
          <p:nvSpPr>
            <p:cNvPr id="31801" name="矩形 105627"/>
            <p:cNvSpPr/>
            <p:nvPr/>
          </p:nvSpPr>
          <p:spPr>
            <a:xfrm>
              <a:off x="8560" y="2978"/>
              <a:ext cx="1248" cy="1020"/>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802" name="文本框 105628"/>
            <p:cNvSpPr txBox="1"/>
            <p:nvPr/>
          </p:nvSpPr>
          <p:spPr>
            <a:xfrm>
              <a:off x="8675" y="3093"/>
              <a:ext cx="1020" cy="834"/>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b="1" dirty="0">
                  <a:solidFill>
                    <a:srgbClr val="000000"/>
                  </a:solidFill>
                  <a:latin typeface="黑体" panose="02010609060101010101" pitchFamily="49" charset="-122"/>
                  <a:ea typeface="黑体" panose="02010609060101010101" pitchFamily="49" charset="-122"/>
                </a:rPr>
                <a:t>门</a:t>
              </a:r>
              <a:r>
                <a:rPr lang="en-US" altLang="zh-CN"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p>
          </p:txBody>
        </p:sp>
        <p:sp>
          <p:nvSpPr>
            <p:cNvPr id="31803" name="直接连接符 105629"/>
            <p:cNvSpPr/>
            <p:nvPr/>
          </p:nvSpPr>
          <p:spPr>
            <a:xfrm flipH="1">
              <a:off x="10830" y="4793"/>
              <a:ext cx="453" cy="0"/>
            </a:xfrm>
            <a:prstGeom prst="line">
              <a:avLst/>
            </a:prstGeom>
            <a:ln w="15875" cap="flat" cmpd="sng">
              <a:solidFill>
                <a:schemeClr val="tx1"/>
              </a:solidFill>
              <a:prstDash val="solid"/>
              <a:round/>
              <a:headEnd type="none" w="med" len="med"/>
              <a:tailEnd type="triangle" w="med" len="med"/>
            </a:ln>
          </p:spPr>
        </p:sp>
        <p:sp>
          <p:nvSpPr>
            <p:cNvPr id="31804" name="矩形 105630"/>
            <p:cNvSpPr/>
            <p:nvPr/>
          </p:nvSpPr>
          <p:spPr>
            <a:xfrm>
              <a:off x="11170" y="4282"/>
              <a:ext cx="1475" cy="834"/>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b="1" i="1" err="1">
                  <a:solidFill>
                    <a:srgbClr val="000000"/>
                  </a:solidFill>
                  <a:latin typeface="Times New Roman" panose="02020603050405020304" pitchFamily="18" charset="0"/>
                  <a:ea typeface="宋体" panose="02010600030101010101" pitchFamily="2" charset="-122"/>
                </a:rPr>
                <a:t>g</a:t>
              </a:r>
              <a:r>
                <a:rPr lang="en-US" altLang="zh-CN" b="1" i="1" baseline="-25000" err="1">
                  <a:solidFill>
                    <a:srgbClr val="000000"/>
                  </a:solidFill>
                  <a:latin typeface="Times New Roman" panose="02020603050405020304" pitchFamily="18" charset="0"/>
                  <a:ea typeface="宋体" panose="02010600030101010101" pitchFamily="2" charset="-122"/>
                </a:rPr>
                <a:t>n-k</a:t>
              </a:r>
              <a:r>
                <a:rPr lang="en-US" altLang="zh-CN" b="1">
                  <a:solidFill>
                    <a:srgbClr val="000000"/>
                  </a:solidFill>
                  <a:latin typeface="Times New Roman" panose="02020603050405020304" pitchFamily="18" charset="0"/>
                  <a:ea typeface="宋体" panose="02010600030101010101" pitchFamily="2" charset="-122"/>
                </a:rPr>
                <a:t>=1</a:t>
              </a:r>
              <a:endParaRPr lang="zh-CN" altLang="en-US" b="1" dirty="0">
                <a:solidFill>
                  <a:srgbClr val="000000"/>
                </a:solidFill>
                <a:latin typeface="Times New Roman" panose="02020603050405020304" pitchFamily="18" charset="0"/>
                <a:ea typeface="宋体" panose="02010600030101010101" pitchFamily="2" charset="-122"/>
              </a:endParaRPr>
            </a:p>
          </p:txBody>
        </p:sp>
        <p:sp>
          <p:nvSpPr>
            <p:cNvPr id="31805" name="矩形 105632"/>
            <p:cNvSpPr/>
            <p:nvPr/>
          </p:nvSpPr>
          <p:spPr>
            <a:xfrm>
              <a:off x="11283" y="6153"/>
              <a:ext cx="1247" cy="1020"/>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806" name="文本框 105633"/>
            <p:cNvSpPr txBox="1"/>
            <p:nvPr/>
          </p:nvSpPr>
          <p:spPr>
            <a:xfrm>
              <a:off x="11398" y="6270"/>
              <a:ext cx="1020" cy="764"/>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1600" b="1" dirty="0">
                  <a:solidFill>
                    <a:srgbClr val="000000"/>
                  </a:solidFill>
                  <a:latin typeface="黑体" panose="02010609060101010101" pitchFamily="49" charset="-122"/>
                  <a:ea typeface="黑体" panose="02010609060101010101" pitchFamily="49" charset="-122"/>
                </a:rPr>
                <a:t>门</a:t>
              </a:r>
              <a:r>
                <a:rPr lang="en-US" altLang="zh-CN" sz="16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p>
          </p:txBody>
        </p:sp>
        <p:sp>
          <p:nvSpPr>
            <p:cNvPr id="31807" name="椭圆 105634"/>
            <p:cNvSpPr/>
            <p:nvPr/>
          </p:nvSpPr>
          <p:spPr>
            <a:xfrm>
              <a:off x="12758" y="6268"/>
              <a:ext cx="907" cy="90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1808" name="文本框 105635"/>
            <p:cNvSpPr txBox="1"/>
            <p:nvPr/>
          </p:nvSpPr>
          <p:spPr>
            <a:xfrm>
              <a:off x="12757" y="6380"/>
              <a:ext cx="1023" cy="764"/>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1600" b="1">
                  <a:solidFill>
                    <a:srgbClr val="000000"/>
                  </a:solidFill>
                  <a:latin typeface="Times New Roman" panose="02020603050405020304" pitchFamily="18" charset="0"/>
                  <a:ea typeface="黑体" panose="02010609060101010101" pitchFamily="49" charset="-122"/>
                </a:rPr>
                <a:t>OR</a:t>
              </a:r>
            </a:p>
          </p:txBody>
        </p:sp>
        <p:sp>
          <p:nvSpPr>
            <p:cNvPr id="31809" name="直接连接符 105636"/>
            <p:cNvSpPr/>
            <p:nvPr/>
          </p:nvSpPr>
          <p:spPr>
            <a:xfrm>
              <a:off x="10488" y="7740"/>
              <a:ext cx="2722" cy="0"/>
            </a:xfrm>
            <a:prstGeom prst="line">
              <a:avLst/>
            </a:prstGeom>
            <a:ln w="15875" cap="flat" cmpd="sng">
              <a:solidFill>
                <a:schemeClr val="tx1"/>
              </a:solidFill>
              <a:prstDash val="solid"/>
              <a:round/>
              <a:headEnd type="none" w="med" len="med"/>
              <a:tailEnd type="none" w="med" len="med"/>
            </a:ln>
          </p:spPr>
        </p:sp>
        <p:sp>
          <p:nvSpPr>
            <p:cNvPr id="31810" name="直接连接符 105637"/>
            <p:cNvSpPr/>
            <p:nvPr/>
          </p:nvSpPr>
          <p:spPr>
            <a:xfrm flipV="1">
              <a:off x="13210" y="7175"/>
              <a:ext cx="0" cy="565"/>
            </a:xfrm>
            <a:prstGeom prst="line">
              <a:avLst/>
            </a:prstGeom>
            <a:ln w="15875" cap="flat" cmpd="sng">
              <a:solidFill>
                <a:schemeClr val="tx1"/>
              </a:solidFill>
              <a:prstDash val="solid"/>
              <a:round/>
              <a:headEnd type="none" w="med" len="med"/>
              <a:tailEnd type="triangle" w="med" len="med"/>
            </a:ln>
          </p:spPr>
        </p:sp>
        <p:sp>
          <p:nvSpPr>
            <p:cNvPr id="31811" name="直接连接符 105638"/>
            <p:cNvSpPr/>
            <p:nvPr/>
          </p:nvSpPr>
          <p:spPr>
            <a:xfrm>
              <a:off x="13663" y="6720"/>
              <a:ext cx="455" cy="0"/>
            </a:xfrm>
            <a:prstGeom prst="line">
              <a:avLst/>
            </a:prstGeom>
            <a:ln w="15875" cap="flat" cmpd="sng">
              <a:solidFill>
                <a:schemeClr val="tx1"/>
              </a:solidFill>
              <a:prstDash val="solid"/>
              <a:round/>
              <a:headEnd type="none" w="med" len="med"/>
              <a:tailEnd type="triangle" w="med" len="med"/>
            </a:ln>
          </p:spPr>
        </p:sp>
      </p:grpSp>
      <p:sp>
        <p:nvSpPr>
          <p:cNvPr id="8" name="内容占位符 2"/>
          <p:cNvSpPr txBox="1"/>
          <p:nvPr/>
        </p:nvSpPr>
        <p:spPr>
          <a:xfrm>
            <a:off x="1736726" y="3526156"/>
            <a:ext cx="8724265" cy="288861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9" name="文本框 8"/>
          <p:cNvSpPr txBox="1"/>
          <p:nvPr/>
        </p:nvSpPr>
        <p:spPr>
          <a:xfrm>
            <a:off x="1840865" y="3554095"/>
            <a:ext cx="8487410" cy="2861310"/>
          </a:xfrm>
          <a:prstGeom prst="rect">
            <a:avLst/>
          </a:prstGeom>
          <a:noFill/>
        </p:spPr>
        <p:txBody>
          <a:bodyPr wrap="square" rtlCol="0" anchor="t">
            <a:spAutoFit/>
          </a:bodyPr>
          <a:lstStyle/>
          <a:p>
            <a:pPr algn="just" eaLnBrk="0" fontAlgn="base" hangingPunct="0">
              <a:spcBef>
                <a:spcPct val="0"/>
              </a:spcBef>
              <a:spcAft>
                <a:spcPct val="0"/>
              </a:spcAft>
            </a:pPr>
            <a:r>
              <a:rPr lang="zh-CN" altLang="en-US" sz="2000" dirty="0">
                <a:solidFill>
                  <a:srgbClr val="FF0000"/>
                </a:solidFill>
                <a:latin typeface="Arial" panose="020B0604020202020204" pitchFamily="34" charset="0"/>
                <a:ea typeface="黑体" panose="02010609060101010101" pitchFamily="49" charset="-122"/>
                <a:sym typeface="+mn-ea"/>
              </a:rPr>
              <a:t>编码电路的工作过程如下：</a:t>
            </a:r>
            <a:endParaRPr lang="zh-CN" altLang="en-US" sz="2000" dirty="0">
              <a:solidFill>
                <a:srgbClr val="0070C0"/>
              </a:solidFill>
              <a:latin typeface="Arial" panose="020B0604020202020204" pitchFamily="34" charset="0"/>
              <a:ea typeface="黑体" panose="02010609060101010101" pitchFamily="49" charset="-122"/>
              <a:sym typeface="+mn-ea"/>
            </a:endParaRPr>
          </a:p>
          <a:p>
            <a:pPr algn="just" eaLnBrk="0" fontAlgn="base" hangingPunct="0">
              <a:spcBef>
                <a:spcPct val="0"/>
              </a:spcBef>
              <a:spcAft>
                <a:spcPct val="0"/>
              </a:spcAft>
            </a:pPr>
            <a:r>
              <a:rPr lang="zh-CN" altLang="en-US" sz="2000" dirty="0">
                <a:solidFill>
                  <a:srgbClr val="0070C0"/>
                </a:solidFill>
                <a:latin typeface="Arial" panose="020B0604020202020204" pitchFamily="34" charset="0"/>
                <a:ea typeface="黑体" panose="02010609060101010101" pitchFamily="49" charset="-122"/>
                <a:cs typeface="+mn-ea"/>
                <a:sym typeface="+mn-ea"/>
              </a:rPr>
              <a:t>第</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000" dirty="0">
                <a:solidFill>
                  <a:srgbClr val="0070C0"/>
                </a:solidFill>
                <a:latin typeface="Arial" panose="020B0604020202020204" pitchFamily="34" charset="0"/>
                <a:ea typeface="黑体" panose="02010609060101010101" pitchFamily="49" charset="-122"/>
                <a:cs typeface="+mn-ea"/>
                <a:sym typeface="+mn-ea"/>
              </a:rPr>
              <a:t>步</a:t>
            </a:r>
            <a:r>
              <a:rPr lang="zh-CN" altLang="en-US" sz="2000" dirty="0">
                <a:solidFill>
                  <a:srgbClr val="0070C0"/>
                </a:solidFill>
                <a:latin typeface="Arial" panose="020B0604020202020204" pitchFamily="34"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n-k</a:t>
            </a:r>
            <a:r>
              <a:rPr lang="zh-CN" altLang="en-US" sz="2000" dirty="0">
                <a:solidFill>
                  <a:srgbClr val="000000"/>
                </a:solidFill>
                <a:latin typeface="Times New Roman" panose="02020603050405020304" pitchFamily="18" charset="0"/>
                <a:ea typeface="黑体" panose="02010609060101010101" pitchFamily="49" charset="-122"/>
                <a:sym typeface="+mn-ea"/>
              </a:rPr>
              <a:t>级移位寄存器的初始状态都清零。门</a:t>
            </a:r>
            <a:r>
              <a:rPr lang="en-US" altLang="zh-CN" sz="200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通</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门</a:t>
            </a:r>
            <a:r>
              <a:rPr lang="en-US" altLang="zh-CN" sz="200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断</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进行移位</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en-US" altLang="zh-CN" sz="2000" i="1">
                <a:solidFill>
                  <a:srgbClr val="000000"/>
                </a:solidFill>
                <a:latin typeface="Times New Roman" panose="02020603050405020304" pitchFamily="18" charset="0"/>
                <a:ea typeface="黑体" panose="02010609060101010101" pitchFamily="49" charset="-122"/>
                <a:sym typeface="+mn-ea"/>
              </a:rPr>
              <a:t>k</a:t>
            </a:r>
            <a:r>
              <a:rPr lang="zh-CN" altLang="en-US" sz="2000" dirty="0">
                <a:solidFill>
                  <a:srgbClr val="000000"/>
                </a:solidFill>
                <a:latin typeface="Times New Roman" panose="02020603050405020304" pitchFamily="18" charset="0"/>
                <a:ea typeface="黑体" panose="02010609060101010101" pitchFamily="49" charset="-122"/>
                <a:sym typeface="+mn-ea"/>
              </a:rPr>
              <a:t>个信息数据</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或信息组</a:t>
            </a:r>
            <a:r>
              <a:rPr lang="en-US" altLang="zh-CN" sz="2000" i="1" err="1">
                <a:solidFill>
                  <a:srgbClr val="000000"/>
                </a:solidFill>
                <a:latin typeface="Times New Roman" panose="02020603050405020304" pitchFamily="18" charset="0"/>
                <a:ea typeface="黑体" panose="02010609060101010101" pitchFamily="49" charset="-122"/>
                <a:sym typeface="+mn-ea"/>
              </a:rPr>
              <a:t>u</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0</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baseline="-25000">
                <a:solidFill>
                  <a:srgbClr val="000000"/>
                </a:solidFill>
                <a:latin typeface="Times New Roman" panose="02020603050405020304" pitchFamily="18" charset="0"/>
                <a:ea typeface="黑体" panose="02010609060101010101" pitchFamily="49" charset="-122"/>
                <a:sym typeface="+mn-ea"/>
              </a:rPr>
              <a:t>2</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baseline="30000">
                <a:solidFill>
                  <a:srgbClr val="000000"/>
                </a:solidFill>
                <a:latin typeface="Times New Roman" panose="02020603050405020304" pitchFamily="18" charset="0"/>
                <a:ea typeface="黑体" panose="02010609060101010101" pitchFamily="49" charset="-122"/>
                <a:sym typeface="+mn-ea"/>
              </a:rPr>
              <a:t>2</a:t>
            </a:r>
            <a:r>
              <a:rPr lang="en-US" altLang="zh-CN" sz="2000">
                <a:solidFill>
                  <a:srgbClr val="000000"/>
                </a:solidFill>
                <a:latin typeface="Times New Roman" panose="02020603050405020304" pitchFamily="18" charset="0"/>
                <a:ea typeface="黑体" panose="02010609060101010101" pitchFamily="49" charset="-122"/>
                <a:sym typeface="+mn-ea"/>
              </a:rPr>
              <a:t>+…+ </a:t>
            </a:r>
            <a:r>
              <a:rPr lang="en-US" altLang="zh-CN" sz="2000" i="1">
                <a:solidFill>
                  <a:srgbClr val="000000"/>
                </a:solidFill>
                <a:latin typeface="Times New Roman" panose="02020603050405020304" pitchFamily="18" charset="0"/>
                <a:ea typeface="黑体" panose="02010609060101010101" pitchFamily="49" charset="-122"/>
                <a:sym typeface="+mn-ea"/>
              </a:rPr>
              <a:t>u</a:t>
            </a:r>
            <a:r>
              <a:rPr lang="en-US" altLang="zh-CN" sz="2000" i="1" baseline="-25000">
                <a:solidFill>
                  <a:srgbClr val="000000"/>
                </a:solidFill>
                <a:latin typeface="Times New Roman" panose="02020603050405020304" pitchFamily="18" charset="0"/>
                <a:ea typeface="黑体" panose="02010609060101010101" pitchFamily="49" charset="-122"/>
                <a:sym typeface="+mn-ea"/>
              </a:rPr>
              <a:t>k-</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k-</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的系数</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被送入电路中</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高位次系数首先送入电路</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消息</a:t>
            </a:r>
            <a:r>
              <a:rPr lang="en-US" altLang="zh-CN" sz="2000" i="1" err="1">
                <a:solidFill>
                  <a:srgbClr val="000000"/>
                </a:solidFill>
                <a:latin typeface="Times New Roman" panose="02020603050405020304" pitchFamily="18" charset="0"/>
                <a:ea typeface="黑体" panose="02010609060101010101" pitchFamily="49" charset="-122"/>
                <a:sym typeface="+mn-ea"/>
              </a:rPr>
              <a:t>u</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从线路的前端移入</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等价于用</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err="1">
                <a:solidFill>
                  <a:srgbClr val="000000"/>
                </a:solidFill>
                <a:latin typeface="Times New Roman" panose="02020603050405020304" pitchFamily="18" charset="0"/>
                <a:ea typeface="黑体" panose="02010609060101010101" pitchFamily="49" charset="-122"/>
                <a:sym typeface="+mn-ea"/>
              </a:rPr>
              <a:t>n-k</a:t>
            </a:r>
            <a:r>
              <a:rPr lang="zh-CN" altLang="en-US" sz="2000" dirty="0">
                <a:solidFill>
                  <a:srgbClr val="000000"/>
                </a:solidFill>
                <a:latin typeface="Times New Roman" panose="02020603050405020304" pitchFamily="18" charset="0"/>
                <a:ea typeface="黑体" panose="02010609060101010101" pitchFamily="49" charset="-122"/>
                <a:sym typeface="+mn-ea"/>
              </a:rPr>
              <a:t>左乘</a:t>
            </a:r>
            <a:r>
              <a:rPr lang="en-US" altLang="zh-CN" sz="2000" i="1" err="1">
                <a:solidFill>
                  <a:srgbClr val="000000"/>
                </a:solidFill>
                <a:latin typeface="Times New Roman" panose="02020603050405020304" pitchFamily="18" charset="0"/>
                <a:ea typeface="黑体" panose="02010609060101010101" pitchFamily="49" charset="-122"/>
                <a:sym typeface="+mn-ea"/>
              </a:rPr>
              <a:t>u</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Arial" panose="020B0604020202020204" pitchFamily="34" charset="0"/>
                <a:ea typeface="黑体" panose="02010609060101010101" pitchFamily="49" charset="-122"/>
                <a:sym typeface="+mn-ea"/>
              </a:rPr>
              <a:t>;</a:t>
            </a:r>
            <a:endParaRPr lang="zh-CN" altLang="en-US" sz="2000" dirty="0">
              <a:solidFill>
                <a:srgbClr val="000000"/>
              </a:solidFill>
              <a:latin typeface="Arial" panose="020B0604020202020204" pitchFamily="34" charset="0"/>
              <a:ea typeface="黑体" panose="02010609060101010101" pitchFamily="49" charset="-122"/>
            </a:endParaRPr>
          </a:p>
          <a:p>
            <a:pPr algn="just" eaLnBrk="0" fontAlgn="base" hangingPunct="0">
              <a:spcBef>
                <a:spcPct val="0"/>
              </a:spcBef>
              <a:spcAft>
                <a:spcPct val="0"/>
              </a:spcAft>
            </a:pPr>
            <a:r>
              <a:rPr lang="zh-CN" altLang="en-US" sz="2000" dirty="0">
                <a:solidFill>
                  <a:srgbClr val="0070C0"/>
                </a:solidFill>
                <a:latin typeface="Arial" panose="020B0604020202020204" pitchFamily="34" charset="0"/>
                <a:ea typeface="黑体" panose="02010609060101010101" pitchFamily="49" charset="-122"/>
                <a:cs typeface="+mn-ea"/>
                <a:sym typeface="+mn-ea"/>
              </a:rPr>
              <a:t>第</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000" dirty="0">
                <a:solidFill>
                  <a:srgbClr val="0070C0"/>
                </a:solidFill>
                <a:latin typeface="Arial" panose="020B0604020202020204" pitchFamily="34" charset="0"/>
                <a:ea typeface="黑体" panose="02010609060101010101" pitchFamily="49" charset="-122"/>
                <a:cs typeface="+mn-ea"/>
                <a:sym typeface="+mn-ea"/>
              </a:rPr>
              <a:t>步</a:t>
            </a:r>
            <a:r>
              <a:rPr lang="zh-CN" altLang="en-US" sz="2000" dirty="0">
                <a:solidFill>
                  <a:srgbClr val="0070C0"/>
                </a:solidFill>
                <a:latin typeface="Arial" panose="020B0604020202020204" pitchFamily="34"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经</a:t>
            </a:r>
            <a:r>
              <a:rPr lang="en-US" altLang="zh-CN" sz="2000" i="1">
                <a:solidFill>
                  <a:srgbClr val="000000"/>
                </a:solidFill>
                <a:latin typeface="Times New Roman" panose="02020603050405020304" pitchFamily="18" charset="0"/>
                <a:ea typeface="黑体" panose="02010609060101010101" pitchFamily="49" charset="-122"/>
                <a:sym typeface="+mn-ea"/>
              </a:rPr>
              <a:t>k</a:t>
            </a:r>
            <a:r>
              <a:rPr lang="zh-CN" altLang="en-US" sz="2000" dirty="0">
                <a:solidFill>
                  <a:srgbClr val="000000"/>
                </a:solidFill>
                <a:latin typeface="Times New Roman" panose="02020603050405020304" pitchFamily="18" charset="0"/>
                <a:ea typeface="黑体" panose="02010609060101010101" pitchFamily="49" charset="-122"/>
                <a:sym typeface="+mn-ea"/>
              </a:rPr>
              <a:t>次移位后</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en-US" altLang="zh-CN" sz="2000" i="1" err="1">
                <a:solidFill>
                  <a:srgbClr val="000000"/>
                </a:solidFill>
                <a:latin typeface="Times New Roman" panose="02020603050405020304" pitchFamily="18" charset="0"/>
                <a:ea typeface="黑体" panose="02010609060101010101" pitchFamily="49" charset="-122"/>
                <a:sym typeface="+mn-ea"/>
              </a:rPr>
              <a:t>u</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全部被送入电路</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完成了除法运算</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此时寄存器中的</a:t>
            </a:r>
            <a:r>
              <a:rPr lang="en-US" altLang="zh-CN" sz="2000" i="1" err="1">
                <a:solidFill>
                  <a:srgbClr val="000000"/>
                </a:solidFill>
                <a:latin typeface="Times New Roman" panose="02020603050405020304" pitchFamily="18" charset="0"/>
                <a:ea typeface="黑体" panose="02010609060101010101" pitchFamily="49" charset="-122"/>
                <a:sym typeface="+mn-ea"/>
              </a:rPr>
              <a:t>n-k</a:t>
            </a:r>
            <a:r>
              <a:rPr lang="zh-CN" altLang="en-US" sz="2000" dirty="0">
                <a:solidFill>
                  <a:srgbClr val="000000"/>
                </a:solidFill>
                <a:latin typeface="Times New Roman" panose="02020603050405020304" pitchFamily="18" charset="0"/>
                <a:ea typeface="黑体" panose="02010609060101010101" pitchFamily="49" charset="-122"/>
                <a:sym typeface="+mn-ea"/>
              </a:rPr>
              <a:t>个数据就构成了余项</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它们就是一致校验数据</a:t>
            </a:r>
            <a:r>
              <a:rPr lang="en-US" altLang="zh-CN" sz="2000" dirty="0">
                <a:solidFill>
                  <a:srgbClr val="000000"/>
                </a:solidFill>
                <a:latin typeface="Times New Roman" panose="02020603050405020304" pitchFamily="18" charset="0"/>
                <a:ea typeface="黑体" panose="02010609060101010101" pitchFamily="49" charset="-122"/>
                <a:sym typeface="+mn-ea"/>
              </a:rPr>
              <a:t>;</a:t>
            </a:r>
            <a:endParaRPr lang="zh-CN" altLang="en-US" sz="2000" dirty="0">
              <a:solidFill>
                <a:srgbClr val="000000"/>
              </a:solidFill>
              <a:latin typeface="Times New Roman" panose="02020603050405020304" pitchFamily="18" charset="0"/>
              <a:ea typeface="黑体" panose="02010609060101010101" pitchFamily="49" charset="-122"/>
            </a:endParaRPr>
          </a:p>
          <a:p>
            <a:pPr algn="just" eaLnBrk="0" fontAlgn="base" hangingPunct="0">
              <a:spcBef>
                <a:spcPct val="0"/>
              </a:spcBef>
              <a:spcAft>
                <a:spcPct val="0"/>
              </a:spcAft>
            </a:pPr>
            <a:r>
              <a:rPr lang="zh-CN" altLang="en-US" sz="2000" dirty="0">
                <a:solidFill>
                  <a:srgbClr val="0070C0"/>
                </a:solidFill>
                <a:latin typeface="Arial" panose="020B0604020202020204" pitchFamily="34" charset="0"/>
                <a:ea typeface="黑体" panose="02010609060101010101" pitchFamily="49" charset="-122"/>
                <a:cs typeface="+mn-ea"/>
                <a:sym typeface="+mn-ea"/>
              </a:rPr>
              <a:t>第</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000" dirty="0">
                <a:solidFill>
                  <a:srgbClr val="0070C0"/>
                </a:solidFill>
                <a:latin typeface="Arial" panose="020B0604020202020204" pitchFamily="34" charset="0"/>
                <a:ea typeface="黑体" panose="02010609060101010101" pitchFamily="49" charset="-122"/>
                <a:cs typeface="+mn-ea"/>
                <a:sym typeface="+mn-ea"/>
              </a:rPr>
              <a:t>步</a:t>
            </a:r>
            <a:r>
              <a:rPr lang="zh-CN" altLang="en-US" sz="2000" dirty="0">
                <a:solidFill>
                  <a:srgbClr val="0070C0"/>
                </a:solidFill>
                <a:latin typeface="Arial" panose="020B0604020202020204" pitchFamily="34"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门</a:t>
            </a:r>
            <a:r>
              <a:rPr lang="en-US" altLang="zh-CN" sz="200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断</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门</a:t>
            </a:r>
            <a:r>
              <a:rPr lang="en-US" altLang="zh-CN" sz="200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通</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经过</a:t>
            </a:r>
            <a:r>
              <a:rPr lang="en-US" altLang="zh-CN" sz="2000" i="1" err="1">
                <a:solidFill>
                  <a:srgbClr val="000000"/>
                </a:solidFill>
                <a:latin typeface="Times New Roman" panose="02020603050405020304" pitchFamily="18" charset="0"/>
                <a:ea typeface="黑体" panose="02010609060101010101" pitchFamily="49" charset="-122"/>
                <a:sym typeface="+mn-ea"/>
              </a:rPr>
              <a:t>n-k</a:t>
            </a:r>
            <a:r>
              <a:rPr lang="zh-CN" altLang="en-US" sz="2000" dirty="0">
                <a:solidFill>
                  <a:srgbClr val="000000"/>
                </a:solidFill>
                <a:latin typeface="Times New Roman" panose="02020603050405020304" pitchFamily="18" charset="0"/>
                <a:ea typeface="黑体" panose="02010609060101010101" pitchFamily="49" charset="-122"/>
                <a:sym typeface="+mn-ea"/>
              </a:rPr>
              <a:t>移位次后</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移出移位寄存器的</a:t>
            </a:r>
            <a:r>
              <a:rPr lang="en-US" altLang="zh-CN" sz="2000" i="1" err="1">
                <a:solidFill>
                  <a:srgbClr val="000000"/>
                </a:solidFill>
                <a:latin typeface="Times New Roman" panose="02020603050405020304" pitchFamily="18" charset="0"/>
                <a:ea typeface="黑体" panose="02010609060101010101" pitchFamily="49" charset="-122"/>
                <a:sym typeface="+mn-ea"/>
              </a:rPr>
              <a:t>n-k</a:t>
            </a:r>
            <a:r>
              <a:rPr lang="zh-CN" altLang="en-US" sz="2000" dirty="0">
                <a:solidFill>
                  <a:srgbClr val="000000"/>
                </a:solidFill>
                <a:latin typeface="Times New Roman" panose="02020603050405020304" pitchFamily="18" charset="0"/>
                <a:ea typeface="黑体" panose="02010609060101010101" pitchFamily="49" charset="-122"/>
                <a:sym typeface="+mn-ea"/>
              </a:rPr>
              <a:t>个校验元</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这</a:t>
            </a:r>
            <a:r>
              <a:rPr lang="en-US" altLang="zh-CN" sz="2000" i="1" err="1">
                <a:solidFill>
                  <a:srgbClr val="000000"/>
                </a:solidFill>
                <a:latin typeface="Times New Roman" panose="02020603050405020304" pitchFamily="18" charset="0"/>
                <a:ea typeface="黑体" panose="02010609060101010101" pitchFamily="49" charset="-122"/>
                <a:sym typeface="+mn-ea"/>
              </a:rPr>
              <a:t>n-k</a:t>
            </a:r>
            <a:r>
              <a:rPr lang="zh-CN" altLang="en-US" sz="2000" dirty="0">
                <a:solidFill>
                  <a:srgbClr val="000000"/>
                </a:solidFill>
                <a:latin typeface="Times New Roman" panose="02020603050405020304" pitchFamily="18" charset="0"/>
                <a:ea typeface="黑体" panose="02010609060101010101" pitchFamily="49" charset="-122"/>
                <a:sym typeface="+mn-ea"/>
              </a:rPr>
              <a:t>个校验元与原来的</a:t>
            </a:r>
            <a:r>
              <a:rPr lang="en-US" altLang="zh-CN" sz="2000" i="1">
                <a:solidFill>
                  <a:srgbClr val="000000"/>
                </a:solidFill>
                <a:latin typeface="Times New Roman" panose="02020603050405020304" pitchFamily="18" charset="0"/>
                <a:ea typeface="黑体" panose="02010609060101010101" pitchFamily="49" charset="-122"/>
                <a:sym typeface="+mn-ea"/>
              </a:rPr>
              <a:t>k</a:t>
            </a:r>
            <a:r>
              <a:rPr lang="zh-CN" altLang="en-US" sz="2000" dirty="0">
                <a:solidFill>
                  <a:srgbClr val="000000"/>
                </a:solidFill>
                <a:latin typeface="Times New Roman" panose="02020603050405020304" pitchFamily="18" charset="0"/>
                <a:ea typeface="黑体" panose="02010609060101010101" pitchFamily="49" charset="-122"/>
                <a:sym typeface="+mn-ea"/>
              </a:rPr>
              <a:t>个信息位组成</a:t>
            </a:r>
            <a:r>
              <a:rPr lang="en-US" altLang="zh-CN" sz="2000" i="1">
                <a:solidFill>
                  <a:srgbClr val="000000"/>
                </a:solidFill>
                <a:latin typeface="Times New Roman" panose="02020603050405020304" pitchFamily="18" charset="0"/>
                <a:ea typeface="黑体" panose="02010609060101010101" pitchFamily="49" charset="-122"/>
                <a:sym typeface="+mn-ea"/>
              </a:rPr>
              <a:t>n</a:t>
            </a:r>
            <a:r>
              <a:rPr lang="zh-CN" altLang="en-US" sz="2000" dirty="0">
                <a:solidFill>
                  <a:srgbClr val="000000"/>
                </a:solidFill>
                <a:latin typeface="Times New Roman" panose="02020603050405020304" pitchFamily="18" charset="0"/>
                <a:ea typeface="黑体" panose="02010609060101010101" pitchFamily="49" charset="-122"/>
                <a:sym typeface="+mn-ea"/>
              </a:rPr>
              <a:t>长的完整的码字</a:t>
            </a:r>
            <a:r>
              <a:rPr lang="en-US" altLang="zh-CN" sz="2000" dirty="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spcBef>
                <a:spcPct val="0"/>
              </a:spcBef>
              <a:spcAft>
                <a:spcPct val="0"/>
              </a:spcAft>
            </a:pPr>
            <a:r>
              <a:rPr lang="zh-CN" altLang="en-US" sz="2000" dirty="0">
                <a:solidFill>
                  <a:srgbClr val="0070C0"/>
                </a:solidFill>
                <a:latin typeface="Arial" panose="020B0604020202020204" pitchFamily="34" charset="0"/>
                <a:ea typeface="黑体" panose="02010609060101010101" pitchFamily="49" charset="-122"/>
                <a:cs typeface="+mn-ea"/>
                <a:sym typeface="+mn-ea"/>
              </a:rPr>
              <a:t>第</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ea"/>
              </a:rPr>
              <a:t>4</a:t>
            </a:r>
            <a:r>
              <a:rPr lang="zh-CN" altLang="en-US" sz="2000" dirty="0">
                <a:solidFill>
                  <a:srgbClr val="0070C0"/>
                </a:solidFill>
                <a:latin typeface="Arial" panose="020B0604020202020204" pitchFamily="34" charset="0"/>
                <a:ea typeface="黑体" panose="02010609060101010101" pitchFamily="49" charset="-122"/>
                <a:cs typeface="+mn-ea"/>
                <a:sym typeface="+mn-ea"/>
              </a:rPr>
              <a:t>步</a:t>
            </a:r>
            <a:r>
              <a:rPr lang="zh-CN" altLang="en-US" sz="2000" dirty="0">
                <a:solidFill>
                  <a:srgbClr val="0070C0"/>
                </a:solidFill>
                <a:latin typeface="Arial" panose="020B0604020202020204" pitchFamily="34"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门</a:t>
            </a:r>
            <a:r>
              <a:rPr lang="en-US" altLang="zh-CN" sz="200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通</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门</a:t>
            </a:r>
            <a:r>
              <a:rPr lang="en-US" altLang="zh-CN" sz="200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断</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送入第</a:t>
            </a:r>
            <a:r>
              <a:rPr lang="en-US" altLang="zh-CN" sz="200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组信息数据</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并重复上述过程。</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74026" y="104775"/>
            <a:ext cx="2327275" cy="685800"/>
          </a:xfrm>
        </p:spPr>
        <p:txBody>
          <a:bodyPr/>
          <a:lstStyle/>
          <a:p>
            <a:r>
              <a:rPr lang="zh-CN" altLang="en-US" sz="2800">
                <a:ea typeface="黑体" panose="02010609060101010101" pitchFamily="49" charset="-122"/>
                <a:sym typeface="+mn-ea"/>
              </a:rPr>
              <a:t>除法器举例</a:t>
            </a:r>
          </a:p>
        </p:txBody>
      </p:sp>
      <p:grpSp>
        <p:nvGrpSpPr>
          <p:cNvPr id="34818" name="组合 108587"/>
          <p:cNvGrpSpPr/>
          <p:nvPr/>
        </p:nvGrpSpPr>
        <p:grpSpPr>
          <a:xfrm>
            <a:off x="2218613" y="965201"/>
            <a:ext cx="7006033" cy="1356401"/>
            <a:chOff x="391" y="981"/>
            <a:chExt cx="5075" cy="1201"/>
          </a:xfrm>
        </p:grpSpPr>
        <p:sp>
          <p:nvSpPr>
            <p:cNvPr id="34819" name="直接连接符 108565"/>
            <p:cNvSpPr/>
            <p:nvPr/>
          </p:nvSpPr>
          <p:spPr>
            <a:xfrm>
              <a:off x="4468" y="1615"/>
              <a:ext cx="363" cy="0"/>
            </a:xfrm>
            <a:prstGeom prst="line">
              <a:avLst/>
            </a:prstGeom>
            <a:ln w="19050" cap="flat" cmpd="sng">
              <a:solidFill>
                <a:schemeClr val="tx1"/>
              </a:solidFill>
              <a:prstDash val="solid"/>
              <a:round/>
              <a:headEnd type="none" w="med" len="med"/>
              <a:tailEnd type="triangle" w="med" len="med"/>
            </a:ln>
          </p:spPr>
        </p:sp>
        <p:sp>
          <p:nvSpPr>
            <p:cNvPr id="34820" name="直接连接符 108563"/>
            <p:cNvSpPr/>
            <p:nvPr/>
          </p:nvSpPr>
          <p:spPr>
            <a:xfrm>
              <a:off x="3788" y="1615"/>
              <a:ext cx="363" cy="0"/>
            </a:xfrm>
            <a:prstGeom prst="line">
              <a:avLst/>
            </a:prstGeom>
            <a:ln w="19050" cap="flat" cmpd="sng">
              <a:solidFill>
                <a:schemeClr val="tx1"/>
              </a:solidFill>
              <a:prstDash val="solid"/>
              <a:round/>
              <a:headEnd type="none" w="med" len="med"/>
              <a:tailEnd type="triangle" w="med" len="med"/>
            </a:ln>
          </p:spPr>
        </p:sp>
        <p:sp>
          <p:nvSpPr>
            <p:cNvPr id="34821" name="直接连接符 108562"/>
            <p:cNvSpPr/>
            <p:nvPr/>
          </p:nvSpPr>
          <p:spPr>
            <a:xfrm>
              <a:off x="3289" y="1615"/>
              <a:ext cx="363" cy="0"/>
            </a:xfrm>
            <a:prstGeom prst="line">
              <a:avLst/>
            </a:prstGeom>
            <a:ln w="19050" cap="flat" cmpd="sng">
              <a:solidFill>
                <a:schemeClr val="tx1"/>
              </a:solidFill>
              <a:prstDash val="solid"/>
              <a:round/>
              <a:headEnd type="none" w="med" len="med"/>
              <a:tailEnd type="triangle" w="med" len="med"/>
            </a:ln>
          </p:spPr>
        </p:sp>
        <p:sp>
          <p:nvSpPr>
            <p:cNvPr id="34822" name="直接连接符 108561"/>
            <p:cNvSpPr/>
            <p:nvPr/>
          </p:nvSpPr>
          <p:spPr>
            <a:xfrm>
              <a:off x="2609" y="1615"/>
              <a:ext cx="363" cy="0"/>
            </a:xfrm>
            <a:prstGeom prst="line">
              <a:avLst/>
            </a:prstGeom>
            <a:ln w="19050" cap="flat" cmpd="sng">
              <a:solidFill>
                <a:schemeClr val="tx1"/>
              </a:solidFill>
              <a:prstDash val="solid"/>
              <a:round/>
              <a:headEnd type="none" w="med" len="med"/>
              <a:tailEnd type="triangle" w="med" len="med"/>
            </a:ln>
          </p:spPr>
        </p:sp>
        <p:sp>
          <p:nvSpPr>
            <p:cNvPr id="34823" name="直接连接符 108560"/>
            <p:cNvSpPr/>
            <p:nvPr/>
          </p:nvSpPr>
          <p:spPr>
            <a:xfrm>
              <a:off x="2064" y="1615"/>
              <a:ext cx="363" cy="0"/>
            </a:xfrm>
            <a:prstGeom prst="line">
              <a:avLst/>
            </a:prstGeom>
            <a:ln w="19050" cap="flat" cmpd="sng">
              <a:solidFill>
                <a:schemeClr val="tx1"/>
              </a:solidFill>
              <a:prstDash val="solid"/>
              <a:round/>
              <a:headEnd type="none" w="med" len="med"/>
              <a:tailEnd type="triangle" w="med" len="med"/>
            </a:ln>
          </p:spPr>
        </p:sp>
        <p:sp>
          <p:nvSpPr>
            <p:cNvPr id="34824" name="直接连接符 108559"/>
            <p:cNvSpPr/>
            <p:nvPr/>
          </p:nvSpPr>
          <p:spPr>
            <a:xfrm>
              <a:off x="1384" y="1615"/>
              <a:ext cx="363" cy="0"/>
            </a:xfrm>
            <a:prstGeom prst="line">
              <a:avLst/>
            </a:prstGeom>
            <a:ln w="19050" cap="flat" cmpd="sng">
              <a:solidFill>
                <a:schemeClr val="tx1"/>
              </a:solidFill>
              <a:prstDash val="solid"/>
              <a:round/>
              <a:headEnd type="none" w="med" len="med"/>
              <a:tailEnd type="triangle" w="med" len="med"/>
            </a:ln>
          </p:spPr>
        </p:sp>
        <p:sp>
          <p:nvSpPr>
            <p:cNvPr id="34825" name="流程图: 延期 108550"/>
            <p:cNvSpPr/>
            <p:nvPr/>
          </p:nvSpPr>
          <p:spPr>
            <a:xfrm>
              <a:off x="1021" y="1434"/>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4826" name="流程图: 延期 108551"/>
            <p:cNvSpPr/>
            <p:nvPr/>
          </p:nvSpPr>
          <p:spPr>
            <a:xfrm>
              <a:off x="1747" y="1434"/>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4827" name="流程图: 延期 108552"/>
            <p:cNvSpPr/>
            <p:nvPr/>
          </p:nvSpPr>
          <p:spPr>
            <a:xfrm>
              <a:off x="4151" y="1434"/>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4828" name="流程图: 延期 108553"/>
            <p:cNvSpPr/>
            <p:nvPr/>
          </p:nvSpPr>
          <p:spPr>
            <a:xfrm>
              <a:off x="2971" y="1434"/>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4829" name="椭圆 108554"/>
            <p:cNvSpPr/>
            <p:nvPr/>
          </p:nvSpPr>
          <p:spPr>
            <a:xfrm>
              <a:off x="2427" y="1434"/>
              <a:ext cx="272" cy="31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4830" name="文本框 108555"/>
            <p:cNvSpPr txBox="1"/>
            <p:nvPr/>
          </p:nvSpPr>
          <p:spPr>
            <a:xfrm>
              <a:off x="2427" y="1367"/>
              <a:ext cx="272" cy="408"/>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34831" name="椭圆 108556"/>
            <p:cNvSpPr/>
            <p:nvPr/>
          </p:nvSpPr>
          <p:spPr>
            <a:xfrm>
              <a:off x="4831" y="1434"/>
              <a:ext cx="272" cy="31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4832" name="文本框 108557"/>
            <p:cNvSpPr txBox="1"/>
            <p:nvPr/>
          </p:nvSpPr>
          <p:spPr>
            <a:xfrm>
              <a:off x="4831" y="1367"/>
              <a:ext cx="272" cy="408"/>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34833" name="直接连接符 108558"/>
            <p:cNvSpPr/>
            <p:nvPr/>
          </p:nvSpPr>
          <p:spPr>
            <a:xfrm>
              <a:off x="5103" y="1616"/>
              <a:ext cx="363" cy="0"/>
            </a:xfrm>
            <a:prstGeom prst="line">
              <a:avLst/>
            </a:prstGeom>
            <a:ln w="19050" cap="flat" cmpd="sng">
              <a:solidFill>
                <a:schemeClr val="tx1"/>
              </a:solidFill>
              <a:prstDash val="solid"/>
              <a:round/>
              <a:headEnd type="none" w="med" len="med"/>
              <a:tailEnd type="triangle" w="med" len="med"/>
            </a:ln>
          </p:spPr>
        </p:sp>
        <p:sp>
          <p:nvSpPr>
            <p:cNvPr id="34834" name="直接连接符 108564"/>
            <p:cNvSpPr/>
            <p:nvPr/>
          </p:nvSpPr>
          <p:spPr>
            <a:xfrm>
              <a:off x="748" y="1616"/>
              <a:ext cx="272" cy="0"/>
            </a:xfrm>
            <a:prstGeom prst="line">
              <a:avLst/>
            </a:prstGeom>
            <a:ln w="19050" cap="flat" cmpd="sng">
              <a:solidFill>
                <a:schemeClr val="tx1"/>
              </a:solidFill>
              <a:prstDash val="solid"/>
              <a:round/>
              <a:headEnd type="none" w="med" len="med"/>
              <a:tailEnd type="triangle" w="med" len="med"/>
            </a:ln>
          </p:spPr>
        </p:sp>
        <p:sp>
          <p:nvSpPr>
            <p:cNvPr id="34835" name="直接连接符 108566"/>
            <p:cNvSpPr/>
            <p:nvPr/>
          </p:nvSpPr>
          <p:spPr>
            <a:xfrm>
              <a:off x="748" y="981"/>
              <a:ext cx="4219" cy="0"/>
            </a:xfrm>
            <a:prstGeom prst="line">
              <a:avLst/>
            </a:prstGeom>
            <a:ln w="15875" cap="flat" cmpd="sng">
              <a:solidFill>
                <a:schemeClr val="tx1"/>
              </a:solidFill>
              <a:prstDash val="solid"/>
              <a:round/>
              <a:headEnd type="none" w="med" len="med"/>
              <a:tailEnd type="none" w="med" len="med"/>
            </a:ln>
          </p:spPr>
        </p:sp>
        <p:sp>
          <p:nvSpPr>
            <p:cNvPr id="34836" name="直接连接符 108568"/>
            <p:cNvSpPr/>
            <p:nvPr/>
          </p:nvSpPr>
          <p:spPr>
            <a:xfrm>
              <a:off x="2563" y="981"/>
              <a:ext cx="0" cy="453"/>
            </a:xfrm>
            <a:prstGeom prst="line">
              <a:avLst/>
            </a:prstGeom>
            <a:ln w="15875" cap="flat" cmpd="sng">
              <a:solidFill>
                <a:schemeClr val="tx1"/>
              </a:solidFill>
              <a:prstDash val="solid"/>
              <a:round/>
              <a:headEnd type="none" w="med" len="med"/>
              <a:tailEnd type="triangle" w="med" len="med"/>
            </a:ln>
          </p:spPr>
        </p:sp>
        <p:sp>
          <p:nvSpPr>
            <p:cNvPr id="34837" name="直接连接符 108569"/>
            <p:cNvSpPr/>
            <p:nvPr/>
          </p:nvSpPr>
          <p:spPr>
            <a:xfrm>
              <a:off x="3787" y="981"/>
              <a:ext cx="0" cy="453"/>
            </a:xfrm>
            <a:prstGeom prst="line">
              <a:avLst/>
            </a:prstGeom>
            <a:ln w="15875" cap="flat" cmpd="sng">
              <a:solidFill>
                <a:schemeClr val="tx1"/>
              </a:solidFill>
              <a:prstDash val="solid"/>
              <a:round/>
              <a:headEnd type="none" w="med" len="med"/>
              <a:tailEnd type="triangle" w="med" len="med"/>
            </a:ln>
          </p:spPr>
        </p:sp>
        <p:sp>
          <p:nvSpPr>
            <p:cNvPr id="34838" name="直接连接符 108570"/>
            <p:cNvSpPr/>
            <p:nvPr/>
          </p:nvSpPr>
          <p:spPr>
            <a:xfrm>
              <a:off x="4967" y="981"/>
              <a:ext cx="0" cy="453"/>
            </a:xfrm>
            <a:prstGeom prst="line">
              <a:avLst/>
            </a:prstGeom>
            <a:ln w="15875" cap="flat" cmpd="sng">
              <a:solidFill>
                <a:schemeClr val="tx1"/>
              </a:solidFill>
              <a:prstDash val="solid"/>
              <a:round/>
              <a:headEnd type="none" w="med" len="med"/>
              <a:tailEnd type="none" w="med" len="med"/>
            </a:ln>
          </p:spPr>
        </p:sp>
        <p:sp>
          <p:nvSpPr>
            <p:cNvPr id="34839" name="文本框 108571"/>
            <p:cNvSpPr txBox="1"/>
            <p:nvPr/>
          </p:nvSpPr>
          <p:spPr>
            <a:xfrm>
              <a:off x="391" y="1687"/>
              <a:ext cx="680" cy="353"/>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000" b="1" i="1">
                  <a:solidFill>
                    <a:srgbClr val="000000"/>
                  </a:solidFill>
                  <a:latin typeface="Times New Roman" panose="02020603050405020304" pitchFamily="18" charset="0"/>
                  <a:ea typeface="宋体" panose="02010600030101010101" pitchFamily="2" charset="-122"/>
                </a:rPr>
                <a:t>u</a:t>
              </a:r>
              <a:r>
                <a:rPr lang="en-US" altLang="zh-CN" sz="2000" b="1">
                  <a:solidFill>
                    <a:srgbClr val="000000"/>
                  </a:solidFill>
                  <a:latin typeface="Arial" panose="020B0604020202020204" pitchFamily="34" charset="0"/>
                  <a:ea typeface="宋体" panose="02010600030101010101" pitchFamily="2" charset="-122"/>
                </a:rPr>
                <a:t>(</a:t>
              </a:r>
              <a:r>
                <a:rPr lang="en-US" altLang="zh-CN" sz="2000" b="1" i="1">
                  <a:solidFill>
                    <a:srgbClr val="000000"/>
                  </a:solidFill>
                  <a:latin typeface="Times New Roman" panose="02020603050405020304" pitchFamily="18" charset="0"/>
                  <a:ea typeface="宋体" panose="02010600030101010101" pitchFamily="2" charset="-122"/>
                </a:rPr>
                <a:t>x</a:t>
              </a:r>
              <a:r>
                <a:rPr lang="en-US" altLang="zh-CN" sz="2000" b="1">
                  <a:solidFill>
                    <a:srgbClr val="000000"/>
                  </a:solidFill>
                  <a:latin typeface="Arial" panose="020B0604020202020204" pitchFamily="34" charset="0"/>
                  <a:ea typeface="宋体" panose="02010600030101010101" pitchFamily="2" charset="-122"/>
                </a:rPr>
                <a:t>)</a:t>
              </a:r>
              <a:endParaRPr lang="en-US" altLang="zh-CN" sz="2000" b="1" dirty="0">
                <a:solidFill>
                  <a:srgbClr val="000000"/>
                </a:solidFill>
                <a:latin typeface="Arial" panose="020B0604020202020204" pitchFamily="34" charset="0"/>
                <a:ea typeface="宋体" panose="02010600030101010101" pitchFamily="2" charset="-122"/>
              </a:endParaRPr>
            </a:p>
          </p:txBody>
        </p:sp>
        <p:sp>
          <p:nvSpPr>
            <p:cNvPr id="34840" name="文本框 108573"/>
            <p:cNvSpPr txBox="1"/>
            <p:nvPr/>
          </p:nvSpPr>
          <p:spPr>
            <a:xfrm>
              <a:off x="975" y="1434"/>
              <a:ext cx="408" cy="326"/>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b="1" i="1">
                  <a:solidFill>
                    <a:srgbClr val="000000"/>
                  </a:solidFill>
                  <a:latin typeface="Times New Roman" panose="02020603050405020304" pitchFamily="18" charset="0"/>
                  <a:ea typeface="宋体" panose="02010600030101010101" pitchFamily="2" charset="-122"/>
                </a:rPr>
                <a:t>D</a:t>
              </a:r>
              <a:r>
                <a:rPr lang="en-US" altLang="zh-CN" b="1" baseline="-25000">
                  <a:solidFill>
                    <a:srgbClr val="000000"/>
                  </a:solidFill>
                  <a:latin typeface="Times New Roman" panose="02020603050405020304" pitchFamily="18" charset="0"/>
                  <a:ea typeface="宋体" panose="02010600030101010101" pitchFamily="2" charset="-122"/>
                </a:rPr>
                <a:t>0</a:t>
              </a:r>
              <a:endParaRPr lang="en-US" altLang="zh-CN" b="1" baseline="-25000" dirty="0">
                <a:solidFill>
                  <a:srgbClr val="000000"/>
                </a:solidFill>
                <a:latin typeface="Times New Roman" panose="02020603050405020304" pitchFamily="18" charset="0"/>
                <a:ea typeface="宋体" panose="02010600030101010101" pitchFamily="2" charset="-122"/>
              </a:endParaRPr>
            </a:p>
          </p:txBody>
        </p:sp>
        <p:sp>
          <p:nvSpPr>
            <p:cNvPr id="34841" name="文本框 108574"/>
            <p:cNvSpPr txBox="1"/>
            <p:nvPr/>
          </p:nvSpPr>
          <p:spPr>
            <a:xfrm>
              <a:off x="1701" y="1434"/>
              <a:ext cx="408" cy="326"/>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b="1" i="1">
                  <a:solidFill>
                    <a:srgbClr val="000000"/>
                  </a:solidFill>
                  <a:latin typeface="Times New Roman" panose="02020603050405020304" pitchFamily="18" charset="0"/>
                  <a:ea typeface="宋体" panose="02010600030101010101" pitchFamily="2" charset="-122"/>
                </a:rPr>
                <a:t>D</a:t>
              </a:r>
              <a:r>
                <a:rPr lang="en-US" altLang="zh-CN" b="1" baseline="-25000">
                  <a:solidFill>
                    <a:srgbClr val="000000"/>
                  </a:solidFill>
                  <a:latin typeface="Times New Roman" panose="02020603050405020304" pitchFamily="18" charset="0"/>
                  <a:ea typeface="宋体" panose="02010600030101010101" pitchFamily="2" charset="-122"/>
                </a:rPr>
                <a:t>1</a:t>
              </a:r>
              <a:endParaRPr lang="zh-CN" altLang="en-US" b="1" baseline="-25000" dirty="0">
                <a:solidFill>
                  <a:srgbClr val="000000"/>
                </a:solidFill>
                <a:latin typeface="Times New Roman" panose="02020603050405020304" pitchFamily="18" charset="0"/>
                <a:ea typeface="宋体" panose="02010600030101010101" pitchFamily="2" charset="-122"/>
              </a:endParaRPr>
            </a:p>
          </p:txBody>
        </p:sp>
        <p:sp>
          <p:nvSpPr>
            <p:cNvPr id="34842" name="文本框 108575"/>
            <p:cNvSpPr txBox="1"/>
            <p:nvPr/>
          </p:nvSpPr>
          <p:spPr>
            <a:xfrm>
              <a:off x="2971" y="1434"/>
              <a:ext cx="408" cy="326"/>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b="1" i="1">
                  <a:solidFill>
                    <a:srgbClr val="000000"/>
                  </a:solidFill>
                  <a:latin typeface="Times New Roman" panose="02020603050405020304" pitchFamily="18" charset="0"/>
                  <a:ea typeface="宋体" panose="02010600030101010101" pitchFamily="2" charset="-122"/>
                </a:rPr>
                <a:t>D</a:t>
              </a:r>
              <a:r>
                <a:rPr lang="en-US" altLang="zh-CN" b="1" baseline="-25000">
                  <a:solidFill>
                    <a:srgbClr val="000000"/>
                  </a:solidFill>
                  <a:latin typeface="Times New Roman" panose="02020603050405020304" pitchFamily="18" charset="0"/>
                  <a:ea typeface="宋体" panose="02010600030101010101" pitchFamily="2" charset="-122"/>
                </a:rPr>
                <a:t>2</a:t>
              </a:r>
              <a:endParaRPr lang="zh-CN" altLang="en-US" b="1" baseline="-25000" dirty="0">
                <a:solidFill>
                  <a:srgbClr val="000000"/>
                </a:solidFill>
                <a:latin typeface="Times New Roman" panose="02020603050405020304" pitchFamily="18" charset="0"/>
                <a:ea typeface="宋体" panose="02010600030101010101" pitchFamily="2" charset="-122"/>
              </a:endParaRPr>
            </a:p>
          </p:txBody>
        </p:sp>
        <p:sp>
          <p:nvSpPr>
            <p:cNvPr id="34843" name="文本框 108576"/>
            <p:cNvSpPr txBox="1"/>
            <p:nvPr/>
          </p:nvSpPr>
          <p:spPr>
            <a:xfrm>
              <a:off x="4105" y="1434"/>
              <a:ext cx="408" cy="326"/>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b="1" i="1">
                  <a:solidFill>
                    <a:srgbClr val="000000"/>
                  </a:solidFill>
                  <a:latin typeface="Times New Roman" panose="02020603050405020304" pitchFamily="18" charset="0"/>
                  <a:ea typeface="宋体" panose="02010600030101010101" pitchFamily="2" charset="-122"/>
                </a:rPr>
                <a:t>D</a:t>
              </a:r>
              <a:r>
                <a:rPr lang="en-US" altLang="zh-CN" b="1" baseline="-25000">
                  <a:solidFill>
                    <a:srgbClr val="000000"/>
                  </a:solidFill>
                  <a:latin typeface="Times New Roman" panose="02020603050405020304" pitchFamily="18" charset="0"/>
                  <a:ea typeface="宋体" panose="02010600030101010101" pitchFamily="2" charset="-122"/>
                </a:rPr>
                <a:t>3</a:t>
              </a:r>
              <a:endParaRPr lang="zh-CN" altLang="en-US" b="1" baseline="-25000" dirty="0">
                <a:solidFill>
                  <a:srgbClr val="000000"/>
                </a:solidFill>
                <a:latin typeface="Times New Roman" panose="02020603050405020304" pitchFamily="18" charset="0"/>
                <a:ea typeface="宋体" panose="02010600030101010101" pitchFamily="2" charset="-122"/>
              </a:endParaRPr>
            </a:p>
          </p:txBody>
        </p:sp>
        <p:sp>
          <p:nvSpPr>
            <p:cNvPr id="34844" name="椭圆 108582"/>
            <p:cNvSpPr/>
            <p:nvPr/>
          </p:nvSpPr>
          <p:spPr>
            <a:xfrm>
              <a:off x="3652" y="1434"/>
              <a:ext cx="272" cy="31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34845" name="文本框 108583"/>
            <p:cNvSpPr txBox="1"/>
            <p:nvPr/>
          </p:nvSpPr>
          <p:spPr>
            <a:xfrm>
              <a:off x="3652" y="1434"/>
              <a:ext cx="272" cy="408"/>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34846" name="直接连接符 108584"/>
            <p:cNvSpPr/>
            <p:nvPr/>
          </p:nvSpPr>
          <p:spPr>
            <a:xfrm>
              <a:off x="748" y="981"/>
              <a:ext cx="0" cy="635"/>
            </a:xfrm>
            <a:prstGeom prst="line">
              <a:avLst/>
            </a:prstGeom>
            <a:ln w="15875" cap="flat" cmpd="sng">
              <a:solidFill>
                <a:schemeClr val="tx1"/>
              </a:solidFill>
              <a:prstDash val="solid"/>
              <a:round/>
              <a:headEnd type="none" w="med" len="med"/>
              <a:tailEnd type="none" w="med" len="med"/>
            </a:ln>
          </p:spPr>
        </p:sp>
        <p:sp>
          <p:nvSpPr>
            <p:cNvPr id="34848" name="矩形 108586"/>
            <p:cNvSpPr/>
            <p:nvPr/>
          </p:nvSpPr>
          <p:spPr>
            <a:xfrm>
              <a:off x="2270" y="1829"/>
              <a:ext cx="1429" cy="353"/>
            </a:xfrm>
            <a:prstGeom prst="rect">
              <a:avLst/>
            </a:prstGeom>
            <a:noFill/>
            <a:ln w="9525">
              <a:noFill/>
            </a:ln>
          </p:spPr>
          <p:txBody>
            <a:bodyPr wrap="square" anchor="t" anchorCtr="0">
              <a:spAutoFit/>
            </a:bodyPr>
            <a:lstStyle/>
            <a:p>
              <a:pPr algn="ctr" eaLnBrk="0" fontAlgn="base" hangingPunct="0">
                <a:spcBef>
                  <a:spcPct val="0"/>
                </a:spcBef>
                <a:spcAft>
                  <a:spcPct val="0"/>
                </a:spcAft>
              </a:pPr>
              <a:r>
                <a:rPr lang="en-US" altLang="zh-CN" sz="2000" b="1" i="1" err="1">
                  <a:solidFill>
                    <a:srgbClr val="000000"/>
                  </a:solidFill>
                  <a:latin typeface="Times New Roman" panose="02020603050405020304" pitchFamily="18" charset="0"/>
                  <a:ea typeface="宋体" panose="02010600030101010101" pitchFamily="2" charset="-122"/>
                </a:rPr>
                <a:t>g</a:t>
              </a:r>
              <a:r>
                <a:rPr lang="en-US" altLang="zh-CN" sz="2000" b="1" err="1">
                  <a:solidFill>
                    <a:srgbClr val="000000"/>
                  </a:solidFill>
                  <a:latin typeface="Times New Roman" panose="02020603050405020304" pitchFamily="18" charset="0"/>
                  <a:ea typeface="宋体" panose="02010600030101010101" pitchFamily="2" charset="-122"/>
                </a:rPr>
                <a:t>(</a:t>
              </a:r>
              <a:r>
                <a:rPr lang="en-US" altLang="zh-CN" sz="2000" b="1" i="1" err="1">
                  <a:solidFill>
                    <a:srgbClr val="000000"/>
                  </a:solidFill>
                  <a:latin typeface="Times New Roman" panose="02020603050405020304" pitchFamily="18" charset="0"/>
                  <a:ea typeface="宋体" panose="02010600030101010101" pitchFamily="2" charset="-122"/>
                </a:rPr>
                <a:t>x</a:t>
              </a:r>
              <a:r>
                <a:rPr lang="en-US" altLang="zh-CN" sz="2000" b="1">
                  <a:solidFill>
                    <a:srgbClr val="000000"/>
                  </a:solidFill>
                  <a:latin typeface="Times New Roman" panose="02020603050405020304" pitchFamily="18" charset="0"/>
                  <a:ea typeface="宋体" panose="02010600030101010101" pitchFamily="2" charset="-122"/>
                </a:rPr>
                <a:t>)=1+</a:t>
              </a:r>
              <a:r>
                <a:rPr lang="en-US" altLang="zh-CN" sz="2000" b="1" i="1">
                  <a:solidFill>
                    <a:srgbClr val="000000"/>
                  </a:solidFill>
                  <a:latin typeface="Times New Roman" panose="02020603050405020304" pitchFamily="18" charset="0"/>
                  <a:ea typeface="宋体" panose="02010600030101010101" pitchFamily="2" charset="-122"/>
                </a:rPr>
                <a:t>x</a:t>
              </a:r>
              <a:r>
                <a:rPr lang="en-US" altLang="zh-CN" sz="2000" b="1" baseline="30000">
                  <a:solidFill>
                    <a:srgbClr val="000000"/>
                  </a:solidFill>
                  <a:latin typeface="Times New Roman" panose="02020603050405020304" pitchFamily="18" charset="0"/>
                  <a:ea typeface="宋体" panose="02010600030101010101" pitchFamily="2" charset="-122"/>
                </a:rPr>
                <a:t>2</a:t>
              </a:r>
              <a:r>
                <a:rPr lang="en-US" altLang="zh-CN" sz="2000" b="1">
                  <a:solidFill>
                    <a:srgbClr val="000000"/>
                  </a:solidFill>
                  <a:latin typeface="Times New Roman" panose="02020603050405020304" pitchFamily="18" charset="0"/>
                  <a:ea typeface="宋体" panose="02010600030101010101" pitchFamily="2" charset="-122"/>
                </a:rPr>
                <a:t>+</a:t>
              </a:r>
              <a:r>
                <a:rPr lang="en-US" altLang="zh-CN" sz="2000" b="1" i="1">
                  <a:solidFill>
                    <a:srgbClr val="000000"/>
                  </a:solidFill>
                  <a:latin typeface="Times New Roman" panose="02020603050405020304" pitchFamily="18" charset="0"/>
                  <a:ea typeface="宋体" panose="02010600030101010101" pitchFamily="2" charset="-122"/>
                </a:rPr>
                <a:t>x</a:t>
              </a:r>
              <a:r>
                <a:rPr lang="en-US" altLang="zh-CN" sz="2000" b="1" baseline="30000">
                  <a:solidFill>
                    <a:srgbClr val="000000"/>
                  </a:solidFill>
                  <a:latin typeface="Times New Roman" panose="02020603050405020304" pitchFamily="18" charset="0"/>
                  <a:ea typeface="宋体" panose="02010600030101010101" pitchFamily="2" charset="-122"/>
                </a:rPr>
                <a:t>3</a:t>
              </a:r>
              <a:r>
                <a:rPr lang="en-US" altLang="zh-CN" sz="2000" b="1">
                  <a:solidFill>
                    <a:srgbClr val="000000"/>
                  </a:solidFill>
                  <a:latin typeface="Times New Roman" panose="02020603050405020304" pitchFamily="18" charset="0"/>
                  <a:ea typeface="宋体" panose="02010600030101010101" pitchFamily="2" charset="-122"/>
                </a:rPr>
                <a:t>+</a:t>
              </a:r>
              <a:r>
                <a:rPr lang="en-US" altLang="zh-CN" sz="2000" b="1" i="1">
                  <a:solidFill>
                    <a:srgbClr val="000000"/>
                  </a:solidFill>
                  <a:latin typeface="Times New Roman" panose="02020603050405020304" pitchFamily="18" charset="0"/>
                  <a:ea typeface="宋体" panose="02010600030101010101" pitchFamily="2" charset="-122"/>
                </a:rPr>
                <a:t>x</a:t>
              </a:r>
              <a:r>
                <a:rPr lang="en-US" altLang="zh-CN" sz="2000" b="1" baseline="30000">
                  <a:solidFill>
                    <a:srgbClr val="000000"/>
                  </a:solidFill>
                  <a:latin typeface="Times New Roman" panose="02020603050405020304" pitchFamily="18" charset="0"/>
                  <a:ea typeface="宋体" panose="02010600030101010101" pitchFamily="2" charset="-122"/>
                </a:rPr>
                <a:t>4</a:t>
              </a:r>
              <a:endParaRPr lang="en-US" altLang="zh-CN" sz="2000" b="1" baseline="30000" dirty="0">
                <a:solidFill>
                  <a:srgbClr val="000000"/>
                </a:solidFill>
                <a:latin typeface="Times New Roman" panose="02020603050405020304" pitchFamily="18" charset="0"/>
                <a:ea typeface="宋体" panose="02010600030101010101" pitchFamily="2" charset="-122"/>
              </a:endParaRPr>
            </a:p>
          </p:txBody>
        </p:sp>
      </p:grpSp>
      <p:grpSp>
        <p:nvGrpSpPr>
          <p:cNvPr id="60458" name="组合 60457"/>
          <p:cNvGrpSpPr/>
          <p:nvPr/>
        </p:nvGrpSpPr>
        <p:grpSpPr>
          <a:xfrm>
            <a:off x="3276600" y="2513330"/>
            <a:ext cx="5886450" cy="3913188"/>
            <a:chOff x="1104" y="1488"/>
            <a:chExt cx="3708" cy="2465"/>
          </a:xfrm>
        </p:grpSpPr>
        <p:graphicFrame>
          <p:nvGraphicFramePr>
            <p:cNvPr id="60459" name="对象 60458"/>
            <p:cNvGraphicFramePr/>
            <p:nvPr/>
          </p:nvGraphicFramePr>
          <p:xfrm>
            <a:off x="2688" y="1488"/>
            <a:ext cx="955" cy="208"/>
          </p:xfrm>
          <a:graphic>
            <a:graphicData uri="http://schemas.openxmlformats.org/presentationml/2006/ole">
              <mc:AlternateContent xmlns:mc="http://schemas.openxmlformats.org/markup-compatibility/2006">
                <mc:Choice xmlns:v="urn:schemas-microsoft-com:vml" Requires="v">
                  <p:oleObj r:id="rId4" imgW="1040765" imgH="228600" progId="Equation.3">
                    <p:embed/>
                  </p:oleObj>
                </mc:Choice>
                <mc:Fallback>
                  <p:oleObj r:id="rId4" imgW="1040765" imgH="228600" progId="Equation.3">
                    <p:embed/>
                    <p:pic>
                      <p:nvPicPr>
                        <p:cNvPr id="60459" name="对象 60458"/>
                        <p:cNvPicPr/>
                        <p:nvPr/>
                      </p:nvPicPr>
                      <p:blipFill>
                        <a:blip r:embed="rId5"/>
                        <a:stretch>
                          <a:fillRect/>
                        </a:stretch>
                      </p:blipFill>
                      <p:spPr>
                        <a:xfrm>
                          <a:off x="2688" y="1488"/>
                          <a:ext cx="955" cy="208"/>
                        </a:xfrm>
                        <a:prstGeom prst="rect">
                          <a:avLst/>
                        </a:prstGeom>
                        <a:noFill/>
                        <a:ln w="38100">
                          <a:noFill/>
                          <a:miter/>
                        </a:ln>
                      </p:spPr>
                    </p:pic>
                  </p:oleObj>
                </mc:Fallback>
              </mc:AlternateContent>
            </a:graphicData>
          </a:graphic>
        </p:graphicFrame>
        <p:graphicFrame>
          <p:nvGraphicFramePr>
            <p:cNvPr id="60460" name="对象 60459"/>
            <p:cNvGraphicFramePr/>
            <p:nvPr/>
          </p:nvGraphicFramePr>
          <p:xfrm>
            <a:off x="2688" y="1728"/>
            <a:ext cx="960" cy="191"/>
          </p:xfrm>
          <a:graphic>
            <a:graphicData uri="http://schemas.openxmlformats.org/presentationml/2006/ole">
              <mc:AlternateContent xmlns:mc="http://schemas.openxmlformats.org/markup-compatibility/2006">
                <mc:Choice xmlns:v="urn:schemas-microsoft-com:vml" Requires="v">
                  <p:oleObj r:id="rId6" imgW="1143000" imgH="228600" progId="Equation.3">
                    <p:embed/>
                  </p:oleObj>
                </mc:Choice>
                <mc:Fallback>
                  <p:oleObj r:id="rId6" imgW="1143000" imgH="228600" progId="Equation.3">
                    <p:embed/>
                    <p:pic>
                      <p:nvPicPr>
                        <p:cNvPr id="60460" name="对象 60459"/>
                        <p:cNvPicPr/>
                        <p:nvPr/>
                      </p:nvPicPr>
                      <p:blipFill>
                        <a:blip r:embed="rId7"/>
                        <a:stretch>
                          <a:fillRect/>
                        </a:stretch>
                      </p:blipFill>
                      <p:spPr>
                        <a:xfrm>
                          <a:off x="2688" y="1728"/>
                          <a:ext cx="960" cy="191"/>
                        </a:xfrm>
                        <a:prstGeom prst="rect">
                          <a:avLst/>
                        </a:prstGeom>
                        <a:noFill/>
                        <a:ln w="38100">
                          <a:noFill/>
                          <a:miter/>
                        </a:ln>
                      </p:spPr>
                    </p:pic>
                  </p:oleObj>
                </mc:Fallback>
              </mc:AlternateContent>
            </a:graphicData>
          </a:graphic>
        </p:graphicFrame>
        <p:graphicFrame>
          <p:nvGraphicFramePr>
            <p:cNvPr id="60461" name="对象 60460"/>
            <p:cNvGraphicFramePr/>
            <p:nvPr/>
          </p:nvGraphicFramePr>
          <p:xfrm>
            <a:off x="1104" y="1728"/>
            <a:ext cx="875" cy="181"/>
          </p:xfrm>
          <a:graphic>
            <a:graphicData uri="http://schemas.openxmlformats.org/presentationml/2006/ole">
              <mc:AlternateContent xmlns:mc="http://schemas.openxmlformats.org/markup-compatibility/2006">
                <mc:Choice xmlns:v="urn:schemas-microsoft-com:vml" Requires="v">
                  <p:oleObj r:id="rId8" imgW="1040130" imgH="215900" progId="Equation.3">
                    <p:embed/>
                  </p:oleObj>
                </mc:Choice>
                <mc:Fallback>
                  <p:oleObj r:id="rId8" imgW="1040130" imgH="215900" progId="Equation.3">
                    <p:embed/>
                    <p:pic>
                      <p:nvPicPr>
                        <p:cNvPr id="60461" name="对象 60460"/>
                        <p:cNvPicPr/>
                        <p:nvPr/>
                      </p:nvPicPr>
                      <p:blipFill>
                        <a:blip r:embed="rId9"/>
                        <a:stretch>
                          <a:fillRect/>
                        </a:stretch>
                      </p:blipFill>
                      <p:spPr>
                        <a:xfrm>
                          <a:off x="1104" y="1728"/>
                          <a:ext cx="875" cy="181"/>
                        </a:xfrm>
                        <a:prstGeom prst="rect">
                          <a:avLst/>
                        </a:prstGeom>
                        <a:noFill/>
                        <a:ln w="38100">
                          <a:noFill/>
                          <a:miter/>
                        </a:ln>
                      </p:spPr>
                    </p:pic>
                  </p:oleObj>
                </mc:Fallback>
              </mc:AlternateContent>
            </a:graphicData>
          </a:graphic>
        </p:graphicFrame>
        <p:graphicFrame>
          <p:nvGraphicFramePr>
            <p:cNvPr id="60462" name="对象 60461"/>
            <p:cNvGraphicFramePr/>
            <p:nvPr/>
          </p:nvGraphicFramePr>
          <p:xfrm>
            <a:off x="3984" y="1728"/>
            <a:ext cx="374" cy="149"/>
          </p:xfrm>
          <a:graphic>
            <a:graphicData uri="http://schemas.openxmlformats.org/presentationml/2006/ole">
              <mc:AlternateContent xmlns:mc="http://schemas.openxmlformats.org/markup-compatibility/2006">
                <mc:Choice xmlns:v="urn:schemas-microsoft-com:vml" Requires="v">
                  <p:oleObj r:id="rId10" imgW="443865" imgH="177800" progId="Equation.3">
                    <p:embed/>
                  </p:oleObj>
                </mc:Choice>
                <mc:Fallback>
                  <p:oleObj r:id="rId10" imgW="443865" imgH="177800" progId="Equation.3">
                    <p:embed/>
                    <p:pic>
                      <p:nvPicPr>
                        <p:cNvPr id="60462" name="对象 60461"/>
                        <p:cNvPicPr/>
                        <p:nvPr/>
                      </p:nvPicPr>
                      <p:blipFill>
                        <a:blip r:embed="rId11"/>
                        <a:stretch>
                          <a:fillRect/>
                        </a:stretch>
                      </p:blipFill>
                      <p:spPr>
                        <a:xfrm>
                          <a:off x="3984" y="1728"/>
                          <a:ext cx="374" cy="149"/>
                        </a:xfrm>
                        <a:prstGeom prst="rect">
                          <a:avLst/>
                        </a:prstGeom>
                        <a:noFill/>
                        <a:ln w="38100">
                          <a:noFill/>
                          <a:miter/>
                        </a:ln>
                      </p:spPr>
                    </p:pic>
                  </p:oleObj>
                </mc:Fallback>
              </mc:AlternateContent>
            </a:graphicData>
          </a:graphic>
        </p:graphicFrame>
        <p:graphicFrame>
          <p:nvGraphicFramePr>
            <p:cNvPr id="60463" name="对象 60462"/>
            <p:cNvGraphicFramePr/>
            <p:nvPr/>
          </p:nvGraphicFramePr>
          <p:xfrm>
            <a:off x="1200" y="1968"/>
            <a:ext cx="641" cy="181"/>
          </p:xfrm>
          <a:graphic>
            <a:graphicData uri="http://schemas.openxmlformats.org/presentationml/2006/ole">
              <mc:AlternateContent xmlns:mc="http://schemas.openxmlformats.org/markup-compatibility/2006">
                <mc:Choice xmlns:v="urn:schemas-microsoft-com:vml" Requires="v">
                  <p:oleObj r:id="rId12" imgW="760730" imgH="215900" progId="Equation.3">
                    <p:embed/>
                  </p:oleObj>
                </mc:Choice>
                <mc:Fallback>
                  <p:oleObj r:id="rId12" imgW="760730" imgH="215900" progId="Equation.3">
                    <p:embed/>
                    <p:pic>
                      <p:nvPicPr>
                        <p:cNvPr id="60463" name="对象 60462"/>
                        <p:cNvPicPr/>
                        <p:nvPr/>
                      </p:nvPicPr>
                      <p:blipFill>
                        <a:blip r:embed="rId13"/>
                        <a:stretch>
                          <a:fillRect/>
                        </a:stretch>
                      </p:blipFill>
                      <p:spPr>
                        <a:xfrm>
                          <a:off x="1200" y="1968"/>
                          <a:ext cx="641" cy="181"/>
                        </a:xfrm>
                        <a:prstGeom prst="rect">
                          <a:avLst/>
                        </a:prstGeom>
                        <a:noFill/>
                        <a:ln w="38100">
                          <a:noFill/>
                          <a:miter/>
                        </a:ln>
                      </p:spPr>
                    </p:pic>
                  </p:oleObj>
                </mc:Fallback>
              </mc:AlternateContent>
            </a:graphicData>
          </a:graphic>
        </p:graphicFrame>
        <p:graphicFrame>
          <p:nvGraphicFramePr>
            <p:cNvPr id="60464" name="对象 60463"/>
            <p:cNvGraphicFramePr/>
            <p:nvPr/>
          </p:nvGraphicFramePr>
          <p:xfrm>
            <a:off x="1200" y="2160"/>
            <a:ext cx="672" cy="191"/>
          </p:xfrm>
          <a:graphic>
            <a:graphicData uri="http://schemas.openxmlformats.org/presentationml/2006/ole">
              <mc:AlternateContent xmlns:mc="http://schemas.openxmlformats.org/markup-compatibility/2006">
                <mc:Choice xmlns:v="urn:schemas-microsoft-com:vml" Requires="v">
                  <p:oleObj r:id="rId14" imgW="571500" imgH="228600" progId="Equation.3">
                    <p:embed/>
                  </p:oleObj>
                </mc:Choice>
                <mc:Fallback>
                  <p:oleObj r:id="rId14" imgW="571500" imgH="228600" progId="Equation.3">
                    <p:embed/>
                    <p:pic>
                      <p:nvPicPr>
                        <p:cNvPr id="60464" name="对象 60463"/>
                        <p:cNvPicPr/>
                        <p:nvPr/>
                      </p:nvPicPr>
                      <p:blipFill>
                        <a:blip r:embed="rId15"/>
                        <a:stretch>
                          <a:fillRect/>
                        </a:stretch>
                      </p:blipFill>
                      <p:spPr>
                        <a:xfrm>
                          <a:off x="1200" y="2160"/>
                          <a:ext cx="672" cy="191"/>
                        </a:xfrm>
                        <a:prstGeom prst="rect">
                          <a:avLst/>
                        </a:prstGeom>
                        <a:noFill/>
                        <a:ln w="38100">
                          <a:noFill/>
                          <a:miter/>
                        </a:ln>
                      </p:spPr>
                    </p:pic>
                  </p:oleObj>
                </mc:Fallback>
              </mc:AlternateContent>
            </a:graphicData>
          </a:graphic>
        </p:graphicFrame>
        <p:graphicFrame>
          <p:nvGraphicFramePr>
            <p:cNvPr id="60465" name="对象 60464"/>
            <p:cNvGraphicFramePr/>
            <p:nvPr/>
          </p:nvGraphicFramePr>
          <p:xfrm>
            <a:off x="1200" y="2352"/>
            <a:ext cx="672" cy="191"/>
          </p:xfrm>
          <a:graphic>
            <a:graphicData uri="http://schemas.openxmlformats.org/presentationml/2006/ole">
              <mc:AlternateContent xmlns:mc="http://schemas.openxmlformats.org/markup-compatibility/2006">
                <mc:Choice xmlns:v="urn:schemas-microsoft-com:vml" Requires="v">
                  <p:oleObj r:id="rId16" imgW="622300" imgH="228600" progId="Equation.3">
                    <p:embed/>
                  </p:oleObj>
                </mc:Choice>
                <mc:Fallback>
                  <p:oleObj r:id="rId16" imgW="622300" imgH="228600" progId="Equation.3">
                    <p:embed/>
                    <p:pic>
                      <p:nvPicPr>
                        <p:cNvPr id="60465" name="对象 60464"/>
                        <p:cNvPicPr/>
                        <p:nvPr/>
                      </p:nvPicPr>
                      <p:blipFill>
                        <a:blip r:embed="rId17"/>
                        <a:stretch>
                          <a:fillRect/>
                        </a:stretch>
                      </p:blipFill>
                      <p:spPr>
                        <a:xfrm>
                          <a:off x="1200" y="2352"/>
                          <a:ext cx="672" cy="191"/>
                        </a:xfrm>
                        <a:prstGeom prst="rect">
                          <a:avLst/>
                        </a:prstGeom>
                        <a:noFill/>
                        <a:ln w="38100">
                          <a:noFill/>
                          <a:miter/>
                        </a:ln>
                      </p:spPr>
                    </p:pic>
                  </p:oleObj>
                </mc:Fallback>
              </mc:AlternateContent>
            </a:graphicData>
          </a:graphic>
        </p:graphicFrame>
        <p:graphicFrame>
          <p:nvGraphicFramePr>
            <p:cNvPr id="60466" name="对象 60465"/>
            <p:cNvGraphicFramePr/>
            <p:nvPr/>
          </p:nvGraphicFramePr>
          <p:xfrm>
            <a:off x="1200" y="2544"/>
            <a:ext cx="672" cy="191"/>
          </p:xfrm>
          <a:graphic>
            <a:graphicData uri="http://schemas.openxmlformats.org/presentationml/2006/ole">
              <mc:AlternateContent xmlns:mc="http://schemas.openxmlformats.org/markup-compatibility/2006">
                <mc:Choice xmlns:v="urn:schemas-microsoft-com:vml" Requires="v">
                  <p:oleObj r:id="rId18" imgW="596900" imgH="228600" progId="Equation.3">
                    <p:embed/>
                  </p:oleObj>
                </mc:Choice>
                <mc:Fallback>
                  <p:oleObj r:id="rId18" imgW="596900" imgH="228600" progId="Equation.3">
                    <p:embed/>
                    <p:pic>
                      <p:nvPicPr>
                        <p:cNvPr id="60466" name="对象 60465"/>
                        <p:cNvPicPr/>
                        <p:nvPr/>
                      </p:nvPicPr>
                      <p:blipFill>
                        <a:blip r:embed="rId19"/>
                        <a:stretch>
                          <a:fillRect/>
                        </a:stretch>
                      </p:blipFill>
                      <p:spPr>
                        <a:xfrm>
                          <a:off x="1200" y="2544"/>
                          <a:ext cx="672" cy="191"/>
                        </a:xfrm>
                        <a:prstGeom prst="rect">
                          <a:avLst/>
                        </a:prstGeom>
                        <a:noFill/>
                        <a:ln w="38100">
                          <a:noFill/>
                          <a:miter/>
                        </a:ln>
                      </p:spPr>
                    </p:pic>
                  </p:oleObj>
                </mc:Fallback>
              </mc:AlternateContent>
            </a:graphicData>
          </a:graphic>
        </p:graphicFrame>
        <p:graphicFrame>
          <p:nvGraphicFramePr>
            <p:cNvPr id="60467" name="对象 60466"/>
            <p:cNvGraphicFramePr/>
            <p:nvPr/>
          </p:nvGraphicFramePr>
          <p:xfrm>
            <a:off x="1200" y="2736"/>
            <a:ext cx="672" cy="191"/>
          </p:xfrm>
          <a:graphic>
            <a:graphicData uri="http://schemas.openxmlformats.org/presentationml/2006/ole">
              <mc:AlternateContent xmlns:mc="http://schemas.openxmlformats.org/markup-compatibility/2006">
                <mc:Choice xmlns:v="urn:schemas-microsoft-com:vml" Requires="v">
                  <p:oleObj r:id="rId20" imgW="622300" imgH="228600" progId="Equation.3">
                    <p:embed/>
                  </p:oleObj>
                </mc:Choice>
                <mc:Fallback>
                  <p:oleObj r:id="rId20" imgW="622300" imgH="228600" progId="Equation.3">
                    <p:embed/>
                    <p:pic>
                      <p:nvPicPr>
                        <p:cNvPr id="60467" name="对象 60466"/>
                        <p:cNvPicPr/>
                        <p:nvPr/>
                      </p:nvPicPr>
                      <p:blipFill>
                        <a:blip r:embed="rId21"/>
                        <a:stretch>
                          <a:fillRect/>
                        </a:stretch>
                      </p:blipFill>
                      <p:spPr>
                        <a:xfrm>
                          <a:off x="1200" y="2736"/>
                          <a:ext cx="672" cy="191"/>
                        </a:xfrm>
                        <a:prstGeom prst="rect">
                          <a:avLst/>
                        </a:prstGeom>
                        <a:noFill/>
                        <a:ln w="38100">
                          <a:noFill/>
                          <a:miter/>
                        </a:ln>
                      </p:spPr>
                    </p:pic>
                  </p:oleObj>
                </mc:Fallback>
              </mc:AlternateContent>
            </a:graphicData>
          </a:graphic>
        </p:graphicFrame>
        <p:graphicFrame>
          <p:nvGraphicFramePr>
            <p:cNvPr id="60468" name="对象 60467"/>
            <p:cNvGraphicFramePr/>
            <p:nvPr/>
          </p:nvGraphicFramePr>
          <p:xfrm>
            <a:off x="1200" y="2928"/>
            <a:ext cx="672" cy="191"/>
          </p:xfrm>
          <a:graphic>
            <a:graphicData uri="http://schemas.openxmlformats.org/presentationml/2006/ole">
              <mc:AlternateContent xmlns:mc="http://schemas.openxmlformats.org/markup-compatibility/2006">
                <mc:Choice xmlns:v="urn:schemas-microsoft-com:vml" Requires="v">
                  <p:oleObj r:id="rId22" imgW="622300" imgH="228600" progId="Equation.3">
                    <p:embed/>
                  </p:oleObj>
                </mc:Choice>
                <mc:Fallback>
                  <p:oleObj r:id="rId22" imgW="622300" imgH="228600" progId="Equation.3">
                    <p:embed/>
                    <p:pic>
                      <p:nvPicPr>
                        <p:cNvPr id="60468" name="对象 60467"/>
                        <p:cNvPicPr/>
                        <p:nvPr/>
                      </p:nvPicPr>
                      <p:blipFill>
                        <a:blip r:embed="rId23"/>
                        <a:stretch>
                          <a:fillRect/>
                        </a:stretch>
                      </p:blipFill>
                      <p:spPr>
                        <a:xfrm>
                          <a:off x="1200" y="2928"/>
                          <a:ext cx="672" cy="191"/>
                        </a:xfrm>
                        <a:prstGeom prst="rect">
                          <a:avLst/>
                        </a:prstGeom>
                        <a:noFill/>
                        <a:ln w="38100">
                          <a:noFill/>
                          <a:miter/>
                        </a:ln>
                      </p:spPr>
                    </p:pic>
                  </p:oleObj>
                </mc:Fallback>
              </mc:AlternateContent>
            </a:graphicData>
          </a:graphic>
        </p:graphicFrame>
        <p:graphicFrame>
          <p:nvGraphicFramePr>
            <p:cNvPr id="60469" name="对象 60468"/>
            <p:cNvGraphicFramePr/>
            <p:nvPr/>
          </p:nvGraphicFramePr>
          <p:xfrm>
            <a:off x="1200" y="3120"/>
            <a:ext cx="672" cy="191"/>
          </p:xfrm>
          <a:graphic>
            <a:graphicData uri="http://schemas.openxmlformats.org/presentationml/2006/ole">
              <mc:AlternateContent xmlns:mc="http://schemas.openxmlformats.org/markup-compatibility/2006">
                <mc:Choice xmlns:v="urn:schemas-microsoft-com:vml" Requires="v">
                  <p:oleObj r:id="rId24" imgW="609600" imgH="228600" progId="Equation.3">
                    <p:embed/>
                  </p:oleObj>
                </mc:Choice>
                <mc:Fallback>
                  <p:oleObj r:id="rId24" imgW="609600" imgH="228600" progId="Equation.3">
                    <p:embed/>
                    <p:pic>
                      <p:nvPicPr>
                        <p:cNvPr id="60469" name="对象 60468"/>
                        <p:cNvPicPr/>
                        <p:nvPr/>
                      </p:nvPicPr>
                      <p:blipFill>
                        <a:blip r:embed="rId25"/>
                        <a:stretch>
                          <a:fillRect/>
                        </a:stretch>
                      </p:blipFill>
                      <p:spPr>
                        <a:xfrm>
                          <a:off x="1200" y="3120"/>
                          <a:ext cx="672" cy="191"/>
                        </a:xfrm>
                        <a:prstGeom prst="rect">
                          <a:avLst/>
                        </a:prstGeom>
                        <a:noFill/>
                        <a:ln w="38100">
                          <a:noFill/>
                          <a:miter/>
                        </a:ln>
                      </p:spPr>
                    </p:pic>
                  </p:oleObj>
                </mc:Fallback>
              </mc:AlternateContent>
            </a:graphicData>
          </a:graphic>
        </p:graphicFrame>
        <p:graphicFrame>
          <p:nvGraphicFramePr>
            <p:cNvPr id="60470" name="对象 60469"/>
            <p:cNvGraphicFramePr/>
            <p:nvPr/>
          </p:nvGraphicFramePr>
          <p:xfrm>
            <a:off x="1200" y="3312"/>
            <a:ext cx="672" cy="191"/>
          </p:xfrm>
          <a:graphic>
            <a:graphicData uri="http://schemas.openxmlformats.org/presentationml/2006/ole">
              <mc:AlternateContent xmlns:mc="http://schemas.openxmlformats.org/markup-compatibility/2006">
                <mc:Choice xmlns:v="urn:schemas-microsoft-com:vml" Requires="v">
                  <p:oleObj r:id="rId26" imgW="622300" imgH="228600" progId="Equation.3">
                    <p:embed/>
                  </p:oleObj>
                </mc:Choice>
                <mc:Fallback>
                  <p:oleObj r:id="rId26" imgW="622300" imgH="228600" progId="Equation.3">
                    <p:embed/>
                    <p:pic>
                      <p:nvPicPr>
                        <p:cNvPr id="60470" name="对象 60469"/>
                        <p:cNvPicPr/>
                        <p:nvPr/>
                      </p:nvPicPr>
                      <p:blipFill>
                        <a:blip r:embed="rId27"/>
                        <a:stretch>
                          <a:fillRect/>
                        </a:stretch>
                      </p:blipFill>
                      <p:spPr>
                        <a:xfrm>
                          <a:off x="1200" y="3312"/>
                          <a:ext cx="672" cy="191"/>
                        </a:xfrm>
                        <a:prstGeom prst="rect">
                          <a:avLst/>
                        </a:prstGeom>
                        <a:noFill/>
                        <a:ln w="38100">
                          <a:noFill/>
                          <a:miter/>
                        </a:ln>
                      </p:spPr>
                    </p:pic>
                  </p:oleObj>
                </mc:Fallback>
              </mc:AlternateContent>
            </a:graphicData>
          </a:graphic>
        </p:graphicFrame>
        <p:graphicFrame>
          <p:nvGraphicFramePr>
            <p:cNvPr id="60471" name="对象 60470"/>
            <p:cNvGraphicFramePr/>
            <p:nvPr/>
          </p:nvGraphicFramePr>
          <p:xfrm>
            <a:off x="2688" y="1968"/>
            <a:ext cx="1008" cy="181"/>
          </p:xfrm>
          <a:graphic>
            <a:graphicData uri="http://schemas.openxmlformats.org/presentationml/2006/ole">
              <mc:AlternateContent xmlns:mc="http://schemas.openxmlformats.org/markup-compatibility/2006">
                <mc:Choice xmlns:v="urn:schemas-microsoft-com:vml" Requires="v">
                  <p:oleObj r:id="rId28" imgW="773430" imgH="215900" progId="Equation.3">
                    <p:embed/>
                  </p:oleObj>
                </mc:Choice>
                <mc:Fallback>
                  <p:oleObj r:id="rId28" imgW="773430" imgH="215900" progId="Equation.3">
                    <p:embed/>
                    <p:pic>
                      <p:nvPicPr>
                        <p:cNvPr id="60471" name="对象 60470"/>
                        <p:cNvPicPr/>
                        <p:nvPr/>
                      </p:nvPicPr>
                      <p:blipFill>
                        <a:blip r:embed="rId29"/>
                        <a:stretch>
                          <a:fillRect/>
                        </a:stretch>
                      </p:blipFill>
                      <p:spPr>
                        <a:xfrm>
                          <a:off x="2688" y="1968"/>
                          <a:ext cx="1008" cy="181"/>
                        </a:xfrm>
                        <a:prstGeom prst="rect">
                          <a:avLst/>
                        </a:prstGeom>
                        <a:noFill/>
                        <a:ln w="38100">
                          <a:noFill/>
                          <a:miter/>
                        </a:ln>
                      </p:spPr>
                    </p:pic>
                  </p:oleObj>
                </mc:Fallback>
              </mc:AlternateContent>
            </a:graphicData>
          </a:graphic>
        </p:graphicFrame>
        <p:graphicFrame>
          <p:nvGraphicFramePr>
            <p:cNvPr id="60472" name="对象 60471"/>
            <p:cNvGraphicFramePr/>
            <p:nvPr/>
          </p:nvGraphicFramePr>
          <p:xfrm>
            <a:off x="2688" y="2160"/>
            <a:ext cx="1008" cy="181"/>
          </p:xfrm>
          <a:graphic>
            <a:graphicData uri="http://schemas.openxmlformats.org/presentationml/2006/ole">
              <mc:AlternateContent xmlns:mc="http://schemas.openxmlformats.org/markup-compatibility/2006">
                <mc:Choice xmlns:v="urn:schemas-microsoft-com:vml" Requires="v">
                  <p:oleObj r:id="rId30" imgW="748030" imgH="215900" progId="Equation.3">
                    <p:embed/>
                  </p:oleObj>
                </mc:Choice>
                <mc:Fallback>
                  <p:oleObj r:id="rId30" imgW="748030" imgH="215900" progId="Equation.3">
                    <p:embed/>
                    <p:pic>
                      <p:nvPicPr>
                        <p:cNvPr id="60472" name="对象 60471"/>
                        <p:cNvPicPr/>
                        <p:nvPr/>
                      </p:nvPicPr>
                      <p:blipFill>
                        <a:blip r:embed="rId31"/>
                        <a:stretch>
                          <a:fillRect/>
                        </a:stretch>
                      </p:blipFill>
                      <p:spPr>
                        <a:xfrm>
                          <a:off x="2688" y="2160"/>
                          <a:ext cx="1008" cy="181"/>
                        </a:xfrm>
                        <a:prstGeom prst="rect">
                          <a:avLst/>
                        </a:prstGeom>
                        <a:noFill/>
                        <a:ln w="38100">
                          <a:noFill/>
                          <a:miter/>
                        </a:ln>
                      </p:spPr>
                    </p:pic>
                  </p:oleObj>
                </mc:Fallback>
              </mc:AlternateContent>
            </a:graphicData>
          </a:graphic>
        </p:graphicFrame>
        <p:graphicFrame>
          <p:nvGraphicFramePr>
            <p:cNvPr id="60473" name="对象 60472"/>
            <p:cNvGraphicFramePr/>
            <p:nvPr/>
          </p:nvGraphicFramePr>
          <p:xfrm>
            <a:off x="2688" y="2352"/>
            <a:ext cx="1008" cy="181"/>
          </p:xfrm>
          <a:graphic>
            <a:graphicData uri="http://schemas.openxmlformats.org/presentationml/2006/ole">
              <mc:AlternateContent xmlns:mc="http://schemas.openxmlformats.org/markup-compatibility/2006">
                <mc:Choice xmlns:v="urn:schemas-microsoft-com:vml" Requires="v">
                  <p:oleObj r:id="rId32" imgW="748030" imgH="215900" progId="Equation.3">
                    <p:embed/>
                  </p:oleObj>
                </mc:Choice>
                <mc:Fallback>
                  <p:oleObj r:id="rId32" imgW="748030" imgH="215900" progId="Equation.3">
                    <p:embed/>
                    <p:pic>
                      <p:nvPicPr>
                        <p:cNvPr id="60473" name="对象 60472"/>
                        <p:cNvPicPr/>
                        <p:nvPr/>
                      </p:nvPicPr>
                      <p:blipFill>
                        <a:blip r:embed="rId33"/>
                        <a:stretch>
                          <a:fillRect/>
                        </a:stretch>
                      </p:blipFill>
                      <p:spPr>
                        <a:xfrm>
                          <a:off x="2688" y="2352"/>
                          <a:ext cx="1008" cy="181"/>
                        </a:xfrm>
                        <a:prstGeom prst="rect">
                          <a:avLst/>
                        </a:prstGeom>
                        <a:noFill/>
                        <a:ln w="38100">
                          <a:noFill/>
                          <a:miter/>
                        </a:ln>
                      </p:spPr>
                    </p:pic>
                  </p:oleObj>
                </mc:Fallback>
              </mc:AlternateContent>
            </a:graphicData>
          </a:graphic>
        </p:graphicFrame>
        <p:graphicFrame>
          <p:nvGraphicFramePr>
            <p:cNvPr id="60474" name="对象 60473"/>
            <p:cNvGraphicFramePr/>
            <p:nvPr/>
          </p:nvGraphicFramePr>
          <p:xfrm>
            <a:off x="2688" y="2544"/>
            <a:ext cx="1008" cy="181"/>
          </p:xfrm>
          <a:graphic>
            <a:graphicData uri="http://schemas.openxmlformats.org/presentationml/2006/ole">
              <mc:AlternateContent xmlns:mc="http://schemas.openxmlformats.org/markup-compatibility/2006">
                <mc:Choice xmlns:v="urn:schemas-microsoft-com:vml" Requires="v">
                  <p:oleObj r:id="rId34" imgW="723265" imgH="215900" progId="Equation.3">
                    <p:embed/>
                  </p:oleObj>
                </mc:Choice>
                <mc:Fallback>
                  <p:oleObj r:id="rId34" imgW="723265" imgH="215900" progId="Equation.3">
                    <p:embed/>
                    <p:pic>
                      <p:nvPicPr>
                        <p:cNvPr id="60474" name="对象 60473"/>
                        <p:cNvPicPr/>
                        <p:nvPr/>
                      </p:nvPicPr>
                      <p:blipFill>
                        <a:blip r:embed="rId35"/>
                        <a:stretch>
                          <a:fillRect/>
                        </a:stretch>
                      </p:blipFill>
                      <p:spPr>
                        <a:xfrm>
                          <a:off x="2688" y="2544"/>
                          <a:ext cx="1008" cy="181"/>
                        </a:xfrm>
                        <a:prstGeom prst="rect">
                          <a:avLst/>
                        </a:prstGeom>
                        <a:noFill/>
                        <a:ln w="38100">
                          <a:noFill/>
                          <a:miter/>
                        </a:ln>
                      </p:spPr>
                    </p:pic>
                  </p:oleObj>
                </mc:Fallback>
              </mc:AlternateContent>
            </a:graphicData>
          </a:graphic>
        </p:graphicFrame>
        <p:graphicFrame>
          <p:nvGraphicFramePr>
            <p:cNvPr id="60475" name="对象 60474"/>
            <p:cNvGraphicFramePr/>
            <p:nvPr/>
          </p:nvGraphicFramePr>
          <p:xfrm>
            <a:off x="2688" y="2736"/>
            <a:ext cx="1008" cy="181"/>
          </p:xfrm>
          <a:graphic>
            <a:graphicData uri="http://schemas.openxmlformats.org/presentationml/2006/ole">
              <mc:AlternateContent xmlns:mc="http://schemas.openxmlformats.org/markup-compatibility/2006">
                <mc:Choice xmlns:v="urn:schemas-microsoft-com:vml" Requires="v">
                  <p:oleObj r:id="rId36" imgW="723265" imgH="215900" progId="Equation.3">
                    <p:embed/>
                  </p:oleObj>
                </mc:Choice>
                <mc:Fallback>
                  <p:oleObj r:id="rId36" imgW="723265" imgH="215900" progId="Equation.3">
                    <p:embed/>
                    <p:pic>
                      <p:nvPicPr>
                        <p:cNvPr id="60475" name="对象 60474"/>
                        <p:cNvPicPr/>
                        <p:nvPr/>
                      </p:nvPicPr>
                      <p:blipFill>
                        <a:blip r:embed="rId37"/>
                        <a:stretch>
                          <a:fillRect/>
                        </a:stretch>
                      </p:blipFill>
                      <p:spPr>
                        <a:xfrm>
                          <a:off x="2688" y="2736"/>
                          <a:ext cx="1008" cy="181"/>
                        </a:xfrm>
                        <a:prstGeom prst="rect">
                          <a:avLst/>
                        </a:prstGeom>
                        <a:noFill/>
                        <a:ln w="38100">
                          <a:noFill/>
                          <a:miter/>
                        </a:ln>
                      </p:spPr>
                    </p:pic>
                  </p:oleObj>
                </mc:Fallback>
              </mc:AlternateContent>
            </a:graphicData>
          </a:graphic>
        </p:graphicFrame>
        <p:graphicFrame>
          <p:nvGraphicFramePr>
            <p:cNvPr id="60476" name="对象 60475"/>
            <p:cNvGraphicFramePr/>
            <p:nvPr/>
          </p:nvGraphicFramePr>
          <p:xfrm>
            <a:off x="2688" y="2928"/>
            <a:ext cx="1008" cy="181"/>
          </p:xfrm>
          <a:graphic>
            <a:graphicData uri="http://schemas.openxmlformats.org/presentationml/2006/ole">
              <mc:AlternateContent xmlns:mc="http://schemas.openxmlformats.org/markup-compatibility/2006">
                <mc:Choice xmlns:v="urn:schemas-microsoft-com:vml" Requires="v">
                  <p:oleObj r:id="rId38" imgW="723265" imgH="215900" progId="Equation.3">
                    <p:embed/>
                  </p:oleObj>
                </mc:Choice>
                <mc:Fallback>
                  <p:oleObj r:id="rId38" imgW="723265" imgH="215900" progId="Equation.3">
                    <p:embed/>
                    <p:pic>
                      <p:nvPicPr>
                        <p:cNvPr id="60476" name="对象 60475"/>
                        <p:cNvPicPr/>
                        <p:nvPr/>
                      </p:nvPicPr>
                      <p:blipFill>
                        <a:blip r:embed="rId39"/>
                        <a:stretch>
                          <a:fillRect/>
                        </a:stretch>
                      </p:blipFill>
                      <p:spPr>
                        <a:xfrm>
                          <a:off x="2688" y="2928"/>
                          <a:ext cx="1008" cy="181"/>
                        </a:xfrm>
                        <a:prstGeom prst="rect">
                          <a:avLst/>
                        </a:prstGeom>
                        <a:noFill/>
                        <a:ln w="38100">
                          <a:noFill/>
                          <a:miter/>
                        </a:ln>
                      </p:spPr>
                    </p:pic>
                  </p:oleObj>
                </mc:Fallback>
              </mc:AlternateContent>
            </a:graphicData>
          </a:graphic>
        </p:graphicFrame>
        <p:graphicFrame>
          <p:nvGraphicFramePr>
            <p:cNvPr id="60477" name="对象 60476"/>
            <p:cNvGraphicFramePr/>
            <p:nvPr/>
          </p:nvGraphicFramePr>
          <p:xfrm>
            <a:off x="2688" y="3120"/>
            <a:ext cx="1008" cy="181"/>
          </p:xfrm>
          <a:graphic>
            <a:graphicData uri="http://schemas.openxmlformats.org/presentationml/2006/ole">
              <mc:AlternateContent xmlns:mc="http://schemas.openxmlformats.org/markup-compatibility/2006">
                <mc:Choice xmlns:v="urn:schemas-microsoft-com:vml" Requires="v">
                  <p:oleObj r:id="rId40" imgW="659765" imgH="215900" progId="Equation.3">
                    <p:embed/>
                  </p:oleObj>
                </mc:Choice>
                <mc:Fallback>
                  <p:oleObj r:id="rId40" imgW="659765" imgH="215900" progId="Equation.3">
                    <p:embed/>
                    <p:pic>
                      <p:nvPicPr>
                        <p:cNvPr id="60477" name="对象 60476"/>
                        <p:cNvPicPr/>
                        <p:nvPr/>
                      </p:nvPicPr>
                      <p:blipFill>
                        <a:blip r:embed="rId41"/>
                        <a:stretch>
                          <a:fillRect/>
                        </a:stretch>
                      </p:blipFill>
                      <p:spPr>
                        <a:xfrm>
                          <a:off x="2688" y="3120"/>
                          <a:ext cx="1008" cy="181"/>
                        </a:xfrm>
                        <a:prstGeom prst="rect">
                          <a:avLst/>
                        </a:prstGeom>
                        <a:noFill/>
                        <a:ln w="38100">
                          <a:noFill/>
                          <a:miter/>
                        </a:ln>
                      </p:spPr>
                    </p:pic>
                  </p:oleObj>
                </mc:Fallback>
              </mc:AlternateContent>
            </a:graphicData>
          </a:graphic>
        </p:graphicFrame>
        <p:graphicFrame>
          <p:nvGraphicFramePr>
            <p:cNvPr id="60478" name="对象 60477"/>
            <p:cNvGraphicFramePr/>
            <p:nvPr/>
          </p:nvGraphicFramePr>
          <p:xfrm>
            <a:off x="2688" y="3312"/>
            <a:ext cx="1056" cy="181"/>
          </p:xfrm>
          <a:graphic>
            <a:graphicData uri="http://schemas.openxmlformats.org/presentationml/2006/ole">
              <mc:AlternateContent xmlns:mc="http://schemas.openxmlformats.org/markup-compatibility/2006">
                <mc:Choice xmlns:v="urn:schemas-microsoft-com:vml" Requires="v">
                  <p:oleObj r:id="rId42" imgW="723265" imgH="215900" progId="Equation.3">
                    <p:embed/>
                  </p:oleObj>
                </mc:Choice>
                <mc:Fallback>
                  <p:oleObj r:id="rId42" imgW="723265" imgH="215900" progId="Equation.3">
                    <p:embed/>
                    <p:pic>
                      <p:nvPicPr>
                        <p:cNvPr id="60478" name="对象 60477"/>
                        <p:cNvPicPr/>
                        <p:nvPr/>
                      </p:nvPicPr>
                      <p:blipFill>
                        <a:blip r:embed="rId43"/>
                        <a:stretch>
                          <a:fillRect/>
                        </a:stretch>
                      </p:blipFill>
                      <p:spPr>
                        <a:xfrm>
                          <a:off x="2688" y="3312"/>
                          <a:ext cx="1056" cy="181"/>
                        </a:xfrm>
                        <a:prstGeom prst="rect">
                          <a:avLst/>
                        </a:prstGeom>
                        <a:noFill/>
                        <a:ln w="38100">
                          <a:noFill/>
                          <a:miter/>
                        </a:ln>
                      </p:spPr>
                    </p:pic>
                  </p:oleObj>
                </mc:Fallback>
              </mc:AlternateContent>
            </a:graphicData>
          </a:graphic>
        </p:graphicFrame>
        <p:graphicFrame>
          <p:nvGraphicFramePr>
            <p:cNvPr id="60479" name="对象 60478"/>
            <p:cNvGraphicFramePr/>
            <p:nvPr/>
          </p:nvGraphicFramePr>
          <p:xfrm>
            <a:off x="4128" y="1968"/>
            <a:ext cx="107" cy="1511"/>
          </p:xfrm>
          <a:graphic>
            <a:graphicData uri="http://schemas.openxmlformats.org/presentationml/2006/ole">
              <mc:AlternateContent xmlns:mc="http://schemas.openxmlformats.org/markup-compatibility/2006">
                <mc:Choice xmlns:v="urn:schemas-microsoft-com:vml" Requires="v">
                  <p:oleObj r:id="rId44" imgW="127000" imgH="1799590" progId="Equation.3">
                    <p:embed/>
                  </p:oleObj>
                </mc:Choice>
                <mc:Fallback>
                  <p:oleObj r:id="rId44" imgW="127000" imgH="1799590" progId="Equation.3">
                    <p:embed/>
                    <p:pic>
                      <p:nvPicPr>
                        <p:cNvPr id="60479" name="对象 60478"/>
                        <p:cNvPicPr/>
                        <p:nvPr/>
                      </p:nvPicPr>
                      <p:blipFill>
                        <a:blip r:embed="rId45"/>
                        <a:stretch>
                          <a:fillRect/>
                        </a:stretch>
                      </p:blipFill>
                      <p:spPr>
                        <a:xfrm>
                          <a:off x="4128" y="1968"/>
                          <a:ext cx="107" cy="1511"/>
                        </a:xfrm>
                        <a:prstGeom prst="rect">
                          <a:avLst/>
                        </a:prstGeom>
                        <a:noFill/>
                        <a:ln w="38100">
                          <a:noFill/>
                          <a:miter/>
                        </a:ln>
                      </p:spPr>
                    </p:pic>
                  </p:oleObj>
                </mc:Fallback>
              </mc:AlternateContent>
            </a:graphicData>
          </a:graphic>
        </p:graphicFrame>
        <p:sp>
          <p:nvSpPr>
            <p:cNvPr id="60480" name="右大括号 60479"/>
            <p:cNvSpPr/>
            <p:nvPr/>
          </p:nvSpPr>
          <p:spPr>
            <a:xfrm>
              <a:off x="4224" y="2976"/>
              <a:ext cx="48" cy="432"/>
            </a:xfrm>
            <a:prstGeom prst="rightBrace">
              <a:avLst>
                <a:gd name="adj1" fmla="val 75000"/>
                <a:gd name="adj2" fmla="val 50000"/>
              </a:avLst>
            </a:prstGeom>
            <a:noFill/>
            <a:ln w="9525" cap="flat" cmpd="sng">
              <a:solidFill>
                <a:schemeClr val="tx1"/>
              </a:solidFill>
              <a:prstDash val="solid"/>
              <a:miter/>
              <a:headEnd type="none" w="sm" len="sm"/>
              <a:tailEnd type="non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graphicFrame>
          <p:nvGraphicFramePr>
            <p:cNvPr id="60481" name="对象 60480"/>
            <p:cNvGraphicFramePr/>
            <p:nvPr/>
          </p:nvGraphicFramePr>
          <p:xfrm>
            <a:off x="4320" y="3120"/>
            <a:ext cx="492" cy="170"/>
          </p:xfrm>
          <a:graphic>
            <a:graphicData uri="http://schemas.openxmlformats.org/presentationml/2006/ole">
              <mc:AlternateContent xmlns:mc="http://schemas.openxmlformats.org/markup-compatibility/2006">
                <mc:Choice xmlns:v="urn:schemas-microsoft-com:vml" Requires="v">
                  <p:oleObj r:id="rId46" imgW="583565" imgH="203200" progId="Equation.3">
                    <p:embed/>
                  </p:oleObj>
                </mc:Choice>
                <mc:Fallback>
                  <p:oleObj r:id="rId46" imgW="583565" imgH="203200" progId="Equation.3">
                    <p:embed/>
                    <p:pic>
                      <p:nvPicPr>
                        <p:cNvPr id="60481" name="对象 60480"/>
                        <p:cNvPicPr/>
                        <p:nvPr/>
                      </p:nvPicPr>
                      <p:blipFill>
                        <a:blip r:embed="rId47"/>
                        <a:stretch>
                          <a:fillRect/>
                        </a:stretch>
                      </p:blipFill>
                      <p:spPr>
                        <a:xfrm>
                          <a:off x="4320" y="3120"/>
                          <a:ext cx="492" cy="170"/>
                        </a:xfrm>
                        <a:prstGeom prst="rect">
                          <a:avLst/>
                        </a:prstGeom>
                        <a:noFill/>
                        <a:ln w="38100">
                          <a:noFill/>
                          <a:miter/>
                        </a:ln>
                      </p:spPr>
                    </p:pic>
                  </p:oleObj>
                </mc:Fallback>
              </mc:AlternateContent>
            </a:graphicData>
          </a:graphic>
        </p:graphicFrame>
        <p:graphicFrame>
          <p:nvGraphicFramePr>
            <p:cNvPr id="60482" name="对象 60481"/>
            <p:cNvGraphicFramePr/>
            <p:nvPr/>
          </p:nvGraphicFramePr>
          <p:xfrm>
            <a:off x="2688" y="3504"/>
            <a:ext cx="1056" cy="208"/>
          </p:xfrm>
          <a:graphic>
            <a:graphicData uri="http://schemas.openxmlformats.org/presentationml/2006/ole">
              <mc:AlternateContent xmlns:mc="http://schemas.openxmlformats.org/markup-compatibility/2006">
                <mc:Choice xmlns:v="urn:schemas-microsoft-com:vml" Requires="v">
                  <p:oleObj r:id="rId48" imgW="1040765" imgH="228600" progId="Equation.3">
                    <p:embed/>
                  </p:oleObj>
                </mc:Choice>
                <mc:Fallback>
                  <p:oleObj r:id="rId48" imgW="1040765" imgH="228600" progId="Equation.3">
                    <p:embed/>
                    <p:pic>
                      <p:nvPicPr>
                        <p:cNvPr id="60482" name="对象 60481"/>
                        <p:cNvPicPr/>
                        <p:nvPr/>
                      </p:nvPicPr>
                      <p:blipFill>
                        <a:blip r:embed="rId5"/>
                        <a:stretch>
                          <a:fillRect/>
                        </a:stretch>
                      </p:blipFill>
                      <p:spPr>
                        <a:xfrm>
                          <a:off x="2688" y="3504"/>
                          <a:ext cx="1056" cy="208"/>
                        </a:xfrm>
                        <a:prstGeom prst="rect">
                          <a:avLst/>
                        </a:prstGeom>
                        <a:noFill/>
                        <a:ln w="38100">
                          <a:noFill/>
                          <a:miter/>
                        </a:ln>
                      </p:spPr>
                    </p:pic>
                  </p:oleObj>
                </mc:Fallback>
              </mc:AlternateContent>
            </a:graphicData>
          </a:graphic>
        </p:graphicFrame>
        <p:sp>
          <p:nvSpPr>
            <p:cNvPr id="60483" name="左大括号 60482"/>
            <p:cNvSpPr/>
            <p:nvPr/>
          </p:nvSpPr>
          <p:spPr>
            <a:xfrm rot="-5400000">
              <a:off x="3120" y="3312"/>
              <a:ext cx="96" cy="864"/>
            </a:xfrm>
            <a:prstGeom prst="leftBrace">
              <a:avLst>
                <a:gd name="adj1" fmla="val 75000"/>
                <a:gd name="adj2" fmla="val 50000"/>
              </a:avLst>
            </a:prstGeom>
            <a:noFill/>
            <a:ln w="9525" cap="flat" cmpd="sng">
              <a:solidFill>
                <a:schemeClr val="tx1"/>
              </a:solidFill>
              <a:prstDash val="solid"/>
              <a:miter/>
              <a:headEnd type="none" w="sm" len="sm"/>
              <a:tailEnd type="non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graphicFrame>
          <p:nvGraphicFramePr>
            <p:cNvPr id="60484" name="对象 60483"/>
            <p:cNvGraphicFramePr/>
            <p:nvPr/>
          </p:nvGraphicFramePr>
          <p:xfrm>
            <a:off x="2843" y="3792"/>
            <a:ext cx="664" cy="161"/>
          </p:xfrm>
          <a:graphic>
            <a:graphicData uri="http://schemas.openxmlformats.org/presentationml/2006/ole">
              <mc:AlternateContent xmlns:mc="http://schemas.openxmlformats.org/markup-compatibility/2006">
                <mc:Choice xmlns:v="urn:schemas-microsoft-com:vml" Requires="v">
                  <p:oleObj r:id="rId49" imgW="722630" imgH="177800" progId="Equation.3">
                    <p:embed/>
                  </p:oleObj>
                </mc:Choice>
                <mc:Fallback>
                  <p:oleObj r:id="rId49" imgW="722630" imgH="177800" progId="Equation.3">
                    <p:embed/>
                    <p:pic>
                      <p:nvPicPr>
                        <p:cNvPr id="60484" name="对象 60483"/>
                        <p:cNvPicPr/>
                        <p:nvPr/>
                      </p:nvPicPr>
                      <p:blipFill>
                        <a:blip r:embed="rId50"/>
                        <a:stretch>
                          <a:fillRect/>
                        </a:stretch>
                      </p:blipFill>
                      <p:spPr>
                        <a:xfrm>
                          <a:off x="2843" y="3792"/>
                          <a:ext cx="664" cy="161"/>
                        </a:xfrm>
                        <a:prstGeom prst="rect">
                          <a:avLst/>
                        </a:prstGeom>
                        <a:noFill/>
                        <a:ln w="38100">
                          <a:noFill/>
                          <a:miter/>
                        </a:ln>
                      </p:spPr>
                    </p:pic>
                  </p:oleObj>
                </mc:Fallback>
              </mc:AlternateContent>
            </a:graphicData>
          </a:graphic>
        </p:graphicFrame>
        <p:sp>
          <p:nvSpPr>
            <p:cNvPr id="60485" name="直接连接符 60484"/>
            <p:cNvSpPr/>
            <p:nvPr/>
          </p:nvSpPr>
          <p:spPr>
            <a:xfrm>
              <a:off x="1872" y="2256"/>
              <a:ext cx="816" cy="0"/>
            </a:xfrm>
            <a:prstGeom prst="line">
              <a:avLst/>
            </a:prstGeom>
            <a:ln w="9525" cap="flat" cmpd="sng">
              <a:solidFill>
                <a:srgbClr val="FF0000"/>
              </a:solidFill>
              <a:prstDash val="solid"/>
              <a:miter/>
              <a:headEnd type="none" w="sm" len="sm"/>
              <a:tailEnd type="triangle" w="sm" len="med"/>
            </a:ln>
          </p:spPr>
        </p:sp>
        <p:sp>
          <p:nvSpPr>
            <p:cNvPr id="60486" name="直接连接符 60485"/>
            <p:cNvSpPr/>
            <p:nvPr/>
          </p:nvSpPr>
          <p:spPr>
            <a:xfrm>
              <a:off x="1872" y="2448"/>
              <a:ext cx="816" cy="0"/>
            </a:xfrm>
            <a:prstGeom prst="line">
              <a:avLst/>
            </a:prstGeom>
            <a:ln w="9525" cap="flat" cmpd="sng">
              <a:solidFill>
                <a:srgbClr val="FF0000"/>
              </a:solidFill>
              <a:prstDash val="lgDashDotDot"/>
              <a:miter/>
              <a:headEnd type="none" w="sm" len="sm"/>
              <a:tailEnd type="triangle" w="sm" len="med"/>
            </a:ln>
          </p:spPr>
        </p:sp>
        <p:sp>
          <p:nvSpPr>
            <p:cNvPr id="60487" name="直接连接符 60486"/>
            <p:cNvSpPr/>
            <p:nvPr/>
          </p:nvSpPr>
          <p:spPr>
            <a:xfrm>
              <a:off x="1872" y="2640"/>
              <a:ext cx="816" cy="0"/>
            </a:xfrm>
            <a:prstGeom prst="line">
              <a:avLst/>
            </a:prstGeom>
            <a:ln w="9525" cap="flat" cmpd="sng">
              <a:solidFill>
                <a:srgbClr val="FF0000"/>
              </a:solidFill>
              <a:prstDash val="lgDashDotDot"/>
              <a:miter/>
              <a:headEnd type="none" w="sm" len="sm"/>
              <a:tailEnd type="triangle" w="sm" len="med"/>
            </a:ln>
          </p:spPr>
        </p:sp>
        <p:sp>
          <p:nvSpPr>
            <p:cNvPr id="60488" name="直接连接符 60487"/>
            <p:cNvSpPr/>
            <p:nvPr/>
          </p:nvSpPr>
          <p:spPr>
            <a:xfrm>
              <a:off x="1872" y="2832"/>
              <a:ext cx="816" cy="0"/>
            </a:xfrm>
            <a:prstGeom prst="line">
              <a:avLst/>
            </a:prstGeom>
            <a:ln w="9525" cap="flat" cmpd="sng">
              <a:solidFill>
                <a:srgbClr val="FF0000"/>
              </a:solidFill>
              <a:prstDash val="lgDashDotDot"/>
              <a:miter/>
              <a:headEnd type="none" w="sm" len="sm"/>
              <a:tailEnd type="triangle" w="sm" len="med"/>
            </a:ln>
          </p:spPr>
        </p:sp>
        <p:sp>
          <p:nvSpPr>
            <p:cNvPr id="60489" name="直接连接符 60488"/>
            <p:cNvSpPr/>
            <p:nvPr/>
          </p:nvSpPr>
          <p:spPr>
            <a:xfrm>
              <a:off x="2784" y="2112"/>
              <a:ext cx="192" cy="96"/>
            </a:xfrm>
            <a:prstGeom prst="line">
              <a:avLst/>
            </a:prstGeom>
            <a:ln w="9525" cap="flat" cmpd="sng">
              <a:solidFill>
                <a:srgbClr val="FF0000"/>
              </a:solidFill>
              <a:prstDash val="solid"/>
              <a:miter/>
              <a:headEnd type="none" w="sm" len="sm"/>
              <a:tailEnd type="triangle" w="sm" len="sm"/>
            </a:ln>
          </p:spPr>
        </p:sp>
        <p:sp>
          <p:nvSpPr>
            <p:cNvPr id="60490" name="直接连接符 60489"/>
            <p:cNvSpPr/>
            <p:nvPr/>
          </p:nvSpPr>
          <p:spPr>
            <a:xfrm>
              <a:off x="3072" y="2112"/>
              <a:ext cx="192" cy="96"/>
            </a:xfrm>
            <a:prstGeom prst="line">
              <a:avLst/>
            </a:prstGeom>
            <a:ln w="9525" cap="flat" cmpd="sng">
              <a:solidFill>
                <a:srgbClr val="FF0000"/>
              </a:solidFill>
              <a:prstDash val="solid"/>
              <a:miter/>
              <a:headEnd type="none" w="sm" len="sm"/>
              <a:tailEnd type="triangle" w="sm" len="sm"/>
            </a:ln>
          </p:spPr>
        </p:sp>
        <p:sp>
          <p:nvSpPr>
            <p:cNvPr id="60491" name="直接连接符 60490"/>
            <p:cNvSpPr/>
            <p:nvPr/>
          </p:nvSpPr>
          <p:spPr>
            <a:xfrm>
              <a:off x="3360" y="2112"/>
              <a:ext cx="192" cy="96"/>
            </a:xfrm>
            <a:prstGeom prst="line">
              <a:avLst/>
            </a:prstGeom>
            <a:ln w="9525" cap="flat" cmpd="sng">
              <a:solidFill>
                <a:srgbClr val="FF0000"/>
              </a:solidFill>
              <a:prstDash val="solid"/>
              <a:miter/>
              <a:headEnd type="none" w="sm" len="sm"/>
              <a:tailEnd type="triangle" w="sm" len="sm"/>
            </a:ln>
          </p:spPr>
        </p:sp>
        <p:sp>
          <p:nvSpPr>
            <p:cNvPr id="60492" name="直接连接符 60491"/>
            <p:cNvSpPr/>
            <p:nvPr/>
          </p:nvSpPr>
          <p:spPr>
            <a:xfrm>
              <a:off x="3648" y="2112"/>
              <a:ext cx="480" cy="96"/>
            </a:xfrm>
            <a:prstGeom prst="line">
              <a:avLst/>
            </a:prstGeom>
            <a:ln w="9525" cap="flat" cmpd="sng">
              <a:solidFill>
                <a:srgbClr val="FF0000"/>
              </a:solidFill>
              <a:prstDash val="solid"/>
              <a:miter/>
              <a:headEnd type="none" w="sm" len="sm"/>
              <a:tailEnd type="triangle" w="sm" len="sm"/>
            </a:ln>
          </p:spPr>
        </p:sp>
        <p:sp>
          <p:nvSpPr>
            <p:cNvPr id="60493" name="直接连接符 60492"/>
            <p:cNvSpPr/>
            <p:nvPr/>
          </p:nvSpPr>
          <p:spPr>
            <a:xfrm>
              <a:off x="2784" y="2256"/>
              <a:ext cx="192" cy="144"/>
            </a:xfrm>
            <a:prstGeom prst="line">
              <a:avLst/>
            </a:prstGeom>
            <a:ln w="9525" cap="flat" cmpd="sng">
              <a:solidFill>
                <a:srgbClr val="FF0000"/>
              </a:solidFill>
              <a:prstDash val="lgDashDotDot"/>
              <a:miter/>
              <a:headEnd type="none" w="sm" len="sm"/>
              <a:tailEnd type="triangle" w="sm" len="sm"/>
            </a:ln>
          </p:spPr>
        </p:sp>
        <p:sp>
          <p:nvSpPr>
            <p:cNvPr id="60494" name="直接连接符 60493"/>
            <p:cNvSpPr/>
            <p:nvPr/>
          </p:nvSpPr>
          <p:spPr>
            <a:xfrm>
              <a:off x="3072" y="2256"/>
              <a:ext cx="192" cy="144"/>
            </a:xfrm>
            <a:prstGeom prst="line">
              <a:avLst/>
            </a:prstGeom>
            <a:ln w="9525" cap="flat" cmpd="sng">
              <a:solidFill>
                <a:srgbClr val="FF0000"/>
              </a:solidFill>
              <a:prstDash val="lgDashDotDot"/>
              <a:miter/>
              <a:headEnd type="none" w="sm" len="sm"/>
              <a:tailEnd type="triangle" w="sm" len="sm"/>
            </a:ln>
          </p:spPr>
        </p:sp>
        <p:sp>
          <p:nvSpPr>
            <p:cNvPr id="60495" name="直接连接符 60494"/>
            <p:cNvSpPr/>
            <p:nvPr/>
          </p:nvSpPr>
          <p:spPr>
            <a:xfrm>
              <a:off x="3360" y="2256"/>
              <a:ext cx="192" cy="144"/>
            </a:xfrm>
            <a:prstGeom prst="line">
              <a:avLst/>
            </a:prstGeom>
            <a:ln w="9525" cap="flat" cmpd="sng">
              <a:solidFill>
                <a:srgbClr val="FF0000"/>
              </a:solidFill>
              <a:prstDash val="lgDashDotDot"/>
              <a:miter/>
              <a:headEnd type="none" w="sm" len="sm"/>
              <a:tailEnd type="triangle" w="sm" len="sm"/>
            </a:ln>
          </p:spPr>
        </p:sp>
        <p:sp>
          <p:nvSpPr>
            <p:cNvPr id="60496" name="直接连接符 60495"/>
            <p:cNvSpPr/>
            <p:nvPr/>
          </p:nvSpPr>
          <p:spPr>
            <a:xfrm>
              <a:off x="3648" y="2256"/>
              <a:ext cx="480" cy="144"/>
            </a:xfrm>
            <a:prstGeom prst="line">
              <a:avLst/>
            </a:prstGeom>
            <a:ln w="9525" cap="flat" cmpd="sng">
              <a:solidFill>
                <a:srgbClr val="FF0000"/>
              </a:solidFill>
              <a:prstDash val="lgDashDotDot"/>
              <a:miter/>
              <a:headEnd type="none" w="sm" len="sm"/>
              <a:tailEnd type="triangle" w="sm" len="sm"/>
            </a:ln>
          </p:spPr>
        </p:sp>
        <p:sp>
          <p:nvSpPr>
            <p:cNvPr id="60497" name="直接连接符 60496"/>
            <p:cNvSpPr/>
            <p:nvPr/>
          </p:nvSpPr>
          <p:spPr>
            <a:xfrm>
              <a:off x="2784" y="2448"/>
              <a:ext cx="192" cy="144"/>
            </a:xfrm>
            <a:prstGeom prst="line">
              <a:avLst/>
            </a:prstGeom>
            <a:ln w="9525" cap="flat" cmpd="sng">
              <a:solidFill>
                <a:srgbClr val="FF0000"/>
              </a:solidFill>
              <a:prstDash val="lgDashDotDot"/>
              <a:miter/>
              <a:headEnd type="none" w="sm" len="sm"/>
              <a:tailEnd type="triangle" w="sm" len="sm"/>
            </a:ln>
          </p:spPr>
        </p:sp>
        <p:sp>
          <p:nvSpPr>
            <p:cNvPr id="60498" name="直接连接符 60497"/>
            <p:cNvSpPr/>
            <p:nvPr/>
          </p:nvSpPr>
          <p:spPr>
            <a:xfrm>
              <a:off x="3072" y="2448"/>
              <a:ext cx="192" cy="144"/>
            </a:xfrm>
            <a:prstGeom prst="line">
              <a:avLst/>
            </a:prstGeom>
            <a:ln w="9525" cap="flat" cmpd="sng">
              <a:solidFill>
                <a:srgbClr val="FF0000"/>
              </a:solidFill>
              <a:prstDash val="lgDashDotDot"/>
              <a:miter/>
              <a:headEnd type="none" w="sm" len="sm"/>
              <a:tailEnd type="triangle" w="sm" len="sm"/>
            </a:ln>
          </p:spPr>
        </p:sp>
        <p:sp>
          <p:nvSpPr>
            <p:cNvPr id="60499" name="直接连接符 60498"/>
            <p:cNvSpPr/>
            <p:nvPr/>
          </p:nvSpPr>
          <p:spPr>
            <a:xfrm>
              <a:off x="3360" y="2448"/>
              <a:ext cx="192" cy="144"/>
            </a:xfrm>
            <a:prstGeom prst="line">
              <a:avLst/>
            </a:prstGeom>
            <a:ln w="9525" cap="flat" cmpd="sng">
              <a:solidFill>
                <a:srgbClr val="FF0000"/>
              </a:solidFill>
              <a:prstDash val="lgDashDotDot"/>
              <a:miter/>
              <a:headEnd type="none" w="sm" len="sm"/>
              <a:tailEnd type="triangle" w="sm" len="sm"/>
            </a:ln>
          </p:spPr>
        </p:sp>
        <p:sp>
          <p:nvSpPr>
            <p:cNvPr id="60500" name="直接连接符 60499"/>
            <p:cNvSpPr/>
            <p:nvPr/>
          </p:nvSpPr>
          <p:spPr>
            <a:xfrm>
              <a:off x="3648" y="2448"/>
              <a:ext cx="480" cy="144"/>
            </a:xfrm>
            <a:prstGeom prst="line">
              <a:avLst/>
            </a:prstGeom>
            <a:ln w="9525" cap="flat" cmpd="sng">
              <a:solidFill>
                <a:srgbClr val="FF0000"/>
              </a:solidFill>
              <a:prstDash val="lgDashDotDot"/>
              <a:miter/>
              <a:headEnd type="none" w="sm" len="sm"/>
              <a:tailEnd type="triangle" w="sm" len="sm"/>
            </a:ln>
          </p:spPr>
        </p:sp>
        <p:sp>
          <p:nvSpPr>
            <p:cNvPr id="60501" name="直接连接符 60500"/>
            <p:cNvSpPr/>
            <p:nvPr/>
          </p:nvSpPr>
          <p:spPr>
            <a:xfrm>
              <a:off x="2784" y="2640"/>
              <a:ext cx="192" cy="144"/>
            </a:xfrm>
            <a:prstGeom prst="line">
              <a:avLst/>
            </a:prstGeom>
            <a:ln w="9525" cap="flat" cmpd="sng">
              <a:solidFill>
                <a:srgbClr val="FF0000"/>
              </a:solidFill>
              <a:prstDash val="lgDashDotDot"/>
              <a:miter/>
              <a:headEnd type="none" w="sm" len="sm"/>
              <a:tailEnd type="triangle" w="sm" len="sm"/>
            </a:ln>
          </p:spPr>
        </p:sp>
        <p:sp>
          <p:nvSpPr>
            <p:cNvPr id="60502" name="直接连接符 60501"/>
            <p:cNvSpPr/>
            <p:nvPr/>
          </p:nvSpPr>
          <p:spPr>
            <a:xfrm>
              <a:off x="3072" y="2640"/>
              <a:ext cx="192" cy="144"/>
            </a:xfrm>
            <a:prstGeom prst="line">
              <a:avLst/>
            </a:prstGeom>
            <a:ln w="9525" cap="flat" cmpd="sng">
              <a:solidFill>
                <a:srgbClr val="FF0000"/>
              </a:solidFill>
              <a:prstDash val="lgDashDotDot"/>
              <a:miter/>
              <a:headEnd type="none" w="sm" len="sm"/>
              <a:tailEnd type="triangle" w="sm" len="sm"/>
            </a:ln>
          </p:spPr>
        </p:sp>
        <p:sp>
          <p:nvSpPr>
            <p:cNvPr id="60503" name="直接连接符 60502"/>
            <p:cNvSpPr/>
            <p:nvPr/>
          </p:nvSpPr>
          <p:spPr>
            <a:xfrm>
              <a:off x="3360" y="2640"/>
              <a:ext cx="192" cy="144"/>
            </a:xfrm>
            <a:prstGeom prst="line">
              <a:avLst/>
            </a:prstGeom>
            <a:ln w="9525" cap="flat" cmpd="sng">
              <a:solidFill>
                <a:srgbClr val="FF0000"/>
              </a:solidFill>
              <a:prstDash val="lgDashDotDot"/>
              <a:miter/>
              <a:headEnd type="none" w="sm" len="sm"/>
              <a:tailEnd type="triangle" w="sm" len="sm"/>
            </a:ln>
          </p:spPr>
        </p:sp>
        <p:sp>
          <p:nvSpPr>
            <p:cNvPr id="60504" name="直接连接符 60503"/>
            <p:cNvSpPr/>
            <p:nvPr/>
          </p:nvSpPr>
          <p:spPr>
            <a:xfrm>
              <a:off x="3648" y="2640"/>
              <a:ext cx="480" cy="144"/>
            </a:xfrm>
            <a:prstGeom prst="line">
              <a:avLst/>
            </a:prstGeom>
            <a:ln w="9525" cap="flat" cmpd="sng">
              <a:solidFill>
                <a:srgbClr val="FF0000"/>
              </a:solidFill>
              <a:prstDash val="lgDashDotDot"/>
              <a:miter/>
              <a:headEnd type="none" w="sm" len="sm"/>
              <a:tailEnd type="triangle" w="sm" len="sm"/>
            </a:ln>
          </p:spPr>
        </p:sp>
        <p:sp>
          <p:nvSpPr>
            <p:cNvPr id="60505" name="直接连接符 60504"/>
            <p:cNvSpPr/>
            <p:nvPr/>
          </p:nvSpPr>
          <p:spPr>
            <a:xfrm>
              <a:off x="2784" y="2832"/>
              <a:ext cx="192" cy="144"/>
            </a:xfrm>
            <a:prstGeom prst="line">
              <a:avLst/>
            </a:prstGeom>
            <a:ln w="9525" cap="flat" cmpd="sng">
              <a:solidFill>
                <a:srgbClr val="FF0000"/>
              </a:solidFill>
              <a:prstDash val="lgDashDotDot"/>
              <a:miter/>
              <a:headEnd type="none" w="sm" len="sm"/>
              <a:tailEnd type="triangle" w="sm" len="sm"/>
            </a:ln>
          </p:spPr>
        </p:sp>
        <p:sp>
          <p:nvSpPr>
            <p:cNvPr id="60506" name="直接连接符 60505"/>
            <p:cNvSpPr/>
            <p:nvPr/>
          </p:nvSpPr>
          <p:spPr>
            <a:xfrm flipV="1">
              <a:off x="1776" y="2880"/>
              <a:ext cx="1968" cy="96"/>
            </a:xfrm>
            <a:prstGeom prst="line">
              <a:avLst/>
            </a:prstGeom>
            <a:ln w="9525" cap="flat" cmpd="sng">
              <a:solidFill>
                <a:srgbClr val="FF0000"/>
              </a:solidFill>
              <a:prstDash val="solid"/>
              <a:miter/>
              <a:headEnd type="none" w="sm" len="sm"/>
              <a:tailEnd type="none" w="sm" len="sm"/>
            </a:ln>
          </p:spPr>
        </p:sp>
        <p:sp>
          <p:nvSpPr>
            <p:cNvPr id="60507" name="直接连接符 60506"/>
            <p:cNvSpPr/>
            <p:nvPr/>
          </p:nvSpPr>
          <p:spPr>
            <a:xfrm>
              <a:off x="3648" y="2832"/>
              <a:ext cx="480" cy="144"/>
            </a:xfrm>
            <a:prstGeom prst="line">
              <a:avLst/>
            </a:prstGeom>
            <a:ln w="9525" cap="flat" cmpd="sng">
              <a:solidFill>
                <a:srgbClr val="FF0000"/>
              </a:solidFill>
              <a:prstDash val="solid"/>
              <a:miter/>
              <a:headEnd type="none" w="sm" len="sm"/>
              <a:tailEnd type="none" w="sm" len="sm"/>
            </a:ln>
          </p:spPr>
        </p:sp>
        <p:sp>
          <p:nvSpPr>
            <p:cNvPr id="60508" name="直接连接符 60507"/>
            <p:cNvSpPr/>
            <p:nvPr/>
          </p:nvSpPr>
          <p:spPr>
            <a:xfrm>
              <a:off x="3072" y="2832"/>
              <a:ext cx="144" cy="96"/>
            </a:xfrm>
            <a:prstGeom prst="line">
              <a:avLst/>
            </a:prstGeom>
            <a:ln w="9525" cap="flat" cmpd="sng">
              <a:solidFill>
                <a:srgbClr val="FF0000"/>
              </a:solidFill>
              <a:prstDash val="solid"/>
              <a:miter/>
              <a:headEnd type="none" w="sm" len="sm"/>
              <a:tailEnd type="none" w="sm" len="sm"/>
            </a:ln>
          </p:spPr>
        </p:sp>
        <p:sp>
          <p:nvSpPr>
            <p:cNvPr id="60509" name="直接连接符 60508"/>
            <p:cNvSpPr/>
            <p:nvPr/>
          </p:nvSpPr>
          <p:spPr>
            <a:xfrm>
              <a:off x="3360" y="2832"/>
              <a:ext cx="96" cy="48"/>
            </a:xfrm>
            <a:prstGeom prst="line">
              <a:avLst/>
            </a:prstGeom>
            <a:ln w="9525" cap="flat" cmpd="sng">
              <a:solidFill>
                <a:srgbClr val="FF0000"/>
              </a:solidFill>
              <a:prstDash val="solid"/>
              <a:miter/>
              <a:headEnd type="none" w="sm" len="sm"/>
              <a:tailEnd type="none" w="sm" len="sm"/>
            </a:ln>
          </p:spPr>
        </p:sp>
        <p:sp>
          <p:nvSpPr>
            <p:cNvPr id="60510" name="直接连接符 60509"/>
            <p:cNvSpPr/>
            <p:nvPr/>
          </p:nvSpPr>
          <p:spPr>
            <a:xfrm flipV="1">
              <a:off x="1776" y="3072"/>
              <a:ext cx="1968" cy="96"/>
            </a:xfrm>
            <a:prstGeom prst="line">
              <a:avLst/>
            </a:prstGeom>
            <a:ln w="9525" cap="flat" cmpd="sng">
              <a:solidFill>
                <a:srgbClr val="FF0000"/>
              </a:solidFill>
              <a:prstDash val="solid"/>
              <a:miter/>
              <a:headEnd type="none" w="sm" len="sm"/>
              <a:tailEnd type="none" w="sm" len="sm"/>
            </a:ln>
          </p:spPr>
        </p:sp>
        <p:sp>
          <p:nvSpPr>
            <p:cNvPr id="60511" name="直接连接符 60510"/>
            <p:cNvSpPr/>
            <p:nvPr/>
          </p:nvSpPr>
          <p:spPr>
            <a:xfrm>
              <a:off x="3648" y="3024"/>
              <a:ext cx="480" cy="144"/>
            </a:xfrm>
            <a:prstGeom prst="line">
              <a:avLst/>
            </a:prstGeom>
            <a:ln w="9525" cap="flat" cmpd="sng">
              <a:solidFill>
                <a:srgbClr val="FF0000"/>
              </a:solidFill>
              <a:prstDash val="solid"/>
              <a:miter/>
              <a:headEnd type="none" w="sm" len="sm"/>
              <a:tailEnd type="none" w="sm" len="sm"/>
            </a:ln>
          </p:spPr>
        </p:sp>
        <p:sp>
          <p:nvSpPr>
            <p:cNvPr id="60512" name="直接连接符 60511"/>
            <p:cNvSpPr/>
            <p:nvPr/>
          </p:nvSpPr>
          <p:spPr>
            <a:xfrm>
              <a:off x="3648" y="3264"/>
              <a:ext cx="480" cy="144"/>
            </a:xfrm>
            <a:prstGeom prst="line">
              <a:avLst/>
            </a:prstGeom>
            <a:ln w="9525" cap="flat" cmpd="sng">
              <a:solidFill>
                <a:srgbClr val="FF0000"/>
              </a:solidFill>
              <a:prstDash val="solid"/>
              <a:miter/>
              <a:headEnd type="none" w="sm" len="sm"/>
              <a:tailEnd type="none" w="sm" len="sm"/>
            </a:ln>
          </p:spPr>
        </p:sp>
        <p:sp>
          <p:nvSpPr>
            <p:cNvPr id="60513" name="直接连接符 60512"/>
            <p:cNvSpPr/>
            <p:nvPr/>
          </p:nvSpPr>
          <p:spPr>
            <a:xfrm flipV="1">
              <a:off x="1824" y="3264"/>
              <a:ext cx="1824" cy="96"/>
            </a:xfrm>
            <a:prstGeom prst="line">
              <a:avLst/>
            </a:prstGeom>
            <a:ln w="9525" cap="flat" cmpd="sng">
              <a:solidFill>
                <a:srgbClr val="FF0000"/>
              </a:solidFill>
              <a:prstDash val="solid"/>
              <a:miter/>
              <a:headEnd type="none" w="sm" len="sm"/>
              <a:tailEnd type="none" w="sm" len="sm"/>
            </a:ln>
          </p:spPr>
        </p:sp>
        <p:sp>
          <p:nvSpPr>
            <p:cNvPr id="60514" name="直接连接符 60513"/>
            <p:cNvSpPr/>
            <p:nvPr/>
          </p:nvSpPr>
          <p:spPr>
            <a:xfrm>
              <a:off x="2544" y="2928"/>
              <a:ext cx="144" cy="96"/>
            </a:xfrm>
            <a:prstGeom prst="line">
              <a:avLst/>
            </a:prstGeom>
            <a:ln w="9525" cap="flat" cmpd="sng">
              <a:solidFill>
                <a:srgbClr val="FF0000"/>
              </a:solidFill>
              <a:prstDash val="solid"/>
              <a:miter/>
              <a:headEnd type="none" w="sm" len="sm"/>
              <a:tailEnd type="triangle" w="sm" len="sm"/>
            </a:ln>
          </p:spPr>
        </p:sp>
        <p:sp>
          <p:nvSpPr>
            <p:cNvPr id="60515" name="直接连接符 60514"/>
            <p:cNvSpPr/>
            <p:nvPr/>
          </p:nvSpPr>
          <p:spPr>
            <a:xfrm>
              <a:off x="2544" y="3120"/>
              <a:ext cx="144" cy="96"/>
            </a:xfrm>
            <a:prstGeom prst="line">
              <a:avLst/>
            </a:prstGeom>
            <a:ln w="9525" cap="flat" cmpd="sng">
              <a:solidFill>
                <a:srgbClr val="FF0000"/>
              </a:solidFill>
              <a:prstDash val="solid"/>
              <a:miter/>
              <a:headEnd type="none" w="sm" len="sm"/>
              <a:tailEnd type="triangle" w="sm" len="sm"/>
            </a:ln>
          </p:spPr>
        </p:sp>
        <p:sp>
          <p:nvSpPr>
            <p:cNvPr id="60516" name="直接连接符 60515"/>
            <p:cNvSpPr/>
            <p:nvPr/>
          </p:nvSpPr>
          <p:spPr>
            <a:xfrm>
              <a:off x="2784" y="3024"/>
              <a:ext cx="192" cy="144"/>
            </a:xfrm>
            <a:prstGeom prst="line">
              <a:avLst/>
            </a:prstGeom>
            <a:ln w="9525" cap="flat" cmpd="sng">
              <a:solidFill>
                <a:srgbClr val="FF0000"/>
              </a:solidFill>
              <a:prstDash val="solid"/>
              <a:miter/>
              <a:headEnd type="none" w="sm" len="sm"/>
              <a:tailEnd type="triangle" w="sm" len="sm"/>
            </a:ln>
          </p:spPr>
        </p:sp>
        <p:sp>
          <p:nvSpPr>
            <p:cNvPr id="60517" name="任意多边形 60516"/>
            <p:cNvSpPr/>
            <p:nvPr/>
          </p:nvSpPr>
          <p:spPr>
            <a:xfrm>
              <a:off x="3360" y="3024"/>
              <a:ext cx="384" cy="56"/>
            </a:xfrm>
            <a:custGeom>
              <a:avLst/>
              <a:gdLst/>
              <a:ahLst/>
              <a:cxnLst/>
              <a:rect l="0" t="0" r="0" b="0"/>
              <a:pathLst>
                <a:path w="384" h="56">
                  <a:moveTo>
                    <a:pt x="0" y="0"/>
                  </a:moveTo>
                  <a:cubicBezTo>
                    <a:pt x="40" y="20"/>
                    <a:pt x="80" y="40"/>
                    <a:pt x="144" y="48"/>
                  </a:cubicBezTo>
                  <a:cubicBezTo>
                    <a:pt x="208" y="56"/>
                    <a:pt x="296" y="52"/>
                    <a:pt x="384" y="48"/>
                  </a:cubicBezTo>
                </a:path>
              </a:pathLst>
            </a:custGeom>
            <a:noFill/>
            <a:ln w="9525" cap="flat" cmpd="sng">
              <a:solidFill>
                <a:srgbClr val="FF0000">
                  <a:alpha val="100000"/>
                </a:srgbClr>
              </a:solidFill>
              <a:prstDash val="solid"/>
              <a:miter lim="800000"/>
              <a:headEnd type="none" w="sm" len="sm"/>
              <a:tailEnd type="non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0518" name="任意多边形 60517"/>
            <p:cNvSpPr/>
            <p:nvPr/>
          </p:nvSpPr>
          <p:spPr>
            <a:xfrm>
              <a:off x="3072" y="3024"/>
              <a:ext cx="672" cy="56"/>
            </a:xfrm>
            <a:custGeom>
              <a:avLst/>
              <a:gdLst/>
              <a:ahLst/>
              <a:cxnLst/>
              <a:rect l="0" t="0" r="0" b="0"/>
              <a:pathLst>
                <a:path w="672" h="56">
                  <a:moveTo>
                    <a:pt x="0" y="0"/>
                  </a:moveTo>
                  <a:cubicBezTo>
                    <a:pt x="40" y="20"/>
                    <a:pt x="80" y="40"/>
                    <a:pt x="192" y="48"/>
                  </a:cubicBezTo>
                  <a:cubicBezTo>
                    <a:pt x="304" y="56"/>
                    <a:pt x="488" y="52"/>
                    <a:pt x="672" y="48"/>
                  </a:cubicBezTo>
                </a:path>
              </a:pathLst>
            </a:custGeom>
            <a:noFill/>
            <a:ln w="9525" cap="flat" cmpd="sng">
              <a:solidFill>
                <a:srgbClr val="FF0000">
                  <a:alpha val="100000"/>
                </a:srgbClr>
              </a:solidFill>
              <a:prstDash val="solid"/>
              <a:miter lim="800000"/>
              <a:headEnd type="none" w="sm" len="sm"/>
              <a:tailEnd type="non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0519" name="直接连接符 60518"/>
            <p:cNvSpPr/>
            <p:nvPr/>
          </p:nvSpPr>
          <p:spPr>
            <a:xfrm>
              <a:off x="2784" y="3216"/>
              <a:ext cx="192" cy="144"/>
            </a:xfrm>
            <a:prstGeom prst="line">
              <a:avLst/>
            </a:prstGeom>
            <a:ln w="9525" cap="flat" cmpd="sng">
              <a:solidFill>
                <a:srgbClr val="FF0000"/>
              </a:solidFill>
              <a:prstDash val="solid"/>
              <a:miter/>
              <a:headEnd type="none" w="sm" len="sm"/>
              <a:tailEnd type="triangle" w="sm" len="sm"/>
            </a:ln>
          </p:spPr>
        </p:sp>
        <p:sp>
          <p:nvSpPr>
            <p:cNvPr id="60520" name="任意多边形 60519"/>
            <p:cNvSpPr/>
            <p:nvPr/>
          </p:nvSpPr>
          <p:spPr>
            <a:xfrm>
              <a:off x="3072" y="3216"/>
              <a:ext cx="576" cy="56"/>
            </a:xfrm>
            <a:custGeom>
              <a:avLst/>
              <a:gdLst/>
              <a:ahLst/>
              <a:cxnLst/>
              <a:rect l="0" t="0" r="0" b="0"/>
              <a:pathLst>
                <a:path w="576" h="56">
                  <a:moveTo>
                    <a:pt x="0" y="0"/>
                  </a:moveTo>
                  <a:cubicBezTo>
                    <a:pt x="48" y="20"/>
                    <a:pt x="96" y="40"/>
                    <a:pt x="192" y="48"/>
                  </a:cubicBezTo>
                  <a:cubicBezTo>
                    <a:pt x="288" y="56"/>
                    <a:pt x="432" y="52"/>
                    <a:pt x="576" y="48"/>
                  </a:cubicBezTo>
                </a:path>
              </a:pathLst>
            </a:custGeom>
            <a:noFill/>
            <a:ln w="9525" cap="flat" cmpd="sng">
              <a:solidFill>
                <a:srgbClr val="FF0000">
                  <a:alpha val="100000"/>
                </a:srgbClr>
              </a:solidFill>
              <a:prstDash val="solid"/>
              <a:miter lim="800000"/>
              <a:headEnd type="none" w="sm" len="sm"/>
              <a:tailEnd type="non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0521" name="任意多边形 60520"/>
            <p:cNvSpPr/>
            <p:nvPr/>
          </p:nvSpPr>
          <p:spPr>
            <a:xfrm>
              <a:off x="3360" y="3216"/>
              <a:ext cx="240" cy="56"/>
            </a:xfrm>
            <a:custGeom>
              <a:avLst/>
              <a:gdLst/>
              <a:ahLst/>
              <a:cxnLst/>
              <a:rect l="0" t="0" r="0" b="0"/>
              <a:pathLst>
                <a:path w="240" h="56">
                  <a:moveTo>
                    <a:pt x="0" y="0"/>
                  </a:moveTo>
                  <a:cubicBezTo>
                    <a:pt x="28" y="20"/>
                    <a:pt x="56" y="40"/>
                    <a:pt x="96" y="48"/>
                  </a:cubicBezTo>
                  <a:cubicBezTo>
                    <a:pt x="136" y="56"/>
                    <a:pt x="188" y="52"/>
                    <a:pt x="240" y="48"/>
                  </a:cubicBezTo>
                </a:path>
              </a:pathLst>
            </a:custGeom>
            <a:noFill/>
            <a:ln w="9525" cap="flat" cmpd="sng">
              <a:solidFill>
                <a:srgbClr val="FF0000">
                  <a:alpha val="100000"/>
                </a:srgbClr>
              </a:solidFill>
              <a:prstDash val="solid"/>
              <a:miter lim="800000"/>
              <a:headEnd type="none" w="sm" len="sm"/>
              <a:tailEnd type="non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0522" name="直接连接符 60521"/>
            <p:cNvSpPr/>
            <p:nvPr/>
          </p:nvSpPr>
          <p:spPr>
            <a:xfrm>
              <a:off x="2544" y="3312"/>
              <a:ext cx="144" cy="96"/>
            </a:xfrm>
            <a:prstGeom prst="line">
              <a:avLst/>
            </a:prstGeom>
            <a:ln w="9525" cap="flat" cmpd="sng">
              <a:solidFill>
                <a:srgbClr val="FF0000"/>
              </a:solidFill>
              <a:prstDash val="solid"/>
              <a:miter/>
              <a:headEnd type="none" w="sm" len="sm"/>
              <a:tailEnd type="triangle" w="sm" len="sm"/>
            </a:ln>
          </p:spPr>
        </p:sp>
        <p:sp>
          <p:nvSpPr>
            <p:cNvPr id="60523" name="直接连接符 60522"/>
            <p:cNvSpPr/>
            <p:nvPr/>
          </p:nvSpPr>
          <p:spPr>
            <a:xfrm>
              <a:off x="3168" y="3264"/>
              <a:ext cx="96" cy="96"/>
            </a:xfrm>
            <a:prstGeom prst="line">
              <a:avLst/>
            </a:prstGeom>
            <a:ln w="9525" cap="flat" cmpd="sng">
              <a:solidFill>
                <a:srgbClr val="FF0000"/>
              </a:solidFill>
              <a:prstDash val="solid"/>
              <a:miter/>
              <a:headEnd type="none" w="sm" len="sm"/>
              <a:tailEnd type="triangle" w="sm" len="sm"/>
            </a:ln>
          </p:spPr>
        </p:sp>
        <p:sp>
          <p:nvSpPr>
            <p:cNvPr id="60524" name="直接连接符 60523"/>
            <p:cNvSpPr/>
            <p:nvPr/>
          </p:nvSpPr>
          <p:spPr>
            <a:xfrm>
              <a:off x="3168" y="3072"/>
              <a:ext cx="96" cy="96"/>
            </a:xfrm>
            <a:prstGeom prst="line">
              <a:avLst/>
            </a:prstGeom>
            <a:ln w="9525" cap="flat" cmpd="sng">
              <a:solidFill>
                <a:srgbClr val="FF0000"/>
              </a:solidFill>
              <a:prstDash val="solid"/>
              <a:miter/>
              <a:headEnd type="none" w="sm" len="sm"/>
              <a:tailEnd type="triangle" w="sm" len="sm"/>
            </a:ln>
          </p:spPr>
        </p:sp>
        <p:sp>
          <p:nvSpPr>
            <p:cNvPr id="60525" name="直接连接符 60524"/>
            <p:cNvSpPr/>
            <p:nvPr/>
          </p:nvSpPr>
          <p:spPr>
            <a:xfrm>
              <a:off x="3120" y="2880"/>
              <a:ext cx="144" cy="96"/>
            </a:xfrm>
            <a:prstGeom prst="line">
              <a:avLst/>
            </a:prstGeom>
            <a:ln w="9525" cap="flat" cmpd="sng">
              <a:solidFill>
                <a:srgbClr val="FF0000"/>
              </a:solidFill>
              <a:prstDash val="solid"/>
              <a:miter/>
              <a:headEnd type="none" w="sm" len="sm"/>
              <a:tailEnd type="triangle" w="sm" len="sm"/>
            </a:ln>
          </p:spPr>
        </p:sp>
        <p:sp>
          <p:nvSpPr>
            <p:cNvPr id="60526" name="直接连接符 60525"/>
            <p:cNvSpPr/>
            <p:nvPr/>
          </p:nvSpPr>
          <p:spPr>
            <a:xfrm>
              <a:off x="3408" y="2880"/>
              <a:ext cx="144" cy="96"/>
            </a:xfrm>
            <a:prstGeom prst="line">
              <a:avLst/>
            </a:prstGeom>
            <a:ln w="9525" cap="flat" cmpd="sng">
              <a:solidFill>
                <a:srgbClr val="FF0000"/>
              </a:solidFill>
              <a:prstDash val="solid"/>
              <a:miter/>
              <a:headEnd type="none" w="sm" len="sm"/>
              <a:tailEnd type="triangle" w="sm" len="sm"/>
            </a:ln>
          </p:spPr>
        </p:sp>
        <p:sp>
          <p:nvSpPr>
            <p:cNvPr id="60527" name="直接连接符 60526"/>
            <p:cNvSpPr/>
            <p:nvPr/>
          </p:nvSpPr>
          <p:spPr>
            <a:xfrm>
              <a:off x="3456" y="3072"/>
              <a:ext cx="96" cy="96"/>
            </a:xfrm>
            <a:prstGeom prst="line">
              <a:avLst/>
            </a:prstGeom>
            <a:ln w="9525" cap="flat" cmpd="sng">
              <a:solidFill>
                <a:srgbClr val="FF0000"/>
              </a:solidFill>
              <a:prstDash val="solid"/>
              <a:miter/>
              <a:headEnd type="none" w="sm" len="sm"/>
              <a:tailEnd type="triangle" w="sm" len="sm"/>
            </a:ln>
          </p:spPr>
        </p:sp>
        <p:sp>
          <p:nvSpPr>
            <p:cNvPr id="60528" name="直接连接符 60527"/>
            <p:cNvSpPr/>
            <p:nvPr/>
          </p:nvSpPr>
          <p:spPr>
            <a:xfrm>
              <a:off x="3408" y="3264"/>
              <a:ext cx="192" cy="144"/>
            </a:xfrm>
            <a:prstGeom prst="line">
              <a:avLst/>
            </a:prstGeom>
            <a:ln w="9525" cap="flat" cmpd="sng">
              <a:solidFill>
                <a:srgbClr val="FF0000"/>
              </a:solidFill>
              <a:prstDash val="solid"/>
              <a:miter/>
              <a:headEnd type="none" w="sm" len="sm"/>
              <a:tailEnd type="triangle" w="sm" len="sm"/>
            </a:ln>
          </p:spPr>
        </p:sp>
      </p:grpSp>
      <p:sp>
        <p:nvSpPr>
          <p:cNvPr id="3" name="直接连接符 108558"/>
          <p:cNvSpPr/>
          <p:nvPr>
            <p:custDataLst>
              <p:tags r:id="rId1"/>
            </p:custDataLst>
          </p:nvPr>
        </p:nvSpPr>
        <p:spPr>
          <a:xfrm flipV="1">
            <a:off x="2219325" y="1678940"/>
            <a:ext cx="482600" cy="25400"/>
          </a:xfrm>
          <a:prstGeom prst="line">
            <a:avLst/>
          </a:prstGeom>
          <a:ln w="19050" cap="flat" cmpd="sng">
            <a:solidFill>
              <a:schemeClr val="tx1"/>
            </a:solidFill>
            <a:prstDash val="solid"/>
            <a:round/>
            <a:headEnd type="none" w="med" len="med"/>
            <a:tailEnd type="triangle" w="med" len="med"/>
          </a:ln>
        </p:spPr>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01410" y="104775"/>
            <a:ext cx="419989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伴随式计算和错误检测</a:t>
            </a:r>
          </a:p>
        </p:txBody>
      </p:sp>
      <p:sp>
        <p:nvSpPr>
          <p:cNvPr id="12" name="文本框 11"/>
          <p:cNvSpPr txBox="1"/>
          <p:nvPr/>
        </p:nvSpPr>
        <p:spPr>
          <a:xfrm>
            <a:off x="1782446" y="996951"/>
            <a:ext cx="8554085" cy="3635375"/>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dirty="0">
                <a:solidFill>
                  <a:srgbClr val="0070C0"/>
                </a:solidFill>
                <a:latin typeface="Times New Roman" panose="02020603050405020304" pitchFamily="18" charset="0"/>
                <a:ea typeface="黑体" panose="02010609060101010101" pitchFamily="49" charset="-122"/>
                <a:sym typeface="+mn-ea"/>
              </a:rPr>
              <a:t>回忆：</a:t>
            </a:r>
            <a:r>
              <a:rPr lang="zh-CN" altLang="en-US" sz="2400" dirty="0">
                <a:solidFill>
                  <a:srgbClr val="000000"/>
                </a:solidFill>
                <a:latin typeface="Times New Roman" panose="02020603050405020304" pitchFamily="18" charset="0"/>
                <a:ea typeface="黑体" panose="02010609060101010101" pitchFamily="49" charset="-122"/>
                <a:sym typeface="+mn-ea"/>
              </a:rPr>
              <a:t>伴随式定义为</a:t>
            </a:r>
            <a:r>
              <a:rPr lang="en-US" altLang="zh-CN" sz="2400" i="1">
                <a:solidFill>
                  <a:srgbClr val="000000"/>
                </a:solidFill>
                <a:latin typeface="Times New Roman" panose="02020603050405020304" pitchFamily="18" charset="0"/>
                <a:ea typeface="黑体" panose="02010609060101010101" pitchFamily="49" charset="-122"/>
                <a:sym typeface="+mn-ea"/>
              </a:rPr>
              <a:t>S=</a:t>
            </a:r>
            <a:r>
              <a:rPr lang="en-US" altLang="zh-CN" sz="2400" i="1" err="1">
                <a:solidFill>
                  <a:srgbClr val="000000"/>
                </a:solidFill>
                <a:latin typeface="Times New Roman" panose="02020603050405020304" pitchFamily="18" charset="0"/>
                <a:ea typeface="黑体" panose="02010609060101010101" pitchFamily="49" charset="-122"/>
                <a:sym typeface="+mn-ea"/>
              </a:rPr>
              <a:t>rH</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T</a:t>
            </a:r>
            <a:endParaRPr lang="zh-CN" altLang="en-US" sz="2400" dirty="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4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对系统循环码而言</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                   是接收多项式</a:t>
            </a:r>
            <a:r>
              <a:rPr lang="en-US" altLang="zh-CN" sz="2400" dirty="0">
                <a:solidFill>
                  <a:srgbClr val="000000"/>
                </a:solidFill>
                <a:latin typeface="Times New Roman" panose="02020603050405020304" pitchFamily="18" charset="0"/>
                <a:ea typeface="黑体" panose="02010609060101010101" pitchFamily="49" charset="-122"/>
                <a:sym typeface="+mn-ea"/>
              </a:rPr>
              <a:t>, </a:t>
            </a:r>
          </a:p>
          <a:p>
            <a:pPr eaLnBrk="0" fontAlgn="base" hangingPunct="0">
              <a:lnSpc>
                <a:spcPct val="14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是生成多项式</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用</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去除</a:t>
            </a:r>
            <a:r>
              <a:rPr lang="en-US" altLang="zh-CN" sz="2400" i="1" err="1">
                <a:solidFill>
                  <a:srgbClr val="000000"/>
                </a:solidFill>
                <a:latin typeface="Times New Roman" panose="02020603050405020304" pitchFamily="18" charset="0"/>
                <a:ea typeface="黑体" panose="02010609060101010101" pitchFamily="49" charset="-122"/>
                <a:sym typeface="+mn-ea"/>
              </a:rPr>
              <a:t>r</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所得的余式</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就是伴随式</a:t>
            </a:r>
            <a:r>
              <a:rPr lang="en-US" altLang="zh-CN" sz="2400" i="1" err="1">
                <a:solidFill>
                  <a:srgbClr val="000000"/>
                </a:solidFill>
                <a:latin typeface="Times New Roman" panose="02020603050405020304" pitchFamily="18" charset="0"/>
                <a:ea typeface="黑体" panose="02010609060101010101" pitchFamily="49" charset="-122"/>
                <a:sym typeface="+mn-ea"/>
              </a:rPr>
              <a:t>s</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即</a:t>
            </a:r>
            <a:r>
              <a:rPr lang="en-US" altLang="zh-CN" sz="2400" i="1" err="1">
                <a:solidFill>
                  <a:srgbClr val="000000"/>
                </a:solidFill>
                <a:latin typeface="Times New Roman" panose="02020603050405020304" pitchFamily="18" charset="0"/>
                <a:ea typeface="黑体" panose="02010609060101010101" pitchFamily="49" charset="-122"/>
                <a:sym typeface="+mn-ea"/>
              </a:rPr>
              <a:t>r</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s</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a:solidFill>
                  <a:srgbClr val="000000"/>
                </a:solidFill>
                <a:latin typeface="Times New Roman" panose="02020603050405020304" pitchFamily="18" charset="0"/>
                <a:ea typeface="黑体" panose="02010609060101010101" pitchFamily="49" charset="-122"/>
                <a:sym typeface="+mn-ea"/>
              </a:rPr>
              <a:t>。</a:t>
            </a:r>
          </a:p>
          <a:p>
            <a:pPr eaLnBrk="0" fontAlgn="base" hangingPunct="0">
              <a:lnSpc>
                <a:spcPct val="140000"/>
              </a:lnSpc>
              <a:spcBef>
                <a:spcPct val="0"/>
              </a:spcBef>
              <a:spcAft>
                <a:spcPct val="0"/>
              </a:spcAft>
            </a:pPr>
            <a:r>
              <a:rPr lang="en-US" altLang="zh-CN" sz="2400">
                <a:solidFill>
                  <a:srgbClr val="000000"/>
                </a:solidFill>
                <a:latin typeface="Arial" panose="020B0604020202020204" pitchFamily="34" charset="0"/>
                <a:ea typeface="宋体" panose="02010600030101010101" pitchFamily="2" charset="-122"/>
                <a:sym typeface="+mn-ea"/>
              </a:rPr>
              <a:t>       ∵ </a:t>
            </a:r>
            <a:r>
              <a:rPr lang="en-US" altLang="zh-CN" sz="2400" i="1" err="1">
                <a:solidFill>
                  <a:srgbClr val="000000"/>
                </a:solidFill>
                <a:latin typeface="Times New Roman" panose="02020603050405020304" pitchFamily="18" charset="0"/>
                <a:ea typeface="黑体" panose="02010609060101010101" pitchFamily="49" charset="-122"/>
                <a:sym typeface="+mn-ea"/>
              </a:rPr>
              <a:t>r</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e</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q</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r</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s</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endParaRPr lang="en-US" altLang="zh-CN" sz="2400">
              <a:solidFill>
                <a:srgbClr val="000000"/>
              </a:solidFill>
              <a:latin typeface="Times New Roman" panose="02020603050405020304" pitchFamily="18" charset="0"/>
              <a:ea typeface="黑体" panose="02010609060101010101" pitchFamily="49" charset="-122"/>
            </a:endParaRPr>
          </a:p>
          <a:p>
            <a:pPr eaLnBrk="0" fontAlgn="base" hangingPunct="0">
              <a:lnSpc>
                <a:spcPct val="140000"/>
              </a:lnSpc>
              <a:spcBef>
                <a:spcPct val="0"/>
              </a:spcBef>
              <a:spcAft>
                <a:spcPct val="0"/>
              </a:spcAft>
            </a:pPr>
            <a:r>
              <a:rPr lang="en-US" altLang="zh-CN" sz="2400" dirty="0">
                <a:solidFill>
                  <a:srgbClr val="000000"/>
                </a:solidFill>
                <a:latin typeface="Arial" panose="020B0604020202020204" pitchFamily="34" charset="0"/>
                <a:ea typeface="宋体" panose="02010600030101010101" pitchFamily="2" charset="-122"/>
                <a:sym typeface="+mn-ea"/>
              </a:rPr>
              <a:t>       </a:t>
            </a:r>
            <a:r>
              <a:rPr lang="zh-CN" altLang="en-US" sz="2400" dirty="0">
                <a:solidFill>
                  <a:srgbClr val="000000"/>
                </a:solidFill>
                <a:latin typeface="Arial" panose="020B0604020202020204" pitchFamily="34" charset="0"/>
                <a:ea typeface="宋体" panose="02010600030101010101" pitchFamily="2"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q</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e</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s</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endParaRPr lang="en-US" altLang="zh-CN" sz="2400">
              <a:solidFill>
                <a:srgbClr val="000000"/>
              </a:solidFill>
              <a:latin typeface="Times New Roman" panose="02020603050405020304" pitchFamily="18" charset="0"/>
              <a:ea typeface="黑体" panose="02010609060101010101" pitchFamily="49" charset="-122"/>
            </a:endParaRPr>
          </a:p>
          <a:p>
            <a:pPr eaLnBrk="0" fontAlgn="base" hangingPunct="0">
              <a:lnSpc>
                <a:spcPct val="140000"/>
              </a:lnSpc>
              <a:spcBef>
                <a:spcPct val="0"/>
              </a:spcBef>
              <a:spcAft>
                <a:spcPct val="0"/>
              </a:spcAft>
            </a:pPr>
            <a:r>
              <a:rPr lang="en-US" altLang="zh-CN" sz="2400" dirty="0">
                <a:solidFill>
                  <a:srgbClr val="000000"/>
                </a:solidFill>
                <a:latin typeface="Arial" panose="020B0604020202020204" pitchFamily="34" charset="0"/>
                <a:ea typeface="宋体" panose="02010600030101010101" pitchFamily="2" charset="-122"/>
                <a:sym typeface="+mn-ea"/>
              </a:rPr>
              <a:t>       </a:t>
            </a:r>
            <a:r>
              <a:rPr lang="zh-CN" altLang="en-US" sz="2400" dirty="0">
                <a:solidFill>
                  <a:srgbClr val="000000"/>
                </a:solidFill>
                <a:latin typeface="Arial" panose="020B0604020202020204" pitchFamily="34" charset="0"/>
                <a:ea typeface="宋体" panose="02010600030101010101" pitchFamily="2"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e</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q</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a</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s</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0"/>
          </p:cNvPr>
          <p:cNvGraphicFramePr>
            <a:graphicFrameLocks noChangeAspect="1"/>
          </p:cNvGraphicFramePr>
          <p:nvPr/>
        </p:nvGraphicFramePr>
        <p:xfrm>
          <a:off x="5031106" y="1523365"/>
          <a:ext cx="1501775" cy="547370"/>
        </p:xfrm>
        <a:graphic>
          <a:graphicData uri="http://schemas.openxmlformats.org/presentationml/2006/ole">
            <mc:AlternateContent xmlns:mc="http://schemas.openxmlformats.org/markup-compatibility/2006">
              <mc:Choice xmlns:v="urn:schemas-microsoft-com:vml" Requires="v">
                <p:oleObj r:id="rId2" imgW="952500" imgH="292100" progId="Equation.KSEE3">
                  <p:embed/>
                </p:oleObj>
              </mc:Choice>
              <mc:Fallback>
                <p:oleObj r:id="rId2" imgW="952500" imgH="292100" progId="Equation.KSEE3">
                  <p:embed/>
                  <p:pic>
                    <p:nvPicPr>
                      <p:cNvPr id="11" name="对象 10">
                        <a:hlinkClick r:id="" action="ppaction://ole?verb=0"/>
                      </p:cNvPr>
                      <p:cNvPicPr/>
                      <p:nvPr/>
                    </p:nvPicPr>
                    <p:blipFill>
                      <a:blip r:embed="rId3"/>
                      <a:stretch>
                        <a:fillRect/>
                      </a:stretch>
                    </p:blipFill>
                    <p:spPr>
                      <a:xfrm>
                        <a:off x="5031106" y="1523365"/>
                        <a:ext cx="1501775" cy="547370"/>
                      </a:xfrm>
                      <a:prstGeom prst="rect">
                        <a:avLst/>
                      </a:prstGeom>
                    </p:spPr>
                  </p:pic>
                </p:oleObj>
              </mc:Fallback>
            </mc:AlternateContent>
          </a:graphicData>
        </a:graphic>
      </p:graphicFrame>
      <p:graphicFrame>
        <p:nvGraphicFramePr>
          <p:cNvPr id="4" name="对象 3">
            <a:hlinkClick r:id="" action="ppaction://ole?verb=0"/>
          </p:cNvPr>
          <p:cNvGraphicFramePr>
            <a:graphicFrameLocks noChangeAspect="1"/>
          </p:cNvGraphicFramePr>
          <p:nvPr/>
        </p:nvGraphicFramePr>
        <p:xfrm>
          <a:off x="8460106" y="1561465"/>
          <a:ext cx="1713865" cy="471170"/>
        </p:xfrm>
        <a:graphic>
          <a:graphicData uri="http://schemas.openxmlformats.org/presentationml/2006/ole">
            <mc:AlternateContent xmlns:mc="http://schemas.openxmlformats.org/markup-compatibility/2006">
              <mc:Choice xmlns:v="urn:schemas-microsoft-com:vml" Requires="v">
                <p:oleObj r:id="rId4" imgW="1143000" imgH="292100" progId="Equation.KSEE3">
                  <p:embed/>
                </p:oleObj>
              </mc:Choice>
              <mc:Fallback>
                <p:oleObj r:id="rId4" imgW="1143000" imgH="292100" progId="Equation.KSEE3">
                  <p:embed/>
                  <p:pic>
                    <p:nvPicPr>
                      <p:cNvPr id="4" name="对象 3">
                        <a:hlinkClick r:id="" action="ppaction://ole?verb=0"/>
                      </p:cNvPr>
                      <p:cNvPicPr/>
                      <p:nvPr/>
                    </p:nvPicPr>
                    <p:blipFill>
                      <a:blip r:embed="rId5"/>
                      <a:stretch>
                        <a:fillRect/>
                      </a:stretch>
                    </p:blipFill>
                    <p:spPr>
                      <a:xfrm>
                        <a:off x="8460106" y="1561465"/>
                        <a:ext cx="1713865" cy="471170"/>
                      </a:xfrm>
                      <a:prstGeom prst="rect">
                        <a:avLst/>
                      </a:prstGeom>
                    </p:spPr>
                  </p:pic>
                </p:oleObj>
              </mc:Fallback>
            </mc:AlternateContent>
          </a:graphicData>
        </a:graphic>
      </p:graphicFrame>
      <p:sp>
        <p:nvSpPr>
          <p:cNvPr id="15" name="矩形 14"/>
          <p:cNvSpPr/>
          <p:nvPr/>
        </p:nvSpPr>
        <p:spPr>
          <a:xfrm>
            <a:off x="3070225" y="5121276"/>
            <a:ext cx="6023610" cy="74358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4" name="文本框 13"/>
          <p:cNvSpPr txBox="1"/>
          <p:nvPr/>
        </p:nvSpPr>
        <p:spPr>
          <a:xfrm>
            <a:off x="3244850" y="5197475"/>
            <a:ext cx="5741670"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dirty="0">
                <a:solidFill>
                  <a:srgbClr val="000000"/>
                </a:solidFill>
                <a:latin typeface="Arial" panose="020B0604020202020204" pitchFamily="34" charset="0"/>
                <a:ea typeface="黑体" panose="02010609060101010101" pitchFamily="49" charset="-122"/>
                <a:sym typeface="+mn-ea"/>
              </a:rPr>
              <a:t>求伴随式的运算也可以用除法电路来实现</a:t>
            </a:r>
            <a:endParaRPr lang="zh-CN" altLang="en-US" sz="2400" b="1"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01410" y="104775"/>
            <a:ext cx="419989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伴随式的性质</a:t>
            </a:r>
          </a:p>
        </p:txBody>
      </p:sp>
      <p:sp>
        <p:nvSpPr>
          <p:cNvPr id="12" name="文本框 11"/>
          <p:cNvSpPr txBox="1"/>
          <p:nvPr/>
        </p:nvSpPr>
        <p:spPr>
          <a:xfrm>
            <a:off x="2009140" y="996951"/>
            <a:ext cx="8224520" cy="3969385"/>
          </a:xfrm>
          <a:prstGeom prst="rect">
            <a:avLst/>
          </a:prstGeom>
          <a:noFill/>
        </p:spPr>
        <p:txBody>
          <a:bodyPr wrap="square" rtlCol="0" anchor="t">
            <a:spAutoFit/>
          </a:bodyPr>
          <a:lstStyle/>
          <a:p>
            <a:pPr eaLnBrk="0" fontAlgn="base" hangingPunct="0">
              <a:lnSpc>
                <a:spcPct val="150000"/>
              </a:lnSpc>
              <a:spcBef>
                <a:spcPct val="0"/>
              </a:spcBef>
              <a:spcAft>
                <a:spcPct val="0"/>
              </a:spcAft>
            </a:pPr>
            <a:r>
              <a:rPr lang="zh-CN" altLang="en-US" sz="2400" b="1" dirty="0">
                <a:solidFill>
                  <a:srgbClr val="0070C0"/>
                </a:solidFill>
                <a:latin typeface="Times New Roman" panose="02020603050405020304" pitchFamily="18" charset="0"/>
                <a:ea typeface="黑体" panose="02010609060101010101" pitchFamily="49" charset="-122"/>
                <a:sym typeface="+mn-ea"/>
              </a:rPr>
              <a:t>性质</a:t>
            </a:r>
            <a:r>
              <a:rPr lang="en-US" altLang="zh-CN" sz="2400" b="1">
                <a:solidFill>
                  <a:srgbClr val="0070C0"/>
                </a:solidFill>
                <a:latin typeface="Times New Roman" panose="02020603050405020304" pitchFamily="18" charset="0"/>
                <a:ea typeface="黑体" panose="02010609060101010101" pitchFamily="49" charset="-122"/>
                <a:sym typeface="+mn-ea"/>
              </a:rPr>
              <a:t>1</a:t>
            </a:r>
            <a:r>
              <a:rPr lang="zh-CN" altLang="en-US" sz="2400" b="1" dirty="0">
                <a:solidFill>
                  <a:srgbClr val="0070C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令</a:t>
            </a:r>
            <a:r>
              <a:rPr lang="en-US" altLang="zh-CN" sz="2400" i="1" err="1">
                <a:solidFill>
                  <a:srgbClr val="000000"/>
                </a:solidFill>
                <a:latin typeface="Times New Roman" panose="02020603050405020304" pitchFamily="18" charset="0"/>
                <a:ea typeface="黑体" panose="02010609060101010101" pitchFamily="49" charset="-122"/>
                <a:sym typeface="+mn-ea"/>
              </a:rPr>
              <a:t>s</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是接收多项式</a:t>
            </a:r>
            <a:r>
              <a:rPr lang="en-US" altLang="zh-CN" sz="2400" i="1" err="1">
                <a:solidFill>
                  <a:srgbClr val="000000"/>
                </a:solidFill>
                <a:latin typeface="Times New Roman" panose="02020603050405020304" pitchFamily="18" charset="0"/>
                <a:ea typeface="黑体" panose="02010609060101010101" pitchFamily="49" charset="-122"/>
                <a:sym typeface="+mn-ea"/>
              </a:rPr>
              <a:t>r</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的伴随式</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则用生成多项式</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除</a:t>
            </a:r>
            <a:r>
              <a:rPr lang="en-US" altLang="zh-CN" sz="2400" i="1" err="1">
                <a:solidFill>
                  <a:srgbClr val="000000"/>
                </a:solidFill>
                <a:latin typeface="Times New Roman" panose="02020603050405020304" pitchFamily="18" charset="0"/>
                <a:ea typeface="黑体" panose="02010609060101010101" pitchFamily="49" charset="-122"/>
                <a:sym typeface="+mn-ea"/>
              </a:rPr>
              <a:t>xs</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所得的余式</a:t>
            </a:r>
            <a:r>
              <a:rPr lang="en-US" altLang="zh-CN" sz="2400" i="1">
                <a:solidFill>
                  <a:srgbClr val="000000"/>
                </a:solidFill>
                <a:latin typeface="Times New Roman" panose="02020603050405020304" pitchFamily="18" charset="0"/>
                <a:ea typeface="黑体" panose="02010609060101010101" pitchFamily="49" charset="-122"/>
                <a:sym typeface="+mn-ea"/>
              </a:rPr>
              <a:t>s</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就是</a:t>
            </a:r>
            <a:r>
              <a:rPr lang="en-US" altLang="zh-CN" sz="2400" i="1" err="1">
                <a:solidFill>
                  <a:srgbClr val="000000"/>
                </a:solidFill>
                <a:latin typeface="Times New Roman" panose="02020603050405020304" pitchFamily="18" charset="0"/>
                <a:ea typeface="黑体" panose="02010609060101010101" pitchFamily="49" charset="-122"/>
                <a:sym typeface="+mn-ea"/>
              </a:rPr>
              <a:t>r</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循环移位一次</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的伴随式</a:t>
            </a:r>
            <a:r>
              <a:rPr lang="zh-CN" altLang="en-US" sz="2400">
                <a:solidFill>
                  <a:srgbClr val="000000"/>
                </a:solidFill>
                <a:latin typeface="Times New Roman" panose="02020603050405020304" pitchFamily="18" charset="0"/>
                <a:ea typeface="黑体" panose="02010609060101010101" pitchFamily="49" charset="-122"/>
                <a:sym typeface="+mn-ea"/>
              </a:rPr>
              <a:t>。</a:t>
            </a:r>
          </a:p>
          <a:p>
            <a:pPr eaLnBrk="0" fontAlgn="base" hangingPunct="0">
              <a:lnSpc>
                <a:spcPct val="150000"/>
              </a:lnSpc>
              <a:spcBef>
                <a:spcPct val="0"/>
              </a:spcBef>
              <a:spcAft>
                <a:spcPct val="0"/>
              </a:spcAft>
            </a:pPr>
            <a:r>
              <a:rPr lang="zh-CN" altLang="en-US" sz="2400" b="1" dirty="0">
                <a:solidFill>
                  <a:srgbClr val="0070C0"/>
                </a:solidFill>
                <a:latin typeface="Times New Roman" panose="02020603050405020304" pitchFamily="18" charset="0"/>
                <a:ea typeface="黑体" panose="02010609060101010101" pitchFamily="49" charset="-122"/>
                <a:sym typeface="+mn-ea"/>
              </a:rPr>
              <a:t>性质</a:t>
            </a:r>
            <a:r>
              <a:rPr lang="en-US" altLang="zh-CN" sz="2400" b="1">
                <a:solidFill>
                  <a:srgbClr val="0070C0"/>
                </a:solidFill>
                <a:latin typeface="Times New Roman" panose="02020603050405020304" pitchFamily="18" charset="0"/>
                <a:ea typeface="黑体" panose="02010609060101010101" pitchFamily="49" charset="-122"/>
                <a:sym typeface="+mn-ea"/>
              </a:rPr>
              <a:t>2</a:t>
            </a:r>
            <a:r>
              <a:rPr lang="zh-CN" altLang="en-US" sz="2400" b="1" dirty="0">
                <a:solidFill>
                  <a:srgbClr val="0070C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循环码能够检测长度小于等于</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黑体" panose="02010609060101010101" pitchFamily="49" charset="-122"/>
                <a:ea typeface="黑体" panose="02010609060101010101" pitchFamily="49" charset="-122"/>
                <a:sym typeface="+mn-ea"/>
              </a:rPr>
              <a:t>的任何突发错误</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换句话说</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黑体" panose="02010609060101010101" pitchFamily="49" charset="-122"/>
                <a:ea typeface="黑体" panose="02010609060101010101" pitchFamily="49" charset="-122"/>
                <a:sym typeface="+mn-ea"/>
              </a:rPr>
              <a:t>每个长度小于等于</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黑体" panose="02010609060101010101" pitchFamily="49" charset="-122"/>
                <a:ea typeface="黑体" panose="02010609060101010101" pitchFamily="49" charset="-122"/>
                <a:sym typeface="+mn-ea"/>
              </a:rPr>
              <a:t>的突发错误的伴随式不等于</a:t>
            </a:r>
            <a:r>
              <a:rPr lang="en-US" altLang="zh-CN"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0</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lnSpc>
                <a:spcPct val="150000"/>
              </a:lnSpc>
              <a:spcBef>
                <a:spcPct val="0"/>
              </a:spcBef>
              <a:spcAft>
                <a:spcPct val="0"/>
              </a:spcAft>
            </a:pPr>
            <a:r>
              <a:rPr lang="zh-CN" altLang="en-US" sz="2400" b="1" dirty="0">
                <a:solidFill>
                  <a:srgbClr val="0070C0"/>
                </a:solidFill>
                <a:latin typeface="Times New Roman" panose="02020603050405020304" pitchFamily="18" charset="0"/>
                <a:ea typeface="黑体" panose="02010609060101010101" pitchFamily="49" charset="-122"/>
                <a:sym typeface="+mn-ea"/>
              </a:rPr>
              <a:t>性质</a:t>
            </a:r>
            <a:r>
              <a:rPr lang="en-US" altLang="zh-CN" sz="2400" b="1">
                <a:solidFill>
                  <a:srgbClr val="0070C0"/>
                </a:solidFill>
                <a:latin typeface="Times New Roman" panose="02020603050405020304" pitchFamily="18" charset="0"/>
                <a:ea typeface="黑体" panose="02010609060101010101" pitchFamily="49" charset="-122"/>
                <a:sym typeface="+mn-ea"/>
              </a:rPr>
              <a:t>3</a:t>
            </a:r>
            <a:r>
              <a:rPr lang="zh-CN" altLang="en-US" sz="2400" b="1" dirty="0">
                <a:solidFill>
                  <a:srgbClr val="0070C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伴随式等于生成多项式除错误图样后所得的余式</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4" name="圆角矩形 3"/>
          <p:cNvSpPr/>
          <p:nvPr/>
        </p:nvSpPr>
        <p:spPr>
          <a:xfrm>
            <a:off x="1804670" y="5067936"/>
            <a:ext cx="8743950" cy="1161415"/>
          </a:xfrm>
          <a:prstGeom prst="roundRect">
            <a:avLst/>
          </a:prstGeom>
          <a:solidFill>
            <a:srgbClr val="92D05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lnSpc>
                <a:spcPct val="12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伴随式的这些性质对于译码非常有用。举例来说</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若</a:t>
            </a:r>
            <a:r>
              <a:rPr lang="en-US" altLang="zh-CN" sz="2400" i="1" err="1">
                <a:solidFill>
                  <a:srgbClr val="000000"/>
                </a:solidFill>
                <a:latin typeface="Times New Roman" panose="02020603050405020304" pitchFamily="18" charset="0"/>
                <a:ea typeface="黑体" panose="02010609060101010101" pitchFamily="49" charset="-122"/>
                <a:sym typeface="+mn-ea"/>
              </a:rPr>
              <a:t>e</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是可以纠正的错误图样</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则</a:t>
            </a:r>
            <a:r>
              <a:rPr lang="en-US" altLang="zh-CN" sz="2400" i="1" err="1">
                <a:solidFill>
                  <a:srgbClr val="000000"/>
                </a:solidFill>
                <a:latin typeface="Times New Roman" panose="02020603050405020304" pitchFamily="18" charset="0"/>
                <a:ea typeface="黑体" panose="02010609060101010101" pitchFamily="49" charset="-122"/>
                <a:sym typeface="+mn-ea"/>
              </a:rPr>
              <a:t>e</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的循环移位也是可以纠正的错误图样</a:t>
            </a:r>
            <a:r>
              <a:rPr lang="zh-CN" altLang="en-US" sz="2400">
                <a:solidFill>
                  <a:srgbClr val="000000"/>
                </a:solidFill>
                <a:latin typeface="Times New Roman"/>
                <a:ea typeface="黑体"/>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举例：求伴随式</a:t>
            </a:r>
          </a:p>
        </p:txBody>
      </p:sp>
      <p:sp>
        <p:nvSpPr>
          <p:cNvPr id="9" name="文本框 8"/>
          <p:cNvSpPr txBox="1"/>
          <p:nvPr/>
        </p:nvSpPr>
        <p:spPr>
          <a:xfrm>
            <a:off x="2106295" y="789940"/>
            <a:ext cx="3867150" cy="520848"/>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en-US" altLang="zh-CN" sz="2400" b="1" i="1" err="1">
                <a:solidFill>
                  <a:srgbClr val="000000"/>
                </a:solidFill>
                <a:latin typeface="Times New Roman" panose="02020603050405020304" pitchFamily="18" charset="0"/>
                <a:ea typeface="黑体" panose="02010609060101010101" pitchFamily="49" charset="-122"/>
                <a:sym typeface="+mn-ea"/>
              </a:rPr>
              <a:t>g</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baseline="30000">
                <a:solidFill>
                  <a:srgbClr val="000000"/>
                </a:solidFill>
                <a:latin typeface="Times New Roman" panose="02020603050405020304" pitchFamily="18" charset="0"/>
                <a:ea typeface="黑体" panose="02010609060101010101" pitchFamily="49" charset="-122"/>
                <a:sym typeface="+mn-ea"/>
              </a:rPr>
              <a:t>3</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+1</a:t>
            </a:r>
            <a:r>
              <a:rPr lang="zh-CN" altLang="en-US" sz="2400" b="1" dirty="0">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r</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baseline="30000">
                <a:solidFill>
                  <a:srgbClr val="000000"/>
                </a:solidFill>
                <a:latin typeface="Times New Roman" panose="02020603050405020304" pitchFamily="18" charset="0"/>
                <a:ea typeface="黑体" panose="02010609060101010101" pitchFamily="49" charset="-122"/>
                <a:sym typeface="+mn-ea"/>
              </a:rPr>
              <a:t>6</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baseline="30000">
                <a:solidFill>
                  <a:srgbClr val="000000"/>
                </a:solidFill>
                <a:latin typeface="Times New Roman" panose="02020603050405020304" pitchFamily="18" charset="0"/>
                <a:ea typeface="黑体" panose="02010609060101010101" pitchFamily="49" charset="-122"/>
                <a:sym typeface="+mn-ea"/>
              </a:rPr>
              <a:t>5</a:t>
            </a:r>
            <a:r>
              <a:rPr lang="en-US" altLang="zh-CN" sz="2400" b="1">
                <a:solidFill>
                  <a:srgbClr val="000000"/>
                </a:solidFill>
                <a:latin typeface="Times New Roman" panose="02020603050405020304" pitchFamily="18" charset="0"/>
                <a:ea typeface="黑体" panose="02010609060101010101" pitchFamily="49" charset="-122"/>
                <a:sym typeface="+mn-ea"/>
              </a:rPr>
              <a:t>+1</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graphicFrame>
        <p:nvGraphicFramePr>
          <p:cNvPr id="4" name="对象 3">
            <a:hlinkClick r:id="" action="ppaction://ole?verb=0"/>
          </p:cNvPr>
          <p:cNvGraphicFramePr>
            <a:graphicFrameLocks noChangeAspect="1"/>
          </p:cNvGraphicFramePr>
          <p:nvPr/>
        </p:nvGraphicFramePr>
        <p:xfrm>
          <a:off x="1756411" y="1600201"/>
          <a:ext cx="2058035" cy="1564005"/>
        </p:xfrm>
        <a:graphic>
          <a:graphicData uri="http://schemas.openxmlformats.org/presentationml/2006/ole">
            <mc:AlternateContent xmlns:mc="http://schemas.openxmlformats.org/markup-compatibility/2006">
              <mc:Choice xmlns:v="urn:schemas-microsoft-com:vml" Requires="v">
                <p:oleObj r:id="rId3" imgW="1346200" imgH="939800" progId="Equation.KSEE3">
                  <p:embed/>
                </p:oleObj>
              </mc:Choice>
              <mc:Fallback>
                <p:oleObj r:id="rId3" imgW="1346200" imgH="939800" progId="Equation.KSEE3">
                  <p:embed/>
                  <p:pic>
                    <p:nvPicPr>
                      <p:cNvPr id="4" name="对象 3">
                        <a:hlinkClick r:id="" action="ppaction://ole?verb=0"/>
                      </p:cNvPr>
                      <p:cNvPicPr/>
                      <p:nvPr/>
                    </p:nvPicPr>
                    <p:blipFill>
                      <a:blip r:embed="rId4"/>
                      <a:stretch>
                        <a:fillRect/>
                      </a:stretch>
                    </p:blipFill>
                    <p:spPr>
                      <a:xfrm>
                        <a:off x="1756411" y="1600201"/>
                        <a:ext cx="2058035" cy="1564005"/>
                      </a:xfrm>
                      <a:prstGeom prst="rect">
                        <a:avLst/>
                      </a:prstGeom>
                    </p:spPr>
                  </p:pic>
                </p:oleObj>
              </mc:Fallback>
            </mc:AlternateContent>
          </a:graphicData>
        </a:graphic>
      </p:graphicFrame>
      <p:graphicFrame>
        <p:nvGraphicFramePr>
          <p:cNvPr id="7" name="对象 6">
            <a:hlinkClick r:id="" action="ppaction://ole?verb=0"/>
          </p:cNvPr>
          <p:cNvGraphicFramePr>
            <a:graphicFrameLocks noChangeAspect="1"/>
          </p:cNvGraphicFramePr>
          <p:nvPr/>
        </p:nvGraphicFramePr>
        <p:xfrm>
          <a:off x="4204335" y="1524000"/>
          <a:ext cx="4686300" cy="1554480"/>
        </p:xfrm>
        <a:graphic>
          <a:graphicData uri="http://schemas.openxmlformats.org/presentationml/2006/ole">
            <mc:AlternateContent xmlns:mc="http://schemas.openxmlformats.org/markup-compatibility/2006">
              <mc:Choice xmlns:v="urn:schemas-microsoft-com:vml" Requires="v">
                <p:oleObj r:id="rId5" imgW="2730500" imgH="914400" progId="Equation.KSEE3">
                  <p:embed/>
                </p:oleObj>
              </mc:Choice>
              <mc:Fallback>
                <p:oleObj r:id="rId5" imgW="2730500" imgH="914400" progId="Equation.KSEE3">
                  <p:embed/>
                  <p:pic>
                    <p:nvPicPr>
                      <p:cNvPr id="7" name="对象 6">
                        <a:hlinkClick r:id="" action="ppaction://ole?verb=0"/>
                      </p:cNvPr>
                      <p:cNvPicPr/>
                      <p:nvPr/>
                    </p:nvPicPr>
                    <p:blipFill>
                      <a:blip r:embed="rId6"/>
                      <a:stretch>
                        <a:fillRect/>
                      </a:stretch>
                    </p:blipFill>
                    <p:spPr>
                      <a:xfrm>
                        <a:off x="4204335" y="1524000"/>
                        <a:ext cx="4686300" cy="1554480"/>
                      </a:xfrm>
                      <a:prstGeom prst="rect">
                        <a:avLst/>
                      </a:prstGeom>
                    </p:spPr>
                  </p:pic>
                </p:oleObj>
              </mc:Fallback>
            </mc:AlternateContent>
          </a:graphicData>
        </a:graphic>
      </p:graphicFrame>
      <p:sp>
        <p:nvSpPr>
          <p:cNvPr id="3" name="右箭头 2"/>
          <p:cNvSpPr/>
          <p:nvPr/>
        </p:nvSpPr>
        <p:spPr>
          <a:xfrm>
            <a:off x="3886200" y="2114550"/>
            <a:ext cx="304800" cy="381000"/>
          </a:xfrm>
          <a:prstGeom prst="rightArrow">
            <a:avLst/>
          </a:prstGeom>
          <a:gradFill>
            <a:gsLst>
              <a:gs pos="0">
                <a:srgbClr val="14CD68"/>
              </a:gs>
              <a:gs pos="100000">
                <a:srgbClr val="035C7D"/>
              </a:gs>
            </a:gsLst>
            <a:lin ang="5400000" scaled="0"/>
          </a:gra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38920" name="任意多边形 113672"/>
          <p:cNvSpPr/>
          <p:nvPr/>
        </p:nvSpPr>
        <p:spPr>
          <a:xfrm>
            <a:off x="5723255" y="1905000"/>
            <a:ext cx="195580" cy="1028700"/>
          </a:xfrm>
          <a:custGeom>
            <a:avLst/>
            <a:gdLst/>
            <a:ahLst/>
            <a:cxnLst/>
            <a:rect l="0" t="0" r="0" b="0"/>
            <a:pathLst>
              <a:path w="51" h="448">
                <a:moveTo>
                  <a:pt x="3" y="448"/>
                </a:moveTo>
                <a:cubicBezTo>
                  <a:pt x="17" y="391"/>
                  <a:pt x="39" y="338"/>
                  <a:pt x="51" y="280"/>
                </a:cubicBezTo>
                <a:cubicBezTo>
                  <a:pt x="48" y="229"/>
                  <a:pt x="49" y="178"/>
                  <a:pt x="43" y="128"/>
                </a:cubicBezTo>
                <a:cubicBezTo>
                  <a:pt x="41" y="111"/>
                  <a:pt x="32" y="96"/>
                  <a:pt x="27" y="80"/>
                </a:cubicBezTo>
                <a:cubicBezTo>
                  <a:pt x="0" y="0"/>
                  <a:pt x="3" y="103"/>
                  <a:pt x="3" y="64"/>
                </a:cubicBezTo>
              </a:path>
            </a:pathLst>
          </a:custGeom>
          <a:noFill/>
          <a:ln w="9525" cap="flat" cmpd="sng">
            <a:solidFill>
              <a:srgbClr val="FF3300"/>
            </a:solidFill>
            <a:prstDash val="solid"/>
            <a:miter/>
            <a:headEnd type="none" w="sm" len="sm"/>
            <a:tailEnd type="triangle" w="sm" len="med"/>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38919" name="任意多边形 113671"/>
          <p:cNvSpPr/>
          <p:nvPr/>
        </p:nvSpPr>
        <p:spPr>
          <a:xfrm>
            <a:off x="5764531" y="1654811"/>
            <a:ext cx="333375" cy="1279525"/>
          </a:xfrm>
          <a:custGeom>
            <a:avLst/>
            <a:gdLst/>
            <a:ahLst/>
            <a:cxnLst/>
            <a:rect l="0" t="0" r="0" b="0"/>
            <a:pathLst>
              <a:path w="101" h="568">
                <a:moveTo>
                  <a:pt x="0" y="568"/>
                </a:moveTo>
                <a:cubicBezTo>
                  <a:pt x="15" y="546"/>
                  <a:pt x="29" y="520"/>
                  <a:pt x="40" y="496"/>
                </a:cubicBezTo>
                <a:cubicBezTo>
                  <a:pt x="50" y="473"/>
                  <a:pt x="50" y="445"/>
                  <a:pt x="64" y="424"/>
                </a:cubicBezTo>
                <a:cubicBezTo>
                  <a:pt x="85" y="393"/>
                  <a:pt x="77" y="409"/>
                  <a:pt x="88" y="376"/>
                </a:cubicBezTo>
                <a:cubicBezTo>
                  <a:pt x="101" y="286"/>
                  <a:pt x="94" y="200"/>
                  <a:pt x="72" y="112"/>
                </a:cubicBezTo>
                <a:cubicBezTo>
                  <a:pt x="66" y="87"/>
                  <a:pt x="62" y="61"/>
                  <a:pt x="48" y="40"/>
                </a:cubicBezTo>
                <a:cubicBezTo>
                  <a:pt x="38" y="24"/>
                  <a:pt x="8" y="0"/>
                  <a:pt x="8" y="0"/>
                </a:cubicBezTo>
              </a:path>
            </a:pathLst>
          </a:custGeom>
          <a:noFill/>
          <a:ln w="9525" cap="flat" cmpd="sng">
            <a:solidFill>
              <a:srgbClr val="FF3300"/>
            </a:solidFill>
            <a:prstDash val="solid"/>
            <a:miter/>
            <a:headEnd type="none" w="sm" len="sm"/>
            <a:tailEnd type="triangle" w="sm" len="med"/>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38921" name="任意多边形 113673"/>
          <p:cNvSpPr/>
          <p:nvPr/>
        </p:nvSpPr>
        <p:spPr>
          <a:xfrm>
            <a:off x="7261861" y="1663700"/>
            <a:ext cx="210185" cy="838200"/>
          </a:xfrm>
          <a:custGeom>
            <a:avLst/>
            <a:gdLst/>
            <a:ahLst/>
            <a:cxnLst/>
            <a:rect l="0" t="0" r="0" b="0"/>
            <a:pathLst>
              <a:path w="80" h="376">
                <a:moveTo>
                  <a:pt x="0" y="376"/>
                </a:moveTo>
                <a:cubicBezTo>
                  <a:pt x="31" y="330"/>
                  <a:pt x="62" y="285"/>
                  <a:pt x="80" y="232"/>
                </a:cubicBezTo>
                <a:cubicBezTo>
                  <a:pt x="77" y="189"/>
                  <a:pt x="76" y="147"/>
                  <a:pt x="72" y="104"/>
                </a:cubicBezTo>
                <a:cubicBezTo>
                  <a:pt x="67" y="52"/>
                  <a:pt x="19" y="38"/>
                  <a:pt x="0" y="0"/>
                </a:cubicBezTo>
              </a:path>
            </a:pathLst>
          </a:custGeom>
          <a:noFill/>
          <a:ln w="9525" cap="flat" cmpd="sng">
            <a:solidFill>
              <a:srgbClr val="FF3300"/>
            </a:solidFill>
            <a:prstDash val="solid"/>
            <a:miter/>
            <a:headEnd type="none" w="sm" len="sm"/>
            <a:tailEnd type="triangle" w="sm" len="med"/>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graphicFrame>
        <p:nvGraphicFramePr>
          <p:cNvPr id="10" name="对象 9">
            <a:hlinkClick r:id="" action="ppaction://ole?verb=0"/>
          </p:cNvPr>
          <p:cNvGraphicFramePr>
            <a:graphicFrameLocks noChangeAspect="1"/>
          </p:cNvGraphicFramePr>
          <p:nvPr/>
        </p:nvGraphicFramePr>
        <p:xfrm>
          <a:off x="9100821" y="990284"/>
          <a:ext cx="1300480" cy="3140075"/>
        </p:xfrm>
        <a:graphic>
          <a:graphicData uri="http://schemas.openxmlformats.org/presentationml/2006/ole">
            <mc:AlternateContent xmlns:mc="http://schemas.openxmlformats.org/markup-compatibility/2006">
              <mc:Choice xmlns:v="urn:schemas-microsoft-com:vml" Requires="v">
                <p:oleObj r:id="rId7" imgW="762000" imgH="1600200" progId="Equation.KSEE3">
                  <p:embed/>
                </p:oleObj>
              </mc:Choice>
              <mc:Fallback>
                <p:oleObj r:id="rId7" imgW="762000" imgH="1600200" progId="Equation.KSEE3">
                  <p:embed/>
                  <p:pic>
                    <p:nvPicPr>
                      <p:cNvPr id="10" name="对象 9">
                        <a:hlinkClick r:id="" action="ppaction://ole?verb=0"/>
                      </p:cNvPr>
                      <p:cNvPicPr/>
                      <p:nvPr/>
                    </p:nvPicPr>
                    <p:blipFill>
                      <a:blip r:embed="rId8"/>
                      <a:stretch>
                        <a:fillRect/>
                      </a:stretch>
                    </p:blipFill>
                    <p:spPr>
                      <a:xfrm>
                        <a:off x="9100821" y="990284"/>
                        <a:ext cx="1300480" cy="3140075"/>
                      </a:xfrm>
                      <a:prstGeom prst="rect">
                        <a:avLst/>
                      </a:prstGeom>
                    </p:spPr>
                  </p:pic>
                </p:oleObj>
              </mc:Fallback>
            </mc:AlternateContent>
          </a:graphicData>
        </a:graphic>
      </p:graphicFrame>
      <p:graphicFrame>
        <p:nvGraphicFramePr>
          <p:cNvPr id="12" name="对象 11">
            <a:hlinkClick r:id="" action="ppaction://ole?verb=0"/>
          </p:cNvPr>
          <p:cNvGraphicFramePr>
            <a:graphicFrameLocks noChangeAspect="1"/>
          </p:cNvGraphicFramePr>
          <p:nvPr/>
        </p:nvGraphicFramePr>
        <p:xfrm>
          <a:off x="2590801" y="3477896"/>
          <a:ext cx="5672455" cy="2842895"/>
        </p:xfrm>
        <a:graphic>
          <a:graphicData uri="http://schemas.openxmlformats.org/presentationml/2006/ole">
            <mc:AlternateContent xmlns:mc="http://schemas.openxmlformats.org/markup-compatibility/2006">
              <mc:Choice xmlns:v="urn:schemas-microsoft-com:vml" Requires="v">
                <p:oleObj r:id="rId9" imgW="3111500" imgH="1600200" progId="Equation.KSEE3">
                  <p:embed/>
                </p:oleObj>
              </mc:Choice>
              <mc:Fallback>
                <p:oleObj r:id="rId9" imgW="3111500" imgH="1600200" progId="Equation.KSEE3">
                  <p:embed/>
                  <p:pic>
                    <p:nvPicPr>
                      <p:cNvPr id="12" name="对象 11">
                        <a:hlinkClick r:id="" action="ppaction://ole?verb=0"/>
                      </p:cNvPr>
                      <p:cNvPicPr/>
                      <p:nvPr/>
                    </p:nvPicPr>
                    <p:blipFill>
                      <a:blip r:embed="rId10"/>
                      <a:stretch>
                        <a:fillRect/>
                      </a:stretch>
                    </p:blipFill>
                    <p:spPr>
                      <a:xfrm>
                        <a:off x="2590801" y="3477896"/>
                        <a:ext cx="5672455" cy="2842895"/>
                      </a:xfrm>
                      <a:prstGeom prst="rect">
                        <a:avLst/>
                      </a:prstGeom>
                    </p:spPr>
                  </p:pic>
                </p:oleObj>
              </mc:Fallback>
            </mc:AlternateContent>
          </a:graphicData>
        </a:graphic>
      </p:graphicFrame>
    </p:spTree>
  </p:cSld>
  <p:clrMapOvr>
    <a:overrideClrMapping bg1="lt1" tx1="dk1" bg2="lt2" tx2="dk2" accent1="accent1" accent2="accent2" accent3="accent3" accent4="accent4" accent5="accent5" accent6="accent6" hlink="hlink" folHlink="folHlink"/>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75656" y="104775"/>
            <a:ext cx="452564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举例：画出求伴随式的电路</a:t>
            </a:r>
            <a:endParaRPr lang="zh-CN" altLang="en-US" sz="2800">
              <a:ea typeface="黑体" panose="02010609060101010101" pitchFamily="49" charset="-122"/>
              <a:sym typeface="+mn-ea"/>
            </a:endParaRPr>
          </a:p>
        </p:txBody>
      </p:sp>
      <p:grpSp>
        <p:nvGrpSpPr>
          <p:cNvPr id="67618" name="组合 67617"/>
          <p:cNvGrpSpPr/>
          <p:nvPr/>
        </p:nvGrpSpPr>
        <p:grpSpPr>
          <a:xfrm>
            <a:off x="4800600" y="2971800"/>
            <a:ext cx="5562600" cy="3213100"/>
            <a:chOff x="1296" y="1920"/>
            <a:chExt cx="3504" cy="2024"/>
          </a:xfrm>
        </p:grpSpPr>
        <p:graphicFrame>
          <p:nvGraphicFramePr>
            <p:cNvPr id="67619" name="对象 67618"/>
            <p:cNvGraphicFramePr/>
            <p:nvPr/>
          </p:nvGraphicFramePr>
          <p:xfrm>
            <a:off x="1296" y="1920"/>
            <a:ext cx="2915" cy="189"/>
          </p:xfrm>
          <a:graphic>
            <a:graphicData uri="http://schemas.openxmlformats.org/presentationml/2006/ole">
              <mc:AlternateContent xmlns:mc="http://schemas.openxmlformats.org/markup-compatibility/2006">
                <mc:Choice xmlns:v="urn:schemas-microsoft-com:vml" Requires="v">
                  <p:oleObj r:id="rId3" imgW="3259455" imgH="215900" progId="Equation.3">
                    <p:embed/>
                  </p:oleObj>
                </mc:Choice>
                <mc:Fallback>
                  <p:oleObj r:id="rId3" imgW="3259455" imgH="215900" progId="Equation.3">
                    <p:embed/>
                    <p:pic>
                      <p:nvPicPr>
                        <p:cNvPr id="67619" name="对象 67618"/>
                        <p:cNvPicPr/>
                        <p:nvPr/>
                      </p:nvPicPr>
                      <p:blipFill>
                        <a:blip r:embed="rId4"/>
                        <a:stretch>
                          <a:fillRect/>
                        </a:stretch>
                      </p:blipFill>
                      <p:spPr>
                        <a:xfrm>
                          <a:off x="1296" y="1920"/>
                          <a:ext cx="2915" cy="189"/>
                        </a:xfrm>
                        <a:prstGeom prst="rect">
                          <a:avLst/>
                        </a:prstGeom>
                        <a:noFill/>
                        <a:ln w="38100">
                          <a:noFill/>
                          <a:miter/>
                        </a:ln>
                      </p:spPr>
                    </p:pic>
                  </p:oleObj>
                </mc:Fallback>
              </mc:AlternateContent>
            </a:graphicData>
          </a:graphic>
        </p:graphicFrame>
        <p:graphicFrame>
          <p:nvGraphicFramePr>
            <p:cNvPr id="67620" name="对象 67619"/>
            <p:cNvGraphicFramePr/>
            <p:nvPr/>
          </p:nvGraphicFramePr>
          <p:xfrm>
            <a:off x="3216" y="2160"/>
            <a:ext cx="864" cy="200"/>
          </p:xfrm>
          <a:graphic>
            <a:graphicData uri="http://schemas.openxmlformats.org/presentationml/2006/ole">
              <mc:AlternateContent xmlns:mc="http://schemas.openxmlformats.org/markup-compatibility/2006">
                <mc:Choice xmlns:v="urn:schemas-microsoft-com:vml" Requires="v">
                  <p:oleObj r:id="rId5" imgW="761365" imgH="228600" progId="Equation.3">
                    <p:embed/>
                  </p:oleObj>
                </mc:Choice>
                <mc:Fallback>
                  <p:oleObj r:id="rId5" imgW="761365" imgH="228600" progId="Equation.3">
                    <p:embed/>
                    <p:pic>
                      <p:nvPicPr>
                        <p:cNvPr id="67620" name="对象 67619"/>
                        <p:cNvPicPr/>
                        <p:nvPr/>
                      </p:nvPicPr>
                      <p:blipFill>
                        <a:blip r:embed="rId6"/>
                        <a:stretch>
                          <a:fillRect/>
                        </a:stretch>
                      </p:blipFill>
                      <p:spPr>
                        <a:xfrm>
                          <a:off x="3216" y="2160"/>
                          <a:ext cx="864" cy="200"/>
                        </a:xfrm>
                        <a:prstGeom prst="rect">
                          <a:avLst/>
                        </a:prstGeom>
                        <a:noFill/>
                        <a:ln w="38100">
                          <a:noFill/>
                          <a:miter/>
                        </a:ln>
                      </p:spPr>
                    </p:pic>
                  </p:oleObj>
                </mc:Fallback>
              </mc:AlternateContent>
            </a:graphicData>
          </a:graphic>
        </p:graphicFrame>
        <p:graphicFrame>
          <p:nvGraphicFramePr>
            <p:cNvPr id="67621" name="对象 67620"/>
            <p:cNvGraphicFramePr/>
            <p:nvPr/>
          </p:nvGraphicFramePr>
          <p:xfrm>
            <a:off x="3216" y="2400"/>
            <a:ext cx="816" cy="189"/>
          </p:xfrm>
          <a:graphic>
            <a:graphicData uri="http://schemas.openxmlformats.org/presentationml/2006/ole">
              <mc:AlternateContent xmlns:mc="http://schemas.openxmlformats.org/markup-compatibility/2006">
                <mc:Choice xmlns:v="urn:schemas-microsoft-com:vml" Requires="v">
                  <p:oleObj r:id="rId7" imgW="558165" imgH="215900" progId="Equation.3">
                    <p:embed/>
                  </p:oleObj>
                </mc:Choice>
                <mc:Fallback>
                  <p:oleObj r:id="rId7" imgW="558165" imgH="215900" progId="Equation.3">
                    <p:embed/>
                    <p:pic>
                      <p:nvPicPr>
                        <p:cNvPr id="67621" name="对象 67620"/>
                        <p:cNvPicPr/>
                        <p:nvPr/>
                      </p:nvPicPr>
                      <p:blipFill>
                        <a:blip r:embed="rId8"/>
                        <a:stretch>
                          <a:fillRect/>
                        </a:stretch>
                      </p:blipFill>
                      <p:spPr>
                        <a:xfrm>
                          <a:off x="3216" y="2400"/>
                          <a:ext cx="816" cy="189"/>
                        </a:xfrm>
                        <a:prstGeom prst="rect">
                          <a:avLst/>
                        </a:prstGeom>
                        <a:noFill/>
                        <a:ln w="38100">
                          <a:noFill/>
                          <a:miter/>
                        </a:ln>
                      </p:spPr>
                    </p:pic>
                  </p:oleObj>
                </mc:Fallback>
              </mc:AlternateContent>
            </a:graphicData>
          </a:graphic>
        </p:graphicFrame>
        <p:graphicFrame>
          <p:nvGraphicFramePr>
            <p:cNvPr id="67622" name="对象 67621"/>
            <p:cNvGraphicFramePr/>
            <p:nvPr/>
          </p:nvGraphicFramePr>
          <p:xfrm>
            <a:off x="3216" y="2592"/>
            <a:ext cx="827" cy="189"/>
          </p:xfrm>
          <a:graphic>
            <a:graphicData uri="http://schemas.openxmlformats.org/presentationml/2006/ole">
              <mc:AlternateContent xmlns:mc="http://schemas.openxmlformats.org/markup-compatibility/2006">
                <mc:Choice xmlns:v="urn:schemas-microsoft-com:vml" Requires="v">
                  <p:oleObj r:id="rId9" imgW="532765" imgH="215900" progId="Equation.3">
                    <p:embed/>
                  </p:oleObj>
                </mc:Choice>
                <mc:Fallback>
                  <p:oleObj r:id="rId9" imgW="532765" imgH="215900" progId="Equation.3">
                    <p:embed/>
                    <p:pic>
                      <p:nvPicPr>
                        <p:cNvPr id="67622" name="对象 67621"/>
                        <p:cNvPicPr/>
                        <p:nvPr/>
                      </p:nvPicPr>
                      <p:blipFill>
                        <a:blip r:embed="rId10"/>
                        <a:stretch>
                          <a:fillRect/>
                        </a:stretch>
                      </p:blipFill>
                      <p:spPr>
                        <a:xfrm>
                          <a:off x="3216" y="2592"/>
                          <a:ext cx="827" cy="189"/>
                        </a:xfrm>
                        <a:prstGeom prst="rect">
                          <a:avLst/>
                        </a:prstGeom>
                        <a:noFill/>
                        <a:ln w="38100">
                          <a:noFill/>
                          <a:miter/>
                        </a:ln>
                      </p:spPr>
                    </p:pic>
                  </p:oleObj>
                </mc:Fallback>
              </mc:AlternateContent>
            </a:graphicData>
          </a:graphic>
        </p:graphicFrame>
        <p:graphicFrame>
          <p:nvGraphicFramePr>
            <p:cNvPr id="67623" name="对象 67622"/>
            <p:cNvGraphicFramePr/>
            <p:nvPr/>
          </p:nvGraphicFramePr>
          <p:xfrm>
            <a:off x="3216" y="2784"/>
            <a:ext cx="864" cy="189"/>
          </p:xfrm>
          <a:graphic>
            <a:graphicData uri="http://schemas.openxmlformats.org/presentationml/2006/ole">
              <mc:AlternateContent xmlns:mc="http://schemas.openxmlformats.org/markup-compatibility/2006">
                <mc:Choice xmlns:v="urn:schemas-microsoft-com:vml" Requires="v">
                  <p:oleObj r:id="rId11" imgW="507365" imgH="215900" progId="Equation.3">
                    <p:embed/>
                  </p:oleObj>
                </mc:Choice>
                <mc:Fallback>
                  <p:oleObj r:id="rId11" imgW="507365" imgH="215900" progId="Equation.3">
                    <p:embed/>
                    <p:pic>
                      <p:nvPicPr>
                        <p:cNvPr id="67623" name="对象 67622"/>
                        <p:cNvPicPr/>
                        <p:nvPr/>
                      </p:nvPicPr>
                      <p:blipFill>
                        <a:blip r:embed="rId12"/>
                        <a:stretch>
                          <a:fillRect/>
                        </a:stretch>
                      </p:blipFill>
                      <p:spPr>
                        <a:xfrm>
                          <a:off x="3216" y="2784"/>
                          <a:ext cx="864" cy="189"/>
                        </a:xfrm>
                        <a:prstGeom prst="rect">
                          <a:avLst/>
                        </a:prstGeom>
                        <a:noFill/>
                        <a:ln w="38100">
                          <a:noFill/>
                          <a:miter/>
                        </a:ln>
                      </p:spPr>
                    </p:pic>
                  </p:oleObj>
                </mc:Fallback>
              </mc:AlternateContent>
            </a:graphicData>
          </a:graphic>
        </p:graphicFrame>
        <p:graphicFrame>
          <p:nvGraphicFramePr>
            <p:cNvPr id="67624" name="对象 67623"/>
            <p:cNvGraphicFramePr/>
            <p:nvPr/>
          </p:nvGraphicFramePr>
          <p:xfrm>
            <a:off x="3216" y="2976"/>
            <a:ext cx="816" cy="189"/>
          </p:xfrm>
          <a:graphic>
            <a:graphicData uri="http://schemas.openxmlformats.org/presentationml/2006/ole">
              <mc:AlternateContent xmlns:mc="http://schemas.openxmlformats.org/markup-compatibility/2006">
                <mc:Choice xmlns:v="urn:schemas-microsoft-com:vml" Requires="v">
                  <p:oleObj r:id="rId13" imgW="507365" imgH="215900" progId="Equation.3">
                    <p:embed/>
                  </p:oleObj>
                </mc:Choice>
                <mc:Fallback>
                  <p:oleObj r:id="rId13" imgW="507365" imgH="215900" progId="Equation.3">
                    <p:embed/>
                    <p:pic>
                      <p:nvPicPr>
                        <p:cNvPr id="67624" name="对象 67623"/>
                        <p:cNvPicPr/>
                        <p:nvPr/>
                      </p:nvPicPr>
                      <p:blipFill>
                        <a:blip r:embed="rId14"/>
                        <a:stretch>
                          <a:fillRect/>
                        </a:stretch>
                      </p:blipFill>
                      <p:spPr>
                        <a:xfrm>
                          <a:off x="3216" y="2976"/>
                          <a:ext cx="816" cy="189"/>
                        </a:xfrm>
                        <a:prstGeom prst="rect">
                          <a:avLst/>
                        </a:prstGeom>
                        <a:noFill/>
                        <a:ln w="38100">
                          <a:noFill/>
                          <a:miter/>
                        </a:ln>
                      </p:spPr>
                    </p:pic>
                  </p:oleObj>
                </mc:Fallback>
              </mc:AlternateContent>
            </a:graphicData>
          </a:graphic>
        </p:graphicFrame>
        <p:graphicFrame>
          <p:nvGraphicFramePr>
            <p:cNvPr id="67625" name="对象 67624"/>
            <p:cNvGraphicFramePr/>
            <p:nvPr/>
          </p:nvGraphicFramePr>
          <p:xfrm>
            <a:off x="3216" y="3168"/>
            <a:ext cx="799" cy="189"/>
          </p:xfrm>
          <a:graphic>
            <a:graphicData uri="http://schemas.openxmlformats.org/presentationml/2006/ole">
              <mc:AlternateContent xmlns:mc="http://schemas.openxmlformats.org/markup-compatibility/2006">
                <mc:Choice xmlns:v="urn:schemas-microsoft-com:vml" Requires="v">
                  <p:oleObj r:id="rId15" imgW="469265" imgH="215900" progId="Equation.3">
                    <p:embed/>
                  </p:oleObj>
                </mc:Choice>
                <mc:Fallback>
                  <p:oleObj r:id="rId15" imgW="469265" imgH="215900" progId="Equation.3">
                    <p:embed/>
                    <p:pic>
                      <p:nvPicPr>
                        <p:cNvPr id="67625" name="对象 67624"/>
                        <p:cNvPicPr/>
                        <p:nvPr/>
                      </p:nvPicPr>
                      <p:blipFill>
                        <a:blip r:embed="rId16"/>
                        <a:stretch>
                          <a:fillRect/>
                        </a:stretch>
                      </p:blipFill>
                      <p:spPr>
                        <a:xfrm>
                          <a:off x="3216" y="3168"/>
                          <a:ext cx="799" cy="189"/>
                        </a:xfrm>
                        <a:prstGeom prst="rect">
                          <a:avLst/>
                        </a:prstGeom>
                        <a:noFill/>
                        <a:ln w="38100">
                          <a:noFill/>
                          <a:miter/>
                        </a:ln>
                      </p:spPr>
                    </p:pic>
                  </p:oleObj>
                </mc:Fallback>
              </mc:AlternateContent>
            </a:graphicData>
          </a:graphic>
        </p:graphicFrame>
        <p:graphicFrame>
          <p:nvGraphicFramePr>
            <p:cNvPr id="67626" name="对象 67625"/>
            <p:cNvGraphicFramePr/>
            <p:nvPr/>
          </p:nvGraphicFramePr>
          <p:xfrm>
            <a:off x="3216" y="3360"/>
            <a:ext cx="816" cy="189"/>
          </p:xfrm>
          <a:graphic>
            <a:graphicData uri="http://schemas.openxmlformats.org/presentationml/2006/ole">
              <mc:AlternateContent xmlns:mc="http://schemas.openxmlformats.org/markup-compatibility/2006">
                <mc:Choice xmlns:v="urn:schemas-microsoft-com:vml" Requires="v">
                  <p:oleObj r:id="rId17" imgW="507365" imgH="215900" progId="Equation.3">
                    <p:embed/>
                  </p:oleObj>
                </mc:Choice>
                <mc:Fallback>
                  <p:oleObj r:id="rId17" imgW="507365" imgH="215900" progId="Equation.3">
                    <p:embed/>
                    <p:pic>
                      <p:nvPicPr>
                        <p:cNvPr id="67626" name="对象 67625"/>
                        <p:cNvPicPr/>
                        <p:nvPr/>
                      </p:nvPicPr>
                      <p:blipFill>
                        <a:blip r:embed="rId18"/>
                        <a:stretch>
                          <a:fillRect/>
                        </a:stretch>
                      </p:blipFill>
                      <p:spPr>
                        <a:xfrm>
                          <a:off x="3216" y="3360"/>
                          <a:ext cx="816" cy="189"/>
                        </a:xfrm>
                        <a:prstGeom prst="rect">
                          <a:avLst/>
                        </a:prstGeom>
                        <a:noFill/>
                        <a:ln w="38100">
                          <a:noFill/>
                          <a:miter/>
                        </a:ln>
                      </p:spPr>
                    </p:pic>
                  </p:oleObj>
                </mc:Fallback>
              </mc:AlternateContent>
            </a:graphicData>
          </a:graphic>
        </p:graphicFrame>
        <p:graphicFrame>
          <p:nvGraphicFramePr>
            <p:cNvPr id="67627" name="对象 67626"/>
            <p:cNvGraphicFramePr/>
            <p:nvPr/>
          </p:nvGraphicFramePr>
          <p:xfrm>
            <a:off x="3216" y="3552"/>
            <a:ext cx="827" cy="189"/>
          </p:xfrm>
          <a:graphic>
            <a:graphicData uri="http://schemas.openxmlformats.org/presentationml/2006/ole">
              <mc:AlternateContent xmlns:mc="http://schemas.openxmlformats.org/markup-compatibility/2006">
                <mc:Choice xmlns:v="urn:schemas-microsoft-com:vml" Requires="v">
                  <p:oleObj r:id="rId19" imgW="532765" imgH="215900" progId="Equation.3">
                    <p:embed/>
                  </p:oleObj>
                </mc:Choice>
                <mc:Fallback>
                  <p:oleObj r:id="rId19" imgW="532765" imgH="215900" progId="Equation.3">
                    <p:embed/>
                    <p:pic>
                      <p:nvPicPr>
                        <p:cNvPr id="67627" name="对象 67626"/>
                        <p:cNvPicPr/>
                        <p:nvPr/>
                      </p:nvPicPr>
                      <p:blipFill>
                        <a:blip r:embed="rId20"/>
                        <a:stretch>
                          <a:fillRect/>
                        </a:stretch>
                      </p:blipFill>
                      <p:spPr>
                        <a:xfrm>
                          <a:off x="3216" y="3552"/>
                          <a:ext cx="827" cy="189"/>
                        </a:xfrm>
                        <a:prstGeom prst="rect">
                          <a:avLst/>
                        </a:prstGeom>
                        <a:noFill/>
                        <a:ln w="38100">
                          <a:noFill/>
                          <a:miter/>
                        </a:ln>
                      </p:spPr>
                    </p:pic>
                  </p:oleObj>
                </mc:Fallback>
              </mc:AlternateContent>
            </a:graphicData>
          </a:graphic>
        </p:graphicFrame>
        <p:graphicFrame>
          <p:nvGraphicFramePr>
            <p:cNvPr id="67628" name="对象 67627"/>
            <p:cNvGraphicFramePr/>
            <p:nvPr/>
          </p:nvGraphicFramePr>
          <p:xfrm>
            <a:off x="3216" y="3744"/>
            <a:ext cx="864" cy="189"/>
          </p:xfrm>
          <a:graphic>
            <a:graphicData uri="http://schemas.openxmlformats.org/presentationml/2006/ole">
              <mc:AlternateContent xmlns:mc="http://schemas.openxmlformats.org/markup-compatibility/2006">
                <mc:Choice xmlns:v="urn:schemas-microsoft-com:vml" Requires="v">
                  <p:oleObj r:id="rId21" imgW="507365" imgH="215900" progId="Equation.3">
                    <p:embed/>
                  </p:oleObj>
                </mc:Choice>
                <mc:Fallback>
                  <p:oleObj r:id="rId21" imgW="507365" imgH="215900" progId="Equation.3">
                    <p:embed/>
                    <p:pic>
                      <p:nvPicPr>
                        <p:cNvPr id="67628" name="对象 67627"/>
                        <p:cNvPicPr/>
                        <p:nvPr/>
                      </p:nvPicPr>
                      <p:blipFill>
                        <a:blip r:embed="rId22"/>
                        <a:stretch>
                          <a:fillRect/>
                        </a:stretch>
                      </p:blipFill>
                      <p:spPr>
                        <a:xfrm>
                          <a:off x="3216" y="3744"/>
                          <a:ext cx="864" cy="189"/>
                        </a:xfrm>
                        <a:prstGeom prst="rect">
                          <a:avLst/>
                        </a:prstGeom>
                        <a:noFill/>
                        <a:ln w="38100">
                          <a:noFill/>
                          <a:miter/>
                        </a:ln>
                      </p:spPr>
                    </p:pic>
                  </p:oleObj>
                </mc:Fallback>
              </mc:AlternateContent>
            </a:graphicData>
          </a:graphic>
        </p:graphicFrame>
        <p:graphicFrame>
          <p:nvGraphicFramePr>
            <p:cNvPr id="67629" name="对象 67628"/>
            <p:cNvGraphicFramePr/>
            <p:nvPr/>
          </p:nvGraphicFramePr>
          <p:xfrm>
            <a:off x="1728" y="2640"/>
            <a:ext cx="196" cy="1296"/>
          </p:xfrm>
          <a:graphic>
            <a:graphicData uri="http://schemas.openxmlformats.org/presentationml/2006/ole">
              <mc:AlternateContent xmlns:mc="http://schemas.openxmlformats.org/markup-compatibility/2006">
                <mc:Choice xmlns:v="urn:schemas-microsoft-com:vml" Requires="v">
                  <p:oleObj r:id="rId23" imgW="127000" imgH="1571625" progId="Equation.3">
                    <p:embed/>
                  </p:oleObj>
                </mc:Choice>
                <mc:Fallback>
                  <p:oleObj r:id="rId23" imgW="127000" imgH="1571625" progId="Equation.3">
                    <p:embed/>
                    <p:pic>
                      <p:nvPicPr>
                        <p:cNvPr id="67629" name="对象 67628"/>
                        <p:cNvPicPr/>
                        <p:nvPr/>
                      </p:nvPicPr>
                      <p:blipFill>
                        <a:blip r:embed="rId24"/>
                        <a:stretch>
                          <a:fillRect/>
                        </a:stretch>
                      </p:blipFill>
                      <p:spPr>
                        <a:xfrm>
                          <a:off x="1728" y="2640"/>
                          <a:ext cx="196" cy="1296"/>
                        </a:xfrm>
                        <a:prstGeom prst="rect">
                          <a:avLst/>
                        </a:prstGeom>
                        <a:noFill/>
                        <a:ln w="38100">
                          <a:noFill/>
                          <a:miter/>
                        </a:ln>
                      </p:spPr>
                    </p:pic>
                  </p:oleObj>
                </mc:Fallback>
              </mc:AlternateContent>
            </a:graphicData>
          </a:graphic>
        </p:graphicFrame>
        <p:sp>
          <p:nvSpPr>
            <p:cNvPr id="67630" name="直接连接符 67629"/>
            <p:cNvSpPr/>
            <p:nvPr/>
          </p:nvSpPr>
          <p:spPr>
            <a:xfrm>
              <a:off x="1728" y="2496"/>
              <a:ext cx="144" cy="0"/>
            </a:xfrm>
            <a:prstGeom prst="line">
              <a:avLst/>
            </a:prstGeom>
            <a:ln w="9525" cap="flat" cmpd="sng">
              <a:solidFill>
                <a:schemeClr val="tx1"/>
              </a:solidFill>
              <a:prstDash val="solid"/>
              <a:miter/>
              <a:headEnd type="none" w="sm" len="sm"/>
              <a:tailEnd type="none" w="sm" len="sm"/>
            </a:ln>
          </p:spPr>
        </p:sp>
        <p:sp>
          <p:nvSpPr>
            <p:cNvPr id="67631" name="直接连接符 67630"/>
            <p:cNvSpPr/>
            <p:nvPr/>
          </p:nvSpPr>
          <p:spPr>
            <a:xfrm>
              <a:off x="1872" y="2688"/>
              <a:ext cx="1296" cy="0"/>
            </a:xfrm>
            <a:prstGeom prst="line">
              <a:avLst/>
            </a:prstGeom>
            <a:ln w="9525" cap="flat" cmpd="sng">
              <a:solidFill>
                <a:srgbClr val="FF0000"/>
              </a:solidFill>
              <a:prstDash val="solid"/>
              <a:miter/>
              <a:headEnd type="none" w="sm" len="sm"/>
              <a:tailEnd type="triangle" w="sm" len="med"/>
            </a:ln>
          </p:spPr>
        </p:sp>
        <p:sp>
          <p:nvSpPr>
            <p:cNvPr id="67632" name="直接连接符 67631"/>
            <p:cNvSpPr/>
            <p:nvPr/>
          </p:nvSpPr>
          <p:spPr>
            <a:xfrm>
              <a:off x="1872" y="2880"/>
              <a:ext cx="1296" cy="0"/>
            </a:xfrm>
            <a:prstGeom prst="line">
              <a:avLst/>
            </a:prstGeom>
            <a:ln w="9525" cap="flat" cmpd="sng">
              <a:solidFill>
                <a:srgbClr val="FF0000"/>
              </a:solidFill>
              <a:prstDash val="solid"/>
              <a:miter/>
              <a:headEnd type="none" w="sm" len="sm"/>
              <a:tailEnd type="triangle" w="sm" len="med"/>
            </a:ln>
          </p:spPr>
        </p:sp>
        <p:sp>
          <p:nvSpPr>
            <p:cNvPr id="67633" name="直接连接符 67632"/>
            <p:cNvSpPr/>
            <p:nvPr/>
          </p:nvSpPr>
          <p:spPr>
            <a:xfrm>
              <a:off x="1872" y="3072"/>
              <a:ext cx="1296" cy="0"/>
            </a:xfrm>
            <a:prstGeom prst="line">
              <a:avLst/>
            </a:prstGeom>
            <a:ln w="9525" cap="flat" cmpd="sng">
              <a:solidFill>
                <a:srgbClr val="FF0000"/>
              </a:solidFill>
              <a:prstDash val="solid"/>
              <a:miter/>
              <a:headEnd type="none" w="sm" len="sm"/>
              <a:tailEnd type="triangle" w="sm" len="med"/>
            </a:ln>
          </p:spPr>
        </p:sp>
        <p:sp>
          <p:nvSpPr>
            <p:cNvPr id="67634" name="直接连接符 67633"/>
            <p:cNvSpPr/>
            <p:nvPr/>
          </p:nvSpPr>
          <p:spPr>
            <a:xfrm flipV="1">
              <a:off x="1872" y="3120"/>
              <a:ext cx="2016" cy="144"/>
            </a:xfrm>
            <a:prstGeom prst="line">
              <a:avLst/>
            </a:prstGeom>
            <a:ln w="9525" cap="flat" cmpd="sng">
              <a:solidFill>
                <a:srgbClr val="FF0000"/>
              </a:solidFill>
              <a:prstDash val="solid"/>
              <a:miter/>
              <a:headEnd type="none" w="sm" len="sm"/>
              <a:tailEnd type="none" w="sm" len="sm"/>
            </a:ln>
          </p:spPr>
        </p:sp>
        <p:sp>
          <p:nvSpPr>
            <p:cNvPr id="67635" name="直接连接符 67634"/>
            <p:cNvSpPr/>
            <p:nvPr/>
          </p:nvSpPr>
          <p:spPr>
            <a:xfrm flipV="1">
              <a:off x="2832" y="3360"/>
              <a:ext cx="672" cy="48"/>
            </a:xfrm>
            <a:prstGeom prst="line">
              <a:avLst/>
            </a:prstGeom>
            <a:ln w="9525" cap="flat" cmpd="sng">
              <a:solidFill>
                <a:srgbClr val="FF0000"/>
              </a:solidFill>
              <a:prstDash val="solid"/>
              <a:miter/>
              <a:headEnd type="none" w="sm" len="sm"/>
              <a:tailEnd type="none" w="sm" len="sm"/>
            </a:ln>
          </p:spPr>
        </p:sp>
        <p:sp>
          <p:nvSpPr>
            <p:cNvPr id="67636" name="直接连接符 67635"/>
            <p:cNvSpPr/>
            <p:nvPr/>
          </p:nvSpPr>
          <p:spPr>
            <a:xfrm flipV="1">
              <a:off x="1872" y="3408"/>
              <a:ext cx="960" cy="48"/>
            </a:xfrm>
            <a:prstGeom prst="line">
              <a:avLst/>
            </a:prstGeom>
            <a:ln w="9525" cap="flat" cmpd="sng">
              <a:solidFill>
                <a:srgbClr val="FF0000"/>
              </a:solidFill>
              <a:prstDash val="lgDashDot"/>
              <a:miter/>
              <a:headEnd type="none" w="sm" len="sm"/>
              <a:tailEnd type="none" w="sm" len="sm"/>
            </a:ln>
          </p:spPr>
        </p:sp>
        <p:sp>
          <p:nvSpPr>
            <p:cNvPr id="67637" name="直接连接符 67636"/>
            <p:cNvSpPr/>
            <p:nvPr/>
          </p:nvSpPr>
          <p:spPr>
            <a:xfrm flipV="1">
              <a:off x="3456" y="3312"/>
              <a:ext cx="432" cy="48"/>
            </a:xfrm>
            <a:prstGeom prst="line">
              <a:avLst/>
            </a:prstGeom>
            <a:ln w="9525" cap="flat" cmpd="sng">
              <a:solidFill>
                <a:srgbClr val="FF0000"/>
              </a:solidFill>
              <a:prstDash val="lgDashDot"/>
              <a:miter/>
              <a:headEnd type="none" w="sm" len="sm"/>
              <a:tailEnd type="none" w="sm" len="sm"/>
            </a:ln>
          </p:spPr>
        </p:sp>
        <p:sp>
          <p:nvSpPr>
            <p:cNvPr id="67638" name="直接连接符 67637"/>
            <p:cNvSpPr/>
            <p:nvPr/>
          </p:nvSpPr>
          <p:spPr>
            <a:xfrm flipV="1">
              <a:off x="1872" y="3504"/>
              <a:ext cx="2016" cy="144"/>
            </a:xfrm>
            <a:prstGeom prst="line">
              <a:avLst/>
            </a:prstGeom>
            <a:ln w="9525" cap="flat" cmpd="sng">
              <a:solidFill>
                <a:srgbClr val="FF0000"/>
              </a:solidFill>
              <a:prstDash val="solid"/>
              <a:miter/>
              <a:headEnd type="none" w="sm" len="sm"/>
              <a:tailEnd type="none" w="sm" len="sm"/>
            </a:ln>
          </p:spPr>
        </p:sp>
        <p:sp>
          <p:nvSpPr>
            <p:cNvPr id="67639" name="直接连接符 67638"/>
            <p:cNvSpPr/>
            <p:nvPr/>
          </p:nvSpPr>
          <p:spPr>
            <a:xfrm flipV="1">
              <a:off x="1872" y="3696"/>
              <a:ext cx="2016" cy="144"/>
            </a:xfrm>
            <a:prstGeom prst="line">
              <a:avLst/>
            </a:prstGeom>
            <a:ln w="9525" cap="flat" cmpd="sng">
              <a:solidFill>
                <a:srgbClr val="FF0000"/>
              </a:solidFill>
              <a:prstDash val="solid"/>
              <a:miter/>
              <a:headEnd type="none" w="sm" len="sm"/>
              <a:tailEnd type="none" w="sm" len="sm"/>
            </a:ln>
          </p:spPr>
        </p:sp>
        <p:sp>
          <p:nvSpPr>
            <p:cNvPr id="67640" name="直接连接符 67639"/>
            <p:cNvSpPr/>
            <p:nvPr/>
          </p:nvSpPr>
          <p:spPr>
            <a:xfrm>
              <a:off x="3360" y="2496"/>
              <a:ext cx="192" cy="144"/>
            </a:xfrm>
            <a:prstGeom prst="line">
              <a:avLst/>
            </a:prstGeom>
            <a:ln w="9525" cap="flat" cmpd="sng">
              <a:solidFill>
                <a:srgbClr val="FF0000"/>
              </a:solidFill>
              <a:prstDash val="solid"/>
              <a:miter/>
              <a:headEnd type="none" w="sm" len="sm"/>
              <a:tailEnd type="triangle" w="sm" len="sm"/>
            </a:ln>
          </p:spPr>
        </p:sp>
        <p:sp>
          <p:nvSpPr>
            <p:cNvPr id="67641" name="直接连接符 67640"/>
            <p:cNvSpPr/>
            <p:nvPr/>
          </p:nvSpPr>
          <p:spPr>
            <a:xfrm>
              <a:off x="3648" y="2496"/>
              <a:ext cx="192" cy="144"/>
            </a:xfrm>
            <a:prstGeom prst="line">
              <a:avLst/>
            </a:prstGeom>
            <a:ln w="9525" cap="flat" cmpd="sng">
              <a:solidFill>
                <a:srgbClr val="FF0000"/>
              </a:solidFill>
              <a:prstDash val="solid"/>
              <a:miter/>
              <a:headEnd type="none" w="sm" len="sm"/>
              <a:tailEnd type="triangle" w="sm" len="sm"/>
            </a:ln>
          </p:spPr>
        </p:sp>
        <p:sp>
          <p:nvSpPr>
            <p:cNvPr id="67642" name="直接连接符 67641"/>
            <p:cNvSpPr/>
            <p:nvPr/>
          </p:nvSpPr>
          <p:spPr>
            <a:xfrm>
              <a:off x="3312" y="2688"/>
              <a:ext cx="240" cy="144"/>
            </a:xfrm>
            <a:prstGeom prst="line">
              <a:avLst/>
            </a:prstGeom>
            <a:ln w="9525" cap="flat" cmpd="sng">
              <a:solidFill>
                <a:srgbClr val="FF0000"/>
              </a:solidFill>
              <a:prstDash val="solid"/>
              <a:miter/>
              <a:headEnd type="none" w="sm" len="sm"/>
              <a:tailEnd type="triangle" w="sm" len="sm"/>
            </a:ln>
          </p:spPr>
        </p:sp>
        <p:sp>
          <p:nvSpPr>
            <p:cNvPr id="67643" name="直接连接符 67642"/>
            <p:cNvSpPr/>
            <p:nvPr/>
          </p:nvSpPr>
          <p:spPr>
            <a:xfrm>
              <a:off x="3648" y="2880"/>
              <a:ext cx="240" cy="144"/>
            </a:xfrm>
            <a:prstGeom prst="line">
              <a:avLst/>
            </a:prstGeom>
            <a:ln w="9525" cap="flat" cmpd="sng">
              <a:solidFill>
                <a:srgbClr val="FF0000"/>
              </a:solidFill>
              <a:prstDash val="solid"/>
              <a:miter/>
              <a:headEnd type="none" w="sm" len="sm"/>
              <a:tailEnd type="triangle" w="sm" len="sm"/>
            </a:ln>
          </p:spPr>
        </p:sp>
        <p:sp>
          <p:nvSpPr>
            <p:cNvPr id="67644" name="直接连接符 67643"/>
            <p:cNvSpPr/>
            <p:nvPr/>
          </p:nvSpPr>
          <p:spPr>
            <a:xfrm>
              <a:off x="3312" y="2880"/>
              <a:ext cx="240" cy="144"/>
            </a:xfrm>
            <a:prstGeom prst="line">
              <a:avLst/>
            </a:prstGeom>
            <a:ln w="9525" cap="flat" cmpd="sng">
              <a:solidFill>
                <a:srgbClr val="FF0000"/>
              </a:solidFill>
              <a:prstDash val="solid"/>
              <a:miter/>
              <a:headEnd type="none" w="sm" len="sm"/>
              <a:tailEnd type="triangle" w="sm" len="sm"/>
            </a:ln>
          </p:spPr>
        </p:sp>
        <p:sp>
          <p:nvSpPr>
            <p:cNvPr id="67645" name="直接连接符 67644"/>
            <p:cNvSpPr/>
            <p:nvPr/>
          </p:nvSpPr>
          <p:spPr>
            <a:xfrm>
              <a:off x="3648" y="3072"/>
              <a:ext cx="240" cy="144"/>
            </a:xfrm>
            <a:prstGeom prst="line">
              <a:avLst/>
            </a:prstGeom>
            <a:ln w="9525" cap="flat" cmpd="sng">
              <a:solidFill>
                <a:srgbClr val="FF0000"/>
              </a:solidFill>
              <a:prstDash val="solid"/>
              <a:miter/>
              <a:headEnd type="none" w="sm" len="sm"/>
              <a:tailEnd type="triangle" w="sm" len="sm"/>
            </a:ln>
          </p:spPr>
        </p:sp>
        <p:sp>
          <p:nvSpPr>
            <p:cNvPr id="67646" name="直接连接符 67645"/>
            <p:cNvSpPr/>
            <p:nvPr/>
          </p:nvSpPr>
          <p:spPr>
            <a:xfrm>
              <a:off x="3648" y="3264"/>
              <a:ext cx="240" cy="144"/>
            </a:xfrm>
            <a:prstGeom prst="line">
              <a:avLst/>
            </a:prstGeom>
            <a:ln w="9525" cap="flat" cmpd="sng">
              <a:solidFill>
                <a:srgbClr val="FF0000"/>
              </a:solidFill>
              <a:prstDash val="lgDashDotDot"/>
              <a:miter/>
              <a:headEnd type="none" w="sm" len="sm"/>
              <a:tailEnd type="triangle" w="sm" len="sm"/>
            </a:ln>
          </p:spPr>
        </p:sp>
        <p:sp>
          <p:nvSpPr>
            <p:cNvPr id="67647" name="直接连接符 67646"/>
            <p:cNvSpPr/>
            <p:nvPr/>
          </p:nvSpPr>
          <p:spPr>
            <a:xfrm>
              <a:off x="3648" y="3456"/>
              <a:ext cx="240" cy="144"/>
            </a:xfrm>
            <a:prstGeom prst="line">
              <a:avLst/>
            </a:prstGeom>
            <a:ln w="9525" cap="flat" cmpd="sng">
              <a:solidFill>
                <a:srgbClr val="FF0000"/>
              </a:solidFill>
              <a:prstDash val="lgDashDotDot"/>
              <a:miter/>
              <a:headEnd type="none" w="sm" len="sm"/>
              <a:tailEnd type="triangle" w="sm" len="sm"/>
            </a:ln>
          </p:spPr>
        </p:sp>
        <p:sp>
          <p:nvSpPr>
            <p:cNvPr id="67648" name="直接连接符 67647"/>
            <p:cNvSpPr/>
            <p:nvPr/>
          </p:nvSpPr>
          <p:spPr>
            <a:xfrm>
              <a:off x="3648" y="3648"/>
              <a:ext cx="240" cy="144"/>
            </a:xfrm>
            <a:prstGeom prst="line">
              <a:avLst/>
            </a:prstGeom>
            <a:ln w="9525" cap="flat" cmpd="sng">
              <a:solidFill>
                <a:srgbClr val="FF0000"/>
              </a:solidFill>
              <a:prstDash val="lgDashDotDot"/>
              <a:miter/>
              <a:headEnd type="none" w="sm" len="sm"/>
              <a:tailEnd type="triangle" w="sm" len="sm"/>
            </a:ln>
          </p:spPr>
        </p:sp>
        <p:sp>
          <p:nvSpPr>
            <p:cNvPr id="67649" name="任意多边形 67648"/>
            <p:cNvSpPr/>
            <p:nvPr/>
          </p:nvSpPr>
          <p:spPr>
            <a:xfrm>
              <a:off x="3328" y="3080"/>
              <a:ext cx="168" cy="72"/>
            </a:xfrm>
            <a:custGeom>
              <a:avLst/>
              <a:gdLst/>
              <a:ahLst/>
              <a:cxnLst/>
              <a:rect l="0" t="0" r="0" b="0"/>
              <a:pathLst>
                <a:path w="168" h="72">
                  <a:moveTo>
                    <a:pt x="0" y="0"/>
                  </a:moveTo>
                  <a:cubicBezTo>
                    <a:pt x="43" y="14"/>
                    <a:pt x="77" y="34"/>
                    <a:pt x="120" y="48"/>
                  </a:cubicBezTo>
                  <a:cubicBezTo>
                    <a:pt x="128" y="51"/>
                    <a:pt x="136" y="53"/>
                    <a:pt x="144" y="56"/>
                  </a:cubicBezTo>
                  <a:cubicBezTo>
                    <a:pt x="153" y="59"/>
                    <a:pt x="168" y="72"/>
                    <a:pt x="168" y="72"/>
                  </a:cubicBezTo>
                </a:path>
              </a:pathLst>
            </a:custGeom>
            <a:noFill/>
            <a:ln w="9525" cap="flat" cmpd="sng">
              <a:solidFill>
                <a:srgbClr val="FF0000">
                  <a:alpha val="100000"/>
                </a:srgbClr>
              </a:solidFill>
              <a:prstDash val="lgDashDotDot"/>
              <a:miter lim="800000"/>
              <a:headEnd type="none" w="sm" len="sm"/>
              <a:tailEnd type="non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7650" name="任意多边形 67649"/>
            <p:cNvSpPr/>
            <p:nvPr/>
          </p:nvSpPr>
          <p:spPr>
            <a:xfrm>
              <a:off x="3360" y="3104"/>
              <a:ext cx="192" cy="128"/>
            </a:xfrm>
            <a:custGeom>
              <a:avLst/>
              <a:gdLst/>
              <a:ahLst/>
              <a:cxnLst/>
              <a:rect l="0" t="0" r="0" b="0"/>
              <a:pathLst>
                <a:path w="192" h="128">
                  <a:moveTo>
                    <a:pt x="0" y="0"/>
                  </a:moveTo>
                  <a:cubicBezTo>
                    <a:pt x="15" y="44"/>
                    <a:pt x="12" y="36"/>
                    <a:pt x="48" y="56"/>
                  </a:cubicBezTo>
                  <a:cubicBezTo>
                    <a:pt x="141" y="108"/>
                    <a:pt x="51" y="73"/>
                    <a:pt x="144" y="104"/>
                  </a:cubicBezTo>
                  <a:cubicBezTo>
                    <a:pt x="158" y="109"/>
                    <a:pt x="192" y="109"/>
                    <a:pt x="192" y="128"/>
                  </a:cubicBezTo>
                </a:path>
              </a:pathLst>
            </a:custGeom>
            <a:noFill/>
            <a:ln w="9525" cap="flat" cmpd="sng">
              <a:solidFill>
                <a:srgbClr val="FF0000">
                  <a:alpha val="100000"/>
                </a:srgbClr>
              </a:solidFill>
              <a:prstDash val="lgDashDotDot"/>
              <a:miter lim="800000"/>
              <a:headEnd type="none" w="sm" len="sm"/>
              <a:tailEnd type="triangl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7651" name="任意多边形 67650"/>
            <p:cNvSpPr/>
            <p:nvPr/>
          </p:nvSpPr>
          <p:spPr>
            <a:xfrm>
              <a:off x="2936" y="3200"/>
              <a:ext cx="272" cy="64"/>
            </a:xfrm>
            <a:custGeom>
              <a:avLst/>
              <a:gdLst/>
              <a:ahLst/>
              <a:cxnLst/>
              <a:rect l="0" t="0" r="0" b="0"/>
              <a:pathLst>
                <a:path w="272" h="64">
                  <a:moveTo>
                    <a:pt x="0" y="0"/>
                  </a:moveTo>
                  <a:cubicBezTo>
                    <a:pt x="64" y="21"/>
                    <a:pt x="125" y="38"/>
                    <a:pt x="192" y="48"/>
                  </a:cubicBezTo>
                  <a:cubicBezTo>
                    <a:pt x="218" y="57"/>
                    <a:pt x="244" y="64"/>
                    <a:pt x="272" y="64"/>
                  </a:cubicBezTo>
                </a:path>
              </a:pathLst>
            </a:custGeom>
            <a:noFill/>
            <a:ln w="9525" cap="flat" cmpd="sng">
              <a:solidFill>
                <a:srgbClr val="FF0000">
                  <a:alpha val="100000"/>
                </a:srgbClr>
              </a:solidFill>
              <a:prstDash val="solid"/>
              <a:miter lim="800000"/>
              <a:headEnd type="none" w="sm" len="sm"/>
              <a:tailEnd type="triangl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7652" name="任意多边形 67651"/>
            <p:cNvSpPr/>
            <p:nvPr/>
          </p:nvSpPr>
          <p:spPr>
            <a:xfrm>
              <a:off x="2928" y="3408"/>
              <a:ext cx="272" cy="64"/>
            </a:xfrm>
            <a:custGeom>
              <a:avLst/>
              <a:gdLst/>
              <a:ahLst/>
              <a:cxnLst/>
              <a:rect l="0" t="0" r="0" b="0"/>
              <a:pathLst>
                <a:path w="272" h="64">
                  <a:moveTo>
                    <a:pt x="0" y="0"/>
                  </a:moveTo>
                  <a:cubicBezTo>
                    <a:pt x="64" y="21"/>
                    <a:pt x="125" y="38"/>
                    <a:pt x="192" y="48"/>
                  </a:cubicBezTo>
                  <a:cubicBezTo>
                    <a:pt x="218" y="57"/>
                    <a:pt x="244" y="64"/>
                    <a:pt x="272" y="64"/>
                  </a:cubicBezTo>
                </a:path>
              </a:pathLst>
            </a:custGeom>
            <a:noFill/>
            <a:ln w="9525" cap="flat" cmpd="sng">
              <a:solidFill>
                <a:srgbClr val="FF0000">
                  <a:alpha val="100000"/>
                </a:srgbClr>
              </a:solidFill>
              <a:prstDash val="solid"/>
              <a:miter lim="800000"/>
              <a:headEnd type="none" w="sm" len="sm"/>
              <a:tailEnd type="triangl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7653" name="任意多边形 67652"/>
            <p:cNvSpPr/>
            <p:nvPr/>
          </p:nvSpPr>
          <p:spPr>
            <a:xfrm>
              <a:off x="2883" y="3561"/>
              <a:ext cx="333" cy="87"/>
            </a:xfrm>
            <a:custGeom>
              <a:avLst/>
              <a:gdLst/>
              <a:ahLst/>
              <a:cxnLst/>
              <a:rect l="0" t="0" r="0" b="0"/>
              <a:pathLst>
                <a:path w="333" h="87">
                  <a:moveTo>
                    <a:pt x="61" y="23"/>
                  </a:moveTo>
                  <a:cubicBezTo>
                    <a:pt x="162" y="57"/>
                    <a:pt x="0" y="0"/>
                    <a:pt x="109" y="47"/>
                  </a:cubicBezTo>
                  <a:cubicBezTo>
                    <a:pt x="147" y="63"/>
                    <a:pt x="197" y="65"/>
                    <a:pt x="237" y="71"/>
                  </a:cubicBezTo>
                  <a:cubicBezTo>
                    <a:pt x="269" y="76"/>
                    <a:pt x="333" y="87"/>
                    <a:pt x="333" y="87"/>
                  </a:cubicBezTo>
                </a:path>
              </a:pathLst>
            </a:custGeom>
            <a:noFill/>
            <a:ln w="9525" cap="flat" cmpd="sng">
              <a:solidFill>
                <a:srgbClr val="FF0000">
                  <a:alpha val="100000"/>
                </a:srgbClr>
              </a:solidFill>
              <a:prstDash val="solid"/>
              <a:miter lim="800000"/>
              <a:headEnd type="none" w="sm" len="sm"/>
              <a:tailEnd type="triangl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7654" name="任意多边形 67653"/>
            <p:cNvSpPr/>
            <p:nvPr/>
          </p:nvSpPr>
          <p:spPr>
            <a:xfrm>
              <a:off x="2880" y="3744"/>
              <a:ext cx="333" cy="87"/>
            </a:xfrm>
            <a:custGeom>
              <a:avLst/>
              <a:gdLst/>
              <a:ahLst/>
              <a:cxnLst/>
              <a:rect l="0" t="0" r="0" b="0"/>
              <a:pathLst>
                <a:path w="333" h="87">
                  <a:moveTo>
                    <a:pt x="61" y="23"/>
                  </a:moveTo>
                  <a:cubicBezTo>
                    <a:pt x="162" y="57"/>
                    <a:pt x="0" y="0"/>
                    <a:pt x="109" y="47"/>
                  </a:cubicBezTo>
                  <a:cubicBezTo>
                    <a:pt x="147" y="63"/>
                    <a:pt x="197" y="65"/>
                    <a:pt x="237" y="71"/>
                  </a:cubicBezTo>
                  <a:cubicBezTo>
                    <a:pt x="269" y="76"/>
                    <a:pt x="333" y="87"/>
                    <a:pt x="333" y="87"/>
                  </a:cubicBezTo>
                </a:path>
              </a:pathLst>
            </a:custGeom>
            <a:noFill/>
            <a:ln w="9525" cap="flat" cmpd="sng">
              <a:solidFill>
                <a:srgbClr val="FF0000">
                  <a:alpha val="100000"/>
                </a:srgbClr>
              </a:solidFill>
              <a:prstDash val="solid"/>
              <a:miter lim="800000"/>
              <a:headEnd type="none" w="sm" len="sm"/>
              <a:tailEnd type="triangl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7655" name="任意多边形 67654"/>
            <p:cNvSpPr/>
            <p:nvPr/>
          </p:nvSpPr>
          <p:spPr>
            <a:xfrm>
              <a:off x="3288" y="3272"/>
              <a:ext cx="206" cy="100"/>
            </a:xfrm>
            <a:custGeom>
              <a:avLst/>
              <a:gdLst/>
              <a:ahLst/>
              <a:cxnLst/>
              <a:rect l="0" t="0" r="0" b="0"/>
              <a:pathLst>
                <a:path w="206" h="100">
                  <a:moveTo>
                    <a:pt x="0" y="0"/>
                  </a:moveTo>
                  <a:cubicBezTo>
                    <a:pt x="37" y="25"/>
                    <a:pt x="78" y="42"/>
                    <a:pt x="120" y="56"/>
                  </a:cubicBezTo>
                  <a:cubicBezTo>
                    <a:pt x="129" y="59"/>
                    <a:pt x="135" y="68"/>
                    <a:pt x="144" y="72"/>
                  </a:cubicBezTo>
                  <a:cubicBezTo>
                    <a:pt x="206" y="100"/>
                    <a:pt x="178" y="74"/>
                    <a:pt x="200" y="96"/>
                  </a:cubicBezTo>
                </a:path>
              </a:pathLst>
            </a:custGeom>
            <a:noFill/>
            <a:ln w="9525" cap="flat" cmpd="sng">
              <a:solidFill>
                <a:srgbClr val="FF0000">
                  <a:alpha val="100000"/>
                </a:srgbClr>
              </a:solidFill>
              <a:prstDash val="lgDashDotDot"/>
              <a:miter lim="800000"/>
              <a:headEnd type="none" w="sm" len="sm"/>
              <a:tailEnd type="non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7656" name="任意多边形 67655"/>
            <p:cNvSpPr/>
            <p:nvPr/>
          </p:nvSpPr>
          <p:spPr>
            <a:xfrm>
              <a:off x="3288" y="3464"/>
              <a:ext cx="240" cy="72"/>
            </a:xfrm>
            <a:custGeom>
              <a:avLst/>
              <a:gdLst/>
              <a:ahLst/>
              <a:cxnLst/>
              <a:rect l="0" t="0" r="0" b="0"/>
              <a:pathLst>
                <a:path w="240" h="72">
                  <a:moveTo>
                    <a:pt x="0" y="0"/>
                  </a:moveTo>
                  <a:cubicBezTo>
                    <a:pt x="79" y="26"/>
                    <a:pt x="155" y="72"/>
                    <a:pt x="240" y="72"/>
                  </a:cubicBezTo>
                </a:path>
              </a:pathLst>
            </a:custGeom>
            <a:noFill/>
            <a:ln w="9525" cap="flat" cmpd="sng">
              <a:solidFill>
                <a:srgbClr val="FF0000">
                  <a:alpha val="100000"/>
                </a:srgbClr>
              </a:solidFill>
              <a:prstDash val="lgDashDotDot"/>
              <a:miter lim="800000"/>
              <a:headEnd type="none" w="sm" len="sm"/>
              <a:tailEnd type="non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7657" name="任意多边形 67656"/>
            <p:cNvSpPr/>
            <p:nvPr/>
          </p:nvSpPr>
          <p:spPr>
            <a:xfrm>
              <a:off x="3296" y="3656"/>
              <a:ext cx="232" cy="72"/>
            </a:xfrm>
            <a:custGeom>
              <a:avLst/>
              <a:gdLst/>
              <a:ahLst/>
              <a:cxnLst/>
              <a:rect l="0" t="0" r="0" b="0"/>
              <a:pathLst>
                <a:path w="232" h="72">
                  <a:moveTo>
                    <a:pt x="0" y="0"/>
                  </a:moveTo>
                  <a:cubicBezTo>
                    <a:pt x="54" y="36"/>
                    <a:pt x="165" y="72"/>
                    <a:pt x="232" y="72"/>
                  </a:cubicBezTo>
                </a:path>
              </a:pathLst>
            </a:custGeom>
            <a:noFill/>
            <a:ln w="9525" cap="flat" cmpd="sng">
              <a:solidFill>
                <a:srgbClr val="FF0000">
                  <a:alpha val="100000"/>
                </a:srgbClr>
              </a:solidFill>
              <a:prstDash val="lgDashDotDot"/>
              <a:miter lim="800000"/>
              <a:headEnd type="none" w="sm" len="sm"/>
              <a:tailEnd type="non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7658" name="任意多边形 67657"/>
            <p:cNvSpPr/>
            <p:nvPr/>
          </p:nvSpPr>
          <p:spPr>
            <a:xfrm>
              <a:off x="3352" y="3320"/>
              <a:ext cx="200" cy="112"/>
            </a:xfrm>
            <a:custGeom>
              <a:avLst/>
              <a:gdLst/>
              <a:ahLst/>
              <a:cxnLst/>
              <a:rect l="0" t="0" r="0" b="0"/>
              <a:pathLst>
                <a:path w="200" h="112">
                  <a:moveTo>
                    <a:pt x="0" y="0"/>
                  </a:moveTo>
                  <a:cubicBezTo>
                    <a:pt x="8" y="5"/>
                    <a:pt x="17" y="9"/>
                    <a:pt x="24" y="16"/>
                  </a:cubicBezTo>
                  <a:cubicBezTo>
                    <a:pt x="31" y="23"/>
                    <a:pt x="32" y="34"/>
                    <a:pt x="40" y="40"/>
                  </a:cubicBezTo>
                  <a:cubicBezTo>
                    <a:pt x="47" y="45"/>
                    <a:pt x="57" y="44"/>
                    <a:pt x="64" y="48"/>
                  </a:cubicBezTo>
                  <a:cubicBezTo>
                    <a:pt x="111" y="74"/>
                    <a:pt x="143" y="112"/>
                    <a:pt x="200" y="112"/>
                  </a:cubicBezTo>
                </a:path>
              </a:pathLst>
            </a:custGeom>
            <a:noFill/>
            <a:ln w="9525" cap="flat" cmpd="sng">
              <a:solidFill>
                <a:srgbClr val="FF0000">
                  <a:alpha val="100000"/>
                </a:srgbClr>
              </a:solidFill>
              <a:prstDash val="lgDashDotDot"/>
              <a:miter lim="800000"/>
              <a:headEnd type="none" w="sm" len="sm"/>
              <a:tailEnd type="triangl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7659" name="任意多边形 67658"/>
            <p:cNvSpPr/>
            <p:nvPr/>
          </p:nvSpPr>
          <p:spPr>
            <a:xfrm>
              <a:off x="3352" y="3496"/>
              <a:ext cx="184" cy="112"/>
            </a:xfrm>
            <a:custGeom>
              <a:avLst/>
              <a:gdLst/>
              <a:ahLst/>
              <a:cxnLst/>
              <a:rect l="0" t="0" r="0" b="0"/>
              <a:pathLst>
                <a:path w="184" h="112">
                  <a:moveTo>
                    <a:pt x="0" y="0"/>
                  </a:moveTo>
                  <a:cubicBezTo>
                    <a:pt x="20" y="60"/>
                    <a:pt x="64" y="77"/>
                    <a:pt x="120" y="96"/>
                  </a:cubicBezTo>
                  <a:cubicBezTo>
                    <a:pt x="142" y="103"/>
                    <a:pt x="161" y="112"/>
                    <a:pt x="184" y="112"/>
                  </a:cubicBezTo>
                </a:path>
              </a:pathLst>
            </a:custGeom>
            <a:noFill/>
            <a:ln w="9525" cap="flat" cmpd="sng">
              <a:solidFill>
                <a:srgbClr val="FF0000">
                  <a:alpha val="100000"/>
                </a:srgbClr>
              </a:solidFill>
              <a:prstDash val="lgDashDotDot"/>
              <a:miter lim="800000"/>
              <a:headEnd type="none" w="sm" len="sm"/>
              <a:tailEnd type="triangl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67660" name="任意多边形 67659"/>
            <p:cNvSpPr/>
            <p:nvPr/>
          </p:nvSpPr>
          <p:spPr>
            <a:xfrm>
              <a:off x="3352" y="3696"/>
              <a:ext cx="208" cy="120"/>
            </a:xfrm>
            <a:custGeom>
              <a:avLst/>
              <a:gdLst/>
              <a:ahLst/>
              <a:cxnLst/>
              <a:rect l="0" t="0" r="0" b="0"/>
              <a:pathLst>
                <a:path w="208" h="120">
                  <a:moveTo>
                    <a:pt x="0" y="0"/>
                  </a:moveTo>
                  <a:cubicBezTo>
                    <a:pt x="5" y="16"/>
                    <a:pt x="10" y="37"/>
                    <a:pt x="24" y="48"/>
                  </a:cubicBezTo>
                  <a:cubicBezTo>
                    <a:pt x="31" y="53"/>
                    <a:pt x="41" y="52"/>
                    <a:pt x="48" y="56"/>
                  </a:cubicBezTo>
                  <a:cubicBezTo>
                    <a:pt x="97" y="83"/>
                    <a:pt x="148" y="120"/>
                    <a:pt x="208" y="120"/>
                  </a:cubicBezTo>
                </a:path>
              </a:pathLst>
            </a:custGeom>
            <a:noFill/>
            <a:ln w="9525" cap="flat" cmpd="sng">
              <a:solidFill>
                <a:srgbClr val="FF0000">
                  <a:alpha val="100000"/>
                </a:srgbClr>
              </a:solidFill>
              <a:prstDash val="lgDashDotDot"/>
              <a:miter lim="800000"/>
              <a:headEnd type="none" w="sm" len="sm"/>
              <a:tailEnd type="triangle" w="sm" len="sm"/>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graphicFrame>
          <p:nvGraphicFramePr>
            <p:cNvPr id="67661" name="对象 67660"/>
            <p:cNvGraphicFramePr/>
            <p:nvPr/>
          </p:nvGraphicFramePr>
          <p:xfrm>
            <a:off x="4080" y="3744"/>
            <a:ext cx="720" cy="200"/>
          </p:xfrm>
          <a:graphic>
            <a:graphicData uri="http://schemas.openxmlformats.org/presentationml/2006/ole">
              <mc:AlternateContent xmlns:mc="http://schemas.openxmlformats.org/markup-compatibility/2006">
                <mc:Choice xmlns:v="urn:schemas-microsoft-com:vml" Requires="v">
                  <p:oleObj r:id="rId25" imgW="965200" imgH="228600" progId="Equation.3">
                    <p:embed/>
                  </p:oleObj>
                </mc:Choice>
                <mc:Fallback>
                  <p:oleObj r:id="rId25" imgW="965200" imgH="228600" progId="Equation.3">
                    <p:embed/>
                    <p:pic>
                      <p:nvPicPr>
                        <p:cNvPr id="67661" name="对象 67660"/>
                        <p:cNvPicPr/>
                        <p:nvPr/>
                      </p:nvPicPr>
                      <p:blipFill>
                        <a:blip r:embed="rId26"/>
                        <a:stretch>
                          <a:fillRect/>
                        </a:stretch>
                      </p:blipFill>
                      <p:spPr>
                        <a:xfrm>
                          <a:off x="4080" y="3744"/>
                          <a:ext cx="720" cy="200"/>
                        </a:xfrm>
                        <a:prstGeom prst="rect">
                          <a:avLst/>
                        </a:prstGeom>
                        <a:noFill/>
                        <a:ln w="38100">
                          <a:noFill/>
                          <a:miter/>
                        </a:ln>
                      </p:spPr>
                    </p:pic>
                  </p:oleObj>
                </mc:Fallback>
              </mc:AlternateContent>
            </a:graphicData>
          </a:graphic>
        </p:graphicFrame>
      </p:grpSp>
      <p:grpSp>
        <p:nvGrpSpPr>
          <p:cNvPr id="40962" name="组合 115795"/>
          <p:cNvGrpSpPr/>
          <p:nvPr/>
        </p:nvGrpSpPr>
        <p:grpSpPr>
          <a:xfrm>
            <a:off x="2640014" y="1103948"/>
            <a:ext cx="6624637" cy="1536700"/>
            <a:chOff x="703" y="1026"/>
            <a:chExt cx="4173" cy="968"/>
          </a:xfrm>
        </p:grpSpPr>
        <p:sp>
          <p:nvSpPr>
            <p:cNvPr id="40963" name="直接连接符 115718"/>
            <p:cNvSpPr/>
            <p:nvPr/>
          </p:nvSpPr>
          <p:spPr>
            <a:xfrm>
              <a:off x="1519" y="1570"/>
              <a:ext cx="363" cy="0"/>
            </a:xfrm>
            <a:prstGeom prst="line">
              <a:avLst/>
            </a:prstGeom>
            <a:ln w="19050" cap="flat" cmpd="sng">
              <a:solidFill>
                <a:schemeClr val="tx1"/>
              </a:solidFill>
              <a:prstDash val="solid"/>
              <a:round/>
              <a:headEnd type="none" w="med" len="med"/>
              <a:tailEnd type="triangle" w="med" len="med"/>
            </a:ln>
          </p:spPr>
        </p:sp>
        <p:sp>
          <p:nvSpPr>
            <p:cNvPr id="40964" name="直接连接符 115719"/>
            <p:cNvSpPr/>
            <p:nvPr/>
          </p:nvSpPr>
          <p:spPr>
            <a:xfrm>
              <a:off x="4150" y="1570"/>
              <a:ext cx="726" cy="0"/>
            </a:xfrm>
            <a:prstGeom prst="line">
              <a:avLst/>
            </a:prstGeom>
            <a:ln w="19050" cap="flat" cmpd="sng">
              <a:solidFill>
                <a:schemeClr val="tx1"/>
              </a:solidFill>
              <a:prstDash val="solid"/>
              <a:round/>
              <a:headEnd type="none" w="med" len="med"/>
              <a:tailEnd type="triangle" w="med" len="med"/>
            </a:ln>
          </p:spPr>
        </p:sp>
        <p:sp>
          <p:nvSpPr>
            <p:cNvPr id="40965" name="直接连接符 115720"/>
            <p:cNvSpPr/>
            <p:nvPr/>
          </p:nvSpPr>
          <p:spPr>
            <a:xfrm>
              <a:off x="2199" y="1570"/>
              <a:ext cx="363" cy="0"/>
            </a:xfrm>
            <a:prstGeom prst="line">
              <a:avLst/>
            </a:prstGeom>
            <a:ln w="19050" cap="flat" cmpd="sng">
              <a:solidFill>
                <a:schemeClr val="tx1"/>
              </a:solidFill>
              <a:prstDash val="solid"/>
              <a:round/>
              <a:headEnd type="none" w="med" len="med"/>
              <a:tailEnd type="triangle" w="med" len="med"/>
            </a:ln>
          </p:spPr>
        </p:sp>
        <p:sp>
          <p:nvSpPr>
            <p:cNvPr id="40966" name="直接连接符 115721"/>
            <p:cNvSpPr/>
            <p:nvPr/>
          </p:nvSpPr>
          <p:spPr>
            <a:xfrm>
              <a:off x="3469" y="1570"/>
              <a:ext cx="363" cy="0"/>
            </a:xfrm>
            <a:prstGeom prst="line">
              <a:avLst/>
            </a:prstGeom>
            <a:ln w="19050" cap="flat" cmpd="sng">
              <a:solidFill>
                <a:schemeClr val="tx1"/>
              </a:solidFill>
              <a:prstDash val="solid"/>
              <a:round/>
              <a:headEnd type="none" w="med" len="med"/>
              <a:tailEnd type="triangle" w="med" len="med"/>
            </a:ln>
          </p:spPr>
        </p:sp>
        <p:sp>
          <p:nvSpPr>
            <p:cNvPr id="40967" name="直接连接符 115722"/>
            <p:cNvSpPr/>
            <p:nvPr/>
          </p:nvSpPr>
          <p:spPr>
            <a:xfrm>
              <a:off x="2789" y="1570"/>
              <a:ext cx="363" cy="0"/>
            </a:xfrm>
            <a:prstGeom prst="line">
              <a:avLst/>
            </a:prstGeom>
            <a:ln w="19050" cap="flat" cmpd="sng">
              <a:solidFill>
                <a:schemeClr val="tx1"/>
              </a:solidFill>
              <a:prstDash val="solid"/>
              <a:round/>
              <a:headEnd type="none" w="med" len="med"/>
              <a:tailEnd type="triangle" w="med" len="med"/>
            </a:ln>
          </p:spPr>
        </p:sp>
        <p:sp>
          <p:nvSpPr>
            <p:cNvPr id="40968" name="流程图: 延期 115723"/>
            <p:cNvSpPr/>
            <p:nvPr/>
          </p:nvSpPr>
          <p:spPr>
            <a:xfrm>
              <a:off x="1883" y="1389"/>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0969" name="流程图: 延期 115724"/>
            <p:cNvSpPr/>
            <p:nvPr/>
          </p:nvSpPr>
          <p:spPr>
            <a:xfrm>
              <a:off x="3152" y="1389"/>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0970" name="流程图: 延期 115726"/>
            <p:cNvSpPr/>
            <p:nvPr/>
          </p:nvSpPr>
          <p:spPr>
            <a:xfrm>
              <a:off x="3832" y="1389"/>
              <a:ext cx="408" cy="31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0971" name="椭圆 115727"/>
            <p:cNvSpPr/>
            <p:nvPr/>
          </p:nvSpPr>
          <p:spPr>
            <a:xfrm>
              <a:off x="1338" y="1389"/>
              <a:ext cx="272" cy="31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0972" name="文本框 115728"/>
            <p:cNvSpPr txBox="1"/>
            <p:nvPr/>
          </p:nvSpPr>
          <p:spPr>
            <a:xfrm>
              <a:off x="1338" y="1389"/>
              <a:ext cx="272" cy="288"/>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40973" name="直接连接符 115731"/>
            <p:cNvSpPr/>
            <p:nvPr/>
          </p:nvSpPr>
          <p:spPr>
            <a:xfrm>
              <a:off x="839" y="1570"/>
              <a:ext cx="499" cy="0"/>
            </a:xfrm>
            <a:prstGeom prst="line">
              <a:avLst/>
            </a:prstGeom>
            <a:ln w="19050" cap="flat" cmpd="sng">
              <a:solidFill>
                <a:schemeClr val="tx1"/>
              </a:solidFill>
              <a:prstDash val="solid"/>
              <a:round/>
              <a:headEnd type="none" w="med" len="med"/>
              <a:tailEnd type="triangle" w="med" len="med"/>
            </a:ln>
          </p:spPr>
        </p:sp>
        <p:sp>
          <p:nvSpPr>
            <p:cNvPr id="40974" name="直接连接符 115733"/>
            <p:cNvSpPr/>
            <p:nvPr/>
          </p:nvSpPr>
          <p:spPr>
            <a:xfrm>
              <a:off x="1474" y="1026"/>
              <a:ext cx="2857" cy="0"/>
            </a:xfrm>
            <a:prstGeom prst="line">
              <a:avLst/>
            </a:prstGeom>
            <a:ln w="15875" cap="flat" cmpd="sng">
              <a:solidFill>
                <a:schemeClr val="tx1"/>
              </a:solidFill>
              <a:prstDash val="solid"/>
              <a:round/>
              <a:headEnd type="none" w="med" len="med"/>
              <a:tailEnd type="none" w="med" len="med"/>
            </a:ln>
          </p:spPr>
        </p:sp>
        <p:sp>
          <p:nvSpPr>
            <p:cNvPr id="40975" name="直接连接符 115734"/>
            <p:cNvSpPr/>
            <p:nvPr/>
          </p:nvSpPr>
          <p:spPr>
            <a:xfrm>
              <a:off x="1474" y="1026"/>
              <a:ext cx="0" cy="362"/>
            </a:xfrm>
            <a:prstGeom prst="line">
              <a:avLst/>
            </a:prstGeom>
            <a:ln w="15875" cap="flat" cmpd="sng">
              <a:solidFill>
                <a:schemeClr val="tx1"/>
              </a:solidFill>
              <a:prstDash val="solid"/>
              <a:round/>
              <a:headEnd type="none" w="med" len="med"/>
              <a:tailEnd type="triangle" w="med" len="med"/>
            </a:ln>
          </p:spPr>
        </p:sp>
        <p:sp>
          <p:nvSpPr>
            <p:cNvPr id="40976" name="直接连接符 115735"/>
            <p:cNvSpPr/>
            <p:nvPr/>
          </p:nvSpPr>
          <p:spPr>
            <a:xfrm>
              <a:off x="2698" y="1026"/>
              <a:ext cx="0" cy="453"/>
            </a:xfrm>
            <a:prstGeom prst="line">
              <a:avLst/>
            </a:prstGeom>
            <a:ln w="15875" cap="flat" cmpd="sng">
              <a:solidFill>
                <a:schemeClr val="tx1"/>
              </a:solidFill>
              <a:prstDash val="solid"/>
              <a:round/>
              <a:headEnd type="none" w="med" len="med"/>
              <a:tailEnd type="triangle" w="med" len="med"/>
            </a:ln>
          </p:spPr>
        </p:sp>
        <p:sp>
          <p:nvSpPr>
            <p:cNvPr id="40977" name="直接连接符 115736"/>
            <p:cNvSpPr/>
            <p:nvPr/>
          </p:nvSpPr>
          <p:spPr>
            <a:xfrm>
              <a:off x="4331" y="1026"/>
              <a:ext cx="0" cy="544"/>
            </a:xfrm>
            <a:prstGeom prst="line">
              <a:avLst/>
            </a:prstGeom>
            <a:ln w="15875" cap="flat" cmpd="sng">
              <a:solidFill>
                <a:schemeClr val="tx1"/>
              </a:solidFill>
              <a:prstDash val="solid"/>
              <a:round/>
              <a:headEnd type="none" w="med" len="med"/>
              <a:tailEnd type="none" w="med" len="med"/>
            </a:ln>
          </p:spPr>
        </p:sp>
        <p:sp>
          <p:nvSpPr>
            <p:cNvPr id="40978" name="文本框 115737"/>
            <p:cNvSpPr txBox="1"/>
            <p:nvPr/>
          </p:nvSpPr>
          <p:spPr>
            <a:xfrm>
              <a:off x="703" y="1162"/>
              <a:ext cx="498" cy="288"/>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err="1">
                  <a:solidFill>
                    <a:srgbClr val="000000"/>
                  </a:solidFill>
                  <a:latin typeface="Times New Roman" panose="02020603050405020304" pitchFamily="18" charset="0"/>
                  <a:ea typeface="宋体" panose="02010600030101010101" pitchFamily="2" charset="-122"/>
                </a:rPr>
                <a:t>r</a:t>
              </a:r>
              <a:r>
                <a:rPr lang="en-US" altLang="zh-CN" sz="2400" b="1" err="1">
                  <a:solidFill>
                    <a:srgbClr val="000000"/>
                  </a:solidFill>
                  <a:latin typeface="Arial" panose="020B0604020202020204" pitchFamily="34" charset="0"/>
                  <a:ea typeface="宋体" panose="02010600030101010101" pitchFamily="2" charset="-122"/>
                </a:rPr>
                <a:t>(</a:t>
              </a:r>
              <a:r>
                <a:rPr lang="en-US" altLang="zh-CN" sz="2400" b="1" i="1" err="1">
                  <a:solidFill>
                    <a:srgbClr val="000000"/>
                  </a:solidFill>
                  <a:latin typeface="Times New Roman" panose="02020603050405020304" pitchFamily="18" charset="0"/>
                  <a:ea typeface="宋体" panose="02010600030101010101" pitchFamily="2" charset="-122"/>
                </a:rPr>
                <a:t>x</a:t>
              </a:r>
              <a:r>
                <a:rPr lang="en-US" altLang="zh-CN" sz="2400" b="1">
                  <a:solidFill>
                    <a:srgbClr val="000000"/>
                  </a:solidFill>
                  <a:latin typeface="Arial" panose="020B0604020202020204" pitchFamily="34" charset="0"/>
                  <a:ea typeface="宋体" panose="02010600030101010101" pitchFamily="2" charset="-122"/>
                </a:rPr>
                <a:t>)</a:t>
              </a:r>
              <a:endParaRPr lang="zh-CN" altLang="en-US" sz="2400" b="1" dirty="0">
                <a:solidFill>
                  <a:srgbClr val="000000"/>
                </a:solidFill>
                <a:latin typeface="Arial" panose="020B0604020202020204" pitchFamily="34" charset="0"/>
                <a:ea typeface="宋体" panose="02010600030101010101" pitchFamily="2" charset="-122"/>
              </a:endParaRPr>
            </a:p>
          </p:txBody>
        </p:sp>
        <p:sp>
          <p:nvSpPr>
            <p:cNvPr id="40979" name="文本框 115738"/>
            <p:cNvSpPr txBox="1"/>
            <p:nvPr/>
          </p:nvSpPr>
          <p:spPr>
            <a:xfrm>
              <a:off x="1837" y="1389"/>
              <a:ext cx="408" cy="288"/>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S</a:t>
              </a:r>
              <a:r>
                <a:rPr lang="en-US" altLang="zh-CN" sz="2400" b="1" baseline="-25000">
                  <a:solidFill>
                    <a:srgbClr val="000000"/>
                  </a:solidFill>
                  <a:latin typeface="Times New Roman" panose="02020603050405020304" pitchFamily="18" charset="0"/>
                  <a:ea typeface="宋体" panose="02010600030101010101" pitchFamily="2" charset="-122"/>
                </a:rPr>
                <a:t>0</a:t>
              </a:r>
              <a:endParaRPr lang="zh-CN" altLang="en-US" sz="2400" b="1" baseline="-25000" dirty="0">
                <a:solidFill>
                  <a:srgbClr val="000000"/>
                </a:solidFill>
                <a:latin typeface="Times New Roman" panose="02020603050405020304" pitchFamily="18" charset="0"/>
                <a:ea typeface="宋体" panose="02010600030101010101" pitchFamily="2" charset="-122"/>
              </a:endParaRPr>
            </a:p>
          </p:txBody>
        </p:sp>
        <p:sp>
          <p:nvSpPr>
            <p:cNvPr id="40980" name="文本框 115739"/>
            <p:cNvSpPr txBox="1"/>
            <p:nvPr/>
          </p:nvSpPr>
          <p:spPr>
            <a:xfrm>
              <a:off x="3106" y="1389"/>
              <a:ext cx="408" cy="288"/>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S</a:t>
              </a:r>
              <a:r>
                <a:rPr lang="en-US" altLang="zh-CN" sz="2400" b="1" baseline="-25000">
                  <a:solidFill>
                    <a:srgbClr val="000000"/>
                  </a:solidFill>
                  <a:latin typeface="Times New Roman" panose="02020603050405020304" pitchFamily="18" charset="0"/>
                  <a:ea typeface="宋体" panose="02010600030101010101" pitchFamily="2" charset="-122"/>
                </a:rPr>
                <a:t>1</a:t>
              </a:r>
              <a:endParaRPr lang="zh-CN" altLang="en-US" sz="2400" b="1" baseline="-25000" dirty="0">
                <a:solidFill>
                  <a:srgbClr val="000000"/>
                </a:solidFill>
                <a:latin typeface="Times New Roman" panose="02020603050405020304" pitchFamily="18" charset="0"/>
                <a:ea typeface="宋体" panose="02010600030101010101" pitchFamily="2" charset="-122"/>
              </a:endParaRPr>
            </a:p>
          </p:txBody>
        </p:sp>
        <p:sp>
          <p:nvSpPr>
            <p:cNvPr id="40981" name="文本框 115740"/>
            <p:cNvSpPr txBox="1"/>
            <p:nvPr/>
          </p:nvSpPr>
          <p:spPr>
            <a:xfrm>
              <a:off x="3832" y="1389"/>
              <a:ext cx="408" cy="288"/>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S</a:t>
              </a:r>
              <a:r>
                <a:rPr lang="en-US" altLang="zh-CN" sz="2400" b="1" baseline="-25000">
                  <a:solidFill>
                    <a:srgbClr val="000000"/>
                  </a:solidFill>
                  <a:latin typeface="Times New Roman" panose="02020603050405020304" pitchFamily="18" charset="0"/>
                  <a:ea typeface="宋体" panose="02010600030101010101" pitchFamily="2" charset="-122"/>
                </a:rPr>
                <a:t>2</a:t>
              </a:r>
              <a:endParaRPr lang="zh-CN" altLang="en-US" sz="2400" b="1" baseline="-25000" dirty="0">
                <a:solidFill>
                  <a:srgbClr val="000000"/>
                </a:solidFill>
                <a:latin typeface="Times New Roman" panose="02020603050405020304" pitchFamily="18" charset="0"/>
                <a:ea typeface="宋体" panose="02010600030101010101" pitchFamily="2" charset="-122"/>
              </a:endParaRPr>
            </a:p>
          </p:txBody>
        </p:sp>
        <p:sp>
          <p:nvSpPr>
            <p:cNvPr id="40982" name="椭圆 115742"/>
            <p:cNvSpPr/>
            <p:nvPr/>
          </p:nvSpPr>
          <p:spPr>
            <a:xfrm>
              <a:off x="2562" y="1389"/>
              <a:ext cx="272" cy="31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0983" name="文本框 115743"/>
            <p:cNvSpPr txBox="1"/>
            <p:nvPr/>
          </p:nvSpPr>
          <p:spPr>
            <a:xfrm>
              <a:off x="2562" y="1389"/>
              <a:ext cx="272" cy="288"/>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40984" name="矩形 115746"/>
            <p:cNvSpPr/>
            <p:nvPr/>
          </p:nvSpPr>
          <p:spPr>
            <a:xfrm>
              <a:off x="4377" y="1071"/>
              <a:ext cx="276" cy="288"/>
            </a:xfrm>
            <a:prstGeom prst="rect">
              <a:avLst/>
            </a:prstGeom>
            <a:noFill/>
            <a:ln w="9525">
              <a:noFill/>
            </a:ln>
          </p:spPr>
          <p:txBody>
            <a:bodyPr wrap="none" anchor="t" anchorCtr="0">
              <a:spAutoFit/>
            </a:bodyPr>
            <a:lstStyle/>
            <a:p>
              <a:pPr algn="ctr" eaLnBrk="0" fontAlgn="base" hangingPunct="0">
                <a:spcBef>
                  <a:spcPct val="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x</a:t>
              </a:r>
              <a:r>
                <a:rPr lang="en-US" altLang="zh-CN" sz="2400" b="1" baseline="30000">
                  <a:solidFill>
                    <a:srgbClr val="000000"/>
                  </a:solidFill>
                  <a:latin typeface="Times New Roman" panose="02020603050405020304" pitchFamily="18" charset="0"/>
                  <a:ea typeface="宋体" panose="02010600030101010101" pitchFamily="2" charset="-122"/>
                </a:rPr>
                <a:t>3</a:t>
              </a:r>
              <a:endParaRPr lang="zh-CN" altLang="en-US" sz="2400" b="1" baseline="30000" dirty="0">
                <a:solidFill>
                  <a:srgbClr val="000000"/>
                </a:solidFill>
                <a:latin typeface="Times New Roman" panose="02020603050405020304" pitchFamily="18" charset="0"/>
                <a:ea typeface="宋体" panose="02010600030101010101" pitchFamily="2" charset="-122"/>
              </a:endParaRPr>
            </a:p>
          </p:txBody>
        </p:sp>
        <p:sp>
          <p:nvSpPr>
            <p:cNvPr id="40985" name="矩形 115747"/>
            <p:cNvSpPr/>
            <p:nvPr/>
          </p:nvSpPr>
          <p:spPr>
            <a:xfrm>
              <a:off x="2744" y="1071"/>
              <a:ext cx="212" cy="288"/>
            </a:xfrm>
            <a:prstGeom prst="rect">
              <a:avLst/>
            </a:prstGeom>
            <a:noFill/>
            <a:ln w="9525">
              <a:noFill/>
            </a:ln>
          </p:spPr>
          <p:txBody>
            <a:bodyPr wrap="none" anchor="t" anchorCtr="0">
              <a:spAutoFit/>
            </a:bodyPr>
            <a:lstStyle/>
            <a:p>
              <a:pPr algn="ctr" eaLnBrk="0" fontAlgn="base" hangingPunct="0">
                <a:spcBef>
                  <a:spcPct val="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x</a:t>
              </a:r>
              <a:endParaRPr lang="zh-CN" altLang="en-US" sz="2400" b="1" baseline="30000" dirty="0">
                <a:solidFill>
                  <a:srgbClr val="000000"/>
                </a:solidFill>
                <a:latin typeface="Times New Roman" panose="02020603050405020304" pitchFamily="18" charset="0"/>
                <a:ea typeface="宋体" panose="02010600030101010101" pitchFamily="2" charset="-122"/>
              </a:endParaRPr>
            </a:p>
          </p:txBody>
        </p:sp>
        <p:sp>
          <p:nvSpPr>
            <p:cNvPr id="40986" name="矩形 115748"/>
            <p:cNvSpPr/>
            <p:nvPr/>
          </p:nvSpPr>
          <p:spPr>
            <a:xfrm>
              <a:off x="2200" y="1706"/>
              <a:ext cx="1115" cy="288"/>
            </a:xfrm>
            <a:prstGeom prst="rect">
              <a:avLst/>
            </a:prstGeom>
            <a:noFill/>
            <a:ln w="9525">
              <a:noFill/>
            </a:ln>
          </p:spPr>
          <p:txBody>
            <a:bodyPr wrap="none" anchor="t" anchorCtr="0">
              <a:spAutoFit/>
            </a:bodyPr>
            <a:lstStyle/>
            <a:p>
              <a:pPr algn="ctr" eaLnBrk="0" fontAlgn="base" hangingPunct="0">
                <a:spcBef>
                  <a:spcPct val="0"/>
                </a:spcBef>
                <a:spcAft>
                  <a:spcPct val="0"/>
                </a:spcAft>
              </a:pPr>
              <a:r>
                <a:rPr lang="en-US" altLang="zh-CN" sz="2400" b="1" i="1" err="1">
                  <a:solidFill>
                    <a:srgbClr val="000000"/>
                  </a:solidFill>
                  <a:latin typeface="Times New Roman" panose="02020603050405020304" pitchFamily="18" charset="0"/>
                  <a:ea typeface="宋体" panose="02010600030101010101" pitchFamily="2" charset="-122"/>
                </a:rPr>
                <a:t>g</a:t>
              </a:r>
              <a:r>
                <a:rPr lang="en-US" altLang="zh-CN" sz="2400" b="1" err="1">
                  <a:solidFill>
                    <a:srgbClr val="000000"/>
                  </a:solidFill>
                  <a:latin typeface="Times New Roman" panose="02020603050405020304" pitchFamily="18" charset="0"/>
                  <a:ea typeface="宋体" panose="02010600030101010101" pitchFamily="2" charset="-122"/>
                </a:rPr>
                <a:t>(</a:t>
              </a:r>
              <a:r>
                <a:rPr lang="en-US" altLang="zh-CN" sz="2400" b="1" i="1" err="1">
                  <a:solidFill>
                    <a:srgbClr val="000000"/>
                  </a:solidFill>
                  <a:latin typeface="Times New Roman" panose="02020603050405020304" pitchFamily="18" charset="0"/>
                  <a:ea typeface="宋体" panose="02010600030101010101" pitchFamily="2" charset="-122"/>
                </a:rPr>
                <a:t>x</a:t>
              </a:r>
              <a:r>
                <a:rPr lang="en-US" altLang="zh-CN" sz="2400" b="1">
                  <a:solidFill>
                    <a:srgbClr val="000000"/>
                  </a:solidFill>
                  <a:latin typeface="Times New Roman" panose="02020603050405020304" pitchFamily="18" charset="0"/>
                  <a:ea typeface="宋体" panose="02010600030101010101" pitchFamily="2" charset="-122"/>
                </a:rPr>
                <a:t>)=1+</a:t>
              </a:r>
              <a:r>
                <a:rPr lang="en-US" altLang="zh-CN" sz="2400" b="1" i="1">
                  <a:solidFill>
                    <a:srgbClr val="000000"/>
                  </a:solidFill>
                  <a:latin typeface="Times New Roman" panose="02020603050405020304" pitchFamily="18" charset="0"/>
                  <a:ea typeface="宋体" panose="02010600030101010101" pitchFamily="2" charset="-122"/>
                </a:rPr>
                <a:t>x</a:t>
              </a:r>
              <a:r>
                <a:rPr lang="en-US" altLang="zh-CN" sz="2400" b="1">
                  <a:solidFill>
                    <a:srgbClr val="000000"/>
                  </a:solidFill>
                  <a:latin typeface="Times New Roman" panose="02020603050405020304" pitchFamily="18" charset="0"/>
                  <a:ea typeface="宋体" panose="02010600030101010101" pitchFamily="2" charset="-122"/>
                </a:rPr>
                <a:t>+</a:t>
              </a:r>
              <a:r>
                <a:rPr lang="en-US" altLang="zh-CN" sz="2400" b="1" i="1">
                  <a:solidFill>
                    <a:srgbClr val="000000"/>
                  </a:solidFill>
                  <a:latin typeface="Times New Roman" panose="02020603050405020304" pitchFamily="18" charset="0"/>
                  <a:ea typeface="宋体" panose="02010600030101010101" pitchFamily="2" charset="-122"/>
                </a:rPr>
                <a:t>x</a:t>
              </a:r>
              <a:r>
                <a:rPr lang="en-US" altLang="zh-CN" sz="2400" b="1" baseline="30000">
                  <a:solidFill>
                    <a:srgbClr val="000000"/>
                  </a:solidFill>
                  <a:latin typeface="Times New Roman" panose="02020603050405020304" pitchFamily="18" charset="0"/>
                  <a:ea typeface="宋体" panose="02010600030101010101" pitchFamily="2" charset="-122"/>
                </a:rPr>
                <a:t>3</a:t>
              </a:r>
              <a:endParaRPr lang="zh-CN" altLang="en-US" sz="2400" b="1" baseline="30000" dirty="0">
                <a:solidFill>
                  <a:srgbClr val="000000"/>
                </a:solidFill>
                <a:latin typeface="Times New Roman" panose="02020603050405020304" pitchFamily="18" charset="0"/>
                <a:ea typeface="宋体" panose="02010600030101010101" pitchFamily="2" charset="-122"/>
              </a:endParaRPr>
            </a:p>
          </p:txBody>
        </p:sp>
        <p:sp>
          <p:nvSpPr>
            <p:cNvPr id="40987" name="矩形 115749"/>
            <p:cNvSpPr/>
            <p:nvPr/>
          </p:nvSpPr>
          <p:spPr>
            <a:xfrm>
              <a:off x="1519" y="1071"/>
              <a:ext cx="212" cy="288"/>
            </a:xfrm>
            <a:prstGeom prst="rect">
              <a:avLst/>
            </a:prstGeom>
            <a:noFill/>
            <a:ln w="9525">
              <a:noFill/>
            </a:ln>
          </p:spPr>
          <p:txBody>
            <a:bodyPr wrap="none" anchor="t" anchorCtr="0">
              <a:spAutoFit/>
            </a:bodyPr>
            <a:lstStyle/>
            <a:p>
              <a:pPr algn="ctr" eaLnBrk="0" fontAlgn="base" hangingPunct="0">
                <a:spcBef>
                  <a:spcPct val="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1</a:t>
              </a:r>
              <a:endParaRPr lang="zh-CN" altLang="en-US" sz="2400" b="1" baseline="30000" dirty="0">
                <a:solidFill>
                  <a:srgbClr val="000000"/>
                </a:solidFill>
                <a:latin typeface="Times New Roman" panose="02020603050405020304" pitchFamily="18" charset="0"/>
                <a:ea typeface="宋体" panose="02010600030101010101" pitchFamily="2" charset="-122"/>
              </a:endParaRPr>
            </a:p>
          </p:txBody>
        </p:sp>
      </p:grpSp>
      <p:graphicFrame>
        <p:nvGraphicFramePr>
          <p:cNvPr id="12" name="对象 11">
            <a:hlinkClick r:id="" action="ppaction://ole?verb=0"/>
          </p:cNvPr>
          <p:cNvGraphicFramePr>
            <a:graphicFrameLocks noChangeAspect="1"/>
          </p:cNvGraphicFramePr>
          <p:nvPr/>
        </p:nvGraphicFramePr>
        <p:xfrm>
          <a:off x="2057401" y="3505201"/>
          <a:ext cx="2535555" cy="2586355"/>
        </p:xfrm>
        <a:graphic>
          <a:graphicData uri="http://schemas.openxmlformats.org/presentationml/2006/ole">
            <mc:AlternateContent xmlns:mc="http://schemas.openxmlformats.org/markup-compatibility/2006">
              <mc:Choice xmlns:v="urn:schemas-microsoft-com:vml" Requires="v">
                <p:oleObj r:id="rId27" imgW="2336800" imgH="1930400" progId="Equation.KSEE3">
                  <p:embed/>
                </p:oleObj>
              </mc:Choice>
              <mc:Fallback>
                <p:oleObj r:id="rId27" imgW="2336800" imgH="1930400" progId="Equation.KSEE3">
                  <p:embed/>
                  <p:pic>
                    <p:nvPicPr>
                      <p:cNvPr id="12" name="对象 11">
                        <a:hlinkClick r:id="" action="ppaction://ole?verb=0"/>
                      </p:cNvPr>
                      <p:cNvPicPr/>
                      <p:nvPr/>
                    </p:nvPicPr>
                    <p:blipFill>
                      <a:blip r:embed="rId28"/>
                      <a:stretch>
                        <a:fillRect/>
                      </a:stretch>
                    </p:blipFill>
                    <p:spPr>
                      <a:xfrm>
                        <a:off x="2057401" y="3505201"/>
                        <a:ext cx="2535555" cy="2586355"/>
                      </a:xfrm>
                      <a:prstGeom prst="rect">
                        <a:avLst/>
                      </a:prstGeom>
                    </p:spPr>
                  </p:pic>
                </p:oleObj>
              </mc:Fallback>
            </mc:AlternateContent>
          </a:graphicData>
        </a:graphic>
      </p:graphicFrame>
      <p:sp>
        <p:nvSpPr>
          <p:cNvPr id="9" name="文本框 8"/>
          <p:cNvSpPr txBox="1"/>
          <p:nvPr/>
        </p:nvSpPr>
        <p:spPr>
          <a:xfrm>
            <a:off x="1879601" y="6155055"/>
            <a:ext cx="3481705" cy="449418"/>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lang="en-US" altLang="zh-CN" sz="2000" i="1" err="1">
                <a:solidFill>
                  <a:srgbClr val="000000"/>
                </a:solidFill>
                <a:latin typeface="Times New Roman" panose="02020603050405020304" pitchFamily="18" charset="0"/>
                <a:ea typeface="黑体" panose="02010609060101010101" pitchFamily="49" charset="-122"/>
                <a:sym typeface="+mn-ea"/>
              </a:rPr>
              <a:t>g</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除</a:t>
            </a:r>
            <a:r>
              <a:rPr lang="en-US" altLang="zh-CN" sz="2000" i="1" err="1">
                <a:solidFill>
                  <a:srgbClr val="000000"/>
                </a:solidFill>
                <a:latin typeface="Times New Roman" panose="02020603050405020304" pitchFamily="18" charset="0"/>
                <a:ea typeface="黑体" panose="02010609060101010101" pitchFamily="49" charset="-122"/>
                <a:sym typeface="+mn-ea"/>
              </a:rPr>
              <a:t>r</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所得的余式就是</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+1</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01410" y="104775"/>
            <a:ext cx="419989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循环码的译码</a:t>
            </a:r>
          </a:p>
        </p:txBody>
      </p:sp>
      <p:sp>
        <p:nvSpPr>
          <p:cNvPr id="15" name="矩形 14"/>
          <p:cNvSpPr/>
          <p:nvPr/>
        </p:nvSpPr>
        <p:spPr>
          <a:xfrm>
            <a:off x="2057401" y="889636"/>
            <a:ext cx="8140065" cy="105092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4" name="文本框 13"/>
          <p:cNvSpPr txBox="1"/>
          <p:nvPr/>
        </p:nvSpPr>
        <p:spPr>
          <a:xfrm>
            <a:off x="2129791" y="890270"/>
            <a:ext cx="8089265" cy="1000980"/>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循环码的译码分为</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步：</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计算伴随式</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由伴随式得到错误图样</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纠正错误。</a:t>
            </a:r>
          </a:p>
        </p:txBody>
      </p:sp>
      <p:sp>
        <p:nvSpPr>
          <p:cNvPr id="9" name="文本框 8"/>
          <p:cNvSpPr txBox="1"/>
          <p:nvPr/>
        </p:nvSpPr>
        <p:spPr>
          <a:xfrm>
            <a:off x="1840865" y="2042796"/>
            <a:ext cx="8495030" cy="4523105"/>
          </a:xfrm>
          <a:prstGeom prst="rect">
            <a:avLst/>
          </a:prstGeom>
          <a:noFill/>
        </p:spPr>
        <p:txBody>
          <a:bodyPr wrap="square" rtlCol="0" anchor="t">
            <a:spAutoFit/>
          </a:bodyPr>
          <a:lstStyle/>
          <a:p>
            <a:pPr algn="just" eaLnBrk="0" fontAlgn="base" hangingPunct="0">
              <a:lnSpc>
                <a:spcPct val="120000"/>
              </a:lnSpc>
              <a:spcBef>
                <a:spcPct val="0"/>
              </a:spcBef>
              <a:spcAft>
                <a:spcPct val="0"/>
              </a:spcAft>
            </a:pPr>
            <a:r>
              <a:rPr lang="zh-CN" altLang="en-US" sz="2000" dirty="0">
                <a:solidFill>
                  <a:srgbClr val="FF0000"/>
                </a:solidFill>
                <a:latin typeface="Arial" panose="020B0604020202020204" pitchFamily="34" charset="0"/>
                <a:ea typeface="黑体" panose="02010609060101010101" pitchFamily="49" charset="-122"/>
                <a:sym typeface="+mn-ea"/>
              </a:rPr>
              <a:t>具体过程描述如下：</a:t>
            </a:r>
            <a:endParaRPr lang="zh-CN" altLang="en-US" sz="2000" dirty="0">
              <a:solidFill>
                <a:srgbClr val="0070C0"/>
              </a:solidFill>
              <a:latin typeface="Arial" panose="020B0604020202020204" pitchFamily="34" charset="0"/>
              <a:ea typeface="黑体" panose="02010609060101010101" pitchFamily="49" charset="-122"/>
              <a:sym typeface="+mn-ea"/>
            </a:endParaRPr>
          </a:p>
          <a:p>
            <a:pPr algn="just" eaLnBrk="0" fontAlgn="base" hangingPunct="0">
              <a:lnSpc>
                <a:spcPct val="120000"/>
              </a:lnSpc>
              <a:spcBef>
                <a:spcPct val="0"/>
              </a:spcBef>
              <a:spcAft>
                <a:spcPct val="0"/>
              </a:spcAft>
            </a:pPr>
            <a:r>
              <a:rPr lang="en-US" altLang="zh-CN" sz="200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根据接收矢量                     </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计算出伴随式</a:t>
            </a:r>
            <a:r>
              <a:rPr lang="en-US" altLang="zh-CN" sz="2000" i="1" err="1">
                <a:solidFill>
                  <a:srgbClr val="000000"/>
                </a:solidFill>
                <a:latin typeface="Times New Roman" panose="02020603050405020304" pitchFamily="18" charset="0"/>
                <a:ea typeface="黑体" panose="02010609060101010101" pitchFamily="49" charset="-122"/>
                <a:sym typeface="+mn-ea"/>
              </a:rPr>
              <a:t>s</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Arial" panose="020B0604020202020204" pitchFamily="34" charset="0"/>
                <a:ea typeface="黑体" panose="02010609060101010101" pitchFamily="49" charset="-122"/>
                <a:sym typeface="+mn-ea"/>
              </a:rPr>
              <a:t>;</a:t>
            </a:r>
            <a:endParaRPr lang="zh-CN" altLang="en-US" sz="2000" dirty="0">
              <a:solidFill>
                <a:srgbClr val="000000"/>
              </a:solidFill>
              <a:latin typeface="Arial" panose="020B0604020202020204" pitchFamily="34" charset="0"/>
              <a:ea typeface="黑体" panose="02010609060101010101" pitchFamily="49" charset="-122"/>
            </a:endParaRPr>
          </a:p>
          <a:p>
            <a:pPr algn="just" eaLnBrk="0" fontAlgn="base" hangingPunct="0">
              <a:lnSpc>
                <a:spcPct val="120000"/>
              </a:lnSpc>
              <a:spcBef>
                <a:spcPct val="0"/>
              </a:spcBef>
              <a:spcAft>
                <a:spcPct val="0"/>
              </a:spcAft>
            </a:pPr>
            <a:r>
              <a:rPr lang="en-US" altLang="zh-CN" sz="200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检查</a:t>
            </a:r>
            <a:r>
              <a:rPr lang="en-US" altLang="zh-CN" sz="2000" i="1" err="1">
                <a:solidFill>
                  <a:srgbClr val="000000"/>
                </a:solidFill>
                <a:latin typeface="Times New Roman" panose="02020603050405020304" pitchFamily="18" charset="0"/>
                <a:ea typeface="黑体" panose="02010609060101010101" pitchFamily="49" charset="-122"/>
                <a:sym typeface="+mn-ea"/>
              </a:rPr>
              <a:t>s</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是否与某个满足</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的错误图样                      相对应</a:t>
            </a:r>
            <a:r>
              <a:rPr lang="en-US" altLang="zh-CN" sz="2000" dirty="0">
                <a:solidFill>
                  <a:srgbClr val="000000"/>
                </a:solidFill>
                <a:latin typeface="Times New Roman" panose="02020603050405020304" pitchFamily="18" charset="0"/>
                <a:ea typeface="黑体" panose="02010609060101010101" pitchFamily="49" charset="-122"/>
                <a:sym typeface="+mn-ea"/>
              </a:rPr>
              <a:t>;</a:t>
            </a:r>
            <a:endParaRPr lang="zh-CN" altLang="en-US" sz="2000" dirty="0">
              <a:solidFill>
                <a:srgbClr val="000000"/>
              </a:solidFill>
              <a:latin typeface="Times New Roman" panose="02020603050405020304" pitchFamily="18" charset="0"/>
              <a:ea typeface="黑体" panose="02010609060101010101" pitchFamily="49" charset="-122"/>
            </a:endParaRPr>
          </a:p>
          <a:p>
            <a:pPr algn="just" eaLnBrk="0" fontAlgn="base" hangingPunct="0">
              <a:lnSpc>
                <a:spcPct val="120000"/>
              </a:lnSpc>
              <a:spcBef>
                <a:spcPct val="0"/>
              </a:spcBef>
              <a:spcAft>
                <a:spcPct val="0"/>
              </a:spcAft>
            </a:pPr>
            <a:r>
              <a:rPr lang="en-US" altLang="zh-CN" sz="2000">
                <a:solidFill>
                  <a:srgbClr val="000000"/>
                </a:solidFill>
                <a:latin typeface="Times New Roman" panose="02020603050405020304" pitchFamily="18" charset="0"/>
                <a:ea typeface="黑体" panose="02010609060101010101" pitchFamily="49" charset="-122"/>
                <a:sym typeface="+mn-ea"/>
              </a:rPr>
              <a:t>3)</a:t>
            </a:r>
            <a:r>
              <a:rPr lang="zh-CN" altLang="en-US" sz="2000" dirty="0">
                <a:solidFill>
                  <a:srgbClr val="000000"/>
                </a:solidFill>
                <a:latin typeface="Times New Roman" panose="02020603050405020304" pitchFamily="18" charset="0"/>
                <a:ea typeface="黑体" panose="02010609060101010101" pitchFamily="49" charset="-122"/>
                <a:sym typeface="+mn-ea"/>
              </a:rPr>
              <a:t>若</a:t>
            </a:r>
            <a:r>
              <a:rPr lang="en-US" altLang="zh-CN" sz="2000" i="1" err="1">
                <a:solidFill>
                  <a:srgbClr val="000000"/>
                </a:solidFill>
                <a:latin typeface="Times New Roman" panose="02020603050405020304" pitchFamily="18" charset="0"/>
                <a:ea typeface="黑体" panose="02010609060101010101" pitchFamily="49" charset="-122"/>
                <a:sym typeface="+mn-ea"/>
              </a:rPr>
              <a:t>s</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与此类</a:t>
            </a:r>
            <a:r>
              <a:rPr lang="en-US" altLang="zh-CN" sz="2000" i="1" err="1">
                <a:solidFill>
                  <a:srgbClr val="000000"/>
                </a:solidFill>
                <a:latin typeface="Times New Roman" panose="02020603050405020304" pitchFamily="18" charset="0"/>
                <a:ea typeface="黑体" panose="02010609060101010101" pitchFamily="49" charset="-122"/>
                <a:sym typeface="+mn-ea"/>
              </a:rPr>
              <a:t>e</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不相对应</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则接收多项式</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存在缓存器中</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和伴随式寄存器同时循环移一位</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从而得到</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-2</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n</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baseline="-25000">
                <a:solidFill>
                  <a:srgbClr val="000000"/>
                </a:solidFill>
                <a:latin typeface="Times New Roman" panose="02020603050405020304" pitchFamily="18" charset="0"/>
                <a:ea typeface="黑体" panose="02010609060101010101" pitchFamily="49" charset="-122"/>
                <a:sym typeface="+mn-ea"/>
              </a:rPr>
              <a:t>0</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和与相对应的伴随式</a:t>
            </a:r>
            <a:r>
              <a:rPr lang="en-US" altLang="zh-CN" sz="2000" i="1">
                <a:solidFill>
                  <a:srgbClr val="000000"/>
                </a:solidFill>
                <a:latin typeface="Times New Roman" panose="02020603050405020304" pitchFamily="18" charset="0"/>
                <a:ea typeface="黑体" panose="02010609060101010101" pitchFamily="49" charset="-122"/>
                <a:sym typeface="+mn-ea"/>
              </a:rPr>
              <a:t>s</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再次检查</a:t>
            </a:r>
            <a:r>
              <a:rPr lang="en-US" altLang="zh-CN" sz="2000" i="1">
                <a:solidFill>
                  <a:srgbClr val="000000"/>
                </a:solidFill>
                <a:latin typeface="Times New Roman" panose="02020603050405020304" pitchFamily="18" charset="0"/>
                <a:ea typeface="黑体" panose="02010609060101010101" pitchFamily="49" charset="-122"/>
                <a:sym typeface="+mn-ea"/>
              </a:rPr>
              <a:t>s</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是否与某个满足</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的错误图样相对应</a:t>
            </a:r>
            <a:r>
              <a:rPr lang="en-US" altLang="zh-CN" sz="2000" dirty="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lnSpc>
                <a:spcPct val="120000"/>
              </a:lnSpc>
              <a:spcBef>
                <a:spcPct val="0"/>
              </a:spcBef>
              <a:spcAft>
                <a:spcPct val="0"/>
              </a:spcAft>
            </a:pPr>
            <a:r>
              <a:rPr lang="en-US" altLang="zh-CN" sz="2000">
                <a:solidFill>
                  <a:srgbClr val="000000"/>
                </a:solidFill>
                <a:latin typeface="Times New Roman" panose="02020603050405020304" pitchFamily="18" charset="0"/>
                <a:ea typeface="黑体" panose="02010609060101010101" pitchFamily="49" charset="-122"/>
                <a:sym typeface="+mn-ea"/>
              </a:rPr>
              <a:t>4)</a:t>
            </a:r>
            <a:r>
              <a:rPr lang="zh-CN" altLang="en-US" sz="2000" dirty="0">
                <a:solidFill>
                  <a:srgbClr val="000000"/>
                </a:solidFill>
                <a:latin typeface="Times New Roman" panose="02020603050405020304" pitchFamily="18" charset="0"/>
                <a:ea typeface="黑体" panose="02010609060101010101" pitchFamily="49" charset="-122"/>
                <a:sym typeface="+mn-ea"/>
              </a:rPr>
              <a:t>若</a:t>
            </a:r>
            <a:r>
              <a:rPr lang="en-US" altLang="zh-CN" sz="2000" i="1" err="1">
                <a:solidFill>
                  <a:srgbClr val="000000"/>
                </a:solidFill>
                <a:latin typeface="Times New Roman" panose="02020603050405020304" pitchFamily="18" charset="0"/>
                <a:ea typeface="黑体" panose="02010609060101010101" pitchFamily="49" charset="-122"/>
                <a:sym typeface="+mn-ea"/>
              </a:rPr>
              <a:t>s</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与某个满足</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的错误图样相对应</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则第一位接收数据</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有误</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因而必须纠正</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这可以用</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实现</a:t>
            </a:r>
            <a:r>
              <a:rPr lang="en-US" altLang="zh-CN" sz="2000" dirty="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lnSpc>
                <a:spcPct val="120000"/>
              </a:lnSpc>
              <a:spcBef>
                <a:spcPct val="0"/>
              </a:spcBef>
              <a:spcAft>
                <a:spcPct val="0"/>
              </a:spcAft>
            </a:pPr>
            <a:r>
              <a:rPr lang="en-US" altLang="zh-CN" sz="2000">
                <a:solidFill>
                  <a:srgbClr val="000000"/>
                </a:solidFill>
                <a:latin typeface="Times New Roman" panose="02020603050405020304" pitchFamily="18" charset="0"/>
                <a:ea typeface="黑体" panose="02010609060101010101" pitchFamily="49" charset="-122"/>
                <a:sym typeface="+mn-ea"/>
              </a:rPr>
              <a:t>5)</a:t>
            </a:r>
            <a:r>
              <a:rPr lang="zh-CN" altLang="en-US" sz="2000" dirty="0">
                <a:solidFill>
                  <a:srgbClr val="000000"/>
                </a:solidFill>
                <a:latin typeface="Times New Roman" panose="02020603050405020304" pitchFamily="18" charset="0"/>
                <a:ea typeface="黑体" panose="02010609060101010101" pitchFamily="49" charset="-122"/>
                <a:sym typeface="+mn-ea"/>
              </a:rPr>
              <a:t>这一纠正得到了修正的接收多项式</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n</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-2</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n</a:t>
            </a:r>
            <a:r>
              <a:rPr lang="en-US" altLang="zh-CN" sz="2000" baseline="30000">
                <a:solidFill>
                  <a:srgbClr val="000000"/>
                </a:solidFill>
                <a:latin typeface="Times New Roman" panose="02020603050405020304" pitchFamily="18" charset="0"/>
                <a:ea typeface="黑体" panose="02010609060101010101" pitchFamily="49" charset="-122"/>
                <a:sym typeface="+mn-ea"/>
              </a:rPr>
              <a:t>-2</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baseline="-25000">
                <a:solidFill>
                  <a:srgbClr val="000000"/>
                </a:solidFill>
                <a:latin typeface="Times New Roman" panose="02020603050405020304" pitchFamily="18" charset="0"/>
                <a:ea typeface="黑体" panose="02010609060101010101" pitchFamily="49" charset="-122"/>
                <a:sym typeface="+mn-ea"/>
              </a:rPr>
              <a:t>0</a:t>
            </a:r>
            <a:r>
              <a:rPr lang="en-US" altLang="zh-CN" sz="200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lnSpc>
                <a:spcPct val="120000"/>
              </a:lnSpc>
              <a:spcBef>
                <a:spcPct val="0"/>
              </a:spcBef>
              <a:spcAft>
                <a:spcPct val="0"/>
              </a:spcAft>
            </a:pPr>
            <a:r>
              <a:rPr lang="en-US" altLang="zh-CN" sz="2000">
                <a:solidFill>
                  <a:srgbClr val="000000"/>
                </a:solidFill>
                <a:latin typeface="Times New Roman" panose="02020603050405020304" pitchFamily="18" charset="0"/>
                <a:ea typeface="黑体" panose="02010609060101010101" pitchFamily="49" charset="-122"/>
                <a:sym typeface="+mn-ea"/>
              </a:rPr>
              <a:t>6)</a:t>
            </a:r>
            <a:r>
              <a:rPr lang="zh-CN" altLang="en-US" sz="2000" dirty="0">
                <a:solidFill>
                  <a:srgbClr val="000000"/>
                </a:solidFill>
                <a:latin typeface="Times New Roman" panose="02020603050405020304" pitchFamily="18" charset="0"/>
                <a:ea typeface="黑体" panose="02010609060101010101" pitchFamily="49" charset="-122"/>
                <a:sym typeface="+mn-ea"/>
              </a:rPr>
              <a:t>把</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和其伴随式同时循环移一位</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便得到接收多项式</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-2</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i="1" baseline="30000">
                <a:solidFill>
                  <a:srgbClr val="000000"/>
                </a:solidFill>
                <a:latin typeface="Times New Roman" panose="02020603050405020304" pitchFamily="18" charset="0"/>
                <a:ea typeface="黑体" panose="02010609060101010101" pitchFamily="49" charset="-122"/>
                <a:sym typeface="+mn-ea"/>
              </a:rPr>
              <a:t>n</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baseline="-25000">
                <a:solidFill>
                  <a:srgbClr val="000000"/>
                </a:solidFill>
                <a:latin typeface="Times New Roman" panose="02020603050405020304" pitchFamily="18" charset="0"/>
                <a:ea typeface="黑体" panose="02010609060101010101" pitchFamily="49" charset="-122"/>
                <a:sym typeface="+mn-ea"/>
              </a:rPr>
              <a:t>0</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e</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再利用</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baseline="-25000">
                <a:solidFill>
                  <a:srgbClr val="000000"/>
                </a:solidFill>
                <a:latin typeface="Times New Roman" panose="02020603050405020304" pitchFamily="18" charset="0"/>
                <a:ea typeface="黑体" panose="02010609060101010101" pitchFamily="49" charset="-122"/>
                <a:sym typeface="+mn-ea"/>
              </a:rPr>
              <a:t> </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的伴随式</a:t>
            </a:r>
            <a:r>
              <a:rPr lang="en-US" altLang="zh-CN" sz="2000" i="1">
                <a:solidFill>
                  <a:srgbClr val="000000"/>
                </a:solidFill>
                <a:latin typeface="Times New Roman" panose="02020603050405020304" pitchFamily="18" charset="0"/>
                <a:ea typeface="黑体" panose="02010609060101010101" pitchFamily="49" charset="-122"/>
                <a:sym typeface="+mn-ea"/>
              </a:rPr>
              <a:t>s</a:t>
            </a:r>
            <a:r>
              <a:rPr lang="en-US" altLang="zh-CN" sz="2000" baseline="-25000">
                <a:solidFill>
                  <a:srgbClr val="000000"/>
                </a:solidFill>
                <a:latin typeface="Times New Roman" panose="02020603050405020304" pitchFamily="18" charset="0"/>
                <a:ea typeface="黑体" panose="02010609060101010101" pitchFamily="49" charset="-122"/>
                <a:sym typeface="+mn-ea"/>
              </a:rPr>
              <a:t>1</a:t>
            </a:r>
            <a:r>
              <a:rPr lang="en-US" altLang="zh-CN" sz="2000" baseline="30000">
                <a:solidFill>
                  <a:srgbClr val="000000"/>
                </a:solidFill>
                <a:latin typeface="Times New Roman" panose="02020603050405020304" pitchFamily="18" charset="0"/>
                <a:ea typeface="黑体" panose="02010609060101010101" pitchFamily="49" charset="-122"/>
                <a:sym typeface="+mn-ea"/>
              </a:rPr>
              <a:t>(1)</a:t>
            </a:r>
            <a:r>
              <a:rPr lang="en-US" altLang="zh-CN" sz="2000" baseline="-25000">
                <a:solidFill>
                  <a:srgbClr val="000000"/>
                </a:solidFill>
                <a:latin typeface="Times New Roman" panose="02020603050405020304" pitchFamily="18" charset="0"/>
                <a:ea typeface="黑体" panose="02010609060101010101" pitchFamily="49" charset="-122"/>
                <a:sym typeface="+mn-ea"/>
              </a:rPr>
              <a:t> </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i="1">
                <a:solidFill>
                  <a:srgbClr val="000000"/>
                </a:solidFill>
                <a:latin typeface="Times New Roman" panose="02020603050405020304" pitchFamily="18" charset="0"/>
                <a:ea typeface="黑体" panose="02010609060101010101" pitchFamily="49" charset="-122"/>
                <a:sym typeface="+mn-ea"/>
              </a:rPr>
              <a:t>x</a:t>
            </a:r>
            <a:r>
              <a:rPr lang="en-US" altLang="zh-CN"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纠正</a:t>
            </a:r>
            <a:r>
              <a:rPr lang="en-US" altLang="zh-CN" sz="2000" i="1">
                <a:solidFill>
                  <a:srgbClr val="000000"/>
                </a:solidFill>
                <a:latin typeface="Times New Roman" panose="02020603050405020304" pitchFamily="18" charset="0"/>
                <a:ea typeface="黑体" panose="02010609060101010101" pitchFamily="49" charset="-122"/>
                <a:sym typeface="+mn-ea"/>
              </a:rPr>
              <a:t>r</a:t>
            </a:r>
            <a:r>
              <a:rPr lang="en-US" altLang="zh-CN" sz="2000" i="1" baseline="-25000">
                <a:solidFill>
                  <a:srgbClr val="000000"/>
                </a:solidFill>
                <a:latin typeface="Times New Roman" panose="02020603050405020304" pitchFamily="18" charset="0"/>
                <a:ea typeface="黑体" panose="02010609060101010101" pitchFamily="49" charset="-122"/>
                <a:sym typeface="+mn-ea"/>
              </a:rPr>
              <a:t>n</a:t>
            </a:r>
            <a:r>
              <a:rPr lang="en-US" altLang="zh-CN" sz="2000" baseline="-25000">
                <a:solidFill>
                  <a:srgbClr val="000000"/>
                </a:solidFill>
                <a:latin typeface="Times New Roman" panose="02020603050405020304" pitchFamily="18" charset="0"/>
                <a:ea typeface="黑体" panose="02010609060101010101" pitchFamily="49" charset="-122"/>
                <a:sym typeface="+mn-ea"/>
              </a:rPr>
              <a:t>-2</a:t>
            </a:r>
            <a:r>
              <a:rPr lang="en-US" altLang="zh-CN" sz="200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lnSpc>
                <a:spcPct val="120000"/>
              </a:lnSpc>
              <a:spcBef>
                <a:spcPct val="0"/>
              </a:spcBef>
              <a:spcAft>
                <a:spcPct val="0"/>
              </a:spcAft>
            </a:pPr>
            <a:r>
              <a:rPr lang="en-US" altLang="zh-CN" sz="2000">
                <a:solidFill>
                  <a:srgbClr val="000000"/>
                </a:solidFill>
                <a:latin typeface="Times New Roman" panose="02020603050405020304" pitchFamily="18" charset="0"/>
                <a:ea typeface="黑体" panose="02010609060101010101" pitchFamily="49" charset="-122"/>
                <a:sym typeface="+mn-ea"/>
              </a:rPr>
              <a:t>7)</a:t>
            </a:r>
            <a:r>
              <a:rPr lang="zh-CN" altLang="en-US" sz="2000" dirty="0">
                <a:solidFill>
                  <a:srgbClr val="000000"/>
                </a:solidFill>
                <a:latin typeface="Times New Roman" panose="02020603050405020304" pitchFamily="18" charset="0"/>
                <a:ea typeface="黑体" panose="02010609060101010101" pitchFamily="49" charset="-122"/>
                <a:sym typeface="+mn-ea"/>
              </a:rPr>
              <a:t>如此继续</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总共循环移</a:t>
            </a:r>
            <a:r>
              <a:rPr lang="en-US" altLang="zh-CN" sz="2000" i="1">
                <a:solidFill>
                  <a:srgbClr val="000000"/>
                </a:solidFill>
                <a:latin typeface="Times New Roman" panose="02020603050405020304" pitchFamily="18" charset="0"/>
                <a:ea typeface="黑体" panose="02010609060101010101" pitchFamily="49" charset="-122"/>
                <a:sym typeface="+mn-ea"/>
              </a:rPr>
              <a:t>n</a:t>
            </a:r>
            <a:r>
              <a:rPr lang="zh-CN" altLang="en-US" sz="2000" dirty="0">
                <a:solidFill>
                  <a:srgbClr val="000000"/>
                </a:solidFill>
                <a:latin typeface="Times New Roman" panose="02020603050405020304" pitchFamily="18" charset="0"/>
                <a:ea typeface="黑体" panose="02010609060101010101" pitchFamily="49" charset="-122"/>
                <a:sym typeface="+mn-ea"/>
              </a:rPr>
              <a:t>次后</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便完成译码。</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3" name="对象 2">
            <a:hlinkClick r:id="" action="ppaction://ole?verb=0"/>
          </p:cNvPr>
          <p:cNvGraphicFramePr>
            <a:graphicFrameLocks noChangeAspect="1"/>
          </p:cNvGraphicFramePr>
          <p:nvPr/>
        </p:nvGraphicFramePr>
        <p:xfrm>
          <a:off x="3657600" y="2439670"/>
          <a:ext cx="1524000" cy="458470"/>
        </p:xfrm>
        <a:graphic>
          <a:graphicData uri="http://schemas.openxmlformats.org/presentationml/2006/ole">
            <mc:AlternateContent xmlns:mc="http://schemas.openxmlformats.org/markup-compatibility/2006">
              <mc:Choice xmlns:v="urn:schemas-microsoft-com:vml" Requires="v">
                <p:oleObj r:id="rId3" imgW="952500" imgH="292100" progId="Equation.KSEE3">
                  <p:embed/>
                </p:oleObj>
              </mc:Choice>
              <mc:Fallback>
                <p:oleObj r:id="rId3" imgW="952500" imgH="292100" progId="Equation.KSEE3">
                  <p:embed/>
                  <p:pic>
                    <p:nvPicPr>
                      <p:cNvPr id="3" name="对象 2">
                        <a:hlinkClick r:id="" action="ppaction://ole?verb=0"/>
                      </p:cNvPr>
                      <p:cNvPicPr/>
                      <p:nvPr/>
                    </p:nvPicPr>
                    <p:blipFill>
                      <a:blip r:embed="rId4"/>
                      <a:stretch>
                        <a:fillRect/>
                      </a:stretch>
                    </p:blipFill>
                    <p:spPr>
                      <a:xfrm>
                        <a:off x="3657600" y="2439670"/>
                        <a:ext cx="1524000" cy="458470"/>
                      </a:xfrm>
                      <a:prstGeom prst="rect">
                        <a:avLst/>
                      </a:prstGeom>
                    </p:spPr>
                  </p:pic>
                </p:oleObj>
              </mc:Fallback>
            </mc:AlternateContent>
          </a:graphicData>
        </a:graphic>
      </p:graphicFrame>
      <p:graphicFrame>
        <p:nvGraphicFramePr>
          <p:cNvPr id="5" name="对象 4">
            <a:hlinkClick r:id="" action="ppaction://ole?verb=0"/>
          </p:cNvPr>
          <p:cNvGraphicFramePr>
            <a:graphicFrameLocks noChangeAspect="1"/>
          </p:cNvGraphicFramePr>
          <p:nvPr/>
        </p:nvGraphicFramePr>
        <p:xfrm>
          <a:off x="6705601" y="2777491"/>
          <a:ext cx="1372235" cy="412115"/>
        </p:xfrm>
        <a:graphic>
          <a:graphicData uri="http://schemas.openxmlformats.org/presentationml/2006/ole">
            <mc:AlternateContent xmlns:mc="http://schemas.openxmlformats.org/markup-compatibility/2006">
              <mc:Choice xmlns:v="urn:schemas-microsoft-com:vml" Requires="v">
                <p:oleObj r:id="rId5" imgW="977900" imgH="292100" progId="Equation.KSEE3">
                  <p:embed/>
                </p:oleObj>
              </mc:Choice>
              <mc:Fallback>
                <p:oleObj r:id="rId5" imgW="977900" imgH="292100" progId="Equation.KSEE3">
                  <p:embed/>
                  <p:pic>
                    <p:nvPicPr>
                      <p:cNvPr id="5" name="对象 4">
                        <a:hlinkClick r:id="" action="ppaction://ole?verb=0"/>
                      </p:cNvPr>
                      <p:cNvPicPr/>
                      <p:nvPr/>
                    </p:nvPicPr>
                    <p:blipFill>
                      <a:blip r:embed="rId6"/>
                      <a:stretch>
                        <a:fillRect/>
                      </a:stretch>
                    </p:blipFill>
                    <p:spPr>
                      <a:xfrm>
                        <a:off x="6705601" y="2777491"/>
                        <a:ext cx="1372235" cy="412115"/>
                      </a:xfrm>
                      <a:prstGeom prst="rect">
                        <a:avLst/>
                      </a:prstGeom>
                    </p:spPr>
                  </p:pic>
                </p:oleObj>
              </mc:Fallback>
            </mc:AlternateContent>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022216" y="104775"/>
            <a:ext cx="537908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通用的循环码译码器</a:t>
            </a:r>
          </a:p>
        </p:txBody>
      </p:sp>
      <p:grpSp>
        <p:nvGrpSpPr>
          <p:cNvPr id="6" name="组合 5"/>
          <p:cNvGrpSpPr/>
          <p:nvPr/>
        </p:nvGrpSpPr>
        <p:grpSpPr>
          <a:xfrm>
            <a:off x="1702435" y="1250950"/>
            <a:ext cx="8783320" cy="4702810"/>
            <a:chOff x="283" y="2565"/>
            <a:chExt cx="13832" cy="7406"/>
          </a:xfrm>
        </p:grpSpPr>
        <p:sp>
          <p:nvSpPr>
            <p:cNvPr id="45058" name="矩形 119811"/>
            <p:cNvSpPr/>
            <p:nvPr/>
          </p:nvSpPr>
          <p:spPr>
            <a:xfrm>
              <a:off x="4933" y="3813"/>
              <a:ext cx="4990"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5059" name="矩形 119812"/>
            <p:cNvSpPr/>
            <p:nvPr/>
          </p:nvSpPr>
          <p:spPr>
            <a:xfrm>
              <a:off x="4933" y="6535"/>
              <a:ext cx="4990" cy="793"/>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5060" name="矩形 119813"/>
            <p:cNvSpPr/>
            <p:nvPr/>
          </p:nvSpPr>
          <p:spPr>
            <a:xfrm>
              <a:off x="4933" y="8235"/>
              <a:ext cx="4990"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5061" name="椭圆 119814"/>
            <p:cNvSpPr/>
            <p:nvPr/>
          </p:nvSpPr>
          <p:spPr>
            <a:xfrm>
              <a:off x="3573" y="6535"/>
              <a:ext cx="795" cy="795"/>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5062" name="矩形 119815"/>
            <p:cNvSpPr/>
            <p:nvPr/>
          </p:nvSpPr>
          <p:spPr>
            <a:xfrm>
              <a:off x="2325" y="3925"/>
              <a:ext cx="908"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5063" name="矩形 119816"/>
            <p:cNvSpPr/>
            <p:nvPr/>
          </p:nvSpPr>
          <p:spPr>
            <a:xfrm>
              <a:off x="10830" y="8235"/>
              <a:ext cx="908"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5064" name="矩形 119817"/>
            <p:cNvSpPr/>
            <p:nvPr/>
          </p:nvSpPr>
          <p:spPr>
            <a:xfrm>
              <a:off x="1303" y="5288"/>
              <a:ext cx="907"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5065" name="矩形 119818"/>
            <p:cNvSpPr/>
            <p:nvPr/>
          </p:nvSpPr>
          <p:spPr>
            <a:xfrm>
              <a:off x="8448" y="2565"/>
              <a:ext cx="907"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5066" name="矩形 119819"/>
            <p:cNvSpPr/>
            <p:nvPr/>
          </p:nvSpPr>
          <p:spPr>
            <a:xfrm>
              <a:off x="10035" y="5173"/>
              <a:ext cx="908" cy="795"/>
            </a:xfrm>
            <a:prstGeom prst="rect">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5067" name="椭圆 119820"/>
            <p:cNvSpPr/>
            <p:nvPr/>
          </p:nvSpPr>
          <p:spPr>
            <a:xfrm>
              <a:off x="12303" y="3813"/>
              <a:ext cx="795" cy="795"/>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45068" name="直接连接符 119821"/>
            <p:cNvSpPr/>
            <p:nvPr/>
          </p:nvSpPr>
          <p:spPr>
            <a:xfrm>
              <a:off x="3230" y="4380"/>
              <a:ext cx="1703" cy="0"/>
            </a:xfrm>
            <a:prstGeom prst="line">
              <a:avLst/>
            </a:prstGeom>
            <a:ln w="15875" cap="flat" cmpd="sng">
              <a:solidFill>
                <a:schemeClr val="tx1"/>
              </a:solidFill>
              <a:prstDash val="solid"/>
              <a:round/>
              <a:headEnd type="none" w="med" len="med"/>
              <a:tailEnd type="triangle" w="med" len="med"/>
            </a:ln>
          </p:spPr>
        </p:sp>
        <p:sp>
          <p:nvSpPr>
            <p:cNvPr id="45069" name="直接连接符 119822"/>
            <p:cNvSpPr/>
            <p:nvPr/>
          </p:nvSpPr>
          <p:spPr>
            <a:xfrm>
              <a:off x="623" y="4380"/>
              <a:ext cx="1702" cy="0"/>
            </a:xfrm>
            <a:prstGeom prst="line">
              <a:avLst/>
            </a:prstGeom>
            <a:ln w="15875" cap="flat" cmpd="sng">
              <a:solidFill>
                <a:schemeClr val="tx1"/>
              </a:solidFill>
              <a:prstDash val="solid"/>
              <a:round/>
              <a:headEnd type="none" w="med" len="med"/>
              <a:tailEnd type="triangle" w="med" len="med"/>
            </a:ln>
          </p:spPr>
        </p:sp>
        <p:sp>
          <p:nvSpPr>
            <p:cNvPr id="45070" name="直接连接符 119823"/>
            <p:cNvSpPr/>
            <p:nvPr/>
          </p:nvSpPr>
          <p:spPr>
            <a:xfrm>
              <a:off x="1758" y="4380"/>
              <a:ext cx="0" cy="908"/>
            </a:xfrm>
            <a:prstGeom prst="line">
              <a:avLst/>
            </a:prstGeom>
            <a:ln w="15875" cap="flat" cmpd="sng">
              <a:solidFill>
                <a:schemeClr val="tx1"/>
              </a:solidFill>
              <a:prstDash val="solid"/>
              <a:round/>
              <a:headEnd type="none" w="med" len="med"/>
              <a:tailEnd type="triangle" w="med" len="med"/>
            </a:ln>
          </p:spPr>
        </p:sp>
        <p:sp>
          <p:nvSpPr>
            <p:cNvPr id="45071" name="直接连接符 119824"/>
            <p:cNvSpPr/>
            <p:nvPr/>
          </p:nvSpPr>
          <p:spPr>
            <a:xfrm>
              <a:off x="1758" y="6080"/>
              <a:ext cx="0" cy="908"/>
            </a:xfrm>
            <a:prstGeom prst="line">
              <a:avLst/>
            </a:prstGeom>
            <a:ln w="15875" cap="flat" cmpd="sng">
              <a:solidFill>
                <a:schemeClr val="tx1"/>
              </a:solidFill>
              <a:prstDash val="solid"/>
              <a:round/>
              <a:headEnd type="none" w="med" len="med"/>
              <a:tailEnd type="none" w="med" len="med"/>
            </a:ln>
          </p:spPr>
        </p:sp>
        <p:sp>
          <p:nvSpPr>
            <p:cNvPr id="45072" name="直接连接符 119825"/>
            <p:cNvSpPr/>
            <p:nvPr/>
          </p:nvSpPr>
          <p:spPr>
            <a:xfrm>
              <a:off x="1758" y="6988"/>
              <a:ext cx="1815" cy="0"/>
            </a:xfrm>
            <a:prstGeom prst="line">
              <a:avLst/>
            </a:prstGeom>
            <a:ln w="15875" cap="flat" cmpd="sng">
              <a:solidFill>
                <a:schemeClr val="tx1"/>
              </a:solidFill>
              <a:prstDash val="solid"/>
              <a:round/>
              <a:headEnd type="none" w="med" len="med"/>
              <a:tailEnd type="triangle" w="med" len="med"/>
            </a:ln>
          </p:spPr>
        </p:sp>
        <p:sp>
          <p:nvSpPr>
            <p:cNvPr id="45073" name="直接连接符 119826"/>
            <p:cNvSpPr/>
            <p:nvPr/>
          </p:nvSpPr>
          <p:spPr>
            <a:xfrm>
              <a:off x="4365" y="6988"/>
              <a:ext cx="568" cy="0"/>
            </a:xfrm>
            <a:prstGeom prst="line">
              <a:avLst/>
            </a:prstGeom>
            <a:ln w="15875" cap="flat" cmpd="sng">
              <a:solidFill>
                <a:schemeClr val="tx1"/>
              </a:solidFill>
              <a:prstDash val="solid"/>
              <a:round/>
              <a:headEnd type="none" w="med" len="med"/>
              <a:tailEnd type="triangle" w="med" len="med"/>
            </a:ln>
          </p:spPr>
        </p:sp>
        <p:sp>
          <p:nvSpPr>
            <p:cNvPr id="45074" name="直接连接符 119827"/>
            <p:cNvSpPr/>
            <p:nvPr/>
          </p:nvSpPr>
          <p:spPr>
            <a:xfrm flipH="1">
              <a:off x="4025" y="5513"/>
              <a:ext cx="6010" cy="0"/>
            </a:xfrm>
            <a:prstGeom prst="line">
              <a:avLst/>
            </a:prstGeom>
            <a:ln w="15875" cap="flat" cmpd="sng">
              <a:solidFill>
                <a:schemeClr val="tx1"/>
              </a:solidFill>
              <a:prstDash val="solid"/>
              <a:round/>
              <a:headEnd type="none" w="med" len="med"/>
              <a:tailEnd type="none" w="med" len="med"/>
            </a:ln>
          </p:spPr>
        </p:sp>
        <p:sp>
          <p:nvSpPr>
            <p:cNvPr id="45075" name="直接连接符 119828"/>
            <p:cNvSpPr/>
            <p:nvPr/>
          </p:nvSpPr>
          <p:spPr>
            <a:xfrm>
              <a:off x="4025" y="5513"/>
              <a:ext cx="0" cy="1022"/>
            </a:xfrm>
            <a:prstGeom prst="line">
              <a:avLst/>
            </a:prstGeom>
            <a:ln w="15875" cap="flat" cmpd="sng">
              <a:solidFill>
                <a:schemeClr val="tx1"/>
              </a:solidFill>
              <a:prstDash val="solid"/>
              <a:round/>
              <a:headEnd type="none" w="med" len="med"/>
              <a:tailEnd type="triangle" w="med" len="med"/>
            </a:ln>
          </p:spPr>
        </p:sp>
        <p:sp>
          <p:nvSpPr>
            <p:cNvPr id="45076" name="直接连接符 119829"/>
            <p:cNvSpPr/>
            <p:nvPr/>
          </p:nvSpPr>
          <p:spPr>
            <a:xfrm>
              <a:off x="9923" y="6988"/>
              <a:ext cx="1472" cy="0"/>
            </a:xfrm>
            <a:prstGeom prst="line">
              <a:avLst/>
            </a:prstGeom>
            <a:ln w="15875" cap="flat" cmpd="sng">
              <a:solidFill>
                <a:schemeClr val="tx1"/>
              </a:solidFill>
              <a:prstDash val="solid"/>
              <a:round/>
              <a:headEnd type="none" w="med" len="med"/>
              <a:tailEnd type="none" w="med" len="med"/>
            </a:ln>
          </p:spPr>
        </p:sp>
        <p:sp>
          <p:nvSpPr>
            <p:cNvPr id="45077" name="直接连接符 119831"/>
            <p:cNvSpPr/>
            <p:nvPr/>
          </p:nvSpPr>
          <p:spPr>
            <a:xfrm flipV="1">
              <a:off x="11395" y="5513"/>
              <a:ext cx="0" cy="1475"/>
            </a:xfrm>
            <a:prstGeom prst="line">
              <a:avLst/>
            </a:prstGeom>
            <a:ln w="15875" cap="flat" cmpd="sng">
              <a:solidFill>
                <a:schemeClr val="tx1"/>
              </a:solidFill>
              <a:prstDash val="solid"/>
              <a:round/>
              <a:headEnd type="none" w="med" len="med"/>
              <a:tailEnd type="none" w="med" len="med"/>
            </a:ln>
          </p:spPr>
        </p:sp>
        <p:sp>
          <p:nvSpPr>
            <p:cNvPr id="45078" name="直接连接符 119832"/>
            <p:cNvSpPr/>
            <p:nvPr/>
          </p:nvSpPr>
          <p:spPr>
            <a:xfrm flipH="1">
              <a:off x="10943" y="5513"/>
              <a:ext cx="452" cy="0"/>
            </a:xfrm>
            <a:prstGeom prst="line">
              <a:avLst/>
            </a:prstGeom>
            <a:ln w="15875" cap="flat" cmpd="sng">
              <a:solidFill>
                <a:schemeClr val="tx1"/>
              </a:solidFill>
              <a:prstDash val="solid"/>
              <a:round/>
              <a:headEnd type="none" w="med" len="med"/>
              <a:tailEnd type="triangle" w="med" len="med"/>
            </a:ln>
          </p:spPr>
        </p:sp>
        <p:sp>
          <p:nvSpPr>
            <p:cNvPr id="45079" name="直接连接符 119833"/>
            <p:cNvSpPr/>
            <p:nvPr/>
          </p:nvSpPr>
          <p:spPr>
            <a:xfrm>
              <a:off x="9923" y="8575"/>
              <a:ext cx="907" cy="0"/>
            </a:xfrm>
            <a:prstGeom prst="line">
              <a:avLst/>
            </a:prstGeom>
            <a:ln w="15875" cap="flat" cmpd="sng">
              <a:solidFill>
                <a:schemeClr val="tx1"/>
              </a:solidFill>
              <a:prstDash val="solid"/>
              <a:round/>
              <a:headEnd type="none" w="med" len="med"/>
              <a:tailEnd type="triangle" w="med" len="med"/>
            </a:ln>
          </p:spPr>
        </p:sp>
        <p:sp>
          <p:nvSpPr>
            <p:cNvPr id="45080" name="直接连接符 119834"/>
            <p:cNvSpPr/>
            <p:nvPr/>
          </p:nvSpPr>
          <p:spPr>
            <a:xfrm flipV="1">
              <a:off x="4025" y="7328"/>
              <a:ext cx="0" cy="2607"/>
            </a:xfrm>
            <a:prstGeom prst="line">
              <a:avLst/>
            </a:prstGeom>
            <a:ln w="15875" cap="flat" cmpd="sng">
              <a:solidFill>
                <a:schemeClr val="tx1"/>
              </a:solidFill>
              <a:prstDash val="solid"/>
              <a:round/>
              <a:headEnd type="none" w="med" len="med"/>
              <a:tailEnd type="triangle" w="med" len="med"/>
            </a:ln>
          </p:spPr>
        </p:sp>
        <p:sp>
          <p:nvSpPr>
            <p:cNvPr id="45081" name="直接连接符 119835"/>
            <p:cNvSpPr/>
            <p:nvPr/>
          </p:nvSpPr>
          <p:spPr>
            <a:xfrm>
              <a:off x="4025" y="9935"/>
              <a:ext cx="8733" cy="0"/>
            </a:xfrm>
            <a:prstGeom prst="line">
              <a:avLst/>
            </a:prstGeom>
            <a:ln w="15875" cap="flat" cmpd="sng">
              <a:solidFill>
                <a:schemeClr val="tx1"/>
              </a:solidFill>
              <a:prstDash val="solid"/>
              <a:round/>
              <a:headEnd type="none" w="med" len="med"/>
              <a:tailEnd type="none" w="med" len="med"/>
            </a:ln>
          </p:spPr>
        </p:sp>
        <p:sp>
          <p:nvSpPr>
            <p:cNvPr id="45082" name="直接连接符 119836"/>
            <p:cNvSpPr/>
            <p:nvPr/>
          </p:nvSpPr>
          <p:spPr>
            <a:xfrm flipH="1" flipV="1">
              <a:off x="12643" y="4605"/>
              <a:ext cx="112" cy="5330"/>
            </a:xfrm>
            <a:prstGeom prst="line">
              <a:avLst/>
            </a:prstGeom>
            <a:ln w="15875" cap="flat" cmpd="sng">
              <a:solidFill>
                <a:schemeClr val="tx1"/>
              </a:solidFill>
              <a:prstDash val="solid"/>
              <a:round/>
              <a:headEnd type="none" w="med" len="med"/>
              <a:tailEnd type="none" w="med" len="med"/>
            </a:ln>
          </p:spPr>
        </p:sp>
        <p:sp>
          <p:nvSpPr>
            <p:cNvPr id="45083" name="直接连接符 119837"/>
            <p:cNvSpPr/>
            <p:nvPr/>
          </p:nvSpPr>
          <p:spPr>
            <a:xfrm>
              <a:off x="11735" y="8575"/>
              <a:ext cx="1023" cy="0"/>
            </a:xfrm>
            <a:prstGeom prst="line">
              <a:avLst/>
            </a:prstGeom>
            <a:ln w="15875" cap="flat" cmpd="sng">
              <a:solidFill>
                <a:schemeClr val="tx1"/>
              </a:solidFill>
              <a:prstDash val="solid"/>
              <a:round/>
              <a:headEnd type="none" w="med" len="med"/>
              <a:tailEnd type="triangle" w="med" len="med"/>
            </a:ln>
          </p:spPr>
        </p:sp>
        <p:sp>
          <p:nvSpPr>
            <p:cNvPr id="45084" name="直接连接符 119838"/>
            <p:cNvSpPr/>
            <p:nvPr/>
          </p:nvSpPr>
          <p:spPr>
            <a:xfrm>
              <a:off x="5500" y="5513"/>
              <a:ext cx="0" cy="1022"/>
            </a:xfrm>
            <a:prstGeom prst="line">
              <a:avLst/>
            </a:prstGeom>
            <a:ln w="15875" cap="flat" cmpd="sng">
              <a:solidFill>
                <a:schemeClr val="tx1"/>
              </a:solidFill>
              <a:prstDash val="solid"/>
              <a:round/>
              <a:headEnd type="none" w="med" len="med"/>
              <a:tailEnd type="triangle" w="med" len="med"/>
            </a:ln>
          </p:spPr>
        </p:sp>
        <p:sp>
          <p:nvSpPr>
            <p:cNvPr id="45085" name="直接连接符 119839"/>
            <p:cNvSpPr/>
            <p:nvPr/>
          </p:nvSpPr>
          <p:spPr>
            <a:xfrm>
              <a:off x="6065" y="5513"/>
              <a:ext cx="0" cy="1022"/>
            </a:xfrm>
            <a:prstGeom prst="line">
              <a:avLst/>
            </a:prstGeom>
            <a:ln w="15875" cap="flat" cmpd="sng">
              <a:solidFill>
                <a:schemeClr val="tx1"/>
              </a:solidFill>
              <a:prstDash val="solid"/>
              <a:round/>
              <a:headEnd type="none" w="med" len="med"/>
              <a:tailEnd type="triangle" w="med" len="med"/>
            </a:ln>
          </p:spPr>
        </p:sp>
        <p:sp>
          <p:nvSpPr>
            <p:cNvPr id="45086" name="直接连接符 119840"/>
            <p:cNvSpPr/>
            <p:nvPr/>
          </p:nvSpPr>
          <p:spPr>
            <a:xfrm>
              <a:off x="8335" y="5513"/>
              <a:ext cx="0" cy="1022"/>
            </a:xfrm>
            <a:prstGeom prst="line">
              <a:avLst/>
            </a:prstGeom>
            <a:ln w="15875" cap="flat" cmpd="sng">
              <a:solidFill>
                <a:schemeClr val="tx1"/>
              </a:solidFill>
              <a:prstDash val="solid"/>
              <a:round/>
              <a:headEnd type="none" w="med" len="med"/>
              <a:tailEnd type="triangle" w="med" len="med"/>
            </a:ln>
          </p:spPr>
        </p:sp>
        <p:sp>
          <p:nvSpPr>
            <p:cNvPr id="45087" name="直接连接符 119841"/>
            <p:cNvSpPr/>
            <p:nvPr/>
          </p:nvSpPr>
          <p:spPr>
            <a:xfrm>
              <a:off x="8788" y="5513"/>
              <a:ext cx="0" cy="1022"/>
            </a:xfrm>
            <a:prstGeom prst="line">
              <a:avLst/>
            </a:prstGeom>
            <a:ln w="15875" cap="flat" cmpd="sng">
              <a:solidFill>
                <a:schemeClr val="tx1"/>
              </a:solidFill>
              <a:prstDash val="solid"/>
              <a:round/>
              <a:headEnd type="none" w="med" len="med"/>
              <a:tailEnd type="triangle" w="med" len="med"/>
            </a:ln>
          </p:spPr>
        </p:sp>
        <p:sp>
          <p:nvSpPr>
            <p:cNvPr id="45088" name="文本框 119842"/>
            <p:cNvSpPr txBox="1"/>
            <p:nvPr/>
          </p:nvSpPr>
          <p:spPr>
            <a:xfrm>
              <a:off x="6635" y="5513"/>
              <a:ext cx="1133"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a:t>
              </a:r>
            </a:p>
          </p:txBody>
        </p:sp>
        <p:sp>
          <p:nvSpPr>
            <p:cNvPr id="45089" name="直接连接符 119843"/>
            <p:cNvSpPr/>
            <p:nvPr/>
          </p:nvSpPr>
          <p:spPr>
            <a:xfrm>
              <a:off x="5500" y="7328"/>
              <a:ext cx="0" cy="907"/>
            </a:xfrm>
            <a:prstGeom prst="line">
              <a:avLst/>
            </a:prstGeom>
            <a:ln w="15875" cap="flat" cmpd="sng">
              <a:solidFill>
                <a:schemeClr val="tx1"/>
              </a:solidFill>
              <a:prstDash val="solid"/>
              <a:round/>
              <a:headEnd type="none" w="med" len="med"/>
              <a:tailEnd type="triangle" w="med" len="med"/>
            </a:ln>
          </p:spPr>
        </p:sp>
        <p:sp>
          <p:nvSpPr>
            <p:cNvPr id="45090" name="直接连接符 119844"/>
            <p:cNvSpPr/>
            <p:nvPr/>
          </p:nvSpPr>
          <p:spPr>
            <a:xfrm>
              <a:off x="6065" y="7328"/>
              <a:ext cx="0" cy="907"/>
            </a:xfrm>
            <a:prstGeom prst="line">
              <a:avLst/>
            </a:prstGeom>
            <a:ln w="15875" cap="flat" cmpd="sng">
              <a:solidFill>
                <a:schemeClr val="tx1"/>
              </a:solidFill>
              <a:prstDash val="solid"/>
              <a:round/>
              <a:headEnd type="none" w="med" len="med"/>
              <a:tailEnd type="triangle" w="med" len="med"/>
            </a:ln>
          </p:spPr>
        </p:sp>
        <p:sp>
          <p:nvSpPr>
            <p:cNvPr id="45091" name="直接连接符 119845"/>
            <p:cNvSpPr/>
            <p:nvPr/>
          </p:nvSpPr>
          <p:spPr>
            <a:xfrm>
              <a:off x="8335" y="7328"/>
              <a:ext cx="0" cy="907"/>
            </a:xfrm>
            <a:prstGeom prst="line">
              <a:avLst/>
            </a:prstGeom>
            <a:ln w="15875" cap="flat" cmpd="sng">
              <a:solidFill>
                <a:schemeClr val="tx1"/>
              </a:solidFill>
              <a:prstDash val="solid"/>
              <a:round/>
              <a:headEnd type="none" w="med" len="med"/>
              <a:tailEnd type="triangle" w="med" len="med"/>
            </a:ln>
          </p:spPr>
        </p:sp>
        <p:sp>
          <p:nvSpPr>
            <p:cNvPr id="45092" name="直接连接符 119846"/>
            <p:cNvSpPr/>
            <p:nvPr/>
          </p:nvSpPr>
          <p:spPr>
            <a:xfrm>
              <a:off x="8900" y="7328"/>
              <a:ext cx="0" cy="907"/>
            </a:xfrm>
            <a:prstGeom prst="line">
              <a:avLst/>
            </a:prstGeom>
            <a:ln w="15875" cap="flat" cmpd="sng">
              <a:solidFill>
                <a:schemeClr val="tx1"/>
              </a:solidFill>
              <a:prstDash val="solid"/>
              <a:round/>
              <a:headEnd type="none" w="med" len="med"/>
              <a:tailEnd type="triangle" w="med" len="med"/>
            </a:ln>
          </p:spPr>
        </p:sp>
        <p:sp>
          <p:nvSpPr>
            <p:cNvPr id="45093" name="文本框 119847"/>
            <p:cNvSpPr txBox="1"/>
            <p:nvPr/>
          </p:nvSpPr>
          <p:spPr>
            <a:xfrm>
              <a:off x="6633" y="7288"/>
              <a:ext cx="1132"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a:t>
              </a:r>
            </a:p>
          </p:txBody>
        </p:sp>
        <p:sp>
          <p:nvSpPr>
            <p:cNvPr id="45094" name="直接连接符 119848"/>
            <p:cNvSpPr/>
            <p:nvPr/>
          </p:nvSpPr>
          <p:spPr>
            <a:xfrm>
              <a:off x="9923" y="4265"/>
              <a:ext cx="2380" cy="0"/>
            </a:xfrm>
            <a:prstGeom prst="line">
              <a:avLst/>
            </a:prstGeom>
            <a:ln w="15875" cap="flat" cmpd="sng">
              <a:solidFill>
                <a:schemeClr val="tx1"/>
              </a:solidFill>
              <a:prstDash val="solid"/>
              <a:round/>
              <a:headEnd type="none" w="med" len="med"/>
              <a:tailEnd type="triangle" w="med" len="med"/>
            </a:ln>
          </p:spPr>
        </p:sp>
        <p:sp>
          <p:nvSpPr>
            <p:cNvPr id="45095" name="直接连接符 119849"/>
            <p:cNvSpPr/>
            <p:nvPr/>
          </p:nvSpPr>
          <p:spPr>
            <a:xfrm flipV="1">
              <a:off x="12643" y="2905"/>
              <a:ext cx="0" cy="908"/>
            </a:xfrm>
            <a:prstGeom prst="line">
              <a:avLst/>
            </a:prstGeom>
            <a:ln w="15875" cap="flat" cmpd="sng">
              <a:solidFill>
                <a:schemeClr val="tx1"/>
              </a:solidFill>
              <a:prstDash val="solid"/>
              <a:round/>
              <a:headEnd type="none" w="med" len="med"/>
              <a:tailEnd type="none" w="med" len="med"/>
            </a:ln>
          </p:spPr>
        </p:sp>
        <p:sp>
          <p:nvSpPr>
            <p:cNvPr id="45096" name="直接连接符 119850"/>
            <p:cNvSpPr/>
            <p:nvPr/>
          </p:nvSpPr>
          <p:spPr>
            <a:xfrm flipH="1">
              <a:off x="9355" y="2905"/>
              <a:ext cx="3288" cy="0"/>
            </a:xfrm>
            <a:prstGeom prst="line">
              <a:avLst/>
            </a:prstGeom>
            <a:ln w="15875" cap="flat" cmpd="sng">
              <a:solidFill>
                <a:schemeClr val="tx1"/>
              </a:solidFill>
              <a:prstDash val="solid"/>
              <a:round/>
              <a:headEnd type="none" w="med" len="med"/>
              <a:tailEnd type="triangle" w="med" len="med"/>
            </a:ln>
          </p:spPr>
        </p:sp>
        <p:sp>
          <p:nvSpPr>
            <p:cNvPr id="45097" name="直接连接符 119851"/>
            <p:cNvSpPr/>
            <p:nvPr/>
          </p:nvSpPr>
          <p:spPr>
            <a:xfrm flipH="1">
              <a:off x="4253" y="2905"/>
              <a:ext cx="4195" cy="0"/>
            </a:xfrm>
            <a:prstGeom prst="line">
              <a:avLst/>
            </a:prstGeom>
            <a:ln w="15875" cap="flat" cmpd="sng">
              <a:solidFill>
                <a:schemeClr val="tx1"/>
              </a:solidFill>
              <a:prstDash val="solid"/>
              <a:round/>
              <a:headEnd type="none" w="med" len="med"/>
              <a:tailEnd type="none" w="med" len="med"/>
            </a:ln>
          </p:spPr>
        </p:sp>
        <p:sp>
          <p:nvSpPr>
            <p:cNvPr id="45098" name="直接连接符 119852"/>
            <p:cNvSpPr/>
            <p:nvPr/>
          </p:nvSpPr>
          <p:spPr>
            <a:xfrm>
              <a:off x="4253" y="2905"/>
              <a:ext cx="0" cy="1135"/>
            </a:xfrm>
            <a:prstGeom prst="line">
              <a:avLst/>
            </a:prstGeom>
            <a:ln w="15875" cap="flat" cmpd="sng">
              <a:solidFill>
                <a:schemeClr val="tx1"/>
              </a:solidFill>
              <a:prstDash val="solid"/>
              <a:round/>
              <a:headEnd type="none" w="med" len="med"/>
              <a:tailEnd type="none" w="med" len="med"/>
            </a:ln>
          </p:spPr>
        </p:sp>
        <p:sp>
          <p:nvSpPr>
            <p:cNvPr id="45099" name="直接连接符 119853"/>
            <p:cNvSpPr/>
            <p:nvPr/>
          </p:nvSpPr>
          <p:spPr>
            <a:xfrm>
              <a:off x="4253" y="4040"/>
              <a:ext cx="680" cy="0"/>
            </a:xfrm>
            <a:prstGeom prst="line">
              <a:avLst/>
            </a:prstGeom>
            <a:ln w="15875" cap="flat" cmpd="sng">
              <a:solidFill>
                <a:schemeClr val="tx1"/>
              </a:solidFill>
              <a:prstDash val="solid"/>
              <a:round/>
              <a:headEnd type="none" w="med" len="med"/>
              <a:tailEnd type="triangle" w="med" len="med"/>
            </a:ln>
          </p:spPr>
        </p:sp>
        <p:sp>
          <p:nvSpPr>
            <p:cNvPr id="45100" name="直接连接符 119854"/>
            <p:cNvSpPr/>
            <p:nvPr/>
          </p:nvSpPr>
          <p:spPr>
            <a:xfrm>
              <a:off x="13098" y="4265"/>
              <a:ext cx="907" cy="0"/>
            </a:xfrm>
            <a:prstGeom prst="line">
              <a:avLst/>
            </a:prstGeom>
            <a:ln w="15875" cap="flat" cmpd="sng">
              <a:solidFill>
                <a:schemeClr val="tx1"/>
              </a:solidFill>
              <a:prstDash val="solid"/>
              <a:round/>
              <a:headEnd type="none" w="med" len="med"/>
              <a:tailEnd type="triangle" w="med" len="med"/>
            </a:ln>
          </p:spPr>
        </p:sp>
        <p:sp>
          <p:nvSpPr>
            <p:cNvPr id="45101" name="文本框 119855"/>
            <p:cNvSpPr txBox="1"/>
            <p:nvPr/>
          </p:nvSpPr>
          <p:spPr>
            <a:xfrm>
              <a:off x="283" y="3473"/>
              <a:ext cx="1247"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err="1">
                  <a:solidFill>
                    <a:srgbClr val="000000"/>
                  </a:solidFill>
                  <a:latin typeface="Times New Roman" panose="02020603050405020304" pitchFamily="18" charset="0"/>
                  <a:ea typeface="宋体" panose="02010600030101010101" pitchFamily="2" charset="-122"/>
                </a:rPr>
                <a:t>r</a:t>
              </a:r>
              <a:r>
                <a:rPr lang="en-US" altLang="zh-CN" sz="2400" b="1" err="1">
                  <a:solidFill>
                    <a:srgbClr val="000000"/>
                  </a:solidFill>
                  <a:latin typeface="Times New Roman" panose="02020603050405020304" pitchFamily="18" charset="0"/>
                  <a:ea typeface="宋体" panose="02010600030101010101" pitchFamily="2" charset="-122"/>
                </a:rPr>
                <a:t>(</a:t>
              </a:r>
              <a:r>
                <a:rPr lang="en-US" altLang="zh-CN" sz="2400" b="1" i="1" err="1">
                  <a:solidFill>
                    <a:srgbClr val="000000"/>
                  </a:solidFill>
                  <a:latin typeface="Times New Roman" panose="02020603050405020304" pitchFamily="18" charset="0"/>
                  <a:ea typeface="宋体" panose="02010600030101010101" pitchFamily="2" charset="-122"/>
                </a:rPr>
                <a:t>x</a:t>
              </a:r>
              <a:r>
                <a:rPr lang="en-US" altLang="zh-CN" sz="2400" b="1">
                  <a:solidFill>
                    <a:srgbClr val="000000"/>
                  </a:solidFill>
                  <a:latin typeface="Times New Roman" panose="02020603050405020304" pitchFamily="18" charset="0"/>
                  <a:ea typeface="宋体" panose="02010600030101010101" pitchFamily="2" charset="-122"/>
                </a:rPr>
                <a:t>)</a:t>
              </a:r>
            </a:p>
          </p:txBody>
        </p:sp>
        <p:sp>
          <p:nvSpPr>
            <p:cNvPr id="45102" name="文本框 119857"/>
            <p:cNvSpPr txBox="1"/>
            <p:nvPr/>
          </p:nvSpPr>
          <p:spPr>
            <a:xfrm>
              <a:off x="10035" y="5173"/>
              <a:ext cx="908"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b="1" dirty="0">
                  <a:solidFill>
                    <a:srgbClr val="000000"/>
                  </a:solidFill>
                  <a:latin typeface="Arial" panose="020B0604020202020204" pitchFamily="34" charset="0"/>
                  <a:ea typeface="黑体" panose="02010609060101010101" pitchFamily="49" charset="-122"/>
                </a:rPr>
                <a:t>门</a:t>
              </a:r>
            </a:p>
          </p:txBody>
        </p:sp>
        <p:sp>
          <p:nvSpPr>
            <p:cNvPr id="45103" name="文本框 119858"/>
            <p:cNvSpPr txBox="1"/>
            <p:nvPr/>
          </p:nvSpPr>
          <p:spPr>
            <a:xfrm>
              <a:off x="1303" y="5288"/>
              <a:ext cx="907"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b="1" dirty="0">
                  <a:solidFill>
                    <a:srgbClr val="000000"/>
                  </a:solidFill>
                  <a:latin typeface="Arial" panose="020B0604020202020204" pitchFamily="34" charset="0"/>
                  <a:ea typeface="黑体" panose="02010609060101010101" pitchFamily="49" charset="-122"/>
                </a:rPr>
                <a:t>门</a:t>
              </a:r>
            </a:p>
          </p:txBody>
        </p:sp>
        <p:sp>
          <p:nvSpPr>
            <p:cNvPr id="45104" name="文本框 119859"/>
            <p:cNvSpPr txBox="1"/>
            <p:nvPr/>
          </p:nvSpPr>
          <p:spPr>
            <a:xfrm>
              <a:off x="2325" y="3925"/>
              <a:ext cx="908"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b="1" dirty="0">
                  <a:solidFill>
                    <a:srgbClr val="000000"/>
                  </a:solidFill>
                  <a:latin typeface="Arial" panose="020B0604020202020204" pitchFamily="34" charset="0"/>
                  <a:ea typeface="黑体" panose="02010609060101010101" pitchFamily="49" charset="-122"/>
                </a:rPr>
                <a:t>门</a:t>
              </a:r>
            </a:p>
          </p:txBody>
        </p:sp>
        <p:sp>
          <p:nvSpPr>
            <p:cNvPr id="45105" name="文本框 119860"/>
            <p:cNvSpPr txBox="1"/>
            <p:nvPr/>
          </p:nvSpPr>
          <p:spPr>
            <a:xfrm>
              <a:off x="10828" y="8235"/>
              <a:ext cx="907"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b="1" dirty="0">
                  <a:solidFill>
                    <a:srgbClr val="000000"/>
                  </a:solidFill>
                  <a:latin typeface="Arial" panose="020B0604020202020204" pitchFamily="34" charset="0"/>
                  <a:ea typeface="黑体" panose="02010609060101010101" pitchFamily="49" charset="-122"/>
                </a:rPr>
                <a:t>门</a:t>
              </a:r>
            </a:p>
          </p:txBody>
        </p:sp>
        <p:sp>
          <p:nvSpPr>
            <p:cNvPr id="45106" name="文本框 119861"/>
            <p:cNvSpPr txBox="1"/>
            <p:nvPr/>
          </p:nvSpPr>
          <p:spPr>
            <a:xfrm>
              <a:off x="8448" y="2565"/>
              <a:ext cx="907"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b="1" dirty="0">
                  <a:solidFill>
                    <a:srgbClr val="000000"/>
                  </a:solidFill>
                  <a:latin typeface="Arial" panose="020B0604020202020204" pitchFamily="34" charset="0"/>
                  <a:ea typeface="黑体" panose="02010609060101010101" pitchFamily="49" charset="-122"/>
                </a:rPr>
                <a:t>门</a:t>
              </a:r>
            </a:p>
          </p:txBody>
        </p:sp>
        <p:sp>
          <p:nvSpPr>
            <p:cNvPr id="45107" name="文本框 119862"/>
            <p:cNvSpPr txBox="1"/>
            <p:nvPr/>
          </p:nvSpPr>
          <p:spPr>
            <a:xfrm>
              <a:off x="12334" y="3829"/>
              <a:ext cx="768" cy="725"/>
            </a:xfrm>
            <a:prstGeom prst="rect">
              <a:avLst/>
            </a:prstGeom>
            <a:noFill/>
            <a:ln w="9525">
              <a:noFill/>
            </a:ln>
          </p:spPr>
          <p:txBody>
            <a:bodyPr wrap="square" anchor="t" anchorCtr="0">
              <a:spAutoFit/>
            </a:bodyPr>
            <a:lstStyle/>
            <a:p>
              <a:pPr algn="ctr" eaLnBrk="0" fontAlgn="base" hangingPunct="0">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a:t>
              </a:r>
            </a:p>
          </p:txBody>
        </p:sp>
        <p:sp>
          <p:nvSpPr>
            <p:cNvPr id="45108" name="文本框 119863"/>
            <p:cNvSpPr txBox="1"/>
            <p:nvPr/>
          </p:nvSpPr>
          <p:spPr>
            <a:xfrm>
              <a:off x="3573" y="6608"/>
              <a:ext cx="680"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a:t>
              </a:r>
            </a:p>
          </p:txBody>
        </p:sp>
        <p:sp>
          <p:nvSpPr>
            <p:cNvPr id="45109" name="文本框 119864"/>
            <p:cNvSpPr txBox="1"/>
            <p:nvPr/>
          </p:nvSpPr>
          <p:spPr>
            <a:xfrm>
              <a:off x="5840" y="3813"/>
              <a:ext cx="3063"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b="1" dirty="0">
                  <a:solidFill>
                    <a:srgbClr val="000000"/>
                  </a:solidFill>
                  <a:latin typeface="Arial" panose="020B0604020202020204" pitchFamily="34" charset="0"/>
                  <a:ea typeface="黑体" panose="02010609060101010101" pitchFamily="49" charset="-122"/>
                </a:rPr>
                <a:t>缓冲寄存器</a:t>
              </a:r>
            </a:p>
          </p:txBody>
        </p:sp>
        <p:sp>
          <p:nvSpPr>
            <p:cNvPr id="45110" name="文本框 119865"/>
            <p:cNvSpPr txBox="1"/>
            <p:nvPr/>
          </p:nvSpPr>
          <p:spPr>
            <a:xfrm>
              <a:off x="5613" y="6608"/>
              <a:ext cx="3742"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b="1" dirty="0">
                  <a:solidFill>
                    <a:srgbClr val="000000"/>
                  </a:solidFill>
                  <a:latin typeface="Arial" panose="020B0604020202020204" pitchFamily="34" charset="0"/>
                  <a:ea typeface="黑体" panose="02010609060101010101" pitchFamily="49" charset="-122"/>
                </a:rPr>
                <a:t>伴随式寄存器</a:t>
              </a:r>
            </a:p>
          </p:txBody>
        </p:sp>
        <p:sp>
          <p:nvSpPr>
            <p:cNvPr id="45111" name="文本框 119866"/>
            <p:cNvSpPr txBox="1"/>
            <p:nvPr/>
          </p:nvSpPr>
          <p:spPr>
            <a:xfrm>
              <a:off x="5160" y="8195"/>
              <a:ext cx="4423"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b="1" dirty="0">
                  <a:solidFill>
                    <a:srgbClr val="000000"/>
                  </a:solidFill>
                  <a:latin typeface="Arial" panose="020B0604020202020204" pitchFamily="34" charset="0"/>
                  <a:ea typeface="黑体" panose="02010609060101010101" pitchFamily="49" charset="-122"/>
                </a:rPr>
                <a:t>错误图样检测器</a:t>
              </a:r>
            </a:p>
          </p:txBody>
        </p:sp>
        <p:sp>
          <p:nvSpPr>
            <p:cNvPr id="45112" name="文本框 119867"/>
            <p:cNvSpPr txBox="1"/>
            <p:nvPr/>
          </p:nvSpPr>
          <p:spPr>
            <a:xfrm>
              <a:off x="5500" y="9251"/>
              <a:ext cx="4423"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b="1" dirty="0">
                  <a:solidFill>
                    <a:srgbClr val="000000"/>
                  </a:solidFill>
                  <a:latin typeface="Arial" panose="020B0604020202020204" pitchFamily="34" charset="0"/>
                  <a:ea typeface="黑体" panose="02010609060101010101" pitchFamily="49" charset="-122"/>
                </a:rPr>
                <a:t>伴随式修正</a:t>
              </a:r>
            </a:p>
          </p:txBody>
        </p:sp>
        <p:sp>
          <p:nvSpPr>
            <p:cNvPr id="45113" name="文本框 119868"/>
            <p:cNvSpPr txBox="1"/>
            <p:nvPr/>
          </p:nvSpPr>
          <p:spPr>
            <a:xfrm>
              <a:off x="4089" y="5609"/>
              <a:ext cx="3063" cy="72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b="1" dirty="0">
                  <a:solidFill>
                    <a:srgbClr val="000000"/>
                  </a:solidFill>
                  <a:latin typeface="Arial" panose="020B0604020202020204" pitchFamily="34" charset="0"/>
                  <a:ea typeface="黑体" panose="02010609060101010101" pitchFamily="49" charset="-122"/>
                </a:rPr>
                <a:t>反馈连接</a:t>
              </a:r>
            </a:p>
          </p:txBody>
        </p:sp>
        <p:sp>
          <p:nvSpPr>
            <p:cNvPr id="45114" name="文本框 119869"/>
            <p:cNvSpPr txBox="1"/>
            <p:nvPr/>
          </p:nvSpPr>
          <p:spPr>
            <a:xfrm>
              <a:off x="12983" y="2678"/>
              <a:ext cx="1132" cy="3635"/>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b="1" dirty="0">
                  <a:solidFill>
                    <a:srgbClr val="000000"/>
                  </a:solidFill>
                  <a:latin typeface="Arial" panose="020B0604020202020204" pitchFamily="34" charset="0"/>
                  <a:ea typeface="黑体" panose="02010609060101010101" pitchFamily="49" charset="-122"/>
                </a:rPr>
                <a:t>纠正后的矢量</a:t>
              </a:r>
            </a:p>
          </p:txBody>
        </p:sp>
      </p:grpSp>
    </p:spTree>
  </p:cSld>
  <p:clrMapOvr>
    <a:overrideClrMapping bg1="lt1" tx1="dk1" bg2="lt2" tx2="dk2" accent1="accent1" accent2="accent2" accent3="accent3" accent4="accent4" accent5="accent5" accent6="accent6" hlink="hlink" folHlink="folHlink"/>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022216" y="104775"/>
            <a:ext cx="537908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通用循环码译码器的译码算法</a:t>
            </a:r>
          </a:p>
        </p:txBody>
      </p:sp>
      <p:sp>
        <p:nvSpPr>
          <p:cNvPr id="15" name="矩形 14"/>
          <p:cNvSpPr/>
          <p:nvPr/>
        </p:nvSpPr>
        <p:spPr>
          <a:xfrm>
            <a:off x="2057401" y="889636"/>
            <a:ext cx="8140065" cy="105092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4" name="文本框 13"/>
          <p:cNvSpPr txBox="1"/>
          <p:nvPr/>
        </p:nvSpPr>
        <p:spPr>
          <a:xfrm>
            <a:off x="2129791" y="890270"/>
            <a:ext cx="8089265" cy="1000980"/>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b="1" dirty="0">
                <a:solidFill>
                  <a:srgbClr val="000000"/>
                </a:solidFill>
                <a:latin typeface="Times New Roman" panose="02020603050405020304" pitchFamily="18" charset="0"/>
                <a:ea typeface="黑体" panose="02010609060101010101" pitchFamily="49" charset="-122"/>
                <a:sym typeface="+mn-ea"/>
              </a:rPr>
              <a:t>通用译码器由三个部分组成：</a:t>
            </a:r>
            <a:r>
              <a:rPr lang="en-US" altLang="zh-CN" sz="2400" b="1">
                <a:solidFill>
                  <a:srgbClr val="000000"/>
                </a:solidFill>
                <a:latin typeface="Times New Roman" panose="02020603050405020304" pitchFamily="18" charset="0"/>
                <a:ea typeface="黑体" panose="02010609060101010101" pitchFamily="49" charset="-122"/>
                <a:sym typeface="+mn-ea"/>
              </a:rPr>
              <a:t>1)</a:t>
            </a:r>
            <a:r>
              <a:rPr lang="zh-CN" altLang="en-US" sz="2400" b="1" dirty="0">
                <a:solidFill>
                  <a:srgbClr val="000000"/>
                </a:solidFill>
                <a:latin typeface="Times New Roman" panose="02020603050405020304" pitchFamily="18" charset="0"/>
                <a:ea typeface="黑体" panose="02010609060101010101" pitchFamily="49" charset="-122"/>
                <a:sym typeface="+mn-ea"/>
              </a:rPr>
              <a:t>伴随式寄存器</a:t>
            </a:r>
            <a:r>
              <a:rPr lang="en-US" altLang="zh-CN" sz="2400" b="1">
                <a:solidFill>
                  <a:srgbClr val="000000"/>
                </a:solidFill>
                <a:latin typeface="Times New Roman" panose="02020603050405020304" pitchFamily="18" charset="0"/>
                <a:ea typeface="黑体" panose="02010609060101010101" pitchFamily="49" charset="-122"/>
                <a:sym typeface="+mn-ea"/>
              </a:rPr>
              <a:t>; 2)</a:t>
            </a:r>
            <a:r>
              <a:rPr lang="zh-CN" altLang="en-US" sz="2400" b="1" dirty="0">
                <a:solidFill>
                  <a:srgbClr val="000000"/>
                </a:solidFill>
                <a:latin typeface="Times New Roman" panose="02020603050405020304" pitchFamily="18" charset="0"/>
                <a:ea typeface="黑体" panose="02010609060101010101" pitchFamily="49" charset="-122"/>
                <a:sym typeface="+mn-ea"/>
              </a:rPr>
              <a:t>错误图样检测器</a:t>
            </a:r>
            <a:r>
              <a:rPr lang="en-US" altLang="zh-CN" sz="2400" b="1">
                <a:solidFill>
                  <a:srgbClr val="000000"/>
                </a:solidFill>
                <a:latin typeface="Times New Roman" panose="02020603050405020304" pitchFamily="18" charset="0"/>
                <a:ea typeface="黑体" panose="02010609060101010101" pitchFamily="49" charset="-122"/>
                <a:sym typeface="+mn-ea"/>
              </a:rPr>
              <a:t>; 3)</a:t>
            </a:r>
            <a:r>
              <a:rPr lang="zh-CN" altLang="en-US" sz="2400" b="1" dirty="0">
                <a:solidFill>
                  <a:srgbClr val="000000"/>
                </a:solidFill>
                <a:latin typeface="Times New Roman" panose="02020603050405020304" pitchFamily="18" charset="0"/>
                <a:ea typeface="黑体" panose="02010609060101010101" pitchFamily="49" charset="-122"/>
                <a:sym typeface="+mn-ea"/>
              </a:rPr>
              <a:t>存储接收矢量的缓冲寄存器</a:t>
            </a:r>
            <a:r>
              <a:rPr lang="zh-CN" altLang="en-US" sz="2400" dirty="0">
                <a:solidFill>
                  <a:srgbClr val="000000"/>
                </a:solidFill>
                <a:latin typeface="Times New Roman" panose="02020603050405020304" pitchFamily="18" charset="0"/>
                <a:ea typeface="黑体" panose="02010609060101010101" pitchFamily="49" charset="-122"/>
                <a:sym typeface="+mn-ea"/>
              </a:rPr>
              <a:t>。</a:t>
            </a:r>
          </a:p>
        </p:txBody>
      </p:sp>
      <p:sp>
        <p:nvSpPr>
          <p:cNvPr id="9" name="文本框 8"/>
          <p:cNvSpPr txBox="1"/>
          <p:nvPr/>
        </p:nvSpPr>
        <p:spPr>
          <a:xfrm>
            <a:off x="1840865" y="1967230"/>
            <a:ext cx="8495030" cy="4692650"/>
          </a:xfrm>
          <a:prstGeom prst="rect">
            <a:avLst/>
          </a:prstGeom>
          <a:noFill/>
        </p:spPr>
        <p:txBody>
          <a:bodyPr wrap="square" rtlCol="0" anchor="t">
            <a:spAutoFit/>
          </a:bodyPr>
          <a:lstStyle/>
          <a:p>
            <a:pPr algn="just" eaLnBrk="0" fontAlgn="base" hangingPunct="0">
              <a:lnSpc>
                <a:spcPct val="115000"/>
              </a:lnSpc>
              <a:spcBef>
                <a:spcPct val="0"/>
              </a:spcBef>
              <a:spcAft>
                <a:spcPct val="0"/>
              </a:spcAft>
            </a:pPr>
            <a:r>
              <a:rPr lang="zh-CN" altLang="en-US" sz="2000" dirty="0">
                <a:solidFill>
                  <a:srgbClr val="FF0000"/>
                </a:solidFill>
                <a:latin typeface="Times New Roman" panose="02020603050405020304" pitchFamily="18" charset="0"/>
                <a:ea typeface="黑体" panose="02010609060101010101" pitchFamily="49" charset="-122"/>
                <a:sym typeface="+mn-ea"/>
              </a:rPr>
              <a:t>译码算法描述如下</a:t>
            </a:r>
            <a:r>
              <a:rPr lang="zh-CN" altLang="en-US" sz="2000" dirty="0">
                <a:solidFill>
                  <a:srgbClr val="FF0000"/>
                </a:solidFill>
                <a:latin typeface="Arial" panose="020B0604020202020204" pitchFamily="34" charset="0"/>
                <a:ea typeface="黑体" panose="02010609060101010101" pitchFamily="49" charset="-122"/>
                <a:sym typeface="+mn-ea"/>
              </a:rPr>
              <a:t>：</a:t>
            </a:r>
            <a:endParaRPr lang="zh-CN" altLang="en-US" sz="2000" dirty="0">
              <a:solidFill>
                <a:srgbClr val="0070C0"/>
              </a:solidFill>
              <a:latin typeface="Arial" panose="020B0604020202020204" pitchFamily="34" charset="0"/>
              <a:ea typeface="黑体" panose="02010609060101010101" pitchFamily="49" charset="-122"/>
              <a:sym typeface="+mn-ea"/>
            </a:endParaRPr>
          </a:p>
          <a:p>
            <a:pPr algn="just" eaLnBrk="0" fontAlgn="base" hangingPunct="0">
              <a:lnSpc>
                <a:spcPct val="115000"/>
              </a:lnSpc>
              <a:spcBef>
                <a:spcPct val="0"/>
              </a:spcBef>
              <a:spcAft>
                <a:spcPct val="0"/>
              </a:spcAft>
            </a:pPr>
            <a:r>
              <a:rPr lang="zh-CN" altLang="en-US" sz="2000">
                <a:solidFill>
                  <a:srgbClr val="000000"/>
                </a:solidFill>
                <a:latin typeface="Times New Roman" panose="02020603050405020304" pitchFamily="18" charset="0"/>
                <a:ea typeface="黑体" panose="02010609060101010101" pitchFamily="49" charset="-122"/>
                <a:sym typeface="+mn-ea"/>
              </a:rPr>
              <a:t>步骤</a:t>
            </a:r>
            <a:r>
              <a:rPr lang="en-US" altLang="zh-CN" sz="2000">
                <a:solidFill>
                  <a:srgbClr val="000000"/>
                </a:solidFill>
                <a:latin typeface="Times New Roman" panose="02020603050405020304" pitchFamily="18" charset="0"/>
                <a:ea typeface="黑体" panose="02010609060101010101" pitchFamily="49" charset="-122"/>
                <a:sym typeface="+mn-ea"/>
              </a:rPr>
              <a:t>1</a:t>
            </a:r>
            <a:r>
              <a:rPr lang="zh-CN" altLang="en-US"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接收矢量全部移入伴随式寄存器，便得到了伴随式，与此同时，接收矢量也存入缓冲寄存器</a:t>
            </a:r>
            <a:r>
              <a:rPr lang="en-US" altLang="zh-CN" sz="2000" dirty="0">
                <a:solidFill>
                  <a:srgbClr val="000000"/>
                </a:solidFill>
                <a:latin typeface="Arial" panose="020B0604020202020204" pitchFamily="34" charset="0"/>
                <a:ea typeface="黑体" panose="02010609060101010101" pitchFamily="49" charset="-122"/>
                <a:sym typeface="+mn-ea"/>
              </a:rPr>
              <a:t>;</a:t>
            </a:r>
            <a:endParaRPr lang="zh-CN" altLang="en-US" sz="2000" dirty="0">
              <a:solidFill>
                <a:srgbClr val="000000"/>
              </a:solidFill>
              <a:latin typeface="Arial" panose="020B0604020202020204" pitchFamily="34" charset="0"/>
              <a:ea typeface="黑体" panose="02010609060101010101" pitchFamily="49" charset="-122"/>
            </a:endParaRPr>
          </a:p>
          <a:p>
            <a:pPr algn="just" eaLnBrk="0" fontAlgn="base" hangingPunct="0">
              <a:lnSpc>
                <a:spcPct val="115000"/>
              </a:lnSpc>
              <a:spcBef>
                <a:spcPct val="0"/>
              </a:spcBef>
              <a:spcAft>
                <a:spcPct val="0"/>
              </a:spcAft>
            </a:pPr>
            <a:r>
              <a:rPr lang="zh-CN" altLang="en-US" sz="2000">
                <a:solidFill>
                  <a:srgbClr val="000000"/>
                </a:solidFill>
                <a:latin typeface="Times New Roman" panose="02020603050405020304" pitchFamily="18" charset="0"/>
                <a:ea typeface="黑体" panose="02010609060101010101" pitchFamily="49" charset="-122"/>
                <a:sym typeface="+mn-ea"/>
              </a:rPr>
              <a:t>步骤</a:t>
            </a:r>
            <a:r>
              <a:rPr lang="en-US" altLang="zh-CN" sz="2000">
                <a:solidFill>
                  <a:srgbClr val="000000"/>
                </a:solidFill>
                <a:latin typeface="Times New Roman" panose="02020603050405020304" pitchFamily="18" charset="0"/>
                <a:ea typeface="黑体" panose="02010609060101010101" pitchFamily="49" charset="-122"/>
                <a:sym typeface="+mn-ea"/>
              </a:rPr>
              <a:t>2</a:t>
            </a:r>
            <a:r>
              <a:rPr lang="zh-CN" altLang="en-US"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把伴随式读入检测器，以探测相应的错误图样，检测器的输出是一个与缓存器输出符号相应的错误估计值</a:t>
            </a:r>
            <a:r>
              <a:rPr lang="en-US" altLang="zh-CN" sz="2000" dirty="0">
                <a:solidFill>
                  <a:srgbClr val="000000"/>
                </a:solidFill>
                <a:latin typeface="Times New Roman" panose="02020603050405020304" pitchFamily="18" charset="0"/>
                <a:ea typeface="黑体" panose="02010609060101010101" pitchFamily="49" charset="-122"/>
                <a:sym typeface="+mn-ea"/>
              </a:rPr>
              <a:t>;</a:t>
            </a:r>
            <a:endParaRPr lang="zh-CN" altLang="en-US" sz="2000" dirty="0">
              <a:solidFill>
                <a:srgbClr val="000000"/>
              </a:solidFill>
              <a:latin typeface="Times New Roman" panose="02020603050405020304" pitchFamily="18" charset="0"/>
              <a:ea typeface="黑体" panose="02010609060101010101" pitchFamily="49" charset="-122"/>
            </a:endParaRPr>
          </a:p>
          <a:p>
            <a:pPr algn="just" eaLnBrk="0" fontAlgn="base" hangingPunct="0">
              <a:lnSpc>
                <a:spcPct val="115000"/>
              </a:lnSpc>
              <a:spcBef>
                <a:spcPct val="0"/>
              </a:spcBef>
              <a:spcAft>
                <a:spcPct val="0"/>
              </a:spcAft>
            </a:pPr>
            <a:r>
              <a:rPr lang="zh-CN" altLang="en-US" sz="2000">
                <a:solidFill>
                  <a:srgbClr val="000000"/>
                </a:solidFill>
                <a:latin typeface="Times New Roman" panose="02020603050405020304" pitchFamily="18" charset="0"/>
                <a:ea typeface="黑体" panose="02010609060101010101" pitchFamily="49" charset="-122"/>
                <a:sym typeface="+mn-ea"/>
              </a:rPr>
              <a:t>步骤</a:t>
            </a:r>
            <a:r>
              <a:rPr lang="en-US" altLang="zh-CN" sz="2000">
                <a:solidFill>
                  <a:srgbClr val="000000"/>
                </a:solidFill>
                <a:latin typeface="Times New Roman" panose="02020603050405020304" pitchFamily="18" charset="0"/>
                <a:ea typeface="黑体" panose="02010609060101010101" pitchFamily="49" charset="-122"/>
                <a:sym typeface="+mn-ea"/>
              </a:rPr>
              <a:t>3</a:t>
            </a:r>
            <a:r>
              <a:rPr lang="zh-CN" altLang="en-US"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由缓存器输出第一个接收符号，与此同时，伴随式寄存器移位一次。若检测到第一个接收符号是错误的，则检测器的输出给予纠正。检测器的输出也反馈到伴随式寄存器以修正伴随式。这样便得到了一个新的伴随式，它相应于向右移位</a:t>
            </a:r>
            <a:r>
              <a:rPr lang="en-US" altLang="zh-CN" sz="200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次后所得的修正接收矢量的伴随式</a:t>
            </a:r>
            <a:r>
              <a:rPr lang="en-US" altLang="zh-CN" sz="2000" dirty="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lnSpc>
                <a:spcPct val="115000"/>
              </a:lnSpc>
              <a:spcBef>
                <a:spcPct val="0"/>
              </a:spcBef>
              <a:spcAft>
                <a:spcPct val="0"/>
              </a:spcAft>
            </a:pPr>
            <a:r>
              <a:rPr lang="zh-CN" altLang="en-US" sz="2000">
                <a:solidFill>
                  <a:srgbClr val="000000"/>
                </a:solidFill>
                <a:latin typeface="Times New Roman" panose="02020603050405020304" pitchFamily="18" charset="0"/>
                <a:ea typeface="黑体" panose="02010609060101010101" pitchFamily="49" charset="-122"/>
                <a:sym typeface="+mn-ea"/>
              </a:rPr>
              <a:t>步骤</a:t>
            </a:r>
            <a:r>
              <a:rPr lang="en-US" altLang="zh-CN" sz="2000">
                <a:solidFill>
                  <a:srgbClr val="000000"/>
                </a:solidFill>
                <a:latin typeface="Times New Roman" panose="02020603050405020304" pitchFamily="18" charset="0"/>
                <a:ea typeface="黑体" panose="02010609060101010101" pitchFamily="49" charset="-122"/>
                <a:sym typeface="+mn-ea"/>
              </a:rPr>
              <a:t>4</a:t>
            </a:r>
            <a:r>
              <a:rPr lang="zh-CN" altLang="en-US"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由第</a:t>
            </a:r>
            <a:r>
              <a:rPr lang="en-US" altLang="zh-CN" sz="2000">
                <a:solidFill>
                  <a:srgbClr val="000000"/>
                </a:solidFill>
                <a:latin typeface="Times New Roman" panose="02020603050405020304" pitchFamily="18" charset="0"/>
                <a:ea typeface="黑体" panose="02010609060101010101" pitchFamily="49" charset="-122"/>
                <a:sym typeface="+mn-ea"/>
              </a:rPr>
              <a:t>3</a:t>
            </a:r>
            <a:r>
              <a:rPr lang="zh-CN" altLang="en-US" sz="2000" dirty="0">
                <a:solidFill>
                  <a:srgbClr val="000000"/>
                </a:solidFill>
                <a:latin typeface="Times New Roman" panose="02020603050405020304" pitchFamily="18" charset="0"/>
                <a:ea typeface="黑体" panose="02010609060101010101" pitchFamily="49" charset="-122"/>
                <a:sym typeface="+mn-ea"/>
              </a:rPr>
              <a:t>步所得的新伴随式，用来检测第</a:t>
            </a:r>
            <a:r>
              <a:rPr lang="en-US" altLang="zh-CN" sz="200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个接收符号是否有错。译码器重复第</a:t>
            </a:r>
            <a:r>
              <a:rPr lang="en-US" altLang="zh-CN" sz="2000">
                <a:solidFill>
                  <a:srgbClr val="000000"/>
                </a:solidFill>
                <a:latin typeface="Times New Roman" panose="02020603050405020304" pitchFamily="18" charset="0"/>
                <a:ea typeface="黑体" panose="02010609060101010101" pitchFamily="49" charset="-122"/>
                <a:sym typeface="+mn-ea"/>
              </a:rPr>
              <a:t>2-3</a:t>
            </a:r>
            <a:r>
              <a:rPr lang="zh-CN" altLang="en-US" sz="2000" dirty="0">
                <a:solidFill>
                  <a:srgbClr val="000000"/>
                </a:solidFill>
                <a:latin typeface="Times New Roman" panose="02020603050405020304" pitchFamily="18" charset="0"/>
                <a:ea typeface="黑体" panose="02010609060101010101" pitchFamily="49" charset="-122"/>
                <a:sym typeface="+mn-ea"/>
              </a:rPr>
              <a:t>步。第</a:t>
            </a:r>
            <a:r>
              <a:rPr lang="en-US" altLang="zh-CN" sz="200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个符号的纠正方法和第一个接收符号一样</a:t>
            </a:r>
            <a:r>
              <a:rPr lang="en-US" altLang="zh-CN" sz="2000" dirty="0">
                <a:solidFill>
                  <a:srgbClr val="000000"/>
                </a:solidFill>
                <a:latin typeface="Times New Roman" panose="02020603050405020304" pitchFamily="18" charset="0"/>
                <a:ea typeface="黑体" panose="02010609060101010101" pitchFamily="49" charset="-122"/>
                <a:sym typeface="+mn-ea"/>
              </a:rPr>
              <a:t>;</a:t>
            </a:r>
          </a:p>
          <a:p>
            <a:pPr algn="just" eaLnBrk="0" fontAlgn="base" hangingPunct="0">
              <a:lnSpc>
                <a:spcPct val="115000"/>
              </a:lnSpc>
              <a:spcBef>
                <a:spcPct val="0"/>
              </a:spcBef>
              <a:spcAft>
                <a:spcPct val="0"/>
              </a:spcAft>
            </a:pPr>
            <a:r>
              <a:rPr lang="zh-CN" altLang="en-US" sz="2000">
                <a:solidFill>
                  <a:srgbClr val="000000"/>
                </a:solidFill>
                <a:latin typeface="Times New Roman" panose="02020603050405020304" pitchFamily="18" charset="0"/>
                <a:ea typeface="黑体" panose="02010609060101010101" pitchFamily="49" charset="-122"/>
                <a:sym typeface="+mn-ea"/>
              </a:rPr>
              <a:t>步骤</a:t>
            </a:r>
            <a:r>
              <a:rPr lang="en-US" altLang="zh-CN" sz="2000">
                <a:solidFill>
                  <a:srgbClr val="000000"/>
                </a:solidFill>
                <a:latin typeface="Times New Roman" panose="02020603050405020304" pitchFamily="18" charset="0"/>
                <a:ea typeface="黑体" panose="02010609060101010101" pitchFamily="49" charset="-122"/>
                <a:sym typeface="+mn-ea"/>
              </a:rPr>
              <a:t>5</a:t>
            </a:r>
            <a:r>
              <a:rPr lang="zh-CN" altLang="en-US"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如上所述，译码器逐个符号地译接收矢量，直到从缓存器中读出全部接收矢量为止。</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码字多项式</a:t>
            </a:r>
          </a:p>
        </p:txBody>
      </p:sp>
      <p:sp>
        <p:nvSpPr>
          <p:cNvPr id="7" name="文本框 6"/>
          <p:cNvSpPr txBox="1"/>
          <p:nvPr/>
        </p:nvSpPr>
        <p:spPr>
          <a:xfrm>
            <a:off x="2005966" y="1896746"/>
            <a:ext cx="8456295" cy="4741545"/>
          </a:xfrm>
          <a:prstGeom prst="rect">
            <a:avLst/>
          </a:prstGeom>
          <a:noFill/>
        </p:spPr>
        <p:txBody>
          <a:bodyPr wrap="square" rtlCol="0" anchor="t">
            <a:spAutoFit/>
          </a:bodyPr>
          <a:lstStyle/>
          <a:p>
            <a:pPr eaLnBrk="0" fontAlgn="base" hangingPunct="0">
              <a:lnSpc>
                <a:spcPct val="90000"/>
              </a:lnSpc>
              <a:spcBef>
                <a:spcPct val="0"/>
              </a:spcBef>
              <a:spcAft>
                <a:spcPct val="0"/>
              </a:spcAft>
            </a:pPr>
            <a:r>
              <a:rPr lang="zh-CN" altLang="en-US" sz="2400" dirty="0">
                <a:solidFill>
                  <a:srgbClr val="000000"/>
                </a:solidFill>
                <a:latin typeface="黑体" panose="02010609060101010101" pitchFamily="49" charset="-122"/>
                <a:ea typeface="黑体" panose="02010609060101010101" pitchFamily="49" charset="-122"/>
                <a:sym typeface="+mn-ea"/>
              </a:rPr>
              <a:t>码字</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 ,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左移一位，得到</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 ,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a:t>
            </a:r>
          </a:p>
          <a:p>
            <a:pPr eaLnBrk="0" fontAlgn="base" hangingPunct="0">
              <a:lnSpc>
                <a:spcPct val="9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类似的，得到</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-4</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endParaRPr lang="en-US" altLang="zh-CN" sz="2400">
              <a:solidFill>
                <a:srgbClr val="000000"/>
              </a:solidFill>
              <a:latin typeface="Times New Roman" panose="02020603050405020304" pitchFamily="18" charset="0"/>
              <a:ea typeface="黑体" panose="02010609060101010101" pitchFamily="49" charset="-122"/>
            </a:endParaRPr>
          </a:p>
          <a:p>
            <a:pPr eaLnBrk="0" fontAlgn="base" hangingPunct="0">
              <a:lnSpc>
                <a:spcPct val="90000"/>
              </a:lnSpc>
              <a:spcBef>
                <a:spcPct val="0"/>
              </a:spcBef>
              <a:spcAft>
                <a:spcPct val="0"/>
              </a:spcAft>
            </a:pPr>
            <a:r>
              <a:rPr lang="en-US" altLang="zh-CN" sz="2400" i="1">
                <a:solidFill>
                  <a:srgbClr val="000000"/>
                </a:solidFill>
                <a:latin typeface="Times New Roman" panose="02020603050405020304" pitchFamily="18" charset="0"/>
                <a:ea typeface="黑体" panose="02010609060101010101" pitchFamily="49" charset="-122"/>
                <a:sym typeface="+mn-ea"/>
              </a:rPr>
              <a:t>    		 v</a:t>
            </a:r>
            <a:r>
              <a:rPr lang="en-US" altLang="zh-CN" sz="2400" baseline="30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-2 </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 </a:t>
            </a:r>
            <a:r>
              <a:rPr lang="en-US" altLang="zh-CN" sz="2400" i="1">
                <a:solidFill>
                  <a:srgbClr val="000000"/>
                </a:solidFill>
                <a:latin typeface="Times New Roman" panose="02020603050405020304" pitchFamily="18" charset="0"/>
                <a:ea typeface="黑体" panose="02010609060101010101" pitchFamily="49" charset="-122"/>
                <a:sym typeface="+mn-ea"/>
              </a:rPr>
              <a:t>x+v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endParaRPr lang="en-US" altLang="zh-CN" sz="2400" baseline="-25000">
              <a:solidFill>
                <a:srgbClr val="000000"/>
              </a:solidFill>
              <a:latin typeface="Times New Roman" panose="02020603050405020304" pitchFamily="18" charset="0"/>
              <a:ea typeface="黑体" panose="02010609060101010101" pitchFamily="49" charset="-122"/>
            </a:endParaRPr>
          </a:p>
          <a:p>
            <a:pPr eaLnBrk="0" fontAlgn="base" hangingPunct="0">
              <a:lnSpc>
                <a:spcPct val="90000"/>
              </a:lnSpc>
              <a:spcBef>
                <a:spcPct val="0"/>
              </a:spcBef>
              <a:spcAft>
                <a:spcPct val="0"/>
              </a:spcAft>
            </a:pPr>
            <a:r>
              <a:rPr lang="en-US" altLang="zh-CN" sz="2400" i="1">
                <a:solidFill>
                  <a:srgbClr val="000000"/>
                </a:solidFill>
                <a:latin typeface="Times New Roman" panose="02020603050405020304" pitchFamily="18" charset="0"/>
                <a:ea typeface="黑体" panose="02010609060101010101" pitchFamily="49" charset="-122"/>
                <a:sym typeface="+mn-ea"/>
              </a:rPr>
              <a:t>    		 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-3</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 </a:t>
            </a:r>
            <a:r>
              <a:rPr lang="en-US" altLang="zh-CN" sz="2400" i="1">
                <a:solidFill>
                  <a:srgbClr val="000000"/>
                </a:solidFill>
                <a:latin typeface="Times New Roman" panose="02020603050405020304" pitchFamily="18" charset="0"/>
                <a:ea typeface="黑体" panose="02010609060101010101" pitchFamily="49" charset="-122"/>
                <a:sym typeface="+mn-ea"/>
              </a:rPr>
              <a:t>x+v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endParaRPr lang="en-US" altLang="zh-CN" sz="2400" baseline="-25000">
              <a:solidFill>
                <a:srgbClr val="000000"/>
              </a:solidFill>
              <a:latin typeface="Times New Roman" panose="02020603050405020304" pitchFamily="18" charset="0"/>
              <a:ea typeface="黑体" panose="02010609060101010101" pitchFamily="49" charset="-122"/>
            </a:endParaRPr>
          </a:p>
          <a:p>
            <a:pPr eaLnBrk="0" fontAlgn="base" hangingPunct="0">
              <a:lnSpc>
                <a:spcPct val="90000"/>
              </a:lnSpc>
              <a:spcBef>
                <a:spcPct val="0"/>
              </a:spcBef>
              <a:spcAft>
                <a:spcPct val="0"/>
              </a:spcAft>
            </a:pPr>
            <a:r>
              <a:rPr lang="en-US" altLang="zh-CN" sz="2400" i="1">
                <a:solidFill>
                  <a:srgbClr val="000000"/>
                </a:solidFill>
                <a:latin typeface="Times New Roman" panose="02020603050405020304" pitchFamily="18" charset="0"/>
                <a:ea typeface="黑体" panose="02010609060101010101" pitchFamily="49" charset="-122"/>
                <a:sym typeface="+mn-ea"/>
              </a:rPr>
              <a:t>    		 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-3</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-4</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 </a:t>
            </a:r>
            <a:r>
              <a:rPr lang="en-US" altLang="zh-CN" sz="2400" i="1">
                <a:solidFill>
                  <a:srgbClr val="000000"/>
                </a:solidFill>
                <a:latin typeface="Times New Roman" panose="02020603050405020304" pitchFamily="18" charset="0"/>
                <a:ea typeface="黑体" panose="02010609060101010101" pitchFamily="49" charset="-122"/>
                <a:sym typeface="+mn-ea"/>
              </a:rPr>
              <a:t>x+v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endParaRPr lang="en-US" altLang="zh-CN" sz="2400" baseline="-25000">
              <a:solidFill>
                <a:srgbClr val="000000"/>
              </a:solidFill>
              <a:latin typeface="Times New Roman" panose="02020603050405020304" pitchFamily="18" charset="0"/>
              <a:ea typeface="黑体" panose="02010609060101010101" pitchFamily="49" charset="-122"/>
            </a:endParaRPr>
          </a:p>
          <a:p>
            <a:pPr eaLnBrk="0" fontAlgn="base" hangingPunct="0">
              <a:lnSpc>
                <a:spcPct val="90000"/>
              </a:lnSpc>
              <a:spcBef>
                <a:spcPct val="0"/>
              </a:spcBef>
              <a:spcAft>
                <a:spcPct val="0"/>
              </a:spcAft>
            </a:pPr>
            <a:r>
              <a:rPr lang="en-US" altLang="zh-CN" sz="2400" i="1">
                <a:solidFill>
                  <a:srgbClr val="000000"/>
                </a:solidFill>
                <a:latin typeface="Times New Roman" panose="02020603050405020304" pitchFamily="18" charset="0"/>
                <a:ea typeface="黑体" panose="02010609060101010101" pitchFamily="49" charset="-122"/>
                <a:sym typeface="+mn-ea"/>
              </a:rPr>
              <a:t>    v</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a:t>
            </a:r>
            <a:r>
              <a:rPr lang="en-US" altLang="zh-CN" sz="2400" baseline="-25000" err="1">
                <a:solidFill>
                  <a:srgbClr val="000000"/>
                </a:solidFill>
                <a:latin typeface="Times New Roman" panose="02020603050405020304" pitchFamily="18" charset="0"/>
                <a:ea typeface="黑体" panose="02010609060101010101" pitchFamily="49" charset="-122"/>
                <a:sym typeface="+mn-ea"/>
              </a:rPr>
              <a:t>-</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i</a:t>
            </a:r>
            <a:r>
              <a:rPr lang="en-US" altLang="zh-CN" sz="2400" baseline="-25000" err="1">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endParaRPr lang="en-US" altLang="zh-CN" sz="2400" i="1" baseline="-25000">
              <a:solidFill>
                <a:srgbClr val="000000"/>
              </a:solidFill>
              <a:latin typeface="Times New Roman" panose="02020603050405020304" pitchFamily="18" charset="0"/>
              <a:ea typeface="黑体" panose="02010609060101010101" pitchFamily="49" charset="-122"/>
            </a:endParaRPr>
          </a:p>
          <a:p>
            <a:pPr eaLnBrk="0" fontAlgn="base" hangingPunct="0">
              <a:lnSpc>
                <a:spcPct val="90000"/>
              </a:lnSpc>
              <a:spcBef>
                <a:spcPct val="0"/>
              </a:spcBef>
              <a:spcAft>
                <a:spcPct val="0"/>
              </a:spcAft>
            </a:pPr>
            <a:r>
              <a:rPr lang="zh-CN" altLang="en-US" sz="2400" dirty="0">
                <a:solidFill>
                  <a:srgbClr val="000000"/>
                </a:solidFill>
                <a:latin typeface="黑体" panose="02010609060101010101" pitchFamily="49" charset="-122"/>
                <a:ea typeface="黑体" panose="02010609060101010101" pitchFamily="49" charset="-122"/>
                <a:sym typeface="+mn-ea"/>
              </a:rPr>
              <a:t>因而有</a:t>
            </a:r>
            <a:r>
              <a:rPr lang="en-US" altLang="zh-CN" sz="2400" dirty="0">
                <a:solidFill>
                  <a:srgbClr val="000000"/>
                </a:solidFill>
                <a:latin typeface="黑体" panose="02010609060101010101" pitchFamily="49" charset="-122"/>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xv</a:t>
            </a:r>
            <a:r>
              <a:rPr lang="en-US" altLang="zh-CN" sz="2400" baseline="30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mod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  </a:t>
            </a:r>
            <a:endParaRPr lang="en-US" altLang="zh-CN" sz="2400">
              <a:solidFill>
                <a:srgbClr val="000000"/>
              </a:solidFill>
              <a:latin typeface="Times New Roman" panose="02020603050405020304" pitchFamily="18" charset="0"/>
              <a:ea typeface="黑体" panose="02010609060101010101" pitchFamily="49" charset="-122"/>
            </a:endParaRPr>
          </a:p>
          <a:p>
            <a:pPr eaLnBrk="0" fontAlgn="base" hangingPunct="0">
              <a:lnSpc>
                <a:spcPct val="90000"/>
              </a:lnSpc>
              <a:spcBef>
                <a:spcPct val="0"/>
              </a:spcBef>
              <a:spcAft>
                <a:spcPct val="0"/>
              </a:spcAft>
            </a:pPr>
            <a:r>
              <a:rPr lang="en-US" altLang="zh-CN" sz="2400" i="1">
                <a:solidFill>
                  <a:srgbClr val="000000"/>
                </a:solidFill>
                <a:latin typeface="Times New Roman" panose="02020603050405020304" pitchFamily="18" charset="0"/>
                <a:ea typeface="黑体" panose="02010609060101010101" pitchFamily="49" charset="-122"/>
                <a:sym typeface="+mn-ea"/>
              </a:rPr>
              <a:t>    	  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mod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endParaRPr lang="en-US" altLang="zh-CN" sz="2400">
              <a:solidFill>
                <a:srgbClr val="000000"/>
              </a:solidFill>
              <a:latin typeface="Times New Roman" panose="02020603050405020304" pitchFamily="18" charset="0"/>
              <a:ea typeface="黑体" panose="02010609060101010101" pitchFamily="49" charset="-122"/>
            </a:endParaRPr>
          </a:p>
          <a:p>
            <a:pPr eaLnBrk="0" fontAlgn="base" hangingPunct="0">
              <a:lnSpc>
                <a:spcPct val="90000"/>
              </a:lnSpc>
              <a:spcBef>
                <a:spcPct val="0"/>
              </a:spcBef>
              <a:spcAft>
                <a:spcPct val="0"/>
              </a:spcAft>
            </a:pPr>
            <a:r>
              <a:rPr lang="en-US" altLang="zh-CN" sz="2400" i="1">
                <a:solidFill>
                  <a:srgbClr val="000000"/>
                </a:solidFill>
                <a:latin typeface="Times New Roman" panose="02020603050405020304" pitchFamily="18" charset="0"/>
                <a:ea typeface="黑体" panose="02010609060101010101" pitchFamily="49" charset="-122"/>
                <a:sym typeface="+mn-ea"/>
              </a:rPr>
              <a:t>    	  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n+i</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n+i</a:t>
            </a:r>
            <a:r>
              <a:rPr lang="en-US" altLang="zh-CN" sz="2400" baseline="30000">
                <a:solidFill>
                  <a:srgbClr val="000000"/>
                </a:solidFill>
                <a:latin typeface="Times New Roman" panose="02020603050405020304" pitchFamily="18" charset="0"/>
                <a:ea typeface="黑体" panose="02010609060101010101" pitchFamily="49" charset="-122"/>
                <a:sym typeface="+mn-ea"/>
              </a:rPr>
              <a:t>-2 </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a:t>
            </a:r>
            <a:r>
              <a:rPr lang="en-US" altLang="zh-CN" sz="2400" i="1" baseline="-25000">
                <a:solidFill>
                  <a:srgbClr val="000000"/>
                </a:solidFill>
                <a:latin typeface="Times New Roman" panose="02020603050405020304" pitchFamily="18" charset="0"/>
                <a:ea typeface="黑体" panose="02010609060101010101" pitchFamily="49" charset="-122"/>
                <a:sym typeface="+mn-ea"/>
              </a:rPr>
              <a:t>i</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i="1">
                <a:solidFill>
                  <a:srgbClr val="000000"/>
                </a:solidFill>
                <a:latin typeface="Times New Roman" panose="02020603050405020304" pitchFamily="18" charset="0"/>
                <a:ea typeface="黑体" panose="02010609060101010101" pitchFamily="49" charset="-122"/>
                <a:sym typeface="+mn-ea"/>
              </a:rPr>
              <a:t>=</a:t>
            </a:r>
            <a:endParaRPr lang="en-US" altLang="zh-CN" sz="2400">
              <a:solidFill>
                <a:srgbClr val="000000"/>
              </a:solidFill>
              <a:latin typeface="Times New Roman" panose="02020603050405020304" pitchFamily="18" charset="0"/>
              <a:ea typeface="黑体" panose="02010609060101010101" pitchFamily="49" charset="-122"/>
            </a:endParaRPr>
          </a:p>
          <a:p>
            <a:pPr eaLnBrk="0" fontAlgn="base" hangingPunct="0">
              <a:lnSpc>
                <a:spcPct val="90000"/>
              </a:lnSpc>
              <a:spcBef>
                <a:spcPct val="0"/>
              </a:spcBef>
              <a:spcAft>
                <a:spcPct val="0"/>
              </a:spcAft>
            </a:pPr>
            <a:r>
              <a:rPr lang="en-US" altLang="zh-CN" sz="2400" i="1">
                <a:solidFill>
                  <a:srgbClr val="000000"/>
                </a:solidFill>
                <a:latin typeface="Times New Roman" panose="02020603050405020304" pitchFamily="18" charset="0"/>
                <a:ea typeface="黑体" panose="02010609060101010101" pitchFamily="49" charset="-122"/>
                <a:sym typeface="+mn-ea"/>
              </a:rPr>
              <a:t>    	  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+1 </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endParaRPr lang="en-US" altLang="zh-CN" sz="2400">
              <a:solidFill>
                <a:srgbClr val="000000"/>
              </a:solidFill>
              <a:latin typeface="Times New Roman" panose="02020603050405020304" pitchFamily="18" charset="0"/>
              <a:ea typeface="黑体" panose="02010609060101010101" pitchFamily="49" charset="-122"/>
            </a:endParaRPr>
          </a:p>
          <a:p>
            <a:pPr eaLnBrk="0" fontAlgn="base" hangingPunct="0">
              <a:lnSpc>
                <a:spcPct val="90000"/>
              </a:lnSpc>
              <a:spcBef>
                <a:spcPct val="0"/>
              </a:spcBef>
              <a:spcAft>
                <a:spcPct val="0"/>
              </a:spcAft>
            </a:pPr>
            <a:r>
              <a:rPr lang="en-US" altLang="zh-CN" sz="2400" i="1">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n-i</a:t>
            </a:r>
            <a:r>
              <a:rPr lang="en-US" altLang="zh-CN" sz="2400" baseline="30000">
                <a:solidFill>
                  <a:srgbClr val="000000"/>
                </a:solidFill>
                <a:latin typeface="Times New Roman" panose="02020603050405020304" pitchFamily="18" charset="0"/>
                <a:ea typeface="黑体" panose="02010609060101010101" pitchFamily="49" charset="-122"/>
                <a:sym typeface="+mn-ea"/>
              </a:rPr>
              <a:t> </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 			 	       =</a:t>
            </a:r>
            <a:r>
              <a:rPr lang="en-US" altLang="zh-CN" sz="2400" i="1">
                <a:solidFill>
                  <a:srgbClr val="000000"/>
                </a:solidFill>
                <a:latin typeface="Times New Roman" panose="02020603050405020304" pitchFamily="18" charset="0"/>
                <a:ea typeface="黑体" panose="02010609060101010101" pitchFamily="49" charset="-122"/>
                <a:sym typeface="+mn-ea"/>
              </a:rPr>
              <a:t>q</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p>
          <a:p>
            <a:pPr eaLnBrk="0" fontAlgn="base" hangingPunct="0">
              <a:lnSpc>
                <a:spcPct val="90000"/>
              </a:lnSpc>
              <a:spcBef>
                <a:spcPct val="0"/>
              </a:spcBef>
              <a:spcAft>
                <a:spcPct val="0"/>
              </a:spcAft>
            </a:pPr>
            <a:r>
              <a:rPr lang="zh-CN" altLang="en-US" sz="2400" dirty="0">
                <a:solidFill>
                  <a:srgbClr val="000000"/>
                </a:solidFill>
                <a:latin typeface="黑体" panose="02010609060101010101" pitchFamily="49" charset="-122"/>
                <a:ea typeface="黑体" panose="02010609060101010101" pitchFamily="49" charset="-122"/>
                <a:sym typeface="+mn-ea"/>
              </a:rPr>
              <a:t>其中</a:t>
            </a:r>
            <a:r>
              <a:rPr lang="en-US" altLang="zh-CN" sz="2400" i="1" err="1">
                <a:solidFill>
                  <a:srgbClr val="000000"/>
                </a:solidFill>
                <a:latin typeface="Times New Roman" panose="02020603050405020304" pitchFamily="18" charset="0"/>
                <a:ea typeface="黑体" panose="02010609060101010101" pitchFamily="49" charset="-122"/>
                <a:sym typeface="+mn-ea"/>
              </a:rPr>
              <a:t>q</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n-i</a:t>
            </a:r>
            <a:r>
              <a:rPr lang="en-US" altLang="zh-CN" sz="2400" baseline="30000">
                <a:solidFill>
                  <a:srgbClr val="000000"/>
                </a:solidFill>
                <a:latin typeface="Times New Roman" panose="02020603050405020304" pitchFamily="18" charset="0"/>
                <a:ea typeface="黑体" panose="02010609060101010101" pitchFamily="49" charset="-122"/>
                <a:sym typeface="+mn-ea"/>
              </a:rPr>
              <a:t> </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n-i</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baseline="-25000">
                <a:solidFill>
                  <a:srgbClr val="000000"/>
                </a:solidFill>
                <a:latin typeface="Times New Roman" panose="02020603050405020304" pitchFamily="18" charset="0"/>
                <a:ea typeface="黑体" panose="02010609060101010101" pitchFamily="49" charset="-122"/>
                <a:sym typeface="+mn-ea"/>
              </a:rPr>
              <a:t>n</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9" name="矩形 8"/>
          <p:cNvSpPr/>
          <p:nvPr/>
        </p:nvSpPr>
        <p:spPr>
          <a:xfrm>
            <a:off x="2997201" y="932816"/>
            <a:ext cx="6450965" cy="81343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8" name="文本框 7"/>
          <p:cNvSpPr txBox="1"/>
          <p:nvPr/>
        </p:nvSpPr>
        <p:spPr>
          <a:xfrm>
            <a:off x="3254376" y="1052830"/>
            <a:ext cx="6193155" cy="493148"/>
          </a:xfrm>
          <a:prstGeom prst="rect">
            <a:avLst/>
          </a:prstGeom>
          <a:noFill/>
        </p:spPr>
        <p:txBody>
          <a:bodyPr wrap="square" rtlCol="0" anchor="t">
            <a:spAutoFit/>
          </a:bodyPr>
          <a:lstStyle/>
          <a:p>
            <a:pPr algn="just" eaLnBrk="0" fontAlgn="base" hangingPunct="0">
              <a:lnSpc>
                <a:spcPct val="120000"/>
              </a:lnSpc>
              <a:spcAft>
                <a:spcPct val="0"/>
              </a:spcAft>
              <a:buClr>
                <a:srgbClr val="CCCCFF"/>
              </a:buClr>
              <a:buSzPct val="65000"/>
            </a:pPr>
            <a:r>
              <a:rPr lang="zh-CN" altLang="en-US" sz="2400" b="1" dirty="0">
                <a:solidFill>
                  <a:srgbClr val="000000"/>
                </a:solidFill>
                <a:latin typeface="黑体" panose="02010609060101010101" pitchFamily="49" charset="-122"/>
                <a:ea typeface="黑体" panose="02010609060101010101" pitchFamily="49" charset="-122"/>
                <a:sym typeface="+mn-ea"/>
              </a:rPr>
              <a:t>码字多项式</a:t>
            </a:r>
            <a:r>
              <a:rPr lang="en-US" altLang="zh-CN" sz="2400" b="1" i="1" err="1">
                <a:solidFill>
                  <a:srgbClr val="000000"/>
                </a:solidFill>
                <a:latin typeface="Times New Roman" panose="02020603050405020304" pitchFamily="18" charset="0"/>
                <a:ea typeface="黑体" panose="02010609060101010101" pitchFamily="49" charset="-122"/>
                <a:sym typeface="+mn-ea"/>
              </a:rPr>
              <a:t>v</a:t>
            </a:r>
            <a:r>
              <a:rPr lang="en-US" altLang="zh-CN" sz="2400" b="1"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b="1" i="1" baseline="30000" err="1">
                <a:solidFill>
                  <a:srgbClr val="000000"/>
                </a:solidFill>
                <a:latin typeface="Times New Roman" panose="02020603050405020304" pitchFamily="18" charset="0"/>
                <a:ea typeface="黑体" panose="02010609060101010101" pitchFamily="49" charset="-122"/>
                <a:sym typeface="+mn-ea"/>
              </a:rPr>
              <a:t>i</a:t>
            </a:r>
            <a:r>
              <a:rPr lang="en-US" altLang="zh-CN" sz="2400" b="1"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Times New Roman" panose="02020603050405020304" pitchFamily="18" charset="0"/>
                <a:ea typeface="黑体" panose="02010609060101010101" pitchFamily="49" charset="-122"/>
                <a:sym typeface="+mn-ea"/>
              </a:rPr>
              <a:t>就是</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i="1" baseline="30000">
                <a:solidFill>
                  <a:srgbClr val="000000"/>
                </a:solidFill>
                <a:latin typeface="Times New Roman" panose="02020603050405020304" pitchFamily="18" charset="0"/>
                <a:ea typeface="黑体" panose="02010609060101010101" pitchFamily="49" charset="-122"/>
                <a:sym typeface="+mn-ea"/>
              </a:rPr>
              <a:t>i</a:t>
            </a:r>
            <a:r>
              <a:rPr lang="en-US" altLang="zh-CN" sz="2400" b="1" i="1">
                <a:solidFill>
                  <a:srgbClr val="000000"/>
                </a:solidFill>
                <a:latin typeface="Times New Roman" panose="02020603050405020304" pitchFamily="18" charset="0"/>
                <a:ea typeface="黑体" panose="02010609060101010101" pitchFamily="49" charset="-122"/>
                <a:sym typeface="+mn-ea"/>
              </a:rPr>
              <a:t>v</a:t>
            </a:r>
            <a:r>
              <a:rPr lang="en-US" altLang="zh-CN" sz="2400" b="1" baseline="30000">
                <a:solidFill>
                  <a:srgbClr val="000000"/>
                </a:solidFill>
                <a:latin typeface="Times New Roman" panose="02020603050405020304" pitchFamily="18" charset="0"/>
                <a:ea typeface="黑体" panose="02010609060101010101" pitchFamily="49" charset="-122"/>
                <a:sym typeface="+mn-ea"/>
              </a:rPr>
              <a:t>(0)</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1">
                <a:solidFill>
                  <a:srgbClr val="000000"/>
                </a:solidFill>
                <a:latin typeface="Times New Roman" panose="02020603050405020304" pitchFamily="18" charset="0"/>
                <a:ea typeface="黑体" panose="02010609060101010101" pitchFamily="49" charset="-122"/>
                <a:sym typeface="+mn-ea"/>
              </a:rPr>
              <a:t>+1)</a:t>
            </a:r>
            <a:r>
              <a:rPr lang="zh-CN" altLang="en-US" sz="2400" b="1" dirty="0">
                <a:solidFill>
                  <a:srgbClr val="000000"/>
                </a:solidFill>
                <a:latin typeface="Times New Roman" panose="02020603050405020304" pitchFamily="18" charset="0"/>
                <a:ea typeface="黑体" panose="02010609060101010101" pitchFamily="49" charset="-122"/>
                <a:sym typeface="+mn-ea"/>
              </a:rPr>
              <a:t>的余式。</a:t>
            </a:r>
            <a:endPar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对偶码的生成矩阵</a:t>
            </a:r>
          </a:p>
        </p:txBody>
      </p:sp>
      <p:sp>
        <p:nvSpPr>
          <p:cNvPr id="10" name="矩形 9"/>
          <p:cNvSpPr/>
          <p:nvPr/>
        </p:nvSpPr>
        <p:spPr>
          <a:xfrm>
            <a:off x="1949450" y="1039495"/>
            <a:ext cx="8242300" cy="124968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7" name="文本框 6"/>
          <p:cNvSpPr txBox="1"/>
          <p:nvPr/>
        </p:nvSpPr>
        <p:spPr>
          <a:xfrm>
            <a:off x="2056766" y="1092200"/>
            <a:ext cx="8076565" cy="1000980"/>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b="1" dirty="0">
                <a:solidFill>
                  <a:srgbClr val="FF0000"/>
                </a:solidFill>
                <a:latin typeface="黑体" panose="02010609060101010101" pitchFamily="49" charset="-122"/>
                <a:ea typeface="黑体" panose="02010609060101010101" pitchFamily="49" charset="-122"/>
                <a:sym typeface="+mn-ea"/>
              </a:rPr>
              <a:t>定理：</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n</a:t>
            </a:r>
            <a:r>
              <a:rPr lang="en-US" altLang="zh-CN" sz="2400" b="1" err="1">
                <a:solidFill>
                  <a:srgbClr val="000000"/>
                </a:solidFill>
                <a:latin typeface="Times New Roman" panose="02020603050405020304" pitchFamily="18" charset="0"/>
                <a:ea typeface="黑体" panose="02010609060101010101" pitchFamily="49" charset="-122"/>
                <a:sym typeface="+mn-ea"/>
              </a:rPr>
              <a:t>, </a:t>
            </a:r>
            <a:r>
              <a:rPr lang="en-US" altLang="zh-CN" sz="2400" b="1" i="1" err="1">
                <a:solidFill>
                  <a:srgbClr val="000000"/>
                </a:solidFill>
                <a:latin typeface="Times New Roman" panose="02020603050405020304" pitchFamily="18" charset="0"/>
                <a:ea typeface="黑体" panose="02010609060101010101" pitchFamily="49" charset="-122"/>
                <a:sym typeface="+mn-ea"/>
              </a:rPr>
              <a:t>k</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黑体" panose="02010609060101010101" pitchFamily="49" charset="-122"/>
                <a:ea typeface="黑体" panose="02010609060101010101" pitchFamily="49" charset="-122"/>
                <a:sym typeface="+mn-ea"/>
              </a:rPr>
              <a:t>循环码</a:t>
            </a:r>
            <a:r>
              <a:rPr lang="en-US" altLang="zh-CN" sz="2400" b="1" i="1">
                <a:solidFill>
                  <a:srgbClr val="000000"/>
                </a:solidFill>
                <a:latin typeface="Times New Roman" panose="02020603050405020304" pitchFamily="18" charset="0"/>
                <a:ea typeface="黑体" panose="02010609060101010101" pitchFamily="49" charset="-122"/>
                <a:sym typeface="+mn-ea"/>
              </a:rPr>
              <a:t>C</a:t>
            </a:r>
            <a:r>
              <a:rPr lang="zh-CN" altLang="en-US" sz="2400" b="1" dirty="0">
                <a:solidFill>
                  <a:srgbClr val="000000"/>
                </a:solidFill>
                <a:latin typeface="Times New Roman" panose="02020603050405020304" pitchFamily="18" charset="0"/>
                <a:ea typeface="黑体" panose="02010609060101010101" pitchFamily="49" charset="-122"/>
                <a:sym typeface="+mn-ea"/>
              </a:rPr>
              <a:t>的生成多项式为</a:t>
            </a:r>
            <a:r>
              <a:rPr lang="en-US" altLang="zh-CN" sz="2400" b="1" i="1" err="1">
                <a:solidFill>
                  <a:srgbClr val="000000"/>
                </a:solidFill>
                <a:latin typeface="Times New Roman" panose="02020603050405020304" pitchFamily="18" charset="0"/>
                <a:ea typeface="黑体" panose="02010609060101010101" pitchFamily="49" charset="-122"/>
                <a:sym typeface="+mn-ea"/>
              </a:rPr>
              <a:t>g</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 </a:t>
            </a:r>
            <a:r>
              <a:rPr lang="zh-CN" altLang="en-US" sz="2400" b="1" dirty="0">
                <a:solidFill>
                  <a:srgbClr val="000000"/>
                </a:solidFill>
                <a:latin typeface="Times New Roman" panose="02020603050405020304" pitchFamily="18" charset="0"/>
                <a:ea typeface="黑体" panose="02010609060101010101" pitchFamily="49" charset="-122"/>
                <a:sym typeface="+mn-ea"/>
              </a:rPr>
              <a:t>则</a:t>
            </a:r>
            <a:r>
              <a:rPr lang="en-US" altLang="zh-CN" sz="2400" b="1" i="1">
                <a:solidFill>
                  <a:srgbClr val="000000"/>
                </a:solidFill>
                <a:latin typeface="Times New Roman" panose="02020603050405020304" pitchFamily="18" charset="0"/>
                <a:ea typeface="黑体" panose="02010609060101010101" pitchFamily="49" charset="-122"/>
                <a:sym typeface="+mn-ea"/>
              </a:rPr>
              <a:t>C</a:t>
            </a:r>
            <a:r>
              <a:rPr lang="zh-CN" altLang="en-US" sz="2400" b="1" dirty="0">
                <a:solidFill>
                  <a:srgbClr val="000000"/>
                </a:solidFill>
                <a:latin typeface="Times New Roman" panose="02020603050405020304" pitchFamily="18" charset="0"/>
                <a:ea typeface="黑体" panose="02010609060101010101" pitchFamily="49" charset="-122"/>
                <a:sym typeface="+mn-ea"/>
              </a:rPr>
              <a:t>的对偶码</a:t>
            </a:r>
            <a:r>
              <a:rPr lang="en-US" altLang="zh-CN" sz="2400" b="1" i="1" err="1">
                <a:solidFill>
                  <a:srgbClr val="000000"/>
                </a:solidFill>
                <a:latin typeface="Times New Roman" panose="02020603050405020304" pitchFamily="18" charset="0"/>
                <a:ea typeface="黑体" panose="02010609060101010101" pitchFamily="49" charset="-122"/>
                <a:sym typeface="+mn-ea"/>
              </a:rPr>
              <a:t>C</a:t>
            </a:r>
            <a:r>
              <a:rPr lang="en-US" altLang="zh-CN" sz="2400" b="1" i="1" baseline="-25000" err="1">
                <a:solidFill>
                  <a:srgbClr val="000000"/>
                </a:solidFill>
                <a:latin typeface="Times New Roman" panose="02020603050405020304" pitchFamily="18" charset="0"/>
                <a:ea typeface="黑体" panose="02010609060101010101" pitchFamily="49" charset="-122"/>
                <a:sym typeface="+mn-ea"/>
              </a:rPr>
              <a:t>d</a:t>
            </a:r>
            <a:r>
              <a:rPr lang="zh-CN" altLang="en-US" sz="2400" b="1" dirty="0">
                <a:solidFill>
                  <a:srgbClr val="000000"/>
                </a:solidFill>
                <a:latin typeface="Times New Roman" panose="02020603050405020304" pitchFamily="18" charset="0"/>
                <a:ea typeface="黑体" panose="02010609060101010101" pitchFamily="49" charset="-122"/>
                <a:sym typeface="+mn-ea"/>
              </a:rPr>
              <a:t>也是</a:t>
            </a:r>
            <a:r>
              <a:rPr lang="zh-CN" altLang="en-US" sz="2400" b="1" dirty="0">
                <a:solidFill>
                  <a:srgbClr val="000000"/>
                </a:solidFill>
                <a:latin typeface="黑体" panose="02010609060101010101" pitchFamily="49" charset="-122"/>
                <a:ea typeface="黑体" panose="02010609060101010101" pitchFamily="49" charset="-122"/>
                <a:sym typeface="+mn-ea"/>
              </a:rPr>
              <a:t>循环码，且由</a:t>
            </a:r>
            <a:r>
              <a:rPr lang="zh-CN" altLang="en-US" sz="2400" b="1" dirty="0">
                <a:solidFill>
                  <a:srgbClr val="000000"/>
                </a:solidFill>
                <a:latin typeface="Times New Roman" panose="02020603050405020304" pitchFamily="18" charset="0"/>
                <a:ea typeface="黑体" panose="02010609060101010101" pitchFamily="49" charset="-122"/>
                <a:sym typeface="+mn-ea"/>
              </a:rPr>
              <a:t>多项式</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i="1" baseline="30000">
                <a:solidFill>
                  <a:srgbClr val="000000"/>
                </a:solidFill>
                <a:latin typeface="Times New Roman" panose="02020603050405020304" pitchFamily="18" charset="0"/>
                <a:ea typeface="黑体" panose="02010609060101010101" pitchFamily="49" charset="-122"/>
                <a:sym typeface="+mn-ea"/>
              </a:rPr>
              <a:t>k</a:t>
            </a:r>
            <a:r>
              <a:rPr lang="en-US" altLang="zh-CN" sz="2400" b="1" i="1">
                <a:solidFill>
                  <a:srgbClr val="000000"/>
                </a:solidFill>
                <a:latin typeface="Times New Roman" panose="02020603050405020304" pitchFamily="18" charset="0"/>
                <a:ea typeface="黑体" panose="02010609060101010101" pitchFamily="49" charset="-122"/>
                <a:sym typeface="+mn-ea"/>
              </a:rPr>
              <a:t>h</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baseline="30000">
                <a:solidFill>
                  <a:srgbClr val="000000"/>
                </a:solidFill>
                <a:latin typeface="Times New Roman" panose="02020603050405020304" pitchFamily="18" charset="0"/>
                <a:ea typeface="黑体" panose="02010609060101010101" pitchFamily="49" charset="-122"/>
                <a:sym typeface="+mn-ea"/>
              </a:rPr>
              <a:t>-1</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Times New Roman" panose="02020603050405020304" pitchFamily="18" charset="0"/>
                <a:ea typeface="黑体" panose="02010609060101010101" pitchFamily="49" charset="-122"/>
                <a:sym typeface="+mn-ea"/>
              </a:rPr>
              <a:t>生成，且</a:t>
            </a:r>
            <a:r>
              <a:rPr lang="en-US" altLang="zh-CN" sz="2400" b="1" i="1" err="1">
                <a:solidFill>
                  <a:srgbClr val="000000"/>
                </a:solidFill>
                <a:latin typeface="Times New Roman" panose="02020603050405020304" pitchFamily="18" charset="0"/>
                <a:ea typeface="黑体" panose="02010609060101010101" pitchFamily="49" charset="-122"/>
                <a:sym typeface="+mn-ea"/>
              </a:rPr>
              <a:t>h</a:t>
            </a:r>
            <a:r>
              <a:rPr lang="en-US" altLang="zh-CN" sz="2400" b="1" err="1">
                <a:solidFill>
                  <a:srgbClr val="000000"/>
                </a:solidFill>
                <a:latin typeface="Times New Roman" panose="02020603050405020304" pitchFamily="18" charset="0"/>
                <a:ea typeface="黑体" panose="02010609060101010101" pitchFamily="49" charset="-122"/>
                <a:sym typeface="+mn-ea"/>
              </a:rPr>
              <a:t>(</a:t>
            </a:r>
            <a:r>
              <a:rPr lang="en-US" altLang="zh-CN" sz="2400" b="1" i="1" err="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)=(1+</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g</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en-US" altLang="zh-CN" sz="2400" b="1" i="1">
                <a:solidFill>
                  <a:srgbClr val="000000"/>
                </a:solidFill>
                <a:latin typeface="Times New Roman" panose="02020603050405020304" pitchFamily="18" charset="0"/>
                <a:ea typeface="黑体" panose="02010609060101010101" pitchFamily="49" charset="-122"/>
                <a:sym typeface="+mn-ea"/>
              </a:rPr>
              <a:t>x</a:t>
            </a:r>
            <a:r>
              <a:rPr lang="en-US" altLang="zh-CN" sz="2400" b="1">
                <a:solidFill>
                  <a:srgbClr val="000000"/>
                </a:solidFill>
                <a:latin typeface="Times New Roman" panose="02020603050405020304" pitchFamily="18" charset="0"/>
                <a:ea typeface="黑体" panose="02010609060101010101" pitchFamily="49" charset="-122"/>
                <a:sym typeface="+mn-ea"/>
              </a:rPr>
              <a:t>)</a:t>
            </a:r>
            <a:r>
              <a:rPr lang="zh-CN" altLang="en-US" sz="2400" b="1" dirty="0">
                <a:solidFill>
                  <a:srgbClr val="000000"/>
                </a:solidFill>
                <a:latin typeface="Times New Roman" panose="02020603050405020304" pitchFamily="18" charset="0"/>
                <a:ea typeface="黑体" panose="02010609060101010101" pitchFamily="49" charset="-122"/>
                <a:sym typeface="+mn-ea"/>
              </a:rPr>
              <a:t>。</a:t>
            </a:r>
            <a:endParaRPr lang="zh-CN" altLang="en-US" sz="2400" b="1" dirty="0">
              <a:solidFill>
                <a:srgbClr val="000000"/>
              </a:solidFill>
              <a:latin typeface="黑体" panose="02010609060101010101" pitchFamily="49" charset="-122"/>
              <a:ea typeface="黑体" panose="02010609060101010101" pitchFamily="49" charset="-122"/>
              <a:sym typeface="+mn-ea"/>
            </a:endParaRPr>
          </a:p>
        </p:txBody>
      </p:sp>
      <p:sp>
        <p:nvSpPr>
          <p:cNvPr id="8" name="文本框 7"/>
          <p:cNvSpPr txBox="1"/>
          <p:nvPr/>
        </p:nvSpPr>
        <p:spPr>
          <a:xfrm>
            <a:off x="1779270" y="2576831"/>
            <a:ext cx="8675370" cy="1453411"/>
          </a:xfrm>
          <a:prstGeom prst="rect">
            <a:avLst/>
          </a:prstGeom>
          <a:noFill/>
        </p:spPr>
        <p:txBody>
          <a:bodyPr wrap="square" rtlCol="0" anchor="t">
            <a:spAutoFit/>
          </a:bodyPr>
          <a:lstStyle/>
          <a:p>
            <a:pPr eaLnBrk="0" fontAlgn="base" hangingPunct="0">
              <a:lnSpc>
                <a:spcPct val="200000"/>
              </a:lnSpc>
              <a:spcBef>
                <a:spcPct val="0"/>
              </a:spcBef>
              <a:spcAft>
                <a:spcPct val="0"/>
              </a:spcAft>
            </a:pPr>
            <a:r>
              <a:rPr lang="zh-CN" altLang="en-US" sz="2400" b="1" dirty="0">
                <a:solidFill>
                  <a:srgbClr val="00B050"/>
                </a:solidFill>
                <a:latin typeface="黑体" panose="02010609060101010101" pitchFamily="49" charset="-122"/>
                <a:ea typeface="黑体" panose="02010609060101010101" pitchFamily="49" charset="-122"/>
                <a:sym typeface="+mn-ea"/>
              </a:rPr>
              <a:t>证明提示：</a:t>
            </a:r>
            <a:r>
              <a:rPr lang="zh-CN" altLang="en-US" sz="2400">
                <a:solidFill>
                  <a:srgbClr val="000000"/>
                </a:solidFill>
                <a:latin typeface="Arial" panose="020B0604020202020204" pitchFamily="34" charset="0"/>
                <a:ea typeface="宋体" panose="02010600030101010101" pitchFamily="2" charset="-122"/>
                <a:sym typeface="+mn-ea"/>
              </a:rPr>
              <a:t>因为</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是</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的生成多项式</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a:solidFill>
                  <a:srgbClr val="000000"/>
                </a:solidFill>
                <a:latin typeface="Arial" panose="020B0604020202020204" pitchFamily="34" charset="0"/>
                <a:ea typeface="宋体" panose="02010600030101010101" pitchFamily="2" charset="-122"/>
                <a:sym typeface="+mn-ea"/>
              </a:rPr>
              <a:t>所以</a:t>
            </a:r>
            <a:r>
              <a:rPr lang="en-US" altLang="zh-CN" sz="2400" i="1" err="1">
                <a:solidFill>
                  <a:srgbClr val="000000"/>
                </a:solidFill>
                <a:latin typeface="Times New Roman" panose="02020603050405020304" pitchFamily="18" charset="0"/>
                <a:ea typeface="黑体" panose="02010609060101010101" pitchFamily="49" charset="-122"/>
                <a:sym typeface="+mn-ea"/>
              </a:rPr>
              <a:t>h</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。故有</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 </a:t>
            </a:r>
            <a:r>
              <a:rPr lang="zh-CN" altLang="en-US" sz="2400" dirty="0">
                <a:solidFill>
                  <a:srgbClr val="000000"/>
                </a:solidFill>
                <a:latin typeface="Times New Roman" panose="02020603050405020304" pitchFamily="18" charset="0"/>
                <a:ea typeface="黑体" panose="02010609060101010101" pitchFamily="49" charset="-122"/>
                <a:sym typeface="+mn-ea"/>
              </a:rPr>
              <a:t>即</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n-k</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因此</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有</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en-US" altLang="zh-CN" sz="2400" i="1">
                <a:solidFill>
                  <a:srgbClr val="000000"/>
                </a:solidFill>
                <a:latin typeface="Times New Roman" panose="02020603050405020304" pitchFamily="18" charset="0"/>
                <a:ea typeface="黑体" panose="02010609060101010101" pitchFamily="49" charset="-122"/>
                <a:sym typeface="+mn-ea"/>
              </a:rPr>
              <a:t>h</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1701166" y="2819400"/>
            <a:ext cx="8738235" cy="685800"/>
          </a:xfrm>
        </p:spPr>
        <p:txBody>
          <a:bodyPr vert="horz" wrap="square" lIns="91440" tIns="45720" rIns="91440" bIns="45720" anchor="ctr"/>
          <a:lstStyle>
            <a:lvl1pPr lvl="0">
              <a:defRPr kern="1200"/>
            </a:lvl1pPr>
          </a:lstStyle>
          <a:p>
            <a:pPr lvl="0" algn="ctr" eaLnBrk="1" hangingPunct="1"/>
            <a:r>
              <a:rPr lang="zh-CN" altLang="en-US" sz="3600" dirty="0">
                <a:solidFill>
                  <a:schemeClr val="bg1"/>
                </a:solidFill>
                <a:latin typeface="黑体" panose="02010609060101010101" pitchFamily="49" charset="-122"/>
                <a:ea typeface="黑体" panose="02010609060101010101" pitchFamily="49" charset="-122"/>
                <a:sym typeface="+mn-ea"/>
              </a:rPr>
              <a:t>第五章 </a:t>
            </a:r>
            <a:r>
              <a:rPr lang="en-US" altLang="zh-CN" sz="3600" dirty="0">
                <a:solidFill>
                  <a:schemeClr val="bg1"/>
                </a:solidFill>
                <a:latin typeface="黑体" panose="02010609060101010101" pitchFamily="49" charset="-122"/>
                <a:ea typeface="黑体" panose="02010609060101010101" pitchFamily="49" charset="-122"/>
                <a:sym typeface="+mn-ea"/>
              </a:rPr>
              <a:t> </a:t>
            </a:r>
            <a:r>
              <a:rPr lang="zh-CN" altLang="en-US" sz="3600" dirty="0">
                <a:solidFill>
                  <a:schemeClr val="bg1"/>
                </a:solidFill>
                <a:latin typeface="黑体" panose="02010609060101010101" pitchFamily="49" charset="-122"/>
                <a:ea typeface="黑体" panose="02010609060101010101" pitchFamily="49" charset="-122"/>
                <a:sym typeface="+mn-ea"/>
              </a:rPr>
              <a:t>卷积码</a:t>
            </a:r>
            <a:endParaRPr lang="en-US" altLang="zh-CN" sz="3600" dirty="0">
              <a:solidFill>
                <a:schemeClr val="bg1"/>
              </a:solidFill>
              <a:latin typeface="黑体" panose="02010609060101010101" pitchFamily="49" charset="-122"/>
              <a:ea typeface="黑体" panose="02010609060101010101" pitchFamily="49" charset="-122"/>
              <a:sym typeface="+mn-ea"/>
            </a:endParaRPr>
          </a:p>
        </p:txBody>
      </p:sp>
      <p:sp>
        <p:nvSpPr>
          <p:cNvPr id="2" name="文本框 1"/>
          <p:cNvSpPr txBox="1"/>
          <p:nvPr/>
        </p:nvSpPr>
        <p:spPr>
          <a:xfrm>
            <a:off x="3829686" y="3879851"/>
            <a:ext cx="4815205" cy="1731243"/>
          </a:xfrm>
          <a:prstGeom prst="rect">
            <a:avLst/>
          </a:prstGeom>
          <a:noFill/>
        </p:spPr>
        <p:txBody>
          <a:bodyPr wrap="square" rtlCol="0">
            <a:spAutoFit/>
          </a:bodyPr>
          <a:lstStyle/>
          <a:p>
            <a:pPr eaLnBrk="0" fontAlgn="base" hangingPunct="0">
              <a:lnSpc>
                <a:spcPts val="4500"/>
              </a:lnSpc>
              <a:spcBef>
                <a:spcPct val="0"/>
              </a:spcBef>
              <a:spcAft>
                <a:spcPct val="0"/>
              </a:spcAft>
            </a:pPr>
            <a:r>
              <a:rPr lang="zh-CN" altLang="en-US" sz="28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李丽香，彭海朋</a:t>
            </a:r>
            <a:endPar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endParaRPr>
          </a:p>
          <a:p>
            <a:pPr eaLnBrk="0" fontAlgn="base" hangingPunct="0">
              <a:lnSpc>
                <a:spcPts val="4500"/>
              </a:lnSpc>
              <a:spcBef>
                <a:spcPct val="0"/>
              </a:spcBef>
              <a:spcAft>
                <a:spcPct val="0"/>
              </a:spcAft>
            </a:pPr>
            <a:r>
              <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北京邮电大学网络空间安全学院</a:t>
            </a:r>
          </a:p>
          <a:p>
            <a:pPr eaLnBrk="0" fontAlgn="base" hangingPunct="0">
              <a:lnSpc>
                <a:spcPts val="4500"/>
              </a:lnSpc>
              <a:spcBef>
                <a:spcPct val="0"/>
              </a:spcBef>
              <a:spcAft>
                <a:spcPct val="0"/>
              </a:spcAft>
            </a:pPr>
            <a:r>
              <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网络与交换技术国家重点实验室</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59296" y="104775"/>
            <a:ext cx="334200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卷积码的发展历史</a:t>
            </a:r>
          </a:p>
        </p:txBody>
      </p:sp>
      <p:sp>
        <p:nvSpPr>
          <p:cNvPr id="5122" name="文本占位符 120834"/>
          <p:cNvSpPr>
            <a:spLocks noGrp="1" noRot="1"/>
          </p:cNvSpPr>
          <p:nvPr>
            <p:ph idx="1"/>
          </p:nvPr>
        </p:nvSpPr>
        <p:spPr>
          <a:xfrm>
            <a:off x="2001520" y="5300346"/>
            <a:ext cx="8271510" cy="869315"/>
          </a:xfrm>
        </p:spPr>
        <p:txBody>
          <a:bodyPr anchor="t" anchorCtr="0"/>
          <a:lstStyle/>
          <a:p>
            <a:pPr marL="0" indent="508000">
              <a:lnSpc>
                <a:spcPct val="120000"/>
              </a:lnSpc>
              <a:spcBef>
                <a:spcPts val="0"/>
              </a:spcBef>
              <a:spcAft>
                <a:spcPts val="0"/>
              </a:spcAft>
              <a:buNone/>
              <a:extLst>
                <a:ext uri="{35155182-B16C-46BC-9424-99874614C6A1}">
                  <wpsdc:indentchars xmlns="" xmlns:wpsdc="http://www.wps.cn/officeDocument/2017/drawingmlCustomData" val="200" checksum="282533468"/>
                </a:ext>
              </a:extLst>
            </a:pPr>
            <a:r>
              <a:rPr lang="zh-CN" altLang="en-US" sz="2000" b="1">
                <a:latin typeface="楷体" panose="02010609060101010101" charset="-122"/>
                <a:ea typeface="楷体" panose="02010609060101010101" charset="-122"/>
                <a:cs typeface="Times New Roman" panose="02020603050405020304" pitchFamily="18" charset="0"/>
                <a:sym typeface="+mn-ea"/>
              </a:rPr>
              <a:t>现实中两个真理之间的最短路径要经过复杂的中间过程</a:t>
            </a:r>
            <a:r>
              <a:rPr lang="zh-CN" altLang="en-US" sz="2000" b="1">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a:latin typeface="Times New Roman" panose="02020603050405020304" pitchFamily="18" charset="0"/>
                <a:ea typeface="黑体" panose="02010609060101010101" pitchFamily="49" charset="-122"/>
                <a:cs typeface="Times New Roman" panose="02020603050405020304" pitchFamily="18" charset="0"/>
                <a:sym typeface="+mn-ea"/>
              </a:rPr>
              <a:t>————Jacques Hadamard (1865—1963)</a:t>
            </a:r>
          </a:p>
        </p:txBody>
      </p:sp>
      <p:sp>
        <p:nvSpPr>
          <p:cNvPr id="5" name="文本框 4"/>
          <p:cNvSpPr txBox="1"/>
          <p:nvPr/>
        </p:nvSpPr>
        <p:spPr>
          <a:xfrm>
            <a:off x="1901825" y="975360"/>
            <a:ext cx="8426450" cy="3289300"/>
          </a:xfrm>
          <a:prstGeom prst="rect">
            <a:avLst/>
          </a:prstGeom>
          <a:noFill/>
        </p:spPr>
        <p:txBody>
          <a:bodyPr wrap="square" rtlCol="0" anchor="t">
            <a:spAutoFit/>
          </a:bodyPr>
          <a:lstStyle/>
          <a:p>
            <a:pPr algn="just" eaLnBrk="0" fontAlgn="base" hangingPunct="0">
              <a:lnSpc>
                <a:spcPct val="130000"/>
              </a:lnSpc>
              <a:spcBef>
                <a:spcPct val="0"/>
              </a:spcBef>
              <a:spcAft>
                <a:spcPct val="0"/>
              </a:spcAft>
            </a:pPr>
            <a:r>
              <a:rPr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1955年，埃利斯(P. Elias)首次提出卷积码的概念</a:t>
            </a:r>
          </a:p>
          <a:p>
            <a:pPr algn="just" eaLnBrk="0" fontAlgn="base" hangingPunct="0">
              <a:lnSpc>
                <a:spcPct val="130000"/>
              </a:lnSpc>
              <a:spcBef>
                <a:spcPct val="0"/>
              </a:spcBef>
              <a:spcAft>
                <a:spcPct val="0"/>
              </a:spcAft>
            </a:pPr>
            <a:r>
              <a:rPr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1957年，J. M. Wozencraft提出卷积码的序列译码算法</a:t>
            </a:r>
          </a:p>
          <a:p>
            <a:pPr algn="just" eaLnBrk="0" fontAlgn="base" hangingPunct="0">
              <a:lnSpc>
                <a:spcPct val="130000"/>
              </a:lnSpc>
              <a:spcBef>
                <a:spcPct val="0"/>
              </a:spcBef>
              <a:spcAft>
                <a:spcPct val="0"/>
              </a:spcAft>
            </a:pPr>
            <a:r>
              <a:rPr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1963年，J. L. Massey提出较易实现的门限译码算法</a:t>
            </a:r>
          </a:p>
          <a:p>
            <a:pPr algn="just" eaLnBrk="0" fontAlgn="base" hangingPunct="0">
              <a:lnSpc>
                <a:spcPct val="130000"/>
              </a:lnSpc>
              <a:spcBef>
                <a:spcPct val="0"/>
              </a:spcBef>
              <a:spcAft>
                <a:spcPct val="0"/>
              </a:spcAft>
            </a:pPr>
            <a:r>
              <a:rPr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1967年，A. J. Viterbi提出卷积码的一种最大似然译码算法</a:t>
            </a:r>
          </a:p>
          <a:p>
            <a:pPr algn="just" eaLnBrk="0" fontAlgn="base" hangingPunct="0">
              <a:lnSpc>
                <a:spcPct val="130000"/>
              </a:lnSpc>
              <a:spcBef>
                <a:spcPct val="0"/>
              </a:spcBef>
              <a:spcAft>
                <a:spcPct val="0"/>
              </a:spcAft>
            </a:pPr>
            <a:r>
              <a:rPr sz="24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卷积码在深空通信、卫星通信、移动通讯等领域得到了应用</a:t>
            </a:r>
          </a:p>
          <a:p>
            <a:pPr algn="just" eaLnBrk="0" fontAlgn="base" hangingPunct="0">
              <a:lnSpc>
                <a:spcPct val="130000"/>
              </a:lnSpc>
              <a:spcBef>
                <a:spcPct val="0"/>
              </a:spcBef>
              <a:spcAft>
                <a:spcPct val="0"/>
              </a:spcAft>
            </a:pPr>
            <a:endParaRPr lang="zh-CN" altLang="en-US" sz="20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algn="just" eaLnBrk="0" fontAlgn="base" hangingPunct="0">
              <a:lnSpc>
                <a:spcPct val="130000"/>
              </a:lnSpc>
              <a:spcBef>
                <a:spcPct val="0"/>
              </a:spcBef>
              <a:spcAft>
                <a:spcPct val="0"/>
              </a:spcAft>
            </a:pPr>
            <a:endParaRPr lang="en-US" altLang="zh-CN" sz="20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41646" y="104775"/>
            <a:ext cx="485965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卷积码与分组码的区别</a:t>
            </a:r>
          </a:p>
        </p:txBody>
      </p:sp>
      <p:sp>
        <p:nvSpPr>
          <p:cNvPr id="5122" name="文本占位符 120834"/>
          <p:cNvSpPr>
            <a:spLocks noGrp="1" noRot="1"/>
          </p:cNvSpPr>
          <p:nvPr>
            <p:ph idx="1"/>
          </p:nvPr>
        </p:nvSpPr>
        <p:spPr>
          <a:xfrm>
            <a:off x="2001520" y="5300346"/>
            <a:ext cx="8271510" cy="869315"/>
          </a:xfrm>
        </p:spPr>
        <p:txBody>
          <a:bodyPr anchor="t" anchorCtr="0"/>
          <a:lstStyle/>
          <a:p>
            <a:pPr marL="0" indent="508000">
              <a:lnSpc>
                <a:spcPct val="120000"/>
              </a:lnSpc>
              <a:spcBef>
                <a:spcPts val="0"/>
              </a:spcBef>
              <a:spcAft>
                <a:spcPts val="0"/>
              </a:spcAft>
              <a:buNone/>
              <a:extLst>
                <a:ext uri="{35155182-B16C-46BC-9424-99874614C6A1}">
                  <wpsdc:indentchars xmlns="" xmlns:wpsdc="http://www.wps.cn/officeDocument/2017/drawingmlCustomData" val="200" checksum="282533468"/>
                </a:ext>
              </a:extLst>
            </a:pPr>
            <a:r>
              <a:rPr lang="zh-CN" altLang="en-US" sz="2000" b="1">
                <a:latin typeface="楷体" panose="02010609060101010101" charset="-122"/>
                <a:ea typeface="楷体" panose="02010609060101010101" charset="-122"/>
                <a:cs typeface="Times New Roman" panose="02020603050405020304" pitchFamily="18" charset="0"/>
                <a:sym typeface="+mn-ea"/>
              </a:rPr>
              <a:t>现实中两个真理之间的最短路径要经过复杂的中间过程</a:t>
            </a:r>
            <a:r>
              <a:rPr lang="zh-CN" altLang="en-US" sz="2000" b="1">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a:latin typeface="Times New Roman" panose="02020603050405020304" pitchFamily="18" charset="0"/>
                <a:ea typeface="黑体" panose="02010609060101010101" pitchFamily="49" charset="-122"/>
                <a:cs typeface="Times New Roman" panose="02020603050405020304" pitchFamily="18" charset="0"/>
                <a:sym typeface="+mn-ea"/>
              </a:rPr>
              <a:t>————Jacques Hadamard (1865—1963)</a:t>
            </a:r>
          </a:p>
        </p:txBody>
      </p:sp>
      <p:sp>
        <p:nvSpPr>
          <p:cNvPr id="5" name="文本框 4"/>
          <p:cNvSpPr txBox="1"/>
          <p:nvPr/>
        </p:nvSpPr>
        <p:spPr>
          <a:xfrm>
            <a:off x="1901826" y="975360"/>
            <a:ext cx="8316595" cy="3928110"/>
          </a:xfrm>
          <a:prstGeom prst="rect">
            <a:avLst/>
          </a:prstGeom>
          <a:noFill/>
        </p:spPr>
        <p:txBody>
          <a:bodyPr wrap="square" rtlCol="0" anchor="t">
            <a:spAutoFit/>
          </a:bodyPr>
          <a:lstStyle/>
          <a:p>
            <a:pPr marL="342900" indent="-342900" algn="just" eaLnBrk="0" fontAlgn="base" hangingPunct="0">
              <a:lnSpc>
                <a:spcPct val="130000"/>
              </a:lnSpc>
              <a:spcBef>
                <a:spcPct val="0"/>
              </a:spcBef>
              <a:spcAft>
                <a:spcPct val="0"/>
              </a:spcAft>
              <a:buFont typeface="Wingdings" panose="05000000000000000000" charset="0"/>
              <a:buChar char="p"/>
            </a:pPr>
            <a:r>
              <a:rPr lang="zh-CN" altLang="en-US" sz="2400">
                <a:solidFill>
                  <a:srgbClr val="000000"/>
                </a:solidFill>
                <a:latin typeface="黑体" panose="02010609060101010101" pitchFamily="49" charset="-122"/>
                <a:ea typeface="黑体" panose="02010609060101010101" pitchFamily="49" charset="-122"/>
                <a:cs typeface="黑体" panose="02010609060101010101" pitchFamily="49" charset="-122"/>
                <a:sym typeface="+mn-ea"/>
              </a:rPr>
              <a:t>卷积码有记忆性，分组码无记忆性</a:t>
            </a:r>
          </a:p>
          <a:p>
            <a:pPr marL="342900" indent="-342900" algn="just" eaLnBrk="0" fontAlgn="base" hangingPunct="0">
              <a:lnSpc>
                <a:spcPct val="130000"/>
              </a:lnSpc>
              <a:spcBef>
                <a:spcPct val="0"/>
              </a:spcBef>
              <a:spcAft>
                <a:spcPct val="0"/>
              </a:spcAft>
              <a:buFont typeface="Wingdings" panose="05000000000000000000" charset="0"/>
              <a:buChar char="p"/>
            </a:pP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sym typeface="+mn-ea"/>
              </a:rPr>
              <a:t>卷积码充分利用了各组信息之间的相关性，信息序列不被分段，而是被连续处理</a:t>
            </a:r>
          </a:p>
          <a:p>
            <a:pPr marL="342900" indent="-342900" algn="just" eaLnBrk="0" fontAlgn="base" hangingPunct="0">
              <a:lnSpc>
                <a:spcPct val="130000"/>
              </a:lnSpc>
              <a:spcBef>
                <a:spcPct val="0"/>
              </a:spcBef>
              <a:spcAft>
                <a:spcPct val="0"/>
              </a:spcAft>
              <a:buFont typeface="Wingdings" panose="05000000000000000000" charset="0"/>
              <a:buChar char="p"/>
            </a:pP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sym typeface="+mn-ea"/>
              </a:rPr>
              <a:t>通常，卷积码的</a:t>
            </a:r>
            <a:r>
              <a:rPr lang="en-US" altLang="zh-CN" sz="24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4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k</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比分组码的</a:t>
            </a:r>
            <a:r>
              <a:rPr lang="en-US" altLang="zh-CN" sz="24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和</a:t>
            </a:r>
            <a:r>
              <a:rPr lang="en-US" altLang="zh-CN" sz="24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k</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要</a:t>
            </a: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sym typeface="+mn-ea"/>
              </a:rPr>
              <a:t>小的多</a:t>
            </a:r>
          </a:p>
          <a:p>
            <a:pPr marL="342900" indent="-342900" algn="just" eaLnBrk="0" fontAlgn="base" hangingPunct="0">
              <a:lnSpc>
                <a:spcPct val="130000"/>
              </a:lnSpc>
              <a:spcBef>
                <a:spcPct val="0"/>
              </a:spcBef>
              <a:spcAft>
                <a:spcPct val="0"/>
              </a:spcAft>
              <a:buFont typeface="Wingdings" panose="05000000000000000000" charset="0"/>
              <a:buChar char="p"/>
            </a:pP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sym typeface="+mn-ea"/>
              </a:rPr>
              <a:t>在同样的编码效率下，卷积码的性能优于分组码</a:t>
            </a:r>
            <a:endParaRPr sz="2400">
              <a:solidFill>
                <a:srgbClr val="000000"/>
              </a:solidFill>
              <a:latin typeface="黑体" panose="02010609060101010101" pitchFamily="49" charset="-122"/>
              <a:ea typeface="黑体" panose="02010609060101010101" pitchFamily="49" charset="-122"/>
              <a:cs typeface="黑体" panose="02010609060101010101" pitchFamily="49" charset="-122"/>
              <a:sym typeface="+mn-ea"/>
            </a:endParaRPr>
          </a:p>
          <a:p>
            <a:pPr marL="342900" indent="-342900" algn="just" eaLnBrk="0" fontAlgn="base" hangingPunct="0">
              <a:lnSpc>
                <a:spcPct val="130000"/>
              </a:lnSpc>
              <a:spcBef>
                <a:spcPct val="0"/>
              </a:spcBef>
              <a:spcAft>
                <a:spcPct val="0"/>
              </a:spcAft>
              <a:buFont typeface="Wingdings" panose="05000000000000000000" charset="0"/>
              <a:buChar char="p"/>
            </a:pP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sym typeface="+mn-ea"/>
              </a:rPr>
              <a:t>在相似的纠错能力下，卷积码的实现比分组码简单</a:t>
            </a:r>
            <a:endParaRPr lang="zh-CN" altLang="en-US" sz="2400">
              <a:solidFill>
                <a:srgbClr val="000000"/>
              </a:solidFill>
              <a:latin typeface="黑体" panose="02010609060101010101" pitchFamily="49" charset="-122"/>
              <a:ea typeface="黑体" panose="02010609060101010101" pitchFamily="49" charset="-122"/>
              <a:cs typeface="黑体" panose="02010609060101010101" pitchFamily="49" charset="-122"/>
              <a:sym typeface="+mn-ea"/>
            </a:endParaRPr>
          </a:p>
          <a:p>
            <a:pPr marL="342900" indent="-342900" algn="just" eaLnBrk="0" fontAlgn="base" hangingPunct="0">
              <a:lnSpc>
                <a:spcPct val="130000"/>
              </a:lnSpc>
              <a:spcBef>
                <a:spcPct val="0"/>
              </a:spcBef>
              <a:spcAft>
                <a:spcPct val="0"/>
              </a:spcAft>
              <a:buFont typeface="Wingdings" panose="05000000000000000000" charset="0"/>
              <a:buChar char="p"/>
            </a:pP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sym typeface="+mn-ea"/>
              </a:rPr>
              <a:t>卷积码必须用</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序列逻辑电路</a:t>
            </a: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sym typeface="+mn-ea"/>
              </a:rPr>
              <a:t>来实现，更适用于前向纠错系统；分组码是用</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组合逻辑电路</a:t>
            </a:r>
            <a:r>
              <a:rPr lang="zh-CN" altLang="en-US" sz="2400" dirty="0">
                <a:solidFill>
                  <a:srgbClr val="000000"/>
                </a:solidFill>
                <a:latin typeface="黑体" panose="02010609060101010101" pitchFamily="49" charset="-122"/>
                <a:ea typeface="黑体" panose="02010609060101010101" pitchFamily="49" charset="-122"/>
                <a:cs typeface="黑体" panose="02010609060101010101" pitchFamily="49" charset="-122"/>
                <a:sym typeface="+mn-ea"/>
              </a:rPr>
              <a:t>来实现</a:t>
            </a:r>
            <a:endParaRPr lang="en-US" altLang="zh-CN" sz="2400">
              <a:solidFill>
                <a:srgbClr val="000000"/>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96256" y="104775"/>
            <a:ext cx="4805045"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离散序列的非循环卷积运算</a:t>
            </a:r>
          </a:p>
        </p:txBody>
      </p:sp>
      <p:sp>
        <p:nvSpPr>
          <p:cNvPr id="11" name="内容占位符 2"/>
          <p:cNvSpPr txBox="1"/>
          <p:nvPr/>
        </p:nvSpPr>
        <p:spPr>
          <a:xfrm>
            <a:off x="1787525" y="894715"/>
            <a:ext cx="8530590" cy="135763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12" name="文本框 11"/>
          <p:cNvSpPr txBox="1"/>
          <p:nvPr/>
        </p:nvSpPr>
        <p:spPr>
          <a:xfrm>
            <a:off x="1873885" y="996951"/>
            <a:ext cx="8444230" cy="460375"/>
          </a:xfrm>
          <a:prstGeom prst="rect">
            <a:avLst/>
          </a:prstGeom>
          <a:noFill/>
        </p:spPr>
        <p:txBody>
          <a:bodyPr wrap="square" rtlCol="0" anchor="t">
            <a:spAutoFit/>
          </a:bodyPr>
          <a:lstStyle/>
          <a:p>
            <a:pPr eaLnBrk="0" fontAlgn="base" hangingPunct="0">
              <a:spcBef>
                <a:spcPct val="0"/>
              </a:spcBef>
              <a:spcAft>
                <a:spcPct val="0"/>
              </a:spcAft>
            </a:pPr>
            <a:r>
              <a:rPr lang="zh-CN" altLang="en-US" sz="2400" b="1">
                <a:solidFill>
                  <a:srgbClr val="FF0000"/>
                </a:solidFill>
                <a:latin typeface="黑体" panose="02010609060101010101" pitchFamily="49" charset="-122"/>
                <a:ea typeface="黑体" panose="02010609060101010101" pitchFamily="49" charset="-122"/>
                <a:sym typeface="+mn-ea"/>
              </a:rPr>
              <a:t>定义</a:t>
            </a:r>
            <a:r>
              <a:rPr sz="2400" dirty="0">
                <a:solidFill>
                  <a:srgbClr val="FF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设</a:t>
            </a:r>
            <a:r>
              <a:rPr lang="en-US" altLang="zh-CN" sz="2400" i="1" err="1">
                <a:solidFill>
                  <a:srgbClr val="000000"/>
                </a:solidFill>
                <a:latin typeface="Times New Roman" panose="02020603050405020304" pitchFamily="18" charset="0"/>
                <a:ea typeface="黑体" panose="02010609060101010101" pitchFamily="49" charset="-122"/>
                <a:sym typeface="+mn-ea"/>
              </a:rPr>
              <a:t>f</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和</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是两个序列，则序列</a:t>
            </a:r>
            <a:r>
              <a:rPr lang="en-US" altLang="zh-CN" sz="2400" i="1">
                <a:solidFill>
                  <a:srgbClr val="000000"/>
                </a:solidFill>
                <a:latin typeface="Times New Roman" panose="02020603050405020304" pitchFamily="18" charset="0"/>
                <a:ea typeface="黑体" panose="02010609060101010101" pitchFamily="49" charset="-122"/>
                <a:sym typeface="+mn-ea"/>
              </a:rPr>
              <a:t>f</a:t>
            </a:r>
            <a:r>
              <a:rPr lang="zh-CN" altLang="en-US" sz="2400" dirty="0">
                <a:solidFill>
                  <a:srgbClr val="000000"/>
                </a:solidFill>
                <a:latin typeface="黑体" panose="02010609060101010101" pitchFamily="49" charset="-122"/>
                <a:ea typeface="黑体" panose="02010609060101010101" pitchFamily="49" charset="-122"/>
                <a:sym typeface="+mn-ea"/>
              </a:rPr>
              <a:t>和</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zh-CN" altLang="en-US" sz="2400" dirty="0">
                <a:solidFill>
                  <a:srgbClr val="000000"/>
                </a:solidFill>
                <a:latin typeface="黑体" panose="02010609060101010101" pitchFamily="49" charset="-122"/>
                <a:ea typeface="黑体" panose="02010609060101010101" pitchFamily="49" charset="-122"/>
                <a:sym typeface="+mn-ea"/>
              </a:rPr>
              <a:t>的离散卷积运算为</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10" name="文本框 9"/>
          <p:cNvSpPr txBox="1"/>
          <p:nvPr/>
        </p:nvSpPr>
        <p:spPr>
          <a:xfrm>
            <a:off x="2278380" y="2401571"/>
            <a:ext cx="7993380" cy="460375"/>
          </a:xfrm>
          <a:prstGeom prst="rect">
            <a:avLst/>
          </a:prstGeom>
          <a:noFill/>
        </p:spPr>
        <p:txBody>
          <a:bodyPr wrap="square" rtlCol="0" anchor="t">
            <a:spAutoFit/>
          </a:bodyPr>
          <a:lstStyle/>
          <a:p>
            <a:pPr eaLnBrk="0" fontAlgn="base" hangingPunct="0">
              <a:spcBef>
                <a:spcPct val="0"/>
              </a:spcBef>
              <a:spcAft>
                <a:spcPct val="0"/>
              </a:spcAft>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Arial" panose="020B0604020202020204" pitchFamily="34" charset="0"/>
                <a:ea typeface="黑体" panose="02010609060101010101" pitchFamily="49" charset="-122"/>
                <a:sym typeface="+mn-ea"/>
              </a:rPr>
              <a:t>若</a:t>
            </a:r>
            <a:r>
              <a:rPr lang="en-US" altLang="zh-CN" sz="2400" i="1">
                <a:solidFill>
                  <a:srgbClr val="000000"/>
                </a:solidFill>
                <a:latin typeface="Times New Roman" panose="02020603050405020304" pitchFamily="18" charset="0"/>
                <a:ea typeface="黑体" panose="02010609060101010101" pitchFamily="49" charset="-122"/>
                <a:sym typeface="+mn-ea"/>
              </a:rPr>
              <a:t>f</a:t>
            </a:r>
            <a:r>
              <a:rPr lang="en-US" altLang="zh-CN" sz="2400">
                <a:solidFill>
                  <a:srgbClr val="000000"/>
                </a:solidFill>
                <a:latin typeface="Times New Roman" panose="02020603050405020304" pitchFamily="18" charset="0"/>
                <a:ea typeface="黑体" panose="02010609060101010101" pitchFamily="49" charset="-122"/>
                <a:sym typeface="+mn-ea"/>
              </a:rPr>
              <a:t>=(10011), </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a:solidFill>
                  <a:srgbClr val="000000"/>
                </a:solidFill>
                <a:latin typeface="Times New Roman" panose="02020603050405020304" pitchFamily="18" charset="0"/>
                <a:ea typeface="黑体" panose="02010609060101010101" pitchFamily="49" charset="-122"/>
                <a:sym typeface="+mn-ea"/>
              </a:rPr>
              <a:t>=(111),</a:t>
            </a:r>
            <a:r>
              <a:rPr lang="en-US" altLang="zh-CN" sz="2400">
                <a:solidFill>
                  <a:srgbClr val="000000"/>
                </a:solidFill>
                <a:latin typeface="Arial" panose="020B0604020202020204" pitchFamily="34" charset="0"/>
                <a:ea typeface="黑体" panose="02010609060101010101" pitchFamily="49" charset="-122"/>
                <a:sym typeface="+mn-ea"/>
              </a:rPr>
              <a:t> </a:t>
            </a:r>
            <a:r>
              <a:rPr lang="zh-CN" altLang="en-US" sz="2400" dirty="0">
                <a:solidFill>
                  <a:srgbClr val="000000"/>
                </a:solidFill>
                <a:latin typeface="Arial" panose="020B0604020202020204" pitchFamily="34" charset="0"/>
                <a:ea typeface="黑体" panose="02010609060101010101" pitchFamily="49" charset="-122"/>
                <a:sym typeface="+mn-ea"/>
              </a:rPr>
              <a:t>则</a:t>
            </a:r>
            <a:r>
              <a:rPr lang="en-US" altLang="zh-CN" sz="2400" i="1">
                <a:solidFill>
                  <a:srgbClr val="000000"/>
                </a:solidFill>
                <a:latin typeface="Times New Roman" panose="02020603050405020304" pitchFamily="18" charset="0"/>
                <a:ea typeface="黑体" panose="02010609060101010101" pitchFamily="49" charset="-122"/>
                <a:sym typeface="+mn-ea"/>
              </a:rPr>
              <a:t>f </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zh-CN" altLang="en-US" sz="2400" dirty="0">
                <a:solidFill>
                  <a:srgbClr val="000000"/>
                </a:solidFill>
                <a:latin typeface="Arial" panose="020B0604020202020204" pitchFamily="34" charset="0"/>
                <a:ea typeface="黑体" panose="02010609060101010101" pitchFamily="49" charset="-122"/>
                <a:sym typeface="+mn-ea"/>
              </a:rPr>
              <a:t>的计算过程如下</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4" name="对象 3">
            <a:hlinkClick r:id="" action="ppaction://ole?verb=0"/>
          </p:cNvPr>
          <p:cNvGraphicFramePr>
            <a:graphicFrameLocks noChangeAspect="1"/>
          </p:cNvGraphicFramePr>
          <p:nvPr/>
        </p:nvGraphicFramePr>
        <p:xfrm>
          <a:off x="4404360" y="1534795"/>
          <a:ext cx="3434080" cy="673100"/>
        </p:xfrm>
        <a:graphic>
          <a:graphicData uri="http://schemas.openxmlformats.org/presentationml/2006/ole">
            <mc:AlternateContent xmlns:mc="http://schemas.openxmlformats.org/markup-compatibility/2006">
              <mc:Choice xmlns:v="urn:schemas-microsoft-com:vml" Requires="v">
                <p:oleObj r:id="rId2" imgW="1777365" imgH="342900" progId="Equation.KSEE3">
                  <p:embed/>
                </p:oleObj>
              </mc:Choice>
              <mc:Fallback>
                <p:oleObj r:id="rId2" imgW="1777365" imgH="342900" progId="Equation.KSEE3">
                  <p:embed/>
                  <p:pic>
                    <p:nvPicPr>
                      <p:cNvPr id="4" name="对象 3">
                        <a:hlinkClick r:id="" action="ppaction://ole?verb=0"/>
                      </p:cNvPr>
                      <p:cNvPicPr/>
                      <p:nvPr/>
                    </p:nvPicPr>
                    <p:blipFill>
                      <a:blip r:embed="rId3"/>
                      <a:stretch>
                        <a:fillRect/>
                      </a:stretch>
                    </p:blipFill>
                    <p:spPr>
                      <a:xfrm>
                        <a:off x="4404360" y="1534795"/>
                        <a:ext cx="3434080" cy="673100"/>
                      </a:xfrm>
                      <a:prstGeom prst="rect">
                        <a:avLst/>
                      </a:prstGeom>
                    </p:spPr>
                  </p:pic>
                </p:oleObj>
              </mc:Fallback>
            </mc:AlternateContent>
          </a:graphicData>
        </a:graphic>
      </p:graphicFrame>
      <p:sp>
        <p:nvSpPr>
          <p:cNvPr id="15" name="文本框 14"/>
          <p:cNvSpPr txBox="1"/>
          <p:nvPr/>
        </p:nvSpPr>
        <p:spPr>
          <a:xfrm>
            <a:off x="1844040" y="2952116"/>
            <a:ext cx="3643630" cy="3599815"/>
          </a:xfrm>
          <a:prstGeom prst="rect">
            <a:avLst/>
          </a:prstGeom>
          <a:noFill/>
        </p:spPr>
        <p:txBody>
          <a:bodyPr wrap="square" rtlCol="0" anchor="t">
            <a:spAutoFit/>
          </a:bodyPr>
          <a:lstStyle/>
          <a:p>
            <a:pPr eaLnBrk="0" fontAlgn="base" hangingPunct="0">
              <a:lnSpc>
                <a:spcPct val="90000"/>
              </a:lnSpc>
              <a:spcBef>
                <a:spcPct val="0"/>
              </a:spcBef>
              <a:spcAft>
                <a:spcPct val="0"/>
              </a:spcAft>
              <a:buClr>
                <a:srgbClr val="CCCCFF"/>
              </a:buClr>
              <a:buSzPct val="65000"/>
            </a:pPr>
            <a:r>
              <a:rPr lang="en-US" altLang="zh-CN" sz="2000" i="1">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a:t>
            </a:r>
            <a:r>
              <a:rPr lang="en-US" altLang="zh-CN" sz="2000" i="1">
                <a:solidFill>
                  <a:srgbClr val="000000"/>
                </a:solidFill>
                <a:latin typeface="Times New Roman" panose="02020603050405020304" pitchFamily="18" charset="0"/>
                <a:ea typeface="宋体" panose="02010600030101010101" pitchFamily="2" charset="-122"/>
                <a:sym typeface="+mn-ea"/>
              </a:rPr>
              <a:t>f*g</a:t>
            </a:r>
            <a:r>
              <a:rPr lang="en-US" altLang="zh-CN" sz="2000">
                <a:solidFill>
                  <a:srgbClr val="000000"/>
                </a:solidFill>
                <a:latin typeface="Times New Roman" panose="02020603050405020304" pitchFamily="18" charset="0"/>
                <a:ea typeface="宋体" panose="02010600030101010101" pitchFamily="2" charset="-122"/>
                <a:sym typeface="+mn-ea"/>
              </a:rPr>
              <a:t>)(0)=</a:t>
            </a:r>
            <a:r>
              <a:rPr lang="en-US" altLang="zh-CN" sz="2000">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11001</a:t>
            </a:r>
            <a:endParaRPr lang="en-US" altLang="zh-CN" sz="2000">
              <a:solidFill>
                <a:srgbClr val="000000"/>
              </a:solidFill>
              <a:latin typeface="Times New Roman" panose="02020603050405020304" pitchFamily="18" charset="0"/>
              <a:ea typeface="宋体" panose="02010600030101010101" pitchFamily="2" charset="-122"/>
            </a:endParaRPr>
          </a:p>
          <a:p>
            <a:pPr eaLnBrk="0" fontAlgn="base" hangingPunct="0">
              <a:lnSpc>
                <a:spcPct val="90000"/>
              </a:lnSpc>
              <a:spcBef>
                <a:spcPct val="0"/>
              </a:spcBef>
              <a:spcAft>
                <a:spcPct val="0"/>
              </a:spcAft>
              <a:buClr>
                <a:srgbClr val="CCCCFF"/>
              </a:buClr>
              <a:buSzPct val="65000"/>
            </a:pPr>
            <a:r>
              <a:rPr lang="en-US" altLang="zh-CN" sz="2000" u="sng">
                <a:solidFill>
                  <a:srgbClr val="000000"/>
                </a:solidFill>
                <a:latin typeface="Times New Roman" panose="02020603050405020304" pitchFamily="18" charset="0"/>
                <a:ea typeface="宋体" panose="02010600030101010101" pitchFamily="2" charset="-122"/>
                <a:sym typeface="+mn-ea"/>
              </a:rPr>
              <a:t>	  </a:t>
            </a:r>
            <a:r>
              <a:rPr lang="en-US" altLang="zh-CN" sz="2000" u="sng">
                <a:solidFill>
                  <a:srgbClr val="000000"/>
                </a:solidFill>
                <a:latin typeface="Arial" panose="020B0604020202020204" pitchFamily="34" charset="0"/>
                <a:ea typeface="宋体" panose="02010600030101010101" pitchFamily="2" charset="-122"/>
                <a:sym typeface="+mn-ea"/>
              </a:rPr>
              <a:t>× </a:t>
            </a:r>
            <a:r>
              <a:rPr lang="en-US" altLang="zh-CN" sz="2000" u="sng">
                <a:solidFill>
                  <a:srgbClr val="000000"/>
                </a:solidFill>
                <a:latin typeface="Times New Roman" panose="02020603050405020304" pitchFamily="18" charset="0"/>
                <a:ea typeface="宋体" panose="02010600030101010101" pitchFamily="2" charset="-122"/>
                <a:sym typeface="+mn-ea"/>
              </a:rPr>
              <a:t>             111 </a:t>
            </a:r>
            <a:endParaRPr lang="en-US" altLang="zh-CN" sz="2000" u="sng">
              <a:solidFill>
                <a:srgbClr val="000000"/>
              </a:solidFill>
              <a:latin typeface="Times New Roman" panose="02020603050405020304" pitchFamily="18" charset="0"/>
              <a:ea typeface="宋体" panose="02010600030101010101" pitchFamily="2" charset="-122"/>
            </a:endParaRPr>
          </a:p>
          <a:p>
            <a:pPr eaLnBrk="0" fontAlgn="base" hangingPunct="0">
              <a:lnSpc>
                <a:spcPct val="90000"/>
              </a:lnSpc>
              <a:spcBef>
                <a:spcPct val="0"/>
              </a:spcBef>
              <a:spcAft>
                <a:spcPct val="0"/>
              </a:spcAft>
              <a:buClr>
                <a:srgbClr val="CCCCFF"/>
              </a:buClr>
              <a:buSzPct val="65000"/>
            </a:pPr>
            <a:r>
              <a:rPr lang="en-US" altLang="zh-CN" sz="2000">
                <a:solidFill>
                  <a:srgbClr val="000000"/>
                </a:solidFill>
                <a:latin typeface="Times New Roman" panose="02020603050405020304" pitchFamily="18" charset="0"/>
                <a:ea typeface="宋体" panose="02010600030101010101" pitchFamily="2" charset="-122"/>
                <a:sym typeface="+mn-ea"/>
              </a:rPr>
              <a:t> 	   +	       	   = 1</a:t>
            </a:r>
            <a:endParaRPr lang="en-US" altLang="zh-CN" sz="2000">
              <a:solidFill>
                <a:srgbClr val="000000"/>
              </a:solidFill>
              <a:latin typeface="Times New Roman" panose="02020603050405020304" pitchFamily="18" charset="0"/>
              <a:ea typeface="宋体" panose="02010600030101010101" pitchFamily="2" charset="-122"/>
            </a:endParaRPr>
          </a:p>
          <a:p>
            <a:pPr eaLnBrk="0" fontAlgn="base" hangingPunct="0">
              <a:lnSpc>
                <a:spcPct val="90000"/>
              </a:lnSpc>
              <a:spcBef>
                <a:spcPct val="0"/>
              </a:spcBef>
              <a:spcAft>
                <a:spcPct val="0"/>
              </a:spcAft>
              <a:buClr>
                <a:srgbClr val="CCCCFF"/>
              </a:buClr>
              <a:buSzPct val="65000"/>
            </a:pPr>
            <a:r>
              <a:rPr lang="en-US" altLang="zh-CN" sz="2000" i="1">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a:t>
            </a:r>
            <a:r>
              <a:rPr lang="en-US" altLang="zh-CN" sz="2000" i="1">
                <a:solidFill>
                  <a:srgbClr val="000000"/>
                </a:solidFill>
                <a:latin typeface="Times New Roman" panose="02020603050405020304" pitchFamily="18" charset="0"/>
                <a:ea typeface="宋体" panose="02010600030101010101" pitchFamily="2" charset="-122"/>
                <a:sym typeface="+mn-ea"/>
              </a:rPr>
              <a:t>f*g</a:t>
            </a:r>
            <a:r>
              <a:rPr lang="en-US" altLang="zh-CN" sz="2000">
                <a:solidFill>
                  <a:srgbClr val="000000"/>
                </a:solidFill>
                <a:latin typeface="Times New Roman" panose="02020603050405020304" pitchFamily="18" charset="0"/>
                <a:ea typeface="宋体" panose="02010600030101010101" pitchFamily="2" charset="-122"/>
                <a:sym typeface="+mn-ea"/>
              </a:rPr>
              <a:t>)(1)=</a:t>
            </a:r>
            <a:r>
              <a:rPr lang="en-US" altLang="zh-CN" sz="2000">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11001</a:t>
            </a:r>
            <a:endParaRPr lang="en-US" altLang="zh-CN" sz="2000">
              <a:solidFill>
                <a:srgbClr val="000000"/>
              </a:solidFill>
              <a:latin typeface="Times New Roman" panose="02020603050405020304" pitchFamily="18" charset="0"/>
              <a:ea typeface="宋体" panose="02010600030101010101" pitchFamily="2" charset="-122"/>
            </a:endParaRPr>
          </a:p>
          <a:p>
            <a:pPr eaLnBrk="0" fontAlgn="base" hangingPunct="0">
              <a:lnSpc>
                <a:spcPct val="90000"/>
              </a:lnSpc>
              <a:spcBef>
                <a:spcPct val="0"/>
              </a:spcBef>
              <a:spcAft>
                <a:spcPct val="0"/>
              </a:spcAft>
              <a:buClr>
                <a:srgbClr val="CCCCFF"/>
              </a:buClr>
              <a:buSzPct val="65000"/>
            </a:pPr>
            <a:r>
              <a:rPr lang="en-US" altLang="zh-CN" sz="2000" u="sng">
                <a:solidFill>
                  <a:srgbClr val="000000"/>
                </a:solidFill>
                <a:latin typeface="Times New Roman" panose="02020603050405020304" pitchFamily="18" charset="0"/>
                <a:ea typeface="宋体" panose="02010600030101010101" pitchFamily="2" charset="-122"/>
                <a:sym typeface="+mn-ea"/>
              </a:rPr>
              <a:t>	   </a:t>
            </a:r>
            <a:r>
              <a:rPr lang="en-US" altLang="zh-CN" sz="2000" u="sng">
                <a:solidFill>
                  <a:srgbClr val="000000"/>
                </a:solidFill>
                <a:latin typeface="Arial" panose="020B0604020202020204" pitchFamily="34" charset="0"/>
                <a:ea typeface="宋体" panose="02010600030101010101" pitchFamily="2" charset="-122"/>
                <a:sym typeface="+mn-ea"/>
              </a:rPr>
              <a:t>× </a:t>
            </a:r>
            <a:r>
              <a:rPr lang="en-US" altLang="zh-CN" sz="2000" u="sng">
                <a:solidFill>
                  <a:srgbClr val="000000"/>
                </a:solidFill>
                <a:latin typeface="Times New Roman" panose="02020603050405020304" pitchFamily="18" charset="0"/>
                <a:ea typeface="宋体" panose="02010600030101010101" pitchFamily="2" charset="-122"/>
                <a:sym typeface="+mn-ea"/>
              </a:rPr>
              <a:t>          111 </a:t>
            </a:r>
            <a:endParaRPr lang="en-US" altLang="zh-CN" sz="2000" u="sng">
              <a:solidFill>
                <a:srgbClr val="000000"/>
              </a:solidFill>
              <a:latin typeface="Times New Roman" panose="02020603050405020304" pitchFamily="18" charset="0"/>
              <a:ea typeface="宋体" panose="02010600030101010101" pitchFamily="2" charset="-122"/>
            </a:endParaRPr>
          </a:p>
          <a:p>
            <a:pPr eaLnBrk="0" fontAlgn="base" hangingPunct="0">
              <a:lnSpc>
                <a:spcPct val="90000"/>
              </a:lnSpc>
              <a:spcBef>
                <a:spcPct val="0"/>
              </a:spcBef>
              <a:spcAft>
                <a:spcPct val="0"/>
              </a:spcAft>
              <a:buClr>
                <a:srgbClr val="CCCCFF"/>
              </a:buClr>
              <a:buSzPct val="65000"/>
            </a:pPr>
            <a:r>
              <a:rPr lang="en-US" altLang="zh-CN" sz="2000">
                <a:solidFill>
                  <a:srgbClr val="000000"/>
                </a:solidFill>
                <a:latin typeface="Times New Roman" panose="02020603050405020304" pitchFamily="18" charset="0"/>
                <a:ea typeface="宋体" panose="02010600030101010101" pitchFamily="2" charset="-122"/>
                <a:sym typeface="+mn-ea"/>
              </a:rPr>
              <a:t> 	    + 	       	   = 1</a:t>
            </a:r>
          </a:p>
          <a:p>
            <a:pPr eaLnBrk="0" fontAlgn="base" hangingPunct="0">
              <a:spcBef>
                <a:spcPct val="0"/>
              </a:spcBef>
              <a:spcAft>
                <a:spcPct val="0"/>
              </a:spcAft>
              <a:buClr>
                <a:srgbClr val="CCCCFF"/>
              </a:buClr>
              <a:buSzPct val="65000"/>
            </a:pPr>
            <a:r>
              <a:rPr lang="en-US" altLang="zh-CN" sz="2000" i="1">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a:t>
            </a:r>
            <a:r>
              <a:rPr lang="en-US" altLang="zh-CN" sz="2000" i="1">
                <a:solidFill>
                  <a:srgbClr val="000000"/>
                </a:solidFill>
                <a:latin typeface="Times New Roman" panose="02020603050405020304" pitchFamily="18" charset="0"/>
                <a:ea typeface="宋体" panose="02010600030101010101" pitchFamily="2" charset="-122"/>
                <a:sym typeface="+mn-ea"/>
              </a:rPr>
              <a:t>f*g</a:t>
            </a:r>
            <a:r>
              <a:rPr lang="en-US" altLang="zh-CN" sz="2000">
                <a:solidFill>
                  <a:srgbClr val="000000"/>
                </a:solidFill>
                <a:latin typeface="Times New Roman" panose="02020603050405020304" pitchFamily="18" charset="0"/>
                <a:ea typeface="宋体" panose="02010600030101010101" pitchFamily="2" charset="-122"/>
                <a:sym typeface="+mn-ea"/>
              </a:rPr>
              <a:t>)(2)=</a:t>
            </a:r>
            <a:r>
              <a:rPr lang="en-US" altLang="zh-CN" sz="2000">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11001</a:t>
            </a:r>
            <a:endParaRPr lang="en-US" altLang="zh-CN" sz="2000">
              <a:solidFill>
                <a:srgbClr val="000000"/>
              </a:solidFill>
              <a:latin typeface="Times New Roman" panose="02020603050405020304" pitchFamily="18" charset="0"/>
              <a:ea typeface="宋体" panose="02010600030101010101" pitchFamily="2" charset="-122"/>
            </a:endParaRPr>
          </a:p>
          <a:p>
            <a:pPr eaLnBrk="0" fontAlgn="base" hangingPunct="0">
              <a:spcBef>
                <a:spcPct val="0"/>
              </a:spcBef>
              <a:spcAft>
                <a:spcPct val="0"/>
              </a:spcAft>
              <a:buClr>
                <a:srgbClr val="CCCCFF"/>
              </a:buClr>
              <a:buSzPct val="65000"/>
            </a:pPr>
            <a:r>
              <a:rPr lang="en-US" altLang="zh-CN" sz="2000" u="sng">
                <a:solidFill>
                  <a:srgbClr val="000000"/>
                </a:solidFill>
                <a:latin typeface="Times New Roman" panose="02020603050405020304" pitchFamily="18" charset="0"/>
                <a:ea typeface="宋体" panose="02010600030101010101" pitchFamily="2" charset="-122"/>
                <a:sym typeface="+mn-ea"/>
              </a:rPr>
              <a:t>	    </a:t>
            </a:r>
            <a:r>
              <a:rPr lang="en-US" altLang="zh-CN" sz="2000" u="sng">
                <a:solidFill>
                  <a:srgbClr val="000000"/>
                </a:solidFill>
                <a:latin typeface="Arial" panose="020B0604020202020204" pitchFamily="34" charset="0"/>
                <a:ea typeface="宋体" panose="02010600030101010101" pitchFamily="2" charset="-122"/>
                <a:sym typeface="+mn-ea"/>
              </a:rPr>
              <a:t>×</a:t>
            </a:r>
            <a:r>
              <a:rPr lang="en-US" altLang="zh-CN" sz="2000" u="sng">
                <a:solidFill>
                  <a:srgbClr val="000000"/>
                </a:solidFill>
                <a:latin typeface="Times New Roman" panose="02020603050405020304" pitchFamily="18" charset="0"/>
                <a:ea typeface="宋体" panose="02010600030101010101" pitchFamily="2" charset="-122"/>
                <a:sym typeface="+mn-ea"/>
              </a:rPr>
              <a:t>        111 </a:t>
            </a:r>
            <a:endParaRPr lang="en-US" altLang="zh-CN" sz="2000" u="sng">
              <a:solidFill>
                <a:srgbClr val="000000"/>
              </a:solidFill>
              <a:latin typeface="Times New Roman" panose="02020603050405020304" pitchFamily="18" charset="0"/>
              <a:ea typeface="宋体" panose="02010600030101010101" pitchFamily="2" charset="-122"/>
            </a:endParaRPr>
          </a:p>
          <a:p>
            <a:pPr eaLnBrk="0" fontAlgn="base" hangingPunct="0">
              <a:spcBef>
                <a:spcPct val="0"/>
              </a:spcBef>
              <a:spcAft>
                <a:spcPct val="0"/>
              </a:spcAft>
              <a:buClr>
                <a:srgbClr val="CCCCFF"/>
              </a:buClr>
              <a:buSzPct val="65000"/>
            </a:pPr>
            <a:r>
              <a:rPr lang="en-US" altLang="zh-CN" sz="2000">
                <a:solidFill>
                  <a:srgbClr val="000000"/>
                </a:solidFill>
                <a:latin typeface="Times New Roman" panose="02020603050405020304" pitchFamily="18" charset="0"/>
                <a:ea typeface="宋体" panose="02010600030101010101" pitchFamily="2" charset="-122"/>
                <a:sym typeface="+mn-ea"/>
              </a:rPr>
              <a:t> 	     +		   = 1</a:t>
            </a:r>
          </a:p>
          <a:p>
            <a:pPr eaLnBrk="0" fontAlgn="base" hangingPunct="0">
              <a:spcBef>
                <a:spcPct val="0"/>
              </a:spcBef>
              <a:spcAft>
                <a:spcPct val="0"/>
              </a:spcAft>
              <a:buClr>
                <a:srgbClr val="CCCCFF"/>
              </a:buClr>
              <a:buSzPct val="65000"/>
            </a:pPr>
            <a:r>
              <a:rPr lang="en-US" altLang="zh-CN" sz="2000" i="1">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a:t>
            </a:r>
            <a:r>
              <a:rPr lang="en-US" altLang="zh-CN" sz="2000" i="1">
                <a:solidFill>
                  <a:srgbClr val="000000"/>
                </a:solidFill>
                <a:latin typeface="Times New Roman" panose="02020603050405020304" pitchFamily="18" charset="0"/>
                <a:ea typeface="宋体" panose="02010600030101010101" pitchFamily="2" charset="-122"/>
                <a:sym typeface="+mn-ea"/>
              </a:rPr>
              <a:t>f*g</a:t>
            </a:r>
            <a:r>
              <a:rPr lang="en-US" altLang="zh-CN" sz="2000">
                <a:solidFill>
                  <a:srgbClr val="000000"/>
                </a:solidFill>
                <a:latin typeface="Times New Roman" panose="02020603050405020304" pitchFamily="18" charset="0"/>
                <a:ea typeface="宋体" panose="02010600030101010101" pitchFamily="2" charset="-122"/>
                <a:sym typeface="+mn-ea"/>
              </a:rPr>
              <a:t>)(3)=</a:t>
            </a:r>
            <a:r>
              <a:rPr lang="en-US" altLang="zh-CN" sz="2000">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11001</a:t>
            </a:r>
            <a:endParaRPr lang="en-US" altLang="zh-CN" sz="2000">
              <a:solidFill>
                <a:srgbClr val="000000"/>
              </a:solidFill>
              <a:latin typeface="Times New Roman" panose="02020603050405020304" pitchFamily="18" charset="0"/>
              <a:ea typeface="宋体" panose="02010600030101010101" pitchFamily="2" charset="-122"/>
            </a:endParaRPr>
          </a:p>
          <a:p>
            <a:pPr eaLnBrk="0" fontAlgn="base" hangingPunct="0">
              <a:spcBef>
                <a:spcPct val="0"/>
              </a:spcBef>
              <a:spcAft>
                <a:spcPct val="0"/>
              </a:spcAft>
              <a:buClr>
                <a:srgbClr val="CCCCFF"/>
              </a:buClr>
              <a:buSzPct val="65000"/>
            </a:pPr>
            <a:r>
              <a:rPr lang="en-US" altLang="zh-CN" sz="2000" u="sng">
                <a:solidFill>
                  <a:srgbClr val="000000"/>
                </a:solidFill>
                <a:latin typeface="Times New Roman" panose="02020603050405020304" pitchFamily="18" charset="0"/>
                <a:ea typeface="宋体" panose="02010600030101010101" pitchFamily="2" charset="-122"/>
                <a:sym typeface="+mn-ea"/>
              </a:rPr>
              <a:t>	     </a:t>
            </a:r>
            <a:r>
              <a:rPr lang="en-US" altLang="zh-CN" sz="2000" u="sng">
                <a:solidFill>
                  <a:srgbClr val="000000"/>
                </a:solidFill>
                <a:latin typeface="Arial" panose="020B0604020202020204" pitchFamily="34" charset="0"/>
                <a:ea typeface="宋体" panose="02010600030101010101" pitchFamily="2" charset="-122"/>
                <a:sym typeface="+mn-ea"/>
              </a:rPr>
              <a:t>×</a:t>
            </a:r>
            <a:r>
              <a:rPr lang="en-US" altLang="zh-CN" sz="2000" u="sng">
                <a:solidFill>
                  <a:srgbClr val="000000"/>
                </a:solidFill>
                <a:latin typeface="Times New Roman" panose="02020603050405020304" pitchFamily="18" charset="0"/>
                <a:ea typeface="宋体" panose="02010600030101010101" pitchFamily="2" charset="-122"/>
                <a:sym typeface="+mn-ea"/>
              </a:rPr>
              <a:t>     111 </a:t>
            </a:r>
            <a:endParaRPr lang="en-US" altLang="zh-CN" sz="2000" u="sng">
              <a:solidFill>
                <a:srgbClr val="000000"/>
              </a:solidFill>
              <a:latin typeface="Times New Roman" panose="02020603050405020304" pitchFamily="18" charset="0"/>
              <a:ea typeface="宋体" panose="02010600030101010101" pitchFamily="2" charset="-122"/>
            </a:endParaRPr>
          </a:p>
          <a:p>
            <a:pPr eaLnBrk="0" fontAlgn="base" hangingPunct="0">
              <a:spcBef>
                <a:spcPct val="0"/>
              </a:spcBef>
              <a:spcAft>
                <a:spcPct val="0"/>
              </a:spcAft>
              <a:buClr>
                <a:srgbClr val="CCCCFF"/>
              </a:buClr>
              <a:buSzPct val="65000"/>
            </a:pPr>
            <a:r>
              <a:rPr lang="en-US" altLang="zh-CN" sz="2000">
                <a:solidFill>
                  <a:srgbClr val="000000"/>
                </a:solidFill>
                <a:latin typeface="Times New Roman" panose="02020603050405020304" pitchFamily="18" charset="0"/>
                <a:ea typeface="宋体" panose="02010600030101010101" pitchFamily="2" charset="-122"/>
                <a:sym typeface="+mn-ea"/>
              </a:rPr>
              <a:t> 	      +	       	   = 1</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
        <p:nvSpPr>
          <p:cNvPr id="16" name="文本框 15"/>
          <p:cNvSpPr txBox="1"/>
          <p:nvPr/>
        </p:nvSpPr>
        <p:spPr>
          <a:xfrm>
            <a:off x="6202680" y="3003550"/>
            <a:ext cx="3643630" cy="3384550"/>
          </a:xfrm>
          <a:prstGeom prst="rect">
            <a:avLst/>
          </a:prstGeom>
          <a:noFill/>
        </p:spPr>
        <p:txBody>
          <a:bodyPr wrap="square" rtlCol="0" anchor="t">
            <a:spAutoFit/>
          </a:bodyPr>
          <a:lstStyle/>
          <a:p>
            <a:pPr eaLnBrk="0" fontAlgn="base" hangingPunct="0">
              <a:spcBef>
                <a:spcPct val="0"/>
              </a:spcBef>
              <a:spcAft>
                <a:spcPct val="0"/>
              </a:spcAft>
              <a:buClr>
                <a:srgbClr val="CCCCFF"/>
              </a:buClr>
              <a:buSzPct val="65000"/>
            </a:pPr>
            <a:r>
              <a:rPr lang="en-US" altLang="zh-CN" sz="2000">
                <a:solidFill>
                  <a:srgbClr val="000000"/>
                </a:solidFill>
                <a:latin typeface="Times New Roman" panose="02020603050405020304" pitchFamily="18" charset="0"/>
                <a:ea typeface="宋体" panose="02010600030101010101" pitchFamily="2" charset="-122"/>
                <a:sym typeface="+mn-ea"/>
              </a:rPr>
              <a:t>     (</a:t>
            </a:r>
            <a:r>
              <a:rPr lang="en-US" altLang="zh-CN" sz="2000" i="1">
                <a:solidFill>
                  <a:srgbClr val="000000"/>
                </a:solidFill>
                <a:latin typeface="Times New Roman" panose="02020603050405020304" pitchFamily="18" charset="0"/>
                <a:ea typeface="宋体" panose="02010600030101010101" pitchFamily="2" charset="-122"/>
                <a:sym typeface="+mn-ea"/>
              </a:rPr>
              <a:t>f*g</a:t>
            </a:r>
            <a:r>
              <a:rPr lang="en-US" altLang="zh-CN" sz="2000">
                <a:solidFill>
                  <a:srgbClr val="000000"/>
                </a:solidFill>
                <a:latin typeface="Times New Roman" panose="02020603050405020304" pitchFamily="18" charset="0"/>
                <a:ea typeface="宋体" panose="02010600030101010101" pitchFamily="2" charset="-122"/>
                <a:sym typeface="+mn-ea"/>
              </a:rPr>
              <a:t>)(4)=</a:t>
            </a:r>
            <a:r>
              <a:rPr lang="en-US" altLang="zh-CN" sz="2000">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11001</a:t>
            </a:r>
            <a:endParaRPr lang="en-US" altLang="zh-CN" sz="2000">
              <a:solidFill>
                <a:srgbClr val="000000"/>
              </a:solidFill>
              <a:latin typeface="Times New Roman" panose="02020603050405020304" pitchFamily="18" charset="0"/>
              <a:ea typeface="宋体" panose="02010600030101010101" pitchFamily="2" charset="-122"/>
            </a:endParaRPr>
          </a:p>
          <a:p>
            <a:pPr eaLnBrk="0" fontAlgn="base" hangingPunct="0">
              <a:spcBef>
                <a:spcPct val="0"/>
              </a:spcBef>
              <a:spcAft>
                <a:spcPct val="0"/>
              </a:spcAft>
              <a:buClr>
                <a:srgbClr val="CCCCFF"/>
              </a:buClr>
              <a:buSzPct val="65000"/>
            </a:pPr>
            <a:r>
              <a:rPr lang="en-US" altLang="zh-CN" sz="2000" u="sng">
                <a:solidFill>
                  <a:srgbClr val="000000"/>
                </a:solidFill>
                <a:latin typeface="Times New Roman" panose="02020603050405020304" pitchFamily="18" charset="0"/>
                <a:ea typeface="宋体" panose="02010600030101010101" pitchFamily="2" charset="-122"/>
                <a:sym typeface="+mn-ea"/>
              </a:rPr>
              <a:t>	</a:t>
            </a:r>
            <a:r>
              <a:rPr lang="en-US" altLang="zh-CN" sz="2000" u="sng">
                <a:solidFill>
                  <a:srgbClr val="000000"/>
                </a:solidFill>
                <a:latin typeface="Arial" panose="020B0604020202020204" pitchFamily="34" charset="0"/>
                <a:ea typeface="宋体" panose="02010600030101010101" pitchFamily="2" charset="-122"/>
                <a:sym typeface="+mn-ea"/>
              </a:rPr>
              <a:t>×</a:t>
            </a:r>
            <a:r>
              <a:rPr lang="en-US" altLang="zh-CN" sz="2000" u="sng">
                <a:solidFill>
                  <a:srgbClr val="000000"/>
                </a:solidFill>
                <a:latin typeface="Times New Roman" panose="02020603050405020304" pitchFamily="18" charset="0"/>
                <a:ea typeface="宋体" panose="02010600030101010101" pitchFamily="2" charset="-122"/>
                <a:sym typeface="+mn-ea"/>
              </a:rPr>
              <a:t>         111 </a:t>
            </a:r>
            <a:endParaRPr lang="en-US" altLang="zh-CN" sz="2000" u="sng">
              <a:solidFill>
                <a:srgbClr val="000000"/>
              </a:solidFill>
              <a:latin typeface="Times New Roman" panose="02020603050405020304" pitchFamily="18" charset="0"/>
              <a:ea typeface="宋体" panose="02010600030101010101" pitchFamily="2" charset="-122"/>
            </a:endParaRPr>
          </a:p>
          <a:p>
            <a:pPr eaLnBrk="0" fontAlgn="base" hangingPunct="0">
              <a:spcBef>
                <a:spcPct val="0"/>
              </a:spcBef>
              <a:spcAft>
                <a:spcPct val="0"/>
              </a:spcAft>
              <a:buClr>
                <a:srgbClr val="CCCCFF"/>
              </a:buClr>
              <a:buSzPct val="65000"/>
            </a:pPr>
            <a:r>
              <a:rPr lang="en-US" altLang="zh-CN" sz="2000">
                <a:solidFill>
                  <a:srgbClr val="000000"/>
                </a:solidFill>
                <a:latin typeface="Times New Roman" panose="02020603050405020304" pitchFamily="18" charset="0"/>
                <a:ea typeface="宋体" panose="02010600030101010101" pitchFamily="2" charset="-122"/>
                <a:sym typeface="+mn-ea"/>
              </a:rPr>
              <a:t> 	+ 		= 0</a:t>
            </a:r>
            <a:endParaRPr lang="en-US" altLang="zh-CN" sz="2000">
              <a:solidFill>
                <a:srgbClr val="000000"/>
              </a:solidFill>
              <a:latin typeface="Times New Roman" panose="02020603050405020304" pitchFamily="18" charset="0"/>
              <a:ea typeface="宋体" panose="02010600030101010101" pitchFamily="2" charset="-122"/>
            </a:endParaRPr>
          </a:p>
          <a:p>
            <a:pPr eaLnBrk="0" fontAlgn="base" hangingPunct="0">
              <a:lnSpc>
                <a:spcPct val="90000"/>
              </a:lnSpc>
              <a:spcBef>
                <a:spcPct val="0"/>
              </a:spcBef>
              <a:spcAft>
                <a:spcPct val="0"/>
              </a:spcAft>
              <a:buClr>
                <a:srgbClr val="CCCCFF"/>
              </a:buClr>
              <a:buSzPct val="65000"/>
            </a:pPr>
            <a:r>
              <a:rPr lang="en-US" altLang="zh-CN" sz="2000" i="1">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a:t>
            </a:r>
            <a:r>
              <a:rPr lang="en-US" altLang="zh-CN" sz="2000" i="1">
                <a:solidFill>
                  <a:srgbClr val="000000"/>
                </a:solidFill>
                <a:latin typeface="Times New Roman" panose="02020603050405020304" pitchFamily="18" charset="0"/>
                <a:ea typeface="宋体" panose="02010600030101010101" pitchFamily="2" charset="-122"/>
                <a:sym typeface="+mn-ea"/>
              </a:rPr>
              <a:t>f*g</a:t>
            </a:r>
            <a:r>
              <a:rPr lang="en-US" altLang="zh-CN" sz="2000">
                <a:solidFill>
                  <a:srgbClr val="000000"/>
                </a:solidFill>
                <a:latin typeface="Times New Roman" panose="02020603050405020304" pitchFamily="18" charset="0"/>
                <a:ea typeface="宋体" panose="02010600030101010101" pitchFamily="2" charset="-122"/>
                <a:sym typeface="+mn-ea"/>
              </a:rPr>
              <a:t>)(5)=</a:t>
            </a:r>
            <a:r>
              <a:rPr lang="en-US" altLang="zh-CN" sz="2000">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11001</a:t>
            </a:r>
            <a:endParaRPr lang="en-US" altLang="zh-CN" sz="2000">
              <a:solidFill>
                <a:srgbClr val="000000"/>
              </a:solidFill>
              <a:latin typeface="Times New Roman" panose="02020603050405020304" pitchFamily="18" charset="0"/>
              <a:ea typeface="宋体" panose="02010600030101010101" pitchFamily="2" charset="-122"/>
            </a:endParaRPr>
          </a:p>
          <a:p>
            <a:pPr eaLnBrk="0" fontAlgn="base" hangingPunct="0">
              <a:lnSpc>
                <a:spcPct val="90000"/>
              </a:lnSpc>
              <a:spcBef>
                <a:spcPct val="0"/>
              </a:spcBef>
              <a:spcAft>
                <a:spcPct val="0"/>
              </a:spcAft>
              <a:buClr>
                <a:srgbClr val="CCCCFF"/>
              </a:buClr>
              <a:buSzPct val="65000"/>
            </a:pPr>
            <a:r>
              <a:rPr lang="en-US" altLang="zh-CN" sz="2000" u="sng">
                <a:solidFill>
                  <a:srgbClr val="000000"/>
                </a:solidFill>
                <a:latin typeface="Times New Roman" panose="02020603050405020304" pitchFamily="18" charset="0"/>
                <a:ea typeface="宋体" panose="02010600030101010101" pitchFamily="2" charset="-122"/>
                <a:sym typeface="+mn-ea"/>
              </a:rPr>
              <a:t>	</a:t>
            </a:r>
            <a:r>
              <a:rPr lang="en-US" altLang="zh-CN" sz="2000" u="sng">
                <a:solidFill>
                  <a:srgbClr val="000000"/>
                </a:solidFill>
                <a:latin typeface="Arial" panose="020B0604020202020204" pitchFamily="34" charset="0"/>
                <a:ea typeface="宋体" panose="02010600030101010101" pitchFamily="2" charset="-122"/>
                <a:sym typeface="+mn-ea"/>
              </a:rPr>
              <a:t>× </a:t>
            </a:r>
            <a:r>
              <a:rPr lang="en-US" altLang="zh-CN" sz="2000" u="sng">
                <a:solidFill>
                  <a:srgbClr val="000000"/>
                </a:solidFill>
                <a:latin typeface="Times New Roman" panose="02020603050405020304" pitchFamily="18" charset="0"/>
                <a:ea typeface="宋体" panose="02010600030101010101" pitchFamily="2" charset="-122"/>
                <a:sym typeface="+mn-ea"/>
              </a:rPr>
              <a:t>     111 </a:t>
            </a:r>
            <a:endParaRPr lang="en-US" altLang="zh-CN" sz="2000" u="sng">
              <a:solidFill>
                <a:srgbClr val="000000"/>
              </a:solidFill>
              <a:latin typeface="Times New Roman" panose="02020603050405020304" pitchFamily="18" charset="0"/>
              <a:ea typeface="宋体" panose="02010600030101010101" pitchFamily="2" charset="-122"/>
            </a:endParaRPr>
          </a:p>
          <a:p>
            <a:pPr eaLnBrk="0" fontAlgn="base" hangingPunct="0">
              <a:lnSpc>
                <a:spcPct val="90000"/>
              </a:lnSpc>
              <a:spcBef>
                <a:spcPct val="0"/>
              </a:spcBef>
              <a:spcAft>
                <a:spcPct val="0"/>
              </a:spcAft>
              <a:buClr>
                <a:srgbClr val="CCCCFF"/>
              </a:buClr>
              <a:buSzPct val="65000"/>
            </a:pPr>
            <a:r>
              <a:rPr lang="en-US" altLang="zh-CN" sz="2000">
                <a:solidFill>
                  <a:srgbClr val="000000"/>
                </a:solidFill>
                <a:latin typeface="Times New Roman" panose="02020603050405020304" pitchFamily="18" charset="0"/>
                <a:ea typeface="宋体" panose="02010600030101010101" pitchFamily="2" charset="-122"/>
                <a:sym typeface="+mn-ea"/>
              </a:rPr>
              <a:t> 	    + 	       	= 0</a:t>
            </a:r>
          </a:p>
          <a:p>
            <a:pPr eaLnBrk="0" fontAlgn="base" hangingPunct="0">
              <a:spcBef>
                <a:spcPct val="0"/>
              </a:spcBef>
              <a:spcAft>
                <a:spcPct val="0"/>
              </a:spcAft>
              <a:buClr>
                <a:srgbClr val="CCCCFF"/>
              </a:buClr>
              <a:buSzPct val="65000"/>
            </a:pPr>
            <a:r>
              <a:rPr lang="en-US" altLang="zh-CN" sz="2000" i="1">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a:t>
            </a:r>
            <a:r>
              <a:rPr lang="en-US" altLang="zh-CN" sz="2000" i="1">
                <a:solidFill>
                  <a:srgbClr val="000000"/>
                </a:solidFill>
                <a:latin typeface="Times New Roman" panose="02020603050405020304" pitchFamily="18" charset="0"/>
                <a:ea typeface="宋体" panose="02010600030101010101" pitchFamily="2" charset="-122"/>
                <a:sym typeface="+mn-ea"/>
              </a:rPr>
              <a:t>f*g</a:t>
            </a:r>
            <a:r>
              <a:rPr lang="en-US" altLang="zh-CN" sz="2000">
                <a:solidFill>
                  <a:srgbClr val="000000"/>
                </a:solidFill>
                <a:latin typeface="Times New Roman" panose="02020603050405020304" pitchFamily="18" charset="0"/>
                <a:ea typeface="宋体" panose="02010600030101010101" pitchFamily="2" charset="-122"/>
                <a:sym typeface="+mn-ea"/>
              </a:rPr>
              <a:t>)(6)=</a:t>
            </a:r>
            <a:r>
              <a:rPr lang="en-US" altLang="zh-CN" sz="2000">
                <a:solidFill>
                  <a:srgbClr val="000000"/>
                </a:solidFill>
                <a:latin typeface="Arial" panose="020B0604020202020204" pitchFamily="34" charset="0"/>
                <a:ea typeface="宋体" panose="02010600030101010101" pitchFamily="2" charset="-122"/>
                <a:sym typeface="+mn-ea"/>
              </a:rPr>
              <a:t>       </a:t>
            </a:r>
            <a:r>
              <a:rPr lang="en-US" altLang="zh-CN" sz="2000">
                <a:solidFill>
                  <a:srgbClr val="000000"/>
                </a:solidFill>
                <a:latin typeface="Times New Roman" panose="02020603050405020304" pitchFamily="18" charset="0"/>
                <a:ea typeface="宋体" panose="02010600030101010101" pitchFamily="2" charset="-122"/>
                <a:sym typeface="+mn-ea"/>
              </a:rPr>
              <a:t>11001</a:t>
            </a:r>
            <a:endParaRPr lang="en-US" altLang="zh-CN" sz="2000">
              <a:solidFill>
                <a:srgbClr val="000000"/>
              </a:solidFill>
              <a:latin typeface="Times New Roman" panose="02020603050405020304" pitchFamily="18" charset="0"/>
              <a:ea typeface="宋体" panose="02010600030101010101" pitchFamily="2" charset="-122"/>
            </a:endParaRPr>
          </a:p>
          <a:p>
            <a:pPr eaLnBrk="0" fontAlgn="base" hangingPunct="0">
              <a:spcBef>
                <a:spcPct val="0"/>
              </a:spcBef>
              <a:spcAft>
                <a:spcPct val="0"/>
              </a:spcAft>
              <a:buClr>
                <a:srgbClr val="CCCCFF"/>
              </a:buClr>
              <a:buSzPct val="65000"/>
            </a:pPr>
            <a:r>
              <a:rPr lang="en-US" altLang="zh-CN" sz="2000" u="sng">
                <a:solidFill>
                  <a:srgbClr val="000000"/>
                </a:solidFill>
                <a:latin typeface="Times New Roman" panose="02020603050405020304" pitchFamily="18" charset="0"/>
                <a:ea typeface="宋体" panose="02010600030101010101" pitchFamily="2" charset="-122"/>
                <a:sym typeface="+mn-ea"/>
              </a:rPr>
              <a:t>	</a:t>
            </a:r>
            <a:r>
              <a:rPr lang="en-US" altLang="zh-CN" sz="2000" u="sng">
                <a:solidFill>
                  <a:srgbClr val="000000"/>
                </a:solidFill>
                <a:latin typeface="Arial" panose="020B0604020202020204" pitchFamily="34" charset="0"/>
                <a:ea typeface="宋体" panose="02010600030101010101" pitchFamily="2" charset="-122"/>
                <a:sym typeface="+mn-ea"/>
              </a:rPr>
              <a:t>×</a:t>
            </a:r>
            <a:r>
              <a:rPr lang="en-US" altLang="zh-CN" sz="2000" u="sng">
                <a:solidFill>
                  <a:srgbClr val="000000"/>
                </a:solidFill>
                <a:latin typeface="Times New Roman" panose="02020603050405020304" pitchFamily="18" charset="0"/>
                <a:ea typeface="宋体" panose="02010600030101010101" pitchFamily="2" charset="-122"/>
                <a:sym typeface="+mn-ea"/>
              </a:rPr>
              <a:t>     111 </a:t>
            </a:r>
            <a:endParaRPr lang="en-US" altLang="zh-CN" sz="2000" u="sng">
              <a:solidFill>
                <a:srgbClr val="000000"/>
              </a:solidFill>
              <a:latin typeface="Times New Roman" panose="02020603050405020304" pitchFamily="18" charset="0"/>
              <a:ea typeface="宋体" panose="02010600030101010101" pitchFamily="2" charset="-122"/>
            </a:endParaRPr>
          </a:p>
          <a:p>
            <a:pPr eaLnBrk="0" fontAlgn="base" hangingPunct="0">
              <a:spcBef>
                <a:spcPct val="0"/>
              </a:spcBef>
              <a:spcAft>
                <a:spcPct val="0"/>
              </a:spcAft>
              <a:buClr>
                <a:srgbClr val="CCCCFF"/>
              </a:buClr>
              <a:buSzPct val="65000"/>
            </a:pPr>
            <a:r>
              <a:rPr lang="en-US" altLang="zh-CN" sz="2000">
                <a:solidFill>
                  <a:srgbClr val="000000"/>
                </a:solidFill>
                <a:latin typeface="Times New Roman" panose="02020603050405020304" pitchFamily="18" charset="0"/>
                <a:ea typeface="宋体" panose="02010600030101010101" pitchFamily="2" charset="-122"/>
                <a:sym typeface="+mn-ea"/>
              </a:rPr>
              <a:t> 	+		 = 1</a:t>
            </a:r>
          </a:p>
          <a:p>
            <a:pPr eaLnBrk="0" fontAlgn="base" hangingPunct="0">
              <a:spcBef>
                <a:spcPct val="0"/>
              </a:spcBef>
              <a:spcAft>
                <a:spcPct val="0"/>
              </a:spcAft>
              <a:buClr>
                <a:srgbClr val="CCCCFF"/>
              </a:buClr>
              <a:buSzPct val="65000"/>
            </a:pPr>
            <a:endParaRPr lang="en-US" altLang="zh-CN" sz="2000" i="1">
              <a:solidFill>
                <a:srgbClr val="000000"/>
              </a:solidFill>
              <a:latin typeface="Times New Roman" panose="02020603050405020304" pitchFamily="18" charset="0"/>
              <a:ea typeface="宋体" panose="02010600030101010101" pitchFamily="2" charset="-122"/>
              <a:sym typeface="+mn-ea"/>
            </a:endParaRPr>
          </a:p>
          <a:p>
            <a:pPr eaLnBrk="0" fontAlgn="base" hangingPunct="0">
              <a:spcBef>
                <a:spcPct val="0"/>
              </a:spcBef>
              <a:spcAft>
                <a:spcPct val="0"/>
              </a:spcAft>
              <a:buClr>
                <a:srgbClr val="CCCCFF"/>
              </a:buClr>
              <a:buSzPct val="65000"/>
            </a:pPr>
            <a:r>
              <a:rPr lang="zh-CN" altLang="en-US" sz="2000" b="1" dirty="0">
                <a:solidFill>
                  <a:srgbClr val="000000"/>
                </a:solidFill>
                <a:latin typeface="Times New Roman" panose="02020603050405020304" pitchFamily="18" charset="0"/>
                <a:ea typeface="黑体" panose="02010609060101010101" pitchFamily="49" charset="-122"/>
                <a:sym typeface="+mn-ea"/>
              </a:rPr>
              <a:t>故</a:t>
            </a:r>
            <a:r>
              <a:rPr lang="zh-CN" altLang="en-US" sz="2000" i="1" dirty="0">
                <a:solidFill>
                  <a:srgbClr val="000000"/>
                </a:solidFill>
                <a:latin typeface="Times New Roman" panose="02020603050405020304" pitchFamily="18" charset="0"/>
                <a:ea typeface="宋体" panose="02010600030101010101" pitchFamily="2" charset="-122"/>
                <a:sym typeface="+mn-ea"/>
              </a:rPr>
              <a:t> </a:t>
            </a:r>
            <a:r>
              <a:rPr lang="en-US" altLang="zh-CN" sz="2000" i="1">
                <a:solidFill>
                  <a:srgbClr val="000000"/>
                </a:solidFill>
                <a:latin typeface="Times New Roman" panose="02020603050405020304" pitchFamily="18" charset="0"/>
                <a:ea typeface="宋体" panose="02010600030101010101" pitchFamily="2" charset="-122"/>
                <a:sym typeface="+mn-ea"/>
              </a:rPr>
              <a:t>f*g=</a:t>
            </a:r>
            <a:r>
              <a:rPr lang="en-US" altLang="zh-CN" sz="2000">
                <a:solidFill>
                  <a:srgbClr val="000000"/>
                </a:solidFill>
                <a:latin typeface="Times New Roman" panose="02020603050405020304" pitchFamily="18" charset="0"/>
                <a:ea typeface="宋体" panose="02010600030101010101" pitchFamily="2" charset="-122"/>
                <a:sym typeface="+mn-ea"/>
              </a:rPr>
              <a:t>(1111001)</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13350" y="104775"/>
            <a:ext cx="518795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二元</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(2,1,2)卷积</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码的编码器</a:t>
            </a:r>
          </a:p>
        </p:txBody>
      </p:sp>
      <p:sp>
        <p:nvSpPr>
          <p:cNvPr id="7" name="文本框 6"/>
          <p:cNvSpPr txBox="1"/>
          <p:nvPr/>
        </p:nvSpPr>
        <p:spPr>
          <a:xfrm>
            <a:off x="1783081" y="914401"/>
            <a:ext cx="8564245" cy="1363065"/>
          </a:xfrm>
          <a:prstGeom prst="rect">
            <a:avLst/>
          </a:prstGeom>
          <a:noFill/>
        </p:spPr>
        <p:txBody>
          <a:bodyPr wrap="square" rtlCol="0" anchor="t">
            <a:spAutoFit/>
          </a:bodyPr>
          <a:lstStyle/>
          <a:p>
            <a:pPr indent="457200" eaLnBrk="0" fontAlgn="base" hangingPunct="0">
              <a:lnSpc>
                <a:spcPct val="12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编码器主要由</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级移位寄存器，</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个模</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加法器组成。</a:t>
            </a:r>
            <a:r>
              <a:rPr lang="zh-CN" altLang="en-US" sz="2400" dirty="0">
                <a:solidFill>
                  <a:srgbClr val="000000"/>
                </a:solidFill>
                <a:latin typeface="黑体" panose="02010609060101010101" pitchFamily="49" charset="-122"/>
                <a:ea typeface="黑体" panose="02010609060101010101" pitchFamily="49" charset="-122"/>
                <a:sym typeface="+mn-ea"/>
              </a:rPr>
              <a:t>所有的卷积码编码器都可以用这种类型的线性前馈移位寄存器来实现。</a:t>
            </a:r>
          </a:p>
        </p:txBody>
      </p:sp>
      <p:sp>
        <p:nvSpPr>
          <p:cNvPr id="10242" name="直接连接符 188423"/>
          <p:cNvSpPr/>
          <p:nvPr/>
        </p:nvSpPr>
        <p:spPr>
          <a:xfrm>
            <a:off x="3863975" y="3086100"/>
            <a:ext cx="1512888" cy="0"/>
          </a:xfrm>
          <a:prstGeom prst="line">
            <a:avLst/>
          </a:prstGeom>
          <a:ln w="19050" cap="flat" cmpd="sng">
            <a:solidFill>
              <a:schemeClr val="tx1"/>
            </a:solidFill>
            <a:prstDash val="solid"/>
            <a:round/>
            <a:headEnd type="none" w="med" len="med"/>
            <a:tailEnd type="triangle" w="med" len="med"/>
          </a:ln>
        </p:spPr>
      </p:sp>
      <p:sp>
        <p:nvSpPr>
          <p:cNvPr id="10243" name="直接连接符 188425"/>
          <p:cNvSpPr/>
          <p:nvPr/>
        </p:nvSpPr>
        <p:spPr>
          <a:xfrm>
            <a:off x="4872038" y="4094163"/>
            <a:ext cx="1439862" cy="0"/>
          </a:xfrm>
          <a:prstGeom prst="line">
            <a:avLst/>
          </a:prstGeom>
          <a:ln w="19050" cap="flat" cmpd="sng">
            <a:solidFill>
              <a:schemeClr val="tx1"/>
            </a:solidFill>
            <a:prstDash val="solid"/>
            <a:round/>
            <a:headEnd type="none" w="med" len="med"/>
            <a:tailEnd type="triangle" w="med" len="med"/>
          </a:ln>
        </p:spPr>
      </p:sp>
      <p:sp>
        <p:nvSpPr>
          <p:cNvPr id="10244" name="流程图: 延期 188426"/>
          <p:cNvSpPr/>
          <p:nvPr/>
        </p:nvSpPr>
        <p:spPr>
          <a:xfrm>
            <a:off x="4297363" y="3805239"/>
            <a:ext cx="647700" cy="50323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10245" name="流程图: 延期 188427"/>
          <p:cNvSpPr/>
          <p:nvPr/>
        </p:nvSpPr>
        <p:spPr>
          <a:xfrm>
            <a:off x="6313488" y="3805239"/>
            <a:ext cx="647700" cy="50323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10246" name="椭圆 188430"/>
          <p:cNvSpPr/>
          <p:nvPr/>
        </p:nvSpPr>
        <p:spPr>
          <a:xfrm>
            <a:off x="5376863" y="2800350"/>
            <a:ext cx="431800" cy="503238"/>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10247" name="文本框 188431"/>
          <p:cNvSpPr txBox="1"/>
          <p:nvPr/>
        </p:nvSpPr>
        <p:spPr>
          <a:xfrm>
            <a:off x="5378450" y="2798763"/>
            <a:ext cx="431800"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10248" name="直接连接符 188435"/>
          <p:cNvSpPr/>
          <p:nvPr/>
        </p:nvSpPr>
        <p:spPr>
          <a:xfrm>
            <a:off x="3863975" y="4094163"/>
            <a:ext cx="431800" cy="0"/>
          </a:xfrm>
          <a:prstGeom prst="line">
            <a:avLst/>
          </a:prstGeom>
          <a:ln w="19050" cap="flat" cmpd="sng">
            <a:solidFill>
              <a:schemeClr val="tx1"/>
            </a:solidFill>
            <a:prstDash val="solid"/>
            <a:round/>
            <a:headEnd type="none" w="med" len="med"/>
            <a:tailEnd type="triangle" w="med" len="med"/>
          </a:ln>
        </p:spPr>
      </p:sp>
      <p:sp>
        <p:nvSpPr>
          <p:cNvPr id="10249" name="文本框 188441"/>
          <p:cNvSpPr txBox="1"/>
          <p:nvPr/>
        </p:nvSpPr>
        <p:spPr>
          <a:xfrm>
            <a:off x="4224338" y="3805238"/>
            <a:ext cx="647700"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D</a:t>
            </a:r>
            <a:r>
              <a:rPr lang="en-US" altLang="zh-CN" sz="2400" b="1" baseline="-25000">
                <a:solidFill>
                  <a:srgbClr val="000000"/>
                </a:solidFill>
                <a:latin typeface="Times New Roman" panose="02020603050405020304" pitchFamily="18" charset="0"/>
                <a:ea typeface="宋体" panose="02010600030101010101" pitchFamily="2" charset="-122"/>
              </a:rPr>
              <a:t>0</a:t>
            </a:r>
            <a:endParaRPr lang="zh-CN" altLang="en-US" sz="2400" b="1" baseline="-25000" dirty="0">
              <a:solidFill>
                <a:srgbClr val="000000"/>
              </a:solidFill>
              <a:latin typeface="Times New Roman" panose="02020603050405020304" pitchFamily="18" charset="0"/>
              <a:ea typeface="宋体" panose="02010600030101010101" pitchFamily="2" charset="-122"/>
            </a:endParaRPr>
          </a:p>
        </p:txBody>
      </p:sp>
      <p:sp>
        <p:nvSpPr>
          <p:cNvPr id="10250" name="文本框 188442"/>
          <p:cNvSpPr txBox="1"/>
          <p:nvPr/>
        </p:nvSpPr>
        <p:spPr>
          <a:xfrm>
            <a:off x="6240463" y="3805238"/>
            <a:ext cx="647700"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D</a:t>
            </a:r>
            <a:r>
              <a:rPr lang="en-US" altLang="zh-CN" sz="2400" b="1" baseline="-25000">
                <a:solidFill>
                  <a:srgbClr val="000000"/>
                </a:solidFill>
                <a:latin typeface="Times New Roman" panose="02020603050405020304" pitchFamily="18" charset="0"/>
                <a:ea typeface="宋体" panose="02010600030101010101" pitchFamily="2" charset="-122"/>
              </a:rPr>
              <a:t>1</a:t>
            </a:r>
            <a:endParaRPr lang="zh-CN" altLang="en-US" sz="2400" b="1" baseline="-25000" dirty="0">
              <a:solidFill>
                <a:srgbClr val="000000"/>
              </a:solidFill>
              <a:latin typeface="Times New Roman" panose="02020603050405020304" pitchFamily="18" charset="0"/>
              <a:ea typeface="宋体" panose="02010600030101010101" pitchFamily="2" charset="-122"/>
            </a:endParaRPr>
          </a:p>
        </p:txBody>
      </p:sp>
      <p:sp>
        <p:nvSpPr>
          <p:cNvPr id="10251" name="直接连接符 188447"/>
          <p:cNvSpPr/>
          <p:nvPr/>
        </p:nvSpPr>
        <p:spPr>
          <a:xfrm>
            <a:off x="3863975" y="3086101"/>
            <a:ext cx="0" cy="1008063"/>
          </a:xfrm>
          <a:prstGeom prst="line">
            <a:avLst/>
          </a:prstGeom>
          <a:ln w="15875" cap="flat" cmpd="sng">
            <a:solidFill>
              <a:schemeClr val="tx1"/>
            </a:solidFill>
            <a:prstDash val="solid"/>
            <a:round/>
            <a:headEnd type="none" w="med" len="med"/>
            <a:tailEnd type="none" w="med" len="med"/>
          </a:ln>
        </p:spPr>
      </p:sp>
      <p:sp>
        <p:nvSpPr>
          <p:cNvPr id="10252" name="直接连接符 188450"/>
          <p:cNvSpPr/>
          <p:nvPr/>
        </p:nvSpPr>
        <p:spPr>
          <a:xfrm>
            <a:off x="3863975" y="5246688"/>
            <a:ext cx="1512888" cy="0"/>
          </a:xfrm>
          <a:prstGeom prst="line">
            <a:avLst/>
          </a:prstGeom>
          <a:ln w="19050" cap="flat" cmpd="sng">
            <a:solidFill>
              <a:schemeClr val="tx1"/>
            </a:solidFill>
            <a:prstDash val="solid"/>
            <a:round/>
            <a:headEnd type="none" w="med" len="med"/>
            <a:tailEnd type="triangle" w="med" len="med"/>
          </a:ln>
        </p:spPr>
      </p:sp>
      <p:sp>
        <p:nvSpPr>
          <p:cNvPr id="10253" name="椭圆 188451"/>
          <p:cNvSpPr/>
          <p:nvPr/>
        </p:nvSpPr>
        <p:spPr>
          <a:xfrm>
            <a:off x="5376863" y="4959350"/>
            <a:ext cx="431800" cy="503238"/>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10254" name="文本框 188452"/>
          <p:cNvSpPr txBox="1"/>
          <p:nvPr/>
        </p:nvSpPr>
        <p:spPr>
          <a:xfrm>
            <a:off x="5376863" y="4959350"/>
            <a:ext cx="431800"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10255" name="直接连接符 188454"/>
          <p:cNvSpPr/>
          <p:nvPr/>
        </p:nvSpPr>
        <p:spPr>
          <a:xfrm>
            <a:off x="6961189" y="4094163"/>
            <a:ext cx="358775" cy="0"/>
          </a:xfrm>
          <a:prstGeom prst="line">
            <a:avLst/>
          </a:prstGeom>
          <a:ln w="15875" cap="flat" cmpd="sng">
            <a:solidFill>
              <a:schemeClr val="tx1"/>
            </a:solidFill>
            <a:prstDash val="solid"/>
            <a:round/>
            <a:headEnd type="none" w="med" len="med"/>
            <a:tailEnd type="none" w="med" len="med"/>
          </a:ln>
        </p:spPr>
      </p:sp>
      <p:sp>
        <p:nvSpPr>
          <p:cNvPr id="10256" name="直接连接符 188455"/>
          <p:cNvSpPr/>
          <p:nvPr/>
        </p:nvSpPr>
        <p:spPr>
          <a:xfrm flipV="1">
            <a:off x="7319963" y="3086101"/>
            <a:ext cx="0" cy="1008063"/>
          </a:xfrm>
          <a:prstGeom prst="line">
            <a:avLst/>
          </a:prstGeom>
          <a:ln w="15875" cap="flat" cmpd="sng">
            <a:solidFill>
              <a:schemeClr val="tx1"/>
            </a:solidFill>
            <a:prstDash val="solid"/>
            <a:round/>
            <a:headEnd type="none" w="med" len="med"/>
            <a:tailEnd type="none" w="med" len="med"/>
          </a:ln>
        </p:spPr>
      </p:sp>
      <p:sp>
        <p:nvSpPr>
          <p:cNvPr id="10257" name="直接连接符 188457"/>
          <p:cNvSpPr/>
          <p:nvPr/>
        </p:nvSpPr>
        <p:spPr>
          <a:xfrm flipH="1">
            <a:off x="5808663" y="3086100"/>
            <a:ext cx="1511300" cy="0"/>
          </a:xfrm>
          <a:prstGeom prst="line">
            <a:avLst/>
          </a:prstGeom>
          <a:ln w="15875" cap="flat" cmpd="sng">
            <a:solidFill>
              <a:schemeClr val="tx1"/>
            </a:solidFill>
            <a:prstDash val="solid"/>
            <a:round/>
            <a:headEnd type="none" w="med" len="med"/>
            <a:tailEnd type="triangle" w="med" len="med"/>
          </a:ln>
        </p:spPr>
      </p:sp>
      <p:sp>
        <p:nvSpPr>
          <p:cNvPr id="10258" name="直接连接符 188458"/>
          <p:cNvSpPr/>
          <p:nvPr/>
        </p:nvSpPr>
        <p:spPr>
          <a:xfrm flipV="1">
            <a:off x="5592763" y="3302001"/>
            <a:ext cx="0" cy="792163"/>
          </a:xfrm>
          <a:prstGeom prst="line">
            <a:avLst/>
          </a:prstGeom>
          <a:ln w="15875" cap="flat" cmpd="sng">
            <a:solidFill>
              <a:schemeClr val="tx1"/>
            </a:solidFill>
            <a:prstDash val="solid"/>
            <a:round/>
            <a:headEnd type="none" w="med" len="med"/>
            <a:tailEnd type="triangle" w="med" len="med"/>
          </a:ln>
        </p:spPr>
      </p:sp>
      <p:sp>
        <p:nvSpPr>
          <p:cNvPr id="10259" name="直接连接符 188460"/>
          <p:cNvSpPr/>
          <p:nvPr/>
        </p:nvSpPr>
        <p:spPr>
          <a:xfrm flipV="1">
            <a:off x="5592763" y="2438401"/>
            <a:ext cx="0" cy="360363"/>
          </a:xfrm>
          <a:prstGeom prst="line">
            <a:avLst/>
          </a:prstGeom>
          <a:ln w="15875" cap="flat" cmpd="sng">
            <a:solidFill>
              <a:schemeClr val="tx1"/>
            </a:solidFill>
            <a:prstDash val="solid"/>
            <a:round/>
            <a:headEnd type="none" w="med" len="med"/>
            <a:tailEnd type="none" w="med" len="med"/>
          </a:ln>
        </p:spPr>
      </p:sp>
      <p:sp>
        <p:nvSpPr>
          <p:cNvPr id="10260" name="直接连接符 188461"/>
          <p:cNvSpPr/>
          <p:nvPr/>
        </p:nvSpPr>
        <p:spPr>
          <a:xfrm>
            <a:off x="5592764" y="2438400"/>
            <a:ext cx="2592387" cy="0"/>
          </a:xfrm>
          <a:prstGeom prst="line">
            <a:avLst/>
          </a:prstGeom>
          <a:ln w="19050" cap="flat" cmpd="sng">
            <a:solidFill>
              <a:schemeClr val="tx1"/>
            </a:solidFill>
            <a:prstDash val="solid"/>
            <a:round/>
            <a:headEnd type="none" w="med" len="med"/>
            <a:tailEnd type="triangle" w="med" len="med"/>
          </a:ln>
        </p:spPr>
      </p:sp>
      <p:sp>
        <p:nvSpPr>
          <p:cNvPr id="10261" name="直接连接符 188462"/>
          <p:cNvSpPr/>
          <p:nvPr/>
        </p:nvSpPr>
        <p:spPr>
          <a:xfrm>
            <a:off x="3863975" y="4094164"/>
            <a:ext cx="0" cy="1152525"/>
          </a:xfrm>
          <a:prstGeom prst="line">
            <a:avLst/>
          </a:prstGeom>
          <a:ln w="15875" cap="flat" cmpd="sng">
            <a:solidFill>
              <a:schemeClr val="tx1"/>
            </a:solidFill>
            <a:prstDash val="solid"/>
            <a:round/>
            <a:headEnd type="none" w="med" len="med"/>
            <a:tailEnd type="none" w="med" len="med"/>
          </a:ln>
        </p:spPr>
      </p:sp>
      <p:sp>
        <p:nvSpPr>
          <p:cNvPr id="10262" name="直接连接符 188463"/>
          <p:cNvSpPr/>
          <p:nvPr/>
        </p:nvSpPr>
        <p:spPr>
          <a:xfrm flipH="1">
            <a:off x="5808663" y="5246688"/>
            <a:ext cx="1511300" cy="0"/>
          </a:xfrm>
          <a:prstGeom prst="line">
            <a:avLst/>
          </a:prstGeom>
          <a:ln w="15875" cap="flat" cmpd="sng">
            <a:solidFill>
              <a:schemeClr val="tx1"/>
            </a:solidFill>
            <a:prstDash val="solid"/>
            <a:round/>
            <a:headEnd type="none" w="med" len="med"/>
            <a:tailEnd type="triangle" w="med" len="med"/>
          </a:ln>
        </p:spPr>
      </p:sp>
      <p:sp>
        <p:nvSpPr>
          <p:cNvPr id="10263" name="直接连接符 188464"/>
          <p:cNvSpPr/>
          <p:nvPr/>
        </p:nvSpPr>
        <p:spPr>
          <a:xfrm>
            <a:off x="7319963" y="4094164"/>
            <a:ext cx="0" cy="1152525"/>
          </a:xfrm>
          <a:prstGeom prst="line">
            <a:avLst/>
          </a:prstGeom>
          <a:ln w="15875" cap="flat" cmpd="sng">
            <a:solidFill>
              <a:schemeClr val="tx1"/>
            </a:solidFill>
            <a:prstDash val="solid"/>
            <a:round/>
            <a:headEnd type="none" w="med" len="med"/>
            <a:tailEnd type="none" w="med" len="med"/>
          </a:ln>
        </p:spPr>
      </p:sp>
      <p:sp>
        <p:nvSpPr>
          <p:cNvPr id="10264" name="直接连接符 188465"/>
          <p:cNvSpPr/>
          <p:nvPr/>
        </p:nvSpPr>
        <p:spPr>
          <a:xfrm flipV="1">
            <a:off x="5592763" y="5462588"/>
            <a:ext cx="0" cy="360362"/>
          </a:xfrm>
          <a:prstGeom prst="line">
            <a:avLst/>
          </a:prstGeom>
          <a:ln w="15875" cap="flat" cmpd="sng">
            <a:solidFill>
              <a:schemeClr val="tx1"/>
            </a:solidFill>
            <a:prstDash val="solid"/>
            <a:round/>
            <a:headEnd type="none" w="med" len="med"/>
            <a:tailEnd type="none" w="med" len="med"/>
          </a:ln>
        </p:spPr>
      </p:sp>
      <p:sp>
        <p:nvSpPr>
          <p:cNvPr id="10265" name="直接连接符 188466"/>
          <p:cNvSpPr/>
          <p:nvPr/>
        </p:nvSpPr>
        <p:spPr>
          <a:xfrm>
            <a:off x="5592764" y="5822950"/>
            <a:ext cx="2592387" cy="0"/>
          </a:xfrm>
          <a:prstGeom prst="line">
            <a:avLst/>
          </a:prstGeom>
          <a:ln w="19050" cap="flat" cmpd="sng">
            <a:solidFill>
              <a:schemeClr val="tx1"/>
            </a:solidFill>
            <a:prstDash val="solid"/>
            <a:round/>
            <a:headEnd type="none" w="med" len="med"/>
            <a:tailEnd type="triangle" w="med" len="med"/>
          </a:ln>
        </p:spPr>
      </p:sp>
      <p:sp>
        <p:nvSpPr>
          <p:cNvPr id="10266" name="直接连接符 188467"/>
          <p:cNvSpPr/>
          <p:nvPr/>
        </p:nvSpPr>
        <p:spPr>
          <a:xfrm>
            <a:off x="3287713" y="4094163"/>
            <a:ext cx="576262" cy="0"/>
          </a:xfrm>
          <a:prstGeom prst="line">
            <a:avLst/>
          </a:prstGeom>
          <a:ln w="15875" cap="flat" cmpd="sng">
            <a:solidFill>
              <a:schemeClr val="tx1"/>
            </a:solidFill>
            <a:prstDash val="solid"/>
            <a:round/>
            <a:headEnd type="none" w="med" len="med"/>
            <a:tailEnd type="none" w="med" len="med"/>
          </a:ln>
        </p:spPr>
      </p:sp>
      <p:sp>
        <p:nvSpPr>
          <p:cNvPr id="10267" name="文本框 188468"/>
          <p:cNvSpPr txBox="1"/>
          <p:nvPr/>
        </p:nvSpPr>
        <p:spPr>
          <a:xfrm>
            <a:off x="8329614" y="2197100"/>
            <a:ext cx="865187"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V</a:t>
            </a:r>
            <a:r>
              <a:rPr lang="en-US" altLang="zh-CN" sz="2400" b="1" baseline="30000">
                <a:solidFill>
                  <a:srgbClr val="000000"/>
                </a:solidFill>
                <a:latin typeface="Times New Roman" panose="02020603050405020304" pitchFamily="18" charset="0"/>
                <a:ea typeface="宋体" panose="02010600030101010101" pitchFamily="2" charset="-122"/>
              </a:rPr>
              <a:t>(1)</a:t>
            </a:r>
          </a:p>
        </p:txBody>
      </p:sp>
      <p:sp>
        <p:nvSpPr>
          <p:cNvPr id="10268" name="文本框 188469"/>
          <p:cNvSpPr txBox="1"/>
          <p:nvPr/>
        </p:nvSpPr>
        <p:spPr>
          <a:xfrm>
            <a:off x="8329614" y="5607050"/>
            <a:ext cx="865187"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V</a:t>
            </a:r>
            <a:r>
              <a:rPr lang="en-US" altLang="zh-CN" sz="2400" b="1" baseline="30000">
                <a:solidFill>
                  <a:srgbClr val="000000"/>
                </a:solidFill>
                <a:latin typeface="Times New Roman" panose="02020603050405020304" pitchFamily="18" charset="0"/>
                <a:ea typeface="宋体" panose="02010600030101010101" pitchFamily="2" charset="-122"/>
              </a:rPr>
              <a:t>(2)</a:t>
            </a:r>
          </a:p>
        </p:txBody>
      </p:sp>
      <p:sp>
        <p:nvSpPr>
          <p:cNvPr id="10269" name="文本框 188470"/>
          <p:cNvSpPr txBox="1"/>
          <p:nvPr/>
        </p:nvSpPr>
        <p:spPr>
          <a:xfrm>
            <a:off x="2566989" y="3806826"/>
            <a:ext cx="865187" cy="519113"/>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800" b="1" i="1">
                <a:solidFill>
                  <a:srgbClr val="000000"/>
                </a:solidFill>
                <a:latin typeface="Times New Roman" panose="02020603050405020304" pitchFamily="18" charset="0"/>
                <a:ea typeface="宋体" panose="02010600030101010101" pitchFamily="2" charset="-122"/>
              </a:rPr>
              <a:t>u</a:t>
            </a:r>
            <a:endParaRPr lang="en-US" altLang="zh-CN" sz="2800" b="1" i="1" baseline="30000">
              <a:solidFill>
                <a:srgbClr val="000000"/>
              </a:solidFill>
              <a:latin typeface="Times New Roman" panose="02020603050405020304" pitchFamily="18" charset="0"/>
              <a:ea typeface="宋体" panose="02010600030101010101" pitchFamily="2" charset="-122"/>
            </a:endParaRPr>
          </a:p>
        </p:txBody>
      </p:sp>
      <p:sp>
        <p:nvSpPr>
          <p:cNvPr id="10270" name="文本框 188471"/>
          <p:cNvSpPr txBox="1"/>
          <p:nvPr/>
        </p:nvSpPr>
        <p:spPr>
          <a:xfrm>
            <a:off x="3505201" y="6096000"/>
            <a:ext cx="5020945" cy="398780"/>
          </a:xfrm>
          <a:prstGeom prst="rect">
            <a:avLst/>
          </a:prstGeom>
          <a:noFill/>
          <a:ln w="9525">
            <a:noFill/>
          </a:ln>
        </p:spPr>
        <p:txBody>
          <a:bodyPr wrap="square" anchor="t" anchorCtr="0">
            <a:spAutoFit/>
          </a:bodyPr>
          <a:lstStyle/>
          <a:p>
            <a:pPr eaLnBrk="0" fontAlgn="base" hangingPunct="0">
              <a:spcBef>
                <a:spcPct val="50000"/>
              </a:spcBef>
              <a:spcAft>
                <a:spcPct val="0"/>
              </a:spcAft>
            </a:pP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sz="20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6.1  </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二元</a:t>
            </a:r>
            <a:r>
              <a:rPr lang="en-US" altLang="zh-CN" sz="20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(2,1,2)</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卷积码的编码器的电路图</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64456" y="104775"/>
            <a:ext cx="523684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(2,1,2)</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卷积码的冲激响应</a:t>
            </a:r>
          </a:p>
        </p:txBody>
      </p:sp>
      <p:sp>
        <p:nvSpPr>
          <p:cNvPr id="10" name="矩形 9"/>
          <p:cNvSpPr/>
          <p:nvPr/>
        </p:nvSpPr>
        <p:spPr>
          <a:xfrm>
            <a:off x="1873885" y="963931"/>
            <a:ext cx="8488680" cy="116903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文本框 8"/>
          <p:cNvSpPr txBox="1"/>
          <p:nvPr/>
        </p:nvSpPr>
        <p:spPr>
          <a:xfrm>
            <a:off x="2047241" y="1092201"/>
            <a:ext cx="8390255" cy="919867"/>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FF0000"/>
                </a:solidFill>
                <a:latin typeface="Times New Roman" panose="02020603050405020304" pitchFamily="18" charset="0"/>
                <a:ea typeface="黑体" panose="02010609060101010101" pitchFamily="49" charset="-122"/>
                <a:sym typeface="+mn-ea"/>
              </a:rPr>
              <a:t>冲激响应</a:t>
            </a:r>
            <a:r>
              <a:rPr lang="zh-CN" altLang="en-US" sz="2400" b="1" dirty="0">
                <a:solidFill>
                  <a:srgbClr val="FF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编码器的冲激响应就是通过令</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=(100…)</a:t>
            </a:r>
            <a:r>
              <a:rPr lang="zh-CN" altLang="en-US" sz="2400" dirty="0">
                <a:solidFill>
                  <a:srgbClr val="000000"/>
                </a:solidFill>
                <a:latin typeface="Times New Roman" panose="02020603050405020304" pitchFamily="18" charset="0"/>
                <a:ea typeface="黑体" panose="02010609060101010101" pitchFamily="49" charset="-122"/>
                <a:sym typeface="+mn-ea"/>
              </a:rPr>
              <a:t>所得到的两个输出序列</a:t>
            </a:r>
            <a:r>
              <a:rPr lang="zh-CN" altLang="en-US" sz="2400" dirty="0">
                <a:solidFill>
                  <a:srgbClr val="000000"/>
                </a:solidFill>
                <a:latin typeface="黑体" panose="02010609060101010101" pitchFamily="49" charset="-122"/>
                <a:ea typeface="黑体" panose="02010609060101010101" pitchFamily="49" charset="-122"/>
                <a:sym typeface="+mn-ea"/>
              </a:rPr>
              <a:t>。</a:t>
            </a:r>
          </a:p>
        </p:txBody>
      </p:sp>
      <p:sp>
        <p:nvSpPr>
          <p:cNvPr id="7" name="文本框 6"/>
          <p:cNvSpPr txBox="1"/>
          <p:nvPr/>
        </p:nvSpPr>
        <p:spPr>
          <a:xfrm>
            <a:off x="1913890" y="2350135"/>
            <a:ext cx="8540750" cy="1000980"/>
          </a:xfrm>
          <a:prstGeom prst="rect">
            <a:avLst/>
          </a:prstGeom>
          <a:noFill/>
        </p:spPr>
        <p:txBody>
          <a:bodyPr wrap="square" rtlCol="0" anchor="t">
            <a:spAutoFit/>
          </a:bodyPr>
          <a:lstStyle/>
          <a:p>
            <a:pPr indent="609600" eaLnBrk="0" fontAlgn="base" hangingPunct="0">
              <a:lnSpc>
                <a:spcPct val="130000"/>
              </a:lnSpc>
              <a:spcBef>
                <a:spcPct val="0"/>
              </a:spcBef>
              <a:spcAft>
                <a:spcPct val="0"/>
              </a:spcAft>
              <a:extLst>
                <a:ext uri="{35155182-B16C-46BC-9424-99874614C6A1}">
                  <wpsdc:indentchars xmlns="" xmlns:wpsdc="http://www.wps.cn/officeDocument/2017/drawingmlCustomData" val="200" checksum="4158780845"/>
                </a:ext>
              </a:extLst>
            </a:pPr>
            <a:r>
              <a:rPr lang="zh-CN" altLang="en-US" sz="2400" dirty="0">
                <a:solidFill>
                  <a:srgbClr val="000000"/>
                </a:solidFill>
                <a:latin typeface="黑体" panose="02010609060101010101" pitchFamily="49" charset="-122"/>
                <a:ea typeface="黑体" panose="02010609060101010101" pitchFamily="49" charset="-122"/>
                <a:sym typeface="+mn-ea"/>
              </a:rPr>
              <a:t>因为编码器有</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zh-CN" altLang="en-US" sz="2400" dirty="0">
                <a:solidFill>
                  <a:srgbClr val="000000"/>
                </a:solidFill>
                <a:latin typeface="黑体" panose="02010609060101010101" pitchFamily="49" charset="-122"/>
                <a:ea typeface="黑体" panose="02010609060101010101" pitchFamily="49" charset="-122"/>
                <a:sym typeface="+mn-ea"/>
              </a:rPr>
              <a:t>个存储单元，所以冲激响应</a:t>
            </a:r>
            <a:r>
              <a:rPr lang="en-US" altLang="zh-CN" sz="2400">
                <a:solidFill>
                  <a:srgbClr val="00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生成序列</a:t>
            </a:r>
            <a:r>
              <a:rPr lang="en-US" altLang="zh-CN" sz="2400">
                <a:solidFill>
                  <a:srgbClr val="000000"/>
                </a:solidFill>
                <a:latin typeface="黑体" panose="02010609060101010101" pitchFamily="49" charset="-122"/>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至多持续</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个时间单元，且可以写成</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0"/>
          </p:cNvPr>
          <p:cNvGraphicFramePr>
            <a:graphicFrameLocks noChangeAspect="1"/>
          </p:cNvGraphicFramePr>
          <p:nvPr/>
        </p:nvGraphicFramePr>
        <p:xfrm>
          <a:off x="3352800" y="3608070"/>
          <a:ext cx="5212080" cy="473710"/>
        </p:xfrm>
        <a:graphic>
          <a:graphicData uri="http://schemas.openxmlformats.org/presentationml/2006/ole">
            <mc:AlternateContent xmlns:mc="http://schemas.openxmlformats.org/markup-compatibility/2006">
              <mc:Choice xmlns:v="urn:schemas-microsoft-com:vml" Requires="v">
                <p:oleObj r:id="rId2" imgW="2844800" imgH="241300" progId="Equation.KSEE3">
                  <p:embed/>
                </p:oleObj>
              </mc:Choice>
              <mc:Fallback>
                <p:oleObj r:id="rId2" imgW="2844800" imgH="241300" progId="Equation.KSEE3">
                  <p:embed/>
                  <p:pic>
                    <p:nvPicPr>
                      <p:cNvPr id="11" name="对象 10">
                        <a:hlinkClick r:id="" action="ppaction://ole?verb=0"/>
                      </p:cNvPr>
                      <p:cNvPicPr/>
                      <p:nvPr/>
                    </p:nvPicPr>
                    <p:blipFill>
                      <a:blip r:embed="rId3"/>
                      <a:stretch>
                        <a:fillRect/>
                      </a:stretch>
                    </p:blipFill>
                    <p:spPr>
                      <a:xfrm>
                        <a:off x="3352800" y="3608070"/>
                        <a:ext cx="5212080" cy="473710"/>
                      </a:xfrm>
                      <a:prstGeom prst="rect">
                        <a:avLst/>
                      </a:prstGeom>
                    </p:spPr>
                  </p:pic>
                </p:oleObj>
              </mc:Fallback>
            </mc:AlternateContent>
          </a:graphicData>
        </a:graphic>
      </p:graphicFrame>
      <p:sp>
        <p:nvSpPr>
          <p:cNvPr id="3" name="文本框 2"/>
          <p:cNvSpPr txBox="1"/>
          <p:nvPr/>
        </p:nvSpPr>
        <p:spPr>
          <a:xfrm>
            <a:off x="1896745" y="4114801"/>
            <a:ext cx="8540750" cy="2009775"/>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dirty="0">
                <a:solidFill>
                  <a:srgbClr val="000000"/>
                </a:solidFill>
                <a:latin typeface="黑体" panose="02010609060101010101" pitchFamily="49" charset="-122"/>
                <a:ea typeface="黑体" panose="02010609060101010101" pitchFamily="49" charset="-122"/>
                <a:sym typeface="+mn-ea"/>
              </a:rPr>
              <a:t>其中上标表示第几个输出端</a:t>
            </a:r>
            <a:endParaRPr lang="zh-CN" altLang="en-US" sz="2400" dirty="0">
              <a:solidFill>
                <a:srgbClr val="000000"/>
              </a:solidFill>
              <a:latin typeface="黑体" panose="02010609060101010101" pitchFamily="49" charset="-122"/>
              <a:ea typeface="黑体" panose="02010609060101010101" pitchFamily="49" charset="-122"/>
            </a:endParaRPr>
          </a:p>
          <a:p>
            <a:pPr eaLnBrk="0" fontAlgn="base" hangingPunct="0">
              <a:lnSpc>
                <a:spcPct val="130000"/>
              </a:lnSpc>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6.1</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(2,1,2)</a:t>
            </a:r>
            <a:r>
              <a:rPr lang="zh-CN" altLang="en-US" sz="2400" dirty="0">
                <a:solidFill>
                  <a:srgbClr val="000000"/>
                </a:solidFill>
                <a:latin typeface="黑体" panose="02010609060101010101" pitchFamily="49" charset="-122"/>
                <a:ea typeface="黑体" panose="02010609060101010101" pitchFamily="49" charset="-122"/>
                <a:sym typeface="+mn-ea"/>
              </a:rPr>
              <a:t>卷积码的冲激响应为</a:t>
            </a:r>
            <a:r>
              <a:rPr lang="en-US" altLang="zh-CN" sz="2400">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=(111), 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=(101)</a:t>
            </a:r>
            <a:endParaRPr lang="en-US" altLang="zh-CN" sz="240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30000"/>
              </a:lnSpc>
              <a:spcBef>
                <a:spcPct val="0"/>
              </a:spcBef>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另外，冲激响应向量还可以表示输入、移位寄存器和输出之间的连接关系，</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表示有连接，</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表示没有连接</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75936"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(2,1,2)</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卷积码的输出序列</a:t>
            </a:r>
          </a:p>
        </p:txBody>
      </p:sp>
      <p:sp>
        <p:nvSpPr>
          <p:cNvPr id="3" name="文本框 2"/>
          <p:cNvSpPr txBox="1"/>
          <p:nvPr/>
        </p:nvSpPr>
        <p:spPr>
          <a:xfrm>
            <a:off x="1838325" y="989965"/>
            <a:ext cx="8540750" cy="1000980"/>
          </a:xfrm>
          <a:prstGeom prst="rect">
            <a:avLst/>
          </a:prstGeom>
          <a:noFill/>
        </p:spPr>
        <p:txBody>
          <a:bodyPr wrap="square" rtlCol="0" anchor="t">
            <a:spAutoFit/>
          </a:bodyPr>
          <a:lstStyle/>
          <a:p>
            <a:pPr indent="711200" eaLnBrk="0" fontAlgn="base" hangingPunct="0">
              <a:lnSpc>
                <a:spcPct val="13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信息序列</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每次进入编码器</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比特，编码器的两个输出序列</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0"/>
          </p:cNvPr>
          <p:cNvGraphicFramePr>
            <a:graphicFrameLocks noChangeAspect="1"/>
          </p:cNvGraphicFramePr>
          <p:nvPr/>
        </p:nvGraphicFramePr>
        <p:xfrm>
          <a:off x="3568065" y="2247900"/>
          <a:ext cx="4630420" cy="473710"/>
        </p:xfrm>
        <a:graphic>
          <a:graphicData uri="http://schemas.openxmlformats.org/presentationml/2006/ole">
            <mc:AlternateContent xmlns:mc="http://schemas.openxmlformats.org/markup-compatibility/2006">
              <mc:Choice xmlns:v="urn:schemas-microsoft-com:vml" Requires="v">
                <p:oleObj r:id="rId2" imgW="2527300" imgH="241300" progId="Equation.KSEE3">
                  <p:embed/>
                </p:oleObj>
              </mc:Choice>
              <mc:Fallback>
                <p:oleObj r:id="rId2" imgW="2527300" imgH="241300" progId="Equation.KSEE3">
                  <p:embed/>
                  <p:pic>
                    <p:nvPicPr>
                      <p:cNvPr id="11" name="对象 10">
                        <a:hlinkClick r:id="" action="ppaction://ole?verb=0"/>
                      </p:cNvPr>
                      <p:cNvPicPr/>
                      <p:nvPr/>
                    </p:nvPicPr>
                    <p:blipFill>
                      <a:blip r:embed="rId3"/>
                      <a:stretch>
                        <a:fillRect/>
                      </a:stretch>
                    </p:blipFill>
                    <p:spPr>
                      <a:xfrm>
                        <a:off x="3568065" y="2247900"/>
                        <a:ext cx="4630420" cy="473710"/>
                      </a:xfrm>
                      <a:prstGeom prst="rect">
                        <a:avLst/>
                      </a:prstGeom>
                    </p:spPr>
                  </p:pic>
                </p:oleObj>
              </mc:Fallback>
            </mc:AlternateContent>
          </a:graphicData>
        </a:graphic>
      </p:graphicFrame>
      <p:sp>
        <p:nvSpPr>
          <p:cNvPr id="4" name="文本框 3"/>
          <p:cNvSpPr txBox="1"/>
          <p:nvPr/>
        </p:nvSpPr>
        <p:spPr>
          <a:xfrm>
            <a:off x="1821180" y="2752725"/>
            <a:ext cx="8540750" cy="2489200"/>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可以通过输入序列</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zh-CN" altLang="en-US" sz="2400" dirty="0">
                <a:solidFill>
                  <a:srgbClr val="000000"/>
                </a:solidFill>
                <a:latin typeface="Times New Roman" panose="02020603050405020304" pitchFamily="18" charset="0"/>
                <a:ea typeface="黑体" panose="02010609060101010101" pitchFamily="49" charset="-122"/>
                <a:sym typeface="+mn-ea"/>
              </a:rPr>
              <a:t>和编码器的两个冲激响应作卷积运算而得到。</a:t>
            </a:r>
            <a:endParaRPr lang="zh-CN" altLang="en-US" sz="2400" dirty="0">
              <a:solidFill>
                <a:srgbClr val="000000"/>
              </a:solidFill>
              <a:latin typeface="黑体" panose="02010609060101010101" pitchFamily="49" charset="-122"/>
              <a:ea typeface="黑体" panose="02010609060101010101" pitchFamily="49" charset="-122"/>
            </a:endParaRPr>
          </a:p>
          <a:p>
            <a:pPr eaLnBrk="0" fontAlgn="base" hangingPunct="0">
              <a:lnSpc>
                <a:spcPct val="130000"/>
              </a:lnSpc>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若</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=(1011), </a:t>
            </a:r>
            <a:r>
              <a:rPr lang="zh-CN" altLang="en-US" sz="2400" dirty="0">
                <a:solidFill>
                  <a:srgbClr val="000000"/>
                </a:solidFill>
                <a:latin typeface="黑体" panose="02010609060101010101" pitchFamily="49" charset="-122"/>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6.1</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(2,1,2)</a:t>
            </a:r>
            <a:r>
              <a:rPr lang="zh-CN" altLang="en-US" sz="2400" dirty="0">
                <a:solidFill>
                  <a:srgbClr val="000000"/>
                </a:solidFill>
                <a:latin typeface="黑体" panose="02010609060101010101" pitchFamily="49" charset="-122"/>
                <a:ea typeface="黑体" panose="02010609060101010101" pitchFamily="49" charset="-122"/>
                <a:sym typeface="+mn-ea"/>
              </a:rPr>
              <a:t>卷积码的冲激响应为</a:t>
            </a:r>
            <a:r>
              <a:rPr lang="en-US" altLang="zh-CN" sz="2400">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=(111), 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=(101)</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则该卷积码的输出序列为</a:t>
            </a:r>
            <a:r>
              <a:rPr lang="en-US" altLang="zh-CN" sz="2400" b="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=(110001), </a:t>
            </a:r>
            <a:r>
              <a:rPr lang="en-US" altLang="zh-CN" sz="2400" b="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=(100111)</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75936"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(2,1,2)</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卷积码的码字</a:t>
            </a:r>
          </a:p>
        </p:txBody>
      </p:sp>
      <p:sp>
        <p:nvSpPr>
          <p:cNvPr id="3" name="文本框 2"/>
          <p:cNvSpPr txBox="1"/>
          <p:nvPr/>
        </p:nvSpPr>
        <p:spPr>
          <a:xfrm>
            <a:off x="1838325" y="989965"/>
            <a:ext cx="3092450" cy="520848"/>
          </a:xfrm>
          <a:prstGeom prst="rect">
            <a:avLst/>
          </a:prstGeom>
          <a:noFill/>
        </p:spPr>
        <p:txBody>
          <a:bodyPr wrap="square" rtlCol="0" anchor="t">
            <a:spAutoFit/>
          </a:bodyPr>
          <a:lstStyle/>
          <a:p>
            <a:pPr indent="711200" eaLnBrk="0" fontAlgn="base" hangingPunct="0">
              <a:lnSpc>
                <a:spcPct val="13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输出序列分别为</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0"/>
          </p:cNvPr>
          <p:cNvGraphicFramePr>
            <a:graphicFrameLocks noChangeAspect="1"/>
          </p:cNvGraphicFramePr>
          <p:nvPr/>
        </p:nvGraphicFramePr>
        <p:xfrm>
          <a:off x="4800600" y="1066800"/>
          <a:ext cx="4630420" cy="473710"/>
        </p:xfrm>
        <a:graphic>
          <a:graphicData uri="http://schemas.openxmlformats.org/presentationml/2006/ole">
            <mc:AlternateContent xmlns:mc="http://schemas.openxmlformats.org/markup-compatibility/2006">
              <mc:Choice xmlns:v="urn:schemas-microsoft-com:vml" Requires="v">
                <p:oleObj r:id="rId2" imgW="2527300" imgH="241300" progId="Equation.KSEE3">
                  <p:embed/>
                </p:oleObj>
              </mc:Choice>
              <mc:Fallback>
                <p:oleObj r:id="rId2" imgW="2527300" imgH="241300" progId="Equation.KSEE3">
                  <p:embed/>
                  <p:pic>
                    <p:nvPicPr>
                      <p:cNvPr id="11" name="对象 10">
                        <a:hlinkClick r:id="" action="ppaction://ole?verb=0"/>
                      </p:cNvPr>
                      <p:cNvPicPr/>
                      <p:nvPr/>
                    </p:nvPicPr>
                    <p:blipFill>
                      <a:blip r:embed="rId3"/>
                      <a:stretch>
                        <a:fillRect/>
                      </a:stretch>
                    </p:blipFill>
                    <p:spPr>
                      <a:xfrm>
                        <a:off x="4800600" y="1066800"/>
                        <a:ext cx="4630420" cy="473710"/>
                      </a:xfrm>
                      <a:prstGeom prst="rect">
                        <a:avLst/>
                      </a:prstGeom>
                    </p:spPr>
                  </p:pic>
                </p:oleObj>
              </mc:Fallback>
            </mc:AlternateContent>
          </a:graphicData>
        </a:graphic>
      </p:graphicFrame>
      <p:sp>
        <p:nvSpPr>
          <p:cNvPr id="4" name="文本框 3"/>
          <p:cNvSpPr txBox="1"/>
          <p:nvPr/>
        </p:nvSpPr>
        <p:spPr>
          <a:xfrm>
            <a:off x="2047876" y="1619250"/>
            <a:ext cx="8325485" cy="520848"/>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(2,1,</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的卷积码的码字，为</a:t>
            </a:r>
            <a:r>
              <a:rPr lang="en-US" altLang="zh-CN" sz="2400" b="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和</a:t>
            </a:r>
            <a:r>
              <a:rPr lang="en-US" altLang="zh-CN" sz="2400" b="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的交错，即</a:t>
            </a:r>
          </a:p>
        </p:txBody>
      </p:sp>
      <p:graphicFrame>
        <p:nvGraphicFramePr>
          <p:cNvPr id="5" name="对象 4">
            <a:hlinkClick r:id="" action="ppaction://ole?verb=0"/>
          </p:cNvPr>
          <p:cNvGraphicFramePr>
            <a:graphicFrameLocks noChangeAspect="1"/>
          </p:cNvGraphicFramePr>
          <p:nvPr/>
        </p:nvGraphicFramePr>
        <p:xfrm>
          <a:off x="4343719" y="2474595"/>
          <a:ext cx="3560445" cy="473710"/>
        </p:xfrm>
        <a:graphic>
          <a:graphicData uri="http://schemas.openxmlformats.org/presentationml/2006/ole">
            <mc:AlternateContent xmlns:mc="http://schemas.openxmlformats.org/markup-compatibility/2006">
              <mc:Choice xmlns:v="urn:schemas-microsoft-com:vml" Requires="v">
                <p:oleObj r:id="rId4" imgW="1943100" imgH="241300" progId="Equation.KSEE3">
                  <p:embed/>
                </p:oleObj>
              </mc:Choice>
              <mc:Fallback>
                <p:oleObj r:id="rId4" imgW="1943100" imgH="241300" progId="Equation.KSEE3">
                  <p:embed/>
                  <p:pic>
                    <p:nvPicPr>
                      <p:cNvPr id="5" name="对象 4">
                        <a:hlinkClick r:id="" action="ppaction://ole?verb=0"/>
                      </p:cNvPr>
                      <p:cNvPicPr/>
                      <p:nvPr/>
                    </p:nvPicPr>
                    <p:blipFill>
                      <a:blip r:embed="rId5"/>
                      <a:stretch>
                        <a:fillRect/>
                      </a:stretch>
                    </p:blipFill>
                    <p:spPr>
                      <a:xfrm>
                        <a:off x="4343719" y="2474595"/>
                        <a:ext cx="3560445" cy="473710"/>
                      </a:xfrm>
                      <a:prstGeom prst="rect">
                        <a:avLst/>
                      </a:prstGeom>
                    </p:spPr>
                  </p:pic>
                </p:oleObj>
              </mc:Fallback>
            </mc:AlternateContent>
          </a:graphicData>
        </a:graphic>
      </p:graphicFrame>
      <p:sp>
        <p:nvSpPr>
          <p:cNvPr id="10" name="文本框 9"/>
          <p:cNvSpPr txBox="1"/>
          <p:nvPr/>
        </p:nvSpPr>
        <p:spPr>
          <a:xfrm>
            <a:off x="2127250" y="3232786"/>
            <a:ext cx="7993380" cy="1863725"/>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6.1</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(2,1,2)</a:t>
            </a:r>
            <a:r>
              <a:rPr lang="zh-CN" altLang="en-US" sz="2400" dirty="0">
                <a:solidFill>
                  <a:srgbClr val="000000"/>
                </a:solidFill>
                <a:latin typeface="黑体" panose="02010609060101010101" pitchFamily="49" charset="-122"/>
                <a:ea typeface="黑体" panose="02010609060101010101" pitchFamily="49" charset="-122"/>
                <a:sym typeface="+mn-ea"/>
              </a:rPr>
              <a:t>卷积码，若</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=(1011), </a:t>
            </a:r>
            <a:r>
              <a:rPr lang="zh-CN" altLang="en-US" sz="2400" dirty="0">
                <a:solidFill>
                  <a:srgbClr val="000000"/>
                </a:solidFill>
                <a:latin typeface="黑体" panose="02010609060101010101" pitchFamily="49" charset="-122"/>
                <a:ea typeface="黑体" panose="02010609060101010101" pitchFamily="49" charset="-122"/>
                <a:sym typeface="+mn-ea"/>
              </a:rPr>
              <a:t>冲激响应为</a:t>
            </a:r>
            <a:r>
              <a:rPr lang="en-US" altLang="zh-CN" sz="2400">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=(111), 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=(101)</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该卷积码的输出序列为</a:t>
            </a:r>
            <a:r>
              <a:rPr lang="en-US" altLang="zh-CN" sz="2400" b="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=(110001), </a:t>
            </a:r>
            <a:r>
              <a:rPr lang="en-US" altLang="zh-CN" sz="2400" b="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=(100111)</a:t>
            </a:r>
            <a:r>
              <a:rPr lang="zh-CN" altLang="en-US" sz="2400" dirty="0">
                <a:solidFill>
                  <a:srgbClr val="000000"/>
                </a:solidFill>
                <a:latin typeface="Times New Roman" panose="02020603050405020304" pitchFamily="18" charset="0"/>
                <a:ea typeface="黑体" panose="02010609060101010101" pitchFamily="49" charset="-122"/>
                <a:sym typeface="+mn-ea"/>
              </a:rPr>
              <a:t>，得到的码字为</a:t>
            </a:r>
            <a:r>
              <a:rPr lang="en-US" altLang="zh-CN" sz="2400" b="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=(11,10,00,01,01,11)</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75936"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(2,1,2)</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卷积码的码字</a:t>
            </a:r>
          </a:p>
        </p:txBody>
      </p:sp>
      <p:sp>
        <p:nvSpPr>
          <p:cNvPr id="3" name="文本框 2"/>
          <p:cNvSpPr txBox="1"/>
          <p:nvPr/>
        </p:nvSpPr>
        <p:spPr>
          <a:xfrm>
            <a:off x="1838326" y="763270"/>
            <a:ext cx="4618355" cy="520848"/>
          </a:xfrm>
          <a:prstGeom prst="rect">
            <a:avLst/>
          </a:prstGeom>
          <a:noFill/>
        </p:spPr>
        <p:txBody>
          <a:bodyPr wrap="square" rtlCol="0" anchor="t">
            <a:spAutoFit/>
          </a:bodyPr>
          <a:lstStyle/>
          <a:p>
            <a:pPr indent="711200" eaLnBrk="0" fontAlgn="base" hangingPunct="0">
              <a:lnSpc>
                <a:spcPct val="13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以</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为输入</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以</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0"/>
          </p:cNvPr>
          <p:cNvGraphicFramePr>
            <a:graphicFrameLocks noChangeAspect="1"/>
          </p:cNvGraphicFramePr>
          <p:nvPr/>
        </p:nvGraphicFramePr>
        <p:xfrm>
          <a:off x="3428684" y="1373505"/>
          <a:ext cx="5212715" cy="473710"/>
        </p:xfrm>
        <a:graphic>
          <a:graphicData uri="http://schemas.openxmlformats.org/presentationml/2006/ole">
            <mc:AlternateContent xmlns:mc="http://schemas.openxmlformats.org/markup-compatibility/2006">
              <mc:Choice xmlns:v="urn:schemas-microsoft-com:vml" Requires="v">
                <p:oleObj r:id="rId2" imgW="2844800" imgH="241300" progId="Equation.KSEE3">
                  <p:embed/>
                </p:oleObj>
              </mc:Choice>
              <mc:Fallback>
                <p:oleObj r:id="rId2" imgW="2844800" imgH="241300" progId="Equation.KSEE3">
                  <p:embed/>
                  <p:pic>
                    <p:nvPicPr>
                      <p:cNvPr id="11" name="对象 10">
                        <a:hlinkClick r:id="" action="ppaction://ole?verb=0"/>
                      </p:cNvPr>
                      <p:cNvPicPr/>
                      <p:nvPr/>
                    </p:nvPicPr>
                    <p:blipFill>
                      <a:blip r:embed="rId3"/>
                      <a:stretch>
                        <a:fillRect/>
                      </a:stretch>
                    </p:blipFill>
                    <p:spPr>
                      <a:xfrm>
                        <a:off x="3428684" y="1373505"/>
                        <a:ext cx="5212715" cy="473710"/>
                      </a:xfrm>
                      <a:prstGeom prst="rect">
                        <a:avLst/>
                      </a:prstGeom>
                    </p:spPr>
                  </p:pic>
                </p:oleObj>
              </mc:Fallback>
            </mc:AlternateContent>
          </a:graphicData>
        </a:graphic>
      </p:graphicFrame>
      <p:sp>
        <p:nvSpPr>
          <p:cNvPr id="4" name="文本框 3"/>
          <p:cNvSpPr txBox="1"/>
          <p:nvPr/>
        </p:nvSpPr>
        <p:spPr>
          <a:xfrm>
            <a:off x="1896746" y="1845945"/>
            <a:ext cx="8325485" cy="1000980"/>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为生成序列的</a:t>
            </a:r>
            <a:r>
              <a:rPr lang="en-US" altLang="zh-CN" sz="2400">
                <a:solidFill>
                  <a:srgbClr val="000000"/>
                </a:solidFill>
                <a:latin typeface="Times New Roman" panose="02020603050405020304" pitchFamily="18" charset="0"/>
                <a:ea typeface="黑体" panose="02010609060101010101" pitchFamily="49" charset="-122"/>
                <a:sym typeface="+mn-ea"/>
              </a:rPr>
              <a:t>(2,1,</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卷积码的输出序列分别由方程</a:t>
            </a:r>
            <a:r>
              <a:rPr lang="en-US" altLang="zh-CN" sz="2400" b="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黑体" panose="02010609060101010101" pitchFamily="49" charset="-122"/>
                <a:ea typeface="黑体" panose="02010609060101010101" pitchFamily="49" charset="-122"/>
                <a:sym typeface="+mn-ea"/>
              </a:rPr>
              <a:t>和</a:t>
            </a:r>
            <a:r>
              <a:rPr lang="en-US" altLang="zh-CN" sz="2400" b="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黑体" panose="02010609060101010101" pitchFamily="49" charset="-122"/>
                <a:ea typeface="黑体" panose="02010609060101010101" pitchFamily="49" charset="-122"/>
                <a:sym typeface="+mn-ea"/>
              </a:rPr>
              <a:t>得到。</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5" name="对象 4">
            <a:hlinkClick r:id="" action="ppaction://ole?verb=0"/>
          </p:cNvPr>
          <p:cNvGraphicFramePr>
            <a:graphicFrameLocks noChangeAspect="1"/>
          </p:cNvGraphicFramePr>
          <p:nvPr/>
        </p:nvGraphicFramePr>
        <p:xfrm>
          <a:off x="3168334" y="3356929"/>
          <a:ext cx="5911215" cy="1396365"/>
        </p:xfrm>
        <a:graphic>
          <a:graphicData uri="http://schemas.openxmlformats.org/presentationml/2006/ole">
            <mc:AlternateContent xmlns:mc="http://schemas.openxmlformats.org/markup-compatibility/2006">
              <mc:Choice xmlns:v="urn:schemas-microsoft-com:vml" Requires="v">
                <p:oleObj r:id="rId4" imgW="3225800" imgH="711200" progId="Equation.KSEE3">
                  <p:embed/>
                </p:oleObj>
              </mc:Choice>
              <mc:Fallback>
                <p:oleObj r:id="rId4" imgW="3225800" imgH="711200" progId="Equation.KSEE3">
                  <p:embed/>
                  <p:pic>
                    <p:nvPicPr>
                      <p:cNvPr id="5" name="对象 4">
                        <a:hlinkClick r:id="" action="ppaction://ole?verb=0"/>
                      </p:cNvPr>
                      <p:cNvPicPr/>
                      <p:nvPr/>
                    </p:nvPicPr>
                    <p:blipFill>
                      <a:blip r:embed="rId5"/>
                      <a:stretch>
                        <a:fillRect/>
                      </a:stretch>
                    </p:blipFill>
                    <p:spPr>
                      <a:xfrm>
                        <a:off x="3168334" y="3356929"/>
                        <a:ext cx="5911215" cy="1396365"/>
                      </a:xfrm>
                      <a:prstGeom prst="rect">
                        <a:avLst/>
                      </a:prstGeom>
                    </p:spPr>
                  </p:pic>
                </p:oleObj>
              </mc:Fallback>
            </mc:AlternateContent>
          </a:graphicData>
        </a:graphic>
      </p:graphicFrame>
      <p:sp>
        <p:nvSpPr>
          <p:cNvPr id="10" name="文本框 9"/>
          <p:cNvSpPr txBox="1"/>
          <p:nvPr/>
        </p:nvSpPr>
        <p:spPr>
          <a:xfrm>
            <a:off x="1976120" y="2854960"/>
            <a:ext cx="7993380" cy="493148"/>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6.1</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(2,1,2)</a:t>
            </a:r>
            <a:r>
              <a:rPr lang="zh-CN" altLang="en-US" sz="2400" dirty="0">
                <a:solidFill>
                  <a:srgbClr val="000000"/>
                </a:solidFill>
                <a:latin typeface="黑体" panose="02010609060101010101" pitchFamily="49" charset="-122"/>
                <a:ea typeface="黑体" panose="02010609060101010101" pitchFamily="49" charset="-122"/>
                <a:sym typeface="+mn-ea"/>
              </a:rPr>
              <a:t>卷积码的编码方程为</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7" name="文本框 6"/>
          <p:cNvSpPr txBox="1"/>
          <p:nvPr/>
        </p:nvSpPr>
        <p:spPr>
          <a:xfrm>
            <a:off x="1948181" y="4768851"/>
            <a:ext cx="8325485" cy="1529715"/>
          </a:xfrm>
          <a:prstGeom prst="rect">
            <a:avLst/>
          </a:prstGeom>
          <a:noFill/>
        </p:spPr>
        <p:txBody>
          <a:bodyPr wrap="square" rtlCol="0" anchor="t">
            <a:spAutoFit/>
          </a:bodyPr>
          <a:lstStyle/>
          <a:p>
            <a:pPr indent="609600" eaLnBrk="0" fontAlgn="base" hangingPunct="0">
              <a:lnSpc>
                <a:spcPct val="130000"/>
              </a:lnSpc>
              <a:spcBef>
                <a:spcPct val="0"/>
              </a:spcBef>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另外，编码方程中每一项的系数，还可以表示输入、移位寄存器和输出之间的连接关系，</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表示有连接，</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表示没有连接</a:t>
            </a:r>
            <a:r>
              <a:rPr lang="zh-CN" altLang="en-US" sz="2400" dirty="0">
                <a:solidFill>
                  <a:srgbClr val="000000"/>
                </a:solidFill>
                <a:latin typeface="黑体" panose="02010609060101010101" pitchFamily="49" charset="-122"/>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75936"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(2,1,2)</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卷积码的生成矩阵</a:t>
            </a:r>
          </a:p>
        </p:txBody>
      </p:sp>
      <p:sp>
        <p:nvSpPr>
          <p:cNvPr id="3" name="文本框 2"/>
          <p:cNvSpPr txBox="1"/>
          <p:nvPr/>
        </p:nvSpPr>
        <p:spPr>
          <a:xfrm>
            <a:off x="1838326" y="763270"/>
            <a:ext cx="8383905" cy="1000980"/>
          </a:xfrm>
          <a:prstGeom prst="rect">
            <a:avLst/>
          </a:prstGeom>
          <a:noFill/>
        </p:spPr>
        <p:txBody>
          <a:bodyPr wrap="square" rtlCol="0" anchor="t">
            <a:spAutoFit/>
          </a:bodyPr>
          <a:lstStyle/>
          <a:p>
            <a:pPr indent="711200" eaLnBrk="0" fontAlgn="base" hangingPunct="0">
              <a:lnSpc>
                <a:spcPct val="130000"/>
              </a:lnSpc>
              <a:spcBef>
                <a:spcPct val="0"/>
              </a:spcBef>
              <a:spcAft>
                <a:spcPct val="0"/>
              </a:spcAft>
            </a:pPr>
            <a:r>
              <a:rPr lang="en-US" altLang="zh-CN" sz="2400">
                <a:solidFill>
                  <a:srgbClr val="000000"/>
                </a:solidFill>
                <a:latin typeface="Times New Roman" panose="02020603050405020304" pitchFamily="18" charset="0"/>
                <a:ea typeface="黑体" panose="02010609060101010101" pitchFamily="49" charset="-122"/>
                <a:sym typeface="+mn-ea"/>
              </a:rPr>
              <a:t>(2,1, </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卷积码</a:t>
            </a:r>
            <a:r>
              <a:rPr lang="zh-CN" altLang="en-US" sz="2400" dirty="0">
                <a:solidFill>
                  <a:srgbClr val="000000"/>
                </a:solidFill>
                <a:latin typeface="Times New Roman" panose="02020603050405020304" pitchFamily="18" charset="0"/>
                <a:ea typeface="黑体" panose="02010609060101010101" pitchFamily="49" charset="-122"/>
                <a:sym typeface="+mn-ea"/>
              </a:rPr>
              <a:t>的生成矩阵：将生成序列</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和</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交织后形成的半无限矩阵</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0"/>
          </p:cNvPr>
          <p:cNvGraphicFramePr>
            <a:graphicFrameLocks noChangeAspect="1"/>
          </p:cNvGraphicFramePr>
          <p:nvPr/>
        </p:nvGraphicFramePr>
        <p:xfrm>
          <a:off x="1973580" y="1964690"/>
          <a:ext cx="8209280" cy="1621790"/>
        </p:xfrm>
        <a:graphic>
          <a:graphicData uri="http://schemas.openxmlformats.org/presentationml/2006/ole">
            <mc:AlternateContent xmlns:mc="http://schemas.openxmlformats.org/markup-compatibility/2006">
              <mc:Choice xmlns:v="urn:schemas-microsoft-com:vml" Requires="v">
                <p:oleObj r:id="rId2" imgW="5334000" imgH="939800" progId="Equation.KSEE3">
                  <p:embed/>
                </p:oleObj>
              </mc:Choice>
              <mc:Fallback>
                <p:oleObj r:id="rId2" imgW="5334000" imgH="939800" progId="Equation.KSEE3">
                  <p:embed/>
                  <p:pic>
                    <p:nvPicPr>
                      <p:cNvPr id="11" name="对象 10">
                        <a:hlinkClick r:id="" action="ppaction://ole?verb=0"/>
                      </p:cNvPr>
                      <p:cNvPicPr/>
                      <p:nvPr/>
                    </p:nvPicPr>
                    <p:blipFill>
                      <a:blip r:embed="rId3"/>
                      <a:stretch>
                        <a:fillRect/>
                      </a:stretch>
                    </p:blipFill>
                    <p:spPr>
                      <a:xfrm>
                        <a:off x="1973580" y="1964690"/>
                        <a:ext cx="8209280" cy="1621790"/>
                      </a:xfrm>
                      <a:prstGeom prst="rect">
                        <a:avLst/>
                      </a:prstGeom>
                    </p:spPr>
                  </p:pic>
                </p:oleObj>
              </mc:Fallback>
            </mc:AlternateContent>
          </a:graphicData>
        </a:graphic>
      </p:graphicFrame>
      <p:graphicFrame>
        <p:nvGraphicFramePr>
          <p:cNvPr id="5" name="对象 4">
            <a:hlinkClick r:id="" action="ppaction://ole?verb=0"/>
          </p:cNvPr>
          <p:cNvGraphicFramePr>
            <a:graphicFrameLocks noChangeAspect="1"/>
          </p:cNvGraphicFramePr>
          <p:nvPr/>
        </p:nvGraphicFramePr>
        <p:xfrm>
          <a:off x="3962400" y="4799966"/>
          <a:ext cx="4527550" cy="1588135"/>
        </p:xfrm>
        <a:graphic>
          <a:graphicData uri="http://schemas.openxmlformats.org/presentationml/2006/ole">
            <mc:AlternateContent xmlns:mc="http://schemas.openxmlformats.org/markup-compatibility/2006">
              <mc:Choice xmlns:v="urn:schemas-microsoft-com:vml" Requires="v">
                <p:oleObj r:id="rId4" imgW="2794000" imgH="914400" progId="Equation.KSEE3">
                  <p:embed/>
                </p:oleObj>
              </mc:Choice>
              <mc:Fallback>
                <p:oleObj r:id="rId4" imgW="2794000" imgH="914400" progId="Equation.KSEE3">
                  <p:embed/>
                  <p:pic>
                    <p:nvPicPr>
                      <p:cNvPr id="5" name="对象 4">
                        <a:hlinkClick r:id="" action="ppaction://ole?verb=0"/>
                      </p:cNvPr>
                      <p:cNvPicPr/>
                      <p:nvPr/>
                    </p:nvPicPr>
                    <p:blipFill>
                      <a:blip r:embed="rId5"/>
                      <a:stretch>
                        <a:fillRect/>
                      </a:stretch>
                    </p:blipFill>
                    <p:spPr>
                      <a:xfrm>
                        <a:off x="3962400" y="4799966"/>
                        <a:ext cx="4527550" cy="1588135"/>
                      </a:xfrm>
                      <a:prstGeom prst="rect">
                        <a:avLst/>
                      </a:prstGeom>
                    </p:spPr>
                  </p:pic>
                </p:oleObj>
              </mc:Fallback>
            </mc:AlternateContent>
          </a:graphicData>
        </a:graphic>
      </p:graphicFrame>
      <p:sp>
        <p:nvSpPr>
          <p:cNvPr id="10" name="文本框 9"/>
          <p:cNvSpPr txBox="1"/>
          <p:nvPr/>
        </p:nvSpPr>
        <p:spPr>
          <a:xfrm>
            <a:off x="1976120" y="3686176"/>
            <a:ext cx="7993380" cy="936347"/>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6.1</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(2,1,2)</a:t>
            </a:r>
            <a:r>
              <a:rPr lang="zh-CN" altLang="en-US" sz="2400" dirty="0">
                <a:solidFill>
                  <a:srgbClr val="000000"/>
                </a:solidFill>
                <a:latin typeface="黑体" panose="02010609060101010101" pitchFamily="49" charset="-122"/>
                <a:ea typeface="黑体" panose="02010609060101010101" pitchFamily="49" charset="-122"/>
                <a:sym typeface="+mn-ea"/>
              </a:rPr>
              <a:t>卷积码冲激响应为</a:t>
            </a:r>
            <a:r>
              <a:rPr lang="en-US" altLang="zh-CN" sz="2400">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=(111), 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=(101)</a:t>
            </a:r>
            <a:r>
              <a:rPr lang="zh-CN" altLang="en-US" sz="2400" dirty="0">
                <a:solidFill>
                  <a:srgbClr val="000000"/>
                </a:solidFill>
                <a:latin typeface="Times New Roman" panose="02020603050405020304" pitchFamily="18" charset="0"/>
                <a:ea typeface="黑体" panose="02010609060101010101" pitchFamily="49" charset="-122"/>
                <a:sym typeface="+mn-ea"/>
              </a:rPr>
              <a:t>，该码</a:t>
            </a:r>
            <a:r>
              <a:rPr lang="zh-CN" altLang="en-US" sz="2400" dirty="0">
                <a:solidFill>
                  <a:srgbClr val="000000"/>
                </a:solidFill>
                <a:latin typeface="黑体" panose="02010609060101010101" pitchFamily="49" charset="-122"/>
                <a:ea typeface="黑体" panose="02010609060101010101" pitchFamily="49" charset="-122"/>
                <a:sym typeface="+mn-ea"/>
              </a:rPr>
              <a:t>的生成矩阵为</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53610" y="104775"/>
            <a:ext cx="5647690"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计算题举例：(2,1,2)</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卷积码的码字</a:t>
            </a:r>
          </a:p>
        </p:txBody>
      </p:sp>
      <p:sp>
        <p:nvSpPr>
          <p:cNvPr id="3" name="文本框 2"/>
          <p:cNvSpPr txBox="1"/>
          <p:nvPr/>
        </p:nvSpPr>
        <p:spPr>
          <a:xfrm>
            <a:off x="1838326" y="763270"/>
            <a:ext cx="8383905" cy="1000980"/>
          </a:xfrm>
          <a:prstGeom prst="rect">
            <a:avLst/>
          </a:prstGeom>
          <a:noFill/>
        </p:spPr>
        <p:txBody>
          <a:bodyPr wrap="square" rtlCol="0" anchor="t">
            <a:spAutoFit/>
          </a:bodyPr>
          <a:lstStyle/>
          <a:p>
            <a:pPr indent="711200" eaLnBrk="0" fontAlgn="base" hangingPunct="0">
              <a:lnSpc>
                <a:spcPct val="13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以</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25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为输入</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zh-CN" altLang="en-US" sz="2400" dirty="0">
                <a:solidFill>
                  <a:srgbClr val="000000"/>
                </a:solidFill>
                <a:latin typeface="Times New Roman" panose="02020603050405020304" pitchFamily="18" charset="0"/>
                <a:ea typeface="黑体" panose="02010609060101010101" pitchFamily="49" charset="-122"/>
                <a:sym typeface="+mn-ea"/>
              </a:rPr>
              <a:t>为生成矩阵的</a:t>
            </a:r>
            <a:r>
              <a:rPr lang="en-US" altLang="zh-CN" sz="2400">
                <a:solidFill>
                  <a:srgbClr val="000000"/>
                </a:solidFill>
                <a:latin typeface="Times New Roman" panose="02020603050405020304" pitchFamily="18" charset="0"/>
                <a:ea typeface="黑体" panose="02010609060101010101" pitchFamily="49" charset="-122"/>
                <a:sym typeface="+mn-ea"/>
              </a:rPr>
              <a:t>(2,1,</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的卷积码的码字为</a:t>
            </a:r>
            <a:r>
              <a:rPr lang="en-US" altLang="zh-CN" sz="2400">
                <a:solidFill>
                  <a:srgbClr val="000000"/>
                </a:solidFill>
                <a:latin typeface="Times New Roman" panose="02020603050405020304" pitchFamily="18" charset="0"/>
                <a:ea typeface="黑体" panose="02010609060101010101" pitchFamily="49" charset="-122"/>
                <a:sym typeface="+mn-ea"/>
              </a:rPr>
              <a:t>V=</a:t>
            </a:r>
            <a:r>
              <a:rPr lang="en-US" altLang="zh-CN" sz="2400" i="1" err="1">
                <a:solidFill>
                  <a:srgbClr val="000000"/>
                </a:solidFill>
                <a:latin typeface="Times New Roman" panose="02020603050405020304" pitchFamily="18" charset="0"/>
                <a:ea typeface="黑体" panose="02010609060101010101" pitchFamily="49" charset="-122"/>
                <a:sym typeface="+mn-ea"/>
              </a:rPr>
              <a:t>uG</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graphicFrame>
        <p:nvGraphicFramePr>
          <p:cNvPr id="5" name="对象 4">
            <a:hlinkClick r:id="" action="ppaction://ole?verb=0"/>
          </p:cNvPr>
          <p:cNvGraphicFramePr>
            <a:graphicFrameLocks noChangeAspect="1"/>
          </p:cNvGraphicFramePr>
          <p:nvPr/>
        </p:nvGraphicFramePr>
        <p:xfrm>
          <a:off x="3200401" y="3200400"/>
          <a:ext cx="5664835" cy="2620010"/>
        </p:xfrm>
        <a:graphic>
          <a:graphicData uri="http://schemas.openxmlformats.org/presentationml/2006/ole">
            <mc:AlternateContent xmlns:mc="http://schemas.openxmlformats.org/markup-compatibility/2006">
              <mc:Choice xmlns:v="urn:schemas-microsoft-com:vml" Requires="v">
                <p:oleObj r:id="rId2" imgW="3060065" imgH="1371600" progId="Equation.KSEE3">
                  <p:embed/>
                </p:oleObj>
              </mc:Choice>
              <mc:Fallback>
                <p:oleObj r:id="rId2" imgW="3060065" imgH="1371600" progId="Equation.KSEE3">
                  <p:embed/>
                  <p:pic>
                    <p:nvPicPr>
                      <p:cNvPr id="5" name="对象 4">
                        <a:hlinkClick r:id="" action="ppaction://ole?verb=0"/>
                      </p:cNvPr>
                      <p:cNvPicPr/>
                      <p:nvPr/>
                    </p:nvPicPr>
                    <p:blipFill>
                      <a:blip r:embed="rId3"/>
                      <a:stretch>
                        <a:fillRect/>
                      </a:stretch>
                    </p:blipFill>
                    <p:spPr>
                      <a:xfrm>
                        <a:off x="3200401" y="3200400"/>
                        <a:ext cx="5664835" cy="2620010"/>
                      </a:xfrm>
                      <a:prstGeom prst="rect">
                        <a:avLst/>
                      </a:prstGeom>
                    </p:spPr>
                  </p:pic>
                </p:oleObj>
              </mc:Fallback>
            </mc:AlternateContent>
          </a:graphicData>
        </a:graphic>
      </p:graphicFrame>
      <p:sp>
        <p:nvSpPr>
          <p:cNvPr id="10" name="文本框 9"/>
          <p:cNvSpPr txBox="1"/>
          <p:nvPr/>
        </p:nvSpPr>
        <p:spPr>
          <a:xfrm>
            <a:off x="1921510" y="1956436"/>
            <a:ext cx="7993380" cy="977265"/>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6.1</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(2,1,2)</a:t>
            </a:r>
            <a:r>
              <a:rPr lang="zh-CN" altLang="en-US" sz="2400" dirty="0">
                <a:solidFill>
                  <a:srgbClr val="000000"/>
                </a:solidFill>
                <a:latin typeface="黑体" panose="02010609060101010101" pitchFamily="49" charset="-122"/>
                <a:ea typeface="黑体" panose="02010609060101010101" pitchFamily="49" charset="-122"/>
                <a:sym typeface="+mn-ea"/>
              </a:rPr>
              <a:t>卷积码，若</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=(1011), </a:t>
            </a:r>
            <a:r>
              <a:rPr lang="zh-CN" altLang="en-US" sz="2400" dirty="0">
                <a:solidFill>
                  <a:srgbClr val="000000"/>
                </a:solidFill>
                <a:latin typeface="黑体" panose="02010609060101010101" pitchFamily="49" charset="-122"/>
                <a:ea typeface="黑体" panose="02010609060101010101" pitchFamily="49" charset="-122"/>
                <a:sym typeface="+mn-ea"/>
              </a:rPr>
              <a:t>则</a:t>
            </a:r>
            <a:r>
              <a:rPr lang="zh-CN" altLang="en-US" sz="2400" dirty="0">
                <a:solidFill>
                  <a:srgbClr val="000000"/>
                </a:solidFill>
                <a:latin typeface="Times New Roman" panose="02020603050405020304" pitchFamily="18" charset="0"/>
                <a:ea typeface="黑体" panose="02010609060101010101" pitchFamily="49" charset="-122"/>
                <a:sym typeface="+mn-ea"/>
              </a:rPr>
              <a:t>码字为</a:t>
            </a:r>
            <a:r>
              <a:rPr lang="en-US" altLang="zh-CN" sz="2400" b="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=(11,10,00,01,01,11)</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13350" y="104775"/>
            <a:ext cx="5187950" cy="685800"/>
          </a:xfrm>
        </p:spPr>
        <p:txBody>
          <a:bodyPr/>
          <a:lstStyle/>
          <a:p>
            <a:r>
              <a:rPr lang="zh-CN" altLang="en-US" sz="2800">
                <a:latin typeface="黑体" panose="02010609060101010101" pitchFamily="49" charset="-122"/>
                <a:ea typeface="黑体" panose="02010609060101010101" pitchFamily="49" charset="-122"/>
                <a:cs typeface="黑体" panose="02010609060101010101" pitchFamily="49" charset="-122"/>
                <a:sym typeface="+mn-ea"/>
              </a:rPr>
              <a:t>二元</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)卷积</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码的编码器</a:t>
            </a:r>
          </a:p>
        </p:txBody>
      </p:sp>
      <p:sp>
        <p:nvSpPr>
          <p:cNvPr id="7" name="文本框 6"/>
          <p:cNvSpPr txBox="1"/>
          <p:nvPr/>
        </p:nvSpPr>
        <p:spPr>
          <a:xfrm>
            <a:off x="1783081" y="914401"/>
            <a:ext cx="8564245" cy="936347"/>
          </a:xfrm>
          <a:prstGeom prst="rect">
            <a:avLst/>
          </a:prstGeom>
          <a:noFill/>
        </p:spPr>
        <p:txBody>
          <a:bodyPr wrap="square" rtlCol="0" anchor="t">
            <a:spAutoFit/>
          </a:bodyPr>
          <a:lstStyle/>
          <a:p>
            <a:pPr indent="457200" eaLnBrk="0" fontAlgn="base" hangingPunct="0">
              <a:lnSpc>
                <a:spcPct val="12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编码器主要有</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个输入，</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个输出，主要由</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级移位寄存器，</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个模</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加法器组成</a:t>
            </a:r>
            <a:r>
              <a:rPr lang="zh-CN" altLang="en-US" sz="2400" dirty="0">
                <a:solidFill>
                  <a:srgbClr val="000000"/>
                </a:solidFill>
                <a:latin typeface="黑体" panose="02010609060101010101" pitchFamily="49" charset="-122"/>
                <a:ea typeface="黑体" panose="02010609060101010101" pitchFamily="49" charset="-122"/>
                <a:sym typeface="+mn-ea"/>
              </a:rPr>
              <a:t>。</a:t>
            </a:r>
          </a:p>
        </p:txBody>
      </p:sp>
      <p:sp>
        <p:nvSpPr>
          <p:cNvPr id="10270" name="文本框 188471"/>
          <p:cNvSpPr txBox="1"/>
          <p:nvPr/>
        </p:nvSpPr>
        <p:spPr>
          <a:xfrm>
            <a:off x="3505201" y="6096000"/>
            <a:ext cx="5020945" cy="398780"/>
          </a:xfrm>
          <a:prstGeom prst="rect">
            <a:avLst/>
          </a:prstGeom>
          <a:noFill/>
          <a:ln w="9525">
            <a:noFill/>
          </a:ln>
        </p:spPr>
        <p:txBody>
          <a:bodyPr wrap="square" anchor="t" anchorCtr="0">
            <a:spAutoFit/>
          </a:bodyPr>
          <a:lstStyle/>
          <a:p>
            <a:pPr eaLnBrk="0" fontAlgn="base" hangingPunct="0">
              <a:spcBef>
                <a:spcPct val="50000"/>
              </a:spcBef>
              <a:spcAft>
                <a:spcPct val="0"/>
              </a:spcAft>
            </a:pP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sz="20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6.2  </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二元</a:t>
            </a:r>
            <a:r>
              <a:rPr lang="en-US" altLang="zh-CN" sz="20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(3,2,1)</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卷积码的编码器的电路图</a:t>
            </a:r>
          </a:p>
        </p:txBody>
      </p:sp>
      <p:sp>
        <p:nvSpPr>
          <p:cNvPr id="25602" name="直接连接符 205826"/>
          <p:cNvSpPr/>
          <p:nvPr/>
        </p:nvSpPr>
        <p:spPr>
          <a:xfrm>
            <a:off x="3790951" y="2067243"/>
            <a:ext cx="3960813" cy="0"/>
          </a:xfrm>
          <a:prstGeom prst="line">
            <a:avLst/>
          </a:prstGeom>
          <a:ln w="19050" cap="flat" cmpd="sng">
            <a:solidFill>
              <a:schemeClr val="tx1"/>
            </a:solidFill>
            <a:prstDash val="solid"/>
            <a:round/>
            <a:headEnd type="none" w="med" len="med"/>
            <a:tailEnd type="triangle" w="med" len="med"/>
          </a:ln>
        </p:spPr>
      </p:sp>
      <p:sp>
        <p:nvSpPr>
          <p:cNvPr id="25603" name="流程图: 延期 205828"/>
          <p:cNvSpPr/>
          <p:nvPr/>
        </p:nvSpPr>
        <p:spPr>
          <a:xfrm>
            <a:off x="4511675" y="2572069"/>
            <a:ext cx="647700" cy="503237"/>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5604" name="椭圆 205830"/>
          <p:cNvSpPr/>
          <p:nvPr/>
        </p:nvSpPr>
        <p:spPr>
          <a:xfrm>
            <a:off x="7753350" y="1781494"/>
            <a:ext cx="431800" cy="50323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5605" name="文本框 205831"/>
          <p:cNvSpPr txBox="1"/>
          <p:nvPr/>
        </p:nvSpPr>
        <p:spPr>
          <a:xfrm>
            <a:off x="7751763" y="1779905"/>
            <a:ext cx="431800"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25606" name="直接连接符 205832"/>
          <p:cNvSpPr/>
          <p:nvPr/>
        </p:nvSpPr>
        <p:spPr>
          <a:xfrm>
            <a:off x="3790951" y="2787968"/>
            <a:ext cx="720725" cy="0"/>
          </a:xfrm>
          <a:prstGeom prst="line">
            <a:avLst/>
          </a:prstGeom>
          <a:ln w="19050" cap="flat" cmpd="sng">
            <a:solidFill>
              <a:schemeClr val="tx1"/>
            </a:solidFill>
            <a:prstDash val="solid"/>
            <a:round/>
            <a:headEnd type="none" w="med" len="med"/>
            <a:tailEnd type="triangle" w="med" len="med"/>
          </a:ln>
        </p:spPr>
      </p:sp>
      <p:sp>
        <p:nvSpPr>
          <p:cNvPr id="25607" name="文本框 205833"/>
          <p:cNvSpPr txBox="1"/>
          <p:nvPr/>
        </p:nvSpPr>
        <p:spPr>
          <a:xfrm>
            <a:off x="4438650" y="2570480"/>
            <a:ext cx="647700"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D</a:t>
            </a:r>
            <a:r>
              <a:rPr lang="en-US" altLang="zh-CN" sz="2400" b="1" baseline="-25000">
                <a:solidFill>
                  <a:srgbClr val="000000"/>
                </a:solidFill>
                <a:latin typeface="Times New Roman" panose="02020603050405020304" pitchFamily="18" charset="0"/>
                <a:ea typeface="宋体" panose="02010600030101010101" pitchFamily="2" charset="-122"/>
              </a:rPr>
              <a:t>0</a:t>
            </a:r>
            <a:endParaRPr lang="zh-CN" altLang="en-US" sz="2400" b="1" baseline="-25000" dirty="0">
              <a:solidFill>
                <a:srgbClr val="000000"/>
              </a:solidFill>
              <a:latin typeface="Times New Roman" panose="02020603050405020304" pitchFamily="18" charset="0"/>
              <a:ea typeface="宋体" panose="02010600030101010101" pitchFamily="2" charset="-122"/>
            </a:endParaRPr>
          </a:p>
        </p:txBody>
      </p:sp>
      <p:sp>
        <p:nvSpPr>
          <p:cNvPr id="25608" name="直接连接符 205835"/>
          <p:cNvSpPr/>
          <p:nvPr/>
        </p:nvSpPr>
        <p:spPr>
          <a:xfrm>
            <a:off x="3790950" y="2067244"/>
            <a:ext cx="0" cy="1512887"/>
          </a:xfrm>
          <a:prstGeom prst="line">
            <a:avLst/>
          </a:prstGeom>
          <a:ln w="15875" cap="flat" cmpd="sng">
            <a:solidFill>
              <a:schemeClr val="tx1"/>
            </a:solidFill>
            <a:prstDash val="solid"/>
            <a:round/>
            <a:headEnd type="none" w="med" len="med"/>
            <a:tailEnd type="none" w="med" len="med"/>
          </a:ln>
        </p:spPr>
      </p:sp>
      <p:sp>
        <p:nvSpPr>
          <p:cNvPr id="25609" name="椭圆 205837"/>
          <p:cNvSpPr/>
          <p:nvPr/>
        </p:nvSpPr>
        <p:spPr>
          <a:xfrm>
            <a:off x="7823200" y="3651569"/>
            <a:ext cx="431800" cy="503237"/>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5610" name="文本框 205838"/>
          <p:cNvSpPr txBox="1"/>
          <p:nvPr/>
        </p:nvSpPr>
        <p:spPr>
          <a:xfrm>
            <a:off x="7823200" y="3651568"/>
            <a:ext cx="431800"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25611" name="直接连接符 205840"/>
          <p:cNvSpPr/>
          <p:nvPr/>
        </p:nvSpPr>
        <p:spPr>
          <a:xfrm>
            <a:off x="2998788" y="2787968"/>
            <a:ext cx="792162" cy="0"/>
          </a:xfrm>
          <a:prstGeom prst="line">
            <a:avLst/>
          </a:prstGeom>
          <a:ln w="15875" cap="flat" cmpd="sng">
            <a:solidFill>
              <a:schemeClr val="tx1"/>
            </a:solidFill>
            <a:prstDash val="solid"/>
            <a:round/>
            <a:headEnd type="none" w="med" len="med"/>
            <a:tailEnd type="none" w="med" len="med"/>
          </a:ln>
        </p:spPr>
      </p:sp>
      <p:sp>
        <p:nvSpPr>
          <p:cNvPr id="25612" name="文本框 205841"/>
          <p:cNvSpPr txBox="1"/>
          <p:nvPr/>
        </p:nvSpPr>
        <p:spPr>
          <a:xfrm>
            <a:off x="8040689" y="2211705"/>
            <a:ext cx="865187"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V</a:t>
            </a:r>
            <a:r>
              <a:rPr lang="en-US" altLang="zh-CN" sz="2400" b="1" baseline="30000">
                <a:solidFill>
                  <a:srgbClr val="000000"/>
                </a:solidFill>
                <a:latin typeface="Times New Roman" panose="02020603050405020304" pitchFamily="18" charset="0"/>
                <a:ea typeface="宋体" panose="02010600030101010101" pitchFamily="2" charset="-122"/>
              </a:rPr>
              <a:t>(1)</a:t>
            </a:r>
          </a:p>
        </p:txBody>
      </p:sp>
      <p:sp>
        <p:nvSpPr>
          <p:cNvPr id="25613" name="文本框 205842"/>
          <p:cNvSpPr txBox="1"/>
          <p:nvPr/>
        </p:nvSpPr>
        <p:spPr>
          <a:xfrm>
            <a:off x="8183564" y="4084955"/>
            <a:ext cx="865187"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V</a:t>
            </a:r>
            <a:r>
              <a:rPr lang="en-US" altLang="zh-CN" sz="2400" b="1" baseline="30000">
                <a:solidFill>
                  <a:srgbClr val="000000"/>
                </a:solidFill>
                <a:latin typeface="Times New Roman" panose="02020603050405020304" pitchFamily="18" charset="0"/>
                <a:ea typeface="宋体" panose="02010600030101010101" pitchFamily="2" charset="-122"/>
              </a:rPr>
              <a:t>(2)</a:t>
            </a:r>
          </a:p>
        </p:txBody>
      </p:sp>
      <p:sp>
        <p:nvSpPr>
          <p:cNvPr id="25614" name="文本框 205843"/>
          <p:cNvSpPr txBox="1"/>
          <p:nvPr/>
        </p:nvSpPr>
        <p:spPr>
          <a:xfrm>
            <a:off x="1919289" y="3724593"/>
            <a:ext cx="433387" cy="519112"/>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800" b="1" i="1">
                <a:solidFill>
                  <a:srgbClr val="000000"/>
                </a:solidFill>
                <a:latin typeface="Times New Roman" panose="02020603050405020304" pitchFamily="18" charset="0"/>
                <a:ea typeface="宋体" panose="02010600030101010101" pitchFamily="2" charset="-122"/>
              </a:rPr>
              <a:t>u</a:t>
            </a:r>
            <a:endParaRPr lang="en-US" altLang="zh-CN" sz="2800" b="1" i="1" baseline="30000">
              <a:solidFill>
                <a:srgbClr val="000000"/>
              </a:solidFill>
              <a:latin typeface="Times New Roman" panose="02020603050405020304" pitchFamily="18" charset="0"/>
              <a:ea typeface="宋体" panose="02010600030101010101" pitchFamily="2" charset="-122"/>
            </a:endParaRPr>
          </a:p>
        </p:txBody>
      </p:sp>
      <p:sp>
        <p:nvSpPr>
          <p:cNvPr id="25616" name="直接连接符 205859"/>
          <p:cNvSpPr/>
          <p:nvPr/>
        </p:nvSpPr>
        <p:spPr>
          <a:xfrm>
            <a:off x="3790951" y="3580130"/>
            <a:ext cx="2232025" cy="0"/>
          </a:xfrm>
          <a:prstGeom prst="line">
            <a:avLst/>
          </a:prstGeom>
          <a:ln w="15875" cap="flat" cmpd="sng">
            <a:solidFill>
              <a:schemeClr val="tx1"/>
            </a:solidFill>
            <a:prstDash val="solid"/>
            <a:round/>
            <a:headEnd type="none" w="med" len="med"/>
            <a:tailEnd type="none" w="med" len="med"/>
          </a:ln>
        </p:spPr>
      </p:sp>
      <p:sp>
        <p:nvSpPr>
          <p:cNvPr id="25617" name="流程图: 延期 205861"/>
          <p:cNvSpPr/>
          <p:nvPr/>
        </p:nvSpPr>
        <p:spPr>
          <a:xfrm>
            <a:off x="4511675" y="4732655"/>
            <a:ext cx="647700" cy="503238"/>
          </a:xfrm>
          <a:prstGeom prst="flowChartDelay">
            <a:avLst/>
          </a:prstGeom>
          <a:solidFill>
            <a:schemeClr val="accent1"/>
          </a:solidFill>
          <a:ln w="9525" cap="flat" cmpd="sng">
            <a:solidFill>
              <a:schemeClr val="tx1"/>
            </a:solidFill>
            <a:prstDash val="dash"/>
            <a:miter/>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5618" name="椭圆 205862"/>
          <p:cNvSpPr/>
          <p:nvPr/>
        </p:nvSpPr>
        <p:spPr>
          <a:xfrm>
            <a:off x="7753350" y="5453380"/>
            <a:ext cx="431800" cy="503238"/>
          </a:xfrm>
          <a:prstGeom prst="ellipse">
            <a:avLst/>
          </a:prstGeom>
          <a:solidFill>
            <a:schemeClr val="accent1"/>
          </a:solidFill>
          <a:ln w="9525" cap="flat" cmpd="sng">
            <a:solidFill>
              <a:schemeClr val="tx1"/>
            </a:solidFill>
            <a:prstDash val="dash"/>
            <a:round/>
            <a:headEnd type="none" w="med" len="med"/>
            <a:tailEnd type="none" w="med" len="med"/>
          </a:ln>
        </p:spPr>
        <p:txBody>
          <a:bodyPr anchor="t" anchorCtr="0"/>
          <a:lstStyle/>
          <a:p>
            <a:pPr algn="ct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25619" name="文本框 205863"/>
          <p:cNvSpPr txBox="1"/>
          <p:nvPr/>
        </p:nvSpPr>
        <p:spPr>
          <a:xfrm>
            <a:off x="7751763" y="5451793"/>
            <a:ext cx="431800"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a:t>
            </a:r>
          </a:p>
        </p:txBody>
      </p:sp>
      <p:sp>
        <p:nvSpPr>
          <p:cNvPr id="25620" name="直接连接符 205864"/>
          <p:cNvSpPr/>
          <p:nvPr/>
        </p:nvSpPr>
        <p:spPr>
          <a:xfrm>
            <a:off x="3790951" y="4948555"/>
            <a:ext cx="720725" cy="0"/>
          </a:xfrm>
          <a:prstGeom prst="line">
            <a:avLst/>
          </a:prstGeom>
          <a:ln w="19050" cap="flat" cmpd="sng">
            <a:solidFill>
              <a:schemeClr val="tx1"/>
            </a:solidFill>
            <a:prstDash val="solid"/>
            <a:round/>
            <a:headEnd type="none" w="med" len="med"/>
            <a:tailEnd type="triangle" w="med" len="med"/>
          </a:ln>
        </p:spPr>
      </p:sp>
      <p:sp>
        <p:nvSpPr>
          <p:cNvPr id="25621" name="文本框 205865"/>
          <p:cNvSpPr txBox="1"/>
          <p:nvPr/>
        </p:nvSpPr>
        <p:spPr>
          <a:xfrm>
            <a:off x="4438650" y="4731068"/>
            <a:ext cx="647700"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i="1">
                <a:solidFill>
                  <a:srgbClr val="000000"/>
                </a:solidFill>
                <a:latin typeface="Times New Roman" panose="02020603050405020304" pitchFamily="18" charset="0"/>
                <a:ea typeface="宋体" panose="02010600030101010101" pitchFamily="2" charset="-122"/>
              </a:rPr>
              <a:t>D</a:t>
            </a:r>
            <a:r>
              <a:rPr lang="en-US" altLang="zh-CN" sz="2400" b="1" baseline="-25000">
                <a:solidFill>
                  <a:srgbClr val="000000"/>
                </a:solidFill>
                <a:latin typeface="Times New Roman" panose="02020603050405020304" pitchFamily="18" charset="0"/>
                <a:ea typeface="宋体" panose="02010600030101010101" pitchFamily="2" charset="-122"/>
              </a:rPr>
              <a:t>0</a:t>
            </a:r>
            <a:endParaRPr lang="zh-CN" altLang="en-US" sz="2400" b="1" baseline="-25000" dirty="0">
              <a:solidFill>
                <a:srgbClr val="000000"/>
              </a:solidFill>
              <a:latin typeface="Times New Roman" panose="02020603050405020304" pitchFamily="18" charset="0"/>
              <a:ea typeface="宋体" panose="02010600030101010101" pitchFamily="2" charset="-122"/>
            </a:endParaRPr>
          </a:p>
        </p:txBody>
      </p:sp>
      <p:sp>
        <p:nvSpPr>
          <p:cNvPr id="25622" name="直接连接符 205866"/>
          <p:cNvSpPr/>
          <p:nvPr/>
        </p:nvSpPr>
        <p:spPr>
          <a:xfrm>
            <a:off x="3790950" y="4227830"/>
            <a:ext cx="0" cy="1512888"/>
          </a:xfrm>
          <a:prstGeom prst="line">
            <a:avLst/>
          </a:prstGeom>
          <a:ln w="15875" cap="flat" cmpd="sng">
            <a:solidFill>
              <a:schemeClr val="tx1"/>
            </a:solidFill>
            <a:prstDash val="solid"/>
            <a:round/>
            <a:headEnd type="none" w="med" len="med"/>
            <a:tailEnd type="none" w="med" len="med"/>
          </a:ln>
        </p:spPr>
      </p:sp>
      <p:sp>
        <p:nvSpPr>
          <p:cNvPr id="25623" name="直接连接符 205867"/>
          <p:cNvSpPr/>
          <p:nvPr/>
        </p:nvSpPr>
        <p:spPr>
          <a:xfrm>
            <a:off x="2998788" y="4948555"/>
            <a:ext cx="792162" cy="0"/>
          </a:xfrm>
          <a:prstGeom prst="line">
            <a:avLst/>
          </a:prstGeom>
          <a:ln w="15875" cap="flat" cmpd="sng">
            <a:solidFill>
              <a:schemeClr val="tx1"/>
            </a:solidFill>
            <a:prstDash val="solid"/>
            <a:round/>
            <a:headEnd type="none" w="med" len="med"/>
            <a:tailEnd type="none" w="med" len="med"/>
          </a:ln>
        </p:spPr>
      </p:sp>
      <p:sp>
        <p:nvSpPr>
          <p:cNvPr id="25624" name="直接连接符 205870"/>
          <p:cNvSpPr/>
          <p:nvPr/>
        </p:nvSpPr>
        <p:spPr>
          <a:xfrm>
            <a:off x="3790951" y="5740718"/>
            <a:ext cx="3960813" cy="0"/>
          </a:xfrm>
          <a:prstGeom prst="line">
            <a:avLst/>
          </a:prstGeom>
          <a:ln w="19050" cap="flat" cmpd="sng">
            <a:solidFill>
              <a:schemeClr val="tx1"/>
            </a:solidFill>
            <a:prstDash val="solid"/>
            <a:round/>
            <a:headEnd type="none" w="med" len="med"/>
            <a:tailEnd type="triangle" w="med" len="med"/>
          </a:ln>
        </p:spPr>
      </p:sp>
      <p:sp>
        <p:nvSpPr>
          <p:cNvPr id="25625" name="直接连接符 205871"/>
          <p:cNvSpPr/>
          <p:nvPr/>
        </p:nvSpPr>
        <p:spPr>
          <a:xfrm>
            <a:off x="3790951" y="4227830"/>
            <a:ext cx="2232025" cy="0"/>
          </a:xfrm>
          <a:prstGeom prst="line">
            <a:avLst/>
          </a:prstGeom>
          <a:ln w="15875" cap="flat" cmpd="sng">
            <a:solidFill>
              <a:schemeClr val="tx1"/>
            </a:solidFill>
            <a:prstDash val="solid"/>
            <a:round/>
            <a:headEnd type="none" w="med" len="med"/>
            <a:tailEnd type="none" w="med" len="med"/>
          </a:ln>
        </p:spPr>
      </p:sp>
      <p:sp>
        <p:nvSpPr>
          <p:cNvPr id="25626" name="直接连接符 205872"/>
          <p:cNvSpPr/>
          <p:nvPr/>
        </p:nvSpPr>
        <p:spPr>
          <a:xfrm>
            <a:off x="5159376" y="2787968"/>
            <a:ext cx="1439863" cy="0"/>
          </a:xfrm>
          <a:prstGeom prst="line">
            <a:avLst/>
          </a:prstGeom>
          <a:ln w="15875" cap="flat" cmpd="sng">
            <a:solidFill>
              <a:schemeClr val="tx1"/>
            </a:solidFill>
            <a:prstDash val="solid"/>
            <a:round/>
            <a:headEnd type="none" w="med" len="med"/>
            <a:tailEnd type="none" w="med" len="med"/>
          </a:ln>
        </p:spPr>
      </p:sp>
      <p:sp>
        <p:nvSpPr>
          <p:cNvPr id="25627" name="直接连接符 205873"/>
          <p:cNvSpPr/>
          <p:nvPr/>
        </p:nvSpPr>
        <p:spPr>
          <a:xfrm flipV="1">
            <a:off x="6599238" y="2211706"/>
            <a:ext cx="1223962" cy="576263"/>
          </a:xfrm>
          <a:prstGeom prst="line">
            <a:avLst/>
          </a:prstGeom>
          <a:ln w="15875" cap="flat" cmpd="sng">
            <a:solidFill>
              <a:schemeClr val="tx1"/>
            </a:solidFill>
            <a:prstDash val="solid"/>
            <a:round/>
            <a:headEnd type="none" w="med" len="med"/>
            <a:tailEnd type="triangle" w="med" len="med"/>
          </a:ln>
        </p:spPr>
      </p:sp>
      <p:sp>
        <p:nvSpPr>
          <p:cNvPr id="25628" name="直接连接符 205874"/>
          <p:cNvSpPr/>
          <p:nvPr/>
        </p:nvSpPr>
        <p:spPr>
          <a:xfrm>
            <a:off x="6599239" y="2787969"/>
            <a:ext cx="1296987" cy="936625"/>
          </a:xfrm>
          <a:prstGeom prst="line">
            <a:avLst/>
          </a:prstGeom>
          <a:ln w="15875" cap="flat" cmpd="sng">
            <a:solidFill>
              <a:schemeClr val="tx1"/>
            </a:solidFill>
            <a:prstDash val="solid"/>
            <a:round/>
            <a:headEnd type="none" w="med" len="med"/>
            <a:tailEnd type="triangle" w="med" len="med"/>
          </a:ln>
        </p:spPr>
      </p:sp>
      <p:sp>
        <p:nvSpPr>
          <p:cNvPr id="25629" name="直接连接符 205875"/>
          <p:cNvSpPr/>
          <p:nvPr/>
        </p:nvSpPr>
        <p:spPr>
          <a:xfrm>
            <a:off x="6599239" y="2787969"/>
            <a:ext cx="1296987" cy="2663825"/>
          </a:xfrm>
          <a:prstGeom prst="line">
            <a:avLst/>
          </a:prstGeom>
          <a:ln w="15875" cap="flat" cmpd="sng">
            <a:solidFill>
              <a:schemeClr val="tx1"/>
            </a:solidFill>
            <a:prstDash val="solid"/>
            <a:round/>
            <a:headEnd type="none" w="med" len="med"/>
            <a:tailEnd type="triangle" w="med" len="med"/>
          </a:ln>
        </p:spPr>
      </p:sp>
      <p:sp>
        <p:nvSpPr>
          <p:cNvPr id="25630" name="直接连接符 205876"/>
          <p:cNvSpPr/>
          <p:nvPr/>
        </p:nvSpPr>
        <p:spPr>
          <a:xfrm>
            <a:off x="6022976" y="3580130"/>
            <a:ext cx="1800225" cy="1944688"/>
          </a:xfrm>
          <a:prstGeom prst="line">
            <a:avLst/>
          </a:prstGeom>
          <a:ln w="15875" cap="flat" cmpd="sng">
            <a:solidFill>
              <a:schemeClr val="tx1"/>
            </a:solidFill>
            <a:prstDash val="solid"/>
            <a:round/>
            <a:headEnd type="none" w="med" len="med"/>
            <a:tailEnd type="triangle" w="med" len="med"/>
          </a:ln>
        </p:spPr>
      </p:sp>
      <p:sp>
        <p:nvSpPr>
          <p:cNvPr id="25631" name="直接连接符 205877"/>
          <p:cNvSpPr/>
          <p:nvPr/>
        </p:nvSpPr>
        <p:spPr>
          <a:xfrm>
            <a:off x="5159376" y="4948555"/>
            <a:ext cx="1439863" cy="0"/>
          </a:xfrm>
          <a:prstGeom prst="line">
            <a:avLst/>
          </a:prstGeom>
          <a:ln w="15875" cap="flat" cmpd="sng">
            <a:solidFill>
              <a:schemeClr val="tx1"/>
            </a:solidFill>
            <a:prstDash val="solid"/>
            <a:round/>
            <a:headEnd type="none" w="med" len="med"/>
            <a:tailEnd type="none" w="med" len="med"/>
          </a:ln>
        </p:spPr>
      </p:sp>
      <p:sp>
        <p:nvSpPr>
          <p:cNvPr id="25632" name="直接连接符 205878"/>
          <p:cNvSpPr/>
          <p:nvPr/>
        </p:nvSpPr>
        <p:spPr>
          <a:xfrm flipV="1">
            <a:off x="5951538" y="3940494"/>
            <a:ext cx="1871662" cy="287337"/>
          </a:xfrm>
          <a:prstGeom prst="line">
            <a:avLst/>
          </a:prstGeom>
          <a:ln w="15875" cap="flat" cmpd="sng">
            <a:solidFill>
              <a:schemeClr val="tx1"/>
            </a:solidFill>
            <a:prstDash val="solid"/>
            <a:round/>
            <a:headEnd type="none" w="med" len="med"/>
            <a:tailEnd type="triangle" w="med" len="med"/>
          </a:ln>
        </p:spPr>
      </p:sp>
      <p:sp>
        <p:nvSpPr>
          <p:cNvPr id="25633" name="直接连接符 205879"/>
          <p:cNvSpPr/>
          <p:nvPr/>
        </p:nvSpPr>
        <p:spPr>
          <a:xfrm flipV="1">
            <a:off x="6599239" y="2284731"/>
            <a:ext cx="1296987" cy="2663825"/>
          </a:xfrm>
          <a:prstGeom prst="line">
            <a:avLst/>
          </a:prstGeom>
          <a:ln w="15875" cap="flat" cmpd="sng">
            <a:solidFill>
              <a:schemeClr val="tx1"/>
            </a:solidFill>
            <a:prstDash val="solid"/>
            <a:round/>
            <a:headEnd type="none" w="med" len="med"/>
            <a:tailEnd type="triangle" w="med" len="med"/>
          </a:ln>
        </p:spPr>
      </p:sp>
      <p:sp>
        <p:nvSpPr>
          <p:cNvPr id="25634" name="文本框 205880"/>
          <p:cNvSpPr txBox="1"/>
          <p:nvPr/>
        </p:nvSpPr>
        <p:spPr>
          <a:xfrm>
            <a:off x="8183564" y="5164455"/>
            <a:ext cx="865187"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V</a:t>
            </a:r>
            <a:r>
              <a:rPr lang="en-US" altLang="zh-CN" sz="2400" b="1" baseline="30000">
                <a:solidFill>
                  <a:srgbClr val="000000"/>
                </a:solidFill>
                <a:latin typeface="Times New Roman" panose="02020603050405020304" pitchFamily="18" charset="0"/>
                <a:ea typeface="宋体" panose="02010600030101010101" pitchFamily="2" charset="-122"/>
              </a:rPr>
              <a:t>(3)</a:t>
            </a:r>
          </a:p>
        </p:txBody>
      </p:sp>
      <p:sp>
        <p:nvSpPr>
          <p:cNvPr id="25635" name="直接连接符 205881"/>
          <p:cNvSpPr/>
          <p:nvPr/>
        </p:nvSpPr>
        <p:spPr>
          <a:xfrm flipV="1">
            <a:off x="2351089" y="2787969"/>
            <a:ext cx="649287" cy="1152525"/>
          </a:xfrm>
          <a:prstGeom prst="line">
            <a:avLst/>
          </a:prstGeom>
          <a:ln w="15875" cap="flat" cmpd="sng">
            <a:solidFill>
              <a:schemeClr val="tx1"/>
            </a:solidFill>
            <a:prstDash val="solid"/>
            <a:round/>
            <a:headEnd type="none" w="med" len="med"/>
            <a:tailEnd type="triangle" w="med" len="med"/>
          </a:ln>
        </p:spPr>
      </p:sp>
      <p:sp>
        <p:nvSpPr>
          <p:cNvPr id="25636" name="任意多边形 205888"/>
          <p:cNvSpPr/>
          <p:nvPr/>
        </p:nvSpPr>
        <p:spPr>
          <a:xfrm>
            <a:off x="2495551" y="3219769"/>
            <a:ext cx="576263" cy="1081087"/>
          </a:xfrm>
          <a:custGeom>
            <a:avLst/>
            <a:gdLst/>
            <a:ahLst/>
            <a:cxnLst>
              <a:cxn ang="270">
                <a:pos x="0" y="0"/>
              </a:cxn>
              <a:cxn ang="90">
                <a:pos x="21600" y="21600"/>
              </a:cxn>
              <a:cxn ang="90">
                <a:pos x="0" y="21600"/>
              </a:cxn>
            </a:cxnLst>
            <a:rect l="0" t="0" r="0" b="0"/>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cap="flat" cmpd="sng">
            <a:solidFill>
              <a:schemeClr val="tx1"/>
            </a:solidFill>
            <a:prstDash val="dash"/>
            <a:round/>
            <a:headEnd type="none" w="med" len="med"/>
            <a:tailEnd type="triangle" w="med" len="med"/>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5637" name="直接连接符 205889"/>
          <p:cNvSpPr/>
          <p:nvPr/>
        </p:nvSpPr>
        <p:spPr>
          <a:xfrm>
            <a:off x="8183564" y="2067243"/>
            <a:ext cx="504825" cy="0"/>
          </a:xfrm>
          <a:prstGeom prst="line">
            <a:avLst/>
          </a:prstGeom>
          <a:ln w="15875" cap="flat" cmpd="sng">
            <a:solidFill>
              <a:schemeClr val="tx1"/>
            </a:solidFill>
            <a:prstDash val="solid"/>
            <a:round/>
            <a:headEnd type="none" w="med" len="med"/>
            <a:tailEnd type="oval" w="med" len="med"/>
          </a:ln>
        </p:spPr>
      </p:sp>
      <p:sp>
        <p:nvSpPr>
          <p:cNvPr id="25638" name="直接连接符 205890"/>
          <p:cNvSpPr/>
          <p:nvPr/>
        </p:nvSpPr>
        <p:spPr>
          <a:xfrm>
            <a:off x="8256589" y="3940493"/>
            <a:ext cx="504825" cy="0"/>
          </a:xfrm>
          <a:prstGeom prst="line">
            <a:avLst/>
          </a:prstGeom>
          <a:ln w="15875" cap="flat" cmpd="sng">
            <a:solidFill>
              <a:schemeClr val="tx1"/>
            </a:solidFill>
            <a:prstDash val="solid"/>
            <a:round/>
            <a:headEnd type="none" w="med" len="med"/>
            <a:tailEnd type="oval" w="med" len="med"/>
          </a:ln>
        </p:spPr>
      </p:sp>
      <p:sp>
        <p:nvSpPr>
          <p:cNvPr id="25639" name="直接连接符 205891"/>
          <p:cNvSpPr/>
          <p:nvPr/>
        </p:nvSpPr>
        <p:spPr>
          <a:xfrm>
            <a:off x="8183564" y="5740718"/>
            <a:ext cx="504825" cy="0"/>
          </a:xfrm>
          <a:prstGeom prst="line">
            <a:avLst/>
          </a:prstGeom>
          <a:ln w="15875" cap="flat" cmpd="sng">
            <a:solidFill>
              <a:schemeClr val="tx1"/>
            </a:solidFill>
            <a:prstDash val="solid"/>
            <a:round/>
            <a:headEnd type="none" w="med" len="med"/>
            <a:tailEnd type="oval" w="med" len="med"/>
          </a:ln>
        </p:spPr>
      </p:sp>
      <p:sp>
        <p:nvSpPr>
          <p:cNvPr id="25640" name="直接连接符 205892"/>
          <p:cNvSpPr/>
          <p:nvPr/>
        </p:nvSpPr>
        <p:spPr>
          <a:xfrm>
            <a:off x="9480550" y="3940493"/>
            <a:ext cx="503238" cy="0"/>
          </a:xfrm>
          <a:prstGeom prst="line">
            <a:avLst/>
          </a:prstGeom>
          <a:ln w="15875" cap="flat" cmpd="sng">
            <a:solidFill>
              <a:schemeClr val="tx1"/>
            </a:solidFill>
            <a:prstDash val="solid"/>
            <a:round/>
            <a:headEnd type="none" w="med" len="med"/>
            <a:tailEnd type="triangle" w="med" len="med"/>
          </a:ln>
        </p:spPr>
      </p:sp>
      <p:sp>
        <p:nvSpPr>
          <p:cNvPr id="25641" name="直接连接符 205893"/>
          <p:cNvSpPr/>
          <p:nvPr/>
        </p:nvSpPr>
        <p:spPr>
          <a:xfrm flipH="1" flipV="1">
            <a:off x="8688388" y="2067243"/>
            <a:ext cx="792162" cy="1873250"/>
          </a:xfrm>
          <a:prstGeom prst="line">
            <a:avLst/>
          </a:prstGeom>
          <a:ln w="15875" cap="flat" cmpd="sng">
            <a:solidFill>
              <a:schemeClr val="tx1"/>
            </a:solidFill>
            <a:prstDash val="solid"/>
            <a:round/>
            <a:headEnd type="none" w="med" len="med"/>
            <a:tailEnd type="triangle" w="med" len="med"/>
          </a:ln>
        </p:spPr>
      </p:sp>
      <p:sp>
        <p:nvSpPr>
          <p:cNvPr id="25642" name="任意多边形 205894"/>
          <p:cNvSpPr/>
          <p:nvPr/>
        </p:nvSpPr>
        <p:spPr>
          <a:xfrm flipH="1">
            <a:off x="8832850" y="2643505"/>
            <a:ext cx="647700" cy="865188"/>
          </a:xfrm>
          <a:custGeom>
            <a:avLst/>
            <a:gdLst/>
            <a:ahLst/>
            <a:cxnLst>
              <a:cxn ang="270">
                <a:pos x="0" y="0"/>
              </a:cxn>
              <a:cxn ang="90">
                <a:pos x="21600" y="21600"/>
              </a:cxn>
              <a:cxn ang="90">
                <a:pos x="0" y="21600"/>
              </a:cxn>
            </a:cxnLst>
            <a:rect l="0" t="0" r="0" b="0"/>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cap="flat" cmpd="sng">
            <a:solidFill>
              <a:schemeClr val="tx1"/>
            </a:solidFill>
            <a:prstDash val="dash"/>
            <a:round/>
            <a:headEnd type="none" w="med" len="med"/>
            <a:tailEnd type="triangle" w="med" len="med"/>
          </a:ln>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5643" name="文本框 205895"/>
          <p:cNvSpPr txBox="1"/>
          <p:nvPr/>
        </p:nvSpPr>
        <p:spPr>
          <a:xfrm>
            <a:off x="9336089" y="3410268"/>
            <a:ext cx="865187" cy="457200"/>
          </a:xfrm>
          <a:prstGeom prst="rect">
            <a:avLst/>
          </a:prstGeom>
          <a:noFill/>
          <a:ln w="9525">
            <a:noFill/>
          </a:ln>
        </p:spPr>
        <p:txBody>
          <a:bodyPr anchor="t" anchorCtr="0">
            <a:spAutoFit/>
          </a:bodyPr>
          <a:lstStyle/>
          <a:p>
            <a:pPr algn="ctr" eaLnBrk="0" fontAlgn="base" hangingPunct="0">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V</a:t>
            </a:r>
            <a:endParaRPr lang="en-US" altLang="zh-CN" sz="2400" b="1" baseline="30000">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13350" y="104775"/>
            <a:ext cx="5187950" cy="685800"/>
          </a:xfrm>
        </p:spPr>
        <p:txBody>
          <a:bodyPr/>
          <a:lstStyle/>
          <a:p>
            <a:r>
              <a:rPr sz="2800">
                <a:ea typeface="黑体" panose="02010609060101010101" pitchFamily="49" charset="-122"/>
                <a:sym typeface="+mn-ea"/>
              </a:rPr>
              <a:t>二元(3,2,</a:t>
            </a:r>
            <a:r>
              <a:rPr sz="2800" i="1">
                <a:ea typeface="黑体" panose="02010609060101010101" pitchFamily="49" charset="-122"/>
                <a:sym typeface="+mn-ea"/>
              </a:rPr>
              <a:t>m</a:t>
            </a:r>
            <a:r>
              <a:rPr sz="2800">
                <a:ea typeface="黑体" panose="02010609060101010101" pitchFamily="49" charset="-122"/>
                <a:sym typeface="+mn-ea"/>
              </a:rPr>
              <a:t>)卷积码的输入序列</a:t>
            </a:r>
          </a:p>
        </p:txBody>
      </p:sp>
      <p:sp>
        <p:nvSpPr>
          <p:cNvPr id="7" name="文本框 6"/>
          <p:cNvSpPr txBox="1"/>
          <p:nvPr/>
        </p:nvSpPr>
        <p:spPr>
          <a:xfrm>
            <a:off x="1783081" y="914401"/>
            <a:ext cx="8564245" cy="936347"/>
          </a:xfrm>
          <a:prstGeom prst="rect">
            <a:avLst/>
          </a:prstGeom>
          <a:noFill/>
        </p:spPr>
        <p:txBody>
          <a:bodyPr wrap="square" rtlCol="0" anchor="t">
            <a:spAutoFit/>
          </a:bodyPr>
          <a:lstStyle/>
          <a:p>
            <a:pPr indent="457200" eaLnBrk="0" fontAlgn="base" hangingPunct="0">
              <a:lnSpc>
                <a:spcPct val="120000"/>
              </a:lnSpc>
              <a:spcBef>
                <a:spcPct val="0"/>
              </a:spcBef>
              <a:spcAft>
                <a:spcPct val="0"/>
              </a:spcAft>
            </a:pPr>
            <a:r>
              <a:rPr lang="zh-CN" altLang="en-US" sz="2400" dirty="0">
                <a:solidFill>
                  <a:srgbClr val="000000"/>
                </a:solidFill>
                <a:latin typeface="黑体" panose="02010609060101010101" pitchFamily="49" charset="-122"/>
                <a:ea typeface="黑体" panose="02010609060101010101" pitchFamily="49" charset="-122"/>
                <a:sym typeface="+mn-ea"/>
              </a:rPr>
              <a:t>对于一般的</a:t>
            </a:r>
            <a:r>
              <a:rPr lang="en-US" altLang="zh-CN" sz="2400">
                <a:solidFill>
                  <a:srgbClr val="000000"/>
                </a:solidFill>
                <a:latin typeface="Times New Roman" panose="02020603050405020304" pitchFamily="18" charset="0"/>
                <a:ea typeface="黑体" panose="02010609060101010101" pitchFamily="49" charset="-122"/>
                <a:sym typeface="+mn-ea"/>
              </a:rPr>
              <a:t>(3,2,</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卷积码，由于</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黑体" panose="02010609060101010101" pitchFamily="49" charset="-122"/>
                <a:ea typeface="黑体" panose="02010609060101010101" pitchFamily="49" charset="-122"/>
                <a:sym typeface="+mn-ea"/>
              </a:rPr>
              <a:t>，即每次有</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黑体" panose="02010609060101010101" pitchFamily="49" charset="-122"/>
                <a:ea typeface="黑体" panose="02010609060101010101" pitchFamily="49" charset="-122"/>
                <a:sym typeface="+mn-ea"/>
              </a:rPr>
              <a:t>比特进入编码器，所以输入序列</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zh-CN" altLang="en-US" sz="2400" dirty="0">
                <a:solidFill>
                  <a:srgbClr val="000000"/>
                </a:solidFill>
                <a:latin typeface="黑体" panose="02010609060101010101" pitchFamily="49" charset="-122"/>
                <a:ea typeface="黑体" panose="02010609060101010101" pitchFamily="49" charset="-122"/>
                <a:sym typeface="+mn-ea"/>
              </a:rPr>
              <a:t>可以写成</a:t>
            </a:r>
          </a:p>
        </p:txBody>
      </p:sp>
      <p:graphicFrame>
        <p:nvGraphicFramePr>
          <p:cNvPr id="5" name="对象 4">
            <a:hlinkClick r:id="" action="ppaction://ole?verb=0"/>
          </p:cNvPr>
          <p:cNvGraphicFramePr>
            <a:graphicFrameLocks noChangeAspect="1"/>
          </p:cNvGraphicFramePr>
          <p:nvPr/>
        </p:nvGraphicFramePr>
        <p:xfrm>
          <a:off x="3505200" y="2133601"/>
          <a:ext cx="5280660" cy="498475"/>
        </p:xfrm>
        <a:graphic>
          <a:graphicData uri="http://schemas.openxmlformats.org/presentationml/2006/ole">
            <mc:AlternateContent xmlns:mc="http://schemas.openxmlformats.org/markup-compatibility/2006">
              <mc:Choice xmlns:v="urn:schemas-microsoft-com:vml" Requires="v">
                <p:oleObj r:id="rId2" imgW="1968500" imgH="241300" progId="Equation.KSEE3">
                  <p:embed/>
                </p:oleObj>
              </mc:Choice>
              <mc:Fallback>
                <p:oleObj r:id="rId2" imgW="1968500" imgH="241300" progId="Equation.KSEE3">
                  <p:embed/>
                  <p:pic>
                    <p:nvPicPr>
                      <p:cNvPr id="5" name="对象 4">
                        <a:hlinkClick r:id="" action="ppaction://ole?verb=0"/>
                      </p:cNvPr>
                      <p:cNvPicPr/>
                      <p:nvPr/>
                    </p:nvPicPr>
                    <p:blipFill>
                      <a:blip r:embed="rId3"/>
                      <a:stretch>
                        <a:fillRect/>
                      </a:stretch>
                    </p:blipFill>
                    <p:spPr>
                      <a:xfrm>
                        <a:off x="3505200" y="2133601"/>
                        <a:ext cx="5280660" cy="498475"/>
                      </a:xfrm>
                      <a:prstGeom prst="rect">
                        <a:avLst/>
                      </a:prstGeom>
                    </p:spPr>
                  </p:pic>
                </p:oleObj>
              </mc:Fallback>
            </mc:AlternateContent>
          </a:graphicData>
        </a:graphic>
      </p:graphicFrame>
      <p:sp>
        <p:nvSpPr>
          <p:cNvPr id="8" name="文本框 7"/>
          <p:cNvSpPr txBox="1"/>
          <p:nvPr/>
        </p:nvSpPr>
        <p:spPr>
          <a:xfrm>
            <a:off x="1834515" y="3006091"/>
            <a:ext cx="4582160" cy="476669"/>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dirty="0">
                <a:solidFill>
                  <a:srgbClr val="000000"/>
                </a:solidFill>
                <a:latin typeface="黑体" panose="02010609060101010101" pitchFamily="49" charset="-122"/>
                <a:ea typeface="黑体" panose="02010609060101010101" pitchFamily="49" charset="-122"/>
                <a:sym typeface="+mn-ea"/>
              </a:rPr>
              <a:t>或分开写成</a:t>
            </a:r>
            <a:r>
              <a:rPr lang="en-US" altLang="zh-CN" sz="2400">
                <a:solidFill>
                  <a:srgbClr val="000000"/>
                </a:solidFill>
                <a:latin typeface="黑体" panose="02010609060101010101" pitchFamily="49" charset="-122"/>
                <a:ea typeface="黑体" panose="02010609060101010101" pitchFamily="49" charset="-122"/>
                <a:sym typeface="+mn-ea"/>
              </a:rPr>
              <a:t>2</a:t>
            </a:r>
            <a:r>
              <a:rPr lang="zh-CN" altLang="en-US" sz="2400" dirty="0">
                <a:solidFill>
                  <a:srgbClr val="000000"/>
                </a:solidFill>
                <a:latin typeface="黑体" panose="02010609060101010101" pitchFamily="49" charset="-122"/>
                <a:ea typeface="黑体" panose="02010609060101010101" pitchFamily="49" charset="-122"/>
                <a:sym typeface="+mn-ea"/>
              </a:rPr>
              <a:t>个序列</a:t>
            </a:r>
          </a:p>
        </p:txBody>
      </p:sp>
      <p:graphicFrame>
        <p:nvGraphicFramePr>
          <p:cNvPr id="9" name="对象 8">
            <a:hlinkClick r:id="" action="ppaction://ole?verb=0"/>
          </p:cNvPr>
          <p:cNvGraphicFramePr>
            <a:graphicFrameLocks noChangeAspect="1"/>
          </p:cNvGraphicFramePr>
          <p:nvPr/>
        </p:nvGraphicFramePr>
        <p:xfrm>
          <a:off x="4114801" y="3810001"/>
          <a:ext cx="3521075" cy="1123315"/>
        </p:xfrm>
        <a:graphic>
          <a:graphicData uri="http://schemas.openxmlformats.org/presentationml/2006/ole">
            <mc:AlternateContent xmlns:mc="http://schemas.openxmlformats.org/markup-compatibility/2006">
              <mc:Choice xmlns:v="urn:schemas-microsoft-com:vml" Requires="v">
                <p:oleObj r:id="rId4" imgW="1358900" imgH="482600" progId="Equation.KSEE3">
                  <p:embed/>
                </p:oleObj>
              </mc:Choice>
              <mc:Fallback>
                <p:oleObj r:id="rId4" imgW="1358900" imgH="482600" progId="Equation.KSEE3">
                  <p:embed/>
                  <p:pic>
                    <p:nvPicPr>
                      <p:cNvPr id="9" name="对象 8">
                        <a:hlinkClick r:id="" action="ppaction://ole?verb=0"/>
                      </p:cNvPr>
                      <p:cNvPicPr/>
                      <p:nvPr/>
                    </p:nvPicPr>
                    <p:blipFill>
                      <a:blip r:embed="rId5"/>
                      <a:stretch>
                        <a:fillRect/>
                      </a:stretch>
                    </p:blipFill>
                    <p:spPr>
                      <a:xfrm>
                        <a:off x="4114801" y="3810001"/>
                        <a:ext cx="3521075" cy="1123315"/>
                      </a:xfrm>
                      <a:prstGeom prst="rect">
                        <a:avLst/>
                      </a:prstGeom>
                    </p:spPr>
                  </p:pic>
                </p:oleObj>
              </mc:Fallback>
            </mc:AlternateContent>
          </a:graphicData>
        </a:graphic>
      </p:graphicFrame>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13350" y="104775"/>
            <a:ext cx="5187950" cy="685800"/>
          </a:xfrm>
        </p:spPr>
        <p:txBody>
          <a:bodyPr/>
          <a:lstStyle/>
          <a:p>
            <a:r>
              <a:rPr sz="2800">
                <a:ea typeface="黑体" panose="02010609060101010101" pitchFamily="49" charset="-122"/>
                <a:sym typeface="+mn-ea"/>
              </a:rPr>
              <a:t>二元(3,2,</a:t>
            </a:r>
            <a:r>
              <a:rPr sz="2800" i="1">
                <a:ea typeface="黑体" panose="02010609060101010101" pitchFamily="49" charset="-122"/>
                <a:sym typeface="+mn-ea"/>
              </a:rPr>
              <a:t>m</a:t>
            </a:r>
            <a:r>
              <a:rPr sz="2800">
                <a:ea typeface="黑体" panose="02010609060101010101" pitchFamily="49" charset="-122"/>
                <a:sym typeface="+mn-ea"/>
              </a:rPr>
              <a:t>)卷积码的冲激响应</a:t>
            </a:r>
          </a:p>
        </p:txBody>
      </p:sp>
      <p:sp>
        <p:nvSpPr>
          <p:cNvPr id="7" name="文本框 6"/>
          <p:cNvSpPr txBox="1"/>
          <p:nvPr/>
        </p:nvSpPr>
        <p:spPr>
          <a:xfrm>
            <a:off x="1783081" y="914400"/>
            <a:ext cx="8564245" cy="493148"/>
          </a:xfrm>
          <a:prstGeom prst="rect">
            <a:avLst/>
          </a:prstGeom>
          <a:noFill/>
        </p:spPr>
        <p:txBody>
          <a:bodyPr wrap="square" rtlCol="0" anchor="t">
            <a:spAutoFit/>
          </a:bodyPr>
          <a:lstStyle/>
          <a:p>
            <a:pPr indent="457200" eaLnBrk="0" fontAlgn="base" hangingPunct="0">
              <a:lnSpc>
                <a:spcPct val="12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令</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=(100…), </a:t>
            </a:r>
            <a:r>
              <a:rPr lang="zh-CN" altLang="en-US" sz="2400" dirty="0">
                <a:solidFill>
                  <a:srgbClr val="000000"/>
                </a:solidFill>
                <a:latin typeface="Times New Roman" panose="02020603050405020304" pitchFamily="18" charset="0"/>
                <a:ea typeface="黑体" panose="02010609060101010101" pitchFamily="49" charset="-122"/>
                <a:sym typeface="+mn-ea"/>
              </a:rPr>
              <a:t>得到</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个输出序列</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长度均为</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+1)</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graphicFrame>
        <p:nvGraphicFramePr>
          <p:cNvPr id="5" name="对象 4">
            <a:hlinkClick r:id="" action="ppaction://ole?verb=0"/>
          </p:cNvPr>
          <p:cNvGraphicFramePr>
            <a:graphicFrameLocks noChangeAspect="1"/>
          </p:cNvGraphicFramePr>
          <p:nvPr/>
        </p:nvGraphicFramePr>
        <p:xfrm>
          <a:off x="4040506" y="1572260"/>
          <a:ext cx="3521075" cy="1385570"/>
        </p:xfrm>
        <a:graphic>
          <a:graphicData uri="http://schemas.openxmlformats.org/presentationml/2006/ole">
            <mc:AlternateContent xmlns:mc="http://schemas.openxmlformats.org/markup-compatibility/2006">
              <mc:Choice xmlns:v="urn:schemas-microsoft-com:vml" Requires="v">
                <p:oleObj r:id="rId2" imgW="1714500" imgH="736600" progId="Equation.KSEE3">
                  <p:embed/>
                </p:oleObj>
              </mc:Choice>
              <mc:Fallback>
                <p:oleObj r:id="rId2" imgW="1714500" imgH="736600" progId="Equation.KSEE3">
                  <p:embed/>
                  <p:pic>
                    <p:nvPicPr>
                      <p:cNvPr id="5" name="对象 4">
                        <a:hlinkClick r:id="" action="ppaction://ole?verb=0"/>
                      </p:cNvPr>
                      <p:cNvPicPr/>
                      <p:nvPr/>
                    </p:nvPicPr>
                    <p:blipFill>
                      <a:blip r:embed="rId3"/>
                      <a:stretch>
                        <a:fillRect/>
                      </a:stretch>
                    </p:blipFill>
                    <p:spPr>
                      <a:xfrm>
                        <a:off x="4040506" y="1572260"/>
                        <a:ext cx="3521075" cy="1385570"/>
                      </a:xfrm>
                      <a:prstGeom prst="rect">
                        <a:avLst/>
                      </a:prstGeom>
                    </p:spPr>
                  </p:pic>
                </p:oleObj>
              </mc:Fallback>
            </mc:AlternateContent>
          </a:graphicData>
        </a:graphic>
      </p:graphicFrame>
      <p:sp>
        <p:nvSpPr>
          <p:cNvPr id="8" name="文本框 7"/>
          <p:cNvSpPr txBox="1"/>
          <p:nvPr/>
        </p:nvSpPr>
        <p:spPr>
          <a:xfrm>
            <a:off x="2211070" y="2998470"/>
            <a:ext cx="5902960" cy="493148"/>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dirty="0">
                <a:solidFill>
                  <a:srgbClr val="000000"/>
                </a:solidFill>
                <a:latin typeface="黑体" panose="02010609060101010101" pitchFamily="49" charset="-122"/>
                <a:ea typeface="黑体" panose="02010609060101010101" pitchFamily="49" charset="-122"/>
                <a:sym typeface="+mn-ea"/>
              </a:rPr>
              <a:t>再令</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=(100…), </a:t>
            </a:r>
            <a:r>
              <a:rPr lang="zh-CN" altLang="en-US" sz="2400" dirty="0">
                <a:solidFill>
                  <a:srgbClr val="000000"/>
                </a:solidFill>
                <a:latin typeface="Times New Roman" panose="02020603050405020304" pitchFamily="18" charset="0"/>
                <a:ea typeface="黑体" panose="02010609060101010101" pitchFamily="49" charset="-122"/>
                <a:sym typeface="+mn-ea"/>
              </a:rPr>
              <a:t>又得到</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个输出序列</a:t>
            </a:r>
            <a:endParaRPr lang="zh-CN" altLang="en-US" sz="2400" dirty="0">
              <a:solidFill>
                <a:srgbClr val="000000"/>
              </a:solidFill>
              <a:latin typeface="黑体" panose="02010609060101010101" pitchFamily="49" charset="-122"/>
              <a:ea typeface="黑体" panose="02010609060101010101" pitchFamily="49" charset="-122"/>
              <a:sym typeface="+mn-ea"/>
            </a:endParaRPr>
          </a:p>
        </p:txBody>
      </p:sp>
      <p:graphicFrame>
        <p:nvGraphicFramePr>
          <p:cNvPr id="9" name="对象 8">
            <a:hlinkClick r:id="" action="ppaction://ole?verb=0"/>
          </p:cNvPr>
          <p:cNvGraphicFramePr>
            <a:graphicFrameLocks noChangeAspect="1"/>
          </p:cNvGraphicFramePr>
          <p:nvPr/>
        </p:nvGraphicFramePr>
        <p:xfrm>
          <a:off x="4267201" y="3657600"/>
          <a:ext cx="3174365" cy="1370330"/>
        </p:xfrm>
        <a:graphic>
          <a:graphicData uri="http://schemas.openxmlformats.org/presentationml/2006/ole">
            <mc:AlternateContent xmlns:mc="http://schemas.openxmlformats.org/markup-compatibility/2006">
              <mc:Choice xmlns:v="urn:schemas-microsoft-com:vml" Requires="v">
                <p:oleObj r:id="rId4" imgW="1714500" imgH="736600" progId="Equation.KSEE3">
                  <p:embed/>
                </p:oleObj>
              </mc:Choice>
              <mc:Fallback>
                <p:oleObj r:id="rId4" imgW="1714500" imgH="736600" progId="Equation.KSEE3">
                  <p:embed/>
                  <p:pic>
                    <p:nvPicPr>
                      <p:cNvPr id="9" name="对象 8">
                        <a:hlinkClick r:id="" action="ppaction://ole?verb=0"/>
                      </p:cNvPr>
                      <p:cNvPicPr/>
                      <p:nvPr/>
                    </p:nvPicPr>
                    <p:blipFill>
                      <a:blip r:embed="rId5"/>
                      <a:stretch>
                        <a:fillRect/>
                      </a:stretch>
                    </p:blipFill>
                    <p:spPr>
                      <a:xfrm>
                        <a:off x="4267201" y="3657600"/>
                        <a:ext cx="3174365" cy="1370330"/>
                      </a:xfrm>
                      <a:prstGeom prst="rect">
                        <a:avLst/>
                      </a:prstGeom>
                    </p:spPr>
                  </p:pic>
                </p:oleObj>
              </mc:Fallback>
            </mc:AlternateContent>
          </a:graphicData>
        </a:graphic>
      </p:graphicFrame>
      <p:sp>
        <p:nvSpPr>
          <p:cNvPr id="3" name="文本框 2"/>
          <p:cNvSpPr txBox="1"/>
          <p:nvPr/>
        </p:nvSpPr>
        <p:spPr>
          <a:xfrm>
            <a:off x="2135506" y="5112385"/>
            <a:ext cx="7672705" cy="493148"/>
          </a:xfrm>
          <a:prstGeom prst="rect">
            <a:avLst/>
          </a:prstGeom>
          <a:noFill/>
        </p:spPr>
        <p:txBody>
          <a:bodyPr wrap="square" rtlCol="0" anchor="t">
            <a:spAutoFit/>
          </a:bodyPr>
          <a:lstStyle/>
          <a:p>
            <a:pPr eaLnBrk="0" fontAlgn="base" hangingPunct="0">
              <a:lnSpc>
                <a:spcPct val="12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则称下面的序列为</a:t>
            </a:r>
            <a:r>
              <a:rPr lang="en-US" altLang="zh-CN" sz="2400">
                <a:solidFill>
                  <a:srgbClr val="000000"/>
                </a:solidFill>
                <a:latin typeface="Times New Roman" panose="02020603050405020304" pitchFamily="18" charset="0"/>
                <a:ea typeface="黑体" panose="02010609060101010101" pitchFamily="49" charset="-122"/>
                <a:sym typeface="+mn-ea"/>
              </a:rPr>
              <a:t>(3, 2, </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黑体" panose="02010609060101010101" pitchFamily="49" charset="-122"/>
                <a:ea typeface="黑体" panose="02010609060101010101" pitchFamily="49" charset="-122"/>
                <a:sym typeface="+mn-ea"/>
              </a:rPr>
              <a:t>卷积码的生成序列</a:t>
            </a:r>
          </a:p>
        </p:txBody>
      </p:sp>
      <p:graphicFrame>
        <p:nvGraphicFramePr>
          <p:cNvPr id="4" name="对象 3">
            <a:hlinkClick r:id="" action="ppaction://ole?verb=0"/>
          </p:cNvPr>
          <p:cNvGraphicFramePr>
            <a:graphicFrameLocks noChangeAspect="1"/>
          </p:cNvGraphicFramePr>
          <p:nvPr/>
        </p:nvGraphicFramePr>
        <p:xfrm>
          <a:off x="3200400" y="5790884"/>
          <a:ext cx="6002020" cy="520065"/>
        </p:xfrm>
        <a:graphic>
          <a:graphicData uri="http://schemas.openxmlformats.org/presentationml/2006/ole">
            <mc:AlternateContent xmlns:mc="http://schemas.openxmlformats.org/markup-compatibility/2006">
              <mc:Choice xmlns:v="urn:schemas-microsoft-com:vml" Requires="v">
                <p:oleObj r:id="rId6" imgW="2628900" imgH="241300" progId="Equation.KSEE3">
                  <p:embed/>
                </p:oleObj>
              </mc:Choice>
              <mc:Fallback>
                <p:oleObj r:id="rId6" imgW="2628900" imgH="241300" progId="Equation.KSEE3">
                  <p:embed/>
                  <p:pic>
                    <p:nvPicPr>
                      <p:cNvPr id="4" name="对象 3">
                        <a:hlinkClick r:id="" action="ppaction://ole?verb=0"/>
                      </p:cNvPr>
                      <p:cNvPicPr/>
                      <p:nvPr/>
                    </p:nvPicPr>
                    <p:blipFill>
                      <a:blip r:embed="rId7"/>
                      <a:stretch>
                        <a:fillRect/>
                      </a:stretch>
                    </p:blipFill>
                    <p:spPr>
                      <a:xfrm>
                        <a:off x="3200400" y="5790884"/>
                        <a:ext cx="6002020" cy="520065"/>
                      </a:xfrm>
                      <a:prstGeom prst="rect">
                        <a:avLst/>
                      </a:prstGeom>
                    </p:spPr>
                  </p:pic>
                </p:oleObj>
              </mc:Fallback>
            </mc:AlternateContent>
          </a:graphicData>
        </a:graphic>
      </p:graphicFrame>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13350" y="104775"/>
            <a:ext cx="5187950" cy="685800"/>
          </a:xfrm>
        </p:spPr>
        <p:txBody>
          <a:bodyPr/>
          <a:lstStyle/>
          <a:p>
            <a:r>
              <a:rPr sz="2800">
                <a:ea typeface="黑体" panose="02010609060101010101" pitchFamily="49" charset="-122"/>
                <a:sym typeface="+mn-ea"/>
              </a:rPr>
              <a:t>二元(3,</a:t>
            </a:r>
            <a:r>
              <a:rPr lang="en-US" sz="2800">
                <a:ea typeface="黑体" panose="02010609060101010101" pitchFamily="49" charset="-122"/>
                <a:sym typeface="+mn-ea"/>
              </a:rPr>
              <a:t> </a:t>
            </a:r>
            <a:r>
              <a:rPr sz="2800">
                <a:ea typeface="黑体" panose="02010609060101010101" pitchFamily="49" charset="-122"/>
                <a:sym typeface="+mn-ea"/>
              </a:rPr>
              <a:t>2,</a:t>
            </a:r>
            <a:r>
              <a:rPr lang="en-US" sz="2800">
                <a:ea typeface="黑体" panose="02010609060101010101" pitchFamily="49" charset="-122"/>
                <a:sym typeface="+mn-ea"/>
              </a:rPr>
              <a:t> 1</a:t>
            </a:r>
            <a:r>
              <a:rPr sz="2800">
                <a:ea typeface="黑体" panose="02010609060101010101" pitchFamily="49" charset="-122"/>
                <a:sym typeface="+mn-ea"/>
              </a:rPr>
              <a:t>)卷积码的冲激响应</a:t>
            </a:r>
          </a:p>
        </p:txBody>
      </p:sp>
      <p:graphicFrame>
        <p:nvGraphicFramePr>
          <p:cNvPr id="5" name="对象 4">
            <a:hlinkClick r:id="" action="ppaction://ole?verb=0"/>
          </p:cNvPr>
          <p:cNvGraphicFramePr>
            <a:graphicFrameLocks noChangeAspect="1"/>
          </p:cNvGraphicFramePr>
          <p:nvPr/>
        </p:nvGraphicFramePr>
        <p:xfrm>
          <a:off x="3885883" y="1676400"/>
          <a:ext cx="4304030" cy="1385570"/>
        </p:xfrm>
        <a:graphic>
          <a:graphicData uri="http://schemas.openxmlformats.org/presentationml/2006/ole">
            <mc:AlternateContent xmlns:mc="http://schemas.openxmlformats.org/markup-compatibility/2006">
              <mc:Choice xmlns:v="urn:schemas-microsoft-com:vml" Requires="v">
                <p:oleObj r:id="rId2" imgW="2095500" imgH="736600" progId="Equation.KSEE3">
                  <p:embed/>
                </p:oleObj>
              </mc:Choice>
              <mc:Fallback>
                <p:oleObj r:id="rId2" imgW="2095500" imgH="736600" progId="Equation.KSEE3">
                  <p:embed/>
                  <p:pic>
                    <p:nvPicPr>
                      <p:cNvPr id="5" name="对象 4">
                        <a:hlinkClick r:id="" action="ppaction://ole?verb=0"/>
                      </p:cNvPr>
                      <p:cNvPicPr/>
                      <p:nvPr/>
                    </p:nvPicPr>
                    <p:blipFill>
                      <a:blip r:embed="rId3"/>
                      <a:stretch>
                        <a:fillRect/>
                      </a:stretch>
                    </p:blipFill>
                    <p:spPr>
                      <a:xfrm>
                        <a:off x="3885883" y="1676400"/>
                        <a:ext cx="4304030" cy="1385570"/>
                      </a:xfrm>
                      <a:prstGeom prst="rect">
                        <a:avLst/>
                      </a:prstGeom>
                    </p:spPr>
                  </p:pic>
                </p:oleObj>
              </mc:Fallback>
            </mc:AlternateContent>
          </a:graphicData>
        </a:graphic>
      </p:graphicFrame>
      <p:sp>
        <p:nvSpPr>
          <p:cNvPr id="12" name="文本框 11"/>
          <p:cNvSpPr txBox="1"/>
          <p:nvPr/>
        </p:nvSpPr>
        <p:spPr>
          <a:xfrm>
            <a:off x="1921510" y="898525"/>
            <a:ext cx="7993380" cy="493148"/>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Times New Roman" panose="02020603050405020304" pitchFamily="18" charset="0"/>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6.2</a:t>
            </a:r>
            <a:r>
              <a:rPr lang="zh-CN" altLang="en-US" sz="2400" dirty="0">
                <a:solidFill>
                  <a:srgbClr val="000000"/>
                </a:solidFill>
                <a:latin typeface="Times New Roman" panose="02020603050405020304" pitchFamily="18" charset="0"/>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(3, 2, 1)</a:t>
            </a:r>
            <a:r>
              <a:rPr lang="zh-CN" altLang="en-US" sz="2400" dirty="0">
                <a:solidFill>
                  <a:srgbClr val="000000"/>
                </a:solidFill>
                <a:latin typeface="Times New Roman" panose="02020603050405020304" pitchFamily="18" charset="0"/>
                <a:ea typeface="黑体" panose="02010609060101010101" pitchFamily="49" charset="-122"/>
                <a:sym typeface="+mn-ea"/>
              </a:rPr>
              <a:t>卷积码的生成序列为</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3" name="对象 12">
            <a:hlinkClick r:id="" action="ppaction://ole?verb=0"/>
          </p:cNvPr>
          <p:cNvGraphicFramePr>
            <a:graphicFrameLocks noChangeAspect="1"/>
          </p:cNvGraphicFramePr>
          <p:nvPr/>
        </p:nvGraphicFramePr>
        <p:xfrm>
          <a:off x="3885883" y="3581400"/>
          <a:ext cx="4307840" cy="1386840"/>
        </p:xfrm>
        <a:graphic>
          <a:graphicData uri="http://schemas.openxmlformats.org/presentationml/2006/ole">
            <mc:AlternateContent xmlns:mc="http://schemas.openxmlformats.org/markup-compatibility/2006">
              <mc:Choice xmlns:v="urn:schemas-microsoft-com:vml" Requires="v">
                <p:oleObj r:id="rId4" imgW="2095500" imgH="736600" progId="Equation.KSEE3">
                  <p:embed/>
                </p:oleObj>
              </mc:Choice>
              <mc:Fallback>
                <p:oleObj r:id="rId4" imgW="2095500" imgH="736600" progId="Equation.KSEE3">
                  <p:embed/>
                  <p:pic>
                    <p:nvPicPr>
                      <p:cNvPr id="13" name="对象 12">
                        <a:hlinkClick r:id="" action="ppaction://ole?verb=0"/>
                      </p:cNvPr>
                      <p:cNvPicPr/>
                      <p:nvPr/>
                    </p:nvPicPr>
                    <p:blipFill>
                      <a:blip r:embed="rId5"/>
                      <a:stretch>
                        <a:fillRect/>
                      </a:stretch>
                    </p:blipFill>
                    <p:spPr>
                      <a:xfrm>
                        <a:off x="3885883" y="3581400"/>
                        <a:ext cx="4307840" cy="1386840"/>
                      </a:xfrm>
                      <a:prstGeom prst="rect">
                        <a:avLst/>
                      </a:prstGeom>
                    </p:spPr>
                  </p:pic>
                </p:oleObj>
              </mc:Fallback>
            </mc:AlternateContent>
          </a:graphicData>
        </a:graphic>
      </p:graphicFrame>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75936"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 2</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 1</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卷积码的码字</a:t>
            </a:r>
          </a:p>
        </p:txBody>
      </p:sp>
      <p:sp>
        <p:nvSpPr>
          <p:cNvPr id="3" name="文本框 2"/>
          <p:cNvSpPr txBox="1"/>
          <p:nvPr/>
        </p:nvSpPr>
        <p:spPr>
          <a:xfrm>
            <a:off x="1838325" y="914400"/>
            <a:ext cx="3092450" cy="520848"/>
          </a:xfrm>
          <a:prstGeom prst="rect">
            <a:avLst/>
          </a:prstGeom>
          <a:noFill/>
        </p:spPr>
        <p:txBody>
          <a:bodyPr wrap="square" rtlCol="0" anchor="t">
            <a:spAutoFit/>
          </a:bodyPr>
          <a:lstStyle/>
          <a:p>
            <a:pPr indent="711200" eaLnBrk="0" fontAlgn="base" hangingPunct="0">
              <a:lnSpc>
                <a:spcPct val="13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输出序列分别为</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0"/>
          </p:cNvPr>
          <p:cNvGraphicFramePr>
            <a:graphicFrameLocks noChangeAspect="1"/>
          </p:cNvGraphicFramePr>
          <p:nvPr/>
        </p:nvGraphicFramePr>
        <p:xfrm>
          <a:off x="2709864" y="1682750"/>
          <a:ext cx="6957695" cy="473710"/>
        </p:xfrm>
        <a:graphic>
          <a:graphicData uri="http://schemas.openxmlformats.org/presentationml/2006/ole">
            <mc:AlternateContent xmlns:mc="http://schemas.openxmlformats.org/markup-compatibility/2006">
              <mc:Choice xmlns:v="urn:schemas-microsoft-com:vml" Requires="v">
                <p:oleObj r:id="rId2" imgW="3797300" imgH="241300" progId="Equation.KSEE3">
                  <p:embed/>
                </p:oleObj>
              </mc:Choice>
              <mc:Fallback>
                <p:oleObj r:id="rId2" imgW="3797300" imgH="241300" progId="Equation.KSEE3">
                  <p:embed/>
                  <p:pic>
                    <p:nvPicPr>
                      <p:cNvPr id="11" name="对象 10">
                        <a:hlinkClick r:id="" action="ppaction://ole?verb=0"/>
                      </p:cNvPr>
                      <p:cNvPicPr/>
                      <p:nvPr/>
                    </p:nvPicPr>
                    <p:blipFill>
                      <a:blip r:embed="rId3"/>
                      <a:stretch>
                        <a:fillRect/>
                      </a:stretch>
                    </p:blipFill>
                    <p:spPr>
                      <a:xfrm>
                        <a:off x="2709864" y="1682750"/>
                        <a:ext cx="6957695" cy="473710"/>
                      </a:xfrm>
                      <a:prstGeom prst="rect">
                        <a:avLst/>
                      </a:prstGeom>
                    </p:spPr>
                  </p:pic>
                </p:oleObj>
              </mc:Fallback>
            </mc:AlternateContent>
          </a:graphicData>
        </a:graphic>
      </p:graphicFrame>
      <p:sp>
        <p:nvSpPr>
          <p:cNvPr id="4" name="文本框 3"/>
          <p:cNvSpPr txBox="1"/>
          <p:nvPr/>
        </p:nvSpPr>
        <p:spPr>
          <a:xfrm>
            <a:off x="2047876" y="2299335"/>
            <a:ext cx="4802505" cy="520848"/>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(3,2,</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的卷积码的码字为</a:t>
            </a:r>
          </a:p>
        </p:txBody>
      </p:sp>
      <p:graphicFrame>
        <p:nvGraphicFramePr>
          <p:cNvPr id="5" name="对象 4">
            <a:hlinkClick r:id="" action="ppaction://ole?verb=0"/>
          </p:cNvPr>
          <p:cNvGraphicFramePr>
            <a:graphicFrameLocks noChangeAspect="1"/>
          </p:cNvGraphicFramePr>
          <p:nvPr/>
        </p:nvGraphicFramePr>
        <p:xfrm>
          <a:off x="3733484" y="3049270"/>
          <a:ext cx="4910455" cy="473710"/>
        </p:xfrm>
        <a:graphic>
          <a:graphicData uri="http://schemas.openxmlformats.org/presentationml/2006/ole">
            <mc:AlternateContent xmlns:mc="http://schemas.openxmlformats.org/markup-compatibility/2006">
              <mc:Choice xmlns:v="urn:schemas-microsoft-com:vml" Requires="v">
                <p:oleObj r:id="rId4" imgW="2679700" imgH="241300" progId="Equation.KSEE3">
                  <p:embed/>
                </p:oleObj>
              </mc:Choice>
              <mc:Fallback>
                <p:oleObj r:id="rId4" imgW="2679700" imgH="241300" progId="Equation.KSEE3">
                  <p:embed/>
                  <p:pic>
                    <p:nvPicPr>
                      <p:cNvPr id="5" name="对象 4">
                        <a:hlinkClick r:id="" action="ppaction://ole?verb=0"/>
                      </p:cNvPr>
                      <p:cNvPicPr/>
                      <p:nvPr/>
                    </p:nvPicPr>
                    <p:blipFill>
                      <a:blip r:embed="rId5"/>
                      <a:stretch>
                        <a:fillRect/>
                      </a:stretch>
                    </p:blipFill>
                    <p:spPr>
                      <a:xfrm>
                        <a:off x="3733484" y="3049270"/>
                        <a:ext cx="4910455" cy="473710"/>
                      </a:xfrm>
                      <a:prstGeom prst="rect">
                        <a:avLst/>
                      </a:prstGeom>
                    </p:spPr>
                  </p:pic>
                </p:oleObj>
              </mc:Fallback>
            </mc:AlternateContent>
          </a:graphicData>
        </a:graphic>
      </p:graphicFrame>
      <p:sp>
        <p:nvSpPr>
          <p:cNvPr id="10" name="文本框 9"/>
          <p:cNvSpPr txBox="1"/>
          <p:nvPr/>
        </p:nvSpPr>
        <p:spPr>
          <a:xfrm>
            <a:off x="2127250" y="3610610"/>
            <a:ext cx="7993380" cy="493148"/>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6.2</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(3, 2, 1)</a:t>
            </a:r>
            <a:r>
              <a:rPr lang="zh-CN" altLang="en-US" sz="2400" dirty="0">
                <a:solidFill>
                  <a:srgbClr val="000000"/>
                </a:solidFill>
                <a:latin typeface="黑体" panose="02010609060101010101" pitchFamily="49" charset="-122"/>
                <a:ea typeface="黑体" panose="02010609060101010101" pitchFamily="49" charset="-122"/>
                <a:sym typeface="+mn-ea"/>
              </a:rPr>
              <a:t>卷积码，若</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=(101), </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=(110)</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0"/>
          </p:cNvPr>
          <p:cNvGraphicFramePr>
            <a:graphicFrameLocks noChangeAspect="1"/>
          </p:cNvGraphicFramePr>
          <p:nvPr/>
        </p:nvGraphicFramePr>
        <p:xfrm>
          <a:off x="2286001" y="4345305"/>
          <a:ext cx="7461885" cy="1236980"/>
        </p:xfrm>
        <a:graphic>
          <a:graphicData uri="http://schemas.openxmlformats.org/presentationml/2006/ole">
            <mc:AlternateContent xmlns:mc="http://schemas.openxmlformats.org/markup-compatibility/2006">
              <mc:Choice xmlns:v="urn:schemas-microsoft-com:vml" Requires="v">
                <p:oleObj r:id="rId6" imgW="4762500" imgH="736600" progId="Equation.KSEE3">
                  <p:embed/>
                </p:oleObj>
              </mc:Choice>
              <mc:Fallback>
                <p:oleObj r:id="rId6" imgW="4762500" imgH="736600" progId="Equation.KSEE3">
                  <p:embed/>
                  <p:pic>
                    <p:nvPicPr>
                      <p:cNvPr id="7" name="对象 6">
                        <a:hlinkClick r:id="" action="ppaction://ole?verb=0"/>
                      </p:cNvPr>
                      <p:cNvPicPr/>
                      <p:nvPr/>
                    </p:nvPicPr>
                    <p:blipFill>
                      <a:blip r:embed="rId7"/>
                      <a:stretch>
                        <a:fillRect/>
                      </a:stretch>
                    </p:blipFill>
                    <p:spPr>
                      <a:xfrm>
                        <a:off x="2286001" y="4345305"/>
                        <a:ext cx="7461885" cy="1236980"/>
                      </a:xfrm>
                      <a:prstGeom prst="rect">
                        <a:avLst/>
                      </a:prstGeom>
                    </p:spPr>
                  </p:pic>
                </p:oleObj>
              </mc:Fallback>
            </mc:AlternateContent>
          </a:graphicData>
        </a:graphic>
      </p:graphicFrame>
      <p:sp>
        <p:nvSpPr>
          <p:cNvPr id="9" name="文本框 8"/>
          <p:cNvSpPr txBox="1"/>
          <p:nvPr/>
        </p:nvSpPr>
        <p:spPr>
          <a:xfrm>
            <a:off x="2099311" y="5675630"/>
            <a:ext cx="5342255" cy="520848"/>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得到的码字为</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=(110, 000, 001, 111)</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13350" y="104775"/>
            <a:ext cx="5187950" cy="685800"/>
          </a:xfrm>
        </p:spPr>
        <p:txBody>
          <a:bodyPr/>
          <a:lstStyle/>
          <a:p>
            <a:r>
              <a:rPr sz="2800">
                <a:ea typeface="黑体" panose="02010609060101010101" pitchFamily="49" charset="-122"/>
                <a:sym typeface="+mn-ea"/>
              </a:rPr>
              <a:t>二元(3,</a:t>
            </a:r>
            <a:r>
              <a:rPr lang="en-US" sz="2800">
                <a:ea typeface="黑体" panose="02010609060101010101" pitchFamily="49" charset="-122"/>
                <a:sym typeface="+mn-ea"/>
              </a:rPr>
              <a:t> </a:t>
            </a:r>
            <a:r>
              <a:rPr sz="2800">
                <a:ea typeface="黑体" panose="02010609060101010101" pitchFamily="49" charset="-122"/>
                <a:sym typeface="+mn-ea"/>
              </a:rPr>
              <a:t>2,</a:t>
            </a:r>
            <a:r>
              <a:rPr lang="en-US" sz="2800">
                <a:ea typeface="黑体" panose="02010609060101010101" pitchFamily="49" charset="-122"/>
                <a:sym typeface="+mn-ea"/>
              </a:rPr>
              <a:t> 1</a:t>
            </a:r>
            <a:r>
              <a:rPr sz="2800">
                <a:ea typeface="黑体" panose="02010609060101010101" pitchFamily="49" charset="-122"/>
                <a:sym typeface="+mn-ea"/>
              </a:rPr>
              <a:t>)卷积码的</a:t>
            </a:r>
            <a:r>
              <a:rPr lang="zh-CN" altLang="en-US" sz="2800">
                <a:ea typeface="黑体" panose="02010609060101010101" pitchFamily="49" charset="-122"/>
                <a:sym typeface="+mn-ea"/>
              </a:rPr>
              <a:t>编码方程</a:t>
            </a:r>
          </a:p>
        </p:txBody>
      </p:sp>
      <p:graphicFrame>
        <p:nvGraphicFramePr>
          <p:cNvPr id="5" name="对象 4">
            <a:hlinkClick r:id="" action="ppaction://ole?verb=0"/>
          </p:cNvPr>
          <p:cNvGraphicFramePr>
            <a:graphicFrameLocks noChangeAspect="1"/>
          </p:cNvGraphicFramePr>
          <p:nvPr/>
        </p:nvGraphicFramePr>
        <p:xfrm>
          <a:off x="4577082" y="1628459"/>
          <a:ext cx="2921635" cy="1481455"/>
        </p:xfrm>
        <a:graphic>
          <a:graphicData uri="http://schemas.openxmlformats.org/presentationml/2006/ole">
            <mc:AlternateContent xmlns:mc="http://schemas.openxmlformats.org/markup-compatibility/2006">
              <mc:Choice xmlns:v="urn:schemas-microsoft-com:vml" Requires="v">
                <p:oleObj r:id="rId2" imgW="1422400" imgH="787400" progId="Equation.KSEE3">
                  <p:embed/>
                </p:oleObj>
              </mc:Choice>
              <mc:Fallback>
                <p:oleObj r:id="rId2" imgW="1422400" imgH="787400" progId="Equation.KSEE3">
                  <p:embed/>
                  <p:pic>
                    <p:nvPicPr>
                      <p:cNvPr id="5" name="对象 4">
                        <a:hlinkClick r:id="" action="ppaction://ole?verb=0"/>
                      </p:cNvPr>
                      <p:cNvPicPr/>
                      <p:nvPr/>
                    </p:nvPicPr>
                    <p:blipFill>
                      <a:blip r:embed="rId3"/>
                      <a:stretch>
                        <a:fillRect/>
                      </a:stretch>
                    </p:blipFill>
                    <p:spPr>
                      <a:xfrm>
                        <a:off x="4577082" y="1628459"/>
                        <a:ext cx="2921635" cy="1481455"/>
                      </a:xfrm>
                      <a:prstGeom prst="rect">
                        <a:avLst/>
                      </a:prstGeom>
                    </p:spPr>
                  </p:pic>
                </p:oleObj>
              </mc:Fallback>
            </mc:AlternateContent>
          </a:graphicData>
        </a:graphic>
      </p:graphicFrame>
      <p:sp>
        <p:nvSpPr>
          <p:cNvPr id="12" name="文本框 11"/>
          <p:cNvSpPr txBox="1"/>
          <p:nvPr/>
        </p:nvSpPr>
        <p:spPr>
          <a:xfrm>
            <a:off x="1921510" y="898525"/>
            <a:ext cx="7993380" cy="493148"/>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6.2</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(3,2,1)</a:t>
            </a:r>
            <a:r>
              <a:rPr lang="zh-CN" altLang="en-US" sz="2400" dirty="0">
                <a:solidFill>
                  <a:srgbClr val="000000"/>
                </a:solidFill>
                <a:latin typeface="黑体" panose="02010609060101010101" pitchFamily="49" charset="-122"/>
                <a:ea typeface="黑体" panose="02010609060101010101" pitchFamily="49" charset="-122"/>
                <a:sym typeface="+mn-ea"/>
              </a:rPr>
              <a:t>卷积码的编码方程为</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9" name="文本框 8"/>
          <p:cNvSpPr txBox="1"/>
          <p:nvPr/>
        </p:nvSpPr>
        <p:spPr>
          <a:xfrm>
            <a:off x="2023746" y="3333115"/>
            <a:ext cx="8197215" cy="1000980"/>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另外，编码方程中每一项的系数，还可以表示输入、移位寄存器和输出之间的连接关系，</a:t>
            </a:r>
            <a:r>
              <a:rPr lang="en-US" altLang="zh-CN"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表示有连接，</a:t>
            </a:r>
            <a:r>
              <a:rPr lang="en-US" altLang="zh-CN"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0</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表示没有连接</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75936"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 2</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800" i="1">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卷积码的生成矩阵</a:t>
            </a:r>
          </a:p>
        </p:txBody>
      </p:sp>
      <p:sp>
        <p:nvSpPr>
          <p:cNvPr id="3" name="文本框 2"/>
          <p:cNvSpPr txBox="1"/>
          <p:nvPr/>
        </p:nvSpPr>
        <p:spPr>
          <a:xfrm>
            <a:off x="1838325" y="838835"/>
            <a:ext cx="4692650" cy="520848"/>
          </a:xfrm>
          <a:prstGeom prst="rect">
            <a:avLst/>
          </a:prstGeom>
          <a:noFill/>
        </p:spPr>
        <p:txBody>
          <a:bodyPr wrap="square" rtlCol="0" anchor="t">
            <a:spAutoFit/>
          </a:bodyPr>
          <a:lstStyle/>
          <a:p>
            <a:pPr indent="711200" eaLnBrk="0" fontAlgn="base" hangingPunct="0">
              <a:lnSpc>
                <a:spcPct val="130000"/>
              </a:lnSpc>
              <a:spcBef>
                <a:spcPct val="0"/>
              </a:spcBef>
              <a:spcAft>
                <a:spcPct val="0"/>
              </a:spcAft>
            </a:pPr>
            <a:r>
              <a:rPr lang="zh-CN" altLang="en-US"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2</a:t>
            </a:r>
            <a:r>
              <a:rPr lang="zh-CN" altLang="en-US"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4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400">
                <a:solidFill>
                  <a:srgbClr val="000000"/>
                </a:solidFill>
                <a:latin typeface="黑体" panose="02010609060101010101" pitchFamily="49" charset="-122"/>
                <a:ea typeface="黑体" panose="02010609060101010101" pitchFamily="49" charset="-122"/>
                <a:cs typeface="黑体" panose="02010609060101010101" pitchFamily="49" charset="-122"/>
                <a:sym typeface="+mn-ea"/>
              </a:rPr>
              <a:t>卷积码的</a:t>
            </a:r>
            <a:r>
              <a:rPr lang="zh-CN" altLang="en-US" sz="2400" dirty="0">
                <a:solidFill>
                  <a:srgbClr val="000000"/>
                </a:solidFill>
                <a:latin typeface="Times New Roman" panose="02020603050405020304" pitchFamily="18" charset="0"/>
                <a:ea typeface="黑体" panose="02010609060101010101" pitchFamily="49" charset="-122"/>
                <a:sym typeface="+mn-ea"/>
              </a:rPr>
              <a:t>生成序列为</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11" name="对象 10">
            <a:hlinkClick r:id="" action="ppaction://ole?verb=0"/>
          </p:cNvPr>
          <p:cNvGraphicFramePr>
            <a:graphicFrameLocks noChangeAspect="1"/>
          </p:cNvGraphicFramePr>
          <p:nvPr/>
        </p:nvGraphicFramePr>
        <p:xfrm>
          <a:off x="6476684" y="927100"/>
          <a:ext cx="1895475" cy="416560"/>
        </p:xfrm>
        <a:graphic>
          <a:graphicData uri="http://schemas.openxmlformats.org/presentationml/2006/ole">
            <mc:AlternateContent xmlns:mc="http://schemas.openxmlformats.org/markup-compatibility/2006">
              <mc:Choice xmlns:v="urn:schemas-microsoft-com:vml" Requires="v">
                <p:oleObj r:id="rId2" imgW="1231265" imgH="241300" progId="Equation.KSEE3">
                  <p:embed/>
                </p:oleObj>
              </mc:Choice>
              <mc:Fallback>
                <p:oleObj r:id="rId2" imgW="1231265" imgH="241300" progId="Equation.KSEE3">
                  <p:embed/>
                  <p:pic>
                    <p:nvPicPr>
                      <p:cNvPr id="11" name="对象 10">
                        <a:hlinkClick r:id="" action="ppaction://ole?verb=0"/>
                      </p:cNvPr>
                      <p:cNvPicPr/>
                      <p:nvPr/>
                    </p:nvPicPr>
                    <p:blipFill>
                      <a:blip r:embed="rId3"/>
                      <a:stretch>
                        <a:fillRect/>
                      </a:stretch>
                    </p:blipFill>
                    <p:spPr>
                      <a:xfrm>
                        <a:off x="6476684" y="927100"/>
                        <a:ext cx="1895475" cy="416560"/>
                      </a:xfrm>
                      <a:prstGeom prst="rect">
                        <a:avLst/>
                      </a:prstGeom>
                    </p:spPr>
                  </p:pic>
                </p:oleObj>
              </mc:Fallback>
            </mc:AlternateContent>
          </a:graphicData>
        </a:graphic>
      </p:graphicFrame>
      <p:graphicFrame>
        <p:nvGraphicFramePr>
          <p:cNvPr id="5" name="对象 4">
            <a:hlinkClick r:id="" action="ppaction://ole?verb=0"/>
          </p:cNvPr>
          <p:cNvGraphicFramePr>
            <a:graphicFrameLocks noChangeAspect="1"/>
          </p:cNvGraphicFramePr>
          <p:nvPr/>
        </p:nvGraphicFramePr>
        <p:xfrm>
          <a:off x="3905885" y="4648200"/>
          <a:ext cx="4380230" cy="2000250"/>
        </p:xfrm>
        <a:graphic>
          <a:graphicData uri="http://schemas.openxmlformats.org/presentationml/2006/ole">
            <mc:AlternateContent xmlns:mc="http://schemas.openxmlformats.org/markup-compatibility/2006">
              <mc:Choice xmlns:v="urn:schemas-microsoft-com:vml" Requires="v">
                <p:oleObj r:id="rId4" imgW="3098800" imgH="1320165" progId="Equation.KSEE3">
                  <p:embed/>
                </p:oleObj>
              </mc:Choice>
              <mc:Fallback>
                <p:oleObj r:id="rId4" imgW="3098800" imgH="1320165" progId="Equation.KSEE3">
                  <p:embed/>
                  <p:pic>
                    <p:nvPicPr>
                      <p:cNvPr id="5" name="对象 4">
                        <a:hlinkClick r:id="" action="ppaction://ole?verb=0"/>
                      </p:cNvPr>
                      <p:cNvPicPr/>
                      <p:nvPr/>
                    </p:nvPicPr>
                    <p:blipFill>
                      <a:blip r:embed="rId5"/>
                      <a:stretch>
                        <a:fillRect/>
                      </a:stretch>
                    </p:blipFill>
                    <p:spPr>
                      <a:xfrm>
                        <a:off x="3905885" y="4648200"/>
                        <a:ext cx="4380230" cy="2000250"/>
                      </a:xfrm>
                      <a:prstGeom prst="rect">
                        <a:avLst/>
                      </a:prstGeom>
                    </p:spPr>
                  </p:pic>
                </p:oleObj>
              </mc:Fallback>
            </mc:AlternateContent>
          </a:graphicData>
        </a:graphic>
      </p:graphicFrame>
      <p:sp>
        <p:nvSpPr>
          <p:cNvPr id="10" name="文本框 9"/>
          <p:cNvSpPr txBox="1"/>
          <p:nvPr/>
        </p:nvSpPr>
        <p:spPr>
          <a:xfrm>
            <a:off x="1976120" y="3988435"/>
            <a:ext cx="7993380" cy="493148"/>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6.2</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(3,2,1)</a:t>
            </a:r>
            <a:r>
              <a:rPr lang="zh-CN" altLang="en-US" sz="2400" dirty="0">
                <a:solidFill>
                  <a:srgbClr val="000000"/>
                </a:solidFill>
                <a:latin typeface="黑体" panose="02010609060101010101" pitchFamily="49" charset="-122"/>
                <a:ea typeface="黑体" panose="02010609060101010101" pitchFamily="49" charset="-122"/>
                <a:sym typeface="+mn-ea"/>
              </a:rPr>
              <a:t>的生成矩阵为</a:t>
            </a:r>
            <a:endParaRPr sz="2400" dirty="0">
              <a:solidFill>
                <a:srgbClr val="000000"/>
              </a:solidFill>
              <a:latin typeface="Times New Roman" panose="02020603050405020304" pitchFamily="18" charset="0"/>
              <a:ea typeface="黑体" panose="02010609060101010101" pitchFamily="49" charset="-122"/>
              <a:sym typeface="+mn-ea"/>
            </a:endParaRPr>
          </a:p>
        </p:txBody>
      </p:sp>
      <p:sp>
        <p:nvSpPr>
          <p:cNvPr id="4" name="文本框 3"/>
          <p:cNvSpPr txBox="1"/>
          <p:nvPr/>
        </p:nvSpPr>
        <p:spPr>
          <a:xfrm>
            <a:off x="1814196" y="1343660"/>
            <a:ext cx="5542915" cy="520848"/>
          </a:xfrm>
          <a:prstGeom prst="rect">
            <a:avLst/>
          </a:prstGeom>
          <a:noFill/>
        </p:spPr>
        <p:txBody>
          <a:bodyPr wrap="square" rtlCol="0" anchor="t">
            <a:spAutoFit/>
          </a:bodyPr>
          <a:lstStyle/>
          <a:p>
            <a:pPr indent="711200" eaLnBrk="0" fontAlgn="base" hangingPunct="0">
              <a:lnSpc>
                <a:spcPct val="130000"/>
              </a:lnSpc>
              <a:spcBef>
                <a:spcPct val="0"/>
              </a:spcBef>
              <a:spcAft>
                <a:spcPct val="0"/>
              </a:spcAft>
            </a:pPr>
            <a:r>
              <a:rPr lang="zh-CN" altLang="en-US"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2</a:t>
            </a:r>
            <a:r>
              <a:rPr lang="zh-CN" altLang="en-US"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400" i="1">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400">
                <a:solidFill>
                  <a:srgbClr val="00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400">
                <a:solidFill>
                  <a:srgbClr val="000000"/>
                </a:solidFill>
                <a:latin typeface="黑体" panose="02010609060101010101" pitchFamily="49" charset="-122"/>
                <a:ea typeface="黑体" panose="02010609060101010101" pitchFamily="49" charset="-122"/>
                <a:cs typeface="黑体" panose="02010609060101010101" pitchFamily="49" charset="-122"/>
                <a:sym typeface="+mn-ea"/>
              </a:rPr>
              <a:t>卷积码的</a:t>
            </a:r>
            <a:r>
              <a:rPr lang="zh-CN" altLang="en-US" sz="2400" dirty="0">
                <a:solidFill>
                  <a:srgbClr val="000000"/>
                </a:solidFill>
                <a:latin typeface="Times New Roman" panose="02020603050405020304" pitchFamily="18" charset="0"/>
                <a:ea typeface="黑体" panose="02010609060101010101" pitchFamily="49" charset="-122"/>
                <a:sym typeface="+mn-ea"/>
              </a:rPr>
              <a:t>生成矩阵为</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0"/>
          </p:cNvPr>
          <p:cNvGraphicFramePr>
            <a:graphicFrameLocks noChangeAspect="1"/>
          </p:cNvGraphicFramePr>
          <p:nvPr/>
        </p:nvGraphicFramePr>
        <p:xfrm>
          <a:off x="1981200" y="1972311"/>
          <a:ext cx="8319770" cy="1957705"/>
        </p:xfrm>
        <a:graphic>
          <a:graphicData uri="http://schemas.openxmlformats.org/presentationml/2006/ole">
            <mc:AlternateContent xmlns:mc="http://schemas.openxmlformats.org/markup-compatibility/2006">
              <mc:Choice xmlns:v="urn:schemas-microsoft-com:vml" Requires="v">
                <p:oleObj r:id="rId6" imgW="5448300" imgH="1143000" progId="Equation.KSEE3">
                  <p:embed/>
                </p:oleObj>
              </mc:Choice>
              <mc:Fallback>
                <p:oleObj r:id="rId6" imgW="5448300" imgH="1143000" progId="Equation.KSEE3">
                  <p:embed/>
                  <p:pic>
                    <p:nvPicPr>
                      <p:cNvPr id="7" name="对象 6">
                        <a:hlinkClick r:id="" action="ppaction://ole?verb=0"/>
                      </p:cNvPr>
                      <p:cNvPicPr/>
                      <p:nvPr/>
                    </p:nvPicPr>
                    <p:blipFill>
                      <a:blip r:embed="rId7"/>
                      <a:stretch>
                        <a:fillRect/>
                      </a:stretch>
                    </p:blipFill>
                    <p:spPr>
                      <a:xfrm>
                        <a:off x="1981200" y="1972311"/>
                        <a:ext cx="8319770" cy="1957705"/>
                      </a:xfrm>
                      <a:prstGeom prst="rect">
                        <a:avLst/>
                      </a:prstGeom>
                    </p:spPr>
                  </p:pic>
                </p:oleObj>
              </mc:Fallback>
            </mc:AlternateContent>
          </a:graphicData>
        </a:graphic>
      </p:graphicFrame>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98976" y="104775"/>
            <a:ext cx="590232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计算题举例：(</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3</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2</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i="1">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卷积码的码字</a:t>
            </a:r>
          </a:p>
        </p:txBody>
      </p:sp>
      <p:sp>
        <p:nvSpPr>
          <p:cNvPr id="3" name="文本框 2"/>
          <p:cNvSpPr txBox="1"/>
          <p:nvPr/>
        </p:nvSpPr>
        <p:spPr>
          <a:xfrm>
            <a:off x="1838326" y="763270"/>
            <a:ext cx="8383905" cy="1000980"/>
          </a:xfrm>
          <a:prstGeom prst="rect">
            <a:avLst/>
          </a:prstGeom>
          <a:noFill/>
        </p:spPr>
        <p:txBody>
          <a:bodyPr wrap="square" rtlCol="0" anchor="t">
            <a:spAutoFit/>
          </a:bodyPr>
          <a:lstStyle/>
          <a:p>
            <a:pPr indent="711200" eaLnBrk="0" fontAlgn="base" hangingPunct="0">
              <a:lnSpc>
                <a:spcPct val="130000"/>
              </a:lnSpc>
              <a:spcBef>
                <a:spcPct val="0"/>
              </a:spcBef>
              <a:spcAft>
                <a:spcPct val="0"/>
              </a:spcAft>
            </a:pPr>
            <a:r>
              <a:rPr lang="zh-CN" altLang="en-US" sz="2400" dirty="0">
                <a:solidFill>
                  <a:srgbClr val="000000"/>
                </a:solidFill>
                <a:latin typeface="Times New Roman" panose="02020603050405020304" pitchFamily="18" charset="0"/>
                <a:ea typeface="黑体" panose="02010609060101010101" pitchFamily="49" charset="-122"/>
                <a:sym typeface="+mn-ea"/>
              </a:rPr>
              <a:t>以</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zh-CN" altLang="en-US" sz="2400" dirty="0">
                <a:solidFill>
                  <a:srgbClr val="000000"/>
                </a:solidFill>
                <a:latin typeface="Times New Roman" panose="02020603050405020304" pitchFamily="18" charset="0"/>
                <a:ea typeface="黑体" panose="02010609060101010101" pitchFamily="49" charset="-122"/>
                <a:sym typeface="+mn-ea"/>
              </a:rPr>
              <a:t>为输入</a:t>
            </a:r>
            <a:r>
              <a:rPr lang="zh-CN" altLang="en-US"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zh-CN" altLang="en-US" sz="2400" dirty="0">
                <a:solidFill>
                  <a:srgbClr val="000000"/>
                </a:solidFill>
                <a:latin typeface="Times New Roman" panose="02020603050405020304" pitchFamily="18" charset="0"/>
                <a:ea typeface="黑体" panose="02010609060101010101" pitchFamily="49" charset="-122"/>
                <a:sym typeface="+mn-ea"/>
              </a:rPr>
              <a:t>为生成矩阵的</a:t>
            </a:r>
            <a:r>
              <a:rPr lang="en-US" altLang="zh-CN" sz="2400">
                <a:solidFill>
                  <a:srgbClr val="000000"/>
                </a:solidFill>
                <a:latin typeface="Times New Roman" panose="02020603050405020304" pitchFamily="18" charset="0"/>
                <a:ea typeface="黑体" panose="02010609060101010101" pitchFamily="49" charset="-122"/>
                <a:sym typeface="+mn-ea"/>
              </a:rPr>
              <a:t>(3, 2, </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的卷积码的码字为</a:t>
            </a:r>
            <a:r>
              <a:rPr lang="en-US" altLang="zh-CN" sz="2400" b="1">
                <a:solidFill>
                  <a:srgbClr val="000000"/>
                </a:solidFill>
                <a:latin typeface="Times New Roman" panose="02020603050405020304" pitchFamily="18" charset="0"/>
                <a:ea typeface="黑体" panose="02010609060101010101" pitchFamily="49" charset="-122"/>
                <a:sym typeface="+mn-ea"/>
              </a:rPr>
              <a:t>V</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uG</a:t>
            </a:r>
            <a:r>
              <a:rPr lang="zh-CN" altLang="en-US" sz="2400" err="1">
                <a:solidFill>
                  <a:srgbClr val="000000"/>
                </a:solidFill>
                <a:latin typeface="Times New Roman" panose="02020603050405020304" pitchFamily="18" charset="0"/>
                <a:ea typeface="黑体" panose="02010609060101010101" pitchFamily="49" charset="-122"/>
                <a:sym typeface="+mn-ea"/>
              </a:rPr>
              <a:t>。</a:t>
            </a:r>
          </a:p>
        </p:txBody>
      </p:sp>
      <p:graphicFrame>
        <p:nvGraphicFramePr>
          <p:cNvPr id="5" name="对象 4">
            <a:hlinkClick r:id="" action="ppaction://ole?verb=0"/>
          </p:cNvPr>
          <p:cNvGraphicFramePr>
            <a:graphicFrameLocks noChangeAspect="1"/>
          </p:cNvGraphicFramePr>
          <p:nvPr/>
        </p:nvGraphicFramePr>
        <p:xfrm>
          <a:off x="2764791" y="2824164"/>
          <a:ext cx="6536055" cy="3372485"/>
        </p:xfrm>
        <a:graphic>
          <a:graphicData uri="http://schemas.openxmlformats.org/presentationml/2006/ole">
            <mc:AlternateContent xmlns:mc="http://schemas.openxmlformats.org/markup-compatibility/2006">
              <mc:Choice xmlns:v="urn:schemas-microsoft-com:vml" Requires="v">
                <p:oleObj r:id="rId2" imgW="3530600" imgH="1765300" progId="Equation.KSEE3">
                  <p:embed/>
                </p:oleObj>
              </mc:Choice>
              <mc:Fallback>
                <p:oleObj r:id="rId2" imgW="3530600" imgH="1765300" progId="Equation.KSEE3">
                  <p:embed/>
                  <p:pic>
                    <p:nvPicPr>
                      <p:cNvPr id="5" name="对象 4">
                        <a:hlinkClick r:id="" action="ppaction://ole?verb=0"/>
                      </p:cNvPr>
                      <p:cNvPicPr/>
                      <p:nvPr/>
                    </p:nvPicPr>
                    <p:blipFill>
                      <a:blip r:embed="rId3"/>
                      <a:stretch>
                        <a:fillRect/>
                      </a:stretch>
                    </p:blipFill>
                    <p:spPr>
                      <a:xfrm>
                        <a:off x="2764791" y="2824164"/>
                        <a:ext cx="6536055" cy="3372485"/>
                      </a:xfrm>
                      <a:prstGeom prst="rect">
                        <a:avLst/>
                      </a:prstGeom>
                    </p:spPr>
                  </p:pic>
                </p:oleObj>
              </mc:Fallback>
            </mc:AlternateContent>
          </a:graphicData>
        </a:graphic>
      </p:graphicFrame>
      <p:sp>
        <p:nvSpPr>
          <p:cNvPr id="10" name="文本框 9"/>
          <p:cNvSpPr txBox="1"/>
          <p:nvPr/>
        </p:nvSpPr>
        <p:spPr>
          <a:xfrm>
            <a:off x="1921510" y="1956436"/>
            <a:ext cx="7993380" cy="829945"/>
          </a:xfrm>
          <a:prstGeom prst="rect">
            <a:avLst/>
          </a:prstGeom>
          <a:noFill/>
        </p:spPr>
        <p:txBody>
          <a:bodyPr wrap="square" rtlCol="0" anchor="t">
            <a:spAutoFit/>
          </a:bodyPr>
          <a:lstStyle/>
          <a:p>
            <a:pPr eaLnBrk="0" fontAlgn="base" hangingPunct="0">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6.2</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(3, 2, 1)</a:t>
            </a:r>
            <a:r>
              <a:rPr lang="zh-CN" altLang="en-US" sz="2400" dirty="0">
                <a:solidFill>
                  <a:srgbClr val="000000"/>
                </a:solidFill>
                <a:latin typeface="黑体" panose="02010609060101010101" pitchFamily="49" charset="-122"/>
                <a:ea typeface="黑体" panose="02010609060101010101" pitchFamily="49" charset="-122"/>
                <a:sym typeface="+mn-ea"/>
              </a:rPr>
              <a:t>卷积码，若</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=(101), </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=(110), </a:t>
            </a:r>
            <a:r>
              <a:rPr lang="zh-CN" altLang="en-US" sz="2400" dirty="0">
                <a:solidFill>
                  <a:srgbClr val="000000"/>
                </a:solidFill>
                <a:latin typeface="Times New Roman" panose="02020603050405020304" pitchFamily="18" charset="0"/>
                <a:ea typeface="黑体" panose="02010609060101010101" pitchFamily="49" charset="-122"/>
                <a:sym typeface="+mn-ea"/>
              </a:rPr>
              <a:t>即</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=(11, 01, 10), </a:t>
            </a:r>
            <a:r>
              <a:rPr lang="zh-CN" altLang="en-US" sz="2400" dirty="0">
                <a:solidFill>
                  <a:srgbClr val="000000"/>
                </a:solidFill>
                <a:latin typeface="黑体" panose="02010609060101010101" pitchFamily="49" charset="-122"/>
                <a:ea typeface="黑体" panose="02010609060101010101" pitchFamily="49" charset="-122"/>
                <a:sym typeface="+mn-ea"/>
              </a:rPr>
              <a:t>则</a:t>
            </a:r>
            <a:r>
              <a:rPr lang="zh-CN" altLang="en-US" sz="2400" dirty="0">
                <a:solidFill>
                  <a:srgbClr val="000000"/>
                </a:solidFill>
                <a:latin typeface="Times New Roman" panose="02020603050405020304" pitchFamily="18" charset="0"/>
                <a:ea typeface="黑体" panose="02010609060101010101" pitchFamily="49" charset="-122"/>
                <a:sym typeface="+mn-ea"/>
              </a:rPr>
              <a:t>码字为</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i="1" err="1">
                <a:solidFill>
                  <a:srgbClr val="000000"/>
                </a:solidFill>
                <a:latin typeface="Times New Roman" panose="02020603050405020304" pitchFamily="18" charset="0"/>
                <a:ea typeface="黑体" panose="02010609060101010101" pitchFamily="49" charset="-122"/>
                <a:sym typeface="+mn-ea"/>
              </a:rPr>
              <a:t>uG</a:t>
            </a:r>
            <a:r>
              <a:rPr lang="en-US" altLang="zh-CN" sz="2400">
                <a:solidFill>
                  <a:srgbClr val="000000"/>
                </a:solidFill>
                <a:latin typeface="Times New Roman" panose="02020603050405020304" pitchFamily="18" charset="0"/>
                <a:ea typeface="黑体" panose="02010609060101010101" pitchFamily="49" charset="-122"/>
                <a:sym typeface="+mn-ea"/>
              </a:rPr>
              <a:t>=(110, 000, 001, 111)</a:t>
            </a:r>
            <a:endParaRPr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75936" y="104775"/>
            <a:ext cx="4825365" cy="685800"/>
          </a:xfrm>
        </p:spPr>
        <p:txBody>
          <a:bodyPr/>
          <a:lstStyle/>
          <a:p>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i="1">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800" i="1">
                <a:latin typeface="Times New Roman" panose="02020603050405020304" pitchFamily="18" charset="0"/>
                <a:ea typeface="黑体" panose="02010609060101010101" pitchFamily="49" charset="-122"/>
                <a:cs typeface="Times New Roman" panose="02020603050405020304" pitchFamily="18" charset="0"/>
                <a:sym typeface="+mn-ea"/>
              </a:rPr>
              <a:t>k</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800" i="1">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280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800">
                <a:latin typeface="黑体" panose="02010609060101010101" pitchFamily="49" charset="-122"/>
                <a:ea typeface="黑体" panose="02010609060101010101" pitchFamily="49" charset="-122"/>
                <a:cs typeface="黑体" panose="02010609060101010101" pitchFamily="49" charset="-122"/>
                <a:sym typeface="+mn-ea"/>
              </a:rPr>
              <a:t>卷积码的生成矩阵</a:t>
            </a:r>
          </a:p>
        </p:txBody>
      </p:sp>
      <p:graphicFrame>
        <p:nvGraphicFramePr>
          <p:cNvPr id="5" name="对象 4">
            <a:hlinkClick r:id="" action="ppaction://ole?verb=0"/>
          </p:cNvPr>
          <p:cNvGraphicFramePr>
            <a:graphicFrameLocks noChangeAspect="1"/>
          </p:cNvGraphicFramePr>
          <p:nvPr/>
        </p:nvGraphicFramePr>
        <p:xfrm>
          <a:off x="4572001" y="4038600"/>
          <a:ext cx="3201035" cy="1910080"/>
        </p:xfrm>
        <a:graphic>
          <a:graphicData uri="http://schemas.openxmlformats.org/presentationml/2006/ole">
            <mc:AlternateContent xmlns:mc="http://schemas.openxmlformats.org/markup-compatibility/2006">
              <mc:Choice xmlns:v="urn:schemas-microsoft-com:vml" Requires="v">
                <p:oleObj r:id="rId2" imgW="1688465" imgH="939800" progId="Equation.KSEE3">
                  <p:embed/>
                </p:oleObj>
              </mc:Choice>
              <mc:Fallback>
                <p:oleObj r:id="rId2" imgW="1688465" imgH="939800" progId="Equation.KSEE3">
                  <p:embed/>
                  <p:pic>
                    <p:nvPicPr>
                      <p:cNvPr id="5" name="对象 4">
                        <a:hlinkClick r:id="" action="ppaction://ole?verb=0"/>
                      </p:cNvPr>
                      <p:cNvPicPr/>
                      <p:nvPr/>
                    </p:nvPicPr>
                    <p:blipFill>
                      <a:blip r:embed="rId3"/>
                      <a:stretch>
                        <a:fillRect/>
                      </a:stretch>
                    </p:blipFill>
                    <p:spPr>
                      <a:xfrm>
                        <a:off x="4572001" y="4038600"/>
                        <a:ext cx="3201035" cy="1910080"/>
                      </a:xfrm>
                      <a:prstGeom prst="rect">
                        <a:avLst/>
                      </a:prstGeom>
                    </p:spPr>
                  </p:pic>
                </p:oleObj>
              </mc:Fallback>
            </mc:AlternateContent>
          </a:graphicData>
        </a:graphic>
      </p:graphicFrame>
      <p:sp>
        <p:nvSpPr>
          <p:cNvPr id="10" name="文本框 9"/>
          <p:cNvSpPr txBox="1"/>
          <p:nvPr/>
        </p:nvSpPr>
        <p:spPr>
          <a:xfrm>
            <a:off x="1976120" y="3006090"/>
            <a:ext cx="7993380" cy="493148"/>
          </a:xfrm>
          <a:prstGeom prst="rect">
            <a:avLst/>
          </a:prstGeom>
          <a:noFill/>
        </p:spPr>
        <p:txBody>
          <a:bodyPr wrap="square" rtlCol="0" anchor="t">
            <a:spAutoFit/>
          </a:bodyPr>
          <a:lstStyle/>
          <a:p>
            <a:pPr eaLnBrk="0" fontAlgn="base" hangingPunct="0">
              <a:lnSpc>
                <a:spcPct val="120000"/>
              </a:lnSpc>
              <a:spcBef>
                <a:spcPct val="0"/>
              </a:spcBef>
              <a:spcAft>
                <a:spcPct val="0"/>
              </a:spcAft>
              <a:buClr>
                <a:srgbClr val="CCCCFF"/>
              </a:buClr>
              <a:buSzPct val="65000"/>
            </a:pPr>
            <a:r>
              <a:rPr lang="zh-CN" altLang="en-US" sz="2400" dirty="0">
                <a:solidFill>
                  <a:srgbClr val="000000"/>
                </a:solidFill>
                <a:latin typeface="黑体" panose="02010609060101010101" pitchFamily="49" charset="-122"/>
                <a:ea typeface="黑体" panose="02010609060101010101" pitchFamily="49" charset="-122"/>
                <a:sym typeface="+mn-ea"/>
              </a:rPr>
              <a:t>其中每个</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i="1" baseline="-25000">
                <a:solidFill>
                  <a:srgbClr val="000000"/>
                </a:solidFill>
                <a:latin typeface="Times New Roman" panose="02020603050405020304" pitchFamily="18" charset="0"/>
                <a:ea typeface="黑体" panose="02010609060101010101" pitchFamily="49" charset="-122"/>
                <a:sym typeface="+mn-ea"/>
              </a:rPr>
              <a:t>L</a:t>
            </a:r>
            <a:r>
              <a:rPr lang="zh-CN" altLang="en-US" sz="2400" dirty="0">
                <a:solidFill>
                  <a:srgbClr val="000000"/>
                </a:solidFill>
                <a:latin typeface="黑体" panose="02010609060101010101" pitchFamily="49" charset="-122"/>
                <a:ea typeface="黑体" panose="02010609060101010101" pitchFamily="49" charset="-122"/>
                <a:sym typeface="+mn-ea"/>
              </a:rPr>
              <a:t>都是一个</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en-US" sz="2400" err="1">
                <a:solidFill>
                  <a:srgbClr val="000000"/>
                </a:solidFill>
                <a:latin typeface="Arial" panose="020B0604020202020204" pitchFamily="34"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黑体" panose="02010609060101010101" pitchFamily="49" charset="-122"/>
                <a:ea typeface="黑体" panose="02010609060101010101" pitchFamily="49" charset="-122"/>
                <a:sym typeface="+mn-ea"/>
              </a:rPr>
              <a:t>阶子阵</a:t>
            </a:r>
            <a:endParaRPr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0"/>
          </p:cNvPr>
          <p:cNvGraphicFramePr>
            <a:graphicFrameLocks noChangeAspect="1"/>
          </p:cNvGraphicFramePr>
          <p:nvPr/>
        </p:nvGraphicFramePr>
        <p:xfrm>
          <a:off x="3809684" y="1066801"/>
          <a:ext cx="4459605" cy="1566545"/>
        </p:xfrm>
        <a:graphic>
          <a:graphicData uri="http://schemas.openxmlformats.org/presentationml/2006/ole">
            <mc:AlternateContent xmlns:mc="http://schemas.openxmlformats.org/markup-compatibility/2006">
              <mc:Choice xmlns:v="urn:schemas-microsoft-com:vml" Requires="v">
                <p:oleObj r:id="rId4" imgW="2920365" imgH="914400" progId="Equation.KSEE3">
                  <p:embed/>
                </p:oleObj>
              </mc:Choice>
              <mc:Fallback>
                <p:oleObj r:id="rId4" imgW="2920365" imgH="914400" progId="Equation.KSEE3">
                  <p:embed/>
                  <p:pic>
                    <p:nvPicPr>
                      <p:cNvPr id="7" name="对象 6">
                        <a:hlinkClick r:id="" action="ppaction://ole?verb=0"/>
                      </p:cNvPr>
                      <p:cNvPicPr/>
                      <p:nvPr/>
                    </p:nvPicPr>
                    <p:blipFill>
                      <a:blip r:embed="rId5"/>
                      <a:stretch>
                        <a:fillRect/>
                      </a:stretch>
                    </p:blipFill>
                    <p:spPr>
                      <a:xfrm>
                        <a:off x="3809684" y="1066801"/>
                        <a:ext cx="4459605" cy="1566545"/>
                      </a:xfrm>
                      <a:prstGeom prst="rect">
                        <a:avLst/>
                      </a:prstGeom>
                    </p:spPr>
                  </p:pic>
                </p:oleObj>
              </mc:Fallback>
            </mc:AlternateContent>
          </a:graphicData>
        </a:graphic>
      </p:graphicFrame>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13350" y="104775"/>
            <a:ext cx="5187950" cy="685800"/>
          </a:xfrm>
        </p:spPr>
        <p:txBody>
          <a:bodyPr/>
          <a:lstStyle/>
          <a:p>
            <a:r>
              <a:rPr sz="2800">
                <a:ea typeface="黑体" panose="02010609060101010101" pitchFamily="49" charset="-122"/>
                <a:sym typeface="+mn-ea"/>
              </a:rPr>
              <a:t>卷积码编码器的存储级数</a:t>
            </a:r>
          </a:p>
        </p:txBody>
      </p:sp>
      <p:sp>
        <p:nvSpPr>
          <p:cNvPr id="12" name="文本框 11"/>
          <p:cNvSpPr txBox="1"/>
          <p:nvPr/>
        </p:nvSpPr>
        <p:spPr>
          <a:xfrm>
            <a:off x="2184400" y="898526"/>
            <a:ext cx="7824470" cy="1863725"/>
          </a:xfrm>
          <a:prstGeom prst="rect">
            <a:avLst/>
          </a:prstGeom>
          <a:noFill/>
        </p:spPr>
        <p:txBody>
          <a:bodyPr wrap="square" rtlCol="0" anchor="t">
            <a:spAutoFit/>
          </a:bodyPr>
          <a:lstStyle/>
          <a:p>
            <a:pPr indent="609600" eaLnBrk="0" fontAlgn="base" hangingPunct="0">
              <a:lnSpc>
                <a:spcPct val="120000"/>
              </a:lnSpc>
              <a:spcBef>
                <a:spcPct val="0"/>
              </a:spcBef>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对于</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n,k,m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卷积码，图</a:t>
            </a:r>
            <a:r>
              <a:rPr lang="en-US" altLang="zh-CN" sz="2400">
                <a:solidFill>
                  <a:srgbClr val="000000"/>
                </a:solidFill>
                <a:latin typeface="Times New Roman" panose="02020603050405020304" pitchFamily="18" charset="0"/>
                <a:ea typeface="黑体" panose="02010609060101010101" pitchFamily="49" charset="-122"/>
                <a:sym typeface="+mn-ea"/>
              </a:rPr>
              <a:t>6.1-6.2</a:t>
            </a:r>
            <a:r>
              <a:rPr lang="zh-CN" altLang="en-US" sz="2400" dirty="0">
                <a:solidFill>
                  <a:srgbClr val="000000"/>
                </a:solidFill>
                <a:latin typeface="Times New Roman" panose="02020603050405020304" pitchFamily="18" charset="0"/>
                <a:ea typeface="黑体" panose="02010609060101010101" pitchFamily="49" charset="-122"/>
                <a:sym typeface="+mn-ea"/>
              </a:rPr>
              <a:t>这两个例子表明，当</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en-US" altLang="zh-CN" sz="2400">
                <a:solidFill>
                  <a:srgbClr val="000000"/>
                </a:solidFill>
                <a:latin typeface="Times New Roman" panose="02020603050405020304" pitchFamily="18" charset="0"/>
                <a:ea typeface="黑体" panose="02010609060101010101" pitchFamily="49" charset="-122"/>
                <a:sym typeface="+mn-ea"/>
              </a:rPr>
              <a:t>&gt;1</a:t>
            </a:r>
            <a:r>
              <a:rPr lang="zh-CN" altLang="en-US" sz="2400" dirty="0">
                <a:solidFill>
                  <a:srgbClr val="000000"/>
                </a:solidFill>
                <a:latin typeface="Times New Roman" panose="02020603050405020304" pitchFamily="18" charset="0"/>
                <a:ea typeface="黑体" panose="02010609060101010101" pitchFamily="49" charset="-122"/>
                <a:sym typeface="+mn-ea"/>
              </a:rPr>
              <a:t>时，编码器及用来描述它的符号都比较复杂，并且该编码器所含的</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个移位寄存器的长度未必相同。如在图</a:t>
            </a:r>
            <a:r>
              <a:rPr lang="en-US" altLang="zh-CN" sz="2400">
                <a:solidFill>
                  <a:srgbClr val="000000"/>
                </a:solidFill>
                <a:latin typeface="Times New Roman" panose="02020603050405020304" pitchFamily="18" charset="0"/>
                <a:ea typeface="黑体" panose="02010609060101010101" pitchFamily="49" charset="-122"/>
                <a:sym typeface="+mn-ea"/>
              </a:rPr>
              <a:t>6.2</a:t>
            </a:r>
            <a:r>
              <a:rPr lang="zh-CN" altLang="en-US" sz="2400" dirty="0">
                <a:solidFill>
                  <a:srgbClr val="000000"/>
                </a:solidFill>
                <a:latin typeface="Times New Roman" panose="02020603050405020304" pitchFamily="18" charset="0"/>
                <a:ea typeface="黑体" panose="02010609060101010101" pitchFamily="49" charset="-122"/>
                <a:sym typeface="+mn-ea"/>
              </a:rPr>
              <a:t>中，</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11" name="内容占位符 2"/>
          <p:cNvSpPr txBox="1"/>
          <p:nvPr/>
        </p:nvSpPr>
        <p:spPr>
          <a:xfrm>
            <a:off x="2069466" y="3615055"/>
            <a:ext cx="8014335" cy="1765300"/>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3" name="文本框 2"/>
          <p:cNvSpPr txBox="1"/>
          <p:nvPr/>
        </p:nvSpPr>
        <p:spPr>
          <a:xfrm>
            <a:off x="2185035" y="3717291"/>
            <a:ext cx="7909560" cy="1529715"/>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b="1">
                <a:solidFill>
                  <a:srgbClr val="FF0000"/>
                </a:solidFill>
                <a:latin typeface="黑体" panose="02010609060101010101" pitchFamily="49" charset="-122"/>
                <a:ea typeface="黑体" panose="02010609060101010101" pitchFamily="49" charset="-122"/>
                <a:sym typeface="+mn-ea"/>
              </a:rPr>
              <a:t>存储级数：</a:t>
            </a:r>
            <a:r>
              <a:rPr lang="zh-CN" altLang="en-US" sz="2400" dirty="0">
                <a:solidFill>
                  <a:srgbClr val="000000"/>
                </a:solidFill>
                <a:latin typeface="Times New Roman" panose="02020603050405020304" pitchFamily="18" charset="0"/>
                <a:ea typeface="黑体" panose="02010609060101010101" pitchFamily="49" charset="-122"/>
                <a:sym typeface="+mn-ea"/>
              </a:rPr>
              <a:t>若</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i</a:t>
            </a:r>
            <a:r>
              <a:rPr lang="zh-CN" altLang="en-US" sz="2400" dirty="0">
                <a:solidFill>
                  <a:srgbClr val="000000"/>
                </a:solidFill>
                <a:latin typeface="Times New Roman" panose="02020603050405020304" pitchFamily="18" charset="0"/>
                <a:ea typeface="黑体" panose="02010609060101010101" pitchFamily="49" charset="-122"/>
                <a:sym typeface="+mn-ea"/>
              </a:rPr>
              <a:t>是第</a:t>
            </a:r>
            <a:r>
              <a:rPr lang="en-US" altLang="zh-CN" sz="2400" i="1">
                <a:solidFill>
                  <a:srgbClr val="000000"/>
                </a:solidFill>
                <a:latin typeface="Times New Roman" panose="02020603050405020304" pitchFamily="18" charset="0"/>
                <a:ea typeface="黑体" panose="02010609060101010101" pitchFamily="49" charset="-122"/>
                <a:sym typeface="+mn-ea"/>
              </a:rPr>
              <a:t>i</a:t>
            </a:r>
            <a:r>
              <a:rPr lang="zh-CN" altLang="en-US" sz="2400" dirty="0">
                <a:solidFill>
                  <a:srgbClr val="000000"/>
                </a:solidFill>
                <a:latin typeface="Times New Roman" panose="02020603050405020304" pitchFamily="18" charset="0"/>
                <a:ea typeface="黑体" panose="02010609060101010101" pitchFamily="49" charset="-122"/>
                <a:sym typeface="+mn-ea"/>
              </a:rPr>
              <a:t>个移位寄存器的长度，则称所有</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个移位寄存器中的最大长度为存储级数，即编码器的存储级数</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zh-CN" altLang="en-US" sz="2400" dirty="0">
                <a:solidFill>
                  <a:srgbClr val="000000"/>
                </a:solidFill>
                <a:latin typeface="Times New Roman" panose="02020603050405020304" pitchFamily="18" charset="0"/>
                <a:ea typeface="黑体" panose="02010609060101010101" pitchFamily="49" charset="-122"/>
                <a:sym typeface="+mn-ea"/>
              </a:rPr>
              <a:t>定义为</a:t>
            </a:r>
          </a:p>
        </p:txBody>
      </p:sp>
      <p:graphicFrame>
        <p:nvGraphicFramePr>
          <p:cNvPr id="4" name="对象 3">
            <a:hlinkClick r:id="" action="ppaction://ole?verb=0"/>
          </p:cNvPr>
          <p:cNvGraphicFramePr>
            <a:graphicFrameLocks noChangeAspect="1"/>
          </p:cNvGraphicFramePr>
          <p:nvPr/>
        </p:nvGraphicFramePr>
        <p:xfrm>
          <a:off x="3809049" y="4697414"/>
          <a:ext cx="1350645" cy="549275"/>
        </p:xfrm>
        <a:graphic>
          <a:graphicData uri="http://schemas.openxmlformats.org/presentationml/2006/ole">
            <mc:AlternateContent xmlns:mc="http://schemas.openxmlformats.org/markup-compatibility/2006">
              <mc:Choice xmlns:v="urn:schemas-microsoft-com:vml" Requires="v">
                <p:oleObj r:id="rId2" imgW="698500" imgH="279400" progId="Equation.KSEE3">
                  <p:embed/>
                </p:oleObj>
              </mc:Choice>
              <mc:Fallback>
                <p:oleObj r:id="rId2" imgW="698500" imgH="279400" progId="Equation.KSEE3">
                  <p:embed/>
                  <p:pic>
                    <p:nvPicPr>
                      <p:cNvPr id="4" name="对象 3">
                        <a:hlinkClick r:id="" action="ppaction://ole?verb=0"/>
                      </p:cNvPr>
                      <p:cNvPicPr/>
                      <p:nvPr/>
                    </p:nvPicPr>
                    <p:blipFill>
                      <a:blip r:embed="rId3"/>
                      <a:stretch>
                        <a:fillRect/>
                      </a:stretch>
                    </p:blipFill>
                    <p:spPr>
                      <a:xfrm>
                        <a:off x="3809049" y="4697414"/>
                        <a:ext cx="1350645" cy="549275"/>
                      </a:xfrm>
                      <a:prstGeom prst="rect">
                        <a:avLst/>
                      </a:prstGeom>
                    </p:spPr>
                  </p:pic>
                </p:oleObj>
              </mc:Fallback>
            </mc:AlternateContent>
          </a:graphicData>
        </a:graphic>
      </p:graphicFrame>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82796" y="104775"/>
            <a:ext cx="5818505" cy="685800"/>
          </a:xfrm>
        </p:spPr>
        <p:txBody>
          <a:bodyPr/>
          <a:lstStyle/>
          <a:p>
            <a:r>
              <a:rPr sz="2800">
                <a:ea typeface="黑体" panose="02010609060101010101" pitchFamily="49" charset="-122"/>
                <a:sym typeface="+mn-ea"/>
              </a:rPr>
              <a:t>卷积码编码器的约束长度</a:t>
            </a:r>
            <a:r>
              <a:rPr lang="zh-CN" altLang="en-US" sz="2800">
                <a:ea typeface="黑体" panose="02010609060101010101" pitchFamily="49" charset="-122"/>
                <a:sym typeface="+mn-ea"/>
              </a:rPr>
              <a:t>和</a:t>
            </a:r>
            <a:r>
              <a:rPr sz="2800">
                <a:ea typeface="黑体" panose="02010609060101010101" pitchFamily="49" charset="-122"/>
                <a:sym typeface="+mn-ea"/>
              </a:rPr>
              <a:t>码速率</a:t>
            </a:r>
          </a:p>
        </p:txBody>
      </p:sp>
      <p:sp>
        <p:nvSpPr>
          <p:cNvPr id="12" name="文本框 11"/>
          <p:cNvSpPr txBox="1"/>
          <p:nvPr/>
        </p:nvSpPr>
        <p:spPr>
          <a:xfrm>
            <a:off x="2009140" y="898526"/>
            <a:ext cx="7999730" cy="1420495"/>
          </a:xfrm>
          <a:prstGeom prst="rect">
            <a:avLst/>
          </a:prstGeom>
          <a:noFill/>
        </p:spPr>
        <p:txBody>
          <a:bodyPr wrap="square" rtlCol="0" anchor="t">
            <a:spAutoFit/>
          </a:bodyPr>
          <a:lstStyle/>
          <a:p>
            <a:pPr indent="609600" eaLnBrk="0" fontAlgn="base" hangingPunct="0">
              <a:lnSpc>
                <a:spcPct val="120000"/>
              </a:lnSpc>
              <a:spcBef>
                <a:spcPct val="0"/>
              </a:spcBef>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对于</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 k, 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卷积码，编码器中每个信息位要保持</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时间个单位，每个时间单位都可以影响编码器输出中的任何一个，这由移位寄存器的连接决定</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11" name="内容占位符 2"/>
          <p:cNvSpPr txBox="1"/>
          <p:nvPr/>
        </p:nvSpPr>
        <p:spPr>
          <a:xfrm>
            <a:off x="2069466" y="2330451"/>
            <a:ext cx="8014335" cy="111696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3" name="文本框 2"/>
          <p:cNvSpPr txBox="1"/>
          <p:nvPr/>
        </p:nvSpPr>
        <p:spPr>
          <a:xfrm>
            <a:off x="2185035" y="2357120"/>
            <a:ext cx="7909560"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b="1">
                <a:solidFill>
                  <a:srgbClr val="FF0000"/>
                </a:solidFill>
                <a:latin typeface="黑体" panose="02010609060101010101" pitchFamily="49" charset="-122"/>
                <a:ea typeface="黑体" panose="02010609060101010101" pitchFamily="49" charset="-122"/>
                <a:sym typeface="+mn-ea"/>
              </a:rPr>
              <a:t>约束长度：</a:t>
            </a:r>
            <a:r>
              <a:rPr lang="zh-CN" altLang="en-US" sz="2400" dirty="0">
                <a:solidFill>
                  <a:srgbClr val="000000"/>
                </a:solidFill>
                <a:latin typeface="Times New Roman" panose="02020603050405020304" pitchFamily="18" charset="0"/>
                <a:ea typeface="黑体" panose="02010609060101010101" pitchFamily="49" charset="-122"/>
                <a:sym typeface="+mn-ea"/>
              </a:rPr>
              <a:t>对于</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n,k,m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卷积码，编码器的约束长度定义为</a:t>
            </a:r>
          </a:p>
        </p:txBody>
      </p:sp>
      <p:graphicFrame>
        <p:nvGraphicFramePr>
          <p:cNvPr id="4" name="对象 3">
            <a:hlinkClick r:id="" action="ppaction://ole?verb=0"/>
          </p:cNvPr>
          <p:cNvGraphicFramePr>
            <a:graphicFrameLocks noChangeAspect="1"/>
          </p:cNvGraphicFramePr>
          <p:nvPr/>
        </p:nvGraphicFramePr>
        <p:xfrm>
          <a:off x="5562601" y="2982914"/>
          <a:ext cx="1572260" cy="424815"/>
        </p:xfrm>
        <a:graphic>
          <a:graphicData uri="http://schemas.openxmlformats.org/presentationml/2006/ole">
            <mc:AlternateContent xmlns:mc="http://schemas.openxmlformats.org/markup-compatibility/2006">
              <mc:Choice xmlns:v="urn:schemas-microsoft-com:vml" Requires="v">
                <p:oleObj r:id="rId2" imgW="812800" imgH="215900" progId="Equation.KSEE3">
                  <p:embed/>
                </p:oleObj>
              </mc:Choice>
              <mc:Fallback>
                <p:oleObj r:id="rId2" imgW="812800" imgH="215900" progId="Equation.KSEE3">
                  <p:embed/>
                  <p:pic>
                    <p:nvPicPr>
                      <p:cNvPr id="4" name="对象 3">
                        <a:hlinkClick r:id="" action="ppaction://ole?verb=0"/>
                      </p:cNvPr>
                      <p:cNvPicPr/>
                      <p:nvPr/>
                    </p:nvPicPr>
                    <p:blipFill>
                      <a:blip r:embed="rId3"/>
                      <a:stretch>
                        <a:fillRect/>
                      </a:stretch>
                    </p:blipFill>
                    <p:spPr>
                      <a:xfrm>
                        <a:off x="5562601" y="2982914"/>
                        <a:ext cx="1572260" cy="424815"/>
                      </a:xfrm>
                      <a:prstGeom prst="rect">
                        <a:avLst/>
                      </a:prstGeom>
                    </p:spPr>
                  </p:pic>
                </p:oleObj>
              </mc:Fallback>
            </mc:AlternateContent>
          </a:graphicData>
        </a:graphic>
      </p:graphicFrame>
      <p:sp>
        <p:nvSpPr>
          <p:cNvPr id="5" name="文本框 4"/>
          <p:cNvSpPr txBox="1"/>
          <p:nvPr/>
        </p:nvSpPr>
        <p:spPr>
          <a:xfrm>
            <a:off x="2136140" y="3528696"/>
            <a:ext cx="7999730" cy="936347"/>
          </a:xfrm>
          <a:prstGeom prst="rect">
            <a:avLst/>
          </a:prstGeom>
          <a:noFill/>
        </p:spPr>
        <p:txBody>
          <a:bodyPr wrap="square" rtlCol="0" anchor="t">
            <a:spAutoFit/>
          </a:bodyPr>
          <a:lstStyle/>
          <a:p>
            <a:pPr indent="711200" eaLnBrk="0" fontAlgn="base" hangingPunct="0">
              <a:lnSpc>
                <a:spcPct val="12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约束长度可以解释成</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比特信息对编码器输出可以造成影响的最大数目</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10" name="文本框 9"/>
          <p:cNvSpPr txBox="1"/>
          <p:nvPr/>
        </p:nvSpPr>
        <p:spPr>
          <a:xfrm>
            <a:off x="2148205" y="4450080"/>
            <a:ext cx="7993380" cy="1000980"/>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Times New Roman" panose="02020603050405020304" pitchFamily="18" charset="0"/>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6.1</a:t>
            </a:r>
            <a:r>
              <a:rPr lang="zh-CN" altLang="en-US" sz="2400" dirty="0">
                <a:solidFill>
                  <a:srgbClr val="000000"/>
                </a:solidFill>
                <a:latin typeface="Times New Roman" panose="02020603050405020304" pitchFamily="18" charset="0"/>
                <a:ea typeface="黑体" panose="02010609060101010101" pitchFamily="49" charset="-122"/>
                <a:sym typeface="+mn-ea"/>
              </a:rPr>
              <a:t>中</a:t>
            </a:r>
            <a:r>
              <a:rPr lang="en-US" altLang="zh-CN" sz="2400">
                <a:solidFill>
                  <a:srgbClr val="000000"/>
                </a:solidFill>
                <a:latin typeface="Times New Roman" panose="02020603050405020304" pitchFamily="18" charset="0"/>
                <a:ea typeface="黑体" panose="02010609060101010101" pitchFamily="49" charset="-122"/>
                <a:sym typeface="+mn-ea"/>
              </a:rPr>
              <a:t>(2,1,2)</a:t>
            </a:r>
            <a:r>
              <a:rPr lang="zh-CN" altLang="en-US" sz="2400" dirty="0">
                <a:solidFill>
                  <a:srgbClr val="000000"/>
                </a:solidFill>
                <a:latin typeface="Times New Roman" panose="02020603050405020304" pitchFamily="18" charset="0"/>
                <a:ea typeface="黑体" panose="02010609060101010101" pitchFamily="49" charset="-122"/>
                <a:sym typeface="+mn-ea"/>
              </a:rPr>
              <a:t>卷积码</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A</a:t>
            </a:r>
            <a:r>
              <a:rPr lang="en-US" altLang="zh-CN" sz="2400">
                <a:solidFill>
                  <a:srgbClr val="000000"/>
                </a:solidFill>
                <a:latin typeface="Times New Roman" panose="02020603050405020304" pitchFamily="18" charset="0"/>
                <a:ea typeface="黑体" panose="02010609060101010101" pitchFamily="49" charset="-122"/>
                <a:sym typeface="+mn-ea"/>
              </a:rPr>
              <a:t>=6</a:t>
            </a:r>
            <a:r>
              <a:rPr lang="zh-CN" altLang="en-US" sz="2400" dirty="0">
                <a:solidFill>
                  <a:srgbClr val="000000"/>
                </a:solidFill>
                <a:latin typeface="Times New Roman" panose="02020603050405020304" pitchFamily="18" charset="0"/>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6.2</a:t>
            </a:r>
            <a:r>
              <a:rPr lang="zh-CN" altLang="en-US" sz="2400" dirty="0">
                <a:solidFill>
                  <a:srgbClr val="000000"/>
                </a:solidFill>
                <a:latin typeface="Times New Roman" panose="02020603050405020304" pitchFamily="18" charset="0"/>
                <a:ea typeface="黑体" panose="02010609060101010101" pitchFamily="49" charset="-122"/>
                <a:sym typeface="+mn-ea"/>
              </a:rPr>
              <a:t>中</a:t>
            </a:r>
            <a:r>
              <a:rPr lang="en-US" altLang="zh-CN" sz="2400">
                <a:solidFill>
                  <a:srgbClr val="000000"/>
                </a:solidFill>
                <a:latin typeface="Times New Roman" panose="02020603050405020304" pitchFamily="18" charset="0"/>
                <a:ea typeface="黑体" panose="02010609060101010101" pitchFamily="49" charset="-122"/>
                <a:sym typeface="+mn-ea"/>
              </a:rPr>
              <a:t>(3,2,1)</a:t>
            </a:r>
            <a:r>
              <a:rPr lang="zh-CN" altLang="en-US" sz="2400" dirty="0">
                <a:solidFill>
                  <a:srgbClr val="000000"/>
                </a:solidFill>
                <a:latin typeface="Times New Roman" panose="02020603050405020304" pitchFamily="18" charset="0"/>
                <a:ea typeface="黑体" panose="02010609060101010101" pitchFamily="49" charset="-122"/>
                <a:sym typeface="+mn-ea"/>
              </a:rPr>
              <a:t>卷积码</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i="1" baseline="-25000" err="1">
                <a:solidFill>
                  <a:srgbClr val="000000"/>
                </a:solidFill>
                <a:latin typeface="Times New Roman" panose="02020603050405020304" pitchFamily="18" charset="0"/>
                <a:ea typeface="黑体" panose="02010609060101010101" pitchFamily="49" charset="-122"/>
                <a:sym typeface="+mn-ea"/>
              </a:rPr>
              <a:t>A</a:t>
            </a:r>
            <a:r>
              <a:rPr lang="en-US" altLang="zh-CN" sz="2400">
                <a:solidFill>
                  <a:srgbClr val="000000"/>
                </a:solidFill>
                <a:latin typeface="Times New Roman" panose="02020603050405020304" pitchFamily="18" charset="0"/>
                <a:ea typeface="黑体" panose="02010609060101010101" pitchFamily="49" charset="-122"/>
                <a:sym typeface="+mn-ea"/>
              </a:rPr>
              <a:t>=6</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
        <p:nvSpPr>
          <p:cNvPr id="6" name="内容占位符 2"/>
          <p:cNvSpPr txBox="1"/>
          <p:nvPr/>
        </p:nvSpPr>
        <p:spPr>
          <a:xfrm>
            <a:off x="3178810" y="5706746"/>
            <a:ext cx="6341110" cy="69405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
        <p:nvSpPr>
          <p:cNvPr id="7" name="文本框 6"/>
          <p:cNvSpPr txBox="1"/>
          <p:nvPr/>
        </p:nvSpPr>
        <p:spPr>
          <a:xfrm>
            <a:off x="3294380" y="5733415"/>
            <a:ext cx="6159500" cy="520848"/>
          </a:xfrm>
          <a:prstGeom prst="rect">
            <a:avLst/>
          </a:prstGeom>
          <a:noFill/>
        </p:spPr>
        <p:txBody>
          <a:bodyPr wrap="square" rtlCol="0" anchor="t">
            <a:spAutoFit/>
          </a:bodyPr>
          <a:lstStyle/>
          <a:p>
            <a:pPr eaLnBrk="0" fontAlgn="base" hangingPunct="0">
              <a:lnSpc>
                <a:spcPct val="130000"/>
              </a:lnSpc>
              <a:spcBef>
                <a:spcPct val="0"/>
              </a:spcBef>
              <a:spcAft>
                <a:spcPct val="0"/>
              </a:spcAft>
            </a:pPr>
            <a:r>
              <a:rPr lang="zh-CN" altLang="en-US" sz="2400" b="1">
                <a:solidFill>
                  <a:srgbClr val="FF0000"/>
                </a:solidFill>
                <a:latin typeface="黑体" panose="02010609060101010101" pitchFamily="49" charset="-122"/>
                <a:ea typeface="黑体" panose="02010609060101010101" pitchFamily="49" charset="-122"/>
                <a:sym typeface="+mn-ea"/>
              </a:rPr>
              <a:t>码速率：</a:t>
            </a:r>
            <a:r>
              <a:rPr lang="zh-CN" altLang="en-US" sz="2400" dirty="0">
                <a:solidFill>
                  <a:srgbClr val="000000"/>
                </a:solidFill>
                <a:latin typeface="Times New Roman" panose="02020603050405020304" pitchFamily="18" charset="0"/>
                <a:ea typeface="黑体" panose="02010609060101010101" pitchFamily="49" charset="-122"/>
                <a:sym typeface="+mn-ea"/>
              </a:rPr>
              <a:t>对于</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n,k,m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卷积码，其码速率</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en-US" altLang="zh-CN" sz="2400" i="1" err="1">
                <a:solidFill>
                  <a:srgbClr val="000000"/>
                </a:solidFill>
                <a:latin typeface="Times New Roman" panose="02020603050405020304" pitchFamily="18" charset="0"/>
                <a:ea typeface="黑体" panose="02010609060101010101" pitchFamily="49" charset="-122"/>
                <a:sym typeface="+mn-ea"/>
              </a:rPr>
              <a:t>k/n</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82796" y="104775"/>
            <a:ext cx="5818505" cy="685800"/>
          </a:xfrm>
        </p:spPr>
        <p:txBody>
          <a:bodyPr/>
          <a:lstStyle/>
          <a:p>
            <a:r>
              <a:rPr sz="2800">
                <a:ea typeface="黑体" panose="02010609060101010101" pitchFamily="49" charset="-122"/>
                <a:sym typeface="+mn-ea"/>
              </a:rPr>
              <a:t>(2,</a:t>
            </a:r>
            <a:r>
              <a:rPr lang="en-US" sz="2800">
                <a:ea typeface="黑体" panose="02010609060101010101" pitchFamily="49" charset="-122"/>
                <a:sym typeface="+mn-ea"/>
              </a:rPr>
              <a:t> </a:t>
            </a:r>
            <a:r>
              <a:rPr sz="2800">
                <a:ea typeface="黑体" panose="02010609060101010101" pitchFamily="49" charset="-122"/>
                <a:sym typeface="+mn-ea"/>
              </a:rPr>
              <a:t>1,</a:t>
            </a:r>
            <a:r>
              <a:rPr lang="en-US" sz="2800">
                <a:ea typeface="黑体" panose="02010609060101010101" pitchFamily="49" charset="-122"/>
                <a:sym typeface="+mn-ea"/>
              </a:rPr>
              <a:t> </a:t>
            </a:r>
            <a:r>
              <a:rPr sz="2800" i="1">
                <a:ea typeface="黑体" panose="02010609060101010101" pitchFamily="49" charset="-122"/>
                <a:sym typeface="+mn-ea"/>
              </a:rPr>
              <a:t>m</a:t>
            </a:r>
            <a:r>
              <a:rPr sz="2800">
                <a:ea typeface="黑体" panose="02010609060101010101" pitchFamily="49" charset="-122"/>
                <a:sym typeface="+mn-ea"/>
              </a:rPr>
              <a:t>)卷积码的多项式描述</a:t>
            </a:r>
          </a:p>
        </p:txBody>
      </p:sp>
      <p:sp>
        <p:nvSpPr>
          <p:cNvPr id="12" name="文本框 11"/>
          <p:cNvSpPr txBox="1"/>
          <p:nvPr/>
        </p:nvSpPr>
        <p:spPr>
          <a:xfrm>
            <a:off x="1757046" y="1066801"/>
            <a:ext cx="8644255" cy="2158365"/>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400" b="1" dirty="0">
                <a:solidFill>
                  <a:srgbClr val="FF0000"/>
                </a:solidFill>
                <a:latin typeface="Times New Roman" panose="02020603050405020304" pitchFamily="18" charset="0"/>
                <a:ea typeface="黑体" panose="02010609060101010101" pitchFamily="49" charset="-122"/>
                <a:sym typeface="+mn-ea"/>
              </a:rPr>
              <a:t>信息序列：</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zh-CN" altLang="en-US" sz="2400" dirty="0">
                <a:solidFill>
                  <a:srgbClr val="000000"/>
                </a:solidFill>
                <a:latin typeface="Times New Roman" panose="02020603050405020304" pitchFamily="18" charset="0"/>
                <a:ea typeface="黑体" panose="02010609060101010101" pitchFamily="49" charset="-122"/>
                <a:sym typeface="+mn-ea"/>
              </a:rPr>
              <a:t>表示成</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b="1" dirty="0">
                <a:solidFill>
                  <a:srgbClr val="FF0000"/>
                </a:solidFill>
                <a:latin typeface="Times New Roman" panose="02020603050405020304" pitchFamily="18" charset="0"/>
                <a:ea typeface="黑体" panose="02010609060101010101" pitchFamily="49" charset="-122"/>
                <a:sym typeface="+mn-ea"/>
              </a:rPr>
              <a:t>生成多项式：</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表示成</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表示成</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b="1" dirty="0">
                <a:solidFill>
                  <a:srgbClr val="FF0000"/>
                </a:solidFill>
                <a:latin typeface="Times New Roman" panose="02020603050405020304" pitchFamily="18" charset="0"/>
                <a:ea typeface="黑体" panose="02010609060101010101" pitchFamily="49" charset="-122"/>
                <a:sym typeface="+mn-ea"/>
              </a:rPr>
              <a:t>输出序列：</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表示成</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表示成</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endParaRPr lang="en-US" altLang="zh-CN" sz="2400">
              <a:solidFill>
                <a:srgbClr val="000000"/>
              </a:solidFill>
              <a:latin typeface="Times New Roman" panose="02020603050405020304" pitchFamily="18" charset="0"/>
              <a:ea typeface="黑体" panose="02010609060101010101" pitchFamily="49" charset="-122"/>
            </a:endParaRPr>
          </a:p>
          <a:p>
            <a:pPr eaLnBrk="0" fontAlgn="base" hangingPunct="0">
              <a:lnSpc>
                <a:spcPct val="140000"/>
              </a:lnSpc>
              <a:spcBef>
                <a:spcPct val="0"/>
              </a:spcBef>
              <a:spcAft>
                <a:spcPct val="0"/>
              </a:spcAft>
              <a:buClr>
                <a:srgbClr val="CCCCFF"/>
              </a:buClr>
              <a:buSzPct val="65000"/>
            </a:pPr>
            <a:r>
              <a:rPr lang="zh-CN" altLang="en-US" sz="2400" b="1" dirty="0">
                <a:solidFill>
                  <a:srgbClr val="FF0000"/>
                </a:solidFill>
                <a:latin typeface="Times New Roman" panose="02020603050405020304" pitchFamily="18" charset="0"/>
                <a:ea typeface="黑体" panose="02010609060101010101" pitchFamily="49" charset="-122"/>
                <a:sym typeface="+mn-ea"/>
              </a:rPr>
              <a:t>码字：</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zh-CN" altLang="en-US" sz="2400" dirty="0">
                <a:solidFill>
                  <a:srgbClr val="000000"/>
                </a:solidFill>
                <a:latin typeface="Times New Roman" panose="02020603050405020304" pitchFamily="18" charset="0"/>
                <a:ea typeface="黑体" panose="02010609060101010101" pitchFamily="49" charset="-122"/>
                <a:sym typeface="+mn-ea"/>
              </a:rPr>
              <a:t>表示成</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于是</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endParaRPr lang="zh-CN" altLang="en-US" sz="2400" dirty="0">
              <a:solidFill>
                <a:srgbClr val="000000"/>
              </a:solidFill>
              <a:latin typeface="Times New Roman" panose="02020603050405020304" pitchFamily="18" charset="0"/>
              <a:ea typeface="黑体" panose="02010609060101010101" pitchFamily="49" charset="-122"/>
            </a:endParaRPr>
          </a:p>
          <a:p>
            <a:pPr eaLnBrk="0" fontAlgn="base" hangingPunct="0">
              <a:lnSpc>
                <a:spcPct val="140000"/>
              </a:lnSpc>
              <a:spcBef>
                <a:spcPct val="0"/>
              </a:spcBef>
              <a:spcAft>
                <a:spcPct val="0"/>
              </a:spcAft>
              <a:buClr>
                <a:srgbClr val="CCCCFF"/>
              </a:buClr>
              <a:buSzPct val="65000"/>
            </a:pPr>
            <a:r>
              <a:rPr lang="zh-CN" altLang="en-US" sz="2400" b="1" dirty="0">
                <a:solidFill>
                  <a:srgbClr val="FF0000"/>
                </a:solidFill>
                <a:latin typeface="Times New Roman" panose="02020603050405020304" pitchFamily="18" charset="0"/>
                <a:ea typeface="黑体" panose="02010609060101010101" pitchFamily="49" charset="-122"/>
                <a:sym typeface="+mn-ea"/>
              </a:rPr>
              <a:t>码字：</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endParaRPr lang="en-US" altLang="zh-CN" sz="2400" dirty="0">
              <a:solidFill>
                <a:srgbClr val="000000"/>
              </a:solidFill>
              <a:latin typeface="Times New Roman" panose="02020603050405020304" pitchFamily="18" charset="0"/>
              <a:ea typeface="黑体" panose="02010609060101010101" pitchFamily="49" charset="-122"/>
              <a:sym typeface="+mn-ea"/>
            </a:endParaRPr>
          </a:p>
        </p:txBody>
      </p:sp>
      <p:sp>
        <p:nvSpPr>
          <p:cNvPr id="8" name="文本框 7"/>
          <p:cNvSpPr txBox="1"/>
          <p:nvPr/>
        </p:nvSpPr>
        <p:spPr>
          <a:xfrm>
            <a:off x="1997075" y="3316606"/>
            <a:ext cx="7993380" cy="2968625"/>
          </a:xfrm>
          <a:prstGeom prst="rect">
            <a:avLst/>
          </a:prstGeom>
          <a:noFill/>
        </p:spPr>
        <p:txBody>
          <a:bodyPr wrap="square" rtlCol="0" anchor="t">
            <a:spAutoFit/>
          </a:bodyPr>
          <a:lstStyle/>
          <a:p>
            <a:pPr eaLnBrk="0" fontAlgn="base" hangingPunct="0">
              <a:lnSpc>
                <a:spcPct val="130000"/>
              </a:lnSpc>
              <a:spcBef>
                <a:spcPct val="0"/>
              </a:spcBef>
              <a:spcAft>
                <a:spcPct val="0"/>
              </a:spcAft>
              <a:buClr>
                <a:srgbClr val="CCCCFF"/>
              </a:buClr>
              <a:buSzPct val="65000"/>
            </a:pPr>
            <a:r>
              <a:rPr lang="zh-CN" altLang="en-US" sz="2400" b="1" dirty="0">
                <a:solidFill>
                  <a:srgbClr val="7030A0"/>
                </a:solidFill>
                <a:latin typeface="黑体" panose="02010609060101010101" pitchFamily="49" charset="-122"/>
                <a:ea typeface="黑体" panose="02010609060101010101" pitchFamily="49" charset="-122"/>
                <a:sym typeface="+mn-ea"/>
              </a:rPr>
              <a:t>举例：</a:t>
            </a:r>
            <a:r>
              <a:rPr lang="zh-CN" altLang="en-US" sz="2400" dirty="0">
                <a:solidFill>
                  <a:srgbClr val="000000"/>
                </a:solidFill>
                <a:latin typeface="黑体" panose="02010609060101010101" pitchFamily="49" charset="-122"/>
                <a:ea typeface="黑体" panose="02010609060101010101" pitchFamily="49" charset="-122"/>
                <a:sym typeface="+mn-ea"/>
              </a:rPr>
              <a:t>对于图</a:t>
            </a:r>
            <a:r>
              <a:rPr lang="en-US" altLang="zh-CN" sz="2400">
                <a:solidFill>
                  <a:srgbClr val="000000"/>
                </a:solidFill>
                <a:latin typeface="Times New Roman" panose="02020603050405020304" pitchFamily="18" charset="0"/>
                <a:ea typeface="黑体" panose="02010609060101010101" pitchFamily="49" charset="-122"/>
                <a:sym typeface="+mn-ea"/>
              </a:rPr>
              <a:t>6.1</a:t>
            </a:r>
            <a:r>
              <a:rPr lang="zh-CN" altLang="en-US" sz="2400" dirty="0">
                <a:solidFill>
                  <a:srgbClr val="000000"/>
                </a:solidFill>
                <a:latin typeface="黑体" panose="02010609060101010101" pitchFamily="49" charset="-122"/>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(2, 1, 2)</a:t>
            </a:r>
            <a:r>
              <a:rPr lang="zh-CN" altLang="en-US" sz="2400" dirty="0">
                <a:solidFill>
                  <a:srgbClr val="000000"/>
                </a:solidFill>
                <a:latin typeface="黑体" panose="02010609060101010101" pitchFamily="49" charset="-122"/>
                <a:ea typeface="黑体" panose="02010609060101010101" pitchFamily="49" charset="-122"/>
                <a:sym typeface="+mn-ea"/>
              </a:rPr>
              <a:t>卷积码</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b="1" dirty="0">
                <a:solidFill>
                  <a:srgbClr val="FF0000"/>
                </a:solidFill>
                <a:latin typeface="Times New Roman" panose="02020603050405020304" pitchFamily="18" charset="0"/>
                <a:ea typeface="黑体" panose="02010609060101010101" pitchFamily="49" charset="-122"/>
                <a:sym typeface="+mn-ea"/>
              </a:rPr>
              <a:t>信息序列：</a:t>
            </a:r>
            <a:r>
              <a:rPr lang="zh-CN" altLang="en-US" sz="2400" dirty="0">
                <a:solidFill>
                  <a:srgbClr val="000000"/>
                </a:solidFill>
                <a:latin typeface="黑体" panose="02010609060101010101" pitchFamily="49" charset="-122"/>
                <a:ea typeface="黑体" panose="02010609060101010101" pitchFamily="49" charset="-122"/>
                <a:sym typeface="+mn-ea"/>
              </a:rPr>
              <a:t>若</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=(1011), </a:t>
            </a:r>
            <a:r>
              <a:rPr lang="zh-CN" altLang="en-US" sz="2400" dirty="0">
                <a:solidFill>
                  <a:srgbClr val="000000"/>
                </a:solidFill>
                <a:latin typeface="Times New Roman" panose="02020603050405020304" pitchFamily="18" charset="0"/>
                <a:ea typeface="黑体" panose="02010609060101010101" pitchFamily="49" charset="-122"/>
                <a:sym typeface="+mn-ea"/>
              </a:rPr>
              <a:t>则</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b="1" dirty="0">
                <a:solidFill>
                  <a:srgbClr val="FF0000"/>
                </a:solidFill>
                <a:latin typeface="Times New Roman" panose="02020603050405020304" pitchFamily="18" charset="0"/>
                <a:ea typeface="黑体" panose="02010609060101010101" pitchFamily="49" charset="-122"/>
                <a:sym typeface="+mn-ea"/>
              </a:rPr>
              <a:t>生成多项式：</a:t>
            </a:r>
            <a:r>
              <a:rPr lang="zh-CN" altLang="en-US" sz="2400" dirty="0">
                <a:solidFill>
                  <a:srgbClr val="000000"/>
                </a:solidFill>
                <a:latin typeface="黑体" panose="02010609060101010101" pitchFamily="49" charset="-122"/>
                <a:ea typeface="黑体" panose="02010609060101010101" pitchFamily="49" charset="-122"/>
                <a:sym typeface="+mn-ea"/>
              </a:rPr>
              <a:t>冲激响应为</a:t>
            </a:r>
            <a:r>
              <a:rPr lang="en-US" altLang="zh-CN" sz="2400">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=(111), 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=(101),</a:t>
            </a:r>
            <a:r>
              <a:rPr lang="zh-CN" altLang="en-US" sz="2400" dirty="0">
                <a:solidFill>
                  <a:srgbClr val="000000"/>
                </a:solidFill>
                <a:latin typeface="Times New Roman" panose="02020603050405020304" pitchFamily="18" charset="0"/>
                <a:ea typeface="黑体" panose="02010609060101010101" pitchFamily="49" charset="-122"/>
                <a:sym typeface="+mn-ea"/>
              </a:rPr>
              <a:t>则</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于是</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b="1" dirty="0">
                <a:solidFill>
                  <a:srgbClr val="FF0000"/>
                </a:solidFill>
                <a:latin typeface="Times New Roman" panose="02020603050405020304" pitchFamily="18" charset="0"/>
                <a:ea typeface="黑体" panose="02010609060101010101" pitchFamily="49" charset="-122"/>
                <a:sym typeface="+mn-ea"/>
              </a:rPr>
              <a:t>编码方程为</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5</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g</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4</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5</a:t>
            </a:r>
            <a:endParaRPr lang="zh-CN" altLang="en-US" sz="2400" b="1" dirty="0">
              <a:solidFill>
                <a:srgbClr val="000000"/>
              </a:solidFill>
              <a:latin typeface="Times New Roman" panose="02020603050405020304" pitchFamily="18" charset="0"/>
              <a:ea typeface="黑体" panose="02010609060101010101" pitchFamily="49" charset="-122"/>
            </a:endParaRPr>
          </a:p>
          <a:p>
            <a:pPr eaLnBrk="0" fontAlgn="base" hangingPunct="0">
              <a:lnSpc>
                <a:spcPct val="130000"/>
              </a:lnSpc>
              <a:spcBef>
                <a:spcPct val="0"/>
              </a:spcBef>
              <a:spcAft>
                <a:spcPct val="0"/>
              </a:spcAft>
              <a:buClr>
                <a:srgbClr val="CCCCFF"/>
              </a:buClr>
              <a:buSzPct val="65000"/>
            </a:pPr>
            <a:r>
              <a:rPr lang="zh-CN" altLang="en-US" sz="2400" b="1" dirty="0">
                <a:solidFill>
                  <a:srgbClr val="FF0000"/>
                </a:solidFill>
                <a:latin typeface="Times New Roman" panose="02020603050405020304" pitchFamily="18" charset="0"/>
                <a:ea typeface="黑体" panose="02010609060101010101" pitchFamily="49" charset="-122"/>
                <a:sym typeface="+mn-ea"/>
              </a:rPr>
              <a:t>码字为</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7</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9</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10</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11</a:t>
            </a:r>
            <a:endParaRPr lang="en-US" altLang="zh-CN"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82796" y="104775"/>
            <a:ext cx="5818505" cy="685800"/>
          </a:xfrm>
        </p:spPr>
        <p:txBody>
          <a:bodyPr/>
          <a:lstStyle/>
          <a:p>
            <a:r>
              <a:rPr sz="2800">
                <a:ea typeface="黑体" panose="02010609060101010101" pitchFamily="49" charset="-122"/>
                <a:sym typeface="+mn-ea"/>
              </a:rPr>
              <a:t>(</a:t>
            </a:r>
            <a:r>
              <a:rPr sz="2800" i="1">
                <a:ea typeface="黑体" panose="02010609060101010101" pitchFamily="49" charset="-122"/>
                <a:sym typeface="+mn-ea"/>
              </a:rPr>
              <a:t>n</a:t>
            </a:r>
            <a:r>
              <a:rPr sz="2800">
                <a:ea typeface="黑体" panose="02010609060101010101" pitchFamily="49" charset="-122"/>
                <a:sym typeface="+mn-ea"/>
              </a:rPr>
              <a:t>,</a:t>
            </a:r>
            <a:r>
              <a:rPr lang="en-US" sz="2800">
                <a:ea typeface="黑体" panose="02010609060101010101" pitchFamily="49" charset="-122"/>
                <a:sym typeface="+mn-ea"/>
              </a:rPr>
              <a:t> </a:t>
            </a:r>
            <a:r>
              <a:rPr sz="2800" i="1">
                <a:ea typeface="黑体" panose="02010609060101010101" pitchFamily="49" charset="-122"/>
                <a:sym typeface="+mn-ea"/>
              </a:rPr>
              <a:t>k</a:t>
            </a:r>
            <a:r>
              <a:rPr sz="2800">
                <a:ea typeface="黑体" panose="02010609060101010101" pitchFamily="49" charset="-122"/>
                <a:sym typeface="+mn-ea"/>
              </a:rPr>
              <a:t>,</a:t>
            </a:r>
            <a:r>
              <a:rPr lang="en-US" sz="2800">
                <a:ea typeface="黑体" panose="02010609060101010101" pitchFamily="49" charset="-122"/>
                <a:sym typeface="+mn-ea"/>
              </a:rPr>
              <a:t> </a:t>
            </a:r>
            <a:r>
              <a:rPr sz="2800" i="1">
                <a:ea typeface="黑体" panose="02010609060101010101" pitchFamily="49" charset="-122"/>
                <a:sym typeface="+mn-ea"/>
              </a:rPr>
              <a:t>m</a:t>
            </a:r>
            <a:r>
              <a:rPr sz="2800">
                <a:ea typeface="黑体" panose="02010609060101010101" pitchFamily="49" charset="-122"/>
                <a:sym typeface="+mn-ea"/>
              </a:rPr>
              <a:t>)卷积码的转移函数矩阵</a:t>
            </a:r>
          </a:p>
        </p:txBody>
      </p:sp>
      <p:sp>
        <p:nvSpPr>
          <p:cNvPr id="12" name="文本框 11"/>
          <p:cNvSpPr txBox="1"/>
          <p:nvPr/>
        </p:nvSpPr>
        <p:spPr>
          <a:xfrm>
            <a:off x="1757046" y="764541"/>
            <a:ext cx="8644255" cy="1065613"/>
          </a:xfrm>
          <a:prstGeom prst="rect">
            <a:avLst/>
          </a:prstGeom>
          <a:noFill/>
        </p:spPr>
        <p:txBody>
          <a:bodyPr wrap="square" rtlCol="0" anchor="t">
            <a:spAutoFit/>
          </a:bodyPr>
          <a:lstStyle/>
          <a:p>
            <a:pPr indent="609600" eaLnBrk="0" fontAlgn="base" hangingPunct="0">
              <a:lnSpc>
                <a:spcPct val="140000"/>
              </a:lnSpc>
              <a:spcBef>
                <a:spcPct val="0"/>
              </a:spcBef>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由于编码器是线性系统</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同任何有</a:t>
            </a:r>
            <a:r>
              <a:rPr lang="en-US" altLang="zh-CN" sz="2400" i="1">
                <a:solidFill>
                  <a:srgbClr val="000000"/>
                </a:solidFill>
                <a:latin typeface="Times New Roman" panose="02020603050405020304" pitchFamily="18" charset="0"/>
                <a:ea typeface="黑体" panose="02010609060101010101" pitchFamily="49" charset="-122"/>
                <a:sym typeface="+mn-ea"/>
              </a:rPr>
              <a:t>k</a:t>
            </a:r>
            <a:r>
              <a:rPr lang="zh-CN" altLang="en-US" sz="2400" dirty="0">
                <a:solidFill>
                  <a:srgbClr val="000000"/>
                </a:solidFill>
                <a:latin typeface="Times New Roman" panose="02020603050405020304" pitchFamily="18" charset="0"/>
                <a:ea typeface="黑体" panose="02010609060101010101" pitchFamily="49" charset="-122"/>
                <a:sym typeface="+mn-ea"/>
              </a:rPr>
              <a:t>个输入</a:t>
            </a:r>
            <a:r>
              <a:rPr lang="en-US" altLang="zh-CN" sz="2400" i="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个输出的线性系统一样，总共有</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en-US" sz="2400" err="1">
                <a:solidFill>
                  <a:srgbClr val="000000"/>
                </a:solidFill>
                <a:latin typeface="Arial" panose="020B0604020202020204" pitchFamily="34"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个转移函数。</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en-US" sz="2400" err="1">
                <a:solidFill>
                  <a:srgbClr val="000000"/>
                </a:solidFill>
                <a:latin typeface="Arial" panose="020B0604020202020204" pitchFamily="34" charset="0"/>
                <a:ea typeface="宋体" panose="02010600030101010101" pitchFamily="2"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阶转移函数矩阵为</a:t>
            </a:r>
            <a:endParaRPr lang="en-US" altLang="zh-CN"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5" name="对象 4">
            <a:hlinkClick r:id="" action="ppaction://ole?verb=0"/>
          </p:cNvPr>
          <p:cNvGraphicFramePr>
            <a:graphicFrameLocks noChangeAspect="1"/>
          </p:cNvGraphicFramePr>
          <p:nvPr/>
        </p:nvGraphicFramePr>
        <p:xfrm>
          <a:off x="3752851" y="2059940"/>
          <a:ext cx="4382135" cy="1910080"/>
        </p:xfrm>
        <a:graphic>
          <a:graphicData uri="http://schemas.openxmlformats.org/presentationml/2006/ole">
            <mc:AlternateContent xmlns:mc="http://schemas.openxmlformats.org/markup-compatibility/2006">
              <mc:Choice xmlns:v="urn:schemas-microsoft-com:vml" Requires="v">
                <p:oleObj r:id="rId2" imgW="2311400" imgH="939800" progId="Equation.KSEE3">
                  <p:embed/>
                </p:oleObj>
              </mc:Choice>
              <mc:Fallback>
                <p:oleObj r:id="rId2" imgW="2311400" imgH="939800" progId="Equation.KSEE3">
                  <p:embed/>
                  <p:pic>
                    <p:nvPicPr>
                      <p:cNvPr id="5" name="对象 4">
                        <a:hlinkClick r:id="" action="ppaction://ole?verb=0"/>
                      </p:cNvPr>
                      <p:cNvPicPr/>
                      <p:nvPr/>
                    </p:nvPicPr>
                    <p:blipFill>
                      <a:blip r:embed="rId3"/>
                      <a:stretch>
                        <a:fillRect/>
                      </a:stretch>
                    </p:blipFill>
                    <p:spPr>
                      <a:xfrm>
                        <a:off x="3752851" y="2059940"/>
                        <a:ext cx="4382135" cy="1910080"/>
                      </a:xfrm>
                      <a:prstGeom prst="rect">
                        <a:avLst/>
                      </a:prstGeom>
                    </p:spPr>
                  </p:pic>
                </p:oleObj>
              </mc:Fallback>
            </mc:AlternateContent>
          </a:graphicData>
        </a:graphic>
      </p:graphicFrame>
      <p:sp>
        <p:nvSpPr>
          <p:cNvPr id="3" name="文本框 2"/>
          <p:cNvSpPr txBox="1"/>
          <p:nvPr/>
        </p:nvSpPr>
        <p:spPr>
          <a:xfrm>
            <a:off x="1757046" y="4164966"/>
            <a:ext cx="8644255" cy="1529715"/>
          </a:xfrm>
          <a:prstGeom prst="rect">
            <a:avLst/>
          </a:prstGeom>
          <a:noFill/>
        </p:spPr>
        <p:txBody>
          <a:bodyPr wrap="square" rtlCol="0" anchor="t">
            <a:spAutoFit/>
          </a:bodyPr>
          <a:lstStyle/>
          <a:p>
            <a:pPr indent="609600" eaLnBrk="0" fontAlgn="base" hangingPunct="0">
              <a:lnSpc>
                <a:spcPct val="130000"/>
              </a:lnSpc>
              <a:spcBef>
                <a:spcPct val="0"/>
              </a:spcBef>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于是，码字</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G</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其中</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u</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k</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i="1" baseline="30000" err="1">
                <a:solidFill>
                  <a:srgbClr val="000000"/>
                </a:solidFill>
                <a:latin typeface="Times New Roman" panose="02020603050405020304" pitchFamily="18" charset="0"/>
                <a:ea typeface="黑体" panose="02010609060101010101" pitchFamily="49" charset="-122"/>
                <a:sym typeface="+mn-ea"/>
              </a:rPr>
              <a:t>n</a:t>
            </a:r>
            <a:r>
              <a:rPr lang="en-US" altLang="zh-CN" sz="2400" baseline="30000" err="1">
                <a:solidFill>
                  <a:srgbClr val="000000"/>
                </a:solidFill>
                <a:latin typeface="Times New Roman" panose="02020603050405020304" pitchFamily="18" charset="0"/>
                <a:ea typeface="黑体" panose="02010609060101010101" pitchFamily="49" charset="-122"/>
                <a:sym typeface="+mn-ea"/>
              </a:rPr>
              <a:t>)</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并路之后</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码字变成</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a:t>
            </a:r>
            <a:endParaRPr lang="en-US" altLang="zh-CN"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32580" y="104775"/>
            <a:ext cx="6268720" cy="685800"/>
          </a:xfrm>
        </p:spPr>
        <p:txBody>
          <a:bodyPr/>
          <a:lstStyle/>
          <a:p>
            <a:r>
              <a:rPr lang="zh-CN" altLang="en-US" sz="2800">
                <a:ea typeface="黑体" panose="02010609060101010101" pitchFamily="49" charset="-122"/>
                <a:sym typeface="+mn-ea"/>
              </a:rPr>
              <a:t>举例：</a:t>
            </a:r>
            <a:r>
              <a:rPr sz="2800">
                <a:ea typeface="黑体" panose="02010609060101010101" pitchFamily="49" charset="-122"/>
                <a:sym typeface="+mn-ea"/>
              </a:rPr>
              <a:t>(</a:t>
            </a:r>
            <a:r>
              <a:rPr lang="en-US" sz="2800">
                <a:ea typeface="黑体" panose="02010609060101010101" pitchFamily="49" charset="-122"/>
                <a:sym typeface="+mn-ea"/>
              </a:rPr>
              <a:t>3</a:t>
            </a:r>
            <a:r>
              <a:rPr sz="2800">
                <a:ea typeface="黑体" panose="02010609060101010101" pitchFamily="49" charset="-122"/>
                <a:sym typeface="+mn-ea"/>
              </a:rPr>
              <a:t>,</a:t>
            </a:r>
            <a:r>
              <a:rPr lang="en-US" sz="2800">
                <a:ea typeface="黑体" panose="02010609060101010101" pitchFamily="49" charset="-122"/>
                <a:sym typeface="+mn-ea"/>
              </a:rPr>
              <a:t> 2</a:t>
            </a:r>
            <a:r>
              <a:rPr sz="2800">
                <a:ea typeface="黑体" panose="02010609060101010101" pitchFamily="49" charset="-122"/>
                <a:sym typeface="+mn-ea"/>
              </a:rPr>
              <a:t>,</a:t>
            </a:r>
            <a:r>
              <a:rPr lang="en-US" sz="2800">
                <a:ea typeface="黑体" panose="02010609060101010101" pitchFamily="49" charset="-122"/>
                <a:sym typeface="+mn-ea"/>
              </a:rPr>
              <a:t> 1</a:t>
            </a:r>
            <a:r>
              <a:rPr sz="2800">
                <a:ea typeface="黑体" panose="02010609060101010101" pitchFamily="49" charset="-122"/>
                <a:sym typeface="+mn-ea"/>
              </a:rPr>
              <a:t>)卷积码的转移函数矩阵</a:t>
            </a:r>
          </a:p>
        </p:txBody>
      </p:sp>
      <p:sp>
        <p:nvSpPr>
          <p:cNvPr id="12" name="文本框 11"/>
          <p:cNvSpPr txBox="1"/>
          <p:nvPr/>
        </p:nvSpPr>
        <p:spPr>
          <a:xfrm>
            <a:off x="2437131" y="764540"/>
            <a:ext cx="6579235" cy="548548"/>
          </a:xfrm>
          <a:prstGeom prst="rect">
            <a:avLst/>
          </a:prstGeom>
          <a:noFill/>
        </p:spPr>
        <p:txBody>
          <a:bodyPr wrap="square" rtlCol="0" anchor="t">
            <a:spAutoFit/>
          </a:bodyPr>
          <a:lstStyle/>
          <a:p>
            <a:pPr eaLnBrk="0" fontAlgn="base" hangingPunct="0">
              <a:lnSpc>
                <a:spcPct val="14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图</a:t>
            </a:r>
            <a:r>
              <a:rPr lang="en-US" altLang="zh-CN" sz="2400">
                <a:solidFill>
                  <a:srgbClr val="000000"/>
                </a:solidFill>
                <a:latin typeface="Times New Roman" panose="02020603050405020304" pitchFamily="18" charset="0"/>
                <a:ea typeface="黑体" panose="02010609060101010101" pitchFamily="49" charset="-122"/>
                <a:sym typeface="+mn-ea"/>
              </a:rPr>
              <a:t>6.2</a:t>
            </a:r>
            <a:r>
              <a:rPr lang="zh-CN" altLang="en-US" sz="2400" dirty="0">
                <a:solidFill>
                  <a:srgbClr val="000000"/>
                </a:solidFill>
                <a:latin typeface="Times New Roman" panose="02020603050405020304" pitchFamily="18" charset="0"/>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(3,2,1)</a:t>
            </a:r>
            <a:r>
              <a:rPr lang="zh-CN" altLang="en-US" sz="2400" dirty="0">
                <a:solidFill>
                  <a:srgbClr val="000000"/>
                </a:solidFill>
                <a:latin typeface="Times New Roman" panose="02020603050405020304" pitchFamily="18" charset="0"/>
                <a:ea typeface="黑体" panose="02010609060101010101" pitchFamily="49" charset="-122"/>
                <a:sym typeface="+mn-ea"/>
              </a:rPr>
              <a:t>卷积码，</a:t>
            </a:r>
            <a:r>
              <a:rPr lang="en-US" altLang="zh-CN" sz="24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Arial" panose="020B0604020202020204" pitchFamily="34" charset="0"/>
                <a:ea typeface="宋体" panose="02010600030101010101" pitchFamily="2"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阶转移函数矩阵为</a:t>
            </a:r>
            <a:endParaRPr lang="en-US" altLang="zh-CN"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5" name="对象 4">
            <a:hlinkClick r:id="" action="ppaction://ole?verb=0"/>
          </p:cNvPr>
          <p:cNvGraphicFramePr>
            <a:graphicFrameLocks noChangeAspect="1"/>
          </p:cNvGraphicFramePr>
          <p:nvPr/>
        </p:nvGraphicFramePr>
        <p:xfrm>
          <a:off x="4495801" y="1600200"/>
          <a:ext cx="2841625" cy="929640"/>
        </p:xfrm>
        <a:graphic>
          <a:graphicData uri="http://schemas.openxmlformats.org/presentationml/2006/ole">
            <mc:AlternateContent xmlns:mc="http://schemas.openxmlformats.org/markup-compatibility/2006">
              <mc:Choice xmlns:v="urn:schemas-microsoft-com:vml" Requires="v">
                <p:oleObj r:id="rId2" imgW="1498600" imgH="457200" progId="Equation.KSEE3">
                  <p:embed/>
                </p:oleObj>
              </mc:Choice>
              <mc:Fallback>
                <p:oleObj r:id="rId2" imgW="1498600" imgH="457200" progId="Equation.KSEE3">
                  <p:embed/>
                  <p:pic>
                    <p:nvPicPr>
                      <p:cNvPr id="5" name="对象 4">
                        <a:hlinkClick r:id="" action="ppaction://ole?verb=0"/>
                      </p:cNvPr>
                      <p:cNvPicPr/>
                      <p:nvPr/>
                    </p:nvPicPr>
                    <p:blipFill>
                      <a:blip r:embed="rId3"/>
                      <a:stretch>
                        <a:fillRect/>
                      </a:stretch>
                    </p:blipFill>
                    <p:spPr>
                      <a:xfrm>
                        <a:off x="4495801" y="1600200"/>
                        <a:ext cx="2841625" cy="929640"/>
                      </a:xfrm>
                      <a:prstGeom prst="rect">
                        <a:avLst/>
                      </a:prstGeom>
                    </p:spPr>
                  </p:pic>
                </p:oleObj>
              </mc:Fallback>
            </mc:AlternateContent>
          </a:graphicData>
        </a:graphic>
      </p:graphicFrame>
      <p:sp>
        <p:nvSpPr>
          <p:cNvPr id="4" name="文本框 3"/>
          <p:cNvSpPr txBox="1"/>
          <p:nvPr/>
        </p:nvSpPr>
        <p:spPr>
          <a:xfrm>
            <a:off x="2488566" y="2705100"/>
            <a:ext cx="6579235" cy="1130246"/>
          </a:xfrm>
          <a:prstGeom prst="rect">
            <a:avLst/>
          </a:prstGeom>
          <a:noFill/>
        </p:spPr>
        <p:txBody>
          <a:bodyPr wrap="square" rtlCol="0" anchor="t">
            <a:spAutoFit/>
          </a:bodyPr>
          <a:lstStyle/>
          <a:p>
            <a:pPr eaLnBrk="0" fontAlgn="base" hangingPunct="0">
              <a:lnSpc>
                <a:spcPct val="15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对于输入序列</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u</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)=1+</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 </a:t>
            </a:r>
            <a:endParaRPr lang="zh-CN" altLang="en-US" sz="2400" dirty="0">
              <a:solidFill>
                <a:srgbClr val="000000"/>
              </a:solidFill>
              <a:latin typeface="Times New Roman" panose="02020603050405020304" pitchFamily="18" charset="0"/>
              <a:ea typeface="黑体" panose="02010609060101010101" pitchFamily="49" charset="-122"/>
            </a:endParaRPr>
          </a:p>
          <a:p>
            <a:pPr eaLnBrk="0" fontAlgn="base" hangingPunct="0">
              <a:lnSpc>
                <a:spcPct val="150000"/>
              </a:lnSpc>
              <a:spcBef>
                <a:spcPct val="0"/>
              </a:spcBef>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于是</a:t>
            </a:r>
            <a:r>
              <a:rPr lang="en-US" altLang="zh-CN" sz="2400" dirty="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编码方程</a:t>
            </a:r>
            <a:endParaRPr lang="en-US" altLang="zh-CN"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7" name="对象 6">
            <a:hlinkClick r:id="" action="ppaction://ole?verb=0"/>
          </p:cNvPr>
          <p:cNvGraphicFramePr>
            <a:graphicFrameLocks noChangeAspect="1"/>
          </p:cNvGraphicFramePr>
          <p:nvPr/>
        </p:nvGraphicFramePr>
        <p:xfrm>
          <a:off x="2667000" y="3886201"/>
          <a:ext cx="7128510" cy="1188085"/>
        </p:xfrm>
        <a:graphic>
          <a:graphicData uri="http://schemas.openxmlformats.org/presentationml/2006/ole">
            <mc:AlternateContent xmlns:mc="http://schemas.openxmlformats.org/markup-compatibility/2006">
              <mc:Choice xmlns:v="urn:schemas-microsoft-com:vml" Requires="v">
                <p:oleObj r:id="rId4" imgW="3759200" imgH="711200" progId="Equation.KSEE3">
                  <p:embed/>
                </p:oleObj>
              </mc:Choice>
              <mc:Fallback>
                <p:oleObj r:id="rId4" imgW="3759200" imgH="711200" progId="Equation.KSEE3">
                  <p:embed/>
                  <p:pic>
                    <p:nvPicPr>
                      <p:cNvPr id="7" name="对象 6">
                        <a:hlinkClick r:id="" action="ppaction://ole?verb=0"/>
                      </p:cNvPr>
                      <p:cNvPicPr/>
                      <p:nvPr/>
                    </p:nvPicPr>
                    <p:blipFill>
                      <a:blip r:embed="rId5"/>
                      <a:stretch>
                        <a:fillRect/>
                      </a:stretch>
                    </p:blipFill>
                    <p:spPr>
                      <a:xfrm>
                        <a:off x="2667000" y="3886201"/>
                        <a:ext cx="7128510" cy="1188085"/>
                      </a:xfrm>
                      <a:prstGeom prst="rect">
                        <a:avLst/>
                      </a:prstGeom>
                    </p:spPr>
                  </p:pic>
                </p:oleObj>
              </mc:Fallback>
            </mc:AlternateContent>
          </a:graphicData>
        </a:graphic>
      </p:graphicFrame>
      <p:sp>
        <p:nvSpPr>
          <p:cNvPr id="9" name="文本框 8"/>
          <p:cNvSpPr txBox="1"/>
          <p:nvPr/>
        </p:nvSpPr>
        <p:spPr>
          <a:xfrm>
            <a:off x="1911985" y="5099051"/>
            <a:ext cx="8274050" cy="1133965"/>
          </a:xfrm>
          <a:prstGeom prst="rect">
            <a:avLst/>
          </a:prstGeom>
          <a:noFill/>
        </p:spPr>
        <p:txBody>
          <a:bodyPr wrap="square" rtlCol="0" anchor="t">
            <a:spAutoFit/>
          </a:bodyPr>
          <a:lstStyle/>
          <a:p>
            <a:pPr indent="609600" eaLnBrk="0" fontAlgn="base" hangingPunct="0">
              <a:lnSpc>
                <a:spcPct val="150000"/>
              </a:lnSpc>
              <a:spcBef>
                <a:spcPct val="0"/>
              </a:spcBef>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并路之后，码字变成</a:t>
            </a:r>
            <a:r>
              <a:rPr lang="en-US" altLang="zh-CN" sz="2400" i="1" err="1">
                <a:solidFill>
                  <a:srgbClr val="000000"/>
                </a:solidFill>
                <a:latin typeface="Times New Roman" panose="02020603050405020304" pitchFamily="18" charset="0"/>
                <a:ea typeface="黑体" panose="02010609060101010101" pitchFamily="49" charset="-122"/>
                <a:sym typeface="+mn-ea"/>
              </a:rPr>
              <a:t>V</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xV</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3</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i="1">
                <a:solidFill>
                  <a:srgbClr val="000000"/>
                </a:solidFill>
                <a:latin typeface="Times New Roman" panose="02020603050405020304" pitchFamily="18" charset="0"/>
                <a:ea typeface="黑体" panose="02010609060101010101" pitchFamily="49" charset="-122"/>
                <a:sym typeface="+mn-ea"/>
              </a:rPr>
              <a:t>V</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i="1" baseline="30000">
                <a:solidFill>
                  <a:srgbClr val="000000"/>
                </a:solidFill>
                <a:latin typeface="Times New Roman" panose="02020603050405020304" pitchFamily="18" charset="0"/>
                <a:ea typeface="黑体" panose="02010609060101010101" pitchFamily="49" charset="-122"/>
                <a:sym typeface="+mn-ea"/>
              </a:rPr>
              <a:t>3</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a:solidFill>
                  <a:srgbClr val="000000"/>
                </a:solidFill>
                <a:latin typeface="Times New Roman" panose="02020603050405020304" pitchFamily="18" charset="0"/>
                <a:ea typeface="黑体" panose="02010609060101010101" pitchFamily="49" charset="-122"/>
                <a:sym typeface="+mn-ea"/>
              </a:rPr>
              <a:t>)= 1+</a:t>
            </a:r>
            <a:r>
              <a:rPr lang="en-US" altLang="zh-CN" sz="2400" i="1">
                <a:solidFill>
                  <a:srgbClr val="000000"/>
                </a:solidFill>
                <a:latin typeface="Times New Roman" panose="02020603050405020304" pitchFamily="18" charset="0"/>
                <a:ea typeface="黑体" panose="02010609060101010101" pitchFamily="49" charset="-122"/>
                <a:sym typeface="+mn-ea"/>
              </a:rPr>
              <a:t>x+x</a:t>
            </a:r>
            <a:r>
              <a:rPr lang="en-US" altLang="zh-CN" sz="2400" baseline="30000">
                <a:solidFill>
                  <a:srgbClr val="000000"/>
                </a:solidFill>
                <a:latin typeface="Times New Roman" panose="02020603050405020304" pitchFamily="18" charset="0"/>
                <a:ea typeface="黑体" panose="02010609060101010101" pitchFamily="49" charset="-122"/>
                <a:sym typeface="+mn-ea"/>
              </a:rPr>
              <a:t>8</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9</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10</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30000">
                <a:solidFill>
                  <a:srgbClr val="000000"/>
                </a:solidFill>
                <a:latin typeface="Times New Roman" panose="02020603050405020304" pitchFamily="18" charset="0"/>
                <a:ea typeface="黑体" panose="02010609060101010101" pitchFamily="49" charset="-122"/>
                <a:sym typeface="+mn-ea"/>
              </a:rPr>
              <a:t>11</a:t>
            </a:r>
            <a:endParaRPr lang="en-US" altLang="zh-CN"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32580" y="104775"/>
            <a:ext cx="6268720" cy="685800"/>
          </a:xfrm>
        </p:spPr>
        <p:txBody>
          <a:bodyPr/>
          <a:lstStyle/>
          <a:p>
            <a:r>
              <a:rPr sz="2800">
                <a:ea typeface="黑体" panose="02010609060101010101" pitchFamily="49" charset="-122"/>
                <a:sym typeface="+mn-ea"/>
              </a:rPr>
              <a:t>卷积码的树图表示法(码树)</a:t>
            </a:r>
          </a:p>
        </p:txBody>
      </p:sp>
      <p:pic>
        <p:nvPicPr>
          <p:cNvPr id="3" name="图片 48131"/>
          <p:cNvPicPr>
            <a:picLocks noChangeAspect="1"/>
          </p:cNvPicPr>
          <p:nvPr/>
        </p:nvPicPr>
        <p:blipFill>
          <a:blip r:embed="rId2"/>
          <a:stretch>
            <a:fillRect/>
          </a:stretch>
        </p:blipFill>
        <p:spPr>
          <a:xfrm>
            <a:off x="3276601" y="2363471"/>
            <a:ext cx="5813425" cy="3729355"/>
          </a:xfrm>
          <a:prstGeom prst="rect">
            <a:avLst/>
          </a:prstGeom>
          <a:noFill/>
          <a:ln w="9525">
            <a:noFill/>
          </a:ln>
        </p:spPr>
      </p:pic>
      <p:sp>
        <p:nvSpPr>
          <p:cNvPr id="48131" name="文本框 188471"/>
          <p:cNvSpPr txBox="1"/>
          <p:nvPr/>
        </p:nvSpPr>
        <p:spPr>
          <a:xfrm>
            <a:off x="3425190" y="6036310"/>
            <a:ext cx="5750560" cy="368300"/>
          </a:xfrm>
          <a:prstGeom prst="rect">
            <a:avLst/>
          </a:prstGeom>
          <a:noFill/>
          <a:ln w="9525">
            <a:noFill/>
          </a:ln>
        </p:spPr>
        <p:txBody>
          <a:bodyPr wrap="square" anchor="t" anchorCtr="0">
            <a:spAutoFit/>
          </a:bodyPr>
          <a:lstStyle/>
          <a:p>
            <a:pPr eaLnBrk="0" fontAlgn="base" hangingPunct="0">
              <a:spcBef>
                <a:spcPct val="50000"/>
              </a:spcBef>
              <a:spcAft>
                <a:spcPct val="0"/>
              </a:spcAft>
            </a:pPr>
            <a:r>
              <a:rPr lang="zh-CN" altLang="en-US" dirty="0">
                <a:solidFill>
                  <a:srgbClr val="000000"/>
                </a:solidFill>
                <a:latin typeface="黑体" panose="02010609060101010101" pitchFamily="49" charset="-122"/>
                <a:ea typeface="黑体" panose="02010609060101010101" pitchFamily="49" charset="-122"/>
              </a:rPr>
              <a:t>图</a:t>
            </a:r>
            <a:r>
              <a:rPr lang="en-US" altLang="zh-CN">
                <a:solidFill>
                  <a:srgbClr val="000000"/>
                </a:solidFill>
                <a:latin typeface="Times New Roman" panose="02020603050405020304" pitchFamily="18" charset="0"/>
                <a:ea typeface="黑体" panose="02010609060101010101" pitchFamily="49" charset="-122"/>
              </a:rPr>
              <a:t>6.3  </a:t>
            </a:r>
            <a:r>
              <a:rPr lang="zh-CN" altLang="en-US" dirty="0">
                <a:solidFill>
                  <a:srgbClr val="000000"/>
                </a:solidFill>
                <a:latin typeface="Times New Roman" panose="02020603050405020304" pitchFamily="18" charset="0"/>
                <a:ea typeface="黑体" panose="02010609060101010101" pitchFamily="49" charset="-122"/>
              </a:rPr>
              <a:t>图</a:t>
            </a:r>
            <a:r>
              <a:rPr lang="en-US" altLang="zh-CN">
                <a:solidFill>
                  <a:srgbClr val="000000"/>
                </a:solidFill>
                <a:latin typeface="Times New Roman" panose="02020603050405020304" pitchFamily="18" charset="0"/>
                <a:ea typeface="黑体" panose="02010609060101010101" pitchFamily="49" charset="-122"/>
              </a:rPr>
              <a:t>6.1</a:t>
            </a:r>
            <a:r>
              <a:rPr lang="zh-CN" altLang="en-US" dirty="0">
                <a:solidFill>
                  <a:srgbClr val="000000"/>
                </a:solidFill>
                <a:latin typeface="Times New Roman" panose="02020603050405020304" pitchFamily="18" charset="0"/>
                <a:ea typeface="黑体" panose="02010609060101010101" pitchFamily="49" charset="-122"/>
              </a:rPr>
              <a:t>卷积码的电路图输入</a:t>
            </a:r>
            <a:r>
              <a:rPr lang="en-US" altLang="zh-CN">
                <a:solidFill>
                  <a:srgbClr val="000000"/>
                </a:solidFill>
                <a:latin typeface="Times New Roman" panose="02020603050405020304" pitchFamily="18" charset="0"/>
                <a:ea typeface="黑体" panose="02010609060101010101" pitchFamily="49" charset="-122"/>
              </a:rPr>
              <a:t>4</a:t>
            </a:r>
            <a:r>
              <a:rPr lang="zh-CN" altLang="en-US" dirty="0">
                <a:solidFill>
                  <a:srgbClr val="000000"/>
                </a:solidFill>
                <a:latin typeface="Times New Roman" panose="02020603050405020304" pitchFamily="18" charset="0"/>
                <a:ea typeface="黑体" panose="02010609060101010101" pitchFamily="49" charset="-122"/>
              </a:rPr>
              <a:t>个比特时对应的码树</a:t>
            </a:r>
          </a:p>
        </p:txBody>
      </p:sp>
      <p:sp>
        <p:nvSpPr>
          <p:cNvPr id="10" name="文本框 9"/>
          <p:cNvSpPr txBox="1"/>
          <p:nvPr/>
        </p:nvSpPr>
        <p:spPr>
          <a:xfrm>
            <a:off x="1860550" y="764541"/>
            <a:ext cx="8446770" cy="1641475"/>
          </a:xfrm>
          <a:prstGeom prst="rect">
            <a:avLst/>
          </a:prstGeom>
          <a:noFill/>
        </p:spPr>
        <p:txBody>
          <a:bodyPr wrap="square" rtlCol="0" anchor="t">
            <a:spAutoFit/>
          </a:bodyPr>
          <a:lstStyle/>
          <a:p>
            <a:pPr indent="609600" eaLnBrk="0" fontAlgn="base" hangingPunct="0">
              <a:lnSpc>
                <a:spcPct val="140000"/>
              </a:lnSpc>
              <a:spcBef>
                <a:spcPct val="0"/>
              </a:spcBef>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在图</a:t>
            </a:r>
            <a:r>
              <a:rPr lang="en-US" altLang="zh-CN" sz="2400">
                <a:solidFill>
                  <a:srgbClr val="000000"/>
                </a:solidFill>
                <a:latin typeface="Times New Roman" panose="02020603050405020304" pitchFamily="18" charset="0"/>
                <a:ea typeface="黑体" panose="02010609060101010101" pitchFamily="49" charset="-122"/>
                <a:sym typeface="+mn-ea"/>
              </a:rPr>
              <a:t>6.3</a:t>
            </a:r>
            <a:r>
              <a:rPr lang="zh-CN" altLang="en-US" sz="2400" dirty="0">
                <a:solidFill>
                  <a:srgbClr val="000000"/>
                </a:solidFill>
                <a:latin typeface="Times New Roman" panose="02020603050405020304" pitchFamily="18" charset="0"/>
                <a:ea typeface="黑体" panose="02010609060101010101" pitchFamily="49" charset="-122"/>
                <a:sym typeface="+mn-ea"/>
              </a:rPr>
              <a:t>中，向上的实线代表输入比特为</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，向下的虚线代表输入比特为</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，对应的码字输出表示在树图的分支路径上。如输入为</a:t>
            </a:r>
            <a:r>
              <a:rPr lang="en-US" altLang="zh-CN" sz="2400">
                <a:solidFill>
                  <a:srgbClr val="000000"/>
                </a:solidFill>
                <a:latin typeface="Times New Roman" panose="02020603050405020304" pitchFamily="18" charset="0"/>
                <a:ea typeface="黑体" panose="02010609060101010101" pitchFamily="49" charset="-122"/>
                <a:sym typeface="+mn-ea"/>
              </a:rPr>
              <a:t>(1011)</a:t>
            </a:r>
            <a:r>
              <a:rPr lang="zh-CN" altLang="en-US" sz="2400" dirty="0">
                <a:solidFill>
                  <a:srgbClr val="000000"/>
                </a:solidFill>
                <a:latin typeface="Times New Roman" panose="02020603050405020304" pitchFamily="18" charset="0"/>
                <a:ea typeface="黑体" panose="02010609060101010101" pitchFamily="49" charset="-122"/>
                <a:sym typeface="+mn-ea"/>
              </a:rPr>
              <a:t>则输出的码字为</a:t>
            </a:r>
            <a:r>
              <a:rPr lang="en-US" altLang="zh-CN" sz="2400">
                <a:solidFill>
                  <a:srgbClr val="000000"/>
                </a:solidFill>
                <a:latin typeface="Times New Roman" panose="02020603050405020304" pitchFamily="18" charset="0"/>
                <a:ea typeface="黑体" panose="02010609060101010101" pitchFamily="49" charset="-122"/>
                <a:sym typeface="+mn-ea"/>
              </a:rPr>
              <a:t>(11, 10, 00, 01)</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32580" y="104775"/>
            <a:ext cx="6268720" cy="685800"/>
          </a:xfrm>
        </p:spPr>
        <p:txBody>
          <a:bodyPr/>
          <a:lstStyle/>
          <a:p>
            <a:r>
              <a:rPr sz="2800">
                <a:ea typeface="黑体" panose="02010609060101010101" pitchFamily="49" charset="-122"/>
                <a:sym typeface="+mn-ea"/>
              </a:rPr>
              <a:t>卷积码的</a:t>
            </a:r>
            <a:r>
              <a:rPr lang="zh-CN" altLang="en-US" sz="2800">
                <a:ea typeface="黑体" panose="02010609060101010101" pitchFamily="49" charset="-122"/>
                <a:sym typeface="+mn-ea"/>
              </a:rPr>
              <a:t>状态</a:t>
            </a:r>
            <a:r>
              <a:rPr sz="2800">
                <a:ea typeface="黑体" panose="02010609060101010101" pitchFamily="49" charset="-122"/>
                <a:sym typeface="+mn-ea"/>
              </a:rPr>
              <a:t>图表示法</a:t>
            </a:r>
          </a:p>
        </p:txBody>
      </p:sp>
      <p:sp>
        <p:nvSpPr>
          <p:cNvPr id="10" name="文本框 9"/>
          <p:cNvSpPr txBox="1"/>
          <p:nvPr/>
        </p:nvSpPr>
        <p:spPr>
          <a:xfrm>
            <a:off x="1860550" y="840105"/>
            <a:ext cx="8446770" cy="1568450"/>
          </a:xfrm>
          <a:prstGeom prst="rect">
            <a:avLst/>
          </a:prstGeom>
          <a:noFill/>
        </p:spPr>
        <p:txBody>
          <a:bodyPr wrap="square" rtlCol="0" anchor="t">
            <a:spAutoFit/>
          </a:bodyPr>
          <a:lstStyle/>
          <a:p>
            <a:pPr indent="508000" eaLnBrk="0" fontAlgn="base" hangingPunct="0">
              <a:lnSpc>
                <a:spcPct val="120000"/>
              </a:lnSpc>
              <a:spcBef>
                <a:spcPct val="0"/>
              </a:spcBef>
              <a:spcAft>
                <a:spcPct val="0"/>
              </a:spcAft>
              <a:buClr>
                <a:srgbClr val="CCCCFF"/>
              </a:buClr>
              <a:buSzPct val="65000"/>
              <a:extLst>
                <a:ext uri="{35155182-B16C-46BC-9424-99874614C6A1}">
                  <wpsdc:indentchars xmlns="" xmlns:wpsdc="http://www.wps.cn/officeDocument/2017/drawingmlCustomData" val="200" checksum="282533468"/>
                </a:ext>
              </a:extLst>
            </a:pPr>
            <a:r>
              <a:rPr lang="zh-CN" altLang="en-US" sz="2000" dirty="0">
                <a:solidFill>
                  <a:srgbClr val="000000"/>
                </a:solidFill>
                <a:latin typeface="Times New Roman" panose="02020603050405020304" pitchFamily="18" charset="0"/>
                <a:ea typeface="黑体" panose="02010609060101010101" pitchFamily="49" charset="-122"/>
                <a:sym typeface="+mn-ea"/>
              </a:rPr>
              <a:t>在图</a:t>
            </a:r>
            <a:r>
              <a:rPr lang="en-US" altLang="zh-CN" sz="2000">
                <a:solidFill>
                  <a:srgbClr val="000000"/>
                </a:solidFill>
                <a:latin typeface="Times New Roman" panose="02020603050405020304" pitchFamily="18" charset="0"/>
                <a:ea typeface="黑体" panose="02010609060101010101" pitchFamily="49" charset="-122"/>
                <a:sym typeface="+mn-ea"/>
              </a:rPr>
              <a:t>6.4</a:t>
            </a:r>
            <a:r>
              <a:rPr lang="zh-CN" altLang="en-US" sz="2000" dirty="0">
                <a:solidFill>
                  <a:srgbClr val="000000"/>
                </a:solidFill>
                <a:latin typeface="Times New Roman" panose="02020603050405020304" pitchFamily="18" charset="0"/>
                <a:ea typeface="黑体" panose="02010609060101010101" pitchFamily="49" charset="-122"/>
                <a:sym typeface="+mn-ea"/>
              </a:rPr>
              <a:t>中，圆圈里是卷积码电路图移位寄存器的状态，每个输入比特都会导致卷积码电路图从一个状态到另外一个状态的转变；每条路径边上标着</a:t>
            </a:r>
            <a:r>
              <a:rPr lang="en-US" altLang="zh-CN" sz="2000" i="1" err="1">
                <a:solidFill>
                  <a:srgbClr val="000000"/>
                </a:solidFill>
                <a:latin typeface="Times New Roman" panose="02020603050405020304" pitchFamily="18" charset="0"/>
                <a:ea typeface="黑体" panose="02010609060101010101" pitchFamily="49" charset="-122"/>
                <a:sym typeface="+mn-ea"/>
              </a:rPr>
              <a:t>k</a:t>
            </a:r>
            <a:r>
              <a:rPr lang="en-US" altLang="zh-CN" sz="2000" err="1">
                <a:solidFill>
                  <a:srgbClr val="000000"/>
                </a:solidFill>
                <a:latin typeface="Times New Roman" panose="02020603050405020304" pitchFamily="18" charset="0"/>
                <a:ea typeface="黑体" panose="02010609060101010101" pitchFamily="49" charset="-122"/>
                <a:sym typeface="+mn-ea"/>
              </a:rPr>
              <a:t>/</a:t>
            </a:r>
            <a:r>
              <a:rPr lang="en-US" altLang="zh-CN" sz="2000" i="1" err="1">
                <a:solidFill>
                  <a:srgbClr val="000000"/>
                </a:solidFill>
                <a:latin typeface="Times New Roman" panose="02020603050405020304" pitchFamily="18" charset="0"/>
                <a:ea typeface="黑体" panose="02010609060101010101" pitchFamily="49" charset="-122"/>
                <a:sym typeface="+mn-ea"/>
              </a:rPr>
              <a:t>n</a:t>
            </a:r>
            <a:r>
              <a:rPr lang="zh-CN" altLang="en-US" sz="2000" dirty="0">
                <a:solidFill>
                  <a:srgbClr val="000000"/>
                </a:solidFill>
                <a:latin typeface="Times New Roman" panose="02020603050405020304" pitchFamily="18" charset="0"/>
                <a:ea typeface="黑体" panose="02010609060101010101" pitchFamily="49" charset="-122"/>
                <a:sym typeface="+mn-ea"/>
              </a:rPr>
              <a:t>，表示输入信息比特</a:t>
            </a:r>
            <a:r>
              <a:rPr lang="en-US" altLang="zh-CN" sz="2000" i="1">
                <a:solidFill>
                  <a:srgbClr val="000000"/>
                </a:solidFill>
                <a:latin typeface="Times New Roman" panose="02020603050405020304" pitchFamily="18" charset="0"/>
                <a:ea typeface="黑体" panose="02010609060101010101" pitchFamily="49" charset="-122"/>
                <a:sym typeface="+mn-ea"/>
              </a:rPr>
              <a:t>k</a:t>
            </a:r>
            <a:r>
              <a:rPr lang="zh-CN" altLang="en-US" sz="2000" dirty="0">
                <a:solidFill>
                  <a:srgbClr val="000000"/>
                </a:solidFill>
                <a:latin typeface="Times New Roman" panose="02020603050405020304" pitchFamily="18" charset="0"/>
                <a:ea typeface="黑体" panose="02010609060101010101" pitchFamily="49" charset="-122"/>
                <a:sym typeface="+mn-ea"/>
              </a:rPr>
              <a:t>和输入码字</a:t>
            </a:r>
            <a:r>
              <a:rPr lang="en-US" altLang="zh-CN" sz="2000" i="1">
                <a:solidFill>
                  <a:srgbClr val="000000"/>
                </a:solidFill>
                <a:latin typeface="Times New Roman" panose="02020603050405020304" pitchFamily="18" charset="0"/>
                <a:ea typeface="黑体" panose="02010609060101010101" pitchFamily="49" charset="-122"/>
                <a:sym typeface="+mn-ea"/>
              </a:rPr>
              <a:t>n</a:t>
            </a:r>
            <a:r>
              <a:rPr lang="zh-CN" altLang="en-US" sz="200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默认从全</a:t>
            </a:r>
            <a:r>
              <a:rPr lang="en-US" altLang="zh-CN" sz="2000">
                <a:solidFill>
                  <a:srgbClr val="000000"/>
                </a:solidFill>
                <a:latin typeface="Times New Roman" panose="02020603050405020304" pitchFamily="18" charset="0"/>
                <a:ea typeface="黑体" panose="02010609060101010101" pitchFamily="49" charset="-122"/>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状态开始。如输入为</a:t>
            </a:r>
            <a:r>
              <a:rPr lang="en-US" altLang="zh-CN" sz="2000">
                <a:solidFill>
                  <a:srgbClr val="000000"/>
                </a:solidFill>
                <a:latin typeface="Times New Roman" panose="02020603050405020304" pitchFamily="18" charset="0"/>
                <a:ea typeface="黑体" panose="02010609060101010101" pitchFamily="49" charset="-122"/>
                <a:sym typeface="+mn-ea"/>
              </a:rPr>
              <a:t>(1011)</a:t>
            </a:r>
            <a:r>
              <a:rPr lang="zh-CN" altLang="en-US" sz="2000" dirty="0">
                <a:solidFill>
                  <a:srgbClr val="000000"/>
                </a:solidFill>
                <a:latin typeface="Times New Roman" panose="02020603050405020304" pitchFamily="18" charset="0"/>
                <a:ea typeface="黑体" panose="02010609060101010101" pitchFamily="49" charset="-122"/>
                <a:sym typeface="+mn-ea"/>
              </a:rPr>
              <a:t>，则状态转换序列为</a:t>
            </a:r>
            <a:r>
              <a:rPr lang="en-US" altLang="zh-CN" sz="2000">
                <a:solidFill>
                  <a:srgbClr val="000000"/>
                </a:solidFill>
                <a:latin typeface="Times New Roman" panose="02020603050405020304" pitchFamily="18" charset="0"/>
                <a:ea typeface="黑体" panose="02010609060101010101" pitchFamily="49" charset="-122"/>
                <a:sym typeface="+mn-ea"/>
              </a:rPr>
              <a:t>(10,01,10,11)</a:t>
            </a:r>
            <a:r>
              <a:rPr lang="zh-CN" altLang="en-US" sz="2000" dirty="0">
                <a:solidFill>
                  <a:srgbClr val="000000"/>
                </a:solidFill>
                <a:latin typeface="Times New Roman" panose="02020603050405020304" pitchFamily="18" charset="0"/>
                <a:ea typeface="黑体" panose="02010609060101010101" pitchFamily="49" charset="-122"/>
                <a:sym typeface="+mn-ea"/>
              </a:rPr>
              <a:t>，输出的码字为</a:t>
            </a:r>
            <a:r>
              <a:rPr lang="en-US" altLang="zh-CN" sz="2000">
                <a:solidFill>
                  <a:srgbClr val="000000"/>
                </a:solidFill>
                <a:latin typeface="Times New Roman" panose="02020603050405020304" pitchFamily="18" charset="0"/>
                <a:ea typeface="黑体" panose="02010609060101010101" pitchFamily="49" charset="-122"/>
                <a:sym typeface="+mn-ea"/>
              </a:rPr>
              <a:t>(11,10,00,01)</a:t>
            </a:r>
            <a:r>
              <a:rPr lang="zh-CN" altLang="en-US" sz="2000">
                <a:solidFill>
                  <a:srgbClr val="000000"/>
                </a:solidFill>
                <a:latin typeface="Times New Roman" panose="02020603050405020304" pitchFamily="18" charset="0"/>
                <a:ea typeface="黑体" panose="02010609060101010101" pitchFamily="49" charset="-122"/>
                <a:sym typeface="+mn-ea"/>
              </a:rPr>
              <a:t>。</a:t>
            </a:r>
            <a:endParaRPr lang="zh-CN" altLang="en-US" sz="2000" dirty="0">
              <a:solidFill>
                <a:srgbClr val="000000"/>
              </a:solidFill>
              <a:latin typeface="Times New Roman" panose="02020603050405020304" pitchFamily="18" charset="0"/>
              <a:ea typeface="黑体" panose="02010609060101010101" pitchFamily="49" charset="-122"/>
              <a:sym typeface="+mn-ea"/>
            </a:endParaRPr>
          </a:p>
        </p:txBody>
      </p:sp>
      <p:pic>
        <p:nvPicPr>
          <p:cNvPr id="50179" name="图片 50180"/>
          <p:cNvPicPr>
            <a:picLocks noChangeAspect="1"/>
          </p:cNvPicPr>
          <p:nvPr/>
        </p:nvPicPr>
        <p:blipFill>
          <a:blip r:embed="rId2"/>
          <a:stretch>
            <a:fillRect/>
          </a:stretch>
        </p:blipFill>
        <p:spPr>
          <a:xfrm>
            <a:off x="3581400" y="2738120"/>
            <a:ext cx="5259070" cy="2980690"/>
          </a:xfrm>
          <a:prstGeom prst="rect">
            <a:avLst/>
          </a:prstGeom>
          <a:noFill/>
          <a:ln w="9525">
            <a:noFill/>
          </a:ln>
        </p:spPr>
      </p:pic>
      <p:sp>
        <p:nvSpPr>
          <p:cNvPr id="4" name="文本框 188471"/>
          <p:cNvSpPr txBox="1"/>
          <p:nvPr/>
        </p:nvSpPr>
        <p:spPr>
          <a:xfrm>
            <a:off x="4060826" y="5848985"/>
            <a:ext cx="4432935" cy="368300"/>
          </a:xfrm>
          <a:prstGeom prst="rect">
            <a:avLst/>
          </a:prstGeom>
          <a:noFill/>
          <a:ln w="9525">
            <a:noFill/>
          </a:ln>
        </p:spPr>
        <p:txBody>
          <a:bodyPr wrap="square" anchor="t" anchorCtr="0">
            <a:spAutoFit/>
          </a:bodyPr>
          <a:lstStyle/>
          <a:p>
            <a:pPr eaLnBrk="0" fontAlgn="base" hangingPunct="0">
              <a:spcBef>
                <a:spcPct val="50000"/>
              </a:spcBef>
              <a:spcAft>
                <a:spcPct val="0"/>
              </a:spcAft>
            </a:pPr>
            <a:r>
              <a:rPr lang="zh-CN" altLang="en-US" dirty="0">
                <a:solidFill>
                  <a:srgbClr val="000000"/>
                </a:solidFill>
                <a:latin typeface="黑体" panose="02010609060101010101" pitchFamily="49" charset="-122"/>
                <a:ea typeface="黑体" panose="02010609060101010101" pitchFamily="49" charset="-122"/>
              </a:rPr>
              <a:t>图</a:t>
            </a:r>
            <a:r>
              <a:rPr lang="en-US" altLang="zh-CN">
                <a:solidFill>
                  <a:srgbClr val="000000"/>
                </a:solidFill>
                <a:latin typeface="Times New Roman" panose="02020603050405020304" pitchFamily="18" charset="0"/>
                <a:ea typeface="黑体" panose="02010609060101010101" pitchFamily="49" charset="-122"/>
              </a:rPr>
              <a:t>6.4  </a:t>
            </a:r>
            <a:r>
              <a:rPr lang="zh-CN" altLang="en-US" dirty="0">
                <a:solidFill>
                  <a:srgbClr val="000000"/>
                </a:solidFill>
                <a:latin typeface="Times New Roman" panose="02020603050405020304" pitchFamily="18" charset="0"/>
                <a:ea typeface="黑体" panose="02010609060101010101" pitchFamily="49" charset="-122"/>
              </a:rPr>
              <a:t>图</a:t>
            </a:r>
            <a:r>
              <a:rPr lang="en-US" altLang="zh-CN">
                <a:solidFill>
                  <a:srgbClr val="000000"/>
                </a:solidFill>
                <a:latin typeface="Times New Roman" panose="02020603050405020304" pitchFamily="18" charset="0"/>
                <a:ea typeface="黑体" panose="02010609060101010101" pitchFamily="49" charset="-122"/>
              </a:rPr>
              <a:t>6.1</a:t>
            </a:r>
            <a:r>
              <a:rPr lang="zh-CN" altLang="en-US" dirty="0">
                <a:solidFill>
                  <a:srgbClr val="000000"/>
                </a:solidFill>
                <a:latin typeface="Times New Roman" panose="02020603050405020304" pitchFamily="18" charset="0"/>
                <a:ea typeface="黑体" panose="02010609060101010101" pitchFamily="49" charset="-122"/>
              </a:rPr>
              <a:t>卷积码的电路图对应的状态图</a:t>
            </a:r>
          </a:p>
        </p:txBody>
      </p:sp>
      <p:pic>
        <p:nvPicPr>
          <p:cNvPr id="51203" name="图片 51204"/>
          <p:cNvPicPr>
            <a:picLocks noChangeAspect="1"/>
          </p:cNvPicPr>
          <p:nvPr/>
        </p:nvPicPr>
        <p:blipFill>
          <a:blip r:embed="rId3"/>
          <a:stretch>
            <a:fillRect/>
          </a:stretch>
        </p:blipFill>
        <p:spPr>
          <a:xfrm>
            <a:off x="3505200" y="2585720"/>
            <a:ext cx="5562600" cy="30861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32580" y="104775"/>
            <a:ext cx="6268720" cy="685800"/>
          </a:xfrm>
        </p:spPr>
        <p:txBody>
          <a:bodyPr/>
          <a:lstStyle/>
          <a:p>
            <a:r>
              <a:rPr sz="2800">
                <a:ea typeface="黑体" panose="02010609060101010101" pitchFamily="49" charset="-122"/>
                <a:sym typeface="+mn-ea"/>
              </a:rPr>
              <a:t>卷积码的Trellis图表示法</a:t>
            </a:r>
          </a:p>
        </p:txBody>
      </p:sp>
      <p:sp>
        <p:nvSpPr>
          <p:cNvPr id="48131" name="文本框 188471"/>
          <p:cNvSpPr txBox="1"/>
          <p:nvPr/>
        </p:nvSpPr>
        <p:spPr>
          <a:xfrm>
            <a:off x="1842771" y="5793106"/>
            <a:ext cx="4667885" cy="337185"/>
          </a:xfrm>
          <a:prstGeom prst="rect">
            <a:avLst/>
          </a:prstGeom>
          <a:noFill/>
          <a:ln w="9525">
            <a:noFill/>
          </a:ln>
        </p:spPr>
        <p:txBody>
          <a:bodyPr wrap="square" anchor="t" anchorCtr="0">
            <a:spAutoFit/>
          </a:bodyPr>
          <a:lstStyle/>
          <a:p>
            <a:pPr eaLnBrk="0" fontAlgn="base" hangingPunct="0">
              <a:spcBef>
                <a:spcPct val="50000"/>
              </a:spcBef>
              <a:spcAft>
                <a:spcPct val="0"/>
              </a:spcAft>
            </a:pPr>
            <a:r>
              <a:rPr lang="zh-CN" altLang="en-US" sz="1600" dirty="0">
                <a:solidFill>
                  <a:srgbClr val="000000"/>
                </a:solidFill>
                <a:latin typeface="黑体" panose="02010609060101010101" pitchFamily="49" charset="-122"/>
                <a:ea typeface="黑体" panose="02010609060101010101" pitchFamily="49" charset="-122"/>
                <a:sym typeface="+mn-ea"/>
              </a:rPr>
              <a:t>图</a:t>
            </a:r>
            <a:r>
              <a:rPr lang="en-US" altLang="zh-CN" sz="1600">
                <a:solidFill>
                  <a:srgbClr val="000000"/>
                </a:solidFill>
                <a:latin typeface="Times New Roman" panose="02020603050405020304" pitchFamily="18" charset="0"/>
                <a:ea typeface="黑体" panose="02010609060101010101" pitchFamily="49" charset="-122"/>
                <a:sym typeface="+mn-ea"/>
              </a:rPr>
              <a:t>6.6  </a:t>
            </a:r>
            <a:r>
              <a:rPr lang="zh-CN" altLang="en-US" sz="1600" dirty="0">
                <a:solidFill>
                  <a:srgbClr val="000000"/>
                </a:solidFill>
                <a:latin typeface="Times New Roman" panose="02020603050405020304" pitchFamily="18" charset="0"/>
                <a:ea typeface="黑体" panose="02010609060101010101" pitchFamily="49" charset="-122"/>
                <a:sym typeface="+mn-ea"/>
              </a:rPr>
              <a:t>图</a:t>
            </a:r>
            <a:r>
              <a:rPr lang="en-US" altLang="zh-CN" sz="1600">
                <a:solidFill>
                  <a:srgbClr val="000000"/>
                </a:solidFill>
                <a:latin typeface="Times New Roman" panose="02020603050405020304" pitchFamily="18" charset="0"/>
                <a:ea typeface="黑体" panose="02010609060101010101" pitchFamily="49" charset="-122"/>
                <a:sym typeface="+mn-ea"/>
              </a:rPr>
              <a:t>6.1</a:t>
            </a:r>
            <a:r>
              <a:rPr lang="zh-CN" altLang="en-US" sz="1600" dirty="0">
                <a:solidFill>
                  <a:srgbClr val="000000"/>
                </a:solidFill>
                <a:latin typeface="Times New Roman" panose="02020603050405020304" pitchFamily="18" charset="0"/>
                <a:ea typeface="黑体" panose="02010609060101010101" pitchFamily="49" charset="-122"/>
                <a:sym typeface="+mn-ea"/>
              </a:rPr>
              <a:t>卷积码的电路图对应的</a:t>
            </a:r>
            <a:r>
              <a:rPr lang="en-US" altLang="zh-CN" sz="1600">
                <a:solidFill>
                  <a:srgbClr val="000000"/>
                </a:solidFill>
                <a:latin typeface="Times New Roman" panose="02020603050405020304" pitchFamily="18" charset="0"/>
                <a:ea typeface="黑体" panose="02010609060101010101" pitchFamily="49" charset="-122"/>
                <a:sym typeface="+mn-ea"/>
              </a:rPr>
              <a:t>Trellis</a:t>
            </a:r>
            <a:r>
              <a:rPr lang="zh-CN" altLang="en-US" sz="1600" dirty="0">
                <a:solidFill>
                  <a:srgbClr val="000000"/>
                </a:solidFill>
                <a:latin typeface="Times New Roman" panose="02020603050405020304" pitchFamily="18" charset="0"/>
                <a:ea typeface="黑体" panose="02010609060101010101" pitchFamily="49" charset="-122"/>
                <a:sym typeface="+mn-ea"/>
              </a:rPr>
              <a:t>图和图例</a:t>
            </a:r>
          </a:p>
        </p:txBody>
      </p:sp>
      <p:sp>
        <p:nvSpPr>
          <p:cNvPr id="10" name="文本框 9"/>
          <p:cNvSpPr txBox="1"/>
          <p:nvPr/>
        </p:nvSpPr>
        <p:spPr>
          <a:xfrm>
            <a:off x="1860550" y="764541"/>
            <a:ext cx="8446770" cy="1065613"/>
          </a:xfrm>
          <a:prstGeom prst="rect">
            <a:avLst/>
          </a:prstGeom>
          <a:noFill/>
        </p:spPr>
        <p:txBody>
          <a:bodyPr wrap="square" rtlCol="0" anchor="t">
            <a:spAutoFit/>
          </a:bodyPr>
          <a:lstStyle/>
          <a:p>
            <a:pPr indent="711200" eaLnBrk="0" fontAlgn="base" hangingPunct="0">
              <a:lnSpc>
                <a:spcPct val="140000"/>
              </a:lnSpc>
              <a:spcBef>
                <a:spcPct val="0"/>
              </a:spcBef>
              <a:spcAft>
                <a:spcPct val="0"/>
              </a:spcAft>
              <a:buClr>
                <a:srgbClr val="CCCCFF"/>
              </a:buClr>
              <a:buSzPct val="65000"/>
            </a:pPr>
            <a:r>
              <a:rPr lang="en-US" altLang="zh-CN" sz="2400">
                <a:solidFill>
                  <a:srgbClr val="000000"/>
                </a:solidFill>
                <a:latin typeface="Times New Roman" panose="02020603050405020304" pitchFamily="18" charset="0"/>
                <a:ea typeface="黑体" panose="02010609060101010101" pitchFamily="49" charset="-122"/>
                <a:sym typeface="+mn-ea"/>
              </a:rPr>
              <a:t>Trellis</a:t>
            </a:r>
            <a:r>
              <a:rPr lang="zh-CN" altLang="en-US" sz="2400" dirty="0">
                <a:solidFill>
                  <a:srgbClr val="000000"/>
                </a:solidFill>
                <a:latin typeface="Times New Roman" panose="02020603050405020304" pitchFamily="18" charset="0"/>
                <a:ea typeface="黑体" panose="02010609060101010101" pitchFamily="49" charset="-122"/>
                <a:sym typeface="+mn-ea"/>
              </a:rPr>
              <a:t>图经常伴随一个图例</a:t>
            </a:r>
            <a:r>
              <a:rPr lang="en-US" altLang="zh-CN" sz="2400">
                <a:solidFill>
                  <a:srgbClr val="000000"/>
                </a:solidFill>
                <a:latin typeface="Times New Roman" panose="02020603050405020304" pitchFamily="18" charset="0"/>
                <a:ea typeface="黑体" panose="02010609060101010101" pitchFamily="49" charset="-122"/>
                <a:sym typeface="+mn-ea"/>
              </a:rPr>
              <a:t>(Legend)</a:t>
            </a:r>
            <a:r>
              <a:rPr lang="zh-CN" altLang="en-US" sz="2400" dirty="0">
                <a:solidFill>
                  <a:srgbClr val="000000"/>
                </a:solidFill>
                <a:latin typeface="Times New Roman" panose="02020603050405020304" pitchFamily="18" charset="0"/>
                <a:ea typeface="黑体" panose="02010609060101010101" pitchFamily="49" charset="-122"/>
                <a:sym typeface="+mn-ea"/>
              </a:rPr>
              <a:t>，给出状态的转换以及对应的输入输出</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zh-CN" altLang="en-US" sz="2400" dirty="0">
                <a:solidFill>
                  <a:srgbClr val="000000"/>
                </a:solidFill>
                <a:latin typeface="Times New Roman" panose="02020603050405020304" pitchFamily="18" charset="0"/>
                <a:ea typeface="黑体" panose="02010609060101010101" pitchFamily="49" charset="-122"/>
                <a:sym typeface="+mn-ea"/>
              </a:rPr>
              <a:t>等</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graphicFrame>
        <p:nvGraphicFramePr>
          <p:cNvPr id="5" name="对象 4"/>
          <p:cNvGraphicFramePr/>
          <p:nvPr/>
        </p:nvGraphicFramePr>
        <p:xfrm>
          <a:off x="1981201" y="2740661"/>
          <a:ext cx="4467225" cy="2624455"/>
        </p:xfrm>
        <a:graphic>
          <a:graphicData uri="http://schemas.openxmlformats.org/presentationml/2006/ole">
            <mc:AlternateContent xmlns:mc="http://schemas.openxmlformats.org/markup-compatibility/2006">
              <mc:Choice xmlns:v="urn:schemas-microsoft-com:vml" Requires="v">
                <p:oleObj r:id="rId2" imgW="4464050" imgH="2622550" progId="Paint.Picture">
                  <p:embed/>
                </p:oleObj>
              </mc:Choice>
              <mc:Fallback>
                <p:oleObj r:id="rId2" imgW="4464050" imgH="2622550" progId="Paint.Picture">
                  <p:embed/>
                  <p:pic>
                    <p:nvPicPr>
                      <p:cNvPr id="5" name="对象 4"/>
                      <p:cNvPicPr/>
                      <p:nvPr/>
                    </p:nvPicPr>
                    <p:blipFill>
                      <a:blip r:embed="rId3"/>
                      <a:stretch>
                        <a:fillRect/>
                      </a:stretch>
                    </p:blipFill>
                    <p:spPr>
                      <a:xfrm>
                        <a:off x="1981201" y="2740661"/>
                        <a:ext cx="4467225" cy="2624455"/>
                      </a:xfrm>
                      <a:prstGeom prst="rect">
                        <a:avLst/>
                      </a:prstGeom>
                    </p:spPr>
                  </p:pic>
                </p:oleObj>
              </mc:Fallback>
            </mc:AlternateContent>
          </a:graphicData>
        </a:graphic>
      </p:graphicFrame>
      <p:pic>
        <p:nvPicPr>
          <p:cNvPr id="54275" name="图片 54276"/>
          <p:cNvPicPr>
            <a:picLocks noChangeAspect="1"/>
          </p:cNvPicPr>
          <p:nvPr/>
        </p:nvPicPr>
        <p:blipFill>
          <a:blip r:embed="rId4"/>
          <a:stretch>
            <a:fillRect/>
          </a:stretch>
        </p:blipFill>
        <p:spPr>
          <a:xfrm>
            <a:off x="1750060" y="2664461"/>
            <a:ext cx="4928870" cy="3013075"/>
          </a:xfrm>
          <a:prstGeom prst="rect">
            <a:avLst/>
          </a:prstGeom>
          <a:noFill/>
          <a:ln w="9525">
            <a:noFill/>
          </a:ln>
        </p:spPr>
      </p:pic>
      <p:grpSp>
        <p:nvGrpSpPr>
          <p:cNvPr id="11" name="组合 10"/>
          <p:cNvGrpSpPr/>
          <p:nvPr/>
        </p:nvGrpSpPr>
        <p:grpSpPr>
          <a:xfrm>
            <a:off x="6450330" y="1524001"/>
            <a:ext cx="3976370" cy="3496945"/>
            <a:chOff x="7878" y="2975"/>
            <a:chExt cx="6262" cy="5507"/>
          </a:xfrm>
        </p:grpSpPr>
        <p:graphicFrame>
          <p:nvGraphicFramePr>
            <p:cNvPr id="7" name="对象 6"/>
            <p:cNvGraphicFramePr/>
            <p:nvPr/>
          </p:nvGraphicFramePr>
          <p:xfrm>
            <a:off x="8280" y="2975"/>
            <a:ext cx="5700" cy="4254"/>
          </p:xfrm>
          <a:graphic>
            <a:graphicData uri="http://schemas.openxmlformats.org/presentationml/2006/ole">
              <mc:AlternateContent xmlns:mc="http://schemas.openxmlformats.org/markup-compatibility/2006">
                <mc:Choice xmlns:v="urn:schemas-microsoft-com:vml" Requires="v">
                  <p:oleObj r:id="rId5" imgW="5499100" imgH="3917950" progId="Paint.Picture">
                    <p:embed/>
                  </p:oleObj>
                </mc:Choice>
                <mc:Fallback>
                  <p:oleObj r:id="rId5" imgW="5499100" imgH="3917950" progId="Paint.Picture">
                    <p:embed/>
                    <p:pic>
                      <p:nvPicPr>
                        <p:cNvPr id="7" name="对象 6"/>
                        <p:cNvPicPr/>
                        <p:nvPr/>
                      </p:nvPicPr>
                      <p:blipFill>
                        <a:blip r:embed="rId6"/>
                        <a:stretch>
                          <a:fillRect/>
                        </a:stretch>
                      </p:blipFill>
                      <p:spPr>
                        <a:xfrm>
                          <a:off x="8280" y="2975"/>
                          <a:ext cx="5700" cy="4254"/>
                        </a:xfrm>
                        <a:prstGeom prst="rect">
                          <a:avLst/>
                        </a:prstGeom>
                      </p:spPr>
                    </p:pic>
                  </p:oleObj>
                </mc:Fallback>
              </mc:AlternateContent>
            </a:graphicData>
          </a:graphic>
        </p:graphicFrame>
        <p:sp>
          <p:nvSpPr>
            <p:cNvPr id="9" name="文本框 188471"/>
            <p:cNvSpPr txBox="1"/>
            <p:nvPr/>
          </p:nvSpPr>
          <p:spPr>
            <a:xfrm>
              <a:off x="7878" y="7466"/>
              <a:ext cx="6263" cy="1016"/>
            </a:xfrm>
            <a:prstGeom prst="rect">
              <a:avLst/>
            </a:prstGeom>
            <a:noFill/>
            <a:ln w="9525">
              <a:noFill/>
            </a:ln>
          </p:spPr>
          <p:txBody>
            <a:bodyPr wrap="square" anchor="t" anchorCtr="0">
              <a:spAutoFit/>
            </a:bodyPr>
            <a:lstStyle/>
            <a:p>
              <a:pPr algn="ctr" eaLnBrk="0" fontAlgn="base" hangingPunct="0">
                <a:spcBef>
                  <a:spcPct val="50000"/>
                </a:spcBef>
                <a:spcAft>
                  <a:spcPct val="0"/>
                </a:spcAft>
              </a:pPr>
              <a:r>
                <a:rPr lang="zh-CN" altLang="en-US" dirty="0">
                  <a:solidFill>
                    <a:srgbClr val="000000"/>
                  </a:solidFill>
                  <a:latin typeface="黑体" panose="02010609060101010101" pitchFamily="49" charset="-122"/>
                  <a:ea typeface="黑体" panose="02010609060101010101" pitchFamily="49" charset="-122"/>
                </a:rPr>
                <a:t>图</a:t>
              </a:r>
              <a:r>
                <a:rPr lang="en-US" altLang="zh-CN">
                  <a:solidFill>
                    <a:srgbClr val="000000"/>
                  </a:solidFill>
                  <a:latin typeface="Times New Roman" panose="02020603050405020304" pitchFamily="18" charset="0"/>
                  <a:ea typeface="黑体" panose="02010609060101010101" pitchFamily="49" charset="-122"/>
                </a:rPr>
                <a:t>6.7  </a:t>
              </a:r>
              <a:r>
                <a:rPr lang="zh-CN" altLang="en-US" dirty="0">
                  <a:solidFill>
                    <a:srgbClr val="000000"/>
                  </a:solidFill>
                  <a:latin typeface="Times New Roman" panose="02020603050405020304" pitchFamily="18" charset="0"/>
                  <a:ea typeface="黑体" panose="02010609060101010101" pitchFamily="49" charset="-122"/>
                </a:rPr>
                <a:t>输入为</a:t>
              </a:r>
              <a:r>
                <a:rPr lang="en-US" altLang="zh-CN">
                  <a:solidFill>
                    <a:srgbClr val="000000"/>
                  </a:solidFill>
                  <a:latin typeface="Times New Roman" panose="02020603050405020304" pitchFamily="18" charset="0"/>
                  <a:ea typeface="黑体" panose="02010609060101010101" pitchFamily="49" charset="-122"/>
                </a:rPr>
                <a:t>(1011)</a:t>
              </a:r>
              <a:r>
                <a:rPr lang="zh-CN" altLang="en-US" dirty="0">
                  <a:solidFill>
                    <a:srgbClr val="000000"/>
                  </a:solidFill>
                  <a:latin typeface="Times New Roman" panose="02020603050405020304" pitchFamily="18" charset="0"/>
                  <a:ea typeface="黑体" panose="02010609060101010101" pitchFamily="49" charset="-122"/>
                </a:rPr>
                <a:t>时图</a:t>
              </a:r>
              <a:r>
                <a:rPr lang="en-US" altLang="zh-CN">
                  <a:solidFill>
                    <a:srgbClr val="000000"/>
                  </a:solidFill>
                  <a:latin typeface="Times New Roman" panose="02020603050405020304" pitchFamily="18" charset="0"/>
                  <a:ea typeface="黑体" panose="02010609060101010101" pitchFamily="49" charset="-122"/>
                </a:rPr>
                <a:t>6.1</a:t>
              </a:r>
              <a:r>
                <a:rPr lang="zh-CN" altLang="en-US" dirty="0">
                  <a:solidFill>
                    <a:srgbClr val="000000"/>
                  </a:solidFill>
                  <a:latin typeface="Times New Roman" panose="02020603050405020304" pitchFamily="18" charset="0"/>
                  <a:ea typeface="黑体" panose="02010609060101010101" pitchFamily="49" charset="-122"/>
                </a:rPr>
                <a:t>卷积码电路图对应的</a:t>
              </a:r>
              <a:r>
                <a:rPr lang="en-US" altLang="zh-CN">
                  <a:solidFill>
                    <a:srgbClr val="000000"/>
                  </a:solidFill>
                  <a:latin typeface="Times New Roman" panose="02020603050405020304" pitchFamily="18" charset="0"/>
                  <a:ea typeface="黑体" panose="02010609060101010101" pitchFamily="49" charset="-122"/>
                </a:rPr>
                <a:t>Trellis</a:t>
              </a:r>
              <a:r>
                <a:rPr lang="zh-CN" altLang="en-US" dirty="0">
                  <a:solidFill>
                    <a:srgbClr val="000000"/>
                  </a:solidFill>
                  <a:latin typeface="Times New Roman" panose="02020603050405020304" pitchFamily="18" charset="0"/>
                  <a:ea typeface="黑体" panose="02010609060101010101" pitchFamily="49" charset="-122"/>
                </a:rPr>
                <a:t>路径</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7136" y="104775"/>
            <a:ext cx="4114165" cy="685800"/>
          </a:xfrm>
        </p:spPr>
        <p:txBody>
          <a:bodyPr/>
          <a:lstStyle/>
          <a:p>
            <a:r>
              <a:rPr sz="2800">
                <a:ea typeface="黑体" panose="02010609060101010101" pitchFamily="49" charset="-122"/>
                <a:sym typeface="+mn-ea"/>
              </a:rPr>
              <a:t>维特比(Viterbi)译码系统</a:t>
            </a:r>
          </a:p>
        </p:txBody>
      </p:sp>
      <p:sp>
        <p:nvSpPr>
          <p:cNvPr id="48131" name="文本框 188471"/>
          <p:cNvSpPr txBox="1"/>
          <p:nvPr/>
        </p:nvSpPr>
        <p:spPr>
          <a:xfrm>
            <a:off x="4185286" y="5566410"/>
            <a:ext cx="4276725" cy="398780"/>
          </a:xfrm>
          <a:prstGeom prst="rect">
            <a:avLst/>
          </a:prstGeom>
          <a:noFill/>
          <a:ln w="9525">
            <a:noFill/>
          </a:ln>
        </p:spPr>
        <p:txBody>
          <a:bodyPr wrap="square" anchor="t" anchorCtr="0">
            <a:spAutoFit/>
          </a:bodyPr>
          <a:lstStyle/>
          <a:p>
            <a:pPr eaLnBrk="0" fontAlgn="base" hangingPunct="0">
              <a:spcBef>
                <a:spcPct val="50000"/>
              </a:spcBef>
              <a:spcAft>
                <a:spcPct val="0"/>
              </a:spcAft>
            </a:pPr>
            <a:r>
              <a:rPr lang="zh-CN" altLang="en-US" sz="2000" dirty="0">
                <a:solidFill>
                  <a:srgbClr val="000000"/>
                </a:solidFill>
                <a:latin typeface="黑体" panose="02010609060101010101" pitchFamily="49" charset="-122"/>
                <a:ea typeface="黑体" panose="02010609060101010101" pitchFamily="49" charset="-122"/>
                <a:sym typeface="+mn-ea"/>
              </a:rPr>
              <a:t>图</a:t>
            </a:r>
            <a:r>
              <a:rPr lang="en-US" altLang="zh-CN" sz="2000">
                <a:solidFill>
                  <a:srgbClr val="000000"/>
                </a:solidFill>
                <a:latin typeface="Times New Roman" panose="02020603050405020304" pitchFamily="18" charset="0"/>
                <a:ea typeface="黑体" panose="02010609060101010101" pitchFamily="49" charset="-122"/>
                <a:sym typeface="+mn-ea"/>
              </a:rPr>
              <a:t>6.8  </a:t>
            </a:r>
            <a:r>
              <a:rPr lang="zh-CN" altLang="en-US" sz="2000" dirty="0">
                <a:solidFill>
                  <a:srgbClr val="000000"/>
                </a:solidFill>
                <a:latin typeface="Times New Roman" panose="02020603050405020304" pitchFamily="18" charset="0"/>
                <a:ea typeface="黑体" panose="02010609060101010101" pitchFamily="49" charset="-122"/>
                <a:sym typeface="+mn-ea"/>
              </a:rPr>
              <a:t>卷积码编码及</a:t>
            </a:r>
            <a:r>
              <a:rPr lang="en-US" altLang="zh-CN" sz="2000" err="1">
                <a:solidFill>
                  <a:srgbClr val="000000"/>
                </a:solidFill>
                <a:latin typeface="Times New Roman" panose="02020603050405020304" pitchFamily="18" charset="0"/>
                <a:ea typeface="黑体" panose="02010609060101010101" pitchFamily="49" charset="-122"/>
                <a:sym typeface="+mn-ea"/>
              </a:rPr>
              <a:t>Viterbi</a:t>
            </a:r>
            <a:r>
              <a:rPr lang="zh-CN" altLang="en-US" sz="2000" dirty="0">
                <a:solidFill>
                  <a:srgbClr val="000000"/>
                </a:solidFill>
                <a:latin typeface="Times New Roman" panose="02020603050405020304" pitchFamily="18" charset="0"/>
                <a:ea typeface="黑体" panose="02010609060101010101" pitchFamily="49" charset="-122"/>
                <a:sym typeface="+mn-ea"/>
              </a:rPr>
              <a:t>译码系统</a:t>
            </a:r>
          </a:p>
        </p:txBody>
      </p:sp>
      <p:sp>
        <p:nvSpPr>
          <p:cNvPr id="10" name="文本框 9"/>
          <p:cNvSpPr txBox="1"/>
          <p:nvPr/>
        </p:nvSpPr>
        <p:spPr>
          <a:xfrm>
            <a:off x="1860550" y="1142366"/>
            <a:ext cx="8446770" cy="1641475"/>
          </a:xfrm>
          <a:prstGeom prst="rect">
            <a:avLst/>
          </a:prstGeom>
          <a:noFill/>
        </p:spPr>
        <p:txBody>
          <a:bodyPr wrap="square" rtlCol="0" anchor="t">
            <a:spAutoFit/>
          </a:bodyPr>
          <a:lstStyle/>
          <a:p>
            <a:pPr indent="711200" eaLnBrk="0" fontAlgn="base" hangingPunct="0">
              <a:lnSpc>
                <a:spcPct val="140000"/>
              </a:lnSpc>
              <a:spcBef>
                <a:spcPct val="0"/>
              </a:spcBef>
              <a:spcAft>
                <a:spcPct val="0"/>
              </a:spcAft>
              <a:buClr>
                <a:srgbClr val="CCCCFF"/>
              </a:buClr>
              <a:buSzPct val="65000"/>
            </a:pP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卷积码</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如输入序列为</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zh-CN" altLang="en-US" sz="2400" dirty="0">
                <a:solidFill>
                  <a:srgbClr val="000000"/>
                </a:solidFill>
                <a:latin typeface="Times New Roman" panose="02020603050405020304" pitchFamily="18" charset="0"/>
                <a:ea typeface="黑体" panose="02010609060101010101" pitchFamily="49" charset="-122"/>
                <a:sym typeface="+mn-ea"/>
              </a:rPr>
              <a:t>，输出码字为</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zh-CN" altLang="en-US" sz="2400" dirty="0">
                <a:solidFill>
                  <a:srgbClr val="000000"/>
                </a:solidFill>
                <a:latin typeface="Times New Roman" panose="02020603050405020304" pitchFamily="18" charset="0"/>
                <a:ea typeface="黑体" panose="02010609060101010101" pitchFamily="49" charset="-122"/>
                <a:sym typeface="+mn-ea"/>
              </a:rPr>
              <a:t>，经过有噪声的信号传输后，得到接收序列</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zh-CN" altLang="en-US" sz="2400" dirty="0">
                <a:solidFill>
                  <a:srgbClr val="000000"/>
                </a:solidFill>
                <a:latin typeface="Times New Roman" panose="02020603050405020304" pitchFamily="18" charset="0"/>
                <a:ea typeface="黑体" panose="02010609060101010101" pitchFamily="49" charset="-122"/>
                <a:sym typeface="+mn-ea"/>
              </a:rPr>
              <a:t>，然后经过</a:t>
            </a:r>
            <a:r>
              <a:rPr lang="en-US" altLang="zh-CN" sz="2400" err="1">
                <a:solidFill>
                  <a:srgbClr val="000000"/>
                </a:solidFill>
                <a:latin typeface="Times New Roman" panose="02020603050405020304" pitchFamily="18" charset="0"/>
                <a:ea typeface="黑体" panose="02010609060101010101" pitchFamily="49" charset="-122"/>
                <a:sym typeface="+mn-ea"/>
              </a:rPr>
              <a:t>Viterbi</a:t>
            </a:r>
            <a:r>
              <a:rPr lang="zh-CN" altLang="en-US" sz="2400" dirty="0">
                <a:solidFill>
                  <a:srgbClr val="000000"/>
                </a:solidFill>
                <a:latin typeface="Times New Roman" panose="02020603050405020304" pitchFamily="18" charset="0"/>
                <a:ea typeface="黑体" panose="02010609060101010101" pitchFamily="49" charset="-122"/>
                <a:sym typeface="+mn-ea"/>
              </a:rPr>
              <a:t>译码器，得到序列</a:t>
            </a:r>
            <a:r>
              <a:rPr lang="en-US" altLang="zh-CN" sz="2400" i="1">
                <a:solidFill>
                  <a:srgbClr val="000000"/>
                </a:solidFill>
                <a:latin typeface="Times New Roman" panose="02020603050405020304" pitchFamily="18" charset="0"/>
                <a:ea typeface="黑体" panose="02010609060101010101" pitchFamily="49" charset="-122"/>
                <a:sym typeface="+mn-ea"/>
              </a:rPr>
              <a:t>y</a:t>
            </a:r>
            <a:r>
              <a:rPr lang="zh-CN" altLang="en-US" sz="2400" b="1">
                <a:solidFill>
                  <a:srgbClr val="000000"/>
                </a:solidFill>
                <a:latin typeface="Times New Roman" panose="02020603050405020304" pitchFamily="18" charset="0"/>
                <a:ea typeface="黑体" panose="02010609060101010101" pitchFamily="49" charset="-122"/>
                <a:sym typeface="+mn-ea"/>
              </a:rPr>
              <a:t>。</a:t>
            </a:r>
            <a:endParaRPr lang="zh-CN" altLang="en-US" sz="2400" b="1" dirty="0">
              <a:solidFill>
                <a:srgbClr val="000000"/>
              </a:solidFill>
              <a:latin typeface="Times New Roman" panose="02020603050405020304" pitchFamily="18" charset="0"/>
              <a:ea typeface="黑体" panose="02010609060101010101" pitchFamily="49" charset="-122"/>
              <a:sym typeface="+mn-ea"/>
            </a:endParaRPr>
          </a:p>
        </p:txBody>
      </p:sp>
      <p:pic>
        <p:nvPicPr>
          <p:cNvPr id="55299" name="图片 55299"/>
          <p:cNvPicPr>
            <a:picLocks noChangeAspect="1"/>
          </p:cNvPicPr>
          <p:nvPr/>
        </p:nvPicPr>
        <p:blipFill>
          <a:blip r:embed="rId2"/>
          <a:stretch>
            <a:fillRect/>
          </a:stretch>
        </p:blipFill>
        <p:spPr>
          <a:xfrm>
            <a:off x="2285683" y="3276600"/>
            <a:ext cx="7816850" cy="2101850"/>
          </a:xfrm>
          <a:prstGeom prst="rect">
            <a:avLst/>
          </a:prstGeom>
          <a:noFill/>
          <a:ln w="9525">
            <a:noFill/>
          </a:ln>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72860" y="104775"/>
            <a:ext cx="4028440" cy="685800"/>
          </a:xfrm>
        </p:spPr>
        <p:txBody>
          <a:bodyPr/>
          <a:lstStyle/>
          <a:p>
            <a:r>
              <a:rPr sz="2800">
                <a:ea typeface="黑体" panose="02010609060101010101" pitchFamily="49" charset="-122"/>
                <a:sym typeface="+mn-ea"/>
              </a:rPr>
              <a:t>维特比(Viterbi)译码</a:t>
            </a:r>
            <a:r>
              <a:rPr lang="zh-CN" altLang="en-US" sz="2800">
                <a:ea typeface="黑体" panose="02010609060101010101" pitchFamily="49" charset="-122"/>
                <a:sym typeface="+mn-ea"/>
              </a:rPr>
              <a:t>算法</a:t>
            </a:r>
          </a:p>
        </p:txBody>
      </p:sp>
      <p:sp>
        <p:nvSpPr>
          <p:cNvPr id="10" name="文本框 9"/>
          <p:cNvSpPr txBox="1"/>
          <p:nvPr/>
        </p:nvSpPr>
        <p:spPr>
          <a:xfrm>
            <a:off x="1860550" y="915671"/>
            <a:ext cx="8446770" cy="5367655"/>
          </a:xfrm>
          <a:prstGeom prst="rect">
            <a:avLst/>
          </a:prstGeom>
          <a:noFill/>
        </p:spPr>
        <p:txBody>
          <a:bodyPr wrap="square" rtlCol="0" anchor="t">
            <a:spAutoFit/>
          </a:bodyPr>
          <a:lstStyle/>
          <a:p>
            <a:pPr indent="609600" eaLnBrk="0" fontAlgn="base" hangingPunct="0">
              <a:lnSpc>
                <a:spcPct val="11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en-US" altLang="zh-CN" sz="2400" err="1">
                <a:solidFill>
                  <a:srgbClr val="000000"/>
                </a:solidFill>
                <a:latin typeface="Times New Roman" panose="02020603050405020304" pitchFamily="18" charset="0"/>
                <a:ea typeface="黑体" panose="02010609060101010101" pitchFamily="49" charset="-122"/>
                <a:sym typeface="+mn-ea"/>
              </a:rPr>
              <a:t>Viterbi</a:t>
            </a:r>
            <a:r>
              <a:rPr lang="zh-CN" altLang="en-US" sz="2400" dirty="0">
                <a:solidFill>
                  <a:srgbClr val="000000"/>
                </a:solidFill>
                <a:latin typeface="Times New Roman" panose="02020603050405020304" pitchFamily="18" charset="0"/>
                <a:ea typeface="黑体" panose="02010609060101010101" pitchFamily="49" charset="-122"/>
                <a:sym typeface="+mn-ea"/>
              </a:rPr>
              <a:t>算法计算从接收序列到估值序列</a:t>
            </a:r>
            <a:r>
              <a:rPr lang="en-US" altLang="zh-CN" sz="2400" i="1">
                <a:solidFill>
                  <a:srgbClr val="000000"/>
                </a:solidFill>
                <a:latin typeface="Times New Roman" panose="02020603050405020304" pitchFamily="18" charset="0"/>
                <a:ea typeface="黑体" panose="02010609060101010101" pitchFamily="49" charset="-122"/>
                <a:sym typeface="+mn-ea"/>
              </a:rPr>
              <a:t>y</a:t>
            </a:r>
            <a:r>
              <a:rPr lang="zh-CN" altLang="en-US" sz="2400" dirty="0">
                <a:solidFill>
                  <a:srgbClr val="000000"/>
                </a:solidFill>
                <a:latin typeface="Times New Roman" panose="02020603050405020304" pitchFamily="18" charset="0"/>
                <a:ea typeface="黑体" panose="02010609060101010101" pitchFamily="49" charset="-122"/>
                <a:sym typeface="+mn-ea"/>
              </a:rPr>
              <a:t>的最大似然估计使得</a:t>
            </a:r>
            <a:r>
              <a:rPr lang="en-US" altLang="zh-CN" sz="2400" i="1" err="1">
                <a:solidFill>
                  <a:srgbClr val="000000"/>
                </a:solidFill>
                <a:latin typeface="Times New Roman" panose="02020603050405020304" pitchFamily="18" charset="0"/>
                <a:ea typeface="黑体" panose="02010609060101010101" pitchFamily="49" charset="-122"/>
                <a:sym typeface="+mn-ea"/>
              </a:rPr>
              <a:t>p</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r</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y</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这个条件概率最大</a:t>
            </a:r>
            <a:endParaRPr lang="en-US" altLang="zh-CN" sz="240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1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对于码率为</a:t>
            </a:r>
            <a:r>
              <a:rPr lang="en-US" altLang="zh-CN" sz="2400" i="1">
                <a:solidFill>
                  <a:srgbClr val="000000"/>
                </a:solidFill>
                <a:latin typeface="Times New Roman" panose="02020603050405020304" pitchFamily="18" charset="0"/>
                <a:ea typeface="黑体" panose="02010609060101010101" pitchFamily="49" charset="-122"/>
                <a:sym typeface="+mn-ea"/>
              </a:rPr>
              <a:t>r</a:t>
            </a:r>
            <a:r>
              <a:rPr lang="zh-CN" altLang="en-US" sz="2400" dirty="0">
                <a:solidFill>
                  <a:srgbClr val="000000"/>
                </a:solidFill>
                <a:latin typeface="Times New Roman" panose="02020603050405020304" pitchFamily="18" charset="0"/>
                <a:ea typeface="黑体" panose="02010609060101010101" pitchFamily="49" charset="-122"/>
                <a:sym typeface="+mn-ea"/>
              </a:rPr>
              <a:t>的</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n</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k</a:t>
            </a:r>
            <a:r>
              <a:rPr lang="en-US" altLang="zh-CN" sz="2400" err="1">
                <a:solidFill>
                  <a:srgbClr val="000000"/>
                </a:solidFill>
                <a:latin typeface="Times New Roman" panose="02020603050405020304" pitchFamily="18" charset="0"/>
                <a:ea typeface="黑体" panose="02010609060101010101" pitchFamily="49" charset="-122"/>
                <a:sym typeface="+mn-ea"/>
              </a:rPr>
              <a:t>,</a:t>
            </a:r>
            <a:r>
              <a:rPr lang="en-US" altLang="zh-CN" sz="2400" i="1" err="1">
                <a:solidFill>
                  <a:srgbClr val="000000"/>
                </a:solidFill>
                <a:latin typeface="Times New Roman" panose="02020603050405020304" pitchFamily="18" charset="0"/>
                <a:ea typeface="黑体" panose="02010609060101010101" pitchFamily="49" charset="-122"/>
                <a:sym typeface="+mn-ea"/>
              </a:rPr>
              <a:t>m</a:t>
            </a:r>
            <a:r>
              <a:rPr lang="en-US" altLang="zh-CN" sz="2400">
                <a:solidFill>
                  <a:srgbClr val="00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 卷积码</a:t>
            </a:r>
            <a:r>
              <a:rPr lang="en-US" altLang="zh-CN" sz="2400">
                <a:solidFill>
                  <a:srgbClr val="000000"/>
                </a:solidFill>
                <a:latin typeface="Times New Roman" panose="02020603050405020304" pitchFamily="18" charset="0"/>
                <a:ea typeface="黑体" panose="02010609060101010101" pitchFamily="49" charset="-122"/>
                <a:sym typeface="+mn-ea"/>
              </a:rPr>
              <a:t>, </a:t>
            </a:r>
            <a:r>
              <a:rPr lang="zh-CN" altLang="en-US" sz="2400" dirty="0">
                <a:solidFill>
                  <a:srgbClr val="000000"/>
                </a:solidFill>
                <a:latin typeface="Times New Roman" panose="02020603050405020304" pitchFamily="18" charset="0"/>
                <a:ea typeface="黑体" panose="02010609060101010101" pitchFamily="49" charset="-122"/>
                <a:sym typeface="+mn-ea"/>
              </a:rPr>
              <a:t>输入的信息长度为</a:t>
            </a:r>
            <a:r>
              <a:rPr lang="en-US" altLang="zh-CN" sz="2400" i="1">
                <a:solidFill>
                  <a:srgbClr val="000000"/>
                </a:solidFill>
                <a:latin typeface="Times New Roman" panose="02020603050405020304" pitchFamily="18" charset="0"/>
                <a:ea typeface="黑体" panose="02010609060101010101" pitchFamily="49" charset="-122"/>
                <a:sym typeface="+mn-ea"/>
              </a:rPr>
              <a:t>L</a:t>
            </a:r>
            <a:r>
              <a:rPr lang="zh-CN" altLang="en-US" sz="2400" dirty="0">
                <a:solidFill>
                  <a:srgbClr val="000000"/>
                </a:solidFill>
                <a:latin typeface="Times New Roman" panose="02020603050405020304" pitchFamily="18" charset="0"/>
                <a:ea typeface="黑体" panose="02010609060101010101" pitchFamily="49" charset="-122"/>
                <a:sym typeface="+mn-ea"/>
              </a:rPr>
              <a:t>，则输入序列为</a:t>
            </a:r>
            <a:endParaRPr lang="zh-CN" altLang="en-US" sz="2400" dirty="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1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25000">
                <a:solidFill>
                  <a:srgbClr val="000000"/>
                </a:solidFill>
                <a:latin typeface="Times New Roman" panose="02020603050405020304" pitchFamily="18" charset="0"/>
                <a:ea typeface="黑体" panose="02010609060101010101" pitchFamily="49" charset="-122"/>
                <a:sym typeface="+mn-ea"/>
              </a:rPr>
              <a:t>L</a:t>
            </a:r>
            <a:r>
              <a:rPr lang="en-US" altLang="zh-CN" sz="2400" baseline="-25000">
                <a:solidFill>
                  <a:srgbClr val="000000"/>
                </a:solidFill>
                <a:latin typeface="Times New Roman" panose="02020603050405020304" pitchFamily="18" charset="0"/>
                <a:ea typeface="黑体" panose="02010609060101010101" pitchFamily="49" charset="-122"/>
                <a:sym typeface="+mn-ea"/>
              </a:rPr>
              <a:t>+</a:t>
            </a:r>
            <a:r>
              <a:rPr lang="en-US" altLang="zh-CN" sz="2400" i="1" baseline="-25000">
                <a:solidFill>
                  <a:srgbClr val="000000"/>
                </a:solidFill>
                <a:latin typeface="Times New Roman" panose="02020603050405020304" pitchFamily="18" charset="0"/>
                <a:ea typeface="黑体" panose="02010609060101010101" pitchFamily="49" charset="-122"/>
                <a:sym typeface="+mn-ea"/>
              </a:rPr>
              <a:t>m</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25000">
                <a:solidFill>
                  <a:srgbClr val="000000"/>
                </a:solidFill>
                <a:latin typeface="Times New Roman" panose="02020603050405020304" pitchFamily="18" charset="0"/>
                <a:ea typeface="黑体" panose="02010609060101010101" pitchFamily="49" charset="-122"/>
                <a:sym typeface="+mn-ea"/>
              </a:rPr>
              <a:t>L</a:t>
            </a:r>
            <a:r>
              <a:rPr lang="en-US" altLang="zh-CN" sz="2400" baseline="-25000">
                <a:solidFill>
                  <a:srgbClr val="000000"/>
                </a:solidFill>
                <a:latin typeface="Times New Roman" panose="02020603050405020304" pitchFamily="18" charset="0"/>
                <a:ea typeface="黑体" panose="02010609060101010101" pitchFamily="49" charset="-122"/>
                <a:sym typeface="+mn-ea"/>
              </a:rPr>
              <a:t>+</a:t>
            </a:r>
            <a:r>
              <a:rPr lang="en-US" altLang="zh-CN" sz="2400" i="1" baseline="-25000">
                <a:solidFill>
                  <a:srgbClr val="000000"/>
                </a:solidFill>
                <a:latin typeface="Times New Roman" panose="02020603050405020304" pitchFamily="18" charset="0"/>
                <a:ea typeface="黑体" panose="02010609060101010101" pitchFamily="49" charset="-122"/>
                <a:sym typeface="+mn-ea"/>
              </a:rPr>
              <a:t>m</a:t>
            </a:r>
            <a:r>
              <a:rPr lang="en-US" altLang="zh-CN" sz="2400" baseline="-25000">
                <a:solidFill>
                  <a:srgbClr val="000000"/>
                </a:solidFill>
                <a:latin typeface="Times New Roman" panose="02020603050405020304" pitchFamily="18" charset="0"/>
                <a:ea typeface="黑体" panose="02010609060101010101" pitchFamily="49" charset="-122"/>
                <a:sym typeface="+mn-ea"/>
              </a:rPr>
              <a:t>-1 </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x</a:t>
            </a:r>
            <a:r>
              <a:rPr lang="en-US" altLang="zh-CN" sz="2400" i="1" baseline="-25000">
                <a:solidFill>
                  <a:srgbClr val="000000"/>
                </a:solidFill>
                <a:latin typeface="Times New Roman" panose="02020603050405020304" pitchFamily="18" charset="0"/>
                <a:ea typeface="黑体" panose="02010609060101010101" pitchFamily="49" charset="-122"/>
                <a:sym typeface="+mn-ea"/>
              </a:rPr>
              <a:t>L</a:t>
            </a:r>
            <a:r>
              <a:rPr lang="en-US" altLang="zh-CN" sz="2400" baseline="-25000">
                <a:solidFill>
                  <a:srgbClr val="000000"/>
                </a:solidFill>
                <a:latin typeface="Times New Roman" panose="02020603050405020304" pitchFamily="18" charset="0"/>
                <a:ea typeface="黑体" panose="02010609060101010101" pitchFamily="49" charset="-122"/>
                <a:sym typeface="+mn-ea"/>
              </a:rPr>
              <a:t>+</a:t>
            </a:r>
            <a:r>
              <a:rPr lang="en-US" altLang="zh-CN" sz="2400" i="1" baseline="-25000">
                <a:solidFill>
                  <a:srgbClr val="000000"/>
                </a:solidFill>
                <a:latin typeface="Times New Roman" panose="02020603050405020304" pitchFamily="18" charset="0"/>
                <a:ea typeface="黑体" panose="02010609060101010101" pitchFamily="49" charset="-122"/>
                <a:sym typeface="+mn-ea"/>
              </a:rPr>
              <a:t>m</a:t>
            </a:r>
            <a:r>
              <a:rPr lang="en-US" altLang="zh-CN" sz="2400" baseline="-25000">
                <a:solidFill>
                  <a:srgbClr val="000000"/>
                </a:solidFill>
                <a:latin typeface="Times New Roman" panose="02020603050405020304" pitchFamily="18" charset="0"/>
                <a:ea typeface="黑体" panose="02010609060101010101" pitchFamily="49" charset="-122"/>
                <a:sym typeface="+mn-ea"/>
              </a:rPr>
              <a:t>-1 </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i="1" baseline="30000">
                <a:solidFill>
                  <a:srgbClr val="000000"/>
                </a:solidFill>
                <a:latin typeface="Times New Roman" panose="02020603050405020304" pitchFamily="18" charset="0"/>
                <a:ea typeface="黑体" panose="02010609060101010101" pitchFamily="49" charset="-122"/>
                <a:sym typeface="+mn-ea"/>
              </a:rPr>
              <a:t>k</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endParaRPr lang="en-US" altLang="zh-CN" sz="240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1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对应输出的码字序列为</a:t>
            </a:r>
            <a:endParaRPr lang="zh-CN" altLang="en-US" sz="2400" dirty="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1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baseline="-25000">
                <a:solidFill>
                  <a:srgbClr val="000000"/>
                </a:solidFill>
                <a:latin typeface="Times New Roman" panose="02020603050405020304" pitchFamily="18" charset="0"/>
                <a:ea typeface="黑体" panose="02010609060101010101" pitchFamily="49" charset="-122"/>
                <a:sym typeface="+mn-ea"/>
              </a:rPr>
              <a:t>0</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i="1" baseline="-25000">
                <a:solidFill>
                  <a:srgbClr val="000000"/>
                </a:solidFill>
                <a:latin typeface="Times New Roman" panose="02020603050405020304" pitchFamily="18" charset="0"/>
                <a:ea typeface="黑体" panose="02010609060101010101" pitchFamily="49" charset="-122"/>
                <a:sym typeface="+mn-ea"/>
              </a:rPr>
              <a:t>L</a:t>
            </a:r>
            <a:r>
              <a:rPr lang="en-US" altLang="zh-CN" sz="2400" baseline="-25000">
                <a:solidFill>
                  <a:srgbClr val="000000"/>
                </a:solidFill>
                <a:latin typeface="Times New Roman" panose="02020603050405020304" pitchFamily="18" charset="0"/>
                <a:ea typeface="黑体" panose="02010609060101010101" pitchFamily="49" charset="-122"/>
                <a:sym typeface="+mn-ea"/>
              </a:rPr>
              <a:t>+</a:t>
            </a:r>
            <a:r>
              <a:rPr lang="en-US" altLang="zh-CN" sz="2400" i="1" baseline="-25000">
                <a:solidFill>
                  <a:srgbClr val="000000"/>
                </a:solidFill>
                <a:latin typeface="Times New Roman" panose="02020603050405020304" pitchFamily="18" charset="0"/>
                <a:ea typeface="黑体" panose="02010609060101010101" pitchFamily="49" charset="-122"/>
                <a:sym typeface="+mn-ea"/>
              </a:rPr>
              <a:t>m</a:t>
            </a:r>
            <a:r>
              <a:rPr lang="en-US" altLang="zh-CN" sz="2400" baseline="-25000">
                <a:solidFill>
                  <a:srgbClr val="000000"/>
                </a:solidFill>
                <a:latin typeface="Times New Roman" panose="02020603050405020304" pitchFamily="18" charset="0"/>
                <a:ea typeface="黑体" panose="02010609060101010101" pitchFamily="49" charset="-122"/>
                <a:sym typeface="+mn-ea"/>
              </a:rPr>
              <a:t>-1</a:t>
            </a:r>
            <a:r>
              <a:rPr lang="en-US" altLang="zh-CN" sz="2400" baseline="30000">
                <a:solidFill>
                  <a:srgbClr val="000000"/>
                </a:solidFill>
                <a:latin typeface="Times New Roman" panose="02020603050405020304" pitchFamily="18" charset="0"/>
                <a:ea typeface="黑体" panose="02010609060101010101" pitchFamily="49" charset="-122"/>
                <a:sym typeface="+mn-ea"/>
              </a:rPr>
              <a:t>(1)</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i="1" baseline="-25000">
                <a:solidFill>
                  <a:srgbClr val="000000"/>
                </a:solidFill>
                <a:latin typeface="Times New Roman" panose="02020603050405020304" pitchFamily="18" charset="0"/>
                <a:ea typeface="黑体" panose="02010609060101010101" pitchFamily="49" charset="-122"/>
                <a:sym typeface="+mn-ea"/>
              </a:rPr>
              <a:t>L</a:t>
            </a:r>
            <a:r>
              <a:rPr lang="en-US" altLang="zh-CN" sz="2400" baseline="-25000">
                <a:solidFill>
                  <a:srgbClr val="000000"/>
                </a:solidFill>
                <a:latin typeface="Times New Roman" panose="02020603050405020304" pitchFamily="18" charset="0"/>
                <a:ea typeface="黑体" panose="02010609060101010101" pitchFamily="49" charset="-122"/>
                <a:sym typeface="+mn-ea"/>
              </a:rPr>
              <a:t>+</a:t>
            </a:r>
            <a:r>
              <a:rPr lang="en-US" altLang="zh-CN" sz="2400" i="1" baseline="-25000">
                <a:solidFill>
                  <a:srgbClr val="000000"/>
                </a:solidFill>
                <a:latin typeface="Times New Roman" panose="02020603050405020304" pitchFamily="18" charset="0"/>
                <a:ea typeface="黑体" panose="02010609060101010101" pitchFamily="49" charset="-122"/>
                <a:sym typeface="+mn-ea"/>
              </a:rPr>
              <a:t>m</a:t>
            </a:r>
            <a:r>
              <a:rPr lang="en-US" altLang="zh-CN" sz="2400" baseline="-25000">
                <a:solidFill>
                  <a:srgbClr val="000000"/>
                </a:solidFill>
                <a:latin typeface="Times New Roman" panose="02020603050405020304" pitchFamily="18" charset="0"/>
                <a:ea typeface="黑体" panose="02010609060101010101" pitchFamily="49" charset="-122"/>
                <a:sym typeface="+mn-ea"/>
              </a:rPr>
              <a:t>-1 </a:t>
            </a:r>
            <a:r>
              <a:rPr lang="en-US" altLang="zh-CN" sz="2400" baseline="30000">
                <a:solidFill>
                  <a:srgbClr val="000000"/>
                </a:solidFill>
                <a:latin typeface="Times New Roman" panose="02020603050405020304" pitchFamily="18" charset="0"/>
                <a:ea typeface="黑体" panose="02010609060101010101" pitchFamily="49" charset="-122"/>
                <a:sym typeface="+mn-ea"/>
              </a:rPr>
              <a:t>(2)</a:t>
            </a:r>
            <a:r>
              <a:rPr lang="en-US" altLang="zh-CN" sz="2400">
                <a:solidFill>
                  <a:srgbClr val="000000"/>
                </a:solidFill>
                <a:latin typeface="Times New Roman" panose="02020603050405020304" pitchFamily="18" charset="0"/>
                <a:ea typeface="黑体" panose="02010609060101010101" pitchFamily="49" charset="-122"/>
                <a:sym typeface="+mn-ea"/>
              </a:rPr>
              <a:t>,…, </a:t>
            </a:r>
            <a:r>
              <a:rPr lang="en-US" altLang="zh-CN" sz="2400" i="1">
                <a:solidFill>
                  <a:srgbClr val="000000"/>
                </a:solidFill>
                <a:latin typeface="Times New Roman" panose="02020603050405020304" pitchFamily="18" charset="0"/>
                <a:ea typeface="黑体" panose="02010609060101010101" pitchFamily="49" charset="-122"/>
                <a:sym typeface="+mn-ea"/>
              </a:rPr>
              <a:t>c</a:t>
            </a:r>
            <a:r>
              <a:rPr lang="en-US" altLang="zh-CN" sz="2400" i="1" baseline="-25000">
                <a:solidFill>
                  <a:srgbClr val="000000"/>
                </a:solidFill>
                <a:latin typeface="Times New Roman" panose="02020603050405020304" pitchFamily="18" charset="0"/>
                <a:ea typeface="黑体" panose="02010609060101010101" pitchFamily="49" charset="-122"/>
                <a:sym typeface="+mn-ea"/>
              </a:rPr>
              <a:t>L</a:t>
            </a:r>
            <a:r>
              <a:rPr lang="en-US" altLang="zh-CN" sz="2400" baseline="-25000">
                <a:solidFill>
                  <a:srgbClr val="000000"/>
                </a:solidFill>
                <a:latin typeface="Times New Roman" panose="02020603050405020304" pitchFamily="18" charset="0"/>
                <a:ea typeface="黑体" panose="02010609060101010101" pitchFamily="49" charset="-122"/>
                <a:sym typeface="+mn-ea"/>
              </a:rPr>
              <a:t>+</a:t>
            </a:r>
            <a:r>
              <a:rPr lang="en-US" altLang="zh-CN" sz="2400" i="1" baseline="-25000">
                <a:solidFill>
                  <a:srgbClr val="000000"/>
                </a:solidFill>
                <a:latin typeface="Times New Roman" panose="02020603050405020304" pitchFamily="18" charset="0"/>
                <a:ea typeface="黑体" panose="02010609060101010101" pitchFamily="49" charset="-122"/>
                <a:sym typeface="+mn-ea"/>
              </a:rPr>
              <a:t>m</a:t>
            </a:r>
            <a:r>
              <a:rPr lang="en-US" altLang="zh-CN" sz="2400" baseline="-25000">
                <a:solidFill>
                  <a:srgbClr val="000000"/>
                </a:solidFill>
                <a:latin typeface="Times New Roman" panose="02020603050405020304" pitchFamily="18" charset="0"/>
                <a:ea typeface="黑体" panose="02010609060101010101" pitchFamily="49" charset="-122"/>
                <a:sym typeface="+mn-ea"/>
              </a:rPr>
              <a:t>-1 </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i="1" baseline="30000">
                <a:solidFill>
                  <a:srgbClr val="000000"/>
                </a:solidFill>
                <a:latin typeface="Times New Roman" panose="02020603050405020304" pitchFamily="18" charset="0"/>
                <a:ea typeface="黑体" panose="02010609060101010101" pitchFamily="49" charset="-122"/>
                <a:sym typeface="+mn-ea"/>
              </a:rPr>
              <a:t>n</a:t>
            </a:r>
            <a:r>
              <a:rPr lang="en-US" altLang="zh-CN" sz="2400" baseline="300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黑体" panose="02010609060101010101" pitchFamily="49" charset="-122"/>
                <a:sym typeface="+mn-ea"/>
              </a:rPr>
              <a:t>)</a:t>
            </a:r>
          </a:p>
          <a:p>
            <a:pPr eaLnBrk="0" fontAlgn="base" hangingPunct="0">
              <a:lnSpc>
                <a:spcPct val="110000"/>
              </a:lnSpc>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其中下标表示时间。</a:t>
            </a:r>
            <a:endParaRPr lang="zh-CN" altLang="en-US" sz="2400" dirty="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1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消息序列的尾部需要</a:t>
            </a:r>
            <a:r>
              <a:rPr lang="en-US" altLang="zh-CN" sz="2400" i="1">
                <a:solidFill>
                  <a:srgbClr val="000000"/>
                </a:solidFill>
                <a:latin typeface="Times New Roman" panose="02020603050405020304" pitchFamily="18" charset="0"/>
                <a:ea typeface="黑体" panose="02010609060101010101" pitchFamily="49" charset="-122"/>
                <a:sym typeface="+mn-ea"/>
              </a:rPr>
              <a:t>m</a:t>
            </a:r>
            <a:r>
              <a:rPr lang="zh-CN" altLang="en-US" sz="2400" dirty="0">
                <a:solidFill>
                  <a:srgbClr val="000000"/>
                </a:solidFill>
                <a:latin typeface="Times New Roman" panose="02020603050405020304" pitchFamily="18" charset="0"/>
                <a:ea typeface="黑体" panose="02010609060101010101" pitchFamily="49" charset="-122"/>
                <a:sym typeface="+mn-ea"/>
              </a:rPr>
              <a:t>个</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比特使得移位寄存器的状态归</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。一般的，默认移位寄存器从全零状态开始，最终还是以全零状态结束。</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维特比译码</a:t>
            </a:r>
            <a:r>
              <a:rPr lang="zh-CN" altLang="en-US" sz="2800">
                <a:ea typeface="黑体" panose="02010609060101010101" pitchFamily="49" charset="-122"/>
                <a:sym typeface="+mn-ea"/>
              </a:rPr>
              <a:t>算法的原则</a:t>
            </a:r>
          </a:p>
        </p:txBody>
      </p:sp>
      <p:sp>
        <p:nvSpPr>
          <p:cNvPr id="10" name="文本框 9"/>
          <p:cNvSpPr txBox="1"/>
          <p:nvPr/>
        </p:nvSpPr>
        <p:spPr>
          <a:xfrm>
            <a:off x="1860550" y="915670"/>
            <a:ext cx="8446770" cy="5367020"/>
          </a:xfrm>
          <a:prstGeom prst="rect">
            <a:avLst/>
          </a:prstGeom>
          <a:noFill/>
        </p:spPr>
        <p:txBody>
          <a:bodyPr wrap="square" rtlCol="0" anchor="t">
            <a:spAutoFit/>
          </a:bodyPr>
          <a:lstStyle/>
          <a:p>
            <a:pPr indent="6096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en-US" altLang="zh-CN" sz="2400" err="1">
                <a:solidFill>
                  <a:srgbClr val="000000"/>
                </a:solidFill>
                <a:latin typeface="Times New Roman" panose="02020603050405020304" pitchFamily="18" charset="0"/>
                <a:ea typeface="黑体" panose="02010609060101010101" pitchFamily="49" charset="-122"/>
                <a:sym typeface="+mn-ea"/>
              </a:rPr>
              <a:t>Viterbi</a:t>
            </a:r>
            <a:r>
              <a:rPr lang="zh-CN" altLang="en-US" sz="2400" dirty="0">
                <a:solidFill>
                  <a:srgbClr val="000000"/>
                </a:solidFill>
                <a:latin typeface="Times New Roman" panose="02020603050405020304" pitchFamily="18" charset="0"/>
                <a:ea typeface="黑体" panose="02010609060101010101" pitchFamily="49" charset="-122"/>
                <a:sym typeface="+mn-ea"/>
              </a:rPr>
              <a:t>译码算法是目前最大似然译码最知名一种方法，其原则为：</a:t>
            </a:r>
            <a:endParaRPr lang="zh-CN" altLang="en-US" sz="2400" dirty="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en-US" altLang="zh-CN" sz="2400">
                <a:solidFill>
                  <a:srgbClr val="000000"/>
                </a:solidFill>
                <a:latin typeface="Times New Roman" panose="02020603050405020304" pitchFamily="18" charset="0"/>
                <a:ea typeface="黑体" panose="02010609060101010101" pitchFamily="49" charset="-122"/>
                <a:sym typeface="+mn-ea"/>
              </a:rPr>
              <a:t>(1) </a:t>
            </a:r>
            <a:r>
              <a:rPr lang="zh-CN" altLang="en-US" sz="2400" dirty="0">
                <a:solidFill>
                  <a:srgbClr val="000000"/>
                </a:solidFill>
                <a:latin typeface="Times New Roman" panose="02020603050405020304" pitchFamily="18" charset="0"/>
                <a:ea typeface="黑体" panose="02010609060101010101" pitchFamily="49" charset="-122"/>
                <a:sym typeface="+mn-ea"/>
              </a:rPr>
              <a:t>错误不是经常出现的，发生错误的概率很小；</a:t>
            </a:r>
            <a:endParaRPr lang="zh-CN" altLang="en-US" sz="2400" dirty="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en-US" altLang="zh-CN" sz="2400">
                <a:solidFill>
                  <a:srgbClr val="000000"/>
                </a:solidFill>
                <a:latin typeface="Times New Roman" panose="02020603050405020304" pitchFamily="18" charset="0"/>
                <a:ea typeface="黑体" panose="02010609060101010101" pitchFamily="49" charset="-122"/>
                <a:sym typeface="+mn-ea"/>
              </a:rPr>
              <a:t>(2) </a:t>
            </a:r>
            <a:r>
              <a:rPr lang="zh-CN" altLang="en-US" sz="2400" dirty="0">
                <a:solidFill>
                  <a:srgbClr val="000000"/>
                </a:solidFill>
                <a:latin typeface="Times New Roman" panose="02020603050405020304" pitchFamily="18" charset="0"/>
                <a:ea typeface="黑体" panose="02010609060101010101" pitchFamily="49" charset="-122"/>
                <a:sym typeface="+mn-ea"/>
              </a:rPr>
              <a:t>在一行中发生</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个错误的概率要比发生一个错误的概率小很多，即错误是随机分布的。</a:t>
            </a:r>
            <a:endParaRPr lang="zh-CN" altLang="en-US" sz="2400" dirty="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在工作过程中，</a:t>
            </a:r>
            <a:r>
              <a:rPr lang="en-US" altLang="zh-CN" sz="2400" err="1">
                <a:solidFill>
                  <a:srgbClr val="000000"/>
                </a:solidFill>
                <a:latin typeface="Times New Roman" panose="02020603050405020304" pitchFamily="18" charset="0"/>
                <a:ea typeface="黑体" panose="02010609060101010101" pitchFamily="49" charset="-122"/>
                <a:sym typeface="+mn-ea"/>
              </a:rPr>
              <a:t>Viterbi</a:t>
            </a:r>
            <a:r>
              <a:rPr lang="zh-CN" altLang="en-US" sz="2400" dirty="0">
                <a:solidFill>
                  <a:srgbClr val="000000"/>
                </a:solidFill>
                <a:latin typeface="Times New Roman" panose="02020603050405020304" pitchFamily="18" charset="0"/>
                <a:ea typeface="黑体" panose="02010609060101010101" pitchFamily="49" charset="-122"/>
                <a:sym typeface="+mn-ea"/>
              </a:rPr>
              <a:t>译码器计算给定长度的整个接收序列的量度。 </a:t>
            </a:r>
            <a:r>
              <a:rPr lang="en-US" altLang="zh-CN" sz="2400" err="1">
                <a:solidFill>
                  <a:srgbClr val="000000"/>
                </a:solidFill>
                <a:latin typeface="Times New Roman" panose="02020603050405020304" pitchFamily="18" charset="0"/>
                <a:ea typeface="黑体" panose="02010609060101010101" pitchFamily="49" charset="-122"/>
                <a:sym typeface="+mn-ea"/>
              </a:rPr>
              <a:t>Viterbi</a:t>
            </a:r>
            <a:r>
              <a:rPr lang="zh-CN" altLang="en-US" sz="2400" dirty="0">
                <a:solidFill>
                  <a:srgbClr val="000000"/>
                </a:solidFill>
                <a:latin typeface="Times New Roman" panose="02020603050405020304" pitchFamily="18" charset="0"/>
                <a:ea typeface="黑体" panose="02010609060101010101" pitchFamily="49" charset="-122"/>
                <a:sym typeface="+mn-ea"/>
              </a:rPr>
              <a:t>译码器计算所有路径的量度并且基于这些量度进行决策。所有的路径都会进行量度累积，直到有</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个路径收敛到同一个点上。这时，具有高量度的路径就是幸存者路径，否则就被丢弃。</a:t>
            </a:r>
            <a:endParaRPr lang="zh-CN" altLang="en-US" sz="2400" dirty="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最常用的量度就是汉明距离。</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维特比译码</a:t>
            </a:r>
            <a:r>
              <a:rPr lang="zh-CN" altLang="en-US" sz="2800">
                <a:ea typeface="黑体" panose="02010609060101010101" pitchFamily="49" charset="-122"/>
                <a:sym typeface="+mn-ea"/>
              </a:rPr>
              <a:t>算法举例</a:t>
            </a:r>
          </a:p>
        </p:txBody>
      </p:sp>
      <p:sp>
        <p:nvSpPr>
          <p:cNvPr id="10" name="文本框 9"/>
          <p:cNvSpPr txBox="1"/>
          <p:nvPr/>
        </p:nvSpPr>
        <p:spPr>
          <a:xfrm>
            <a:off x="1860550" y="840106"/>
            <a:ext cx="8446770" cy="2009775"/>
          </a:xfrm>
          <a:prstGeom prst="rect">
            <a:avLst/>
          </a:prstGeom>
          <a:noFill/>
        </p:spPr>
        <p:txBody>
          <a:bodyPr wrap="square" rtlCol="0" anchor="t">
            <a:spAutoFit/>
          </a:bodyPr>
          <a:lstStyle/>
          <a:p>
            <a:pPr indent="6096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随着译码在</a:t>
            </a:r>
            <a:r>
              <a:rPr lang="en-US" altLang="zh-CN" sz="2400">
                <a:solidFill>
                  <a:srgbClr val="000000"/>
                </a:solidFill>
                <a:latin typeface="Times New Roman" panose="02020603050405020304" pitchFamily="18" charset="0"/>
                <a:ea typeface="黑体" panose="02010609060101010101" pitchFamily="49" charset="-122"/>
                <a:sym typeface="+mn-ea"/>
              </a:rPr>
              <a:t>Trellis</a:t>
            </a:r>
            <a:r>
              <a:rPr lang="zh-CN" altLang="en-US" sz="2400" dirty="0">
                <a:solidFill>
                  <a:srgbClr val="000000"/>
                </a:solidFill>
                <a:latin typeface="Times New Roman" panose="02020603050405020304" pitchFamily="18" charset="0"/>
                <a:ea typeface="黑体" panose="02010609060101010101" pitchFamily="49" charset="-122"/>
                <a:sym typeface="+mn-ea"/>
              </a:rPr>
              <a:t>图上按时间进行推进，路径上的量度累积起来，到最后，具有最大量度的那条路径就是幸存者路径。</a:t>
            </a:r>
            <a:endParaRPr lang="zh-CN" altLang="en-US" sz="2400" dirty="0">
              <a:solidFill>
                <a:srgbClr val="000000"/>
              </a:solidFill>
              <a:latin typeface="Times New Roman" panose="02020603050405020304" pitchFamily="18" charset="0"/>
              <a:ea typeface="黑体" panose="02010609060101010101" pitchFamily="49" charset="-122"/>
            </a:endParaRPr>
          </a:p>
          <a:p>
            <a:pPr indent="6096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例如：假设接收序列为</a:t>
            </a:r>
            <a:r>
              <a:rPr lang="en-US" altLang="zh-CN" sz="2400">
                <a:solidFill>
                  <a:srgbClr val="000000"/>
                </a:solidFill>
                <a:latin typeface="Times New Roman" panose="02020603050405020304" pitchFamily="18" charset="0"/>
                <a:ea typeface="黑体" panose="02010609060101010101" pitchFamily="49" charset="-122"/>
                <a:sym typeface="+mn-ea"/>
              </a:rPr>
              <a:t>(</a:t>
            </a:r>
            <a:r>
              <a:rPr lang="en-US" altLang="zh-CN" sz="2400">
                <a:solidFill>
                  <a:srgbClr val="000000"/>
                </a:solidFill>
                <a:latin typeface="Times New Roman" panose="02020603050405020304" pitchFamily="18" charset="0"/>
                <a:ea typeface="宋体" panose="02010600030101010101" pitchFamily="2" charset="-122"/>
                <a:sym typeface="+mn-ea"/>
              </a:rPr>
              <a:t>01, 11 01, 11, 01, 01, 11)</a:t>
            </a:r>
            <a:r>
              <a:rPr lang="zh-CN" altLang="en-US" sz="2400" dirty="0">
                <a:solidFill>
                  <a:srgbClr val="000000"/>
                </a:solidFill>
                <a:latin typeface="Arial" panose="020B0604020202020204" pitchFamily="34" charset="0"/>
                <a:ea typeface="宋体" panose="02010600030101010101" pitchFamily="2"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在</a:t>
            </a:r>
            <a:r>
              <a:rPr lang="en-US" altLang="zh-CN" sz="2400">
                <a:solidFill>
                  <a:srgbClr val="000000"/>
                </a:solidFill>
                <a:latin typeface="Times New Roman" panose="02020603050405020304" pitchFamily="18" charset="0"/>
                <a:ea typeface="黑体" panose="02010609060101010101" pitchFamily="49" charset="-122"/>
                <a:sym typeface="+mn-ea"/>
              </a:rPr>
              <a:t>Trellis</a:t>
            </a:r>
            <a:r>
              <a:rPr lang="zh-CN" altLang="en-US" sz="2400" dirty="0">
                <a:solidFill>
                  <a:srgbClr val="000000"/>
                </a:solidFill>
                <a:latin typeface="Times New Roman" panose="02020603050405020304" pitchFamily="18" charset="0"/>
                <a:ea typeface="黑体" panose="02010609060101010101" pitchFamily="49" charset="-122"/>
                <a:sym typeface="+mn-ea"/>
              </a:rPr>
              <a:t>图上用</a:t>
            </a:r>
            <a:r>
              <a:rPr lang="en-US" altLang="zh-CN" sz="2400" err="1">
                <a:solidFill>
                  <a:srgbClr val="000000"/>
                </a:solidFill>
                <a:latin typeface="Times New Roman" panose="02020603050405020304" pitchFamily="18" charset="0"/>
                <a:ea typeface="黑体" panose="02010609060101010101" pitchFamily="49" charset="-122"/>
                <a:sym typeface="+mn-ea"/>
              </a:rPr>
              <a:t>Viterbi</a:t>
            </a:r>
            <a:r>
              <a:rPr lang="zh-CN" altLang="en-US" sz="2400" dirty="0">
                <a:solidFill>
                  <a:srgbClr val="000000"/>
                </a:solidFill>
                <a:latin typeface="Times New Roman" panose="02020603050405020304" pitchFamily="18" charset="0"/>
                <a:ea typeface="黑体" panose="02010609060101010101" pitchFamily="49" charset="-122"/>
                <a:sym typeface="+mn-ea"/>
              </a:rPr>
              <a:t>译码算法进行译码。</a:t>
            </a:r>
          </a:p>
        </p:txBody>
      </p:sp>
      <p:sp>
        <p:nvSpPr>
          <p:cNvPr id="48131" name="文本框 188471"/>
          <p:cNvSpPr txBox="1"/>
          <p:nvPr/>
        </p:nvSpPr>
        <p:spPr>
          <a:xfrm>
            <a:off x="3807461" y="6322061"/>
            <a:ext cx="4667885" cy="337185"/>
          </a:xfrm>
          <a:prstGeom prst="rect">
            <a:avLst/>
          </a:prstGeom>
          <a:noFill/>
          <a:ln w="9525">
            <a:noFill/>
          </a:ln>
        </p:spPr>
        <p:txBody>
          <a:bodyPr wrap="square" anchor="t" anchorCtr="0">
            <a:spAutoFit/>
          </a:bodyPr>
          <a:lstStyle/>
          <a:p>
            <a:pPr eaLnBrk="0" fontAlgn="base" hangingPunct="0">
              <a:spcBef>
                <a:spcPct val="50000"/>
              </a:spcBef>
              <a:spcAft>
                <a:spcPct val="0"/>
              </a:spcAft>
            </a:pPr>
            <a:r>
              <a:rPr lang="zh-CN" altLang="en-US" sz="1600" dirty="0">
                <a:solidFill>
                  <a:srgbClr val="000000"/>
                </a:solidFill>
                <a:latin typeface="黑体" panose="02010609060101010101" pitchFamily="49" charset="-122"/>
                <a:ea typeface="黑体" panose="02010609060101010101" pitchFamily="49" charset="-122"/>
                <a:sym typeface="+mn-ea"/>
              </a:rPr>
              <a:t>图</a:t>
            </a:r>
            <a:r>
              <a:rPr lang="en-US" altLang="zh-CN" sz="1600">
                <a:solidFill>
                  <a:srgbClr val="000000"/>
                </a:solidFill>
                <a:latin typeface="Times New Roman" panose="02020603050405020304" pitchFamily="18" charset="0"/>
                <a:ea typeface="黑体" panose="02010609060101010101" pitchFamily="49" charset="-122"/>
                <a:sym typeface="+mn-ea"/>
              </a:rPr>
              <a:t>6.6  </a:t>
            </a:r>
            <a:r>
              <a:rPr lang="zh-CN" altLang="en-US" sz="1600" dirty="0">
                <a:solidFill>
                  <a:srgbClr val="000000"/>
                </a:solidFill>
                <a:latin typeface="Times New Roman" panose="02020603050405020304" pitchFamily="18" charset="0"/>
                <a:ea typeface="黑体" panose="02010609060101010101" pitchFamily="49" charset="-122"/>
                <a:sym typeface="+mn-ea"/>
              </a:rPr>
              <a:t>图</a:t>
            </a:r>
            <a:r>
              <a:rPr lang="en-US" altLang="zh-CN" sz="1600">
                <a:solidFill>
                  <a:srgbClr val="000000"/>
                </a:solidFill>
                <a:latin typeface="Times New Roman" panose="02020603050405020304" pitchFamily="18" charset="0"/>
                <a:ea typeface="黑体" panose="02010609060101010101" pitchFamily="49" charset="-122"/>
                <a:sym typeface="+mn-ea"/>
              </a:rPr>
              <a:t>6.1</a:t>
            </a:r>
            <a:r>
              <a:rPr lang="zh-CN" altLang="en-US" sz="1600" dirty="0">
                <a:solidFill>
                  <a:srgbClr val="000000"/>
                </a:solidFill>
                <a:latin typeface="Times New Roman" panose="02020603050405020304" pitchFamily="18" charset="0"/>
                <a:ea typeface="黑体" panose="02010609060101010101" pitchFamily="49" charset="-122"/>
                <a:sym typeface="+mn-ea"/>
              </a:rPr>
              <a:t>卷积码的电路图对应的</a:t>
            </a:r>
            <a:r>
              <a:rPr lang="en-US" altLang="zh-CN" sz="1600">
                <a:solidFill>
                  <a:srgbClr val="000000"/>
                </a:solidFill>
                <a:latin typeface="Times New Roman" panose="02020603050405020304" pitchFamily="18" charset="0"/>
                <a:ea typeface="黑体" panose="02010609060101010101" pitchFamily="49" charset="-122"/>
                <a:sym typeface="+mn-ea"/>
              </a:rPr>
              <a:t>Trellis</a:t>
            </a:r>
            <a:r>
              <a:rPr lang="zh-CN" altLang="en-US" sz="1600" dirty="0">
                <a:solidFill>
                  <a:srgbClr val="000000"/>
                </a:solidFill>
                <a:latin typeface="Times New Roman" panose="02020603050405020304" pitchFamily="18" charset="0"/>
                <a:ea typeface="黑体" panose="02010609060101010101" pitchFamily="49" charset="-122"/>
                <a:sym typeface="+mn-ea"/>
              </a:rPr>
              <a:t>图和图例</a:t>
            </a:r>
          </a:p>
        </p:txBody>
      </p:sp>
      <p:graphicFrame>
        <p:nvGraphicFramePr>
          <p:cNvPr id="5" name="对象 4"/>
          <p:cNvGraphicFramePr/>
          <p:nvPr/>
        </p:nvGraphicFramePr>
        <p:xfrm>
          <a:off x="2971801" y="2892426"/>
          <a:ext cx="6089015" cy="3386455"/>
        </p:xfrm>
        <a:graphic>
          <a:graphicData uri="http://schemas.openxmlformats.org/presentationml/2006/ole">
            <mc:AlternateContent xmlns:mc="http://schemas.openxmlformats.org/markup-compatibility/2006">
              <mc:Choice xmlns:v="urn:schemas-microsoft-com:vml" Requires="v">
                <p:oleObj r:id="rId2" imgW="4464050" imgH="2622550" progId="Paint.Picture">
                  <p:embed/>
                </p:oleObj>
              </mc:Choice>
              <mc:Fallback>
                <p:oleObj r:id="rId2" imgW="4464050" imgH="2622550" progId="Paint.Picture">
                  <p:embed/>
                  <p:pic>
                    <p:nvPicPr>
                      <p:cNvPr id="5" name="对象 4"/>
                      <p:cNvPicPr/>
                      <p:nvPr/>
                    </p:nvPicPr>
                    <p:blipFill>
                      <a:blip r:embed="rId3"/>
                      <a:stretch>
                        <a:fillRect/>
                      </a:stretch>
                    </p:blipFill>
                    <p:spPr>
                      <a:xfrm>
                        <a:off x="2971801" y="2892426"/>
                        <a:ext cx="6089015" cy="3386455"/>
                      </a:xfrm>
                      <a:prstGeom prst="rect">
                        <a:avLst/>
                      </a:prstGeom>
                    </p:spPr>
                  </p:pic>
                </p:oleObj>
              </mc:Fallback>
            </mc:AlternateContent>
          </a:graphicData>
        </a:graphic>
      </p:graphicFrame>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维特比译码</a:t>
            </a:r>
            <a:r>
              <a:rPr lang="zh-CN" altLang="en-US" sz="2800">
                <a:ea typeface="黑体" panose="02010609060101010101" pitchFamily="49" charset="-122"/>
                <a:sym typeface="+mn-ea"/>
              </a:rPr>
              <a:t>算法举例</a:t>
            </a:r>
          </a:p>
        </p:txBody>
      </p:sp>
      <p:sp>
        <p:nvSpPr>
          <p:cNvPr id="10" name="文本框 9"/>
          <p:cNvSpPr txBox="1"/>
          <p:nvPr/>
        </p:nvSpPr>
        <p:spPr>
          <a:xfrm>
            <a:off x="1860550" y="915670"/>
            <a:ext cx="8446770" cy="1714500"/>
          </a:xfrm>
          <a:prstGeom prst="rect">
            <a:avLst/>
          </a:prstGeom>
          <a:noFill/>
        </p:spPr>
        <p:txBody>
          <a:bodyPr wrap="square" rtlCol="0" anchor="t">
            <a:spAutoFit/>
          </a:bodyPr>
          <a:lstStyle/>
          <a:p>
            <a:pPr eaLnBrk="0" fontAlgn="base" hangingPunct="0">
              <a:lnSpc>
                <a:spcPct val="110000"/>
              </a:lnSpc>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步骤</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时，接收向量是</a:t>
            </a:r>
            <a:r>
              <a:rPr lang="en-US" altLang="zh-CN" sz="2400">
                <a:solidFill>
                  <a:srgbClr val="000000"/>
                </a:solidFill>
                <a:latin typeface="Times New Roman" panose="02020603050405020304" pitchFamily="18" charset="0"/>
                <a:ea typeface="黑体" panose="02010609060101010101" pitchFamily="49" charset="-122"/>
                <a:sym typeface="+mn-ea"/>
              </a:rPr>
              <a:t>01</a:t>
            </a:r>
            <a:r>
              <a:rPr lang="zh-CN" altLang="en-US" sz="2400" dirty="0">
                <a:solidFill>
                  <a:srgbClr val="000000"/>
                </a:solidFill>
                <a:latin typeface="Times New Roman" panose="02020603050405020304" pitchFamily="18" charset="0"/>
                <a:ea typeface="黑体" panose="02010609060101010101" pitchFamily="49" charset="-122"/>
                <a:sym typeface="+mn-ea"/>
              </a:rPr>
              <a:t>，译码器最初状态是</a:t>
            </a:r>
            <a:r>
              <a:rPr lang="en-US" altLang="zh-CN" sz="2400">
                <a:solidFill>
                  <a:srgbClr val="000000"/>
                </a:solidFill>
                <a:latin typeface="Times New Roman" panose="02020603050405020304" pitchFamily="18" charset="0"/>
                <a:ea typeface="黑体" panose="02010609060101010101" pitchFamily="49" charset="-122"/>
                <a:sym typeface="+mn-ea"/>
              </a:rPr>
              <a:t>000</a:t>
            </a:r>
            <a:r>
              <a:rPr lang="zh-CN" altLang="en-US" sz="2400" dirty="0">
                <a:solidFill>
                  <a:srgbClr val="000000"/>
                </a:solidFill>
                <a:latin typeface="Times New Roman" panose="02020603050405020304" pitchFamily="18" charset="0"/>
                <a:ea typeface="黑体" panose="02010609060101010101" pitchFamily="49" charset="-122"/>
                <a:sym typeface="+mn-ea"/>
              </a:rPr>
              <a:t>。从这个点出发有</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条备选路径，但是哪条路径上的向量跟接收向量都不匹配。译码器计算这</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条路径量度，继续同时沿着两条路径往下进行，这</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条路径量度都是</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pic>
        <p:nvPicPr>
          <p:cNvPr id="67586" name="图片 75779"/>
          <p:cNvPicPr>
            <a:picLocks noChangeAspect="1"/>
          </p:cNvPicPr>
          <p:nvPr/>
        </p:nvPicPr>
        <p:blipFill>
          <a:blip r:embed="rId2"/>
          <a:stretch>
            <a:fillRect/>
          </a:stretch>
        </p:blipFill>
        <p:spPr>
          <a:xfrm>
            <a:off x="2537460" y="2630170"/>
            <a:ext cx="6986270" cy="3699510"/>
          </a:xfrm>
          <a:prstGeom prst="rect">
            <a:avLst/>
          </a:prstGeom>
          <a:noFill/>
          <a:ln w="9525">
            <a:noFill/>
          </a:ln>
        </p:spPr>
      </p:pic>
      <p:sp>
        <p:nvSpPr>
          <p:cNvPr id="67587" name="文本框 188471"/>
          <p:cNvSpPr txBox="1"/>
          <p:nvPr/>
        </p:nvSpPr>
        <p:spPr>
          <a:xfrm>
            <a:off x="3431540" y="6330315"/>
            <a:ext cx="5543550" cy="39878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图</a:t>
            </a:r>
            <a:r>
              <a:rPr lang="en-US" altLang="zh-CN" sz="2000">
                <a:solidFill>
                  <a:srgbClr val="000000"/>
                </a:solidFill>
                <a:latin typeface="Times New Roman" panose="02020603050405020304" pitchFamily="18" charset="0"/>
                <a:ea typeface="黑体" panose="02010609060101010101" pitchFamily="49" charset="-122"/>
              </a:rPr>
              <a:t>6.9  </a:t>
            </a:r>
            <a:r>
              <a:rPr lang="en-US" altLang="zh-CN" sz="2000" err="1">
                <a:solidFill>
                  <a:srgbClr val="000000"/>
                </a:solidFill>
                <a:latin typeface="Times New Roman" panose="02020603050405020304" pitchFamily="18" charset="0"/>
                <a:ea typeface="黑体" panose="02010609060101010101" pitchFamily="49" charset="-122"/>
              </a:rPr>
              <a:t>Viterbi</a:t>
            </a:r>
            <a:r>
              <a:rPr lang="zh-CN" altLang="en-US" sz="2000" dirty="0">
                <a:solidFill>
                  <a:srgbClr val="000000"/>
                </a:solidFill>
                <a:latin typeface="Times New Roman" panose="02020603050405020304" pitchFamily="18" charset="0"/>
                <a:ea typeface="黑体" panose="02010609060101010101" pitchFamily="49" charset="-122"/>
              </a:rPr>
              <a:t>译码算法步骤</a:t>
            </a:r>
            <a:r>
              <a:rPr lang="en-US" altLang="zh-CN" sz="2000">
                <a:solidFill>
                  <a:srgbClr val="000000"/>
                </a:solidFill>
                <a:latin typeface="Times New Roman" panose="02020603050405020304" pitchFamily="18" charset="0"/>
                <a:ea typeface="黑体" panose="02010609060101010101" pitchFamily="49" charset="-122"/>
              </a:rPr>
              <a:t>(</a:t>
            </a:r>
            <a:r>
              <a:rPr lang="en-US" altLang="zh-CN" sz="2000" i="1">
                <a:solidFill>
                  <a:srgbClr val="000000"/>
                </a:solidFill>
                <a:latin typeface="Times New Roman" panose="02020603050405020304" pitchFamily="18" charset="0"/>
                <a:ea typeface="黑体" panose="02010609060101010101" pitchFamily="49" charset="-122"/>
              </a:rPr>
              <a:t>t</a:t>
            </a:r>
            <a:r>
              <a:rPr lang="en-US" altLang="zh-CN" sz="2000">
                <a:solidFill>
                  <a:srgbClr val="000000"/>
                </a:solidFill>
                <a:latin typeface="Times New Roman" panose="02020603050405020304" pitchFamily="18" charset="0"/>
                <a:ea typeface="黑体" panose="02010609060101010101" pitchFamily="49" charset="-122"/>
              </a:rPr>
              <a:t>=0)</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维特比译码</a:t>
            </a:r>
            <a:r>
              <a:rPr lang="zh-CN" altLang="en-US" sz="2800">
                <a:ea typeface="黑体" panose="02010609060101010101" pitchFamily="49" charset="-122"/>
                <a:sym typeface="+mn-ea"/>
              </a:rPr>
              <a:t>算法举例</a:t>
            </a:r>
          </a:p>
        </p:txBody>
      </p:sp>
      <p:sp>
        <p:nvSpPr>
          <p:cNvPr id="67587" name="文本框 188471"/>
          <p:cNvSpPr txBox="1"/>
          <p:nvPr/>
        </p:nvSpPr>
        <p:spPr>
          <a:xfrm>
            <a:off x="3431540" y="6330315"/>
            <a:ext cx="5543550" cy="39878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图</a:t>
            </a:r>
            <a:r>
              <a:rPr lang="en-US" altLang="zh-CN" sz="2000">
                <a:solidFill>
                  <a:srgbClr val="000000"/>
                </a:solidFill>
                <a:latin typeface="Times New Roman" panose="02020603050405020304" pitchFamily="18" charset="0"/>
                <a:ea typeface="黑体" panose="02010609060101010101" pitchFamily="49" charset="-122"/>
              </a:rPr>
              <a:t>6.10  </a:t>
            </a:r>
            <a:r>
              <a:rPr lang="en-US" altLang="zh-CN" sz="2000" err="1">
                <a:solidFill>
                  <a:srgbClr val="000000"/>
                </a:solidFill>
                <a:latin typeface="Times New Roman" panose="02020603050405020304" pitchFamily="18" charset="0"/>
                <a:ea typeface="黑体" panose="02010609060101010101" pitchFamily="49" charset="-122"/>
              </a:rPr>
              <a:t>Viterbi</a:t>
            </a:r>
            <a:r>
              <a:rPr lang="zh-CN" altLang="en-US" sz="2000" dirty="0">
                <a:solidFill>
                  <a:srgbClr val="000000"/>
                </a:solidFill>
                <a:latin typeface="Times New Roman" panose="02020603050405020304" pitchFamily="18" charset="0"/>
                <a:ea typeface="黑体" panose="02010609060101010101" pitchFamily="49" charset="-122"/>
              </a:rPr>
              <a:t>译码算法步骤</a:t>
            </a:r>
            <a:r>
              <a:rPr lang="en-US" altLang="zh-CN" sz="2000">
                <a:solidFill>
                  <a:srgbClr val="000000"/>
                </a:solidFill>
                <a:latin typeface="Times New Roman" panose="02020603050405020304" pitchFamily="18" charset="0"/>
                <a:ea typeface="黑体" panose="02010609060101010101" pitchFamily="49" charset="-122"/>
              </a:rPr>
              <a:t>(</a:t>
            </a:r>
            <a:r>
              <a:rPr lang="en-US" altLang="zh-CN" sz="2000" i="1">
                <a:solidFill>
                  <a:srgbClr val="000000"/>
                </a:solidFill>
                <a:latin typeface="Times New Roman" panose="02020603050405020304" pitchFamily="18" charset="0"/>
                <a:ea typeface="黑体" panose="02010609060101010101" pitchFamily="49" charset="-122"/>
              </a:rPr>
              <a:t>t</a:t>
            </a:r>
            <a:r>
              <a:rPr lang="en-US" altLang="zh-CN" sz="2000">
                <a:solidFill>
                  <a:srgbClr val="000000"/>
                </a:solidFill>
                <a:latin typeface="Times New Roman" panose="02020603050405020304" pitchFamily="18" charset="0"/>
                <a:ea typeface="黑体" panose="02010609060101010101" pitchFamily="49" charset="-122"/>
              </a:rPr>
              <a:t>=1)</a:t>
            </a:r>
          </a:p>
        </p:txBody>
      </p:sp>
      <p:pic>
        <p:nvPicPr>
          <p:cNvPr id="69634" name="图片 76803"/>
          <p:cNvPicPr>
            <a:picLocks noChangeAspect="1"/>
          </p:cNvPicPr>
          <p:nvPr/>
        </p:nvPicPr>
        <p:blipFill>
          <a:blip r:embed="rId2"/>
          <a:stretch>
            <a:fillRect/>
          </a:stretch>
        </p:blipFill>
        <p:spPr>
          <a:xfrm>
            <a:off x="2152015" y="2133600"/>
            <a:ext cx="7863840" cy="4103370"/>
          </a:xfrm>
          <a:prstGeom prst="rect">
            <a:avLst/>
          </a:prstGeom>
          <a:noFill/>
          <a:ln w="9525">
            <a:noFill/>
          </a:ln>
        </p:spPr>
      </p:pic>
      <p:sp>
        <p:nvSpPr>
          <p:cNvPr id="3" name="文本框 2"/>
          <p:cNvSpPr txBox="1"/>
          <p:nvPr/>
        </p:nvSpPr>
        <p:spPr>
          <a:xfrm>
            <a:off x="1860550" y="915671"/>
            <a:ext cx="8446770" cy="1308735"/>
          </a:xfrm>
          <a:prstGeom prst="rect">
            <a:avLst/>
          </a:prstGeom>
          <a:noFill/>
        </p:spPr>
        <p:txBody>
          <a:bodyPr wrap="square" rtlCol="0" anchor="t">
            <a:spAutoFit/>
          </a:bodyPr>
          <a:lstStyle/>
          <a:p>
            <a:pPr eaLnBrk="0" fontAlgn="base" hangingPunct="0">
              <a:lnSpc>
                <a:spcPct val="110000"/>
              </a:lnSpc>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步骤</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时，接收向量是</a:t>
            </a:r>
            <a:r>
              <a:rPr lang="en-US" altLang="zh-CN" sz="2400">
                <a:solidFill>
                  <a:srgbClr val="000000"/>
                </a:solidFill>
                <a:latin typeface="Times New Roman" panose="02020603050405020304" pitchFamily="18" charset="0"/>
                <a:ea typeface="黑体" panose="02010609060101010101" pitchFamily="49" charset="-122"/>
                <a:sym typeface="+mn-ea"/>
              </a:rPr>
              <a:t>11</a:t>
            </a:r>
            <a:r>
              <a:rPr lang="zh-CN" altLang="en-US" sz="2400" dirty="0">
                <a:solidFill>
                  <a:srgbClr val="000000"/>
                </a:solidFill>
                <a:latin typeface="Times New Roman" panose="02020603050405020304" pitchFamily="18" charset="0"/>
                <a:ea typeface="黑体" panose="02010609060101010101" pitchFamily="49" charset="-122"/>
                <a:sym typeface="+mn-ea"/>
              </a:rPr>
              <a:t>，译码器从这两个可能的状态出发，就有</a:t>
            </a:r>
            <a:r>
              <a:rPr lang="en-US" altLang="zh-CN" sz="2400">
                <a:solidFill>
                  <a:srgbClr val="000000"/>
                </a:solidFill>
                <a:latin typeface="Times New Roman" panose="02020603050405020304" pitchFamily="18" charset="0"/>
                <a:ea typeface="黑体" panose="02010609060101010101" pitchFamily="49" charset="-122"/>
                <a:sym typeface="+mn-ea"/>
              </a:rPr>
              <a:t>4</a:t>
            </a:r>
            <a:r>
              <a:rPr lang="zh-CN" altLang="en-US" sz="2400" dirty="0">
                <a:solidFill>
                  <a:srgbClr val="000000"/>
                </a:solidFill>
                <a:latin typeface="Times New Roman" panose="02020603050405020304" pitchFamily="18" charset="0"/>
                <a:ea typeface="黑体" panose="02010609060101010101" pitchFamily="49" charset="-122"/>
                <a:sym typeface="+mn-ea"/>
              </a:rPr>
              <a:t>条不同的路径，译码器计算这</a:t>
            </a:r>
            <a:r>
              <a:rPr lang="en-US" altLang="zh-CN" sz="2400">
                <a:solidFill>
                  <a:srgbClr val="000000"/>
                </a:solidFill>
                <a:latin typeface="Times New Roman" panose="02020603050405020304" pitchFamily="18" charset="0"/>
                <a:ea typeface="黑体" panose="02010609060101010101" pitchFamily="49" charset="-122"/>
                <a:sym typeface="+mn-ea"/>
              </a:rPr>
              <a:t>4</a:t>
            </a:r>
            <a:r>
              <a:rPr lang="zh-CN" altLang="en-US" sz="2400" dirty="0">
                <a:solidFill>
                  <a:srgbClr val="000000"/>
                </a:solidFill>
                <a:latin typeface="Times New Roman" panose="02020603050405020304" pitchFamily="18" charset="0"/>
                <a:ea typeface="黑体" panose="02010609060101010101" pitchFamily="49" charset="-122"/>
                <a:sym typeface="+mn-ea"/>
              </a:rPr>
              <a:t>条路径量度，并把这些累加的尺度值标在图的右侧</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维特比译码</a:t>
            </a:r>
            <a:r>
              <a:rPr lang="zh-CN" altLang="en-US" sz="2800">
                <a:ea typeface="黑体" panose="02010609060101010101" pitchFamily="49" charset="-122"/>
                <a:sym typeface="+mn-ea"/>
              </a:rPr>
              <a:t>算法举例</a:t>
            </a:r>
          </a:p>
        </p:txBody>
      </p:sp>
      <p:sp>
        <p:nvSpPr>
          <p:cNvPr id="67587" name="文本框 188471"/>
          <p:cNvSpPr txBox="1"/>
          <p:nvPr/>
        </p:nvSpPr>
        <p:spPr>
          <a:xfrm>
            <a:off x="3431540" y="6330315"/>
            <a:ext cx="5543550" cy="39878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图</a:t>
            </a:r>
            <a:r>
              <a:rPr lang="en-US" altLang="zh-CN" sz="2000">
                <a:solidFill>
                  <a:srgbClr val="000000"/>
                </a:solidFill>
                <a:latin typeface="Times New Roman" panose="02020603050405020304" pitchFamily="18" charset="0"/>
                <a:ea typeface="黑体" panose="02010609060101010101" pitchFamily="49" charset="-122"/>
              </a:rPr>
              <a:t>6.11  </a:t>
            </a:r>
            <a:r>
              <a:rPr lang="en-US" altLang="zh-CN" sz="2000" err="1">
                <a:solidFill>
                  <a:srgbClr val="000000"/>
                </a:solidFill>
                <a:latin typeface="Times New Roman" panose="02020603050405020304" pitchFamily="18" charset="0"/>
                <a:ea typeface="黑体" panose="02010609060101010101" pitchFamily="49" charset="-122"/>
              </a:rPr>
              <a:t>Viterbi</a:t>
            </a:r>
            <a:r>
              <a:rPr lang="zh-CN" altLang="en-US" sz="2000" dirty="0">
                <a:solidFill>
                  <a:srgbClr val="000000"/>
                </a:solidFill>
                <a:latin typeface="Times New Roman" panose="02020603050405020304" pitchFamily="18" charset="0"/>
                <a:ea typeface="黑体" panose="02010609060101010101" pitchFamily="49" charset="-122"/>
              </a:rPr>
              <a:t>译码算法步骤</a:t>
            </a:r>
            <a:r>
              <a:rPr lang="en-US" altLang="zh-CN" sz="2000">
                <a:solidFill>
                  <a:srgbClr val="000000"/>
                </a:solidFill>
                <a:latin typeface="Times New Roman" panose="02020603050405020304" pitchFamily="18" charset="0"/>
                <a:ea typeface="黑体" panose="02010609060101010101" pitchFamily="49" charset="-122"/>
              </a:rPr>
              <a:t>(</a:t>
            </a:r>
            <a:r>
              <a:rPr lang="en-US" altLang="zh-CN" sz="2000" i="1">
                <a:solidFill>
                  <a:srgbClr val="000000"/>
                </a:solidFill>
                <a:latin typeface="Times New Roman" panose="02020603050405020304" pitchFamily="18" charset="0"/>
                <a:ea typeface="黑体" panose="02010609060101010101" pitchFamily="49" charset="-122"/>
              </a:rPr>
              <a:t>t</a:t>
            </a:r>
            <a:r>
              <a:rPr lang="en-US" altLang="zh-CN" sz="2000">
                <a:solidFill>
                  <a:srgbClr val="000000"/>
                </a:solidFill>
                <a:latin typeface="Times New Roman" panose="02020603050405020304" pitchFamily="18" charset="0"/>
                <a:ea typeface="黑体" panose="02010609060101010101" pitchFamily="49" charset="-122"/>
              </a:rPr>
              <a:t>=2)</a:t>
            </a:r>
          </a:p>
        </p:txBody>
      </p:sp>
      <p:sp>
        <p:nvSpPr>
          <p:cNvPr id="3" name="文本框 2"/>
          <p:cNvSpPr txBox="1"/>
          <p:nvPr/>
        </p:nvSpPr>
        <p:spPr>
          <a:xfrm>
            <a:off x="1860550" y="915671"/>
            <a:ext cx="8446770" cy="1308735"/>
          </a:xfrm>
          <a:prstGeom prst="rect">
            <a:avLst/>
          </a:prstGeom>
          <a:noFill/>
        </p:spPr>
        <p:txBody>
          <a:bodyPr wrap="square" rtlCol="0" anchor="t">
            <a:spAutoFit/>
          </a:bodyPr>
          <a:lstStyle/>
          <a:p>
            <a:pPr eaLnBrk="0" fontAlgn="base" hangingPunct="0">
              <a:lnSpc>
                <a:spcPct val="110000"/>
              </a:lnSpc>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步骤</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en-US" altLang="zh-CN" sz="2400">
                <a:solidFill>
                  <a:srgbClr val="000000"/>
                </a:solidFill>
                <a:latin typeface="Times New Roman" panose="02020603050405020304" pitchFamily="18" charset="0"/>
                <a:ea typeface="黑体" panose="02010609060101010101" pitchFamily="49" charset="-122"/>
                <a:sym typeface="+mn-ea"/>
              </a:rPr>
              <a:t>=2</a:t>
            </a:r>
            <a:r>
              <a:rPr lang="zh-CN" altLang="en-US" sz="2400" dirty="0">
                <a:solidFill>
                  <a:srgbClr val="000000"/>
                </a:solidFill>
                <a:latin typeface="Times New Roman" panose="02020603050405020304" pitchFamily="18" charset="0"/>
                <a:ea typeface="黑体" panose="02010609060101010101" pitchFamily="49" charset="-122"/>
                <a:sym typeface="+mn-ea"/>
              </a:rPr>
              <a:t>时，接收向量是</a:t>
            </a:r>
            <a:r>
              <a:rPr lang="en-US" altLang="zh-CN" sz="2400">
                <a:solidFill>
                  <a:srgbClr val="000000"/>
                </a:solidFill>
                <a:latin typeface="Times New Roman" panose="02020603050405020304" pitchFamily="18" charset="0"/>
                <a:ea typeface="黑体" panose="02010609060101010101" pitchFamily="49" charset="-122"/>
                <a:sym typeface="+mn-ea"/>
              </a:rPr>
              <a:t>01</a:t>
            </a:r>
            <a:r>
              <a:rPr lang="zh-CN" altLang="en-US" sz="2400" dirty="0">
                <a:solidFill>
                  <a:srgbClr val="000000"/>
                </a:solidFill>
                <a:latin typeface="Times New Roman" panose="02020603050405020304" pitchFamily="18" charset="0"/>
                <a:ea typeface="黑体" panose="02010609060101010101" pitchFamily="49" charset="-122"/>
                <a:sym typeface="+mn-ea"/>
              </a:rPr>
              <a:t>，译码器从这</a:t>
            </a:r>
            <a:r>
              <a:rPr lang="en-US" altLang="zh-CN" sz="2400">
                <a:solidFill>
                  <a:srgbClr val="000000"/>
                </a:solidFill>
                <a:latin typeface="Times New Roman" panose="02020603050405020304" pitchFamily="18" charset="0"/>
                <a:ea typeface="黑体" panose="02010609060101010101" pitchFamily="49" charset="-122"/>
                <a:sym typeface="+mn-ea"/>
              </a:rPr>
              <a:t>4</a:t>
            </a:r>
            <a:r>
              <a:rPr lang="zh-CN" altLang="en-US" sz="2400" dirty="0">
                <a:solidFill>
                  <a:srgbClr val="000000"/>
                </a:solidFill>
                <a:latin typeface="Times New Roman" panose="02020603050405020304" pitchFamily="18" charset="0"/>
                <a:ea typeface="黑体" panose="02010609060101010101" pitchFamily="49" charset="-122"/>
                <a:sym typeface="+mn-ea"/>
              </a:rPr>
              <a:t>个可能的状态出发，就有</a:t>
            </a:r>
            <a:r>
              <a:rPr lang="en-US" altLang="zh-CN" sz="2400">
                <a:solidFill>
                  <a:srgbClr val="000000"/>
                </a:solidFill>
                <a:latin typeface="Times New Roman" panose="02020603050405020304" pitchFamily="18" charset="0"/>
                <a:ea typeface="黑体" panose="02010609060101010101" pitchFamily="49" charset="-122"/>
                <a:sym typeface="+mn-ea"/>
              </a:rPr>
              <a:t>8</a:t>
            </a:r>
            <a:r>
              <a:rPr lang="zh-CN" altLang="en-US" sz="2400" dirty="0">
                <a:solidFill>
                  <a:srgbClr val="000000"/>
                </a:solidFill>
                <a:latin typeface="Times New Roman" panose="02020603050405020304" pitchFamily="18" charset="0"/>
                <a:ea typeface="黑体" panose="02010609060101010101" pitchFamily="49" charset="-122"/>
                <a:sym typeface="+mn-ea"/>
              </a:rPr>
              <a:t>条不同的路径，译码器计算这</a:t>
            </a:r>
            <a:r>
              <a:rPr lang="en-US" altLang="zh-CN" sz="2400">
                <a:solidFill>
                  <a:srgbClr val="000000"/>
                </a:solidFill>
                <a:latin typeface="Times New Roman" panose="02020603050405020304" pitchFamily="18" charset="0"/>
                <a:ea typeface="黑体" panose="02010609060101010101" pitchFamily="49" charset="-122"/>
                <a:sym typeface="+mn-ea"/>
              </a:rPr>
              <a:t>8</a:t>
            </a:r>
            <a:r>
              <a:rPr lang="zh-CN" altLang="en-US" sz="2400" dirty="0">
                <a:solidFill>
                  <a:srgbClr val="000000"/>
                </a:solidFill>
                <a:latin typeface="Times New Roman" panose="02020603050405020304" pitchFamily="18" charset="0"/>
                <a:ea typeface="黑体" panose="02010609060101010101" pitchFamily="49" charset="-122"/>
                <a:sym typeface="+mn-ea"/>
              </a:rPr>
              <a:t>条路径量度，把累加的尺度值标在右侧</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pic>
        <p:nvPicPr>
          <p:cNvPr id="70659" name="图片 77828"/>
          <p:cNvPicPr>
            <a:picLocks noChangeAspect="1"/>
          </p:cNvPicPr>
          <p:nvPr/>
        </p:nvPicPr>
        <p:blipFill>
          <a:blip r:embed="rId2"/>
          <a:stretch>
            <a:fillRect/>
          </a:stretch>
        </p:blipFill>
        <p:spPr>
          <a:xfrm>
            <a:off x="2209800" y="2182496"/>
            <a:ext cx="7962900" cy="4144645"/>
          </a:xfrm>
          <a:prstGeom prst="rect">
            <a:avLst/>
          </a:prstGeom>
          <a:noFill/>
          <a:ln w="9525">
            <a:noFill/>
          </a:ln>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维特比译码</a:t>
            </a:r>
            <a:r>
              <a:rPr lang="zh-CN" altLang="en-US" sz="2800">
                <a:ea typeface="黑体" panose="02010609060101010101" pitchFamily="49" charset="-122"/>
                <a:sym typeface="+mn-ea"/>
              </a:rPr>
              <a:t>算法举例</a:t>
            </a:r>
          </a:p>
        </p:txBody>
      </p:sp>
      <p:sp>
        <p:nvSpPr>
          <p:cNvPr id="67587" name="文本框 188471"/>
          <p:cNvSpPr txBox="1"/>
          <p:nvPr/>
        </p:nvSpPr>
        <p:spPr>
          <a:xfrm>
            <a:off x="3431540" y="6179185"/>
            <a:ext cx="5543550" cy="39878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图</a:t>
            </a:r>
            <a:r>
              <a:rPr lang="en-US" altLang="zh-CN" sz="2000">
                <a:solidFill>
                  <a:srgbClr val="000000"/>
                </a:solidFill>
                <a:latin typeface="Times New Roman" panose="02020603050405020304" pitchFamily="18" charset="0"/>
                <a:ea typeface="黑体" panose="02010609060101010101" pitchFamily="49" charset="-122"/>
              </a:rPr>
              <a:t>6.12  </a:t>
            </a:r>
            <a:r>
              <a:rPr lang="en-US" altLang="zh-CN" sz="2000" err="1">
                <a:solidFill>
                  <a:srgbClr val="000000"/>
                </a:solidFill>
                <a:latin typeface="Times New Roman" panose="02020603050405020304" pitchFamily="18" charset="0"/>
                <a:ea typeface="黑体" panose="02010609060101010101" pitchFamily="49" charset="-122"/>
              </a:rPr>
              <a:t>Viterbi</a:t>
            </a:r>
            <a:r>
              <a:rPr lang="zh-CN" altLang="en-US" sz="2000" dirty="0">
                <a:solidFill>
                  <a:srgbClr val="000000"/>
                </a:solidFill>
                <a:latin typeface="Times New Roman" panose="02020603050405020304" pitchFamily="18" charset="0"/>
                <a:ea typeface="黑体" panose="02010609060101010101" pitchFamily="49" charset="-122"/>
              </a:rPr>
              <a:t>译码算法步骤</a:t>
            </a:r>
            <a:r>
              <a:rPr lang="en-US" altLang="zh-CN" sz="2000">
                <a:solidFill>
                  <a:srgbClr val="000000"/>
                </a:solidFill>
                <a:latin typeface="Times New Roman" panose="02020603050405020304" pitchFamily="18" charset="0"/>
                <a:ea typeface="黑体" panose="02010609060101010101" pitchFamily="49" charset="-122"/>
              </a:rPr>
              <a:t>(</a:t>
            </a:r>
            <a:r>
              <a:rPr lang="en-US" altLang="zh-CN" sz="2000" i="1">
                <a:solidFill>
                  <a:srgbClr val="000000"/>
                </a:solidFill>
                <a:latin typeface="Times New Roman" panose="02020603050405020304" pitchFamily="18" charset="0"/>
                <a:ea typeface="黑体" panose="02010609060101010101" pitchFamily="49" charset="-122"/>
              </a:rPr>
              <a:t>t</a:t>
            </a:r>
            <a:r>
              <a:rPr lang="en-US" altLang="zh-CN" sz="2000">
                <a:solidFill>
                  <a:srgbClr val="000000"/>
                </a:solidFill>
                <a:latin typeface="Times New Roman" panose="02020603050405020304" pitchFamily="18" charset="0"/>
                <a:ea typeface="黑体" panose="02010609060101010101" pitchFamily="49" charset="-122"/>
              </a:rPr>
              <a:t>=3)</a:t>
            </a:r>
          </a:p>
        </p:txBody>
      </p:sp>
      <p:sp>
        <p:nvSpPr>
          <p:cNvPr id="3" name="文本框 2"/>
          <p:cNvSpPr txBox="1"/>
          <p:nvPr/>
        </p:nvSpPr>
        <p:spPr>
          <a:xfrm>
            <a:off x="1860550" y="915670"/>
            <a:ext cx="8446770" cy="465448"/>
          </a:xfrm>
          <a:prstGeom prst="rect">
            <a:avLst/>
          </a:prstGeom>
          <a:noFill/>
        </p:spPr>
        <p:txBody>
          <a:bodyPr wrap="square" rtlCol="0" anchor="t">
            <a:spAutoFit/>
          </a:bodyPr>
          <a:lstStyle/>
          <a:p>
            <a:pPr eaLnBrk="0" fontAlgn="base" hangingPunct="0">
              <a:lnSpc>
                <a:spcPct val="110000"/>
              </a:lnSpc>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步骤</a:t>
            </a:r>
            <a:r>
              <a:rPr lang="en-US" altLang="zh-CN" sz="2400">
                <a:solidFill>
                  <a:srgbClr val="000000"/>
                </a:solidFill>
                <a:latin typeface="Times New Roman" panose="02020603050405020304" pitchFamily="18" charset="0"/>
                <a:ea typeface="黑体" panose="02010609060101010101" pitchFamily="49" charset="-122"/>
                <a:sym typeface="+mn-ea"/>
              </a:rPr>
              <a:t>4</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时，每个点都至少有一条到达它的路径</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pic>
        <p:nvPicPr>
          <p:cNvPr id="71683" name="图片 78852"/>
          <p:cNvPicPr>
            <a:picLocks noChangeAspect="1"/>
          </p:cNvPicPr>
          <p:nvPr/>
        </p:nvPicPr>
        <p:blipFill>
          <a:blip r:embed="rId2"/>
          <a:stretch>
            <a:fillRect/>
          </a:stretch>
        </p:blipFill>
        <p:spPr>
          <a:xfrm>
            <a:off x="1971041" y="1537970"/>
            <a:ext cx="8235315" cy="4511040"/>
          </a:xfrm>
          <a:prstGeom prst="rect">
            <a:avLst/>
          </a:prstGeom>
          <a:noFill/>
          <a:ln w="9525">
            <a:noFill/>
          </a:ln>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维特比译码</a:t>
            </a:r>
            <a:r>
              <a:rPr lang="zh-CN" altLang="en-US" sz="2800">
                <a:ea typeface="黑体" panose="02010609060101010101" pitchFamily="49" charset="-122"/>
                <a:sym typeface="+mn-ea"/>
              </a:rPr>
              <a:t>算法举例</a:t>
            </a:r>
          </a:p>
        </p:txBody>
      </p:sp>
      <p:sp>
        <p:nvSpPr>
          <p:cNvPr id="67587" name="文本框 188471"/>
          <p:cNvSpPr txBox="1"/>
          <p:nvPr/>
        </p:nvSpPr>
        <p:spPr>
          <a:xfrm>
            <a:off x="3431540" y="6179185"/>
            <a:ext cx="5543550" cy="39878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图</a:t>
            </a:r>
            <a:r>
              <a:rPr lang="en-US" altLang="zh-CN" sz="2000">
                <a:solidFill>
                  <a:srgbClr val="000000"/>
                </a:solidFill>
                <a:latin typeface="Times New Roman" panose="02020603050405020304" pitchFamily="18" charset="0"/>
                <a:ea typeface="黑体" panose="02010609060101010101" pitchFamily="49" charset="-122"/>
              </a:rPr>
              <a:t>6.13  </a:t>
            </a:r>
            <a:r>
              <a:rPr lang="en-US" altLang="zh-CN" sz="2000" err="1">
                <a:solidFill>
                  <a:srgbClr val="000000"/>
                </a:solidFill>
                <a:latin typeface="Times New Roman" panose="02020603050405020304" pitchFamily="18" charset="0"/>
                <a:ea typeface="黑体" panose="02010609060101010101" pitchFamily="49" charset="-122"/>
              </a:rPr>
              <a:t>Viterbi</a:t>
            </a:r>
            <a:r>
              <a:rPr lang="zh-CN" altLang="en-US" sz="2000" dirty="0">
                <a:solidFill>
                  <a:srgbClr val="000000"/>
                </a:solidFill>
                <a:latin typeface="Times New Roman" panose="02020603050405020304" pitchFamily="18" charset="0"/>
                <a:ea typeface="黑体" panose="02010609060101010101" pitchFamily="49" charset="-122"/>
              </a:rPr>
              <a:t>译码算法步骤</a:t>
            </a:r>
            <a:r>
              <a:rPr lang="en-US" altLang="zh-CN" sz="2000">
                <a:solidFill>
                  <a:srgbClr val="000000"/>
                </a:solidFill>
                <a:latin typeface="Times New Roman" panose="02020603050405020304" pitchFamily="18" charset="0"/>
                <a:ea typeface="黑体" panose="02010609060101010101" pitchFamily="49" charset="-122"/>
              </a:rPr>
              <a:t>(</a:t>
            </a:r>
            <a:r>
              <a:rPr lang="en-US" altLang="zh-CN" sz="2000" i="1">
                <a:solidFill>
                  <a:srgbClr val="000000"/>
                </a:solidFill>
                <a:latin typeface="Times New Roman" panose="02020603050405020304" pitchFamily="18" charset="0"/>
                <a:ea typeface="黑体" panose="02010609060101010101" pitchFamily="49" charset="-122"/>
              </a:rPr>
              <a:t>t</a:t>
            </a:r>
            <a:r>
              <a:rPr lang="en-US" altLang="zh-CN" sz="2000">
                <a:solidFill>
                  <a:srgbClr val="000000"/>
                </a:solidFill>
                <a:latin typeface="Times New Roman" panose="02020603050405020304" pitchFamily="18" charset="0"/>
                <a:ea typeface="黑体" panose="02010609060101010101" pitchFamily="49" charset="-122"/>
              </a:rPr>
              <a:t>=4)</a:t>
            </a:r>
          </a:p>
        </p:txBody>
      </p:sp>
      <p:sp>
        <p:nvSpPr>
          <p:cNvPr id="3" name="文本框 2"/>
          <p:cNvSpPr txBox="1"/>
          <p:nvPr/>
        </p:nvSpPr>
        <p:spPr>
          <a:xfrm>
            <a:off x="1860550" y="915670"/>
            <a:ext cx="8446770" cy="902970"/>
          </a:xfrm>
          <a:prstGeom prst="rect">
            <a:avLst/>
          </a:prstGeom>
          <a:noFill/>
        </p:spPr>
        <p:txBody>
          <a:bodyPr wrap="square" rtlCol="0" anchor="t">
            <a:spAutoFit/>
          </a:bodyPr>
          <a:lstStyle/>
          <a:p>
            <a:pPr eaLnBrk="0" fontAlgn="base" hangingPunct="0">
              <a:lnSpc>
                <a:spcPct val="110000"/>
              </a:lnSpc>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步骤</a:t>
            </a:r>
            <a:r>
              <a:rPr lang="en-US" altLang="zh-CN" sz="2400">
                <a:solidFill>
                  <a:srgbClr val="000000"/>
                </a:solidFill>
                <a:latin typeface="Times New Roman" panose="02020603050405020304" pitchFamily="18" charset="0"/>
                <a:ea typeface="黑体" panose="02010609060101010101" pitchFamily="49" charset="-122"/>
                <a:sym typeface="+mn-ea"/>
              </a:rPr>
              <a:t>5</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en-US" altLang="zh-CN" sz="2400">
                <a:solidFill>
                  <a:srgbClr val="000000"/>
                </a:solidFill>
                <a:latin typeface="Times New Roman" panose="02020603050405020304" pitchFamily="18" charset="0"/>
                <a:ea typeface="黑体" panose="02010609060101010101" pitchFamily="49" charset="-122"/>
                <a:sym typeface="+mn-ea"/>
              </a:rPr>
              <a:t>=4</a:t>
            </a:r>
            <a:r>
              <a:rPr lang="zh-CN" altLang="en-US" sz="2400" dirty="0">
                <a:solidFill>
                  <a:srgbClr val="000000"/>
                </a:solidFill>
                <a:latin typeface="Times New Roman" panose="02020603050405020304" pitchFamily="18" charset="0"/>
                <a:ea typeface="黑体" panose="02010609060101010101" pitchFamily="49" charset="-122"/>
                <a:sym typeface="+mn-ea"/>
              </a:rPr>
              <a:t>时，根据最大似然准则，将每行量度大的路径留下来</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pic>
        <p:nvPicPr>
          <p:cNvPr id="72707" name="图片 79876"/>
          <p:cNvPicPr>
            <a:picLocks noChangeAspect="1"/>
          </p:cNvPicPr>
          <p:nvPr/>
        </p:nvPicPr>
        <p:blipFill>
          <a:blip r:embed="rId2"/>
          <a:stretch>
            <a:fillRect/>
          </a:stretch>
        </p:blipFill>
        <p:spPr>
          <a:xfrm>
            <a:off x="2286000" y="1777365"/>
            <a:ext cx="7804150" cy="4401820"/>
          </a:xfrm>
          <a:prstGeom prst="rect">
            <a:avLst/>
          </a:prstGeom>
          <a:noFill/>
          <a:ln w="9525">
            <a:noFill/>
          </a:ln>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维特比译码</a:t>
            </a:r>
            <a:r>
              <a:rPr lang="zh-CN" altLang="en-US" sz="2800">
                <a:ea typeface="黑体" panose="02010609060101010101" pitchFamily="49" charset="-122"/>
                <a:sym typeface="+mn-ea"/>
              </a:rPr>
              <a:t>算法举例</a:t>
            </a:r>
          </a:p>
        </p:txBody>
      </p:sp>
      <p:sp>
        <p:nvSpPr>
          <p:cNvPr id="67587" name="文本框 188471"/>
          <p:cNvSpPr txBox="1"/>
          <p:nvPr/>
        </p:nvSpPr>
        <p:spPr>
          <a:xfrm>
            <a:off x="3431540" y="6179185"/>
            <a:ext cx="5543550" cy="39878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图</a:t>
            </a:r>
            <a:r>
              <a:rPr lang="en-US" altLang="zh-CN" sz="2000">
                <a:solidFill>
                  <a:srgbClr val="000000"/>
                </a:solidFill>
                <a:latin typeface="Times New Roman" panose="02020603050405020304" pitchFamily="18" charset="0"/>
                <a:ea typeface="黑体" panose="02010609060101010101" pitchFamily="49" charset="-122"/>
              </a:rPr>
              <a:t>6.14  </a:t>
            </a:r>
            <a:r>
              <a:rPr lang="en-US" altLang="zh-CN" sz="2000" err="1">
                <a:solidFill>
                  <a:srgbClr val="000000"/>
                </a:solidFill>
                <a:latin typeface="Times New Roman" panose="02020603050405020304" pitchFamily="18" charset="0"/>
                <a:ea typeface="黑体" panose="02010609060101010101" pitchFamily="49" charset="-122"/>
              </a:rPr>
              <a:t>Viterbi</a:t>
            </a:r>
            <a:r>
              <a:rPr lang="zh-CN" altLang="en-US" sz="2000" dirty="0">
                <a:solidFill>
                  <a:srgbClr val="000000"/>
                </a:solidFill>
                <a:latin typeface="Times New Roman" panose="02020603050405020304" pitchFamily="18" charset="0"/>
                <a:ea typeface="黑体" panose="02010609060101010101" pitchFamily="49" charset="-122"/>
              </a:rPr>
              <a:t>译码算法步骤</a:t>
            </a:r>
            <a:r>
              <a:rPr lang="en-US" altLang="zh-CN" sz="2000">
                <a:solidFill>
                  <a:srgbClr val="000000"/>
                </a:solidFill>
                <a:latin typeface="Times New Roman" panose="02020603050405020304" pitchFamily="18" charset="0"/>
                <a:ea typeface="黑体" panose="02010609060101010101" pitchFamily="49" charset="-122"/>
              </a:rPr>
              <a:t>(</a:t>
            </a:r>
            <a:r>
              <a:rPr lang="en-US" altLang="zh-CN" sz="2000" i="1">
                <a:solidFill>
                  <a:srgbClr val="000000"/>
                </a:solidFill>
                <a:latin typeface="Times New Roman" panose="02020603050405020304" pitchFamily="18" charset="0"/>
                <a:ea typeface="黑体" panose="02010609060101010101" pitchFamily="49" charset="-122"/>
              </a:rPr>
              <a:t>t</a:t>
            </a:r>
            <a:r>
              <a:rPr lang="en-US" altLang="zh-CN" sz="2000">
                <a:solidFill>
                  <a:srgbClr val="000000"/>
                </a:solidFill>
                <a:latin typeface="Times New Roman" panose="02020603050405020304" pitchFamily="18" charset="0"/>
                <a:ea typeface="黑体" panose="02010609060101010101" pitchFamily="49" charset="-122"/>
              </a:rPr>
              <a:t>=5)</a:t>
            </a:r>
          </a:p>
        </p:txBody>
      </p:sp>
      <p:sp>
        <p:nvSpPr>
          <p:cNvPr id="3" name="文本框 2"/>
          <p:cNvSpPr txBox="1"/>
          <p:nvPr/>
        </p:nvSpPr>
        <p:spPr>
          <a:xfrm>
            <a:off x="1860550" y="915670"/>
            <a:ext cx="8446770" cy="902970"/>
          </a:xfrm>
          <a:prstGeom prst="rect">
            <a:avLst/>
          </a:prstGeom>
          <a:noFill/>
        </p:spPr>
        <p:txBody>
          <a:bodyPr wrap="square" rtlCol="0" anchor="t">
            <a:spAutoFit/>
          </a:bodyPr>
          <a:lstStyle/>
          <a:p>
            <a:pPr eaLnBrk="0" fontAlgn="base" hangingPunct="0">
              <a:lnSpc>
                <a:spcPct val="110000"/>
              </a:lnSpc>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步骤</a:t>
            </a:r>
            <a:r>
              <a:rPr lang="en-US" altLang="zh-CN" sz="2400">
                <a:solidFill>
                  <a:srgbClr val="000000"/>
                </a:solidFill>
                <a:latin typeface="Times New Roman" panose="02020603050405020304" pitchFamily="18" charset="0"/>
                <a:ea typeface="黑体" panose="02010609060101010101" pitchFamily="49" charset="-122"/>
                <a:sym typeface="+mn-ea"/>
              </a:rPr>
              <a:t>6</a:t>
            </a:r>
            <a:r>
              <a:rPr lang="zh-CN" altLang="en-US" sz="2400" dirty="0">
                <a:solidFill>
                  <a:srgbClr val="00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en-US" altLang="zh-CN" sz="2400">
                <a:solidFill>
                  <a:srgbClr val="000000"/>
                </a:solidFill>
                <a:latin typeface="Times New Roman" panose="02020603050405020304" pitchFamily="18" charset="0"/>
                <a:ea typeface="黑体" panose="02010609060101010101" pitchFamily="49" charset="-122"/>
                <a:sym typeface="+mn-ea"/>
              </a:rPr>
              <a:t>=5</a:t>
            </a:r>
            <a:r>
              <a:rPr lang="zh-CN" altLang="en-US" sz="2400" dirty="0">
                <a:solidFill>
                  <a:srgbClr val="000000"/>
                </a:solidFill>
                <a:latin typeface="Times New Roman" panose="02020603050405020304" pitchFamily="18" charset="0"/>
                <a:ea typeface="黑体" panose="02010609060101010101" pitchFamily="49" charset="-122"/>
                <a:sym typeface="+mn-ea"/>
              </a:rPr>
              <a:t>时，继续把累加的尺度值标在右侧，并且把每行量度大的路径留下来</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pic>
        <p:nvPicPr>
          <p:cNvPr id="74755" name="图片 80900"/>
          <p:cNvPicPr>
            <a:picLocks noChangeAspect="1"/>
          </p:cNvPicPr>
          <p:nvPr/>
        </p:nvPicPr>
        <p:blipFill>
          <a:blip r:embed="rId2"/>
          <a:stretch>
            <a:fillRect/>
          </a:stretch>
        </p:blipFill>
        <p:spPr>
          <a:xfrm>
            <a:off x="2286001" y="1823086"/>
            <a:ext cx="7775575" cy="4261485"/>
          </a:xfrm>
          <a:prstGeom prst="rect">
            <a:avLst/>
          </a:prstGeom>
          <a:noFill/>
          <a:ln w="9525">
            <a:noFill/>
          </a:ln>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维特比译码</a:t>
            </a:r>
            <a:r>
              <a:rPr lang="zh-CN" altLang="en-US" sz="2800">
                <a:ea typeface="黑体" panose="02010609060101010101" pitchFamily="49" charset="-122"/>
                <a:sym typeface="+mn-ea"/>
              </a:rPr>
              <a:t>算法举例</a:t>
            </a:r>
          </a:p>
        </p:txBody>
      </p:sp>
      <p:sp>
        <p:nvSpPr>
          <p:cNvPr id="67587" name="文本框 188471"/>
          <p:cNvSpPr txBox="1"/>
          <p:nvPr/>
        </p:nvSpPr>
        <p:spPr>
          <a:xfrm>
            <a:off x="3431540" y="6179185"/>
            <a:ext cx="5543550" cy="39878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图</a:t>
            </a:r>
            <a:r>
              <a:rPr lang="en-US" altLang="zh-CN" sz="2000">
                <a:solidFill>
                  <a:srgbClr val="000000"/>
                </a:solidFill>
                <a:latin typeface="Times New Roman" panose="02020603050405020304" pitchFamily="18" charset="0"/>
                <a:ea typeface="黑体" panose="02010609060101010101" pitchFamily="49" charset="-122"/>
              </a:rPr>
              <a:t>6.15  </a:t>
            </a:r>
            <a:r>
              <a:rPr lang="en-US" altLang="zh-CN" sz="2000" err="1">
                <a:solidFill>
                  <a:srgbClr val="000000"/>
                </a:solidFill>
                <a:latin typeface="Times New Roman" panose="02020603050405020304" pitchFamily="18" charset="0"/>
                <a:ea typeface="黑体" panose="02010609060101010101" pitchFamily="49" charset="-122"/>
              </a:rPr>
              <a:t>Viterbi</a:t>
            </a:r>
            <a:r>
              <a:rPr lang="zh-CN" altLang="en-US" sz="2000" dirty="0">
                <a:solidFill>
                  <a:srgbClr val="000000"/>
                </a:solidFill>
                <a:latin typeface="Times New Roman" panose="02020603050405020304" pitchFamily="18" charset="0"/>
                <a:ea typeface="黑体" panose="02010609060101010101" pitchFamily="49" charset="-122"/>
              </a:rPr>
              <a:t>译码算法步骤</a:t>
            </a:r>
            <a:r>
              <a:rPr lang="en-US" altLang="zh-CN" sz="2000">
                <a:solidFill>
                  <a:srgbClr val="000000"/>
                </a:solidFill>
                <a:latin typeface="Times New Roman" panose="02020603050405020304" pitchFamily="18" charset="0"/>
                <a:ea typeface="黑体" panose="02010609060101010101" pitchFamily="49" charset="-122"/>
              </a:rPr>
              <a:t>(</a:t>
            </a:r>
            <a:r>
              <a:rPr lang="en-US" altLang="zh-CN" sz="2000" i="1">
                <a:solidFill>
                  <a:srgbClr val="000000"/>
                </a:solidFill>
                <a:latin typeface="Times New Roman" panose="02020603050405020304" pitchFamily="18" charset="0"/>
                <a:ea typeface="黑体" panose="02010609060101010101" pitchFamily="49" charset="-122"/>
              </a:rPr>
              <a:t>t</a:t>
            </a:r>
            <a:r>
              <a:rPr lang="en-US" altLang="zh-CN" sz="2000">
                <a:solidFill>
                  <a:srgbClr val="000000"/>
                </a:solidFill>
                <a:latin typeface="Times New Roman" panose="02020603050405020304" pitchFamily="18" charset="0"/>
                <a:ea typeface="黑体" panose="02010609060101010101" pitchFamily="49" charset="-122"/>
              </a:rPr>
              <a:t>=6)</a:t>
            </a:r>
          </a:p>
        </p:txBody>
      </p:sp>
      <p:sp>
        <p:nvSpPr>
          <p:cNvPr id="3" name="文本框 2"/>
          <p:cNvSpPr txBox="1"/>
          <p:nvPr/>
        </p:nvSpPr>
        <p:spPr>
          <a:xfrm>
            <a:off x="1860550" y="915671"/>
            <a:ext cx="8446770" cy="1308735"/>
          </a:xfrm>
          <a:prstGeom prst="rect">
            <a:avLst/>
          </a:prstGeom>
          <a:noFill/>
        </p:spPr>
        <p:txBody>
          <a:bodyPr wrap="square" rtlCol="0" anchor="t">
            <a:spAutoFit/>
          </a:bodyPr>
          <a:lstStyle/>
          <a:p>
            <a:pPr eaLnBrk="0" fontAlgn="base" hangingPunct="0">
              <a:lnSpc>
                <a:spcPct val="110000"/>
              </a:lnSpc>
              <a:spcAft>
                <a:spcPct val="0"/>
              </a:spcAft>
              <a:buClr>
                <a:srgbClr val="CCCCFF"/>
              </a:buClr>
              <a:buSzPct val="65000"/>
            </a:pPr>
            <a:r>
              <a:rPr lang="zh-CN" altLang="en-US" sz="2400" dirty="0">
                <a:solidFill>
                  <a:srgbClr val="000000"/>
                </a:solidFill>
                <a:latin typeface="Times New Roman" panose="02020603050405020304" pitchFamily="18" charset="0"/>
                <a:ea typeface="黑体" panose="02010609060101010101" pitchFamily="49" charset="-122"/>
                <a:sym typeface="+mn-ea"/>
              </a:rPr>
              <a:t>步骤</a:t>
            </a:r>
            <a:r>
              <a:rPr lang="en-US" altLang="zh-CN" sz="2400">
                <a:solidFill>
                  <a:srgbClr val="000000"/>
                </a:solidFill>
                <a:latin typeface="Times New Roman" panose="02020603050405020304" pitchFamily="18" charset="0"/>
                <a:ea typeface="黑体" panose="02010609060101010101" pitchFamily="49" charset="-122"/>
                <a:sym typeface="+mn-ea"/>
              </a:rPr>
              <a:t>7</a:t>
            </a:r>
            <a:r>
              <a:rPr lang="zh-CN" altLang="en-US" sz="2400" dirty="0">
                <a:solidFill>
                  <a:srgbClr val="000000"/>
                </a:solidFill>
                <a:latin typeface="Times New Roman" panose="02020603050405020304" pitchFamily="18" charset="0"/>
                <a:ea typeface="黑体" panose="02010609060101010101" pitchFamily="49" charset="-122"/>
                <a:sym typeface="+mn-ea"/>
              </a:rPr>
              <a:t>、步骤</a:t>
            </a:r>
            <a:r>
              <a:rPr lang="en-US" altLang="zh-CN" sz="2400">
                <a:solidFill>
                  <a:srgbClr val="000000"/>
                </a:solidFill>
                <a:latin typeface="Times New Roman" panose="02020603050405020304" pitchFamily="18" charset="0"/>
                <a:ea typeface="黑体" panose="02010609060101010101" pitchFamily="49" charset="-122"/>
                <a:sym typeface="+mn-ea"/>
              </a:rPr>
              <a:t>8</a:t>
            </a:r>
            <a:r>
              <a:rPr lang="zh-CN" altLang="en-US" sz="2400" dirty="0">
                <a:solidFill>
                  <a:srgbClr val="000000"/>
                </a:solidFill>
                <a:latin typeface="Times New Roman" panose="02020603050405020304" pitchFamily="18" charset="0"/>
                <a:ea typeface="黑体" panose="02010609060101010101" pitchFamily="49" charset="-122"/>
                <a:sym typeface="+mn-ea"/>
              </a:rPr>
              <a:t>都类似操作，最终我们得到一条幸存者路径，这条路径分别经过这些状态</a:t>
            </a:r>
            <a:r>
              <a:rPr lang="en-US" altLang="zh-CN" sz="2400">
                <a:solidFill>
                  <a:srgbClr val="000000"/>
                </a:solidFill>
                <a:latin typeface="Times New Roman" panose="02020603050405020304" pitchFamily="18" charset="0"/>
                <a:ea typeface="黑体" panose="02010609060101010101" pitchFamily="49" charset="-122"/>
                <a:sym typeface="+mn-ea"/>
              </a:rPr>
              <a:t>000, 100, 010, 101, 110, 011, 001, 000</a:t>
            </a:r>
            <a:r>
              <a:rPr lang="zh-CN" altLang="en-US" sz="2400" dirty="0">
                <a:solidFill>
                  <a:srgbClr val="000000"/>
                </a:solidFill>
                <a:latin typeface="Times New Roman" panose="02020603050405020304" pitchFamily="18" charset="0"/>
                <a:ea typeface="黑体" panose="02010609060101010101" pitchFamily="49" charset="-122"/>
                <a:sym typeface="+mn-ea"/>
              </a:rPr>
              <a:t>，对应的译码后的码字也可以对应得到</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pic>
        <p:nvPicPr>
          <p:cNvPr id="75779" name="图片 81924"/>
          <p:cNvPicPr>
            <a:picLocks noChangeAspect="1"/>
          </p:cNvPicPr>
          <p:nvPr/>
        </p:nvPicPr>
        <p:blipFill>
          <a:blip r:embed="rId2"/>
          <a:stretch>
            <a:fillRect/>
          </a:stretch>
        </p:blipFill>
        <p:spPr>
          <a:xfrm>
            <a:off x="2057084" y="2209483"/>
            <a:ext cx="7875587" cy="3905250"/>
          </a:xfrm>
          <a:prstGeom prst="rect">
            <a:avLst/>
          </a:prstGeom>
          <a:noFill/>
          <a:ln w="9525">
            <a:noFill/>
          </a:ln>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维特比译码</a:t>
            </a:r>
            <a:r>
              <a:rPr lang="zh-CN" altLang="en-US" sz="2800">
                <a:ea typeface="黑体" panose="02010609060101010101" pitchFamily="49" charset="-122"/>
                <a:sym typeface="+mn-ea"/>
              </a:rPr>
              <a:t>算法举例</a:t>
            </a:r>
          </a:p>
        </p:txBody>
      </p:sp>
      <p:sp>
        <p:nvSpPr>
          <p:cNvPr id="67587" name="文本框 188471"/>
          <p:cNvSpPr txBox="1"/>
          <p:nvPr/>
        </p:nvSpPr>
        <p:spPr>
          <a:xfrm>
            <a:off x="3431540" y="5725795"/>
            <a:ext cx="5543550" cy="39878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图</a:t>
            </a:r>
            <a:r>
              <a:rPr lang="en-US" altLang="zh-CN" sz="2000">
                <a:solidFill>
                  <a:srgbClr val="000000"/>
                </a:solidFill>
                <a:latin typeface="Times New Roman" panose="02020603050405020304" pitchFamily="18" charset="0"/>
                <a:ea typeface="黑体" panose="02010609060101010101" pitchFamily="49" charset="-122"/>
              </a:rPr>
              <a:t>6.16  </a:t>
            </a:r>
            <a:r>
              <a:rPr lang="en-US" altLang="zh-CN" sz="2000" err="1">
                <a:solidFill>
                  <a:srgbClr val="000000"/>
                </a:solidFill>
                <a:latin typeface="Times New Roman" panose="02020603050405020304" pitchFamily="18" charset="0"/>
                <a:ea typeface="黑体" panose="02010609060101010101" pitchFamily="49" charset="-122"/>
              </a:rPr>
              <a:t>Viterbi</a:t>
            </a:r>
            <a:r>
              <a:rPr lang="zh-CN" altLang="en-US" sz="2000" dirty="0">
                <a:solidFill>
                  <a:srgbClr val="000000"/>
                </a:solidFill>
                <a:latin typeface="Times New Roman" panose="02020603050405020304" pitchFamily="18" charset="0"/>
                <a:ea typeface="黑体" panose="02010609060101010101" pitchFamily="49" charset="-122"/>
              </a:rPr>
              <a:t>译码算法步骤</a:t>
            </a:r>
            <a:r>
              <a:rPr lang="en-US" altLang="zh-CN" sz="2000">
                <a:solidFill>
                  <a:srgbClr val="000000"/>
                </a:solidFill>
                <a:latin typeface="Times New Roman" panose="02020603050405020304" pitchFamily="18" charset="0"/>
                <a:ea typeface="黑体" panose="02010609060101010101" pitchFamily="49" charset="-122"/>
              </a:rPr>
              <a:t>(</a:t>
            </a:r>
            <a:r>
              <a:rPr lang="en-US" altLang="zh-CN" sz="2000" i="1">
                <a:solidFill>
                  <a:srgbClr val="000000"/>
                </a:solidFill>
                <a:latin typeface="Times New Roman" panose="02020603050405020304" pitchFamily="18" charset="0"/>
                <a:ea typeface="黑体" panose="02010609060101010101" pitchFamily="49" charset="-122"/>
              </a:rPr>
              <a:t>t</a:t>
            </a:r>
            <a:r>
              <a:rPr lang="en-US" altLang="zh-CN" sz="2000">
                <a:solidFill>
                  <a:srgbClr val="000000"/>
                </a:solidFill>
                <a:latin typeface="Times New Roman" panose="02020603050405020304" pitchFamily="18" charset="0"/>
                <a:ea typeface="黑体" panose="02010609060101010101" pitchFamily="49" charset="-122"/>
              </a:rPr>
              <a:t>=7)</a:t>
            </a:r>
          </a:p>
        </p:txBody>
      </p:sp>
      <p:pic>
        <p:nvPicPr>
          <p:cNvPr id="76803" name="图片 82948"/>
          <p:cNvPicPr>
            <a:picLocks noChangeAspect="1"/>
          </p:cNvPicPr>
          <p:nvPr/>
        </p:nvPicPr>
        <p:blipFill>
          <a:blip r:embed="rId2"/>
          <a:stretch>
            <a:fillRect/>
          </a:stretch>
        </p:blipFill>
        <p:spPr>
          <a:xfrm>
            <a:off x="2362201" y="1372236"/>
            <a:ext cx="7921625" cy="4236085"/>
          </a:xfrm>
          <a:prstGeom prst="rect">
            <a:avLst/>
          </a:prstGeom>
          <a:noFill/>
          <a:ln w="9525">
            <a:noFill/>
          </a:ln>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序列译码算法</a:t>
            </a:r>
          </a:p>
        </p:txBody>
      </p:sp>
      <p:sp>
        <p:nvSpPr>
          <p:cNvPr id="10" name="文本框 9"/>
          <p:cNvSpPr txBox="1"/>
          <p:nvPr/>
        </p:nvSpPr>
        <p:spPr>
          <a:xfrm>
            <a:off x="1860550" y="915670"/>
            <a:ext cx="8446770" cy="5367020"/>
          </a:xfrm>
          <a:prstGeom prst="rect">
            <a:avLst/>
          </a:prstGeom>
          <a:noFill/>
        </p:spPr>
        <p:txBody>
          <a:bodyPr wrap="square" rtlCol="0" anchor="t">
            <a:spAutoFit/>
          </a:bodyPr>
          <a:lstStyle/>
          <a:p>
            <a:pPr indent="6096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序列译码算法的描述最好是用类比。假设到一个地方去有多条路，有的路上是有一些路标，有一些地方没有路标或者有路标但无法进行识别，我们也许会走错路，当我们意识到走错路的时候，我们就会回退到一个有路标的地点，然后选择另外一条路径走下去，如此往复，直到我们到达目的地。在这个过程中，我们有可能会回退多次。</a:t>
            </a:r>
          </a:p>
          <a:p>
            <a:pPr indent="6096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4158780845"/>
                </a:ext>
              </a:extLst>
            </a:pPr>
            <a:r>
              <a:rPr lang="zh-CN" altLang="en-US" sz="2400" dirty="0">
                <a:solidFill>
                  <a:srgbClr val="000000"/>
                </a:solidFill>
                <a:latin typeface="Times New Roman" panose="02020603050405020304" pitchFamily="18" charset="0"/>
                <a:ea typeface="黑体" panose="02010609060101010101" pitchFamily="49" charset="-122"/>
                <a:sym typeface="+mn-ea"/>
              </a:rPr>
              <a:t>在序列译码算法中，类似的，在</a:t>
            </a:r>
            <a:r>
              <a:rPr lang="en-US" altLang="zh-CN" sz="2400">
                <a:solidFill>
                  <a:srgbClr val="000000"/>
                </a:solidFill>
                <a:latin typeface="Times New Roman" panose="02020603050405020304" pitchFamily="18" charset="0"/>
                <a:ea typeface="黑体" panose="02010609060101010101" pitchFamily="49" charset="-122"/>
                <a:sym typeface="+mn-ea"/>
              </a:rPr>
              <a:t>Trellis</a:t>
            </a:r>
            <a:r>
              <a:rPr lang="zh-CN" altLang="en-US" sz="2400" dirty="0">
                <a:solidFill>
                  <a:srgbClr val="000000"/>
                </a:solidFill>
                <a:latin typeface="Times New Roman" panose="02020603050405020304" pitchFamily="18" charset="0"/>
                <a:ea typeface="黑体" panose="02010609060101010101" pitchFamily="49" charset="-122"/>
                <a:sym typeface="+mn-ea"/>
              </a:rPr>
              <a:t>图上，每次我们只能沿着一条路径进行译码，序列译码既允许往前走也允许往后退，译码器记录我们的选择，一旦走到两难的路上，就会做标记，当标记的数值不断增加，超过某个预先设定的门限值的时候，就会回退。</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序列译码算法</a:t>
            </a:r>
            <a:r>
              <a:rPr lang="zh-CN" altLang="en-US" sz="2800">
                <a:ea typeface="黑体" panose="02010609060101010101" pitchFamily="49" charset="-122"/>
                <a:sym typeface="+mn-ea"/>
              </a:rPr>
              <a:t>举例</a:t>
            </a:r>
          </a:p>
        </p:txBody>
      </p:sp>
      <p:pic>
        <p:nvPicPr>
          <p:cNvPr id="79875" name="图片 68611"/>
          <p:cNvPicPr>
            <a:picLocks noChangeAspect="1"/>
          </p:cNvPicPr>
          <p:nvPr/>
        </p:nvPicPr>
        <p:blipFill>
          <a:blip r:embed="rId2"/>
          <a:stretch>
            <a:fillRect/>
          </a:stretch>
        </p:blipFill>
        <p:spPr>
          <a:xfrm>
            <a:off x="3235325" y="1220470"/>
            <a:ext cx="6107430" cy="3159760"/>
          </a:xfrm>
          <a:prstGeom prst="rect">
            <a:avLst/>
          </a:prstGeom>
          <a:noFill/>
          <a:ln w="9525">
            <a:noFill/>
          </a:ln>
        </p:spPr>
      </p:pic>
      <p:sp>
        <p:nvSpPr>
          <p:cNvPr id="79876" name="文本框 188471"/>
          <p:cNvSpPr txBox="1"/>
          <p:nvPr/>
        </p:nvSpPr>
        <p:spPr>
          <a:xfrm>
            <a:off x="2862581" y="890905"/>
            <a:ext cx="6480175" cy="398780"/>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表</a:t>
            </a:r>
            <a:r>
              <a:rPr lang="en-US" altLang="zh-CN" sz="2000">
                <a:solidFill>
                  <a:srgbClr val="000000"/>
                </a:solidFill>
                <a:latin typeface="Times New Roman" panose="02020603050405020304" pitchFamily="18" charset="0"/>
                <a:ea typeface="黑体" panose="02010609060101010101" pitchFamily="49" charset="-122"/>
              </a:rPr>
              <a:t>6.1 (2,1,4)</a:t>
            </a:r>
            <a:r>
              <a:rPr lang="zh-CN" altLang="en-US" sz="2000" dirty="0">
                <a:solidFill>
                  <a:srgbClr val="000000"/>
                </a:solidFill>
                <a:latin typeface="Times New Roman" panose="02020603050405020304" pitchFamily="18" charset="0"/>
                <a:ea typeface="黑体" panose="02010609060101010101" pitchFamily="49" charset="-122"/>
              </a:rPr>
              <a:t>卷积码的真值表</a:t>
            </a:r>
          </a:p>
        </p:txBody>
      </p:sp>
      <p:sp>
        <p:nvSpPr>
          <p:cNvPr id="3" name="文本框 2"/>
          <p:cNvSpPr txBox="1"/>
          <p:nvPr/>
        </p:nvSpPr>
        <p:spPr>
          <a:xfrm>
            <a:off x="1860550" y="4316095"/>
            <a:ext cx="8446770" cy="2091690"/>
          </a:xfrm>
          <a:prstGeom prst="rect">
            <a:avLst/>
          </a:prstGeom>
          <a:noFill/>
        </p:spPr>
        <p:txBody>
          <a:bodyPr wrap="square" rtlCol="0" anchor="t">
            <a:spAutoFit/>
          </a:bodyPr>
          <a:lstStyle/>
          <a:p>
            <a:pPr indent="5080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282533468"/>
                </a:ext>
              </a:extLst>
            </a:pPr>
            <a:r>
              <a:rPr lang="zh-CN" altLang="en-US" sz="2000" dirty="0">
                <a:solidFill>
                  <a:srgbClr val="000000"/>
                </a:solidFill>
                <a:latin typeface="Times New Roman" panose="02020603050405020304" pitchFamily="18" charset="0"/>
                <a:ea typeface="黑体" panose="02010609060101010101" pitchFamily="49" charset="-122"/>
                <a:sym typeface="+mn-ea"/>
              </a:rPr>
              <a:t>假设发送比特序列</a:t>
            </a:r>
            <a:r>
              <a:rPr lang="en-US" altLang="zh-CN" sz="2000">
                <a:solidFill>
                  <a:srgbClr val="000000"/>
                </a:solidFill>
                <a:latin typeface="Times New Roman" panose="02020603050405020304" pitchFamily="18" charset="0"/>
                <a:ea typeface="黑体" panose="02010609060101010101" pitchFamily="49" charset="-122"/>
                <a:sym typeface="+mn-ea"/>
              </a:rPr>
              <a:t>(1011000)</a:t>
            </a:r>
            <a:r>
              <a:rPr lang="zh-CN" altLang="en-US" sz="2000" dirty="0">
                <a:solidFill>
                  <a:srgbClr val="000000"/>
                </a:solidFill>
                <a:latin typeface="Times New Roman" panose="02020603050405020304" pitchFamily="18" charset="0"/>
                <a:ea typeface="黑体" panose="02010609060101010101" pitchFamily="49" charset="-122"/>
                <a:sym typeface="+mn-ea"/>
              </a:rPr>
              <a:t>，最后</a:t>
            </a:r>
            <a:r>
              <a:rPr lang="en-US" altLang="zh-CN" sz="2000">
                <a:solidFill>
                  <a:srgbClr val="000000"/>
                </a:solidFill>
                <a:latin typeface="Times New Roman" panose="02020603050405020304" pitchFamily="18" charset="0"/>
                <a:ea typeface="黑体" panose="02010609060101010101" pitchFamily="49" charset="-122"/>
                <a:sym typeface="+mn-ea"/>
              </a:rPr>
              <a:t>3</a:t>
            </a:r>
            <a:r>
              <a:rPr lang="zh-CN" altLang="en-US" sz="2000" dirty="0">
                <a:solidFill>
                  <a:srgbClr val="000000"/>
                </a:solidFill>
                <a:latin typeface="Times New Roman" panose="02020603050405020304" pitchFamily="18" charset="0"/>
                <a:ea typeface="黑体" panose="02010609060101010101" pitchFamily="49" charset="-122"/>
                <a:sym typeface="+mn-ea"/>
              </a:rPr>
              <a:t>比特是尾巴比特，是为了使得移位寄存器可以归零。</a:t>
            </a:r>
            <a:endParaRPr lang="zh-CN" altLang="en-US" sz="2000" dirty="0">
              <a:solidFill>
                <a:srgbClr val="000000"/>
              </a:solidFill>
              <a:latin typeface="Times New Roman" panose="02020603050405020304" pitchFamily="18" charset="0"/>
              <a:ea typeface="黑体" panose="02010609060101010101" pitchFamily="49" charset="-122"/>
            </a:endParaRPr>
          </a:p>
          <a:p>
            <a:pPr indent="5080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282533468"/>
                </a:ext>
              </a:extLst>
            </a:pPr>
            <a:r>
              <a:rPr lang="zh-CN" altLang="en-US" sz="2000" dirty="0">
                <a:solidFill>
                  <a:srgbClr val="000000"/>
                </a:solidFill>
                <a:latin typeface="Times New Roman" panose="02020603050405020304" pitchFamily="18" charset="0"/>
                <a:ea typeface="黑体" panose="02010609060101010101" pitchFamily="49" charset="-122"/>
                <a:sym typeface="+mn-ea"/>
              </a:rPr>
              <a:t>如果没有任何错误发生，将会接收到</a:t>
            </a:r>
            <a:r>
              <a:rPr lang="en-US" altLang="zh-CN" sz="2000">
                <a:solidFill>
                  <a:srgbClr val="000000"/>
                </a:solidFill>
                <a:latin typeface="Times New Roman" panose="02020603050405020304" pitchFamily="18" charset="0"/>
                <a:ea typeface="黑体" panose="02010609060101010101" pitchFamily="49" charset="-122"/>
                <a:sym typeface="+mn-ea"/>
              </a:rPr>
              <a:t>(11,11,01, 11,01,01,11)</a:t>
            </a:r>
            <a:r>
              <a:rPr lang="zh-CN" altLang="en-US" sz="2000" dirty="0">
                <a:solidFill>
                  <a:srgbClr val="000000"/>
                </a:solidFill>
                <a:latin typeface="Times New Roman" panose="02020603050405020304" pitchFamily="18" charset="0"/>
                <a:ea typeface="黑体" panose="02010609060101010101" pitchFamily="49" charset="-122"/>
                <a:sym typeface="+mn-ea"/>
              </a:rPr>
              <a:t>。但是现在实际接收到的是</a:t>
            </a:r>
            <a:r>
              <a:rPr lang="en-US" altLang="zh-CN" sz="2000">
                <a:solidFill>
                  <a:srgbClr val="000000"/>
                </a:solidFill>
                <a:latin typeface="Times New Roman" panose="02020603050405020304" pitchFamily="18" charset="0"/>
                <a:ea typeface="黑体" panose="02010609060101010101" pitchFamily="49" charset="-122"/>
                <a:sym typeface="+mn-ea"/>
              </a:rPr>
              <a:t>(</a:t>
            </a:r>
            <a:r>
              <a:rPr lang="en-US" altLang="zh-CN" sz="2000">
                <a:solidFill>
                  <a:srgbClr val="CC3300"/>
                </a:solidFill>
                <a:latin typeface="Times New Roman" panose="02020603050405020304" pitchFamily="18" charset="0"/>
                <a:ea typeface="黑体" panose="02010609060101010101" pitchFamily="49" charset="-122"/>
                <a:sym typeface="+mn-ea"/>
              </a:rPr>
              <a:t>0</a:t>
            </a:r>
            <a:r>
              <a:rPr lang="en-US" altLang="zh-CN" sz="2000">
                <a:solidFill>
                  <a:srgbClr val="000000"/>
                </a:solidFill>
                <a:latin typeface="Times New Roman" panose="02020603050405020304" pitchFamily="18" charset="0"/>
                <a:ea typeface="黑体" panose="02010609060101010101" pitchFamily="49" charset="-122"/>
                <a:sym typeface="+mn-ea"/>
              </a:rPr>
              <a:t>1,11, 01,11,01,01,11)</a:t>
            </a:r>
            <a:r>
              <a:rPr lang="zh-CN" altLang="en-US" sz="2000" dirty="0">
                <a:solidFill>
                  <a:srgbClr val="000000"/>
                </a:solidFill>
                <a:latin typeface="Times New Roman" panose="02020603050405020304" pitchFamily="18" charset="0"/>
                <a:ea typeface="黑体" panose="02010609060101010101" pitchFamily="49" charset="-122"/>
                <a:sym typeface="+mn-ea"/>
              </a:rPr>
              <a:t>，发生了一个错误。</a:t>
            </a:r>
            <a:endParaRPr lang="zh-CN" altLang="en-US" sz="2000" dirty="0">
              <a:solidFill>
                <a:srgbClr val="000000"/>
              </a:solidFill>
              <a:latin typeface="Times New Roman" panose="02020603050405020304" pitchFamily="18" charset="0"/>
              <a:ea typeface="黑体" panose="02010609060101010101" pitchFamily="49" charset="-122"/>
            </a:endParaRPr>
          </a:p>
          <a:p>
            <a:pPr indent="5080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282533468"/>
                </a:ext>
              </a:extLst>
            </a:pPr>
            <a:r>
              <a:rPr lang="zh-CN" altLang="en-US" sz="2000" dirty="0">
                <a:solidFill>
                  <a:srgbClr val="000000"/>
                </a:solidFill>
                <a:latin typeface="Times New Roman" panose="02020603050405020304" pitchFamily="18" charset="0"/>
                <a:ea typeface="黑体" panose="02010609060101010101" pitchFamily="49" charset="-122"/>
                <a:sym typeface="+mn-ea"/>
              </a:rPr>
              <a:t>假设回退的门限之为</a:t>
            </a:r>
            <a:r>
              <a:rPr lang="en-US" altLang="zh-CN" sz="2000">
                <a:solidFill>
                  <a:srgbClr val="000000"/>
                </a:solidFill>
                <a:latin typeface="Times New Roman" panose="02020603050405020304" pitchFamily="18" charset="0"/>
                <a:ea typeface="黑体" panose="02010609060101010101" pitchFamily="49" charset="-122"/>
                <a:sym typeface="+mn-ea"/>
              </a:rPr>
              <a:t>3</a:t>
            </a:r>
            <a:r>
              <a:rPr lang="zh-CN" altLang="en-US" sz="2000" dirty="0">
                <a:solidFill>
                  <a:srgbClr val="000000"/>
                </a:solidFill>
                <a:latin typeface="Times New Roman" panose="02020603050405020304" pitchFamily="18" charset="0"/>
                <a:ea typeface="黑体" panose="02010609060101010101" pitchFamily="49" charset="-122"/>
                <a:sym typeface="+mn-ea"/>
              </a:rPr>
              <a:t>，下面我们用序列译码算法进行译码如下。</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序列译码算法</a:t>
            </a:r>
            <a:r>
              <a:rPr lang="zh-CN" altLang="en-US" sz="2800">
                <a:ea typeface="黑体" panose="02010609060101010101" pitchFamily="49" charset="-122"/>
                <a:sym typeface="+mn-ea"/>
              </a:rPr>
              <a:t>举例</a:t>
            </a:r>
          </a:p>
        </p:txBody>
      </p:sp>
      <p:pic>
        <p:nvPicPr>
          <p:cNvPr id="81922" name="图片 70660"/>
          <p:cNvPicPr>
            <a:picLocks noChangeAspect="1"/>
          </p:cNvPicPr>
          <p:nvPr/>
        </p:nvPicPr>
        <p:blipFill>
          <a:blip r:embed="rId2"/>
          <a:stretch>
            <a:fillRect/>
          </a:stretch>
        </p:blipFill>
        <p:spPr>
          <a:xfrm>
            <a:off x="1815465" y="1090296"/>
            <a:ext cx="8562340" cy="4408805"/>
          </a:xfrm>
          <a:prstGeom prst="rect">
            <a:avLst/>
          </a:prstGeom>
          <a:noFill/>
          <a:ln w="9525">
            <a:noFill/>
          </a:ln>
        </p:spPr>
      </p:pic>
      <p:sp>
        <p:nvSpPr>
          <p:cNvPr id="81923" name="文本框 188471"/>
          <p:cNvSpPr txBox="1"/>
          <p:nvPr/>
        </p:nvSpPr>
        <p:spPr>
          <a:xfrm>
            <a:off x="3432175" y="5798821"/>
            <a:ext cx="5543550" cy="460375"/>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dirty="0">
                <a:solidFill>
                  <a:srgbClr val="000000"/>
                </a:solidFill>
                <a:latin typeface="黑体" panose="02010609060101010101" pitchFamily="49" charset="-122"/>
                <a:ea typeface="黑体" panose="02010609060101010101" pitchFamily="49" charset="-122"/>
              </a:rPr>
              <a:t>图</a:t>
            </a:r>
            <a:r>
              <a:rPr lang="en-US" altLang="zh-CN" sz="2400">
                <a:solidFill>
                  <a:srgbClr val="000000"/>
                </a:solidFill>
                <a:latin typeface="Times New Roman" panose="02020603050405020304" pitchFamily="18" charset="0"/>
                <a:ea typeface="黑体" panose="02010609060101010101" pitchFamily="49" charset="-122"/>
              </a:rPr>
              <a:t>6.17  </a:t>
            </a:r>
            <a:r>
              <a:rPr lang="zh-CN" altLang="en-US" sz="2400" dirty="0">
                <a:solidFill>
                  <a:srgbClr val="000000"/>
                </a:solidFill>
                <a:latin typeface="Times New Roman" panose="02020603050405020304" pitchFamily="18" charset="0"/>
                <a:ea typeface="黑体" panose="02010609060101010101" pitchFamily="49" charset="-122"/>
              </a:rPr>
              <a:t>序列译码算法</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序列译码算法</a:t>
            </a:r>
            <a:r>
              <a:rPr lang="zh-CN" altLang="en-US" sz="2800">
                <a:ea typeface="黑体" panose="02010609060101010101" pitchFamily="49" charset="-122"/>
                <a:sym typeface="+mn-ea"/>
              </a:rPr>
              <a:t>举例</a:t>
            </a:r>
          </a:p>
        </p:txBody>
      </p:sp>
      <p:sp>
        <p:nvSpPr>
          <p:cNvPr id="10" name="文本框 9"/>
          <p:cNvSpPr txBox="1"/>
          <p:nvPr/>
        </p:nvSpPr>
        <p:spPr>
          <a:xfrm>
            <a:off x="1860550" y="915670"/>
            <a:ext cx="8446770" cy="5631180"/>
          </a:xfrm>
          <a:prstGeom prst="rect">
            <a:avLst/>
          </a:prstGeom>
          <a:noFill/>
        </p:spPr>
        <p:txBody>
          <a:bodyPr wrap="square" rtlCol="0" anchor="t">
            <a:spAutoFit/>
          </a:bodyPr>
          <a:lstStyle/>
          <a:p>
            <a:pPr algn="just" eaLnBrk="0" fontAlgn="base" hangingPunct="0">
              <a:spcAft>
                <a:spcPct val="0"/>
              </a:spcAft>
              <a:buClr>
                <a:srgbClr val="CCCCFF"/>
              </a:buClr>
              <a:buSzPct val="65000"/>
            </a:pPr>
            <a:r>
              <a:rPr lang="zh-CN" altLang="en-US" sz="2400" dirty="0">
                <a:solidFill>
                  <a:srgbClr val="FF0000"/>
                </a:solidFill>
                <a:latin typeface="Times New Roman" panose="02020603050405020304" pitchFamily="18" charset="0"/>
                <a:ea typeface="黑体" panose="02010609060101010101" pitchFamily="49" charset="-122"/>
                <a:sym typeface="+mn-ea"/>
              </a:rPr>
              <a:t>点</a:t>
            </a:r>
            <a:r>
              <a:rPr lang="en-US" altLang="zh-CN" sz="2400">
                <a:solidFill>
                  <a:srgbClr val="FF0000"/>
                </a:solidFill>
                <a:latin typeface="Times New Roman" panose="02020603050405020304" pitchFamily="18" charset="0"/>
                <a:ea typeface="黑体" panose="02010609060101010101" pitchFamily="49" charset="-122"/>
                <a:sym typeface="+mn-ea"/>
              </a:rPr>
              <a:t>1</a:t>
            </a:r>
            <a:r>
              <a:rPr lang="zh-CN" altLang="en-US" sz="2400" dirty="0">
                <a:solidFill>
                  <a:srgbClr val="FF0000"/>
                </a:solidFill>
                <a:latin typeface="Times New Roman" panose="02020603050405020304" pitchFamily="18" charset="0"/>
                <a:ea typeface="黑体" panose="02010609060101010101" pitchFamily="49" charset="-122"/>
                <a:sym typeface="+mn-ea"/>
              </a:rPr>
              <a:t>：</a:t>
            </a:r>
            <a:r>
              <a:rPr lang="en-US" altLang="zh-CN" sz="2400" i="1">
                <a:solidFill>
                  <a:srgbClr val="000000"/>
                </a:solidFill>
                <a:latin typeface="Times New Roman" panose="02020603050405020304" pitchFamily="18" charset="0"/>
                <a:ea typeface="黑体" panose="02010609060101010101" pitchFamily="49" charset="-122"/>
                <a:sym typeface="+mn-ea"/>
              </a:rPr>
              <a:t>t</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时，接收向量是</a:t>
            </a:r>
            <a:r>
              <a:rPr lang="en-US" altLang="zh-CN" sz="2400">
                <a:solidFill>
                  <a:srgbClr val="000000"/>
                </a:solidFill>
                <a:latin typeface="Times New Roman" panose="02020603050405020304" pitchFamily="18" charset="0"/>
                <a:ea typeface="黑体" panose="02010609060101010101" pitchFamily="49" charset="-122"/>
                <a:sym typeface="+mn-ea"/>
              </a:rPr>
              <a:t>01</a:t>
            </a:r>
            <a:r>
              <a:rPr lang="zh-CN" altLang="en-US" sz="2400" dirty="0">
                <a:solidFill>
                  <a:srgbClr val="000000"/>
                </a:solidFill>
                <a:latin typeface="Times New Roman" panose="02020603050405020304" pitchFamily="18" charset="0"/>
                <a:ea typeface="黑体" panose="02010609060101010101" pitchFamily="49" charset="-122"/>
                <a:sym typeface="+mn-ea"/>
              </a:rPr>
              <a:t>，在点</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，译码器看两个路径，哪个路径上的向量和接收向量</a:t>
            </a:r>
            <a:r>
              <a:rPr lang="en-US" altLang="zh-CN" sz="2400">
                <a:solidFill>
                  <a:srgbClr val="000000"/>
                </a:solidFill>
                <a:latin typeface="Times New Roman" panose="02020603050405020304" pitchFamily="18" charset="0"/>
                <a:ea typeface="黑体" panose="02010609060101010101" pitchFamily="49" charset="-122"/>
                <a:sym typeface="+mn-ea"/>
              </a:rPr>
              <a:t>01</a:t>
            </a:r>
            <a:r>
              <a:rPr lang="zh-CN" altLang="en-US" sz="2400" dirty="0">
                <a:solidFill>
                  <a:srgbClr val="000000"/>
                </a:solidFill>
                <a:latin typeface="Times New Roman" panose="02020603050405020304" pitchFamily="18" charset="0"/>
                <a:ea typeface="黑体" panose="02010609060101010101" pitchFamily="49" charset="-122"/>
                <a:sym typeface="+mn-ea"/>
              </a:rPr>
              <a:t>都不匹配，并且走哪条路径，都是发生了一个错误。假设译码器随机选择上面的分支路径</a:t>
            </a:r>
            <a:r>
              <a:rPr lang="en-US" altLang="zh-CN" sz="2400">
                <a:solidFill>
                  <a:srgbClr val="000000"/>
                </a:solidFill>
                <a:latin typeface="Times New Roman" panose="02020603050405020304" pitchFamily="18" charset="0"/>
                <a:ea typeface="黑体" panose="02010609060101010101" pitchFamily="49" charset="-122"/>
                <a:sym typeface="+mn-ea"/>
              </a:rPr>
              <a:t>00</a:t>
            </a:r>
            <a:r>
              <a:rPr lang="zh-CN" altLang="en-US" sz="2400" dirty="0">
                <a:solidFill>
                  <a:srgbClr val="000000"/>
                </a:solidFill>
                <a:latin typeface="Times New Roman" panose="02020603050405020304" pitchFamily="18" charset="0"/>
                <a:ea typeface="黑体" panose="02010609060101010101" pitchFamily="49" charset="-122"/>
                <a:sym typeface="+mn-ea"/>
              </a:rPr>
              <a:t>，继续往下进行，此时译码器把输入比特译成</a:t>
            </a:r>
            <a:r>
              <a:rPr lang="en-US" altLang="zh-CN" sz="2400">
                <a:solidFill>
                  <a:srgbClr val="000000"/>
                </a:solidFill>
                <a:latin typeface="Times New Roman" panose="02020603050405020304" pitchFamily="18" charset="0"/>
                <a:ea typeface="黑体" panose="02010609060101010101" pitchFamily="49" charset="-122"/>
                <a:sym typeface="+mn-ea"/>
              </a:rPr>
              <a:t>0</a:t>
            </a:r>
            <a:r>
              <a:rPr lang="zh-CN" altLang="en-US" sz="2400" dirty="0">
                <a:solidFill>
                  <a:srgbClr val="000000"/>
                </a:solidFill>
                <a:latin typeface="Times New Roman" panose="02020603050405020304" pitchFamily="18" charset="0"/>
                <a:ea typeface="黑体" panose="02010609060101010101" pitchFamily="49" charset="-122"/>
                <a:sym typeface="+mn-ea"/>
              </a:rPr>
              <a:t>，把</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放在误差计数器里。</a:t>
            </a:r>
            <a:endParaRPr lang="zh-CN" altLang="en-US" sz="2400" dirty="0">
              <a:solidFill>
                <a:srgbClr val="000000"/>
              </a:solidFill>
              <a:latin typeface="Times New Roman" panose="02020603050405020304" pitchFamily="18" charset="0"/>
              <a:ea typeface="黑体" panose="02010609060101010101" pitchFamily="49" charset="-122"/>
            </a:endParaRPr>
          </a:p>
          <a:p>
            <a:pPr algn="just" eaLnBrk="0" fontAlgn="base" hangingPunct="0">
              <a:spcAft>
                <a:spcPct val="0"/>
              </a:spcAft>
              <a:buClr>
                <a:srgbClr val="CCCCFF"/>
              </a:buClr>
              <a:buSzPct val="65000"/>
            </a:pPr>
            <a:r>
              <a:rPr lang="zh-CN" altLang="en-US" sz="2400" dirty="0">
                <a:solidFill>
                  <a:srgbClr val="FF0000"/>
                </a:solidFill>
                <a:latin typeface="Times New Roman" panose="02020603050405020304" pitchFamily="18" charset="0"/>
                <a:ea typeface="黑体" panose="02010609060101010101" pitchFamily="49" charset="-122"/>
                <a:sym typeface="+mn-ea"/>
              </a:rPr>
              <a:t>点</a:t>
            </a:r>
            <a:r>
              <a:rPr lang="en-US" altLang="zh-CN" sz="2400">
                <a:solidFill>
                  <a:srgbClr val="FF0000"/>
                </a:solidFill>
                <a:latin typeface="Times New Roman" panose="02020603050405020304" pitchFamily="18" charset="0"/>
                <a:ea typeface="黑体" panose="02010609060101010101" pitchFamily="49" charset="-122"/>
                <a:sym typeface="+mn-ea"/>
              </a:rPr>
              <a:t>2</a:t>
            </a:r>
            <a:r>
              <a:rPr lang="zh-CN" altLang="en-US" sz="2400" dirty="0">
                <a:solidFill>
                  <a:srgbClr val="FF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接收向量是</a:t>
            </a:r>
            <a:r>
              <a:rPr lang="en-US" altLang="zh-CN" sz="2400">
                <a:solidFill>
                  <a:srgbClr val="000000"/>
                </a:solidFill>
                <a:latin typeface="Times New Roman" panose="02020603050405020304" pitchFamily="18" charset="0"/>
                <a:ea typeface="黑体" panose="02010609060101010101" pitchFamily="49" charset="-122"/>
                <a:sym typeface="+mn-ea"/>
              </a:rPr>
              <a:t>11</a:t>
            </a:r>
            <a:r>
              <a:rPr lang="zh-CN" altLang="en-US" sz="2400" dirty="0">
                <a:solidFill>
                  <a:srgbClr val="000000"/>
                </a:solidFill>
                <a:latin typeface="Times New Roman" panose="02020603050405020304" pitchFamily="18" charset="0"/>
                <a:ea typeface="黑体" panose="02010609060101010101" pitchFamily="49" charset="-122"/>
                <a:sym typeface="+mn-ea"/>
              </a:rPr>
              <a:t>，所以直接选择下面的那条路径往下继续，这步没有误差。</a:t>
            </a:r>
            <a:endParaRPr lang="zh-CN" altLang="en-US" sz="2400" dirty="0">
              <a:solidFill>
                <a:srgbClr val="000000"/>
              </a:solidFill>
              <a:latin typeface="Times New Roman" panose="02020603050405020304" pitchFamily="18" charset="0"/>
              <a:ea typeface="黑体" panose="02010609060101010101" pitchFamily="49" charset="-122"/>
            </a:endParaRPr>
          </a:p>
          <a:p>
            <a:pPr algn="just" eaLnBrk="0" fontAlgn="base" hangingPunct="0">
              <a:spcAft>
                <a:spcPct val="0"/>
              </a:spcAft>
              <a:buClr>
                <a:srgbClr val="CCCCFF"/>
              </a:buClr>
              <a:buSzPct val="65000"/>
            </a:pPr>
            <a:r>
              <a:rPr lang="zh-CN" altLang="en-US" sz="2400" dirty="0">
                <a:solidFill>
                  <a:srgbClr val="FF0000"/>
                </a:solidFill>
                <a:latin typeface="Times New Roman" panose="02020603050405020304" pitchFamily="18" charset="0"/>
                <a:ea typeface="黑体" panose="02010609060101010101" pitchFamily="49" charset="-122"/>
                <a:sym typeface="+mn-ea"/>
              </a:rPr>
              <a:t>点</a:t>
            </a:r>
            <a:r>
              <a:rPr lang="en-US" altLang="zh-CN" sz="2400">
                <a:solidFill>
                  <a:srgbClr val="FF0000"/>
                </a:solidFill>
                <a:latin typeface="Times New Roman" panose="02020603050405020304" pitchFamily="18" charset="0"/>
                <a:ea typeface="黑体" panose="02010609060101010101" pitchFamily="49" charset="-122"/>
                <a:sym typeface="+mn-ea"/>
              </a:rPr>
              <a:t>3</a:t>
            </a:r>
            <a:r>
              <a:rPr lang="zh-CN" altLang="en-US" sz="2400" dirty="0">
                <a:solidFill>
                  <a:srgbClr val="FF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接收向量是</a:t>
            </a:r>
            <a:r>
              <a:rPr lang="en-US" altLang="zh-CN" sz="2400">
                <a:solidFill>
                  <a:srgbClr val="000000"/>
                </a:solidFill>
                <a:latin typeface="Times New Roman" panose="02020603050405020304" pitchFamily="18" charset="0"/>
                <a:ea typeface="黑体" panose="02010609060101010101" pitchFamily="49" charset="-122"/>
                <a:sym typeface="+mn-ea"/>
              </a:rPr>
              <a:t>01</a:t>
            </a:r>
            <a:r>
              <a:rPr lang="zh-CN" altLang="en-US" sz="2400" dirty="0">
                <a:solidFill>
                  <a:srgbClr val="000000"/>
                </a:solidFill>
                <a:latin typeface="Times New Roman" panose="02020603050405020304" pitchFamily="18" charset="0"/>
                <a:ea typeface="黑体" panose="02010609060101010101" pitchFamily="49" charset="-122"/>
                <a:sym typeface="+mn-ea"/>
              </a:rPr>
              <a:t>，继续走哪条路径，都是发生了一个错误，假设译码器随机选择上面的分支路径</a:t>
            </a:r>
            <a:r>
              <a:rPr lang="en-US" altLang="zh-CN" sz="2400">
                <a:solidFill>
                  <a:srgbClr val="000000"/>
                </a:solidFill>
                <a:latin typeface="Times New Roman" panose="02020603050405020304" pitchFamily="18" charset="0"/>
                <a:ea typeface="黑体" panose="02010609060101010101" pitchFamily="49" charset="-122"/>
                <a:sym typeface="+mn-ea"/>
              </a:rPr>
              <a:t>11</a:t>
            </a:r>
            <a:r>
              <a:rPr lang="zh-CN" altLang="en-US" sz="2400" dirty="0">
                <a:solidFill>
                  <a:srgbClr val="000000"/>
                </a:solidFill>
                <a:latin typeface="Times New Roman" panose="02020603050405020304" pitchFamily="18" charset="0"/>
                <a:ea typeface="黑体" panose="02010609060101010101" pitchFamily="49" charset="-122"/>
                <a:sym typeface="+mn-ea"/>
              </a:rPr>
              <a:t>，继续往下进行，把</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dirty="0">
                <a:solidFill>
                  <a:srgbClr val="000000"/>
                </a:solidFill>
                <a:latin typeface="Times New Roman" panose="02020603050405020304" pitchFamily="18" charset="0"/>
                <a:ea typeface="黑体" panose="02010609060101010101" pitchFamily="49" charset="-122"/>
                <a:sym typeface="+mn-ea"/>
              </a:rPr>
              <a:t>放在误差计数器里，误差计数器里的数值增加</a:t>
            </a:r>
            <a:r>
              <a:rPr lang="en-US" altLang="zh-CN" sz="2400">
                <a:solidFill>
                  <a:srgbClr val="000000"/>
                </a:solidFill>
                <a:latin typeface="Times New Roman" panose="02020603050405020304" pitchFamily="18" charset="0"/>
                <a:ea typeface="黑体" panose="02010609060101010101" pitchFamily="49" charset="-122"/>
                <a:sym typeface="+mn-ea"/>
              </a:rPr>
              <a:t>1</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en-US" altLang="zh-CN" sz="2400">
              <a:solidFill>
                <a:srgbClr val="000000"/>
              </a:solidFill>
              <a:latin typeface="Times New Roman" panose="02020603050405020304" pitchFamily="18" charset="0"/>
              <a:ea typeface="黑体" panose="02010609060101010101" pitchFamily="49" charset="-122"/>
              <a:sym typeface="+mn-ea"/>
            </a:endParaRPr>
          </a:p>
          <a:p>
            <a:pPr algn="just" eaLnBrk="0" fontAlgn="base" hangingPunct="0">
              <a:spcAft>
                <a:spcPct val="0"/>
              </a:spcAft>
              <a:buClr>
                <a:srgbClr val="CCCCFF"/>
              </a:buClr>
              <a:buSzPct val="65000"/>
            </a:pPr>
            <a:r>
              <a:rPr lang="zh-CN" altLang="en-US" sz="2400" dirty="0">
                <a:solidFill>
                  <a:srgbClr val="FF0000"/>
                </a:solidFill>
                <a:latin typeface="Times New Roman" panose="02020603050405020304" pitchFamily="18" charset="0"/>
                <a:ea typeface="黑体" panose="02010609060101010101" pitchFamily="49" charset="-122"/>
                <a:sym typeface="+mn-ea"/>
              </a:rPr>
              <a:t>点</a:t>
            </a:r>
            <a:r>
              <a:rPr lang="en-US" altLang="zh-CN" sz="2400">
                <a:solidFill>
                  <a:srgbClr val="FF0000"/>
                </a:solidFill>
                <a:latin typeface="Times New Roman" panose="02020603050405020304" pitchFamily="18" charset="0"/>
                <a:ea typeface="黑体" panose="02010609060101010101" pitchFamily="49" charset="-122"/>
                <a:sym typeface="+mn-ea"/>
              </a:rPr>
              <a:t>4</a:t>
            </a:r>
            <a:r>
              <a:rPr lang="zh-CN" altLang="en-US" sz="2400" dirty="0">
                <a:solidFill>
                  <a:srgbClr val="FF0000"/>
                </a:solidFill>
                <a:latin typeface="Times New Roman" panose="02020603050405020304" pitchFamily="18" charset="0"/>
                <a:ea typeface="黑体" panose="02010609060101010101" pitchFamily="49" charset="-122"/>
                <a:sym typeface="+mn-ea"/>
              </a:rPr>
              <a:t>：</a:t>
            </a:r>
            <a:r>
              <a:rPr lang="zh-CN" altLang="en-US" sz="2400" dirty="0">
                <a:solidFill>
                  <a:srgbClr val="000000"/>
                </a:solidFill>
                <a:latin typeface="Times New Roman" panose="02020603050405020304" pitchFamily="18" charset="0"/>
                <a:ea typeface="黑体" panose="02010609060101010101" pitchFamily="49" charset="-122"/>
                <a:sym typeface="+mn-ea"/>
              </a:rPr>
              <a:t>接收向量是</a:t>
            </a:r>
            <a:r>
              <a:rPr lang="en-US" altLang="zh-CN" sz="2400">
                <a:solidFill>
                  <a:srgbClr val="000000"/>
                </a:solidFill>
                <a:latin typeface="Times New Roman" panose="02020603050405020304" pitchFamily="18" charset="0"/>
                <a:ea typeface="黑体" panose="02010609060101010101" pitchFamily="49" charset="-122"/>
                <a:sym typeface="+mn-ea"/>
              </a:rPr>
              <a:t>11</a:t>
            </a:r>
            <a:r>
              <a:rPr lang="zh-CN" altLang="en-US" sz="2400" dirty="0">
                <a:solidFill>
                  <a:srgbClr val="000000"/>
                </a:solidFill>
                <a:latin typeface="Times New Roman" panose="02020603050405020304" pitchFamily="18" charset="0"/>
                <a:ea typeface="黑体" panose="02010609060101010101" pitchFamily="49" charset="-122"/>
                <a:sym typeface="+mn-ea"/>
              </a:rPr>
              <a:t>，继续走哪条路径，都是发生了一个错误，假设译码器随机选择上面的分支路径</a:t>
            </a:r>
            <a:r>
              <a:rPr lang="en-US" altLang="zh-CN" sz="2400">
                <a:solidFill>
                  <a:srgbClr val="000000"/>
                </a:solidFill>
                <a:latin typeface="Times New Roman" panose="02020603050405020304" pitchFamily="18" charset="0"/>
                <a:ea typeface="黑体" panose="02010609060101010101" pitchFamily="49" charset="-122"/>
                <a:sym typeface="+mn-ea"/>
              </a:rPr>
              <a:t>10</a:t>
            </a:r>
            <a:r>
              <a:rPr lang="zh-CN" altLang="en-US" sz="2400" dirty="0">
                <a:solidFill>
                  <a:srgbClr val="000000"/>
                </a:solidFill>
                <a:latin typeface="Times New Roman" panose="02020603050405020304" pitchFamily="18" charset="0"/>
                <a:ea typeface="黑体" panose="02010609060101010101" pitchFamily="49" charset="-122"/>
                <a:sym typeface="+mn-ea"/>
              </a:rPr>
              <a:t>，然后误差计数器里到达门限值</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，所以必须回退到点</a:t>
            </a:r>
            <a:r>
              <a:rPr lang="en-US" altLang="zh-CN" sz="2400">
                <a:solidFill>
                  <a:srgbClr val="000000"/>
                </a:solidFill>
                <a:latin typeface="Times New Roman" panose="02020603050405020304" pitchFamily="18" charset="0"/>
                <a:ea typeface="黑体" panose="02010609060101010101" pitchFamily="49" charset="-122"/>
                <a:sym typeface="+mn-ea"/>
              </a:rPr>
              <a:t>4</a:t>
            </a:r>
            <a:r>
              <a:rPr lang="zh-CN" altLang="en-US" sz="2400" dirty="0">
                <a:solidFill>
                  <a:srgbClr val="000000"/>
                </a:solidFill>
                <a:latin typeface="Times New Roman" panose="02020603050405020304" pitchFamily="18" charset="0"/>
                <a:ea typeface="黑体" panose="02010609060101010101" pitchFamily="49" charset="-122"/>
                <a:sym typeface="+mn-ea"/>
              </a:rPr>
              <a:t>，选择下面的分支路径</a:t>
            </a:r>
            <a:r>
              <a:rPr lang="en-US" altLang="zh-CN" sz="2400">
                <a:solidFill>
                  <a:srgbClr val="000000"/>
                </a:solidFill>
                <a:latin typeface="Times New Roman" panose="02020603050405020304" pitchFamily="18" charset="0"/>
                <a:ea typeface="黑体" panose="02010609060101010101" pitchFamily="49" charset="-122"/>
                <a:sym typeface="+mn-ea"/>
              </a:rPr>
              <a:t>01</a:t>
            </a:r>
            <a:r>
              <a:rPr lang="zh-CN" altLang="en-US" sz="2400" dirty="0">
                <a:solidFill>
                  <a:srgbClr val="000000"/>
                </a:solidFill>
                <a:latin typeface="Times New Roman" panose="02020603050405020304" pitchFamily="18" charset="0"/>
                <a:ea typeface="黑体" panose="02010609060101010101" pitchFamily="49" charset="-122"/>
                <a:sym typeface="+mn-ea"/>
              </a:rPr>
              <a:t>，然后误差计数器里到达门限值</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dirty="0">
                <a:solidFill>
                  <a:srgbClr val="000000"/>
                </a:solidFill>
                <a:latin typeface="Times New Roman" panose="02020603050405020304" pitchFamily="18" charset="0"/>
                <a:ea typeface="黑体" panose="02010609060101010101" pitchFamily="49" charset="-122"/>
                <a:sym typeface="+mn-ea"/>
              </a:rPr>
              <a:t>，所以就得回退到点</a:t>
            </a:r>
            <a:r>
              <a:rPr lang="en-US" altLang="zh-CN" sz="2400">
                <a:solidFill>
                  <a:srgbClr val="000000"/>
                </a:solidFill>
                <a:latin typeface="Times New Roman" panose="02020603050405020304" pitchFamily="18" charset="0"/>
                <a:ea typeface="黑体" panose="02010609060101010101" pitchFamily="49" charset="-122"/>
                <a:sym typeface="+mn-ea"/>
              </a:rPr>
              <a:t>4</a:t>
            </a:r>
            <a:r>
              <a:rPr lang="zh-CN" altLang="en-US" sz="2400" dirty="0">
                <a:solidFill>
                  <a:srgbClr val="000000"/>
                </a:solidFill>
                <a:latin typeface="Times New Roman" panose="02020603050405020304" pitchFamily="18" charset="0"/>
                <a:ea typeface="黑体" panose="02010609060101010101" pitchFamily="49" charset="-122"/>
                <a:sym typeface="+mn-ea"/>
              </a:rPr>
              <a:t>的上一级点</a:t>
            </a:r>
            <a:r>
              <a:rPr lang="en-US" altLang="zh-CN" sz="2400">
                <a:solidFill>
                  <a:srgbClr val="000000"/>
                </a:solidFill>
                <a:latin typeface="Times New Roman" panose="02020603050405020304" pitchFamily="18" charset="0"/>
                <a:ea typeface="黑体" panose="02010609060101010101" pitchFamily="49" charset="-122"/>
                <a:sym typeface="+mn-ea"/>
              </a:rPr>
              <a:t>3</a:t>
            </a:r>
            <a:r>
              <a:rPr lang="zh-CN" altLang="en-US" sz="2400">
                <a:solidFill>
                  <a:srgbClr val="000000"/>
                </a:solidFill>
                <a:latin typeface="Times New Roman" panose="02020603050405020304" pitchFamily="18" charset="0"/>
                <a:ea typeface="黑体" panose="02010609060101010101" pitchFamily="49" charset="-122"/>
                <a:sym typeface="+mn-ea"/>
              </a:rPr>
              <a:t>。</a:t>
            </a:r>
            <a:endParaRPr lang="zh-CN" altLang="en-US" sz="24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序列译码算法</a:t>
            </a:r>
            <a:r>
              <a:rPr lang="zh-CN" altLang="en-US" sz="2800">
                <a:ea typeface="黑体" panose="02010609060101010101" pitchFamily="49" charset="-122"/>
                <a:sym typeface="+mn-ea"/>
              </a:rPr>
              <a:t>举例</a:t>
            </a:r>
          </a:p>
        </p:txBody>
      </p:sp>
      <p:sp>
        <p:nvSpPr>
          <p:cNvPr id="81923" name="文本框 188471"/>
          <p:cNvSpPr txBox="1"/>
          <p:nvPr/>
        </p:nvSpPr>
        <p:spPr>
          <a:xfrm>
            <a:off x="3432175" y="5874386"/>
            <a:ext cx="5543550" cy="460375"/>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dirty="0">
                <a:solidFill>
                  <a:srgbClr val="000000"/>
                </a:solidFill>
                <a:latin typeface="黑体" panose="02010609060101010101" pitchFamily="49" charset="-122"/>
                <a:ea typeface="黑体" panose="02010609060101010101" pitchFamily="49" charset="-122"/>
              </a:rPr>
              <a:t>图</a:t>
            </a:r>
            <a:r>
              <a:rPr lang="en-US" altLang="zh-CN" sz="2400">
                <a:solidFill>
                  <a:srgbClr val="000000"/>
                </a:solidFill>
                <a:latin typeface="Times New Roman" panose="02020603050405020304" pitchFamily="18" charset="0"/>
                <a:ea typeface="黑体" panose="02010609060101010101" pitchFamily="49" charset="-122"/>
              </a:rPr>
              <a:t>6.18  </a:t>
            </a:r>
            <a:r>
              <a:rPr lang="zh-CN" altLang="en-US" sz="2400" dirty="0">
                <a:solidFill>
                  <a:srgbClr val="000000"/>
                </a:solidFill>
                <a:latin typeface="Times New Roman" panose="02020603050405020304" pitchFamily="18" charset="0"/>
                <a:ea typeface="黑体" panose="02010609060101010101" pitchFamily="49" charset="-122"/>
              </a:rPr>
              <a:t>序列译码算法</a:t>
            </a:r>
          </a:p>
        </p:txBody>
      </p:sp>
      <p:pic>
        <p:nvPicPr>
          <p:cNvPr id="84995" name="图片 71684"/>
          <p:cNvPicPr>
            <a:picLocks noChangeAspect="1"/>
          </p:cNvPicPr>
          <p:nvPr/>
        </p:nvPicPr>
        <p:blipFill>
          <a:blip r:embed="rId2"/>
          <a:stretch>
            <a:fillRect/>
          </a:stretch>
        </p:blipFill>
        <p:spPr>
          <a:xfrm>
            <a:off x="1808480" y="1099821"/>
            <a:ext cx="8592820" cy="4561205"/>
          </a:xfrm>
          <a:prstGeom prst="rect">
            <a:avLst/>
          </a:prstGeom>
          <a:noFill/>
          <a:ln w="9525">
            <a:noFill/>
          </a:ln>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序列译码算法</a:t>
            </a:r>
            <a:r>
              <a:rPr lang="zh-CN" altLang="en-US" sz="2800">
                <a:ea typeface="黑体" panose="02010609060101010101" pitchFamily="49" charset="-122"/>
                <a:sym typeface="+mn-ea"/>
              </a:rPr>
              <a:t>举例</a:t>
            </a:r>
          </a:p>
        </p:txBody>
      </p:sp>
      <p:sp>
        <p:nvSpPr>
          <p:cNvPr id="10" name="文本框 9"/>
          <p:cNvSpPr txBox="1"/>
          <p:nvPr/>
        </p:nvSpPr>
        <p:spPr>
          <a:xfrm>
            <a:off x="1860550" y="915670"/>
            <a:ext cx="8446770" cy="4569460"/>
          </a:xfrm>
          <a:prstGeom prst="rect">
            <a:avLst/>
          </a:prstGeom>
          <a:noFill/>
        </p:spPr>
        <p:txBody>
          <a:bodyPr wrap="square" rtlCol="0" anchor="t">
            <a:spAutoFit/>
          </a:bodyPr>
          <a:lstStyle/>
          <a:p>
            <a:pPr eaLnBrk="0" fontAlgn="base" hangingPunct="0">
              <a:lnSpc>
                <a:spcPct val="130000"/>
              </a:lnSpc>
              <a:spcAft>
                <a:spcPct val="0"/>
              </a:spcAft>
              <a:buClr>
                <a:srgbClr val="CCCCFF"/>
              </a:buClr>
              <a:buSzPct val="65000"/>
            </a:pPr>
            <a:r>
              <a:rPr lang="zh-CN" altLang="en-US" sz="2800" dirty="0">
                <a:solidFill>
                  <a:srgbClr val="FF0000"/>
                </a:solidFill>
                <a:latin typeface="Times New Roman" panose="02020603050405020304" pitchFamily="18" charset="0"/>
                <a:ea typeface="黑体" panose="02010609060101010101" pitchFamily="49" charset="-122"/>
                <a:sym typeface="+mn-ea"/>
              </a:rPr>
              <a:t>点</a:t>
            </a:r>
            <a:r>
              <a:rPr lang="en-US" altLang="zh-CN" sz="2800">
                <a:solidFill>
                  <a:srgbClr val="FF0000"/>
                </a:solidFill>
                <a:latin typeface="Times New Roman" panose="02020603050405020304" pitchFamily="18" charset="0"/>
                <a:ea typeface="黑体" panose="02010609060101010101" pitchFamily="49" charset="-122"/>
                <a:sym typeface="+mn-ea"/>
              </a:rPr>
              <a:t>3</a:t>
            </a:r>
            <a:r>
              <a:rPr lang="zh-CN" altLang="en-US" sz="2800" dirty="0">
                <a:solidFill>
                  <a:srgbClr val="FF0000"/>
                </a:solidFill>
                <a:latin typeface="Times New Roman" panose="02020603050405020304" pitchFamily="18" charset="0"/>
                <a:ea typeface="黑体" panose="02010609060101010101" pitchFamily="49" charset="-122"/>
                <a:sym typeface="+mn-ea"/>
              </a:rPr>
              <a:t>：</a:t>
            </a:r>
            <a:r>
              <a:rPr lang="zh-CN" altLang="en-US" sz="2800" dirty="0">
                <a:solidFill>
                  <a:srgbClr val="000000"/>
                </a:solidFill>
                <a:latin typeface="Times New Roman" panose="02020603050405020304" pitchFamily="18" charset="0"/>
                <a:ea typeface="黑体" panose="02010609060101010101" pitchFamily="49" charset="-122"/>
                <a:sym typeface="+mn-ea"/>
              </a:rPr>
              <a:t>选择下面那条路径</a:t>
            </a:r>
            <a:r>
              <a:rPr lang="en-US" altLang="zh-CN" sz="2800">
                <a:solidFill>
                  <a:srgbClr val="000000"/>
                </a:solidFill>
                <a:latin typeface="Times New Roman" panose="02020603050405020304" pitchFamily="18" charset="0"/>
                <a:ea typeface="黑体" panose="02010609060101010101" pitchFamily="49" charset="-122"/>
                <a:sym typeface="+mn-ea"/>
              </a:rPr>
              <a:t>00</a:t>
            </a:r>
            <a:r>
              <a:rPr lang="zh-CN" altLang="en-US" sz="2800" dirty="0">
                <a:solidFill>
                  <a:srgbClr val="000000"/>
                </a:solidFill>
                <a:latin typeface="Times New Roman" panose="02020603050405020304" pitchFamily="18" charset="0"/>
                <a:ea typeface="黑体" panose="02010609060101010101" pitchFamily="49" charset="-122"/>
                <a:sym typeface="+mn-ea"/>
              </a:rPr>
              <a:t>继续，误差计数器里的数值增加</a:t>
            </a:r>
            <a:r>
              <a:rPr lang="en-US" altLang="zh-CN" sz="2800">
                <a:solidFill>
                  <a:srgbClr val="000000"/>
                </a:solidFill>
                <a:latin typeface="Times New Roman" panose="02020603050405020304" pitchFamily="18" charset="0"/>
                <a:ea typeface="黑体" panose="02010609060101010101" pitchFamily="49" charset="-122"/>
                <a:sym typeface="+mn-ea"/>
              </a:rPr>
              <a:t>1</a:t>
            </a:r>
            <a:r>
              <a:rPr lang="zh-CN" altLang="en-US" sz="2800" dirty="0">
                <a:solidFill>
                  <a:srgbClr val="000000"/>
                </a:solidFill>
                <a:latin typeface="Times New Roman" panose="02020603050405020304" pitchFamily="18" charset="0"/>
                <a:ea typeface="黑体" panose="02010609060101010101" pitchFamily="49" charset="-122"/>
                <a:sym typeface="+mn-ea"/>
              </a:rPr>
              <a:t>，到达点</a:t>
            </a:r>
            <a:r>
              <a:rPr lang="en-US" altLang="zh-CN" sz="2800">
                <a:solidFill>
                  <a:srgbClr val="000000"/>
                </a:solidFill>
                <a:latin typeface="Times New Roman" panose="02020603050405020304" pitchFamily="18" charset="0"/>
                <a:ea typeface="黑体" panose="02010609060101010101" pitchFamily="49" charset="-122"/>
                <a:sym typeface="+mn-ea"/>
              </a:rPr>
              <a:t>5</a:t>
            </a:r>
            <a:endParaRPr lang="en-US" altLang="zh-CN" sz="2800">
              <a:solidFill>
                <a:srgbClr val="000000"/>
              </a:solidFill>
              <a:latin typeface="Times New Roman" panose="02020603050405020304" pitchFamily="18" charset="0"/>
              <a:ea typeface="黑体" panose="02010609060101010101" pitchFamily="49" charset="-122"/>
            </a:endParaRPr>
          </a:p>
          <a:p>
            <a:pPr eaLnBrk="0" fontAlgn="base" hangingPunct="0">
              <a:lnSpc>
                <a:spcPct val="130000"/>
              </a:lnSpc>
              <a:spcAft>
                <a:spcPct val="0"/>
              </a:spcAft>
              <a:buClr>
                <a:srgbClr val="CCCCFF"/>
              </a:buClr>
              <a:buSzPct val="65000"/>
            </a:pPr>
            <a:r>
              <a:rPr lang="zh-CN" altLang="en-US" sz="2800" dirty="0">
                <a:solidFill>
                  <a:srgbClr val="FF0000"/>
                </a:solidFill>
                <a:latin typeface="Times New Roman" panose="02020603050405020304" pitchFamily="18" charset="0"/>
                <a:ea typeface="黑体" panose="02010609060101010101" pitchFamily="49" charset="-122"/>
                <a:sym typeface="+mn-ea"/>
              </a:rPr>
              <a:t>点</a:t>
            </a:r>
            <a:r>
              <a:rPr lang="en-US" altLang="zh-CN" sz="2800">
                <a:solidFill>
                  <a:srgbClr val="FF0000"/>
                </a:solidFill>
                <a:latin typeface="Times New Roman" panose="02020603050405020304" pitchFamily="18" charset="0"/>
                <a:ea typeface="黑体" panose="02010609060101010101" pitchFamily="49" charset="-122"/>
                <a:sym typeface="+mn-ea"/>
              </a:rPr>
              <a:t>5</a:t>
            </a:r>
            <a:r>
              <a:rPr lang="zh-CN" altLang="en-US" sz="2800" dirty="0">
                <a:solidFill>
                  <a:srgbClr val="FF0000"/>
                </a:solidFill>
                <a:latin typeface="Times New Roman" panose="02020603050405020304" pitchFamily="18" charset="0"/>
                <a:ea typeface="黑体" panose="02010609060101010101" pitchFamily="49" charset="-122"/>
                <a:sym typeface="+mn-ea"/>
              </a:rPr>
              <a:t>：</a:t>
            </a:r>
            <a:r>
              <a:rPr lang="zh-CN" altLang="en-US" sz="2800" dirty="0">
                <a:solidFill>
                  <a:srgbClr val="000000"/>
                </a:solidFill>
                <a:latin typeface="Times New Roman" panose="02020603050405020304" pitchFamily="18" charset="0"/>
                <a:ea typeface="黑体" panose="02010609060101010101" pitchFamily="49" charset="-122"/>
                <a:sym typeface="+mn-ea"/>
              </a:rPr>
              <a:t>跟刚才到达点</a:t>
            </a:r>
            <a:r>
              <a:rPr lang="en-US" altLang="zh-CN" sz="2800">
                <a:solidFill>
                  <a:srgbClr val="000000"/>
                </a:solidFill>
                <a:latin typeface="Times New Roman" panose="02020603050405020304" pitchFamily="18" charset="0"/>
                <a:ea typeface="黑体" panose="02010609060101010101" pitchFamily="49" charset="-122"/>
                <a:sym typeface="+mn-ea"/>
              </a:rPr>
              <a:t>4</a:t>
            </a:r>
            <a:r>
              <a:rPr lang="zh-CN" altLang="en-US" sz="2800" dirty="0">
                <a:solidFill>
                  <a:srgbClr val="000000"/>
                </a:solidFill>
                <a:latin typeface="Times New Roman" panose="02020603050405020304" pitchFamily="18" charset="0"/>
                <a:ea typeface="黑体" panose="02010609060101010101" pitchFamily="49" charset="-122"/>
                <a:sym typeface="+mn-ea"/>
              </a:rPr>
              <a:t>的情况类似，无论选择哪条分支路径，误差计数器里到达门限值</a:t>
            </a:r>
            <a:r>
              <a:rPr lang="en-US" altLang="zh-CN" sz="2800">
                <a:solidFill>
                  <a:srgbClr val="000000"/>
                </a:solidFill>
                <a:latin typeface="Times New Roman" panose="02020603050405020304" pitchFamily="18" charset="0"/>
                <a:ea typeface="黑体" panose="02010609060101010101" pitchFamily="49" charset="-122"/>
                <a:sym typeface="+mn-ea"/>
              </a:rPr>
              <a:t>3</a:t>
            </a:r>
            <a:r>
              <a:rPr lang="zh-CN" altLang="en-US" sz="2800" dirty="0">
                <a:solidFill>
                  <a:srgbClr val="000000"/>
                </a:solidFill>
                <a:latin typeface="Times New Roman" panose="02020603050405020304" pitchFamily="18" charset="0"/>
                <a:ea typeface="黑体" panose="02010609060101010101" pitchFamily="49" charset="-122"/>
                <a:sym typeface="+mn-ea"/>
              </a:rPr>
              <a:t>，所以就回退到点</a:t>
            </a:r>
            <a:r>
              <a:rPr lang="en-US" altLang="zh-CN" sz="2800">
                <a:solidFill>
                  <a:srgbClr val="000000"/>
                </a:solidFill>
                <a:latin typeface="Times New Roman" panose="02020603050405020304" pitchFamily="18" charset="0"/>
                <a:ea typeface="黑体" panose="02010609060101010101" pitchFamily="49" charset="-122"/>
                <a:sym typeface="+mn-ea"/>
              </a:rPr>
              <a:t>3</a:t>
            </a:r>
            <a:r>
              <a:rPr lang="zh-CN" altLang="en-US" sz="2800" dirty="0">
                <a:solidFill>
                  <a:srgbClr val="000000"/>
                </a:solidFill>
                <a:latin typeface="Times New Roman" panose="02020603050405020304" pitchFamily="18" charset="0"/>
                <a:ea typeface="黑体" panose="02010609060101010101" pitchFamily="49" charset="-122"/>
                <a:sym typeface="+mn-ea"/>
              </a:rPr>
              <a:t>的上一级点</a:t>
            </a:r>
            <a:r>
              <a:rPr lang="en-US" altLang="zh-CN" sz="2800">
                <a:solidFill>
                  <a:srgbClr val="000000"/>
                </a:solidFill>
                <a:latin typeface="Times New Roman" panose="02020603050405020304" pitchFamily="18" charset="0"/>
                <a:ea typeface="黑体" panose="02010609060101010101" pitchFamily="49" charset="-122"/>
                <a:sym typeface="+mn-ea"/>
              </a:rPr>
              <a:t>2</a:t>
            </a:r>
            <a:r>
              <a:rPr lang="zh-CN" altLang="en-US" sz="2800" dirty="0">
                <a:solidFill>
                  <a:srgbClr val="000000"/>
                </a:solidFill>
                <a:latin typeface="Times New Roman" panose="02020603050405020304" pitchFamily="18" charset="0"/>
                <a:ea typeface="黑体" panose="02010609060101010101" pitchFamily="49" charset="-122"/>
                <a:sym typeface="+mn-ea"/>
              </a:rPr>
              <a:t>继续</a:t>
            </a:r>
            <a:endParaRPr lang="zh-CN" altLang="en-US" sz="2800" dirty="0">
              <a:solidFill>
                <a:srgbClr val="000000"/>
              </a:solidFill>
              <a:latin typeface="Times New Roman" panose="02020603050405020304" pitchFamily="18" charset="0"/>
              <a:ea typeface="黑体" panose="02010609060101010101" pitchFamily="49" charset="-122"/>
            </a:endParaRPr>
          </a:p>
          <a:p>
            <a:pPr eaLnBrk="0" fontAlgn="base" hangingPunct="0">
              <a:lnSpc>
                <a:spcPct val="130000"/>
              </a:lnSpc>
              <a:spcAft>
                <a:spcPct val="0"/>
              </a:spcAft>
              <a:buClr>
                <a:srgbClr val="CCCCFF"/>
              </a:buClr>
              <a:buSzPct val="65000"/>
            </a:pPr>
            <a:r>
              <a:rPr lang="zh-CN" altLang="en-US" sz="2800" dirty="0">
                <a:solidFill>
                  <a:srgbClr val="FF0000"/>
                </a:solidFill>
                <a:latin typeface="Times New Roman" panose="02020603050405020304" pitchFamily="18" charset="0"/>
                <a:ea typeface="黑体" panose="02010609060101010101" pitchFamily="49" charset="-122"/>
                <a:sym typeface="+mn-ea"/>
              </a:rPr>
              <a:t>点</a:t>
            </a:r>
            <a:r>
              <a:rPr lang="en-US" altLang="zh-CN" sz="2800">
                <a:solidFill>
                  <a:srgbClr val="FF0000"/>
                </a:solidFill>
                <a:latin typeface="Times New Roman" panose="02020603050405020304" pitchFamily="18" charset="0"/>
                <a:ea typeface="黑体" panose="02010609060101010101" pitchFamily="49" charset="-122"/>
                <a:sym typeface="+mn-ea"/>
              </a:rPr>
              <a:t>2</a:t>
            </a:r>
            <a:r>
              <a:rPr lang="zh-CN" altLang="en-US" sz="2800" dirty="0">
                <a:solidFill>
                  <a:srgbClr val="FF0000"/>
                </a:solidFill>
                <a:latin typeface="Times New Roman" panose="02020603050405020304" pitchFamily="18" charset="0"/>
                <a:ea typeface="黑体" panose="02010609060101010101" pitchFamily="49" charset="-122"/>
                <a:sym typeface="+mn-ea"/>
              </a:rPr>
              <a:t>：</a:t>
            </a:r>
            <a:r>
              <a:rPr lang="zh-CN" altLang="en-US" sz="2800" dirty="0">
                <a:solidFill>
                  <a:srgbClr val="000000"/>
                </a:solidFill>
                <a:latin typeface="Times New Roman" panose="02020603050405020304" pitchFamily="18" charset="0"/>
                <a:ea typeface="黑体" panose="02010609060101010101" pitchFamily="49" charset="-122"/>
                <a:sym typeface="+mn-ea"/>
              </a:rPr>
              <a:t>选择上面的分支路径</a:t>
            </a:r>
            <a:r>
              <a:rPr lang="en-US" altLang="zh-CN" sz="2800">
                <a:solidFill>
                  <a:srgbClr val="000000"/>
                </a:solidFill>
                <a:latin typeface="Times New Roman" panose="02020603050405020304" pitchFamily="18" charset="0"/>
                <a:ea typeface="黑体" panose="02010609060101010101" pitchFamily="49" charset="-122"/>
                <a:sym typeface="+mn-ea"/>
              </a:rPr>
              <a:t>00</a:t>
            </a:r>
            <a:r>
              <a:rPr lang="zh-CN" altLang="en-US" sz="2800" dirty="0">
                <a:solidFill>
                  <a:srgbClr val="000000"/>
                </a:solidFill>
                <a:latin typeface="Times New Roman" panose="02020603050405020304" pitchFamily="18" charset="0"/>
                <a:ea typeface="黑体" panose="02010609060101010101" pitchFamily="49" charset="-122"/>
                <a:sym typeface="+mn-ea"/>
              </a:rPr>
              <a:t>，此时误差计数器里到达门限值</a:t>
            </a:r>
            <a:r>
              <a:rPr lang="en-US" altLang="zh-CN" sz="2800">
                <a:solidFill>
                  <a:srgbClr val="000000"/>
                </a:solidFill>
                <a:latin typeface="Times New Roman" panose="02020603050405020304" pitchFamily="18" charset="0"/>
                <a:ea typeface="黑体" panose="02010609060101010101" pitchFamily="49" charset="-122"/>
                <a:sym typeface="+mn-ea"/>
              </a:rPr>
              <a:t>3</a:t>
            </a:r>
            <a:r>
              <a:rPr lang="zh-CN" altLang="en-US" sz="2800" dirty="0">
                <a:solidFill>
                  <a:srgbClr val="000000"/>
                </a:solidFill>
                <a:latin typeface="Times New Roman" panose="02020603050405020304" pitchFamily="18" charset="0"/>
                <a:ea typeface="黑体" panose="02010609060101010101" pitchFamily="49" charset="-122"/>
                <a:sym typeface="+mn-ea"/>
              </a:rPr>
              <a:t>，所以回退到点</a:t>
            </a:r>
            <a:r>
              <a:rPr lang="en-US" altLang="zh-CN" sz="2800">
                <a:solidFill>
                  <a:srgbClr val="000000"/>
                </a:solidFill>
                <a:latin typeface="Times New Roman" panose="02020603050405020304" pitchFamily="18" charset="0"/>
                <a:ea typeface="黑体" panose="02010609060101010101" pitchFamily="49" charset="-122"/>
                <a:sym typeface="+mn-ea"/>
              </a:rPr>
              <a:t>1</a:t>
            </a:r>
            <a:r>
              <a:rPr lang="zh-CN" altLang="en-US" sz="2800" dirty="0">
                <a:solidFill>
                  <a:srgbClr val="000000"/>
                </a:solidFill>
                <a:latin typeface="Times New Roman" panose="02020603050405020304" pitchFamily="18" charset="0"/>
                <a:ea typeface="黑体" panose="02010609060101010101" pitchFamily="49" charset="-122"/>
                <a:sym typeface="+mn-ea"/>
              </a:rPr>
              <a:t>继续</a:t>
            </a:r>
            <a:r>
              <a:rPr lang="zh-CN" altLang="en-US" sz="2800">
                <a:solidFill>
                  <a:srgbClr val="000000"/>
                </a:solidFill>
                <a:latin typeface="Times New Roman" panose="02020603050405020304" pitchFamily="18" charset="0"/>
                <a:ea typeface="黑体" panose="02010609060101010101" pitchFamily="49" charset="-122"/>
                <a:sym typeface="+mn-ea"/>
              </a:rPr>
              <a:t>。</a:t>
            </a:r>
          </a:p>
          <a:p>
            <a:pPr indent="711200" eaLnBrk="0" fontAlgn="base" hangingPunct="0">
              <a:lnSpc>
                <a:spcPct val="130000"/>
              </a:lnSpc>
              <a:spcAft>
                <a:spcPct val="0"/>
              </a:spcAft>
              <a:buClr>
                <a:srgbClr val="CCCCFF"/>
              </a:buClr>
              <a:buSzPct val="65000"/>
              <a:extLst>
                <a:ext uri="{35155182-B16C-46BC-9424-99874614C6A1}">
                  <wpsdc:indentchars xmlns="" xmlns:wpsdc="http://www.wps.cn/officeDocument/2017/drawingmlCustomData" val="200" checksum="3773799597"/>
                </a:ext>
              </a:extLst>
            </a:pPr>
            <a:r>
              <a:rPr lang="zh-CN" altLang="en-US" sz="2800" dirty="0">
                <a:solidFill>
                  <a:srgbClr val="000000"/>
                </a:solidFill>
                <a:latin typeface="Times New Roman" panose="02020603050405020304" pitchFamily="18" charset="0"/>
                <a:ea typeface="黑体" panose="02010609060101010101" pitchFamily="49" charset="-122"/>
                <a:sym typeface="+mn-ea"/>
              </a:rPr>
              <a:t>这样类似操作下去，最终我们得到一条路径。</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序列译码算法</a:t>
            </a:r>
            <a:r>
              <a:rPr lang="zh-CN" altLang="en-US" sz="2800">
                <a:ea typeface="黑体" panose="02010609060101010101" pitchFamily="49" charset="-122"/>
                <a:sym typeface="+mn-ea"/>
              </a:rPr>
              <a:t>举例</a:t>
            </a:r>
          </a:p>
        </p:txBody>
      </p:sp>
      <p:sp>
        <p:nvSpPr>
          <p:cNvPr id="81923" name="文本框 188471"/>
          <p:cNvSpPr txBox="1"/>
          <p:nvPr/>
        </p:nvSpPr>
        <p:spPr>
          <a:xfrm>
            <a:off x="3432175" y="5874386"/>
            <a:ext cx="5543550" cy="460375"/>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dirty="0">
                <a:solidFill>
                  <a:srgbClr val="000000"/>
                </a:solidFill>
                <a:latin typeface="黑体" panose="02010609060101010101" pitchFamily="49" charset="-122"/>
                <a:ea typeface="黑体" panose="02010609060101010101" pitchFamily="49" charset="-122"/>
              </a:rPr>
              <a:t>图</a:t>
            </a:r>
            <a:r>
              <a:rPr lang="en-US" altLang="zh-CN" sz="2400">
                <a:solidFill>
                  <a:srgbClr val="000000"/>
                </a:solidFill>
                <a:latin typeface="Times New Roman" panose="02020603050405020304" pitchFamily="18" charset="0"/>
                <a:ea typeface="黑体" panose="02010609060101010101" pitchFamily="49" charset="-122"/>
              </a:rPr>
              <a:t>6.19  </a:t>
            </a:r>
            <a:r>
              <a:rPr lang="zh-CN" altLang="en-US" sz="2400" dirty="0">
                <a:solidFill>
                  <a:srgbClr val="000000"/>
                </a:solidFill>
                <a:latin typeface="Times New Roman" panose="02020603050405020304" pitchFamily="18" charset="0"/>
                <a:ea typeface="黑体" panose="02010609060101010101" pitchFamily="49" charset="-122"/>
              </a:rPr>
              <a:t>序列译码算法</a:t>
            </a:r>
          </a:p>
        </p:txBody>
      </p:sp>
      <p:pic>
        <p:nvPicPr>
          <p:cNvPr id="86019" name="图片 72708"/>
          <p:cNvPicPr>
            <a:picLocks noChangeAspect="1"/>
          </p:cNvPicPr>
          <p:nvPr/>
        </p:nvPicPr>
        <p:blipFill>
          <a:blip r:embed="rId2"/>
          <a:stretch>
            <a:fillRect/>
          </a:stretch>
        </p:blipFill>
        <p:spPr>
          <a:xfrm>
            <a:off x="1798320" y="1015366"/>
            <a:ext cx="8498840" cy="4718685"/>
          </a:xfrm>
          <a:prstGeom prst="rect">
            <a:avLst/>
          </a:prstGeom>
          <a:noFill/>
          <a:ln w="9525">
            <a:noFill/>
          </a:ln>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91910" y="104775"/>
            <a:ext cx="4009390" cy="685800"/>
          </a:xfrm>
        </p:spPr>
        <p:txBody>
          <a:bodyPr/>
          <a:lstStyle/>
          <a:p>
            <a:r>
              <a:rPr sz="2800">
                <a:ea typeface="黑体" panose="02010609060101010101" pitchFamily="49" charset="-122"/>
                <a:sym typeface="+mn-ea"/>
              </a:rPr>
              <a:t>序列译码算法</a:t>
            </a:r>
            <a:r>
              <a:rPr lang="zh-CN" altLang="en-US" sz="2800">
                <a:ea typeface="黑体" panose="02010609060101010101" pitchFamily="49" charset="-122"/>
                <a:sym typeface="+mn-ea"/>
              </a:rPr>
              <a:t>举例</a:t>
            </a:r>
          </a:p>
        </p:txBody>
      </p:sp>
      <p:sp>
        <p:nvSpPr>
          <p:cNvPr id="81923" name="文本框 188471"/>
          <p:cNvSpPr txBox="1"/>
          <p:nvPr/>
        </p:nvSpPr>
        <p:spPr>
          <a:xfrm>
            <a:off x="3432175" y="5874386"/>
            <a:ext cx="5543550" cy="460375"/>
          </a:xfrm>
          <a:prstGeom prst="rect">
            <a:avLst/>
          </a:prstGeom>
          <a:noFill/>
          <a:ln w="9525">
            <a:noFill/>
          </a:ln>
        </p:spPr>
        <p:txBody>
          <a:bodyPr anchor="t" anchorCtr="0">
            <a:spAutoFit/>
          </a:bodyPr>
          <a:lstStyle/>
          <a:p>
            <a:pPr algn="ctr" eaLnBrk="0" fontAlgn="base" hangingPunct="0">
              <a:spcBef>
                <a:spcPct val="50000"/>
              </a:spcBef>
              <a:spcAft>
                <a:spcPct val="0"/>
              </a:spcAft>
            </a:pPr>
            <a:r>
              <a:rPr lang="zh-CN" altLang="en-US" sz="2400" dirty="0">
                <a:solidFill>
                  <a:srgbClr val="000000"/>
                </a:solidFill>
                <a:latin typeface="黑体" panose="02010609060101010101" pitchFamily="49" charset="-122"/>
                <a:ea typeface="黑体" panose="02010609060101010101" pitchFamily="49" charset="-122"/>
              </a:rPr>
              <a:t>图</a:t>
            </a:r>
            <a:r>
              <a:rPr lang="en-US" altLang="zh-CN" sz="2400">
                <a:solidFill>
                  <a:srgbClr val="000000"/>
                </a:solidFill>
                <a:latin typeface="Times New Roman" panose="02020603050405020304" pitchFamily="18" charset="0"/>
                <a:ea typeface="黑体" panose="02010609060101010101" pitchFamily="49" charset="-122"/>
              </a:rPr>
              <a:t>6.20  </a:t>
            </a:r>
            <a:r>
              <a:rPr lang="zh-CN" altLang="en-US" sz="2400" dirty="0">
                <a:solidFill>
                  <a:srgbClr val="000000"/>
                </a:solidFill>
                <a:latin typeface="Times New Roman" panose="02020603050405020304" pitchFamily="18" charset="0"/>
                <a:ea typeface="黑体" panose="02010609060101010101" pitchFamily="49" charset="-122"/>
              </a:rPr>
              <a:t>序列译码算法</a:t>
            </a:r>
          </a:p>
        </p:txBody>
      </p:sp>
      <p:pic>
        <p:nvPicPr>
          <p:cNvPr id="87043" name="图片 73732"/>
          <p:cNvPicPr>
            <a:picLocks noChangeAspect="1"/>
          </p:cNvPicPr>
          <p:nvPr/>
        </p:nvPicPr>
        <p:blipFill>
          <a:blip r:embed="rId2"/>
          <a:stretch>
            <a:fillRect/>
          </a:stretch>
        </p:blipFill>
        <p:spPr>
          <a:xfrm>
            <a:off x="2209801" y="1254126"/>
            <a:ext cx="7775575" cy="4251325"/>
          </a:xfrm>
          <a:prstGeom prst="rect">
            <a:avLst/>
          </a:prstGeom>
          <a:noFill/>
          <a:ln w="9525">
            <a:noFill/>
          </a:ln>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80" y="1595120"/>
            <a:ext cx="9799320" cy="1594485"/>
          </a:xfrm>
        </p:spPr>
        <p:txBody>
          <a:bodyPr>
            <a:normAutofit/>
          </a:bodyPr>
          <a:lstStyle/>
          <a:p>
            <a:r>
              <a:rPr lang="zh-CN" altLang="zh-CN" sz="4800"/>
              <a:t>第六章 </a:t>
            </a:r>
            <a:r>
              <a:rPr lang="en-US" altLang="zh-CN" sz="4800"/>
              <a:t>Turbo</a:t>
            </a:r>
            <a:r>
              <a:rPr lang="zh-CN" altLang="en-US" sz="4800"/>
              <a:t>码</a:t>
            </a:r>
          </a:p>
        </p:txBody>
      </p:sp>
      <p:sp>
        <p:nvSpPr>
          <p:cNvPr id="3" name="副标题 2"/>
          <p:cNvSpPr>
            <a:spLocks noGrp="1"/>
          </p:cNvSpPr>
          <p:nvPr>
            <p:ph type="subTitle" idx="1"/>
            <p:custDataLst>
              <p:tags r:id="rId3"/>
            </p:custDataLst>
          </p:nvPr>
        </p:nvSpPr>
        <p:spPr/>
        <p:txBody>
          <a:bodyPr/>
          <a:lstStyle/>
          <a:p>
            <a:r>
              <a:rPr lang="zh-CN" altLang="en-US"/>
              <a:t>李丽香，彭海朋</a:t>
            </a:r>
          </a:p>
          <a:p>
            <a:r>
              <a:rPr lang="zh-CN" altLang="en-US"/>
              <a:t>北京邮电大学网络空间安全学院</a:t>
            </a:r>
          </a:p>
        </p:txBody>
      </p:sp>
    </p:spTree>
    <p:custDataLst>
      <p:tags r:id="rId1"/>
    </p:custData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Turbo码的研究背景</a:t>
            </a:r>
          </a:p>
        </p:txBody>
      </p:sp>
      <p:sp>
        <p:nvSpPr>
          <p:cNvPr id="3" name="内容占位符 2"/>
          <p:cNvSpPr>
            <a:spLocks noGrp="1"/>
          </p:cNvSpPr>
          <p:nvPr>
            <p:ph idx="1"/>
          </p:nvPr>
        </p:nvSpPr>
        <p:spPr>
          <a:xfrm>
            <a:off x="608330" y="1490345"/>
            <a:ext cx="10899140" cy="4679950"/>
          </a:xfrm>
        </p:spPr>
        <p:txBody>
          <a:bodyPr>
            <a:noAutofit/>
          </a:bodyPr>
          <a:lstStyle/>
          <a:p>
            <a:r>
              <a:rPr sz="2400"/>
              <a:t>香农有噪信道编码定理指出：在信道传输速率R不超过信道容量C的前提下，只有在码组长度无限的码集合中随机地选择编码码字并且在接收端采用最大似然译码算法时，才能逼近香农信道容量，误码率接近于零。</a:t>
            </a:r>
          </a:p>
          <a:p>
            <a:r>
              <a:rPr sz="2400"/>
              <a:t>但是传统的编码都有规则的代数结构，远远谈不上“随机”；而且最大似然译码的复杂性随编码长度的增加而加大，当编码长度趋于无穷大时，最大似然译码是不可能实现的。出于译码复杂度的考虑，码长也不可能太长。因此，传统的信道编码性能与信道容量之间都有较大的差距。</a:t>
            </a:r>
          </a:p>
        </p:txBody>
      </p:sp>
      <p:sp>
        <p:nvSpPr>
          <p:cNvPr id="28" name="文本框 27"/>
          <p:cNvSpPr txBox="1"/>
          <p:nvPr/>
        </p:nvSpPr>
        <p:spPr>
          <a:xfrm>
            <a:off x="2818130" y="7590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29" name="文本框 28"/>
          <p:cNvSpPr txBox="1"/>
          <p:nvPr/>
        </p:nvSpPr>
        <p:spPr>
          <a:xfrm>
            <a:off x="2945130" y="7717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0" name="文本框 29"/>
          <p:cNvSpPr txBox="1"/>
          <p:nvPr/>
        </p:nvSpPr>
        <p:spPr>
          <a:xfrm>
            <a:off x="3072130" y="7844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1" name="文本框 30"/>
          <p:cNvSpPr txBox="1"/>
          <p:nvPr/>
        </p:nvSpPr>
        <p:spPr>
          <a:xfrm>
            <a:off x="3199130" y="7971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2" name="文本框 31"/>
          <p:cNvSpPr txBox="1"/>
          <p:nvPr/>
        </p:nvSpPr>
        <p:spPr>
          <a:xfrm>
            <a:off x="3326130" y="8098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3" name="文本框 32"/>
          <p:cNvSpPr txBox="1"/>
          <p:nvPr/>
        </p:nvSpPr>
        <p:spPr>
          <a:xfrm>
            <a:off x="3453130" y="8225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4" name="文本框 33"/>
          <p:cNvSpPr txBox="1"/>
          <p:nvPr/>
        </p:nvSpPr>
        <p:spPr>
          <a:xfrm>
            <a:off x="3580130" y="8352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Tree>
    <p:custDataLst>
      <p:tags r:id="rId1"/>
    </p:custData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Turbo码的研究背景</a:t>
            </a:r>
          </a:p>
        </p:txBody>
      </p:sp>
      <p:sp>
        <p:nvSpPr>
          <p:cNvPr id="3" name="内容占位符 2"/>
          <p:cNvSpPr>
            <a:spLocks noGrp="1"/>
          </p:cNvSpPr>
          <p:nvPr>
            <p:ph idx="1"/>
          </p:nvPr>
        </p:nvSpPr>
        <p:spPr>
          <a:xfrm>
            <a:off x="608330" y="1490345"/>
            <a:ext cx="10899140" cy="4858385"/>
          </a:xfrm>
        </p:spPr>
        <p:txBody>
          <a:bodyPr>
            <a:noAutofit/>
          </a:bodyPr>
          <a:lstStyle/>
          <a:p>
            <a:r>
              <a:rPr sz="2400"/>
              <a:t>事实上，长期以来信道容量仅作为一个理论极限存在，实际的编码方案设计和评估都没有以香农限为依据。</a:t>
            </a:r>
          </a:p>
          <a:p>
            <a:r>
              <a:rPr sz="2400"/>
              <a:t>随机性编译码被认为仅仅是为证明定理存在性而引入的一种数学方法和手段，在实际的编码构造中是不可能实现的。</a:t>
            </a:r>
          </a:p>
          <a:p>
            <a:r>
              <a:rPr sz="2400">
                <a:sym typeface="+mn-ea"/>
              </a:rPr>
              <a:t>1993年，两位任教于法国不列颠通信大学的教授C. Berrou、A. Glavieux和他们的缅甸籍博士生P. Thitimajshima在瑞士日内瓦召开的国际通信会议(ICC)上发表的论文《Near Shannon limit error-correcting coding and decoding: Turbo codes》中，提出了一种新的编码方法，即Turbo码。</a:t>
            </a:r>
          </a:p>
        </p:txBody>
      </p:sp>
      <p:sp>
        <p:nvSpPr>
          <p:cNvPr id="28" name="文本框 27"/>
          <p:cNvSpPr txBox="1"/>
          <p:nvPr/>
        </p:nvSpPr>
        <p:spPr>
          <a:xfrm>
            <a:off x="2818130" y="7590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29" name="文本框 28"/>
          <p:cNvSpPr txBox="1"/>
          <p:nvPr/>
        </p:nvSpPr>
        <p:spPr>
          <a:xfrm>
            <a:off x="2945130" y="7717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0" name="文本框 29"/>
          <p:cNvSpPr txBox="1"/>
          <p:nvPr/>
        </p:nvSpPr>
        <p:spPr>
          <a:xfrm>
            <a:off x="3072130" y="7844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1" name="文本框 30"/>
          <p:cNvSpPr txBox="1"/>
          <p:nvPr/>
        </p:nvSpPr>
        <p:spPr>
          <a:xfrm>
            <a:off x="3199130" y="7971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2" name="文本框 31"/>
          <p:cNvSpPr txBox="1"/>
          <p:nvPr/>
        </p:nvSpPr>
        <p:spPr>
          <a:xfrm>
            <a:off x="3326130" y="8098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3" name="文本框 32"/>
          <p:cNvSpPr txBox="1"/>
          <p:nvPr/>
        </p:nvSpPr>
        <p:spPr>
          <a:xfrm>
            <a:off x="3453130" y="8225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4" name="文本框 33"/>
          <p:cNvSpPr txBox="1"/>
          <p:nvPr/>
        </p:nvSpPr>
        <p:spPr>
          <a:xfrm>
            <a:off x="3580130" y="8352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Tree>
    <p:custDataLst>
      <p:tags r:id="rId1"/>
    </p:custData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Turbo码的研究背景</a:t>
            </a:r>
          </a:p>
        </p:txBody>
      </p:sp>
      <p:sp>
        <p:nvSpPr>
          <p:cNvPr id="3" name="内容占位符 2"/>
          <p:cNvSpPr>
            <a:spLocks noGrp="1"/>
          </p:cNvSpPr>
          <p:nvPr>
            <p:ph idx="1"/>
          </p:nvPr>
        </p:nvSpPr>
        <p:spPr>
          <a:xfrm>
            <a:off x="608330" y="1490345"/>
            <a:ext cx="10899140" cy="4451985"/>
          </a:xfrm>
        </p:spPr>
        <p:txBody>
          <a:bodyPr>
            <a:noAutofit/>
          </a:bodyPr>
          <a:lstStyle/>
          <a:p>
            <a:r>
              <a:rPr sz="2400"/>
              <a:t>C. Berrou等人提出的Turbo码就是并行级联卷积码，巧妙地将卷积码和伪随机交织器结合在一起，在实现随机编码思想的同时，通过交织器实现了由短码构造长码的方法，并在两个软入/软出(SISO)译码器之间进行多次迭代来逼近最大似然译码。</a:t>
            </a:r>
          </a:p>
          <a:p>
            <a:r>
              <a:rPr sz="2400"/>
              <a:t>Turbo码很好地应用了香农信道编码定理中的随机性编、译码条件，从而获得了几乎接近香农理论极限的译码性能。</a:t>
            </a:r>
          </a:p>
          <a:p>
            <a:r>
              <a:rPr sz="2400"/>
              <a:t>从此以后，Turbo 码得到了广泛的关注和发展，并对当今的编码理论和研究方法产生了深远的影响，信道编码理论的研究也随之进入了一个新的阶段。</a:t>
            </a:r>
          </a:p>
        </p:txBody>
      </p:sp>
    </p:spTree>
    <p:custDataLst>
      <p:tags r:id="rId1"/>
    </p:custData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课程思政</a:t>
            </a:r>
          </a:p>
        </p:txBody>
      </p:sp>
      <p:sp>
        <p:nvSpPr>
          <p:cNvPr id="3" name="内容占位符 2"/>
          <p:cNvSpPr>
            <a:spLocks noGrp="1"/>
          </p:cNvSpPr>
          <p:nvPr>
            <p:ph idx="1"/>
          </p:nvPr>
        </p:nvSpPr>
        <p:spPr>
          <a:xfrm>
            <a:off x="608330" y="1490345"/>
            <a:ext cx="10899140" cy="4948555"/>
          </a:xfrm>
        </p:spPr>
        <p:txBody>
          <a:bodyPr>
            <a:noAutofit/>
          </a:bodyPr>
          <a:lstStyle/>
          <a:p>
            <a:r>
              <a:rPr sz="2400"/>
              <a:t>Turbo码是一种级联码</a:t>
            </a:r>
            <a:r>
              <a:rPr lang="zh-CN" sz="2400"/>
              <a:t>，</a:t>
            </a:r>
            <a:r>
              <a:rPr sz="2400"/>
              <a:t>利用迭代算法，以时间换取复杂度，第一次实现了现实可行的对香农极限的逼近。</a:t>
            </a:r>
          </a:p>
          <a:p>
            <a:r>
              <a:rPr sz="2400"/>
              <a:t>Turbo码的发明让人茅塞顿开，它不再是一种简单的编解码方案，而成为一种思想，人们基于这一思想开发了Turbo均衡、Turbo信道估计等应用，Turbo思想将信息理论推向了一个新的台阶。</a:t>
            </a:r>
          </a:p>
          <a:p>
            <a:r>
              <a:rPr sz="2400"/>
              <a:t>而Turbo码在3G和4G中的应用，正是移动互联网大爆发的年代，它在无形之中服务信息社会，支撑其对数据传输的需求。</a:t>
            </a:r>
          </a:p>
          <a:p>
            <a:r>
              <a:rPr sz="2400">
                <a:solidFill>
                  <a:srgbClr val="FF0000"/>
                </a:solidFill>
                <a:sym typeface="+mn-ea"/>
              </a:rPr>
              <a:t>Turbo码的发明</a:t>
            </a:r>
            <a:r>
              <a:rPr lang="zh-CN" sz="2400">
                <a:solidFill>
                  <a:srgbClr val="FF0000"/>
                </a:solidFill>
                <a:sym typeface="+mn-ea"/>
              </a:rPr>
              <a:t>的启示：</a:t>
            </a:r>
            <a:r>
              <a:rPr sz="2400">
                <a:solidFill>
                  <a:srgbClr val="FF0000"/>
                </a:solidFill>
              </a:rPr>
              <a:t>就像学习中遇到的问题一样，解决方法并不是唯一的，大家要勤思考，找到解决问题的办法，提升自我解决问题的能力</a:t>
            </a:r>
          </a:p>
        </p:txBody>
      </p:sp>
    </p:spTree>
    <p:custDataLst>
      <p:tags r:id="rId1"/>
    </p:custData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Turbo码的优点</a:t>
            </a:r>
          </a:p>
        </p:txBody>
      </p:sp>
      <p:sp>
        <p:nvSpPr>
          <p:cNvPr id="3" name="内容占位符 2"/>
          <p:cNvSpPr>
            <a:spLocks noGrp="1"/>
          </p:cNvSpPr>
          <p:nvPr>
            <p:ph idx="1"/>
          </p:nvPr>
        </p:nvSpPr>
        <p:spPr>
          <a:xfrm>
            <a:off x="608330" y="1490345"/>
            <a:ext cx="10899140" cy="4451985"/>
          </a:xfrm>
        </p:spPr>
        <p:txBody>
          <a:bodyPr>
            <a:noAutofit/>
          </a:bodyPr>
          <a:lstStyle/>
          <a:p>
            <a:r>
              <a:rPr sz="2400"/>
              <a:t>在信噪比较低的高噪声环境下性能优越（信道条件差的移动通信系统中有很大的应用潜力），而且具有很强的抗衰落、抗干扰能力</a:t>
            </a:r>
            <a:r>
              <a:rPr lang="zh-CN" sz="2400"/>
              <a:t>。</a:t>
            </a:r>
            <a:endParaRPr sz="2400"/>
          </a:p>
          <a:p>
            <a:r>
              <a:rPr sz="2400"/>
              <a:t>Turbo码具有超乎寻常的优异的译码性能，可以纠正高速率数据传输时发生的误码。在直扩（CDMA）系统中采用Turbo码技术可以进一步提高系统的容量</a:t>
            </a:r>
            <a:r>
              <a:rPr lang="zh-CN" sz="2400"/>
              <a:t>。</a:t>
            </a:r>
            <a:endParaRPr sz="2400"/>
          </a:p>
          <a:p>
            <a:r>
              <a:rPr sz="2400"/>
              <a:t>在短帧情况下的仿真结果表明短交织Turbo码在AWGN信道和Rayleigh衰落信道下仍具有接近信道容量的纠错能力</a:t>
            </a:r>
            <a:r>
              <a:rPr lang="zh-CN" sz="2400"/>
              <a:t>。</a:t>
            </a:r>
          </a:p>
        </p:txBody>
      </p:sp>
    </p:spTree>
    <p:custDataLst>
      <p:tags r:id="rId1"/>
    </p:custData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Turbo码的缺点</a:t>
            </a:r>
          </a:p>
        </p:txBody>
      </p:sp>
      <p:sp>
        <p:nvSpPr>
          <p:cNvPr id="3" name="内容占位符 2"/>
          <p:cNvSpPr>
            <a:spLocks noGrp="1"/>
          </p:cNvSpPr>
          <p:nvPr>
            <p:ph idx="1"/>
          </p:nvPr>
        </p:nvSpPr>
        <p:spPr>
          <a:xfrm>
            <a:off x="608330" y="1490345"/>
            <a:ext cx="10899140" cy="3656330"/>
          </a:xfrm>
        </p:spPr>
        <p:txBody>
          <a:bodyPr>
            <a:noAutofit/>
          </a:bodyPr>
          <a:lstStyle/>
          <a:p>
            <a:r>
              <a:rPr sz="2400"/>
              <a:t>为获得较高的性能，Turbo码的编译码方式较为复杂</a:t>
            </a:r>
            <a:r>
              <a:rPr lang="zh-CN" sz="2400"/>
              <a:t>。</a:t>
            </a:r>
            <a:endParaRPr sz="2400"/>
          </a:p>
          <a:p>
            <a:r>
              <a:rPr sz="2400"/>
              <a:t>具有较大的译码时延，这是由于block长度较大、译码需要多次迭代造成的。这样非常不利实时业务或高速数据的传输</a:t>
            </a:r>
            <a:r>
              <a:rPr lang="zh-CN" sz="2400"/>
              <a:t>。</a:t>
            </a:r>
            <a:endParaRPr sz="2400"/>
          </a:p>
          <a:p>
            <a:r>
              <a:rPr sz="2400"/>
              <a:t>BER</a:t>
            </a:r>
            <a:r>
              <a:rPr lang="en-US" sz="2400"/>
              <a:t>(</a:t>
            </a:r>
            <a:r>
              <a:rPr lang="zh-CN" altLang="en-US" sz="2400"/>
              <a:t>比特出错概率</a:t>
            </a:r>
            <a:r>
              <a:rPr lang="en-US" sz="2400"/>
              <a:t>)</a:t>
            </a:r>
            <a:r>
              <a:rPr sz="2400"/>
              <a:t>在</a:t>
            </a:r>
            <a:r>
              <a:rPr sz="2400">
                <a:latin typeface="Times New Roman" panose="02020603050405020304" pitchFamily="18" charset="0"/>
                <a:cs typeface="Times New Roman" panose="02020603050405020304" pitchFamily="18" charset="0"/>
              </a:rPr>
              <a:t>10</a:t>
            </a:r>
            <a:r>
              <a:rPr sz="2400" baseline="30000">
                <a:latin typeface="Times New Roman" panose="02020603050405020304" pitchFamily="18" charset="0"/>
                <a:cs typeface="Times New Roman" panose="02020603050405020304" pitchFamily="18" charset="0"/>
              </a:rPr>
              <a:t>−5</a:t>
            </a:r>
            <a:r>
              <a:rPr sz="2400"/>
              <a:t>后会出现误码平层，这是由于Turbo码的重量分布造成的。对于某些对BER要求较高的应用就不适合，当然通过交织器的设计能够提供更大的码间最小距离，从而降低误码平层。</a:t>
            </a:r>
          </a:p>
        </p:txBody>
      </p:sp>
    </p:spTree>
    <p:custDataLst>
      <p:tags r:id="rId1"/>
    </p:custData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Turbo码的应用</a:t>
            </a:r>
          </a:p>
        </p:txBody>
      </p:sp>
      <p:sp>
        <p:nvSpPr>
          <p:cNvPr id="3" name="内容占位符 2"/>
          <p:cNvSpPr>
            <a:spLocks noGrp="1"/>
          </p:cNvSpPr>
          <p:nvPr>
            <p:ph idx="1"/>
          </p:nvPr>
        </p:nvSpPr>
        <p:spPr>
          <a:xfrm>
            <a:off x="608330" y="1490345"/>
            <a:ext cx="10899140" cy="4849495"/>
          </a:xfrm>
        </p:spPr>
        <p:txBody>
          <a:bodyPr>
            <a:noAutofit/>
          </a:bodyPr>
          <a:lstStyle/>
          <a:p>
            <a:r>
              <a:rPr sz="2400"/>
              <a:t>移动</a:t>
            </a:r>
            <a:r>
              <a:rPr sz="2400">
                <a:sym typeface="+mn-ea"/>
              </a:rPr>
              <a:t>通信系统</a:t>
            </a:r>
            <a:r>
              <a:rPr lang="zh-CN" sz="2400">
                <a:sym typeface="+mn-ea"/>
              </a:rPr>
              <a:t>、</a:t>
            </a:r>
            <a:r>
              <a:rPr sz="2400"/>
              <a:t>卫星通信系统、数字音频广播、数字视频广播、深空通信、UMTS/3GPP、CDMA、信息隐藏领域、分布式信源编码、信源信道联合编码</a:t>
            </a:r>
            <a:r>
              <a:rPr lang="zh-CN" sz="2400"/>
              <a:t>。</a:t>
            </a:r>
          </a:p>
          <a:p>
            <a:r>
              <a:rPr lang="zh-CN" sz="2400"/>
              <a:t>3G移动通信因为其业务类型对信道编码提出了更高的要求，而相应的WCDMA和CDMA2000方案都建议采用除与IS-95 CDMA系统类似的卷积编码技术和交织技术之外，采用Turbo编码技术。</a:t>
            </a:r>
          </a:p>
          <a:p>
            <a:r>
              <a:rPr lang="zh-CN" sz="2400"/>
              <a:t>CDMA2000中，Turbo码被用在CDMA系统前向、反向链路信道中，RSC</a:t>
            </a:r>
            <a:r>
              <a:rPr lang="en-US" altLang="zh-CN" sz="2400"/>
              <a:t> </a:t>
            </a:r>
            <a:r>
              <a:rPr lang="zh-CN" sz="2400"/>
              <a:t>(递归系统卷积)编码器基于8状态的并行级联卷积码(8PCCC)。</a:t>
            </a:r>
          </a:p>
          <a:p>
            <a:r>
              <a:rPr lang="zh-CN" sz="2400"/>
              <a:t>在WCDMA中，Turbo码交织器是可截短型块交织器。</a:t>
            </a:r>
          </a:p>
        </p:txBody>
      </p:sp>
    </p:spTree>
    <p:custDataLst>
      <p:tags r:id="rId1"/>
    </p:custData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分量码</a:t>
            </a:r>
          </a:p>
        </p:txBody>
      </p:sp>
      <p:sp>
        <p:nvSpPr>
          <p:cNvPr id="3" name="内容占位符 2"/>
          <p:cNvSpPr>
            <a:spLocks noGrp="1"/>
          </p:cNvSpPr>
          <p:nvPr>
            <p:ph idx="1"/>
          </p:nvPr>
        </p:nvSpPr>
        <p:spPr>
          <a:xfrm>
            <a:off x="608330" y="1490345"/>
            <a:ext cx="10899140" cy="4609465"/>
          </a:xfrm>
        </p:spPr>
        <p:txBody>
          <a:bodyPr>
            <a:noAutofit/>
          </a:bodyPr>
          <a:lstStyle/>
          <a:p>
            <a:r>
              <a:rPr sz="2400"/>
              <a:t>卷积码的类型多样，如非递归卷积码(NRC)、非系统卷积码(NSC)、递归系统卷积码(RSC)。</a:t>
            </a:r>
          </a:p>
          <a:p>
            <a:r>
              <a:rPr sz="2400"/>
              <a:t>在实际的系统中，由于RSC有突出的优点而被广泛采用。RSC码在具有良好的译码性能，且存在较高的交织增益，译码性能也会随着交织长度增加而提高。</a:t>
            </a:r>
          </a:p>
          <a:p>
            <a:r>
              <a:rPr sz="2400"/>
              <a:t>影响译码性能的因素很多，如卷积码的约束长度、生成多项式以及生成多项式的顺序等，因此，在实际中用不同种类的分量码构造的Turbo码，需要根据不同的场景和用户的需求，经过仿真和验证才能获得。</a:t>
            </a:r>
          </a:p>
        </p:txBody>
      </p:sp>
      <p:sp>
        <p:nvSpPr>
          <p:cNvPr id="28" name="文本框 27"/>
          <p:cNvSpPr txBox="1"/>
          <p:nvPr/>
        </p:nvSpPr>
        <p:spPr>
          <a:xfrm>
            <a:off x="2818130" y="7590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29" name="文本框 28"/>
          <p:cNvSpPr txBox="1"/>
          <p:nvPr/>
        </p:nvSpPr>
        <p:spPr>
          <a:xfrm>
            <a:off x="2945130" y="7717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0" name="文本框 29"/>
          <p:cNvSpPr txBox="1"/>
          <p:nvPr/>
        </p:nvSpPr>
        <p:spPr>
          <a:xfrm>
            <a:off x="3072130" y="7844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1" name="文本框 30"/>
          <p:cNvSpPr txBox="1"/>
          <p:nvPr/>
        </p:nvSpPr>
        <p:spPr>
          <a:xfrm>
            <a:off x="3199130" y="7971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2" name="文本框 31"/>
          <p:cNvSpPr txBox="1"/>
          <p:nvPr/>
        </p:nvSpPr>
        <p:spPr>
          <a:xfrm>
            <a:off x="3326130" y="8098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3" name="文本框 32"/>
          <p:cNvSpPr txBox="1"/>
          <p:nvPr/>
        </p:nvSpPr>
        <p:spPr>
          <a:xfrm>
            <a:off x="3453130" y="8225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
        <p:nvSpPr>
          <p:cNvPr id="34" name="文本框 33"/>
          <p:cNvSpPr txBox="1"/>
          <p:nvPr/>
        </p:nvSpPr>
        <p:spPr>
          <a:xfrm>
            <a:off x="3580130" y="8352790"/>
            <a:ext cx="1891030"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solidFill>
                <a:effectLst/>
                <a:uLnTx/>
                <a:uFillTx/>
                <a:latin typeface="Arial"/>
                <a:ea typeface="微软雅黑"/>
                <a:cs typeface="+mn-cs"/>
              </a:rPr>
              <a:t>法拉第</a:t>
            </a:r>
            <a:r>
              <a:rPr kumimoji="0" lang="en-US" altLang="zh-CN" sz="1600" b="0" i="0" u="none" strike="noStrike" kern="1200" cap="none" spc="0" normalizeH="0" baseline="0" noProof="0">
                <a:ln>
                  <a:noFill/>
                </a:ln>
                <a:solidFill>
                  <a:srgbClr val="000000"/>
                </a:solidFill>
                <a:effectLst/>
                <a:uLnTx/>
                <a:uFillTx/>
                <a:latin typeface="Arial"/>
                <a:ea typeface="微软雅黑"/>
                <a:cs typeface="+mn-cs"/>
              </a:rPr>
              <a:t>(1791-1861)</a:t>
            </a:r>
          </a:p>
        </p:txBody>
      </p:sp>
    </p:spTree>
    <p:custDataLst>
      <p:tags r:id="rId1"/>
    </p:custData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交织器</a:t>
            </a:r>
          </a:p>
        </p:txBody>
      </p:sp>
      <p:sp>
        <p:nvSpPr>
          <p:cNvPr id="3" name="内容占位符 2"/>
          <p:cNvSpPr>
            <a:spLocks noGrp="1"/>
          </p:cNvSpPr>
          <p:nvPr>
            <p:ph idx="1"/>
          </p:nvPr>
        </p:nvSpPr>
        <p:spPr>
          <a:xfrm>
            <a:off x="608330" y="1490345"/>
            <a:ext cx="10899140" cy="2719070"/>
          </a:xfrm>
        </p:spPr>
        <p:txBody>
          <a:bodyPr>
            <a:noAutofit/>
          </a:bodyPr>
          <a:lstStyle/>
          <a:p>
            <a:r>
              <a:rPr sz="2400">
                <a:sym typeface="+mn-ea"/>
              </a:rPr>
              <a:t>交织器的主要功能是使码重分布合理，降低数据序列的相关性，增大输出码字的最小汉明距，实现随机编码。     </a:t>
            </a:r>
          </a:p>
          <a:p>
            <a:r>
              <a:rPr sz="2400">
                <a:sym typeface="+mn-ea"/>
              </a:rPr>
              <a:t>交织器将原始数据顺序按照给定的规则重新排序输出</a:t>
            </a:r>
            <a:r>
              <a:rPr lang="zh-CN" sz="2400">
                <a:sym typeface="+mn-ea"/>
              </a:rPr>
              <a:t>，能把通信产生的连续错误变成许多离散的单个错误，本质上改变序列的结构而不改变数据序列的内容</a:t>
            </a:r>
            <a:r>
              <a:rPr sz="2400">
                <a:sym typeface="+mn-ea"/>
              </a:rPr>
              <a:t>。解交织即是交织的逆过程。</a:t>
            </a:r>
          </a:p>
        </p:txBody>
      </p:sp>
      <p:graphicFrame>
        <p:nvGraphicFramePr>
          <p:cNvPr id="4" name="对象 3"/>
          <p:cNvGraphicFramePr/>
          <p:nvPr/>
        </p:nvGraphicFramePr>
        <p:xfrm>
          <a:off x="4092575" y="4517390"/>
          <a:ext cx="3806825" cy="908685"/>
        </p:xfrm>
        <a:graphic>
          <a:graphicData uri="http://schemas.openxmlformats.org/presentationml/2006/ole">
            <mc:AlternateContent xmlns:mc="http://schemas.openxmlformats.org/markup-compatibility/2006">
              <mc:Choice xmlns:v="urn:schemas-microsoft-com:vml" Requires="v">
                <p:oleObj r:id="rId3" imgW="3803650" imgH="908050" progId="Paint.Picture">
                  <p:embed/>
                </p:oleObj>
              </mc:Choice>
              <mc:Fallback>
                <p:oleObj r:id="rId3" imgW="3803650" imgH="908050" progId="Paint.Picture">
                  <p:embed/>
                  <p:pic>
                    <p:nvPicPr>
                      <p:cNvPr id="4" name="对象 3"/>
                      <p:cNvPicPr/>
                      <p:nvPr/>
                    </p:nvPicPr>
                    <p:blipFill>
                      <a:blip r:embed="rId4"/>
                      <a:stretch>
                        <a:fillRect/>
                      </a:stretch>
                    </p:blipFill>
                    <p:spPr>
                      <a:xfrm>
                        <a:off x="4092575" y="4517390"/>
                        <a:ext cx="3806825" cy="908685"/>
                      </a:xfrm>
                      <a:prstGeom prst="rect">
                        <a:avLst/>
                      </a:prstGeom>
                    </p:spPr>
                  </p:pic>
                </p:oleObj>
              </mc:Fallback>
            </mc:AlternateContent>
          </a:graphicData>
        </a:graphic>
      </p:graphicFrame>
      <p:sp>
        <p:nvSpPr>
          <p:cNvPr id="6" name="文本框 5"/>
          <p:cNvSpPr txBox="1"/>
          <p:nvPr/>
        </p:nvSpPr>
        <p:spPr>
          <a:xfrm>
            <a:off x="5038090" y="5623560"/>
            <a:ext cx="206057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Arial"/>
                <a:ea typeface="微软雅黑"/>
                <a:cs typeface="+mn-cs"/>
              </a:rPr>
              <a:t>一个简单</a:t>
            </a:r>
            <a:r>
              <a:rPr kumimoji="0" lang="zh-CN" altLang="en-US" sz="1800" b="0" i="0" u="none" strike="noStrike" kern="1200" cap="none" spc="0" normalizeH="0" baseline="0" noProof="0">
                <a:ln>
                  <a:noFill/>
                </a:ln>
                <a:solidFill>
                  <a:srgbClr val="000000"/>
                </a:solidFill>
                <a:effectLst/>
                <a:uLnTx/>
                <a:uFillTx/>
                <a:latin typeface="Arial"/>
                <a:ea typeface="微软雅黑"/>
                <a:cs typeface="+mn-cs"/>
                <a:sym typeface="+mn-ea"/>
              </a:rPr>
              <a:t>的交织器</a:t>
            </a: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Tree>
    <p:custDataLst>
      <p:tags r:id="rId1"/>
    </p:custData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交织器</a:t>
            </a:r>
          </a:p>
        </p:txBody>
      </p:sp>
      <p:sp>
        <p:nvSpPr>
          <p:cNvPr id="3" name="内容占位符 2"/>
          <p:cNvSpPr>
            <a:spLocks noGrp="1"/>
          </p:cNvSpPr>
          <p:nvPr>
            <p:ph idx="1"/>
          </p:nvPr>
        </p:nvSpPr>
        <p:spPr>
          <a:xfrm>
            <a:off x="608330" y="1490345"/>
            <a:ext cx="10899140" cy="4977765"/>
          </a:xfrm>
        </p:spPr>
        <p:txBody>
          <a:bodyPr>
            <a:noAutofit/>
          </a:bodyPr>
          <a:lstStyle/>
          <a:p>
            <a:pPr>
              <a:spcAft>
                <a:spcPts val="400"/>
              </a:spcAft>
            </a:pPr>
            <a:r>
              <a:rPr sz="2400">
                <a:sym typeface="+mn-ea"/>
              </a:rPr>
              <a:t>根据香农理论，码长越长，编码增益越大。因此，交织器的长度越长，Turbo码的码长越长，性能越好。</a:t>
            </a:r>
          </a:p>
          <a:p>
            <a:pPr>
              <a:spcAft>
                <a:spcPts val="400"/>
              </a:spcAft>
            </a:pPr>
            <a:r>
              <a:rPr sz="2400">
                <a:sym typeface="+mn-ea"/>
              </a:rPr>
              <a:t>Turbo码在交织器长度很长时可以获得优于卷积码的性能，但是在移动通信中短长度的帧是比较常见的，而在同等复杂度的情况下，Turbo码的性能是不如卷积码的。</a:t>
            </a:r>
          </a:p>
          <a:p>
            <a:pPr>
              <a:spcAft>
                <a:spcPts val="400"/>
              </a:spcAft>
            </a:pPr>
            <a:r>
              <a:rPr sz="2400">
                <a:sym typeface="+mn-ea"/>
              </a:rPr>
              <a:t>另外，交织器的交织规则也是影响因素。最简单的交织器即行列交织器，数据按行写入，按列读出。    </a:t>
            </a:r>
          </a:p>
          <a:p>
            <a:pPr>
              <a:spcAft>
                <a:spcPts val="400"/>
              </a:spcAft>
            </a:pPr>
            <a:r>
              <a:rPr sz="2400">
                <a:sym typeface="+mn-ea"/>
              </a:rPr>
              <a:t>选用交织器时要根据交织器长度、交织规则、系统复杂度等综合考虑。</a:t>
            </a:r>
          </a:p>
          <a:p>
            <a:pPr>
              <a:spcAft>
                <a:spcPts val="400"/>
              </a:spcAft>
            </a:pPr>
            <a:r>
              <a:rPr lang="zh-CN" sz="2400">
                <a:sym typeface="+mn-ea"/>
              </a:rPr>
              <a:t>有</a:t>
            </a:r>
            <a:r>
              <a:rPr sz="2400">
                <a:sym typeface="+mn-ea"/>
              </a:rPr>
              <a:t>分组交织器、伪随机交织器、循环移位交织器、分组螺旋交织器、二次算术交织器</a:t>
            </a:r>
            <a:r>
              <a:rPr lang="zh-CN" sz="2400">
                <a:sym typeface="+mn-ea"/>
              </a:rPr>
              <a:t>等。</a:t>
            </a:r>
          </a:p>
        </p:txBody>
      </p:sp>
    </p:spTree>
    <p:custDataLst>
      <p:tags r:id="rId1"/>
    </p:custData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分组交织器</a:t>
            </a:r>
          </a:p>
        </p:txBody>
      </p:sp>
      <p:sp>
        <p:nvSpPr>
          <p:cNvPr id="3" name="内容占位符 2"/>
          <p:cNvSpPr>
            <a:spLocks noGrp="1"/>
          </p:cNvSpPr>
          <p:nvPr>
            <p:ph idx="1"/>
          </p:nvPr>
        </p:nvSpPr>
        <p:spPr>
          <a:xfrm>
            <a:off x="608330" y="1490345"/>
            <a:ext cx="10899140" cy="1780540"/>
          </a:xfrm>
        </p:spPr>
        <p:txBody>
          <a:bodyPr>
            <a:noAutofit/>
          </a:bodyPr>
          <a:lstStyle/>
          <a:p>
            <a:r>
              <a:rPr lang="zh-CN" sz="2400" b="1">
                <a:solidFill>
                  <a:srgbClr val="FF0000"/>
                </a:solidFill>
                <a:sym typeface="+mn-ea"/>
              </a:rPr>
              <a:t>分组交织器</a:t>
            </a:r>
            <a:r>
              <a:rPr lang="zh-CN" sz="2400">
                <a:sym typeface="+mn-ea"/>
              </a:rPr>
              <a:t>：将数据序列按行的顺序写入</a:t>
            </a:r>
            <a:r>
              <a:rPr lang="en-US" altLang="zh-CN" sz="2400" i="1">
                <a:latin typeface="Times New Roman" panose="02020603050405020304" pitchFamily="18" charset="0"/>
                <a:cs typeface="Times New Roman" panose="02020603050405020304" pitchFamily="18" charset="0"/>
                <a:sym typeface="+mn-ea"/>
              </a:rPr>
              <a:t>m</a:t>
            </a:r>
            <a:r>
              <a:rPr lang="en-US" altLang="zh-CN" sz="2400">
                <a:latin typeface="Arial" panose="020B0604020202020204" pitchFamily="34" charset="0"/>
                <a:cs typeface="Times New Roman" panose="02020603050405020304" pitchFamily="18" charset="0"/>
                <a:sym typeface="+mn-ea"/>
              </a:rPr>
              <a:t>×</a:t>
            </a:r>
            <a:r>
              <a:rPr lang="en-US" altLang="zh-CN" sz="2400" i="1">
                <a:latin typeface="Times New Roman" panose="02020603050405020304" pitchFamily="18" charset="0"/>
                <a:cs typeface="Times New Roman" panose="02020603050405020304" pitchFamily="18" charset="0"/>
                <a:sym typeface="+mn-ea"/>
              </a:rPr>
              <a:t>n</a:t>
            </a:r>
            <a:r>
              <a:rPr lang="zh-CN" sz="2400">
                <a:sym typeface="+mn-ea"/>
              </a:rPr>
              <a:t>的矩阵，然后按列的顺序读出，即完成交织过程。相应的解交织过程就是将交织后的数据序列按列写入</a:t>
            </a:r>
            <a:r>
              <a:rPr lang="en-US" altLang="zh-CN" sz="2400" i="1">
                <a:latin typeface="Times New Roman" panose="02020603050405020304" pitchFamily="18" charset="0"/>
                <a:cs typeface="Times New Roman" panose="02020603050405020304" pitchFamily="18" charset="0"/>
                <a:sym typeface="+mn-ea"/>
              </a:rPr>
              <a:t>m</a:t>
            </a:r>
            <a:r>
              <a:rPr lang="en-US" altLang="zh-CN" sz="2400">
                <a:latin typeface="Arial" panose="020B0604020202020204" pitchFamily="34" charset="0"/>
                <a:cs typeface="Times New Roman" panose="02020603050405020304" pitchFamily="18" charset="0"/>
                <a:sym typeface="+mn-ea"/>
              </a:rPr>
              <a:t>×</a:t>
            </a:r>
            <a:r>
              <a:rPr lang="en-US" altLang="zh-CN" sz="2400" i="1">
                <a:latin typeface="Times New Roman" panose="02020603050405020304" pitchFamily="18" charset="0"/>
                <a:cs typeface="Times New Roman" panose="02020603050405020304" pitchFamily="18" charset="0"/>
                <a:sym typeface="+mn-ea"/>
              </a:rPr>
              <a:t>n</a:t>
            </a:r>
            <a:r>
              <a:rPr lang="zh-CN" sz="2400">
                <a:sym typeface="+mn-ea"/>
              </a:rPr>
              <a:t>矩阵，再按照行的顺序读出。</a:t>
            </a:r>
          </a:p>
        </p:txBody>
      </p:sp>
      <p:pic>
        <p:nvPicPr>
          <p:cNvPr id="7" name="图片 6"/>
          <p:cNvPicPr>
            <a:picLocks noChangeAspect="1"/>
          </p:cNvPicPr>
          <p:nvPr/>
        </p:nvPicPr>
        <p:blipFill>
          <a:blip r:embed="rId3"/>
          <a:stretch>
            <a:fillRect/>
          </a:stretch>
        </p:blipFill>
        <p:spPr>
          <a:xfrm>
            <a:off x="4254445" y="3364853"/>
            <a:ext cx="3901495" cy="2093802"/>
          </a:xfrm>
          <a:prstGeom prst="rect">
            <a:avLst/>
          </a:prstGeom>
        </p:spPr>
      </p:pic>
    </p:spTree>
    <p:custDataLst>
      <p:tags r:id="rId1"/>
    </p:custData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伪随机交织器</a:t>
            </a:r>
          </a:p>
        </p:txBody>
      </p:sp>
      <p:sp>
        <p:nvSpPr>
          <p:cNvPr id="3" name="内容占位符 2"/>
          <p:cNvSpPr>
            <a:spLocks noGrp="1"/>
          </p:cNvSpPr>
          <p:nvPr>
            <p:ph idx="1"/>
          </p:nvPr>
        </p:nvSpPr>
        <p:spPr>
          <a:xfrm>
            <a:off x="608330" y="1490345"/>
            <a:ext cx="10899140" cy="4201795"/>
          </a:xfrm>
        </p:spPr>
        <p:txBody>
          <a:bodyPr>
            <a:noAutofit/>
          </a:bodyPr>
          <a:lstStyle/>
          <a:p>
            <a:r>
              <a:rPr lang="zh-CN" sz="2400" b="1">
                <a:solidFill>
                  <a:srgbClr val="FF0000"/>
                </a:solidFill>
                <a:sym typeface="+mn-ea"/>
              </a:rPr>
              <a:t>伪随机交织器</a:t>
            </a:r>
            <a:r>
              <a:rPr lang="zh-CN" sz="2400">
                <a:sym typeface="+mn-ea"/>
              </a:rPr>
              <a:t>：指交织映射随机生成的交织器，每个长度为</a:t>
            </a:r>
            <a:r>
              <a:rPr lang="zh-CN" sz="2400" i="1">
                <a:latin typeface="Times New Roman" panose="02020603050405020304" pitchFamily="18" charset="0"/>
                <a:cs typeface="Times New Roman" panose="02020603050405020304" pitchFamily="18" charset="0"/>
                <a:sym typeface="+mn-ea"/>
              </a:rPr>
              <a:t>N</a:t>
            </a:r>
            <a:r>
              <a:rPr lang="zh-CN" sz="2400">
                <a:sym typeface="+mn-ea"/>
              </a:rPr>
              <a:t>的伪随机交织器共有</a:t>
            </a:r>
            <a:r>
              <a:rPr lang="zh-CN" sz="2400" i="1">
                <a:latin typeface="Times New Roman" panose="02020603050405020304" pitchFamily="18" charset="0"/>
                <a:cs typeface="Times New Roman" panose="02020603050405020304" pitchFamily="18" charset="0"/>
                <a:sym typeface="+mn-ea"/>
              </a:rPr>
              <a:t>N</a:t>
            </a:r>
            <a:r>
              <a:rPr lang="zh-CN" sz="2400">
                <a:latin typeface="Times New Roman" panose="02020603050405020304" pitchFamily="18" charset="0"/>
                <a:cs typeface="Times New Roman" panose="02020603050405020304" pitchFamily="18" charset="0"/>
                <a:sym typeface="+mn-ea"/>
              </a:rPr>
              <a:t>！</a:t>
            </a:r>
            <a:r>
              <a:rPr lang="zh-CN" sz="2400">
                <a:sym typeface="+mn-ea"/>
              </a:rPr>
              <a:t>种可能的交织形式。这种交织器采用给定的随机地址交织映射，由这个已知的交织表对输入信息序列进行映射。</a:t>
            </a:r>
          </a:p>
        </p:txBody>
      </p:sp>
      <p:pic>
        <p:nvPicPr>
          <p:cNvPr id="15" name="图片 14"/>
          <p:cNvPicPr>
            <a:picLocks noChangeAspect="1"/>
          </p:cNvPicPr>
          <p:nvPr/>
        </p:nvPicPr>
        <p:blipFill>
          <a:blip r:embed="rId3"/>
          <a:stretch>
            <a:fillRect/>
          </a:stretch>
        </p:blipFill>
        <p:spPr>
          <a:xfrm>
            <a:off x="4545312" y="3649333"/>
            <a:ext cx="3025738" cy="2124454"/>
          </a:xfrm>
          <a:prstGeom prst="rect">
            <a:avLst/>
          </a:prstGeom>
        </p:spPr>
      </p:pic>
    </p:spTree>
    <p:custDataLst>
      <p:tags r:id="rId1"/>
    </p:custData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删余处理</a:t>
            </a:r>
          </a:p>
        </p:txBody>
      </p:sp>
      <p:sp>
        <p:nvSpPr>
          <p:cNvPr id="3" name="内容占位符 2"/>
          <p:cNvSpPr>
            <a:spLocks noGrp="1"/>
          </p:cNvSpPr>
          <p:nvPr>
            <p:ph idx="1"/>
          </p:nvPr>
        </p:nvSpPr>
        <p:spPr>
          <a:xfrm>
            <a:off x="608330" y="1490345"/>
            <a:ext cx="10899140" cy="4977765"/>
          </a:xfrm>
        </p:spPr>
        <p:txBody>
          <a:bodyPr>
            <a:noAutofit/>
          </a:bodyPr>
          <a:lstStyle/>
          <a:p>
            <a:r>
              <a:rPr sz="2400">
                <a:sym typeface="+mn-ea"/>
              </a:rPr>
              <a:t>一般的，Turbo码的码率只有1/3，所以频带利用率不高，为了解决这一问题，在编码器中加入了删余处理。</a:t>
            </a:r>
          </a:p>
          <a:p>
            <a:r>
              <a:rPr sz="2400">
                <a:sym typeface="+mn-ea"/>
              </a:rPr>
              <a:t>即在编码完成后，将分量码输出的两路校验信息输入删余器，按照一定的规则删除一部分校验信息，减小信息的冗余度，从而提高编码效率。</a:t>
            </a:r>
          </a:p>
          <a:p>
            <a:r>
              <a:rPr sz="2400">
                <a:sym typeface="+mn-ea"/>
              </a:rPr>
              <a:t>一般的删余确定冗余的规则是一位信息码至多需要一个校验位来验证错误，因此，对1/3码率的编码来说可以交替删余。</a:t>
            </a:r>
          </a:p>
          <a:p>
            <a:r>
              <a:rPr sz="2400">
                <a:sym typeface="+mn-ea"/>
              </a:rPr>
              <a:t>但Turbo码在经历交织后其第二个校验码已经不再与源码一一对应，此时交替删除还能起效的原因是因为turbo码的卷积特性使其每一位校验码对应着多位源码，因而在删余后其校验范围仍能包括整个源码。</a:t>
            </a:r>
          </a:p>
        </p:txBody>
      </p:sp>
    </p:spTree>
    <p:custDataLst>
      <p:tags r:id="rId1"/>
    </p:custData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Turbo码编码器的结构</a:t>
            </a:r>
          </a:p>
        </p:txBody>
      </p:sp>
      <p:sp>
        <p:nvSpPr>
          <p:cNvPr id="3" name="内容占位符 2"/>
          <p:cNvSpPr>
            <a:spLocks noGrp="1"/>
          </p:cNvSpPr>
          <p:nvPr>
            <p:ph idx="1"/>
          </p:nvPr>
        </p:nvSpPr>
        <p:spPr>
          <a:xfrm>
            <a:off x="608330" y="1490345"/>
            <a:ext cx="10909300" cy="1112520"/>
          </a:xfrm>
        </p:spPr>
        <p:txBody>
          <a:bodyPr>
            <a:normAutofit/>
          </a:bodyPr>
          <a:lstStyle/>
          <a:p>
            <a:r>
              <a:rPr sz="2400">
                <a:sym typeface="+mn-ea"/>
              </a:rPr>
              <a:t>三种</a:t>
            </a:r>
            <a:r>
              <a:rPr lang="zh-CN" sz="2400">
                <a:sym typeface="+mn-ea"/>
              </a:rPr>
              <a:t>：</a:t>
            </a:r>
            <a:r>
              <a:rPr sz="2400"/>
              <a:t>并行级联卷积码(PCCC)、串行级联卷积码(SCCC)和混合级联卷积码(HCCC)</a:t>
            </a:r>
          </a:p>
        </p:txBody>
      </p:sp>
      <p:graphicFrame>
        <p:nvGraphicFramePr>
          <p:cNvPr id="33" name="对象 32"/>
          <p:cNvGraphicFramePr/>
          <p:nvPr/>
        </p:nvGraphicFramePr>
        <p:xfrm>
          <a:off x="1065530" y="2835275"/>
          <a:ext cx="4442460" cy="1918970"/>
        </p:xfrm>
        <a:graphic>
          <a:graphicData uri="http://schemas.openxmlformats.org/presentationml/2006/ole">
            <mc:AlternateContent xmlns:mc="http://schemas.openxmlformats.org/markup-compatibility/2006">
              <mc:Choice xmlns:v="urn:schemas-microsoft-com:vml" Requires="v">
                <p:oleObj r:id="rId3" imgW="4438650" imgH="1917700" progId="Paint.Picture">
                  <p:embed/>
                </p:oleObj>
              </mc:Choice>
              <mc:Fallback>
                <p:oleObj r:id="rId3" imgW="4438650" imgH="1917700" progId="Paint.Picture">
                  <p:embed/>
                  <p:pic>
                    <p:nvPicPr>
                      <p:cNvPr id="33" name="对象 32"/>
                      <p:cNvPicPr/>
                      <p:nvPr/>
                    </p:nvPicPr>
                    <p:blipFill>
                      <a:blip r:embed="rId4"/>
                      <a:stretch>
                        <a:fillRect/>
                      </a:stretch>
                    </p:blipFill>
                    <p:spPr>
                      <a:xfrm>
                        <a:off x="1065530" y="2835275"/>
                        <a:ext cx="4442460" cy="1918970"/>
                      </a:xfrm>
                      <a:prstGeom prst="rect">
                        <a:avLst/>
                      </a:prstGeom>
                    </p:spPr>
                  </p:pic>
                </p:oleObj>
              </mc:Fallback>
            </mc:AlternateContent>
          </a:graphicData>
        </a:graphic>
      </p:graphicFrame>
      <p:graphicFrame>
        <p:nvGraphicFramePr>
          <p:cNvPr id="35" name="对象 34"/>
          <p:cNvGraphicFramePr/>
          <p:nvPr/>
        </p:nvGraphicFramePr>
        <p:xfrm>
          <a:off x="773430" y="5372735"/>
          <a:ext cx="5026660" cy="553085"/>
        </p:xfrm>
        <a:graphic>
          <a:graphicData uri="http://schemas.openxmlformats.org/presentationml/2006/ole">
            <mc:AlternateContent xmlns:mc="http://schemas.openxmlformats.org/markup-compatibility/2006">
              <mc:Choice xmlns:v="urn:schemas-microsoft-com:vml" Requires="v">
                <p:oleObj r:id="rId5" imgW="5022850" imgH="552450" progId="Paint.Picture">
                  <p:embed/>
                </p:oleObj>
              </mc:Choice>
              <mc:Fallback>
                <p:oleObj r:id="rId5" imgW="5022850" imgH="552450" progId="Paint.Picture">
                  <p:embed/>
                  <p:pic>
                    <p:nvPicPr>
                      <p:cNvPr id="35" name="对象 34"/>
                      <p:cNvPicPr/>
                      <p:nvPr/>
                    </p:nvPicPr>
                    <p:blipFill>
                      <a:blip r:embed="rId6"/>
                      <a:stretch>
                        <a:fillRect/>
                      </a:stretch>
                    </p:blipFill>
                    <p:spPr>
                      <a:xfrm>
                        <a:off x="773430" y="5372735"/>
                        <a:ext cx="5026660" cy="553085"/>
                      </a:xfrm>
                      <a:prstGeom prst="rect">
                        <a:avLst/>
                      </a:prstGeom>
                    </p:spPr>
                  </p:pic>
                </p:oleObj>
              </mc:Fallback>
            </mc:AlternateContent>
          </a:graphicData>
        </a:graphic>
      </p:graphicFrame>
      <p:graphicFrame>
        <p:nvGraphicFramePr>
          <p:cNvPr id="37" name="对象 36"/>
          <p:cNvGraphicFramePr/>
          <p:nvPr/>
        </p:nvGraphicFramePr>
        <p:xfrm>
          <a:off x="6259195" y="2642235"/>
          <a:ext cx="5020310" cy="1162685"/>
        </p:xfrm>
        <a:graphic>
          <a:graphicData uri="http://schemas.openxmlformats.org/presentationml/2006/ole">
            <mc:AlternateContent xmlns:mc="http://schemas.openxmlformats.org/markup-compatibility/2006">
              <mc:Choice xmlns:v="urn:schemas-microsoft-com:vml" Requires="v">
                <p:oleObj r:id="rId7" imgW="5016500" imgH="1162050" progId="Paint.Picture">
                  <p:embed/>
                </p:oleObj>
              </mc:Choice>
              <mc:Fallback>
                <p:oleObj r:id="rId7" imgW="5016500" imgH="1162050" progId="Paint.Picture">
                  <p:embed/>
                  <p:pic>
                    <p:nvPicPr>
                      <p:cNvPr id="37" name="对象 36"/>
                      <p:cNvPicPr/>
                      <p:nvPr/>
                    </p:nvPicPr>
                    <p:blipFill>
                      <a:blip r:embed="rId8"/>
                      <a:stretch>
                        <a:fillRect/>
                      </a:stretch>
                    </p:blipFill>
                    <p:spPr>
                      <a:xfrm>
                        <a:off x="6259195" y="2642235"/>
                        <a:ext cx="5020310" cy="1162685"/>
                      </a:xfrm>
                      <a:prstGeom prst="rect">
                        <a:avLst/>
                      </a:prstGeom>
                    </p:spPr>
                  </p:pic>
                </p:oleObj>
              </mc:Fallback>
            </mc:AlternateContent>
          </a:graphicData>
        </a:graphic>
      </p:graphicFrame>
      <p:graphicFrame>
        <p:nvGraphicFramePr>
          <p:cNvPr id="39" name="对象 38"/>
          <p:cNvGraphicFramePr/>
          <p:nvPr/>
        </p:nvGraphicFramePr>
        <p:xfrm>
          <a:off x="6309995" y="4455795"/>
          <a:ext cx="4817110" cy="1899920"/>
        </p:xfrm>
        <a:graphic>
          <a:graphicData uri="http://schemas.openxmlformats.org/presentationml/2006/ole">
            <mc:AlternateContent xmlns:mc="http://schemas.openxmlformats.org/markup-compatibility/2006">
              <mc:Choice xmlns:v="urn:schemas-microsoft-com:vml" Requires="v">
                <p:oleObj r:id="rId9" imgW="4813300" imgH="1898650" progId="Paint.Picture">
                  <p:embed/>
                </p:oleObj>
              </mc:Choice>
              <mc:Fallback>
                <p:oleObj r:id="rId9" imgW="4813300" imgH="1898650" progId="Paint.Picture">
                  <p:embed/>
                  <p:pic>
                    <p:nvPicPr>
                      <p:cNvPr id="39" name="对象 38"/>
                      <p:cNvPicPr/>
                      <p:nvPr/>
                    </p:nvPicPr>
                    <p:blipFill>
                      <a:blip r:embed="rId10"/>
                      <a:stretch>
                        <a:fillRect/>
                      </a:stretch>
                    </p:blipFill>
                    <p:spPr>
                      <a:xfrm>
                        <a:off x="6309995" y="4455795"/>
                        <a:ext cx="4817110" cy="1899920"/>
                      </a:xfrm>
                      <a:prstGeom prst="rect">
                        <a:avLst/>
                      </a:prstGeom>
                    </p:spPr>
                  </p:pic>
                </p:oleObj>
              </mc:Fallback>
            </mc:AlternateContent>
          </a:graphicData>
        </a:graphic>
      </p:graphicFrame>
      <p:sp>
        <p:nvSpPr>
          <p:cNvPr id="41" name="文本框 40"/>
          <p:cNvSpPr txBox="1"/>
          <p:nvPr/>
        </p:nvSpPr>
        <p:spPr>
          <a:xfrm>
            <a:off x="2440305" y="4724400"/>
            <a:ext cx="90614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Arial"/>
                <a:ea typeface="微软雅黑"/>
                <a:cs typeface="+mn-cs"/>
              </a:rPr>
              <a:t>PCCC</a:t>
            </a:r>
          </a:p>
        </p:txBody>
      </p:sp>
      <p:sp>
        <p:nvSpPr>
          <p:cNvPr id="42" name="文本框 41"/>
          <p:cNvSpPr txBox="1"/>
          <p:nvPr/>
        </p:nvSpPr>
        <p:spPr>
          <a:xfrm>
            <a:off x="2648585" y="5989320"/>
            <a:ext cx="90614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Arial"/>
                <a:ea typeface="微软雅黑"/>
                <a:cs typeface="+mn-cs"/>
              </a:rPr>
              <a:t>SCCC</a:t>
            </a:r>
          </a:p>
        </p:txBody>
      </p:sp>
      <p:sp>
        <p:nvSpPr>
          <p:cNvPr id="43" name="文本框 42"/>
          <p:cNvSpPr txBox="1"/>
          <p:nvPr/>
        </p:nvSpPr>
        <p:spPr>
          <a:xfrm>
            <a:off x="8348345" y="3865880"/>
            <a:ext cx="110045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Arial"/>
                <a:ea typeface="微软雅黑"/>
                <a:cs typeface="+mn-cs"/>
              </a:rPr>
              <a:t>HCCC-1</a:t>
            </a:r>
          </a:p>
        </p:txBody>
      </p:sp>
      <p:sp>
        <p:nvSpPr>
          <p:cNvPr id="44" name="文本框 43"/>
          <p:cNvSpPr txBox="1"/>
          <p:nvPr/>
        </p:nvSpPr>
        <p:spPr>
          <a:xfrm>
            <a:off x="7906385" y="6116320"/>
            <a:ext cx="110045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Arial"/>
                <a:ea typeface="微软雅黑"/>
                <a:cs typeface="+mn-cs"/>
              </a:rPr>
              <a:t>HCCC-2</a:t>
            </a:r>
          </a:p>
        </p:txBody>
      </p:sp>
    </p:spTree>
    <p:custDataLst>
      <p:tags r:id="rId1"/>
    </p:custData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并行级联卷积码(PCCC)</a:t>
            </a:r>
          </a:p>
        </p:txBody>
      </p:sp>
      <p:sp>
        <p:nvSpPr>
          <p:cNvPr id="3" name="内容占位符 2"/>
          <p:cNvSpPr>
            <a:spLocks noGrp="1"/>
          </p:cNvSpPr>
          <p:nvPr>
            <p:ph idx="1"/>
          </p:nvPr>
        </p:nvSpPr>
        <p:spPr>
          <a:xfrm>
            <a:off x="608330" y="1490345"/>
            <a:ext cx="10909300" cy="2398395"/>
          </a:xfrm>
        </p:spPr>
        <p:txBody>
          <a:bodyPr>
            <a:normAutofit/>
          </a:bodyPr>
          <a:lstStyle/>
          <a:p>
            <a:r>
              <a:rPr sz="2400"/>
              <a:t>随机交织器</a:t>
            </a:r>
            <a:r>
              <a:rPr lang="zh-CN" sz="2400"/>
              <a:t>：</a:t>
            </a:r>
            <a:r>
              <a:rPr sz="2400"/>
              <a:t>将信息序列</a:t>
            </a:r>
            <a:r>
              <a:rPr sz="2400">
                <a:latin typeface="Times New Roman" panose="02020603050405020304" pitchFamily="18" charset="0"/>
                <a:cs typeface="Times New Roman" panose="02020603050405020304" pitchFamily="18" charset="0"/>
                <a:sym typeface="+mn-ea"/>
              </a:rPr>
              <a:t>U</a:t>
            </a:r>
            <a:r>
              <a:rPr sz="2400"/>
              <a:t>进行比特位置重排列得到</a:t>
            </a:r>
            <a:r>
              <a:rPr sz="2400">
                <a:latin typeface="Times New Roman" panose="02020603050405020304" pitchFamily="18" charset="0"/>
                <a:cs typeface="Times New Roman" panose="02020603050405020304" pitchFamily="18" charset="0"/>
              </a:rPr>
              <a:t>U</a:t>
            </a:r>
            <a:r>
              <a:rPr sz="2400" baseline="-25000">
                <a:latin typeface="Times New Roman" panose="02020603050405020304" pitchFamily="18" charset="0"/>
                <a:cs typeface="Times New Roman" panose="02020603050405020304" pitchFamily="18" charset="0"/>
              </a:rPr>
              <a:t>1</a:t>
            </a:r>
            <a:r>
              <a:rPr sz="2400"/>
              <a:t>（内容不变）</a:t>
            </a:r>
          </a:p>
          <a:p>
            <a:r>
              <a:rPr sz="2400"/>
              <a:t>分量编码器：生成校验序列 </a:t>
            </a:r>
            <a:r>
              <a:rPr sz="2400" i="1">
                <a:latin typeface="Times New Roman" panose="02020603050405020304" pitchFamily="18" charset="0"/>
                <a:cs typeface="Times New Roman" panose="02020603050405020304" pitchFamily="18" charset="0"/>
              </a:rPr>
              <a:t>X</a:t>
            </a:r>
            <a:r>
              <a:rPr sz="2400" i="1" baseline="-25000">
                <a:latin typeface="Times New Roman" panose="02020603050405020304" pitchFamily="18" charset="0"/>
                <a:cs typeface="Times New Roman" panose="02020603050405020304" pitchFamily="18" charset="0"/>
              </a:rPr>
              <a:t>p</a:t>
            </a:r>
            <a:r>
              <a:rPr sz="2400" baseline="-25000">
                <a:latin typeface="Times New Roman" panose="02020603050405020304" pitchFamily="18" charset="0"/>
                <a:cs typeface="Times New Roman" panose="02020603050405020304" pitchFamily="18" charset="0"/>
              </a:rPr>
              <a:t>1</a:t>
            </a:r>
            <a:r>
              <a:rPr sz="2400"/>
              <a:t> 和 </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p</a:t>
            </a:r>
            <a:r>
              <a:rPr lang="en-US" sz="2400" baseline="-25000">
                <a:latin typeface="Times New Roman" panose="02020603050405020304" pitchFamily="18" charset="0"/>
                <a:cs typeface="Times New Roman" panose="02020603050405020304" pitchFamily="18" charset="0"/>
                <a:sym typeface="+mn-ea"/>
              </a:rPr>
              <a:t>2</a:t>
            </a:r>
            <a:r>
              <a:rPr sz="2400"/>
              <a:t>（一般两个编码器结构相同）</a:t>
            </a:r>
          </a:p>
          <a:p>
            <a:r>
              <a:rPr sz="2400"/>
              <a:t>删余矩阵：</a:t>
            </a:r>
            <a:r>
              <a:rPr lang="zh-CN" sz="2400"/>
              <a:t>为了</a:t>
            </a:r>
            <a:r>
              <a:rPr sz="2400"/>
              <a:t>提高码率，周期地删除一些校验位，形成校验位序列</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p</a:t>
            </a:r>
            <a:endParaRPr sz="2400"/>
          </a:p>
          <a:p>
            <a:r>
              <a:rPr sz="2400">
                <a:sym typeface="+mn-ea"/>
              </a:rPr>
              <a:t>复接：</a:t>
            </a:r>
            <a:r>
              <a:rPr sz="2400"/>
              <a:t>未编码序列</a:t>
            </a:r>
            <a:r>
              <a:rPr sz="2400" i="1">
                <a:latin typeface="Times New Roman" panose="02020603050405020304" pitchFamily="18" charset="0"/>
                <a:cs typeface="Times New Roman" panose="02020603050405020304" pitchFamily="18" charset="0"/>
                <a:sym typeface="+mn-ea"/>
              </a:rPr>
              <a:t>X</a:t>
            </a:r>
            <a:r>
              <a:rPr lang="en-US" sz="2400" i="1" baseline="-25000">
                <a:latin typeface="Times New Roman" panose="02020603050405020304" pitchFamily="18" charset="0"/>
                <a:cs typeface="Times New Roman" panose="02020603050405020304" pitchFamily="18" charset="0"/>
                <a:sym typeface="+mn-ea"/>
              </a:rPr>
              <a:t>s</a:t>
            </a:r>
            <a:r>
              <a:rPr sz="2400"/>
              <a:t>与</a:t>
            </a:r>
            <a:r>
              <a:rPr sz="2400" i="1">
                <a:latin typeface="Times New Roman" panose="02020603050405020304" pitchFamily="18" charset="0"/>
                <a:cs typeface="Times New Roman" panose="02020603050405020304" pitchFamily="18" charset="0"/>
                <a:sym typeface="+mn-ea"/>
              </a:rPr>
              <a:t>X</a:t>
            </a:r>
            <a:r>
              <a:rPr sz="2400" i="1" baseline="-25000">
                <a:latin typeface="Times New Roman" panose="02020603050405020304" pitchFamily="18" charset="0"/>
                <a:cs typeface="Times New Roman" panose="02020603050405020304" pitchFamily="18" charset="0"/>
                <a:sym typeface="+mn-ea"/>
              </a:rPr>
              <a:t>p</a:t>
            </a:r>
            <a:r>
              <a:rPr sz="2400"/>
              <a:t>经过复接后，生成Turbo码序列</a:t>
            </a:r>
            <a:r>
              <a:rPr sz="2400" i="1">
                <a:latin typeface="Times New Roman" panose="02020603050405020304" pitchFamily="18" charset="0"/>
                <a:cs typeface="Times New Roman" panose="02020603050405020304" pitchFamily="18" charset="0"/>
              </a:rPr>
              <a:t>X</a:t>
            </a:r>
          </a:p>
        </p:txBody>
      </p:sp>
      <p:grpSp>
        <p:nvGrpSpPr>
          <p:cNvPr id="32" name="组合 31"/>
          <p:cNvGrpSpPr/>
          <p:nvPr/>
        </p:nvGrpSpPr>
        <p:grpSpPr>
          <a:xfrm>
            <a:off x="2242185" y="4048786"/>
            <a:ext cx="7677785" cy="2684119"/>
            <a:chOff x="1051" y="5380"/>
            <a:chExt cx="12091" cy="4227"/>
          </a:xfrm>
        </p:grpSpPr>
        <p:cxnSp>
          <p:nvCxnSpPr>
            <p:cNvPr id="5" name="直接箭头连接符 4"/>
            <p:cNvCxnSpPr/>
            <p:nvPr/>
          </p:nvCxnSpPr>
          <p:spPr>
            <a:xfrm>
              <a:off x="1530" y="5980"/>
              <a:ext cx="90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endCxn id="8" idx="0"/>
            </p:cNvCxnSpPr>
            <p:nvPr/>
          </p:nvCxnSpPr>
          <p:spPr>
            <a:xfrm flipH="1">
              <a:off x="2264" y="5980"/>
              <a:ext cx="17" cy="13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2322" y="6792"/>
              <a:ext cx="16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矩形 7"/>
                <p:cNvSpPr/>
                <p:nvPr/>
              </p:nvSpPr>
              <p:spPr>
                <a:xfrm>
                  <a:off x="1051" y="7292"/>
                  <a:ext cx="2426" cy="9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随机交织器</m:t>
                        </m:r>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8" name="矩形 7"/>
                <p:cNvSpPr>
                  <a:spLocks noRot="1" noChangeAspect="1" noMove="1" noResize="1" noEditPoints="1" noAdjustHandles="1" noChangeArrowheads="1" noChangeShapeType="1" noTextEdit="1"/>
                </p:cNvSpPr>
                <p:nvPr/>
              </p:nvSpPr>
              <p:spPr>
                <a:xfrm>
                  <a:off x="1051" y="7292"/>
                  <a:ext cx="2426" cy="956"/>
                </a:xfrm>
                <a:prstGeom prst="rect">
                  <a:avLst/>
                </a:prstGeom>
                <a:blipFill rotWithShape="1">
                  <a:blip r:embed="rId3"/>
                </a:blipFill>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p:cxnSp>
          <p:nvCxnSpPr>
            <p:cNvPr id="9" name="肘形连接符 8"/>
            <p:cNvCxnSpPr>
              <a:stCxn id="8" idx="2"/>
            </p:cNvCxnSpPr>
            <p:nvPr/>
          </p:nvCxnSpPr>
          <p:spPr>
            <a:xfrm rot="5400000" flipV="1">
              <a:off x="2737" y="7775"/>
              <a:ext cx="693" cy="1639"/>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4016" y="6436"/>
              <a:ext cx="2762" cy="9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Arial"/>
                  <a:ea typeface="微软雅黑"/>
                  <a:cs typeface="+mn-cs"/>
                </a:rPr>
                <a:t>分量编码器</a:t>
              </a:r>
              <a:r>
                <a:rPr kumimoji="0" lang="en-US" altLang="zh-CN" sz="1800" b="0" i="0" u="none" strike="noStrike" kern="1200" cap="none" spc="0" normalizeH="0" baseline="0" noProof="0">
                  <a:ln>
                    <a:noFill/>
                  </a:ln>
                  <a:solidFill>
                    <a:srgbClr val="000000"/>
                  </a:solidFill>
                  <a:effectLst/>
                  <a:uLnTx/>
                  <a:uFillTx/>
                  <a:latin typeface="Arial"/>
                  <a:ea typeface="微软雅黑"/>
                  <a:cs typeface="+mn-cs"/>
                </a:rPr>
                <a:t>1</a:t>
              </a:r>
            </a:p>
          </p:txBody>
        </p:sp>
        <p:sp>
          <p:nvSpPr>
            <p:cNvPr id="11" name="矩形 10"/>
            <p:cNvSpPr/>
            <p:nvPr/>
          </p:nvSpPr>
          <p:spPr>
            <a:xfrm>
              <a:off x="3971" y="8413"/>
              <a:ext cx="2806" cy="9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Arial"/>
                  <a:ea typeface="微软雅黑"/>
                  <a:cs typeface="+mn-cs"/>
                </a:rPr>
                <a:t>分量编码器</a:t>
              </a:r>
              <a:r>
                <a:rPr kumimoji="0" lang="en-US" altLang="zh-CN" sz="1800" b="0" i="0" u="none" strike="noStrike" kern="1200" cap="none" spc="0" normalizeH="0" baseline="0" noProof="0">
                  <a:ln>
                    <a:noFill/>
                  </a:ln>
                  <a:solidFill>
                    <a:srgbClr val="000000"/>
                  </a:solidFill>
                  <a:effectLst/>
                  <a:uLnTx/>
                  <a:uFillTx/>
                  <a:latin typeface="Arial"/>
                  <a:ea typeface="微软雅黑"/>
                  <a:cs typeface="+mn-cs"/>
                </a:rPr>
                <a:t>2</a:t>
              </a:r>
            </a:p>
          </p:txBody>
        </p:sp>
        <p:cxnSp>
          <p:nvCxnSpPr>
            <p:cNvPr id="12" name="直接箭头连接符 11"/>
            <p:cNvCxnSpPr>
              <a:stCxn id="11" idx="3"/>
            </p:cNvCxnSpPr>
            <p:nvPr/>
          </p:nvCxnSpPr>
          <p:spPr>
            <a:xfrm flipV="1">
              <a:off x="6777" y="8883"/>
              <a:ext cx="1143"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10" idx="3"/>
            </p:cNvCxnSpPr>
            <p:nvPr/>
          </p:nvCxnSpPr>
          <p:spPr>
            <a:xfrm>
              <a:off x="6778" y="6929"/>
              <a:ext cx="1142" cy="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8046" y="6352"/>
              <a:ext cx="941" cy="3255"/>
              <a:chOff x="8760" y="6352"/>
              <a:chExt cx="941" cy="3255"/>
            </a:xfrm>
          </p:grpSpPr>
          <p:sp>
            <p:nvSpPr>
              <p:cNvPr id="17" name="矩形 16"/>
              <p:cNvSpPr/>
              <p:nvPr/>
            </p:nvSpPr>
            <p:spPr>
              <a:xfrm rot="5400000">
                <a:off x="7603" y="7509"/>
                <a:ext cx="3255" cy="94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 name="文本框 17"/>
              <p:cNvSpPr txBox="1"/>
              <p:nvPr/>
            </p:nvSpPr>
            <p:spPr>
              <a:xfrm>
                <a:off x="8859" y="6709"/>
                <a:ext cx="724" cy="2595"/>
              </a:xfrm>
              <a:prstGeom prst="rect">
                <a:avLst/>
              </a:prstGeom>
              <a:noFill/>
            </p:spPr>
            <p:txBody>
              <a:bodyPr vert="eaVert"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Arial"/>
                    <a:ea typeface="微软雅黑"/>
                    <a:cs typeface="+mn-cs"/>
                    <a:sym typeface="+mn-ea"/>
                  </a:rPr>
                  <a:t>删余矩阵</a:t>
                </a:r>
              </a:p>
            </p:txBody>
          </p:sp>
        </p:grpSp>
        <p:cxnSp>
          <p:nvCxnSpPr>
            <p:cNvPr id="20" name="直接箭头连接符 19"/>
            <p:cNvCxnSpPr/>
            <p:nvPr/>
          </p:nvCxnSpPr>
          <p:spPr>
            <a:xfrm flipV="1">
              <a:off x="8943" y="8040"/>
              <a:ext cx="1619"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0587" y="5380"/>
              <a:ext cx="880" cy="3319"/>
              <a:chOff x="8363" y="6453"/>
              <a:chExt cx="1049" cy="3351"/>
            </a:xfrm>
          </p:grpSpPr>
          <p:sp>
            <p:nvSpPr>
              <p:cNvPr id="22" name="矩形 21"/>
              <p:cNvSpPr/>
              <p:nvPr/>
            </p:nvSpPr>
            <p:spPr>
              <a:xfrm rot="5400000">
                <a:off x="7212" y="7604"/>
                <a:ext cx="3351" cy="10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3" name="文本框 22"/>
              <p:cNvSpPr txBox="1"/>
              <p:nvPr/>
            </p:nvSpPr>
            <p:spPr>
              <a:xfrm>
                <a:off x="8452" y="7521"/>
                <a:ext cx="863" cy="1275"/>
              </a:xfrm>
              <a:prstGeom prst="rect">
                <a:avLst/>
              </a:prstGeom>
              <a:noFill/>
            </p:spPr>
            <p:txBody>
              <a:bodyPr vert="eaVert" wrap="square"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Arial"/>
                    <a:ea typeface="微软雅黑"/>
                    <a:cs typeface="+mn-cs"/>
                    <a:sym typeface="+mn-ea"/>
                  </a:rPr>
                  <a:t>复接</a:t>
                </a:r>
              </a:p>
            </p:txBody>
          </p:sp>
        </p:grpSp>
        <p:cxnSp>
          <p:nvCxnSpPr>
            <p:cNvPr id="24" name="直接箭头连接符 23"/>
            <p:cNvCxnSpPr/>
            <p:nvPr/>
          </p:nvCxnSpPr>
          <p:spPr>
            <a:xfrm flipV="1">
              <a:off x="11523" y="6927"/>
              <a:ext cx="1619"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1607" y="5443"/>
              <a:ext cx="548" cy="580"/>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U</a:t>
              </a:r>
            </a:p>
          </p:txBody>
        </p:sp>
        <p:sp>
          <p:nvSpPr>
            <p:cNvPr id="26" name="文本框 25"/>
            <p:cNvSpPr txBox="1"/>
            <p:nvPr/>
          </p:nvSpPr>
          <p:spPr>
            <a:xfrm>
              <a:off x="2878" y="8975"/>
              <a:ext cx="728" cy="58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U</a:t>
              </a:r>
              <a:r>
                <a:rPr kumimoji="0" lang="en-US" altLang="zh-CN" sz="1800" b="0" i="0" u="none" strike="noStrike" kern="120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1</a:t>
              </a:r>
            </a:p>
          </p:txBody>
        </p:sp>
        <p:sp>
          <p:nvSpPr>
            <p:cNvPr id="27" name="文本框 26"/>
            <p:cNvSpPr txBox="1"/>
            <p:nvPr/>
          </p:nvSpPr>
          <p:spPr>
            <a:xfrm>
              <a:off x="7005" y="8223"/>
              <a:ext cx="742" cy="580"/>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X</a:t>
              </a:r>
              <a:r>
                <a:rPr kumimoji="0" lang="en-US" altLang="zh-CN" sz="1800" b="0" i="1" u="none" strike="noStrike" kern="120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p</a:t>
              </a:r>
              <a:r>
                <a:rPr kumimoji="0" lang="en-US" altLang="zh-CN" sz="1800" b="0" i="0" u="none" strike="noStrike" kern="120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2</a:t>
              </a:r>
            </a:p>
          </p:txBody>
        </p:sp>
        <p:sp>
          <p:nvSpPr>
            <p:cNvPr id="28" name="文本框 27"/>
            <p:cNvSpPr txBox="1"/>
            <p:nvPr/>
          </p:nvSpPr>
          <p:spPr>
            <a:xfrm>
              <a:off x="6967" y="6281"/>
              <a:ext cx="782" cy="580"/>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X</a:t>
              </a:r>
              <a:r>
                <a:rPr kumimoji="0" lang="en-US" altLang="zh-CN" sz="1800" b="0" i="1" u="none" strike="noStrike" kern="120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p</a:t>
              </a:r>
              <a:r>
                <a:rPr kumimoji="0" lang="en-US" altLang="zh-CN" sz="1800" b="0" i="0" u="none" strike="noStrike" kern="120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1</a:t>
              </a:r>
            </a:p>
          </p:txBody>
        </p:sp>
        <p:sp>
          <p:nvSpPr>
            <p:cNvPr id="29" name="文本框 28"/>
            <p:cNvSpPr txBox="1"/>
            <p:nvPr/>
          </p:nvSpPr>
          <p:spPr>
            <a:xfrm>
              <a:off x="9666" y="5410"/>
              <a:ext cx="599" cy="580"/>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X</a:t>
              </a:r>
              <a:r>
                <a:rPr kumimoji="0" lang="en-US" altLang="zh-CN" sz="1800" b="0" i="1" u="none" strike="noStrike" kern="120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s</a:t>
              </a:r>
            </a:p>
          </p:txBody>
        </p:sp>
        <p:sp>
          <p:nvSpPr>
            <p:cNvPr id="30" name="文本框 29"/>
            <p:cNvSpPr txBox="1"/>
            <p:nvPr/>
          </p:nvSpPr>
          <p:spPr>
            <a:xfrm>
              <a:off x="9509" y="7395"/>
              <a:ext cx="625" cy="580"/>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X</a:t>
              </a:r>
              <a:r>
                <a:rPr kumimoji="0" lang="en-US" altLang="zh-CN" sz="1800" b="0" i="1" u="none" strike="noStrike" kern="120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p</a:t>
              </a:r>
            </a:p>
          </p:txBody>
        </p:sp>
        <p:sp>
          <p:nvSpPr>
            <p:cNvPr id="31" name="文本框 30"/>
            <p:cNvSpPr txBox="1"/>
            <p:nvPr/>
          </p:nvSpPr>
          <p:spPr>
            <a:xfrm>
              <a:off x="11889" y="6205"/>
              <a:ext cx="548" cy="580"/>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X</a:t>
              </a:r>
            </a:p>
          </p:txBody>
        </p:sp>
      </p:grpSp>
    </p:spTree>
    <p:custDataLst>
      <p:tags r:id="rId1"/>
    </p:custData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并行级联卷积码(PCCC)</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08330" y="1490345"/>
                <a:ext cx="11285855" cy="2710815"/>
              </a:xfrm>
            </p:spPr>
            <p:txBody>
              <a:bodyPr>
                <a:normAutofit/>
              </a:bodyPr>
              <a:lstStyle/>
              <a:p>
                <a:pPr>
                  <a:lnSpc>
                    <a:spcPct val="110000"/>
                  </a:lnSpc>
                </a:pPr>
                <a:r>
                  <a:rPr sz="2000"/>
                  <a:t>第一个输出序列 = 信息序列，即</a:t>
                </a:r>
                <a14:m>
                  <m:oMath xmlns:m="http://schemas.openxmlformats.org/officeDocument/2006/math">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𝑢</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p>
                      <m:s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p>
                    </m:s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oMath>
                </a14:m>
                <a:endParaRPr kumimoji="0" lang="en-US" altLang="zh-CN" sz="2000">
                  <a:solidFill>
                    <a:schemeClr val="tx1"/>
                  </a:solidFill>
                  <a:latin typeface="Cambria Math" panose="02040503050406030204" pitchFamily="18" charset="0"/>
                  <a:ea typeface="MS Mincho" charset="0"/>
                  <a:cs typeface="Cambria Math" panose="02040503050406030204" pitchFamily="18" charset="0"/>
                </a:endParaRPr>
              </a:p>
              <a:p>
                <a:pPr>
                  <a:lnSpc>
                    <a:spcPct val="110000"/>
                  </a:lnSpc>
                </a:pPr>
                <a:r>
                  <a:rPr sz="2000"/>
                  <a:t>第一个编码器输出的校验序列为</a:t>
                </a:r>
                <a14:m>
                  <m:oMath xmlns:m="http://schemas.openxmlformats.org/officeDocument/2006/math">
                    <m:sSup>
                      <m:s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p>
                    </m:s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oMath>
                </a14:m>
                <a:endParaRPr kumimoji="0" lang="en-US" altLang="zh-CN" sz="2000">
                  <a:solidFill>
                    <a:schemeClr val="tx1"/>
                  </a:solidFill>
                  <a:latin typeface="Cambria Math" panose="02040503050406030204" pitchFamily="18" charset="0"/>
                  <a:ea typeface="MS Mincho" charset="0"/>
                  <a:cs typeface="Cambria Math" panose="02040503050406030204" pitchFamily="18" charset="0"/>
                </a:endParaRPr>
              </a:p>
              <a:p>
                <a:pPr>
                  <a:lnSpc>
                    <a:spcPct val="110000"/>
                  </a:lnSpc>
                </a:pPr>
                <a:r>
                  <a:rPr sz="2000"/>
                  <a:t>交织器对</a:t>
                </a:r>
                <a:r>
                  <a:rPr sz="2000" i="1">
                    <a:latin typeface="Times New Roman" panose="02020603050405020304" pitchFamily="18" charset="0"/>
                    <a:cs typeface="Times New Roman" panose="02020603050405020304" pitchFamily="18" charset="0"/>
                  </a:rPr>
                  <a:t>K</a:t>
                </a:r>
                <a:r>
                  <a:rPr sz="2000"/>
                  <a:t>个比特进行扰序处理，得到</a:t>
                </a:r>
                <a:r>
                  <a:rPr sz="2000" i="1">
                    <a:latin typeface="Times New Roman" panose="02020603050405020304" pitchFamily="18" charset="0"/>
                    <a:cs typeface="Times New Roman" panose="02020603050405020304" pitchFamily="18" charset="0"/>
                  </a:rPr>
                  <a:t>u</a:t>
                </a:r>
                <a:r>
                  <a:rPr sz="2000">
                    <a:latin typeface="Times New Roman" panose="02020603050405020304" pitchFamily="18" charset="0"/>
                    <a:cs typeface="Times New Roman" panose="02020603050405020304" pitchFamily="18" charset="0"/>
                  </a:rPr>
                  <a:t>′</a:t>
                </a:r>
                <a:r>
                  <a:rPr sz="2000"/>
                  <a:t>，第二个编码器输出的校验序列为</a:t>
                </a:r>
                <a14:m>
                  <m:oMath xmlns:m="http://schemas.openxmlformats.org/officeDocument/2006/math">
                    <m:sSup>
                      <m:s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sup>
                    </m:s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oMath>
                </a14:m>
                <a:endParaRPr kumimoji="0" lang="en-US" altLang="zh-CN" sz="2000">
                  <a:solidFill>
                    <a:schemeClr val="tx1"/>
                  </a:solidFill>
                  <a:latin typeface="Cambria Math" panose="02040503050406030204" pitchFamily="18" charset="0"/>
                  <a:ea typeface="MS Mincho" charset="0"/>
                  <a:cs typeface="Cambria Math" panose="02040503050406030204" pitchFamily="18" charset="0"/>
                </a:endParaRPr>
              </a:p>
              <a:p>
                <a:pPr>
                  <a:lnSpc>
                    <a:spcPct val="110000"/>
                  </a:lnSpc>
                </a:pPr>
                <a:r>
                  <a:rPr sz="2000"/>
                  <a:t>最终的发送序列(码字)为</a:t>
                </a:r>
                <a14:m>
                  <m:oMath xmlns:m="http://schemas.openxmlformats.org/officeDocument/2006/math">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p>
                    </m:sSubSup>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p>
                    </m:sSubSup>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p>
                    </m:sSubSup>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p>
                    </m:sSubSup>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(0)</m:t>
                        </m:r>
                      </m:sup>
                    </m:sSubSup>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p>
                    </m:sSubSup>
                    <m:sSubSup>
                      <m:sSubSupPr>
                        <m:ctrlPr>
                          <a:rPr kumimoji="0" lang="en-US" altLang="zh-CN" sz="20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𝑣</m:t>
                        </m:r>
                      </m:e>
                      <m:sub>
                        <m:r>
                          <a:rPr kumimoji="0" lang="en-US" altLang="zh-CN" sz="2000">
                            <a:solidFill>
                              <a:schemeClr val="tx1"/>
                            </a:solidFill>
                            <a:latin typeface="Cambria Math" panose="02040503050406030204" pitchFamily="18" charset="0"/>
                            <a:ea typeface="宋体" panose="02010600030101010101" pitchFamily="2" charset="-122"/>
                            <a:cs typeface="Cambria Math" panose="02040503050406030204" pitchFamily="18" charset="0"/>
                          </a:rPr>
                          <m:t>𝐾</m:t>
                        </m:r>
                        <m:r>
                          <a:rPr kumimoji="0" lang="en-US" altLang="zh-CN" sz="2000">
                            <a:solidFill>
                              <a:schemeClr val="tx1"/>
                            </a:solidFill>
                            <a:latin typeface="Cambria Math" panose="02040503050406030204" pitchFamily="18" charset="0"/>
                            <a:ea typeface="MS Mincho" charset="0"/>
                            <a:cs typeface="Cambria Math" panose="02040503050406030204" pitchFamily="18" charset="0"/>
                          </a:rPr>
                          <m:t>−1</m:t>
                        </m:r>
                      </m:sub>
                      <m: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(2)</m:t>
                        </m:r>
                      </m:sup>
                    </m:sSubSup>
                    <m:r>
                      <a:rPr kumimoji="0" lang="en-US" altLang="zh-CN" sz="2000">
                        <a:solidFill>
                          <a:schemeClr val="tx1"/>
                        </a:solidFill>
                        <a:latin typeface="Cambria Math" panose="02040503050406030204" pitchFamily="18" charset="0"/>
                        <a:ea typeface="MS Mincho" charset="0"/>
                        <a:cs typeface="Cambria Math" panose="02040503050406030204" pitchFamily="18" charset="0"/>
                      </a:rPr>
                      <m:t>)</m:t>
                    </m:r>
                  </m:oMath>
                </a14:m>
                <a:endParaRPr kumimoji="0" lang="en-US" altLang="zh-CN" sz="2000">
                  <a:solidFill>
                    <a:schemeClr val="tx1"/>
                  </a:solidFill>
                  <a:latin typeface="Cambria Math" panose="02040503050406030204" pitchFamily="18" charset="0"/>
                  <a:ea typeface="MS Mincho" charset="0"/>
                  <a:cs typeface="Cambria Math" panose="02040503050406030204" pitchFamily="18" charset="0"/>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608330" y="1490345"/>
                <a:ext cx="11285855" cy="2710815"/>
              </a:xfrm>
              <a:blipFill rotWithShape="1">
                <a:blip r:embed="rId3"/>
                <a:stretch>
                  <a:fillRect/>
                </a:stretch>
              </a:blipFill>
            </p:spPr>
            <p:txBody>
              <a:bodyPr/>
              <a:lstStyle/>
              <a:p>
                <a:r>
                  <a:rPr lang="zh-CN" altLang="en-US">
                    <a:noFill/>
                  </a:rPr>
                  <a:t> </a:t>
                </a:r>
              </a:p>
            </p:txBody>
          </p:sp>
        </mc:Fallback>
      </mc:AlternateContent>
      <p:grpSp>
        <p:nvGrpSpPr>
          <p:cNvPr id="4" name="组合 3"/>
          <p:cNvGrpSpPr/>
          <p:nvPr/>
        </p:nvGrpSpPr>
        <p:grpSpPr>
          <a:xfrm>
            <a:off x="1797685" y="4284980"/>
            <a:ext cx="8256905" cy="2225040"/>
            <a:chOff x="47" y="2232"/>
            <a:chExt cx="13003" cy="3504"/>
          </a:xfrm>
        </p:grpSpPr>
        <p:grpSp>
          <p:nvGrpSpPr>
            <p:cNvPr id="14" name="组合 13"/>
            <p:cNvGrpSpPr/>
            <p:nvPr/>
          </p:nvGrpSpPr>
          <p:grpSpPr>
            <a:xfrm>
              <a:off x="1320" y="2511"/>
              <a:ext cx="11730" cy="3225"/>
              <a:chOff x="1051" y="6131"/>
              <a:chExt cx="11730" cy="3225"/>
            </a:xfrm>
          </p:grpSpPr>
          <p:cxnSp>
            <p:nvCxnSpPr>
              <p:cNvPr id="15" name="直接箭头连接符 14"/>
              <p:cNvCxnSpPr/>
              <p:nvPr/>
            </p:nvCxnSpPr>
            <p:spPr>
              <a:xfrm flipV="1">
                <a:off x="1051" y="6486"/>
                <a:ext cx="7498" cy="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2252" y="6500"/>
                <a:ext cx="49" cy="11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endCxn id="36" idx="1"/>
              </p:cNvCxnSpPr>
              <p:nvPr/>
            </p:nvCxnSpPr>
            <p:spPr>
              <a:xfrm>
                <a:off x="2322" y="7268"/>
                <a:ext cx="1575" cy="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矩形 33"/>
                  <p:cNvSpPr/>
                  <p:nvPr/>
                </p:nvSpPr>
                <p:spPr>
                  <a:xfrm>
                    <a:off x="1051" y="7649"/>
                    <a:ext cx="2426" cy="9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随机交织器</m:t>
                          </m:r>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34" name="矩形 33"/>
                  <p:cNvSpPr>
                    <a:spLocks noRot="1" noChangeAspect="1" noMove="1" noResize="1" noEditPoints="1" noAdjustHandles="1" noChangeArrowheads="1" noChangeShapeType="1" noTextEdit="1"/>
                  </p:cNvSpPr>
                  <p:nvPr/>
                </p:nvSpPr>
                <p:spPr>
                  <a:xfrm>
                    <a:off x="1051" y="7649"/>
                    <a:ext cx="2426" cy="956"/>
                  </a:xfrm>
                  <a:prstGeom prst="rect">
                    <a:avLst/>
                  </a:prstGeom>
                  <a:blipFill rotWithShape="1">
                    <a:blip r:embed="rId4"/>
                  </a:blipFill>
                </p:spPr>
                <p:style>
                  <a:lnRef idx="2">
                    <a:schemeClr val="accent6"/>
                  </a:lnRef>
                  <a:fillRef idx="1">
                    <a:schemeClr val="lt1"/>
                  </a:fillRef>
                  <a:effectRef idx="0">
                    <a:schemeClr val="accent6"/>
                  </a:effectRef>
                  <a:fontRef idx="minor">
                    <a:schemeClr val="dk1"/>
                  </a:fontRef>
                </p:style>
                <p:txBody>
                  <a:bodyPr/>
                  <a:lstStyle/>
                  <a:p>
                    <a:r>
                      <a:rPr lang="zh-CN" altLang="en-US">
                        <a:noFill/>
                      </a:rPr>
                      <a:t> </a:t>
                    </a:r>
                  </a:p>
                </p:txBody>
              </p:sp>
            </mc:Fallback>
          </mc:AlternateContent>
          <p:cxnSp>
            <p:nvCxnSpPr>
              <p:cNvPr id="35" name="肘形连接符 34"/>
              <p:cNvCxnSpPr>
                <a:stCxn id="34" idx="2"/>
              </p:cNvCxnSpPr>
              <p:nvPr/>
            </p:nvCxnSpPr>
            <p:spPr>
              <a:xfrm rot="5400000" flipV="1">
                <a:off x="2915" y="7953"/>
                <a:ext cx="336" cy="1639"/>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3897" y="6793"/>
                <a:ext cx="2762" cy="9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Arial"/>
                    <a:ea typeface="微软雅黑"/>
                    <a:cs typeface="+mn-cs"/>
                  </a:rPr>
                  <a:t>分量编码器</a:t>
                </a:r>
                <a:r>
                  <a:rPr kumimoji="0" lang="en-US" altLang="zh-CN" sz="1800" b="0" i="0" u="none" strike="noStrike" kern="1200" cap="none" spc="0" normalizeH="0" baseline="0" noProof="0">
                    <a:ln>
                      <a:noFill/>
                    </a:ln>
                    <a:solidFill>
                      <a:srgbClr val="000000"/>
                    </a:solidFill>
                    <a:effectLst/>
                    <a:uLnTx/>
                    <a:uFillTx/>
                    <a:latin typeface="Arial"/>
                    <a:ea typeface="微软雅黑"/>
                    <a:cs typeface="+mn-cs"/>
                  </a:rPr>
                  <a:t>1</a:t>
                </a:r>
              </a:p>
            </p:txBody>
          </p:sp>
          <p:sp>
            <p:nvSpPr>
              <p:cNvPr id="37" name="矩形 36"/>
              <p:cNvSpPr/>
              <p:nvPr/>
            </p:nvSpPr>
            <p:spPr>
              <a:xfrm>
                <a:off x="3971" y="8413"/>
                <a:ext cx="2806" cy="9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Arial"/>
                    <a:ea typeface="微软雅黑"/>
                    <a:cs typeface="+mn-cs"/>
                  </a:rPr>
                  <a:t>分量编码器</a:t>
                </a:r>
                <a:r>
                  <a:rPr kumimoji="0" lang="en-US" altLang="zh-CN" sz="1800" b="0" i="0" u="none" strike="noStrike" kern="1200" cap="none" spc="0" normalizeH="0" baseline="0" noProof="0">
                    <a:ln>
                      <a:noFill/>
                    </a:ln>
                    <a:solidFill>
                      <a:srgbClr val="000000"/>
                    </a:solidFill>
                    <a:effectLst/>
                    <a:uLnTx/>
                    <a:uFillTx/>
                    <a:latin typeface="Arial"/>
                    <a:ea typeface="微软雅黑"/>
                    <a:cs typeface="+mn-cs"/>
                  </a:rPr>
                  <a:t>2</a:t>
                </a:r>
              </a:p>
            </p:txBody>
          </p:sp>
          <p:cxnSp>
            <p:nvCxnSpPr>
              <p:cNvPr id="38" name="直接箭头连接符 37"/>
              <p:cNvCxnSpPr>
                <a:stCxn id="37" idx="3"/>
              </p:cNvCxnSpPr>
              <p:nvPr/>
            </p:nvCxnSpPr>
            <p:spPr>
              <a:xfrm>
                <a:off x="6777" y="8885"/>
                <a:ext cx="1879"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36" idx="3"/>
              </p:cNvCxnSpPr>
              <p:nvPr/>
            </p:nvCxnSpPr>
            <p:spPr>
              <a:xfrm>
                <a:off x="6659" y="7286"/>
                <a:ext cx="1771" cy="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文本框 39"/>
                  <p:cNvSpPr txBox="1"/>
                  <p:nvPr/>
                </p:nvSpPr>
                <p:spPr>
                  <a:xfrm>
                    <a:off x="8549" y="7076"/>
                    <a:ext cx="4232" cy="680"/>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p>
                          </m:s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𝐾</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oMath>
                      </m:oMathPara>
                    </a14:m>
                    <a:endParaRPr kumimoji="0" lang="en-US" altLang="zh-CN" sz="1800" b="0" i="1" u="none" strike="noStrike" kern="1200" cap="none" spc="0" normalizeH="0" baseline="0" noProof="0">
                      <a:ln>
                        <a:noFill/>
                      </a:ln>
                      <a:solidFill>
                        <a:srgbClr val="000000"/>
                      </a:solidFill>
                      <a:effectLst/>
                      <a:uLnTx/>
                      <a:uFillTx/>
                      <a:latin typeface="Arial"/>
                      <a:ea typeface="微软雅黑"/>
                      <a:cs typeface="Arial"/>
                    </a:endParaRPr>
                  </a:p>
                </p:txBody>
              </p:sp>
            </mc:Choice>
            <mc:Fallback xmlns="">
              <p:sp>
                <p:nvSpPr>
                  <p:cNvPr id="40" name="文本框 39"/>
                  <p:cNvSpPr txBox="1">
                    <a:spLocks noRot="1" noChangeAspect="1" noMove="1" noResize="1" noEditPoints="1" noAdjustHandles="1" noChangeArrowheads="1" noChangeShapeType="1" noTextEdit="1"/>
                  </p:cNvSpPr>
                  <p:nvPr/>
                </p:nvSpPr>
                <p:spPr>
                  <a:xfrm>
                    <a:off x="8549" y="7076"/>
                    <a:ext cx="4232" cy="68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p:cNvSpPr txBox="1"/>
                  <p:nvPr/>
                </p:nvSpPr>
                <p:spPr>
                  <a:xfrm>
                    <a:off x="8549" y="8544"/>
                    <a:ext cx="4232" cy="680"/>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(2)</m:t>
                              </m:r>
                            </m:sup>
                          </m:s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(2)</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(2)</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𝐾</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(2)</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oMath>
                      </m:oMathPara>
                    </a14:m>
                    <a:endParaRPr kumimoji="0" lang="en-US" altLang="zh-CN" sz="1800" b="0" i="1" u="none" strike="noStrike" kern="1200" cap="none" spc="0" normalizeH="0" baseline="0" noProof="0">
                      <a:ln>
                        <a:noFill/>
                      </a:ln>
                      <a:solidFill>
                        <a:srgbClr val="000000"/>
                      </a:solidFill>
                      <a:effectLst/>
                      <a:uLnTx/>
                      <a:uFillTx/>
                      <a:latin typeface="Arial"/>
                      <a:ea typeface="微软雅黑"/>
                      <a:cs typeface="Arial"/>
                    </a:endParaRPr>
                  </a:p>
                </p:txBody>
              </p:sp>
            </mc:Choice>
            <mc:Fallback xmlns="">
              <p:sp>
                <p:nvSpPr>
                  <p:cNvPr id="41" name="文本框 40"/>
                  <p:cNvSpPr txBox="1">
                    <a:spLocks noRot="1" noChangeAspect="1" noMove="1" noResize="1" noEditPoints="1" noAdjustHandles="1" noChangeArrowheads="1" noChangeShapeType="1" noTextEdit="1"/>
                  </p:cNvSpPr>
                  <p:nvPr/>
                </p:nvSpPr>
                <p:spPr>
                  <a:xfrm>
                    <a:off x="8549" y="8544"/>
                    <a:ext cx="4232" cy="680"/>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p:cNvSpPr txBox="1"/>
                  <p:nvPr/>
                </p:nvSpPr>
                <p:spPr>
                  <a:xfrm>
                    <a:off x="8549" y="6131"/>
                    <a:ext cx="4232" cy="680"/>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p>
                          </m:s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𝐾</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oMath>
                      </m:oMathPara>
                    </a14:m>
                    <a:endParaRPr kumimoji="0" lang="en-US" altLang="zh-CN" sz="1800" b="0" i="1" u="none" strike="noStrike" kern="1200" cap="none" spc="0" normalizeH="0" baseline="0" noProof="0">
                      <a:ln>
                        <a:noFill/>
                      </a:ln>
                      <a:solidFill>
                        <a:srgbClr val="000000"/>
                      </a:solidFill>
                      <a:effectLst/>
                      <a:uLnTx/>
                      <a:uFillTx/>
                      <a:latin typeface="Arial"/>
                      <a:ea typeface="微软雅黑"/>
                      <a:cs typeface="Arial"/>
                    </a:endParaRPr>
                  </a:p>
                </p:txBody>
              </p:sp>
            </mc:Choice>
            <mc:Fallback xmlns="">
              <p:sp>
                <p:nvSpPr>
                  <p:cNvPr id="42" name="文本框 41"/>
                  <p:cNvSpPr txBox="1">
                    <a:spLocks noRot="1" noChangeAspect="1" noMove="1" noResize="1" noEditPoints="1" noAdjustHandles="1" noChangeArrowheads="1" noChangeShapeType="1" noTextEdit="1"/>
                  </p:cNvSpPr>
                  <p:nvPr/>
                </p:nvSpPr>
                <p:spPr>
                  <a:xfrm>
                    <a:off x="8549" y="6131"/>
                    <a:ext cx="4232" cy="680"/>
                  </a:xfrm>
                  <a:prstGeom prst="rect">
                    <a:avLst/>
                  </a:prstGeom>
                  <a:blipFill rotWithShape="1">
                    <a:blip r:embed="rId7"/>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3" name="文本框 42"/>
                <p:cNvSpPr txBox="1"/>
                <p:nvPr/>
              </p:nvSpPr>
              <p:spPr>
                <a:xfrm>
                  <a:off x="47" y="2232"/>
                  <a:ext cx="4800" cy="580"/>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cs typeface="Cambria Math" panose="02040503050406030204" pitchFamily="18" charset="0"/>
                          </a:rPr>
                          <m:t>𝑢</m:t>
                        </m:r>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ea typeface="MS Mincho" charset="0"/>
                            <a:cs typeface="Cambria Math" panose="02040503050406030204" pitchFamily="18" charset="0"/>
                          </a:rPr>
                          <m:t>=</m:t>
                        </m:r>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ea typeface="MS Mincho" charset="0"/>
                            <a:cs typeface="Cambria Math" panose="02040503050406030204" pitchFamily="18" charset="0"/>
                          </a:rPr>
                          <m:t>（</m:t>
                        </m:r>
                        <m:sSub>
                          <m:sSubPr>
                            <m:ctrlP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cs typeface="Cambria Math" panose="02040503050406030204" pitchFamily="18" charset="0"/>
                              </a:rPr>
                              <m:t>𝑢</m:t>
                            </m:r>
                          </m:e>
                          <m:sub>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ea typeface="MS Mincho" charset="0"/>
                                <a:cs typeface="Cambria Math" panose="02040503050406030204" pitchFamily="18" charset="0"/>
                              </a:rPr>
                              <m:t>0</m:t>
                            </m:r>
                          </m:sub>
                        </m:sSub>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ea typeface="MS Mincho" charset="0"/>
                            <a:cs typeface="Cambria Math" panose="02040503050406030204" pitchFamily="18" charset="0"/>
                          </a:rPr>
                          <m:t>，</m:t>
                        </m:r>
                        <m:sSub>
                          <m:sSubPr>
                            <m:ctrlP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cs typeface="Cambria Math" panose="02040503050406030204" pitchFamily="18" charset="0"/>
                              </a:rPr>
                              <m:t>𝑢</m:t>
                            </m:r>
                          </m:e>
                          <m:sub>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ea typeface="MS Mincho" charset="0"/>
                            <a:cs typeface="Cambria Math" panose="02040503050406030204" pitchFamily="18" charset="0"/>
                          </a:rPr>
                          <m:t>，</m:t>
                        </m:r>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ea typeface="MS Mincho" charset="0"/>
                            <a:cs typeface="Cambria Math" panose="02040503050406030204" pitchFamily="18" charset="0"/>
                          </a:rPr>
                          <m:t>⋯</m:t>
                        </m:r>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ea typeface="MS Mincho" charset="0"/>
                            <a:cs typeface="Cambria Math" panose="02040503050406030204" pitchFamily="18" charset="0"/>
                          </a:rPr>
                          <m:t>，</m:t>
                        </m:r>
                        <m:sSub>
                          <m:sSubPr>
                            <m:ctrlP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cs typeface="Cambria Math" panose="02040503050406030204" pitchFamily="18" charset="0"/>
                              </a:rPr>
                              <m:t>𝑢</m:t>
                            </m:r>
                          </m:e>
                          <m:sub>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cs typeface="Cambria Math" panose="02040503050406030204" pitchFamily="18" charset="0"/>
                              </a:rPr>
                              <m:t>𝐾</m:t>
                            </m:r>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1800" b="0" i="1" u="none" strike="noStrike" kern="1200" cap="none" spc="0" normalizeH="0" baseline="0" noProof="0">
                            <a:ln>
                              <a:noFill/>
                            </a:ln>
                            <a:solidFill>
                              <a:srgbClr val="0F1423"/>
                            </a:solidFill>
                            <a:effectLst/>
                            <a:uLnTx/>
                            <a:uFillTx/>
                            <a:latin typeface="Cambria Math" panose="02040503050406030204" pitchFamily="18" charset="0"/>
                            <a:ea typeface="MS Mincho" charset="0"/>
                            <a:cs typeface="Cambria Math" panose="02040503050406030204" pitchFamily="18" charset="0"/>
                          </a:rPr>
                          <m:t>）</m:t>
                        </m:r>
                      </m:oMath>
                    </m:oMathPara>
                  </a14:m>
                  <a:endParaRPr kumimoji="0" lang="en-US" altLang="zh-CN" sz="1800" b="0" i="1" u="none" strike="noStrike" kern="1200" cap="none" spc="0" normalizeH="0" baseline="0" noProof="0">
                    <a:ln>
                      <a:noFill/>
                    </a:ln>
                    <a:solidFill>
                      <a:srgbClr val="000000"/>
                    </a:solidFill>
                    <a:effectLst/>
                    <a:uLnTx/>
                    <a:uFillTx/>
                    <a:latin typeface="Arial"/>
                    <a:ea typeface="微软雅黑"/>
                    <a:cs typeface="Arial"/>
                  </a:endParaRPr>
                </a:p>
              </p:txBody>
            </p:sp>
          </mc:Choice>
          <mc:Fallback xmlns="">
            <p:sp>
              <p:nvSpPr>
                <p:cNvPr id="43" name="文本框 42"/>
                <p:cNvSpPr txBox="1">
                  <a:spLocks noRot="1" noChangeAspect="1" noMove="1" noResize="1" noEditPoints="1" noAdjustHandles="1" noChangeArrowheads="1" noChangeShapeType="1" noTextEdit="1"/>
                </p:cNvSpPr>
                <p:nvPr/>
              </p:nvSpPr>
              <p:spPr>
                <a:xfrm>
                  <a:off x="47" y="2232"/>
                  <a:ext cx="4800" cy="580"/>
                </a:xfrm>
                <a:prstGeom prst="rect">
                  <a:avLst/>
                </a:prstGeom>
                <a:blipFill rotWithShape="1">
                  <a:blip r:embed="rId8"/>
                </a:blipFill>
              </p:spPr>
              <p:txBody>
                <a:bodyPr/>
                <a:lstStyle/>
                <a:p>
                  <a:r>
                    <a:rPr lang="zh-CN" altLang="en-US">
                      <a:noFill/>
                    </a:rPr>
                    <a:t> </a:t>
                  </a:r>
                </a:p>
              </p:txBody>
            </p:sp>
          </mc:Fallback>
        </mc:AlternateContent>
      </p:grpSp>
    </p:spTree>
    <p:custDataLst>
      <p:tags r:id="rId1"/>
    </p:custData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Turbo码的码率</a:t>
            </a:r>
          </a:p>
        </p:txBody>
      </p:sp>
      <p:sp>
        <p:nvSpPr>
          <p:cNvPr id="3" name="内容占位符 2"/>
          <p:cNvSpPr>
            <a:spLocks noGrp="1"/>
          </p:cNvSpPr>
          <p:nvPr>
            <p:ph idx="1"/>
          </p:nvPr>
        </p:nvSpPr>
        <p:spPr>
          <a:xfrm>
            <a:off x="608330" y="1490345"/>
            <a:ext cx="10909300" cy="2518410"/>
          </a:xfrm>
        </p:spPr>
        <p:txBody>
          <a:bodyPr>
            <a:normAutofit/>
          </a:bodyPr>
          <a:lstStyle/>
          <a:p>
            <a:r>
              <a:rPr sz="2400"/>
              <a:t>若两个分量码的码率分别为</a:t>
            </a:r>
            <a:r>
              <a:rPr sz="2400" i="1">
                <a:latin typeface="Times New Roman" panose="02020603050405020304" pitchFamily="18" charset="0"/>
                <a:cs typeface="Times New Roman" panose="02020603050405020304" pitchFamily="18" charset="0"/>
              </a:rPr>
              <a:t>R</a:t>
            </a:r>
            <a:r>
              <a:rPr sz="2400" baseline="-25000">
                <a:latin typeface="Times New Roman" panose="02020603050405020304" pitchFamily="18" charset="0"/>
                <a:cs typeface="Times New Roman" panose="02020603050405020304" pitchFamily="18" charset="0"/>
              </a:rPr>
              <a:t>1</a:t>
            </a:r>
            <a:r>
              <a:rPr sz="2400"/>
              <a:t>和</a:t>
            </a:r>
            <a:r>
              <a:rPr sz="2400" i="1">
                <a:latin typeface="Times New Roman" panose="02020603050405020304" pitchFamily="18" charset="0"/>
                <a:cs typeface="Times New Roman" panose="02020603050405020304" pitchFamily="18" charset="0"/>
                <a:sym typeface="+mn-ea"/>
              </a:rPr>
              <a:t>R</a:t>
            </a:r>
            <a:r>
              <a:rPr lang="en-US" sz="2400" baseline="-25000">
                <a:latin typeface="Times New Roman" panose="02020603050405020304" pitchFamily="18" charset="0"/>
                <a:cs typeface="Times New Roman" panose="02020603050405020304" pitchFamily="18" charset="0"/>
                <a:sym typeface="+mn-ea"/>
              </a:rPr>
              <a:t>2</a:t>
            </a:r>
            <a:r>
              <a:rPr sz="2400"/>
              <a:t>，则Turbo码的码率为</a:t>
            </a:r>
          </a:p>
        </p:txBody>
      </p:sp>
      <p:graphicFrame>
        <p:nvGraphicFramePr>
          <p:cNvPr id="4" name="对象 3"/>
          <p:cNvGraphicFramePr/>
          <p:nvPr/>
        </p:nvGraphicFramePr>
        <p:xfrm>
          <a:off x="4195445" y="2472690"/>
          <a:ext cx="2755900" cy="1199515"/>
        </p:xfrm>
        <a:graphic>
          <a:graphicData uri="http://schemas.openxmlformats.org/presentationml/2006/ole">
            <mc:AlternateContent xmlns:mc="http://schemas.openxmlformats.org/markup-compatibility/2006">
              <mc:Choice xmlns:v="urn:schemas-microsoft-com:vml" Requires="v">
                <p:oleObj r:id="rId3" imgW="1797050" imgH="660400" progId="Paint.Picture">
                  <p:embed/>
                </p:oleObj>
              </mc:Choice>
              <mc:Fallback>
                <p:oleObj r:id="rId3" imgW="1797050" imgH="660400" progId="Paint.Picture">
                  <p:embed/>
                  <p:pic>
                    <p:nvPicPr>
                      <p:cNvPr id="4" name="对象 3"/>
                      <p:cNvPicPr/>
                      <p:nvPr/>
                    </p:nvPicPr>
                    <p:blipFill>
                      <a:blip r:embed="rId4"/>
                      <a:stretch>
                        <a:fillRect/>
                      </a:stretch>
                    </p:blipFill>
                    <p:spPr>
                      <a:xfrm>
                        <a:off x="4195445" y="2472690"/>
                        <a:ext cx="2755900" cy="1199515"/>
                      </a:xfrm>
                      <a:prstGeom prst="rect">
                        <a:avLst/>
                      </a:prstGeom>
                    </p:spPr>
                  </p:pic>
                </p:oleObj>
              </mc:Fallback>
            </mc:AlternateContent>
          </a:graphicData>
        </a:graphic>
      </p:graphicFrame>
    </p:spTree>
    <p:custDataLst>
      <p:tags r:id="rId1"/>
    </p:custData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Turbo码的编码过程举例</a:t>
            </a:r>
          </a:p>
        </p:txBody>
      </p:sp>
      <p:sp>
        <p:nvSpPr>
          <p:cNvPr id="3" name="内容占位符 2"/>
          <p:cNvSpPr>
            <a:spLocks noGrp="1"/>
          </p:cNvSpPr>
          <p:nvPr>
            <p:ph idx="1"/>
          </p:nvPr>
        </p:nvSpPr>
        <p:spPr>
          <a:xfrm>
            <a:off x="608330" y="1490345"/>
            <a:ext cx="10909300" cy="713740"/>
          </a:xfrm>
        </p:spPr>
        <p:txBody>
          <a:bodyPr>
            <a:normAutofit/>
          </a:bodyPr>
          <a:lstStyle/>
          <a:p>
            <a:r>
              <a:rPr lang="zh-CN" sz="2400"/>
              <a:t>下</a:t>
            </a:r>
            <a:r>
              <a:rPr sz="2400"/>
              <a:t>图</a:t>
            </a:r>
            <a:r>
              <a:rPr lang="zh-CN" sz="2400"/>
              <a:t>中</a:t>
            </a:r>
            <a:r>
              <a:rPr sz="2400"/>
              <a:t>，两个分量码都是</a:t>
            </a:r>
            <a:r>
              <a:rPr lang="en-US" sz="2400"/>
              <a:t>(</a:t>
            </a:r>
            <a:r>
              <a:rPr sz="2400"/>
              <a:t>2</a:t>
            </a:r>
            <a:r>
              <a:rPr lang="en-US" sz="2400"/>
              <a:t>,</a:t>
            </a:r>
            <a:r>
              <a:rPr sz="2400"/>
              <a:t>1</a:t>
            </a:r>
            <a:r>
              <a:rPr lang="en-US" sz="2400"/>
              <a:t>,</a:t>
            </a:r>
            <a:r>
              <a:rPr sz="2400"/>
              <a:t>4</a:t>
            </a:r>
            <a:r>
              <a:rPr lang="en-US" sz="2400"/>
              <a:t>)</a:t>
            </a:r>
            <a:r>
              <a:rPr sz="2400"/>
              <a:t>系统反馈编码器，具有相同的生成矩阵</a:t>
            </a:r>
          </a:p>
        </p:txBody>
      </p:sp>
      <p:graphicFrame>
        <p:nvGraphicFramePr>
          <p:cNvPr id="9" name="对象 8">
            <a:hlinkClick r:id="" action="ppaction://ole?verb=0"/>
          </p:cNvPr>
          <p:cNvGraphicFramePr>
            <a:graphicFrameLocks noChangeAspect="1"/>
          </p:cNvGraphicFramePr>
          <p:nvPr/>
        </p:nvGraphicFramePr>
        <p:xfrm>
          <a:off x="4538980" y="2204085"/>
          <a:ext cx="3114675" cy="701675"/>
        </p:xfrm>
        <a:graphic>
          <a:graphicData uri="http://schemas.openxmlformats.org/presentationml/2006/ole">
            <mc:AlternateContent xmlns:mc="http://schemas.openxmlformats.org/markup-compatibility/2006">
              <mc:Choice xmlns:v="urn:schemas-microsoft-com:vml" Requires="v">
                <p:oleObj r:id="rId3" imgW="1917065" imgH="419100" progId="Equation.KSEE3">
                  <p:embed/>
                </p:oleObj>
              </mc:Choice>
              <mc:Fallback>
                <p:oleObj r:id="rId3" imgW="1917065" imgH="419100" progId="Equation.KSEE3">
                  <p:embed/>
                  <p:pic>
                    <p:nvPicPr>
                      <p:cNvPr id="9" name="对象 8">
                        <a:hlinkClick r:id="" action="ppaction://ole?verb=0"/>
                      </p:cNvPr>
                      <p:cNvPicPr/>
                      <p:nvPr/>
                    </p:nvPicPr>
                    <p:blipFill>
                      <a:blip r:embed="rId4"/>
                      <a:stretch>
                        <a:fillRect/>
                      </a:stretch>
                    </p:blipFill>
                    <p:spPr>
                      <a:xfrm>
                        <a:off x="4538980" y="2204085"/>
                        <a:ext cx="3114675" cy="701675"/>
                      </a:xfrm>
                      <a:prstGeom prst="rect">
                        <a:avLst/>
                      </a:prstGeom>
                    </p:spPr>
                  </p:pic>
                </p:oleObj>
              </mc:Fallback>
            </mc:AlternateContent>
          </a:graphicData>
        </a:graphic>
      </p:graphicFrame>
      <p:cxnSp>
        <p:nvCxnSpPr>
          <p:cNvPr id="239" name="直接箭头连接符 238"/>
          <p:cNvCxnSpPr/>
          <p:nvPr/>
        </p:nvCxnSpPr>
        <p:spPr>
          <a:xfrm>
            <a:off x="2975610" y="3011805"/>
            <a:ext cx="5038725" cy="146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a:off x="2962910" y="3011805"/>
            <a:ext cx="0" cy="29635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1" name="直接箭头连接符 240"/>
          <p:cNvCxnSpPr/>
          <p:nvPr/>
        </p:nvCxnSpPr>
        <p:spPr>
          <a:xfrm>
            <a:off x="2976880" y="4197350"/>
            <a:ext cx="107251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2" name="直接箭头连接符 241"/>
          <p:cNvCxnSpPr/>
          <p:nvPr/>
        </p:nvCxnSpPr>
        <p:spPr>
          <a:xfrm flipV="1">
            <a:off x="2976880" y="5975350"/>
            <a:ext cx="775970" cy="139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3" name="流程图: 或者 242"/>
          <p:cNvSpPr/>
          <p:nvPr/>
        </p:nvSpPr>
        <p:spPr>
          <a:xfrm>
            <a:off x="4015740" y="3997960"/>
            <a:ext cx="489585" cy="385445"/>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44" name="矩形 243"/>
          <p:cNvSpPr/>
          <p:nvPr/>
        </p:nvSpPr>
        <p:spPr>
          <a:xfrm>
            <a:off x="5013960" y="3989070"/>
            <a:ext cx="348615" cy="4038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45" name="直接箭头连接符 244"/>
          <p:cNvCxnSpPr/>
          <p:nvPr/>
        </p:nvCxnSpPr>
        <p:spPr>
          <a:xfrm>
            <a:off x="4505325" y="4204970"/>
            <a:ext cx="508635" cy="63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6" name="矩形 245"/>
          <p:cNvSpPr/>
          <p:nvPr/>
        </p:nvSpPr>
        <p:spPr>
          <a:xfrm>
            <a:off x="6066790" y="3957320"/>
            <a:ext cx="432435" cy="433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47" name="直接箭头连接符 246"/>
          <p:cNvCxnSpPr/>
          <p:nvPr/>
        </p:nvCxnSpPr>
        <p:spPr>
          <a:xfrm>
            <a:off x="5314950" y="4173855"/>
            <a:ext cx="794385" cy="9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8" name="直接箭头连接符 247"/>
          <p:cNvCxnSpPr>
            <a:stCxn id="246" idx="3"/>
          </p:cNvCxnSpPr>
          <p:nvPr/>
        </p:nvCxnSpPr>
        <p:spPr>
          <a:xfrm>
            <a:off x="6499225" y="4174490"/>
            <a:ext cx="733425" cy="63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9" name="矩形 248"/>
          <p:cNvSpPr/>
          <p:nvPr/>
        </p:nvSpPr>
        <p:spPr>
          <a:xfrm>
            <a:off x="7222490" y="3957320"/>
            <a:ext cx="483235" cy="4464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50" name="矩形 249"/>
          <p:cNvSpPr/>
          <p:nvPr/>
        </p:nvSpPr>
        <p:spPr>
          <a:xfrm>
            <a:off x="8620760" y="3942715"/>
            <a:ext cx="465455" cy="4483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51" name="直接箭头连接符 250"/>
          <p:cNvCxnSpPr/>
          <p:nvPr/>
        </p:nvCxnSpPr>
        <p:spPr>
          <a:xfrm flipV="1">
            <a:off x="7705725" y="4168775"/>
            <a:ext cx="960120" cy="120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flipV="1">
            <a:off x="9086215" y="4154805"/>
            <a:ext cx="748665" cy="120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a:off x="4834255" y="4197350"/>
            <a:ext cx="0" cy="8185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直接箭头连接符 253"/>
          <p:cNvCxnSpPr/>
          <p:nvPr/>
        </p:nvCxnSpPr>
        <p:spPr>
          <a:xfrm flipV="1">
            <a:off x="4867275" y="5001895"/>
            <a:ext cx="4755515" cy="139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5" name="流程图: 或者 254"/>
          <p:cNvSpPr/>
          <p:nvPr/>
        </p:nvSpPr>
        <p:spPr>
          <a:xfrm>
            <a:off x="9611360" y="4799965"/>
            <a:ext cx="396240" cy="34925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56" name="直接箭头连接符 255"/>
          <p:cNvCxnSpPr/>
          <p:nvPr/>
        </p:nvCxnSpPr>
        <p:spPr>
          <a:xfrm>
            <a:off x="10007600" y="4977130"/>
            <a:ext cx="265430" cy="38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7" name="直接箭头连接符 256"/>
          <p:cNvCxnSpPr/>
          <p:nvPr/>
        </p:nvCxnSpPr>
        <p:spPr>
          <a:xfrm>
            <a:off x="9834880" y="4197350"/>
            <a:ext cx="0" cy="5784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8" name="矩形 257"/>
              <p:cNvSpPr/>
              <p:nvPr/>
            </p:nvSpPr>
            <p:spPr>
              <a:xfrm>
                <a:off x="3780790" y="5707380"/>
                <a:ext cx="502920" cy="606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4800" b="0" i="1" u="none" strike="noStrike" kern="1200" cap="none" spc="0" normalizeH="0" baseline="0" noProof="0">
                          <a:ln>
                            <a:noFill/>
                          </a:ln>
                          <a:solidFill>
                            <a:srgbClr val="FFFFFF"/>
                          </a:solidFill>
                          <a:effectLst/>
                          <a:uLnTx/>
                          <a:uFillTx/>
                          <a:latin typeface="Cambria Math" panose="02040503050406030204" pitchFamily="18" charset="0"/>
                          <a:cs typeface="Cambria Math" panose="02040503050406030204" pitchFamily="18" charset="0"/>
                        </a:rPr>
                        <m:t>𝜋</m:t>
                      </m:r>
                    </m:oMath>
                  </m:oMathPara>
                </a14:m>
                <a:endParaRPr kumimoji="0" lang="en-US" altLang="zh-CN" sz="4800" b="0" i="0" u="none" strike="noStrike" kern="1200" cap="none" spc="0" normalizeH="0" baseline="0" noProof="0">
                  <a:ln>
                    <a:noFill/>
                  </a:ln>
                  <a:solidFill>
                    <a:srgbClr val="FFFFFF"/>
                  </a:solidFill>
                  <a:effectLst/>
                  <a:uLnTx/>
                  <a:uFillTx/>
                  <a:latin typeface="Arial"/>
                  <a:ea typeface="微软雅黑"/>
                  <a:cs typeface="+mn-cs"/>
                </a:endParaRPr>
              </a:p>
            </p:txBody>
          </p:sp>
        </mc:Choice>
        <mc:Fallback xmlns="">
          <p:sp>
            <p:nvSpPr>
              <p:cNvPr id="258" name="矩形 257"/>
              <p:cNvSpPr>
                <a:spLocks noRot="1" noChangeAspect="1" noMove="1" noResize="1" noEditPoints="1" noAdjustHandles="1" noChangeArrowheads="1" noChangeShapeType="1" noTextEdit="1"/>
              </p:cNvSpPr>
              <p:nvPr/>
            </p:nvSpPr>
            <p:spPr>
              <a:xfrm>
                <a:off x="3780790" y="5707380"/>
                <a:ext cx="502920" cy="606425"/>
              </a:xfrm>
              <a:prstGeom prst="rect">
                <a:avLst/>
              </a:prstGeom>
              <a:blipFill rotWithShape="1">
                <a:blip r:embed="rId5"/>
                <a:stretch>
                  <a:fillRect l="-1263" t="-10262" r="-1263" b="-10366"/>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259" name="直接箭头连接符 258"/>
          <p:cNvCxnSpPr/>
          <p:nvPr/>
        </p:nvCxnSpPr>
        <p:spPr>
          <a:xfrm>
            <a:off x="4283710" y="6010910"/>
            <a:ext cx="268605" cy="69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0" name="流程图: 或者 259"/>
          <p:cNvSpPr/>
          <p:nvPr/>
        </p:nvSpPr>
        <p:spPr>
          <a:xfrm>
            <a:off x="4556760" y="5791835"/>
            <a:ext cx="409575" cy="39497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61" name="直接箭头连接符 260"/>
          <p:cNvCxnSpPr/>
          <p:nvPr/>
        </p:nvCxnSpPr>
        <p:spPr>
          <a:xfrm>
            <a:off x="4966335" y="5989320"/>
            <a:ext cx="46545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2" name="矩形 261"/>
          <p:cNvSpPr/>
          <p:nvPr/>
        </p:nvSpPr>
        <p:spPr>
          <a:xfrm>
            <a:off x="5431790" y="5805805"/>
            <a:ext cx="352425"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63" name="直接箭头连接符 262"/>
          <p:cNvCxnSpPr/>
          <p:nvPr/>
        </p:nvCxnSpPr>
        <p:spPr>
          <a:xfrm>
            <a:off x="5784215" y="6059805"/>
            <a:ext cx="43751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4" name="矩形 263"/>
          <p:cNvSpPr/>
          <p:nvPr/>
        </p:nvSpPr>
        <p:spPr>
          <a:xfrm>
            <a:off x="6221730" y="5791835"/>
            <a:ext cx="375920" cy="5213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65" name="直接箭头连接符 264"/>
          <p:cNvCxnSpPr/>
          <p:nvPr/>
        </p:nvCxnSpPr>
        <p:spPr>
          <a:xfrm>
            <a:off x="6597650" y="6052820"/>
            <a:ext cx="81851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6" name="矩形 265"/>
          <p:cNvSpPr/>
          <p:nvPr/>
        </p:nvSpPr>
        <p:spPr>
          <a:xfrm>
            <a:off x="7380605" y="5805805"/>
            <a:ext cx="325120" cy="521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67" name="直接箭头连接符 266"/>
          <p:cNvCxnSpPr/>
          <p:nvPr/>
        </p:nvCxnSpPr>
        <p:spPr>
          <a:xfrm>
            <a:off x="7705725" y="6066790"/>
            <a:ext cx="59245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8" name="矩形 267"/>
          <p:cNvSpPr/>
          <p:nvPr/>
        </p:nvSpPr>
        <p:spPr>
          <a:xfrm>
            <a:off x="8298180" y="5770880"/>
            <a:ext cx="391160" cy="5568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69" name="直接箭头连接符 268"/>
          <p:cNvCxnSpPr/>
          <p:nvPr/>
        </p:nvCxnSpPr>
        <p:spPr>
          <a:xfrm>
            <a:off x="8689340" y="6049645"/>
            <a:ext cx="996950" cy="57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0" name="直接箭头连接符 269"/>
          <p:cNvCxnSpPr/>
          <p:nvPr/>
        </p:nvCxnSpPr>
        <p:spPr>
          <a:xfrm>
            <a:off x="9686290" y="5977890"/>
            <a:ext cx="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1" name="直接箭头连接符 270"/>
          <p:cNvCxnSpPr/>
          <p:nvPr/>
        </p:nvCxnSpPr>
        <p:spPr>
          <a:xfrm flipV="1">
            <a:off x="9686290" y="5556885"/>
            <a:ext cx="0" cy="50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2" name="直接箭头连接符 271"/>
          <p:cNvCxnSpPr>
            <a:endCxn id="273" idx="6"/>
          </p:cNvCxnSpPr>
          <p:nvPr/>
        </p:nvCxnSpPr>
        <p:spPr>
          <a:xfrm flipH="1">
            <a:off x="8140065" y="5603240"/>
            <a:ext cx="1535430" cy="69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3" name="流程图: 或者 272"/>
          <p:cNvSpPr/>
          <p:nvPr/>
        </p:nvSpPr>
        <p:spPr>
          <a:xfrm>
            <a:off x="7858760" y="5474970"/>
            <a:ext cx="281305" cy="269875"/>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74" name="直接箭头连接符 273"/>
          <p:cNvCxnSpPr/>
          <p:nvPr/>
        </p:nvCxnSpPr>
        <p:spPr>
          <a:xfrm flipH="1">
            <a:off x="7235825" y="5598160"/>
            <a:ext cx="62293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5" name="流程图: 或者 274"/>
          <p:cNvSpPr/>
          <p:nvPr/>
        </p:nvSpPr>
        <p:spPr>
          <a:xfrm>
            <a:off x="6932295" y="5496560"/>
            <a:ext cx="300355" cy="258445"/>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76" name="直接箭头连接符 275"/>
          <p:cNvCxnSpPr/>
          <p:nvPr/>
        </p:nvCxnSpPr>
        <p:spPr>
          <a:xfrm flipH="1">
            <a:off x="6066790" y="5622290"/>
            <a:ext cx="860425" cy="69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7" name="流程图: 或者 276"/>
          <p:cNvSpPr/>
          <p:nvPr/>
        </p:nvSpPr>
        <p:spPr>
          <a:xfrm>
            <a:off x="5803900" y="5497195"/>
            <a:ext cx="305435" cy="263525"/>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78" name="直接连接符 277"/>
          <p:cNvCxnSpPr/>
          <p:nvPr/>
        </p:nvCxnSpPr>
        <p:spPr>
          <a:xfrm flipH="1">
            <a:off x="4766310" y="5598160"/>
            <a:ext cx="1035050" cy="10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9" name="直接箭头连接符 278"/>
          <p:cNvCxnSpPr/>
          <p:nvPr/>
        </p:nvCxnSpPr>
        <p:spPr>
          <a:xfrm flipH="1">
            <a:off x="4761865" y="5608320"/>
            <a:ext cx="4445" cy="1835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0" name="直接连接符 279"/>
          <p:cNvCxnSpPr/>
          <p:nvPr/>
        </p:nvCxnSpPr>
        <p:spPr>
          <a:xfrm flipV="1">
            <a:off x="9834880" y="3769360"/>
            <a:ext cx="5080" cy="461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1" name="直接箭头连接符 280"/>
          <p:cNvCxnSpPr/>
          <p:nvPr/>
        </p:nvCxnSpPr>
        <p:spPr>
          <a:xfrm flipH="1">
            <a:off x="8392160" y="3760470"/>
            <a:ext cx="1442720" cy="88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2" name="流程图: 或者 281"/>
          <p:cNvSpPr/>
          <p:nvPr/>
        </p:nvSpPr>
        <p:spPr>
          <a:xfrm>
            <a:off x="8000365" y="3579495"/>
            <a:ext cx="371475" cy="371475"/>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83" name="直接箭头连接符 282"/>
          <p:cNvCxnSpPr>
            <a:stCxn id="282" idx="2"/>
          </p:cNvCxnSpPr>
          <p:nvPr/>
        </p:nvCxnSpPr>
        <p:spPr>
          <a:xfrm flipH="1" flipV="1">
            <a:off x="7030720" y="3751580"/>
            <a:ext cx="969645" cy="139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4" name="流程图: 或者 283"/>
          <p:cNvSpPr/>
          <p:nvPr/>
        </p:nvSpPr>
        <p:spPr>
          <a:xfrm>
            <a:off x="6610350" y="3566160"/>
            <a:ext cx="420370" cy="376555"/>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85" name="直接箭头连接符 284"/>
          <p:cNvCxnSpPr>
            <a:stCxn id="284" idx="2"/>
          </p:cNvCxnSpPr>
          <p:nvPr/>
        </p:nvCxnSpPr>
        <p:spPr>
          <a:xfrm flipH="1">
            <a:off x="5635625" y="3754755"/>
            <a:ext cx="974725" cy="146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6" name="流程图: 或者 285"/>
          <p:cNvSpPr/>
          <p:nvPr/>
        </p:nvSpPr>
        <p:spPr>
          <a:xfrm>
            <a:off x="5330190" y="3583940"/>
            <a:ext cx="394970" cy="33909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87" name="直接连接符 286"/>
          <p:cNvCxnSpPr>
            <a:stCxn id="286" idx="2"/>
          </p:cNvCxnSpPr>
          <p:nvPr/>
        </p:nvCxnSpPr>
        <p:spPr>
          <a:xfrm flipH="1" flipV="1">
            <a:off x="4222115" y="3751580"/>
            <a:ext cx="1108075" cy="1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8" name="直接箭头连接符 287"/>
          <p:cNvCxnSpPr/>
          <p:nvPr/>
        </p:nvCxnSpPr>
        <p:spPr>
          <a:xfrm>
            <a:off x="4222115" y="3743325"/>
            <a:ext cx="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9" name="文本框 288"/>
              <p:cNvSpPr txBox="1"/>
              <p:nvPr/>
            </p:nvSpPr>
            <p:spPr>
              <a:xfrm>
                <a:off x="8014335" y="2778760"/>
                <a:ext cx="535305" cy="3733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(0)</m:t>
                          </m:r>
                        </m:sup>
                      </m:sSup>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289" name="文本框 288"/>
              <p:cNvSpPr txBox="1">
                <a:spLocks noRot="1" noChangeAspect="1" noMove="1" noResize="1" noEditPoints="1" noAdjustHandles="1" noChangeArrowheads="1" noChangeShapeType="1" noTextEdit="1"/>
              </p:cNvSpPr>
              <p:nvPr/>
            </p:nvSpPr>
            <p:spPr>
              <a:xfrm>
                <a:off x="8014335" y="2778760"/>
                <a:ext cx="535305" cy="37338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0" name="文本框 289"/>
              <p:cNvSpPr txBox="1"/>
              <p:nvPr/>
            </p:nvSpPr>
            <p:spPr>
              <a:xfrm>
                <a:off x="10196195" y="4775835"/>
                <a:ext cx="409575" cy="3733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p>
                      </m:sSup>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290" name="文本框 289"/>
              <p:cNvSpPr txBox="1">
                <a:spLocks noRot="1" noChangeAspect="1" noMove="1" noResize="1" noEditPoints="1" noAdjustHandles="1" noChangeArrowheads="1" noChangeShapeType="1" noTextEdit="1"/>
              </p:cNvSpPr>
              <p:nvPr/>
            </p:nvSpPr>
            <p:spPr>
              <a:xfrm>
                <a:off x="10196195" y="4775835"/>
                <a:ext cx="409575" cy="373380"/>
              </a:xfrm>
              <a:prstGeom prst="rect">
                <a:avLst/>
              </a:prstGeom>
              <a:blipFill rotWithShape="1">
                <a:blip r:embed="rId7"/>
                <a:stretch>
                  <a:fillRect r="-116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1" name="文本框 290"/>
              <p:cNvSpPr txBox="1"/>
              <p:nvPr/>
            </p:nvSpPr>
            <p:spPr>
              <a:xfrm>
                <a:off x="4124325" y="5603240"/>
                <a:ext cx="551815" cy="372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𝑢</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up>
                      </m:sSup>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291" name="文本框 290"/>
              <p:cNvSpPr txBox="1">
                <a:spLocks noRot="1" noChangeAspect="1" noMove="1" noResize="1" noEditPoints="1" noAdjustHandles="1" noChangeArrowheads="1" noChangeShapeType="1" noTextEdit="1"/>
              </p:cNvSpPr>
              <p:nvPr/>
            </p:nvSpPr>
            <p:spPr>
              <a:xfrm>
                <a:off x="4124325" y="5603240"/>
                <a:ext cx="551815" cy="372110"/>
              </a:xfrm>
              <a:prstGeom prst="rect">
                <a:avLst/>
              </a:prstGeom>
              <a:blipFill rotWithShape="1">
                <a:blip r:embed="rId8"/>
                <a:stretch>
                  <a:fillRect/>
                </a:stretch>
              </a:blipFill>
            </p:spPr>
            <p:txBody>
              <a:bodyPr/>
              <a:lstStyle/>
              <a:p>
                <a:r>
                  <a:rPr lang="zh-CN" altLang="en-US">
                    <a:noFill/>
                  </a:rPr>
                  <a:t> </a:t>
                </a:r>
              </a:p>
            </p:txBody>
          </p:sp>
        </mc:Fallback>
      </mc:AlternateContent>
      <p:cxnSp>
        <p:nvCxnSpPr>
          <p:cNvPr id="292" name="直接连接符 291"/>
          <p:cNvCxnSpPr/>
          <p:nvPr/>
        </p:nvCxnSpPr>
        <p:spPr>
          <a:xfrm flipH="1">
            <a:off x="5191125" y="5989320"/>
            <a:ext cx="8255" cy="523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3" name="直接箭头连接符 292"/>
          <p:cNvCxnSpPr/>
          <p:nvPr/>
        </p:nvCxnSpPr>
        <p:spPr>
          <a:xfrm>
            <a:off x="5199380" y="6519545"/>
            <a:ext cx="4409440" cy="101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4" name="流程图: 或者 293"/>
          <p:cNvSpPr/>
          <p:nvPr/>
        </p:nvSpPr>
        <p:spPr>
          <a:xfrm>
            <a:off x="9564370" y="6496050"/>
            <a:ext cx="270510" cy="24511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95" name="直接箭头连接符 294"/>
          <p:cNvCxnSpPr/>
          <p:nvPr/>
        </p:nvCxnSpPr>
        <p:spPr>
          <a:xfrm>
            <a:off x="9832340" y="6618605"/>
            <a:ext cx="304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6" name="文本框 295"/>
              <p:cNvSpPr txBox="1"/>
              <p:nvPr/>
            </p:nvSpPr>
            <p:spPr>
              <a:xfrm>
                <a:off x="10077450" y="6436360"/>
                <a:ext cx="528320" cy="3816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𝑣</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(2）</m:t>
                          </m:r>
                        </m:sup>
                      </m:sSup>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296" name="文本框 295"/>
              <p:cNvSpPr txBox="1">
                <a:spLocks noRot="1" noChangeAspect="1" noMove="1" noResize="1" noEditPoints="1" noAdjustHandles="1" noChangeArrowheads="1" noChangeShapeType="1" noTextEdit="1"/>
              </p:cNvSpPr>
              <p:nvPr/>
            </p:nvSpPr>
            <p:spPr>
              <a:xfrm>
                <a:off x="10077450" y="6436360"/>
                <a:ext cx="528320" cy="381635"/>
              </a:xfrm>
              <a:prstGeom prst="rect">
                <a:avLst/>
              </a:prstGeom>
              <a:blipFill rotWithShape="1">
                <a:blip r:embed="rId9"/>
                <a:stretch>
                  <a:fillRect r="-4808"/>
                </a:stretch>
              </a:blipFill>
            </p:spPr>
            <p:txBody>
              <a:bodyPr/>
              <a:lstStyle/>
              <a:p>
                <a:r>
                  <a:rPr lang="zh-CN" altLang="en-US">
                    <a:noFill/>
                  </a:rPr>
                  <a:t> </a:t>
                </a:r>
              </a:p>
            </p:txBody>
          </p:sp>
        </mc:Fallback>
      </mc:AlternateContent>
      <p:sp>
        <p:nvSpPr>
          <p:cNvPr id="297" name="文本框 296"/>
          <p:cNvSpPr txBox="1"/>
          <p:nvPr/>
        </p:nvSpPr>
        <p:spPr>
          <a:xfrm>
            <a:off x="2828925" y="2702560"/>
            <a:ext cx="26860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a:ln>
                  <a:noFill/>
                </a:ln>
                <a:solidFill>
                  <a:srgbClr val="000000"/>
                </a:solidFill>
                <a:effectLst/>
                <a:uLnTx/>
                <a:uFillTx/>
                <a:latin typeface="Times New Roman" panose="02020603050405020304" pitchFamily="18" charset="0"/>
                <a:ea typeface="微软雅黑"/>
                <a:cs typeface="Times New Roman" panose="02020603050405020304" pitchFamily="18" charset="0"/>
              </a:rPr>
              <a:t>u</a:t>
            </a:r>
          </a:p>
        </p:txBody>
      </p:sp>
      <p:cxnSp>
        <p:nvCxnSpPr>
          <p:cNvPr id="4" name="直接箭头连接符 3"/>
          <p:cNvCxnSpPr/>
          <p:nvPr/>
        </p:nvCxnSpPr>
        <p:spPr>
          <a:xfrm flipV="1">
            <a:off x="5527675" y="3903980"/>
            <a:ext cx="0" cy="27940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flipV="1">
            <a:off x="6866255" y="3917950"/>
            <a:ext cx="0" cy="27940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V="1">
            <a:off x="8163560" y="3950970"/>
            <a:ext cx="0" cy="19939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V="1">
            <a:off x="5953760" y="5750560"/>
            <a:ext cx="3175" cy="38100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7096760" y="5731510"/>
            <a:ext cx="0" cy="32385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8011160" y="5750560"/>
            <a:ext cx="0" cy="304800"/>
          </a:xfrm>
          <a:prstGeom prst="straightConnector1">
            <a:avLst/>
          </a:prstGeom>
          <a:ln>
            <a:tailEnd type="arrow" w="med" len="med"/>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3820160" y="3388360"/>
            <a:ext cx="6257290" cy="1888490"/>
          </a:xfrm>
          <a:prstGeom prst="rect">
            <a:avLst/>
          </a:prstGeom>
          <a:noFill/>
          <a:ln w="34925" cmpd="sng">
            <a:solidFill>
              <a:schemeClr val="accent1">
                <a:shade val="50000"/>
              </a:schemeClr>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Tree>
    <p:custDataLst>
      <p:tags r:id="rId1"/>
    </p:custData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Turbo码的编码过程举例</a:t>
            </a:r>
          </a:p>
        </p:txBody>
      </p:sp>
      <p:sp>
        <p:nvSpPr>
          <p:cNvPr id="3" name="内容占位符 2"/>
          <p:cNvSpPr>
            <a:spLocks noGrp="1"/>
          </p:cNvSpPr>
          <p:nvPr>
            <p:ph idx="1"/>
          </p:nvPr>
        </p:nvSpPr>
        <p:spPr>
          <a:xfrm>
            <a:off x="608330" y="1490345"/>
            <a:ext cx="10909300" cy="5170170"/>
          </a:xfrm>
        </p:spPr>
        <p:txBody>
          <a:bodyPr>
            <a:normAutofit/>
          </a:bodyPr>
          <a:lstStyle/>
          <a:p>
            <a:r>
              <a:rPr sz="2400"/>
              <a:t>删余矩阵的作用是提高码率，元素取自集合{0,1}</a:t>
            </a:r>
          </a:p>
          <a:p>
            <a:r>
              <a:rPr sz="2400"/>
              <a:t>矩阵的每一行对应两个分量编码器，“0”表示相应位置上的校验比特被删除，“1”表示保留相应位置的校验比特</a:t>
            </a:r>
          </a:p>
          <a:p>
            <a:r>
              <a:rPr lang="zh-CN" sz="2400">
                <a:latin typeface="Times New Roman" panose="02020603050405020304" pitchFamily="18" charset="0"/>
                <a:cs typeface="Times New Roman" panose="02020603050405020304" pitchFamily="18" charset="0"/>
              </a:rPr>
              <a:t>对于</a:t>
            </a:r>
            <a:r>
              <a:rPr sz="2400">
                <a:latin typeface="Times New Roman" panose="02020603050405020304" pitchFamily="18" charset="0"/>
                <a:cs typeface="Times New Roman" panose="02020603050405020304" pitchFamily="18" charset="0"/>
              </a:rPr>
              <a:t>1/3码率的Turbo编码器，输入序列</a:t>
            </a:r>
            <a:r>
              <a:rPr sz="2400" i="1">
                <a:latin typeface="Times New Roman" panose="02020603050405020304" pitchFamily="18" charset="0"/>
                <a:cs typeface="Times New Roman" panose="02020603050405020304" pitchFamily="18" charset="0"/>
              </a:rPr>
              <a:t>U</a:t>
            </a:r>
            <a:r>
              <a:rPr sz="2400">
                <a:latin typeface="Times New Roman" panose="02020603050405020304" pitchFamily="18" charset="0"/>
                <a:cs typeface="Times New Roman" panose="02020603050405020304" pitchFamily="18" charset="0"/>
              </a:rPr>
              <a:t>=(1011001)，第一个分量编码器输出的校验序列</a:t>
            </a:r>
            <a:r>
              <a:rPr sz="2400" i="1">
                <a:latin typeface="Times New Roman" panose="02020603050405020304" pitchFamily="18" charset="0"/>
                <a:cs typeface="Times New Roman" panose="02020603050405020304" pitchFamily="18" charset="0"/>
              </a:rPr>
              <a:t>X</a:t>
            </a:r>
            <a:r>
              <a:rPr sz="2400" i="1" baseline="-25000">
                <a:latin typeface="Times New Roman" panose="02020603050405020304" pitchFamily="18" charset="0"/>
                <a:cs typeface="Times New Roman" panose="02020603050405020304" pitchFamily="18" charset="0"/>
              </a:rPr>
              <a:t>p</a:t>
            </a:r>
            <a:r>
              <a:rPr sz="2400" baseline="-25000">
                <a:latin typeface="Times New Roman" panose="02020603050405020304" pitchFamily="18" charset="0"/>
                <a:cs typeface="Times New Roman" panose="02020603050405020304" pitchFamily="18" charset="0"/>
              </a:rPr>
              <a:t>1</a:t>
            </a:r>
            <a:r>
              <a:rPr sz="2400">
                <a:latin typeface="Times New Roman" panose="02020603050405020304" pitchFamily="18" charset="0"/>
                <a:cs typeface="Times New Roman" panose="02020603050405020304" pitchFamily="18" charset="0"/>
              </a:rPr>
              <a:t>=(1101000)，第二个分量编码器输出的校验序列</a:t>
            </a:r>
            <a:r>
              <a:rPr sz="2400" i="1">
                <a:latin typeface="Times New Roman" panose="02020603050405020304" pitchFamily="18" charset="0"/>
                <a:cs typeface="Times New Roman" panose="02020603050405020304" pitchFamily="18" charset="0"/>
              </a:rPr>
              <a:t>X</a:t>
            </a:r>
            <a:r>
              <a:rPr sz="2400" i="1" baseline="-25000">
                <a:latin typeface="Times New Roman" panose="02020603050405020304" pitchFamily="18" charset="0"/>
                <a:cs typeface="Times New Roman" panose="02020603050405020304" pitchFamily="18" charset="0"/>
              </a:rPr>
              <a:t>p</a:t>
            </a:r>
            <a:r>
              <a:rPr sz="2400" baseline="-25000">
                <a:latin typeface="Times New Roman" panose="02020603050405020304" pitchFamily="18" charset="0"/>
                <a:cs typeface="Times New Roman" panose="02020603050405020304" pitchFamily="18" charset="0"/>
              </a:rPr>
              <a:t>2</a:t>
            </a:r>
            <a:r>
              <a:rPr sz="2400">
                <a:latin typeface="Times New Roman" panose="02020603050405020304" pitchFamily="18" charset="0"/>
                <a:cs typeface="Times New Roman" panose="02020603050405020304" pitchFamily="18" charset="0"/>
              </a:rPr>
              <a:t>=(1001000)，最终输出的序列为</a:t>
            </a:r>
            <a:r>
              <a:rPr sz="2400" i="1">
                <a:latin typeface="Times New Roman" panose="02020603050405020304" pitchFamily="18" charset="0"/>
                <a:cs typeface="Times New Roman" panose="02020603050405020304" pitchFamily="18" charset="0"/>
              </a:rPr>
              <a:t>X</a:t>
            </a:r>
            <a:r>
              <a:rPr sz="2400">
                <a:latin typeface="Times New Roman" panose="02020603050405020304" pitchFamily="18" charset="0"/>
                <a:cs typeface="Times New Roman" panose="02020603050405020304" pitchFamily="18" charset="0"/>
              </a:rPr>
              <a:t>=(111,010,100,111,000,000,100)</a:t>
            </a:r>
          </a:p>
          <a:p>
            <a:r>
              <a:rPr sz="2400">
                <a:latin typeface="Times New Roman" panose="02020603050405020304" pitchFamily="18" charset="0"/>
                <a:cs typeface="Times New Roman" panose="02020603050405020304" pitchFamily="18" charset="0"/>
              </a:rPr>
              <a:t>添加删余矩阵</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提升到1/2码率</a:t>
            </a:r>
            <a:r>
              <a:rPr lang="zh-CN" sz="2400">
                <a:latin typeface="Times New Roman" panose="02020603050405020304" pitchFamily="18" charset="0"/>
                <a:cs typeface="Times New Roman" panose="02020603050405020304" pitchFamily="18" charset="0"/>
              </a:rPr>
              <a:t>，删除第一个分量编码器偶数位校验比特，删除第二个编码器奇数位校验比特，与系统输出复接后得到的序列为</a:t>
            </a:r>
            <a:r>
              <a:rPr lang="zh-CN" sz="2400" i="1">
                <a:latin typeface="Times New Roman" panose="02020603050405020304" pitchFamily="18" charset="0"/>
                <a:cs typeface="Times New Roman" panose="02020603050405020304" pitchFamily="18" charset="0"/>
              </a:rPr>
              <a:t>X</a:t>
            </a:r>
            <a:r>
              <a:rPr lang="zh-CN" sz="2400">
                <a:latin typeface="Times New Roman" panose="02020603050405020304" pitchFamily="18" charset="0"/>
                <a:cs typeface="Times New Roman" panose="02020603050405020304" pitchFamily="18" charset="0"/>
              </a:rPr>
              <a:t>=(11,00,10,11,00,00,10)</a:t>
            </a:r>
          </a:p>
        </p:txBody>
      </p:sp>
      <p:graphicFrame>
        <p:nvGraphicFramePr>
          <p:cNvPr id="9" name="对象 8">
            <a:hlinkClick r:id="" action="ppaction://ole?verb=0"/>
          </p:cNvPr>
          <p:cNvGraphicFramePr>
            <a:graphicFrameLocks noChangeAspect="1"/>
          </p:cNvGraphicFramePr>
          <p:nvPr/>
        </p:nvGraphicFramePr>
        <p:xfrm>
          <a:off x="2946083" y="4439603"/>
          <a:ext cx="933450" cy="730885"/>
        </p:xfrm>
        <a:graphic>
          <a:graphicData uri="http://schemas.openxmlformats.org/presentationml/2006/ole">
            <mc:AlternateContent xmlns:mc="http://schemas.openxmlformats.org/markup-compatibility/2006">
              <mc:Choice xmlns:v="urn:schemas-microsoft-com:vml" Requires="v">
                <p:oleObj r:id="rId4" imgW="584200" imgH="457200" progId="Equation.KSEE3">
                  <p:embed/>
                </p:oleObj>
              </mc:Choice>
              <mc:Fallback>
                <p:oleObj r:id="rId4" imgW="584200" imgH="457200" progId="Equation.KSEE3">
                  <p:embed/>
                  <p:pic>
                    <p:nvPicPr>
                      <p:cNvPr id="9" name="对象 8">
                        <a:hlinkClick r:id="" action="ppaction://ole?verb=0"/>
                      </p:cNvPr>
                      <p:cNvPicPr/>
                      <p:nvPr/>
                    </p:nvPicPr>
                    <p:blipFill>
                      <a:blip r:embed="rId5"/>
                      <a:stretch>
                        <a:fillRect/>
                      </a:stretch>
                    </p:blipFill>
                    <p:spPr>
                      <a:xfrm>
                        <a:off x="2946083" y="4439603"/>
                        <a:ext cx="933450" cy="730885"/>
                      </a:xfrm>
                      <a:prstGeom prst="rect">
                        <a:avLst/>
                      </a:prstGeom>
                    </p:spPr>
                  </p:pic>
                </p:oleObj>
              </mc:Fallback>
            </mc:AlternateContent>
          </a:graphicData>
        </a:graphic>
      </p:graphicFrame>
    </p:spTree>
    <p:custDataLst>
      <p:tags r:id="rId1"/>
    </p:custData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注意事项</a:t>
            </a:r>
          </a:p>
        </p:txBody>
      </p:sp>
      <p:sp>
        <p:nvSpPr>
          <p:cNvPr id="3" name="内容占位符 2"/>
          <p:cNvSpPr>
            <a:spLocks noGrp="1"/>
          </p:cNvSpPr>
          <p:nvPr>
            <p:ph idx="1"/>
          </p:nvPr>
        </p:nvSpPr>
        <p:spPr>
          <a:xfrm>
            <a:off x="608330" y="1490345"/>
            <a:ext cx="10909300" cy="4295775"/>
          </a:xfrm>
        </p:spPr>
        <p:txBody>
          <a:bodyPr>
            <a:normAutofit lnSpcReduction="10000"/>
          </a:bodyPr>
          <a:lstStyle/>
          <a:p>
            <a:pPr algn="l">
              <a:buClrTx/>
              <a:buSzTx/>
            </a:pPr>
            <a:r>
              <a:rPr sz="2400"/>
              <a:t>为了得到靠近香农限的系统性能，信息分组长度(交织器大小)</a:t>
            </a:r>
            <a:r>
              <a:rPr sz="2400" i="1">
                <a:latin typeface="Times New Roman" panose="02020603050405020304" pitchFamily="18" charset="0"/>
                <a:cs typeface="Times New Roman" panose="02020603050405020304" pitchFamily="18" charset="0"/>
              </a:rPr>
              <a:t>K</a:t>
            </a:r>
            <a:r>
              <a:rPr sz="2400"/>
              <a:t>一般比较大，通常至少几千个比特</a:t>
            </a:r>
          </a:p>
          <a:p>
            <a:pPr algn="l">
              <a:buClrTx/>
              <a:buSzTx/>
            </a:pPr>
            <a:r>
              <a:rPr sz="2400"/>
              <a:t>对于分量码来说，一般选择相同结构，且约束长度较短，通常</a:t>
            </a:r>
            <a:r>
              <a:rPr lang="en-US" sz="2400" i="1">
                <a:latin typeface="Times New Roman" panose="02020603050405020304" pitchFamily="18" charset="0"/>
                <a:cs typeface="Times New Roman" panose="02020603050405020304" pitchFamily="18" charset="0"/>
              </a:rPr>
              <a:t>m</a:t>
            </a:r>
            <a:r>
              <a:rPr sz="2400">
                <a:latin typeface="Times New Roman" panose="02020603050405020304" pitchFamily="18" charset="0"/>
                <a:cs typeface="Times New Roman" panose="02020603050405020304" pitchFamily="18" charset="0"/>
              </a:rPr>
              <a:t>≤4</a:t>
            </a:r>
          </a:p>
          <a:p>
            <a:pPr algn="l">
              <a:buClrTx/>
              <a:buSzTx/>
            </a:pPr>
            <a:r>
              <a:rPr sz="2400">
                <a:latin typeface="Times New Roman" panose="02020603050405020304" pitchFamily="18" charset="0"/>
                <a:cs typeface="Times New Roman" panose="02020603050405020304" pitchFamily="18" charset="0"/>
              </a:rPr>
              <a:t>递归分量码会比非递归分量码有更好的性能</a:t>
            </a:r>
          </a:p>
          <a:p>
            <a:pPr algn="l">
              <a:buClrTx/>
              <a:buSzTx/>
            </a:pPr>
            <a:r>
              <a:rPr lang="zh-CN" sz="2400">
                <a:latin typeface="Times New Roman" panose="02020603050405020304" pitchFamily="18" charset="0"/>
                <a:cs typeface="Times New Roman" panose="02020603050405020304" pitchFamily="18" charset="0"/>
              </a:rPr>
              <a:t>提</a:t>
            </a:r>
            <a:r>
              <a:rPr sz="2400">
                <a:latin typeface="Times New Roman" panose="02020603050405020304" pitchFamily="18" charset="0"/>
                <a:cs typeface="Times New Roman" panose="02020603050405020304" pitchFamily="18" charset="0"/>
              </a:rPr>
              <a:t>高码率可通过删余矩阵</a:t>
            </a:r>
            <a:r>
              <a:rPr lang="zh-CN" sz="2400">
                <a:latin typeface="Times New Roman" panose="02020603050405020304" pitchFamily="18" charset="0"/>
                <a:cs typeface="Times New Roman" panose="02020603050405020304" pitchFamily="18" charset="0"/>
              </a:rPr>
              <a:t>实现</a:t>
            </a:r>
          </a:p>
          <a:p>
            <a:pPr algn="l">
              <a:buClrTx/>
              <a:buSzTx/>
            </a:pPr>
            <a:r>
              <a:rPr lang="zh-CN" sz="2400">
                <a:latin typeface="Times New Roman" panose="02020603050405020304" pitchFamily="18" charset="0"/>
                <a:cs typeface="Times New Roman" panose="02020603050405020304" pitchFamily="18" charset="0"/>
              </a:rPr>
              <a:t>增加分量码和交织器会得到较低编码速率的Turbo码</a:t>
            </a:r>
          </a:p>
          <a:p>
            <a:pPr algn="l">
              <a:buClrTx/>
              <a:buSzTx/>
            </a:pPr>
            <a:r>
              <a:rPr lang="zh-CN" sz="2400">
                <a:latin typeface="Times New Roman" panose="02020603050405020304" pitchFamily="18" charset="0"/>
                <a:cs typeface="Times New Roman" panose="02020603050405020304" pitchFamily="18" charset="0"/>
              </a:rPr>
              <a:t>最好的交织器能够对比特以伪随机的方式进行排序，传统的块交织器(行-列)在Turbo码中性能不好，除非块长度很短</a:t>
            </a:r>
          </a:p>
        </p:txBody>
      </p:sp>
    </p:spTree>
    <p:custDataLst>
      <p:tags r:id="rId1"/>
    </p:custData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注意事项</a:t>
            </a:r>
          </a:p>
        </p:txBody>
      </p:sp>
      <p:sp>
        <p:nvSpPr>
          <p:cNvPr id="3" name="内容占位符 2"/>
          <p:cNvSpPr>
            <a:spLocks noGrp="1"/>
          </p:cNvSpPr>
          <p:nvPr>
            <p:ph idx="1"/>
          </p:nvPr>
        </p:nvSpPr>
        <p:spPr>
          <a:xfrm>
            <a:off x="608330" y="1490345"/>
            <a:ext cx="10909300" cy="2732405"/>
          </a:xfrm>
        </p:spPr>
        <p:txBody>
          <a:bodyPr>
            <a:normAutofit fontScale="92500" lnSpcReduction="10000"/>
          </a:bodyPr>
          <a:lstStyle/>
          <a:p>
            <a:pPr algn="l">
              <a:buClrTx/>
              <a:buSzTx/>
            </a:pPr>
            <a:r>
              <a:rPr sz="2400"/>
              <a:t>由于交织器只是对比特位置进行重新排序，因此，交织后的序列</a:t>
            </a:r>
            <a:r>
              <a:rPr sz="2400" i="1">
                <a:latin typeface="Times New Roman" panose="02020603050405020304" pitchFamily="18" charset="0"/>
                <a:cs typeface="Times New Roman" panose="02020603050405020304" pitchFamily="18" charset="0"/>
              </a:rPr>
              <a:t>u</a:t>
            </a:r>
            <a:r>
              <a:rPr sz="2400">
                <a:latin typeface="Times New Roman" panose="02020603050405020304" pitchFamily="18" charset="0"/>
                <a:cs typeface="Times New Roman" panose="02020603050405020304" pitchFamily="18" charset="0"/>
              </a:rPr>
              <a:t>′</a:t>
            </a:r>
            <a:r>
              <a:rPr sz="2400"/>
              <a:t>与原始序列</a:t>
            </a:r>
            <a:r>
              <a:rPr sz="2400" i="1">
                <a:latin typeface="Times New Roman" panose="02020603050405020304" pitchFamily="18" charset="0"/>
                <a:cs typeface="Times New Roman" panose="02020603050405020304" pitchFamily="18" charset="0"/>
              </a:rPr>
              <a:t>u</a:t>
            </a:r>
            <a:r>
              <a:rPr sz="2400"/>
              <a:t>具有相同的重量</a:t>
            </a:r>
          </a:p>
          <a:p>
            <a:pPr algn="l">
              <a:buClrTx/>
              <a:buSzTx/>
            </a:pPr>
            <a:r>
              <a:rPr sz="2400"/>
              <a:t>对每个分量码来说，用BCJR</a:t>
            </a:r>
            <a:r>
              <a:rPr lang="en-US" sz="2400"/>
              <a:t>(</a:t>
            </a:r>
            <a:r>
              <a:rPr sz="2400"/>
              <a:t>或MAP</a:t>
            </a:r>
            <a:r>
              <a:rPr lang="en-US" sz="2400"/>
              <a:t>)</a:t>
            </a:r>
            <a:r>
              <a:rPr sz="2400"/>
              <a:t>算法作为SISO译码器能够获得最好的性能；因为MAP译码器使用了前向-后向算法，信息是以块的形式进行的，因此，对第一个分量译码器来说，附加</a:t>
            </a:r>
            <a:r>
              <a:rPr sz="2400" i="1">
                <a:latin typeface="Times New Roman" panose="02020603050405020304" pitchFamily="18" charset="0"/>
                <a:cs typeface="Times New Roman" panose="02020603050405020304" pitchFamily="18" charset="0"/>
              </a:rPr>
              <a:t>m</a:t>
            </a:r>
            <a:r>
              <a:rPr sz="2400">
                <a:latin typeface="Times New Roman" panose="02020603050405020304" pitchFamily="18" charset="0"/>
                <a:cs typeface="Times New Roman" panose="02020603050405020304" pitchFamily="18" charset="0"/>
              </a:rPr>
              <a:t>个0</a:t>
            </a:r>
            <a:r>
              <a:rPr sz="2400"/>
              <a:t>比特能够让它返回到全</a:t>
            </a:r>
            <a:r>
              <a:rPr sz="2400">
                <a:latin typeface="Times New Roman" panose="02020603050405020304" pitchFamily="18" charset="0"/>
                <a:cs typeface="Times New Roman" panose="02020603050405020304" pitchFamily="18" charset="0"/>
              </a:rPr>
              <a:t>0态；但对于第二个译码器来说，由于交织器的作用，将不能返回到全0态</a:t>
            </a:r>
          </a:p>
        </p:txBody>
      </p:sp>
      <p:sp>
        <p:nvSpPr>
          <p:cNvPr id="4" name="矩形 3"/>
          <p:cNvSpPr/>
          <p:nvPr/>
        </p:nvSpPr>
        <p:spPr>
          <a:xfrm>
            <a:off x="1143000" y="4406900"/>
            <a:ext cx="9656445" cy="171259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5" name="文本框 4"/>
          <p:cNvSpPr txBox="1"/>
          <p:nvPr/>
        </p:nvSpPr>
        <p:spPr>
          <a:xfrm>
            <a:off x="1276350" y="4442460"/>
            <a:ext cx="9453245" cy="1691640"/>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Arial"/>
                <a:ea typeface="微软雅黑"/>
                <a:cs typeface="+mn-cs"/>
              </a:rPr>
              <a:t>注：BCJR算法是一种定义在网格图上的用来最大化纠错编码的后验概率的算法，主要用于卷积编码。这种算法以它的发明者的名字命名，分别是Bahl、Cocke、Jelinek和Raviv。这个算法对于迭代的纠错编码来说是非常重要的，其中包括Turbo码和LDPC码。</a:t>
            </a:r>
          </a:p>
        </p:txBody>
      </p:sp>
    </p:spTree>
    <p:custDataLst>
      <p:tags r:id="rId1"/>
    </p:custData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Turbo码的译码</a:t>
            </a:r>
          </a:p>
        </p:txBody>
      </p:sp>
      <p:sp>
        <p:nvSpPr>
          <p:cNvPr id="3" name="内容占位符 2"/>
          <p:cNvSpPr>
            <a:spLocks noGrp="1"/>
          </p:cNvSpPr>
          <p:nvPr>
            <p:ph idx="1"/>
          </p:nvPr>
        </p:nvSpPr>
        <p:spPr>
          <a:xfrm>
            <a:off x="608330" y="1490345"/>
            <a:ext cx="10909300" cy="4081780"/>
          </a:xfrm>
        </p:spPr>
        <p:txBody>
          <a:bodyPr>
            <a:normAutofit/>
          </a:bodyPr>
          <a:lstStyle/>
          <a:p>
            <a:r>
              <a:rPr lang="zh-CN" altLang="en-US" sz="2400" dirty="0">
                <a:uFillTx/>
                <a:latin typeface="Cambria Math" panose="02040503050406030204" pitchFamily="18" charset="0"/>
                <a:cs typeface="Cambria Math" panose="02040503050406030204" pitchFamily="18" charset="0"/>
                <a:sym typeface="+mn-ea"/>
              </a:rPr>
              <a:t>Turbo码有一重要特点是其译码较为复杂，比常规的卷积码要复杂的多。</a:t>
            </a:r>
          </a:p>
          <a:p>
            <a:r>
              <a:rPr lang="zh-CN" altLang="en-US" sz="2400" dirty="0">
                <a:uFillTx/>
                <a:latin typeface="Cambria Math" panose="02040503050406030204" pitchFamily="18" charset="0"/>
                <a:cs typeface="Cambria Math" panose="02040503050406030204" pitchFamily="18" charset="0"/>
                <a:sym typeface="+mn-ea"/>
              </a:rPr>
              <a:t>这种复杂不仅在于其译码要采用迭代的过程，而且采用的算法本身也比较复杂。</a:t>
            </a:r>
          </a:p>
          <a:p>
            <a:r>
              <a:rPr lang="zh-CN" altLang="en-US" sz="2400" dirty="0">
                <a:uFillTx/>
                <a:latin typeface="Cambria Math" panose="02040503050406030204" pitchFamily="18" charset="0"/>
                <a:cs typeface="Cambria Math" panose="02040503050406030204" pitchFamily="18" charset="0"/>
                <a:sym typeface="+mn-ea"/>
              </a:rPr>
              <a:t>这些算法的关键是不但要能够对每比特进行译码，而且还要伴随着译码给出每比特译出的可靠性信息，有了这些信息，迭代才能进行下去。</a:t>
            </a:r>
          </a:p>
          <a:p>
            <a:r>
              <a:rPr lang="zh-CN" altLang="en-US" sz="2400" dirty="0">
                <a:uFillTx/>
                <a:latin typeface="Cambria Math" panose="02040503050406030204" pitchFamily="18" charset="0"/>
                <a:cs typeface="Cambria Math" panose="02040503050406030204" pitchFamily="18" charset="0"/>
                <a:sym typeface="+mn-ea"/>
              </a:rPr>
              <a:t>Turbo码译码算法：MAP(Maximum A Posterori)、Max-Log-MAP、Log-MAP和SOVA(Soft Output Viterbi Algorithm)。</a:t>
            </a:r>
          </a:p>
        </p:txBody>
      </p:sp>
    </p:spTree>
    <p:custDataLst>
      <p:tags r:id="rId1"/>
    </p:custData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译码算法</a:t>
            </a:r>
          </a:p>
        </p:txBody>
      </p:sp>
      <p:sp>
        <p:nvSpPr>
          <p:cNvPr id="3" name="内容占位符 2"/>
          <p:cNvSpPr>
            <a:spLocks noGrp="1"/>
          </p:cNvSpPr>
          <p:nvPr>
            <p:ph idx="1"/>
          </p:nvPr>
        </p:nvSpPr>
        <p:spPr>
          <a:xfrm>
            <a:off x="608330" y="1490345"/>
            <a:ext cx="10909300" cy="4081780"/>
          </a:xfrm>
        </p:spPr>
        <p:txBody>
          <a:bodyPr>
            <a:normAutofit fontScale="92500" lnSpcReduction="10000"/>
          </a:bodyPr>
          <a:lstStyle/>
          <a:p>
            <a:r>
              <a:rPr lang="zh-CN" altLang="en-US" sz="2400" b="1" dirty="0">
                <a:solidFill>
                  <a:srgbClr val="FF0000"/>
                </a:solidFill>
                <a:uFillTx/>
                <a:latin typeface="Cambria Math" panose="02040503050406030204" pitchFamily="18" charset="0"/>
                <a:cs typeface="Cambria Math" panose="02040503050406030204" pitchFamily="18" charset="0"/>
                <a:sym typeface="+mn-ea"/>
              </a:rPr>
              <a:t>MAP算法</a:t>
            </a:r>
            <a:r>
              <a:rPr lang="zh-CN" altLang="en-US" sz="2400" dirty="0">
                <a:uFillTx/>
                <a:latin typeface="Cambria Math" panose="02040503050406030204" pitchFamily="18" charset="0"/>
                <a:cs typeface="Cambria Math" panose="02040503050406030204" pitchFamily="18" charset="0"/>
                <a:sym typeface="+mn-ea"/>
              </a:rPr>
              <a:t>：MAP算法采用递推、迭代方法，将最大似然对数比函数作为软判决的输出。但由于该算法需要多次迭代，复杂度较高，运算量非常大，而且对数和指数的运算在数字电路中比较难以实现，导致其在工程实现上受到了很大程度的限制。</a:t>
            </a:r>
          </a:p>
          <a:p>
            <a:r>
              <a:rPr lang="zh-CN" altLang="en-US" sz="2400" b="1" dirty="0">
                <a:solidFill>
                  <a:srgbClr val="FF0000"/>
                </a:solidFill>
                <a:uFillTx/>
                <a:latin typeface="Cambria Math" panose="02040503050406030204" pitchFamily="18" charset="0"/>
                <a:cs typeface="Cambria Math" panose="02040503050406030204" pitchFamily="18" charset="0"/>
                <a:sym typeface="+mn-ea"/>
              </a:rPr>
              <a:t>Max-log-MAP算法</a:t>
            </a:r>
            <a:r>
              <a:rPr lang="zh-CN" altLang="en-US" sz="2400" dirty="0">
                <a:uFillTx/>
                <a:latin typeface="Cambria Math" panose="02040503050406030204" pitchFamily="18" charset="0"/>
                <a:cs typeface="Cambria Math" panose="02040503050406030204" pitchFamily="18" charset="0"/>
                <a:sym typeface="+mn-ea"/>
              </a:rPr>
              <a:t>：即最大值运算，在MAP算法基础上通过减少格图搜索状态来达到简化的目的。Max-log-MAP对MAP所做的修改是在对数域里对一些函数进行计算，这样省去了很多的指数的运算和对数域的运算，很大程度上降低了运算的复杂度，大大简化了运算量；但是由于在计算过程有一些近似处理，所以Max-log-MAP算法不是最优的。</a:t>
            </a:r>
          </a:p>
        </p:txBody>
      </p:sp>
    </p:spTree>
    <p:custDataLst>
      <p:tags r:id="rId1"/>
    </p:custData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译码算法</a:t>
            </a:r>
          </a:p>
        </p:txBody>
      </p:sp>
      <p:sp>
        <p:nvSpPr>
          <p:cNvPr id="3" name="内容占位符 2"/>
          <p:cNvSpPr>
            <a:spLocks noGrp="1"/>
          </p:cNvSpPr>
          <p:nvPr>
            <p:ph idx="1"/>
          </p:nvPr>
        </p:nvSpPr>
        <p:spPr>
          <a:xfrm>
            <a:off x="608330" y="1490345"/>
            <a:ext cx="10909300" cy="3763010"/>
          </a:xfrm>
        </p:spPr>
        <p:txBody>
          <a:bodyPr>
            <a:normAutofit lnSpcReduction="10000"/>
          </a:bodyPr>
          <a:lstStyle/>
          <a:p>
            <a:r>
              <a:rPr lang="zh-CN" altLang="en-US" sz="2400" b="1" dirty="0">
                <a:solidFill>
                  <a:srgbClr val="FF0000"/>
                </a:solidFill>
                <a:uFillTx/>
                <a:latin typeface="Cambria Math" panose="02040503050406030204" pitchFamily="18" charset="0"/>
                <a:cs typeface="Cambria Math" panose="02040503050406030204" pitchFamily="18" charset="0"/>
                <a:sym typeface="+mn-ea"/>
              </a:rPr>
              <a:t>Log-MAP算法</a:t>
            </a:r>
            <a:r>
              <a:rPr lang="zh-CN" altLang="en-US" sz="2400" dirty="0">
                <a:uFillTx/>
                <a:latin typeface="Cambria Math" panose="02040503050406030204" pitchFamily="18" charset="0"/>
                <a:cs typeface="Cambria Math" panose="02040503050406030204" pitchFamily="18" charset="0"/>
                <a:sym typeface="+mn-ea"/>
              </a:rPr>
              <a:t>：即对数域算法，Robertson等人在Max-log-MAP算法基础上进行了一些修改，使得Log-MAP算法相比于Max-log-MAP算法只多了一些查表及加法运算，尽管提高了一点复杂度但是性能却得到很大的提高。</a:t>
            </a:r>
          </a:p>
          <a:p>
            <a:r>
              <a:rPr lang="zh-CN" altLang="en-US" sz="2400" b="1" dirty="0">
                <a:solidFill>
                  <a:srgbClr val="FF0000"/>
                </a:solidFill>
                <a:uFillTx/>
                <a:latin typeface="Cambria Math" panose="02040503050406030204" pitchFamily="18" charset="0"/>
                <a:cs typeface="Cambria Math" panose="02040503050406030204" pitchFamily="18" charset="0"/>
                <a:sym typeface="+mn-ea"/>
              </a:rPr>
              <a:t>SOVA算法</a:t>
            </a:r>
            <a:r>
              <a:rPr lang="zh-CN" altLang="en-US" sz="2400" dirty="0">
                <a:uFillTx/>
                <a:latin typeface="Cambria Math" panose="02040503050406030204" pitchFamily="18" charset="0"/>
                <a:cs typeface="Cambria Math" panose="02040503050406030204" pitchFamily="18" charset="0"/>
                <a:sym typeface="+mn-ea"/>
              </a:rPr>
              <a:t>：即软输出Viterbi译码，SOVA算法在标准Viterbi译码算法上进行了一些修改：在进行最大似然路径选择时必须参考其先验信息；不但需要给出每个比特译码的准确结果，还需要计算出每个比特译码的可靠性，通过一些计算从中获取一些关于译码比特的先验信息，从而为下次迭代做好准备，大大减小了运算量，但性能受到了损失，大约损失了1dB。</a:t>
            </a:r>
          </a:p>
        </p:txBody>
      </p:sp>
    </p:spTree>
    <p:custDataLst>
      <p:tags r:id="rId1"/>
    </p:custData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MAP</a:t>
            </a:r>
            <a:r>
              <a:rPr lang="zh-CN" altLang="en-US">
                <a:sym typeface="+mn-ea"/>
              </a:rPr>
              <a:t>译码算法</a:t>
            </a:r>
          </a:p>
        </p:txBody>
      </p:sp>
      <p:sp>
        <p:nvSpPr>
          <p:cNvPr id="3" name="内容占位符 2"/>
          <p:cNvSpPr>
            <a:spLocks noGrp="1"/>
          </p:cNvSpPr>
          <p:nvPr>
            <p:ph idx="1"/>
          </p:nvPr>
        </p:nvSpPr>
        <p:spPr>
          <a:xfrm>
            <a:off x="608330" y="1490345"/>
            <a:ext cx="10909300" cy="3841750"/>
          </a:xfrm>
        </p:spPr>
        <p:txBody>
          <a:bodyPr>
            <a:normAutofit/>
          </a:bodyPr>
          <a:lstStyle/>
          <a:p>
            <a:r>
              <a:rPr lang="zh-CN" altLang="en-US" sz="2400" dirty="0">
                <a:uFillTx/>
                <a:latin typeface="Cambria Math" panose="02040503050406030204" pitchFamily="18" charset="0"/>
                <a:cs typeface="Cambria Math" panose="02040503050406030204" pitchFamily="18" charset="0"/>
                <a:sym typeface="+mn-ea"/>
              </a:rPr>
              <a:t>MAP算法最初是用来估计无记忆噪声下的马尔可夫过程的，它是一种最优的算法。</a:t>
            </a:r>
          </a:p>
          <a:p>
            <a:r>
              <a:rPr lang="zh-CN" altLang="en-US" sz="2400" dirty="0">
                <a:uFillTx/>
                <a:latin typeface="Cambria Math" panose="02040503050406030204" pitchFamily="18" charset="0"/>
                <a:cs typeface="Cambria Math" panose="02040503050406030204" pitchFamily="18" charset="0"/>
                <a:sym typeface="+mn-ea"/>
              </a:rPr>
              <a:t>Bahl等人于1974年把它用于线性分组码和卷积码的译码中，在用于卷积码的译码时，对于给定接收序列</a:t>
            </a:r>
            <a:r>
              <a:rPr lang="zh-CN" altLang="en-US" sz="2400" i="1" dirty="0">
                <a:uFillTx/>
                <a:latin typeface="Times New Roman" panose="02020603050405020304" pitchFamily="18" charset="0"/>
                <a:cs typeface="Times New Roman" panose="02020603050405020304" pitchFamily="18" charset="0"/>
                <a:sym typeface="+mn-ea"/>
              </a:rPr>
              <a:t>Y</a:t>
            </a:r>
            <a:r>
              <a:rPr lang="zh-CN" altLang="en-US" sz="2400" dirty="0">
                <a:uFillTx/>
                <a:latin typeface="Cambria Math" panose="02040503050406030204" pitchFamily="18" charset="0"/>
                <a:cs typeface="Cambria Math" panose="02040503050406030204" pitchFamily="18" charset="0"/>
                <a:sym typeface="+mn-ea"/>
              </a:rPr>
              <a:t>，它不像Viterbi算法那样以栅格路径上的比特组错误最少为目的，而是以译码出来的符号</a:t>
            </a:r>
            <a:r>
              <a:rPr lang="zh-CN" altLang="en-US" sz="2400" i="1" dirty="0">
                <a:uFillTx/>
                <a:latin typeface="Times New Roman" panose="02020603050405020304" pitchFamily="18" charset="0"/>
                <a:cs typeface="Times New Roman" panose="02020603050405020304" pitchFamily="18" charset="0"/>
                <a:sym typeface="+mn-ea"/>
              </a:rPr>
              <a:t>X</a:t>
            </a:r>
            <a:r>
              <a:rPr lang="zh-CN" altLang="en-US" sz="2400" i="1" baseline="-25000" dirty="0">
                <a:uFillTx/>
                <a:latin typeface="Times New Roman" panose="02020603050405020304" pitchFamily="18" charset="0"/>
                <a:cs typeface="Times New Roman" panose="02020603050405020304" pitchFamily="18" charset="0"/>
                <a:sym typeface="+mn-ea"/>
              </a:rPr>
              <a:t>i</a:t>
            </a:r>
            <a:r>
              <a:rPr lang="zh-CN" altLang="en-US" sz="2400" dirty="0">
                <a:uFillTx/>
                <a:latin typeface="Times New Roman" panose="02020603050405020304" pitchFamily="18" charset="0"/>
                <a:cs typeface="Times New Roman" panose="02020603050405020304" pitchFamily="18" charset="0"/>
                <a:sym typeface="+mn-ea"/>
              </a:rPr>
              <a:t>%</a:t>
            </a:r>
            <a:r>
              <a:rPr lang="zh-CN" altLang="en-US" sz="2400" dirty="0">
                <a:uFillTx/>
                <a:latin typeface="Cambria Math" panose="02040503050406030204" pitchFamily="18" charset="0"/>
                <a:cs typeface="Cambria Math" panose="02040503050406030204" pitchFamily="18" charset="0"/>
                <a:sym typeface="+mn-ea"/>
              </a:rPr>
              <a:t>的错误最少为目的。</a:t>
            </a:r>
          </a:p>
          <a:p>
            <a:r>
              <a:rPr lang="zh-CN" altLang="en-US" sz="2400" dirty="0">
                <a:uFillTx/>
                <a:latin typeface="Cambria Math" panose="02040503050406030204" pitchFamily="18" charset="0"/>
                <a:cs typeface="Cambria Math" panose="02040503050406030204" pitchFamily="18" charset="0"/>
                <a:sym typeface="+mn-ea"/>
              </a:rPr>
              <a:t>由于在卷积码的译码中，MAP算法要考虑栅格图中的所有可能路径，这样运算量就非常大，实际系统中很少用到。</a:t>
            </a:r>
          </a:p>
        </p:txBody>
      </p:sp>
    </p:spTree>
    <p:custDataLst>
      <p:tags r:id="rId1"/>
    </p:custData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MAP</a:t>
            </a:r>
            <a:r>
              <a:rPr lang="zh-CN" altLang="en-US">
                <a:sym typeface="+mn-ea"/>
              </a:rPr>
              <a:t>译码算法</a:t>
            </a:r>
          </a:p>
        </p:txBody>
      </p:sp>
      <p:sp>
        <p:nvSpPr>
          <p:cNvPr id="3" name="内容占位符 2"/>
          <p:cNvSpPr>
            <a:spLocks noGrp="1"/>
          </p:cNvSpPr>
          <p:nvPr>
            <p:ph idx="1"/>
          </p:nvPr>
        </p:nvSpPr>
        <p:spPr>
          <a:xfrm>
            <a:off x="608330" y="1490345"/>
            <a:ext cx="10909300" cy="3055620"/>
          </a:xfrm>
        </p:spPr>
        <p:txBody>
          <a:bodyPr>
            <a:normAutofit lnSpcReduction="10000"/>
          </a:bodyPr>
          <a:lstStyle/>
          <a:p>
            <a:r>
              <a:rPr lang="zh-CN" altLang="en-US" sz="2400" dirty="0">
                <a:uFillTx/>
                <a:latin typeface="Cambria Math" panose="02040503050406030204" pitchFamily="18" charset="0"/>
                <a:cs typeface="Cambria Math" panose="02040503050406030204" pitchFamily="18" charset="0"/>
                <a:sym typeface="+mn-ea"/>
              </a:rPr>
              <a:t>虽然MAP算法早在1974年就被提出，但一直未被得到充分利用。</a:t>
            </a:r>
          </a:p>
          <a:p>
            <a:r>
              <a:rPr lang="zh-CN" altLang="en-US" sz="2400" dirty="0">
                <a:uFillTx/>
                <a:latin typeface="Cambria Math" panose="02040503050406030204" pitchFamily="18" charset="0"/>
                <a:cs typeface="Cambria Math" panose="02040503050406030204" pitchFamily="18" charset="0"/>
                <a:sym typeface="+mn-ea"/>
              </a:rPr>
              <a:t>1993年Turbo码被提出来，MAP算法被用于Turbo码的译码之后，这种算法才得到广泛的应用。</a:t>
            </a:r>
          </a:p>
          <a:p>
            <a:r>
              <a:rPr lang="zh-CN" altLang="en-US" sz="2400" dirty="0">
                <a:uFillTx/>
                <a:latin typeface="Cambria Math" panose="02040503050406030204" pitchFamily="18" charset="0"/>
                <a:cs typeface="Cambria Math" panose="02040503050406030204" pitchFamily="18" charset="0"/>
                <a:sym typeface="+mn-ea"/>
              </a:rPr>
              <a:t>MAP算法不仅能译出序列的比特值，在译码的同时还能输出关于每比特译出的可靠性信息。这种特点正好符合了Turbo码的迭代译码特性，因此，被用于Turbo码的译码中。 </a:t>
            </a:r>
          </a:p>
        </p:txBody>
      </p:sp>
    </p:spTree>
    <p:custDataLst>
      <p:tags r:id="rId1"/>
    </p:custData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迭代译码器</a:t>
            </a:r>
          </a:p>
        </p:txBody>
      </p:sp>
      <p:sp>
        <p:nvSpPr>
          <p:cNvPr id="3" name="内容占位符 2"/>
          <p:cNvSpPr>
            <a:spLocks noGrp="1"/>
          </p:cNvSpPr>
          <p:nvPr>
            <p:ph idx="1"/>
          </p:nvPr>
        </p:nvSpPr>
        <p:spPr>
          <a:xfrm>
            <a:off x="608330" y="1490345"/>
            <a:ext cx="10909300" cy="1095375"/>
          </a:xfrm>
        </p:spPr>
        <p:txBody>
          <a:bodyPr>
            <a:normAutofit/>
          </a:bodyPr>
          <a:lstStyle/>
          <a:p>
            <a:r>
              <a:rPr lang="zh-CN" altLang="en-US" sz="2400" dirty="0">
                <a:uFillTx/>
                <a:latin typeface="Cambria Math" panose="02040503050406030204" pitchFamily="18" charset="0"/>
                <a:cs typeface="Cambria Math" panose="02040503050406030204" pitchFamily="18" charset="0"/>
                <a:sym typeface="+mn-ea"/>
              </a:rPr>
              <a:t>假设速率 R＝1/3，即没有删余处理的并行级联码，它使用了两个SISO译码器(MAP 算法) </a:t>
            </a:r>
          </a:p>
        </p:txBody>
      </p:sp>
      <p:cxnSp>
        <p:nvCxnSpPr>
          <p:cNvPr id="50" name="直接箭头连接符 49"/>
          <p:cNvCxnSpPr/>
          <p:nvPr/>
        </p:nvCxnSpPr>
        <p:spPr>
          <a:xfrm>
            <a:off x="2371725" y="3948430"/>
            <a:ext cx="415290" cy="44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2371725" y="3960495"/>
            <a:ext cx="13335" cy="2205355"/>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2398395" y="6152515"/>
            <a:ext cx="2336165" cy="10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flipV="1">
            <a:off x="4738370" y="4084320"/>
            <a:ext cx="0" cy="20878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4738370" y="6153150"/>
            <a:ext cx="662940" cy="9525"/>
          </a:xfrm>
          <a:prstGeom prst="line">
            <a:avLst/>
          </a:prstGeom>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5371465" y="5904230"/>
            <a:ext cx="887730" cy="508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FFFFFF"/>
                </a:solidFill>
                <a:effectLst/>
                <a:uLnTx/>
                <a:uFillTx/>
                <a:latin typeface="Arial"/>
                <a:ea typeface="微软雅黑"/>
                <a:cs typeface="+mn-cs"/>
              </a:rPr>
              <a:t>解交织</a:t>
            </a:r>
          </a:p>
        </p:txBody>
      </p:sp>
      <p:cxnSp>
        <p:nvCxnSpPr>
          <p:cNvPr id="56" name="直接箭头连接符 55"/>
          <p:cNvCxnSpPr/>
          <p:nvPr/>
        </p:nvCxnSpPr>
        <p:spPr>
          <a:xfrm flipH="1">
            <a:off x="6238875" y="6248400"/>
            <a:ext cx="762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7" name="流程图: 或者 56"/>
          <p:cNvSpPr/>
          <p:nvPr/>
        </p:nvSpPr>
        <p:spPr>
          <a:xfrm>
            <a:off x="7000875" y="6069330"/>
            <a:ext cx="313055" cy="32639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58" name="直接箭头连接符 57"/>
          <p:cNvCxnSpPr/>
          <p:nvPr/>
        </p:nvCxnSpPr>
        <p:spPr>
          <a:xfrm flipH="1">
            <a:off x="7312660" y="6248400"/>
            <a:ext cx="144081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4979670" y="3957955"/>
            <a:ext cx="746760" cy="139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5726430" y="3764915"/>
            <a:ext cx="922655" cy="3917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FFFFFF"/>
                </a:solidFill>
                <a:effectLst/>
                <a:uLnTx/>
                <a:uFillTx/>
                <a:latin typeface="Arial"/>
                <a:ea typeface="微软雅黑"/>
                <a:cs typeface="+mn-cs"/>
              </a:rPr>
              <a:t>交织器</a:t>
            </a:r>
          </a:p>
        </p:txBody>
      </p:sp>
      <p:cxnSp>
        <p:nvCxnSpPr>
          <p:cNvPr id="61" name="直接箭头连接符 60"/>
          <p:cNvCxnSpPr/>
          <p:nvPr/>
        </p:nvCxnSpPr>
        <p:spPr>
          <a:xfrm>
            <a:off x="6548120" y="4026535"/>
            <a:ext cx="786765" cy="25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2" name="矩形 61"/>
          <p:cNvSpPr/>
          <p:nvPr/>
        </p:nvSpPr>
        <p:spPr>
          <a:xfrm>
            <a:off x="7381240" y="3774440"/>
            <a:ext cx="1122045" cy="3835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FFFFFF"/>
                </a:solidFill>
                <a:effectLst/>
                <a:uLnTx/>
                <a:uFillTx/>
                <a:latin typeface="Arial"/>
                <a:ea typeface="微软雅黑"/>
                <a:cs typeface="+mn-cs"/>
              </a:rPr>
              <a:t>译码器</a:t>
            </a:r>
            <a:r>
              <a:rPr kumimoji="0" lang="en-US" altLang="zh-CN" sz="1800" b="0" i="0" u="none" strike="noStrike" kern="1200" cap="none" spc="0" normalizeH="0" baseline="0" noProof="0">
                <a:ln>
                  <a:noFill/>
                </a:ln>
                <a:solidFill>
                  <a:srgbClr val="FFFFFF"/>
                </a:solidFill>
                <a:effectLst/>
                <a:uLnTx/>
                <a:uFillTx/>
                <a:latin typeface="Arial"/>
                <a:ea typeface="微软雅黑"/>
                <a:cs typeface="+mn-cs"/>
              </a:rPr>
              <a:t>2</a:t>
            </a:r>
          </a:p>
        </p:txBody>
      </p:sp>
      <p:cxnSp>
        <p:nvCxnSpPr>
          <p:cNvPr id="63" name="直接箭头连接符 62"/>
          <p:cNvCxnSpPr/>
          <p:nvPr/>
        </p:nvCxnSpPr>
        <p:spPr>
          <a:xfrm flipH="1">
            <a:off x="8361680" y="2564765"/>
            <a:ext cx="12700" cy="12001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flipH="1">
            <a:off x="8030210" y="2510155"/>
            <a:ext cx="10795" cy="5187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8053705" y="3438525"/>
            <a:ext cx="0" cy="3130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6" name="矩形 65"/>
          <p:cNvSpPr/>
          <p:nvPr/>
        </p:nvSpPr>
        <p:spPr>
          <a:xfrm>
            <a:off x="7334885" y="3032125"/>
            <a:ext cx="908050"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FFFFFF"/>
                </a:solidFill>
                <a:effectLst/>
                <a:uLnTx/>
                <a:uFillTx/>
                <a:latin typeface="Arial"/>
                <a:ea typeface="微软雅黑"/>
                <a:cs typeface="+mn-cs"/>
              </a:rPr>
              <a:t>交织器</a:t>
            </a:r>
          </a:p>
        </p:txBody>
      </p:sp>
      <p:cxnSp>
        <p:nvCxnSpPr>
          <p:cNvPr id="67" name="直接箭头连接符 66"/>
          <p:cNvCxnSpPr>
            <a:stCxn id="62" idx="3"/>
          </p:cNvCxnSpPr>
          <p:nvPr/>
        </p:nvCxnSpPr>
        <p:spPr>
          <a:xfrm flipV="1">
            <a:off x="8427720" y="3959225"/>
            <a:ext cx="678180" cy="69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8" name="矩形 67"/>
          <p:cNvSpPr/>
          <p:nvPr/>
        </p:nvSpPr>
        <p:spPr>
          <a:xfrm>
            <a:off x="9181465" y="3712845"/>
            <a:ext cx="871855" cy="4432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FFFFFF"/>
                </a:solidFill>
                <a:effectLst/>
                <a:uLnTx/>
                <a:uFillTx/>
                <a:latin typeface="Arial"/>
                <a:ea typeface="微软雅黑"/>
                <a:cs typeface="+mn-cs"/>
              </a:rPr>
              <a:t>解交织</a:t>
            </a:r>
          </a:p>
        </p:txBody>
      </p:sp>
      <p:cxnSp>
        <p:nvCxnSpPr>
          <p:cNvPr id="69" name="直接箭头连接符 68"/>
          <p:cNvCxnSpPr>
            <a:stCxn id="68" idx="3"/>
          </p:cNvCxnSpPr>
          <p:nvPr/>
        </p:nvCxnSpPr>
        <p:spPr>
          <a:xfrm flipV="1">
            <a:off x="9977755" y="3933825"/>
            <a:ext cx="348615" cy="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8495030" y="4157980"/>
            <a:ext cx="2609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8753475" y="4158615"/>
            <a:ext cx="0" cy="2089785"/>
          </a:xfrm>
          <a:prstGeom prst="line">
            <a:avLst/>
          </a:prstGeom>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2803525" y="3712845"/>
            <a:ext cx="1019810" cy="508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FFFFFF"/>
                </a:solidFill>
                <a:effectLst/>
                <a:uLnTx/>
                <a:uFillTx/>
                <a:latin typeface="Arial"/>
                <a:ea typeface="微软雅黑"/>
                <a:cs typeface="+mn-cs"/>
              </a:rPr>
              <a:t>译码器</a:t>
            </a:r>
            <a:r>
              <a:rPr kumimoji="0" lang="en-US" altLang="zh-CN" sz="1800" b="0" i="0" u="none" strike="noStrike" kern="1200" cap="none" spc="0" normalizeH="0" baseline="0" noProof="0">
                <a:ln>
                  <a:noFill/>
                </a:ln>
                <a:solidFill>
                  <a:srgbClr val="FFFFFF"/>
                </a:solidFill>
                <a:effectLst/>
                <a:uLnTx/>
                <a:uFillTx/>
                <a:latin typeface="Arial"/>
                <a:ea typeface="微软雅黑"/>
                <a:cs typeface="+mn-cs"/>
              </a:rPr>
              <a:t>1</a:t>
            </a:r>
          </a:p>
        </p:txBody>
      </p:sp>
      <p:cxnSp>
        <p:nvCxnSpPr>
          <p:cNvPr id="73" name="直接箭头连接符 72"/>
          <p:cNvCxnSpPr>
            <a:stCxn id="72" idx="3"/>
          </p:cNvCxnSpPr>
          <p:nvPr/>
        </p:nvCxnSpPr>
        <p:spPr>
          <a:xfrm flipV="1">
            <a:off x="3747770" y="3962400"/>
            <a:ext cx="673100" cy="5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4" name="流程图: 或者 73"/>
          <p:cNvSpPr/>
          <p:nvPr/>
        </p:nvSpPr>
        <p:spPr>
          <a:xfrm>
            <a:off x="4496435" y="3774440"/>
            <a:ext cx="483235" cy="351790"/>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75" name="文本框 74"/>
              <p:cNvSpPr txBox="1"/>
              <p:nvPr/>
            </p:nvSpPr>
            <p:spPr>
              <a:xfrm>
                <a:off x="2606675" y="5720080"/>
                <a:ext cx="1186815" cy="4203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𝑒</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(2)</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𝑢</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75" name="文本框 74"/>
              <p:cNvSpPr txBox="1">
                <a:spLocks noRot="1" noChangeAspect="1" noMove="1" noResize="1" noEditPoints="1" noAdjustHandles="1" noChangeArrowheads="1" noChangeShapeType="1" noTextEdit="1"/>
              </p:cNvSpPr>
              <p:nvPr/>
            </p:nvSpPr>
            <p:spPr>
              <a:xfrm>
                <a:off x="2606675" y="5720080"/>
                <a:ext cx="1186815" cy="420370"/>
              </a:xfrm>
              <a:prstGeom prst="rect">
                <a:avLst/>
              </a:prstGeom>
              <a:blipFill rotWithShape="1">
                <a:blip r:embed="rId3"/>
                <a:stretch>
                  <a:fillRect/>
                </a:stretch>
              </a:blipFill>
            </p:spPr>
            <p:txBody>
              <a:bodyPr/>
              <a:lstStyle/>
              <a:p>
                <a:r>
                  <a:rPr lang="zh-CN" altLang="en-US">
                    <a:noFill/>
                  </a:rPr>
                  <a:t> </a:t>
                </a:r>
              </a:p>
            </p:txBody>
          </p:sp>
        </mc:Fallback>
      </mc:AlternateContent>
      <p:sp>
        <p:nvSpPr>
          <p:cNvPr id="76" name="文本框 75"/>
          <p:cNvSpPr txBox="1"/>
          <p:nvPr/>
        </p:nvSpPr>
        <p:spPr>
          <a:xfrm>
            <a:off x="4315460" y="4074795"/>
            <a:ext cx="4438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Arial"/>
                <a:ea typeface="微软雅黑"/>
                <a:cs typeface="+mn-cs"/>
              </a:rPr>
              <a:t>+</a:t>
            </a:r>
          </a:p>
        </p:txBody>
      </p:sp>
      <p:sp>
        <p:nvSpPr>
          <p:cNvPr id="77" name="文本框 76"/>
          <p:cNvSpPr txBox="1"/>
          <p:nvPr/>
        </p:nvSpPr>
        <p:spPr>
          <a:xfrm>
            <a:off x="4979670" y="4084320"/>
            <a:ext cx="39179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Arial"/>
                <a:ea typeface="微软雅黑"/>
                <a:cs typeface="+mn-cs"/>
              </a:rPr>
              <a:t>-</a:t>
            </a:r>
          </a:p>
        </p:txBody>
      </p:sp>
      <p:cxnSp>
        <p:nvCxnSpPr>
          <p:cNvPr id="78" name="直接箭头连接符 77"/>
          <p:cNvCxnSpPr>
            <a:stCxn id="81" idx="2"/>
          </p:cNvCxnSpPr>
          <p:nvPr/>
        </p:nvCxnSpPr>
        <p:spPr>
          <a:xfrm flipH="1">
            <a:off x="2832735" y="3451860"/>
            <a:ext cx="635" cy="2235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a:xfrm>
            <a:off x="3498850" y="3416935"/>
            <a:ext cx="0" cy="2578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p:nvPr/>
        </p:nvCxnSpPr>
        <p:spPr>
          <a:xfrm flipH="1">
            <a:off x="4184015" y="3470275"/>
            <a:ext cx="12700" cy="482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文本框 80"/>
              <p:cNvSpPr txBox="1"/>
              <p:nvPr/>
            </p:nvSpPr>
            <p:spPr>
              <a:xfrm>
                <a:off x="2398395" y="3021965"/>
                <a:ext cx="869950" cy="4298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𝑐</m:t>
                          </m:r>
                        </m:sub>
                      </m:sSub>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𝑟</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(0)</m:t>
                          </m:r>
                        </m:sup>
                      </m:sSubSup>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81" name="文本框 80"/>
              <p:cNvSpPr txBox="1">
                <a:spLocks noRot="1" noChangeAspect="1" noMove="1" noResize="1" noEditPoints="1" noAdjustHandles="1" noChangeArrowheads="1" noChangeShapeType="1" noTextEdit="1"/>
              </p:cNvSpPr>
              <p:nvPr/>
            </p:nvSpPr>
            <p:spPr>
              <a:xfrm>
                <a:off x="2398395" y="3021965"/>
                <a:ext cx="869950" cy="42989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p:cNvSpPr txBox="1"/>
              <p:nvPr/>
            </p:nvSpPr>
            <p:spPr>
              <a:xfrm>
                <a:off x="3155315" y="3021965"/>
                <a:ext cx="638175" cy="4298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𝑐</m:t>
                          </m:r>
                        </m:sub>
                      </m:sSub>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𝑟</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p>
                      </m:sSubSup>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82" name="文本框 81"/>
              <p:cNvSpPr txBox="1">
                <a:spLocks noRot="1" noChangeAspect="1" noMove="1" noResize="1" noEditPoints="1" noAdjustHandles="1" noChangeArrowheads="1" noChangeShapeType="1" noTextEdit="1"/>
              </p:cNvSpPr>
              <p:nvPr/>
            </p:nvSpPr>
            <p:spPr>
              <a:xfrm>
                <a:off x="3155315" y="3021965"/>
                <a:ext cx="638175" cy="429895"/>
              </a:xfrm>
              <a:prstGeom prst="rect">
                <a:avLst/>
              </a:prstGeom>
              <a:blipFill rotWithShape="1">
                <a:blip r:embed="rId5"/>
                <a:stretch>
                  <a:fillRect r="-25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p:cNvSpPr txBox="1"/>
              <p:nvPr/>
            </p:nvSpPr>
            <p:spPr>
              <a:xfrm>
                <a:off x="3823335" y="3096895"/>
                <a:ext cx="1857375" cy="4298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p>
                      </m:s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𝑢</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𝑐</m:t>
                          </m:r>
                        </m:sub>
                      </m:sSub>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𝑟</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(0)</m:t>
                          </m:r>
                        </m:sup>
                      </m:sSubSup>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84" name="文本框 83"/>
              <p:cNvSpPr txBox="1">
                <a:spLocks noRot="1" noChangeAspect="1" noMove="1" noResize="1" noEditPoints="1" noAdjustHandles="1" noChangeArrowheads="1" noChangeShapeType="1" noTextEdit="1"/>
              </p:cNvSpPr>
              <p:nvPr/>
            </p:nvSpPr>
            <p:spPr>
              <a:xfrm>
                <a:off x="3823335" y="3096895"/>
                <a:ext cx="1857375" cy="429895"/>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p:cNvSpPr txBox="1"/>
              <p:nvPr/>
            </p:nvSpPr>
            <p:spPr>
              <a:xfrm>
                <a:off x="4894580" y="3566160"/>
                <a:ext cx="561975" cy="4203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𝑒</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𝑢</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oMath>
                  </m:oMathPara>
                </a14:m>
                <a:endParaRPr kumimoji="0" lang="zh-CN" altLang="en-US" sz="12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85" name="文本框 84"/>
              <p:cNvSpPr txBox="1">
                <a:spLocks noRot="1" noChangeAspect="1" noMove="1" noResize="1" noEditPoints="1" noAdjustHandles="1" noChangeArrowheads="1" noChangeShapeType="1" noTextEdit="1"/>
              </p:cNvSpPr>
              <p:nvPr/>
            </p:nvSpPr>
            <p:spPr>
              <a:xfrm>
                <a:off x="4894580" y="3566160"/>
                <a:ext cx="561975" cy="420370"/>
              </a:xfrm>
              <a:prstGeom prst="rect">
                <a:avLst/>
              </a:prstGeom>
              <a:blipFill rotWithShape="1">
                <a:blip r:embed="rId7"/>
                <a:stretch>
                  <a:fillRect r="-563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p:cNvSpPr txBox="1"/>
              <p:nvPr/>
            </p:nvSpPr>
            <p:spPr>
              <a:xfrm>
                <a:off x="6548120" y="3547110"/>
                <a:ext cx="723900" cy="4203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𝑒</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𝑢</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86" name="文本框 85"/>
              <p:cNvSpPr txBox="1">
                <a:spLocks noRot="1" noChangeAspect="1" noMove="1" noResize="1" noEditPoints="1" noAdjustHandles="1" noChangeArrowheads="1" noChangeShapeType="1" noTextEdit="1"/>
              </p:cNvSpPr>
              <p:nvPr/>
            </p:nvSpPr>
            <p:spPr>
              <a:xfrm>
                <a:off x="6548120" y="3547110"/>
                <a:ext cx="723900" cy="420370"/>
              </a:xfrm>
              <a:prstGeom prst="rect">
                <a:avLst/>
              </a:prstGeom>
              <a:blipFill rotWithShape="1">
                <a:blip r:embed="rId7"/>
                <a:stretch>
                  <a:fillRect r="-214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p:cNvSpPr txBox="1"/>
              <p:nvPr/>
            </p:nvSpPr>
            <p:spPr>
              <a:xfrm>
                <a:off x="8348345" y="3397250"/>
                <a:ext cx="638175" cy="6496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(2)</m:t>
                          </m:r>
                        </m:sup>
                      </m:s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𝑢</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87" name="文本框 86"/>
              <p:cNvSpPr txBox="1">
                <a:spLocks noRot="1" noChangeAspect="1" noMove="1" noResize="1" noEditPoints="1" noAdjustHandles="1" noChangeArrowheads="1" noChangeShapeType="1" noTextEdit="1"/>
              </p:cNvSpPr>
              <p:nvPr/>
            </p:nvSpPr>
            <p:spPr>
              <a:xfrm>
                <a:off x="8348345" y="3397250"/>
                <a:ext cx="638175" cy="649605"/>
              </a:xfrm>
              <a:prstGeom prst="rect">
                <a:avLst/>
              </a:prstGeom>
              <a:blipFill rotWithShape="1">
                <a:blip r:embed="rId8"/>
                <a:stretch>
                  <a:fillRect r="-377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p:cNvSpPr txBox="1"/>
              <p:nvPr/>
            </p:nvSpPr>
            <p:spPr>
              <a:xfrm>
                <a:off x="7209155" y="5748655"/>
                <a:ext cx="1647825" cy="3917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p>
                          <m: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(2)</m:t>
                          </m:r>
                        </m:sup>
                      </m:sSup>
                      <m: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𝑢</m:t>
                          </m:r>
                        </m:e>
                        <m:sub>
                          <m: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Sub>
                      <m: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b>
                          <m: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𝑐</m:t>
                          </m:r>
                        </m:sub>
                      </m:sSub>
                      <m:sSubSup>
                        <m:sSubSupPr>
                          <m:ctrlP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𝑟</m:t>
                          </m:r>
                        </m:e>
                        <m:sub>
                          <m: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up>
                          <m:r>
                            <a:rPr kumimoji="0" lang="en-US" altLang="zh-CN" sz="16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(0)</m:t>
                          </m:r>
                        </m:sup>
                      </m:sSubSup>
                    </m:oMath>
                  </m:oMathPara>
                </a14:m>
                <a:endParaRPr kumimoji="0" lang="zh-CN" altLang="en-US" sz="16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88" name="文本框 87"/>
              <p:cNvSpPr txBox="1">
                <a:spLocks noRot="1" noChangeAspect="1" noMove="1" noResize="1" noEditPoints="1" noAdjustHandles="1" noChangeArrowheads="1" noChangeShapeType="1" noTextEdit="1"/>
              </p:cNvSpPr>
              <p:nvPr/>
            </p:nvSpPr>
            <p:spPr>
              <a:xfrm>
                <a:off x="7209155" y="5748655"/>
                <a:ext cx="1647825" cy="391795"/>
              </a:xfrm>
              <a:prstGeom prst="rect">
                <a:avLst/>
              </a:prstGeom>
              <a:blipFill rotWithShape="1">
                <a:blip r:embed="rId9"/>
                <a:stretch>
                  <a:fillRect/>
                </a:stretch>
              </a:blipFill>
            </p:spPr>
            <p:txBody>
              <a:bodyPr/>
              <a:lstStyle/>
              <a:p>
                <a:r>
                  <a:rPr lang="zh-CN" altLang="en-US">
                    <a:noFill/>
                  </a:rPr>
                  <a:t> </a:t>
                </a:r>
              </a:p>
            </p:txBody>
          </p:sp>
        </mc:Fallback>
      </mc:AlternateContent>
      <p:sp>
        <p:nvSpPr>
          <p:cNvPr id="89" name="文本框 88"/>
          <p:cNvSpPr txBox="1"/>
          <p:nvPr/>
        </p:nvSpPr>
        <p:spPr>
          <a:xfrm>
            <a:off x="7272020" y="5974715"/>
            <a:ext cx="32321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Arial"/>
                <a:ea typeface="微软雅黑"/>
                <a:cs typeface="+mn-cs"/>
              </a:rPr>
              <a:t>+</a:t>
            </a:r>
          </a:p>
        </p:txBody>
      </p:sp>
      <p:cxnSp>
        <p:nvCxnSpPr>
          <p:cNvPr id="90" name="直接箭头连接符 89"/>
          <p:cNvCxnSpPr/>
          <p:nvPr/>
        </p:nvCxnSpPr>
        <p:spPr>
          <a:xfrm>
            <a:off x="7153275" y="4038600"/>
            <a:ext cx="13335" cy="20307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1" name="文本框 90"/>
          <p:cNvSpPr txBox="1"/>
          <p:nvPr/>
        </p:nvSpPr>
        <p:spPr>
          <a:xfrm>
            <a:off x="7000240" y="5486400"/>
            <a:ext cx="15303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Arial"/>
                <a:ea typeface="微软雅黑"/>
                <a:cs typeface="+mn-cs"/>
              </a:rPr>
              <a:t>-</a:t>
            </a:r>
          </a:p>
        </p:txBody>
      </p:sp>
      <mc:AlternateContent xmlns:mc="http://schemas.openxmlformats.org/markup-compatibility/2006" xmlns:a14="http://schemas.microsoft.com/office/drawing/2010/main">
        <mc:Choice Requires="a14">
          <p:sp>
            <p:nvSpPr>
              <p:cNvPr id="92" name="文本框 91"/>
              <p:cNvSpPr txBox="1"/>
              <p:nvPr/>
            </p:nvSpPr>
            <p:spPr>
              <a:xfrm>
                <a:off x="6162675" y="5715000"/>
                <a:ext cx="600075" cy="4203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𝑒</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(2)</m:t>
                          </m:r>
                        </m:sup>
                      </m:sSub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𝑢</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92" name="文本框 91"/>
              <p:cNvSpPr txBox="1">
                <a:spLocks noRot="1" noChangeAspect="1" noMove="1" noResize="1" noEditPoints="1" noAdjustHandles="1" noChangeArrowheads="1" noChangeShapeType="1" noTextEdit="1"/>
              </p:cNvSpPr>
              <p:nvPr/>
            </p:nvSpPr>
            <p:spPr>
              <a:xfrm>
                <a:off x="6162675" y="5715000"/>
                <a:ext cx="600075" cy="420370"/>
              </a:xfrm>
              <a:prstGeom prst="rect">
                <a:avLst/>
              </a:prstGeom>
              <a:blipFill rotWithShape="1">
                <a:blip r:embed="rId10"/>
                <a:stretch>
                  <a:fillRect r="-46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p:cNvSpPr txBox="1"/>
              <p:nvPr/>
            </p:nvSpPr>
            <p:spPr>
              <a:xfrm>
                <a:off x="7381240" y="2379980"/>
                <a:ext cx="869950" cy="4298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𝑐</m:t>
                          </m:r>
                        </m:sub>
                      </m:sSub>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𝑟</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(0)</m:t>
                          </m:r>
                        </m:sup>
                      </m:sSubSup>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93" name="文本框 92"/>
              <p:cNvSpPr txBox="1">
                <a:spLocks noRot="1" noChangeAspect="1" noMove="1" noResize="1" noEditPoints="1" noAdjustHandles="1" noChangeArrowheads="1" noChangeShapeType="1" noTextEdit="1"/>
              </p:cNvSpPr>
              <p:nvPr/>
            </p:nvSpPr>
            <p:spPr>
              <a:xfrm>
                <a:off x="7381240" y="2379980"/>
                <a:ext cx="869950" cy="42989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本框 93"/>
              <p:cNvSpPr txBox="1"/>
              <p:nvPr/>
            </p:nvSpPr>
            <p:spPr>
              <a:xfrm>
                <a:off x="8251190" y="2456180"/>
                <a:ext cx="869950" cy="4298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𝑐</m:t>
                          </m:r>
                        </m:sub>
                      </m:sSub>
                      <m:sSubSup>
                        <m:sSubSup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𝑟</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(2)</m:t>
                          </m:r>
                        </m:sup>
                      </m:sSubSup>
                    </m:oMath>
                  </m:oMathPara>
                </a14:m>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mc:Choice>
        <mc:Fallback xmlns="">
          <p:sp>
            <p:nvSpPr>
              <p:cNvPr id="94" name="文本框 93"/>
              <p:cNvSpPr txBox="1">
                <a:spLocks noRot="1" noChangeAspect="1" noMove="1" noResize="1" noEditPoints="1" noAdjustHandles="1" noChangeArrowheads="1" noChangeShapeType="1" noTextEdit="1"/>
              </p:cNvSpPr>
              <p:nvPr/>
            </p:nvSpPr>
            <p:spPr>
              <a:xfrm>
                <a:off x="8251190" y="2456180"/>
                <a:ext cx="869950" cy="429895"/>
              </a:xfrm>
              <a:prstGeom prst="rect">
                <a:avLst/>
              </a:prstGeom>
              <a:blipFill rotWithShape="1">
                <a:blip r:embed="rId11"/>
                <a:stretch>
                  <a:fillRect/>
                </a:stretch>
              </a:blipFill>
            </p:spPr>
            <p:txBody>
              <a:bodyPr/>
              <a:lstStyle/>
              <a:p>
                <a:r>
                  <a:rPr lang="zh-CN" altLang="en-US">
                    <a:noFill/>
                  </a:rPr>
                  <a:t> </a:t>
                </a:r>
              </a:p>
            </p:txBody>
          </p:sp>
        </mc:Fallback>
      </mc:AlternateContent>
    </p:spTree>
    <p:custDataLst>
      <p:tags r:id="rId1"/>
    </p:custData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MAP</a:t>
            </a:r>
            <a:r>
              <a:rPr lang="zh-CN" altLang="en-US">
                <a:sym typeface="+mn-ea"/>
              </a:rPr>
              <a:t>译码算法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08330" y="1490345"/>
                <a:ext cx="10909300" cy="2886075"/>
              </a:xfrm>
            </p:spPr>
            <p:txBody>
              <a:bodyPr>
                <a:normAutofit fontScale="92500"/>
              </a:bodyPr>
              <a:lstStyle/>
              <a:p>
                <a:r>
                  <a:rPr lang="zh-CN" altLang="en-US" sz="2400" dirty="0">
                    <a:uFillTx/>
                    <a:latin typeface="Cambria Math" panose="02040503050406030204" pitchFamily="18" charset="0"/>
                    <a:cs typeface="Cambria Math" panose="02040503050406030204" pitchFamily="18" charset="0"/>
                    <a:sym typeface="+mn-ea"/>
                  </a:rPr>
                  <a:t>每个时间单元，从信道接收到三个输出值，一个是对应着信息比特</a:t>
                </a:r>
                <a14:m>
                  <m:oMath xmlns:m="http://schemas.openxmlformats.org/officeDocument/2006/math">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oMath>
                </a14:m>
                <a:br>
                  <a:rPr lang="en-US" altLang="zh-CN" sz="2400" i="1">
                    <a:latin typeface="Cambria Math" panose="02040503050406030204" pitchFamily="18" charset="0"/>
                    <a:cs typeface="Cambria Math" panose="02040503050406030204" pitchFamily="18" charset="0"/>
                  </a:rPr>
                </a:b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𝑣</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(0)</m:t>
                        </m:r>
                      </m:sup>
                    </m:sSubSup>
                  </m:oMath>
                </a14:m>
                <a:r>
                  <a:rPr lang="zh-CN" altLang="en-US" sz="2400" dirty="0">
                    <a:uFillTx/>
                    <a:latin typeface="Cambria Math" panose="02040503050406030204" pitchFamily="18" charset="0"/>
                    <a:cs typeface="Cambria Math" panose="02040503050406030204" pitchFamily="18" charset="0"/>
                    <a:sym typeface="+mn-ea"/>
                  </a:rPr>
                  <a:t>，用</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(0)</m:t>
                        </m:r>
                      </m:sup>
                    </m:sSubSup>
                  </m:oMath>
                </a14:m>
                <a:r>
                  <a:rPr lang="zh-CN" altLang="en-US" sz="2400" dirty="0">
                    <a:uFillTx/>
                    <a:latin typeface="Cambria Math" panose="02040503050406030204" pitchFamily="18" charset="0"/>
                    <a:cs typeface="Cambria Math" panose="02040503050406030204" pitchFamily="18" charset="0"/>
                    <a:sym typeface="+mn-ea"/>
                  </a:rPr>
                  <a:t>表示，其他两个对应着校验比特</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𝑣</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(1)</m:t>
                        </m:r>
                      </m:sup>
                    </m:sSubSup>
                  </m:oMath>
                </a14:m>
                <a:r>
                  <a:rPr lang="zh-CN" altLang="en-US" sz="2400" dirty="0">
                    <a:uFillTx/>
                    <a:latin typeface="Cambria Math" panose="02040503050406030204" pitchFamily="18" charset="0"/>
                    <a:cs typeface="Cambria Math" panose="02040503050406030204" pitchFamily="18" charset="0"/>
                    <a:sym typeface="+mn-ea"/>
                  </a:rPr>
                  <a:t>和</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𝑣</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(2)</m:t>
                        </m:r>
                      </m:sup>
                    </m:sSubSup>
                  </m:oMath>
                </a14:m>
                <a:r>
                  <a:rPr lang="zh-CN" altLang="en-US" sz="2400" dirty="0">
                    <a:uFillTx/>
                    <a:latin typeface="Cambria Math" panose="02040503050406030204" pitchFamily="18" charset="0"/>
                    <a:cs typeface="Cambria Math" panose="02040503050406030204" pitchFamily="18" charset="0"/>
                    <a:sym typeface="+mn-ea"/>
                  </a:rPr>
                  <a:t>，分别用</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(1)</m:t>
                        </m:r>
                      </m:sup>
                    </m:sSubSup>
                  </m:oMath>
                </a14:m>
                <a:r>
                  <a:rPr lang="zh-CN" altLang="en-US" sz="2400" dirty="0">
                    <a:uFillTx/>
                    <a:latin typeface="Cambria Math" panose="02040503050406030204" pitchFamily="18" charset="0"/>
                    <a:cs typeface="Cambria Math" panose="02040503050406030204" pitchFamily="18" charset="0"/>
                    <a:sym typeface="+mn-ea"/>
                  </a:rPr>
                  <a:t>和</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a:latin typeface="Cambria Math" panose="02040503050406030204" pitchFamily="18" charset="0"/>
                            <a:cs typeface="Cambria Math" panose="02040503050406030204" pitchFamily="18" charset="0"/>
                          </a:rPr>
                          <m:t>𝑟</m:t>
                        </m:r>
                      </m:e>
                      <m:sub>
                        <m:r>
                          <a:rPr lang="en-US" altLang="zh-CN" sz="2400">
                            <a:latin typeface="Cambria Math" panose="02040503050406030204" pitchFamily="18" charset="0"/>
                            <a:cs typeface="Cambria Math" panose="02040503050406030204" pitchFamily="18" charset="0"/>
                          </a:rPr>
                          <m:t>1</m:t>
                        </m:r>
                      </m:sub>
                      <m:sup>
                        <m:r>
                          <a:rPr lang="en-US" altLang="zh-CN" sz="2400">
                            <a:latin typeface="Cambria Math" panose="02040503050406030204" pitchFamily="18" charset="0"/>
                            <a:cs typeface="Cambria Math" panose="02040503050406030204" pitchFamily="18" charset="0"/>
                          </a:rPr>
                          <m:t>(2</m:t>
                        </m:r>
                        <m:r>
                          <a:rPr lang="en-US" altLang="zh-CN" sz="2400" b="0" i="1" smtClean="0">
                            <a:latin typeface="Cambria Math" panose="02040503050406030204" pitchFamily="18" charset="0"/>
                            <a:cs typeface="Cambria Math" panose="02040503050406030204" pitchFamily="18" charset="0"/>
                          </a:rPr>
                          <m:t>)</m:t>
                        </m:r>
                      </m:sup>
                    </m:sSubSup>
                  </m:oMath>
                </a14:m>
                <a:r>
                  <a:rPr lang="zh-CN" altLang="en-US" sz="2400" dirty="0">
                    <a:uFillTx/>
                    <a:latin typeface="Cambria Math" panose="02040503050406030204" pitchFamily="18" charset="0"/>
                    <a:cs typeface="Cambria Math" panose="02040503050406030204" pitchFamily="18" charset="0"/>
                    <a:sym typeface="+mn-ea"/>
                  </a:rPr>
                  <a:t>表示，这样接收到的向量</a:t>
                </a:r>
                <a:r>
                  <a:rPr lang="en-US" altLang="zh-CN" sz="2400" dirty="0">
                    <a:uFillTx/>
                    <a:latin typeface="Cambria Math" panose="02040503050406030204" pitchFamily="18" charset="0"/>
                    <a:cs typeface="Cambria Math" panose="02040503050406030204" pitchFamily="18" charset="0"/>
                    <a:sym typeface="+mn-ea"/>
                  </a:rPr>
                  <a:t>(</a:t>
                </a:r>
                <a:r>
                  <a:rPr lang="zh-CN" altLang="en-US" sz="2400" dirty="0">
                    <a:uFillTx/>
                    <a:latin typeface="Times New Roman" panose="02020603050405020304" pitchFamily="18" charset="0"/>
                    <a:cs typeface="Times New Roman" panose="02020603050405020304" pitchFamily="18" charset="0"/>
                    <a:sym typeface="+mn-ea"/>
                  </a:rPr>
                  <a:t>3</a:t>
                </a:r>
                <a:r>
                  <a:rPr lang="zh-CN" altLang="en-US" sz="2400" i="1" dirty="0">
                    <a:uFillTx/>
                    <a:latin typeface="Times New Roman" panose="02020603050405020304" pitchFamily="18" charset="0"/>
                    <a:cs typeface="Times New Roman" panose="02020603050405020304" pitchFamily="18" charset="0"/>
                    <a:sym typeface="+mn-ea"/>
                  </a:rPr>
                  <a:t>K</a:t>
                </a:r>
                <a:r>
                  <a:rPr lang="zh-CN" altLang="en-US" sz="2400" dirty="0">
                    <a:uFillTx/>
                    <a:latin typeface="Cambria Math" panose="02040503050406030204" pitchFamily="18" charset="0"/>
                    <a:cs typeface="Cambria Math" panose="02040503050406030204" pitchFamily="18" charset="0"/>
                    <a:sym typeface="+mn-ea"/>
                  </a:rPr>
                  <a:t>维</a:t>
                </a:r>
                <a:r>
                  <a:rPr lang="en-US" altLang="zh-CN" sz="2400" dirty="0">
                    <a:uFillTx/>
                    <a:latin typeface="Cambria Math" panose="02040503050406030204" pitchFamily="18" charset="0"/>
                    <a:cs typeface="Cambria Math" panose="02040503050406030204" pitchFamily="18" charset="0"/>
                    <a:sym typeface="+mn-ea"/>
                  </a:rPr>
                  <a:t>)</a:t>
                </a:r>
                <a:r>
                  <a:rPr lang="zh-CN" altLang="en-US" sz="2400" dirty="0">
                    <a:uFillTx/>
                    <a:latin typeface="Cambria Math" panose="02040503050406030204" pitchFamily="18" charset="0"/>
                    <a:cs typeface="Cambria Math" panose="02040503050406030204" pitchFamily="18" charset="0"/>
                    <a:sym typeface="+mn-ea"/>
                  </a:rPr>
                  <a:t>为</a:t>
                </a:r>
                <a14:m>
                  <m:oMath xmlns:m="http://schemas.openxmlformats.org/officeDocument/2006/math">
                    <m:r>
                      <a:rPr lang="en-US" altLang="zh-CN" sz="2400" i="1">
                        <a:latin typeface="Cambria Math" panose="02040503050406030204" pitchFamily="18" charset="0"/>
                        <a:cs typeface="Cambria Math" panose="02040503050406030204" pitchFamily="18" charset="0"/>
                      </a:rPr>
                      <m:t>𝑟</m:t>
                    </m:r>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0</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0</m:t>
                            </m:r>
                          </m:e>
                        </m:d>
                      </m:sup>
                    </m:sSubSup>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0</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1</m:t>
                            </m:r>
                          </m:e>
                        </m:d>
                      </m:sup>
                    </m:sSubSup>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0</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2</m:t>
                            </m:r>
                          </m:e>
                        </m:d>
                      </m:sup>
                    </m:sSubSup>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0</m:t>
                            </m:r>
                          </m:e>
                        </m:d>
                      </m:sup>
                    </m:sSubSup>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1</m:t>
                            </m:r>
                          </m:e>
                        </m:d>
                      </m:sup>
                    </m:sSubSup>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2</m:t>
                            </m:r>
                          </m:e>
                        </m:d>
                      </m:sup>
                    </m:sSubSup>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𝐾</m:t>
                        </m:r>
                        <m:r>
                          <a:rPr lang="en-US" altLang="zh-CN" sz="2400" i="1">
                            <a:latin typeface="Cambria Math" panose="02040503050406030204" pitchFamily="18" charset="0"/>
                            <a:cs typeface="Cambria Math" panose="02040503050406030204" pitchFamily="18" charset="0"/>
                          </a:rPr>
                          <m:t>−1</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0</m:t>
                            </m:r>
                          </m:e>
                        </m:d>
                      </m:sup>
                    </m:sSubSup>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𝐾</m:t>
                        </m:r>
                        <m:r>
                          <a:rPr lang="en-US" altLang="zh-CN" sz="2400" i="1">
                            <a:latin typeface="Cambria Math" panose="02040503050406030204" pitchFamily="18" charset="0"/>
                            <a:cs typeface="Cambria Math" panose="02040503050406030204" pitchFamily="18" charset="0"/>
                          </a:rPr>
                          <m:t>−1</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1</m:t>
                            </m:r>
                          </m:e>
                        </m:d>
                      </m:sup>
                    </m:sSubSup>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𝐾</m:t>
                        </m:r>
                        <m:r>
                          <a:rPr lang="en-US" altLang="zh-CN" sz="2400" i="1">
                            <a:latin typeface="Cambria Math" panose="02040503050406030204" pitchFamily="18" charset="0"/>
                            <a:cs typeface="Cambria Math" panose="02040503050406030204" pitchFamily="18" charset="0"/>
                          </a:rPr>
                          <m:t>−1</m:t>
                        </m:r>
                      </m:sub>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2</m:t>
                            </m:r>
                          </m:e>
                        </m:d>
                      </m:sup>
                    </m:sSubSup>
                    <m:r>
                      <a:rPr lang="en-US" altLang="zh-CN" sz="2400" b="0" i="1" smtClean="0">
                        <a:latin typeface="Cambria Math" panose="02040503050406030204" pitchFamily="18" charset="0"/>
                        <a:cs typeface="Cambria Math" panose="02040503050406030204" pitchFamily="18" charset="0"/>
                      </a:rPr>
                      <m:t>)</m:t>
                    </m:r>
                  </m:oMath>
                </a14:m>
                <a:endParaRPr lang="en-US" altLang="zh-CN" sz="2400" b="0" i="1">
                  <a:latin typeface="Cambria Math" panose="02040503050406030204" pitchFamily="18" charset="0"/>
                  <a:cs typeface="Cambria Math" panose="02040503050406030204" pitchFamily="18" charset="0"/>
                </a:endParaRPr>
              </a:p>
              <a:p>
                <a:r>
                  <a:rPr lang="zh-CN" altLang="en-US" sz="2400" dirty="0">
                    <a:uFillTx/>
                    <a:latin typeface="Cambria Math" panose="02040503050406030204" pitchFamily="18" charset="0"/>
                    <a:cs typeface="Cambria Math" panose="02040503050406030204" pitchFamily="18" charset="0"/>
                    <a:sym typeface="+mn-ea"/>
                  </a:rPr>
                  <a:t>现在假设每个发送比特的映射关系为 0→ −1 和1 → +1 ，软输出的AWGN 信道。</a:t>
                </a:r>
                <a:endParaRPr lang="zh-CN" altLang="en-US" sz="2400">
                  <a:latin typeface="Cambria Math" panose="02040503050406030204" pitchFamily="18" charset="0"/>
                  <a:cs typeface="Cambria Math" panose="020405030504060302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08330" y="1490345"/>
                <a:ext cx="10909300" cy="2886075"/>
              </a:xfrm>
              <a:blipFill>
                <a:blip r:embed="rId3"/>
                <a:stretch>
                  <a:fillRect l="-671" r="-3522"/>
                </a:stretch>
              </a:blipFill>
            </p:spPr>
            <p:txBody>
              <a:bodyPr/>
              <a:lstStyle/>
              <a:p>
                <a:r>
                  <a:rPr lang="zh-CN" altLang="en-US">
                    <a:noFill/>
                  </a:rPr>
                  <a:t> </a:t>
                </a:r>
              </a:p>
            </p:txBody>
          </p:sp>
        </mc:Fallback>
      </mc:AlternateContent>
    </p:spTree>
    <p:custDataLst>
      <p:tags r:id="rId1"/>
    </p:custData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MAP</a:t>
            </a:r>
            <a:r>
              <a:rPr lang="zh-CN" altLang="en-US">
                <a:sym typeface="+mn-ea"/>
              </a:rPr>
              <a:t>译码算法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08330" y="1490345"/>
                <a:ext cx="10909300" cy="1273810"/>
              </a:xfrm>
            </p:spPr>
            <p:txBody>
              <a:bodyPr>
                <a:normAutofit/>
              </a:bodyPr>
              <a:lstStyle/>
              <a:p>
                <a:r>
                  <a:rPr lang="zh-CN" altLang="en-US" sz="2400" dirty="0">
                    <a:uFillTx/>
                    <a:latin typeface="Cambria Math" panose="02040503050406030204" pitchFamily="18" charset="0"/>
                    <a:cs typeface="Cambria Math" panose="02040503050406030204" pitchFamily="18" charset="0"/>
                    <a:sym typeface="+mn-ea"/>
                  </a:rPr>
                  <a:t>给定接收值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(0)</m:t>
                        </m:r>
                      </m:sup>
                    </m:sSubSup>
                  </m:oMath>
                </a14:m>
                <a:r>
                  <a:rPr lang="zh-CN" altLang="en-US" sz="2400" dirty="0">
                    <a:uFillTx/>
                    <a:latin typeface="Cambria Math" panose="02040503050406030204" pitchFamily="18" charset="0"/>
                    <a:cs typeface="Cambria Math" panose="02040503050406030204" pitchFamily="18" charset="0"/>
                    <a:sym typeface="+mn-ea"/>
                  </a:rPr>
                  <a:t>，发送信息比特</a:t>
                </a:r>
                <a14:m>
                  <m:oMath xmlns:m="http://schemas.openxmlformats.org/officeDocument/2006/math">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oMath>
                </a14:m>
                <a:r>
                  <a:rPr lang="zh-CN" altLang="en-US" sz="2400" dirty="0">
                    <a:uFillTx/>
                    <a:latin typeface="Cambria Math" panose="02040503050406030204" pitchFamily="18" charset="0"/>
                    <a:cs typeface="Cambria Math" panose="02040503050406030204" pitchFamily="18" charset="0"/>
                    <a:sym typeface="+mn-ea"/>
                  </a:rPr>
                  <a:t>的的对数似然值</a:t>
                </a:r>
                <a:r>
                  <a:rPr lang="en-US" altLang="zh-CN" sz="2400" dirty="0">
                    <a:uFillTx/>
                    <a:latin typeface="Cambria Math" panose="02040503050406030204" pitchFamily="18" charset="0"/>
                    <a:cs typeface="Cambria Math" panose="02040503050406030204" pitchFamily="18" charset="0"/>
                    <a:sym typeface="+mn-ea"/>
                  </a:rPr>
                  <a:t>(</a:t>
                </a:r>
                <a:r>
                  <a:rPr lang="zh-CN" altLang="en-US" sz="2400" i="1" dirty="0">
                    <a:uFillTx/>
                    <a:latin typeface="Times New Roman" panose="02020603050405020304" pitchFamily="18" charset="0"/>
                    <a:cs typeface="Times New Roman" panose="02020603050405020304" pitchFamily="18" charset="0"/>
                    <a:sym typeface="+mn-ea"/>
                  </a:rPr>
                  <a:t>L</a:t>
                </a:r>
                <a:r>
                  <a:rPr lang="zh-CN" altLang="en-US" sz="2400" dirty="0">
                    <a:uFillTx/>
                    <a:latin typeface="Cambria Math" panose="02040503050406030204" pitchFamily="18" charset="0"/>
                    <a:cs typeface="Cambria Math" panose="02040503050406030204" pitchFamily="18" charset="0"/>
                    <a:sym typeface="+mn-ea"/>
                  </a:rPr>
                  <a:t>值</a:t>
                </a:r>
                <a:r>
                  <a:rPr lang="en-US" altLang="zh-CN" sz="2400" dirty="0">
                    <a:uFillTx/>
                    <a:latin typeface="Cambria Math" panose="02040503050406030204" pitchFamily="18" charset="0"/>
                    <a:cs typeface="Cambria Math" panose="02040503050406030204" pitchFamily="18" charset="0"/>
                    <a:sym typeface="+mn-ea"/>
                  </a:rPr>
                  <a:t>)</a:t>
                </a:r>
                <a:r>
                  <a:rPr lang="zh-CN" altLang="en-US" sz="2400" dirty="0">
                    <a:uFillTx/>
                    <a:latin typeface="Cambria Math" panose="02040503050406030204" pitchFamily="18" charset="0"/>
                    <a:cs typeface="Cambria Math" panose="02040503050406030204" pitchFamily="18" charset="0"/>
                    <a:sym typeface="+mn-ea"/>
                  </a:rPr>
                  <a:t>定义为</a:t>
                </a:r>
                <a14:m>
                  <m:oMath xmlns:m="http://schemas.openxmlformats.org/officeDocument/2006/math">
                    <m:r>
                      <a:rPr lang="en-US" altLang="zh-CN" sz="2400" i="1">
                        <a:latin typeface="Cambria Math" panose="02040503050406030204" pitchFamily="18" charset="0"/>
                        <a:cs typeface="Cambria Math" panose="02040503050406030204" pitchFamily="18" charset="0"/>
                      </a:rPr>
                      <m:t>𝐿</m:t>
                    </m:r>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𝑣</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(0)</m:t>
                        </m:r>
                      </m:sup>
                    </m:sSubSup>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(0)</m:t>
                        </m:r>
                      </m:sup>
                    </m:sSubSup>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𝐿</m:t>
                    </m:r>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𝑟</m:t>
                        </m:r>
                      </m:e>
                      <m:sub>
                        <m:r>
                          <a:rPr lang="en-US" altLang="zh-CN" sz="2400" i="1">
                            <a:latin typeface="Cambria Math" panose="02040503050406030204" pitchFamily="18" charset="0"/>
                            <a:cs typeface="Cambria Math" panose="02040503050406030204" pitchFamily="18" charset="0"/>
                          </a:rPr>
                          <m:t>1</m:t>
                        </m:r>
                      </m:sub>
                      <m:sup>
                        <m:r>
                          <a:rPr lang="en-US" altLang="zh-CN" sz="2400" i="1">
                            <a:latin typeface="Cambria Math" panose="02040503050406030204" pitchFamily="18" charset="0"/>
                            <a:cs typeface="Cambria Math" panose="02040503050406030204" pitchFamily="18" charset="0"/>
                          </a:rPr>
                          <m:t>(0)</m:t>
                        </m:r>
                      </m:sup>
                    </m:sSubSup>
                    <m:r>
                      <a:rPr lang="en-US" altLang="zh-CN" sz="2400" i="1">
                        <a:latin typeface="Cambria Math" panose="02040503050406030204" pitchFamily="18" charset="0"/>
                        <a:cs typeface="Cambria Math" panose="02040503050406030204" pitchFamily="18" charset="0"/>
                      </a:rPr>
                      <m:t>)</m:t>
                    </m:r>
                  </m:oMath>
                </a14:m>
                <a:r>
                  <a:rPr lang="zh-CN" altLang="en-US" sz="2400">
                    <a:latin typeface="Cambria Math" panose="02040503050406030204" pitchFamily="18" charset="0"/>
                    <a:cs typeface="Cambria Math" panose="02040503050406030204" pitchFamily="18" charset="0"/>
                  </a:rPr>
                  <a:t>(译码前)：</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08330" y="1490345"/>
                <a:ext cx="10909300" cy="1273810"/>
              </a:xfrm>
              <a:blipFill>
                <a:blip r:embed="rId3"/>
                <a:stretch>
                  <a:fillRect l="-783" b="-57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1040765" y="2910840"/>
                <a:ext cx="10440670" cy="167894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𝐿</m:t>
                    </m:r>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Sup>
                      <m:sSub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𝑟</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(0)</m:t>
                        </m:r>
                      </m:sup>
                    </m:sSub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𝑙𝑛</m:t>
                    </m:r>
                    <m:f>
                      <m:f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fPr>
                      <m:num>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e>
                            <m:sSubSup>
                              <m:sSub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𝑟</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p>
                            </m:sSubSup>
                          </m:e>
                        </m:d>
                      </m:num>
                      <m:den>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e>
                            <m:sSubSup>
                              <m:sSub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𝑟</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p>
                            </m:sSubSup>
                          </m:e>
                        </m:d>
                      </m:den>
                    </m:f>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𝑙𝑛</m:t>
                    </m:r>
                    <m:f>
                      <m:f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fPr>
                      <m:num>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Sup>
                              <m:sSub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𝑟</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p>
                            </m:sSubSup>
                          </m:e>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d>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d>
                      </m:num>
                      <m:den>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Sup>
                              <m:sSub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𝑟</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p>
                            </m:sSubSup>
                          </m:e>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d>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d>
                      </m:den>
                    </m:f>
                  </m:oMath>
                </a14:m>
                <a:r>
                  <a:rPr kumimoji="0" lang="en-US" altLang="zh-CN" sz="2000" b="0" i="0" u="none" strike="noStrike" kern="1200" cap="none" spc="0" normalizeH="0" baseline="0" noProof="0" dirty="0">
                    <a:ln>
                      <a:noFill/>
                    </a:ln>
                    <a:solidFill>
                      <a:srgbClr val="000000"/>
                    </a:solidFill>
                    <a:effectLst/>
                    <a:uLnTx/>
                    <a:uFillTx/>
                    <a:latin typeface="Cambria Math" panose="02040503050406030204" pitchFamily="18" charset="0"/>
                    <a:ea typeface="微软雅黑"/>
                    <a:cs typeface="Cambria Math" panose="02040503050406030204" pitchFamily="18" charset="0"/>
                    <a:sym typeface="+mn-ea"/>
                  </a:rPr>
                  <a:t>=</a:t>
                </a:r>
                <a14:m>
                  <m:oMath xmlns:m="http://schemas.openxmlformats.org/officeDocument/2006/math">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𝑙𝑛</m:t>
                    </m:r>
                    <m:f>
                      <m:f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fPr>
                      <m:num>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Sup>
                              <m:sSub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𝑟</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p>
                            </m:sSubSup>
                          </m:e>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d>
                      </m:num>
                      <m:den>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Sup>
                              <m:sSub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𝑟</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p>
                            </m:sSubSup>
                          </m:e>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d>
                      </m:den>
                    </m:f>
                  </m:oMath>
                </a14:m>
                <a:r>
                  <a:rPr kumimoji="0" lang="en-US" altLang="zh-CN" sz="2000" b="0" i="0" u="none" strike="noStrike" kern="1200" cap="none" spc="0" normalizeH="0" baseline="0" noProof="0" dirty="0">
                    <a:ln>
                      <a:noFill/>
                    </a:ln>
                    <a:solidFill>
                      <a:srgbClr val="000000"/>
                    </a:solidFill>
                    <a:effectLst/>
                    <a:uLnTx/>
                    <a:uFillTx/>
                    <a:latin typeface="Cambria Math" panose="02040503050406030204" pitchFamily="18" charset="0"/>
                    <a:ea typeface="微软雅黑"/>
                    <a:cs typeface="Cambria Math" panose="02040503050406030204" pitchFamily="18" charset="0"/>
                    <a:sym typeface="+mn-ea"/>
                  </a:rPr>
                  <a:t>+</a:t>
                </a:r>
                <a14:m>
                  <m:oMath xmlns:m="http://schemas.openxmlformats.org/officeDocument/2006/math">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𝑙𝑛</m:t>
                    </m:r>
                    <m:f>
                      <m:f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fPr>
                      <m:num>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d>
                      </m:num>
                      <m:den>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d>
                      </m:den>
                    </m:f>
                  </m:oMath>
                </a14:m>
                <a:endPar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2000" b="0" i="0" u="none" strike="noStrike" kern="1200" cap="none" spc="0" normalizeH="0" baseline="0" noProof="0" dirty="0">
                    <a:ln>
                      <a:noFill/>
                    </a:ln>
                    <a:solidFill>
                      <a:srgbClr val="000000"/>
                    </a:solidFill>
                    <a:effectLst/>
                    <a:uLnTx/>
                    <a:uFillTx/>
                    <a:latin typeface="Cambria Math" panose="02040503050406030204" pitchFamily="18" charset="0"/>
                    <a:ea typeface="微软雅黑"/>
                    <a:cs typeface="Cambria Math" panose="02040503050406030204" pitchFamily="18" charset="0"/>
                    <a:sym typeface="+mn-ea"/>
                  </a:rPr>
                  <a:t>=</a:t>
                </a:r>
                <a14:m>
                  <m:oMath xmlns:m="http://schemas.openxmlformats.org/officeDocument/2006/math">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𝑙𝑛</m:t>
                    </m:r>
                    <m:f>
                      <m:f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fPr>
                      <m:num>
                        <m:sSup>
                          <m:s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𝑒</m:t>
                            </m:r>
                          </m:e>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𝐸</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𝑠</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𝑁</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0</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p>
                              <m:s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Sup>
                                  <m:sSub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𝑟</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(0)</m:t>
                                    </m:r>
                                  </m:sup>
                                </m:sSub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e>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2</m:t>
                                </m:r>
                              </m:sup>
                            </m:sSup>
                          </m:sup>
                        </m:sSup>
                      </m:num>
                      <m:den>
                        <m:sSup>
                          <m:s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𝑒</m:t>
                            </m:r>
                          </m:e>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𝐸</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𝑠</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𝑁</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0</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p>
                              <m:s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sSubSup>
                                  <m:sSub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𝑟</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(0)</m:t>
                                    </m:r>
                                  </m:sup>
                                </m:sSub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e>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2</m:t>
                                </m:r>
                              </m:sup>
                            </m:sSup>
                          </m:sup>
                        </m:sSup>
                      </m:den>
                    </m:f>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𝑙𝑛</m:t>
                    </m:r>
                    <m:f>
                      <m:f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fPr>
                      <m:num>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d>
                      </m:num>
                      <m:den>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d>
                      </m:den>
                    </m:f>
                  </m:oMath>
                </a14:m>
                <a:r>
                  <a:rPr kumimoji="0" lang="en-US" altLang="zh-CN" sz="2000" b="0" i="0" u="none" strike="noStrike" kern="1200" cap="none" spc="0" normalizeH="0" baseline="0" noProof="0" dirty="0">
                    <a:ln>
                      <a:noFill/>
                    </a:ln>
                    <a:solidFill>
                      <a:srgbClr val="000000"/>
                    </a:solidFill>
                    <a:effectLst/>
                    <a:uLnTx/>
                    <a:uFillTx/>
                    <a:latin typeface="Cambria Math" panose="02040503050406030204" pitchFamily="18" charset="0"/>
                    <a:ea typeface="微软雅黑"/>
                    <a:cs typeface="Cambria Math" panose="02040503050406030204" pitchFamily="18" charset="0"/>
                    <a:sym typeface="+mn-ea"/>
                  </a:rPr>
                  <a:t>=</a:t>
                </a:r>
                <a14:m>
                  <m:oMath xmlns:m="http://schemas.openxmlformats.org/officeDocument/2006/math">
                    <m:r>
                      <a:rPr kumimoji="0" lang="en-US" altLang="zh-CN" sz="2000" b="0" i="0" u="none" strike="noStrike" kern="1200" cap="none" spc="0" normalizeH="0" baseline="0" noProof="0" dirty="0">
                        <a:ln>
                          <a:noFill/>
                        </a:ln>
                        <a:solidFill>
                          <a:srgbClr val="000000"/>
                        </a:solidFill>
                        <a:effectLst/>
                        <a:uLnTx/>
                        <a:uFillTx/>
                        <a:latin typeface="Cambria Math" panose="02040503050406030204" pitchFamily="18" charset="0"/>
                        <a:cs typeface="Cambria Math" panose="02040503050406030204" pitchFamily="18" charset="0"/>
                        <a:sym typeface="+mn-ea"/>
                      </a:rPr>
                      <m:t>4</m:t>
                    </m:r>
                    <m:f>
                      <m:f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fPr>
                      <m:num>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𝐸</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𝑠</m:t>
                            </m:r>
                          </m:sub>
                        </m:sSub>
                      </m:num>
                      <m:den>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𝑁</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0</m:t>
                            </m:r>
                          </m:sub>
                        </m:sSub>
                      </m:den>
                    </m:f>
                    <m:sSubSup>
                      <m:sSub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ctrlPr>
                      </m:sSub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𝑟</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1</m:t>
                        </m:r>
                      </m:sub>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(0)</m:t>
                        </m:r>
                      </m:sup>
                    </m:sSub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Cambria Math" panose="02040503050406030204" pitchFamily="18" charset="0"/>
                      </a:rPr>
                      <m:t>+</m:t>
                    </m:r>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𝑙𝑛</m:t>
                    </m:r>
                    <m:f>
                      <m:f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fPr>
                      <m:num>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d>
                      </m:num>
                      <m:den>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𝑃</m:t>
                        </m:r>
                        <m:d>
                          <m:d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dPr>
                          <m:e>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e>
                        </m:d>
                      </m:den>
                    </m:f>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𝐿</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𝑐</m:t>
                        </m:r>
                      </m:sub>
                    </m:sSub>
                    <m:sSubSup>
                      <m:sSubSup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Sup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𝑟</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(0)</m:t>
                        </m:r>
                      </m:sup>
                    </m:sSubSup>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𝐿</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𝑎</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sSub>
                      <m:sSubPr>
                        <m:ctrlP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𝑢</m:t>
                        </m:r>
                      </m:e>
                      <m: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rPr>
                      <m:t>)</m:t>
                    </m:r>
                  </m:oMath>
                </a14:m>
                <a:endParaRPr kumimoji="0" lang="en-US" altLang="zh-CN" sz="2000" b="0" i="1" u="none" strike="noStrike" kern="1200" cap="none" spc="0" normalizeH="0" baseline="0" noProof="0">
                  <a:ln>
                    <a:noFill/>
                  </a:ln>
                  <a:solidFill>
                    <a:srgbClr val="000000"/>
                  </a:solidFill>
                  <a:effectLst/>
                  <a:uLnTx/>
                  <a:uFillTx/>
                  <a:latin typeface="Cambria Math" panose="02040503050406030204" pitchFamily="18" charset="0"/>
                  <a:ea typeface="MS Mincho" charset="0"/>
                  <a:cs typeface="Cambria Math" panose="020405030504060302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040765" y="2910840"/>
                <a:ext cx="10440670" cy="167894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2"/>
              <p:cNvSpPr>
                <a:spLocks noGrp="1"/>
              </p:cNvSpPr>
              <p:nvPr/>
            </p:nvSpPr>
            <p:spPr>
              <a:xfrm>
                <a:off x="792480" y="4693920"/>
                <a:ext cx="10909300" cy="181102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其中</a:t>
                </a:r>
                <a14:m>
                  <m:oMath xmlns:m="http://schemas.openxmlformats.org/officeDocument/2006/math">
                    <m:f>
                      <m:f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fPr>
                      <m:num>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𝐸</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𝑠</m:t>
                            </m:r>
                          </m:sub>
                        </m:sSub>
                      </m:num>
                      <m:den>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𝑁</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0</m:t>
                            </m:r>
                          </m:sub>
                        </m:sSub>
                      </m:den>
                    </m:f>
                  </m:oMath>
                </a14:m>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是信道SNR，</a:t>
                </a:r>
                <a14:m>
                  <m:oMath xmlns:m="http://schemas.openxmlformats.org/officeDocument/2006/math">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𝑢</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1</m:t>
                        </m:r>
                      </m:sub>
                    </m:sSub>
                  </m:oMath>
                </a14:m>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和</a:t>
                </a:r>
                <a14:m>
                  <m:oMath xmlns:m="http://schemas.openxmlformats.org/officeDocument/2006/math">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𝑟</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1</m:t>
                        </m:r>
                      </m:sub>
                      <m:sup>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(0)</m:t>
                        </m:r>
                      </m:sup>
                    </m:sSubSup>
                  </m:oMath>
                </a14:m>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都是用</a:t>
                </a:r>
                <a14:m>
                  <m:oMath xmlns:m="http://schemas.openxmlformats.org/officeDocument/2006/math">
                    <m:rad>
                      <m:radPr>
                        <m:degHide m:val="on"/>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radPr>
                      <m:deg/>
                      <m:e>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𝐸</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𝑠</m:t>
                            </m:r>
                          </m:sub>
                        </m:sSub>
                      </m:e>
                    </m:rad>
                  </m:oMath>
                </a14:m>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归一化的，</a:t>
                </a:r>
                <a14:m>
                  <m:oMath xmlns:m="http://schemas.openxmlformats.org/officeDocument/2006/math">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𝐿</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𝑐</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=4</m:t>
                    </m:r>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𝐸</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𝑠</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m:t>
                    </m:r>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𝑁</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0</m:t>
                        </m:r>
                      </m:sub>
                    </m:sSub>
                  </m:oMath>
                </a14:m>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是信道可靠度因子，</a:t>
                </a:r>
                <a14:m>
                  <m:oMath xmlns:m="http://schemas.openxmlformats.org/officeDocument/2006/math">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𝐿</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𝑎</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m:t>
                    </m:r>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𝑢</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1</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m:t>
                    </m:r>
                  </m:oMath>
                </a14:m>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是</a:t>
                </a:r>
                <a14:m>
                  <m:oMath xmlns:m="http://schemas.openxmlformats.org/officeDocument/2006/math">
                    <m:r>
                      <a:rPr kumimoji="0" lang="zh-CN" altLang="en-US"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sym typeface="+mn-ea"/>
                      </a:rPr>
                      <m:t>比特</m:t>
                    </m:r>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宋体" panose="02010600030101010101" pitchFamily="2" charset="-122"/>
                            <a:cs typeface="Cambria Math" panose="02040503050406030204" pitchFamily="18" charset="0"/>
                          </a:rPr>
                          <m:t>𝑢</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1</m:t>
                        </m:r>
                      </m:sub>
                    </m:sSub>
                  </m:oMath>
                </a14:m>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的先验</a:t>
                </a:r>
                <a:r>
                  <a:rPr kumimoji="0" lang="en-US" altLang="zh-CN"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rPr>
                  <a:t>L</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值。</a:t>
                </a:r>
              </a:p>
            </p:txBody>
          </p:sp>
        </mc:Choice>
        <mc:Fallback xmlns="">
          <p:sp>
            <p:nvSpPr>
              <p:cNvPr id="4" name="内容占位符 2"/>
              <p:cNvSpPr>
                <a:spLocks noRot="1" noChangeAspect="1" noMove="1" noResize="1" noEditPoints="1" noAdjustHandles="1" noChangeArrowheads="1" noChangeShapeType="1" noTextEdit="1"/>
              </p:cNvSpPr>
              <p:nvPr/>
            </p:nvSpPr>
            <p:spPr>
              <a:xfrm>
                <a:off x="792480" y="4693920"/>
                <a:ext cx="10909300" cy="1811020"/>
              </a:xfrm>
              <a:prstGeom prst="rect">
                <a:avLst/>
              </a:prstGeom>
              <a:blipFill rotWithShape="1">
                <a:blip r:embed="rId5"/>
                <a:stretch>
                  <a:fillRect/>
                </a:stretch>
              </a:blipFill>
            </p:spPr>
            <p:txBody>
              <a:bodyPr/>
              <a:lstStyle/>
              <a:p>
                <a:r>
                  <a:rPr lang="zh-CN" altLang="en-US">
                    <a:noFill/>
                  </a:rPr>
                  <a:t> </a:t>
                </a:r>
              </a:p>
            </p:txBody>
          </p:sp>
        </mc:Fallback>
      </mc:AlternateContent>
    </p:spTree>
    <p:custDataLst>
      <p:tags r:id="rId1"/>
    </p:custData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MAP</a:t>
            </a:r>
            <a:r>
              <a:rPr lang="zh-CN" altLang="en-US">
                <a:sym typeface="+mn-ea"/>
              </a:rPr>
              <a:t>译码算法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08330" y="1490345"/>
                <a:ext cx="10909300" cy="4665980"/>
              </a:xfrm>
            </p:spPr>
            <p:txBody>
              <a:bodyPr>
                <a:normAutofit fontScale="82500" lnSpcReduction="10000"/>
              </a:bodyPr>
              <a:lstStyle/>
              <a:p>
                <a:pPr algn="l"/>
                <a:r>
                  <a:rPr sz="2400"/>
                  <a:t>在发送校验比特是</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oMath>
                </a14:m>
                <a:r>
                  <a:rPr sz="2400"/>
                  <a:t>的情况下，给定接收到的值为</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𝑟</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oMath>
                </a14:m>
                <a:r>
                  <a:rPr lang="en-US" altLang="zh-CN" sz="2400" dirty="0">
                    <a:latin typeface="Times New Roman" panose="02020603050405020304" pitchFamily="18" charset="0"/>
                    <a:cs typeface="Times New Roman" panose="02020603050405020304" pitchFamily="18" charset="0"/>
                    <a:sym typeface="+mn-ea"/>
                  </a:rPr>
                  <a:t>, </a:t>
                </a:r>
                <a:r>
                  <a:rPr lang="en-US" altLang="zh-CN" sz="2400" i="1" dirty="0">
                    <a:latin typeface="Times New Roman" panose="02020603050405020304" pitchFamily="18" charset="0"/>
                    <a:cs typeface="Times New Roman" panose="02020603050405020304" pitchFamily="18" charset="0"/>
                    <a:sym typeface="+mn-ea"/>
                  </a:rPr>
                  <a:t>j</a:t>
                </a:r>
                <a:r>
                  <a:rPr lang="en-US" altLang="zh-CN" sz="2400" dirty="0">
                    <a:latin typeface="Times New Roman" panose="02020603050405020304" pitchFamily="18" charset="0"/>
                    <a:cs typeface="Times New Roman" panose="02020603050405020304" pitchFamily="18" charset="0"/>
                    <a:sym typeface="+mn-ea"/>
                  </a:rPr>
                  <a:t>=1,2</a:t>
                </a:r>
                <a:r>
                  <a:rPr lang="zh-CN" sz="2400"/>
                  <a:t>，</a:t>
                </a:r>
                <a:r>
                  <a:rPr sz="2400" i="1">
                    <a:latin typeface="Times New Roman" panose="02020603050405020304" pitchFamily="18" charset="0"/>
                    <a:cs typeface="Times New Roman" panose="02020603050405020304" pitchFamily="18" charset="0"/>
                  </a:rPr>
                  <a:t>L</a:t>
                </a:r>
                <a:r>
                  <a:rPr sz="2400"/>
                  <a:t>值</a:t>
                </a:r>
                <a:r>
                  <a:rPr lang="en-US" sz="2400"/>
                  <a:t>(</a:t>
                </a:r>
                <a:r>
                  <a:rPr sz="2400"/>
                  <a:t>译码前</a:t>
                </a:r>
                <a:r>
                  <a:rPr lang="en-US" sz="2400"/>
                  <a:t>)</a:t>
                </a:r>
                <a:r>
                  <a:rPr sz="2400"/>
                  <a:t>为</a:t>
                </a:r>
                <a:r>
                  <a:rPr lang="zh-CN" sz="2400"/>
                  <a:t>：</a:t>
                </a:r>
                <a:endParaRPr sz="2400"/>
              </a:p>
              <a:p>
                <a:pPr marL="0" indent="0" algn="l">
                  <a:buNone/>
                </a:pPr>
                <a:r>
                  <a:rPr lang="en-US" altLang="zh-CN" sz="2400" dirty="0">
                    <a:latin typeface="宋体" panose="02010600030101010101" pitchFamily="2" charset="-122"/>
                    <a:cs typeface="宋体" panose="02010600030101010101" pitchFamily="2" charset="-122"/>
                    <a:sym typeface="+mn-ea"/>
                  </a:rPr>
                  <a:t>                 </a:t>
                </a:r>
                <a:r>
                  <a:rPr lang="en-US" altLang="zh-CN" sz="2400" i="1" dirty="0">
                    <a:latin typeface="Times New Roman" panose="02020603050405020304" pitchFamily="18" charset="0"/>
                    <a:cs typeface="Times New Roman" panose="02020603050405020304" pitchFamily="18" charset="0"/>
                    <a:sym typeface="+mn-ea"/>
                  </a:rPr>
                  <a:t>L</a:t>
                </a:r>
                <a:r>
                  <a:rPr lang="en-US" altLang="zh-CN" sz="2400" dirty="0">
                    <a:latin typeface="宋体" panose="02010600030101010101" pitchFamily="2" charset="-122"/>
                    <a:cs typeface="宋体" panose="02010600030101010101" pitchFamily="2" charset="-122"/>
                    <a:sym typeface="+mn-ea"/>
                  </a:rPr>
                  <a:t>(</a:t>
                </a:r>
                <a14:m>
                  <m:oMath xmlns:m="http://schemas.openxmlformats.org/officeDocument/2006/math">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𝑟</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oMath>
                </a14:m>
                <a:r>
                  <a:rPr lang="en-US" altLang="zh-CN" sz="2400" dirty="0">
                    <a:latin typeface="宋体" panose="02010600030101010101" pitchFamily="2" charset="-122"/>
                    <a:cs typeface="宋体" panose="02010600030101010101" pitchFamily="2" charset="-122"/>
                    <a:sym typeface="+mn-ea"/>
                  </a:rPr>
                  <a:t>)=</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𝐿</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𝑐</m:t>
                        </m:r>
                      </m:sub>
                    </m:sSub>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𝑟</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𝐿</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𝑎</m:t>
                        </m:r>
                      </m:sub>
                    </m:sSub>
                    <m:r>
                      <a:rPr lang="en-US" altLang="zh-CN" sz="2400" i="1">
                        <a:latin typeface="Cambria Math" panose="02040503050406030204" pitchFamily="18" charset="0"/>
                        <a:ea typeface="MS Mincho" charset="0"/>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𝐿</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𝑐</m:t>
                        </m:r>
                      </m:sub>
                    </m:sSub>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𝑟</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=1,2</m:t>
                    </m:r>
                  </m:oMath>
                </a14:m>
                <a:endParaRPr sz="2400"/>
              </a:p>
              <a:p>
                <a:r>
                  <a:rPr sz="2400"/>
                  <a:t>因为在一个线性码中信息比特等概率，校验比特为</a:t>
                </a:r>
                <a:r>
                  <a:rPr sz="2400">
                    <a:latin typeface="Times New Roman" panose="02020603050405020304" pitchFamily="18" charset="0"/>
                    <a:cs typeface="Times New Roman" panose="02020603050405020304" pitchFamily="18" charset="0"/>
                  </a:rPr>
                  <a:t>＋1和－1</a:t>
                </a:r>
                <a:r>
                  <a:rPr sz="2400"/>
                  <a:t>的概率也是相同的，</a:t>
                </a:r>
                <a:r>
                  <a:rPr lang="zh-CN" sz="2400"/>
                  <a:t>所以</a:t>
                </a:r>
                <a:r>
                  <a:rPr sz="2400"/>
                  <a:t>校验比特的先验</a:t>
                </a:r>
                <a:r>
                  <a:rPr sz="2400" i="1">
                    <a:latin typeface="Times New Roman" panose="02020603050405020304" pitchFamily="18" charset="0"/>
                    <a:cs typeface="Times New Roman" panose="02020603050405020304" pitchFamily="18" charset="0"/>
                    <a:sym typeface="+mn-ea"/>
                  </a:rPr>
                  <a:t>L</a:t>
                </a:r>
                <a:r>
                  <a:rPr sz="2400"/>
                  <a:t>值为</a:t>
                </a:r>
                <a:r>
                  <a:rPr sz="2400">
                    <a:latin typeface="Times New Roman" panose="02020603050405020304" pitchFamily="18" charset="0"/>
                    <a:cs typeface="Times New Roman" panose="02020603050405020304" pitchFamily="18" charset="0"/>
                  </a:rPr>
                  <a:t>0</a:t>
                </a:r>
                <a:r>
                  <a:rPr sz="2400"/>
                  <a:t>，即</a:t>
                </a:r>
              </a:p>
              <a:p>
                <a:pPr marL="0" indent="0">
                  <a:buNone/>
                </a:pPr>
                <a:r>
                  <a:rPr lang="en-US" altLang="zh-CN" sz="2400">
                    <a:latin typeface="Cambria Math" panose="02040503050406030204" pitchFamily="18" charset="0"/>
                    <a:ea typeface="宋体" panose="02010600030101010101" pitchFamily="2" charset="-122"/>
                    <a:cs typeface="Cambria Math" panose="02040503050406030204" pitchFamily="18" charset="0"/>
                  </a:rPr>
                  <a:t>                                                </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𝐿</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𝑎</m:t>
                        </m:r>
                      </m:sub>
                    </m:sSub>
                    <m:r>
                      <a:rPr lang="en-US" altLang="zh-CN" sz="2400" i="1">
                        <a:latin typeface="Cambria Math" panose="02040503050406030204" pitchFamily="18" charset="0"/>
                        <a:ea typeface="MS Mincho" charset="0"/>
                        <a:cs typeface="Cambria Math" panose="02040503050406030204" pitchFamily="18" charset="0"/>
                      </a:rPr>
                      <m:t>(</m:t>
                    </m:r>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m:t>
                    </m:r>
                  </m:oMath>
                </a14:m>
                <a:r>
                  <a:rPr lang="en-US" altLang="zh-CN" sz="2400" dirty="0">
                    <a:latin typeface="宋体" panose="02010600030101010101" pitchFamily="2" charset="-122"/>
                    <a:cs typeface="宋体" panose="02010600030101010101" pitchFamily="2" charset="-122"/>
                    <a:sym typeface="+mn-ea"/>
                  </a:rPr>
                  <a:t>=</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𝑙𝑛</m:t>
                    </m:r>
                    <m:f>
                      <m:f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400" i="1">
                            <a:latin typeface="Cambria Math" panose="02040503050406030204" pitchFamily="18" charset="0"/>
                            <a:ea typeface="宋体" panose="02010600030101010101" pitchFamily="2" charset="-122"/>
                            <a:cs typeface="Cambria Math" panose="02040503050406030204" pitchFamily="18" charset="0"/>
                          </a:rPr>
                          <m:t>𝑃</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=+1</m:t>
                            </m:r>
                          </m:e>
                        </m:d>
                      </m:num>
                      <m:den>
                        <m:r>
                          <a:rPr lang="en-US" altLang="zh-CN" sz="2400" i="1">
                            <a:latin typeface="Cambria Math" panose="02040503050406030204" pitchFamily="18" charset="0"/>
                            <a:ea typeface="宋体" panose="02010600030101010101" pitchFamily="2" charset="-122"/>
                            <a:cs typeface="Cambria Math" panose="02040503050406030204" pitchFamily="18" charset="0"/>
                          </a:rPr>
                          <m:t>𝑃</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bSup>
                              <m:sSub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charset="0"/>
                                    <a:cs typeface="Cambria Math" panose="02040503050406030204" pitchFamily="18" charset="0"/>
                                  </a:rPr>
                                  <m:t>)</m:t>
                                </m:r>
                              </m:sup>
                            </m:sSubSup>
                            <m:r>
                              <a:rPr lang="en-US" altLang="zh-CN" sz="2400" i="1">
                                <a:latin typeface="Cambria Math" panose="02040503050406030204" pitchFamily="18" charset="0"/>
                                <a:ea typeface="MS Mincho" charset="0"/>
                                <a:cs typeface="Cambria Math" panose="02040503050406030204" pitchFamily="18" charset="0"/>
                              </a:rPr>
                              <m:t>=−1</m:t>
                            </m:r>
                          </m:e>
                        </m:d>
                      </m:den>
                    </m:f>
                  </m:oMath>
                </a14:m>
                <a:r>
                  <a:rPr lang="en-US" altLang="zh-CN" sz="2400" dirty="0">
                    <a:latin typeface="宋体" panose="02010600030101010101" pitchFamily="2" charset="-122"/>
                    <a:cs typeface="宋体" panose="02010600030101010101" pitchFamily="2" charset="-122"/>
                    <a:sym typeface="+mn-ea"/>
                  </a:rPr>
                  <a:t>=0, </a:t>
                </a:r>
                <a:r>
                  <a:rPr lang="en-US" altLang="zh-CN" sz="2400" i="1" dirty="0">
                    <a:latin typeface="Times New Roman" panose="02020603050405020304" pitchFamily="18" charset="0"/>
                    <a:cs typeface="Times New Roman" panose="02020603050405020304" pitchFamily="18" charset="0"/>
                    <a:sym typeface="+mn-ea"/>
                  </a:rPr>
                  <a:t>j</a:t>
                </a:r>
                <a:r>
                  <a:rPr lang="en-US" altLang="zh-CN" sz="2400" dirty="0">
                    <a:latin typeface="Times New Roman" panose="02020603050405020304" pitchFamily="18" charset="0"/>
                    <a:cs typeface="Times New Roman" panose="02020603050405020304" pitchFamily="18" charset="0"/>
                    <a:sym typeface="+mn-ea"/>
                  </a:rPr>
                  <a:t>=1,2</a:t>
                </a:r>
                <a:endParaRPr sz="2400"/>
              </a:p>
              <a:p>
                <a:r>
                  <a:rPr sz="2400"/>
                  <a:t>对于译码器1的第一次迭代，</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𝐿</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𝑎</m:t>
                        </m:r>
                      </m:sub>
                    </m:sSub>
                    <m:r>
                      <a:rPr lang="en-US" altLang="zh-CN" sz="2400" i="1">
                        <a:latin typeface="Cambria Math" panose="02040503050406030204" pitchFamily="18" charset="0"/>
                        <a:ea typeface="MS Mincho" charset="0"/>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𝑢</m:t>
                        </m:r>
                      </m:e>
                      <m:sub>
                        <m:r>
                          <a:rPr lang="en-US" altLang="zh-CN" sz="2400" i="1">
                            <a:latin typeface="Cambria Math" panose="02040503050406030204" pitchFamily="18" charset="0"/>
                            <a:ea typeface="MS Mincho" charset="0"/>
                            <a:cs typeface="Cambria Math" panose="02040503050406030204" pitchFamily="18" charset="0"/>
                          </a:rPr>
                          <m:t>1</m:t>
                        </m:r>
                      </m:sub>
                    </m:sSub>
                    <m:r>
                      <a:rPr lang="en-US" altLang="zh-CN" sz="2400" i="1">
                        <a:latin typeface="Cambria Math" panose="02040503050406030204" pitchFamily="18" charset="0"/>
                        <a:ea typeface="MS Mincho" charset="0"/>
                        <a:cs typeface="Cambria Math" panose="02040503050406030204" pitchFamily="18" charset="0"/>
                      </a:rPr>
                      <m:t>)</m:t>
                    </m:r>
                  </m:oMath>
                </a14:m>
                <a:r>
                  <a:rPr sz="2400"/>
                  <a:t>也等于</a:t>
                </a:r>
                <a:r>
                  <a:rPr sz="2400">
                    <a:latin typeface="Times New Roman" panose="02020603050405020304" pitchFamily="18" charset="0"/>
                    <a:cs typeface="Times New Roman" panose="02020603050405020304" pitchFamily="18" charset="0"/>
                  </a:rPr>
                  <a:t>0</a:t>
                </a:r>
                <a:r>
                  <a:rPr sz="2400"/>
                  <a:t>，之后，信息比特的先验</a:t>
                </a:r>
                <a:r>
                  <a:rPr sz="2400" i="1">
                    <a:latin typeface="Times New Roman" panose="02020603050405020304" pitchFamily="18" charset="0"/>
                    <a:cs typeface="Times New Roman" panose="02020603050405020304" pitchFamily="18" charset="0"/>
                    <a:sym typeface="+mn-ea"/>
                  </a:rPr>
                  <a:t>L</a:t>
                </a:r>
                <a:r>
                  <a:rPr sz="2400"/>
                  <a:t>值就被另一个译码器输出的外部</a:t>
                </a:r>
                <a:r>
                  <a:rPr sz="2400" i="1">
                    <a:latin typeface="Times New Roman" panose="02020603050405020304" pitchFamily="18" charset="0"/>
                    <a:cs typeface="Times New Roman" panose="02020603050405020304" pitchFamily="18" charset="0"/>
                    <a:sym typeface="+mn-ea"/>
                  </a:rPr>
                  <a:t>L</a:t>
                </a:r>
                <a:r>
                  <a:rPr sz="2400"/>
                  <a:t>值所取代</a:t>
                </a:r>
                <a:r>
                  <a:rPr lang="zh-CN" sz="240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08330" y="1490345"/>
                <a:ext cx="10909300" cy="4665980"/>
              </a:xfrm>
              <a:blipFill>
                <a:blip r:embed="rId3"/>
                <a:stretch>
                  <a:fillRect l="-503"/>
                </a:stretch>
              </a:blipFill>
            </p:spPr>
            <p:txBody>
              <a:bodyPr/>
              <a:lstStyle/>
              <a:p>
                <a:r>
                  <a:rPr lang="zh-CN" altLang="en-US">
                    <a:noFill/>
                  </a:rPr>
                  <a:t> </a:t>
                </a:r>
              </a:p>
            </p:txBody>
          </p:sp>
        </mc:Fallback>
      </mc:AlternateContent>
    </p:spTree>
    <p:custDataLst>
      <p:tags r:id="rId1"/>
    </p:custData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MAP</a:t>
            </a:r>
            <a:r>
              <a:rPr lang="zh-CN" altLang="en-US">
                <a:sym typeface="+mn-ea"/>
              </a:rPr>
              <a:t>译码算法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08330" y="1490345"/>
                <a:ext cx="10909300" cy="1948815"/>
              </a:xfrm>
            </p:spPr>
            <p:txBody>
              <a:bodyPr>
                <a:normAutofit/>
              </a:bodyPr>
              <a:lstStyle/>
              <a:p>
                <a:pPr algn="l"/>
                <a:r>
                  <a:rPr sz="2400"/>
                  <a:t>接收到的信道</a:t>
                </a:r>
                <a:r>
                  <a:rPr sz="2400" i="1">
                    <a:latin typeface="Times New Roman" panose="02020603050405020304" pitchFamily="18" charset="0"/>
                    <a:cs typeface="Times New Roman" panose="02020603050405020304" pitchFamily="18" charset="0"/>
                  </a:rPr>
                  <a:t>L</a:t>
                </a:r>
                <a:r>
                  <a:rPr sz="2400"/>
                  <a:t>值</a:t>
                </a:r>
                <a:r>
                  <a:rPr lang="en-US" sz="2400"/>
                  <a:t>(</a:t>
                </a:r>
                <a:r>
                  <a:rPr sz="2400"/>
                  <a:t>软信息</a:t>
                </a:r>
                <a:r>
                  <a:rPr lang="en-US" sz="2400"/>
                  <a:t>)</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(0)</m:t>
                        </m:r>
                      </m:sup>
                    </m:sSubSup>
                    <m:r>
                      <a:rPr lang="en-US" altLang="zh-CN" sz="2400">
                        <a:latin typeface="Cambria Math" panose="02040503050406030204" pitchFamily="18" charset="0"/>
                        <a:ea typeface="MS Mincho" charset="0"/>
                        <a:cs typeface="Cambria Math" panose="02040503050406030204" pitchFamily="18" charset="0"/>
                      </a:rPr>
                      <m:t> (</m:t>
                    </m:r>
                    <m:r>
                      <m:rPr>
                        <m:sty m:val="p"/>
                      </m:rPr>
                      <a:rPr lang="en-US" altLang="zh-CN" sz="2400">
                        <a:latin typeface="Cambria Math" panose="02040503050406030204" pitchFamily="18" charset="0"/>
                        <a:ea typeface="MS Mincho" charset="0"/>
                        <a:cs typeface="Cambria Math" panose="02040503050406030204" pitchFamily="18" charset="0"/>
                      </a:rPr>
                      <m:t>for</m:t>
                    </m:r>
                    <m:r>
                      <a:rPr lang="en-US" altLang="zh-CN" sz="2400">
                        <a:latin typeface="Cambria Math" panose="02040503050406030204" pitchFamily="18" charset="0"/>
                        <a:ea typeface="MS Mincho" charset="0"/>
                        <a:cs typeface="Cambria Math" panose="02040503050406030204" pitchFamily="18" charset="0"/>
                      </a:rPr>
                      <m:t> </m:t>
                    </m:r>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𝑢</m:t>
                        </m:r>
                      </m:e>
                      <m:sub>
                        <m:r>
                          <a:rPr lang="en-US" altLang="zh-CN" sz="2400">
                            <a:latin typeface="Cambria Math" panose="02040503050406030204" pitchFamily="18" charset="0"/>
                            <a:ea typeface="MS Mincho" charset="0"/>
                            <a:cs typeface="Cambria Math" panose="02040503050406030204" pitchFamily="18" charset="0"/>
                          </a:rPr>
                          <m:t>1</m:t>
                        </m:r>
                      </m:sub>
                    </m:sSub>
                    <m:r>
                      <a:rPr lang="en-US" altLang="zh-CN" sz="2400">
                        <a:latin typeface="Cambria Math" panose="02040503050406030204" pitchFamily="18" charset="0"/>
                        <a:ea typeface="MS Mincho" charset="0"/>
                        <a:cs typeface="Cambria Math" panose="02040503050406030204" pitchFamily="18" charset="0"/>
                      </a:rPr>
                      <m:t>)</m:t>
                    </m:r>
                  </m:oMath>
                </a14:m>
                <a:r>
                  <a:rPr lang="zh-CN" altLang="en-US" sz="2400"/>
                  <a:t>和</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(1)</m:t>
                        </m:r>
                      </m:sup>
                    </m:sSubSup>
                    <m:r>
                      <a:rPr lang="en-US" altLang="zh-CN" sz="2400">
                        <a:latin typeface="Cambria Math" panose="02040503050406030204" pitchFamily="18" charset="0"/>
                        <a:ea typeface="MS Mincho" charset="0"/>
                        <a:cs typeface="Cambria Math" panose="02040503050406030204" pitchFamily="18" charset="0"/>
                      </a:rPr>
                      <m:t>(</m:t>
                    </m:r>
                    <m:r>
                      <m:rPr>
                        <m:sty m:val="p"/>
                      </m:rPr>
                      <a:rPr lang="en-US" altLang="zh-CN" sz="2400">
                        <a:latin typeface="Cambria Math" panose="02040503050406030204" pitchFamily="18" charset="0"/>
                        <a:ea typeface="MS Mincho" charset="0"/>
                        <a:cs typeface="Cambria Math" panose="02040503050406030204" pitchFamily="18" charset="0"/>
                      </a:rPr>
                      <m:t>for</m:t>
                    </m:r>
                    <m:r>
                      <a:rPr lang="en-US" altLang="zh-CN" sz="2400">
                        <a:latin typeface="Cambria Math" panose="02040503050406030204" pitchFamily="18" charset="0"/>
                        <a:ea typeface="MS Mincho" charset="0"/>
                        <a:cs typeface="Cambria Math" panose="02040503050406030204" pitchFamily="18" charset="0"/>
                      </a:rPr>
                      <m:t> </m:t>
                    </m:r>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𝑣</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(1)</m:t>
                        </m:r>
                      </m:sup>
                    </m:sSubSup>
                    <m:r>
                      <a:rPr lang="en-US" altLang="zh-CN" sz="2400">
                        <a:latin typeface="Cambria Math" panose="02040503050406030204" pitchFamily="18" charset="0"/>
                        <a:ea typeface="MS Mincho" charset="0"/>
                        <a:cs typeface="Cambria Math" panose="02040503050406030204" pitchFamily="18" charset="0"/>
                      </a:rPr>
                      <m:t>)</m:t>
                    </m:r>
                  </m:oMath>
                </a14:m>
                <a:r>
                  <a:rPr lang="zh-CN" altLang="en-US" sz="2400"/>
                  <a:t>进入译码器1，交织后的信道</a:t>
                </a:r>
                <a:r>
                  <a:rPr sz="2400" i="1">
                    <a:latin typeface="Times New Roman" panose="02020603050405020304" pitchFamily="18" charset="0"/>
                    <a:cs typeface="Times New Roman" panose="02020603050405020304" pitchFamily="18" charset="0"/>
                    <a:sym typeface="+mn-ea"/>
                  </a:rPr>
                  <a:t>L</a:t>
                </a:r>
                <a:r>
                  <a:rPr lang="zh-CN" altLang="en-US" sz="2400"/>
                  <a:t>值</a:t>
                </a:r>
                <a:r>
                  <a:rPr lang="en-US" sz="2400">
                    <a:sym typeface="+mn-ea"/>
                  </a:rPr>
                  <a:t>(</a:t>
                </a:r>
                <a:r>
                  <a:rPr sz="2400">
                    <a:sym typeface="+mn-ea"/>
                  </a:rPr>
                  <a:t>软信息</a:t>
                </a:r>
                <a:r>
                  <a:rPr lang="en-US" sz="2400">
                    <a:sym typeface="+mn-ea"/>
                  </a:rPr>
                  <a:t>)</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(0)</m:t>
                        </m:r>
                      </m:sup>
                    </m:sSubSup>
                    <m:r>
                      <a:rPr lang="en-US" altLang="zh-CN" sz="2400" i="1">
                        <a:latin typeface="Cambria Math" panose="02040503050406030204" pitchFamily="18" charset="0"/>
                        <a:ea typeface="MS Mincho" charset="0"/>
                        <a:cs typeface="Cambria Math" panose="02040503050406030204" pitchFamily="18" charset="0"/>
                      </a:rPr>
                      <m:t> </m:t>
                    </m:r>
                    <m:r>
                      <a:rPr lang="en-US" altLang="zh-CN" sz="2400">
                        <a:latin typeface="Cambria Math" panose="02040503050406030204" pitchFamily="18" charset="0"/>
                        <a:ea typeface="MS Mincho" charset="0"/>
                        <a:cs typeface="Cambria Math" panose="02040503050406030204" pitchFamily="18" charset="0"/>
                      </a:rPr>
                      <m:t>(</m:t>
                    </m:r>
                    <m:r>
                      <m:rPr>
                        <m:sty m:val="p"/>
                      </m:rPr>
                      <a:rPr lang="en-US" altLang="zh-CN" sz="2400">
                        <a:latin typeface="Cambria Math" panose="02040503050406030204" pitchFamily="18" charset="0"/>
                        <a:ea typeface="MS Mincho" charset="0"/>
                        <a:cs typeface="Cambria Math" panose="02040503050406030204" pitchFamily="18" charset="0"/>
                      </a:rPr>
                      <m:t>for</m:t>
                    </m:r>
                    <m:r>
                      <a:rPr lang="en-US" altLang="zh-CN" sz="2400">
                        <a:latin typeface="Cambria Math" panose="02040503050406030204" pitchFamily="18" charset="0"/>
                        <a:ea typeface="MS Mincho" charset="0"/>
                        <a:cs typeface="Cambria Math" panose="02040503050406030204" pitchFamily="18" charset="0"/>
                      </a:rPr>
                      <m:t> </m:t>
                    </m:r>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𝑢</m:t>
                        </m:r>
                      </m:e>
                      <m:sub>
                        <m:r>
                          <a:rPr lang="en-US" altLang="zh-CN" sz="2400">
                            <a:latin typeface="Cambria Math" panose="02040503050406030204" pitchFamily="18" charset="0"/>
                            <a:ea typeface="MS Mincho" charset="0"/>
                            <a:cs typeface="Cambria Math" panose="02040503050406030204" pitchFamily="18" charset="0"/>
                          </a:rPr>
                          <m:t>1</m:t>
                        </m:r>
                      </m:sub>
                    </m:sSub>
                    <m:r>
                      <a:rPr lang="en-US" altLang="zh-CN" sz="2400">
                        <a:latin typeface="Cambria Math" panose="02040503050406030204" pitchFamily="18" charset="0"/>
                        <a:ea typeface="MS Mincho" charset="0"/>
                        <a:cs typeface="Cambria Math" panose="02040503050406030204" pitchFamily="18" charset="0"/>
                      </a:rPr>
                      <m:t>)</m:t>
                    </m:r>
                  </m:oMath>
                </a14:m>
                <a:r>
                  <a:rPr lang="zh-CN" altLang="en-US" sz="2400">
                    <a:sym typeface="+mn-ea"/>
                  </a:rPr>
                  <a:t>和</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(2)</m:t>
                        </m:r>
                      </m:sup>
                    </m:sSubSup>
                    <m:r>
                      <a:rPr lang="en-US" altLang="zh-CN" sz="2400" i="1">
                        <a:latin typeface="Cambria Math" panose="02040503050406030204" pitchFamily="18" charset="0"/>
                        <a:ea typeface="MS Mincho" charset="0"/>
                        <a:cs typeface="Cambria Math" panose="02040503050406030204" pitchFamily="18" charset="0"/>
                      </a:rPr>
                      <m:t> </m:t>
                    </m:r>
                    <m:r>
                      <a:rPr lang="en-US" altLang="zh-CN" sz="2400">
                        <a:latin typeface="Cambria Math" panose="02040503050406030204" pitchFamily="18" charset="0"/>
                        <a:ea typeface="MS Mincho" charset="0"/>
                        <a:cs typeface="Cambria Math" panose="02040503050406030204" pitchFamily="18" charset="0"/>
                      </a:rPr>
                      <m:t>(</m:t>
                    </m:r>
                    <m:r>
                      <m:rPr>
                        <m:sty m:val="p"/>
                      </m:rPr>
                      <a:rPr lang="en-US" altLang="zh-CN" sz="2400">
                        <a:latin typeface="Cambria Math" panose="02040503050406030204" pitchFamily="18" charset="0"/>
                        <a:ea typeface="MS Mincho" charset="0"/>
                        <a:cs typeface="Cambria Math" panose="02040503050406030204" pitchFamily="18" charset="0"/>
                      </a:rPr>
                      <m:t>for</m:t>
                    </m:r>
                    <m:r>
                      <a:rPr lang="en-US" altLang="zh-CN" sz="2400">
                        <a:latin typeface="Cambria Math" panose="02040503050406030204" pitchFamily="18" charset="0"/>
                        <a:ea typeface="MS Mincho" charset="0"/>
                        <a:cs typeface="Cambria Math" panose="02040503050406030204" pitchFamily="18" charset="0"/>
                      </a:rPr>
                      <m:t> </m:t>
                    </m:r>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𝑣</m:t>
                        </m:r>
                      </m:e>
                      <m:sub>
                        <m:r>
                          <a:rPr lang="en-US" altLang="zh-CN" sz="2400" i="1">
                            <a:latin typeface="Cambria Math" panose="02040503050406030204" pitchFamily="18" charset="0"/>
                            <a:ea typeface="MS Mincho" charset="0"/>
                            <a:cs typeface="Cambria Math" panose="02040503050406030204" pitchFamily="18" charset="0"/>
                          </a:rPr>
                          <m:t>1</m:t>
                        </m:r>
                      </m:sub>
                      <m:sup>
                        <m:r>
                          <a:rPr lang="en-US" altLang="zh-CN" sz="2400" i="1">
                            <a:latin typeface="Cambria Math" panose="02040503050406030204" pitchFamily="18" charset="0"/>
                            <a:ea typeface="MS Mincho" charset="0"/>
                            <a:cs typeface="Cambria Math" panose="02040503050406030204" pitchFamily="18" charset="0"/>
                          </a:rPr>
                          <m:t>(2)</m:t>
                        </m:r>
                      </m:sup>
                    </m:sSubSup>
                    <m:r>
                      <a:rPr lang="en-US" altLang="zh-CN" sz="2400">
                        <a:latin typeface="Cambria Math" panose="02040503050406030204" pitchFamily="18" charset="0"/>
                        <a:ea typeface="MS Mincho" charset="0"/>
                        <a:cs typeface="Cambria Math" panose="02040503050406030204" pitchFamily="18" charset="0"/>
                      </a:rPr>
                      <m:t>)</m:t>
                    </m:r>
                  </m:oMath>
                </a14:m>
                <a:r>
                  <a:rPr lang="zh-CN" altLang="en-US" sz="2400">
                    <a:sym typeface="+mn-ea"/>
                  </a:rPr>
                  <a:t>进入译码器</a:t>
                </a:r>
                <a:r>
                  <a:rPr lang="en-US" altLang="zh-CN" sz="2400">
                    <a:sym typeface="+mn-ea"/>
                  </a:rPr>
                  <a:t>2</a:t>
                </a:r>
                <a:r>
                  <a:rPr lang="zh-CN" altLang="en-US" sz="2400">
                    <a:sym typeface="+mn-ea"/>
                  </a:rPr>
                  <a:t>，译码器1的输出包括两项：</a:t>
                </a:r>
                <a:endParaRPr lang="en-US" altLang="zh-CN" sz="2400">
                  <a:sym typeface="+mn-ea"/>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608330" y="1490345"/>
                <a:ext cx="10909300" cy="1948815"/>
              </a:xfr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2"/>
              <p:cNvSpPr>
                <a:spLocks noGrp="1"/>
              </p:cNvSpPr>
              <p:nvPr/>
            </p:nvSpPr>
            <p:spPr>
              <a:xfrm>
                <a:off x="941705" y="3452495"/>
                <a:ext cx="10472420" cy="2934335"/>
              </a:xfrm>
              <a:prstGeom prst="rect">
                <a:avLst/>
              </a:prstGeom>
            </p:spPr>
            <p:txBody>
              <a:bodyPr vert="horz" lIns="90000" tIns="46800" rIns="90000" bIns="46800" rtlCol="0">
                <a:normAutofit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1</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）给定接收到的向量</a:t>
                </a:r>
                <a:r>
                  <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部分</a:t>
                </a:r>
                <a:r>
                  <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a:t>
                </a:r>
                <a14:m>
                  <m:oMath xmlns:m="http://schemas.openxmlformats.org/officeDocument/2006/math">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ctrlPr>
                      </m:sSubPr>
                      <m:e>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𝑟</m:t>
                        </m:r>
                      </m:e>
                      <m:sub>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1</m:t>
                        </m:r>
                      </m:sub>
                    </m:sSub>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m:t>
                    </m:r>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𝑟</m:t>
                        </m:r>
                      </m:e>
                      <m:sub>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0</m:t>
                        </m:r>
                      </m:sub>
                      <m:sup>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(0)</m:t>
                        </m:r>
                      </m:sup>
                    </m:sSubSup>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𝑟</m:t>
                        </m:r>
                      </m:e>
                      <m:sub>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0</m:t>
                        </m:r>
                      </m:sub>
                      <m:sup>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(1)</m:t>
                        </m:r>
                      </m:sup>
                    </m:sSubSup>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m:t>
                    </m:r>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𝑟</m:t>
                        </m:r>
                      </m:e>
                      <m:sub>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1</m:t>
                        </m:r>
                      </m:sub>
                      <m:sup>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(0)</m:t>
                        </m:r>
                      </m:sup>
                    </m:sSubSup>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𝑟</m:t>
                        </m:r>
                      </m:e>
                      <m:sub>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1</m:t>
                        </m:r>
                      </m:sub>
                      <m:sup>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(1)</m:t>
                        </m:r>
                      </m:sup>
                    </m:sSubSup>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m:t>
                    </m:r>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𝑟</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𝐾</m:t>
                        </m:r>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−1</m:t>
                        </m:r>
                      </m:sub>
                      <m:sup>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(0)</m:t>
                        </m:r>
                      </m:sup>
                    </m:sSubSup>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𝑟</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𝐾</m:t>
                        </m:r>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−1</m:t>
                        </m:r>
                      </m:sub>
                      <m:sup>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(1)</m:t>
                        </m:r>
                      </m:sup>
                    </m:sSubSup>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mn-cs"/>
                      </a:rPr>
                      <m:t>]</m:t>
                    </m:r>
                  </m:oMath>
                </a14:m>
                <a:r>
                  <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以及先验输入向量</a:t>
                </a:r>
                <a14:m>
                  <m:oMath xmlns:m="http://schemas.openxmlformats.org/officeDocument/2006/math">
                    <m:sSubSup>
                      <m:sSubSupPr>
                        <m:ctrlPr>
                          <a:rPr kumimoji="0" lang="zh-CN" altLang="en-US"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𝐿</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𝑎</m:t>
                        </m:r>
                      </m:sub>
                      <m:sup>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(1)</m:t>
                        </m:r>
                      </m:sup>
                    </m:sSubSup>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𝐿</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𝑎</m:t>
                        </m:r>
                      </m:sub>
                      <m:sup>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p>
                    </m:sSubSup>
                    <m:d>
                      <m:d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dPr>
                      <m:e>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𝑢</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0</m:t>
                            </m:r>
                          </m:sub>
                        </m:sSub>
                      </m:e>
                    </m:d>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𝐿</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𝑎</m:t>
                        </m:r>
                      </m:sub>
                      <m:sup>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p>
                    </m:sSubSup>
                    <m:d>
                      <m:d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dPr>
                      <m:e>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𝑢</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b>
                        </m:sSub>
                      </m:e>
                    </m:d>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𝐿</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𝑎</m:t>
                        </m:r>
                      </m:sub>
                      <m:sup>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p>
                    </m:sSubSup>
                    <m:d>
                      <m:d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dPr>
                      <m:e>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𝑢</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𝐾</m:t>
                            </m:r>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b>
                        </m:sSub>
                      </m:e>
                    </m:d>
                    <m:r>
                      <a:rPr kumimoji="0" lang="en-US" altLang="zh-CN" sz="2400" b="0" i="0"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oMath>
                </a14:m>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a:t>
                </a:r>
                <a:r>
                  <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每个信息比特的后验</a:t>
                </a:r>
                <a:r>
                  <a:rPr kumimoji="0" lang="en-US" altLang="zh-CN" sz="2400" b="0" i="1" u="none" strike="noStrike" kern="1200" cap="none" spc="150" normalizeH="0" baseline="0" noProof="0">
                    <a:ln>
                      <a:noFill/>
                    </a:ln>
                    <a:solidFill>
                      <a:srgbClr val="000000">
                        <a:lumMod val="65000"/>
                        <a:lumOff val="35000"/>
                      </a:srgbClr>
                    </a:solidFill>
                    <a:effectLst/>
                    <a:uLnTx/>
                    <a:uFillTx/>
                    <a:latin typeface="Times New Roman" panose="02020603050405020304" pitchFamily="18" charset="0"/>
                    <a:ea typeface="微软雅黑"/>
                    <a:cs typeface="Times New Roman" panose="02020603050405020304" pitchFamily="18" charset="0"/>
                    <a:sym typeface="+mn-ea"/>
                  </a:rPr>
                  <a:t>L</a:t>
                </a:r>
                <a:r>
                  <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值(译码后)为</a:t>
                </a: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            </a:t>
                </a:r>
                <a:r>
                  <a:rPr kumimoji="0" lang="en-US" altLang="zh-CN" sz="2400" b="0" i="0" u="none" strike="noStrike" kern="1200" cap="none" spc="150" normalizeH="0" baseline="0" noProof="0" dirty="0">
                    <a:ln>
                      <a:noFill/>
                    </a:ln>
                    <a:solidFill>
                      <a:srgbClr val="000000">
                        <a:lumMod val="65000"/>
                        <a:lumOff val="35000"/>
                      </a:srgbClr>
                    </a:solidFill>
                    <a:effectLst/>
                    <a:uLnTx/>
                    <a:uFillTx/>
                    <a:latin typeface="Cambria Math" panose="02040503050406030204" pitchFamily="18" charset="0"/>
                    <a:ea typeface="微软雅黑"/>
                    <a:cs typeface="Cambria Math" panose="02040503050406030204" pitchFamily="18" charset="0"/>
                    <a:sym typeface="+mn-ea"/>
                  </a:rPr>
                  <a:t> </a:t>
                </a:r>
                <a14:m>
                  <m:oMath xmlns:m="http://schemas.openxmlformats.org/officeDocument/2006/math">
                    <m:sSup>
                      <m:s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𝐿</m:t>
                        </m:r>
                      </m:e>
                      <m:sup>
                        <m:d>
                          <m:d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d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e>
                        </m:d>
                      </m:sup>
                    </m:sSup>
                    <m:d>
                      <m:d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dPr>
                      <m:e>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𝑢</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b>
                        </m:sSub>
                      </m:e>
                    </m:d>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𝑙𝑛</m:t>
                    </m:r>
                    <m:d>
                      <m:dPr>
                        <m:begChr m:val="["/>
                        <m:endChr m:val="]"/>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dPr>
                      <m:e>
                        <m:f>
                          <m:fPr>
                            <m:type m:val="skw"/>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fPr>
                          <m:num>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𝑝</m:t>
                            </m:r>
                            <m:d>
                              <m:d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dPr>
                              <m:e>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𝑢</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e>
                              <m:e>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𝑟</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𝐿</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𝑎</m:t>
                                    </m:r>
                                  </m:sub>
                                  <m:sup>
                                    <m:d>
                                      <m:d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d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e>
                                    </m:d>
                                  </m:sup>
                                </m:sSubSup>
                              </m:e>
                            </m:d>
                          </m:num>
                          <m:den>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𝑝</m:t>
                            </m:r>
                            <m:d>
                              <m:d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dPr>
                              <m:e>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𝑢</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e>
                              <m:e>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𝑟</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𝐿</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𝑎</m:t>
                                    </m:r>
                                  </m:sub>
                                  <m:sup>
                                    <m:d>
                                      <m:d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d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e>
                                    </m:d>
                                  </m:sup>
                                </m:sSubSup>
                              </m:e>
                            </m:d>
                          </m:den>
                        </m:f>
                      </m:e>
                    </m:d>
                  </m:oMath>
                </a14:m>
                <a:endPar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endParaRPr>
              </a:p>
            </p:txBody>
          </p:sp>
        </mc:Choice>
        <mc:Fallback xmlns="">
          <p:sp>
            <p:nvSpPr>
              <p:cNvPr id="4" name="内容占位符 2"/>
              <p:cNvSpPr>
                <a:spLocks noGrp="1" noRot="1" noChangeAspect="1" noMove="1" noResize="1" noEditPoints="1" noAdjustHandles="1" noChangeArrowheads="1" noChangeShapeType="1" noTextEdit="1"/>
              </p:cNvSpPr>
              <p:nvPr/>
            </p:nvSpPr>
            <p:spPr>
              <a:xfrm>
                <a:off x="941705" y="3452495"/>
                <a:ext cx="10472420" cy="2934335"/>
              </a:xfrm>
              <a:prstGeom prst="rect">
                <a:avLst/>
              </a:prstGeom>
              <a:blipFill>
                <a:blip r:embed="rId4"/>
                <a:stretch>
                  <a:fillRect l="-873"/>
                </a:stretch>
              </a:blipFill>
            </p:spPr>
            <p:txBody>
              <a:bodyPr/>
              <a:lstStyle/>
              <a:p>
                <a:r>
                  <a:rPr lang="zh-CN" altLang="en-US">
                    <a:noFill/>
                  </a:rPr>
                  <a:t> </a:t>
                </a:r>
              </a:p>
            </p:txBody>
          </p:sp>
        </mc:Fallback>
      </mc:AlternateContent>
    </p:spTree>
    <p:custDataLst>
      <p:tags r:id="rId1"/>
    </p:custData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MAP</a:t>
            </a:r>
            <a:r>
              <a:rPr lang="zh-CN" altLang="en-US">
                <a:sym typeface="+mn-ea"/>
              </a:rPr>
              <a:t>译码算法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98855" y="1490345"/>
                <a:ext cx="8928735" cy="2113915"/>
              </a:xfrm>
            </p:spPr>
            <p:txBody>
              <a:bodyPr>
                <a:normAutofit/>
              </a:bodyPr>
              <a:lstStyle/>
              <a:p>
                <a:pPr marL="0" indent="0" algn="l">
                  <a:buNone/>
                </a:pPr>
                <a:r>
                  <a:rPr lang="en-US" altLang="zh-CN" sz="2400">
                    <a:sym typeface="+mn-ea"/>
                  </a:rPr>
                  <a:t>2</a:t>
                </a:r>
                <a:r>
                  <a:rPr lang="zh-CN" altLang="en-US" sz="2400">
                    <a:sym typeface="+mn-ea"/>
                  </a:rPr>
                  <a:t>）</a:t>
                </a:r>
                <a:r>
                  <a:rPr sz="2400"/>
                  <a:t>与每个信息比特相关的外部后验概率值</a:t>
                </a:r>
                <a:r>
                  <a:rPr lang="en-US" sz="2400"/>
                  <a:t>(</a:t>
                </a:r>
                <a:r>
                  <a:rPr sz="2400"/>
                  <a:t>译码后</a:t>
                </a:r>
                <a:r>
                  <a:rPr lang="en-US" sz="2400"/>
                  <a:t>)</a:t>
                </a:r>
              </a:p>
              <a:p>
                <a:pPr marL="0" indent="0" algn="l">
                  <a:buNone/>
                </a:pPr>
                <a14:m>
                  <m:oMathPara xmlns:m="http://schemas.openxmlformats.org/officeDocument/2006/math">
                    <m:oMathParaPr>
                      <m:jc m:val="centerGroup"/>
                    </m:oMathParaPr>
                    <m:oMath xmlns:m="http://schemas.openxmlformats.org/officeDocument/2006/math">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r>
                        <a:rPr lang="en-US" altLang="zh-CN" sz="2400" i="1">
                          <a:latin typeface="Cambria Math" panose="02040503050406030204" pitchFamily="18" charset="0"/>
                          <a:cs typeface="Cambria Math" panose="02040503050406030204" pitchFamily="18" charset="0"/>
                        </a:rPr>
                        <m:t>=</m:t>
                      </m:r>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𝐿</m:t>
                          </m:r>
                        </m:e>
                        <m:sup>
                          <m:r>
                            <a:rPr lang="en-US" altLang="zh-CN" sz="2400" i="1">
                              <a:latin typeface="Cambria Math" panose="02040503050406030204" pitchFamily="18" charset="0"/>
                              <a:cs typeface="Cambria Math" panose="02040503050406030204" pitchFamily="18" charset="0"/>
                            </a:rPr>
                            <m:t>(1)</m:t>
                          </m:r>
                        </m:sup>
                      </m:sSup>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(0)</m:t>
                          </m:r>
                        </m:sup>
                      </m:sSubSup>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(2)</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r>
                        <a:rPr lang="en-US" altLang="zh-CN" sz="2400" i="1">
                          <a:latin typeface="Cambria Math" panose="02040503050406030204" pitchFamily="18" charset="0"/>
                          <a:cs typeface="Cambria Math" panose="02040503050406030204" pitchFamily="18" charset="0"/>
                        </a:rPr>
                        <m:t>]</m:t>
                      </m:r>
                    </m:oMath>
                  </m:oMathPara>
                </a14:m>
                <a:endParaRPr lang="en-US" altLang="zh-CN" sz="2400" i="1">
                  <a:latin typeface="Cambria Math" panose="02040503050406030204" pitchFamily="18" charset="0"/>
                  <a:cs typeface="Cambria Math" panose="02040503050406030204" pitchFamily="18" charset="0"/>
                </a:endParaRPr>
              </a:p>
              <a:p>
                <a:pPr marL="0" indent="0" algn="l">
                  <a:buNone/>
                </a:pPr>
                <a:r>
                  <a:rPr lang="en-US" sz="2400"/>
                  <a:t>该信息经交织后送给译码器2，作为先验值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(2)</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endParaRPr lang="en-US" sz="2400"/>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998855" y="1490345"/>
                <a:ext cx="8928735" cy="2113915"/>
              </a:xfrm>
              <a:blipFill rotWithShape="1">
                <a:blip r:embed="rId3"/>
                <a:stretch>
                  <a:fillRect/>
                </a:stretch>
              </a:blipFill>
            </p:spPr>
            <p:txBody>
              <a:bodyPr/>
              <a:lstStyle/>
              <a:p>
                <a:r>
                  <a:rPr lang="zh-CN" altLang="en-US">
                    <a:noFill/>
                  </a:rPr>
                  <a:t> </a:t>
                </a:r>
              </a:p>
            </p:txBody>
          </p:sp>
        </mc:Fallback>
      </mc:AlternateContent>
      <p:sp>
        <p:nvSpPr>
          <p:cNvPr id="5" name="内容占位符 2"/>
          <p:cNvSpPr>
            <a:spLocks noGrp="1"/>
          </p:cNvSpPr>
          <p:nvPr/>
        </p:nvSpPr>
        <p:spPr>
          <a:xfrm>
            <a:off x="598805" y="3595370"/>
            <a:ext cx="10909300" cy="69469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tabLst/>
              <a:defRPr/>
            </a:pPr>
            <a:r>
              <a:rPr kumimoji="0"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rPr>
              <a:t>同样地，译码器2的输出也包括两项：</a:t>
            </a:r>
          </a:p>
        </p:txBody>
      </p:sp>
      <mc:AlternateContent xmlns:mc="http://schemas.openxmlformats.org/markup-compatibility/2006" xmlns:a14="http://schemas.microsoft.com/office/drawing/2010/main">
        <mc:Choice Requires="a14">
          <p:sp>
            <p:nvSpPr>
              <p:cNvPr id="6" name="内容占位符 2"/>
              <p:cNvSpPr>
                <a:spLocks noGrp="1"/>
              </p:cNvSpPr>
              <p:nvPr/>
            </p:nvSpPr>
            <p:spPr>
              <a:xfrm>
                <a:off x="951230" y="4195445"/>
                <a:ext cx="10472420" cy="193929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en-US" altLang="zh-CN"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1</a:t>
                </a:r>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a:t>
                </a:r>
                <a14:m>
                  <m:oMath xmlns:m="http://schemas.openxmlformats.org/officeDocument/2006/math">
                    <m:sSup>
                      <m:s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𝐿</m:t>
                        </m:r>
                      </m:e>
                      <m:sup>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(2)</m:t>
                        </m:r>
                      </m:sup>
                    </m:sSup>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𝑢</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𝑙𝑛</m:t>
                    </m:r>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f>
                      <m:fPr>
                        <m:type m:val="skw"/>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fPr>
                      <m:num>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𝑝</m:t>
                        </m:r>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𝑢</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𝑟</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2</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𝐿</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𝑎</m:t>
                            </m:r>
                          </m:sub>
                          <m:sup>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(2)</m:t>
                            </m:r>
                          </m:sup>
                        </m:sSubSup>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num>
                      <m:den>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𝑝</m:t>
                        </m:r>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𝑢</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=−1|</m:t>
                        </m:r>
                        <m:sSub>
                          <m:sSub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𝑟</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2</m:t>
                            </m:r>
                          </m:sub>
                        </m:s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𝐿</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𝑎</m:t>
                            </m:r>
                          </m:sub>
                          <m:sup>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(2)</m:t>
                            </m:r>
                          </m:sup>
                        </m:sSubSup>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den>
                    </m:f>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m:t>
                    </m:r>
                  </m:oMath>
                </a14:m>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，其中</a:t>
                </a:r>
                <a14:m>
                  <m:oMath xmlns:m="http://schemas.openxmlformats.org/officeDocument/2006/math">
                    <m:sSub>
                      <m:sSubPr>
                        <m:ctrlPr>
                          <a:rPr kumimoji="0" lang="zh-CN" altLang="en-US"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ctrlPr>
                      </m:sSub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𝑟</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ea typeface="MS Mincho" charset="0"/>
                            <a:cs typeface="Cambria Math" panose="02040503050406030204" pitchFamily="18" charset="0"/>
                          </a:rPr>
                          <m:t>2</m:t>
                        </m:r>
                      </m:sub>
                    </m:sSub>
                  </m:oMath>
                </a14:m>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是(部分)接收向量，</a:t>
                </a:r>
                <a14:m>
                  <m:oMath xmlns:m="http://schemas.openxmlformats.org/officeDocument/2006/math">
                    <m:sSubSup>
                      <m:sSubSupPr>
                        <m:ctrlP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ctrlPr>
                      </m:sSubSupPr>
                      <m:e>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𝐿</m:t>
                        </m:r>
                      </m:e>
                      <m:sub>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𝑎</m:t>
                        </m:r>
                      </m:sub>
                      <m:sup>
                        <m:r>
                          <a:rPr kumimoji="0" lang="en-US" altLang="zh-CN" sz="2400" b="0" i="1" u="none" strike="noStrike" kern="1200" cap="none" spc="150" normalizeH="0" baseline="0" noProof="0">
                            <a:ln>
                              <a:noFill/>
                            </a:ln>
                            <a:solidFill>
                              <a:srgbClr val="000000">
                                <a:lumMod val="65000"/>
                                <a:lumOff val="35000"/>
                              </a:srgbClr>
                            </a:solidFill>
                            <a:effectLst/>
                            <a:uLnTx/>
                            <a:uFillTx/>
                            <a:latin typeface="Cambria Math" panose="02040503050406030204" pitchFamily="18" charset="0"/>
                            <a:cs typeface="Cambria Math" panose="02040503050406030204" pitchFamily="18" charset="0"/>
                          </a:rPr>
                          <m:t>(2)</m:t>
                        </m:r>
                      </m:sup>
                    </m:sSubSup>
                  </m:oMath>
                </a14:m>
                <a:r>
                  <a:rPr kumimoji="0" lang="zh-CN" altLang="en-US" sz="2400" b="0" i="0" u="none" strike="noStrike" kern="1200" cap="none" spc="150" normalizeH="0" baseline="0" noProof="0">
                    <a:ln>
                      <a:noFill/>
                    </a:ln>
                    <a:solidFill>
                      <a:srgbClr val="000000">
                        <a:lumMod val="65000"/>
                        <a:lumOff val="35000"/>
                      </a:srgbClr>
                    </a:solidFill>
                    <a:effectLst/>
                    <a:uLnTx/>
                    <a:uFillTx/>
                    <a:latin typeface="Arial"/>
                    <a:ea typeface="微软雅黑"/>
                    <a:cs typeface="+mn-cs"/>
                    <a:sym typeface="+mn-ea"/>
                  </a:rPr>
                  <a:t>是先验输入向量。</a:t>
                </a:r>
              </a:p>
            </p:txBody>
          </p:sp>
        </mc:Choice>
        <mc:Fallback xmlns="">
          <p:sp>
            <p:nvSpPr>
              <p:cNvPr id="6" name="内容占位符 2"/>
              <p:cNvSpPr>
                <a:spLocks noGrp="1" noRot="1" noChangeAspect="1" noMove="1" noResize="1" noEditPoints="1" noAdjustHandles="1" noChangeArrowheads="1" noChangeShapeType="1" noTextEdit="1"/>
              </p:cNvSpPr>
              <p:nvPr/>
            </p:nvSpPr>
            <p:spPr>
              <a:xfrm>
                <a:off x="951230" y="4195445"/>
                <a:ext cx="10472420" cy="1939290"/>
              </a:xfrm>
              <a:prstGeom prst="rect">
                <a:avLst/>
              </a:prstGeom>
              <a:blipFill>
                <a:blip r:embed="rId4"/>
                <a:stretch>
                  <a:fillRect l="-931"/>
                </a:stretch>
              </a:blipFill>
            </p:spPr>
            <p:txBody>
              <a:bodyPr/>
              <a:lstStyle/>
              <a:p>
                <a:r>
                  <a:rPr lang="zh-CN" altLang="en-US">
                    <a:noFill/>
                  </a:rPr>
                  <a:t> </a:t>
                </a:r>
              </a:p>
            </p:txBody>
          </p:sp>
        </mc:Fallback>
      </mc:AlternateContent>
    </p:spTree>
    <p:custDataLst>
      <p:tags r:id="rId1"/>
    </p:custData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MAP</a:t>
            </a:r>
            <a:r>
              <a:rPr lang="zh-CN" altLang="en-US">
                <a:sym typeface="+mn-ea"/>
              </a:rPr>
              <a:t>译码算法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98855" y="1490345"/>
                <a:ext cx="10769600" cy="4879975"/>
              </a:xfrm>
            </p:spPr>
            <p:txBody>
              <a:bodyPr>
                <a:normAutofit fontScale="92500"/>
              </a:bodyPr>
              <a:lstStyle/>
              <a:p>
                <a:pPr marL="0" indent="0" algn="l">
                  <a:buNone/>
                </a:pPr>
                <a:r>
                  <a:rPr lang="en-US" altLang="zh-CN" sz="2400">
                    <a:sym typeface="+mn-ea"/>
                  </a:rPr>
                  <a:t>2</a:t>
                </a:r>
                <a:r>
                  <a:rPr lang="zh-CN" altLang="en-US" sz="2400">
                    <a:sym typeface="+mn-ea"/>
                  </a:rPr>
                  <a:t>）</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(2)</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r>
                      <a:rPr lang="en-US" altLang="zh-CN" sz="2400" i="1">
                        <a:latin typeface="Cambria Math" panose="02040503050406030204" pitchFamily="18" charset="0"/>
                        <a:cs typeface="Cambria Math" panose="02040503050406030204" pitchFamily="18" charset="0"/>
                      </a:rPr>
                      <m:t>=</m:t>
                    </m:r>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𝐿</m:t>
                        </m:r>
                      </m:e>
                      <m:sup>
                        <m:r>
                          <a:rPr lang="en-US" altLang="zh-CN" sz="2400" i="1">
                            <a:latin typeface="Cambria Math" panose="02040503050406030204" pitchFamily="18" charset="0"/>
                            <a:cs typeface="Cambria Math" panose="02040503050406030204" pitchFamily="18" charset="0"/>
                          </a:rPr>
                          <m:t>(2)</m:t>
                        </m:r>
                      </m:sup>
                    </m:sSup>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m:rPr>
                            <m:sty m:val="p"/>
                          </m:rPr>
                          <a:rPr lang="en-US" altLang="zh-CN" sz="2400">
                            <a:latin typeface="Cambria Math" panose="02040503050406030204" pitchFamily="18" charset="0"/>
                            <a:ea typeface="MS Mincho" charset="0"/>
                            <a:cs typeface="Cambria Math" panose="02040503050406030204" pitchFamily="18" charset="0"/>
                          </a:rPr>
                          <m:t>c</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(0)</m:t>
                        </m:r>
                      </m:sup>
                    </m:sSubSup>
                    <m:r>
                      <a:rPr lang="en-US" altLang="zh-CN" sz="2400" i="1">
                        <a:latin typeface="Cambria Math" panose="02040503050406030204" pitchFamily="18" charset="0"/>
                        <a:cs typeface="Cambria Math" panose="02040503050406030204" pitchFamily="18" charset="0"/>
                      </a:rPr>
                      <m:t>+</m:t>
                    </m:r>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(1)</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r>
                      <a:rPr lang="en-US" altLang="zh-CN" sz="2400" i="1">
                        <a:latin typeface="Cambria Math" panose="02040503050406030204" pitchFamily="18" charset="0"/>
                        <a:cs typeface="Cambria Math" panose="02040503050406030204" pitchFamily="18" charset="0"/>
                      </a:rPr>
                      <m:t>]</m:t>
                    </m:r>
                  </m:oMath>
                </a14:m>
                <a:r>
                  <a:rPr sz="2400"/>
                  <a:t>是译码器2产生的外部后验</a:t>
                </a:r>
                <a:r>
                  <a:rPr sz="2400" i="1">
                    <a:latin typeface="Times New Roman" panose="02020603050405020304" pitchFamily="18" charset="0"/>
                    <a:cs typeface="Times New Roman" panose="02020603050405020304" pitchFamily="18" charset="0"/>
                  </a:rPr>
                  <a:t>L</a:t>
                </a:r>
                <a:r>
                  <a:rPr sz="2400"/>
                  <a:t>值，经过解交织后，作为先验值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(1)</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sz="2400"/>
                  <a:t>反馈作为译码器1的输入。这样，每个译码器的输入包含三项：软信道</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(0)</m:t>
                        </m:r>
                      </m:sup>
                    </m:sSubSup>
                  </m:oMath>
                </a14:m>
                <a:r>
                  <a:rPr sz="2400"/>
                  <a:t>、</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(1)</m:t>
                        </m:r>
                      </m:sup>
                    </m:sSubSup>
                  </m:oMath>
                </a14:m>
                <a:r>
                  <a:rPr sz="2400"/>
                  <a:t>(或</a:t>
                </a:r>
                <a14:m>
                  <m:oMath xmlns:m="http://schemas.openxmlformats.org/officeDocument/2006/math">
                    <m:sSub>
                      <m:sSubPr>
                        <m:ctrlPr>
                          <a:rPr lang="en-US" altLang="zh-CN" sz="2400" i="1">
                            <a:latin typeface="Cambria Math" panose="02040503050406030204" pitchFamily="18" charset="0"/>
                            <a:ea typeface="MS Mincho" charset="0"/>
                            <a:cs typeface="Cambria Math" panose="02040503050406030204" pitchFamily="18" charset="0"/>
                          </a:rPr>
                        </m:ctrlPr>
                      </m:sSubPr>
                      <m:e>
                        <m:r>
                          <a:rPr lang="en-US" altLang="zh-CN" sz="2400" i="1">
                            <a:latin typeface="Cambria Math" panose="02040503050406030204" pitchFamily="18" charset="0"/>
                            <a:ea typeface="MS Mincho" charset="0"/>
                            <a:cs typeface="Cambria Math" panose="02040503050406030204" pitchFamily="18" charset="0"/>
                          </a:rPr>
                          <m:t>𝐿</m:t>
                        </m:r>
                      </m:e>
                      <m:sub>
                        <m:r>
                          <a:rPr lang="en-US" altLang="zh-CN" sz="2400" i="1">
                            <a:latin typeface="Cambria Math" panose="02040503050406030204" pitchFamily="18" charset="0"/>
                            <a:ea typeface="MS Mincho" charset="0"/>
                            <a:cs typeface="Cambria Math" panose="02040503050406030204" pitchFamily="18" charset="0"/>
                          </a:rPr>
                          <m:t>𝑐</m:t>
                        </m:r>
                      </m:sub>
                    </m:sSub>
                    <m:sSubSup>
                      <m:sSubSupPr>
                        <m:ctrlPr>
                          <a:rPr lang="en-US" altLang="zh-CN" sz="2400" i="1">
                            <a:latin typeface="Cambria Math" panose="02040503050406030204" pitchFamily="18" charset="0"/>
                            <a:ea typeface="MS Mincho" charset="0"/>
                            <a:cs typeface="Cambria Math" panose="02040503050406030204" pitchFamily="18" charset="0"/>
                          </a:rPr>
                        </m:ctrlPr>
                      </m:sSubSupPr>
                      <m:e>
                        <m:r>
                          <a:rPr lang="en-US" altLang="zh-CN" sz="2400" i="1">
                            <a:latin typeface="Cambria Math" panose="02040503050406030204" pitchFamily="18" charset="0"/>
                            <a:ea typeface="MS Mincho" charset="0"/>
                            <a:cs typeface="Cambria Math" panose="02040503050406030204" pitchFamily="18" charset="0"/>
                          </a:rPr>
                          <m:t>𝑟</m:t>
                        </m:r>
                      </m:e>
                      <m:sub>
                        <m:r>
                          <a:rPr lang="en-US" altLang="zh-CN" sz="2400">
                            <a:latin typeface="Cambria Math" panose="02040503050406030204" pitchFamily="18" charset="0"/>
                            <a:ea typeface="MS Mincho" charset="0"/>
                            <a:cs typeface="Cambria Math" panose="02040503050406030204" pitchFamily="18" charset="0"/>
                          </a:rPr>
                          <m:t>1</m:t>
                        </m:r>
                      </m:sub>
                      <m:sup>
                        <m:r>
                          <a:rPr lang="en-US" altLang="zh-CN" sz="2400">
                            <a:latin typeface="Cambria Math" panose="02040503050406030204" pitchFamily="18" charset="0"/>
                            <a:ea typeface="MS Mincho" charset="0"/>
                            <a:cs typeface="Cambria Math" panose="02040503050406030204" pitchFamily="18" charset="0"/>
                          </a:rPr>
                          <m:t>(2)</m:t>
                        </m:r>
                      </m:sup>
                    </m:sSubSup>
                  </m:oMath>
                </a14:m>
                <a:r>
                  <a:rPr sz="2400"/>
                  <a:t>)</a:t>
                </a:r>
                <a:r>
                  <a:rPr lang="zh-CN" sz="2400"/>
                  <a:t>，</a:t>
                </a:r>
                <a:r>
                  <a:rPr sz="2400"/>
                  <a:t>以及从另一个译码器传送的外部后验</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(2)</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lang="en-US" altLang="zh-CN" sz="2400" dirty="0">
                    <a:latin typeface="Cambria Math" panose="02040503050406030204" pitchFamily="18" charset="0"/>
                    <a:cs typeface="Cambria Math" panose="02040503050406030204" pitchFamily="18" charset="0"/>
                    <a:sym typeface="+mn-ea"/>
                  </a:rPr>
                  <a:t>=</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(1)</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lang="en-US" altLang="zh-CN" sz="2400"/>
                  <a:t>(</a:t>
                </a:r>
                <a:r>
                  <a:rPr lang="zh-CN" altLang="en-US" sz="2400"/>
                  <a:t>或</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(1)</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br>
                  <a:rPr lang="en-US" altLang="zh-CN" sz="2400" i="1">
                    <a:latin typeface="Cambria Math" panose="02040503050406030204" pitchFamily="18" charset="0"/>
                    <a:cs typeface="Cambria Math" panose="02040503050406030204" pitchFamily="18" charset="0"/>
                  </a:rPr>
                </a:b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(2)</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lang="en-US" altLang="zh-CN" sz="2400"/>
                  <a:t>)</a:t>
                </a:r>
                <a:r>
                  <a:rPr sz="2400"/>
                  <a:t>。</a:t>
                </a:r>
              </a:p>
              <a:p>
                <a:pPr marL="0" indent="0" algn="l">
                  <a:buNone/>
                </a:pPr>
                <a:r>
                  <a:rPr sz="2400"/>
                  <a:t>注意：在译码器1的初始迭代时，外部后验</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(2)</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br>
                  <a:rPr lang="en-US" altLang="zh-CN" sz="2400" i="1">
                    <a:latin typeface="Cambria Math" panose="02040503050406030204" pitchFamily="18" charset="0"/>
                    <a:cs typeface="Cambria Math" panose="02040503050406030204" pitchFamily="18" charset="0"/>
                  </a:rPr>
                </a:b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(1)</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sz="2400"/>
                  <a:t>就是初始先验</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Sub>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sz="2400"/>
                  <a:t>(对于等概信息比特，该值为 0)，在译码器1的随后迭代中，先验</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𝑎</m:t>
                        </m:r>
                      </m:sub>
                      <m:sup>
                        <m:r>
                          <a:rPr lang="en-US" altLang="zh-CN" sz="2400">
                            <a:latin typeface="Cambria Math" panose="02040503050406030204" pitchFamily="18" charset="0"/>
                            <a:cs typeface="Cambria Math" panose="02040503050406030204" pitchFamily="18" charset="0"/>
                          </a:rPr>
                          <m:t>(1)</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sz="2400"/>
                  <a:t>就用接收到的外部后验</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(2)</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lang="en-US" sz="2400"/>
                  <a:t>(</a:t>
                </a:r>
                <a:r>
                  <a:rPr sz="2400"/>
                  <a:t>进行解交织处理后</a:t>
                </a:r>
                <a:r>
                  <a:rPr lang="en-US" sz="2400"/>
                  <a:t>)</a:t>
                </a:r>
                <a:r>
                  <a:rPr sz="2400"/>
                  <a:t>代替</a:t>
                </a:r>
                <a:r>
                  <a:rPr lang="zh-CN" sz="240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98855" y="1490345"/>
                <a:ext cx="10769600" cy="4879975"/>
              </a:xfrm>
              <a:blipFill>
                <a:blip r:embed="rId3"/>
                <a:stretch>
                  <a:fillRect l="-736" r="-736" b="-2497"/>
                </a:stretch>
              </a:blipFill>
            </p:spPr>
            <p:txBody>
              <a:bodyPr/>
              <a:lstStyle/>
              <a:p>
                <a:r>
                  <a:rPr lang="zh-CN" altLang="en-US">
                    <a:noFill/>
                  </a:rPr>
                  <a:t> </a:t>
                </a:r>
              </a:p>
            </p:txBody>
          </p:sp>
        </mc:Fallback>
      </mc:AlternateContent>
    </p:spTree>
    <p:custDataLst>
      <p:tags r:id="rId1"/>
    </p:custData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MAP</a:t>
            </a:r>
            <a:r>
              <a:rPr lang="zh-CN" altLang="en-US">
                <a:sym typeface="+mn-ea"/>
              </a:rPr>
              <a:t>译码算法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08330" y="1490345"/>
                <a:ext cx="10909300" cy="4406900"/>
              </a:xfrm>
            </p:spPr>
            <p:txBody>
              <a:bodyPr>
                <a:normAutofit lnSpcReduction="10000"/>
              </a:bodyPr>
              <a:lstStyle/>
              <a:p>
                <a:pPr algn="l"/>
                <a:r>
                  <a:rPr sz="2400"/>
                  <a:t>对于译码器2，其第一次迭代和随后的迭代都是相同的，外部后验</a:t>
                </a:r>
                <a:r>
                  <a:rPr sz="2400" i="1">
                    <a:latin typeface="Times New Roman" panose="02020603050405020304" pitchFamily="18" charset="0"/>
                    <a:cs typeface="Times New Roman" panose="02020603050405020304" pitchFamily="18" charset="0"/>
                    <a:sym typeface="+mn-ea"/>
                  </a:rPr>
                  <a:t>L</a:t>
                </a:r>
                <a:r>
                  <a:rPr sz="2400"/>
                  <a:t>值一直都是</a:t>
                </a:r>
                <a14:m>
                  <m:oMath xmlns:m="http://schemas.openxmlformats.org/officeDocument/2006/math">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𝐿</m:t>
                        </m:r>
                      </m:e>
                      <m:sub>
                        <m:r>
                          <a:rPr lang="en-US" altLang="zh-CN" sz="2400" i="1">
                            <a:latin typeface="Cambria Math" panose="02040503050406030204" pitchFamily="18" charset="0"/>
                            <a:cs typeface="Cambria Math" panose="02040503050406030204" pitchFamily="18" charset="0"/>
                          </a:rPr>
                          <m:t>𝑒</m:t>
                        </m:r>
                      </m:sub>
                      <m:sup>
                        <m:r>
                          <a:rPr lang="en-US" altLang="zh-CN" sz="2400">
                            <a:latin typeface="Cambria Math" panose="02040503050406030204" pitchFamily="18" charset="0"/>
                            <a:cs typeface="Cambria Math" panose="02040503050406030204" pitchFamily="18" charset="0"/>
                          </a:rPr>
                          <m:t>(1)</m:t>
                        </m:r>
                      </m:sup>
                    </m:sSubSup>
                    <m:d>
                      <m:dPr>
                        <m:ctrlPr>
                          <a:rPr lang="en-US" altLang="zh-CN" sz="2400" i="1">
                            <a:latin typeface="Cambria Math" panose="02040503050406030204" pitchFamily="18" charset="0"/>
                            <a:cs typeface="Cambria Math" panose="02040503050406030204" pitchFamily="18" charset="0"/>
                          </a:rPr>
                        </m:ctrlPr>
                      </m:dPr>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e>
                    </m:d>
                  </m:oMath>
                </a14:m>
                <a:r>
                  <a:rPr sz="2400"/>
                  <a:t>。译码迭代处理，每个译码器将其外部</a:t>
                </a:r>
                <a:r>
                  <a:rPr sz="2400" i="1">
                    <a:latin typeface="Times New Roman" panose="02020603050405020304" pitchFamily="18" charset="0"/>
                    <a:cs typeface="Times New Roman" panose="02020603050405020304" pitchFamily="18" charset="0"/>
                    <a:sym typeface="+mn-ea"/>
                  </a:rPr>
                  <a:t>L</a:t>
                </a:r>
                <a:r>
                  <a:rPr sz="2400"/>
                  <a:t>值传送给另一个译码器，形成一个Turbo的效果，使得译码结果越来越可靠。</a:t>
                </a:r>
              </a:p>
              <a:p>
                <a:pPr algn="l"/>
                <a:r>
                  <a:rPr sz="2400"/>
                  <a:t>经过一定次数的迭代后，译码后的信息比特就从译码器2输出的后验</a:t>
                </a:r>
                <a:r>
                  <a:rPr sz="2400" i="1">
                    <a:latin typeface="Times New Roman" panose="02020603050405020304" pitchFamily="18" charset="0"/>
                    <a:cs typeface="Times New Roman" panose="02020603050405020304" pitchFamily="18" charset="0"/>
                    <a:sym typeface="+mn-ea"/>
                  </a:rPr>
                  <a:t>L</a:t>
                </a:r>
                <a:r>
                  <a:rPr sz="2400"/>
                  <a:t>值</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𝐿</m:t>
                        </m:r>
                      </m:e>
                      <m:sup>
                        <m:r>
                          <a:rPr lang="en-US" altLang="zh-CN" sz="2400" i="1">
                            <a:latin typeface="Cambria Math" panose="02040503050406030204" pitchFamily="18" charset="0"/>
                            <a:cs typeface="Cambria Math" panose="02040503050406030204" pitchFamily="18" charset="0"/>
                          </a:rPr>
                          <m:t>(2)</m:t>
                        </m:r>
                      </m:sup>
                    </m:sSup>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𝑢</m:t>
                        </m:r>
                      </m:e>
                      <m:sub>
                        <m:r>
                          <a:rPr lang="en-US" altLang="zh-CN" sz="2400" i="1">
                            <a:latin typeface="Cambria Math" panose="02040503050406030204" pitchFamily="18" charset="0"/>
                            <a:cs typeface="Cambria Math" panose="02040503050406030204" pitchFamily="18" charset="0"/>
                          </a:rPr>
                          <m:t>1</m:t>
                        </m:r>
                      </m:sub>
                    </m:sSub>
                    <m:r>
                      <a:rPr lang="en-US" altLang="zh-CN" sz="2400" i="1">
                        <a:latin typeface="Cambria Math" panose="02040503050406030204" pitchFamily="18" charset="0"/>
                        <a:cs typeface="Cambria Math" panose="02040503050406030204" pitchFamily="18" charset="0"/>
                      </a:rPr>
                      <m:t>)</m:t>
                    </m:r>
                  </m:oMath>
                </a14:m>
                <a:r>
                  <a:rPr sz="2400"/>
                  <a:t>中判决得到，如果该</a:t>
                </a:r>
                <a:r>
                  <a:rPr sz="2400" i="1">
                    <a:latin typeface="Times New Roman" panose="02020603050405020304" pitchFamily="18" charset="0"/>
                    <a:cs typeface="Times New Roman" panose="02020603050405020304" pitchFamily="18" charset="0"/>
                    <a:sym typeface="+mn-ea"/>
                  </a:rPr>
                  <a:t>L</a:t>
                </a:r>
                <a:r>
                  <a:rPr sz="2400"/>
                  <a:t>值为正，就判为＋1，否则就判为－1。</a:t>
                </a:r>
              </a:p>
              <a:p>
                <a:pPr algn="l"/>
                <a:r>
                  <a:rPr sz="2400"/>
                  <a:t>值得一提的是：Turbo 的很多特性与 LDPC 很类似，如编码方案都是产生随机重量分布的码、译码方法都是在迭代过程中利用了后验概率似然值、都利用了外部信息的概念等。实际上，正是由于Turbo码的出现，才使得人们对LDPC码的优点有了重新的认识。</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08330" y="1490345"/>
                <a:ext cx="10909300" cy="4406900"/>
              </a:xfrm>
              <a:blipFill>
                <a:blip r:embed="rId3"/>
                <a:stretch>
                  <a:fillRect l="-783" t="-138" b="-2490"/>
                </a:stretch>
              </a:blipFill>
            </p:spPr>
            <p:txBody>
              <a:bodyPr/>
              <a:lstStyle/>
              <a:p>
                <a:r>
                  <a:rPr lang="zh-CN" altLang="en-US">
                    <a:noFill/>
                  </a:rPr>
                  <a:t> </a:t>
                </a:r>
              </a:p>
            </p:txBody>
          </p:sp>
        </mc:Fallback>
      </mc:AlternateContent>
    </p:spTree>
    <p:custDataLst>
      <p:tags r:id="rId1"/>
    </p:custData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sym typeface="+mn-ea"/>
              </a:rPr>
              <a:t>不同</a:t>
            </a:r>
            <a:r>
              <a:rPr>
                <a:sym typeface="+mn-ea"/>
              </a:rPr>
              <a:t>译码算法对Turbo码</a:t>
            </a:r>
            <a:r>
              <a:rPr lang="zh-CN">
                <a:sym typeface="+mn-ea"/>
              </a:rPr>
              <a:t>性能</a:t>
            </a:r>
            <a:r>
              <a:rPr>
                <a:sym typeface="+mn-ea"/>
              </a:rPr>
              <a:t>的影响</a:t>
            </a: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8200" y="1882140"/>
            <a:ext cx="5198110" cy="4384040"/>
          </a:xfrm>
          <a:prstGeom prst="rect">
            <a:avLst/>
          </a:prstGeom>
        </p:spPr>
      </p:pic>
    </p:spTree>
    <p:custDataLst>
      <p:tags r:id="rId1"/>
    </p:custData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不同迭代次数对Turbo码性能的影响</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9150" y="1725930"/>
            <a:ext cx="5467350" cy="4519930"/>
          </a:xfrm>
          <a:prstGeom prst="rect">
            <a:avLst/>
          </a:prstGeom>
        </p:spPr>
      </p:pic>
    </p:spTree>
    <p:custDataLst>
      <p:tags r:id="rId1"/>
    </p:custData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未来展望</a:t>
            </a:r>
          </a:p>
        </p:txBody>
      </p:sp>
      <p:sp>
        <p:nvSpPr>
          <p:cNvPr id="3" name="内容占位符 2"/>
          <p:cNvSpPr>
            <a:spLocks noGrp="1"/>
          </p:cNvSpPr>
          <p:nvPr>
            <p:ph idx="1"/>
          </p:nvPr>
        </p:nvSpPr>
        <p:spPr>
          <a:xfrm>
            <a:off x="608330" y="1490345"/>
            <a:ext cx="10909300" cy="2625090"/>
          </a:xfrm>
        </p:spPr>
        <p:txBody>
          <a:bodyPr>
            <a:normAutofit/>
          </a:bodyPr>
          <a:lstStyle/>
          <a:p>
            <a:pPr algn="l"/>
            <a:r>
              <a:rPr sz="2400" b="1">
                <a:solidFill>
                  <a:srgbClr val="FF0000"/>
                </a:solidFill>
              </a:rPr>
              <a:t>亟待解决的问题</a:t>
            </a:r>
            <a:r>
              <a:rPr lang="zh-CN" sz="2400"/>
              <a:t>：译码算法的改进、复杂性的降低、译码时延的减小</a:t>
            </a:r>
          </a:p>
          <a:p>
            <a:pPr algn="l"/>
            <a:r>
              <a:rPr lang="zh-CN" sz="2400" b="1">
                <a:solidFill>
                  <a:srgbClr val="FF0000"/>
                </a:solidFill>
              </a:rPr>
              <a:t>研究方向</a:t>
            </a:r>
            <a:r>
              <a:rPr lang="zh-CN" sz="2400"/>
              <a:t>：最优分量码与交织器的联合设计、低复杂性译码算法、译码迭代过程的优化、收敛性以及迭代停止准则的设计、联合信道估计/多用户检测/均衡和译码算法、Turbo码与高阶调制技术的结合、Turbo编译码器的硬件实现、Turbo码在无线通信，移动通信以及多媒体通信中的应用</a:t>
            </a:r>
          </a:p>
        </p:txBody>
      </p:sp>
    </p:spTree>
    <p:custDataLst>
      <p:tags r:id="rId1"/>
    </p:custData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1701166" y="2819400"/>
            <a:ext cx="8738235" cy="685800"/>
          </a:xfrm>
        </p:spPr>
        <p:txBody>
          <a:bodyPr vert="horz" wrap="square" lIns="91440" tIns="45720" rIns="91440" bIns="45720" anchor="ctr"/>
          <a:lstStyle>
            <a:lvl1pPr lvl="0">
              <a:defRPr kern="1200"/>
            </a:lvl1pPr>
          </a:lstStyle>
          <a:p>
            <a:pPr lvl="0" algn="ctr" eaLnBrk="1" hangingPunct="1"/>
            <a:r>
              <a:rPr lang="zh-CN" altLang="en-US" sz="3600" dirty="0">
                <a:solidFill>
                  <a:schemeClr val="bg1"/>
                </a:solidFill>
                <a:latin typeface="黑体" panose="02010609060101010101" pitchFamily="49" charset="-122"/>
                <a:ea typeface="黑体" panose="02010609060101010101" pitchFamily="49" charset="-122"/>
                <a:sym typeface="+mn-ea"/>
              </a:rPr>
              <a:t>第七章 二维码</a:t>
            </a:r>
          </a:p>
        </p:txBody>
      </p:sp>
      <p:sp>
        <p:nvSpPr>
          <p:cNvPr id="2" name="文本框 1"/>
          <p:cNvSpPr txBox="1"/>
          <p:nvPr/>
        </p:nvSpPr>
        <p:spPr>
          <a:xfrm>
            <a:off x="3829686" y="3879851"/>
            <a:ext cx="4815205" cy="1731243"/>
          </a:xfrm>
          <a:prstGeom prst="rect">
            <a:avLst/>
          </a:prstGeom>
          <a:noFill/>
        </p:spPr>
        <p:txBody>
          <a:bodyPr wrap="square" rtlCol="0">
            <a:spAutoFit/>
          </a:bodyPr>
          <a:lstStyle/>
          <a:p>
            <a:pPr eaLnBrk="0" fontAlgn="base" hangingPunct="0">
              <a:lnSpc>
                <a:spcPts val="4500"/>
              </a:lnSpc>
              <a:spcBef>
                <a:spcPct val="0"/>
              </a:spcBef>
              <a:spcAft>
                <a:spcPct val="0"/>
              </a:spcAft>
            </a:pPr>
            <a:r>
              <a:rPr lang="zh-CN" altLang="en-US" sz="2800" b="1" dirty="0">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李丽香，彭海朋</a:t>
            </a:r>
            <a:endParaRPr lang="zh-CN" altLang="en-US" sz="2400" b="1" dirty="0">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endParaRPr>
          </a:p>
          <a:p>
            <a:pPr eaLnBrk="0" fontAlgn="base" hangingPunct="0">
              <a:lnSpc>
                <a:spcPts val="4500"/>
              </a:lnSpc>
              <a:spcBef>
                <a:spcPct val="0"/>
              </a:spcBef>
              <a:spcAft>
                <a:spcPct val="0"/>
              </a:spcAft>
            </a:pPr>
            <a:r>
              <a:rPr lang="zh-CN" altLang="en-US" sz="2400" b="1" dirty="0">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北京邮电大学网络空间安全学院</a:t>
            </a:r>
          </a:p>
          <a:p>
            <a:pPr eaLnBrk="0" fontAlgn="base" hangingPunct="0">
              <a:lnSpc>
                <a:spcPts val="4500"/>
              </a:lnSpc>
              <a:spcBef>
                <a:spcPct val="0"/>
              </a:spcBef>
              <a:spcAft>
                <a:spcPct val="0"/>
              </a:spcAft>
            </a:pPr>
            <a:r>
              <a:rPr lang="zh-CN" altLang="en-US" sz="2400" b="1" dirty="0">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网络与交换技术国家重点实验室</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00943" y="-23751"/>
            <a:ext cx="4512945" cy="685800"/>
          </a:xfrm>
        </p:spPr>
        <p:txBody>
          <a:bodyPr/>
          <a:lstStyle/>
          <a:p>
            <a:r>
              <a:rPr lang="zh-CN" altLang="en-US" sz="2400" dirty="0">
                <a:sym typeface="+mn-ea"/>
              </a:rPr>
              <a:t>条形码简史</a:t>
            </a:r>
          </a:p>
        </p:txBody>
      </p:sp>
      <p:graphicFrame>
        <p:nvGraphicFramePr>
          <p:cNvPr id="7" name="图示 6"/>
          <p:cNvGraphicFramePr/>
          <p:nvPr/>
        </p:nvGraphicFramePr>
        <p:xfrm>
          <a:off x="1524001" y="914466"/>
          <a:ext cx="9143999" cy="58672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文本框 7"/>
          <p:cNvSpPr txBox="1"/>
          <p:nvPr/>
        </p:nvSpPr>
        <p:spPr>
          <a:xfrm>
            <a:off x="1752714" y="3650750"/>
            <a:ext cx="685782"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3333CC"/>
                </a:solidFill>
                <a:latin typeface="黑体" panose="02010609060101010101" pitchFamily="49" charset="-122"/>
                <a:ea typeface="黑体" panose="02010609060101010101" pitchFamily="49" charset="-122"/>
                <a:sym typeface="+mn-ea"/>
              </a:rPr>
              <a:t>1920</a:t>
            </a: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12" name="文本框 11"/>
          <p:cNvSpPr txBox="1"/>
          <p:nvPr/>
        </p:nvSpPr>
        <p:spPr>
          <a:xfrm>
            <a:off x="2934250" y="3650750"/>
            <a:ext cx="685782"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3333CC"/>
                </a:solidFill>
                <a:latin typeface="黑体" panose="02010609060101010101" pitchFamily="49" charset="-122"/>
                <a:ea typeface="黑体" panose="02010609060101010101" pitchFamily="49" charset="-122"/>
                <a:sym typeface="+mn-ea"/>
              </a:rPr>
              <a:t>1950</a:t>
            </a: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13" name="文本框 12"/>
          <p:cNvSpPr txBox="1"/>
          <p:nvPr/>
        </p:nvSpPr>
        <p:spPr>
          <a:xfrm>
            <a:off x="4114618" y="3650750"/>
            <a:ext cx="685782"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3333CC"/>
                </a:solidFill>
                <a:latin typeface="黑体" panose="02010609060101010101" pitchFamily="49" charset="-122"/>
                <a:ea typeface="黑体" panose="02010609060101010101" pitchFamily="49" charset="-122"/>
                <a:sym typeface="+mn-ea"/>
              </a:rPr>
              <a:t>1959</a:t>
            </a: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14" name="文本框 13"/>
          <p:cNvSpPr txBox="1"/>
          <p:nvPr/>
        </p:nvSpPr>
        <p:spPr>
          <a:xfrm>
            <a:off x="8856264" y="3650750"/>
            <a:ext cx="685782"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3333CC"/>
                </a:solidFill>
                <a:latin typeface="黑体" panose="02010609060101010101" pitchFamily="49" charset="-122"/>
                <a:ea typeface="黑体" panose="02010609060101010101" pitchFamily="49" charset="-122"/>
                <a:sym typeface="+mn-ea"/>
              </a:rPr>
              <a:t>2000</a:t>
            </a: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15" name="文本框 14"/>
          <p:cNvSpPr txBox="1"/>
          <p:nvPr/>
        </p:nvSpPr>
        <p:spPr>
          <a:xfrm>
            <a:off x="7675896" y="3650750"/>
            <a:ext cx="685782"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3333CC"/>
                </a:solidFill>
                <a:latin typeface="黑体" panose="02010609060101010101" pitchFamily="49" charset="-122"/>
                <a:ea typeface="黑体" panose="02010609060101010101" pitchFamily="49" charset="-122"/>
                <a:sym typeface="+mn-ea"/>
              </a:rPr>
              <a:t>1988</a:t>
            </a: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16" name="文本框 15"/>
          <p:cNvSpPr txBox="1"/>
          <p:nvPr/>
        </p:nvSpPr>
        <p:spPr>
          <a:xfrm>
            <a:off x="6495528" y="3636736"/>
            <a:ext cx="685782"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3333CC"/>
                </a:solidFill>
                <a:latin typeface="黑体" panose="02010609060101010101" pitchFamily="49" charset="-122"/>
                <a:ea typeface="黑体" panose="02010609060101010101" pitchFamily="49" charset="-122"/>
                <a:sym typeface="+mn-ea"/>
              </a:rPr>
              <a:t>1970</a:t>
            </a: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17" name="文本框 16"/>
          <p:cNvSpPr txBox="1"/>
          <p:nvPr/>
        </p:nvSpPr>
        <p:spPr>
          <a:xfrm>
            <a:off x="5315160" y="3643586"/>
            <a:ext cx="685782"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3333CC"/>
                </a:solidFill>
                <a:latin typeface="黑体" panose="02010609060101010101" pitchFamily="49" charset="-122"/>
                <a:ea typeface="黑体" panose="02010609060101010101" pitchFamily="49" charset="-122"/>
                <a:sym typeface="+mn-ea"/>
              </a:rPr>
              <a:t>1960</a:t>
            </a: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9" name="文本框 8"/>
          <p:cNvSpPr txBox="1"/>
          <p:nvPr/>
        </p:nvSpPr>
        <p:spPr>
          <a:xfrm>
            <a:off x="1573605" y="2166258"/>
            <a:ext cx="2126217" cy="1477328"/>
          </a:xfrm>
          <a:prstGeom prst="rect">
            <a:avLst/>
          </a:prstGeom>
          <a:noFill/>
        </p:spPr>
        <p:txBody>
          <a:bodyPr wrap="square" rtlCol="0" anchor="b">
            <a:spAutoFit/>
          </a:bodyPr>
          <a:lstStyle/>
          <a:p>
            <a:pPr eaLnBrk="0" fontAlgn="base" hangingPunct="0">
              <a:spcBef>
                <a:spcPct val="0"/>
              </a:spcBef>
              <a:spcAft>
                <a:spcPct val="0"/>
              </a:spcAft>
            </a:pPr>
            <a:r>
              <a:rPr lang="en-US" altLang="zh-CN" dirty="0">
                <a:solidFill>
                  <a:srgbClr val="000000"/>
                </a:solidFill>
                <a:latin typeface="Times New Roman" panose="02020603050405020304" pitchFamily="18" charset="0"/>
                <a:ea typeface="黑体" panose="02010609060101010101" pitchFamily="49" charset="-122"/>
              </a:rPr>
              <a:t>20</a:t>
            </a:r>
            <a:r>
              <a:rPr lang="zh-CN" altLang="en-US" dirty="0">
                <a:solidFill>
                  <a:srgbClr val="000000"/>
                </a:solidFill>
                <a:latin typeface="Times New Roman" panose="02020603050405020304" pitchFamily="18" charset="0"/>
                <a:ea typeface="黑体" panose="02010609060101010101" pitchFamily="49" charset="-122"/>
              </a:rPr>
              <a:t>世纪</a:t>
            </a:r>
            <a:r>
              <a:rPr lang="en-US" altLang="zh-CN" dirty="0">
                <a:solidFill>
                  <a:srgbClr val="000000"/>
                </a:solidFill>
                <a:latin typeface="Times New Roman" panose="02020603050405020304" pitchFamily="18" charset="0"/>
                <a:ea typeface="黑体" panose="02010609060101010101" pitchFamily="49" charset="-122"/>
              </a:rPr>
              <a:t>20</a:t>
            </a:r>
            <a:r>
              <a:rPr lang="zh-CN" altLang="en-US" dirty="0">
                <a:solidFill>
                  <a:srgbClr val="000000"/>
                </a:solidFill>
                <a:latin typeface="Times New Roman" panose="02020603050405020304" pitchFamily="18" charset="0"/>
                <a:ea typeface="黑体" panose="02010609060101010101" pitchFamily="49" charset="-122"/>
              </a:rPr>
              <a:t>年代，约翰</a:t>
            </a:r>
            <a:r>
              <a:rPr lang="en-US" altLang="zh-CN" dirty="0">
                <a:solidFill>
                  <a:srgbClr val="000000"/>
                </a:solidFill>
                <a:latin typeface="Times New Roman" panose="02020603050405020304" pitchFamily="18" charset="0"/>
                <a:ea typeface="黑体" panose="02010609060101010101" pitchFamily="49" charset="-122"/>
              </a:rPr>
              <a:t>·</a:t>
            </a:r>
            <a:r>
              <a:rPr lang="zh-CN" altLang="en-US" dirty="0">
                <a:solidFill>
                  <a:srgbClr val="000000"/>
                </a:solidFill>
                <a:latin typeface="Times New Roman" panose="02020603050405020304" pitchFamily="18" charset="0"/>
                <a:ea typeface="黑体" panose="02010609060101010101" pitchFamily="49" charset="-122"/>
              </a:rPr>
              <a:t>科芒德实现邮政单据自动分检方法。</a:t>
            </a:r>
          </a:p>
          <a:p>
            <a:pPr eaLnBrk="0" fontAlgn="base" hangingPunct="0">
              <a:spcBef>
                <a:spcPct val="0"/>
              </a:spcBef>
              <a:spcAft>
                <a:spcPct val="0"/>
              </a:spcAft>
            </a:pP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18" name="文本框 17"/>
          <p:cNvSpPr txBox="1"/>
          <p:nvPr/>
        </p:nvSpPr>
        <p:spPr>
          <a:xfrm>
            <a:off x="2419507" y="4230938"/>
            <a:ext cx="1883161" cy="1754326"/>
          </a:xfrm>
          <a:prstGeom prst="rect">
            <a:avLst/>
          </a:prstGeom>
          <a:noFill/>
        </p:spPr>
        <p:txBody>
          <a:bodyPr wrap="square" rtlCol="0" anchor="t">
            <a:spAutoFit/>
          </a:bodyPr>
          <a:lstStyle/>
          <a:p>
            <a:pPr eaLnBrk="0" fontAlgn="base" hangingPunct="0">
              <a:spcBef>
                <a:spcPct val="0"/>
              </a:spcBef>
              <a:spcAft>
                <a:spcPct val="0"/>
              </a:spcAft>
            </a:pPr>
            <a:r>
              <a:rPr lang="en-US" altLang="zh-CN" dirty="0">
                <a:solidFill>
                  <a:srgbClr val="000000"/>
                </a:solidFill>
                <a:latin typeface="Times New Roman" panose="02020603050405020304" pitchFamily="18" charset="0"/>
                <a:ea typeface="黑体"/>
              </a:rPr>
              <a:t>1949</a:t>
            </a:r>
            <a:r>
              <a:rPr lang="zh-CN" altLang="en-US" dirty="0">
                <a:solidFill>
                  <a:srgbClr val="000000"/>
                </a:solidFill>
                <a:latin typeface="Times New Roman" panose="02020603050405020304" pitchFamily="18" charset="0"/>
                <a:ea typeface="黑体"/>
              </a:rPr>
              <a:t>年，美国乔</a:t>
            </a:r>
            <a:r>
              <a:rPr lang="en-US" altLang="zh-CN" dirty="0">
                <a:solidFill>
                  <a:srgbClr val="000000"/>
                </a:solidFill>
                <a:latin typeface="Times New Roman" panose="02020603050405020304" pitchFamily="18" charset="0"/>
                <a:ea typeface="黑体"/>
              </a:rPr>
              <a:t>·</a:t>
            </a:r>
            <a:r>
              <a:rPr lang="zh-CN" altLang="en-US" dirty="0">
                <a:solidFill>
                  <a:srgbClr val="000000"/>
                </a:solidFill>
                <a:latin typeface="Times New Roman" panose="02020603050405020304" pitchFamily="18" charset="0"/>
                <a:ea typeface="黑体"/>
              </a:rPr>
              <a:t>伍德兰德、伯尼</a:t>
            </a:r>
            <a:r>
              <a:rPr lang="en-US" altLang="zh-CN" dirty="0">
                <a:solidFill>
                  <a:srgbClr val="000000"/>
                </a:solidFill>
                <a:latin typeface="Times New Roman" panose="02020603050405020304" pitchFamily="18" charset="0"/>
                <a:ea typeface="黑体"/>
              </a:rPr>
              <a:t>·</a:t>
            </a:r>
            <a:r>
              <a:rPr lang="zh-CN" altLang="en-US" dirty="0">
                <a:solidFill>
                  <a:srgbClr val="000000"/>
                </a:solidFill>
                <a:latin typeface="Times New Roman" panose="02020603050405020304" pitchFamily="18" charset="0"/>
                <a:ea typeface="黑体"/>
              </a:rPr>
              <a:t>西尔沃发明了第一个条形码专利。</a:t>
            </a:r>
          </a:p>
          <a:p>
            <a:pPr eaLnBrk="0" fontAlgn="base" hangingPunct="0">
              <a:spcBef>
                <a:spcPct val="0"/>
              </a:spcBef>
              <a:spcAft>
                <a:spcPct val="0"/>
              </a:spcAft>
            </a:pP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19" name="文本框 18"/>
          <p:cNvSpPr txBox="1"/>
          <p:nvPr/>
        </p:nvSpPr>
        <p:spPr>
          <a:xfrm>
            <a:off x="3822856" y="2202314"/>
            <a:ext cx="1883161" cy="1477328"/>
          </a:xfrm>
          <a:prstGeom prst="rect">
            <a:avLst/>
          </a:prstGeom>
          <a:noFill/>
        </p:spPr>
        <p:txBody>
          <a:bodyPr wrap="square" rtlCol="0" anchor="t">
            <a:spAutoFit/>
          </a:bodyPr>
          <a:lstStyle/>
          <a:p>
            <a:pPr eaLnBrk="0" fontAlgn="base" hangingPunct="0">
              <a:spcBef>
                <a:spcPct val="0"/>
              </a:spcBef>
              <a:spcAft>
                <a:spcPct val="0"/>
              </a:spcAft>
            </a:pPr>
            <a:r>
              <a:rPr lang="en-US" altLang="zh-CN" dirty="0">
                <a:solidFill>
                  <a:srgbClr val="000000"/>
                </a:solidFill>
                <a:latin typeface="Times New Roman" panose="02020603050405020304" pitchFamily="18" charset="0"/>
                <a:ea typeface="黑体"/>
              </a:rPr>
              <a:t>1959</a:t>
            </a:r>
            <a:r>
              <a:rPr lang="zh-CN" altLang="en-US" dirty="0">
                <a:solidFill>
                  <a:srgbClr val="000000"/>
                </a:solidFill>
                <a:latin typeface="Times New Roman" panose="02020603050405020304" pitchFamily="18" charset="0"/>
                <a:ea typeface="黑体"/>
              </a:rPr>
              <a:t>年，吉尔德</a:t>
            </a:r>
            <a:r>
              <a:rPr lang="en-US" altLang="zh-CN" dirty="0">
                <a:solidFill>
                  <a:srgbClr val="000000"/>
                </a:solidFill>
                <a:latin typeface="Times New Roman" panose="02020603050405020304" pitchFamily="18" charset="0"/>
                <a:ea typeface="黑体"/>
              </a:rPr>
              <a:t>·</a:t>
            </a:r>
            <a:r>
              <a:rPr lang="zh-CN" altLang="en-US" dirty="0">
                <a:solidFill>
                  <a:srgbClr val="000000"/>
                </a:solidFill>
                <a:latin typeface="Times New Roman" panose="02020603050405020304" pitchFamily="18" charset="0"/>
                <a:ea typeface="黑体"/>
              </a:rPr>
              <a:t>塞伊赛尔申请了用条形码表示数字的专利。</a:t>
            </a:r>
          </a:p>
          <a:p>
            <a:pPr eaLnBrk="0" fontAlgn="base" hangingPunct="0">
              <a:spcBef>
                <a:spcPct val="0"/>
              </a:spcBef>
              <a:spcAft>
                <a:spcPct val="0"/>
              </a:spcAft>
            </a:pP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20" name="文本框 19"/>
          <p:cNvSpPr txBox="1"/>
          <p:nvPr/>
        </p:nvSpPr>
        <p:spPr>
          <a:xfrm>
            <a:off x="4665008" y="4230938"/>
            <a:ext cx="2082016" cy="1477328"/>
          </a:xfrm>
          <a:prstGeom prst="rect">
            <a:avLst/>
          </a:prstGeom>
          <a:noFill/>
        </p:spPr>
        <p:txBody>
          <a:bodyPr wrap="square" rtlCol="0" anchor="t">
            <a:spAutoFit/>
          </a:bodyPr>
          <a:lstStyle/>
          <a:p>
            <a:pPr eaLnBrk="0" fontAlgn="base" hangingPunct="0">
              <a:spcBef>
                <a:spcPct val="0"/>
              </a:spcBef>
              <a:spcAft>
                <a:spcPct val="0"/>
              </a:spcAft>
            </a:pPr>
            <a:r>
              <a:rPr lang="en-US" altLang="zh-CN" dirty="0">
                <a:solidFill>
                  <a:srgbClr val="000000"/>
                </a:solidFill>
                <a:latin typeface="Times New Roman" panose="02020603050405020304" pitchFamily="18" charset="0"/>
                <a:ea typeface="黑体"/>
              </a:rPr>
              <a:t>60</a:t>
            </a:r>
            <a:r>
              <a:rPr lang="zh-CN" altLang="en-US" dirty="0">
                <a:solidFill>
                  <a:srgbClr val="000000"/>
                </a:solidFill>
                <a:latin typeface="Times New Roman" panose="02020603050405020304" pitchFamily="18" charset="0"/>
                <a:ea typeface="黑体"/>
              </a:rPr>
              <a:t>年代，西尔沃尼亚发明一套条形码系统并在北美铁路系统成功应用。</a:t>
            </a:r>
          </a:p>
          <a:p>
            <a:pPr eaLnBrk="0" fontAlgn="base" hangingPunct="0">
              <a:spcBef>
                <a:spcPct val="0"/>
              </a:spcBef>
              <a:spcAft>
                <a:spcPct val="0"/>
              </a:spcAft>
            </a:pP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21" name="文本框 20"/>
          <p:cNvSpPr txBox="1"/>
          <p:nvPr/>
        </p:nvSpPr>
        <p:spPr>
          <a:xfrm>
            <a:off x="5974260" y="2224379"/>
            <a:ext cx="2126216" cy="1477328"/>
          </a:xfrm>
          <a:prstGeom prst="rect">
            <a:avLst/>
          </a:prstGeom>
          <a:noFill/>
        </p:spPr>
        <p:txBody>
          <a:bodyPr wrap="square" rtlCol="0" anchor="t">
            <a:spAutoFit/>
          </a:bodyPr>
          <a:lstStyle/>
          <a:p>
            <a:pPr eaLnBrk="0" fontAlgn="base" hangingPunct="0">
              <a:spcBef>
                <a:spcPct val="0"/>
              </a:spcBef>
              <a:spcAft>
                <a:spcPct val="0"/>
              </a:spcAft>
            </a:pPr>
            <a:r>
              <a:rPr lang="en-US" altLang="zh-CN" dirty="0">
                <a:solidFill>
                  <a:srgbClr val="000000"/>
                </a:solidFill>
                <a:latin typeface="Times New Roman" panose="02020603050405020304" pitchFamily="18" charset="0"/>
                <a:ea typeface="黑体"/>
              </a:rPr>
              <a:t>70</a:t>
            </a:r>
            <a:r>
              <a:rPr lang="zh-CN" altLang="en-US" dirty="0">
                <a:solidFill>
                  <a:srgbClr val="000000"/>
                </a:solidFill>
                <a:latin typeface="Times New Roman" panose="02020603050405020304" pitchFamily="18" charset="0"/>
                <a:ea typeface="黑体"/>
              </a:rPr>
              <a:t>年代，</a:t>
            </a:r>
            <a:r>
              <a:rPr lang="en-US" altLang="zh-CN" dirty="0">
                <a:solidFill>
                  <a:srgbClr val="000000"/>
                </a:solidFill>
                <a:latin typeface="Times New Roman" panose="02020603050405020304" pitchFamily="18" charset="0"/>
                <a:ea typeface="黑体"/>
              </a:rPr>
              <a:t>UPC</a:t>
            </a:r>
            <a:r>
              <a:rPr lang="zh-CN" altLang="en-US" dirty="0">
                <a:solidFill>
                  <a:srgbClr val="000000"/>
                </a:solidFill>
                <a:latin typeface="Times New Roman" panose="02020603050405020304" pitchFamily="18" charset="0"/>
                <a:ea typeface="黑体"/>
              </a:rPr>
              <a:t>码（</a:t>
            </a:r>
            <a:r>
              <a:rPr lang="en-US" altLang="zh-CN" dirty="0">
                <a:solidFill>
                  <a:srgbClr val="000000"/>
                </a:solidFill>
                <a:latin typeface="Times New Roman" panose="02020603050405020304" pitchFamily="18" charset="0"/>
                <a:ea typeface="黑体"/>
              </a:rPr>
              <a:t>Universal Product Code</a:t>
            </a:r>
            <a:r>
              <a:rPr lang="zh-CN" altLang="en-US" dirty="0">
                <a:solidFill>
                  <a:srgbClr val="000000"/>
                </a:solidFill>
                <a:latin typeface="Times New Roman" panose="02020603050405020304" pitchFamily="18" charset="0"/>
                <a:ea typeface="黑体"/>
              </a:rPr>
              <a:t>）在北美超市得到广泛应用。</a:t>
            </a:r>
          </a:p>
          <a:p>
            <a:pPr eaLnBrk="0" fontAlgn="base" hangingPunct="0">
              <a:spcBef>
                <a:spcPct val="0"/>
              </a:spcBef>
              <a:spcAft>
                <a:spcPct val="0"/>
              </a:spcAft>
            </a:pP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22" name="文本框 21"/>
          <p:cNvSpPr txBox="1"/>
          <p:nvPr/>
        </p:nvSpPr>
        <p:spPr>
          <a:xfrm>
            <a:off x="7128347" y="4242301"/>
            <a:ext cx="2191203" cy="1477328"/>
          </a:xfrm>
          <a:prstGeom prst="rect">
            <a:avLst/>
          </a:prstGeom>
          <a:noFill/>
        </p:spPr>
        <p:txBody>
          <a:bodyPr wrap="square" rtlCol="0" anchor="t">
            <a:spAutoFit/>
          </a:bodyPr>
          <a:lstStyle/>
          <a:p>
            <a:pPr eaLnBrk="0" fontAlgn="base" hangingPunct="0">
              <a:spcBef>
                <a:spcPct val="0"/>
              </a:spcBef>
              <a:spcAft>
                <a:spcPct val="0"/>
              </a:spcAft>
            </a:pPr>
            <a:r>
              <a:rPr lang="en-US" altLang="zh-CN" dirty="0">
                <a:solidFill>
                  <a:srgbClr val="000000"/>
                </a:solidFill>
                <a:latin typeface="Times New Roman" panose="02020603050405020304" pitchFamily="18" charset="0"/>
                <a:ea typeface="黑体"/>
              </a:rPr>
              <a:t>1988</a:t>
            </a:r>
            <a:r>
              <a:rPr lang="zh-CN" altLang="en-US" dirty="0">
                <a:solidFill>
                  <a:srgbClr val="000000"/>
                </a:solidFill>
                <a:latin typeface="Times New Roman" panose="02020603050405020304" pitchFamily="18" charset="0"/>
                <a:ea typeface="黑体"/>
              </a:rPr>
              <a:t>年，中国成立了中国物品编码中心，</a:t>
            </a:r>
            <a:r>
              <a:rPr lang="en-US" altLang="zh-CN" dirty="0">
                <a:solidFill>
                  <a:srgbClr val="000000"/>
                </a:solidFill>
                <a:latin typeface="Times New Roman" panose="02020603050405020304" pitchFamily="18" charset="0"/>
                <a:ea typeface="黑体"/>
              </a:rPr>
              <a:t>80</a:t>
            </a:r>
            <a:r>
              <a:rPr lang="zh-CN" altLang="en-US" dirty="0">
                <a:solidFill>
                  <a:srgbClr val="000000"/>
                </a:solidFill>
                <a:latin typeface="Times New Roman" panose="02020603050405020304" pitchFamily="18" charset="0"/>
                <a:ea typeface="黑体"/>
              </a:rPr>
              <a:t>年代末国外研制出二维码。</a:t>
            </a:r>
          </a:p>
          <a:p>
            <a:pPr eaLnBrk="0" fontAlgn="base" hangingPunct="0">
              <a:spcBef>
                <a:spcPct val="0"/>
              </a:spcBef>
              <a:spcAft>
                <a:spcPct val="0"/>
              </a:spcAft>
            </a:pPr>
            <a:endParaRPr lang="zh-CN" altLang="en-US" b="1" dirty="0">
              <a:solidFill>
                <a:srgbClr val="3333CC"/>
              </a:solidFill>
              <a:latin typeface="黑体" panose="02010609060101010101" pitchFamily="49" charset="-122"/>
              <a:ea typeface="黑体" panose="02010609060101010101" pitchFamily="49" charset="-122"/>
              <a:sym typeface="+mn-ea"/>
            </a:endParaRPr>
          </a:p>
        </p:txBody>
      </p:sp>
      <p:sp>
        <p:nvSpPr>
          <p:cNvPr id="23" name="文本框 22"/>
          <p:cNvSpPr txBox="1"/>
          <p:nvPr/>
        </p:nvSpPr>
        <p:spPr>
          <a:xfrm>
            <a:off x="8405173" y="2734123"/>
            <a:ext cx="1828752" cy="646331"/>
          </a:xfrm>
          <a:prstGeom prst="rect">
            <a:avLst/>
          </a:prstGeom>
          <a:noFill/>
        </p:spPr>
        <p:txBody>
          <a:bodyPr wrap="square" rtlCol="0" anchor="t">
            <a:spAutoFit/>
          </a:bodyPr>
          <a:lstStyle/>
          <a:p>
            <a:pPr eaLnBrk="0" fontAlgn="base" hangingPunct="0">
              <a:spcBef>
                <a:spcPct val="0"/>
              </a:spcBef>
              <a:spcAft>
                <a:spcPct val="0"/>
              </a:spcAft>
            </a:pPr>
            <a:r>
              <a:rPr lang="en-US" altLang="zh-CN" dirty="0">
                <a:solidFill>
                  <a:srgbClr val="000000"/>
                </a:solidFill>
                <a:latin typeface="Times New Roman" panose="02020603050405020304" pitchFamily="18" charset="0"/>
                <a:ea typeface="黑体" panose="02010609060101010101" pitchFamily="49" charset="-122"/>
                <a:sym typeface="+mn-ea"/>
              </a:rPr>
              <a:t>1997</a:t>
            </a:r>
            <a:r>
              <a:rPr lang="zh-CN" altLang="en-US" dirty="0">
                <a:solidFill>
                  <a:srgbClr val="000000"/>
                </a:solidFill>
                <a:latin typeface="Times New Roman" panose="02020603050405020304" pitchFamily="18" charset="0"/>
                <a:ea typeface="黑体" panose="02010609060101010101" pitchFamily="49" charset="-122"/>
                <a:sym typeface="+mn-ea"/>
              </a:rPr>
              <a:t>、</a:t>
            </a:r>
            <a:r>
              <a:rPr lang="en-US" altLang="zh-CN" dirty="0">
                <a:solidFill>
                  <a:srgbClr val="000000"/>
                </a:solidFill>
                <a:latin typeface="Times New Roman" panose="02020603050405020304" pitchFamily="18" charset="0"/>
                <a:ea typeface="黑体" panose="02010609060101010101" pitchFamily="49" charset="-122"/>
                <a:sym typeface="+mn-ea"/>
              </a:rPr>
              <a:t>2000</a:t>
            </a:r>
            <a:r>
              <a:rPr lang="zh-CN" altLang="en-US" dirty="0">
                <a:solidFill>
                  <a:srgbClr val="000000"/>
                </a:solidFill>
                <a:latin typeface="Times New Roman" panose="02020603050405020304" pitchFamily="18" charset="0"/>
                <a:ea typeface="黑体" panose="02010609060101010101" pitchFamily="49" charset="-122"/>
                <a:sym typeface="+mn-ea"/>
              </a:rPr>
              <a:t>年确定了国家标准。</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二维码概念</a:t>
            </a:r>
          </a:p>
        </p:txBody>
      </p:sp>
      <p:sp>
        <p:nvSpPr>
          <p:cNvPr id="10" name="文本框 9"/>
          <p:cNvSpPr txBox="1"/>
          <p:nvPr/>
        </p:nvSpPr>
        <p:spPr>
          <a:xfrm>
            <a:off x="2254251" y="927736"/>
            <a:ext cx="7634605" cy="2554545"/>
          </a:xfrm>
          <a:prstGeom prst="rect">
            <a:avLst/>
          </a:prstGeom>
          <a:noFill/>
        </p:spPr>
        <p:txBody>
          <a:bodyPr wrap="square" rtlCol="0" anchor="t">
            <a:spAutoFit/>
          </a:bodyPr>
          <a:lstStyle/>
          <a:p>
            <a:pPr eaLnBrk="0" fontAlgn="base" hangingPunct="0">
              <a:spcBef>
                <a:spcPct val="0"/>
              </a:spcBef>
              <a:spcAft>
                <a:spcPct val="0"/>
              </a:spcAft>
            </a:pPr>
            <a:r>
              <a:rPr lang="en-US"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FF0000"/>
                </a:solidFill>
                <a:latin typeface="Times New Roman" panose="02020603050405020304" pitchFamily="18" charset="0"/>
                <a:ea typeface="黑体" panose="02010609060101010101" pitchFamily="49" charset="-122"/>
                <a:sym typeface="+mn-ea"/>
              </a:rPr>
              <a:t>二维码（</a:t>
            </a:r>
            <a:r>
              <a:rPr lang="en-US" altLang="zh-CN" sz="2000" dirty="0">
                <a:solidFill>
                  <a:srgbClr val="FF0000"/>
                </a:solidFill>
                <a:latin typeface="Times New Roman" panose="02020603050405020304" pitchFamily="18" charset="0"/>
                <a:ea typeface="黑体" panose="02010609060101010101" pitchFamily="49" charset="-122"/>
                <a:sym typeface="+mn-ea"/>
              </a:rPr>
              <a:t>2-dimensional bar code</a:t>
            </a:r>
            <a:r>
              <a:rPr lang="zh-CN" altLang="en-US" sz="2000" dirty="0">
                <a:solidFill>
                  <a:srgbClr val="FF0000"/>
                </a:solidFill>
                <a:latin typeface="Times New Roman" panose="02020603050405020304" pitchFamily="18" charset="0"/>
                <a:ea typeface="黑体" panose="02010609060101010101" pitchFamily="49" charset="-122"/>
                <a:sym typeface="+mn-ea"/>
              </a:rPr>
              <a:t>），也叫二维条码或二维条形码，它是用某种特定的几何图形按一定规律在平面（二维方向上）分布的黑白相间的记录数据符号信息的图形。</a:t>
            </a:r>
            <a:r>
              <a:rPr lang="zh-CN" altLang="en-US" sz="2000" dirty="0">
                <a:solidFill>
                  <a:srgbClr val="000000"/>
                </a:solidFill>
                <a:latin typeface="Times New Roman" panose="02020603050405020304" pitchFamily="18" charset="0"/>
                <a:ea typeface="黑体" panose="02010609060101010101" pitchFamily="49" charset="-122"/>
                <a:sym typeface="+mn-ea"/>
              </a:rPr>
              <a:t>它在代码编制上巧妙地利用构成计算机内部逻辑基础的</a:t>
            </a:r>
            <a:r>
              <a:rPr lang="en-US" altLang="zh-CN" sz="2000" dirty="0">
                <a:solidFill>
                  <a:srgbClr val="000000"/>
                </a:solidFill>
                <a:latin typeface="Times New Roman" panose="02020603050405020304" pitchFamily="18" charset="0"/>
                <a:ea typeface="黑体" panose="02010609060101010101" pitchFamily="49" charset="-122"/>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比特流的概念，使用若干与二进制相对应的几何形体来表示文字数值信息，通过图像输入设备或光电扫描设备自动识读以实现信息自动处理。</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它的起源是日本，原本是</a:t>
            </a:r>
            <a:r>
              <a:rPr lang="en-US" altLang="zh-CN" sz="2000" dirty="0" err="1">
                <a:solidFill>
                  <a:srgbClr val="000000"/>
                </a:solidFill>
                <a:latin typeface="Times New Roman" panose="02020603050405020304" pitchFamily="18" charset="0"/>
                <a:ea typeface="黑体" panose="02010609060101010101" pitchFamily="49" charset="-122"/>
                <a:sym typeface="+mn-ea"/>
              </a:rPr>
              <a:t>DensoWave</a:t>
            </a:r>
            <a:r>
              <a:rPr lang="zh-CN" altLang="en-US" sz="2000" dirty="0">
                <a:solidFill>
                  <a:srgbClr val="000000"/>
                </a:solidFill>
                <a:latin typeface="Times New Roman" panose="02020603050405020304" pitchFamily="18" charset="0"/>
                <a:ea typeface="黑体" panose="02010609060101010101" pitchFamily="49" charset="-122"/>
                <a:sym typeface="+mn-ea"/>
              </a:rPr>
              <a:t>公司为了追踪汽车零部件而设计的一种条码。</a:t>
            </a:r>
            <a:endParaRPr sz="2000" dirty="0">
              <a:solidFill>
                <a:srgbClr val="000000"/>
              </a:solidFill>
              <a:latin typeface="Times New Roman" panose="02020603050405020304" pitchFamily="18" charset="0"/>
              <a:ea typeface="黑体" panose="02010609060101010101" pitchFamily="49" charset="-122"/>
              <a:sym typeface="+mn-ea"/>
            </a:endParaRPr>
          </a:p>
        </p:txBody>
      </p:sp>
      <p:pic>
        <p:nvPicPr>
          <p:cNvPr id="1026" name="Picture 2" descr="二维码 的图像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93" y="4037336"/>
            <a:ext cx="2238483" cy="223848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查看源图像"/>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1560" y="4037374"/>
            <a:ext cx="3493295" cy="22384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二维码的分类与原理</a:t>
            </a:r>
          </a:p>
        </p:txBody>
      </p:sp>
      <p:sp>
        <p:nvSpPr>
          <p:cNvPr id="10" name="文本框 9"/>
          <p:cNvSpPr txBox="1"/>
          <p:nvPr/>
        </p:nvSpPr>
        <p:spPr>
          <a:xfrm>
            <a:off x="2131060" y="1078865"/>
            <a:ext cx="7833360" cy="400110"/>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二维码可以分为行排式二维码和矩阵式二维码。</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
        <p:nvSpPr>
          <p:cNvPr id="4" name="文本框 3"/>
          <p:cNvSpPr txBox="1"/>
          <p:nvPr/>
        </p:nvSpPr>
        <p:spPr>
          <a:xfrm>
            <a:off x="1826953" y="4000630"/>
            <a:ext cx="990574" cy="400110"/>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0000"/>
                </a:solidFill>
                <a:latin typeface="黑体" panose="02010609060101010101" pitchFamily="49" charset="-122"/>
                <a:ea typeface="黑体" panose="02010609060101010101" pitchFamily="49" charset="-122"/>
                <a:sym typeface="+mn-ea"/>
              </a:rPr>
              <a:t>二维码</a:t>
            </a:r>
          </a:p>
        </p:txBody>
      </p:sp>
      <p:sp>
        <p:nvSpPr>
          <p:cNvPr id="5" name="文本框 4"/>
          <p:cNvSpPr txBox="1"/>
          <p:nvPr/>
        </p:nvSpPr>
        <p:spPr>
          <a:xfrm>
            <a:off x="3141420" y="3429000"/>
            <a:ext cx="1828752" cy="400110"/>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0000"/>
                </a:solidFill>
                <a:latin typeface="黑体" panose="02010609060101010101" pitchFamily="49" charset="-122"/>
                <a:ea typeface="黑体" panose="02010609060101010101" pitchFamily="49" charset="-122"/>
                <a:sym typeface="+mn-ea"/>
              </a:rPr>
              <a:t>行排式二维码</a:t>
            </a:r>
          </a:p>
        </p:txBody>
      </p:sp>
      <p:sp>
        <p:nvSpPr>
          <p:cNvPr id="6" name="文本框 5"/>
          <p:cNvSpPr txBox="1"/>
          <p:nvPr/>
        </p:nvSpPr>
        <p:spPr>
          <a:xfrm>
            <a:off x="3141420" y="4646922"/>
            <a:ext cx="1828752" cy="400110"/>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0000"/>
                </a:solidFill>
                <a:latin typeface="黑体" panose="02010609060101010101" pitchFamily="49" charset="-122"/>
                <a:ea typeface="黑体" panose="02010609060101010101" pitchFamily="49" charset="-122"/>
                <a:sym typeface="+mn-ea"/>
              </a:rPr>
              <a:t>矩阵式二维码</a:t>
            </a:r>
          </a:p>
        </p:txBody>
      </p:sp>
      <p:sp>
        <p:nvSpPr>
          <p:cNvPr id="12" name="文本框 11"/>
          <p:cNvSpPr txBox="1"/>
          <p:nvPr/>
        </p:nvSpPr>
        <p:spPr>
          <a:xfrm>
            <a:off x="5410218" y="3065388"/>
            <a:ext cx="1676356"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Code 16K</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
        <p:nvSpPr>
          <p:cNvPr id="13" name="文本框 12"/>
          <p:cNvSpPr txBox="1"/>
          <p:nvPr/>
        </p:nvSpPr>
        <p:spPr>
          <a:xfrm>
            <a:off x="5410218" y="3429000"/>
            <a:ext cx="1676356"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PDF417</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
        <p:nvSpPr>
          <p:cNvPr id="14" name="文本框 13"/>
          <p:cNvSpPr txBox="1"/>
          <p:nvPr/>
        </p:nvSpPr>
        <p:spPr>
          <a:xfrm>
            <a:off x="5410218" y="3866961"/>
            <a:ext cx="1676356"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
        <p:nvSpPr>
          <p:cNvPr id="15" name="文本框 14"/>
          <p:cNvSpPr txBox="1"/>
          <p:nvPr/>
        </p:nvSpPr>
        <p:spPr>
          <a:xfrm>
            <a:off x="5410218" y="4256499"/>
            <a:ext cx="1676356"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Code One</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
        <p:nvSpPr>
          <p:cNvPr id="16" name="文本框 15"/>
          <p:cNvSpPr txBox="1"/>
          <p:nvPr/>
        </p:nvSpPr>
        <p:spPr>
          <a:xfrm>
            <a:off x="5410218" y="4657480"/>
            <a:ext cx="1676356"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QR Code</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
        <p:nvSpPr>
          <p:cNvPr id="17" name="文本框 16"/>
          <p:cNvSpPr txBox="1"/>
          <p:nvPr/>
        </p:nvSpPr>
        <p:spPr>
          <a:xfrm>
            <a:off x="5410218" y="5046073"/>
            <a:ext cx="1676356"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
        <p:nvSpPr>
          <p:cNvPr id="8" name="左大括号 7"/>
          <p:cNvSpPr/>
          <p:nvPr/>
        </p:nvSpPr>
        <p:spPr bwMode="auto">
          <a:xfrm>
            <a:off x="2760431" y="3629055"/>
            <a:ext cx="361889" cy="1203036"/>
          </a:xfrm>
          <a:prstGeom prst="leftBrace">
            <a:avLst>
              <a:gd name="adj1" fmla="val 8333"/>
              <a:gd name="adj2" fmla="val 50343"/>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indent="-342900" fontAlgn="base">
              <a:spcBef>
                <a:spcPct val="20000"/>
              </a:spcBef>
              <a:spcAft>
                <a:spcPct val="0"/>
              </a:spcAft>
              <a:buFont typeface="Wingdings" panose="05000000000000000000" pitchFamily="2" charset="2"/>
              <a:buChar char="v"/>
            </a:pPr>
            <a:endParaRPr kumimoji="1" lang="zh-CN" altLang="en-US" sz="2800">
              <a:solidFill>
                <a:srgbClr val="336699"/>
              </a:solidFill>
              <a:latin typeface="黑体" panose="02010609060101010101" pitchFamily="49" charset="-122"/>
              <a:ea typeface="黑体" panose="02010609060101010101" pitchFamily="49" charset="-122"/>
            </a:endParaRPr>
          </a:p>
        </p:txBody>
      </p:sp>
      <p:sp>
        <p:nvSpPr>
          <p:cNvPr id="9" name="左大括号 8"/>
          <p:cNvSpPr/>
          <p:nvPr/>
        </p:nvSpPr>
        <p:spPr bwMode="auto">
          <a:xfrm>
            <a:off x="4846309" y="3265443"/>
            <a:ext cx="485753" cy="817444"/>
          </a:xfrm>
          <a:prstGeom prst="leftBrace">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indent="-342900" fontAlgn="base">
              <a:spcBef>
                <a:spcPct val="20000"/>
              </a:spcBef>
              <a:spcAft>
                <a:spcPct val="0"/>
              </a:spcAft>
              <a:buFont typeface="Wingdings" panose="05000000000000000000" pitchFamily="2" charset="2"/>
              <a:buChar char="v"/>
            </a:pPr>
            <a:endParaRPr kumimoji="1" lang="zh-CN" altLang="en-US" sz="2800">
              <a:solidFill>
                <a:srgbClr val="336699"/>
              </a:solidFill>
              <a:latin typeface="黑体" panose="02010609060101010101" pitchFamily="49" charset="-122"/>
              <a:ea typeface="黑体" panose="02010609060101010101" pitchFamily="49" charset="-122"/>
            </a:endParaRPr>
          </a:p>
        </p:txBody>
      </p:sp>
      <p:sp>
        <p:nvSpPr>
          <p:cNvPr id="18" name="左大括号 17"/>
          <p:cNvSpPr/>
          <p:nvPr/>
        </p:nvSpPr>
        <p:spPr bwMode="auto">
          <a:xfrm>
            <a:off x="4841577" y="4459867"/>
            <a:ext cx="485753" cy="817444"/>
          </a:xfrm>
          <a:prstGeom prst="leftBrace">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indent="-342900" fontAlgn="base">
              <a:spcBef>
                <a:spcPct val="20000"/>
              </a:spcBef>
              <a:spcAft>
                <a:spcPct val="0"/>
              </a:spcAft>
              <a:buFont typeface="Wingdings" panose="05000000000000000000" pitchFamily="2" charset="2"/>
              <a:buChar char="v"/>
            </a:pPr>
            <a:endParaRPr kumimoji="1" lang="zh-CN" altLang="en-US" sz="2800">
              <a:solidFill>
                <a:srgbClr val="336699"/>
              </a:solidFill>
              <a:latin typeface="黑体" panose="02010609060101010101" pitchFamily="49" charset="-122"/>
              <a:ea typeface="黑体" panose="02010609060101010101" pitchFamily="49" charset="-122"/>
            </a:endParaRPr>
          </a:p>
        </p:txBody>
      </p:sp>
      <p:pic>
        <p:nvPicPr>
          <p:cNvPr id="3074" name="Picture 2" descr="行排式二维码 的图像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7461" y="2322843"/>
            <a:ext cx="2009775" cy="1219200"/>
          </a:xfrm>
          <a:prstGeom prst="rect">
            <a:avLst/>
          </a:prstGeom>
          <a:noFill/>
          <a:extLst>
            <a:ext uri="{909E8E84-426E-40DD-AFC4-6F175D3DCCD1}">
              <a14:hiddenFill xmlns:a14="http://schemas.microsoft.com/office/drawing/2010/main">
                <a:solidFill>
                  <a:srgbClr val="FFFFFF"/>
                </a:solidFill>
              </a14:hiddenFill>
            </a:ext>
          </a:extLst>
        </p:spPr>
      </p:pic>
      <p:pic>
        <p:nvPicPr>
          <p:cNvPr id="20" name="图片 19"/>
          <p:cNvPicPr>
            <a:picLocks noChangeAspect="1"/>
          </p:cNvPicPr>
          <p:nvPr/>
        </p:nvPicPr>
        <p:blipFill>
          <a:blip r:embed="rId3"/>
          <a:stretch>
            <a:fillRect/>
          </a:stretch>
        </p:blipFill>
        <p:spPr>
          <a:xfrm>
            <a:off x="7497460" y="4315288"/>
            <a:ext cx="2162628" cy="1704444"/>
          </a:xfrm>
          <a:prstGeom prst="rect">
            <a:avLst/>
          </a:prstGeom>
        </p:spPr>
      </p:pic>
      <p:sp>
        <p:nvSpPr>
          <p:cNvPr id="23" name="文本框 22"/>
          <p:cNvSpPr txBox="1"/>
          <p:nvPr/>
        </p:nvSpPr>
        <p:spPr>
          <a:xfrm>
            <a:off x="7924752" y="3512211"/>
            <a:ext cx="1676356"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PDF417</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
        <p:nvSpPr>
          <p:cNvPr id="24" name="文本框 23"/>
          <p:cNvSpPr txBox="1"/>
          <p:nvPr/>
        </p:nvSpPr>
        <p:spPr>
          <a:xfrm>
            <a:off x="7924752" y="6019732"/>
            <a:ext cx="1676356"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Code One</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行排式二维码</a:t>
            </a:r>
          </a:p>
        </p:txBody>
      </p:sp>
      <p:sp>
        <p:nvSpPr>
          <p:cNvPr id="10" name="文本框 9"/>
          <p:cNvSpPr txBox="1"/>
          <p:nvPr/>
        </p:nvSpPr>
        <p:spPr>
          <a:xfrm>
            <a:off x="2055496" y="1003301"/>
            <a:ext cx="8039735" cy="2246769"/>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行排式二维码形态上是由多行短截的一维条码堆叠而成。</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FF0000"/>
                </a:solidFill>
                <a:latin typeface="Times New Roman" panose="02020603050405020304" pitchFamily="18" charset="0"/>
                <a:ea typeface="黑体" panose="02010609060101010101" pitchFamily="49" charset="-122"/>
                <a:sym typeface="+mn-ea"/>
              </a:rPr>
              <a:t>行排式二维码，又称堆积式二维码或层排式二维码，其编码原理是建立在一维条码基础之上，按需要堆积成二行或多行。</a:t>
            </a:r>
            <a:endParaRPr lang="en-US" altLang="zh-CN" sz="2000" dirty="0">
              <a:solidFill>
                <a:srgbClr val="FF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它在编码设计、校验原理、识读方式等方面继承了一维条码的一些特点，识读设备和条码印刷与一维条码技术兼容。但由于行数的增加，需要对行进行判定、其译码算法与软件也不完全相同于一维码。</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有代表性的行排式二维码有</a:t>
            </a:r>
            <a:r>
              <a:rPr lang="en-US" altLang="zh-CN" sz="2000" dirty="0">
                <a:solidFill>
                  <a:srgbClr val="000000"/>
                </a:solidFill>
                <a:latin typeface="Times New Roman" panose="02020603050405020304" pitchFamily="18" charset="0"/>
                <a:ea typeface="黑体" panose="02010609060101010101" pitchFamily="49" charset="-122"/>
                <a:sym typeface="+mn-ea"/>
              </a:rPr>
              <a:t>Code 49</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Code 16K</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PDF417</a:t>
            </a:r>
            <a:r>
              <a:rPr lang="zh-CN" altLang="en-US" sz="2000" dirty="0">
                <a:solidFill>
                  <a:srgbClr val="000000"/>
                </a:solidFill>
                <a:latin typeface="Times New Roman" panose="02020603050405020304" pitchFamily="18" charset="0"/>
                <a:ea typeface="黑体" panose="02010609060101010101" pitchFamily="49" charset="-122"/>
                <a:sym typeface="+mn-ea"/>
              </a:rPr>
              <a:t>等。</a:t>
            </a:r>
            <a:endParaRPr sz="2000" dirty="0">
              <a:solidFill>
                <a:srgbClr val="000000"/>
              </a:solidFill>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a:blip r:embed="rId2"/>
          <a:stretch>
            <a:fillRect/>
          </a:stretch>
        </p:blipFill>
        <p:spPr>
          <a:xfrm>
            <a:off x="7866170" y="4289115"/>
            <a:ext cx="2324100" cy="1076325"/>
          </a:xfrm>
          <a:prstGeom prst="rect">
            <a:avLst/>
          </a:prstGeom>
        </p:spPr>
      </p:pic>
      <p:pic>
        <p:nvPicPr>
          <p:cNvPr id="6" name="图片 5"/>
          <p:cNvPicPr>
            <a:picLocks noChangeAspect="1"/>
          </p:cNvPicPr>
          <p:nvPr/>
        </p:nvPicPr>
        <p:blipFill>
          <a:blip r:embed="rId3"/>
          <a:stretch>
            <a:fillRect/>
          </a:stretch>
        </p:blipFill>
        <p:spPr>
          <a:xfrm>
            <a:off x="2001659" y="3890941"/>
            <a:ext cx="2390775" cy="1676400"/>
          </a:xfrm>
          <a:prstGeom prst="rect">
            <a:avLst/>
          </a:prstGeom>
        </p:spPr>
      </p:pic>
      <p:pic>
        <p:nvPicPr>
          <p:cNvPr id="8" name="图片 7"/>
          <p:cNvPicPr>
            <a:picLocks noChangeAspect="1"/>
          </p:cNvPicPr>
          <p:nvPr/>
        </p:nvPicPr>
        <p:blipFill>
          <a:blip r:embed="rId4"/>
          <a:stretch>
            <a:fillRect/>
          </a:stretch>
        </p:blipFill>
        <p:spPr>
          <a:xfrm>
            <a:off x="4539933" y="4146239"/>
            <a:ext cx="2981325" cy="1219200"/>
          </a:xfrm>
          <a:prstGeom prst="rect">
            <a:avLst/>
          </a:prstGeom>
        </p:spPr>
      </p:pic>
      <p:sp>
        <p:nvSpPr>
          <p:cNvPr id="9" name="文本框 8"/>
          <p:cNvSpPr txBox="1"/>
          <p:nvPr/>
        </p:nvSpPr>
        <p:spPr>
          <a:xfrm>
            <a:off x="2587461" y="5704737"/>
            <a:ext cx="1219168"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Code 49</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
        <p:nvSpPr>
          <p:cNvPr id="12" name="文本框 11"/>
          <p:cNvSpPr txBox="1"/>
          <p:nvPr/>
        </p:nvSpPr>
        <p:spPr>
          <a:xfrm>
            <a:off x="5486416" y="5704737"/>
            <a:ext cx="1219168"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Code 16K</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
        <p:nvSpPr>
          <p:cNvPr id="13" name="文本框 12"/>
          <p:cNvSpPr txBox="1"/>
          <p:nvPr/>
        </p:nvSpPr>
        <p:spPr>
          <a:xfrm>
            <a:off x="8534336" y="5704737"/>
            <a:ext cx="1219168"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PDF417</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矩阵式二维码</a:t>
            </a:r>
          </a:p>
        </p:txBody>
      </p:sp>
      <p:sp>
        <p:nvSpPr>
          <p:cNvPr id="10" name="文本框 9"/>
          <p:cNvSpPr txBox="1"/>
          <p:nvPr/>
        </p:nvSpPr>
        <p:spPr>
          <a:xfrm>
            <a:off x="2055496" y="1078865"/>
            <a:ext cx="8018145" cy="2862322"/>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矩阵式二维码以矩阵的形式组成。</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b="1" dirty="0">
                <a:solidFill>
                  <a:srgbClr val="FF0000"/>
                </a:solidFill>
                <a:latin typeface="Times New Roman" panose="02020603050405020304" pitchFamily="18" charset="0"/>
                <a:ea typeface="黑体" panose="02010609060101010101" pitchFamily="49" charset="-122"/>
                <a:sym typeface="+mn-ea"/>
              </a:rPr>
              <a:t>        矩阵式二维码，又称棋盘式二维码，它是在一个矩形空间通过黑、白像素在矩阵中的不同分布进行编码。</a:t>
            </a:r>
            <a:endParaRPr lang="en-US" altLang="zh-CN" sz="2000" b="1" dirty="0">
              <a:solidFill>
                <a:srgbClr val="FF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在矩阵相应元素位置上，用点（方点、圆点或其他形状）的出现表示二进制“</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”，点的不出现则表示二进制“</a:t>
            </a:r>
            <a:r>
              <a:rPr lang="en-US" altLang="zh-CN" sz="2000" dirty="0">
                <a:solidFill>
                  <a:srgbClr val="000000"/>
                </a:solidFill>
                <a:latin typeface="Times New Roman" panose="02020603050405020304" pitchFamily="18" charset="0"/>
                <a:ea typeface="黑体" panose="02010609060101010101" pitchFamily="49" charset="-122"/>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”，点的排列组合确定了矩阵式二维码所代表的意义。矩阵式二维码是建立在计算机图像处理技术、组合编码原理等基础上的一种新型图形符号自动识读处理码制。</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有代表性的矩阵式二维码有</a:t>
            </a:r>
            <a:r>
              <a:rPr lang="en-US" altLang="zh-CN" sz="2000" dirty="0">
                <a:solidFill>
                  <a:srgbClr val="000000"/>
                </a:solidFill>
                <a:latin typeface="Times New Roman" panose="02020603050405020304" pitchFamily="18" charset="0"/>
                <a:ea typeface="黑体" panose="02010609060101010101" pitchFamily="49" charset="-122"/>
                <a:sym typeface="+mn-ea"/>
              </a:rPr>
              <a:t>Code One</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QR Code</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Data Matrix</a:t>
            </a:r>
            <a:r>
              <a:rPr lang="zh-CN" altLang="en-US" sz="2000" dirty="0">
                <a:solidFill>
                  <a:srgbClr val="000000"/>
                </a:solidFill>
                <a:latin typeface="Times New Roman" panose="02020603050405020304" pitchFamily="18" charset="0"/>
                <a:ea typeface="黑体" panose="02010609060101010101" pitchFamily="49" charset="-122"/>
                <a:sym typeface="+mn-ea"/>
              </a:rPr>
              <a:t>等。</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a:blip r:embed="rId2"/>
          <a:stretch>
            <a:fillRect/>
          </a:stretch>
        </p:blipFill>
        <p:spPr>
          <a:xfrm>
            <a:off x="2055495" y="4366675"/>
            <a:ext cx="1828752" cy="1567502"/>
          </a:xfrm>
          <a:prstGeom prst="rect">
            <a:avLst/>
          </a:prstGeom>
        </p:spPr>
      </p:pic>
      <p:pic>
        <p:nvPicPr>
          <p:cNvPr id="6" name="图片 5"/>
          <p:cNvPicPr>
            <a:picLocks noChangeAspect="1"/>
          </p:cNvPicPr>
          <p:nvPr/>
        </p:nvPicPr>
        <p:blipFill>
          <a:blip r:embed="rId3"/>
          <a:stretch>
            <a:fillRect/>
          </a:stretch>
        </p:blipFill>
        <p:spPr>
          <a:xfrm>
            <a:off x="4411539" y="4323639"/>
            <a:ext cx="2863353" cy="1738164"/>
          </a:xfrm>
          <a:prstGeom prst="rect">
            <a:avLst/>
          </a:prstGeom>
        </p:spPr>
      </p:pic>
      <p:pic>
        <p:nvPicPr>
          <p:cNvPr id="8" name="图片 7"/>
          <p:cNvPicPr>
            <a:picLocks noChangeAspect="1"/>
          </p:cNvPicPr>
          <p:nvPr/>
        </p:nvPicPr>
        <p:blipFill>
          <a:blip r:embed="rId4"/>
          <a:stretch>
            <a:fillRect/>
          </a:stretch>
        </p:blipFill>
        <p:spPr>
          <a:xfrm>
            <a:off x="7937602" y="4366675"/>
            <a:ext cx="2136038" cy="1652092"/>
          </a:xfrm>
          <a:prstGeom prst="rect">
            <a:avLst/>
          </a:prstGeom>
        </p:spPr>
      </p:pic>
      <p:sp>
        <p:nvSpPr>
          <p:cNvPr id="12" name="文本框 11"/>
          <p:cNvSpPr txBox="1"/>
          <p:nvPr/>
        </p:nvSpPr>
        <p:spPr>
          <a:xfrm>
            <a:off x="2377820" y="6061803"/>
            <a:ext cx="1676356"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Code One</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
        <p:nvSpPr>
          <p:cNvPr id="13" name="文本框 12"/>
          <p:cNvSpPr txBox="1"/>
          <p:nvPr/>
        </p:nvSpPr>
        <p:spPr>
          <a:xfrm>
            <a:off x="5126263" y="6061803"/>
            <a:ext cx="1676356"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Data Matrix</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
        <p:nvSpPr>
          <p:cNvPr id="14" name="文本框 13"/>
          <p:cNvSpPr txBox="1"/>
          <p:nvPr/>
        </p:nvSpPr>
        <p:spPr>
          <a:xfrm>
            <a:off x="8333013" y="6061803"/>
            <a:ext cx="1676356" cy="400110"/>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sym typeface="+mn-ea"/>
              </a:rPr>
              <a:t>QR Code</a:t>
            </a:r>
            <a:endParaRPr lang="zh-CN" altLang="en-US" sz="2000" dirty="0">
              <a:solidFill>
                <a:srgbClr val="000000"/>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二维码的特点</a:t>
            </a:r>
          </a:p>
        </p:txBody>
      </p:sp>
      <p:sp>
        <p:nvSpPr>
          <p:cNvPr id="10" name="文本框 9"/>
          <p:cNvSpPr txBox="1"/>
          <p:nvPr/>
        </p:nvSpPr>
        <p:spPr>
          <a:xfrm>
            <a:off x="2086928" y="927735"/>
            <a:ext cx="8018145" cy="3724096"/>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可靠性强</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条形码的读取准确率远远超过人工记录，平均每</a:t>
            </a:r>
            <a:r>
              <a:rPr lang="en-US" altLang="zh-CN" sz="2000" dirty="0">
                <a:solidFill>
                  <a:srgbClr val="000000"/>
                </a:solidFill>
                <a:latin typeface="Times New Roman" panose="02020603050405020304" pitchFamily="18" charset="0"/>
                <a:ea typeface="黑体" panose="02010609060101010101" pitchFamily="49" charset="-122"/>
                <a:sym typeface="+mn-ea"/>
              </a:rPr>
              <a:t>15000</a:t>
            </a:r>
            <a:r>
              <a:rPr lang="zh-CN" altLang="en-US" sz="2000" dirty="0">
                <a:solidFill>
                  <a:srgbClr val="000000"/>
                </a:solidFill>
                <a:latin typeface="Times New Roman" panose="02020603050405020304" pitchFamily="18" charset="0"/>
                <a:ea typeface="黑体" panose="02010609060101010101" pitchFamily="49" charset="-122"/>
                <a:sym typeface="+mn-ea"/>
              </a:rPr>
              <a:t>个字符才会出现一个错误。</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效率高</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条形码的读取速度很快，相当于每秒</a:t>
            </a:r>
            <a:r>
              <a:rPr lang="en-US" altLang="zh-CN" sz="2000" dirty="0">
                <a:solidFill>
                  <a:srgbClr val="000000"/>
                </a:solidFill>
                <a:latin typeface="Times New Roman" panose="02020603050405020304" pitchFamily="18" charset="0"/>
                <a:ea typeface="黑体" panose="02010609060101010101" pitchFamily="49" charset="-122"/>
                <a:sym typeface="+mn-ea"/>
              </a:rPr>
              <a:t>40</a:t>
            </a:r>
            <a:r>
              <a:rPr lang="zh-CN" altLang="en-US" sz="2000" dirty="0">
                <a:solidFill>
                  <a:srgbClr val="000000"/>
                </a:solidFill>
                <a:latin typeface="Times New Roman" panose="02020603050405020304" pitchFamily="18" charset="0"/>
                <a:ea typeface="黑体" panose="02010609060101010101" pitchFamily="49" charset="-122"/>
                <a:sym typeface="+mn-ea"/>
              </a:rPr>
              <a:t>个字符。</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易于制作</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条形码的编写很简单，制作也仅仅需要印刷，被称为“可印刷的计算机语言”。</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高密度</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二维码通过利用垂直方向的堆积来提高条码的信息密度，而且采用高密度图形表示。</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6" name="图片 5"/>
          <p:cNvPicPr>
            <a:picLocks noChangeAspect="1"/>
          </p:cNvPicPr>
          <p:nvPr/>
        </p:nvPicPr>
        <p:blipFill>
          <a:blip r:embed="rId2"/>
          <a:stretch>
            <a:fillRect/>
          </a:stretch>
        </p:blipFill>
        <p:spPr>
          <a:xfrm>
            <a:off x="2341108" y="4870729"/>
            <a:ext cx="3177262" cy="1130313"/>
          </a:xfrm>
          <a:prstGeom prst="rect">
            <a:avLst/>
          </a:prstGeom>
        </p:spPr>
      </p:pic>
      <p:sp>
        <p:nvSpPr>
          <p:cNvPr id="7" name="文本框 6"/>
          <p:cNvSpPr txBox="1"/>
          <p:nvPr/>
        </p:nvSpPr>
        <p:spPr>
          <a:xfrm>
            <a:off x="2086927" y="6078387"/>
            <a:ext cx="3685624" cy="307777"/>
          </a:xfrm>
          <a:prstGeom prst="rect">
            <a:avLst/>
          </a:prstGeom>
          <a:noFill/>
        </p:spPr>
        <p:txBody>
          <a:bodyPr wrap="none" rtlCol="0" anchor="t">
            <a:spAutoFit/>
          </a:bodyPr>
          <a:lstStyle/>
          <a:p>
            <a:pPr eaLnBrk="0" fontAlgn="base" hangingPunct="0">
              <a:spcBef>
                <a:spcPct val="0"/>
              </a:spcBef>
              <a:spcAft>
                <a:spcPct val="0"/>
              </a:spcAft>
            </a:pPr>
            <a:r>
              <a:rPr lang="en-US" altLang="zh-CN" sz="1400" dirty="0">
                <a:solidFill>
                  <a:srgbClr val="000000"/>
                </a:solidFill>
                <a:latin typeface="黑体" panose="02010609060101010101" pitchFamily="49" charset="-122"/>
                <a:ea typeface="黑体" panose="02010609060101010101" pitchFamily="49" charset="-122"/>
                <a:sym typeface="+mn-ea"/>
              </a:rPr>
              <a:t>300</a:t>
            </a:r>
            <a:r>
              <a:rPr lang="zh-CN" altLang="en-US" sz="1400" dirty="0">
                <a:solidFill>
                  <a:srgbClr val="000000"/>
                </a:solidFill>
                <a:latin typeface="黑体" panose="02010609060101010101" pitchFamily="49" charset="-122"/>
                <a:ea typeface="黑体" panose="02010609060101010101" pitchFamily="49" charset="-122"/>
                <a:sym typeface="+mn-ea"/>
              </a:rPr>
              <a:t>个字符或数字被编进这样大小的</a:t>
            </a:r>
            <a:r>
              <a:rPr lang="en-US" altLang="zh-CN" sz="1400" dirty="0">
                <a:solidFill>
                  <a:srgbClr val="000000"/>
                </a:solidFill>
                <a:latin typeface="黑体" panose="02010609060101010101" pitchFamily="49" charset="-122"/>
                <a:ea typeface="黑体" panose="02010609060101010101" pitchFamily="49" charset="-122"/>
                <a:sym typeface="+mn-ea"/>
              </a:rPr>
              <a:t>QR</a:t>
            </a:r>
            <a:r>
              <a:rPr lang="zh-CN" altLang="en-US" sz="1400" dirty="0">
                <a:solidFill>
                  <a:srgbClr val="000000"/>
                </a:solidFill>
                <a:latin typeface="黑体" panose="02010609060101010101" pitchFamily="49" charset="-122"/>
                <a:ea typeface="黑体" panose="02010609060101010101" pitchFamily="49" charset="-122"/>
                <a:sym typeface="+mn-ea"/>
              </a:rPr>
              <a:t>码里面</a:t>
            </a:r>
          </a:p>
        </p:txBody>
      </p:sp>
      <p:pic>
        <p:nvPicPr>
          <p:cNvPr id="9" name="图片 8"/>
          <p:cNvPicPr>
            <a:picLocks noChangeAspect="1"/>
          </p:cNvPicPr>
          <p:nvPr/>
        </p:nvPicPr>
        <p:blipFill>
          <a:blip r:embed="rId3"/>
          <a:stretch>
            <a:fillRect/>
          </a:stretch>
        </p:blipFill>
        <p:spPr>
          <a:xfrm>
            <a:off x="6476991" y="5033617"/>
            <a:ext cx="3275881" cy="804535"/>
          </a:xfrm>
          <a:prstGeom prst="rect">
            <a:avLst/>
          </a:prstGeom>
        </p:spPr>
      </p:pic>
      <p:sp>
        <p:nvSpPr>
          <p:cNvPr id="11" name="文本框 10"/>
          <p:cNvSpPr txBox="1"/>
          <p:nvPr/>
        </p:nvSpPr>
        <p:spPr>
          <a:xfrm>
            <a:off x="6409050" y="6078386"/>
            <a:ext cx="3595856" cy="307777"/>
          </a:xfrm>
          <a:prstGeom prst="rect">
            <a:avLst/>
          </a:prstGeom>
          <a:noFill/>
        </p:spPr>
        <p:txBody>
          <a:bodyPr wrap="none" rtlCol="0" anchor="t">
            <a:spAutoFit/>
          </a:bodyPr>
          <a:lstStyle/>
          <a:p>
            <a:pPr eaLnBrk="0" fontAlgn="base" hangingPunct="0">
              <a:spcBef>
                <a:spcPct val="0"/>
              </a:spcBef>
              <a:spcAft>
                <a:spcPct val="0"/>
              </a:spcAft>
            </a:pPr>
            <a:r>
              <a:rPr lang="zh-CN" altLang="en-US" sz="1400" dirty="0">
                <a:solidFill>
                  <a:srgbClr val="000000"/>
                </a:solidFill>
                <a:latin typeface="黑体" panose="02010609060101010101" pitchFamily="49" charset="-122"/>
                <a:ea typeface="黑体" panose="02010609060101010101" pitchFamily="49" charset="-122"/>
                <a:sym typeface="+mn-ea"/>
              </a:rPr>
              <a:t>同样的数据</a:t>
            </a:r>
            <a:r>
              <a:rPr lang="en-US" altLang="zh-CN" sz="1400" dirty="0">
                <a:solidFill>
                  <a:srgbClr val="000000"/>
                </a:solidFill>
                <a:latin typeface="黑体" panose="02010609060101010101" pitchFamily="49" charset="-122"/>
                <a:ea typeface="黑体" panose="02010609060101010101" pitchFamily="49" charset="-122"/>
                <a:sym typeface="+mn-ea"/>
              </a:rPr>
              <a:t>QR</a:t>
            </a:r>
            <a:r>
              <a:rPr lang="zh-CN" altLang="en-US" sz="1400" dirty="0">
                <a:solidFill>
                  <a:srgbClr val="000000"/>
                </a:solidFill>
                <a:latin typeface="黑体" panose="02010609060101010101" pitchFamily="49" charset="-122"/>
                <a:ea typeface="黑体" panose="02010609060101010101" pitchFamily="49" charset="-122"/>
                <a:sym typeface="+mn-ea"/>
              </a:rPr>
              <a:t>码只有条码空间的</a:t>
            </a:r>
            <a:r>
              <a:rPr lang="en-US" altLang="zh-CN" sz="1400" dirty="0">
                <a:solidFill>
                  <a:srgbClr val="000000"/>
                </a:solidFill>
                <a:latin typeface="黑体" panose="02010609060101010101" pitchFamily="49" charset="-122"/>
                <a:ea typeface="黑体" panose="02010609060101010101" pitchFamily="49" charset="-122"/>
                <a:sym typeface="+mn-ea"/>
              </a:rPr>
              <a:t>1/11</a:t>
            </a:r>
            <a:r>
              <a:rPr lang="zh-CN" altLang="en-US" sz="1400" dirty="0">
                <a:solidFill>
                  <a:srgbClr val="000000"/>
                </a:solidFill>
                <a:latin typeface="黑体" panose="02010609060101010101" pitchFamily="49" charset="-122"/>
                <a:ea typeface="黑体" panose="02010609060101010101" pitchFamily="49" charset="-122"/>
                <a:sym typeface="+mn-ea"/>
              </a:rPr>
              <a:t>的大小</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二维码的特点</a:t>
            </a:r>
          </a:p>
        </p:txBody>
      </p:sp>
      <p:sp>
        <p:nvSpPr>
          <p:cNvPr id="10" name="文本框 9"/>
          <p:cNvSpPr txBox="1"/>
          <p:nvPr/>
        </p:nvSpPr>
        <p:spPr>
          <a:xfrm>
            <a:off x="2086928" y="927736"/>
            <a:ext cx="8018145" cy="4031873"/>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构造简单</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条形码识别设备的构造简单，使用方便。</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灵活实用</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条形码符号可以手工键盘输入，也可以和有关设备组成识别系统实现自动化识别，还可以和其他控制设备联系起来实现整个系统的自动化管理。</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成本低</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与其它自动化识别技术相比较，条形码技术仅仅需要一小张贴纸和相对构造简单的光学扫描仪，成本相当低廉。</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纠错功能</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二维码不仅能防止错误，而且能纠正错误，即使条形码部分损坏，也能将正确的信息还原出来。</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a:blip r:embed="rId2"/>
          <a:stretch>
            <a:fillRect/>
          </a:stretch>
        </p:blipFill>
        <p:spPr>
          <a:xfrm>
            <a:off x="4371387" y="5001692"/>
            <a:ext cx="3449226" cy="1492647"/>
          </a:xfrm>
          <a:prstGeom prst="rect">
            <a:avLst/>
          </a:prstGeom>
        </p:spPr>
      </p:pic>
      <p:sp>
        <p:nvSpPr>
          <p:cNvPr id="5" name="文本框 4"/>
          <p:cNvSpPr txBox="1"/>
          <p:nvPr/>
        </p:nvSpPr>
        <p:spPr>
          <a:xfrm>
            <a:off x="4610138" y="6382533"/>
            <a:ext cx="2971722" cy="307777"/>
          </a:xfrm>
          <a:prstGeom prst="rect">
            <a:avLst/>
          </a:prstGeom>
          <a:noFill/>
        </p:spPr>
        <p:txBody>
          <a:bodyPr wrap="square" rtlCol="0" anchor="t">
            <a:spAutoFit/>
          </a:bodyPr>
          <a:lstStyle/>
          <a:p>
            <a:pPr eaLnBrk="0" fontAlgn="base" hangingPunct="0">
              <a:spcBef>
                <a:spcPct val="0"/>
              </a:spcBef>
              <a:spcAft>
                <a:spcPct val="0"/>
              </a:spcAft>
            </a:pPr>
            <a:r>
              <a:rPr lang="en-US" altLang="zh-CN" sz="1400" dirty="0">
                <a:solidFill>
                  <a:srgbClr val="000000"/>
                </a:solidFill>
                <a:latin typeface="黑体" panose="02010609060101010101" pitchFamily="49" charset="-122"/>
                <a:ea typeface="黑体" panose="02010609060101010101" pitchFamily="49" charset="-122"/>
                <a:sym typeface="+mn-ea"/>
              </a:rPr>
              <a:t>QR</a:t>
            </a:r>
            <a:r>
              <a:rPr lang="zh-CN" altLang="en-US" sz="1400" dirty="0">
                <a:solidFill>
                  <a:srgbClr val="000000"/>
                </a:solidFill>
                <a:latin typeface="黑体" panose="02010609060101010101" pitchFamily="49" charset="-122"/>
                <a:ea typeface="黑体" panose="02010609060101010101" pitchFamily="49" charset="-122"/>
                <a:sym typeface="+mn-ea"/>
              </a:rPr>
              <a:t>码损坏一部分依然能还原信息</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二维码的特点</a:t>
            </a:r>
          </a:p>
        </p:txBody>
      </p:sp>
      <p:sp>
        <p:nvSpPr>
          <p:cNvPr id="10" name="文本框 9"/>
          <p:cNvSpPr txBox="1"/>
          <p:nvPr/>
        </p:nvSpPr>
        <p:spPr>
          <a:xfrm>
            <a:off x="2078355" y="927736"/>
            <a:ext cx="8205470" cy="329320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多语言形式，可表示图像</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二维码具有字节表示模式，即提供了一种表示字节流的机制。不论何种语言文字它们在计算机中存储时以机内码的形式表现，而内部码都是字节码，可识别多种语言文字的条码。</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Wingdings" panose="05000000000000000000" pitchFamily="2" charset="2"/>
              <a:buChar char="Ø"/>
            </a:pPr>
            <a:r>
              <a:rPr lang="zh-CN" altLang="en-US" sz="2400" dirty="0">
                <a:solidFill>
                  <a:srgbClr val="0070C0"/>
                </a:solidFill>
                <a:latin typeface="Times New Roman" panose="02020603050405020304" pitchFamily="18" charset="0"/>
                <a:ea typeface="黑体" panose="02010609060101010101" pitchFamily="49" charset="-122"/>
                <a:sym typeface="+mn-ea"/>
              </a:rPr>
              <a:t>具有加密体制</a:t>
            </a:r>
            <a:endParaRPr lang="en-US" altLang="zh-CN" sz="2400" dirty="0">
              <a:solidFill>
                <a:srgbClr val="0070C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可以先用一定的加密算法将信息加密，再用二维码表示在识别二维条码时，再加以一定的解密算法，便可以恢复所表示的信息。</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除此之外，二维码还具有</a:t>
            </a:r>
            <a:r>
              <a:rPr lang="zh-CN" altLang="en-US" sz="2000" dirty="0">
                <a:solidFill>
                  <a:srgbClr val="0070C0"/>
                </a:solidFill>
                <a:latin typeface="Times New Roman" panose="02020603050405020304" pitchFamily="18" charset="0"/>
                <a:ea typeface="黑体" panose="02010609060101010101" pitchFamily="49" charset="-122"/>
                <a:sym typeface="+mn-ea"/>
              </a:rPr>
              <a:t>可表示信息量密度高</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70C0"/>
                </a:solidFill>
                <a:latin typeface="Times New Roman" panose="02020603050405020304" pitchFamily="18" charset="0"/>
                <a:ea typeface="黑体" panose="02010609060101010101" pitchFamily="49" charset="-122"/>
                <a:sym typeface="+mn-ea"/>
              </a:rPr>
              <a:t>尺寸大小比例可变</a:t>
            </a:r>
            <a:r>
              <a:rPr lang="zh-CN" altLang="en-US" sz="2000" dirty="0">
                <a:solidFill>
                  <a:srgbClr val="000000"/>
                </a:solidFill>
                <a:latin typeface="Times New Roman" panose="02020603050405020304" pitchFamily="18" charset="0"/>
                <a:ea typeface="黑体" panose="02010609060101010101" pitchFamily="49" charset="-122"/>
                <a:sym typeface="+mn-ea"/>
              </a:rPr>
              <a:t>、可以使用激光或</a:t>
            </a:r>
            <a:r>
              <a:rPr lang="en-US" altLang="zh-CN" sz="2000" dirty="0">
                <a:solidFill>
                  <a:srgbClr val="000000"/>
                </a:solidFill>
                <a:latin typeface="Times New Roman" panose="02020603050405020304" pitchFamily="18" charset="0"/>
                <a:ea typeface="黑体" panose="02010609060101010101" pitchFamily="49" charset="-122"/>
                <a:sym typeface="+mn-ea"/>
              </a:rPr>
              <a:t>CCD</a:t>
            </a:r>
            <a:r>
              <a:rPr lang="zh-CN" altLang="en-US" sz="2000" dirty="0">
                <a:solidFill>
                  <a:srgbClr val="000000"/>
                </a:solidFill>
                <a:latin typeface="Times New Roman" panose="02020603050405020304" pitchFamily="18" charset="0"/>
                <a:ea typeface="黑体" panose="02010609060101010101" pitchFamily="49" charset="-122"/>
                <a:sym typeface="+mn-ea"/>
              </a:rPr>
              <a:t>阅读器</a:t>
            </a:r>
            <a:r>
              <a:rPr lang="zh-CN" altLang="en-US" sz="2000" dirty="0">
                <a:solidFill>
                  <a:srgbClr val="0070C0"/>
                </a:solidFill>
                <a:latin typeface="Times New Roman" panose="02020603050405020304" pitchFamily="18" charset="0"/>
                <a:ea typeface="黑体" panose="02010609060101010101" pitchFamily="49" charset="-122"/>
                <a:sym typeface="+mn-ea"/>
              </a:rPr>
              <a:t>方便识读</a:t>
            </a:r>
            <a:r>
              <a:rPr lang="zh-CN" altLang="en-US" sz="2000" dirty="0">
                <a:solidFill>
                  <a:srgbClr val="000000"/>
                </a:solidFill>
                <a:latin typeface="Times New Roman" panose="02020603050405020304" pitchFamily="18" charset="0"/>
                <a:ea typeface="黑体" panose="02010609060101010101" pitchFamily="49" charset="-122"/>
                <a:sym typeface="+mn-ea"/>
              </a:rPr>
              <a:t>等众多优点。</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a:blip r:embed="rId2"/>
          <a:stretch>
            <a:fillRect/>
          </a:stretch>
        </p:blipFill>
        <p:spPr>
          <a:xfrm>
            <a:off x="3609253" y="4690263"/>
            <a:ext cx="4709335" cy="1219168"/>
          </a:xfrm>
          <a:prstGeom prst="rect">
            <a:avLst/>
          </a:prstGeom>
        </p:spPr>
      </p:pic>
      <p:sp>
        <p:nvSpPr>
          <p:cNvPr id="5" name="文本框 4"/>
          <p:cNvSpPr txBox="1"/>
          <p:nvPr/>
        </p:nvSpPr>
        <p:spPr>
          <a:xfrm>
            <a:off x="4255759" y="5988366"/>
            <a:ext cx="3416320" cy="307777"/>
          </a:xfrm>
          <a:prstGeom prst="rect">
            <a:avLst/>
          </a:prstGeom>
          <a:noFill/>
        </p:spPr>
        <p:txBody>
          <a:bodyPr wrap="none" rtlCol="0" anchor="t">
            <a:spAutoFit/>
          </a:bodyPr>
          <a:lstStyle/>
          <a:p>
            <a:pPr eaLnBrk="0" fontAlgn="base" hangingPunct="0">
              <a:spcBef>
                <a:spcPct val="0"/>
              </a:spcBef>
              <a:spcAft>
                <a:spcPct val="0"/>
              </a:spcAft>
            </a:pPr>
            <a:r>
              <a:rPr lang="en-US" altLang="zh-CN" sz="1400" dirty="0">
                <a:solidFill>
                  <a:srgbClr val="000000"/>
                </a:solidFill>
                <a:latin typeface="黑体" panose="02010609060101010101" pitchFamily="49" charset="-122"/>
                <a:ea typeface="黑体" panose="02010609060101010101" pitchFamily="49" charset="-122"/>
                <a:sym typeface="+mn-ea"/>
              </a:rPr>
              <a:t>QR</a:t>
            </a:r>
            <a:r>
              <a:rPr lang="zh-CN" altLang="en-US" sz="1400" dirty="0">
                <a:solidFill>
                  <a:srgbClr val="000000"/>
                </a:solidFill>
                <a:latin typeface="黑体" panose="02010609060101010101" pitchFamily="49" charset="-122"/>
                <a:ea typeface="黑体" panose="02010609060101010101" pitchFamily="49" charset="-122"/>
                <a:sym typeface="+mn-ea"/>
              </a:rPr>
              <a:t>码能够有效地表示中国汉字、日本汉字</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endParaRPr lang="zh-CN" altLang="en-US" sz="2400" dirty="0">
              <a:sym typeface="+mn-ea"/>
            </a:endParaRPr>
          </a:p>
        </p:txBody>
      </p:sp>
      <p:sp>
        <p:nvSpPr>
          <p:cNvPr id="10" name="文本框 9"/>
          <p:cNvSpPr txBox="1"/>
          <p:nvPr/>
        </p:nvSpPr>
        <p:spPr>
          <a:xfrm>
            <a:off x="2078355" y="927736"/>
            <a:ext cx="8205470" cy="5324535"/>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目前二维码方面流行三大国际标准：</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Wingdings" panose="05000000000000000000" pitchFamily="2" charset="2"/>
              <a:buChar char="l"/>
            </a:pPr>
            <a:r>
              <a:rPr lang="en-US" sz="2000" dirty="0">
                <a:solidFill>
                  <a:srgbClr val="000000"/>
                </a:solidFill>
                <a:latin typeface="Times New Roman" panose="02020603050405020304" pitchFamily="18" charset="0"/>
                <a:ea typeface="黑体" panose="02010609060101010101" pitchFamily="49" charset="-122"/>
                <a:sym typeface="+mn-ea"/>
              </a:rPr>
              <a:t>PDF417</a:t>
            </a:r>
            <a:r>
              <a:rPr lang="zh-CN" altLang="en-US" sz="2000" dirty="0">
                <a:solidFill>
                  <a:srgbClr val="000000"/>
                </a:solidFill>
                <a:latin typeface="Times New Roman" panose="02020603050405020304" pitchFamily="18" charset="0"/>
                <a:ea typeface="黑体" panose="02010609060101010101" pitchFamily="49" charset="-122"/>
                <a:sym typeface="+mn-ea"/>
              </a:rPr>
              <a:t>：不支持中文；</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Wingdings" panose="05000000000000000000" pitchFamily="2" charset="2"/>
              <a:buChar char="l"/>
            </a:pPr>
            <a:r>
              <a:rPr lang="en-US" sz="2000" dirty="0">
                <a:solidFill>
                  <a:srgbClr val="000000"/>
                </a:solidFill>
                <a:latin typeface="Times New Roman" panose="02020603050405020304" pitchFamily="18" charset="0"/>
                <a:ea typeface="黑体" panose="02010609060101010101" pitchFamily="49" charset="-122"/>
                <a:sym typeface="+mn-ea"/>
              </a:rPr>
              <a:t>DM</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 Data Matrix </a:t>
            </a:r>
            <a:r>
              <a:rPr lang="zh-CN" altLang="en-US" sz="2000" dirty="0">
                <a:solidFill>
                  <a:srgbClr val="000000"/>
                </a:solidFill>
                <a:latin typeface="Times New Roman" panose="02020603050405020304" pitchFamily="18" charset="0"/>
                <a:ea typeface="黑体" panose="02010609060101010101" pitchFamily="49" charset="-122"/>
                <a:sym typeface="+mn-ea"/>
              </a:rPr>
              <a:t>）：专利未公开，需要支付专利费用；</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Wingdings" panose="05000000000000000000" pitchFamily="2" charset="2"/>
              <a:buChar char="l"/>
            </a:pPr>
            <a:r>
              <a:rPr lang="en-US" sz="2000" dirty="0">
                <a:solidFill>
                  <a:srgbClr val="000000"/>
                </a:solidFill>
                <a:latin typeface="Times New Roman" panose="02020603050405020304" pitchFamily="18" charset="0"/>
                <a:ea typeface="黑体" panose="02010609060101010101" pitchFamily="49" charset="-122"/>
                <a:sym typeface="+mn-ea"/>
              </a:rPr>
              <a:t>QR C</a:t>
            </a:r>
            <a:r>
              <a:rPr lang="en-US" altLang="zh-CN" sz="2000" dirty="0">
                <a:solidFill>
                  <a:srgbClr val="000000"/>
                </a:solidFill>
                <a:latin typeface="Times New Roman" panose="02020603050405020304" pitchFamily="18" charset="0"/>
                <a:ea typeface="黑体" panose="02010609060101010101" pitchFamily="49" charset="-122"/>
                <a:sym typeface="+mn-ea"/>
              </a:rPr>
              <a:t>ode</a:t>
            </a:r>
            <a:r>
              <a:rPr lang="zh-CN" altLang="en-US" sz="2000" dirty="0">
                <a:solidFill>
                  <a:srgbClr val="000000"/>
                </a:solidFill>
                <a:latin typeface="Times New Roman" panose="02020603050405020304" pitchFamily="18" charset="0"/>
                <a:ea typeface="黑体" panose="02010609060101010101" pitchFamily="49" charset="-122"/>
                <a:sym typeface="+mn-ea"/>
              </a:rPr>
              <a:t>：专利公开，支持中文。</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sz="2000" dirty="0">
                <a:solidFill>
                  <a:srgbClr val="000000"/>
                </a:solidFill>
                <a:latin typeface="Times New Roman" panose="02020603050405020304" pitchFamily="18" charset="0"/>
                <a:ea typeface="黑体" panose="02010609060101010101" pitchFamily="49" charset="-122"/>
                <a:sym typeface="+mn-ea"/>
              </a:rPr>
              <a:t>        QR C</a:t>
            </a:r>
            <a:r>
              <a:rPr lang="en-US" altLang="zh-CN" sz="2000" dirty="0">
                <a:solidFill>
                  <a:srgbClr val="000000"/>
                </a:solidFill>
                <a:latin typeface="Times New Roman" panose="02020603050405020304" pitchFamily="18" charset="0"/>
                <a:ea typeface="黑体" panose="02010609060101010101" pitchFamily="49" charset="-122"/>
                <a:sym typeface="+mn-ea"/>
              </a:rPr>
              <a:t>ode</a:t>
            </a:r>
            <a:r>
              <a:rPr lang="zh-CN" altLang="en-US" sz="2000" dirty="0">
                <a:solidFill>
                  <a:srgbClr val="000000"/>
                </a:solidFill>
                <a:latin typeface="Times New Roman" panose="02020603050405020304" pitchFamily="18" charset="0"/>
                <a:ea typeface="黑体" panose="02010609060101010101" pitchFamily="49" charset="-122"/>
                <a:sym typeface="+mn-ea"/>
              </a:rPr>
              <a:t>（全称</a:t>
            </a:r>
            <a:r>
              <a:rPr lang="en-US" altLang="zh-CN" sz="2000" dirty="0">
                <a:solidFill>
                  <a:srgbClr val="000000"/>
                </a:solidFill>
                <a:latin typeface="Times New Roman" panose="02020603050405020304" pitchFamily="18" charset="0"/>
                <a:ea typeface="黑体" panose="02010609060101010101" pitchFamily="49" charset="-122"/>
                <a:sym typeface="+mn-ea"/>
              </a:rPr>
              <a:t>Quick Response Code</a:t>
            </a:r>
            <a:r>
              <a:rPr lang="zh-CN" altLang="en-US" sz="2000" dirty="0">
                <a:solidFill>
                  <a:srgbClr val="000000"/>
                </a:solidFill>
                <a:latin typeface="Times New Roman" panose="02020603050405020304" pitchFamily="18" charset="0"/>
                <a:ea typeface="黑体" panose="02010609060101010101" pitchFamily="49" charset="-122"/>
                <a:sym typeface="+mn-ea"/>
              </a:rPr>
              <a:t>）是由日本</a:t>
            </a:r>
            <a:r>
              <a:rPr lang="en-US" altLang="zh-CN" sz="2000" dirty="0">
                <a:solidFill>
                  <a:srgbClr val="000000"/>
                </a:solidFill>
                <a:latin typeface="Times New Roman" panose="02020603050405020304" pitchFamily="18" charset="0"/>
                <a:ea typeface="黑体" panose="02010609060101010101" pitchFamily="49" charset="-122"/>
                <a:sym typeface="+mn-ea"/>
              </a:rPr>
              <a:t>Denso</a:t>
            </a:r>
            <a:r>
              <a:rPr lang="zh-CN" altLang="en-US" sz="2000" dirty="0">
                <a:solidFill>
                  <a:srgbClr val="000000"/>
                </a:solidFill>
                <a:latin typeface="Times New Roman" panose="02020603050405020304" pitchFamily="18" charset="0"/>
                <a:ea typeface="黑体" panose="02010609060101010101" pitchFamily="49" charset="-122"/>
                <a:sym typeface="+mn-ea"/>
              </a:rPr>
              <a:t>公司于</a:t>
            </a:r>
            <a:r>
              <a:rPr lang="en-US" altLang="zh-CN" sz="2000" dirty="0">
                <a:solidFill>
                  <a:srgbClr val="000000"/>
                </a:solidFill>
                <a:latin typeface="Times New Roman" panose="02020603050405020304" pitchFamily="18" charset="0"/>
                <a:ea typeface="黑体" panose="02010609060101010101" pitchFamily="49" charset="-122"/>
                <a:sym typeface="+mn-ea"/>
              </a:rPr>
              <a:t>1994</a:t>
            </a:r>
            <a:r>
              <a:rPr lang="zh-CN" altLang="en-US" sz="2000" dirty="0">
                <a:solidFill>
                  <a:srgbClr val="000000"/>
                </a:solidFill>
                <a:latin typeface="Times New Roman" panose="02020603050405020304" pitchFamily="18" charset="0"/>
                <a:ea typeface="黑体" panose="02010609060101010101" pitchFamily="49" charset="-122"/>
                <a:sym typeface="+mn-ea"/>
              </a:rPr>
              <a:t>年</a:t>
            </a:r>
            <a:r>
              <a:rPr lang="en-US" altLang="zh-CN" sz="2000" dirty="0">
                <a:solidFill>
                  <a:srgbClr val="000000"/>
                </a:solidFill>
                <a:latin typeface="Times New Roman" panose="02020603050405020304" pitchFamily="18" charset="0"/>
                <a:ea typeface="黑体" panose="02010609060101010101" pitchFamily="49" charset="-122"/>
                <a:sym typeface="+mn-ea"/>
              </a:rPr>
              <a:t>9</a:t>
            </a:r>
            <a:r>
              <a:rPr lang="zh-CN" altLang="en-US" sz="2000" dirty="0">
                <a:solidFill>
                  <a:srgbClr val="000000"/>
                </a:solidFill>
                <a:latin typeface="Times New Roman" panose="02020603050405020304" pitchFamily="18" charset="0"/>
                <a:ea typeface="黑体" panose="02010609060101010101" pitchFamily="49" charset="-122"/>
                <a:sym typeface="+mn-ea"/>
              </a:rPr>
              <a:t>月研制的一种矩阵式二维条码，它具有以下特点：</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高密度编码，信息容量大</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70C0"/>
                </a:solidFill>
                <a:latin typeface="Times New Roman" panose="02020603050405020304" pitchFamily="18" charset="0"/>
                <a:ea typeface="黑体" panose="02010609060101010101" pitchFamily="49" charset="-122"/>
                <a:sym typeface="+mn-ea"/>
              </a:rPr>
              <a:t>编码范围广</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容错能力强，具有纠错功能</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译码可靠性高</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可引入加密措施</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成本低，易制作，持久耐用</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条码符号形状、尺寸大小比例可变</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二维条码可以使用激光或</a:t>
            </a:r>
            <a:r>
              <a:rPr lang="en-US" altLang="zh-CN" sz="2000" dirty="0">
                <a:solidFill>
                  <a:srgbClr val="000000"/>
                </a:solidFill>
                <a:latin typeface="Times New Roman" panose="02020603050405020304" pitchFamily="18" charset="0"/>
                <a:ea typeface="黑体" panose="02010609060101010101" pitchFamily="49" charset="-122"/>
                <a:sym typeface="+mn-ea"/>
              </a:rPr>
              <a:t>CCD</a:t>
            </a:r>
            <a:r>
              <a:rPr lang="zh-CN" altLang="en-US" sz="2000" dirty="0">
                <a:solidFill>
                  <a:srgbClr val="000000"/>
                </a:solidFill>
                <a:latin typeface="Times New Roman" panose="02020603050405020304" pitchFamily="18" charset="0"/>
                <a:ea typeface="黑体" panose="02010609060101010101" pitchFamily="49" charset="-122"/>
                <a:sym typeface="+mn-ea"/>
              </a:rPr>
              <a:t>阅读器识读，</a:t>
            </a:r>
            <a:r>
              <a:rPr lang="en-US" altLang="zh-CN" sz="2000" dirty="0">
                <a:solidFill>
                  <a:srgbClr val="000000"/>
                </a:solidFill>
                <a:latin typeface="Times New Roman" panose="02020603050405020304" pitchFamily="18" charset="0"/>
                <a:ea typeface="黑体" panose="02010609060101010101" pitchFamily="49" charset="-122"/>
                <a:sym typeface="+mn-ea"/>
              </a:rPr>
              <a:t>QR Code</a:t>
            </a:r>
            <a:r>
              <a:rPr lang="zh-CN" altLang="en-US" sz="2000" dirty="0">
                <a:solidFill>
                  <a:srgbClr val="000000"/>
                </a:solidFill>
                <a:latin typeface="Times New Roman" panose="02020603050405020304" pitchFamily="18" charset="0"/>
                <a:ea typeface="黑体" panose="02010609060101010101" pitchFamily="49" charset="-122"/>
                <a:sym typeface="+mn-ea"/>
              </a:rPr>
              <a:t>具有全方位（</a:t>
            </a:r>
            <a:r>
              <a:rPr lang="en-US" altLang="zh-CN" sz="2000" dirty="0">
                <a:solidFill>
                  <a:srgbClr val="000000"/>
                </a:solidFill>
                <a:latin typeface="Times New Roman" panose="02020603050405020304" pitchFamily="18" charset="0"/>
                <a:ea typeface="黑体" panose="02010609060101010101" pitchFamily="49" charset="-122"/>
                <a:sym typeface="+mn-ea"/>
              </a:rPr>
              <a:t>360°</a:t>
            </a:r>
            <a:r>
              <a:rPr lang="zh-CN" altLang="en-US" sz="2000" dirty="0">
                <a:solidFill>
                  <a:srgbClr val="000000"/>
                </a:solidFill>
                <a:latin typeface="Times New Roman" panose="02020603050405020304" pitchFamily="18" charset="0"/>
                <a:ea typeface="黑体" panose="02010609060101010101" pitchFamily="49" charset="-122"/>
                <a:sym typeface="+mn-ea"/>
              </a:rPr>
              <a:t>）识读特点</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70C0"/>
                </a:solidFill>
                <a:latin typeface="Times New Roman" panose="02020603050405020304" pitchFamily="18" charset="0"/>
                <a:ea typeface="黑体" panose="02010609060101010101" pitchFamily="49" charset="-122"/>
                <a:sym typeface="+mn-ea"/>
              </a:rPr>
              <a:t>能够有效地表示中国汉字</a:t>
            </a:r>
            <a:endParaRPr sz="2000" dirty="0">
              <a:solidFill>
                <a:srgbClr val="0070C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 Code</a:t>
            </a:r>
            <a:r>
              <a:rPr lang="zh-CN" altLang="en-US" sz="2400" dirty="0">
                <a:sym typeface="+mn-ea"/>
              </a:rPr>
              <a:t>结构图</a:t>
            </a:r>
          </a:p>
        </p:txBody>
      </p:sp>
      <p:sp>
        <p:nvSpPr>
          <p:cNvPr id="9" name="文本框 8"/>
          <p:cNvSpPr txBox="1"/>
          <p:nvPr/>
        </p:nvSpPr>
        <p:spPr>
          <a:xfrm>
            <a:off x="1977447" y="5332233"/>
            <a:ext cx="8205470" cy="1015663"/>
          </a:xfrm>
          <a:prstGeom prst="rect">
            <a:avLst/>
          </a:prstGeom>
          <a:noFill/>
        </p:spPr>
        <p:txBody>
          <a:bodyPr wrap="square" rtlCol="0" anchor="t">
            <a:spAutoFit/>
          </a:bodyPr>
          <a:lstStyle/>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QR</a:t>
            </a:r>
            <a:r>
              <a:rPr lang="zh-CN" altLang="en-US" sz="2000" dirty="0">
                <a:solidFill>
                  <a:srgbClr val="000000"/>
                </a:solidFill>
                <a:latin typeface="Times New Roman" panose="02020603050405020304" pitchFamily="18" charset="0"/>
                <a:ea typeface="黑体" panose="02010609060101010101" pitchFamily="49" charset="-122"/>
                <a:sym typeface="+mn-ea"/>
              </a:rPr>
              <a:t>码共有</a:t>
            </a:r>
            <a:r>
              <a:rPr lang="en-US" altLang="zh-CN" sz="2000" dirty="0">
                <a:solidFill>
                  <a:srgbClr val="000000"/>
                </a:solidFill>
                <a:latin typeface="Times New Roman" panose="02020603050405020304" pitchFamily="18" charset="0"/>
                <a:ea typeface="黑体" panose="02010609060101010101" pitchFamily="49" charset="-122"/>
                <a:sym typeface="+mn-ea"/>
              </a:rPr>
              <a:t>40</a:t>
            </a:r>
            <a:r>
              <a:rPr lang="zh-CN" altLang="en-US" sz="2000" dirty="0">
                <a:solidFill>
                  <a:srgbClr val="000000"/>
                </a:solidFill>
                <a:latin typeface="Times New Roman" panose="02020603050405020304" pitchFamily="18" charset="0"/>
                <a:ea typeface="黑体" panose="02010609060101010101" pitchFamily="49" charset="-122"/>
                <a:sym typeface="+mn-ea"/>
              </a:rPr>
              <a:t>个版本（版本</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版本</a:t>
            </a:r>
            <a:r>
              <a:rPr lang="en-US" altLang="zh-CN" sz="2000" dirty="0">
                <a:solidFill>
                  <a:srgbClr val="000000"/>
                </a:solidFill>
                <a:latin typeface="Times New Roman" panose="02020603050405020304" pitchFamily="18" charset="0"/>
                <a:ea typeface="黑体" panose="02010609060101010101" pitchFamily="49" charset="-122"/>
                <a:sym typeface="+mn-ea"/>
              </a:rPr>
              <a:t>40</a:t>
            </a:r>
            <a:r>
              <a:rPr lang="zh-CN" altLang="en-US" sz="2000" dirty="0">
                <a:solidFill>
                  <a:srgbClr val="000000"/>
                </a:solidFill>
                <a:latin typeface="Times New Roman" panose="02020603050405020304" pitchFamily="18" charset="0"/>
                <a:ea typeface="黑体" panose="02010609060101010101" pitchFamily="49" charset="-122"/>
                <a:sym typeface="+mn-ea"/>
              </a:rPr>
              <a:t>），其中版本</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的模块数为</a:t>
            </a:r>
            <a:r>
              <a:rPr lang="en-US" altLang="zh-CN" sz="2000" dirty="0">
                <a:solidFill>
                  <a:srgbClr val="000000"/>
                </a:solidFill>
                <a:latin typeface="Times New Roman" panose="02020603050405020304" pitchFamily="18" charset="0"/>
                <a:ea typeface="黑体" panose="02010609060101010101" pitchFamily="49" charset="-122"/>
                <a:sym typeface="+mn-ea"/>
              </a:rPr>
              <a:t>21</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21</a:t>
            </a:r>
            <a:r>
              <a:rPr lang="zh-CN" altLang="en-US" sz="2000" dirty="0">
                <a:solidFill>
                  <a:srgbClr val="000000"/>
                </a:solidFill>
                <a:latin typeface="Times New Roman" panose="02020603050405020304" pitchFamily="18" charset="0"/>
                <a:ea typeface="黑体" panose="02010609060101010101" pitchFamily="49" charset="-122"/>
                <a:sym typeface="+mn-ea"/>
              </a:rPr>
              <a:t>，而每增加一个版本，其每边的模块数各增加</a:t>
            </a:r>
            <a:r>
              <a:rPr lang="en-US" altLang="zh-CN" sz="2000" dirty="0">
                <a:solidFill>
                  <a:srgbClr val="000000"/>
                </a:solidFill>
                <a:latin typeface="Times New Roman" panose="02020603050405020304" pitchFamily="18" charset="0"/>
                <a:ea typeface="黑体" panose="02010609060101010101" pitchFamily="49" charset="-122"/>
                <a:sym typeface="+mn-ea"/>
              </a:rPr>
              <a:t>4</a:t>
            </a:r>
            <a:r>
              <a:rPr lang="zh-CN" altLang="en-US" sz="2000" dirty="0">
                <a:solidFill>
                  <a:srgbClr val="000000"/>
                </a:solidFill>
                <a:latin typeface="Times New Roman" panose="02020603050405020304" pitchFamily="18" charset="0"/>
                <a:ea typeface="黑体" panose="02010609060101010101" pitchFamily="49" charset="-122"/>
                <a:sym typeface="+mn-ea"/>
              </a:rPr>
              <a:t>。因此版本</a:t>
            </a:r>
            <a:r>
              <a:rPr lang="en-US" altLang="zh-CN" sz="2000" dirty="0">
                <a:solidFill>
                  <a:srgbClr val="000000"/>
                </a:solidFill>
                <a:latin typeface="Times New Roman" panose="02020603050405020304" pitchFamily="18" charset="0"/>
                <a:ea typeface="黑体" panose="02010609060101010101" pitchFamily="49" charset="-122"/>
                <a:sym typeface="+mn-ea"/>
              </a:rPr>
              <a:t>40</a:t>
            </a:r>
            <a:r>
              <a:rPr lang="zh-CN" altLang="en-US" sz="2000" dirty="0">
                <a:solidFill>
                  <a:srgbClr val="000000"/>
                </a:solidFill>
                <a:latin typeface="Times New Roman" panose="02020603050405020304" pitchFamily="18" charset="0"/>
                <a:ea typeface="黑体" panose="02010609060101010101" pitchFamily="49" charset="-122"/>
                <a:sym typeface="+mn-ea"/>
              </a:rPr>
              <a:t>的模块数为</a:t>
            </a:r>
            <a:r>
              <a:rPr lang="en-US" altLang="zh-CN" sz="2000" dirty="0">
                <a:solidFill>
                  <a:srgbClr val="000000"/>
                </a:solidFill>
                <a:latin typeface="Times New Roman" panose="02020603050405020304" pitchFamily="18" charset="0"/>
                <a:ea typeface="黑体" panose="02010609060101010101" pitchFamily="49" charset="-122"/>
                <a:sym typeface="+mn-ea"/>
              </a:rPr>
              <a:t>177</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177</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
        <p:nvSpPr>
          <p:cNvPr id="12" name="文本框 11"/>
          <p:cNvSpPr txBox="1"/>
          <p:nvPr/>
        </p:nvSpPr>
        <p:spPr>
          <a:xfrm>
            <a:off x="8600407" y="2122564"/>
            <a:ext cx="1551735" cy="1631216"/>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一个</a:t>
            </a:r>
            <a:r>
              <a:rPr lang="en-US" altLang="zh-CN" sz="2000" dirty="0">
                <a:solidFill>
                  <a:srgbClr val="000000"/>
                </a:solidFill>
                <a:latin typeface="Times New Roman" panose="02020603050405020304" pitchFamily="18" charset="0"/>
                <a:ea typeface="黑体" panose="02010609060101010101" pitchFamily="49" charset="-122"/>
                <a:sym typeface="+mn-ea"/>
              </a:rPr>
              <a:t>QR</a:t>
            </a:r>
            <a:r>
              <a:rPr lang="zh-CN" altLang="en-US" sz="2000" dirty="0">
                <a:solidFill>
                  <a:srgbClr val="000000"/>
                </a:solidFill>
                <a:latin typeface="Times New Roman" panose="02020603050405020304" pitchFamily="18" charset="0"/>
                <a:ea typeface="黑体" panose="02010609060101010101" pitchFamily="49" charset="-122"/>
                <a:sym typeface="+mn-ea"/>
              </a:rPr>
              <a:t>码可以分为两个部分：</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功能图形和编码区域。</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
        <p:nvSpPr>
          <p:cNvPr id="13" name="内容占位符 2"/>
          <p:cNvSpPr txBox="1"/>
          <p:nvPr/>
        </p:nvSpPr>
        <p:spPr>
          <a:xfrm>
            <a:off x="8442321" y="2026994"/>
            <a:ext cx="1740597" cy="1844496"/>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9859" y="1371655"/>
            <a:ext cx="6074644" cy="35956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的基本结构</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6495" y="1818042"/>
            <a:ext cx="5885029" cy="4873171"/>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p:cNvSpPr txBox="1"/>
          <p:nvPr/>
        </p:nvSpPr>
        <p:spPr>
          <a:xfrm>
            <a:off x="1832002" y="979893"/>
            <a:ext cx="8263836" cy="707886"/>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0000"/>
                </a:solidFill>
                <a:latin typeface="黑体" panose="02010609060101010101" pitchFamily="49" charset="-122"/>
                <a:ea typeface="黑体" panose="02010609060101010101" pitchFamily="49" charset="-122"/>
                <a:sym typeface="+mn-ea"/>
              </a:rPr>
              <a:t>    版本</a:t>
            </a:r>
            <a:r>
              <a:rPr lang="en-US" altLang="zh-CN" sz="2000" dirty="0">
                <a:solidFill>
                  <a:srgbClr val="000000"/>
                </a:solidFill>
                <a:latin typeface="黑体" panose="02010609060101010101" pitchFamily="49" charset="-122"/>
                <a:ea typeface="黑体" panose="02010609060101010101" pitchFamily="49" charset="-122"/>
                <a:sym typeface="+mn-ea"/>
              </a:rPr>
              <a:t>7</a:t>
            </a:r>
            <a:r>
              <a:rPr lang="zh-CN" altLang="en-US" sz="2000" dirty="0">
                <a:solidFill>
                  <a:srgbClr val="000000"/>
                </a:solidFill>
                <a:latin typeface="黑体" panose="02010609060101010101" pitchFamily="49" charset="-122"/>
                <a:ea typeface="黑体" panose="02010609060101010101" pitchFamily="49" charset="-122"/>
                <a:sym typeface="+mn-ea"/>
              </a:rPr>
              <a:t>的模块数为</a:t>
            </a:r>
            <a:r>
              <a:rPr lang="en-US" altLang="zh-CN" sz="2000" dirty="0">
                <a:solidFill>
                  <a:srgbClr val="000000"/>
                </a:solidFill>
                <a:latin typeface="黑体" panose="02010609060101010101" pitchFamily="49" charset="-122"/>
                <a:ea typeface="黑体" panose="02010609060101010101" pitchFamily="49" charset="-122"/>
                <a:sym typeface="+mn-ea"/>
              </a:rPr>
              <a:t>45</a:t>
            </a:r>
            <a:r>
              <a:rPr lang="zh-CN" altLang="en-US" sz="2000" dirty="0">
                <a:solidFill>
                  <a:srgbClr val="000000"/>
                </a:solidFill>
                <a:latin typeface="黑体" panose="02010609060101010101" pitchFamily="49" charset="-122"/>
                <a:ea typeface="黑体" panose="02010609060101010101" pitchFamily="49" charset="-122"/>
                <a:sym typeface="+mn-ea"/>
              </a:rPr>
              <a:t>*</a:t>
            </a:r>
            <a:r>
              <a:rPr lang="en-US" altLang="zh-CN" sz="2000" dirty="0">
                <a:solidFill>
                  <a:srgbClr val="000000"/>
                </a:solidFill>
                <a:latin typeface="黑体" panose="02010609060101010101" pitchFamily="49" charset="-122"/>
                <a:ea typeface="黑体" panose="02010609060101010101" pitchFamily="49" charset="-122"/>
                <a:sym typeface="+mn-ea"/>
              </a:rPr>
              <a:t>45</a:t>
            </a:r>
            <a:r>
              <a:rPr lang="zh-CN" altLang="en-US" sz="2000" dirty="0">
                <a:solidFill>
                  <a:srgbClr val="000000"/>
                </a:solidFill>
                <a:latin typeface="黑体" panose="02010609060101010101" pitchFamily="49" charset="-122"/>
                <a:ea typeface="黑体" panose="02010609060101010101" pitchFamily="49" charset="-122"/>
                <a:sym typeface="+mn-ea"/>
              </a:rPr>
              <a:t>。</a:t>
            </a:r>
            <a:endParaRPr lang="en-US" altLang="zh-CN" sz="2000" dirty="0">
              <a:solidFill>
                <a:srgbClr val="000000"/>
              </a:solidFill>
              <a:latin typeface="黑体" panose="02010609060101010101" pitchFamily="49" charset="-122"/>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黑体" panose="02010609060101010101" pitchFamily="49" charset="-122"/>
                <a:ea typeface="黑体" panose="02010609060101010101" pitchFamily="49" charset="-122"/>
                <a:sym typeface="+mn-ea"/>
              </a:rPr>
              <a:t>    以版本</a:t>
            </a:r>
            <a:r>
              <a:rPr lang="en-US" altLang="zh-CN" sz="2000" dirty="0">
                <a:solidFill>
                  <a:srgbClr val="000000"/>
                </a:solidFill>
                <a:latin typeface="黑体" panose="02010609060101010101" pitchFamily="49" charset="-122"/>
                <a:ea typeface="黑体" panose="02010609060101010101" pitchFamily="49" charset="-122"/>
                <a:sym typeface="+mn-ea"/>
              </a:rPr>
              <a:t>7</a:t>
            </a:r>
            <a:r>
              <a:rPr lang="zh-CN" altLang="en-US" sz="2000" dirty="0">
                <a:solidFill>
                  <a:srgbClr val="000000"/>
                </a:solidFill>
                <a:latin typeface="黑体" panose="02010609060101010101" pitchFamily="49" charset="-122"/>
                <a:ea typeface="黑体" panose="02010609060101010101" pitchFamily="49" charset="-122"/>
                <a:sym typeface="+mn-ea"/>
              </a:rPr>
              <a:t>为例，介绍</a:t>
            </a:r>
            <a:r>
              <a:rPr lang="en-US" altLang="zh-CN" sz="2000" dirty="0">
                <a:solidFill>
                  <a:srgbClr val="000000"/>
                </a:solidFill>
                <a:latin typeface="黑体" panose="02010609060101010101" pitchFamily="49" charset="-122"/>
                <a:ea typeface="黑体" panose="02010609060101010101" pitchFamily="49" charset="-122"/>
                <a:sym typeface="+mn-ea"/>
              </a:rPr>
              <a:t>QR</a:t>
            </a:r>
            <a:r>
              <a:rPr lang="zh-CN" altLang="en-US" sz="2000" dirty="0">
                <a:solidFill>
                  <a:srgbClr val="000000"/>
                </a:solidFill>
                <a:latin typeface="黑体" panose="02010609060101010101" pitchFamily="49" charset="-122"/>
                <a:ea typeface="黑体" panose="02010609060101010101" pitchFamily="49" charset="-122"/>
                <a:sym typeface="+mn-ea"/>
              </a:rPr>
              <a:t>码各个部分的结构。</a:t>
            </a:r>
            <a:endParaRPr lang="en-US" altLang="zh-CN" sz="2000" dirty="0">
              <a:solidFill>
                <a:srgbClr val="000000"/>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版本</a:t>
            </a:r>
            <a:r>
              <a:rPr lang="en-US" altLang="zh-CN" sz="2400" dirty="0">
                <a:sym typeface="+mn-ea"/>
              </a:rPr>
              <a:t>7</a:t>
            </a:r>
            <a:r>
              <a:rPr lang="zh-CN" altLang="en-US" sz="2400" dirty="0">
                <a:sym typeface="+mn-ea"/>
              </a:rPr>
              <a:t>基本结构</a:t>
            </a:r>
          </a:p>
        </p:txBody>
      </p:sp>
      <p:sp>
        <p:nvSpPr>
          <p:cNvPr id="10" name="文本框 9"/>
          <p:cNvSpPr txBox="1"/>
          <p:nvPr/>
        </p:nvSpPr>
        <p:spPr>
          <a:xfrm>
            <a:off x="6705584" y="927736"/>
            <a:ext cx="3502676" cy="5632311"/>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70C0"/>
                </a:solidFill>
                <a:latin typeface="Times New Roman" panose="02020603050405020304" pitchFamily="18" charset="0"/>
                <a:ea typeface="黑体" panose="02010609060101010101" pitchFamily="49" charset="-122"/>
                <a:sym typeface="+mn-ea"/>
              </a:rPr>
              <a:t>寻像图形、位置探测图形：</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协助扫描软件定位</a:t>
            </a:r>
            <a:r>
              <a:rPr lang="en-US" altLang="zh-CN" sz="2000" dirty="0">
                <a:solidFill>
                  <a:srgbClr val="000000"/>
                </a:solidFill>
                <a:latin typeface="Times New Roman" panose="02020603050405020304" pitchFamily="18" charset="0"/>
                <a:ea typeface="黑体" panose="02010609060101010101" pitchFamily="49" charset="-122"/>
                <a:sym typeface="+mn-ea"/>
              </a:rPr>
              <a:t>QR</a:t>
            </a:r>
            <a:r>
              <a:rPr lang="zh-CN" altLang="en-US" sz="2000" dirty="0">
                <a:solidFill>
                  <a:srgbClr val="000000"/>
                </a:solidFill>
                <a:latin typeface="Times New Roman" panose="02020603050405020304" pitchFamily="18" charset="0"/>
                <a:ea typeface="黑体" panose="02010609060101010101" pitchFamily="49" charset="-122"/>
                <a:sym typeface="+mn-ea"/>
              </a:rPr>
              <a:t>码并转换坐标系。</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寻像图形包括三个相同的位置探测图形，分别位于图形中的左上角、右上角和左下角。每个位置探测图形由</a:t>
            </a:r>
            <a:r>
              <a:rPr lang="en-US" altLang="zh-CN" sz="2000" dirty="0">
                <a:solidFill>
                  <a:srgbClr val="000000"/>
                </a:solidFill>
                <a:latin typeface="Times New Roman" panose="02020603050405020304" pitchFamily="18" charset="0"/>
                <a:ea typeface="黑体" panose="02010609060101010101" pitchFamily="49" charset="-122"/>
                <a:sym typeface="+mn-ea"/>
              </a:rPr>
              <a:t>7</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7</a:t>
            </a:r>
            <a:r>
              <a:rPr lang="zh-CN" altLang="en-US" sz="2000" dirty="0">
                <a:solidFill>
                  <a:srgbClr val="000000"/>
                </a:solidFill>
                <a:latin typeface="Times New Roman" panose="02020603050405020304" pitchFamily="18" charset="0"/>
                <a:ea typeface="黑体" panose="02010609060101010101" pitchFamily="49" charset="-122"/>
                <a:sym typeface="+mn-ea"/>
              </a:rPr>
              <a:t>个模块组成。如图，寻像图形为黑色区域。</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70C0"/>
                </a:solidFill>
                <a:latin typeface="Times New Roman" panose="02020603050405020304" pitchFamily="18" charset="0"/>
                <a:ea typeface="黑体" panose="02010609060101010101" pitchFamily="49" charset="-122"/>
                <a:sym typeface="+mn-ea"/>
              </a:rPr>
              <a:t>位置探测图形分隔符：</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区分功能图形和编码区域。</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每个位置探测图形和编码区域之间有宽度为</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个模块的分隔符。位置探测图形分隔符为灰色区域，此区域应为空白。</a:t>
            </a:r>
            <a:endParaRPr sz="2000" dirty="0">
              <a:solidFill>
                <a:srgbClr val="000000"/>
              </a:solidFill>
              <a:latin typeface="Times New Roman" panose="02020603050405020304" pitchFamily="18" charset="0"/>
              <a:ea typeface="黑体" panose="02010609060101010101" pitchFamily="49" charset="-122"/>
              <a:sym typeface="+mn-ea"/>
            </a:endParaRPr>
          </a:p>
        </p:txBody>
      </p:sp>
      <p:pic>
        <p:nvPicPr>
          <p:cNvPr id="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7721"/>
          <a:stretch>
            <a:fillRect/>
          </a:stretch>
        </p:blipFill>
        <p:spPr bwMode="auto">
          <a:xfrm>
            <a:off x="1581537" y="1210008"/>
            <a:ext cx="4952868" cy="4984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版本</a:t>
            </a:r>
            <a:r>
              <a:rPr lang="en-US" altLang="zh-CN" sz="2400" dirty="0">
                <a:sym typeface="+mn-ea"/>
              </a:rPr>
              <a:t>7</a:t>
            </a:r>
            <a:r>
              <a:rPr lang="zh-CN" altLang="en-US" sz="2400" dirty="0">
                <a:sym typeface="+mn-ea"/>
              </a:rPr>
              <a:t>基本结构</a:t>
            </a:r>
          </a:p>
        </p:txBody>
      </p:sp>
      <p:sp>
        <p:nvSpPr>
          <p:cNvPr id="10" name="文本框 9"/>
          <p:cNvSpPr txBox="1"/>
          <p:nvPr/>
        </p:nvSpPr>
        <p:spPr>
          <a:xfrm>
            <a:off x="6754975" y="927736"/>
            <a:ext cx="3502676" cy="5324535"/>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70C0"/>
                </a:solidFill>
                <a:latin typeface="Times New Roman" panose="02020603050405020304" pitchFamily="18" charset="0"/>
                <a:ea typeface="黑体" panose="02010609060101010101" pitchFamily="49" charset="-122"/>
                <a:sym typeface="+mn-ea"/>
              </a:rPr>
              <a:t>定位图形：</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确定符号的密度和版本，提供决定模块坐标的基准位置。</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定位图形为图中的茶色区域，水平和垂直的定位图形分别始于第</a:t>
            </a:r>
            <a:r>
              <a:rPr lang="en-US" altLang="zh-CN" sz="2000" dirty="0">
                <a:solidFill>
                  <a:srgbClr val="000000"/>
                </a:solidFill>
                <a:latin typeface="Times New Roman" panose="02020603050405020304" pitchFamily="18" charset="0"/>
                <a:ea typeface="黑体" panose="02010609060101010101" pitchFamily="49" charset="-122"/>
                <a:sym typeface="+mn-ea"/>
              </a:rPr>
              <a:t>6</a:t>
            </a:r>
            <a:r>
              <a:rPr lang="zh-CN" altLang="en-US" sz="2000" dirty="0">
                <a:solidFill>
                  <a:srgbClr val="000000"/>
                </a:solidFill>
                <a:latin typeface="Times New Roman" panose="02020603050405020304" pitchFamily="18" charset="0"/>
                <a:ea typeface="黑体" panose="02010609060101010101" pitchFamily="49" charset="-122"/>
                <a:sym typeface="+mn-ea"/>
              </a:rPr>
              <a:t>行和第</a:t>
            </a:r>
            <a:r>
              <a:rPr lang="en-US" altLang="zh-CN" sz="2000" dirty="0">
                <a:solidFill>
                  <a:srgbClr val="000000"/>
                </a:solidFill>
                <a:latin typeface="Times New Roman" panose="02020603050405020304" pitchFamily="18" charset="0"/>
                <a:ea typeface="黑体" panose="02010609060101010101" pitchFamily="49" charset="-122"/>
                <a:sym typeface="+mn-ea"/>
              </a:rPr>
              <a:t>6</a:t>
            </a:r>
            <a:r>
              <a:rPr lang="zh-CN" altLang="en-US" sz="2000" dirty="0">
                <a:solidFill>
                  <a:srgbClr val="000000"/>
                </a:solidFill>
                <a:latin typeface="Times New Roman" panose="02020603050405020304" pitchFamily="18" charset="0"/>
                <a:ea typeface="黑体" panose="02010609060101010101" pitchFamily="49" charset="-122"/>
                <a:sym typeface="+mn-ea"/>
              </a:rPr>
              <a:t>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此外，坐标（</a:t>
            </a:r>
            <a:r>
              <a:rPr lang="en-US" altLang="zh-CN" sz="2000" dirty="0">
                <a:solidFill>
                  <a:srgbClr val="000000"/>
                </a:solidFill>
                <a:latin typeface="Times New Roman" panose="02020603050405020304" pitchFamily="18" charset="0"/>
                <a:ea typeface="黑体" panose="02010609060101010101" pitchFamily="49" charset="-122"/>
                <a:sym typeface="+mn-ea"/>
              </a:rPr>
              <a:t>6,6</a:t>
            </a:r>
            <a:r>
              <a:rPr lang="zh-CN" altLang="en-US" sz="2000" dirty="0">
                <a:solidFill>
                  <a:srgbClr val="000000"/>
                </a:solidFill>
                <a:latin typeface="Times New Roman" panose="02020603050405020304" pitchFamily="18" charset="0"/>
                <a:ea typeface="黑体" panose="02010609060101010101" pitchFamily="49" charset="-122"/>
                <a:sym typeface="+mn-ea"/>
              </a:rPr>
              <a:t>）同时是位置探测图形和定位图形，且为定位图形的开始坐标。第</a:t>
            </a:r>
            <a:r>
              <a:rPr lang="en-US" altLang="zh-CN" sz="2000" dirty="0">
                <a:solidFill>
                  <a:srgbClr val="000000"/>
                </a:solidFill>
                <a:latin typeface="Times New Roman" panose="02020603050405020304" pitchFamily="18" charset="0"/>
                <a:ea typeface="黑体" panose="02010609060101010101" pitchFamily="49" charset="-122"/>
                <a:sym typeface="+mn-ea"/>
              </a:rPr>
              <a:t>6</a:t>
            </a:r>
            <a:r>
              <a:rPr lang="zh-CN" altLang="en-US" sz="2000" dirty="0">
                <a:solidFill>
                  <a:srgbClr val="000000"/>
                </a:solidFill>
                <a:latin typeface="Times New Roman" panose="02020603050405020304" pitchFamily="18" charset="0"/>
                <a:ea typeface="黑体" panose="02010609060101010101" pitchFamily="49" charset="-122"/>
                <a:sym typeface="+mn-ea"/>
              </a:rPr>
              <a:t>行和第</a:t>
            </a:r>
            <a:r>
              <a:rPr lang="en-US" altLang="zh-CN" sz="2000" dirty="0">
                <a:solidFill>
                  <a:srgbClr val="000000"/>
                </a:solidFill>
                <a:latin typeface="Times New Roman" panose="02020603050405020304" pitchFamily="18" charset="0"/>
                <a:ea typeface="黑体" panose="02010609060101010101" pitchFamily="49" charset="-122"/>
                <a:sym typeface="+mn-ea"/>
              </a:rPr>
              <a:t>6</a:t>
            </a:r>
            <a:r>
              <a:rPr lang="zh-CN" altLang="en-US" sz="2000" dirty="0">
                <a:solidFill>
                  <a:srgbClr val="000000"/>
                </a:solidFill>
                <a:latin typeface="Times New Roman" panose="02020603050405020304" pitchFamily="18" charset="0"/>
                <a:ea typeface="黑体" panose="02010609060101010101" pitchFamily="49" charset="-122"/>
                <a:sym typeface="+mn-ea"/>
              </a:rPr>
              <a:t>列中的</a:t>
            </a:r>
            <a:r>
              <a:rPr lang="en-US" altLang="zh-CN" sz="2000" dirty="0">
                <a:solidFill>
                  <a:srgbClr val="000000"/>
                </a:solidFill>
                <a:latin typeface="Times New Roman" panose="02020603050405020304" pitchFamily="18" charset="0"/>
                <a:ea typeface="黑体" panose="02010609060101010101" pitchFamily="49" charset="-122"/>
                <a:sym typeface="+mn-ea"/>
              </a:rPr>
              <a:t>6</a:t>
            </a:r>
            <a:r>
              <a:rPr lang="zh-CN" altLang="en-US" sz="2000" dirty="0">
                <a:solidFill>
                  <a:srgbClr val="000000"/>
                </a:solidFill>
                <a:latin typeface="Times New Roman" panose="02020603050405020304" pitchFamily="18" charset="0"/>
                <a:ea typeface="黑体" panose="02010609060101010101" pitchFamily="49" charset="-122"/>
                <a:sym typeface="+mn-ea"/>
              </a:rPr>
              <a:t>个水绿色部分也是定位图形。</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定位图形是由深色与浅色模块交替组成，开始与结尾都是深色模块。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7721"/>
          <a:stretch>
            <a:fillRect/>
          </a:stretch>
        </p:blipFill>
        <p:spPr bwMode="auto">
          <a:xfrm>
            <a:off x="1524000" y="1143061"/>
            <a:ext cx="4952868" cy="4984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版本</a:t>
            </a:r>
            <a:r>
              <a:rPr lang="en-US" altLang="zh-CN" sz="2400" dirty="0">
                <a:sym typeface="+mn-ea"/>
              </a:rPr>
              <a:t>7</a:t>
            </a:r>
            <a:r>
              <a:rPr lang="zh-CN" altLang="en-US" sz="2400" dirty="0">
                <a:sym typeface="+mn-ea"/>
              </a:rPr>
              <a:t>基本结构</a:t>
            </a:r>
          </a:p>
        </p:txBody>
      </p:sp>
      <p:sp>
        <p:nvSpPr>
          <p:cNvPr id="10" name="文本框 9"/>
          <p:cNvSpPr txBox="1"/>
          <p:nvPr/>
        </p:nvSpPr>
        <p:spPr>
          <a:xfrm>
            <a:off x="6754975" y="927736"/>
            <a:ext cx="3502676" cy="5632311"/>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70C0"/>
                </a:solidFill>
                <a:latin typeface="Times New Roman" panose="02020603050405020304" pitchFamily="18" charset="0"/>
                <a:ea typeface="黑体" panose="02010609060101010101" pitchFamily="49" charset="-122"/>
                <a:sym typeface="+mn-ea"/>
              </a:rPr>
              <a:t>校正图形：</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在图像有一定程度损坏的情况下，译码软件可以通过它同步图像模块的坐标映像。</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矫正图形的数量视符号和版本号而定，版本</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没有校正图形，版本</a:t>
            </a:r>
            <a:r>
              <a:rPr lang="en-US" altLang="zh-CN" sz="2000" dirty="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及以上均含有校正图形。</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如图，版本</a:t>
            </a:r>
            <a:r>
              <a:rPr lang="en-US" altLang="zh-CN" sz="2000" dirty="0">
                <a:solidFill>
                  <a:srgbClr val="000000"/>
                </a:solidFill>
                <a:latin typeface="Times New Roman" panose="02020603050405020304" pitchFamily="18" charset="0"/>
                <a:ea typeface="黑体" panose="02010609060101010101" pitchFamily="49" charset="-122"/>
                <a:sym typeface="+mn-ea"/>
              </a:rPr>
              <a:t>7</a:t>
            </a:r>
            <a:r>
              <a:rPr lang="zh-CN" altLang="en-US" sz="2000" dirty="0">
                <a:solidFill>
                  <a:srgbClr val="000000"/>
                </a:solidFill>
                <a:latin typeface="Times New Roman" panose="02020603050405020304" pitchFamily="18" charset="0"/>
                <a:ea typeface="黑体" panose="02010609060101010101" pitchFamily="49" charset="-122"/>
                <a:sym typeface="+mn-ea"/>
              </a:rPr>
              <a:t>中，校正图形为水绿色区域。</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校正图形为固定的参照图形，每个校正图形由</a:t>
            </a:r>
            <a:r>
              <a:rPr lang="en-US" altLang="zh-CN" sz="2000" dirty="0">
                <a:solidFill>
                  <a:srgbClr val="000000"/>
                </a:solidFill>
                <a:latin typeface="Times New Roman" panose="02020603050405020304" pitchFamily="18" charset="0"/>
                <a:ea typeface="黑体" panose="02010609060101010101" pitchFamily="49" charset="-122"/>
                <a:sym typeface="+mn-ea"/>
              </a:rPr>
              <a:t>5</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5</a:t>
            </a:r>
            <a:r>
              <a:rPr lang="zh-CN" altLang="en-US" sz="2000" dirty="0">
                <a:solidFill>
                  <a:srgbClr val="000000"/>
                </a:solidFill>
                <a:latin typeface="Times New Roman" panose="02020603050405020304" pitchFamily="18" charset="0"/>
                <a:ea typeface="黑体" panose="02010609060101010101" pitchFamily="49" charset="-122"/>
                <a:sym typeface="+mn-ea"/>
              </a:rPr>
              <a:t>的模块组成。可以通过中心模块行列坐标值推出校正图形的具体位置。</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7721"/>
          <a:stretch>
            <a:fillRect/>
          </a:stretch>
        </p:blipFill>
        <p:spPr bwMode="auto">
          <a:xfrm>
            <a:off x="1524000" y="1143061"/>
            <a:ext cx="4952868" cy="4984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版本</a:t>
            </a:r>
            <a:r>
              <a:rPr lang="en-US" altLang="zh-CN" sz="2400" dirty="0">
                <a:sym typeface="+mn-ea"/>
              </a:rPr>
              <a:t>7</a:t>
            </a:r>
            <a:r>
              <a:rPr lang="zh-CN" altLang="en-US" sz="2400" dirty="0">
                <a:sym typeface="+mn-ea"/>
              </a:rPr>
              <a:t>基本结构</a:t>
            </a:r>
          </a:p>
        </p:txBody>
      </p:sp>
      <p:sp>
        <p:nvSpPr>
          <p:cNvPr id="10" name="文本框 9"/>
          <p:cNvSpPr txBox="1"/>
          <p:nvPr/>
        </p:nvSpPr>
        <p:spPr>
          <a:xfrm>
            <a:off x="6754975" y="927736"/>
            <a:ext cx="3502676" cy="5632311"/>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70C0"/>
                </a:solidFill>
                <a:latin typeface="Times New Roman" panose="02020603050405020304" pitchFamily="18" charset="0"/>
                <a:ea typeface="黑体" panose="02010609060101010101" pitchFamily="49" charset="-122"/>
                <a:sym typeface="+mn-ea"/>
              </a:rPr>
              <a:t>格式信息：</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存放纠错等级和掩模信息。</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格式信息是一个</a:t>
            </a:r>
            <a:r>
              <a:rPr lang="en-US" altLang="zh-CN" sz="2000" dirty="0">
                <a:solidFill>
                  <a:srgbClr val="000000"/>
                </a:solidFill>
                <a:latin typeface="Times New Roman" panose="02020603050405020304" pitchFamily="18" charset="0"/>
                <a:ea typeface="黑体" panose="02010609060101010101" pitchFamily="49" charset="-122"/>
                <a:sym typeface="+mn-ea"/>
              </a:rPr>
              <a:t>15</a:t>
            </a:r>
            <a:r>
              <a:rPr lang="zh-CN" altLang="en-US" sz="2000" dirty="0">
                <a:solidFill>
                  <a:srgbClr val="000000"/>
                </a:solidFill>
                <a:latin typeface="Times New Roman" panose="02020603050405020304" pitchFamily="18" charset="0"/>
                <a:ea typeface="黑体" panose="02010609060101010101" pitchFamily="49" charset="-122"/>
                <a:sym typeface="+mn-ea"/>
              </a:rPr>
              <a:t>位数据，由</a:t>
            </a:r>
            <a:r>
              <a:rPr lang="en-US" altLang="zh-CN" sz="2000" dirty="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位纠错指示符</a:t>
            </a:r>
            <a:r>
              <a:rPr lang="en-US" altLang="zh-CN" sz="2000" dirty="0">
                <a:solidFill>
                  <a:srgbClr val="000000"/>
                </a:solidFill>
                <a:latin typeface="Times New Roman" panose="02020603050405020304" pitchFamily="18" charset="0"/>
                <a:ea typeface="黑体" panose="02010609060101010101" pitchFamily="49" charset="-122"/>
                <a:sym typeface="+mn-ea"/>
              </a:rPr>
              <a:t>+3</a:t>
            </a:r>
            <a:r>
              <a:rPr lang="zh-CN" altLang="en-US" sz="2000" dirty="0">
                <a:solidFill>
                  <a:srgbClr val="000000"/>
                </a:solidFill>
                <a:latin typeface="Times New Roman" panose="02020603050405020304" pitchFamily="18" charset="0"/>
                <a:ea typeface="黑体" panose="02010609060101010101" pitchFamily="49" charset="-122"/>
                <a:sym typeface="+mn-ea"/>
              </a:rPr>
              <a:t>位掩模图形参考</a:t>
            </a:r>
            <a:r>
              <a:rPr lang="en-US" altLang="zh-CN" sz="2000" dirty="0">
                <a:solidFill>
                  <a:srgbClr val="000000"/>
                </a:solidFill>
                <a:latin typeface="Times New Roman" panose="02020603050405020304" pitchFamily="18" charset="0"/>
                <a:ea typeface="黑体" panose="02010609060101010101" pitchFamily="49" charset="-122"/>
                <a:sym typeface="+mn-ea"/>
              </a:rPr>
              <a:t>+10</a:t>
            </a:r>
            <a:r>
              <a:rPr lang="zh-CN" altLang="en-US" sz="2000" dirty="0">
                <a:solidFill>
                  <a:srgbClr val="000000"/>
                </a:solidFill>
                <a:latin typeface="Times New Roman" panose="02020603050405020304" pitchFamily="18" charset="0"/>
                <a:ea typeface="黑体" panose="02010609060101010101" pitchFamily="49" charset="-122"/>
                <a:sym typeface="+mn-ea"/>
              </a:rPr>
              <a:t>位纠错码组成，为图中深蓝色区域。</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同时，左下角格式信息编号</a:t>
            </a: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上方的橙色区域，此区域永远为深色模块，不用于存放任何信息。</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70C0"/>
                </a:solidFill>
                <a:latin typeface="Times New Roman" panose="02020603050405020304" pitchFamily="18" charset="0"/>
                <a:ea typeface="黑体" panose="02010609060101010101" pitchFamily="49" charset="-122"/>
                <a:sym typeface="+mn-ea"/>
              </a:rPr>
              <a:t>版本信息：</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用于存放</a:t>
            </a:r>
            <a:r>
              <a:rPr lang="en-US" altLang="zh-CN" sz="2000" dirty="0">
                <a:solidFill>
                  <a:srgbClr val="000000"/>
                </a:solidFill>
                <a:latin typeface="Times New Roman" panose="02020603050405020304" pitchFamily="18" charset="0"/>
                <a:ea typeface="黑体" panose="02010609060101010101" pitchFamily="49" charset="-122"/>
                <a:sym typeface="+mn-ea"/>
              </a:rPr>
              <a:t>QR</a:t>
            </a:r>
            <a:r>
              <a:rPr lang="zh-CN" altLang="en-US" sz="2000" dirty="0">
                <a:solidFill>
                  <a:srgbClr val="000000"/>
                </a:solidFill>
                <a:latin typeface="Times New Roman" panose="02020603050405020304" pitchFamily="18" charset="0"/>
                <a:ea typeface="黑体" panose="02010609060101010101" pitchFamily="49" charset="-122"/>
                <a:sym typeface="+mn-ea"/>
              </a:rPr>
              <a:t>码的版本号。</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为图中红色区域，两个</a:t>
            </a:r>
            <a:r>
              <a:rPr lang="en-US" altLang="zh-CN" sz="2000" dirty="0">
                <a:solidFill>
                  <a:srgbClr val="000000"/>
                </a:solidFill>
                <a:latin typeface="Times New Roman" panose="02020603050405020304" pitchFamily="18" charset="0"/>
                <a:ea typeface="黑体" panose="02010609060101010101" pitchFamily="49" charset="-122"/>
                <a:sym typeface="+mn-ea"/>
              </a:rPr>
              <a:t>3</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6</a:t>
            </a:r>
            <a:r>
              <a:rPr lang="zh-CN" altLang="en-US" sz="2000" dirty="0">
                <a:solidFill>
                  <a:srgbClr val="000000"/>
                </a:solidFill>
                <a:latin typeface="Times New Roman" panose="02020603050405020304" pitchFamily="18" charset="0"/>
                <a:ea typeface="黑体" panose="02010609060101010101" pitchFamily="49" charset="-122"/>
                <a:sym typeface="+mn-ea"/>
              </a:rPr>
              <a:t>模块。</a:t>
            </a:r>
            <a:endParaRPr lang="en-US" sz="2000" dirty="0">
              <a:solidFill>
                <a:srgbClr val="000000"/>
              </a:solidFill>
              <a:latin typeface="Times New Roman" panose="02020603050405020304" pitchFamily="18" charset="0"/>
              <a:ea typeface="黑体" panose="02010609060101010101" pitchFamily="49" charset="-122"/>
              <a:sym typeface="+mn-ea"/>
            </a:endParaRPr>
          </a:p>
        </p:txBody>
      </p:sp>
      <p:pic>
        <p:nvPicPr>
          <p:cNvPr id="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7721"/>
          <a:stretch>
            <a:fillRect/>
          </a:stretch>
        </p:blipFill>
        <p:spPr bwMode="auto">
          <a:xfrm>
            <a:off x="1524000" y="1143061"/>
            <a:ext cx="4952868" cy="4984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版本</a:t>
            </a:r>
            <a:r>
              <a:rPr lang="en-US" altLang="zh-CN" sz="2400" dirty="0">
                <a:sym typeface="+mn-ea"/>
              </a:rPr>
              <a:t>7</a:t>
            </a:r>
            <a:r>
              <a:rPr lang="zh-CN" altLang="en-US" sz="2400" dirty="0">
                <a:sym typeface="+mn-ea"/>
              </a:rPr>
              <a:t>基本结构</a:t>
            </a:r>
          </a:p>
        </p:txBody>
      </p:sp>
      <p:sp>
        <p:nvSpPr>
          <p:cNvPr id="10" name="文本框 9"/>
          <p:cNvSpPr txBox="1"/>
          <p:nvPr/>
        </p:nvSpPr>
        <p:spPr>
          <a:xfrm>
            <a:off x="6754975" y="927735"/>
            <a:ext cx="3502676" cy="5940088"/>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70C0"/>
                </a:solidFill>
                <a:latin typeface="Times New Roman" panose="02020603050405020304" pitchFamily="18" charset="0"/>
                <a:ea typeface="黑体" panose="02010609060101010101" pitchFamily="49" charset="-122"/>
                <a:sym typeface="+mn-ea"/>
              </a:rPr>
              <a:t>扩展图形：</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最初的目的是用于将来对</a:t>
            </a:r>
            <a:r>
              <a:rPr lang="en-US" altLang="zh-CN" sz="2000" dirty="0">
                <a:solidFill>
                  <a:srgbClr val="000000"/>
                </a:solidFill>
                <a:latin typeface="Times New Roman" panose="02020603050405020304" pitchFamily="18" charset="0"/>
                <a:ea typeface="黑体" panose="02010609060101010101" pitchFamily="49" charset="-122"/>
                <a:sym typeface="+mn-ea"/>
              </a:rPr>
              <a:t>QR</a:t>
            </a:r>
            <a:r>
              <a:rPr lang="zh-CN" altLang="en-US" sz="2000" dirty="0">
                <a:solidFill>
                  <a:srgbClr val="000000"/>
                </a:solidFill>
                <a:latin typeface="Times New Roman" panose="02020603050405020304" pitchFamily="18" charset="0"/>
                <a:ea typeface="黑体" panose="02010609060101010101" pitchFamily="49" charset="-122"/>
                <a:sym typeface="+mn-ea"/>
              </a:rPr>
              <a:t>码功能的扩展，并不用于对数据的编码。</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扩展图形由位于符号右下角的一个</a:t>
            </a:r>
            <a:r>
              <a:rPr lang="en-US" altLang="zh-CN" sz="2000" dirty="0">
                <a:solidFill>
                  <a:srgbClr val="000000"/>
                </a:solidFill>
                <a:latin typeface="Times New Roman" panose="02020603050405020304" pitchFamily="18" charset="0"/>
                <a:ea typeface="黑体" panose="02010609060101010101" pitchFamily="49" charset="-122"/>
                <a:sym typeface="+mn-ea"/>
              </a:rPr>
              <a:t>4</a:t>
            </a:r>
            <a:r>
              <a:rPr lang="zh-CN" altLang="en-US" sz="2000" dirty="0">
                <a:solidFill>
                  <a:srgbClr val="000000"/>
                </a:solidFill>
                <a:latin typeface="Times New Roman" panose="02020603050405020304" pitchFamily="18" charset="0"/>
                <a:ea typeface="黑体" panose="02010609060101010101" pitchFamily="49" charset="-122"/>
                <a:sym typeface="+mn-ea"/>
              </a:rPr>
              <a:t>个模块组成的方块以及位于符号右边和下边的一些</a:t>
            </a: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个模块的块组成。</a:t>
            </a: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个模块的块的数目取决于符号的版本，计算公式为：</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algn="ctr" eaLnBrk="0" fontAlgn="base" hangingPunct="0">
              <a:spcBef>
                <a:spcPct val="0"/>
              </a:spcBef>
              <a:spcAft>
                <a:spcPct val="0"/>
              </a:spcAft>
            </a:pPr>
            <a:r>
              <a:rPr lang="en-US" altLang="zh-CN" sz="2000" i="1" dirty="0">
                <a:solidFill>
                  <a:srgbClr val="000000"/>
                </a:solidFill>
                <a:latin typeface="Times New Roman" panose="02020603050405020304" pitchFamily="18" charset="0"/>
                <a:ea typeface="黑体" panose="02010609060101010101" pitchFamily="49" charset="-122"/>
                <a:sym typeface="+mn-ea"/>
              </a:rPr>
              <a:t>8</a:t>
            </a:r>
            <a:r>
              <a:rPr lang="zh-CN" altLang="en-US" sz="2000" i="1" dirty="0">
                <a:solidFill>
                  <a:srgbClr val="000000"/>
                </a:solidFill>
                <a:latin typeface="Times New Roman" panose="02020603050405020304" pitchFamily="18" charset="0"/>
                <a:ea typeface="黑体" panose="02010609060101010101" pitchFamily="49" charset="-122"/>
                <a:sym typeface="+mn-ea"/>
              </a:rPr>
              <a:t>模块的数目</a:t>
            </a:r>
            <a:r>
              <a:rPr lang="en-US" altLang="zh-CN" sz="2000" i="1" dirty="0">
                <a:solidFill>
                  <a:srgbClr val="000000"/>
                </a:solidFill>
                <a:latin typeface="Times New Roman" panose="02020603050405020304" pitchFamily="18" charset="0"/>
                <a:ea typeface="黑体" panose="02010609060101010101" pitchFamily="49" charset="-122"/>
                <a:sym typeface="+mn-ea"/>
              </a:rPr>
              <a:t>=2*(N DIV 2)</a:t>
            </a: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其中</a:t>
            </a:r>
            <a:r>
              <a:rPr lang="en-US" altLang="zh-CN" sz="2000" dirty="0">
                <a:solidFill>
                  <a:srgbClr val="000000"/>
                </a:solidFill>
                <a:latin typeface="Times New Roman" panose="02020603050405020304" pitchFamily="18" charset="0"/>
                <a:ea typeface="黑体" panose="02010609060101010101" pitchFamily="49" charset="-122"/>
                <a:sym typeface="+mn-ea"/>
              </a:rPr>
              <a:t>N</a:t>
            </a:r>
            <a:r>
              <a:rPr lang="zh-CN" altLang="en-US" sz="2000" dirty="0">
                <a:solidFill>
                  <a:srgbClr val="000000"/>
                </a:solidFill>
                <a:latin typeface="Times New Roman" panose="02020603050405020304" pitchFamily="18" charset="0"/>
                <a:ea typeface="黑体" panose="02010609060101010101" pitchFamily="49" charset="-122"/>
                <a:sym typeface="+mn-ea"/>
              </a:rPr>
              <a:t>为版本号，</a:t>
            </a:r>
            <a:r>
              <a:rPr lang="en-US" altLang="zh-CN" sz="2000" dirty="0">
                <a:solidFill>
                  <a:srgbClr val="000000"/>
                </a:solidFill>
                <a:latin typeface="Times New Roman" panose="02020603050405020304" pitchFamily="18" charset="0"/>
                <a:ea typeface="黑体" panose="02010609060101010101" pitchFamily="49" charset="-122"/>
                <a:sym typeface="+mn-ea"/>
              </a:rPr>
              <a:t>DIV</a:t>
            </a:r>
            <a:r>
              <a:rPr lang="zh-CN" altLang="en-US" sz="2000" dirty="0">
                <a:solidFill>
                  <a:srgbClr val="000000"/>
                </a:solidFill>
                <a:latin typeface="Times New Roman" panose="02020603050405020304" pitchFamily="18" charset="0"/>
                <a:ea typeface="黑体" panose="02010609060101010101" pitchFamily="49" charset="-122"/>
                <a:sym typeface="+mn-ea"/>
              </a:rPr>
              <a:t>表示除法运算。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扩展图形为图中红框区域，即版本</a:t>
            </a:r>
            <a:r>
              <a:rPr lang="en-US" altLang="zh-CN" sz="2000" dirty="0">
                <a:solidFill>
                  <a:srgbClr val="000000"/>
                </a:solidFill>
                <a:latin typeface="Times New Roman" panose="02020603050405020304" pitchFamily="18" charset="0"/>
                <a:ea typeface="黑体" panose="02010609060101010101" pitchFamily="49" charset="-122"/>
                <a:sym typeface="+mn-ea"/>
              </a:rPr>
              <a:t>7</a:t>
            </a:r>
            <a:r>
              <a:rPr lang="zh-CN" altLang="en-US" sz="2000" dirty="0">
                <a:solidFill>
                  <a:srgbClr val="000000"/>
                </a:solidFill>
                <a:latin typeface="Times New Roman" panose="02020603050405020304" pitchFamily="18" charset="0"/>
                <a:ea typeface="黑体" panose="02010609060101010101" pitchFamily="49" charset="-122"/>
                <a:sym typeface="+mn-ea"/>
              </a:rPr>
              <a:t>中有</a:t>
            </a:r>
            <a:r>
              <a:rPr lang="en-US" altLang="zh-CN" sz="2000" dirty="0">
                <a:solidFill>
                  <a:srgbClr val="000000"/>
                </a:solidFill>
                <a:latin typeface="Times New Roman" panose="02020603050405020304" pitchFamily="18" charset="0"/>
                <a:ea typeface="黑体" panose="02010609060101010101" pitchFamily="49" charset="-122"/>
                <a:sym typeface="+mn-ea"/>
              </a:rPr>
              <a:t>6</a:t>
            </a:r>
            <a:r>
              <a:rPr lang="zh-CN" altLang="en-US" sz="2000" dirty="0">
                <a:solidFill>
                  <a:srgbClr val="000000"/>
                </a:solidFill>
                <a:latin typeface="Times New Roman" panose="02020603050405020304" pitchFamily="18" charset="0"/>
                <a:ea typeface="黑体" panose="02010609060101010101" pitchFamily="49" charset="-122"/>
                <a:sym typeface="+mn-ea"/>
              </a:rPr>
              <a:t>个</a:t>
            </a: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模块组成的块和</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个</a:t>
            </a:r>
            <a:r>
              <a:rPr lang="en-US" altLang="zh-CN" sz="2000" dirty="0">
                <a:solidFill>
                  <a:srgbClr val="000000"/>
                </a:solidFill>
                <a:latin typeface="Times New Roman" panose="02020603050405020304" pitchFamily="18" charset="0"/>
                <a:ea typeface="黑体" panose="02010609060101010101" pitchFamily="49" charset="-122"/>
                <a:sym typeface="+mn-ea"/>
              </a:rPr>
              <a:t>4</a:t>
            </a:r>
            <a:r>
              <a:rPr lang="zh-CN" altLang="en-US" sz="2000" dirty="0">
                <a:solidFill>
                  <a:srgbClr val="000000"/>
                </a:solidFill>
                <a:latin typeface="Times New Roman" panose="02020603050405020304" pitchFamily="18" charset="0"/>
                <a:ea typeface="黑体" panose="02010609060101010101" pitchFamily="49" charset="-122"/>
                <a:sym typeface="+mn-ea"/>
              </a:rPr>
              <a:t>模块组成的块。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p:txBody>
      </p:sp>
      <p:pic>
        <p:nvPicPr>
          <p:cNvPr id="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7721"/>
          <a:stretch>
            <a:fillRect/>
          </a:stretch>
        </p:blipFill>
        <p:spPr bwMode="auto">
          <a:xfrm>
            <a:off x="1524000" y="1143061"/>
            <a:ext cx="4952868" cy="4984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的基本结构</a:t>
            </a:r>
          </a:p>
        </p:txBody>
      </p:sp>
      <p:sp>
        <p:nvSpPr>
          <p:cNvPr id="10" name="文本框 9"/>
          <p:cNvSpPr txBox="1"/>
          <p:nvPr/>
        </p:nvSpPr>
        <p:spPr>
          <a:xfrm>
            <a:off x="1934349" y="927735"/>
            <a:ext cx="8323302" cy="400110"/>
          </a:xfrm>
          <a:prstGeom prst="rect">
            <a:avLst/>
          </a:prstGeom>
          <a:noFill/>
        </p:spPr>
        <p:txBody>
          <a:bodyPr wrap="square" rtlCol="0" anchor="t">
            <a:spAutoFit/>
          </a:bodyPr>
          <a:lstStyle/>
          <a:p>
            <a:pPr algn="ctr" eaLnBrk="0" fontAlgn="base" hangingPunct="0">
              <a:spcBef>
                <a:spcPct val="0"/>
              </a:spcBef>
              <a:spcAft>
                <a:spcPct val="0"/>
              </a:spcAft>
            </a:pPr>
            <a:r>
              <a:rPr lang="en-US" altLang="zh-CN" sz="2000" dirty="0">
                <a:solidFill>
                  <a:srgbClr val="0070C0"/>
                </a:solidFill>
                <a:latin typeface="Times New Roman" panose="02020603050405020304" pitchFamily="18" charset="0"/>
                <a:ea typeface="黑体" panose="02010609060101010101" pitchFamily="49" charset="-122"/>
                <a:sym typeface="+mn-ea"/>
              </a:rPr>
              <a:t>QR</a:t>
            </a:r>
            <a:r>
              <a:rPr lang="zh-CN" altLang="en-US" sz="2000" dirty="0">
                <a:solidFill>
                  <a:srgbClr val="0070C0"/>
                </a:solidFill>
                <a:latin typeface="Times New Roman" panose="02020603050405020304" pitchFamily="18" charset="0"/>
                <a:ea typeface="黑体" panose="02010609060101010101" pitchFamily="49" charset="-122"/>
                <a:sym typeface="+mn-ea"/>
              </a:rPr>
              <a:t>码的纠错能力：</a:t>
            </a:r>
            <a:endParaRPr lang="en-US" altLang="zh-CN" sz="2000" dirty="0">
              <a:solidFill>
                <a:srgbClr val="0070C0"/>
              </a:solidFill>
              <a:latin typeface="Times New Roman" panose="02020603050405020304" pitchFamily="18" charset="0"/>
              <a:ea typeface="黑体" panose="02010609060101010101" pitchFamily="49" charset="-122"/>
              <a:sym typeface="+mn-ea"/>
            </a:endParaRPr>
          </a:p>
        </p:txBody>
      </p:sp>
      <p:graphicFrame>
        <p:nvGraphicFramePr>
          <p:cNvPr id="3" name="表格 3"/>
          <p:cNvGraphicFramePr>
            <a:graphicFrameLocks noGrp="1"/>
          </p:cNvGraphicFramePr>
          <p:nvPr/>
        </p:nvGraphicFramePr>
        <p:xfrm>
          <a:off x="3048000" y="1397000"/>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zh-CN" altLang="en-US" dirty="0"/>
                        <a:t>级别</a:t>
                      </a:r>
                    </a:p>
                  </a:txBody>
                  <a:tcPr/>
                </a:tc>
                <a:tc>
                  <a:txBody>
                    <a:bodyPr/>
                    <a:lstStyle/>
                    <a:p>
                      <a:pPr algn="ctr"/>
                      <a:r>
                        <a:rPr lang="zh-CN" altLang="en-US" dirty="0"/>
                        <a:t>纠错能力</a:t>
                      </a:r>
                    </a:p>
                  </a:txBody>
                  <a:tcPr/>
                </a:tc>
                <a:extLst>
                  <a:ext uri="{0D108BD9-81ED-4DB2-BD59-A6C34878D82A}">
                    <a16:rowId xmlns:a16="http://schemas.microsoft.com/office/drawing/2014/main" val="10000"/>
                  </a:ext>
                </a:extLst>
              </a:tr>
              <a:tr h="370840">
                <a:tc>
                  <a:txBody>
                    <a:bodyPr/>
                    <a:lstStyle/>
                    <a:p>
                      <a:pPr algn="ctr"/>
                      <a:r>
                        <a:rPr lang="en-US" altLang="zh-CN" dirty="0"/>
                        <a:t>L</a:t>
                      </a:r>
                      <a:endParaRPr lang="zh-CN" altLang="en-US" dirty="0"/>
                    </a:p>
                  </a:txBody>
                  <a:tcPr/>
                </a:tc>
                <a:tc>
                  <a:txBody>
                    <a:bodyPr/>
                    <a:lstStyle/>
                    <a:p>
                      <a:pPr algn="ctr"/>
                      <a:r>
                        <a:rPr lang="zh-CN" altLang="en-US" dirty="0"/>
                        <a:t>约</a:t>
                      </a:r>
                      <a:r>
                        <a:rPr lang="en-US" altLang="zh-CN" dirty="0"/>
                        <a:t>7%</a:t>
                      </a:r>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dirty="0"/>
                        <a:t>M</a:t>
                      </a:r>
                      <a:endParaRPr lang="zh-CN" altLang="en-US" dirty="0"/>
                    </a:p>
                  </a:txBody>
                  <a:tcPr/>
                </a:tc>
                <a:tc>
                  <a:txBody>
                    <a:bodyPr/>
                    <a:lstStyle/>
                    <a:p>
                      <a:pPr algn="ctr"/>
                      <a:r>
                        <a:rPr lang="zh-CN" altLang="en-US" dirty="0"/>
                        <a:t>约</a:t>
                      </a:r>
                      <a:r>
                        <a:rPr lang="en-US" altLang="zh-CN" dirty="0"/>
                        <a:t>15%</a:t>
                      </a:r>
                      <a:endParaRPr lang="zh-CN" altLang="en-US" dirty="0"/>
                    </a:p>
                  </a:txBody>
                  <a:tcPr/>
                </a:tc>
                <a:extLst>
                  <a:ext uri="{0D108BD9-81ED-4DB2-BD59-A6C34878D82A}">
                    <a16:rowId xmlns:a16="http://schemas.microsoft.com/office/drawing/2014/main" val="10002"/>
                  </a:ext>
                </a:extLst>
              </a:tr>
              <a:tr h="370840">
                <a:tc>
                  <a:txBody>
                    <a:bodyPr/>
                    <a:lstStyle/>
                    <a:p>
                      <a:pPr algn="ctr"/>
                      <a:r>
                        <a:rPr lang="en-US" altLang="zh-CN" dirty="0"/>
                        <a:t>Q</a:t>
                      </a:r>
                      <a:endParaRPr lang="zh-CN" altLang="en-US" dirty="0"/>
                    </a:p>
                  </a:txBody>
                  <a:tcPr/>
                </a:tc>
                <a:tc>
                  <a:txBody>
                    <a:bodyPr/>
                    <a:lstStyle/>
                    <a:p>
                      <a:pPr algn="ctr"/>
                      <a:r>
                        <a:rPr lang="zh-CN" altLang="en-US" dirty="0"/>
                        <a:t>约</a:t>
                      </a:r>
                      <a:r>
                        <a:rPr lang="en-US" altLang="zh-CN" dirty="0"/>
                        <a:t>25%</a:t>
                      </a:r>
                      <a:endParaRPr lang="zh-CN" altLang="en-US" dirty="0"/>
                    </a:p>
                  </a:txBody>
                  <a:tcPr/>
                </a:tc>
                <a:extLst>
                  <a:ext uri="{0D108BD9-81ED-4DB2-BD59-A6C34878D82A}">
                    <a16:rowId xmlns:a16="http://schemas.microsoft.com/office/drawing/2014/main" val="10003"/>
                  </a:ext>
                </a:extLst>
              </a:tr>
              <a:tr h="370840">
                <a:tc>
                  <a:txBody>
                    <a:bodyPr/>
                    <a:lstStyle/>
                    <a:p>
                      <a:pPr algn="ctr"/>
                      <a:r>
                        <a:rPr lang="en-US" altLang="zh-CN" dirty="0"/>
                        <a:t>H</a:t>
                      </a:r>
                      <a:endParaRPr lang="zh-CN" altLang="en-US" dirty="0"/>
                    </a:p>
                  </a:txBody>
                  <a:tcPr/>
                </a:tc>
                <a:tc>
                  <a:txBody>
                    <a:bodyPr/>
                    <a:lstStyle/>
                    <a:p>
                      <a:pPr algn="ctr"/>
                      <a:r>
                        <a:rPr lang="zh-CN" altLang="en-US" dirty="0"/>
                        <a:t>约</a:t>
                      </a:r>
                      <a:r>
                        <a:rPr lang="en-US" altLang="zh-CN" dirty="0"/>
                        <a:t>30%</a:t>
                      </a:r>
                      <a:endParaRPr lang="zh-CN" altLang="en-US" dirty="0"/>
                    </a:p>
                  </a:txBody>
                  <a:tcPr/>
                </a:tc>
                <a:extLst>
                  <a:ext uri="{0D108BD9-81ED-4DB2-BD59-A6C34878D82A}">
                    <a16:rowId xmlns:a16="http://schemas.microsoft.com/office/drawing/2014/main" val="10004"/>
                  </a:ext>
                </a:extLst>
              </a:tr>
            </a:tbl>
          </a:graphicData>
        </a:graphic>
      </p:graphicFrame>
      <p:sp>
        <p:nvSpPr>
          <p:cNvPr id="7" name="文本框 6"/>
          <p:cNvSpPr txBox="1"/>
          <p:nvPr/>
        </p:nvSpPr>
        <p:spPr>
          <a:xfrm>
            <a:off x="1934349" y="3362692"/>
            <a:ext cx="8323302" cy="707886"/>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纠错能力相当于全部码字（组成数据的单位，在</a:t>
            </a:r>
            <a:r>
              <a:rPr lang="en-US" altLang="zh-CN" sz="2000" dirty="0">
                <a:solidFill>
                  <a:srgbClr val="000000"/>
                </a:solidFill>
                <a:latin typeface="Times New Roman" panose="02020603050405020304" pitchFamily="18" charset="0"/>
                <a:ea typeface="黑体" panose="02010609060101010101" pitchFamily="49" charset="-122"/>
                <a:sym typeface="+mn-ea"/>
              </a:rPr>
              <a:t>QR</a:t>
            </a:r>
            <a:r>
              <a:rPr lang="zh-CN" altLang="en-US" sz="2000" dirty="0">
                <a:solidFill>
                  <a:srgbClr val="000000"/>
                </a:solidFill>
                <a:latin typeface="Times New Roman" panose="02020603050405020304" pitchFamily="18" charset="0"/>
                <a:ea typeface="黑体" panose="02010609060101010101" pitchFamily="49" charset="-122"/>
                <a:sym typeface="+mn-ea"/>
              </a:rPr>
              <a:t>码中，</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码字相当于</a:t>
            </a: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比特）的恢复率。</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的编码</a:t>
            </a:r>
          </a:p>
        </p:txBody>
      </p:sp>
      <p:sp>
        <p:nvSpPr>
          <p:cNvPr id="10" name="文本框 9"/>
          <p:cNvSpPr txBox="1"/>
          <p:nvPr/>
        </p:nvSpPr>
        <p:spPr>
          <a:xfrm>
            <a:off x="1880870" y="914467"/>
            <a:ext cx="8430260" cy="5632311"/>
          </a:xfrm>
          <a:prstGeom prst="rect">
            <a:avLst/>
          </a:prstGeom>
          <a:noFill/>
        </p:spPr>
        <p:txBody>
          <a:bodyPr wrap="square" rtlCol="0" anchor="t">
            <a:spAutoFit/>
          </a:bodyPr>
          <a:lstStyle/>
          <a:p>
            <a:pPr eaLnBrk="0" fontAlgn="base" hangingPunct="0">
              <a:spcBef>
                <a:spcPct val="0"/>
              </a:spcBef>
              <a:spcAft>
                <a:spcPct val="0"/>
              </a:spcAft>
            </a:pPr>
            <a:r>
              <a:rPr lang="en-US" sz="2000" dirty="0">
                <a:solidFill>
                  <a:srgbClr val="FF0000"/>
                </a:solidFill>
                <a:latin typeface="Times New Roman" panose="02020603050405020304" pitchFamily="18" charset="0"/>
                <a:ea typeface="黑体" panose="02010609060101010101" pitchFamily="49" charset="-122"/>
                <a:sym typeface="+mn-ea"/>
              </a:rPr>
              <a:t>QR</a:t>
            </a:r>
            <a:r>
              <a:rPr lang="zh-CN" altLang="en-US" sz="2000" dirty="0">
                <a:solidFill>
                  <a:srgbClr val="FF0000"/>
                </a:solidFill>
                <a:latin typeface="Times New Roman" panose="02020603050405020304" pitchFamily="18" charset="0"/>
                <a:ea typeface="黑体" panose="02010609060101010101" pitchFamily="49" charset="-122"/>
                <a:sym typeface="+mn-ea"/>
              </a:rPr>
              <a:t>码的编码流程如下：</a:t>
            </a:r>
            <a:endParaRPr lang="en-US" altLang="zh-CN" sz="2000" dirty="0">
              <a:solidFill>
                <a:srgbClr val="FF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数据分析</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确定要进行编码的字符类型，选择所需的版本信息和纠错版本。</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数据编码</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采用既定规则，将数据字符转换为位流，并加必要符号，后将位流转换为码字（每</a:t>
            </a: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位一个码字）。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纠错编码</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生成纠错码字放到数据码字后。</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构造最终信息</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按规定将每一块中置入数据和纠错码字，必要时加剩余位。</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在矩阵中布置模块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将寻像图形、分隔符、校正图形与码字按规则排列，放入二维码矩阵。</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掩模</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用</a:t>
            </a: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种掩模图形依次对符号的编码区域的位置图进行掩模处理，评价所得的</a:t>
            </a: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种结果，选择最优的一种。</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格式和版本信息</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生成版本信息和格式信息，构成符号。</a:t>
            </a:r>
            <a:endParaRPr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的编码</a:t>
            </a:r>
          </a:p>
        </p:txBody>
      </p:sp>
      <p:sp>
        <p:nvSpPr>
          <p:cNvPr id="10" name="文本框 9"/>
          <p:cNvSpPr txBox="1"/>
          <p:nvPr/>
        </p:nvSpPr>
        <p:spPr>
          <a:xfrm>
            <a:off x="2002790" y="927735"/>
            <a:ext cx="8205470" cy="707886"/>
          </a:xfrm>
          <a:prstGeom prst="rect">
            <a:avLst/>
          </a:prstGeom>
          <a:noFill/>
        </p:spPr>
        <p:txBody>
          <a:bodyPr wrap="square" rtlCol="0" anchor="t">
            <a:spAutoFit/>
          </a:bodyPr>
          <a:lstStyle/>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表</a:t>
            </a:r>
            <a:r>
              <a:rPr lang="en-US" altLang="zh-CN" sz="2000" dirty="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QR</a:t>
            </a:r>
            <a:r>
              <a:rPr lang="zh-CN" altLang="en-US" sz="2000" dirty="0">
                <a:solidFill>
                  <a:srgbClr val="000000"/>
                </a:solidFill>
                <a:latin typeface="Times New Roman" panose="02020603050405020304" pitchFamily="18" charset="0"/>
                <a:ea typeface="黑体" panose="02010609060101010101" pitchFamily="49" charset="-122"/>
                <a:sym typeface="+mn-ea"/>
              </a:rPr>
              <a:t>码可表示的数据类型及其相应的模式指示符。</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表</a:t>
            </a:r>
            <a:r>
              <a:rPr lang="en-US" altLang="zh-CN" sz="2000" dirty="0">
                <a:solidFill>
                  <a:srgbClr val="000000"/>
                </a:solidFill>
                <a:latin typeface="Times New Roman" panose="02020603050405020304" pitchFamily="18" charset="0"/>
                <a:ea typeface="黑体" panose="02010609060101010101" pitchFamily="49" charset="-122"/>
                <a:sym typeface="+mn-ea"/>
              </a:rPr>
              <a:t>3</a:t>
            </a:r>
            <a:r>
              <a:rPr lang="zh-CN" altLang="en-US" sz="2000" dirty="0">
                <a:solidFill>
                  <a:srgbClr val="000000"/>
                </a:solidFill>
                <a:latin typeface="Times New Roman" panose="02020603050405020304" pitchFamily="18" charset="0"/>
                <a:ea typeface="黑体" panose="02010609060101010101" pitchFamily="49" charset="-122"/>
                <a:sym typeface="+mn-ea"/>
              </a:rPr>
              <a:t>：各版本及模式所对应的字符计数指示符的长度。</a:t>
            </a:r>
            <a:endParaRPr sz="2000" dirty="0">
              <a:solidFill>
                <a:srgbClr val="000000"/>
              </a:solidFill>
              <a:latin typeface="Times New Roman" panose="02020603050405020304" pitchFamily="18" charset="0"/>
              <a:ea typeface="黑体" panose="02010609060101010101" pitchFamily="49" charset="-122"/>
              <a:sym typeface="+mn-ea"/>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1619" y="1772782"/>
            <a:ext cx="7024603" cy="47676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数据分析</a:t>
            </a:r>
          </a:p>
        </p:txBody>
      </p:sp>
      <p:sp>
        <p:nvSpPr>
          <p:cNvPr id="10" name="文本框 9"/>
          <p:cNvSpPr txBox="1"/>
          <p:nvPr/>
        </p:nvSpPr>
        <p:spPr>
          <a:xfrm>
            <a:off x="1993265" y="1371654"/>
            <a:ext cx="8205470" cy="1938992"/>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数据分析</a:t>
            </a:r>
            <a:r>
              <a:rPr lang="zh-CN" altLang="en-US" sz="2000" dirty="0">
                <a:solidFill>
                  <a:srgbClr val="000000"/>
                </a:solidFill>
                <a:latin typeface="Times New Roman" panose="02020603050405020304" pitchFamily="18" charset="0"/>
                <a:ea typeface="黑体" panose="02010609060101010101" pitchFamily="49" charset="-122"/>
                <a:sym typeface="+mn-ea"/>
              </a:rPr>
              <a:t>：确定编码的字符类型、版本信息和纠错等级。</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假设：</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字符类型：数字模式 “</a:t>
            </a:r>
            <a:r>
              <a:rPr lang="en-US" altLang="zh-CN" sz="2000" dirty="0">
                <a:solidFill>
                  <a:srgbClr val="000000"/>
                </a:solidFill>
                <a:latin typeface="Times New Roman" panose="02020603050405020304" pitchFamily="18" charset="0"/>
                <a:ea typeface="黑体" panose="02010609060101010101" pitchFamily="49" charset="-122"/>
                <a:sym typeface="+mn-ea"/>
              </a:rPr>
              <a:t>01234567</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版本信息：版本</a:t>
            </a:r>
            <a:r>
              <a:rPr lang="en-US" altLang="zh-CN" sz="2000" dirty="0">
                <a:solidFill>
                  <a:srgbClr val="000000"/>
                </a:solidFill>
                <a:latin typeface="Times New Roman" panose="02020603050405020304" pitchFamily="18" charset="0"/>
                <a:ea typeface="黑体" panose="02010609060101010101" pitchFamily="49" charset="-122"/>
                <a:sym typeface="+mn-ea"/>
              </a:rPr>
              <a:t>1</a:t>
            </a: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纠错等级：</a:t>
            </a:r>
            <a:r>
              <a:rPr lang="en-US" altLang="zh-CN" sz="2000" dirty="0">
                <a:solidFill>
                  <a:srgbClr val="000000"/>
                </a:solidFill>
                <a:latin typeface="Times New Roman" panose="02020603050405020304" pitchFamily="18" charset="0"/>
                <a:ea typeface="黑体" panose="02010609060101010101" pitchFamily="49" charset="-122"/>
                <a:sym typeface="+mn-ea"/>
              </a:rPr>
              <a:t>H</a:t>
            </a:r>
          </a:p>
        </p:txBody>
      </p:sp>
      <p:sp>
        <p:nvSpPr>
          <p:cNvPr id="7" name="文本框 6"/>
          <p:cNvSpPr txBox="1"/>
          <p:nvPr/>
        </p:nvSpPr>
        <p:spPr>
          <a:xfrm>
            <a:off x="1993265" y="908818"/>
            <a:ext cx="8205470" cy="400110"/>
          </a:xfrm>
          <a:prstGeom prst="rect">
            <a:avLst/>
          </a:prstGeom>
          <a:noFill/>
        </p:spPr>
        <p:txBody>
          <a:bodyPr wrap="square" rtlCol="0" anchor="t">
            <a:spAutoFit/>
          </a:bodyPr>
          <a:lstStyle/>
          <a:p>
            <a:pPr eaLnBrk="0" fontAlgn="base" hangingPunct="0">
              <a:spcBef>
                <a:spcPct val="0"/>
              </a:spcBef>
              <a:spcAft>
                <a:spcPct val="0"/>
              </a:spcAft>
            </a:pPr>
            <a:r>
              <a:rPr lang="zh-CN" altLang="en-US" sz="2000" b="1" dirty="0">
                <a:solidFill>
                  <a:srgbClr val="FF0000"/>
                </a:solidFill>
                <a:latin typeface="Times New Roman" panose="02020603050405020304" pitchFamily="18" charset="0"/>
                <a:ea typeface="黑体" panose="02010609060101010101" pitchFamily="49" charset="-122"/>
                <a:sym typeface="+mn-ea"/>
              </a:rPr>
              <a:t>举例说明</a:t>
            </a:r>
            <a:r>
              <a:rPr lang="en-US" altLang="zh-CN" sz="2000" b="1" dirty="0">
                <a:solidFill>
                  <a:srgbClr val="FF0000"/>
                </a:solidFill>
                <a:latin typeface="Times New Roman" panose="02020603050405020304" pitchFamily="18" charset="0"/>
                <a:ea typeface="黑体" panose="02010609060101010101" pitchFamily="49" charset="-122"/>
                <a:sym typeface="+mn-ea"/>
              </a:rPr>
              <a:t>QR</a:t>
            </a:r>
            <a:r>
              <a:rPr lang="zh-CN" altLang="en-US" sz="2000" b="1" dirty="0">
                <a:solidFill>
                  <a:srgbClr val="FF0000"/>
                </a:solidFill>
                <a:latin typeface="Times New Roman" panose="02020603050405020304" pitchFamily="18" charset="0"/>
                <a:ea typeface="黑体" panose="02010609060101010101" pitchFamily="49" charset="-122"/>
                <a:sym typeface="+mn-ea"/>
              </a:rPr>
              <a:t>码的编码过程。</a:t>
            </a:r>
            <a:endParaRPr sz="2000" b="1" dirty="0">
              <a:solidFill>
                <a:srgbClr val="FF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数据编码</a:t>
            </a:r>
            <a:r>
              <a:rPr lang="en-US" altLang="zh-CN" sz="2400" dirty="0">
                <a:sym typeface="+mn-ea"/>
              </a:rPr>
              <a:t>-</a:t>
            </a:r>
            <a:r>
              <a:rPr lang="zh-CN" altLang="en-US" sz="2400" dirty="0">
                <a:sym typeface="+mn-ea"/>
              </a:rPr>
              <a:t>数据字符转换为位流</a:t>
            </a:r>
          </a:p>
        </p:txBody>
      </p:sp>
      <p:sp>
        <p:nvSpPr>
          <p:cNvPr id="10" name="文本框 9"/>
          <p:cNvSpPr txBox="1"/>
          <p:nvPr/>
        </p:nvSpPr>
        <p:spPr>
          <a:xfrm>
            <a:off x="2002790" y="927736"/>
            <a:ext cx="8205470" cy="4708981"/>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数据编码</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Arial" panose="020B0604020202020204" pitchFamily="34" charset="0"/>
              <a:buChar char="•"/>
            </a:pPr>
            <a:r>
              <a:rPr lang="zh-CN" altLang="en-US" sz="2000" dirty="0">
                <a:solidFill>
                  <a:srgbClr val="000000"/>
                </a:solidFill>
                <a:latin typeface="Times New Roman" panose="02020603050405020304" pitchFamily="18" charset="0"/>
                <a:ea typeface="黑体" panose="02010609060101010101" pitchFamily="49" charset="-122"/>
                <a:sym typeface="+mn-ea"/>
              </a:rPr>
              <a:t>数据字符转换为位流</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首先将数字</a:t>
            </a:r>
            <a:r>
              <a:rPr lang="zh-CN" altLang="en-US" sz="2000" dirty="0">
                <a:solidFill>
                  <a:srgbClr val="FF0000"/>
                </a:solidFill>
                <a:latin typeface="Times New Roman" panose="02020603050405020304" pitchFamily="18" charset="0"/>
                <a:ea typeface="黑体" panose="02010609060101010101" pitchFamily="49" charset="-122"/>
                <a:sym typeface="+mn-ea"/>
              </a:rPr>
              <a:t>每三位分为一组</a:t>
            </a:r>
            <a:r>
              <a:rPr lang="zh-CN" altLang="en-US" sz="2000" dirty="0">
                <a:solidFill>
                  <a:srgbClr val="000000"/>
                </a:solidFill>
                <a:latin typeface="Times New Roman" panose="02020603050405020304" pitchFamily="18" charset="0"/>
                <a:ea typeface="黑体" panose="02010609060101010101" pitchFamily="49" charset="-122"/>
                <a:sym typeface="+mn-ea"/>
              </a:rPr>
              <a:t>，然后将每组数据转换为</a:t>
            </a:r>
            <a:r>
              <a:rPr lang="en-US" altLang="zh-CN" sz="2000" dirty="0">
                <a:solidFill>
                  <a:srgbClr val="FF0000"/>
                </a:solidFill>
                <a:latin typeface="Times New Roman" panose="02020603050405020304" pitchFamily="18" charset="0"/>
                <a:ea typeface="黑体" panose="02010609060101010101" pitchFamily="49" charset="-122"/>
                <a:sym typeface="+mn-ea"/>
              </a:rPr>
              <a:t>10</a:t>
            </a:r>
            <a:r>
              <a:rPr lang="zh-CN" altLang="en-US" sz="2000" dirty="0">
                <a:solidFill>
                  <a:srgbClr val="FF0000"/>
                </a:solidFill>
                <a:latin typeface="Times New Roman" panose="02020603050405020304" pitchFamily="18" charset="0"/>
                <a:ea typeface="黑体" panose="02010609060101010101" pitchFamily="49" charset="-122"/>
                <a:sym typeface="+mn-ea"/>
              </a:rPr>
              <a:t>位长度的二进制</a:t>
            </a:r>
            <a:r>
              <a:rPr lang="zh-CN" altLang="en-US" sz="2000" dirty="0">
                <a:solidFill>
                  <a:srgbClr val="000000"/>
                </a:solidFill>
                <a:latin typeface="Times New Roman" panose="02020603050405020304" pitchFamily="18" charset="0"/>
                <a:ea typeface="黑体" panose="02010609060101010101" pitchFamily="49" charset="-122"/>
                <a:sym typeface="+mn-ea"/>
              </a:rPr>
              <a:t>。如果最后一组只有两位，则使用</a:t>
            </a:r>
            <a:r>
              <a:rPr lang="en-US" altLang="zh-CN" sz="2000" dirty="0">
                <a:solidFill>
                  <a:srgbClr val="000000"/>
                </a:solidFill>
                <a:latin typeface="Times New Roman" panose="02020603050405020304" pitchFamily="18" charset="0"/>
                <a:ea typeface="黑体" panose="02010609060101010101" pitchFamily="49" charset="-122"/>
                <a:sym typeface="+mn-ea"/>
              </a:rPr>
              <a:t>7</a:t>
            </a:r>
            <a:r>
              <a:rPr lang="zh-CN" altLang="en-US" sz="2000" dirty="0">
                <a:solidFill>
                  <a:srgbClr val="000000"/>
                </a:solidFill>
                <a:latin typeface="Times New Roman" panose="02020603050405020304" pitchFamily="18" charset="0"/>
                <a:ea typeface="黑体" panose="02010609060101010101" pitchFamily="49" charset="-122"/>
                <a:sym typeface="+mn-ea"/>
              </a:rPr>
              <a:t>位长度的二进制；如果只剩一位，则使用</a:t>
            </a:r>
            <a:r>
              <a:rPr lang="en-US" altLang="zh-CN" sz="2000" dirty="0">
                <a:solidFill>
                  <a:srgbClr val="000000"/>
                </a:solidFill>
                <a:latin typeface="Times New Roman" panose="02020603050405020304" pitchFamily="18" charset="0"/>
                <a:ea typeface="黑体" panose="02010609060101010101" pitchFamily="49" charset="-122"/>
                <a:sym typeface="+mn-ea"/>
              </a:rPr>
              <a:t>4</a:t>
            </a:r>
            <a:r>
              <a:rPr lang="zh-CN" altLang="en-US" sz="2000" dirty="0">
                <a:solidFill>
                  <a:srgbClr val="000000"/>
                </a:solidFill>
                <a:latin typeface="Times New Roman" panose="02020603050405020304" pitchFamily="18" charset="0"/>
                <a:ea typeface="黑体" panose="02010609060101010101" pitchFamily="49" charset="-122"/>
                <a:sym typeface="+mn-ea"/>
              </a:rPr>
              <a:t>位长度。最后将每组的二进制</a:t>
            </a:r>
            <a:r>
              <a:rPr lang="zh-CN" altLang="en-US" sz="2000" dirty="0">
                <a:solidFill>
                  <a:srgbClr val="FF0000"/>
                </a:solidFill>
                <a:latin typeface="Times New Roman" panose="02020603050405020304" pitchFamily="18" charset="0"/>
                <a:ea typeface="黑体" panose="02010609060101010101" pitchFamily="49" charset="-122"/>
                <a:sym typeface="+mn-ea"/>
              </a:rPr>
              <a:t>连接</a:t>
            </a:r>
            <a:r>
              <a:rPr lang="zh-CN" altLang="en-US" sz="2000" dirty="0">
                <a:solidFill>
                  <a:srgbClr val="000000"/>
                </a:solidFill>
                <a:latin typeface="Times New Roman" panose="02020603050405020304" pitchFamily="18" charset="0"/>
                <a:ea typeface="黑体" panose="02010609060101010101" pitchFamily="49" charset="-122"/>
                <a:sym typeface="+mn-ea"/>
              </a:rPr>
              <a:t>起来形成</a:t>
            </a:r>
            <a:r>
              <a:rPr lang="zh-CN" altLang="en-US" sz="2000" dirty="0">
                <a:solidFill>
                  <a:srgbClr val="FF0000"/>
                </a:solidFill>
                <a:latin typeface="Times New Roman" panose="02020603050405020304" pitchFamily="18" charset="0"/>
                <a:ea typeface="黑体" panose="02010609060101010101" pitchFamily="49" charset="-122"/>
                <a:sym typeface="+mn-ea"/>
              </a:rPr>
              <a:t>数据位流</a:t>
            </a:r>
            <a:r>
              <a:rPr lang="zh-CN" altLang="en-US" sz="2000" dirty="0">
                <a:solidFill>
                  <a:srgbClr val="000000"/>
                </a:solidFill>
                <a:latin typeface="Times New Roman" panose="02020603050405020304" pitchFamily="18" charset="0"/>
                <a:ea typeface="黑体" panose="02010609060101010101" pitchFamily="49" charset="-122"/>
                <a:sym typeface="+mn-ea"/>
              </a:rPr>
              <a:t>，并在前面加上</a:t>
            </a:r>
            <a:r>
              <a:rPr lang="zh-CN" altLang="en-US" sz="2000" dirty="0">
                <a:solidFill>
                  <a:srgbClr val="FF0000"/>
                </a:solidFill>
                <a:latin typeface="Times New Roman" panose="02020603050405020304" pitchFamily="18" charset="0"/>
                <a:ea typeface="黑体" panose="02010609060101010101" pitchFamily="49" charset="-122"/>
                <a:sym typeface="+mn-ea"/>
              </a:rPr>
              <a:t>模式指示符和字符计数指示符</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如：</a:t>
            </a:r>
            <a:r>
              <a:rPr lang="en-US" altLang="zh-CN" sz="2000" dirty="0">
                <a:solidFill>
                  <a:srgbClr val="000000"/>
                </a:solidFill>
                <a:latin typeface="Times New Roman" panose="02020603050405020304" pitchFamily="18" charset="0"/>
                <a:ea typeface="黑体" panose="02010609060101010101" pitchFamily="49" charset="-122"/>
                <a:sym typeface="+mn-ea"/>
              </a:rPr>
              <a:t>01234567</a:t>
            </a: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分组：</a:t>
            </a:r>
            <a:r>
              <a:rPr lang="en-US" altLang="zh-CN" sz="2000" dirty="0">
                <a:solidFill>
                  <a:srgbClr val="000000"/>
                </a:solidFill>
                <a:latin typeface="Times New Roman" panose="02020603050405020304" pitchFamily="18" charset="0"/>
                <a:ea typeface="黑体" panose="02010609060101010101" pitchFamily="49" charset="-122"/>
                <a:sym typeface="+mn-ea"/>
              </a:rPr>
              <a:t>012 /</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345 / 67</a:t>
            </a: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转换为二进制：</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en-US" sz="2000" dirty="0">
                <a:solidFill>
                  <a:srgbClr val="000000"/>
                </a:solidFill>
                <a:latin typeface="Times New Roman" panose="02020603050405020304" pitchFamily="18" charset="0"/>
                <a:ea typeface="黑体" panose="02010609060101010101" pitchFamily="49" charset="-122"/>
                <a:sym typeface="+mn-ea"/>
              </a:rPr>
              <a:t>012</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b="1" dirty="0">
                <a:solidFill>
                  <a:srgbClr val="000000"/>
                </a:solidFill>
                <a:latin typeface="Times New Roman" panose="02020603050405020304" pitchFamily="18" charset="0"/>
                <a:ea typeface="黑体" panose="02010609060101010101" pitchFamily="49" charset="-122"/>
                <a:sym typeface="+mn-ea"/>
              </a:rPr>
              <a:t>000000</a:t>
            </a:r>
            <a:r>
              <a:rPr lang="en-US" altLang="zh-CN" sz="2000" dirty="0">
                <a:solidFill>
                  <a:srgbClr val="000000"/>
                </a:solidFill>
                <a:latin typeface="Times New Roman" panose="02020603050405020304" pitchFamily="18" charset="0"/>
                <a:ea typeface="黑体" panose="02010609060101010101" pitchFamily="49" charset="-122"/>
                <a:sym typeface="+mn-ea"/>
              </a:rPr>
              <a:t>1100</a:t>
            </a:r>
            <a:r>
              <a:rPr lang="zh-CN" altLang="en-US" sz="2000" dirty="0">
                <a:solidFill>
                  <a:srgbClr val="000000"/>
                </a:solidFill>
                <a:latin typeface="Times New Roman" panose="02020603050405020304" pitchFamily="18" charset="0"/>
                <a:ea typeface="黑体" panose="02010609060101010101" pitchFamily="49" charset="-122"/>
                <a:sym typeface="+mn-ea"/>
              </a:rPr>
              <a:t>（加粗的</a:t>
            </a:r>
            <a:r>
              <a:rPr lang="en-US" altLang="zh-CN" sz="2000" dirty="0">
                <a:solidFill>
                  <a:srgbClr val="000000"/>
                </a:solidFill>
                <a:latin typeface="Times New Roman" panose="02020603050405020304" pitchFamily="18" charset="0"/>
                <a:ea typeface="黑体" panose="02010609060101010101" pitchFamily="49" charset="-122"/>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是为了凑够</a:t>
            </a:r>
            <a:r>
              <a:rPr lang="en-US" altLang="zh-CN" sz="2000" dirty="0">
                <a:solidFill>
                  <a:srgbClr val="000000"/>
                </a:solidFill>
                <a:latin typeface="Times New Roman" panose="02020603050405020304" pitchFamily="18" charset="0"/>
                <a:ea typeface="黑体" panose="02010609060101010101" pitchFamily="49" charset="-122"/>
                <a:sym typeface="+mn-ea"/>
              </a:rPr>
              <a:t>10</a:t>
            </a:r>
            <a:r>
              <a:rPr lang="zh-CN" altLang="en-US" sz="2000" dirty="0">
                <a:solidFill>
                  <a:srgbClr val="000000"/>
                </a:solidFill>
                <a:latin typeface="Times New Roman" panose="02020603050405020304" pitchFamily="18" charset="0"/>
                <a:ea typeface="黑体" panose="02010609060101010101" pitchFamily="49" charset="-122"/>
                <a:sym typeface="+mn-ea"/>
              </a:rPr>
              <a:t>位长度）</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en-US" sz="2000" dirty="0">
                <a:solidFill>
                  <a:srgbClr val="000000"/>
                </a:solidFill>
                <a:latin typeface="Times New Roman" panose="02020603050405020304" pitchFamily="18" charset="0"/>
                <a:ea typeface="黑体" panose="02010609060101010101" pitchFamily="49" charset="-122"/>
                <a:sym typeface="+mn-ea"/>
              </a:rPr>
              <a:t>345</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sz="2000" b="1" dirty="0">
                <a:solidFill>
                  <a:srgbClr val="000000"/>
                </a:solidFill>
                <a:latin typeface="Times New Roman" panose="02020603050405020304" pitchFamily="18" charset="0"/>
                <a:ea typeface="黑体" panose="02010609060101010101" pitchFamily="49" charset="-122"/>
                <a:sym typeface="+mn-ea"/>
              </a:rPr>
              <a:t>0</a:t>
            </a:r>
            <a:r>
              <a:rPr lang="en-US" sz="2000" dirty="0">
                <a:solidFill>
                  <a:srgbClr val="000000"/>
                </a:solidFill>
                <a:latin typeface="Times New Roman" panose="02020603050405020304" pitchFamily="18" charset="0"/>
                <a:ea typeface="黑体" panose="02010609060101010101" pitchFamily="49" charset="-122"/>
                <a:sym typeface="+mn-ea"/>
              </a:rPr>
              <a:t>101011001</a:t>
            </a:r>
          </a:p>
          <a:p>
            <a:pPr lvl="2" eaLnBrk="0" fontAlgn="base" hangingPunct="0">
              <a:spcBef>
                <a:spcPct val="0"/>
              </a:spcBef>
              <a:spcAft>
                <a:spcPct val="0"/>
              </a:spcAft>
            </a:pPr>
            <a:r>
              <a:rPr lang="en-US" sz="2000" dirty="0">
                <a:solidFill>
                  <a:srgbClr val="000000"/>
                </a:solidFill>
                <a:latin typeface="Times New Roman" panose="02020603050405020304" pitchFamily="18" charset="0"/>
                <a:ea typeface="黑体" panose="02010609060101010101" pitchFamily="49" charset="-122"/>
                <a:sym typeface="+mn-ea"/>
              </a:rPr>
              <a:t>67</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1000011</a:t>
            </a: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数据位流：</a:t>
            </a:r>
            <a:r>
              <a:rPr lang="en-US" altLang="zh-CN" sz="2000" dirty="0">
                <a:solidFill>
                  <a:srgbClr val="000000"/>
                </a:solidFill>
                <a:latin typeface="Times New Roman" panose="02020603050405020304" pitchFamily="18" charset="0"/>
                <a:ea typeface="黑体" panose="02010609060101010101" pitchFamily="49" charset="-122"/>
                <a:sym typeface="+mn-ea"/>
              </a:rPr>
              <a:t>0000001100 0101011001 1000011</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5437" y="2672648"/>
            <a:ext cx="5291429" cy="3591319"/>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5963921" y="104775"/>
            <a:ext cx="4512945" cy="685800"/>
          </a:xfrm>
        </p:spPr>
        <p:txBody>
          <a:bodyPr/>
          <a:lstStyle/>
          <a:p>
            <a:r>
              <a:rPr lang="zh-CN" altLang="en-US" sz="2400" dirty="0">
                <a:sym typeface="+mn-ea"/>
              </a:rPr>
              <a:t>数据编码</a:t>
            </a:r>
            <a:r>
              <a:rPr lang="en-US" altLang="zh-CN" sz="2400" dirty="0">
                <a:sym typeface="+mn-ea"/>
              </a:rPr>
              <a:t>-</a:t>
            </a:r>
            <a:r>
              <a:rPr lang="zh-CN" altLang="en-US" sz="2400" dirty="0">
                <a:sym typeface="+mn-ea"/>
              </a:rPr>
              <a:t>数据字符转换为位流</a:t>
            </a:r>
          </a:p>
        </p:txBody>
      </p:sp>
      <p:sp>
        <p:nvSpPr>
          <p:cNvPr id="10" name="文本框 9"/>
          <p:cNvSpPr txBox="1"/>
          <p:nvPr/>
        </p:nvSpPr>
        <p:spPr>
          <a:xfrm>
            <a:off x="2002790" y="927736"/>
            <a:ext cx="8131704" cy="4401205"/>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数据编码</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Arial" panose="020B0604020202020204" pitchFamily="34" charset="0"/>
              <a:buChar char="•"/>
            </a:pPr>
            <a:r>
              <a:rPr lang="zh-CN" altLang="en-US" sz="2000" dirty="0">
                <a:solidFill>
                  <a:srgbClr val="000000"/>
                </a:solidFill>
                <a:latin typeface="Times New Roman" panose="02020603050405020304" pitchFamily="18" charset="0"/>
                <a:ea typeface="黑体" panose="02010609060101010101" pitchFamily="49" charset="-122"/>
                <a:sym typeface="+mn-ea"/>
              </a:rPr>
              <a:t>数据字符转换为位流</a:t>
            </a:r>
          </a:p>
          <a:p>
            <a:pPr marL="914400" lvl="1" indent="-457200" eaLnBrk="0" fontAlgn="base" hangingPunct="0">
              <a:spcBef>
                <a:spcPct val="0"/>
              </a:spcBef>
              <a:spcAft>
                <a:spcPct val="0"/>
              </a:spcAft>
              <a:buFont typeface="+mj-lt"/>
              <a:buAutoNum type="arabicPeriod" startAt="4"/>
            </a:pPr>
            <a:r>
              <a:rPr lang="zh-CN" altLang="en-US" sz="2000" dirty="0">
                <a:solidFill>
                  <a:srgbClr val="000000"/>
                </a:solidFill>
                <a:latin typeface="Times New Roman" panose="02020603050405020304" pitchFamily="18" charset="0"/>
                <a:ea typeface="黑体" panose="02010609060101010101" pitchFamily="49" charset="-122"/>
                <a:sym typeface="+mn-ea"/>
              </a:rPr>
              <a:t>确定模式指示符和字符计数指示符</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根据表</a:t>
            </a:r>
            <a:r>
              <a:rPr lang="en-US" altLang="zh-CN" sz="2000" dirty="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，数字模式下的模式指示符为</a:t>
            </a:r>
            <a:r>
              <a:rPr lang="en-US" altLang="zh-CN" sz="2000" dirty="0">
                <a:solidFill>
                  <a:srgbClr val="000000"/>
                </a:solidFill>
                <a:latin typeface="Times New Roman" panose="02020603050405020304" pitchFamily="18" charset="0"/>
                <a:ea typeface="黑体" panose="02010609060101010101" pitchFamily="49" charset="-122"/>
                <a:sym typeface="+mn-ea"/>
              </a:rPr>
              <a:t>0001</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根据表</a:t>
            </a:r>
            <a:r>
              <a:rPr lang="en-US" altLang="zh-CN" sz="2000" dirty="0">
                <a:solidFill>
                  <a:srgbClr val="000000"/>
                </a:solidFill>
                <a:latin typeface="Times New Roman" panose="02020603050405020304" pitchFamily="18" charset="0"/>
                <a:ea typeface="黑体" panose="02010609060101010101" pitchFamily="49" charset="-122"/>
                <a:sym typeface="+mn-ea"/>
              </a:rPr>
              <a:t>3</a:t>
            </a:r>
            <a:r>
              <a:rPr lang="zh-CN" altLang="en-US" sz="2000" dirty="0">
                <a:solidFill>
                  <a:srgbClr val="000000"/>
                </a:solidFill>
                <a:latin typeface="Times New Roman" panose="02020603050405020304" pitchFamily="18" charset="0"/>
                <a:ea typeface="黑体" panose="02010609060101010101" pitchFamily="49" charset="-122"/>
                <a:sym typeface="+mn-ea"/>
              </a:rPr>
              <a:t>，数字模式</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下版本</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的字符计数</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指示符的位数为</a:t>
            </a:r>
            <a:r>
              <a:rPr lang="en-US" altLang="zh-CN" sz="2000" dirty="0">
                <a:solidFill>
                  <a:srgbClr val="000000"/>
                </a:solidFill>
                <a:latin typeface="Times New Roman" panose="02020603050405020304" pitchFamily="18" charset="0"/>
                <a:ea typeface="黑体" panose="02010609060101010101" pitchFamily="49" charset="-122"/>
                <a:sym typeface="+mn-ea"/>
              </a:rPr>
              <a:t>10</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01234567</a:t>
            </a:r>
            <a:r>
              <a:rPr lang="zh-CN" altLang="en-US" sz="2000" dirty="0">
                <a:solidFill>
                  <a:srgbClr val="000000"/>
                </a:solidFill>
                <a:latin typeface="Times New Roman" panose="02020603050405020304" pitchFamily="18" charset="0"/>
                <a:ea typeface="黑体" panose="02010609060101010101" pitchFamily="49" charset="-122"/>
                <a:sym typeface="+mn-ea"/>
              </a:rPr>
              <a:t>”共有</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位数字，则将位数</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转换为</a:t>
            </a:r>
            <a:r>
              <a:rPr lang="en-US" altLang="zh-CN" sz="2000" dirty="0">
                <a:solidFill>
                  <a:srgbClr val="000000"/>
                </a:solidFill>
                <a:latin typeface="Times New Roman" panose="02020603050405020304" pitchFamily="18" charset="0"/>
                <a:ea typeface="黑体" panose="02010609060101010101" pitchFamily="49" charset="-122"/>
                <a:sym typeface="+mn-ea"/>
              </a:rPr>
              <a:t>10</a:t>
            </a:r>
            <a:r>
              <a:rPr lang="zh-CN" altLang="en-US" sz="2000" dirty="0">
                <a:solidFill>
                  <a:srgbClr val="000000"/>
                </a:solidFill>
                <a:latin typeface="Times New Roman" panose="02020603050405020304" pitchFamily="18" charset="0"/>
                <a:ea typeface="黑体" panose="02010609060101010101" pitchFamily="49" charset="-122"/>
                <a:sym typeface="+mn-ea"/>
              </a:rPr>
              <a:t>位长度的</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二进制。</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0000001000</a:t>
            </a:r>
          </a:p>
        </p:txBody>
      </p:sp>
      <p:sp>
        <p:nvSpPr>
          <p:cNvPr id="4" name="矩形 3"/>
          <p:cNvSpPr/>
          <p:nvPr/>
        </p:nvSpPr>
        <p:spPr>
          <a:xfrm>
            <a:off x="6324594" y="3189262"/>
            <a:ext cx="3332396" cy="239738"/>
          </a:xfrm>
          <a:prstGeom prst="rect">
            <a:avLst/>
          </a:prstGeom>
          <a:noFill/>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algn="ctr" eaLnBrk="0" fontAlgn="base" hangingPunct="0">
              <a:spcBef>
                <a:spcPct val="0"/>
              </a:spcBef>
              <a:spcAft>
                <a:spcPct val="0"/>
              </a:spcAft>
            </a:pPr>
            <a:endParaRPr lang="zh-CN" altLang="en-US">
              <a:solidFill>
                <a:srgbClr val="000000"/>
              </a:solidFill>
              <a:latin typeface="Times New Roman"/>
              <a:ea typeface="黑体"/>
            </a:endParaRPr>
          </a:p>
        </p:txBody>
      </p:sp>
      <p:sp>
        <p:nvSpPr>
          <p:cNvPr id="6" name="矩形 5"/>
          <p:cNvSpPr/>
          <p:nvPr/>
        </p:nvSpPr>
        <p:spPr>
          <a:xfrm>
            <a:off x="6334557" y="5556715"/>
            <a:ext cx="533386" cy="23973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数据编码</a:t>
            </a:r>
            <a:r>
              <a:rPr lang="en-US" altLang="zh-CN" sz="2400" dirty="0">
                <a:sym typeface="+mn-ea"/>
              </a:rPr>
              <a:t>-</a:t>
            </a:r>
            <a:r>
              <a:rPr lang="zh-CN" altLang="en-US" sz="2400" dirty="0">
                <a:sym typeface="+mn-ea"/>
              </a:rPr>
              <a:t>数据字符转换为位流</a:t>
            </a:r>
          </a:p>
        </p:txBody>
      </p:sp>
      <p:sp>
        <p:nvSpPr>
          <p:cNvPr id="10" name="文本框 9"/>
          <p:cNvSpPr txBox="1"/>
          <p:nvPr/>
        </p:nvSpPr>
        <p:spPr>
          <a:xfrm>
            <a:off x="2002790" y="927735"/>
            <a:ext cx="8131704" cy="1938992"/>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数据编码</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Arial" panose="020B0604020202020204" pitchFamily="34" charset="0"/>
              <a:buChar char="•"/>
            </a:pPr>
            <a:r>
              <a:rPr lang="zh-CN" altLang="en-US" sz="2000" dirty="0">
                <a:solidFill>
                  <a:srgbClr val="000000"/>
                </a:solidFill>
                <a:latin typeface="Times New Roman" panose="02020603050405020304" pitchFamily="18" charset="0"/>
                <a:ea typeface="黑体" panose="02010609060101010101" pitchFamily="49" charset="-122"/>
                <a:sym typeface="+mn-ea"/>
              </a:rPr>
              <a:t>数据字符转换为位流</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914400" lvl="1" indent="-457200" eaLnBrk="0" fontAlgn="base" hangingPunct="0">
              <a:spcBef>
                <a:spcPct val="0"/>
              </a:spcBef>
              <a:spcAft>
                <a:spcPct val="0"/>
              </a:spcAft>
              <a:buFont typeface="+mj-lt"/>
              <a:buAutoNum type="arabicPeriod" startAt="5"/>
            </a:pPr>
            <a:r>
              <a:rPr lang="zh-CN" altLang="en-US" sz="2000" dirty="0">
                <a:solidFill>
                  <a:srgbClr val="000000"/>
                </a:solidFill>
                <a:latin typeface="Times New Roman" panose="02020603050405020304" pitchFamily="18" charset="0"/>
                <a:ea typeface="黑体" panose="02010609060101010101" pitchFamily="49" charset="-122"/>
                <a:sym typeface="+mn-ea"/>
              </a:rPr>
              <a:t>最终位流为：模式指示符</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字符计数指示符</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数字位流</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0001 + 0000001000 + 0000001100 0101011001 1000011</a:t>
            </a:r>
          </a:p>
          <a:p>
            <a:pPr eaLnBrk="0" fontAlgn="base" hangingPunct="0">
              <a:spcBef>
                <a:spcPct val="0"/>
              </a:spcBef>
              <a:spcAft>
                <a:spcPct val="0"/>
              </a:spcAft>
            </a:pPr>
            <a:endParaRPr lang="zh-CN" altLang="en-US"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数据编码</a:t>
            </a:r>
            <a:r>
              <a:rPr lang="en-US" altLang="zh-CN" sz="2400" dirty="0">
                <a:sym typeface="+mn-ea"/>
              </a:rPr>
              <a:t>-</a:t>
            </a:r>
            <a:r>
              <a:rPr lang="zh-CN" altLang="en-US" sz="2400" dirty="0">
                <a:sym typeface="+mn-ea"/>
              </a:rPr>
              <a:t>加必要符号</a:t>
            </a:r>
          </a:p>
        </p:txBody>
      </p:sp>
      <p:sp>
        <p:nvSpPr>
          <p:cNvPr id="10" name="文本框 9"/>
          <p:cNvSpPr txBox="1"/>
          <p:nvPr/>
        </p:nvSpPr>
        <p:spPr>
          <a:xfrm>
            <a:off x="2002790" y="927736"/>
            <a:ext cx="8205470" cy="317009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数据编码</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Arial" panose="020B0604020202020204" pitchFamily="34" charset="0"/>
              <a:buChar char="•"/>
            </a:pPr>
            <a:r>
              <a:rPr lang="zh-CN" altLang="en-US" sz="2000" dirty="0">
                <a:solidFill>
                  <a:srgbClr val="000000"/>
                </a:solidFill>
                <a:latin typeface="Times New Roman" panose="02020603050405020304" pitchFamily="18" charset="0"/>
                <a:ea typeface="黑体" panose="02010609060101010101" pitchFamily="49" charset="-122"/>
                <a:sym typeface="+mn-ea"/>
              </a:rPr>
              <a:t>加必要符号，若容量足够可在位流末尾加终止符</a:t>
            </a: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终止符：符号的数据结尾由紧跟在最后一个模式段后面的终止符序列</a:t>
            </a:r>
            <a:r>
              <a:rPr lang="en-US" altLang="zh-CN" sz="2000" dirty="0">
                <a:solidFill>
                  <a:srgbClr val="FF0000"/>
                </a:solidFill>
                <a:latin typeface="Times New Roman" panose="02020603050405020304" pitchFamily="18" charset="0"/>
                <a:ea typeface="黑体" panose="02010609060101010101" pitchFamily="49" charset="-122"/>
                <a:sym typeface="+mn-ea"/>
              </a:rPr>
              <a:t>0000</a:t>
            </a:r>
            <a:r>
              <a:rPr lang="zh-CN" altLang="en-US" sz="2000" dirty="0">
                <a:solidFill>
                  <a:srgbClr val="000000"/>
                </a:solidFill>
                <a:latin typeface="Times New Roman" panose="02020603050405020304" pitchFamily="18" charset="0"/>
                <a:ea typeface="黑体" panose="02010609060101010101" pitchFamily="49" charset="-122"/>
                <a:sym typeface="+mn-ea"/>
              </a:rPr>
              <a:t>表示，当数据位流正好填满符号容量时，它可以省略；当符号所余容量不足</a:t>
            </a:r>
            <a:r>
              <a:rPr lang="en-US" altLang="zh-CN" sz="2000" dirty="0">
                <a:solidFill>
                  <a:srgbClr val="000000"/>
                </a:solidFill>
                <a:latin typeface="Times New Roman" panose="02020603050405020304" pitchFamily="18" charset="0"/>
                <a:ea typeface="黑体" panose="02010609060101010101" pitchFamily="49" charset="-122"/>
                <a:sym typeface="+mn-ea"/>
              </a:rPr>
              <a:t>4</a:t>
            </a:r>
            <a:r>
              <a:rPr lang="zh-CN" altLang="en-US" sz="2000" dirty="0">
                <a:solidFill>
                  <a:srgbClr val="000000"/>
                </a:solidFill>
                <a:latin typeface="Times New Roman" panose="02020603050405020304" pitchFamily="18" charset="0"/>
                <a:ea typeface="黑体" panose="02010609060101010101" pitchFamily="49" charset="-122"/>
                <a:sym typeface="+mn-ea"/>
              </a:rPr>
              <a:t>时，它可以截短。</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如表</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，版本</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的数据容量为</a:t>
            </a:r>
            <a:r>
              <a:rPr lang="en-US" altLang="zh-CN" sz="2000" dirty="0">
                <a:solidFill>
                  <a:srgbClr val="000000"/>
                </a:solidFill>
                <a:latin typeface="Times New Roman" panose="02020603050405020304" pitchFamily="18" charset="0"/>
                <a:ea typeface="黑体" panose="02010609060101010101" pitchFamily="49" charset="-122"/>
                <a:sym typeface="+mn-ea"/>
              </a:rPr>
              <a:t>26</a:t>
            </a:r>
            <a:r>
              <a:rPr lang="zh-CN" altLang="en-US" sz="2000" dirty="0">
                <a:solidFill>
                  <a:srgbClr val="000000"/>
                </a:solidFill>
                <a:latin typeface="Times New Roman" panose="02020603050405020304" pitchFamily="18" charset="0"/>
                <a:ea typeface="黑体" panose="02010609060101010101" pitchFamily="49" charset="-122"/>
                <a:sym typeface="+mn-ea"/>
              </a:rPr>
              <a:t>码字，此时容量足够，则在数据位流末尾加上终止符：</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0001 0000001000 0000001100 0101011001 1000011 + 0000</a:t>
            </a:r>
          </a:p>
        </p:txBody>
      </p:sp>
      <p:pic>
        <p:nvPicPr>
          <p:cNvPr id="4" name="图片 3"/>
          <p:cNvPicPr>
            <a:picLocks noChangeAspect="1"/>
          </p:cNvPicPr>
          <p:nvPr/>
        </p:nvPicPr>
        <p:blipFill rotWithShape="1">
          <a:blip r:embed="rId2"/>
          <a:srcRect b="35893"/>
          <a:stretch>
            <a:fillRect/>
          </a:stretch>
        </p:blipFill>
        <p:spPr>
          <a:xfrm>
            <a:off x="2297535" y="4328140"/>
            <a:ext cx="7596931" cy="2120530"/>
          </a:xfrm>
          <a:prstGeom prst="rect">
            <a:avLst/>
          </a:prstGeom>
        </p:spPr>
      </p:pic>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数据编码</a:t>
            </a:r>
            <a:r>
              <a:rPr lang="en-US" altLang="zh-CN" sz="2400" dirty="0">
                <a:sym typeface="+mn-ea"/>
              </a:rPr>
              <a:t>-</a:t>
            </a:r>
            <a:r>
              <a:rPr lang="zh-CN" altLang="en-US" sz="2400" dirty="0">
                <a:sym typeface="+mn-ea"/>
              </a:rPr>
              <a:t>位流转换为码字</a:t>
            </a:r>
          </a:p>
        </p:txBody>
      </p:sp>
      <p:sp>
        <p:nvSpPr>
          <p:cNvPr id="10" name="文本框 9"/>
          <p:cNvSpPr txBox="1"/>
          <p:nvPr/>
        </p:nvSpPr>
        <p:spPr>
          <a:xfrm>
            <a:off x="2002790" y="927736"/>
            <a:ext cx="8205470" cy="4401205"/>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数据编码</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Arial" panose="020B0604020202020204" pitchFamily="34" charset="0"/>
              <a:buChar char="•"/>
            </a:pPr>
            <a:r>
              <a:rPr lang="zh-CN" altLang="en-US" sz="2000" dirty="0">
                <a:solidFill>
                  <a:srgbClr val="000000"/>
                </a:solidFill>
                <a:latin typeface="Times New Roman" panose="02020603050405020304" pitchFamily="18" charset="0"/>
                <a:ea typeface="黑体" panose="02010609060101010101" pitchFamily="49" charset="-122"/>
                <a:sym typeface="+mn-ea"/>
              </a:rPr>
              <a:t>位流转换为码字</a:t>
            </a: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将上一步形成的数据位流按照</a:t>
            </a:r>
            <a:r>
              <a:rPr lang="zh-CN" altLang="en-US" sz="2000" dirty="0">
                <a:solidFill>
                  <a:srgbClr val="FF0000"/>
                </a:solidFill>
                <a:latin typeface="Times New Roman" panose="02020603050405020304" pitchFamily="18" charset="0"/>
                <a:ea typeface="黑体" panose="02010609060101010101" pitchFamily="49" charset="-122"/>
                <a:sym typeface="+mn-ea"/>
              </a:rPr>
              <a:t>每</a:t>
            </a:r>
            <a:r>
              <a:rPr lang="en-US" altLang="zh-CN" sz="2000" dirty="0">
                <a:solidFill>
                  <a:srgbClr val="FF0000"/>
                </a:solidFill>
                <a:latin typeface="Times New Roman" panose="02020603050405020304" pitchFamily="18" charset="0"/>
                <a:ea typeface="黑体" panose="02010609060101010101" pitchFamily="49" charset="-122"/>
                <a:sym typeface="+mn-ea"/>
              </a:rPr>
              <a:t>8</a:t>
            </a:r>
            <a:r>
              <a:rPr lang="zh-CN" altLang="en-US" sz="2000" dirty="0">
                <a:solidFill>
                  <a:srgbClr val="FF0000"/>
                </a:solidFill>
                <a:latin typeface="Times New Roman" panose="02020603050405020304" pitchFamily="18" charset="0"/>
                <a:ea typeface="黑体" panose="02010609060101010101" pitchFamily="49" charset="-122"/>
                <a:sym typeface="+mn-ea"/>
              </a:rPr>
              <a:t>位一组进行划分</a:t>
            </a:r>
            <a:r>
              <a:rPr lang="zh-CN" altLang="en-US" sz="2000" dirty="0">
                <a:solidFill>
                  <a:srgbClr val="000000"/>
                </a:solidFill>
                <a:latin typeface="Times New Roman" panose="02020603050405020304" pitchFamily="18" charset="0"/>
                <a:ea typeface="黑体" panose="02010609060101010101" pitchFamily="49" charset="-122"/>
                <a:sym typeface="+mn-ea"/>
              </a:rPr>
              <a:t>，最后一组如果不足</a:t>
            </a: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位则在</a:t>
            </a:r>
            <a:r>
              <a:rPr lang="zh-CN" altLang="en-US" sz="2000" dirty="0">
                <a:solidFill>
                  <a:srgbClr val="FF0000"/>
                </a:solidFill>
                <a:latin typeface="Times New Roman" panose="02020603050405020304" pitchFamily="18" charset="0"/>
                <a:ea typeface="黑体" panose="02010609060101010101" pitchFamily="49" charset="-122"/>
                <a:sym typeface="+mn-ea"/>
              </a:rPr>
              <a:t>末尾补</a:t>
            </a:r>
            <a:r>
              <a:rPr lang="en-US" altLang="zh-CN" sz="2000" dirty="0">
                <a:solidFill>
                  <a:srgbClr val="FF0000"/>
                </a:solidFill>
                <a:latin typeface="Times New Roman" panose="02020603050405020304" pitchFamily="18" charset="0"/>
                <a:ea typeface="黑体" panose="02010609060101010101" pitchFamily="49" charset="-122"/>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如：</a:t>
            </a:r>
            <a:r>
              <a:rPr lang="en-US" altLang="zh-CN" sz="2000" dirty="0">
                <a:solidFill>
                  <a:srgbClr val="000000"/>
                </a:solidFill>
                <a:latin typeface="Times New Roman" panose="02020603050405020304" pitchFamily="18" charset="0"/>
                <a:ea typeface="黑体" panose="02010609060101010101" pitchFamily="49" charset="-122"/>
                <a:sym typeface="+mn-ea"/>
              </a:rPr>
              <a:t>0001 0000001000 0000001100 0101011001 1000011 + 0000</a:t>
            </a:r>
          </a:p>
          <a:p>
            <a:pPr marL="914400" lvl="1" indent="-457200" eaLnBrk="0" fontAlgn="base" hangingPunct="0">
              <a:spcBef>
                <a:spcPct val="0"/>
              </a:spcBef>
              <a:spcAft>
                <a:spcPct val="0"/>
              </a:spcAft>
              <a:buFont typeface="+mj-lt"/>
              <a:buAutoNum type="arabicPeriod"/>
            </a:pPr>
            <a:r>
              <a:rPr lang="en-US" altLang="zh-CN" sz="2000" dirty="0">
                <a:solidFill>
                  <a:srgbClr val="000000"/>
                </a:solidFill>
                <a:latin typeface="Times New Roman" panose="02020603050405020304" pitchFamily="18" charset="0"/>
                <a:ea typeface="黑体" panose="02010609060101010101" pitchFamily="49" charset="-122"/>
                <a:sym typeface="+mn-ea"/>
              </a:rPr>
              <a:t>00010000 /</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00100000</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00001100</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01010110</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01100001 / 10000</a:t>
            </a:r>
            <a:r>
              <a:rPr lang="en-US" altLang="zh-CN" sz="2000" b="1" dirty="0">
                <a:solidFill>
                  <a:srgbClr val="000000"/>
                </a:solidFill>
                <a:latin typeface="Times New Roman" panose="02020603050405020304" pitchFamily="18" charset="0"/>
                <a:ea typeface="黑体" panose="02010609060101010101" pitchFamily="49" charset="-122"/>
                <a:sym typeface="+mn-ea"/>
              </a:rPr>
              <a:t>00</a:t>
            </a:r>
          </a:p>
          <a:p>
            <a:pPr lvl="2"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由此可得，形成了</a:t>
            </a:r>
            <a:r>
              <a:rPr lang="en-US" altLang="zh-CN" sz="2000" dirty="0">
                <a:solidFill>
                  <a:srgbClr val="000000"/>
                </a:solidFill>
                <a:latin typeface="Times New Roman" panose="02020603050405020304" pitchFamily="18" charset="0"/>
                <a:ea typeface="黑体" panose="02010609060101010101" pitchFamily="49" charset="-122"/>
                <a:sym typeface="+mn-ea"/>
              </a:rPr>
              <a:t>6</a:t>
            </a:r>
            <a:r>
              <a:rPr lang="zh-CN" altLang="en-US" sz="2000" dirty="0">
                <a:solidFill>
                  <a:srgbClr val="000000"/>
                </a:solidFill>
                <a:latin typeface="Times New Roman" panose="02020603050405020304" pitchFamily="18" charset="0"/>
                <a:ea typeface="黑体" panose="02010609060101010101" pitchFamily="49" charset="-122"/>
                <a:sym typeface="+mn-ea"/>
              </a:rPr>
              <a:t>个码字。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根据表</a:t>
            </a:r>
            <a:r>
              <a:rPr lang="en-US" altLang="zh-CN" sz="2000" dirty="0">
                <a:solidFill>
                  <a:srgbClr val="000000"/>
                </a:solidFill>
                <a:latin typeface="Times New Roman" panose="02020603050405020304" pitchFamily="18" charset="0"/>
                <a:ea typeface="黑体" panose="02010609060101010101" pitchFamily="49" charset="-122"/>
                <a:sym typeface="+mn-ea"/>
              </a:rPr>
              <a:t>7</a:t>
            </a:r>
            <a:r>
              <a:rPr lang="zh-CN" altLang="en-US" sz="2000" dirty="0">
                <a:solidFill>
                  <a:srgbClr val="000000"/>
                </a:solidFill>
                <a:latin typeface="Times New Roman" panose="02020603050405020304" pitchFamily="18" charset="0"/>
                <a:ea typeface="黑体" panose="02010609060101010101" pitchFamily="49" charset="-122"/>
                <a:sym typeface="+mn-ea"/>
              </a:rPr>
              <a:t>，版本</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、纠错等级为</a:t>
            </a:r>
            <a:r>
              <a:rPr lang="en-US" altLang="zh-CN" sz="2000" dirty="0">
                <a:solidFill>
                  <a:srgbClr val="000000"/>
                </a:solidFill>
                <a:latin typeface="Times New Roman" panose="02020603050405020304" pitchFamily="18" charset="0"/>
                <a:ea typeface="黑体" panose="02010609060101010101" pitchFamily="49" charset="-122"/>
                <a:sym typeface="+mn-ea"/>
              </a:rPr>
              <a:t>H</a:t>
            </a:r>
            <a:r>
              <a:rPr lang="zh-CN" altLang="en-US" sz="2000" dirty="0">
                <a:solidFill>
                  <a:srgbClr val="000000"/>
                </a:solidFill>
                <a:latin typeface="Times New Roman" panose="02020603050405020304" pitchFamily="18" charset="0"/>
                <a:ea typeface="黑体" panose="02010609060101010101" pitchFamily="49" charset="-122"/>
                <a:sym typeface="+mn-ea"/>
              </a:rPr>
              <a:t>下的数字模式下的数据码字数为</a:t>
            </a:r>
            <a:r>
              <a:rPr lang="en-US" altLang="zh-CN" sz="2000" dirty="0">
                <a:solidFill>
                  <a:srgbClr val="000000"/>
                </a:solidFill>
                <a:latin typeface="Times New Roman" panose="02020603050405020304" pitchFamily="18" charset="0"/>
                <a:ea typeface="黑体" panose="02010609060101010101" pitchFamily="49" charset="-122"/>
                <a:sym typeface="+mn-ea"/>
              </a:rPr>
              <a:t>9</a:t>
            </a:r>
            <a:r>
              <a:rPr lang="zh-CN" altLang="en-US" sz="2000" dirty="0">
                <a:solidFill>
                  <a:srgbClr val="000000"/>
                </a:solidFill>
                <a:latin typeface="Times New Roman" panose="02020603050405020304" pitchFamily="18" charset="0"/>
                <a:ea typeface="黑体" panose="02010609060101010101" pitchFamily="49" charset="-122"/>
                <a:sym typeface="+mn-ea"/>
              </a:rPr>
              <a:t>。由于上面只生成了</a:t>
            </a:r>
            <a:r>
              <a:rPr lang="en-US" altLang="zh-CN" sz="2000" dirty="0">
                <a:solidFill>
                  <a:srgbClr val="000000"/>
                </a:solidFill>
                <a:latin typeface="Times New Roman" panose="02020603050405020304" pitchFamily="18" charset="0"/>
                <a:ea typeface="黑体" panose="02010609060101010101" pitchFamily="49" charset="-122"/>
                <a:sym typeface="+mn-ea"/>
              </a:rPr>
              <a:t>6</a:t>
            </a:r>
            <a:r>
              <a:rPr lang="zh-CN" altLang="en-US" sz="2000" dirty="0">
                <a:solidFill>
                  <a:srgbClr val="000000"/>
                </a:solidFill>
                <a:latin typeface="Times New Roman" panose="02020603050405020304" pitchFamily="18" charset="0"/>
                <a:ea typeface="黑体" panose="02010609060101010101" pitchFamily="49" charset="-122"/>
                <a:sym typeface="+mn-ea"/>
              </a:rPr>
              <a:t>个码字，因为此时需要</a:t>
            </a:r>
            <a:r>
              <a:rPr lang="zh-CN" altLang="en-US" sz="2000" dirty="0">
                <a:solidFill>
                  <a:srgbClr val="FF0000"/>
                </a:solidFill>
                <a:latin typeface="Times New Roman" panose="02020603050405020304" pitchFamily="18" charset="0"/>
                <a:ea typeface="黑体" panose="02010609060101010101" pitchFamily="49" charset="-122"/>
                <a:sym typeface="+mn-ea"/>
              </a:rPr>
              <a:t>交替补充码字</a:t>
            </a:r>
            <a:r>
              <a:rPr lang="en-US" altLang="zh-CN" sz="2000" dirty="0">
                <a:solidFill>
                  <a:srgbClr val="FF0000"/>
                </a:solidFill>
                <a:latin typeface="Times New Roman" panose="02020603050405020304" pitchFamily="18" charset="0"/>
                <a:ea typeface="黑体" panose="02010609060101010101" pitchFamily="49" charset="-122"/>
                <a:sym typeface="+mn-ea"/>
              </a:rPr>
              <a:t>11101100</a:t>
            </a:r>
            <a:r>
              <a:rPr lang="zh-CN" altLang="en-US" sz="2000" dirty="0">
                <a:solidFill>
                  <a:srgbClr val="FF0000"/>
                </a:solidFill>
                <a:latin typeface="Times New Roman" panose="02020603050405020304" pitchFamily="18" charset="0"/>
                <a:ea typeface="黑体" panose="02010609060101010101" pitchFamily="49" charset="-122"/>
                <a:sym typeface="+mn-ea"/>
              </a:rPr>
              <a:t>和</a:t>
            </a:r>
            <a:r>
              <a:rPr lang="en-US" altLang="zh-CN" sz="2000" dirty="0">
                <a:solidFill>
                  <a:srgbClr val="FF0000"/>
                </a:solidFill>
                <a:latin typeface="Times New Roman" panose="02020603050405020304" pitchFamily="18" charset="0"/>
                <a:ea typeface="黑体" panose="02010609060101010101" pitchFamily="49" charset="-122"/>
                <a:sym typeface="+mn-ea"/>
              </a:rPr>
              <a:t>00010001</a:t>
            </a:r>
            <a:r>
              <a:rPr lang="zh-CN" altLang="en-US" sz="2000" dirty="0">
                <a:solidFill>
                  <a:srgbClr val="000000"/>
                </a:solidFill>
                <a:latin typeface="Times New Roman" panose="02020603050405020304" pitchFamily="18" charset="0"/>
                <a:ea typeface="黑体" panose="02010609060101010101" pitchFamily="49" charset="-122"/>
                <a:sym typeface="+mn-ea"/>
              </a:rPr>
              <a:t>，直至</a:t>
            </a:r>
            <a:r>
              <a:rPr lang="en-US" altLang="zh-CN" sz="2000" dirty="0">
                <a:solidFill>
                  <a:srgbClr val="000000"/>
                </a:solidFill>
                <a:latin typeface="Times New Roman" panose="02020603050405020304" pitchFamily="18" charset="0"/>
                <a:ea typeface="黑体" panose="02010609060101010101" pitchFamily="49" charset="-122"/>
                <a:sym typeface="+mn-ea"/>
              </a:rPr>
              <a:t>00010000 /</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00100000</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00001100</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01010110</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01100001 / 1000000 / </a:t>
            </a:r>
            <a:r>
              <a:rPr lang="en-US" altLang="zh-CN" sz="2000" b="1" dirty="0">
                <a:solidFill>
                  <a:srgbClr val="000000"/>
                </a:solidFill>
                <a:latin typeface="Times New Roman" panose="02020603050405020304" pitchFamily="18" charset="0"/>
                <a:ea typeface="黑体" panose="02010609060101010101" pitchFamily="49" charset="-122"/>
                <a:sym typeface="+mn-ea"/>
              </a:rPr>
              <a:t>11101100 </a:t>
            </a: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en-US" altLang="zh-CN" sz="2000" b="1" dirty="0">
                <a:solidFill>
                  <a:srgbClr val="000000"/>
                </a:solidFill>
                <a:latin typeface="Times New Roman" panose="02020603050405020304" pitchFamily="18" charset="0"/>
                <a:ea typeface="黑体" panose="02010609060101010101" pitchFamily="49" charset="-122"/>
                <a:sym typeface="+mn-ea"/>
              </a:rPr>
              <a:t>00010001 </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en-US" altLang="zh-CN" sz="2000" b="1" dirty="0">
                <a:solidFill>
                  <a:srgbClr val="000000"/>
                </a:solidFill>
                <a:latin typeface="Times New Roman" panose="02020603050405020304" pitchFamily="18" charset="0"/>
                <a:ea typeface="黑体" panose="02010609060101010101" pitchFamily="49" charset="-122"/>
                <a:sym typeface="+mn-ea"/>
              </a:rPr>
              <a:t> 11101100</a:t>
            </a: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填满。</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5" name="图片 4"/>
          <p:cNvPicPr>
            <a:picLocks noChangeAspect="1"/>
          </p:cNvPicPr>
          <p:nvPr/>
        </p:nvPicPr>
        <p:blipFill>
          <a:blip r:embed="rId2"/>
          <a:stretch>
            <a:fillRect/>
          </a:stretch>
        </p:blipFill>
        <p:spPr>
          <a:xfrm>
            <a:off x="2992198" y="5403483"/>
            <a:ext cx="5943444" cy="1456423"/>
          </a:xfrm>
          <a:prstGeom prst="rect">
            <a:avLst/>
          </a:prstGeom>
        </p:spPr>
      </p:pic>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纠错编码</a:t>
            </a:r>
          </a:p>
        </p:txBody>
      </p:sp>
      <p:sp>
        <p:nvSpPr>
          <p:cNvPr id="10" name="文本框 9"/>
          <p:cNvSpPr txBox="1"/>
          <p:nvPr/>
        </p:nvSpPr>
        <p:spPr>
          <a:xfrm>
            <a:off x="2002790" y="927735"/>
            <a:ext cx="8205470" cy="2862322"/>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纠错编码</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纠错编码是用数据码字除纠错码多项式所得到的的余数。</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每一块的纠错代码（</a:t>
            </a:r>
            <a:r>
              <a:rPr lang="en-US" altLang="zh-CN" sz="2000" dirty="0">
                <a:solidFill>
                  <a:srgbClr val="000000"/>
                </a:solidFill>
                <a:latin typeface="Times New Roman" panose="02020603050405020304" pitchFamily="18" charset="0"/>
                <a:ea typeface="黑体" panose="02010609060101010101" pitchFamily="49" charset="-122"/>
                <a:sym typeface="+mn-ea"/>
              </a:rPr>
              <a:t>c, k, r</a:t>
            </a:r>
            <a:r>
              <a:rPr lang="zh-CN" altLang="en-US" sz="2000" dirty="0">
                <a:solidFill>
                  <a:srgbClr val="000000"/>
                </a:solidFill>
                <a:latin typeface="Times New Roman" panose="02020603050405020304" pitchFamily="18" charset="0"/>
                <a:ea typeface="黑体" panose="02010609060101010101" pitchFamily="49" charset="-122"/>
                <a:sym typeface="+mn-ea"/>
              </a:rPr>
              <a:t>）中，</a:t>
            </a:r>
            <a:r>
              <a:rPr lang="en-US" altLang="zh-CN" sz="2000" dirty="0">
                <a:solidFill>
                  <a:srgbClr val="000000"/>
                </a:solidFill>
                <a:latin typeface="Times New Roman" panose="02020603050405020304" pitchFamily="18" charset="0"/>
                <a:ea typeface="黑体" panose="02010609060101010101" pitchFamily="49" charset="-122"/>
                <a:sym typeface="+mn-ea"/>
              </a:rPr>
              <a:t>c</a:t>
            </a:r>
            <a:r>
              <a:rPr lang="zh-CN" altLang="en-US" sz="2000" dirty="0">
                <a:solidFill>
                  <a:srgbClr val="000000"/>
                </a:solidFill>
                <a:latin typeface="Times New Roman" panose="02020603050405020304" pitchFamily="18" charset="0"/>
                <a:ea typeface="黑体" panose="02010609060101010101" pitchFamily="49" charset="-122"/>
                <a:sym typeface="+mn-ea"/>
              </a:rPr>
              <a:t>表示码字总数，</a:t>
            </a:r>
            <a:r>
              <a:rPr lang="en-US" altLang="zh-CN" sz="2000" dirty="0">
                <a:solidFill>
                  <a:srgbClr val="000000"/>
                </a:solidFill>
                <a:latin typeface="Times New Roman" panose="02020603050405020304" pitchFamily="18" charset="0"/>
                <a:ea typeface="黑体" panose="02010609060101010101" pitchFamily="49" charset="-122"/>
                <a:sym typeface="+mn-ea"/>
              </a:rPr>
              <a:t>k</a:t>
            </a:r>
            <a:r>
              <a:rPr lang="zh-CN" altLang="en-US" sz="2000" dirty="0">
                <a:solidFill>
                  <a:srgbClr val="000000"/>
                </a:solidFill>
                <a:latin typeface="Times New Roman" panose="02020603050405020304" pitchFamily="18" charset="0"/>
                <a:ea typeface="黑体" panose="02010609060101010101" pitchFamily="49" charset="-122"/>
                <a:sym typeface="+mn-ea"/>
              </a:rPr>
              <a:t>表示数据码字数，</a:t>
            </a:r>
            <a:r>
              <a:rPr lang="en-US" altLang="zh-CN" sz="2000" dirty="0">
                <a:solidFill>
                  <a:srgbClr val="000000"/>
                </a:solidFill>
                <a:latin typeface="Times New Roman" panose="02020603050405020304" pitchFamily="18" charset="0"/>
                <a:ea typeface="黑体" panose="02010609060101010101" pitchFamily="49" charset="-122"/>
                <a:sym typeface="+mn-ea"/>
              </a:rPr>
              <a:t>r</a:t>
            </a:r>
            <a:r>
              <a:rPr lang="zh-CN" altLang="en-US" sz="2000" dirty="0">
                <a:solidFill>
                  <a:srgbClr val="000000"/>
                </a:solidFill>
                <a:latin typeface="Times New Roman" panose="02020603050405020304" pitchFamily="18" charset="0"/>
                <a:ea typeface="黑体" panose="02010609060101010101" pitchFamily="49" charset="-122"/>
                <a:sym typeface="+mn-ea"/>
              </a:rPr>
              <a:t>表示纠错容量。</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由表</a:t>
            </a:r>
            <a:r>
              <a:rPr lang="en-US" altLang="zh-CN" sz="2000" dirty="0">
                <a:solidFill>
                  <a:srgbClr val="000000"/>
                </a:solidFill>
                <a:latin typeface="Times New Roman" panose="02020603050405020304" pitchFamily="18" charset="0"/>
                <a:ea typeface="黑体" panose="02010609060101010101" pitchFamily="49" charset="-122"/>
                <a:sym typeface="+mn-ea"/>
              </a:rPr>
              <a:t>13</a:t>
            </a:r>
            <a:r>
              <a:rPr lang="zh-CN" altLang="en-US" sz="2000" dirty="0">
                <a:solidFill>
                  <a:srgbClr val="000000"/>
                </a:solidFill>
                <a:latin typeface="Times New Roman" panose="02020603050405020304" pitchFamily="18" charset="0"/>
                <a:ea typeface="黑体" panose="02010609060101010101" pitchFamily="49" charset="-122"/>
                <a:sym typeface="+mn-ea"/>
              </a:rPr>
              <a:t>可得，版本</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，纠错等级</a:t>
            </a:r>
            <a:r>
              <a:rPr lang="en-US" altLang="zh-CN" sz="2000" dirty="0">
                <a:solidFill>
                  <a:srgbClr val="000000"/>
                </a:solidFill>
                <a:latin typeface="Times New Roman" panose="02020603050405020304" pitchFamily="18" charset="0"/>
                <a:ea typeface="黑体" panose="02010609060101010101" pitchFamily="49" charset="-122"/>
                <a:sym typeface="+mn-ea"/>
              </a:rPr>
              <a:t>H</a:t>
            </a:r>
            <a:r>
              <a:rPr lang="zh-CN" altLang="en-US" sz="2000" dirty="0">
                <a:solidFill>
                  <a:srgbClr val="000000"/>
                </a:solidFill>
                <a:latin typeface="Times New Roman" panose="02020603050405020304" pitchFamily="18" charset="0"/>
                <a:ea typeface="黑体" panose="02010609060101010101" pitchFamily="49" charset="-122"/>
                <a:sym typeface="+mn-ea"/>
              </a:rPr>
              <a:t>的情况下，纠错码字数为</a:t>
            </a:r>
            <a:r>
              <a:rPr lang="en-US" altLang="zh-CN" sz="2000" dirty="0">
                <a:solidFill>
                  <a:srgbClr val="000000"/>
                </a:solidFill>
                <a:latin typeface="Times New Roman" panose="02020603050405020304" pitchFamily="18" charset="0"/>
                <a:ea typeface="黑体" panose="02010609060101010101" pitchFamily="49" charset="-122"/>
                <a:sym typeface="+mn-ea"/>
              </a:rPr>
              <a:t>17</a:t>
            </a:r>
            <a:r>
              <a:rPr lang="zh-CN" altLang="en-US" sz="2000" dirty="0">
                <a:solidFill>
                  <a:srgbClr val="000000"/>
                </a:solidFill>
                <a:latin typeface="Times New Roman" panose="02020603050405020304" pitchFamily="18" charset="0"/>
                <a:ea typeface="黑体" panose="02010609060101010101" pitchFamily="49" charset="-122"/>
                <a:sym typeface="+mn-ea"/>
              </a:rPr>
              <a:t>。并且码字总数为</a:t>
            </a:r>
            <a:r>
              <a:rPr lang="en-US" altLang="zh-CN" sz="2000" dirty="0">
                <a:solidFill>
                  <a:srgbClr val="000000"/>
                </a:solidFill>
                <a:latin typeface="Times New Roman" panose="02020603050405020304" pitchFamily="18" charset="0"/>
                <a:ea typeface="黑体" panose="02010609060101010101" pitchFamily="49" charset="-122"/>
                <a:sym typeface="+mn-ea"/>
              </a:rPr>
              <a:t>26</a:t>
            </a:r>
            <a:r>
              <a:rPr lang="zh-CN" altLang="en-US" sz="2000" dirty="0">
                <a:solidFill>
                  <a:srgbClr val="000000"/>
                </a:solidFill>
                <a:latin typeface="Times New Roman" panose="02020603050405020304" pitchFamily="18" charset="0"/>
                <a:ea typeface="黑体" panose="02010609060101010101" pitchFamily="49" charset="-122"/>
                <a:sym typeface="+mn-ea"/>
              </a:rPr>
              <a:t>，数据码字数为</a:t>
            </a:r>
            <a:r>
              <a:rPr lang="en-US" altLang="zh-CN" sz="2000" dirty="0">
                <a:solidFill>
                  <a:srgbClr val="000000"/>
                </a:solidFill>
                <a:latin typeface="Times New Roman" panose="02020603050405020304" pitchFamily="18" charset="0"/>
                <a:ea typeface="黑体" panose="02010609060101010101" pitchFamily="49" charset="-122"/>
                <a:sym typeface="+mn-ea"/>
              </a:rPr>
              <a:t>9</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zh-CN" altLang="en-US" sz="2000" dirty="0">
              <a:solidFill>
                <a:srgbClr val="000000"/>
              </a:solidFill>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a:blip r:embed="rId2"/>
          <a:stretch>
            <a:fillRect/>
          </a:stretch>
        </p:blipFill>
        <p:spPr>
          <a:xfrm>
            <a:off x="2078141" y="3927217"/>
            <a:ext cx="8035719" cy="2078982"/>
          </a:xfrm>
          <a:prstGeom prst="rect">
            <a:avLst/>
          </a:prstGeom>
        </p:spPr>
      </p:pic>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纠错编码</a:t>
            </a:r>
          </a:p>
        </p:txBody>
      </p:sp>
      <p:sp>
        <p:nvSpPr>
          <p:cNvPr id="10" name="文本框 9"/>
          <p:cNvSpPr txBox="1"/>
          <p:nvPr/>
        </p:nvSpPr>
        <p:spPr>
          <a:xfrm>
            <a:off x="2002790" y="927736"/>
            <a:ext cx="8205470" cy="5293757"/>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纠错编码</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之前已经生成的数据码字为：</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00010000 /</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00100000</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00001100</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01010110</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01100001 / 1000000 / 11101100 / 00010001 / 11101100</a:t>
            </a: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将其转化为十六进制：</a:t>
            </a:r>
            <a:r>
              <a:rPr lang="en-US" altLang="zh-CN" sz="2000" dirty="0">
                <a:solidFill>
                  <a:srgbClr val="000000"/>
                </a:solidFill>
                <a:latin typeface="Times New Roman" panose="02020603050405020304" pitchFamily="18" charset="0"/>
                <a:ea typeface="黑体" panose="02010609060101010101" pitchFamily="49" charset="-122"/>
                <a:sym typeface="+mn-ea"/>
              </a:rPr>
              <a:t>0x10 / 0x20 / 0x0C / 0x56 / 0x61 / 0x80 / 0xEC / 0x11 / 0xEC</a:t>
            </a: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转化为十进制：</a:t>
            </a:r>
            <a:r>
              <a:rPr lang="en-US" altLang="zh-CN" sz="2000" dirty="0">
                <a:solidFill>
                  <a:srgbClr val="000000"/>
                </a:solidFill>
                <a:latin typeface="Times New Roman" panose="02020603050405020304" pitchFamily="18" charset="0"/>
                <a:ea typeface="黑体" panose="02010609060101010101" pitchFamily="49" charset="-122"/>
                <a:sym typeface="+mn-ea"/>
              </a:rPr>
              <a:t>16</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32</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12</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86</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97</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128</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236</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17</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236</a:t>
            </a:r>
          </a:p>
          <a:p>
            <a:pPr lvl="1"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通过生成多项式的方法来生成纠错码字：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除数为：</a:t>
            </a:r>
            <a:r>
              <a:rPr lang="en-US" altLang="zh-CN" sz="2000" dirty="0">
                <a:solidFill>
                  <a:srgbClr val="000000"/>
                </a:solidFill>
                <a:latin typeface="Helvetica Neue"/>
                <a:ea typeface="宋体" panose="02010600030101010101" pitchFamily="2" charset="-122"/>
              </a:rPr>
              <a:t>16x</a:t>
            </a:r>
            <a:r>
              <a:rPr lang="en-US" altLang="zh-CN" sz="2000" baseline="30000" dirty="0">
                <a:solidFill>
                  <a:srgbClr val="000000"/>
                </a:solidFill>
                <a:latin typeface="Helvetica Neue"/>
                <a:ea typeface="宋体" panose="02010600030101010101" pitchFamily="2" charset="-122"/>
              </a:rPr>
              <a:t>8</a:t>
            </a:r>
            <a:r>
              <a:rPr lang="en-US" altLang="zh-CN" sz="2000" dirty="0">
                <a:solidFill>
                  <a:srgbClr val="000000"/>
                </a:solidFill>
                <a:latin typeface="Helvetica Neue"/>
                <a:ea typeface="宋体" panose="02010600030101010101" pitchFamily="2" charset="-122"/>
              </a:rPr>
              <a:t> + 32x</a:t>
            </a:r>
            <a:r>
              <a:rPr lang="en-US" altLang="zh-CN" sz="2000" baseline="30000" dirty="0">
                <a:solidFill>
                  <a:srgbClr val="000000"/>
                </a:solidFill>
                <a:latin typeface="Helvetica Neue"/>
                <a:ea typeface="宋体" panose="02010600030101010101" pitchFamily="2" charset="-122"/>
              </a:rPr>
              <a:t>7</a:t>
            </a:r>
            <a:r>
              <a:rPr lang="en-US" altLang="zh-CN" sz="2000" dirty="0">
                <a:solidFill>
                  <a:srgbClr val="000000"/>
                </a:solidFill>
                <a:latin typeface="Helvetica Neue"/>
                <a:ea typeface="宋体" panose="02010600030101010101" pitchFamily="2" charset="-122"/>
              </a:rPr>
              <a:t> + 12x</a:t>
            </a:r>
            <a:r>
              <a:rPr lang="en-US" altLang="zh-CN" sz="2000" baseline="30000" dirty="0">
                <a:solidFill>
                  <a:srgbClr val="000000"/>
                </a:solidFill>
                <a:latin typeface="Helvetica Neue"/>
                <a:ea typeface="宋体" panose="02010600030101010101" pitchFamily="2" charset="-122"/>
              </a:rPr>
              <a:t>6</a:t>
            </a:r>
            <a:r>
              <a:rPr lang="en-US" altLang="zh-CN" sz="2000" dirty="0">
                <a:solidFill>
                  <a:srgbClr val="000000"/>
                </a:solidFill>
                <a:latin typeface="Helvetica Neue"/>
                <a:ea typeface="宋体" panose="02010600030101010101" pitchFamily="2" charset="-122"/>
              </a:rPr>
              <a:t> + 86x</a:t>
            </a:r>
            <a:r>
              <a:rPr lang="en-US" altLang="zh-CN" sz="2000" baseline="30000" dirty="0">
                <a:solidFill>
                  <a:srgbClr val="000000"/>
                </a:solidFill>
                <a:latin typeface="Helvetica Neue"/>
                <a:ea typeface="宋体" panose="02010600030101010101" pitchFamily="2" charset="-122"/>
              </a:rPr>
              <a:t>5</a:t>
            </a:r>
            <a:r>
              <a:rPr lang="en-US" altLang="zh-CN" sz="2000" dirty="0">
                <a:solidFill>
                  <a:srgbClr val="000000"/>
                </a:solidFill>
                <a:latin typeface="Helvetica Neue"/>
                <a:ea typeface="宋体" panose="02010600030101010101" pitchFamily="2" charset="-122"/>
              </a:rPr>
              <a:t> + 97x</a:t>
            </a:r>
            <a:r>
              <a:rPr lang="en-US" altLang="zh-CN" sz="2000" baseline="30000" dirty="0">
                <a:solidFill>
                  <a:srgbClr val="000000"/>
                </a:solidFill>
                <a:latin typeface="Helvetica Neue"/>
                <a:ea typeface="宋体" panose="02010600030101010101" pitchFamily="2" charset="-122"/>
              </a:rPr>
              <a:t>4</a:t>
            </a:r>
            <a:r>
              <a:rPr lang="en-US" altLang="zh-CN" sz="2000" dirty="0">
                <a:solidFill>
                  <a:srgbClr val="000000"/>
                </a:solidFill>
                <a:latin typeface="Helvetica Neue"/>
                <a:ea typeface="宋体" panose="02010600030101010101" pitchFamily="2" charset="-122"/>
              </a:rPr>
              <a:t> + 128x</a:t>
            </a:r>
            <a:r>
              <a:rPr lang="en-US" altLang="zh-CN" sz="2000" baseline="30000" dirty="0">
                <a:solidFill>
                  <a:srgbClr val="000000"/>
                </a:solidFill>
                <a:latin typeface="Helvetica Neue"/>
                <a:ea typeface="宋体" panose="02010600030101010101" pitchFamily="2" charset="-122"/>
              </a:rPr>
              <a:t>3</a:t>
            </a:r>
            <a:r>
              <a:rPr lang="en-US" altLang="zh-CN" sz="2000" dirty="0">
                <a:solidFill>
                  <a:srgbClr val="000000"/>
                </a:solidFill>
                <a:latin typeface="Helvetica Neue"/>
                <a:ea typeface="宋体" panose="02010600030101010101" pitchFamily="2" charset="-122"/>
              </a:rPr>
              <a:t> + 236x</a:t>
            </a:r>
            <a:r>
              <a:rPr lang="en-US" altLang="zh-CN" sz="2000" baseline="30000" dirty="0">
                <a:solidFill>
                  <a:srgbClr val="000000"/>
                </a:solidFill>
                <a:latin typeface="Helvetica Neue"/>
                <a:ea typeface="宋体" panose="02010600030101010101" pitchFamily="2" charset="-122"/>
              </a:rPr>
              <a:t>2</a:t>
            </a:r>
            <a:r>
              <a:rPr lang="en-US" altLang="zh-CN" sz="2000" dirty="0">
                <a:solidFill>
                  <a:srgbClr val="000000"/>
                </a:solidFill>
                <a:latin typeface="Helvetica Neue"/>
                <a:ea typeface="宋体" panose="02010600030101010101" pitchFamily="2" charset="-122"/>
              </a:rPr>
              <a:t> + 17x</a:t>
            </a:r>
            <a:r>
              <a:rPr lang="en-US" altLang="zh-CN" sz="2000" baseline="30000" dirty="0">
                <a:solidFill>
                  <a:srgbClr val="000000"/>
                </a:solidFill>
                <a:latin typeface="Helvetica Neue"/>
                <a:ea typeface="宋体" panose="02010600030101010101" pitchFamily="2" charset="-122"/>
              </a:rPr>
              <a:t>1</a:t>
            </a:r>
            <a:r>
              <a:rPr lang="en-US" altLang="zh-CN" sz="2000" dirty="0">
                <a:solidFill>
                  <a:srgbClr val="000000"/>
                </a:solidFill>
                <a:latin typeface="Helvetica Neue"/>
                <a:ea typeface="宋体" panose="02010600030101010101" pitchFamily="2" charset="-122"/>
              </a:rPr>
              <a:t> + 236</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被除数为：</a:t>
            </a:r>
            <a:r>
              <a:rPr lang="en-US" altLang="zh-CN" sz="2000" dirty="0">
                <a:solidFill>
                  <a:srgbClr val="000000"/>
                </a:solidFill>
                <a:latin typeface="Times New Roman" panose="02020603050405020304" pitchFamily="18" charset="0"/>
                <a:ea typeface="黑体" panose="02010609060101010101" pitchFamily="49" charset="-122"/>
                <a:sym typeface="+mn-ea"/>
              </a:rPr>
              <a:t>17</a:t>
            </a: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最终得到结果为：</a:t>
            </a:r>
            <a:r>
              <a:rPr lang="en-US" altLang="zh-CN" sz="2000" dirty="0">
                <a:solidFill>
                  <a:srgbClr val="000000"/>
                </a:solidFill>
                <a:latin typeface="Times New Roman" panose="02020603050405020304" pitchFamily="18" charset="0"/>
                <a:ea typeface="黑体" panose="02010609060101010101" pitchFamily="49" charset="-122"/>
                <a:sym typeface="+mn-ea"/>
              </a:rPr>
              <a:t>14</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157</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200</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194</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148</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243</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167</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173</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141</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226</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10</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244</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165</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43</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172</a:t>
            </a: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223</a:t>
            </a: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转化为十六进制为：</a:t>
            </a:r>
            <a:r>
              <a:rPr lang="en-US" altLang="zh-CN" sz="2000" dirty="0">
                <a:solidFill>
                  <a:srgbClr val="000000"/>
                </a:solidFill>
                <a:latin typeface="黑体"/>
                <a:ea typeface="黑体"/>
                <a:cs typeface="Times New Roman" panose="02020603050405020304" pitchFamily="18" charset="0"/>
              </a:rPr>
              <a:t>0x0E 0x9D 0x02 0xC8 0xC2 0x94 0xF3 0xA7 0xAD 0x8D 0xE2 0x0A 0xF4 0xA5 0x2B 0xAC 0xDF</a:t>
            </a:r>
            <a:endParaRPr lang="zh-CN" altLang="en-US" sz="2000" dirty="0">
              <a:solidFill>
                <a:srgbClr val="000000"/>
              </a:solidFill>
              <a:latin typeface="黑体"/>
              <a:ea typeface="黑体"/>
              <a:sym typeface="+mn-ea"/>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纠错编码</a:t>
            </a:r>
          </a:p>
        </p:txBody>
      </p:sp>
      <p:sp>
        <p:nvSpPr>
          <p:cNvPr id="10" name="文本框 9"/>
          <p:cNvSpPr txBox="1"/>
          <p:nvPr/>
        </p:nvSpPr>
        <p:spPr>
          <a:xfrm>
            <a:off x="2078355" y="927735"/>
            <a:ext cx="8205470" cy="2308324"/>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纠错编码</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将数据码字与纠错码字连接起来，即</a:t>
            </a:r>
            <a:r>
              <a:rPr lang="en-US" altLang="zh-CN" sz="2000" dirty="0">
                <a:solidFill>
                  <a:srgbClr val="000000"/>
                </a:solidFill>
                <a:latin typeface="Times New Roman" panose="02020603050405020304" pitchFamily="18" charset="0"/>
                <a:ea typeface="黑体" panose="02010609060101010101" pitchFamily="49" charset="-122"/>
                <a:sym typeface="+mn-ea"/>
              </a:rPr>
              <a:t>26</a:t>
            </a:r>
            <a:r>
              <a:rPr lang="zh-CN" altLang="en-US" sz="2000" dirty="0">
                <a:solidFill>
                  <a:srgbClr val="000000"/>
                </a:solidFill>
                <a:latin typeface="Times New Roman" panose="02020603050405020304" pitchFamily="18" charset="0"/>
                <a:ea typeface="黑体" panose="02010609060101010101" pitchFamily="49" charset="-122"/>
                <a:sym typeface="+mn-ea"/>
              </a:rPr>
              <a:t>个码字全部生成完成：</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en-US" altLang="zh-CN" sz="2000" dirty="0">
                <a:solidFill>
                  <a:srgbClr val="000000"/>
                </a:solidFill>
                <a:latin typeface="黑体"/>
                <a:ea typeface="黑体"/>
                <a:cs typeface="Times New Roman" panose="02020603050405020304" pitchFamily="18" charset="0"/>
              </a:rPr>
              <a:t>0x10 0x20 0x0C 0x56 0x61 0x80 0xEC 0x11 0xEC 0x0E 0x9D 0x02 0xC8 0xC2 0x94 0xF3 0xA7 0xAD 0x8D 0xE2 0x0A 0xF4 0xA5 0x2B 0xAC 0xDF</a:t>
            </a:r>
          </a:p>
          <a:p>
            <a:pPr lvl="1" eaLnBrk="0" fontAlgn="base" hangingPunct="0">
              <a:spcBef>
                <a:spcPct val="0"/>
              </a:spcBef>
              <a:spcAft>
                <a:spcPct val="0"/>
              </a:spcAft>
            </a:pPr>
            <a:r>
              <a:rPr lang="zh-CN" altLang="en-US" sz="2000" dirty="0">
                <a:solidFill>
                  <a:srgbClr val="000000"/>
                </a:solidFill>
                <a:latin typeface="黑体"/>
                <a:ea typeface="黑体"/>
                <a:cs typeface="Times New Roman" panose="02020603050405020304" pitchFamily="18" charset="0"/>
                <a:sym typeface="+mn-ea"/>
              </a:rPr>
              <a:t>    其中，前</a:t>
            </a:r>
            <a:r>
              <a:rPr lang="en-US" altLang="zh-CN" sz="2000" dirty="0">
                <a:solidFill>
                  <a:srgbClr val="000000"/>
                </a:solidFill>
                <a:latin typeface="黑体"/>
                <a:ea typeface="黑体"/>
                <a:cs typeface="Times New Roman" panose="02020603050405020304" pitchFamily="18" charset="0"/>
                <a:sym typeface="+mn-ea"/>
              </a:rPr>
              <a:t>9</a:t>
            </a:r>
            <a:r>
              <a:rPr lang="zh-CN" altLang="en-US" sz="2000" dirty="0">
                <a:solidFill>
                  <a:srgbClr val="000000"/>
                </a:solidFill>
                <a:latin typeface="黑体"/>
                <a:ea typeface="黑体"/>
                <a:cs typeface="Times New Roman" panose="02020603050405020304" pitchFamily="18" charset="0"/>
                <a:sym typeface="+mn-ea"/>
              </a:rPr>
              <a:t>个为数据码字，后</a:t>
            </a:r>
            <a:r>
              <a:rPr lang="en-US" altLang="zh-CN" sz="2000" dirty="0">
                <a:solidFill>
                  <a:srgbClr val="000000"/>
                </a:solidFill>
                <a:latin typeface="黑体"/>
                <a:ea typeface="黑体"/>
                <a:cs typeface="Times New Roman" panose="02020603050405020304" pitchFamily="18" charset="0"/>
                <a:sym typeface="+mn-ea"/>
              </a:rPr>
              <a:t>17</a:t>
            </a:r>
            <a:r>
              <a:rPr lang="zh-CN" altLang="en-US" sz="2000" dirty="0">
                <a:solidFill>
                  <a:srgbClr val="000000"/>
                </a:solidFill>
                <a:latin typeface="黑体"/>
                <a:ea typeface="黑体"/>
                <a:cs typeface="Times New Roman" panose="02020603050405020304" pitchFamily="18" charset="0"/>
                <a:sym typeface="+mn-ea"/>
              </a:rPr>
              <a:t>个为纠错码字。</a:t>
            </a:r>
            <a:endParaRPr sz="2400" dirty="0">
              <a:solidFill>
                <a:srgbClr val="000000"/>
              </a:solidFill>
              <a:latin typeface="黑体"/>
              <a:ea typeface="黑体"/>
              <a:sym typeface="+mn-ea"/>
            </a:endParaRP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构造最终信息</a:t>
            </a:r>
          </a:p>
        </p:txBody>
      </p:sp>
      <p:sp>
        <p:nvSpPr>
          <p:cNvPr id="10" name="文本框 9"/>
          <p:cNvSpPr txBox="1"/>
          <p:nvPr/>
        </p:nvSpPr>
        <p:spPr>
          <a:xfrm>
            <a:off x="2078355" y="927736"/>
            <a:ext cx="8205470" cy="317009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构造最终信息</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按照步骤构造最终的码字序列，即数据码字加上纠错码字，必要时加上剩余码字。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根据版本和纠错等级将数据码字序列</a:t>
            </a:r>
            <a:r>
              <a:rPr lang="zh-CN" altLang="en-US" sz="2000" dirty="0">
                <a:solidFill>
                  <a:srgbClr val="FF0000"/>
                </a:solidFill>
                <a:latin typeface="Times New Roman" panose="02020603050405020304" pitchFamily="18" charset="0"/>
                <a:ea typeface="黑体" panose="02010609060101010101" pitchFamily="49" charset="-122"/>
                <a:sym typeface="+mn-ea"/>
              </a:rPr>
              <a:t>分为</a:t>
            </a:r>
            <a:r>
              <a:rPr lang="en-US" altLang="zh-CN" sz="2000" dirty="0">
                <a:solidFill>
                  <a:srgbClr val="FF0000"/>
                </a:solidFill>
                <a:latin typeface="Times New Roman" panose="02020603050405020304" pitchFamily="18" charset="0"/>
                <a:ea typeface="黑体" panose="02010609060101010101" pitchFamily="49" charset="-122"/>
                <a:sym typeface="+mn-ea"/>
              </a:rPr>
              <a:t>n</a:t>
            </a:r>
            <a:r>
              <a:rPr lang="zh-CN" altLang="en-US" sz="2000" dirty="0">
                <a:solidFill>
                  <a:srgbClr val="FF0000"/>
                </a:solidFill>
                <a:latin typeface="Times New Roman" panose="02020603050405020304" pitchFamily="18" charset="0"/>
                <a:ea typeface="黑体" panose="02010609060101010101" pitchFamily="49" charset="-122"/>
                <a:sym typeface="+mn-ea"/>
              </a:rPr>
              <a:t>块</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对每一块，计算相应块的</a:t>
            </a:r>
            <a:r>
              <a:rPr lang="zh-CN" altLang="en-US" sz="2000" dirty="0">
                <a:solidFill>
                  <a:srgbClr val="FF0000"/>
                </a:solidFill>
                <a:latin typeface="Times New Roman" panose="02020603050405020304" pitchFamily="18" charset="0"/>
                <a:ea typeface="黑体" panose="02010609060101010101" pitchFamily="49" charset="-122"/>
                <a:sym typeface="+mn-ea"/>
              </a:rPr>
              <a:t>纠错码字</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457200"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依次将每一块的数据和纠错码字装配成最终的序列。</a:t>
            </a: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由表</a:t>
            </a:r>
            <a:r>
              <a:rPr lang="en-US" altLang="zh-CN" sz="2000" dirty="0">
                <a:solidFill>
                  <a:srgbClr val="000000"/>
                </a:solidFill>
                <a:latin typeface="Times New Roman" panose="02020603050405020304" pitchFamily="18" charset="0"/>
                <a:ea typeface="黑体" panose="02010609060101010101" pitchFamily="49" charset="-122"/>
                <a:sym typeface="+mn-ea"/>
              </a:rPr>
              <a:t>13</a:t>
            </a:r>
            <a:r>
              <a:rPr lang="zh-CN" altLang="en-US" sz="2000" dirty="0">
                <a:solidFill>
                  <a:srgbClr val="000000"/>
                </a:solidFill>
                <a:latin typeface="Times New Roman" panose="02020603050405020304" pitchFamily="18" charset="0"/>
                <a:ea typeface="黑体" panose="02010609060101010101" pitchFamily="49" charset="-122"/>
                <a:sym typeface="+mn-ea"/>
              </a:rPr>
              <a:t>可得，版本</a:t>
            </a:r>
            <a:r>
              <a:rPr lang="en-US" altLang="zh-CN" sz="2000" dirty="0">
                <a:solidFill>
                  <a:srgbClr val="000000"/>
                </a:solidFill>
                <a:latin typeface="Times New Roman" panose="02020603050405020304" pitchFamily="18" charset="0"/>
                <a:ea typeface="黑体" panose="02010609060101010101" pitchFamily="49" charset="-122"/>
                <a:sym typeface="+mn-ea"/>
              </a:rPr>
              <a:t>1-H</a:t>
            </a:r>
            <a:r>
              <a:rPr lang="zh-CN" altLang="en-US" sz="2000" dirty="0">
                <a:solidFill>
                  <a:srgbClr val="000000"/>
                </a:solidFill>
                <a:latin typeface="Times New Roman" panose="02020603050405020304" pitchFamily="18" charset="0"/>
                <a:ea typeface="黑体" panose="02010609060101010101" pitchFamily="49" charset="-122"/>
                <a:sym typeface="+mn-ea"/>
              </a:rPr>
              <a:t>的数据码字序列为</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块，不需要分开，所以无需构造最终信息。</a:t>
            </a:r>
            <a:endParaRPr lang="en-US" sz="2000" dirty="0">
              <a:solidFill>
                <a:srgbClr val="000000"/>
              </a:solidFill>
              <a:latin typeface="Times New Roman" panose="02020603050405020304" pitchFamily="18" charset="0"/>
              <a:ea typeface="黑体" panose="02010609060101010101" pitchFamily="49" charset="-122"/>
              <a:sym typeface="+mn-ea"/>
            </a:endParaRPr>
          </a:p>
        </p:txBody>
      </p:sp>
      <p:pic>
        <p:nvPicPr>
          <p:cNvPr id="7" name="图片 6"/>
          <p:cNvPicPr>
            <a:picLocks noChangeAspect="1"/>
          </p:cNvPicPr>
          <p:nvPr/>
        </p:nvPicPr>
        <p:blipFill>
          <a:blip r:embed="rId2"/>
          <a:stretch>
            <a:fillRect/>
          </a:stretch>
        </p:blipFill>
        <p:spPr>
          <a:xfrm>
            <a:off x="2743289" y="4542771"/>
            <a:ext cx="6933817" cy="1793901"/>
          </a:xfrm>
          <a:prstGeom prst="rect">
            <a:avLst/>
          </a:prstGeom>
        </p:spPr>
      </p:pic>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在矩阵中布置模块</a:t>
            </a:r>
          </a:p>
        </p:txBody>
      </p:sp>
      <p:sp>
        <p:nvSpPr>
          <p:cNvPr id="10" name="文本框 9"/>
          <p:cNvSpPr txBox="1"/>
          <p:nvPr/>
        </p:nvSpPr>
        <p:spPr>
          <a:xfrm>
            <a:off x="1917188" y="1581070"/>
            <a:ext cx="4512945" cy="3477875"/>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在矩阵中布置模块</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Arial" panose="020B0604020202020204" pitchFamily="34" charset="0"/>
              <a:buChar char="•"/>
            </a:pPr>
            <a:r>
              <a:rPr lang="zh-CN" altLang="en-US" sz="2000" dirty="0">
                <a:solidFill>
                  <a:srgbClr val="000000"/>
                </a:solidFill>
                <a:latin typeface="Times New Roman" panose="02020603050405020304" pitchFamily="18" charset="0"/>
                <a:ea typeface="黑体" panose="02010609060101010101" pitchFamily="49" charset="-122"/>
                <a:sym typeface="+mn-ea"/>
              </a:rPr>
              <a:t>右图展示了数据码字填写时的走位</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Arial" panose="020B0604020202020204" pitchFamily="34" charset="0"/>
              <a:buChar char="•"/>
            </a:pPr>
            <a:endParaRPr lang="en-US"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Arial" panose="020B0604020202020204" pitchFamily="34" charset="0"/>
              <a:buChar char="•"/>
            </a:pPr>
            <a:r>
              <a:rPr lang="zh-CN" altLang="en-US" sz="2000" dirty="0">
                <a:solidFill>
                  <a:srgbClr val="000000"/>
                </a:solidFill>
                <a:latin typeface="Times New Roman" panose="02020603050405020304" pitchFamily="18" charset="0"/>
                <a:ea typeface="黑体" panose="02010609060101010101" pitchFamily="49" charset="-122"/>
                <a:sym typeface="+mn-ea"/>
              </a:rPr>
              <a:t>符号字符的布置</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在</a:t>
            </a:r>
            <a:r>
              <a:rPr lang="en-US" altLang="zh-CN" sz="2000" dirty="0">
                <a:solidFill>
                  <a:srgbClr val="000000"/>
                </a:solidFill>
                <a:latin typeface="Times New Roman" panose="02020603050405020304" pitchFamily="18" charset="0"/>
                <a:ea typeface="黑体" panose="02010609060101010101" pitchFamily="49" charset="-122"/>
                <a:sym typeface="+mn-ea"/>
              </a:rPr>
              <a:t>QR</a:t>
            </a:r>
            <a:r>
              <a:rPr lang="zh-CN" altLang="en-US" sz="2000" dirty="0">
                <a:solidFill>
                  <a:srgbClr val="000000"/>
                </a:solidFill>
                <a:latin typeface="Times New Roman" panose="02020603050405020304" pitchFamily="18" charset="0"/>
                <a:ea typeface="黑体" panose="02010609060101010101" pitchFamily="49" charset="-122"/>
                <a:sym typeface="+mn-ea"/>
              </a:rPr>
              <a:t>码符号的编码区域中，符号字符以</a:t>
            </a:r>
            <a:r>
              <a:rPr lang="en-US" altLang="zh-CN" sz="2000" dirty="0">
                <a:solidFill>
                  <a:srgbClr val="FF0000"/>
                </a:solidFill>
                <a:latin typeface="Times New Roman" panose="02020603050405020304" pitchFamily="18" charset="0"/>
                <a:ea typeface="黑体" panose="02010609060101010101" pitchFamily="49" charset="-122"/>
                <a:sym typeface="+mn-ea"/>
              </a:rPr>
              <a:t>2</a:t>
            </a:r>
            <a:r>
              <a:rPr lang="zh-CN" altLang="en-US" sz="2000" dirty="0">
                <a:solidFill>
                  <a:srgbClr val="FF0000"/>
                </a:solidFill>
                <a:latin typeface="Times New Roman" panose="02020603050405020304" pitchFamily="18" charset="0"/>
                <a:ea typeface="黑体" panose="02010609060101010101" pitchFamily="49" charset="-122"/>
                <a:sym typeface="+mn-ea"/>
              </a:rPr>
              <a:t>个模块宽</a:t>
            </a:r>
            <a:r>
              <a:rPr lang="zh-CN" altLang="en-US" sz="2000" dirty="0">
                <a:solidFill>
                  <a:srgbClr val="000000"/>
                </a:solidFill>
                <a:latin typeface="Times New Roman" panose="02020603050405020304" pitchFamily="18" charset="0"/>
                <a:ea typeface="黑体" panose="02010609060101010101" pitchFamily="49" charset="-122"/>
                <a:sym typeface="+mn-ea"/>
              </a:rPr>
              <a:t>的纵列从符号</a:t>
            </a:r>
            <a:r>
              <a:rPr lang="zh-CN" altLang="en-US" sz="2000" dirty="0">
                <a:solidFill>
                  <a:srgbClr val="FF0000"/>
                </a:solidFill>
                <a:latin typeface="Times New Roman" panose="02020603050405020304" pitchFamily="18" charset="0"/>
                <a:ea typeface="黑体" panose="02010609060101010101" pitchFamily="49" charset="-122"/>
                <a:sym typeface="+mn-ea"/>
              </a:rPr>
              <a:t>右下角</a:t>
            </a:r>
            <a:r>
              <a:rPr lang="zh-CN" altLang="en-US" sz="2000" dirty="0">
                <a:solidFill>
                  <a:srgbClr val="000000"/>
                </a:solidFill>
                <a:latin typeface="Times New Roman" panose="02020603050405020304" pitchFamily="18" charset="0"/>
                <a:ea typeface="黑体" panose="02010609060101010101" pitchFamily="49" charset="-122"/>
                <a:sym typeface="+mn-ea"/>
              </a:rPr>
              <a:t>开始布置，并</a:t>
            </a:r>
            <a:r>
              <a:rPr lang="zh-CN" altLang="en-US" sz="2000" dirty="0">
                <a:solidFill>
                  <a:srgbClr val="FF0000"/>
                </a:solidFill>
                <a:latin typeface="Times New Roman" panose="02020603050405020304" pitchFamily="18" charset="0"/>
                <a:ea typeface="黑体" panose="02010609060101010101" pitchFamily="49" charset="-122"/>
                <a:sym typeface="+mn-ea"/>
              </a:rPr>
              <a:t>自右向左，且交替地从下向上或从上向下</a:t>
            </a:r>
            <a:r>
              <a:rPr lang="zh-CN" altLang="en-US" sz="2000" dirty="0">
                <a:solidFill>
                  <a:srgbClr val="000000"/>
                </a:solidFill>
                <a:latin typeface="Times New Roman" panose="02020603050405020304" pitchFamily="18" charset="0"/>
                <a:ea typeface="黑体" panose="02010609060101010101" pitchFamily="49" charset="-122"/>
                <a:sym typeface="+mn-ea"/>
              </a:rPr>
              <a:t>安排。</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具体走位路线如右图。</a:t>
            </a:r>
            <a:endParaRPr sz="2000" dirty="0">
              <a:solidFill>
                <a:srgbClr val="000000"/>
              </a:solidFill>
              <a:latin typeface="Times New Roman" panose="02020603050405020304" pitchFamily="18" charset="0"/>
              <a:ea typeface="黑体" panose="02010609060101010101" pitchFamily="49" charset="-122"/>
              <a:sym typeface="+mn-ea"/>
            </a:endParaRP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34287" b="2922"/>
          <a:stretch>
            <a:fillRect/>
          </a:stretch>
        </p:blipFill>
        <p:spPr bwMode="auto">
          <a:xfrm>
            <a:off x="6781003" y="1581069"/>
            <a:ext cx="3695862" cy="36958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在矩阵中布置模块</a:t>
            </a:r>
          </a:p>
        </p:txBody>
      </p:sp>
      <p:sp>
        <p:nvSpPr>
          <p:cNvPr id="10" name="文本框 9"/>
          <p:cNvSpPr txBox="1"/>
          <p:nvPr/>
        </p:nvSpPr>
        <p:spPr>
          <a:xfrm>
            <a:off x="2078355" y="927736"/>
            <a:ext cx="8205470" cy="3477875"/>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在矩阵中布置模块</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在上一个步骤中，我们已经生成了最后的数据码字：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黑体"/>
                <a:ea typeface="黑体"/>
                <a:cs typeface="Times New Roman" panose="02020603050405020304" pitchFamily="18" charset="0"/>
              </a:rPr>
              <a:t>0x10 0x20 0x0C 0x56 0x61 0x80 0xEC 0x11 0xEC 0x0E 0x9D 0x02 0xC8 0xC2 0x94 0xF3 0xA7 0xAD 0x8D 0xE2 0x0A 0xF4 0xA5 0x2B 0xAC 0xDF</a:t>
            </a: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将这</a:t>
            </a:r>
            <a:r>
              <a:rPr lang="en-US" altLang="zh-CN" sz="2000" dirty="0">
                <a:solidFill>
                  <a:srgbClr val="000000"/>
                </a:solidFill>
                <a:latin typeface="Times New Roman" panose="02020603050405020304" pitchFamily="18" charset="0"/>
                <a:ea typeface="黑体" panose="02010609060101010101" pitchFamily="49" charset="-122"/>
                <a:sym typeface="+mn-ea"/>
              </a:rPr>
              <a:t>26</a:t>
            </a:r>
            <a:r>
              <a:rPr lang="zh-CN" altLang="en-US" sz="2000" dirty="0">
                <a:solidFill>
                  <a:srgbClr val="000000"/>
                </a:solidFill>
                <a:latin typeface="Times New Roman" panose="02020603050405020304" pitchFamily="18" charset="0"/>
                <a:ea typeface="黑体" panose="02010609060101010101" pitchFamily="49" charset="-122"/>
                <a:sym typeface="+mn-ea"/>
              </a:rPr>
              <a:t>个</a:t>
            </a:r>
            <a:r>
              <a:rPr lang="en-US" altLang="zh-CN" sz="2000" dirty="0">
                <a:solidFill>
                  <a:srgbClr val="000000"/>
                </a:solidFill>
                <a:latin typeface="Times New Roman" panose="02020603050405020304" pitchFamily="18" charset="0"/>
                <a:ea typeface="黑体" panose="02010609060101010101" pitchFamily="49" charset="-122"/>
                <a:sym typeface="+mn-ea"/>
              </a:rPr>
              <a:t>16</a:t>
            </a:r>
            <a:r>
              <a:rPr lang="zh-CN" altLang="en-US" sz="2000" dirty="0">
                <a:solidFill>
                  <a:srgbClr val="000000"/>
                </a:solidFill>
                <a:latin typeface="Times New Roman" panose="02020603050405020304" pitchFamily="18" charset="0"/>
                <a:ea typeface="黑体" panose="02010609060101010101" pitchFamily="49" charset="-122"/>
                <a:sym typeface="+mn-ea"/>
              </a:rPr>
              <a:t>进制数转换为</a:t>
            </a: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为的二进制数，并按照上一页的路线依次填入到对应位置。</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最终结果如下</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图。其中浅色代表</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，深色代表</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sz="2000" dirty="0">
              <a:solidFill>
                <a:srgbClr val="000000"/>
              </a:solidFill>
              <a:latin typeface="Times New Roman" panose="02020603050405020304" pitchFamily="18" charset="0"/>
              <a:ea typeface="黑体" panose="02010609060101010101" pitchFamily="49" charset="-122"/>
              <a:sym typeface="+mn-ea"/>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063" y="3275351"/>
            <a:ext cx="5871207" cy="3477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掩模</a:t>
            </a:r>
          </a:p>
        </p:txBody>
      </p:sp>
      <p:sp>
        <p:nvSpPr>
          <p:cNvPr id="10" name="文本框 9"/>
          <p:cNvSpPr txBox="1"/>
          <p:nvPr/>
        </p:nvSpPr>
        <p:spPr>
          <a:xfrm>
            <a:off x="2078355" y="927736"/>
            <a:ext cx="8205470" cy="317009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黑体"/>
                <a:ea typeface="黑体"/>
                <a:sym typeface="+mn-ea"/>
              </a:rPr>
              <a:t>掩模</a:t>
            </a:r>
            <a:endParaRPr lang="en-US" altLang="zh-CN" sz="2000" dirty="0">
              <a:solidFill>
                <a:srgbClr val="0070C0"/>
              </a:solidFill>
              <a:latin typeface="黑体"/>
              <a:ea typeface="黑体"/>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sz="2000" dirty="0">
                <a:solidFill>
                  <a:srgbClr val="000000"/>
                </a:solidFill>
                <a:latin typeface="Times New Roman" panose="02020603050405020304" pitchFamily="18" charset="0"/>
                <a:ea typeface="黑体" panose="02010609060101010101" pitchFamily="49" charset="-122"/>
                <a:sym typeface="+mn-ea"/>
              </a:rPr>
              <a:t>        QR</a:t>
            </a:r>
            <a:r>
              <a:rPr lang="zh-CN" altLang="en-US" sz="2000" dirty="0">
                <a:solidFill>
                  <a:srgbClr val="000000"/>
                </a:solidFill>
                <a:latin typeface="Times New Roman" panose="02020603050405020304" pitchFamily="18" charset="0"/>
                <a:ea typeface="黑体" panose="02010609060101010101" pitchFamily="49" charset="-122"/>
                <a:sym typeface="+mn-ea"/>
              </a:rPr>
              <a:t>码中如果出现大面积的空白或者黑块，会导致扫描器识别困难。为了让</a:t>
            </a:r>
            <a:r>
              <a:rPr lang="en-US" altLang="zh-CN" sz="2000" dirty="0">
                <a:solidFill>
                  <a:srgbClr val="000000"/>
                </a:solidFill>
                <a:latin typeface="Times New Roman" panose="02020603050405020304" pitchFamily="18" charset="0"/>
                <a:ea typeface="黑体" panose="02010609060101010101" pitchFamily="49" charset="-122"/>
                <a:sym typeface="+mn-ea"/>
              </a:rPr>
              <a:t>QR</a:t>
            </a:r>
            <a:r>
              <a:rPr lang="zh-CN" altLang="en-US" sz="2000" dirty="0">
                <a:solidFill>
                  <a:srgbClr val="000000"/>
                </a:solidFill>
                <a:latin typeface="Times New Roman" panose="02020603050405020304" pitchFamily="18" charset="0"/>
                <a:ea typeface="黑体" panose="02010609060101010101" pitchFamily="49" charset="-122"/>
                <a:sym typeface="+mn-ea"/>
              </a:rPr>
              <a:t>图形看起来尽可能凌乱，且尽可能避免位置探测图形中的位图</a:t>
            </a:r>
            <a:r>
              <a:rPr lang="en-US" altLang="zh-CN" sz="2000" dirty="0">
                <a:solidFill>
                  <a:srgbClr val="000000"/>
                </a:solidFill>
                <a:latin typeface="Times New Roman" panose="02020603050405020304" pitchFamily="18" charset="0"/>
                <a:ea typeface="黑体" panose="02010609060101010101" pitchFamily="49" charset="-122"/>
                <a:sym typeface="+mn-ea"/>
              </a:rPr>
              <a:t>1011101</a:t>
            </a:r>
            <a:r>
              <a:rPr lang="zh-CN" altLang="en-US" sz="2000" dirty="0">
                <a:solidFill>
                  <a:srgbClr val="000000"/>
                </a:solidFill>
                <a:latin typeface="Times New Roman" panose="02020603050405020304" pitchFamily="18" charset="0"/>
                <a:ea typeface="黑体" panose="02010609060101010101" pitchFamily="49" charset="-122"/>
                <a:sym typeface="+mn-ea"/>
              </a:rPr>
              <a:t>的出现，需对</a:t>
            </a:r>
            <a:r>
              <a:rPr lang="en-US" altLang="zh-CN" sz="2000" dirty="0">
                <a:solidFill>
                  <a:srgbClr val="000000"/>
                </a:solidFill>
                <a:latin typeface="Times New Roman" panose="02020603050405020304" pitchFamily="18" charset="0"/>
                <a:ea typeface="黑体" panose="02010609060101010101" pitchFamily="49" charset="-122"/>
                <a:sym typeface="+mn-ea"/>
              </a:rPr>
              <a:t>QR</a:t>
            </a:r>
            <a:r>
              <a:rPr lang="zh-CN" altLang="en-US" sz="2000" dirty="0">
                <a:solidFill>
                  <a:srgbClr val="000000"/>
                </a:solidFill>
                <a:latin typeface="Times New Roman" panose="02020603050405020304" pitchFamily="18" charset="0"/>
                <a:ea typeface="黑体" panose="02010609060101010101" pitchFamily="49" charset="-122"/>
                <a:sym typeface="+mn-ea"/>
              </a:rPr>
              <a:t>图形进行掩模操作，步骤如下：</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掩模</a:t>
            </a:r>
            <a:r>
              <a:rPr lang="zh-CN" altLang="en-US" sz="2000" dirty="0">
                <a:solidFill>
                  <a:srgbClr val="FF0000"/>
                </a:solidFill>
                <a:latin typeface="Times New Roman" panose="02020603050405020304" pitchFamily="18" charset="0"/>
                <a:ea typeface="黑体" panose="02010609060101010101" pitchFamily="49" charset="-122"/>
                <a:sym typeface="+mn-ea"/>
              </a:rPr>
              <a:t>不用于功能图形及格式图形</a:t>
            </a:r>
            <a:r>
              <a:rPr lang="zh-CN" altLang="en-US" sz="2000" dirty="0">
                <a:solidFill>
                  <a:srgbClr val="000000"/>
                </a:solidFill>
                <a:latin typeface="Times New Roman" panose="02020603050405020304" pitchFamily="18" charset="0"/>
                <a:ea typeface="黑体" panose="02010609060101010101" pitchFamily="49" charset="-122"/>
                <a:sym typeface="+mn-ea"/>
              </a:rPr>
              <a:t>，如寻像图形、定位图形、校正图形、位置探测图形分隔符、格式信息和版本信息；</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数据码字与掩模图形进行</a:t>
            </a:r>
            <a:r>
              <a:rPr lang="zh-CN" altLang="en-US" sz="2000" dirty="0">
                <a:solidFill>
                  <a:srgbClr val="FF0000"/>
                </a:solidFill>
                <a:latin typeface="Times New Roman" panose="02020603050405020304" pitchFamily="18" charset="0"/>
                <a:ea typeface="黑体" panose="02010609060101010101" pitchFamily="49" charset="-122"/>
                <a:sym typeface="+mn-ea"/>
              </a:rPr>
              <a:t>异或操作</a:t>
            </a:r>
            <a:r>
              <a:rPr lang="zh-CN" altLang="en-US" sz="2000" dirty="0">
                <a:solidFill>
                  <a:srgbClr val="000000"/>
                </a:solidFill>
                <a:latin typeface="Times New Roman" panose="02020603050405020304" pitchFamily="18" charset="0"/>
                <a:ea typeface="黑体" panose="02010609060101010101" pitchFamily="49" charset="-122"/>
                <a:sym typeface="+mn-ea"/>
              </a:rPr>
              <a:t>后再进行绘制；</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对每个结果图形的</a:t>
            </a:r>
            <a:r>
              <a:rPr lang="zh-CN" altLang="en-US" sz="2000" dirty="0">
                <a:solidFill>
                  <a:srgbClr val="FF0000"/>
                </a:solidFill>
                <a:latin typeface="Times New Roman" panose="02020603050405020304" pitchFamily="18" charset="0"/>
                <a:ea typeface="黑体" panose="02010609060101010101" pitchFamily="49" charset="-122"/>
                <a:sym typeface="+mn-ea"/>
              </a:rPr>
              <a:t>不合要求的部分计分</a:t>
            </a:r>
            <a:r>
              <a:rPr lang="zh-CN" altLang="en-US" sz="2000" dirty="0">
                <a:solidFill>
                  <a:srgbClr val="000000"/>
                </a:solidFill>
                <a:latin typeface="Times New Roman" panose="02020603050405020304" pitchFamily="18" charset="0"/>
                <a:ea typeface="黑体" panose="02010609060101010101" pitchFamily="49" charset="-122"/>
                <a:sym typeface="+mn-ea"/>
              </a:rPr>
              <a:t>，以评估这个结果；</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选择得分最低的图形。</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掩模</a:t>
            </a:r>
          </a:p>
        </p:txBody>
      </p:sp>
      <p:sp>
        <p:nvSpPr>
          <p:cNvPr id="10" name="文本框 9"/>
          <p:cNvSpPr txBox="1"/>
          <p:nvPr/>
        </p:nvSpPr>
        <p:spPr>
          <a:xfrm>
            <a:off x="2078355" y="927736"/>
            <a:ext cx="8223250" cy="224676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掩模</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表</a:t>
            </a:r>
            <a:r>
              <a:rPr lang="en-US" altLang="zh-CN" sz="2000" dirty="0">
                <a:solidFill>
                  <a:srgbClr val="000000"/>
                </a:solidFill>
                <a:latin typeface="Times New Roman" panose="02020603050405020304" pitchFamily="18" charset="0"/>
                <a:ea typeface="黑体" panose="02010609060101010101" pitchFamily="49" charset="-122"/>
                <a:sym typeface="+mn-ea"/>
              </a:rPr>
              <a:t>23</a:t>
            </a:r>
            <a:r>
              <a:rPr lang="zh-CN" altLang="en-US" sz="2000" dirty="0">
                <a:solidFill>
                  <a:srgbClr val="000000"/>
                </a:solidFill>
                <a:latin typeface="Times New Roman" panose="02020603050405020304" pitchFamily="18" charset="0"/>
                <a:ea typeface="黑体" panose="02010609060101010101" pitchFamily="49" charset="-122"/>
                <a:sym typeface="+mn-ea"/>
              </a:rPr>
              <a:t>给出了掩模图形的参考（放置于格式信息中的二进制参考）和掩模图形生成的条件。</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掩模图形是通过编码区域（不包括格式信息和版本信息）内那些条件为真的模块定义为深色而产生的。</a:t>
            </a:r>
            <a:r>
              <a:rPr lang="en-US" altLang="zh-CN" sz="2000" dirty="0">
                <a:solidFill>
                  <a:srgbClr val="000000"/>
                </a:solidFill>
                <a:latin typeface="Times New Roman" panose="02020603050405020304" pitchFamily="18" charset="0"/>
                <a:ea typeface="黑体" panose="02010609060101010101" pitchFamily="49" charset="-122"/>
                <a:sym typeface="+mn-ea"/>
              </a:rPr>
              <a:t>      </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err="1">
                <a:solidFill>
                  <a:srgbClr val="000000"/>
                </a:solidFill>
                <a:latin typeface="Times New Roman" panose="02020603050405020304" pitchFamily="18" charset="0"/>
                <a:ea typeface="黑体" panose="02010609060101010101" pitchFamily="49" charset="-122"/>
                <a:sym typeface="+mn-ea"/>
              </a:rPr>
              <a:t>i</a:t>
            </a:r>
            <a:r>
              <a:rPr lang="zh-CN" altLang="en-US" sz="2000" dirty="0">
                <a:solidFill>
                  <a:srgbClr val="000000"/>
                </a:solidFill>
                <a:latin typeface="Times New Roman" panose="02020603050405020304" pitchFamily="18" charset="0"/>
                <a:ea typeface="黑体" panose="02010609060101010101" pitchFamily="49" charset="-122"/>
                <a:sym typeface="+mn-ea"/>
              </a:rPr>
              <a:t>代表模块的行的位置，</a:t>
            </a:r>
            <a:r>
              <a:rPr lang="en-US" altLang="zh-CN" sz="2000" dirty="0">
                <a:solidFill>
                  <a:srgbClr val="000000"/>
                </a:solidFill>
                <a:latin typeface="Times New Roman" panose="02020603050405020304" pitchFamily="18" charset="0"/>
                <a:ea typeface="黑体" panose="02010609060101010101" pitchFamily="49" charset="-122"/>
                <a:sym typeface="+mn-ea"/>
              </a:rPr>
              <a:t>j</a:t>
            </a:r>
            <a:r>
              <a:rPr lang="zh-CN" altLang="en-US" sz="2000" dirty="0">
                <a:solidFill>
                  <a:srgbClr val="000000"/>
                </a:solidFill>
                <a:latin typeface="Times New Roman" panose="02020603050405020304" pitchFamily="18" charset="0"/>
                <a:ea typeface="黑体" panose="02010609060101010101" pitchFamily="49" charset="-122"/>
                <a:sym typeface="+mn-ea"/>
              </a:rPr>
              <a:t>代表模块的列的位置，其中</a:t>
            </a:r>
            <a:r>
              <a:rPr lang="en-US" altLang="zh-CN" sz="2000" dirty="0" err="1">
                <a:solidFill>
                  <a:srgbClr val="000000"/>
                </a:solidFill>
                <a:latin typeface="Times New Roman" panose="02020603050405020304" pitchFamily="18" charset="0"/>
                <a:ea typeface="黑体" panose="02010609060101010101" pitchFamily="49" charset="-122"/>
                <a:sym typeface="+mn-ea"/>
              </a:rPr>
              <a:t>i</a:t>
            </a:r>
            <a:r>
              <a:rPr lang="zh-CN" altLang="en-US" sz="2000" dirty="0">
                <a:solidFill>
                  <a:srgbClr val="000000"/>
                </a:solidFill>
                <a:latin typeface="Times New Roman" panose="02020603050405020304" pitchFamily="18" charset="0"/>
                <a:ea typeface="黑体" panose="02010609060101010101" pitchFamily="49" charset="-122"/>
                <a:sym typeface="+mn-ea"/>
              </a:rPr>
              <a:t>和</a:t>
            </a:r>
            <a:r>
              <a:rPr lang="en-US" altLang="zh-CN" sz="2000" dirty="0">
                <a:solidFill>
                  <a:srgbClr val="000000"/>
                </a:solidFill>
                <a:latin typeface="Times New Roman" panose="02020603050405020304" pitchFamily="18" charset="0"/>
                <a:ea typeface="黑体" panose="02010609060101010101" pitchFamily="49" charset="-122"/>
                <a:sym typeface="+mn-ea"/>
              </a:rPr>
              <a:t>j</a:t>
            </a:r>
            <a:r>
              <a:rPr lang="zh-CN" altLang="en-US" sz="2000" dirty="0">
                <a:solidFill>
                  <a:srgbClr val="000000"/>
                </a:solidFill>
                <a:latin typeface="Times New Roman" panose="02020603050405020304" pitchFamily="18" charset="0"/>
                <a:ea typeface="黑体" panose="02010609060101010101" pitchFamily="49" charset="-122"/>
                <a:sym typeface="+mn-ea"/>
              </a:rPr>
              <a:t>均从</a:t>
            </a:r>
            <a:r>
              <a:rPr lang="en-US" altLang="zh-CN" sz="2000" dirty="0">
                <a:solidFill>
                  <a:srgbClr val="000000"/>
                </a:solidFill>
                <a:latin typeface="Times New Roman" panose="02020603050405020304" pitchFamily="18" charset="0"/>
                <a:ea typeface="黑体" panose="02010609060101010101" pitchFamily="49" charset="-122"/>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开始。</a:t>
            </a:r>
            <a:endParaRPr sz="2000" dirty="0">
              <a:solidFill>
                <a:srgbClr val="0070C0"/>
              </a:solidFill>
              <a:latin typeface="Times New Roman" panose="02020603050405020304" pitchFamily="18" charset="0"/>
              <a:ea typeface="黑体" panose="02010609060101010101" pitchFamily="49" charset="-122"/>
              <a:sym typeface="+mn-ea"/>
            </a:endParaRPr>
          </a:p>
        </p:txBody>
      </p:sp>
      <p:pic>
        <p:nvPicPr>
          <p:cNvPr id="4098" name="Picture 2" descr="在这里插入图片描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67" y="3383318"/>
            <a:ext cx="5171565" cy="31699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19881" y="104775"/>
            <a:ext cx="6356985" cy="685800"/>
          </a:xfrm>
        </p:spPr>
        <p:txBody>
          <a:bodyPr/>
          <a:lstStyle/>
          <a:p>
            <a:r>
              <a:rPr lang="zh-CN" altLang="en-US" sz="2400" dirty="0">
                <a:sym typeface="+mn-ea"/>
              </a:rPr>
              <a:t>掩模</a:t>
            </a:r>
            <a:endParaRPr lang="en-US" altLang="zh-CN" sz="2400" dirty="0">
              <a:sym typeface="+mn-ea"/>
            </a:endParaRPr>
          </a:p>
        </p:txBody>
      </p:sp>
      <p:sp>
        <p:nvSpPr>
          <p:cNvPr id="10" name="文本框 9"/>
          <p:cNvSpPr txBox="1"/>
          <p:nvPr/>
        </p:nvSpPr>
        <p:spPr>
          <a:xfrm>
            <a:off x="1999615" y="1003300"/>
            <a:ext cx="8284210" cy="1631216"/>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掩模</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Wingdings" panose="05000000000000000000" pitchFamily="2" charset="2"/>
              <a:buChar char="Ø"/>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下图为版本</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符号的所有掩模图形。</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分别模拟了用掩模图形参考</a:t>
            </a:r>
            <a:r>
              <a:rPr lang="en-US" altLang="zh-CN" sz="2000" dirty="0">
                <a:solidFill>
                  <a:srgbClr val="000000"/>
                </a:solidFill>
                <a:latin typeface="Times New Roman" panose="02020603050405020304" pitchFamily="18" charset="0"/>
                <a:ea typeface="黑体" panose="02010609060101010101" pitchFamily="49" charset="-122"/>
                <a:sym typeface="+mn-ea"/>
              </a:rPr>
              <a:t>000</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001</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010</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011</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100</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101</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110</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111</a:t>
            </a:r>
            <a:r>
              <a:rPr lang="zh-CN" altLang="en-US" sz="2000" dirty="0">
                <a:solidFill>
                  <a:srgbClr val="000000"/>
                </a:solidFill>
                <a:latin typeface="Times New Roman" panose="02020603050405020304" pitchFamily="18" charset="0"/>
                <a:ea typeface="黑体" panose="02010609060101010101" pitchFamily="49" charset="-122"/>
                <a:sym typeface="+mn-ea"/>
              </a:rPr>
              <a:t>的掩模结果。</a:t>
            </a:r>
            <a:endParaRPr sz="2000" dirty="0">
              <a:solidFill>
                <a:srgbClr val="000000"/>
              </a:solidFill>
              <a:latin typeface="Times New Roman" panose="02020603050405020304" pitchFamily="18" charset="0"/>
              <a:ea typeface="黑体" panose="02010609060101010101" pitchFamily="49" charset="-122"/>
              <a:sym typeface="+mn-ea"/>
            </a:endParaRPr>
          </a:p>
        </p:txBody>
      </p:sp>
      <p:pic>
        <p:nvPicPr>
          <p:cNvPr id="5122" name="Picture 2" descr="图4：8种掩模结果"/>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6197" y="2971812"/>
            <a:ext cx="7159606" cy="32765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掩模</a:t>
            </a:r>
          </a:p>
        </p:txBody>
      </p:sp>
      <p:sp>
        <p:nvSpPr>
          <p:cNvPr id="10" name="文本框 9"/>
          <p:cNvSpPr txBox="1"/>
          <p:nvPr/>
        </p:nvSpPr>
        <p:spPr>
          <a:xfrm>
            <a:off x="2078525" y="1013633"/>
            <a:ext cx="8205470" cy="132343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掩模</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掩模数据是将左图的橙色区域的数据信息分别与右图的</a:t>
            </a:r>
            <a:r>
              <a:rPr lang="en-US" altLang="zh-CN" sz="2000" dirty="0">
                <a:solidFill>
                  <a:srgbClr val="000000"/>
                </a:solidFill>
                <a:latin typeface="Times New Roman" panose="02020603050405020304" pitchFamily="18" charset="0"/>
                <a:ea typeface="黑体" panose="02010609060101010101" pitchFamily="49" charset="-122"/>
                <a:sym typeface="+mn-ea"/>
              </a:rPr>
              <a:t>8</a:t>
            </a:r>
            <a:r>
              <a:rPr lang="zh-CN" altLang="en-US" sz="2000" dirty="0">
                <a:solidFill>
                  <a:srgbClr val="000000"/>
                </a:solidFill>
                <a:latin typeface="Times New Roman" panose="02020603050405020304" pitchFamily="18" charset="0"/>
                <a:ea typeface="黑体" panose="02010609060101010101" pitchFamily="49" charset="-122"/>
                <a:sym typeface="+mn-ea"/>
              </a:rPr>
              <a:t>种情况下的紫色部分进行异或操作得到的，掩模的最终结果在下页显示。</a:t>
            </a:r>
            <a:endParaRPr sz="2000" dirty="0">
              <a:solidFill>
                <a:srgbClr val="000000"/>
              </a:solidFill>
              <a:latin typeface="Times New Roman" panose="02020603050405020304" pitchFamily="18" charset="0"/>
              <a:ea typeface="黑体" panose="02010609060101010101" pitchFamily="49" charset="-122"/>
              <a:sym typeface="+mn-ea"/>
            </a:endParaRP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01" t="4418" r="41596"/>
          <a:stretch>
            <a:fillRect/>
          </a:stretch>
        </p:blipFill>
        <p:spPr bwMode="auto">
          <a:xfrm>
            <a:off x="1676517" y="3124209"/>
            <a:ext cx="3246989" cy="33242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98601" y="3634430"/>
            <a:ext cx="5085395" cy="2327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掩模</a:t>
            </a:r>
          </a:p>
        </p:txBody>
      </p:sp>
      <p:sp>
        <p:nvSpPr>
          <p:cNvPr id="10" name="文本框 9"/>
          <p:cNvSpPr txBox="1"/>
          <p:nvPr/>
        </p:nvSpPr>
        <p:spPr>
          <a:xfrm>
            <a:off x="2078355" y="1003301"/>
            <a:ext cx="8205470" cy="132343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掩模</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下图的粉色区域分别为掩模为</a:t>
            </a:r>
            <a:r>
              <a:rPr lang="en-US" altLang="zh-CN" sz="2000" dirty="0">
                <a:solidFill>
                  <a:srgbClr val="000000"/>
                </a:solidFill>
                <a:latin typeface="Times New Roman" panose="02020603050405020304" pitchFamily="18" charset="0"/>
                <a:ea typeface="黑体" panose="02010609060101010101" pitchFamily="49" charset="-122"/>
                <a:sym typeface="+mn-ea"/>
              </a:rPr>
              <a:t>000</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001</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010</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011</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100</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101</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110</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111</a:t>
            </a:r>
            <a:r>
              <a:rPr lang="zh-CN" altLang="en-US" sz="2000" dirty="0">
                <a:solidFill>
                  <a:srgbClr val="000000"/>
                </a:solidFill>
                <a:latin typeface="Times New Roman" panose="02020603050405020304" pitchFamily="18" charset="0"/>
                <a:ea typeface="黑体" panose="02010609060101010101" pitchFamily="49" charset="-122"/>
                <a:sym typeface="+mn-ea"/>
              </a:rPr>
              <a:t>得到的最终结果。</a:t>
            </a:r>
            <a:endParaRPr sz="2000" dirty="0">
              <a:solidFill>
                <a:srgbClr val="000000"/>
              </a:solidFill>
              <a:latin typeface="Times New Roman" panose="02020603050405020304" pitchFamily="18" charset="0"/>
              <a:ea typeface="黑体" panose="02010609060101010101" pitchFamily="49" charset="-122"/>
              <a:sym typeface="+mn-ea"/>
            </a:endParaRPr>
          </a:p>
        </p:txBody>
      </p:sp>
      <p:pic>
        <p:nvPicPr>
          <p:cNvPr id="614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34947" b="3601"/>
          <a:stretch>
            <a:fillRect/>
          </a:stretch>
        </p:blipFill>
        <p:spPr bwMode="auto">
          <a:xfrm>
            <a:off x="1897792" y="2629751"/>
            <a:ext cx="1823462" cy="183844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66" t="1363" r="35113" b="3765"/>
          <a:stretch>
            <a:fillRect/>
          </a:stretch>
        </p:blipFill>
        <p:spPr bwMode="auto">
          <a:xfrm>
            <a:off x="3972303" y="2629751"/>
            <a:ext cx="1864712" cy="1838443"/>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34947" b="2708"/>
          <a:stretch>
            <a:fillRect/>
          </a:stretch>
        </p:blipFill>
        <p:spPr bwMode="auto">
          <a:xfrm>
            <a:off x="6078946" y="2654368"/>
            <a:ext cx="1819878" cy="1843805"/>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451" t="-1427" r="33329" b="2677"/>
          <a:stretch>
            <a:fillRect/>
          </a:stretch>
        </p:blipFill>
        <p:spPr bwMode="auto">
          <a:xfrm>
            <a:off x="8140755" y="2668821"/>
            <a:ext cx="1854475" cy="1799372"/>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掩模：100"/>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r="34357" b="2911"/>
          <a:stretch>
            <a:fillRect/>
          </a:stretch>
        </p:blipFill>
        <p:spPr bwMode="auto">
          <a:xfrm>
            <a:off x="1897792" y="4724367"/>
            <a:ext cx="1823462" cy="1833609"/>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掩模101"/>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 r="34122" b="2884"/>
          <a:stretch>
            <a:fillRect/>
          </a:stretch>
        </p:blipFill>
        <p:spPr bwMode="auto">
          <a:xfrm>
            <a:off x="3988369" y="4724366"/>
            <a:ext cx="1823462" cy="1834530"/>
          </a:xfrm>
          <a:prstGeom prst="rect">
            <a:avLst/>
          </a:prstGeom>
          <a:noFill/>
          <a:extLst>
            <a:ext uri="{909E8E84-426E-40DD-AFC4-6F175D3DCCD1}">
              <a14:hiddenFill xmlns:a14="http://schemas.microsoft.com/office/drawing/2010/main">
                <a:solidFill>
                  <a:srgbClr val="FFFFFF"/>
                </a:solidFill>
              </a14:hiddenFill>
            </a:ext>
          </a:extLst>
        </p:spPr>
      </p:pic>
      <p:pic>
        <p:nvPicPr>
          <p:cNvPr id="6158" name="Picture 14" descr="掩模：110"/>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33940" b="3928"/>
          <a:stretch>
            <a:fillRect/>
          </a:stretch>
        </p:blipFill>
        <p:spPr bwMode="auto">
          <a:xfrm>
            <a:off x="6078947" y="4741484"/>
            <a:ext cx="1819879" cy="1799372"/>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掩模：111"/>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r="34461" b="3885"/>
          <a:stretch>
            <a:fillRect/>
          </a:stretch>
        </p:blipFill>
        <p:spPr bwMode="auto">
          <a:xfrm>
            <a:off x="8165940" y="4758603"/>
            <a:ext cx="1802416" cy="17993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格式和版本信息</a:t>
            </a:r>
            <a:r>
              <a:rPr lang="en-US" altLang="zh-CN" sz="2400" dirty="0">
                <a:sym typeface="+mn-ea"/>
              </a:rPr>
              <a:t>-</a:t>
            </a:r>
            <a:r>
              <a:rPr lang="zh-CN" altLang="en-US" sz="2400" dirty="0">
                <a:sym typeface="+mn-ea"/>
              </a:rPr>
              <a:t>格式信息</a:t>
            </a:r>
          </a:p>
        </p:txBody>
      </p:sp>
      <p:sp>
        <p:nvSpPr>
          <p:cNvPr id="10" name="文本框 9"/>
          <p:cNvSpPr txBox="1"/>
          <p:nvPr/>
        </p:nvSpPr>
        <p:spPr>
          <a:xfrm>
            <a:off x="2078355" y="1003300"/>
            <a:ext cx="8205470" cy="2862322"/>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格式和版本信息</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Arial" panose="020B0604020202020204" pitchFamily="34" charset="0"/>
              <a:buChar char="•"/>
            </a:pPr>
            <a:r>
              <a:rPr lang="zh-CN" altLang="en-US" sz="2000" dirty="0">
                <a:solidFill>
                  <a:srgbClr val="000000"/>
                </a:solidFill>
                <a:latin typeface="Times New Roman" panose="02020603050405020304" pitchFamily="18" charset="0"/>
                <a:ea typeface="黑体" panose="02010609060101010101" pitchFamily="49" charset="-122"/>
                <a:sym typeface="+mn-ea"/>
              </a:rPr>
              <a:t>计算出纠错码和格式信息</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根据表</a:t>
            </a:r>
            <a:r>
              <a:rPr lang="en-US" altLang="zh-CN" sz="2000" dirty="0">
                <a:solidFill>
                  <a:srgbClr val="000000"/>
                </a:solidFill>
                <a:latin typeface="Times New Roman" panose="02020603050405020304" pitchFamily="18" charset="0"/>
                <a:ea typeface="黑体" panose="02010609060101010101" pitchFamily="49" charset="-122"/>
                <a:sym typeface="+mn-ea"/>
              </a:rPr>
              <a:t>25</a:t>
            </a:r>
            <a:r>
              <a:rPr lang="zh-CN" altLang="en-US" sz="2000" dirty="0">
                <a:solidFill>
                  <a:srgbClr val="000000"/>
                </a:solidFill>
                <a:latin typeface="Times New Roman" panose="02020603050405020304" pitchFamily="18" charset="0"/>
                <a:ea typeface="黑体" panose="02010609060101010101" pitchFamily="49" charset="-122"/>
                <a:sym typeface="+mn-ea"/>
              </a:rPr>
              <a:t>，可以得到纠错等级</a:t>
            </a:r>
            <a:r>
              <a:rPr lang="en-US" altLang="zh-CN" sz="2000" dirty="0">
                <a:solidFill>
                  <a:srgbClr val="000000"/>
                </a:solidFill>
                <a:latin typeface="Times New Roman" panose="02020603050405020304" pitchFamily="18" charset="0"/>
                <a:ea typeface="黑体" panose="02010609060101010101" pitchFamily="49" charset="-122"/>
                <a:sym typeface="+mn-ea"/>
              </a:rPr>
              <a:t>H</a:t>
            </a:r>
            <a:r>
              <a:rPr lang="zh-CN" altLang="en-US" sz="2000" dirty="0">
                <a:solidFill>
                  <a:srgbClr val="000000"/>
                </a:solidFill>
                <a:latin typeface="Times New Roman" panose="02020603050405020304" pitchFamily="18" charset="0"/>
                <a:ea typeface="黑体" panose="02010609060101010101" pitchFamily="49" charset="-122"/>
                <a:sym typeface="+mn-ea"/>
              </a:rPr>
              <a:t>的二进制指示符为</a:t>
            </a:r>
            <a:r>
              <a:rPr lang="en-US" altLang="zh-CN" sz="2000" dirty="0">
                <a:solidFill>
                  <a:srgbClr val="000000"/>
                </a:solidFill>
                <a:latin typeface="Times New Roman" panose="02020603050405020304" pitchFamily="18" charset="0"/>
                <a:ea typeface="黑体" panose="02010609060101010101" pitchFamily="49" charset="-122"/>
                <a:sym typeface="+mn-ea"/>
              </a:rPr>
              <a:t>10</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假设使用的掩模图形参考为</a:t>
            </a:r>
            <a:r>
              <a:rPr lang="en-US" altLang="zh-CN" sz="2000" dirty="0">
                <a:solidFill>
                  <a:srgbClr val="000000"/>
                </a:solidFill>
                <a:latin typeface="Times New Roman" panose="02020603050405020304" pitchFamily="18" charset="0"/>
                <a:ea typeface="黑体" panose="02010609060101010101" pitchFamily="49" charset="-122"/>
                <a:sym typeface="+mn-ea"/>
              </a:rPr>
              <a:t>011</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将</a:t>
            </a:r>
            <a:r>
              <a:rPr lang="en-US" altLang="zh-CN" sz="2000" dirty="0">
                <a:solidFill>
                  <a:srgbClr val="FF0000"/>
                </a:solidFill>
                <a:latin typeface="Times New Roman" panose="02020603050405020304" pitchFamily="18" charset="0"/>
                <a:ea typeface="黑体" panose="02010609060101010101" pitchFamily="49" charset="-122"/>
                <a:sym typeface="+mn-ea"/>
              </a:rPr>
              <a:t>2</a:t>
            </a:r>
            <a:r>
              <a:rPr lang="zh-CN" altLang="en-US" sz="2000" dirty="0">
                <a:solidFill>
                  <a:srgbClr val="FF0000"/>
                </a:solidFill>
                <a:latin typeface="Times New Roman" panose="02020603050405020304" pitchFamily="18" charset="0"/>
                <a:ea typeface="黑体" panose="02010609060101010101" pitchFamily="49" charset="-122"/>
                <a:sym typeface="+mn-ea"/>
              </a:rPr>
              <a:t>位纠错指示符</a:t>
            </a:r>
            <a:r>
              <a:rPr lang="zh-CN" altLang="en-US" sz="2000" dirty="0">
                <a:solidFill>
                  <a:srgbClr val="000000"/>
                </a:solidFill>
                <a:latin typeface="Times New Roman" panose="02020603050405020304" pitchFamily="18" charset="0"/>
                <a:ea typeface="黑体" panose="02010609060101010101" pitchFamily="49" charset="-122"/>
                <a:sym typeface="+mn-ea"/>
              </a:rPr>
              <a:t>和</a:t>
            </a:r>
            <a:r>
              <a:rPr lang="en-US" altLang="zh-CN" sz="2000" dirty="0">
                <a:solidFill>
                  <a:srgbClr val="000000"/>
                </a:solidFill>
                <a:latin typeface="Times New Roman" panose="02020603050405020304" pitchFamily="18" charset="0"/>
                <a:ea typeface="黑体" panose="02010609060101010101" pitchFamily="49" charset="-122"/>
                <a:sym typeface="+mn-ea"/>
              </a:rPr>
              <a:t>3</a:t>
            </a:r>
            <a:r>
              <a:rPr lang="zh-CN" altLang="en-US" sz="2000" dirty="0">
                <a:solidFill>
                  <a:srgbClr val="FF0000"/>
                </a:solidFill>
                <a:latin typeface="Times New Roman" panose="02020603050405020304" pitchFamily="18" charset="0"/>
                <a:ea typeface="黑体" panose="02010609060101010101" pitchFamily="49" charset="-122"/>
                <a:sym typeface="+mn-ea"/>
              </a:rPr>
              <a:t>位掩模图形参考</a:t>
            </a:r>
            <a:r>
              <a:rPr lang="zh-CN" altLang="en-US" sz="2000" dirty="0">
                <a:solidFill>
                  <a:srgbClr val="000000"/>
                </a:solidFill>
                <a:latin typeface="Times New Roman" panose="02020603050405020304" pitchFamily="18" charset="0"/>
                <a:ea typeface="黑体" panose="02010609060101010101" pitchFamily="49" charset="-122"/>
                <a:sym typeface="+mn-ea"/>
              </a:rPr>
              <a:t>连接在一起，得到</a:t>
            </a:r>
            <a:r>
              <a:rPr lang="en-US" altLang="zh-CN" sz="2000" dirty="0">
                <a:solidFill>
                  <a:srgbClr val="FF0000"/>
                </a:solidFill>
                <a:latin typeface="Times New Roman" panose="02020603050405020304" pitchFamily="18" charset="0"/>
                <a:ea typeface="黑体" panose="02010609060101010101" pitchFamily="49" charset="-122"/>
                <a:sym typeface="+mn-ea"/>
              </a:rPr>
              <a:t>5</a:t>
            </a:r>
            <a:r>
              <a:rPr lang="zh-CN" altLang="en-US" sz="2000" dirty="0">
                <a:solidFill>
                  <a:srgbClr val="FF0000"/>
                </a:solidFill>
                <a:latin typeface="Times New Roman" panose="02020603050405020304" pitchFamily="18" charset="0"/>
                <a:ea typeface="黑体" panose="02010609060101010101" pitchFamily="49" charset="-122"/>
                <a:sym typeface="+mn-ea"/>
              </a:rPr>
              <a:t>位的数据码</a:t>
            </a:r>
            <a:r>
              <a:rPr lang="zh-CN" altLang="en-US" sz="2000" dirty="0">
                <a:solidFill>
                  <a:srgbClr val="000000"/>
                </a:solidFill>
                <a:latin typeface="Times New Roman" panose="02020603050405020304" pitchFamily="18" charset="0"/>
                <a:ea typeface="黑体" panose="02010609060101010101" pitchFamily="49" charset="-122"/>
                <a:sym typeface="+mn-ea"/>
              </a:rPr>
              <a:t>，并使用</a:t>
            </a:r>
            <a:r>
              <a:rPr lang="en-US" altLang="zh-CN" sz="2000" dirty="0">
                <a:solidFill>
                  <a:srgbClr val="FF0000"/>
                </a:solidFill>
                <a:latin typeface="Times New Roman" panose="02020603050405020304" pitchFamily="18" charset="0"/>
                <a:ea typeface="黑体" panose="02010609060101010101" pitchFamily="49" charset="-122"/>
                <a:sym typeface="+mn-ea"/>
              </a:rPr>
              <a:t>BCH(15,5)</a:t>
            </a:r>
            <a:r>
              <a:rPr lang="zh-CN" altLang="en-US" sz="2000" dirty="0">
                <a:solidFill>
                  <a:srgbClr val="000000"/>
                </a:solidFill>
                <a:latin typeface="Times New Roman" panose="02020603050405020304" pitchFamily="18" charset="0"/>
                <a:ea typeface="黑体" panose="02010609060101010101" pitchFamily="49" charset="-122"/>
                <a:sym typeface="+mn-ea"/>
              </a:rPr>
              <a:t>编码计算得到</a:t>
            </a:r>
            <a:r>
              <a:rPr lang="zh-CN" altLang="en-US" sz="2000" dirty="0">
                <a:solidFill>
                  <a:srgbClr val="FF0000"/>
                </a:solidFill>
                <a:latin typeface="Times New Roman" panose="02020603050405020304" pitchFamily="18" charset="0"/>
                <a:ea typeface="黑体" panose="02010609060101010101" pitchFamily="49" charset="-122"/>
                <a:sym typeface="+mn-ea"/>
              </a:rPr>
              <a:t>纠错码</a:t>
            </a:r>
            <a:r>
              <a:rPr lang="zh-CN" altLang="en-US" sz="2000" dirty="0">
                <a:solidFill>
                  <a:srgbClr val="000000"/>
                </a:solidFill>
                <a:latin typeface="Times New Roman" panose="02020603050405020304" pitchFamily="18" charset="0"/>
                <a:ea typeface="黑体" panose="02010609060101010101" pitchFamily="49" charset="-122"/>
                <a:sym typeface="+mn-ea"/>
              </a:rPr>
              <a:t>。其中，</a:t>
            </a:r>
            <a:r>
              <a:rPr lang="en-US" altLang="zh-CN" sz="2000" dirty="0">
                <a:solidFill>
                  <a:srgbClr val="000000"/>
                </a:solidFill>
                <a:latin typeface="Times New Roman" panose="02020603050405020304" pitchFamily="18" charset="0"/>
                <a:ea typeface="黑体" panose="02010609060101010101" pitchFamily="49" charset="-122"/>
                <a:sym typeface="+mn-ea"/>
              </a:rPr>
              <a:t>BCH(15,5)</a:t>
            </a:r>
            <a:r>
              <a:rPr lang="zh-CN" altLang="en-US" sz="2000" dirty="0">
                <a:solidFill>
                  <a:srgbClr val="000000"/>
                </a:solidFill>
                <a:latin typeface="Times New Roman" panose="02020603050405020304" pitchFamily="18" charset="0"/>
                <a:ea typeface="黑体" panose="02010609060101010101" pitchFamily="49" charset="-122"/>
                <a:sym typeface="+mn-ea"/>
              </a:rPr>
              <a:t>表示</a:t>
            </a:r>
            <a:r>
              <a:rPr lang="en-US" altLang="zh-CN" sz="2000" dirty="0">
                <a:solidFill>
                  <a:srgbClr val="000000"/>
                </a:solidFill>
                <a:latin typeface="Times New Roman" panose="02020603050405020304" pitchFamily="18" charset="0"/>
                <a:ea typeface="黑体" panose="02010609060101010101" pitchFamily="49" charset="-122"/>
                <a:sym typeface="+mn-ea"/>
              </a:rPr>
              <a:t>BCH</a:t>
            </a:r>
            <a:r>
              <a:rPr lang="zh-CN" altLang="en-US" sz="2000" dirty="0">
                <a:solidFill>
                  <a:srgbClr val="000000"/>
                </a:solidFill>
                <a:latin typeface="Times New Roman" panose="02020603050405020304" pitchFamily="18" charset="0"/>
                <a:ea typeface="黑体" panose="02010609060101010101" pitchFamily="49" charset="-122"/>
                <a:sym typeface="+mn-ea"/>
              </a:rPr>
              <a:t>码的总长度为</a:t>
            </a:r>
            <a:r>
              <a:rPr lang="en-US" altLang="zh-CN" sz="2000" dirty="0">
                <a:solidFill>
                  <a:srgbClr val="000000"/>
                </a:solidFill>
                <a:latin typeface="Times New Roman" panose="02020603050405020304" pitchFamily="18" charset="0"/>
                <a:ea typeface="黑体" panose="02010609060101010101" pitchFamily="49" charset="-122"/>
                <a:sym typeface="+mn-ea"/>
              </a:rPr>
              <a:t>15</a:t>
            </a:r>
            <a:r>
              <a:rPr lang="zh-CN" altLang="en-US" sz="2000" dirty="0">
                <a:solidFill>
                  <a:srgbClr val="000000"/>
                </a:solidFill>
                <a:latin typeface="Times New Roman" panose="02020603050405020304" pitchFamily="18" charset="0"/>
                <a:ea typeface="黑体" panose="02010609060101010101" pitchFamily="49" charset="-122"/>
                <a:sym typeface="+mn-ea"/>
              </a:rPr>
              <a:t>，数据码为</a:t>
            </a:r>
            <a:r>
              <a:rPr lang="en-US" altLang="zh-CN" sz="2000" dirty="0">
                <a:solidFill>
                  <a:srgbClr val="000000"/>
                </a:solidFill>
                <a:latin typeface="Times New Roman" panose="02020603050405020304" pitchFamily="18" charset="0"/>
                <a:ea typeface="黑体" panose="02010609060101010101" pitchFamily="49" charset="-122"/>
                <a:sym typeface="+mn-ea"/>
              </a:rPr>
              <a:t>5</a:t>
            </a:r>
            <a:r>
              <a:rPr lang="zh-CN" altLang="en-US" sz="2000" dirty="0">
                <a:solidFill>
                  <a:srgbClr val="000000"/>
                </a:solidFill>
                <a:latin typeface="Times New Roman" panose="02020603050405020304" pitchFamily="18" charset="0"/>
                <a:ea typeface="黑体" panose="02010609060101010101" pitchFamily="49" charset="-122"/>
                <a:sym typeface="+mn-ea"/>
              </a:rPr>
              <a:t>位，纠错码为</a:t>
            </a:r>
            <a:r>
              <a:rPr lang="en-US" altLang="zh-CN" sz="2000" dirty="0">
                <a:solidFill>
                  <a:srgbClr val="000000"/>
                </a:solidFill>
                <a:latin typeface="Times New Roman" panose="02020603050405020304" pitchFamily="18" charset="0"/>
                <a:ea typeface="黑体" panose="02010609060101010101" pitchFamily="49" charset="-122"/>
                <a:sym typeface="+mn-ea"/>
              </a:rPr>
              <a:t>10</a:t>
            </a:r>
            <a:r>
              <a:rPr lang="zh-CN" altLang="en-US" sz="2000" dirty="0">
                <a:solidFill>
                  <a:srgbClr val="000000"/>
                </a:solidFill>
                <a:latin typeface="Times New Roman" panose="02020603050405020304" pitchFamily="18" charset="0"/>
                <a:ea typeface="黑体" panose="02010609060101010101" pitchFamily="49" charset="-122"/>
                <a:sym typeface="+mn-ea"/>
              </a:rPr>
              <a:t>位。</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8194" name="Picture 2" descr="表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4608" y="4285884"/>
            <a:ext cx="3802785" cy="19825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格式和版本信息</a:t>
            </a:r>
            <a:r>
              <a:rPr lang="en-US" altLang="zh-CN" sz="2400" dirty="0">
                <a:sym typeface="+mn-ea"/>
              </a:rPr>
              <a:t>-</a:t>
            </a:r>
            <a:r>
              <a:rPr lang="zh-CN" altLang="en-US" sz="2400" dirty="0">
                <a:sym typeface="+mn-ea"/>
              </a:rPr>
              <a:t>格式信息</a:t>
            </a:r>
          </a:p>
        </p:txBody>
      </p:sp>
      <p:sp>
        <p:nvSpPr>
          <p:cNvPr id="10" name="文本框 9"/>
          <p:cNvSpPr txBox="1"/>
          <p:nvPr/>
        </p:nvSpPr>
        <p:spPr>
          <a:xfrm>
            <a:off x="2078355" y="1003301"/>
            <a:ext cx="8205470" cy="5324535"/>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格式和版本信息</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Arial" panose="020B0604020202020204" pitchFamily="34" charset="0"/>
              <a:buChar char="•"/>
            </a:pPr>
            <a:r>
              <a:rPr lang="zh-CN" altLang="en-US" sz="2000" dirty="0">
                <a:solidFill>
                  <a:srgbClr val="000000"/>
                </a:solidFill>
                <a:latin typeface="Times New Roman" panose="02020603050405020304" pitchFamily="18" charset="0"/>
                <a:ea typeface="黑体" panose="02010609060101010101" pitchFamily="49" charset="-122"/>
                <a:sym typeface="+mn-ea"/>
              </a:rPr>
              <a:t>计算出纠错码与格式信息</a:t>
            </a:r>
            <a:endParaRPr lang="en-US" sz="2000" dirty="0">
              <a:solidFill>
                <a:srgbClr val="000000"/>
              </a:solidFill>
              <a:latin typeface="Times New Roman" panose="02020603050405020304" pitchFamily="18" charset="0"/>
              <a:ea typeface="黑体" panose="02010609060101010101" pitchFamily="49" charset="-122"/>
              <a:sym typeface="+mn-ea"/>
            </a:endParaRP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连接</a:t>
            </a:r>
            <a:r>
              <a:rPr lang="en-US" sz="2000" dirty="0">
                <a:solidFill>
                  <a:srgbClr val="FF0000"/>
                </a:solidFill>
                <a:latin typeface="Times New Roman" panose="02020603050405020304" pitchFamily="18" charset="0"/>
                <a:ea typeface="黑体" panose="02010609060101010101" pitchFamily="49" charset="-122"/>
                <a:sym typeface="+mn-ea"/>
              </a:rPr>
              <a:t>2</a:t>
            </a:r>
            <a:r>
              <a:rPr lang="zh-CN" altLang="en-US" sz="2000" dirty="0">
                <a:solidFill>
                  <a:srgbClr val="FF0000"/>
                </a:solidFill>
                <a:latin typeface="Times New Roman" panose="02020603050405020304" pitchFamily="18" charset="0"/>
                <a:ea typeface="黑体" panose="02010609060101010101" pitchFamily="49" charset="-122"/>
                <a:sym typeface="+mn-ea"/>
              </a:rPr>
              <a:t>位纠错指示符 </a:t>
            </a:r>
            <a:r>
              <a:rPr lang="en-US" altLang="zh-CN" sz="2000" dirty="0">
                <a:solidFill>
                  <a:srgbClr val="FF0000"/>
                </a:solidFill>
                <a:latin typeface="Times New Roman" panose="02020603050405020304" pitchFamily="18" charset="0"/>
                <a:ea typeface="黑体" panose="02010609060101010101" pitchFamily="49" charset="-122"/>
                <a:sym typeface="+mn-ea"/>
              </a:rPr>
              <a:t>+ 3</a:t>
            </a:r>
            <a:r>
              <a:rPr lang="zh-CN" altLang="en-US" sz="2000" dirty="0">
                <a:solidFill>
                  <a:srgbClr val="FF0000"/>
                </a:solidFill>
                <a:latin typeface="Times New Roman" panose="02020603050405020304" pitchFamily="18" charset="0"/>
                <a:ea typeface="黑体" panose="02010609060101010101" pitchFamily="49" charset="-122"/>
                <a:sym typeface="+mn-ea"/>
              </a:rPr>
              <a:t>位掩模图形参考</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10 + 011</a:t>
            </a: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由于</a:t>
            </a:r>
            <a:r>
              <a:rPr lang="en-US" altLang="zh-CN" sz="2000" dirty="0">
                <a:solidFill>
                  <a:srgbClr val="000000"/>
                </a:solidFill>
                <a:latin typeface="Times New Roman" panose="02020603050405020304" pitchFamily="18" charset="0"/>
                <a:ea typeface="黑体" panose="02010609060101010101" pitchFamily="49" charset="-122"/>
                <a:sym typeface="+mn-ea"/>
              </a:rPr>
              <a:t>BCH</a:t>
            </a:r>
            <a:r>
              <a:rPr lang="zh-CN" altLang="en-US" sz="2000" dirty="0">
                <a:solidFill>
                  <a:srgbClr val="000000"/>
                </a:solidFill>
                <a:latin typeface="Times New Roman" panose="02020603050405020304" pitchFamily="18" charset="0"/>
                <a:ea typeface="黑体" panose="02010609060101010101" pitchFamily="49" charset="-122"/>
                <a:sym typeface="+mn-ea"/>
              </a:rPr>
              <a:t>码总长度为</a:t>
            </a:r>
            <a:r>
              <a:rPr lang="en-US" altLang="zh-CN" sz="2000" dirty="0">
                <a:solidFill>
                  <a:srgbClr val="000000"/>
                </a:solidFill>
                <a:latin typeface="Times New Roman" panose="02020603050405020304" pitchFamily="18" charset="0"/>
                <a:ea typeface="黑体" panose="02010609060101010101" pitchFamily="49" charset="-122"/>
                <a:sym typeface="+mn-ea"/>
              </a:rPr>
              <a:t>15</a:t>
            </a:r>
            <a:r>
              <a:rPr lang="zh-CN" altLang="en-US" sz="2000" dirty="0">
                <a:solidFill>
                  <a:srgbClr val="000000"/>
                </a:solidFill>
                <a:latin typeface="Times New Roman" panose="02020603050405020304" pitchFamily="18" charset="0"/>
                <a:ea typeface="黑体" panose="02010609060101010101" pitchFamily="49" charset="-122"/>
                <a:sym typeface="+mn-ea"/>
              </a:rPr>
              <a:t>，因此需要将</a:t>
            </a:r>
            <a:r>
              <a:rPr lang="en-US" altLang="zh-CN" sz="2000" dirty="0">
                <a:solidFill>
                  <a:srgbClr val="000000"/>
                </a:solidFill>
                <a:latin typeface="Times New Roman" panose="02020603050405020304" pitchFamily="18" charset="0"/>
                <a:ea typeface="黑体" panose="02010609060101010101" pitchFamily="49" charset="-122"/>
                <a:sym typeface="+mn-ea"/>
              </a:rPr>
              <a:t>10011</a:t>
            </a:r>
            <a:r>
              <a:rPr lang="zh-CN" altLang="en-US" sz="2000" dirty="0">
                <a:solidFill>
                  <a:srgbClr val="000000"/>
                </a:solidFill>
                <a:latin typeface="Times New Roman" panose="02020603050405020304" pitchFamily="18" charset="0"/>
                <a:ea typeface="黑体" panose="02010609060101010101" pitchFamily="49" charset="-122"/>
                <a:sym typeface="+mn-ea"/>
              </a:rPr>
              <a:t>凑够</a:t>
            </a:r>
            <a:r>
              <a:rPr lang="en-US" altLang="zh-CN" sz="2000" dirty="0">
                <a:solidFill>
                  <a:srgbClr val="000000"/>
                </a:solidFill>
                <a:latin typeface="Times New Roman" panose="02020603050405020304" pitchFamily="18" charset="0"/>
                <a:ea typeface="黑体" panose="02010609060101010101" pitchFamily="49" charset="-122"/>
                <a:sym typeface="+mn-ea"/>
              </a:rPr>
              <a:t>15</a:t>
            </a:r>
            <a:r>
              <a:rPr lang="zh-CN" altLang="en-US" sz="2000" dirty="0">
                <a:solidFill>
                  <a:srgbClr val="000000"/>
                </a:solidFill>
                <a:latin typeface="Times New Roman" panose="02020603050405020304" pitchFamily="18" charset="0"/>
                <a:ea typeface="黑体" panose="02010609060101010101" pitchFamily="49" charset="-122"/>
                <a:sym typeface="+mn-ea"/>
              </a:rPr>
              <a:t>位，在数据后方补</a:t>
            </a:r>
            <a:r>
              <a:rPr lang="en-US" altLang="zh-CN" sz="2000" dirty="0">
                <a:solidFill>
                  <a:srgbClr val="000000"/>
                </a:solidFill>
                <a:latin typeface="Times New Roman" panose="02020603050405020304" pitchFamily="18" charset="0"/>
                <a:ea typeface="黑体" panose="02010609060101010101" pitchFamily="49" charset="-122"/>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sz="2000" dirty="0">
                <a:solidFill>
                  <a:srgbClr val="000000"/>
                </a:solidFill>
                <a:latin typeface="Times New Roman" panose="02020603050405020304" pitchFamily="18" charset="0"/>
                <a:ea typeface="黑体" panose="02010609060101010101" pitchFamily="49" charset="-122"/>
                <a:sym typeface="+mn-ea"/>
              </a:rPr>
              <a:t>100110000000000</a:t>
            </a: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计算</a:t>
            </a:r>
            <a:r>
              <a:rPr lang="zh-CN" altLang="en-US" sz="2000" dirty="0">
                <a:solidFill>
                  <a:srgbClr val="FF0000"/>
                </a:solidFill>
                <a:latin typeface="Times New Roman" panose="02020603050405020304" pitchFamily="18" charset="0"/>
                <a:ea typeface="黑体" panose="02010609060101010101" pitchFamily="49" charset="-122"/>
                <a:sym typeface="+mn-ea"/>
              </a:rPr>
              <a:t>纠错码</a:t>
            </a:r>
            <a:r>
              <a:rPr lang="zh-CN" altLang="en-US" sz="2000" dirty="0">
                <a:solidFill>
                  <a:srgbClr val="000000"/>
                </a:solidFill>
                <a:latin typeface="Times New Roman" panose="02020603050405020304" pitchFamily="18" charset="0"/>
                <a:ea typeface="黑体" panose="02010609060101010101" pitchFamily="49" charset="-122"/>
                <a:sym typeface="+mn-ea"/>
              </a:rPr>
              <a:t>，纠错码为数据码除以生成码所得的余数，因此：</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假设</a:t>
            </a:r>
            <a:r>
              <a:rPr lang="en-US" altLang="zh-CN" sz="2000" dirty="0">
                <a:solidFill>
                  <a:srgbClr val="000000"/>
                </a:solidFill>
                <a:latin typeface="Times New Roman" panose="02020603050405020304" pitchFamily="18" charset="0"/>
                <a:ea typeface="黑体" panose="02010609060101010101" pitchFamily="49" charset="-122"/>
                <a:sym typeface="+mn-ea"/>
              </a:rPr>
              <a:t>BCH</a:t>
            </a:r>
            <a:r>
              <a:rPr lang="zh-CN" altLang="en-US" sz="2000" dirty="0">
                <a:solidFill>
                  <a:srgbClr val="000000"/>
                </a:solidFill>
                <a:latin typeface="Times New Roman" panose="02020603050405020304" pitchFamily="18" charset="0"/>
                <a:ea typeface="黑体" panose="02010609060101010101" pitchFamily="49" charset="-122"/>
                <a:sym typeface="+mn-ea"/>
              </a:rPr>
              <a:t>码使用的生成码为：</a:t>
            </a:r>
            <a:r>
              <a:rPr lang="en-US" altLang="zh-CN" sz="2000" dirty="0">
                <a:solidFill>
                  <a:srgbClr val="000000"/>
                </a:solidFill>
                <a:latin typeface="Times New Roman" panose="02020603050405020304" pitchFamily="18" charset="0"/>
                <a:ea typeface="黑体" panose="02010609060101010101" pitchFamily="49" charset="-122"/>
                <a:sym typeface="+mn-ea"/>
              </a:rPr>
              <a:t>10100110111</a:t>
            </a:r>
          </a:p>
          <a:p>
            <a:pPr lvl="2"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纠错码</a:t>
            </a:r>
            <a:r>
              <a:rPr lang="en-US" altLang="zh-CN" sz="2000" dirty="0">
                <a:solidFill>
                  <a:srgbClr val="000000"/>
                </a:solidFill>
                <a:latin typeface="Times New Roman" panose="02020603050405020304" pitchFamily="18" charset="0"/>
                <a:ea typeface="黑体" panose="02010609060101010101" pitchFamily="49" charset="-122"/>
                <a:sym typeface="+mn-ea"/>
              </a:rPr>
              <a:t>=100110000000000 % 10100110111</a:t>
            </a:r>
            <a:r>
              <a:rPr lang="zh-CN" altLang="en-US" sz="2000" dirty="0">
                <a:solidFill>
                  <a:srgbClr val="000000"/>
                </a:solidFill>
                <a:latin typeface="Times New Roman" panose="02020603050405020304" pitchFamily="18" charset="0"/>
                <a:ea typeface="黑体" panose="02010609060101010101" pitchFamily="49" charset="-122"/>
                <a:sym typeface="+mn-ea"/>
              </a:rPr>
              <a:t>，即</a:t>
            </a:r>
            <a:r>
              <a:rPr lang="en-US" altLang="zh-CN" sz="2000" dirty="0">
                <a:solidFill>
                  <a:srgbClr val="000000"/>
                </a:solidFill>
                <a:latin typeface="Times New Roman" panose="02020603050405020304" pitchFamily="18" charset="0"/>
                <a:ea typeface="黑体" panose="02010609060101010101" pitchFamily="49" charset="-122"/>
                <a:sym typeface="+mn-ea"/>
              </a:rPr>
              <a:t>0111000010</a:t>
            </a:r>
          </a:p>
          <a:p>
            <a:pPr marL="914400" lvl="1" indent="-457200" eaLnBrk="0" fontAlgn="base" hangingPunct="0">
              <a:spcBef>
                <a:spcPct val="0"/>
              </a:spcBef>
              <a:spcAft>
                <a:spcPct val="0"/>
              </a:spcAft>
              <a:buFont typeface="+mj-lt"/>
              <a:buAutoNum type="arabicPeriod"/>
            </a:pPr>
            <a:r>
              <a:rPr lang="zh-CN" altLang="en-US" sz="2000" dirty="0">
                <a:solidFill>
                  <a:srgbClr val="000000"/>
                </a:solidFill>
                <a:latin typeface="Times New Roman" panose="02020603050405020304" pitchFamily="18" charset="0"/>
                <a:ea typeface="黑体" panose="02010609060101010101" pitchFamily="49" charset="-122"/>
                <a:sym typeface="+mn-ea"/>
              </a:rPr>
              <a:t>则</a:t>
            </a:r>
            <a:r>
              <a:rPr lang="zh-CN" altLang="en-US" sz="2000" dirty="0">
                <a:solidFill>
                  <a:srgbClr val="FF0000"/>
                </a:solidFill>
                <a:latin typeface="Times New Roman" panose="02020603050405020304" pitchFamily="18" charset="0"/>
                <a:ea typeface="黑体" panose="02010609060101010101" pitchFamily="49" charset="-122"/>
                <a:sym typeface="+mn-ea"/>
              </a:rPr>
              <a:t>最终格式信息码</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sz="2000" dirty="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位纠错指示符</a:t>
            </a:r>
            <a:r>
              <a:rPr lang="en-US" altLang="zh-CN" sz="2000" dirty="0">
                <a:solidFill>
                  <a:srgbClr val="000000"/>
                </a:solidFill>
                <a:latin typeface="Times New Roman" panose="02020603050405020304" pitchFamily="18" charset="0"/>
                <a:ea typeface="黑体" panose="02010609060101010101" pitchFamily="49" charset="-122"/>
                <a:sym typeface="+mn-ea"/>
              </a:rPr>
              <a:t> + 3</a:t>
            </a:r>
            <a:r>
              <a:rPr lang="zh-CN" altLang="en-US" sz="2000" dirty="0">
                <a:solidFill>
                  <a:srgbClr val="000000"/>
                </a:solidFill>
                <a:latin typeface="Times New Roman" panose="02020603050405020304" pitchFamily="18" charset="0"/>
                <a:ea typeface="黑体" panose="02010609060101010101" pitchFamily="49" charset="-122"/>
                <a:sym typeface="+mn-ea"/>
              </a:rPr>
              <a:t>位掩模图形参考 </a:t>
            </a:r>
            <a:r>
              <a:rPr lang="en-US" altLang="zh-CN" sz="2000" dirty="0">
                <a:solidFill>
                  <a:srgbClr val="000000"/>
                </a:solidFill>
                <a:latin typeface="Times New Roman" panose="02020603050405020304" pitchFamily="18" charset="0"/>
                <a:ea typeface="黑体" panose="02010609060101010101" pitchFamily="49" charset="-122"/>
                <a:sym typeface="+mn-ea"/>
              </a:rPr>
              <a:t>+ 10</a:t>
            </a:r>
            <a:r>
              <a:rPr lang="zh-CN" altLang="en-US" sz="2000" dirty="0">
                <a:solidFill>
                  <a:srgbClr val="000000"/>
                </a:solidFill>
                <a:latin typeface="Times New Roman" panose="02020603050405020304" pitchFamily="18" charset="0"/>
                <a:ea typeface="黑体" panose="02010609060101010101" pitchFamily="49" charset="-122"/>
                <a:sym typeface="+mn-ea"/>
              </a:rPr>
              <a:t>位纠错码，即</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en-US" sz="2000" dirty="0">
                <a:solidFill>
                  <a:srgbClr val="000000"/>
                </a:solidFill>
                <a:latin typeface="Times New Roman" panose="02020603050405020304" pitchFamily="18" charset="0"/>
                <a:ea typeface="黑体" panose="02010609060101010101" pitchFamily="49" charset="-122"/>
                <a:sym typeface="+mn-ea"/>
              </a:rPr>
              <a:t>10 </a:t>
            </a:r>
            <a:r>
              <a:rPr lang="en-US" altLang="zh-CN" sz="2000" dirty="0">
                <a:solidFill>
                  <a:srgbClr val="000000"/>
                </a:solidFill>
                <a:latin typeface="Times New Roman" panose="02020603050405020304" pitchFamily="18" charset="0"/>
                <a:ea typeface="黑体" panose="02010609060101010101" pitchFamily="49" charset="-122"/>
                <a:sym typeface="+mn-ea"/>
              </a:rPr>
              <a:t>+ 011 + 0111000010</a:t>
            </a:r>
          </a:p>
          <a:p>
            <a:pPr lvl="2"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Arial" panose="020B0604020202020204" pitchFamily="34" charset="0"/>
              <a:buChar char="•"/>
            </a:pPr>
            <a:r>
              <a:rPr lang="zh-CN" altLang="en-US" sz="2000" dirty="0">
                <a:solidFill>
                  <a:srgbClr val="000000"/>
                </a:solidFill>
                <a:latin typeface="Times New Roman" panose="02020603050405020304" pitchFamily="18" charset="0"/>
                <a:ea typeface="黑体" panose="02010609060101010101" pitchFamily="49" charset="-122"/>
                <a:sym typeface="+mn-ea"/>
              </a:rPr>
              <a:t>格式信息的掩模</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作用：确保纠错等级和掩模图形参考合在一起的结果不全是</a:t>
            </a:r>
            <a:r>
              <a:rPr lang="en-US" altLang="zh-CN" sz="2000" dirty="0">
                <a:solidFill>
                  <a:srgbClr val="000000"/>
                </a:solidFill>
                <a:latin typeface="Times New Roman" panose="02020603050405020304" pitchFamily="18" charset="0"/>
                <a:ea typeface="黑体" panose="02010609060101010101" pitchFamily="49" charset="-122"/>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2"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需要将</a:t>
            </a:r>
            <a:r>
              <a:rPr lang="en-US" altLang="zh-CN" sz="2000" dirty="0">
                <a:solidFill>
                  <a:srgbClr val="000000"/>
                </a:solidFill>
                <a:latin typeface="Times New Roman" panose="02020603050405020304" pitchFamily="18" charset="0"/>
                <a:ea typeface="黑体" panose="02010609060101010101" pitchFamily="49" charset="-122"/>
                <a:sym typeface="+mn-ea"/>
              </a:rPr>
              <a:t>15</a:t>
            </a:r>
            <a:r>
              <a:rPr lang="zh-CN" altLang="en-US" sz="2000" dirty="0">
                <a:solidFill>
                  <a:srgbClr val="000000"/>
                </a:solidFill>
                <a:latin typeface="Times New Roman" panose="02020603050405020304" pitchFamily="18" charset="0"/>
                <a:ea typeface="黑体" panose="02010609060101010101" pitchFamily="49" charset="-122"/>
                <a:sym typeface="+mn-ea"/>
              </a:rPr>
              <a:t>位格式信息码与掩模图形</a:t>
            </a:r>
            <a:r>
              <a:rPr lang="en-US" altLang="zh-CN" sz="2000" dirty="0">
                <a:solidFill>
                  <a:srgbClr val="000000"/>
                </a:solidFill>
                <a:latin typeface="Times New Roman" panose="02020603050405020304" pitchFamily="18" charset="0"/>
                <a:ea typeface="黑体" panose="02010609060101010101" pitchFamily="49" charset="-122"/>
                <a:sym typeface="+mn-ea"/>
              </a:rPr>
              <a:t>101010000010010</a:t>
            </a:r>
            <a:r>
              <a:rPr lang="zh-CN" altLang="en-US" sz="2000" dirty="0">
                <a:solidFill>
                  <a:srgbClr val="000000"/>
                </a:solidFill>
                <a:latin typeface="Times New Roman" panose="02020603050405020304" pitchFamily="18" charset="0"/>
                <a:ea typeface="黑体" panose="02010609060101010101" pitchFamily="49" charset="-122"/>
                <a:sym typeface="+mn-ea"/>
              </a:rPr>
              <a:t>进行异或运算。</a:t>
            </a:r>
            <a:endParaRPr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格式和版本信息</a:t>
            </a:r>
            <a:r>
              <a:rPr lang="en-US" altLang="zh-CN" sz="2400" dirty="0">
                <a:sym typeface="+mn-ea"/>
              </a:rPr>
              <a:t>-</a:t>
            </a:r>
            <a:r>
              <a:rPr lang="zh-CN" altLang="en-US" sz="2400" dirty="0">
                <a:sym typeface="+mn-ea"/>
              </a:rPr>
              <a:t>格式信息</a:t>
            </a:r>
          </a:p>
        </p:txBody>
      </p:sp>
      <p:sp>
        <p:nvSpPr>
          <p:cNvPr id="10" name="文本框 9"/>
          <p:cNvSpPr txBox="1"/>
          <p:nvPr/>
        </p:nvSpPr>
        <p:spPr>
          <a:xfrm>
            <a:off x="2078990" y="950006"/>
            <a:ext cx="8205470" cy="317009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格式和版本信息</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eaLnBrk="0" fontAlgn="base" hangingPunct="0">
              <a:spcBef>
                <a:spcPct val="0"/>
              </a:spcBef>
              <a:spcAft>
                <a:spcPct val="0"/>
              </a:spcAft>
              <a:buFont typeface="Arial" panose="020B0604020202020204" pitchFamily="34" charset="0"/>
              <a:buChar char="•"/>
            </a:pPr>
            <a:r>
              <a:rPr lang="zh-CN" altLang="en-US" sz="2000" dirty="0">
                <a:solidFill>
                  <a:srgbClr val="000000"/>
                </a:solidFill>
                <a:latin typeface="Times New Roman" panose="02020603050405020304" pitchFamily="18" charset="0"/>
                <a:ea typeface="黑体" panose="02010609060101010101" pitchFamily="49" charset="-122"/>
                <a:sym typeface="+mn-ea"/>
              </a:rPr>
              <a:t>格式信息的掩模</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将掩模后的格式信息按照序号填入对应位置，即下图中的蓝色区域中。</a:t>
            </a:r>
          </a:p>
        </p:txBody>
      </p:sp>
      <p:graphicFrame>
        <p:nvGraphicFramePr>
          <p:cNvPr id="3" name="表格 4"/>
          <p:cNvGraphicFramePr>
            <a:graphicFrameLocks noGrp="1"/>
          </p:cNvGraphicFramePr>
          <p:nvPr/>
        </p:nvGraphicFramePr>
        <p:xfrm>
          <a:off x="2915920" y="2057436"/>
          <a:ext cx="6532792" cy="1112520"/>
        </p:xfrm>
        <a:graphic>
          <a:graphicData uri="http://schemas.openxmlformats.org/drawingml/2006/table">
            <a:tbl>
              <a:tblPr bandRow="1">
                <a:tableStyleId>{5C22544A-7EE6-4342-B048-85BDC9FD1C3A}</a:tableStyleId>
              </a:tblPr>
              <a:tblGrid>
                <a:gridCol w="3266396">
                  <a:extLst>
                    <a:ext uri="{9D8B030D-6E8A-4147-A177-3AD203B41FA5}">
                      <a16:colId xmlns:a16="http://schemas.microsoft.com/office/drawing/2014/main" val="20000"/>
                    </a:ext>
                  </a:extLst>
                </a:gridCol>
                <a:gridCol w="3266396">
                  <a:extLst>
                    <a:ext uri="{9D8B030D-6E8A-4147-A177-3AD203B41FA5}">
                      <a16:colId xmlns:a16="http://schemas.microsoft.com/office/drawing/2014/main" val="20001"/>
                    </a:ext>
                  </a:extLst>
                </a:gridCol>
              </a:tblGrid>
              <a:tr h="370840">
                <a:tc>
                  <a:txBody>
                    <a:bodyPr/>
                    <a:lstStyle/>
                    <a:p>
                      <a:pPr algn="ctr"/>
                      <a:r>
                        <a:rPr lang="zh-CN" altLang="en-US" dirty="0"/>
                        <a:t>格式信息码</a:t>
                      </a:r>
                    </a:p>
                  </a:txBody>
                  <a:tcPr/>
                </a:tc>
                <a:tc>
                  <a:txBody>
                    <a:bodyPr/>
                    <a:lstStyle/>
                    <a:p>
                      <a:pPr algn="ctr"/>
                      <a:r>
                        <a:rPr lang="en-US" altLang="zh-CN" dirty="0"/>
                        <a:t>1 0 0 1 1 0 1 1 1 0 0 0 0 1 0</a:t>
                      </a:r>
                      <a:endParaRPr lang="zh-CN" altLang="en-US" dirty="0"/>
                    </a:p>
                  </a:txBody>
                  <a:tcPr/>
                </a:tc>
                <a:extLst>
                  <a:ext uri="{0D108BD9-81ED-4DB2-BD59-A6C34878D82A}">
                    <a16:rowId xmlns:a16="http://schemas.microsoft.com/office/drawing/2014/main" val="10000"/>
                  </a:ext>
                </a:extLst>
              </a:tr>
              <a:tr h="370840">
                <a:tc>
                  <a:txBody>
                    <a:bodyPr/>
                    <a:lstStyle/>
                    <a:p>
                      <a:pPr algn="ctr"/>
                      <a:r>
                        <a:rPr lang="zh-CN" altLang="en-US" dirty="0"/>
                        <a:t>掩模图形</a:t>
                      </a:r>
                    </a:p>
                  </a:txBody>
                  <a:tcPr/>
                </a:tc>
                <a:tc>
                  <a:txBody>
                    <a:bodyPr/>
                    <a:lstStyle/>
                    <a:p>
                      <a:pPr algn="ctr"/>
                      <a:r>
                        <a:rPr lang="en-US" altLang="zh-CN" dirty="0"/>
                        <a:t>1 0 1 0 1 0 0 0 0 0 1 0 0 1 0</a:t>
                      </a:r>
                      <a:endParaRPr lang="zh-CN" altLang="en-US" dirty="0"/>
                    </a:p>
                  </a:txBody>
                  <a:tcPr/>
                </a:tc>
                <a:extLst>
                  <a:ext uri="{0D108BD9-81ED-4DB2-BD59-A6C34878D82A}">
                    <a16:rowId xmlns:a16="http://schemas.microsoft.com/office/drawing/2014/main" val="10001"/>
                  </a:ext>
                </a:extLst>
              </a:tr>
              <a:tr h="370840">
                <a:tc>
                  <a:txBody>
                    <a:bodyPr/>
                    <a:lstStyle/>
                    <a:p>
                      <a:pPr algn="ctr"/>
                      <a:r>
                        <a:rPr lang="zh-CN" altLang="en-US" dirty="0"/>
                        <a:t>异或结果</a:t>
                      </a:r>
                    </a:p>
                  </a:txBody>
                  <a:tcPr/>
                </a:tc>
                <a:tc>
                  <a:txBody>
                    <a:bodyPr/>
                    <a:lstStyle/>
                    <a:p>
                      <a:pPr algn="ctr"/>
                      <a:r>
                        <a:rPr lang="en-US" altLang="zh-CN" dirty="0"/>
                        <a:t>0 0 1 1 0 0 1 1 1 0 1 0 0 0 0</a:t>
                      </a:r>
                      <a:endParaRPr lang="zh-CN" altLang="en-US" dirty="0"/>
                    </a:p>
                  </a:txBody>
                  <a:tcPr/>
                </a:tc>
                <a:extLst>
                  <a:ext uri="{0D108BD9-81ED-4DB2-BD59-A6C34878D82A}">
                    <a16:rowId xmlns:a16="http://schemas.microsoft.com/office/drawing/2014/main" val="10002"/>
                  </a:ext>
                </a:extLst>
              </a:tr>
            </a:tbl>
          </a:graphicData>
        </a:graphic>
      </p:graphicFrame>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8972" y="3880042"/>
            <a:ext cx="3254569" cy="269498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表格 6"/>
          <p:cNvGraphicFramePr>
            <a:graphicFrameLocks noGrp="1"/>
          </p:cNvGraphicFramePr>
          <p:nvPr/>
        </p:nvGraphicFramePr>
        <p:xfrm>
          <a:off x="1676517" y="4952962"/>
          <a:ext cx="5257663" cy="779737"/>
        </p:xfrm>
        <a:graphic>
          <a:graphicData uri="http://schemas.openxmlformats.org/drawingml/2006/table">
            <a:tbl>
              <a:tblPr bandRow="1">
                <a:tableStyleId>{5C22544A-7EE6-4342-B048-85BDC9FD1C3A}</a:tableStyleId>
              </a:tblPr>
              <a:tblGrid>
                <a:gridCol w="1110774">
                  <a:extLst>
                    <a:ext uri="{9D8B030D-6E8A-4147-A177-3AD203B41FA5}">
                      <a16:colId xmlns:a16="http://schemas.microsoft.com/office/drawing/2014/main" val="20000"/>
                    </a:ext>
                  </a:extLst>
                </a:gridCol>
                <a:gridCol w="4146889">
                  <a:extLst>
                    <a:ext uri="{9D8B030D-6E8A-4147-A177-3AD203B41FA5}">
                      <a16:colId xmlns:a16="http://schemas.microsoft.com/office/drawing/2014/main" val="20001"/>
                    </a:ext>
                  </a:extLst>
                </a:gridCol>
              </a:tblGrid>
              <a:tr h="348003">
                <a:tc>
                  <a:txBody>
                    <a:bodyPr/>
                    <a:lstStyle/>
                    <a:p>
                      <a:pPr algn="ctr"/>
                      <a:r>
                        <a:rPr lang="zh-CN" altLang="en-US" dirty="0"/>
                        <a:t>对应位</a:t>
                      </a:r>
                    </a:p>
                  </a:txBody>
                  <a:tcPr/>
                </a:tc>
                <a:tc>
                  <a:txBody>
                    <a:bodyPr/>
                    <a:lstStyle/>
                    <a:p>
                      <a:r>
                        <a:rPr lang="en-US" altLang="zh-CN" dirty="0"/>
                        <a:t>14 13 12 11 10  9  8  7  6  5  4  3  2  1  0</a:t>
                      </a:r>
                      <a:endParaRPr lang="zh-CN" altLang="en-US" dirty="0"/>
                    </a:p>
                  </a:txBody>
                  <a:tcPr/>
                </a:tc>
                <a:extLst>
                  <a:ext uri="{0D108BD9-81ED-4DB2-BD59-A6C34878D82A}">
                    <a16:rowId xmlns:a16="http://schemas.microsoft.com/office/drawing/2014/main" val="10000"/>
                  </a:ext>
                </a:extLst>
              </a:tr>
              <a:tr h="413977">
                <a:tc>
                  <a:txBody>
                    <a:bodyPr/>
                    <a:lstStyle/>
                    <a:p>
                      <a:pPr algn="ctr"/>
                      <a:r>
                        <a:rPr lang="zh-CN" altLang="en-US" dirty="0"/>
                        <a:t>格式信息</a:t>
                      </a:r>
                    </a:p>
                  </a:txBody>
                  <a:tcPr/>
                </a:tc>
                <a:tc>
                  <a:txBody>
                    <a:bodyPr/>
                    <a:lstStyle/>
                    <a:p>
                      <a:r>
                        <a:rPr lang="en-US" altLang="zh-CN" dirty="0"/>
                        <a:t> 0   0   1   1   0   0  1  1  1  0  1  0  0  0  0</a:t>
                      </a:r>
                      <a:endParaRPr lang="zh-CN" altLang="en-US"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格式和版本信息</a:t>
            </a:r>
            <a:r>
              <a:rPr lang="en-US" altLang="zh-CN" sz="2400" dirty="0">
                <a:sym typeface="+mn-ea"/>
              </a:rPr>
              <a:t>-</a:t>
            </a:r>
            <a:r>
              <a:rPr lang="zh-CN" altLang="en-US" sz="2400" dirty="0">
                <a:sym typeface="+mn-ea"/>
              </a:rPr>
              <a:t>版本信息</a:t>
            </a:r>
          </a:p>
        </p:txBody>
      </p:sp>
      <p:sp>
        <p:nvSpPr>
          <p:cNvPr id="10" name="文本框 9"/>
          <p:cNvSpPr txBox="1"/>
          <p:nvPr/>
        </p:nvSpPr>
        <p:spPr>
          <a:xfrm>
            <a:off x="2078990" y="912304"/>
            <a:ext cx="8205470" cy="5632311"/>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格式和版本信息</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algn="just" eaLnBrk="0" fontAlgn="base" hangingPunct="0">
              <a:spcBef>
                <a:spcPct val="0"/>
              </a:spcBef>
              <a:spcAft>
                <a:spcPct val="0"/>
              </a:spcAft>
              <a:buFont typeface="Arial" panose="020B0604020202020204" pitchFamily="34" charset="0"/>
              <a:buChar char="•"/>
            </a:pPr>
            <a:r>
              <a:rPr lang="zh-CN" altLang="zh-CN" sz="2000" kern="100" dirty="0">
                <a:solidFill>
                  <a:srgbClr val="000000"/>
                </a:solidFill>
                <a:latin typeface="黑体"/>
                <a:ea typeface="黑体"/>
                <a:cs typeface="Times New Roman" panose="02020603050405020304" pitchFamily="18" charset="0"/>
              </a:rPr>
              <a:t>计算版本信息</a:t>
            </a:r>
          </a:p>
          <a:p>
            <a:pPr lvl="1" algn="just" eaLnBrk="0" fontAlgn="base" hangingPunct="0">
              <a:spcBef>
                <a:spcPct val="0"/>
              </a:spcBef>
              <a:spcAft>
                <a:spcPct val="0"/>
              </a:spcAft>
            </a:pPr>
            <a:r>
              <a:rPr lang="en-US" altLang="zh-CN" sz="2000" kern="100" dirty="0">
                <a:solidFill>
                  <a:srgbClr val="000000"/>
                </a:solidFill>
                <a:latin typeface="黑体"/>
                <a:ea typeface="黑体"/>
                <a:cs typeface="Times New Roman" panose="02020603050405020304" pitchFamily="18" charset="0"/>
              </a:rPr>
              <a:t>    </a:t>
            </a:r>
            <a:r>
              <a:rPr lang="zh-CN" altLang="zh-CN" sz="2000" kern="100" dirty="0">
                <a:solidFill>
                  <a:srgbClr val="000000"/>
                </a:solidFill>
                <a:latin typeface="黑体"/>
                <a:ea typeface="黑体"/>
                <a:cs typeface="Times New Roman" panose="02020603050405020304" pitchFamily="18" charset="0"/>
              </a:rPr>
              <a:t>使用</a:t>
            </a:r>
            <a:r>
              <a:rPr lang="en-US" altLang="zh-CN" sz="2000" kern="100" dirty="0">
                <a:solidFill>
                  <a:srgbClr val="FF0000"/>
                </a:solidFill>
                <a:latin typeface="黑体"/>
                <a:ea typeface="黑体"/>
                <a:cs typeface="Times New Roman" panose="02020603050405020304" pitchFamily="18" charset="0"/>
              </a:rPr>
              <a:t>BCH(18,6)</a:t>
            </a:r>
            <a:r>
              <a:rPr lang="zh-CN" altLang="zh-CN" sz="2000" kern="100" dirty="0">
                <a:solidFill>
                  <a:srgbClr val="000000"/>
                </a:solidFill>
                <a:latin typeface="黑体"/>
                <a:ea typeface="黑体"/>
                <a:cs typeface="Times New Roman" panose="02020603050405020304" pitchFamily="18" charset="0"/>
              </a:rPr>
              <a:t>编码计算得到纠错码。原理同</a:t>
            </a:r>
            <a:r>
              <a:rPr lang="zh-CN" altLang="en-US" sz="2000" kern="100" dirty="0">
                <a:solidFill>
                  <a:srgbClr val="000000"/>
                </a:solidFill>
                <a:latin typeface="黑体"/>
                <a:ea typeface="黑体"/>
                <a:cs typeface="Times New Roman" panose="02020603050405020304" pitchFamily="18" charset="0"/>
              </a:rPr>
              <a:t>上</a:t>
            </a:r>
            <a:r>
              <a:rPr lang="zh-CN" altLang="zh-CN" sz="2000" kern="100" dirty="0">
                <a:solidFill>
                  <a:srgbClr val="000000"/>
                </a:solidFill>
                <a:latin typeface="黑体"/>
                <a:ea typeface="黑体"/>
                <a:cs typeface="Times New Roman" panose="02020603050405020304" pitchFamily="18" charset="0"/>
              </a:rPr>
              <a:t>，</a:t>
            </a:r>
            <a:r>
              <a:rPr lang="en-US" altLang="zh-CN" sz="2000" kern="100" dirty="0">
                <a:solidFill>
                  <a:srgbClr val="000000"/>
                </a:solidFill>
                <a:latin typeface="黑体"/>
                <a:ea typeface="黑体"/>
                <a:cs typeface="Times New Roman" panose="02020603050405020304" pitchFamily="18" charset="0"/>
              </a:rPr>
              <a:t>BCH(18,6)</a:t>
            </a:r>
            <a:r>
              <a:rPr lang="zh-CN" altLang="zh-CN" sz="2000" kern="100" dirty="0">
                <a:solidFill>
                  <a:srgbClr val="000000"/>
                </a:solidFill>
                <a:latin typeface="黑体"/>
                <a:ea typeface="黑体"/>
                <a:cs typeface="Times New Roman" panose="02020603050405020304" pitchFamily="18" charset="0"/>
              </a:rPr>
              <a:t>表示</a:t>
            </a:r>
            <a:r>
              <a:rPr lang="en-US" altLang="zh-CN" sz="2000" kern="100" dirty="0">
                <a:solidFill>
                  <a:srgbClr val="000000"/>
                </a:solidFill>
                <a:latin typeface="黑体"/>
                <a:ea typeface="黑体"/>
                <a:cs typeface="Times New Roman" panose="02020603050405020304" pitchFamily="18" charset="0"/>
              </a:rPr>
              <a:t>BCH</a:t>
            </a:r>
            <a:r>
              <a:rPr lang="zh-CN" altLang="zh-CN" sz="2000" kern="100" dirty="0">
                <a:solidFill>
                  <a:srgbClr val="000000"/>
                </a:solidFill>
                <a:latin typeface="黑体"/>
                <a:ea typeface="黑体"/>
                <a:cs typeface="Times New Roman" panose="02020603050405020304" pitchFamily="18" charset="0"/>
              </a:rPr>
              <a:t>码总长度为</a:t>
            </a:r>
            <a:r>
              <a:rPr lang="en-US" altLang="zh-CN" sz="2000" kern="100" dirty="0">
                <a:solidFill>
                  <a:srgbClr val="000000"/>
                </a:solidFill>
                <a:latin typeface="黑体"/>
                <a:ea typeface="黑体"/>
                <a:cs typeface="Times New Roman" panose="02020603050405020304" pitchFamily="18" charset="0"/>
              </a:rPr>
              <a:t>18</a:t>
            </a:r>
            <a:r>
              <a:rPr lang="zh-CN" altLang="zh-CN" sz="2000" kern="100" dirty="0">
                <a:solidFill>
                  <a:srgbClr val="000000"/>
                </a:solidFill>
                <a:latin typeface="黑体"/>
                <a:ea typeface="黑体"/>
                <a:cs typeface="Times New Roman" panose="02020603050405020304" pitchFamily="18" charset="0"/>
              </a:rPr>
              <a:t>位，其中数据码为</a:t>
            </a:r>
            <a:r>
              <a:rPr lang="en-US" altLang="zh-CN" sz="2000" kern="100" dirty="0">
                <a:solidFill>
                  <a:srgbClr val="000000"/>
                </a:solidFill>
                <a:latin typeface="黑体"/>
                <a:ea typeface="黑体"/>
                <a:cs typeface="Times New Roman" panose="02020603050405020304" pitchFamily="18" charset="0"/>
              </a:rPr>
              <a:t>6</a:t>
            </a:r>
            <a:r>
              <a:rPr lang="zh-CN" altLang="zh-CN" sz="2000" kern="100" dirty="0">
                <a:solidFill>
                  <a:srgbClr val="000000"/>
                </a:solidFill>
                <a:latin typeface="黑体"/>
                <a:ea typeface="黑体"/>
                <a:cs typeface="Times New Roman" panose="02020603050405020304" pitchFamily="18" charset="0"/>
              </a:rPr>
              <a:t>位，纠错码</a:t>
            </a:r>
            <a:r>
              <a:rPr lang="en-US" altLang="zh-CN" sz="2000" kern="100" dirty="0">
                <a:solidFill>
                  <a:srgbClr val="000000"/>
                </a:solidFill>
                <a:latin typeface="黑体"/>
                <a:ea typeface="黑体"/>
                <a:cs typeface="Times New Roman" panose="02020603050405020304" pitchFamily="18" charset="0"/>
              </a:rPr>
              <a:t>12</a:t>
            </a:r>
            <a:r>
              <a:rPr lang="zh-CN" altLang="zh-CN" sz="2000" kern="100" dirty="0">
                <a:solidFill>
                  <a:srgbClr val="000000"/>
                </a:solidFill>
                <a:latin typeface="黑体"/>
                <a:ea typeface="黑体"/>
                <a:cs typeface="Times New Roman" panose="02020603050405020304" pitchFamily="18" charset="0"/>
              </a:rPr>
              <a:t>位。</a:t>
            </a:r>
          </a:p>
          <a:p>
            <a:pPr lvl="1" algn="just" eaLnBrk="0" fontAlgn="base" hangingPunct="0">
              <a:spcBef>
                <a:spcPct val="0"/>
              </a:spcBef>
              <a:spcAft>
                <a:spcPct val="0"/>
              </a:spcAft>
            </a:pPr>
            <a:r>
              <a:rPr lang="en-US" altLang="zh-CN" sz="2000" kern="100" dirty="0">
                <a:solidFill>
                  <a:srgbClr val="000000"/>
                </a:solidFill>
                <a:latin typeface="黑体"/>
                <a:ea typeface="黑体"/>
                <a:cs typeface="Times New Roman" panose="02020603050405020304" pitchFamily="18" charset="0"/>
              </a:rPr>
              <a:t>    </a:t>
            </a:r>
            <a:r>
              <a:rPr lang="zh-CN" altLang="zh-CN" sz="2000" kern="100" dirty="0">
                <a:solidFill>
                  <a:srgbClr val="000000"/>
                </a:solidFill>
                <a:latin typeface="黑体"/>
                <a:ea typeface="黑体"/>
                <a:cs typeface="Times New Roman" panose="02020603050405020304" pitchFamily="18" charset="0"/>
              </a:rPr>
              <a:t>版本信息的计算和格式信息类似，也是使用</a:t>
            </a:r>
            <a:r>
              <a:rPr lang="zh-CN" altLang="zh-CN" sz="2000" kern="100" dirty="0">
                <a:solidFill>
                  <a:srgbClr val="FF0000"/>
                </a:solidFill>
                <a:latin typeface="黑体"/>
                <a:ea typeface="黑体"/>
                <a:cs typeface="Times New Roman" panose="02020603050405020304" pitchFamily="18" charset="0"/>
              </a:rPr>
              <a:t>长除法</a:t>
            </a:r>
            <a:r>
              <a:rPr lang="zh-CN" altLang="zh-CN" sz="2000" kern="100" dirty="0">
                <a:solidFill>
                  <a:srgbClr val="000000"/>
                </a:solidFill>
                <a:latin typeface="黑体"/>
                <a:ea typeface="黑体"/>
                <a:cs typeface="Times New Roman" panose="02020603050405020304" pitchFamily="18" charset="0"/>
              </a:rPr>
              <a:t>。只是这一次使用的生成码为：</a:t>
            </a:r>
            <a:r>
              <a:rPr lang="en-US" altLang="zh-CN" sz="2000" kern="100" dirty="0">
                <a:solidFill>
                  <a:srgbClr val="000000"/>
                </a:solidFill>
                <a:latin typeface="黑体"/>
                <a:ea typeface="黑体"/>
                <a:cs typeface="Times New Roman" panose="02020603050405020304" pitchFamily="18" charset="0"/>
              </a:rPr>
              <a:t>1111100100101</a:t>
            </a:r>
            <a:r>
              <a:rPr lang="zh-CN" altLang="en-US" sz="2000" kern="100" dirty="0">
                <a:solidFill>
                  <a:srgbClr val="000000"/>
                </a:solidFill>
                <a:latin typeface="黑体"/>
                <a:ea typeface="黑体"/>
                <a:cs typeface="Times New Roman" panose="02020603050405020304" pitchFamily="18" charset="0"/>
              </a:rPr>
              <a:t>，</a:t>
            </a:r>
            <a:r>
              <a:rPr lang="zh-CN" altLang="zh-CN" sz="2000" kern="100" dirty="0">
                <a:solidFill>
                  <a:srgbClr val="000000"/>
                </a:solidFill>
                <a:latin typeface="黑体"/>
                <a:ea typeface="黑体"/>
                <a:cs typeface="Times New Roman" panose="02020603050405020304" pitchFamily="18" charset="0"/>
              </a:rPr>
              <a:t>使用数据码除以生成码，所得余数就是纠错码。</a:t>
            </a:r>
          </a:p>
          <a:p>
            <a:pPr lvl="1" algn="just" eaLnBrk="0" fontAlgn="base" hangingPunct="0">
              <a:spcBef>
                <a:spcPct val="0"/>
              </a:spcBef>
              <a:spcAft>
                <a:spcPct val="0"/>
              </a:spcAft>
            </a:pPr>
            <a:r>
              <a:rPr lang="en-US" altLang="zh-CN" sz="2000" kern="100" dirty="0">
                <a:solidFill>
                  <a:srgbClr val="000000"/>
                </a:solidFill>
                <a:latin typeface="黑体"/>
                <a:ea typeface="黑体"/>
                <a:cs typeface="Times New Roman" panose="02020603050405020304" pitchFamily="18" charset="0"/>
              </a:rPr>
              <a:t>    </a:t>
            </a:r>
          </a:p>
          <a:p>
            <a:pPr lvl="1" algn="just" eaLnBrk="0" fontAlgn="base" hangingPunct="0">
              <a:spcBef>
                <a:spcPct val="0"/>
              </a:spcBef>
              <a:spcAft>
                <a:spcPct val="0"/>
              </a:spcAft>
            </a:pPr>
            <a:r>
              <a:rPr lang="en-US" altLang="zh-CN" sz="2000" kern="100" dirty="0">
                <a:solidFill>
                  <a:srgbClr val="000000"/>
                </a:solidFill>
                <a:latin typeface="黑体"/>
                <a:ea typeface="黑体"/>
                <a:cs typeface="Times New Roman" panose="02020603050405020304" pitchFamily="18" charset="0"/>
              </a:rPr>
              <a:t>    </a:t>
            </a:r>
            <a:r>
              <a:rPr lang="zh-CN" altLang="zh-CN" sz="2000" kern="100" dirty="0">
                <a:solidFill>
                  <a:srgbClr val="000000"/>
                </a:solidFill>
                <a:latin typeface="黑体"/>
                <a:ea typeface="黑体"/>
                <a:cs typeface="Times New Roman" panose="02020603050405020304" pitchFamily="18" charset="0"/>
              </a:rPr>
              <a:t>由于版本</a:t>
            </a:r>
            <a:r>
              <a:rPr lang="en-US" altLang="zh-CN" sz="2000" kern="100" dirty="0">
                <a:solidFill>
                  <a:srgbClr val="000000"/>
                </a:solidFill>
                <a:latin typeface="黑体"/>
                <a:ea typeface="黑体"/>
                <a:cs typeface="Times New Roman" panose="02020603050405020304" pitchFamily="18" charset="0"/>
              </a:rPr>
              <a:t>1</a:t>
            </a:r>
            <a:r>
              <a:rPr lang="zh-CN" altLang="zh-CN" sz="2000" kern="100" dirty="0">
                <a:solidFill>
                  <a:srgbClr val="000000"/>
                </a:solidFill>
                <a:latin typeface="黑体"/>
                <a:ea typeface="黑体"/>
                <a:cs typeface="Times New Roman" panose="02020603050405020304" pitchFamily="18" charset="0"/>
              </a:rPr>
              <a:t>无需绘制版本信息</a:t>
            </a:r>
            <a:r>
              <a:rPr lang="zh-CN" altLang="en-US" sz="2000" kern="100" dirty="0">
                <a:solidFill>
                  <a:srgbClr val="000000"/>
                </a:solidFill>
                <a:latin typeface="黑体"/>
                <a:ea typeface="黑体"/>
                <a:cs typeface="Times New Roman" panose="02020603050405020304" pitchFamily="18" charset="0"/>
              </a:rPr>
              <a:t>，</a:t>
            </a:r>
            <a:r>
              <a:rPr lang="zh-CN" altLang="zh-CN" sz="2000" kern="100" dirty="0">
                <a:solidFill>
                  <a:srgbClr val="000000"/>
                </a:solidFill>
                <a:latin typeface="黑体"/>
                <a:ea typeface="黑体"/>
                <a:cs typeface="Times New Roman" panose="02020603050405020304" pitchFamily="18" charset="0"/>
              </a:rPr>
              <a:t>因此暂时使用版本</a:t>
            </a:r>
            <a:r>
              <a:rPr lang="en-US" altLang="zh-CN" sz="2000" kern="100" dirty="0">
                <a:solidFill>
                  <a:srgbClr val="000000"/>
                </a:solidFill>
                <a:latin typeface="黑体"/>
                <a:ea typeface="黑体"/>
                <a:cs typeface="Times New Roman" panose="02020603050405020304" pitchFamily="18" charset="0"/>
              </a:rPr>
              <a:t>7</a:t>
            </a:r>
            <a:r>
              <a:rPr lang="zh-CN" altLang="zh-CN" sz="2000" kern="100" dirty="0">
                <a:solidFill>
                  <a:srgbClr val="000000"/>
                </a:solidFill>
                <a:latin typeface="黑体"/>
                <a:ea typeface="黑体"/>
                <a:cs typeface="Times New Roman" panose="02020603050405020304" pitchFamily="18" charset="0"/>
              </a:rPr>
              <a:t>来进行版本信息生成的讲解。</a:t>
            </a:r>
            <a:endParaRPr lang="en-US" altLang="zh-CN" sz="2000" kern="100" dirty="0">
              <a:solidFill>
                <a:srgbClr val="000000"/>
              </a:solidFill>
              <a:latin typeface="黑体"/>
              <a:ea typeface="黑体"/>
              <a:cs typeface="Times New Roman" panose="02020603050405020304" pitchFamily="18" charset="0"/>
            </a:endParaRPr>
          </a:p>
          <a:p>
            <a:pPr marL="914400" lvl="1" indent="-457200" algn="just" eaLnBrk="0" fontAlgn="base" hangingPunct="0">
              <a:spcBef>
                <a:spcPct val="0"/>
              </a:spcBef>
              <a:spcAft>
                <a:spcPct val="0"/>
              </a:spcAft>
              <a:buFont typeface="+mj-lt"/>
              <a:buAutoNum type="arabicPeriod"/>
            </a:pPr>
            <a:r>
              <a:rPr lang="zh-CN" altLang="zh-CN" sz="2000" kern="100" dirty="0">
                <a:solidFill>
                  <a:srgbClr val="000000"/>
                </a:solidFill>
                <a:latin typeface="黑体"/>
                <a:ea typeface="黑体"/>
                <a:cs typeface="Times New Roman" panose="02020603050405020304" pitchFamily="18" charset="0"/>
              </a:rPr>
              <a:t>将版本号</a:t>
            </a:r>
            <a:r>
              <a:rPr lang="en-US" altLang="zh-CN" sz="2000" kern="100" dirty="0">
                <a:solidFill>
                  <a:srgbClr val="000000"/>
                </a:solidFill>
                <a:latin typeface="黑体"/>
                <a:ea typeface="黑体"/>
                <a:cs typeface="Times New Roman" panose="02020603050405020304" pitchFamily="18" charset="0"/>
              </a:rPr>
              <a:t>7</a:t>
            </a:r>
            <a:r>
              <a:rPr lang="zh-CN" altLang="zh-CN" sz="2000" kern="100" dirty="0">
                <a:solidFill>
                  <a:srgbClr val="000000"/>
                </a:solidFill>
                <a:latin typeface="黑体"/>
                <a:ea typeface="黑体"/>
                <a:cs typeface="Times New Roman" panose="02020603050405020304" pitchFamily="18" charset="0"/>
              </a:rPr>
              <a:t>转换为</a:t>
            </a:r>
            <a:r>
              <a:rPr lang="en-US" altLang="zh-CN" sz="2000" kern="100" dirty="0">
                <a:solidFill>
                  <a:srgbClr val="000000"/>
                </a:solidFill>
                <a:latin typeface="黑体"/>
                <a:ea typeface="黑体"/>
                <a:cs typeface="Times New Roman" panose="02020603050405020304" pitchFamily="18" charset="0"/>
              </a:rPr>
              <a:t>6</a:t>
            </a:r>
            <a:r>
              <a:rPr lang="zh-CN" altLang="zh-CN" sz="2000" kern="100" dirty="0">
                <a:solidFill>
                  <a:srgbClr val="000000"/>
                </a:solidFill>
                <a:latin typeface="黑体"/>
                <a:ea typeface="黑体"/>
                <a:cs typeface="Times New Roman" panose="02020603050405020304" pitchFamily="18" charset="0"/>
              </a:rPr>
              <a:t>位长度的二进制数据码</a:t>
            </a:r>
          </a:p>
          <a:p>
            <a:pPr lvl="2" algn="just" eaLnBrk="0" fontAlgn="base" hangingPunct="0">
              <a:spcBef>
                <a:spcPct val="0"/>
              </a:spcBef>
              <a:spcAft>
                <a:spcPct val="0"/>
              </a:spcAft>
            </a:pPr>
            <a:r>
              <a:rPr lang="en-US" altLang="zh-CN" sz="2000" kern="100" dirty="0">
                <a:solidFill>
                  <a:srgbClr val="000000"/>
                </a:solidFill>
                <a:latin typeface="黑体"/>
                <a:ea typeface="黑体"/>
                <a:cs typeface="Times New Roman" panose="02020603050405020304" pitchFamily="18" charset="0"/>
              </a:rPr>
              <a:t>7</a:t>
            </a:r>
            <a:r>
              <a:rPr lang="zh-CN" altLang="en-US" sz="2000" kern="100" dirty="0">
                <a:solidFill>
                  <a:srgbClr val="000000"/>
                </a:solidFill>
                <a:latin typeface="黑体"/>
                <a:ea typeface="黑体"/>
                <a:cs typeface="Times New Roman" panose="02020603050405020304" pitchFamily="18" charset="0"/>
              </a:rPr>
              <a:t>：</a:t>
            </a:r>
            <a:r>
              <a:rPr lang="en-US" altLang="zh-CN" sz="2000" kern="100" dirty="0">
                <a:solidFill>
                  <a:srgbClr val="000000"/>
                </a:solidFill>
                <a:latin typeface="黑体"/>
                <a:ea typeface="黑体"/>
                <a:cs typeface="Times New Roman" panose="02020603050405020304" pitchFamily="18" charset="0"/>
              </a:rPr>
              <a:t>000111</a:t>
            </a:r>
            <a:endParaRPr lang="zh-CN" altLang="zh-CN" sz="2000" kern="100" dirty="0">
              <a:solidFill>
                <a:srgbClr val="000000"/>
              </a:solidFill>
              <a:latin typeface="黑体"/>
              <a:ea typeface="黑体"/>
              <a:cs typeface="Times New Roman" panose="02020603050405020304" pitchFamily="18" charset="0"/>
            </a:endParaRPr>
          </a:p>
          <a:p>
            <a:pPr marL="914400" lvl="1" indent="-457200" algn="just" eaLnBrk="0" fontAlgn="base" hangingPunct="0">
              <a:spcBef>
                <a:spcPct val="0"/>
              </a:spcBef>
              <a:spcAft>
                <a:spcPct val="0"/>
              </a:spcAft>
              <a:buFont typeface="+mj-lt"/>
              <a:buAutoNum type="arabicPeriod"/>
            </a:pPr>
            <a:r>
              <a:rPr lang="zh-CN" altLang="zh-CN" sz="2000" kern="100" dirty="0">
                <a:solidFill>
                  <a:srgbClr val="000000"/>
                </a:solidFill>
                <a:latin typeface="黑体"/>
                <a:ea typeface="黑体"/>
                <a:cs typeface="Times New Roman" panose="02020603050405020304" pitchFamily="18" charset="0"/>
              </a:rPr>
              <a:t>由于这里的</a:t>
            </a:r>
            <a:r>
              <a:rPr lang="en-US" altLang="zh-CN" sz="2000" kern="100" dirty="0">
                <a:solidFill>
                  <a:srgbClr val="000000"/>
                </a:solidFill>
                <a:latin typeface="黑体"/>
                <a:ea typeface="黑体"/>
                <a:cs typeface="Times New Roman" panose="02020603050405020304" pitchFamily="18" charset="0"/>
              </a:rPr>
              <a:t>BCH</a:t>
            </a:r>
            <a:r>
              <a:rPr lang="zh-CN" altLang="zh-CN" sz="2000" kern="100" dirty="0">
                <a:solidFill>
                  <a:srgbClr val="000000"/>
                </a:solidFill>
                <a:latin typeface="黑体"/>
                <a:ea typeface="黑体"/>
                <a:cs typeface="Times New Roman" panose="02020603050405020304" pitchFamily="18" charset="0"/>
              </a:rPr>
              <a:t>码总长度为</a:t>
            </a:r>
            <a:r>
              <a:rPr lang="en-US" altLang="zh-CN" sz="2000" kern="100" dirty="0">
                <a:solidFill>
                  <a:srgbClr val="000000"/>
                </a:solidFill>
                <a:latin typeface="黑体"/>
                <a:ea typeface="黑体"/>
                <a:cs typeface="Times New Roman" panose="02020603050405020304" pitchFamily="18" charset="0"/>
              </a:rPr>
              <a:t>18</a:t>
            </a:r>
            <a:r>
              <a:rPr lang="zh-CN" altLang="zh-CN" sz="2000" kern="100" dirty="0">
                <a:solidFill>
                  <a:srgbClr val="000000"/>
                </a:solidFill>
                <a:latin typeface="黑体"/>
                <a:ea typeface="黑体"/>
                <a:cs typeface="Times New Roman" panose="02020603050405020304" pitchFamily="18" charset="0"/>
              </a:rPr>
              <a:t>，需将</a:t>
            </a:r>
            <a:r>
              <a:rPr lang="en-US" altLang="zh-CN" sz="2000" kern="100" dirty="0">
                <a:solidFill>
                  <a:srgbClr val="000000"/>
                </a:solidFill>
                <a:latin typeface="黑体"/>
                <a:ea typeface="黑体"/>
                <a:cs typeface="Times New Roman" panose="02020603050405020304" pitchFamily="18" charset="0"/>
              </a:rPr>
              <a:t>000111</a:t>
            </a:r>
            <a:r>
              <a:rPr lang="zh-CN" altLang="zh-CN" sz="2000" kern="100" dirty="0">
                <a:solidFill>
                  <a:srgbClr val="000000"/>
                </a:solidFill>
                <a:latin typeface="黑体"/>
                <a:ea typeface="黑体"/>
                <a:cs typeface="Times New Roman" panose="02020603050405020304" pitchFamily="18" charset="0"/>
              </a:rPr>
              <a:t>凑够</a:t>
            </a:r>
            <a:r>
              <a:rPr lang="en-US" altLang="zh-CN" sz="2000" kern="100" dirty="0">
                <a:solidFill>
                  <a:srgbClr val="000000"/>
                </a:solidFill>
                <a:latin typeface="黑体"/>
                <a:ea typeface="黑体"/>
                <a:cs typeface="Times New Roman" panose="02020603050405020304" pitchFamily="18" charset="0"/>
              </a:rPr>
              <a:t>18</a:t>
            </a:r>
            <a:r>
              <a:rPr lang="zh-CN" altLang="zh-CN" sz="2000" kern="100" dirty="0">
                <a:solidFill>
                  <a:srgbClr val="000000"/>
                </a:solidFill>
                <a:latin typeface="黑体"/>
                <a:ea typeface="黑体"/>
                <a:cs typeface="Times New Roman" panose="02020603050405020304" pitchFamily="18" charset="0"/>
              </a:rPr>
              <a:t>位，于是在数据后方补</a:t>
            </a:r>
            <a:r>
              <a:rPr lang="en-US" altLang="zh-CN" sz="2000" kern="100" dirty="0">
                <a:solidFill>
                  <a:srgbClr val="000000"/>
                </a:solidFill>
                <a:latin typeface="黑体"/>
                <a:ea typeface="黑体"/>
                <a:cs typeface="Times New Roman" panose="02020603050405020304" pitchFamily="18" charset="0"/>
              </a:rPr>
              <a:t>0</a:t>
            </a:r>
            <a:r>
              <a:rPr lang="zh-CN" altLang="zh-CN" sz="2000" kern="100" dirty="0">
                <a:solidFill>
                  <a:srgbClr val="000000"/>
                </a:solidFill>
                <a:latin typeface="黑体"/>
                <a:ea typeface="黑体"/>
                <a:cs typeface="Times New Roman" panose="02020603050405020304" pitchFamily="18" charset="0"/>
              </a:rPr>
              <a:t>得到数据码</a:t>
            </a:r>
            <a:r>
              <a:rPr lang="zh-CN" altLang="en-US" sz="2000" kern="100" dirty="0">
                <a:solidFill>
                  <a:srgbClr val="000000"/>
                </a:solidFill>
                <a:latin typeface="黑体"/>
                <a:ea typeface="黑体"/>
                <a:cs typeface="Times New Roman" panose="02020603050405020304" pitchFamily="18" charset="0"/>
              </a:rPr>
              <a:t>：</a:t>
            </a:r>
            <a:r>
              <a:rPr lang="en-US" altLang="zh-CN" sz="2000" kern="100" dirty="0">
                <a:solidFill>
                  <a:srgbClr val="000000"/>
                </a:solidFill>
                <a:latin typeface="黑体"/>
                <a:ea typeface="黑体"/>
                <a:cs typeface="Times New Roman" panose="02020603050405020304" pitchFamily="18" charset="0"/>
              </a:rPr>
              <a:t> </a:t>
            </a:r>
          </a:p>
          <a:p>
            <a:pPr lvl="2" algn="just" eaLnBrk="0" fontAlgn="base" hangingPunct="0">
              <a:spcBef>
                <a:spcPct val="0"/>
              </a:spcBef>
              <a:spcAft>
                <a:spcPct val="0"/>
              </a:spcAft>
            </a:pPr>
            <a:r>
              <a:rPr lang="en-US" altLang="zh-CN" sz="2000" kern="100" dirty="0">
                <a:solidFill>
                  <a:srgbClr val="000000"/>
                </a:solidFill>
                <a:latin typeface="黑体"/>
                <a:ea typeface="黑体"/>
                <a:cs typeface="Times New Roman" panose="02020603050405020304" pitchFamily="18" charset="0"/>
              </a:rPr>
              <a:t>000111000000000000</a:t>
            </a:r>
            <a:endParaRPr lang="zh-CN" altLang="zh-CN" sz="2000" kern="100" dirty="0">
              <a:solidFill>
                <a:srgbClr val="000000"/>
              </a:solidFill>
              <a:latin typeface="黑体"/>
              <a:ea typeface="黑体"/>
              <a:cs typeface="Times New Roman" panose="02020603050405020304" pitchFamily="18" charset="0"/>
            </a:endParaRPr>
          </a:p>
          <a:p>
            <a:pPr marL="914400" lvl="1" indent="-457200" algn="just" eaLnBrk="0" fontAlgn="base" hangingPunct="0">
              <a:spcBef>
                <a:spcPct val="0"/>
              </a:spcBef>
              <a:spcAft>
                <a:spcPct val="0"/>
              </a:spcAft>
              <a:buFont typeface="+mj-lt"/>
              <a:buAutoNum type="arabicPeriod"/>
            </a:pPr>
            <a:r>
              <a:rPr lang="zh-CN" altLang="zh-CN" sz="2000" kern="100" dirty="0">
                <a:solidFill>
                  <a:srgbClr val="000000"/>
                </a:solidFill>
                <a:latin typeface="黑体"/>
                <a:ea typeface="黑体"/>
                <a:cs typeface="Times New Roman" panose="02020603050405020304" pitchFamily="18" charset="0"/>
              </a:rPr>
              <a:t>纠错码</a:t>
            </a:r>
            <a:r>
              <a:rPr lang="en-US" altLang="zh-CN" sz="2000" kern="100" dirty="0">
                <a:solidFill>
                  <a:srgbClr val="000000"/>
                </a:solidFill>
                <a:latin typeface="黑体"/>
                <a:ea typeface="黑体"/>
                <a:cs typeface="Times New Roman" panose="02020603050405020304" pitchFamily="18" charset="0"/>
              </a:rPr>
              <a:t>=0011100000000000 % 1111100100101</a:t>
            </a:r>
            <a:endParaRPr lang="zh-CN" altLang="zh-CN" sz="2000" kern="100" dirty="0">
              <a:solidFill>
                <a:srgbClr val="000000"/>
              </a:solidFill>
              <a:latin typeface="黑体"/>
              <a:ea typeface="黑体"/>
              <a:cs typeface="Times New Roman" panose="02020603050405020304" pitchFamily="18" charset="0"/>
            </a:endParaRPr>
          </a:p>
          <a:p>
            <a:pPr lvl="2" algn="just" eaLnBrk="0" fontAlgn="base" hangingPunct="0">
              <a:spcBef>
                <a:spcPct val="0"/>
              </a:spcBef>
              <a:spcAft>
                <a:spcPct val="0"/>
              </a:spcAft>
            </a:pPr>
            <a:r>
              <a:rPr lang="zh-CN" altLang="zh-CN" sz="2000" kern="100" dirty="0">
                <a:solidFill>
                  <a:srgbClr val="000000"/>
                </a:solidFill>
                <a:latin typeface="黑体"/>
                <a:ea typeface="黑体"/>
                <a:cs typeface="Times New Roman" panose="02020603050405020304" pitchFamily="18" charset="0"/>
              </a:rPr>
              <a:t>即为</a:t>
            </a:r>
            <a:r>
              <a:rPr lang="en-US" altLang="zh-CN" sz="2000" kern="100" dirty="0">
                <a:solidFill>
                  <a:srgbClr val="000000"/>
                </a:solidFill>
                <a:latin typeface="黑体"/>
                <a:ea typeface="黑体"/>
                <a:cs typeface="Times New Roman" panose="02020603050405020304" pitchFamily="18" charset="0"/>
              </a:rPr>
              <a:t>110010010100</a:t>
            </a:r>
            <a:endParaRPr lang="zh-CN" altLang="zh-CN" sz="2000" kern="100" dirty="0">
              <a:solidFill>
                <a:srgbClr val="000000"/>
              </a:solidFill>
              <a:latin typeface="黑体"/>
              <a:ea typeface="黑体"/>
              <a:cs typeface="Times New Roman" panose="02020603050405020304" pitchFamily="18" charset="0"/>
            </a:endParaRP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格式和版本信息</a:t>
            </a:r>
            <a:r>
              <a:rPr lang="en-US" altLang="zh-CN" sz="2400" dirty="0">
                <a:sym typeface="+mn-ea"/>
              </a:rPr>
              <a:t>-</a:t>
            </a:r>
            <a:r>
              <a:rPr lang="zh-CN" altLang="en-US" sz="2400" dirty="0">
                <a:sym typeface="+mn-ea"/>
              </a:rPr>
              <a:t>版本信息</a:t>
            </a:r>
          </a:p>
        </p:txBody>
      </p:sp>
      <p:sp>
        <p:nvSpPr>
          <p:cNvPr id="10" name="文本框 9"/>
          <p:cNvSpPr txBox="1"/>
          <p:nvPr/>
        </p:nvSpPr>
        <p:spPr>
          <a:xfrm>
            <a:off x="2078990" y="950006"/>
            <a:ext cx="8205470" cy="317009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格式和版本信息</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342900" indent="-342900" algn="just" eaLnBrk="0" fontAlgn="base" hangingPunct="0">
              <a:spcBef>
                <a:spcPct val="0"/>
              </a:spcBef>
              <a:spcAft>
                <a:spcPct val="0"/>
              </a:spcAft>
              <a:buFont typeface="Arial" panose="020B0604020202020204" pitchFamily="34" charset="0"/>
              <a:buChar char="•"/>
            </a:pPr>
            <a:r>
              <a:rPr lang="zh-CN" altLang="zh-CN" sz="2000" kern="100" dirty="0">
                <a:solidFill>
                  <a:srgbClr val="000000"/>
                </a:solidFill>
                <a:latin typeface="黑体"/>
                <a:ea typeface="黑体"/>
                <a:cs typeface="Times New Roman" panose="02020603050405020304" pitchFamily="18" charset="0"/>
              </a:rPr>
              <a:t>计算版本信息</a:t>
            </a:r>
          </a:p>
          <a:p>
            <a:pPr marL="914400" lvl="1" indent="-457200" algn="just" eaLnBrk="0" fontAlgn="base" hangingPunct="0">
              <a:spcBef>
                <a:spcPct val="0"/>
              </a:spcBef>
              <a:spcAft>
                <a:spcPct val="0"/>
              </a:spcAft>
              <a:buFont typeface="+mj-lt"/>
              <a:buAutoNum type="arabicPeriod" startAt="4"/>
            </a:pPr>
            <a:r>
              <a:rPr lang="en-US" altLang="zh-CN" sz="2000" kern="100" dirty="0">
                <a:solidFill>
                  <a:srgbClr val="000000"/>
                </a:solidFill>
                <a:latin typeface="黑体"/>
                <a:ea typeface="黑体"/>
                <a:cs typeface="Times New Roman" panose="02020603050405020304" pitchFamily="18" charset="0"/>
              </a:rPr>
              <a:t>6</a:t>
            </a:r>
            <a:r>
              <a:rPr lang="zh-CN" altLang="zh-CN" sz="2000" kern="100" dirty="0">
                <a:solidFill>
                  <a:srgbClr val="000000"/>
                </a:solidFill>
                <a:latin typeface="黑体"/>
                <a:ea typeface="黑体"/>
                <a:cs typeface="Times New Roman" panose="02020603050405020304" pitchFamily="18" charset="0"/>
              </a:rPr>
              <a:t>位数据码</a:t>
            </a:r>
            <a:r>
              <a:rPr lang="en-US" altLang="zh-CN" sz="2000" kern="100" dirty="0">
                <a:solidFill>
                  <a:srgbClr val="000000"/>
                </a:solidFill>
                <a:latin typeface="黑体"/>
                <a:ea typeface="黑体"/>
                <a:cs typeface="Times New Roman" panose="02020603050405020304" pitchFamily="18" charset="0"/>
              </a:rPr>
              <a:t> + 12</a:t>
            </a:r>
            <a:r>
              <a:rPr lang="zh-CN" altLang="zh-CN" sz="2000" kern="100" dirty="0">
                <a:solidFill>
                  <a:srgbClr val="000000"/>
                </a:solidFill>
                <a:latin typeface="黑体"/>
                <a:ea typeface="黑体"/>
                <a:cs typeface="Times New Roman" panose="02020603050405020304" pitchFamily="18" charset="0"/>
              </a:rPr>
              <a:t>位纠错码即为最终版本信息码</a:t>
            </a:r>
          </a:p>
          <a:p>
            <a:pPr lvl="2" algn="just" eaLnBrk="0" fontAlgn="base" hangingPunct="0">
              <a:spcBef>
                <a:spcPct val="0"/>
              </a:spcBef>
              <a:spcAft>
                <a:spcPct val="0"/>
              </a:spcAft>
            </a:pPr>
            <a:r>
              <a:rPr lang="en-US" altLang="zh-CN" sz="2000" kern="100" dirty="0">
                <a:solidFill>
                  <a:srgbClr val="000000"/>
                </a:solidFill>
                <a:latin typeface="黑体"/>
                <a:ea typeface="黑体"/>
                <a:cs typeface="Times New Roman" panose="02020603050405020304" pitchFamily="18" charset="0"/>
              </a:rPr>
              <a:t>000111 + 110010010100(0x7c94)</a:t>
            </a:r>
            <a:endParaRPr lang="zh-CN" altLang="zh-CN" sz="2000" kern="100" dirty="0">
              <a:solidFill>
                <a:srgbClr val="000000"/>
              </a:solidFill>
              <a:latin typeface="黑体"/>
              <a:ea typeface="黑体"/>
              <a:cs typeface="Times New Roman" panose="02020603050405020304" pitchFamily="18" charset="0"/>
            </a:endParaRPr>
          </a:p>
          <a:p>
            <a:pPr lvl="2" algn="just" eaLnBrk="0" fontAlgn="base" hangingPunct="0">
              <a:spcBef>
                <a:spcPct val="0"/>
              </a:spcBef>
              <a:spcAft>
                <a:spcPct val="0"/>
              </a:spcAft>
            </a:pPr>
            <a:r>
              <a:rPr lang="zh-CN" altLang="zh-CN" sz="2000" kern="100" dirty="0">
                <a:solidFill>
                  <a:srgbClr val="000000"/>
                </a:solidFill>
                <a:latin typeface="黑体"/>
                <a:ea typeface="黑体"/>
                <a:cs typeface="Times New Roman" panose="02020603050405020304" pitchFamily="18" charset="0"/>
              </a:rPr>
              <a:t>与格式信息不同，版本信息码生成后不再需要单独进行掩模运算。</a:t>
            </a:r>
          </a:p>
          <a:p>
            <a:pPr marL="914400" lvl="1" indent="-457200" algn="just" eaLnBrk="0" fontAlgn="base" hangingPunct="0">
              <a:spcBef>
                <a:spcPct val="0"/>
              </a:spcBef>
              <a:spcAft>
                <a:spcPct val="0"/>
              </a:spcAft>
              <a:buFont typeface="+mj-lt"/>
              <a:buAutoNum type="arabicPeriod" startAt="4"/>
            </a:pPr>
            <a:r>
              <a:rPr lang="zh-CN" altLang="zh-CN" sz="2000" kern="100" dirty="0">
                <a:solidFill>
                  <a:srgbClr val="000000"/>
                </a:solidFill>
                <a:latin typeface="黑体"/>
                <a:ea typeface="黑体"/>
                <a:cs typeface="Times New Roman" panose="02020603050405020304" pitchFamily="18" charset="0"/>
              </a:rPr>
              <a:t>将结果分别填入左下角和右上角的版本信息中，注意</a:t>
            </a:r>
            <a:r>
              <a:rPr lang="zh-CN" altLang="en-US" sz="2000" kern="100" dirty="0">
                <a:solidFill>
                  <a:srgbClr val="000000"/>
                </a:solidFill>
                <a:latin typeface="黑体"/>
                <a:ea typeface="黑体"/>
                <a:cs typeface="Times New Roman" panose="02020603050405020304" pitchFamily="18" charset="0"/>
              </a:rPr>
              <a:t>顺序。</a:t>
            </a:r>
            <a:r>
              <a:rPr lang="zh-CN" altLang="zh-CN" sz="2000" kern="100" dirty="0">
                <a:solidFill>
                  <a:srgbClr val="000000"/>
                </a:solidFill>
                <a:latin typeface="黑体"/>
                <a:ea typeface="黑体"/>
                <a:cs typeface="Times New Roman" panose="02020603050405020304" pitchFamily="18" charset="0"/>
              </a:rPr>
              <a:t>数字是倒着填入的，即末尾数字对应编号</a:t>
            </a:r>
            <a:r>
              <a:rPr lang="en-US" altLang="zh-CN" sz="2000" kern="100" dirty="0">
                <a:solidFill>
                  <a:srgbClr val="000000"/>
                </a:solidFill>
                <a:latin typeface="黑体"/>
                <a:ea typeface="黑体"/>
                <a:cs typeface="Times New Roman" panose="02020603050405020304" pitchFamily="18" charset="0"/>
              </a:rPr>
              <a:t>0</a:t>
            </a:r>
            <a:r>
              <a:rPr lang="zh-CN" altLang="zh-CN" sz="2000" kern="100" dirty="0">
                <a:solidFill>
                  <a:srgbClr val="000000"/>
                </a:solidFill>
                <a:latin typeface="黑体"/>
                <a:ea typeface="黑体"/>
                <a:cs typeface="Times New Roman" panose="02020603050405020304" pitchFamily="18" charset="0"/>
              </a:rPr>
              <a:t>，开头数字对应编号</a:t>
            </a:r>
            <a:r>
              <a:rPr lang="en-US" altLang="zh-CN" sz="2000" kern="100" dirty="0">
                <a:solidFill>
                  <a:srgbClr val="000000"/>
                </a:solidFill>
                <a:latin typeface="黑体"/>
                <a:ea typeface="黑体"/>
                <a:cs typeface="Times New Roman" panose="02020603050405020304" pitchFamily="18" charset="0"/>
              </a:rPr>
              <a:t>17</a:t>
            </a:r>
            <a:r>
              <a:rPr lang="zh-CN" altLang="zh-CN" sz="2000" kern="100" dirty="0">
                <a:solidFill>
                  <a:srgbClr val="000000"/>
                </a:solidFill>
                <a:latin typeface="黑体"/>
                <a:ea typeface="黑体"/>
                <a:cs typeface="Times New Roman" panose="02020603050405020304" pitchFamily="18" charset="0"/>
              </a:rPr>
              <a:t>，并且编号是从</a:t>
            </a:r>
            <a:r>
              <a:rPr lang="en-US" altLang="zh-CN" sz="2000" kern="100" dirty="0">
                <a:solidFill>
                  <a:srgbClr val="000000"/>
                </a:solidFill>
                <a:latin typeface="黑体"/>
                <a:ea typeface="黑体"/>
                <a:cs typeface="Times New Roman" panose="02020603050405020304" pitchFamily="18" charset="0"/>
              </a:rPr>
              <a:t>0</a:t>
            </a:r>
            <a:r>
              <a:rPr lang="zh-CN" altLang="zh-CN" sz="2000" kern="100" dirty="0">
                <a:solidFill>
                  <a:srgbClr val="000000"/>
                </a:solidFill>
                <a:latin typeface="黑体"/>
                <a:ea typeface="黑体"/>
                <a:cs typeface="Times New Roman" panose="02020603050405020304" pitchFamily="18" charset="0"/>
              </a:rPr>
              <a:t>开始的。</a:t>
            </a:r>
          </a:p>
        </p:txBody>
      </p:sp>
      <p:graphicFrame>
        <p:nvGraphicFramePr>
          <p:cNvPr id="3" name="表格 3"/>
          <p:cNvGraphicFramePr>
            <a:graphicFrameLocks noGrp="1"/>
          </p:cNvGraphicFramePr>
          <p:nvPr/>
        </p:nvGraphicFramePr>
        <p:xfrm>
          <a:off x="3133725" y="4257264"/>
          <a:ext cx="6619780" cy="754628"/>
        </p:xfrm>
        <a:graphic>
          <a:graphicData uri="http://schemas.openxmlformats.org/drawingml/2006/table">
            <a:tbl>
              <a:tblPr bandRow="1">
                <a:tableStyleId>{5C22544A-7EE6-4342-B048-85BDC9FD1C3A}</a:tableStyleId>
              </a:tblPr>
              <a:tblGrid>
                <a:gridCol w="1479153">
                  <a:extLst>
                    <a:ext uri="{9D8B030D-6E8A-4147-A177-3AD203B41FA5}">
                      <a16:colId xmlns:a16="http://schemas.microsoft.com/office/drawing/2014/main" val="20000"/>
                    </a:ext>
                  </a:extLst>
                </a:gridCol>
                <a:gridCol w="5140627">
                  <a:extLst>
                    <a:ext uri="{9D8B030D-6E8A-4147-A177-3AD203B41FA5}">
                      <a16:colId xmlns:a16="http://schemas.microsoft.com/office/drawing/2014/main" val="20001"/>
                    </a:ext>
                  </a:extLst>
                </a:gridCol>
              </a:tblGrid>
              <a:tr h="377314">
                <a:tc>
                  <a:txBody>
                    <a:bodyPr/>
                    <a:lstStyle/>
                    <a:p>
                      <a:pPr algn="ctr"/>
                      <a:r>
                        <a:rPr lang="zh-CN" altLang="en-US" dirty="0"/>
                        <a:t>对应位</a:t>
                      </a:r>
                    </a:p>
                  </a:txBody>
                  <a:tcPr/>
                </a:tc>
                <a:tc>
                  <a:txBody>
                    <a:bodyPr/>
                    <a:lstStyle/>
                    <a:p>
                      <a:r>
                        <a:rPr lang="en-US" altLang="zh-CN" dirty="0"/>
                        <a:t>17 16 15 14 13 12 11 10 9  8  7  6  5  4  3  2  1  0</a:t>
                      </a:r>
                      <a:endParaRPr lang="zh-CN" altLang="en-US" dirty="0"/>
                    </a:p>
                  </a:txBody>
                  <a:tcPr/>
                </a:tc>
                <a:extLst>
                  <a:ext uri="{0D108BD9-81ED-4DB2-BD59-A6C34878D82A}">
                    <a16:rowId xmlns:a16="http://schemas.microsoft.com/office/drawing/2014/main" val="10000"/>
                  </a:ext>
                </a:extLst>
              </a:tr>
              <a:tr h="377314">
                <a:tc>
                  <a:txBody>
                    <a:bodyPr/>
                    <a:lstStyle/>
                    <a:p>
                      <a:pPr algn="ctr"/>
                      <a:r>
                        <a:rPr lang="zh-CN" altLang="en-US" dirty="0"/>
                        <a:t>版本信息</a:t>
                      </a:r>
                    </a:p>
                  </a:txBody>
                  <a:tcPr/>
                </a:tc>
                <a:tc>
                  <a:txBody>
                    <a:bodyPr/>
                    <a:lstStyle/>
                    <a:p>
                      <a:r>
                        <a:rPr lang="en-US" altLang="zh-CN" dirty="0"/>
                        <a:t> 0  0   0   1    1   1   1   1  0  0  1  0  0  1  0  1  0  0</a:t>
                      </a:r>
                      <a:endParaRPr lang="zh-CN" altLang="en-US"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的编码</a:t>
            </a:r>
          </a:p>
        </p:txBody>
      </p:sp>
      <p:sp>
        <p:nvSpPr>
          <p:cNvPr id="10" name="文本框 9"/>
          <p:cNvSpPr txBox="1"/>
          <p:nvPr/>
        </p:nvSpPr>
        <p:spPr>
          <a:xfrm>
            <a:off x="2078990" y="950005"/>
            <a:ext cx="8205470" cy="400110"/>
          </a:xfrm>
          <a:prstGeom prst="rect">
            <a:avLst/>
          </a:prstGeom>
          <a:noFill/>
        </p:spPr>
        <p:txBody>
          <a:bodyPr wrap="square" rtlCol="0" anchor="t">
            <a:spAutoFit/>
          </a:bodyPr>
          <a:lstStyle/>
          <a:p>
            <a:pPr eaLnBrk="0" fontAlgn="base" hangingPunct="0">
              <a:spcBef>
                <a:spcPct val="0"/>
              </a:spcBef>
              <a:spcAft>
                <a:spcPct val="0"/>
              </a:spcAft>
            </a:pPr>
            <a:r>
              <a:rPr lang="zh-CN" altLang="en-US" sz="2000" dirty="0">
                <a:solidFill>
                  <a:srgbClr val="002060"/>
                </a:solidFill>
                <a:latin typeface="Times New Roman" panose="02020603050405020304" pitchFamily="18" charset="0"/>
                <a:ea typeface="黑体" panose="02010609060101010101" pitchFamily="49" charset="-122"/>
                <a:sym typeface="+mn-ea"/>
              </a:rPr>
              <a:t>最终结果：</a:t>
            </a:r>
            <a:endParaRPr lang="en-US" altLang="zh-CN" sz="2000" dirty="0">
              <a:solidFill>
                <a:srgbClr val="002060"/>
              </a:solidFill>
              <a:latin typeface="Times New Roman" panose="02020603050405020304" pitchFamily="18" charset="0"/>
              <a:ea typeface="黑体" panose="02010609060101010101" pitchFamily="49" charset="-122"/>
              <a:sym typeface="+mn-ea"/>
            </a:endParaRPr>
          </a:p>
        </p:txBody>
      </p:sp>
      <p:pic>
        <p:nvPicPr>
          <p:cNvPr id="10242" name="Picture 2" descr="在这里插入图片描述"/>
          <p:cNvPicPr>
            <a:picLocks noChangeAspect="1" noChangeArrowheads="1"/>
          </p:cNvPicPr>
          <p:nvPr/>
        </p:nvPicPr>
        <p:blipFill rotWithShape="1">
          <a:blip r:embed="rId2">
            <a:extLst>
              <a:ext uri="{28A0092B-C50C-407E-A947-70E740481C1C}">
                <a14:useLocalDpi xmlns:a14="http://schemas.microsoft.com/office/drawing/2010/main" val="0"/>
              </a:ext>
            </a:extLst>
          </a:blip>
          <a:srcRect r="34167" b="3111"/>
          <a:stretch>
            <a:fillRect/>
          </a:stretch>
        </p:blipFill>
        <p:spPr bwMode="auto">
          <a:xfrm>
            <a:off x="4165423" y="1350115"/>
            <a:ext cx="3596994" cy="3576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的识别</a:t>
            </a:r>
          </a:p>
        </p:txBody>
      </p:sp>
      <p:sp>
        <p:nvSpPr>
          <p:cNvPr id="10" name="文本框 9"/>
          <p:cNvSpPr txBox="1"/>
          <p:nvPr/>
        </p:nvSpPr>
        <p:spPr>
          <a:xfrm>
            <a:off x="2078990" y="950005"/>
            <a:ext cx="8205470" cy="1631216"/>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识别步骤</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marL="914400" lvl="1" indent="-457200" eaLnBrk="0" fontAlgn="base" hangingPunct="0">
              <a:spcBef>
                <a:spcPct val="0"/>
              </a:spcBef>
              <a:spcAft>
                <a:spcPct val="0"/>
              </a:spcAft>
              <a:buFont typeface="+mj-lt"/>
              <a:buAutoNum type="arabicPeriod"/>
            </a:pPr>
            <a:r>
              <a:rPr lang="zh-CN" altLang="en-US" sz="2000" dirty="0">
                <a:solidFill>
                  <a:srgbClr val="FF0000"/>
                </a:solidFill>
                <a:latin typeface="黑体"/>
                <a:ea typeface="黑体"/>
              </a:rPr>
              <a:t>条码定位</a:t>
            </a:r>
            <a:endParaRPr lang="en-US" altLang="zh-CN" sz="2000" dirty="0">
              <a:solidFill>
                <a:srgbClr val="FF0000"/>
              </a:solidFill>
              <a:latin typeface="黑体"/>
              <a:ea typeface="黑体"/>
            </a:endParaRPr>
          </a:p>
          <a:p>
            <a:pPr marL="914400" lvl="1" indent="-457200" eaLnBrk="0" fontAlgn="base" hangingPunct="0">
              <a:spcBef>
                <a:spcPct val="0"/>
              </a:spcBef>
              <a:spcAft>
                <a:spcPct val="0"/>
              </a:spcAft>
              <a:buFont typeface="+mj-lt"/>
              <a:buAutoNum type="arabicPeriod"/>
            </a:pPr>
            <a:r>
              <a:rPr lang="zh-CN" altLang="en-US" sz="2000" dirty="0">
                <a:solidFill>
                  <a:srgbClr val="FF0000"/>
                </a:solidFill>
                <a:latin typeface="黑体"/>
                <a:ea typeface="黑体"/>
              </a:rPr>
              <a:t>条码分割</a:t>
            </a:r>
            <a:endParaRPr lang="en-US" altLang="zh-CN" sz="2000" dirty="0">
              <a:solidFill>
                <a:srgbClr val="FF0000"/>
              </a:solidFill>
              <a:latin typeface="黑体"/>
              <a:ea typeface="黑体"/>
            </a:endParaRPr>
          </a:p>
          <a:p>
            <a:pPr marL="914400" lvl="1" indent="-457200" eaLnBrk="0" fontAlgn="base" hangingPunct="0">
              <a:spcBef>
                <a:spcPct val="0"/>
              </a:spcBef>
              <a:spcAft>
                <a:spcPct val="0"/>
              </a:spcAft>
              <a:buFont typeface="+mj-lt"/>
              <a:buAutoNum type="arabicPeriod"/>
            </a:pPr>
            <a:r>
              <a:rPr lang="zh-CN" altLang="en-US" sz="2000" dirty="0">
                <a:solidFill>
                  <a:srgbClr val="FF0000"/>
                </a:solidFill>
                <a:latin typeface="黑体"/>
                <a:ea typeface="黑体"/>
              </a:rPr>
              <a:t>解码</a:t>
            </a:r>
            <a:endParaRPr lang="en-US" altLang="zh-CN" sz="2000" dirty="0">
              <a:solidFill>
                <a:srgbClr val="000000"/>
              </a:solidFill>
              <a:latin typeface="黑体"/>
              <a:ea typeface="黑体"/>
            </a:endParaRPr>
          </a:p>
        </p:txBody>
      </p:sp>
      <p:pic>
        <p:nvPicPr>
          <p:cNvPr id="4" name="图片 3"/>
          <p:cNvPicPr>
            <a:picLocks noChangeAspect="1"/>
          </p:cNvPicPr>
          <p:nvPr/>
        </p:nvPicPr>
        <p:blipFill>
          <a:blip r:embed="rId2"/>
          <a:stretch>
            <a:fillRect/>
          </a:stretch>
        </p:blipFill>
        <p:spPr>
          <a:xfrm>
            <a:off x="5181624" y="1793305"/>
            <a:ext cx="4155760" cy="4602899"/>
          </a:xfrm>
          <a:prstGeom prst="rect">
            <a:avLst/>
          </a:prstGeom>
        </p:spPr>
      </p:pic>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的识别</a:t>
            </a:r>
            <a:r>
              <a:rPr lang="en-US" altLang="zh-CN" sz="2400" dirty="0">
                <a:sym typeface="+mn-ea"/>
              </a:rPr>
              <a:t>-</a:t>
            </a:r>
            <a:r>
              <a:rPr lang="zh-CN" altLang="en-US" sz="2400" dirty="0">
                <a:sym typeface="+mn-ea"/>
              </a:rPr>
              <a:t>条码定位</a:t>
            </a:r>
          </a:p>
        </p:txBody>
      </p:sp>
      <p:sp>
        <p:nvSpPr>
          <p:cNvPr id="10" name="文本框 9"/>
          <p:cNvSpPr txBox="1"/>
          <p:nvPr/>
        </p:nvSpPr>
        <p:spPr>
          <a:xfrm>
            <a:off x="2078990" y="950005"/>
            <a:ext cx="8205470" cy="1631216"/>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条码定位</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条码的定位就是找到条码符号的图像区域，对有明显条码特征的区域进行定位。然后根据不同条码的定位图形结构特征对不同的条码符号进行下一步的处理。</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2050" name="Picture 2" descr="查看源图像"/>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5786" y="3124208"/>
            <a:ext cx="6080428" cy="29491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的识别</a:t>
            </a:r>
            <a:r>
              <a:rPr lang="en-US" altLang="zh-CN" sz="2400" dirty="0">
                <a:sym typeface="+mn-ea"/>
              </a:rPr>
              <a:t>-</a:t>
            </a:r>
            <a:r>
              <a:rPr lang="zh-CN" altLang="en-US" sz="2400" dirty="0">
                <a:sym typeface="+mn-ea"/>
              </a:rPr>
              <a:t>条码定位</a:t>
            </a:r>
          </a:p>
        </p:txBody>
      </p:sp>
      <p:sp>
        <p:nvSpPr>
          <p:cNvPr id="10" name="文本框 9"/>
          <p:cNvSpPr txBox="1"/>
          <p:nvPr/>
        </p:nvSpPr>
        <p:spPr>
          <a:xfrm>
            <a:off x="2078990" y="950006"/>
            <a:ext cx="8205470" cy="224676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条码定位</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定位采用以下步骤：</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1.</a:t>
            </a:r>
            <a:r>
              <a:rPr lang="zh-CN" altLang="en-US" sz="2000" dirty="0">
                <a:solidFill>
                  <a:srgbClr val="000000"/>
                </a:solidFill>
                <a:latin typeface="Times New Roman" panose="02020603050405020304" pitchFamily="18" charset="0"/>
                <a:ea typeface="黑体" panose="02010609060101010101" pitchFamily="49" charset="-122"/>
                <a:sym typeface="+mn-ea"/>
              </a:rPr>
              <a:t>利用点运算的阈值理论将采集到的图像变为二值图像，即对图像进行二值化处理；</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2.</a:t>
            </a:r>
            <a:r>
              <a:rPr lang="zh-CN" altLang="en-US" sz="2000" dirty="0">
                <a:solidFill>
                  <a:srgbClr val="000000"/>
                </a:solidFill>
                <a:latin typeface="Times New Roman" panose="02020603050405020304" pitchFamily="18" charset="0"/>
                <a:ea typeface="黑体" panose="02010609060101010101" pitchFamily="49" charset="-122"/>
                <a:sym typeface="+mn-ea"/>
              </a:rPr>
              <a:t>得到二值化图像后，对其进行膨胀运算；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3.</a:t>
            </a:r>
            <a:r>
              <a:rPr lang="zh-CN" altLang="en-US" sz="2000" dirty="0">
                <a:solidFill>
                  <a:srgbClr val="000000"/>
                </a:solidFill>
                <a:latin typeface="Times New Roman" panose="02020603050405020304" pitchFamily="18" charset="0"/>
                <a:ea typeface="黑体" panose="02010609060101010101" pitchFamily="49" charset="-122"/>
                <a:sym typeface="+mn-ea"/>
              </a:rPr>
              <a:t>对膨胀后的图像进行边缘检测得到条码区域的轮廓。</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4" name="图片 3"/>
          <p:cNvPicPr>
            <a:picLocks noChangeAspect="1"/>
          </p:cNvPicPr>
          <p:nvPr/>
        </p:nvPicPr>
        <p:blipFill>
          <a:blip r:embed="rId2"/>
          <a:stretch>
            <a:fillRect/>
          </a:stretch>
        </p:blipFill>
        <p:spPr>
          <a:xfrm>
            <a:off x="2004442" y="3612736"/>
            <a:ext cx="8183117" cy="2534004"/>
          </a:xfrm>
          <a:prstGeom prst="rect">
            <a:avLst/>
          </a:prstGeom>
        </p:spPr>
      </p:pic>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的识别</a:t>
            </a:r>
            <a:r>
              <a:rPr lang="en-US" altLang="zh-CN" sz="2400" dirty="0">
                <a:sym typeface="+mn-ea"/>
              </a:rPr>
              <a:t>-</a:t>
            </a:r>
            <a:r>
              <a:rPr lang="zh-CN" altLang="en-US" sz="2400" dirty="0">
                <a:sym typeface="+mn-ea"/>
              </a:rPr>
              <a:t>条码定位</a:t>
            </a:r>
          </a:p>
        </p:txBody>
      </p:sp>
      <p:sp>
        <p:nvSpPr>
          <p:cNvPr id="10" name="文本框 9"/>
          <p:cNvSpPr txBox="1"/>
          <p:nvPr/>
        </p:nvSpPr>
        <p:spPr>
          <a:xfrm>
            <a:off x="2078990" y="950005"/>
            <a:ext cx="8205470" cy="2862322"/>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条码定位</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定位采用以下步骤：</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4.</a:t>
            </a:r>
            <a:r>
              <a:rPr lang="zh-CN" altLang="en-US" sz="2000" dirty="0">
                <a:solidFill>
                  <a:srgbClr val="000000"/>
                </a:solidFill>
                <a:latin typeface="Times New Roman" panose="02020603050405020304" pitchFamily="18" charset="0"/>
                <a:ea typeface="黑体" panose="02010609060101010101" pitchFamily="49" charset="-122"/>
                <a:sym typeface="+mn-ea"/>
              </a:rPr>
              <a:t>确定寻像图形</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5.</a:t>
            </a:r>
            <a:r>
              <a:rPr lang="zh-CN" altLang="en-US" sz="2000" dirty="0">
                <a:solidFill>
                  <a:srgbClr val="000000"/>
                </a:solidFill>
                <a:latin typeface="Times New Roman" panose="02020603050405020304" pitchFamily="18" charset="0"/>
                <a:ea typeface="黑体" panose="02010609060101010101" pitchFamily="49" charset="-122"/>
                <a:sym typeface="+mn-ea"/>
              </a:rPr>
              <a:t>探测图形中心坐标</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6.</a:t>
            </a:r>
            <a:r>
              <a:rPr lang="zh-CN" altLang="en-US" sz="2000" dirty="0">
                <a:solidFill>
                  <a:srgbClr val="000000"/>
                </a:solidFill>
                <a:latin typeface="Times New Roman" panose="02020603050405020304" pitchFamily="18" charset="0"/>
                <a:ea typeface="黑体" panose="02010609060101010101" pitchFamily="49" charset="-122"/>
                <a:sym typeface="+mn-ea"/>
              </a:rPr>
              <a:t>确定两个举例</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7.</a:t>
            </a:r>
            <a:r>
              <a:rPr lang="zh-CN" altLang="en-US" sz="2000" dirty="0">
                <a:solidFill>
                  <a:srgbClr val="000000"/>
                </a:solidFill>
                <a:latin typeface="Times New Roman" panose="02020603050405020304" pitchFamily="18" charset="0"/>
                <a:ea typeface="黑体" panose="02010609060101010101" pitchFamily="49" charset="-122"/>
                <a:sym typeface="+mn-ea"/>
              </a:rPr>
              <a:t>确定版本号</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8.</a:t>
            </a:r>
            <a:r>
              <a:rPr lang="zh-CN" altLang="en-US" sz="2000" dirty="0">
                <a:solidFill>
                  <a:srgbClr val="000000"/>
                </a:solidFill>
                <a:latin typeface="Times New Roman" panose="02020603050405020304" pitchFamily="18" charset="0"/>
                <a:ea typeface="黑体" panose="02010609060101010101" pitchFamily="49" charset="-122"/>
                <a:sym typeface="+mn-ea"/>
              </a:rPr>
              <a:t>构造位图</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9.</a:t>
            </a:r>
            <a:r>
              <a:rPr lang="zh-CN" altLang="en-US" sz="2000" dirty="0">
                <a:solidFill>
                  <a:srgbClr val="000000"/>
                </a:solidFill>
                <a:latin typeface="Times New Roman" panose="02020603050405020304" pitchFamily="18" charset="0"/>
                <a:ea typeface="黑体" panose="02010609060101010101" pitchFamily="49" charset="-122"/>
                <a:sym typeface="+mn-ea"/>
              </a:rPr>
              <a:t>得到纠错等级和掩模图形</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5" name="图片 4"/>
          <p:cNvPicPr>
            <a:picLocks noChangeAspect="1"/>
          </p:cNvPicPr>
          <p:nvPr/>
        </p:nvPicPr>
        <p:blipFill>
          <a:blip r:embed="rId2"/>
          <a:stretch>
            <a:fillRect/>
          </a:stretch>
        </p:blipFill>
        <p:spPr>
          <a:xfrm>
            <a:off x="7467564" y="1676446"/>
            <a:ext cx="1857634" cy="1905266"/>
          </a:xfrm>
          <a:prstGeom prst="rect">
            <a:avLst/>
          </a:prstGeom>
        </p:spPr>
      </p:pic>
      <p:sp>
        <p:nvSpPr>
          <p:cNvPr id="6" name="文本框 5"/>
          <p:cNvSpPr txBox="1"/>
          <p:nvPr/>
        </p:nvSpPr>
        <p:spPr>
          <a:xfrm>
            <a:off x="7541019" y="3663981"/>
            <a:ext cx="1710725" cy="307777"/>
          </a:xfrm>
          <a:prstGeom prst="rect">
            <a:avLst/>
          </a:prstGeom>
          <a:noFill/>
        </p:spPr>
        <p:txBody>
          <a:bodyPr wrap="none" rtlCol="0" anchor="t">
            <a:spAutoFit/>
          </a:bodyPr>
          <a:lstStyle/>
          <a:p>
            <a:pPr eaLnBrk="0" fontAlgn="base" hangingPunct="0">
              <a:spcBef>
                <a:spcPct val="0"/>
              </a:spcBef>
              <a:spcAft>
                <a:spcPct val="0"/>
              </a:spcAft>
            </a:pPr>
            <a:r>
              <a:rPr lang="en-US" altLang="zh-CN" sz="1400" dirty="0">
                <a:solidFill>
                  <a:srgbClr val="000000"/>
                </a:solidFill>
                <a:latin typeface="黑体" panose="02010609060101010101" pitchFamily="49" charset="-122"/>
                <a:ea typeface="黑体" panose="02010609060101010101" pitchFamily="49" charset="-122"/>
                <a:sym typeface="+mn-ea"/>
              </a:rPr>
              <a:t>QR Code</a:t>
            </a:r>
            <a:r>
              <a:rPr lang="zh-CN" altLang="en-US" sz="1400" dirty="0">
                <a:solidFill>
                  <a:srgbClr val="000000"/>
                </a:solidFill>
                <a:latin typeface="黑体" panose="02010609060101010101" pitchFamily="49" charset="-122"/>
                <a:ea typeface="黑体" panose="02010609060101010101" pitchFamily="49" charset="-122"/>
                <a:sym typeface="+mn-ea"/>
              </a:rPr>
              <a:t>的定位图形</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的识别</a:t>
            </a:r>
            <a:r>
              <a:rPr lang="en-US" altLang="zh-CN" sz="2400" dirty="0">
                <a:sym typeface="+mn-ea"/>
              </a:rPr>
              <a:t>-</a:t>
            </a:r>
            <a:r>
              <a:rPr lang="zh-CN" altLang="en-US" sz="2400" dirty="0">
                <a:sym typeface="+mn-ea"/>
              </a:rPr>
              <a:t>条码分割</a:t>
            </a:r>
          </a:p>
        </p:txBody>
      </p:sp>
      <p:sp>
        <p:nvSpPr>
          <p:cNvPr id="10" name="文本框 9"/>
          <p:cNvSpPr txBox="1"/>
          <p:nvPr/>
        </p:nvSpPr>
        <p:spPr>
          <a:xfrm>
            <a:off x="2078990" y="950006"/>
            <a:ext cx="8205470" cy="224676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条码分割</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分割采用以下步骤：</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1.</a:t>
            </a:r>
            <a:r>
              <a:rPr lang="zh-CN" altLang="en-US" sz="2000" dirty="0">
                <a:solidFill>
                  <a:srgbClr val="000000"/>
                </a:solidFill>
                <a:latin typeface="Times New Roman" panose="02020603050405020304" pitchFamily="18" charset="0"/>
                <a:ea typeface="黑体" panose="02010609060101010101" pitchFamily="49" charset="-122"/>
                <a:sym typeface="+mn-ea"/>
              </a:rPr>
              <a:t>将原图像按比例缩小进行分割，计算其特征值；</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2.</a:t>
            </a:r>
            <a:r>
              <a:rPr lang="zh-CN" altLang="en-US" sz="2000" dirty="0">
                <a:solidFill>
                  <a:srgbClr val="000000"/>
                </a:solidFill>
                <a:latin typeface="Times New Roman" panose="02020603050405020304" pitchFamily="18" charset="0"/>
                <a:ea typeface="黑体" panose="02010609060101010101" pitchFamily="49" charset="-122"/>
                <a:sym typeface="+mn-ea"/>
              </a:rPr>
              <a:t>分块继承父块纹理类别，结合其周围纹理类型进行修正；</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3.</a:t>
            </a:r>
            <a:r>
              <a:rPr lang="zh-CN" altLang="en-US" sz="2000" dirty="0">
                <a:solidFill>
                  <a:srgbClr val="000000"/>
                </a:solidFill>
                <a:latin typeface="Times New Roman" panose="02020603050405020304" pitchFamily="18" charset="0"/>
                <a:ea typeface="黑体" panose="02010609060101010101" pitchFamily="49" charset="-122"/>
                <a:sym typeface="+mn-ea"/>
              </a:rPr>
              <a:t>重复步骤二直至图像被划分为</a:t>
            </a:r>
            <a:r>
              <a:rPr lang="en-US" altLang="zh-CN" sz="2000" dirty="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2</a:t>
            </a:r>
            <a:r>
              <a:rPr lang="zh-CN" altLang="en-US" sz="2000" dirty="0">
                <a:solidFill>
                  <a:srgbClr val="000000"/>
                </a:solidFill>
                <a:latin typeface="Times New Roman" panose="02020603050405020304" pitchFamily="18" charset="0"/>
                <a:ea typeface="黑体" panose="02010609060101010101" pitchFamily="49" charset="-122"/>
                <a:sym typeface="+mn-ea"/>
              </a:rPr>
              <a:t>大小，分割结束；</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4.</a:t>
            </a:r>
            <a:r>
              <a:rPr lang="zh-CN" altLang="en-US" sz="2000" dirty="0">
                <a:solidFill>
                  <a:srgbClr val="000000"/>
                </a:solidFill>
                <a:latin typeface="Times New Roman" panose="02020603050405020304" pitchFamily="18" charset="0"/>
                <a:ea typeface="黑体" panose="02010609060101010101" pitchFamily="49" charset="-122"/>
                <a:sym typeface="+mn-ea"/>
              </a:rPr>
              <a:t>分割结束后，图中可能出现的孤立的小区域可作为噪声删除。</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QR</a:t>
            </a:r>
            <a:r>
              <a:rPr lang="zh-CN" altLang="en-US" sz="2400" dirty="0">
                <a:sym typeface="+mn-ea"/>
              </a:rPr>
              <a:t> </a:t>
            </a:r>
            <a:r>
              <a:rPr lang="en-US" altLang="zh-CN" sz="2400" dirty="0">
                <a:sym typeface="+mn-ea"/>
              </a:rPr>
              <a:t>Code</a:t>
            </a:r>
            <a:r>
              <a:rPr lang="zh-CN" altLang="en-US" sz="2400" dirty="0">
                <a:sym typeface="+mn-ea"/>
              </a:rPr>
              <a:t>的识别</a:t>
            </a:r>
            <a:r>
              <a:rPr lang="en-US" altLang="zh-CN" sz="2400" dirty="0">
                <a:sym typeface="+mn-ea"/>
              </a:rPr>
              <a:t>-</a:t>
            </a:r>
            <a:r>
              <a:rPr lang="zh-CN" altLang="en-US" sz="2400" dirty="0">
                <a:sym typeface="+mn-ea"/>
              </a:rPr>
              <a:t>解码</a:t>
            </a:r>
          </a:p>
        </p:txBody>
      </p:sp>
      <p:sp>
        <p:nvSpPr>
          <p:cNvPr id="10" name="文本框 9"/>
          <p:cNvSpPr txBox="1"/>
          <p:nvPr/>
        </p:nvSpPr>
        <p:spPr>
          <a:xfrm>
            <a:off x="2078990" y="950005"/>
            <a:ext cx="8205470" cy="3785652"/>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解码</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得到一幅标准的条码图像后，对该符号进行网络取样，对网格每一个交点上的图像像素取样，并根据阈值确定是深色块还是浅色块。构造一个位图，用二进制的“</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”表示深色像素，“</a:t>
            </a:r>
            <a:r>
              <a:rPr lang="en-US" altLang="zh-CN" sz="2000" dirty="0">
                <a:solidFill>
                  <a:srgbClr val="000000"/>
                </a:solidFill>
                <a:latin typeface="Times New Roman" panose="02020603050405020304" pitchFamily="18" charset="0"/>
                <a:ea typeface="黑体" panose="02010609060101010101" pitchFamily="49" charset="-122"/>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”表示浅色像素，从而得到条码的原始二进制序列值，然后对这些数据进行纠错和译码：</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1.</a:t>
            </a:r>
            <a:r>
              <a:rPr lang="zh-CN" altLang="en-US" sz="2000" dirty="0">
                <a:solidFill>
                  <a:srgbClr val="000000"/>
                </a:solidFill>
                <a:latin typeface="Times New Roman" panose="02020603050405020304" pitchFamily="18" charset="0"/>
                <a:ea typeface="黑体" panose="02010609060101010101" pitchFamily="49" charset="-122"/>
                <a:sym typeface="+mn-ea"/>
              </a:rPr>
              <a:t>异或处理（</a:t>
            </a:r>
            <a:r>
              <a:rPr lang="en-US" altLang="zh-CN" sz="2000" dirty="0">
                <a:solidFill>
                  <a:srgbClr val="000000"/>
                </a:solidFill>
                <a:latin typeface="Times New Roman" panose="02020603050405020304" pitchFamily="18" charset="0"/>
                <a:ea typeface="黑体" panose="02010609060101010101" pitchFamily="49" charset="-122"/>
                <a:sym typeface="+mn-ea"/>
              </a:rPr>
              <a:t>XOR</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2.</a:t>
            </a:r>
            <a:r>
              <a:rPr lang="zh-CN" altLang="en-US" sz="2000" dirty="0">
                <a:solidFill>
                  <a:srgbClr val="000000"/>
                </a:solidFill>
                <a:latin typeface="Times New Roman" panose="02020603050405020304" pitchFamily="18" charset="0"/>
                <a:ea typeface="黑体" panose="02010609060101010101" pitchFamily="49" charset="-122"/>
                <a:sym typeface="+mn-ea"/>
              </a:rPr>
              <a:t>确定符号码字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3.</a:t>
            </a:r>
            <a:r>
              <a:rPr lang="zh-CN" altLang="en-US" sz="2000" dirty="0">
                <a:solidFill>
                  <a:srgbClr val="000000"/>
                </a:solidFill>
                <a:latin typeface="Times New Roman" panose="02020603050405020304" pitchFamily="18" charset="0"/>
                <a:ea typeface="黑体" panose="02010609060101010101" pitchFamily="49" charset="-122"/>
                <a:sym typeface="+mn-ea"/>
              </a:rPr>
              <a:t>重新排列码字序列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4.</a:t>
            </a:r>
            <a:r>
              <a:rPr lang="zh-CN" altLang="en-US" sz="2000" dirty="0">
                <a:solidFill>
                  <a:srgbClr val="000000"/>
                </a:solidFill>
                <a:latin typeface="Times New Roman" panose="02020603050405020304" pitchFamily="18" charset="0"/>
                <a:ea typeface="黑体" panose="02010609060101010101" pitchFamily="49" charset="-122"/>
                <a:sym typeface="+mn-ea"/>
              </a:rPr>
              <a:t>执行错误检测和纠错译码程序</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最后根据条码的逻辑编码规则把这些原始的数据位流转换成数据码字。</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二维码的应用</a:t>
            </a:r>
          </a:p>
        </p:txBody>
      </p:sp>
      <p:sp>
        <p:nvSpPr>
          <p:cNvPr id="10" name="文本框 9"/>
          <p:cNvSpPr txBox="1"/>
          <p:nvPr/>
        </p:nvSpPr>
        <p:spPr>
          <a:xfrm>
            <a:off x="2078990" y="950005"/>
            <a:ext cx="8205470" cy="2862322"/>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食品追溯</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原材料供应商在向食品厂家提供原材料时候进行批次管理，将原材料的原始生产数据制造日期、食用期限、原产地、生产者、遗传基因组合等信息录入到二维码中，并打印带有二维码的标签，粘贴在包装箱上后交给食品厂家。</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此外，消费者购买产品时，需要手机扫码或编辑码号发短信，即可随时查询产品源信息与质量认证等信息，并可及时举报虚假、错误信息。</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101" y="4267179"/>
            <a:ext cx="3603425" cy="2271563"/>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387" y="4247811"/>
            <a:ext cx="2994681" cy="22909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二维码的应用</a:t>
            </a:r>
          </a:p>
        </p:txBody>
      </p:sp>
      <p:sp>
        <p:nvSpPr>
          <p:cNvPr id="10" name="文本框 9"/>
          <p:cNvSpPr txBox="1"/>
          <p:nvPr/>
        </p:nvSpPr>
        <p:spPr>
          <a:xfrm>
            <a:off x="2078990" y="950005"/>
            <a:ext cx="8205470" cy="1631216"/>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餐厅应用</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手机电子菜单：</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通过将餐饮店中的菜品介绍、餐饮文化等信息录入电子菜单中，用户通过扫码获得该手机网站的跳转链接获取商家相关信息。</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87" y="2908483"/>
            <a:ext cx="2060733" cy="3657504"/>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6108" y="2908483"/>
            <a:ext cx="4293254" cy="36492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二维码的应用</a:t>
            </a:r>
          </a:p>
        </p:txBody>
      </p:sp>
      <p:sp>
        <p:nvSpPr>
          <p:cNvPr id="10" name="文本框 9"/>
          <p:cNvSpPr txBox="1"/>
          <p:nvPr/>
        </p:nvSpPr>
        <p:spPr>
          <a:xfrm>
            <a:off x="2078990" y="950006"/>
            <a:ext cx="8205470" cy="132343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景点门票应用</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景点门票、火车票等告别传统的文字纸张模式，采用二维码进行售票、检票等，可以大幅度提高通行效率，并且防止伪票。</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957" y="3025615"/>
            <a:ext cx="7466087" cy="29784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二维码的应用</a:t>
            </a:r>
          </a:p>
        </p:txBody>
      </p:sp>
      <p:sp>
        <p:nvSpPr>
          <p:cNvPr id="10" name="文本框 9"/>
          <p:cNvSpPr txBox="1"/>
          <p:nvPr/>
        </p:nvSpPr>
        <p:spPr>
          <a:xfrm>
            <a:off x="2078990" y="950005"/>
            <a:ext cx="8205470" cy="1631216"/>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车辆管理应用</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行驶证、驾驶证、车辆的年审文件等都印制有二维码，可以将有关车辆上的基本信息都保存在二维码中，信息的数字化便于管理部门的管理网络实施实时监控。</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286100" y="3124209"/>
            <a:ext cx="2902262" cy="3395647"/>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3920" y="3569558"/>
            <a:ext cx="3713314" cy="20900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课堂思政</a:t>
            </a:r>
          </a:p>
        </p:txBody>
      </p:sp>
      <p:sp>
        <p:nvSpPr>
          <p:cNvPr id="10" name="文本框 9"/>
          <p:cNvSpPr txBox="1"/>
          <p:nvPr/>
        </p:nvSpPr>
        <p:spPr>
          <a:xfrm>
            <a:off x="2078990" y="950006"/>
            <a:ext cx="8205470" cy="3477875"/>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课堂思政</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上述举的这些例子，都是二维码真正应用于生活中的。并且随着技术的不断发展、移动设备的快速普及，二维码在生活中得到了越来越广泛的应用。你能想到的还有哪些非常普及的二维码应用方式呢？</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lvl="1" eaLnBrk="0" fontAlgn="base" hangingPunct="0">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古往今来，有许多的科研结果都投入到实际之中，并且获得广泛、实用的良好效果。当代大学生在平时也要坚持解决思想问题和解决实际问题相结合的思想，既要重视道理又要办实事，从而完成自身的全方位发展，并且能够为建设中国现代化社会主义强国作出贡献。</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二维码生成</a:t>
            </a:r>
          </a:p>
        </p:txBody>
      </p:sp>
      <p:sp>
        <p:nvSpPr>
          <p:cNvPr id="10" name="文本框 9"/>
          <p:cNvSpPr txBox="1"/>
          <p:nvPr/>
        </p:nvSpPr>
        <p:spPr>
          <a:xfrm>
            <a:off x="2078990" y="950006"/>
            <a:ext cx="8205470" cy="3170099"/>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二维码的制作</a:t>
            </a: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二维码是由很多</a:t>
            </a:r>
            <a:r>
              <a:rPr lang="en-US" altLang="zh-CN" sz="2000" dirty="0">
                <a:solidFill>
                  <a:srgbClr val="000000"/>
                </a:solidFill>
                <a:latin typeface="Times New Roman" panose="02020603050405020304" pitchFamily="18" charset="0"/>
                <a:ea typeface="黑体" panose="02010609060101010101" pitchFamily="49" charset="-122"/>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组成的数字矩阵。二维条码是用某种特定的几何图形按一定规律在平面（二维方向上）分布的黑白相间的图形记录数据符号信息的；在代码编制上巧妙地利用构成计算机内部逻辑结构基础的“</a:t>
            </a:r>
            <a:r>
              <a:rPr lang="en-US" altLang="zh-CN" sz="2000" dirty="0">
                <a:solidFill>
                  <a:srgbClr val="000000"/>
                </a:solidFill>
                <a:latin typeface="Times New Roman" panose="02020603050405020304" pitchFamily="18" charset="0"/>
                <a:ea typeface="黑体" panose="02010609060101010101" pitchFamily="49" charset="-122"/>
                <a:sym typeface="+mn-ea"/>
              </a:rPr>
              <a:t>0</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1</a:t>
            </a:r>
            <a:r>
              <a:rPr lang="zh-CN" altLang="en-US" sz="2000" dirty="0">
                <a:solidFill>
                  <a:srgbClr val="000000"/>
                </a:solidFill>
                <a:latin typeface="Times New Roman" panose="02020603050405020304" pitchFamily="18" charset="0"/>
                <a:ea typeface="黑体" panose="02010609060101010101" pitchFamily="49" charset="-122"/>
                <a:sym typeface="+mn-ea"/>
              </a:rPr>
              <a:t>”比特流的概念，通过图像输入设备或光电扫描设备自动识读以实现信息自动处理，同时它具有条码技术的一些共性。</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二维码生成器的制作需要一个二维码生成算法，或者一个二维码插件，然后用</a:t>
            </a:r>
            <a:r>
              <a:rPr lang="en-US" altLang="zh-CN" sz="2000" dirty="0">
                <a:solidFill>
                  <a:srgbClr val="000000"/>
                </a:solidFill>
                <a:latin typeface="Times New Roman" panose="02020603050405020304" pitchFamily="18" charset="0"/>
                <a:ea typeface="黑体" panose="02010609060101010101" pitchFamily="49" charset="-122"/>
                <a:sym typeface="+mn-ea"/>
              </a:rPr>
              <a:t>JAVA</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C#</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VB</a:t>
            </a:r>
            <a:r>
              <a:rPr lang="zh-CN" altLang="en-US" sz="2000" dirty="0">
                <a:solidFill>
                  <a:srgbClr val="000000"/>
                </a:solidFill>
                <a:latin typeface="Times New Roman" panose="02020603050405020304" pitchFamily="18" charset="0"/>
                <a:ea typeface="黑体" panose="02010609060101010101" pitchFamily="49" charset="-122"/>
                <a:sym typeface="+mn-ea"/>
              </a:rPr>
              <a:t>等编程语言编写一个调用软件就可以做成二维码生成器了。</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二维码生成</a:t>
            </a:r>
          </a:p>
        </p:txBody>
      </p:sp>
      <p:sp>
        <p:nvSpPr>
          <p:cNvPr id="10" name="文本框 9"/>
          <p:cNvSpPr txBox="1"/>
          <p:nvPr/>
        </p:nvSpPr>
        <p:spPr>
          <a:xfrm>
            <a:off x="108423" y="921652"/>
            <a:ext cx="5144061" cy="5940088"/>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二维码的代码实现</a:t>
            </a:r>
            <a:r>
              <a:rPr lang="en-US" altLang="zh-CN" sz="2000" dirty="0">
                <a:solidFill>
                  <a:srgbClr val="0070C0"/>
                </a:solidFill>
                <a:latin typeface="Times New Roman" panose="02020603050405020304" pitchFamily="18" charset="0"/>
                <a:ea typeface="黑体" panose="02010609060101010101" pitchFamily="49" charset="-122"/>
                <a:sym typeface="+mn-ea"/>
              </a:rPr>
              <a:t>-java</a:t>
            </a:r>
          </a:p>
          <a:p>
            <a:pPr marL="342900" indent="-342900" eaLnBrk="0" fontAlgn="base" hangingPunct="0">
              <a:spcBef>
                <a:spcPct val="0"/>
              </a:spcBef>
              <a:spcAft>
                <a:spcPct val="0"/>
              </a:spcAft>
              <a:buFont typeface="Wingdings" panose="05000000000000000000" pitchFamily="2" charset="2"/>
              <a:buChar char="Ø"/>
            </a:pP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ts val="1200"/>
              </a:spcAft>
            </a:pP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java.awt.Color</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java.awt.Graphics2D;</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java.awt.Image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java.awt.image.BufferedImage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java.io.File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javax.imageio.ImageIO</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import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com.swetake.util.Qrcode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public</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static</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void</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getQrcodeImage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(String content, String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imgPath</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int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width = 235;</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int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height = 235;</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实例化一个对象</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Qrcode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qrcode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new</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Qrcode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编码方式</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qrcode.setQrcodeEncodeMode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('B');</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p:txBody>
      </p:sp>
      <p:sp>
        <p:nvSpPr>
          <p:cNvPr id="3" name="文本框 2">
            <a:extLst>
              <a:ext uri="{FF2B5EF4-FFF2-40B4-BE49-F238E27FC236}">
                <a16:creationId xmlns:a16="http://schemas.microsoft.com/office/drawing/2014/main" id="{405F8A87-4FDD-9D58-CEF3-279A8744B15D}"/>
              </a:ext>
            </a:extLst>
          </p:cNvPr>
          <p:cNvSpPr txBox="1"/>
          <p:nvPr/>
        </p:nvSpPr>
        <p:spPr>
          <a:xfrm>
            <a:off x="5105725" y="921652"/>
            <a:ext cx="5371141" cy="5724644"/>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二维码的代码实现</a:t>
            </a:r>
            <a:r>
              <a:rPr lang="en-US" altLang="zh-CN" sz="2000" dirty="0">
                <a:solidFill>
                  <a:srgbClr val="0070C0"/>
                </a:solidFill>
                <a:latin typeface="Times New Roman" panose="02020603050405020304" pitchFamily="18" charset="0"/>
                <a:ea typeface="黑体" panose="02010609060101010101" pitchFamily="49" charset="-122"/>
                <a:sym typeface="+mn-ea"/>
              </a:rPr>
              <a:t>-java</a:t>
            </a:r>
          </a:p>
          <a:p>
            <a:pPr marL="342900" indent="-342900" eaLnBrk="0" fontAlgn="base" hangingPunct="0">
              <a:spcBef>
                <a:spcPct val="0"/>
              </a:spcBef>
              <a:spcAft>
                <a:spcPct val="0"/>
              </a:spcAft>
              <a:buFont typeface="Wingdings" panose="05000000000000000000" pitchFamily="2" charset="2"/>
              <a:buChar char="Ø"/>
            </a:pP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设置拍错率</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qrcode.setQrcodeErrorCorrect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('M');</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二维码的版本</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qrcode.setQrcodeVersion</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(15);</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绘制二维码</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画板</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BufferedImage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image =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new</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BufferedImage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(width, height,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BufferedImage.</a:t>
            </a:r>
            <a:r>
              <a:rPr lang="en-US" altLang="zh-CN" sz="1400" i="1"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TYPE_INT_RGB</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画笔</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Graphics2D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gs</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image.createGraphics</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设置背景颜色</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白色</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gs.setBackground</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Color.</a:t>
            </a:r>
            <a:r>
              <a:rPr lang="en-US" altLang="zh-CN" sz="1400" i="1"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white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设置二维码的颜色</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gs.setColor</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Color.</a:t>
            </a:r>
            <a:r>
              <a:rPr lang="en-US" altLang="zh-CN" sz="1400" i="1"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black</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二维码生成</a:t>
            </a:r>
          </a:p>
        </p:txBody>
      </p:sp>
      <p:sp>
        <p:nvSpPr>
          <p:cNvPr id="10" name="文本框 9"/>
          <p:cNvSpPr txBox="1"/>
          <p:nvPr/>
        </p:nvSpPr>
        <p:spPr>
          <a:xfrm>
            <a:off x="179306" y="985447"/>
            <a:ext cx="3953215" cy="5570756"/>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二维码的代码实现</a:t>
            </a:r>
            <a:r>
              <a:rPr lang="en-US" altLang="zh-CN" sz="2000" dirty="0">
                <a:solidFill>
                  <a:srgbClr val="0070C0"/>
                </a:solidFill>
                <a:latin typeface="Times New Roman" panose="02020603050405020304" pitchFamily="18" charset="0"/>
                <a:ea typeface="黑体" panose="02010609060101010101" pitchFamily="49" charset="-122"/>
                <a:sym typeface="+mn-ea"/>
              </a:rPr>
              <a:t>-java</a:t>
            </a:r>
          </a:p>
          <a:p>
            <a:pPr marL="342900" indent="-342900" eaLnBrk="0" fontAlgn="base" hangingPunct="0">
              <a:spcBef>
                <a:spcPct val="0"/>
              </a:spcBef>
              <a:spcAft>
                <a:spcPct val="0"/>
              </a:spcAft>
              <a:buFont typeface="Wingdings" panose="05000000000000000000" pitchFamily="2" charset="2"/>
              <a:buChar char="Ø"/>
            </a:pP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创建一个二维码的绘制区域</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gs.clearRect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(0, 0, width, height);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byte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codeOut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try</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codeOut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content.getBytes</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("utf-8");</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boolean</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code =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qrcode.calQrcode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codeOut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for</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int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0;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&lt;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code.length</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for</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int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j = 0; j &lt;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code.length</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j++</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if</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(code[j][</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gs.fillRect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(j * 3 + 2,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3 + 2, 3, 3);</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p:txBody>
      </p:sp>
      <p:sp>
        <p:nvSpPr>
          <p:cNvPr id="3" name="文本框 2">
            <a:extLst>
              <a:ext uri="{FF2B5EF4-FFF2-40B4-BE49-F238E27FC236}">
                <a16:creationId xmlns:a16="http://schemas.microsoft.com/office/drawing/2014/main" id="{7EA89FD0-F182-88F8-399C-79A3F13DFA67}"/>
              </a:ext>
            </a:extLst>
          </p:cNvPr>
          <p:cNvSpPr txBox="1"/>
          <p:nvPr/>
        </p:nvSpPr>
        <p:spPr>
          <a:xfrm>
            <a:off x="3312367" y="1028141"/>
            <a:ext cx="4931410" cy="4247317"/>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二维码的代码实现</a:t>
            </a:r>
            <a:r>
              <a:rPr lang="en-US" altLang="zh-CN" sz="2000" dirty="0">
                <a:solidFill>
                  <a:srgbClr val="0070C0"/>
                </a:solidFill>
                <a:latin typeface="Times New Roman" panose="02020603050405020304" pitchFamily="18" charset="0"/>
                <a:ea typeface="黑体" panose="02010609060101010101" pitchFamily="49" charset="-122"/>
                <a:sym typeface="+mn-ea"/>
              </a:rPr>
              <a:t>-java</a:t>
            </a:r>
          </a:p>
          <a:p>
            <a:pPr marL="342900" indent="-342900" eaLnBrk="0" fontAlgn="base" hangingPunct="0">
              <a:spcBef>
                <a:spcPct val="0"/>
              </a:spcBef>
              <a:spcAft>
                <a:spcPct val="0"/>
              </a:spcAft>
              <a:buFont typeface="Wingdings" panose="05000000000000000000" pitchFamily="2" charset="2"/>
              <a:buChar char="Ø"/>
            </a:pP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加载</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logo  D:/111.png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这个你需要改成你自己的</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File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file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new</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File("D:/111.png");</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Image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srcImage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ImageIO.</a:t>
            </a:r>
            <a:r>
              <a:rPr lang="en-US" altLang="zh-CN" sz="1400" i="1"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read</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(file);</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int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imgWidth</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srcImage.getWidth</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null</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int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imgHeith</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srcImage.getHeight</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null</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gs.drawImage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srcImage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83, 83,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imgWidth</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imgHeith</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null</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释放资源</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gs.dispose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image.flush</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p:txBody>
      </p:sp>
      <p:sp>
        <p:nvSpPr>
          <p:cNvPr id="4" name="文本框 3">
            <a:extLst>
              <a:ext uri="{FF2B5EF4-FFF2-40B4-BE49-F238E27FC236}">
                <a16:creationId xmlns:a16="http://schemas.microsoft.com/office/drawing/2014/main" id="{C5D7DA3A-6246-A309-CB78-58CB98F1D803}"/>
              </a:ext>
            </a:extLst>
          </p:cNvPr>
          <p:cNvSpPr txBox="1"/>
          <p:nvPr/>
        </p:nvSpPr>
        <p:spPr>
          <a:xfrm>
            <a:off x="7909959" y="985447"/>
            <a:ext cx="4187698" cy="5047536"/>
          </a:xfrm>
          <a:prstGeom prst="rect">
            <a:avLst/>
          </a:prstGeom>
          <a:noFill/>
        </p:spPr>
        <p:txBody>
          <a:bodyPr wrap="square" rtlCol="0" anchor="t">
            <a:spAutoFit/>
          </a:bodyPr>
          <a:lstStyle/>
          <a:p>
            <a:pPr marL="342900" indent="-342900" eaLnBrk="0" fontAlgn="base" hangingPunct="0">
              <a:spcBef>
                <a:spcPct val="0"/>
              </a:spcBef>
              <a:spcAft>
                <a:spcPct val="0"/>
              </a:spcAft>
              <a:buFont typeface="Wingdings" panose="05000000000000000000" pitchFamily="2" charset="2"/>
              <a:buChar char="Ø"/>
            </a:pPr>
            <a:r>
              <a:rPr lang="zh-CN" altLang="en-US" sz="2000" dirty="0">
                <a:solidFill>
                  <a:srgbClr val="0070C0"/>
                </a:solidFill>
                <a:latin typeface="Times New Roman" panose="02020603050405020304" pitchFamily="18" charset="0"/>
                <a:ea typeface="黑体" panose="02010609060101010101" pitchFamily="49" charset="-122"/>
                <a:sym typeface="+mn-ea"/>
              </a:rPr>
              <a:t>二维码的代码实现</a:t>
            </a:r>
            <a:r>
              <a:rPr lang="en-US" altLang="zh-CN" sz="2000" dirty="0">
                <a:solidFill>
                  <a:srgbClr val="0070C0"/>
                </a:solidFill>
                <a:latin typeface="Times New Roman" panose="02020603050405020304" pitchFamily="18" charset="0"/>
                <a:ea typeface="黑体" panose="02010609060101010101" pitchFamily="49" charset="-122"/>
                <a:sym typeface="+mn-ea"/>
              </a:rPr>
              <a:t>-java</a:t>
            </a:r>
          </a:p>
          <a:p>
            <a:pPr marL="342900" indent="-342900" eaLnBrk="0" fontAlgn="base" hangingPunct="0">
              <a:spcBef>
                <a:spcPct val="0"/>
              </a:spcBef>
              <a:spcAft>
                <a:spcPct val="0"/>
              </a:spcAft>
              <a:buFont typeface="Wingdings" panose="05000000000000000000" pitchFamily="2" charset="2"/>
              <a:buChar char="Ø"/>
            </a:pPr>
            <a:endParaRPr lang="en-US" altLang="zh-CN" sz="2000" dirty="0">
              <a:solidFill>
                <a:srgbClr val="0070C0"/>
              </a:solidFill>
              <a:latin typeface="Times New Roman" panose="02020603050405020304" pitchFamily="18" charset="0"/>
              <a:ea typeface="黑体" panose="02010609060101010101" pitchFamily="49" charset="-122"/>
              <a:sym typeface="+mn-ea"/>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写入指定路径</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ImageIO.write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(image,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png</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new</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File(</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imgPath</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System.out.println</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r>
              <a:rPr lang="zh-CN"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二维码生成成功了！</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catch</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(Exception e)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TODO</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Auto-generated catch block</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e.printStackTrace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p>
          <a:p>
            <a:pPr eaLnBrk="0" fontAlgn="base" hangingPunct="0">
              <a:spcBef>
                <a:spcPct val="0"/>
              </a:spcBef>
              <a:spcAft>
                <a:spcPts val="1200"/>
              </a:spcAft>
            </a:pPr>
            <a:r>
              <a:rPr lang="en-US" altLang="zh-CN"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public</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static</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b="1" dirty="0">
                <a:solidFill>
                  <a:srgbClr val="4D4D4D"/>
                </a:solidFill>
                <a:latin typeface="Times New Roman" panose="02020603050405020304" pitchFamily="18" charset="0"/>
                <a:ea typeface="黑体" panose="02010609060101010101" pitchFamily="49" charset="-122"/>
                <a:cs typeface="宋体" panose="02010600030101010101" pitchFamily="2" charset="-122"/>
              </a:rPr>
              <a:t>void</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main(String[]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args</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r>
              <a:rPr lang="en-US" altLang="zh-CN" sz="1400" dirty="0" err="1">
                <a:solidFill>
                  <a:srgbClr val="4D4D4D"/>
                </a:solidFill>
                <a:latin typeface="Times New Roman" panose="02020603050405020304" pitchFamily="18" charset="0"/>
                <a:ea typeface="黑体" panose="02010609060101010101" pitchFamily="49" charset="-122"/>
                <a:cs typeface="宋体" panose="02010600030101010101" pitchFamily="2" charset="-122"/>
              </a:rPr>
              <a:t>getQrcodeImage</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r>
              <a:rPr lang="en-US" altLang="zh-CN" sz="1400" dirty="0">
                <a:solidFill>
                  <a:srgbClr val="4D4D4D"/>
                </a:solidFill>
                <a:latin typeface="Times New Roman" panose="02020603050405020304" pitchFamily="18" charset="0"/>
                <a:ea typeface="黑体" panose="02010609060101010101" pitchFamily="49" charset="-122"/>
                <a:cs typeface="Arial" panose="020B0604020202020204" pitchFamily="34" charset="0"/>
              </a:rPr>
              <a:t>hello!</a:t>
            </a: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"d:/xxx.png");</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   }</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a:p>
            <a:pPr eaLnBrk="0" fontAlgn="base" hangingPunct="0">
              <a:spcBef>
                <a:spcPct val="0"/>
              </a:spcBef>
              <a:spcAft>
                <a:spcPts val="1200"/>
              </a:spcAft>
            </a:pPr>
            <a:r>
              <a:rPr lang="en-US" altLang="zh-CN" sz="1400" dirty="0">
                <a:solidFill>
                  <a:srgbClr val="4D4D4D"/>
                </a:solidFill>
                <a:latin typeface="Times New Roman" panose="02020603050405020304" pitchFamily="18" charset="0"/>
                <a:ea typeface="黑体" panose="02010609060101010101" pitchFamily="49" charset="-122"/>
                <a:cs typeface="宋体" panose="02010600030101010101" pitchFamily="2" charset="-122"/>
              </a:rPr>
              <a:t>}</a:t>
            </a:r>
            <a:endParaRPr lang="zh-CN" altLang="zh-CN" sz="1400" dirty="0">
              <a:solidFill>
                <a:srgbClr val="000000"/>
              </a:solidFill>
              <a:latin typeface="Times New Roman" panose="02020603050405020304" pitchFamily="18" charset="0"/>
              <a:ea typeface="黑体" panose="02010609060101010101" pitchFamily="49" charset="-122"/>
              <a:cs typeface="宋体" panose="02010600030101010101" pitchFamily="2" charset="-122"/>
            </a:endParaRP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1701166" y="2819400"/>
            <a:ext cx="8738235" cy="685800"/>
          </a:xfrm>
        </p:spPr>
        <p:txBody>
          <a:bodyPr vert="horz" wrap="square" lIns="91440" tIns="45720" rIns="91440" bIns="45720" anchor="ctr"/>
          <a:lstStyle>
            <a:lvl1pPr lvl="0">
              <a:defRPr kern="1200"/>
            </a:lvl1pPr>
          </a:lstStyle>
          <a:p>
            <a:pPr lvl="0" algn="ctr" eaLnBrk="1" hangingPunct="1"/>
            <a:r>
              <a:rPr lang="zh-CN" altLang="en-US" sz="3600" dirty="0">
                <a:solidFill>
                  <a:schemeClr val="bg1"/>
                </a:solidFill>
                <a:latin typeface="黑体" panose="02010609060101010101" pitchFamily="49" charset="-122"/>
                <a:ea typeface="黑体" panose="02010609060101010101" pitchFamily="49" charset="-122"/>
                <a:sym typeface="+mn-ea"/>
              </a:rPr>
              <a:t>第八章 极化码</a:t>
            </a:r>
          </a:p>
        </p:txBody>
      </p:sp>
      <p:sp>
        <p:nvSpPr>
          <p:cNvPr id="2" name="文本框 1"/>
          <p:cNvSpPr txBox="1"/>
          <p:nvPr/>
        </p:nvSpPr>
        <p:spPr>
          <a:xfrm>
            <a:off x="3829686" y="3879851"/>
            <a:ext cx="4815205" cy="1731243"/>
          </a:xfrm>
          <a:prstGeom prst="rect">
            <a:avLst/>
          </a:prstGeom>
          <a:noFill/>
        </p:spPr>
        <p:txBody>
          <a:bodyPr wrap="square" rtlCol="0">
            <a:spAutoFit/>
          </a:bodyPr>
          <a:lstStyle/>
          <a:p>
            <a:pPr eaLnBrk="0" fontAlgn="base" hangingPunct="0">
              <a:lnSpc>
                <a:spcPts val="4500"/>
              </a:lnSpc>
              <a:spcBef>
                <a:spcPct val="0"/>
              </a:spcBef>
              <a:spcAft>
                <a:spcPct val="0"/>
              </a:spcAft>
              <a:defRPr/>
            </a:pPr>
            <a:r>
              <a:rPr lang="zh-CN" altLang="en-US" sz="28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李丽香，彭海朋</a:t>
            </a:r>
            <a:endPar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endParaRPr>
          </a:p>
          <a:p>
            <a:pPr eaLnBrk="0" fontAlgn="base" hangingPunct="0">
              <a:lnSpc>
                <a:spcPts val="4500"/>
              </a:lnSpc>
              <a:spcBef>
                <a:spcPct val="0"/>
              </a:spcBef>
              <a:spcAft>
                <a:spcPct val="0"/>
              </a:spcAft>
              <a:defRPr/>
            </a:pPr>
            <a:r>
              <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北京邮电大学网络空间安全学院</a:t>
            </a:r>
          </a:p>
          <a:p>
            <a:pPr eaLnBrk="0" fontAlgn="base" hangingPunct="0">
              <a:lnSpc>
                <a:spcPts val="4500"/>
              </a:lnSpc>
              <a:spcBef>
                <a:spcPct val="0"/>
              </a:spcBef>
              <a:spcAft>
                <a:spcPct val="0"/>
              </a:spcAft>
              <a:defRPr/>
            </a:pPr>
            <a:r>
              <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网络与交换技术国家重点实验室</a:t>
            </a: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62773" y="152486"/>
            <a:ext cx="3371501"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a:t>
            </a:r>
            <a:r>
              <a:rPr kumimoji="0" lang="en-US" altLang="zh-CN" sz="2000" b="1" dirty="0">
                <a:solidFill>
                  <a:srgbClr val="000000"/>
                </a:solidFill>
                <a:latin typeface="+mn-lt"/>
                <a:ea typeface="黑体" panose="02010609060101010101" pitchFamily="49" charset="-122"/>
                <a:cs typeface="+mn-cs"/>
              </a:rPr>
              <a:t>Polar</a:t>
            </a:r>
            <a:r>
              <a:rPr kumimoji="0" lang="zh-CN" altLang="en-US" sz="2400" b="1" kern="0" dirty="0">
                <a:solidFill>
                  <a:srgbClr val="000000"/>
                </a:solidFill>
                <a:latin typeface="Arial" panose="020B0604020202020204" pitchFamily="34" charset="0"/>
                <a:ea typeface="宋体" panose="02010600030101010101" pitchFamily="2" charset="-122"/>
                <a:cs typeface="+mn-cs"/>
              </a:rPr>
              <a:t>）码起源</a:t>
            </a:r>
            <a:endParaRPr lang="zh-CN" altLang="en-US" sz="2400" dirty="0">
              <a:sym typeface="+mn-ea"/>
            </a:endParaRPr>
          </a:p>
        </p:txBody>
      </p:sp>
      <p:sp>
        <p:nvSpPr>
          <p:cNvPr id="20" name="文本框 19"/>
          <p:cNvSpPr txBox="1"/>
          <p:nvPr/>
        </p:nvSpPr>
        <p:spPr>
          <a:xfrm>
            <a:off x="1820684" y="1196440"/>
            <a:ext cx="8877698" cy="1866858"/>
          </a:xfrm>
          <a:prstGeom prst="rect">
            <a:avLst/>
          </a:prstGeom>
          <a:noFill/>
        </p:spPr>
        <p:txBody>
          <a:bodyPr wrap="square">
            <a:spAutoFit/>
          </a:bodyPr>
          <a:lstStyle/>
          <a:p>
            <a:pPr eaLnBrk="0" fontAlgn="base" hangingPunct="0">
              <a:lnSpc>
                <a:spcPct val="150000"/>
              </a:lnSpc>
              <a:spcBef>
                <a:spcPct val="0"/>
              </a:spcBef>
              <a:spcAft>
                <a:spcPct val="0"/>
              </a:spcAft>
              <a:defRPr/>
            </a:pPr>
            <a:r>
              <a:rPr lang="zh-CN" altLang="en-US" sz="2000" dirty="0">
                <a:solidFill>
                  <a:srgbClr val="000000"/>
                </a:solidFill>
                <a:latin typeface="黑体" panose="02010609060101010101" pitchFamily="49" charset="-122"/>
                <a:ea typeface="黑体" panose="02010609060101010101" pitchFamily="49" charset="-122"/>
              </a:rPr>
              <a:t>    极化码（</a:t>
            </a:r>
            <a:r>
              <a:rPr lang="en-US" altLang="zh-CN" sz="2000" dirty="0">
                <a:solidFill>
                  <a:srgbClr val="000000"/>
                </a:solidFill>
                <a:latin typeface="Times New Roman"/>
                <a:ea typeface="黑体" panose="02010609060101010101" pitchFamily="49" charset="-122"/>
              </a:rPr>
              <a:t>Polar Code</a:t>
            </a:r>
            <a:r>
              <a:rPr lang="zh-CN" altLang="en-US" sz="2000" dirty="0">
                <a:solidFill>
                  <a:srgbClr val="000000"/>
                </a:solidFill>
                <a:latin typeface="黑体" panose="02010609060101010101" pitchFamily="49" charset="-122"/>
                <a:ea typeface="黑体" panose="02010609060101010101" pitchFamily="49" charset="-122"/>
              </a:rPr>
              <a:t>）是由土耳其 </a:t>
            </a:r>
            <a:r>
              <a:rPr lang="en-US" altLang="zh-CN" sz="2000" dirty="0" err="1">
                <a:solidFill>
                  <a:srgbClr val="000000"/>
                </a:solidFill>
                <a:latin typeface="Times New Roman"/>
                <a:ea typeface="黑体" panose="02010609060101010101" pitchFamily="49" charset="-122"/>
              </a:rPr>
              <a:t>Bilkent</a:t>
            </a:r>
            <a:r>
              <a:rPr lang="en-US" altLang="zh-CN" sz="2000" dirty="0">
                <a:solidFill>
                  <a:srgbClr val="000000"/>
                </a:solidFill>
                <a:latin typeface="黑体" panose="02010609060101010101" pitchFamily="49" charset="-122"/>
                <a:ea typeface="黑体" panose="02010609060101010101" pitchFamily="49" charset="-122"/>
              </a:rPr>
              <a:t> </a:t>
            </a:r>
            <a:r>
              <a:rPr lang="zh-CN" altLang="en-US" sz="2000" dirty="0">
                <a:solidFill>
                  <a:srgbClr val="000000"/>
                </a:solidFill>
                <a:latin typeface="黑体" panose="02010609060101010101" pitchFamily="49" charset="-122"/>
                <a:ea typeface="黑体" panose="02010609060101010101" pitchFamily="49" charset="-122"/>
              </a:rPr>
              <a:t>大学的 </a:t>
            </a:r>
            <a:r>
              <a:rPr lang="en-US" altLang="zh-CN" sz="2000" dirty="0" err="1">
                <a:solidFill>
                  <a:srgbClr val="000000"/>
                </a:solidFill>
                <a:latin typeface="Times New Roman"/>
                <a:ea typeface="黑体" panose="02010609060101010101" pitchFamily="49" charset="-122"/>
              </a:rPr>
              <a:t>Erdal</a:t>
            </a:r>
            <a:r>
              <a:rPr lang="en-US" altLang="zh-CN" sz="2000" dirty="0">
                <a:solidFill>
                  <a:srgbClr val="000000"/>
                </a:solidFill>
                <a:latin typeface="Times New Roman"/>
                <a:ea typeface="黑体" panose="02010609060101010101" pitchFamily="49" charset="-122"/>
              </a:rPr>
              <a:t> </a:t>
            </a:r>
            <a:r>
              <a:rPr lang="en-US" altLang="zh-CN" sz="2000" dirty="0" err="1">
                <a:solidFill>
                  <a:srgbClr val="000000"/>
                </a:solidFill>
                <a:latin typeface="Times New Roman"/>
                <a:ea typeface="黑体" panose="02010609060101010101" pitchFamily="49" charset="-122"/>
              </a:rPr>
              <a:t>Arikan</a:t>
            </a: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黑体" panose="02010609060101010101" pitchFamily="49" charset="-122"/>
                <a:ea typeface="黑体" panose="02010609060101010101" pitchFamily="49" charset="-122"/>
              </a:rPr>
              <a:t>教授于</a:t>
            </a:r>
            <a:r>
              <a:rPr lang="en-US" altLang="zh-CN" sz="2000" dirty="0">
                <a:solidFill>
                  <a:srgbClr val="000000"/>
                </a:solidFill>
                <a:latin typeface="Times New Roman"/>
                <a:ea typeface="黑体" panose="02010609060101010101" pitchFamily="49" charset="-122"/>
              </a:rPr>
              <a:t>2008</a:t>
            </a:r>
            <a:r>
              <a:rPr lang="zh-CN" altLang="en-US" sz="2000" dirty="0">
                <a:solidFill>
                  <a:srgbClr val="000000"/>
                </a:solidFill>
                <a:latin typeface="黑体" panose="02010609060101010101" pitchFamily="49" charset="-122"/>
                <a:ea typeface="黑体" panose="02010609060101010101" pitchFamily="49" charset="-122"/>
              </a:rPr>
              <a:t>年发明的一种信道编码方法。</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黑体" panose="02010609060101010101" pitchFamily="49" charset="-122"/>
                <a:ea typeface="黑体" panose="02010609060101010101" pitchFamily="49" charset="-122"/>
              </a:rPr>
              <a:t>码是目前唯一的一种能够达到香农极限（</a:t>
            </a:r>
            <a:r>
              <a:rPr lang="en-US" altLang="zh-CN" sz="2000" dirty="0">
                <a:solidFill>
                  <a:srgbClr val="000000"/>
                </a:solidFill>
                <a:latin typeface="Times New Roman"/>
                <a:ea typeface="黑体" panose="02010609060101010101" pitchFamily="49" charset="-122"/>
              </a:rPr>
              <a:t>Shannon Limit</a:t>
            </a:r>
            <a:r>
              <a:rPr lang="zh-CN" altLang="en-US" sz="2000" dirty="0">
                <a:solidFill>
                  <a:srgbClr val="000000"/>
                </a:solidFill>
                <a:latin typeface="黑体" panose="02010609060101010101" pitchFamily="49" charset="-122"/>
                <a:ea typeface="黑体" panose="02010609060101010101" pitchFamily="49" charset="-122"/>
              </a:rPr>
              <a:t>）的编码方法，而比较其他编码方法只是接近香农极限。也是目前国际移动通信标准化组织认定的</a:t>
            </a:r>
            <a:r>
              <a:rPr lang="en-US" altLang="zh-CN" sz="2000" dirty="0">
                <a:solidFill>
                  <a:srgbClr val="FF0000"/>
                </a:solidFill>
                <a:latin typeface="Times New Roman"/>
                <a:ea typeface="黑体" panose="02010609060101010101" pitchFamily="49" charset="-122"/>
              </a:rPr>
              <a:t>5G</a:t>
            </a:r>
            <a:r>
              <a:rPr lang="zh-CN" altLang="en-US" sz="2000" dirty="0">
                <a:solidFill>
                  <a:srgbClr val="FF0000"/>
                </a:solidFill>
                <a:latin typeface="黑体" panose="02010609060101010101" pitchFamily="49" charset="-122"/>
                <a:ea typeface="黑体" panose="02010609060101010101" pitchFamily="49" charset="-122"/>
              </a:rPr>
              <a:t>场景</a:t>
            </a:r>
            <a:r>
              <a:rPr lang="zh-CN" altLang="en-US" sz="2000" dirty="0">
                <a:solidFill>
                  <a:srgbClr val="000000"/>
                </a:solidFill>
                <a:latin typeface="黑体" panose="02010609060101010101" pitchFamily="49" charset="-122"/>
                <a:ea typeface="黑体" panose="02010609060101010101" pitchFamily="49" charset="-122"/>
              </a:rPr>
              <a:t>控制信道的编码方案。</a:t>
            </a:r>
          </a:p>
        </p:txBody>
      </p:sp>
      <p:pic>
        <p:nvPicPr>
          <p:cNvPr id="5" name="图片 4"/>
          <p:cNvPicPr>
            <a:picLocks noChangeAspect="1"/>
          </p:cNvPicPr>
          <p:nvPr/>
        </p:nvPicPr>
        <p:blipFill>
          <a:blip r:embed="rId2"/>
          <a:stretch>
            <a:fillRect/>
          </a:stretch>
        </p:blipFill>
        <p:spPr>
          <a:xfrm>
            <a:off x="3312152" y="3398565"/>
            <a:ext cx="5567696" cy="3159161"/>
          </a:xfrm>
          <a:prstGeom prst="rect">
            <a:avLst/>
          </a:prstGeom>
        </p:spPr>
      </p:pic>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09456" y="1068628"/>
            <a:ext cx="6020373" cy="4419484"/>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zh-CN" altLang="en-US" sz="2400" dirty="0">
                <a:solidFill>
                  <a:srgbClr val="000000"/>
                </a:solidFill>
                <a:latin typeface="黑体" panose="02010609060101010101" pitchFamily="49" charset="-122"/>
                <a:ea typeface="黑体" panose="02010609060101010101" pitchFamily="49" charset="-122"/>
              </a:rPr>
              <a:t>极化码优点：</a:t>
            </a:r>
            <a:endParaRPr lang="en-US" altLang="zh-CN" sz="24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None/>
            </a:pPr>
            <a:r>
              <a:rPr lang="en-US" altLang="zh-CN" sz="2000" dirty="0">
                <a:solidFill>
                  <a:srgbClr val="000000"/>
                </a:solidFill>
                <a:latin typeface="黑体" panose="02010609060101010101" pitchFamily="49" charset="-122"/>
                <a:ea typeface="黑体" panose="02010609060101010101" pitchFamily="49" charset="-122"/>
              </a:rPr>
              <a:t>1</a:t>
            </a:r>
            <a:r>
              <a:rPr lang="zh-CN" altLang="en-US" sz="2000" dirty="0">
                <a:solidFill>
                  <a:srgbClr val="000000"/>
                </a:solidFill>
                <a:latin typeface="黑体" panose="02010609060101010101" pitchFamily="49" charset="-122"/>
                <a:ea typeface="黑体" panose="02010609060101010101" pitchFamily="49" charset="-122"/>
              </a:rPr>
              <a:t>、是目前唯一的香农信道容量可达的编码方式</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None/>
            </a:pPr>
            <a:r>
              <a:rPr lang="en-US" altLang="zh-CN" sz="2000" dirty="0">
                <a:solidFill>
                  <a:srgbClr val="000000"/>
                </a:solidFill>
                <a:latin typeface="黑体" panose="02010609060101010101" pitchFamily="49" charset="-122"/>
                <a:ea typeface="黑体" panose="02010609060101010101" pitchFamily="49" charset="-122"/>
              </a:rPr>
              <a:t>2</a:t>
            </a:r>
            <a:r>
              <a:rPr lang="zh-CN" altLang="en-US" sz="2000" dirty="0">
                <a:solidFill>
                  <a:srgbClr val="000000"/>
                </a:solidFill>
                <a:latin typeface="黑体" panose="02010609060101010101" pitchFamily="49" charset="-122"/>
                <a:ea typeface="黑体" panose="02010609060101010101" pitchFamily="49" charset="-122"/>
              </a:rPr>
              <a:t>、有坚实的理论基础</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None/>
            </a:pPr>
            <a:r>
              <a:rPr lang="en-US" altLang="zh-CN" sz="2000" dirty="0">
                <a:solidFill>
                  <a:srgbClr val="000000"/>
                </a:solidFill>
                <a:latin typeface="黑体" panose="02010609060101010101" pitchFamily="49" charset="-122"/>
                <a:ea typeface="黑体" panose="02010609060101010101" pitchFamily="49" charset="-122"/>
              </a:rPr>
              <a:t>3</a:t>
            </a:r>
            <a:r>
              <a:rPr lang="zh-CN" altLang="en-US" sz="2000" dirty="0">
                <a:solidFill>
                  <a:srgbClr val="000000"/>
                </a:solidFill>
                <a:latin typeface="黑体" panose="02010609060101010101" pitchFamily="49" charset="-122"/>
                <a:ea typeface="黑体" panose="02010609060101010101" pitchFamily="49" charset="-122"/>
              </a:rPr>
              <a:t>、编解码复杂度低</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None/>
            </a:pPr>
            <a:r>
              <a:rPr lang="en-US" altLang="zh-CN" sz="2000" dirty="0">
                <a:solidFill>
                  <a:srgbClr val="000000"/>
                </a:solidFill>
                <a:latin typeface="黑体" panose="02010609060101010101" pitchFamily="49" charset="-122"/>
                <a:ea typeface="黑体" panose="02010609060101010101" pitchFamily="49" charset="-122"/>
              </a:rPr>
              <a:t>4</a:t>
            </a:r>
            <a:r>
              <a:rPr lang="zh-CN" altLang="en-US" sz="2000" dirty="0">
                <a:solidFill>
                  <a:srgbClr val="000000"/>
                </a:solidFill>
                <a:latin typeface="黑体" panose="02010609060101010101" pitchFamily="49" charset="-122"/>
                <a:ea typeface="黑体" panose="02010609060101010101" pitchFamily="49" charset="-122"/>
              </a:rPr>
              <a:t>、精细的码率调整机制（信息块长度可以一比特一比特的递减）</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None/>
            </a:pPr>
            <a:r>
              <a:rPr lang="en-US" altLang="zh-CN" sz="2000" dirty="0">
                <a:solidFill>
                  <a:srgbClr val="000000"/>
                </a:solidFill>
                <a:latin typeface="黑体" panose="02010609060101010101" pitchFamily="49" charset="-122"/>
                <a:ea typeface="黑体" panose="02010609060101010101" pitchFamily="49" charset="-122"/>
              </a:rPr>
              <a:t>5</a:t>
            </a:r>
            <a:r>
              <a:rPr lang="zh-CN" altLang="en-US" sz="2000" dirty="0">
                <a:solidFill>
                  <a:srgbClr val="000000"/>
                </a:solidFill>
                <a:latin typeface="黑体" panose="02010609060101010101" pitchFamily="49" charset="-122"/>
                <a:ea typeface="黑体" panose="02010609060101010101" pitchFamily="49" charset="-122"/>
              </a:rPr>
              <a:t>、极化码的递归特性易于通过硬件实现（母码长度为</a:t>
            </a:r>
            <a:r>
              <a:rPr lang="en-US" altLang="zh-CN" sz="2000" dirty="0">
                <a:solidFill>
                  <a:srgbClr val="000000"/>
                </a:solidFill>
                <a:ea typeface="黑体" panose="02010609060101010101" pitchFamily="49" charset="-122"/>
              </a:rPr>
              <a:t>N</a:t>
            </a:r>
            <a:r>
              <a:rPr lang="zh-CN" altLang="en-US" sz="2000" dirty="0">
                <a:solidFill>
                  <a:srgbClr val="000000"/>
                </a:solidFill>
                <a:latin typeface="黑体" panose="02010609060101010101" pitchFamily="49" charset="-122"/>
                <a:ea typeface="黑体" panose="02010609060101010101" pitchFamily="49" charset="-122"/>
              </a:rPr>
              <a:t>的</a:t>
            </a:r>
            <a:r>
              <a:rPr lang="en-US" altLang="zh-CN" sz="2000" dirty="0">
                <a:solidFill>
                  <a:srgbClr val="000000"/>
                </a:solidFill>
                <a:ea typeface="黑体" panose="02010609060101010101" pitchFamily="49" charset="-122"/>
              </a:rPr>
              <a:t>Polar</a:t>
            </a:r>
            <a:r>
              <a:rPr lang="zh-CN" altLang="en-US" sz="2000" dirty="0">
                <a:solidFill>
                  <a:srgbClr val="000000"/>
                </a:solidFill>
                <a:latin typeface="黑体" panose="02010609060101010101" pitchFamily="49" charset="-122"/>
                <a:ea typeface="黑体" panose="02010609060101010101" pitchFamily="49" charset="-122"/>
              </a:rPr>
              <a:t>码可以用两个母码长度为</a:t>
            </a:r>
            <a:r>
              <a:rPr lang="en-US" altLang="zh-CN" sz="2000" dirty="0">
                <a:solidFill>
                  <a:srgbClr val="000000"/>
                </a:solidFill>
                <a:ea typeface="黑体" panose="02010609060101010101" pitchFamily="49" charset="-122"/>
              </a:rPr>
              <a:t>N/2</a:t>
            </a:r>
            <a:r>
              <a:rPr lang="zh-CN" altLang="en-US" sz="2000" dirty="0">
                <a:solidFill>
                  <a:srgbClr val="000000"/>
                </a:solidFill>
                <a:latin typeface="黑体" panose="02010609060101010101" pitchFamily="49" charset="-122"/>
                <a:ea typeface="黑体" panose="02010609060101010101" pitchFamily="49" charset="-122"/>
              </a:rPr>
              <a:t>的</a:t>
            </a:r>
            <a:r>
              <a:rPr lang="en-US" altLang="zh-CN" sz="2000" dirty="0">
                <a:solidFill>
                  <a:srgbClr val="000000"/>
                </a:solidFill>
                <a:ea typeface="黑体" panose="02010609060101010101" pitchFamily="49" charset="-122"/>
              </a:rPr>
              <a:t>Polar</a:t>
            </a:r>
            <a:r>
              <a:rPr lang="zh-CN" altLang="en-US" sz="2000" dirty="0">
                <a:solidFill>
                  <a:srgbClr val="000000"/>
                </a:solidFill>
                <a:latin typeface="黑体" panose="02010609060101010101" pitchFamily="49" charset="-122"/>
                <a:ea typeface="黑体" panose="02010609060101010101" pitchFamily="49" charset="-122"/>
              </a:rPr>
              <a:t>码实现）</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150000"/>
              </a:lnSpc>
              <a:spcBef>
                <a:spcPts val="0"/>
              </a:spcBef>
              <a:spcAft>
                <a:spcPts val="0"/>
              </a:spcAft>
              <a:buNone/>
            </a:pPr>
            <a:endParaRPr lang="zh-CN" altLang="en-US" sz="2000" dirty="0">
              <a:solidFill>
                <a:srgbClr val="000000"/>
              </a:solidFill>
              <a:latin typeface="黑体" panose="02010609060101010101" pitchFamily="49" charset="-122"/>
              <a:ea typeface="黑体" panose="02010609060101010101" pitchFamily="49" charset="-122"/>
            </a:endParaRPr>
          </a:p>
        </p:txBody>
      </p:sp>
      <p:sp>
        <p:nvSpPr>
          <p:cNvPr id="4" name="标题 1"/>
          <p:cNvSpPr>
            <a:spLocks noGrp="1"/>
          </p:cNvSpPr>
          <p:nvPr>
            <p:ph type="title"/>
          </p:nvPr>
        </p:nvSpPr>
        <p:spPr>
          <a:xfrm>
            <a:off x="8458138" y="76200"/>
            <a:ext cx="2057346" cy="685800"/>
          </a:xfrm>
        </p:spPr>
        <p:txBody>
          <a:bodyPr/>
          <a:lstStyle/>
          <a:p>
            <a:pPr algn="ctr">
              <a:defRPr/>
            </a:pPr>
            <a:r>
              <a:rPr kumimoji="0" lang="zh-CN" altLang="en-US" sz="2400" b="1" kern="0" dirty="0">
                <a:solidFill>
                  <a:srgbClr val="000000"/>
                </a:solidFill>
                <a:latin typeface="Arial" panose="020B0604020202020204" pitchFamily="34" charset="0"/>
                <a:ea typeface="宋体" panose="02010600030101010101" pitchFamily="2" charset="-122"/>
                <a:cs typeface="+mn-cs"/>
              </a:rPr>
              <a:t>极化码优缺点</a:t>
            </a:r>
          </a:p>
        </p:txBody>
      </p:sp>
      <p:sp>
        <p:nvSpPr>
          <p:cNvPr id="2" name="内容占位符 2">
            <a:extLst>
              <a:ext uri="{FF2B5EF4-FFF2-40B4-BE49-F238E27FC236}">
                <a16:creationId xmlns:a16="http://schemas.microsoft.com/office/drawing/2014/main" id="{58FBA538-BB59-4C10-A188-3EEB0F49AE0B}"/>
              </a:ext>
            </a:extLst>
          </p:cNvPr>
          <p:cNvSpPr txBox="1"/>
          <p:nvPr/>
        </p:nvSpPr>
        <p:spPr>
          <a:xfrm>
            <a:off x="6790934" y="1106277"/>
            <a:ext cx="4763113" cy="4645445"/>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spcAft>
                <a:spcPts val="0"/>
              </a:spcAft>
              <a:buNone/>
            </a:pPr>
            <a:r>
              <a:rPr lang="zh-CN" altLang="en-US" sz="2400" dirty="0">
                <a:solidFill>
                  <a:srgbClr val="000000"/>
                </a:solidFill>
                <a:latin typeface="黑体" panose="02010609060101010101" pitchFamily="49" charset="-122"/>
                <a:ea typeface="黑体" panose="02010609060101010101" pitchFamily="49" charset="-122"/>
              </a:rPr>
              <a:t>极化码缺点：</a:t>
            </a:r>
            <a:endParaRPr lang="en-US" altLang="zh-CN" sz="24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None/>
            </a:pPr>
            <a:r>
              <a:rPr lang="en-US" altLang="zh-CN" sz="2000" dirty="0">
                <a:solidFill>
                  <a:srgbClr val="000000"/>
                </a:solidFill>
                <a:latin typeface="黑体" panose="02010609060101010101" pitchFamily="49" charset="-122"/>
                <a:ea typeface="黑体" panose="02010609060101010101" pitchFamily="49" charset="-122"/>
              </a:rPr>
              <a:t>1</a:t>
            </a:r>
            <a:r>
              <a:rPr lang="zh-CN" altLang="en-US" sz="2000" dirty="0">
                <a:solidFill>
                  <a:srgbClr val="000000"/>
                </a:solidFill>
                <a:latin typeface="黑体" panose="02010609060101010101" pitchFamily="49" charset="-122"/>
                <a:ea typeface="黑体" panose="02010609060101010101" pitchFamily="49" charset="-122"/>
              </a:rPr>
              <a:t>、汉明距离较小，在短码情况下影响解码性能，一定程度上可以通过选择合适的冻结比特位置进行规避。适合长码编码。</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None/>
            </a:pPr>
            <a:r>
              <a:rPr lang="en-US" altLang="zh-CN" sz="2000" dirty="0">
                <a:solidFill>
                  <a:srgbClr val="000000"/>
                </a:solidFill>
                <a:latin typeface="黑体" panose="02010609060101010101" pitchFamily="49" charset="-122"/>
                <a:ea typeface="黑体" panose="02010609060101010101" pitchFamily="49" charset="-122"/>
              </a:rPr>
              <a:t>2</a:t>
            </a:r>
            <a:r>
              <a:rPr lang="zh-CN" altLang="en-US" sz="2000" dirty="0">
                <a:solidFill>
                  <a:srgbClr val="000000"/>
                </a:solidFill>
                <a:latin typeface="黑体" panose="02010609060101010101" pitchFamily="49" charset="-122"/>
                <a:ea typeface="黑体" panose="02010609060101010101" pitchFamily="49" charset="-122"/>
              </a:rPr>
              <a:t>、</a:t>
            </a:r>
            <a:r>
              <a:rPr lang="en-US" altLang="zh-CN" sz="2000" dirty="0">
                <a:solidFill>
                  <a:srgbClr val="000000"/>
                </a:solidFill>
                <a:latin typeface="Times New Roman"/>
                <a:ea typeface="黑体" panose="02010609060101010101" pitchFamily="49" charset="-122"/>
              </a:rPr>
              <a:t>SC</a:t>
            </a:r>
            <a:r>
              <a:rPr lang="zh-CN" altLang="en-US" sz="2000" dirty="0">
                <a:solidFill>
                  <a:srgbClr val="000000"/>
                </a:solidFill>
                <a:latin typeface="黑体" panose="02010609060101010101" pitchFamily="49" charset="-122"/>
                <a:ea typeface="黑体" panose="02010609060101010101" pitchFamily="49" charset="-122"/>
              </a:rPr>
              <a:t>译码延时较大。</a:t>
            </a: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p:cNvGraphicFramePr/>
          <p:nvPr/>
        </p:nvGraphicFramePr>
        <p:xfrm>
          <a:off x="1295526" y="922148"/>
          <a:ext cx="9349374" cy="28116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图示 5"/>
          <p:cNvGraphicFramePr/>
          <p:nvPr/>
        </p:nvGraphicFramePr>
        <p:xfrm>
          <a:off x="1638418" y="3200406"/>
          <a:ext cx="8953265" cy="30479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标题 1"/>
          <p:cNvSpPr>
            <a:spLocks noGrp="1"/>
          </p:cNvSpPr>
          <p:nvPr>
            <p:ph type="title"/>
          </p:nvPr>
        </p:nvSpPr>
        <p:spPr>
          <a:xfrm>
            <a:off x="8101014" y="104775"/>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国外研究现状</a:t>
            </a:r>
            <a:endParaRPr lang="zh-CN" altLang="en-US" sz="2400" dirty="0">
              <a:sym typeface="+mn-ea"/>
            </a:endParaRP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43763" y="15248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国内研究现状</a:t>
            </a:r>
            <a:endParaRPr lang="zh-CN" altLang="en-US" sz="2400" dirty="0">
              <a:sym typeface="+mn-ea"/>
            </a:endParaRPr>
          </a:p>
        </p:txBody>
      </p:sp>
      <p:sp>
        <p:nvSpPr>
          <p:cNvPr id="5" name="矩形 4"/>
          <p:cNvSpPr/>
          <p:nvPr/>
        </p:nvSpPr>
        <p:spPr>
          <a:xfrm>
            <a:off x="2036524" y="2057436"/>
            <a:ext cx="8118953" cy="259073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285750" indent="-285750" eaLnBrk="0" fontAlgn="base" hangingPunct="0">
              <a:lnSpc>
                <a:spcPct val="150000"/>
              </a:lnSpc>
              <a:spcBef>
                <a:spcPts val="600"/>
              </a:spcBef>
              <a:spcAft>
                <a:spcPts val="600"/>
              </a:spcAft>
              <a:buFont typeface="Arial" panose="020B0604020202020204" pitchFamily="34" charset="0"/>
              <a:buChar char="•"/>
            </a:pPr>
            <a:r>
              <a:rPr lang="zh-CN" altLang="en-US" dirty="0">
                <a:solidFill>
                  <a:srgbClr val="000000"/>
                </a:solidFill>
                <a:latin typeface="Times New Roman"/>
                <a:ea typeface="黑体"/>
              </a:rPr>
              <a:t>在国内，北京邮电大学是最早研究</a:t>
            </a:r>
            <a:r>
              <a:rPr lang="en-US" altLang="zh-CN" dirty="0">
                <a:solidFill>
                  <a:srgbClr val="000000"/>
                </a:solidFill>
                <a:latin typeface="Times New Roman"/>
                <a:ea typeface="黑体"/>
              </a:rPr>
              <a:t>Polar</a:t>
            </a:r>
            <a:r>
              <a:rPr lang="zh-CN" altLang="en-US" dirty="0">
                <a:solidFill>
                  <a:srgbClr val="000000"/>
                </a:solidFill>
                <a:latin typeface="Times New Roman"/>
                <a:ea typeface="黑体"/>
              </a:rPr>
              <a:t>码的机构之一。牛凯教授的团队研究了</a:t>
            </a:r>
            <a:r>
              <a:rPr lang="en-US" altLang="zh-CN" dirty="0">
                <a:solidFill>
                  <a:srgbClr val="000000"/>
                </a:solidFill>
                <a:latin typeface="Times New Roman"/>
                <a:ea typeface="黑体"/>
              </a:rPr>
              <a:t>Polar</a:t>
            </a:r>
            <a:r>
              <a:rPr lang="zh-CN" altLang="en-US" dirty="0">
                <a:solidFill>
                  <a:srgbClr val="000000"/>
                </a:solidFill>
                <a:latin typeface="Times New Roman"/>
                <a:ea typeface="黑体"/>
              </a:rPr>
              <a:t>码的编码和解码算法等。</a:t>
            </a:r>
          </a:p>
          <a:p>
            <a:pPr marL="285750" indent="-285750" eaLnBrk="0" fontAlgn="base" hangingPunct="0">
              <a:lnSpc>
                <a:spcPct val="150000"/>
              </a:lnSpc>
              <a:spcBef>
                <a:spcPts val="600"/>
              </a:spcBef>
              <a:spcAft>
                <a:spcPts val="600"/>
              </a:spcAft>
              <a:buFont typeface="Arial" panose="020B0604020202020204" pitchFamily="34" charset="0"/>
              <a:buChar char="•"/>
            </a:pPr>
            <a:r>
              <a:rPr lang="zh-CN" altLang="en-US" dirty="0">
                <a:solidFill>
                  <a:srgbClr val="000000"/>
                </a:solidFill>
                <a:latin typeface="Times New Roman"/>
                <a:ea typeface="黑体"/>
              </a:rPr>
              <a:t>西安电子科技大学李颖教授的团队研究了</a:t>
            </a:r>
            <a:r>
              <a:rPr lang="en-US" altLang="zh-CN" dirty="0">
                <a:solidFill>
                  <a:srgbClr val="000000"/>
                </a:solidFill>
                <a:latin typeface="Times New Roman"/>
                <a:ea typeface="黑体"/>
              </a:rPr>
              <a:t>Polar</a:t>
            </a:r>
            <a:r>
              <a:rPr lang="zh-CN" altLang="en-US" dirty="0">
                <a:solidFill>
                  <a:srgbClr val="000000"/>
                </a:solidFill>
                <a:latin typeface="Times New Roman"/>
                <a:ea typeface="黑体"/>
              </a:rPr>
              <a:t>码的高斯近似的码构造方法和解码算法。</a:t>
            </a:r>
          </a:p>
          <a:p>
            <a:pPr marL="285750" indent="-285750" eaLnBrk="0" fontAlgn="base" hangingPunct="0">
              <a:lnSpc>
                <a:spcPct val="150000"/>
              </a:lnSpc>
              <a:spcBef>
                <a:spcPts val="600"/>
              </a:spcBef>
              <a:spcAft>
                <a:spcPts val="600"/>
              </a:spcAft>
              <a:buFont typeface="Arial" panose="020B0604020202020204" pitchFamily="34" charset="0"/>
              <a:buChar char="•"/>
            </a:pPr>
            <a:r>
              <a:rPr lang="zh-CN" altLang="en-US" dirty="0">
                <a:solidFill>
                  <a:srgbClr val="000000"/>
                </a:solidFill>
                <a:latin typeface="Times New Roman"/>
                <a:ea typeface="黑体"/>
              </a:rPr>
              <a:t>哈尔滨工业大学王学东教授的团队研究了</a:t>
            </a:r>
            <a:r>
              <a:rPr lang="en-US" altLang="zh-CN" dirty="0">
                <a:solidFill>
                  <a:srgbClr val="000000"/>
                </a:solidFill>
                <a:latin typeface="Times New Roman"/>
                <a:ea typeface="黑体"/>
              </a:rPr>
              <a:t>Polar </a:t>
            </a:r>
            <a:r>
              <a:rPr lang="zh-CN" altLang="en-US" dirty="0">
                <a:solidFill>
                  <a:srgbClr val="000000"/>
                </a:solidFill>
                <a:latin typeface="Times New Roman"/>
                <a:ea typeface="黑体"/>
              </a:rPr>
              <a:t>码的编码与译码算法。</a:t>
            </a: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86575" y="152486"/>
            <a:ext cx="3371501"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a:t>
            </a:r>
            <a:r>
              <a:rPr kumimoji="0" lang="zh-CN" altLang="en-US" sz="2400" b="1" kern="0" dirty="0">
                <a:solidFill>
                  <a:srgbClr val="000000"/>
                </a:solidFill>
                <a:latin typeface="+mn-lt"/>
                <a:ea typeface="宋体" panose="02010600030101010101" pitchFamily="2" charset="-122"/>
                <a:cs typeface="+mn-cs"/>
              </a:rPr>
              <a:t>（</a:t>
            </a:r>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起源</a:t>
            </a:r>
            <a:endParaRPr lang="zh-CN" altLang="en-US" sz="2400" dirty="0">
              <a:sym typeface="+mn-ea"/>
            </a:endParaRPr>
          </a:p>
        </p:txBody>
      </p:sp>
      <mc:AlternateContent xmlns:mc="http://schemas.openxmlformats.org/markup-compatibility/2006" xmlns:a14="http://schemas.microsoft.com/office/drawing/2010/main">
        <mc:Choice Requires="a14">
          <p:sp>
            <p:nvSpPr>
              <p:cNvPr id="4" name="矩形 3"/>
              <p:cNvSpPr/>
              <p:nvPr/>
            </p:nvSpPr>
            <p:spPr>
              <a:xfrm>
                <a:off x="1943209" y="2514624"/>
                <a:ext cx="8305582" cy="36575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eaLnBrk="0" fontAlgn="base" hangingPunct="0">
                  <a:lnSpc>
                    <a:spcPct val="150000"/>
                  </a:lnSpc>
                  <a:spcBef>
                    <a:spcPct val="0"/>
                  </a:spcBef>
                  <a:spcAft>
                    <a:spcPct val="0"/>
                  </a:spcAft>
                </a:pPr>
                <a:r>
                  <a:rPr lang="zh-CN" altLang="en-US" sz="2000" dirty="0">
                    <a:solidFill>
                      <a:srgbClr val="000000"/>
                    </a:solidFill>
                    <a:latin typeface="黑体"/>
                    <a:ea typeface="黑体"/>
                  </a:rPr>
                  <a:t>    </a:t>
                </a:r>
                <a:r>
                  <a:rPr lang="zh-CN" altLang="en-US" sz="2000" dirty="0">
                    <a:solidFill>
                      <a:srgbClr val="000000"/>
                    </a:solidFill>
                    <a:latin typeface="Times New Roman"/>
                    <a:ea typeface="黑体"/>
                  </a:rPr>
                  <a:t>在随机编码和最大似然条件下，信道</a:t>
                </a:r>
                <a:r>
                  <a:rPr lang="zh-CN" altLang="en-US" sz="2000" dirty="0">
                    <a:solidFill>
                      <a:srgbClr val="FF0000"/>
                    </a:solidFill>
                    <a:latin typeface="Times New Roman"/>
                    <a:ea typeface="黑体"/>
                  </a:rPr>
                  <a:t>截止速率</a:t>
                </a:r>
                <a:r>
                  <a:rPr lang="en-US" altLang="zh-CN" sz="2000" dirty="0">
                    <a:solidFill>
                      <a:srgbClr val="FF0000"/>
                    </a:solidFill>
                    <a:latin typeface="Times New Roman"/>
                    <a:ea typeface="黑体"/>
                  </a:rPr>
                  <a:t>R</a:t>
                </a:r>
                <a:r>
                  <a:rPr lang="en-US" altLang="zh-CN" sz="1400" dirty="0">
                    <a:solidFill>
                      <a:srgbClr val="FF0000"/>
                    </a:solidFill>
                    <a:latin typeface="Times New Roman"/>
                    <a:ea typeface="黑体"/>
                  </a:rPr>
                  <a:t>0</a:t>
                </a:r>
                <a:r>
                  <a:rPr lang="zh-CN" altLang="en-US" sz="2000" dirty="0">
                    <a:solidFill>
                      <a:srgbClr val="000000"/>
                    </a:solidFill>
                    <a:latin typeface="Times New Roman"/>
                    <a:ea typeface="黑体"/>
                  </a:rPr>
                  <a:t>决定了相应的码块的错误概率：</a:t>
                </a:r>
                <a:endParaRPr lang="en-US" altLang="zh-CN" sz="2000" dirty="0">
                  <a:solidFill>
                    <a:srgbClr val="000000"/>
                  </a:solidFill>
                  <a:latin typeface="Times New Roman"/>
                  <a:ea typeface="黑体"/>
                </a:endParaRPr>
              </a:p>
              <a:p>
                <a:pPr eaLnBrk="0" fontAlgn="base" hangingPunct="0">
                  <a:lnSpc>
                    <a:spcPct val="150000"/>
                  </a:lnSpc>
                  <a:spcBef>
                    <a:spcPct val="0"/>
                  </a:spcBef>
                  <a:spcAft>
                    <a:spcPct val="0"/>
                  </a:spcAft>
                </a:pPr>
                <a14:m>
                  <m:oMathPara xmlns:m="http://schemas.openxmlformats.org/officeDocument/2006/math">
                    <m:oMathParaPr>
                      <m:jc m:val="centerGroup"/>
                    </m:oMathParaPr>
                    <m:oMath xmlns:m="http://schemas.openxmlformats.org/officeDocument/2006/math">
                      <m:sSub>
                        <m:sSubPr>
                          <m:ctrlPr>
                            <a:rPr lang="en-US" altLang="zh-CN" sz="2000" i="1" dirty="0">
                              <a:solidFill>
                                <a:srgbClr val="000000"/>
                              </a:solidFill>
                              <a:latin typeface="Cambria Math" panose="02040503050406030204" pitchFamily="18" charset="0"/>
                            </a:rPr>
                          </m:ctrlPr>
                        </m:sSubPr>
                        <m:e>
                          <m:r>
                            <a:rPr lang="en-US" altLang="zh-CN" sz="2000" i="1" dirty="0">
                              <a:solidFill>
                                <a:srgbClr val="000000"/>
                              </a:solidFill>
                              <a:latin typeface="Cambria Math" panose="02040503050406030204" pitchFamily="18" charset="0"/>
                            </a:rPr>
                            <m:t>𝑃</m:t>
                          </m:r>
                        </m:e>
                        <m:sub>
                          <m:r>
                            <m:rPr>
                              <m:sty m:val="p"/>
                            </m:rPr>
                            <a:rPr lang="en-US" altLang="zh-CN" sz="2000" i="1" dirty="0">
                              <a:solidFill>
                                <a:srgbClr val="000000"/>
                              </a:solidFill>
                              <a:latin typeface="Cambria Math" panose="02040503050406030204" pitchFamily="18" charset="0"/>
                            </a:rPr>
                            <m:t>e</m:t>
                          </m:r>
                        </m:sub>
                      </m:sSub>
                      <m:r>
                        <a:rPr lang="en-US" altLang="zh-CN" sz="2000" i="1">
                          <a:solidFill>
                            <a:srgbClr val="836967"/>
                          </a:solidFill>
                          <a:latin typeface="Cambria Math" panose="02040503050406030204" pitchFamily="18" charset="0"/>
                        </a:rPr>
                        <m:t>=</m:t>
                      </m:r>
                      <m:sSup>
                        <m:sSupPr>
                          <m:ctrlPr>
                            <a:rPr lang="en-US" altLang="zh-CN" sz="2000" i="1">
                              <a:solidFill>
                                <a:srgbClr val="000000"/>
                              </a:solidFill>
                              <a:latin typeface="Cambria Math" panose="02040503050406030204" pitchFamily="18" charset="0"/>
                            </a:rPr>
                          </m:ctrlPr>
                        </m:sSupPr>
                        <m:e>
                          <m:r>
                            <a:rPr lang="en-US" altLang="zh-CN" sz="2000" i="1">
                              <a:solidFill>
                                <a:srgbClr val="000000"/>
                              </a:solidFill>
                              <a:latin typeface="Cambria Math" panose="02040503050406030204" pitchFamily="18" charset="0"/>
                            </a:rPr>
                            <m:t>2</m:t>
                          </m:r>
                        </m:e>
                        <m:sup>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𝑅</m:t>
                              </m:r>
                            </m:e>
                            <m:sub>
                              <m:r>
                                <a:rPr lang="en-US" altLang="zh-CN" sz="2000" i="1">
                                  <a:solidFill>
                                    <a:srgbClr val="000000"/>
                                  </a:solidFill>
                                  <a:latin typeface="Cambria Math" panose="02040503050406030204" pitchFamily="18" charset="0"/>
                                </a:rPr>
                                <m:t>0</m:t>
                              </m:r>
                            </m:sub>
                          </m:sSub>
                        </m:sup>
                      </m:sSup>
                    </m:oMath>
                  </m:oMathPara>
                </a14:m>
                <a:endParaRPr lang="en-US" altLang="zh-CN" sz="2000" dirty="0">
                  <a:solidFill>
                    <a:srgbClr val="000000"/>
                  </a:solidFill>
                  <a:latin typeface="Times New Roman"/>
                  <a:ea typeface="黑体"/>
                </a:endParaRPr>
              </a:p>
              <a:p>
                <a:pPr eaLnBrk="0" fontAlgn="base" hangingPunct="0">
                  <a:lnSpc>
                    <a:spcPct val="150000"/>
                  </a:lnSpc>
                  <a:spcBef>
                    <a:spcPct val="0"/>
                  </a:spcBef>
                  <a:spcAft>
                    <a:spcPct val="0"/>
                  </a:spcAft>
                </a:pPr>
                <a:r>
                  <a:rPr lang="zh-CN" altLang="en-US" sz="2000" dirty="0">
                    <a:solidFill>
                      <a:srgbClr val="000000"/>
                    </a:solidFill>
                    <a:latin typeface="Times New Roman"/>
                    <a:ea typeface="黑体"/>
                  </a:rPr>
                  <a:t>        其中，</a:t>
                </a:r>
                <a:r>
                  <a:rPr lang="en-US" altLang="zh-CN" sz="2000" dirty="0">
                    <a:solidFill>
                      <a:srgbClr val="000000"/>
                    </a:solidFill>
                    <a:latin typeface="Times New Roman"/>
                    <a:ea typeface="黑体"/>
                  </a:rPr>
                  <a:t>N</a:t>
                </a:r>
                <a:r>
                  <a:rPr lang="zh-CN" altLang="en-US" sz="2000" dirty="0">
                    <a:solidFill>
                      <a:srgbClr val="000000"/>
                    </a:solidFill>
                    <a:latin typeface="Times New Roman"/>
                    <a:ea typeface="黑体"/>
                  </a:rPr>
                  <a:t>为码块长度。实际信道的传输速率</a:t>
                </a:r>
                <a:r>
                  <a:rPr lang="en-US" altLang="zh-CN" sz="2000" dirty="0">
                    <a:solidFill>
                      <a:srgbClr val="000000"/>
                    </a:solidFill>
                    <a:latin typeface="Times New Roman"/>
                    <a:ea typeface="黑体"/>
                  </a:rPr>
                  <a:t>R</a:t>
                </a:r>
                <a:r>
                  <a:rPr lang="zh-CN" altLang="en-US" sz="2000" dirty="0">
                    <a:solidFill>
                      <a:srgbClr val="000000"/>
                    </a:solidFill>
                    <a:latin typeface="Times New Roman"/>
                    <a:ea typeface="黑体"/>
                  </a:rPr>
                  <a:t>小于</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𝑅</m:t>
                        </m:r>
                      </m:e>
                      <m:sub>
                        <m:r>
                          <a:rPr lang="en-US" altLang="zh-CN" sz="2000" i="1">
                            <a:solidFill>
                              <a:srgbClr val="000000"/>
                            </a:solidFill>
                            <a:latin typeface="Cambria Math" panose="02040503050406030204" pitchFamily="18" charset="0"/>
                          </a:rPr>
                          <m:t>0</m:t>
                        </m:r>
                      </m:sub>
                    </m:sSub>
                  </m:oMath>
                </a14:m>
                <a:r>
                  <a:rPr lang="zh-CN" altLang="en-US" sz="2000" dirty="0">
                    <a:solidFill>
                      <a:srgbClr val="000000"/>
                    </a:solidFill>
                    <a:latin typeface="Times New Roman"/>
                    <a:ea typeface="黑体"/>
                  </a:rPr>
                  <a:t>、使用随机编码和</a:t>
                </a:r>
                <a:r>
                  <a:rPr lang="en-US" altLang="zh-CN" sz="2000" dirty="0">
                    <a:solidFill>
                      <a:srgbClr val="000000"/>
                    </a:solidFill>
                    <a:latin typeface="Times New Roman"/>
                    <a:ea typeface="黑体"/>
                  </a:rPr>
                  <a:t>ML</a:t>
                </a:r>
                <a:r>
                  <a:rPr lang="zh-CN" altLang="en-US" sz="2000" dirty="0">
                    <a:solidFill>
                      <a:srgbClr val="000000"/>
                    </a:solidFill>
                    <a:latin typeface="Times New Roman"/>
                    <a:ea typeface="黑体"/>
                  </a:rPr>
                  <a:t>编码时，信道平均错误概率：</a:t>
                </a:r>
                <a:endParaRPr lang="en-US" altLang="zh-CN" sz="2000" dirty="0">
                  <a:solidFill>
                    <a:srgbClr val="000000"/>
                  </a:solidFill>
                  <a:latin typeface="Times New Roman"/>
                  <a:ea typeface="黑体"/>
                </a:endParaRPr>
              </a:p>
              <a:p>
                <a:pPr algn="ctr" eaLnBrk="0" fontAlgn="base" hangingPunct="0">
                  <a:lnSpc>
                    <a:spcPct val="150000"/>
                  </a:lnSpc>
                  <a:spcBef>
                    <a:spcPct val="0"/>
                  </a:spcBef>
                  <a:spcAft>
                    <a:spcPct val="0"/>
                  </a:spcAft>
                </a:pPr>
                <a:r>
                  <a:rPr lang="en-US" altLang="zh-CN" sz="2000" dirty="0">
                    <a:solidFill>
                      <a:srgbClr val="000000"/>
                    </a:solidFill>
                    <a:latin typeface="Times New Roman"/>
                    <a:ea typeface="黑体"/>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acc>
                          <m:accPr>
                            <m:chr m:val="̅"/>
                            <m:ctrlPr>
                              <a:rPr lang="en-US" altLang="zh-CN" sz="2000" i="1">
                                <a:solidFill>
                                  <a:srgbClr val="000000"/>
                                </a:solidFill>
                                <a:latin typeface="Cambria Math" panose="02040503050406030204" pitchFamily="18" charset="0"/>
                              </a:rPr>
                            </m:ctrlPr>
                          </m:accPr>
                          <m:e>
                            <m:r>
                              <a:rPr lang="en-US" altLang="zh-CN" sz="2000" i="1">
                                <a:solidFill>
                                  <a:srgbClr val="000000"/>
                                </a:solidFill>
                                <a:latin typeface="Cambria Math" panose="02040503050406030204" pitchFamily="18" charset="0"/>
                              </a:rPr>
                              <m:t>𝑃</m:t>
                            </m:r>
                          </m:e>
                        </m:acc>
                      </m:e>
                      <m:sub>
                        <m:r>
                          <m:rPr>
                            <m:sty m:val="p"/>
                          </m:rPr>
                          <a:rPr lang="en-US" altLang="zh-CN" sz="2000" i="1">
                            <a:solidFill>
                              <a:srgbClr val="000000"/>
                            </a:solidFill>
                            <a:latin typeface="Cambria Math" panose="02040503050406030204" pitchFamily="18" charset="0"/>
                          </a:rPr>
                          <m:t>e</m:t>
                        </m:r>
                      </m:sub>
                    </m:sSub>
                    <m:r>
                      <a:rPr lang="en-US" altLang="zh-CN" sz="2000" i="1">
                        <a:solidFill>
                          <a:srgbClr val="836967"/>
                        </a:solidFill>
                        <a:latin typeface="Cambria Math" panose="02040503050406030204" pitchFamily="18" charset="0"/>
                      </a:rPr>
                      <m:t>=</m:t>
                    </m:r>
                    <m:sSup>
                      <m:sSupPr>
                        <m:ctrlPr>
                          <a:rPr lang="en-US" altLang="zh-CN" sz="2000" i="1">
                            <a:solidFill>
                              <a:srgbClr val="000000"/>
                            </a:solidFill>
                            <a:latin typeface="Cambria Math" panose="02040503050406030204" pitchFamily="18" charset="0"/>
                          </a:rPr>
                        </m:ctrlPr>
                      </m:sSupPr>
                      <m:e>
                        <m:r>
                          <a:rPr lang="en-US" altLang="zh-CN" sz="2000" i="1">
                            <a:solidFill>
                              <a:srgbClr val="000000"/>
                            </a:solidFill>
                            <a:latin typeface="Cambria Math" panose="02040503050406030204" pitchFamily="18" charset="0"/>
                          </a:rPr>
                          <m:t>2</m:t>
                        </m:r>
                      </m:e>
                      <m:sup>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𝑅</m:t>
                            </m:r>
                          </m:e>
                          <m:sub>
                            <m:r>
                              <a:rPr lang="en-US" altLang="zh-CN" sz="2000" i="1">
                                <a:solidFill>
                                  <a:srgbClr val="000000"/>
                                </a:solidFill>
                                <a:latin typeface="Cambria Math" panose="02040503050406030204" pitchFamily="18" charset="0"/>
                              </a:rPr>
                              <m:t>0</m:t>
                            </m:r>
                          </m:sub>
                        </m:sSub>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sup>
                    </m:sSup>
                  </m:oMath>
                </a14:m>
                <a:r>
                  <a:rPr lang="zh-CN" altLang="en-US" sz="2000" dirty="0">
                    <a:solidFill>
                      <a:srgbClr val="000000"/>
                    </a:solidFill>
                    <a:latin typeface="Times New Roman"/>
                    <a:ea typeface="黑体"/>
                  </a:rPr>
                  <a:t>    </a:t>
                </a:r>
                <a:endParaRPr lang="en-US" altLang="zh-CN" sz="2000" dirty="0">
                  <a:solidFill>
                    <a:srgbClr val="000000"/>
                  </a:solidFill>
                  <a:latin typeface="Times New Roman"/>
                  <a:ea typeface="黑体"/>
                </a:endParaRPr>
              </a:p>
            </p:txBody>
          </p:sp>
        </mc:Choice>
        <mc:Fallback xmlns="">
          <p:sp>
            <p:nvSpPr>
              <p:cNvPr id="4" name="矩形 3"/>
              <p:cNvSpPr>
                <a:spLocks noRot="1" noChangeAspect="1" noMove="1" noResize="1" noEditPoints="1" noAdjustHandles="1" noChangeArrowheads="1" noChangeShapeType="1" noTextEdit="1"/>
              </p:cNvSpPr>
              <p:nvPr/>
            </p:nvSpPr>
            <p:spPr>
              <a:xfrm>
                <a:off x="1943209" y="2514624"/>
                <a:ext cx="8305582" cy="3657504"/>
              </a:xfrm>
              <a:prstGeom prst="rect">
                <a:avLst/>
              </a:prstGeom>
              <a:blipFill>
                <a:blip r:embed="rId2"/>
                <a:stretch>
                  <a:fillRect l="-733"/>
                </a:stretch>
              </a:blipFill>
            </p:spPr>
            <p:txBody>
              <a:bodyPr/>
              <a:lstStyle/>
              <a:p>
                <a:r>
                  <a:rPr lang="zh-CN" altLang="en-US">
                    <a:noFill/>
                  </a:rPr>
                  <a:t> </a:t>
                </a:r>
              </a:p>
            </p:txBody>
          </p:sp>
        </mc:Fallback>
      </mc:AlternateContent>
      <p:sp>
        <p:nvSpPr>
          <p:cNvPr id="5" name="文本框 4"/>
          <p:cNvSpPr txBox="1"/>
          <p:nvPr/>
        </p:nvSpPr>
        <p:spPr>
          <a:xfrm>
            <a:off x="2819486" y="1143060"/>
            <a:ext cx="6553028" cy="957250"/>
          </a:xfrm>
          <a:prstGeom prst="rect">
            <a:avLst/>
          </a:prstGeom>
          <a:noFill/>
        </p:spPr>
        <p:txBody>
          <a:bodyPr wrap="square">
            <a:spAutoFit/>
          </a:bodyPr>
          <a:lstStyle/>
          <a:p>
            <a:pPr algn="ctr" eaLnBrk="0" fontAlgn="base" hangingPunct="0">
              <a:lnSpc>
                <a:spcPct val="150000"/>
              </a:lnSpc>
              <a:spcBef>
                <a:spcPct val="0"/>
              </a:spcBef>
              <a:spcAft>
                <a:spcPct val="0"/>
              </a:spcAft>
            </a:pPr>
            <a:r>
              <a:rPr lang="zh-CN" altLang="en-US" sz="2000" dirty="0">
                <a:solidFill>
                  <a:srgbClr val="000000"/>
                </a:solidFill>
                <a:latin typeface="黑体"/>
                <a:ea typeface="黑体"/>
              </a:rPr>
              <a:t>截止频率越高，系统响应越快</a:t>
            </a:r>
            <a:endParaRPr lang="en-US" altLang="zh-CN" sz="2000" dirty="0">
              <a:solidFill>
                <a:srgbClr val="000000"/>
              </a:solidFill>
              <a:latin typeface="黑体"/>
              <a:ea typeface="黑体"/>
            </a:endParaRPr>
          </a:p>
          <a:p>
            <a:pPr algn="ctr" eaLnBrk="0" fontAlgn="base" hangingPunct="0">
              <a:lnSpc>
                <a:spcPct val="150000"/>
              </a:lnSpc>
              <a:spcBef>
                <a:spcPct val="0"/>
              </a:spcBef>
              <a:spcAft>
                <a:spcPct val="0"/>
              </a:spcAft>
            </a:pPr>
            <a:r>
              <a:rPr lang="zh-CN" altLang="en-US" sz="2000" dirty="0">
                <a:solidFill>
                  <a:srgbClr val="000000"/>
                </a:solidFill>
                <a:latin typeface="Times New Roman"/>
                <a:ea typeface="黑体"/>
              </a:rPr>
              <a:t>因此</a:t>
            </a:r>
            <a:r>
              <a:rPr lang="en-US" altLang="zh-CN" sz="2000" dirty="0">
                <a:solidFill>
                  <a:srgbClr val="000000"/>
                </a:solidFill>
                <a:latin typeface="Times New Roman"/>
                <a:ea typeface="黑体"/>
              </a:rPr>
              <a:t>Polar</a:t>
            </a:r>
            <a:r>
              <a:rPr lang="zh-CN" altLang="en-US" sz="2000" dirty="0">
                <a:solidFill>
                  <a:srgbClr val="000000"/>
                </a:solidFill>
                <a:latin typeface="Times New Roman"/>
                <a:ea typeface="黑体"/>
              </a:rPr>
              <a:t>码的最初</a:t>
            </a:r>
            <a:r>
              <a:rPr lang="zh-CN" altLang="en-US" sz="2000" dirty="0">
                <a:solidFill>
                  <a:srgbClr val="000000"/>
                </a:solidFill>
                <a:latin typeface="黑体"/>
                <a:ea typeface="黑体"/>
              </a:rPr>
              <a:t>设计的出发点是为了提升截止频率</a:t>
            </a:r>
            <a:endParaRPr lang="en-US" altLang="zh-CN" dirty="0">
              <a:solidFill>
                <a:srgbClr val="000000"/>
              </a:solidFill>
              <a:latin typeface="黑体"/>
              <a:ea typeface="宋体" panose="02010600030101010101" pitchFamily="2" charset="-122"/>
            </a:endParaRP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86575" y="148100"/>
            <a:ext cx="3371501"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a:t>
            </a:r>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Arial" panose="020B0604020202020204" pitchFamily="34" charset="0"/>
                <a:ea typeface="宋体" panose="02010600030101010101" pitchFamily="2" charset="-122"/>
                <a:cs typeface="+mn-cs"/>
              </a:rPr>
              <a:t>）码起源</a:t>
            </a:r>
            <a:endParaRPr lang="zh-CN" altLang="en-US" sz="2400" dirty="0">
              <a:sym typeface="+mn-ea"/>
            </a:endParaRPr>
          </a:p>
        </p:txBody>
      </p:sp>
      <mc:AlternateContent xmlns:mc="http://schemas.openxmlformats.org/markup-compatibility/2006" xmlns:a14="http://schemas.microsoft.com/office/drawing/2010/main">
        <mc:Choice Requires="a14">
          <p:sp>
            <p:nvSpPr>
              <p:cNvPr id="5" name="矩形 4"/>
              <p:cNvSpPr/>
              <p:nvPr/>
            </p:nvSpPr>
            <p:spPr>
              <a:xfrm>
                <a:off x="1943209" y="914988"/>
                <a:ext cx="8305582" cy="28193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eaLnBrk="0" fontAlgn="base" hangingPunct="0">
                  <a:lnSpc>
                    <a:spcPct val="150000"/>
                  </a:lnSpc>
                  <a:spcBef>
                    <a:spcPct val="0"/>
                  </a:spcBef>
                  <a:spcAft>
                    <a:spcPct val="0"/>
                  </a:spcAft>
                </a:pPr>
                <a:r>
                  <a:rPr lang="zh-CN" altLang="en-US" sz="2000" dirty="0">
                    <a:solidFill>
                      <a:srgbClr val="000000"/>
                    </a:solidFill>
                    <a:latin typeface="Times New Roman"/>
                    <a:ea typeface="黑体"/>
                  </a:rPr>
                  <a:t>        因此，在</a:t>
                </a:r>
                <a:r>
                  <a:rPr lang="en-US" altLang="zh-CN" sz="2000" dirty="0">
                    <a:solidFill>
                      <a:srgbClr val="000000"/>
                    </a:solidFill>
                    <a:latin typeface="Times New Roman"/>
                    <a:ea typeface="黑体"/>
                  </a:rPr>
                  <a:t>2004-2006</a:t>
                </a:r>
                <a:r>
                  <a:rPr lang="zh-CN" altLang="en-US" sz="2000" dirty="0">
                    <a:solidFill>
                      <a:srgbClr val="000000"/>
                    </a:solidFill>
                    <a:latin typeface="Times New Roman"/>
                    <a:ea typeface="黑体"/>
                  </a:rPr>
                  <a:t>年，</a:t>
                </a:r>
                <a:r>
                  <a:rPr lang="en-US" altLang="zh-CN" sz="2000" dirty="0">
                    <a:solidFill>
                      <a:srgbClr val="000000"/>
                    </a:solidFill>
                    <a:latin typeface="Times New Roman"/>
                    <a:ea typeface="黑体"/>
                  </a:rPr>
                  <a:t> </a:t>
                </a:r>
                <a:r>
                  <a:rPr lang="en-US" altLang="zh-CN" sz="2000" dirty="0" err="1">
                    <a:solidFill>
                      <a:srgbClr val="000000"/>
                    </a:solidFill>
                    <a:latin typeface="Times New Roman"/>
                    <a:ea typeface="黑体"/>
                  </a:rPr>
                  <a:t>Arikan</a:t>
                </a:r>
                <a:r>
                  <a:rPr lang="en-US" altLang="zh-CN" sz="2000" dirty="0">
                    <a:solidFill>
                      <a:srgbClr val="000000"/>
                    </a:solidFill>
                    <a:latin typeface="Times New Roman"/>
                    <a:ea typeface="黑体"/>
                  </a:rPr>
                  <a:t> </a:t>
                </a:r>
                <a:r>
                  <a:rPr lang="zh-CN" altLang="en-US" sz="2000" dirty="0">
                    <a:solidFill>
                      <a:srgbClr val="000000"/>
                    </a:solidFill>
                    <a:latin typeface="Times New Roman"/>
                    <a:ea typeface="黑体"/>
                  </a:rPr>
                  <a:t>教授尝试使用信道合并与分离的方法来提升信道截止速率。</a:t>
                </a:r>
                <a:endParaRPr lang="en-US" altLang="zh-CN" sz="2000" dirty="0">
                  <a:solidFill>
                    <a:srgbClr val="000000"/>
                  </a:solidFill>
                  <a:latin typeface="Times New Roman"/>
                  <a:ea typeface="黑体"/>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a:rPr>
                  <a:t>        </a:t>
                </a:r>
                <a:r>
                  <a:rPr lang="zh-CN" altLang="en-US" sz="2000" dirty="0">
                    <a:solidFill>
                      <a:srgbClr val="000000"/>
                    </a:solidFill>
                    <a:latin typeface="Times New Roman"/>
                    <a:ea typeface="黑体"/>
                  </a:rPr>
                  <a:t>对于一个离散无记忆的信道</a:t>
                </a:r>
                <a:r>
                  <a:rPr lang="en-US" altLang="zh-CN" sz="2000" dirty="0">
                    <a:solidFill>
                      <a:srgbClr val="000000"/>
                    </a:solidFill>
                    <a:latin typeface="Times New Roman"/>
                    <a:ea typeface="黑体"/>
                  </a:rPr>
                  <a:t>W</a:t>
                </a:r>
                <a:r>
                  <a:rPr lang="zh-CN" altLang="en-US" sz="2000" dirty="0">
                    <a:solidFill>
                      <a:srgbClr val="000000"/>
                    </a:solidFill>
                    <a:latin typeface="Times New Roman"/>
                    <a:ea typeface="黑体"/>
                  </a:rPr>
                  <a:t>，分离出两个相关的子信道</a:t>
                </a:r>
                <a14:m>
                  <m:oMath xmlns:m="http://schemas.openxmlformats.org/officeDocument/2006/math">
                    <m:sSub>
                      <m:sSubPr>
                        <m:ctrlPr>
                          <a:rPr lang="en-US" altLang="zh-CN" sz="2000" i="1" dirty="0">
                            <a:solidFill>
                              <a:srgbClr val="000000"/>
                            </a:solidFill>
                            <a:latin typeface="Cambria Math" panose="02040503050406030204" pitchFamily="18" charset="0"/>
                          </a:rPr>
                        </m:ctrlPr>
                      </m:sSubPr>
                      <m:e>
                        <m:r>
                          <a:rPr lang="en-US" altLang="zh-CN" sz="2000" i="1" dirty="0">
                            <a:solidFill>
                              <a:srgbClr val="000000"/>
                            </a:solidFill>
                            <a:latin typeface="Cambria Math" panose="02040503050406030204" pitchFamily="18" charset="0"/>
                          </a:rPr>
                          <m:t>𝑊</m:t>
                        </m:r>
                      </m:e>
                      <m:sub>
                        <m:r>
                          <a:rPr lang="en-US" altLang="zh-CN" sz="2000" i="1" dirty="0">
                            <a:solidFill>
                              <a:srgbClr val="000000"/>
                            </a:solidFill>
                            <a:latin typeface="Cambria Math" panose="02040503050406030204" pitchFamily="18" charset="0"/>
                          </a:rPr>
                          <m:t>1</m:t>
                        </m:r>
                      </m:sub>
                    </m:sSub>
                    <m:r>
                      <a:rPr lang="zh-CN" altLang="en-US" sz="2000" i="1" dirty="0">
                        <a:solidFill>
                          <a:srgbClr val="000000"/>
                        </a:solidFill>
                        <a:latin typeface="Cambria Math" panose="02040503050406030204" pitchFamily="18" charset="0"/>
                      </a:rPr>
                      <m:t>和</m:t>
                    </m:r>
                    <m:sSub>
                      <m:sSubPr>
                        <m:ctrlPr>
                          <a:rPr lang="en-US" altLang="zh-CN" sz="2000" i="1" dirty="0">
                            <a:solidFill>
                              <a:srgbClr val="000000"/>
                            </a:solidFill>
                            <a:latin typeface="Cambria Math" panose="02040503050406030204" pitchFamily="18" charset="0"/>
                          </a:rPr>
                        </m:ctrlPr>
                      </m:sSubPr>
                      <m:e>
                        <m:r>
                          <a:rPr lang="en-US" altLang="zh-CN" sz="2000" i="1" dirty="0">
                            <a:solidFill>
                              <a:srgbClr val="000000"/>
                            </a:solidFill>
                            <a:latin typeface="Cambria Math" panose="02040503050406030204" pitchFamily="18" charset="0"/>
                          </a:rPr>
                          <m:t>𝑊</m:t>
                        </m:r>
                      </m:e>
                      <m:sub>
                        <m:r>
                          <a:rPr lang="en-US" altLang="zh-CN" sz="2000" i="1" dirty="0">
                            <a:solidFill>
                              <a:srgbClr val="000000"/>
                            </a:solidFill>
                            <a:latin typeface="Cambria Math" panose="02040503050406030204" pitchFamily="18" charset="0"/>
                          </a:rPr>
                          <m:t>2</m:t>
                        </m:r>
                      </m:sub>
                    </m:sSub>
                    <m:r>
                      <a:rPr lang="zh-CN" altLang="en-US" sz="2000" i="1" dirty="0">
                        <a:solidFill>
                          <a:srgbClr val="000000"/>
                        </a:solidFill>
                        <a:latin typeface="Cambria Math" panose="02040503050406030204" pitchFamily="18" charset="0"/>
                      </a:rPr>
                      <m:t>，</m:t>
                    </m:r>
                  </m:oMath>
                </a14:m>
                <a:r>
                  <a:rPr lang="zh-CN" altLang="en-US" sz="2000" dirty="0">
                    <a:solidFill>
                      <a:srgbClr val="000000"/>
                    </a:solidFill>
                    <a:latin typeface="Times New Roman"/>
                    <a:ea typeface="黑体"/>
                  </a:rPr>
                  <a:t>有</a:t>
                </a:r>
                <a:r>
                  <a:rPr lang="en-US" altLang="zh-CN" sz="2000" dirty="0">
                    <a:solidFill>
                      <a:srgbClr val="000000"/>
                    </a:solidFill>
                    <a:latin typeface="Times New Roman"/>
                    <a:ea typeface="黑体"/>
                  </a:rPr>
                  <a:t>C(</a:t>
                </a:r>
                <a14:m>
                  <m:oMath xmlns:m="http://schemas.openxmlformats.org/officeDocument/2006/math">
                    <m:sSub>
                      <m:sSubPr>
                        <m:ctrlPr>
                          <a:rPr lang="en-US" altLang="zh-CN" sz="2000" i="1" dirty="0">
                            <a:solidFill>
                              <a:srgbClr val="000000"/>
                            </a:solidFill>
                            <a:latin typeface="Cambria Math" panose="02040503050406030204" pitchFamily="18" charset="0"/>
                          </a:rPr>
                        </m:ctrlPr>
                      </m:sSubPr>
                      <m:e>
                        <m:r>
                          <a:rPr lang="en-US" altLang="zh-CN" sz="2000" i="1" dirty="0">
                            <a:solidFill>
                              <a:srgbClr val="000000"/>
                            </a:solidFill>
                            <a:latin typeface="Cambria Math" panose="02040503050406030204" pitchFamily="18" charset="0"/>
                          </a:rPr>
                          <m:t>𝑊</m:t>
                        </m:r>
                      </m:e>
                      <m:sub>
                        <m:r>
                          <a:rPr lang="en-US" altLang="zh-CN" sz="2000" i="1" dirty="0">
                            <a:solidFill>
                              <a:srgbClr val="000000"/>
                            </a:solidFill>
                            <a:latin typeface="Cambria Math" panose="02040503050406030204" pitchFamily="18" charset="0"/>
                          </a:rPr>
                          <m:t>1</m:t>
                        </m:r>
                      </m:sub>
                    </m:sSub>
                  </m:oMath>
                </a14:m>
                <a:r>
                  <a:rPr lang="en-US" altLang="zh-CN" sz="2000" dirty="0">
                    <a:solidFill>
                      <a:srgbClr val="000000"/>
                    </a:solidFill>
                    <a:latin typeface="Times New Roman"/>
                    <a:ea typeface="黑体"/>
                  </a:rPr>
                  <a:t>)+ C(</a:t>
                </a:r>
                <a14:m>
                  <m:oMath xmlns:m="http://schemas.openxmlformats.org/officeDocument/2006/math">
                    <m:sSub>
                      <m:sSubPr>
                        <m:ctrlPr>
                          <a:rPr lang="en-US" altLang="zh-CN" sz="2000" i="1" dirty="0">
                            <a:solidFill>
                              <a:srgbClr val="000000"/>
                            </a:solidFill>
                            <a:latin typeface="Cambria Math" panose="02040503050406030204" pitchFamily="18" charset="0"/>
                          </a:rPr>
                        </m:ctrlPr>
                      </m:sSubPr>
                      <m:e>
                        <m:r>
                          <a:rPr lang="en-US" altLang="zh-CN" sz="2000" i="1" dirty="0">
                            <a:solidFill>
                              <a:srgbClr val="000000"/>
                            </a:solidFill>
                            <a:latin typeface="Cambria Math" panose="02040503050406030204" pitchFamily="18" charset="0"/>
                          </a:rPr>
                          <m:t>𝑊</m:t>
                        </m:r>
                      </m:e>
                      <m:sub>
                        <m:r>
                          <a:rPr lang="en-US" altLang="zh-CN" sz="2000" i="1" dirty="0">
                            <a:solidFill>
                              <a:srgbClr val="000000"/>
                            </a:solidFill>
                            <a:latin typeface="Cambria Math" panose="02040503050406030204" pitchFamily="18" charset="0"/>
                          </a:rPr>
                          <m:t>2</m:t>
                        </m:r>
                      </m:sub>
                    </m:sSub>
                  </m:oMath>
                </a14:m>
                <a:r>
                  <a:rPr lang="en-US" altLang="zh-CN" sz="2000" dirty="0">
                    <a:solidFill>
                      <a:srgbClr val="000000"/>
                    </a:solidFill>
                    <a:latin typeface="Times New Roman"/>
                    <a:ea typeface="黑体"/>
                  </a:rPr>
                  <a:t>)</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C(W)</a:t>
                </a:r>
                <a:r>
                  <a:rPr lang="zh-CN" altLang="en-US" sz="2000" dirty="0">
                    <a:solidFill>
                      <a:srgbClr val="000000"/>
                    </a:solidFill>
                    <a:latin typeface="Times New Roman"/>
                    <a:ea typeface="黑体"/>
                  </a:rPr>
                  <a:t>，同时有</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𝑅</m:t>
                        </m:r>
                      </m:e>
                      <m:sub>
                        <m:r>
                          <a:rPr lang="en-US" altLang="zh-CN" sz="2000" i="1">
                            <a:solidFill>
                              <a:srgbClr val="000000"/>
                            </a:solidFill>
                            <a:latin typeface="Cambria Math" panose="02040503050406030204" pitchFamily="18" charset="0"/>
                          </a:rPr>
                          <m:t>0</m:t>
                        </m:r>
                      </m:sub>
                    </m:sSub>
                  </m:oMath>
                </a14:m>
                <a:r>
                  <a:rPr lang="en-US" altLang="zh-CN" sz="2000" dirty="0">
                    <a:solidFill>
                      <a:srgbClr val="000000"/>
                    </a:solidFill>
                    <a:latin typeface="Times New Roman"/>
                    <a:ea typeface="黑体"/>
                  </a:rPr>
                  <a:t>(</a:t>
                </a:r>
                <a14:m>
                  <m:oMath xmlns:m="http://schemas.openxmlformats.org/officeDocument/2006/math">
                    <m:sSub>
                      <m:sSubPr>
                        <m:ctrlPr>
                          <a:rPr lang="en-US" altLang="zh-CN" sz="2000" i="1" dirty="0">
                            <a:solidFill>
                              <a:srgbClr val="000000"/>
                            </a:solidFill>
                            <a:latin typeface="Cambria Math" panose="02040503050406030204" pitchFamily="18" charset="0"/>
                          </a:rPr>
                        </m:ctrlPr>
                      </m:sSubPr>
                      <m:e>
                        <m:r>
                          <a:rPr lang="en-US" altLang="zh-CN" sz="2000" i="1" dirty="0">
                            <a:solidFill>
                              <a:srgbClr val="000000"/>
                            </a:solidFill>
                            <a:latin typeface="Cambria Math" panose="02040503050406030204" pitchFamily="18" charset="0"/>
                          </a:rPr>
                          <m:t>𝑊</m:t>
                        </m:r>
                      </m:e>
                      <m:sub>
                        <m:r>
                          <a:rPr lang="en-US" altLang="zh-CN" sz="2000" i="1" dirty="0">
                            <a:solidFill>
                              <a:srgbClr val="000000"/>
                            </a:solidFill>
                            <a:latin typeface="Cambria Math" panose="02040503050406030204" pitchFamily="18" charset="0"/>
                          </a:rPr>
                          <m:t>1</m:t>
                        </m:r>
                      </m:sub>
                    </m:sSub>
                  </m:oMath>
                </a14:m>
                <a:r>
                  <a:rPr lang="en-US" altLang="zh-CN" sz="2000" dirty="0">
                    <a:solidFill>
                      <a:srgbClr val="000000"/>
                    </a:solidFill>
                    <a:latin typeface="Times New Roman"/>
                    <a:ea typeface="黑体"/>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𝑅</m:t>
                        </m:r>
                      </m:e>
                      <m:sub>
                        <m:r>
                          <a:rPr lang="en-US" altLang="zh-CN" sz="2000" i="1">
                            <a:solidFill>
                              <a:srgbClr val="000000"/>
                            </a:solidFill>
                            <a:latin typeface="Cambria Math" panose="02040503050406030204" pitchFamily="18" charset="0"/>
                          </a:rPr>
                          <m:t>0</m:t>
                        </m:r>
                      </m:sub>
                    </m:sSub>
                  </m:oMath>
                </a14:m>
                <a:r>
                  <a:rPr lang="en-US" altLang="zh-CN" sz="2000" dirty="0">
                    <a:solidFill>
                      <a:srgbClr val="000000"/>
                    </a:solidFill>
                    <a:latin typeface="Times New Roman"/>
                    <a:ea typeface="黑体"/>
                  </a:rPr>
                  <a:t>(</a:t>
                </a:r>
                <a14:m>
                  <m:oMath xmlns:m="http://schemas.openxmlformats.org/officeDocument/2006/math">
                    <m:sSub>
                      <m:sSubPr>
                        <m:ctrlPr>
                          <a:rPr lang="en-US" altLang="zh-CN" sz="2000" i="1" dirty="0">
                            <a:solidFill>
                              <a:srgbClr val="000000"/>
                            </a:solidFill>
                            <a:latin typeface="Cambria Math" panose="02040503050406030204" pitchFamily="18" charset="0"/>
                          </a:rPr>
                        </m:ctrlPr>
                      </m:sSubPr>
                      <m:e>
                        <m:r>
                          <a:rPr lang="en-US" altLang="zh-CN" sz="2000" i="1" dirty="0">
                            <a:solidFill>
                              <a:srgbClr val="000000"/>
                            </a:solidFill>
                            <a:latin typeface="Cambria Math" panose="02040503050406030204" pitchFamily="18" charset="0"/>
                          </a:rPr>
                          <m:t>𝑊</m:t>
                        </m:r>
                      </m:e>
                      <m:sub>
                        <m:r>
                          <a:rPr lang="en-US" altLang="zh-CN" sz="2000" i="1" dirty="0">
                            <a:solidFill>
                              <a:srgbClr val="000000"/>
                            </a:solidFill>
                            <a:latin typeface="Cambria Math" panose="02040503050406030204" pitchFamily="18" charset="0"/>
                          </a:rPr>
                          <m:t>2</m:t>
                        </m:r>
                      </m:sub>
                    </m:sSub>
                  </m:oMath>
                </a14:m>
                <a:r>
                  <a:rPr lang="en-US" altLang="zh-CN" sz="2000" dirty="0">
                    <a:solidFill>
                      <a:srgbClr val="000000"/>
                    </a:solidFill>
                    <a:latin typeface="Times New Roman"/>
                    <a:ea typeface="黑体"/>
                  </a:rPr>
                  <a:t>)</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𝑅</m:t>
                        </m:r>
                      </m:e>
                      <m:sub>
                        <m:r>
                          <a:rPr lang="en-US" altLang="zh-CN" sz="2000" i="1">
                            <a:solidFill>
                              <a:srgbClr val="000000"/>
                            </a:solidFill>
                            <a:latin typeface="Cambria Math" panose="02040503050406030204" pitchFamily="18" charset="0"/>
                          </a:rPr>
                          <m:t>0</m:t>
                        </m:r>
                      </m:sub>
                    </m:sSub>
                  </m:oMath>
                </a14:m>
                <a:r>
                  <a:rPr lang="en-US" altLang="zh-CN" sz="2000" dirty="0">
                    <a:solidFill>
                      <a:srgbClr val="000000"/>
                    </a:solidFill>
                    <a:latin typeface="Times New Roman"/>
                    <a:ea typeface="黑体"/>
                  </a:rPr>
                  <a:t> (W)</a:t>
                </a:r>
                <a:r>
                  <a:rPr lang="zh-CN" altLang="en-US" sz="2000" dirty="0">
                    <a:solidFill>
                      <a:srgbClr val="000000"/>
                    </a:solidFill>
                    <a:latin typeface="Times New Roman"/>
                    <a:ea typeface="黑体"/>
                  </a:rPr>
                  <a:t>。其中</a:t>
                </a:r>
                <a:r>
                  <a:rPr lang="en-US" altLang="zh-CN" sz="2000" dirty="0">
                    <a:solidFill>
                      <a:srgbClr val="000000"/>
                    </a:solidFill>
                    <a:latin typeface="Times New Roman"/>
                    <a:ea typeface="黑体"/>
                  </a:rPr>
                  <a:t>C</a:t>
                </a:r>
                <a:r>
                  <a:rPr lang="zh-CN" altLang="en-US" sz="2000" dirty="0">
                    <a:solidFill>
                      <a:srgbClr val="000000"/>
                    </a:solidFill>
                    <a:latin typeface="Times New Roman"/>
                    <a:ea typeface="黑体"/>
                  </a:rPr>
                  <a:t>是信道容量，</a:t>
                </a:r>
                <a:r>
                  <a:rPr lang="en-US" altLang="zh-CN" sz="2000" dirty="0">
                    <a:solidFill>
                      <a:srgbClr val="000000"/>
                    </a:solidFill>
                    <a:latin typeface="Times New Roman"/>
                    <a:ea typeface="黑体"/>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𝑅</m:t>
                        </m:r>
                      </m:e>
                      <m:sub>
                        <m:r>
                          <a:rPr lang="en-US" altLang="zh-CN" sz="2000" i="1">
                            <a:solidFill>
                              <a:srgbClr val="000000"/>
                            </a:solidFill>
                            <a:latin typeface="Cambria Math" panose="02040503050406030204" pitchFamily="18" charset="0"/>
                          </a:rPr>
                          <m:t>0</m:t>
                        </m:r>
                      </m:sub>
                    </m:sSub>
                  </m:oMath>
                </a14:m>
                <a:r>
                  <a:rPr lang="zh-CN" altLang="en-US" sz="2000" dirty="0">
                    <a:solidFill>
                      <a:srgbClr val="000000"/>
                    </a:solidFill>
                    <a:latin typeface="Times New Roman"/>
                    <a:ea typeface="黑体"/>
                  </a:rPr>
                  <a:t>是信道截止速率，即两个子信道信道容量不超过原本的总信道容量，但分离后总信道截止速率提高了。</a:t>
                </a:r>
              </a:p>
            </p:txBody>
          </p:sp>
        </mc:Choice>
        <mc:Fallback xmlns="">
          <p:sp>
            <p:nvSpPr>
              <p:cNvPr id="5" name="矩形 4"/>
              <p:cNvSpPr>
                <a:spLocks noRot="1" noChangeAspect="1" noMove="1" noResize="1" noEditPoints="1" noAdjustHandles="1" noChangeArrowheads="1" noChangeShapeType="1" noTextEdit="1"/>
              </p:cNvSpPr>
              <p:nvPr/>
            </p:nvSpPr>
            <p:spPr>
              <a:xfrm>
                <a:off x="1943209" y="914988"/>
                <a:ext cx="8305582" cy="2819326"/>
              </a:xfrm>
              <a:prstGeom prst="rect">
                <a:avLst/>
              </a:prstGeom>
              <a:blipFill>
                <a:blip r:embed="rId2"/>
                <a:stretch>
                  <a:fillRect l="-733" b="-2366"/>
                </a:stretch>
              </a:blipFill>
            </p:spPr>
            <p:txBody>
              <a:bodyPr/>
              <a:lstStyle/>
              <a:p>
                <a:r>
                  <a:rPr lang="zh-CN" altLang="en-US">
                    <a:noFill/>
                  </a:rPr>
                  <a:t> </a:t>
                </a:r>
              </a:p>
            </p:txBody>
          </p:sp>
        </mc:Fallback>
      </mc:AlternateContent>
      <p:pic>
        <p:nvPicPr>
          <p:cNvPr id="6" name="图片 5"/>
          <p:cNvPicPr>
            <a:picLocks noChangeAspect="1"/>
          </p:cNvPicPr>
          <p:nvPr/>
        </p:nvPicPr>
        <p:blipFill>
          <a:blip r:embed="rId3"/>
          <a:stretch>
            <a:fillRect/>
          </a:stretch>
        </p:blipFill>
        <p:spPr>
          <a:xfrm>
            <a:off x="1630827" y="4013701"/>
            <a:ext cx="4571999" cy="1943784"/>
          </a:xfrm>
          <a:prstGeom prst="rect">
            <a:avLst/>
          </a:prstGeom>
        </p:spPr>
      </p:pic>
      <p:sp>
        <p:nvSpPr>
          <p:cNvPr id="7" name="文本框 6"/>
          <p:cNvSpPr txBox="1"/>
          <p:nvPr/>
        </p:nvSpPr>
        <p:spPr>
          <a:xfrm>
            <a:off x="3048080" y="6248326"/>
            <a:ext cx="1981148" cy="380990"/>
          </a:xfrm>
          <a:prstGeom prst="rect">
            <a:avLst/>
          </a:prstGeom>
          <a:noFill/>
        </p:spPr>
        <p:txBody>
          <a:bodyPr wrap="square" rtlCol="0" anchor="t">
            <a:spAutoFit/>
          </a:bodyPr>
          <a:lstStyle/>
          <a:p>
            <a:pPr eaLnBrk="0" fontAlgn="base" hangingPunct="0">
              <a:spcBef>
                <a:spcPct val="0"/>
              </a:spcBef>
              <a:spcAft>
                <a:spcPct val="0"/>
              </a:spcAft>
            </a:pPr>
            <a:r>
              <a:rPr lang="zh-CN" altLang="en-US" b="1" dirty="0">
                <a:solidFill>
                  <a:srgbClr val="3333CC"/>
                </a:solidFill>
                <a:latin typeface="黑体" panose="02010609060101010101" pitchFamily="49" charset="-122"/>
                <a:ea typeface="黑体" panose="02010609060101010101" pitchFamily="49" charset="-122"/>
                <a:sym typeface="+mn-ea"/>
              </a:rPr>
              <a:t>信道分离示意图</a:t>
            </a:r>
          </a:p>
        </p:txBody>
      </p:sp>
      <p:pic>
        <p:nvPicPr>
          <p:cNvPr id="9" name="图片 8"/>
          <p:cNvPicPr>
            <a:picLocks noChangeAspect="1"/>
          </p:cNvPicPr>
          <p:nvPr/>
        </p:nvPicPr>
        <p:blipFill>
          <a:blip r:embed="rId4"/>
          <a:stretch>
            <a:fillRect/>
          </a:stretch>
        </p:blipFill>
        <p:spPr>
          <a:xfrm>
            <a:off x="6476618" y="4021262"/>
            <a:ext cx="4084556" cy="2002839"/>
          </a:xfrm>
          <a:prstGeom prst="rect">
            <a:avLst/>
          </a:prstGeom>
        </p:spPr>
      </p:pic>
      <p:sp>
        <p:nvSpPr>
          <p:cNvPr id="10" name="文本框 9"/>
          <p:cNvSpPr txBox="1"/>
          <p:nvPr/>
        </p:nvSpPr>
        <p:spPr>
          <a:xfrm>
            <a:off x="7714947" y="6247738"/>
            <a:ext cx="1981148" cy="380990"/>
          </a:xfrm>
          <a:prstGeom prst="rect">
            <a:avLst/>
          </a:prstGeom>
          <a:noFill/>
        </p:spPr>
        <p:txBody>
          <a:bodyPr wrap="square" rtlCol="0" anchor="t">
            <a:spAutoFit/>
          </a:bodyPr>
          <a:lstStyle/>
          <a:p>
            <a:pPr eaLnBrk="0" fontAlgn="base" hangingPunct="0">
              <a:spcBef>
                <a:spcPct val="0"/>
              </a:spcBef>
              <a:spcAft>
                <a:spcPct val="0"/>
              </a:spcAft>
            </a:pPr>
            <a:r>
              <a:rPr lang="zh-CN" altLang="en-US" b="1" dirty="0">
                <a:solidFill>
                  <a:srgbClr val="3333CC"/>
                </a:solidFill>
                <a:latin typeface="黑体" panose="02010609060101010101" pitchFamily="49" charset="-122"/>
                <a:ea typeface="黑体" panose="02010609060101010101" pitchFamily="49" charset="-122"/>
                <a:sym typeface="+mn-ea"/>
              </a:rPr>
              <a:t>信道合并示意图</a:t>
            </a: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06673" y="1066862"/>
            <a:ext cx="7778654" cy="1523960"/>
          </a:xfrm>
        </p:spPr>
        <p:style>
          <a:lnRef idx="2">
            <a:schemeClr val="dk1"/>
          </a:lnRef>
          <a:fillRef idx="1">
            <a:schemeClr val="lt1"/>
          </a:fillRef>
          <a:effectRef idx="0">
            <a:schemeClr val="dk1"/>
          </a:effectRef>
          <a:fontRef idx="minor">
            <a:schemeClr val="dk1"/>
          </a:fontRef>
        </p:style>
        <p:txBody>
          <a:bodyPr/>
          <a:lstStyle/>
          <a:p>
            <a:pPr marL="0" indent="0">
              <a:lnSpc>
                <a:spcPct val="150000"/>
              </a:lnSpc>
              <a:spcBef>
                <a:spcPts val="0"/>
              </a:spcBef>
              <a:spcAft>
                <a:spcPts val="0"/>
              </a:spcAft>
              <a:buNone/>
            </a:pPr>
            <a:r>
              <a:rPr lang="zh-CN" altLang="en-US" sz="2000" dirty="0"/>
              <a:t>       对于</a:t>
            </a:r>
            <a:r>
              <a:rPr lang="en-US" altLang="zh-CN" sz="2000" dirty="0"/>
              <a:t>Polar</a:t>
            </a:r>
            <a:r>
              <a:rPr lang="zh-CN" altLang="en-US" sz="2000" dirty="0"/>
              <a:t>码基本原理可以归结为三点：</a:t>
            </a:r>
            <a:r>
              <a:rPr lang="zh-CN" altLang="en-US" sz="2000" u="sng" dirty="0"/>
              <a:t>信道合并</a:t>
            </a:r>
            <a:r>
              <a:rPr lang="zh-CN" altLang="en-US" sz="2000" dirty="0"/>
              <a:t>、</a:t>
            </a:r>
            <a:r>
              <a:rPr lang="zh-CN" altLang="en-US" sz="2000" u="sng" dirty="0"/>
              <a:t>信道分离</a:t>
            </a:r>
            <a:r>
              <a:rPr lang="zh-CN" altLang="en-US" sz="2000" dirty="0"/>
              <a:t>、</a:t>
            </a:r>
            <a:r>
              <a:rPr lang="zh-CN" altLang="en-US" sz="2000" u="sng" dirty="0"/>
              <a:t>信道极化</a:t>
            </a:r>
            <a:r>
              <a:rPr lang="zh-CN" altLang="en-US" sz="2000" dirty="0"/>
              <a:t>。其中信道合并和信道极化是在编码时完成的；信道分离是在解码时完成。</a:t>
            </a:r>
          </a:p>
        </p:txBody>
      </p:sp>
      <p:sp>
        <p:nvSpPr>
          <p:cNvPr id="4" name="标题 1"/>
          <p:cNvSpPr>
            <a:spLocks noGrp="1"/>
          </p:cNvSpPr>
          <p:nvPr>
            <p:ph type="title"/>
          </p:nvPr>
        </p:nvSpPr>
        <p:spPr>
          <a:xfrm>
            <a:off x="7619961" y="15248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p:sp>
        <p:nvSpPr>
          <p:cNvPr id="5" name="内容占位符 2"/>
          <p:cNvSpPr txBox="1"/>
          <p:nvPr/>
        </p:nvSpPr>
        <p:spPr>
          <a:xfrm>
            <a:off x="2057506" y="2880356"/>
            <a:ext cx="7778654" cy="3047920"/>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400" dirty="0">
                <a:solidFill>
                  <a:srgbClr val="FF0000"/>
                </a:solidFill>
                <a:latin typeface="黑体"/>
                <a:ea typeface="黑体"/>
              </a:rPr>
              <a:t> 信道选择：</a:t>
            </a:r>
            <a:endParaRPr lang="en-US" altLang="zh-CN" sz="2400" dirty="0">
              <a:solidFill>
                <a:srgbClr val="FF0000"/>
              </a:solidFill>
              <a:latin typeface="黑体"/>
              <a:ea typeface="黑体"/>
            </a:endParaRPr>
          </a:p>
          <a:p>
            <a:pPr marL="0" indent="0">
              <a:lnSpc>
                <a:spcPct val="150000"/>
              </a:lnSpc>
              <a:spcBef>
                <a:spcPts val="0"/>
              </a:spcBef>
              <a:spcAft>
                <a:spcPts val="0"/>
              </a:spcAft>
              <a:buNone/>
            </a:pPr>
            <a:r>
              <a:rPr lang="en-US" altLang="zh-CN" sz="2000" dirty="0">
                <a:solidFill>
                  <a:srgbClr val="FF0000"/>
                </a:solidFill>
                <a:latin typeface="黑体"/>
                <a:ea typeface="黑体"/>
              </a:rPr>
              <a:t>    </a:t>
            </a:r>
            <a:r>
              <a:rPr lang="zh-CN" altLang="en-US" sz="2000" dirty="0">
                <a:solidFill>
                  <a:srgbClr val="000000"/>
                </a:solidFill>
                <a:latin typeface="黑体"/>
                <a:ea typeface="黑体"/>
              </a:rPr>
              <a:t>对于编码方案通常根据某种信道设计</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Polar</a:t>
            </a:r>
            <a:r>
              <a:rPr lang="zh-CN" altLang="en-US" sz="2000" dirty="0">
                <a:solidFill>
                  <a:srgbClr val="000000"/>
                </a:solidFill>
                <a:latin typeface="Times New Roman"/>
                <a:ea typeface="黑体"/>
              </a:rPr>
              <a:t>码</a:t>
            </a:r>
            <a:r>
              <a:rPr lang="zh-CN" altLang="en-US" sz="2000" dirty="0">
                <a:solidFill>
                  <a:srgbClr val="000000"/>
                </a:solidFill>
                <a:latin typeface="黑体"/>
                <a:ea typeface="黑体"/>
              </a:rPr>
              <a:t>主要考虑以下信道进行分析：</a:t>
            </a:r>
            <a:endParaRPr lang="en-US" altLang="zh-CN" sz="2000" dirty="0">
              <a:solidFill>
                <a:srgbClr val="000000"/>
              </a:solidFill>
              <a:latin typeface="黑体"/>
              <a:ea typeface="黑体"/>
            </a:endParaRPr>
          </a:p>
          <a:p>
            <a:pPr marL="0" indent="0">
              <a:lnSpc>
                <a:spcPct val="150000"/>
              </a:lnSpc>
              <a:spcBef>
                <a:spcPts val="0"/>
              </a:spcBef>
              <a:spcAft>
                <a:spcPts val="0"/>
              </a:spcAft>
              <a:buNone/>
            </a:pPr>
            <a:r>
              <a:rPr lang="zh-CN" altLang="en-US" sz="2000" dirty="0">
                <a:solidFill>
                  <a:srgbClr val="000000"/>
                </a:solidFill>
                <a:latin typeface="Times New Roman"/>
                <a:ea typeface="黑体"/>
              </a:rPr>
              <a:t>                                                                      二进制删除信道（</a:t>
            </a:r>
            <a:r>
              <a:rPr lang="en-US" altLang="zh-CN" sz="2000" dirty="0">
                <a:solidFill>
                  <a:srgbClr val="000000"/>
                </a:solidFill>
                <a:latin typeface="Times New Roman"/>
                <a:ea typeface="黑体"/>
              </a:rPr>
              <a:t>BEC</a:t>
            </a:r>
            <a:r>
              <a:rPr lang="zh-CN" altLang="en-US" sz="2000" dirty="0">
                <a:solidFill>
                  <a:srgbClr val="000000"/>
                </a:solidFill>
                <a:latin typeface="Times New Roman"/>
                <a:ea typeface="黑体"/>
              </a:rPr>
              <a:t>）</a:t>
            </a:r>
            <a:endParaRPr lang="en-US" altLang="zh-CN" sz="2000" dirty="0">
              <a:solidFill>
                <a:srgbClr val="000000"/>
              </a:solidFill>
              <a:latin typeface="Times New Roman"/>
              <a:ea typeface="黑体"/>
            </a:endParaRPr>
          </a:p>
          <a:p>
            <a:pPr marL="0" indent="0">
              <a:lnSpc>
                <a:spcPct val="150000"/>
              </a:lnSpc>
              <a:spcBef>
                <a:spcPts val="0"/>
              </a:spcBef>
              <a:spcAft>
                <a:spcPts val="0"/>
              </a:spcAft>
              <a:buNone/>
            </a:pPr>
            <a:r>
              <a:rPr lang="zh-CN" altLang="en-US" sz="2000" b="1" dirty="0">
                <a:solidFill>
                  <a:srgbClr val="0070C0"/>
                </a:solidFill>
                <a:latin typeface="Times New Roman"/>
                <a:ea typeface="黑体"/>
              </a:rPr>
              <a:t>   二进制离散无记忆信道（</a:t>
            </a:r>
            <a:r>
              <a:rPr lang="en-US" altLang="zh-CN" sz="2000" b="1" dirty="0">
                <a:solidFill>
                  <a:srgbClr val="0070C0"/>
                </a:solidFill>
                <a:latin typeface="Times New Roman"/>
                <a:ea typeface="黑体"/>
              </a:rPr>
              <a:t>B-DMC</a:t>
            </a:r>
            <a:r>
              <a:rPr lang="zh-CN" altLang="en-US" sz="2000" b="1" dirty="0">
                <a:solidFill>
                  <a:srgbClr val="0070C0"/>
                </a:solidFill>
                <a:latin typeface="Times New Roman"/>
                <a:ea typeface="黑体"/>
              </a:rPr>
              <a:t>）</a:t>
            </a:r>
            <a:r>
              <a:rPr lang="en-US" altLang="zh-CN" sz="2000" dirty="0">
                <a:solidFill>
                  <a:srgbClr val="000000"/>
                </a:solidFill>
                <a:latin typeface="Times New Roman"/>
                <a:ea typeface="黑体"/>
              </a:rPr>
              <a:t>    </a:t>
            </a:r>
          </a:p>
          <a:p>
            <a:pPr marL="0" indent="0">
              <a:lnSpc>
                <a:spcPct val="150000"/>
              </a:lnSpc>
              <a:spcBef>
                <a:spcPts val="0"/>
              </a:spcBef>
              <a:spcAft>
                <a:spcPts val="0"/>
              </a:spcAft>
              <a:buNone/>
            </a:pPr>
            <a:r>
              <a:rPr lang="en-US" altLang="zh-CN" sz="2000" dirty="0">
                <a:solidFill>
                  <a:srgbClr val="000000"/>
                </a:solidFill>
                <a:latin typeface="Times New Roman"/>
                <a:ea typeface="黑体"/>
              </a:rPr>
              <a:t>                                                                      </a:t>
            </a:r>
            <a:r>
              <a:rPr lang="zh-CN" altLang="en-US" sz="2000" dirty="0">
                <a:solidFill>
                  <a:srgbClr val="000000"/>
                </a:solidFill>
                <a:latin typeface="Times New Roman"/>
                <a:ea typeface="黑体"/>
              </a:rPr>
              <a:t>二进制对称信道（</a:t>
            </a:r>
            <a:r>
              <a:rPr lang="en-US" altLang="zh-CN" sz="2000" dirty="0">
                <a:solidFill>
                  <a:srgbClr val="000000"/>
                </a:solidFill>
                <a:latin typeface="Times New Roman"/>
                <a:ea typeface="黑体"/>
              </a:rPr>
              <a:t>BSC</a:t>
            </a:r>
            <a:r>
              <a:rPr lang="zh-CN" altLang="en-US" sz="2000" dirty="0">
                <a:solidFill>
                  <a:srgbClr val="000000"/>
                </a:solidFill>
                <a:latin typeface="Times New Roman"/>
                <a:ea typeface="黑体"/>
              </a:rPr>
              <a:t>）</a:t>
            </a:r>
            <a:endParaRPr lang="en-US" altLang="zh-CN" sz="2000" b="1" dirty="0">
              <a:solidFill>
                <a:srgbClr val="0070C0"/>
              </a:solidFill>
              <a:latin typeface="Times New Roman"/>
              <a:ea typeface="黑体"/>
            </a:endParaRPr>
          </a:p>
        </p:txBody>
      </p:sp>
      <p:sp>
        <p:nvSpPr>
          <p:cNvPr id="2" name="左大括号 1"/>
          <p:cNvSpPr/>
          <p:nvPr/>
        </p:nvSpPr>
        <p:spPr bwMode="auto">
          <a:xfrm>
            <a:off x="6248396" y="4648168"/>
            <a:ext cx="298332" cy="914376"/>
          </a:xfrm>
          <a:prstGeom prst="leftBrace">
            <a:avLst>
              <a:gd name="adj1" fmla="val 8333"/>
              <a:gd name="adj2" fmla="val 47777"/>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indent="-342900" fontAlgn="base">
              <a:spcBef>
                <a:spcPct val="20000"/>
              </a:spcBef>
              <a:spcAft>
                <a:spcPct val="0"/>
              </a:spcAft>
              <a:buFont typeface="Wingdings" panose="05000000000000000000" pitchFamily="2" charset="2"/>
              <a:buChar char="v"/>
            </a:pPr>
            <a:endParaRPr kumimoji="1" lang="zh-CN" altLang="en-US" sz="2800" dirty="0">
              <a:solidFill>
                <a:srgbClr val="336699"/>
              </a:solidFill>
              <a:latin typeface="黑体" panose="02010609060101010101" pitchFamily="49" charset="-122"/>
              <a:ea typeface="黑体" panose="02010609060101010101" pitchFamily="49" charset="-122"/>
            </a:endParaRP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43763" y="152465"/>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p:sp>
        <p:nvSpPr>
          <p:cNvPr id="5" name="内容占位符 2"/>
          <p:cNvSpPr>
            <a:spLocks noGrp="1"/>
          </p:cNvSpPr>
          <p:nvPr>
            <p:ph idx="1"/>
          </p:nvPr>
        </p:nvSpPr>
        <p:spPr>
          <a:xfrm>
            <a:off x="2286100" y="1143060"/>
            <a:ext cx="7778654" cy="1066772"/>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zh-CN" altLang="en-US" sz="2000" dirty="0">
                <a:latin typeface="+mn-ea"/>
              </a:rPr>
              <a:t>   </a:t>
            </a:r>
            <a:r>
              <a:rPr lang="zh-CN" altLang="en-US" sz="2000" dirty="0"/>
              <a:t>信道</a:t>
            </a:r>
            <a:r>
              <a:rPr lang="en-US" altLang="zh-CN" sz="2000" dirty="0"/>
              <a:t>W</a:t>
            </a:r>
            <a:r>
              <a:rPr lang="zh-CN" altLang="en-US" sz="2000" dirty="0"/>
              <a:t>：</a:t>
            </a:r>
            <a:r>
              <a:rPr lang="en-US" altLang="zh-CN" sz="2000" dirty="0"/>
              <a:t>X</a:t>
            </a:r>
            <a:r>
              <a:rPr lang="en-US" altLang="zh-CN" sz="2000" dirty="0">
                <a:sym typeface="Symbol" panose="05050102010706020507" pitchFamily="18" charset="2"/>
              </a:rPr>
              <a:t>Y</a:t>
            </a:r>
            <a:r>
              <a:rPr lang="zh-CN" altLang="en-US" sz="2000" dirty="0">
                <a:sym typeface="Symbol" panose="05050102010706020507" pitchFamily="18" charset="2"/>
              </a:rPr>
              <a:t>。输入变量</a:t>
            </a:r>
            <a:r>
              <a:rPr lang="en-US" altLang="zh-CN" sz="2000" dirty="0">
                <a:sym typeface="Symbol" panose="05050102010706020507" pitchFamily="18" charset="2"/>
              </a:rPr>
              <a:t>X</a:t>
            </a:r>
            <a:r>
              <a:rPr lang="zh-CN" altLang="en-US" sz="2000" dirty="0">
                <a:sym typeface="Symbol" panose="05050102010706020507" pitchFamily="18" charset="2"/>
              </a:rPr>
              <a:t>只能取</a:t>
            </a:r>
            <a:r>
              <a:rPr lang="en-US" altLang="zh-CN" sz="2000" dirty="0">
                <a:sym typeface="Symbol" panose="05050102010706020507" pitchFamily="18" charset="2"/>
              </a:rPr>
              <a:t>{0,1}</a:t>
            </a:r>
            <a:r>
              <a:rPr lang="zh-CN" altLang="en-US" sz="2000" dirty="0">
                <a:sym typeface="Symbol" panose="05050102010706020507" pitchFamily="18" charset="2"/>
              </a:rPr>
              <a:t>中的值，输出变量</a:t>
            </a:r>
            <a:r>
              <a:rPr lang="en-US" altLang="zh-CN" sz="2000" dirty="0">
                <a:sym typeface="Symbol" panose="05050102010706020507" pitchFamily="18" charset="2"/>
              </a:rPr>
              <a:t>Y</a:t>
            </a:r>
            <a:r>
              <a:rPr lang="zh-CN" altLang="en-US" sz="2000" dirty="0">
                <a:sym typeface="Symbol" panose="05050102010706020507" pitchFamily="18" charset="2"/>
              </a:rPr>
              <a:t>取任意值，信道迁移概率为</a:t>
            </a:r>
            <a:r>
              <a:rPr lang="en-US" altLang="zh-CN" sz="2000" dirty="0">
                <a:sym typeface="Symbol" panose="05050102010706020507" pitchFamily="18" charset="2"/>
              </a:rPr>
              <a:t>P=W(</a:t>
            </a:r>
            <a:r>
              <a:rPr lang="en-US" altLang="zh-CN" sz="2000" dirty="0" err="1">
                <a:sym typeface="Symbol" panose="05050102010706020507" pitchFamily="18" charset="2"/>
              </a:rPr>
              <a:t>y|x</a:t>
            </a:r>
            <a:r>
              <a:rPr lang="en-US" altLang="zh-CN" sz="2000" dirty="0">
                <a:sym typeface="Symbol" panose="05050102010706020507" pitchFamily="18" charset="2"/>
              </a:rPr>
              <a:t>)</a:t>
            </a:r>
            <a:r>
              <a:rPr lang="zh-CN" altLang="en-US" sz="2000" dirty="0">
                <a:sym typeface="Symbol" panose="05050102010706020507" pitchFamily="18" charset="2"/>
              </a:rPr>
              <a:t>，</a:t>
            </a:r>
            <a:r>
              <a:rPr lang="en-US" altLang="zh-CN" sz="2000" dirty="0">
                <a:sym typeface="Symbol" panose="05050102010706020507" pitchFamily="18" charset="2"/>
              </a:rPr>
              <a:t>x</a:t>
            </a:r>
            <a:r>
              <a:rPr lang="zh-CN" altLang="en-US" sz="2000" dirty="0">
                <a:sym typeface="Symbol" panose="05050102010706020507" pitchFamily="18" charset="2"/>
              </a:rPr>
              <a:t>∈</a:t>
            </a:r>
            <a:r>
              <a:rPr lang="en-US" altLang="zh-CN" sz="2000" dirty="0">
                <a:sym typeface="Symbol" panose="05050102010706020507" pitchFamily="18" charset="2"/>
              </a:rPr>
              <a:t>X</a:t>
            </a:r>
            <a:r>
              <a:rPr lang="zh-CN" altLang="en-US" sz="2000" dirty="0">
                <a:sym typeface="Symbol" panose="05050102010706020507" pitchFamily="18" charset="2"/>
              </a:rPr>
              <a:t>，</a:t>
            </a:r>
            <a:r>
              <a:rPr lang="en-US" altLang="zh-CN" sz="2000" dirty="0">
                <a:sym typeface="Symbol" panose="05050102010706020507" pitchFamily="18" charset="2"/>
              </a:rPr>
              <a:t>y</a:t>
            </a:r>
            <a:r>
              <a:rPr lang="zh-CN" altLang="en-US" sz="2000" dirty="0">
                <a:sym typeface="Symbol" panose="05050102010706020507" pitchFamily="18" charset="2"/>
              </a:rPr>
              <a:t>∈</a:t>
            </a:r>
            <a:r>
              <a:rPr lang="en-US" altLang="zh-CN" sz="2000" dirty="0">
                <a:sym typeface="Symbol" panose="05050102010706020507" pitchFamily="18" charset="2"/>
              </a:rPr>
              <a:t>Y</a:t>
            </a:r>
            <a:r>
              <a:rPr lang="zh-CN" altLang="en-US" sz="2000" dirty="0">
                <a:sym typeface="Symbol" panose="05050102010706020507" pitchFamily="18" charset="2"/>
              </a:rPr>
              <a:t>。</a:t>
            </a:r>
            <a:endParaRPr lang="zh-CN" altLang="en-US" sz="2000" dirty="0"/>
          </a:p>
        </p:txBody>
      </p:sp>
      <p:sp>
        <p:nvSpPr>
          <p:cNvPr id="2" name="矩形 1"/>
          <p:cNvSpPr/>
          <p:nvPr/>
        </p:nvSpPr>
        <p:spPr>
          <a:xfrm>
            <a:off x="5181624" y="2362224"/>
            <a:ext cx="1828752" cy="6095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eaLnBrk="0" fontAlgn="base" hangingPunct="0">
              <a:spcBef>
                <a:spcPct val="0"/>
              </a:spcBef>
              <a:spcAft>
                <a:spcPct val="0"/>
              </a:spcAft>
            </a:pPr>
            <a:r>
              <a:rPr lang="en-US" altLang="zh-CN" dirty="0">
                <a:solidFill>
                  <a:srgbClr val="000000"/>
                </a:solidFill>
                <a:latin typeface="Times New Roman"/>
                <a:ea typeface="黑体"/>
              </a:rPr>
              <a:t>W</a:t>
            </a:r>
            <a:endParaRPr lang="zh-CN" altLang="en-US" dirty="0">
              <a:solidFill>
                <a:srgbClr val="000000"/>
              </a:solidFill>
              <a:latin typeface="Times New Roman"/>
              <a:ea typeface="黑体"/>
            </a:endParaRPr>
          </a:p>
        </p:txBody>
      </p:sp>
      <p:cxnSp>
        <p:nvCxnSpPr>
          <p:cNvPr id="7" name="直接箭头连接符 6"/>
          <p:cNvCxnSpPr>
            <a:endCxn id="2" idx="1"/>
          </p:cNvCxnSpPr>
          <p:nvPr/>
        </p:nvCxnSpPr>
        <p:spPr bwMode="auto">
          <a:xfrm>
            <a:off x="4343446" y="2667016"/>
            <a:ext cx="8381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直接箭头连接符 8"/>
          <p:cNvCxnSpPr/>
          <p:nvPr/>
        </p:nvCxnSpPr>
        <p:spPr bwMode="auto">
          <a:xfrm>
            <a:off x="7010376" y="2667016"/>
            <a:ext cx="8381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文本框 9"/>
          <p:cNvSpPr txBox="1"/>
          <p:nvPr/>
        </p:nvSpPr>
        <p:spPr>
          <a:xfrm>
            <a:off x="4305347" y="2305331"/>
            <a:ext cx="457188"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000000"/>
                </a:solidFill>
                <a:latin typeface="Times New Roman"/>
                <a:ea typeface="黑体" panose="02010609060101010101" pitchFamily="49" charset="-122"/>
                <a:sym typeface="+mn-ea"/>
              </a:rPr>
              <a:t>X</a:t>
            </a:r>
            <a:endParaRPr lang="zh-CN" altLang="en-US" b="1" dirty="0">
              <a:solidFill>
                <a:srgbClr val="000000"/>
              </a:solidFill>
              <a:latin typeface="Times New Roman"/>
              <a:ea typeface="黑体" panose="02010609060101010101" pitchFamily="49" charset="-122"/>
              <a:sym typeface="+mn-ea"/>
            </a:endParaRPr>
          </a:p>
        </p:txBody>
      </p:sp>
      <p:sp>
        <p:nvSpPr>
          <p:cNvPr id="11" name="文本框 10"/>
          <p:cNvSpPr txBox="1"/>
          <p:nvPr/>
        </p:nvSpPr>
        <p:spPr>
          <a:xfrm>
            <a:off x="7467497" y="2297684"/>
            <a:ext cx="457188"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000000"/>
                </a:solidFill>
                <a:latin typeface="Times New Roman"/>
                <a:ea typeface="黑体" panose="02010609060101010101" pitchFamily="49" charset="-122"/>
                <a:sym typeface="+mn-ea"/>
              </a:rPr>
              <a:t>Y</a:t>
            </a:r>
            <a:endParaRPr lang="zh-CN" altLang="en-US" b="1" dirty="0">
              <a:solidFill>
                <a:srgbClr val="000000"/>
              </a:solidFill>
              <a:latin typeface="Times New Roman"/>
              <a:ea typeface="黑体" panose="02010609060101010101" pitchFamily="49" charset="-122"/>
              <a:sym typeface="+mn-ea"/>
            </a:endParaRPr>
          </a:p>
        </p:txBody>
      </p:sp>
      <p:sp>
        <p:nvSpPr>
          <p:cNvPr id="12" name="文本框 11"/>
          <p:cNvSpPr txBox="1"/>
          <p:nvPr/>
        </p:nvSpPr>
        <p:spPr>
          <a:xfrm>
            <a:off x="5562614" y="3227298"/>
            <a:ext cx="1219168" cy="369332"/>
          </a:xfrm>
          <a:prstGeom prst="rect">
            <a:avLst/>
          </a:prstGeom>
          <a:noFill/>
        </p:spPr>
        <p:txBody>
          <a:bodyPr wrap="square" rtlCol="0" anchor="t">
            <a:spAutoFit/>
          </a:bodyPr>
          <a:lstStyle/>
          <a:p>
            <a:pPr eaLnBrk="0" fontAlgn="base" hangingPunct="0">
              <a:spcBef>
                <a:spcPct val="0"/>
              </a:spcBef>
              <a:spcAft>
                <a:spcPct val="0"/>
              </a:spcAft>
            </a:pPr>
            <a:r>
              <a:rPr lang="zh-CN" altLang="en-US" b="1" dirty="0">
                <a:solidFill>
                  <a:srgbClr val="3333CC"/>
                </a:solidFill>
                <a:latin typeface="黑体" panose="02010609060101010101" pitchFamily="49" charset="-122"/>
                <a:ea typeface="黑体" panose="02010609060101010101" pitchFamily="49" charset="-122"/>
                <a:sym typeface="+mn-ea"/>
              </a:rPr>
              <a:t>信道示意</a:t>
            </a:r>
          </a:p>
        </p:txBody>
      </p:sp>
      <mc:AlternateContent xmlns:mc="http://schemas.openxmlformats.org/markup-compatibility/2006" xmlns:a14="http://schemas.microsoft.com/office/drawing/2010/main">
        <mc:Choice Requires="a14">
          <p:sp>
            <p:nvSpPr>
              <p:cNvPr id="13" name="内容占位符 2"/>
              <p:cNvSpPr txBox="1"/>
              <p:nvPr/>
            </p:nvSpPr>
            <p:spPr>
              <a:xfrm>
                <a:off x="1981308" y="3657596"/>
                <a:ext cx="8381780" cy="2743128"/>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rgbClr val="000000"/>
                    </a:solidFill>
                    <a:latin typeface="黑体"/>
                    <a:ea typeface="黑体"/>
                  </a:rPr>
                  <a:t>     </a:t>
                </a:r>
                <a:r>
                  <a:rPr lang="zh-CN" altLang="en-US" sz="2000" dirty="0">
                    <a:solidFill>
                      <a:srgbClr val="000000"/>
                    </a:solidFill>
                    <a:latin typeface="Times New Roman"/>
                    <a:ea typeface="黑体"/>
                  </a:rPr>
                  <a:t>对于对称信道（</a:t>
                </a:r>
                <a:r>
                  <a:rPr lang="en-US" altLang="zh-CN" sz="2000" dirty="0">
                    <a:solidFill>
                      <a:srgbClr val="000000"/>
                    </a:solidFill>
                    <a:latin typeface="Times New Roman"/>
                    <a:ea typeface="黑体"/>
                  </a:rPr>
                  <a:t>BEC\BSC</a:t>
                </a:r>
                <a:r>
                  <a:rPr lang="zh-CN" altLang="en-US" sz="2000" dirty="0">
                    <a:solidFill>
                      <a:srgbClr val="000000"/>
                    </a:solidFill>
                    <a:latin typeface="Times New Roman"/>
                    <a:ea typeface="黑体"/>
                  </a:rPr>
                  <a:t>），当输入在</a:t>
                </a:r>
                <a:r>
                  <a:rPr lang="en-US" altLang="zh-CN" sz="2000" dirty="0">
                    <a:solidFill>
                      <a:srgbClr val="000000"/>
                    </a:solidFill>
                    <a:latin typeface="Times New Roman"/>
                    <a:ea typeface="黑体"/>
                  </a:rPr>
                  <a:t>{0,1}</a:t>
                </a:r>
                <a:r>
                  <a:rPr lang="zh-CN" altLang="en-US" sz="2000" dirty="0">
                    <a:solidFill>
                      <a:srgbClr val="000000"/>
                    </a:solidFill>
                    <a:latin typeface="Times New Roman"/>
                    <a:ea typeface="黑体"/>
                  </a:rPr>
                  <a:t>概率时，其信道容量定义为输入输出的相互信息。</a:t>
                </a:r>
                <a:endParaRPr lang="en-US" altLang="zh-CN" sz="2000" dirty="0">
                  <a:solidFill>
                    <a:srgbClr val="000000"/>
                  </a:solidFill>
                  <a:latin typeface="Times New Roman"/>
                  <a:ea typeface="黑体"/>
                </a:endParaRPr>
              </a:p>
              <a:p>
                <a:pPr marL="0" indent="0">
                  <a:lnSpc>
                    <a:spcPct val="150000"/>
                  </a:lnSpc>
                  <a:spcBef>
                    <a:spcPts val="0"/>
                  </a:spcBef>
                  <a:spcAft>
                    <a:spcPts val="0"/>
                  </a:spcAft>
                  <a:buNone/>
                </a:pPr>
                <a14:m>
                  <m:oMathPara xmlns:m="http://schemas.openxmlformats.org/officeDocument/2006/math">
                    <m:oMathParaPr>
                      <m:jc m:val="centerGroup"/>
                    </m:oMathParaPr>
                    <m:oMath xmlns:m="http://schemas.openxmlformats.org/officeDocument/2006/math">
                      <m:r>
                        <m:rPr>
                          <m:nor/>
                        </m:rPr>
                        <a:rPr lang="en-US" altLang="zh-CN" sz="2000">
                          <a:solidFill>
                            <a:srgbClr val="000000"/>
                          </a:solidFill>
                          <a:latin typeface="Cambria Math" panose="02040503050406030204" pitchFamily="18" charset="0"/>
                          <a:ea typeface="黑体"/>
                        </a:rPr>
                        <m:t>C</m:t>
                      </m:r>
                      <m:d>
                        <m:dPr>
                          <m:ctrlPr>
                            <a:rPr lang="en-US" altLang="zh-CN" sz="2000" i="1">
                              <a:solidFill>
                                <a:srgbClr val="000000"/>
                              </a:solidFill>
                              <a:latin typeface="Cambria Math" panose="02040503050406030204" pitchFamily="18" charset="0"/>
                            </a:rPr>
                          </m:ctrlPr>
                        </m:dPr>
                        <m:e>
                          <m:r>
                            <m:rPr>
                              <m:nor/>
                            </m:rPr>
                            <a:rPr lang="en-US" altLang="zh-CN" sz="2000">
                              <a:solidFill>
                                <a:srgbClr val="000000"/>
                              </a:solidFill>
                              <a:latin typeface="Cambria Math" panose="02040503050406030204" pitchFamily="18" charset="0"/>
                              <a:ea typeface="黑体"/>
                            </a:rPr>
                            <m:t>W</m:t>
                          </m:r>
                        </m:e>
                      </m:d>
                      <m:r>
                        <m:rPr>
                          <m:nor/>
                        </m:rPr>
                        <a:rPr lang="en-US" altLang="zh-CN" sz="2000">
                          <a:solidFill>
                            <a:srgbClr val="000000"/>
                          </a:solidFill>
                          <a:latin typeface="Cambria Math" panose="02040503050406030204" pitchFamily="18" charset="0"/>
                          <a:ea typeface="黑体"/>
                        </a:rPr>
                        <m:t>=</m:t>
                      </m:r>
                      <m:r>
                        <m:rPr>
                          <m:nor/>
                        </m:rPr>
                        <a:rPr lang="en-US" altLang="zh-CN" sz="2000">
                          <a:solidFill>
                            <a:srgbClr val="000000"/>
                          </a:solidFill>
                          <a:latin typeface="Cambria Math" panose="02040503050406030204" pitchFamily="18" charset="0"/>
                          <a:ea typeface="黑体"/>
                        </a:rPr>
                        <m:t>I</m:t>
                      </m:r>
                      <m:d>
                        <m:dPr>
                          <m:ctrlPr>
                            <a:rPr lang="pt-BR" altLang="zh-CN" sz="2000" i="1">
                              <a:solidFill>
                                <a:srgbClr val="000000"/>
                              </a:solidFill>
                              <a:latin typeface="Cambria Math" panose="02040503050406030204" pitchFamily="18" charset="0"/>
                            </a:rPr>
                          </m:ctrlPr>
                        </m:dPr>
                        <m:e>
                          <m:r>
                            <m:rPr>
                              <m:nor/>
                            </m:rPr>
                            <a:rPr lang="en-US" altLang="zh-CN" sz="2000">
                              <a:solidFill>
                                <a:srgbClr val="000000"/>
                              </a:solidFill>
                              <a:latin typeface="Cambria Math" panose="02040503050406030204" pitchFamily="18" charset="0"/>
                              <a:ea typeface="黑体"/>
                            </a:rPr>
                            <m:t>X</m:t>
                          </m:r>
                          <m:r>
                            <m:rPr>
                              <m:nor/>
                            </m:rPr>
                            <a:rPr lang="en-US" altLang="zh-CN" sz="2000">
                              <a:solidFill>
                                <a:srgbClr val="000000"/>
                              </a:solidFill>
                              <a:latin typeface="Cambria Math" panose="02040503050406030204" pitchFamily="18" charset="0"/>
                              <a:ea typeface="黑体"/>
                            </a:rPr>
                            <m:t>;</m:t>
                          </m:r>
                          <m:r>
                            <m:rPr>
                              <m:nor/>
                            </m:rPr>
                            <a:rPr lang="en-US" altLang="zh-CN" sz="2000">
                              <a:solidFill>
                                <a:srgbClr val="000000"/>
                              </a:solidFill>
                              <a:latin typeface="Cambria Math" panose="02040503050406030204" pitchFamily="18" charset="0"/>
                              <a:ea typeface="黑体"/>
                            </a:rPr>
                            <m:t>Y</m:t>
                          </m:r>
                        </m:e>
                      </m:d>
                      <m:r>
                        <m:rPr>
                          <m:nor/>
                        </m:rPr>
                        <a:rPr lang="en-US" altLang="zh-CN" sz="2000">
                          <a:solidFill>
                            <a:srgbClr val="000000"/>
                          </a:solidFill>
                          <a:latin typeface="Cambria Math" panose="02040503050406030204" pitchFamily="18" charset="0"/>
                          <a:ea typeface="黑体"/>
                        </a:rPr>
                        <m:t>=</m:t>
                      </m:r>
                      <m:nary>
                        <m:naryPr>
                          <m:chr m:val="∑"/>
                          <m:ctrlPr>
                            <a:rPr lang="pt-BR" altLang="zh-CN" sz="2000" i="1">
                              <a:solidFill>
                                <a:srgbClr val="000000"/>
                              </a:solidFill>
                              <a:latin typeface="Cambria Math" panose="02040503050406030204" pitchFamily="18" charset="0"/>
                            </a:rPr>
                          </m:ctrlPr>
                        </m:naryPr>
                        <m:sub>
                          <m:r>
                            <m:rPr>
                              <m:nor/>
                              <m:brk m:alnAt="23"/>
                            </m:rPr>
                            <a:rPr lang="en-US" altLang="zh-CN" sz="2000">
                              <a:solidFill>
                                <a:srgbClr val="000000"/>
                              </a:solidFill>
                              <a:latin typeface="Cambria Math" panose="02040503050406030204" pitchFamily="18" charset="0"/>
                              <a:ea typeface="黑体"/>
                            </a:rPr>
                            <m:t>y</m:t>
                          </m:r>
                          <m:r>
                            <m:rPr>
                              <m:nor/>
                            </m:rPr>
                            <a:rPr lang="zh-CN" altLang="en-US" sz="2000">
                              <a:solidFill>
                                <a:srgbClr val="000000"/>
                              </a:solidFill>
                              <a:latin typeface="Cambria Math" panose="02040503050406030204" pitchFamily="18" charset="0"/>
                              <a:ea typeface="黑体"/>
                            </a:rPr>
                            <m:t>∈</m:t>
                          </m:r>
                          <m:r>
                            <m:rPr>
                              <m:nor/>
                            </m:rPr>
                            <a:rPr lang="en-US" altLang="zh-CN" sz="2000">
                              <a:solidFill>
                                <a:srgbClr val="000000"/>
                              </a:solidFill>
                              <a:latin typeface="Cambria Math" panose="02040503050406030204" pitchFamily="18" charset="0"/>
                              <a:ea typeface="黑体"/>
                            </a:rPr>
                            <m:t>Y</m:t>
                          </m:r>
                        </m:sub>
                        <m:sup/>
                        <m:e>
                          <m:nary>
                            <m:naryPr>
                              <m:chr m:val="∑"/>
                              <m:supHide m:val="on"/>
                              <m:ctrlPr>
                                <a:rPr lang="pt-BR" altLang="zh-CN" sz="2000" i="1">
                                  <a:solidFill>
                                    <a:srgbClr val="000000"/>
                                  </a:solidFill>
                                  <a:latin typeface="Cambria Math" panose="02040503050406030204" pitchFamily="18" charset="0"/>
                                </a:rPr>
                              </m:ctrlPr>
                            </m:naryPr>
                            <m:sub>
                              <m:r>
                                <m:rPr>
                                  <m:nor/>
                                </m:rPr>
                                <a:rPr lang="en-US" altLang="zh-CN" sz="2000">
                                  <a:solidFill>
                                    <a:srgbClr val="000000"/>
                                  </a:solidFill>
                                  <a:latin typeface="Cambria Math" panose="02040503050406030204" pitchFamily="18" charset="0"/>
                                  <a:ea typeface="黑体"/>
                                </a:rPr>
                                <m:t>x</m:t>
                              </m:r>
                              <m:r>
                                <m:rPr>
                                  <m:nor/>
                                </m:rPr>
                                <a:rPr lang="zh-CN" altLang="en-US" sz="2000">
                                  <a:solidFill>
                                    <a:srgbClr val="000000"/>
                                  </a:solidFill>
                                  <a:latin typeface="Cambria Math" panose="02040503050406030204" pitchFamily="18" charset="0"/>
                                  <a:ea typeface="黑体"/>
                                </a:rPr>
                                <m:t>∈</m:t>
                              </m:r>
                              <m:r>
                                <m:rPr>
                                  <m:nor/>
                                </m:rPr>
                                <a:rPr lang="en-US" altLang="zh-CN" sz="2000">
                                  <a:solidFill>
                                    <a:srgbClr val="000000"/>
                                  </a:solidFill>
                                  <a:latin typeface="Cambria Math" panose="02040503050406030204" pitchFamily="18" charset="0"/>
                                  <a:ea typeface="黑体"/>
                                </a:rPr>
                                <m:t>X</m:t>
                              </m:r>
                            </m:sub>
                            <m:sup/>
                            <m:e>
                              <m:f>
                                <m:fPr>
                                  <m:ctrlPr>
                                    <a:rPr lang="pt-BR" altLang="zh-CN" sz="2000" i="1">
                                      <a:solidFill>
                                        <a:srgbClr val="000000"/>
                                      </a:solidFill>
                                      <a:latin typeface="Cambria Math" panose="02040503050406030204" pitchFamily="18" charset="0"/>
                                    </a:rPr>
                                  </m:ctrlPr>
                                </m:fPr>
                                <m:num>
                                  <m:r>
                                    <m:rPr>
                                      <m:nor/>
                                    </m:rPr>
                                    <a:rPr lang="en-US" altLang="zh-CN" sz="2000">
                                      <a:solidFill>
                                        <a:srgbClr val="000000"/>
                                      </a:solidFill>
                                      <a:latin typeface="Cambria Math" panose="02040503050406030204" pitchFamily="18" charset="0"/>
                                      <a:ea typeface="黑体"/>
                                    </a:rPr>
                                    <m:t>1</m:t>
                                  </m:r>
                                </m:num>
                                <m:den>
                                  <m:r>
                                    <m:rPr>
                                      <m:nor/>
                                    </m:rPr>
                                    <a:rPr lang="en-US" altLang="zh-CN" sz="2000">
                                      <a:solidFill>
                                        <a:srgbClr val="000000"/>
                                      </a:solidFill>
                                      <a:latin typeface="Cambria Math" panose="02040503050406030204" pitchFamily="18" charset="0"/>
                                      <a:ea typeface="黑体"/>
                                    </a:rPr>
                                    <m:t>2</m:t>
                                  </m:r>
                                </m:den>
                              </m:f>
                              <m:r>
                                <m:rPr>
                                  <m:nor/>
                                </m:rPr>
                                <a:rPr lang="en-US" altLang="zh-CN" sz="2000">
                                  <a:solidFill>
                                    <a:srgbClr val="000000"/>
                                  </a:solidFill>
                                  <a:latin typeface="Cambria Math" panose="02040503050406030204" pitchFamily="18" charset="0"/>
                                  <a:ea typeface="黑体"/>
                                </a:rPr>
                                <m:t>W</m:t>
                              </m:r>
                              <m:r>
                                <m:rPr>
                                  <m:nor/>
                                </m:rPr>
                                <a:rPr lang="en-US" altLang="zh-CN" sz="2000">
                                  <a:solidFill>
                                    <a:srgbClr val="000000"/>
                                  </a:solidFill>
                                  <a:latin typeface="Cambria Math" panose="02040503050406030204" pitchFamily="18" charset="0"/>
                                  <a:ea typeface="黑体"/>
                                </a:rPr>
                                <m:t>(</m:t>
                              </m:r>
                              <m:r>
                                <m:rPr>
                                  <m:nor/>
                                </m:rPr>
                                <a:rPr lang="en-US" altLang="zh-CN" sz="2000">
                                  <a:solidFill>
                                    <a:srgbClr val="000000"/>
                                  </a:solidFill>
                                  <a:latin typeface="Cambria Math" panose="02040503050406030204" pitchFamily="18" charset="0"/>
                                  <a:ea typeface="黑体"/>
                                </a:rPr>
                                <m:t>y</m:t>
                              </m:r>
                              <m:r>
                                <m:rPr>
                                  <m:nor/>
                                </m:rPr>
                                <a:rPr lang="en-US" altLang="zh-CN" sz="2000">
                                  <a:solidFill>
                                    <a:srgbClr val="000000"/>
                                  </a:solidFill>
                                  <a:latin typeface="Cambria Math" panose="02040503050406030204" pitchFamily="18" charset="0"/>
                                  <a:ea typeface="黑体"/>
                                </a:rPr>
                                <m:t>|</m:t>
                              </m:r>
                              <m:r>
                                <m:rPr>
                                  <m:nor/>
                                </m:rPr>
                                <a:rPr lang="en-US" altLang="zh-CN" sz="2000">
                                  <a:solidFill>
                                    <a:srgbClr val="000000"/>
                                  </a:solidFill>
                                  <a:latin typeface="Cambria Math" panose="02040503050406030204" pitchFamily="18" charset="0"/>
                                  <a:ea typeface="黑体"/>
                                </a:rPr>
                                <m:t>x</m:t>
                              </m:r>
                              <m:r>
                                <m:rPr>
                                  <m:nor/>
                                </m:rPr>
                                <a:rPr lang="en-US" altLang="zh-CN" sz="2000">
                                  <a:solidFill>
                                    <a:srgbClr val="000000"/>
                                  </a:solidFill>
                                  <a:latin typeface="Cambria Math" panose="02040503050406030204" pitchFamily="18" charset="0"/>
                                  <a:ea typeface="黑体"/>
                                </a:rPr>
                                <m:t>)</m:t>
                              </m:r>
                            </m:e>
                          </m:nary>
                          <m:r>
                            <m:rPr>
                              <m:nor/>
                            </m:rPr>
                            <a:rPr lang="en-US" altLang="zh-CN" sz="2000">
                              <a:solidFill>
                                <a:srgbClr val="000000"/>
                              </a:solidFill>
                              <a:latin typeface="Cambria Math" panose="02040503050406030204" pitchFamily="18" charset="0"/>
                              <a:ea typeface="黑体"/>
                            </a:rPr>
                            <m:t>log</m:t>
                          </m:r>
                          <m:d>
                            <m:dPr>
                              <m:ctrlPr>
                                <a:rPr lang="pt-BR" altLang="zh-CN" sz="2000" i="1">
                                  <a:solidFill>
                                    <a:srgbClr val="000000"/>
                                  </a:solidFill>
                                  <a:latin typeface="Cambria Math" panose="02040503050406030204" pitchFamily="18" charset="0"/>
                                </a:rPr>
                              </m:ctrlPr>
                            </m:dPr>
                            <m:e>
                              <m:sSub>
                                <m:sSubPr>
                                  <m:ctrlPr>
                                    <a:rPr lang="pt-BR" altLang="zh-CN" sz="2000" i="1">
                                      <a:solidFill>
                                        <a:srgbClr val="000000"/>
                                      </a:solidFill>
                                      <a:latin typeface="Cambria Math" panose="02040503050406030204" pitchFamily="18" charset="0"/>
                                    </a:rPr>
                                  </m:ctrlPr>
                                </m:sSubPr>
                                <m:e>
                                  <m:f>
                                    <m:fPr>
                                      <m:ctrlPr>
                                        <a:rPr lang="en-US" altLang="zh-CN" sz="2000" i="1">
                                          <a:solidFill>
                                            <a:srgbClr val="000000"/>
                                          </a:solidFill>
                                          <a:latin typeface="Cambria Math" panose="02040503050406030204" pitchFamily="18" charset="0"/>
                                        </a:rPr>
                                      </m:ctrlPr>
                                    </m:fPr>
                                    <m:num>
                                      <m:r>
                                        <m:rPr>
                                          <m:nor/>
                                        </m:rPr>
                                        <a:rPr lang="en-US" altLang="zh-CN" sz="2000">
                                          <a:solidFill>
                                            <a:srgbClr val="000000"/>
                                          </a:solidFill>
                                          <a:latin typeface="Cambria Math" panose="02040503050406030204" pitchFamily="18" charset="0"/>
                                          <a:ea typeface="黑体"/>
                                        </a:rPr>
                                        <m:t>W</m:t>
                                      </m:r>
                                      <m:r>
                                        <m:rPr>
                                          <m:nor/>
                                        </m:rPr>
                                        <a:rPr lang="en-US" altLang="zh-CN" sz="2000">
                                          <a:solidFill>
                                            <a:srgbClr val="000000"/>
                                          </a:solidFill>
                                          <a:latin typeface="Cambria Math" panose="02040503050406030204" pitchFamily="18" charset="0"/>
                                          <a:ea typeface="黑体"/>
                                        </a:rPr>
                                        <m:t>(</m:t>
                                      </m:r>
                                      <m:r>
                                        <m:rPr>
                                          <m:nor/>
                                        </m:rPr>
                                        <a:rPr lang="en-US" altLang="zh-CN" sz="2000">
                                          <a:solidFill>
                                            <a:srgbClr val="000000"/>
                                          </a:solidFill>
                                          <a:latin typeface="Cambria Math" panose="02040503050406030204" pitchFamily="18" charset="0"/>
                                          <a:ea typeface="黑体"/>
                                        </a:rPr>
                                        <m:t>y</m:t>
                                      </m:r>
                                      <m:r>
                                        <m:rPr>
                                          <m:nor/>
                                        </m:rPr>
                                        <a:rPr lang="en-US" altLang="zh-CN" sz="2000">
                                          <a:solidFill>
                                            <a:srgbClr val="000000"/>
                                          </a:solidFill>
                                          <a:latin typeface="Cambria Math" panose="02040503050406030204" pitchFamily="18" charset="0"/>
                                          <a:ea typeface="黑体"/>
                                        </a:rPr>
                                        <m:t>|</m:t>
                                      </m:r>
                                      <m:r>
                                        <m:rPr>
                                          <m:nor/>
                                        </m:rPr>
                                        <a:rPr lang="en-US" altLang="zh-CN" sz="2000">
                                          <a:solidFill>
                                            <a:srgbClr val="000000"/>
                                          </a:solidFill>
                                          <a:latin typeface="Cambria Math" panose="02040503050406030204" pitchFamily="18" charset="0"/>
                                          <a:ea typeface="黑体"/>
                                        </a:rPr>
                                        <m:t>x</m:t>
                                      </m:r>
                                      <m:r>
                                        <m:rPr>
                                          <m:nor/>
                                        </m:rPr>
                                        <a:rPr lang="en-US" altLang="zh-CN" sz="2000">
                                          <a:solidFill>
                                            <a:srgbClr val="000000"/>
                                          </a:solidFill>
                                          <a:latin typeface="Cambria Math" panose="02040503050406030204" pitchFamily="18" charset="0"/>
                                          <a:ea typeface="黑体"/>
                                        </a:rPr>
                                        <m:t>)</m:t>
                                      </m:r>
                                    </m:num>
                                    <m:den>
                                      <m:f>
                                        <m:fPr>
                                          <m:ctrlPr>
                                            <a:rPr lang="en-US" altLang="zh-CN" sz="2000" i="1">
                                              <a:solidFill>
                                                <a:srgbClr val="000000"/>
                                              </a:solidFill>
                                              <a:latin typeface="Cambria Math" panose="02040503050406030204" pitchFamily="18" charset="0"/>
                                            </a:rPr>
                                          </m:ctrlPr>
                                        </m:fPr>
                                        <m:num>
                                          <m:r>
                                            <m:rPr>
                                              <m:nor/>
                                            </m:rPr>
                                            <a:rPr lang="en-US" altLang="zh-CN" sz="2000">
                                              <a:solidFill>
                                                <a:srgbClr val="000000"/>
                                              </a:solidFill>
                                              <a:latin typeface="Cambria Math" panose="02040503050406030204" pitchFamily="18" charset="0"/>
                                              <a:ea typeface="黑体"/>
                                            </a:rPr>
                                            <m:t>1</m:t>
                                          </m:r>
                                        </m:num>
                                        <m:den>
                                          <m:r>
                                            <m:rPr>
                                              <m:nor/>
                                            </m:rPr>
                                            <a:rPr lang="en-US" altLang="zh-CN" sz="2000">
                                              <a:solidFill>
                                                <a:srgbClr val="000000"/>
                                              </a:solidFill>
                                              <a:latin typeface="Cambria Math" panose="02040503050406030204" pitchFamily="18" charset="0"/>
                                              <a:ea typeface="黑体"/>
                                            </a:rPr>
                                            <m:t>2</m:t>
                                          </m:r>
                                        </m:den>
                                      </m:f>
                                      <m:r>
                                        <m:rPr>
                                          <m:nor/>
                                        </m:rPr>
                                        <a:rPr lang="en-US" altLang="zh-CN" sz="2000">
                                          <a:solidFill>
                                            <a:srgbClr val="000000"/>
                                          </a:solidFill>
                                          <a:latin typeface="Cambria Math" panose="02040503050406030204" pitchFamily="18" charset="0"/>
                                          <a:ea typeface="黑体"/>
                                        </a:rPr>
                                        <m:t>W</m:t>
                                      </m:r>
                                      <m:r>
                                        <m:rPr>
                                          <m:nor/>
                                        </m:rPr>
                                        <a:rPr lang="zh-CN" altLang="en-US" sz="2000">
                                          <a:solidFill>
                                            <a:srgbClr val="000000"/>
                                          </a:solidFill>
                                          <a:latin typeface="Cambria Math" panose="02040503050406030204" pitchFamily="18" charset="0"/>
                                          <a:ea typeface="黑体"/>
                                        </a:rPr>
                                        <m:t>（</m:t>
                                      </m:r>
                                      <m:r>
                                        <m:rPr>
                                          <m:nor/>
                                        </m:rPr>
                                        <a:rPr lang="en-US" altLang="zh-CN" sz="2000">
                                          <a:solidFill>
                                            <a:srgbClr val="000000"/>
                                          </a:solidFill>
                                          <a:latin typeface="Cambria Math" panose="02040503050406030204" pitchFamily="18" charset="0"/>
                                          <a:ea typeface="黑体"/>
                                        </a:rPr>
                                        <m:t>y</m:t>
                                      </m:r>
                                      <m:r>
                                        <m:rPr>
                                          <m:nor/>
                                        </m:rPr>
                                        <a:rPr lang="en-US" altLang="zh-CN" sz="2000">
                                          <a:solidFill>
                                            <a:srgbClr val="000000"/>
                                          </a:solidFill>
                                          <a:latin typeface="Cambria Math" panose="02040503050406030204" pitchFamily="18" charset="0"/>
                                          <a:ea typeface="黑体"/>
                                        </a:rPr>
                                        <m:t>|0</m:t>
                                      </m:r>
                                      <m:r>
                                        <m:rPr>
                                          <m:nor/>
                                        </m:rPr>
                                        <a:rPr lang="zh-CN" altLang="en-US" sz="2000">
                                          <a:solidFill>
                                            <a:srgbClr val="000000"/>
                                          </a:solidFill>
                                          <a:latin typeface="Cambria Math" panose="02040503050406030204" pitchFamily="18" charset="0"/>
                                          <a:ea typeface="黑体"/>
                                        </a:rPr>
                                        <m:t>）</m:t>
                                      </m:r>
                                      <m:r>
                                        <m:rPr>
                                          <m:nor/>
                                        </m:rPr>
                                        <a:rPr lang="en-US" altLang="zh-CN" sz="2000">
                                          <a:solidFill>
                                            <a:srgbClr val="000000"/>
                                          </a:solidFill>
                                          <a:latin typeface="Cambria Math" panose="02040503050406030204" pitchFamily="18" charset="0"/>
                                          <a:ea typeface="黑体"/>
                                        </a:rPr>
                                        <m:t>+</m:t>
                                      </m:r>
                                      <m:f>
                                        <m:fPr>
                                          <m:ctrlPr>
                                            <a:rPr lang="en-US" altLang="zh-CN" sz="2000" i="1">
                                              <a:solidFill>
                                                <a:srgbClr val="000000"/>
                                              </a:solidFill>
                                              <a:latin typeface="Cambria Math" panose="02040503050406030204" pitchFamily="18" charset="0"/>
                                            </a:rPr>
                                          </m:ctrlPr>
                                        </m:fPr>
                                        <m:num>
                                          <m:r>
                                            <m:rPr>
                                              <m:nor/>
                                            </m:rPr>
                                            <a:rPr lang="en-US" altLang="zh-CN" sz="2000">
                                              <a:solidFill>
                                                <a:srgbClr val="000000"/>
                                              </a:solidFill>
                                              <a:latin typeface="Cambria Math" panose="02040503050406030204" pitchFamily="18" charset="0"/>
                                              <a:ea typeface="黑体"/>
                                            </a:rPr>
                                            <m:t>1</m:t>
                                          </m:r>
                                        </m:num>
                                        <m:den>
                                          <m:r>
                                            <m:rPr>
                                              <m:nor/>
                                            </m:rPr>
                                            <a:rPr lang="en-US" altLang="zh-CN" sz="2000">
                                              <a:solidFill>
                                                <a:srgbClr val="000000"/>
                                              </a:solidFill>
                                              <a:latin typeface="Cambria Math" panose="02040503050406030204" pitchFamily="18" charset="0"/>
                                              <a:ea typeface="黑体"/>
                                            </a:rPr>
                                            <m:t>2</m:t>
                                          </m:r>
                                        </m:den>
                                      </m:f>
                                      <m:r>
                                        <m:rPr>
                                          <m:nor/>
                                        </m:rPr>
                                        <a:rPr lang="en-US" altLang="zh-CN" sz="2000">
                                          <a:solidFill>
                                            <a:srgbClr val="000000"/>
                                          </a:solidFill>
                                          <a:latin typeface="Cambria Math" panose="02040503050406030204" pitchFamily="18" charset="0"/>
                                          <a:ea typeface="黑体"/>
                                        </a:rPr>
                                        <m:t>W</m:t>
                                      </m:r>
                                      <m:r>
                                        <m:rPr>
                                          <m:nor/>
                                        </m:rPr>
                                        <a:rPr lang="zh-CN" altLang="en-US" sz="2000">
                                          <a:solidFill>
                                            <a:srgbClr val="000000"/>
                                          </a:solidFill>
                                          <a:latin typeface="Cambria Math" panose="02040503050406030204" pitchFamily="18" charset="0"/>
                                          <a:ea typeface="黑体"/>
                                        </a:rPr>
                                        <m:t>（</m:t>
                                      </m:r>
                                      <m:r>
                                        <m:rPr>
                                          <m:nor/>
                                        </m:rPr>
                                        <a:rPr lang="en-US" altLang="zh-CN" sz="2000">
                                          <a:solidFill>
                                            <a:srgbClr val="000000"/>
                                          </a:solidFill>
                                          <a:latin typeface="Cambria Math" panose="02040503050406030204" pitchFamily="18" charset="0"/>
                                          <a:ea typeface="黑体"/>
                                        </a:rPr>
                                        <m:t>y</m:t>
                                      </m:r>
                                      <m:r>
                                        <m:rPr>
                                          <m:nor/>
                                        </m:rPr>
                                        <a:rPr lang="en-US" altLang="zh-CN" sz="2000">
                                          <a:solidFill>
                                            <a:srgbClr val="000000"/>
                                          </a:solidFill>
                                          <a:latin typeface="Cambria Math" panose="02040503050406030204" pitchFamily="18" charset="0"/>
                                          <a:ea typeface="黑体"/>
                                        </a:rPr>
                                        <m:t>|1</m:t>
                                      </m:r>
                                      <m:r>
                                        <m:rPr>
                                          <m:nor/>
                                        </m:rPr>
                                        <a:rPr lang="zh-CN" altLang="en-US" sz="2000">
                                          <a:solidFill>
                                            <a:srgbClr val="000000"/>
                                          </a:solidFill>
                                          <a:latin typeface="Cambria Math" panose="02040503050406030204" pitchFamily="18" charset="0"/>
                                          <a:ea typeface="黑体"/>
                                        </a:rPr>
                                        <m:t>）</m:t>
                                      </m:r>
                                    </m:den>
                                  </m:f>
                                </m:e>
                                <m:sub/>
                              </m:sSub>
                            </m:e>
                          </m:d>
                        </m:e>
                      </m:nary>
                    </m:oMath>
                  </m:oMathPara>
                </a14:m>
                <a:endParaRPr lang="zh-CN" altLang="en-US" sz="2000" dirty="0">
                  <a:solidFill>
                    <a:srgbClr val="000000"/>
                  </a:solidFill>
                  <a:latin typeface="Times New Roman"/>
                  <a:ea typeface="黑体"/>
                </a:endParaRPr>
              </a:p>
            </p:txBody>
          </p:sp>
        </mc:Choice>
        <mc:Fallback xmlns="">
          <p:sp>
            <p:nvSpPr>
              <p:cNvPr id="13" name="内容占位符 2"/>
              <p:cNvSpPr txBox="1">
                <a:spLocks noRot="1" noChangeAspect="1" noMove="1" noResize="1" noEditPoints="1" noAdjustHandles="1" noChangeArrowheads="1" noChangeShapeType="1" noTextEdit="1"/>
              </p:cNvSpPr>
              <p:nvPr/>
            </p:nvSpPr>
            <p:spPr>
              <a:xfrm>
                <a:off x="1981308" y="3657596"/>
                <a:ext cx="8381780" cy="2743128"/>
              </a:xfrm>
              <a:prstGeom prst="rect">
                <a:avLst/>
              </a:prstGeom>
              <a:blipFill>
                <a:blip r:embed="rId3"/>
                <a:stretch>
                  <a:fillRect l="-727"/>
                </a:stretch>
              </a:blipFill>
              <a:ln w="9525">
                <a:noFill/>
              </a:ln>
            </p:spPr>
            <p:txBody>
              <a:bodyPr/>
              <a:lstStyle/>
              <a:p>
                <a:r>
                  <a:rPr lang="zh-CN" altLang="en-US">
                    <a:noFill/>
                  </a:rPr>
                  <a:t> </a:t>
                </a:r>
              </a:p>
            </p:txBody>
          </p:sp>
        </mc:Fallback>
      </mc:AlternateContent>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43763" y="15248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xmlns:a14="http://schemas.microsoft.com/office/drawing/2010/main">
        <mc:Choice Requires="a14">
          <p:sp>
            <p:nvSpPr>
              <p:cNvPr id="9" name="文本框 8"/>
              <p:cNvSpPr txBox="1"/>
              <p:nvPr/>
            </p:nvSpPr>
            <p:spPr>
              <a:xfrm>
                <a:off x="1790813" y="762001"/>
                <a:ext cx="8610374" cy="5844549"/>
              </a:xfrm>
              <a:prstGeom prst="rect">
                <a:avLst/>
              </a:prstGeom>
              <a:noFill/>
            </p:spPr>
            <p:txBody>
              <a:bodyPr wrap="square">
                <a:spAutoFit/>
              </a:bodyPr>
              <a:lstStyle/>
              <a:p>
                <a:pPr eaLnBrk="0" fontAlgn="base" hangingPunct="0">
                  <a:lnSpc>
                    <a:spcPct val="150000"/>
                  </a:lnSpc>
                  <a:defRPr/>
                </a:pPr>
                <a:r>
                  <a:rPr kumimoji="1" lang="zh-CN" altLang="en-US" sz="2400" dirty="0">
                    <a:solidFill>
                      <a:srgbClr val="FF0000"/>
                    </a:solidFill>
                    <a:latin typeface="黑体"/>
                    <a:ea typeface="黑体"/>
                  </a:rPr>
                  <a:t>信道合并（编码时）：</a:t>
                </a:r>
                <a:endParaRPr kumimoji="1" lang="en-US" altLang="zh-CN" sz="2400" dirty="0">
                  <a:solidFill>
                    <a:srgbClr val="FF0000"/>
                  </a:solidFill>
                  <a:latin typeface="黑体"/>
                  <a:ea typeface="黑体"/>
                </a:endParaRPr>
              </a:p>
              <a:p>
                <a:pPr eaLnBrk="0" fontAlgn="base" hangingPunct="0">
                  <a:lnSpc>
                    <a:spcPct val="150000"/>
                  </a:lnSpc>
                  <a:defRPr/>
                </a:pPr>
                <a:r>
                  <a:rPr lang="zh-CN" altLang="en-US" sz="2000" dirty="0">
                    <a:solidFill>
                      <a:srgbClr val="000000"/>
                    </a:solidFill>
                    <a:latin typeface="Times New Roman"/>
                    <a:ea typeface="黑体" panose="02010609060101010101" pitchFamily="49" charset="-122"/>
                  </a:rPr>
                  <a:t>       将两个</a:t>
                </a:r>
                <a:r>
                  <a:rPr lang="en-US" altLang="zh-CN" sz="2000" dirty="0">
                    <a:solidFill>
                      <a:srgbClr val="000000"/>
                    </a:solidFill>
                    <a:latin typeface="Times New Roman"/>
                    <a:ea typeface="黑体" panose="02010609060101010101" pitchFamily="49" charset="-122"/>
                  </a:rPr>
                  <a:t>BEC</a:t>
                </a:r>
                <a:r>
                  <a:rPr lang="zh-CN" altLang="en-US" sz="2000" dirty="0">
                    <a:solidFill>
                      <a:srgbClr val="000000"/>
                    </a:solidFill>
                    <a:latin typeface="Times New Roman"/>
                    <a:ea typeface="黑体" panose="02010609060101010101" pitchFamily="49" charset="-122"/>
                  </a:rPr>
                  <a:t>信道</a:t>
                </a:r>
                <a14:m>
                  <m:oMath xmlns:m="http://schemas.openxmlformats.org/officeDocument/2006/math">
                    <m:sSub>
                      <m:sSubPr>
                        <m:ctrlPr>
                          <a:rPr lang="en-US" altLang="zh-CN" sz="2000" i="1" dirty="0">
                            <a:solidFill>
                              <a:srgbClr val="000000"/>
                            </a:solidFill>
                            <a:latin typeface="Cambria Math" panose="02040503050406030204" pitchFamily="18" charset="0"/>
                          </a:rPr>
                        </m:ctrlPr>
                      </m:sSubPr>
                      <m:e>
                        <m:r>
                          <a:rPr lang="en-US" altLang="zh-CN" sz="2000" i="1" dirty="0">
                            <a:solidFill>
                              <a:srgbClr val="000000"/>
                            </a:solidFill>
                            <a:latin typeface="Cambria Math" panose="02040503050406030204" pitchFamily="18" charset="0"/>
                          </a:rPr>
                          <m:t>𝑊</m:t>
                        </m:r>
                      </m:e>
                      <m:sub>
                        <m:r>
                          <a:rPr lang="en-US" altLang="zh-CN" sz="2000" i="1" dirty="0">
                            <a:solidFill>
                              <a:srgbClr val="000000"/>
                            </a:solidFill>
                            <a:latin typeface="Cambria Math" panose="02040503050406030204" pitchFamily="18" charset="0"/>
                          </a:rPr>
                          <m:t>1</m:t>
                        </m:r>
                      </m:sub>
                    </m:sSub>
                  </m:oMath>
                </a14:m>
                <a:r>
                  <a:rPr lang="zh-CN" altLang="en-US" sz="2000" dirty="0">
                    <a:solidFill>
                      <a:srgbClr val="000000"/>
                    </a:solidFill>
                    <a:latin typeface="Times New Roman"/>
                    <a:ea typeface="黑体" panose="02010609060101010101" pitchFamily="49" charset="-122"/>
                  </a:rPr>
                  <a:t>和</a:t>
                </a:r>
                <a14:m>
                  <m:oMath xmlns:m="http://schemas.openxmlformats.org/officeDocument/2006/math">
                    <m:sSub>
                      <m:sSubPr>
                        <m:ctrlPr>
                          <a:rPr lang="en-US" altLang="zh-CN" sz="2000" i="1" dirty="0">
                            <a:solidFill>
                              <a:srgbClr val="000000"/>
                            </a:solidFill>
                            <a:latin typeface="Cambria Math" panose="02040503050406030204" pitchFamily="18" charset="0"/>
                          </a:rPr>
                        </m:ctrlPr>
                      </m:sSubPr>
                      <m:e>
                        <m:r>
                          <a:rPr lang="en-US" altLang="zh-CN" sz="2000" i="1" dirty="0">
                            <a:solidFill>
                              <a:srgbClr val="000000"/>
                            </a:solidFill>
                            <a:latin typeface="Cambria Math" panose="02040503050406030204" pitchFamily="18" charset="0"/>
                          </a:rPr>
                          <m:t>𝑊</m:t>
                        </m:r>
                      </m:e>
                      <m:sub>
                        <m:r>
                          <a:rPr lang="en-US" altLang="zh-CN" sz="2000" i="1" dirty="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panose="02010609060101010101" pitchFamily="49" charset="-122"/>
                  </a:rPr>
                  <a:t>合并成一个信道</a:t>
                </a:r>
                <a:r>
                  <a:rPr lang="en-US" altLang="zh-CN" sz="2000" dirty="0">
                    <a:solidFill>
                      <a:srgbClr val="000000"/>
                    </a:solidFill>
                    <a:latin typeface="Times New Roman"/>
                    <a:ea typeface="宋体" panose="02010600030101010101" pitchFamily="2" charset="-122"/>
                  </a:rPr>
                  <a:t>W</a:t>
                </a:r>
                <a:r>
                  <a:rPr lang="zh-CN" altLang="en-US" sz="2000" dirty="0">
                    <a:solidFill>
                      <a:srgbClr val="000000"/>
                    </a:solidFill>
                    <a:latin typeface="Times New Roman"/>
                    <a:ea typeface="黑体" panose="02010609060101010101" pitchFamily="49" charset="-122"/>
                  </a:rPr>
                  <a:t>。其中，“</a:t>
                </a:r>
                <a:r>
                  <a:rPr lang="en-US" altLang="zh-CN" sz="2000" dirty="0">
                    <a:solidFill>
                      <a:srgbClr val="000000"/>
                    </a:solidFill>
                    <a:latin typeface="Times New Roman"/>
                    <a:ea typeface="黑体" panose="02010609060101010101" pitchFamily="49" charset="-122"/>
                  </a:rPr>
                  <a:t>+</a:t>
                </a:r>
                <a:r>
                  <a:rPr lang="zh-CN" altLang="en-US" sz="2000" dirty="0">
                    <a:solidFill>
                      <a:srgbClr val="000000"/>
                    </a:solidFill>
                    <a:latin typeface="Times New Roman"/>
                    <a:ea typeface="黑体" panose="02010609060101010101" pitchFamily="49" charset="-122"/>
                  </a:rPr>
                  <a:t>”为模</a:t>
                </a:r>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加。由于</a:t>
                </a:r>
                <a14:m>
                  <m:oMath xmlns:m="http://schemas.openxmlformats.org/officeDocument/2006/math">
                    <m:sSub>
                      <m:sSubPr>
                        <m:ctrlPr>
                          <a:rPr lang="en-US" altLang="zh-CN" sz="2000" i="1" dirty="0">
                            <a:solidFill>
                              <a:srgbClr val="000000"/>
                            </a:solidFill>
                            <a:latin typeface="Cambria Math" panose="02040503050406030204" pitchFamily="18" charset="0"/>
                          </a:rPr>
                        </m:ctrlPr>
                      </m:sSubPr>
                      <m:e>
                        <m:r>
                          <m:rPr>
                            <m:sty m:val="p"/>
                          </m:rPr>
                          <a:rPr lang="en-US" altLang="zh-CN" sz="2000" i="1" dirty="0">
                            <a:solidFill>
                              <a:srgbClr val="000000"/>
                            </a:solidFill>
                            <a:latin typeface="Cambria Math" panose="02040503050406030204" pitchFamily="18" charset="0"/>
                          </a:rPr>
                          <m:t>u</m:t>
                        </m:r>
                      </m:e>
                      <m:sub>
                        <m:r>
                          <a:rPr lang="en-US" altLang="zh-CN" sz="2000" i="1" dirty="0">
                            <a:solidFill>
                              <a:srgbClr val="000000"/>
                            </a:solidFill>
                            <a:latin typeface="Cambria Math" panose="02040503050406030204" pitchFamily="18" charset="0"/>
                          </a:rPr>
                          <m:t>1</m:t>
                        </m:r>
                      </m:sub>
                    </m:sSub>
                    <m:r>
                      <a:rPr lang="zh-CN" altLang="en-US" sz="2000" i="1" dirty="0">
                        <a:solidFill>
                          <a:srgbClr val="000000"/>
                        </a:solidFill>
                        <a:latin typeface="Cambria Math" panose="02040503050406030204" pitchFamily="18" charset="0"/>
                      </a:rPr>
                      <m:t>和</m:t>
                    </m:r>
                    <m:sSub>
                      <m:sSubPr>
                        <m:ctrlPr>
                          <a:rPr lang="en-US" altLang="zh-CN" sz="2000" i="1" dirty="0">
                            <a:solidFill>
                              <a:srgbClr val="000000"/>
                            </a:solidFill>
                            <a:latin typeface="Cambria Math" panose="02040503050406030204" pitchFamily="18" charset="0"/>
                          </a:rPr>
                        </m:ctrlPr>
                      </m:sSubPr>
                      <m:e>
                        <m:r>
                          <m:rPr>
                            <m:sty m:val="p"/>
                          </m:rPr>
                          <a:rPr lang="en-US" altLang="zh-CN" sz="2000" i="1" dirty="0">
                            <a:solidFill>
                              <a:srgbClr val="000000"/>
                            </a:solidFill>
                            <a:latin typeface="Cambria Math" panose="02040503050406030204" pitchFamily="18" charset="0"/>
                          </a:rPr>
                          <m:t>u</m:t>
                        </m:r>
                      </m:e>
                      <m:sub>
                        <m:r>
                          <a:rPr lang="en-US" altLang="zh-CN" sz="2000" i="1" dirty="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panose="02010609060101010101" pitchFamily="49" charset="-122"/>
                  </a:rPr>
                  <a:t>都取自</a:t>
                </a:r>
                <a:r>
                  <a:rPr lang="en-US" altLang="zh-CN" sz="2000" dirty="0">
                    <a:solidFill>
                      <a:srgbClr val="000000"/>
                    </a:solidFill>
                    <a:latin typeface="Times New Roman"/>
                    <a:ea typeface="黑体" panose="02010609060101010101" pitchFamily="49" charset="-122"/>
                  </a:rPr>
                  <a:t>{0,1}</a:t>
                </a:r>
                <a:r>
                  <a:rPr lang="zh-CN" altLang="en-US" sz="2000" dirty="0">
                    <a:solidFill>
                      <a:srgbClr val="000000"/>
                    </a:solidFill>
                    <a:latin typeface="Times New Roman"/>
                    <a:ea typeface="黑体" panose="02010609060101010101" pitchFamily="49" charset="-122"/>
                  </a:rPr>
                  <a:t>且独立同分布，那么信道容量为：</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14:m>
                  <m:oMathPara xmlns:m="http://schemas.openxmlformats.org/officeDocument/2006/math">
                    <m:oMathParaPr>
                      <m:jc m:val="centerGroup"/>
                    </m:oMathParaPr>
                    <m:oMath xmlns:m="http://schemas.openxmlformats.org/officeDocument/2006/math">
                      <m:r>
                        <m:rPr>
                          <m:nor/>
                        </m:rPr>
                        <a:rPr lang="en-US" altLang="zh-CN" sz="2000" dirty="0">
                          <a:solidFill>
                            <a:srgbClr val="000000"/>
                          </a:solidFill>
                          <a:latin typeface="Times New Roman"/>
                          <a:ea typeface="宋体" panose="02010600030101010101" pitchFamily="2" charset="-122"/>
                        </a:rPr>
                        <m:t>C</m:t>
                      </m:r>
                      <m:r>
                        <m:rPr>
                          <m:nor/>
                        </m:rPr>
                        <a:rPr lang="en-US" altLang="zh-CN" sz="2000" dirty="0">
                          <a:solidFill>
                            <a:srgbClr val="000000"/>
                          </a:solidFill>
                          <a:latin typeface="Times New Roman"/>
                          <a:ea typeface="宋体" panose="02010600030101010101" pitchFamily="2" charset="-122"/>
                        </a:rPr>
                        <m:t>(</m:t>
                      </m:r>
                      <m:r>
                        <m:rPr>
                          <m:nor/>
                        </m:rPr>
                        <a:rPr lang="en-US" altLang="zh-CN" sz="2000" dirty="0">
                          <a:solidFill>
                            <a:srgbClr val="000000"/>
                          </a:solidFill>
                          <a:latin typeface="Times New Roman"/>
                          <a:ea typeface="宋体" panose="02010600030101010101" pitchFamily="2" charset="-122"/>
                        </a:rPr>
                        <m:t>W</m:t>
                      </m:r>
                      <m:r>
                        <m:rPr>
                          <m:nor/>
                        </m:rPr>
                        <a:rPr lang="en-US" altLang="zh-CN" sz="2000" dirty="0">
                          <a:solidFill>
                            <a:srgbClr val="000000"/>
                          </a:solidFill>
                          <a:latin typeface="Times New Roman"/>
                          <a:ea typeface="宋体" panose="02010600030101010101" pitchFamily="2" charset="-122"/>
                        </a:rPr>
                        <m:t>)=</m:t>
                      </m:r>
                      <m:r>
                        <m:rPr>
                          <m:nor/>
                        </m:rPr>
                        <a:rPr lang="en-US" altLang="zh-CN" sz="2000" dirty="0">
                          <a:solidFill>
                            <a:srgbClr val="000000"/>
                          </a:solidFill>
                          <a:latin typeface="Times New Roman"/>
                          <a:ea typeface="宋体" panose="02010600030101010101" pitchFamily="2" charset="-122"/>
                        </a:rPr>
                        <m:t>I</m:t>
                      </m:r>
                      <m:r>
                        <m:rPr>
                          <m:nor/>
                        </m:rPr>
                        <a:rPr lang="en-US" altLang="zh-CN" sz="2000" dirty="0">
                          <a:solidFill>
                            <a:srgbClr val="000000"/>
                          </a:solidFill>
                          <a:latin typeface="Times New Roman"/>
                          <a:ea typeface="宋体" panose="02010600030101010101" pitchFamily="2" charset="-122"/>
                        </a:rPr>
                        <m:t>(</m:t>
                      </m:r>
                      <m:r>
                        <m:rPr>
                          <m:nor/>
                        </m:rPr>
                        <a:rPr lang="en-US" altLang="zh-CN" sz="2000" dirty="0">
                          <a:solidFill>
                            <a:srgbClr val="000000"/>
                          </a:solidFill>
                          <a:latin typeface="Times New Roman"/>
                          <a:ea typeface="宋体" panose="02010600030101010101" pitchFamily="2" charset="-122"/>
                        </a:rPr>
                        <m:t>U</m:t>
                      </m:r>
                      <m:r>
                        <m:rPr>
                          <m:nor/>
                        </m:rPr>
                        <a:rPr lang="en-US" altLang="zh-CN" sz="2000" dirty="0">
                          <a:solidFill>
                            <a:srgbClr val="000000"/>
                          </a:solidFill>
                          <a:latin typeface="Times New Roman"/>
                          <a:ea typeface="宋体" panose="02010600030101010101" pitchFamily="2" charset="-122"/>
                        </a:rPr>
                        <m:t>;</m:t>
                      </m:r>
                      <m:r>
                        <m:rPr>
                          <m:nor/>
                        </m:rPr>
                        <a:rPr lang="en-US" altLang="zh-CN" sz="2000" dirty="0">
                          <a:solidFill>
                            <a:srgbClr val="000000"/>
                          </a:solidFill>
                          <a:latin typeface="Times New Roman"/>
                          <a:ea typeface="宋体" panose="02010600030101010101" pitchFamily="2" charset="-122"/>
                        </a:rPr>
                        <m:t>Y</m:t>
                      </m:r>
                      <m:r>
                        <m:rPr>
                          <m:nor/>
                        </m:rPr>
                        <a:rPr lang="en-US" altLang="zh-CN" sz="2000" dirty="0">
                          <a:solidFill>
                            <a:srgbClr val="000000"/>
                          </a:solidFill>
                          <a:latin typeface="Times New Roman"/>
                          <a:ea typeface="宋体" panose="02010600030101010101" pitchFamily="2" charset="-122"/>
                        </a:rPr>
                        <m:t>)</m:t>
                      </m:r>
                    </m:oMath>
                  </m:oMathPara>
                </a14:m>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其中，</a:t>
                </a:r>
                <a:r>
                  <a:rPr lang="en-US" altLang="zh-CN" sz="2000" dirty="0">
                    <a:solidFill>
                      <a:srgbClr val="000000"/>
                    </a:solidFill>
                    <a:latin typeface="Times New Roman"/>
                    <a:ea typeface="黑体" panose="02010609060101010101" pitchFamily="49" charset="-122"/>
                  </a:rPr>
                  <a:t>U=[</a:t>
                </a:r>
                <a14:m>
                  <m:oMath xmlns:m="http://schemas.openxmlformats.org/officeDocument/2006/math">
                    <m:sSub>
                      <m:sSubPr>
                        <m:ctrlPr>
                          <a:rPr lang="en-US" altLang="zh-CN" sz="2000" i="1" dirty="0">
                            <a:solidFill>
                              <a:srgbClr val="000000"/>
                            </a:solidFill>
                            <a:latin typeface="Cambria Math" panose="02040503050406030204" pitchFamily="18" charset="0"/>
                          </a:rPr>
                        </m:ctrlPr>
                      </m:sSubPr>
                      <m:e>
                        <m:r>
                          <m:rPr>
                            <m:nor/>
                          </m:rPr>
                          <a:rPr lang="en-US" altLang="zh-CN" sz="2000" dirty="0">
                            <a:solidFill>
                              <a:srgbClr val="000000"/>
                            </a:solidFill>
                            <a:latin typeface="Times New Roman"/>
                            <a:ea typeface="宋体" panose="02010600030101010101" pitchFamily="2" charset="-122"/>
                          </a:rPr>
                          <m:t>u</m:t>
                        </m:r>
                      </m:e>
                      <m:sub>
                        <m:r>
                          <m:rPr>
                            <m:nor/>
                          </m:rPr>
                          <a:rPr lang="en-US" altLang="zh-CN" sz="2000" dirty="0">
                            <a:solidFill>
                              <a:srgbClr val="000000"/>
                            </a:solidFill>
                            <a:latin typeface="Times New Roman"/>
                            <a:ea typeface="宋体" panose="02010600030101010101" pitchFamily="2" charset="-122"/>
                          </a:rPr>
                          <m:t>1</m:t>
                        </m:r>
                      </m:sub>
                    </m:sSub>
                    <m:r>
                      <m:rPr>
                        <m:nor/>
                      </m:rPr>
                      <a:rPr lang="en-US" altLang="zh-CN" sz="2000" dirty="0">
                        <a:solidFill>
                          <a:srgbClr val="000000"/>
                        </a:solidFill>
                        <a:latin typeface="Times New Roman"/>
                        <a:ea typeface="宋体" panose="02010600030101010101" pitchFamily="2" charset="-122"/>
                      </a:rPr>
                      <m:t>,</m:t>
                    </m:r>
                    <m:sSub>
                      <m:sSubPr>
                        <m:ctrlPr>
                          <a:rPr lang="en-US" altLang="zh-CN" sz="2000" i="1" dirty="0">
                            <a:solidFill>
                              <a:srgbClr val="000000"/>
                            </a:solidFill>
                            <a:latin typeface="Cambria Math" panose="02040503050406030204" pitchFamily="18" charset="0"/>
                          </a:rPr>
                        </m:ctrlPr>
                      </m:sSubPr>
                      <m:e>
                        <m:r>
                          <m:rPr>
                            <m:nor/>
                          </m:rPr>
                          <a:rPr lang="en-US" altLang="zh-CN" sz="2000" dirty="0">
                            <a:solidFill>
                              <a:srgbClr val="000000"/>
                            </a:solidFill>
                            <a:latin typeface="Times New Roman"/>
                            <a:ea typeface="宋体" panose="02010600030101010101" pitchFamily="2" charset="-122"/>
                          </a:rPr>
                          <m:t>u</m:t>
                        </m:r>
                      </m:e>
                      <m:sub>
                        <m:r>
                          <m:rPr>
                            <m:nor/>
                          </m:rPr>
                          <a:rPr lang="en-US" altLang="zh-CN" sz="2000" dirty="0">
                            <a:solidFill>
                              <a:srgbClr val="000000"/>
                            </a:solidFill>
                            <a:latin typeface="Times New Roman"/>
                            <a:ea typeface="宋体" panose="02010600030101010101" pitchFamily="2" charset="-122"/>
                          </a:rPr>
                          <m:t>2</m:t>
                        </m:r>
                      </m:sub>
                    </m:sSub>
                  </m:oMath>
                </a14:m>
                <a:r>
                  <a:rPr lang="en-US" altLang="zh-CN" sz="2000" dirty="0">
                    <a:solidFill>
                      <a:srgbClr val="000000"/>
                    </a:solidFill>
                    <a:latin typeface="Times New Roman"/>
                    <a:ea typeface="黑体" panose="02010609060101010101" pitchFamily="49" charset="-122"/>
                  </a:rPr>
                  <a:t>], Y=[</a:t>
                </a:r>
                <a14:m>
                  <m:oMath xmlns:m="http://schemas.openxmlformats.org/officeDocument/2006/math">
                    <m:sSub>
                      <m:sSubPr>
                        <m:ctrlPr>
                          <a:rPr lang="en-US" altLang="zh-CN" sz="2000" i="1" dirty="0">
                            <a:solidFill>
                              <a:srgbClr val="000000"/>
                            </a:solidFill>
                            <a:latin typeface="Cambria Math" panose="02040503050406030204" pitchFamily="18" charset="0"/>
                          </a:rPr>
                        </m:ctrlPr>
                      </m:sSubPr>
                      <m:e>
                        <m:r>
                          <m:rPr>
                            <m:nor/>
                          </m:rPr>
                          <a:rPr lang="en-US" altLang="zh-CN" sz="2000" dirty="0">
                            <a:solidFill>
                              <a:srgbClr val="000000"/>
                            </a:solidFill>
                            <a:latin typeface="Times New Roman"/>
                            <a:ea typeface="宋体" panose="02010600030101010101" pitchFamily="2" charset="-122"/>
                          </a:rPr>
                          <m:t>y</m:t>
                        </m:r>
                      </m:e>
                      <m:sub>
                        <m:r>
                          <m:rPr>
                            <m:nor/>
                          </m:rPr>
                          <a:rPr lang="en-US" altLang="zh-CN" sz="2000" dirty="0">
                            <a:solidFill>
                              <a:srgbClr val="000000"/>
                            </a:solidFill>
                            <a:latin typeface="Times New Roman"/>
                            <a:ea typeface="宋体" panose="02010600030101010101" pitchFamily="2" charset="-122"/>
                          </a:rPr>
                          <m:t>1</m:t>
                        </m:r>
                      </m:sub>
                    </m:sSub>
                    <m:r>
                      <m:rPr>
                        <m:nor/>
                      </m:rPr>
                      <a:rPr lang="en-US" altLang="zh-CN" sz="2000" dirty="0">
                        <a:solidFill>
                          <a:srgbClr val="000000"/>
                        </a:solidFill>
                        <a:latin typeface="Times New Roman"/>
                        <a:ea typeface="宋体" panose="02010600030101010101" pitchFamily="2" charset="-122"/>
                      </a:rPr>
                      <m:t>,</m:t>
                    </m:r>
                    <m:sSub>
                      <m:sSubPr>
                        <m:ctrlPr>
                          <a:rPr lang="en-US" altLang="zh-CN" sz="2000" i="1" dirty="0">
                            <a:solidFill>
                              <a:srgbClr val="000000"/>
                            </a:solidFill>
                            <a:latin typeface="Cambria Math" panose="02040503050406030204" pitchFamily="18" charset="0"/>
                          </a:rPr>
                        </m:ctrlPr>
                      </m:sSubPr>
                      <m:e>
                        <m:r>
                          <m:rPr>
                            <m:nor/>
                          </m:rPr>
                          <a:rPr lang="en-US" altLang="zh-CN" sz="2000" dirty="0">
                            <a:solidFill>
                              <a:srgbClr val="000000"/>
                            </a:solidFill>
                            <a:latin typeface="Times New Roman"/>
                            <a:ea typeface="宋体" panose="02010600030101010101" pitchFamily="2" charset="-122"/>
                          </a:rPr>
                          <m:t>y</m:t>
                        </m:r>
                      </m:e>
                      <m:sub>
                        <m:r>
                          <m:rPr>
                            <m:nor/>
                          </m:rPr>
                          <a:rPr lang="en-US" altLang="zh-CN" sz="2000" dirty="0">
                            <a:solidFill>
                              <a:srgbClr val="000000"/>
                            </a:solidFill>
                            <a:latin typeface="Times New Roman"/>
                            <a:ea typeface="宋体" panose="02010600030101010101" pitchFamily="2" charset="-122"/>
                          </a:rPr>
                          <m:t>2</m:t>
                        </m:r>
                      </m:sub>
                    </m:sSub>
                  </m:oMath>
                </a14:m>
                <a:r>
                  <a:rPr lang="en-US" altLang="zh-CN" sz="2000" dirty="0">
                    <a:solidFill>
                      <a:srgbClr val="000000"/>
                    </a:solidFill>
                    <a:latin typeface="Times New Roman"/>
                    <a:ea typeface="黑体" panose="02010609060101010101" pitchFamily="49" charset="-122"/>
                  </a:rPr>
                  <a:t>]</a:t>
                </a:r>
                <a:r>
                  <a:rPr lang="zh-CN" altLang="en-US" sz="2000" dirty="0">
                    <a:solidFill>
                      <a:srgbClr val="000000"/>
                    </a:solidFill>
                    <a:latin typeface="Times New Roman"/>
                    <a:ea typeface="黑体" panose="02010609060101010101" pitchFamily="49" charset="-122"/>
                  </a:rPr>
                  <a:t>。</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14:m>
                  <m:oMathPara xmlns:m="http://schemas.openxmlformats.org/officeDocument/2006/math">
                    <m:oMathParaPr>
                      <m:jc m:val="centerGroup"/>
                    </m:oMathParaPr>
                    <m:oMath xmlns:m="http://schemas.openxmlformats.org/officeDocument/2006/math">
                      <m:r>
                        <m:rPr>
                          <m:nor/>
                        </m:rPr>
                        <a:rPr lang="en-US" altLang="zh-CN" sz="2000" dirty="0">
                          <a:solidFill>
                            <a:srgbClr val="000000"/>
                          </a:solidFill>
                          <a:latin typeface="Times New Roman"/>
                          <a:ea typeface="宋体" panose="02010600030101010101" pitchFamily="2" charset="-122"/>
                        </a:rPr>
                        <m:t>C</m:t>
                      </m:r>
                      <m:r>
                        <m:rPr>
                          <m:nor/>
                        </m:rPr>
                        <a:rPr lang="en-US" altLang="zh-CN" sz="2000" dirty="0">
                          <a:solidFill>
                            <a:srgbClr val="000000"/>
                          </a:solidFill>
                          <a:latin typeface="Times New Roman"/>
                          <a:ea typeface="宋体" panose="02010600030101010101" pitchFamily="2" charset="-122"/>
                        </a:rPr>
                        <m:t>(</m:t>
                      </m:r>
                      <m:r>
                        <m:rPr>
                          <m:nor/>
                        </m:rPr>
                        <a:rPr lang="en-US" altLang="zh-CN" sz="2000" dirty="0">
                          <a:solidFill>
                            <a:srgbClr val="000000"/>
                          </a:solidFill>
                          <a:latin typeface="Times New Roman"/>
                          <a:ea typeface="宋体" panose="02010600030101010101" pitchFamily="2" charset="-122"/>
                        </a:rPr>
                        <m:t>W</m:t>
                      </m:r>
                      <m:r>
                        <m:rPr>
                          <m:nor/>
                        </m:rPr>
                        <a:rPr lang="en-US" altLang="zh-CN" sz="2000" dirty="0">
                          <a:solidFill>
                            <a:srgbClr val="000000"/>
                          </a:solidFill>
                          <a:latin typeface="Times New Roman"/>
                          <a:ea typeface="宋体" panose="02010600030101010101" pitchFamily="2" charset="-122"/>
                        </a:rPr>
                        <m:t>)=</m:t>
                      </m:r>
                      <m:r>
                        <m:rPr>
                          <m:nor/>
                        </m:rPr>
                        <a:rPr lang="en-US" altLang="zh-CN" sz="2000" dirty="0">
                          <a:solidFill>
                            <a:srgbClr val="000000"/>
                          </a:solidFill>
                          <a:latin typeface="Times New Roman"/>
                          <a:ea typeface="宋体" panose="02010600030101010101" pitchFamily="2" charset="-122"/>
                        </a:rPr>
                        <m:t>I</m:t>
                      </m:r>
                      <m:r>
                        <m:rPr>
                          <m:nor/>
                        </m:rPr>
                        <a:rPr lang="en-US" altLang="zh-CN" sz="2000" dirty="0">
                          <a:solidFill>
                            <a:srgbClr val="000000"/>
                          </a:solidFill>
                          <a:latin typeface="Times New Roman"/>
                          <a:ea typeface="宋体" panose="02010600030101010101" pitchFamily="2" charset="-122"/>
                        </a:rPr>
                        <m:t>(</m:t>
                      </m:r>
                      <m:r>
                        <m:rPr>
                          <m:nor/>
                        </m:rPr>
                        <a:rPr lang="en-US" altLang="zh-CN" sz="2000" dirty="0">
                          <a:solidFill>
                            <a:srgbClr val="000000"/>
                          </a:solidFill>
                          <a:latin typeface="Times New Roman"/>
                          <a:ea typeface="宋体" panose="02010600030101010101" pitchFamily="2" charset="-122"/>
                        </a:rPr>
                        <m:t>X</m:t>
                      </m:r>
                      <m:r>
                        <m:rPr>
                          <m:nor/>
                        </m:rPr>
                        <a:rPr lang="en-US" altLang="zh-CN" sz="2000" dirty="0">
                          <a:solidFill>
                            <a:srgbClr val="000000"/>
                          </a:solidFill>
                          <a:latin typeface="Times New Roman"/>
                          <a:ea typeface="宋体" panose="02010600030101010101" pitchFamily="2" charset="-122"/>
                        </a:rPr>
                        <m:t>;</m:t>
                      </m:r>
                      <m:r>
                        <m:rPr>
                          <m:nor/>
                        </m:rPr>
                        <a:rPr lang="en-US" altLang="zh-CN" sz="2000" dirty="0">
                          <a:solidFill>
                            <a:srgbClr val="000000"/>
                          </a:solidFill>
                          <a:latin typeface="Times New Roman"/>
                          <a:ea typeface="宋体" panose="02010600030101010101" pitchFamily="2" charset="-122"/>
                        </a:rPr>
                        <m:t>Y</m:t>
                      </m:r>
                      <m:r>
                        <m:rPr>
                          <m:nor/>
                        </m:rPr>
                        <a:rPr lang="en-US" altLang="zh-CN" sz="2000" dirty="0">
                          <a:solidFill>
                            <a:srgbClr val="000000"/>
                          </a:solidFill>
                          <a:latin typeface="Times New Roman"/>
                          <a:ea typeface="宋体" panose="02010600030101010101" pitchFamily="2" charset="-122"/>
                        </a:rPr>
                        <m:t>)</m:t>
                      </m:r>
                    </m:oMath>
                  </m:oMathPara>
                </a14:m>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r>
                  <a:rPr lang="zh-CN" altLang="en-US" sz="2000" dirty="0">
                    <a:solidFill>
                      <a:srgbClr val="000000"/>
                    </a:solidFill>
                    <a:latin typeface="Times New Roman"/>
                    <a:ea typeface="黑体" panose="02010609060101010101" pitchFamily="49" charset="-122"/>
                  </a:rPr>
                  <a:t>       其中，</a:t>
                </a:r>
                <a:r>
                  <a:rPr lang="en-US" altLang="zh-CN" sz="2000" dirty="0">
                    <a:solidFill>
                      <a:srgbClr val="000000"/>
                    </a:solidFill>
                    <a:latin typeface="Times New Roman"/>
                    <a:ea typeface="黑体" panose="02010609060101010101" pitchFamily="49" charset="-122"/>
                  </a:rPr>
                  <a:t>X=[</a:t>
                </a:r>
                <a14:m>
                  <m:oMath xmlns:m="http://schemas.openxmlformats.org/officeDocument/2006/math">
                    <m:sSub>
                      <m:sSubPr>
                        <m:ctrlPr>
                          <a:rPr lang="en-US" altLang="zh-CN" sz="2000" i="1" dirty="0">
                            <a:solidFill>
                              <a:srgbClr val="000000"/>
                            </a:solidFill>
                            <a:latin typeface="Cambria Math" panose="02040503050406030204" pitchFamily="18" charset="0"/>
                          </a:rPr>
                        </m:ctrlPr>
                      </m:sSubPr>
                      <m:e>
                        <m:r>
                          <m:rPr>
                            <m:nor/>
                          </m:rPr>
                          <a:rPr lang="en-US" altLang="zh-CN" sz="2000" dirty="0">
                            <a:solidFill>
                              <a:srgbClr val="000000"/>
                            </a:solidFill>
                            <a:latin typeface="Times New Roman"/>
                            <a:ea typeface="宋体" panose="02010600030101010101" pitchFamily="2" charset="-122"/>
                          </a:rPr>
                          <m:t>x</m:t>
                        </m:r>
                      </m:e>
                      <m:sub>
                        <m:r>
                          <m:rPr>
                            <m:nor/>
                          </m:rPr>
                          <a:rPr lang="en-US" altLang="zh-CN" sz="2000" dirty="0">
                            <a:solidFill>
                              <a:srgbClr val="000000"/>
                            </a:solidFill>
                            <a:latin typeface="Times New Roman"/>
                            <a:ea typeface="宋体" panose="02010600030101010101" pitchFamily="2" charset="-122"/>
                          </a:rPr>
                          <m:t>1</m:t>
                        </m:r>
                      </m:sub>
                    </m:sSub>
                    <m:r>
                      <m:rPr>
                        <m:nor/>
                      </m:rPr>
                      <a:rPr lang="en-US" altLang="zh-CN" sz="2000" dirty="0">
                        <a:solidFill>
                          <a:srgbClr val="000000"/>
                        </a:solidFill>
                        <a:latin typeface="Times New Roman"/>
                        <a:ea typeface="宋体" panose="02010600030101010101" pitchFamily="2" charset="-122"/>
                      </a:rPr>
                      <m:t>,</m:t>
                    </m:r>
                    <m:sSub>
                      <m:sSubPr>
                        <m:ctrlPr>
                          <a:rPr lang="en-US" altLang="zh-CN" sz="2000" i="1" dirty="0">
                            <a:solidFill>
                              <a:srgbClr val="000000"/>
                            </a:solidFill>
                            <a:latin typeface="Cambria Math" panose="02040503050406030204" pitchFamily="18" charset="0"/>
                          </a:rPr>
                        </m:ctrlPr>
                      </m:sSubPr>
                      <m:e>
                        <m:r>
                          <m:rPr>
                            <m:nor/>
                          </m:rPr>
                          <a:rPr lang="en-US" altLang="zh-CN" sz="2000" dirty="0">
                            <a:solidFill>
                              <a:srgbClr val="000000"/>
                            </a:solidFill>
                            <a:latin typeface="Times New Roman"/>
                            <a:ea typeface="宋体" panose="02010600030101010101" pitchFamily="2" charset="-122"/>
                          </a:rPr>
                          <m:t>x</m:t>
                        </m:r>
                      </m:e>
                      <m:sub>
                        <m:r>
                          <m:rPr>
                            <m:nor/>
                          </m:rPr>
                          <a:rPr lang="en-US" altLang="zh-CN" sz="2000" dirty="0">
                            <a:solidFill>
                              <a:srgbClr val="000000"/>
                            </a:solidFill>
                            <a:latin typeface="Times New Roman"/>
                            <a:ea typeface="宋体" panose="02010600030101010101" pitchFamily="2" charset="-122"/>
                          </a:rPr>
                          <m:t>2</m:t>
                        </m:r>
                      </m:sub>
                    </m:sSub>
                  </m:oMath>
                </a14:m>
                <a:r>
                  <a:rPr lang="en-US" altLang="zh-CN" sz="2000" dirty="0">
                    <a:solidFill>
                      <a:srgbClr val="000000"/>
                    </a:solidFill>
                    <a:latin typeface="Times New Roman"/>
                    <a:ea typeface="黑体" panose="02010609060101010101" pitchFamily="49" charset="-122"/>
                  </a:rPr>
                  <a:t>]</a:t>
                </a:r>
                <a:r>
                  <a:rPr lang="zh-CN" altLang="en-US" sz="2000" dirty="0">
                    <a:solidFill>
                      <a:srgbClr val="000000"/>
                    </a:solidFill>
                    <a:latin typeface="Times New Roman"/>
                    <a:ea typeface="黑体" panose="02010609060101010101" pitchFamily="49" charset="-122"/>
                  </a:rPr>
                  <a:t>。</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14:m>
                  <m:oMathPara xmlns:m="http://schemas.openxmlformats.org/officeDocument/2006/math">
                    <m:oMathParaPr>
                      <m:jc m:val="centerGroup"/>
                    </m:oMathParaPr>
                    <m:oMath xmlns:m="http://schemas.openxmlformats.org/officeDocument/2006/math">
                      <m:r>
                        <m:rPr>
                          <m:nor/>
                        </m:rPr>
                        <a:rPr lang="en-US" altLang="zh-CN" sz="2000">
                          <a:solidFill>
                            <a:srgbClr val="000000"/>
                          </a:solidFill>
                          <a:latin typeface="Times New Roman"/>
                          <a:ea typeface="宋体" panose="02010600030101010101" pitchFamily="2" charset="-122"/>
                        </a:rPr>
                        <m:t>C</m:t>
                      </m:r>
                      <m:d>
                        <m:dPr>
                          <m:ctrlPr>
                            <a:rPr lang="en-US" altLang="zh-CN" sz="2000" i="1">
                              <a:solidFill>
                                <a:srgbClr val="000000"/>
                              </a:solidFill>
                              <a:latin typeface="Cambria Math" panose="02040503050406030204" pitchFamily="18" charset="0"/>
                            </a:rPr>
                          </m:ctrlPr>
                        </m:dPr>
                        <m:e>
                          <m:r>
                            <m:rPr>
                              <m:nor/>
                            </m:rPr>
                            <a:rPr lang="en-US" altLang="zh-CN" sz="2000">
                              <a:solidFill>
                                <a:srgbClr val="000000"/>
                              </a:solidFill>
                              <a:latin typeface="Times New Roman"/>
                              <a:ea typeface="宋体" panose="02010600030101010101" pitchFamily="2" charset="-122"/>
                            </a:rPr>
                            <m:t>W</m:t>
                          </m:r>
                        </m:e>
                      </m:d>
                      <m:r>
                        <m:rPr>
                          <m:nor/>
                        </m:rPr>
                        <a:rPr lang="en-US" altLang="zh-CN" sz="2000">
                          <a:solidFill>
                            <a:srgbClr val="000000"/>
                          </a:solidFill>
                          <a:latin typeface="Times New Roman"/>
                          <a:ea typeface="宋体" panose="02010600030101010101" pitchFamily="2" charset="-122"/>
                        </a:rPr>
                        <m:t>=</m:t>
                      </m:r>
                      <m:r>
                        <m:rPr>
                          <m:nor/>
                        </m:rPr>
                        <a:rPr lang="en-US" altLang="zh-CN" sz="2000">
                          <a:solidFill>
                            <a:srgbClr val="000000"/>
                          </a:solidFill>
                          <a:latin typeface="Times New Roman"/>
                          <a:ea typeface="宋体" panose="02010600030101010101" pitchFamily="2" charset="-122"/>
                        </a:rPr>
                        <m:t>I</m:t>
                      </m:r>
                      <m:d>
                        <m:dPr>
                          <m:ctrlPr>
                            <a:rPr lang="en-US" altLang="zh-CN" sz="2000" i="1">
                              <a:solidFill>
                                <a:srgbClr val="000000"/>
                              </a:solidFill>
                              <a:latin typeface="Cambria Math" panose="02040503050406030204" pitchFamily="18" charset="0"/>
                            </a:rPr>
                          </m:ctrlPr>
                        </m:dPr>
                        <m:e>
                          <m:sSub>
                            <m:sSubPr>
                              <m:ctrlPr>
                                <a:rPr lang="en-US" altLang="zh-CN" sz="2000" i="1">
                                  <a:solidFill>
                                    <a:srgbClr val="000000"/>
                                  </a:solidFill>
                                  <a:latin typeface="Cambria Math" panose="02040503050406030204" pitchFamily="18" charset="0"/>
                                </a:rPr>
                              </m:ctrlPr>
                            </m:sSubPr>
                            <m:e>
                              <m:r>
                                <m:rPr>
                                  <m:nor/>
                                </m:rPr>
                                <a:rPr lang="en-US" altLang="zh-CN" sz="2000">
                                  <a:solidFill>
                                    <a:srgbClr val="000000"/>
                                  </a:solidFill>
                                  <a:latin typeface="Times New Roman"/>
                                  <a:ea typeface="宋体" panose="02010600030101010101" pitchFamily="2" charset="-122"/>
                                </a:rPr>
                                <m:t>x</m:t>
                              </m:r>
                            </m:e>
                            <m:sub>
                              <m:r>
                                <m:rPr>
                                  <m:nor/>
                                </m:rPr>
                                <a:rPr lang="en-US" altLang="zh-CN" sz="2000">
                                  <a:solidFill>
                                    <a:srgbClr val="000000"/>
                                  </a:solidFill>
                                  <a:latin typeface="Times New Roman"/>
                                  <a:ea typeface="宋体" panose="02010600030101010101" pitchFamily="2" charset="-122"/>
                                </a:rPr>
                                <m:t>1</m:t>
                              </m:r>
                            </m:sub>
                          </m:sSub>
                          <m:sSub>
                            <m:sSubPr>
                              <m:ctrlPr>
                                <a:rPr lang="en-US" altLang="zh-CN" sz="2000" i="1">
                                  <a:solidFill>
                                    <a:srgbClr val="000000"/>
                                  </a:solidFill>
                                  <a:latin typeface="Cambria Math" panose="02040503050406030204" pitchFamily="18" charset="0"/>
                                </a:rPr>
                              </m:ctrlPr>
                            </m:sSubPr>
                            <m:e>
                              <m:r>
                                <m:rPr>
                                  <m:nor/>
                                </m:rPr>
                                <a:rPr lang="en-US" altLang="zh-CN" sz="2000">
                                  <a:solidFill>
                                    <a:srgbClr val="000000"/>
                                  </a:solidFill>
                                  <a:latin typeface="Times New Roman"/>
                                  <a:ea typeface="宋体" panose="02010600030101010101" pitchFamily="2" charset="-122"/>
                                </a:rPr>
                                <m:t>;</m:t>
                              </m:r>
                              <m:r>
                                <m:rPr>
                                  <m:nor/>
                                </m:rPr>
                                <a:rPr lang="en-US" altLang="zh-CN" sz="2000">
                                  <a:solidFill>
                                    <a:srgbClr val="000000"/>
                                  </a:solidFill>
                                  <a:latin typeface="Times New Roman"/>
                                  <a:ea typeface="宋体" panose="02010600030101010101" pitchFamily="2" charset="-122"/>
                                </a:rPr>
                                <m:t>y</m:t>
                              </m:r>
                            </m:e>
                            <m:sub>
                              <m:r>
                                <m:rPr>
                                  <m:nor/>
                                </m:rPr>
                                <a:rPr lang="en-US" altLang="zh-CN" sz="2000">
                                  <a:solidFill>
                                    <a:srgbClr val="000000"/>
                                  </a:solidFill>
                                  <a:latin typeface="Times New Roman"/>
                                  <a:ea typeface="宋体" panose="02010600030101010101" pitchFamily="2" charset="-122"/>
                                </a:rPr>
                                <m:t>1</m:t>
                              </m:r>
                            </m:sub>
                          </m:sSub>
                        </m:e>
                      </m:d>
                      <m:r>
                        <m:rPr>
                          <m:nor/>
                        </m:rPr>
                        <a:rPr lang="en-US" altLang="zh-CN" sz="2000">
                          <a:solidFill>
                            <a:srgbClr val="000000"/>
                          </a:solidFill>
                          <a:latin typeface="Times New Roman"/>
                          <a:ea typeface="宋体" panose="02010600030101010101" pitchFamily="2" charset="-122"/>
                        </a:rPr>
                        <m:t>+</m:t>
                      </m:r>
                      <m:r>
                        <m:rPr>
                          <m:nor/>
                        </m:rPr>
                        <a:rPr lang="en-US" altLang="zh-CN" sz="2000">
                          <a:solidFill>
                            <a:srgbClr val="000000"/>
                          </a:solidFill>
                          <a:latin typeface="Times New Roman"/>
                          <a:ea typeface="宋体" panose="02010600030101010101" pitchFamily="2" charset="-122"/>
                        </a:rPr>
                        <m:t>I</m:t>
                      </m:r>
                      <m:d>
                        <m:dPr>
                          <m:ctrlPr>
                            <a:rPr lang="en-US" altLang="zh-CN" sz="2000" i="1">
                              <a:solidFill>
                                <a:srgbClr val="000000"/>
                              </a:solidFill>
                              <a:latin typeface="Cambria Math" panose="02040503050406030204" pitchFamily="18" charset="0"/>
                            </a:rPr>
                          </m:ctrlPr>
                        </m:dPr>
                        <m:e>
                          <m:sSub>
                            <m:sSubPr>
                              <m:ctrlPr>
                                <a:rPr lang="en-US" altLang="zh-CN" sz="2000" i="1">
                                  <a:solidFill>
                                    <a:srgbClr val="000000"/>
                                  </a:solidFill>
                                  <a:latin typeface="Cambria Math" panose="02040503050406030204" pitchFamily="18" charset="0"/>
                                </a:rPr>
                              </m:ctrlPr>
                            </m:sSubPr>
                            <m:e>
                              <m:r>
                                <m:rPr>
                                  <m:nor/>
                                </m:rPr>
                                <a:rPr lang="en-US" altLang="zh-CN" sz="2000">
                                  <a:solidFill>
                                    <a:srgbClr val="000000"/>
                                  </a:solidFill>
                                  <a:latin typeface="Times New Roman"/>
                                  <a:ea typeface="宋体" panose="02010600030101010101" pitchFamily="2" charset="-122"/>
                                </a:rPr>
                                <m:t>x</m:t>
                              </m:r>
                            </m:e>
                            <m:sub>
                              <m:r>
                                <m:rPr>
                                  <m:nor/>
                                </m:rPr>
                                <a:rPr lang="en-US" altLang="zh-CN" sz="2000">
                                  <a:solidFill>
                                    <a:srgbClr val="000000"/>
                                  </a:solidFill>
                                  <a:latin typeface="Times New Roman"/>
                                  <a:ea typeface="宋体" panose="02010600030101010101" pitchFamily="2" charset="-122"/>
                                </a:rPr>
                                <m:t>2</m:t>
                              </m:r>
                            </m:sub>
                          </m:sSub>
                          <m:r>
                            <m:rPr>
                              <m:nor/>
                            </m:rPr>
                            <a:rPr lang="en-US" altLang="zh-CN" sz="2000">
                              <a:solidFill>
                                <a:srgbClr val="000000"/>
                              </a:solidFill>
                              <a:latin typeface="Times New Roman"/>
                              <a:ea typeface="宋体" panose="02010600030101010101" pitchFamily="2" charset="-122"/>
                            </a:rPr>
                            <m:t>;</m:t>
                          </m:r>
                          <m:sSub>
                            <m:sSubPr>
                              <m:ctrlPr>
                                <a:rPr lang="en-US" altLang="zh-CN" sz="2000" i="1">
                                  <a:solidFill>
                                    <a:srgbClr val="000000"/>
                                  </a:solidFill>
                                  <a:latin typeface="Cambria Math" panose="02040503050406030204" pitchFamily="18" charset="0"/>
                                </a:rPr>
                              </m:ctrlPr>
                            </m:sSubPr>
                            <m:e>
                              <m:r>
                                <m:rPr>
                                  <m:nor/>
                                </m:rPr>
                                <a:rPr lang="en-US" altLang="zh-CN" sz="2000">
                                  <a:solidFill>
                                    <a:srgbClr val="000000"/>
                                  </a:solidFill>
                                  <a:latin typeface="Times New Roman"/>
                                  <a:ea typeface="宋体" panose="02010600030101010101" pitchFamily="2" charset="-122"/>
                                </a:rPr>
                                <m:t>y</m:t>
                              </m:r>
                            </m:e>
                            <m:sub>
                              <m:r>
                                <m:rPr>
                                  <m:nor/>
                                </m:rPr>
                                <a:rPr lang="en-US" altLang="zh-CN" sz="2000">
                                  <a:solidFill>
                                    <a:srgbClr val="000000"/>
                                  </a:solidFill>
                                  <a:latin typeface="Times New Roman"/>
                                  <a:ea typeface="宋体" panose="02010600030101010101" pitchFamily="2" charset="-122"/>
                                </a:rPr>
                                <m:t>2</m:t>
                              </m:r>
                            </m:sub>
                          </m:sSub>
                        </m:e>
                      </m:d>
                      <m:r>
                        <m:rPr>
                          <m:nor/>
                        </m:rPr>
                        <a:rPr lang="en-US" altLang="zh-CN" sz="2000">
                          <a:solidFill>
                            <a:srgbClr val="000000"/>
                          </a:solidFill>
                          <a:latin typeface="Times New Roman"/>
                          <a:ea typeface="宋体" panose="02010600030101010101" pitchFamily="2" charset="-122"/>
                        </a:rPr>
                        <m:t>=</m:t>
                      </m:r>
                      <m:r>
                        <m:rPr>
                          <m:nor/>
                        </m:rPr>
                        <a:rPr lang="en-US" altLang="zh-CN" sz="2000" dirty="0">
                          <a:solidFill>
                            <a:srgbClr val="000000"/>
                          </a:solidFill>
                          <a:latin typeface="Times New Roman"/>
                          <a:ea typeface="宋体" panose="02010600030101010101" pitchFamily="2" charset="-122"/>
                        </a:rPr>
                        <m:t>C</m:t>
                      </m:r>
                      <m:d>
                        <m:dPr>
                          <m:ctrlPr>
                            <a:rPr lang="en-US" altLang="zh-CN" sz="2000" i="1" dirty="0">
                              <a:solidFill>
                                <a:srgbClr val="000000"/>
                              </a:solidFill>
                              <a:latin typeface="Cambria Math" panose="02040503050406030204" pitchFamily="18" charset="0"/>
                            </a:rPr>
                          </m:ctrlPr>
                        </m:dPr>
                        <m:e>
                          <m:sSub>
                            <m:sSubPr>
                              <m:ctrlPr>
                                <a:rPr lang="en-US" altLang="zh-CN" sz="2000" i="1" dirty="0">
                                  <a:solidFill>
                                    <a:srgbClr val="000000"/>
                                  </a:solidFill>
                                  <a:latin typeface="Cambria Math" panose="02040503050406030204" pitchFamily="18" charset="0"/>
                                </a:rPr>
                              </m:ctrlPr>
                            </m:sSubPr>
                            <m:e>
                              <m:r>
                                <m:rPr>
                                  <m:nor/>
                                </m:rPr>
                                <a:rPr lang="en-US" altLang="zh-CN" sz="2000" dirty="0">
                                  <a:solidFill>
                                    <a:srgbClr val="000000"/>
                                  </a:solidFill>
                                  <a:latin typeface="Times New Roman"/>
                                  <a:ea typeface="宋体" panose="02010600030101010101" pitchFamily="2" charset="-122"/>
                                </a:rPr>
                                <m:t>W</m:t>
                              </m:r>
                            </m:e>
                            <m:sub>
                              <m:r>
                                <m:rPr>
                                  <m:nor/>
                                </m:rPr>
                                <a:rPr lang="en-US" altLang="zh-CN" sz="2000" dirty="0">
                                  <a:solidFill>
                                    <a:srgbClr val="000000"/>
                                  </a:solidFill>
                                  <a:latin typeface="Times New Roman"/>
                                  <a:ea typeface="宋体" panose="02010600030101010101" pitchFamily="2" charset="-122"/>
                                </a:rPr>
                                <m:t>1</m:t>
                              </m:r>
                            </m:sub>
                          </m:sSub>
                        </m:e>
                      </m:d>
                      <m:r>
                        <m:rPr>
                          <m:nor/>
                        </m:rPr>
                        <a:rPr lang="en-US" altLang="zh-CN" sz="2000" dirty="0">
                          <a:solidFill>
                            <a:srgbClr val="000000"/>
                          </a:solidFill>
                          <a:latin typeface="Times New Roman"/>
                          <a:ea typeface="宋体" panose="02010600030101010101" pitchFamily="2" charset="-122"/>
                        </a:rPr>
                        <m:t>+</m:t>
                      </m:r>
                      <m:r>
                        <m:rPr>
                          <m:nor/>
                        </m:rPr>
                        <a:rPr lang="en-US" altLang="zh-CN" sz="2000" dirty="0">
                          <a:solidFill>
                            <a:srgbClr val="000000"/>
                          </a:solidFill>
                          <a:latin typeface="Times New Roman"/>
                          <a:ea typeface="宋体" panose="02010600030101010101" pitchFamily="2" charset="-122"/>
                        </a:rPr>
                        <m:t>C</m:t>
                      </m:r>
                      <m:d>
                        <m:dPr>
                          <m:ctrlPr>
                            <a:rPr lang="en-US" altLang="zh-CN" sz="2000" i="1" dirty="0">
                              <a:solidFill>
                                <a:srgbClr val="000000"/>
                              </a:solidFill>
                              <a:latin typeface="Cambria Math" panose="02040503050406030204" pitchFamily="18" charset="0"/>
                            </a:rPr>
                          </m:ctrlPr>
                        </m:dPr>
                        <m:e>
                          <m:sSub>
                            <m:sSubPr>
                              <m:ctrlPr>
                                <a:rPr lang="en-US" altLang="zh-CN" sz="2000" i="1" dirty="0">
                                  <a:solidFill>
                                    <a:srgbClr val="000000"/>
                                  </a:solidFill>
                                  <a:latin typeface="Cambria Math" panose="02040503050406030204" pitchFamily="18" charset="0"/>
                                </a:rPr>
                              </m:ctrlPr>
                            </m:sSubPr>
                            <m:e>
                              <m:r>
                                <m:rPr>
                                  <m:nor/>
                                </m:rPr>
                                <a:rPr lang="en-US" altLang="zh-CN" sz="2000" dirty="0">
                                  <a:solidFill>
                                    <a:srgbClr val="000000"/>
                                  </a:solidFill>
                                  <a:latin typeface="Times New Roman"/>
                                  <a:ea typeface="宋体" panose="02010600030101010101" pitchFamily="2" charset="-122"/>
                                </a:rPr>
                                <m:t>W</m:t>
                              </m:r>
                            </m:e>
                            <m:sub>
                              <m:r>
                                <m:rPr>
                                  <m:nor/>
                                </m:rPr>
                                <a:rPr lang="en-US" altLang="zh-CN" sz="2000" dirty="0">
                                  <a:solidFill>
                                    <a:srgbClr val="000000"/>
                                  </a:solidFill>
                                  <a:latin typeface="Times New Roman"/>
                                  <a:ea typeface="宋体" panose="02010600030101010101" pitchFamily="2" charset="-122"/>
                                </a:rPr>
                                <m:t>2</m:t>
                              </m:r>
                            </m:sub>
                          </m:sSub>
                        </m:e>
                      </m:d>
                    </m:oMath>
                  </m:oMathPara>
                </a14:m>
                <a:endParaRPr lang="en-US" altLang="zh-CN" sz="2000" i="1" dirty="0">
                  <a:solidFill>
                    <a:srgbClr val="000000"/>
                  </a:solidFill>
                  <a:latin typeface="Times New Roman"/>
                  <a:ea typeface="宋体" panose="02010600030101010101" pitchFamily="2" charset="-122"/>
                </a:endParaRPr>
              </a:p>
              <a:p>
                <a:pPr eaLnBrk="0" fontAlgn="base" hangingPunct="0">
                  <a:lnSpc>
                    <a:spcPct val="150000"/>
                  </a:lnSpc>
                  <a:defRPr/>
                </a:pPr>
                <a14:m>
                  <m:oMathPara xmlns:m="http://schemas.openxmlformats.org/officeDocument/2006/math">
                    <m:oMathParaPr>
                      <m:jc m:val="centerGroup"/>
                    </m:oMathParaPr>
                    <m:oMath xmlns:m="http://schemas.openxmlformats.org/officeDocument/2006/math">
                      <m:r>
                        <m:rPr>
                          <m:nor/>
                        </m:rPr>
                        <a:rPr lang="en-US" altLang="zh-CN" sz="2000" dirty="0">
                          <a:solidFill>
                            <a:srgbClr val="000000"/>
                          </a:solidFill>
                          <a:latin typeface="Times New Roman"/>
                          <a:ea typeface="宋体" panose="02010600030101010101" pitchFamily="2" charset="-122"/>
                        </a:rPr>
                        <m:t>=2</m:t>
                      </m:r>
                      <m:r>
                        <m:rPr>
                          <m:nor/>
                        </m:rPr>
                        <a:rPr lang="en-US" altLang="zh-CN" sz="2000" dirty="0">
                          <a:solidFill>
                            <a:srgbClr val="000000"/>
                          </a:solidFill>
                          <a:latin typeface="Times New Roman"/>
                          <a:ea typeface="宋体" panose="02010600030101010101" pitchFamily="2" charset="-122"/>
                        </a:rPr>
                        <m:t>×</m:t>
                      </m:r>
                      <m:r>
                        <m:rPr>
                          <m:nor/>
                        </m:rPr>
                        <a:rPr lang="en-US" altLang="zh-CN" sz="2000" dirty="0">
                          <a:solidFill>
                            <a:srgbClr val="000000"/>
                          </a:solidFill>
                          <a:latin typeface="Times New Roman"/>
                          <a:ea typeface="宋体" panose="02010600030101010101" pitchFamily="2" charset="-122"/>
                        </a:rPr>
                        <m:t>C</m:t>
                      </m:r>
                      <m:d>
                        <m:dPr>
                          <m:ctrlPr>
                            <a:rPr lang="en-US" altLang="zh-CN" sz="2000" i="1" dirty="0">
                              <a:solidFill>
                                <a:srgbClr val="000000"/>
                              </a:solidFill>
                              <a:latin typeface="Cambria Math" panose="02040503050406030204" pitchFamily="18" charset="0"/>
                            </a:rPr>
                          </m:ctrlPr>
                        </m:dPr>
                        <m:e>
                          <m:sSub>
                            <m:sSubPr>
                              <m:ctrlPr>
                                <a:rPr lang="en-US" altLang="zh-CN" sz="2000" i="1" dirty="0">
                                  <a:solidFill>
                                    <a:srgbClr val="000000"/>
                                  </a:solidFill>
                                  <a:latin typeface="Cambria Math" panose="02040503050406030204" pitchFamily="18" charset="0"/>
                                </a:rPr>
                              </m:ctrlPr>
                            </m:sSubPr>
                            <m:e>
                              <m:r>
                                <m:rPr>
                                  <m:nor/>
                                </m:rPr>
                                <a:rPr lang="en-US" altLang="zh-CN" sz="2000" dirty="0">
                                  <a:solidFill>
                                    <a:srgbClr val="000000"/>
                                  </a:solidFill>
                                  <a:latin typeface="Times New Roman"/>
                                  <a:ea typeface="宋体" panose="02010600030101010101" pitchFamily="2" charset="-122"/>
                                </a:rPr>
                                <m:t>W</m:t>
                              </m:r>
                            </m:e>
                            <m:sub>
                              <m:r>
                                <m:rPr>
                                  <m:nor/>
                                </m:rPr>
                                <a:rPr lang="en-US" altLang="zh-CN" sz="2000" dirty="0">
                                  <a:solidFill>
                                    <a:srgbClr val="000000"/>
                                  </a:solidFill>
                                  <a:latin typeface="Times New Roman"/>
                                  <a:ea typeface="宋体" panose="02010600030101010101" pitchFamily="2" charset="-122"/>
                                </a:rPr>
                                <m:t>1</m:t>
                              </m:r>
                            </m:sub>
                          </m:sSub>
                        </m:e>
                      </m:d>
                      <m:r>
                        <m:rPr>
                          <m:nor/>
                        </m:rPr>
                        <a:rPr lang="en-US" altLang="zh-CN" sz="2000" dirty="0">
                          <a:solidFill>
                            <a:srgbClr val="000000"/>
                          </a:solidFill>
                          <a:latin typeface="Times New Roman"/>
                          <a:ea typeface="宋体" panose="02010600030101010101" pitchFamily="2" charset="-122"/>
                        </a:rPr>
                        <m:t>=2</m:t>
                      </m:r>
                      <m:r>
                        <m:rPr>
                          <m:nor/>
                        </m:rPr>
                        <a:rPr lang="en-US" altLang="zh-CN" sz="2000" dirty="0">
                          <a:solidFill>
                            <a:srgbClr val="000000"/>
                          </a:solidFill>
                          <a:latin typeface="Times New Roman"/>
                          <a:ea typeface="宋体" panose="02010600030101010101" pitchFamily="2" charset="-122"/>
                        </a:rPr>
                        <m:t>×</m:t>
                      </m:r>
                      <m:r>
                        <m:rPr>
                          <m:nor/>
                        </m:rPr>
                        <a:rPr lang="en-US" altLang="zh-CN" sz="2000" dirty="0">
                          <a:solidFill>
                            <a:srgbClr val="000000"/>
                          </a:solidFill>
                          <a:latin typeface="Times New Roman"/>
                          <a:ea typeface="宋体" panose="02010600030101010101" pitchFamily="2" charset="-122"/>
                        </a:rPr>
                        <m:t>C</m:t>
                      </m:r>
                      <m:d>
                        <m:dPr>
                          <m:ctrlPr>
                            <a:rPr lang="en-US" altLang="zh-CN" sz="2000" i="1" dirty="0">
                              <a:solidFill>
                                <a:srgbClr val="000000"/>
                              </a:solidFill>
                              <a:latin typeface="Cambria Math" panose="02040503050406030204" pitchFamily="18" charset="0"/>
                            </a:rPr>
                          </m:ctrlPr>
                        </m:dPr>
                        <m:e>
                          <m:sSub>
                            <m:sSubPr>
                              <m:ctrlPr>
                                <a:rPr lang="en-US" altLang="zh-CN" sz="2000" i="1" dirty="0">
                                  <a:solidFill>
                                    <a:srgbClr val="000000"/>
                                  </a:solidFill>
                                  <a:latin typeface="Cambria Math" panose="02040503050406030204" pitchFamily="18" charset="0"/>
                                </a:rPr>
                              </m:ctrlPr>
                            </m:sSubPr>
                            <m:e>
                              <m:r>
                                <m:rPr>
                                  <m:nor/>
                                </m:rPr>
                                <a:rPr lang="en-US" altLang="zh-CN" sz="2000" dirty="0">
                                  <a:solidFill>
                                    <a:srgbClr val="000000"/>
                                  </a:solidFill>
                                  <a:latin typeface="Times New Roman"/>
                                  <a:ea typeface="宋体" panose="02010600030101010101" pitchFamily="2" charset="-122"/>
                                </a:rPr>
                                <m:t>W</m:t>
                              </m:r>
                            </m:e>
                            <m:sub>
                              <m:r>
                                <m:rPr>
                                  <m:nor/>
                                </m:rPr>
                                <a:rPr lang="en-US" altLang="zh-CN" sz="2000" dirty="0">
                                  <a:solidFill>
                                    <a:srgbClr val="000000"/>
                                  </a:solidFill>
                                  <a:latin typeface="Times New Roman"/>
                                  <a:ea typeface="宋体" panose="02010600030101010101" pitchFamily="2" charset="-122"/>
                                </a:rPr>
                                <m:t>2</m:t>
                              </m:r>
                            </m:sub>
                          </m:sSub>
                        </m:e>
                      </m:d>
                    </m:oMath>
                  </m:oMathPara>
                </a14:m>
                <a:endParaRPr lang="en-US" altLang="zh-CN" sz="2000" dirty="0">
                  <a:solidFill>
                    <a:srgbClr val="000000"/>
                  </a:solidFill>
                  <a:latin typeface="Times New Roman"/>
                  <a:ea typeface="宋体" panose="02010600030101010101" pitchFamily="2" charset="-122"/>
                </a:endParaRPr>
              </a:p>
              <a:p>
                <a:pPr eaLnBrk="0" fontAlgn="base" hangingPunct="0">
                  <a:lnSpc>
                    <a:spcPct val="150000"/>
                  </a:lnSpc>
                  <a:defRPr/>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也就是说，信道合并保持总信道容量守恒。若</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个信道合并，则</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14:m>
                  <m:oMathPara xmlns:m="http://schemas.openxmlformats.org/officeDocument/2006/math">
                    <m:oMathParaPr>
                      <m:jc m:val="centerGroup"/>
                    </m:oMathParaPr>
                    <m:oMath xmlns:m="http://schemas.openxmlformats.org/officeDocument/2006/math">
                      <m:r>
                        <m:rPr>
                          <m:nor/>
                        </m:rPr>
                        <a:rPr lang="en-US" altLang="zh-CN" sz="2000">
                          <a:solidFill>
                            <a:srgbClr val="000000"/>
                          </a:solidFill>
                          <a:latin typeface="Times New Roman"/>
                          <a:ea typeface="宋体" panose="02010600030101010101" pitchFamily="2" charset="-122"/>
                        </a:rPr>
                        <m:t>C</m:t>
                      </m:r>
                      <m:d>
                        <m:dPr>
                          <m:ctrlPr>
                            <a:rPr lang="en-US" altLang="zh-CN" sz="2000" i="1">
                              <a:solidFill>
                                <a:srgbClr val="000000"/>
                              </a:solidFill>
                              <a:latin typeface="Cambria Math" panose="02040503050406030204" pitchFamily="18" charset="0"/>
                            </a:rPr>
                          </m:ctrlPr>
                        </m:dPr>
                        <m:e>
                          <m:r>
                            <m:rPr>
                              <m:nor/>
                            </m:rPr>
                            <a:rPr lang="en-US" altLang="zh-CN" sz="2000">
                              <a:solidFill>
                                <a:srgbClr val="000000"/>
                              </a:solidFill>
                              <a:latin typeface="Times New Roman"/>
                              <a:ea typeface="宋体" panose="02010600030101010101" pitchFamily="2" charset="-122"/>
                            </a:rPr>
                            <m:t>W</m:t>
                          </m:r>
                        </m:e>
                      </m:d>
                      <m:r>
                        <m:rPr>
                          <m:nor/>
                        </m:rPr>
                        <a:rPr lang="en-US" altLang="zh-CN" sz="2000">
                          <a:solidFill>
                            <a:srgbClr val="000000"/>
                          </a:solidFill>
                          <a:latin typeface="Times New Roman"/>
                          <a:ea typeface="宋体" panose="02010600030101010101" pitchFamily="2" charset="-122"/>
                        </a:rPr>
                        <m:t>=</m:t>
                      </m:r>
                      <m:r>
                        <m:rPr>
                          <m:nor/>
                        </m:rPr>
                        <a:rPr lang="en-US" altLang="zh-CN" sz="2000">
                          <a:solidFill>
                            <a:srgbClr val="000000"/>
                          </a:solidFill>
                          <a:latin typeface="Times New Roman"/>
                          <a:ea typeface="宋体" panose="02010600030101010101" pitchFamily="2" charset="-122"/>
                        </a:rPr>
                        <m:t>N</m:t>
                      </m:r>
                      <m:r>
                        <m:rPr>
                          <m:nor/>
                        </m:rPr>
                        <a:rPr lang="en-US" altLang="zh-CN" sz="2000">
                          <a:solidFill>
                            <a:srgbClr val="000000"/>
                          </a:solidFill>
                          <a:latin typeface="Times New Roman"/>
                          <a:ea typeface="宋体" panose="02010600030101010101" pitchFamily="2" charset="-122"/>
                        </a:rPr>
                        <m:t>⋅</m:t>
                      </m:r>
                      <m:r>
                        <m:rPr>
                          <m:nor/>
                        </m:rPr>
                        <a:rPr lang="en-US" altLang="zh-CN" sz="2000">
                          <a:solidFill>
                            <a:srgbClr val="000000"/>
                          </a:solidFill>
                          <a:latin typeface="Times New Roman"/>
                          <a:ea typeface="宋体" panose="02010600030101010101" pitchFamily="2" charset="-122"/>
                        </a:rPr>
                        <m:t>C</m:t>
                      </m:r>
                      <m:d>
                        <m:dPr>
                          <m:ctrlPr>
                            <a:rPr lang="en-US" altLang="zh-CN" sz="2000" i="1">
                              <a:solidFill>
                                <a:srgbClr val="000000"/>
                              </a:solidFill>
                              <a:latin typeface="Cambria Math" panose="02040503050406030204" pitchFamily="18" charset="0"/>
                            </a:rPr>
                          </m:ctrlPr>
                        </m:dPr>
                        <m:e>
                          <m:sSub>
                            <m:sSubPr>
                              <m:ctrlPr>
                                <a:rPr lang="en-US" altLang="zh-CN" sz="2000" i="1">
                                  <a:solidFill>
                                    <a:srgbClr val="000000"/>
                                  </a:solidFill>
                                  <a:latin typeface="Cambria Math" panose="02040503050406030204" pitchFamily="18" charset="0"/>
                                </a:rPr>
                              </m:ctrlPr>
                            </m:sSubPr>
                            <m:e>
                              <m:r>
                                <m:rPr>
                                  <m:nor/>
                                </m:rPr>
                                <a:rPr lang="en-US" altLang="zh-CN" sz="2000">
                                  <a:solidFill>
                                    <a:srgbClr val="000000"/>
                                  </a:solidFill>
                                  <a:latin typeface="Times New Roman"/>
                                  <a:ea typeface="宋体" panose="02010600030101010101" pitchFamily="2" charset="-122"/>
                                </a:rPr>
                                <m:t>W</m:t>
                              </m:r>
                            </m:e>
                            <m:sub>
                              <m:r>
                                <m:rPr>
                                  <m:nor/>
                                </m:rPr>
                                <a:rPr lang="en-US" altLang="zh-CN" sz="2000">
                                  <a:solidFill>
                                    <a:srgbClr val="000000"/>
                                  </a:solidFill>
                                  <a:latin typeface="Times New Roman"/>
                                  <a:ea typeface="宋体" panose="02010600030101010101" pitchFamily="2" charset="-122"/>
                                </a:rPr>
                                <m:t>1</m:t>
                              </m:r>
                            </m:sub>
                          </m:sSub>
                        </m:e>
                      </m:d>
                    </m:oMath>
                  </m:oMathPara>
                </a14:m>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r>
                  <a:rPr lang="zh-CN" altLang="en-US" sz="2000" dirty="0">
                    <a:solidFill>
                      <a:srgbClr val="000000"/>
                    </a:solidFill>
                    <a:latin typeface="Times New Roman"/>
                    <a:ea typeface="黑体" panose="02010609060101010101" pitchFamily="49" charset="-122"/>
                  </a:rPr>
                  <a:t>       即，合成信道的总容量是各个子信道容量之和，容量守恒。</a:t>
                </a:r>
                <a:endParaRPr lang="en-US" altLang="zh-CN" sz="2000" dirty="0">
                  <a:solidFill>
                    <a:srgbClr val="000000"/>
                  </a:solidFill>
                  <a:latin typeface="Times New Roman"/>
                  <a:ea typeface="黑体" panose="02010609060101010101" pitchFamily="49"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790813" y="762001"/>
                <a:ext cx="8610374" cy="5844549"/>
              </a:xfrm>
              <a:prstGeom prst="rect">
                <a:avLst/>
              </a:prstGeom>
              <a:blipFill>
                <a:blip r:embed="rId2"/>
                <a:stretch>
                  <a:fillRect l="-1133" b="-1356"/>
                </a:stretch>
              </a:blipFill>
            </p:spPr>
            <p:txBody>
              <a:bodyPr/>
              <a:lstStyle/>
              <a:p>
                <a:r>
                  <a:rPr lang="zh-CN" altLang="en-US">
                    <a:noFill/>
                  </a:rPr>
                  <a:t> </a:t>
                </a:r>
              </a:p>
            </p:txBody>
          </p:sp>
        </mc:Fallback>
      </mc:AlternateContent>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81748" y="106732"/>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p:sp>
        <p:nvSpPr>
          <p:cNvPr id="10" name="文本框 9"/>
          <p:cNvSpPr txBox="1"/>
          <p:nvPr/>
        </p:nvSpPr>
        <p:spPr>
          <a:xfrm>
            <a:off x="7377858" y="2282775"/>
            <a:ext cx="2209742" cy="369332"/>
          </a:xfrm>
          <a:prstGeom prst="rect">
            <a:avLst/>
          </a:prstGeom>
          <a:noFill/>
        </p:spPr>
        <p:txBody>
          <a:bodyPr wrap="square" rtlCol="0" anchor="t">
            <a:spAutoFit/>
          </a:bodyPr>
          <a:lstStyle/>
          <a:p>
            <a:pPr eaLnBrk="0" fontAlgn="base" hangingPunct="0">
              <a:spcBef>
                <a:spcPct val="0"/>
              </a:spcBef>
              <a:spcAft>
                <a:spcPct val="0"/>
              </a:spcAft>
            </a:pPr>
            <a:r>
              <a:rPr lang="zh-CN" altLang="en-US" b="1" dirty="0">
                <a:solidFill>
                  <a:srgbClr val="3333CC"/>
                </a:solidFill>
                <a:latin typeface="黑体" panose="02010609060101010101" pitchFamily="49" charset="-122"/>
                <a:ea typeface="黑体" panose="02010609060101010101" pitchFamily="49" charset="-122"/>
                <a:sym typeface="+mn-ea"/>
              </a:rPr>
              <a:t>双信道合并示意</a:t>
            </a:r>
          </a:p>
        </p:txBody>
      </p:sp>
      <p:pic>
        <p:nvPicPr>
          <p:cNvPr id="14" name="图片 13"/>
          <p:cNvPicPr>
            <a:picLocks noChangeAspect="1"/>
          </p:cNvPicPr>
          <p:nvPr/>
        </p:nvPicPr>
        <p:blipFill>
          <a:blip r:embed="rId2"/>
          <a:stretch>
            <a:fillRect/>
          </a:stretch>
        </p:blipFill>
        <p:spPr>
          <a:xfrm>
            <a:off x="2024924" y="3886188"/>
            <a:ext cx="4777869" cy="2730210"/>
          </a:xfrm>
          <a:prstGeom prst="rect">
            <a:avLst/>
          </a:prstGeom>
        </p:spPr>
      </p:pic>
      <p:pic>
        <p:nvPicPr>
          <p:cNvPr id="16" name="图片 15"/>
          <p:cNvPicPr>
            <a:picLocks noChangeAspect="1"/>
          </p:cNvPicPr>
          <p:nvPr/>
        </p:nvPicPr>
        <p:blipFill>
          <a:blip r:embed="rId3"/>
          <a:stretch>
            <a:fillRect/>
          </a:stretch>
        </p:blipFill>
        <p:spPr>
          <a:xfrm>
            <a:off x="1893538" y="990260"/>
            <a:ext cx="5040640" cy="2680252"/>
          </a:xfrm>
          <a:prstGeom prst="rect">
            <a:avLst/>
          </a:prstGeom>
        </p:spPr>
      </p:pic>
      <p:sp>
        <p:nvSpPr>
          <p:cNvPr id="5" name="文本框 4"/>
          <p:cNvSpPr txBox="1"/>
          <p:nvPr/>
        </p:nvSpPr>
        <p:spPr>
          <a:xfrm>
            <a:off x="7225519" y="4904623"/>
            <a:ext cx="2514420"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3333CC"/>
                </a:solidFill>
                <a:latin typeface="黑体" panose="02010609060101010101" pitchFamily="49" charset="-122"/>
                <a:ea typeface="黑体" panose="02010609060101010101" pitchFamily="49" charset="-122"/>
                <a:sym typeface="+mn-ea"/>
              </a:rPr>
              <a:t>4</a:t>
            </a:r>
            <a:r>
              <a:rPr lang="zh-CN" altLang="en-US" b="1" dirty="0">
                <a:solidFill>
                  <a:srgbClr val="3333CC"/>
                </a:solidFill>
                <a:latin typeface="黑体" panose="02010609060101010101" pitchFamily="49" charset="-122"/>
                <a:ea typeface="黑体" panose="02010609060101010101" pitchFamily="49" charset="-122"/>
                <a:sym typeface="+mn-ea"/>
              </a:rPr>
              <a:t>个</a:t>
            </a:r>
            <a:r>
              <a:rPr lang="en-US" altLang="zh-CN" b="1" dirty="0">
                <a:solidFill>
                  <a:srgbClr val="3333CC"/>
                </a:solidFill>
                <a:latin typeface="黑体" panose="02010609060101010101" pitchFamily="49" charset="-122"/>
                <a:ea typeface="黑体" panose="02010609060101010101" pitchFamily="49" charset="-122"/>
                <a:sym typeface="+mn-ea"/>
              </a:rPr>
              <a:t>BEC</a:t>
            </a:r>
            <a:r>
              <a:rPr lang="zh-CN" altLang="en-US" b="1" dirty="0">
                <a:solidFill>
                  <a:srgbClr val="3333CC"/>
                </a:solidFill>
                <a:latin typeface="黑体" panose="02010609060101010101" pitchFamily="49" charset="-122"/>
                <a:ea typeface="黑体" panose="02010609060101010101" pitchFamily="49" charset="-122"/>
                <a:sym typeface="+mn-ea"/>
              </a:rPr>
              <a:t>信道合并示意</a:t>
            </a:r>
          </a:p>
        </p:txBody>
      </p:sp>
      <p:cxnSp>
        <p:nvCxnSpPr>
          <p:cNvPr id="13" name="直接连接符 12"/>
          <p:cNvCxnSpPr/>
          <p:nvPr/>
        </p:nvCxnSpPr>
        <p:spPr bwMode="auto">
          <a:xfrm flipV="1">
            <a:off x="1681570" y="3771891"/>
            <a:ext cx="8838968" cy="12918"/>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2"/>
          <a:stretch>
            <a:fillRect/>
          </a:stretch>
        </p:blipFill>
        <p:spPr>
          <a:xfrm>
            <a:off x="2438497" y="885972"/>
            <a:ext cx="7599797" cy="5195527"/>
          </a:xfrm>
          <a:prstGeom prst="rect">
            <a:avLst/>
          </a:prstGeom>
        </p:spPr>
      </p:pic>
      <p:sp>
        <p:nvSpPr>
          <p:cNvPr id="4" name="标题 1"/>
          <p:cNvSpPr>
            <a:spLocks noGrp="1"/>
          </p:cNvSpPr>
          <p:nvPr>
            <p:ph type="title"/>
          </p:nvPr>
        </p:nvSpPr>
        <p:spPr>
          <a:xfrm>
            <a:off x="7581748" y="106732"/>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p:sp>
        <p:nvSpPr>
          <p:cNvPr id="12" name="文本框 11"/>
          <p:cNvSpPr txBox="1"/>
          <p:nvPr/>
        </p:nvSpPr>
        <p:spPr>
          <a:xfrm>
            <a:off x="5066317" y="6095930"/>
            <a:ext cx="2059367" cy="369332"/>
          </a:xfrm>
          <a:prstGeom prst="rect">
            <a:avLst/>
          </a:prstGeom>
          <a:noFill/>
        </p:spPr>
        <p:txBody>
          <a:bodyPr wrap="square" rtlCol="0" anchor="t">
            <a:spAutoFit/>
          </a:bodyPr>
          <a:lstStyle/>
          <a:p>
            <a:pPr eaLnBrk="0" fontAlgn="base" hangingPunct="0">
              <a:spcBef>
                <a:spcPct val="0"/>
              </a:spcBef>
              <a:spcAft>
                <a:spcPct val="0"/>
              </a:spcAft>
            </a:pPr>
            <a:r>
              <a:rPr lang="zh-CN" altLang="en-US" b="1" dirty="0">
                <a:solidFill>
                  <a:srgbClr val="3333CC"/>
                </a:solidFill>
                <a:latin typeface="黑体" panose="02010609060101010101" pitchFamily="49" charset="-122"/>
                <a:ea typeface="黑体" panose="02010609060101010101" pitchFamily="49" charset="-122"/>
                <a:sym typeface="+mn-ea"/>
              </a:rPr>
              <a:t>多信道合并示意</a:t>
            </a: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78554" y="152468"/>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xmlns:a14="http://schemas.microsoft.com/office/drawing/2010/main">
        <mc:Choice Requires="a14">
          <p:sp>
            <p:nvSpPr>
              <p:cNvPr id="7" name="文本框 6"/>
              <p:cNvSpPr txBox="1"/>
              <p:nvPr/>
            </p:nvSpPr>
            <p:spPr>
              <a:xfrm>
                <a:off x="1828912" y="1371654"/>
                <a:ext cx="8762770" cy="3854838"/>
              </a:xfrm>
              <a:prstGeom prst="rect">
                <a:avLst/>
              </a:prstGeom>
              <a:noFill/>
            </p:spPr>
            <p:txBody>
              <a:bodyPr wrap="square">
                <a:spAutoFit/>
              </a:bodyPr>
              <a:lstStyle/>
              <a:p>
                <a:pPr eaLnBrk="0" fontAlgn="base" hangingPunct="0">
                  <a:lnSpc>
                    <a:spcPct val="150000"/>
                  </a:lnSpc>
                  <a:defRPr/>
                </a:pPr>
                <a:r>
                  <a:rPr kumimoji="1" lang="zh-CN" altLang="en-US" sz="2400" dirty="0">
                    <a:solidFill>
                      <a:srgbClr val="FF0000"/>
                    </a:solidFill>
                    <a:latin typeface="黑体" panose="02010609060101010101" pitchFamily="49" charset="-122"/>
                    <a:ea typeface="黑体" panose="02010609060101010101" pitchFamily="49" charset="-122"/>
                  </a:rPr>
                  <a:t>信道分离（解码时）：</a:t>
                </a:r>
                <a:endParaRPr kumimoji="1" lang="en-US" altLang="zh-CN" sz="2400" dirty="0">
                  <a:solidFill>
                    <a:srgbClr val="FF0000"/>
                  </a:solidFill>
                  <a:latin typeface="黑体" panose="02010609060101010101" pitchFamily="49" charset="-122"/>
                  <a:ea typeface="黑体" panose="02010609060101010101" pitchFamily="49" charset="-122"/>
                </a:endParaRPr>
              </a:p>
              <a:p>
                <a:pPr eaLnBrk="0" fontAlgn="base" hangingPunct="0">
                  <a:lnSpc>
                    <a:spcPct val="200000"/>
                  </a:lnSpc>
                  <a:defRPr/>
                </a:pPr>
                <a:r>
                  <a:rPr lang="zh-CN" altLang="en-US" sz="2000" dirty="0">
                    <a:solidFill>
                      <a:srgbClr val="000000"/>
                    </a:solidFill>
                    <a:latin typeface="Times New Roman"/>
                    <a:ea typeface="黑体" panose="02010609060101010101" pitchFamily="49" charset="-122"/>
                  </a:rPr>
                  <a:t>         信道分离是将混有多个输入比特信息的接收信息</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rPr>
                        </m:ctrlPr>
                      </m:sSubSupPr>
                      <m:e>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1</m:t>
                        </m:r>
                      </m:sub>
                      <m:sup>
                        <m:r>
                          <a:rPr lang="zh-CN" altLang="en-US" sz="2000">
                            <a:solidFill>
                              <a:srgbClr val="000000"/>
                            </a:solidFill>
                            <a:latin typeface="Cambria Math" panose="02040503050406030204" pitchFamily="18" charset="0"/>
                            <a:ea typeface="黑体" panose="02010609060101010101" pitchFamily="49" charset="-122"/>
                          </a:rPr>
                          <m:t>𝑁</m:t>
                        </m:r>
                      </m:sup>
                    </m:sSubSup>
                    <m:r>
                      <a:rPr lang="zh-CN" altLang="en-US" sz="2000">
                        <a:solidFill>
                          <a:srgbClr val="000000"/>
                        </a:solidFill>
                        <a:latin typeface="Cambria Math" panose="02040503050406030204" pitchFamily="18" charset="0"/>
                        <a:ea typeface="黑体" panose="02010609060101010101" pitchFamily="49" charset="-122"/>
                      </a:rPr>
                      <m:t>=</m:t>
                    </m:r>
                    <m:d>
                      <m:dPr>
                        <m:ctrlPr>
                          <a:rPr lang="zh-CN" altLang="en-US" sz="2000" i="1">
                            <a:solidFill>
                              <a:srgbClr val="000000"/>
                            </a:solidFill>
                            <a:latin typeface="Cambria Math" panose="02040503050406030204" pitchFamily="18" charset="0"/>
                            <a:ea typeface="黑体" panose="02010609060101010101" pitchFamily="49" charset="-122"/>
                          </a:rPr>
                        </m:ctrlPr>
                      </m:dPr>
                      <m:e>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1</m:t>
                            </m:r>
                          </m:sub>
                        </m:sSub>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2</m:t>
                            </m:r>
                          </m:sub>
                        </m:sSub>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3</m:t>
                            </m:r>
                          </m:sub>
                        </m:sSub>
                        <m:r>
                          <a:rPr lang="en-US" altLang="zh-CN" sz="2000">
                            <a:solidFill>
                              <a:srgbClr val="000000"/>
                            </a:solidFill>
                            <a:latin typeface="Cambria Math" panose="02040503050406030204" pitchFamily="18" charset="0"/>
                            <a:ea typeface="黑体" panose="02010609060101010101" pitchFamily="49" charset="-122"/>
                          </a:rPr>
                          <m:t>,</m:t>
                        </m:r>
                        <m:r>
                          <a:rPr lang="zh-CN" altLang="en-US" sz="2000">
                            <a:solidFill>
                              <a:srgbClr val="000000"/>
                            </a:solidFill>
                            <a:latin typeface="Cambria Math" panose="02040503050406030204" pitchFamily="18" charset="0"/>
                            <a:ea typeface="黑体" panose="02010609060101010101" pitchFamily="49" charset="-122"/>
                          </a:rPr>
                          <m:t>⋯</m:t>
                        </m:r>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𝑁</m:t>
                            </m:r>
                          </m:sub>
                        </m:sSub>
                      </m:e>
                    </m:d>
                    <m:r>
                      <a:rPr lang="zh-CN" altLang="en-US" sz="2000">
                        <a:solidFill>
                          <a:srgbClr val="000000"/>
                        </a:solidFill>
                        <a:latin typeface="Cambria Math" panose="02040503050406030204" pitchFamily="18" charset="0"/>
                        <a:ea typeface="黑体" panose="02010609060101010101" pitchFamily="49" charset="-122"/>
                      </a:rPr>
                      <m:t>分解</m:t>
                    </m:r>
                  </m:oMath>
                </a14:m>
                <a:r>
                  <a:rPr lang="zh-CN" altLang="en-US" sz="2000" dirty="0">
                    <a:solidFill>
                      <a:srgbClr val="000000"/>
                    </a:solidFill>
                    <a:latin typeface="Times New Roman"/>
                    <a:ea typeface="黑体" panose="02010609060101010101" pitchFamily="49" charset="-122"/>
                  </a:rPr>
                  <a:t>成独立的多个输入比特信息</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rPr>
                        </m:ctrlPr>
                      </m:sSubSupPr>
                      <m:e>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1</m:t>
                        </m:r>
                      </m:sub>
                      <m:sup>
                        <m:r>
                          <a:rPr lang="zh-CN" altLang="en-US" sz="2000">
                            <a:solidFill>
                              <a:srgbClr val="000000"/>
                            </a:solidFill>
                            <a:latin typeface="Cambria Math" panose="02040503050406030204" pitchFamily="18" charset="0"/>
                            <a:ea typeface="黑体" panose="02010609060101010101" pitchFamily="49" charset="-122"/>
                          </a:rPr>
                          <m:t>𝑁</m:t>
                        </m:r>
                      </m:sup>
                    </m:sSubSup>
                    <m:r>
                      <a:rPr lang="zh-CN" altLang="en-US" sz="2000">
                        <a:solidFill>
                          <a:srgbClr val="000000"/>
                        </a:solidFill>
                        <a:latin typeface="Cambria Math" panose="02040503050406030204" pitchFamily="18" charset="0"/>
                        <a:ea typeface="黑体" panose="02010609060101010101" pitchFamily="49" charset="-122"/>
                      </a:rPr>
                      <m:t>=</m:t>
                    </m:r>
                    <m:d>
                      <m:dPr>
                        <m:ctrlPr>
                          <a:rPr lang="zh-CN" altLang="en-US" sz="2000" i="1">
                            <a:solidFill>
                              <a:srgbClr val="000000"/>
                            </a:solidFill>
                            <a:latin typeface="Cambria Math" panose="02040503050406030204" pitchFamily="18" charset="0"/>
                            <a:ea typeface="黑体" panose="02010609060101010101" pitchFamily="49" charset="-122"/>
                          </a:rPr>
                        </m:ctrlPr>
                      </m:dPr>
                      <m:e>
                        <m:sSub>
                          <m:sSubPr>
                            <m:ctrlPr>
                              <a:rPr lang="zh-CN" altLang="en-US" sz="2000" i="1">
                                <a:solidFill>
                                  <a:srgbClr val="000000"/>
                                </a:solidFill>
                                <a:latin typeface="Cambria Math" panose="02040503050406030204" pitchFamily="18" charset="0"/>
                                <a:ea typeface="黑体" panose="02010609060101010101" pitchFamily="49" charset="-122"/>
                              </a:rPr>
                            </m:ctrlPr>
                          </m:sSubPr>
                          <m:e>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1</m:t>
                            </m:r>
                          </m:sub>
                        </m:sSub>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2</m:t>
                            </m:r>
                          </m:sub>
                        </m:sSub>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3</m:t>
                            </m:r>
                          </m:sub>
                        </m:sSub>
                        <m:r>
                          <a:rPr lang="en-US" altLang="zh-CN" sz="2000">
                            <a:solidFill>
                              <a:srgbClr val="000000"/>
                            </a:solidFill>
                            <a:latin typeface="Cambria Math" panose="02040503050406030204" pitchFamily="18" charset="0"/>
                            <a:ea typeface="黑体" panose="02010609060101010101" pitchFamily="49" charset="-122"/>
                          </a:rPr>
                          <m:t>,</m:t>
                        </m:r>
                        <m:r>
                          <a:rPr lang="zh-CN" altLang="en-US" sz="2000">
                            <a:solidFill>
                              <a:srgbClr val="000000"/>
                            </a:solidFill>
                            <a:latin typeface="Cambria Math" panose="02040503050406030204" pitchFamily="18" charset="0"/>
                            <a:ea typeface="黑体" panose="02010609060101010101" pitchFamily="49" charset="-122"/>
                          </a:rPr>
                          <m:t>⋯</m:t>
                        </m:r>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𝑁</m:t>
                            </m:r>
                          </m:sub>
                        </m:sSub>
                      </m:e>
                    </m:d>
                  </m:oMath>
                </a14:m>
                <a:r>
                  <a:rPr lang="zh-CN" altLang="en-US" sz="2000" dirty="0">
                    <a:solidFill>
                      <a:srgbClr val="000000"/>
                    </a:solidFill>
                    <a:latin typeface="Times New Roman"/>
                    <a:ea typeface="黑体" panose="02010609060101010101" pitchFamily="49" charset="-122"/>
                  </a:rPr>
                  <a:t>。考虑针对</a:t>
                </a:r>
                <a:r>
                  <a:rPr lang="en-US" altLang="zh-CN" sz="2000" dirty="0">
                    <a:solidFill>
                      <a:srgbClr val="000000"/>
                    </a:solidFill>
                    <a:latin typeface="Times New Roman"/>
                    <a:ea typeface="黑体" panose="02010609060101010101" pitchFamily="49" charset="-122"/>
                  </a:rPr>
                  <a:t>G2 Polar</a:t>
                </a:r>
                <a:r>
                  <a:rPr lang="zh-CN" altLang="en-US" sz="2000" dirty="0">
                    <a:solidFill>
                      <a:srgbClr val="000000"/>
                    </a:solidFill>
                    <a:latin typeface="Times New Roman"/>
                    <a:ea typeface="黑体" panose="02010609060101010101" pitchFamily="49" charset="-122"/>
                  </a:rPr>
                  <a:t>码编码而成的信道解码过程。首先解码器从</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rPr>
                        </m:ctrlPr>
                      </m:sSubSupPr>
                      <m:e>
                        <m:r>
                          <a:rPr lang="zh-CN" altLang="en-US" sz="2000">
                            <a:solidFill>
                              <a:srgbClr val="000000"/>
                            </a:solidFill>
                            <a:latin typeface="Cambria Math" panose="02040503050406030204" pitchFamily="18" charset="0"/>
                            <a:ea typeface="黑体" panose="02010609060101010101" pitchFamily="49" charset="-122"/>
                          </a:rPr>
                          <m:t>𝑦</m:t>
                        </m:r>
                      </m:e>
                      <m:sub/>
                      <m:sup>
                        <m:r>
                          <a:rPr lang="zh-CN" altLang="en-US" sz="2000">
                            <a:solidFill>
                              <a:srgbClr val="000000"/>
                            </a:solidFill>
                            <a:latin typeface="Cambria Math" panose="02040503050406030204" pitchFamily="18" charset="0"/>
                            <a:ea typeface="黑体" panose="02010609060101010101" pitchFamily="49" charset="-122"/>
                          </a:rPr>
                          <m:t>𝑁</m:t>
                        </m:r>
                      </m:sup>
                    </m:sSubSup>
                  </m:oMath>
                </a14:m>
                <a:r>
                  <a:rPr lang="en-US" altLang="zh-CN" sz="2000" dirty="0">
                    <a:solidFill>
                      <a:srgbClr val="000000"/>
                    </a:solidFill>
                    <a:latin typeface="Times New Roman"/>
                    <a:ea typeface="黑体" panose="02010609060101010101" pitchFamily="49" charset="-122"/>
                  </a:rPr>
                  <a:t>=</a:t>
                </a:r>
                <a:r>
                  <a:rPr lang="zh-CN" altLang="en-US" sz="2000" dirty="0">
                    <a:solidFill>
                      <a:srgbClr val="000000"/>
                    </a:solidFill>
                    <a:latin typeface="Times New Roman"/>
                    <a:ea typeface="黑体" panose="02010609060101010101" pitchFamily="49" charset="-122"/>
                  </a:rPr>
                  <a:t> </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rPr>
                        </m:ctrlPr>
                      </m:sSubSupPr>
                      <m:e>
                        <m:r>
                          <a:rPr lang="zh-CN" altLang="en-US" sz="2000">
                            <a:solidFill>
                              <a:srgbClr val="000000"/>
                            </a:solidFill>
                            <a:latin typeface="Cambria Math" panose="02040503050406030204" pitchFamily="18" charset="0"/>
                            <a:ea typeface="黑体" panose="02010609060101010101" pitchFamily="49" charset="-122"/>
                          </a:rPr>
                          <m:t>𝑦</m:t>
                        </m:r>
                      </m:e>
                      <m:sub/>
                      <m:sup>
                        <m:r>
                          <a:rPr lang="en-US" altLang="zh-CN" sz="2000" i="1">
                            <a:solidFill>
                              <a:srgbClr val="000000"/>
                            </a:solidFill>
                            <a:latin typeface="Cambria Math" panose="02040503050406030204" pitchFamily="18" charset="0"/>
                            <a:ea typeface="黑体" panose="02010609060101010101" pitchFamily="49" charset="-122"/>
                          </a:rPr>
                          <m:t>2</m:t>
                        </m:r>
                      </m:sup>
                    </m:sSubSup>
                  </m:oMath>
                </a14:m>
                <a:r>
                  <a:rPr lang="en-US" altLang="zh-CN" sz="2000" dirty="0">
                    <a:solidFill>
                      <a:srgbClr val="000000"/>
                    </a:solidFill>
                    <a:latin typeface="Times New Roman"/>
                    <a:ea typeface="黑体" panose="02010609060101010101" pitchFamily="49" charset="-122"/>
                  </a:rPr>
                  <a:t>=</a:t>
                </a:r>
                <a:r>
                  <a:rPr lang="zh-CN" altLang="en-US" sz="2000" dirty="0">
                    <a:solidFill>
                      <a:srgbClr val="000000"/>
                    </a:solidFill>
                    <a:latin typeface="Times New Roman"/>
                    <a:ea typeface="黑体" panose="02010609060101010101" pitchFamily="49" charset="-122"/>
                  </a:rPr>
                  <a:t> </a:t>
                </a:r>
                <a14:m>
                  <m:oMath xmlns:m="http://schemas.openxmlformats.org/officeDocument/2006/math">
                    <m:d>
                      <m:dPr>
                        <m:ctrlPr>
                          <a:rPr lang="zh-CN" altLang="en-US" sz="2000" i="1">
                            <a:solidFill>
                              <a:srgbClr val="000000"/>
                            </a:solidFill>
                            <a:latin typeface="Cambria Math" panose="02040503050406030204" pitchFamily="18" charset="0"/>
                            <a:ea typeface="黑体" panose="02010609060101010101" pitchFamily="49" charset="-122"/>
                          </a:rPr>
                        </m:ctrlPr>
                      </m:dPr>
                      <m:e>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1</m:t>
                            </m:r>
                          </m:sub>
                        </m:sSub>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2</m:t>
                            </m:r>
                          </m:sub>
                        </m:sSub>
                      </m:e>
                    </m:d>
                  </m:oMath>
                </a14:m>
                <a:r>
                  <a:rPr lang="zh-CN" altLang="en-US" sz="2000" dirty="0">
                    <a:solidFill>
                      <a:srgbClr val="000000"/>
                    </a:solidFill>
                    <a:latin typeface="Times New Roman"/>
                    <a:ea typeface="黑体" panose="02010609060101010101" pitchFamily="49" charset="-122"/>
                  </a:rPr>
                  <a:t>分解出第一个子信道</a:t>
                </a:r>
                <a14:m>
                  <m:oMath xmlns:m="http://schemas.openxmlformats.org/officeDocument/2006/math">
                    <m:sSub>
                      <m:sSubPr>
                        <m:ctrlPr>
                          <a:rPr lang="zh-CN" altLang="en-US" sz="2000" i="1">
                            <a:solidFill>
                              <a:srgbClr val="000000"/>
                            </a:solidFill>
                            <a:latin typeface="Cambria Math" panose="02040503050406030204" pitchFamily="18" charset="0"/>
                            <a:ea typeface="黑体" panose="02010609060101010101" pitchFamily="49" charset="-122"/>
                          </a:rPr>
                        </m:ctrlPr>
                      </m:sSubPr>
                      <m:e>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1</m:t>
                        </m:r>
                      </m:sub>
                    </m:sSub>
                  </m:oMath>
                </a14:m>
                <a:r>
                  <a:rPr lang="zh-CN" altLang="en-US" sz="2000" dirty="0">
                    <a:solidFill>
                      <a:srgbClr val="000000"/>
                    </a:solidFill>
                    <a:latin typeface="Times New Roman"/>
                    <a:ea typeface="黑体" panose="02010609060101010101" pitchFamily="49" charset="-122"/>
                  </a:rPr>
                  <a:t>。之后再从</a:t>
                </a:r>
                <a14:m>
                  <m:oMath xmlns:m="http://schemas.openxmlformats.org/officeDocument/2006/math">
                    <m:d>
                      <m:dPr>
                        <m:ctrlPr>
                          <a:rPr lang="zh-CN" altLang="en-US" sz="2000" i="1">
                            <a:solidFill>
                              <a:srgbClr val="000000"/>
                            </a:solidFill>
                            <a:latin typeface="Cambria Math" panose="02040503050406030204" pitchFamily="18" charset="0"/>
                            <a:ea typeface="黑体" panose="02010609060101010101" pitchFamily="49" charset="-122"/>
                          </a:rPr>
                        </m:ctrlPr>
                      </m:dPr>
                      <m:e>
                        <m:sSub>
                          <m:sSubPr>
                            <m:ctrlPr>
                              <a:rPr lang="zh-CN" altLang="en-US" sz="2000" i="1">
                                <a:solidFill>
                                  <a:srgbClr val="000000"/>
                                </a:solidFill>
                                <a:latin typeface="Cambria Math" panose="02040503050406030204" pitchFamily="18" charset="0"/>
                                <a:ea typeface="黑体" panose="02010609060101010101" pitchFamily="49" charset="-122"/>
                              </a:rPr>
                            </m:ctrlPr>
                          </m:sSubPr>
                          <m:e>
                            <m:sSub>
                              <m:sSubPr>
                                <m:ctrlPr>
                                  <a:rPr lang="zh-CN" altLang="en-US" sz="2000" i="1">
                                    <a:solidFill>
                                      <a:srgbClr val="000000"/>
                                    </a:solidFill>
                                    <a:latin typeface="Cambria Math" panose="02040503050406030204" pitchFamily="18" charset="0"/>
                                    <a:ea typeface="黑体" panose="02010609060101010101" pitchFamily="49" charset="-122"/>
                                  </a:rPr>
                                </m:ctrlPr>
                              </m:sSubPr>
                              <m:e>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1</m:t>
                                </m:r>
                              </m:sub>
                            </m:sSub>
                            <m:r>
                              <a:rPr lang="en-US" altLang="zh-CN" sz="2000" i="1">
                                <a:solidFill>
                                  <a:srgbClr val="000000"/>
                                </a:solidFill>
                                <a:latin typeface="Cambria Math" panose="02040503050406030204" pitchFamily="18" charset="0"/>
                                <a:ea typeface="黑体" panose="02010609060101010101" pitchFamily="49" charset="-122"/>
                              </a:rPr>
                              <m:t>,</m:t>
                            </m:r>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1</m:t>
                            </m:r>
                          </m:sub>
                        </m:sSub>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2</m:t>
                            </m:r>
                          </m:sub>
                        </m:sSub>
                      </m:e>
                    </m:d>
                  </m:oMath>
                </a14:m>
                <a:r>
                  <a:rPr lang="zh-CN" altLang="en-US" sz="2000" dirty="0">
                    <a:solidFill>
                      <a:srgbClr val="000000"/>
                    </a:solidFill>
                    <a:latin typeface="Times New Roman"/>
                    <a:ea typeface="黑体" panose="02010609060101010101" pitchFamily="49" charset="-122"/>
                  </a:rPr>
                  <a:t>中分解出第二个子信道</a:t>
                </a:r>
                <a14:m>
                  <m:oMath xmlns:m="http://schemas.openxmlformats.org/officeDocument/2006/math">
                    <m:sSub>
                      <m:sSubPr>
                        <m:ctrlPr>
                          <a:rPr lang="zh-CN" altLang="en-US" sz="2000" i="1">
                            <a:solidFill>
                              <a:srgbClr val="000000"/>
                            </a:solidFill>
                            <a:latin typeface="Cambria Math" panose="02040503050406030204" pitchFamily="18" charset="0"/>
                            <a:ea typeface="黑体" panose="02010609060101010101" pitchFamily="49" charset="-122"/>
                          </a:rPr>
                        </m:ctrlPr>
                      </m:sSubPr>
                      <m:e>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en-US" altLang="zh-CN" sz="2000">
                            <a:solidFill>
                              <a:srgbClr val="000000"/>
                            </a:solidFill>
                            <a:latin typeface="Cambria Math" panose="02040503050406030204" pitchFamily="18" charset="0"/>
                            <a:ea typeface="黑体" panose="02010609060101010101" pitchFamily="49" charset="-122"/>
                          </a:rPr>
                          <m:t>2</m:t>
                        </m:r>
                      </m:sub>
                    </m:sSub>
                  </m:oMath>
                </a14:m>
                <a:r>
                  <a:rPr lang="zh-CN" altLang="en-US" sz="2000" dirty="0">
                    <a:solidFill>
                      <a:srgbClr val="000000"/>
                    </a:solidFill>
                    <a:latin typeface="Times New Roman"/>
                    <a:ea typeface="黑体" panose="02010609060101010101" pitchFamily="49" charset="-122"/>
                  </a:rPr>
                  <a:t>，从而完成了</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rPr>
                        </m:ctrlPr>
                      </m:sSubSupPr>
                      <m:e>
                        <m:r>
                          <m:rPr>
                            <m:sty m:val="p"/>
                          </m:rPr>
                          <a:rPr lang="en-US" altLang="zh-CN" sz="2000">
                            <a:solidFill>
                              <a:srgbClr val="000000"/>
                            </a:solidFill>
                            <a:latin typeface="Cambria Math" panose="02040503050406030204" pitchFamily="18" charset="0"/>
                            <a:ea typeface="黑体" panose="02010609060101010101" pitchFamily="49" charset="-122"/>
                          </a:rPr>
                          <m:t>Y</m:t>
                        </m:r>
                      </m:e>
                      <m:sub/>
                      <m:sup>
                        <m:r>
                          <a:rPr lang="zh-CN" altLang="en-US" sz="2000">
                            <a:solidFill>
                              <a:srgbClr val="000000"/>
                            </a:solidFill>
                            <a:latin typeface="Cambria Math" panose="02040503050406030204" pitchFamily="18" charset="0"/>
                            <a:ea typeface="黑体" panose="02010609060101010101" pitchFamily="49" charset="-122"/>
                          </a:rPr>
                          <m:t>𝑁</m:t>
                        </m:r>
                      </m:sup>
                    </m:sSubSup>
                  </m:oMath>
                </a14:m>
                <a:r>
                  <a:rPr lang="zh-CN" altLang="en-US" sz="2000" dirty="0">
                    <a:solidFill>
                      <a:srgbClr val="000000"/>
                    </a:solidFill>
                    <a:latin typeface="Times New Roman"/>
                    <a:ea typeface="黑体" panose="02010609060101010101" pitchFamily="49" charset="-122"/>
                    <a:sym typeface="Symbol" panose="05050102010706020507" pitchFamily="18" charset="2"/>
                  </a:rPr>
                  <a:t></a:t>
                </a:r>
                <a:r>
                  <a:rPr lang="zh-CN" altLang="en-US" sz="2000" dirty="0">
                    <a:solidFill>
                      <a:srgbClr val="000000"/>
                    </a:solidFill>
                    <a:latin typeface="Times New Roman"/>
                    <a:ea typeface="黑体" panose="02010609060101010101" pitchFamily="49" charset="-122"/>
                  </a:rPr>
                  <a:t> </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rPr>
                        </m:ctrlPr>
                      </m:sSubSupPr>
                      <m:e>
                        <m:r>
                          <a:rPr lang="en-US" altLang="zh-CN" sz="2000" i="1">
                            <a:solidFill>
                              <a:srgbClr val="000000"/>
                            </a:solidFill>
                            <a:latin typeface="Cambria Math" panose="02040503050406030204" pitchFamily="18" charset="0"/>
                            <a:ea typeface="黑体" panose="02010609060101010101" pitchFamily="49" charset="-122"/>
                          </a:rPr>
                          <m:t>𝑈</m:t>
                        </m:r>
                      </m:e>
                      <m:sub/>
                      <m:sup>
                        <m:r>
                          <a:rPr lang="zh-CN" altLang="en-US" sz="2000">
                            <a:solidFill>
                              <a:srgbClr val="000000"/>
                            </a:solidFill>
                            <a:latin typeface="Cambria Math" panose="02040503050406030204" pitchFamily="18" charset="0"/>
                            <a:ea typeface="黑体" panose="02010609060101010101" pitchFamily="49" charset="-122"/>
                          </a:rPr>
                          <m:t>𝑁</m:t>
                        </m:r>
                      </m:sup>
                    </m:sSubSup>
                  </m:oMath>
                </a14:m>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N=2</a:t>
                </a:r>
                <a:r>
                  <a:rPr lang="zh-CN" altLang="en-US" sz="2000" dirty="0">
                    <a:solidFill>
                      <a:srgbClr val="000000"/>
                    </a:solidFill>
                    <a:latin typeface="Times New Roman"/>
                    <a:ea typeface="黑体" panose="02010609060101010101" pitchFamily="49" charset="-122"/>
                  </a:rPr>
                  <a:t>的信道分解过程。信道分离过程也是容量守恒的。</a:t>
                </a:r>
                <a:endParaRPr lang="en-US" altLang="zh-CN" sz="2000" dirty="0">
                  <a:solidFill>
                    <a:srgbClr val="000000"/>
                  </a:solidFill>
                  <a:latin typeface="Times New Roman"/>
                  <a:ea typeface="黑体" panose="02010609060101010101" pitchFamily="49" charset="-122"/>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828912" y="1371654"/>
                <a:ext cx="8762770" cy="3854838"/>
              </a:xfrm>
              <a:prstGeom prst="rect">
                <a:avLst/>
              </a:prstGeom>
              <a:blipFill>
                <a:blip r:embed="rId2"/>
                <a:stretch>
                  <a:fillRect l="-1044"/>
                </a:stretch>
              </a:blipFill>
            </p:spPr>
            <p:txBody>
              <a:bodyPr/>
              <a:lstStyle/>
              <a:p>
                <a:r>
                  <a:rPr lang="zh-CN" altLang="en-US">
                    <a:noFill/>
                  </a:rPr>
                  <a:t> </a:t>
                </a:r>
              </a:p>
            </p:txBody>
          </p:sp>
        </mc:Fallback>
      </mc:AlternateContent>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3352872" y="827744"/>
            <a:ext cx="6023180" cy="5068288"/>
          </a:xfrm>
          <a:prstGeom prst="rect">
            <a:avLst/>
          </a:prstGeom>
        </p:spPr>
      </p:pic>
      <p:sp>
        <p:nvSpPr>
          <p:cNvPr id="4" name="标题 1"/>
          <p:cNvSpPr>
            <a:spLocks noGrp="1"/>
          </p:cNvSpPr>
          <p:nvPr>
            <p:ph type="title"/>
          </p:nvPr>
        </p:nvSpPr>
        <p:spPr>
          <a:xfrm>
            <a:off x="7601275" y="141944"/>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p:sp>
        <p:nvSpPr>
          <p:cNvPr id="10" name="文本框 9"/>
          <p:cNvSpPr txBox="1"/>
          <p:nvPr/>
        </p:nvSpPr>
        <p:spPr>
          <a:xfrm>
            <a:off x="5572830" y="6172128"/>
            <a:ext cx="2059367" cy="369332"/>
          </a:xfrm>
          <a:prstGeom prst="rect">
            <a:avLst/>
          </a:prstGeom>
          <a:noFill/>
        </p:spPr>
        <p:txBody>
          <a:bodyPr wrap="square" rtlCol="0" anchor="t">
            <a:spAutoFit/>
          </a:bodyPr>
          <a:lstStyle/>
          <a:p>
            <a:pPr eaLnBrk="0" fontAlgn="base" hangingPunct="0">
              <a:spcBef>
                <a:spcPct val="0"/>
              </a:spcBef>
              <a:spcAft>
                <a:spcPct val="0"/>
              </a:spcAft>
            </a:pPr>
            <a:r>
              <a:rPr lang="zh-CN" altLang="en-US" b="1" dirty="0">
                <a:solidFill>
                  <a:srgbClr val="3333CC"/>
                </a:solidFill>
                <a:latin typeface="黑体" panose="02010609060101010101" pitchFamily="49" charset="-122"/>
                <a:ea typeface="黑体" panose="02010609060101010101" pitchFamily="49" charset="-122"/>
                <a:sym typeface="+mn-ea"/>
              </a:rPr>
              <a:t>信道分离示意</a:t>
            </a: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772356" y="184544"/>
            <a:ext cx="2743128"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xmlns:a14="http://schemas.microsoft.com/office/drawing/2010/main">
        <mc:Choice Requires="a14">
          <p:sp>
            <p:nvSpPr>
              <p:cNvPr id="7" name="文本框 6"/>
              <p:cNvSpPr txBox="1"/>
              <p:nvPr/>
            </p:nvSpPr>
            <p:spPr>
              <a:xfrm>
                <a:off x="361619" y="870344"/>
                <a:ext cx="3643312" cy="6075702"/>
              </a:xfrm>
              <a:prstGeom prst="rect">
                <a:avLst/>
              </a:prstGeom>
              <a:noFill/>
            </p:spPr>
            <p:txBody>
              <a:bodyPr wrap="square">
                <a:spAutoFit/>
              </a:bodyPr>
              <a:lstStyle/>
              <a:p>
                <a:pPr eaLnBrk="0" fontAlgn="base" hangingPunct="0">
                  <a:lnSpc>
                    <a:spcPct val="150000"/>
                  </a:lnSpc>
                  <a:defRPr/>
                </a:pPr>
                <a:r>
                  <a:rPr kumimoji="1" lang="zh-CN" altLang="en-US" sz="2400" dirty="0">
                    <a:solidFill>
                      <a:srgbClr val="FF0000"/>
                    </a:solidFill>
                    <a:latin typeface="黑体" panose="02010609060101010101" pitchFamily="49" charset="-122"/>
                    <a:ea typeface="黑体" panose="02010609060101010101" pitchFamily="49" charset="-122"/>
                  </a:rPr>
                  <a:t>信道极化（编码时）：</a:t>
                </a:r>
                <a:endParaRPr kumimoji="1" lang="en-US" altLang="zh-CN" sz="2400" dirty="0">
                  <a:solidFill>
                    <a:srgbClr val="FF0000"/>
                  </a:solidFill>
                  <a:latin typeface="黑体" panose="02010609060101010101" pitchFamily="49" charset="-122"/>
                  <a:ea typeface="黑体" panose="02010609060101010101" pitchFamily="49" charset="-122"/>
                </a:endParaRPr>
              </a:p>
              <a:p>
                <a:pPr eaLnBrk="0" fontAlgn="base" hangingPunct="0">
                  <a:lnSpc>
                    <a:spcPct val="200000"/>
                  </a:lnSpc>
                  <a:defRPr/>
                </a:pPr>
                <a:r>
                  <a:rPr lang="zh-CN" altLang="en-US" sz="2000" dirty="0">
                    <a:solidFill>
                      <a:srgbClr val="000000"/>
                    </a:solidFill>
                    <a:latin typeface="黑体" panose="02010609060101010101" pitchFamily="49" charset="-122"/>
                    <a:ea typeface="黑体" panose="02010609060101010101" pitchFamily="49" charset="-122"/>
                  </a:rPr>
                  <a:t>    </a:t>
                </a:r>
                <a:endParaRPr lang="en-US" altLang="zh-CN" sz="2000" dirty="0">
                  <a:solidFill>
                    <a:srgbClr val="000000"/>
                  </a:solidFill>
                  <a:latin typeface="Times New Roman"/>
                  <a:ea typeface="黑体" panose="02010609060101010101" pitchFamily="49" charset="-122"/>
                </a:endParaRPr>
              </a:p>
              <a:p>
                <a:pPr eaLnBrk="0" fontAlgn="base" hangingPunct="0">
                  <a:lnSpc>
                    <a:spcPct val="200000"/>
                  </a:lnSpc>
                  <a:defRPr/>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信道极化是指随着</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Times New Roman"/>
                    <a:ea typeface="黑体" panose="02010609060101010101" pitchFamily="49" charset="-122"/>
                  </a:rPr>
                  <a:t>码母码长度</a:t>
                </a:r>
                <a14:m>
                  <m:oMath xmlns:m="http://schemas.openxmlformats.org/officeDocument/2006/math">
                    <m:r>
                      <m:rPr>
                        <m:nor/>
                      </m:rPr>
                      <a:rPr lang="zh-CN" altLang="en-US" sz="2000">
                        <a:solidFill>
                          <a:srgbClr val="000000"/>
                        </a:solidFill>
                        <a:latin typeface="Times New Roman"/>
                        <a:ea typeface="黑体" panose="02010609060101010101" pitchFamily="49" charset="-122"/>
                      </a:rPr>
                      <m:t>N</m:t>
                    </m:r>
                    <m:r>
                      <m:rPr>
                        <m:nor/>
                      </m:rPr>
                      <a:rPr lang="zh-CN" altLang="en-US" sz="2000">
                        <a:solidFill>
                          <a:srgbClr val="000000"/>
                        </a:solidFill>
                        <a:latin typeface="Times New Roman"/>
                        <a:ea typeface="黑体" panose="02010609060101010101" pitchFamily="49" charset="-122"/>
                      </a:rPr>
                      <m:t>=</m:t>
                    </m:r>
                    <m:sSup>
                      <m:sSupPr>
                        <m:ctrlPr>
                          <a:rPr lang="zh-CN" altLang="en-US" sz="2000" i="1">
                            <a:solidFill>
                              <a:srgbClr val="000000"/>
                            </a:solidFill>
                            <a:latin typeface="Cambria Math" panose="02040503050406030204" pitchFamily="18" charset="0"/>
                            <a:ea typeface="黑体" panose="02010609060101010101" pitchFamily="49" charset="-122"/>
                          </a:rPr>
                        </m:ctrlPr>
                      </m:sSupPr>
                      <m:e>
                        <m:r>
                          <m:rPr>
                            <m:nor/>
                          </m:rPr>
                          <a:rPr lang="zh-CN" altLang="en-US" sz="2000">
                            <a:solidFill>
                              <a:srgbClr val="000000"/>
                            </a:solidFill>
                            <a:latin typeface="Times New Roman"/>
                            <a:ea typeface="黑体" panose="02010609060101010101" pitchFamily="49" charset="-122"/>
                          </a:rPr>
                          <m:t>2</m:t>
                        </m:r>
                      </m:e>
                      <m:sup>
                        <m:r>
                          <m:rPr>
                            <m:nor/>
                          </m:rPr>
                          <a:rPr lang="zh-CN" altLang="en-US" sz="2000">
                            <a:solidFill>
                              <a:srgbClr val="000000"/>
                            </a:solidFill>
                            <a:latin typeface="Times New Roman"/>
                            <a:ea typeface="黑体" panose="02010609060101010101" pitchFamily="49" charset="-122"/>
                          </a:rPr>
                          <m:t>n</m:t>
                        </m:r>
                      </m:sup>
                    </m:sSup>
                    <m:r>
                      <a:rPr lang="zh-CN" altLang="en-US" sz="2000">
                        <a:solidFill>
                          <a:srgbClr val="000000"/>
                        </a:solidFill>
                        <a:latin typeface="Cambria Math" panose="02040503050406030204" pitchFamily="18" charset="0"/>
                        <a:ea typeface="黑体" panose="02010609060101010101" pitchFamily="49" charset="-122"/>
                      </a:rPr>
                      <m:t>的</m:t>
                    </m:r>
                  </m:oMath>
                </a14:m>
                <a:r>
                  <a:rPr lang="zh-CN" altLang="en-US" sz="2000" dirty="0">
                    <a:solidFill>
                      <a:srgbClr val="000000"/>
                    </a:solidFill>
                    <a:latin typeface="Times New Roman"/>
                    <a:ea typeface="黑体" panose="02010609060101010101" pitchFamily="49" charset="-122"/>
                  </a:rPr>
                  <a:t>增大，子信道（</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Times New Roman"/>
                    <a:ea typeface="黑体" panose="02010609060101010101" pitchFamily="49" charset="-122"/>
                  </a:rPr>
                  <a:t>码输入比特序号）的信道容量会越来越明显的趋向两个极端：</a:t>
                </a:r>
                <a:r>
                  <a:rPr lang="zh-CN" altLang="en-US" sz="2000" u="sng" dirty="0">
                    <a:solidFill>
                      <a:srgbClr val="000000"/>
                    </a:solidFill>
                    <a:latin typeface="Times New Roman"/>
                    <a:ea typeface="黑体" panose="02010609060101010101" pitchFamily="49" charset="-122"/>
                  </a:rPr>
                  <a:t>无噪信道</a:t>
                </a:r>
                <a:r>
                  <a:rPr lang="zh-CN" altLang="en-US" sz="2000" dirty="0">
                    <a:solidFill>
                      <a:srgbClr val="000000"/>
                    </a:solidFill>
                    <a:latin typeface="Times New Roman"/>
                    <a:ea typeface="黑体" panose="02010609060101010101" pitchFamily="49" charset="-122"/>
                  </a:rPr>
                  <a:t>（信道容量为</a:t>
                </a:r>
                <a:r>
                  <a:rPr lang="en-US" altLang="zh-CN" sz="2000" dirty="0">
                    <a:solidFill>
                      <a:srgbClr val="000000"/>
                    </a:solidFill>
                    <a:latin typeface="Times New Roman"/>
                    <a:ea typeface="黑体" panose="02010609060101010101" pitchFamily="49" charset="-122"/>
                  </a:rPr>
                  <a:t>1</a:t>
                </a:r>
                <a:r>
                  <a:rPr lang="zh-CN" altLang="en-US" sz="2000" dirty="0">
                    <a:solidFill>
                      <a:srgbClr val="000000"/>
                    </a:solidFill>
                    <a:latin typeface="Times New Roman"/>
                    <a:ea typeface="黑体" panose="02010609060101010101" pitchFamily="49" charset="-122"/>
                  </a:rPr>
                  <a:t>）和</a:t>
                </a:r>
                <a:r>
                  <a:rPr lang="zh-CN" altLang="en-US" sz="2000" u="sng" dirty="0">
                    <a:solidFill>
                      <a:srgbClr val="000000"/>
                    </a:solidFill>
                    <a:latin typeface="Times New Roman"/>
                    <a:ea typeface="黑体" panose="02010609060101010101" pitchFamily="49" charset="-122"/>
                  </a:rPr>
                  <a:t>纯噪信道</a:t>
                </a:r>
                <a:r>
                  <a:rPr lang="zh-CN" altLang="en-US" sz="2000" dirty="0">
                    <a:solidFill>
                      <a:srgbClr val="000000"/>
                    </a:solidFill>
                    <a:latin typeface="Times New Roman"/>
                    <a:ea typeface="黑体" panose="02010609060101010101" pitchFamily="49" charset="-122"/>
                  </a:rPr>
                  <a:t>（信道容量为</a:t>
                </a:r>
                <a:r>
                  <a:rPr lang="en-US" altLang="zh-CN" sz="2000" dirty="0">
                    <a:solidFill>
                      <a:srgbClr val="000000"/>
                    </a:solidFill>
                    <a:latin typeface="Times New Roman"/>
                    <a:ea typeface="黑体" panose="02010609060101010101" pitchFamily="49" charset="-122"/>
                  </a:rPr>
                  <a:t>0</a:t>
                </a:r>
                <a:r>
                  <a:rPr lang="zh-CN" altLang="en-US" sz="2000" dirty="0">
                    <a:solidFill>
                      <a:srgbClr val="000000"/>
                    </a:solidFill>
                    <a:latin typeface="Times New Roman"/>
                    <a:ea typeface="黑体" panose="02010609060101010101" pitchFamily="49" charset="-122"/>
                  </a:rPr>
                  <a:t>）。</a:t>
                </a:r>
                <a:endParaRPr lang="en-US" altLang="zh-CN" sz="2000" dirty="0">
                  <a:solidFill>
                    <a:srgbClr val="000000"/>
                  </a:solidFill>
                  <a:latin typeface="Times New Roman"/>
                  <a:ea typeface="黑体" panose="02010609060101010101" pitchFamily="49" charset="-122"/>
                </a:endParaRPr>
              </a:p>
              <a:p>
                <a:pPr eaLnBrk="0" fontAlgn="base" hangingPunct="0">
                  <a:lnSpc>
                    <a:spcPct val="200000"/>
                  </a:lnSpc>
                  <a:defRPr/>
                </a:pPr>
                <a:r>
                  <a:rPr lang="en-US" altLang="zh-CN" sz="2000" dirty="0">
                    <a:solidFill>
                      <a:srgbClr val="000000"/>
                    </a:solidFill>
                    <a:latin typeface="黑体" panose="02010609060101010101" pitchFamily="49" charset="-122"/>
                    <a:ea typeface="黑体" panose="02010609060101010101" pitchFamily="49" charset="-122"/>
                  </a:rPr>
                  <a:t>    </a:t>
                </a:r>
                <a:endParaRPr lang="zh-CN" altLang="en-US" sz="2000" dirty="0">
                  <a:solidFill>
                    <a:srgbClr val="000000"/>
                  </a:solidFill>
                  <a:latin typeface="黑体" panose="02010609060101010101" pitchFamily="49" charset="-122"/>
                  <a:ea typeface="黑体" panose="02010609060101010101" pitchFamily="49" charset="-122"/>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361619" y="870344"/>
                <a:ext cx="3643312" cy="6075702"/>
              </a:xfrm>
              <a:prstGeom prst="rect">
                <a:avLst/>
              </a:prstGeom>
              <a:blipFill>
                <a:blip r:embed="rId2"/>
                <a:stretch>
                  <a:fillRect l="-2508" r="-13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9773E82-7CAF-4975-FB46-6987C85F1553}"/>
                  </a:ext>
                </a:extLst>
              </p:cNvPr>
              <p:cNvSpPr txBox="1"/>
              <p:nvPr/>
            </p:nvSpPr>
            <p:spPr>
              <a:xfrm>
                <a:off x="4869711" y="872176"/>
                <a:ext cx="7116726" cy="4088876"/>
              </a:xfrm>
              <a:prstGeom prst="rect">
                <a:avLst/>
              </a:prstGeom>
              <a:noFill/>
            </p:spPr>
            <p:txBody>
              <a:bodyPr wrap="square">
                <a:spAutoFit/>
              </a:bodyPr>
              <a:lstStyle/>
              <a:p>
                <a:pPr eaLnBrk="0" fontAlgn="base" hangingPunct="0">
                  <a:lnSpc>
                    <a:spcPct val="150000"/>
                  </a:lnSpc>
                  <a:defRPr/>
                </a:pPr>
                <a:r>
                  <a:rPr kumimoji="1" lang="zh-CN" altLang="en-US" sz="2400" dirty="0">
                    <a:solidFill>
                      <a:srgbClr val="FF0000"/>
                    </a:solidFill>
                    <a:latin typeface="黑体" panose="02010609060101010101" pitchFamily="49" charset="-122"/>
                    <a:ea typeface="黑体" panose="02010609060101010101" pitchFamily="49" charset="-122"/>
                  </a:rPr>
                  <a:t>信道极化（编码时）：</a:t>
                </a:r>
                <a:endParaRPr kumimoji="1" lang="en-US" altLang="zh-CN" sz="2400" dirty="0">
                  <a:solidFill>
                    <a:srgbClr val="FF0000"/>
                  </a:solidFill>
                  <a:latin typeface="黑体" panose="02010609060101010101" pitchFamily="49" charset="-122"/>
                  <a:ea typeface="黑体" panose="02010609060101010101" pitchFamily="49" charset="-122"/>
                </a:endParaRPr>
              </a:p>
              <a:p>
                <a:pPr eaLnBrk="0" fontAlgn="base" hangingPunct="0">
                  <a:lnSpc>
                    <a:spcPct val="150000"/>
                  </a:lnSpc>
                  <a:defRPr/>
                </a:pPr>
                <a:endParaRPr lang="en-US" altLang="zh-CN" sz="2000" dirty="0">
                  <a:solidFill>
                    <a:srgbClr val="000000"/>
                  </a:solidFill>
                  <a:latin typeface="黑体" panose="02010609060101010101" pitchFamily="49" charset="-122"/>
                  <a:ea typeface="黑体" panose="02010609060101010101" pitchFamily="49" charset="-122"/>
                </a:endParaRPr>
              </a:p>
              <a:p>
                <a:pPr eaLnBrk="0" fontAlgn="base" hangingPunct="0">
                  <a:lnSpc>
                    <a:spcPct val="200000"/>
                  </a:lnSpc>
                  <a:defRPr/>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假设使用</a:t>
                </a:r>
                <a:r>
                  <a:rPr lang="en-US" altLang="zh-CN" sz="2000" dirty="0">
                    <a:solidFill>
                      <a:srgbClr val="000000"/>
                    </a:solidFill>
                    <a:latin typeface="Times New Roman"/>
                    <a:ea typeface="黑体" panose="02010609060101010101" pitchFamily="49" charset="-122"/>
                  </a:rPr>
                  <a:t>BEC</a:t>
                </a:r>
                <a:r>
                  <a:rPr lang="zh-CN" altLang="en-US" sz="2000" dirty="0">
                    <a:solidFill>
                      <a:srgbClr val="000000"/>
                    </a:solidFill>
                    <a:latin typeface="Times New Roman"/>
                    <a:ea typeface="黑体" panose="02010609060101010101" pitchFamily="49" charset="-122"/>
                  </a:rPr>
                  <a:t>信道，且删除概率为</a:t>
                </a:r>
                <a14:m>
                  <m:oMath xmlns:m="http://schemas.openxmlformats.org/officeDocument/2006/math">
                    <m:r>
                      <a:rPr lang="zh-CN" altLang="en-US" sz="2000" i="1">
                        <a:solidFill>
                          <a:srgbClr val="000000"/>
                        </a:solidFill>
                        <a:latin typeface="Cambria Math" panose="02040503050406030204" pitchFamily="18" charset="0"/>
                      </a:rPr>
                      <m:t>𝑃</m:t>
                    </m:r>
                    <m:r>
                      <a:rPr lang="zh-CN" altLang="en-US" sz="2000" i="1">
                        <a:solidFill>
                          <a:srgbClr val="000000"/>
                        </a:solidFill>
                        <a:latin typeface="Cambria Math" panose="02040503050406030204" pitchFamily="18" charset="0"/>
                      </a:rPr>
                      <m:t>=</m:t>
                    </m:r>
                    <m:f>
                      <m:fPr>
                        <m:type m:val="lin"/>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1</m:t>
                        </m:r>
                      </m:num>
                      <m:den>
                        <m:r>
                          <a:rPr lang="zh-CN" altLang="en-US" sz="2000" i="1">
                            <a:solidFill>
                              <a:srgbClr val="000000"/>
                            </a:solidFill>
                            <a:latin typeface="Cambria Math" panose="02040503050406030204" pitchFamily="18" charset="0"/>
                          </a:rPr>
                          <m:t>2</m:t>
                        </m:r>
                      </m:den>
                    </m:f>
                  </m:oMath>
                </a14:m>
                <a:r>
                  <a:rPr lang="zh-CN" altLang="en-US" sz="2000" dirty="0">
                    <a:solidFill>
                      <a:srgbClr val="000000"/>
                    </a:solidFill>
                    <a:latin typeface="Times New Roman"/>
                    <a:ea typeface="黑体" panose="02010609060101010101" pitchFamily="49" charset="-122"/>
                  </a:rPr>
                  <a:t>，那么随着</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Times New Roman"/>
                    <a:ea typeface="黑体" panose="02010609060101010101" pitchFamily="49" charset="-122"/>
                  </a:rPr>
                  <a:t>码母码长增大，子信道趋近于两个极端，当母码长度 </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512</a:t>
                </a:r>
                <a:r>
                  <a:rPr lang="zh-CN" altLang="en-US" sz="2000" dirty="0">
                    <a:solidFill>
                      <a:srgbClr val="000000"/>
                    </a:solidFill>
                    <a:latin typeface="Times New Roman"/>
                    <a:ea typeface="黑体" panose="02010609060101010101" pitchFamily="49" charset="-122"/>
                  </a:rPr>
                  <a:t>时，极化现象体现较为充分（大于</a:t>
                </a:r>
                <a:r>
                  <a:rPr lang="en-US" altLang="zh-CN" sz="2000" dirty="0">
                    <a:solidFill>
                      <a:srgbClr val="000000"/>
                    </a:solidFill>
                    <a:latin typeface="Times New Roman"/>
                    <a:ea typeface="黑体" panose="02010609060101010101" pitchFamily="49" charset="-122"/>
                  </a:rPr>
                  <a:t>80%</a:t>
                </a:r>
                <a:r>
                  <a:rPr lang="zh-CN" altLang="en-US" sz="2000" dirty="0">
                    <a:solidFill>
                      <a:srgbClr val="000000"/>
                    </a:solidFill>
                    <a:latin typeface="Times New Roman"/>
                    <a:ea typeface="黑体" panose="02010609060101010101" pitchFamily="49" charset="-122"/>
                  </a:rPr>
                  <a:t>的子信道得到极化），利用这个极化现象，可以选择高容量子信道去传输数据，而把其他子信道设置为已知比特（</a:t>
                </a:r>
                <a:r>
                  <a:rPr lang="zh-CN" altLang="en-US" sz="2000" u="sng" dirty="0">
                    <a:solidFill>
                      <a:srgbClr val="000000"/>
                    </a:solidFill>
                    <a:latin typeface="Times New Roman"/>
                    <a:ea typeface="黑体" panose="02010609060101010101" pitchFamily="49" charset="-122"/>
                  </a:rPr>
                  <a:t>冻结比特</a:t>
                </a:r>
                <a:r>
                  <a:rPr lang="zh-CN" altLang="en-US" sz="2000" dirty="0">
                    <a:solidFill>
                      <a:srgbClr val="000000"/>
                    </a:solidFill>
                    <a:latin typeface="Times New Roman"/>
                    <a:ea typeface="黑体" panose="02010609060101010101" pitchFamily="49" charset="-122"/>
                  </a:rPr>
                  <a:t>，如</a:t>
                </a:r>
                <a:r>
                  <a:rPr lang="en-US" altLang="zh-CN" sz="2000" dirty="0">
                    <a:solidFill>
                      <a:srgbClr val="000000"/>
                    </a:solidFill>
                    <a:latin typeface="Times New Roman"/>
                    <a:ea typeface="黑体" panose="02010609060101010101" pitchFamily="49" charset="-122"/>
                  </a:rPr>
                  <a:t>0</a:t>
                </a:r>
                <a:r>
                  <a:rPr lang="zh-CN" altLang="en-US" sz="2000" dirty="0">
                    <a:solidFill>
                      <a:srgbClr val="000000"/>
                    </a:solidFill>
                    <a:latin typeface="Times New Roman"/>
                    <a:ea typeface="黑体" panose="02010609060101010101" pitchFamily="49" charset="-122"/>
                  </a:rPr>
                  <a:t>）</a:t>
                </a:r>
                <a:r>
                  <a:rPr lang="zh-CN" altLang="en-US" sz="2000" dirty="0">
                    <a:solidFill>
                      <a:srgbClr val="000000"/>
                    </a:solidFill>
                    <a:latin typeface="黑体" panose="02010609060101010101" pitchFamily="49" charset="-122"/>
                    <a:ea typeface="黑体" panose="02010609060101010101" pitchFamily="49" charset="-122"/>
                  </a:rPr>
                  <a:t>。</a:t>
                </a:r>
              </a:p>
            </p:txBody>
          </p:sp>
        </mc:Choice>
        <mc:Fallback xmlns="">
          <p:sp>
            <p:nvSpPr>
              <p:cNvPr id="2" name="文本框 1">
                <a:extLst>
                  <a:ext uri="{FF2B5EF4-FFF2-40B4-BE49-F238E27FC236}">
                    <a16:creationId xmlns:a16="http://schemas.microsoft.com/office/drawing/2014/main" id="{69773E82-7CAF-4975-FB46-6987C85F1553}"/>
                  </a:ext>
                </a:extLst>
              </p:cNvPr>
              <p:cNvSpPr txBox="1">
                <a:spLocks noRot="1" noChangeAspect="1" noMove="1" noResize="1" noEditPoints="1" noAdjustHandles="1" noChangeArrowheads="1" noChangeShapeType="1" noTextEdit="1"/>
              </p:cNvSpPr>
              <p:nvPr/>
            </p:nvSpPr>
            <p:spPr>
              <a:xfrm>
                <a:off x="4869711" y="872176"/>
                <a:ext cx="7116726" cy="4088876"/>
              </a:xfrm>
              <a:prstGeom prst="rect">
                <a:avLst/>
              </a:prstGeom>
              <a:blipFill>
                <a:blip r:embed="rId3"/>
                <a:stretch>
                  <a:fillRect l="-1371" b="-1788"/>
                </a:stretch>
              </a:blipFill>
            </p:spPr>
            <p:txBody>
              <a:bodyPr/>
              <a:lstStyle/>
              <a:p>
                <a:r>
                  <a:rPr lang="zh-CN" altLang="en-US">
                    <a:noFill/>
                  </a:rPr>
                  <a:t> </a:t>
                </a:r>
              </a:p>
            </p:txBody>
          </p:sp>
        </mc:Fallback>
      </mc:AlternateContent>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43763" y="154525"/>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xmlns:a14="http://schemas.microsoft.com/office/drawing/2010/main">
        <mc:Choice Requires="a14">
          <p:sp>
            <p:nvSpPr>
              <p:cNvPr id="9" name="文本框 8"/>
              <p:cNvSpPr txBox="1"/>
              <p:nvPr/>
            </p:nvSpPr>
            <p:spPr>
              <a:xfrm>
                <a:off x="199028" y="840325"/>
                <a:ext cx="11716525" cy="5140574"/>
              </a:xfrm>
              <a:prstGeom prst="rect">
                <a:avLst/>
              </a:prstGeom>
              <a:noFill/>
            </p:spPr>
            <p:txBody>
              <a:bodyPr wrap="square">
                <a:spAutoFit/>
              </a:bodyPr>
              <a:lstStyle/>
              <a:p>
                <a:pPr eaLnBrk="0" fontAlgn="base" hangingPunct="0">
                  <a:lnSpc>
                    <a:spcPct val="150000"/>
                  </a:lnSpc>
                  <a:defRPr/>
                </a:pPr>
                <a:r>
                  <a:rPr lang="zh-CN" altLang="en-US" sz="2000" dirty="0">
                    <a:solidFill>
                      <a:srgbClr val="000000"/>
                    </a:solidFill>
                    <a:latin typeface="Times New Roman"/>
                    <a:ea typeface="黑体" panose="02010609060101010101" pitchFamily="49" charset="-122"/>
                  </a:rPr>
                  <a:t>        若使用以</a:t>
                </a:r>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为底的对数，则</a:t>
                </a:r>
                <a:r>
                  <a:rPr lang="en-US" altLang="zh-CN" sz="2000" dirty="0">
                    <a:solidFill>
                      <a:srgbClr val="000000"/>
                    </a:solidFill>
                    <a:latin typeface="Times New Roman"/>
                    <a:ea typeface="黑体" panose="02010609060101010101" pitchFamily="49" charset="-122"/>
                  </a:rPr>
                  <a:t>0</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C(W)</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1</a:t>
                </a:r>
                <a:r>
                  <a:rPr lang="zh-CN" altLang="en-US" sz="2000" dirty="0">
                    <a:solidFill>
                      <a:srgbClr val="000000"/>
                    </a:solidFill>
                    <a:latin typeface="Times New Roman"/>
                    <a:ea typeface="黑体" panose="02010609060101010101" pitchFamily="49" charset="-122"/>
                  </a:rPr>
                  <a:t>。当</a:t>
                </a:r>
                <a:r>
                  <a:rPr lang="en-US" altLang="zh-CN" sz="2000" dirty="0">
                    <a:solidFill>
                      <a:srgbClr val="000000"/>
                    </a:solidFill>
                    <a:latin typeface="Times New Roman"/>
                    <a:ea typeface="黑体" panose="02010609060101010101" pitchFamily="49" charset="-122"/>
                  </a:rPr>
                  <a:t>C(W)=1</a:t>
                </a:r>
                <a:r>
                  <a:rPr lang="zh-CN" altLang="en-US" sz="2000" dirty="0">
                    <a:solidFill>
                      <a:srgbClr val="000000"/>
                    </a:solidFill>
                    <a:latin typeface="Times New Roman"/>
                    <a:ea typeface="黑体" panose="02010609060101010101" pitchFamily="49" charset="-122"/>
                  </a:rPr>
                  <a:t>时，称</a:t>
                </a:r>
                <a:r>
                  <a:rPr lang="en-US" altLang="zh-CN" sz="2000" dirty="0">
                    <a:solidFill>
                      <a:srgbClr val="000000"/>
                    </a:solidFill>
                    <a:latin typeface="Times New Roman"/>
                    <a:ea typeface="黑体" panose="02010609060101010101" pitchFamily="49" charset="-122"/>
                  </a:rPr>
                  <a:t>W</a:t>
                </a:r>
                <a:r>
                  <a:rPr lang="zh-CN" altLang="en-US" sz="2000" dirty="0">
                    <a:solidFill>
                      <a:srgbClr val="000000"/>
                    </a:solidFill>
                    <a:latin typeface="Times New Roman"/>
                    <a:ea typeface="黑体" panose="02010609060101010101" pitchFamily="49" charset="-122"/>
                  </a:rPr>
                  <a:t>为无噪信道（极好）；当</a:t>
                </a:r>
                <a:r>
                  <a:rPr lang="en-US" altLang="zh-CN" sz="2000" dirty="0">
                    <a:solidFill>
                      <a:srgbClr val="000000"/>
                    </a:solidFill>
                    <a:latin typeface="Times New Roman"/>
                    <a:ea typeface="黑体" panose="02010609060101010101" pitchFamily="49" charset="-122"/>
                  </a:rPr>
                  <a:t>C(W)=0</a:t>
                </a:r>
                <a:r>
                  <a:rPr lang="zh-CN" altLang="en-US" sz="2000" dirty="0">
                    <a:solidFill>
                      <a:srgbClr val="000000"/>
                    </a:solidFill>
                    <a:latin typeface="Times New Roman"/>
                    <a:ea typeface="黑体" panose="02010609060101010101" pitchFamily="49" charset="-122"/>
                  </a:rPr>
                  <a:t>时，称</a:t>
                </a:r>
                <a:r>
                  <a:rPr lang="en-US" altLang="zh-CN" sz="2000" dirty="0">
                    <a:solidFill>
                      <a:srgbClr val="000000"/>
                    </a:solidFill>
                    <a:latin typeface="Times New Roman"/>
                    <a:ea typeface="黑体" panose="02010609060101010101" pitchFamily="49" charset="-122"/>
                  </a:rPr>
                  <a:t>W</a:t>
                </a:r>
                <a:r>
                  <a:rPr lang="zh-CN" altLang="en-US" sz="2000" dirty="0">
                    <a:solidFill>
                      <a:srgbClr val="000000"/>
                    </a:solidFill>
                    <a:latin typeface="Times New Roman"/>
                    <a:ea typeface="黑体" panose="02010609060101010101" pitchFamily="49" charset="-122"/>
                  </a:rPr>
                  <a:t>为纯噪信道（无用）。信道极化的目的就是将大多数常规信道转化为这两种极端情况的信道，上述信道容量计算复杂，可采用</a:t>
                </a:r>
                <a:r>
                  <a:rPr lang="zh-CN" altLang="en-US" sz="2000" u="sng" dirty="0">
                    <a:solidFill>
                      <a:srgbClr val="000000"/>
                    </a:solidFill>
                    <a:latin typeface="Times New Roman"/>
                    <a:ea typeface="黑体" panose="02010609060101010101" pitchFamily="49" charset="-122"/>
                  </a:rPr>
                  <a:t>巴氏参数</a:t>
                </a:r>
                <a:r>
                  <a:rPr lang="zh-CN" altLang="en-US" sz="2000" dirty="0">
                    <a:solidFill>
                      <a:srgbClr val="000000"/>
                    </a:solidFill>
                    <a:latin typeface="Times New Roman"/>
                    <a:ea typeface="黑体" panose="02010609060101010101" pitchFamily="49" charset="-122"/>
                  </a:rPr>
                  <a:t>的最大后验概率（</a:t>
                </a:r>
                <a:r>
                  <a:rPr lang="en-US" altLang="zh-CN" sz="2000" dirty="0">
                    <a:solidFill>
                      <a:srgbClr val="000000"/>
                    </a:solidFill>
                    <a:latin typeface="Times New Roman"/>
                    <a:ea typeface="黑体" panose="02010609060101010101" pitchFamily="49" charset="-122"/>
                  </a:rPr>
                  <a:t>MAP</a:t>
                </a:r>
                <a:r>
                  <a:rPr lang="zh-CN" altLang="en-US" sz="2000" dirty="0">
                    <a:solidFill>
                      <a:srgbClr val="000000"/>
                    </a:solidFill>
                    <a:latin typeface="Times New Roman"/>
                    <a:ea typeface="黑体" panose="02010609060101010101" pitchFamily="49" charset="-122"/>
                  </a:rPr>
                  <a:t>）判决错误概率的上界，进而进行信道容量的范围考察。巴氏参数定义为</a:t>
                </a:r>
                <a:r>
                  <a:rPr lang="en-US" altLang="zh-CN" sz="2000" dirty="0">
                    <a:solidFill>
                      <a:srgbClr val="000000"/>
                    </a:solidFill>
                    <a:latin typeface="Times New Roman"/>
                    <a:ea typeface="黑体" panose="02010609060101010101" pitchFamily="49" charset="-122"/>
                  </a:rPr>
                  <a:t>Z(W):</a:t>
                </a:r>
              </a:p>
              <a:p>
                <a:pPr eaLnBrk="0" fontAlgn="base" hangingPunct="0">
                  <a:lnSpc>
                    <a:spcPct val="150000"/>
                  </a:lnSpc>
                  <a:defRPr/>
                </a:pPr>
                <a14:m>
                  <m:oMathPara xmlns:m="http://schemas.openxmlformats.org/officeDocument/2006/math">
                    <m:oMathParaPr>
                      <m:jc m:val="centerGroup"/>
                    </m:oMathParaPr>
                    <m:oMath xmlns:m="http://schemas.openxmlformats.org/officeDocument/2006/math">
                      <m:r>
                        <m:rPr>
                          <m:nor/>
                        </m:rPr>
                        <a:rPr lang="en-US" altLang="zh-CN" sz="2000">
                          <a:solidFill>
                            <a:srgbClr val="000000"/>
                          </a:solidFill>
                          <a:latin typeface="Times New Roman"/>
                          <a:ea typeface="宋体" panose="02010600030101010101" pitchFamily="2" charset="-122"/>
                        </a:rPr>
                        <m:t>Z</m:t>
                      </m:r>
                      <m:d>
                        <m:dPr>
                          <m:ctrlPr>
                            <a:rPr lang="zh-CN" altLang="en-US" sz="2000" i="1">
                              <a:solidFill>
                                <a:srgbClr val="000000"/>
                              </a:solidFill>
                              <a:latin typeface="Cambria Math" panose="02040503050406030204" pitchFamily="18" charset="0"/>
                            </a:rPr>
                          </m:ctrlPr>
                        </m:dPr>
                        <m:e>
                          <m:r>
                            <m:rPr>
                              <m:nor/>
                            </m:rPr>
                            <a:rPr lang="en-US" altLang="zh-CN" sz="2000">
                              <a:solidFill>
                                <a:srgbClr val="000000"/>
                              </a:solidFill>
                              <a:latin typeface="Times New Roman"/>
                              <a:ea typeface="宋体" panose="02010600030101010101" pitchFamily="2" charset="-122"/>
                            </a:rPr>
                            <m:t>W</m:t>
                          </m:r>
                        </m:e>
                      </m:d>
                      <m:r>
                        <m:rPr>
                          <m:nor/>
                        </m:rPr>
                        <a:rPr lang="zh-CN" altLang="en-US" sz="2000">
                          <a:solidFill>
                            <a:srgbClr val="000000"/>
                          </a:solidFill>
                          <a:latin typeface="Times New Roman"/>
                          <a:ea typeface="宋体" panose="02010600030101010101" pitchFamily="2" charset="-122"/>
                        </a:rPr>
                        <m:t>=</m:t>
                      </m:r>
                      <m:nary>
                        <m:naryPr>
                          <m:chr m:val="∑"/>
                          <m:limLoc m:val="undOvr"/>
                          <m:grow m:val="on"/>
                          <m:supHide m:val="on"/>
                          <m:ctrlPr>
                            <a:rPr lang="zh-CN" altLang="en-US" sz="2000" i="1">
                              <a:solidFill>
                                <a:srgbClr val="000000"/>
                              </a:solidFill>
                              <a:latin typeface="Cambria Math" panose="02040503050406030204" pitchFamily="18" charset="0"/>
                            </a:rPr>
                          </m:ctrlPr>
                        </m:naryPr>
                        <m:sub>
                          <m:r>
                            <m:rPr>
                              <m:nor/>
                            </m:rPr>
                            <a:rPr lang="zh-CN" altLang="en-US" sz="2000">
                              <a:solidFill>
                                <a:srgbClr val="000000"/>
                              </a:solidFill>
                              <a:latin typeface="Times New Roman"/>
                              <a:ea typeface="宋体" panose="02010600030101010101" pitchFamily="2" charset="-122"/>
                            </a:rPr>
                            <m:t>y</m:t>
                          </m:r>
                          <m:r>
                            <m:rPr>
                              <m:nor/>
                            </m:rPr>
                            <a:rPr lang="zh-CN" altLang="en-US" sz="2000">
                              <a:solidFill>
                                <a:srgbClr val="000000"/>
                              </a:solidFill>
                              <a:latin typeface="Times New Roman"/>
                              <a:ea typeface="宋体" panose="02010600030101010101" pitchFamily="2" charset="-122"/>
                            </a:rPr>
                            <m:t>=</m:t>
                          </m:r>
                          <m:r>
                            <m:rPr>
                              <m:nor/>
                            </m:rPr>
                            <a:rPr lang="zh-CN" altLang="en-US" sz="2000">
                              <a:solidFill>
                                <a:srgbClr val="000000"/>
                              </a:solidFill>
                              <a:latin typeface="Times New Roman"/>
                              <a:ea typeface="宋体" panose="02010600030101010101" pitchFamily="2" charset="-122"/>
                            </a:rPr>
                            <m:t>Y</m:t>
                          </m:r>
                        </m:sub>
                        <m:sup/>
                        <m:e>
                          <m:rad>
                            <m:radPr>
                              <m:degHide m:val="on"/>
                              <m:ctrlPr>
                                <a:rPr lang="zh-CN" altLang="en-US" sz="2000" i="1">
                                  <a:solidFill>
                                    <a:srgbClr val="000000"/>
                                  </a:solidFill>
                                  <a:latin typeface="Cambria Math" panose="02040503050406030204" pitchFamily="18" charset="0"/>
                                </a:rPr>
                              </m:ctrlPr>
                            </m:radPr>
                            <m:deg/>
                            <m:e>
                              <m:r>
                                <m:rPr>
                                  <m:nor/>
                                </m:rPr>
                                <a:rPr lang="en-US" altLang="zh-CN" sz="2000">
                                  <a:solidFill>
                                    <a:srgbClr val="000000"/>
                                  </a:solidFill>
                                  <a:latin typeface="Times New Roman"/>
                                  <a:ea typeface="宋体" panose="02010600030101010101" pitchFamily="2" charset="-122"/>
                                </a:rPr>
                                <m:t>W</m:t>
                              </m:r>
                              <m:d>
                                <m:dPr>
                                  <m:ctrlPr>
                                    <a:rPr lang="zh-CN" altLang="en-US" sz="2000" i="1">
                                      <a:solidFill>
                                        <a:srgbClr val="000000"/>
                                      </a:solidFill>
                                      <a:latin typeface="Cambria Math" panose="02040503050406030204" pitchFamily="18" charset="0"/>
                                    </a:rPr>
                                  </m:ctrlPr>
                                </m:dPr>
                                <m:e>
                                  <m:d>
                                    <m:dPr>
                                      <m:begChr m:val=""/>
                                      <m:endChr m:val="|"/>
                                      <m:ctrlPr>
                                        <a:rPr lang="zh-CN" altLang="en-US" sz="2000" i="1">
                                          <a:solidFill>
                                            <a:srgbClr val="000000"/>
                                          </a:solidFill>
                                          <a:latin typeface="Cambria Math" panose="02040503050406030204" pitchFamily="18" charset="0"/>
                                        </a:rPr>
                                      </m:ctrlPr>
                                    </m:dPr>
                                    <m:e>
                                      <m:r>
                                        <m:rPr>
                                          <m:nor/>
                                        </m:rPr>
                                        <a:rPr lang="zh-CN" altLang="en-US" sz="2000">
                                          <a:solidFill>
                                            <a:srgbClr val="000000"/>
                                          </a:solidFill>
                                          <a:latin typeface="Times New Roman"/>
                                          <a:ea typeface="宋体" panose="02010600030101010101" pitchFamily="2" charset="-122"/>
                                        </a:rPr>
                                        <m:t>y</m:t>
                                      </m:r>
                                    </m:e>
                                  </m:d>
                                  <m:r>
                                    <m:rPr>
                                      <m:nor/>
                                    </m:rPr>
                                    <a:rPr lang="zh-CN" altLang="en-US" sz="2000">
                                      <a:solidFill>
                                        <a:srgbClr val="000000"/>
                                      </a:solidFill>
                                      <a:latin typeface="Times New Roman"/>
                                      <a:ea typeface="宋体" panose="02010600030101010101" pitchFamily="2" charset="-122"/>
                                    </a:rPr>
                                    <m:t>0</m:t>
                                  </m:r>
                                </m:e>
                              </m:d>
                              <m:r>
                                <m:rPr>
                                  <m:nor/>
                                </m:rPr>
                                <a:rPr lang="en-US" altLang="zh-CN" sz="2000">
                                  <a:solidFill>
                                    <a:srgbClr val="000000"/>
                                  </a:solidFill>
                                  <a:latin typeface="Times New Roman"/>
                                  <a:ea typeface="宋体" panose="02010600030101010101" pitchFamily="2" charset="-122"/>
                                </a:rPr>
                                <m:t>W</m:t>
                              </m:r>
                              <m:d>
                                <m:dPr>
                                  <m:ctrlPr>
                                    <a:rPr lang="zh-CN" altLang="en-US" sz="2000" i="1">
                                      <a:solidFill>
                                        <a:srgbClr val="000000"/>
                                      </a:solidFill>
                                      <a:latin typeface="Cambria Math" panose="02040503050406030204" pitchFamily="18" charset="0"/>
                                    </a:rPr>
                                  </m:ctrlPr>
                                </m:dPr>
                                <m:e>
                                  <m:d>
                                    <m:dPr>
                                      <m:begChr m:val=""/>
                                      <m:endChr m:val="|"/>
                                      <m:ctrlPr>
                                        <a:rPr lang="zh-CN" altLang="en-US" sz="2000" i="1">
                                          <a:solidFill>
                                            <a:srgbClr val="000000"/>
                                          </a:solidFill>
                                          <a:latin typeface="Cambria Math" panose="02040503050406030204" pitchFamily="18" charset="0"/>
                                        </a:rPr>
                                      </m:ctrlPr>
                                    </m:dPr>
                                    <m:e>
                                      <m:r>
                                        <m:rPr>
                                          <m:nor/>
                                        </m:rPr>
                                        <a:rPr lang="zh-CN" altLang="en-US" sz="2000">
                                          <a:solidFill>
                                            <a:srgbClr val="000000"/>
                                          </a:solidFill>
                                          <a:latin typeface="Times New Roman"/>
                                          <a:ea typeface="宋体" panose="02010600030101010101" pitchFamily="2" charset="-122"/>
                                        </a:rPr>
                                        <m:t>y</m:t>
                                      </m:r>
                                    </m:e>
                                  </m:d>
                                  <m:r>
                                    <m:rPr>
                                      <m:nor/>
                                    </m:rPr>
                                    <a:rPr lang="zh-CN" altLang="en-US" sz="2000">
                                      <a:solidFill>
                                        <a:srgbClr val="000000"/>
                                      </a:solidFill>
                                      <a:latin typeface="Times New Roman"/>
                                      <a:ea typeface="宋体" panose="02010600030101010101" pitchFamily="2" charset="-122"/>
                                    </a:rPr>
                                    <m:t>1</m:t>
                                  </m:r>
                                </m:e>
                              </m:d>
                            </m:e>
                          </m:rad>
                        </m:e>
                      </m:nary>
                    </m:oMath>
                  </m:oMathPara>
                </a14:m>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r>
                  <a:rPr lang="zh-CN" altLang="en-US" sz="2000" dirty="0">
                    <a:solidFill>
                      <a:srgbClr val="000000"/>
                    </a:solidFill>
                    <a:latin typeface="Times New Roman"/>
                    <a:ea typeface="黑体" panose="02010609060101010101" pitchFamily="49" charset="-122"/>
                  </a:rPr>
                  <a:t>        主要通过信道容量分析极化码。</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14:m>
                  <m:oMathPara xmlns:m="http://schemas.openxmlformats.org/officeDocument/2006/math">
                    <m:oMathParaPr>
                      <m:jc m:val="centerGroup"/>
                    </m:oMathParaPr>
                    <m:oMath xmlns:m="http://schemas.openxmlformats.org/officeDocument/2006/math">
                      <m:r>
                        <m:rPr>
                          <m:nor/>
                        </m:rPr>
                        <a:rPr lang="en-US" altLang="zh-CN" sz="2000">
                          <a:solidFill>
                            <a:srgbClr val="000000"/>
                          </a:solidFill>
                          <a:latin typeface="Times New Roman"/>
                          <a:ea typeface="宋体" panose="02010600030101010101" pitchFamily="2" charset="-122"/>
                        </a:rPr>
                        <m:t>C</m:t>
                      </m:r>
                      <m:d>
                        <m:dPr>
                          <m:ctrlPr>
                            <a:rPr lang="en-US" altLang="zh-CN" sz="2000" i="1">
                              <a:solidFill>
                                <a:srgbClr val="000000"/>
                              </a:solidFill>
                              <a:latin typeface="Cambria Math" panose="02040503050406030204" pitchFamily="18" charset="0"/>
                            </a:rPr>
                          </m:ctrlPr>
                        </m:dPr>
                        <m:e>
                          <m:r>
                            <m:rPr>
                              <m:nor/>
                            </m:rPr>
                            <a:rPr lang="en-US" altLang="zh-CN" sz="2000">
                              <a:solidFill>
                                <a:srgbClr val="000000"/>
                              </a:solidFill>
                              <a:latin typeface="Times New Roman"/>
                              <a:ea typeface="宋体" panose="02010600030101010101" pitchFamily="2" charset="-122"/>
                            </a:rPr>
                            <m:t>W</m:t>
                          </m:r>
                        </m:e>
                      </m:d>
                      <m:r>
                        <m:rPr>
                          <m:nor/>
                        </m:rPr>
                        <a:rPr lang="en-US" altLang="zh-CN" sz="2000">
                          <a:solidFill>
                            <a:srgbClr val="000000"/>
                          </a:solidFill>
                          <a:latin typeface="Times New Roman"/>
                          <a:ea typeface="宋体" panose="02010600030101010101" pitchFamily="2" charset="-122"/>
                        </a:rPr>
                        <m:t>≥</m:t>
                      </m:r>
                      <m:func>
                        <m:funcPr>
                          <m:ctrlPr>
                            <a:rPr lang="en-US" altLang="zh-CN" sz="2000" i="1">
                              <a:solidFill>
                                <a:srgbClr val="000000"/>
                              </a:solidFill>
                              <a:latin typeface="Cambria Math" panose="02040503050406030204" pitchFamily="18" charset="0"/>
                            </a:rPr>
                          </m:ctrlPr>
                        </m:funcPr>
                        <m:fName>
                          <m:r>
                            <m:rPr>
                              <m:nor/>
                            </m:rPr>
                            <a:rPr lang="en-US" altLang="zh-CN" sz="2000">
                              <a:solidFill>
                                <a:srgbClr val="000000"/>
                              </a:solidFill>
                              <a:latin typeface="Times New Roman"/>
                              <a:ea typeface="宋体" panose="02010600030101010101" pitchFamily="2" charset="-122"/>
                            </a:rPr>
                            <m:t>log</m:t>
                          </m:r>
                        </m:fName>
                        <m:e>
                          <m:f>
                            <m:fPr>
                              <m:ctrlPr>
                                <a:rPr lang="en-US" altLang="zh-CN" sz="2000" i="1">
                                  <a:solidFill>
                                    <a:srgbClr val="000000"/>
                                  </a:solidFill>
                                  <a:latin typeface="Cambria Math" panose="02040503050406030204" pitchFamily="18" charset="0"/>
                                </a:rPr>
                              </m:ctrlPr>
                            </m:fPr>
                            <m:num>
                              <m:r>
                                <m:rPr>
                                  <m:nor/>
                                </m:rPr>
                                <a:rPr lang="en-US" altLang="zh-CN" sz="2000">
                                  <a:solidFill>
                                    <a:srgbClr val="000000"/>
                                  </a:solidFill>
                                  <a:latin typeface="Times New Roman"/>
                                  <a:ea typeface="宋体" panose="02010600030101010101" pitchFamily="2" charset="-122"/>
                                </a:rPr>
                                <m:t>2</m:t>
                              </m:r>
                            </m:num>
                            <m:den>
                              <m:r>
                                <m:rPr>
                                  <m:nor/>
                                </m:rPr>
                                <a:rPr lang="en-US" altLang="zh-CN" sz="2000">
                                  <a:solidFill>
                                    <a:srgbClr val="000000"/>
                                  </a:solidFill>
                                  <a:latin typeface="Times New Roman"/>
                                  <a:ea typeface="宋体" panose="02010600030101010101" pitchFamily="2" charset="-122"/>
                                </a:rPr>
                                <m:t>1+</m:t>
                              </m:r>
                              <m:r>
                                <m:rPr>
                                  <m:nor/>
                                </m:rPr>
                                <a:rPr lang="en-US" altLang="zh-CN" sz="2000">
                                  <a:solidFill>
                                    <a:srgbClr val="000000"/>
                                  </a:solidFill>
                                  <a:latin typeface="Times New Roman"/>
                                  <a:ea typeface="宋体" panose="02010600030101010101" pitchFamily="2" charset="-122"/>
                                </a:rPr>
                                <m:t>Z</m:t>
                              </m:r>
                              <m:d>
                                <m:dPr>
                                  <m:ctrlPr>
                                    <a:rPr lang="en-US" altLang="zh-CN" sz="2000" i="1">
                                      <a:solidFill>
                                        <a:srgbClr val="000000"/>
                                      </a:solidFill>
                                      <a:latin typeface="Cambria Math" panose="02040503050406030204" pitchFamily="18" charset="0"/>
                                    </a:rPr>
                                  </m:ctrlPr>
                                </m:dPr>
                                <m:e>
                                  <m:r>
                                    <m:rPr>
                                      <m:nor/>
                                    </m:rPr>
                                    <a:rPr lang="en-US" altLang="zh-CN" sz="2000">
                                      <a:solidFill>
                                        <a:srgbClr val="000000"/>
                                      </a:solidFill>
                                      <a:latin typeface="Times New Roman"/>
                                      <a:ea typeface="宋体" panose="02010600030101010101" pitchFamily="2" charset="-122"/>
                                    </a:rPr>
                                    <m:t>W</m:t>
                                  </m:r>
                                </m:e>
                              </m:d>
                            </m:den>
                          </m:f>
                        </m:e>
                      </m:func>
                    </m:oMath>
                  </m:oMathPara>
                </a14:m>
                <a:endParaRPr lang="en-US" altLang="zh-CN" sz="2000" dirty="0">
                  <a:solidFill>
                    <a:srgbClr val="000000"/>
                  </a:solidFill>
                  <a:latin typeface="Times New Roman"/>
                  <a:ea typeface="宋体" panose="02010600030101010101" pitchFamily="2" charset="-122"/>
                </a:endParaRPr>
              </a:p>
              <a:p>
                <a:pPr eaLnBrk="0" fontAlgn="base" hangingPunct="0">
                  <a:lnSpc>
                    <a:spcPct val="150000"/>
                  </a:lnSpc>
                  <a:defRPr/>
                </a:pPr>
                <a14:m>
                  <m:oMathPara xmlns:m="http://schemas.openxmlformats.org/officeDocument/2006/math">
                    <m:oMathParaPr>
                      <m:jc m:val="centerGroup"/>
                    </m:oMathParaPr>
                    <m:oMath xmlns:m="http://schemas.openxmlformats.org/officeDocument/2006/math">
                      <m:r>
                        <m:rPr>
                          <m:nor/>
                        </m:rPr>
                        <a:rPr lang="en-US" altLang="zh-CN" sz="2000">
                          <a:solidFill>
                            <a:srgbClr val="000000"/>
                          </a:solidFill>
                          <a:latin typeface="Times New Roman"/>
                          <a:ea typeface="宋体" panose="02010600030101010101" pitchFamily="2" charset="-122"/>
                        </a:rPr>
                        <m:t>C</m:t>
                      </m:r>
                      <m:d>
                        <m:dPr>
                          <m:ctrlPr>
                            <a:rPr lang="en-US" altLang="zh-CN" sz="2000" i="1">
                              <a:solidFill>
                                <a:srgbClr val="000000"/>
                              </a:solidFill>
                              <a:latin typeface="Cambria Math" panose="02040503050406030204" pitchFamily="18" charset="0"/>
                            </a:rPr>
                          </m:ctrlPr>
                        </m:dPr>
                        <m:e>
                          <m:r>
                            <m:rPr>
                              <m:nor/>
                            </m:rPr>
                            <a:rPr lang="en-US" altLang="zh-CN" sz="2000">
                              <a:solidFill>
                                <a:srgbClr val="000000"/>
                              </a:solidFill>
                              <a:latin typeface="Times New Roman"/>
                              <a:ea typeface="宋体" panose="02010600030101010101" pitchFamily="2" charset="-122"/>
                            </a:rPr>
                            <m:t>W</m:t>
                          </m:r>
                        </m:e>
                      </m:d>
                      <m:r>
                        <m:rPr>
                          <m:nor/>
                        </m:rPr>
                        <a:rPr lang="en-US" altLang="zh-CN" sz="2000">
                          <a:solidFill>
                            <a:srgbClr val="000000"/>
                          </a:solidFill>
                          <a:latin typeface="Times New Roman"/>
                          <a:ea typeface="宋体" panose="02010600030101010101" pitchFamily="2" charset="-122"/>
                        </a:rPr>
                        <m:t>≤</m:t>
                      </m:r>
                      <m:rad>
                        <m:radPr>
                          <m:degHide m:val="on"/>
                          <m:ctrlPr>
                            <a:rPr lang="en-US" altLang="zh-CN" sz="2000" i="1">
                              <a:solidFill>
                                <a:srgbClr val="000000"/>
                              </a:solidFill>
                              <a:latin typeface="Cambria Math" panose="02040503050406030204" pitchFamily="18" charset="0"/>
                            </a:rPr>
                          </m:ctrlPr>
                        </m:radPr>
                        <m:deg/>
                        <m:e>
                          <m:r>
                            <m:rPr>
                              <m:nor/>
                            </m:rPr>
                            <a:rPr lang="en-US" altLang="zh-CN" sz="2000">
                              <a:solidFill>
                                <a:srgbClr val="000000"/>
                              </a:solidFill>
                              <a:latin typeface="Times New Roman"/>
                              <a:ea typeface="宋体" panose="02010600030101010101" pitchFamily="2" charset="-122"/>
                            </a:rPr>
                            <m:t>1−</m:t>
                          </m:r>
                          <m:r>
                            <m:rPr>
                              <m:nor/>
                            </m:rPr>
                            <a:rPr lang="en-US" altLang="zh-CN" sz="2000">
                              <a:solidFill>
                                <a:srgbClr val="000000"/>
                              </a:solidFill>
                              <a:latin typeface="Times New Roman"/>
                              <a:ea typeface="宋体" panose="02010600030101010101" pitchFamily="2" charset="-122"/>
                            </a:rPr>
                            <m:t>Z</m:t>
                          </m:r>
                          <m:d>
                            <m:dPr>
                              <m:ctrlPr>
                                <a:rPr lang="en-US" altLang="zh-CN" sz="2000" i="1">
                                  <a:solidFill>
                                    <a:srgbClr val="000000"/>
                                  </a:solidFill>
                                  <a:latin typeface="Cambria Math" panose="02040503050406030204" pitchFamily="18" charset="0"/>
                                </a:rPr>
                              </m:ctrlPr>
                            </m:dPr>
                            <m:e>
                              <m:r>
                                <m:rPr>
                                  <m:nor/>
                                </m:rPr>
                                <a:rPr lang="en-US" altLang="zh-CN" sz="2000">
                                  <a:solidFill>
                                    <a:srgbClr val="000000"/>
                                  </a:solidFill>
                                  <a:latin typeface="Times New Roman"/>
                                  <a:ea typeface="宋体" panose="02010600030101010101" pitchFamily="2" charset="-122"/>
                                </a:rPr>
                                <m:t>W</m:t>
                              </m:r>
                            </m:e>
                          </m:d>
                          <m:r>
                            <m:rPr>
                              <m:nor/>
                            </m:rPr>
                            <a:rPr lang="en-US" altLang="zh-CN" sz="2000">
                              <a:solidFill>
                                <a:srgbClr val="000000"/>
                              </a:solidFill>
                              <a:latin typeface="Times New Roman"/>
                              <a:ea typeface="宋体" panose="02010600030101010101" pitchFamily="2" charset="-122"/>
                            </a:rPr>
                            <m:t>⋅</m:t>
                          </m:r>
                          <m:r>
                            <m:rPr>
                              <m:nor/>
                            </m:rPr>
                            <a:rPr lang="en-US" altLang="zh-CN" sz="2000">
                              <a:solidFill>
                                <a:srgbClr val="000000"/>
                              </a:solidFill>
                              <a:latin typeface="Times New Roman"/>
                              <a:ea typeface="宋体" panose="02010600030101010101" pitchFamily="2" charset="-122"/>
                            </a:rPr>
                            <m:t>Z</m:t>
                          </m:r>
                          <m:d>
                            <m:dPr>
                              <m:ctrlPr>
                                <a:rPr lang="en-US" altLang="zh-CN" sz="2000" i="1">
                                  <a:solidFill>
                                    <a:srgbClr val="000000"/>
                                  </a:solidFill>
                                  <a:latin typeface="Cambria Math" panose="02040503050406030204" pitchFamily="18" charset="0"/>
                                </a:rPr>
                              </m:ctrlPr>
                            </m:dPr>
                            <m:e>
                              <m:r>
                                <m:rPr>
                                  <m:nor/>
                                </m:rPr>
                                <a:rPr lang="en-US" altLang="zh-CN" sz="2000">
                                  <a:solidFill>
                                    <a:srgbClr val="000000"/>
                                  </a:solidFill>
                                  <a:latin typeface="Times New Roman"/>
                                  <a:ea typeface="宋体" panose="02010600030101010101" pitchFamily="2" charset="-122"/>
                                </a:rPr>
                                <m:t>W</m:t>
                              </m:r>
                            </m:e>
                          </m:d>
                        </m:e>
                      </m:rad>
                    </m:oMath>
                  </m:oMathPara>
                </a14:m>
                <a:endParaRPr lang="en-US" altLang="zh-CN" sz="2000" dirty="0">
                  <a:solidFill>
                    <a:srgbClr val="000000"/>
                  </a:solidFill>
                  <a:latin typeface="Times New Roman"/>
                  <a:ea typeface="黑体" panose="02010609060101010101" pitchFamily="49"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99028" y="840325"/>
                <a:ext cx="11716525" cy="5140574"/>
              </a:xfrm>
              <a:prstGeom prst="rect">
                <a:avLst/>
              </a:prstGeom>
              <a:blipFill>
                <a:blip r:embed="rId2"/>
                <a:stretch>
                  <a:fillRect l="-572" r="-156"/>
                </a:stretch>
              </a:blipFill>
            </p:spPr>
            <p:txBody>
              <a:bodyPr/>
              <a:lstStyle/>
              <a:p>
                <a:r>
                  <a:rPr lang="zh-CN" altLang="en-US">
                    <a:noFill/>
                  </a:rPr>
                  <a:t> </a:t>
                </a:r>
              </a:p>
            </p:txBody>
          </p:sp>
        </mc:Fallback>
      </mc:AlternateContent>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43763" y="154525"/>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xmlns:a14="http://schemas.microsoft.com/office/drawing/2010/main">
        <mc:Choice Requires="a14">
          <p:sp>
            <p:nvSpPr>
              <p:cNvPr id="9" name="文本框 8"/>
              <p:cNvSpPr txBox="1"/>
              <p:nvPr/>
            </p:nvSpPr>
            <p:spPr>
              <a:xfrm>
                <a:off x="1771877" y="1219259"/>
                <a:ext cx="8705622" cy="4135491"/>
              </a:xfrm>
              <a:prstGeom prst="rect">
                <a:avLst/>
              </a:prstGeom>
              <a:noFill/>
            </p:spPr>
            <p:txBody>
              <a:bodyPr wrap="square">
                <a:spAutoFit/>
              </a:bodyPr>
              <a:lstStyle/>
              <a:p>
                <a:pPr eaLnBrk="0" fontAlgn="base" hangingPunct="0">
                  <a:lnSpc>
                    <a:spcPct val="150000"/>
                  </a:lnSpc>
                  <a:defRPr/>
                </a:pPr>
                <a:r>
                  <a:rPr lang="zh-CN" altLang="en-US" sz="2000" dirty="0">
                    <a:solidFill>
                      <a:srgbClr val="000000"/>
                    </a:solidFill>
                    <a:latin typeface="Times New Roman"/>
                    <a:ea typeface="黑体" panose="02010609060101010101" pitchFamily="49" charset="-122"/>
                  </a:rPr>
                  <a:t>        因此，针对二进制删除信道（</a:t>
                </a:r>
                <a:r>
                  <a:rPr lang="en-US" altLang="zh-CN" sz="2000" dirty="0">
                    <a:solidFill>
                      <a:srgbClr val="000000"/>
                    </a:solidFill>
                    <a:latin typeface="Times New Roman"/>
                    <a:ea typeface="黑体" panose="02010609060101010101" pitchFamily="49" charset="-122"/>
                  </a:rPr>
                  <a:t>BEC</a:t>
                </a:r>
                <a:r>
                  <a:rPr lang="zh-CN" altLang="en-US" sz="2000" dirty="0">
                    <a:solidFill>
                      <a:srgbClr val="000000"/>
                    </a:solidFill>
                    <a:latin typeface="Times New Roman"/>
                    <a:ea typeface="黑体" panose="02010609060101010101" pitchFamily="49" charset="-122"/>
                  </a:rPr>
                  <a:t>），信道容量</a:t>
                </a:r>
                <a14:m>
                  <m:oMath xmlns:m="http://schemas.openxmlformats.org/officeDocument/2006/math">
                    <m:d>
                      <m:dPr>
                        <m:begChr m:val="{"/>
                        <m:endChr m:val="}"/>
                        <m:ctrlPr>
                          <a:rPr lang="zh-CN" altLang="en-US" sz="2000" i="1">
                            <a:solidFill>
                              <a:srgbClr val="000000"/>
                            </a:solidFill>
                            <a:latin typeface="Cambria Math" panose="02040503050406030204" pitchFamily="18" charset="0"/>
                          </a:rPr>
                        </m:ctrlPr>
                      </m:dPr>
                      <m:e>
                        <m:r>
                          <m:rPr>
                            <m:nor/>
                          </m:rPr>
                          <a:rPr lang="zh-CN" altLang="en-US" sz="2000">
                            <a:solidFill>
                              <a:srgbClr val="000000"/>
                            </a:solidFill>
                            <a:latin typeface="Times New Roman"/>
                            <a:ea typeface="宋体" panose="02010600030101010101" pitchFamily="2" charset="-122"/>
                          </a:rPr>
                          <m:t>I</m:t>
                        </m:r>
                        <m:d>
                          <m:dPr>
                            <m:ctrlPr>
                              <a:rPr lang="zh-CN" altLang="en-US" sz="2000" i="1">
                                <a:solidFill>
                                  <a:srgbClr val="000000"/>
                                </a:solidFill>
                                <a:latin typeface="Cambria Math" panose="02040503050406030204" pitchFamily="18" charset="0"/>
                              </a:rPr>
                            </m:ctrlPr>
                          </m:dPr>
                          <m:e>
                            <m:sSubSup>
                              <m:sSubSupPr>
                                <m:ctrlPr>
                                  <a:rPr lang="zh-CN" altLang="en-US" sz="2000" i="1">
                                    <a:solidFill>
                                      <a:srgbClr val="000000"/>
                                    </a:solidFill>
                                    <a:latin typeface="Cambria Math" panose="02040503050406030204" pitchFamily="18" charset="0"/>
                                  </a:rPr>
                                </m:ctrlPr>
                              </m:sSubSupPr>
                              <m:e>
                                <m:r>
                                  <m:rPr>
                                    <m:nor/>
                                  </m:rPr>
                                  <a:rPr lang="zh-CN" altLang="en-US" sz="2000">
                                    <a:solidFill>
                                      <a:srgbClr val="000000"/>
                                    </a:solidFill>
                                    <a:latin typeface="Times New Roman"/>
                                    <a:ea typeface="宋体" panose="02010600030101010101" pitchFamily="2" charset="-122"/>
                                  </a:rPr>
                                  <m:t>W</m:t>
                                </m:r>
                              </m:e>
                              <m:sub>
                                <m:r>
                                  <m:rPr>
                                    <m:nor/>
                                  </m:rPr>
                                  <a:rPr lang="zh-CN" altLang="en-US" sz="2000">
                                    <a:solidFill>
                                      <a:srgbClr val="000000"/>
                                    </a:solidFill>
                                    <a:latin typeface="Times New Roman"/>
                                    <a:ea typeface="宋体" panose="02010600030101010101" pitchFamily="2" charset="-122"/>
                                  </a:rPr>
                                  <m:t>N</m:t>
                                </m:r>
                              </m:sub>
                              <m:sup>
                                <m:d>
                                  <m:dPr>
                                    <m:ctrlPr>
                                      <a:rPr lang="zh-CN" altLang="en-US" sz="2000" i="1">
                                        <a:solidFill>
                                          <a:srgbClr val="000000"/>
                                        </a:solidFill>
                                        <a:latin typeface="Cambria Math" panose="02040503050406030204" pitchFamily="18" charset="0"/>
                                      </a:rPr>
                                    </m:ctrlPr>
                                  </m:dPr>
                                  <m:e>
                                    <m:r>
                                      <m:rPr>
                                        <m:nor/>
                                      </m:rPr>
                                      <a:rPr lang="zh-CN" altLang="en-US" sz="2000">
                                        <a:solidFill>
                                          <a:srgbClr val="000000"/>
                                        </a:solidFill>
                                        <a:latin typeface="Times New Roman"/>
                                        <a:ea typeface="宋体" panose="02010600030101010101" pitchFamily="2" charset="-122"/>
                                      </a:rPr>
                                      <m:t>i</m:t>
                                    </m:r>
                                  </m:e>
                                </m:d>
                              </m:sup>
                            </m:sSubSup>
                          </m:e>
                        </m:d>
                      </m:e>
                    </m:d>
                  </m:oMath>
                </a14:m>
                <a:r>
                  <a:rPr lang="zh-CN" altLang="en-US" sz="2000" dirty="0">
                    <a:solidFill>
                      <a:srgbClr val="000000"/>
                    </a:solidFill>
                    <a:latin typeface="Times New Roman"/>
                    <a:ea typeface="黑体" panose="02010609060101010101" pitchFamily="49" charset="-122"/>
                  </a:rPr>
                  <a:t>数据可以通过递归关系计算出来。</a:t>
                </a:r>
                <a:endParaRPr lang="en-US" altLang="zh-CN" sz="2000" dirty="0">
                  <a:solidFill>
                    <a:srgbClr val="000000"/>
                  </a:solidFill>
                  <a:latin typeface="Times New Roman"/>
                  <a:ea typeface="黑体" panose="02010609060101010101" pitchFamily="49" charset="-122"/>
                </a:endParaRPr>
              </a:p>
              <a:p>
                <a:pPr algn="ctr" eaLnBrk="0" fontAlgn="base" hangingPunct="0">
                  <a:lnSpc>
                    <a:spcPct val="150000"/>
                  </a:lnSpc>
                  <a:defRPr/>
                </a:pPr>
                <a14:m>
                  <m:oMath xmlns:m="http://schemas.openxmlformats.org/officeDocument/2006/math">
                    <m:r>
                      <m:rPr>
                        <m:nor/>
                      </m:rPr>
                      <a:rPr lang="zh-CN" altLang="en-US" sz="2000">
                        <a:solidFill>
                          <a:srgbClr val="000000"/>
                        </a:solidFill>
                        <a:latin typeface="Times New Roman"/>
                        <a:ea typeface="宋体" panose="02010600030101010101" pitchFamily="2" charset="-122"/>
                      </a:rPr>
                      <m:t>I</m:t>
                    </m:r>
                    <m:d>
                      <m:dPr>
                        <m:ctrlPr>
                          <a:rPr lang="zh-CN" altLang="en-US" sz="2000" i="1">
                            <a:solidFill>
                              <a:srgbClr val="000000"/>
                            </a:solidFill>
                            <a:latin typeface="Cambria Math" panose="02040503050406030204" pitchFamily="18" charset="0"/>
                          </a:rPr>
                        </m:ctrlPr>
                      </m:dPr>
                      <m:e>
                        <m:sSubSup>
                          <m:sSubSupPr>
                            <m:ctrlPr>
                              <a:rPr lang="zh-CN" altLang="en-US" sz="2000" i="1">
                                <a:solidFill>
                                  <a:srgbClr val="000000"/>
                                </a:solidFill>
                                <a:latin typeface="Cambria Math" panose="02040503050406030204" pitchFamily="18" charset="0"/>
                              </a:rPr>
                            </m:ctrlPr>
                          </m:sSubSupPr>
                          <m:e>
                            <m:r>
                              <m:rPr>
                                <m:nor/>
                              </m:rPr>
                              <a:rPr lang="zh-CN" altLang="en-US" sz="2000">
                                <a:solidFill>
                                  <a:srgbClr val="000000"/>
                                </a:solidFill>
                                <a:latin typeface="Times New Roman"/>
                                <a:ea typeface="宋体" panose="02010600030101010101" pitchFamily="2" charset="-122"/>
                              </a:rPr>
                              <m:t>W</m:t>
                            </m:r>
                          </m:e>
                          <m:sub>
                            <m:r>
                              <m:rPr>
                                <m:nor/>
                              </m:rPr>
                              <a:rPr lang="zh-CN" altLang="en-US" sz="2000">
                                <a:solidFill>
                                  <a:srgbClr val="000000"/>
                                </a:solidFill>
                                <a:latin typeface="Times New Roman"/>
                                <a:ea typeface="宋体" panose="02010600030101010101" pitchFamily="2" charset="-122"/>
                              </a:rPr>
                              <m:t>N</m:t>
                            </m:r>
                          </m:sub>
                          <m:sup>
                            <m:d>
                              <m:dPr>
                                <m:ctrlPr>
                                  <a:rPr lang="zh-CN" altLang="en-US" sz="2000" i="1">
                                    <a:solidFill>
                                      <a:srgbClr val="000000"/>
                                    </a:solidFill>
                                    <a:latin typeface="Cambria Math" panose="02040503050406030204" pitchFamily="18" charset="0"/>
                                  </a:rPr>
                                </m:ctrlPr>
                              </m:dPr>
                              <m:e>
                                <m:r>
                                  <m:rPr>
                                    <m:nor/>
                                  </m:rPr>
                                  <a:rPr lang="en-US" altLang="zh-CN" sz="2000">
                                    <a:solidFill>
                                      <a:srgbClr val="000000"/>
                                    </a:solidFill>
                                    <a:latin typeface="Times New Roman"/>
                                    <a:ea typeface="宋体" panose="02010600030101010101" pitchFamily="2" charset="-122"/>
                                  </a:rPr>
                                  <m:t>2</m:t>
                                </m:r>
                                <m:r>
                                  <m:rPr>
                                    <m:nor/>
                                  </m:rPr>
                                  <a:rPr lang="zh-CN" altLang="en-US" sz="2000">
                                    <a:solidFill>
                                      <a:srgbClr val="000000"/>
                                    </a:solidFill>
                                    <a:latin typeface="Times New Roman"/>
                                    <a:ea typeface="宋体" panose="02010600030101010101" pitchFamily="2" charset="-122"/>
                                  </a:rPr>
                                  <m:t>i</m:t>
                                </m:r>
                                <m:r>
                                  <m:rPr>
                                    <m:nor/>
                                  </m:rPr>
                                  <a:rPr lang="en-US" altLang="zh-CN" sz="2000">
                                    <a:solidFill>
                                      <a:srgbClr val="000000"/>
                                    </a:solidFill>
                                    <a:latin typeface="Times New Roman"/>
                                    <a:ea typeface="宋体" panose="02010600030101010101" pitchFamily="2" charset="-122"/>
                                  </a:rPr>
                                  <m:t>−1</m:t>
                                </m:r>
                              </m:e>
                            </m:d>
                          </m:sup>
                        </m:sSubSup>
                      </m:e>
                    </m:d>
                  </m:oMath>
                </a14:m>
                <a:r>
                  <a:rPr lang="en-US" altLang="zh-CN" sz="2000" dirty="0">
                    <a:solidFill>
                      <a:srgbClr val="000000"/>
                    </a:solidFill>
                    <a:latin typeface="Times New Roman"/>
                    <a:ea typeface="黑体" panose="02010609060101010101" pitchFamily="49" charset="-122"/>
                  </a:rPr>
                  <a:t>=</a:t>
                </a:r>
                <a:r>
                  <a:rPr lang="zh-CN" altLang="en-US" sz="2000" dirty="0">
                    <a:solidFill>
                      <a:srgbClr val="000000"/>
                    </a:solidFill>
                    <a:latin typeface="Times New Roman"/>
                    <a:ea typeface="宋体" panose="02010600030101010101" pitchFamily="2" charset="-122"/>
                  </a:rPr>
                  <a:t> </a:t>
                </a:r>
                <a14:m>
                  <m:oMath xmlns:m="http://schemas.openxmlformats.org/officeDocument/2006/math">
                    <m:sSup>
                      <m:sSupPr>
                        <m:ctrlPr>
                          <a:rPr lang="en-US" altLang="zh-CN" sz="2000" i="1">
                            <a:solidFill>
                              <a:srgbClr val="000000"/>
                            </a:solidFill>
                            <a:latin typeface="Cambria Math" panose="02040503050406030204" pitchFamily="18" charset="0"/>
                          </a:rPr>
                        </m:ctrlPr>
                      </m:sSupPr>
                      <m:e>
                        <m:r>
                          <m:rPr>
                            <m:nor/>
                          </m:rPr>
                          <a:rPr lang="zh-CN" altLang="en-US" sz="2000">
                            <a:solidFill>
                              <a:srgbClr val="000000"/>
                            </a:solidFill>
                            <a:latin typeface="Times New Roman"/>
                            <a:ea typeface="宋体" panose="02010600030101010101" pitchFamily="2" charset="-122"/>
                          </a:rPr>
                          <m:t>I</m:t>
                        </m:r>
                        <m:d>
                          <m:dPr>
                            <m:ctrlPr>
                              <a:rPr lang="zh-CN" altLang="en-US" sz="2000" i="1">
                                <a:solidFill>
                                  <a:srgbClr val="000000"/>
                                </a:solidFill>
                                <a:latin typeface="Cambria Math" panose="02040503050406030204" pitchFamily="18" charset="0"/>
                              </a:rPr>
                            </m:ctrlPr>
                          </m:dPr>
                          <m:e>
                            <m:sSubSup>
                              <m:sSubSupPr>
                                <m:ctrlPr>
                                  <a:rPr lang="zh-CN" altLang="en-US" sz="2000" i="1">
                                    <a:solidFill>
                                      <a:srgbClr val="000000"/>
                                    </a:solidFill>
                                    <a:latin typeface="Cambria Math" panose="02040503050406030204" pitchFamily="18" charset="0"/>
                                  </a:rPr>
                                </m:ctrlPr>
                              </m:sSubSupPr>
                              <m:e>
                                <m:r>
                                  <m:rPr>
                                    <m:nor/>
                                  </m:rPr>
                                  <a:rPr lang="zh-CN" altLang="en-US" sz="2000">
                                    <a:solidFill>
                                      <a:srgbClr val="000000"/>
                                    </a:solidFill>
                                    <a:latin typeface="Times New Roman"/>
                                    <a:ea typeface="宋体" panose="02010600030101010101" pitchFamily="2" charset="-122"/>
                                  </a:rPr>
                                  <m:t>W</m:t>
                                </m:r>
                              </m:e>
                              <m:sub>
                                <m:r>
                                  <m:rPr>
                                    <m:nor/>
                                  </m:rPr>
                                  <a:rPr lang="zh-CN" altLang="en-US" sz="2000">
                                    <a:solidFill>
                                      <a:srgbClr val="000000"/>
                                    </a:solidFill>
                                    <a:latin typeface="Times New Roman"/>
                                    <a:ea typeface="宋体" panose="02010600030101010101" pitchFamily="2" charset="-122"/>
                                  </a:rPr>
                                  <m:t>N</m:t>
                                </m:r>
                                <m:r>
                                  <m:rPr>
                                    <m:nor/>
                                  </m:rPr>
                                  <a:rPr lang="en-US" altLang="zh-CN" sz="2000">
                                    <a:solidFill>
                                      <a:srgbClr val="000000"/>
                                    </a:solidFill>
                                    <a:latin typeface="Times New Roman"/>
                                    <a:ea typeface="宋体" panose="02010600030101010101" pitchFamily="2" charset="-122"/>
                                  </a:rPr>
                                  <m:t>/2</m:t>
                                </m:r>
                              </m:sub>
                              <m:sup>
                                <m:d>
                                  <m:dPr>
                                    <m:ctrlPr>
                                      <a:rPr lang="zh-CN" altLang="en-US" sz="2000" i="1">
                                        <a:solidFill>
                                          <a:srgbClr val="000000"/>
                                        </a:solidFill>
                                        <a:latin typeface="Cambria Math" panose="02040503050406030204" pitchFamily="18" charset="0"/>
                                      </a:rPr>
                                    </m:ctrlPr>
                                  </m:dPr>
                                  <m:e>
                                    <m:r>
                                      <m:rPr>
                                        <m:nor/>
                                      </m:rPr>
                                      <a:rPr lang="zh-CN" altLang="en-US" sz="2000">
                                        <a:solidFill>
                                          <a:srgbClr val="000000"/>
                                        </a:solidFill>
                                        <a:latin typeface="Times New Roman"/>
                                        <a:ea typeface="宋体" panose="02010600030101010101" pitchFamily="2" charset="-122"/>
                                      </a:rPr>
                                      <m:t>i</m:t>
                                    </m:r>
                                  </m:e>
                                </m:d>
                              </m:sup>
                            </m:sSubSup>
                          </m:e>
                        </m:d>
                      </m:e>
                      <m:sup>
                        <m:r>
                          <m:rPr>
                            <m:nor/>
                          </m:rPr>
                          <a:rPr lang="en-US" altLang="zh-CN" sz="2000">
                            <a:solidFill>
                              <a:srgbClr val="000000"/>
                            </a:solidFill>
                            <a:latin typeface="Times New Roman"/>
                            <a:ea typeface="宋体" panose="02010600030101010101" pitchFamily="2" charset="-122"/>
                          </a:rPr>
                          <m:t>2</m:t>
                        </m:r>
                      </m:sup>
                    </m:sSup>
                  </m:oMath>
                </a14:m>
                <a:endParaRPr lang="en-US" altLang="zh-CN" sz="2000" dirty="0">
                  <a:solidFill>
                    <a:srgbClr val="000000"/>
                  </a:solidFill>
                  <a:latin typeface="Times New Roman"/>
                  <a:ea typeface="黑体" panose="02010609060101010101" pitchFamily="49" charset="-122"/>
                </a:endParaRPr>
              </a:p>
              <a:p>
                <a:pPr algn="ctr" eaLnBrk="0" fontAlgn="base" hangingPunct="0">
                  <a:lnSpc>
                    <a:spcPct val="150000"/>
                  </a:lnSpc>
                  <a:defRPr/>
                </a:pPr>
                <a14:m>
                  <m:oMath xmlns:m="http://schemas.openxmlformats.org/officeDocument/2006/math">
                    <m:r>
                      <m:rPr>
                        <m:nor/>
                      </m:rPr>
                      <a:rPr lang="zh-CN" altLang="en-US" sz="2000">
                        <a:solidFill>
                          <a:srgbClr val="000000"/>
                        </a:solidFill>
                        <a:latin typeface="Times New Roman"/>
                        <a:ea typeface="宋体" panose="02010600030101010101" pitchFamily="2" charset="-122"/>
                      </a:rPr>
                      <m:t>I</m:t>
                    </m:r>
                    <m:d>
                      <m:dPr>
                        <m:ctrlPr>
                          <a:rPr lang="zh-CN" altLang="en-US" sz="2000" i="1">
                            <a:solidFill>
                              <a:srgbClr val="000000"/>
                            </a:solidFill>
                            <a:latin typeface="Cambria Math" panose="02040503050406030204" pitchFamily="18" charset="0"/>
                          </a:rPr>
                        </m:ctrlPr>
                      </m:dPr>
                      <m:e>
                        <m:sSubSup>
                          <m:sSubSupPr>
                            <m:ctrlPr>
                              <a:rPr lang="zh-CN" altLang="en-US" sz="2000" i="1">
                                <a:solidFill>
                                  <a:srgbClr val="000000"/>
                                </a:solidFill>
                                <a:latin typeface="Cambria Math" panose="02040503050406030204" pitchFamily="18" charset="0"/>
                              </a:rPr>
                            </m:ctrlPr>
                          </m:sSubSupPr>
                          <m:e>
                            <m:r>
                              <m:rPr>
                                <m:nor/>
                              </m:rPr>
                              <a:rPr lang="zh-CN" altLang="en-US" sz="2000">
                                <a:solidFill>
                                  <a:srgbClr val="000000"/>
                                </a:solidFill>
                                <a:latin typeface="Times New Roman"/>
                                <a:ea typeface="宋体" panose="02010600030101010101" pitchFamily="2" charset="-122"/>
                              </a:rPr>
                              <m:t>W</m:t>
                            </m:r>
                          </m:e>
                          <m:sub>
                            <m:r>
                              <m:rPr>
                                <m:nor/>
                              </m:rPr>
                              <a:rPr lang="zh-CN" altLang="en-US" sz="2000">
                                <a:solidFill>
                                  <a:srgbClr val="000000"/>
                                </a:solidFill>
                                <a:latin typeface="Times New Roman"/>
                                <a:ea typeface="宋体" panose="02010600030101010101" pitchFamily="2" charset="-122"/>
                              </a:rPr>
                              <m:t>N</m:t>
                            </m:r>
                          </m:sub>
                          <m:sup>
                            <m:d>
                              <m:dPr>
                                <m:ctrlPr>
                                  <a:rPr lang="zh-CN" altLang="en-US" sz="2000" i="1">
                                    <a:solidFill>
                                      <a:srgbClr val="000000"/>
                                    </a:solidFill>
                                    <a:latin typeface="Cambria Math" panose="02040503050406030204" pitchFamily="18" charset="0"/>
                                  </a:rPr>
                                </m:ctrlPr>
                              </m:dPr>
                              <m:e>
                                <m:r>
                                  <m:rPr>
                                    <m:nor/>
                                  </m:rPr>
                                  <a:rPr lang="en-US" altLang="zh-CN" sz="2000">
                                    <a:solidFill>
                                      <a:srgbClr val="000000"/>
                                    </a:solidFill>
                                    <a:latin typeface="Times New Roman"/>
                                    <a:ea typeface="宋体" panose="02010600030101010101" pitchFamily="2" charset="-122"/>
                                  </a:rPr>
                                  <m:t>2</m:t>
                                </m:r>
                                <m:r>
                                  <m:rPr>
                                    <m:nor/>
                                  </m:rPr>
                                  <a:rPr lang="zh-CN" altLang="en-US" sz="2000">
                                    <a:solidFill>
                                      <a:srgbClr val="000000"/>
                                    </a:solidFill>
                                    <a:latin typeface="Times New Roman"/>
                                    <a:ea typeface="宋体" panose="02010600030101010101" pitchFamily="2" charset="-122"/>
                                  </a:rPr>
                                  <m:t>i</m:t>
                                </m:r>
                              </m:e>
                            </m:d>
                          </m:sup>
                        </m:sSubSup>
                      </m:e>
                    </m:d>
                  </m:oMath>
                </a14:m>
                <a:r>
                  <a:rPr lang="en-US" altLang="zh-CN" sz="2000" dirty="0">
                    <a:solidFill>
                      <a:srgbClr val="000000"/>
                    </a:solidFill>
                    <a:latin typeface="Times New Roman"/>
                    <a:ea typeface="黑体" panose="02010609060101010101" pitchFamily="49" charset="-122"/>
                  </a:rPr>
                  <a:t>=2</a:t>
                </a:r>
                <a14:m>
                  <m:oMath xmlns:m="http://schemas.openxmlformats.org/officeDocument/2006/math">
                    <m:r>
                      <m:rPr>
                        <m:nor/>
                      </m:rPr>
                      <a:rPr lang="zh-CN" altLang="en-US" sz="2000">
                        <a:solidFill>
                          <a:srgbClr val="000000"/>
                        </a:solidFill>
                        <a:latin typeface="Times New Roman"/>
                        <a:ea typeface="宋体" panose="02010600030101010101" pitchFamily="2" charset="-122"/>
                      </a:rPr>
                      <m:t>I</m:t>
                    </m:r>
                    <m:d>
                      <m:dPr>
                        <m:ctrlPr>
                          <a:rPr lang="zh-CN" altLang="en-US" sz="2000" i="1">
                            <a:solidFill>
                              <a:srgbClr val="000000"/>
                            </a:solidFill>
                            <a:latin typeface="Cambria Math" panose="02040503050406030204" pitchFamily="18" charset="0"/>
                          </a:rPr>
                        </m:ctrlPr>
                      </m:dPr>
                      <m:e>
                        <m:sSubSup>
                          <m:sSubSupPr>
                            <m:ctrlPr>
                              <a:rPr lang="zh-CN" altLang="en-US" sz="2000" i="1">
                                <a:solidFill>
                                  <a:srgbClr val="000000"/>
                                </a:solidFill>
                                <a:latin typeface="Cambria Math" panose="02040503050406030204" pitchFamily="18" charset="0"/>
                              </a:rPr>
                            </m:ctrlPr>
                          </m:sSubSupPr>
                          <m:e>
                            <m:r>
                              <m:rPr>
                                <m:nor/>
                              </m:rPr>
                              <a:rPr lang="zh-CN" altLang="en-US" sz="2000">
                                <a:solidFill>
                                  <a:srgbClr val="000000"/>
                                </a:solidFill>
                                <a:latin typeface="Times New Roman"/>
                                <a:ea typeface="宋体" panose="02010600030101010101" pitchFamily="2" charset="-122"/>
                              </a:rPr>
                              <m:t>W</m:t>
                            </m:r>
                          </m:e>
                          <m:sub>
                            <m:r>
                              <m:rPr>
                                <m:nor/>
                              </m:rPr>
                              <a:rPr lang="zh-CN" altLang="en-US" sz="2000">
                                <a:solidFill>
                                  <a:srgbClr val="000000"/>
                                </a:solidFill>
                                <a:latin typeface="Times New Roman"/>
                                <a:ea typeface="宋体" panose="02010600030101010101" pitchFamily="2" charset="-122"/>
                              </a:rPr>
                              <m:t>N</m:t>
                            </m:r>
                            <m:r>
                              <m:rPr>
                                <m:nor/>
                              </m:rPr>
                              <a:rPr lang="en-US" altLang="zh-CN" sz="2000">
                                <a:solidFill>
                                  <a:srgbClr val="000000"/>
                                </a:solidFill>
                                <a:latin typeface="Times New Roman"/>
                                <a:ea typeface="宋体" panose="02010600030101010101" pitchFamily="2" charset="-122"/>
                              </a:rPr>
                              <m:t>/2</m:t>
                            </m:r>
                          </m:sub>
                          <m:sup>
                            <m:d>
                              <m:dPr>
                                <m:ctrlPr>
                                  <a:rPr lang="zh-CN" altLang="en-US" sz="2000" i="1">
                                    <a:solidFill>
                                      <a:srgbClr val="000000"/>
                                    </a:solidFill>
                                    <a:latin typeface="Cambria Math" panose="02040503050406030204" pitchFamily="18" charset="0"/>
                                  </a:rPr>
                                </m:ctrlPr>
                              </m:dPr>
                              <m:e>
                                <m:r>
                                  <m:rPr>
                                    <m:nor/>
                                  </m:rPr>
                                  <a:rPr lang="en-US" altLang="zh-CN" sz="2000">
                                    <a:solidFill>
                                      <a:srgbClr val="000000"/>
                                    </a:solidFill>
                                    <a:latin typeface="Times New Roman"/>
                                    <a:ea typeface="宋体" panose="02010600030101010101" pitchFamily="2" charset="-122"/>
                                  </a:rPr>
                                  <m:t>2</m:t>
                                </m:r>
                                <m:r>
                                  <m:rPr>
                                    <m:nor/>
                                  </m:rPr>
                                  <a:rPr lang="zh-CN" altLang="en-US" sz="2000">
                                    <a:solidFill>
                                      <a:srgbClr val="000000"/>
                                    </a:solidFill>
                                    <a:latin typeface="Times New Roman"/>
                                    <a:ea typeface="宋体" panose="02010600030101010101" pitchFamily="2" charset="-122"/>
                                  </a:rPr>
                                  <m:t>i</m:t>
                                </m:r>
                              </m:e>
                            </m:d>
                          </m:sup>
                        </m:sSubSup>
                      </m:e>
                    </m:d>
                  </m:oMath>
                </a14:m>
                <a:r>
                  <a:rPr lang="en-US" altLang="zh-CN" sz="2000" dirty="0">
                    <a:solidFill>
                      <a:srgbClr val="000000"/>
                    </a:solidFill>
                    <a:latin typeface="Times New Roman"/>
                    <a:ea typeface="黑体" panose="02010609060101010101" pitchFamily="49" charset="-122"/>
                  </a:rPr>
                  <a:t>-</a:t>
                </a:r>
                <a14:m>
                  <m:oMath xmlns:m="http://schemas.openxmlformats.org/officeDocument/2006/math">
                    <m:sSup>
                      <m:sSupPr>
                        <m:ctrlPr>
                          <a:rPr lang="en-US" altLang="zh-CN" sz="2000" i="1">
                            <a:solidFill>
                              <a:srgbClr val="000000"/>
                            </a:solidFill>
                            <a:latin typeface="Cambria Math" panose="02040503050406030204" pitchFamily="18" charset="0"/>
                          </a:rPr>
                        </m:ctrlPr>
                      </m:sSupPr>
                      <m:e>
                        <m:r>
                          <m:rPr>
                            <m:nor/>
                          </m:rPr>
                          <a:rPr lang="zh-CN" altLang="en-US" sz="2000">
                            <a:solidFill>
                              <a:srgbClr val="000000"/>
                            </a:solidFill>
                            <a:latin typeface="Times New Roman"/>
                            <a:ea typeface="宋体" panose="02010600030101010101" pitchFamily="2" charset="-122"/>
                          </a:rPr>
                          <m:t>I</m:t>
                        </m:r>
                        <m:d>
                          <m:dPr>
                            <m:ctrlPr>
                              <a:rPr lang="zh-CN" altLang="en-US" sz="2000" i="1">
                                <a:solidFill>
                                  <a:srgbClr val="000000"/>
                                </a:solidFill>
                                <a:latin typeface="Cambria Math" panose="02040503050406030204" pitchFamily="18" charset="0"/>
                              </a:rPr>
                            </m:ctrlPr>
                          </m:dPr>
                          <m:e>
                            <m:sSubSup>
                              <m:sSubSupPr>
                                <m:ctrlPr>
                                  <a:rPr lang="zh-CN" altLang="en-US" sz="2000" i="1">
                                    <a:solidFill>
                                      <a:srgbClr val="000000"/>
                                    </a:solidFill>
                                    <a:latin typeface="Cambria Math" panose="02040503050406030204" pitchFamily="18" charset="0"/>
                                  </a:rPr>
                                </m:ctrlPr>
                              </m:sSubSupPr>
                              <m:e>
                                <m:r>
                                  <m:rPr>
                                    <m:nor/>
                                  </m:rPr>
                                  <a:rPr lang="zh-CN" altLang="en-US" sz="2000">
                                    <a:solidFill>
                                      <a:srgbClr val="000000"/>
                                    </a:solidFill>
                                    <a:latin typeface="Times New Roman"/>
                                    <a:ea typeface="宋体" panose="02010600030101010101" pitchFamily="2" charset="-122"/>
                                  </a:rPr>
                                  <m:t>W</m:t>
                                </m:r>
                              </m:e>
                              <m:sub>
                                <m:r>
                                  <m:rPr>
                                    <m:nor/>
                                  </m:rPr>
                                  <a:rPr lang="zh-CN" altLang="en-US" sz="2000">
                                    <a:solidFill>
                                      <a:srgbClr val="000000"/>
                                    </a:solidFill>
                                    <a:latin typeface="Times New Roman"/>
                                    <a:ea typeface="宋体" panose="02010600030101010101" pitchFamily="2" charset="-122"/>
                                  </a:rPr>
                                  <m:t>N</m:t>
                                </m:r>
                                <m:r>
                                  <m:rPr>
                                    <m:nor/>
                                  </m:rPr>
                                  <a:rPr lang="en-US" altLang="zh-CN" sz="2000">
                                    <a:solidFill>
                                      <a:srgbClr val="000000"/>
                                    </a:solidFill>
                                    <a:latin typeface="Times New Roman"/>
                                    <a:ea typeface="宋体" panose="02010600030101010101" pitchFamily="2" charset="-122"/>
                                  </a:rPr>
                                  <m:t>/2</m:t>
                                </m:r>
                              </m:sub>
                              <m:sup>
                                <m:d>
                                  <m:dPr>
                                    <m:ctrlPr>
                                      <a:rPr lang="zh-CN" altLang="en-US" sz="2000" i="1">
                                        <a:solidFill>
                                          <a:srgbClr val="000000"/>
                                        </a:solidFill>
                                        <a:latin typeface="Cambria Math" panose="02040503050406030204" pitchFamily="18" charset="0"/>
                                      </a:rPr>
                                    </m:ctrlPr>
                                  </m:dPr>
                                  <m:e>
                                    <m:r>
                                      <m:rPr>
                                        <m:nor/>
                                      </m:rPr>
                                      <a:rPr lang="zh-CN" altLang="en-US" sz="2000">
                                        <a:solidFill>
                                          <a:srgbClr val="000000"/>
                                        </a:solidFill>
                                        <a:latin typeface="Times New Roman"/>
                                        <a:ea typeface="宋体" panose="02010600030101010101" pitchFamily="2" charset="-122"/>
                                      </a:rPr>
                                      <m:t>i</m:t>
                                    </m:r>
                                  </m:e>
                                </m:d>
                              </m:sup>
                            </m:sSubSup>
                          </m:e>
                        </m:d>
                      </m:e>
                      <m:sup>
                        <m:r>
                          <m:rPr>
                            <m:nor/>
                          </m:rPr>
                          <a:rPr lang="en-US" altLang="zh-CN" sz="2000">
                            <a:solidFill>
                              <a:srgbClr val="000000"/>
                            </a:solidFill>
                            <a:latin typeface="Times New Roman"/>
                            <a:ea typeface="宋体" panose="02010600030101010101" pitchFamily="2" charset="-122"/>
                          </a:rPr>
                          <m:t>2</m:t>
                        </m:r>
                      </m:sup>
                    </m:sSup>
                  </m:oMath>
                </a14:m>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r>
                  <a:rPr lang="zh-CN" altLang="en-US" sz="2000" dirty="0">
                    <a:solidFill>
                      <a:srgbClr val="000000"/>
                    </a:solidFill>
                    <a:latin typeface="Times New Roman"/>
                    <a:ea typeface="黑体" panose="02010609060101010101" pitchFamily="49" charset="-122"/>
                  </a:rPr>
                  <a:t>        其中</a:t>
                </a:r>
                <a14:m>
                  <m:oMath xmlns:m="http://schemas.openxmlformats.org/officeDocument/2006/math">
                    <m:r>
                      <m:rPr>
                        <m:nor/>
                      </m:rPr>
                      <a:rPr lang="zh-CN" altLang="en-US" sz="2000">
                        <a:solidFill>
                          <a:srgbClr val="000000"/>
                        </a:solidFill>
                        <a:latin typeface="Times New Roman"/>
                        <a:ea typeface="宋体" panose="02010600030101010101" pitchFamily="2" charset="-122"/>
                      </a:rPr>
                      <m:t>I</m:t>
                    </m:r>
                    <m:d>
                      <m:dPr>
                        <m:ctrlPr>
                          <a:rPr lang="zh-CN" altLang="en-US" sz="2000" i="1">
                            <a:solidFill>
                              <a:srgbClr val="000000"/>
                            </a:solidFill>
                            <a:latin typeface="Cambria Math" panose="02040503050406030204" pitchFamily="18" charset="0"/>
                          </a:rPr>
                        </m:ctrlPr>
                      </m:dPr>
                      <m:e>
                        <m:sSubSup>
                          <m:sSubSupPr>
                            <m:ctrlPr>
                              <a:rPr lang="zh-CN" altLang="en-US" sz="2000" i="1">
                                <a:solidFill>
                                  <a:srgbClr val="000000"/>
                                </a:solidFill>
                                <a:latin typeface="Cambria Math" panose="02040503050406030204" pitchFamily="18" charset="0"/>
                              </a:rPr>
                            </m:ctrlPr>
                          </m:sSubSupPr>
                          <m:e>
                            <m:r>
                              <m:rPr>
                                <m:nor/>
                              </m:rPr>
                              <a:rPr lang="zh-CN" altLang="en-US" sz="2000">
                                <a:solidFill>
                                  <a:srgbClr val="000000"/>
                                </a:solidFill>
                                <a:latin typeface="Times New Roman"/>
                                <a:ea typeface="宋体" panose="02010600030101010101" pitchFamily="2" charset="-122"/>
                              </a:rPr>
                              <m:t>W</m:t>
                            </m:r>
                          </m:e>
                          <m:sub>
                            <m:r>
                              <m:rPr>
                                <m:nor/>
                              </m:rPr>
                              <a:rPr lang="en-US" altLang="zh-CN" sz="2000">
                                <a:solidFill>
                                  <a:srgbClr val="000000"/>
                                </a:solidFill>
                                <a:latin typeface="Cambria Math" panose="02040503050406030204" pitchFamily="18" charset="0"/>
                                <a:ea typeface="宋体" panose="02010600030101010101" pitchFamily="2" charset="-122"/>
                              </a:rPr>
                              <m:t>1</m:t>
                            </m:r>
                          </m:sub>
                          <m:sup>
                            <m:d>
                              <m:dPr>
                                <m:ctrlPr>
                                  <a:rPr lang="zh-CN" altLang="en-US" sz="2000" i="1">
                                    <a:solidFill>
                                      <a:srgbClr val="000000"/>
                                    </a:solidFill>
                                    <a:latin typeface="Cambria Math" panose="02040503050406030204" pitchFamily="18" charset="0"/>
                                  </a:rPr>
                                </m:ctrlPr>
                              </m:dPr>
                              <m:e>
                                <m:r>
                                  <m:rPr>
                                    <m:nor/>
                                  </m:rPr>
                                  <a:rPr lang="en-US" altLang="zh-CN" sz="2000">
                                    <a:solidFill>
                                      <a:srgbClr val="000000"/>
                                    </a:solidFill>
                                    <a:latin typeface="Cambria Math" panose="02040503050406030204" pitchFamily="18" charset="0"/>
                                    <a:ea typeface="宋体" panose="02010600030101010101" pitchFamily="2" charset="-122"/>
                                  </a:rPr>
                                  <m:t>1</m:t>
                                </m:r>
                              </m:e>
                            </m:d>
                          </m:sup>
                        </m:sSubSup>
                      </m:e>
                    </m:d>
                  </m:oMath>
                </a14:m>
                <a:r>
                  <a:rPr lang="en-US" altLang="zh-CN" sz="2000" dirty="0">
                    <a:solidFill>
                      <a:srgbClr val="000000"/>
                    </a:solidFill>
                    <a:latin typeface="Times New Roman"/>
                    <a:ea typeface="黑体" panose="02010609060101010101" pitchFamily="49" charset="-122"/>
                  </a:rPr>
                  <a:t>=1-</a:t>
                </a:r>
                <a14:m>
                  <m:oMath xmlns:m="http://schemas.openxmlformats.org/officeDocument/2006/math">
                    <m:r>
                      <a:rPr lang="zh-CN" altLang="en-US" sz="2000" i="1">
                        <a:solidFill>
                          <a:srgbClr val="000000"/>
                        </a:solidFill>
                        <a:latin typeface="Cambria Math" panose="02040503050406030204" pitchFamily="18" charset="0"/>
                        <a:ea typeface="黑体" panose="02010609060101010101" pitchFamily="49" charset="-122"/>
                      </a:rPr>
                      <m:t>𝜀</m:t>
                    </m:r>
                  </m:oMath>
                </a14:m>
                <a:r>
                  <a:rPr lang="zh-CN" altLang="en-US" sz="2000" dirty="0">
                    <a:solidFill>
                      <a:srgbClr val="000000"/>
                    </a:solidFill>
                    <a:latin typeface="Times New Roman"/>
                    <a:ea typeface="黑体" panose="02010609060101010101" pitchFamily="49" charset="-122"/>
                  </a:rPr>
                  <a:t>，删除概率</a:t>
                </a:r>
                <a14:m>
                  <m:oMath xmlns:m="http://schemas.openxmlformats.org/officeDocument/2006/math">
                    <m:r>
                      <a:rPr lang="zh-CN" altLang="en-US" sz="2000" i="1">
                        <a:solidFill>
                          <a:srgbClr val="000000"/>
                        </a:solidFill>
                        <a:latin typeface="Cambria Math" panose="02040503050406030204" pitchFamily="18" charset="0"/>
                        <a:ea typeface="黑体" panose="02010609060101010101" pitchFamily="49" charset="-122"/>
                      </a:rPr>
                      <m:t>𝜀</m:t>
                    </m:r>
                  </m:oMath>
                </a14:m>
                <a:r>
                  <a:rPr lang="en-US" altLang="zh-CN" sz="2000" dirty="0">
                    <a:solidFill>
                      <a:srgbClr val="000000"/>
                    </a:solidFill>
                    <a:latin typeface="Times New Roman"/>
                    <a:ea typeface="黑体" panose="02010609060101010101" pitchFamily="49" charset="-122"/>
                  </a:rPr>
                  <a:t>=0.5 </a:t>
                </a:r>
                <a:r>
                  <a:rPr lang="zh-CN" altLang="en-US" sz="2000" dirty="0">
                    <a:solidFill>
                      <a:srgbClr val="000000"/>
                    </a:solidFill>
                    <a:latin typeface="Times New Roman"/>
                    <a:ea typeface="黑体" panose="02010609060101010101" pitchFamily="49" charset="-122"/>
                  </a:rPr>
                  <a:t>。</a:t>
                </a:r>
                <a:endParaRPr lang="en-US" altLang="zh-CN" sz="2000" dirty="0">
                  <a:solidFill>
                    <a:srgbClr val="000000"/>
                  </a:solidFill>
                  <a:latin typeface="Times New Roman"/>
                  <a:ea typeface="黑体" panose="02010609060101010101" pitchFamily="49"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771877" y="1219259"/>
                <a:ext cx="8705622" cy="4135491"/>
              </a:xfrm>
              <a:prstGeom prst="rect">
                <a:avLst/>
              </a:prstGeom>
              <a:blipFill>
                <a:blip r:embed="rId2"/>
                <a:stretch>
                  <a:fillRect l="-770"/>
                </a:stretch>
              </a:blipFill>
            </p:spPr>
            <p:txBody>
              <a:bodyPr/>
              <a:lstStyle/>
              <a:p>
                <a:r>
                  <a:rPr lang="zh-CN" altLang="en-US">
                    <a:noFill/>
                  </a:rPr>
                  <a:t> </a:t>
                </a:r>
              </a:p>
            </p:txBody>
          </p:sp>
        </mc:Fallback>
      </mc:AlternateContent>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43763" y="154525"/>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xmlns:a14="http://schemas.microsoft.com/office/drawing/2010/main">
        <mc:Choice Requires="a14">
          <p:sp>
            <p:nvSpPr>
              <p:cNvPr id="9" name="文本框 8"/>
              <p:cNvSpPr txBox="1"/>
              <p:nvPr/>
            </p:nvSpPr>
            <p:spPr>
              <a:xfrm>
                <a:off x="1966151" y="832767"/>
                <a:ext cx="8259696" cy="2072940"/>
              </a:xfrm>
              <a:prstGeom prst="rect">
                <a:avLst/>
              </a:prstGeom>
              <a:noFill/>
            </p:spPr>
            <p:txBody>
              <a:bodyPr wrap="square">
                <a:spAutoFit/>
              </a:bodyPr>
              <a:lstStyle/>
              <a:p>
                <a:pPr eaLnBrk="0" fontAlgn="base" hangingPunct="0">
                  <a:lnSpc>
                    <a:spcPts val="4000"/>
                  </a:lnSpc>
                  <a:defRPr/>
                </a:pPr>
                <a:r>
                  <a:rPr lang="zh-CN" altLang="en-US" sz="2000" dirty="0">
                    <a:solidFill>
                      <a:srgbClr val="000000"/>
                    </a:solidFill>
                    <a:latin typeface="Times New Roman"/>
                    <a:ea typeface="黑体" panose="02010609060101010101" pitchFamily="49" charset="-122"/>
                  </a:rPr>
                  <a:t>       信道极化的统计图显示了</a:t>
                </a:r>
                <a14:m>
                  <m:oMath xmlns:m="http://schemas.openxmlformats.org/officeDocument/2006/math">
                    <m:r>
                      <m:rPr>
                        <m:nor/>
                      </m:rPr>
                      <a:rPr lang="zh-CN" altLang="en-US" sz="2000">
                        <a:solidFill>
                          <a:srgbClr val="000000"/>
                        </a:solidFill>
                        <a:latin typeface="Times New Roman"/>
                        <a:ea typeface="宋体" panose="02010600030101010101" pitchFamily="2" charset="-122"/>
                      </a:rPr>
                      <m:t>I</m:t>
                    </m:r>
                    <m:d>
                      <m:dPr>
                        <m:ctrlPr>
                          <a:rPr lang="zh-CN" altLang="en-US" sz="2000" i="1">
                            <a:solidFill>
                              <a:srgbClr val="000000"/>
                            </a:solidFill>
                            <a:latin typeface="Cambria Math" panose="02040503050406030204" pitchFamily="18" charset="0"/>
                          </a:rPr>
                        </m:ctrlPr>
                      </m:dPr>
                      <m:e>
                        <m:sSup>
                          <m:sSupPr>
                            <m:ctrlPr>
                              <a:rPr lang="zh-CN" altLang="en-US" sz="2000" i="1">
                                <a:solidFill>
                                  <a:srgbClr val="000000"/>
                                </a:solidFill>
                                <a:latin typeface="Cambria Math" panose="02040503050406030204" pitchFamily="18" charset="0"/>
                              </a:rPr>
                            </m:ctrlPr>
                          </m:sSupPr>
                          <m:e>
                            <m:r>
                              <m:rPr>
                                <m:nor/>
                              </m:rPr>
                              <a:rPr lang="en-US" altLang="zh-CN" sz="2000">
                                <a:solidFill>
                                  <a:srgbClr val="000000"/>
                                </a:solidFill>
                                <a:latin typeface="Times New Roman"/>
                                <a:ea typeface="宋体" panose="02010600030101010101" pitchFamily="2" charset="-122"/>
                              </a:rPr>
                              <m:t>W</m:t>
                            </m:r>
                          </m:e>
                          <m:sup>
                            <m:d>
                              <m:dPr>
                                <m:ctrlPr>
                                  <a:rPr lang="zh-CN" altLang="en-US" sz="2000" i="1">
                                    <a:solidFill>
                                      <a:srgbClr val="000000"/>
                                    </a:solidFill>
                                    <a:latin typeface="Cambria Math" panose="02040503050406030204" pitchFamily="18" charset="0"/>
                                  </a:rPr>
                                </m:ctrlPr>
                              </m:dPr>
                              <m:e>
                                <m:r>
                                  <m:rPr>
                                    <m:sty m:val="p"/>
                                  </m:rPr>
                                  <a:rPr lang="en-US" altLang="zh-CN" sz="2000" i="1">
                                    <a:solidFill>
                                      <a:srgbClr val="000000"/>
                                    </a:solidFill>
                                    <a:latin typeface="Cambria Math" panose="02040503050406030204" pitchFamily="18" charset="0"/>
                                  </a:rPr>
                                  <m:t>i</m:t>
                                </m:r>
                              </m:e>
                            </m:d>
                          </m:sup>
                        </m:sSup>
                      </m:e>
                    </m:d>
                  </m:oMath>
                </a14:m>
                <a:r>
                  <a:rPr lang="zh-CN" altLang="en-US" sz="2000" dirty="0">
                    <a:solidFill>
                      <a:srgbClr val="000000"/>
                    </a:solidFill>
                    <a:latin typeface="Times New Roman"/>
                    <a:ea typeface="黑体" panose="02010609060101010101" pitchFamily="49" charset="-122"/>
                  </a:rPr>
                  <a:t>对于小的指数 </a:t>
                </a:r>
                <a:r>
                  <a:rPr lang="en-US" altLang="zh-CN" sz="2000" dirty="0" err="1">
                    <a:solidFill>
                      <a:srgbClr val="000000"/>
                    </a:solidFill>
                    <a:latin typeface="Times New Roman"/>
                    <a:ea typeface="黑体" panose="02010609060101010101" pitchFamily="49" charset="-122"/>
                  </a:rPr>
                  <a:t>i</a:t>
                </a: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趋向接近于“</a:t>
                </a:r>
                <a:r>
                  <a:rPr lang="en-US" altLang="zh-CN" sz="2000" dirty="0">
                    <a:solidFill>
                      <a:srgbClr val="000000"/>
                    </a:solidFill>
                    <a:latin typeface="Times New Roman"/>
                    <a:ea typeface="黑体" panose="02010609060101010101" pitchFamily="49" charset="-122"/>
                  </a:rPr>
                  <a:t>0</a:t>
                </a:r>
                <a:r>
                  <a:rPr lang="zh-CN" altLang="en-US" sz="2000" dirty="0">
                    <a:solidFill>
                      <a:srgbClr val="000000"/>
                    </a:solidFill>
                    <a:latin typeface="Times New Roman"/>
                    <a:ea typeface="黑体" panose="02010609060101010101" pitchFamily="49" charset="-122"/>
                  </a:rPr>
                  <a:t>”，对于大的指数 </a:t>
                </a:r>
                <a:r>
                  <a:rPr lang="en-US" altLang="zh-CN" sz="2000" dirty="0" err="1">
                    <a:solidFill>
                      <a:srgbClr val="000000"/>
                    </a:solidFill>
                    <a:latin typeface="Times New Roman"/>
                    <a:ea typeface="黑体" panose="02010609060101010101" pitchFamily="49" charset="-122"/>
                  </a:rPr>
                  <a:t>i</a:t>
                </a: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趋向接近于“</a:t>
                </a:r>
                <a:r>
                  <a:rPr lang="en-US" altLang="zh-CN" sz="2000" dirty="0">
                    <a:solidFill>
                      <a:srgbClr val="000000"/>
                    </a:solidFill>
                    <a:latin typeface="Times New Roman"/>
                    <a:ea typeface="黑体" panose="02010609060101010101" pitchFamily="49" charset="-122"/>
                  </a:rPr>
                  <a:t>1</a:t>
                </a:r>
                <a:r>
                  <a:rPr lang="zh-CN" altLang="en-US" sz="2000" dirty="0">
                    <a:solidFill>
                      <a:srgbClr val="000000"/>
                    </a:solidFill>
                    <a:latin typeface="Times New Roman"/>
                    <a:ea typeface="黑体" panose="02010609060101010101" pitchFamily="49" charset="-122"/>
                  </a:rPr>
                  <a:t>”。然而，对于中间范围的指数 </a:t>
                </a:r>
                <a:r>
                  <a:rPr lang="en-US" altLang="zh-CN" sz="2000" dirty="0" err="1">
                    <a:solidFill>
                      <a:srgbClr val="000000"/>
                    </a:solidFill>
                    <a:latin typeface="Times New Roman"/>
                    <a:ea typeface="黑体" panose="02010609060101010101" pitchFamily="49" charset="-122"/>
                  </a:rPr>
                  <a:t>i</a:t>
                </a:r>
                <a:r>
                  <a:rPr lang="zh-CN" altLang="en-US" sz="2000" dirty="0">
                    <a:solidFill>
                      <a:srgbClr val="000000"/>
                    </a:solidFill>
                    <a:latin typeface="Times New Roman"/>
                    <a:ea typeface="黑体" panose="02010609060101010101" pitchFamily="49" charset="-122"/>
                  </a:rPr>
                  <a:t>，</a:t>
                </a:r>
                <a:r>
                  <a:rPr lang="zh-CN" altLang="en-US" sz="2000" dirty="0">
                    <a:solidFill>
                      <a:srgbClr val="000000"/>
                    </a:solidFill>
                    <a:latin typeface="Arial" panose="020B0604020202020204" pitchFamily="34" charset="0"/>
                    <a:ea typeface="宋体" panose="02010600030101010101" pitchFamily="2" charset="-122"/>
                  </a:rPr>
                  <a:t> </a:t>
                </a:r>
                <a14:m>
                  <m:oMath xmlns:m="http://schemas.openxmlformats.org/officeDocument/2006/math">
                    <m:r>
                      <m:rPr>
                        <m:nor/>
                      </m:rPr>
                      <a:rPr lang="zh-CN" altLang="en-US" sz="2000">
                        <a:solidFill>
                          <a:srgbClr val="000000"/>
                        </a:solidFill>
                        <a:latin typeface="Times New Roman"/>
                        <a:ea typeface="宋体" panose="02010600030101010101" pitchFamily="2" charset="-122"/>
                      </a:rPr>
                      <m:t>I</m:t>
                    </m:r>
                    <m:d>
                      <m:dPr>
                        <m:ctrlPr>
                          <a:rPr lang="zh-CN" altLang="en-US" sz="2000" i="1">
                            <a:solidFill>
                              <a:srgbClr val="000000"/>
                            </a:solidFill>
                            <a:latin typeface="Cambria Math" panose="02040503050406030204" pitchFamily="18" charset="0"/>
                          </a:rPr>
                        </m:ctrlPr>
                      </m:dPr>
                      <m:e>
                        <m:sSubSup>
                          <m:sSubSupPr>
                            <m:ctrlPr>
                              <a:rPr lang="zh-CN" altLang="en-US" sz="2000" i="1">
                                <a:solidFill>
                                  <a:srgbClr val="000000"/>
                                </a:solidFill>
                                <a:latin typeface="Cambria Math" panose="02040503050406030204" pitchFamily="18" charset="0"/>
                              </a:rPr>
                            </m:ctrlPr>
                          </m:sSubSupPr>
                          <m:e>
                            <m:r>
                              <m:rPr>
                                <m:nor/>
                              </m:rPr>
                              <a:rPr lang="zh-CN" altLang="en-US" sz="2000">
                                <a:solidFill>
                                  <a:srgbClr val="000000"/>
                                </a:solidFill>
                                <a:latin typeface="Times New Roman"/>
                                <a:ea typeface="宋体" panose="02010600030101010101" pitchFamily="2" charset="-122"/>
                              </a:rPr>
                              <m:t>W</m:t>
                            </m:r>
                          </m:e>
                          <m:sub>
                            <m:r>
                              <m:rPr>
                                <m:nor/>
                              </m:rPr>
                              <a:rPr lang="zh-CN" altLang="en-US" sz="2000">
                                <a:solidFill>
                                  <a:srgbClr val="000000"/>
                                </a:solidFill>
                                <a:latin typeface="Times New Roman"/>
                                <a:ea typeface="宋体" panose="02010600030101010101" pitchFamily="2" charset="-122"/>
                              </a:rPr>
                              <m:t>N</m:t>
                            </m:r>
                          </m:sub>
                          <m:sup>
                            <m:d>
                              <m:dPr>
                                <m:ctrlPr>
                                  <a:rPr lang="zh-CN" altLang="en-US" sz="2000" i="1">
                                    <a:solidFill>
                                      <a:srgbClr val="000000"/>
                                    </a:solidFill>
                                    <a:latin typeface="Cambria Math" panose="02040503050406030204" pitchFamily="18" charset="0"/>
                                  </a:rPr>
                                </m:ctrlPr>
                              </m:dPr>
                              <m:e>
                                <m:r>
                                  <m:rPr>
                                    <m:nor/>
                                  </m:rPr>
                                  <a:rPr lang="zh-CN" altLang="en-US" sz="2000">
                                    <a:solidFill>
                                      <a:srgbClr val="000000"/>
                                    </a:solidFill>
                                    <a:latin typeface="Times New Roman"/>
                                    <a:ea typeface="宋体" panose="02010600030101010101" pitchFamily="2" charset="-122"/>
                                  </a:rPr>
                                  <m:t>i</m:t>
                                </m:r>
                              </m:e>
                            </m:d>
                          </m:sup>
                        </m:sSubSup>
                      </m:e>
                    </m:d>
                  </m:oMath>
                </a14:m>
                <a:r>
                  <a:rPr lang="zh-CN" altLang="en-US" sz="2000" dirty="0">
                    <a:solidFill>
                      <a:srgbClr val="000000"/>
                    </a:solidFill>
                    <a:latin typeface="Times New Roman"/>
                    <a:ea typeface="黑体" panose="02010609060101010101" pitchFamily="49" charset="-122"/>
                  </a:rPr>
                  <a:t>显示了不规则的特性。图中的所有点是呈现中心对称的，这也是极化码的信道极化现象所具有的特性。</a:t>
                </a:r>
                <a:endParaRPr lang="en-US" altLang="zh-CN" sz="2000" dirty="0">
                  <a:solidFill>
                    <a:srgbClr val="000000"/>
                  </a:solidFill>
                  <a:latin typeface="Times New Roman"/>
                  <a:ea typeface="黑体" panose="02010609060101010101" pitchFamily="49"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966151" y="832767"/>
                <a:ext cx="8259696" cy="2072940"/>
              </a:xfrm>
              <a:prstGeom prst="rect">
                <a:avLst/>
              </a:prstGeom>
              <a:blipFill>
                <a:blip r:embed="rId2"/>
                <a:stretch>
                  <a:fillRect l="-812" b="-3824"/>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2967376" y="2928537"/>
            <a:ext cx="4576387" cy="3657504"/>
          </a:xfrm>
          <a:prstGeom prst="rect">
            <a:avLst/>
          </a:prstGeom>
        </p:spPr>
      </p:pic>
      <p:sp>
        <p:nvSpPr>
          <p:cNvPr id="6" name="文本框 5"/>
          <p:cNvSpPr txBox="1"/>
          <p:nvPr/>
        </p:nvSpPr>
        <p:spPr>
          <a:xfrm>
            <a:off x="7505696" y="4114782"/>
            <a:ext cx="2971722"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3333CC"/>
                </a:solidFill>
                <a:latin typeface="黑体" panose="02010609060101010101" pitchFamily="49" charset="-122"/>
                <a:ea typeface="黑体" panose="02010609060101010101" pitchFamily="49" charset="-122"/>
                <a:sym typeface="+mn-ea"/>
              </a:rPr>
              <a:t>Polar</a:t>
            </a:r>
            <a:r>
              <a:rPr lang="zh-CN" altLang="en-US" b="1" dirty="0">
                <a:solidFill>
                  <a:srgbClr val="3333CC"/>
                </a:solidFill>
                <a:latin typeface="黑体" panose="02010609060101010101" pitchFamily="49" charset="-122"/>
                <a:ea typeface="黑体" panose="02010609060101010101" pitchFamily="49" charset="-122"/>
                <a:sym typeface="+mn-ea"/>
              </a:rPr>
              <a:t>码信道容量</a:t>
            </a:r>
            <a:r>
              <a:rPr lang="zh-CN" altLang="en-US" b="1" dirty="0">
                <a:solidFill>
                  <a:srgbClr val="3333CC"/>
                </a:solidFill>
                <a:latin typeface="Times New Roman"/>
                <a:ea typeface="黑体" panose="02010609060101010101" pitchFamily="49" charset="-122"/>
                <a:sym typeface="+mn-ea"/>
              </a:rPr>
              <a:t>（</a:t>
            </a:r>
            <a:r>
              <a:rPr lang="en-US" altLang="zh-CN" b="1" dirty="0">
                <a:solidFill>
                  <a:srgbClr val="3333CC"/>
                </a:solidFill>
                <a:latin typeface="Times New Roman"/>
                <a:ea typeface="黑体" panose="02010609060101010101" pitchFamily="49" charset="-122"/>
                <a:sym typeface="+mn-ea"/>
              </a:rPr>
              <a:t>N=32</a:t>
            </a:r>
            <a:r>
              <a:rPr lang="zh-CN" altLang="en-US" b="1" dirty="0">
                <a:solidFill>
                  <a:srgbClr val="3333CC"/>
                </a:solidFill>
                <a:latin typeface="黑体" panose="02010609060101010101" pitchFamily="49" charset="-122"/>
                <a:ea typeface="黑体" panose="02010609060101010101" pitchFamily="49" charset="-122"/>
                <a:sym typeface="+mn-ea"/>
              </a:rPr>
              <a:t>）</a:t>
            </a:r>
          </a:p>
        </p:txBody>
      </p:sp>
      <mc:AlternateContent xmlns:mc="http://schemas.openxmlformats.org/markup-compatibility/2006" xmlns:a14="http://schemas.microsoft.com/office/drawing/2010/main">
        <mc:Choice Requires="a14">
          <p:sp>
            <p:nvSpPr>
              <p:cNvPr id="7" name="文本框 6"/>
              <p:cNvSpPr txBox="1"/>
              <p:nvPr/>
            </p:nvSpPr>
            <p:spPr>
              <a:xfrm>
                <a:off x="7505720" y="4876762"/>
                <a:ext cx="3505108" cy="379656"/>
              </a:xfrm>
              <a:prstGeom prst="rect">
                <a:avLst/>
              </a:prstGeom>
              <a:noFill/>
            </p:spPr>
            <p:txBody>
              <a:bodyPr wrap="square">
                <a:spAutoFit/>
              </a:bodyPr>
              <a:lstStyle/>
              <a:p>
                <a:pPr eaLnBrk="0" fontAlgn="base" hangingPunct="0">
                  <a:spcBef>
                    <a:spcPct val="0"/>
                  </a:spcBef>
                  <a:spcAft>
                    <a:spcPct val="0"/>
                  </a:spcAft>
                </a:pPr>
                <a:r>
                  <a:rPr lang="zh-CN" altLang="en-US" dirty="0">
                    <a:solidFill>
                      <a:srgbClr val="000000"/>
                    </a:solidFill>
                    <a:latin typeface="黑体"/>
                    <a:ea typeface="黑体"/>
                  </a:rPr>
                  <a:t>码长</a:t>
                </a:r>
                <a:r>
                  <a:rPr lang="en-US" altLang="zh-CN" dirty="0">
                    <a:solidFill>
                      <a:srgbClr val="000000"/>
                    </a:solidFill>
                    <a:latin typeface="Times New Roman"/>
                    <a:ea typeface="黑体"/>
                  </a:rPr>
                  <a:t>N=</a:t>
                </a:r>
                <a14:m>
                  <m:oMath xmlns:m="http://schemas.openxmlformats.org/officeDocument/2006/math">
                    <m:sSup>
                      <m:sSupPr>
                        <m:ctrlPr>
                          <a:rPr lang="en-US" altLang="zh-CN" i="1" dirty="0">
                            <a:solidFill>
                              <a:srgbClr val="836967"/>
                            </a:solidFill>
                            <a:latin typeface="Cambria Math" panose="02040503050406030204" pitchFamily="18" charset="0"/>
                            <a:ea typeface="+mj-ea"/>
                          </a:rPr>
                        </m:ctrlPr>
                      </m:sSupPr>
                      <m:e>
                        <m:r>
                          <a:rPr lang="en-US" altLang="zh-CN" i="1" dirty="0">
                            <a:solidFill>
                              <a:srgbClr val="000000"/>
                            </a:solidFill>
                            <a:latin typeface="Cambria Math" panose="02040503050406030204" pitchFamily="18" charset="0"/>
                            <a:ea typeface="+mj-ea"/>
                          </a:rPr>
                          <m:t>2</m:t>
                        </m:r>
                      </m:e>
                      <m:sup>
                        <m:r>
                          <a:rPr lang="en-US" altLang="zh-CN" i="1" dirty="0">
                            <a:solidFill>
                              <a:srgbClr val="000000"/>
                            </a:solidFill>
                            <a:latin typeface="Cambria Math" panose="02040503050406030204" pitchFamily="18" charset="0"/>
                            <a:ea typeface="+mj-ea"/>
                          </a:rPr>
                          <m:t>5</m:t>
                        </m:r>
                      </m:sup>
                    </m:sSup>
                  </m:oMath>
                </a14:m>
                <a:r>
                  <a:rPr lang="zh-CN" altLang="en-US" dirty="0">
                    <a:solidFill>
                      <a:srgbClr val="000000"/>
                    </a:solidFill>
                    <a:latin typeface="Times New Roman"/>
                    <a:ea typeface="黑体"/>
                  </a:rPr>
                  <a:t>的信</a:t>
                </a:r>
                <a:r>
                  <a:rPr lang="zh-CN" altLang="en-US" dirty="0">
                    <a:solidFill>
                      <a:srgbClr val="000000"/>
                    </a:solidFill>
                    <a:latin typeface="黑体"/>
                    <a:ea typeface="黑体"/>
                  </a:rPr>
                  <a:t>道极化现象 </a:t>
                </a:r>
              </a:p>
            </p:txBody>
          </p:sp>
        </mc:Choice>
        <mc:Fallback xmlns="">
          <p:sp>
            <p:nvSpPr>
              <p:cNvPr id="7" name="文本框 6"/>
              <p:cNvSpPr txBox="1">
                <a:spLocks noRot="1" noChangeAspect="1" noMove="1" noResize="1" noEditPoints="1" noAdjustHandles="1" noChangeArrowheads="1" noChangeShapeType="1" noTextEdit="1"/>
              </p:cNvSpPr>
              <p:nvPr/>
            </p:nvSpPr>
            <p:spPr>
              <a:xfrm>
                <a:off x="7505720" y="4876762"/>
                <a:ext cx="3505108" cy="379656"/>
              </a:xfrm>
              <a:prstGeom prst="rect">
                <a:avLst/>
              </a:prstGeom>
              <a:blipFill>
                <a:blip r:embed="rId4"/>
                <a:stretch>
                  <a:fillRect l="-1391" t="-12903" b="-24194"/>
                </a:stretch>
              </a:blipFill>
            </p:spPr>
            <p:txBody>
              <a:bodyPr/>
              <a:lstStyle/>
              <a:p>
                <a:r>
                  <a:rPr lang="zh-CN" altLang="en-US">
                    <a:noFill/>
                  </a:rPr>
                  <a:t> </a:t>
                </a:r>
              </a:p>
            </p:txBody>
          </p:sp>
        </mc:Fallback>
      </mc:AlternateContent>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128295" y="146454"/>
            <a:ext cx="2438336"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p:sp>
        <p:nvSpPr>
          <p:cNvPr id="10" name="文本框 9"/>
          <p:cNvSpPr txBox="1"/>
          <p:nvPr/>
        </p:nvSpPr>
        <p:spPr>
          <a:xfrm>
            <a:off x="1814076" y="6058772"/>
            <a:ext cx="2971722"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3333CC"/>
                </a:solidFill>
                <a:latin typeface="黑体" panose="02010609060101010101" pitchFamily="49" charset="-122"/>
                <a:ea typeface="黑体" panose="02010609060101010101" pitchFamily="49" charset="-122"/>
                <a:sym typeface="+mn-ea"/>
              </a:rPr>
              <a:t>Polar</a:t>
            </a:r>
            <a:r>
              <a:rPr lang="zh-CN" altLang="en-US" b="1" dirty="0">
                <a:solidFill>
                  <a:srgbClr val="3333CC"/>
                </a:solidFill>
                <a:latin typeface="黑体" panose="02010609060101010101" pitchFamily="49" charset="-122"/>
                <a:ea typeface="黑体" panose="02010609060101010101" pitchFamily="49" charset="-122"/>
                <a:sym typeface="+mn-ea"/>
              </a:rPr>
              <a:t>码信道容</a:t>
            </a:r>
            <a:r>
              <a:rPr lang="zh-CN" altLang="en-US" b="1" dirty="0">
                <a:solidFill>
                  <a:srgbClr val="3333CC"/>
                </a:solidFill>
                <a:latin typeface="Times New Roman"/>
                <a:ea typeface="黑体" panose="02010609060101010101" pitchFamily="49" charset="-122"/>
                <a:sym typeface="+mn-ea"/>
              </a:rPr>
              <a:t>量（</a:t>
            </a:r>
            <a:r>
              <a:rPr lang="en-US" altLang="zh-CN" b="1" dirty="0">
                <a:solidFill>
                  <a:srgbClr val="3333CC"/>
                </a:solidFill>
                <a:latin typeface="Times New Roman"/>
                <a:ea typeface="黑体" panose="02010609060101010101" pitchFamily="49" charset="-122"/>
                <a:sym typeface="+mn-ea"/>
              </a:rPr>
              <a:t>N=64</a:t>
            </a:r>
            <a:r>
              <a:rPr lang="zh-CN" altLang="en-US" b="1" dirty="0">
                <a:solidFill>
                  <a:srgbClr val="3333CC"/>
                </a:solidFill>
                <a:latin typeface="Times New Roman"/>
                <a:ea typeface="黑体" panose="02010609060101010101" pitchFamily="49" charset="-122"/>
                <a:sym typeface="+mn-ea"/>
              </a:rPr>
              <a:t>）</a:t>
            </a:r>
          </a:p>
        </p:txBody>
      </p:sp>
      <mc:AlternateContent xmlns:mc="http://schemas.openxmlformats.org/markup-compatibility/2006" xmlns:a14="http://schemas.microsoft.com/office/drawing/2010/main">
        <mc:Choice Requires="a14">
          <p:sp>
            <p:nvSpPr>
              <p:cNvPr id="12" name="文本框 11"/>
              <p:cNvSpPr txBox="1"/>
              <p:nvPr/>
            </p:nvSpPr>
            <p:spPr>
              <a:xfrm>
                <a:off x="1850118" y="6458951"/>
                <a:ext cx="3047980" cy="375552"/>
              </a:xfrm>
              <a:prstGeom prst="rect">
                <a:avLst/>
              </a:prstGeom>
              <a:noFill/>
            </p:spPr>
            <p:txBody>
              <a:bodyPr wrap="square">
                <a:spAutoFit/>
              </a:bodyPr>
              <a:lstStyle/>
              <a:p>
                <a:pPr eaLnBrk="0" fontAlgn="base" hangingPunct="0">
                  <a:spcBef>
                    <a:spcPct val="0"/>
                  </a:spcBef>
                  <a:spcAft>
                    <a:spcPct val="0"/>
                  </a:spcAft>
                </a:pPr>
                <a:r>
                  <a:rPr lang="zh-CN" altLang="en-US" dirty="0">
                    <a:solidFill>
                      <a:srgbClr val="000000"/>
                    </a:solidFill>
                    <a:latin typeface="Times New Roman"/>
                    <a:ea typeface="黑体"/>
                  </a:rPr>
                  <a:t>码长</a:t>
                </a:r>
                <a:r>
                  <a:rPr lang="en-US" altLang="zh-CN" dirty="0">
                    <a:solidFill>
                      <a:srgbClr val="000000"/>
                    </a:solidFill>
                    <a:latin typeface="Times New Roman"/>
                    <a:ea typeface="黑体"/>
                  </a:rPr>
                  <a:t>N=</a:t>
                </a:r>
                <a14:m>
                  <m:oMath xmlns:m="http://schemas.openxmlformats.org/officeDocument/2006/math">
                    <m:sSup>
                      <m:sSupPr>
                        <m:ctrlPr>
                          <a:rPr lang="en-US" altLang="zh-CN" i="1" dirty="0">
                            <a:solidFill>
                              <a:srgbClr val="836967"/>
                            </a:solidFill>
                            <a:latin typeface="Cambria Math" panose="02040503050406030204" pitchFamily="18" charset="0"/>
                            <a:ea typeface="+mj-ea"/>
                          </a:rPr>
                        </m:ctrlPr>
                      </m:sSupPr>
                      <m:e>
                        <m:r>
                          <a:rPr lang="en-US" altLang="zh-CN" i="1" dirty="0">
                            <a:solidFill>
                              <a:srgbClr val="000000"/>
                            </a:solidFill>
                            <a:latin typeface="Cambria Math" panose="02040503050406030204" pitchFamily="18" charset="0"/>
                            <a:ea typeface="+mj-ea"/>
                          </a:rPr>
                          <m:t>2</m:t>
                        </m:r>
                      </m:e>
                      <m:sup>
                        <m:r>
                          <a:rPr lang="en-US" altLang="zh-CN" i="1" dirty="0">
                            <a:solidFill>
                              <a:srgbClr val="000000"/>
                            </a:solidFill>
                            <a:latin typeface="Cambria Math" panose="02040503050406030204" pitchFamily="18" charset="0"/>
                            <a:ea typeface="+mj-ea"/>
                          </a:rPr>
                          <m:t>6</m:t>
                        </m:r>
                      </m:sup>
                    </m:sSup>
                  </m:oMath>
                </a14:m>
                <a:r>
                  <a:rPr lang="zh-CN" altLang="en-US" dirty="0">
                    <a:solidFill>
                      <a:srgbClr val="000000"/>
                    </a:solidFill>
                    <a:latin typeface="Times New Roman"/>
                    <a:ea typeface="黑体"/>
                  </a:rPr>
                  <a:t>的</a:t>
                </a:r>
                <a:r>
                  <a:rPr lang="zh-CN" altLang="en-US" dirty="0">
                    <a:solidFill>
                      <a:srgbClr val="000000"/>
                    </a:solidFill>
                    <a:latin typeface="黑体"/>
                    <a:ea typeface="黑体"/>
                  </a:rPr>
                  <a:t>信道极化现象 </a:t>
                </a:r>
              </a:p>
            </p:txBody>
          </p:sp>
        </mc:Choice>
        <mc:Fallback xmlns="">
          <p:sp>
            <p:nvSpPr>
              <p:cNvPr id="12" name="文本框 11"/>
              <p:cNvSpPr txBox="1">
                <a:spLocks noRot="1" noChangeAspect="1" noMove="1" noResize="1" noEditPoints="1" noAdjustHandles="1" noChangeArrowheads="1" noChangeShapeType="1" noTextEdit="1"/>
              </p:cNvSpPr>
              <p:nvPr/>
            </p:nvSpPr>
            <p:spPr>
              <a:xfrm>
                <a:off x="1850118" y="6458951"/>
                <a:ext cx="3047980" cy="375552"/>
              </a:xfrm>
              <a:prstGeom prst="rect">
                <a:avLst/>
              </a:prstGeom>
              <a:blipFill>
                <a:blip r:embed="rId2"/>
                <a:stretch>
                  <a:fillRect l="-1600" t="-13115" b="-26230"/>
                </a:stretch>
              </a:blipFill>
            </p:spPr>
            <p:txBody>
              <a:bodyPr/>
              <a:lstStyle/>
              <a:p>
                <a:r>
                  <a:rPr lang="zh-CN" altLang="en-US">
                    <a:noFill/>
                  </a:rPr>
                  <a:t> </a:t>
                </a:r>
              </a:p>
            </p:txBody>
          </p:sp>
        </mc:Fallback>
      </mc:AlternateContent>
      <p:sp>
        <p:nvSpPr>
          <p:cNvPr id="2" name="文本框 1"/>
          <p:cNvSpPr txBox="1"/>
          <p:nvPr/>
        </p:nvSpPr>
        <p:spPr>
          <a:xfrm>
            <a:off x="329479" y="1250952"/>
            <a:ext cx="6134029" cy="379656"/>
          </a:xfrm>
          <a:prstGeom prst="rect">
            <a:avLst/>
          </a:prstGeom>
          <a:noFill/>
        </p:spPr>
        <p:txBody>
          <a:bodyPr wrap="square" rtlCol="0" anchor="t">
            <a:spAutoFit/>
          </a:bodyPr>
          <a:lstStyle/>
          <a:p>
            <a:pPr eaLnBrk="0" fontAlgn="base" hangingPunct="0">
              <a:spcBef>
                <a:spcPct val="0"/>
              </a:spcBef>
              <a:spcAft>
                <a:spcPct val="0"/>
              </a:spcAft>
            </a:pPr>
            <a:r>
              <a:rPr lang="zh-CN" altLang="en-US" b="1" dirty="0">
                <a:solidFill>
                  <a:srgbClr val="3333CC"/>
                </a:solidFill>
                <a:latin typeface="黑体" panose="02010609060101010101" pitchFamily="49" charset="-122"/>
                <a:ea typeface="黑体" panose="02010609060101010101" pitchFamily="49" charset="-122"/>
                <a:sym typeface="+mn-ea"/>
              </a:rPr>
              <a:t>随着子信道越来越多，信道容量就会越来越趋近于两端。</a:t>
            </a:r>
          </a:p>
        </p:txBody>
      </p:sp>
      <p:pic>
        <p:nvPicPr>
          <p:cNvPr id="8" name="图片 7"/>
          <p:cNvPicPr>
            <a:picLocks noChangeAspect="1"/>
          </p:cNvPicPr>
          <p:nvPr/>
        </p:nvPicPr>
        <p:blipFill>
          <a:blip r:embed="rId3"/>
          <a:stretch>
            <a:fillRect/>
          </a:stretch>
        </p:blipFill>
        <p:spPr>
          <a:xfrm>
            <a:off x="314134" y="1591428"/>
            <a:ext cx="5765444" cy="4444500"/>
          </a:xfrm>
          <a:prstGeom prst="rect">
            <a:avLst/>
          </a:prstGeom>
        </p:spPr>
      </p:pic>
      <p:sp>
        <p:nvSpPr>
          <p:cNvPr id="13" name="文本框 12"/>
          <p:cNvSpPr txBox="1"/>
          <p:nvPr/>
        </p:nvSpPr>
        <p:spPr>
          <a:xfrm>
            <a:off x="1524000" y="855264"/>
            <a:ext cx="4572000" cy="400110"/>
          </a:xfrm>
          <a:prstGeom prst="rect">
            <a:avLst/>
          </a:prstGeom>
          <a:noFill/>
        </p:spPr>
        <p:txBody>
          <a:bodyPr wrap="square">
            <a:spAutoFit/>
          </a:bodyPr>
          <a:lstStyle/>
          <a:p>
            <a:pPr eaLnBrk="0" fontAlgn="base" hangingPunct="0">
              <a:spcBef>
                <a:spcPct val="0"/>
              </a:spcBef>
              <a:spcAft>
                <a:spcPct val="0"/>
              </a:spcAft>
            </a:pPr>
            <a:r>
              <a:rPr lang="zh-CN" altLang="en-US" sz="2000" dirty="0">
                <a:solidFill>
                  <a:srgbClr val="000000"/>
                </a:solidFill>
                <a:latin typeface="Times New Roman"/>
                <a:ea typeface="黑体" panose="02010609060101010101" pitchFamily="49" charset="-122"/>
              </a:rPr>
              <a:t>信道极化的统计图</a:t>
            </a:r>
            <a:endParaRPr lang="zh-CN" altLang="en-US" sz="2000" dirty="0">
              <a:solidFill>
                <a:srgbClr val="000000"/>
              </a:solidFill>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87ABCC7-F5FF-545D-8606-5C0A6DFC1861}"/>
                  </a:ext>
                </a:extLst>
              </p:cNvPr>
              <p:cNvSpPr txBox="1"/>
              <p:nvPr/>
            </p:nvSpPr>
            <p:spPr>
              <a:xfrm>
                <a:off x="7846859" y="6223680"/>
                <a:ext cx="3505108" cy="375552"/>
              </a:xfrm>
              <a:prstGeom prst="rect">
                <a:avLst/>
              </a:prstGeom>
              <a:noFill/>
            </p:spPr>
            <p:txBody>
              <a:bodyPr wrap="square">
                <a:spAutoFit/>
              </a:bodyPr>
              <a:lstStyle/>
              <a:p>
                <a:pPr eaLnBrk="0" fontAlgn="base" hangingPunct="0">
                  <a:spcBef>
                    <a:spcPct val="0"/>
                  </a:spcBef>
                  <a:spcAft>
                    <a:spcPct val="0"/>
                  </a:spcAft>
                </a:pPr>
                <a:r>
                  <a:rPr lang="zh-CN" altLang="en-US" dirty="0">
                    <a:solidFill>
                      <a:srgbClr val="000000"/>
                    </a:solidFill>
                    <a:latin typeface="Times New Roman"/>
                    <a:ea typeface="黑体"/>
                  </a:rPr>
                  <a:t>码长</a:t>
                </a:r>
                <a:r>
                  <a:rPr lang="en-US" altLang="zh-CN" dirty="0">
                    <a:solidFill>
                      <a:srgbClr val="000000"/>
                    </a:solidFill>
                    <a:latin typeface="Times New Roman"/>
                    <a:ea typeface="黑体"/>
                  </a:rPr>
                  <a:t>N=</a:t>
                </a:r>
                <a14:m>
                  <m:oMath xmlns:m="http://schemas.openxmlformats.org/officeDocument/2006/math">
                    <m:sSup>
                      <m:sSupPr>
                        <m:ctrlPr>
                          <a:rPr lang="en-US" altLang="zh-CN" i="1" dirty="0">
                            <a:solidFill>
                              <a:srgbClr val="836967"/>
                            </a:solidFill>
                            <a:latin typeface="Cambria Math" panose="02040503050406030204" pitchFamily="18" charset="0"/>
                            <a:ea typeface="+mj-ea"/>
                          </a:rPr>
                        </m:ctrlPr>
                      </m:sSupPr>
                      <m:e>
                        <m:r>
                          <a:rPr lang="en-US" altLang="zh-CN" i="1" dirty="0">
                            <a:solidFill>
                              <a:srgbClr val="000000"/>
                            </a:solidFill>
                            <a:latin typeface="Cambria Math" panose="02040503050406030204" pitchFamily="18" charset="0"/>
                            <a:ea typeface="+mj-ea"/>
                          </a:rPr>
                          <m:t>2</m:t>
                        </m:r>
                      </m:e>
                      <m:sup>
                        <m:r>
                          <a:rPr lang="en-US" altLang="zh-CN" i="1" dirty="0">
                            <a:solidFill>
                              <a:srgbClr val="000000"/>
                            </a:solidFill>
                            <a:latin typeface="Cambria Math" panose="02040503050406030204" pitchFamily="18" charset="0"/>
                            <a:ea typeface="+mj-ea"/>
                          </a:rPr>
                          <m:t>10</m:t>
                        </m:r>
                      </m:sup>
                    </m:sSup>
                  </m:oMath>
                </a14:m>
                <a:r>
                  <a:rPr lang="zh-CN" altLang="en-US" dirty="0">
                    <a:solidFill>
                      <a:srgbClr val="000000"/>
                    </a:solidFill>
                    <a:latin typeface="Times New Roman"/>
                    <a:ea typeface="黑体"/>
                  </a:rPr>
                  <a:t>的</a:t>
                </a:r>
                <a:r>
                  <a:rPr lang="zh-CN" altLang="en-US" dirty="0">
                    <a:solidFill>
                      <a:srgbClr val="000000"/>
                    </a:solidFill>
                    <a:latin typeface="黑体"/>
                    <a:ea typeface="黑体"/>
                  </a:rPr>
                  <a:t>信道极化现象 </a:t>
                </a:r>
              </a:p>
            </p:txBody>
          </p:sp>
        </mc:Choice>
        <mc:Fallback xmlns="">
          <p:sp>
            <p:nvSpPr>
              <p:cNvPr id="3" name="文本框 2">
                <a:extLst>
                  <a:ext uri="{FF2B5EF4-FFF2-40B4-BE49-F238E27FC236}">
                    <a16:creationId xmlns:a16="http://schemas.microsoft.com/office/drawing/2014/main" id="{B87ABCC7-F5FF-545D-8606-5C0A6DFC1861}"/>
                  </a:ext>
                </a:extLst>
              </p:cNvPr>
              <p:cNvSpPr txBox="1">
                <a:spLocks noRot="1" noChangeAspect="1" noMove="1" noResize="1" noEditPoints="1" noAdjustHandles="1" noChangeArrowheads="1" noChangeShapeType="1" noTextEdit="1"/>
              </p:cNvSpPr>
              <p:nvPr/>
            </p:nvSpPr>
            <p:spPr>
              <a:xfrm>
                <a:off x="7846859" y="6223680"/>
                <a:ext cx="3505108" cy="375552"/>
              </a:xfrm>
              <a:prstGeom prst="rect">
                <a:avLst/>
              </a:prstGeom>
              <a:blipFill>
                <a:blip r:embed="rId4"/>
                <a:stretch>
                  <a:fillRect l="-1391" t="-12903" b="-24194"/>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E72B3B07-7F6C-B820-75F5-11FEE6CE79DC}"/>
              </a:ext>
            </a:extLst>
          </p:cNvPr>
          <p:cNvPicPr>
            <a:picLocks noChangeAspect="1"/>
          </p:cNvPicPr>
          <p:nvPr/>
        </p:nvPicPr>
        <p:blipFill>
          <a:blip r:embed="rId5"/>
          <a:stretch>
            <a:fillRect/>
          </a:stretch>
        </p:blipFill>
        <p:spPr>
          <a:xfrm>
            <a:off x="6203748" y="1345928"/>
            <a:ext cx="5724559" cy="4690000"/>
          </a:xfrm>
          <a:prstGeom prst="rect">
            <a:avLst/>
          </a:prstGeom>
        </p:spPr>
      </p:pic>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21090" y="170408"/>
            <a:ext cx="2933737" cy="685800"/>
          </a:xfrm>
        </p:spPr>
        <p:txBody>
          <a:bodyPr/>
          <a:lstStyle/>
          <a:p>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的构造</a:t>
            </a:r>
            <a:endParaRPr lang="zh-CN" altLang="en-US" sz="2400" dirty="0">
              <a:sym typeface="+mn-ea"/>
            </a:endParaRPr>
          </a:p>
        </p:txBody>
      </p:sp>
      <p:sp>
        <p:nvSpPr>
          <p:cNvPr id="7" name="文本框 6"/>
          <p:cNvSpPr txBox="1"/>
          <p:nvPr/>
        </p:nvSpPr>
        <p:spPr>
          <a:xfrm>
            <a:off x="1996728" y="1592222"/>
            <a:ext cx="8458098" cy="955903"/>
          </a:xfrm>
          <a:prstGeom prst="rect">
            <a:avLst/>
          </a:prstGeom>
          <a:noFill/>
        </p:spPr>
        <p:txBody>
          <a:bodyPr wrap="square">
            <a:spAutoFit/>
          </a:bodyPr>
          <a:lstStyle/>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en-US" altLang="zh-CN" sz="2000" u="sng" dirty="0">
                <a:solidFill>
                  <a:srgbClr val="000000"/>
                </a:solidFill>
                <a:latin typeface="Times New Roman"/>
                <a:ea typeface="黑体" panose="02010609060101010101" pitchFamily="49" charset="-122"/>
              </a:rPr>
              <a:t> Polar</a:t>
            </a:r>
            <a:r>
              <a:rPr lang="zh-CN" altLang="en-US" sz="2000" u="sng" dirty="0">
                <a:solidFill>
                  <a:srgbClr val="000000"/>
                </a:solidFill>
                <a:latin typeface="Times New Roman"/>
                <a:ea typeface="黑体" panose="02010609060101010101" pitchFamily="49" charset="-122"/>
              </a:rPr>
              <a:t>码构造</a:t>
            </a:r>
            <a:r>
              <a:rPr lang="zh-CN" altLang="en-US" sz="2000" dirty="0">
                <a:solidFill>
                  <a:srgbClr val="000000"/>
                </a:solidFill>
                <a:latin typeface="Times New Roman"/>
                <a:ea typeface="黑体" panose="02010609060101010101" pitchFamily="49" charset="-122"/>
              </a:rPr>
              <a:t>是指为</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Times New Roman"/>
                <a:ea typeface="黑体" panose="02010609060101010101" pitchFamily="49" charset="-122"/>
              </a:rPr>
              <a:t>码能够良好工作设计</a:t>
            </a:r>
            <a:r>
              <a:rPr lang="zh-CN" altLang="en-US" sz="2000" dirty="0">
                <a:solidFill>
                  <a:srgbClr val="000000"/>
                </a:solidFill>
                <a:latin typeface="黑体" panose="02010609060101010101" pitchFamily="49" charset="-122"/>
                <a:ea typeface="黑体" panose="02010609060101010101" pitchFamily="49" charset="-122"/>
              </a:rPr>
              <a:t>的框架，其中包括</a:t>
            </a:r>
            <a:r>
              <a:rPr lang="zh-CN" altLang="en-US" sz="2000" u="sng" dirty="0">
                <a:solidFill>
                  <a:srgbClr val="000000"/>
                </a:solidFill>
                <a:latin typeface="黑体" panose="02010609060101010101" pitchFamily="49" charset="-122"/>
                <a:ea typeface="黑体" panose="02010609060101010101" pitchFamily="49" charset="-122"/>
              </a:rPr>
              <a:t>编码矩阵生成</a:t>
            </a:r>
            <a:r>
              <a:rPr lang="zh-CN" altLang="en-US" sz="2000" dirty="0">
                <a:solidFill>
                  <a:srgbClr val="000000"/>
                </a:solidFill>
                <a:latin typeface="黑体" panose="02010609060101010101" pitchFamily="49" charset="-122"/>
                <a:ea typeface="黑体" panose="02010609060101010101" pitchFamily="49" charset="-122"/>
              </a:rPr>
              <a:t>、</a:t>
            </a:r>
            <a:r>
              <a:rPr lang="zh-CN" altLang="en-US" sz="2000" u="sng" dirty="0">
                <a:solidFill>
                  <a:srgbClr val="000000"/>
                </a:solidFill>
                <a:latin typeface="黑体" panose="02010609060101010101" pitchFamily="49" charset="-122"/>
                <a:ea typeface="黑体" panose="02010609060101010101" pitchFamily="49" charset="-122"/>
              </a:rPr>
              <a:t>序列</a:t>
            </a:r>
            <a:r>
              <a:rPr lang="zh-CN" altLang="en-US" sz="2000" dirty="0">
                <a:solidFill>
                  <a:srgbClr val="000000"/>
                </a:solidFill>
                <a:latin typeface="黑体" panose="02010609060101010101" pitchFamily="49" charset="-122"/>
                <a:ea typeface="黑体" panose="02010609060101010101" pitchFamily="49" charset="-122"/>
              </a:rPr>
              <a:t>、</a:t>
            </a:r>
            <a:r>
              <a:rPr lang="zh-CN" altLang="en-US" sz="2000" u="sng" dirty="0">
                <a:solidFill>
                  <a:srgbClr val="000000"/>
                </a:solidFill>
                <a:latin typeface="黑体" panose="02010609060101010101" pitchFamily="49" charset="-122"/>
                <a:ea typeface="黑体" panose="02010609060101010101" pitchFamily="49" charset="-122"/>
              </a:rPr>
              <a:t>速率匹配</a:t>
            </a:r>
            <a:r>
              <a:rPr lang="zh-CN" altLang="en-US" sz="2000" dirty="0">
                <a:solidFill>
                  <a:srgbClr val="000000"/>
                </a:solidFill>
                <a:latin typeface="黑体" panose="02010609060101010101" pitchFamily="49" charset="-122"/>
                <a:ea typeface="黑体" panose="02010609060101010101" pitchFamily="49" charset="-122"/>
              </a:rPr>
              <a:t>、</a:t>
            </a:r>
            <a:r>
              <a:rPr lang="zh-CN" altLang="en-US" sz="2000" u="sng" dirty="0">
                <a:solidFill>
                  <a:srgbClr val="000000"/>
                </a:solidFill>
                <a:latin typeface="黑体" panose="02010609060101010101" pitchFamily="49" charset="-122"/>
                <a:ea typeface="黑体" panose="02010609060101010101" pitchFamily="49" charset="-122"/>
              </a:rPr>
              <a:t>交织</a:t>
            </a:r>
            <a:endParaRPr lang="zh-CN" altLang="en-US" u="sng" dirty="0">
              <a:solidFill>
                <a:srgbClr val="000000"/>
              </a:solidFill>
              <a:latin typeface="Arial" panose="020B0604020202020204" pitchFamily="34" charset="0"/>
              <a:ea typeface="宋体" panose="02010600030101010101" pitchFamily="2" charset="-122"/>
            </a:endParaRPr>
          </a:p>
        </p:txBody>
      </p:sp>
      <p:cxnSp>
        <p:nvCxnSpPr>
          <p:cNvPr id="11" name="直接箭头连接符 10"/>
          <p:cNvCxnSpPr/>
          <p:nvPr/>
        </p:nvCxnSpPr>
        <p:spPr bwMode="auto">
          <a:xfrm>
            <a:off x="2563944" y="3890803"/>
            <a:ext cx="8381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文本框 11"/>
          <p:cNvSpPr txBox="1"/>
          <p:nvPr/>
        </p:nvSpPr>
        <p:spPr>
          <a:xfrm>
            <a:off x="2373449" y="3583027"/>
            <a:ext cx="1219168" cy="307777"/>
          </a:xfrm>
          <a:prstGeom prst="rect">
            <a:avLst/>
          </a:prstGeom>
          <a:noFill/>
        </p:spPr>
        <p:txBody>
          <a:bodyPr wrap="square" rtlCol="0" anchor="t">
            <a:spAutoFit/>
          </a:bodyPr>
          <a:lstStyle/>
          <a:p>
            <a:pPr eaLnBrk="0" fontAlgn="base" hangingPunct="0">
              <a:spcBef>
                <a:spcPct val="0"/>
              </a:spcBef>
              <a:spcAft>
                <a:spcPct val="0"/>
              </a:spcAft>
            </a:pPr>
            <a:r>
              <a:rPr lang="zh-CN" altLang="en-US" sz="1400" b="1" dirty="0">
                <a:solidFill>
                  <a:srgbClr val="000000"/>
                </a:solidFill>
                <a:latin typeface="黑体" panose="02010609060101010101" pitchFamily="49" charset="-122"/>
                <a:ea typeface="黑体" panose="02010609060101010101" pitchFamily="49" charset="-122"/>
                <a:sym typeface="+mn-ea"/>
              </a:rPr>
              <a:t>待编码信息</a:t>
            </a:r>
          </a:p>
        </p:txBody>
      </p:sp>
      <p:sp>
        <p:nvSpPr>
          <p:cNvPr id="15" name="矩形 14"/>
          <p:cNvSpPr/>
          <p:nvPr/>
        </p:nvSpPr>
        <p:spPr>
          <a:xfrm>
            <a:off x="3444067" y="3675964"/>
            <a:ext cx="1295366" cy="42057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eaLnBrk="0" fontAlgn="base" hangingPunct="0">
              <a:spcBef>
                <a:spcPct val="0"/>
              </a:spcBef>
              <a:spcAft>
                <a:spcPct val="0"/>
              </a:spcAft>
            </a:pPr>
            <a:r>
              <a:rPr lang="zh-CN" altLang="en-US" sz="1400" dirty="0">
                <a:solidFill>
                  <a:srgbClr val="000000"/>
                </a:solidFill>
                <a:latin typeface="Times New Roman"/>
                <a:ea typeface="黑体"/>
              </a:rPr>
              <a:t>编码矩阵生成</a:t>
            </a:r>
          </a:p>
        </p:txBody>
      </p:sp>
      <p:cxnSp>
        <p:nvCxnSpPr>
          <p:cNvPr id="16" name="直接箭头连接符 15"/>
          <p:cNvCxnSpPr/>
          <p:nvPr/>
        </p:nvCxnSpPr>
        <p:spPr bwMode="auto">
          <a:xfrm>
            <a:off x="4739433" y="3873966"/>
            <a:ext cx="45718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p:nvPr/>
        </p:nvCxnSpPr>
        <p:spPr bwMode="auto">
          <a:xfrm flipV="1">
            <a:off x="5886250" y="3873967"/>
            <a:ext cx="743137" cy="122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p:nvPr/>
        </p:nvCxnSpPr>
        <p:spPr bwMode="auto">
          <a:xfrm flipV="1">
            <a:off x="7619960" y="3886179"/>
            <a:ext cx="34349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p:nvPr/>
        </p:nvCxnSpPr>
        <p:spPr bwMode="auto">
          <a:xfrm>
            <a:off x="8744112" y="3886178"/>
            <a:ext cx="8381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矩形 20"/>
          <p:cNvSpPr/>
          <p:nvPr/>
        </p:nvSpPr>
        <p:spPr>
          <a:xfrm>
            <a:off x="5200467" y="3675964"/>
            <a:ext cx="685782" cy="42057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eaLnBrk="0" fontAlgn="base" hangingPunct="0">
              <a:spcBef>
                <a:spcPct val="0"/>
              </a:spcBef>
              <a:spcAft>
                <a:spcPct val="0"/>
              </a:spcAft>
            </a:pPr>
            <a:r>
              <a:rPr lang="zh-CN" altLang="en-US" sz="1400" dirty="0">
                <a:solidFill>
                  <a:srgbClr val="000000"/>
                </a:solidFill>
                <a:latin typeface="Times New Roman"/>
                <a:ea typeface="黑体"/>
              </a:rPr>
              <a:t>序列</a:t>
            </a:r>
          </a:p>
        </p:txBody>
      </p:sp>
      <p:sp>
        <p:nvSpPr>
          <p:cNvPr id="22" name="矩形 21"/>
          <p:cNvSpPr/>
          <p:nvPr/>
        </p:nvSpPr>
        <p:spPr>
          <a:xfrm>
            <a:off x="6629386" y="3675889"/>
            <a:ext cx="990574" cy="42057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eaLnBrk="0" fontAlgn="base" hangingPunct="0">
              <a:spcBef>
                <a:spcPct val="0"/>
              </a:spcBef>
              <a:spcAft>
                <a:spcPct val="0"/>
              </a:spcAft>
            </a:pPr>
            <a:r>
              <a:rPr lang="zh-CN" altLang="en-US" sz="1400" dirty="0">
                <a:solidFill>
                  <a:srgbClr val="000000"/>
                </a:solidFill>
                <a:latin typeface="Times New Roman"/>
                <a:ea typeface="黑体"/>
              </a:rPr>
              <a:t>速率匹配</a:t>
            </a:r>
          </a:p>
        </p:txBody>
      </p:sp>
      <p:sp>
        <p:nvSpPr>
          <p:cNvPr id="23" name="矩形 22"/>
          <p:cNvSpPr/>
          <p:nvPr/>
        </p:nvSpPr>
        <p:spPr>
          <a:xfrm>
            <a:off x="7978370" y="3675889"/>
            <a:ext cx="751701" cy="42057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eaLnBrk="0" fontAlgn="base" hangingPunct="0">
              <a:spcBef>
                <a:spcPct val="0"/>
              </a:spcBef>
              <a:spcAft>
                <a:spcPct val="0"/>
              </a:spcAft>
            </a:pPr>
            <a:r>
              <a:rPr lang="zh-CN" altLang="en-US" sz="1400" dirty="0">
                <a:solidFill>
                  <a:srgbClr val="000000"/>
                </a:solidFill>
                <a:latin typeface="Times New Roman"/>
                <a:ea typeface="黑体"/>
              </a:rPr>
              <a:t>交织</a:t>
            </a:r>
          </a:p>
        </p:txBody>
      </p:sp>
      <p:sp>
        <p:nvSpPr>
          <p:cNvPr id="24" name="文本框 23"/>
          <p:cNvSpPr txBox="1"/>
          <p:nvPr/>
        </p:nvSpPr>
        <p:spPr>
          <a:xfrm>
            <a:off x="8744112" y="3583027"/>
            <a:ext cx="1371564" cy="307777"/>
          </a:xfrm>
          <a:prstGeom prst="rect">
            <a:avLst/>
          </a:prstGeom>
          <a:noFill/>
        </p:spPr>
        <p:txBody>
          <a:bodyPr wrap="square" rtlCol="0" anchor="t">
            <a:spAutoFit/>
          </a:bodyPr>
          <a:lstStyle/>
          <a:p>
            <a:pPr eaLnBrk="0" fontAlgn="base" hangingPunct="0">
              <a:spcBef>
                <a:spcPct val="0"/>
              </a:spcBef>
              <a:spcAft>
                <a:spcPct val="0"/>
              </a:spcAft>
            </a:pPr>
            <a:r>
              <a:rPr lang="zh-CN" altLang="en-US" sz="1400" b="1" dirty="0">
                <a:solidFill>
                  <a:srgbClr val="000000"/>
                </a:solidFill>
                <a:latin typeface="黑体" panose="02010609060101010101" pitchFamily="49" charset="-122"/>
                <a:ea typeface="黑体" panose="02010609060101010101" pitchFamily="49" charset="-122"/>
                <a:sym typeface="+mn-ea"/>
              </a:rPr>
              <a:t>编码后的比特</a:t>
            </a:r>
          </a:p>
        </p:txBody>
      </p:sp>
      <p:sp>
        <p:nvSpPr>
          <p:cNvPr id="28" name="椭圆 27"/>
          <p:cNvSpPr/>
          <p:nvPr/>
        </p:nvSpPr>
        <p:spPr>
          <a:xfrm>
            <a:off x="5996839" y="3467093"/>
            <a:ext cx="453342" cy="838171"/>
          </a:xfrm>
          <a:prstGeom prst="ellipse">
            <a:avLst/>
          </a:prstGeom>
          <a:noFill/>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eaLnBrk="0" fontAlgn="base" hangingPunct="0">
              <a:spcBef>
                <a:spcPct val="0"/>
              </a:spcBef>
              <a:spcAft>
                <a:spcPct val="0"/>
              </a:spcAft>
            </a:pPr>
            <a:endParaRPr lang="zh-CN" altLang="en-US">
              <a:solidFill>
                <a:srgbClr val="000000"/>
              </a:solidFill>
              <a:latin typeface="Times New Roman"/>
              <a:ea typeface="黑体"/>
            </a:endParaRPr>
          </a:p>
        </p:txBody>
      </p:sp>
      <p:sp>
        <p:nvSpPr>
          <p:cNvPr id="31" name="文本框 30"/>
          <p:cNvSpPr txBox="1"/>
          <p:nvPr/>
        </p:nvSpPr>
        <p:spPr>
          <a:xfrm>
            <a:off x="6013827" y="3631629"/>
            <a:ext cx="461665" cy="673635"/>
          </a:xfrm>
          <a:prstGeom prst="rect">
            <a:avLst/>
          </a:prstGeom>
          <a:noFill/>
        </p:spPr>
        <p:txBody>
          <a:bodyPr vert="eaVert" wrap="square" rtlCol="0" anchor="t">
            <a:spAutoFit/>
          </a:bodyPr>
          <a:lstStyle/>
          <a:p>
            <a:pPr eaLnBrk="0" fontAlgn="base" hangingPunct="0">
              <a:spcBef>
                <a:spcPct val="0"/>
              </a:spcBef>
              <a:spcAft>
                <a:spcPct val="0"/>
              </a:spcAft>
            </a:pPr>
            <a:r>
              <a:rPr lang="zh-CN" altLang="en-US" b="1" dirty="0">
                <a:solidFill>
                  <a:srgbClr val="000000"/>
                </a:solidFill>
                <a:latin typeface="黑体" panose="02010609060101010101" pitchFamily="49" charset="-122"/>
                <a:ea typeface="黑体" panose="02010609060101010101" pitchFamily="49" charset="-122"/>
                <a:sym typeface="+mn-ea"/>
              </a:rPr>
              <a:t>编码</a:t>
            </a:r>
          </a:p>
        </p:txBody>
      </p:sp>
      <p:sp>
        <p:nvSpPr>
          <p:cNvPr id="33" name="文本框 32"/>
          <p:cNvSpPr txBox="1"/>
          <p:nvPr/>
        </p:nvSpPr>
        <p:spPr>
          <a:xfrm>
            <a:off x="5457759" y="4959300"/>
            <a:ext cx="1752554"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3333CC"/>
                </a:solidFill>
                <a:latin typeface="黑体" panose="02010609060101010101" pitchFamily="49" charset="-122"/>
                <a:ea typeface="黑体" panose="02010609060101010101" pitchFamily="49" charset="-122"/>
                <a:sym typeface="+mn-ea"/>
              </a:rPr>
              <a:t>Polar</a:t>
            </a:r>
            <a:r>
              <a:rPr lang="zh-CN" altLang="en-US" b="1" dirty="0">
                <a:solidFill>
                  <a:srgbClr val="3333CC"/>
                </a:solidFill>
                <a:latin typeface="黑体" panose="02010609060101010101" pitchFamily="49" charset="-122"/>
                <a:ea typeface="黑体" panose="02010609060101010101" pitchFamily="49" charset="-122"/>
                <a:sym typeface="+mn-ea"/>
              </a:rPr>
              <a:t>码构造</a:t>
            </a: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638812" y="120346"/>
            <a:ext cx="4800474" cy="685800"/>
          </a:xfrm>
        </p:spPr>
        <p:txBody>
          <a:bodyPr/>
          <a:lstStyle/>
          <a:p>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编码矩阵生成</a:t>
            </a:r>
            <a:endParaRPr lang="zh-CN" altLang="en-US" sz="2400" dirty="0">
              <a:sym typeface="+mn-ea"/>
            </a:endParaRPr>
          </a:p>
        </p:txBody>
      </p:sp>
      <mc:AlternateContent xmlns:mc="http://schemas.openxmlformats.org/markup-compatibility/2006" xmlns:a14="http://schemas.microsoft.com/office/drawing/2010/main">
        <mc:Choice Requires="a14">
          <p:sp>
            <p:nvSpPr>
              <p:cNvPr id="5" name="文本框 4"/>
              <p:cNvSpPr txBox="1"/>
              <p:nvPr/>
            </p:nvSpPr>
            <p:spPr>
              <a:xfrm>
                <a:off x="2362298" y="1024296"/>
                <a:ext cx="7467404" cy="5713359"/>
              </a:xfrm>
              <a:prstGeom prst="rect">
                <a:avLst/>
              </a:prstGeom>
              <a:noFill/>
            </p:spPr>
            <p:txBody>
              <a:bodyPr wrap="square">
                <a:spAutoFit/>
              </a:bodyPr>
              <a:lstStyle/>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Polar</a:t>
                </a:r>
                <a:r>
                  <a:rPr lang="zh-CN" altLang="en-US" sz="2000" dirty="0">
                    <a:solidFill>
                      <a:srgbClr val="000000"/>
                    </a:solidFill>
                    <a:latin typeface="Times New Roman"/>
                    <a:ea typeface="黑体" panose="02010609060101010101" pitchFamily="49" charset="-122"/>
                  </a:rPr>
                  <a:t>码的编码矩阵是指在进行极化编码时用来计算编码字的矩阵（</a:t>
                </a:r>
                <a:r>
                  <a:rPr lang="en-US" altLang="zh-CN" sz="2000" dirty="0">
                    <a:solidFill>
                      <a:srgbClr val="000000"/>
                    </a:solidFill>
                    <a:latin typeface="Times New Roman"/>
                    <a:ea typeface="黑体" panose="02010609060101010101" pitchFamily="49" charset="-122"/>
                  </a:rPr>
                  <a:t>c=</a:t>
                </a:r>
                <a:r>
                  <a:rPr lang="en-US" altLang="zh-CN" sz="2000" dirty="0" err="1">
                    <a:solidFill>
                      <a:srgbClr val="000000"/>
                    </a:solidFill>
                    <a:latin typeface="Times New Roman"/>
                    <a:ea typeface="黑体" panose="02010609060101010101" pitchFamily="49" charset="-122"/>
                  </a:rPr>
                  <a:t>u·G</a:t>
                </a:r>
                <a:r>
                  <a:rPr lang="zh-CN" altLang="en-US" sz="2000" dirty="0">
                    <a:solidFill>
                      <a:srgbClr val="000000"/>
                    </a:solidFill>
                    <a:latin typeface="Times New Roman"/>
                    <a:ea typeface="黑体" panose="02010609060101010101" pitchFamily="49" charset="-122"/>
                  </a:rPr>
                  <a:t>中的</a:t>
                </a:r>
                <a:r>
                  <a:rPr lang="en-US" altLang="zh-CN" sz="2000" dirty="0">
                    <a:solidFill>
                      <a:srgbClr val="000000"/>
                    </a:solidFill>
                    <a:latin typeface="Times New Roman"/>
                    <a:ea typeface="黑体" panose="02010609060101010101" pitchFamily="49" charset="-122"/>
                  </a:rPr>
                  <a:t>G</a:t>
                </a:r>
                <a:r>
                  <a:rPr lang="zh-CN" altLang="en-US" sz="2000" dirty="0">
                    <a:solidFill>
                      <a:srgbClr val="000000"/>
                    </a:solidFill>
                    <a:latin typeface="Times New Roman"/>
                    <a:ea typeface="黑体" panose="02010609060101010101" pitchFamily="49" charset="-122"/>
                  </a:rPr>
                  <a:t>）编码矩阵是通常是事先存储好而不需要动态改变的。一个母码长度为</a:t>
                </a:r>
                <a14:m>
                  <m:oMath xmlns:m="http://schemas.openxmlformats.org/officeDocument/2006/math">
                    <m:r>
                      <m:rPr>
                        <m:sty m:val="p"/>
                      </m:rPr>
                      <a:rPr lang="en-US" altLang="zh-CN" sz="2000">
                        <a:solidFill>
                          <a:srgbClr val="000000"/>
                        </a:solidFill>
                        <a:latin typeface="Cambria Math" panose="02040503050406030204" pitchFamily="18" charset="0"/>
                      </a:rPr>
                      <m:t>N</m:t>
                    </m:r>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2</m:t>
                        </m:r>
                      </m:e>
                      <m:sup>
                        <m:r>
                          <a:rPr lang="zh-CN" altLang="en-US" sz="2000" i="1">
                            <a:solidFill>
                              <a:srgbClr val="000000"/>
                            </a:solidFill>
                            <a:latin typeface="Cambria Math" panose="02040503050406030204" pitchFamily="18" charset="0"/>
                          </a:rPr>
                          <m:t>𝑛</m:t>
                        </m:r>
                      </m:sup>
                    </m:sSup>
                  </m:oMath>
                </a14:m>
                <a:r>
                  <a:rPr lang="zh-CN" altLang="en-US" sz="2000" dirty="0">
                    <a:solidFill>
                      <a:srgbClr val="000000"/>
                    </a:solidFill>
                    <a:latin typeface="Times New Roman"/>
                    <a:ea typeface="黑体" panose="02010609060101010101" pitchFamily="49" charset="-122"/>
                  </a:rPr>
                  <a:t>的极化码，其编码矩阵可由：</a:t>
                </a:r>
                <a:endParaRPr lang="en-US" altLang="zh-CN" sz="2000" dirty="0">
                  <a:solidFill>
                    <a:srgbClr val="000000"/>
                  </a:solidFill>
                  <a:latin typeface="Times New Roman"/>
                  <a:ea typeface="黑体" panose="02010609060101010101" pitchFamily="49" charset="-122"/>
                </a:endParaRPr>
              </a:p>
              <a:p>
                <a:pPr algn="ctr" eaLnBrk="0" fontAlgn="base" hangingPunct="0">
                  <a:lnSpc>
                    <a:spcPct val="150000"/>
                  </a:lnSpc>
                  <a:spcBef>
                    <a:spcPct val="0"/>
                  </a:spcBef>
                  <a:spcAft>
                    <a:spcPct val="0"/>
                  </a:spcAft>
                </a:pPr>
                <a:r>
                  <a:rPr lang="en-US" altLang="zh-CN" sz="2000" dirty="0" err="1">
                    <a:solidFill>
                      <a:srgbClr val="000000"/>
                    </a:solidFill>
                    <a:latin typeface="Times New Roman"/>
                    <a:ea typeface="黑体" panose="02010609060101010101" pitchFamily="49" charset="-122"/>
                  </a:rPr>
                  <a:t>Arikan</a:t>
                </a:r>
                <a:r>
                  <a:rPr lang="zh-CN" altLang="en-US" sz="2000" dirty="0">
                    <a:solidFill>
                      <a:srgbClr val="000000"/>
                    </a:solidFill>
                    <a:latin typeface="Times New Roman"/>
                    <a:ea typeface="黑体" panose="02010609060101010101" pitchFamily="49" charset="-122"/>
                  </a:rPr>
                  <a:t>核</a:t>
                </a:r>
                <a14:m>
                  <m:oMath xmlns:m="http://schemas.openxmlformats.org/officeDocument/2006/math">
                    <m:r>
                      <a:rPr lang="zh-CN" altLang="en-US" sz="2000" i="1">
                        <a:solidFill>
                          <a:srgbClr val="000000"/>
                        </a:solidFill>
                        <a:latin typeface="Cambria Math" panose="02040503050406030204" pitchFamily="18" charset="0"/>
                      </a:rPr>
                      <m:t>𝐹</m:t>
                    </m:r>
                    <m:r>
                      <a:rPr lang="zh-CN" altLang="en-US"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m>
                          <m:mPr>
                            <m:plcHide m:val="on"/>
                            <m:mcs>
                              <m:mc>
                                <m:mcPr>
                                  <m:count m:val="2"/>
                                  <m:mcJc m:val="center"/>
                                </m:mcPr>
                              </m:mc>
                            </m:mcs>
                            <m:ctrlPr>
                              <a:rPr lang="zh-CN" altLang="en-US" sz="2000" i="1">
                                <a:solidFill>
                                  <a:srgbClr val="000000"/>
                                </a:solidFill>
                                <a:latin typeface="Cambria Math" panose="02040503050406030204" pitchFamily="18" charset="0"/>
                              </a:rPr>
                            </m:ctrlPr>
                          </m:mPr>
                          <m:mr>
                            <m:e>
                              <m:r>
                                <a:rPr lang="zh-CN" altLang="en-US" sz="2000" i="1">
                                  <a:solidFill>
                                    <a:srgbClr val="000000"/>
                                  </a:solidFill>
                                  <a:latin typeface="Cambria Math" panose="02040503050406030204" pitchFamily="18" charset="0"/>
                                </a:rPr>
                                <m:t>1</m:t>
                              </m:r>
                            </m:e>
                            <m:e>
                              <m:r>
                                <a:rPr lang="zh-CN" altLang="en-US" sz="2000" i="1">
                                  <a:solidFill>
                                    <a:srgbClr val="000000"/>
                                  </a:solidFill>
                                  <a:latin typeface="Cambria Math" panose="02040503050406030204" pitchFamily="18" charset="0"/>
                                </a:rPr>
                                <m:t>0</m:t>
                              </m:r>
                            </m:e>
                          </m:mr>
                          <m:mr>
                            <m:e>
                              <m:r>
                                <a:rPr lang="zh-CN" altLang="en-US" sz="2000" i="1">
                                  <a:solidFill>
                                    <a:srgbClr val="000000"/>
                                  </a:solidFill>
                                  <a:latin typeface="Cambria Math" panose="02040503050406030204" pitchFamily="18" charset="0"/>
                                </a:rPr>
                                <m:t>1</m:t>
                              </m:r>
                            </m:e>
                            <m:e>
                              <m:r>
                                <a:rPr lang="zh-CN" altLang="en-US" sz="2000" i="1">
                                  <a:solidFill>
                                    <a:srgbClr val="000000"/>
                                  </a:solidFill>
                                  <a:latin typeface="Cambria Math" panose="02040503050406030204" pitchFamily="18" charset="0"/>
                                </a:rPr>
                                <m:t>1</m:t>
                              </m:r>
                            </m:e>
                          </m:mr>
                        </m:m>
                      </m:e>
                    </m:d>
                  </m:oMath>
                </a14:m>
                <a:endParaRPr lang="en-US" altLang="zh-CN" sz="2000" dirty="0">
                  <a:solidFill>
                    <a:srgbClr val="000000"/>
                  </a:solidFill>
                  <a:latin typeface="Times New Roman"/>
                  <a:ea typeface="黑体" panose="02010609060101010101" pitchFamily="49" charset="-122"/>
                </a:endParaRPr>
              </a:p>
              <a:p>
                <a:pPr algn="ctr" eaLnBrk="0" fontAlgn="base" hangingPunct="0">
                  <a:lnSpc>
                    <a:spcPct val="150000"/>
                  </a:lnSpc>
                  <a:spcBef>
                    <a:spcPct val="0"/>
                  </a:spcBef>
                  <a:spcAft>
                    <a:spcPct val="0"/>
                  </a:spcAft>
                </a:pP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zh-CN" altLang="en-US" sz="2000" dirty="0">
                    <a:solidFill>
                      <a:srgbClr val="000000"/>
                    </a:solidFill>
                    <a:latin typeface="Times New Roman"/>
                    <a:ea typeface="黑体" panose="02010609060101010101" pitchFamily="49" charset="-122"/>
                  </a:rPr>
                  <a:t>计算出来</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𝐺</m:t>
                        </m:r>
                      </m:e>
                      <m:sub>
                        <m:r>
                          <a:rPr lang="zh-CN" altLang="en-US" sz="2000" i="1">
                            <a:solidFill>
                              <a:srgbClr val="000000"/>
                            </a:solidFill>
                            <a:latin typeface="Cambria Math" panose="02040503050406030204" pitchFamily="18" charset="0"/>
                          </a:rPr>
                          <m:t>𝑁</m:t>
                        </m:r>
                      </m:sub>
                    </m:sSub>
                    <m:r>
                      <a:rPr lang="zh-CN" altLang="en-US" sz="2000" i="1">
                        <a:solidFill>
                          <a:srgbClr val="000000"/>
                        </a:solidFill>
                        <a:latin typeface="Cambria Math" panose="02040503050406030204" pitchFamily="18" charset="0"/>
                      </a:rPr>
                      <m:t>=</m:t>
                    </m:r>
                    <m:sSup>
                      <m:sSupPr>
                        <m:ctrlPr>
                          <a:rPr lang="en-US" altLang="zh-CN"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𝐹</m:t>
                        </m:r>
                      </m:e>
                      <m: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𝑛</m:t>
                        </m:r>
                      </m:sup>
                    </m:sSup>
                    <m:r>
                      <a:rPr lang="zh-CN" altLang="en-US" sz="2000" i="1">
                        <a:solidFill>
                          <a:srgbClr val="000000"/>
                        </a:solidFill>
                        <a:latin typeface="Cambria Math" panose="02040503050406030204" pitchFamily="18" charset="0"/>
                      </a:rPr>
                      <m:t>，</m:t>
                    </m:r>
                  </m:oMath>
                </a14:m>
                <a:r>
                  <a:rPr lang="zh-CN" altLang="en-US" sz="2000" dirty="0">
                    <a:solidFill>
                      <a:srgbClr val="000000"/>
                    </a:solidFill>
                    <a:latin typeface="Times New Roman"/>
                    <a:ea typeface="黑体" panose="02010609060101010101" pitchFamily="49" charset="-122"/>
                  </a:rPr>
                  <a:t>其中</a:t>
                </a:r>
                <a14:m>
                  <m:oMath xmlns:m="http://schemas.openxmlformats.org/officeDocument/2006/math">
                    <m:r>
                      <a:rPr lang="zh-CN" altLang="en-US" sz="2000" i="1">
                        <a:solidFill>
                          <a:srgbClr val="000000"/>
                        </a:solidFill>
                        <a:latin typeface="Cambria Math" panose="02040503050406030204" pitchFamily="18" charset="0"/>
                      </a:rPr>
                      <m:t>⊗</m:t>
                    </m:r>
                  </m:oMath>
                </a14:m>
                <a:r>
                  <a:rPr lang="zh-CN" altLang="en-US" sz="2000" dirty="0">
                    <a:solidFill>
                      <a:srgbClr val="000000"/>
                    </a:solidFill>
                    <a:latin typeface="Times New Roman"/>
                    <a:ea typeface="黑体" panose="02010609060101010101" pitchFamily="49" charset="-122"/>
                  </a:rPr>
                  <a:t>表示张量积。</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zh-CN" altLang="en-US" sz="2000" dirty="0">
                    <a:solidFill>
                      <a:srgbClr val="000000"/>
                    </a:solidFill>
                    <a:latin typeface="Times New Roman"/>
                    <a:ea typeface="黑体" panose="02010609060101010101" pitchFamily="49" charset="-122"/>
                  </a:rPr>
                  <a:t>例如：</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𝐺</m:t>
                        </m:r>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𝐹</m:t>
                    </m:r>
                    <m:r>
                      <a:rPr lang="zh-CN" altLang="en-US"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m>
                          <m:mPr>
                            <m:plcHide m:val="on"/>
                            <m:mcs>
                              <m:mc>
                                <m:mcPr>
                                  <m:count m:val="2"/>
                                  <m:mcJc m:val="center"/>
                                </m:mcPr>
                              </m:mc>
                            </m:mcs>
                            <m:ctrlPr>
                              <a:rPr lang="zh-CN" altLang="en-US" sz="2000" i="1">
                                <a:solidFill>
                                  <a:srgbClr val="000000"/>
                                </a:solidFill>
                                <a:latin typeface="Cambria Math" panose="02040503050406030204" pitchFamily="18" charset="0"/>
                              </a:rPr>
                            </m:ctrlPr>
                          </m:mPr>
                          <m:mr>
                            <m:e>
                              <m:r>
                                <a:rPr lang="zh-CN" altLang="en-US" sz="2000" i="1">
                                  <a:solidFill>
                                    <a:srgbClr val="000000"/>
                                  </a:solidFill>
                                  <a:latin typeface="Cambria Math" panose="02040503050406030204" pitchFamily="18" charset="0"/>
                                </a:rPr>
                                <m:t>1</m:t>
                              </m:r>
                            </m:e>
                            <m:e>
                              <m:r>
                                <a:rPr lang="zh-CN" altLang="en-US" sz="2000" i="1">
                                  <a:solidFill>
                                    <a:srgbClr val="000000"/>
                                  </a:solidFill>
                                  <a:latin typeface="Cambria Math" panose="02040503050406030204" pitchFamily="18" charset="0"/>
                                </a:rPr>
                                <m:t>0</m:t>
                              </m:r>
                            </m:e>
                          </m:mr>
                          <m:mr>
                            <m:e>
                              <m:r>
                                <a:rPr lang="zh-CN" altLang="en-US" sz="2000" i="1">
                                  <a:solidFill>
                                    <a:srgbClr val="000000"/>
                                  </a:solidFill>
                                  <a:latin typeface="Cambria Math" panose="02040503050406030204" pitchFamily="18" charset="0"/>
                                </a:rPr>
                                <m:t>1</m:t>
                              </m:r>
                            </m:e>
                            <m:e>
                              <m:r>
                                <a:rPr lang="zh-CN" altLang="en-US" sz="2000" i="1">
                                  <a:solidFill>
                                    <a:srgbClr val="000000"/>
                                  </a:solidFill>
                                  <a:latin typeface="Cambria Math" panose="02040503050406030204" pitchFamily="18" charset="0"/>
                                </a:rPr>
                                <m:t>1</m:t>
                              </m:r>
                            </m:e>
                          </m:mr>
                        </m:m>
                      </m:e>
                    </m:d>
                  </m:oMath>
                </a14:m>
                <a:r>
                  <a:rPr lang="zh-CN" altLang="en-US" sz="2000" dirty="0">
                    <a:solidFill>
                      <a:srgbClr val="000000"/>
                    </a:solidFill>
                    <a:latin typeface="Times New Roman"/>
                    <a:ea typeface="黑体" panose="02010609060101010101" pitchFamily="49" charset="-122"/>
                  </a:rPr>
                  <a:t>，</a:t>
                </a:r>
                <a:r>
                  <a:rPr lang="zh-CN" altLang="en-US" sz="2000" dirty="0">
                    <a:solidFill>
                      <a:srgbClr val="000000"/>
                    </a:solidFill>
                    <a:latin typeface="Times New Roman"/>
                    <a:ea typeface="宋体" panose="02010600030101010101" pitchFamily="2" charset="-122"/>
                  </a:rPr>
                  <a:t> </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𝐺</m:t>
                        </m:r>
                      </m:e>
                      <m:sub>
                        <m:r>
                          <a:rPr lang="en-US" altLang="zh-CN" sz="2000" i="1">
                            <a:solidFill>
                              <a:srgbClr val="000000"/>
                            </a:solidFill>
                            <a:latin typeface="Cambria Math" panose="02040503050406030204" pitchFamily="18" charset="0"/>
                          </a:rPr>
                          <m:t>4</m:t>
                        </m:r>
                      </m:sub>
                    </m:sSub>
                    <m:r>
                      <a:rPr lang="zh-CN" altLang="en-US" sz="2000" i="1">
                        <a:solidFill>
                          <a:srgbClr val="000000"/>
                        </a:solidFill>
                        <a:latin typeface="Cambria Math" panose="02040503050406030204" pitchFamily="18" charset="0"/>
                      </a:rPr>
                      <m:t>=</m:t>
                    </m:r>
                    <m:sSup>
                      <m:sSupPr>
                        <m:ctrlPr>
                          <a:rPr lang="en-US" altLang="zh-CN"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𝐹</m:t>
                        </m:r>
                      </m:e>
                      <m:sup>
                        <m:r>
                          <a:rPr lang="zh-CN" altLang="en-US"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2</m:t>
                        </m:r>
                      </m:sup>
                    </m:sSup>
                    <m:r>
                      <a:rPr lang="en-US" altLang="zh-CN" sz="2000" i="1">
                        <a:solidFill>
                          <a:srgbClr val="000000"/>
                        </a:solidFill>
                        <a:latin typeface="Cambria Math" panose="02040503050406030204" pitchFamily="18" charset="0"/>
                      </a:rPr>
                      <m:t>=</m:t>
                    </m:r>
                    <m:r>
                      <a:rPr lang="en-US" altLang="zh-CN" sz="2000" i="1" dirty="0">
                        <a:solidFill>
                          <a:srgbClr val="000000"/>
                        </a:solidFill>
                        <a:latin typeface="Cambria Math" panose="02040503050406030204" pitchFamily="18" charset="0"/>
                      </a:rPr>
                      <m:t>𝐹</m:t>
                    </m:r>
                    <m:r>
                      <a:rPr lang="en-US" altLang="zh-CN" sz="2000" dirty="0">
                        <a:solidFill>
                          <a:srgbClr val="000000"/>
                        </a:solidFill>
                        <a:latin typeface="Cambria Math" panose="02040503050406030204" pitchFamily="18" charset="0"/>
                      </a:rPr>
                      <m:t>⊗</m:t>
                    </m:r>
                    <m:r>
                      <a:rPr lang="en-US" altLang="zh-CN" sz="2000" i="1" dirty="0">
                        <a:solidFill>
                          <a:srgbClr val="000000"/>
                        </a:solidFill>
                        <a:latin typeface="Cambria Math" panose="02040503050406030204" pitchFamily="18" charset="0"/>
                      </a:rPr>
                      <m:t>𝐹</m:t>
                    </m:r>
                    <m:r>
                      <a:rPr lang="en-US" altLang="zh-CN" sz="2000" i="1" dirty="0">
                        <a:solidFill>
                          <a:srgbClr val="000000"/>
                        </a:solidFill>
                        <a:latin typeface="Cambria Math" panose="02040503050406030204" pitchFamily="18" charset="0"/>
                      </a:rPr>
                      <m:t>=</m:t>
                    </m:r>
                    <m:d>
                      <m:dPr>
                        <m:begChr m:val="["/>
                        <m:endChr m:val="]"/>
                        <m:ctrlPr>
                          <a:rPr lang="en-US" altLang="zh-CN" sz="2000" i="1" dirty="0">
                            <a:solidFill>
                              <a:srgbClr val="000000"/>
                            </a:solidFill>
                            <a:latin typeface="Cambria Math" panose="02040503050406030204" pitchFamily="18" charset="0"/>
                          </a:rPr>
                        </m:ctrlPr>
                      </m:dPr>
                      <m:e>
                        <m:m>
                          <m:mPr>
                            <m:plcHide m:val="on"/>
                            <m:mcs>
                              <m:mc>
                                <m:mcPr>
                                  <m:count m:val="4"/>
                                  <m:mcJc m:val="center"/>
                                </m:mcPr>
                              </m:mc>
                            </m:mcs>
                            <m:ctrlPr>
                              <a:rPr lang="en-US" altLang="zh-CN" sz="2000" i="1" dirty="0">
                                <a:solidFill>
                                  <a:srgbClr val="000000"/>
                                </a:solidFill>
                                <a:latin typeface="Cambria Math" panose="02040503050406030204" pitchFamily="18" charset="0"/>
                              </a:rPr>
                            </m:ctrlPr>
                          </m:mPr>
                          <m:mr>
                            <m:e>
                              <m:r>
                                <a:rPr lang="en-US" altLang="zh-CN" sz="2000" dirty="0">
                                  <a:solidFill>
                                    <a:srgbClr val="000000"/>
                                  </a:solidFill>
                                  <a:latin typeface="Cambria Math" panose="02040503050406030204" pitchFamily="18" charset="0"/>
                                </a:rPr>
                                <m:t>1</m:t>
                              </m:r>
                            </m:e>
                            <m:e>
                              <m:r>
                                <a:rPr lang="en-US" altLang="zh-CN" sz="2000" dirty="0">
                                  <a:solidFill>
                                    <a:srgbClr val="000000"/>
                                  </a:solidFill>
                                  <a:latin typeface="Cambria Math" panose="02040503050406030204" pitchFamily="18" charset="0"/>
                                </a:rPr>
                                <m:t>0</m:t>
                              </m:r>
                            </m:e>
                            <m:e>
                              <m:r>
                                <a:rPr lang="en-US" altLang="zh-CN" sz="2000" dirty="0">
                                  <a:solidFill>
                                    <a:srgbClr val="000000"/>
                                  </a:solidFill>
                                  <a:latin typeface="Cambria Math" panose="02040503050406030204" pitchFamily="18" charset="0"/>
                                </a:rPr>
                                <m:t>0</m:t>
                              </m:r>
                            </m:e>
                            <m:e>
                              <m:r>
                                <a:rPr lang="en-US" altLang="zh-CN" sz="2000" dirty="0">
                                  <a:solidFill>
                                    <a:srgbClr val="000000"/>
                                  </a:solidFill>
                                  <a:latin typeface="Cambria Math" panose="02040503050406030204" pitchFamily="18" charset="0"/>
                                </a:rPr>
                                <m:t>0</m:t>
                              </m:r>
                            </m:e>
                          </m:mr>
                          <m:mr>
                            <m:e>
                              <m:r>
                                <a:rPr lang="en-US" altLang="zh-CN" sz="2000" dirty="0">
                                  <a:solidFill>
                                    <a:srgbClr val="000000"/>
                                  </a:solidFill>
                                  <a:latin typeface="Cambria Math" panose="02040503050406030204" pitchFamily="18" charset="0"/>
                                </a:rPr>
                                <m:t>1</m:t>
                              </m:r>
                            </m:e>
                            <m:e>
                              <m:r>
                                <a:rPr lang="en-US" altLang="zh-CN" sz="2000" dirty="0">
                                  <a:solidFill>
                                    <a:srgbClr val="000000"/>
                                  </a:solidFill>
                                  <a:latin typeface="Cambria Math" panose="02040503050406030204" pitchFamily="18" charset="0"/>
                                </a:rPr>
                                <m:t>1</m:t>
                              </m:r>
                            </m:e>
                            <m:e>
                              <m:r>
                                <a:rPr lang="en-US" altLang="zh-CN" sz="2000" dirty="0">
                                  <a:solidFill>
                                    <a:srgbClr val="000000"/>
                                  </a:solidFill>
                                  <a:latin typeface="Cambria Math" panose="02040503050406030204" pitchFamily="18" charset="0"/>
                                </a:rPr>
                                <m:t>0</m:t>
                              </m:r>
                            </m:e>
                            <m:e>
                              <m:r>
                                <a:rPr lang="en-US" altLang="zh-CN" sz="2000" dirty="0">
                                  <a:solidFill>
                                    <a:srgbClr val="000000"/>
                                  </a:solidFill>
                                  <a:latin typeface="Cambria Math" panose="02040503050406030204" pitchFamily="18" charset="0"/>
                                </a:rPr>
                                <m:t>0</m:t>
                              </m:r>
                            </m:e>
                          </m:mr>
                          <m:mr>
                            <m:e>
                              <m:r>
                                <a:rPr lang="en-US" altLang="zh-CN" sz="2000" dirty="0">
                                  <a:solidFill>
                                    <a:srgbClr val="000000"/>
                                  </a:solidFill>
                                  <a:latin typeface="Cambria Math" panose="02040503050406030204" pitchFamily="18" charset="0"/>
                                </a:rPr>
                                <m:t>1</m:t>
                              </m:r>
                            </m:e>
                            <m:e>
                              <m:r>
                                <a:rPr lang="en-US" altLang="zh-CN" sz="2000" dirty="0">
                                  <a:solidFill>
                                    <a:srgbClr val="000000"/>
                                  </a:solidFill>
                                  <a:latin typeface="Cambria Math" panose="02040503050406030204" pitchFamily="18" charset="0"/>
                                </a:rPr>
                                <m:t>0</m:t>
                              </m:r>
                            </m:e>
                            <m:e>
                              <m:r>
                                <a:rPr lang="en-US" altLang="zh-CN" sz="2000" dirty="0">
                                  <a:solidFill>
                                    <a:srgbClr val="000000"/>
                                  </a:solidFill>
                                  <a:latin typeface="Cambria Math" panose="02040503050406030204" pitchFamily="18" charset="0"/>
                                </a:rPr>
                                <m:t>1</m:t>
                              </m:r>
                            </m:e>
                            <m:e>
                              <m:r>
                                <a:rPr lang="en-US" altLang="zh-CN" sz="2000" dirty="0">
                                  <a:solidFill>
                                    <a:srgbClr val="000000"/>
                                  </a:solidFill>
                                  <a:latin typeface="Cambria Math" panose="02040503050406030204" pitchFamily="18" charset="0"/>
                                </a:rPr>
                                <m:t>0</m:t>
                              </m:r>
                            </m:e>
                          </m:mr>
                          <m:mr>
                            <m:e>
                              <m:r>
                                <a:rPr lang="en-US" altLang="zh-CN" sz="2000" dirty="0">
                                  <a:solidFill>
                                    <a:srgbClr val="000000"/>
                                  </a:solidFill>
                                  <a:latin typeface="Cambria Math" panose="02040503050406030204" pitchFamily="18" charset="0"/>
                                </a:rPr>
                                <m:t>1</m:t>
                              </m:r>
                            </m:e>
                            <m:e>
                              <m:r>
                                <a:rPr lang="en-US" altLang="zh-CN" sz="2000" dirty="0">
                                  <a:solidFill>
                                    <a:srgbClr val="000000"/>
                                  </a:solidFill>
                                  <a:latin typeface="Cambria Math" panose="02040503050406030204" pitchFamily="18" charset="0"/>
                                </a:rPr>
                                <m:t>1</m:t>
                              </m:r>
                            </m:e>
                            <m:e>
                              <m:r>
                                <a:rPr lang="en-US" altLang="zh-CN" sz="2000" dirty="0">
                                  <a:solidFill>
                                    <a:srgbClr val="000000"/>
                                  </a:solidFill>
                                  <a:latin typeface="Cambria Math" panose="02040503050406030204" pitchFamily="18" charset="0"/>
                                </a:rPr>
                                <m:t>1</m:t>
                              </m:r>
                            </m:e>
                            <m:e>
                              <m:r>
                                <a:rPr lang="en-US" altLang="zh-CN" sz="2000" dirty="0">
                                  <a:solidFill>
                                    <a:srgbClr val="000000"/>
                                  </a:solidFill>
                                  <a:latin typeface="Cambria Math" panose="02040503050406030204" pitchFamily="18" charset="0"/>
                                </a:rPr>
                                <m:t>1</m:t>
                              </m:r>
                            </m:e>
                          </m:mr>
                        </m:m>
                      </m:e>
                    </m:d>
                    <m:r>
                      <a:rPr lang="zh-CN" altLang="en-US" sz="2000" i="1" dirty="0">
                        <a:solidFill>
                          <a:srgbClr val="000000"/>
                        </a:solidFill>
                        <a:latin typeface="Cambria Math" panose="02040503050406030204" pitchFamily="18" charset="0"/>
                      </a:rPr>
                      <m:t>。</m:t>
                    </m:r>
                  </m:oMath>
                </a14:m>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endParaRPr lang="en-US" altLang="zh-CN" sz="2000" dirty="0">
                  <a:solidFill>
                    <a:srgbClr val="000000"/>
                  </a:solidFill>
                  <a:latin typeface="黑体" panose="02010609060101010101" pitchFamily="49" charset="-122"/>
                  <a:ea typeface="黑体" panose="02010609060101010101" pitchFamily="49" charset="-122"/>
                </a:endParaRPr>
              </a:p>
              <a:p>
                <a:pPr eaLnBrk="0" fontAlgn="base" hangingPunct="0">
                  <a:lnSpc>
                    <a:spcPct val="150000"/>
                  </a:lnSpc>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362298" y="1024296"/>
                <a:ext cx="7467404" cy="5713359"/>
              </a:xfrm>
              <a:prstGeom prst="rect">
                <a:avLst/>
              </a:prstGeom>
              <a:blipFill>
                <a:blip r:embed="rId2"/>
                <a:stretch>
                  <a:fillRect l="-899"/>
                </a:stretch>
              </a:blipFill>
            </p:spPr>
            <p:txBody>
              <a:bodyPr/>
              <a:lstStyle/>
              <a:p>
                <a:r>
                  <a:rPr lang="zh-CN" altLang="en-US">
                    <a:noFill/>
                  </a:rPr>
                  <a:t> </a:t>
                </a:r>
              </a:p>
            </p:txBody>
          </p:sp>
        </mc:Fallback>
      </mc:AlternateContent>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781782" y="152468"/>
            <a:ext cx="3733702" cy="685800"/>
          </a:xfrm>
        </p:spPr>
        <p:txBody>
          <a:bodyPr/>
          <a:lstStyle/>
          <a:p>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码的</a:t>
            </a:r>
            <a:r>
              <a:rPr kumimoji="0" lang="zh-CN" altLang="en-US" sz="2400" b="1" kern="0" dirty="0">
                <a:solidFill>
                  <a:srgbClr val="000000"/>
                </a:solidFill>
                <a:latin typeface="Arial" panose="020B0604020202020204" pitchFamily="34" charset="0"/>
                <a:ea typeface="宋体" panose="02010600030101010101" pitchFamily="2" charset="-122"/>
                <a:cs typeface="+mn-cs"/>
              </a:rPr>
              <a:t>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码序列</a:t>
            </a:r>
            <a:endParaRPr lang="zh-CN" altLang="en-US" sz="2400" dirty="0">
              <a:sym typeface="+mn-ea"/>
            </a:endParaRPr>
          </a:p>
        </p:txBody>
      </p:sp>
      <p:sp>
        <p:nvSpPr>
          <p:cNvPr id="5" name="文本框 4"/>
          <p:cNvSpPr txBox="1"/>
          <p:nvPr/>
        </p:nvSpPr>
        <p:spPr>
          <a:xfrm>
            <a:off x="1714615" y="1524050"/>
            <a:ext cx="8762770" cy="4149854"/>
          </a:xfrm>
          <a:prstGeom prst="rect">
            <a:avLst/>
          </a:prstGeom>
          <a:noFill/>
        </p:spPr>
        <p:txBody>
          <a:bodyPr wrap="square">
            <a:spAutoFit/>
          </a:bodyPr>
          <a:lstStyle/>
          <a:p>
            <a:pPr eaLnBrk="0" fontAlgn="base" hangingPunct="0">
              <a:lnSpc>
                <a:spcPct val="200000"/>
              </a:lnSpc>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rPr>
              <a:t>    </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Times New Roman"/>
                <a:ea typeface="黑体" panose="02010609060101010101" pitchFamily="49" charset="-122"/>
              </a:rPr>
              <a:t>码序列也称为“好信道选择”。用于指示</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Times New Roman"/>
                <a:ea typeface="黑体" panose="02010609060101010101" pitchFamily="49" charset="-122"/>
              </a:rPr>
              <a:t>码编码前的比特选择顺序。</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Times New Roman"/>
                <a:ea typeface="黑体" panose="02010609060101010101" pitchFamily="49" charset="-122"/>
              </a:rPr>
              <a:t>码可以按照信道的可靠度</a:t>
            </a:r>
            <a:r>
              <a:rPr lang="zh-CN" altLang="en-US" sz="2000" u="sng" dirty="0">
                <a:solidFill>
                  <a:srgbClr val="000000"/>
                </a:solidFill>
                <a:latin typeface="Times New Roman"/>
                <a:ea typeface="黑体" panose="02010609060101010101" pitchFamily="49" charset="-122"/>
              </a:rPr>
              <a:t>从低到高</a:t>
            </a:r>
            <a:r>
              <a:rPr lang="zh-CN" altLang="en-US" sz="2000" dirty="0">
                <a:solidFill>
                  <a:srgbClr val="000000"/>
                </a:solidFill>
                <a:latin typeface="Times New Roman"/>
                <a:ea typeface="黑体" panose="02010609060101010101" pitchFamily="49" charset="-122"/>
              </a:rPr>
              <a:t>排列（默认用</a:t>
            </a:r>
            <a:r>
              <a:rPr lang="en-US" altLang="zh-CN" sz="2000" dirty="0">
                <a:solidFill>
                  <a:srgbClr val="000000"/>
                </a:solidFill>
                <a:latin typeface="Times New Roman"/>
                <a:ea typeface="黑体" panose="02010609060101010101" pitchFamily="49" charset="-122"/>
              </a:rPr>
              <a:t>3GPP</a:t>
            </a:r>
            <a:r>
              <a:rPr lang="zh-CN" altLang="en-US" sz="2000" dirty="0">
                <a:solidFill>
                  <a:srgbClr val="000000"/>
                </a:solidFill>
                <a:latin typeface="Times New Roman"/>
                <a:ea typeface="黑体" panose="02010609060101010101" pitchFamily="49" charset="-122"/>
              </a:rPr>
              <a:t>方式），也可以按照可靠度从高到低排列。</a:t>
            </a:r>
            <a:endParaRPr lang="en-US" altLang="zh-CN" sz="2000" dirty="0">
              <a:solidFill>
                <a:srgbClr val="000000"/>
              </a:solidFill>
              <a:latin typeface="Times New Roman"/>
              <a:ea typeface="黑体" panose="02010609060101010101" pitchFamily="49" charset="-122"/>
            </a:endParaRPr>
          </a:p>
          <a:p>
            <a:pPr eaLnBrk="0" fontAlgn="base" hangingPunct="0">
              <a:lnSpc>
                <a:spcPct val="20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通常使用行权重（</a:t>
            </a:r>
            <a:r>
              <a:rPr lang="en-US" altLang="zh-CN" sz="2000" dirty="0">
                <a:solidFill>
                  <a:srgbClr val="000000"/>
                </a:solidFill>
                <a:latin typeface="Times New Roman"/>
                <a:ea typeface="黑体" panose="02010609060101010101" pitchFamily="49" charset="-122"/>
              </a:rPr>
              <a:t>RW</a:t>
            </a:r>
            <a:r>
              <a:rPr lang="zh-CN" altLang="en-US" sz="2000" dirty="0">
                <a:solidFill>
                  <a:srgbClr val="000000"/>
                </a:solidFill>
                <a:latin typeface="Times New Roman"/>
                <a:ea typeface="黑体" panose="02010609060101010101" pitchFamily="49" charset="-122"/>
              </a:rPr>
              <a:t>）序列，对于生成矩阵</a:t>
            </a:r>
            <a:r>
              <a:rPr lang="en-US" altLang="zh-CN" sz="2000" dirty="0">
                <a:solidFill>
                  <a:srgbClr val="000000"/>
                </a:solidFill>
                <a:latin typeface="Times New Roman"/>
                <a:ea typeface="黑体" panose="02010609060101010101" pitchFamily="49" charset="-122"/>
              </a:rPr>
              <a:t>G</a:t>
            </a:r>
            <a:r>
              <a:rPr lang="zh-CN" altLang="en-US" sz="2000" dirty="0">
                <a:solidFill>
                  <a:srgbClr val="000000"/>
                </a:solidFill>
                <a:latin typeface="Times New Roman"/>
                <a:ea typeface="黑体" panose="02010609060101010101" pitchFamily="49" charset="-122"/>
              </a:rPr>
              <a:t>的每一行，计算出所有元素的总和得到各行的行权重，然后对行权重由低到高排序（越大可靠度越高），则各行权重对应行号为所述</a:t>
            </a:r>
            <a:r>
              <a:rPr lang="en-US" altLang="zh-CN" sz="2000" dirty="0">
                <a:solidFill>
                  <a:srgbClr val="000000"/>
                </a:solidFill>
                <a:latin typeface="Times New Roman"/>
                <a:ea typeface="黑体" panose="02010609060101010101" pitchFamily="49" charset="-122"/>
              </a:rPr>
              <a:t>RW</a:t>
            </a:r>
            <a:r>
              <a:rPr lang="zh-CN" altLang="en-US" sz="2000" dirty="0">
                <a:solidFill>
                  <a:srgbClr val="000000"/>
                </a:solidFill>
                <a:latin typeface="Times New Roman"/>
                <a:ea typeface="黑体" panose="02010609060101010101" pitchFamily="49" charset="-122"/>
              </a:rPr>
              <a:t>序列。</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781782" y="152468"/>
            <a:ext cx="3733702" cy="685800"/>
          </a:xfrm>
        </p:spPr>
        <p:txBody>
          <a:bodyPr/>
          <a:lstStyle/>
          <a:p>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码序列</a:t>
            </a:r>
            <a:endParaRPr lang="zh-CN" altLang="en-US" sz="2400" dirty="0">
              <a:sym typeface="+mn-ea"/>
            </a:endParaRPr>
          </a:p>
        </p:txBody>
      </p:sp>
      <mc:AlternateContent xmlns:mc="http://schemas.openxmlformats.org/markup-compatibility/2006" xmlns:a14="http://schemas.microsoft.com/office/drawing/2010/main">
        <mc:Choice Requires="a14">
          <p:sp>
            <p:nvSpPr>
              <p:cNvPr id="5" name="文本框 4"/>
              <p:cNvSpPr txBox="1"/>
              <p:nvPr/>
            </p:nvSpPr>
            <p:spPr>
              <a:xfrm>
                <a:off x="1752714" y="983524"/>
                <a:ext cx="8762770" cy="918200"/>
              </a:xfrm>
              <a:prstGeom prst="rect">
                <a:avLst/>
              </a:prstGeom>
              <a:noFill/>
            </p:spPr>
            <p:txBody>
              <a:bodyPr wrap="square">
                <a:spAutoFit/>
              </a:bodyPr>
              <a:lstStyle/>
              <a:p>
                <a:pPr eaLnBrk="0" fontAlgn="base" hangingPunct="0">
                  <a:lnSpc>
                    <a:spcPct val="150000"/>
                  </a:lnSpc>
                  <a:spcBef>
                    <a:spcPct val="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    例如，</a:t>
                </a:r>
                <a:r>
                  <a:rPr lang="zh-CN" altLang="en-US" sz="2000" dirty="0">
                    <a:solidFill>
                      <a:srgbClr val="000000"/>
                    </a:solidFill>
                    <a:latin typeface="Times New Roman"/>
                    <a:ea typeface="黑体" panose="02010609060101010101" pitchFamily="49" charset="-122"/>
                  </a:rPr>
                  <a:t>对于</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𝐺</m:t>
                        </m:r>
                      </m:e>
                      <m:sub>
                        <m:r>
                          <a:rPr lang="zh-CN" altLang="en-US" sz="2000" i="1">
                            <a:solidFill>
                              <a:srgbClr val="000000"/>
                            </a:solidFill>
                            <a:latin typeface="Cambria Math" panose="02040503050406030204" pitchFamily="18" charset="0"/>
                          </a:rPr>
                          <m:t>8</m:t>
                        </m:r>
                      </m:sub>
                    </m:sSub>
                  </m:oMath>
                </a14:m>
                <a:r>
                  <a:rPr lang="en-US" altLang="zh-CN" sz="2000" dirty="0">
                    <a:solidFill>
                      <a:srgbClr val="000000"/>
                    </a:solidFill>
                    <a:latin typeface="Times New Roman"/>
                    <a:ea typeface="黑体" panose="02010609060101010101" pitchFamily="49" charset="-122"/>
                  </a:rPr>
                  <a:t> Polar</a:t>
                </a:r>
                <a:r>
                  <a:rPr lang="zh-CN" altLang="en-US" sz="2000" dirty="0">
                    <a:solidFill>
                      <a:srgbClr val="000000"/>
                    </a:solidFill>
                    <a:latin typeface="Times New Roman"/>
                    <a:ea typeface="黑体" panose="02010609060101010101" pitchFamily="49" charset="-122"/>
                  </a:rPr>
                  <a:t>码，其生成矩阵为</a:t>
                </a:r>
                <a:r>
                  <a:rPr lang="zh-CN" altLang="en-US" sz="2000" dirty="0">
                    <a:solidFill>
                      <a:srgbClr val="000000"/>
                    </a:solidFill>
                    <a:latin typeface="黑体" panose="02010609060101010101" pitchFamily="49" charset="-122"/>
                    <a:ea typeface="黑体" panose="02010609060101010101" pitchFamily="49" charset="-122"/>
                  </a:rPr>
                  <a:t>：</a:t>
                </a:r>
                <a:endParaRPr lang="en-US" altLang="zh-CN" sz="2000" dirty="0">
                  <a:solidFill>
                    <a:srgbClr val="000000"/>
                  </a:solidFill>
                  <a:latin typeface="黑体" panose="02010609060101010101" pitchFamily="49" charset="-122"/>
                  <a:ea typeface="黑体" panose="02010609060101010101" pitchFamily="49" charset="-122"/>
                </a:endParaRPr>
              </a:p>
              <a:p>
                <a:pPr eaLnBrk="0" fontAlgn="base" hangingPunct="0">
                  <a:lnSpc>
                    <a:spcPct val="150000"/>
                  </a:lnSpc>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752714" y="983524"/>
                <a:ext cx="8762770" cy="91820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4038655" y="1901724"/>
                <a:ext cx="3545137" cy="2044470"/>
              </a:xfrm>
              <a:prstGeom prst="rect">
                <a:avLst/>
              </a:prstGeom>
              <a:noFill/>
            </p:spPr>
            <p:txBody>
              <a:bodyPr wrap="none" lIns="0" tIns="0" rIns="0" bIns="0" rtlCol="0" anchor="t">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lang="zh-CN" altLang="en-US" b="1" i="1">
                              <a:solidFill>
                                <a:srgbClr val="000000"/>
                              </a:solidFill>
                              <a:latin typeface="Cambria Math" panose="02040503050406030204" pitchFamily="18" charset="0"/>
                              <a:sym typeface="+mn-ea"/>
                            </a:rPr>
                          </m:ctrlPr>
                        </m:sSubPr>
                        <m:e>
                          <m:r>
                            <a:rPr lang="zh-CN" altLang="en-US" b="1" i="1">
                              <a:solidFill>
                                <a:srgbClr val="000000"/>
                              </a:solidFill>
                              <a:latin typeface="Cambria Math" panose="02040503050406030204" pitchFamily="18" charset="0"/>
                              <a:sym typeface="+mn-ea"/>
                            </a:rPr>
                            <m:t>𝑮</m:t>
                          </m:r>
                        </m:e>
                        <m:sub>
                          <m:r>
                            <a:rPr lang="zh-CN" altLang="en-US" b="1" i="1">
                              <a:solidFill>
                                <a:srgbClr val="000000"/>
                              </a:solidFill>
                              <a:latin typeface="Cambria Math" panose="02040503050406030204" pitchFamily="18" charset="0"/>
                              <a:sym typeface="+mn-ea"/>
                            </a:rPr>
                            <m:t>𝟖</m:t>
                          </m:r>
                        </m:sub>
                      </m:sSub>
                      <m:r>
                        <a:rPr lang="zh-CN" altLang="en-US" b="1" i="1">
                          <a:solidFill>
                            <a:srgbClr val="000000"/>
                          </a:solidFill>
                          <a:latin typeface="Cambria Math" panose="02040503050406030204" pitchFamily="18" charset="0"/>
                          <a:sym typeface="+mn-ea"/>
                        </a:rPr>
                        <m:t>=</m:t>
                      </m:r>
                      <m:d>
                        <m:dPr>
                          <m:begChr m:val="["/>
                          <m:endChr m:val="]"/>
                          <m:ctrlPr>
                            <a:rPr lang="zh-CN" altLang="en-US" b="1" i="1">
                              <a:solidFill>
                                <a:srgbClr val="000000"/>
                              </a:solidFill>
                              <a:latin typeface="Cambria Math" panose="02040503050406030204" pitchFamily="18" charset="0"/>
                              <a:sym typeface="+mn-ea"/>
                            </a:rPr>
                          </m:ctrlPr>
                        </m:dPr>
                        <m:e>
                          <m:m>
                            <m:mPr>
                              <m:plcHide m:val="on"/>
                              <m:mcs>
                                <m:mc>
                                  <m:mcPr>
                                    <m:count m:val="8"/>
                                    <m:mcJc m:val="center"/>
                                  </m:mcPr>
                                </m:mc>
                              </m:mcs>
                              <m:ctrlPr>
                                <a:rPr lang="zh-CN" altLang="en-US" b="1" i="1">
                                  <a:solidFill>
                                    <a:srgbClr val="000000"/>
                                  </a:solidFill>
                                  <a:latin typeface="Cambria Math" panose="02040503050406030204" pitchFamily="18" charset="0"/>
                                  <a:sym typeface="+mn-ea"/>
                                </a:rPr>
                              </m:ctrlPr>
                            </m:mPr>
                            <m:mr>
                              <m:e>
                                <m:eqArr>
                                  <m:eqArrPr>
                                    <m:ctrlPr>
                                      <a:rPr lang="zh-CN" altLang="en-US" b="1" i="1">
                                        <a:solidFill>
                                          <a:srgbClr val="000000"/>
                                        </a:solidFill>
                                        <a:latin typeface="Cambria Math" panose="02040503050406030204" pitchFamily="18" charset="0"/>
                                        <a:sym typeface="+mn-ea"/>
                                      </a:rPr>
                                    </m:ctrlPr>
                                  </m:eqArrPr>
                                  <m:e>
                                    <m:r>
                                      <a:rPr lang="zh-CN" altLang="en-US"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qArr>
                              </m:e>
                              <m:e>
                                <m:eqArr>
                                  <m:eqArrPr>
                                    <m:ctrlPr>
                                      <a:rPr lang="zh-CN" altLang="en-US" b="1" i="1">
                                        <a:solidFill>
                                          <a:srgbClr val="000000"/>
                                        </a:solidFill>
                                        <a:latin typeface="Cambria Math" panose="02040503050406030204" pitchFamily="18" charset="0"/>
                                        <a:sym typeface="+mn-ea"/>
                                      </a:rPr>
                                    </m:ctrlPr>
                                  </m:eqArrPr>
                                  <m:e>
                                    <m:r>
                                      <a:rPr lang="zh-CN" altLang="en-US"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𝟎</m:t>
                                    </m:r>
                                  </m:e>
                                </m:eqArr>
                              </m:e>
                              <m:e>
                                <m:eqArr>
                                  <m:eqArrPr>
                                    <m:ctrlPr>
                                      <a:rPr lang="zh-CN" altLang="en-US" b="1" i="1">
                                        <a:solidFill>
                                          <a:srgbClr val="000000"/>
                                        </a:solidFill>
                                        <a:latin typeface="Cambria Math" panose="02040503050406030204" pitchFamily="18" charset="0"/>
                                        <a:sym typeface="+mn-ea"/>
                                      </a:rPr>
                                    </m:ctrlPr>
                                  </m:eqArrPr>
                                  <m:e>
                                    <m:r>
                                      <a:rPr lang="zh-CN" altLang="en-US"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𝟏</m:t>
                                    </m:r>
                                  </m:e>
                                </m:eqArr>
                              </m:e>
                              <m:e>
                                <m:eqArr>
                                  <m:eqArrPr>
                                    <m:ctrlPr>
                                      <a:rPr lang="zh-CN" altLang="en-US" b="1" i="1">
                                        <a:solidFill>
                                          <a:srgbClr val="000000"/>
                                        </a:solidFill>
                                        <a:latin typeface="Cambria Math" panose="02040503050406030204" pitchFamily="18" charset="0"/>
                                        <a:sym typeface="+mn-ea"/>
                                      </a:rPr>
                                    </m:ctrlPr>
                                  </m:eqArrPr>
                                  <m:e>
                                    <m:r>
                                      <a:rPr lang="zh-CN" altLang="en-US"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qArr>
                              </m:e>
                              <m:e>
                                <m:eqArr>
                                  <m:eqArrPr>
                                    <m:ctrlPr>
                                      <a:rPr lang="zh-CN" altLang="en-US" b="1" i="1">
                                        <a:solidFill>
                                          <a:srgbClr val="000000"/>
                                        </a:solidFill>
                                        <a:latin typeface="Cambria Math" panose="02040503050406030204" pitchFamily="18" charset="0"/>
                                        <a:sym typeface="+mn-ea"/>
                                      </a:rPr>
                                    </m:ctrlPr>
                                  </m:eqArrPr>
                                  <m:e>
                                    <m:r>
                                      <a:rPr lang="zh-CN" altLang="en-US"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qArr>
                              </m:e>
                              <m:e>
                                <m:eqArr>
                                  <m:eqArrPr>
                                    <m:ctrlPr>
                                      <a:rPr lang="zh-CN" altLang="en-US" b="1" i="1">
                                        <a:solidFill>
                                          <a:srgbClr val="000000"/>
                                        </a:solidFill>
                                        <a:latin typeface="Cambria Math" panose="02040503050406030204" pitchFamily="18" charset="0"/>
                                        <a:sym typeface="+mn-ea"/>
                                      </a:rPr>
                                    </m:ctrlPr>
                                  </m:eqArrPr>
                                  <m:e>
                                    <m:r>
                                      <a:rPr lang="zh-CN" altLang="en-US"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qArr>
                              </m:e>
                              <m:e>
                                <m:eqArr>
                                  <m:eqArrPr>
                                    <m:ctrlPr>
                                      <a:rPr lang="zh-CN" altLang="en-US" b="1" i="1">
                                        <a:solidFill>
                                          <a:srgbClr val="000000"/>
                                        </a:solidFill>
                                        <a:latin typeface="Cambria Math" panose="02040503050406030204" pitchFamily="18" charset="0"/>
                                        <a:sym typeface="+mn-ea"/>
                                      </a:rPr>
                                    </m:ctrlPr>
                                  </m:eqArrPr>
                                  <m:e>
                                    <m:r>
                                      <a:rPr lang="zh-CN" altLang="en-US"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𝟏</m:t>
                                    </m:r>
                                  </m:e>
                                </m:eqArr>
                              </m:e>
                              <m:e>
                                <m:eqArr>
                                  <m:eqArrPr>
                                    <m:ctrlPr>
                                      <a:rPr lang="zh-CN" altLang="en-US" b="1" i="1">
                                        <a:solidFill>
                                          <a:srgbClr val="000000"/>
                                        </a:solidFill>
                                        <a:latin typeface="Cambria Math" panose="02040503050406030204" pitchFamily="18" charset="0"/>
                                        <a:sym typeface="+mn-ea"/>
                                      </a:rPr>
                                    </m:ctrlPr>
                                  </m:eqArrPr>
                                  <m:e>
                                    <m:r>
                                      <a:rPr lang="zh-CN" altLang="en-US"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
                                    <m:r>
                                      <a:rPr lang="en-US" altLang="zh-CN" b="1" i="1">
                                        <a:solidFill>
                                          <a:srgbClr val="000000"/>
                                        </a:solidFill>
                                        <a:latin typeface="Cambria Math" panose="02040503050406030204" pitchFamily="18" charset="0"/>
                                        <a:sym typeface="+mn-ea"/>
                                      </a:rPr>
                                      <m:t>𝟎</m:t>
                                    </m:r>
                                  </m:e>
                                </m:eqArr>
                              </m:e>
                            </m:mr>
                            <m:mr>
                              <m:e>
                                <m:r>
                                  <a:rPr lang="zh-CN" altLang="en-US"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e>
                                <m:r>
                                  <a:rPr lang="en-US" altLang="zh-CN" b="1" i="1">
                                    <a:solidFill>
                                      <a:srgbClr val="000000"/>
                                    </a:solidFill>
                                    <a:latin typeface="Cambria Math" panose="02040503050406030204" pitchFamily="18" charset="0"/>
                                    <a:sym typeface="+mn-ea"/>
                                  </a:rPr>
                                  <m:t>𝟏</m:t>
                                </m:r>
                              </m:e>
                            </m:mr>
                          </m:m>
                        </m:e>
                      </m:d>
                    </m:oMath>
                  </m:oMathPara>
                </a14:m>
                <a:endParaRPr lang="zh-CN" altLang="en-US" b="1" dirty="0">
                  <a:solidFill>
                    <a:srgbClr val="000000"/>
                  </a:solidFill>
                  <a:latin typeface="黑体" panose="02010609060101010101" pitchFamily="49" charset="-122"/>
                  <a:ea typeface="黑体" panose="02010609060101010101" pitchFamily="49" charset="-122"/>
                  <a:sym typeface="+mn-ea"/>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4038655" y="1901724"/>
                <a:ext cx="3545137" cy="204447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2133704" y="4445880"/>
                <a:ext cx="7695998" cy="1405193"/>
              </a:xfrm>
              <a:prstGeom prst="rect">
                <a:avLst/>
              </a:prstGeom>
              <a:noFill/>
            </p:spPr>
            <p:txBody>
              <a:bodyPr wrap="square">
                <a:spAutoFit/>
              </a:bodyPr>
              <a:lstStyle/>
              <a:p>
                <a:pPr eaLnBrk="0" fontAlgn="base" hangingPunct="0">
                  <a:lnSpc>
                    <a:spcPct val="150000"/>
                  </a:lnSpc>
                  <a:spcBef>
                    <a:spcPct val="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 各行的权重</a:t>
                </a:r>
                <a:r>
                  <a:rPr lang="zh-CN" altLang="en-US" sz="2000" dirty="0">
                    <a:solidFill>
                      <a:srgbClr val="000000"/>
                    </a:solidFill>
                    <a:latin typeface="Times New Roman"/>
                    <a:ea typeface="黑体" panose="02010609060101010101" pitchFamily="49" charset="-122"/>
                  </a:rPr>
                  <a:t>分别为</a:t>
                </a:r>
                <a:r>
                  <a:rPr lang="en-US" altLang="zh-CN" sz="2000" dirty="0">
                    <a:solidFill>
                      <a:srgbClr val="000000"/>
                    </a:solidFill>
                    <a:latin typeface="Times New Roman"/>
                    <a:ea typeface="黑体" panose="02010609060101010101" pitchFamily="49" charset="-122"/>
                  </a:rPr>
                  <a:t>1</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4</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4</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4</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8</a:t>
                </a:r>
                <a:r>
                  <a:rPr lang="zh-CN" altLang="en-US" sz="2000" dirty="0">
                    <a:solidFill>
                      <a:srgbClr val="000000"/>
                    </a:solidFill>
                    <a:latin typeface="Times New Roman"/>
                    <a:ea typeface="黑体" panose="02010609060101010101" pitchFamily="49" charset="-122"/>
                  </a:rPr>
                  <a:t>那么</a:t>
                </a:r>
                <a14:m>
                  <m:oMath xmlns:m="http://schemas.openxmlformats.org/officeDocument/2006/math">
                    <m:sSub>
                      <m:sSubPr>
                        <m:ctrlPr>
                          <a:rPr lang="en-US" altLang="zh-CN" sz="2000" i="1">
                            <a:solidFill>
                              <a:srgbClr val="000000"/>
                            </a:solidFill>
                            <a:latin typeface="Cambria Math" panose="02040503050406030204" pitchFamily="18" charset="0"/>
                            <a:ea typeface="黑体" panose="02010609060101010101" pitchFamily="49" charset="-122"/>
                            <a:sym typeface="+mn-ea"/>
                          </a:rPr>
                        </m:ctrlPr>
                      </m:sSubPr>
                      <m:e>
                        <m:r>
                          <a:rPr lang="en-US" altLang="zh-CN" sz="2000" i="1">
                            <a:solidFill>
                              <a:srgbClr val="000000"/>
                            </a:solidFill>
                            <a:latin typeface="Cambria Math" panose="02040503050406030204" pitchFamily="18" charset="0"/>
                            <a:ea typeface="黑体" panose="02010609060101010101" pitchFamily="49" charset="-122"/>
                            <a:sym typeface="+mn-ea"/>
                          </a:rPr>
                          <m:t>𝐺</m:t>
                        </m:r>
                      </m:e>
                      <m:sub>
                        <m:r>
                          <a:rPr lang="en-US" altLang="zh-CN" sz="2000" i="1">
                            <a:solidFill>
                              <a:srgbClr val="000000"/>
                            </a:solidFill>
                            <a:latin typeface="Cambria Math" panose="02040503050406030204" pitchFamily="18" charset="0"/>
                            <a:ea typeface="黑体" panose="02010609060101010101" pitchFamily="49" charset="-122"/>
                            <a:sym typeface="+mn-ea"/>
                          </a:rPr>
                          <m:t>8</m:t>
                        </m:r>
                      </m:sub>
                    </m:sSub>
                  </m:oMath>
                </a14:m>
                <a:r>
                  <a:rPr lang="zh-CN" altLang="en-US" sz="2000" dirty="0">
                    <a:solidFill>
                      <a:srgbClr val="000000"/>
                    </a:solidFill>
                    <a:latin typeface="Times New Roman"/>
                    <a:ea typeface="黑体" panose="02010609060101010101" pitchFamily="49" charset="-122"/>
                  </a:rPr>
                  <a:t>的</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Times New Roman"/>
                    <a:ea typeface="黑体" panose="02010609060101010101" pitchFamily="49" charset="-122"/>
                  </a:rPr>
                  <a:t>码的（</a:t>
                </a:r>
                <a:r>
                  <a:rPr lang="en-US" altLang="zh-CN" sz="2000" dirty="0">
                    <a:solidFill>
                      <a:srgbClr val="000000"/>
                    </a:solidFill>
                    <a:latin typeface="Times New Roman"/>
                    <a:ea typeface="黑体" panose="02010609060101010101" pitchFamily="49" charset="-122"/>
                  </a:rPr>
                  <a:t>RW</a:t>
                </a:r>
                <a:r>
                  <a:rPr lang="zh-CN" altLang="en-US" sz="2000" dirty="0">
                    <a:solidFill>
                      <a:srgbClr val="000000"/>
                    </a:solidFill>
                    <a:latin typeface="Times New Roman"/>
                    <a:ea typeface="黑体" panose="02010609060101010101" pitchFamily="49" charset="-122"/>
                  </a:rPr>
                  <a:t>）序列为</a:t>
                </a:r>
                <a:r>
                  <a:rPr lang="en-US" altLang="zh-CN" sz="2000" dirty="0">
                    <a:solidFill>
                      <a:srgbClr val="FF0000"/>
                    </a:solidFill>
                    <a:latin typeface="Times New Roman"/>
                    <a:ea typeface="黑体" panose="02010609060101010101" pitchFamily="49" charset="-122"/>
                  </a:rPr>
                  <a:t>{0</a:t>
                </a:r>
                <a:r>
                  <a:rPr lang="zh-CN" altLang="en-US" sz="2000" dirty="0">
                    <a:solidFill>
                      <a:srgbClr val="FF0000"/>
                    </a:solidFill>
                    <a:latin typeface="Times New Roman"/>
                    <a:ea typeface="黑体" panose="02010609060101010101" pitchFamily="49" charset="-122"/>
                  </a:rPr>
                  <a:t>，</a:t>
                </a:r>
                <a:r>
                  <a:rPr lang="en-US" altLang="zh-CN" sz="2000" dirty="0">
                    <a:solidFill>
                      <a:srgbClr val="FF0000"/>
                    </a:solidFill>
                    <a:latin typeface="Times New Roman"/>
                    <a:ea typeface="黑体" panose="02010609060101010101" pitchFamily="49" charset="-122"/>
                  </a:rPr>
                  <a:t>1</a:t>
                </a:r>
                <a:r>
                  <a:rPr lang="zh-CN" altLang="en-US" sz="2000" dirty="0">
                    <a:solidFill>
                      <a:srgbClr val="FF0000"/>
                    </a:solidFill>
                    <a:latin typeface="Times New Roman"/>
                    <a:ea typeface="黑体" panose="02010609060101010101" pitchFamily="49" charset="-122"/>
                  </a:rPr>
                  <a:t>，</a:t>
                </a:r>
                <a:r>
                  <a:rPr lang="en-US" altLang="zh-CN" sz="2000" dirty="0">
                    <a:solidFill>
                      <a:srgbClr val="FF0000"/>
                    </a:solidFill>
                    <a:latin typeface="Times New Roman"/>
                    <a:ea typeface="黑体" panose="02010609060101010101" pitchFamily="49" charset="-122"/>
                  </a:rPr>
                  <a:t>2</a:t>
                </a:r>
                <a:r>
                  <a:rPr lang="zh-CN" altLang="en-US" sz="2000" dirty="0">
                    <a:solidFill>
                      <a:srgbClr val="FF0000"/>
                    </a:solidFill>
                    <a:latin typeface="Times New Roman"/>
                    <a:ea typeface="黑体" panose="02010609060101010101" pitchFamily="49" charset="-122"/>
                  </a:rPr>
                  <a:t>，</a:t>
                </a:r>
                <a:r>
                  <a:rPr lang="en-US" altLang="zh-CN" sz="2000" dirty="0">
                    <a:solidFill>
                      <a:srgbClr val="FF0000"/>
                    </a:solidFill>
                    <a:latin typeface="Times New Roman"/>
                    <a:ea typeface="黑体" panose="02010609060101010101" pitchFamily="49" charset="-122"/>
                  </a:rPr>
                  <a:t>4</a:t>
                </a:r>
                <a:r>
                  <a:rPr lang="zh-CN" altLang="en-US" sz="2000" dirty="0">
                    <a:solidFill>
                      <a:srgbClr val="FF0000"/>
                    </a:solidFill>
                    <a:latin typeface="Times New Roman"/>
                    <a:ea typeface="黑体" panose="02010609060101010101" pitchFamily="49" charset="-122"/>
                  </a:rPr>
                  <a:t>，</a:t>
                </a:r>
                <a:r>
                  <a:rPr lang="en-US" altLang="zh-CN" sz="2000" dirty="0">
                    <a:solidFill>
                      <a:srgbClr val="FF0000"/>
                    </a:solidFill>
                    <a:latin typeface="Times New Roman"/>
                    <a:ea typeface="黑体" panose="02010609060101010101" pitchFamily="49" charset="-122"/>
                  </a:rPr>
                  <a:t>3</a:t>
                </a:r>
                <a:r>
                  <a:rPr lang="zh-CN" altLang="en-US" sz="2000" dirty="0">
                    <a:solidFill>
                      <a:srgbClr val="FF0000"/>
                    </a:solidFill>
                    <a:latin typeface="Times New Roman"/>
                    <a:ea typeface="黑体" panose="02010609060101010101" pitchFamily="49" charset="-122"/>
                  </a:rPr>
                  <a:t>，</a:t>
                </a:r>
                <a:r>
                  <a:rPr lang="en-US" altLang="zh-CN" sz="2000" dirty="0">
                    <a:solidFill>
                      <a:srgbClr val="FF0000"/>
                    </a:solidFill>
                    <a:latin typeface="Times New Roman"/>
                    <a:ea typeface="黑体" panose="02010609060101010101" pitchFamily="49" charset="-122"/>
                  </a:rPr>
                  <a:t>5</a:t>
                </a:r>
                <a:r>
                  <a:rPr lang="zh-CN" altLang="en-US" sz="2000" dirty="0">
                    <a:solidFill>
                      <a:srgbClr val="FF0000"/>
                    </a:solidFill>
                    <a:latin typeface="Times New Roman"/>
                    <a:ea typeface="黑体" panose="02010609060101010101" pitchFamily="49" charset="-122"/>
                  </a:rPr>
                  <a:t>，</a:t>
                </a:r>
                <a:r>
                  <a:rPr lang="en-US" altLang="zh-CN" sz="2000" dirty="0">
                    <a:solidFill>
                      <a:srgbClr val="FF0000"/>
                    </a:solidFill>
                    <a:latin typeface="Times New Roman"/>
                    <a:ea typeface="黑体" panose="02010609060101010101" pitchFamily="49" charset="-122"/>
                  </a:rPr>
                  <a:t>6</a:t>
                </a:r>
                <a:r>
                  <a:rPr lang="zh-CN" altLang="en-US" sz="2000" dirty="0">
                    <a:solidFill>
                      <a:srgbClr val="FF0000"/>
                    </a:solidFill>
                    <a:latin typeface="Times New Roman"/>
                    <a:ea typeface="黑体" panose="02010609060101010101" pitchFamily="49" charset="-122"/>
                  </a:rPr>
                  <a:t>，</a:t>
                </a:r>
                <a:r>
                  <a:rPr lang="en-US" altLang="zh-CN" sz="2000" dirty="0">
                    <a:solidFill>
                      <a:srgbClr val="FF0000"/>
                    </a:solidFill>
                    <a:latin typeface="Times New Roman"/>
                    <a:ea typeface="黑体" panose="02010609060101010101" pitchFamily="49" charset="-122"/>
                  </a:rPr>
                  <a:t>7}</a:t>
                </a:r>
                <a:r>
                  <a:rPr lang="zh-CN" altLang="en-US" sz="2000" dirty="0">
                    <a:solidFill>
                      <a:srgbClr val="000000"/>
                    </a:solidFill>
                    <a:latin typeface="Times New Roman"/>
                    <a:ea typeface="黑体" panose="02010609060101010101" pitchFamily="49" charset="-122"/>
                  </a:rPr>
                  <a:t>。如果有两行权重相同，则行号大的排在后面（也可排在前面）</a:t>
                </a:r>
                <a:endParaRPr lang="en-US" altLang="zh-CN" sz="2000" dirty="0">
                  <a:solidFill>
                    <a:srgbClr val="000000"/>
                  </a:solidFill>
                  <a:latin typeface="Times New Roman"/>
                  <a:ea typeface="黑体" panose="02010609060101010101" pitchFamily="49"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2133704" y="4445880"/>
                <a:ext cx="7695998" cy="1405193"/>
              </a:xfrm>
              <a:prstGeom prst="rect">
                <a:avLst/>
              </a:prstGeom>
              <a:blipFill>
                <a:blip r:embed="rId4"/>
                <a:stretch>
                  <a:fillRect l="-792" r="-872" b="-6494"/>
                </a:stretch>
              </a:blipFill>
            </p:spPr>
            <p:txBody>
              <a:bodyPr/>
              <a:lstStyle/>
              <a:p>
                <a:r>
                  <a:rPr lang="zh-CN" altLang="en-US">
                    <a:noFill/>
                  </a:rPr>
                  <a:t> </a:t>
                </a:r>
              </a:p>
            </p:txBody>
          </p:sp>
        </mc:Fallback>
      </mc:AlternateContent>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340994" y="194505"/>
            <a:ext cx="4114692" cy="685800"/>
          </a:xfrm>
        </p:spPr>
        <p:txBody>
          <a:bodyPr/>
          <a:lstStyle/>
          <a:p>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码的</a:t>
            </a:r>
            <a:r>
              <a:rPr kumimoji="0" lang="zh-CN" altLang="en-US" sz="2400" b="1" kern="0" dirty="0">
                <a:solidFill>
                  <a:srgbClr val="000000"/>
                </a:solidFill>
                <a:latin typeface="Arial" panose="020B0604020202020204" pitchFamily="34" charset="0"/>
                <a:ea typeface="宋体" panose="02010600030101010101" pitchFamily="2" charset="-122"/>
                <a:cs typeface="+mn-cs"/>
              </a:rPr>
              <a:t>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码序列特性</a:t>
            </a:r>
            <a:endParaRPr kumimoji="0" lang="zh-CN" altLang="en-US" sz="2400" b="1" kern="0" dirty="0">
              <a:solidFill>
                <a:srgbClr val="000000"/>
              </a:solidFill>
              <a:latin typeface="Arial" panose="020B0604020202020204" pitchFamily="34" charset="0"/>
              <a:ea typeface="宋体" panose="02010600030101010101" pitchFamily="2" charset="-122"/>
              <a:cs typeface="+mn-cs"/>
              <a:sym typeface="+mn-ea"/>
            </a:endParaRPr>
          </a:p>
        </p:txBody>
      </p:sp>
      <p:sp>
        <p:nvSpPr>
          <p:cNvPr id="5" name="文本框 4"/>
          <p:cNvSpPr txBox="1"/>
          <p:nvPr/>
        </p:nvSpPr>
        <p:spPr>
          <a:xfrm>
            <a:off x="1905110" y="1066863"/>
            <a:ext cx="8534176" cy="5534849"/>
          </a:xfrm>
          <a:prstGeom prst="rect">
            <a:avLst/>
          </a:prstGeom>
          <a:noFill/>
        </p:spPr>
        <p:txBody>
          <a:bodyPr wrap="square">
            <a:spAutoFit/>
          </a:bodyPr>
          <a:lstStyle/>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1</a:t>
            </a:r>
            <a:r>
              <a:rPr lang="zh-CN" altLang="en-US" sz="2000" dirty="0">
                <a:solidFill>
                  <a:srgbClr val="000000"/>
                </a:solidFill>
                <a:latin typeface="Times New Roman"/>
                <a:ea typeface="黑体" panose="02010609060101010101" pitchFamily="49" charset="-122"/>
              </a:rPr>
              <a:t>、在线计算</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不用存储数据或只需存储少量数据即可，但是需要消耗计算量，若计算量较大会产生时延。</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、嵌套性</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在母码长度为</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的序列中，删除大于或等于</a:t>
            </a:r>
            <a:r>
              <a:rPr lang="en-US" altLang="zh-CN" sz="2000" dirty="0">
                <a:solidFill>
                  <a:srgbClr val="000000"/>
                </a:solidFill>
                <a:latin typeface="Times New Roman"/>
                <a:ea typeface="黑体" panose="02010609060101010101" pitchFamily="49" charset="-122"/>
              </a:rPr>
              <a:t>N/2</a:t>
            </a:r>
            <a:r>
              <a:rPr lang="zh-CN" altLang="en-US" sz="2000" dirty="0">
                <a:solidFill>
                  <a:srgbClr val="000000"/>
                </a:solidFill>
                <a:latin typeface="Times New Roman"/>
                <a:ea typeface="黑体" panose="02010609060101010101" pitchFamily="49" charset="-122"/>
              </a:rPr>
              <a:t>的元素而保持剩下的元素顺序，得到母码长度为</a:t>
            </a:r>
            <a:r>
              <a:rPr lang="en-US" altLang="zh-CN" sz="2000" dirty="0">
                <a:solidFill>
                  <a:srgbClr val="000000"/>
                </a:solidFill>
                <a:latin typeface="Times New Roman"/>
                <a:ea typeface="黑体" panose="02010609060101010101" pitchFamily="49" charset="-122"/>
              </a:rPr>
              <a:t>N/2</a:t>
            </a:r>
            <a:r>
              <a:rPr lang="zh-CN" altLang="en-US" sz="2000" dirty="0">
                <a:solidFill>
                  <a:srgbClr val="000000"/>
                </a:solidFill>
                <a:latin typeface="Times New Roman"/>
                <a:ea typeface="黑体" panose="02010609060101010101" pitchFamily="49" charset="-122"/>
              </a:rPr>
              <a:t>的序列，则称母码长度为</a:t>
            </a:r>
            <a:r>
              <a:rPr lang="en-US" altLang="zh-CN" sz="2000" dirty="0">
                <a:solidFill>
                  <a:srgbClr val="000000"/>
                </a:solidFill>
                <a:latin typeface="Times New Roman"/>
                <a:ea typeface="黑体" panose="02010609060101010101" pitchFamily="49" charset="-122"/>
              </a:rPr>
              <a:t>N/2</a:t>
            </a:r>
            <a:r>
              <a:rPr lang="zh-CN" altLang="en-US" sz="2000" dirty="0">
                <a:solidFill>
                  <a:srgbClr val="000000"/>
                </a:solidFill>
                <a:latin typeface="Times New Roman"/>
                <a:ea typeface="黑体" panose="02010609060101010101" pitchFamily="49" charset="-122"/>
              </a:rPr>
              <a:t>的序列是嵌套在母码长度为</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的序列中的。</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嵌套的好处在于不需要重新计算，不需要重新排序，只需一个查找表。</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3</a:t>
            </a:r>
            <a:r>
              <a:rPr lang="zh-CN" altLang="en-US" sz="2000" dirty="0">
                <a:solidFill>
                  <a:srgbClr val="000000"/>
                </a:solidFill>
                <a:latin typeface="Times New Roman"/>
                <a:ea typeface="黑体" panose="02010609060101010101" pitchFamily="49" charset="-122"/>
              </a:rPr>
              <a:t>、对称性</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zh-CN" altLang="en-US" sz="2000" dirty="0">
                <a:solidFill>
                  <a:srgbClr val="000000"/>
                </a:solidFill>
                <a:latin typeface="Times New Roman"/>
                <a:ea typeface="黑体" panose="02010609060101010101" pitchFamily="49" charset="-122"/>
              </a:rPr>
              <a:t>    在母码长度为</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的序列中，前后</a:t>
            </a:r>
            <a:r>
              <a:rPr lang="en-US" altLang="zh-CN" sz="2000" dirty="0">
                <a:solidFill>
                  <a:srgbClr val="000000"/>
                </a:solidFill>
                <a:latin typeface="Times New Roman"/>
                <a:ea typeface="黑体" panose="02010609060101010101" pitchFamily="49" charset="-122"/>
              </a:rPr>
              <a:t>N/2</a:t>
            </a:r>
            <a:r>
              <a:rPr lang="zh-CN" altLang="en-US" sz="2000" dirty="0">
                <a:solidFill>
                  <a:srgbClr val="000000"/>
                </a:solidFill>
                <a:latin typeface="Times New Roman"/>
                <a:ea typeface="黑体" panose="02010609060101010101" pitchFamily="49" charset="-122"/>
              </a:rPr>
              <a:t>是元素关于母码长度对称，对称性可以减少存储量。</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766908" y="152486"/>
            <a:ext cx="1562173"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编码方法</a:t>
            </a:r>
            <a:endParaRPr lang="zh-CN" altLang="en-US" sz="2400" dirty="0">
              <a:sym typeface="+mn-ea"/>
            </a:endParaRPr>
          </a:p>
        </p:txBody>
      </p:sp>
      <p:sp>
        <p:nvSpPr>
          <p:cNvPr id="3" name="内容占位符 2"/>
          <p:cNvSpPr>
            <a:spLocks noGrp="1"/>
          </p:cNvSpPr>
          <p:nvPr>
            <p:ph idx="1"/>
          </p:nvPr>
        </p:nvSpPr>
        <p:spPr>
          <a:xfrm>
            <a:off x="1867011" y="1638347"/>
            <a:ext cx="8457978" cy="3581306"/>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200000"/>
              </a:lnSpc>
              <a:spcBef>
                <a:spcPts val="0"/>
              </a:spcBef>
              <a:spcAft>
                <a:spcPts val="0"/>
              </a:spcAft>
              <a:buNone/>
            </a:pPr>
            <a:r>
              <a:rPr lang="zh-CN" altLang="en-US" sz="2000" dirty="0"/>
              <a:t>    </a:t>
            </a:r>
            <a:r>
              <a:rPr lang="en-US" altLang="zh-CN" sz="2000" dirty="0"/>
              <a:t>Polar</a:t>
            </a:r>
            <a:r>
              <a:rPr lang="zh-CN" altLang="en-US" sz="2000" dirty="0"/>
              <a:t>码编码需选择合适的承载数据信道和放置其他信道（冻结比特）的子信道，然后进行逻辑运算的过程。通常选用承载数据的信道应选用信道容量高或可靠度高的信道。</a:t>
            </a:r>
            <a:r>
              <a:rPr lang="en-US" altLang="zh-CN" sz="2000" dirty="0">
                <a:solidFill>
                  <a:schemeClr val="tx1"/>
                </a:solidFill>
              </a:rPr>
              <a:t>   </a:t>
            </a:r>
          </a:p>
          <a:p>
            <a:pPr marL="0" indent="0">
              <a:lnSpc>
                <a:spcPct val="200000"/>
              </a:lnSpc>
              <a:spcBef>
                <a:spcPts val="0"/>
              </a:spcBef>
              <a:spcAft>
                <a:spcPts val="0"/>
              </a:spcAft>
              <a:buNone/>
            </a:pPr>
            <a:r>
              <a:rPr lang="en-US" altLang="zh-CN" sz="2000" dirty="0">
                <a:solidFill>
                  <a:schemeClr val="tx1"/>
                </a:solidFill>
              </a:rPr>
              <a:t>                -----</a:t>
            </a:r>
            <a:r>
              <a:rPr lang="zh-CN" altLang="en-US" sz="2000" dirty="0">
                <a:solidFill>
                  <a:schemeClr val="tx1"/>
                </a:solidFill>
              </a:rPr>
              <a:t>根据行权重进行选取</a:t>
            </a:r>
            <a:r>
              <a:rPr lang="zh-CN" altLang="en-US" sz="2000" dirty="0">
                <a:solidFill>
                  <a:srgbClr val="FFC000"/>
                </a:solidFill>
              </a:rPr>
              <a:t>（码序列选择）</a:t>
            </a:r>
            <a:endParaRPr lang="en-US" altLang="zh-CN" sz="2000" dirty="0">
              <a:solidFill>
                <a:srgbClr val="FFC000"/>
              </a:solidFill>
            </a:endParaRPr>
          </a:p>
          <a:p>
            <a:pPr marL="0" indent="0">
              <a:lnSpc>
                <a:spcPct val="200000"/>
              </a:lnSpc>
              <a:spcBef>
                <a:spcPts val="0"/>
              </a:spcBef>
              <a:spcAft>
                <a:spcPts val="0"/>
              </a:spcAft>
              <a:buNone/>
            </a:pPr>
            <a:endParaRPr lang="en-US" altLang="zh-CN" sz="2000" dirty="0">
              <a:solidFill>
                <a:schemeClr val="tx1"/>
              </a:solidFill>
              <a:latin typeface="+mn-ea"/>
            </a:endParaRP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915327" y="204781"/>
            <a:ext cx="1562173"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867011" y="784874"/>
                <a:ext cx="8457978" cy="1523960"/>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zh-CN" altLang="en-US" sz="2000" dirty="0">
                    <a:solidFill>
                      <a:srgbClr val="FF0000"/>
                    </a:solidFill>
                  </a:rPr>
                  <a:t>例</a:t>
                </a:r>
                <a:r>
                  <a:rPr lang="en-US" altLang="zh-CN" sz="2000" dirty="0">
                    <a:solidFill>
                      <a:srgbClr val="FF0000"/>
                    </a:solidFill>
                  </a:rPr>
                  <a:t>1</a:t>
                </a:r>
                <a:r>
                  <a:rPr lang="zh-CN" altLang="en-US" sz="2000" dirty="0">
                    <a:solidFill>
                      <a:srgbClr val="FF0000"/>
                    </a:solidFill>
                  </a:rPr>
                  <a:t>：</a:t>
                </a:r>
                <a:r>
                  <a:rPr lang="zh-CN" altLang="en-US" sz="2000" dirty="0"/>
                  <a:t>选用</a:t>
                </a:r>
                <a:r>
                  <a:rPr lang="en-US" altLang="zh-CN" sz="2000" dirty="0"/>
                  <a:t>N=8</a:t>
                </a:r>
                <a:r>
                  <a:rPr lang="zh-CN" altLang="en-US" sz="2000" dirty="0"/>
                  <a:t>、</a:t>
                </a:r>
                <a:r>
                  <a:rPr lang="en-US" altLang="zh-CN" sz="2000" dirty="0"/>
                  <a:t>R=1/2</a:t>
                </a:r>
                <a:r>
                  <a:rPr lang="zh-CN" altLang="en-US" sz="2000" dirty="0"/>
                  <a:t>的编码，则应选用</a:t>
                </a:r>
                <a14:m>
                  <m:oMath xmlns:m="http://schemas.openxmlformats.org/officeDocument/2006/math">
                    <m:sSub>
                      <m:sSubPr>
                        <m:ctrlPr>
                          <a:rPr lang="zh-CN" altLang="en-US" sz="2000" i="1">
                            <a:solidFill>
                              <a:srgbClr val="FF0000"/>
                            </a:solidFill>
                            <a:latin typeface="Cambria Math" panose="02040503050406030204" pitchFamily="18" charset="0"/>
                            <a:ea typeface="黑体" panose="02010609060101010101" pitchFamily="49" charset="-122"/>
                          </a:rPr>
                        </m:ctrlPr>
                      </m:sSubPr>
                      <m:e>
                        <m:r>
                          <m:rPr>
                            <m:sty m:val="p"/>
                          </m:rPr>
                          <a:rPr lang="en-US" altLang="zh-CN" sz="2000" i="1">
                            <a:solidFill>
                              <a:srgbClr val="FF0000"/>
                            </a:solidFill>
                            <a:latin typeface="Cambria Math" panose="02040503050406030204" pitchFamily="18" charset="0"/>
                            <a:ea typeface="黑体" panose="02010609060101010101" pitchFamily="49" charset="-122"/>
                          </a:rPr>
                          <m:t>u</m:t>
                        </m:r>
                      </m:e>
                      <m:sub>
                        <m:r>
                          <a:rPr lang="en-US" altLang="zh-CN" sz="2000">
                            <a:solidFill>
                              <a:srgbClr val="FF0000"/>
                            </a:solidFill>
                            <a:latin typeface="Cambria Math" panose="02040503050406030204" pitchFamily="18" charset="0"/>
                            <a:ea typeface="黑体" panose="02010609060101010101" pitchFamily="49" charset="-122"/>
                          </a:rPr>
                          <m:t>4</m:t>
                        </m:r>
                      </m:sub>
                    </m:sSub>
                    <m:sSub>
                      <m:sSubPr>
                        <m:ctrlPr>
                          <a:rPr lang="zh-CN" altLang="en-US" sz="2000" i="1">
                            <a:solidFill>
                              <a:srgbClr val="FF0000"/>
                            </a:solidFill>
                            <a:latin typeface="Cambria Math" panose="02040503050406030204" pitchFamily="18" charset="0"/>
                            <a:ea typeface="黑体" panose="02010609060101010101" pitchFamily="49" charset="-122"/>
                          </a:rPr>
                        </m:ctrlPr>
                      </m:sSubPr>
                      <m:e>
                        <m:r>
                          <a:rPr lang="en-US" altLang="zh-CN" sz="2000">
                            <a:solidFill>
                              <a:srgbClr val="FF0000"/>
                            </a:solidFill>
                            <a:latin typeface="Cambria Math" panose="02040503050406030204" pitchFamily="18" charset="0"/>
                            <a:ea typeface="黑体" panose="02010609060101010101" pitchFamily="49" charset="-122"/>
                          </a:rPr>
                          <m:t>,</m:t>
                        </m:r>
                        <m:r>
                          <m:rPr>
                            <m:sty m:val="p"/>
                          </m:rPr>
                          <a:rPr lang="en-US" altLang="zh-CN" sz="2000" i="1">
                            <a:solidFill>
                              <a:srgbClr val="FF0000"/>
                            </a:solidFill>
                            <a:latin typeface="Cambria Math" panose="02040503050406030204" pitchFamily="18" charset="0"/>
                            <a:ea typeface="黑体" panose="02010609060101010101" pitchFamily="49" charset="-122"/>
                          </a:rPr>
                          <m:t>u</m:t>
                        </m:r>
                      </m:e>
                      <m:sub>
                        <m:r>
                          <a:rPr lang="en-US" altLang="zh-CN" sz="2000">
                            <a:solidFill>
                              <a:srgbClr val="FF0000"/>
                            </a:solidFill>
                            <a:latin typeface="Cambria Math" panose="02040503050406030204" pitchFamily="18" charset="0"/>
                            <a:ea typeface="黑体" panose="02010609060101010101" pitchFamily="49" charset="-122"/>
                          </a:rPr>
                          <m:t>6</m:t>
                        </m:r>
                      </m:sub>
                    </m:sSub>
                    <m:sSub>
                      <m:sSubPr>
                        <m:ctrlPr>
                          <a:rPr lang="zh-CN" altLang="en-US" sz="2000" i="1">
                            <a:solidFill>
                              <a:srgbClr val="FF0000"/>
                            </a:solidFill>
                            <a:latin typeface="Cambria Math" panose="02040503050406030204" pitchFamily="18" charset="0"/>
                            <a:ea typeface="黑体" panose="02010609060101010101" pitchFamily="49" charset="-122"/>
                          </a:rPr>
                        </m:ctrlPr>
                      </m:sSubPr>
                      <m:e>
                        <m:r>
                          <a:rPr lang="en-US" altLang="zh-CN" sz="2000">
                            <a:solidFill>
                              <a:srgbClr val="FF0000"/>
                            </a:solidFill>
                            <a:latin typeface="Cambria Math" panose="02040503050406030204" pitchFamily="18" charset="0"/>
                            <a:ea typeface="黑体" panose="02010609060101010101" pitchFamily="49" charset="-122"/>
                          </a:rPr>
                          <m:t>,</m:t>
                        </m:r>
                        <m:r>
                          <m:rPr>
                            <m:sty m:val="p"/>
                          </m:rPr>
                          <a:rPr lang="en-US" altLang="zh-CN" sz="2000" i="1">
                            <a:solidFill>
                              <a:srgbClr val="FF0000"/>
                            </a:solidFill>
                            <a:latin typeface="Cambria Math" panose="02040503050406030204" pitchFamily="18" charset="0"/>
                            <a:ea typeface="黑体" panose="02010609060101010101" pitchFamily="49" charset="-122"/>
                          </a:rPr>
                          <m:t>u</m:t>
                        </m:r>
                      </m:e>
                      <m:sub>
                        <m:r>
                          <a:rPr lang="en-US" altLang="zh-CN" sz="2000">
                            <a:solidFill>
                              <a:srgbClr val="FF0000"/>
                            </a:solidFill>
                            <a:latin typeface="Cambria Math" panose="02040503050406030204" pitchFamily="18" charset="0"/>
                            <a:ea typeface="黑体" panose="02010609060101010101" pitchFamily="49" charset="-122"/>
                          </a:rPr>
                          <m:t>7</m:t>
                        </m:r>
                      </m:sub>
                    </m:sSub>
                    <m:r>
                      <a:rPr lang="en-US" altLang="zh-CN" sz="2000">
                        <a:solidFill>
                          <a:srgbClr val="FF0000"/>
                        </a:solidFill>
                        <a:latin typeface="Cambria Math" panose="02040503050406030204" pitchFamily="18" charset="0"/>
                        <a:ea typeface="黑体" panose="02010609060101010101" pitchFamily="49" charset="-122"/>
                      </a:rPr>
                      <m:t>,</m:t>
                    </m:r>
                    <m:sSub>
                      <m:sSubPr>
                        <m:ctrlPr>
                          <a:rPr lang="zh-CN" altLang="en-US" sz="2000" i="1">
                            <a:solidFill>
                              <a:srgbClr val="FF0000"/>
                            </a:solidFill>
                            <a:latin typeface="Cambria Math" panose="02040503050406030204" pitchFamily="18" charset="0"/>
                          </a:rPr>
                        </m:ctrlPr>
                      </m:sSubPr>
                      <m:e>
                        <m:r>
                          <m:rPr>
                            <m:sty m:val="p"/>
                          </m:rPr>
                          <a:rPr lang="en-US" altLang="zh-CN" sz="2000" i="1">
                            <a:solidFill>
                              <a:srgbClr val="FF0000"/>
                            </a:solidFill>
                            <a:latin typeface="Cambria Math" panose="02040503050406030204" pitchFamily="18" charset="0"/>
                          </a:rPr>
                          <m:t>u</m:t>
                        </m:r>
                      </m:e>
                      <m:sub>
                        <m:r>
                          <a:rPr lang="en-US" altLang="zh-CN" sz="2000">
                            <a:solidFill>
                              <a:srgbClr val="FF0000"/>
                            </a:solidFill>
                            <a:latin typeface="Cambria Math" panose="02040503050406030204" pitchFamily="18" charset="0"/>
                          </a:rPr>
                          <m:t>8</m:t>
                        </m:r>
                      </m:sub>
                    </m:sSub>
                  </m:oMath>
                </a14:m>
                <a:r>
                  <a:rPr lang="zh-CN" altLang="en-US" sz="2000" dirty="0"/>
                  <a:t>（</a:t>
                </a:r>
                <a:r>
                  <a:rPr lang="en-US" altLang="zh-CN" sz="2000" dirty="0"/>
                  <a:t>0,1,0,1</a:t>
                </a:r>
                <a:r>
                  <a:rPr lang="zh-CN" altLang="en-US" sz="2000" dirty="0"/>
                  <a:t>）来进行编码。由于要发射的比特数不一定刚好是编码之后的比特数（如要发射</a:t>
                </a:r>
                <a:r>
                  <a:rPr lang="en-US" altLang="zh-CN" sz="2000" dirty="0"/>
                  <a:t>12</a:t>
                </a:r>
                <a:r>
                  <a:rPr lang="zh-CN" altLang="en-US" sz="2000" dirty="0"/>
                  <a:t>个比特），因此，在编码结束后，还要进行比特选择过程（后续讲解）。</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867011" y="784874"/>
                <a:ext cx="8457978" cy="1523960"/>
              </a:xfrm>
              <a:blipFill>
                <a:blip r:embed="rId2"/>
                <a:stretch>
                  <a:fillRect l="-720"/>
                </a:stretch>
              </a:blipFill>
              <a:ln>
                <a:noFill/>
              </a:ln>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1676516" y="2545517"/>
            <a:ext cx="6089710" cy="3429000"/>
          </a:xfrm>
          <a:prstGeom prst="rect">
            <a:avLst/>
          </a:prstGeom>
        </p:spPr>
      </p:pic>
      <p:sp>
        <p:nvSpPr>
          <p:cNvPr id="11" name="矩形 10"/>
          <p:cNvSpPr/>
          <p:nvPr/>
        </p:nvSpPr>
        <p:spPr>
          <a:xfrm>
            <a:off x="1828912" y="4046673"/>
            <a:ext cx="380990" cy="2285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2" name="矩形 11"/>
          <p:cNvSpPr/>
          <p:nvPr/>
        </p:nvSpPr>
        <p:spPr>
          <a:xfrm>
            <a:off x="1828912" y="4961049"/>
            <a:ext cx="380990" cy="2285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3" name="矩形 12"/>
          <p:cNvSpPr/>
          <p:nvPr/>
        </p:nvSpPr>
        <p:spPr>
          <a:xfrm>
            <a:off x="1828912" y="5342039"/>
            <a:ext cx="380990" cy="2285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4" name="矩形 13"/>
          <p:cNvSpPr/>
          <p:nvPr/>
        </p:nvSpPr>
        <p:spPr>
          <a:xfrm>
            <a:off x="1828912" y="5664001"/>
            <a:ext cx="380990" cy="2285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6" name="文本框 15"/>
          <p:cNvSpPr txBox="1"/>
          <p:nvPr/>
        </p:nvSpPr>
        <p:spPr>
          <a:xfrm>
            <a:off x="7918622" y="3355677"/>
            <a:ext cx="2666930" cy="2308324"/>
          </a:xfrm>
          <a:prstGeom prst="rect">
            <a:avLst/>
          </a:prstGeom>
          <a:noFill/>
        </p:spPr>
        <p:txBody>
          <a:bodyPr wrap="square">
            <a:spAutoFit/>
          </a:bodyPr>
          <a:lstStyle/>
          <a:p>
            <a:pPr eaLnBrk="0" fontAlgn="base" hangingPunct="0">
              <a:spcBef>
                <a:spcPct val="0"/>
              </a:spcBef>
              <a:spcAft>
                <a:spcPct val="0"/>
              </a:spcAft>
            </a:pPr>
            <a:r>
              <a:rPr lang="en-US" altLang="zh-CN" dirty="0">
                <a:solidFill>
                  <a:srgbClr val="000000"/>
                </a:solidFill>
                <a:latin typeface="Times New Roman"/>
                <a:ea typeface="宋体" panose="02010600030101010101" pitchFamily="2" charset="-122"/>
              </a:rPr>
              <a:t>0,0,0,0,0,1,0,1(</a:t>
            </a:r>
            <a:r>
              <a:rPr lang="zh-CN" altLang="en-US" dirty="0">
                <a:solidFill>
                  <a:srgbClr val="000000"/>
                </a:solidFill>
                <a:latin typeface="Times New Roman"/>
                <a:ea typeface="宋体" panose="02010600030101010101" pitchFamily="2" charset="-122"/>
              </a:rPr>
              <a:t>原</a:t>
            </a:r>
            <a:r>
              <a:rPr lang="en-US" altLang="zh-CN" dirty="0">
                <a:solidFill>
                  <a:srgbClr val="000000"/>
                </a:solidFill>
                <a:latin typeface="Times New Roman"/>
                <a:ea typeface="宋体" panose="02010600030101010101" pitchFamily="2" charset="-122"/>
              </a:rPr>
              <a:t>)</a:t>
            </a:r>
          </a:p>
          <a:p>
            <a:pPr eaLnBrk="0" fontAlgn="base" hangingPunct="0">
              <a:spcBef>
                <a:spcPct val="0"/>
              </a:spcBef>
              <a:spcAft>
                <a:spcPct val="0"/>
              </a:spcAft>
            </a:pPr>
            <a:endParaRPr lang="en-US" altLang="zh-CN" dirty="0">
              <a:solidFill>
                <a:srgbClr val="000000"/>
              </a:solidFill>
              <a:latin typeface="Times New Roman"/>
              <a:ea typeface="宋体" panose="02010600030101010101" pitchFamily="2" charset="-122"/>
            </a:endParaRPr>
          </a:p>
          <a:p>
            <a:pPr eaLnBrk="0" fontAlgn="base" hangingPunct="0">
              <a:spcBef>
                <a:spcPct val="0"/>
              </a:spcBef>
              <a:spcAft>
                <a:spcPct val="0"/>
              </a:spcAft>
            </a:pPr>
            <a:r>
              <a:rPr lang="en-US" altLang="zh-CN" dirty="0">
                <a:solidFill>
                  <a:srgbClr val="000000"/>
                </a:solidFill>
                <a:latin typeface="Times New Roman"/>
                <a:ea typeface="宋体" panose="02010600030101010101" pitchFamily="2" charset="-122"/>
              </a:rPr>
              <a:t>0,0,0,0,0,1,1,1(</a:t>
            </a:r>
            <a:r>
              <a:rPr lang="zh-CN" altLang="en-US" dirty="0">
                <a:solidFill>
                  <a:srgbClr val="000000"/>
                </a:solidFill>
                <a:latin typeface="Times New Roman"/>
                <a:ea typeface="宋体" panose="02010600030101010101" pitchFamily="2" charset="-122"/>
              </a:rPr>
              <a:t>一级编码</a:t>
            </a:r>
            <a:r>
              <a:rPr lang="en-US" altLang="zh-CN" dirty="0">
                <a:solidFill>
                  <a:srgbClr val="000000"/>
                </a:solidFill>
                <a:latin typeface="Times New Roman"/>
                <a:ea typeface="宋体" panose="02010600030101010101" pitchFamily="2" charset="-122"/>
              </a:rPr>
              <a:t>)</a:t>
            </a:r>
          </a:p>
          <a:p>
            <a:pPr eaLnBrk="0" fontAlgn="base" hangingPunct="0">
              <a:spcBef>
                <a:spcPct val="0"/>
              </a:spcBef>
              <a:spcAft>
                <a:spcPct val="0"/>
              </a:spcAft>
            </a:pPr>
            <a:endParaRPr lang="en-US" altLang="zh-CN" dirty="0">
              <a:solidFill>
                <a:srgbClr val="000000"/>
              </a:solidFill>
              <a:latin typeface="Times New Roman"/>
              <a:ea typeface="宋体" panose="02010600030101010101" pitchFamily="2" charset="-122"/>
            </a:endParaRPr>
          </a:p>
          <a:p>
            <a:pPr eaLnBrk="0" fontAlgn="base" hangingPunct="0">
              <a:spcBef>
                <a:spcPct val="0"/>
              </a:spcBef>
              <a:spcAft>
                <a:spcPct val="0"/>
              </a:spcAft>
            </a:pPr>
            <a:r>
              <a:rPr lang="en-US" altLang="zh-CN" dirty="0">
                <a:solidFill>
                  <a:srgbClr val="000000"/>
                </a:solidFill>
                <a:latin typeface="Times New Roman"/>
                <a:ea typeface="宋体" panose="02010600030101010101" pitchFamily="2" charset="-122"/>
              </a:rPr>
              <a:t>0,0,0,0,0,0,1,1(</a:t>
            </a:r>
            <a:r>
              <a:rPr lang="zh-CN" altLang="en-US" dirty="0">
                <a:solidFill>
                  <a:srgbClr val="000000"/>
                </a:solidFill>
                <a:latin typeface="Times New Roman"/>
                <a:ea typeface="宋体" panose="02010600030101010101" pitchFamily="2" charset="-122"/>
              </a:rPr>
              <a:t>二级编码</a:t>
            </a:r>
            <a:r>
              <a:rPr lang="en-US" altLang="zh-CN" dirty="0">
                <a:solidFill>
                  <a:srgbClr val="000000"/>
                </a:solidFill>
                <a:latin typeface="Times New Roman"/>
                <a:ea typeface="宋体" panose="02010600030101010101" pitchFamily="2" charset="-122"/>
              </a:rPr>
              <a:t>)</a:t>
            </a:r>
          </a:p>
          <a:p>
            <a:pPr eaLnBrk="0" fontAlgn="base" hangingPunct="0">
              <a:spcBef>
                <a:spcPct val="0"/>
              </a:spcBef>
              <a:spcAft>
                <a:spcPct val="0"/>
              </a:spcAft>
            </a:pPr>
            <a:endParaRPr lang="en-US" altLang="zh-CN" dirty="0">
              <a:solidFill>
                <a:srgbClr val="000000"/>
              </a:solidFill>
              <a:latin typeface="Times New Roman"/>
              <a:ea typeface="宋体" panose="02010600030101010101" pitchFamily="2" charset="-122"/>
            </a:endParaRPr>
          </a:p>
          <a:p>
            <a:pPr eaLnBrk="0" fontAlgn="base" hangingPunct="0">
              <a:spcBef>
                <a:spcPct val="0"/>
              </a:spcBef>
              <a:spcAft>
                <a:spcPct val="0"/>
              </a:spcAft>
            </a:pPr>
            <a:r>
              <a:rPr lang="en-US" altLang="zh-CN" dirty="0">
                <a:solidFill>
                  <a:srgbClr val="000000"/>
                </a:solidFill>
                <a:latin typeface="Times New Roman"/>
                <a:ea typeface="宋体" panose="02010600030101010101" pitchFamily="2" charset="-122"/>
              </a:rPr>
              <a:t>0,0,1,1,0,0,1,1(</a:t>
            </a:r>
            <a:r>
              <a:rPr lang="zh-CN" altLang="en-US" dirty="0">
                <a:solidFill>
                  <a:srgbClr val="000000"/>
                </a:solidFill>
                <a:latin typeface="Times New Roman"/>
                <a:ea typeface="宋体" panose="02010600030101010101" pitchFamily="2" charset="-122"/>
              </a:rPr>
              <a:t>三级编码</a:t>
            </a:r>
            <a:r>
              <a:rPr lang="en-US" altLang="zh-CN" dirty="0">
                <a:solidFill>
                  <a:srgbClr val="000000"/>
                </a:solidFill>
                <a:latin typeface="Times New Roman"/>
                <a:ea typeface="宋体" panose="02010600030101010101" pitchFamily="2" charset="-122"/>
              </a:rPr>
              <a:t>)</a:t>
            </a:r>
            <a:endParaRPr lang="zh-CN" altLang="en-US" dirty="0">
              <a:solidFill>
                <a:srgbClr val="000000"/>
              </a:solidFill>
              <a:latin typeface="Times New Roman"/>
              <a:ea typeface="宋体" panose="02010600030101010101" pitchFamily="2" charset="-122"/>
            </a:endParaRPr>
          </a:p>
          <a:p>
            <a:pPr eaLnBrk="0" fontAlgn="base" hangingPunct="0">
              <a:spcBef>
                <a:spcPct val="0"/>
              </a:spcBef>
              <a:spcAft>
                <a:spcPct val="0"/>
              </a:spcAft>
            </a:pPr>
            <a:endParaRPr lang="zh-CN" altLang="en-US" dirty="0">
              <a:solidFill>
                <a:srgbClr val="000000"/>
              </a:solidFill>
              <a:latin typeface="Arial" panose="020B0604020202020204" pitchFamily="34" charset="0"/>
              <a:ea typeface="宋体" panose="02010600030101010101" pitchFamily="2" charset="-122"/>
            </a:endParaRPr>
          </a:p>
        </p:txBody>
      </p:sp>
      <p:sp>
        <p:nvSpPr>
          <p:cNvPr id="17" name="箭头: 下 16"/>
          <p:cNvSpPr/>
          <p:nvPr/>
        </p:nvSpPr>
        <p:spPr>
          <a:xfrm>
            <a:off x="8782353" y="3737682"/>
            <a:ext cx="191637" cy="22859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9" name="箭头: 下 18"/>
          <p:cNvSpPr/>
          <p:nvPr/>
        </p:nvSpPr>
        <p:spPr>
          <a:xfrm>
            <a:off x="8782353" y="4824808"/>
            <a:ext cx="191637" cy="22859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0" name="箭头: 下 19"/>
          <p:cNvSpPr/>
          <p:nvPr/>
        </p:nvSpPr>
        <p:spPr>
          <a:xfrm>
            <a:off x="8782353" y="4281245"/>
            <a:ext cx="191637" cy="22859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991525" y="152486"/>
            <a:ext cx="1562173"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139343" y="1066862"/>
                <a:ext cx="7785783" cy="5333860"/>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14:m>
                  <m:oMath xmlns:m="http://schemas.openxmlformats.org/officeDocument/2006/math">
                    <m:r>
                      <a:rPr lang="zh-CN" altLang="en-US" sz="2000" i="1">
                        <a:solidFill>
                          <a:srgbClr val="FF0000"/>
                        </a:solidFill>
                        <a:latin typeface="Cambria Math" panose="02040503050406030204" pitchFamily="18" charset="0"/>
                        <a:ea typeface="黑体" panose="02010609060101010101" pitchFamily="49" charset="-122"/>
                      </a:rPr>
                      <m:t>例</m:t>
                    </m:r>
                  </m:oMath>
                </a14:m>
                <a:r>
                  <a:rPr lang="en-US" altLang="zh-CN" sz="2000" dirty="0">
                    <a:solidFill>
                      <a:srgbClr val="FF0000"/>
                    </a:solidFill>
                  </a:rPr>
                  <a:t>2</a:t>
                </a:r>
                <a:r>
                  <a:rPr lang="zh-CN" altLang="en-US" sz="2000" dirty="0">
                    <a:solidFill>
                      <a:srgbClr val="FF0000"/>
                    </a:solidFill>
                    <a:sym typeface="Wingdings" panose="05000000000000000000" pitchFamily="2" charset="2"/>
                  </a:rPr>
                  <a:t>：</a:t>
                </a:r>
                <a:r>
                  <a:rPr lang="zh-CN" altLang="en-US" sz="2000" dirty="0">
                    <a:sym typeface="Wingdings" panose="05000000000000000000" pitchFamily="2" charset="2"/>
                  </a:rPr>
                  <a:t>（计算）设码长</a:t>
                </a:r>
                <a:r>
                  <a:rPr lang="en-US" altLang="zh-CN" sz="2000" dirty="0">
                    <a:sym typeface="Wingdings" panose="05000000000000000000" pitchFamily="2" charset="2"/>
                  </a:rPr>
                  <a:t>N=8</a:t>
                </a:r>
                <a:r>
                  <a:rPr lang="zh-CN" altLang="en-US" sz="2000" dirty="0">
                    <a:sym typeface="Wingdings" panose="05000000000000000000" pitchFamily="2" charset="2"/>
                  </a:rPr>
                  <a:t>，消息比特数</a:t>
                </a:r>
                <a:r>
                  <a:rPr lang="en-US" altLang="zh-CN" sz="2000" dirty="0">
                    <a:sym typeface="Wingdings" panose="05000000000000000000" pitchFamily="2" charset="2"/>
                  </a:rPr>
                  <a:t>k=4 </a:t>
                </a:r>
                <a:r>
                  <a:rPr lang="zh-CN" altLang="en-US" sz="2000" dirty="0">
                    <a:sym typeface="Wingdings" panose="05000000000000000000" pitchFamily="2" charset="2"/>
                  </a:rPr>
                  <a:t>。</a:t>
                </a:r>
                <a:r>
                  <a:rPr lang="en-US" altLang="zh-CN" sz="2000" dirty="0">
                    <a:sym typeface="Wingdings" panose="05000000000000000000" pitchFamily="2" charset="2"/>
                  </a:rPr>
                  <a:t>(</a:t>
                </a:r>
                <a:r>
                  <a:rPr lang="zh-CN" altLang="en-US" sz="2000" dirty="0">
                    <a:sym typeface="Wingdings" panose="05000000000000000000" pitchFamily="2" charset="2"/>
                  </a:rPr>
                  <a:t>部分教材极化码用</a:t>
                </a:r>
                <a:r>
                  <a:rPr lang="en-US" altLang="zh-CN" sz="2000" dirty="0">
                    <a:sym typeface="Wingdings" panose="05000000000000000000" pitchFamily="2" charset="2"/>
                  </a:rPr>
                  <a:t>c</a:t>
                </a:r>
                <a:r>
                  <a:rPr lang="zh-CN" altLang="en-US" sz="2000" dirty="0">
                    <a:sym typeface="Wingdings" panose="05000000000000000000" pitchFamily="2" charset="2"/>
                  </a:rPr>
                  <a:t>表示，也可用</a:t>
                </a:r>
                <a:r>
                  <a:rPr lang="en-US" altLang="zh-CN" sz="2000" dirty="0">
                    <a:sym typeface="Wingdings" panose="05000000000000000000" pitchFamily="2" charset="2"/>
                  </a:rPr>
                  <a:t>x</a:t>
                </a:r>
                <a:r>
                  <a:rPr lang="zh-CN" altLang="en-US" sz="2000" dirty="0">
                    <a:sym typeface="Wingdings" panose="05000000000000000000" pitchFamily="2" charset="2"/>
                  </a:rPr>
                  <a:t>表示</a:t>
                </a:r>
                <a:r>
                  <a:rPr lang="en-US" altLang="zh-CN" sz="2000" dirty="0">
                    <a:sym typeface="Wingdings" panose="05000000000000000000" pitchFamily="2" charset="2"/>
                  </a:rPr>
                  <a:t>)</a:t>
                </a:r>
              </a:p>
              <a:p>
                <a:pPr marL="0" indent="0" algn="just">
                  <a:lnSpc>
                    <a:spcPct val="150000"/>
                  </a:lnSpc>
                  <a:buNone/>
                </a:pPr>
                <a:r>
                  <a:rPr lang="zh-CN" altLang="en-US" sz="2000" dirty="0">
                    <a:sym typeface="Wingdings" panose="05000000000000000000" pitchFamily="2" charset="2"/>
                  </a:rPr>
                  <a:t>      需要的公式：</a:t>
                </a:r>
                <a:endParaRPr lang="en-US" altLang="zh-CN" sz="2000" dirty="0">
                  <a:sym typeface="Wingdings" panose="05000000000000000000" pitchFamily="2" charset="2"/>
                </a:endParaRPr>
              </a:p>
              <a:p>
                <a:pPr marL="0" indent="0" algn="just">
                  <a:lnSpc>
                    <a:spcPts val="4500"/>
                  </a:lnSpc>
                  <a:buNone/>
                </a:pPr>
                <a14:m>
                  <m:oMathPara xmlns:m="http://schemas.openxmlformats.org/officeDocument/2006/math">
                    <m:oMathParaPr>
                      <m:jc m:val="centerGroup"/>
                    </m:oMathParaPr>
                    <m:oMath xmlns:m="http://schemas.openxmlformats.org/officeDocument/2006/math">
                      <m:sSubSup>
                        <m:sSubSupPr>
                          <m:ctrlPr>
                            <a:rPr lang="zh-CN" altLang="zh-CN" sz="1800" i="1" kern="100">
                              <a:latin typeface="Cambria Math" panose="02040503050406030204" pitchFamily="18" charset="0"/>
                              <a:ea typeface="Cambria Math" panose="02040503050406030204" pitchFamily="18" charset="0"/>
                            </a:rPr>
                          </m:ctrlPr>
                        </m:sSubSupPr>
                        <m:e>
                          <m:r>
                            <m:rPr>
                              <m:nor/>
                            </m:rPr>
                            <a:rPr lang="en-US" altLang="zh-CN" sz="1800" kern="100">
                              <a:latin typeface="Cambria Math" panose="02040503050406030204" pitchFamily="18" charset="0"/>
                              <a:ea typeface="宋体" panose="02010600030101010101" pitchFamily="2" charset="-122"/>
                            </a:rPr>
                            <m:t>c</m:t>
                          </m:r>
                        </m:e>
                        <m:sub>
                          <m:r>
                            <m:rPr>
                              <m:nor/>
                            </m:rPr>
                            <a:rPr lang="en-US" altLang="zh-CN" sz="1800" kern="100">
                              <a:latin typeface="Cambria Math" panose="02040503050406030204" pitchFamily="18" charset="0"/>
                              <a:ea typeface="宋体" panose="02010600030101010101" pitchFamily="2" charset="-122"/>
                            </a:rPr>
                            <m:t>1</m:t>
                          </m:r>
                        </m:sub>
                        <m:sup>
                          <m:r>
                            <m:rPr>
                              <m:nor/>
                            </m:rPr>
                            <a:rPr lang="en-US" altLang="zh-CN" sz="1800" kern="100">
                              <a:latin typeface="Cambria Math" panose="02040503050406030204" pitchFamily="18" charset="0"/>
                              <a:ea typeface="宋体" panose="02010600030101010101" pitchFamily="2" charset="-122"/>
                            </a:rPr>
                            <m:t>N</m:t>
                          </m:r>
                        </m:sup>
                      </m:sSubSup>
                      <m:r>
                        <m:rPr>
                          <m:nor/>
                        </m:rPr>
                        <a:rPr lang="en-US" altLang="zh-CN" sz="1800" kern="100">
                          <a:latin typeface="Cambria Math" panose="02040503050406030204" pitchFamily="18" charset="0"/>
                          <a:ea typeface="宋体" panose="02010600030101010101" pitchFamily="2" charset="-122"/>
                        </a:rPr>
                        <m:t>=</m:t>
                      </m:r>
                      <m:sSubSup>
                        <m:sSubSupPr>
                          <m:ctrlPr>
                            <a:rPr lang="zh-CN" altLang="zh-CN" sz="1800" i="1" kern="100">
                              <a:latin typeface="Cambria Math" panose="02040503050406030204" pitchFamily="18" charset="0"/>
                              <a:ea typeface="Cambria Math" panose="02040503050406030204" pitchFamily="18" charset="0"/>
                            </a:rPr>
                          </m:ctrlPr>
                        </m:sSubSupPr>
                        <m:e>
                          <m:r>
                            <m:rPr>
                              <m:nor/>
                            </m:rPr>
                            <a:rPr lang="en-US" altLang="zh-CN" sz="1800" kern="100">
                              <a:latin typeface="Cambria Math" panose="02040503050406030204" pitchFamily="18" charset="0"/>
                              <a:ea typeface="宋体" panose="02010600030101010101" pitchFamily="2" charset="-122"/>
                            </a:rPr>
                            <m:t>u</m:t>
                          </m:r>
                        </m:e>
                        <m:sub>
                          <m:r>
                            <m:rPr>
                              <m:nor/>
                            </m:rPr>
                            <a:rPr lang="en-US" altLang="zh-CN" sz="1800" kern="100">
                              <a:latin typeface="Cambria Math" panose="02040503050406030204" pitchFamily="18" charset="0"/>
                              <a:ea typeface="宋体" panose="02010600030101010101" pitchFamily="2" charset="-122"/>
                            </a:rPr>
                            <m:t>1</m:t>
                          </m:r>
                        </m:sub>
                        <m:sup>
                          <m:r>
                            <m:rPr>
                              <m:nor/>
                            </m:rPr>
                            <a:rPr lang="en-US" altLang="zh-CN" sz="1800" kern="100">
                              <a:latin typeface="Cambria Math" panose="02040503050406030204" pitchFamily="18" charset="0"/>
                              <a:ea typeface="宋体" panose="02010600030101010101" pitchFamily="2" charset="-122"/>
                            </a:rPr>
                            <m:t>N</m:t>
                          </m:r>
                        </m:sup>
                      </m:sSubSup>
                      <m:sSub>
                        <m:sSubPr>
                          <m:ctrlPr>
                            <a:rPr lang="zh-CN" altLang="zh-CN" sz="1800" i="1" kern="100">
                              <a:latin typeface="Cambria Math" panose="02040503050406030204" pitchFamily="18" charset="0"/>
                              <a:ea typeface="Cambria Math" panose="02040503050406030204" pitchFamily="18" charset="0"/>
                            </a:rPr>
                          </m:ctrlPr>
                        </m:sSubPr>
                        <m:e>
                          <m:r>
                            <m:rPr>
                              <m:nor/>
                            </m:rPr>
                            <a:rPr lang="en-US" altLang="zh-CN" sz="1800" kern="100">
                              <a:latin typeface="Cambria Math" panose="02040503050406030204" pitchFamily="18" charset="0"/>
                              <a:ea typeface="宋体" panose="02010600030101010101" pitchFamily="2" charset="-122"/>
                            </a:rPr>
                            <m:t>G</m:t>
                          </m:r>
                        </m:e>
                        <m:sub>
                          <m:r>
                            <m:rPr>
                              <m:nor/>
                            </m:rPr>
                            <a:rPr lang="en-US" altLang="zh-CN" sz="1800" kern="100">
                              <a:latin typeface="Cambria Math" panose="02040503050406030204" pitchFamily="18" charset="0"/>
                              <a:ea typeface="宋体" panose="02010600030101010101" pitchFamily="2" charset="-122"/>
                            </a:rPr>
                            <m:t>N</m:t>
                          </m:r>
                        </m:sub>
                      </m:sSub>
                    </m:oMath>
                  </m:oMathPara>
                </a14:m>
                <a:endParaRPr lang="zh-CN" altLang="zh-CN" sz="1800" kern="100" dirty="0">
                  <a:ea typeface="宋体" panose="02010600030101010101" pitchFamily="2" charset="-122"/>
                </a:endParaRPr>
              </a:p>
              <a:p>
                <a:pPr marL="0" indent="0" algn="just">
                  <a:lnSpc>
                    <a:spcPts val="4500"/>
                  </a:lnSpc>
                  <a:buNone/>
                </a:pPr>
                <a14:m>
                  <m:oMathPara xmlns:m="http://schemas.openxmlformats.org/officeDocument/2006/math">
                    <m:oMathParaPr>
                      <m:jc m:val="centerGroup"/>
                    </m:oMathParaPr>
                    <m:oMath xmlns:m="http://schemas.openxmlformats.org/officeDocument/2006/math">
                      <m:sSub>
                        <m:sSubPr>
                          <m:ctrlPr>
                            <a:rPr lang="zh-CN" altLang="zh-CN" sz="1800" i="1" kern="100">
                              <a:latin typeface="Cambria Math" panose="02040503050406030204" pitchFamily="18" charset="0"/>
                              <a:ea typeface="Cambria Math" panose="02040503050406030204" pitchFamily="18" charset="0"/>
                            </a:rPr>
                          </m:ctrlPr>
                        </m:sSubPr>
                        <m:e>
                          <m:r>
                            <m:rPr>
                              <m:nor/>
                            </m:rPr>
                            <a:rPr lang="en-US" altLang="zh-CN" sz="1800" kern="100">
                              <a:latin typeface="Cambria Math" panose="02040503050406030204" pitchFamily="18" charset="0"/>
                              <a:ea typeface="宋体" panose="02010600030101010101" pitchFamily="2" charset="-122"/>
                            </a:rPr>
                            <m:t>G</m:t>
                          </m:r>
                        </m:e>
                        <m:sub>
                          <m:r>
                            <m:rPr>
                              <m:nor/>
                            </m:rPr>
                            <a:rPr lang="en-US" altLang="zh-CN" sz="1800" kern="100">
                              <a:latin typeface="Cambria Math" panose="02040503050406030204" pitchFamily="18" charset="0"/>
                              <a:ea typeface="宋体" panose="02010600030101010101" pitchFamily="2" charset="-122"/>
                            </a:rPr>
                            <m:t>N</m:t>
                          </m:r>
                        </m:sub>
                      </m:sSub>
                      <m:r>
                        <m:rPr>
                          <m:nor/>
                        </m:rPr>
                        <a:rPr lang="en-US" altLang="zh-CN" sz="1800" kern="100">
                          <a:latin typeface="Cambria Math" panose="02040503050406030204" pitchFamily="18" charset="0"/>
                          <a:ea typeface="宋体" panose="02010600030101010101" pitchFamily="2" charset="-122"/>
                        </a:rPr>
                        <m:t>=</m:t>
                      </m:r>
                      <m:sSub>
                        <m:sSubPr>
                          <m:ctrlPr>
                            <a:rPr lang="zh-CN" altLang="zh-CN" sz="1800" i="1" kern="100">
                              <a:latin typeface="Cambria Math" panose="02040503050406030204" pitchFamily="18" charset="0"/>
                              <a:ea typeface="Cambria Math" panose="02040503050406030204" pitchFamily="18" charset="0"/>
                            </a:rPr>
                          </m:ctrlPr>
                        </m:sSubPr>
                        <m:e>
                          <m:r>
                            <m:rPr>
                              <m:nor/>
                            </m:rPr>
                            <a:rPr lang="en-US" altLang="zh-CN" sz="1800" kern="100">
                              <a:latin typeface="Cambria Math" panose="02040503050406030204" pitchFamily="18" charset="0"/>
                              <a:ea typeface="宋体" panose="02010600030101010101" pitchFamily="2" charset="-122"/>
                            </a:rPr>
                            <m:t>B</m:t>
                          </m:r>
                        </m:e>
                        <m:sub>
                          <m:r>
                            <m:rPr>
                              <m:nor/>
                            </m:rPr>
                            <a:rPr lang="en-US" altLang="zh-CN" sz="1800" kern="100">
                              <a:latin typeface="Cambria Math" panose="02040503050406030204" pitchFamily="18" charset="0"/>
                              <a:ea typeface="宋体" panose="02010600030101010101" pitchFamily="2" charset="-122"/>
                            </a:rPr>
                            <m:t>N</m:t>
                          </m:r>
                        </m:sub>
                      </m:sSub>
                      <m:sSup>
                        <m:sSupPr>
                          <m:ctrlPr>
                            <a:rPr lang="zh-CN" altLang="zh-CN" sz="1800" i="1" kern="100">
                              <a:latin typeface="Cambria Math" panose="02040503050406030204" pitchFamily="18" charset="0"/>
                              <a:ea typeface="Cambria Math" panose="02040503050406030204" pitchFamily="18" charset="0"/>
                            </a:rPr>
                          </m:ctrlPr>
                        </m:sSupPr>
                        <m:e>
                          <m:r>
                            <m:rPr>
                              <m:nor/>
                            </m:rPr>
                            <a:rPr lang="en-US" altLang="zh-CN" sz="1800" kern="100">
                              <a:latin typeface="Cambria Math" panose="02040503050406030204" pitchFamily="18" charset="0"/>
                              <a:ea typeface="宋体" panose="02010600030101010101" pitchFamily="2" charset="-122"/>
                            </a:rPr>
                            <m:t>F</m:t>
                          </m:r>
                        </m:e>
                        <m:sup>
                          <m:r>
                            <m:rPr>
                              <m:nor/>
                            </m:rPr>
                            <a:rPr lang="zh-CN" altLang="zh-CN" sz="1800" kern="100">
                              <a:latin typeface="Cambria Math" panose="02040503050406030204" pitchFamily="18" charset="0"/>
                              <a:ea typeface="MS Gothic" panose="020B0609070205080204" pitchFamily="49" charset="-128"/>
                              <a:cs typeface="MS Gothic" panose="020B0609070205080204" pitchFamily="49" charset="-128"/>
                            </a:rPr>
                            <m:t>⊗</m:t>
                          </m:r>
                          <m:r>
                            <m:rPr>
                              <m:nor/>
                            </m:rPr>
                            <a:rPr lang="en-US" altLang="zh-CN" sz="1800" kern="100">
                              <a:latin typeface="Cambria Math" panose="02040503050406030204" pitchFamily="18" charset="0"/>
                              <a:ea typeface="宋体" panose="02010600030101010101" pitchFamily="2" charset="-122"/>
                            </a:rPr>
                            <m:t>n</m:t>
                          </m:r>
                        </m:sup>
                      </m:sSup>
                    </m:oMath>
                  </m:oMathPara>
                </a14:m>
                <a:endParaRPr lang="zh-CN" altLang="zh-CN" sz="1800" kern="100" dirty="0">
                  <a:ea typeface="宋体" panose="02010600030101010101" pitchFamily="2" charset="-122"/>
                </a:endParaRPr>
              </a:p>
              <a:p>
                <a:pPr marL="0" indent="0" algn="just">
                  <a:lnSpc>
                    <a:spcPts val="4500"/>
                  </a:lnSpc>
                  <a:buNone/>
                </a:pPr>
                <a14:m>
                  <m:oMathPara xmlns:m="http://schemas.openxmlformats.org/officeDocument/2006/math">
                    <m:oMathParaPr>
                      <m:jc m:val="centerGroup"/>
                    </m:oMathParaPr>
                    <m:oMath xmlns:m="http://schemas.openxmlformats.org/officeDocument/2006/math">
                      <m:sSup>
                        <m:sSupPr>
                          <m:ctrlPr>
                            <a:rPr lang="zh-CN" altLang="zh-CN" sz="1800" i="1" kern="100">
                              <a:latin typeface="Cambria Math" panose="02040503050406030204" pitchFamily="18" charset="0"/>
                              <a:ea typeface="Cambria Math" panose="02040503050406030204" pitchFamily="18" charset="0"/>
                            </a:rPr>
                          </m:ctrlPr>
                        </m:sSupPr>
                        <m:e>
                          <m:r>
                            <m:rPr>
                              <m:nor/>
                            </m:rPr>
                            <a:rPr lang="en-US" altLang="zh-CN" sz="1800" kern="100">
                              <a:latin typeface="Cambria Math" panose="02040503050406030204" pitchFamily="18" charset="0"/>
                              <a:ea typeface="宋体" panose="02010600030101010101" pitchFamily="2" charset="-122"/>
                            </a:rPr>
                            <m:t>F</m:t>
                          </m:r>
                        </m:e>
                        <m:sup>
                          <m:r>
                            <m:rPr>
                              <m:nor/>
                            </m:rPr>
                            <a:rPr lang="zh-CN" altLang="zh-CN" sz="1800" kern="100">
                              <a:latin typeface="Cambria Math" panose="02040503050406030204" pitchFamily="18" charset="0"/>
                              <a:ea typeface="MS Gothic" panose="020B0609070205080204" pitchFamily="49" charset="-128"/>
                              <a:cs typeface="MS Gothic" panose="020B0609070205080204" pitchFamily="49" charset="-128"/>
                            </a:rPr>
                            <m:t>⊗</m:t>
                          </m:r>
                          <m:r>
                            <m:rPr>
                              <m:nor/>
                            </m:rPr>
                            <a:rPr lang="en-US" altLang="zh-CN" sz="1800" kern="100">
                              <a:latin typeface="Cambria Math" panose="02040503050406030204" pitchFamily="18" charset="0"/>
                              <a:ea typeface="宋体" panose="02010600030101010101" pitchFamily="2" charset="-122"/>
                            </a:rPr>
                            <m:t>n</m:t>
                          </m:r>
                        </m:sup>
                      </m:sSup>
                      <m:r>
                        <m:rPr>
                          <m:nor/>
                        </m:rPr>
                        <a:rPr lang="en-US" altLang="zh-CN" sz="1800" kern="100">
                          <a:latin typeface="Cambria Math" panose="02040503050406030204" pitchFamily="18" charset="0"/>
                          <a:ea typeface="宋体" panose="02010600030101010101" pitchFamily="2" charset="-122"/>
                        </a:rPr>
                        <m:t>=</m:t>
                      </m:r>
                      <m:r>
                        <m:rPr>
                          <m:nor/>
                        </m:rPr>
                        <a:rPr lang="en-US" altLang="zh-CN" sz="1800" kern="100">
                          <a:latin typeface="Cambria Math" panose="02040503050406030204" pitchFamily="18" charset="0"/>
                          <a:ea typeface="宋体" panose="02010600030101010101" pitchFamily="2" charset="-122"/>
                        </a:rPr>
                        <m:t>F</m:t>
                      </m:r>
                      <m:r>
                        <m:rPr>
                          <m:nor/>
                        </m:rPr>
                        <a:rPr lang="zh-CN" altLang="zh-CN" sz="1800" kern="100">
                          <a:latin typeface="Cambria Math" panose="02040503050406030204" pitchFamily="18" charset="0"/>
                          <a:ea typeface="MS Gothic" panose="020B0609070205080204" pitchFamily="49" charset="-128"/>
                          <a:cs typeface="MS Gothic" panose="020B0609070205080204" pitchFamily="49" charset="-128"/>
                        </a:rPr>
                        <m:t>⊗</m:t>
                      </m:r>
                      <m:r>
                        <m:rPr>
                          <m:nor/>
                        </m:rPr>
                        <a:rPr lang="zh-CN" altLang="zh-CN" sz="1800" kern="100">
                          <a:latin typeface="Cambria Math" panose="02040503050406030204" pitchFamily="18" charset="0"/>
                          <a:ea typeface="宋体" panose="02010600030101010101" pitchFamily="2" charset="-122"/>
                        </a:rPr>
                        <m:t> </m:t>
                      </m:r>
                      <m:sSup>
                        <m:sSupPr>
                          <m:ctrlPr>
                            <a:rPr lang="zh-CN" altLang="zh-CN" sz="1800" i="1" kern="100">
                              <a:latin typeface="Cambria Math" panose="02040503050406030204" pitchFamily="18" charset="0"/>
                              <a:ea typeface="Cambria Math" panose="02040503050406030204" pitchFamily="18" charset="0"/>
                            </a:rPr>
                          </m:ctrlPr>
                        </m:sSupPr>
                        <m:e>
                          <m:r>
                            <m:rPr>
                              <m:nor/>
                            </m:rPr>
                            <a:rPr lang="en-US" altLang="zh-CN" sz="1800" kern="100">
                              <a:latin typeface="Cambria Math" panose="02040503050406030204" pitchFamily="18" charset="0"/>
                              <a:ea typeface="宋体" panose="02010600030101010101" pitchFamily="2" charset="-122"/>
                            </a:rPr>
                            <m:t>F</m:t>
                          </m:r>
                        </m:e>
                        <m:sup>
                          <m:r>
                            <m:rPr>
                              <m:nor/>
                            </m:rPr>
                            <a:rPr lang="zh-CN" altLang="zh-CN" sz="1800" kern="100">
                              <a:latin typeface="Cambria Math" panose="02040503050406030204" pitchFamily="18" charset="0"/>
                              <a:ea typeface="MS Gothic" panose="020B0609070205080204" pitchFamily="49" charset="-128"/>
                              <a:cs typeface="MS Gothic" panose="020B0609070205080204" pitchFamily="49" charset="-128"/>
                            </a:rPr>
                            <m:t>⊗</m:t>
                          </m:r>
                          <m:r>
                            <m:rPr>
                              <m:nor/>
                            </m:rPr>
                            <a:rPr lang="en-US" altLang="zh-CN" sz="1800" kern="100">
                              <a:latin typeface="Cambria Math" panose="02040503050406030204" pitchFamily="18" charset="0"/>
                              <a:ea typeface="等线" panose="02010600030101010101" pitchFamily="2" charset="-122"/>
                            </a:rPr>
                            <m:t>(</m:t>
                          </m:r>
                          <m:r>
                            <m:rPr>
                              <m:nor/>
                            </m:rPr>
                            <a:rPr lang="en-US" altLang="zh-CN" sz="1800" kern="100">
                              <a:latin typeface="Cambria Math" panose="02040503050406030204" pitchFamily="18" charset="0"/>
                              <a:ea typeface="宋体" panose="02010600030101010101" pitchFamily="2" charset="-122"/>
                            </a:rPr>
                            <m:t>n</m:t>
                          </m:r>
                          <m:r>
                            <m:rPr>
                              <m:nor/>
                            </m:rPr>
                            <a:rPr lang="en-US" altLang="zh-CN" sz="1800" i="1" kern="100">
                              <a:latin typeface="Cambria Math" panose="02040503050406030204" pitchFamily="18" charset="0"/>
                              <a:ea typeface="宋体" panose="02010600030101010101" pitchFamily="2" charset="-122"/>
                            </a:rPr>
                            <m:t>−</m:t>
                          </m:r>
                          <m:r>
                            <m:rPr>
                              <m:nor/>
                            </m:rPr>
                            <a:rPr lang="en-US" altLang="zh-CN" sz="1800" kern="100">
                              <a:latin typeface="Cambria Math" panose="02040503050406030204" pitchFamily="18" charset="0"/>
                              <a:ea typeface="宋体" panose="02010600030101010101" pitchFamily="2" charset="-122"/>
                            </a:rPr>
                            <m:t>1)</m:t>
                          </m:r>
                        </m:sup>
                      </m:sSup>
                    </m:oMath>
                  </m:oMathPara>
                </a14:m>
                <a:endParaRPr lang="zh-CN" altLang="zh-CN" sz="1800" kern="100" dirty="0">
                  <a:ea typeface="宋体" panose="02010600030101010101" pitchFamily="2" charset="-122"/>
                </a:endParaRPr>
              </a:p>
              <a:p>
                <a:pPr marL="0" indent="0" algn="just">
                  <a:lnSpc>
                    <a:spcPts val="4500"/>
                  </a:lnSpc>
                  <a:buNone/>
                </a:pPr>
                <a14:m>
                  <m:oMathPara xmlns:m="http://schemas.openxmlformats.org/officeDocument/2006/math">
                    <m:oMathParaPr>
                      <m:jc m:val="centerGroup"/>
                    </m:oMathParaPr>
                    <m:oMath xmlns:m="http://schemas.openxmlformats.org/officeDocument/2006/math">
                      <m:r>
                        <m:rPr>
                          <m:nor/>
                        </m:rPr>
                        <a:rPr lang="en-US" altLang="zh-CN" sz="1800" kern="100">
                          <a:latin typeface="Cambria Math" panose="02040503050406030204" pitchFamily="18" charset="0"/>
                          <a:ea typeface="宋体" panose="02010600030101010101" pitchFamily="2" charset="-122"/>
                        </a:rPr>
                        <m:t>F</m:t>
                      </m:r>
                      <m:r>
                        <m:rPr>
                          <m:nor/>
                        </m:rPr>
                        <a:rPr lang="en-US" altLang="zh-CN" sz="1800" kern="100">
                          <a:latin typeface="Cambria Math" panose="02040503050406030204" pitchFamily="18" charset="0"/>
                          <a:ea typeface="宋体" panose="02010600030101010101" pitchFamily="2" charset="-122"/>
                        </a:rPr>
                        <m:t>=</m:t>
                      </m:r>
                      <m:d>
                        <m:dPr>
                          <m:begChr m:val="["/>
                          <m:endChr m:val="]"/>
                          <m:ctrlPr>
                            <a:rPr lang="zh-CN" altLang="zh-CN" sz="1800" i="1" kern="100">
                              <a:latin typeface="Cambria Math" panose="02040503050406030204" pitchFamily="18" charset="0"/>
                              <a:ea typeface="Cambria Math" panose="02040503050406030204" pitchFamily="18" charset="0"/>
                            </a:rPr>
                          </m:ctrlPr>
                        </m:dPr>
                        <m:e>
                          <m:m>
                            <m:mPr>
                              <m:plcHide m:val="on"/>
                              <m:mcs>
                                <m:mc>
                                  <m:mcPr>
                                    <m:count m:val="2"/>
                                    <m:mcJc m:val="center"/>
                                  </m:mcPr>
                                </m:mc>
                              </m:mcs>
                              <m:ctrlPr>
                                <a:rPr lang="zh-CN" altLang="zh-CN" sz="1800" i="1" kern="100">
                                  <a:latin typeface="Cambria Math" panose="02040503050406030204" pitchFamily="18" charset="0"/>
                                  <a:ea typeface="Cambria Math" panose="02040503050406030204" pitchFamily="18" charset="0"/>
                                </a:rPr>
                              </m:ctrlPr>
                            </m:mPr>
                            <m:mr>
                              <m:e>
                                <m:r>
                                  <m:rPr>
                                    <m:nor/>
                                  </m:rPr>
                                  <a:rPr lang="en-US" altLang="zh-CN" sz="1800" kern="100">
                                    <a:latin typeface="Cambria Math" panose="02040503050406030204" pitchFamily="18" charset="0"/>
                                    <a:ea typeface="宋体" panose="02010600030101010101" pitchFamily="2" charset="-122"/>
                                  </a:rPr>
                                  <m:t>1</m:t>
                                </m:r>
                              </m:e>
                              <m:e>
                                <m:r>
                                  <m:rPr>
                                    <m:nor/>
                                  </m:rPr>
                                  <a:rPr lang="en-US" altLang="zh-CN" sz="1800" kern="100">
                                    <a:latin typeface="Cambria Math" panose="02040503050406030204" pitchFamily="18" charset="0"/>
                                    <a:ea typeface="宋体" panose="02010600030101010101" pitchFamily="2" charset="-122"/>
                                  </a:rPr>
                                  <m:t>0</m:t>
                                </m:r>
                              </m:e>
                            </m:mr>
                            <m:mr>
                              <m:e>
                                <m:r>
                                  <m:rPr>
                                    <m:nor/>
                                  </m:rPr>
                                  <a:rPr lang="en-US" altLang="zh-CN" sz="1800" kern="100">
                                    <a:latin typeface="Cambria Math" panose="02040503050406030204" pitchFamily="18" charset="0"/>
                                    <a:ea typeface="宋体" panose="02010600030101010101" pitchFamily="2" charset="-122"/>
                                  </a:rPr>
                                  <m:t>1</m:t>
                                </m:r>
                              </m:e>
                              <m:e>
                                <m:r>
                                  <m:rPr>
                                    <m:nor/>
                                  </m:rPr>
                                  <a:rPr lang="en-US" altLang="zh-CN" sz="1800" kern="100">
                                    <a:latin typeface="Cambria Math" panose="02040503050406030204" pitchFamily="18" charset="0"/>
                                    <a:ea typeface="宋体" panose="02010600030101010101" pitchFamily="2" charset="-122"/>
                                  </a:rPr>
                                  <m:t>1</m:t>
                                </m:r>
                              </m:e>
                            </m:mr>
                          </m:m>
                        </m:e>
                      </m:d>
                    </m:oMath>
                  </m:oMathPara>
                </a14:m>
                <a:endParaRPr lang="zh-CN" altLang="zh-CN" sz="1800" kern="100" dirty="0">
                  <a:ea typeface="宋体" panose="02010600030101010101" pitchFamily="2" charset="-122"/>
                </a:endParaRPr>
              </a:p>
              <a:p>
                <a:pPr marL="0" indent="0" algn="just">
                  <a:lnSpc>
                    <a:spcPts val="4500"/>
                  </a:lnSpc>
                  <a:buNone/>
                </a:pPr>
                <a14:m>
                  <m:oMathPara xmlns:m="http://schemas.openxmlformats.org/officeDocument/2006/math">
                    <m:oMathParaPr>
                      <m:jc m:val="centerGroup"/>
                    </m:oMathParaPr>
                    <m:oMath xmlns:m="http://schemas.openxmlformats.org/officeDocument/2006/math">
                      <m:sSub>
                        <m:sSubPr>
                          <m:ctrlPr>
                            <a:rPr lang="zh-CN" altLang="zh-CN" sz="1800" i="1" kern="100">
                              <a:latin typeface="Cambria Math" panose="02040503050406030204" pitchFamily="18" charset="0"/>
                              <a:ea typeface="Cambria Math" panose="02040503050406030204" pitchFamily="18" charset="0"/>
                            </a:rPr>
                          </m:ctrlPr>
                        </m:sSubPr>
                        <m:e>
                          <m:r>
                            <m:rPr>
                              <m:nor/>
                            </m:rPr>
                            <a:rPr lang="en-US" altLang="zh-CN" sz="1800" kern="100">
                              <a:latin typeface="Cambria Math" panose="02040503050406030204" pitchFamily="18" charset="0"/>
                              <a:ea typeface="宋体" panose="02010600030101010101" pitchFamily="2" charset="-122"/>
                            </a:rPr>
                            <m:t>B</m:t>
                          </m:r>
                        </m:e>
                        <m:sub>
                          <m:r>
                            <m:rPr>
                              <m:nor/>
                            </m:rPr>
                            <a:rPr lang="en-US" altLang="zh-CN" sz="1800" kern="100">
                              <a:latin typeface="Cambria Math" panose="02040503050406030204" pitchFamily="18" charset="0"/>
                              <a:ea typeface="宋体" panose="02010600030101010101" pitchFamily="2" charset="-122"/>
                            </a:rPr>
                            <m:t>N</m:t>
                          </m:r>
                        </m:sub>
                      </m:sSub>
                      <m:r>
                        <m:rPr>
                          <m:nor/>
                        </m:rPr>
                        <a:rPr lang="en-US" altLang="zh-CN" sz="1800" kern="100">
                          <a:latin typeface="Cambria Math" panose="02040503050406030204" pitchFamily="18" charset="0"/>
                          <a:ea typeface="宋体" panose="02010600030101010101" pitchFamily="2" charset="-122"/>
                        </a:rPr>
                        <m:t>=</m:t>
                      </m:r>
                      <m:sSub>
                        <m:sSubPr>
                          <m:ctrlPr>
                            <a:rPr lang="zh-CN" altLang="zh-CN" sz="1800" i="1" kern="100">
                              <a:latin typeface="Cambria Math" panose="02040503050406030204" pitchFamily="18" charset="0"/>
                              <a:ea typeface="Cambria Math" panose="02040503050406030204" pitchFamily="18" charset="0"/>
                            </a:rPr>
                          </m:ctrlPr>
                        </m:sSubPr>
                        <m:e>
                          <m:r>
                            <m:rPr>
                              <m:nor/>
                            </m:rPr>
                            <a:rPr lang="en-US" altLang="zh-CN" sz="1800" kern="100">
                              <a:latin typeface="Cambria Math" panose="02040503050406030204" pitchFamily="18" charset="0"/>
                              <a:ea typeface="宋体" panose="02010600030101010101" pitchFamily="2" charset="-122"/>
                            </a:rPr>
                            <m:t>R</m:t>
                          </m:r>
                        </m:e>
                        <m:sub>
                          <m:r>
                            <m:rPr>
                              <m:nor/>
                            </m:rPr>
                            <a:rPr lang="en-US" altLang="zh-CN" sz="1800" kern="100">
                              <a:latin typeface="Cambria Math" panose="02040503050406030204" pitchFamily="18" charset="0"/>
                              <a:ea typeface="宋体" panose="02010600030101010101" pitchFamily="2" charset="-122"/>
                            </a:rPr>
                            <m:t>N</m:t>
                          </m:r>
                        </m:sub>
                      </m:sSub>
                      <m:d>
                        <m:dPr>
                          <m:ctrlPr>
                            <a:rPr lang="zh-CN" altLang="zh-CN" sz="1800" i="1" kern="100">
                              <a:latin typeface="Cambria Math" panose="02040503050406030204" pitchFamily="18" charset="0"/>
                              <a:ea typeface="Cambria Math" panose="02040503050406030204" pitchFamily="18" charset="0"/>
                            </a:rPr>
                          </m:ctrlPr>
                        </m:dPr>
                        <m:e>
                          <m:sSub>
                            <m:sSubPr>
                              <m:ctrlPr>
                                <a:rPr lang="zh-CN" altLang="zh-CN" sz="1800" i="1" kern="100">
                                  <a:latin typeface="Cambria Math" panose="02040503050406030204" pitchFamily="18" charset="0"/>
                                  <a:ea typeface="Cambria Math" panose="02040503050406030204" pitchFamily="18" charset="0"/>
                                </a:rPr>
                              </m:ctrlPr>
                            </m:sSubPr>
                            <m:e>
                              <m:r>
                                <m:rPr>
                                  <m:nor/>
                                </m:rPr>
                                <a:rPr lang="en-US" altLang="zh-CN" sz="1800" kern="100">
                                  <a:latin typeface="Cambria Math" panose="02040503050406030204" pitchFamily="18" charset="0"/>
                                  <a:ea typeface="宋体" panose="02010600030101010101" pitchFamily="2" charset="-122"/>
                                </a:rPr>
                                <m:t>I</m:t>
                              </m:r>
                            </m:e>
                            <m:sub>
                              <m:r>
                                <m:rPr>
                                  <m:nor/>
                                </m:rPr>
                                <a:rPr lang="en-US" altLang="zh-CN" sz="1800" kern="100">
                                  <a:latin typeface="Cambria Math" panose="02040503050406030204" pitchFamily="18" charset="0"/>
                                  <a:ea typeface="宋体" panose="02010600030101010101" pitchFamily="2" charset="-122"/>
                                </a:rPr>
                                <m:t>2</m:t>
                              </m:r>
                            </m:sub>
                          </m:sSub>
                          <m:r>
                            <m:rPr>
                              <m:nor/>
                            </m:rPr>
                            <a:rPr lang="zh-CN" altLang="zh-CN" sz="1800" kern="100">
                              <a:latin typeface="Cambria Math" panose="02040503050406030204" pitchFamily="18" charset="0"/>
                              <a:ea typeface="MS Gothic" panose="020B0609070205080204" pitchFamily="49" charset="-128"/>
                              <a:cs typeface="MS Gothic" panose="020B0609070205080204" pitchFamily="49" charset="-128"/>
                            </a:rPr>
                            <m:t>⊗</m:t>
                          </m:r>
                          <m:sSub>
                            <m:sSubPr>
                              <m:ctrlPr>
                                <a:rPr lang="zh-CN" altLang="zh-CN" sz="1800" i="1" kern="100">
                                  <a:latin typeface="Cambria Math" panose="02040503050406030204" pitchFamily="18" charset="0"/>
                                  <a:ea typeface="Cambria Math" panose="02040503050406030204" pitchFamily="18" charset="0"/>
                                </a:rPr>
                              </m:ctrlPr>
                            </m:sSubPr>
                            <m:e>
                              <m:r>
                                <m:rPr>
                                  <m:nor/>
                                </m:rPr>
                                <a:rPr lang="en-US" altLang="zh-CN" sz="1800" kern="100">
                                  <a:latin typeface="Cambria Math" panose="02040503050406030204" pitchFamily="18" charset="0"/>
                                  <a:ea typeface="宋体" panose="02010600030101010101" pitchFamily="2" charset="-122"/>
                                </a:rPr>
                                <m:t>B</m:t>
                              </m:r>
                            </m:e>
                            <m:sub>
                              <m:r>
                                <m:rPr>
                                  <m:nor/>
                                </m:rPr>
                                <a:rPr lang="en-US" altLang="zh-CN" sz="1800" kern="100">
                                  <a:latin typeface="Cambria Math" panose="02040503050406030204" pitchFamily="18" charset="0"/>
                                  <a:ea typeface="宋体" panose="02010600030101010101" pitchFamily="2" charset="-122"/>
                                </a:rPr>
                                <m:t>N</m:t>
                              </m:r>
                              <m:r>
                                <m:rPr>
                                  <m:nor/>
                                </m:rPr>
                                <a:rPr lang="en-US" altLang="zh-CN" sz="1800" kern="100">
                                  <a:latin typeface="Cambria Math" panose="02040503050406030204" pitchFamily="18" charset="0"/>
                                  <a:ea typeface="宋体" panose="02010600030101010101" pitchFamily="2" charset="-122"/>
                                </a:rPr>
                                <m:t>∕2</m:t>
                              </m:r>
                            </m:sub>
                          </m:sSub>
                        </m:e>
                      </m:d>
                    </m:oMath>
                  </m:oMathPara>
                </a14:m>
                <a:endParaRPr lang="zh-CN" altLang="zh-CN" sz="1800" kern="100" dirty="0">
                  <a:ea typeface="宋体" panose="02010600030101010101" pitchFamily="2" charset="-122"/>
                </a:endParaRPr>
              </a:p>
              <a:p>
                <a:pPr marL="0" indent="0" algn="just">
                  <a:lnSpc>
                    <a:spcPts val="4500"/>
                  </a:lnSpc>
                  <a:buNone/>
                </a:pPr>
                <a14:m>
                  <m:oMathPara xmlns:m="http://schemas.openxmlformats.org/officeDocument/2006/math">
                    <m:oMathParaPr>
                      <m:jc m:val="centerGroup"/>
                    </m:oMathParaPr>
                    <m:oMath xmlns:m="http://schemas.openxmlformats.org/officeDocument/2006/math">
                      <m:sSub>
                        <m:sSubPr>
                          <m:ctrlPr>
                            <a:rPr lang="zh-CN" altLang="zh-CN" sz="1800" i="1" kern="100">
                              <a:latin typeface="Cambria Math" panose="02040503050406030204" pitchFamily="18" charset="0"/>
                              <a:ea typeface="Cambria Math" panose="02040503050406030204" pitchFamily="18" charset="0"/>
                            </a:rPr>
                          </m:ctrlPr>
                        </m:sSubPr>
                        <m:e>
                          <m:r>
                            <m:rPr>
                              <m:nor/>
                            </m:rPr>
                            <a:rPr lang="en-US" altLang="zh-CN" sz="1800" kern="100">
                              <a:latin typeface="Cambria Math" panose="02040503050406030204" pitchFamily="18" charset="0"/>
                              <a:ea typeface="宋体" panose="02010600030101010101" pitchFamily="2" charset="-122"/>
                            </a:rPr>
                            <m:t>B</m:t>
                          </m:r>
                        </m:e>
                        <m:sub>
                          <m:r>
                            <m:rPr>
                              <m:nor/>
                            </m:rPr>
                            <a:rPr lang="en-US" altLang="zh-CN" sz="1800" kern="100">
                              <a:latin typeface="Cambria Math" panose="02040503050406030204" pitchFamily="18" charset="0"/>
                              <a:ea typeface="宋体" panose="02010600030101010101" pitchFamily="2" charset="-122"/>
                            </a:rPr>
                            <m:t>2</m:t>
                          </m:r>
                        </m:sub>
                      </m:sSub>
                      <m:r>
                        <m:rPr>
                          <m:nor/>
                        </m:rPr>
                        <a:rPr lang="en-US" altLang="zh-CN" sz="1800" kern="100">
                          <a:latin typeface="Cambria Math" panose="02040503050406030204" pitchFamily="18" charset="0"/>
                          <a:ea typeface="宋体" panose="02010600030101010101" pitchFamily="2" charset="-122"/>
                        </a:rPr>
                        <m:t>=</m:t>
                      </m:r>
                      <m:sSub>
                        <m:sSubPr>
                          <m:ctrlPr>
                            <a:rPr lang="zh-CN" altLang="zh-CN" sz="1800" i="1" kern="100">
                              <a:latin typeface="Cambria Math" panose="02040503050406030204" pitchFamily="18" charset="0"/>
                              <a:ea typeface="Cambria Math" panose="02040503050406030204" pitchFamily="18" charset="0"/>
                            </a:rPr>
                          </m:ctrlPr>
                        </m:sSubPr>
                        <m:e>
                          <m:r>
                            <m:rPr>
                              <m:nor/>
                            </m:rPr>
                            <a:rPr lang="en-US" altLang="zh-CN" sz="1800" kern="100">
                              <a:latin typeface="Cambria Math" panose="02040503050406030204" pitchFamily="18" charset="0"/>
                              <a:ea typeface="宋体" panose="02010600030101010101" pitchFamily="2" charset="-122"/>
                            </a:rPr>
                            <m:t>I</m:t>
                          </m:r>
                        </m:e>
                        <m:sub>
                          <m:r>
                            <m:rPr>
                              <m:nor/>
                            </m:rPr>
                            <a:rPr lang="en-US" altLang="zh-CN" sz="1800" kern="100">
                              <a:latin typeface="Cambria Math" panose="02040503050406030204" pitchFamily="18" charset="0"/>
                              <a:ea typeface="宋体" panose="02010600030101010101" pitchFamily="2" charset="-122"/>
                            </a:rPr>
                            <m:t>2</m:t>
                          </m:r>
                        </m:sub>
                      </m:sSub>
                    </m:oMath>
                  </m:oMathPara>
                </a14:m>
                <a:endParaRPr lang="zh-CN" altLang="zh-CN" sz="1800" kern="100" dirty="0">
                  <a:ea typeface="宋体" panose="02010600030101010101" pitchFamily="2" charset="-122"/>
                </a:endParaRPr>
              </a:p>
              <a:p>
                <a:pPr marL="0" indent="0">
                  <a:lnSpc>
                    <a:spcPct val="150000"/>
                  </a:lnSpc>
                  <a:spcBef>
                    <a:spcPts val="0"/>
                  </a:spcBef>
                  <a:spcAft>
                    <a:spcPts val="0"/>
                  </a:spcAft>
                  <a:buNone/>
                </a:pPr>
                <a:endParaRPr lang="zh-CN" altLang="en-US"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139343" y="1066862"/>
                <a:ext cx="7785783" cy="5333860"/>
              </a:xfrm>
              <a:blipFill>
                <a:blip r:embed="rId2"/>
                <a:stretch>
                  <a:fillRect l="-861" r="-783"/>
                </a:stretch>
              </a:blipFill>
              <a:ln>
                <a:noFill/>
              </a:ln>
            </p:spPr>
            <p:txBody>
              <a:bodyPr/>
              <a:lstStyle/>
              <a:p>
                <a:r>
                  <a:rPr lang="zh-CN" altLang="en-US">
                    <a:noFill/>
                  </a:rPr>
                  <a:t> </a:t>
                </a:r>
              </a:p>
            </p:txBody>
          </p:sp>
        </mc:Fallback>
      </mc:AlternateContent>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991525" y="152486"/>
            <a:ext cx="1562173"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xmlns:a14="http://schemas.microsoft.com/office/drawing/2010/main">
        <mc:Choice Requires="a14">
          <p:sp>
            <p:nvSpPr>
              <p:cNvPr id="7" name="文本框 6"/>
              <p:cNvSpPr txBox="1"/>
              <p:nvPr/>
            </p:nvSpPr>
            <p:spPr>
              <a:xfrm>
                <a:off x="2213131" y="685872"/>
                <a:ext cx="8317674" cy="3580788"/>
              </a:xfrm>
              <a:prstGeom prst="rect">
                <a:avLst/>
              </a:prstGeom>
              <a:noFill/>
            </p:spPr>
            <p:txBody>
              <a:bodyPr wrap="square" rtlCol="0" anchor="t">
                <a:spAutoFit/>
              </a:bodyPr>
              <a:lstStyle/>
              <a:p>
                <a:pPr eaLnBrk="0" fontAlgn="base" hangingPunct="0">
                  <a:lnSpc>
                    <a:spcPct val="150000"/>
                  </a:lnSpc>
                  <a:spcBef>
                    <a:spcPct val="0"/>
                  </a:spcBef>
                  <a:spcAft>
                    <a:spcPct val="0"/>
                  </a:spcAft>
                </a:pPr>
                <a:r>
                  <a:rPr kumimoji="1" lang="en-US" altLang="zh-CN" sz="2000" dirty="0">
                    <a:solidFill>
                      <a:srgbClr val="000000"/>
                    </a:solidFill>
                    <a:latin typeface="Times New Roman"/>
                    <a:ea typeface="黑体"/>
                    <a:sym typeface="+mn-ea"/>
                  </a:rPr>
                  <a:t>1</a:t>
                </a:r>
                <a:r>
                  <a:rPr kumimoji="1" lang="zh-CN" altLang="en-US" sz="2000" dirty="0">
                    <a:solidFill>
                      <a:srgbClr val="000000"/>
                    </a:solidFill>
                    <a:latin typeface="Times New Roman"/>
                    <a:ea typeface="黑体"/>
                    <a:sym typeface="+mn-ea"/>
                  </a:rPr>
                  <a:t>、假设得到的码序列选择出的四个子信道序号为“</a:t>
                </a:r>
                <a:r>
                  <a:rPr kumimoji="1" lang="en-US" altLang="zh-CN" sz="2000" dirty="0">
                    <a:solidFill>
                      <a:srgbClr val="000000"/>
                    </a:solidFill>
                    <a:latin typeface="Times New Roman"/>
                    <a:ea typeface="黑体"/>
                    <a:sym typeface="+mn-ea"/>
                  </a:rPr>
                  <a:t>4,6,7,8</a:t>
                </a:r>
                <a:r>
                  <a:rPr kumimoji="1" lang="zh-CN" altLang="en-US" sz="2000" dirty="0">
                    <a:solidFill>
                      <a:srgbClr val="000000"/>
                    </a:solidFill>
                    <a:latin typeface="Times New Roman"/>
                    <a:ea typeface="黑体"/>
                    <a:sym typeface="+mn-ea"/>
                  </a:rPr>
                  <a:t>”记作</a:t>
                </a:r>
                <a:endParaRPr kumimoji="1" lang="en-US" altLang="zh-CN" sz="2000" dirty="0">
                  <a:solidFill>
                    <a:srgbClr val="000000"/>
                  </a:solidFill>
                  <a:latin typeface="Times New Roman"/>
                  <a:ea typeface="黑体"/>
                  <a:sym typeface="+mn-ea"/>
                </a:endParaRPr>
              </a:p>
              <a:p>
                <a:pPr algn="ctr" eaLnBrk="0" fontAlgn="base" hangingPunct="0">
                  <a:lnSpc>
                    <a:spcPct val="150000"/>
                  </a:lnSpc>
                  <a:spcBef>
                    <a:spcPct val="0"/>
                  </a:spcBef>
                  <a:spcAft>
                    <a:spcPct val="0"/>
                  </a:spcAft>
                </a:pPr>
                <a:r>
                  <a:rPr kumimoji="1" lang="en-US" altLang="zh-CN" sz="2000" dirty="0">
                    <a:solidFill>
                      <a:srgbClr val="000000"/>
                    </a:solidFill>
                    <a:latin typeface="Times New Roman"/>
                    <a:ea typeface="黑体"/>
                    <a:sym typeface="+mn-ea"/>
                  </a:rPr>
                  <a:t>A={4,6,7,8}</a:t>
                </a:r>
              </a:p>
              <a:p>
                <a:pPr eaLnBrk="0" fontAlgn="base" hangingPunct="0">
                  <a:lnSpc>
                    <a:spcPct val="150000"/>
                  </a:lnSpc>
                  <a:spcBef>
                    <a:spcPct val="0"/>
                  </a:spcBef>
                  <a:spcAft>
                    <a:spcPct val="0"/>
                  </a:spcAft>
                </a:pPr>
                <a:r>
                  <a:rPr kumimoji="1" lang="zh-CN" altLang="en-US" sz="2000" dirty="0">
                    <a:solidFill>
                      <a:srgbClr val="000000"/>
                    </a:solidFill>
                    <a:latin typeface="Times New Roman"/>
                    <a:ea typeface="黑体"/>
                    <a:sym typeface="+mn-ea"/>
                  </a:rPr>
                  <a:t>固定比特序号集合为</a:t>
                </a:r>
                <a:endParaRPr kumimoji="1" lang="en-US" altLang="zh-CN" sz="2000" dirty="0">
                  <a:solidFill>
                    <a:srgbClr val="000000"/>
                  </a:solidFill>
                  <a:latin typeface="Times New Roman"/>
                  <a:ea typeface="黑体"/>
                  <a:sym typeface="+mn-ea"/>
                </a:endParaRPr>
              </a:p>
              <a:p>
                <a:pPr algn="ctr" eaLnBrk="0" fontAlgn="base" hangingPunct="0">
                  <a:lnSpc>
                    <a:spcPct val="150000"/>
                  </a:lnSpc>
                  <a:spcBef>
                    <a:spcPct val="0"/>
                  </a:spcBef>
                  <a:spcAft>
                    <a:spcPct val="0"/>
                  </a:spcAft>
                </a:pPr>
                <a14:m>
                  <m:oMath xmlns:m="http://schemas.openxmlformats.org/officeDocument/2006/math">
                    <m:sSup>
                      <m:sSupPr>
                        <m:ctrlPr>
                          <a:rPr kumimoji="1" lang="zh-CN" altLang="en-US" sz="2000" i="1" dirty="0">
                            <a:solidFill>
                              <a:srgbClr val="000000"/>
                            </a:solidFill>
                            <a:latin typeface="Cambria Math" panose="02040503050406030204" pitchFamily="18" charset="0"/>
                          </a:rPr>
                        </m:ctrlPr>
                      </m:sSupPr>
                      <m:e>
                        <m:r>
                          <a:rPr kumimoji="1" lang="en-US" altLang="zh-CN" sz="2000" i="1" dirty="0">
                            <a:solidFill>
                              <a:srgbClr val="000000"/>
                            </a:solidFill>
                            <a:latin typeface="Cambria Math" panose="02040503050406030204" pitchFamily="18" charset="0"/>
                          </a:rPr>
                          <m:t>𝐴</m:t>
                        </m:r>
                      </m:e>
                      <m:sup>
                        <m:r>
                          <m:rPr>
                            <m:sty m:val="p"/>
                          </m:rPr>
                          <a:rPr kumimoji="1" lang="en-US" altLang="zh-CN" sz="2000" i="1" dirty="0">
                            <a:solidFill>
                              <a:srgbClr val="000000"/>
                            </a:solidFill>
                            <a:latin typeface="Cambria Math" panose="02040503050406030204" pitchFamily="18" charset="0"/>
                          </a:rPr>
                          <m:t>c</m:t>
                        </m:r>
                      </m:sup>
                    </m:sSup>
                  </m:oMath>
                </a14:m>
                <a:r>
                  <a:rPr kumimoji="1" lang="en-US" altLang="zh-CN" sz="2000" dirty="0">
                    <a:solidFill>
                      <a:srgbClr val="000000"/>
                    </a:solidFill>
                    <a:latin typeface="Times New Roman"/>
                    <a:ea typeface="黑体"/>
                    <a:sym typeface="+mn-ea"/>
                  </a:rPr>
                  <a:t>={1,2,3,5}</a:t>
                </a:r>
              </a:p>
              <a:p>
                <a:pPr algn="ctr" eaLnBrk="0" fontAlgn="base" hangingPunct="0">
                  <a:lnSpc>
                    <a:spcPct val="150000"/>
                  </a:lnSpc>
                  <a:spcBef>
                    <a:spcPct val="0"/>
                  </a:spcBef>
                  <a:spcAft>
                    <a:spcPct val="0"/>
                  </a:spcAft>
                </a:pPr>
                <a:r>
                  <a:rPr kumimoji="1" lang="zh-CN" altLang="en-US" sz="2000" dirty="0">
                    <a:solidFill>
                      <a:srgbClr val="000000"/>
                    </a:solidFill>
                    <a:latin typeface="Times New Roman"/>
                    <a:ea typeface="黑体"/>
                    <a:sym typeface="+mn-ea"/>
                  </a:rPr>
                  <a:t>得到</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rPr>
                        </m:ctrlPr>
                      </m:sSubSupPr>
                      <m:e>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1</m:t>
                        </m:r>
                      </m:sub>
                      <m:sup>
                        <m:r>
                          <a:rPr lang="en-US" altLang="zh-CN" sz="2000" i="1">
                            <a:solidFill>
                              <a:srgbClr val="000000"/>
                            </a:solidFill>
                            <a:latin typeface="Cambria Math" panose="02040503050406030204" pitchFamily="18" charset="0"/>
                            <a:ea typeface="黑体" panose="02010609060101010101" pitchFamily="49" charset="-122"/>
                          </a:rPr>
                          <m:t>8</m:t>
                        </m:r>
                      </m:sup>
                    </m:sSubSup>
                  </m:oMath>
                </a14:m>
                <a:r>
                  <a:rPr kumimoji="1" lang="en-US" altLang="zh-CN" sz="2000" dirty="0">
                    <a:solidFill>
                      <a:srgbClr val="000000"/>
                    </a:solidFill>
                    <a:latin typeface="Times New Roman"/>
                    <a:ea typeface="黑体"/>
                    <a:sym typeface="+mn-ea"/>
                  </a:rPr>
                  <a:t>=[0,0,0,1,0,1,1,1]</a:t>
                </a:r>
              </a:p>
              <a:p>
                <a:pPr eaLnBrk="0" fontAlgn="base" hangingPunct="0">
                  <a:lnSpc>
                    <a:spcPct val="200000"/>
                  </a:lnSpc>
                  <a:spcBef>
                    <a:spcPct val="0"/>
                  </a:spcBef>
                  <a:spcAft>
                    <a:spcPct val="0"/>
                  </a:spcAft>
                </a:pPr>
                <a:r>
                  <a:rPr kumimoji="1" lang="en-US" altLang="zh-CN" sz="2000" dirty="0">
                    <a:solidFill>
                      <a:srgbClr val="000000"/>
                    </a:solidFill>
                    <a:latin typeface="Times New Roman"/>
                    <a:ea typeface="黑体"/>
                    <a:sym typeface="+mn-ea"/>
                  </a:rPr>
                  <a:t>2</a:t>
                </a:r>
                <a:r>
                  <a:rPr kumimoji="1" lang="zh-CN" altLang="en-US" sz="2000" dirty="0">
                    <a:solidFill>
                      <a:srgbClr val="000000"/>
                    </a:solidFill>
                    <a:latin typeface="Times New Roman"/>
                    <a:ea typeface="黑体"/>
                    <a:sym typeface="+mn-ea"/>
                  </a:rPr>
                  <a:t>、构造矩阵，根据公式 </a:t>
                </a:r>
                <a14:m>
                  <m:oMath xmlns:m="http://schemas.openxmlformats.org/officeDocument/2006/math">
                    <m:sSub>
                      <m:sSubPr>
                        <m:ctrlPr>
                          <a:rPr kumimoji="1" lang="zh-CN" altLang="zh-CN" i="1" kern="100">
                            <a:solidFill>
                              <a:srgbClr val="000000"/>
                            </a:solidFill>
                            <a:latin typeface="Cambria Math" panose="02040503050406030204" pitchFamily="18" charset="0"/>
                            <a:ea typeface="Cambria Math" panose="02040503050406030204" pitchFamily="18" charset="0"/>
                          </a:rPr>
                        </m:ctrlPr>
                      </m:sSubPr>
                      <m:e>
                        <m:r>
                          <m:rPr>
                            <m:nor/>
                          </m:rPr>
                          <a:rPr kumimoji="1" lang="en-US" altLang="zh-CN" kern="100">
                            <a:solidFill>
                              <a:srgbClr val="000000"/>
                            </a:solidFill>
                            <a:latin typeface="Times New Roman" panose="02020603050405020304"/>
                            <a:ea typeface="宋体" panose="02010600030101010101" pitchFamily="2" charset="-122"/>
                          </a:rPr>
                          <m:t>B</m:t>
                        </m:r>
                      </m:e>
                      <m:sub>
                        <m:r>
                          <m:rPr>
                            <m:nor/>
                          </m:rPr>
                          <a:rPr kumimoji="1" lang="en-US" altLang="zh-CN" kern="100">
                            <a:solidFill>
                              <a:srgbClr val="000000"/>
                            </a:solidFill>
                            <a:latin typeface="Times New Roman" panose="02020603050405020304"/>
                            <a:ea typeface="宋体" panose="02010600030101010101" pitchFamily="2" charset="-122"/>
                          </a:rPr>
                          <m:t>N</m:t>
                        </m:r>
                      </m:sub>
                    </m:sSub>
                    <m:r>
                      <m:rPr>
                        <m:nor/>
                      </m:rPr>
                      <a:rPr kumimoji="1" lang="en-US" altLang="zh-CN" kern="100">
                        <a:solidFill>
                          <a:srgbClr val="000000"/>
                        </a:solidFill>
                        <a:latin typeface="Times New Roman" panose="02020603050405020304"/>
                        <a:ea typeface="宋体" panose="02010600030101010101" pitchFamily="2" charset="-122"/>
                      </a:rPr>
                      <m:t>=</m:t>
                    </m:r>
                    <m:sSub>
                      <m:sSubPr>
                        <m:ctrlPr>
                          <a:rPr kumimoji="1" lang="zh-CN" altLang="zh-CN" i="1" kern="100">
                            <a:solidFill>
                              <a:srgbClr val="000000"/>
                            </a:solidFill>
                            <a:latin typeface="Cambria Math" panose="02040503050406030204" pitchFamily="18" charset="0"/>
                            <a:ea typeface="Cambria Math" panose="02040503050406030204" pitchFamily="18" charset="0"/>
                          </a:rPr>
                        </m:ctrlPr>
                      </m:sSubPr>
                      <m:e>
                        <m:r>
                          <m:rPr>
                            <m:nor/>
                          </m:rPr>
                          <a:rPr kumimoji="1" lang="en-US" altLang="zh-CN" kern="100">
                            <a:solidFill>
                              <a:srgbClr val="000000"/>
                            </a:solidFill>
                            <a:latin typeface="Times New Roman" panose="02020603050405020304"/>
                            <a:ea typeface="宋体" panose="02010600030101010101" pitchFamily="2" charset="-122"/>
                          </a:rPr>
                          <m:t>R</m:t>
                        </m:r>
                      </m:e>
                      <m:sub>
                        <m:r>
                          <m:rPr>
                            <m:nor/>
                          </m:rPr>
                          <a:rPr kumimoji="1" lang="en-US" altLang="zh-CN" kern="100">
                            <a:solidFill>
                              <a:srgbClr val="000000"/>
                            </a:solidFill>
                            <a:latin typeface="Times New Roman" panose="02020603050405020304"/>
                            <a:ea typeface="宋体" panose="02010600030101010101" pitchFamily="2" charset="-122"/>
                          </a:rPr>
                          <m:t>N</m:t>
                        </m:r>
                      </m:sub>
                    </m:sSub>
                    <m:d>
                      <m:dPr>
                        <m:ctrlPr>
                          <a:rPr kumimoji="1" lang="zh-CN" altLang="zh-CN" i="1" kern="100">
                            <a:solidFill>
                              <a:srgbClr val="000000"/>
                            </a:solidFill>
                            <a:latin typeface="Cambria Math" panose="02040503050406030204" pitchFamily="18" charset="0"/>
                            <a:ea typeface="Cambria Math" panose="02040503050406030204" pitchFamily="18" charset="0"/>
                          </a:rPr>
                        </m:ctrlPr>
                      </m:dPr>
                      <m:e>
                        <m:sSub>
                          <m:sSubPr>
                            <m:ctrlPr>
                              <a:rPr kumimoji="1" lang="zh-CN" altLang="zh-CN" i="1" kern="100">
                                <a:solidFill>
                                  <a:srgbClr val="000000"/>
                                </a:solidFill>
                                <a:latin typeface="Cambria Math" panose="02040503050406030204" pitchFamily="18" charset="0"/>
                                <a:ea typeface="Cambria Math" panose="02040503050406030204" pitchFamily="18" charset="0"/>
                              </a:rPr>
                            </m:ctrlPr>
                          </m:sSubPr>
                          <m:e>
                            <m:r>
                              <m:rPr>
                                <m:nor/>
                              </m:rPr>
                              <a:rPr kumimoji="1" lang="en-US" altLang="zh-CN" kern="100">
                                <a:solidFill>
                                  <a:srgbClr val="000000"/>
                                </a:solidFill>
                                <a:latin typeface="Times New Roman" panose="02020603050405020304"/>
                                <a:ea typeface="宋体" panose="02010600030101010101" pitchFamily="2" charset="-122"/>
                              </a:rPr>
                              <m:t>I</m:t>
                            </m:r>
                          </m:e>
                          <m:sub>
                            <m:r>
                              <m:rPr>
                                <m:nor/>
                              </m:rPr>
                              <a:rPr kumimoji="1" lang="en-US" altLang="zh-CN" kern="100">
                                <a:solidFill>
                                  <a:srgbClr val="000000"/>
                                </a:solidFill>
                                <a:latin typeface="Times New Roman" panose="02020603050405020304"/>
                                <a:ea typeface="宋体" panose="02010600030101010101" pitchFamily="2" charset="-122"/>
                              </a:rPr>
                              <m:t>2</m:t>
                            </m:r>
                          </m:sub>
                        </m:sSub>
                        <m:r>
                          <m:rPr>
                            <m:nor/>
                          </m:rPr>
                          <a:rPr kumimoji="1" lang="zh-CN" altLang="zh-CN" kern="100">
                            <a:solidFill>
                              <a:srgbClr val="000000"/>
                            </a:solidFill>
                            <a:latin typeface="Times New Roman" panose="02020603050405020304"/>
                            <a:ea typeface="MS Gothic" panose="020B0609070205080204" pitchFamily="49" charset="-128"/>
                            <a:cs typeface="MS Gothic" panose="020B0609070205080204" pitchFamily="49" charset="-128"/>
                          </a:rPr>
                          <m:t>⊗</m:t>
                        </m:r>
                        <m:sSub>
                          <m:sSubPr>
                            <m:ctrlPr>
                              <a:rPr kumimoji="1" lang="zh-CN" altLang="zh-CN" i="1" kern="100">
                                <a:solidFill>
                                  <a:srgbClr val="000000"/>
                                </a:solidFill>
                                <a:latin typeface="Cambria Math" panose="02040503050406030204" pitchFamily="18" charset="0"/>
                                <a:ea typeface="Cambria Math" panose="02040503050406030204" pitchFamily="18" charset="0"/>
                              </a:rPr>
                            </m:ctrlPr>
                          </m:sSubPr>
                          <m:e>
                            <m:r>
                              <m:rPr>
                                <m:nor/>
                              </m:rPr>
                              <a:rPr kumimoji="1" lang="en-US" altLang="zh-CN" kern="100">
                                <a:solidFill>
                                  <a:srgbClr val="000000"/>
                                </a:solidFill>
                                <a:latin typeface="Times New Roman" panose="02020603050405020304"/>
                                <a:ea typeface="宋体" panose="02010600030101010101" pitchFamily="2" charset="-122"/>
                              </a:rPr>
                              <m:t>B</m:t>
                            </m:r>
                          </m:e>
                          <m:sub>
                            <m:r>
                              <m:rPr>
                                <m:nor/>
                              </m:rPr>
                              <a:rPr kumimoji="1" lang="en-US" altLang="zh-CN" kern="100">
                                <a:solidFill>
                                  <a:srgbClr val="000000"/>
                                </a:solidFill>
                                <a:latin typeface="Times New Roman" panose="02020603050405020304"/>
                                <a:ea typeface="宋体" panose="02010600030101010101" pitchFamily="2" charset="-122"/>
                              </a:rPr>
                              <m:t>N</m:t>
                            </m:r>
                            <m:r>
                              <m:rPr>
                                <m:nor/>
                              </m:rPr>
                              <a:rPr kumimoji="1" lang="en-US" altLang="zh-CN" kern="100">
                                <a:solidFill>
                                  <a:srgbClr val="000000"/>
                                </a:solidFill>
                                <a:latin typeface="Times New Roman" panose="02020603050405020304"/>
                                <a:ea typeface="宋体" panose="02010600030101010101" pitchFamily="2" charset="-122"/>
                              </a:rPr>
                              <m:t>∕2</m:t>
                            </m:r>
                          </m:sub>
                        </m:sSub>
                      </m:e>
                    </m:d>
                  </m:oMath>
                </a14:m>
                <a:r>
                  <a:rPr kumimoji="1" lang="zh-CN" altLang="en-US" sz="2000" dirty="0">
                    <a:solidFill>
                      <a:srgbClr val="000000"/>
                    </a:solidFill>
                    <a:latin typeface="Times New Roman"/>
                    <a:ea typeface="黑体"/>
                    <a:sym typeface="+mn-ea"/>
                  </a:rPr>
                  <a:t>    计算</a:t>
                </a:r>
                <a14:m>
                  <m:oMath xmlns:m="http://schemas.openxmlformats.org/officeDocument/2006/math">
                    <m:sSub>
                      <m:sSubPr>
                        <m:ctrlPr>
                          <a:rPr kumimoji="1" lang="zh-CN" altLang="en-US" sz="2000" i="1">
                            <a:solidFill>
                              <a:srgbClr val="000000"/>
                            </a:solidFill>
                            <a:latin typeface="Cambria Math" panose="02040503050406030204" pitchFamily="18" charset="0"/>
                            <a:sym typeface="+mn-ea"/>
                          </a:rPr>
                        </m:ctrlPr>
                      </m:sSubPr>
                      <m:e>
                        <m:r>
                          <a:rPr kumimoji="1" lang="zh-CN" altLang="en-US" sz="2000" i="1">
                            <a:solidFill>
                              <a:srgbClr val="000000"/>
                            </a:solidFill>
                            <a:latin typeface="Cambria Math" panose="02040503050406030204" pitchFamily="18" charset="0"/>
                            <a:sym typeface="+mn-ea"/>
                          </a:rPr>
                          <m:t>𝐵</m:t>
                        </m:r>
                      </m:e>
                      <m:sub>
                        <m:r>
                          <a:rPr kumimoji="1" lang="zh-CN" altLang="en-US" sz="2000" i="1">
                            <a:solidFill>
                              <a:srgbClr val="000000"/>
                            </a:solidFill>
                            <a:latin typeface="Cambria Math" panose="02040503050406030204" pitchFamily="18" charset="0"/>
                            <a:sym typeface="+mn-ea"/>
                          </a:rPr>
                          <m:t>𝑁</m:t>
                        </m:r>
                      </m:sub>
                    </m:sSub>
                  </m:oMath>
                </a14:m>
                <a:endParaRPr kumimoji="1" lang="en-US" altLang="zh-CN" sz="2000" dirty="0">
                  <a:solidFill>
                    <a:srgbClr val="000000"/>
                  </a:solidFill>
                  <a:latin typeface="Times New Roman"/>
                  <a:ea typeface="黑体"/>
                  <a:sym typeface="+mn-ea"/>
                </a:endParaRPr>
              </a:p>
              <a:p>
                <a:pPr eaLnBrk="0" fontAlgn="base" hangingPunct="0">
                  <a:lnSpc>
                    <a:spcPct val="200000"/>
                  </a:lnSpc>
                  <a:spcBef>
                    <a:spcPct val="0"/>
                  </a:spcBef>
                  <a:spcAft>
                    <a:spcPct val="0"/>
                  </a:spcAft>
                </a:pPr>
                <a:r>
                  <a:rPr kumimoji="1" lang="en-US" altLang="zh-CN" sz="2000" dirty="0">
                    <a:solidFill>
                      <a:srgbClr val="000000"/>
                    </a:solidFill>
                    <a:latin typeface="Times New Roman"/>
                    <a:ea typeface="黑体"/>
                  </a:rPr>
                  <a:t>          </a:t>
                </a:r>
                <a:r>
                  <a:rPr kumimoji="1" lang="zh-CN" altLang="en-US" sz="2000" dirty="0">
                    <a:solidFill>
                      <a:srgbClr val="000000"/>
                    </a:solidFill>
                    <a:latin typeface="Times New Roman"/>
                    <a:ea typeface="黑体"/>
                  </a:rPr>
                  <a:t>首先</a:t>
                </a:r>
                <a14:m>
                  <m:oMath xmlns:m="http://schemas.openxmlformats.org/officeDocument/2006/math">
                    <m:sSub>
                      <m:sSubPr>
                        <m:ctrlPr>
                          <a:rPr lang="zh-CN" altLang="zh-CN" sz="2000" i="1" kern="100">
                            <a:solidFill>
                              <a:srgbClr val="000000"/>
                            </a:solidFill>
                            <a:latin typeface="Cambria Math" panose="02040503050406030204" pitchFamily="18" charset="0"/>
                            <a:ea typeface="Cambria Math" panose="02040503050406030204" pitchFamily="18" charset="0"/>
                          </a:rPr>
                        </m:ctrlPr>
                      </m:sSubPr>
                      <m:e>
                        <m:r>
                          <m:rPr>
                            <m:nor/>
                          </m:rPr>
                          <a:rPr lang="en-US" altLang="zh-CN" sz="2000" kern="100">
                            <a:solidFill>
                              <a:srgbClr val="000000"/>
                            </a:solidFill>
                            <a:latin typeface="Times New Roman"/>
                            <a:ea typeface="宋体" panose="02010600030101010101" pitchFamily="2" charset="-122"/>
                          </a:rPr>
                          <m:t>B</m:t>
                        </m:r>
                      </m:e>
                      <m:sub>
                        <m:r>
                          <m:rPr>
                            <m:nor/>
                          </m:rPr>
                          <a:rPr lang="en-US" altLang="zh-CN" sz="2000" kern="100">
                            <a:solidFill>
                              <a:srgbClr val="000000"/>
                            </a:solidFill>
                            <a:latin typeface="Times New Roman"/>
                            <a:ea typeface="宋体" panose="02010600030101010101" pitchFamily="2" charset="-122"/>
                          </a:rPr>
                          <m:t>2</m:t>
                        </m:r>
                      </m:sub>
                    </m:sSub>
                    <m:r>
                      <m:rPr>
                        <m:nor/>
                      </m:rPr>
                      <a:rPr lang="en-US" altLang="zh-CN" sz="2000" kern="100">
                        <a:solidFill>
                          <a:srgbClr val="000000"/>
                        </a:solidFill>
                        <a:latin typeface="Times New Roman"/>
                        <a:ea typeface="宋体" panose="02010600030101010101" pitchFamily="2" charset="-122"/>
                      </a:rPr>
                      <m:t>=</m:t>
                    </m:r>
                    <m:sSub>
                      <m:sSubPr>
                        <m:ctrlPr>
                          <a:rPr lang="zh-CN" altLang="zh-CN" sz="2000" i="1" kern="100">
                            <a:solidFill>
                              <a:srgbClr val="000000"/>
                            </a:solidFill>
                            <a:latin typeface="Cambria Math" panose="02040503050406030204" pitchFamily="18" charset="0"/>
                            <a:ea typeface="Cambria Math" panose="02040503050406030204" pitchFamily="18" charset="0"/>
                          </a:rPr>
                        </m:ctrlPr>
                      </m:sSubPr>
                      <m:e>
                        <m:r>
                          <m:rPr>
                            <m:nor/>
                          </m:rPr>
                          <a:rPr lang="en-US" altLang="zh-CN" sz="2000" kern="100">
                            <a:solidFill>
                              <a:srgbClr val="000000"/>
                            </a:solidFill>
                            <a:latin typeface="Times New Roman"/>
                            <a:ea typeface="宋体" panose="02010600030101010101" pitchFamily="2" charset="-122"/>
                          </a:rPr>
                          <m:t>I</m:t>
                        </m:r>
                      </m:e>
                      <m:sub>
                        <m:r>
                          <m:rPr>
                            <m:nor/>
                          </m:rPr>
                          <a:rPr lang="en-US" altLang="zh-CN" sz="2000" kern="100">
                            <a:solidFill>
                              <a:srgbClr val="000000"/>
                            </a:solidFill>
                            <a:latin typeface="Times New Roman"/>
                            <a:ea typeface="宋体" panose="02010600030101010101" pitchFamily="2" charset="-122"/>
                          </a:rPr>
                          <m:t>2</m:t>
                        </m:r>
                      </m:sub>
                    </m:sSub>
                  </m:oMath>
                </a14:m>
                <a:endParaRPr kumimoji="1" lang="zh-CN" altLang="en-US" sz="2000" dirty="0">
                  <a:solidFill>
                    <a:srgbClr val="000000"/>
                  </a:solidFill>
                  <a:latin typeface="Times New Roman"/>
                  <a:ea typeface="黑体"/>
                  <a:sym typeface="+mn-ea"/>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2213131" y="685872"/>
                <a:ext cx="8317674" cy="3580788"/>
              </a:xfrm>
              <a:prstGeom prst="rect">
                <a:avLst/>
              </a:prstGeom>
              <a:blipFill>
                <a:blip r:embed="rId2"/>
                <a:stretch>
                  <a:fillRect l="-733" b="-1704"/>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3"/>
          <a:srcRect l="1348" t="612" r="-1348" b="68209"/>
          <a:stretch>
            <a:fillRect/>
          </a:stretch>
        </p:blipFill>
        <p:spPr>
          <a:xfrm>
            <a:off x="4343446" y="3657594"/>
            <a:ext cx="3333363" cy="914376"/>
          </a:xfrm>
          <a:prstGeom prst="rect">
            <a:avLst/>
          </a:prstGeom>
        </p:spPr>
      </p:pic>
      <p:pic>
        <p:nvPicPr>
          <p:cNvPr id="9" name="图片 8"/>
          <p:cNvPicPr>
            <a:picLocks noChangeAspect="1"/>
          </p:cNvPicPr>
          <p:nvPr/>
        </p:nvPicPr>
        <p:blipFill rotWithShape="1">
          <a:blip r:embed="rId3"/>
          <a:srcRect l="1348" t="47515" r="-1348" b="-612"/>
          <a:stretch>
            <a:fillRect/>
          </a:stretch>
        </p:blipFill>
        <p:spPr>
          <a:xfrm>
            <a:off x="4343446" y="4724366"/>
            <a:ext cx="3333363" cy="1557196"/>
          </a:xfrm>
          <a:prstGeom prst="rect">
            <a:avLst/>
          </a:prstGeom>
        </p:spPr>
      </p:pic>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915327" y="172912"/>
            <a:ext cx="1562173"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xmlns:a14="http://schemas.microsoft.com/office/drawing/2010/main">
        <mc:Choice Requires="a14">
          <p:sp>
            <p:nvSpPr>
              <p:cNvPr id="10" name="文本框 9"/>
              <p:cNvSpPr txBox="1"/>
              <p:nvPr/>
            </p:nvSpPr>
            <p:spPr>
              <a:xfrm>
                <a:off x="2209902" y="1051460"/>
                <a:ext cx="7315008" cy="400110"/>
              </a:xfrm>
              <a:prstGeom prst="rect">
                <a:avLst/>
              </a:prstGeom>
              <a:noFill/>
            </p:spPr>
            <p:txBody>
              <a:bodyPr wrap="square">
                <a:spAutoFit/>
              </a:bodyPr>
              <a:lstStyle/>
              <a:p>
                <a:pPr eaLnBrk="0" fontAlgn="base" hangingPunct="0">
                  <a:spcBef>
                    <a:spcPct val="0"/>
                  </a:spcBef>
                  <a:spcAft>
                    <a:spcPct val="0"/>
                  </a:spcAft>
                </a:pP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𝑅</m:t>
                        </m:r>
                      </m:e>
                      <m:sub>
                        <m:r>
                          <a:rPr lang="en-US" altLang="zh-CN" sz="2000" i="1">
                            <a:solidFill>
                              <a:srgbClr val="000000"/>
                            </a:solidFill>
                            <a:latin typeface="Cambria Math" panose="02040503050406030204" pitchFamily="18" charset="0"/>
                          </a:rPr>
                          <m:t>4</m:t>
                        </m:r>
                      </m:sub>
                    </m:sSub>
                  </m:oMath>
                </a14:m>
                <a:r>
                  <a:rPr kumimoji="1" lang="zh-CN" altLang="en-US" sz="2000" dirty="0">
                    <a:solidFill>
                      <a:srgbClr val="000000"/>
                    </a:solidFill>
                    <a:latin typeface="Times New Roman"/>
                    <a:ea typeface="黑体"/>
                  </a:rPr>
                  <a:t>由</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𝐼</m:t>
                        </m:r>
                      </m:e>
                      <m:sub>
                        <m:r>
                          <a:rPr lang="en-US" altLang="zh-CN" sz="2000" i="1">
                            <a:solidFill>
                              <a:srgbClr val="000000"/>
                            </a:solidFill>
                            <a:latin typeface="Cambria Math" panose="02040503050406030204" pitchFamily="18" charset="0"/>
                          </a:rPr>
                          <m:t>4</m:t>
                        </m:r>
                      </m:sub>
                    </m:sSub>
                  </m:oMath>
                </a14:m>
                <a:r>
                  <a:rPr kumimoji="1" lang="zh-CN" altLang="en-US" sz="2000" dirty="0">
                    <a:solidFill>
                      <a:srgbClr val="000000"/>
                    </a:solidFill>
                    <a:latin typeface="Times New Roman"/>
                    <a:ea typeface="黑体"/>
                  </a:rPr>
                  <a:t>变换得来，先排</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𝐼</m:t>
                        </m:r>
                      </m:e>
                      <m:sub>
                        <m:r>
                          <a:rPr lang="en-US" altLang="zh-CN" sz="2000" i="1">
                            <a:solidFill>
                              <a:srgbClr val="000000"/>
                            </a:solidFill>
                            <a:latin typeface="Cambria Math" panose="02040503050406030204" pitchFamily="18" charset="0"/>
                          </a:rPr>
                          <m:t>4</m:t>
                        </m:r>
                      </m:sub>
                    </m:sSub>
                  </m:oMath>
                </a14:m>
                <a:r>
                  <a:rPr kumimoji="1" lang="zh-CN" altLang="en-US" sz="2000" dirty="0">
                    <a:solidFill>
                      <a:srgbClr val="000000"/>
                    </a:solidFill>
                    <a:latin typeface="Times New Roman"/>
                    <a:ea typeface="黑体"/>
                  </a:rPr>
                  <a:t>的奇数列，再排</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𝐼</m:t>
                        </m:r>
                      </m:e>
                      <m:sub>
                        <m:r>
                          <a:rPr lang="en-US" altLang="zh-CN" sz="2000" i="1">
                            <a:solidFill>
                              <a:srgbClr val="000000"/>
                            </a:solidFill>
                            <a:latin typeface="Cambria Math" panose="02040503050406030204" pitchFamily="18" charset="0"/>
                          </a:rPr>
                          <m:t>4</m:t>
                        </m:r>
                      </m:sub>
                    </m:sSub>
                  </m:oMath>
                </a14:m>
                <a:r>
                  <a:rPr kumimoji="1" lang="zh-CN" altLang="en-US" sz="2000" dirty="0">
                    <a:solidFill>
                      <a:srgbClr val="000000"/>
                    </a:solidFill>
                    <a:latin typeface="Times New Roman"/>
                    <a:ea typeface="黑体"/>
                  </a:rPr>
                  <a:t>的偶数列：</a:t>
                </a:r>
              </a:p>
            </p:txBody>
          </p:sp>
        </mc:Choice>
        <mc:Fallback xmlns="">
          <p:sp>
            <p:nvSpPr>
              <p:cNvPr id="10" name="文本框 9"/>
              <p:cNvSpPr txBox="1">
                <a:spLocks noRot="1" noChangeAspect="1" noMove="1" noResize="1" noEditPoints="1" noAdjustHandles="1" noChangeArrowheads="1" noChangeShapeType="1" noTextEdit="1"/>
              </p:cNvSpPr>
              <p:nvPr/>
            </p:nvSpPr>
            <p:spPr>
              <a:xfrm>
                <a:off x="2209902" y="1051460"/>
                <a:ext cx="7315008" cy="400110"/>
              </a:xfrm>
              <a:prstGeom prst="rect">
                <a:avLst/>
              </a:prstGeom>
              <a:blipFill>
                <a:blip r:embed="rId2"/>
                <a:stretch>
                  <a:fillRect t="-10606" b="-22727"/>
                </a:stretch>
              </a:blipFill>
            </p:spPr>
            <p:txBody>
              <a:bodyPr/>
              <a:lstStyle/>
              <a:p>
                <a:r>
                  <a:rPr lang="zh-CN" altLang="en-US">
                    <a:noFill/>
                  </a:rPr>
                  <a:t> </a:t>
                </a:r>
              </a:p>
            </p:txBody>
          </p:sp>
        </mc:Fallback>
      </mc:AlternateContent>
      <p:pic>
        <p:nvPicPr>
          <p:cNvPr id="12" name="图片 11"/>
          <p:cNvPicPr>
            <a:picLocks noChangeAspect="1"/>
          </p:cNvPicPr>
          <p:nvPr/>
        </p:nvPicPr>
        <p:blipFill>
          <a:blip r:embed="rId3"/>
          <a:stretch>
            <a:fillRect/>
          </a:stretch>
        </p:blipFill>
        <p:spPr>
          <a:xfrm>
            <a:off x="2600597" y="1644318"/>
            <a:ext cx="6611445" cy="5040770"/>
          </a:xfrm>
          <a:prstGeom prst="rect">
            <a:avLst/>
          </a:prstGeom>
        </p:spPr>
      </p:pic>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991525" y="152486"/>
            <a:ext cx="1562173"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xmlns:a14="http://schemas.microsoft.com/office/drawing/2010/main">
        <mc:Choice Requires="a14">
          <p:sp>
            <p:nvSpPr>
              <p:cNvPr id="10" name="文本框 9"/>
              <p:cNvSpPr txBox="1"/>
              <p:nvPr/>
            </p:nvSpPr>
            <p:spPr>
              <a:xfrm>
                <a:off x="2324199" y="1051598"/>
                <a:ext cx="7315008" cy="400110"/>
              </a:xfrm>
              <a:prstGeom prst="rect">
                <a:avLst/>
              </a:prstGeom>
              <a:noFill/>
            </p:spPr>
            <p:txBody>
              <a:bodyPr wrap="square">
                <a:spAutoFit/>
              </a:bodyPr>
              <a:lstStyle/>
              <a:p>
                <a:pPr eaLnBrk="0" fontAlgn="base" hangingPunct="0">
                  <a:spcBef>
                    <a:spcPct val="0"/>
                  </a:spcBef>
                  <a:spcAft>
                    <a:spcPct val="0"/>
                  </a:spcAft>
                </a:pP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𝑅</m:t>
                        </m:r>
                      </m:e>
                      <m:sub>
                        <m:r>
                          <a:rPr lang="en-US" altLang="zh-CN" sz="2000" i="1">
                            <a:solidFill>
                              <a:srgbClr val="000000"/>
                            </a:solidFill>
                            <a:latin typeface="Cambria Math" panose="02040503050406030204" pitchFamily="18" charset="0"/>
                          </a:rPr>
                          <m:t>8</m:t>
                        </m:r>
                      </m:sub>
                    </m:sSub>
                  </m:oMath>
                </a14:m>
                <a:r>
                  <a:rPr kumimoji="1" lang="zh-CN" altLang="en-US" sz="2000" dirty="0">
                    <a:solidFill>
                      <a:srgbClr val="000000"/>
                    </a:solidFill>
                    <a:latin typeface="Times New Roman"/>
                    <a:ea typeface="黑体"/>
                  </a:rPr>
                  <a:t>由</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𝐼</m:t>
                        </m:r>
                      </m:e>
                      <m:sub>
                        <m:r>
                          <a:rPr lang="en-US" altLang="zh-CN" sz="2000" i="1">
                            <a:solidFill>
                              <a:srgbClr val="000000"/>
                            </a:solidFill>
                            <a:latin typeface="Cambria Math" panose="02040503050406030204" pitchFamily="18" charset="0"/>
                          </a:rPr>
                          <m:t>8</m:t>
                        </m:r>
                      </m:sub>
                    </m:sSub>
                  </m:oMath>
                </a14:m>
                <a:r>
                  <a:rPr kumimoji="1" lang="zh-CN" altLang="en-US" sz="2000" dirty="0">
                    <a:solidFill>
                      <a:srgbClr val="000000"/>
                    </a:solidFill>
                    <a:latin typeface="Times New Roman"/>
                    <a:ea typeface="黑体"/>
                  </a:rPr>
                  <a:t>变换得来，先排</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𝐼</m:t>
                        </m:r>
                      </m:e>
                      <m:sub>
                        <m:r>
                          <a:rPr lang="en-US" altLang="zh-CN" sz="2000" i="1">
                            <a:solidFill>
                              <a:srgbClr val="000000"/>
                            </a:solidFill>
                            <a:latin typeface="Cambria Math" panose="02040503050406030204" pitchFamily="18" charset="0"/>
                          </a:rPr>
                          <m:t>8</m:t>
                        </m:r>
                      </m:sub>
                    </m:sSub>
                  </m:oMath>
                </a14:m>
                <a:r>
                  <a:rPr kumimoji="1" lang="zh-CN" altLang="en-US" sz="2000" dirty="0">
                    <a:solidFill>
                      <a:srgbClr val="000000"/>
                    </a:solidFill>
                    <a:latin typeface="Times New Roman"/>
                    <a:ea typeface="黑体"/>
                  </a:rPr>
                  <a:t>的奇数列，再排</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𝐼</m:t>
                        </m:r>
                      </m:e>
                      <m:sub>
                        <m:r>
                          <a:rPr lang="en-US" altLang="zh-CN" sz="2000" i="1">
                            <a:solidFill>
                              <a:srgbClr val="000000"/>
                            </a:solidFill>
                            <a:latin typeface="Cambria Math" panose="02040503050406030204" pitchFamily="18" charset="0"/>
                          </a:rPr>
                          <m:t>8</m:t>
                        </m:r>
                      </m:sub>
                    </m:sSub>
                  </m:oMath>
                </a14:m>
                <a:r>
                  <a:rPr kumimoji="1" lang="zh-CN" altLang="en-US" sz="2000" dirty="0">
                    <a:solidFill>
                      <a:srgbClr val="000000"/>
                    </a:solidFill>
                    <a:latin typeface="Times New Roman"/>
                    <a:ea typeface="黑体"/>
                  </a:rPr>
                  <a:t>的偶数列：</a:t>
                </a:r>
              </a:p>
            </p:txBody>
          </p:sp>
        </mc:Choice>
        <mc:Fallback xmlns="">
          <p:sp>
            <p:nvSpPr>
              <p:cNvPr id="10" name="文本框 9"/>
              <p:cNvSpPr txBox="1">
                <a:spLocks noRot="1" noChangeAspect="1" noMove="1" noResize="1" noEditPoints="1" noAdjustHandles="1" noChangeArrowheads="1" noChangeShapeType="1" noTextEdit="1"/>
              </p:cNvSpPr>
              <p:nvPr/>
            </p:nvSpPr>
            <p:spPr>
              <a:xfrm>
                <a:off x="2324199" y="1051598"/>
                <a:ext cx="7315008" cy="400110"/>
              </a:xfrm>
              <a:prstGeom prst="rect">
                <a:avLst/>
              </a:prstGeom>
              <a:blipFill>
                <a:blip r:embed="rId2"/>
                <a:stretch>
                  <a:fillRect t="-12308" b="-24615"/>
                </a:stretch>
              </a:blipFill>
            </p:spPr>
            <p:txBody>
              <a:bodyPr/>
              <a:lstStyle/>
              <a:p>
                <a:r>
                  <a:rPr lang="zh-CN" altLang="en-US">
                    <a:noFill/>
                  </a:rPr>
                  <a:t> </a:t>
                </a:r>
              </a:p>
            </p:txBody>
          </p:sp>
        </mc:Fallback>
      </mc:AlternateContent>
      <p:pic>
        <p:nvPicPr>
          <p:cNvPr id="14" name="图片 13"/>
          <p:cNvPicPr>
            <a:picLocks noChangeAspect="1"/>
          </p:cNvPicPr>
          <p:nvPr/>
        </p:nvPicPr>
        <p:blipFill>
          <a:blip r:embed="rId3"/>
          <a:stretch>
            <a:fillRect/>
          </a:stretch>
        </p:blipFill>
        <p:spPr>
          <a:xfrm>
            <a:off x="3124278" y="1489747"/>
            <a:ext cx="5714850" cy="5392335"/>
          </a:xfrm>
          <a:prstGeom prst="rect">
            <a:avLst/>
          </a:prstGeom>
        </p:spPr>
      </p:pic>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915327" y="179181"/>
            <a:ext cx="1562173"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xmlns:a14="http://schemas.microsoft.com/office/drawing/2010/main">
        <mc:Choice Requires="a14">
          <p:sp>
            <p:nvSpPr>
              <p:cNvPr id="10" name="文本框 9"/>
              <p:cNvSpPr txBox="1"/>
              <p:nvPr/>
            </p:nvSpPr>
            <p:spPr>
              <a:xfrm>
                <a:off x="1941551" y="1143060"/>
                <a:ext cx="7315008" cy="424796"/>
              </a:xfrm>
              <a:prstGeom prst="rect">
                <a:avLst/>
              </a:prstGeom>
              <a:noFill/>
            </p:spPr>
            <p:txBody>
              <a:bodyPr wrap="square">
                <a:spAutoFit/>
              </a:bodyPr>
              <a:lstStyle/>
              <a:p>
                <a:pPr eaLnBrk="0" fontAlgn="base" hangingPunct="0">
                  <a:spcBef>
                    <a:spcPct val="0"/>
                  </a:spcBef>
                  <a:spcAft>
                    <a:spcPct val="0"/>
                  </a:spcAft>
                </a:pPr>
                <a14:m>
                  <m:oMath xmlns:m="http://schemas.openxmlformats.org/officeDocument/2006/math">
                    <m:r>
                      <a:rPr lang="en-US" altLang="zh-CN" sz="2000" i="1">
                        <a:solidFill>
                          <a:srgbClr val="000000"/>
                        </a:solidFill>
                        <a:latin typeface="Cambria Math" panose="02040503050406030204" pitchFamily="18" charset="0"/>
                      </a:rPr>
                      <m:t>3</m:t>
                    </m:r>
                    <m:r>
                      <a:rPr lang="zh-CN" altLang="en-US" sz="2000" i="1">
                        <a:solidFill>
                          <a:srgbClr val="000000"/>
                        </a:solidFill>
                        <a:latin typeface="Cambria Math" panose="02040503050406030204" pitchFamily="18" charset="0"/>
                      </a:rPr>
                      <m:t>、</m:t>
                    </m:r>
                  </m:oMath>
                </a14:m>
                <a:r>
                  <a:rPr kumimoji="1" lang="zh-CN" altLang="en-US" sz="2000" dirty="0">
                    <a:solidFill>
                      <a:srgbClr val="000000"/>
                    </a:solidFill>
                    <a:latin typeface="Times New Roman"/>
                    <a:ea typeface="黑体"/>
                  </a:rPr>
                  <a:t>求</a:t>
                </a:r>
                <a:r>
                  <a:rPr kumimoji="1" lang="en-US" altLang="zh-CN" sz="2000" dirty="0">
                    <a:solidFill>
                      <a:srgbClr val="000000"/>
                    </a:solidFill>
                    <a:latin typeface="Times New Roman"/>
                    <a:ea typeface="黑体"/>
                  </a:rPr>
                  <a:t>F</a:t>
                </a:r>
                <a:r>
                  <a:rPr kumimoji="1" lang="zh-CN" altLang="en-US" sz="2000" dirty="0">
                    <a:solidFill>
                      <a:srgbClr val="000000"/>
                    </a:solidFill>
                    <a:latin typeface="Times New Roman"/>
                    <a:ea typeface="黑体"/>
                  </a:rPr>
                  <a:t>的</a:t>
                </a:r>
                <a:r>
                  <a:rPr kumimoji="1" lang="en-US" altLang="zh-CN" sz="2000" dirty="0">
                    <a:solidFill>
                      <a:srgbClr val="000000"/>
                    </a:solidFill>
                    <a:latin typeface="Times New Roman"/>
                    <a:ea typeface="黑体"/>
                  </a:rPr>
                  <a:t>n</a:t>
                </a:r>
                <a:r>
                  <a:rPr kumimoji="1" lang="zh-CN" altLang="en-US" sz="2000" dirty="0">
                    <a:solidFill>
                      <a:srgbClr val="000000"/>
                    </a:solidFill>
                    <a:latin typeface="Times New Roman"/>
                    <a:ea typeface="黑体"/>
                  </a:rPr>
                  <a:t>次克罗内克积  </a:t>
                </a:r>
                <a14:m>
                  <m:oMath xmlns:m="http://schemas.openxmlformats.org/officeDocument/2006/math">
                    <m:sSup>
                      <m:sSupPr>
                        <m:ctrlPr>
                          <a:rPr kumimoji="1" lang="zh-CN" altLang="zh-CN" i="1" kern="100">
                            <a:solidFill>
                              <a:srgbClr val="000000"/>
                            </a:solidFill>
                            <a:latin typeface="Cambria Math" panose="02040503050406030204" pitchFamily="18" charset="0"/>
                            <a:ea typeface="Cambria Math" panose="02040503050406030204" pitchFamily="18" charset="0"/>
                          </a:rPr>
                        </m:ctrlPr>
                      </m:sSupPr>
                      <m:e>
                        <m:r>
                          <m:rPr>
                            <m:nor/>
                          </m:rPr>
                          <a:rPr kumimoji="1" lang="en-US" altLang="zh-CN" kern="100">
                            <a:solidFill>
                              <a:srgbClr val="000000"/>
                            </a:solidFill>
                            <a:latin typeface="Times New Roman" panose="02020603050405020304"/>
                            <a:ea typeface="宋体" panose="02010600030101010101" pitchFamily="2" charset="-122"/>
                          </a:rPr>
                          <m:t>F</m:t>
                        </m:r>
                      </m:e>
                      <m:sup>
                        <m:r>
                          <m:rPr>
                            <m:nor/>
                          </m:rPr>
                          <a:rPr kumimoji="1" lang="zh-CN" altLang="zh-CN" kern="100">
                            <a:solidFill>
                              <a:srgbClr val="000000"/>
                            </a:solidFill>
                            <a:latin typeface="Times New Roman" panose="02020603050405020304"/>
                            <a:ea typeface="MS Gothic" panose="020B0609070205080204" pitchFamily="49" charset="-128"/>
                            <a:cs typeface="MS Gothic" panose="020B0609070205080204" pitchFamily="49" charset="-128"/>
                          </a:rPr>
                          <m:t>⊗</m:t>
                        </m:r>
                        <m:r>
                          <m:rPr>
                            <m:nor/>
                          </m:rPr>
                          <a:rPr kumimoji="1" lang="en-US" altLang="zh-CN" kern="100">
                            <a:solidFill>
                              <a:srgbClr val="000000"/>
                            </a:solidFill>
                            <a:latin typeface="Times New Roman" panose="02020603050405020304"/>
                            <a:ea typeface="宋体" panose="02010600030101010101" pitchFamily="2" charset="-122"/>
                          </a:rPr>
                          <m:t>n</m:t>
                        </m:r>
                      </m:sup>
                    </m:sSup>
                    <m:r>
                      <m:rPr>
                        <m:nor/>
                      </m:rPr>
                      <a:rPr kumimoji="1" lang="en-US" altLang="zh-CN" kern="100">
                        <a:solidFill>
                          <a:srgbClr val="000000"/>
                        </a:solidFill>
                        <a:latin typeface="Times New Roman" panose="02020603050405020304"/>
                        <a:ea typeface="宋体" panose="02010600030101010101" pitchFamily="2" charset="-122"/>
                      </a:rPr>
                      <m:t>=</m:t>
                    </m:r>
                    <m:r>
                      <m:rPr>
                        <m:nor/>
                      </m:rPr>
                      <a:rPr kumimoji="1" lang="en-US" altLang="zh-CN" kern="100">
                        <a:solidFill>
                          <a:srgbClr val="000000"/>
                        </a:solidFill>
                        <a:latin typeface="Times New Roman" panose="02020603050405020304"/>
                        <a:ea typeface="宋体" panose="02010600030101010101" pitchFamily="2" charset="-122"/>
                      </a:rPr>
                      <m:t>F</m:t>
                    </m:r>
                    <m:r>
                      <m:rPr>
                        <m:nor/>
                      </m:rPr>
                      <a:rPr kumimoji="1" lang="zh-CN" altLang="zh-CN" kern="100">
                        <a:solidFill>
                          <a:srgbClr val="000000"/>
                        </a:solidFill>
                        <a:latin typeface="Times New Roman" panose="02020603050405020304"/>
                        <a:ea typeface="MS Gothic" panose="020B0609070205080204" pitchFamily="49" charset="-128"/>
                        <a:cs typeface="MS Gothic" panose="020B0609070205080204" pitchFamily="49" charset="-128"/>
                      </a:rPr>
                      <m:t>⊗</m:t>
                    </m:r>
                    <m:r>
                      <m:rPr>
                        <m:nor/>
                      </m:rPr>
                      <a:rPr kumimoji="1" lang="zh-CN" altLang="zh-CN" kern="100">
                        <a:solidFill>
                          <a:srgbClr val="000000"/>
                        </a:solidFill>
                        <a:latin typeface="Times New Roman" panose="02020603050405020304"/>
                        <a:ea typeface="宋体" panose="02010600030101010101" pitchFamily="2" charset="-122"/>
                      </a:rPr>
                      <m:t> </m:t>
                    </m:r>
                    <m:sSup>
                      <m:sSupPr>
                        <m:ctrlPr>
                          <a:rPr kumimoji="1" lang="zh-CN" altLang="zh-CN" i="1" kern="100">
                            <a:solidFill>
                              <a:srgbClr val="000000"/>
                            </a:solidFill>
                            <a:latin typeface="Cambria Math" panose="02040503050406030204" pitchFamily="18" charset="0"/>
                            <a:ea typeface="Cambria Math" panose="02040503050406030204" pitchFamily="18" charset="0"/>
                          </a:rPr>
                        </m:ctrlPr>
                      </m:sSupPr>
                      <m:e>
                        <m:r>
                          <m:rPr>
                            <m:nor/>
                          </m:rPr>
                          <a:rPr kumimoji="1" lang="en-US" altLang="zh-CN" kern="100">
                            <a:solidFill>
                              <a:srgbClr val="000000"/>
                            </a:solidFill>
                            <a:latin typeface="Times New Roman" panose="02020603050405020304"/>
                            <a:ea typeface="宋体" panose="02010600030101010101" pitchFamily="2" charset="-122"/>
                          </a:rPr>
                          <m:t>F</m:t>
                        </m:r>
                      </m:e>
                      <m:sup>
                        <m:r>
                          <m:rPr>
                            <m:nor/>
                          </m:rPr>
                          <a:rPr kumimoji="1" lang="zh-CN" altLang="zh-CN" kern="100">
                            <a:solidFill>
                              <a:srgbClr val="000000"/>
                            </a:solidFill>
                            <a:latin typeface="Times New Roman" panose="02020603050405020304"/>
                            <a:ea typeface="MS Gothic" panose="020B0609070205080204" pitchFamily="49" charset="-128"/>
                            <a:cs typeface="MS Gothic" panose="020B0609070205080204" pitchFamily="49" charset="-128"/>
                          </a:rPr>
                          <m:t>⊗</m:t>
                        </m:r>
                        <m:r>
                          <m:rPr>
                            <m:nor/>
                          </m:rPr>
                          <a:rPr kumimoji="1" lang="en-US" altLang="zh-CN" kern="100">
                            <a:solidFill>
                              <a:srgbClr val="000000"/>
                            </a:solidFill>
                            <a:latin typeface="Times New Roman" panose="02020603050405020304"/>
                            <a:ea typeface="等线" panose="02010600030101010101" pitchFamily="2" charset="-122"/>
                          </a:rPr>
                          <m:t>(</m:t>
                        </m:r>
                        <m:r>
                          <m:rPr>
                            <m:nor/>
                          </m:rPr>
                          <a:rPr kumimoji="1" lang="en-US" altLang="zh-CN" kern="100">
                            <a:solidFill>
                              <a:srgbClr val="000000"/>
                            </a:solidFill>
                            <a:latin typeface="Times New Roman" panose="02020603050405020304"/>
                            <a:ea typeface="宋体" panose="02010600030101010101" pitchFamily="2" charset="-122"/>
                          </a:rPr>
                          <m:t>n</m:t>
                        </m:r>
                        <m:r>
                          <m:rPr>
                            <m:nor/>
                          </m:rPr>
                          <a:rPr kumimoji="1" lang="en-US" altLang="zh-CN" i="1" kern="100">
                            <a:solidFill>
                              <a:srgbClr val="000000"/>
                            </a:solidFill>
                            <a:latin typeface="Times New Roman" panose="02020603050405020304"/>
                            <a:ea typeface="宋体" panose="02010600030101010101" pitchFamily="2" charset="-122"/>
                          </a:rPr>
                          <m:t>−</m:t>
                        </m:r>
                        <m:r>
                          <m:rPr>
                            <m:nor/>
                          </m:rPr>
                          <a:rPr kumimoji="1" lang="en-US" altLang="zh-CN" kern="100">
                            <a:solidFill>
                              <a:srgbClr val="000000"/>
                            </a:solidFill>
                            <a:latin typeface="Times New Roman" panose="02020603050405020304"/>
                            <a:ea typeface="宋体" panose="02010600030101010101" pitchFamily="2" charset="-122"/>
                          </a:rPr>
                          <m:t>1)</m:t>
                        </m:r>
                      </m:sup>
                    </m:sSup>
                  </m:oMath>
                </a14:m>
                <a:endParaRPr kumimoji="1" lang="zh-CN" altLang="en-US" sz="2000" dirty="0">
                  <a:solidFill>
                    <a:srgbClr val="000000"/>
                  </a:solidFill>
                  <a:latin typeface="Times New Roman"/>
                  <a:ea typeface="黑体"/>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1941551" y="1143060"/>
                <a:ext cx="7315008" cy="424796"/>
              </a:xfrm>
              <a:prstGeom prst="rect">
                <a:avLst/>
              </a:prstGeom>
              <a:blipFill>
                <a:blip r:embed="rId2"/>
                <a:stretch>
                  <a:fillRect t="-5797" b="-27536"/>
                </a:stretch>
              </a:blipFill>
            </p:spPr>
            <p:txBody>
              <a:bodyPr/>
              <a:lstStyle/>
              <a:p>
                <a:r>
                  <a:rPr lang="zh-CN" altLang="en-US">
                    <a:noFill/>
                  </a:rPr>
                  <a:t> </a:t>
                </a:r>
              </a:p>
            </p:txBody>
          </p:sp>
        </mc:Fallback>
      </mc:AlternateContent>
      <p:pic>
        <p:nvPicPr>
          <p:cNvPr id="8" name="图片 7"/>
          <p:cNvPicPr>
            <a:picLocks noChangeAspect="1"/>
          </p:cNvPicPr>
          <p:nvPr/>
        </p:nvPicPr>
        <p:blipFill>
          <a:blip r:embed="rId3"/>
          <a:stretch>
            <a:fillRect/>
          </a:stretch>
        </p:blipFill>
        <p:spPr>
          <a:xfrm>
            <a:off x="1971940" y="1714949"/>
            <a:ext cx="7856673" cy="4790846"/>
          </a:xfrm>
          <a:prstGeom prst="rect">
            <a:avLst/>
          </a:prstGeom>
        </p:spPr>
      </p:pic>
      <p:pic>
        <p:nvPicPr>
          <p:cNvPr id="6" name="图片 5"/>
          <p:cNvPicPr>
            <a:picLocks noChangeAspect="1"/>
          </p:cNvPicPr>
          <p:nvPr/>
        </p:nvPicPr>
        <p:blipFill>
          <a:blip r:embed="rId4"/>
          <a:stretch>
            <a:fillRect/>
          </a:stretch>
        </p:blipFill>
        <p:spPr>
          <a:xfrm>
            <a:off x="7737187" y="1095739"/>
            <a:ext cx="2133898" cy="1238423"/>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299138" y="1372699"/>
            <a:ext cx="7617804" cy="5390938"/>
          </a:xfrm>
          <a:prstGeom prst="rect">
            <a:avLst/>
          </a:prstGeom>
        </p:spPr>
      </p:pic>
      <p:sp>
        <p:nvSpPr>
          <p:cNvPr id="4" name="标题 1"/>
          <p:cNvSpPr>
            <a:spLocks noGrp="1"/>
          </p:cNvSpPr>
          <p:nvPr>
            <p:ph type="title"/>
          </p:nvPr>
        </p:nvSpPr>
        <p:spPr>
          <a:xfrm>
            <a:off x="8915327" y="212332"/>
            <a:ext cx="1562173"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xmlns:a14="http://schemas.microsoft.com/office/drawing/2010/main">
        <mc:Choice Requires="a14">
          <p:sp>
            <p:nvSpPr>
              <p:cNvPr id="10" name="文本框 9"/>
              <p:cNvSpPr txBox="1"/>
              <p:nvPr/>
            </p:nvSpPr>
            <p:spPr>
              <a:xfrm>
                <a:off x="1941551" y="1143060"/>
                <a:ext cx="7315008" cy="400110"/>
              </a:xfrm>
              <a:prstGeom prst="rect">
                <a:avLst/>
              </a:prstGeom>
              <a:noFill/>
            </p:spPr>
            <p:txBody>
              <a:bodyPr wrap="square">
                <a:spAutoFit/>
              </a:bodyPr>
              <a:lstStyle/>
              <a:p>
                <a:pPr eaLnBrk="0" fontAlgn="base" hangingPunct="0">
                  <a:spcBef>
                    <a:spcPct val="0"/>
                  </a:spcBef>
                  <a:spcAft>
                    <a:spcPct val="0"/>
                  </a:spcAft>
                </a:pPr>
                <a14:m>
                  <m:oMath xmlns:m="http://schemas.openxmlformats.org/officeDocument/2006/math">
                    <m:r>
                      <a:rPr lang="en-US" altLang="zh-CN" sz="2000" i="1">
                        <a:solidFill>
                          <a:srgbClr val="000000"/>
                        </a:solidFill>
                        <a:latin typeface="Cambria Math" panose="02040503050406030204" pitchFamily="18" charset="0"/>
                      </a:rPr>
                      <m:t>4</m:t>
                    </m:r>
                    <m:r>
                      <a:rPr lang="zh-CN" altLang="en-US" sz="2000" i="1">
                        <a:solidFill>
                          <a:srgbClr val="000000"/>
                        </a:solidFill>
                        <a:latin typeface="Cambria Math" panose="02040503050406030204" pitchFamily="18" charset="0"/>
                      </a:rPr>
                      <m:t>、</m:t>
                    </m:r>
                  </m:oMath>
                </a14:m>
                <a:r>
                  <a:rPr kumimoji="1" lang="zh-CN" altLang="en-US" sz="2000" dirty="0">
                    <a:solidFill>
                      <a:srgbClr val="000000"/>
                    </a:solidFill>
                    <a:latin typeface="Times New Roman"/>
                    <a:ea typeface="黑体"/>
                  </a:rPr>
                  <a:t>求生成矩阵</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𝐺</m:t>
                        </m:r>
                      </m:e>
                      <m:sub>
                        <m:r>
                          <a:rPr lang="en-US" altLang="zh-CN" sz="2000" i="1">
                            <a:solidFill>
                              <a:srgbClr val="000000"/>
                            </a:solidFill>
                            <a:latin typeface="Cambria Math" panose="02040503050406030204" pitchFamily="18" charset="0"/>
                          </a:rPr>
                          <m:t>𝑁</m:t>
                        </m:r>
                      </m:sub>
                    </m:sSub>
                  </m:oMath>
                </a14:m>
                <a:endParaRPr kumimoji="1" lang="zh-CN" altLang="en-US" sz="2000" dirty="0">
                  <a:solidFill>
                    <a:srgbClr val="000000"/>
                  </a:solidFill>
                  <a:latin typeface="Times New Roman"/>
                  <a:ea typeface="黑体"/>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1941551" y="1143060"/>
                <a:ext cx="7315008" cy="400110"/>
              </a:xfrm>
              <a:prstGeom prst="rect">
                <a:avLst/>
              </a:prstGeom>
              <a:blipFill>
                <a:blip r:embed="rId3"/>
                <a:stretch>
                  <a:fillRect t="-12308" b="-24615"/>
                </a:stretch>
              </a:blipFill>
            </p:spPr>
            <p:txBody>
              <a:bodyPr/>
              <a:lstStyle/>
              <a:p>
                <a:r>
                  <a:rPr lang="zh-CN" altLang="en-US">
                    <a:noFill/>
                  </a:rPr>
                  <a:t> </a:t>
                </a:r>
              </a:p>
            </p:txBody>
          </p:sp>
        </mc:Fallback>
      </mc:AlternateContent>
      <p:pic>
        <p:nvPicPr>
          <p:cNvPr id="9" name="图片 8"/>
          <p:cNvPicPr>
            <a:picLocks noChangeAspect="1"/>
          </p:cNvPicPr>
          <p:nvPr/>
        </p:nvPicPr>
        <p:blipFill>
          <a:blip r:embed="rId4"/>
          <a:stretch>
            <a:fillRect/>
          </a:stretch>
        </p:blipFill>
        <p:spPr>
          <a:xfrm>
            <a:off x="4419645" y="1192710"/>
            <a:ext cx="1590897" cy="419158"/>
          </a:xfrm>
          <a:prstGeom prst="rect">
            <a:avLst/>
          </a:prstGeom>
        </p:spPr>
      </p:pic>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915327" y="228684"/>
            <a:ext cx="1562173"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xmlns:a14="http://schemas.microsoft.com/office/drawing/2010/main">
        <mc:Choice Requires="a14">
          <p:sp>
            <p:nvSpPr>
              <p:cNvPr id="10" name="文本框 9"/>
              <p:cNvSpPr txBox="1"/>
              <p:nvPr/>
            </p:nvSpPr>
            <p:spPr>
              <a:xfrm>
                <a:off x="1941551" y="1143060"/>
                <a:ext cx="7315008" cy="400110"/>
              </a:xfrm>
              <a:prstGeom prst="rect">
                <a:avLst/>
              </a:prstGeom>
              <a:noFill/>
            </p:spPr>
            <p:txBody>
              <a:bodyPr wrap="square">
                <a:spAutoFit/>
              </a:bodyPr>
              <a:lstStyle/>
              <a:p>
                <a:pPr eaLnBrk="0" fontAlgn="base" hangingPunct="0">
                  <a:spcBef>
                    <a:spcPct val="0"/>
                  </a:spcBef>
                  <a:spcAft>
                    <a:spcPct val="0"/>
                  </a:spcAft>
                </a:pPr>
                <a14:m>
                  <m:oMath xmlns:m="http://schemas.openxmlformats.org/officeDocument/2006/math">
                    <m:r>
                      <a:rPr lang="en-US" altLang="zh-CN" sz="2000" i="1">
                        <a:solidFill>
                          <a:srgbClr val="000000"/>
                        </a:solidFill>
                        <a:latin typeface="Cambria Math" panose="02040503050406030204" pitchFamily="18" charset="0"/>
                      </a:rPr>
                      <m:t>5</m:t>
                    </m:r>
                    <m:r>
                      <a:rPr lang="zh-CN" altLang="en-US" sz="2000" i="1">
                        <a:solidFill>
                          <a:srgbClr val="000000"/>
                        </a:solidFill>
                        <a:latin typeface="Cambria Math" panose="02040503050406030204" pitchFamily="18" charset="0"/>
                      </a:rPr>
                      <m:t>、</m:t>
                    </m:r>
                  </m:oMath>
                </a14:m>
                <a:r>
                  <a:rPr kumimoji="1" lang="zh-CN" altLang="en-US" sz="2000" dirty="0">
                    <a:solidFill>
                      <a:srgbClr val="000000"/>
                    </a:solidFill>
                    <a:latin typeface="Times New Roman"/>
                    <a:ea typeface="黑体"/>
                  </a:rPr>
                  <a:t>生成极化码</a:t>
                </a:r>
              </a:p>
            </p:txBody>
          </p:sp>
        </mc:Choice>
        <mc:Fallback xmlns="">
          <p:sp>
            <p:nvSpPr>
              <p:cNvPr id="10" name="文本框 9"/>
              <p:cNvSpPr txBox="1">
                <a:spLocks noRot="1" noChangeAspect="1" noMove="1" noResize="1" noEditPoints="1" noAdjustHandles="1" noChangeArrowheads="1" noChangeShapeType="1" noTextEdit="1"/>
              </p:cNvSpPr>
              <p:nvPr/>
            </p:nvSpPr>
            <p:spPr>
              <a:xfrm>
                <a:off x="1941551" y="1143060"/>
                <a:ext cx="7315008" cy="400110"/>
              </a:xfrm>
              <a:prstGeom prst="rect">
                <a:avLst/>
              </a:prstGeom>
              <a:blipFill>
                <a:blip r:embed="rId2"/>
                <a:stretch>
                  <a:fillRect t="-12308" b="-24615"/>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4267299" y="1121755"/>
            <a:ext cx="1324160" cy="466790"/>
          </a:xfrm>
          <a:prstGeom prst="rect">
            <a:avLst/>
          </a:prstGeom>
        </p:spPr>
      </p:pic>
      <p:pic>
        <p:nvPicPr>
          <p:cNvPr id="7" name="图片 6"/>
          <p:cNvPicPr>
            <a:picLocks noChangeAspect="1"/>
          </p:cNvPicPr>
          <p:nvPr/>
        </p:nvPicPr>
        <p:blipFill>
          <a:blip r:embed="rId4"/>
          <a:stretch>
            <a:fillRect/>
          </a:stretch>
        </p:blipFill>
        <p:spPr>
          <a:xfrm>
            <a:off x="1799626" y="1633920"/>
            <a:ext cx="8592749" cy="4067743"/>
          </a:xfrm>
          <a:prstGeom prst="rect">
            <a:avLst/>
          </a:prstGeom>
        </p:spPr>
      </p:pic>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324594" y="152486"/>
            <a:ext cx="4114692" cy="685800"/>
          </a:xfrm>
        </p:spPr>
        <p:txBody>
          <a:bodyPr/>
          <a:lstStyle/>
          <a:p>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速率匹配</a:t>
            </a:r>
            <a:endParaRPr lang="zh-CN" altLang="en-US" sz="2400" dirty="0">
              <a:sym typeface="+mn-ea"/>
            </a:endParaRPr>
          </a:p>
        </p:txBody>
      </p:sp>
      <mc:AlternateContent xmlns:mc="http://schemas.openxmlformats.org/markup-compatibility/2006" xmlns:a14="http://schemas.microsoft.com/office/drawing/2010/main">
        <mc:Choice Requires="a14">
          <p:sp>
            <p:nvSpPr>
              <p:cNvPr id="5" name="文本框 4"/>
              <p:cNvSpPr txBox="1"/>
              <p:nvPr/>
            </p:nvSpPr>
            <p:spPr>
              <a:xfrm>
                <a:off x="1041991" y="2633386"/>
                <a:ext cx="8309226" cy="4636847"/>
              </a:xfrm>
              <a:prstGeom prst="rect">
                <a:avLst/>
              </a:prstGeom>
              <a:noFill/>
            </p:spPr>
            <p:txBody>
              <a:bodyPr wrap="square">
                <a:spAutoFit/>
              </a:bodyPr>
              <a:lstStyle/>
              <a:p>
                <a:pPr eaLnBrk="0" fontAlgn="base" hangingPunct="0">
                  <a:lnSpc>
                    <a:spcPct val="150000"/>
                  </a:lnSpc>
                  <a:spcBef>
                    <a:spcPct val="0"/>
                  </a:spcBef>
                  <a:spcAft>
                    <a:spcPct val="0"/>
                  </a:spcAft>
                </a:pPr>
                <a:r>
                  <a:rPr lang="zh-CN" altLang="en-US" sz="2000" dirty="0">
                    <a:solidFill>
                      <a:srgbClr val="000000"/>
                    </a:solidFill>
                    <a:latin typeface="Times New Roman"/>
                    <a:ea typeface="黑体" panose="02010609060101010101" pitchFamily="49" charset="-122"/>
                  </a:rPr>
                  <a:t>速率匹配需要几个参数：</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K</a:t>
                </a:r>
                <a:r>
                  <a:rPr lang="zh-CN" altLang="en-US" sz="2000" dirty="0">
                    <a:solidFill>
                      <a:srgbClr val="000000"/>
                    </a:solidFill>
                    <a:latin typeface="Times New Roman"/>
                    <a:ea typeface="黑体" panose="02010609060101010101" pitchFamily="49" charset="-122"/>
                  </a:rPr>
                  <a:t>：   （分段后）编码前的信息比特长度。</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M</a:t>
                </a:r>
                <a:r>
                  <a:rPr lang="zh-CN" altLang="en-US" sz="2000" dirty="0">
                    <a:solidFill>
                      <a:srgbClr val="000000"/>
                    </a:solidFill>
                    <a:latin typeface="Times New Roman"/>
                    <a:ea typeface="黑体" panose="02010609060101010101" pitchFamily="49" charset="-122"/>
                  </a:rPr>
                  <a:t>：     对应资源所承载的比特数。</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𝑅</m:t>
                        </m:r>
                      </m:e>
                      <m:sub>
                        <m:r>
                          <m:rPr>
                            <m:sty m:val="p"/>
                          </m:rPr>
                          <a:rPr lang="en-US" altLang="zh-CN" sz="2000" i="1">
                            <a:solidFill>
                              <a:srgbClr val="000000"/>
                            </a:solidFill>
                            <a:latin typeface="Cambria Math" panose="02040503050406030204" pitchFamily="18" charset="0"/>
                          </a:rPr>
                          <m:t>mi</m:t>
                        </m:r>
                        <m:r>
                          <a:rPr lang="en-US" altLang="zh-CN" sz="2000" i="1">
                            <a:solidFill>
                              <a:srgbClr val="000000"/>
                            </a:solidFill>
                            <a:latin typeface="Cambria Math" panose="02040503050406030204" pitchFamily="18" charset="0"/>
                          </a:rPr>
                          <m:t>𝑛</m:t>
                        </m:r>
                      </m:sub>
                    </m:sSub>
                  </m:oMath>
                </a14:m>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1/8</a:t>
                </a:r>
                <a:r>
                  <a:rPr lang="zh-CN" altLang="en-US" sz="2000" dirty="0">
                    <a:solidFill>
                      <a:srgbClr val="000000"/>
                    </a:solidFill>
                    <a:latin typeface="Times New Roman"/>
                    <a:ea typeface="黑体" panose="02010609060101010101" pitchFamily="49" charset="-122"/>
                  </a:rPr>
                  <a:t>（最小码率）</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max</m:t>
                        </m:r>
                      </m:sub>
                    </m:sSub>
                  </m:oMath>
                </a14:m>
                <a:r>
                  <a:rPr lang="zh-CN" altLang="en-US" sz="2000" dirty="0">
                    <a:solidFill>
                      <a:srgbClr val="000000"/>
                    </a:solidFill>
                    <a:latin typeface="Times New Roman"/>
                    <a:ea typeface="黑体" panose="02010609060101010101" pitchFamily="49" charset="-122"/>
                  </a:rPr>
                  <a:t>：最大母码长度。下行方向为</a:t>
                </a:r>
                <a:r>
                  <a:rPr lang="en-US" altLang="zh-CN" sz="2000" dirty="0">
                    <a:solidFill>
                      <a:srgbClr val="000000"/>
                    </a:solidFill>
                    <a:latin typeface="Times New Roman"/>
                    <a:ea typeface="黑体" panose="02010609060101010101" pitchFamily="49" charset="-122"/>
                  </a:rPr>
                  <a:t>512</a:t>
                </a:r>
                <a:r>
                  <a:rPr lang="zh-CN" altLang="en-US" sz="2000" dirty="0">
                    <a:solidFill>
                      <a:srgbClr val="000000"/>
                    </a:solidFill>
                    <a:latin typeface="Times New Roman"/>
                    <a:ea typeface="黑体" panose="02010609060101010101" pitchFamily="49" charset="-122"/>
                  </a:rPr>
                  <a:t>，上行方向是</a:t>
                </a:r>
                <a:r>
                  <a:rPr lang="en-US" altLang="zh-CN" sz="2000" dirty="0">
                    <a:solidFill>
                      <a:srgbClr val="000000"/>
                    </a:solidFill>
                    <a:latin typeface="Times New Roman"/>
                    <a:ea typeface="黑体" panose="02010609060101010101" pitchFamily="49" charset="-122"/>
                  </a:rPr>
                  <a:t>1024.</a:t>
                </a:r>
              </a:p>
              <a:p>
                <a:pPr eaLnBrk="0" fontAlgn="base" hangingPunct="0">
                  <a:lnSpc>
                    <a:spcPct val="150000"/>
                  </a:lnSpc>
                  <a:spcBef>
                    <a:spcPct val="0"/>
                  </a:spcBef>
                  <a:spcAft>
                    <a:spcPct val="0"/>
                  </a:spcAft>
                </a:pP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min</m:t>
                        </m:r>
                      </m:sub>
                    </m:sSub>
                  </m:oMath>
                </a14:m>
                <a:r>
                  <a:rPr lang="zh-CN" altLang="en-US" sz="2000" dirty="0">
                    <a:solidFill>
                      <a:srgbClr val="000000"/>
                    </a:solidFill>
                    <a:latin typeface="Times New Roman"/>
                    <a:ea typeface="黑体" panose="02010609060101010101" pitchFamily="49" charset="-122"/>
                  </a:rPr>
                  <a:t>：最小母码长度。固定为</a:t>
                </a:r>
                <a:r>
                  <a:rPr lang="en-US" altLang="zh-CN" sz="2000" dirty="0">
                    <a:solidFill>
                      <a:srgbClr val="000000"/>
                    </a:solidFill>
                    <a:latin typeface="Times New Roman"/>
                    <a:ea typeface="黑体" panose="02010609060101010101" pitchFamily="49" charset="-122"/>
                  </a:rPr>
                  <a:t>32</a:t>
                </a:r>
                <a:r>
                  <a:rPr lang="zh-CN" altLang="en-US" sz="2000" dirty="0">
                    <a:solidFill>
                      <a:srgbClr val="000000"/>
                    </a:solidFill>
                    <a:latin typeface="Times New Roman"/>
                    <a:ea typeface="黑体" panose="02010609060101010101" pitchFamily="49" charset="-122"/>
                  </a:rPr>
                  <a:t>。</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dm</m:t>
                        </m:r>
                      </m:sub>
                    </m:sSub>
                  </m:oMath>
                </a14:m>
                <a:r>
                  <a:rPr lang="zh-CN" altLang="en-US" sz="2000" dirty="0">
                    <a:solidFill>
                      <a:srgbClr val="000000"/>
                    </a:solidFill>
                    <a:latin typeface="Times New Roman"/>
                    <a:ea typeface="黑体" panose="02010609060101010101" pitchFamily="49" charset="-122"/>
                  </a:rPr>
                  <a:t>： 大于或等于</a:t>
                </a:r>
                <a:r>
                  <a:rPr lang="en-US" altLang="zh-CN" sz="2000" dirty="0">
                    <a:solidFill>
                      <a:srgbClr val="000000"/>
                    </a:solidFill>
                    <a:latin typeface="Times New Roman"/>
                    <a:ea typeface="黑体" panose="02010609060101010101" pitchFamily="49" charset="-122"/>
                  </a:rPr>
                  <a:t>M</a:t>
                </a:r>
                <a:r>
                  <a:rPr lang="zh-CN" altLang="en-US" sz="2000" dirty="0">
                    <a:solidFill>
                      <a:srgbClr val="000000"/>
                    </a:solidFill>
                    <a:latin typeface="Times New Roman"/>
                    <a:ea typeface="黑体" panose="02010609060101010101" pitchFamily="49" charset="-122"/>
                  </a:rPr>
                  <a:t>并且是</a:t>
                </a:r>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的幂的数。</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m</m:t>
                        </m:r>
                      </m:sub>
                    </m:sSub>
                  </m:oMath>
                </a14:m>
                <a:r>
                  <a:rPr lang="zh-CN" altLang="en-US" sz="2000" dirty="0">
                    <a:solidFill>
                      <a:srgbClr val="000000"/>
                    </a:solidFill>
                    <a:latin typeface="Times New Roman"/>
                    <a:ea typeface="黑体" panose="02010609060101010101" pitchFamily="49" charset="-122"/>
                  </a:rPr>
                  <a:t>：   另一个候选的母码长度。若</a:t>
                </a:r>
                <a14:m>
                  <m:oMath xmlns:m="http://schemas.openxmlformats.org/officeDocument/2006/math">
                    <m:r>
                      <a:rPr lang="zh-CN" altLang="en-US" sz="2000" i="1">
                        <a:solidFill>
                          <a:srgbClr val="000000"/>
                        </a:solidFill>
                        <a:latin typeface="Cambria Math" panose="02040503050406030204" pitchFamily="18" charset="0"/>
                      </a:rPr>
                      <m:t>𝑀</m:t>
                    </m:r>
                    <m:r>
                      <a:rPr lang="zh-CN" altLang="en-US" sz="2000" i="1">
                        <a:solidFill>
                          <a:srgbClr val="000000"/>
                        </a:solidFill>
                        <a:latin typeface="Cambria Math" panose="02040503050406030204" pitchFamily="18" charset="0"/>
                      </a:rPr>
                      <m:t>≤</m:t>
                    </m:r>
                    <m:d>
                      <m:dPr>
                        <m:ctrlPr>
                          <a:rPr lang="zh-CN" altLang="en-US" sz="2000" i="1">
                            <a:solidFill>
                              <a:srgbClr val="000000"/>
                            </a:solidFill>
                            <a:latin typeface="Cambria Math" panose="02040503050406030204" pitchFamily="18" charset="0"/>
                          </a:rPr>
                        </m:ctrlPr>
                      </m:dPr>
                      <m:e>
                        <m:f>
                          <m:fPr>
                            <m:type m:val="lin"/>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9</m:t>
                            </m:r>
                          </m:num>
                          <m:den>
                            <m:r>
                              <a:rPr lang="zh-CN" altLang="en-US" sz="2000" i="1">
                                <a:solidFill>
                                  <a:srgbClr val="000000"/>
                                </a:solidFill>
                                <a:latin typeface="Cambria Math" panose="02040503050406030204" pitchFamily="18" charset="0"/>
                              </a:rPr>
                              <m:t>8</m:t>
                            </m:r>
                          </m:den>
                        </m:f>
                      </m:e>
                    </m:d>
                    <m:f>
                      <m:fPr>
                        <m:type m:val="lin"/>
                        <m:ctrlPr>
                          <a:rPr lang="zh-CN" altLang="en-US" sz="2000" i="1">
                            <a:solidFill>
                              <a:srgbClr val="000000"/>
                            </a:solidFill>
                            <a:latin typeface="Cambria Math" panose="02040503050406030204" pitchFamily="18" charset="0"/>
                          </a:rPr>
                        </m:ctrlPr>
                      </m:fPr>
                      <m:num>
                        <m:r>
                          <a:rPr lang="en-US" altLang="zh-CN" sz="2000" i="1">
                            <a:solidFill>
                              <a:srgbClr val="000000"/>
                            </a:solidFill>
                            <a:latin typeface="Cambria Math" panose="02040503050406030204" pitchFamily="18" charset="0"/>
                          </a:rPr>
                          <m:t>×</m:t>
                        </m:r>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dm</m:t>
                            </m:r>
                          </m:sub>
                        </m:sSub>
                      </m:num>
                      <m:den>
                        <m:r>
                          <a:rPr lang="zh-CN" altLang="en-US" sz="2000" i="1">
                            <a:solidFill>
                              <a:srgbClr val="000000"/>
                            </a:solidFill>
                            <a:latin typeface="Cambria Math" panose="02040503050406030204" pitchFamily="18" charset="0"/>
                          </a:rPr>
                          <m:t>2</m:t>
                        </m:r>
                      </m:den>
                    </m:f>
                  </m:oMath>
                </a14:m>
                <a:r>
                  <a:rPr lang="zh-CN" altLang="en-US" sz="2000" dirty="0">
                    <a:solidFill>
                      <a:srgbClr val="000000"/>
                    </a:solidFill>
                    <a:latin typeface="Times New Roman"/>
                    <a:ea typeface="黑体" panose="02010609060101010101" pitchFamily="49" charset="-122"/>
                  </a:rPr>
                  <a:t>且</a:t>
                </a:r>
                <a:r>
                  <a:rPr lang="en-US" altLang="zh-CN" sz="2000" dirty="0">
                    <a:solidFill>
                      <a:srgbClr val="000000"/>
                    </a:solidFill>
                    <a:latin typeface="Times New Roman"/>
                    <a:ea typeface="黑体" panose="02010609060101010101" pitchFamily="49" charset="-122"/>
                  </a:rPr>
                  <a:t>K/M </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9/16 </a:t>
                </a:r>
                <a:r>
                  <a:rPr lang="zh-CN" altLang="en-US" sz="2000" dirty="0">
                    <a:solidFill>
                      <a:srgbClr val="000000"/>
                    </a:solidFill>
                    <a:latin typeface="Times New Roman"/>
                    <a:ea typeface="黑体" panose="02010609060101010101" pitchFamily="49" charset="-122"/>
                  </a:rPr>
                  <a:t>） </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则</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m</m:t>
                        </m:r>
                      </m:sub>
                    </m:sSub>
                  </m:oMath>
                </a14:m>
                <a:r>
                  <a:rPr lang="en-US" altLang="zh-CN"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宋体" panose="02010600030101010101" pitchFamily="2" charset="-122"/>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dm</m:t>
                        </m:r>
                      </m:sub>
                    </m:sSub>
                  </m:oMath>
                </a14:m>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；否则，</a:t>
                </a:r>
                <a:r>
                  <a:rPr lang="en-US" altLang="zh-CN" sz="2000" dirty="0">
                    <a:solidFill>
                      <a:srgbClr val="000000"/>
                    </a:solidFill>
                    <a:latin typeface="Times New Roman"/>
                    <a:ea typeface="宋体" panose="02010600030101010101" pitchFamily="2" charset="-122"/>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m</m:t>
                        </m:r>
                      </m:sub>
                    </m:sSub>
                  </m:oMath>
                </a14:m>
                <a:r>
                  <a:rPr lang="en-US" altLang="zh-CN"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宋体" panose="02010600030101010101" pitchFamily="2" charset="-122"/>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dm</m:t>
                        </m:r>
                      </m:sub>
                    </m:sSub>
                  </m:oMath>
                </a14:m>
                <a:r>
                  <a:rPr lang="zh-CN" altLang="en-US" sz="2000" dirty="0">
                    <a:solidFill>
                      <a:srgbClr val="000000"/>
                    </a:solidFill>
                    <a:latin typeface="Times New Roman"/>
                    <a:ea typeface="黑体" panose="02010609060101010101" pitchFamily="49" charset="-122"/>
                  </a:rPr>
                  <a:t>。</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endParaRPr lang="zh-CN" altLang="en-US" sz="2000" dirty="0">
                  <a:solidFill>
                    <a:srgbClr val="000000"/>
                  </a:solidFill>
                  <a:latin typeface="黑体" panose="02010609060101010101" pitchFamily="49" charset="-122"/>
                  <a:ea typeface="黑体" panose="02010609060101010101" pitchFamily="49"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041991" y="2633386"/>
                <a:ext cx="8309226" cy="4636847"/>
              </a:xfrm>
              <a:prstGeom prst="rect">
                <a:avLst/>
              </a:prstGeom>
              <a:blipFill>
                <a:blip r:embed="rId2"/>
                <a:stretch>
                  <a:fillRect l="-807" r="-7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EA08725-B566-1732-5844-FCB2ED108857}"/>
                  </a:ext>
                </a:extLst>
              </p:cNvPr>
              <p:cNvSpPr txBox="1"/>
              <p:nvPr/>
            </p:nvSpPr>
            <p:spPr>
              <a:xfrm>
                <a:off x="531628" y="723587"/>
                <a:ext cx="11433544" cy="2328523"/>
              </a:xfrm>
              <a:prstGeom prst="rect">
                <a:avLst/>
              </a:prstGeom>
              <a:noFill/>
            </p:spPr>
            <p:txBody>
              <a:bodyPr wrap="square">
                <a:spAutoFit/>
              </a:bodyPr>
              <a:lstStyle/>
              <a:p>
                <a:pPr eaLnBrk="0" fontAlgn="base" hangingPunct="0">
                  <a:lnSpc>
                    <a:spcPct val="200000"/>
                  </a:lnSpc>
                  <a:spcBef>
                    <a:spcPct val="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    </a:t>
                </a:r>
                <a:r>
                  <a:rPr lang="zh-CN" altLang="en-US" sz="2000" dirty="0">
                    <a:solidFill>
                      <a:srgbClr val="000000"/>
                    </a:solidFill>
                    <a:latin typeface="Times New Roman"/>
                    <a:ea typeface="黑体" panose="02010609060101010101" pitchFamily="49" charset="-122"/>
                  </a:rPr>
                  <a:t>速率匹配是把</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Times New Roman"/>
                    <a:ea typeface="黑体" panose="02010609060101010101" pitchFamily="49" charset="-122"/>
                  </a:rPr>
                  <a:t>码编码后的比特数量</a:t>
                </a:r>
                <a14:m>
                  <m:oMath xmlns:m="http://schemas.openxmlformats.org/officeDocument/2006/math">
                    <m:r>
                      <a:rPr lang="zh-CN" altLang="en-US" sz="2000">
                        <a:solidFill>
                          <a:srgbClr val="000000"/>
                        </a:solidFill>
                        <a:latin typeface="Cambria Math" panose="02040503050406030204" pitchFamily="18" charset="0"/>
                        <a:ea typeface="黑体" panose="02010609060101010101" pitchFamily="49" charset="-122"/>
                      </a:rPr>
                      <m:t>𝑁</m:t>
                    </m:r>
                    <m:r>
                      <a:rPr lang="zh-CN" altLang="en-US" sz="2000">
                        <a:solidFill>
                          <a:srgbClr val="000000"/>
                        </a:solidFill>
                        <a:latin typeface="Cambria Math" panose="02040503050406030204" pitchFamily="18" charset="0"/>
                        <a:ea typeface="黑体" panose="02010609060101010101" pitchFamily="49" charset="-122"/>
                      </a:rPr>
                      <m:t>=</m:t>
                    </m:r>
                    <m:sSup>
                      <m:sSupPr>
                        <m:ctrlPr>
                          <a:rPr lang="zh-CN" altLang="en-US" sz="2000" i="1">
                            <a:solidFill>
                              <a:srgbClr val="000000"/>
                            </a:solidFill>
                            <a:latin typeface="Cambria Math" panose="02040503050406030204" pitchFamily="18" charset="0"/>
                            <a:ea typeface="黑体" panose="02010609060101010101" pitchFamily="49" charset="-122"/>
                          </a:rPr>
                        </m:ctrlPr>
                      </m:sSupPr>
                      <m:e>
                        <m:r>
                          <a:rPr lang="zh-CN" altLang="en-US" sz="2000">
                            <a:solidFill>
                              <a:srgbClr val="000000"/>
                            </a:solidFill>
                            <a:latin typeface="Cambria Math" panose="02040503050406030204" pitchFamily="18" charset="0"/>
                            <a:ea typeface="黑体" panose="02010609060101010101" pitchFamily="49" charset="-122"/>
                          </a:rPr>
                          <m:t>2</m:t>
                        </m:r>
                      </m:e>
                      <m:sup>
                        <m:r>
                          <a:rPr lang="zh-CN" altLang="en-US" sz="2000">
                            <a:solidFill>
                              <a:srgbClr val="000000"/>
                            </a:solidFill>
                            <a:latin typeface="Cambria Math" panose="02040503050406030204" pitchFamily="18" charset="0"/>
                            <a:ea typeface="黑体" panose="02010609060101010101" pitchFamily="49" charset="-122"/>
                          </a:rPr>
                          <m:t>𝑛</m:t>
                        </m:r>
                      </m:sup>
                    </m:sSup>
                    <m:r>
                      <a:rPr lang="zh-CN" altLang="en-US" sz="2000">
                        <a:solidFill>
                          <a:srgbClr val="000000"/>
                        </a:solidFill>
                        <a:latin typeface="Cambria Math" panose="02040503050406030204" pitchFamily="18" charset="0"/>
                        <a:ea typeface="黑体" panose="02010609060101010101" pitchFamily="49" charset="-122"/>
                      </a:rPr>
                      <m:t>通过</m:t>
                    </m:r>
                  </m:oMath>
                </a14:m>
                <a:r>
                  <a:rPr lang="zh-CN" altLang="en-US" sz="2000" dirty="0">
                    <a:solidFill>
                      <a:srgbClr val="000000"/>
                    </a:solidFill>
                    <a:latin typeface="Times New Roman"/>
                    <a:ea typeface="黑体" panose="02010609060101010101" pitchFamily="49" charset="-122"/>
                  </a:rPr>
                  <a:t>调整（增加或减少比特数量），适配到对应的物理资源（所承载的比特数量）上。</a:t>
                </a:r>
                <a:endParaRPr lang="en-US" altLang="zh-CN" sz="2000" dirty="0">
                  <a:solidFill>
                    <a:srgbClr val="000000"/>
                  </a:solidFill>
                  <a:latin typeface="Times New Roman"/>
                  <a:ea typeface="黑体" panose="02010609060101010101" pitchFamily="49" charset="-122"/>
                </a:endParaRPr>
              </a:p>
              <a:p>
                <a:pPr eaLnBrk="0" fontAlgn="base" hangingPunct="0">
                  <a:lnSpc>
                    <a:spcPct val="20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速率匹配包括两个操作，一是</a:t>
                </a:r>
                <a:r>
                  <a:rPr lang="zh-CN" altLang="en-US" sz="2000" u="sng" dirty="0">
                    <a:solidFill>
                      <a:srgbClr val="000000"/>
                    </a:solidFill>
                    <a:latin typeface="Times New Roman"/>
                    <a:ea typeface="黑体" panose="02010609060101010101" pitchFamily="49" charset="-122"/>
                  </a:rPr>
                  <a:t>交织</a:t>
                </a:r>
                <a:r>
                  <a:rPr lang="zh-CN" altLang="en-US" sz="2000" dirty="0">
                    <a:solidFill>
                      <a:srgbClr val="000000"/>
                    </a:solidFill>
                    <a:latin typeface="Times New Roman"/>
                    <a:ea typeface="黑体" panose="02010609060101010101" pitchFamily="49" charset="-122"/>
                  </a:rPr>
                  <a:t>，二是按照一定方式</a:t>
                </a:r>
                <a:r>
                  <a:rPr lang="zh-CN" altLang="en-US" sz="2000" u="sng" dirty="0">
                    <a:solidFill>
                      <a:srgbClr val="000000"/>
                    </a:solidFill>
                    <a:latin typeface="Times New Roman"/>
                    <a:ea typeface="黑体" panose="02010609060101010101" pitchFamily="49" charset="-122"/>
                  </a:rPr>
                  <a:t>选取比特</a:t>
                </a:r>
                <a:r>
                  <a:rPr lang="zh-CN" altLang="en-US" sz="2000" dirty="0">
                    <a:solidFill>
                      <a:srgbClr val="000000"/>
                    </a:solidFill>
                    <a:latin typeface="Times New Roman"/>
                    <a:ea typeface="黑体" panose="02010609060101010101" pitchFamily="49" charset="-122"/>
                  </a:rPr>
                  <a:t>。</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endParaRPr lang="zh-CN" altLang="en-US" sz="2000" dirty="0">
                  <a:solidFill>
                    <a:srgbClr val="000000"/>
                  </a:solidFill>
                  <a:latin typeface="黑体" panose="02010609060101010101" pitchFamily="49" charset="-122"/>
                  <a:ea typeface="黑体" panose="02010609060101010101" pitchFamily="49" charset="-122"/>
                </a:endParaRPr>
              </a:p>
            </p:txBody>
          </p:sp>
        </mc:Choice>
        <mc:Fallback xmlns="">
          <p:sp>
            <p:nvSpPr>
              <p:cNvPr id="2" name="文本框 1">
                <a:extLst>
                  <a:ext uri="{FF2B5EF4-FFF2-40B4-BE49-F238E27FC236}">
                    <a16:creationId xmlns:a16="http://schemas.microsoft.com/office/drawing/2014/main" id="{9EA08725-B566-1732-5844-FCB2ED108857}"/>
                  </a:ext>
                </a:extLst>
              </p:cNvPr>
              <p:cNvSpPr txBox="1">
                <a:spLocks noRot="1" noChangeAspect="1" noMove="1" noResize="1" noEditPoints="1" noAdjustHandles="1" noChangeArrowheads="1" noChangeShapeType="1" noTextEdit="1"/>
              </p:cNvSpPr>
              <p:nvPr/>
            </p:nvSpPr>
            <p:spPr>
              <a:xfrm>
                <a:off x="531628" y="723587"/>
                <a:ext cx="11433544" cy="2328523"/>
              </a:xfrm>
              <a:prstGeom prst="rect">
                <a:avLst/>
              </a:prstGeom>
              <a:blipFill>
                <a:blip r:embed="rId3"/>
                <a:stretch>
                  <a:fillRect l="-533" r="-586"/>
                </a:stretch>
              </a:blipFill>
            </p:spPr>
            <p:txBody>
              <a:bodyPr/>
              <a:lstStyle/>
              <a:p>
                <a:r>
                  <a:rPr lang="zh-CN" altLang="en-US">
                    <a:noFill/>
                  </a:rPr>
                  <a:t> </a:t>
                </a:r>
              </a:p>
            </p:txBody>
          </p:sp>
        </mc:Fallback>
      </mc:AlternateContent>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400792" y="103089"/>
            <a:ext cx="4114692" cy="685800"/>
          </a:xfrm>
        </p:spPr>
        <p:txBody>
          <a:bodyPr/>
          <a:lstStyle/>
          <a:p>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速率匹配</a:t>
            </a:r>
            <a:endParaRPr lang="zh-CN" altLang="en-US" sz="2400" dirty="0">
              <a:sym typeface="+mn-ea"/>
            </a:endParaRPr>
          </a:p>
        </p:txBody>
      </p:sp>
      <p:sp>
        <p:nvSpPr>
          <p:cNvPr id="5" name="文本框 4"/>
          <p:cNvSpPr txBox="1"/>
          <p:nvPr/>
        </p:nvSpPr>
        <p:spPr>
          <a:xfrm>
            <a:off x="197382" y="797585"/>
            <a:ext cx="5310283" cy="3996543"/>
          </a:xfrm>
          <a:prstGeom prst="rect">
            <a:avLst/>
          </a:prstGeom>
          <a:noFill/>
        </p:spPr>
        <p:txBody>
          <a:bodyPr wrap="square">
            <a:spAutoFit/>
          </a:bodyPr>
          <a:lstStyle/>
          <a:p>
            <a:pPr eaLnBrk="0" fontAlgn="base" hangingPunct="0">
              <a:lnSpc>
                <a:spcPct val="150000"/>
              </a:lnSpc>
              <a:spcBef>
                <a:spcPct val="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速率匹配（选取比特）过程</a:t>
            </a:r>
            <a:r>
              <a:rPr lang="en-US" altLang="zh-CN" sz="2000" dirty="0">
                <a:solidFill>
                  <a:srgbClr val="000000"/>
                </a:solidFill>
                <a:latin typeface="黑体" panose="02010609060101010101" pitchFamily="49" charset="-122"/>
                <a:ea typeface="黑体" panose="02010609060101010101" pitchFamily="49" charset="-122"/>
              </a:rPr>
              <a:t>:</a:t>
            </a:r>
          </a:p>
          <a:p>
            <a:pPr eaLnBrk="0" fontAlgn="base" hangingPunct="0">
              <a:lnSpc>
                <a:spcPct val="150000"/>
              </a:lnSpc>
              <a:spcBef>
                <a:spcPct val="0"/>
              </a:spcBef>
              <a:spcAft>
                <a:spcPct val="0"/>
              </a:spcAft>
            </a:pPr>
            <a:endParaRPr lang="en-US" altLang="zh-CN" sz="2000" dirty="0">
              <a:solidFill>
                <a:srgbClr val="000000"/>
              </a:solidFill>
              <a:latin typeface="黑体" panose="02010609060101010101" pitchFamily="49" charset="-122"/>
              <a:ea typeface="黑体" panose="02010609060101010101" pitchFamily="49" charset="-122"/>
            </a:endParaRPr>
          </a:p>
          <a:p>
            <a:pPr eaLnBrk="0" fontAlgn="base" hangingPunct="0">
              <a:lnSpc>
                <a:spcPct val="200000"/>
              </a:lnSpc>
              <a:spcBef>
                <a:spcPct val="0"/>
              </a:spcBef>
              <a:spcAft>
                <a:spcPct val="0"/>
              </a:spcAft>
            </a:pPr>
            <a:r>
              <a:rPr lang="zh-CN" altLang="en-US" sz="2000" dirty="0">
                <a:solidFill>
                  <a:srgbClr val="000000"/>
                </a:solidFill>
                <a:highlight>
                  <a:srgbClr val="FFFF00"/>
                </a:highlight>
                <a:latin typeface="Times New Roman"/>
                <a:ea typeface="黑体" panose="02010609060101010101" pitchFamily="49" charset="-122"/>
              </a:rPr>
              <a:t>第一步</a:t>
            </a:r>
            <a:r>
              <a:rPr lang="zh-CN" altLang="en-US" sz="2000" dirty="0">
                <a:solidFill>
                  <a:srgbClr val="000000"/>
                </a:solidFill>
                <a:latin typeface="Times New Roman"/>
                <a:ea typeface="黑体" panose="02010609060101010101" pitchFamily="49" charset="-122"/>
              </a:rPr>
              <a:t>：将编码之后的比特写入循环缓冲区。</a:t>
            </a:r>
            <a:endParaRPr lang="en-US" altLang="zh-CN" sz="2000" dirty="0">
              <a:solidFill>
                <a:srgbClr val="000000"/>
              </a:solidFill>
              <a:latin typeface="Times New Roman"/>
              <a:ea typeface="黑体" panose="02010609060101010101" pitchFamily="49" charset="-122"/>
            </a:endParaRPr>
          </a:p>
          <a:p>
            <a:pPr eaLnBrk="0" fontAlgn="base" hangingPunct="0">
              <a:lnSpc>
                <a:spcPct val="200000"/>
              </a:lnSpc>
              <a:spcBef>
                <a:spcPct val="0"/>
              </a:spcBef>
              <a:spcAft>
                <a:spcPct val="0"/>
              </a:spcAft>
            </a:pPr>
            <a:r>
              <a:rPr lang="zh-CN" altLang="en-US" sz="2000" dirty="0">
                <a:solidFill>
                  <a:srgbClr val="000000"/>
                </a:solidFill>
                <a:highlight>
                  <a:srgbClr val="FFFF00"/>
                </a:highlight>
                <a:latin typeface="Times New Roman"/>
                <a:ea typeface="黑体" panose="02010609060101010101" pitchFamily="49" charset="-122"/>
              </a:rPr>
              <a:t>第二步</a:t>
            </a:r>
            <a:r>
              <a:rPr lang="zh-CN" altLang="en-US" sz="2000" dirty="0">
                <a:solidFill>
                  <a:srgbClr val="000000"/>
                </a:solidFill>
                <a:latin typeface="Times New Roman"/>
                <a:ea typeface="黑体" panose="02010609060101010101" pitchFamily="49" charset="-122"/>
              </a:rPr>
              <a:t>：若</a:t>
            </a:r>
            <a:r>
              <a:rPr lang="en-US" altLang="zh-CN" sz="2000" dirty="0">
                <a:solidFill>
                  <a:srgbClr val="000000"/>
                </a:solidFill>
                <a:latin typeface="Times New Roman"/>
                <a:ea typeface="黑体" panose="02010609060101010101" pitchFamily="49" charset="-122"/>
              </a:rPr>
              <a:t>M=N</a:t>
            </a:r>
            <a:r>
              <a:rPr lang="zh-CN" altLang="en-US" sz="2000" dirty="0">
                <a:solidFill>
                  <a:srgbClr val="000000"/>
                </a:solidFill>
                <a:latin typeface="Times New Roman"/>
                <a:ea typeface="黑体" panose="02010609060101010101" pitchFamily="49" charset="-122"/>
              </a:rPr>
              <a:t>，则没有操作。</a:t>
            </a:r>
            <a:endParaRPr lang="en-US" altLang="zh-CN" sz="2000" dirty="0">
              <a:solidFill>
                <a:srgbClr val="000000"/>
              </a:solidFill>
              <a:latin typeface="Times New Roman"/>
              <a:ea typeface="黑体" panose="02010609060101010101" pitchFamily="49" charset="-122"/>
            </a:endParaRPr>
          </a:p>
          <a:p>
            <a:pPr eaLnBrk="0" fontAlgn="base" hangingPunct="0">
              <a:lnSpc>
                <a:spcPct val="200000"/>
              </a:lnSpc>
              <a:spcBef>
                <a:spcPct val="0"/>
              </a:spcBef>
              <a:spcAft>
                <a:spcPct val="0"/>
              </a:spcAft>
            </a:pPr>
            <a:r>
              <a:rPr lang="zh-CN" altLang="en-US" sz="2000" dirty="0">
                <a:solidFill>
                  <a:srgbClr val="000000"/>
                </a:solidFill>
                <a:highlight>
                  <a:srgbClr val="FFFF00"/>
                </a:highlight>
                <a:latin typeface="Times New Roman"/>
                <a:ea typeface="黑体" panose="02010609060101010101" pitchFamily="49" charset="-122"/>
              </a:rPr>
              <a:t>第三步</a:t>
            </a:r>
            <a:r>
              <a:rPr lang="zh-CN" altLang="en-US" sz="2000" dirty="0">
                <a:solidFill>
                  <a:srgbClr val="000000"/>
                </a:solidFill>
                <a:latin typeface="Times New Roman"/>
                <a:ea typeface="黑体" panose="02010609060101010101" pitchFamily="49" charset="-122"/>
              </a:rPr>
              <a:t>：若</a:t>
            </a:r>
            <a:r>
              <a:rPr lang="en-US" altLang="zh-CN" sz="2000" dirty="0">
                <a:solidFill>
                  <a:srgbClr val="000000"/>
                </a:solidFill>
                <a:latin typeface="Times New Roman"/>
                <a:ea typeface="黑体" panose="02010609060101010101" pitchFamily="49" charset="-122"/>
              </a:rPr>
              <a:t>M</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，并且码率</a:t>
            </a:r>
            <a:r>
              <a:rPr lang="en-US" altLang="zh-CN" sz="2000" dirty="0">
                <a:solidFill>
                  <a:srgbClr val="000000"/>
                </a:solidFill>
                <a:latin typeface="Times New Roman"/>
                <a:ea typeface="黑体" panose="02010609060101010101" pitchFamily="49" charset="-122"/>
              </a:rPr>
              <a:t>K/M</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7/16</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a:t>
            </a:r>
            <a:r>
              <a:rPr lang="zh-CN" altLang="en-US" sz="2000" dirty="0">
                <a:solidFill>
                  <a:srgbClr val="000000"/>
                </a:solidFill>
                <a:latin typeface="Times New Roman"/>
                <a:ea typeface="黑体" panose="02010609060101010101" pitchFamily="49" charset="-122"/>
              </a:rPr>
              <a:t>使用打孔方式。即从第</a:t>
            </a:r>
            <a:r>
              <a:rPr lang="en-US" altLang="zh-CN" sz="2000" dirty="0">
                <a:solidFill>
                  <a:srgbClr val="000000"/>
                </a:solidFill>
                <a:latin typeface="Times New Roman"/>
                <a:ea typeface="黑体" panose="02010609060101010101" pitchFamily="49" charset="-122"/>
              </a:rPr>
              <a:t>N-M+1</a:t>
            </a:r>
            <a:r>
              <a:rPr lang="zh-CN" altLang="en-US" sz="2000" dirty="0">
                <a:solidFill>
                  <a:srgbClr val="000000"/>
                </a:solidFill>
                <a:latin typeface="Times New Roman"/>
                <a:ea typeface="黑体" panose="02010609060101010101" pitchFamily="49" charset="-122"/>
              </a:rPr>
              <a:t>个比特开始选取，直到最后一个比特。</a:t>
            </a:r>
            <a:endParaRPr lang="en-US" altLang="zh-CN" sz="2000" dirty="0">
              <a:solidFill>
                <a:srgbClr val="000000"/>
              </a:solidFill>
              <a:latin typeface="Times New Roman"/>
              <a:ea typeface="黑体" panose="02010609060101010101" pitchFamily="49" charset="-122"/>
            </a:endParaRPr>
          </a:p>
        </p:txBody>
      </p:sp>
      <p:pic>
        <p:nvPicPr>
          <p:cNvPr id="3" name="图片 2"/>
          <p:cNvPicPr>
            <a:picLocks noChangeAspect="1"/>
          </p:cNvPicPr>
          <p:nvPr/>
        </p:nvPicPr>
        <p:blipFill>
          <a:blip r:embed="rId2"/>
          <a:stretch>
            <a:fillRect/>
          </a:stretch>
        </p:blipFill>
        <p:spPr>
          <a:xfrm>
            <a:off x="510363" y="4794128"/>
            <a:ext cx="4260628" cy="1978981"/>
          </a:xfrm>
          <a:prstGeom prst="rect">
            <a:avLst/>
          </a:prstGeom>
        </p:spPr>
      </p:pic>
      <p:sp>
        <p:nvSpPr>
          <p:cNvPr id="2" name="文本框 1">
            <a:extLst>
              <a:ext uri="{FF2B5EF4-FFF2-40B4-BE49-F238E27FC236}">
                <a16:creationId xmlns:a16="http://schemas.microsoft.com/office/drawing/2014/main" id="{86DB4682-E3B5-FB7D-EB0C-80D9BCBD5AFE}"/>
              </a:ext>
            </a:extLst>
          </p:cNvPr>
          <p:cNvSpPr txBox="1"/>
          <p:nvPr/>
        </p:nvSpPr>
        <p:spPr>
          <a:xfrm>
            <a:off x="5507665" y="1720914"/>
            <a:ext cx="6430246" cy="3073214"/>
          </a:xfrm>
          <a:prstGeom prst="rect">
            <a:avLst/>
          </a:prstGeom>
          <a:noFill/>
        </p:spPr>
        <p:txBody>
          <a:bodyPr wrap="square">
            <a:spAutoFit/>
          </a:bodyPr>
          <a:lstStyle/>
          <a:p>
            <a:pPr eaLnBrk="0" fontAlgn="base" hangingPunct="0">
              <a:lnSpc>
                <a:spcPct val="200000"/>
              </a:lnSpc>
              <a:spcBef>
                <a:spcPct val="0"/>
              </a:spcBef>
              <a:spcAft>
                <a:spcPct val="0"/>
              </a:spcAft>
            </a:pPr>
            <a:r>
              <a:rPr lang="zh-CN" altLang="en-US" sz="2000" dirty="0">
                <a:solidFill>
                  <a:srgbClr val="000000"/>
                </a:solidFill>
                <a:highlight>
                  <a:srgbClr val="FFFF00"/>
                </a:highlight>
                <a:latin typeface="Times New Roman"/>
                <a:ea typeface="黑体" panose="02010609060101010101" pitchFamily="49" charset="-122"/>
              </a:rPr>
              <a:t>第四步</a:t>
            </a:r>
            <a:r>
              <a:rPr lang="zh-CN" altLang="en-US" sz="2000" dirty="0">
                <a:solidFill>
                  <a:srgbClr val="000000"/>
                </a:solidFill>
                <a:latin typeface="Times New Roman"/>
                <a:ea typeface="黑体" panose="02010609060101010101" pitchFamily="49" charset="-122"/>
              </a:rPr>
              <a:t>：若</a:t>
            </a:r>
            <a:r>
              <a:rPr lang="en-US" altLang="zh-CN" sz="2000" dirty="0">
                <a:solidFill>
                  <a:srgbClr val="000000"/>
                </a:solidFill>
                <a:latin typeface="Times New Roman"/>
                <a:ea typeface="黑体" panose="02010609060101010101" pitchFamily="49" charset="-122"/>
              </a:rPr>
              <a:t>M</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，并且码率</a:t>
            </a:r>
            <a:r>
              <a:rPr lang="en-US" altLang="zh-CN" sz="2000" dirty="0">
                <a:solidFill>
                  <a:srgbClr val="000000"/>
                </a:solidFill>
                <a:latin typeface="Times New Roman"/>
                <a:ea typeface="黑体" panose="02010609060101010101" pitchFamily="49" charset="-122"/>
              </a:rPr>
              <a:t>K/M</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7/16</a:t>
            </a:r>
            <a:r>
              <a:rPr lang="zh-CN" altLang="en-US" sz="2000" dirty="0">
                <a:solidFill>
                  <a:srgbClr val="000000"/>
                </a:solidFill>
                <a:latin typeface="Times New Roman"/>
                <a:ea typeface="黑体" panose="02010609060101010101" pitchFamily="49" charset="-122"/>
              </a:rPr>
              <a:t>），使用缩短方式。即从第一个比特开始选取，直到第</a:t>
            </a:r>
            <a:r>
              <a:rPr lang="en-US" altLang="zh-CN" sz="2000" dirty="0">
                <a:solidFill>
                  <a:srgbClr val="000000"/>
                </a:solidFill>
                <a:latin typeface="Times New Roman"/>
                <a:ea typeface="黑体" panose="02010609060101010101" pitchFamily="49" charset="-122"/>
              </a:rPr>
              <a:t>M</a:t>
            </a:r>
            <a:r>
              <a:rPr lang="zh-CN" altLang="en-US" sz="2000" dirty="0">
                <a:solidFill>
                  <a:srgbClr val="000000"/>
                </a:solidFill>
                <a:latin typeface="Times New Roman"/>
                <a:ea typeface="黑体" panose="02010609060101010101" pitchFamily="49" charset="-122"/>
              </a:rPr>
              <a:t>个比特。</a:t>
            </a:r>
            <a:endParaRPr lang="en-US" altLang="zh-CN" sz="2000" dirty="0">
              <a:solidFill>
                <a:srgbClr val="000000"/>
              </a:solidFill>
              <a:latin typeface="Times New Roman"/>
              <a:ea typeface="黑体" panose="02010609060101010101" pitchFamily="49" charset="-122"/>
            </a:endParaRPr>
          </a:p>
          <a:p>
            <a:pPr eaLnBrk="0" fontAlgn="base" hangingPunct="0">
              <a:lnSpc>
                <a:spcPct val="200000"/>
              </a:lnSpc>
              <a:spcBef>
                <a:spcPct val="0"/>
              </a:spcBef>
              <a:spcAft>
                <a:spcPct val="0"/>
              </a:spcAft>
            </a:pPr>
            <a:r>
              <a:rPr lang="zh-CN" altLang="en-US" sz="2000" dirty="0">
                <a:solidFill>
                  <a:srgbClr val="000000"/>
                </a:solidFill>
                <a:highlight>
                  <a:srgbClr val="FFFF00"/>
                </a:highlight>
                <a:latin typeface="Times New Roman"/>
                <a:ea typeface="黑体" panose="02010609060101010101" pitchFamily="49" charset="-122"/>
              </a:rPr>
              <a:t>第五步</a:t>
            </a:r>
            <a:r>
              <a:rPr lang="zh-CN" altLang="en-US" sz="2000" dirty="0">
                <a:solidFill>
                  <a:srgbClr val="000000"/>
                </a:solidFill>
                <a:latin typeface="Times New Roman"/>
                <a:ea typeface="黑体" panose="02010609060101010101" pitchFamily="49" charset="-122"/>
              </a:rPr>
              <a:t>：若</a:t>
            </a:r>
            <a:r>
              <a:rPr lang="en-US" altLang="zh-CN" sz="2000" dirty="0">
                <a:solidFill>
                  <a:srgbClr val="000000"/>
                </a:solidFill>
                <a:latin typeface="Times New Roman"/>
                <a:ea typeface="黑体" panose="02010609060101010101" pitchFamily="49" charset="-122"/>
              </a:rPr>
              <a:t>M</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，则使用重复方式。除去要取出</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比特之外，还需要取第一个到第</a:t>
            </a:r>
            <a:r>
              <a:rPr lang="en-US" altLang="zh-CN" sz="2000" dirty="0">
                <a:solidFill>
                  <a:srgbClr val="000000"/>
                </a:solidFill>
                <a:latin typeface="Times New Roman"/>
                <a:ea typeface="黑体" panose="02010609060101010101" pitchFamily="49" charset="-122"/>
              </a:rPr>
              <a:t>mod[(M-N),N]</a:t>
            </a:r>
            <a:r>
              <a:rPr lang="zh-CN" altLang="en-US" sz="2000" dirty="0">
                <a:solidFill>
                  <a:srgbClr val="000000"/>
                </a:solidFill>
                <a:latin typeface="Times New Roman"/>
                <a:ea typeface="黑体" panose="02010609060101010101" pitchFamily="49" charset="-122"/>
              </a:rPr>
              <a:t>个比特（对</a:t>
            </a:r>
            <a:r>
              <a:rPr lang="en-US" altLang="zh-CN" sz="2000" dirty="0">
                <a:solidFill>
                  <a:srgbClr val="000000"/>
                </a:solidFill>
                <a:latin typeface="Times New Roman"/>
                <a:ea typeface="黑体" panose="02010609060101010101" pitchFamily="49" charset="-122"/>
              </a:rPr>
              <a:t>M-N</a:t>
            </a:r>
            <a:r>
              <a:rPr lang="zh-CN" altLang="en-US" sz="2000" dirty="0">
                <a:solidFill>
                  <a:srgbClr val="000000"/>
                </a:solidFill>
                <a:latin typeface="Times New Roman"/>
                <a:ea typeface="黑体" panose="02010609060101010101" pitchFamily="49" charset="-122"/>
              </a:rPr>
              <a:t>取</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的模）。</a:t>
            </a:r>
            <a:endParaRPr lang="en-US" altLang="zh-CN" sz="2000" dirty="0">
              <a:solidFill>
                <a:srgbClr val="000000"/>
              </a:solidFill>
              <a:latin typeface="Times New Roman"/>
              <a:ea typeface="黑体" panose="02010609060101010101" pitchFamily="49" charset="-122"/>
            </a:endParaRPr>
          </a:p>
        </p:txBody>
      </p:sp>
      <p:pic>
        <p:nvPicPr>
          <p:cNvPr id="6" name="图片 5">
            <a:extLst>
              <a:ext uri="{FF2B5EF4-FFF2-40B4-BE49-F238E27FC236}">
                <a16:creationId xmlns:a16="http://schemas.microsoft.com/office/drawing/2014/main" id="{797FEC03-3595-F0D2-21AF-9E740841B4E4}"/>
              </a:ext>
            </a:extLst>
          </p:cNvPr>
          <p:cNvPicPr>
            <a:picLocks noChangeAspect="1"/>
          </p:cNvPicPr>
          <p:nvPr/>
        </p:nvPicPr>
        <p:blipFill>
          <a:blip r:embed="rId2"/>
          <a:stretch>
            <a:fillRect/>
          </a:stretch>
        </p:blipFill>
        <p:spPr>
          <a:xfrm>
            <a:off x="7160967" y="4372478"/>
            <a:ext cx="4260628" cy="1978981"/>
          </a:xfrm>
          <a:prstGeom prst="rect">
            <a:avLst/>
          </a:prstGeom>
        </p:spPr>
      </p:pic>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629386" y="152468"/>
            <a:ext cx="3886098" cy="685800"/>
          </a:xfrm>
        </p:spPr>
        <p:txBody>
          <a:bodyPr/>
          <a:lstStyle/>
          <a:p>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码的</a:t>
            </a:r>
            <a:r>
              <a:rPr kumimoji="0" lang="zh-CN" altLang="en-US" sz="2400" b="1" kern="0" dirty="0">
                <a:solidFill>
                  <a:srgbClr val="000000"/>
                </a:solidFill>
                <a:latin typeface="Arial" panose="020B0604020202020204" pitchFamily="34" charset="0"/>
                <a:ea typeface="宋体" panose="02010600030101010101" pitchFamily="2" charset="-122"/>
                <a:cs typeface="+mn-cs"/>
              </a:rPr>
              <a:t>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后交织</a:t>
            </a:r>
            <a:endParaRPr lang="zh-CN" altLang="en-US" sz="2400" dirty="0">
              <a:sym typeface="+mn-ea"/>
            </a:endParaRPr>
          </a:p>
        </p:txBody>
      </p:sp>
      <p:sp>
        <p:nvSpPr>
          <p:cNvPr id="6" name="文本框 5"/>
          <p:cNvSpPr txBox="1"/>
          <p:nvPr/>
        </p:nvSpPr>
        <p:spPr>
          <a:xfrm>
            <a:off x="1714615" y="762001"/>
            <a:ext cx="8762770" cy="3713517"/>
          </a:xfrm>
          <a:prstGeom prst="rect">
            <a:avLst/>
          </a:prstGeom>
          <a:noFill/>
        </p:spPr>
        <p:txBody>
          <a:bodyPr wrap="square">
            <a:spAutoFit/>
          </a:bodyPr>
          <a:lstStyle/>
          <a:p>
            <a:pPr eaLnBrk="0" fontAlgn="base" hangingPunct="0">
              <a:lnSpc>
                <a:spcPct val="150000"/>
              </a:lnSpc>
              <a:spcBef>
                <a:spcPct val="0"/>
              </a:spcBef>
              <a:spcAft>
                <a:spcPct val="0"/>
              </a:spcAft>
            </a:pPr>
            <a:r>
              <a:rPr lang="zh-CN" altLang="en-US" sz="2000" dirty="0">
                <a:solidFill>
                  <a:srgbClr val="000000"/>
                </a:solidFill>
                <a:latin typeface="Times New Roman"/>
                <a:ea typeface="黑体" panose="02010609060101010101" pitchFamily="49" charset="-122"/>
              </a:rPr>
              <a:t>        交织是指将信息块中的比特顺序打乱，使前后比特之间尽可能减少关联性。有助于对抗突发干扰。本部分讲述后交织（交织规模较大），对时延影响较大。</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zh-CN" altLang="en-US" sz="2000" dirty="0">
                <a:solidFill>
                  <a:srgbClr val="000000"/>
                </a:solidFill>
                <a:latin typeface="Times New Roman"/>
                <a:ea typeface="黑体" panose="02010609060101010101" pitchFamily="49" charset="-122"/>
              </a:rPr>
              <a:t>一、等腰直角三角形交织</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zh-CN" altLang="en-US" sz="2000" dirty="0">
                <a:solidFill>
                  <a:srgbClr val="000000"/>
                </a:solidFill>
                <a:latin typeface="Times New Roman"/>
                <a:ea typeface="黑体" panose="02010609060101010101" pitchFamily="49" charset="-122"/>
              </a:rPr>
              <a:t>   设直角边长</a:t>
            </a:r>
            <a:r>
              <a:rPr lang="en-US" altLang="zh-CN" sz="2000" dirty="0">
                <a:solidFill>
                  <a:srgbClr val="000000"/>
                </a:solidFill>
                <a:latin typeface="Times New Roman"/>
                <a:ea typeface="黑体" panose="02010609060101010101" pitchFamily="49" charset="-122"/>
              </a:rPr>
              <a:t>P</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3GPP</a:t>
            </a:r>
            <a:r>
              <a:rPr lang="zh-CN" altLang="en-US" sz="2000" dirty="0">
                <a:solidFill>
                  <a:srgbClr val="000000"/>
                </a:solidFill>
                <a:latin typeface="Times New Roman"/>
                <a:ea typeface="黑体" panose="02010609060101010101" pitchFamily="49" charset="-122"/>
              </a:rPr>
              <a:t>规定交织器最大</a:t>
            </a:r>
            <a:r>
              <a:rPr lang="en-US" altLang="zh-CN" sz="2000" dirty="0">
                <a:solidFill>
                  <a:srgbClr val="000000"/>
                </a:solidFill>
                <a:latin typeface="Times New Roman"/>
                <a:ea typeface="黑体" panose="02010609060101010101" pitchFamily="49" charset="-122"/>
              </a:rPr>
              <a:t>8192bit</a:t>
            </a:r>
            <a:r>
              <a:rPr lang="zh-CN" altLang="en-US" sz="2000" dirty="0">
                <a:solidFill>
                  <a:srgbClr val="000000"/>
                </a:solidFill>
                <a:latin typeface="Times New Roman"/>
                <a:ea typeface="黑体" panose="02010609060101010101" pitchFamily="49" charset="-122"/>
              </a:rPr>
              <a:t>，即</a:t>
            </a:r>
            <a:r>
              <a:rPr lang="en-US" altLang="zh-CN" sz="2000" dirty="0">
                <a:solidFill>
                  <a:srgbClr val="000000"/>
                </a:solidFill>
                <a:latin typeface="Times New Roman"/>
                <a:ea typeface="黑体" panose="02010609060101010101" pitchFamily="49" charset="-122"/>
              </a:rPr>
              <a:t>P×P/2 </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8192</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P</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128</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M</a:t>
            </a:r>
            <a:r>
              <a:rPr lang="zh-CN" altLang="en-US" sz="2000" dirty="0">
                <a:solidFill>
                  <a:srgbClr val="000000"/>
                </a:solidFill>
                <a:latin typeface="Times New Roman"/>
                <a:ea typeface="黑体" panose="02010609060101010101" pitchFamily="49" charset="-122"/>
              </a:rPr>
              <a:t>为速率匹配后的比特数，边长</a:t>
            </a:r>
            <a:r>
              <a:rPr lang="en-US" altLang="zh-CN" sz="2000" dirty="0">
                <a:solidFill>
                  <a:srgbClr val="000000"/>
                </a:solidFill>
                <a:latin typeface="Times New Roman"/>
                <a:ea typeface="黑体" panose="02010609060101010101" pitchFamily="49" charset="-122"/>
              </a:rPr>
              <a:t>P</a:t>
            </a:r>
            <a:r>
              <a:rPr lang="zh-CN" altLang="en-US" sz="2000" dirty="0">
                <a:solidFill>
                  <a:srgbClr val="000000"/>
                </a:solidFill>
                <a:latin typeface="Times New Roman"/>
                <a:ea typeface="黑体" panose="02010609060101010101" pitchFamily="49" charset="-122"/>
              </a:rPr>
              <a:t>满足</a:t>
            </a:r>
            <a:r>
              <a:rPr lang="en-US" altLang="zh-CN" sz="2000" dirty="0">
                <a:solidFill>
                  <a:srgbClr val="000000"/>
                </a:solidFill>
                <a:latin typeface="Times New Roman"/>
                <a:ea typeface="黑体" panose="02010609060101010101" pitchFamily="49" charset="-122"/>
              </a:rPr>
              <a:t>P×</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P+1</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M</a:t>
            </a:r>
            <a:r>
              <a:rPr lang="zh-CN" altLang="en-US" sz="2000" dirty="0">
                <a:solidFill>
                  <a:srgbClr val="000000"/>
                </a:solidFill>
                <a:latin typeface="Times New Roman"/>
                <a:ea typeface="黑体" panose="02010609060101010101" pitchFamily="49" charset="-122"/>
              </a:rPr>
              <a:t>。需按行写入，按列读出。如果</a:t>
            </a:r>
            <a:r>
              <a:rPr lang="en-US" altLang="zh-CN" sz="2000" dirty="0">
                <a:solidFill>
                  <a:srgbClr val="000000"/>
                </a:solidFill>
                <a:latin typeface="Times New Roman"/>
                <a:ea typeface="黑体" panose="02010609060101010101" pitchFamily="49" charset="-122"/>
              </a:rPr>
              <a:t>P×</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P+1</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M</a:t>
            </a:r>
            <a:r>
              <a:rPr lang="zh-CN" altLang="en-US" sz="2000" dirty="0">
                <a:solidFill>
                  <a:srgbClr val="000000"/>
                </a:solidFill>
                <a:latin typeface="Times New Roman"/>
                <a:ea typeface="黑体" panose="02010609060101010101" pitchFamily="49" charset="-122"/>
              </a:rPr>
              <a:t>，需要在最后添加哑元（</a:t>
            </a:r>
            <a:r>
              <a:rPr lang="en-US" altLang="zh-CN" sz="2000" dirty="0">
                <a:solidFill>
                  <a:srgbClr val="000000"/>
                </a:solidFill>
                <a:latin typeface="Times New Roman"/>
                <a:ea typeface="黑体" panose="02010609060101010101" pitchFamily="49" charset="-122"/>
              </a:rPr>
              <a:t>NULL</a:t>
            </a:r>
            <a:r>
              <a:rPr lang="zh-CN" altLang="en-US" sz="2000" dirty="0">
                <a:solidFill>
                  <a:srgbClr val="000000"/>
                </a:solidFill>
                <a:latin typeface="Times New Roman"/>
                <a:ea typeface="黑体" panose="02010609060101010101" pitchFamily="49" charset="-122"/>
              </a:rPr>
              <a:t>）</a:t>
            </a:r>
            <a:r>
              <a:rPr lang="en-US" altLang="zh-CN" sz="2000" dirty="0">
                <a:solidFill>
                  <a:srgbClr val="000000"/>
                </a:solidFill>
                <a:latin typeface="Times New Roman"/>
                <a:ea typeface="黑体" panose="02010609060101010101" pitchFamily="49" charset="-122"/>
              </a:rPr>
              <a:t>,</a:t>
            </a:r>
            <a:r>
              <a:rPr lang="zh-CN" altLang="en-US" sz="2000" dirty="0">
                <a:solidFill>
                  <a:srgbClr val="000000"/>
                </a:solidFill>
                <a:latin typeface="Times New Roman"/>
                <a:ea typeface="黑体" panose="02010609060101010101" pitchFamily="49" charset="-122"/>
              </a:rPr>
              <a:t>读出时碰到</a:t>
            </a:r>
            <a:r>
              <a:rPr lang="en-US" altLang="zh-CN" sz="2000" dirty="0">
                <a:solidFill>
                  <a:srgbClr val="000000"/>
                </a:solidFill>
                <a:latin typeface="Times New Roman"/>
                <a:ea typeface="黑体" panose="02010609060101010101" pitchFamily="49" charset="-122"/>
              </a:rPr>
              <a:t>NULL</a:t>
            </a:r>
            <a:r>
              <a:rPr lang="zh-CN" altLang="en-US" sz="2000" dirty="0">
                <a:solidFill>
                  <a:srgbClr val="000000"/>
                </a:solidFill>
                <a:latin typeface="Times New Roman"/>
                <a:ea typeface="黑体" panose="02010609060101010101" pitchFamily="49" charset="-122"/>
              </a:rPr>
              <a:t>则丢弃。</a:t>
            </a:r>
          </a:p>
        </p:txBody>
      </p:sp>
      <p:pic>
        <p:nvPicPr>
          <p:cNvPr id="7" name="图片 6"/>
          <p:cNvPicPr>
            <a:picLocks noChangeAspect="1"/>
          </p:cNvPicPr>
          <p:nvPr/>
        </p:nvPicPr>
        <p:blipFill>
          <a:blip r:embed="rId2"/>
          <a:stretch>
            <a:fillRect/>
          </a:stretch>
        </p:blipFill>
        <p:spPr>
          <a:xfrm>
            <a:off x="3276674" y="4038584"/>
            <a:ext cx="6374198" cy="2590732"/>
          </a:xfrm>
          <a:prstGeom prst="rect">
            <a:avLst/>
          </a:prstGeom>
        </p:spPr>
      </p:pic>
      <p:sp>
        <p:nvSpPr>
          <p:cNvPr id="8" name="文本框 7"/>
          <p:cNvSpPr txBox="1"/>
          <p:nvPr/>
        </p:nvSpPr>
        <p:spPr>
          <a:xfrm flipH="1">
            <a:off x="6888460" y="3990180"/>
            <a:ext cx="45719" cy="276999"/>
          </a:xfrm>
          <a:prstGeom prst="rect">
            <a:avLst/>
          </a:prstGeom>
        </p:spPr>
        <p:style>
          <a:lnRef idx="3">
            <a:schemeClr val="lt1"/>
          </a:lnRef>
          <a:fillRef idx="1">
            <a:schemeClr val="accent3"/>
          </a:fillRef>
          <a:effectRef idx="1">
            <a:schemeClr val="accent3"/>
          </a:effectRef>
          <a:fontRef idx="minor">
            <a:schemeClr val="lt1"/>
          </a:fontRef>
        </p:style>
        <p:txBody>
          <a:bodyPr wrap="square" rtlCol="0" anchor="t">
            <a:spAutoFit/>
          </a:bodyPr>
          <a:lstStyle/>
          <a:p>
            <a:pPr eaLnBrk="0" fontAlgn="base" hangingPunct="0">
              <a:spcBef>
                <a:spcPct val="0"/>
              </a:spcBef>
              <a:spcAft>
                <a:spcPct val="0"/>
              </a:spcAft>
            </a:pPr>
            <a:r>
              <a:rPr lang="zh-CN" altLang="en-US" sz="1200" b="1" dirty="0">
                <a:solidFill>
                  <a:srgbClr val="FFFFFF">
                    <a:lumMod val="65000"/>
                  </a:srgbClr>
                </a:solidFill>
                <a:latin typeface="黑体" panose="02010609060101010101" pitchFamily="49" charset="-122"/>
                <a:ea typeface="黑体" panose="02010609060101010101" pitchFamily="49" charset="-122"/>
                <a:sym typeface="+mn-ea"/>
              </a:rPr>
              <a:t>列</a:t>
            </a: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629386" y="164583"/>
            <a:ext cx="3886098" cy="685800"/>
          </a:xfrm>
        </p:spPr>
        <p:txBody>
          <a:bodyPr/>
          <a:lstStyle/>
          <a:p>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后交织</a:t>
            </a:r>
            <a:endParaRPr lang="zh-CN" altLang="en-US" sz="2400" dirty="0">
              <a:sym typeface="+mn-ea"/>
            </a:endParaRPr>
          </a:p>
        </p:txBody>
      </p:sp>
      <p:sp>
        <p:nvSpPr>
          <p:cNvPr id="6" name="文本框 5"/>
          <p:cNvSpPr txBox="1"/>
          <p:nvPr/>
        </p:nvSpPr>
        <p:spPr>
          <a:xfrm>
            <a:off x="1714615" y="762000"/>
            <a:ext cx="8762770" cy="1866858"/>
          </a:xfrm>
          <a:prstGeom prst="rect">
            <a:avLst/>
          </a:prstGeom>
          <a:noFill/>
        </p:spPr>
        <p:txBody>
          <a:bodyPr wrap="square">
            <a:spAutoFit/>
          </a:bodyPr>
          <a:lstStyle/>
          <a:p>
            <a:pPr eaLnBrk="0" fontAlgn="base" hangingPunct="0">
              <a:lnSpc>
                <a:spcPct val="150000"/>
              </a:lnSpc>
              <a:spcBef>
                <a:spcPct val="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    </a:t>
            </a:r>
            <a:r>
              <a:rPr lang="zh-CN" altLang="en-US" sz="2000" dirty="0">
                <a:solidFill>
                  <a:srgbClr val="000000"/>
                </a:solidFill>
                <a:latin typeface="Times New Roman"/>
                <a:ea typeface="黑体" panose="02010609060101010101" pitchFamily="49" charset="-122"/>
              </a:rPr>
              <a:t>等腰三角形交织器重要性质：</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en-US" altLang="zh-CN" sz="2000" dirty="0">
                <a:solidFill>
                  <a:srgbClr val="000000"/>
                </a:solidFill>
                <a:latin typeface="黑体"/>
                <a:ea typeface="黑体"/>
              </a:rPr>
              <a:t>·</a:t>
            </a:r>
            <a:r>
              <a:rPr lang="zh-CN" altLang="en-US" sz="2000" dirty="0">
                <a:solidFill>
                  <a:srgbClr val="000000"/>
                </a:solidFill>
                <a:latin typeface="Times New Roman"/>
                <a:ea typeface="黑体" panose="02010609060101010101" pitchFamily="49" charset="-122"/>
              </a:rPr>
              <a:t>交织之前连续排列的数据，在交织之后它们的距离变成</a:t>
            </a:r>
            <a:r>
              <a:rPr lang="en-US" altLang="zh-CN" sz="2000" dirty="0">
                <a:solidFill>
                  <a:srgbClr val="000000"/>
                </a:solidFill>
                <a:latin typeface="Times New Roman"/>
                <a:ea typeface="黑体" panose="02010609060101010101" pitchFamily="49" charset="-122"/>
              </a:rPr>
              <a:t>P,P-1,P-2,P-3…</a:t>
            </a:r>
            <a:r>
              <a:rPr lang="zh-CN" altLang="en-US" sz="2000" dirty="0">
                <a:solidFill>
                  <a:srgbClr val="000000"/>
                </a:solidFill>
                <a:latin typeface="Times New Roman"/>
                <a:ea typeface="黑体" panose="02010609060101010101" pitchFamily="49" charset="-122"/>
              </a:rPr>
              <a:t>它们之间的距离不再相等。</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en-US" altLang="zh-CN" sz="2000" dirty="0">
                <a:solidFill>
                  <a:srgbClr val="000000"/>
                </a:solidFill>
                <a:latin typeface="黑体"/>
                <a:ea typeface="黑体"/>
              </a:rPr>
              <a:t>·</a:t>
            </a:r>
            <a:r>
              <a:rPr lang="zh-CN" altLang="en-US" sz="2000" dirty="0">
                <a:solidFill>
                  <a:srgbClr val="000000"/>
                </a:solidFill>
                <a:latin typeface="Times New Roman"/>
                <a:ea typeface="黑体" panose="02010609060101010101" pitchFamily="49" charset="-122"/>
              </a:rPr>
              <a:t>每一列的长度不同，从而使得每列的转置模式都不同。</a:t>
            </a:r>
          </a:p>
        </p:txBody>
      </p:sp>
      <p:pic>
        <p:nvPicPr>
          <p:cNvPr id="3" name="图片 2"/>
          <p:cNvPicPr>
            <a:picLocks noChangeAspect="1"/>
          </p:cNvPicPr>
          <p:nvPr/>
        </p:nvPicPr>
        <p:blipFill>
          <a:blip r:embed="rId2"/>
          <a:stretch>
            <a:fillRect/>
          </a:stretch>
        </p:blipFill>
        <p:spPr>
          <a:xfrm>
            <a:off x="3733862" y="2628859"/>
            <a:ext cx="5105266" cy="3933647"/>
          </a:xfrm>
          <a:prstGeom prst="rect">
            <a:avLst/>
          </a:prstGeom>
        </p:spPr>
      </p:pic>
      <p:sp>
        <p:nvSpPr>
          <p:cNvPr id="5" name="文本框 4"/>
          <p:cNvSpPr txBox="1"/>
          <p:nvPr/>
        </p:nvSpPr>
        <p:spPr>
          <a:xfrm>
            <a:off x="5181624" y="6508751"/>
            <a:ext cx="2514534" cy="369332"/>
          </a:xfrm>
          <a:prstGeom prst="rect">
            <a:avLst/>
          </a:prstGeom>
          <a:noFill/>
        </p:spPr>
        <p:txBody>
          <a:bodyPr wrap="square" rtlCol="0" anchor="t">
            <a:spAutoFit/>
          </a:bodyPr>
          <a:lstStyle/>
          <a:p>
            <a:pPr eaLnBrk="0" fontAlgn="base" hangingPunct="0">
              <a:spcBef>
                <a:spcPct val="0"/>
              </a:spcBef>
              <a:spcAft>
                <a:spcPct val="0"/>
              </a:spcAft>
            </a:pPr>
            <a:r>
              <a:rPr lang="zh-CN" altLang="en-US" b="1" dirty="0">
                <a:solidFill>
                  <a:srgbClr val="3333CC"/>
                </a:solidFill>
                <a:latin typeface="黑体" panose="02010609060101010101" pitchFamily="49" charset="-122"/>
                <a:ea typeface="黑体" panose="02010609060101010101" pitchFamily="49" charset="-122"/>
                <a:sym typeface="+mn-ea"/>
              </a:rPr>
              <a:t>等腰三角形交织器性能</a:t>
            </a: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591215" y="152486"/>
            <a:ext cx="3886098" cy="685800"/>
          </a:xfrm>
        </p:spPr>
        <p:txBody>
          <a:bodyPr/>
          <a:lstStyle/>
          <a:p>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后交织</a:t>
            </a:r>
            <a:endParaRPr lang="zh-CN" altLang="en-US" sz="2400" dirty="0">
              <a:sym typeface="+mn-ea"/>
            </a:endParaRPr>
          </a:p>
        </p:txBody>
      </p:sp>
      <mc:AlternateContent xmlns:mc="http://schemas.openxmlformats.org/markup-compatibility/2006" xmlns:a14="http://schemas.microsoft.com/office/drawing/2010/main">
        <mc:Choice Requires="a14">
          <p:sp>
            <p:nvSpPr>
              <p:cNvPr id="6" name="文本框 5"/>
              <p:cNvSpPr txBox="1"/>
              <p:nvPr/>
            </p:nvSpPr>
            <p:spPr>
              <a:xfrm>
                <a:off x="1714615" y="762001"/>
                <a:ext cx="8762770" cy="2790187"/>
              </a:xfrm>
              <a:prstGeom prst="rect">
                <a:avLst/>
              </a:prstGeom>
              <a:noFill/>
            </p:spPr>
            <p:txBody>
              <a:bodyPr wrap="square">
                <a:spAutoFit/>
              </a:bodyPr>
              <a:lstStyle/>
              <a:p>
                <a:pPr eaLnBrk="0" fontAlgn="base" hangingPunct="0">
                  <a:lnSpc>
                    <a:spcPct val="150000"/>
                  </a:lnSpc>
                  <a:spcBef>
                    <a:spcPct val="0"/>
                  </a:spcBef>
                  <a:spcAft>
                    <a:spcPct val="0"/>
                  </a:spcAft>
                </a:pPr>
                <a:r>
                  <a:rPr lang="zh-CN" altLang="en-US" sz="2000" dirty="0">
                    <a:solidFill>
                      <a:srgbClr val="000000"/>
                    </a:solidFill>
                    <a:latin typeface="Times New Roman"/>
                    <a:ea typeface="黑体" panose="02010609060101010101" pitchFamily="49" charset="-122"/>
                  </a:rPr>
                  <a:t>二、双矩形交织</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如图所示双矩形交织（并行矩形交织）中，首先将待交织的</a:t>
                </a:r>
                <a:r>
                  <a:rPr lang="en-US" altLang="zh-CN" sz="2000" dirty="0">
                    <a:solidFill>
                      <a:srgbClr val="000000"/>
                    </a:solidFill>
                    <a:latin typeface="Times New Roman"/>
                    <a:ea typeface="黑体" panose="02010609060101010101" pitchFamily="49" charset="-122"/>
                  </a:rPr>
                  <a:t>M bit</a:t>
                </a:r>
                <a:r>
                  <a:rPr lang="zh-CN" altLang="en-US" sz="2000" dirty="0">
                    <a:solidFill>
                      <a:srgbClr val="000000"/>
                    </a:solidFill>
                    <a:latin typeface="Times New Roman"/>
                    <a:ea typeface="黑体" panose="02010609060101010101" pitchFamily="49" charset="-122"/>
                  </a:rPr>
                  <a:t>数据分成两个部分：</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𝑀</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=1+</m:t>
                    </m:r>
                    <m:r>
                      <m:rPr>
                        <m:sty m:val="p"/>
                      </m:rPr>
                      <a:rPr lang="en-US" altLang="zh-CN" sz="2000" i="1">
                        <a:solidFill>
                          <a:srgbClr val="000000"/>
                        </a:solidFill>
                        <a:latin typeface="Cambria Math" panose="02040503050406030204" pitchFamily="18" charset="0"/>
                      </a:rPr>
                      <m:t>cei</m:t>
                    </m:r>
                    <m:r>
                      <a:rPr lang="zh-CN" altLang="en-US" sz="2000" i="1">
                        <a:solidFill>
                          <a:srgbClr val="000000"/>
                        </a:solidFill>
                        <a:latin typeface="Cambria Math" panose="02040503050406030204" pitchFamily="18" charset="0"/>
                      </a:rPr>
                      <m:t>𝑙</m:t>
                    </m:r>
                    <m:d>
                      <m:dPr>
                        <m:ctrlPr>
                          <a:rPr lang="zh-CN" altLang="en-US" sz="2000" i="1">
                            <a:solidFill>
                              <a:srgbClr val="000000"/>
                            </a:solidFill>
                            <a:latin typeface="Cambria Math" panose="02040503050406030204" pitchFamily="18" charset="0"/>
                          </a:rPr>
                        </m:ctrlPr>
                      </m:dPr>
                      <m:e>
                        <m:f>
                          <m:fPr>
                            <m:type m:val="lin"/>
                            <m:ctrlPr>
                              <a:rPr lang="zh-CN" altLang="en-US" sz="2000" i="1">
                                <a:solidFill>
                                  <a:srgbClr val="000000"/>
                                </a:solidFill>
                                <a:latin typeface="Cambria Math" panose="02040503050406030204" pitchFamily="18" charset="0"/>
                              </a:rPr>
                            </m:ctrlPr>
                          </m:fPr>
                          <m:num>
                            <m:r>
                              <a:rPr lang="en-US" altLang="zh-CN" sz="2000" i="1">
                                <a:solidFill>
                                  <a:srgbClr val="000000"/>
                                </a:solidFill>
                                <a:latin typeface="Cambria Math" panose="02040503050406030204" pitchFamily="18" charset="0"/>
                              </a:rPr>
                              <m:t>𝑀</m:t>
                            </m:r>
                          </m:num>
                          <m:den>
                            <m:r>
                              <a:rPr lang="zh-CN" altLang="en-US" sz="2000" i="1">
                                <a:solidFill>
                                  <a:srgbClr val="000000"/>
                                </a:solidFill>
                                <a:latin typeface="Cambria Math" panose="02040503050406030204" pitchFamily="18" charset="0"/>
                              </a:rPr>
                              <m:t>2</m:t>
                            </m:r>
                          </m:den>
                        </m:f>
                      </m:e>
                    </m:d>
                    <m:r>
                      <a:rPr lang="zh-CN" altLang="en-US" sz="2000" i="1">
                        <a:solidFill>
                          <a:srgbClr val="000000"/>
                        </a:solidFill>
                        <a:latin typeface="Cambria Math" panose="02040503050406030204" pitchFamily="18" charset="0"/>
                      </a:rPr>
                      <m:t>𝑏</m:t>
                    </m:r>
                    <m:r>
                      <m:rPr>
                        <m:sty m:val="p"/>
                      </m:rPr>
                      <a:rPr lang="en-US" altLang="zh-CN" sz="2000" i="1">
                        <a:solidFill>
                          <a:srgbClr val="000000"/>
                        </a:solidFill>
                        <a:latin typeface="Cambria Math" panose="02040503050406030204" pitchFamily="18" charset="0"/>
                      </a:rPr>
                      <m:t>i</m:t>
                    </m:r>
                    <m:r>
                      <a:rPr lang="zh-CN" altLang="en-US" sz="2000" i="1">
                        <a:solidFill>
                          <a:srgbClr val="000000"/>
                        </a:solidFill>
                        <a:latin typeface="Cambria Math" panose="02040503050406030204" pitchFamily="18" charset="0"/>
                      </a:rPr>
                      <m:t>𝑡</m:t>
                    </m:r>
                  </m:oMath>
                </a14:m>
                <a:r>
                  <a:rPr lang="zh-CN" altLang="en-US" sz="2000" dirty="0">
                    <a:solidFill>
                      <a:srgbClr val="000000"/>
                    </a:solidFill>
                    <a:latin typeface="Times New Roman"/>
                    <a:ea typeface="黑体" panose="02010609060101010101" pitchFamily="49" charset="-122"/>
                  </a:rPr>
                  <a:t>和</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𝑀</m:t>
                        </m:r>
                      </m:e>
                      <m:sub>
                        <m:r>
                          <a:rPr lang="en-US" altLang="zh-CN" sz="2000" i="1">
                            <a:solidFill>
                              <a:srgbClr val="000000"/>
                            </a:solidFill>
                            <a:latin typeface="Cambria Math" panose="02040503050406030204" pitchFamily="18" charset="0"/>
                          </a:rPr>
                          <m:t>2</m:t>
                        </m:r>
                      </m:sub>
                    </m:sSub>
                    <m:r>
                      <a:rPr lang="en-US" altLang="zh-CN"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𝑀</m:t>
                    </m:r>
                  </m:oMath>
                </a14:m>
                <a:r>
                  <a:rPr lang="en-US" altLang="zh-CN" sz="2000" dirty="0">
                    <a:solidFill>
                      <a:srgbClr val="000000"/>
                    </a:solidFill>
                    <a:latin typeface="Times New Roman"/>
                    <a:ea typeface="黑体" panose="02010609060101010101" pitchFamily="49" charset="-122"/>
                  </a:rPr>
                  <a:t>-</a:t>
                </a:r>
                <a:r>
                  <a:rPr lang="zh-CN" altLang="en-US" sz="2000" dirty="0">
                    <a:solidFill>
                      <a:srgbClr val="000000"/>
                    </a:solidFill>
                    <a:latin typeface="Times New Roman"/>
                    <a:ea typeface="宋体" panose="02010600030101010101" pitchFamily="2" charset="-122"/>
                  </a:rPr>
                  <a:t> </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𝑀</m:t>
                        </m:r>
                      </m:e>
                      <m:sub>
                        <m:r>
                          <a:rPr lang="zh-CN" altLang="en-US" sz="2000" i="1">
                            <a:solidFill>
                              <a:srgbClr val="000000"/>
                            </a:solidFill>
                            <a:latin typeface="Cambria Math" panose="02040503050406030204" pitchFamily="18" charset="0"/>
                          </a:rPr>
                          <m:t>1</m:t>
                        </m:r>
                      </m:sub>
                    </m:sSub>
                  </m:oMath>
                </a14:m>
                <a:r>
                  <a:rPr lang="en-US" altLang="zh-CN" sz="2000" dirty="0">
                    <a:solidFill>
                      <a:srgbClr val="000000"/>
                    </a:solidFill>
                    <a:latin typeface="Times New Roman"/>
                    <a:ea typeface="黑体" panose="02010609060101010101" pitchFamily="49" charset="-122"/>
                  </a:rPr>
                  <a:t> bit</a:t>
                </a:r>
                <a:r>
                  <a:rPr lang="zh-CN" altLang="en-US" sz="2000" dirty="0">
                    <a:solidFill>
                      <a:srgbClr val="000000"/>
                    </a:solidFill>
                    <a:latin typeface="Times New Roman"/>
                    <a:ea typeface="黑体" panose="02010609060101010101" pitchFamily="49" charset="-122"/>
                  </a:rPr>
                  <a:t>。其次，把</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𝑀</m:t>
                        </m:r>
                      </m:e>
                      <m:sub>
                        <m:r>
                          <a:rPr lang="zh-CN" altLang="en-US" sz="2000" i="1">
                            <a:solidFill>
                              <a:srgbClr val="000000"/>
                            </a:solidFill>
                            <a:latin typeface="Cambria Math" panose="02040503050406030204" pitchFamily="18" charset="0"/>
                          </a:rPr>
                          <m:t>1</m:t>
                        </m:r>
                      </m:sub>
                    </m:sSub>
                  </m:oMath>
                </a14:m>
                <a:r>
                  <a:rPr lang="en-US" altLang="zh-CN" sz="2000" dirty="0">
                    <a:solidFill>
                      <a:srgbClr val="000000"/>
                    </a:solidFill>
                    <a:latin typeface="Times New Roman"/>
                    <a:ea typeface="黑体" panose="02010609060101010101" pitchFamily="49" charset="-122"/>
                  </a:rPr>
                  <a:t> bit</a:t>
                </a:r>
                <a:r>
                  <a:rPr lang="zh-CN" altLang="en-US" sz="2000" dirty="0">
                    <a:solidFill>
                      <a:srgbClr val="000000"/>
                    </a:solidFill>
                    <a:latin typeface="Times New Roman"/>
                    <a:ea typeface="黑体" panose="02010609060101010101" pitchFamily="49" charset="-122"/>
                  </a:rPr>
                  <a:t>按行写入深度为</a:t>
                </a:r>
                <a:r>
                  <a:rPr lang="en-US" altLang="zh-CN" sz="2000" dirty="0">
                    <a:solidFill>
                      <a:srgbClr val="000000"/>
                    </a:solidFill>
                    <a:latin typeface="Times New Roman"/>
                    <a:ea typeface="黑体" panose="02010609060101010101" pitchFamily="49" charset="-122"/>
                  </a:rPr>
                  <a:t>5</a:t>
                </a:r>
                <a:r>
                  <a:rPr lang="zh-CN" altLang="en-US" sz="2000" dirty="0">
                    <a:solidFill>
                      <a:srgbClr val="000000"/>
                    </a:solidFill>
                    <a:latin typeface="Times New Roman"/>
                    <a:ea typeface="黑体" panose="02010609060101010101" pitchFamily="49" charset="-122"/>
                  </a:rPr>
                  <a:t>的矩形交织器；把</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𝑀</m:t>
                        </m:r>
                      </m:e>
                      <m:sub>
                        <m:r>
                          <a:rPr lang="en-US" altLang="zh-CN" sz="2000" i="1">
                            <a:solidFill>
                              <a:srgbClr val="000000"/>
                            </a:solidFill>
                            <a:latin typeface="Cambria Math" panose="02040503050406030204" pitchFamily="18" charset="0"/>
                          </a:rPr>
                          <m:t>2</m:t>
                        </m:r>
                      </m:sub>
                    </m:sSub>
                  </m:oMath>
                </a14:m>
                <a:r>
                  <a:rPr lang="en-US" altLang="zh-CN" sz="2000" dirty="0">
                    <a:solidFill>
                      <a:srgbClr val="000000"/>
                    </a:solidFill>
                    <a:latin typeface="Times New Roman"/>
                    <a:ea typeface="黑体" panose="02010609060101010101" pitchFamily="49" charset="-122"/>
                  </a:rPr>
                  <a:t> bit</a:t>
                </a:r>
                <a:r>
                  <a:rPr lang="zh-CN" altLang="en-US" sz="2000" dirty="0">
                    <a:solidFill>
                      <a:srgbClr val="000000"/>
                    </a:solidFill>
                    <a:latin typeface="Times New Roman"/>
                    <a:ea typeface="黑体" panose="02010609060101010101" pitchFamily="49" charset="-122"/>
                  </a:rPr>
                  <a:t>按行写入深度为</a:t>
                </a:r>
                <a:r>
                  <a:rPr lang="en-US" altLang="zh-CN" sz="2000" dirty="0">
                    <a:solidFill>
                      <a:srgbClr val="000000"/>
                    </a:solidFill>
                    <a:latin typeface="Times New Roman"/>
                    <a:ea typeface="黑体" panose="02010609060101010101" pitchFamily="49" charset="-122"/>
                  </a:rPr>
                  <a:t>11</a:t>
                </a:r>
                <a:r>
                  <a:rPr lang="zh-CN" altLang="en-US" sz="2000" dirty="0">
                    <a:solidFill>
                      <a:srgbClr val="000000"/>
                    </a:solidFill>
                    <a:latin typeface="Times New Roman"/>
                    <a:ea typeface="黑体" panose="02010609060101010101" pitchFamily="49" charset="-122"/>
                  </a:rPr>
                  <a:t>的矩形交织器；必要时，填入</a:t>
                </a:r>
                <a:r>
                  <a:rPr lang="en-US" altLang="zh-CN" sz="2000" dirty="0">
                    <a:solidFill>
                      <a:srgbClr val="000000"/>
                    </a:solidFill>
                    <a:latin typeface="Times New Roman"/>
                    <a:ea typeface="黑体" panose="02010609060101010101" pitchFamily="49" charset="-122"/>
                  </a:rPr>
                  <a:t>NULL</a:t>
                </a:r>
                <a:r>
                  <a:rPr lang="zh-CN" altLang="en-US" sz="2000" dirty="0">
                    <a:solidFill>
                      <a:srgbClr val="000000"/>
                    </a:solidFill>
                    <a:latin typeface="Times New Roman"/>
                    <a:ea typeface="黑体" panose="02010609060101010101" pitchFamily="49" charset="-122"/>
                  </a:rPr>
                  <a:t>。然后，从这两个矩形交织器中按列读出数据。如果有</a:t>
                </a:r>
                <a:r>
                  <a:rPr lang="en-US" altLang="zh-CN" sz="2000" dirty="0">
                    <a:solidFill>
                      <a:srgbClr val="000000"/>
                    </a:solidFill>
                    <a:latin typeface="Times New Roman"/>
                    <a:ea typeface="黑体" panose="02010609060101010101" pitchFamily="49" charset="-122"/>
                  </a:rPr>
                  <a:t>NULL</a:t>
                </a:r>
                <a:r>
                  <a:rPr lang="zh-CN" altLang="en-US" sz="2000" dirty="0">
                    <a:solidFill>
                      <a:srgbClr val="000000"/>
                    </a:solidFill>
                    <a:latin typeface="Times New Roman"/>
                    <a:ea typeface="黑体" panose="02010609060101010101" pitchFamily="49" charset="-122"/>
                  </a:rPr>
                  <a:t>，则丢弃它。最后将这些数据交叠地写入一个</a:t>
                </a:r>
                <a:r>
                  <a:rPr lang="en-US" altLang="zh-CN" sz="2000" dirty="0">
                    <a:solidFill>
                      <a:srgbClr val="000000"/>
                    </a:solidFill>
                    <a:latin typeface="Times New Roman"/>
                    <a:ea typeface="黑体" panose="02010609060101010101" pitchFamily="49" charset="-122"/>
                  </a:rPr>
                  <a:t>M bit</a:t>
                </a:r>
                <a:r>
                  <a:rPr lang="zh-CN" altLang="en-US" sz="2000" dirty="0">
                    <a:solidFill>
                      <a:srgbClr val="000000"/>
                    </a:solidFill>
                    <a:latin typeface="Times New Roman"/>
                    <a:ea typeface="黑体" panose="02010609060101010101" pitchFamily="49" charset="-122"/>
                  </a:rPr>
                  <a:t>的交织器。</a:t>
                </a:r>
                <a:endParaRPr lang="en-US" altLang="zh-CN" sz="2000" dirty="0">
                  <a:solidFill>
                    <a:srgbClr val="000000"/>
                  </a:solidFill>
                  <a:latin typeface="Times New Roman"/>
                  <a:ea typeface="黑体" panose="02010609060101010101" pitchFamily="49"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714615" y="762001"/>
                <a:ext cx="8762770" cy="2790187"/>
              </a:xfrm>
              <a:prstGeom prst="rect">
                <a:avLst/>
              </a:prstGeom>
              <a:blipFill>
                <a:blip r:embed="rId2"/>
                <a:stretch>
                  <a:fillRect l="-695" b="-3493"/>
                </a:stretch>
              </a:blipFill>
            </p:spPr>
            <p:txBody>
              <a:bodyPr/>
              <a:lstStyle/>
              <a:p>
                <a:r>
                  <a:rPr lang="zh-CN" altLang="en-US">
                    <a:noFill/>
                  </a:rPr>
                  <a:t> </a:t>
                </a:r>
              </a:p>
            </p:txBody>
          </p:sp>
        </mc:Fallback>
      </mc:AlternateContent>
      <p:pic>
        <p:nvPicPr>
          <p:cNvPr id="7" name="图片 6"/>
          <p:cNvPicPr>
            <a:picLocks noChangeAspect="1"/>
          </p:cNvPicPr>
          <p:nvPr/>
        </p:nvPicPr>
        <p:blipFill>
          <a:blip r:embed="rId3"/>
          <a:stretch>
            <a:fillRect/>
          </a:stretch>
        </p:blipFill>
        <p:spPr>
          <a:xfrm>
            <a:off x="3962456" y="3451819"/>
            <a:ext cx="4419484" cy="2993517"/>
          </a:xfrm>
          <a:prstGeom prst="rect">
            <a:avLst/>
          </a:prstGeom>
        </p:spPr>
      </p:pic>
      <p:sp>
        <p:nvSpPr>
          <p:cNvPr id="8" name="文本框 7"/>
          <p:cNvSpPr txBox="1"/>
          <p:nvPr/>
        </p:nvSpPr>
        <p:spPr>
          <a:xfrm>
            <a:off x="5333948" y="6445335"/>
            <a:ext cx="2514534" cy="369332"/>
          </a:xfrm>
          <a:prstGeom prst="rect">
            <a:avLst/>
          </a:prstGeom>
          <a:noFill/>
        </p:spPr>
        <p:txBody>
          <a:bodyPr wrap="square" rtlCol="0" anchor="t">
            <a:spAutoFit/>
          </a:bodyPr>
          <a:lstStyle/>
          <a:p>
            <a:pPr eaLnBrk="0" fontAlgn="base" hangingPunct="0">
              <a:spcBef>
                <a:spcPct val="0"/>
              </a:spcBef>
              <a:spcAft>
                <a:spcPct val="0"/>
              </a:spcAft>
            </a:pPr>
            <a:r>
              <a:rPr lang="zh-CN" altLang="en-US" b="1" dirty="0">
                <a:solidFill>
                  <a:srgbClr val="3333CC"/>
                </a:solidFill>
                <a:latin typeface="黑体" panose="02010609060101010101" pitchFamily="49" charset="-122"/>
                <a:ea typeface="黑体" panose="02010609060101010101" pitchFamily="49" charset="-122"/>
                <a:sym typeface="+mn-ea"/>
              </a:rPr>
              <a:t>双矩形交织器示意</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05550" y="142250"/>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解码过程</a:t>
            </a:r>
            <a:endParaRPr lang="zh-CN" altLang="en-US" sz="2400" dirty="0">
              <a:sym typeface="+mn-ea"/>
            </a:endParaRPr>
          </a:p>
        </p:txBody>
      </p:sp>
      <p:sp>
        <p:nvSpPr>
          <p:cNvPr id="5" name="内容占位符 2"/>
          <p:cNvSpPr>
            <a:spLocks noGrp="1"/>
          </p:cNvSpPr>
          <p:nvPr>
            <p:ph idx="1"/>
          </p:nvPr>
        </p:nvSpPr>
        <p:spPr>
          <a:xfrm>
            <a:off x="1981308" y="1371654"/>
            <a:ext cx="8457978" cy="990574"/>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zh-CN" altLang="en-US" sz="2000" dirty="0">
                <a:latin typeface="+mn-ea"/>
              </a:rPr>
              <a:t>    </a:t>
            </a:r>
            <a:r>
              <a:rPr lang="en-US" altLang="zh-CN" sz="2000" dirty="0"/>
              <a:t>Polar</a:t>
            </a:r>
            <a:r>
              <a:rPr lang="zh-CN" altLang="en-US" sz="2000" dirty="0"/>
              <a:t>码解码方式与编码过程一样。即对接收到的信息</a:t>
            </a:r>
            <a:r>
              <a:rPr lang="en-US" altLang="zh-CN" sz="2000" dirty="0"/>
              <a:t>y</a:t>
            </a:r>
            <a:r>
              <a:rPr lang="zh-CN" altLang="en-US" sz="2000" dirty="0"/>
              <a:t>估计成</a:t>
            </a:r>
            <a:r>
              <a:rPr lang="en-US" altLang="zh-CN" sz="2000" dirty="0"/>
              <a:t>c</a:t>
            </a:r>
            <a:r>
              <a:rPr lang="zh-CN" altLang="en-US" sz="2000" dirty="0"/>
              <a:t>，然后对</a:t>
            </a:r>
            <a:r>
              <a:rPr lang="en-US" altLang="zh-CN" sz="2000" dirty="0"/>
              <a:t>c</a:t>
            </a:r>
            <a:r>
              <a:rPr lang="zh-CN" altLang="en-US" sz="2000" dirty="0"/>
              <a:t>进行</a:t>
            </a:r>
            <a:r>
              <a:rPr lang="en-US" altLang="zh-CN" sz="2000" dirty="0"/>
              <a:t>Polar</a:t>
            </a:r>
            <a:r>
              <a:rPr lang="zh-CN" altLang="en-US" sz="2000" dirty="0"/>
              <a:t>码编码即可得到原始的原始的发送信息 </a:t>
            </a:r>
            <a:r>
              <a:rPr lang="en-US" altLang="zh-CN" sz="2000" dirty="0"/>
              <a:t>u</a:t>
            </a:r>
            <a:r>
              <a:rPr lang="zh-CN" altLang="en-US" sz="2000" dirty="0"/>
              <a:t>。</a:t>
            </a:r>
            <a:endParaRPr lang="en-US" altLang="zh-CN" sz="2000" dirty="0"/>
          </a:p>
        </p:txBody>
      </p:sp>
      <mc:AlternateContent xmlns:mc="http://schemas.openxmlformats.org/markup-compatibility/2006" xmlns:a14="http://schemas.microsoft.com/office/drawing/2010/main">
        <mc:Choice Requires="a14">
          <p:sp>
            <p:nvSpPr>
              <p:cNvPr id="8" name="文本框 7"/>
              <p:cNvSpPr txBox="1"/>
              <p:nvPr/>
            </p:nvSpPr>
            <p:spPr>
              <a:xfrm>
                <a:off x="2286100" y="2743218"/>
                <a:ext cx="7848394" cy="286315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eaLnBrk="0" fontAlgn="base" hangingPunct="0">
                  <a:lnSpc>
                    <a:spcPct val="150000"/>
                  </a:lnSpc>
                  <a:defRPr/>
                </a:pPr>
                <a:r>
                  <a:rPr kumimoji="1" lang="zh-CN" altLang="en-US" sz="2000" dirty="0">
                    <a:solidFill>
                      <a:srgbClr val="000000"/>
                    </a:solidFill>
                    <a:latin typeface="Times New Roman"/>
                    <a:ea typeface="黑体" panose="02010609060101010101" pitchFamily="49" charset="-122"/>
                  </a:rPr>
                  <a:t>      由于编码</a:t>
                </a:r>
                <a14:m>
                  <m:oMath xmlns:m="http://schemas.openxmlformats.org/officeDocument/2006/math">
                    <m:r>
                      <a:rPr kumimoji="1" lang="zh-CN" altLang="en-US" sz="2000">
                        <a:solidFill>
                          <a:srgbClr val="000000"/>
                        </a:solidFill>
                        <a:latin typeface="Cambria Math" panose="02040503050406030204" pitchFamily="18" charset="0"/>
                        <a:ea typeface="黑体" panose="02010609060101010101" pitchFamily="49" charset="-122"/>
                      </a:rPr>
                      <m:t>过程：</m:t>
                    </m:r>
                    <m:r>
                      <a:rPr kumimoji="1" lang="en-US" altLang="zh-CN" sz="2000">
                        <a:solidFill>
                          <a:srgbClr val="000000"/>
                        </a:solidFill>
                        <a:latin typeface="Cambria Math" panose="02040503050406030204" pitchFamily="18" charset="0"/>
                        <a:ea typeface="黑体" panose="02010609060101010101" pitchFamily="49" charset="-122"/>
                      </a:rPr>
                      <m:t>  </m:t>
                    </m:r>
                    <m:r>
                      <m:rPr>
                        <m:sty m:val="p"/>
                      </m:rPr>
                      <a:rPr kumimoji="1" lang="en-US" altLang="zh-CN" sz="2000">
                        <a:solidFill>
                          <a:srgbClr val="000000"/>
                        </a:solidFill>
                        <a:latin typeface="Cambria Math" panose="02040503050406030204" pitchFamily="18" charset="0"/>
                        <a:ea typeface="黑体" panose="02010609060101010101" pitchFamily="49" charset="-122"/>
                      </a:rPr>
                      <m:t>x</m:t>
                    </m:r>
                    <m:r>
                      <a:rPr kumimoji="1" lang="zh-CN" altLang="en-US" sz="2000">
                        <a:solidFill>
                          <a:srgbClr val="000000"/>
                        </a:solidFill>
                        <a:latin typeface="Cambria Math" panose="02040503050406030204" pitchFamily="18" charset="0"/>
                        <a:ea typeface="黑体" panose="02010609060101010101" pitchFamily="49" charset="-122"/>
                      </a:rPr>
                      <m:t>=</m:t>
                    </m:r>
                    <m:r>
                      <a:rPr kumimoji="1" lang="zh-CN" altLang="en-US" sz="2000">
                        <a:solidFill>
                          <a:srgbClr val="000000"/>
                        </a:solidFill>
                        <a:latin typeface="Cambria Math" panose="02040503050406030204" pitchFamily="18" charset="0"/>
                        <a:ea typeface="黑体" panose="02010609060101010101" pitchFamily="49" charset="-122"/>
                      </a:rPr>
                      <m:t>𝑢</m:t>
                    </m:r>
                    <m:r>
                      <a:rPr kumimoji="1" lang="en-US" altLang="zh-CN" sz="2000">
                        <a:solidFill>
                          <a:srgbClr val="000000"/>
                        </a:solidFill>
                        <a:latin typeface="Cambria Math" panose="02040503050406030204" pitchFamily="18" charset="0"/>
                        <a:ea typeface="黑体" panose="02010609060101010101" pitchFamily="49" charset="-122"/>
                      </a:rPr>
                      <m:t>·</m:t>
                    </m:r>
                    <m:r>
                      <a:rPr kumimoji="1" lang="zh-CN" altLang="en-US" sz="2000">
                        <a:solidFill>
                          <a:srgbClr val="000000"/>
                        </a:solidFill>
                        <a:latin typeface="Cambria Math" panose="02040503050406030204" pitchFamily="18" charset="0"/>
                        <a:ea typeface="黑体" panose="02010609060101010101" pitchFamily="49" charset="-122"/>
                      </a:rPr>
                      <m:t>𝐺</m:t>
                    </m:r>
                  </m:oMath>
                </a14:m>
                <a:endParaRPr kumimoji="1"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r>
                  <a:rPr kumimoji="1" lang="zh-CN" altLang="en-US" sz="2000" dirty="0">
                    <a:solidFill>
                      <a:srgbClr val="000000"/>
                    </a:solidFill>
                    <a:latin typeface="Times New Roman"/>
                    <a:ea typeface="黑体" panose="02010609060101010101" pitchFamily="49" charset="-122"/>
                  </a:rPr>
                  <a:t>   等式两边同时右乘</a:t>
                </a:r>
                <a14:m>
                  <m:oMath xmlns:m="http://schemas.openxmlformats.org/officeDocument/2006/math">
                    <m:sSup>
                      <m:sSupPr>
                        <m:ctrlPr>
                          <a:rPr kumimoji="1" lang="zh-CN" altLang="en-US" sz="2000" i="1">
                            <a:solidFill>
                              <a:srgbClr val="000000"/>
                            </a:solidFill>
                            <a:latin typeface="Cambria Math" panose="02040503050406030204" pitchFamily="18" charset="0"/>
                          </a:rPr>
                        </m:ctrlPr>
                      </m:sSupPr>
                      <m:e>
                        <m:r>
                          <a:rPr kumimoji="1" lang="zh-CN" altLang="en-US" sz="2000" i="1">
                            <a:solidFill>
                              <a:srgbClr val="000000"/>
                            </a:solidFill>
                            <a:latin typeface="Cambria Math" panose="02040503050406030204" pitchFamily="18" charset="0"/>
                          </a:rPr>
                          <m:t>𝐺</m:t>
                        </m:r>
                      </m:e>
                      <m:sup>
                        <m:r>
                          <a:rPr kumimoji="1" lang="zh-CN" altLang="en-US" sz="2000" i="1">
                            <a:solidFill>
                              <a:srgbClr val="000000"/>
                            </a:solidFill>
                            <a:latin typeface="Cambria Math" panose="02040503050406030204" pitchFamily="18" charset="0"/>
                          </a:rPr>
                          <m:t>−1</m:t>
                        </m:r>
                      </m:sup>
                    </m:sSup>
                    <m:r>
                      <a:rPr kumimoji="1" lang="zh-CN" altLang="en-US" sz="2000" i="1">
                        <a:solidFill>
                          <a:srgbClr val="000000"/>
                        </a:solidFill>
                        <a:latin typeface="Cambria Math" panose="02040503050406030204" pitchFamily="18" charset="0"/>
                      </a:rPr>
                      <m:t>得到：</m:t>
                    </m:r>
                    <m:r>
                      <a:rPr kumimoji="1" lang="en-US" altLang="zh-CN" sz="2000" i="1">
                        <a:solidFill>
                          <a:srgbClr val="000000"/>
                        </a:solidFill>
                        <a:latin typeface="Cambria Math" panose="02040503050406030204" pitchFamily="18" charset="0"/>
                      </a:rPr>
                      <m:t>  </m:t>
                    </m:r>
                    <m:r>
                      <a:rPr kumimoji="1" lang="zh-CN" altLang="en-US" sz="2000" i="1" dirty="0">
                        <a:solidFill>
                          <a:srgbClr val="000000"/>
                        </a:solidFill>
                        <a:latin typeface="Cambria Math" panose="02040503050406030204" pitchFamily="18" charset="0"/>
                      </a:rPr>
                      <m:t>𝑢</m:t>
                    </m:r>
                    <m:r>
                      <a:rPr kumimoji="1" lang="zh-CN" altLang="en-US" sz="2000" dirty="0">
                        <a:solidFill>
                          <a:srgbClr val="000000"/>
                        </a:solidFill>
                        <a:latin typeface="Cambria Math" panose="02040503050406030204" pitchFamily="18" charset="0"/>
                      </a:rPr>
                      <m:t>=</m:t>
                    </m:r>
                    <m:r>
                      <a:rPr kumimoji="1" lang="en-US" altLang="zh-CN" sz="2000" i="1" dirty="0">
                        <a:solidFill>
                          <a:srgbClr val="000000"/>
                        </a:solidFill>
                        <a:latin typeface="Cambria Math" panose="02040503050406030204" pitchFamily="18" charset="0"/>
                      </a:rPr>
                      <m:t>𝑥</m:t>
                    </m:r>
                    <m:sSup>
                      <m:sSupPr>
                        <m:ctrlPr>
                          <a:rPr kumimoji="1" lang="zh-CN" altLang="en-US" sz="2000" i="1" dirty="0">
                            <a:solidFill>
                              <a:srgbClr val="000000"/>
                            </a:solidFill>
                            <a:latin typeface="Cambria Math" panose="02040503050406030204" pitchFamily="18" charset="0"/>
                          </a:rPr>
                        </m:ctrlPr>
                      </m:sSupPr>
                      <m:e>
                        <m:r>
                          <a:rPr kumimoji="1" lang="en-US" altLang="zh-CN" sz="2000" i="1" dirty="0">
                            <a:solidFill>
                              <a:srgbClr val="000000"/>
                            </a:solidFill>
                            <a:latin typeface="Cambria Math" panose="02040503050406030204" pitchFamily="18" charset="0"/>
                          </a:rPr>
                          <m:t>·</m:t>
                        </m:r>
                        <m:r>
                          <a:rPr kumimoji="1" lang="zh-CN" altLang="en-US" sz="2000" i="1" dirty="0">
                            <a:solidFill>
                              <a:srgbClr val="000000"/>
                            </a:solidFill>
                            <a:latin typeface="Cambria Math" panose="02040503050406030204" pitchFamily="18" charset="0"/>
                          </a:rPr>
                          <m:t>𝐺</m:t>
                        </m:r>
                      </m:e>
                      <m:sup>
                        <m:r>
                          <a:rPr kumimoji="1" lang="zh-CN" altLang="en-US" sz="2000" dirty="0">
                            <a:solidFill>
                              <a:srgbClr val="000000"/>
                            </a:solidFill>
                            <a:latin typeface="Cambria Math" panose="02040503050406030204" pitchFamily="18" charset="0"/>
                          </a:rPr>
                          <m:t>−1</m:t>
                        </m:r>
                      </m:sup>
                    </m:sSup>
                  </m:oMath>
                </a14:m>
                <a:r>
                  <a:rPr kumimoji="1" lang="zh-CN" altLang="en-US" sz="2000" dirty="0">
                    <a:solidFill>
                      <a:srgbClr val="000000"/>
                    </a:solidFill>
                    <a:latin typeface="Times New Roman"/>
                    <a:ea typeface="黑体" panose="02010609060101010101" pitchFamily="49" charset="-122"/>
                  </a:rPr>
                  <a:t>  （ </a:t>
                </a:r>
                <a14:m>
                  <m:oMath xmlns:m="http://schemas.openxmlformats.org/officeDocument/2006/math">
                    <m:sSup>
                      <m:sSupPr>
                        <m:ctrlPr>
                          <a:rPr kumimoji="1" lang="zh-CN" altLang="en-US" sz="2000" i="1" dirty="0">
                            <a:solidFill>
                              <a:srgbClr val="000000"/>
                            </a:solidFill>
                            <a:latin typeface="Cambria Math" panose="02040503050406030204" pitchFamily="18" charset="0"/>
                          </a:rPr>
                        </m:ctrlPr>
                      </m:sSupPr>
                      <m:e>
                        <m:r>
                          <a:rPr kumimoji="1" lang="zh-CN" altLang="en-US" sz="2000" i="1" dirty="0">
                            <a:solidFill>
                              <a:srgbClr val="000000"/>
                            </a:solidFill>
                            <a:latin typeface="Cambria Math" panose="02040503050406030204" pitchFamily="18" charset="0"/>
                          </a:rPr>
                          <m:t>𝐺</m:t>
                        </m:r>
                      </m:e>
                      <m:sup>
                        <m:r>
                          <a:rPr kumimoji="1" lang="zh-CN" altLang="en-US" sz="2000" dirty="0">
                            <a:solidFill>
                              <a:srgbClr val="000000"/>
                            </a:solidFill>
                            <a:latin typeface="Cambria Math" panose="02040503050406030204" pitchFamily="18" charset="0"/>
                          </a:rPr>
                          <m:t>−1</m:t>
                        </m:r>
                      </m:sup>
                    </m:sSup>
                  </m:oMath>
                </a14:m>
                <a:r>
                  <a:rPr kumimoji="1" lang="zh-CN" altLang="en-US" sz="2000" dirty="0">
                    <a:solidFill>
                      <a:srgbClr val="000000"/>
                    </a:solidFill>
                    <a:latin typeface="Times New Roman"/>
                    <a:ea typeface="黑体" panose="02010609060101010101" pitchFamily="49" charset="-122"/>
                  </a:rPr>
                  <a:t>是</a:t>
                </a:r>
                <a14:m>
                  <m:oMath xmlns:m="http://schemas.openxmlformats.org/officeDocument/2006/math">
                    <m:r>
                      <a:rPr kumimoji="1" lang="zh-CN" altLang="en-US" sz="2000" i="1">
                        <a:solidFill>
                          <a:srgbClr val="000000"/>
                        </a:solidFill>
                        <a:latin typeface="Cambria Math" panose="02040503050406030204" pitchFamily="18" charset="0"/>
                      </a:rPr>
                      <m:t>𝐺</m:t>
                    </m:r>
                  </m:oMath>
                </a14:m>
                <a:r>
                  <a:rPr kumimoji="1" lang="zh-CN" altLang="en-US" sz="2000" dirty="0">
                    <a:solidFill>
                      <a:srgbClr val="000000"/>
                    </a:solidFill>
                    <a:latin typeface="Times New Roman"/>
                    <a:ea typeface="黑体" panose="02010609060101010101" pitchFamily="49" charset="-122"/>
                  </a:rPr>
                  <a:t>的逆矩阵）</a:t>
                </a:r>
                <a:endParaRPr kumimoji="1"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r>
                  <a:rPr kumimoji="1" lang="zh-CN" altLang="en-US" sz="2000" dirty="0">
                    <a:solidFill>
                      <a:srgbClr val="000000"/>
                    </a:solidFill>
                    <a:latin typeface="Times New Roman"/>
                    <a:ea typeface="黑体" panose="02010609060101010101" pitchFamily="49" charset="-122"/>
                  </a:rPr>
                  <a:t>   由于</a:t>
                </a:r>
                <a14:m>
                  <m:oMath xmlns:m="http://schemas.openxmlformats.org/officeDocument/2006/math">
                    <m:sSup>
                      <m:sSupPr>
                        <m:ctrlPr>
                          <a:rPr kumimoji="1" lang="zh-CN" altLang="en-US" sz="2000" i="1" dirty="0">
                            <a:solidFill>
                              <a:srgbClr val="000000"/>
                            </a:solidFill>
                            <a:latin typeface="Cambria Math" panose="02040503050406030204" pitchFamily="18" charset="0"/>
                          </a:rPr>
                        </m:ctrlPr>
                      </m:sSupPr>
                      <m:e>
                        <m:r>
                          <a:rPr kumimoji="1" lang="zh-CN" altLang="en-US" sz="2000" i="1" dirty="0">
                            <a:solidFill>
                              <a:srgbClr val="000000"/>
                            </a:solidFill>
                            <a:latin typeface="Cambria Math" panose="02040503050406030204" pitchFamily="18" charset="0"/>
                          </a:rPr>
                          <m:t>𝐺</m:t>
                        </m:r>
                      </m:e>
                      <m:sup>
                        <m:r>
                          <a:rPr kumimoji="1" lang="zh-CN" altLang="en-US" sz="2000" dirty="0">
                            <a:solidFill>
                              <a:srgbClr val="000000"/>
                            </a:solidFill>
                            <a:latin typeface="Cambria Math" panose="02040503050406030204" pitchFamily="18" charset="0"/>
                          </a:rPr>
                          <m:t>−1</m:t>
                        </m:r>
                      </m:sup>
                    </m:sSup>
                  </m:oMath>
                </a14:m>
                <a:r>
                  <a:rPr kumimoji="1" lang="en-US" altLang="zh-CN" sz="2000" dirty="0">
                    <a:solidFill>
                      <a:srgbClr val="000000"/>
                    </a:solidFill>
                    <a:latin typeface="Times New Roman"/>
                    <a:ea typeface="黑体" panose="02010609060101010101" pitchFamily="49" charset="-122"/>
                  </a:rPr>
                  <a:t>=</a:t>
                </a:r>
                <a14:m>
                  <m:oMath xmlns:m="http://schemas.openxmlformats.org/officeDocument/2006/math">
                    <m:sSup>
                      <m:sSupPr>
                        <m:ctrlPr>
                          <a:rPr kumimoji="1" lang="en-US" altLang="zh-CN" sz="2000" i="1" dirty="0">
                            <a:solidFill>
                              <a:srgbClr val="000000"/>
                            </a:solidFill>
                            <a:latin typeface="Cambria Math" panose="02040503050406030204" pitchFamily="18" charset="0"/>
                          </a:rPr>
                        </m:ctrlPr>
                      </m:sSupPr>
                      <m:e>
                        <m:d>
                          <m:dPr>
                            <m:ctrlPr>
                              <a:rPr kumimoji="1" lang="en-US" altLang="zh-CN" sz="2000" i="1" dirty="0">
                                <a:solidFill>
                                  <a:srgbClr val="000000"/>
                                </a:solidFill>
                                <a:latin typeface="Cambria Math" panose="02040503050406030204" pitchFamily="18" charset="0"/>
                              </a:rPr>
                            </m:ctrlPr>
                          </m:dPr>
                          <m:e>
                            <m:sSup>
                              <m:sSupPr>
                                <m:ctrlPr>
                                  <a:rPr kumimoji="1" lang="en-US" altLang="zh-CN" sz="2000" i="1" dirty="0">
                                    <a:solidFill>
                                      <a:srgbClr val="000000"/>
                                    </a:solidFill>
                                    <a:latin typeface="Cambria Math" panose="02040503050406030204" pitchFamily="18" charset="0"/>
                                  </a:rPr>
                                </m:ctrlPr>
                              </m:sSupPr>
                              <m:e>
                                <m:r>
                                  <a:rPr kumimoji="1" lang="en-US" altLang="zh-CN" sz="2000" i="1" dirty="0">
                                    <a:solidFill>
                                      <a:srgbClr val="000000"/>
                                    </a:solidFill>
                                    <a:latin typeface="Cambria Math" panose="02040503050406030204" pitchFamily="18" charset="0"/>
                                  </a:rPr>
                                  <m:t>𝐹</m:t>
                                </m:r>
                              </m:e>
                              <m:sup>
                                <m:r>
                                  <a:rPr kumimoji="1" lang="en-US" altLang="zh-CN" sz="2000" i="1" dirty="0">
                                    <a:solidFill>
                                      <a:srgbClr val="000000"/>
                                    </a:solidFill>
                                    <a:latin typeface="Cambria Math" panose="02040503050406030204" pitchFamily="18" charset="0"/>
                                  </a:rPr>
                                  <m:t>⊗</m:t>
                                </m:r>
                                <m:r>
                                  <a:rPr kumimoji="1" lang="en-US" altLang="zh-CN" sz="2000" i="1" dirty="0">
                                    <a:solidFill>
                                      <a:srgbClr val="000000"/>
                                    </a:solidFill>
                                    <a:latin typeface="Cambria Math" panose="02040503050406030204" pitchFamily="18" charset="0"/>
                                  </a:rPr>
                                  <m:t>𝑛</m:t>
                                </m:r>
                              </m:sup>
                            </m:sSup>
                          </m:e>
                        </m:d>
                      </m:e>
                      <m:sup>
                        <m:r>
                          <a:rPr kumimoji="1" lang="en-US" altLang="zh-CN" sz="2000" i="1" dirty="0">
                            <a:solidFill>
                              <a:srgbClr val="000000"/>
                            </a:solidFill>
                            <a:latin typeface="Cambria Math" panose="02040503050406030204" pitchFamily="18" charset="0"/>
                          </a:rPr>
                          <m:t>−1</m:t>
                        </m:r>
                      </m:sup>
                    </m:sSup>
                    <m:r>
                      <a:rPr kumimoji="1" lang="en-US" altLang="zh-CN" sz="2000" i="1" dirty="0">
                        <a:solidFill>
                          <a:srgbClr val="000000"/>
                        </a:solidFill>
                        <a:latin typeface="Cambria Math" panose="02040503050406030204" pitchFamily="18" charset="0"/>
                      </a:rPr>
                      <m:t>=</m:t>
                    </m:r>
                    <m:sSup>
                      <m:sSupPr>
                        <m:ctrlPr>
                          <a:rPr kumimoji="1" lang="en-US" altLang="zh-CN" sz="2000" i="1" dirty="0">
                            <a:solidFill>
                              <a:srgbClr val="000000"/>
                            </a:solidFill>
                            <a:latin typeface="Cambria Math" panose="02040503050406030204" pitchFamily="18" charset="0"/>
                          </a:rPr>
                        </m:ctrlPr>
                      </m:sSupPr>
                      <m:e>
                        <m:d>
                          <m:dPr>
                            <m:ctrlPr>
                              <a:rPr kumimoji="1" lang="en-US" altLang="zh-CN" sz="2000" i="1" dirty="0">
                                <a:solidFill>
                                  <a:srgbClr val="000000"/>
                                </a:solidFill>
                                <a:latin typeface="Cambria Math" panose="02040503050406030204" pitchFamily="18" charset="0"/>
                              </a:rPr>
                            </m:ctrlPr>
                          </m:dPr>
                          <m:e>
                            <m:sSup>
                              <m:sSupPr>
                                <m:ctrlPr>
                                  <a:rPr kumimoji="1" lang="en-US" altLang="zh-CN" sz="2000" i="1" dirty="0">
                                    <a:solidFill>
                                      <a:srgbClr val="000000"/>
                                    </a:solidFill>
                                    <a:latin typeface="Cambria Math" panose="02040503050406030204" pitchFamily="18" charset="0"/>
                                  </a:rPr>
                                </m:ctrlPr>
                              </m:sSupPr>
                              <m:e>
                                <m:r>
                                  <a:rPr kumimoji="1" lang="en-US" altLang="zh-CN" sz="2000" i="1" dirty="0">
                                    <a:solidFill>
                                      <a:srgbClr val="000000"/>
                                    </a:solidFill>
                                    <a:latin typeface="Cambria Math" panose="02040503050406030204" pitchFamily="18" charset="0"/>
                                  </a:rPr>
                                  <m:t>𝐹</m:t>
                                </m:r>
                              </m:e>
                              <m:sup>
                                <m:r>
                                  <a:rPr kumimoji="1" lang="en-US" altLang="zh-CN" sz="2000" i="1" dirty="0">
                                    <a:solidFill>
                                      <a:srgbClr val="000000"/>
                                    </a:solidFill>
                                    <a:latin typeface="Cambria Math" panose="02040503050406030204" pitchFamily="18" charset="0"/>
                                  </a:rPr>
                                  <m:t>−1</m:t>
                                </m:r>
                              </m:sup>
                            </m:sSup>
                          </m:e>
                        </m:d>
                      </m:e>
                      <m:sup>
                        <m:r>
                          <a:rPr kumimoji="1" lang="en-US" altLang="zh-CN" sz="2000" i="1" dirty="0">
                            <a:solidFill>
                              <a:srgbClr val="000000"/>
                            </a:solidFill>
                            <a:latin typeface="Cambria Math" panose="02040503050406030204" pitchFamily="18" charset="0"/>
                          </a:rPr>
                          <m:t>⊗</m:t>
                        </m:r>
                        <m:r>
                          <a:rPr kumimoji="1" lang="en-US" altLang="zh-CN" sz="2000" i="1" dirty="0">
                            <a:solidFill>
                              <a:srgbClr val="000000"/>
                            </a:solidFill>
                            <a:latin typeface="Cambria Math" panose="02040503050406030204" pitchFamily="18" charset="0"/>
                          </a:rPr>
                          <m:t>𝑛</m:t>
                        </m:r>
                      </m:sup>
                    </m:sSup>
                    <m:r>
                      <a:rPr kumimoji="1" lang="en-US" altLang="zh-CN" sz="2000" i="1" dirty="0">
                        <a:solidFill>
                          <a:srgbClr val="000000"/>
                        </a:solidFill>
                        <a:latin typeface="Cambria Math" panose="02040503050406030204" pitchFamily="18" charset="0"/>
                      </a:rPr>
                      <m:t>=</m:t>
                    </m:r>
                    <m:r>
                      <a:rPr kumimoji="1" lang="en-US" altLang="zh-CN" sz="2000" i="1" dirty="0">
                        <a:solidFill>
                          <a:srgbClr val="000000"/>
                        </a:solidFill>
                        <a:latin typeface="Cambria Math" panose="02040503050406030204" pitchFamily="18" charset="0"/>
                      </a:rPr>
                      <m:t>𝐺</m:t>
                    </m:r>
                  </m:oMath>
                </a14:m>
                <a:r>
                  <a:rPr kumimoji="1" lang="zh-CN" altLang="en-US" sz="2000" dirty="0">
                    <a:solidFill>
                      <a:srgbClr val="000000"/>
                    </a:solidFill>
                    <a:latin typeface="Times New Roman"/>
                    <a:ea typeface="黑体" panose="02010609060101010101" pitchFamily="49" charset="-122"/>
                  </a:rPr>
                  <a:t>，</a:t>
                </a:r>
                <a:endParaRPr kumimoji="1"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r>
                  <a:rPr kumimoji="1" lang="en-US" altLang="zh-CN" sz="2000" dirty="0">
                    <a:solidFill>
                      <a:srgbClr val="000000"/>
                    </a:solidFill>
                    <a:latin typeface="Times New Roman"/>
                    <a:ea typeface="黑体" panose="02010609060101010101" pitchFamily="49" charset="-122"/>
                  </a:rPr>
                  <a:t>   </a:t>
                </a:r>
                <a:r>
                  <a:rPr kumimoji="1" lang="zh-CN" altLang="en-US" sz="2000" dirty="0">
                    <a:solidFill>
                      <a:srgbClr val="000000"/>
                    </a:solidFill>
                    <a:latin typeface="Times New Roman"/>
                    <a:ea typeface="黑体" panose="02010609060101010101" pitchFamily="49" charset="-122"/>
                  </a:rPr>
                  <a:t>所以，</a:t>
                </a:r>
                <a14:m>
                  <m:oMath xmlns:m="http://schemas.openxmlformats.org/officeDocument/2006/math">
                    <m:r>
                      <a:rPr kumimoji="1" lang="zh-CN" altLang="en-US" sz="2000" i="1" dirty="0">
                        <a:solidFill>
                          <a:srgbClr val="000000"/>
                        </a:solidFill>
                        <a:latin typeface="Cambria Math" panose="02040503050406030204" pitchFamily="18" charset="0"/>
                      </a:rPr>
                      <m:t>𝑢</m:t>
                    </m:r>
                    <m:r>
                      <a:rPr kumimoji="1" lang="zh-CN" altLang="en-US" sz="2000" dirty="0">
                        <a:solidFill>
                          <a:srgbClr val="000000"/>
                        </a:solidFill>
                        <a:latin typeface="Cambria Math" panose="02040503050406030204" pitchFamily="18" charset="0"/>
                      </a:rPr>
                      <m:t>=</m:t>
                    </m:r>
                    <m:r>
                      <a:rPr kumimoji="1" lang="en-US" altLang="zh-CN" sz="2000" i="1" dirty="0">
                        <a:solidFill>
                          <a:srgbClr val="000000"/>
                        </a:solidFill>
                        <a:latin typeface="Cambria Math" panose="02040503050406030204" pitchFamily="18" charset="0"/>
                      </a:rPr>
                      <m:t>𝑥</m:t>
                    </m:r>
                    <m:sSup>
                      <m:sSupPr>
                        <m:ctrlPr>
                          <a:rPr kumimoji="1" lang="zh-CN" altLang="en-US" sz="2000" i="1" dirty="0">
                            <a:solidFill>
                              <a:srgbClr val="000000"/>
                            </a:solidFill>
                            <a:latin typeface="Cambria Math" panose="02040503050406030204" pitchFamily="18" charset="0"/>
                          </a:rPr>
                        </m:ctrlPr>
                      </m:sSupPr>
                      <m:e>
                        <m:r>
                          <a:rPr kumimoji="1" lang="en-US" altLang="zh-CN" sz="2000" i="1" dirty="0">
                            <a:solidFill>
                              <a:srgbClr val="000000"/>
                            </a:solidFill>
                            <a:latin typeface="Cambria Math" panose="02040503050406030204" pitchFamily="18" charset="0"/>
                          </a:rPr>
                          <m:t>·</m:t>
                        </m:r>
                        <m:r>
                          <a:rPr kumimoji="1" lang="zh-CN" altLang="en-US" sz="2000" i="1" dirty="0">
                            <a:solidFill>
                              <a:srgbClr val="000000"/>
                            </a:solidFill>
                            <a:latin typeface="Cambria Math" panose="02040503050406030204" pitchFamily="18" charset="0"/>
                          </a:rPr>
                          <m:t>𝐺</m:t>
                        </m:r>
                      </m:e>
                      <m:sup>
                        <m:r>
                          <a:rPr kumimoji="1" lang="zh-CN" altLang="en-US" sz="2000" dirty="0">
                            <a:solidFill>
                              <a:srgbClr val="000000"/>
                            </a:solidFill>
                            <a:latin typeface="Cambria Math" panose="02040503050406030204" pitchFamily="18" charset="0"/>
                          </a:rPr>
                          <m:t>−1</m:t>
                        </m:r>
                      </m:sup>
                    </m:sSup>
                  </m:oMath>
                </a14:m>
                <a:r>
                  <a:rPr kumimoji="1" lang="en-US" altLang="zh-CN" sz="2000" dirty="0">
                    <a:solidFill>
                      <a:srgbClr val="000000"/>
                    </a:solidFill>
                    <a:latin typeface="Times New Roman"/>
                    <a:ea typeface="黑体" panose="02010609060101010101" pitchFamily="49" charset="-122"/>
                  </a:rPr>
                  <a:t>=x</a:t>
                </a:r>
                <a14:m>
                  <m:oMath xmlns:m="http://schemas.openxmlformats.org/officeDocument/2006/math">
                    <m:sSup>
                      <m:sSupPr>
                        <m:ctrlPr>
                          <a:rPr kumimoji="1" lang="zh-CN" altLang="en-US" sz="2000" i="1" dirty="0">
                            <a:solidFill>
                              <a:srgbClr val="000000"/>
                            </a:solidFill>
                            <a:latin typeface="Cambria Math" panose="02040503050406030204" pitchFamily="18" charset="0"/>
                          </a:rPr>
                        </m:ctrlPr>
                      </m:sSupPr>
                      <m:e>
                        <m:r>
                          <a:rPr kumimoji="1" lang="en-US" altLang="zh-CN" sz="2000" i="1" dirty="0">
                            <a:solidFill>
                              <a:srgbClr val="000000"/>
                            </a:solidFill>
                            <a:latin typeface="Cambria Math" panose="02040503050406030204" pitchFamily="18" charset="0"/>
                          </a:rPr>
                          <m:t>·</m:t>
                        </m:r>
                        <m:r>
                          <a:rPr kumimoji="1" lang="zh-CN" altLang="en-US" sz="2000" i="1" dirty="0">
                            <a:solidFill>
                              <a:srgbClr val="000000"/>
                            </a:solidFill>
                            <a:latin typeface="Cambria Math" panose="02040503050406030204" pitchFamily="18" charset="0"/>
                          </a:rPr>
                          <m:t>𝐺</m:t>
                        </m:r>
                      </m:e>
                      <m:sup/>
                    </m:sSup>
                  </m:oMath>
                </a14:m>
                <a:r>
                  <a:rPr kumimoji="1" lang="zh-CN" altLang="en-US" sz="2000" dirty="0">
                    <a:solidFill>
                      <a:srgbClr val="000000"/>
                    </a:solidFill>
                    <a:latin typeface="Times New Roman"/>
                    <a:ea typeface="黑体" panose="02010609060101010101" pitchFamily="49" charset="-122"/>
                  </a:rPr>
                  <a:t>。</a:t>
                </a:r>
                <a:endParaRPr kumimoji="1" lang="en-US" altLang="zh-CN" sz="2000" dirty="0">
                  <a:solidFill>
                    <a:srgbClr val="000000"/>
                  </a:solidFill>
                  <a:latin typeface="Times New Roman"/>
                  <a:ea typeface="黑体" panose="02010609060101010101" pitchFamily="49" charset="-122"/>
                </a:endParaRPr>
              </a:p>
              <a:p>
                <a:pPr eaLnBrk="0" fontAlgn="base" hangingPunct="0">
                  <a:lnSpc>
                    <a:spcPct val="150000"/>
                  </a:lnSpc>
                  <a:defRPr/>
                </a:pPr>
                <a:r>
                  <a:rPr kumimoji="1" lang="zh-CN" altLang="en-US" sz="2000" dirty="0">
                    <a:solidFill>
                      <a:srgbClr val="000000"/>
                    </a:solidFill>
                    <a:latin typeface="Times New Roman"/>
                    <a:ea typeface="黑体" panose="02010609060101010101" pitchFamily="49" charset="-122"/>
                  </a:rPr>
                  <a:t>   其中</a:t>
                </a:r>
                <a:r>
                  <a:rPr kumimoji="1" lang="en-US" altLang="zh-CN" sz="2000" dirty="0">
                    <a:solidFill>
                      <a:srgbClr val="000000"/>
                    </a:solidFill>
                    <a:latin typeface="Times New Roman"/>
                    <a:ea typeface="黑体" panose="02010609060101010101" pitchFamily="49" charset="-122"/>
                  </a:rPr>
                  <a:t>F</a:t>
                </a:r>
                <a:r>
                  <a:rPr kumimoji="1" lang="zh-CN" altLang="en-US" sz="2000" dirty="0">
                    <a:solidFill>
                      <a:srgbClr val="000000"/>
                    </a:solidFill>
                    <a:latin typeface="Times New Roman"/>
                    <a:ea typeface="黑体" panose="02010609060101010101" pitchFamily="49" charset="-122"/>
                  </a:rPr>
                  <a:t>为</a:t>
                </a:r>
                <a14:m>
                  <m:oMath xmlns:m="http://schemas.openxmlformats.org/officeDocument/2006/math">
                    <m:r>
                      <a:rPr kumimoji="1" lang="zh-CN" altLang="en-US" sz="2000" i="1">
                        <a:solidFill>
                          <a:srgbClr val="000000"/>
                        </a:solidFill>
                        <a:latin typeface="Cambria Math" panose="02040503050406030204" pitchFamily="18" charset="0"/>
                      </a:rPr>
                      <m:t>𝐹</m:t>
                    </m:r>
                    <m:r>
                      <a:rPr kumimoji="1" lang="zh-CN" altLang="en-US" sz="2000" i="1">
                        <a:solidFill>
                          <a:srgbClr val="000000"/>
                        </a:solidFill>
                        <a:latin typeface="Cambria Math" panose="02040503050406030204" pitchFamily="18" charset="0"/>
                      </a:rPr>
                      <m:t>=</m:t>
                    </m:r>
                    <m:d>
                      <m:dPr>
                        <m:begChr m:val="["/>
                        <m:endChr m:val="]"/>
                        <m:ctrlPr>
                          <a:rPr kumimoji="1" lang="zh-CN" altLang="en-US" sz="2000" i="1">
                            <a:solidFill>
                              <a:srgbClr val="000000"/>
                            </a:solidFill>
                            <a:latin typeface="Cambria Math" panose="02040503050406030204" pitchFamily="18" charset="0"/>
                          </a:rPr>
                        </m:ctrlPr>
                      </m:dPr>
                      <m:e>
                        <m:m>
                          <m:mPr>
                            <m:plcHide m:val="on"/>
                            <m:mcs>
                              <m:mc>
                                <m:mcPr>
                                  <m:count m:val="2"/>
                                  <m:mcJc m:val="center"/>
                                </m:mcPr>
                              </m:mc>
                            </m:mcs>
                            <m:ctrlPr>
                              <a:rPr kumimoji="1" lang="zh-CN" altLang="en-US" sz="2000" i="1">
                                <a:solidFill>
                                  <a:srgbClr val="000000"/>
                                </a:solidFill>
                                <a:latin typeface="Cambria Math" panose="02040503050406030204" pitchFamily="18" charset="0"/>
                              </a:rPr>
                            </m:ctrlPr>
                          </m:mPr>
                          <m:mr>
                            <m:e>
                              <m:r>
                                <a:rPr kumimoji="1" lang="zh-CN" altLang="en-US" sz="2000" i="1">
                                  <a:solidFill>
                                    <a:srgbClr val="000000"/>
                                  </a:solidFill>
                                  <a:latin typeface="Cambria Math" panose="02040503050406030204" pitchFamily="18" charset="0"/>
                                </a:rPr>
                                <m:t>1</m:t>
                              </m:r>
                            </m:e>
                            <m:e>
                              <m:r>
                                <a:rPr kumimoji="1" lang="zh-CN" altLang="en-US" sz="2000" i="1">
                                  <a:solidFill>
                                    <a:srgbClr val="000000"/>
                                  </a:solidFill>
                                  <a:latin typeface="Cambria Math" panose="02040503050406030204" pitchFamily="18" charset="0"/>
                                </a:rPr>
                                <m:t>0</m:t>
                              </m:r>
                            </m:e>
                          </m:mr>
                          <m:mr>
                            <m:e>
                              <m:r>
                                <a:rPr kumimoji="1" lang="zh-CN" altLang="en-US" sz="2000" i="1">
                                  <a:solidFill>
                                    <a:srgbClr val="000000"/>
                                  </a:solidFill>
                                  <a:latin typeface="Cambria Math" panose="02040503050406030204" pitchFamily="18" charset="0"/>
                                </a:rPr>
                                <m:t>1</m:t>
                              </m:r>
                            </m:e>
                            <m:e>
                              <m:r>
                                <a:rPr kumimoji="1" lang="zh-CN" altLang="en-US" sz="2000" i="1">
                                  <a:solidFill>
                                    <a:srgbClr val="000000"/>
                                  </a:solidFill>
                                  <a:latin typeface="Cambria Math" panose="02040503050406030204" pitchFamily="18" charset="0"/>
                                </a:rPr>
                                <m:t>1</m:t>
                              </m:r>
                            </m:e>
                          </m:mr>
                        </m:m>
                      </m:e>
                    </m:d>
                    <m:r>
                      <a:rPr kumimoji="1" lang="zh-CN" altLang="en-US" sz="2000" i="1">
                        <a:solidFill>
                          <a:srgbClr val="000000"/>
                        </a:solidFill>
                        <a:latin typeface="Cambria Math" panose="02040503050406030204" pitchFamily="18" charset="0"/>
                      </a:rPr>
                      <m:t>。</m:t>
                    </m:r>
                  </m:oMath>
                </a14:m>
                <a:endParaRPr lang="zh-CN" altLang="en-US" dirty="0">
                  <a:solidFill>
                    <a:srgbClr val="000000"/>
                  </a:solidFill>
                  <a:latin typeface="Times New Roman"/>
                  <a:ea typeface="黑体"/>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2286100" y="2743218"/>
                <a:ext cx="7848394" cy="2863156"/>
              </a:xfrm>
              <a:prstGeom prst="rect">
                <a:avLst/>
              </a:prstGeom>
              <a:blipFill>
                <a:blip r:embed="rId2"/>
                <a:stretch>
                  <a:fillRect/>
                </a:stretch>
              </a:blipFill>
            </p:spPr>
            <p:txBody>
              <a:bodyPr/>
              <a:lstStyle/>
              <a:p>
                <a:r>
                  <a:rPr lang="zh-CN" altLang="en-US">
                    <a:noFill/>
                  </a:rPr>
                  <a:t> </a:t>
                </a:r>
              </a:p>
            </p:txBody>
          </p:sp>
        </mc:Fallback>
      </mc:AlternateContent>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38457" y="15248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解码方法</a:t>
            </a:r>
            <a:endParaRPr lang="zh-CN" altLang="en-US" sz="2400" dirty="0">
              <a:sym typeface="+mn-ea"/>
            </a:endParaRPr>
          </a:p>
        </p:txBody>
      </p:sp>
      <p:sp>
        <p:nvSpPr>
          <p:cNvPr id="5" name="内容占位符 2"/>
          <p:cNvSpPr>
            <a:spLocks noGrp="1"/>
          </p:cNvSpPr>
          <p:nvPr>
            <p:ph idx="1"/>
          </p:nvPr>
        </p:nvSpPr>
        <p:spPr>
          <a:xfrm>
            <a:off x="1981308" y="1371654"/>
            <a:ext cx="8457978" cy="3962206"/>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zh-CN" altLang="en-US" sz="2000" dirty="0">
                <a:latin typeface="+mn-ea"/>
              </a:rPr>
              <a:t>    </a:t>
            </a:r>
            <a:r>
              <a:rPr lang="en-US" altLang="zh-CN" sz="2000" dirty="0"/>
              <a:t>Polar</a:t>
            </a:r>
            <a:r>
              <a:rPr lang="zh-CN" altLang="en-US" sz="2000" dirty="0"/>
              <a:t>码解码经常使用串行消去（</a:t>
            </a:r>
            <a:r>
              <a:rPr lang="en-US" altLang="zh-CN" sz="2000" dirty="0"/>
              <a:t>SC</a:t>
            </a:r>
            <a:r>
              <a:rPr lang="zh-CN" altLang="en-US" sz="2000" dirty="0"/>
              <a:t>）解码方法。</a:t>
            </a:r>
            <a:endParaRPr lang="en-US" altLang="zh-CN" sz="2000" dirty="0"/>
          </a:p>
          <a:p>
            <a:pPr marL="0" indent="0">
              <a:lnSpc>
                <a:spcPct val="150000"/>
              </a:lnSpc>
              <a:spcBef>
                <a:spcPts val="0"/>
              </a:spcBef>
              <a:spcAft>
                <a:spcPts val="0"/>
              </a:spcAft>
              <a:buNone/>
            </a:pPr>
            <a:endParaRPr lang="en-US" altLang="zh-CN" sz="2000" dirty="0"/>
          </a:p>
          <a:p>
            <a:pPr marL="0" indent="0">
              <a:lnSpc>
                <a:spcPct val="150000"/>
              </a:lnSpc>
              <a:spcBef>
                <a:spcPts val="0"/>
              </a:spcBef>
              <a:spcAft>
                <a:spcPts val="0"/>
              </a:spcAft>
              <a:buNone/>
            </a:pPr>
            <a:r>
              <a:rPr lang="zh-CN" altLang="en-US" sz="2000" dirty="0">
                <a:solidFill>
                  <a:srgbClr val="FF0000"/>
                </a:solidFill>
              </a:rPr>
              <a:t>串行消去：</a:t>
            </a:r>
            <a:endParaRPr lang="en-US" altLang="zh-CN" sz="2000" dirty="0">
              <a:solidFill>
                <a:srgbClr val="FF0000"/>
              </a:solidFill>
            </a:endParaRPr>
          </a:p>
          <a:p>
            <a:pPr marL="0" indent="0">
              <a:lnSpc>
                <a:spcPct val="200000"/>
              </a:lnSpc>
              <a:spcBef>
                <a:spcPts val="0"/>
              </a:spcBef>
              <a:spcAft>
                <a:spcPts val="0"/>
              </a:spcAft>
              <a:buNone/>
            </a:pPr>
            <a:r>
              <a:rPr lang="zh-CN" altLang="en-US" sz="2000" dirty="0"/>
              <a:t>①  将比特索引号大的一半（</a:t>
            </a:r>
            <a:r>
              <a:rPr lang="en-US" altLang="zh-CN" sz="2000" dirty="0"/>
              <a:t>N/2</a:t>
            </a:r>
            <a:r>
              <a:rPr lang="zh-CN" altLang="en-US" sz="2000" dirty="0"/>
              <a:t>个数据）当做随机噪声，根据接收到的数据去解码比索引号小的一半（</a:t>
            </a:r>
            <a:r>
              <a:rPr lang="en-US" altLang="zh-CN" sz="2000" dirty="0"/>
              <a:t>N/2</a:t>
            </a:r>
            <a:r>
              <a:rPr lang="zh-CN" altLang="en-US" sz="2000" dirty="0"/>
              <a:t>个数据）；</a:t>
            </a:r>
            <a:endParaRPr lang="en-US" altLang="zh-CN" sz="2000" dirty="0"/>
          </a:p>
          <a:p>
            <a:pPr marL="0" indent="0">
              <a:lnSpc>
                <a:spcPct val="200000"/>
              </a:lnSpc>
              <a:spcBef>
                <a:spcPts val="0"/>
              </a:spcBef>
              <a:spcAft>
                <a:spcPts val="0"/>
              </a:spcAft>
              <a:buNone/>
            </a:pPr>
            <a:r>
              <a:rPr lang="zh-CN" altLang="en-US" sz="2000" dirty="0"/>
              <a:t>②  把解出来的比特索引号小的一半（</a:t>
            </a:r>
            <a:r>
              <a:rPr lang="en-US" altLang="zh-CN" sz="2000" dirty="0"/>
              <a:t>N/2</a:t>
            </a:r>
            <a:r>
              <a:rPr lang="zh-CN" altLang="en-US" sz="2000" dirty="0"/>
              <a:t>个数据）当做已知比特，根据接收到的数据去解码比特索引号大的一半（</a:t>
            </a:r>
            <a:r>
              <a:rPr lang="en-US" altLang="zh-CN" sz="2000" dirty="0"/>
              <a:t>N/2</a:t>
            </a:r>
            <a:r>
              <a:rPr lang="zh-CN" altLang="en-US" sz="2000" dirty="0"/>
              <a:t>个数据）。</a:t>
            </a:r>
            <a:endParaRPr lang="en-US" altLang="zh-CN" sz="2000" dirty="0"/>
          </a:p>
          <a:p>
            <a:pPr marL="0" indent="0">
              <a:lnSpc>
                <a:spcPct val="150000"/>
              </a:lnSpc>
              <a:spcBef>
                <a:spcPts val="0"/>
              </a:spcBef>
              <a:spcAft>
                <a:spcPts val="0"/>
              </a:spcAft>
              <a:buNone/>
            </a:pPr>
            <a:endParaRPr lang="en-US" altLang="zh-CN" sz="2000" dirty="0">
              <a:latin typeface="+mn-ea"/>
            </a:endParaRP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05550" y="15248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解码方法</a:t>
            </a:r>
            <a:endParaRPr lang="zh-CN" altLang="en-US" sz="2400" dirty="0">
              <a:sym typeface="+mn-ea"/>
            </a:endParaRPr>
          </a:p>
        </p:txBody>
      </p:sp>
      <mc:AlternateContent xmlns:mc="http://schemas.openxmlformats.org/markup-compatibility/2006" xmlns:a14="http://schemas.microsoft.com/office/drawing/2010/main">
        <mc:Choice Requires="a14">
          <p:sp>
            <p:nvSpPr>
              <p:cNvPr id="5" name="内容占位符 2"/>
              <p:cNvSpPr>
                <a:spLocks noGrp="1"/>
              </p:cNvSpPr>
              <p:nvPr>
                <p:ph idx="1"/>
              </p:nvPr>
            </p:nvSpPr>
            <p:spPr>
              <a:xfrm>
                <a:off x="1752714" y="998374"/>
                <a:ext cx="8686572" cy="5173754"/>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200000"/>
                  </a:lnSpc>
                  <a:spcBef>
                    <a:spcPts val="0"/>
                  </a:spcBef>
                  <a:spcAft>
                    <a:spcPts val="0"/>
                  </a:spcAft>
                  <a:buNone/>
                </a:pPr>
                <a:r>
                  <a:rPr lang="zh-CN" altLang="en-US" sz="2000" dirty="0">
                    <a:solidFill>
                      <a:srgbClr val="FF0000"/>
                    </a:solidFill>
                  </a:rPr>
                  <a:t>举例：</a:t>
                </a:r>
                <a:r>
                  <a:rPr lang="zh-CN" altLang="en-US" sz="2000" dirty="0">
                    <a:solidFill>
                      <a:schemeClr val="tx1"/>
                    </a:solidFill>
                  </a:rPr>
                  <a:t>假设</a:t>
                </a:r>
                <a:r>
                  <a:rPr lang="zh-CN" altLang="en-US" sz="2000" dirty="0"/>
                  <a:t>从比特到符号的</a:t>
                </a:r>
                <a:r>
                  <a:rPr lang="en-US" altLang="zh-CN" sz="2000" dirty="0"/>
                  <a:t>BPSK</a:t>
                </a:r>
                <a:r>
                  <a:rPr lang="zh-CN" altLang="en-US" sz="2000" dirty="0"/>
                  <a:t>映射规则为</a:t>
                </a:r>
                <a:r>
                  <a:rPr lang="en-US" altLang="zh-CN" sz="2000" dirty="0"/>
                  <a:t>y=2x-1</a:t>
                </a:r>
                <a:r>
                  <a:rPr lang="zh-CN" altLang="en-US" sz="2000" dirty="0"/>
                  <a:t>（比特“</a:t>
                </a:r>
                <a:r>
                  <a:rPr lang="en-US" altLang="zh-CN" sz="2000" dirty="0"/>
                  <a:t>0</a:t>
                </a:r>
                <a:r>
                  <a:rPr lang="zh-CN" altLang="en-US" sz="2000" dirty="0"/>
                  <a:t>”映射为</a:t>
                </a:r>
                <a:endParaRPr lang="en-US" altLang="zh-CN" sz="2000" dirty="0"/>
              </a:p>
              <a:p>
                <a:pPr marL="0" indent="0">
                  <a:lnSpc>
                    <a:spcPct val="200000"/>
                  </a:lnSpc>
                  <a:spcBef>
                    <a:spcPts val="0"/>
                  </a:spcBef>
                  <a:spcAft>
                    <a:spcPts val="0"/>
                  </a:spcAft>
                  <a:buNone/>
                </a:pPr>
                <a:r>
                  <a:rPr lang="zh-CN" altLang="en-US" sz="2000" dirty="0"/>
                  <a:t>“</a:t>
                </a:r>
                <a:r>
                  <a:rPr lang="en-US" altLang="zh-CN" sz="2000" dirty="0"/>
                  <a:t>-1</a:t>
                </a:r>
                <a:r>
                  <a:rPr lang="zh-CN" altLang="en-US" sz="2000" dirty="0"/>
                  <a:t>”，比特为“</a:t>
                </a:r>
                <a:r>
                  <a:rPr lang="en-US" altLang="zh-CN" sz="2000" dirty="0"/>
                  <a:t>1</a:t>
                </a:r>
                <a:r>
                  <a:rPr lang="zh-CN" altLang="en-US" sz="2000" dirty="0"/>
                  <a:t>”映射为“</a:t>
                </a:r>
                <a:r>
                  <a:rPr lang="en-US" altLang="zh-CN" sz="2000" dirty="0"/>
                  <a:t>+1</a:t>
                </a:r>
                <a:r>
                  <a:rPr lang="zh-CN" altLang="en-US" sz="2000" dirty="0"/>
                  <a:t>”），还假设接收到的数据为</a:t>
                </a:r>
                <a14:m>
                  <m:oMath xmlns:m="http://schemas.openxmlformats.org/officeDocument/2006/math">
                    <m:sSub>
                      <m:sSubPr>
                        <m:ctrlPr>
                          <a:rPr lang="zh-CN" altLang="en-US" sz="2000" i="1">
                            <a:solidFill>
                              <a:schemeClr val="tx1"/>
                            </a:solidFill>
                            <a:latin typeface="Cambria Math" panose="02040503050406030204" pitchFamily="18" charset="0"/>
                            <a:ea typeface="黑体" panose="02010609060101010101" pitchFamily="49" charset="-122"/>
                          </a:rPr>
                        </m:ctrlPr>
                      </m:sSubPr>
                      <m:e>
                        <m:r>
                          <m:rPr>
                            <m:sty m:val="p"/>
                          </m:rPr>
                          <a:rPr lang="en-US" altLang="zh-CN" sz="2000" i="1">
                            <a:solidFill>
                              <a:schemeClr val="tx1"/>
                            </a:solidFill>
                            <a:latin typeface="Cambria Math" panose="02040503050406030204" pitchFamily="18" charset="0"/>
                            <a:ea typeface="黑体" panose="02010609060101010101" pitchFamily="49" charset="-122"/>
                          </a:rPr>
                          <m:t>y</m:t>
                        </m:r>
                      </m:e>
                      <m:sub>
                        <m:r>
                          <a:rPr lang="en-US" altLang="zh-CN" sz="2000">
                            <a:solidFill>
                              <a:schemeClr val="tx1"/>
                            </a:solidFill>
                            <a:latin typeface="Cambria Math" panose="02040503050406030204" pitchFamily="18" charset="0"/>
                            <a:ea typeface="黑体" panose="02010609060101010101" pitchFamily="49" charset="-122"/>
                          </a:rPr>
                          <m:t>1</m:t>
                        </m:r>
                      </m:sub>
                    </m:sSub>
                    <m:sSub>
                      <m:sSubPr>
                        <m:ctrlPr>
                          <a:rPr lang="zh-CN" altLang="en-US" sz="2000" i="1">
                            <a:solidFill>
                              <a:schemeClr val="tx1"/>
                            </a:solidFill>
                            <a:latin typeface="Cambria Math" panose="02040503050406030204" pitchFamily="18" charset="0"/>
                            <a:ea typeface="黑体" panose="02010609060101010101" pitchFamily="49" charset="-122"/>
                          </a:rPr>
                        </m:ctrlPr>
                      </m:sSubPr>
                      <m:e>
                        <m:r>
                          <a:rPr lang="en-US" altLang="zh-CN" sz="2000">
                            <a:solidFill>
                              <a:schemeClr val="tx1"/>
                            </a:solidFill>
                            <a:latin typeface="Cambria Math" panose="02040503050406030204" pitchFamily="18" charset="0"/>
                            <a:ea typeface="黑体" panose="02010609060101010101" pitchFamily="49" charset="-122"/>
                          </a:rPr>
                          <m:t>,</m:t>
                        </m:r>
                        <m:r>
                          <m:rPr>
                            <m:sty m:val="p"/>
                          </m:rPr>
                          <a:rPr lang="en-US" altLang="zh-CN" sz="2000" i="1">
                            <a:solidFill>
                              <a:schemeClr val="tx1"/>
                            </a:solidFill>
                            <a:latin typeface="Cambria Math" panose="02040503050406030204" pitchFamily="18" charset="0"/>
                            <a:ea typeface="黑体" panose="02010609060101010101" pitchFamily="49" charset="-122"/>
                          </a:rPr>
                          <m:t>y</m:t>
                        </m:r>
                      </m:e>
                      <m:sub>
                        <m:r>
                          <a:rPr lang="en-US" altLang="zh-CN" sz="2000">
                            <a:solidFill>
                              <a:schemeClr val="tx1"/>
                            </a:solidFill>
                            <a:latin typeface="Cambria Math" panose="02040503050406030204" pitchFamily="18" charset="0"/>
                            <a:ea typeface="黑体" panose="02010609060101010101" pitchFamily="49" charset="-122"/>
                          </a:rPr>
                          <m:t>2</m:t>
                        </m:r>
                      </m:sub>
                    </m:sSub>
                    <m:sSub>
                      <m:sSubPr>
                        <m:ctrlPr>
                          <a:rPr lang="zh-CN" altLang="en-US" sz="2000" i="1">
                            <a:solidFill>
                              <a:schemeClr val="tx1"/>
                            </a:solidFill>
                            <a:latin typeface="Cambria Math" panose="02040503050406030204" pitchFamily="18" charset="0"/>
                            <a:ea typeface="黑体" panose="02010609060101010101" pitchFamily="49" charset="-122"/>
                          </a:rPr>
                        </m:ctrlPr>
                      </m:sSubPr>
                      <m:e>
                        <m:r>
                          <a:rPr lang="en-US" altLang="zh-CN" sz="2000">
                            <a:solidFill>
                              <a:schemeClr val="tx1"/>
                            </a:solidFill>
                            <a:latin typeface="Cambria Math" panose="02040503050406030204" pitchFamily="18" charset="0"/>
                            <a:ea typeface="黑体" panose="02010609060101010101" pitchFamily="49" charset="-122"/>
                          </a:rPr>
                          <m:t>,</m:t>
                        </m:r>
                        <m:r>
                          <m:rPr>
                            <m:sty m:val="p"/>
                          </m:rPr>
                          <a:rPr lang="en-US" altLang="zh-CN" sz="2000" i="1">
                            <a:solidFill>
                              <a:schemeClr val="tx1"/>
                            </a:solidFill>
                            <a:latin typeface="Cambria Math" panose="02040503050406030204" pitchFamily="18" charset="0"/>
                            <a:ea typeface="黑体" panose="02010609060101010101" pitchFamily="49" charset="-122"/>
                          </a:rPr>
                          <m:t>y</m:t>
                        </m:r>
                      </m:e>
                      <m:sub>
                        <m:r>
                          <a:rPr lang="en-US" altLang="zh-CN" sz="2000">
                            <a:solidFill>
                              <a:schemeClr val="tx1"/>
                            </a:solidFill>
                            <a:latin typeface="Cambria Math" panose="02040503050406030204" pitchFamily="18" charset="0"/>
                            <a:ea typeface="黑体" panose="02010609060101010101" pitchFamily="49" charset="-122"/>
                          </a:rPr>
                          <m:t>3</m:t>
                        </m:r>
                      </m:sub>
                    </m:sSub>
                    <m:r>
                      <a:rPr lang="en-US" altLang="zh-CN" sz="2000">
                        <a:solidFill>
                          <a:schemeClr val="tx1"/>
                        </a:solidFill>
                        <a:latin typeface="Cambria Math" panose="02040503050406030204" pitchFamily="18" charset="0"/>
                        <a:ea typeface="黑体" panose="02010609060101010101" pitchFamily="49" charset="-122"/>
                      </a:rPr>
                      <m:t>,</m:t>
                    </m:r>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y</m:t>
                        </m:r>
                      </m:e>
                      <m:sub>
                        <m:r>
                          <a:rPr lang="en-US" altLang="zh-CN" sz="2000">
                            <a:solidFill>
                              <a:schemeClr val="tx1"/>
                            </a:solidFill>
                            <a:latin typeface="Cambria Math" panose="02040503050406030204" pitchFamily="18" charset="0"/>
                          </a:rPr>
                          <m:t>4</m:t>
                        </m:r>
                      </m:sub>
                    </m:sSub>
                  </m:oMath>
                </a14:m>
                <a:r>
                  <a:rPr lang="zh-CN" altLang="en-US" sz="2000" dirty="0"/>
                  <a:t>。那么，对这些接收到的数据转换成对数似然比（</a:t>
                </a:r>
                <a:r>
                  <a:rPr lang="en-US" altLang="zh-CN" sz="2000" dirty="0"/>
                  <a:t>LLR</a:t>
                </a:r>
                <a:r>
                  <a:rPr lang="zh-CN" altLang="en-US" sz="2000" dirty="0"/>
                  <a:t>）</a:t>
                </a:r>
                <a:endParaRPr lang="en-US" altLang="zh-CN" sz="2000" dirty="0"/>
              </a:p>
              <a:p>
                <a:pPr marL="0" indent="0">
                  <a:lnSpc>
                    <a:spcPct val="2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𝑥</m:t>
                      </m:r>
                      <m:r>
                        <a:rPr lang="en-US" altLang="zh-CN" sz="2000" i="1">
                          <a:solidFill>
                            <a:schemeClr val="tx1"/>
                          </a:solidFill>
                          <a:latin typeface="Cambria Math" panose="02040503050406030204" pitchFamily="18" charset="0"/>
                        </a:rPr>
                        <m:t>=</m:t>
                      </m:r>
                      <m:r>
                        <a:rPr lang="en-US" altLang="zh-CN" sz="2000" i="1">
                          <a:solidFill>
                            <a:schemeClr val="tx1"/>
                          </a:solidFill>
                          <a:latin typeface="Cambria Math" panose="02040503050406030204" pitchFamily="18" charset="0"/>
                        </a:rPr>
                        <m:t>𝐿𝐿𝑅</m:t>
                      </m:r>
                      <m:d>
                        <m:dPr>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m:t>
                      </m:r>
                      <m:func>
                        <m:funcPr>
                          <m:ctrlPr>
                            <a:rPr lang="en-US" altLang="zh-CN" sz="2000" i="1">
                              <a:solidFill>
                                <a:schemeClr val="tx1"/>
                              </a:solidFill>
                              <a:latin typeface="Cambria Math" panose="02040503050406030204" pitchFamily="18" charset="0"/>
                            </a:rPr>
                          </m:ctrlPr>
                        </m:funcPr>
                        <m:fName>
                          <m:r>
                            <m:rPr>
                              <m:sty m:val="p"/>
                            </m:rPr>
                            <a:rPr lang="en-US" altLang="zh-CN" sz="2000" i="1">
                              <a:solidFill>
                                <a:schemeClr val="tx1"/>
                              </a:solidFill>
                              <a:latin typeface="Cambria Math" panose="02040503050406030204" pitchFamily="18" charset="0"/>
                            </a:rPr>
                            <m:t>ln</m:t>
                          </m:r>
                        </m:fName>
                        <m:e>
                          <m:f>
                            <m:fPr>
                              <m:ctrlPr>
                                <a:rPr lang="en-US" altLang="zh-CN" sz="2000" i="1">
                                  <a:solidFill>
                                    <a:schemeClr val="tx1"/>
                                  </a:solidFill>
                                  <a:latin typeface="Cambria Math" panose="02040503050406030204" pitchFamily="18" charset="0"/>
                                </a:rPr>
                              </m:ctrlPr>
                            </m:fPr>
                            <m:num>
                              <m:r>
                                <a:rPr lang="en-US" altLang="zh-CN" sz="2000" i="1">
                                  <a:solidFill>
                                    <a:schemeClr val="tx1"/>
                                  </a:solidFill>
                                  <a:latin typeface="Cambria Math" panose="02040503050406030204" pitchFamily="18" charset="0"/>
                                </a:rPr>
                                <m:t>𝑊</m:t>
                              </m:r>
                              <m:d>
                                <m:dPr>
                                  <m:ctrlPr>
                                    <a:rPr lang="en-US" altLang="zh-CN" sz="2000" i="1">
                                      <a:solidFill>
                                        <a:schemeClr val="tx1"/>
                                      </a:solidFill>
                                      <a:latin typeface="Cambria Math" panose="02040503050406030204" pitchFamily="18" charset="0"/>
                                    </a:rPr>
                                  </m:ctrlPr>
                                </m:dPr>
                                <m:e>
                                  <m:d>
                                    <m:dPr>
                                      <m:begChr m:val=""/>
                                      <m:endChr m:val="|"/>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0</m:t>
                                  </m:r>
                                </m:e>
                              </m:d>
                            </m:num>
                            <m:den>
                              <m:r>
                                <a:rPr lang="en-US" altLang="zh-CN" sz="2000" i="1">
                                  <a:solidFill>
                                    <a:schemeClr val="tx1"/>
                                  </a:solidFill>
                                  <a:latin typeface="Cambria Math" panose="02040503050406030204" pitchFamily="18" charset="0"/>
                                </a:rPr>
                                <m:t>𝑊</m:t>
                              </m:r>
                              <m:d>
                                <m:dPr>
                                  <m:ctrlPr>
                                    <a:rPr lang="en-US" altLang="zh-CN" sz="2000" i="1">
                                      <a:solidFill>
                                        <a:schemeClr val="tx1"/>
                                      </a:solidFill>
                                      <a:latin typeface="Cambria Math" panose="02040503050406030204" pitchFamily="18" charset="0"/>
                                    </a:rPr>
                                  </m:ctrlPr>
                                </m:dPr>
                                <m:e>
                                  <m:d>
                                    <m:dPr>
                                      <m:begChr m:val=""/>
                                      <m:endChr m:val="|"/>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1</m:t>
                                  </m:r>
                                </m:e>
                              </m:d>
                            </m:den>
                          </m:f>
                        </m:e>
                      </m:func>
                    </m:oMath>
                  </m:oMathPara>
                </a14:m>
                <a:endParaRPr lang="en-US" altLang="zh-CN" sz="2000" dirty="0"/>
              </a:p>
              <a:p>
                <a:pPr marL="0" indent="0">
                  <a:lnSpc>
                    <a:spcPct val="200000"/>
                  </a:lnSpc>
                  <a:spcBef>
                    <a:spcPts val="0"/>
                  </a:spcBef>
                  <a:spcAft>
                    <a:spcPts val="0"/>
                  </a:spcAft>
                  <a:buNone/>
                </a:pPr>
                <a:r>
                  <a:rPr lang="zh-CN" altLang="en-US" sz="2000" dirty="0"/>
                  <a:t>        其中，</a:t>
                </a:r>
                <a:r>
                  <a:rPr lang="en-US" altLang="zh-CN" sz="2000" dirty="0">
                    <a:solidFill>
                      <a:schemeClr val="tx1"/>
                    </a:solidFill>
                  </a:rPr>
                  <a:t> </a:t>
                </a:r>
                <a14:m>
                  <m:oMath xmlns:m="http://schemas.openxmlformats.org/officeDocument/2006/math">
                    <m:r>
                      <a:rPr lang="en-US" altLang="zh-CN" sz="2000" i="1">
                        <a:solidFill>
                          <a:schemeClr val="tx1"/>
                        </a:solidFill>
                        <a:latin typeface="Cambria Math" panose="02040503050406030204" pitchFamily="18" charset="0"/>
                      </a:rPr>
                      <m:t>𝑊</m:t>
                    </m:r>
                    <m:d>
                      <m:dPr>
                        <m:ctrlPr>
                          <a:rPr lang="en-US" altLang="zh-CN" sz="2000" i="1">
                            <a:solidFill>
                              <a:schemeClr val="tx1"/>
                            </a:solidFill>
                            <a:latin typeface="Cambria Math" panose="02040503050406030204" pitchFamily="18" charset="0"/>
                          </a:rPr>
                        </m:ctrlPr>
                      </m:dPr>
                      <m:e>
                        <m:d>
                          <m:dPr>
                            <m:begChr m:val=""/>
                            <m:endChr m:val="|"/>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0</m:t>
                        </m:r>
                      </m:e>
                    </m:d>
                  </m:oMath>
                </a14:m>
                <a:r>
                  <a:rPr lang="zh-CN" altLang="en-US" sz="2000" dirty="0"/>
                  <a:t>表示发射端发射的是比特“</a:t>
                </a:r>
                <a:r>
                  <a:rPr lang="en-US" altLang="zh-CN" sz="2000" dirty="0"/>
                  <a:t>0</a:t>
                </a:r>
                <a:r>
                  <a:rPr lang="zh-CN" altLang="en-US" sz="2000" dirty="0"/>
                  <a:t>”，而接收端收到的是</a:t>
                </a:r>
                <a:r>
                  <a:rPr lang="en-US" altLang="zh-CN" sz="2000" dirty="0"/>
                  <a:t>y</a:t>
                </a:r>
                <a:r>
                  <a:rPr lang="zh-CN" altLang="en-US" sz="2000" dirty="0"/>
                  <a:t>的概率，</a:t>
                </a:r>
                <a:r>
                  <a:rPr lang="en-US" altLang="zh-CN" sz="2000" dirty="0">
                    <a:solidFill>
                      <a:schemeClr val="tx1"/>
                    </a:solidFill>
                  </a:rPr>
                  <a:t> </a:t>
                </a:r>
                <a14:m>
                  <m:oMath xmlns:m="http://schemas.openxmlformats.org/officeDocument/2006/math">
                    <m:r>
                      <a:rPr lang="en-US" altLang="zh-CN" sz="2000" i="1">
                        <a:solidFill>
                          <a:schemeClr val="tx1"/>
                        </a:solidFill>
                        <a:latin typeface="Cambria Math" panose="02040503050406030204" pitchFamily="18" charset="0"/>
                      </a:rPr>
                      <m:t>𝑊</m:t>
                    </m:r>
                    <m:d>
                      <m:dPr>
                        <m:ctrlPr>
                          <a:rPr lang="en-US" altLang="zh-CN" sz="2000" i="1">
                            <a:solidFill>
                              <a:schemeClr val="tx1"/>
                            </a:solidFill>
                            <a:latin typeface="Cambria Math" panose="02040503050406030204" pitchFamily="18" charset="0"/>
                          </a:rPr>
                        </m:ctrlPr>
                      </m:dPr>
                      <m:e>
                        <m:d>
                          <m:dPr>
                            <m:begChr m:val=""/>
                            <m:endChr m:val="|"/>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1</m:t>
                        </m:r>
                      </m:e>
                    </m:d>
                  </m:oMath>
                </a14:m>
                <a:r>
                  <a:rPr lang="zh-CN" altLang="en-US" sz="2000" dirty="0"/>
                  <a:t>表示发射端发射的是比特“</a:t>
                </a:r>
                <a:r>
                  <a:rPr lang="en-US" altLang="zh-CN" sz="2000" dirty="0"/>
                  <a:t>1</a:t>
                </a:r>
                <a:r>
                  <a:rPr lang="zh-CN" altLang="en-US" sz="2000" dirty="0"/>
                  <a:t>”，</a:t>
                </a:r>
                <a:r>
                  <a:rPr lang="en-US" altLang="zh-CN" sz="2000" dirty="0"/>
                  <a:t>ln</a:t>
                </a:r>
                <a:r>
                  <a:rPr lang="zh-CN" altLang="en-US" sz="2000" dirty="0"/>
                  <a:t>（*）表示自然对数的底</a:t>
                </a:r>
                <a:r>
                  <a:rPr lang="en-US" altLang="zh-CN" sz="2000" dirty="0"/>
                  <a:t>e</a:t>
                </a:r>
                <a:r>
                  <a:rPr lang="zh-CN" altLang="en-US" sz="2000" dirty="0"/>
                  <a:t>为底的对数。</a:t>
                </a:r>
                <a:endParaRPr lang="en-US" altLang="zh-CN" sz="2000" dirty="0"/>
              </a:p>
              <a:p>
                <a:pPr marL="0" indent="0">
                  <a:lnSpc>
                    <a:spcPct val="150000"/>
                  </a:lnSpc>
                  <a:spcBef>
                    <a:spcPts val="0"/>
                  </a:spcBef>
                  <a:spcAft>
                    <a:spcPts val="0"/>
                  </a:spcAft>
                  <a:buNone/>
                </a:pPr>
                <a:r>
                  <a:rPr lang="en-US" altLang="zh-CN" sz="2000" dirty="0"/>
                  <a:t>    </a:t>
                </a:r>
              </a:p>
            </p:txBody>
          </p:sp>
        </mc:Choice>
        <mc:Fallback xmlns="">
          <p:sp>
            <p:nvSpPr>
              <p:cNvPr id="5" name="内容占位符 2"/>
              <p:cNvSpPr>
                <a:spLocks noGrp="1" noRot="1" noChangeAspect="1" noMove="1" noResize="1" noEditPoints="1" noAdjustHandles="1" noChangeArrowheads="1" noChangeShapeType="1" noTextEdit="1"/>
              </p:cNvSpPr>
              <p:nvPr>
                <p:ph idx="1"/>
              </p:nvPr>
            </p:nvSpPr>
            <p:spPr>
              <a:xfrm>
                <a:off x="1752714" y="998374"/>
                <a:ext cx="8686572" cy="5173754"/>
              </a:xfrm>
              <a:blipFill>
                <a:blip r:embed="rId2"/>
                <a:stretch>
                  <a:fillRect l="-772"/>
                </a:stretch>
              </a:blipFill>
              <a:ln>
                <a:noFill/>
              </a:ln>
            </p:spPr>
            <p:txBody>
              <a:bodyPr/>
              <a:lstStyle/>
              <a:p>
                <a:r>
                  <a:rPr lang="zh-CN" altLang="en-US">
                    <a:noFill/>
                  </a:rPr>
                  <a:t> </a:t>
                </a:r>
              </a:p>
            </p:txBody>
          </p:sp>
        </mc:Fallback>
      </mc:AlternateContent>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05550" y="15248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解码方法</a:t>
            </a:r>
            <a:endParaRPr lang="zh-CN" altLang="en-US" sz="2400" dirty="0">
              <a:sym typeface="+mn-ea"/>
            </a:endParaRPr>
          </a:p>
        </p:txBody>
      </p:sp>
      <mc:AlternateContent xmlns:mc="http://schemas.openxmlformats.org/markup-compatibility/2006" xmlns:a14="http://schemas.microsoft.com/office/drawing/2010/main">
        <mc:Choice Requires="a14">
          <p:sp>
            <p:nvSpPr>
              <p:cNvPr id="5" name="内容占位符 2"/>
              <p:cNvSpPr>
                <a:spLocks noGrp="1"/>
              </p:cNvSpPr>
              <p:nvPr>
                <p:ph idx="1"/>
              </p:nvPr>
            </p:nvSpPr>
            <p:spPr>
              <a:xfrm>
                <a:off x="1828912" y="1447852"/>
                <a:ext cx="8648514" cy="3573596"/>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200000"/>
                  </a:lnSpc>
                  <a:spcBef>
                    <a:spcPts val="0"/>
                  </a:spcBef>
                  <a:spcAft>
                    <a:spcPts val="0"/>
                  </a:spcAft>
                  <a:buNone/>
                </a:pPr>
                <a:r>
                  <a:rPr lang="zh-CN" altLang="en-US" sz="2000" dirty="0">
                    <a:solidFill>
                      <a:srgbClr val="FF0000"/>
                    </a:solidFill>
                  </a:rPr>
                  <a:t>举例：</a:t>
                </a:r>
                <a:r>
                  <a:rPr lang="en-US" altLang="zh-CN" sz="2000" dirty="0"/>
                  <a:t>        </a:t>
                </a:r>
                <a:r>
                  <a:rPr lang="zh-CN" altLang="en-US" sz="2000" dirty="0"/>
                  <a:t>在现实计算时，</a:t>
                </a:r>
                <a:r>
                  <a:rPr lang="en-US" altLang="zh-CN" sz="2000" dirty="0">
                    <a:solidFill>
                      <a:schemeClr val="tx1"/>
                    </a:solidFill>
                  </a:rPr>
                  <a:t> </a:t>
                </a:r>
                <a14:m>
                  <m:oMath xmlns:m="http://schemas.openxmlformats.org/officeDocument/2006/math">
                    <m:r>
                      <a:rPr lang="en-US" altLang="zh-CN" sz="2000" i="1">
                        <a:solidFill>
                          <a:schemeClr val="tx1"/>
                        </a:solidFill>
                        <a:latin typeface="Cambria Math" panose="02040503050406030204" pitchFamily="18" charset="0"/>
                      </a:rPr>
                      <m:t>𝑊</m:t>
                    </m:r>
                    <m:d>
                      <m:dPr>
                        <m:ctrlPr>
                          <a:rPr lang="en-US" altLang="zh-CN" sz="2000" i="1">
                            <a:solidFill>
                              <a:schemeClr val="tx1"/>
                            </a:solidFill>
                            <a:latin typeface="Cambria Math" panose="02040503050406030204" pitchFamily="18" charset="0"/>
                          </a:rPr>
                        </m:ctrlPr>
                      </m:dPr>
                      <m:e>
                        <m:d>
                          <m:dPr>
                            <m:begChr m:val=""/>
                            <m:endChr m:val="|"/>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1</m:t>
                        </m:r>
                      </m:e>
                    </m:d>
                  </m:oMath>
                </a14:m>
                <a:r>
                  <a:rPr lang="zh-CN" altLang="en-US" sz="2000" dirty="0"/>
                  <a:t>可用下式计算：</a:t>
                </a:r>
                <a:endParaRPr lang="en-US" altLang="zh-CN" sz="2000" dirty="0"/>
              </a:p>
              <a:p>
                <a:pPr marL="0" indent="0">
                  <a:lnSpc>
                    <a:spcPct val="2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𝑤</m:t>
                      </m:r>
                      <m:d>
                        <m:dPr>
                          <m:ctrlPr>
                            <a:rPr lang="en-US" altLang="zh-CN" sz="2000" i="1">
                              <a:solidFill>
                                <a:srgbClr val="836967"/>
                              </a:solidFill>
                              <a:latin typeface="Cambria Math" panose="02040503050406030204" pitchFamily="18" charset="0"/>
                            </a:rPr>
                          </m:ctrlPr>
                        </m:dPr>
                        <m:e>
                          <m:d>
                            <m:dPr>
                              <m:begChr m:val=""/>
                              <m:endChr m:val="|"/>
                              <m:ctrlPr>
                                <a:rPr lang="en-US" altLang="zh-CN" sz="2000" i="1">
                                  <a:solidFill>
                                    <a:srgbClr val="836967"/>
                                  </a:solidFill>
                                  <a:latin typeface="Cambria Math" panose="02040503050406030204" pitchFamily="18" charset="0"/>
                                </a:rPr>
                              </m:ctrlPr>
                            </m:dPr>
                            <m:e>
                              <m:r>
                                <a:rPr lang="en-US" altLang="zh-CN" sz="2000" i="1">
                                  <a:latin typeface="Cambria Math" panose="02040503050406030204" pitchFamily="18" charset="0"/>
                                </a:rPr>
                                <m:t>𝑦</m:t>
                              </m:r>
                            </m:e>
                          </m:d>
                          <m:r>
                            <a:rPr lang="en-US" altLang="zh-CN" sz="2000" i="1">
                              <a:latin typeface="Cambria Math" panose="02040503050406030204" pitchFamily="18" charset="0"/>
                            </a:rPr>
                            <m:t>1</m:t>
                          </m:r>
                        </m:e>
                      </m:d>
                      <m:r>
                        <a:rPr lang="en-US" altLang="zh-CN" sz="2000" i="1">
                          <a:latin typeface="Cambria Math" panose="02040503050406030204" pitchFamily="18" charset="0"/>
                        </a:rPr>
                        <m:t>=</m:t>
                      </m:r>
                      <m:f>
                        <m:fPr>
                          <m:ctrlPr>
                            <a:rPr lang="en-US" altLang="zh-CN" sz="2000" i="1">
                              <a:solidFill>
                                <a:srgbClr val="836967"/>
                              </a:solidFill>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1+</m:t>
                          </m:r>
                          <m:sSup>
                            <m:sSupPr>
                              <m:ctrlPr>
                                <a:rPr lang="en-US" altLang="zh-CN" sz="2000" i="1">
                                  <a:solidFill>
                                    <a:srgbClr val="836967"/>
                                  </a:solidFill>
                                  <a:latin typeface="Cambria Math" panose="02040503050406030204" pitchFamily="18" charset="0"/>
                                </a:rPr>
                              </m:ctrlPr>
                            </m:sSupPr>
                            <m:e>
                              <m:r>
                                <a:rPr lang="en-US" altLang="zh-CN" sz="2000" i="1">
                                  <a:latin typeface="Cambria Math" panose="02040503050406030204" pitchFamily="18" charset="0"/>
                                </a:rPr>
                                <m:t>ⅇ</m:t>
                              </m:r>
                            </m:e>
                            <m:sup>
                              <m:r>
                                <a:rPr lang="en-US" altLang="zh-CN" sz="2000" i="1">
                                  <a:latin typeface="Cambria Math" panose="02040503050406030204" pitchFamily="18" charset="0"/>
                                </a:rPr>
                                <m:t>−2</m:t>
                              </m:r>
                              <m:f>
                                <m:fPr>
                                  <m:type m:val="lin"/>
                                  <m:ctrlPr>
                                    <a:rPr lang="en-US" altLang="zh-CN" sz="2000" i="1">
                                      <a:latin typeface="Cambria Math" panose="02040503050406030204" pitchFamily="18" charset="0"/>
                                    </a:rPr>
                                  </m:ctrlPr>
                                </m:fPr>
                                <m:num>
                                  <m:r>
                                    <a:rPr lang="en-US" altLang="zh-CN" sz="2000" i="1">
                                      <a:latin typeface="Cambria Math" panose="02040503050406030204" pitchFamily="18" charset="0"/>
                                    </a:rPr>
                                    <m:t>𝑦</m:t>
                                  </m:r>
                                </m:num>
                                <m:den>
                                  <m:sSup>
                                    <m:sSupPr>
                                      <m:ctrlPr>
                                        <a:rPr lang="en-US" altLang="zh-CN" sz="2000" i="1">
                                          <a:solidFill>
                                            <a:srgbClr val="836967"/>
                                          </a:solidFill>
                                          <a:latin typeface="Cambria Math" panose="02040503050406030204" pitchFamily="18" charset="0"/>
                                        </a:rPr>
                                      </m:ctrlPr>
                                    </m:sSupPr>
                                    <m:e>
                                      <m:r>
                                        <a:rPr lang="en-US" altLang="zh-CN" sz="2000" i="1">
                                          <a:latin typeface="Cambria Math" panose="02040503050406030204" pitchFamily="18" charset="0"/>
                                        </a:rPr>
                                        <m:t>𝛿</m:t>
                                      </m:r>
                                    </m:e>
                                    <m:sup>
                                      <m:r>
                                        <a:rPr lang="en-US" altLang="zh-CN" sz="2000" i="1">
                                          <a:latin typeface="Cambria Math" panose="02040503050406030204" pitchFamily="18" charset="0"/>
                                        </a:rPr>
                                        <m:t>2</m:t>
                                      </m:r>
                                    </m:sup>
                                  </m:sSup>
                                </m:den>
                              </m:f>
                            </m:sup>
                          </m:sSup>
                        </m:den>
                      </m:f>
                    </m:oMath>
                  </m:oMathPara>
                </a14:m>
                <a:endParaRPr lang="en-US" altLang="zh-CN" sz="2000" dirty="0"/>
              </a:p>
              <a:p>
                <a:pPr marL="0" indent="0">
                  <a:lnSpc>
                    <a:spcPct val="200000"/>
                  </a:lnSpc>
                  <a:spcBef>
                    <a:spcPts val="0"/>
                  </a:spcBef>
                  <a:spcAft>
                    <a:spcPts val="0"/>
                  </a:spcAft>
                  <a:buNone/>
                </a:pPr>
                <a:r>
                  <a:rPr lang="zh-CN" altLang="en-US" sz="2000" dirty="0"/>
                  <a:t>其中，</a:t>
                </a:r>
                <a:r>
                  <a:rPr lang="en-US" altLang="zh-CN" sz="2000" dirty="0">
                    <a:solidFill>
                      <a:srgbClr val="836967"/>
                    </a:solidFill>
                  </a:rPr>
                  <a:t> </a:t>
                </a:r>
                <a14:m>
                  <m:oMath xmlns:m="http://schemas.openxmlformats.org/officeDocument/2006/math">
                    <m:sSup>
                      <m:sSupPr>
                        <m:ctrlPr>
                          <a:rPr lang="en-US" altLang="zh-CN" sz="2000" i="1">
                            <a:solidFill>
                              <a:srgbClr val="836967"/>
                            </a:solidFill>
                            <a:latin typeface="Cambria Math" panose="02040503050406030204" pitchFamily="18" charset="0"/>
                          </a:rPr>
                        </m:ctrlPr>
                      </m:sSupPr>
                      <m:e>
                        <m:r>
                          <a:rPr lang="en-US" altLang="zh-CN" sz="2000" i="1">
                            <a:latin typeface="Cambria Math" panose="02040503050406030204" pitchFamily="18" charset="0"/>
                          </a:rPr>
                          <m:t>𝛿</m:t>
                        </m:r>
                      </m:e>
                      <m:sup>
                        <m:r>
                          <a:rPr lang="en-US" altLang="zh-CN" sz="2000" i="1">
                            <a:latin typeface="Cambria Math" panose="02040503050406030204" pitchFamily="18" charset="0"/>
                          </a:rPr>
                          <m:t>2</m:t>
                        </m:r>
                      </m:sup>
                    </m:sSup>
                  </m:oMath>
                </a14:m>
                <a:r>
                  <a:rPr lang="zh-CN" altLang="en-US" sz="2000" dirty="0"/>
                  <a:t>为噪声方差（可通过对接收到的数据</a:t>
                </a:r>
                <a:r>
                  <a:rPr lang="en-US" altLang="zh-CN" sz="2000" dirty="0"/>
                  <a:t>y</a:t>
                </a:r>
                <a:r>
                  <a:rPr lang="zh-CN" altLang="en-US" sz="2000" dirty="0"/>
                  <a:t>统计得到，一半设置</a:t>
                </a:r>
                <a14:m>
                  <m:oMath xmlns:m="http://schemas.openxmlformats.org/officeDocument/2006/math">
                    <m:sSup>
                      <m:sSupPr>
                        <m:ctrlPr>
                          <a:rPr lang="en-US" altLang="zh-CN" sz="2000" i="1">
                            <a:solidFill>
                              <a:srgbClr val="836967"/>
                            </a:solidFill>
                            <a:latin typeface="Cambria Math" panose="02040503050406030204" pitchFamily="18" charset="0"/>
                          </a:rPr>
                        </m:ctrlPr>
                      </m:sSupPr>
                      <m:e>
                        <m:r>
                          <a:rPr lang="en-US" altLang="zh-CN" sz="2000" i="1">
                            <a:latin typeface="Cambria Math" panose="02040503050406030204" pitchFamily="18" charset="0"/>
                          </a:rPr>
                          <m:t>𝛿</m:t>
                        </m:r>
                      </m:e>
                      <m:sup>
                        <m:r>
                          <a:rPr lang="en-US" altLang="zh-CN" sz="2000" i="1">
                            <a:latin typeface="Cambria Math" panose="02040503050406030204" pitchFamily="18" charset="0"/>
                          </a:rPr>
                          <m:t>2</m:t>
                        </m:r>
                      </m:sup>
                    </m:sSup>
                    <m:r>
                      <a:rPr lang="en-US" altLang="zh-CN" sz="2000" i="1">
                        <a:latin typeface="Cambria Math" panose="02040503050406030204" pitchFamily="18" charset="0"/>
                      </a:rPr>
                      <m:t> </m:t>
                    </m:r>
                  </m:oMath>
                </a14:m>
                <a:r>
                  <a:rPr lang="en-US" altLang="zh-CN" sz="2000" dirty="0"/>
                  <a:t>=1</a:t>
                </a:r>
                <a:r>
                  <a:rPr lang="zh-CN" altLang="en-US" sz="2000" dirty="0"/>
                  <a:t>）</a:t>
                </a:r>
                <a:endParaRPr lang="en-US" altLang="zh-CN" sz="2000" dirty="0"/>
              </a:p>
              <a:p>
                <a:pPr marL="0" indent="0">
                  <a:lnSpc>
                    <a:spcPct val="200000"/>
                  </a:lnSpc>
                  <a:spcBef>
                    <a:spcPts val="0"/>
                  </a:spcBef>
                  <a:spcAft>
                    <a:spcPts val="0"/>
                  </a:spcAft>
                  <a:buNone/>
                </a:pPr>
                <a:r>
                  <a:rPr lang="zh-CN" altLang="en-US" sz="2000" dirty="0">
                    <a:solidFill>
                      <a:schemeClr val="tx1"/>
                    </a:solidFill>
                  </a:rPr>
                  <a:t>         对于</a:t>
                </a:r>
                <a14:m>
                  <m:oMath xmlns:m="http://schemas.openxmlformats.org/officeDocument/2006/math">
                    <m:r>
                      <a:rPr lang="en-US" altLang="zh-CN" sz="2000" i="1">
                        <a:solidFill>
                          <a:schemeClr val="tx1"/>
                        </a:solidFill>
                        <a:latin typeface="Cambria Math" panose="02040503050406030204" pitchFamily="18" charset="0"/>
                      </a:rPr>
                      <m:t>𝑊</m:t>
                    </m:r>
                    <m:d>
                      <m:dPr>
                        <m:ctrlPr>
                          <a:rPr lang="en-US" altLang="zh-CN" sz="2000" i="1">
                            <a:solidFill>
                              <a:schemeClr val="tx1"/>
                            </a:solidFill>
                            <a:latin typeface="Cambria Math" panose="02040503050406030204" pitchFamily="18" charset="0"/>
                          </a:rPr>
                        </m:ctrlPr>
                      </m:dPr>
                      <m:e>
                        <m:d>
                          <m:dPr>
                            <m:begChr m:val=""/>
                            <m:endChr m:val="|"/>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0</m:t>
                        </m:r>
                      </m:e>
                    </m:d>
                  </m:oMath>
                </a14:m>
                <a:r>
                  <a:rPr lang="zh-CN" altLang="en-US" sz="2000" dirty="0"/>
                  <a:t>，可用</a:t>
                </a:r>
                <a14:m>
                  <m:oMath xmlns:m="http://schemas.openxmlformats.org/officeDocument/2006/math">
                    <m:r>
                      <a:rPr lang="en-US" altLang="zh-CN" sz="2000" i="1">
                        <a:solidFill>
                          <a:schemeClr val="tx1"/>
                        </a:solidFill>
                        <a:latin typeface="Cambria Math" panose="02040503050406030204" pitchFamily="18" charset="0"/>
                      </a:rPr>
                      <m:t>𝑊</m:t>
                    </m:r>
                    <m:d>
                      <m:dPr>
                        <m:ctrlPr>
                          <a:rPr lang="en-US" altLang="zh-CN" sz="2000" i="1">
                            <a:solidFill>
                              <a:schemeClr val="tx1"/>
                            </a:solidFill>
                            <a:latin typeface="Cambria Math" panose="02040503050406030204" pitchFamily="18" charset="0"/>
                          </a:rPr>
                        </m:ctrlPr>
                      </m:dPr>
                      <m:e>
                        <m:d>
                          <m:dPr>
                            <m:begChr m:val=""/>
                            <m:endChr m:val="|"/>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0</m:t>
                        </m:r>
                      </m:e>
                    </m:d>
                  </m:oMath>
                </a14:m>
                <a:r>
                  <a:rPr lang="en-US" altLang="zh-CN" sz="2000" dirty="0"/>
                  <a:t>=1-</a:t>
                </a:r>
                <a:r>
                  <a:rPr lang="en-US" altLang="zh-CN" sz="2000" dirty="0">
                    <a:solidFill>
                      <a:schemeClr val="tx1"/>
                    </a:solidFill>
                  </a:rPr>
                  <a:t> </a:t>
                </a:r>
                <a14:m>
                  <m:oMath xmlns:m="http://schemas.openxmlformats.org/officeDocument/2006/math">
                    <m:r>
                      <a:rPr lang="en-US" altLang="zh-CN" sz="2000" i="1">
                        <a:solidFill>
                          <a:schemeClr val="tx1"/>
                        </a:solidFill>
                        <a:latin typeface="Cambria Math" panose="02040503050406030204" pitchFamily="18" charset="0"/>
                      </a:rPr>
                      <m:t>𝑊</m:t>
                    </m:r>
                    <m:d>
                      <m:dPr>
                        <m:ctrlPr>
                          <a:rPr lang="en-US" altLang="zh-CN" sz="2000" i="1">
                            <a:solidFill>
                              <a:schemeClr val="tx1"/>
                            </a:solidFill>
                            <a:latin typeface="Cambria Math" panose="02040503050406030204" pitchFamily="18" charset="0"/>
                          </a:rPr>
                        </m:ctrlPr>
                      </m:dPr>
                      <m:e>
                        <m:d>
                          <m:dPr>
                            <m:begChr m:val=""/>
                            <m:endChr m:val="|"/>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1</m:t>
                        </m:r>
                      </m:e>
                    </m:d>
                  </m:oMath>
                </a14:m>
                <a:r>
                  <a:rPr lang="zh-CN" altLang="en-US" sz="2000" dirty="0"/>
                  <a:t>计算。</a:t>
                </a:r>
                <a:endParaRPr lang="en-US" altLang="zh-CN" sz="2000" dirty="0"/>
              </a:p>
            </p:txBody>
          </p:sp>
        </mc:Choice>
        <mc:Fallback xmlns="">
          <p:sp>
            <p:nvSpPr>
              <p:cNvPr id="5" name="内容占位符 2"/>
              <p:cNvSpPr>
                <a:spLocks noGrp="1" noRot="1" noChangeAspect="1" noMove="1" noResize="1" noEditPoints="1" noAdjustHandles="1" noChangeArrowheads="1" noChangeShapeType="1" noTextEdit="1"/>
              </p:cNvSpPr>
              <p:nvPr>
                <p:ph idx="1"/>
              </p:nvPr>
            </p:nvSpPr>
            <p:spPr>
              <a:xfrm>
                <a:off x="1828912" y="1447852"/>
                <a:ext cx="8648514" cy="3573596"/>
              </a:xfrm>
              <a:blipFill>
                <a:blip r:embed="rId2"/>
                <a:stretch>
                  <a:fillRect l="-705" t="-7679" r="-423" b="-5631"/>
                </a:stretch>
              </a:blipFill>
              <a:ln>
                <a:noFill/>
              </a:ln>
            </p:spPr>
            <p:txBody>
              <a:bodyPr/>
              <a:lstStyle/>
              <a:p>
                <a:r>
                  <a:rPr lang="zh-CN" altLang="en-US">
                    <a:noFill/>
                  </a:rPr>
                  <a:t> </a:t>
                </a:r>
              </a:p>
            </p:txBody>
          </p:sp>
        </mc:Fallback>
      </mc:AlternateContent>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09629" y="129639"/>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解码步骤</a:t>
            </a:r>
            <a:endParaRPr lang="zh-CN" altLang="en-US" sz="2400" dirty="0">
              <a:sym typeface="+mn-ea"/>
            </a:endParaRPr>
          </a:p>
        </p:txBody>
      </p:sp>
      <mc:AlternateContent xmlns:mc="http://schemas.openxmlformats.org/markup-compatibility/2006" xmlns:a14="http://schemas.microsoft.com/office/drawing/2010/main">
        <mc:Choice Requires="a14">
          <p:sp>
            <p:nvSpPr>
              <p:cNvPr id="5" name="内容占位符 2"/>
              <p:cNvSpPr>
                <a:spLocks noGrp="1"/>
              </p:cNvSpPr>
              <p:nvPr>
                <p:ph idx="1"/>
              </p:nvPr>
            </p:nvSpPr>
            <p:spPr>
              <a:xfrm>
                <a:off x="1752714" y="609674"/>
                <a:ext cx="4571880" cy="5029068"/>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en-US" altLang="zh-CN" sz="2000" dirty="0">
                    <a:solidFill>
                      <a:srgbClr val="FF0000"/>
                    </a:solidFill>
                  </a:rPr>
                  <a:t>N=4</a:t>
                </a:r>
                <a:r>
                  <a:rPr lang="zh-CN" altLang="en-US" sz="2000" dirty="0">
                    <a:solidFill>
                      <a:srgbClr val="FF0000"/>
                    </a:solidFill>
                  </a:rPr>
                  <a:t>解码步骤示意：</a:t>
                </a:r>
                <a:endParaRPr lang="en-US" altLang="zh-CN" sz="2000" dirty="0">
                  <a:solidFill>
                    <a:srgbClr val="FF0000"/>
                  </a:solidFill>
                </a:endParaRPr>
              </a:p>
              <a:p>
                <a:pPr marL="0" indent="0">
                  <a:lnSpc>
                    <a:spcPct val="150000"/>
                  </a:lnSpc>
                  <a:spcBef>
                    <a:spcPts val="0"/>
                  </a:spcBef>
                  <a:spcAft>
                    <a:spcPts val="0"/>
                  </a:spcAft>
                  <a:buNone/>
                </a:pPr>
                <a:r>
                  <a:rPr lang="zh-CN" altLang="en-US" sz="1800" dirty="0">
                    <a:solidFill>
                      <a:schemeClr val="tx1"/>
                    </a:solidFill>
                  </a:rPr>
                  <a:t>第一步：解码器把来自下半部分（</a:t>
                </a:r>
                <a:r>
                  <a:rPr lang="zh-CN" altLang="en-US" sz="1800" dirty="0">
                    <a:solidFill>
                      <a:schemeClr val="tx1"/>
                    </a:solidFill>
                    <a:ea typeface="黑体" panose="02010609060101010101" pitchFamily="49" charset="-122"/>
                  </a:rPr>
                  <a:t> </a:t>
                </a:r>
                <a14:m>
                  <m:oMath xmlns:m="http://schemas.openxmlformats.org/officeDocument/2006/math">
                    <m:sSub>
                      <m:sSubPr>
                        <m:ctrlPr>
                          <a:rPr lang="zh-CN" altLang="en-US" sz="1800" i="1">
                            <a:solidFill>
                              <a:schemeClr val="tx1"/>
                            </a:solidFill>
                            <a:latin typeface="Cambria Math" panose="02040503050406030204" pitchFamily="18" charset="0"/>
                            <a:ea typeface="黑体" panose="02010609060101010101" pitchFamily="49" charset="-122"/>
                          </a:rPr>
                        </m:ctrlPr>
                      </m:sSubPr>
                      <m:e>
                        <m:r>
                          <m:rPr>
                            <m:sty m:val="p"/>
                          </m:rPr>
                          <a:rPr lang="en-US" altLang="zh-CN" sz="1800" i="1">
                            <a:solidFill>
                              <a:schemeClr val="tx1"/>
                            </a:solidFill>
                            <a:latin typeface="Cambria Math" panose="02040503050406030204" pitchFamily="18" charset="0"/>
                            <a:ea typeface="黑体" panose="02010609060101010101" pitchFamily="49" charset="-122"/>
                          </a:rPr>
                          <m:t>x</m:t>
                        </m:r>
                      </m:e>
                      <m:sub>
                        <m:r>
                          <a:rPr lang="en-US" altLang="zh-CN" sz="1800">
                            <a:solidFill>
                              <a:schemeClr val="tx1"/>
                            </a:solidFill>
                            <a:latin typeface="Cambria Math" panose="02040503050406030204" pitchFamily="18" charset="0"/>
                            <a:ea typeface="黑体" panose="02010609060101010101" pitchFamily="49" charset="-122"/>
                          </a:rPr>
                          <m:t>3</m:t>
                        </m:r>
                      </m:sub>
                    </m:sSub>
                    <m:sSub>
                      <m:sSubPr>
                        <m:ctrlPr>
                          <a:rPr lang="zh-CN" altLang="en-US" sz="1800" i="1">
                            <a:solidFill>
                              <a:schemeClr val="tx1"/>
                            </a:solidFill>
                            <a:latin typeface="Cambria Math" panose="02040503050406030204" pitchFamily="18" charset="0"/>
                            <a:ea typeface="黑体" panose="02010609060101010101" pitchFamily="49" charset="-122"/>
                          </a:rPr>
                        </m:ctrlPr>
                      </m:sSubPr>
                      <m:e>
                        <m:r>
                          <a:rPr lang="en-US" altLang="zh-CN" sz="1800">
                            <a:solidFill>
                              <a:schemeClr val="tx1"/>
                            </a:solidFill>
                            <a:latin typeface="Cambria Math" panose="02040503050406030204" pitchFamily="18" charset="0"/>
                            <a:ea typeface="黑体" panose="02010609060101010101" pitchFamily="49" charset="-122"/>
                          </a:rPr>
                          <m:t>,</m:t>
                        </m:r>
                        <m:r>
                          <m:rPr>
                            <m:sty m:val="p"/>
                          </m:rPr>
                          <a:rPr lang="en-US" altLang="zh-CN" sz="1800" i="1">
                            <a:solidFill>
                              <a:schemeClr val="tx1"/>
                            </a:solidFill>
                            <a:latin typeface="Cambria Math" panose="02040503050406030204" pitchFamily="18" charset="0"/>
                            <a:ea typeface="黑体" panose="02010609060101010101" pitchFamily="49" charset="-122"/>
                          </a:rPr>
                          <m:t>x</m:t>
                        </m:r>
                      </m:e>
                      <m:sub>
                        <m:r>
                          <a:rPr lang="en-US" altLang="zh-CN" sz="1800">
                            <a:solidFill>
                              <a:schemeClr val="tx1"/>
                            </a:solidFill>
                            <a:latin typeface="Cambria Math" panose="02040503050406030204" pitchFamily="18" charset="0"/>
                            <a:ea typeface="黑体" panose="02010609060101010101" pitchFamily="49" charset="-122"/>
                          </a:rPr>
                          <m:t>4</m:t>
                        </m:r>
                      </m:sub>
                    </m:sSub>
                    <m:r>
                      <a:rPr lang="en-US" altLang="zh-CN" sz="1800" i="1">
                        <a:solidFill>
                          <a:schemeClr val="tx1"/>
                        </a:solidFill>
                        <a:latin typeface="Cambria Math" panose="02040503050406030204" pitchFamily="18" charset="0"/>
                        <a:ea typeface="黑体" panose="02010609060101010101" pitchFamily="49" charset="-122"/>
                      </a:rPr>
                      <m:t> </m:t>
                    </m:r>
                  </m:oMath>
                </a14:m>
                <a:r>
                  <a:rPr lang="zh-CN" altLang="en-US" sz="1800" dirty="0">
                    <a:solidFill>
                      <a:schemeClr val="tx1"/>
                    </a:solidFill>
                  </a:rPr>
                  <a:t>）的信息当做噪声，根据上半部分（ </a:t>
                </a:r>
                <a14:m>
                  <m:oMath xmlns:m="http://schemas.openxmlformats.org/officeDocument/2006/math">
                    <m:sSub>
                      <m:sSubPr>
                        <m:ctrlPr>
                          <a:rPr lang="zh-CN" altLang="en-US" sz="1800" i="1">
                            <a:solidFill>
                              <a:schemeClr val="tx1"/>
                            </a:solidFill>
                            <a:latin typeface="Cambria Math" panose="02040503050406030204" pitchFamily="18" charset="0"/>
                          </a:rPr>
                        </m:ctrlPr>
                      </m:sSubPr>
                      <m:e>
                        <m:r>
                          <m:rPr>
                            <m:sty m:val="p"/>
                          </m:rPr>
                          <a:rPr lang="en-US" altLang="zh-CN" sz="1800" i="1">
                            <a:solidFill>
                              <a:schemeClr val="tx1"/>
                            </a:solidFill>
                            <a:latin typeface="Cambria Math" panose="02040503050406030204" pitchFamily="18" charset="0"/>
                          </a:rPr>
                          <m:t>x</m:t>
                        </m:r>
                      </m:e>
                      <m:sub>
                        <m:r>
                          <a:rPr lang="en-US" altLang="zh-CN" sz="1800">
                            <a:solidFill>
                              <a:schemeClr val="tx1"/>
                            </a:solidFill>
                            <a:latin typeface="Cambria Math" panose="02040503050406030204" pitchFamily="18" charset="0"/>
                          </a:rPr>
                          <m:t>1</m:t>
                        </m:r>
                      </m:sub>
                    </m:sSub>
                    <m:sSub>
                      <m:sSubPr>
                        <m:ctrlPr>
                          <a:rPr lang="zh-CN" altLang="en-US" sz="1800" i="1">
                            <a:solidFill>
                              <a:schemeClr val="tx1"/>
                            </a:solidFill>
                            <a:latin typeface="Cambria Math" panose="02040503050406030204" pitchFamily="18" charset="0"/>
                          </a:rPr>
                        </m:ctrlPr>
                      </m:sSubPr>
                      <m:e>
                        <m:r>
                          <a:rPr lang="en-US" altLang="zh-CN" sz="1800">
                            <a:solidFill>
                              <a:schemeClr val="tx1"/>
                            </a:solidFill>
                            <a:latin typeface="Cambria Math" panose="02040503050406030204" pitchFamily="18" charset="0"/>
                          </a:rPr>
                          <m:t>,</m:t>
                        </m:r>
                        <m:r>
                          <m:rPr>
                            <m:sty m:val="p"/>
                          </m:rPr>
                          <a:rPr lang="en-US" altLang="zh-CN" sz="1800" i="1">
                            <a:solidFill>
                              <a:schemeClr val="tx1"/>
                            </a:solidFill>
                            <a:latin typeface="Cambria Math" panose="02040503050406030204" pitchFamily="18" charset="0"/>
                          </a:rPr>
                          <m:t>x</m:t>
                        </m:r>
                      </m:e>
                      <m:sub>
                        <m:r>
                          <a:rPr lang="en-US" altLang="zh-CN" sz="1800">
                            <a:solidFill>
                              <a:schemeClr val="tx1"/>
                            </a:solidFill>
                            <a:latin typeface="Cambria Math" panose="02040503050406030204" pitchFamily="18" charset="0"/>
                          </a:rPr>
                          <m:t>2</m:t>
                        </m:r>
                      </m:sub>
                    </m:sSub>
                    <m:r>
                      <a:rPr lang="en-US" altLang="zh-CN" sz="1800" i="1">
                        <a:solidFill>
                          <a:schemeClr val="tx1"/>
                        </a:solidFill>
                        <a:latin typeface="Cambria Math" panose="02040503050406030204" pitchFamily="18" charset="0"/>
                      </a:rPr>
                      <m:t> </m:t>
                    </m:r>
                  </m:oMath>
                </a14:m>
                <a:r>
                  <a:rPr lang="zh-CN" altLang="en-US" sz="1800" dirty="0">
                    <a:solidFill>
                      <a:schemeClr val="tx1"/>
                    </a:solidFill>
                  </a:rPr>
                  <a:t>）计算出临时变量</a:t>
                </a:r>
                <a14:m>
                  <m:oMath xmlns:m="http://schemas.openxmlformats.org/officeDocument/2006/math">
                    <m:sSub>
                      <m:sSubPr>
                        <m:ctrlPr>
                          <a:rPr lang="zh-CN" altLang="en-US" sz="1800" i="1">
                            <a:solidFill>
                              <a:schemeClr val="tx1"/>
                            </a:solidFill>
                            <a:latin typeface="Cambria Math" panose="02040503050406030204" pitchFamily="18" charset="0"/>
                          </a:rPr>
                        </m:ctrlPr>
                      </m:sSubPr>
                      <m:e>
                        <m:r>
                          <m:rPr>
                            <m:sty m:val="p"/>
                          </m:rPr>
                          <a:rPr lang="en-US" altLang="zh-CN" sz="1800" i="1">
                            <a:solidFill>
                              <a:schemeClr val="tx1"/>
                            </a:solidFill>
                            <a:latin typeface="Cambria Math" panose="02040503050406030204" pitchFamily="18" charset="0"/>
                          </a:rPr>
                          <m:t>t</m:t>
                        </m:r>
                      </m:e>
                      <m:sub>
                        <m:r>
                          <a:rPr lang="en-US" altLang="zh-CN" sz="1800">
                            <a:solidFill>
                              <a:schemeClr val="tx1"/>
                            </a:solidFill>
                            <a:latin typeface="Cambria Math" panose="02040503050406030204" pitchFamily="18" charset="0"/>
                          </a:rPr>
                          <m:t>1</m:t>
                        </m:r>
                      </m:sub>
                    </m:sSub>
                    <m:sSub>
                      <m:sSubPr>
                        <m:ctrlPr>
                          <a:rPr lang="zh-CN" altLang="en-US" sz="1800" i="1">
                            <a:solidFill>
                              <a:schemeClr val="tx1"/>
                            </a:solidFill>
                            <a:latin typeface="Cambria Math" panose="02040503050406030204" pitchFamily="18" charset="0"/>
                          </a:rPr>
                        </m:ctrlPr>
                      </m:sSubPr>
                      <m:e>
                        <m:r>
                          <a:rPr lang="en-US" altLang="zh-CN" sz="1800">
                            <a:solidFill>
                              <a:schemeClr val="tx1"/>
                            </a:solidFill>
                            <a:latin typeface="Cambria Math" panose="02040503050406030204" pitchFamily="18" charset="0"/>
                          </a:rPr>
                          <m:t>,</m:t>
                        </m:r>
                        <m:r>
                          <m:rPr>
                            <m:sty m:val="p"/>
                          </m:rPr>
                          <a:rPr lang="en-US" altLang="zh-CN" sz="1800" i="1">
                            <a:solidFill>
                              <a:schemeClr val="tx1"/>
                            </a:solidFill>
                            <a:latin typeface="Cambria Math" panose="02040503050406030204" pitchFamily="18" charset="0"/>
                          </a:rPr>
                          <m:t>t</m:t>
                        </m:r>
                      </m:e>
                      <m:sub>
                        <m:r>
                          <a:rPr lang="en-US" altLang="zh-CN" sz="1800">
                            <a:solidFill>
                              <a:schemeClr val="tx1"/>
                            </a:solidFill>
                            <a:latin typeface="Cambria Math" panose="02040503050406030204" pitchFamily="18" charset="0"/>
                          </a:rPr>
                          <m:t>2</m:t>
                        </m:r>
                      </m:sub>
                    </m:sSub>
                    <m:r>
                      <a:rPr lang="en-US" altLang="zh-CN" sz="1800" i="1">
                        <a:solidFill>
                          <a:schemeClr val="tx1"/>
                        </a:solidFill>
                        <a:latin typeface="Cambria Math" panose="02040503050406030204" pitchFamily="18" charset="0"/>
                      </a:rPr>
                      <m:t> </m:t>
                    </m:r>
                    <m:r>
                      <a:rPr lang="zh-CN" altLang="en-US" sz="1800" i="1">
                        <a:solidFill>
                          <a:schemeClr val="tx1"/>
                        </a:solidFill>
                        <a:latin typeface="Cambria Math" panose="02040503050406030204" pitchFamily="18" charset="0"/>
                      </a:rPr>
                      <m:t>。</m:t>
                    </m:r>
                  </m:oMath>
                </a14:m>
                <a:r>
                  <a:rPr lang="zh-CN" altLang="en-US" sz="1800" dirty="0">
                    <a:solidFill>
                      <a:schemeClr val="tx1"/>
                    </a:solidFill>
                  </a:rPr>
                  <a:t>在这里，“当做噪声”的含义是丛编码（或数据发射）角度看，有</a:t>
                </a:r>
                <a:endParaRPr lang="en-US" altLang="zh-CN" sz="1800" dirty="0">
                  <a:solidFill>
                    <a:schemeClr val="tx1"/>
                  </a:solidFill>
                </a:endParaRPr>
              </a:p>
              <a:p>
                <a:pPr marL="0" indent="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𝑥</m:t>
                          </m:r>
                        </m:e>
                        <m:sub>
                          <m:r>
                            <a:rPr lang="en-US" altLang="zh-CN" sz="1800" i="1">
                              <a:solidFill>
                                <a:schemeClr val="tx1"/>
                              </a:solidFill>
                              <a:latin typeface="Cambria Math" panose="02040503050406030204" pitchFamily="18" charset="0"/>
                            </a:rPr>
                            <m:t>1</m:t>
                          </m:r>
                        </m:sub>
                      </m:sSub>
                      <m:r>
                        <a:rPr lang="en-US" altLang="zh-CN" sz="1800" i="1">
                          <a:solidFill>
                            <a:schemeClr val="tx1"/>
                          </a:solidFill>
                          <a:latin typeface="Cambria Math" panose="02040503050406030204" pitchFamily="18" charset="0"/>
                        </a:rPr>
                        <m:t>=</m:t>
                      </m:r>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𝑡</m:t>
                          </m:r>
                        </m:e>
                        <m:sub>
                          <m:r>
                            <a:rPr lang="en-US" altLang="zh-CN" sz="1800" i="1">
                              <a:solidFill>
                                <a:schemeClr val="tx1"/>
                              </a:solidFill>
                              <a:latin typeface="Cambria Math" panose="02040503050406030204" pitchFamily="18" charset="0"/>
                            </a:rPr>
                            <m:t>1</m:t>
                          </m:r>
                        </m:sub>
                      </m:sSub>
                      <m:r>
                        <a:rPr lang="en-US" altLang="zh-CN" sz="1800" i="1">
                          <a:solidFill>
                            <a:schemeClr val="tx1"/>
                          </a:solidFill>
                          <a:latin typeface="Cambria Math" panose="02040503050406030204" pitchFamily="18" charset="0"/>
                        </a:rPr>
                        <m:t>+</m:t>
                      </m:r>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𝑛</m:t>
                          </m:r>
                        </m:e>
                        <m:sub>
                          <m:r>
                            <a:rPr lang="en-US" altLang="zh-CN" sz="1800" i="1">
                              <a:solidFill>
                                <a:schemeClr val="tx1"/>
                              </a:solidFill>
                              <a:latin typeface="Cambria Math" panose="02040503050406030204" pitchFamily="18" charset="0"/>
                            </a:rPr>
                            <m:t>1</m:t>
                          </m:r>
                        </m:sub>
                      </m:sSub>
                    </m:oMath>
                  </m:oMathPara>
                </a14:m>
                <a:endParaRPr lang="en-US" altLang="zh-CN" sz="1800" dirty="0">
                  <a:solidFill>
                    <a:schemeClr val="tx1"/>
                  </a:solidFill>
                </a:endParaRPr>
              </a:p>
              <a:p>
                <a:pPr marL="0" indent="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𝑥</m:t>
                          </m:r>
                        </m:e>
                        <m:sub>
                          <m:r>
                            <a:rPr lang="en-US" altLang="zh-CN" sz="1800" i="1">
                              <a:solidFill>
                                <a:schemeClr val="tx1"/>
                              </a:solidFill>
                              <a:latin typeface="Cambria Math" panose="02040503050406030204" pitchFamily="18" charset="0"/>
                            </a:rPr>
                            <m:t>2</m:t>
                          </m:r>
                        </m:sub>
                      </m:sSub>
                      <m:r>
                        <a:rPr lang="en-US" altLang="zh-CN" sz="1800" i="1">
                          <a:solidFill>
                            <a:schemeClr val="tx1"/>
                          </a:solidFill>
                          <a:latin typeface="Cambria Math" panose="02040503050406030204" pitchFamily="18" charset="0"/>
                        </a:rPr>
                        <m:t>=</m:t>
                      </m:r>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𝑡</m:t>
                          </m:r>
                        </m:e>
                        <m:sub>
                          <m:r>
                            <a:rPr lang="en-US" altLang="zh-CN" sz="1800" i="1">
                              <a:solidFill>
                                <a:schemeClr val="tx1"/>
                              </a:solidFill>
                              <a:latin typeface="Cambria Math" panose="02040503050406030204" pitchFamily="18" charset="0"/>
                            </a:rPr>
                            <m:t>2</m:t>
                          </m:r>
                        </m:sub>
                      </m:sSub>
                      <m:r>
                        <a:rPr lang="en-US" altLang="zh-CN" sz="1800" i="1">
                          <a:solidFill>
                            <a:schemeClr val="tx1"/>
                          </a:solidFill>
                          <a:latin typeface="Cambria Math" panose="02040503050406030204" pitchFamily="18" charset="0"/>
                        </a:rPr>
                        <m:t>+</m:t>
                      </m:r>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𝑛</m:t>
                          </m:r>
                        </m:e>
                        <m:sub>
                          <m:r>
                            <a:rPr lang="en-US" altLang="zh-CN" sz="1800" i="1">
                              <a:solidFill>
                                <a:schemeClr val="tx1"/>
                              </a:solidFill>
                              <a:latin typeface="Cambria Math" panose="02040503050406030204" pitchFamily="18" charset="0"/>
                            </a:rPr>
                            <m:t>2</m:t>
                          </m:r>
                        </m:sub>
                      </m:sSub>
                    </m:oMath>
                  </m:oMathPara>
                </a14:m>
                <a:endParaRPr lang="en-US" altLang="zh-CN" sz="1800" dirty="0">
                  <a:solidFill>
                    <a:schemeClr val="tx1"/>
                  </a:solidFill>
                </a:endParaRPr>
              </a:p>
              <a:p>
                <a:pPr marL="0" indent="0">
                  <a:lnSpc>
                    <a:spcPct val="150000"/>
                  </a:lnSpc>
                  <a:spcBef>
                    <a:spcPts val="0"/>
                  </a:spcBef>
                  <a:spcAft>
                    <a:spcPts val="0"/>
                  </a:spcAft>
                  <a:buNone/>
                </a:pPr>
                <a:r>
                  <a:rPr lang="en-US" altLang="zh-CN" sz="1800" dirty="0">
                    <a:solidFill>
                      <a:schemeClr val="tx1"/>
                    </a:solidFill>
                  </a:rPr>
                  <a:t>      </a:t>
                </a:r>
                <a:r>
                  <a:rPr lang="zh-CN" altLang="en-US" sz="1800" dirty="0">
                    <a:solidFill>
                      <a:schemeClr val="tx1"/>
                    </a:solidFill>
                  </a:rPr>
                  <a:t>其中</a:t>
                </a:r>
                <a14:m>
                  <m:oMath xmlns:m="http://schemas.openxmlformats.org/officeDocument/2006/math">
                    <m:sSub>
                      <m:sSubPr>
                        <m:ctrlPr>
                          <a:rPr lang="zh-CN" altLang="en-US" sz="1800" i="1">
                            <a:solidFill>
                              <a:schemeClr val="tx1"/>
                            </a:solidFill>
                            <a:latin typeface="Cambria Math" panose="02040503050406030204" pitchFamily="18" charset="0"/>
                          </a:rPr>
                        </m:ctrlPr>
                      </m:sSubPr>
                      <m:e>
                        <m:r>
                          <m:rPr>
                            <m:sty m:val="p"/>
                          </m:rPr>
                          <a:rPr lang="en-US" altLang="zh-CN" sz="1800" i="1">
                            <a:solidFill>
                              <a:schemeClr val="tx1"/>
                            </a:solidFill>
                            <a:latin typeface="Cambria Math" panose="02040503050406030204" pitchFamily="18" charset="0"/>
                          </a:rPr>
                          <m:t>t</m:t>
                        </m:r>
                      </m:e>
                      <m:sub>
                        <m:r>
                          <a:rPr lang="en-US" altLang="zh-CN" sz="1800">
                            <a:solidFill>
                              <a:schemeClr val="tx1"/>
                            </a:solidFill>
                            <a:latin typeface="Cambria Math" panose="02040503050406030204" pitchFamily="18" charset="0"/>
                          </a:rPr>
                          <m:t>1</m:t>
                        </m:r>
                      </m:sub>
                    </m:sSub>
                    <m:sSub>
                      <m:sSubPr>
                        <m:ctrlPr>
                          <a:rPr lang="zh-CN" altLang="en-US" sz="1800" i="1">
                            <a:solidFill>
                              <a:schemeClr val="tx1"/>
                            </a:solidFill>
                            <a:latin typeface="Cambria Math" panose="02040503050406030204" pitchFamily="18" charset="0"/>
                          </a:rPr>
                        </m:ctrlPr>
                      </m:sSubPr>
                      <m:e>
                        <m:r>
                          <a:rPr lang="en-US" altLang="zh-CN" sz="1800">
                            <a:solidFill>
                              <a:schemeClr val="tx1"/>
                            </a:solidFill>
                            <a:latin typeface="Cambria Math" panose="02040503050406030204" pitchFamily="18" charset="0"/>
                          </a:rPr>
                          <m:t>,</m:t>
                        </m:r>
                        <m:r>
                          <m:rPr>
                            <m:sty m:val="p"/>
                          </m:rPr>
                          <a:rPr lang="en-US" altLang="zh-CN" sz="1800" i="1">
                            <a:solidFill>
                              <a:schemeClr val="tx1"/>
                            </a:solidFill>
                            <a:latin typeface="Cambria Math" panose="02040503050406030204" pitchFamily="18" charset="0"/>
                          </a:rPr>
                          <m:t>t</m:t>
                        </m:r>
                      </m:e>
                      <m:sub>
                        <m:r>
                          <a:rPr lang="en-US" altLang="zh-CN" sz="1800">
                            <a:solidFill>
                              <a:schemeClr val="tx1"/>
                            </a:solidFill>
                            <a:latin typeface="Cambria Math" panose="02040503050406030204" pitchFamily="18" charset="0"/>
                          </a:rPr>
                          <m:t>2</m:t>
                        </m:r>
                      </m:sub>
                    </m:sSub>
                  </m:oMath>
                </a14:m>
                <a:r>
                  <a:rPr lang="zh-CN" altLang="en-US" sz="1800" dirty="0">
                    <a:solidFill>
                      <a:schemeClr val="tx1"/>
                    </a:solidFill>
                  </a:rPr>
                  <a:t>为有用数据，</a:t>
                </a:r>
                <a:r>
                  <a:rPr lang="en-US" altLang="zh-CN" sz="1800" dirty="0">
                    <a:solidFill>
                      <a:schemeClr val="tx1"/>
                    </a:solidFill>
                  </a:rPr>
                  <a:t> </a:t>
                </a:r>
                <a14:m>
                  <m:oMath xmlns:m="http://schemas.openxmlformats.org/officeDocument/2006/math">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𝑛</m:t>
                        </m:r>
                      </m:e>
                      <m:sub>
                        <m:r>
                          <a:rPr lang="en-US" altLang="zh-CN" sz="1800" i="1">
                            <a:solidFill>
                              <a:schemeClr val="tx1"/>
                            </a:solidFill>
                            <a:latin typeface="Cambria Math" panose="02040503050406030204" pitchFamily="18" charset="0"/>
                          </a:rPr>
                          <m:t>1</m:t>
                        </m:r>
                      </m:sub>
                    </m:sSub>
                    <m:r>
                      <a:rPr lang="en-US" altLang="zh-CN" sz="1800" i="1">
                        <a:solidFill>
                          <a:schemeClr val="tx1"/>
                        </a:solidFill>
                        <a:latin typeface="Cambria Math" panose="02040503050406030204" pitchFamily="18" charset="0"/>
                      </a:rPr>
                      <m:t>,</m:t>
                    </m:r>
                  </m:oMath>
                </a14:m>
                <a:r>
                  <a:rPr lang="en-US" altLang="zh-CN" sz="1800" dirty="0">
                    <a:solidFill>
                      <a:schemeClr val="tx1"/>
                    </a:solidFill>
                  </a:rPr>
                  <a:t> </a:t>
                </a:r>
                <a14:m>
                  <m:oMath xmlns:m="http://schemas.openxmlformats.org/officeDocument/2006/math">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𝑛</m:t>
                        </m:r>
                      </m:e>
                      <m:sub>
                        <m:r>
                          <a:rPr lang="en-US" altLang="zh-CN" sz="1800" i="1">
                            <a:solidFill>
                              <a:schemeClr val="tx1"/>
                            </a:solidFill>
                            <a:latin typeface="Cambria Math" panose="02040503050406030204" pitchFamily="18" charset="0"/>
                          </a:rPr>
                          <m:t>2</m:t>
                        </m:r>
                      </m:sub>
                    </m:sSub>
                  </m:oMath>
                </a14:m>
                <a:r>
                  <a:rPr lang="zh-CN" altLang="en-US" sz="1800" dirty="0">
                    <a:solidFill>
                      <a:schemeClr val="tx1"/>
                    </a:solidFill>
                  </a:rPr>
                  <a:t>为噪声，因此在解码时为消除噪声影响需要</a:t>
                </a:r>
                <a:endParaRPr lang="en-US" altLang="zh-CN" sz="1800" dirty="0">
                  <a:solidFill>
                    <a:schemeClr val="tx1"/>
                  </a:solidFill>
                </a:endParaRPr>
              </a:p>
              <a:p>
                <a:pPr marL="0" indent="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CN" sz="1800" i="1">
                              <a:solidFill>
                                <a:schemeClr val="tx1"/>
                              </a:solidFill>
                              <a:latin typeface="Cambria Math" panose="02040503050406030204" pitchFamily="18" charset="0"/>
                            </a:rPr>
                          </m:ctrlPr>
                        </m:sSubPr>
                        <m:e>
                          <m:r>
                            <m:rPr>
                              <m:sty m:val="p"/>
                            </m:rPr>
                            <a:rPr lang="en-US" altLang="zh-CN" sz="1800" i="1">
                              <a:solidFill>
                                <a:schemeClr val="tx1"/>
                              </a:solidFill>
                              <a:latin typeface="Cambria Math" panose="02040503050406030204" pitchFamily="18" charset="0"/>
                            </a:rPr>
                            <m:t>t</m:t>
                          </m:r>
                        </m:e>
                        <m:sub>
                          <m:r>
                            <a:rPr lang="en-US" altLang="zh-CN" sz="1800" i="1">
                              <a:solidFill>
                                <a:schemeClr val="tx1"/>
                              </a:solidFill>
                              <a:latin typeface="Cambria Math" panose="02040503050406030204" pitchFamily="18" charset="0"/>
                            </a:rPr>
                            <m:t>1</m:t>
                          </m:r>
                        </m:sub>
                      </m:sSub>
                      <m:r>
                        <a:rPr lang="en-US" altLang="zh-CN" sz="1800" i="1">
                          <a:solidFill>
                            <a:schemeClr val="tx1"/>
                          </a:solidFill>
                          <a:latin typeface="Cambria Math" panose="02040503050406030204" pitchFamily="18" charset="0"/>
                        </a:rPr>
                        <m:t>=</m:t>
                      </m:r>
                      <m:sSub>
                        <m:sSubPr>
                          <m:ctrlPr>
                            <a:rPr lang="en-US" altLang="zh-CN" sz="1800" i="1">
                              <a:solidFill>
                                <a:schemeClr val="tx1"/>
                              </a:solidFill>
                              <a:latin typeface="Cambria Math" panose="02040503050406030204" pitchFamily="18" charset="0"/>
                            </a:rPr>
                          </m:ctrlPr>
                        </m:sSubPr>
                        <m:e>
                          <m:r>
                            <m:rPr>
                              <m:sty m:val="p"/>
                            </m:rPr>
                            <a:rPr lang="en-US" altLang="zh-CN" sz="1800" i="1">
                              <a:solidFill>
                                <a:schemeClr val="tx1"/>
                              </a:solidFill>
                              <a:latin typeface="Cambria Math" panose="02040503050406030204" pitchFamily="18" charset="0"/>
                            </a:rPr>
                            <m:t>x</m:t>
                          </m:r>
                        </m:e>
                        <m:sub>
                          <m:r>
                            <a:rPr lang="en-US" altLang="zh-CN" sz="1800" i="1">
                              <a:solidFill>
                                <a:schemeClr val="tx1"/>
                              </a:solidFill>
                              <a:latin typeface="Cambria Math" panose="02040503050406030204" pitchFamily="18" charset="0"/>
                            </a:rPr>
                            <m:t>1</m:t>
                          </m:r>
                        </m:sub>
                      </m:sSub>
                      <m:r>
                        <a:rPr lang="en-US" altLang="zh-CN" sz="1800" i="1">
                          <a:solidFill>
                            <a:schemeClr val="tx1"/>
                          </a:solidFill>
                          <a:latin typeface="Cambria Math" panose="02040503050406030204" pitchFamily="18" charset="0"/>
                        </a:rPr>
                        <m:t> −</m:t>
                      </m:r>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  </m:t>
                          </m:r>
                          <m:r>
                            <a:rPr lang="en-US" altLang="zh-CN" sz="1800" i="1">
                              <a:solidFill>
                                <a:schemeClr val="tx1"/>
                              </a:solidFill>
                              <a:latin typeface="Cambria Math" panose="02040503050406030204" pitchFamily="18" charset="0"/>
                            </a:rPr>
                            <m:t>𝑛</m:t>
                          </m:r>
                        </m:e>
                        <m:sub>
                          <m:r>
                            <a:rPr lang="en-US" altLang="zh-CN" sz="1800" i="1">
                              <a:solidFill>
                                <a:schemeClr val="tx1"/>
                              </a:solidFill>
                              <a:latin typeface="Cambria Math" panose="02040503050406030204" pitchFamily="18" charset="0"/>
                            </a:rPr>
                            <m:t>1</m:t>
                          </m:r>
                        </m:sub>
                      </m:sSub>
                    </m:oMath>
                  </m:oMathPara>
                </a14:m>
                <a:endParaRPr lang="en-US" altLang="zh-CN" sz="1800" dirty="0">
                  <a:solidFill>
                    <a:schemeClr val="tx1"/>
                  </a:solidFill>
                </a:endParaRPr>
              </a:p>
              <a:p>
                <a:pPr marL="0" indent="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CN" sz="1800" i="1">
                              <a:solidFill>
                                <a:schemeClr val="tx1"/>
                              </a:solidFill>
                              <a:latin typeface="Cambria Math" panose="02040503050406030204" pitchFamily="18" charset="0"/>
                            </a:rPr>
                          </m:ctrlPr>
                        </m:sSubPr>
                        <m:e>
                          <m:r>
                            <m:rPr>
                              <m:sty m:val="p"/>
                            </m:rPr>
                            <a:rPr lang="en-US" altLang="zh-CN" sz="1800" i="1">
                              <a:solidFill>
                                <a:schemeClr val="tx1"/>
                              </a:solidFill>
                              <a:latin typeface="Cambria Math" panose="02040503050406030204" pitchFamily="18" charset="0"/>
                            </a:rPr>
                            <m:t>t</m:t>
                          </m:r>
                        </m:e>
                        <m:sub>
                          <m:r>
                            <a:rPr lang="en-US" altLang="zh-CN" sz="1800" i="1">
                              <a:solidFill>
                                <a:schemeClr val="tx1"/>
                              </a:solidFill>
                              <a:latin typeface="Cambria Math" panose="02040503050406030204" pitchFamily="18" charset="0"/>
                            </a:rPr>
                            <m:t>2</m:t>
                          </m:r>
                        </m:sub>
                      </m:sSub>
                      <m:r>
                        <a:rPr lang="en-US" altLang="zh-CN" sz="1800" i="1">
                          <a:solidFill>
                            <a:schemeClr val="tx1"/>
                          </a:solidFill>
                          <a:latin typeface="Cambria Math" panose="02040503050406030204" pitchFamily="18" charset="0"/>
                        </a:rPr>
                        <m:t>=</m:t>
                      </m:r>
                      <m:sSub>
                        <m:sSubPr>
                          <m:ctrlPr>
                            <a:rPr lang="en-US" altLang="zh-CN" sz="1800" i="1">
                              <a:solidFill>
                                <a:schemeClr val="tx1"/>
                              </a:solidFill>
                              <a:latin typeface="Cambria Math" panose="02040503050406030204" pitchFamily="18" charset="0"/>
                            </a:rPr>
                          </m:ctrlPr>
                        </m:sSubPr>
                        <m:e>
                          <m:r>
                            <m:rPr>
                              <m:sty m:val="p"/>
                            </m:rPr>
                            <a:rPr lang="en-US" altLang="zh-CN" sz="1800" i="1">
                              <a:solidFill>
                                <a:schemeClr val="tx1"/>
                              </a:solidFill>
                              <a:latin typeface="Cambria Math" panose="02040503050406030204" pitchFamily="18" charset="0"/>
                            </a:rPr>
                            <m:t>x</m:t>
                          </m:r>
                        </m:e>
                        <m:sub>
                          <m:r>
                            <a:rPr lang="en-US" altLang="zh-CN" sz="1800" i="1">
                              <a:solidFill>
                                <a:schemeClr val="tx1"/>
                              </a:solidFill>
                              <a:latin typeface="Cambria Math" panose="02040503050406030204" pitchFamily="18" charset="0"/>
                            </a:rPr>
                            <m:t>2</m:t>
                          </m:r>
                        </m:sub>
                      </m:sSub>
                      <m:r>
                        <a:rPr lang="en-US" altLang="zh-CN" sz="1800" i="1">
                          <a:solidFill>
                            <a:schemeClr val="tx1"/>
                          </a:solidFill>
                          <a:latin typeface="Cambria Math" panose="02040503050406030204" pitchFamily="18" charset="0"/>
                        </a:rPr>
                        <m:t> − </m:t>
                      </m:r>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𝑛</m:t>
                          </m:r>
                        </m:e>
                        <m:sub>
                          <m:r>
                            <a:rPr lang="en-US" altLang="zh-CN" sz="1800" i="1">
                              <a:solidFill>
                                <a:schemeClr val="tx1"/>
                              </a:solidFill>
                              <a:latin typeface="Cambria Math" panose="02040503050406030204" pitchFamily="18" charset="0"/>
                            </a:rPr>
                            <m:t>2</m:t>
                          </m:r>
                        </m:sub>
                      </m:sSub>
                    </m:oMath>
                  </m:oMathPara>
                </a14:m>
                <a:endParaRPr lang="en-US" altLang="zh-CN" sz="1800" dirty="0">
                  <a:solidFill>
                    <a:schemeClr val="tx1"/>
                  </a:solidFill>
                </a:endParaRPr>
              </a:p>
            </p:txBody>
          </p:sp>
        </mc:Choice>
        <mc:Fallback xmlns="">
          <p:sp>
            <p:nvSpPr>
              <p:cNvPr id="5" name="内容占位符 2"/>
              <p:cNvSpPr>
                <a:spLocks noGrp="1" noRot="1" noChangeAspect="1" noMove="1" noResize="1" noEditPoints="1" noAdjustHandles="1" noChangeArrowheads="1" noChangeShapeType="1" noTextEdit="1"/>
              </p:cNvSpPr>
              <p:nvPr>
                <p:ph idx="1"/>
              </p:nvPr>
            </p:nvSpPr>
            <p:spPr>
              <a:xfrm>
                <a:off x="1752714" y="609674"/>
                <a:ext cx="4571880" cy="5029068"/>
              </a:xfrm>
              <a:blipFill>
                <a:blip r:embed="rId2"/>
                <a:stretch>
                  <a:fillRect l="-1469" r="-134"/>
                </a:stretch>
              </a:blipFill>
              <a:ln>
                <a:noFill/>
              </a:ln>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6324594" y="1372811"/>
            <a:ext cx="4286470" cy="3327571"/>
          </a:xfrm>
          <a:prstGeom prst="rect">
            <a:avLst/>
          </a:prstGeom>
        </p:spPr>
      </p:pic>
      <mc:AlternateContent xmlns:mc="http://schemas.openxmlformats.org/markup-compatibility/2006" xmlns:a14="http://schemas.microsoft.com/office/drawing/2010/main">
        <mc:Choice Requires="a14">
          <p:sp>
            <p:nvSpPr>
              <p:cNvPr id="9" name="文本框 8"/>
              <p:cNvSpPr txBox="1"/>
              <p:nvPr/>
            </p:nvSpPr>
            <p:spPr>
              <a:xfrm>
                <a:off x="1981308" y="5410149"/>
                <a:ext cx="7905606" cy="1059393"/>
              </a:xfrm>
              <a:prstGeom prst="rect">
                <a:avLst/>
              </a:prstGeom>
              <a:noFill/>
            </p:spPr>
            <p:txBody>
              <a:bodyPr wrap="square">
                <a:spAutoFit/>
              </a:bodyPr>
              <a:lstStyle/>
              <a:p>
                <a:pPr eaLnBrk="0" fontAlgn="base" hangingPunct="0">
                  <a:lnSpc>
                    <a:spcPct val="150000"/>
                  </a:lnSpc>
                  <a:defRPr/>
                </a:pPr>
                <a:r>
                  <a:rPr kumimoji="1" lang="zh-CN" altLang="en-US" dirty="0">
                    <a:solidFill>
                      <a:srgbClr val="000000"/>
                    </a:solidFill>
                    <a:latin typeface="Times New Roman"/>
                    <a:ea typeface="黑体" panose="02010609060101010101" pitchFamily="49" charset="-122"/>
                  </a:rPr>
                  <a:t> 这里的“</a:t>
                </a:r>
                <a:r>
                  <a:rPr kumimoji="1" lang="en-US" altLang="zh-CN" dirty="0">
                    <a:solidFill>
                      <a:srgbClr val="000000"/>
                    </a:solidFill>
                    <a:latin typeface="Times New Roman"/>
                    <a:ea typeface="黑体" panose="02010609060101010101" pitchFamily="49" charset="-122"/>
                  </a:rPr>
                  <a:t>-</a:t>
                </a:r>
                <a:r>
                  <a:rPr kumimoji="1" lang="zh-CN" altLang="en-US" dirty="0">
                    <a:solidFill>
                      <a:srgbClr val="000000"/>
                    </a:solidFill>
                    <a:latin typeface="Times New Roman"/>
                    <a:ea typeface="黑体" panose="02010609060101010101" pitchFamily="49" charset="-122"/>
                  </a:rPr>
                  <a:t>”不是简单的减法，二是</a:t>
                </a:r>
                <a14:m>
                  <m:oMath xmlns:m="http://schemas.openxmlformats.org/officeDocument/2006/math">
                    <m:r>
                      <a:rPr kumimoji="1" lang="zh-CN" altLang="en-US" i="1">
                        <a:solidFill>
                          <a:srgbClr val="000000"/>
                        </a:solidFill>
                        <a:latin typeface="Cambria Math" panose="02040503050406030204" pitchFamily="18" charset="0"/>
                      </a:rPr>
                      <m:t>𝑓</m:t>
                    </m:r>
                  </m:oMath>
                </a14:m>
                <a:r>
                  <a:rPr kumimoji="1" lang="zh-CN" altLang="en-US" dirty="0">
                    <a:solidFill>
                      <a:srgbClr val="000000"/>
                    </a:solidFill>
                    <a:latin typeface="Times New Roman"/>
                    <a:ea typeface="黑体" panose="02010609060101010101" pitchFamily="49" charset="-122"/>
                  </a:rPr>
                  <a:t>运算（</a:t>
                </a:r>
                <a:r>
                  <a:rPr kumimoji="1" lang="en-US" altLang="zh-CN" dirty="0">
                    <a:solidFill>
                      <a:srgbClr val="000000"/>
                    </a:solidFill>
                    <a:latin typeface="Times New Roman"/>
                    <a:ea typeface="黑体" panose="02010609060101010101" pitchFamily="49" charset="-122"/>
                  </a:rPr>
                  <a:t> </a:t>
                </a:r>
                <a14:m>
                  <m:oMath xmlns:m="http://schemas.openxmlformats.org/officeDocument/2006/math">
                    <m:r>
                      <a:rPr kumimoji="1" lang="zh-CN" altLang="en-US" dirty="0">
                        <a:solidFill>
                          <a:srgbClr val="000000"/>
                        </a:solidFill>
                        <a:latin typeface="Cambria Math" panose="02040503050406030204" pitchFamily="18" charset="0"/>
                        <a:ea typeface="黑体" panose="02010609060101010101" pitchFamily="49" charset="-122"/>
                      </a:rPr>
                      <m:t>盒子</m:t>
                    </m:r>
                  </m:oMath>
                </a14:m>
                <a:r>
                  <a:rPr kumimoji="1" lang="zh-CN" altLang="en-US" dirty="0">
                    <a:solidFill>
                      <a:srgbClr val="000000"/>
                    </a:solidFill>
                    <a:latin typeface="Times New Roman"/>
                    <a:ea typeface="黑体" panose="02010609060101010101" pitchFamily="49" charset="-122"/>
                  </a:rPr>
                  <a:t>加，</a:t>
                </a:r>
                <a:r>
                  <a:rPr kumimoji="1" lang="en-US" altLang="zh-CN" dirty="0">
                    <a:solidFill>
                      <a:srgbClr val="000000"/>
                    </a:solidFill>
                    <a:latin typeface="Times New Roman"/>
                    <a:ea typeface="黑体" panose="02010609060101010101" pitchFamily="49" charset="-122"/>
                  </a:rPr>
                  <a:t>Box-plus</a:t>
                </a:r>
                <a:r>
                  <a:rPr kumimoji="1" lang="zh-CN" altLang="en-US" dirty="0">
                    <a:solidFill>
                      <a:srgbClr val="000000"/>
                    </a:solidFill>
                    <a:latin typeface="Times New Roman"/>
                    <a:ea typeface="黑体" panose="02010609060101010101" pitchFamily="49" charset="-122"/>
                  </a:rPr>
                  <a:t>），如下。</a:t>
                </a:r>
                <a:endParaRPr kumimoji="1" lang="en-US" altLang="zh-CN" dirty="0">
                  <a:solidFill>
                    <a:srgbClr val="000000"/>
                  </a:solidFill>
                  <a:latin typeface="Times New Roman"/>
                  <a:ea typeface="黑体" panose="02010609060101010101" pitchFamily="49" charset="-122"/>
                </a:endParaRPr>
              </a:p>
              <a:p>
                <a:pPr eaLnBrk="0" fontAlgn="base" hangingPunct="0">
                  <a:defRPr/>
                </a:pPr>
                <a14:m>
                  <m:oMathPara xmlns:m="http://schemas.openxmlformats.org/officeDocument/2006/math">
                    <m:oMathParaPr>
                      <m:jc m:val="centerGroup"/>
                    </m:oMathParaPr>
                    <m:oMath xmlns:m="http://schemas.openxmlformats.org/officeDocument/2006/math">
                      <m:sSub>
                        <m:sSubPr>
                          <m:ctrlPr>
                            <a:rPr kumimoji="1" lang="en-US" altLang="zh-CN" i="1">
                              <a:solidFill>
                                <a:srgbClr val="000000"/>
                              </a:solidFill>
                              <a:latin typeface="Cambria Math" panose="02040503050406030204" pitchFamily="18" charset="0"/>
                            </a:rPr>
                          </m:ctrlPr>
                        </m:sSubPr>
                        <m:e>
                          <m:r>
                            <a:rPr kumimoji="1" lang="en-US" altLang="zh-CN" i="1">
                              <a:solidFill>
                                <a:srgbClr val="000000"/>
                              </a:solidFill>
                              <a:latin typeface="Cambria Math" panose="02040503050406030204" pitchFamily="18" charset="0"/>
                            </a:rPr>
                            <m:t>𝑡</m:t>
                          </m:r>
                        </m:e>
                        <m:sub>
                          <m:r>
                            <a:rPr kumimoji="1" lang="en-US" altLang="zh-CN" i="1">
                              <a:solidFill>
                                <a:srgbClr val="000000"/>
                              </a:solidFill>
                              <a:latin typeface="Cambria Math" panose="02040503050406030204" pitchFamily="18" charset="0"/>
                            </a:rPr>
                            <m:t>1</m:t>
                          </m:r>
                        </m:sub>
                      </m:sSub>
                      <m:r>
                        <a:rPr kumimoji="1" lang="en-US" altLang="zh-CN" i="1">
                          <a:solidFill>
                            <a:srgbClr val="000000"/>
                          </a:solidFill>
                          <a:latin typeface="Cambria Math" panose="02040503050406030204" pitchFamily="18" charset="0"/>
                        </a:rPr>
                        <m:t>=</m:t>
                      </m:r>
                      <m:sSub>
                        <m:sSubPr>
                          <m:ctrlPr>
                            <a:rPr kumimoji="1" lang="en-US" altLang="zh-CN" i="1">
                              <a:solidFill>
                                <a:srgbClr val="000000"/>
                              </a:solidFill>
                              <a:latin typeface="Cambria Math" panose="02040503050406030204" pitchFamily="18" charset="0"/>
                            </a:rPr>
                          </m:ctrlPr>
                        </m:sSubPr>
                        <m:e>
                          <m:r>
                            <a:rPr kumimoji="1" lang="en-US" altLang="zh-CN" i="1">
                              <a:solidFill>
                                <a:srgbClr val="000000"/>
                              </a:solidFill>
                              <a:latin typeface="Cambria Math" panose="02040503050406030204" pitchFamily="18" charset="0"/>
                            </a:rPr>
                            <m:t>𝑥</m:t>
                          </m:r>
                        </m:e>
                        <m:sub>
                          <m:r>
                            <a:rPr kumimoji="1" lang="en-US" altLang="zh-CN" i="1">
                              <a:solidFill>
                                <a:srgbClr val="000000"/>
                              </a:solidFill>
                              <a:latin typeface="Cambria Math" panose="02040503050406030204" pitchFamily="18" charset="0"/>
                            </a:rPr>
                            <m:t>1</m:t>
                          </m:r>
                        </m:sub>
                      </m:sSub>
                      <m:r>
                        <a:rPr kumimoji="1" lang="en-US" altLang="zh-CN" i="1">
                          <a:solidFill>
                            <a:srgbClr val="000000"/>
                          </a:solidFill>
                          <a:latin typeface="Cambria Math" panose="02040503050406030204" pitchFamily="18" charset="0"/>
                        </a:rPr>
                        <m:t>−</m:t>
                      </m:r>
                      <m:sSub>
                        <m:sSubPr>
                          <m:ctrlPr>
                            <a:rPr kumimoji="1" lang="en-US" altLang="zh-CN" i="1">
                              <a:solidFill>
                                <a:srgbClr val="000000"/>
                              </a:solidFill>
                              <a:latin typeface="Cambria Math" panose="02040503050406030204" pitchFamily="18" charset="0"/>
                            </a:rPr>
                          </m:ctrlPr>
                        </m:sSubPr>
                        <m:e>
                          <m:r>
                            <a:rPr kumimoji="1" lang="en-US" altLang="zh-CN" i="1">
                              <a:solidFill>
                                <a:srgbClr val="000000"/>
                              </a:solidFill>
                              <a:latin typeface="Cambria Math" panose="02040503050406030204" pitchFamily="18" charset="0"/>
                            </a:rPr>
                            <m:t>𝑛</m:t>
                          </m:r>
                        </m:e>
                        <m:sub>
                          <m:r>
                            <a:rPr kumimoji="1" lang="en-US" altLang="zh-CN" i="1">
                              <a:solidFill>
                                <a:srgbClr val="000000"/>
                              </a:solidFill>
                              <a:latin typeface="Cambria Math" panose="02040503050406030204" pitchFamily="18" charset="0"/>
                            </a:rPr>
                            <m:t>1</m:t>
                          </m:r>
                        </m:sub>
                      </m:sSub>
                      <m:r>
                        <a:rPr kumimoji="1" lang="en-US" altLang="zh-CN" i="1">
                          <a:solidFill>
                            <a:srgbClr val="000000"/>
                          </a:solidFill>
                          <a:latin typeface="Cambria Math" panose="02040503050406030204" pitchFamily="18" charset="0"/>
                        </a:rPr>
                        <m:t>=</m:t>
                      </m:r>
                      <m:r>
                        <a:rPr kumimoji="1" lang="en-US" altLang="zh-CN" i="1">
                          <a:solidFill>
                            <a:srgbClr val="000000"/>
                          </a:solidFill>
                          <a:latin typeface="Cambria Math" panose="02040503050406030204" pitchFamily="18" charset="0"/>
                        </a:rPr>
                        <m:t>𝑓</m:t>
                      </m:r>
                      <m:d>
                        <m:dPr>
                          <m:ctrlPr>
                            <a:rPr kumimoji="1" lang="en-US" altLang="zh-CN" i="1">
                              <a:solidFill>
                                <a:srgbClr val="000000"/>
                              </a:solidFill>
                              <a:latin typeface="Cambria Math" panose="02040503050406030204" pitchFamily="18" charset="0"/>
                            </a:rPr>
                          </m:ctrlPr>
                        </m:dPr>
                        <m:e>
                          <m:sSub>
                            <m:sSubPr>
                              <m:ctrlPr>
                                <a:rPr kumimoji="1" lang="en-US" altLang="zh-CN" i="1">
                                  <a:solidFill>
                                    <a:srgbClr val="000000"/>
                                  </a:solidFill>
                                  <a:latin typeface="Cambria Math" panose="02040503050406030204" pitchFamily="18" charset="0"/>
                                </a:rPr>
                              </m:ctrlPr>
                            </m:sSubPr>
                            <m:e>
                              <m:r>
                                <a:rPr kumimoji="1" lang="en-US" altLang="zh-CN" i="1">
                                  <a:solidFill>
                                    <a:srgbClr val="000000"/>
                                  </a:solidFill>
                                  <a:latin typeface="Cambria Math" panose="02040503050406030204" pitchFamily="18" charset="0"/>
                                </a:rPr>
                                <m:t>𝑥</m:t>
                              </m:r>
                            </m:e>
                            <m:sub>
                              <m:r>
                                <a:rPr kumimoji="1" lang="en-US" altLang="zh-CN" i="1">
                                  <a:solidFill>
                                    <a:srgbClr val="000000"/>
                                  </a:solidFill>
                                  <a:latin typeface="Cambria Math" panose="02040503050406030204" pitchFamily="18" charset="0"/>
                                </a:rPr>
                                <m:t>1</m:t>
                              </m:r>
                            </m:sub>
                          </m:sSub>
                          <m:r>
                            <a:rPr kumimoji="1" lang="en-US" altLang="zh-CN" i="1">
                              <a:solidFill>
                                <a:srgbClr val="000000"/>
                              </a:solidFill>
                              <a:latin typeface="Cambria Math" panose="02040503050406030204" pitchFamily="18" charset="0"/>
                            </a:rPr>
                            <m:t>,</m:t>
                          </m:r>
                          <m:sSub>
                            <m:sSubPr>
                              <m:ctrlPr>
                                <a:rPr kumimoji="1" lang="en-US" altLang="zh-CN" i="1">
                                  <a:solidFill>
                                    <a:srgbClr val="000000"/>
                                  </a:solidFill>
                                  <a:latin typeface="Cambria Math" panose="02040503050406030204" pitchFamily="18" charset="0"/>
                                </a:rPr>
                              </m:ctrlPr>
                            </m:sSubPr>
                            <m:e>
                              <m:r>
                                <a:rPr kumimoji="1" lang="en-US" altLang="zh-CN" i="1">
                                  <a:solidFill>
                                    <a:srgbClr val="000000"/>
                                  </a:solidFill>
                                  <a:latin typeface="Cambria Math" panose="02040503050406030204" pitchFamily="18" charset="0"/>
                                </a:rPr>
                                <m:t>𝑛</m:t>
                              </m:r>
                            </m:e>
                            <m:sub>
                              <m:r>
                                <a:rPr kumimoji="1" lang="en-US" altLang="zh-CN" i="1">
                                  <a:solidFill>
                                    <a:srgbClr val="000000"/>
                                  </a:solidFill>
                                  <a:latin typeface="Cambria Math" panose="02040503050406030204" pitchFamily="18" charset="0"/>
                                </a:rPr>
                                <m:t>1</m:t>
                              </m:r>
                            </m:sub>
                          </m:sSub>
                        </m:e>
                      </m:d>
                      <m:r>
                        <a:rPr kumimoji="1" lang="en-US" altLang="zh-CN" i="1">
                          <a:solidFill>
                            <a:srgbClr val="000000"/>
                          </a:solidFill>
                          <a:latin typeface="Cambria Math" panose="02040503050406030204" pitchFamily="18" charset="0"/>
                        </a:rPr>
                        <m:t>=</m:t>
                      </m:r>
                      <m:sSub>
                        <m:sSubPr>
                          <m:ctrlPr>
                            <a:rPr kumimoji="1" lang="en-US" altLang="zh-CN" i="1" dirty="0">
                              <a:solidFill>
                                <a:srgbClr val="000000"/>
                              </a:solidFill>
                              <a:latin typeface="Cambria Math" panose="02040503050406030204" pitchFamily="18" charset="0"/>
                            </a:rPr>
                          </m:ctrlPr>
                        </m:sSubPr>
                        <m:e>
                          <m:r>
                            <a:rPr kumimoji="1" lang="en-US" altLang="zh-CN" i="1" dirty="0">
                              <a:solidFill>
                                <a:srgbClr val="000000"/>
                              </a:solidFill>
                              <a:latin typeface="Cambria Math" panose="02040503050406030204" pitchFamily="18" charset="0"/>
                            </a:rPr>
                            <m:t>𝑥</m:t>
                          </m:r>
                        </m:e>
                        <m:sub>
                          <m:r>
                            <a:rPr kumimoji="1" lang="en-US" altLang="zh-CN" dirty="0">
                              <a:solidFill>
                                <a:srgbClr val="000000"/>
                              </a:solidFill>
                              <a:latin typeface="Cambria Math" panose="02040503050406030204" pitchFamily="18" charset="0"/>
                            </a:rPr>
                            <m:t>1</m:t>
                          </m:r>
                        </m:sub>
                      </m:sSub>
                      <m:r>
                        <a:rPr kumimoji="1" lang="en-US" altLang="zh-CN" i="1" dirty="0">
                          <a:solidFill>
                            <a:srgbClr val="000000"/>
                          </a:solidFill>
                          <a:latin typeface="Cambria Math" panose="02040503050406030204" pitchFamily="18" charset="0"/>
                        </a:rPr>
                        <m:t>⊞</m:t>
                      </m:r>
                      <m:sSub>
                        <m:sSubPr>
                          <m:ctrlPr>
                            <a:rPr kumimoji="1" lang="en-US" altLang="zh-CN" i="1" dirty="0">
                              <a:solidFill>
                                <a:srgbClr val="000000"/>
                              </a:solidFill>
                              <a:latin typeface="Cambria Math" panose="02040503050406030204" pitchFamily="18" charset="0"/>
                            </a:rPr>
                          </m:ctrlPr>
                        </m:sSubPr>
                        <m:e>
                          <m:r>
                            <a:rPr kumimoji="1" lang="en-US" altLang="zh-CN" i="1" dirty="0">
                              <a:solidFill>
                                <a:srgbClr val="000000"/>
                              </a:solidFill>
                              <a:latin typeface="Cambria Math" panose="02040503050406030204" pitchFamily="18" charset="0"/>
                            </a:rPr>
                            <m:t>𝑛</m:t>
                          </m:r>
                        </m:e>
                        <m:sub>
                          <m:r>
                            <a:rPr kumimoji="1" lang="en-US" altLang="zh-CN" dirty="0">
                              <a:solidFill>
                                <a:srgbClr val="000000"/>
                              </a:solidFill>
                              <a:latin typeface="Cambria Math" panose="02040503050406030204" pitchFamily="18" charset="0"/>
                            </a:rPr>
                            <m:t>1</m:t>
                          </m:r>
                        </m:sub>
                      </m:sSub>
                      <m:r>
                        <a:rPr kumimoji="1" lang="en-US" altLang="zh-CN" dirty="0">
                          <a:solidFill>
                            <a:srgbClr val="000000"/>
                          </a:solidFill>
                          <a:latin typeface="Cambria Math" panose="02040503050406030204" pitchFamily="18" charset="0"/>
                        </a:rPr>
                        <m:t>=</m:t>
                      </m:r>
                      <m:func>
                        <m:funcPr>
                          <m:ctrlPr>
                            <a:rPr kumimoji="1" lang="en-US" altLang="zh-CN" i="1" dirty="0">
                              <a:solidFill>
                                <a:srgbClr val="000000"/>
                              </a:solidFill>
                              <a:latin typeface="Cambria Math" panose="02040503050406030204" pitchFamily="18" charset="0"/>
                            </a:rPr>
                          </m:ctrlPr>
                        </m:funcPr>
                        <m:fName>
                          <m:r>
                            <m:rPr>
                              <m:sty m:val="p"/>
                            </m:rPr>
                            <a:rPr kumimoji="1" lang="en-US" altLang="zh-CN" dirty="0">
                              <a:solidFill>
                                <a:srgbClr val="000000"/>
                              </a:solidFill>
                              <a:latin typeface="Cambria Math" panose="02040503050406030204" pitchFamily="18" charset="0"/>
                            </a:rPr>
                            <m:t>ln</m:t>
                          </m:r>
                        </m:fName>
                        <m:e>
                          <m:f>
                            <m:fPr>
                              <m:ctrlPr>
                                <a:rPr kumimoji="1" lang="en-US" altLang="zh-CN" i="1" dirty="0">
                                  <a:solidFill>
                                    <a:srgbClr val="000000"/>
                                  </a:solidFill>
                                  <a:latin typeface="Cambria Math" panose="02040503050406030204" pitchFamily="18" charset="0"/>
                                </a:rPr>
                              </m:ctrlPr>
                            </m:fPr>
                            <m:num>
                              <m:r>
                                <a:rPr kumimoji="1" lang="en-US" altLang="zh-CN" dirty="0">
                                  <a:solidFill>
                                    <a:srgbClr val="000000"/>
                                  </a:solidFill>
                                  <a:latin typeface="Cambria Math" panose="02040503050406030204" pitchFamily="18" charset="0"/>
                                </a:rPr>
                                <m:t>1+</m:t>
                              </m:r>
                              <m:sSup>
                                <m:sSupPr>
                                  <m:ctrlPr>
                                    <a:rPr kumimoji="1" lang="en-US" altLang="zh-CN" i="1" dirty="0">
                                      <a:solidFill>
                                        <a:srgbClr val="000000"/>
                                      </a:solidFill>
                                      <a:latin typeface="Cambria Math" panose="02040503050406030204" pitchFamily="18" charset="0"/>
                                    </a:rPr>
                                  </m:ctrlPr>
                                </m:sSupPr>
                                <m:e>
                                  <m:r>
                                    <a:rPr kumimoji="1" lang="en-US" altLang="zh-CN" dirty="0">
                                      <a:solidFill>
                                        <a:srgbClr val="000000"/>
                                      </a:solidFill>
                                      <a:latin typeface="Cambria Math" panose="02040503050406030204" pitchFamily="18" charset="0"/>
                                    </a:rPr>
                                    <m:t>ⅇ</m:t>
                                  </m:r>
                                </m:e>
                                <m:sup>
                                  <m:sSub>
                                    <m:sSubPr>
                                      <m:ctrlPr>
                                        <a:rPr kumimoji="1" lang="en-US" altLang="zh-CN" i="1" dirty="0">
                                          <a:solidFill>
                                            <a:srgbClr val="000000"/>
                                          </a:solidFill>
                                          <a:latin typeface="Cambria Math" panose="02040503050406030204" pitchFamily="18" charset="0"/>
                                        </a:rPr>
                                      </m:ctrlPr>
                                    </m:sSubPr>
                                    <m:e>
                                      <m:r>
                                        <a:rPr kumimoji="1" lang="en-US" altLang="zh-CN" i="1" dirty="0">
                                          <a:solidFill>
                                            <a:srgbClr val="000000"/>
                                          </a:solidFill>
                                          <a:latin typeface="Cambria Math" panose="02040503050406030204" pitchFamily="18" charset="0"/>
                                        </a:rPr>
                                        <m:t>𝑥</m:t>
                                      </m:r>
                                    </m:e>
                                    <m:sub>
                                      <m:r>
                                        <a:rPr kumimoji="1" lang="en-US" altLang="zh-CN" dirty="0">
                                          <a:solidFill>
                                            <a:srgbClr val="000000"/>
                                          </a:solidFill>
                                          <a:latin typeface="Cambria Math" panose="02040503050406030204" pitchFamily="18" charset="0"/>
                                        </a:rPr>
                                        <m:t>1</m:t>
                                      </m:r>
                                    </m:sub>
                                  </m:sSub>
                                  <m:r>
                                    <a:rPr kumimoji="1" lang="en-US" altLang="zh-CN" dirty="0">
                                      <a:solidFill>
                                        <a:srgbClr val="000000"/>
                                      </a:solidFill>
                                      <a:latin typeface="Cambria Math" panose="02040503050406030204" pitchFamily="18" charset="0"/>
                                    </a:rPr>
                                    <m:t>+</m:t>
                                  </m:r>
                                  <m:sSub>
                                    <m:sSubPr>
                                      <m:ctrlPr>
                                        <a:rPr kumimoji="1" lang="en-US" altLang="zh-CN" i="1" dirty="0">
                                          <a:solidFill>
                                            <a:srgbClr val="000000"/>
                                          </a:solidFill>
                                          <a:latin typeface="Cambria Math" panose="02040503050406030204" pitchFamily="18" charset="0"/>
                                        </a:rPr>
                                      </m:ctrlPr>
                                    </m:sSubPr>
                                    <m:e>
                                      <m:r>
                                        <a:rPr kumimoji="1" lang="en-US" altLang="zh-CN" i="1" dirty="0">
                                          <a:solidFill>
                                            <a:srgbClr val="000000"/>
                                          </a:solidFill>
                                          <a:latin typeface="Cambria Math" panose="02040503050406030204" pitchFamily="18" charset="0"/>
                                        </a:rPr>
                                        <m:t>𝑛</m:t>
                                      </m:r>
                                    </m:e>
                                    <m:sub>
                                      <m:r>
                                        <a:rPr kumimoji="1" lang="en-US" altLang="zh-CN" dirty="0">
                                          <a:solidFill>
                                            <a:srgbClr val="000000"/>
                                          </a:solidFill>
                                          <a:latin typeface="Cambria Math" panose="02040503050406030204" pitchFamily="18" charset="0"/>
                                        </a:rPr>
                                        <m:t>1</m:t>
                                      </m:r>
                                    </m:sub>
                                  </m:sSub>
                                </m:sup>
                              </m:sSup>
                            </m:num>
                            <m:den>
                              <m:sSup>
                                <m:sSupPr>
                                  <m:ctrlPr>
                                    <a:rPr kumimoji="1" lang="en-US" altLang="zh-CN" i="1" dirty="0">
                                      <a:solidFill>
                                        <a:srgbClr val="000000"/>
                                      </a:solidFill>
                                      <a:latin typeface="Cambria Math" panose="02040503050406030204" pitchFamily="18" charset="0"/>
                                    </a:rPr>
                                  </m:ctrlPr>
                                </m:sSupPr>
                                <m:e>
                                  <m:r>
                                    <a:rPr kumimoji="1" lang="en-US" altLang="zh-CN" dirty="0">
                                      <a:solidFill>
                                        <a:srgbClr val="000000"/>
                                      </a:solidFill>
                                      <a:latin typeface="Cambria Math" panose="02040503050406030204" pitchFamily="18" charset="0"/>
                                    </a:rPr>
                                    <m:t>ⅇ</m:t>
                                  </m:r>
                                </m:e>
                                <m:sup>
                                  <m:sSub>
                                    <m:sSubPr>
                                      <m:ctrlPr>
                                        <a:rPr kumimoji="1" lang="en-US" altLang="zh-CN" i="1" dirty="0">
                                          <a:solidFill>
                                            <a:srgbClr val="000000"/>
                                          </a:solidFill>
                                          <a:latin typeface="Cambria Math" panose="02040503050406030204" pitchFamily="18" charset="0"/>
                                        </a:rPr>
                                      </m:ctrlPr>
                                    </m:sSubPr>
                                    <m:e>
                                      <m:r>
                                        <a:rPr kumimoji="1" lang="en-US" altLang="zh-CN" i="1" dirty="0">
                                          <a:solidFill>
                                            <a:srgbClr val="000000"/>
                                          </a:solidFill>
                                          <a:latin typeface="Cambria Math" panose="02040503050406030204" pitchFamily="18" charset="0"/>
                                        </a:rPr>
                                        <m:t>𝑥</m:t>
                                      </m:r>
                                    </m:e>
                                    <m:sub>
                                      <m:r>
                                        <a:rPr kumimoji="1" lang="en-US" altLang="zh-CN" dirty="0">
                                          <a:solidFill>
                                            <a:srgbClr val="000000"/>
                                          </a:solidFill>
                                          <a:latin typeface="Cambria Math" panose="02040503050406030204" pitchFamily="18" charset="0"/>
                                        </a:rPr>
                                        <m:t>1</m:t>
                                      </m:r>
                                    </m:sub>
                                  </m:sSub>
                                </m:sup>
                              </m:sSup>
                              <m:r>
                                <a:rPr kumimoji="1" lang="en-US" altLang="zh-CN" dirty="0">
                                  <a:solidFill>
                                    <a:srgbClr val="000000"/>
                                  </a:solidFill>
                                  <a:latin typeface="Cambria Math" panose="02040503050406030204" pitchFamily="18" charset="0"/>
                                </a:rPr>
                                <m:t>+</m:t>
                              </m:r>
                              <m:sSup>
                                <m:sSupPr>
                                  <m:ctrlPr>
                                    <a:rPr kumimoji="1" lang="en-US" altLang="zh-CN" i="1" dirty="0">
                                      <a:solidFill>
                                        <a:srgbClr val="000000"/>
                                      </a:solidFill>
                                      <a:latin typeface="Cambria Math" panose="02040503050406030204" pitchFamily="18" charset="0"/>
                                    </a:rPr>
                                  </m:ctrlPr>
                                </m:sSupPr>
                                <m:e>
                                  <m:r>
                                    <a:rPr kumimoji="1" lang="en-US" altLang="zh-CN" dirty="0">
                                      <a:solidFill>
                                        <a:srgbClr val="000000"/>
                                      </a:solidFill>
                                      <a:latin typeface="Cambria Math" panose="02040503050406030204" pitchFamily="18" charset="0"/>
                                    </a:rPr>
                                    <m:t>ⅇ</m:t>
                                  </m:r>
                                </m:e>
                                <m:sup>
                                  <m:sSub>
                                    <m:sSubPr>
                                      <m:ctrlPr>
                                        <a:rPr kumimoji="1" lang="en-US" altLang="zh-CN" i="1" dirty="0">
                                          <a:solidFill>
                                            <a:srgbClr val="000000"/>
                                          </a:solidFill>
                                          <a:latin typeface="Cambria Math" panose="02040503050406030204" pitchFamily="18" charset="0"/>
                                        </a:rPr>
                                      </m:ctrlPr>
                                    </m:sSubPr>
                                    <m:e>
                                      <m:r>
                                        <m:rPr>
                                          <m:sty m:val="p"/>
                                        </m:rPr>
                                        <a:rPr kumimoji="1" lang="en-US" altLang="zh-CN" i="1" dirty="0">
                                          <a:solidFill>
                                            <a:srgbClr val="000000"/>
                                          </a:solidFill>
                                          <a:latin typeface="Cambria Math" panose="02040503050406030204" pitchFamily="18" charset="0"/>
                                        </a:rPr>
                                        <m:t>n</m:t>
                                      </m:r>
                                    </m:e>
                                    <m:sub>
                                      <m:r>
                                        <a:rPr kumimoji="1" lang="en-US" altLang="zh-CN" dirty="0">
                                          <a:solidFill>
                                            <a:srgbClr val="000000"/>
                                          </a:solidFill>
                                          <a:latin typeface="Cambria Math" panose="02040503050406030204" pitchFamily="18" charset="0"/>
                                        </a:rPr>
                                        <m:t>1</m:t>
                                      </m:r>
                                    </m:sub>
                                  </m:sSub>
                                </m:sup>
                              </m:sSup>
                            </m:den>
                          </m:f>
                        </m:e>
                      </m:func>
                    </m:oMath>
                  </m:oMathPara>
                </a14:m>
                <a:endParaRPr kumimoji="1" lang="en-US" altLang="zh-CN" dirty="0">
                  <a:solidFill>
                    <a:srgbClr val="000000"/>
                  </a:solidFill>
                  <a:latin typeface="Times New Roman"/>
                  <a:ea typeface="黑体" panose="02010609060101010101" pitchFamily="49"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981308" y="5410149"/>
                <a:ext cx="7905606" cy="1059393"/>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43763" y="171558"/>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解码步骤</a:t>
            </a:r>
            <a:endParaRPr lang="zh-CN" altLang="en-US" sz="2400" dirty="0">
              <a:sym typeface="+mn-ea"/>
            </a:endParaRPr>
          </a:p>
        </p:txBody>
      </p:sp>
      <mc:AlternateContent xmlns:mc="http://schemas.openxmlformats.org/markup-compatibility/2006" xmlns:a14="http://schemas.microsoft.com/office/drawing/2010/main">
        <mc:Choice Requires="a14">
          <p:sp>
            <p:nvSpPr>
              <p:cNvPr id="5" name="内容占位符 2"/>
              <p:cNvSpPr>
                <a:spLocks noGrp="1"/>
              </p:cNvSpPr>
              <p:nvPr>
                <p:ph idx="1"/>
              </p:nvPr>
            </p:nvSpPr>
            <p:spPr>
              <a:xfrm>
                <a:off x="2010836" y="1722198"/>
                <a:ext cx="4466154" cy="1142970"/>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zh-CN" altLang="en-US" sz="2000" dirty="0">
                    <a:solidFill>
                      <a:schemeClr val="tx1"/>
                    </a:solidFill>
                  </a:rPr>
                  <a:t>第二步：解码器把下半部分（临时变量</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a:solidFill>
                              <a:schemeClr val="tx1"/>
                            </a:solidFill>
                            <a:latin typeface="Cambria Math" panose="02040503050406030204" pitchFamily="18" charset="0"/>
                          </a:rPr>
                          <m:t>2</m:t>
                        </m:r>
                      </m:sub>
                    </m:sSub>
                    <m:r>
                      <a:rPr lang="en-US" altLang="zh-CN" sz="2000" i="1">
                        <a:solidFill>
                          <a:schemeClr val="tx1"/>
                        </a:solidFill>
                        <a:latin typeface="Cambria Math" panose="02040503050406030204" pitchFamily="18" charset="0"/>
                      </a:rPr>
                      <m:t> </m:t>
                    </m:r>
                  </m:oMath>
                </a14:m>
                <a:r>
                  <a:rPr lang="zh-CN" altLang="en-US" sz="2000" dirty="0">
                    <a:solidFill>
                      <a:schemeClr val="tx1"/>
                    </a:solidFill>
                  </a:rPr>
                  <a:t>）看成噪声，求解出</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1</m:t>
                        </m:r>
                      </m:sub>
                    </m:sSub>
                  </m:oMath>
                </a14:m>
                <a:r>
                  <a:rPr lang="zh-CN" altLang="en-US" sz="2000" dirty="0">
                    <a:solidFill>
                      <a:schemeClr val="tx1"/>
                    </a:solidFill>
                  </a:rPr>
                  <a:t>。</a:t>
                </a:r>
                <a:endParaRPr lang="en-US" altLang="zh-CN" sz="2000" dirty="0">
                  <a:solidFill>
                    <a:schemeClr val="tx1"/>
                  </a:solidFill>
                </a:endParaRPr>
              </a:p>
            </p:txBody>
          </p:sp>
        </mc:Choice>
        <mc:Fallback xmlns="">
          <p:sp>
            <p:nvSpPr>
              <p:cNvPr id="5" name="内容占位符 2"/>
              <p:cNvSpPr>
                <a:spLocks noGrp="1" noRot="1" noChangeAspect="1" noMove="1" noResize="1" noEditPoints="1" noAdjustHandles="1" noChangeArrowheads="1" noChangeShapeType="1" noTextEdit="1"/>
              </p:cNvSpPr>
              <p:nvPr>
                <p:ph idx="1"/>
              </p:nvPr>
            </p:nvSpPr>
            <p:spPr>
              <a:xfrm>
                <a:off x="2010836" y="1722198"/>
                <a:ext cx="4466154" cy="1142970"/>
              </a:xfrm>
              <a:blipFill>
                <a:blip r:embed="rId2"/>
                <a:stretch>
                  <a:fillRect l="-1503"/>
                </a:stretch>
              </a:blipFill>
              <a:ln>
                <a:noFill/>
              </a:ln>
            </p:spPr>
            <p:txBody>
              <a:bodyPr/>
              <a:lstStyle/>
              <a:p>
                <a:r>
                  <a:rPr lang="zh-CN" altLang="en-US">
                    <a:noFill/>
                  </a:rPr>
                  <a:t> </a:t>
                </a:r>
              </a:p>
            </p:txBody>
          </p:sp>
        </mc:Fallback>
      </mc:AlternateContent>
      <p:pic>
        <p:nvPicPr>
          <p:cNvPr id="3" name="图片 2"/>
          <p:cNvPicPr>
            <a:picLocks noChangeAspect="1"/>
          </p:cNvPicPr>
          <p:nvPr/>
        </p:nvPicPr>
        <p:blipFill rotWithShape="1">
          <a:blip r:embed="rId3"/>
          <a:srcRect b="56976"/>
          <a:stretch>
            <a:fillRect/>
          </a:stretch>
        </p:blipFill>
        <p:spPr>
          <a:xfrm>
            <a:off x="6767228" y="1296083"/>
            <a:ext cx="2756042" cy="1371564"/>
          </a:xfrm>
          <a:prstGeom prst="rect">
            <a:avLst/>
          </a:prstGeom>
        </p:spPr>
      </p:pic>
      <p:pic>
        <p:nvPicPr>
          <p:cNvPr id="7" name="图片 6"/>
          <p:cNvPicPr>
            <a:picLocks noChangeAspect="1"/>
          </p:cNvPicPr>
          <p:nvPr/>
        </p:nvPicPr>
        <p:blipFill>
          <a:blip r:embed="rId4"/>
          <a:stretch>
            <a:fillRect/>
          </a:stretch>
        </p:blipFill>
        <p:spPr>
          <a:xfrm>
            <a:off x="7134224" y="2576228"/>
            <a:ext cx="2267067" cy="577880"/>
          </a:xfrm>
          <a:prstGeom prst="rect">
            <a:avLst/>
          </a:prstGeom>
        </p:spPr>
      </p:pic>
      <mc:AlternateContent xmlns:mc="http://schemas.openxmlformats.org/markup-compatibility/2006" xmlns:a14="http://schemas.microsoft.com/office/drawing/2010/main">
        <mc:Choice Requires="a14">
          <p:sp>
            <p:nvSpPr>
              <p:cNvPr id="8" name="内容占位符 2"/>
              <p:cNvSpPr txBox="1"/>
              <p:nvPr/>
            </p:nvSpPr>
            <p:spPr>
              <a:xfrm>
                <a:off x="2010836" y="3809990"/>
                <a:ext cx="4495682" cy="2094222"/>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rgbClr val="000000"/>
                    </a:solidFill>
                    <a:latin typeface="Times New Roman"/>
                    <a:ea typeface="黑体"/>
                  </a:rPr>
                  <a:t>第三步：把上半部分（</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1</m:t>
                        </m:r>
                      </m:sub>
                    </m:sSub>
                  </m:oMath>
                </a14:m>
                <a:r>
                  <a:rPr lang="zh-CN" altLang="en-US" sz="2000" dirty="0">
                    <a:solidFill>
                      <a:srgbClr val="000000"/>
                    </a:solidFill>
                    <a:latin typeface="Times New Roman"/>
                    <a:ea typeface="黑体"/>
                  </a:rPr>
                  <a:t>）当做已知比特，去解出</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。此时应根据</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1</m:t>
                        </m:r>
                      </m:sub>
                    </m:sSub>
                    <m:r>
                      <a:rPr lang="en-US" altLang="zh-CN" sz="2000" i="1">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的</m:t>
                    </m:r>
                  </m:oMath>
                </a14:m>
                <a:r>
                  <a:rPr lang="zh-CN" altLang="en-US" sz="2000" dirty="0">
                    <a:solidFill>
                      <a:srgbClr val="000000"/>
                    </a:solidFill>
                    <a:latin typeface="Times New Roman"/>
                    <a:ea typeface="黑体"/>
                  </a:rPr>
                  <a:t>取值（</a:t>
                </a:r>
                <a:r>
                  <a:rPr lang="en-US" altLang="zh-CN" sz="2000" dirty="0">
                    <a:solidFill>
                      <a:srgbClr val="000000"/>
                    </a:solidFill>
                    <a:latin typeface="Times New Roman"/>
                    <a:ea typeface="黑体"/>
                  </a:rPr>
                  <a:t>0,1</a:t>
                </a:r>
                <a:r>
                  <a:rPr lang="zh-CN" altLang="en-US" sz="2000" dirty="0">
                    <a:solidFill>
                      <a:srgbClr val="000000"/>
                    </a:solidFill>
                    <a:latin typeface="Times New Roman"/>
                    <a:ea typeface="黑体"/>
                  </a:rPr>
                  <a:t>）来对临时变量进行</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m:t>
                        </m:r>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的操作，然后再译出</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a:t>
                </a:r>
                <a:endParaRPr lang="en-US" altLang="zh-CN" sz="2000" dirty="0">
                  <a:solidFill>
                    <a:srgbClr val="000000"/>
                  </a:solidFill>
                  <a:latin typeface="Times New Roman"/>
                  <a:ea typeface="黑体"/>
                </a:endParaRPr>
              </a:p>
            </p:txBody>
          </p:sp>
        </mc:Choice>
        <mc:Fallback xmlns="">
          <p:sp>
            <p:nvSpPr>
              <p:cNvPr id="8" name="内容占位符 2"/>
              <p:cNvSpPr txBox="1">
                <a:spLocks noRot="1" noChangeAspect="1" noMove="1" noResize="1" noEditPoints="1" noAdjustHandles="1" noChangeArrowheads="1" noChangeShapeType="1" noTextEdit="1"/>
              </p:cNvSpPr>
              <p:nvPr/>
            </p:nvSpPr>
            <p:spPr>
              <a:xfrm>
                <a:off x="2010836" y="3809990"/>
                <a:ext cx="4495682" cy="2094222"/>
              </a:xfrm>
              <a:prstGeom prst="rect">
                <a:avLst/>
              </a:prstGeom>
              <a:blipFill>
                <a:blip r:embed="rId5"/>
                <a:stretch>
                  <a:fillRect l="-1493"/>
                </a:stretch>
              </a:blipFill>
              <a:ln w="9525">
                <a:noFill/>
              </a:ln>
            </p:spPr>
            <p:txBody>
              <a:bodyPr/>
              <a:lstStyle/>
              <a:p>
                <a:r>
                  <a:rPr lang="zh-CN" altLang="en-US">
                    <a:noFill/>
                  </a:rPr>
                  <a:t> </a:t>
                </a:r>
              </a:p>
            </p:txBody>
          </p:sp>
        </mc:Fallback>
      </mc:AlternateContent>
      <p:pic>
        <p:nvPicPr>
          <p:cNvPr id="10" name="图片 9"/>
          <p:cNvPicPr>
            <a:picLocks noChangeAspect="1"/>
          </p:cNvPicPr>
          <p:nvPr/>
        </p:nvPicPr>
        <p:blipFill>
          <a:blip r:embed="rId6"/>
          <a:stretch>
            <a:fillRect/>
          </a:stretch>
        </p:blipFill>
        <p:spPr>
          <a:xfrm>
            <a:off x="6800888" y="4031559"/>
            <a:ext cx="3105310" cy="1651085"/>
          </a:xfrm>
          <a:prstGeom prst="rect">
            <a:avLst/>
          </a:prstGeom>
        </p:spPr>
      </p:pic>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43763" y="15937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解码步骤</a:t>
            </a:r>
            <a:endParaRPr lang="zh-CN" altLang="en-US" sz="2400" dirty="0">
              <a:sym typeface="+mn-ea"/>
            </a:endParaRPr>
          </a:p>
        </p:txBody>
      </p:sp>
      <mc:AlternateContent xmlns:mc="http://schemas.openxmlformats.org/markup-compatibility/2006" xmlns:a14="http://schemas.microsoft.com/office/drawing/2010/main">
        <mc:Choice Requires="a14">
          <p:sp>
            <p:nvSpPr>
              <p:cNvPr id="6" name="内容占位符 2"/>
              <p:cNvSpPr txBox="1"/>
              <p:nvPr/>
            </p:nvSpPr>
            <p:spPr>
              <a:xfrm>
                <a:off x="1676516" y="990664"/>
                <a:ext cx="9219958" cy="685800"/>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rgbClr val="000000"/>
                    </a:solidFill>
                    <a:latin typeface="Times New Roman"/>
                    <a:ea typeface="黑体"/>
                  </a:rPr>
                  <a:t>第四步：计算出另一组临时变量</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s</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（这里指模</a:t>
                </a:r>
                <a:r>
                  <a:rPr lang="en-US" altLang="zh-CN" sz="2000" dirty="0">
                    <a:solidFill>
                      <a:srgbClr val="000000"/>
                    </a:solidFill>
                    <a:latin typeface="Times New Roman"/>
                    <a:ea typeface="黑体"/>
                  </a:rPr>
                  <a:t>2</a:t>
                </a:r>
                <a:r>
                  <a:rPr lang="zh-CN" altLang="en-US" sz="2000" dirty="0">
                    <a:solidFill>
                      <a:srgbClr val="000000"/>
                    </a:solidFill>
                    <a:latin typeface="Times New Roman"/>
                    <a:ea typeface="黑体"/>
                  </a:rPr>
                  <a:t>加“</a:t>
                </a:r>
                <a14:m>
                  <m:oMath xmlns:m="http://schemas.openxmlformats.org/officeDocument/2006/math">
                    <m:r>
                      <a:rPr lang="zh-CN" altLang="en-US" sz="2000" i="1">
                        <a:solidFill>
                          <a:srgbClr val="000000"/>
                        </a:solidFill>
                        <a:latin typeface="Cambria Math" panose="02040503050406030204" pitchFamily="18" charset="0"/>
                      </a:rPr>
                      <m:t>⊕</m:t>
                    </m:r>
                  </m:oMath>
                </a14:m>
                <a:r>
                  <a:rPr lang="zh-CN" altLang="en-US" sz="2000" dirty="0">
                    <a:solidFill>
                      <a:srgbClr val="000000"/>
                    </a:solidFill>
                    <a:latin typeface="Times New Roman"/>
                    <a:ea typeface="黑体"/>
                  </a:rPr>
                  <a:t>”）和</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s</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2</m:t>
                        </m:r>
                      </m:sub>
                    </m:sSub>
                  </m:oMath>
                </a14:m>
                <a:endParaRPr lang="en-US" altLang="zh-CN" sz="2000" dirty="0">
                  <a:solidFill>
                    <a:srgbClr val="000000"/>
                  </a:solidFill>
                  <a:latin typeface="Times New Roman"/>
                  <a:ea typeface="黑体"/>
                </a:endParaRPr>
              </a:p>
            </p:txBody>
          </p:sp>
        </mc:Choice>
        <mc:Fallback xmlns="">
          <p:sp>
            <p:nvSpPr>
              <p:cNvPr id="6" name="内容占位符 2"/>
              <p:cNvSpPr txBox="1">
                <a:spLocks noRot="1" noChangeAspect="1" noMove="1" noResize="1" noEditPoints="1" noAdjustHandles="1" noChangeArrowheads="1" noChangeShapeType="1" noTextEdit="1"/>
              </p:cNvSpPr>
              <p:nvPr/>
            </p:nvSpPr>
            <p:spPr>
              <a:xfrm>
                <a:off x="1676516" y="990664"/>
                <a:ext cx="9219958" cy="685800"/>
              </a:xfrm>
              <a:prstGeom prst="rect">
                <a:avLst/>
              </a:prstGeom>
              <a:blipFill>
                <a:blip r:embed="rId2"/>
                <a:stretch>
                  <a:fillRect l="-661"/>
                </a:stretch>
              </a:blipFill>
              <a:ln w="9525">
                <a:noFill/>
              </a:ln>
            </p:spPr>
            <p:txBody>
              <a:bodyPr/>
              <a:lstStyle/>
              <a:p>
                <a:r>
                  <a:rPr lang="zh-CN" altLang="en-US">
                    <a:noFill/>
                  </a:rPr>
                  <a:t> </a:t>
                </a:r>
              </a:p>
            </p:txBody>
          </p:sp>
        </mc:Fallback>
      </mc:AlternateContent>
      <p:pic>
        <p:nvPicPr>
          <p:cNvPr id="8" name="图片 7"/>
          <p:cNvPicPr>
            <a:picLocks noChangeAspect="1"/>
          </p:cNvPicPr>
          <p:nvPr/>
        </p:nvPicPr>
        <p:blipFill>
          <a:blip r:embed="rId3"/>
          <a:stretch>
            <a:fillRect/>
          </a:stretch>
        </p:blipFill>
        <p:spPr>
          <a:xfrm>
            <a:off x="4572040" y="1531566"/>
            <a:ext cx="2832246" cy="1485976"/>
          </a:xfrm>
          <a:prstGeom prst="rect">
            <a:avLst/>
          </a:prstGeom>
        </p:spPr>
      </p:pic>
      <mc:AlternateContent xmlns:mc="http://schemas.openxmlformats.org/markup-compatibility/2006" xmlns:a14="http://schemas.microsoft.com/office/drawing/2010/main">
        <mc:Choice Requires="a14">
          <p:sp>
            <p:nvSpPr>
              <p:cNvPr id="9" name="内容占位符 2"/>
              <p:cNvSpPr txBox="1"/>
              <p:nvPr/>
            </p:nvSpPr>
            <p:spPr>
              <a:xfrm>
                <a:off x="1653618" y="3017542"/>
                <a:ext cx="9014382" cy="1142970"/>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rgbClr val="000000"/>
                    </a:solidFill>
                    <a:latin typeface="Times New Roman"/>
                    <a:ea typeface="黑体"/>
                  </a:rPr>
                  <a:t>第五步：把上半部分（临时变量</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s</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 </m:t>
                    </m:r>
                  </m:oMath>
                </a14:m>
                <a:r>
                  <a:rPr lang="zh-CN" altLang="en-US" sz="2000" dirty="0">
                    <a:solidFill>
                      <a:srgbClr val="000000"/>
                    </a:solidFill>
                    <a:latin typeface="Times New Roman"/>
                    <a:ea typeface="黑体"/>
                  </a:rPr>
                  <a:t>和</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s</m:t>
                        </m:r>
                      </m:e>
                      <m:sub>
                        <m:r>
                          <a:rPr lang="en-US" altLang="zh-CN" sz="2000" i="1">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）当做已知比特，去计算又一组临时变  量</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3</m:t>
                        </m:r>
                      </m:sub>
                    </m:sSub>
                    <m:sSub>
                      <m:sSubPr>
                        <m:ctrlPr>
                          <a:rPr lang="zh-CN" altLang="en-US"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m:t>
                        </m:r>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4</m:t>
                        </m:r>
                      </m:sub>
                    </m:sSub>
                  </m:oMath>
                </a14:m>
                <a:endParaRPr lang="en-US" altLang="zh-CN" sz="2000" dirty="0">
                  <a:solidFill>
                    <a:srgbClr val="000000"/>
                  </a:solidFill>
                  <a:latin typeface="Times New Roman"/>
                  <a:ea typeface="黑体"/>
                </a:endParaRPr>
              </a:p>
            </p:txBody>
          </p:sp>
        </mc:Choice>
        <mc:Fallback xmlns="">
          <p:sp>
            <p:nvSpPr>
              <p:cNvPr id="9" name="内容占位符 2"/>
              <p:cNvSpPr txBox="1">
                <a:spLocks noRot="1" noChangeAspect="1" noMove="1" noResize="1" noEditPoints="1" noAdjustHandles="1" noChangeArrowheads="1" noChangeShapeType="1" noTextEdit="1"/>
              </p:cNvSpPr>
              <p:nvPr/>
            </p:nvSpPr>
            <p:spPr>
              <a:xfrm>
                <a:off x="1653618" y="3017542"/>
                <a:ext cx="9014382" cy="1142970"/>
              </a:xfrm>
              <a:prstGeom prst="rect">
                <a:avLst/>
              </a:prstGeom>
              <a:blipFill>
                <a:blip r:embed="rId4"/>
                <a:stretch>
                  <a:fillRect l="-676"/>
                </a:stretch>
              </a:blipFill>
              <a:ln w="9525">
                <a:noFill/>
              </a:ln>
            </p:spPr>
            <p:txBody>
              <a:bodyPr/>
              <a:lstStyle/>
              <a:p>
                <a:r>
                  <a:rPr lang="zh-CN" altLang="en-US">
                    <a:noFill/>
                  </a:rPr>
                  <a:t> </a:t>
                </a:r>
              </a:p>
            </p:txBody>
          </p:sp>
        </mc:Fallback>
      </mc:AlternateContent>
      <p:pic>
        <p:nvPicPr>
          <p:cNvPr id="11" name="图片 10"/>
          <p:cNvPicPr>
            <a:picLocks noChangeAspect="1"/>
          </p:cNvPicPr>
          <p:nvPr/>
        </p:nvPicPr>
        <p:blipFill>
          <a:blip r:embed="rId5"/>
          <a:stretch>
            <a:fillRect/>
          </a:stretch>
        </p:blipFill>
        <p:spPr>
          <a:xfrm>
            <a:off x="4140100" y="3589027"/>
            <a:ext cx="3911801" cy="3035456"/>
          </a:xfrm>
          <a:prstGeom prst="rect">
            <a:avLst/>
          </a:prstGeom>
        </p:spPr>
      </p:pic>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43763" y="15248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解码步骤</a:t>
            </a:r>
            <a:endParaRPr lang="zh-CN" altLang="en-US" sz="2400" dirty="0">
              <a:sym typeface="+mn-ea"/>
            </a:endParaRPr>
          </a:p>
        </p:txBody>
      </p:sp>
      <mc:AlternateContent xmlns:mc="http://schemas.openxmlformats.org/markup-compatibility/2006" xmlns:a14="http://schemas.microsoft.com/office/drawing/2010/main">
        <mc:Choice Requires="a14">
          <p:sp>
            <p:nvSpPr>
              <p:cNvPr id="6" name="内容占位符 2"/>
              <p:cNvSpPr txBox="1"/>
              <p:nvPr/>
            </p:nvSpPr>
            <p:spPr>
              <a:xfrm>
                <a:off x="1806110" y="990664"/>
                <a:ext cx="8838968" cy="685800"/>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rgbClr val="000000"/>
                    </a:solidFill>
                    <a:latin typeface="Times New Roman"/>
                    <a:ea typeface="黑体"/>
                  </a:rPr>
                  <a:t>第六步：与第二步类似，把下半部分（临时变量</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2</m:t>
                        </m:r>
                      </m:sub>
                    </m:sSub>
                    <m:r>
                      <a:rPr lang="en-US" altLang="zh-CN" sz="2000" i="1">
                        <a:solidFill>
                          <a:srgbClr val="000000"/>
                        </a:solidFill>
                        <a:latin typeface="Cambria Math" panose="02040503050406030204" pitchFamily="18" charset="0"/>
                      </a:rPr>
                      <m:t> </m:t>
                    </m:r>
                  </m:oMath>
                </a14:m>
                <a:r>
                  <a:rPr lang="zh-CN" altLang="en-US" sz="2000" dirty="0">
                    <a:solidFill>
                      <a:srgbClr val="000000"/>
                    </a:solidFill>
                    <a:latin typeface="Times New Roman"/>
                    <a:ea typeface="黑体"/>
                  </a:rPr>
                  <a:t>）看成噪声，求解出</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3</m:t>
                        </m:r>
                      </m:sub>
                    </m:sSub>
                  </m:oMath>
                </a14:m>
                <a:r>
                  <a:rPr lang="zh-CN" altLang="en-US" sz="2000" dirty="0">
                    <a:solidFill>
                      <a:srgbClr val="000000"/>
                    </a:solidFill>
                    <a:latin typeface="Times New Roman"/>
                    <a:ea typeface="黑体"/>
                  </a:rPr>
                  <a:t>。</a:t>
                </a:r>
                <a:endParaRPr lang="en-US" altLang="zh-CN" sz="2000" dirty="0">
                  <a:solidFill>
                    <a:srgbClr val="000000"/>
                  </a:solidFill>
                  <a:latin typeface="Times New Roman"/>
                  <a:ea typeface="黑体"/>
                </a:endParaRPr>
              </a:p>
            </p:txBody>
          </p:sp>
        </mc:Choice>
        <mc:Fallback xmlns="">
          <p:sp>
            <p:nvSpPr>
              <p:cNvPr id="6" name="内容占位符 2"/>
              <p:cNvSpPr txBox="1">
                <a:spLocks noRot="1" noChangeAspect="1" noMove="1" noResize="1" noEditPoints="1" noAdjustHandles="1" noChangeArrowheads="1" noChangeShapeType="1" noTextEdit="1"/>
              </p:cNvSpPr>
              <p:nvPr/>
            </p:nvSpPr>
            <p:spPr>
              <a:xfrm>
                <a:off x="1806110" y="990664"/>
                <a:ext cx="8838968" cy="685800"/>
              </a:xfrm>
              <a:prstGeom prst="rect">
                <a:avLst/>
              </a:prstGeom>
              <a:blipFill>
                <a:blip r:embed="rId2"/>
                <a:stretch>
                  <a:fillRect l="-690"/>
                </a:stretch>
              </a:blipFill>
              <a:ln w="9525">
                <a:noFill/>
              </a:ln>
            </p:spPr>
            <p:txBody>
              <a:bodyPr/>
              <a:lstStyle/>
              <a:p>
                <a:r>
                  <a:rPr lang="zh-CN" altLang="en-US">
                    <a:noFill/>
                  </a:rPr>
                  <a:t> </a:t>
                </a:r>
              </a:p>
            </p:txBody>
          </p:sp>
        </mc:Fallback>
      </mc:AlternateContent>
      <p:pic>
        <p:nvPicPr>
          <p:cNvPr id="8" name="图片 7"/>
          <p:cNvPicPr>
            <a:picLocks noChangeAspect="1"/>
          </p:cNvPicPr>
          <p:nvPr/>
        </p:nvPicPr>
        <p:blipFill>
          <a:blip r:embed="rId3"/>
          <a:stretch>
            <a:fillRect/>
          </a:stretch>
        </p:blipFill>
        <p:spPr>
          <a:xfrm>
            <a:off x="4867212" y="1676465"/>
            <a:ext cx="2457576" cy="1536779"/>
          </a:xfrm>
          <a:prstGeom prst="rect">
            <a:avLst/>
          </a:prstGeom>
        </p:spPr>
      </p:pic>
      <mc:AlternateContent xmlns:mc="http://schemas.openxmlformats.org/markup-compatibility/2006" xmlns:a14="http://schemas.microsoft.com/office/drawing/2010/main">
        <mc:Choice Requires="a14">
          <p:sp>
            <p:nvSpPr>
              <p:cNvPr id="11" name="内容占位符 2"/>
              <p:cNvSpPr txBox="1"/>
              <p:nvPr/>
            </p:nvSpPr>
            <p:spPr>
              <a:xfrm>
                <a:off x="1794722" y="3190339"/>
                <a:ext cx="8838968" cy="685800"/>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rgbClr val="000000"/>
                    </a:solidFill>
                    <a:latin typeface="Times New Roman"/>
                    <a:ea typeface="黑体"/>
                  </a:rPr>
                  <a:t>第七步：与第三步类似，把上半部分（</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3</m:t>
                        </m:r>
                      </m:sub>
                    </m:sSub>
                  </m:oMath>
                </a14:m>
                <a:r>
                  <a:rPr lang="zh-CN" altLang="en-US" sz="2000" dirty="0">
                    <a:solidFill>
                      <a:srgbClr val="000000"/>
                    </a:solidFill>
                    <a:latin typeface="Times New Roman"/>
                    <a:ea typeface="黑体"/>
                  </a:rPr>
                  <a:t>）当做已知比特，去解出</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4</m:t>
                        </m:r>
                      </m:sub>
                    </m:sSub>
                  </m:oMath>
                </a14:m>
                <a:r>
                  <a:rPr lang="zh-CN" altLang="en-US" sz="2000" dirty="0">
                    <a:solidFill>
                      <a:srgbClr val="000000"/>
                    </a:solidFill>
                    <a:latin typeface="Times New Roman"/>
                    <a:ea typeface="黑体"/>
                  </a:rPr>
                  <a:t>。</a:t>
                </a:r>
                <a:endParaRPr lang="en-US" altLang="zh-CN" sz="2000" dirty="0">
                  <a:solidFill>
                    <a:srgbClr val="000000"/>
                  </a:solidFill>
                  <a:latin typeface="Times New Roman"/>
                  <a:ea typeface="黑体"/>
                </a:endParaRPr>
              </a:p>
            </p:txBody>
          </p:sp>
        </mc:Choice>
        <mc:Fallback xmlns="">
          <p:sp>
            <p:nvSpPr>
              <p:cNvPr id="11" name="内容占位符 2"/>
              <p:cNvSpPr txBox="1">
                <a:spLocks noRot="1" noChangeAspect="1" noMove="1" noResize="1" noEditPoints="1" noAdjustHandles="1" noChangeArrowheads="1" noChangeShapeType="1" noTextEdit="1"/>
              </p:cNvSpPr>
              <p:nvPr/>
            </p:nvSpPr>
            <p:spPr>
              <a:xfrm>
                <a:off x="1794722" y="3190339"/>
                <a:ext cx="8838968" cy="685800"/>
              </a:xfrm>
              <a:prstGeom prst="rect">
                <a:avLst/>
              </a:prstGeom>
              <a:blipFill>
                <a:blip r:embed="rId4"/>
                <a:stretch>
                  <a:fillRect l="-690"/>
                </a:stretch>
              </a:blipFill>
              <a:ln w="9525">
                <a:noFill/>
              </a:ln>
            </p:spPr>
            <p:txBody>
              <a:bodyPr/>
              <a:lstStyle/>
              <a:p>
                <a:r>
                  <a:rPr lang="zh-CN" altLang="en-US">
                    <a:noFill/>
                  </a:rPr>
                  <a:t> </a:t>
                </a:r>
              </a:p>
            </p:txBody>
          </p:sp>
        </mc:Fallback>
      </mc:AlternateContent>
      <p:pic>
        <p:nvPicPr>
          <p:cNvPr id="13" name="图片 12"/>
          <p:cNvPicPr>
            <a:picLocks noChangeAspect="1"/>
          </p:cNvPicPr>
          <p:nvPr/>
        </p:nvPicPr>
        <p:blipFill>
          <a:blip r:embed="rId5"/>
          <a:stretch>
            <a:fillRect/>
          </a:stretch>
        </p:blipFill>
        <p:spPr>
          <a:xfrm>
            <a:off x="4733855" y="3876139"/>
            <a:ext cx="2724290" cy="1759040"/>
          </a:xfrm>
          <a:prstGeom prst="rect">
            <a:avLst/>
          </a:prstGeom>
        </p:spPr>
      </p:pic>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2813" y="201425"/>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解码示例</a:t>
            </a:r>
          </a:p>
        </p:txBody>
      </p:sp>
      <mc:AlternateContent xmlns:mc="http://schemas.openxmlformats.org/markup-compatibility/2006" xmlns:a14="http://schemas.microsoft.com/office/drawing/2010/main">
        <mc:Choice Requires="a14">
          <p:sp>
            <p:nvSpPr>
              <p:cNvPr id="4" name="内容占位符 2"/>
              <p:cNvSpPr txBox="1"/>
              <p:nvPr/>
            </p:nvSpPr>
            <p:spPr>
              <a:xfrm>
                <a:off x="1668901" y="1295456"/>
                <a:ext cx="8854198" cy="1142970"/>
              </a:xfrm>
              <a:prstGeom prst="rect">
                <a:avLst/>
              </a:prstGeom>
            </p:spPr>
            <p:style>
              <a:lnRef idx="2">
                <a:schemeClr val="dk1"/>
              </a:lnRef>
              <a:fillRef idx="1">
                <a:schemeClr val="lt1"/>
              </a:fillRef>
              <a:effectRef idx="0">
                <a:schemeClr val="dk1"/>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rgbClr val="FF0000"/>
                    </a:solidFill>
                    <a:latin typeface="Times New Roman"/>
                    <a:ea typeface="黑体"/>
                  </a:rPr>
                  <a:t>例</a:t>
                </a:r>
                <a:r>
                  <a:rPr lang="en-US" altLang="zh-CN" sz="2000" dirty="0">
                    <a:solidFill>
                      <a:srgbClr val="FF0000"/>
                    </a:solidFill>
                    <a:latin typeface="Times New Roman"/>
                    <a:ea typeface="黑体"/>
                  </a:rPr>
                  <a:t>3</a:t>
                </a:r>
                <a:r>
                  <a:rPr lang="zh-CN" altLang="en-US" sz="2000" dirty="0">
                    <a:solidFill>
                      <a:srgbClr val="FF0000"/>
                    </a:solidFill>
                    <a:latin typeface="Times New Roman"/>
                    <a:ea typeface="黑体"/>
                  </a:rPr>
                  <a:t>：</a:t>
                </a:r>
                <a:r>
                  <a:rPr lang="zh-CN" altLang="en-US" sz="2000" dirty="0">
                    <a:solidFill>
                      <a:srgbClr val="000000"/>
                    </a:solidFill>
                    <a:latin typeface="Times New Roman"/>
                    <a:ea typeface="黑体"/>
                  </a:rPr>
                  <a:t>假设接收到数据为</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y</m:t>
                        </m:r>
                      </m:e>
                      <m:sub>
                        <m:r>
                          <a:rPr lang="en-US" altLang="zh-CN" sz="2000">
                            <a:solidFill>
                              <a:srgbClr val="000000"/>
                            </a:solidFill>
                            <a:latin typeface="Cambria Math" panose="02040503050406030204" pitchFamily="18" charset="0"/>
                          </a:rPr>
                          <m:t>1</m:t>
                        </m:r>
                      </m:sub>
                    </m:sSub>
                  </m:oMath>
                </a14:m>
                <a:r>
                  <a:rPr lang="en-US" altLang="zh-CN" sz="2000" dirty="0">
                    <a:solidFill>
                      <a:srgbClr val="000000"/>
                    </a:solidFill>
                    <a:latin typeface="Times New Roman"/>
                    <a:ea typeface="黑体"/>
                  </a:rPr>
                  <a:t>=-1.61</a:t>
                </a:r>
                <a:r>
                  <a:rPr lang="zh-CN" altLang="en-US" sz="2000" dirty="0">
                    <a:solidFill>
                      <a:srgbClr val="000000"/>
                    </a:solidFill>
                    <a:latin typeface="Times New Roman"/>
                    <a:ea typeface="黑体"/>
                  </a:rPr>
                  <a:t>、</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y</m:t>
                        </m:r>
                      </m:e>
                      <m:sub>
                        <m:r>
                          <a:rPr lang="en-US" altLang="zh-CN" sz="2000">
                            <a:solidFill>
                              <a:srgbClr val="000000"/>
                            </a:solidFill>
                            <a:latin typeface="Cambria Math" panose="02040503050406030204" pitchFamily="18" charset="0"/>
                          </a:rPr>
                          <m:t>2</m:t>
                        </m:r>
                      </m:sub>
                    </m:sSub>
                  </m:oMath>
                </a14:m>
                <a:r>
                  <a:rPr lang="en-US" altLang="zh-CN" sz="2000" dirty="0">
                    <a:solidFill>
                      <a:srgbClr val="000000"/>
                    </a:solidFill>
                    <a:latin typeface="Times New Roman"/>
                    <a:ea typeface="黑体"/>
                  </a:rPr>
                  <a:t>=-0.06</a:t>
                </a:r>
                <a:r>
                  <a:rPr lang="zh-CN" altLang="en-US" sz="2000" dirty="0">
                    <a:solidFill>
                      <a:srgbClr val="000000"/>
                    </a:solidFill>
                    <a:latin typeface="Times New Roman"/>
                    <a:ea typeface="黑体"/>
                  </a:rPr>
                  <a:t>、</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y</m:t>
                        </m:r>
                      </m:e>
                      <m:sub>
                        <m:r>
                          <a:rPr lang="en-US" altLang="zh-CN" sz="2000">
                            <a:solidFill>
                              <a:srgbClr val="000000"/>
                            </a:solidFill>
                            <a:latin typeface="Cambria Math" panose="02040503050406030204" pitchFamily="18" charset="0"/>
                          </a:rPr>
                          <m:t>3</m:t>
                        </m:r>
                      </m:sub>
                    </m:sSub>
                  </m:oMath>
                </a14:m>
                <a:r>
                  <a:rPr lang="en-US" altLang="zh-CN" sz="2000" dirty="0">
                    <a:solidFill>
                      <a:srgbClr val="000000"/>
                    </a:solidFill>
                    <a:latin typeface="Times New Roman"/>
                    <a:ea typeface="黑体"/>
                  </a:rPr>
                  <a:t>=-1.89</a:t>
                </a:r>
                <a:r>
                  <a:rPr lang="zh-CN" altLang="en-US" sz="2000" dirty="0">
                    <a:solidFill>
                      <a:srgbClr val="000000"/>
                    </a:solidFill>
                    <a:latin typeface="Times New Roman"/>
                    <a:ea typeface="黑体"/>
                  </a:rPr>
                  <a:t>、</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y</m:t>
                        </m:r>
                      </m:e>
                      <m:sub>
                        <m:r>
                          <a:rPr lang="en-US" altLang="zh-CN" sz="2000">
                            <a:solidFill>
                              <a:srgbClr val="000000"/>
                            </a:solidFill>
                            <a:latin typeface="Cambria Math" panose="02040503050406030204" pitchFamily="18" charset="0"/>
                          </a:rPr>
                          <m:t>4</m:t>
                        </m:r>
                      </m:sub>
                    </m:sSub>
                  </m:oMath>
                </a14:m>
                <a:r>
                  <a:rPr lang="en-US" altLang="zh-CN" sz="2000" dirty="0">
                    <a:solidFill>
                      <a:srgbClr val="000000"/>
                    </a:solidFill>
                    <a:latin typeface="Times New Roman"/>
                    <a:ea typeface="黑体"/>
                  </a:rPr>
                  <a:t>=1.69</a:t>
                </a:r>
                <a:r>
                  <a:rPr lang="zh-CN" altLang="en-US" sz="2000" dirty="0">
                    <a:solidFill>
                      <a:srgbClr val="000000"/>
                    </a:solidFill>
                    <a:latin typeface="Times New Roman"/>
                    <a:ea typeface="黑体"/>
                  </a:rPr>
                  <a:t>，因为</a:t>
                </a:r>
                <a:r>
                  <a:rPr lang="en-US" altLang="zh-CN" sz="2000" dirty="0">
                    <a:solidFill>
                      <a:srgbClr val="000000"/>
                    </a:solidFill>
                    <a:latin typeface="Times New Roman"/>
                    <a:ea typeface="黑体"/>
                  </a:rPr>
                  <a:t>x=LLR</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y</a:t>
                </a:r>
                <a:r>
                  <a:rPr lang="zh-CN" altLang="en-US" sz="2000" dirty="0">
                    <a:solidFill>
                      <a:srgbClr val="000000"/>
                    </a:solidFill>
                    <a:latin typeface="Times New Roman"/>
                    <a:ea typeface="黑体"/>
                  </a:rPr>
                  <a:t>），所以</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x</m:t>
                        </m:r>
                      </m:e>
                      <m:sub>
                        <m:r>
                          <a:rPr lang="en-US" altLang="zh-CN" sz="2000">
                            <a:solidFill>
                              <a:srgbClr val="000000"/>
                            </a:solidFill>
                            <a:latin typeface="Cambria Math" panose="02040503050406030204" pitchFamily="18" charset="0"/>
                          </a:rPr>
                          <m:t>1</m:t>
                        </m:r>
                      </m:sub>
                    </m:sSub>
                  </m:oMath>
                </a14:m>
                <a:r>
                  <a:rPr lang="en-US" altLang="zh-CN" sz="2000" dirty="0">
                    <a:solidFill>
                      <a:srgbClr val="000000"/>
                    </a:solidFill>
                    <a:latin typeface="Times New Roman"/>
                    <a:ea typeface="黑体"/>
                  </a:rPr>
                  <a:t>=3.22</a:t>
                </a:r>
                <a:r>
                  <a:rPr lang="zh-CN" altLang="en-US" sz="2000" dirty="0">
                    <a:solidFill>
                      <a:srgbClr val="000000"/>
                    </a:solidFill>
                    <a:latin typeface="Times New Roman"/>
                    <a:ea typeface="黑体"/>
                  </a:rPr>
                  <a:t>、 </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x</m:t>
                        </m:r>
                      </m:e>
                      <m:sub>
                        <m:r>
                          <a:rPr lang="en-US" altLang="zh-CN" sz="2000">
                            <a:solidFill>
                              <a:srgbClr val="000000"/>
                            </a:solidFill>
                            <a:latin typeface="Cambria Math" panose="02040503050406030204" pitchFamily="18" charset="0"/>
                          </a:rPr>
                          <m:t>2</m:t>
                        </m:r>
                      </m:sub>
                    </m:sSub>
                  </m:oMath>
                </a14:m>
                <a:r>
                  <a:rPr lang="en-US" altLang="zh-CN" sz="2000" dirty="0">
                    <a:solidFill>
                      <a:srgbClr val="000000"/>
                    </a:solidFill>
                    <a:latin typeface="Times New Roman"/>
                    <a:ea typeface="黑体"/>
                  </a:rPr>
                  <a:t>=0.12</a:t>
                </a:r>
                <a:r>
                  <a:rPr lang="zh-CN" altLang="en-US" sz="2000" dirty="0">
                    <a:solidFill>
                      <a:srgbClr val="000000"/>
                    </a:solidFill>
                    <a:latin typeface="Times New Roman"/>
                    <a:ea typeface="黑体"/>
                  </a:rPr>
                  <a:t>、 </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x</m:t>
                        </m:r>
                      </m:e>
                      <m:sub>
                        <m:r>
                          <a:rPr lang="en-US" altLang="zh-CN" sz="2000">
                            <a:solidFill>
                              <a:srgbClr val="000000"/>
                            </a:solidFill>
                            <a:latin typeface="Cambria Math" panose="02040503050406030204" pitchFamily="18" charset="0"/>
                          </a:rPr>
                          <m:t>3</m:t>
                        </m:r>
                      </m:sub>
                    </m:sSub>
                  </m:oMath>
                </a14:m>
                <a:r>
                  <a:rPr lang="en-US" altLang="zh-CN" sz="2000" dirty="0">
                    <a:solidFill>
                      <a:srgbClr val="000000"/>
                    </a:solidFill>
                    <a:latin typeface="Times New Roman"/>
                    <a:ea typeface="黑体"/>
                  </a:rPr>
                  <a:t>=3.78</a:t>
                </a:r>
                <a:r>
                  <a:rPr lang="zh-CN" altLang="en-US" sz="2000" dirty="0">
                    <a:solidFill>
                      <a:srgbClr val="000000"/>
                    </a:solidFill>
                    <a:latin typeface="Times New Roman"/>
                    <a:ea typeface="黑体"/>
                  </a:rPr>
                  <a:t>、 </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x</m:t>
                        </m:r>
                      </m:e>
                      <m:sub>
                        <m:r>
                          <a:rPr lang="en-US" altLang="zh-CN" sz="2000">
                            <a:solidFill>
                              <a:srgbClr val="000000"/>
                            </a:solidFill>
                            <a:latin typeface="Cambria Math" panose="02040503050406030204" pitchFamily="18" charset="0"/>
                          </a:rPr>
                          <m:t>4</m:t>
                        </m:r>
                      </m:sub>
                    </m:sSub>
                  </m:oMath>
                </a14:m>
                <a:r>
                  <a:rPr lang="en-US" altLang="zh-CN" sz="2000" dirty="0">
                    <a:solidFill>
                      <a:srgbClr val="000000"/>
                    </a:solidFill>
                    <a:latin typeface="Times New Roman"/>
                    <a:ea typeface="黑体"/>
                  </a:rPr>
                  <a:t>=-3.38</a:t>
                </a:r>
                <a:r>
                  <a:rPr lang="zh-CN" altLang="en-US" sz="2000" dirty="0">
                    <a:solidFill>
                      <a:srgbClr val="000000"/>
                    </a:solidFill>
                    <a:latin typeface="Times New Roman"/>
                    <a:ea typeface="黑体"/>
                  </a:rPr>
                  <a:t>。计算解码结果。</a:t>
                </a:r>
                <a:endParaRPr lang="en-US" altLang="zh-CN" sz="2000" dirty="0">
                  <a:solidFill>
                    <a:srgbClr val="000000"/>
                  </a:solidFill>
                  <a:latin typeface="Times New Roman"/>
                  <a:ea typeface="黑体"/>
                </a:endParaRPr>
              </a:p>
            </p:txBody>
          </p:sp>
        </mc:Choice>
        <mc:Fallback xmlns="">
          <p:sp>
            <p:nvSpPr>
              <p:cNvPr id="4" name="内容占位符 2"/>
              <p:cNvSpPr txBox="1">
                <a:spLocks noRot="1" noChangeAspect="1" noMove="1" noResize="1" noEditPoints="1" noAdjustHandles="1" noChangeArrowheads="1" noChangeShapeType="1" noTextEdit="1"/>
              </p:cNvSpPr>
              <p:nvPr/>
            </p:nvSpPr>
            <p:spPr>
              <a:xfrm>
                <a:off x="1668901" y="1295456"/>
                <a:ext cx="8854198" cy="1142970"/>
              </a:xfrm>
              <a:prstGeom prst="rect">
                <a:avLst/>
              </a:prstGeom>
              <a:blipFill>
                <a:blip r:embed="rId2"/>
                <a:stretch>
                  <a:fillRect l="-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905111" y="3200406"/>
                <a:ext cx="8160801" cy="1938992"/>
              </a:xfrm>
              <a:prstGeom prst="rect">
                <a:avLst/>
              </a:prstGeom>
              <a:noFill/>
            </p:spPr>
            <p:txBody>
              <a:bodyPr wrap="square">
                <a:spAutoFit/>
              </a:bodyPr>
              <a:lstStyle/>
              <a:p>
                <a:pPr eaLnBrk="0" fontAlgn="base" hangingPunct="0">
                  <a:lnSpc>
                    <a:spcPct val="150000"/>
                  </a:lnSpc>
                  <a:spcBef>
                    <a:spcPct val="0"/>
                  </a:spcBef>
                  <a:spcAft>
                    <a:spcPct val="0"/>
                  </a:spcAft>
                </a:pPr>
                <a:r>
                  <a:rPr kumimoji="1" lang="zh-CN" altLang="en-US" sz="2000" dirty="0">
                    <a:solidFill>
                      <a:srgbClr val="000000"/>
                    </a:solidFill>
                    <a:highlight>
                      <a:srgbClr val="FFFF00"/>
                    </a:highlight>
                    <a:latin typeface="Times New Roman"/>
                    <a:ea typeface="黑体"/>
                  </a:rPr>
                  <a:t>第一步：</a:t>
                </a:r>
                <a:r>
                  <a:rPr kumimoji="1" lang="zh-CN" altLang="en-US" sz="2000" dirty="0">
                    <a:solidFill>
                      <a:srgbClr val="000000"/>
                    </a:solidFill>
                    <a:latin typeface="Times New Roman"/>
                    <a:ea typeface="黑体"/>
                  </a:rPr>
                  <a:t>将</a:t>
                </a:r>
                <a:r>
                  <a:rPr lang="zh-CN" altLang="en-US" sz="2000" dirty="0">
                    <a:solidFill>
                      <a:srgbClr val="000000"/>
                    </a:solidFill>
                    <a:latin typeface="Times New Roman"/>
                    <a:ea typeface="黑体" panose="02010609060101010101" pitchFamily="49" charset="-122"/>
                  </a:rPr>
                  <a:t> </a:t>
                </a:r>
                <a14:m>
                  <m:oMath xmlns:m="http://schemas.openxmlformats.org/officeDocument/2006/math">
                    <m:sSub>
                      <m:sSubPr>
                        <m:ctrlPr>
                          <a:rPr lang="zh-CN" altLang="en-US" sz="2000" i="1">
                            <a:solidFill>
                              <a:srgbClr val="000000"/>
                            </a:solidFill>
                            <a:latin typeface="Cambria Math" panose="02040503050406030204" pitchFamily="18" charset="0"/>
                            <a:ea typeface="黑体" panose="02010609060101010101" pitchFamily="49" charset="-122"/>
                          </a:rPr>
                        </m:ctrlPr>
                      </m:sSubPr>
                      <m:e>
                        <m:r>
                          <m:rPr>
                            <m:sty m:val="p"/>
                          </m:rPr>
                          <a:rPr lang="en-US" altLang="zh-CN" sz="2000" i="1">
                            <a:solidFill>
                              <a:srgbClr val="000000"/>
                            </a:solidFill>
                            <a:latin typeface="Cambria Math" panose="02040503050406030204" pitchFamily="18" charset="0"/>
                            <a:ea typeface="黑体" panose="02010609060101010101" pitchFamily="49" charset="-122"/>
                          </a:rPr>
                          <m:t>x</m:t>
                        </m:r>
                      </m:e>
                      <m:sub>
                        <m:r>
                          <a:rPr lang="en-US" altLang="zh-CN" sz="2000">
                            <a:solidFill>
                              <a:srgbClr val="000000"/>
                            </a:solidFill>
                            <a:latin typeface="Cambria Math" panose="02040503050406030204" pitchFamily="18" charset="0"/>
                            <a:ea typeface="黑体" panose="02010609060101010101" pitchFamily="49" charset="-122"/>
                          </a:rPr>
                          <m:t>3</m:t>
                        </m:r>
                      </m:sub>
                    </m:sSub>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m:rPr>
                            <m:sty m:val="p"/>
                          </m:rPr>
                          <a:rPr lang="en-US" altLang="zh-CN" sz="2000" i="1">
                            <a:solidFill>
                              <a:srgbClr val="000000"/>
                            </a:solidFill>
                            <a:latin typeface="Cambria Math" panose="02040503050406030204" pitchFamily="18" charset="0"/>
                            <a:ea typeface="黑体" panose="02010609060101010101" pitchFamily="49" charset="-122"/>
                          </a:rPr>
                          <m:t>x</m:t>
                        </m:r>
                      </m:e>
                      <m:sub>
                        <m:r>
                          <a:rPr lang="en-US" altLang="zh-CN" sz="2000">
                            <a:solidFill>
                              <a:srgbClr val="000000"/>
                            </a:solidFill>
                            <a:latin typeface="Cambria Math" panose="02040503050406030204" pitchFamily="18" charset="0"/>
                            <a:ea typeface="黑体" panose="02010609060101010101" pitchFamily="49" charset="-122"/>
                          </a:rPr>
                          <m:t>4</m:t>
                        </m:r>
                      </m:sub>
                    </m:sSub>
                    <m:r>
                      <a:rPr lang="en-US" altLang="zh-CN" sz="2000" i="1">
                        <a:solidFill>
                          <a:srgbClr val="000000"/>
                        </a:solidFill>
                        <a:latin typeface="Cambria Math" panose="02040503050406030204" pitchFamily="18" charset="0"/>
                        <a:ea typeface="黑体" panose="02010609060101010101" pitchFamily="49" charset="-122"/>
                      </a:rPr>
                      <m:t> </m:t>
                    </m:r>
                    <m:r>
                      <a:rPr lang="zh-CN" altLang="en-US" sz="2000" i="1">
                        <a:solidFill>
                          <a:srgbClr val="000000"/>
                        </a:solidFill>
                        <a:latin typeface="Cambria Math" panose="02040503050406030204" pitchFamily="18" charset="0"/>
                        <a:ea typeface="黑体" panose="02010609060101010101" pitchFamily="49" charset="-122"/>
                      </a:rPr>
                      <m:t>当做</m:t>
                    </m:r>
                  </m:oMath>
                </a14:m>
                <a:r>
                  <a:rPr kumimoji="1" lang="zh-CN" altLang="en-US" sz="2000" dirty="0">
                    <a:solidFill>
                      <a:srgbClr val="000000"/>
                    </a:solidFill>
                    <a:latin typeface="Times New Roman"/>
                    <a:ea typeface="黑体"/>
                  </a:rPr>
                  <a:t>噪声，根据上半部分</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x</m:t>
                        </m:r>
                      </m:e>
                      <m:sub>
                        <m:r>
                          <a:rPr lang="en-US" altLang="zh-CN" sz="2000">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m:t>
                        </m:r>
                        <m:r>
                          <m:rPr>
                            <m:sty m:val="p"/>
                          </m:rPr>
                          <a:rPr lang="en-US" altLang="zh-CN" sz="2000" i="1">
                            <a:solidFill>
                              <a:srgbClr val="000000"/>
                            </a:solidFill>
                            <a:latin typeface="Cambria Math" panose="02040503050406030204" pitchFamily="18" charset="0"/>
                          </a:rPr>
                          <m:t>x</m:t>
                        </m:r>
                      </m:e>
                      <m:sub>
                        <m:r>
                          <a:rPr lang="en-US" altLang="zh-CN" sz="2000">
                            <a:solidFill>
                              <a:srgbClr val="000000"/>
                            </a:solidFill>
                            <a:latin typeface="Cambria Math" panose="02040503050406030204" pitchFamily="18" charset="0"/>
                          </a:rPr>
                          <m:t>2</m:t>
                        </m:r>
                      </m:sub>
                    </m:sSub>
                  </m:oMath>
                </a14:m>
                <a:r>
                  <a:rPr kumimoji="1" lang="zh-CN" altLang="en-US" sz="2000" dirty="0">
                    <a:solidFill>
                      <a:srgbClr val="000000"/>
                    </a:solidFill>
                    <a:latin typeface="Times New Roman"/>
                    <a:ea typeface="黑体"/>
                  </a:rPr>
                  <a:t>计算出临时变量</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m:t>
                        </m:r>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2</m:t>
                        </m:r>
                      </m:sub>
                    </m:sSub>
                  </m:oMath>
                </a14:m>
                <a:r>
                  <a:rPr kumimoji="1" lang="zh-CN" altLang="en-US" sz="2000" dirty="0">
                    <a:solidFill>
                      <a:srgbClr val="000000"/>
                    </a:solidFill>
                    <a:latin typeface="Times New Roman"/>
                    <a:ea typeface="黑体"/>
                  </a:rPr>
                  <a:t>。 </a:t>
                </a:r>
                <a:endParaRPr kumimoji="1" lang="en-US" altLang="zh-CN" sz="2000" dirty="0">
                  <a:solidFill>
                    <a:srgbClr val="000000"/>
                  </a:solidFill>
                  <a:latin typeface="Times New Roman"/>
                  <a:ea typeface="黑体"/>
                </a:endParaRPr>
              </a:p>
              <a:p>
                <a:pPr eaLnBrk="0" fontAlgn="base" hangingPunct="0">
                  <a:lnSpc>
                    <a:spcPct val="150000"/>
                  </a:lnSpc>
                  <a:spcBef>
                    <a:spcPct val="0"/>
                  </a:spcBef>
                  <a:spcAft>
                    <a:spcPct val="0"/>
                  </a:spcAft>
                </a:pPr>
                <a:endParaRPr kumimoji="1" lang="en-US" altLang="zh-CN" sz="2000" i="1" dirty="0">
                  <a:solidFill>
                    <a:srgbClr val="000000"/>
                  </a:solidFill>
                  <a:latin typeface="Times New Roman"/>
                  <a:ea typeface="黑体"/>
                </a:endParaRPr>
              </a:p>
              <a:p>
                <a:pPr eaLnBrk="0" fontAlgn="base" hangingPunct="0">
                  <a:lnSpc>
                    <a:spcPct val="150000"/>
                  </a:lnSpc>
                  <a:spcBef>
                    <a:spcPct val="0"/>
                  </a:spcBef>
                  <a:spcAft>
                    <a:spcPct val="0"/>
                  </a:spcAft>
                </a:pPr>
                <a14:m>
                  <m:oMathPara xmlns:m="http://schemas.openxmlformats.org/officeDocument/2006/math">
                    <m:oMathParaPr>
                      <m:jc m:val="centerGroup"/>
                    </m:oMathParaPr>
                    <m:oMath xmlns:m="http://schemas.openxmlformats.org/officeDocument/2006/math">
                      <m:sSub>
                        <m:sSubPr>
                          <m:ctrlPr>
                            <a:rPr kumimoji="1" lang="en-US" altLang="zh-CN" sz="2000" i="1">
                              <a:solidFill>
                                <a:srgbClr val="000000"/>
                              </a:solidFill>
                              <a:latin typeface="Cambria Math" panose="02040503050406030204" pitchFamily="18" charset="0"/>
                            </a:rPr>
                          </m:ctrlPr>
                        </m:sSubPr>
                        <m:e>
                          <m:r>
                            <a:rPr kumimoji="1" lang="en-US" altLang="zh-CN" sz="2000" i="1">
                              <a:solidFill>
                                <a:srgbClr val="000000"/>
                              </a:solidFill>
                              <a:latin typeface="Cambria Math" panose="02040503050406030204" pitchFamily="18" charset="0"/>
                            </a:rPr>
                            <m:t>𝑡</m:t>
                          </m:r>
                        </m:e>
                        <m:sub>
                          <m:r>
                            <a:rPr kumimoji="1" lang="en-US" altLang="zh-CN" sz="2000" i="1">
                              <a:solidFill>
                                <a:srgbClr val="000000"/>
                              </a:solidFill>
                              <a:latin typeface="Cambria Math" panose="02040503050406030204" pitchFamily="18" charset="0"/>
                            </a:rPr>
                            <m:t>1</m:t>
                          </m:r>
                        </m:sub>
                      </m:sSub>
                      <m:r>
                        <a:rPr kumimoji="1" lang="en-US" altLang="zh-CN" sz="2000" i="1">
                          <a:solidFill>
                            <a:srgbClr val="000000"/>
                          </a:solidFill>
                          <a:latin typeface="Cambria Math" panose="02040503050406030204" pitchFamily="18" charset="0"/>
                        </a:rPr>
                        <m:t>=</m:t>
                      </m:r>
                      <m:r>
                        <a:rPr kumimoji="1" lang="en-US" altLang="zh-CN" sz="2000" i="1">
                          <a:solidFill>
                            <a:srgbClr val="000000"/>
                          </a:solidFill>
                          <a:latin typeface="Cambria Math" panose="02040503050406030204" pitchFamily="18" charset="0"/>
                        </a:rPr>
                        <m:t>𝑓</m:t>
                      </m:r>
                      <m:d>
                        <m:dPr>
                          <m:ctrlPr>
                            <a:rPr kumimoji="1" lang="en-US" altLang="zh-CN" sz="2000" i="1">
                              <a:solidFill>
                                <a:srgbClr val="000000"/>
                              </a:solidFill>
                              <a:latin typeface="Cambria Math" panose="02040503050406030204" pitchFamily="18" charset="0"/>
                            </a:rPr>
                          </m:ctrlPr>
                        </m:dPr>
                        <m:e>
                          <m:sSub>
                            <m:sSubPr>
                              <m:ctrlPr>
                                <a:rPr kumimoji="1" lang="en-US" altLang="zh-CN" sz="2000" i="1">
                                  <a:solidFill>
                                    <a:srgbClr val="000000"/>
                                  </a:solidFill>
                                  <a:latin typeface="Cambria Math" panose="02040503050406030204" pitchFamily="18" charset="0"/>
                                </a:rPr>
                              </m:ctrlPr>
                            </m:sSubPr>
                            <m:e>
                              <m:r>
                                <a:rPr kumimoji="1" lang="en-US" altLang="zh-CN" sz="2000" i="1">
                                  <a:solidFill>
                                    <a:srgbClr val="000000"/>
                                  </a:solidFill>
                                  <a:latin typeface="Cambria Math" panose="02040503050406030204" pitchFamily="18" charset="0"/>
                                </a:rPr>
                                <m:t>𝑥</m:t>
                              </m:r>
                            </m:e>
                            <m:sub>
                              <m:r>
                                <a:rPr kumimoji="1" lang="en-US" altLang="zh-CN" sz="2000" i="1">
                                  <a:solidFill>
                                    <a:srgbClr val="000000"/>
                                  </a:solidFill>
                                  <a:latin typeface="Cambria Math" panose="02040503050406030204" pitchFamily="18" charset="0"/>
                                </a:rPr>
                                <m:t>1</m:t>
                              </m:r>
                            </m:sub>
                          </m:sSub>
                          <m:r>
                            <a:rPr kumimoji="1" lang="en-US" altLang="zh-CN" sz="2000" i="1">
                              <a:solidFill>
                                <a:srgbClr val="000000"/>
                              </a:solidFill>
                              <a:latin typeface="Cambria Math" panose="02040503050406030204" pitchFamily="18" charset="0"/>
                            </a:rPr>
                            <m:t>,</m:t>
                          </m:r>
                          <m:sSub>
                            <m:sSubPr>
                              <m:ctrlPr>
                                <a:rPr kumimoji="1" lang="en-US" altLang="zh-CN" sz="2000" i="1">
                                  <a:solidFill>
                                    <a:srgbClr val="000000"/>
                                  </a:solidFill>
                                  <a:latin typeface="Cambria Math" panose="02040503050406030204" pitchFamily="18" charset="0"/>
                                </a:rPr>
                              </m:ctrlPr>
                            </m:sSubPr>
                            <m:e>
                              <m:r>
                                <a:rPr kumimoji="1" lang="en-US" altLang="zh-CN" sz="2000" i="1">
                                  <a:solidFill>
                                    <a:srgbClr val="000000"/>
                                  </a:solidFill>
                                  <a:latin typeface="Cambria Math" panose="02040503050406030204" pitchFamily="18" charset="0"/>
                                </a:rPr>
                                <m:t>𝑥</m:t>
                              </m:r>
                            </m:e>
                            <m:sub>
                              <m:r>
                                <a:rPr kumimoji="1" lang="en-US" altLang="zh-CN" sz="2000" i="1">
                                  <a:solidFill>
                                    <a:srgbClr val="000000"/>
                                  </a:solidFill>
                                  <a:latin typeface="Cambria Math" panose="02040503050406030204" pitchFamily="18" charset="0"/>
                                </a:rPr>
                                <m:t>3</m:t>
                              </m:r>
                            </m:sub>
                          </m:sSub>
                        </m:e>
                      </m:d>
                      <m:r>
                        <a:rPr kumimoji="1" lang="en-US" altLang="zh-CN" sz="2000" i="1">
                          <a:solidFill>
                            <a:srgbClr val="000000"/>
                          </a:solidFill>
                          <a:latin typeface="Cambria Math" panose="02040503050406030204" pitchFamily="18" charset="0"/>
                        </a:rPr>
                        <m:t>=</m:t>
                      </m:r>
                      <m:sSub>
                        <m:sSubPr>
                          <m:ctrlPr>
                            <a:rPr kumimoji="1" lang="en-US" altLang="zh-CN" sz="2000" i="1">
                              <a:solidFill>
                                <a:srgbClr val="000000"/>
                              </a:solidFill>
                              <a:latin typeface="Cambria Math" panose="02040503050406030204" pitchFamily="18" charset="0"/>
                            </a:rPr>
                          </m:ctrlPr>
                        </m:sSubPr>
                        <m:e>
                          <m:r>
                            <a:rPr kumimoji="1" lang="en-US" altLang="zh-CN" sz="2000" i="1">
                              <a:solidFill>
                                <a:srgbClr val="000000"/>
                              </a:solidFill>
                              <a:latin typeface="Cambria Math" panose="02040503050406030204" pitchFamily="18" charset="0"/>
                            </a:rPr>
                            <m:t>𝑥</m:t>
                          </m:r>
                        </m:e>
                        <m:sub>
                          <m:r>
                            <a:rPr kumimoji="1" lang="en-US" altLang="zh-CN" sz="2000" i="1">
                              <a:solidFill>
                                <a:srgbClr val="000000"/>
                              </a:solidFill>
                              <a:latin typeface="Cambria Math" panose="02040503050406030204" pitchFamily="18" charset="0"/>
                            </a:rPr>
                            <m:t>1</m:t>
                          </m:r>
                        </m:sub>
                      </m:sSub>
                      <m:r>
                        <a:rPr kumimoji="1" lang="en-US" altLang="zh-CN" sz="2000" i="1" dirty="0">
                          <a:solidFill>
                            <a:srgbClr val="000000"/>
                          </a:solidFill>
                          <a:latin typeface="Cambria Math" panose="02040503050406030204" pitchFamily="18" charset="0"/>
                        </a:rPr>
                        <m:t>⊞</m:t>
                      </m:r>
                      <m:sSub>
                        <m:sSubPr>
                          <m:ctrlPr>
                            <a:rPr kumimoji="1" lang="en-US" altLang="zh-CN" sz="2000" i="1">
                              <a:solidFill>
                                <a:srgbClr val="000000"/>
                              </a:solidFill>
                              <a:latin typeface="Cambria Math" panose="02040503050406030204" pitchFamily="18" charset="0"/>
                            </a:rPr>
                          </m:ctrlPr>
                        </m:sSubPr>
                        <m:e>
                          <m:r>
                            <a:rPr kumimoji="1" lang="en-US" altLang="zh-CN" sz="2000" i="1">
                              <a:solidFill>
                                <a:srgbClr val="000000"/>
                              </a:solidFill>
                              <a:latin typeface="Cambria Math" panose="02040503050406030204" pitchFamily="18" charset="0"/>
                            </a:rPr>
                            <m:t>𝑥</m:t>
                          </m:r>
                        </m:e>
                        <m:sub>
                          <m:r>
                            <a:rPr kumimoji="1" lang="en-US" altLang="zh-CN" sz="2000" i="1">
                              <a:solidFill>
                                <a:srgbClr val="000000"/>
                              </a:solidFill>
                              <a:latin typeface="Cambria Math" panose="02040503050406030204" pitchFamily="18" charset="0"/>
                            </a:rPr>
                            <m:t>3</m:t>
                          </m:r>
                        </m:sub>
                      </m:sSub>
                      <m:r>
                        <a:rPr kumimoji="1" lang="en-US" altLang="zh-CN" sz="2000" i="1">
                          <a:solidFill>
                            <a:srgbClr val="000000"/>
                          </a:solidFill>
                          <a:latin typeface="Cambria Math" panose="02040503050406030204" pitchFamily="18" charset="0"/>
                        </a:rPr>
                        <m:t>=2.77</m:t>
                      </m:r>
                    </m:oMath>
                  </m:oMathPara>
                </a14:m>
                <a:endParaRPr kumimoji="1" lang="en-US" altLang="zh-CN" sz="2000" i="1" dirty="0">
                  <a:solidFill>
                    <a:srgbClr val="000000"/>
                  </a:solidFill>
                  <a:latin typeface="Times New Roman"/>
                  <a:ea typeface="黑体"/>
                </a:endParaRPr>
              </a:p>
              <a:p>
                <a:pPr eaLnBrk="0" fontAlgn="base" hangingPunct="0">
                  <a:lnSpc>
                    <a:spcPct val="150000"/>
                  </a:lnSpc>
                  <a:spcBef>
                    <a:spcPct val="0"/>
                  </a:spcBef>
                  <a:spcAft>
                    <a:spcPct val="0"/>
                  </a:spcAft>
                </a:pPr>
                <a14:m>
                  <m:oMathPara xmlns:m="http://schemas.openxmlformats.org/officeDocument/2006/math">
                    <m:oMathParaPr>
                      <m:jc m:val="centerGroup"/>
                    </m:oMathParaPr>
                    <m:oMath xmlns:m="http://schemas.openxmlformats.org/officeDocument/2006/math">
                      <m:sSub>
                        <m:sSubPr>
                          <m:ctrlPr>
                            <a:rPr kumimoji="1" lang="en-US" altLang="zh-CN" sz="2000" i="1">
                              <a:solidFill>
                                <a:srgbClr val="000000"/>
                              </a:solidFill>
                              <a:latin typeface="Cambria Math" panose="02040503050406030204" pitchFamily="18" charset="0"/>
                            </a:rPr>
                          </m:ctrlPr>
                        </m:sSubPr>
                        <m:e>
                          <m:r>
                            <a:rPr kumimoji="1" lang="en-US" altLang="zh-CN" sz="2000" i="1">
                              <a:solidFill>
                                <a:srgbClr val="000000"/>
                              </a:solidFill>
                              <a:latin typeface="Cambria Math" panose="02040503050406030204" pitchFamily="18" charset="0"/>
                            </a:rPr>
                            <m:t>𝑡</m:t>
                          </m:r>
                        </m:e>
                        <m:sub>
                          <m:r>
                            <a:rPr kumimoji="1" lang="en-US" altLang="zh-CN" sz="2000" i="1">
                              <a:solidFill>
                                <a:srgbClr val="000000"/>
                              </a:solidFill>
                              <a:latin typeface="Cambria Math" panose="02040503050406030204" pitchFamily="18" charset="0"/>
                            </a:rPr>
                            <m:t>2</m:t>
                          </m:r>
                        </m:sub>
                      </m:sSub>
                      <m:r>
                        <a:rPr kumimoji="1" lang="en-US" altLang="zh-CN" sz="2000" i="1">
                          <a:solidFill>
                            <a:srgbClr val="000000"/>
                          </a:solidFill>
                          <a:latin typeface="Cambria Math" panose="02040503050406030204" pitchFamily="18" charset="0"/>
                        </a:rPr>
                        <m:t>=</m:t>
                      </m:r>
                      <m:r>
                        <a:rPr kumimoji="1" lang="en-US" altLang="zh-CN" sz="2000" i="1">
                          <a:solidFill>
                            <a:srgbClr val="000000"/>
                          </a:solidFill>
                          <a:latin typeface="Cambria Math" panose="02040503050406030204" pitchFamily="18" charset="0"/>
                        </a:rPr>
                        <m:t>𝑓</m:t>
                      </m:r>
                      <m:d>
                        <m:dPr>
                          <m:ctrlPr>
                            <a:rPr kumimoji="1" lang="en-US" altLang="zh-CN" sz="2000" i="1">
                              <a:solidFill>
                                <a:srgbClr val="000000"/>
                              </a:solidFill>
                              <a:latin typeface="Cambria Math" panose="02040503050406030204" pitchFamily="18" charset="0"/>
                            </a:rPr>
                          </m:ctrlPr>
                        </m:dPr>
                        <m:e>
                          <m:sSub>
                            <m:sSubPr>
                              <m:ctrlPr>
                                <a:rPr kumimoji="1" lang="en-US" altLang="zh-CN" sz="2000" i="1">
                                  <a:solidFill>
                                    <a:srgbClr val="000000"/>
                                  </a:solidFill>
                                  <a:latin typeface="Cambria Math" panose="02040503050406030204" pitchFamily="18" charset="0"/>
                                </a:rPr>
                              </m:ctrlPr>
                            </m:sSubPr>
                            <m:e>
                              <m:r>
                                <a:rPr kumimoji="1" lang="en-US" altLang="zh-CN" sz="2000" i="1">
                                  <a:solidFill>
                                    <a:srgbClr val="000000"/>
                                  </a:solidFill>
                                  <a:latin typeface="Cambria Math" panose="02040503050406030204" pitchFamily="18" charset="0"/>
                                </a:rPr>
                                <m:t>𝑥</m:t>
                              </m:r>
                            </m:e>
                            <m:sub>
                              <m:r>
                                <a:rPr kumimoji="1" lang="en-US" altLang="zh-CN" sz="2000" i="1">
                                  <a:solidFill>
                                    <a:srgbClr val="000000"/>
                                  </a:solidFill>
                                  <a:latin typeface="Cambria Math" panose="02040503050406030204" pitchFamily="18" charset="0"/>
                                </a:rPr>
                                <m:t>2</m:t>
                              </m:r>
                            </m:sub>
                          </m:sSub>
                          <m:r>
                            <a:rPr kumimoji="1" lang="en-US" altLang="zh-CN" sz="2000" i="1">
                              <a:solidFill>
                                <a:srgbClr val="000000"/>
                              </a:solidFill>
                              <a:latin typeface="Cambria Math" panose="02040503050406030204" pitchFamily="18" charset="0"/>
                            </a:rPr>
                            <m:t>,</m:t>
                          </m:r>
                          <m:sSub>
                            <m:sSubPr>
                              <m:ctrlPr>
                                <a:rPr kumimoji="1" lang="en-US" altLang="zh-CN" sz="2000" i="1">
                                  <a:solidFill>
                                    <a:srgbClr val="000000"/>
                                  </a:solidFill>
                                  <a:latin typeface="Cambria Math" panose="02040503050406030204" pitchFamily="18" charset="0"/>
                                </a:rPr>
                              </m:ctrlPr>
                            </m:sSubPr>
                            <m:e>
                              <m:r>
                                <a:rPr kumimoji="1" lang="en-US" altLang="zh-CN" sz="2000" i="1">
                                  <a:solidFill>
                                    <a:srgbClr val="000000"/>
                                  </a:solidFill>
                                  <a:latin typeface="Cambria Math" panose="02040503050406030204" pitchFamily="18" charset="0"/>
                                </a:rPr>
                                <m:t>𝑥</m:t>
                              </m:r>
                            </m:e>
                            <m:sub>
                              <m:r>
                                <a:rPr kumimoji="1" lang="en-US" altLang="zh-CN" sz="2000" i="1">
                                  <a:solidFill>
                                    <a:srgbClr val="000000"/>
                                  </a:solidFill>
                                  <a:latin typeface="Cambria Math" panose="02040503050406030204" pitchFamily="18" charset="0"/>
                                </a:rPr>
                                <m:t>4</m:t>
                              </m:r>
                            </m:sub>
                          </m:sSub>
                        </m:e>
                      </m:d>
                      <m:r>
                        <a:rPr kumimoji="1" lang="en-US" altLang="zh-CN" sz="2000" i="1">
                          <a:solidFill>
                            <a:srgbClr val="000000"/>
                          </a:solidFill>
                          <a:latin typeface="Cambria Math" panose="02040503050406030204" pitchFamily="18" charset="0"/>
                        </a:rPr>
                        <m:t>=</m:t>
                      </m:r>
                      <m:sSub>
                        <m:sSubPr>
                          <m:ctrlPr>
                            <a:rPr kumimoji="1" lang="en-US" altLang="zh-CN" sz="2000" i="1">
                              <a:solidFill>
                                <a:srgbClr val="000000"/>
                              </a:solidFill>
                              <a:latin typeface="Cambria Math" panose="02040503050406030204" pitchFamily="18" charset="0"/>
                            </a:rPr>
                          </m:ctrlPr>
                        </m:sSubPr>
                        <m:e>
                          <m:r>
                            <a:rPr kumimoji="1" lang="en-US" altLang="zh-CN" sz="2000" i="1">
                              <a:solidFill>
                                <a:srgbClr val="000000"/>
                              </a:solidFill>
                              <a:latin typeface="Cambria Math" panose="02040503050406030204" pitchFamily="18" charset="0"/>
                            </a:rPr>
                            <m:t>𝑥</m:t>
                          </m:r>
                        </m:e>
                        <m:sub>
                          <m:r>
                            <a:rPr kumimoji="1" lang="en-US" altLang="zh-CN" sz="2000" i="1">
                              <a:solidFill>
                                <a:srgbClr val="000000"/>
                              </a:solidFill>
                              <a:latin typeface="Cambria Math" panose="02040503050406030204" pitchFamily="18" charset="0"/>
                            </a:rPr>
                            <m:t>2</m:t>
                          </m:r>
                        </m:sub>
                      </m:sSub>
                      <m:r>
                        <a:rPr kumimoji="1" lang="en-US" altLang="zh-CN" sz="2000" i="1" dirty="0">
                          <a:solidFill>
                            <a:srgbClr val="000000"/>
                          </a:solidFill>
                          <a:latin typeface="Cambria Math" panose="02040503050406030204" pitchFamily="18" charset="0"/>
                        </a:rPr>
                        <m:t>⊞</m:t>
                      </m:r>
                      <m:sSub>
                        <m:sSubPr>
                          <m:ctrlPr>
                            <a:rPr kumimoji="1" lang="en-US" altLang="zh-CN" sz="2000" i="1">
                              <a:solidFill>
                                <a:srgbClr val="000000"/>
                              </a:solidFill>
                              <a:latin typeface="Cambria Math" panose="02040503050406030204" pitchFamily="18" charset="0"/>
                            </a:rPr>
                          </m:ctrlPr>
                        </m:sSubPr>
                        <m:e>
                          <m:r>
                            <a:rPr kumimoji="1" lang="en-US" altLang="zh-CN" sz="2000" i="1">
                              <a:solidFill>
                                <a:srgbClr val="000000"/>
                              </a:solidFill>
                              <a:latin typeface="Cambria Math" panose="02040503050406030204" pitchFamily="18" charset="0"/>
                            </a:rPr>
                            <m:t>𝑥</m:t>
                          </m:r>
                        </m:e>
                        <m:sub>
                          <m:r>
                            <a:rPr kumimoji="1" lang="en-US" altLang="zh-CN" sz="2000" i="1">
                              <a:solidFill>
                                <a:srgbClr val="000000"/>
                              </a:solidFill>
                              <a:latin typeface="Cambria Math" panose="02040503050406030204" pitchFamily="18" charset="0"/>
                            </a:rPr>
                            <m:t>4</m:t>
                          </m:r>
                        </m:sub>
                      </m:sSub>
                      <m:r>
                        <a:rPr kumimoji="1" lang="en-US" altLang="zh-CN" sz="2000" i="1">
                          <a:solidFill>
                            <a:srgbClr val="000000"/>
                          </a:solidFill>
                          <a:latin typeface="Cambria Math" panose="02040503050406030204" pitchFamily="18" charset="0"/>
                        </a:rPr>
                        <m:t>=−</m:t>
                      </m:r>
                      <m:r>
                        <a:rPr kumimoji="1" lang="en-US" altLang="zh-CN" sz="2000">
                          <a:solidFill>
                            <a:srgbClr val="000000"/>
                          </a:solidFill>
                          <a:latin typeface="Cambria Math" panose="02040503050406030204" pitchFamily="18" charset="0"/>
                        </a:rPr>
                        <m:t>0.11</m:t>
                      </m:r>
                    </m:oMath>
                  </m:oMathPara>
                </a14:m>
                <a:endParaRPr kumimoji="1" lang="en-US" altLang="zh-CN" sz="2000" dirty="0">
                  <a:solidFill>
                    <a:srgbClr val="000000"/>
                  </a:solidFill>
                  <a:latin typeface="Times New Roman"/>
                  <a:ea typeface="黑体"/>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905111" y="3200406"/>
                <a:ext cx="8160801" cy="1938992"/>
              </a:xfrm>
              <a:prstGeom prst="rect">
                <a:avLst/>
              </a:prstGeom>
              <a:blipFill>
                <a:blip r:embed="rId3"/>
                <a:stretch>
                  <a:fillRect l="-822" r="-598"/>
                </a:stretch>
              </a:blipFill>
            </p:spPr>
            <p:txBody>
              <a:bodyPr/>
              <a:lstStyle/>
              <a:p>
                <a:r>
                  <a:rPr lang="zh-CN" altLang="en-US">
                    <a:noFill/>
                  </a:rPr>
                  <a:t> </a:t>
                </a:r>
              </a:p>
            </p:txBody>
          </p:sp>
        </mc:Fallback>
      </mc:AlternateContent>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2813" y="201425"/>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解码示例</a:t>
            </a:r>
          </a:p>
        </p:txBody>
      </p:sp>
      <mc:AlternateContent xmlns:mc="http://schemas.openxmlformats.org/markup-compatibility/2006" xmlns:a14="http://schemas.microsoft.com/office/drawing/2010/main">
        <mc:Choice Requires="a14">
          <p:sp>
            <p:nvSpPr>
              <p:cNvPr id="6" name="文本框 5"/>
              <p:cNvSpPr txBox="1"/>
              <p:nvPr/>
            </p:nvSpPr>
            <p:spPr>
              <a:xfrm>
                <a:off x="1768430" y="1066863"/>
                <a:ext cx="8655140" cy="4919873"/>
              </a:xfrm>
              <a:prstGeom prst="rect">
                <a:avLst/>
              </a:prstGeom>
              <a:noFill/>
            </p:spPr>
            <p:txBody>
              <a:bodyPr wrap="square">
                <a:spAutoFit/>
              </a:bodyPr>
              <a:lstStyle/>
              <a:p>
                <a:pPr eaLnBrk="0" fontAlgn="base" hangingPunct="0">
                  <a:lnSpc>
                    <a:spcPct val="200000"/>
                  </a:lnSpc>
                  <a:spcBef>
                    <a:spcPct val="0"/>
                  </a:spcBef>
                  <a:spcAft>
                    <a:spcPct val="0"/>
                  </a:spcAft>
                </a:pPr>
                <a:r>
                  <a:rPr kumimoji="1" lang="zh-CN" altLang="en-US" sz="2000" dirty="0">
                    <a:solidFill>
                      <a:srgbClr val="000000"/>
                    </a:solidFill>
                    <a:highlight>
                      <a:srgbClr val="FFFF00"/>
                    </a:highlight>
                    <a:latin typeface="Times New Roman"/>
                    <a:ea typeface="黑体"/>
                  </a:rPr>
                  <a:t>第二步：</a:t>
                </a:r>
                <a:r>
                  <a:rPr kumimoji="1" lang="zh-CN" altLang="en-US" sz="2000" dirty="0">
                    <a:solidFill>
                      <a:srgbClr val="000000"/>
                    </a:solidFill>
                    <a:latin typeface="Times New Roman"/>
                    <a:ea typeface="黑体" panose="02010609060101010101" pitchFamily="49" charset="-122"/>
                  </a:rPr>
                  <a:t>解码器把下半部分（临时变量</a:t>
                </a:r>
                <a14:m>
                  <m:oMath xmlns:m="http://schemas.openxmlformats.org/officeDocument/2006/math">
                    <m:sSub>
                      <m:sSubPr>
                        <m:ctrlPr>
                          <a:rPr kumimoji="1" lang="zh-CN" altLang="en-US" sz="2000" i="1">
                            <a:solidFill>
                              <a:srgbClr val="000000"/>
                            </a:solidFill>
                            <a:latin typeface="Cambria Math" panose="02040503050406030204" pitchFamily="18" charset="0"/>
                          </a:rPr>
                        </m:ctrlPr>
                      </m:sSubPr>
                      <m:e>
                        <m:r>
                          <m:rPr>
                            <m:sty m:val="p"/>
                          </m:rPr>
                          <a:rPr kumimoji="1" lang="en-US" altLang="zh-CN" sz="2000" i="1">
                            <a:solidFill>
                              <a:srgbClr val="000000"/>
                            </a:solidFill>
                            <a:latin typeface="Cambria Math" panose="02040503050406030204" pitchFamily="18" charset="0"/>
                          </a:rPr>
                          <m:t>t</m:t>
                        </m:r>
                      </m:e>
                      <m:sub>
                        <m:r>
                          <a:rPr kumimoji="1" lang="en-US" altLang="zh-CN" sz="2000">
                            <a:solidFill>
                              <a:srgbClr val="000000"/>
                            </a:solidFill>
                            <a:latin typeface="Cambria Math" panose="02040503050406030204" pitchFamily="18" charset="0"/>
                          </a:rPr>
                          <m:t>2</m:t>
                        </m:r>
                      </m:sub>
                    </m:sSub>
                    <m:r>
                      <a:rPr kumimoji="1" lang="en-US" altLang="zh-CN" sz="2000" i="1">
                        <a:solidFill>
                          <a:srgbClr val="000000"/>
                        </a:solidFill>
                        <a:latin typeface="Cambria Math" panose="02040503050406030204" pitchFamily="18" charset="0"/>
                      </a:rPr>
                      <m:t> </m:t>
                    </m:r>
                  </m:oMath>
                </a14:m>
                <a:r>
                  <a:rPr kumimoji="1" lang="zh-CN" altLang="en-US" sz="2000" dirty="0">
                    <a:solidFill>
                      <a:srgbClr val="000000"/>
                    </a:solidFill>
                    <a:latin typeface="Times New Roman"/>
                    <a:ea typeface="黑体" panose="02010609060101010101" pitchFamily="49" charset="-122"/>
                  </a:rPr>
                  <a:t>）看成噪声，求解出</a:t>
                </a:r>
                <a14:m>
                  <m:oMath xmlns:m="http://schemas.openxmlformats.org/officeDocument/2006/math">
                    <m:sSub>
                      <m:sSubPr>
                        <m:ctrlPr>
                          <a:rPr kumimoji="1" lang="zh-CN" altLang="en-US" sz="2000" i="1">
                            <a:solidFill>
                              <a:srgbClr val="000000"/>
                            </a:solidFill>
                            <a:latin typeface="Cambria Math" panose="02040503050406030204" pitchFamily="18" charset="0"/>
                          </a:rPr>
                        </m:ctrlPr>
                      </m:sSubPr>
                      <m:e>
                        <m:r>
                          <m:rPr>
                            <m:sty m:val="p"/>
                          </m:rPr>
                          <a:rPr kumimoji="1" lang="en-US" altLang="zh-CN" sz="2000" i="1">
                            <a:solidFill>
                              <a:srgbClr val="000000"/>
                            </a:solidFill>
                            <a:latin typeface="Cambria Math" panose="02040503050406030204" pitchFamily="18" charset="0"/>
                          </a:rPr>
                          <m:t>u</m:t>
                        </m:r>
                      </m:e>
                      <m:sub>
                        <m:r>
                          <a:rPr kumimoji="1" lang="en-US" altLang="zh-CN" sz="2000">
                            <a:solidFill>
                              <a:srgbClr val="000000"/>
                            </a:solidFill>
                            <a:latin typeface="Cambria Math" panose="02040503050406030204" pitchFamily="18" charset="0"/>
                          </a:rPr>
                          <m:t>1</m:t>
                        </m:r>
                      </m:sub>
                    </m:sSub>
                  </m:oMath>
                </a14:m>
                <a:r>
                  <a:rPr kumimoji="1" lang="zh-CN" altLang="en-US" sz="2000" dirty="0">
                    <a:solidFill>
                      <a:srgbClr val="000000"/>
                    </a:solidFill>
                    <a:latin typeface="Times New Roman"/>
                    <a:ea typeface="黑体" panose="02010609060101010101" pitchFamily="49" charset="-122"/>
                  </a:rPr>
                  <a:t>。那么，</a:t>
                </a:r>
                <a:endParaRPr kumimoji="1" lang="en-US" altLang="zh-CN" sz="2000" dirty="0">
                  <a:solidFill>
                    <a:srgbClr val="000000"/>
                  </a:solidFill>
                  <a:latin typeface="Times New Roman"/>
                  <a:ea typeface="黑体" panose="02010609060101010101" pitchFamily="49" charset="-122"/>
                </a:endParaRPr>
              </a:p>
              <a:p>
                <a:pPr eaLnBrk="0" fontAlgn="base" hangingPunct="0">
                  <a:lnSpc>
                    <a:spcPct val="200000"/>
                  </a:lnSpc>
                  <a:spcBef>
                    <a:spcPct val="0"/>
                  </a:spcBef>
                  <a:spcAft>
                    <a:spcPct val="0"/>
                  </a:spcAft>
                </a:pPr>
                <a14:m>
                  <m:oMathPara xmlns:m="http://schemas.openxmlformats.org/officeDocument/2006/math">
                    <m:oMathParaPr>
                      <m:jc m:val="centerGroup"/>
                    </m:oMathParaPr>
                    <m:oMath xmlns:m="http://schemas.openxmlformats.org/officeDocument/2006/math">
                      <m:sSub>
                        <m:sSubPr>
                          <m:ctrlPr>
                            <a:rPr kumimoji="1" lang="en-US" altLang="zh-CN" sz="2000" i="1">
                              <a:solidFill>
                                <a:srgbClr val="000000"/>
                              </a:solidFill>
                              <a:latin typeface="Cambria Math" panose="02040503050406030204" pitchFamily="18" charset="0"/>
                            </a:rPr>
                          </m:ctrlPr>
                        </m:sSubPr>
                        <m:e>
                          <m:r>
                            <m:rPr>
                              <m:sty m:val="p"/>
                            </m:rPr>
                            <a:rPr kumimoji="1" lang="en-US" altLang="zh-CN" sz="2000" i="1">
                              <a:solidFill>
                                <a:srgbClr val="000000"/>
                              </a:solidFill>
                              <a:latin typeface="Cambria Math" panose="02040503050406030204" pitchFamily="18" charset="0"/>
                            </a:rPr>
                            <m:t>z</m:t>
                          </m:r>
                        </m:e>
                        <m:sub>
                          <m:r>
                            <a:rPr kumimoji="1" lang="en-US" altLang="zh-CN" sz="2000" i="1">
                              <a:solidFill>
                                <a:srgbClr val="000000"/>
                              </a:solidFill>
                              <a:latin typeface="Cambria Math" panose="02040503050406030204" pitchFamily="18" charset="0"/>
                            </a:rPr>
                            <m:t>1</m:t>
                          </m:r>
                        </m:sub>
                      </m:sSub>
                      <m:r>
                        <a:rPr kumimoji="1" lang="en-US" altLang="zh-CN" sz="2000" i="1">
                          <a:solidFill>
                            <a:srgbClr val="000000"/>
                          </a:solidFill>
                          <a:latin typeface="Cambria Math" panose="02040503050406030204" pitchFamily="18" charset="0"/>
                        </a:rPr>
                        <m:t>=</m:t>
                      </m:r>
                      <m:r>
                        <a:rPr kumimoji="1" lang="en-US" altLang="zh-CN" sz="2000" i="1">
                          <a:solidFill>
                            <a:srgbClr val="000000"/>
                          </a:solidFill>
                          <a:latin typeface="Cambria Math" panose="02040503050406030204" pitchFamily="18" charset="0"/>
                        </a:rPr>
                        <m:t>𝑓</m:t>
                      </m:r>
                      <m:d>
                        <m:dPr>
                          <m:ctrlPr>
                            <a:rPr kumimoji="1" lang="en-US" altLang="zh-CN" sz="2000" i="1">
                              <a:solidFill>
                                <a:srgbClr val="000000"/>
                              </a:solidFill>
                              <a:latin typeface="Cambria Math" panose="02040503050406030204" pitchFamily="18" charset="0"/>
                            </a:rPr>
                          </m:ctrlPr>
                        </m:dPr>
                        <m:e>
                          <m:sSub>
                            <m:sSubPr>
                              <m:ctrlPr>
                                <a:rPr kumimoji="1" lang="en-US" altLang="zh-CN" sz="2000" i="1">
                                  <a:solidFill>
                                    <a:srgbClr val="000000"/>
                                  </a:solidFill>
                                  <a:latin typeface="Cambria Math" panose="02040503050406030204" pitchFamily="18" charset="0"/>
                                </a:rPr>
                              </m:ctrlPr>
                            </m:sSubPr>
                            <m:e>
                              <m:r>
                                <m:rPr>
                                  <m:sty m:val="p"/>
                                </m:rPr>
                                <a:rPr kumimoji="1" lang="en-US" altLang="zh-CN" sz="2000" i="1">
                                  <a:solidFill>
                                    <a:srgbClr val="000000"/>
                                  </a:solidFill>
                                  <a:latin typeface="Cambria Math" panose="02040503050406030204" pitchFamily="18" charset="0"/>
                                </a:rPr>
                                <m:t>t</m:t>
                              </m:r>
                            </m:e>
                            <m:sub>
                              <m:r>
                                <a:rPr kumimoji="1" lang="en-US" altLang="zh-CN" sz="2000" i="1">
                                  <a:solidFill>
                                    <a:srgbClr val="000000"/>
                                  </a:solidFill>
                                  <a:latin typeface="Cambria Math" panose="02040503050406030204" pitchFamily="18" charset="0"/>
                                </a:rPr>
                                <m:t>1</m:t>
                              </m:r>
                            </m:sub>
                          </m:sSub>
                          <m:r>
                            <a:rPr kumimoji="1" lang="en-US" altLang="zh-CN" sz="2000" i="1">
                              <a:solidFill>
                                <a:srgbClr val="000000"/>
                              </a:solidFill>
                              <a:latin typeface="Cambria Math" panose="02040503050406030204" pitchFamily="18" charset="0"/>
                            </a:rPr>
                            <m:t>,</m:t>
                          </m:r>
                          <m:sSub>
                            <m:sSubPr>
                              <m:ctrlPr>
                                <a:rPr kumimoji="1" lang="en-US" altLang="zh-CN" sz="2000" i="1">
                                  <a:solidFill>
                                    <a:srgbClr val="000000"/>
                                  </a:solidFill>
                                  <a:latin typeface="Cambria Math" panose="02040503050406030204" pitchFamily="18" charset="0"/>
                                </a:rPr>
                              </m:ctrlPr>
                            </m:sSubPr>
                            <m:e>
                              <m:r>
                                <m:rPr>
                                  <m:sty m:val="p"/>
                                </m:rPr>
                                <a:rPr kumimoji="1" lang="en-US" altLang="zh-CN" sz="2000" i="1">
                                  <a:solidFill>
                                    <a:srgbClr val="000000"/>
                                  </a:solidFill>
                                  <a:latin typeface="Cambria Math" panose="02040503050406030204" pitchFamily="18" charset="0"/>
                                </a:rPr>
                                <m:t>t</m:t>
                              </m:r>
                            </m:e>
                            <m:sub>
                              <m:r>
                                <a:rPr kumimoji="1" lang="en-US" altLang="zh-CN" sz="2000" i="1">
                                  <a:solidFill>
                                    <a:srgbClr val="000000"/>
                                  </a:solidFill>
                                  <a:latin typeface="Cambria Math" panose="02040503050406030204" pitchFamily="18" charset="0"/>
                                </a:rPr>
                                <m:t>2</m:t>
                              </m:r>
                            </m:sub>
                          </m:sSub>
                        </m:e>
                      </m:d>
                      <m:r>
                        <a:rPr kumimoji="1" lang="en-US" altLang="zh-CN" sz="2000" i="1">
                          <a:solidFill>
                            <a:srgbClr val="000000"/>
                          </a:solidFill>
                          <a:latin typeface="Cambria Math" panose="02040503050406030204" pitchFamily="18" charset="0"/>
                        </a:rPr>
                        <m:t>=</m:t>
                      </m:r>
                      <m:sSub>
                        <m:sSubPr>
                          <m:ctrlPr>
                            <a:rPr kumimoji="1" lang="en-US" altLang="zh-CN" sz="2000" i="1">
                              <a:solidFill>
                                <a:srgbClr val="000000"/>
                              </a:solidFill>
                              <a:latin typeface="Cambria Math" panose="02040503050406030204" pitchFamily="18" charset="0"/>
                            </a:rPr>
                          </m:ctrlPr>
                        </m:sSubPr>
                        <m:e>
                          <m:r>
                            <m:rPr>
                              <m:sty m:val="p"/>
                            </m:rPr>
                            <a:rPr kumimoji="1" lang="en-US" altLang="zh-CN" sz="2000" i="1">
                              <a:solidFill>
                                <a:srgbClr val="000000"/>
                              </a:solidFill>
                              <a:latin typeface="Cambria Math" panose="02040503050406030204" pitchFamily="18" charset="0"/>
                            </a:rPr>
                            <m:t>t</m:t>
                          </m:r>
                        </m:e>
                        <m:sub>
                          <m:r>
                            <a:rPr kumimoji="1" lang="en-US" altLang="zh-CN" sz="2000" i="1">
                              <a:solidFill>
                                <a:srgbClr val="000000"/>
                              </a:solidFill>
                              <a:latin typeface="Cambria Math" panose="02040503050406030204" pitchFamily="18" charset="0"/>
                            </a:rPr>
                            <m:t>1</m:t>
                          </m:r>
                        </m:sub>
                      </m:sSub>
                      <m:r>
                        <a:rPr kumimoji="1" lang="en-US" altLang="zh-CN" sz="2000" i="1" dirty="0">
                          <a:solidFill>
                            <a:srgbClr val="000000"/>
                          </a:solidFill>
                          <a:latin typeface="Cambria Math" panose="02040503050406030204" pitchFamily="18" charset="0"/>
                        </a:rPr>
                        <m:t>⊞</m:t>
                      </m:r>
                      <m:sSub>
                        <m:sSubPr>
                          <m:ctrlPr>
                            <a:rPr kumimoji="1" lang="en-US" altLang="zh-CN" sz="2000" i="1">
                              <a:solidFill>
                                <a:srgbClr val="000000"/>
                              </a:solidFill>
                              <a:latin typeface="Cambria Math" panose="02040503050406030204" pitchFamily="18" charset="0"/>
                            </a:rPr>
                          </m:ctrlPr>
                        </m:sSubPr>
                        <m:e>
                          <m:r>
                            <m:rPr>
                              <m:sty m:val="p"/>
                            </m:rPr>
                            <a:rPr kumimoji="1" lang="en-US" altLang="zh-CN" sz="2000" i="1">
                              <a:solidFill>
                                <a:srgbClr val="000000"/>
                              </a:solidFill>
                              <a:latin typeface="Cambria Math" panose="02040503050406030204" pitchFamily="18" charset="0"/>
                            </a:rPr>
                            <m:t>t</m:t>
                          </m:r>
                        </m:e>
                        <m:sub>
                          <m:r>
                            <a:rPr kumimoji="1" lang="en-US" altLang="zh-CN" sz="2000" i="1">
                              <a:solidFill>
                                <a:srgbClr val="000000"/>
                              </a:solidFill>
                              <a:latin typeface="Cambria Math" panose="02040503050406030204" pitchFamily="18" charset="0"/>
                            </a:rPr>
                            <m:t>2</m:t>
                          </m:r>
                        </m:sub>
                      </m:sSub>
                      <m:r>
                        <a:rPr kumimoji="1" lang="en-US" altLang="zh-CN" sz="2000" i="1">
                          <a:solidFill>
                            <a:srgbClr val="000000"/>
                          </a:solidFill>
                          <a:latin typeface="Cambria Math" panose="02040503050406030204" pitchFamily="18" charset="0"/>
                        </a:rPr>
                        <m:t>=−</m:t>
                      </m:r>
                      <m:r>
                        <a:rPr kumimoji="1" lang="en-US" altLang="zh-CN" sz="2000">
                          <a:solidFill>
                            <a:srgbClr val="000000"/>
                          </a:solidFill>
                          <a:latin typeface="Cambria Math" panose="02040503050406030204" pitchFamily="18" charset="0"/>
                        </a:rPr>
                        <m:t>0.09</m:t>
                      </m:r>
                    </m:oMath>
                  </m:oMathPara>
                </a14:m>
                <a:endParaRPr kumimoji="1" lang="en-US" altLang="zh-CN" sz="2000" dirty="0">
                  <a:solidFill>
                    <a:srgbClr val="000000"/>
                  </a:solidFill>
                  <a:latin typeface="Times New Roman"/>
                  <a:ea typeface="黑体" panose="02010609060101010101" pitchFamily="49" charset="-122"/>
                </a:endParaRPr>
              </a:p>
              <a:p>
                <a:pPr eaLnBrk="0" fontAlgn="base" hangingPunct="0">
                  <a:lnSpc>
                    <a:spcPct val="200000"/>
                  </a:lnSpc>
                  <a:spcBef>
                    <a:spcPct val="0"/>
                  </a:spcBef>
                  <a:spcAft>
                    <a:spcPct val="0"/>
                  </a:spcAft>
                </a:pPr>
                <a:r>
                  <a:rPr kumimoji="1" lang="zh-CN" altLang="en-US" sz="2000" dirty="0">
                    <a:solidFill>
                      <a:srgbClr val="000000"/>
                    </a:solidFill>
                    <a:latin typeface="Times New Roman"/>
                    <a:ea typeface="黑体" panose="02010609060101010101" pitchFamily="49" charset="-122"/>
                  </a:rPr>
                  <a:t>       对</a:t>
                </a:r>
                <a14:m>
                  <m:oMath xmlns:m="http://schemas.openxmlformats.org/officeDocument/2006/math">
                    <m:sSub>
                      <m:sSubPr>
                        <m:ctrlPr>
                          <a:rPr kumimoji="1" lang="en-US" altLang="zh-CN" sz="2000" i="1">
                            <a:solidFill>
                              <a:srgbClr val="000000"/>
                            </a:solidFill>
                            <a:latin typeface="Cambria Math" panose="02040503050406030204" pitchFamily="18" charset="0"/>
                          </a:rPr>
                        </m:ctrlPr>
                      </m:sSubPr>
                      <m:e>
                        <m:r>
                          <m:rPr>
                            <m:sty m:val="p"/>
                          </m:rPr>
                          <a:rPr kumimoji="1" lang="en-US" altLang="zh-CN" sz="2000" i="1">
                            <a:solidFill>
                              <a:srgbClr val="000000"/>
                            </a:solidFill>
                            <a:latin typeface="Cambria Math" panose="02040503050406030204" pitchFamily="18" charset="0"/>
                          </a:rPr>
                          <m:t>z</m:t>
                        </m:r>
                      </m:e>
                      <m:sub>
                        <m:r>
                          <a:rPr kumimoji="1" lang="en-US" altLang="zh-CN" sz="2000" i="1">
                            <a:solidFill>
                              <a:srgbClr val="000000"/>
                            </a:solidFill>
                            <a:latin typeface="Cambria Math" panose="02040503050406030204" pitchFamily="18" charset="0"/>
                          </a:rPr>
                          <m:t>1</m:t>
                        </m:r>
                      </m:sub>
                    </m:sSub>
                  </m:oMath>
                </a14:m>
                <a:r>
                  <a:rPr kumimoji="1" lang="zh-CN" altLang="en-US" sz="2000" dirty="0">
                    <a:solidFill>
                      <a:srgbClr val="000000"/>
                    </a:solidFill>
                    <a:latin typeface="Times New Roman"/>
                    <a:ea typeface="黑体" panose="02010609060101010101" pitchFamily="49" charset="-122"/>
                  </a:rPr>
                  <a:t>进行判决（若是冻结比特，则无需判决，直接输出冻结比特值），得到</a:t>
                </a:r>
                <a14:m>
                  <m:oMath xmlns:m="http://schemas.openxmlformats.org/officeDocument/2006/math">
                    <m:sSub>
                      <m:sSubPr>
                        <m:ctrlPr>
                          <a:rPr kumimoji="1" lang="zh-CN" altLang="en-US" sz="2000" i="1">
                            <a:solidFill>
                              <a:srgbClr val="000000"/>
                            </a:solidFill>
                            <a:latin typeface="Cambria Math" panose="02040503050406030204" pitchFamily="18" charset="0"/>
                          </a:rPr>
                        </m:ctrlPr>
                      </m:sSubPr>
                      <m:e>
                        <m:r>
                          <m:rPr>
                            <m:sty m:val="p"/>
                          </m:rPr>
                          <a:rPr kumimoji="1" lang="en-US" altLang="zh-CN" sz="2000" i="1">
                            <a:solidFill>
                              <a:srgbClr val="000000"/>
                            </a:solidFill>
                            <a:latin typeface="Cambria Math" panose="02040503050406030204" pitchFamily="18" charset="0"/>
                          </a:rPr>
                          <m:t>u</m:t>
                        </m:r>
                      </m:e>
                      <m:sub>
                        <m:r>
                          <a:rPr kumimoji="1" lang="en-US" altLang="zh-CN" sz="2000">
                            <a:solidFill>
                              <a:srgbClr val="000000"/>
                            </a:solidFill>
                            <a:latin typeface="Cambria Math" panose="02040503050406030204" pitchFamily="18" charset="0"/>
                          </a:rPr>
                          <m:t>1</m:t>
                        </m:r>
                      </m:sub>
                    </m:sSub>
                  </m:oMath>
                </a14:m>
                <a:r>
                  <a:rPr kumimoji="1" lang="en-US" altLang="zh-CN" sz="2000" dirty="0">
                    <a:solidFill>
                      <a:srgbClr val="000000"/>
                    </a:solidFill>
                    <a:latin typeface="Times New Roman"/>
                    <a:ea typeface="黑体" panose="02010609060101010101" pitchFamily="49" charset="-122"/>
                  </a:rPr>
                  <a:t>=1</a:t>
                </a:r>
                <a:r>
                  <a:rPr kumimoji="1" lang="zh-CN" altLang="en-US" sz="2000" dirty="0">
                    <a:solidFill>
                      <a:srgbClr val="000000"/>
                    </a:solidFill>
                    <a:latin typeface="Times New Roman"/>
                    <a:ea typeface="黑体" panose="02010609060101010101" pitchFamily="49" charset="-122"/>
                  </a:rPr>
                  <a:t>（这一比特解码错误；从仿真程序看，</a:t>
                </a:r>
                <a:r>
                  <a:rPr kumimoji="1" lang="en-US" altLang="zh-CN" sz="2000" dirty="0">
                    <a:solidFill>
                      <a:srgbClr val="000000"/>
                    </a:solidFill>
                    <a:latin typeface="Times New Roman"/>
                    <a:ea typeface="黑体" panose="02010609060101010101" pitchFamily="49" charset="-122"/>
                  </a:rPr>
                  <a:t>SNR=0dB</a:t>
                </a:r>
                <a:r>
                  <a:rPr kumimoji="1" lang="zh-CN" altLang="en-US" sz="2000" dirty="0">
                    <a:solidFill>
                      <a:srgbClr val="000000"/>
                    </a:solidFill>
                    <a:latin typeface="Times New Roman"/>
                    <a:ea typeface="黑体" panose="02010609060101010101" pitchFamily="49" charset="-122"/>
                  </a:rPr>
                  <a:t>，下同；考虑码长</a:t>
                </a:r>
                <a:r>
                  <a:rPr kumimoji="1" lang="en-US" altLang="zh-CN" sz="2000" dirty="0">
                    <a:solidFill>
                      <a:srgbClr val="000000"/>
                    </a:solidFill>
                    <a:latin typeface="Times New Roman"/>
                    <a:ea typeface="黑体" panose="02010609060101010101" pitchFamily="49" charset="-122"/>
                  </a:rPr>
                  <a:t>N=4</a:t>
                </a:r>
                <a:r>
                  <a:rPr kumimoji="1" lang="zh-CN" altLang="en-US" sz="2000" dirty="0">
                    <a:solidFill>
                      <a:srgbClr val="000000"/>
                    </a:solidFill>
                    <a:latin typeface="Times New Roman"/>
                    <a:ea typeface="黑体" panose="02010609060101010101" pitchFamily="49" charset="-122"/>
                  </a:rPr>
                  <a:t>不够大，极化现象不明显，且码率</a:t>
                </a:r>
                <a:r>
                  <a:rPr kumimoji="1" lang="en-US" altLang="zh-CN" sz="2000" dirty="0">
                    <a:solidFill>
                      <a:srgbClr val="000000"/>
                    </a:solidFill>
                    <a:latin typeface="Times New Roman"/>
                    <a:ea typeface="黑体" panose="02010609060101010101" pitchFamily="49" charset="-122"/>
                  </a:rPr>
                  <a:t>R=1</a:t>
                </a:r>
                <a:r>
                  <a:rPr kumimoji="1" lang="zh-CN" altLang="en-US" sz="2000" dirty="0">
                    <a:solidFill>
                      <a:srgbClr val="000000"/>
                    </a:solidFill>
                    <a:latin typeface="Times New Roman"/>
                    <a:ea typeface="黑体" panose="02010609060101010101" pitchFamily="49" charset="-122"/>
                  </a:rPr>
                  <a:t>，有错误正常）</a:t>
                </a:r>
                <a:endParaRPr kumimoji="1" lang="en-US" altLang="zh-CN" sz="2000" dirty="0">
                  <a:solidFill>
                    <a:srgbClr val="000000"/>
                  </a:solidFill>
                  <a:latin typeface="Times New Roman"/>
                  <a:ea typeface="黑体" panose="02010609060101010101" pitchFamily="49" charset="-122"/>
                </a:endParaRPr>
              </a:p>
              <a:p>
                <a:pPr eaLnBrk="0" fontAlgn="base" hangingPunct="0">
                  <a:lnSpc>
                    <a:spcPct val="200000"/>
                  </a:lnSpc>
                  <a:spcBef>
                    <a:spcPct val="0"/>
                  </a:spcBef>
                  <a:spcAft>
                    <a:spcPct val="0"/>
                  </a:spcAft>
                </a:pPr>
                <a:r>
                  <a:rPr kumimoji="1" lang="en-US" altLang="zh-CN" sz="2000" dirty="0">
                    <a:solidFill>
                      <a:srgbClr val="000000"/>
                    </a:solidFill>
                    <a:latin typeface="Times New Roman"/>
                    <a:ea typeface="黑体" panose="02010609060101010101" pitchFamily="49" charset="-122"/>
                  </a:rPr>
                  <a:t>                                                     0</a:t>
                </a:r>
                <a:r>
                  <a:rPr kumimoji="1" lang="zh-CN" altLang="en-US" sz="2000" dirty="0">
                    <a:solidFill>
                      <a:srgbClr val="000000"/>
                    </a:solidFill>
                    <a:latin typeface="Times New Roman"/>
                    <a:ea typeface="黑体" panose="02010609060101010101" pitchFamily="49" charset="-122"/>
                  </a:rPr>
                  <a:t>，如果</a:t>
                </a:r>
                <a:r>
                  <a:rPr kumimoji="1" lang="en-US" altLang="zh-CN" sz="2000" dirty="0">
                    <a:solidFill>
                      <a:srgbClr val="000000"/>
                    </a:solidFill>
                    <a:latin typeface="Times New Roman"/>
                    <a:ea typeface="黑体" panose="02010609060101010101" pitchFamily="49" charset="-122"/>
                  </a:rPr>
                  <a:t>LL</a:t>
                </a:r>
                <a14:m>
                  <m:oMath xmlns:m="http://schemas.openxmlformats.org/officeDocument/2006/math">
                    <m:sSub>
                      <m:sSubPr>
                        <m:ctrlPr>
                          <a:rPr kumimoji="1" lang="en-US" altLang="zh-CN" sz="2000" i="1" dirty="0">
                            <a:solidFill>
                              <a:srgbClr val="000000"/>
                            </a:solidFill>
                            <a:latin typeface="Cambria Math" panose="02040503050406030204" pitchFamily="18" charset="0"/>
                            <a:ea typeface="黑体" panose="02010609060101010101" pitchFamily="49" charset="-122"/>
                          </a:rPr>
                        </m:ctrlPr>
                      </m:sSubPr>
                      <m:e>
                        <m:r>
                          <a:rPr kumimoji="1" lang="en-US" altLang="zh-CN" sz="2000" i="1" dirty="0">
                            <a:solidFill>
                              <a:srgbClr val="000000"/>
                            </a:solidFill>
                            <a:latin typeface="Cambria Math" panose="02040503050406030204" pitchFamily="18" charset="0"/>
                            <a:ea typeface="黑体" panose="02010609060101010101" pitchFamily="49" charset="-122"/>
                          </a:rPr>
                          <m:t>𝑅</m:t>
                        </m:r>
                      </m:e>
                      <m:sub>
                        <m:r>
                          <m:rPr>
                            <m:sty m:val="p"/>
                          </m:rPr>
                          <a:rPr kumimoji="1" lang="en-US" altLang="zh-CN" sz="2000" i="1" dirty="0">
                            <a:solidFill>
                              <a:srgbClr val="000000"/>
                            </a:solidFill>
                            <a:latin typeface="Cambria Math" panose="02040503050406030204" pitchFamily="18" charset="0"/>
                            <a:ea typeface="黑体" panose="02010609060101010101" pitchFamily="49" charset="-122"/>
                          </a:rPr>
                          <m:t>i</m:t>
                        </m:r>
                      </m:sub>
                    </m:sSub>
                    <m:r>
                      <a:rPr kumimoji="1" lang="zh-CN" altLang="en-US" sz="2000" i="1" dirty="0">
                        <a:solidFill>
                          <a:srgbClr val="000000"/>
                        </a:solidFill>
                        <a:latin typeface="Cambria Math" panose="02040503050406030204" pitchFamily="18" charset="0"/>
                        <a:ea typeface="黑体" panose="02010609060101010101" pitchFamily="49" charset="-122"/>
                      </a:rPr>
                      <m:t>≥</m:t>
                    </m:r>
                  </m:oMath>
                </a14:m>
                <a:r>
                  <a:rPr kumimoji="1" lang="en-US" altLang="zh-CN" sz="2000" dirty="0">
                    <a:solidFill>
                      <a:srgbClr val="000000"/>
                    </a:solidFill>
                    <a:latin typeface="Times New Roman"/>
                    <a:ea typeface="黑体" panose="02010609060101010101" pitchFamily="49" charset="-122"/>
                  </a:rPr>
                  <a:t>0</a:t>
                </a:r>
              </a:p>
              <a:p>
                <a:pPr eaLnBrk="0" fontAlgn="base" hangingPunct="0">
                  <a:lnSpc>
                    <a:spcPct val="200000"/>
                  </a:lnSpc>
                  <a:spcBef>
                    <a:spcPct val="0"/>
                  </a:spcBef>
                  <a:spcAft>
                    <a:spcPct val="0"/>
                  </a:spcAft>
                </a:pPr>
                <a:r>
                  <a:rPr kumimoji="1" lang="zh-CN" altLang="en-US" sz="2000" dirty="0">
                    <a:solidFill>
                      <a:srgbClr val="000000"/>
                    </a:solidFill>
                    <a:latin typeface="Times New Roman"/>
                    <a:ea typeface="黑体" panose="02010609060101010101" pitchFamily="49" charset="-122"/>
                  </a:rPr>
                  <a:t>      判别</a:t>
                </a:r>
                <a14:m>
                  <m:oMath xmlns:m="http://schemas.openxmlformats.org/officeDocument/2006/math">
                    <m:r>
                      <a:rPr kumimoji="1" lang="zh-CN" altLang="en-US" sz="2000">
                        <a:solidFill>
                          <a:srgbClr val="000000"/>
                        </a:solidFill>
                        <a:latin typeface="Cambria Math" panose="02040503050406030204" pitchFamily="18" charset="0"/>
                        <a:ea typeface="黑体" panose="02010609060101010101" pitchFamily="49" charset="-122"/>
                      </a:rPr>
                      <m:t>条件</m:t>
                    </m:r>
                    <m:r>
                      <a:rPr kumimoji="1" lang="zh-CN" altLang="en-US" sz="2000" i="1">
                        <a:solidFill>
                          <a:srgbClr val="000000"/>
                        </a:solidFill>
                        <a:latin typeface="Cambria Math" panose="02040503050406030204" pitchFamily="18" charset="0"/>
                        <a:ea typeface="黑体" panose="02010609060101010101" pitchFamily="49" charset="-122"/>
                      </a:rPr>
                      <m:t>：</m:t>
                    </m:r>
                    <m:r>
                      <a:rPr kumimoji="1" lang="en-US" altLang="zh-CN" sz="2000">
                        <a:solidFill>
                          <a:srgbClr val="000000"/>
                        </a:solidFill>
                        <a:latin typeface="Cambria Math" panose="02040503050406030204" pitchFamily="18" charset="0"/>
                        <a:ea typeface="黑体" panose="02010609060101010101" pitchFamily="49" charset="-122"/>
                      </a:rPr>
                      <m:t>      </m:t>
                    </m:r>
                    <m:sSub>
                      <m:sSubPr>
                        <m:ctrlPr>
                          <a:rPr kumimoji="1" lang="zh-CN" altLang="en-US" sz="2000" i="1">
                            <a:solidFill>
                              <a:srgbClr val="000000"/>
                            </a:solidFill>
                            <a:latin typeface="Cambria Math" panose="02040503050406030204" pitchFamily="18" charset="0"/>
                            <a:ea typeface="黑体" panose="02010609060101010101" pitchFamily="49" charset="-122"/>
                          </a:rPr>
                        </m:ctrlPr>
                      </m:sSubPr>
                      <m:e>
                        <m:r>
                          <m:rPr>
                            <m:sty m:val="p"/>
                          </m:rPr>
                          <a:rPr kumimoji="1" lang="en-US" altLang="zh-CN" sz="2000">
                            <a:solidFill>
                              <a:srgbClr val="000000"/>
                            </a:solidFill>
                            <a:latin typeface="Cambria Math" panose="02040503050406030204" pitchFamily="18" charset="0"/>
                            <a:ea typeface="黑体" panose="02010609060101010101" pitchFamily="49" charset="-122"/>
                          </a:rPr>
                          <m:t>u</m:t>
                        </m:r>
                      </m:e>
                      <m:sub>
                        <m:r>
                          <m:rPr>
                            <m:sty m:val="p"/>
                          </m:rPr>
                          <a:rPr kumimoji="1" lang="en-US" altLang="zh-CN" sz="2000">
                            <a:solidFill>
                              <a:srgbClr val="000000"/>
                            </a:solidFill>
                            <a:latin typeface="Cambria Math" panose="02040503050406030204" pitchFamily="18" charset="0"/>
                            <a:ea typeface="黑体" panose="02010609060101010101" pitchFamily="49" charset="-122"/>
                          </a:rPr>
                          <m:t>i</m:t>
                        </m:r>
                      </m:sub>
                    </m:sSub>
                    <m:r>
                      <a:rPr kumimoji="1" lang="en-US" altLang="zh-CN" sz="2000" i="1">
                        <a:solidFill>
                          <a:srgbClr val="000000"/>
                        </a:solidFill>
                        <a:latin typeface="Cambria Math" panose="02040503050406030204" pitchFamily="18" charset="0"/>
                        <a:ea typeface="黑体" panose="02010609060101010101" pitchFamily="49" charset="-122"/>
                      </a:rPr>
                      <m:t>=</m:t>
                    </m:r>
                  </m:oMath>
                </a14:m>
                <a:endParaRPr kumimoji="1" lang="en-US" altLang="zh-CN" sz="2000" dirty="0">
                  <a:solidFill>
                    <a:srgbClr val="000000"/>
                  </a:solidFill>
                  <a:latin typeface="Times New Roman"/>
                  <a:ea typeface="黑体" panose="02010609060101010101" pitchFamily="49" charset="-122"/>
                </a:endParaRPr>
              </a:p>
              <a:p>
                <a:pPr eaLnBrk="0" fontAlgn="base" hangingPunct="0">
                  <a:lnSpc>
                    <a:spcPct val="200000"/>
                  </a:lnSpc>
                  <a:spcBef>
                    <a:spcPct val="0"/>
                  </a:spcBef>
                  <a:spcAft>
                    <a:spcPct val="0"/>
                  </a:spcAft>
                </a:pPr>
                <a:r>
                  <a:rPr kumimoji="1" lang="en-US" altLang="zh-CN" sz="2000" dirty="0">
                    <a:solidFill>
                      <a:srgbClr val="000000"/>
                    </a:solidFill>
                    <a:latin typeface="Times New Roman"/>
                    <a:ea typeface="黑体"/>
                  </a:rPr>
                  <a:t>                                                     1</a:t>
                </a:r>
                <a:r>
                  <a:rPr kumimoji="1" lang="zh-CN" altLang="en-US" sz="2000" dirty="0">
                    <a:solidFill>
                      <a:srgbClr val="000000"/>
                    </a:solidFill>
                    <a:latin typeface="Times New Roman"/>
                    <a:ea typeface="黑体"/>
                  </a:rPr>
                  <a:t>，其他</a:t>
                </a:r>
                <a:endParaRPr kumimoji="1" lang="en-US" altLang="zh-CN" sz="2000" dirty="0">
                  <a:solidFill>
                    <a:srgbClr val="000000"/>
                  </a:solidFill>
                  <a:latin typeface="Times New Roman"/>
                  <a:ea typeface="黑体"/>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768430" y="1066863"/>
                <a:ext cx="8655140" cy="4919873"/>
              </a:xfrm>
              <a:prstGeom prst="rect">
                <a:avLst/>
              </a:prstGeom>
              <a:blipFill>
                <a:blip r:embed="rId2"/>
                <a:stretch>
                  <a:fillRect l="-704" r="-563" b="-1363"/>
                </a:stretch>
              </a:blipFill>
            </p:spPr>
            <p:txBody>
              <a:bodyPr/>
              <a:lstStyle/>
              <a:p>
                <a:r>
                  <a:rPr lang="zh-CN" altLang="en-US">
                    <a:noFill/>
                  </a:rPr>
                  <a:t> </a:t>
                </a:r>
              </a:p>
            </p:txBody>
          </p:sp>
        </mc:Fallback>
      </mc:AlternateContent>
      <p:sp>
        <p:nvSpPr>
          <p:cNvPr id="7" name="左大括号 6"/>
          <p:cNvSpPr/>
          <p:nvPr/>
        </p:nvSpPr>
        <p:spPr bwMode="auto">
          <a:xfrm>
            <a:off x="4648238" y="4533840"/>
            <a:ext cx="228594" cy="1295366"/>
          </a:xfrm>
          <a:prstGeom prst="leftBrace">
            <a:avLst/>
          </a:prstGeom>
          <a:ln w="12700"/>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indent="-342900" fontAlgn="base">
              <a:spcBef>
                <a:spcPct val="20000"/>
              </a:spcBef>
              <a:spcAft>
                <a:spcPct val="0"/>
              </a:spcAft>
              <a:buFont typeface="Wingdings" panose="05000000000000000000" pitchFamily="2" charset="2"/>
              <a:buChar char="v"/>
            </a:pPr>
            <a:endParaRPr kumimoji="1" lang="zh-CN" altLang="en-US" sz="2800" dirty="0">
              <a:solidFill>
                <a:srgbClr val="336699"/>
              </a:solidFill>
              <a:latin typeface="黑体" panose="02010609060101010101" pitchFamily="49" charset="-122"/>
              <a:ea typeface="黑体" panose="02010609060101010101" pitchFamily="49" charset="-122"/>
            </a:endParaRP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545" y="224221"/>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解码示例</a:t>
            </a:r>
          </a:p>
        </p:txBody>
      </p:sp>
      <mc:AlternateContent xmlns:mc="http://schemas.openxmlformats.org/markup-compatibility/2006" xmlns:a14="http://schemas.microsoft.com/office/drawing/2010/main">
        <mc:Choice Requires="a14">
          <p:sp>
            <p:nvSpPr>
              <p:cNvPr id="4" name="内容占位符 2"/>
              <p:cNvSpPr txBox="1"/>
              <p:nvPr/>
            </p:nvSpPr>
            <p:spPr>
              <a:xfrm>
                <a:off x="1905111" y="1371654"/>
                <a:ext cx="8118895" cy="4648078"/>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200000"/>
                  </a:lnSpc>
                  <a:spcBef>
                    <a:spcPts val="0"/>
                  </a:spcBef>
                  <a:spcAft>
                    <a:spcPts val="0"/>
                  </a:spcAft>
                  <a:buNone/>
                </a:pPr>
                <a:r>
                  <a:rPr lang="zh-CN" altLang="en-US" sz="2000" dirty="0">
                    <a:solidFill>
                      <a:srgbClr val="000000"/>
                    </a:solidFill>
                    <a:highlight>
                      <a:srgbClr val="FFFF00"/>
                    </a:highlight>
                    <a:latin typeface="Times New Roman"/>
                    <a:ea typeface="黑体"/>
                  </a:rPr>
                  <a:t>第三步：</a:t>
                </a:r>
                <a:r>
                  <a:rPr lang="zh-CN" altLang="en-US" sz="2000" dirty="0">
                    <a:solidFill>
                      <a:srgbClr val="000000"/>
                    </a:solidFill>
                    <a:latin typeface="Times New Roman"/>
                    <a:ea typeface="黑体"/>
                  </a:rPr>
                  <a:t>把上半部分（</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1</m:t>
                        </m:r>
                      </m:sub>
                    </m:sSub>
                  </m:oMath>
                </a14:m>
                <a:r>
                  <a:rPr lang="zh-CN" altLang="en-US" sz="2000" dirty="0">
                    <a:solidFill>
                      <a:srgbClr val="000000"/>
                    </a:solidFill>
                    <a:latin typeface="Times New Roman"/>
                    <a:ea typeface="黑体"/>
                  </a:rPr>
                  <a:t>）当做已知比特，去解出</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。此时应根据</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1</m:t>
                        </m:r>
                      </m:sub>
                    </m:sSub>
                    <m:r>
                      <a:rPr lang="en-US" altLang="zh-CN" sz="2000" i="1">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的</m:t>
                    </m:r>
                  </m:oMath>
                </a14:m>
                <a:r>
                  <a:rPr lang="zh-CN" altLang="en-US" sz="2000" dirty="0">
                    <a:solidFill>
                      <a:srgbClr val="000000"/>
                    </a:solidFill>
                    <a:latin typeface="Times New Roman"/>
                    <a:ea typeface="黑体"/>
                  </a:rPr>
                  <a:t>取值（</a:t>
                </a:r>
                <a:r>
                  <a:rPr lang="en-US" altLang="zh-CN" sz="2000" dirty="0">
                    <a:solidFill>
                      <a:srgbClr val="000000"/>
                    </a:solidFill>
                    <a:latin typeface="Times New Roman"/>
                    <a:ea typeface="黑体"/>
                  </a:rPr>
                  <a:t>0,1</a:t>
                </a:r>
                <a:r>
                  <a:rPr lang="zh-CN" altLang="en-US" sz="2000" dirty="0">
                    <a:solidFill>
                      <a:srgbClr val="000000"/>
                    </a:solidFill>
                    <a:latin typeface="Times New Roman"/>
                    <a:ea typeface="黑体"/>
                  </a:rPr>
                  <a:t>）来对临时变量进行</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m:t>
                        </m:r>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的操作，然后再译出</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a:t>
                </a:r>
                <a:endParaRPr lang="en-US" altLang="zh-CN" sz="2000" dirty="0">
                  <a:solidFill>
                    <a:srgbClr val="000000"/>
                  </a:solidFill>
                  <a:latin typeface="Times New Roman"/>
                  <a:ea typeface="黑体"/>
                </a:endParaRPr>
              </a:p>
              <a:p>
                <a:pPr marL="0" indent="0">
                  <a:lnSpc>
                    <a:spcPct val="200000"/>
                  </a:lnSpc>
                  <a:spcBef>
                    <a:spcPts val="0"/>
                  </a:spcBef>
                  <a:spcAft>
                    <a:spcPts val="0"/>
                  </a:spcAft>
                  <a:buNone/>
                </a:pPr>
                <a:r>
                  <a:rPr lang="en-US" altLang="zh-CN" sz="2000" dirty="0">
                    <a:solidFill>
                      <a:srgbClr val="000000"/>
                    </a:solidFill>
                    <a:latin typeface="Times New Roman"/>
                    <a:ea typeface="黑体"/>
                  </a:rPr>
                  <a:t>        </a:t>
                </a:r>
                <a:r>
                  <a:rPr lang="zh-CN" altLang="en-US" sz="2000" dirty="0">
                    <a:solidFill>
                      <a:srgbClr val="000000"/>
                    </a:solidFill>
                    <a:latin typeface="Times New Roman"/>
                    <a:ea typeface="黑体"/>
                  </a:rPr>
                  <a:t>根据编码规则，如果</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1</m:t>
                        </m:r>
                      </m:sub>
                    </m:sSub>
                  </m:oMath>
                </a14:m>
                <a:r>
                  <a:rPr lang="en-US" altLang="zh-CN" sz="2000" dirty="0">
                    <a:solidFill>
                      <a:srgbClr val="000000"/>
                    </a:solidFill>
                    <a:latin typeface="Times New Roman"/>
                    <a:ea typeface="黑体"/>
                  </a:rPr>
                  <a:t>=0</a:t>
                </a:r>
                <a:r>
                  <a:rPr lang="zh-CN" altLang="en-US" sz="2000" dirty="0">
                    <a:solidFill>
                      <a:srgbClr val="000000"/>
                    </a:solidFill>
                    <a:latin typeface="Times New Roman"/>
                    <a:ea typeface="黑体"/>
                  </a:rPr>
                  <a:t>，则编码之后有</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m:t>
                        </m:r>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，那么对</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进行解码时，</a:t>
                </a:r>
                <a14:m>
                  <m:oMath xmlns:m="http://schemas.openxmlformats.org/officeDocument/2006/math">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z</m:t>
                        </m:r>
                      </m:e>
                      <m:sub>
                        <m:r>
                          <a:rPr lang="en-US" altLang="zh-CN" sz="2000" i="1">
                            <a:solidFill>
                              <a:srgbClr val="000000"/>
                            </a:solidFill>
                            <a:latin typeface="Cambria Math" panose="02040503050406030204" pitchFamily="18" charset="0"/>
                          </a:rPr>
                          <m:t>2</m:t>
                        </m:r>
                      </m:sub>
                    </m:sSub>
                    <m:r>
                      <a:rPr lang="en-US" altLang="zh-CN" sz="2000" i="1">
                        <a:solidFill>
                          <a:srgbClr val="000000"/>
                        </a:solidFill>
                        <a:latin typeface="Cambria Math" panose="02040503050406030204" pitchFamily="18" charset="0"/>
                      </a:rPr>
                      <m:t>=</m:t>
                    </m:r>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𝑡</m:t>
                        </m:r>
                      </m:e>
                      <m:sub>
                        <m:r>
                          <a:rPr lang="en-US" altLang="zh-CN" sz="2000" i="1">
                            <a:solidFill>
                              <a:srgbClr val="000000"/>
                            </a:solidFill>
                            <a:latin typeface="Cambria Math" panose="02040503050406030204" pitchFamily="18" charset="0"/>
                          </a:rPr>
                          <m:t>1</m:t>
                        </m:r>
                      </m:sub>
                    </m:sSub>
                    <m:r>
                      <a:rPr lang="en-US" altLang="zh-CN" sz="2000" i="1">
                        <a:solidFill>
                          <a:srgbClr val="000000"/>
                        </a:solidFill>
                        <a:latin typeface="Cambria Math" panose="02040503050406030204" pitchFamily="18" charset="0"/>
                      </a:rPr>
                      <m:t>+</m:t>
                    </m:r>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i="1">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，对</a:t>
                </a:r>
                <a14:m>
                  <m:oMath xmlns:m="http://schemas.openxmlformats.org/officeDocument/2006/math">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z</m:t>
                        </m:r>
                      </m:e>
                      <m:sub>
                        <m:r>
                          <a:rPr lang="en-US" altLang="zh-CN" sz="2000" i="1">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进行判决得到</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a:t>
                </a:r>
                <a:endParaRPr lang="en-US" altLang="zh-CN" sz="2000" dirty="0">
                  <a:solidFill>
                    <a:srgbClr val="000000"/>
                  </a:solidFill>
                  <a:latin typeface="Times New Roman"/>
                  <a:ea typeface="黑体"/>
                </a:endParaRPr>
              </a:p>
              <a:p>
                <a:pPr marL="0" indent="0">
                  <a:lnSpc>
                    <a:spcPct val="200000"/>
                  </a:lnSpc>
                  <a:spcBef>
                    <a:spcPts val="0"/>
                  </a:spcBef>
                  <a:spcAft>
                    <a:spcPts val="0"/>
                  </a:spcAft>
                  <a:buNone/>
                </a:pPr>
                <a:r>
                  <a:rPr lang="en-US" altLang="zh-CN" sz="2000" dirty="0">
                    <a:solidFill>
                      <a:srgbClr val="000000"/>
                    </a:solidFill>
                    <a:latin typeface="Times New Roman"/>
                    <a:ea typeface="黑体"/>
                  </a:rPr>
                  <a:t>        </a:t>
                </a:r>
                <a:r>
                  <a:rPr lang="zh-CN" altLang="en-US" sz="2000" dirty="0">
                    <a:solidFill>
                      <a:srgbClr val="000000"/>
                    </a:solidFill>
                    <a:latin typeface="Times New Roman"/>
                    <a:ea typeface="黑体"/>
                  </a:rPr>
                  <a:t>若</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1</m:t>
                        </m:r>
                      </m:sub>
                    </m:sSub>
                  </m:oMath>
                </a14:m>
                <a:r>
                  <a:rPr lang="en-US" altLang="zh-CN" sz="2000" dirty="0">
                    <a:solidFill>
                      <a:srgbClr val="000000"/>
                    </a:solidFill>
                    <a:latin typeface="Times New Roman"/>
                    <a:ea typeface="黑体"/>
                  </a:rPr>
                  <a:t>=1</a:t>
                </a:r>
                <a:r>
                  <a:rPr lang="zh-CN" altLang="en-US" sz="2000" dirty="0">
                    <a:solidFill>
                      <a:srgbClr val="000000"/>
                    </a:solidFill>
                    <a:latin typeface="Times New Roman"/>
                    <a:ea typeface="黑体"/>
                  </a:rPr>
                  <a:t>，则在编码之后有</a:t>
                </a:r>
                <a14:m>
                  <m:oMath xmlns:m="http://schemas.openxmlformats.org/officeDocument/2006/math">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i="1">
                            <a:solidFill>
                              <a:srgbClr val="000000"/>
                            </a:solidFill>
                            <a:latin typeface="Cambria Math" panose="02040503050406030204" pitchFamily="18" charset="0"/>
                          </a:rPr>
                          <m:t>1</m:t>
                        </m:r>
                      </m:sub>
                    </m:sSub>
                    <m:r>
                      <a:rPr lang="en-US" altLang="zh-CN" sz="2000" i="1">
                        <a:solidFill>
                          <a:srgbClr val="000000"/>
                        </a:solidFill>
                        <a:latin typeface="Cambria Math" panose="02040503050406030204" pitchFamily="18" charset="0"/>
                      </a:rPr>
                      <m:t>=1 − </m:t>
                    </m:r>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i="1">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（经</a:t>
                </a:r>
                <a:r>
                  <a:rPr lang="en-US" altLang="zh-CN" sz="2000" dirty="0">
                    <a:solidFill>
                      <a:srgbClr val="000000"/>
                    </a:solidFill>
                    <a:latin typeface="Times New Roman"/>
                    <a:ea typeface="黑体"/>
                  </a:rPr>
                  <a:t>BPSK</a:t>
                </a:r>
                <a:r>
                  <a:rPr lang="zh-CN" altLang="en-US" sz="2000" dirty="0">
                    <a:solidFill>
                      <a:srgbClr val="000000"/>
                    </a:solidFill>
                    <a:latin typeface="Times New Roman"/>
                    <a:ea typeface="黑体"/>
                  </a:rPr>
                  <a:t>后</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 </m:t>
                        </m:r>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2</m:t>
                        </m:r>
                      </m:sub>
                    </m:sSub>
                    <m:r>
                      <a:rPr lang="en-US" altLang="zh-CN" sz="2000" i="1">
                        <a:solidFill>
                          <a:srgbClr val="000000"/>
                        </a:solidFill>
                        <a:latin typeface="Cambria Math" panose="02040503050406030204" pitchFamily="18" charset="0"/>
                      </a:rPr>
                      <m:t>=0 </m:t>
                    </m:r>
                  </m:oMath>
                </a14:m>
                <a:r>
                  <a:rPr lang="zh-CN" altLang="en-US" sz="2000" dirty="0">
                    <a:solidFill>
                      <a:srgbClr val="000000"/>
                    </a:solidFill>
                    <a:latin typeface="Times New Roman"/>
                    <a:ea typeface="黑体"/>
                  </a:rPr>
                  <a:t>），那么对</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解码时，有</a:t>
                </a:r>
                <a14:m>
                  <m:oMath xmlns:m="http://schemas.openxmlformats.org/officeDocument/2006/math">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z</m:t>
                        </m:r>
                      </m:e>
                      <m:sub>
                        <m:r>
                          <a:rPr lang="en-US" altLang="zh-CN" sz="2000" i="1">
                            <a:solidFill>
                              <a:srgbClr val="000000"/>
                            </a:solidFill>
                            <a:latin typeface="Cambria Math" panose="02040503050406030204" pitchFamily="18" charset="0"/>
                          </a:rPr>
                          <m:t>2</m:t>
                        </m:r>
                      </m:sub>
                    </m:sSub>
                    <m:r>
                      <a:rPr lang="en-US" altLang="zh-CN" sz="2000" i="1">
                        <a:solidFill>
                          <a:srgbClr val="000000"/>
                        </a:solidFill>
                        <a:latin typeface="Cambria Math" panose="02040503050406030204" pitchFamily="18" charset="0"/>
                      </a:rPr>
                      <m:t>=</m:t>
                    </m:r>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𝑡</m:t>
                        </m:r>
                      </m:e>
                      <m:sub>
                        <m:r>
                          <a:rPr lang="en-US" altLang="zh-CN" sz="2000" i="1">
                            <a:solidFill>
                              <a:srgbClr val="000000"/>
                            </a:solidFill>
                            <a:latin typeface="Cambria Math" panose="02040503050406030204" pitchFamily="18" charset="0"/>
                          </a:rPr>
                          <m:t>2</m:t>
                        </m:r>
                      </m:sub>
                    </m:sSub>
                    <m:r>
                      <a:rPr lang="en-US" altLang="zh-CN" sz="2000" i="1">
                        <a:solidFill>
                          <a:srgbClr val="000000"/>
                        </a:solidFill>
                        <a:latin typeface="Cambria Math" panose="02040503050406030204" pitchFamily="18" charset="0"/>
                      </a:rPr>
                      <m:t>−</m:t>
                    </m:r>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i="1">
                            <a:solidFill>
                              <a:srgbClr val="000000"/>
                            </a:solidFill>
                            <a:latin typeface="Cambria Math" panose="02040503050406030204" pitchFamily="18" charset="0"/>
                          </a:rPr>
                          <m:t>1</m:t>
                        </m:r>
                      </m:sub>
                    </m:sSub>
                  </m:oMath>
                </a14:m>
                <a:r>
                  <a:rPr lang="zh-CN" altLang="en-US" sz="2000" dirty="0">
                    <a:solidFill>
                      <a:srgbClr val="000000"/>
                    </a:solidFill>
                    <a:latin typeface="Times New Roman"/>
                    <a:ea typeface="黑体"/>
                  </a:rPr>
                  <a:t>，对</a:t>
                </a:r>
                <a14:m>
                  <m:oMath xmlns:m="http://schemas.openxmlformats.org/officeDocument/2006/math">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z</m:t>
                        </m:r>
                      </m:e>
                      <m:sub>
                        <m:r>
                          <a:rPr lang="en-US" altLang="zh-CN" sz="2000" i="1">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进行判决，得到</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2</m:t>
                        </m:r>
                      </m:sub>
                    </m:sSub>
                  </m:oMath>
                </a14:m>
                <a:r>
                  <a:rPr lang="en-US" altLang="zh-CN" sz="2000" dirty="0">
                    <a:solidFill>
                      <a:srgbClr val="000000"/>
                    </a:solidFill>
                    <a:latin typeface="Times New Roman"/>
                    <a:ea typeface="黑体"/>
                  </a:rPr>
                  <a:t>=1</a:t>
                </a:r>
                <a:r>
                  <a:rPr lang="zh-CN" altLang="en-US" sz="2000" dirty="0">
                    <a:solidFill>
                      <a:srgbClr val="000000"/>
                    </a:solidFill>
                    <a:latin typeface="Times New Roman"/>
                    <a:ea typeface="黑体"/>
                  </a:rPr>
                  <a:t>（解码正确）</a:t>
                </a:r>
                <a:endParaRPr lang="en-US" altLang="zh-CN" sz="2000" dirty="0">
                  <a:solidFill>
                    <a:srgbClr val="000000"/>
                  </a:solidFill>
                  <a:latin typeface="Times New Roman"/>
                  <a:ea typeface="黑体"/>
                </a:endParaRPr>
              </a:p>
              <a:p>
                <a:pPr marL="0" indent="0" algn="ctr">
                  <a:lnSpc>
                    <a:spcPct val="150000"/>
                  </a:lnSpc>
                  <a:spcBef>
                    <a:spcPts val="0"/>
                  </a:spcBef>
                  <a:spcAft>
                    <a:spcPts val="0"/>
                  </a:spcAft>
                  <a:buNone/>
                </a:pPr>
                <a:endParaRPr lang="en-US" altLang="zh-CN" sz="2000" dirty="0">
                  <a:solidFill>
                    <a:srgbClr val="000000"/>
                  </a:solidFill>
                  <a:latin typeface="黑体"/>
                  <a:ea typeface="黑体"/>
                </a:endParaRPr>
              </a:p>
              <a:p>
                <a:pPr marL="0" indent="0">
                  <a:lnSpc>
                    <a:spcPct val="150000"/>
                  </a:lnSpc>
                  <a:spcBef>
                    <a:spcPts val="0"/>
                  </a:spcBef>
                  <a:spcAft>
                    <a:spcPts val="0"/>
                  </a:spcAft>
                  <a:buNone/>
                </a:pPr>
                <a:endParaRPr lang="en-US" altLang="zh-CN" sz="2000" dirty="0">
                  <a:solidFill>
                    <a:srgbClr val="000000"/>
                  </a:solidFill>
                  <a:latin typeface="黑体"/>
                  <a:ea typeface="黑体"/>
                </a:endParaRPr>
              </a:p>
              <a:p>
                <a:pPr marL="0" indent="0">
                  <a:lnSpc>
                    <a:spcPct val="150000"/>
                  </a:lnSpc>
                  <a:spcBef>
                    <a:spcPts val="0"/>
                  </a:spcBef>
                  <a:spcAft>
                    <a:spcPts val="0"/>
                  </a:spcAft>
                  <a:buNone/>
                </a:pPr>
                <a:endParaRPr lang="en-US" altLang="zh-CN" sz="2000" dirty="0">
                  <a:solidFill>
                    <a:srgbClr val="000000"/>
                  </a:solidFill>
                  <a:latin typeface="黑体"/>
                  <a:ea typeface="黑体"/>
                </a:endParaRPr>
              </a:p>
            </p:txBody>
          </p:sp>
        </mc:Choice>
        <mc:Fallback xmlns="">
          <p:sp>
            <p:nvSpPr>
              <p:cNvPr id="4" name="内容占位符 2"/>
              <p:cNvSpPr txBox="1">
                <a:spLocks noRot="1" noChangeAspect="1" noMove="1" noResize="1" noEditPoints="1" noAdjustHandles="1" noChangeArrowheads="1" noChangeShapeType="1" noTextEdit="1"/>
              </p:cNvSpPr>
              <p:nvPr/>
            </p:nvSpPr>
            <p:spPr>
              <a:xfrm>
                <a:off x="1905111" y="1371654"/>
                <a:ext cx="8118895" cy="4648078"/>
              </a:xfrm>
              <a:prstGeom prst="rect">
                <a:avLst/>
              </a:prstGeom>
              <a:blipFill>
                <a:blip r:embed="rId2"/>
                <a:stretch>
                  <a:fillRect l="-826" r="-751"/>
                </a:stretch>
              </a:blipFill>
              <a:ln w="9525">
                <a:noFill/>
              </a:ln>
            </p:spPr>
            <p:txBody>
              <a:bodyPr/>
              <a:lstStyle/>
              <a:p>
                <a:r>
                  <a:rPr lang="zh-CN" altLang="en-US">
                    <a:noFill/>
                  </a:rPr>
                  <a:t> </a:t>
                </a:r>
              </a:p>
            </p:txBody>
          </p:sp>
        </mc:Fallback>
      </mc:AlternateContent>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545" y="224221"/>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解码示例</a:t>
            </a:r>
          </a:p>
        </p:txBody>
      </p:sp>
      <mc:AlternateContent xmlns:mc="http://schemas.openxmlformats.org/markup-compatibility/2006" xmlns:a14="http://schemas.microsoft.com/office/drawing/2010/main">
        <mc:Choice Requires="a14">
          <p:sp>
            <p:nvSpPr>
              <p:cNvPr id="4" name="内容占位符 2"/>
              <p:cNvSpPr txBox="1"/>
              <p:nvPr/>
            </p:nvSpPr>
            <p:spPr>
              <a:xfrm>
                <a:off x="1787006" y="1371655"/>
                <a:ext cx="8617989" cy="4381385"/>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200000"/>
                  </a:lnSpc>
                  <a:spcBef>
                    <a:spcPts val="3000"/>
                  </a:spcBef>
                  <a:spcAft>
                    <a:spcPts val="3000"/>
                  </a:spcAft>
                  <a:buNone/>
                </a:pPr>
                <a:r>
                  <a:rPr lang="zh-CN" altLang="en-US" sz="2000" dirty="0">
                    <a:solidFill>
                      <a:srgbClr val="000000"/>
                    </a:solidFill>
                    <a:highlight>
                      <a:srgbClr val="FFFF00"/>
                    </a:highlight>
                    <a:latin typeface="Times New Roman"/>
                    <a:ea typeface="黑体"/>
                  </a:rPr>
                  <a:t>第四步：</a:t>
                </a:r>
                <a:r>
                  <a:rPr lang="zh-CN" altLang="en-US" sz="2000" dirty="0">
                    <a:solidFill>
                      <a:srgbClr val="000000"/>
                    </a:solidFill>
                    <a:latin typeface="Times New Roman"/>
                    <a:ea typeface="黑体"/>
                  </a:rPr>
                  <a:t>计算出另一组临时变量</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s</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和</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s</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。根据上面第</a:t>
                </a:r>
                <a:r>
                  <a:rPr lang="en-US" altLang="zh-CN" sz="2000" dirty="0">
                    <a:solidFill>
                      <a:srgbClr val="000000"/>
                    </a:solidFill>
                    <a:latin typeface="Times New Roman"/>
                    <a:ea typeface="黑体"/>
                  </a:rPr>
                  <a:t>2~3</a:t>
                </a:r>
                <a:r>
                  <a:rPr lang="zh-CN" altLang="en-US" sz="2000" dirty="0">
                    <a:solidFill>
                      <a:srgbClr val="000000"/>
                    </a:solidFill>
                    <a:latin typeface="Times New Roman"/>
                    <a:ea typeface="黑体"/>
                  </a:rPr>
                  <a:t>步结果得到</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s</m:t>
                        </m:r>
                      </m:e>
                      <m:sub>
                        <m:r>
                          <a:rPr lang="zh-CN" altLang="en-US" sz="2000" i="1">
                            <a:solidFill>
                              <a:srgbClr val="000000"/>
                            </a:solidFill>
                            <a:latin typeface="Cambria Math" panose="02040503050406030204" pitchFamily="18" charset="0"/>
                          </a:rPr>
                          <m:t>1</m:t>
                        </m:r>
                      </m:sub>
                    </m:sSub>
                  </m:oMath>
                </a14:m>
                <a:r>
                  <a:rPr lang="en-US" altLang="zh-CN" sz="2000" dirty="0">
                    <a:solidFill>
                      <a:srgbClr val="000000"/>
                    </a:solidFill>
                    <a:latin typeface="Times New Roman"/>
                    <a:ea typeface="黑体"/>
                  </a:rPr>
                  <a:t>=0</a:t>
                </a:r>
                <a:r>
                  <a:rPr lang="zh-CN" altLang="en-US" sz="2000" dirty="0">
                    <a:solidFill>
                      <a:srgbClr val="000000"/>
                    </a:solidFill>
                    <a:latin typeface="Times New Roman"/>
                    <a:ea typeface="黑体"/>
                  </a:rPr>
                  <a:t>， </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s</m:t>
                        </m:r>
                      </m:e>
                      <m:sub>
                        <m:r>
                          <a:rPr lang="en-US" altLang="zh-CN" sz="2000" i="1">
                            <a:solidFill>
                              <a:srgbClr val="000000"/>
                            </a:solidFill>
                            <a:latin typeface="Cambria Math" panose="02040503050406030204" pitchFamily="18" charset="0"/>
                          </a:rPr>
                          <m:t>2</m:t>
                        </m:r>
                      </m:sub>
                    </m:sSub>
                  </m:oMath>
                </a14:m>
                <a:r>
                  <a:rPr lang="en-US" altLang="zh-CN" sz="2000" dirty="0">
                    <a:solidFill>
                      <a:srgbClr val="000000"/>
                    </a:solidFill>
                    <a:latin typeface="Times New Roman"/>
                    <a:ea typeface="黑体"/>
                  </a:rPr>
                  <a:t>=1</a:t>
                </a:r>
                <a:r>
                  <a:rPr lang="zh-CN" altLang="en-US" sz="2000" dirty="0">
                    <a:solidFill>
                      <a:srgbClr val="000000"/>
                    </a:solidFill>
                    <a:latin typeface="Times New Roman"/>
                    <a:ea typeface="黑体"/>
                  </a:rPr>
                  <a:t>。</a:t>
                </a:r>
                <a:endParaRPr lang="en-US" altLang="zh-CN" sz="2000" dirty="0">
                  <a:solidFill>
                    <a:srgbClr val="000000"/>
                  </a:solidFill>
                  <a:latin typeface="Times New Roman"/>
                  <a:ea typeface="黑体"/>
                </a:endParaRPr>
              </a:p>
              <a:p>
                <a:pPr marL="0" indent="0">
                  <a:lnSpc>
                    <a:spcPct val="200000"/>
                  </a:lnSpc>
                  <a:spcBef>
                    <a:spcPts val="0"/>
                  </a:spcBef>
                  <a:spcAft>
                    <a:spcPts val="0"/>
                  </a:spcAft>
                  <a:buNone/>
                </a:pPr>
                <a:r>
                  <a:rPr lang="zh-CN" altLang="en-US" sz="2000" dirty="0">
                    <a:solidFill>
                      <a:srgbClr val="000000"/>
                    </a:solidFill>
                    <a:highlight>
                      <a:srgbClr val="FFFF00"/>
                    </a:highlight>
                    <a:latin typeface="Times New Roman"/>
                    <a:ea typeface="黑体"/>
                  </a:rPr>
                  <a:t>第五步：</a:t>
                </a:r>
                <a:r>
                  <a:rPr lang="zh-CN" altLang="en-US" sz="2000" dirty="0">
                    <a:solidFill>
                      <a:srgbClr val="000000"/>
                    </a:solidFill>
                    <a:latin typeface="Times New Roman"/>
                    <a:ea typeface="黑体"/>
                  </a:rPr>
                  <a:t>把上半部分（临时变量</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s</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 </m:t>
                    </m:r>
                  </m:oMath>
                </a14:m>
                <a:r>
                  <a:rPr lang="zh-CN" altLang="en-US" sz="2000" dirty="0">
                    <a:solidFill>
                      <a:srgbClr val="000000"/>
                    </a:solidFill>
                    <a:latin typeface="Times New Roman"/>
                    <a:ea typeface="黑体"/>
                  </a:rPr>
                  <a:t>和</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s</m:t>
                        </m:r>
                      </m:e>
                      <m:sub>
                        <m:r>
                          <a:rPr lang="en-US" altLang="zh-CN" sz="2000" i="1">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）当做已知比特，去计算又一组临时变  量</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3</m:t>
                        </m:r>
                      </m:sub>
                    </m:sSub>
                    <m:sSub>
                      <m:sSubPr>
                        <m:ctrlPr>
                          <a:rPr lang="zh-CN" altLang="en-US"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m:t>
                        </m:r>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4</m:t>
                        </m:r>
                      </m:sub>
                    </m:sSub>
                  </m:oMath>
                </a14:m>
                <a:r>
                  <a:rPr lang="zh-CN" altLang="en-US" sz="2000" dirty="0">
                    <a:solidFill>
                      <a:srgbClr val="000000"/>
                    </a:solidFill>
                    <a:latin typeface="Times New Roman"/>
                    <a:ea typeface="黑体"/>
                  </a:rPr>
                  <a:t>。类似于第三步，有</a:t>
                </a:r>
                <a:endParaRPr lang="en-US" altLang="zh-CN" sz="2000" dirty="0">
                  <a:solidFill>
                    <a:srgbClr val="000000"/>
                  </a:solidFill>
                  <a:latin typeface="Times New Roman"/>
                  <a:ea typeface="黑体"/>
                </a:endParaRPr>
              </a:p>
              <a:p>
                <a:pPr marL="0" indent="0" algn="ctr">
                  <a:lnSpc>
                    <a:spcPct val="200000"/>
                  </a:lnSpc>
                  <a:spcBef>
                    <a:spcPts val="0"/>
                  </a:spcBef>
                  <a:spcAft>
                    <a:spcPts val="0"/>
                  </a:spcAft>
                  <a:buNone/>
                </a:pP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𝑡</m:t>
                        </m:r>
                      </m:e>
                      <m:sub>
                        <m:r>
                          <a:rPr lang="en-US" altLang="zh-CN" sz="2000" i="1">
                            <a:solidFill>
                              <a:srgbClr val="000000"/>
                            </a:solidFill>
                            <a:latin typeface="Cambria Math" panose="02040503050406030204" pitchFamily="18" charset="0"/>
                          </a:rPr>
                          <m:t>3</m:t>
                        </m:r>
                      </m:sub>
                    </m:sSub>
                    <m:r>
                      <a:rPr lang="en-US" altLang="zh-CN" sz="2000" i="1">
                        <a:solidFill>
                          <a:srgbClr val="000000"/>
                        </a:solidFill>
                        <a:latin typeface="Cambria Math" panose="02040503050406030204" pitchFamily="18" charset="0"/>
                      </a:rPr>
                      <m:t>=</m:t>
                    </m:r>
                  </m:oMath>
                </a14:m>
                <a:r>
                  <a:rPr lang="en-US" altLang="zh-CN" sz="2000" dirty="0">
                    <a:solidFill>
                      <a:srgbClr val="000000"/>
                    </a:solidFill>
                    <a:latin typeface="Times New Roman"/>
                    <a:ea typeface="黑体"/>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x</m:t>
                        </m:r>
                      </m:e>
                      <m:sub>
                        <m:r>
                          <a:rPr lang="en-US" altLang="zh-CN" sz="2000" i="1">
                            <a:solidFill>
                              <a:srgbClr val="000000"/>
                            </a:solidFill>
                            <a:latin typeface="Cambria Math" panose="02040503050406030204" pitchFamily="18" charset="0"/>
                          </a:rPr>
                          <m:t>3</m:t>
                        </m:r>
                      </m:sub>
                    </m:sSub>
                  </m:oMath>
                </a14:m>
                <a:r>
                  <a:rPr lang="en-US" altLang="zh-CN" sz="2000" dirty="0">
                    <a:solidFill>
                      <a:srgbClr val="000000"/>
                    </a:solidFill>
                    <a:latin typeface="Times New Roman"/>
                    <a:ea typeface="黑体"/>
                  </a:rPr>
                  <a:t>+</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1-2×</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s</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oMath>
                </a14:m>
                <a:r>
                  <a:rPr lang="en-US" altLang="zh-CN" sz="2000" dirty="0">
                    <a:solidFill>
                      <a:srgbClr val="000000"/>
                    </a:solidFill>
                    <a:latin typeface="Times New Roman"/>
                    <a:ea typeface="黑体"/>
                  </a:rPr>
                  <a:t>-</a:t>
                </a:r>
                <a:r>
                  <a:rPr lang="zh-CN" altLang="en-US" sz="2000" dirty="0">
                    <a:solidFill>
                      <a:srgbClr val="000000"/>
                    </a:solidFill>
                    <a:latin typeface="Times New Roman"/>
                    <a:ea typeface="黑体"/>
                  </a:rPr>
                  <a:t> </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x</m:t>
                        </m:r>
                      </m:e>
                      <m:sub>
                        <m:r>
                          <a:rPr lang="zh-CN" altLang="en-US" sz="2000" i="1">
                            <a:solidFill>
                              <a:srgbClr val="000000"/>
                            </a:solidFill>
                            <a:latin typeface="Cambria Math" panose="02040503050406030204" pitchFamily="18" charset="0"/>
                          </a:rPr>
                          <m:t>1</m:t>
                        </m:r>
                      </m:sub>
                    </m:sSub>
                  </m:oMath>
                </a14:m>
                <a:r>
                  <a:rPr lang="en-US" altLang="zh-CN" sz="2000" dirty="0">
                    <a:solidFill>
                      <a:srgbClr val="000000"/>
                    </a:solidFill>
                    <a:latin typeface="Times New Roman"/>
                    <a:ea typeface="黑体"/>
                  </a:rPr>
                  <a:t>=3.78+</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1-2×0</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×3.22=7.00</a:t>
                </a:r>
              </a:p>
              <a:p>
                <a:pPr marL="0" indent="0" algn="ctr">
                  <a:lnSpc>
                    <a:spcPct val="200000"/>
                  </a:lnSpc>
                  <a:spcBef>
                    <a:spcPts val="0"/>
                  </a:spcBef>
                  <a:spcAft>
                    <a:spcPts val="0"/>
                  </a:spcAft>
                  <a:buNone/>
                </a:pP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𝑡</m:t>
                        </m:r>
                      </m:e>
                      <m:sub>
                        <m:r>
                          <a:rPr lang="en-US" altLang="zh-CN" sz="2000" i="1">
                            <a:solidFill>
                              <a:srgbClr val="000000"/>
                            </a:solidFill>
                            <a:latin typeface="Cambria Math" panose="02040503050406030204" pitchFamily="18" charset="0"/>
                          </a:rPr>
                          <m:t>4</m:t>
                        </m:r>
                      </m:sub>
                    </m:sSub>
                    <m:r>
                      <a:rPr lang="en-US" altLang="zh-CN" sz="2000" i="1">
                        <a:solidFill>
                          <a:srgbClr val="000000"/>
                        </a:solidFill>
                        <a:latin typeface="Cambria Math" panose="02040503050406030204" pitchFamily="18" charset="0"/>
                      </a:rPr>
                      <m:t>=</m:t>
                    </m:r>
                  </m:oMath>
                </a14:m>
                <a:r>
                  <a:rPr lang="en-US" altLang="zh-CN" sz="2000" dirty="0">
                    <a:solidFill>
                      <a:srgbClr val="000000"/>
                    </a:solidFill>
                    <a:latin typeface="Times New Roman"/>
                    <a:ea typeface="黑体"/>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x</m:t>
                        </m:r>
                      </m:e>
                      <m:sub>
                        <m:r>
                          <a:rPr lang="en-US" altLang="zh-CN" sz="2000" i="1">
                            <a:solidFill>
                              <a:srgbClr val="000000"/>
                            </a:solidFill>
                            <a:latin typeface="Cambria Math" panose="02040503050406030204" pitchFamily="18" charset="0"/>
                          </a:rPr>
                          <m:t>4</m:t>
                        </m:r>
                      </m:sub>
                    </m:sSub>
                  </m:oMath>
                </a14:m>
                <a:r>
                  <a:rPr lang="en-US" altLang="zh-CN" sz="2000" dirty="0">
                    <a:solidFill>
                      <a:srgbClr val="000000"/>
                    </a:solidFill>
                    <a:latin typeface="Times New Roman"/>
                    <a:ea typeface="黑体"/>
                  </a:rPr>
                  <a:t>+</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1-2×</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s</m:t>
                        </m:r>
                      </m:e>
                      <m:sub>
                        <m:r>
                          <a:rPr lang="en-US" altLang="zh-CN"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oMath>
                </a14:m>
                <a:r>
                  <a:rPr lang="en-US" altLang="zh-CN" sz="2000" dirty="0">
                    <a:solidFill>
                      <a:srgbClr val="000000"/>
                    </a:solidFill>
                    <a:latin typeface="Times New Roman"/>
                    <a:ea typeface="黑体"/>
                  </a:rPr>
                  <a:t>-</a:t>
                </a:r>
                <a:r>
                  <a:rPr lang="zh-CN" altLang="en-US" sz="2000" dirty="0">
                    <a:solidFill>
                      <a:srgbClr val="000000"/>
                    </a:solidFill>
                    <a:latin typeface="Times New Roman"/>
                    <a:ea typeface="黑体"/>
                  </a:rPr>
                  <a:t> </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x</m:t>
                        </m:r>
                      </m:e>
                      <m:sub>
                        <m:r>
                          <a:rPr lang="en-US" altLang="zh-CN" sz="2000" i="1">
                            <a:solidFill>
                              <a:srgbClr val="000000"/>
                            </a:solidFill>
                            <a:latin typeface="Cambria Math" panose="02040503050406030204" pitchFamily="18" charset="0"/>
                          </a:rPr>
                          <m:t>2</m:t>
                        </m:r>
                      </m:sub>
                    </m:sSub>
                  </m:oMath>
                </a14:m>
                <a:r>
                  <a:rPr lang="en-US" altLang="zh-CN" sz="2000" dirty="0">
                    <a:solidFill>
                      <a:srgbClr val="000000"/>
                    </a:solidFill>
                    <a:latin typeface="Times New Roman"/>
                    <a:ea typeface="黑体"/>
                  </a:rPr>
                  <a:t>=-3.38+</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1-2×1</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×0.12=-3.50</a:t>
                </a:r>
              </a:p>
              <a:p>
                <a:pPr marL="0" indent="0" algn="ctr">
                  <a:lnSpc>
                    <a:spcPct val="150000"/>
                  </a:lnSpc>
                  <a:spcBef>
                    <a:spcPts val="0"/>
                  </a:spcBef>
                  <a:spcAft>
                    <a:spcPts val="0"/>
                  </a:spcAft>
                  <a:buNone/>
                </a:pPr>
                <a:endParaRPr lang="en-US" altLang="zh-CN" sz="2000" dirty="0">
                  <a:solidFill>
                    <a:srgbClr val="000000"/>
                  </a:solidFill>
                  <a:latin typeface="黑体"/>
                  <a:ea typeface="黑体"/>
                </a:endParaRPr>
              </a:p>
              <a:p>
                <a:pPr marL="0" indent="0">
                  <a:lnSpc>
                    <a:spcPct val="150000"/>
                  </a:lnSpc>
                  <a:spcBef>
                    <a:spcPts val="0"/>
                  </a:spcBef>
                  <a:spcAft>
                    <a:spcPts val="0"/>
                  </a:spcAft>
                  <a:buNone/>
                </a:pPr>
                <a:endParaRPr lang="en-US" altLang="zh-CN" sz="2000" dirty="0">
                  <a:solidFill>
                    <a:srgbClr val="000000"/>
                  </a:solidFill>
                  <a:latin typeface="黑体"/>
                  <a:ea typeface="黑体"/>
                </a:endParaRPr>
              </a:p>
              <a:p>
                <a:pPr marL="0" indent="0">
                  <a:lnSpc>
                    <a:spcPct val="150000"/>
                  </a:lnSpc>
                  <a:spcBef>
                    <a:spcPts val="0"/>
                  </a:spcBef>
                  <a:spcAft>
                    <a:spcPts val="0"/>
                  </a:spcAft>
                  <a:buNone/>
                </a:pPr>
                <a:endParaRPr lang="en-US" altLang="zh-CN" sz="2000" dirty="0">
                  <a:solidFill>
                    <a:srgbClr val="000000"/>
                  </a:solidFill>
                  <a:latin typeface="黑体"/>
                  <a:ea typeface="黑体"/>
                </a:endParaRPr>
              </a:p>
            </p:txBody>
          </p:sp>
        </mc:Choice>
        <mc:Fallback xmlns="">
          <p:sp>
            <p:nvSpPr>
              <p:cNvPr id="4" name="内容占位符 2"/>
              <p:cNvSpPr txBox="1">
                <a:spLocks noRot="1" noChangeAspect="1" noMove="1" noResize="1" noEditPoints="1" noAdjustHandles="1" noChangeArrowheads="1" noChangeShapeType="1" noTextEdit="1"/>
              </p:cNvSpPr>
              <p:nvPr/>
            </p:nvSpPr>
            <p:spPr>
              <a:xfrm>
                <a:off x="1787006" y="1371655"/>
                <a:ext cx="8617989" cy="4381385"/>
              </a:xfrm>
              <a:prstGeom prst="rect">
                <a:avLst/>
              </a:prstGeom>
              <a:blipFill>
                <a:blip r:embed="rId2"/>
                <a:stretch>
                  <a:fillRect l="-707" r="-141"/>
                </a:stretch>
              </a:blipFill>
              <a:ln w="9525">
                <a:noFill/>
              </a:ln>
            </p:spPr>
            <p:txBody>
              <a:bodyPr/>
              <a:lstStyle/>
              <a:p>
                <a:r>
                  <a:rPr lang="zh-CN" altLang="en-US">
                    <a:noFill/>
                  </a:rPr>
                  <a:t> </a:t>
                </a:r>
              </a:p>
            </p:txBody>
          </p:sp>
        </mc:Fallback>
      </mc:AlternateContent>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545" y="152486"/>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解码示例</a:t>
            </a:r>
          </a:p>
        </p:txBody>
      </p:sp>
      <mc:AlternateContent xmlns:mc="http://schemas.openxmlformats.org/markup-compatibility/2006" xmlns:a14="http://schemas.microsoft.com/office/drawing/2010/main">
        <mc:Choice Requires="a14">
          <p:sp>
            <p:nvSpPr>
              <p:cNvPr id="4" name="内容占位符 2"/>
              <p:cNvSpPr txBox="1"/>
              <p:nvPr/>
            </p:nvSpPr>
            <p:spPr>
              <a:xfrm>
                <a:off x="1813802" y="1524050"/>
                <a:ext cx="8854198" cy="4038494"/>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200000"/>
                  </a:lnSpc>
                  <a:spcBef>
                    <a:spcPts val="0"/>
                  </a:spcBef>
                  <a:spcAft>
                    <a:spcPts val="0"/>
                  </a:spcAft>
                  <a:buNone/>
                </a:pPr>
                <a:r>
                  <a:rPr lang="zh-CN" altLang="en-US" sz="2000" dirty="0">
                    <a:solidFill>
                      <a:srgbClr val="000000"/>
                    </a:solidFill>
                    <a:highlight>
                      <a:srgbClr val="FFFF00"/>
                    </a:highlight>
                    <a:latin typeface="Times New Roman"/>
                    <a:ea typeface="黑体"/>
                  </a:rPr>
                  <a:t>第六步：</a:t>
                </a:r>
                <a:r>
                  <a:rPr lang="zh-CN" altLang="en-US" sz="2000" dirty="0">
                    <a:solidFill>
                      <a:srgbClr val="000000"/>
                    </a:solidFill>
                    <a:latin typeface="Times New Roman"/>
                    <a:ea typeface="黑体"/>
                  </a:rPr>
                  <a:t>与第二步类似，把下半部分（临时变量</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a:solidFill>
                              <a:srgbClr val="000000"/>
                            </a:solidFill>
                            <a:latin typeface="Cambria Math" panose="02040503050406030204" pitchFamily="18" charset="0"/>
                          </a:rPr>
                          <m:t>2</m:t>
                        </m:r>
                      </m:sub>
                    </m:sSub>
                    <m:r>
                      <a:rPr lang="en-US" altLang="zh-CN" sz="2000" i="1">
                        <a:solidFill>
                          <a:srgbClr val="000000"/>
                        </a:solidFill>
                        <a:latin typeface="Cambria Math" panose="02040503050406030204" pitchFamily="18" charset="0"/>
                      </a:rPr>
                      <m:t> </m:t>
                    </m:r>
                  </m:oMath>
                </a14:m>
                <a:r>
                  <a:rPr lang="zh-CN" altLang="en-US" sz="2000" dirty="0">
                    <a:solidFill>
                      <a:srgbClr val="000000"/>
                    </a:solidFill>
                    <a:latin typeface="Times New Roman"/>
                    <a:ea typeface="黑体"/>
                  </a:rPr>
                  <a:t>）看成噪声，求解出</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3</m:t>
                        </m:r>
                      </m:sub>
                    </m:sSub>
                  </m:oMath>
                </a14:m>
                <a:r>
                  <a:rPr lang="zh-CN" altLang="en-US" sz="2000" dirty="0">
                    <a:solidFill>
                      <a:srgbClr val="000000"/>
                    </a:solidFill>
                    <a:latin typeface="Times New Roman"/>
                    <a:ea typeface="黑体"/>
                  </a:rPr>
                  <a:t>。</a:t>
                </a:r>
                <a:endParaRPr lang="en-US" altLang="zh-CN" sz="2000" dirty="0">
                  <a:solidFill>
                    <a:srgbClr val="000000"/>
                  </a:solidFill>
                  <a:latin typeface="Times New Roman"/>
                  <a:ea typeface="黑体"/>
                </a:endParaRPr>
              </a:p>
              <a:p>
                <a:pPr marL="0" indent="0">
                  <a:lnSpc>
                    <a:spcPct val="20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𝑧</m:t>
                          </m:r>
                        </m:e>
                        <m:sub>
                          <m:r>
                            <a:rPr lang="en-US" altLang="zh-CN" sz="2000" i="1">
                              <a:solidFill>
                                <a:srgbClr val="000000"/>
                              </a:solidFill>
                              <a:latin typeface="Cambria Math" panose="02040503050406030204" pitchFamily="18" charset="0"/>
                            </a:rPr>
                            <m:t>3</m:t>
                          </m:r>
                        </m:sub>
                      </m:sSub>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𝑓</m:t>
                      </m:r>
                      <m:d>
                        <m:dPr>
                          <m:ctrlPr>
                            <a:rPr lang="en-US" altLang="zh-CN" sz="2000" i="1">
                              <a:solidFill>
                                <a:srgbClr val="000000"/>
                              </a:solidFill>
                              <a:latin typeface="Cambria Math" panose="02040503050406030204" pitchFamily="18" charset="0"/>
                            </a:rPr>
                          </m:ctrlPr>
                        </m:dPr>
                        <m:e>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𝑡</m:t>
                              </m:r>
                            </m:e>
                            <m:sub>
                              <m:r>
                                <a:rPr lang="en-US" altLang="zh-CN" sz="2000" i="1">
                                  <a:solidFill>
                                    <a:srgbClr val="000000"/>
                                  </a:solidFill>
                                  <a:latin typeface="Cambria Math" panose="02040503050406030204" pitchFamily="18" charset="0"/>
                                </a:rPr>
                                <m:t>3</m:t>
                              </m:r>
                            </m:sub>
                          </m:sSub>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𝑡</m:t>
                              </m:r>
                            </m:e>
                            <m:sub>
                              <m:r>
                                <a:rPr lang="en-US" altLang="zh-CN" sz="2000" i="1">
                                  <a:solidFill>
                                    <a:srgbClr val="000000"/>
                                  </a:solidFill>
                                  <a:latin typeface="Cambria Math" panose="02040503050406030204" pitchFamily="18" charset="0"/>
                                </a:rPr>
                                <m:t>4</m:t>
                              </m:r>
                            </m:sub>
                          </m:sSub>
                        </m:e>
                      </m:d>
                      <m:r>
                        <a:rPr lang="en-US" altLang="zh-CN" sz="2000" i="1">
                          <a:solidFill>
                            <a:srgbClr val="000000"/>
                          </a:solidFill>
                          <a:latin typeface="Cambria Math" panose="02040503050406030204" pitchFamily="18" charset="0"/>
                        </a:rPr>
                        <m:t>=</m:t>
                      </m:r>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𝑡</m:t>
                          </m:r>
                        </m:e>
                        <m:sub>
                          <m:r>
                            <a:rPr lang="en-US" altLang="zh-CN" sz="2000" i="1">
                              <a:solidFill>
                                <a:srgbClr val="000000"/>
                              </a:solidFill>
                              <a:latin typeface="Cambria Math" panose="02040503050406030204" pitchFamily="18" charset="0"/>
                            </a:rPr>
                            <m:t>3</m:t>
                          </m:r>
                        </m:sub>
                      </m:sSub>
                      <m:r>
                        <a:rPr lang="en-US" altLang="zh-CN" sz="2000" i="1" dirty="0">
                          <a:solidFill>
                            <a:srgbClr val="000000"/>
                          </a:solidFill>
                          <a:latin typeface="Cambria Math" panose="02040503050406030204" pitchFamily="18" charset="0"/>
                        </a:rPr>
                        <m:t>⊞</m:t>
                      </m:r>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𝑡</m:t>
                          </m:r>
                        </m:e>
                        <m:sub>
                          <m:r>
                            <a:rPr lang="en-US" altLang="zh-CN" sz="2000" i="1">
                              <a:solidFill>
                                <a:srgbClr val="000000"/>
                              </a:solidFill>
                              <a:latin typeface="Cambria Math" panose="02040503050406030204" pitchFamily="18" charset="0"/>
                            </a:rPr>
                            <m:t>4</m:t>
                          </m:r>
                        </m:sub>
                      </m:sSub>
                      <m:r>
                        <a:rPr lang="en-US" altLang="zh-CN" sz="2000" i="1">
                          <a:solidFill>
                            <a:srgbClr val="000000"/>
                          </a:solidFill>
                          <a:latin typeface="Cambria Math" panose="02040503050406030204" pitchFamily="18" charset="0"/>
                        </a:rPr>
                        <m:t>=−3.47</m:t>
                      </m:r>
                    </m:oMath>
                  </m:oMathPara>
                </a14:m>
                <a:endParaRPr lang="en-US" altLang="zh-CN" sz="2000" dirty="0">
                  <a:solidFill>
                    <a:srgbClr val="000000"/>
                  </a:solidFill>
                  <a:latin typeface="Times New Roman"/>
                  <a:ea typeface="黑体"/>
                </a:endParaRPr>
              </a:p>
              <a:p>
                <a:pPr marL="0" indent="0">
                  <a:lnSpc>
                    <a:spcPct val="200000"/>
                  </a:lnSpc>
                  <a:spcBef>
                    <a:spcPts val="0"/>
                  </a:spcBef>
                  <a:spcAft>
                    <a:spcPts val="0"/>
                  </a:spcAft>
                  <a:buNone/>
                </a:pPr>
                <a:r>
                  <a:rPr lang="zh-CN" altLang="en-US" sz="2000" dirty="0">
                    <a:solidFill>
                      <a:srgbClr val="000000"/>
                    </a:solidFill>
                    <a:latin typeface="Times New Roman"/>
                    <a:ea typeface="黑体"/>
                  </a:rPr>
                  <a:t>对</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𝑧</m:t>
                        </m:r>
                      </m:e>
                      <m:sub>
                        <m:r>
                          <a:rPr lang="en-US" altLang="zh-CN" sz="2000" i="1">
                            <a:solidFill>
                              <a:srgbClr val="000000"/>
                            </a:solidFill>
                            <a:latin typeface="Cambria Math" panose="02040503050406030204" pitchFamily="18" charset="0"/>
                          </a:rPr>
                          <m:t>3</m:t>
                        </m:r>
                      </m:sub>
                    </m:sSub>
                  </m:oMath>
                </a14:m>
                <a:r>
                  <a:rPr lang="zh-CN" altLang="en-US" sz="2000" dirty="0">
                    <a:solidFill>
                      <a:srgbClr val="000000"/>
                    </a:solidFill>
                    <a:latin typeface="Times New Roman"/>
                    <a:ea typeface="黑体"/>
                  </a:rPr>
                  <a:t>进行判决，得到</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3</m:t>
                        </m:r>
                      </m:sub>
                    </m:sSub>
                  </m:oMath>
                </a14:m>
                <a:r>
                  <a:rPr lang="en-US" altLang="zh-CN" sz="2000" dirty="0">
                    <a:solidFill>
                      <a:srgbClr val="000000"/>
                    </a:solidFill>
                    <a:latin typeface="Times New Roman"/>
                    <a:ea typeface="黑体"/>
                  </a:rPr>
                  <a:t>=1</a:t>
                </a:r>
                <a:r>
                  <a:rPr lang="zh-CN" altLang="en-US" sz="2000" dirty="0">
                    <a:solidFill>
                      <a:srgbClr val="000000"/>
                    </a:solidFill>
                    <a:latin typeface="Times New Roman"/>
                    <a:ea typeface="黑体"/>
                  </a:rPr>
                  <a:t>（解码错误）</a:t>
                </a:r>
                <a:endParaRPr lang="en-US" altLang="zh-CN" sz="2000" dirty="0">
                  <a:solidFill>
                    <a:srgbClr val="000000"/>
                  </a:solidFill>
                  <a:latin typeface="Times New Roman"/>
                  <a:ea typeface="黑体"/>
                </a:endParaRPr>
              </a:p>
              <a:p>
                <a:pPr marL="0" indent="0">
                  <a:lnSpc>
                    <a:spcPct val="200000"/>
                  </a:lnSpc>
                  <a:spcBef>
                    <a:spcPts val="0"/>
                  </a:spcBef>
                  <a:spcAft>
                    <a:spcPts val="0"/>
                  </a:spcAft>
                  <a:buNone/>
                </a:pPr>
                <a:r>
                  <a:rPr lang="zh-CN" altLang="en-US" sz="2000" dirty="0">
                    <a:solidFill>
                      <a:srgbClr val="000000"/>
                    </a:solidFill>
                    <a:highlight>
                      <a:srgbClr val="FFFF00"/>
                    </a:highlight>
                    <a:latin typeface="Times New Roman"/>
                    <a:ea typeface="黑体"/>
                  </a:rPr>
                  <a:t>第七步：</a:t>
                </a:r>
                <a:r>
                  <a:rPr lang="zh-CN" altLang="en-US" sz="2000" dirty="0">
                    <a:solidFill>
                      <a:srgbClr val="000000"/>
                    </a:solidFill>
                    <a:latin typeface="Times New Roman"/>
                    <a:ea typeface="黑体"/>
                  </a:rPr>
                  <a:t>与第三步类似，把上半部分（</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3</m:t>
                        </m:r>
                      </m:sub>
                    </m:sSub>
                  </m:oMath>
                </a14:m>
                <a:r>
                  <a:rPr lang="zh-CN" altLang="en-US" sz="2000" dirty="0">
                    <a:solidFill>
                      <a:srgbClr val="000000"/>
                    </a:solidFill>
                    <a:latin typeface="Times New Roman"/>
                    <a:ea typeface="黑体"/>
                  </a:rPr>
                  <a:t>）当做已知比特，去解出</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4</m:t>
                        </m:r>
                      </m:sub>
                    </m:sSub>
                  </m:oMath>
                </a14:m>
                <a:r>
                  <a:rPr lang="zh-CN" altLang="en-US" sz="2000" dirty="0">
                    <a:solidFill>
                      <a:srgbClr val="000000"/>
                    </a:solidFill>
                    <a:latin typeface="Times New Roman"/>
                    <a:ea typeface="黑体"/>
                  </a:rPr>
                  <a:t>。</a:t>
                </a:r>
                <a:endParaRPr lang="en-US" altLang="zh-CN" sz="2000" dirty="0">
                  <a:solidFill>
                    <a:srgbClr val="000000"/>
                  </a:solidFill>
                  <a:latin typeface="Times New Roman"/>
                  <a:ea typeface="黑体"/>
                </a:endParaRPr>
              </a:p>
              <a:p>
                <a:pPr marL="0" indent="0" algn="ctr">
                  <a:lnSpc>
                    <a:spcPct val="200000"/>
                  </a:lnSpc>
                  <a:spcBef>
                    <a:spcPts val="0"/>
                  </a:spcBef>
                  <a:spcAft>
                    <a:spcPts val="0"/>
                  </a:spcAft>
                  <a:buNone/>
                </a:pPr>
                <a14:m>
                  <m:oMath xmlns:m="http://schemas.openxmlformats.org/officeDocument/2006/math">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z</m:t>
                        </m:r>
                      </m:e>
                      <m:sub>
                        <m:r>
                          <a:rPr lang="en-US" altLang="zh-CN" sz="2000" i="1">
                            <a:solidFill>
                              <a:srgbClr val="000000"/>
                            </a:solidFill>
                            <a:latin typeface="Cambria Math" panose="02040503050406030204" pitchFamily="18" charset="0"/>
                          </a:rPr>
                          <m:t>4</m:t>
                        </m:r>
                      </m:sub>
                    </m:sSub>
                    <m:r>
                      <a:rPr lang="en-US" altLang="zh-CN" sz="2000" i="1">
                        <a:solidFill>
                          <a:srgbClr val="000000"/>
                        </a:solidFill>
                        <a:latin typeface="Cambria Math" panose="02040503050406030204" pitchFamily="18" charset="0"/>
                      </a:rPr>
                      <m:t>=</m:t>
                    </m:r>
                  </m:oMath>
                </a14:m>
                <a:r>
                  <a:rPr lang="en-US" altLang="zh-CN" sz="2000" dirty="0">
                    <a:solidFill>
                      <a:srgbClr val="000000"/>
                    </a:solidFill>
                    <a:latin typeface="Times New Roman"/>
                    <a:ea typeface="黑体"/>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i="1">
                            <a:solidFill>
                              <a:srgbClr val="000000"/>
                            </a:solidFill>
                            <a:latin typeface="Cambria Math" panose="02040503050406030204" pitchFamily="18" charset="0"/>
                          </a:rPr>
                          <m:t>4</m:t>
                        </m:r>
                      </m:sub>
                    </m:sSub>
                  </m:oMath>
                </a14:m>
                <a:r>
                  <a:rPr lang="en-US" altLang="zh-CN" sz="2000" dirty="0">
                    <a:solidFill>
                      <a:srgbClr val="000000"/>
                    </a:solidFill>
                    <a:latin typeface="Times New Roman"/>
                    <a:ea typeface="黑体"/>
                  </a:rPr>
                  <a:t>+</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1-2×</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i="1">
                            <a:solidFill>
                              <a:srgbClr val="000000"/>
                            </a:solidFill>
                            <a:latin typeface="Cambria Math" panose="02040503050406030204" pitchFamily="18" charset="0"/>
                          </a:rPr>
                          <m:t>3</m:t>
                        </m:r>
                      </m:sub>
                    </m:sSub>
                    <m:r>
                      <a:rPr lang="zh-CN" altLang="en-US" sz="2000" i="1">
                        <a:solidFill>
                          <a:srgbClr val="000000"/>
                        </a:solidFill>
                        <a:latin typeface="Cambria Math" panose="02040503050406030204" pitchFamily="18" charset="0"/>
                      </a:rPr>
                      <m:t>）</m:t>
                    </m:r>
                  </m:oMath>
                </a14:m>
                <a:r>
                  <a:rPr lang="en-US" altLang="zh-CN" sz="2000" dirty="0">
                    <a:solidFill>
                      <a:srgbClr val="000000"/>
                    </a:solidFill>
                    <a:latin typeface="Times New Roman"/>
                    <a:ea typeface="黑体"/>
                  </a:rPr>
                  <a:t>×</a:t>
                </a:r>
                <a:r>
                  <a:rPr lang="zh-CN" altLang="en-US" sz="2000" dirty="0">
                    <a:solidFill>
                      <a:srgbClr val="000000"/>
                    </a:solidFill>
                    <a:latin typeface="Times New Roman"/>
                    <a:ea typeface="黑体"/>
                  </a:rPr>
                  <a:t> </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t</m:t>
                        </m:r>
                      </m:e>
                      <m:sub>
                        <m:r>
                          <a:rPr lang="en-US" altLang="zh-CN" sz="2000" i="1">
                            <a:solidFill>
                              <a:srgbClr val="000000"/>
                            </a:solidFill>
                            <a:latin typeface="Cambria Math" panose="02040503050406030204" pitchFamily="18" charset="0"/>
                          </a:rPr>
                          <m:t>3</m:t>
                        </m:r>
                      </m:sub>
                    </m:sSub>
                  </m:oMath>
                </a14:m>
                <a:r>
                  <a:rPr lang="en-US" altLang="zh-CN" sz="2000" dirty="0">
                    <a:solidFill>
                      <a:srgbClr val="000000"/>
                    </a:solidFill>
                    <a:latin typeface="Times New Roman"/>
                    <a:ea typeface="黑体"/>
                  </a:rPr>
                  <a:t>=-3.50+</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1-2×1</a:t>
                </a:r>
                <a:r>
                  <a:rPr lang="zh-CN" altLang="en-US" sz="2000" dirty="0">
                    <a:solidFill>
                      <a:srgbClr val="000000"/>
                    </a:solidFill>
                    <a:latin typeface="Times New Roman"/>
                    <a:ea typeface="黑体"/>
                  </a:rPr>
                  <a:t>）</a:t>
                </a:r>
                <a:r>
                  <a:rPr lang="en-US" altLang="zh-CN" sz="2000" dirty="0">
                    <a:solidFill>
                      <a:srgbClr val="000000"/>
                    </a:solidFill>
                    <a:latin typeface="Times New Roman"/>
                    <a:ea typeface="黑体"/>
                  </a:rPr>
                  <a:t>×7.00=-10.50</a:t>
                </a:r>
              </a:p>
              <a:p>
                <a:pPr marL="0" indent="0">
                  <a:lnSpc>
                    <a:spcPct val="200000"/>
                  </a:lnSpc>
                  <a:spcBef>
                    <a:spcPts val="0"/>
                  </a:spcBef>
                  <a:spcAft>
                    <a:spcPts val="0"/>
                  </a:spcAft>
                  <a:buNone/>
                </a:pPr>
                <a:r>
                  <a:rPr lang="zh-CN" altLang="en-US" sz="2000" dirty="0">
                    <a:solidFill>
                      <a:srgbClr val="000000"/>
                    </a:solidFill>
                    <a:latin typeface="Times New Roman"/>
                    <a:ea typeface="黑体"/>
                  </a:rPr>
                  <a:t>对</a:t>
                </a:r>
                <a14:m>
                  <m:oMath xmlns:m="http://schemas.openxmlformats.org/officeDocument/2006/math">
                    <m:sSub>
                      <m:sSubPr>
                        <m:ctrlPr>
                          <a:rPr lang="en-US" altLang="zh-CN"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z</m:t>
                        </m:r>
                      </m:e>
                      <m:sub>
                        <m:r>
                          <a:rPr lang="en-US" altLang="zh-CN" sz="2000" i="1">
                            <a:solidFill>
                              <a:srgbClr val="000000"/>
                            </a:solidFill>
                            <a:latin typeface="Cambria Math" panose="02040503050406030204" pitchFamily="18" charset="0"/>
                          </a:rPr>
                          <m:t>4</m:t>
                        </m:r>
                      </m:sub>
                    </m:sSub>
                  </m:oMath>
                </a14:m>
                <a:r>
                  <a:rPr lang="zh-CN" altLang="en-US" sz="2000" dirty="0">
                    <a:solidFill>
                      <a:srgbClr val="000000"/>
                    </a:solidFill>
                    <a:latin typeface="Times New Roman"/>
                    <a:ea typeface="黑体"/>
                  </a:rPr>
                  <a:t>进行判决，得到</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4</m:t>
                        </m:r>
                      </m:sub>
                    </m:sSub>
                  </m:oMath>
                </a14:m>
                <a:r>
                  <a:rPr lang="en-US" altLang="zh-CN" sz="2000" dirty="0">
                    <a:solidFill>
                      <a:srgbClr val="000000"/>
                    </a:solidFill>
                    <a:latin typeface="Times New Roman"/>
                    <a:ea typeface="黑体"/>
                  </a:rPr>
                  <a:t>=1</a:t>
                </a:r>
                <a:r>
                  <a:rPr lang="zh-CN" altLang="en-US" sz="2000" dirty="0">
                    <a:solidFill>
                      <a:srgbClr val="000000"/>
                    </a:solidFill>
                    <a:latin typeface="Times New Roman"/>
                    <a:ea typeface="黑体"/>
                  </a:rPr>
                  <a:t>（解码正确）</a:t>
                </a:r>
                <a:endParaRPr lang="en-US" altLang="zh-CN" sz="2000" dirty="0">
                  <a:solidFill>
                    <a:srgbClr val="000000"/>
                  </a:solidFill>
                  <a:latin typeface="Times New Roman"/>
                  <a:ea typeface="黑体"/>
                </a:endParaRPr>
              </a:p>
              <a:p>
                <a:pPr marL="0" indent="0">
                  <a:lnSpc>
                    <a:spcPct val="150000"/>
                  </a:lnSpc>
                  <a:spcBef>
                    <a:spcPts val="0"/>
                  </a:spcBef>
                  <a:spcAft>
                    <a:spcPts val="0"/>
                  </a:spcAft>
                  <a:buNone/>
                </a:pPr>
                <a:endParaRPr lang="en-US" altLang="zh-CN" sz="2000" dirty="0">
                  <a:solidFill>
                    <a:srgbClr val="000000"/>
                  </a:solidFill>
                  <a:latin typeface="Times New Roman"/>
                  <a:ea typeface="黑体"/>
                </a:endParaRPr>
              </a:p>
              <a:p>
                <a:pPr marL="0" indent="0">
                  <a:lnSpc>
                    <a:spcPct val="150000"/>
                  </a:lnSpc>
                  <a:spcBef>
                    <a:spcPts val="0"/>
                  </a:spcBef>
                  <a:spcAft>
                    <a:spcPts val="0"/>
                  </a:spcAft>
                  <a:buNone/>
                </a:pPr>
                <a:endParaRPr lang="en-US" altLang="zh-CN" sz="2000" dirty="0">
                  <a:solidFill>
                    <a:srgbClr val="000000"/>
                  </a:solidFill>
                  <a:latin typeface="黑体"/>
                  <a:ea typeface="黑体"/>
                </a:endParaRPr>
              </a:p>
              <a:p>
                <a:pPr marL="0" indent="0">
                  <a:lnSpc>
                    <a:spcPct val="150000"/>
                  </a:lnSpc>
                  <a:spcBef>
                    <a:spcPts val="0"/>
                  </a:spcBef>
                  <a:spcAft>
                    <a:spcPts val="0"/>
                  </a:spcAft>
                  <a:buNone/>
                </a:pPr>
                <a:endParaRPr lang="en-US" altLang="zh-CN" sz="2000" dirty="0">
                  <a:solidFill>
                    <a:srgbClr val="000000"/>
                  </a:solidFill>
                  <a:latin typeface="黑体"/>
                  <a:ea typeface="黑体"/>
                </a:endParaRPr>
              </a:p>
            </p:txBody>
          </p:sp>
        </mc:Choice>
        <mc:Fallback xmlns="">
          <p:sp>
            <p:nvSpPr>
              <p:cNvPr id="4" name="内容占位符 2"/>
              <p:cNvSpPr txBox="1">
                <a:spLocks noRot="1" noChangeAspect="1" noMove="1" noResize="1" noEditPoints="1" noAdjustHandles="1" noChangeArrowheads="1" noChangeShapeType="1" noTextEdit="1"/>
              </p:cNvSpPr>
              <p:nvPr/>
            </p:nvSpPr>
            <p:spPr>
              <a:xfrm>
                <a:off x="1813802" y="1524050"/>
                <a:ext cx="8854198" cy="4038494"/>
              </a:xfrm>
              <a:prstGeom prst="rect">
                <a:avLst/>
              </a:prstGeom>
              <a:blipFill>
                <a:blip r:embed="rId2"/>
                <a:stretch>
                  <a:fillRect l="-758"/>
                </a:stretch>
              </a:blipFill>
              <a:ln w="9525">
                <a:noFill/>
              </a:ln>
            </p:spPr>
            <p:txBody>
              <a:bodyPr/>
              <a:lstStyle/>
              <a:p>
                <a:r>
                  <a:rPr lang="zh-CN" altLang="en-US">
                    <a:noFill/>
                  </a:rPr>
                  <a:t> </a:t>
                </a:r>
              </a:p>
            </p:txBody>
          </p:sp>
        </mc:Fallback>
      </mc:AlternateContent>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545" y="152486"/>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解码示例</a:t>
            </a:r>
          </a:p>
        </p:txBody>
      </p:sp>
      <mc:AlternateContent xmlns:mc="http://schemas.openxmlformats.org/markup-compatibility/2006" xmlns:a14="http://schemas.microsoft.com/office/drawing/2010/main">
        <mc:Choice Requires="a14">
          <p:sp>
            <p:nvSpPr>
              <p:cNvPr id="4" name="内容占位符 2"/>
              <p:cNvSpPr txBox="1"/>
              <p:nvPr/>
            </p:nvSpPr>
            <p:spPr>
              <a:xfrm>
                <a:off x="1713685" y="1333555"/>
                <a:ext cx="8854198" cy="4190890"/>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endParaRPr lang="en-US" altLang="zh-CN" sz="2000" dirty="0">
                  <a:solidFill>
                    <a:srgbClr val="000000"/>
                  </a:solidFill>
                  <a:latin typeface="黑体"/>
                  <a:ea typeface="黑体"/>
                </a:endParaRPr>
              </a:p>
              <a:p>
                <a:pPr marL="0" indent="0">
                  <a:lnSpc>
                    <a:spcPct val="200000"/>
                  </a:lnSpc>
                  <a:spcBef>
                    <a:spcPts val="0"/>
                  </a:spcBef>
                  <a:spcAft>
                    <a:spcPts val="0"/>
                  </a:spcAft>
                  <a:buNone/>
                </a:pPr>
                <a:r>
                  <a:rPr lang="zh-CN" altLang="en-US" sz="2000" dirty="0">
                    <a:solidFill>
                      <a:srgbClr val="000000"/>
                    </a:solidFill>
                    <a:latin typeface="Times New Roman"/>
                    <a:ea typeface="黑体"/>
                  </a:rPr>
                  <a:t> 小结：</a:t>
                </a:r>
                <a:endParaRPr lang="en-US" altLang="zh-CN" sz="2000" dirty="0">
                  <a:solidFill>
                    <a:srgbClr val="000000"/>
                  </a:solidFill>
                  <a:latin typeface="Times New Roman"/>
                  <a:ea typeface="黑体"/>
                </a:endParaRPr>
              </a:p>
              <a:p>
                <a:pPr marL="0" indent="0">
                  <a:lnSpc>
                    <a:spcPct val="200000"/>
                  </a:lnSpc>
                  <a:spcBef>
                    <a:spcPts val="0"/>
                  </a:spcBef>
                  <a:spcAft>
                    <a:spcPts val="0"/>
                  </a:spcAft>
                  <a:buNone/>
                </a:pPr>
                <a:r>
                  <a:rPr lang="en-US" altLang="zh-CN" sz="2000" dirty="0">
                    <a:solidFill>
                      <a:srgbClr val="000000"/>
                    </a:solidFill>
                    <a:latin typeface="Times New Roman"/>
                    <a:ea typeface="黑体"/>
                  </a:rPr>
                  <a:t>       </a:t>
                </a:r>
                <a:r>
                  <a:rPr lang="zh-CN" altLang="en-US" sz="2000" dirty="0">
                    <a:solidFill>
                      <a:srgbClr val="000000"/>
                    </a:solidFill>
                    <a:latin typeface="Times New Roman"/>
                    <a:ea typeface="黑体"/>
                  </a:rPr>
                  <a:t>上述解码方法是串行进行的（先解</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1</m:t>
                        </m:r>
                      </m:sub>
                    </m:sSub>
                    <m:r>
                      <a:rPr lang="en-US" altLang="zh-CN" sz="2000" i="1">
                        <a:solidFill>
                          <a:srgbClr val="000000"/>
                        </a:solidFill>
                        <a:latin typeface="Cambria Math" panose="02040503050406030204" pitchFamily="18" charset="0"/>
                      </a:rPr>
                      <m:t> </m:t>
                    </m:r>
                  </m:oMath>
                </a14:m>
                <a:r>
                  <a:rPr lang="zh-CN" altLang="en-US" sz="2000" dirty="0">
                    <a:solidFill>
                      <a:srgbClr val="000000"/>
                    </a:solidFill>
                    <a:latin typeface="Times New Roman"/>
                    <a:ea typeface="黑体"/>
                  </a:rPr>
                  <a:t>，然后解</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2</m:t>
                        </m:r>
                      </m:sub>
                    </m:sSub>
                    <m:r>
                      <a:rPr lang="en-US" altLang="zh-CN" sz="2000" i="1">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oMath>
                </a14:m>
                <a:r>
                  <a:rPr lang="zh-CN" altLang="en-US" sz="2000" dirty="0">
                    <a:solidFill>
                      <a:srgbClr val="000000"/>
                    </a:solidFill>
                    <a:latin typeface="Times New Roman"/>
                    <a:ea typeface="黑体"/>
                  </a:rPr>
                  <a:t>再解</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3</m:t>
                        </m:r>
                      </m:sub>
                    </m:sSub>
                    <m:r>
                      <a:rPr lang="en-US" altLang="zh-CN" sz="2000" i="1">
                        <a:solidFill>
                          <a:srgbClr val="000000"/>
                        </a:solidFill>
                        <a:latin typeface="Cambria Math" panose="02040503050406030204" pitchFamily="18" charset="0"/>
                      </a:rPr>
                      <m:t> </m:t>
                    </m:r>
                  </m:oMath>
                </a14:m>
                <a:r>
                  <a:rPr lang="zh-CN" altLang="en-US" sz="2000" dirty="0">
                    <a:solidFill>
                      <a:srgbClr val="000000"/>
                    </a:solidFill>
                    <a:latin typeface="Times New Roman"/>
                    <a:ea typeface="黑体"/>
                  </a:rPr>
                  <a:t>，最后解</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4</m:t>
                        </m:r>
                      </m:sub>
                    </m:sSub>
                    <m:r>
                      <a:rPr lang="en-US" altLang="zh-CN" sz="2000" i="1">
                        <a:solidFill>
                          <a:srgbClr val="000000"/>
                        </a:solidFill>
                        <a:latin typeface="Cambria Math" panose="02040503050406030204" pitchFamily="18" charset="0"/>
                      </a:rPr>
                      <m:t> </m:t>
                    </m:r>
                  </m:oMath>
                </a14:m>
                <a:r>
                  <a:rPr lang="zh-CN" altLang="en-US" sz="2000" dirty="0">
                    <a:solidFill>
                      <a:srgbClr val="000000"/>
                    </a:solidFill>
                    <a:latin typeface="Times New Roman"/>
                    <a:ea typeface="黑体"/>
                  </a:rPr>
                  <a:t>）并且在解码后面的比特（如</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2</m:t>
                        </m:r>
                      </m:sub>
                    </m:sSub>
                  </m:oMath>
                </a14:m>
                <a:r>
                  <a:rPr lang="zh-CN" altLang="en-US" sz="2000" dirty="0">
                    <a:solidFill>
                      <a:srgbClr val="000000"/>
                    </a:solidFill>
                    <a:latin typeface="Times New Roman"/>
                    <a:ea typeface="黑体"/>
                  </a:rPr>
                  <a:t>）时，充分考虑了前面比特（ </a:t>
                </a:r>
                <a14:m>
                  <m:oMath xmlns:m="http://schemas.openxmlformats.org/officeDocument/2006/math">
                    <m:sSub>
                      <m:sSubPr>
                        <m:ctrlPr>
                          <a:rPr lang="zh-CN" altLang="en-US" sz="2000" i="1">
                            <a:solidFill>
                              <a:srgbClr val="000000"/>
                            </a:solidFill>
                            <a:latin typeface="Cambria Math" panose="02040503050406030204" pitchFamily="18" charset="0"/>
                          </a:rPr>
                        </m:ctrlPr>
                      </m:sSubPr>
                      <m:e>
                        <m:r>
                          <m:rPr>
                            <m:sty m:val="p"/>
                          </m:rPr>
                          <a:rPr lang="en-US" altLang="zh-CN" sz="2000" i="1">
                            <a:solidFill>
                              <a:srgbClr val="000000"/>
                            </a:solidFill>
                            <a:latin typeface="Cambria Math" panose="02040503050406030204" pitchFamily="18" charset="0"/>
                          </a:rPr>
                          <m:t>u</m:t>
                        </m:r>
                      </m:e>
                      <m:sub>
                        <m:r>
                          <a:rPr lang="en-US" altLang="zh-CN" sz="2000">
                            <a:solidFill>
                              <a:srgbClr val="000000"/>
                            </a:solidFill>
                            <a:latin typeface="Cambria Math" panose="02040503050406030204" pitchFamily="18" charset="0"/>
                          </a:rPr>
                          <m:t>1</m:t>
                        </m:r>
                      </m:sub>
                    </m:sSub>
                    <m:r>
                      <a:rPr lang="en-US" altLang="zh-CN" sz="2000" i="1">
                        <a:solidFill>
                          <a:srgbClr val="000000"/>
                        </a:solidFill>
                        <a:latin typeface="Cambria Math" panose="02040503050406030204" pitchFamily="18" charset="0"/>
                      </a:rPr>
                      <m:t> </m:t>
                    </m:r>
                  </m:oMath>
                </a14:m>
                <a:r>
                  <a:rPr lang="zh-CN" altLang="en-US" sz="2000" dirty="0">
                    <a:solidFill>
                      <a:srgbClr val="000000"/>
                    </a:solidFill>
                    <a:latin typeface="Times New Roman"/>
                    <a:ea typeface="黑体"/>
                  </a:rPr>
                  <a:t>）的影响，从而逐步消除前面比特的影响，故称之为串行消除算法。</a:t>
                </a:r>
                <a:endParaRPr lang="en-US" altLang="zh-CN" sz="2000" dirty="0">
                  <a:solidFill>
                    <a:srgbClr val="000000"/>
                  </a:solidFill>
                  <a:latin typeface="Times New Roman"/>
                  <a:ea typeface="黑体"/>
                </a:endParaRPr>
              </a:p>
              <a:p>
                <a:pPr marL="0" indent="0">
                  <a:lnSpc>
                    <a:spcPct val="200000"/>
                  </a:lnSpc>
                  <a:spcBef>
                    <a:spcPts val="0"/>
                  </a:spcBef>
                  <a:spcAft>
                    <a:spcPts val="0"/>
                  </a:spcAft>
                  <a:buNone/>
                </a:pPr>
                <a:r>
                  <a:rPr lang="zh-CN" altLang="en-US" sz="2000" dirty="0">
                    <a:solidFill>
                      <a:srgbClr val="000000"/>
                    </a:solidFill>
                    <a:latin typeface="Times New Roman"/>
                    <a:ea typeface="黑体"/>
                  </a:rPr>
                  <a:t>       当母码长度更大的时候，需要执行多次上面这些步骤。</a:t>
                </a:r>
                <a:endParaRPr lang="en-US" altLang="zh-CN" sz="2000" dirty="0">
                  <a:solidFill>
                    <a:srgbClr val="000000"/>
                  </a:solidFill>
                  <a:latin typeface="Times New Roman"/>
                  <a:ea typeface="黑体"/>
                </a:endParaRPr>
              </a:p>
              <a:p>
                <a:pPr marL="0" indent="0">
                  <a:lnSpc>
                    <a:spcPct val="150000"/>
                  </a:lnSpc>
                  <a:spcBef>
                    <a:spcPts val="0"/>
                  </a:spcBef>
                  <a:spcAft>
                    <a:spcPts val="0"/>
                  </a:spcAft>
                  <a:buNone/>
                </a:pPr>
                <a:endParaRPr lang="en-US" altLang="zh-CN" sz="2000" dirty="0">
                  <a:solidFill>
                    <a:srgbClr val="000000"/>
                  </a:solidFill>
                  <a:latin typeface="黑体"/>
                  <a:ea typeface="黑体"/>
                </a:endParaRPr>
              </a:p>
              <a:p>
                <a:pPr marL="0" indent="0">
                  <a:lnSpc>
                    <a:spcPct val="150000"/>
                  </a:lnSpc>
                  <a:spcBef>
                    <a:spcPts val="0"/>
                  </a:spcBef>
                  <a:spcAft>
                    <a:spcPts val="0"/>
                  </a:spcAft>
                  <a:buNone/>
                </a:pPr>
                <a:endParaRPr lang="en-US" altLang="zh-CN" sz="2000" dirty="0">
                  <a:solidFill>
                    <a:srgbClr val="000000"/>
                  </a:solidFill>
                  <a:latin typeface="黑体"/>
                  <a:ea typeface="黑体"/>
                </a:endParaRPr>
              </a:p>
            </p:txBody>
          </p:sp>
        </mc:Choice>
        <mc:Fallback xmlns="">
          <p:sp>
            <p:nvSpPr>
              <p:cNvPr id="4" name="内容占位符 2"/>
              <p:cNvSpPr txBox="1">
                <a:spLocks noRot="1" noChangeAspect="1" noMove="1" noResize="1" noEditPoints="1" noAdjustHandles="1" noChangeArrowheads="1" noChangeShapeType="1" noTextEdit="1"/>
              </p:cNvSpPr>
              <p:nvPr/>
            </p:nvSpPr>
            <p:spPr>
              <a:xfrm>
                <a:off x="1713685" y="1333555"/>
                <a:ext cx="8854198" cy="4190890"/>
              </a:xfrm>
              <a:prstGeom prst="rect">
                <a:avLst/>
              </a:prstGeom>
              <a:blipFill>
                <a:blip r:embed="rId2"/>
                <a:stretch>
                  <a:fillRect l="-688"/>
                </a:stretch>
              </a:blipFill>
              <a:ln w="9525">
                <a:noFill/>
              </a:ln>
            </p:spPr>
            <p:txBody>
              <a:bodyPr/>
              <a:lstStyle/>
              <a:p>
                <a:r>
                  <a:rPr lang="zh-CN" altLang="en-US">
                    <a:noFill/>
                  </a:rPr>
                  <a:t> </a:t>
                </a:r>
              </a:p>
            </p:txBody>
          </p:sp>
        </mc:Fallback>
      </mc:AlternateContent>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02906" y="190555"/>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解码算法</a:t>
            </a:r>
            <a:endParaRPr lang="zh-CN" altLang="en-US" sz="2400" dirty="0">
              <a:sym typeface="+mn-ea"/>
            </a:endParaRPr>
          </a:p>
        </p:txBody>
      </p:sp>
      <p:sp>
        <p:nvSpPr>
          <p:cNvPr id="5" name="文本框 4"/>
          <p:cNvSpPr txBox="1"/>
          <p:nvPr/>
        </p:nvSpPr>
        <p:spPr>
          <a:xfrm>
            <a:off x="1771734" y="1219259"/>
            <a:ext cx="8648533" cy="955903"/>
          </a:xfrm>
          <a:prstGeom prst="rect">
            <a:avLst/>
          </a:prstGeom>
          <a:noFill/>
        </p:spPr>
        <p:txBody>
          <a:bodyPr wrap="square">
            <a:spAutoFit/>
          </a:bodyPr>
          <a:lstStyle/>
          <a:p>
            <a:pPr eaLnBrk="0" fontAlgn="base" hangingPunct="0">
              <a:lnSpc>
                <a:spcPct val="150000"/>
              </a:lnSpc>
              <a:spcBef>
                <a:spcPct val="0"/>
              </a:spcBef>
              <a:spcAft>
                <a:spcPct val="0"/>
              </a:spcAft>
            </a:pPr>
            <a:r>
              <a:rPr lang="zh-CN" altLang="en-US" sz="2000" dirty="0">
                <a:solidFill>
                  <a:srgbClr val="000000"/>
                </a:solidFill>
                <a:latin typeface="Times New Roman"/>
                <a:ea typeface="黑体" panose="02010609060101010101" pitchFamily="49" charset="-122"/>
              </a:rPr>
              <a:t>       普通</a:t>
            </a:r>
            <a:r>
              <a:rPr lang="en-US" altLang="zh-CN" sz="2000" dirty="0">
                <a:solidFill>
                  <a:srgbClr val="000000"/>
                </a:solidFill>
                <a:latin typeface="Times New Roman"/>
                <a:ea typeface="黑体" panose="02010609060101010101" pitchFamily="49" charset="-122"/>
              </a:rPr>
              <a:t>SC</a:t>
            </a:r>
            <a:r>
              <a:rPr lang="zh-CN" altLang="en-US" sz="2000" dirty="0">
                <a:solidFill>
                  <a:srgbClr val="000000"/>
                </a:solidFill>
                <a:latin typeface="Times New Roman"/>
                <a:ea typeface="黑体" panose="02010609060101010101" pitchFamily="49" charset="-122"/>
              </a:rPr>
              <a:t>算法解码方式主要通过后验概率进行判决，总是通过最大后验概率的路径进行分析，但通过</a:t>
            </a:r>
            <a:r>
              <a:rPr lang="en-US" altLang="zh-CN" sz="2000" dirty="0">
                <a:solidFill>
                  <a:srgbClr val="000000"/>
                </a:solidFill>
                <a:latin typeface="Times New Roman"/>
                <a:ea typeface="黑体" panose="02010609060101010101" pitchFamily="49" charset="-122"/>
              </a:rPr>
              <a:t>SC</a:t>
            </a:r>
            <a:r>
              <a:rPr lang="zh-CN" altLang="en-US" sz="2000" dirty="0">
                <a:solidFill>
                  <a:srgbClr val="000000"/>
                </a:solidFill>
                <a:latin typeface="Times New Roman"/>
                <a:ea typeface="黑体" panose="02010609060101010101" pitchFamily="49" charset="-122"/>
              </a:rPr>
              <a:t>算法，有时可能会走错。（码树进行表示）</a:t>
            </a:r>
            <a:endParaRPr lang="zh-CN" altLang="en-US" dirty="0">
              <a:solidFill>
                <a:srgbClr val="000000"/>
              </a:solidFill>
              <a:latin typeface="Times New Roman"/>
              <a:ea typeface="宋体" panose="02010600030101010101" pitchFamily="2" charset="-122"/>
            </a:endParaRPr>
          </a:p>
        </p:txBody>
      </p:sp>
      <p:pic>
        <p:nvPicPr>
          <p:cNvPr id="6" name="图片 5"/>
          <p:cNvPicPr>
            <a:picLocks noChangeAspect="1"/>
          </p:cNvPicPr>
          <p:nvPr/>
        </p:nvPicPr>
        <p:blipFill>
          <a:blip r:embed="rId2"/>
          <a:stretch>
            <a:fillRect/>
          </a:stretch>
        </p:blipFill>
        <p:spPr>
          <a:xfrm>
            <a:off x="2057445" y="2175167"/>
            <a:ext cx="8077108" cy="4108688"/>
          </a:xfrm>
          <a:prstGeom prst="rect">
            <a:avLst/>
          </a:prstGeom>
        </p:spPr>
      </p:pic>
      <p:sp>
        <p:nvSpPr>
          <p:cNvPr id="7" name="文本框 6"/>
          <p:cNvSpPr txBox="1"/>
          <p:nvPr/>
        </p:nvSpPr>
        <p:spPr>
          <a:xfrm>
            <a:off x="5486416" y="6386963"/>
            <a:ext cx="1904950" cy="369332"/>
          </a:xfrm>
          <a:prstGeom prst="rect">
            <a:avLst/>
          </a:prstGeom>
          <a:noFill/>
        </p:spPr>
        <p:txBody>
          <a:bodyPr wrap="square" rtlCol="0" anchor="t">
            <a:spAutoFit/>
          </a:bodyPr>
          <a:lstStyle/>
          <a:p>
            <a:pPr eaLnBrk="0" fontAlgn="base" hangingPunct="0">
              <a:spcBef>
                <a:spcPct val="0"/>
              </a:spcBef>
              <a:spcAft>
                <a:spcPct val="0"/>
              </a:spcAft>
            </a:pPr>
            <a:r>
              <a:rPr lang="en-US" altLang="zh-CN" b="1" dirty="0">
                <a:solidFill>
                  <a:srgbClr val="3333CC"/>
                </a:solidFill>
                <a:latin typeface="黑体" panose="02010609060101010101" pitchFamily="49" charset="-122"/>
                <a:ea typeface="黑体" panose="02010609060101010101" pitchFamily="49" charset="-122"/>
                <a:sym typeface="+mn-ea"/>
              </a:rPr>
              <a:t>SC</a:t>
            </a:r>
            <a:r>
              <a:rPr lang="zh-CN" altLang="en-US" b="1" dirty="0">
                <a:solidFill>
                  <a:srgbClr val="3333CC"/>
                </a:solidFill>
                <a:latin typeface="黑体" panose="02010609060101010101" pitchFamily="49" charset="-122"/>
                <a:ea typeface="黑体" panose="02010609060101010101" pitchFamily="49" charset="-122"/>
                <a:sym typeface="+mn-ea"/>
              </a:rPr>
              <a:t>算法码树表示</a:t>
            </a: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43763" y="15248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解码算法</a:t>
            </a:r>
            <a:endParaRPr lang="zh-CN" altLang="en-US" sz="2400" dirty="0">
              <a:sym typeface="+mn-ea"/>
            </a:endParaRPr>
          </a:p>
        </p:txBody>
      </p:sp>
      <mc:AlternateContent xmlns:mc="http://schemas.openxmlformats.org/markup-compatibility/2006" xmlns:a14="http://schemas.microsoft.com/office/drawing/2010/main">
        <mc:Choice Requires="a14">
          <p:sp>
            <p:nvSpPr>
              <p:cNvPr id="5" name="文本框 4"/>
              <p:cNvSpPr txBox="1"/>
              <p:nvPr/>
            </p:nvSpPr>
            <p:spPr>
              <a:xfrm>
                <a:off x="297823" y="664655"/>
                <a:ext cx="6060447" cy="5562998"/>
              </a:xfrm>
              <a:prstGeom prst="rect">
                <a:avLst/>
              </a:prstGeom>
              <a:noFill/>
            </p:spPr>
            <p:txBody>
              <a:bodyPr wrap="square">
                <a:spAutoFit/>
              </a:bodyPr>
              <a:lstStyle/>
              <a:p>
                <a:pPr eaLnBrk="0" fontAlgn="base" hangingPunct="0">
                  <a:lnSpc>
                    <a:spcPct val="200000"/>
                  </a:lnSpc>
                  <a:spcBef>
                    <a:spcPct val="0"/>
                  </a:spcBef>
                  <a:spcAft>
                    <a:spcPct val="0"/>
                  </a:spcAft>
                </a:pPr>
                <a:r>
                  <a:rPr lang="zh-CN" altLang="en-US" sz="2000" dirty="0">
                    <a:solidFill>
                      <a:srgbClr val="000000"/>
                    </a:solidFill>
                    <a:highlight>
                      <a:srgbClr val="FFFF00"/>
                    </a:highlight>
                    <a:latin typeface="Times New Roman"/>
                    <a:ea typeface="黑体" panose="02010609060101010101" pitchFamily="49" charset="-122"/>
                  </a:rPr>
                  <a:t>第二种方式</a:t>
                </a:r>
                <a:r>
                  <a:rPr lang="en-US" altLang="zh-CN" sz="2000" dirty="0">
                    <a:solidFill>
                      <a:srgbClr val="000000"/>
                    </a:solidFill>
                    <a:highlight>
                      <a:srgbClr val="FFFF00"/>
                    </a:highlight>
                    <a:latin typeface="Times New Roman"/>
                    <a:ea typeface="黑体" panose="02010609060101010101" pitchFamily="49" charset="-122"/>
                  </a:rPr>
                  <a:t>:SC-L</a:t>
                </a:r>
                <a:r>
                  <a:rPr lang="zh-CN" altLang="en-US" sz="2000" dirty="0">
                    <a:solidFill>
                      <a:srgbClr val="000000"/>
                    </a:solidFill>
                    <a:highlight>
                      <a:srgbClr val="FFFF00"/>
                    </a:highlight>
                    <a:latin typeface="Times New Roman"/>
                    <a:ea typeface="黑体" panose="02010609060101010101" pitchFamily="49" charset="-122"/>
                  </a:rPr>
                  <a:t>算法</a:t>
                </a:r>
                <a:endParaRPr lang="en-US" altLang="zh-CN" sz="2000" dirty="0">
                  <a:solidFill>
                    <a:srgbClr val="000000"/>
                  </a:solidFill>
                  <a:highlight>
                    <a:srgbClr val="FFFF00"/>
                  </a:highlight>
                  <a:latin typeface="Times New Roman"/>
                  <a:ea typeface="黑体" panose="02010609060101010101" pitchFamily="49" charset="-122"/>
                </a:endParaRPr>
              </a:p>
              <a:p>
                <a:pPr eaLnBrk="0" fontAlgn="base" hangingPunct="0">
                  <a:lnSpc>
                    <a:spcPct val="200000"/>
                  </a:lnSpc>
                  <a:spcBef>
                    <a:spcPct val="0"/>
                  </a:spcBef>
                  <a:spcAft>
                    <a:spcPct val="0"/>
                  </a:spcAft>
                </a:pPr>
                <a:r>
                  <a:rPr lang="en-US" altLang="zh-CN" sz="2000" dirty="0">
                    <a:solidFill>
                      <a:srgbClr val="000000"/>
                    </a:solidFill>
                    <a:latin typeface="Times New Roman"/>
                    <a:ea typeface="黑体" panose="02010609060101010101" pitchFamily="49" charset="-122"/>
                  </a:rPr>
                  <a:t>        SC-L</a:t>
                </a:r>
                <a:r>
                  <a:rPr lang="zh-CN" altLang="en-US" sz="2000" dirty="0">
                    <a:solidFill>
                      <a:srgbClr val="000000"/>
                    </a:solidFill>
                    <a:latin typeface="Times New Roman"/>
                    <a:ea typeface="黑体" panose="02010609060101010101" pitchFamily="49" charset="-122"/>
                  </a:rPr>
                  <a:t>算法是在</a:t>
                </a:r>
                <a:r>
                  <a:rPr lang="en-US" altLang="zh-CN" sz="2000" dirty="0">
                    <a:solidFill>
                      <a:srgbClr val="000000"/>
                    </a:solidFill>
                    <a:latin typeface="Times New Roman"/>
                    <a:ea typeface="黑体" panose="02010609060101010101" pitchFamily="49" charset="-122"/>
                  </a:rPr>
                  <a:t>SC</a:t>
                </a:r>
                <a:r>
                  <a:rPr lang="zh-CN" altLang="en-US" sz="2000" dirty="0">
                    <a:solidFill>
                      <a:srgbClr val="000000"/>
                    </a:solidFill>
                    <a:latin typeface="Times New Roman"/>
                    <a:ea typeface="黑体" panose="02010609060101010101" pitchFamily="49" charset="-122"/>
                  </a:rPr>
                  <a:t>算法的基础上，通过保存</a:t>
                </a:r>
                <a:r>
                  <a:rPr lang="en-US" altLang="zh-CN" sz="2000" dirty="0">
                    <a:solidFill>
                      <a:srgbClr val="000000"/>
                    </a:solidFill>
                    <a:latin typeface="Times New Roman"/>
                    <a:ea typeface="黑体" panose="02010609060101010101" pitchFamily="49" charset="-122"/>
                  </a:rPr>
                  <a:t>L</a:t>
                </a:r>
                <a:r>
                  <a:rPr lang="zh-CN" altLang="en-US" sz="2000" dirty="0">
                    <a:solidFill>
                      <a:srgbClr val="000000"/>
                    </a:solidFill>
                    <a:latin typeface="Times New Roman"/>
                    <a:ea typeface="黑体" panose="02010609060101010101" pitchFamily="49" charset="-122"/>
                  </a:rPr>
                  <a:t>条具有最大后验概率的路径来进行下一层的解码，算法在最后选取一条具有最大后验概率的路径。即相对</a:t>
                </a:r>
                <a:r>
                  <a:rPr lang="en-US" altLang="zh-CN" sz="2000" dirty="0">
                    <a:solidFill>
                      <a:srgbClr val="000000"/>
                    </a:solidFill>
                    <a:latin typeface="Times New Roman"/>
                    <a:ea typeface="黑体" panose="02010609060101010101" pitchFamily="49" charset="-122"/>
                  </a:rPr>
                  <a:t>SC</a:t>
                </a:r>
                <a:r>
                  <a:rPr lang="zh-CN" altLang="en-US" sz="2000" dirty="0">
                    <a:solidFill>
                      <a:srgbClr val="000000"/>
                    </a:solidFill>
                    <a:latin typeface="Times New Roman"/>
                    <a:ea typeface="黑体" panose="02010609060101010101" pitchFamily="49" charset="-122"/>
                  </a:rPr>
                  <a:t>算法，</a:t>
                </a:r>
                <a:r>
                  <a:rPr lang="en-US" altLang="zh-CN" sz="2000" dirty="0">
                    <a:solidFill>
                      <a:srgbClr val="000000"/>
                    </a:solidFill>
                    <a:latin typeface="Times New Roman"/>
                    <a:ea typeface="黑体" panose="02010609060101010101" pitchFamily="49" charset="-122"/>
                  </a:rPr>
                  <a:t>SC-L</a:t>
                </a:r>
                <a:r>
                  <a:rPr lang="zh-CN" altLang="en-US" sz="2000" dirty="0">
                    <a:solidFill>
                      <a:srgbClr val="000000"/>
                    </a:solidFill>
                    <a:latin typeface="Times New Roman"/>
                    <a:ea typeface="黑体" panose="02010609060101010101" pitchFamily="49" charset="-122"/>
                  </a:rPr>
                  <a:t>算法增加了路径保存和回退功能。</a:t>
                </a:r>
                <a:endParaRPr lang="en-US" altLang="zh-CN" sz="2000" dirty="0">
                  <a:solidFill>
                    <a:srgbClr val="000000"/>
                  </a:solidFill>
                  <a:latin typeface="Times New Roman"/>
                  <a:ea typeface="黑体" panose="02010609060101010101" pitchFamily="49" charset="-122"/>
                </a:endParaRPr>
              </a:p>
              <a:p>
                <a:pPr eaLnBrk="0" fontAlgn="base" hangingPunct="0">
                  <a:lnSpc>
                    <a:spcPct val="200000"/>
                  </a:lnSpc>
                  <a:spcBef>
                    <a:spcPct val="0"/>
                  </a:spcBef>
                  <a:spcAft>
                    <a:spcPct val="0"/>
                  </a:spcAft>
                </a:pPr>
                <a:r>
                  <a:rPr lang="zh-CN" altLang="en-US" sz="2000" dirty="0">
                    <a:solidFill>
                      <a:srgbClr val="000000"/>
                    </a:solidFill>
                    <a:latin typeface="Times New Roman"/>
                    <a:ea typeface="黑体" panose="02010609060101010101" pitchFamily="49" charset="-122"/>
                  </a:rPr>
                  <a:t>        当列表深度</a:t>
                </a:r>
                <a:r>
                  <a:rPr lang="en-US" altLang="zh-CN" sz="2000" dirty="0">
                    <a:solidFill>
                      <a:srgbClr val="000000"/>
                    </a:solidFill>
                    <a:latin typeface="Times New Roman"/>
                    <a:ea typeface="黑体" panose="02010609060101010101" pitchFamily="49" charset="-122"/>
                  </a:rPr>
                  <a:t>L=1</a:t>
                </a:r>
                <a:r>
                  <a:rPr lang="zh-CN" altLang="en-US" sz="2000" dirty="0">
                    <a:solidFill>
                      <a:srgbClr val="000000"/>
                    </a:solidFill>
                    <a:latin typeface="Times New Roman"/>
                    <a:ea typeface="黑体" panose="02010609060101010101" pitchFamily="49" charset="-122"/>
                  </a:rPr>
                  <a:t>时，</a:t>
                </a:r>
                <a:r>
                  <a:rPr lang="en-US" altLang="zh-CN" sz="2000" dirty="0">
                    <a:solidFill>
                      <a:srgbClr val="000000"/>
                    </a:solidFill>
                    <a:latin typeface="Times New Roman"/>
                    <a:ea typeface="黑体" panose="02010609060101010101" pitchFamily="49" charset="-122"/>
                  </a:rPr>
                  <a:t>SC-L</a:t>
                </a:r>
                <a:r>
                  <a:rPr lang="zh-CN" altLang="en-US" sz="2000" dirty="0">
                    <a:solidFill>
                      <a:srgbClr val="000000"/>
                    </a:solidFill>
                    <a:latin typeface="Times New Roman"/>
                    <a:ea typeface="黑体" panose="02010609060101010101" pitchFamily="49" charset="-122"/>
                  </a:rPr>
                  <a:t>算法等同于</a:t>
                </a:r>
                <a:r>
                  <a:rPr lang="en-US" altLang="zh-CN" sz="2000" dirty="0">
                    <a:solidFill>
                      <a:srgbClr val="000000"/>
                    </a:solidFill>
                    <a:latin typeface="Times New Roman"/>
                    <a:ea typeface="黑体" panose="02010609060101010101" pitchFamily="49" charset="-122"/>
                  </a:rPr>
                  <a:t>SC</a:t>
                </a:r>
                <a:r>
                  <a:rPr lang="zh-CN" altLang="en-US" sz="2000" dirty="0">
                    <a:solidFill>
                      <a:srgbClr val="000000"/>
                    </a:solidFill>
                    <a:latin typeface="Times New Roman"/>
                    <a:ea typeface="黑体" panose="02010609060101010101" pitchFamily="49" charset="-122"/>
                  </a:rPr>
                  <a:t>算法；</a:t>
                </a:r>
                <a:endParaRPr lang="en-US" altLang="zh-CN" sz="2000" dirty="0">
                  <a:solidFill>
                    <a:srgbClr val="000000"/>
                  </a:solidFill>
                  <a:latin typeface="Times New Roman"/>
                  <a:ea typeface="黑体" panose="02010609060101010101" pitchFamily="49" charset="-122"/>
                </a:endParaRPr>
              </a:p>
              <a:p>
                <a:pPr eaLnBrk="0" fontAlgn="base" hangingPunct="0">
                  <a:lnSpc>
                    <a:spcPct val="20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当列表</a:t>
                </a:r>
                <a:r>
                  <a:rPr lang="en-US" altLang="zh-CN" sz="2000" dirty="0">
                    <a:solidFill>
                      <a:srgbClr val="000000"/>
                    </a:solidFill>
                    <a:latin typeface="Times New Roman"/>
                    <a:ea typeface="黑体" panose="02010609060101010101" pitchFamily="49" charset="-122"/>
                  </a:rPr>
                  <a:t>L=min</a:t>
                </a:r>
                <a:r>
                  <a:rPr lang="zh-CN" altLang="en-US" sz="2000" dirty="0">
                    <a:solidFill>
                      <a:srgbClr val="000000"/>
                    </a:solidFill>
                    <a:latin typeface="Times New Roman"/>
                    <a:ea typeface="黑体" panose="02010609060101010101" pitchFamily="49" charset="-122"/>
                  </a:rPr>
                  <a:t>（</a:t>
                </a:r>
                <a14:m>
                  <m:oMath xmlns:m="http://schemas.openxmlformats.org/officeDocument/2006/math">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2</m:t>
                        </m:r>
                      </m:e>
                      <m:sup>
                        <m:r>
                          <a:rPr lang="zh-CN" altLang="en-US" sz="2000" i="1">
                            <a:solidFill>
                              <a:srgbClr val="000000"/>
                            </a:solidFill>
                            <a:latin typeface="Cambria Math" panose="02040503050406030204" pitchFamily="18" charset="0"/>
                          </a:rPr>
                          <m:t>𝑁</m:t>
                        </m:r>
                      </m:sup>
                    </m:sSup>
                    <m:r>
                      <a:rPr lang="zh-CN" altLang="en-US" sz="2000" i="1">
                        <a:solidFill>
                          <a:srgbClr val="000000"/>
                        </a:solidFill>
                        <a:latin typeface="Cambria Math" panose="02040503050406030204" pitchFamily="18" charset="0"/>
                      </a:rPr>
                      <m:t>，</m:t>
                    </m:r>
                    <m:sSup>
                      <m:sSupPr>
                        <m:ctrlPr>
                          <a:rPr lang="zh-CN" altLang="en-US" sz="2000" i="1" dirty="0">
                            <a:solidFill>
                              <a:srgbClr val="000000"/>
                            </a:solidFill>
                            <a:latin typeface="Cambria Math" panose="02040503050406030204" pitchFamily="18" charset="0"/>
                          </a:rPr>
                        </m:ctrlPr>
                      </m:sSupPr>
                      <m:e>
                        <m:r>
                          <a:rPr lang="zh-CN" altLang="en-US" sz="2000" dirty="0">
                            <a:solidFill>
                              <a:srgbClr val="000000"/>
                            </a:solidFill>
                            <a:latin typeface="Cambria Math" panose="02040503050406030204" pitchFamily="18" charset="0"/>
                          </a:rPr>
                          <m:t>2</m:t>
                        </m:r>
                      </m:e>
                      <m:sup>
                        <m:r>
                          <a:rPr lang="en-US" altLang="zh-CN" sz="2000" i="1" dirty="0">
                            <a:solidFill>
                              <a:srgbClr val="000000"/>
                            </a:solidFill>
                            <a:latin typeface="Cambria Math" panose="02040503050406030204" pitchFamily="18" charset="0"/>
                          </a:rPr>
                          <m:t>𝐿</m:t>
                        </m:r>
                        <m:r>
                          <m:rPr>
                            <m:sty m:val="p"/>
                          </m:rPr>
                          <a:rPr lang="en-US" altLang="zh-CN" sz="2000" i="1" dirty="0">
                            <a:solidFill>
                              <a:srgbClr val="000000"/>
                            </a:solidFill>
                            <a:latin typeface="Cambria Math" panose="02040503050406030204" pitchFamily="18" charset="0"/>
                          </a:rPr>
                          <m:t>ength</m:t>
                        </m:r>
                        <m:r>
                          <a:rPr lang="en-US" altLang="zh-CN" sz="2000" i="1" dirty="0">
                            <a:solidFill>
                              <a:srgbClr val="000000"/>
                            </a:solidFill>
                            <a:latin typeface="Cambria Math" panose="02040503050406030204" pitchFamily="18" charset="0"/>
                          </a:rPr>
                          <m:t>(</m:t>
                        </m:r>
                        <m:r>
                          <a:rPr lang="en-US" altLang="zh-CN" sz="2000" i="1" dirty="0">
                            <a:solidFill>
                              <a:srgbClr val="000000"/>
                            </a:solidFill>
                            <a:latin typeface="Cambria Math" panose="02040503050406030204" pitchFamily="18" charset="0"/>
                          </a:rPr>
                          <m:t>𝐴</m:t>
                        </m:r>
                        <m:r>
                          <a:rPr lang="en-US" altLang="zh-CN" sz="2000" i="1" dirty="0">
                            <a:solidFill>
                              <a:srgbClr val="000000"/>
                            </a:solidFill>
                            <a:latin typeface="Cambria Math" panose="02040503050406030204" pitchFamily="18" charset="0"/>
                          </a:rPr>
                          <m:t>)</m:t>
                        </m:r>
                      </m:sup>
                    </m:sSup>
                  </m:oMath>
                </a14:m>
                <a:r>
                  <a:rPr lang="zh-CN" altLang="en-US" sz="2000" dirty="0">
                    <a:solidFill>
                      <a:srgbClr val="000000"/>
                    </a:solidFill>
                    <a:latin typeface="Times New Roman"/>
                    <a:ea typeface="黑体" panose="02010609060101010101" pitchFamily="49" charset="-122"/>
                  </a:rPr>
                  <a:t>）时，</a:t>
                </a:r>
                <a:r>
                  <a:rPr lang="en-US" altLang="zh-CN" sz="2000" dirty="0">
                    <a:solidFill>
                      <a:srgbClr val="000000"/>
                    </a:solidFill>
                    <a:latin typeface="Times New Roman"/>
                    <a:ea typeface="黑体" panose="02010609060101010101" pitchFamily="49" charset="-122"/>
                  </a:rPr>
                  <a:t>SC-L</a:t>
                </a:r>
                <a:r>
                  <a:rPr lang="zh-CN" altLang="en-US" sz="2000" dirty="0">
                    <a:solidFill>
                      <a:srgbClr val="000000"/>
                    </a:solidFill>
                    <a:latin typeface="Times New Roman"/>
                    <a:ea typeface="黑体" panose="02010609060101010101" pitchFamily="49" charset="-122"/>
                  </a:rPr>
                  <a:t>算法就变成了</a:t>
                </a:r>
                <a:r>
                  <a:rPr lang="en-US" altLang="zh-CN" sz="2000" dirty="0">
                    <a:solidFill>
                      <a:srgbClr val="000000"/>
                    </a:solidFill>
                    <a:latin typeface="Times New Roman"/>
                    <a:ea typeface="黑体" panose="02010609060101010101" pitchFamily="49" charset="-122"/>
                  </a:rPr>
                  <a:t>ML</a:t>
                </a:r>
                <a:r>
                  <a:rPr lang="zh-CN" altLang="en-US" sz="2000" dirty="0">
                    <a:solidFill>
                      <a:srgbClr val="000000"/>
                    </a:solidFill>
                    <a:latin typeface="Times New Roman"/>
                    <a:ea typeface="黑体" panose="02010609060101010101" pitchFamily="49" charset="-122"/>
                  </a:rPr>
                  <a:t>算法。</a:t>
                </a:r>
                <a:r>
                  <a:rPr lang="en-US" altLang="zh-CN" dirty="0">
                    <a:solidFill>
                      <a:srgbClr val="000000"/>
                    </a:solidFill>
                    <a:latin typeface="Times New Roman"/>
                    <a:ea typeface="宋体" panose="02010600030101010101" pitchFamily="2" charset="-122"/>
                  </a:rPr>
                  <a:t> </a:t>
                </a:r>
                <a14:m>
                  <m:oMath xmlns:m="http://schemas.openxmlformats.org/officeDocument/2006/math">
                    <m:r>
                      <a:rPr lang="en-US" altLang="zh-CN" sz="2000" dirty="0">
                        <a:solidFill>
                          <a:srgbClr val="000000"/>
                        </a:solidFill>
                        <a:latin typeface="Cambria Math" panose="02040503050406030204" pitchFamily="18" charset="0"/>
                        <a:ea typeface="黑体" panose="02010609060101010101" pitchFamily="49" charset="-122"/>
                      </a:rPr>
                      <m:t>𝐿</m:t>
                    </m:r>
                    <m:r>
                      <m:rPr>
                        <m:sty m:val="p"/>
                      </m:rPr>
                      <a:rPr lang="en-US" altLang="zh-CN" sz="2000" dirty="0">
                        <a:solidFill>
                          <a:srgbClr val="000000"/>
                        </a:solidFill>
                        <a:latin typeface="Cambria Math" panose="02040503050406030204" pitchFamily="18" charset="0"/>
                        <a:ea typeface="黑体" panose="02010609060101010101" pitchFamily="49" charset="-122"/>
                      </a:rPr>
                      <m:t>ength</m:t>
                    </m:r>
                    <m:r>
                      <a:rPr lang="en-US" altLang="zh-CN" sz="2000" dirty="0">
                        <a:solidFill>
                          <a:srgbClr val="000000"/>
                        </a:solidFill>
                        <a:latin typeface="Cambria Math" panose="02040503050406030204" pitchFamily="18" charset="0"/>
                        <a:ea typeface="黑体" panose="02010609060101010101" pitchFamily="49" charset="-122"/>
                      </a:rPr>
                      <m:t>(</m:t>
                    </m:r>
                    <m:r>
                      <a:rPr lang="en-US" altLang="zh-CN" sz="2000" dirty="0">
                        <a:solidFill>
                          <a:srgbClr val="000000"/>
                        </a:solidFill>
                        <a:latin typeface="Cambria Math" panose="02040503050406030204" pitchFamily="18" charset="0"/>
                        <a:ea typeface="黑体" panose="02010609060101010101" pitchFamily="49" charset="-122"/>
                      </a:rPr>
                      <m:t>𝐴</m:t>
                    </m:r>
                    <m:r>
                      <a:rPr lang="en-US" altLang="zh-CN" sz="2000" dirty="0">
                        <a:solidFill>
                          <a:srgbClr val="000000"/>
                        </a:solidFill>
                        <a:latin typeface="Cambria Math" panose="02040503050406030204" pitchFamily="18" charset="0"/>
                        <a:ea typeface="黑体" panose="02010609060101010101" pitchFamily="49" charset="-122"/>
                      </a:rPr>
                      <m:t>)</m:t>
                    </m:r>
                    <m:r>
                      <a:rPr lang="zh-CN" altLang="en-US" sz="2000" dirty="0">
                        <a:solidFill>
                          <a:srgbClr val="000000"/>
                        </a:solidFill>
                        <a:latin typeface="Cambria Math" panose="02040503050406030204" pitchFamily="18" charset="0"/>
                        <a:ea typeface="黑体" panose="02010609060101010101" pitchFamily="49" charset="-122"/>
                      </a:rPr>
                      <m:t>为</m:t>
                    </m:r>
                  </m:oMath>
                </a14:m>
                <a:r>
                  <a:rPr lang="zh-CN" altLang="en-US" sz="2000" dirty="0">
                    <a:solidFill>
                      <a:srgbClr val="000000"/>
                    </a:solidFill>
                    <a:latin typeface="Times New Roman"/>
                    <a:ea typeface="黑体" panose="02010609060101010101" pitchFamily="49" charset="-122"/>
                  </a:rPr>
                  <a:t>信息集的长度。当列表长度</a:t>
                </a:r>
                <a:r>
                  <a:rPr lang="en-US" altLang="zh-CN" sz="2000" dirty="0">
                    <a:solidFill>
                      <a:srgbClr val="000000"/>
                    </a:solidFill>
                    <a:latin typeface="Times New Roman"/>
                    <a:ea typeface="黑体" panose="02010609060101010101" pitchFamily="49" charset="-122"/>
                  </a:rPr>
                  <a:t>L=32</a:t>
                </a:r>
                <a:r>
                  <a:rPr lang="zh-CN" altLang="en-US" sz="2000" dirty="0">
                    <a:solidFill>
                      <a:srgbClr val="000000"/>
                    </a:solidFill>
                    <a:latin typeface="Times New Roman"/>
                    <a:ea typeface="黑体" panose="02010609060101010101" pitchFamily="49" charset="-122"/>
                  </a:rPr>
                  <a:t>时，</a:t>
                </a:r>
                <a:r>
                  <a:rPr lang="en-US" altLang="zh-CN" sz="2000" dirty="0">
                    <a:solidFill>
                      <a:srgbClr val="000000"/>
                    </a:solidFill>
                    <a:latin typeface="Times New Roman"/>
                    <a:ea typeface="黑体" panose="02010609060101010101" pitchFamily="49" charset="-122"/>
                  </a:rPr>
                  <a:t>SC-L</a:t>
                </a:r>
                <a:r>
                  <a:rPr lang="zh-CN" altLang="en-US" sz="2000" dirty="0">
                    <a:solidFill>
                      <a:srgbClr val="000000"/>
                    </a:solidFill>
                    <a:latin typeface="Times New Roman"/>
                    <a:ea typeface="黑体" panose="02010609060101010101" pitchFamily="49" charset="-122"/>
                  </a:rPr>
                  <a:t>算法已经与</a:t>
                </a:r>
                <a:r>
                  <a:rPr lang="en-US" altLang="zh-CN" sz="2000" dirty="0">
                    <a:solidFill>
                      <a:srgbClr val="000000"/>
                    </a:solidFill>
                    <a:latin typeface="Times New Roman"/>
                    <a:ea typeface="黑体" panose="02010609060101010101" pitchFamily="49" charset="-122"/>
                  </a:rPr>
                  <a:t>ML</a:t>
                </a:r>
                <a:r>
                  <a:rPr lang="zh-CN" altLang="en-US" sz="2000" dirty="0">
                    <a:solidFill>
                      <a:srgbClr val="000000"/>
                    </a:solidFill>
                    <a:latin typeface="Times New Roman"/>
                    <a:ea typeface="黑体" panose="02010609060101010101" pitchFamily="49" charset="-122"/>
                  </a:rPr>
                  <a:t>非常接近了。</a:t>
                </a:r>
              </a:p>
            </p:txBody>
          </p:sp>
        </mc:Choice>
        <mc:Fallback xmlns="">
          <p:sp>
            <p:nvSpPr>
              <p:cNvPr id="5" name="文本框 4"/>
              <p:cNvSpPr txBox="1">
                <a:spLocks noRot="1" noChangeAspect="1" noMove="1" noResize="1" noEditPoints="1" noAdjustHandles="1" noChangeArrowheads="1" noChangeShapeType="1" noTextEdit="1"/>
              </p:cNvSpPr>
              <p:nvPr/>
            </p:nvSpPr>
            <p:spPr>
              <a:xfrm>
                <a:off x="297823" y="664655"/>
                <a:ext cx="6060447" cy="5562998"/>
              </a:xfrm>
              <a:prstGeom prst="rect">
                <a:avLst/>
              </a:prstGeom>
              <a:blipFill>
                <a:blip r:embed="rId2"/>
                <a:stretch>
                  <a:fillRect l="-1107" r="-805" b="-986"/>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E00A7177-EC69-ECE4-ED25-ED7AB6A0A289}"/>
              </a:ext>
            </a:extLst>
          </p:cNvPr>
          <p:cNvPicPr>
            <a:picLocks noChangeAspect="1"/>
          </p:cNvPicPr>
          <p:nvPr/>
        </p:nvPicPr>
        <p:blipFill>
          <a:blip r:embed="rId3"/>
          <a:stretch>
            <a:fillRect/>
          </a:stretch>
        </p:blipFill>
        <p:spPr>
          <a:xfrm>
            <a:off x="6483761" y="1374850"/>
            <a:ext cx="5410416" cy="4529764"/>
          </a:xfrm>
          <a:prstGeom prst="rect">
            <a:avLst/>
          </a:prstGeom>
        </p:spPr>
      </p:pic>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62698" y="101780"/>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解码算法</a:t>
            </a:r>
            <a:endParaRPr lang="zh-CN" altLang="en-US" sz="2400" dirty="0">
              <a:sym typeface="+mn-ea"/>
            </a:endParaRPr>
          </a:p>
        </p:txBody>
      </p:sp>
      <p:sp>
        <p:nvSpPr>
          <p:cNvPr id="5" name="文本框 4"/>
          <p:cNvSpPr txBox="1"/>
          <p:nvPr/>
        </p:nvSpPr>
        <p:spPr>
          <a:xfrm>
            <a:off x="192894" y="981535"/>
            <a:ext cx="11914045" cy="4894930"/>
          </a:xfrm>
          <a:prstGeom prst="rect">
            <a:avLst/>
          </a:prstGeom>
          <a:noFill/>
        </p:spPr>
        <p:txBody>
          <a:bodyPr wrap="square">
            <a:spAutoFit/>
          </a:bodyPr>
          <a:lstStyle/>
          <a:p>
            <a:pPr eaLnBrk="0" fontAlgn="base" hangingPunct="0">
              <a:lnSpc>
                <a:spcPct val="250000"/>
              </a:lnSpc>
              <a:spcBef>
                <a:spcPct val="0"/>
              </a:spcBef>
              <a:spcAft>
                <a:spcPct val="0"/>
              </a:spcAft>
            </a:pPr>
            <a:r>
              <a:rPr lang="zh-CN" altLang="en-US" sz="2000" dirty="0">
                <a:solidFill>
                  <a:srgbClr val="000000"/>
                </a:solidFill>
                <a:latin typeface="Times New Roman"/>
                <a:ea typeface="黑体" panose="02010609060101010101" pitchFamily="49" charset="-122"/>
              </a:rPr>
              <a:t>        以母码长度</a:t>
            </a:r>
            <a:r>
              <a:rPr lang="en-US" altLang="zh-CN" sz="2000" dirty="0">
                <a:solidFill>
                  <a:srgbClr val="000000"/>
                </a:solidFill>
                <a:latin typeface="Times New Roman"/>
                <a:ea typeface="黑体" panose="02010609060101010101" pitchFamily="49" charset="-122"/>
              </a:rPr>
              <a:t>N=4</a:t>
            </a:r>
            <a:r>
              <a:rPr lang="zh-CN" altLang="en-US" sz="2000" dirty="0">
                <a:solidFill>
                  <a:srgbClr val="000000"/>
                </a:solidFill>
                <a:latin typeface="Times New Roman"/>
                <a:ea typeface="黑体" panose="02010609060101010101" pitchFamily="49" charset="-122"/>
              </a:rPr>
              <a:t>为例，用码树表示，设列表深度</a:t>
            </a:r>
            <a:r>
              <a:rPr lang="en-US" altLang="zh-CN" sz="2000" dirty="0">
                <a:solidFill>
                  <a:srgbClr val="000000"/>
                </a:solidFill>
                <a:latin typeface="Times New Roman"/>
                <a:ea typeface="黑体" panose="02010609060101010101" pitchFamily="49" charset="-122"/>
              </a:rPr>
              <a:t>L=2</a:t>
            </a:r>
            <a:r>
              <a:rPr lang="zh-CN" altLang="en-US" sz="2000" dirty="0">
                <a:solidFill>
                  <a:srgbClr val="000000"/>
                </a:solidFill>
                <a:latin typeface="Times New Roman"/>
                <a:ea typeface="黑体" panose="02010609060101010101" pitchFamily="49" charset="-122"/>
              </a:rPr>
              <a:t>。</a:t>
            </a:r>
            <a:endParaRPr lang="en-US" altLang="zh-CN" sz="2000" dirty="0">
              <a:solidFill>
                <a:srgbClr val="000000"/>
              </a:solidFill>
              <a:latin typeface="Times New Roman"/>
              <a:ea typeface="黑体" panose="02010609060101010101" pitchFamily="49" charset="-122"/>
            </a:endParaRPr>
          </a:p>
          <a:p>
            <a:pPr eaLnBrk="0" fontAlgn="base" hangingPunct="0">
              <a:lnSpc>
                <a:spcPct val="250000"/>
              </a:lnSpc>
              <a:spcBef>
                <a:spcPct val="0"/>
              </a:spcBef>
              <a:spcAft>
                <a:spcPct val="0"/>
              </a:spcAft>
            </a:pPr>
            <a:r>
              <a:rPr lang="zh-CN" altLang="en-US" dirty="0">
                <a:solidFill>
                  <a:srgbClr val="000000"/>
                </a:solidFill>
                <a:latin typeface="Times New Roman"/>
                <a:ea typeface="黑体" panose="02010609060101010101" pitchFamily="49" charset="-122"/>
              </a:rPr>
              <a:t>第一层，</a:t>
            </a:r>
            <a:r>
              <a:rPr lang="en-US" altLang="zh-CN" dirty="0">
                <a:solidFill>
                  <a:srgbClr val="000000"/>
                </a:solidFill>
                <a:latin typeface="Times New Roman"/>
                <a:ea typeface="黑体" panose="02010609060101010101" pitchFamily="49" charset="-122"/>
              </a:rPr>
              <a:t>SC-L</a:t>
            </a:r>
            <a:r>
              <a:rPr lang="zh-CN" altLang="en-US" dirty="0">
                <a:solidFill>
                  <a:srgbClr val="000000"/>
                </a:solidFill>
                <a:latin typeface="Times New Roman"/>
                <a:ea typeface="黑体" panose="02010609060101010101" pitchFamily="49" charset="-122"/>
              </a:rPr>
              <a:t>算法按照最大</a:t>
            </a:r>
            <a:r>
              <a:rPr lang="en-US" altLang="zh-CN" dirty="0">
                <a:solidFill>
                  <a:srgbClr val="000000"/>
                </a:solidFill>
                <a:latin typeface="Times New Roman"/>
                <a:ea typeface="黑体" panose="02010609060101010101" pitchFamily="49" charset="-122"/>
              </a:rPr>
              <a:t>APP</a:t>
            </a:r>
            <a:r>
              <a:rPr lang="zh-CN" altLang="en-US" dirty="0">
                <a:solidFill>
                  <a:srgbClr val="000000"/>
                </a:solidFill>
                <a:latin typeface="Times New Roman"/>
                <a:ea typeface="黑体" panose="02010609060101010101" pitchFamily="49" charset="-122"/>
              </a:rPr>
              <a:t>找到左边路径</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x</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x</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x}</a:t>
            </a:r>
            <a:r>
              <a:rPr lang="zh-CN" altLang="en-US" dirty="0">
                <a:solidFill>
                  <a:srgbClr val="000000"/>
                </a:solidFill>
                <a:latin typeface="Times New Roman"/>
                <a:ea typeface="黑体" panose="02010609060101010101" pitchFamily="49" charset="-122"/>
              </a:rPr>
              <a:t>和右边路径</a:t>
            </a:r>
            <a:r>
              <a:rPr lang="en-US" altLang="zh-CN" dirty="0">
                <a:solidFill>
                  <a:srgbClr val="000000"/>
                </a:solidFill>
                <a:latin typeface="Times New Roman"/>
                <a:ea typeface="黑体" panose="02010609060101010101" pitchFamily="49" charset="-122"/>
              </a:rPr>
              <a:t>{1</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x</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x</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x}</a:t>
            </a:r>
            <a:r>
              <a:rPr lang="zh-CN" altLang="en-US" dirty="0">
                <a:solidFill>
                  <a:srgbClr val="000000"/>
                </a:solidFill>
                <a:latin typeface="Times New Roman"/>
                <a:ea typeface="黑体" panose="02010609060101010101" pitchFamily="49" charset="-122"/>
              </a:rPr>
              <a:t>。找到这样两条路径，并保存到</a:t>
            </a:r>
            <a:r>
              <a:rPr lang="en-US" altLang="zh-CN" dirty="0">
                <a:solidFill>
                  <a:srgbClr val="000000"/>
                </a:solidFill>
                <a:latin typeface="Times New Roman"/>
                <a:ea typeface="黑体" panose="02010609060101010101" pitchFamily="49" charset="-122"/>
              </a:rPr>
              <a:t>L=2</a:t>
            </a:r>
            <a:r>
              <a:rPr lang="zh-CN" altLang="en-US" dirty="0">
                <a:solidFill>
                  <a:srgbClr val="000000"/>
                </a:solidFill>
                <a:latin typeface="Times New Roman"/>
                <a:ea typeface="黑体" panose="02010609060101010101" pitchFamily="49" charset="-122"/>
              </a:rPr>
              <a:t>条列表中。</a:t>
            </a:r>
            <a:endParaRPr lang="en-US" altLang="zh-CN" dirty="0">
              <a:solidFill>
                <a:srgbClr val="000000"/>
              </a:solidFill>
              <a:latin typeface="Times New Roman"/>
              <a:ea typeface="黑体" panose="02010609060101010101" pitchFamily="49" charset="-122"/>
            </a:endParaRPr>
          </a:p>
          <a:p>
            <a:pPr eaLnBrk="0" fontAlgn="base" hangingPunct="0">
              <a:lnSpc>
                <a:spcPct val="250000"/>
              </a:lnSpc>
              <a:spcBef>
                <a:spcPct val="0"/>
              </a:spcBef>
              <a:spcAft>
                <a:spcPct val="0"/>
              </a:spcAft>
            </a:pPr>
            <a:r>
              <a:rPr lang="zh-CN" altLang="en-US" dirty="0">
                <a:solidFill>
                  <a:srgbClr val="000000"/>
                </a:solidFill>
                <a:latin typeface="Times New Roman"/>
                <a:ea typeface="黑体" panose="02010609060101010101" pitchFamily="49" charset="-122"/>
              </a:rPr>
              <a:t>第二层，</a:t>
            </a:r>
            <a:r>
              <a:rPr lang="en-US" altLang="zh-CN" dirty="0">
                <a:solidFill>
                  <a:srgbClr val="000000"/>
                </a:solidFill>
                <a:latin typeface="Times New Roman"/>
                <a:ea typeface="黑体" panose="02010609060101010101" pitchFamily="49" charset="-122"/>
              </a:rPr>
              <a:t>SC-L</a:t>
            </a:r>
            <a:r>
              <a:rPr lang="zh-CN" altLang="en-US" dirty="0">
                <a:solidFill>
                  <a:srgbClr val="000000"/>
                </a:solidFill>
                <a:latin typeface="Times New Roman"/>
                <a:ea typeface="黑体" panose="02010609060101010101" pitchFamily="49" charset="-122"/>
              </a:rPr>
              <a:t>算法按照最大</a:t>
            </a:r>
            <a:r>
              <a:rPr lang="en-US" altLang="zh-CN" dirty="0">
                <a:solidFill>
                  <a:srgbClr val="000000"/>
                </a:solidFill>
                <a:latin typeface="Times New Roman"/>
                <a:ea typeface="黑体" panose="02010609060101010101" pitchFamily="49" charset="-122"/>
              </a:rPr>
              <a:t>APP</a:t>
            </a:r>
            <a:r>
              <a:rPr lang="zh-CN" altLang="en-US" dirty="0">
                <a:solidFill>
                  <a:srgbClr val="000000"/>
                </a:solidFill>
                <a:latin typeface="Times New Roman"/>
                <a:ea typeface="黑体" panose="02010609060101010101" pitchFamily="49" charset="-122"/>
              </a:rPr>
              <a:t>找到左边路径</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x</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x}</a:t>
            </a:r>
            <a:r>
              <a:rPr lang="zh-CN" altLang="en-US" dirty="0">
                <a:solidFill>
                  <a:srgbClr val="000000"/>
                </a:solidFill>
                <a:latin typeface="Times New Roman"/>
                <a:ea typeface="黑体" panose="02010609060101010101" pitchFamily="49" charset="-122"/>
              </a:rPr>
              <a:t>和右边路径</a:t>
            </a:r>
            <a:r>
              <a:rPr lang="en-US" altLang="zh-CN" dirty="0">
                <a:solidFill>
                  <a:srgbClr val="000000"/>
                </a:solidFill>
                <a:latin typeface="Times New Roman"/>
                <a:ea typeface="黑体" panose="02010609060101010101" pitchFamily="49" charset="-122"/>
              </a:rPr>
              <a:t>{1</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x</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x}</a:t>
            </a:r>
            <a:r>
              <a:rPr lang="zh-CN" altLang="en-US" dirty="0">
                <a:solidFill>
                  <a:srgbClr val="000000"/>
                </a:solidFill>
                <a:latin typeface="Times New Roman"/>
                <a:ea typeface="黑体" panose="02010609060101010101" pitchFamily="49" charset="-122"/>
              </a:rPr>
              <a:t>。</a:t>
            </a:r>
            <a:endParaRPr lang="en-US" altLang="zh-CN" dirty="0">
              <a:solidFill>
                <a:srgbClr val="000000"/>
              </a:solidFill>
              <a:latin typeface="Times New Roman"/>
              <a:ea typeface="黑体" panose="02010609060101010101" pitchFamily="49" charset="-122"/>
            </a:endParaRPr>
          </a:p>
          <a:p>
            <a:pPr eaLnBrk="0" fontAlgn="base" hangingPunct="0">
              <a:lnSpc>
                <a:spcPct val="250000"/>
              </a:lnSpc>
              <a:spcBef>
                <a:spcPct val="0"/>
              </a:spcBef>
              <a:spcAft>
                <a:spcPct val="0"/>
              </a:spcAft>
            </a:pPr>
            <a:r>
              <a:rPr lang="zh-CN" altLang="en-US" dirty="0">
                <a:solidFill>
                  <a:srgbClr val="000000"/>
                </a:solidFill>
                <a:latin typeface="Times New Roman"/>
                <a:ea typeface="黑体" panose="02010609060101010101" pitchFamily="49" charset="-122"/>
              </a:rPr>
              <a:t>第三层，</a:t>
            </a:r>
            <a:r>
              <a:rPr lang="en-US" altLang="zh-CN" dirty="0">
                <a:solidFill>
                  <a:srgbClr val="000000"/>
                </a:solidFill>
                <a:latin typeface="Times New Roman"/>
                <a:ea typeface="黑体" panose="02010609060101010101" pitchFamily="49" charset="-122"/>
              </a:rPr>
              <a:t>SC-L</a:t>
            </a:r>
            <a:r>
              <a:rPr lang="zh-CN" altLang="en-US" dirty="0">
                <a:solidFill>
                  <a:srgbClr val="000000"/>
                </a:solidFill>
                <a:latin typeface="Times New Roman"/>
                <a:ea typeface="黑体" panose="02010609060101010101" pitchFamily="49" charset="-122"/>
              </a:rPr>
              <a:t>算法按照最大</a:t>
            </a:r>
            <a:r>
              <a:rPr lang="en-US" altLang="zh-CN" dirty="0">
                <a:solidFill>
                  <a:srgbClr val="000000"/>
                </a:solidFill>
                <a:latin typeface="Times New Roman"/>
                <a:ea typeface="黑体" panose="02010609060101010101" pitchFamily="49" charset="-122"/>
              </a:rPr>
              <a:t>APP</a:t>
            </a:r>
            <a:r>
              <a:rPr lang="zh-CN" altLang="en-US" dirty="0">
                <a:solidFill>
                  <a:srgbClr val="000000"/>
                </a:solidFill>
                <a:latin typeface="Times New Roman"/>
                <a:ea typeface="黑体" panose="02010609060101010101" pitchFamily="49" charset="-122"/>
              </a:rPr>
              <a:t>找到左边路径</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1</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x}</a:t>
            </a:r>
            <a:r>
              <a:rPr lang="zh-CN" altLang="en-US" dirty="0">
                <a:solidFill>
                  <a:srgbClr val="000000"/>
                </a:solidFill>
                <a:latin typeface="Times New Roman"/>
                <a:ea typeface="黑体" panose="02010609060101010101" pitchFamily="49" charset="-122"/>
              </a:rPr>
              <a:t>和右边路径</a:t>
            </a:r>
            <a:r>
              <a:rPr lang="en-US" altLang="zh-CN" dirty="0">
                <a:solidFill>
                  <a:srgbClr val="000000"/>
                </a:solidFill>
                <a:latin typeface="Times New Roman"/>
                <a:ea typeface="黑体" panose="02010609060101010101" pitchFamily="49" charset="-122"/>
              </a:rPr>
              <a:t>{1</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x}</a:t>
            </a:r>
            <a:r>
              <a:rPr lang="zh-CN" altLang="en-US" dirty="0">
                <a:solidFill>
                  <a:srgbClr val="000000"/>
                </a:solidFill>
                <a:latin typeface="Times New Roman"/>
                <a:ea typeface="黑体" panose="02010609060101010101" pitchFamily="49" charset="-122"/>
              </a:rPr>
              <a:t>。</a:t>
            </a:r>
            <a:endParaRPr lang="en-US" altLang="zh-CN" dirty="0">
              <a:solidFill>
                <a:srgbClr val="000000"/>
              </a:solidFill>
              <a:latin typeface="Times New Roman"/>
              <a:ea typeface="黑体" panose="02010609060101010101" pitchFamily="49" charset="-122"/>
            </a:endParaRPr>
          </a:p>
          <a:p>
            <a:pPr eaLnBrk="0" fontAlgn="base" hangingPunct="0">
              <a:lnSpc>
                <a:spcPct val="250000"/>
              </a:lnSpc>
              <a:spcBef>
                <a:spcPct val="0"/>
              </a:spcBef>
              <a:spcAft>
                <a:spcPct val="0"/>
              </a:spcAft>
            </a:pPr>
            <a:r>
              <a:rPr lang="zh-CN" altLang="en-US" dirty="0">
                <a:solidFill>
                  <a:srgbClr val="000000"/>
                </a:solidFill>
                <a:latin typeface="Times New Roman"/>
                <a:ea typeface="黑体" panose="02010609060101010101" pitchFamily="49" charset="-122"/>
              </a:rPr>
              <a:t>第四层，</a:t>
            </a:r>
            <a:r>
              <a:rPr lang="en-US" altLang="zh-CN" dirty="0">
                <a:solidFill>
                  <a:srgbClr val="000000"/>
                </a:solidFill>
                <a:latin typeface="Times New Roman"/>
                <a:ea typeface="黑体" panose="02010609060101010101" pitchFamily="49" charset="-122"/>
              </a:rPr>
              <a:t>SC-L</a:t>
            </a:r>
            <a:r>
              <a:rPr lang="zh-CN" altLang="en-US" dirty="0">
                <a:solidFill>
                  <a:srgbClr val="000000"/>
                </a:solidFill>
                <a:latin typeface="Times New Roman"/>
                <a:ea typeface="黑体" panose="02010609060101010101" pitchFamily="49" charset="-122"/>
              </a:rPr>
              <a:t>算法按照最大</a:t>
            </a:r>
            <a:r>
              <a:rPr lang="en-US" altLang="zh-CN" dirty="0">
                <a:solidFill>
                  <a:srgbClr val="000000"/>
                </a:solidFill>
                <a:latin typeface="Times New Roman"/>
                <a:ea typeface="黑体" panose="02010609060101010101" pitchFamily="49" charset="-122"/>
              </a:rPr>
              <a:t>APP</a:t>
            </a:r>
            <a:r>
              <a:rPr lang="zh-CN" altLang="en-US" dirty="0">
                <a:solidFill>
                  <a:srgbClr val="000000"/>
                </a:solidFill>
                <a:latin typeface="Times New Roman"/>
                <a:ea typeface="黑体" panose="02010609060101010101" pitchFamily="49" charset="-122"/>
              </a:rPr>
              <a:t>找到左边路径</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1</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1}</a:t>
            </a:r>
            <a:r>
              <a:rPr lang="zh-CN" altLang="en-US" dirty="0">
                <a:solidFill>
                  <a:srgbClr val="000000"/>
                </a:solidFill>
                <a:latin typeface="Times New Roman"/>
                <a:ea typeface="黑体" panose="02010609060101010101" pitchFamily="49" charset="-122"/>
              </a:rPr>
              <a:t>和右边路径</a:t>
            </a:r>
            <a:r>
              <a:rPr lang="en-US" altLang="zh-CN" dirty="0">
                <a:solidFill>
                  <a:srgbClr val="000000"/>
                </a:solidFill>
                <a:latin typeface="Times New Roman"/>
                <a:ea typeface="黑体" panose="02010609060101010101" pitchFamily="49" charset="-122"/>
              </a:rPr>
              <a:t>{1</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         </a:t>
            </a:r>
            <a:endParaRPr lang="en-US" altLang="zh-CN" dirty="0">
              <a:solidFill>
                <a:srgbClr val="000000"/>
              </a:solidFill>
              <a:latin typeface="Times New Roman"/>
              <a:ea typeface="黑体" panose="02010609060101010101" pitchFamily="49" charset="-122"/>
            </a:endParaRPr>
          </a:p>
          <a:p>
            <a:pPr eaLnBrk="0" fontAlgn="base" hangingPunct="0">
              <a:lnSpc>
                <a:spcPct val="250000"/>
              </a:lnSpc>
              <a:spcBef>
                <a:spcPct val="0"/>
              </a:spcBef>
              <a:spcAft>
                <a:spcPct val="0"/>
              </a:spcAft>
            </a:pPr>
            <a:r>
              <a:rPr lang="en-US" altLang="zh-CN" dirty="0">
                <a:solidFill>
                  <a:srgbClr val="000000"/>
                </a:solidFill>
                <a:latin typeface="Times New Roman"/>
                <a:ea typeface="黑体" panose="02010609060101010101" pitchFamily="49" charset="-122"/>
              </a:rPr>
              <a:t>          </a:t>
            </a:r>
            <a:r>
              <a:rPr lang="zh-CN" altLang="en-US" dirty="0">
                <a:solidFill>
                  <a:srgbClr val="000000"/>
                </a:solidFill>
                <a:latin typeface="Times New Roman"/>
                <a:ea typeface="黑体" panose="02010609060101010101" pitchFamily="49" charset="-122"/>
              </a:rPr>
              <a:t>因为右边路径的</a:t>
            </a:r>
            <a:r>
              <a:rPr lang="en-US" altLang="zh-CN" dirty="0">
                <a:solidFill>
                  <a:srgbClr val="000000"/>
                </a:solidFill>
                <a:latin typeface="Times New Roman"/>
                <a:ea typeface="黑体" panose="02010609060101010101" pitchFamily="49" charset="-122"/>
              </a:rPr>
              <a:t>APP</a:t>
            </a:r>
            <a:r>
              <a:rPr lang="zh-CN" altLang="en-US" dirty="0">
                <a:solidFill>
                  <a:srgbClr val="000000"/>
                </a:solidFill>
                <a:latin typeface="Times New Roman"/>
                <a:ea typeface="黑体" panose="02010609060101010101" pitchFamily="49" charset="-122"/>
              </a:rPr>
              <a:t>超过左边路径，因此</a:t>
            </a:r>
            <a:r>
              <a:rPr lang="en-US" altLang="zh-CN" dirty="0">
                <a:solidFill>
                  <a:srgbClr val="000000"/>
                </a:solidFill>
                <a:latin typeface="Times New Roman"/>
                <a:ea typeface="黑体" panose="02010609060101010101" pitchFamily="49" charset="-122"/>
              </a:rPr>
              <a:t>SC-L</a:t>
            </a:r>
            <a:r>
              <a:rPr lang="zh-CN" altLang="en-US" dirty="0">
                <a:solidFill>
                  <a:srgbClr val="000000"/>
                </a:solidFill>
                <a:latin typeface="Times New Roman"/>
                <a:ea typeface="黑体" panose="02010609060101010101" pitchFamily="49" charset="-122"/>
              </a:rPr>
              <a:t>算法选择右面路径输出解码比特</a:t>
            </a:r>
            <a:r>
              <a:rPr lang="en-US" altLang="zh-CN" dirty="0">
                <a:solidFill>
                  <a:srgbClr val="000000"/>
                </a:solidFill>
                <a:latin typeface="Times New Roman"/>
                <a:ea typeface="黑体" panose="02010609060101010101" pitchFamily="49" charset="-122"/>
              </a:rPr>
              <a:t>{1</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a:t>
            </a:r>
            <a:r>
              <a:rPr lang="en-US" altLang="zh-CN" dirty="0">
                <a:solidFill>
                  <a:srgbClr val="000000"/>
                </a:solidFill>
                <a:latin typeface="Times New Roman"/>
                <a:ea typeface="黑体" panose="02010609060101010101" pitchFamily="49" charset="-122"/>
              </a:rPr>
              <a:t>0}</a:t>
            </a:r>
            <a:r>
              <a:rPr lang="zh-CN" altLang="en-US" dirty="0">
                <a:solidFill>
                  <a:srgbClr val="000000"/>
                </a:solidFill>
                <a:latin typeface="Times New Roman"/>
                <a:ea typeface="黑体" panose="02010609060101010101" pitchFamily="49" charset="-122"/>
              </a:rPr>
              <a:t>，从而完成解码。</a:t>
            </a:r>
            <a:endParaRPr lang="en-US" altLang="zh-CN" dirty="0">
              <a:solidFill>
                <a:srgbClr val="000000"/>
              </a:solidFill>
              <a:latin typeface="Times New Roman"/>
              <a:ea typeface="黑体" panose="02010609060101010101" pitchFamily="49" charset="-122"/>
            </a:endParaRPr>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62698" y="101780"/>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解码算法</a:t>
            </a:r>
            <a:endParaRPr lang="zh-CN" altLang="en-US" sz="2400" dirty="0">
              <a:sym typeface="+mn-ea"/>
            </a:endParaRPr>
          </a:p>
        </p:txBody>
      </p:sp>
      <p:pic>
        <p:nvPicPr>
          <p:cNvPr id="3" name="图片 2"/>
          <p:cNvPicPr>
            <a:picLocks noChangeAspect="1"/>
          </p:cNvPicPr>
          <p:nvPr/>
        </p:nvPicPr>
        <p:blipFill rotWithShape="1">
          <a:blip r:embed="rId2"/>
          <a:srcRect t="2336" b="1872"/>
          <a:stretch>
            <a:fillRect/>
          </a:stretch>
        </p:blipFill>
        <p:spPr>
          <a:xfrm>
            <a:off x="1657380" y="1524050"/>
            <a:ext cx="8839055" cy="4419484"/>
          </a:xfrm>
          <a:prstGeom prst="rect">
            <a:avLst/>
          </a:prstGeom>
        </p:spPr>
      </p:pic>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9273817" y="228666"/>
            <a:ext cx="1371564" cy="685800"/>
          </a:xfrm>
        </p:spPr>
        <p:txBody>
          <a:bodyPr/>
          <a:lstStyle/>
          <a:p>
            <a:pPr algn="ctr">
              <a:defRPr/>
            </a:pPr>
            <a:r>
              <a:rPr kumimoji="0" lang="zh-CN" altLang="en-US" sz="2400" b="1" kern="0" dirty="0">
                <a:solidFill>
                  <a:srgbClr val="000000"/>
                </a:solidFill>
                <a:latin typeface="Arial" panose="020B0604020202020204" pitchFamily="34" charset="0"/>
                <a:ea typeface="宋体" panose="02010600030101010101" pitchFamily="2" charset="-122"/>
                <a:cs typeface="+mn-cs"/>
              </a:rPr>
              <a:t>复杂度</a:t>
            </a:r>
          </a:p>
        </p:txBody>
      </p:sp>
      <mc:AlternateContent xmlns:mc="http://schemas.openxmlformats.org/markup-compatibility/2006" xmlns:a14="http://schemas.microsoft.com/office/drawing/2010/main">
        <mc:Choice Requires="a14">
          <p:sp>
            <p:nvSpPr>
              <p:cNvPr id="5" name="文本框 4"/>
              <p:cNvSpPr txBox="1"/>
              <p:nvPr/>
            </p:nvSpPr>
            <p:spPr>
              <a:xfrm>
                <a:off x="148855" y="1572241"/>
                <a:ext cx="6521303" cy="3713517"/>
              </a:xfrm>
              <a:prstGeom prst="rect">
                <a:avLst/>
              </a:prstGeom>
              <a:noFill/>
            </p:spPr>
            <p:txBody>
              <a:bodyPr wrap="square">
                <a:spAutoFit/>
              </a:bodyPr>
              <a:lstStyle/>
              <a:p>
                <a:pPr eaLnBrk="0" fontAlgn="base" hangingPunct="0">
                  <a:lnSpc>
                    <a:spcPct val="150000"/>
                  </a:lnSpc>
                  <a:spcBef>
                    <a:spcPct val="0"/>
                  </a:spcBef>
                  <a:spcAft>
                    <a:spcPct val="0"/>
                  </a:spcAft>
                </a:pPr>
                <a:r>
                  <a:rPr lang="en-US" altLang="zh-CN" sz="2000" dirty="0">
                    <a:solidFill>
                      <a:srgbClr val="000000"/>
                    </a:solidFill>
                    <a:highlight>
                      <a:srgbClr val="FFFF00"/>
                    </a:highlight>
                    <a:latin typeface="Times New Roman"/>
                    <a:ea typeface="黑体" panose="02010609060101010101" pitchFamily="49" charset="-122"/>
                  </a:rPr>
                  <a:t>SC</a:t>
                </a:r>
                <a:r>
                  <a:rPr lang="zh-CN" altLang="en-US" sz="2000" dirty="0">
                    <a:solidFill>
                      <a:srgbClr val="000000"/>
                    </a:solidFill>
                    <a:highlight>
                      <a:srgbClr val="FFFF00"/>
                    </a:highlight>
                    <a:latin typeface="Times New Roman"/>
                    <a:ea typeface="黑体" panose="02010609060101010101" pitchFamily="49" charset="-122"/>
                  </a:rPr>
                  <a:t>算法</a:t>
                </a:r>
                <a:r>
                  <a:rPr lang="en-US" altLang="zh-CN" sz="2000" dirty="0">
                    <a:solidFill>
                      <a:srgbClr val="000000"/>
                    </a:solidFill>
                    <a:highlight>
                      <a:srgbClr val="FFFF00"/>
                    </a:highlight>
                    <a:latin typeface="Times New Roman"/>
                    <a:ea typeface="黑体" panose="02010609060101010101" pitchFamily="49" charset="-122"/>
                  </a:rPr>
                  <a:t>:</a:t>
                </a:r>
                <a:r>
                  <a:rPr lang="zh-CN" altLang="en-US" sz="2000" dirty="0">
                    <a:solidFill>
                      <a:srgbClr val="000000"/>
                    </a:solidFill>
                    <a:latin typeface="Times New Roman"/>
                    <a:ea typeface="黑体" panose="02010609060101010101" pitchFamily="49" charset="-122"/>
                  </a:rPr>
                  <a:t>编码复杂度和解码复杂度都是</a:t>
                </a:r>
                <a14:m>
                  <m:oMath xmlns:m="http://schemas.openxmlformats.org/officeDocument/2006/math">
                    <m:r>
                      <m:rPr>
                        <m:sty m:val="p"/>
                      </m:rPr>
                      <a:rPr lang="en-US" altLang="zh-CN" sz="2000" i="1">
                        <a:solidFill>
                          <a:srgbClr val="000000"/>
                        </a:solidFill>
                        <a:latin typeface="Cambria Math" panose="02040503050406030204" pitchFamily="18" charset="0"/>
                      </a:rPr>
                      <m:t>O</m:t>
                    </m:r>
                    <m:d>
                      <m:dPr>
                        <m:begChr m:val="["/>
                        <m:endChr m:val="]"/>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e>
                    </m:d>
                  </m:oMath>
                </a14:m>
                <a:r>
                  <a:rPr lang="zh-CN" altLang="en-US" sz="2000" dirty="0">
                    <a:solidFill>
                      <a:srgbClr val="000000"/>
                    </a:solidFill>
                    <a:latin typeface="Times New Roman"/>
                    <a:ea typeface="黑体" panose="02010609060101010101" pitchFamily="49" charset="-122"/>
                  </a:rPr>
                  <a:t>      因为长度为</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的</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Times New Roman"/>
                    <a:ea typeface="黑体" panose="02010609060101010101" pitchFamily="49" charset="-122"/>
                  </a:rPr>
                  <a:t>码，有</a:t>
                </a:r>
                <a14:m>
                  <m:oMath xmlns:m="http://schemas.openxmlformats.org/officeDocument/2006/math">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oMath>
                </a14:m>
                <a:r>
                  <a:rPr lang="zh-CN" altLang="en-US" sz="2000" dirty="0">
                    <a:solidFill>
                      <a:srgbClr val="000000"/>
                    </a:solidFill>
                    <a:latin typeface="Times New Roman"/>
                    <a:ea typeface="黑体" panose="02010609060101010101" pitchFamily="49" charset="-122"/>
                  </a:rPr>
                  <a:t>个层分支，在编码时需要进行</a:t>
                </a:r>
                <a14:m>
                  <m:oMath xmlns:m="http://schemas.openxmlformats.org/officeDocument/2006/math">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r>
                          <a:rPr lang="en-US" altLang="zh-CN" sz="2000" i="1">
                            <a:solidFill>
                              <a:srgbClr val="000000"/>
                            </a:solidFill>
                            <a:latin typeface="Cambria Math" panose="02040503050406030204" pitchFamily="18" charset="0"/>
                          </a:rPr>
                          <m:t>𝑁</m:t>
                        </m:r>
                        <m:r>
                          <a:rPr lang="en-US" altLang="zh-CN" sz="2000" i="1">
                            <a:solidFill>
                              <a:srgbClr val="000000"/>
                            </a:solidFill>
                            <a:latin typeface="Cambria Math" panose="02040503050406030204" pitchFamily="18" charset="0"/>
                          </a:rPr>
                          <m:t>)</m:t>
                        </m:r>
                      </m:e>
                    </m:func>
                    <m:r>
                      <a:rPr lang="zh-CN" altLang="en-US" sz="2000" i="1">
                        <a:solidFill>
                          <a:srgbClr val="000000"/>
                        </a:solidFill>
                        <a:latin typeface="Cambria Math" panose="02040503050406030204" pitchFamily="18" charset="0"/>
                      </a:rPr>
                      <m:t>⋅</m:t>
                    </m:r>
                  </m:oMath>
                </a14:m>
                <a:r>
                  <a:rPr lang="en-US" altLang="zh-CN" sz="2000" dirty="0">
                    <a:solidFill>
                      <a:srgbClr val="000000"/>
                    </a:solidFill>
                    <a:latin typeface="Times New Roman"/>
                    <a:ea typeface="宋体" panose="02010600030101010101" pitchFamily="2" charset="-122"/>
                  </a:rPr>
                  <a:t> </a:t>
                </a:r>
                <a14:m>
                  <m:oMath xmlns:m="http://schemas.openxmlformats.org/officeDocument/2006/math">
                    <m:r>
                      <a:rPr lang="en-US" altLang="zh-CN" sz="2000" i="1">
                        <a:solidFill>
                          <a:srgbClr val="000000"/>
                        </a:solidFill>
                        <a:latin typeface="Cambria Math" panose="02040503050406030204" pitchFamily="18" charset="0"/>
                      </a:rPr>
                      <m:t>𝑁</m:t>
                    </m:r>
                    <m:r>
                      <a:rPr lang="en-US" altLang="zh-CN" sz="2000">
                        <a:solidFill>
                          <a:srgbClr val="000000"/>
                        </a:solidFill>
                        <a:latin typeface="Cambria Math" panose="02040503050406030204" pitchFamily="18" charset="0"/>
                      </a:rPr>
                      <m:t>/2</m:t>
                    </m:r>
                  </m:oMath>
                </a14:m>
                <a:r>
                  <a:rPr lang="zh-CN" altLang="en-US" sz="2000" dirty="0">
                    <a:solidFill>
                      <a:srgbClr val="000000"/>
                    </a:solidFill>
                    <a:latin typeface="Times New Roman"/>
                    <a:ea typeface="黑体" panose="02010609060101010101" pitchFamily="49" charset="-122"/>
                  </a:rPr>
                  <a:t>次模</a:t>
                </a:r>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加操作，即编码复杂度</a:t>
                </a:r>
                <a14:m>
                  <m:oMath xmlns:m="http://schemas.openxmlformats.org/officeDocument/2006/math">
                    <m:r>
                      <m:rPr>
                        <m:sty m:val="p"/>
                      </m:rPr>
                      <a:rPr lang="en-US" altLang="zh-CN" sz="2000" i="1">
                        <a:solidFill>
                          <a:srgbClr val="000000"/>
                        </a:solidFill>
                        <a:latin typeface="Cambria Math" panose="02040503050406030204" pitchFamily="18" charset="0"/>
                      </a:rPr>
                      <m:t>O</m:t>
                    </m:r>
                    <m:d>
                      <m:dPr>
                        <m:begChr m:val="["/>
                        <m:endChr m:val="]"/>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e>
                    </m:d>
                  </m:oMath>
                </a14:m>
                <a:r>
                  <a:rPr lang="zh-CN" altLang="en-US" sz="2000" dirty="0">
                    <a:solidFill>
                      <a:srgbClr val="000000"/>
                    </a:solidFill>
                    <a:latin typeface="Times New Roman"/>
                    <a:ea typeface="黑体" panose="02010609060101010101" pitchFamily="49" charset="-122"/>
                  </a:rPr>
                  <a:t>；</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解码时，需要</a:t>
                </a:r>
                <a14:m>
                  <m:oMath xmlns:m="http://schemas.openxmlformats.org/officeDocument/2006/math">
                    <m:r>
                      <a:rPr lang="zh-CN" altLang="en-US"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oMath>
                </a14:m>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次效验节点操作和</a:t>
                </a:r>
                <a14:m>
                  <m:oMath xmlns:m="http://schemas.openxmlformats.org/officeDocument/2006/math">
                    <m:r>
                      <a:rPr lang="zh-CN" altLang="en-US"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oMath>
                </a14:m>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次变量节点操作，复杂度同样为</a:t>
                </a:r>
                <a14:m>
                  <m:oMath xmlns:m="http://schemas.openxmlformats.org/officeDocument/2006/math">
                    <m:r>
                      <m:rPr>
                        <m:sty m:val="p"/>
                      </m:rPr>
                      <a:rPr lang="en-US" altLang="zh-CN" sz="2000" i="1">
                        <a:solidFill>
                          <a:srgbClr val="000000"/>
                        </a:solidFill>
                        <a:latin typeface="Cambria Math" panose="02040503050406030204" pitchFamily="18" charset="0"/>
                      </a:rPr>
                      <m:t>O</m:t>
                    </m:r>
                    <m:d>
                      <m:dPr>
                        <m:begChr m:val="["/>
                        <m:endChr m:val="]"/>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e>
                    </m:d>
                  </m:oMath>
                </a14:m>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highlight>
                      <a:srgbClr val="FFFF00"/>
                    </a:highlight>
                    <a:latin typeface="Times New Roman"/>
                    <a:ea typeface="黑体" panose="02010609060101010101" pitchFamily="49" charset="-122"/>
                  </a:rPr>
                  <a:t>SC-L</a:t>
                </a:r>
                <a:r>
                  <a:rPr lang="zh-CN" altLang="en-US" sz="2000" dirty="0">
                    <a:solidFill>
                      <a:srgbClr val="000000"/>
                    </a:solidFill>
                    <a:highlight>
                      <a:srgbClr val="FFFF00"/>
                    </a:highlight>
                    <a:latin typeface="Times New Roman"/>
                    <a:ea typeface="黑体" panose="02010609060101010101" pitchFamily="49" charset="-122"/>
                  </a:rPr>
                  <a:t>算法</a:t>
                </a:r>
                <a:r>
                  <a:rPr lang="en-US" altLang="zh-CN" sz="2000" dirty="0">
                    <a:solidFill>
                      <a:srgbClr val="000000"/>
                    </a:solidFill>
                    <a:highlight>
                      <a:srgbClr val="FFFF00"/>
                    </a:highlight>
                    <a:latin typeface="Times New Roman"/>
                    <a:ea typeface="黑体" panose="02010609060101010101" pitchFamily="49" charset="-122"/>
                  </a:rPr>
                  <a:t>:</a:t>
                </a:r>
                <a:r>
                  <a:rPr lang="zh-CN" altLang="en-US" sz="2000" dirty="0">
                    <a:solidFill>
                      <a:srgbClr val="000000"/>
                    </a:solidFill>
                    <a:latin typeface="Times New Roman"/>
                    <a:ea typeface="黑体" panose="02010609060101010101" pitchFamily="49" charset="-122"/>
                  </a:rPr>
                  <a:t>解码复杂度是</a:t>
                </a:r>
                <a14:m>
                  <m:oMath xmlns:m="http://schemas.openxmlformats.org/officeDocument/2006/math">
                    <m:r>
                      <m:rPr>
                        <m:sty m:val="p"/>
                      </m:rPr>
                      <a:rPr lang="en-US" altLang="zh-CN" sz="2000" i="1">
                        <a:solidFill>
                          <a:srgbClr val="000000"/>
                        </a:solidFill>
                        <a:latin typeface="Cambria Math" panose="02040503050406030204" pitchFamily="18" charset="0"/>
                      </a:rPr>
                      <m:t>O</m:t>
                    </m:r>
                    <m:d>
                      <m:dPr>
                        <m:begChr m:val="["/>
                        <m:endChr m:val="]"/>
                        <m:ctrlPr>
                          <a:rPr lang="zh-CN" altLang="en-US"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𝐿</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e>
                    </m:d>
                  </m:oMath>
                </a14:m>
                <a:r>
                  <a:rPr lang="zh-CN" altLang="en-US" sz="2000" dirty="0">
                    <a:solidFill>
                      <a:srgbClr val="000000"/>
                    </a:solidFill>
                    <a:latin typeface="Times New Roman"/>
                    <a:ea typeface="黑体" panose="02010609060101010101" pitchFamily="49" charset="-122"/>
                  </a:rPr>
                  <a:t> </a:t>
                </a:r>
                <a:r>
                  <a:rPr lang="en-US" altLang="zh-CN" sz="2000" dirty="0">
                    <a:solidFill>
                      <a:srgbClr val="000000"/>
                    </a:solidFill>
                    <a:latin typeface="Times New Roman"/>
                    <a:ea typeface="黑体" panose="02010609060101010101" pitchFamily="49" charset="-122"/>
                  </a:rPr>
                  <a:t>L</a:t>
                </a:r>
                <a:r>
                  <a:rPr lang="zh-CN" altLang="en-US" sz="2000" dirty="0">
                    <a:solidFill>
                      <a:srgbClr val="000000"/>
                    </a:solidFill>
                    <a:latin typeface="Times New Roman"/>
                    <a:ea typeface="黑体" panose="02010609060101010101" pitchFamily="49" charset="-122"/>
                  </a:rPr>
                  <a:t>为列表深度。</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endParaRPr lang="en-US" altLang="zh-CN" sz="2000" dirty="0">
                  <a:solidFill>
                    <a:srgbClr val="000000"/>
                  </a:solidFill>
                  <a:latin typeface="黑体" panose="02010609060101010101" pitchFamily="49" charset="-122"/>
                  <a:ea typeface="黑体" panose="02010609060101010101" pitchFamily="49"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48855" y="1572241"/>
                <a:ext cx="6521303" cy="3713517"/>
              </a:xfrm>
              <a:prstGeom prst="rect">
                <a:avLst/>
              </a:prstGeom>
              <a:blipFill>
                <a:blip r:embed="rId3"/>
                <a:stretch>
                  <a:fillRect l="-935" r="-654"/>
                </a:stretch>
              </a:blipFill>
            </p:spPr>
            <p:txBody>
              <a:bodyPr/>
              <a:lstStyle/>
              <a:p>
                <a:r>
                  <a:rPr lang="zh-CN" altLang="en-US">
                    <a:noFill/>
                  </a:rPr>
                  <a:t> </a:t>
                </a:r>
              </a:p>
            </p:txBody>
          </p:sp>
        </mc:Fallback>
      </mc:AlternateContent>
      <p:sp>
        <p:nvSpPr>
          <p:cNvPr id="6" name="文本框 5"/>
          <p:cNvSpPr txBox="1"/>
          <p:nvPr/>
        </p:nvSpPr>
        <p:spPr>
          <a:xfrm>
            <a:off x="712520" y="5285758"/>
            <a:ext cx="5333860" cy="400110"/>
          </a:xfrm>
          <a:prstGeom prst="rect">
            <a:avLst/>
          </a:prstGeom>
          <a:noFill/>
        </p:spPr>
        <p:txBody>
          <a:bodyPr wrap="square">
            <a:spAutoFit/>
          </a:bodyPr>
          <a:lstStyle/>
          <a:p>
            <a:pPr eaLnBrk="0" fontAlgn="base" hangingPunct="0">
              <a:spcBef>
                <a:spcPct val="0"/>
              </a:spcBef>
              <a:spcAft>
                <a:spcPct val="0"/>
              </a:spcAft>
            </a:pPr>
            <a:r>
              <a:rPr lang="en-US" altLang="zh-CN" sz="2000" dirty="0">
                <a:solidFill>
                  <a:srgbClr val="FF0000"/>
                </a:solidFill>
                <a:latin typeface="Times New Roman"/>
                <a:ea typeface="黑体" panose="02010609060101010101" pitchFamily="49" charset="-122"/>
              </a:rPr>
              <a:t>Polar</a:t>
            </a:r>
            <a:r>
              <a:rPr lang="zh-CN" altLang="en-US" sz="2000" dirty="0">
                <a:solidFill>
                  <a:srgbClr val="FF0000"/>
                </a:solidFill>
                <a:latin typeface="Times New Roman"/>
                <a:ea typeface="黑体" panose="02010609060101010101" pitchFamily="49" charset="-122"/>
              </a:rPr>
              <a:t>码解码算法复杂度与信噪比基本无关</a:t>
            </a:r>
          </a:p>
        </p:txBody>
      </p:sp>
      <p:sp>
        <p:nvSpPr>
          <p:cNvPr id="8" name="文本框 7">
            <a:extLst>
              <a:ext uri="{FF2B5EF4-FFF2-40B4-BE49-F238E27FC236}">
                <a16:creationId xmlns:a16="http://schemas.microsoft.com/office/drawing/2014/main" id="{5DB82926-E38C-930F-4B25-4158C98D3B49}"/>
              </a:ext>
            </a:extLst>
          </p:cNvPr>
          <p:cNvSpPr txBox="1"/>
          <p:nvPr/>
        </p:nvSpPr>
        <p:spPr>
          <a:xfrm>
            <a:off x="148855" y="821266"/>
            <a:ext cx="11795051" cy="707886"/>
          </a:xfrm>
          <a:prstGeom prst="rect">
            <a:avLst/>
          </a:prstGeom>
          <a:noFill/>
        </p:spPr>
        <p:txBody>
          <a:bodyPr wrap="square">
            <a:spAutoFit/>
          </a:bodyPr>
          <a:lstStyle/>
          <a:p>
            <a:r>
              <a:rPr kumimoji="0" lang="zh-CN" altLang="en-US" sz="2000" b="0" i="0" u="none" strike="noStrike" kern="1200" cap="none" spc="0" normalizeH="0" baseline="0" noProof="0" dirty="0">
                <a:ln>
                  <a:noFill/>
                </a:ln>
                <a:solidFill>
                  <a:srgbClr val="000000"/>
                </a:solidFill>
                <a:effectLst/>
                <a:uLnTx/>
                <a:uFillTx/>
                <a:latin typeface="Times New Roman"/>
                <a:ea typeface="黑体" panose="02010609060101010101" pitchFamily="49" charset="-122"/>
                <a:cs typeface="+mn-cs"/>
              </a:rPr>
              <a:t>复杂度是指一种编码方案实现需要多大的计算量、存储量，其中包含编码的复杂度（大）与解码的复杂度（小），复杂度与吞吐量存在一定的平衡点。</a:t>
            </a:r>
            <a:endParaRPr lang="zh-CN" altLang="en-US"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FC57FCF-8EC0-7E3E-CF23-801A4C5C386E}"/>
                  </a:ext>
                </a:extLst>
              </p:cNvPr>
              <p:cNvSpPr txBox="1"/>
              <p:nvPr/>
            </p:nvSpPr>
            <p:spPr>
              <a:xfrm>
                <a:off x="6982045" y="1572241"/>
                <a:ext cx="5160336" cy="2803909"/>
              </a:xfrm>
              <a:prstGeom prst="rect">
                <a:avLst/>
              </a:prstGeom>
              <a:noFill/>
            </p:spPr>
            <p:txBody>
              <a:bodyPr wrap="square">
                <a:spAutoFit/>
              </a:bodyPr>
              <a:lstStyle/>
              <a:p>
                <a:pPr eaLnBrk="0" fontAlgn="base" hangingPunct="0">
                  <a:lnSpc>
                    <a:spcPct val="150000"/>
                  </a:lnSpc>
                  <a:spcBef>
                    <a:spcPct val="0"/>
                  </a:spcBef>
                  <a:spcAft>
                    <a:spcPct val="0"/>
                  </a:spcAft>
                </a:pPr>
                <a:r>
                  <a:rPr lang="en-US" altLang="zh-CN" sz="2000" dirty="0">
                    <a:solidFill>
                      <a:srgbClr val="000000"/>
                    </a:solidFill>
                    <a:highlight>
                      <a:srgbClr val="FFFF00"/>
                    </a:highlight>
                    <a:latin typeface="Times New Roman"/>
                    <a:ea typeface="黑体" panose="02010609060101010101" pitchFamily="49" charset="-122"/>
                  </a:rPr>
                  <a:t>SC</a:t>
                </a:r>
                <a:r>
                  <a:rPr lang="zh-CN" altLang="en-US" sz="2000" dirty="0">
                    <a:solidFill>
                      <a:srgbClr val="000000"/>
                    </a:solidFill>
                    <a:highlight>
                      <a:srgbClr val="FFFF00"/>
                    </a:highlight>
                    <a:latin typeface="Times New Roman"/>
                    <a:ea typeface="黑体" panose="02010609060101010101" pitchFamily="49" charset="-122"/>
                  </a:rPr>
                  <a:t>算法</a:t>
                </a:r>
                <a:r>
                  <a:rPr lang="en-US" altLang="zh-CN" sz="2000" dirty="0">
                    <a:solidFill>
                      <a:srgbClr val="000000"/>
                    </a:solidFill>
                    <a:highlight>
                      <a:srgbClr val="FFFF00"/>
                    </a:highlight>
                    <a:latin typeface="Times New Roman"/>
                    <a:ea typeface="黑体" panose="02010609060101010101" pitchFamily="49" charset="-122"/>
                  </a:rPr>
                  <a:t>:</a:t>
                </a:r>
                <a:r>
                  <a:rPr lang="zh-CN" altLang="en-US" sz="2000" dirty="0">
                    <a:solidFill>
                      <a:srgbClr val="000000"/>
                    </a:solidFill>
                    <a:latin typeface="Times New Roman"/>
                    <a:ea typeface="黑体" panose="02010609060101010101" pitchFamily="49" charset="-122"/>
                  </a:rPr>
                  <a:t>存储复杂度为</a:t>
                </a:r>
                <a14:m>
                  <m:oMath xmlns:m="http://schemas.openxmlformats.org/officeDocument/2006/math">
                    <m:r>
                      <m:rPr>
                        <m:sty m:val="p"/>
                      </m:rPr>
                      <a:rPr lang="en-US" altLang="zh-CN" sz="2000" i="1">
                        <a:solidFill>
                          <a:srgbClr val="000000"/>
                        </a:solidFill>
                        <a:latin typeface="Cambria Math" panose="02040503050406030204" pitchFamily="18" charset="0"/>
                      </a:rPr>
                      <m:t>O</m:t>
                    </m:r>
                    <m:d>
                      <m:dPr>
                        <m:begChr m:val="["/>
                        <m:endChr m:val="]"/>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r>
                              <m:rPr>
                                <m:sty m:val="p"/>
                              </m:rPr>
                              <a:rPr lang="zh-CN" altLang="en-US" sz="2000" i="1">
                                <a:solidFill>
                                  <a:srgbClr val="000000"/>
                                </a:solidFill>
                                <a:latin typeface="Cambria Math" panose="02040503050406030204" pitchFamily="18" charset="0"/>
                              </a:rPr>
                              <m:t>log</m:t>
                            </m:r>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e>
                    </m:d>
                  </m:oMath>
                </a14:m>
                <a:endParaRPr lang="en-US" altLang="zh-CN" sz="2000" dirty="0">
                  <a:solidFill>
                    <a:srgbClr val="000000"/>
                  </a:solidFill>
                  <a:latin typeface="Times New Roman"/>
                  <a:ea typeface="宋体" panose="02010600030101010101" pitchFamily="2"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对于长度为</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的</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Times New Roman"/>
                    <a:ea typeface="黑体" panose="02010609060101010101" pitchFamily="49" charset="-122"/>
                  </a:rPr>
                  <a:t>码，有</a:t>
                </a:r>
                <a14:m>
                  <m:oMath xmlns:m="http://schemas.openxmlformats.org/officeDocument/2006/math">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oMath>
                </a14:m>
                <a:r>
                  <a:rPr lang="zh-CN" altLang="en-US" sz="2000" dirty="0">
                    <a:solidFill>
                      <a:srgbClr val="000000"/>
                    </a:solidFill>
                    <a:latin typeface="Times New Roman"/>
                    <a:ea typeface="黑体" panose="02010609060101010101" pitchFamily="49" charset="-122"/>
                  </a:rPr>
                  <a:t>个层分支，每层存储</a:t>
                </a:r>
                <a:r>
                  <a:rPr lang="en-US" altLang="zh-CN" sz="2000" dirty="0">
                    <a:solidFill>
                      <a:srgbClr val="000000"/>
                    </a:solidFill>
                    <a:latin typeface="Times New Roman"/>
                    <a:ea typeface="黑体" panose="02010609060101010101" pitchFamily="49" charset="-122"/>
                  </a:rPr>
                  <a:t>N</a:t>
                </a:r>
                <a:r>
                  <a:rPr lang="zh-CN" altLang="en-US" sz="2000" dirty="0">
                    <a:solidFill>
                      <a:srgbClr val="000000"/>
                    </a:solidFill>
                    <a:latin typeface="Times New Roman"/>
                    <a:ea typeface="黑体" panose="02010609060101010101" pitchFamily="49" charset="-122"/>
                  </a:rPr>
                  <a:t>个似然比值，为找出原始发射路径，需存储</a:t>
                </a:r>
                <a14:m>
                  <m:oMath xmlns:m="http://schemas.openxmlformats.org/officeDocument/2006/math">
                    <m:r>
                      <a:rPr lang="zh-CN" altLang="en-US" sz="2000" i="1">
                        <a:solidFill>
                          <a:srgbClr val="000000"/>
                        </a:solidFill>
                        <a:latin typeface="Cambria Math" panose="02040503050406030204" pitchFamily="18" charset="0"/>
                      </a:rPr>
                      <m:t>𝑁</m:t>
                    </m:r>
                    <m:r>
                      <a:rPr lang="en-US" altLang="zh-CN"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oMath>
                </a14:m>
                <a:r>
                  <a:rPr lang="zh-CN" altLang="en-US" sz="2000" dirty="0">
                    <a:solidFill>
                      <a:srgbClr val="000000"/>
                    </a:solidFill>
                    <a:latin typeface="Times New Roman"/>
                    <a:ea typeface="黑体" panose="02010609060101010101" pitchFamily="49" charset="-122"/>
                  </a:rPr>
                  <a:t>个似然比值。</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highlight>
                      <a:srgbClr val="FFFF00"/>
                    </a:highlight>
                    <a:latin typeface="Times New Roman"/>
                    <a:ea typeface="黑体" panose="02010609060101010101" pitchFamily="49" charset="-122"/>
                  </a:rPr>
                  <a:t>SC-L</a:t>
                </a:r>
                <a:r>
                  <a:rPr lang="zh-CN" altLang="en-US" sz="2000" dirty="0">
                    <a:solidFill>
                      <a:srgbClr val="000000"/>
                    </a:solidFill>
                    <a:highlight>
                      <a:srgbClr val="FFFF00"/>
                    </a:highlight>
                    <a:latin typeface="Times New Roman"/>
                    <a:ea typeface="黑体" panose="02010609060101010101" pitchFamily="49" charset="-122"/>
                  </a:rPr>
                  <a:t>算法：</a:t>
                </a:r>
                <a:r>
                  <a:rPr lang="zh-CN" altLang="en-US" sz="2000" dirty="0">
                    <a:solidFill>
                      <a:srgbClr val="000000"/>
                    </a:solidFill>
                    <a:latin typeface="Times New Roman"/>
                    <a:ea typeface="黑体" panose="02010609060101010101" pitchFamily="49" charset="-122"/>
                  </a:rPr>
                  <a:t>存储复杂度为</a:t>
                </a:r>
                <a14:m>
                  <m:oMath xmlns:m="http://schemas.openxmlformats.org/officeDocument/2006/math">
                    <m:r>
                      <m:rPr>
                        <m:sty m:val="p"/>
                      </m:rPr>
                      <a:rPr lang="en-US" altLang="zh-CN" sz="2000" i="1">
                        <a:solidFill>
                          <a:srgbClr val="000000"/>
                        </a:solidFill>
                        <a:latin typeface="Cambria Math" panose="02040503050406030204" pitchFamily="18" charset="0"/>
                      </a:rPr>
                      <m:t>O</m:t>
                    </m:r>
                    <m:d>
                      <m:dPr>
                        <m:begChr m:val="["/>
                        <m:endChr m:val="]"/>
                        <m:ctrlPr>
                          <a:rPr lang="zh-CN" altLang="en-US"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𝐿</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r>
                              <m:rPr>
                                <m:sty m:val="p"/>
                              </m:rPr>
                              <a:rPr lang="zh-CN" altLang="en-US" sz="2000" i="1">
                                <a:solidFill>
                                  <a:srgbClr val="000000"/>
                                </a:solidFill>
                                <a:latin typeface="Cambria Math" panose="02040503050406030204" pitchFamily="18" charset="0"/>
                              </a:rPr>
                              <m:t>log</m:t>
                            </m:r>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e>
                    </m:d>
                  </m:oMath>
                </a14:m>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因为每一个列表都要有一份后验概率值。</a:t>
                </a:r>
                <a:endParaRPr lang="en-US" altLang="zh-CN" sz="2000" dirty="0">
                  <a:solidFill>
                    <a:srgbClr val="000000"/>
                  </a:solidFill>
                  <a:latin typeface="Times New Roman"/>
                  <a:ea typeface="黑体" panose="02010609060101010101" pitchFamily="49" charset="-122"/>
                </a:endParaRPr>
              </a:p>
            </p:txBody>
          </p:sp>
        </mc:Choice>
        <mc:Fallback xmlns="">
          <p:sp>
            <p:nvSpPr>
              <p:cNvPr id="9" name="文本框 8">
                <a:extLst>
                  <a:ext uri="{FF2B5EF4-FFF2-40B4-BE49-F238E27FC236}">
                    <a16:creationId xmlns:a16="http://schemas.microsoft.com/office/drawing/2014/main" id="{0FC57FCF-8EC0-7E3E-CF23-801A4C5C386E}"/>
                  </a:ext>
                </a:extLst>
              </p:cNvPr>
              <p:cNvSpPr txBox="1">
                <a:spLocks noRot="1" noChangeAspect="1" noMove="1" noResize="1" noEditPoints="1" noAdjustHandles="1" noChangeArrowheads="1" noChangeShapeType="1" noTextEdit="1"/>
              </p:cNvSpPr>
              <p:nvPr/>
            </p:nvSpPr>
            <p:spPr>
              <a:xfrm>
                <a:off x="6982045" y="1572241"/>
                <a:ext cx="5160336" cy="2803909"/>
              </a:xfrm>
              <a:prstGeom prst="rect">
                <a:avLst/>
              </a:prstGeom>
              <a:blipFill>
                <a:blip r:embed="rId4"/>
                <a:stretch>
                  <a:fillRect l="-1181" r="-1063" b="-2391"/>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20E522CD-3DF1-A50D-9AC2-F6EA14B5F6A7}"/>
              </a:ext>
            </a:extLst>
          </p:cNvPr>
          <p:cNvSpPr txBox="1"/>
          <p:nvPr/>
        </p:nvSpPr>
        <p:spPr>
          <a:xfrm>
            <a:off x="6989132" y="4598549"/>
            <a:ext cx="5333860" cy="400110"/>
          </a:xfrm>
          <a:prstGeom prst="rect">
            <a:avLst/>
          </a:prstGeom>
          <a:noFill/>
        </p:spPr>
        <p:txBody>
          <a:bodyPr wrap="square">
            <a:spAutoFit/>
          </a:bodyPr>
          <a:lstStyle/>
          <a:p>
            <a:pPr eaLnBrk="0" fontAlgn="base" hangingPunct="0">
              <a:spcBef>
                <a:spcPct val="0"/>
              </a:spcBef>
              <a:spcAft>
                <a:spcPct val="0"/>
              </a:spcAft>
            </a:pPr>
            <a:r>
              <a:rPr lang="zh-CN" altLang="en-US" sz="2000" dirty="0">
                <a:solidFill>
                  <a:srgbClr val="FF0000"/>
                </a:solidFill>
                <a:latin typeface="Times New Roman"/>
                <a:ea typeface="黑体" panose="02010609060101010101" pitchFamily="49" charset="-122"/>
              </a:rPr>
              <a:t>总结来说，</a:t>
            </a:r>
            <a:r>
              <a:rPr lang="en-US" altLang="zh-CN" sz="2000" dirty="0">
                <a:solidFill>
                  <a:srgbClr val="FF0000"/>
                </a:solidFill>
                <a:latin typeface="Times New Roman"/>
                <a:ea typeface="黑体" panose="02010609060101010101" pitchFamily="49" charset="-122"/>
              </a:rPr>
              <a:t>Polar</a:t>
            </a:r>
            <a:r>
              <a:rPr lang="zh-CN" altLang="en-US" sz="2000" dirty="0">
                <a:solidFill>
                  <a:srgbClr val="FF0000"/>
                </a:solidFill>
                <a:latin typeface="Times New Roman"/>
                <a:ea typeface="黑体" panose="02010609060101010101" pitchFamily="49" charset="-122"/>
              </a:rPr>
              <a:t>码对于存储量的要求较低</a:t>
            </a: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361616" y="247172"/>
            <a:ext cx="4114692" cy="685800"/>
          </a:xfrm>
        </p:spPr>
        <p:txBody>
          <a:bodyPr/>
          <a:lstStyle/>
          <a:p>
            <a:pPr>
              <a:defRPr/>
            </a:pPr>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应用</a:t>
            </a:r>
          </a:p>
        </p:txBody>
      </p:sp>
      <p:sp>
        <p:nvSpPr>
          <p:cNvPr id="5" name="文本框 4"/>
          <p:cNvSpPr txBox="1"/>
          <p:nvPr/>
        </p:nvSpPr>
        <p:spPr>
          <a:xfrm>
            <a:off x="264948" y="790355"/>
            <a:ext cx="8226922" cy="3713517"/>
          </a:xfrm>
          <a:prstGeom prst="rect">
            <a:avLst/>
          </a:prstGeom>
          <a:noFill/>
        </p:spPr>
        <p:txBody>
          <a:bodyPr wrap="square">
            <a:spAutoFit/>
          </a:bodyPr>
          <a:lstStyle/>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2016</a:t>
            </a:r>
            <a:r>
              <a:rPr lang="zh-CN" altLang="en-US" sz="2000" dirty="0">
                <a:solidFill>
                  <a:srgbClr val="000000"/>
                </a:solidFill>
                <a:latin typeface="Times New Roman"/>
                <a:ea typeface="黑体" panose="02010609060101010101" pitchFamily="49" charset="-122"/>
              </a:rPr>
              <a:t>年</a:t>
            </a:r>
            <a:r>
              <a:rPr lang="en-US" altLang="zh-CN" sz="2000" dirty="0">
                <a:solidFill>
                  <a:srgbClr val="000000"/>
                </a:solidFill>
                <a:latin typeface="Times New Roman"/>
                <a:ea typeface="黑体" panose="02010609060101010101" pitchFamily="49" charset="-122"/>
              </a:rPr>
              <a:t>11</a:t>
            </a:r>
            <a:r>
              <a:rPr lang="zh-CN" altLang="en-US" sz="2000" dirty="0">
                <a:solidFill>
                  <a:srgbClr val="000000"/>
                </a:solidFill>
                <a:latin typeface="Times New Roman"/>
                <a:ea typeface="黑体" panose="02010609060101010101" pitchFamily="49" charset="-122"/>
              </a:rPr>
              <a:t>月</a:t>
            </a:r>
            <a:r>
              <a:rPr lang="en-US" altLang="zh-CN" sz="2000" dirty="0">
                <a:solidFill>
                  <a:srgbClr val="000000"/>
                </a:solidFill>
                <a:latin typeface="Times New Roman"/>
                <a:ea typeface="黑体" panose="02010609060101010101" pitchFamily="49" charset="-122"/>
              </a:rPr>
              <a:t>14</a:t>
            </a:r>
            <a:r>
              <a:rPr lang="zh-CN" altLang="en-US" sz="2000" dirty="0">
                <a:solidFill>
                  <a:srgbClr val="000000"/>
                </a:solidFill>
                <a:latin typeface="Times New Roman"/>
                <a:ea typeface="黑体" panose="02010609060101010101" pitchFamily="49" charset="-122"/>
              </a:rPr>
              <a:t>日至</a:t>
            </a:r>
            <a:r>
              <a:rPr lang="en-US" altLang="zh-CN" sz="2000" dirty="0">
                <a:solidFill>
                  <a:srgbClr val="000000"/>
                </a:solidFill>
                <a:latin typeface="Times New Roman"/>
                <a:ea typeface="黑体" panose="02010609060101010101" pitchFamily="49" charset="-122"/>
              </a:rPr>
              <a:t>18</a:t>
            </a:r>
            <a:r>
              <a:rPr lang="zh-CN" altLang="en-US" sz="2000" dirty="0">
                <a:solidFill>
                  <a:srgbClr val="000000"/>
                </a:solidFill>
                <a:latin typeface="Times New Roman"/>
                <a:ea typeface="黑体" panose="02010609060101010101" pitchFamily="49" charset="-122"/>
              </a:rPr>
              <a:t>日期间，国际无线标准化机构（</a:t>
            </a:r>
            <a:r>
              <a:rPr lang="en-US" altLang="zh-CN" sz="2000" dirty="0">
                <a:solidFill>
                  <a:srgbClr val="000000"/>
                </a:solidFill>
                <a:latin typeface="Times New Roman"/>
                <a:ea typeface="黑体" panose="02010609060101010101" pitchFamily="49" charset="-122"/>
              </a:rPr>
              <a:t>3GPP</a:t>
            </a:r>
            <a:r>
              <a:rPr lang="zh-CN" altLang="en-US" sz="2000" dirty="0">
                <a:solidFill>
                  <a:srgbClr val="000000"/>
                </a:solidFill>
                <a:latin typeface="Times New Roman"/>
                <a:ea typeface="黑体" panose="02010609060101010101" pitchFamily="49" charset="-122"/>
              </a:rPr>
              <a:t>）无线物理层</a:t>
            </a:r>
            <a:r>
              <a:rPr lang="en-US" altLang="zh-CN" sz="2000" dirty="0">
                <a:solidFill>
                  <a:srgbClr val="000000"/>
                </a:solidFill>
                <a:latin typeface="Times New Roman"/>
                <a:ea typeface="黑体" panose="02010609060101010101" pitchFamily="49" charset="-122"/>
              </a:rPr>
              <a:t>( RAN1) </a:t>
            </a:r>
            <a:r>
              <a:rPr lang="zh-CN" altLang="en-US" sz="2000" dirty="0">
                <a:solidFill>
                  <a:srgbClr val="000000"/>
                </a:solidFill>
                <a:latin typeface="Times New Roman"/>
                <a:ea typeface="黑体" panose="02010609060101010101" pitchFamily="49" charset="-122"/>
              </a:rPr>
              <a:t>第</a:t>
            </a:r>
            <a:r>
              <a:rPr lang="en-US" altLang="zh-CN" sz="2000" dirty="0">
                <a:solidFill>
                  <a:srgbClr val="000000"/>
                </a:solidFill>
                <a:latin typeface="Times New Roman"/>
                <a:ea typeface="黑体" panose="02010609060101010101" pitchFamily="49" charset="-122"/>
              </a:rPr>
              <a:t>87</a:t>
            </a:r>
            <a:r>
              <a:rPr lang="zh-CN" altLang="en-US" sz="2000" dirty="0">
                <a:solidFill>
                  <a:srgbClr val="000000"/>
                </a:solidFill>
                <a:latin typeface="Times New Roman"/>
                <a:ea typeface="黑体" panose="02010609060101010101" pitchFamily="49" charset="-122"/>
              </a:rPr>
              <a:t>会议在美国</a:t>
            </a:r>
            <a:r>
              <a:rPr lang="en-US" altLang="zh-CN" sz="2000" dirty="0">
                <a:solidFill>
                  <a:srgbClr val="000000"/>
                </a:solidFill>
                <a:latin typeface="Times New Roman"/>
                <a:ea typeface="黑体" panose="02010609060101010101" pitchFamily="49" charset="-122"/>
              </a:rPr>
              <a:t>Reno</a:t>
            </a:r>
            <a:r>
              <a:rPr lang="zh-CN" altLang="en-US" sz="2000" dirty="0">
                <a:solidFill>
                  <a:srgbClr val="000000"/>
                </a:solidFill>
                <a:latin typeface="Times New Roman"/>
                <a:ea typeface="黑体" panose="02010609060101010101" pitchFamily="49" charset="-122"/>
              </a:rPr>
              <a:t>召开，会议上，经过激烈的竞争，华为等中国企业主推的极化码（</a:t>
            </a:r>
            <a:r>
              <a:rPr lang="en-US" altLang="zh-CN" sz="2000" dirty="0">
                <a:solidFill>
                  <a:srgbClr val="000000"/>
                </a:solidFill>
                <a:latin typeface="Times New Roman"/>
                <a:ea typeface="黑体" panose="02010609060101010101" pitchFamily="49" charset="-122"/>
              </a:rPr>
              <a:t>Polar Code</a:t>
            </a:r>
            <a:r>
              <a:rPr lang="zh-CN" altLang="en-US" sz="2000" dirty="0">
                <a:solidFill>
                  <a:srgbClr val="000000"/>
                </a:solidFill>
                <a:latin typeface="Times New Roman"/>
                <a:ea typeface="黑体" panose="02010609060101010101" pitchFamily="49" charset="-122"/>
              </a:rPr>
              <a:t>）击败美国主推的</a:t>
            </a:r>
            <a:r>
              <a:rPr lang="en-US" altLang="zh-CN" sz="2000" dirty="0">
                <a:solidFill>
                  <a:srgbClr val="000000"/>
                </a:solidFill>
                <a:latin typeface="Times New Roman"/>
                <a:ea typeface="黑体" panose="02010609060101010101" pitchFamily="49" charset="-122"/>
              </a:rPr>
              <a:t>LDPC</a:t>
            </a:r>
            <a:r>
              <a:rPr lang="zh-CN" altLang="en-US" sz="2000" dirty="0">
                <a:solidFill>
                  <a:srgbClr val="000000"/>
                </a:solidFill>
                <a:latin typeface="Times New Roman"/>
                <a:ea typeface="黑体" panose="02010609060101010101" pitchFamily="49" charset="-122"/>
              </a:rPr>
              <a:t>码和法国主推的</a:t>
            </a:r>
            <a:r>
              <a:rPr lang="en-US" altLang="zh-CN" sz="2000" dirty="0">
                <a:solidFill>
                  <a:srgbClr val="000000"/>
                </a:solidFill>
                <a:latin typeface="Times New Roman"/>
                <a:ea typeface="黑体" panose="02010609060101010101" pitchFamily="49" charset="-122"/>
              </a:rPr>
              <a:t>Turbo</a:t>
            </a:r>
            <a:r>
              <a:rPr lang="zh-CN" altLang="en-US" sz="2000" dirty="0">
                <a:solidFill>
                  <a:srgbClr val="000000"/>
                </a:solidFill>
                <a:latin typeface="Times New Roman"/>
                <a:ea typeface="黑体" panose="02010609060101010101" pitchFamily="49" charset="-122"/>
              </a:rPr>
              <a:t>码，成为</a:t>
            </a:r>
            <a:r>
              <a:rPr lang="en-US" altLang="zh-CN" sz="2000" dirty="0">
                <a:solidFill>
                  <a:srgbClr val="000000"/>
                </a:solidFill>
                <a:latin typeface="Times New Roman"/>
                <a:ea typeface="黑体" panose="02010609060101010101" pitchFamily="49" charset="-122"/>
              </a:rPr>
              <a:t>5G </a:t>
            </a:r>
            <a:r>
              <a:rPr lang="en-US" altLang="zh-CN" sz="2000" dirty="0" err="1">
                <a:solidFill>
                  <a:srgbClr val="000000"/>
                </a:solidFill>
                <a:latin typeface="Times New Roman"/>
                <a:ea typeface="黑体" panose="02010609060101010101" pitchFamily="49" charset="-122"/>
              </a:rPr>
              <a:t>eMBB</a:t>
            </a:r>
            <a:r>
              <a:rPr lang="zh-CN" altLang="en-US" sz="2000" dirty="0">
                <a:solidFill>
                  <a:srgbClr val="000000"/>
                </a:solidFill>
                <a:latin typeface="Times New Roman"/>
                <a:ea typeface="黑体" panose="02010609060101010101" pitchFamily="49" charset="-122"/>
              </a:rPr>
              <a:t>场景在短码上的控制信道编码方案。</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zh-CN" altLang="en-US" sz="2000" dirty="0">
                <a:solidFill>
                  <a:srgbClr val="000000"/>
                </a:solidFill>
                <a:latin typeface="Times New Roman"/>
                <a:ea typeface="黑体" panose="02010609060101010101" pitchFamily="49" charset="-122"/>
              </a:rPr>
              <a:t>自此，在</a:t>
            </a:r>
            <a:r>
              <a:rPr lang="en-US" altLang="zh-CN" sz="2000" dirty="0">
                <a:solidFill>
                  <a:srgbClr val="000000"/>
                </a:solidFill>
                <a:latin typeface="Times New Roman"/>
                <a:ea typeface="黑体" panose="02010609060101010101" pitchFamily="49" charset="-122"/>
              </a:rPr>
              <a:t>5G </a:t>
            </a:r>
            <a:r>
              <a:rPr lang="en-US" altLang="zh-CN" sz="2000" dirty="0" err="1">
                <a:solidFill>
                  <a:srgbClr val="000000"/>
                </a:solidFill>
                <a:latin typeface="Times New Roman"/>
                <a:ea typeface="黑体" panose="02010609060101010101" pitchFamily="49" charset="-122"/>
              </a:rPr>
              <a:t>eMBB</a:t>
            </a:r>
            <a:r>
              <a:rPr lang="zh-CN" altLang="en-US" sz="2000" dirty="0">
                <a:solidFill>
                  <a:srgbClr val="000000"/>
                </a:solidFill>
                <a:latin typeface="Times New Roman"/>
                <a:ea typeface="黑体" panose="02010609060101010101" pitchFamily="49" charset="-122"/>
              </a:rPr>
              <a:t>场景上，</a:t>
            </a:r>
            <a:r>
              <a:rPr lang="en-US" altLang="zh-CN" sz="2000" u="sng" dirty="0">
                <a:solidFill>
                  <a:srgbClr val="000000"/>
                </a:solidFill>
                <a:latin typeface="Times New Roman"/>
                <a:ea typeface="黑体" panose="02010609060101010101" pitchFamily="49" charset="-122"/>
              </a:rPr>
              <a:t>Polar</a:t>
            </a:r>
            <a:r>
              <a:rPr lang="zh-CN" altLang="en-US" sz="2000" u="sng" dirty="0">
                <a:solidFill>
                  <a:srgbClr val="000000"/>
                </a:solidFill>
                <a:latin typeface="Times New Roman"/>
                <a:ea typeface="黑体" panose="02010609060101010101" pitchFamily="49" charset="-122"/>
              </a:rPr>
              <a:t>码</a:t>
            </a:r>
            <a:r>
              <a:rPr lang="zh-CN" altLang="en-US" sz="2000" dirty="0">
                <a:solidFill>
                  <a:srgbClr val="000000"/>
                </a:solidFill>
                <a:latin typeface="Times New Roman"/>
                <a:ea typeface="黑体" panose="02010609060101010101" pitchFamily="49" charset="-122"/>
              </a:rPr>
              <a:t>和 </a:t>
            </a:r>
            <a:r>
              <a:rPr lang="en-US" altLang="zh-CN" sz="2000" u="sng" dirty="0">
                <a:solidFill>
                  <a:srgbClr val="000000"/>
                </a:solidFill>
                <a:latin typeface="Times New Roman"/>
                <a:ea typeface="黑体" panose="02010609060101010101" pitchFamily="49" charset="-122"/>
              </a:rPr>
              <a:t>LDPC </a:t>
            </a:r>
            <a:r>
              <a:rPr lang="zh-CN" altLang="en-US" sz="2000" u="sng" dirty="0">
                <a:solidFill>
                  <a:srgbClr val="000000"/>
                </a:solidFill>
                <a:latin typeface="Times New Roman"/>
                <a:ea typeface="黑体" panose="02010609060101010101" pitchFamily="49" charset="-122"/>
              </a:rPr>
              <a:t>码</a:t>
            </a:r>
            <a:r>
              <a:rPr lang="zh-CN" altLang="en-US" sz="2000" dirty="0">
                <a:solidFill>
                  <a:srgbClr val="000000"/>
                </a:solidFill>
                <a:latin typeface="Times New Roman"/>
                <a:ea typeface="黑体" panose="02010609060101010101" pitchFamily="49" charset="-122"/>
              </a:rPr>
              <a:t>二分天下，</a:t>
            </a: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endParaRPr lang="en-US" altLang="zh-CN" sz="2000" dirty="0">
              <a:solidFill>
                <a:srgbClr val="000000"/>
              </a:solidFill>
              <a:latin typeface="Times New Roman"/>
              <a:ea typeface="黑体" panose="02010609060101010101" pitchFamily="49" charset="-122"/>
            </a:endParaRP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en-US" altLang="zh-CN" sz="2000" dirty="0">
                <a:solidFill>
                  <a:srgbClr val="000000"/>
                </a:solidFill>
                <a:highlight>
                  <a:srgbClr val="FFFF00"/>
                </a:highlight>
                <a:latin typeface="黑体"/>
                <a:ea typeface="黑体"/>
              </a:rPr>
              <a:t>·</a:t>
            </a:r>
            <a:r>
              <a:rPr lang="en-US" altLang="zh-CN" sz="2000" dirty="0">
                <a:solidFill>
                  <a:srgbClr val="000000"/>
                </a:solidFill>
                <a:highlight>
                  <a:srgbClr val="FFFF00"/>
                </a:highlight>
                <a:latin typeface="Times New Roman"/>
                <a:ea typeface="黑体" panose="02010609060101010101" pitchFamily="49" charset="-122"/>
              </a:rPr>
              <a:t>Polar</a:t>
            </a:r>
            <a:r>
              <a:rPr lang="zh-CN" altLang="en-US" sz="2000" dirty="0">
                <a:solidFill>
                  <a:srgbClr val="000000"/>
                </a:solidFill>
                <a:highlight>
                  <a:srgbClr val="FFFF00"/>
                </a:highlight>
                <a:latin typeface="Times New Roman"/>
                <a:ea typeface="黑体" panose="02010609060101010101" pitchFamily="49" charset="-122"/>
              </a:rPr>
              <a:t>码历史性地与</a:t>
            </a:r>
            <a:r>
              <a:rPr lang="en-US" altLang="zh-CN" sz="2000" dirty="0">
                <a:solidFill>
                  <a:srgbClr val="000000"/>
                </a:solidFill>
                <a:highlight>
                  <a:srgbClr val="FFFF00"/>
                </a:highlight>
                <a:latin typeface="Times New Roman"/>
                <a:ea typeface="黑体" panose="02010609060101010101" pitchFamily="49" charset="-122"/>
              </a:rPr>
              <a:t>LDPC</a:t>
            </a:r>
            <a:r>
              <a:rPr lang="zh-CN" altLang="en-US" sz="2000" dirty="0">
                <a:solidFill>
                  <a:srgbClr val="000000"/>
                </a:solidFill>
                <a:highlight>
                  <a:srgbClr val="FFFF00"/>
                </a:highlight>
                <a:latin typeface="Times New Roman"/>
                <a:ea typeface="黑体" panose="02010609060101010101" pitchFamily="49" charset="-122"/>
              </a:rPr>
              <a:t>码一起走进蜂窝移动通信系统。</a:t>
            </a:r>
          </a:p>
          <a:p>
            <a:pPr eaLnBrk="0" fontAlgn="base" hangingPunct="0">
              <a:lnSpc>
                <a:spcPct val="150000"/>
              </a:lnSpc>
              <a:spcBef>
                <a:spcPct val="0"/>
              </a:spcBef>
              <a:spcAft>
                <a:spcPct val="0"/>
              </a:spcAft>
            </a:pPr>
            <a:r>
              <a:rPr lang="en-US" altLang="zh-CN" sz="2000" dirty="0">
                <a:solidFill>
                  <a:srgbClr val="000000"/>
                </a:solidFill>
                <a:latin typeface="Times New Roman"/>
                <a:ea typeface="黑体" panose="02010609060101010101" pitchFamily="49" charset="-122"/>
              </a:rPr>
              <a:t>     </a:t>
            </a:r>
            <a:r>
              <a:rPr lang="en-US" altLang="zh-CN" sz="2000" dirty="0">
                <a:solidFill>
                  <a:srgbClr val="000000"/>
                </a:solidFill>
                <a:highlight>
                  <a:srgbClr val="FFFF00"/>
                </a:highlight>
                <a:latin typeface="黑体"/>
                <a:ea typeface="黑体"/>
              </a:rPr>
              <a:t>·</a:t>
            </a:r>
            <a:r>
              <a:rPr lang="en-US" altLang="zh-CN" sz="2000" dirty="0">
                <a:solidFill>
                  <a:srgbClr val="000000"/>
                </a:solidFill>
                <a:highlight>
                  <a:srgbClr val="FFFF00"/>
                </a:highlight>
                <a:latin typeface="Times New Roman"/>
                <a:ea typeface="黑体" panose="02010609060101010101" pitchFamily="49" charset="-122"/>
              </a:rPr>
              <a:t>Polar</a:t>
            </a:r>
            <a:r>
              <a:rPr lang="zh-CN" altLang="en-US" sz="2000" dirty="0">
                <a:solidFill>
                  <a:srgbClr val="000000"/>
                </a:solidFill>
                <a:highlight>
                  <a:srgbClr val="FFFF00"/>
                </a:highlight>
                <a:latin typeface="Times New Roman"/>
                <a:ea typeface="黑体" panose="02010609060101010101" pitchFamily="49" charset="-122"/>
              </a:rPr>
              <a:t>码入选</a:t>
            </a:r>
            <a:r>
              <a:rPr lang="en-US" altLang="zh-CN" sz="2000" dirty="0">
                <a:solidFill>
                  <a:srgbClr val="000000"/>
                </a:solidFill>
                <a:highlight>
                  <a:srgbClr val="FFFF00"/>
                </a:highlight>
                <a:latin typeface="Times New Roman"/>
                <a:ea typeface="黑体" panose="02010609060101010101" pitchFamily="49" charset="-122"/>
              </a:rPr>
              <a:t>5G</a:t>
            </a:r>
            <a:r>
              <a:rPr lang="zh-CN" altLang="en-US" sz="2000" dirty="0">
                <a:solidFill>
                  <a:srgbClr val="000000"/>
                </a:solidFill>
                <a:highlight>
                  <a:srgbClr val="FFFF00"/>
                </a:highlight>
                <a:latin typeface="Times New Roman"/>
                <a:ea typeface="黑体" panose="02010609060101010101" pitchFamily="49" charset="-122"/>
              </a:rPr>
              <a:t>标准意味着中国通讯企业第一次迈入世界顶尖领域。</a:t>
            </a:r>
          </a:p>
        </p:txBody>
      </p:sp>
      <p:sp>
        <p:nvSpPr>
          <p:cNvPr id="8" name="文本框 7"/>
          <p:cNvSpPr txBox="1"/>
          <p:nvPr/>
        </p:nvSpPr>
        <p:spPr>
          <a:xfrm>
            <a:off x="2665215" y="3272688"/>
            <a:ext cx="2057406"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eaLnBrk="0" fontAlgn="base" hangingPunct="0">
              <a:spcBef>
                <a:spcPct val="0"/>
              </a:spcBef>
              <a:spcAft>
                <a:spcPct val="0"/>
              </a:spcAft>
            </a:pPr>
            <a:r>
              <a:rPr lang="zh-CN" altLang="en-US" dirty="0">
                <a:solidFill>
                  <a:srgbClr val="000000"/>
                </a:solidFill>
                <a:latin typeface="黑体" panose="02010609060101010101" pitchFamily="49" charset="-122"/>
                <a:ea typeface="黑体" panose="02010609060101010101" pitchFamily="49" charset="-122"/>
              </a:rPr>
              <a:t>信令信道编码方案</a:t>
            </a:r>
            <a:endParaRPr lang="zh-CN" altLang="en-US" dirty="0">
              <a:solidFill>
                <a:srgbClr val="000000"/>
              </a:solidFill>
              <a:latin typeface="Times New Roman"/>
              <a:ea typeface="黑体"/>
            </a:endParaRPr>
          </a:p>
        </p:txBody>
      </p:sp>
      <p:sp>
        <p:nvSpPr>
          <p:cNvPr id="10" name="文本框 9"/>
          <p:cNvSpPr txBox="1"/>
          <p:nvPr/>
        </p:nvSpPr>
        <p:spPr>
          <a:xfrm>
            <a:off x="5141704" y="3265000"/>
            <a:ext cx="2057406"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eaLnBrk="0" fontAlgn="base" hangingPunct="0">
              <a:spcBef>
                <a:spcPct val="0"/>
              </a:spcBef>
              <a:spcAft>
                <a:spcPct val="0"/>
              </a:spcAft>
            </a:pPr>
            <a:r>
              <a:rPr lang="zh-CN" altLang="en-US" dirty="0">
                <a:solidFill>
                  <a:srgbClr val="000000"/>
                </a:solidFill>
                <a:latin typeface="黑体" panose="02010609060101010101" pitchFamily="49" charset="-122"/>
                <a:ea typeface="黑体" panose="02010609060101010101" pitchFamily="49" charset="-122"/>
              </a:rPr>
              <a:t>数据信道编码方案</a:t>
            </a:r>
            <a:endParaRPr lang="zh-CN" altLang="en-US" dirty="0">
              <a:solidFill>
                <a:srgbClr val="000000"/>
              </a:solidFill>
              <a:latin typeface="Times New Roman"/>
              <a:ea typeface="黑体"/>
            </a:endParaRPr>
          </a:p>
        </p:txBody>
      </p:sp>
      <p:cxnSp>
        <p:nvCxnSpPr>
          <p:cNvPr id="12" name="直接连接符 11"/>
          <p:cNvCxnSpPr>
            <a:endCxn id="8" idx="0"/>
          </p:cNvCxnSpPr>
          <p:nvPr/>
        </p:nvCxnSpPr>
        <p:spPr bwMode="auto">
          <a:xfrm flipH="1">
            <a:off x="3693919" y="3076294"/>
            <a:ext cx="419119" cy="1963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10" idx="0"/>
          </p:cNvCxnSpPr>
          <p:nvPr/>
        </p:nvCxnSpPr>
        <p:spPr bwMode="auto">
          <a:xfrm>
            <a:off x="5427431" y="3022096"/>
            <a:ext cx="742976" cy="242905"/>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07C35A83-3BE8-E1DF-6930-F33E7206C764}"/>
              </a:ext>
            </a:extLst>
          </p:cNvPr>
          <p:cNvSpPr txBox="1"/>
          <p:nvPr/>
        </p:nvSpPr>
        <p:spPr>
          <a:xfrm>
            <a:off x="264948" y="5167103"/>
            <a:ext cx="11296187" cy="957250"/>
          </a:xfrm>
          <a:prstGeom prst="rect">
            <a:avLst/>
          </a:prstGeom>
          <a:noFill/>
        </p:spPr>
        <p:txBody>
          <a:bodyPr wrap="square">
            <a:spAutoFit/>
          </a:bodyPr>
          <a:lstStyle/>
          <a:p>
            <a:pPr eaLnBrk="0" fontAlgn="base" hangingPunct="0">
              <a:lnSpc>
                <a:spcPct val="150000"/>
              </a:lnSpc>
              <a:spcBef>
                <a:spcPct val="0"/>
              </a:spcBef>
              <a:spcAft>
                <a:spcPct val="0"/>
              </a:spcAft>
            </a:pPr>
            <a:r>
              <a:rPr kumimoji="1" lang="zh-CN" altLang="en-US" sz="2000" dirty="0">
                <a:solidFill>
                  <a:srgbClr val="000000"/>
                </a:solidFill>
                <a:latin typeface="Times New Roman"/>
                <a:ea typeface="黑体" panose="02010609060101010101" pitchFamily="49" charset="-122"/>
              </a:rPr>
              <a:t>      极化码的优势是计算量小，用小规模的芯片就可以实现，比较适应于</a:t>
            </a:r>
            <a:r>
              <a:rPr kumimoji="1" lang="en-US" altLang="zh-CN" sz="2000" dirty="0">
                <a:solidFill>
                  <a:srgbClr val="000000"/>
                </a:solidFill>
                <a:latin typeface="Times New Roman"/>
                <a:ea typeface="黑体" panose="02010609060101010101" pitchFamily="49" charset="-122"/>
              </a:rPr>
              <a:t>5G</a:t>
            </a:r>
            <a:r>
              <a:rPr kumimoji="1" lang="zh-CN" altLang="en-US" sz="2000" dirty="0">
                <a:solidFill>
                  <a:srgbClr val="000000"/>
                </a:solidFill>
                <a:latin typeface="Times New Roman"/>
                <a:ea typeface="黑体" panose="02010609060101010101" pitchFamily="49" charset="-122"/>
              </a:rPr>
              <a:t>的小基站，而且采用这种编码方法的硬件商业化后设备成本低，因此也极具竞争力。</a:t>
            </a:r>
          </a:p>
        </p:txBody>
      </p:sp>
      <p:sp>
        <p:nvSpPr>
          <p:cNvPr id="6" name="文本框 5">
            <a:extLst>
              <a:ext uri="{FF2B5EF4-FFF2-40B4-BE49-F238E27FC236}">
                <a16:creationId xmlns:a16="http://schemas.microsoft.com/office/drawing/2014/main" id="{329DA5EB-C3AA-E7E9-7C92-7705A3009690}"/>
              </a:ext>
            </a:extLst>
          </p:cNvPr>
          <p:cNvSpPr txBox="1"/>
          <p:nvPr/>
        </p:nvSpPr>
        <p:spPr>
          <a:xfrm>
            <a:off x="265616" y="4519597"/>
            <a:ext cx="6096000" cy="559127"/>
          </a:xfrm>
          <a:prstGeom prst="rect">
            <a:avLst/>
          </a:prstGeom>
          <a:noFill/>
        </p:spPr>
        <p:txBody>
          <a:bodyPr wrap="square">
            <a:spAutoFit/>
          </a:bodyPr>
          <a:lstStyle/>
          <a:p>
            <a:pPr>
              <a:lnSpc>
                <a:spcPct val="200000"/>
              </a:lnSpc>
              <a:spcBef>
                <a:spcPts val="0"/>
              </a:spcBef>
              <a:spcAft>
                <a:spcPts val="0"/>
              </a:spcAft>
            </a:pPr>
            <a:r>
              <a:rPr lang="zh-CN" altLang="en-US" sz="1800" dirty="0">
                <a:solidFill>
                  <a:srgbClr val="FF0000"/>
                </a:solidFill>
                <a:latin typeface="黑体" panose="02010609060101010101" pitchFamily="49" charset="-122"/>
                <a:ea typeface="黑体" panose="02010609060101010101" pitchFamily="49" charset="-122"/>
              </a:rPr>
              <a:t>为什么目前</a:t>
            </a:r>
            <a:r>
              <a:rPr lang="zh-CN" altLang="en-US" sz="1800" dirty="0">
                <a:solidFill>
                  <a:srgbClr val="FF0000"/>
                </a:solidFill>
                <a:latin typeface="Times New Roman"/>
                <a:ea typeface="黑体" panose="02010609060101010101" pitchFamily="49" charset="-122"/>
              </a:rPr>
              <a:t>我国</a:t>
            </a:r>
            <a:r>
              <a:rPr lang="en-US" altLang="zh-CN" sz="1800" dirty="0">
                <a:solidFill>
                  <a:srgbClr val="FF0000"/>
                </a:solidFill>
                <a:latin typeface="Times New Roman"/>
                <a:ea typeface="黑体" panose="02010609060101010101" pitchFamily="49" charset="-122"/>
              </a:rPr>
              <a:t>5G</a:t>
            </a:r>
            <a:r>
              <a:rPr lang="zh-CN" altLang="en-US" sz="1800" dirty="0">
                <a:solidFill>
                  <a:srgbClr val="FF0000"/>
                </a:solidFill>
                <a:latin typeface="Times New Roman"/>
                <a:ea typeface="黑体" panose="02010609060101010101" pitchFamily="49" charset="-122"/>
              </a:rPr>
              <a:t>基</a:t>
            </a:r>
            <a:r>
              <a:rPr lang="zh-CN" altLang="en-US" sz="1800" dirty="0">
                <a:solidFill>
                  <a:srgbClr val="FF0000"/>
                </a:solidFill>
                <a:latin typeface="黑体" panose="02010609060101010101" pitchFamily="49" charset="-122"/>
                <a:ea typeface="黑体" panose="02010609060101010101" pitchFamily="49" charset="-122"/>
              </a:rPr>
              <a:t>站的信道编码方式选用极化码？</a:t>
            </a:r>
            <a:endParaRPr lang="en-US" altLang="zh-CN" sz="1800" dirty="0">
              <a:solidFill>
                <a:srgbClr val="FF0000"/>
              </a:solidFill>
              <a:latin typeface="黑体" panose="02010609060101010101" pitchFamily="49" charset="-122"/>
              <a:ea typeface="黑体" panose="02010609060101010101" pitchFamily="49" charset="-122"/>
            </a:endParaRP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6014" y="838286"/>
            <a:ext cx="4863940" cy="4114692"/>
          </a:xfrm>
        </p:spPr>
        <p:txBody>
          <a:bodyPr/>
          <a:lstStyle/>
          <a:p>
            <a:pPr marL="0" indent="0">
              <a:lnSpc>
                <a:spcPct val="150000"/>
              </a:lnSpc>
              <a:spcBef>
                <a:spcPts val="0"/>
              </a:spcBef>
              <a:spcAft>
                <a:spcPts val="0"/>
              </a:spcAft>
              <a:buNone/>
            </a:pPr>
            <a:r>
              <a:rPr lang="zh-CN" altLang="en-US" sz="2400" dirty="0">
                <a:solidFill>
                  <a:srgbClr val="FF0000"/>
                </a:solidFill>
              </a:rPr>
              <a:t>思政学习</a:t>
            </a:r>
            <a:endParaRPr lang="en-US" altLang="zh-CN" sz="2000" dirty="0">
              <a:solidFill>
                <a:srgbClr val="FF0000"/>
              </a:solidFill>
            </a:endParaRPr>
          </a:p>
          <a:p>
            <a:pPr marL="0" indent="0">
              <a:lnSpc>
                <a:spcPct val="150000"/>
              </a:lnSpc>
              <a:spcBef>
                <a:spcPts val="0"/>
              </a:spcBef>
              <a:spcAft>
                <a:spcPts val="0"/>
              </a:spcAft>
              <a:buNone/>
            </a:pPr>
            <a:r>
              <a:rPr lang="zh-CN" altLang="en-US" sz="2000" dirty="0"/>
              <a:t>      虽然极化码的原始方案不是由华为首提的，但是从商业与应用角度来讲，这是中国通信技术的一次巨大成功。中国公司首次进入基础通信框架协议领域，最重要的意义在于加大了中国企业在全球通信领域的话语权。</a:t>
            </a:r>
            <a:endParaRPr lang="en-US" altLang="zh-CN" sz="2000" dirty="0"/>
          </a:p>
          <a:p>
            <a:pPr marL="0" indent="0">
              <a:lnSpc>
                <a:spcPct val="150000"/>
              </a:lnSpc>
              <a:spcBef>
                <a:spcPts val="0"/>
              </a:spcBef>
              <a:spcAft>
                <a:spcPts val="0"/>
              </a:spcAft>
              <a:buNone/>
            </a:pPr>
            <a:r>
              <a:rPr lang="zh-CN" altLang="en-US" sz="2000" dirty="0"/>
              <a:t>       华为主导推动的极化码被</a:t>
            </a:r>
            <a:r>
              <a:rPr lang="en-US" altLang="zh-CN" sz="2000" dirty="0"/>
              <a:t>3GPP</a:t>
            </a:r>
            <a:r>
              <a:rPr lang="zh-CN" altLang="en-US" sz="2000" dirty="0"/>
              <a:t>采纳，是中国在</a:t>
            </a:r>
            <a:r>
              <a:rPr lang="en-US" altLang="zh-CN" sz="2000" dirty="0"/>
              <a:t>5G</a:t>
            </a:r>
            <a:r>
              <a:rPr lang="zh-CN" altLang="en-US" sz="2000" dirty="0"/>
              <a:t>通信技术研究和标准化上的重要进展。期待中国在接下来的技术角逐中能够有更多的表现和收获。</a:t>
            </a:r>
            <a:endParaRPr lang="en-US" altLang="zh-CN" sz="2000" dirty="0"/>
          </a:p>
          <a:p>
            <a:pPr marL="0" indent="0">
              <a:lnSpc>
                <a:spcPct val="100000"/>
              </a:lnSpc>
              <a:spcBef>
                <a:spcPts val="0"/>
              </a:spcBef>
              <a:spcAft>
                <a:spcPts val="0"/>
              </a:spcAft>
              <a:buNone/>
            </a:pPr>
            <a:r>
              <a:rPr lang="zh-CN" altLang="en-US" sz="2000" dirty="0"/>
              <a:t>      </a:t>
            </a:r>
          </a:p>
        </p:txBody>
      </p:sp>
      <p:sp>
        <p:nvSpPr>
          <p:cNvPr id="4" name="标题 1"/>
          <p:cNvSpPr>
            <a:spLocks noGrp="1"/>
          </p:cNvSpPr>
          <p:nvPr>
            <p:ph type="title"/>
          </p:nvPr>
        </p:nvSpPr>
        <p:spPr>
          <a:xfrm>
            <a:off x="6400792" y="152486"/>
            <a:ext cx="4114692" cy="685800"/>
          </a:xfrm>
        </p:spPr>
        <p:txBody>
          <a:bodyPr/>
          <a:lstStyle/>
          <a:p>
            <a:pPr>
              <a:defRPr/>
            </a:pPr>
            <a:r>
              <a:rPr kumimoji="0" lang="en-US" altLang="zh-CN" sz="2400" b="1" kern="0" dirty="0">
                <a:solidFill>
                  <a:srgbClr val="000000"/>
                </a:solidFill>
                <a:latin typeface="+mn-lt"/>
                <a:ea typeface="宋体" panose="02010600030101010101" pitchFamily="2" charset="-122"/>
                <a:cs typeface="+mn-cs"/>
              </a:rPr>
              <a:t>Polar</a:t>
            </a:r>
            <a:r>
              <a:rPr kumimoji="0" lang="zh-CN" altLang="en-US" sz="2400" b="1" kern="0" dirty="0">
                <a:solidFill>
                  <a:srgbClr val="000000"/>
                </a:solidFill>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应用</a:t>
            </a:r>
          </a:p>
        </p:txBody>
      </p:sp>
      <p:sp>
        <p:nvSpPr>
          <p:cNvPr id="2" name="内容占位符 2">
            <a:extLst>
              <a:ext uri="{FF2B5EF4-FFF2-40B4-BE49-F238E27FC236}">
                <a16:creationId xmlns:a16="http://schemas.microsoft.com/office/drawing/2014/main" id="{2854FE9B-5D83-9056-C8DE-94765500AA77}"/>
              </a:ext>
            </a:extLst>
          </p:cNvPr>
          <p:cNvSpPr txBox="1">
            <a:spLocks/>
          </p:cNvSpPr>
          <p:nvPr/>
        </p:nvSpPr>
        <p:spPr>
          <a:xfrm>
            <a:off x="5118066" y="838286"/>
            <a:ext cx="6877991" cy="4724276"/>
          </a:xfrm>
          <a:prstGeom prst="rect">
            <a:avLst/>
          </a:prstGeom>
          <a:noFill/>
          <a:ln w="9525">
            <a:noFill/>
          </a:ln>
        </p:spPr>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spcAft>
                <a:spcPts val="0"/>
              </a:spcAft>
              <a:buFont typeface="Wingdings" panose="05000000000000000000" pitchFamily="2" charset="2"/>
              <a:buNone/>
            </a:pPr>
            <a:r>
              <a:rPr lang="zh-CN" altLang="en-US" sz="2400">
                <a:solidFill>
                  <a:srgbClr val="FF0000"/>
                </a:solidFill>
              </a:rPr>
              <a:t>思政学习</a:t>
            </a:r>
            <a:endParaRPr lang="en-US" altLang="zh-CN" sz="2000">
              <a:solidFill>
                <a:srgbClr val="FF0000"/>
              </a:solidFill>
            </a:endParaRPr>
          </a:p>
          <a:p>
            <a:pPr marL="0" indent="0">
              <a:lnSpc>
                <a:spcPct val="150000"/>
              </a:lnSpc>
              <a:spcBef>
                <a:spcPts val="0"/>
              </a:spcBef>
              <a:spcAft>
                <a:spcPts val="0"/>
              </a:spcAft>
              <a:buFont typeface="Wingdings" panose="05000000000000000000" pitchFamily="2" charset="2"/>
              <a:buNone/>
            </a:pPr>
            <a:r>
              <a:rPr lang="zh-CN" altLang="en-US" sz="2000"/>
              <a:t>       今天，华为不光研发出了中国自己的</a:t>
            </a:r>
            <a:r>
              <a:rPr lang="en-US" altLang="zh-CN" sz="2000"/>
              <a:t>5G</a:t>
            </a:r>
            <a:r>
              <a:rPr lang="zh-CN" altLang="en-US" sz="2000"/>
              <a:t>标准，更研发出了携有</a:t>
            </a:r>
            <a:r>
              <a:rPr lang="en-US" altLang="zh-CN" sz="2000"/>
              <a:t>5G</a:t>
            </a:r>
            <a:r>
              <a:rPr lang="zh-CN" altLang="en-US" sz="2000"/>
              <a:t>网络基带的国产芯片！作为华为，乃至中国的第一代智能芯片，不仅彻底打破了国外大企业的垄断，更是将中国的移动网络安全，重新掌控到了自己的手里。</a:t>
            </a:r>
            <a:endParaRPr lang="en-US" altLang="zh-CN" sz="2000"/>
          </a:p>
          <a:p>
            <a:pPr marL="0" indent="0">
              <a:lnSpc>
                <a:spcPct val="150000"/>
              </a:lnSpc>
              <a:spcBef>
                <a:spcPts val="0"/>
              </a:spcBef>
              <a:spcAft>
                <a:spcPts val="0"/>
              </a:spcAft>
              <a:buFont typeface="Wingdings" panose="05000000000000000000" pitchFamily="2" charset="2"/>
              <a:buNone/>
            </a:pPr>
            <a:r>
              <a:rPr lang="zh-CN" altLang="en-US" sz="2000"/>
              <a:t>      华为公司的科研人员以严谨科学的态度和自立自强的勇气，践行“严谨求实、团结协作、拼搏奉献、勇攀高峰”的精神，为科技创新树立了典范。</a:t>
            </a:r>
            <a:endParaRPr lang="en-US" altLang="zh-CN" sz="2000"/>
          </a:p>
          <a:p>
            <a:pPr marL="0" indent="0">
              <a:lnSpc>
                <a:spcPct val="150000"/>
              </a:lnSpc>
              <a:spcBef>
                <a:spcPts val="0"/>
              </a:spcBef>
              <a:spcAft>
                <a:spcPts val="0"/>
              </a:spcAft>
              <a:buFont typeface="Wingdings" panose="05000000000000000000" pitchFamily="2" charset="2"/>
              <a:buNone/>
            </a:pPr>
            <a:r>
              <a:rPr lang="zh-CN" altLang="en-US" sz="2000"/>
              <a:t>      这一次，中国要用自己的实际行动郑告整个世界：中国，要引领新的时代！</a:t>
            </a:r>
            <a:endParaRPr lang="zh-CN" altLang="en-US" sz="2000" dirty="0"/>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361437" y="152486"/>
            <a:ext cx="2285940" cy="685800"/>
          </a:xfrm>
        </p:spPr>
        <p:txBody>
          <a:bodyPr/>
          <a:lstStyle/>
          <a:p>
            <a:pPr algn="ctr">
              <a:defRPr/>
            </a:pPr>
            <a:r>
              <a:rPr kumimoji="0" lang="zh-CN" altLang="en-US" sz="2400" b="1" kern="0" dirty="0">
                <a:solidFill>
                  <a:srgbClr val="000000"/>
                </a:solidFill>
                <a:latin typeface="Arial" panose="020B0604020202020204" pitchFamily="34" charset="0"/>
                <a:ea typeface="宋体" panose="02010600030101010101" pitchFamily="2" charset="-122"/>
                <a:cs typeface="+mn-cs"/>
              </a:rPr>
              <a:t>未来发展趋势</a:t>
            </a:r>
          </a:p>
        </p:txBody>
      </p:sp>
      <p:sp>
        <p:nvSpPr>
          <p:cNvPr id="5" name="内容占位符 2"/>
          <p:cNvSpPr txBox="1"/>
          <p:nvPr/>
        </p:nvSpPr>
        <p:spPr>
          <a:xfrm>
            <a:off x="460850" y="838286"/>
            <a:ext cx="11504322" cy="3047920"/>
          </a:xfrm>
          <a:prstGeom prst="rect">
            <a:avLst/>
          </a:prstGeom>
          <a:noFill/>
          <a:ln w="9525">
            <a:noFill/>
          </a:ln>
        </p:spPr>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50000"/>
              </a:lnSpc>
              <a:spcBef>
                <a:spcPts val="0"/>
              </a:spcBef>
              <a:spcAft>
                <a:spcPts val="0"/>
              </a:spcAft>
              <a:buNone/>
            </a:pPr>
            <a:r>
              <a:rPr lang="zh-CN" altLang="en-US" sz="2000" dirty="0">
                <a:solidFill>
                  <a:srgbClr val="000000"/>
                </a:solidFill>
                <a:latin typeface="Times New Roman"/>
                <a:ea typeface="黑体" panose="02010609060101010101" pitchFamily="49" charset="-122"/>
              </a:rPr>
              <a:t>发展方向 ：</a:t>
            </a:r>
            <a:endParaRPr lang="en-US" altLang="zh-CN" sz="2000" dirty="0">
              <a:solidFill>
                <a:srgbClr val="000000"/>
              </a:solidFill>
              <a:latin typeface="Times New Roman"/>
              <a:ea typeface="黑体" panose="02010609060101010101" pitchFamily="49" charset="-122"/>
            </a:endParaRPr>
          </a:p>
          <a:p>
            <a:pPr marL="0" indent="0">
              <a:lnSpc>
                <a:spcPct val="150000"/>
              </a:lnSpc>
              <a:spcBef>
                <a:spcPts val="0"/>
              </a:spcBef>
              <a:spcAft>
                <a:spcPts val="0"/>
              </a:spcAft>
              <a:buNone/>
            </a:pPr>
            <a:r>
              <a:rPr lang="en-US" altLang="zh-CN" sz="2000" dirty="0">
                <a:solidFill>
                  <a:srgbClr val="000000"/>
                </a:solidFill>
                <a:latin typeface="Times New Roman"/>
                <a:ea typeface="黑体" panose="02010609060101010101" pitchFamily="49" charset="-122"/>
              </a:rPr>
              <a:t>1</a:t>
            </a:r>
            <a:r>
              <a:rPr lang="zh-CN" altLang="en-US" sz="2000" dirty="0">
                <a:solidFill>
                  <a:srgbClr val="000000"/>
                </a:solidFill>
                <a:latin typeface="Times New Roman"/>
                <a:ea typeface="黑体" panose="02010609060101010101" pitchFamily="49" charset="-122"/>
              </a:rPr>
              <a:t>、不同于</a:t>
            </a:r>
            <a:r>
              <a:rPr lang="en-US" altLang="zh-CN" sz="2000" dirty="0" err="1">
                <a:solidFill>
                  <a:srgbClr val="000000"/>
                </a:solidFill>
                <a:latin typeface="Times New Roman"/>
                <a:ea typeface="黑体" panose="02010609060101010101" pitchFamily="49" charset="-122"/>
              </a:rPr>
              <a:t>Arikan</a:t>
            </a:r>
            <a:r>
              <a:rPr lang="zh-CN" altLang="en-US" sz="2000" dirty="0">
                <a:solidFill>
                  <a:srgbClr val="000000"/>
                </a:solidFill>
                <a:latin typeface="Times New Roman"/>
                <a:ea typeface="黑体" panose="02010609060101010101" pitchFamily="49" charset="-122"/>
              </a:rPr>
              <a:t>核的极化核，可采用高维的极化核加快极化速度（可能导致多个极化值）</a:t>
            </a:r>
            <a:endParaRPr lang="en-US" altLang="zh-CN" sz="2000" dirty="0">
              <a:solidFill>
                <a:srgbClr val="000000"/>
              </a:solidFill>
              <a:latin typeface="Times New Roman"/>
              <a:ea typeface="黑体" panose="02010609060101010101" pitchFamily="49" charset="-122"/>
            </a:endParaRPr>
          </a:p>
          <a:p>
            <a:pPr marL="0" indent="0">
              <a:lnSpc>
                <a:spcPct val="150000"/>
              </a:lnSpc>
              <a:spcBef>
                <a:spcPts val="0"/>
              </a:spcBef>
              <a:spcAft>
                <a:spcPts val="0"/>
              </a:spcAft>
              <a:buNone/>
            </a:pPr>
            <a:r>
              <a:rPr lang="en-US" altLang="zh-CN" sz="2000" dirty="0">
                <a:solidFill>
                  <a:srgbClr val="000000"/>
                </a:solidFill>
                <a:latin typeface="Times New Roman"/>
                <a:ea typeface="黑体" panose="02010609060101010101" pitchFamily="49" charset="-122"/>
              </a:rPr>
              <a:t>2</a:t>
            </a:r>
            <a:r>
              <a:rPr lang="zh-CN" altLang="en-US" sz="2000" dirty="0">
                <a:solidFill>
                  <a:srgbClr val="000000"/>
                </a:solidFill>
                <a:latin typeface="Times New Roman"/>
                <a:ea typeface="黑体" panose="02010609060101010101" pitchFamily="49" charset="-122"/>
              </a:rPr>
              <a:t>、空时极化编码，把各个天线发射的码流用</a:t>
            </a:r>
            <a:r>
              <a:rPr lang="en-US" altLang="zh-CN" sz="2000" dirty="0">
                <a:solidFill>
                  <a:srgbClr val="000000"/>
                </a:solidFill>
                <a:latin typeface="Times New Roman"/>
                <a:ea typeface="黑体" panose="02010609060101010101" pitchFamily="49" charset="-122"/>
              </a:rPr>
              <a:t>Polar</a:t>
            </a:r>
            <a:r>
              <a:rPr lang="zh-CN" altLang="en-US" sz="2000" dirty="0">
                <a:solidFill>
                  <a:srgbClr val="000000"/>
                </a:solidFill>
                <a:latin typeface="Times New Roman"/>
                <a:ea typeface="黑体" panose="02010609060101010101" pitchFamily="49" charset="-122"/>
              </a:rPr>
              <a:t>码方式进行编码。</a:t>
            </a:r>
            <a:endParaRPr lang="en-US" altLang="zh-CN" sz="2000" dirty="0">
              <a:solidFill>
                <a:srgbClr val="000000"/>
              </a:solidFill>
              <a:latin typeface="Times New Roman"/>
              <a:ea typeface="黑体" panose="02010609060101010101" pitchFamily="49" charset="-122"/>
            </a:endParaRPr>
          </a:p>
          <a:p>
            <a:pPr marL="0" indent="0">
              <a:lnSpc>
                <a:spcPct val="150000"/>
              </a:lnSpc>
              <a:spcBef>
                <a:spcPts val="0"/>
              </a:spcBef>
              <a:spcAft>
                <a:spcPts val="0"/>
              </a:spcAft>
              <a:buNone/>
            </a:pPr>
            <a:r>
              <a:rPr lang="en-US" altLang="zh-CN" sz="2000" dirty="0">
                <a:solidFill>
                  <a:srgbClr val="000000"/>
                </a:solidFill>
                <a:latin typeface="Times New Roman"/>
                <a:ea typeface="黑体" panose="02010609060101010101" pitchFamily="49" charset="-122"/>
              </a:rPr>
              <a:t>3</a:t>
            </a:r>
            <a:r>
              <a:rPr lang="zh-CN" altLang="en-US" sz="2000" dirty="0">
                <a:solidFill>
                  <a:srgbClr val="000000"/>
                </a:solidFill>
                <a:latin typeface="Times New Roman"/>
                <a:ea typeface="黑体" panose="02010609060101010101" pitchFamily="49" charset="-122"/>
              </a:rPr>
              <a:t>、增加外码，如</a:t>
            </a:r>
            <a:r>
              <a:rPr lang="en-US" altLang="zh-CN" sz="2000" dirty="0">
                <a:solidFill>
                  <a:srgbClr val="000000"/>
                </a:solidFill>
                <a:latin typeface="Times New Roman"/>
                <a:ea typeface="黑体" panose="02010609060101010101" pitchFamily="49" charset="-122"/>
              </a:rPr>
              <a:t>RS</a:t>
            </a:r>
            <a:r>
              <a:rPr lang="zh-CN" altLang="en-US" sz="2000" dirty="0">
                <a:solidFill>
                  <a:srgbClr val="000000"/>
                </a:solidFill>
                <a:latin typeface="Times New Roman"/>
                <a:ea typeface="黑体" panose="02010609060101010101" pitchFamily="49" charset="-122"/>
              </a:rPr>
              <a:t>码，有助于进一步提升系统性能。</a:t>
            </a:r>
            <a:endParaRPr lang="en-US" altLang="zh-CN" sz="2000" dirty="0">
              <a:solidFill>
                <a:srgbClr val="000000"/>
              </a:solidFill>
              <a:latin typeface="Times New Roman"/>
              <a:ea typeface="黑体" panose="02010609060101010101" pitchFamily="49" charset="-122"/>
            </a:endParaRPr>
          </a:p>
          <a:p>
            <a:pPr marL="0" indent="0">
              <a:lnSpc>
                <a:spcPct val="150000"/>
              </a:lnSpc>
              <a:spcBef>
                <a:spcPts val="0"/>
              </a:spcBef>
              <a:spcAft>
                <a:spcPts val="0"/>
              </a:spcAft>
              <a:buNone/>
            </a:pPr>
            <a:r>
              <a:rPr lang="en-US" altLang="zh-CN" sz="2000" dirty="0">
                <a:solidFill>
                  <a:srgbClr val="000000"/>
                </a:solidFill>
                <a:latin typeface="Times New Roman"/>
                <a:ea typeface="黑体" panose="02010609060101010101" pitchFamily="49" charset="-122"/>
              </a:rPr>
              <a:t>4</a:t>
            </a:r>
            <a:r>
              <a:rPr lang="zh-CN" altLang="en-US" sz="2000" dirty="0">
                <a:solidFill>
                  <a:srgbClr val="000000"/>
                </a:solidFill>
                <a:latin typeface="Times New Roman"/>
                <a:ea typeface="黑体" panose="02010609060101010101" pitchFamily="49" charset="-122"/>
              </a:rPr>
              <a:t>、采取低复杂度并行解码。</a:t>
            </a:r>
            <a:endParaRPr lang="en-US" altLang="zh-CN" sz="2000" dirty="0">
              <a:solidFill>
                <a:srgbClr val="000000"/>
              </a:solidFill>
              <a:latin typeface="Times New Roman"/>
              <a:ea typeface="黑体" panose="02010609060101010101" pitchFamily="49" charset="-122"/>
            </a:endParaRPr>
          </a:p>
          <a:p>
            <a:pPr marL="0" indent="0">
              <a:lnSpc>
                <a:spcPct val="150000"/>
              </a:lnSpc>
              <a:spcBef>
                <a:spcPts val="0"/>
              </a:spcBef>
              <a:spcAft>
                <a:spcPts val="0"/>
              </a:spcAft>
              <a:buNone/>
            </a:pPr>
            <a:endParaRPr lang="en-US" altLang="zh-CN" sz="2000" dirty="0">
              <a:solidFill>
                <a:srgbClr val="000000"/>
              </a:solidFill>
              <a:latin typeface="黑体" panose="02010609060101010101" pitchFamily="49" charset="-122"/>
              <a:ea typeface="黑体" panose="02010609060101010101" pitchFamily="49" charset="-122"/>
            </a:endParaRPr>
          </a:p>
        </p:txBody>
      </p:sp>
      <p:sp>
        <p:nvSpPr>
          <p:cNvPr id="2" name="内容占位符 2">
            <a:extLst>
              <a:ext uri="{FF2B5EF4-FFF2-40B4-BE49-F238E27FC236}">
                <a16:creationId xmlns:a16="http://schemas.microsoft.com/office/drawing/2014/main" id="{989B3A73-79C7-B4F4-FD67-AD83AAB0FBB5}"/>
              </a:ext>
            </a:extLst>
          </p:cNvPr>
          <p:cNvSpPr txBox="1"/>
          <p:nvPr/>
        </p:nvSpPr>
        <p:spPr>
          <a:xfrm>
            <a:off x="460850" y="3763932"/>
            <a:ext cx="7197623" cy="1828752"/>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spcAft>
                <a:spcPts val="0"/>
              </a:spcAft>
              <a:buNone/>
            </a:pPr>
            <a:r>
              <a:rPr lang="zh-CN" altLang="en-US" dirty="0">
                <a:solidFill>
                  <a:srgbClr val="FF0000"/>
                </a:solidFill>
                <a:latin typeface="黑体" panose="02010609060101010101" pitchFamily="49" charset="-122"/>
                <a:ea typeface="黑体" panose="02010609060101010101" pitchFamily="49" charset="-122"/>
              </a:rPr>
              <a:t>思考？</a:t>
            </a:r>
            <a:endParaRPr lang="en-US" altLang="zh-CN" dirty="0">
              <a:solidFill>
                <a:srgbClr val="FF0000"/>
              </a:solidFill>
              <a:latin typeface="黑体" panose="02010609060101010101" pitchFamily="49" charset="-122"/>
              <a:ea typeface="黑体" panose="02010609060101010101" pitchFamily="49" charset="-122"/>
            </a:endParaRPr>
          </a:p>
          <a:p>
            <a:pPr marL="0" indent="0">
              <a:lnSpc>
                <a:spcPct val="150000"/>
              </a:lnSpc>
              <a:spcBef>
                <a:spcPts val="0"/>
              </a:spcBef>
              <a:spcAft>
                <a:spcPts val="0"/>
              </a:spcAft>
              <a:buNone/>
            </a:pPr>
            <a:endParaRPr lang="en-US" altLang="zh-CN" sz="2000" dirty="0">
              <a:solidFill>
                <a:srgbClr val="000000"/>
              </a:solidFill>
              <a:latin typeface="黑体" panose="02010609060101010101" pitchFamily="49" charset="-122"/>
              <a:ea typeface="黑体" panose="02010609060101010101" pitchFamily="49" charset="-122"/>
            </a:endParaRPr>
          </a:p>
          <a:p>
            <a:pPr>
              <a:lnSpc>
                <a:spcPct val="150000"/>
              </a:lnSpc>
              <a:spcBef>
                <a:spcPts val="0"/>
              </a:spcBef>
              <a:spcAft>
                <a:spcPts val="0"/>
              </a:spcAft>
            </a:pPr>
            <a:r>
              <a:rPr lang="zh-CN" altLang="en-US" sz="2000" dirty="0">
                <a:solidFill>
                  <a:srgbClr val="000000"/>
                </a:solidFill>
                <a:latin typeface="黑体" panose="02010609060101010101" pitchFamily="49" charset="-122"/>
                <a:ea typeface="黑体" panose="02010609060101010101" pitchFamily="49" charset="-122"/>
              </a:rPr>
              <a:t>目前极化码如何在短码情况下提高解码性能？</a:t>
            </a:r>
            <a:endParaRPr lang="en-US" altLang="zh-CN" sz="2000" dirty="0">
              <a:solidFill>
                <a:srgbClr val="000000"/>
              </a:solidFill>
              <a:latin typeface="黑体" panose="02010609060101010101" pitchFamily="49" charset="-122"/>
              <a:ea typeface="黑体" panose="02010609060101010101" pitchFamily="49" charset="-122"/>
            </a:endParaRPr>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1701166" y="2819400"/>
            <a:ext cx="8738235" cy="685800"/>
          </a:xfrm>
        </p:spPr>
        <p:txBody>
          <a:bodyPr vert="horz" wrap="square" lIns="91440" tIns="45720" rIns="91440" bIns="45720" anchor="ctr"/>
          <a:lstStyle>
            <a:lvl1pPr lvl="0">
              <a:defRPr kern="1200"/>
            </a:lvl1pPr>
          </a:lstStyle>
          <a:p>
            <a:pPr lvl="0" algn="ctr" eaLnBrk="1" hangingPunct="1"/>
            <a:r>
              <a:rPr lang="zh-CN" altLang="en-US" sz="3600" dirty="0">
                <a:solidFill>
                  <a:schemeClr val="bg1"/>
                </a:solidFill>
                <a:latin typeface="黑体" panose="02010609060101010101" pitchFamily="49" charset="-122"/>
                <a:ea typeface="黑体" panose="02010609060101010101" pitchFamily="49" charset="-122"/>
                <a:sym typeface="+mn-ea"/>
              </a:rPr>
              <a:t>第九章 纠删码</a:t>
            </a:r>
          </a:p>
        </p:txBody>
      </p:sp>
      <p:sp>
        <p:nvSpPr>
          <p:cNvPr id="2" name="文本框 1"/>
          <p:cNvSpPr txBox="1"/>
          <p:nvPr/>
        </p:nvSpPr>
        <p:spPr>
          <a:xfrm>
            <a:off x="3829686" y="3879851"/>
            <a:ext cx="4815205" cy="1731243"/>
          </a:xfrm>
          <a:prstGeom prst="rect">
            <a:avLst/>
          </a:prstGeom>
          <a:noFill/>
        </p:spPr>
        <p:txBody>
          <a:bodyPr wrap="square" rtlCol="0">
            <a:spAutoFit/>
          </a:bodyPr>
          <a:lstStyle/>
          <a:p>
            <a:pPr eaLnBrk="0" fontAlgn="base" hangingPunct="0">
              <a:lnSpc>
                <a:spcPts val="4500"/>
              </a:lnSpc>
              <a:spcBef>
                <a:spcPct val="0"/>
              </a:spcBef>
              <a:spcAft>
                <a:spcPct val="0"/>
              </a:spcAft>
            </a:pPr>
            <a:r>
              <a:rPr lang="zh-CN" altLang="en-US" sz="28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李丽香，彭海朋</a:t>
            </a:r>
            <a:endPar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endParaRPr>
          </a:p>
          <a:p>
            <a:pPr eaLnBrk="0" fontAlgn="base" hangingPunct="0">
              <a:lnSpc>
                <a:spcPts val="4500"/>
              </a:lnSpc>
              <a:spcBef>
                <a:spcPct val="0"/>
              </a:spcBef>
              <a:spcAft>
                <a:spcPct val="0"/>
              </a:spcAft>
            </a:pPr>
            <a:r>
              <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北京邮电大学网络空间安全学院</a:t>
            </a:r>
          </a:p>
          <a:p>
            <a:pPr eaLnBrk="0" fontAlgn="base" hangingPunct="0">
              <a:lnSpc>
                <a:spcPts val="4500"/>
              </a:lnSpc>
              <a:spcBef>
                <a:spcPct val="0"/>
              </a:spcBef>
              <a:spcAft>
                <a:spcPct val="0"/>
              </a:spcAft>
            </a:pPr>
            <a:r>
              <a:rPr lang="zh-CN" altLang="en-US" sz="2400" b="1">
                <a:solidFill>
                  <a:srgbClr val="000000"/>
                </a:solidFill>
                <a:effectLst>
                  <a:outerShdw blurRad="38100" dist="19050" dir="2700000" algn="tl" rotWithShape="0">
                    <a:srgbClr val="000000">
                      <a:alpha val="40000"/>
                    </a:srgbClr>
                  </a:outerShdw>
                </a:effectLst>
                <a:latin typeface="黑体" panose="02010609060101010101" pitchFamily="49" charset="-122"/>
                <a:ea typeface="黑体" panose="02010609060101010101" pitchFamily="49" charset="-122"/>
                <a:sym typeface="+mn-ea"/>
              </a:rPr>
              <a:t>网络与交换技术国家重点实验室</a:t>
            </a:r>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纠删码技术的概述</a:t>
            </a:r>
          </a:p>
        </p:txBody>
      </p:sp>
      <p:sp>
        <p:nvSpPr>
          <p:cNvPr id="10" name="文本框 9"/>
          <p:cNvSpPr txBox="1"/>
          <p:nvPr/>
        </p:nvSpPr>
        <p:spPr>
          <a:xfrm>
            <a:off x="1981308" y="1219258"/>
            <a:ext cx="8229384" cy="2101666"/>
          </a:xfrm>
          <a:prstGeom prst="rect">
            <a:avLst/>
          </a:prstGeom>
          <a:noFill/>
        </p:spPr>
        <p:txBody>
          <a:bodyPr wrap="square" rtlCol="0" anchor="t">
            <a:spAutoFit/>
          </a:bodyPr>
          <a:lstStyle/>
          <a:p>
            <a:pPr algn="just" eaLnBrk="0" fontAlgn="base" hangingPunct="0">
              <a:lnSpc>
                <a:spcPts val="3200"/>
              </a:lnSpc>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en-US" altLang="zh-CN" sz="2000" dirty="0">
                <a:solidFill>
                  <a:srgbClr val="000000"/>
                </a:solidFill>
                <a:latin typeface="Times New Roman" panose="02020603050405020304" pitchFamily="18" charset="0"/>
                <a:ea typeface="黑体" panose="02010609060101010101" pitchFamily="49" charset="-122"/>
                <a:sym typeface="+mn-ea"/>
              </a:rPr>
              <a:t>Wikipedia</a:t>
            </a:r>
            <a:r>
              <a:rPr lang="zh-CN" altLang="en-US" sz="2000" dirty="0">
                <a:solidFill>
                  <a:srgbClr val="000000"/>
                </a:solidFill>
                <a:latin typeface="Times New Roman" panose="02020603050405020304" pitchFamily="18" charset="0"/>
                <a:ea typeface="黑体" panose="02010609060101010101" pitchFamily="49" charset="-122"/>
                <a:sym typeface="+mn-ea"/>
              </a:rPr>
              <a:t>：</a:t>
            </a:r>
            <a:r>
              <a:rPr lang="en-US" altLang="zh-CN" sz="2000" dirty="0">
                <a:solidFill>
                  <a:srgbClr val="000000"/>
                </a:solidFill>
                <a:latin typeface="Times New Roman" panose="02020603050405020304" pitchFamily="18" charset="0"/>
                <a:ea typeface="黑体" panose="02010609060101010101" pitchFamily="49" charset="-122"/>
                <a:sym typeface="+mn-ea"/>
              </a:rPr>
              <a:t>In coding theory, an erasure code is </a:t>
            </a:r>
            <a:r>
              <a:rPr lang="en-US" altLang="zh-CN" sz="2000" dirty="0">
                <a:solidFill>
                  <a:srgbClr val="FF0000"/>
                </a:solidFill>
                <a:latin typeface="Times New Roman" panose="02020603050405020304" pitchFamily="18" charset="0"/>
                <a:ea typeface="黑体" panose="02010609060101010101" pitchFamily="49" charset="-122"/>
                <a:sym typeface="+mn-ea"/>
              </a:rPr>
              <a:t>forward error correction </a:t>
            </a:r>
            <a:r>
              <a:rPr lang="en-US" altLang="zh-CN" sz="2000" dirty="0">
                <a:solidFill>
                  <a:srgbClr val="000000"/>
                </a:solidFill>
                <a:latin typeface="Times New Roman" panose="02020603050405020304" pitchFamily="18" charset="0"/>
                <a:ea typeface="黑体" panose="02010609060101010101" pitchFamily="49" charset="-122"/>
                <a:sym typeface="+mn-ea"/>
              </a:rPr>
              <a:t>(FEC) code under the assumption of bit erasures (rather than bit errors),which transforms a message of k symbols into a longer message (code word) with n symbols such that the original message can be recovered from a subset of the n symbols.</a:t>
            </a:r>
            <a:endParaRPr lang="zh-CN" altLang="en-US" sz="2000" dirty="0">
              <a:solidFill>
                <a:srgbClr val="000000"/>
              </a:solidFill>
              <a:latin typeface="Times New Roman" panose="02020603050405020304" pitchFamily="18" charset="0"/>
              <a:ea typeface="黑体" panose="02010609060101010101" pitchFamily="49" charset="-122"/>
              <a:sym typeface="+mn-ea"/>
            </a:endParaRPr>
          </a:p>
        </p:txBody>
      </p:sp>
      <p:sp>
        <p:nvSpPr>
          <p:cNvPr id="5" name="文本框 4"/>
          <p:cNvSpPr txBox="1"/>
          <p:nvPr/>
        </p:nvSpPr>
        <p:spPr>
          <a:xfrm>
            <a:off x="2075969" y="4571970"/>
            <a:ext cx="7775896" cy="1277850"/>
          </a:xfrm>
          <a:prstGeom prst="rect">
            <a:avLst/>
          </a:prstGeom>
          <a:noFill/>
        </p:spPr>
        <p:txBody>
          <a:bodyPr wrap="square" rtlCol="0" anchor="t">
            <a:spAutoFit/>
          </a:bodyPr>
          <a:lstStyle/>
          <a:p>
            <a:pPr algn="just" eaLnBrk="0" fontAlgn="base" hangingPunct="0">
              <a:lnSpc>
                <a:spcPts val="3200"/>
              </a:lnSpc>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在编码理论中，有一种前向纠错技术</a:t>
            </a:r>
            <a:r>
              <a:rPr lang="en-US" altLang="zh-CN" sz="2000" dirty="0">
                <a:solidFill>
                  <a:srgbClr val="000000"/>
                </a:solidFill>
                <a:latin typeface="Times New Roman" panose="02020603050405020304" pitchFamily="18" charset="0"/>
                <a:ea typeface="黑体" panose="02010609060101010101" pitchFamily="49" charset="-122"/>
                <a:sym typeface="+mn-ea"/>
              </a:rPr>
              <a:t>(FEC)</a:t>
            </a:r>
            <a:r>
              <a:rPr lang="zh-CN" altLang="en-US" sz="2000" dirty="0">
                <a:solidFill>
                  <a:srgbClr val="000000"/>
                </a:solidFill>
                <a:latin typeface="Times New Roman" panose="02020603050405020304" pitchFamily="18" charset="0"/>
                <a:ea typeface="黑体" panose="02010609060101010101" pitchFamily="49" charset="-122"/>
                <a:sym typeface="+mn-ea"/>
              </a:rPr>
              <a:t>也称为纠删码。</a:t>
            </a:r>
            <a:endParaRPr lang="en-US" altLang="zh-CN" sz="2000" dirty="0">
              <a:solidFill>
                <a:srgbClr val="000000"/>
              </a:solidFill>
              <a:latin typeface="Times New Roman" panose="02020603050405020304" pitchFamily="18" charset="0"/>
              <a:ea typeface="黑体" panose="02010609060101010101" pitchFamily="49" charset="-122"/>
              <a:sym typeface="+mn-ea"/>
            </a:endParaRPr>
          </a:p>
          <a:p>
            <a:pPr algn="just" eaLnBrk="0" fontAlgn="base" hangingPunct="0">
              <a:lnSpc>
                <a:spcPts val="3200"/>
              </a:lnSpc>
              <a:spcBef>
                <a:spcPct val="0"/>
              </a:spcBef>
              <a:spcAft>
                <a:spcPct val="0"/>
              </a:spcAft>
            </a:pPr>
            <a:r>
              <a:rPr lang="en-US" altLang="zh-CN"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3333CC"/>
                </a:solidFill>
                <a:latin typeface="Times New Roman" panose="02020603050405020304" pitchFamily="18" charset="0"/>
                <a:ea typeface="黑体" panose="02010609060101010101" pitchFamily="49" charset="-122"/>
                <a:sym typeface="+mn-ea"/>
              </a:rPr>
              <a:t>这种技术可以将原始数据中丢失的</a:t>
            </a:r>
            <a:r>
              <a:rPr lang="en-US" altLang="zh-CN" sz="2000" dirty="0">
                <a:solidFill>
                  <a:srgbClr val="3333CC"/>
                </a:solidFill>
                <a:latin typeface="Times New Roman" panose="02020603050405020304" pitchFamily="18" charset="0"/>
                <a:ea typeface="黑体" panose="02010609060101010101" pitchFamily="49" charset="-122"/>
                <a:sym typeface="+mn-ea"/>
              </a:rPr>
              <a:t>k</a:t>
            </a:r>
            <a:r>
              <a:rPr lang="zh-CN" altLang="en-US" sz="2000" dirty="0">
                <a:solidFill>
                  <a:srgbClr val="3333CC"/>
                </a:solidFill>
                <a:latin typeface="Times New Roman" panose="02020603050405020304" pitchFamily="18" charset="0"/>
                <a:ea typeface="黑体" panose="02010609060101010101" pitchFamily="49" charset="-122"/>
                <a:sym typeface="+mn-ea"/>
              </a:rPr>
              <a:t>字节数据从</a:t>
            </a:r>
            <a:r>
              <a:rPr lang="en-US" altLang="zh-CN" sz="2000" dirty="0">
                <a:solidFill>
                  <a:srgbClr val="3333CC"/>
                </a:solidFill>
                <a:latin typeface="Times New Roman" panose="02020603050405020304" pitchFamily="18" charset="0"/>
                <a:ea typeface="黑体" panose="02010609060101010101" pitchFamily="49" charset="-122"/>
                <a:sym typeface="+mn-ea"/>
              </a:rPr>
              <a:t>n</a:t>
            </a:r>
            <a:r>
              <a:rPr lang="zh-CN" altLang="en-US" sz="2000" dirty="0">
                <a:solidFill>
                  <a:srgbClr val="3333CC"/>
                </a:solidFill>
                <a:latin typeface="Times New Roman" panose="02020603050405020304" pitchFamily="18" charset="0"/>
                <a:ea typeface="黑体" panose="02010609060101010101" pitchFamily="49" charset="-122"/>
                <a:sym typeface="+mn-ea"/>
              </a:rPr>
              <a:t>个含编码字节的信息中恢复。</a:t>
            </a:r>
            <a:endParaRPr lang="en-US" altLang="zh-CN" sz="2000" dirty="0">
              <a:solidFill>
                <a:srgbClr val="3333CC"/>
              </a:solidFill>
              <a:latin typeface="Times New Roman" panose="02020603050405020304" pitchFamily="18" charset="0"/>
              <a:ea typeface="黑体" panose="02010609060101010101" pitchFamily="49" charset="-122"/>
              <a:sym typeface="+mn-ea"/>
            </a:endParaRPr>
          </a:p>
        </p:txBody>
      </p:sp>
      <p:sp>
        <p:nvSpPr>
          <p:cNvPr id="6" name="箭头: 下 5"/>
          <p:cNvSpPr/>
          <p:nvPr/>
        </p:nvSpPr>
        <p:spPr>
          <a:xfrm>
            <a:off x="5719505" y="3314702"/>
            <a:ext cx="488827" cy="1088827"/>
          </a:xfrm>
          <a:prstGeom prst="down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纠删码技术的由来</a:t>
            </a:r>
          </a:p>
        </p:txBody>
      </p:sp>
      <p:grpSp>
        <p:nvGrpSpPr>
          <p:cNvPr id="4" name="组合 3"/>
          <p:cNvGrpSpPr/>
          <p:nvPr/>
        </p:nvGrpSpPr>
        <p:grpSpPr>
          <a:xfrm>
            <a:off x="5094660" y="3448433"/>
            <a:ext cx="5573341" cy="3404102"/>
            <a:chOff x="883826" y="560423"/>
            <a:chExt cx="10345479" cy="6318843"/>
          </a:xfrm>
        </p:grpSpPr>
        <p:sp>
          <p:nvSpPr>
            <p:cNvPr id="18" name="Oval Callout 26"/>
            <p:cNvSpPr/>
            <p:nvPr/>
          </p:nvSpPr>
          <p:spPr>
            <a:xfrm>
              <a:off x="7457819" y="3213374"/>
              <a:ext cx="1736840" cy="1703618"/>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Times New Roman"/>
                <a:ea typeface="黑体"/>
                <a:cs typeface="+mn-ea"/>
                <a:sym typeface="+mn-lt"/>
              </a:endParaRPr>
            </a:p>
          </p:txBody>
        </p:sp>
        <p:sp>
          <p:nvSpPr>
            <p:cNvPr id="19" name="Oval Callout 27"/>
            <p:cNvSpPr/>
            <p:nvPr/>
          </p:nvSpPr>
          <p:spPr>
            <a:xfrm>
              <a:off x="4863405" y="2162212"/>
              <a:ext cx="1736840" cy="1703618"/>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Times New Roman"/>
                <a:ea typeface="黑体"/>
                <a:cs typeface="+mn-ea"/>
                <a:sym typeface="+mn-lt"/>
              </a:endParaRPr>
            </a:p>
          </p:txBody>
        </p:sp>
        <p:sp>
          <p:nvSpPr>
            <p:cNvPr id="20" name="Oval Callout 28"/>
            <p:cNvSpPr/>
            <p:nvPr/>
          </p:nvSpPr>
          <p:spPr>
            <a:xfrm>
              <a:off x="6985062" y="745077"/>
              <a:ext cx="1510276" cy="1481388"/>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Times New Roman"/>
                <a:ea typeface="黑体"/>
                <a:cs typeface="+mn-ea"/>
                <a:sym typeface="+mn-lt"/>
              </a:endParaRPr>
            </a:p>
          </p:txBody>
        </p:sp>
        <p:sp>
          <p:nvSpPr>
            <p:cNvPr id="21" name="Oval Callout 29"/>
            <p:cNvSpPr/>
            <p:nvPr/>
          </p:nvSpPr>
          <p:spPr>
            <a:xfrm>
              <a:off x="9194659" y="612696"/>
              <a:ext cx="1181244" cy="1158650"/>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Times New Roman"/>
                <a:ea typeface="黑体"/>
                <a:cs typeface="+mn-ea"/>
                <a:sym typeface="+mn-lt"/>
              </a:endParaRPr>
            </a:p>
          </p:txBody>
        </p:sp>
        <p:grpSp>
          <p:nvGrpSpPr>
            <p:cNvPr id="22" name="Group 25"/>
            <p:cNvGrpSpPr/>
            <p:nvPr/>
          </p:nvGrpSpPr>
          <p:grpSpPr>
            <a:xfrm>
              <a:off x="883826" y="1785577"/>
              <a:ext cx="10345479" cy="5093689"/>
              <a:chOff x="1881961" y="978195"/>
              <a:chExt cx="10345479" cy="5901071"/>
            </a:xfrm>
          </p:grpSpPr>
          <p:sp>
            <p:nvSpPr>
              <p:cNvPr id="23" name="Shape 6"/>
              <p:cNvSpPr/>
              <p:nvPr/>
            </p:nvSpPr>
            <p:spPr>
              <a:xfrm>
                <a:off x="1881961" y="978195"/>
                <a:ext cx="10342564" cy="58969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527"/>
                    </a:lnTo>
                    <a:cubicBezTo>
                      <a:pt x="17455" y="721"/>
                      <a:pt x="14337" y="2052"/>
                      <a:pt x="14423" y="2967"/>
                    </a:cubicBezTo>
                    <a:cubicBezTo>
                      <a:pt x="14508" y="3882"/>
                      <a:pt x="16650" y="5157"/>
                      <a:pt x="16547" y="6932"/>
                    </a:cubicBezTo>
                    <a:cubicBezTo>
                      <a:pt x="16444" y="8707"/>
                      <a:pt x="14800" y="9002"/>
                      <a:pt x="13172" y="8868"/>
                    </a:cubicBezTo>
                    <a:cubicBezTo>
                      <a:pt x="11545" y="8734"/>
                      <a:pt x="10877" y="9039"/>
                      <a:pt x="10877" y="9511"/>
                    </a:cubicBezTo>
                    <a:cubicBezTo>
                      <a:pt x="10877" y="9982"/>
                      <a:pt x="13001" y="10620"/>
                      <a:pt x="15245" y="11008"/>
                    </a:cubicBezTo>
                    <a:cubicBezTo>
                      <a:pt x="17489" y="11396"/>
                      <a:pt x="17455" y="14280"/>
                      <a:pt x="15433" y="15444"/>
                    </a:cubicBezTo>
                    <a:cubicBezTo>
                      <a:pt x="13412" y="16609"/>
                      <a:pt x="6869" y="18318"/>
                      <a:pt x="4282" y="21600"/>
                    </a:cubicBezTo>
                    <a:lnTo>
                      <a:pt x="0" y="21600"/>
                    </a:lnTo>
                    <a:cubicBezTo>
                      <a:pt x="1867" y="17208"/>
                      <a:pt x="6184" y="15722"/>
                      <a:pt x="9644" y="15056"/>
                    </a:cubicBezTo>
                    <a:cubicBezTo>
                      <a:pt x="13104" y="14391"/>
                      <a:pt x="14971" y="13753"/>
                      <a:pt x="14680" y="13143"/>
                    </a:cubicBezTo>
                    <a:cubicBezTo>
                      <a:pt x="14389" y="12533"/>
                      <a:pt x="9457" y="12470"/>
                      <a:pt x="9115" y="10196"/>
                    </a:cubicBezTo>
                    <a:cubicBezTo>
                      <a:pt x="8752" y="7787"/>
                      <a:pt x="10861" y="6973"/>
                      <a:pt x="12659" y="7232"/>
                    </a:cubicBezTo>
                    <a:cubicBezTo>
                      <a:pt x="14356" y="7476"/>
                      <a:pt x="15742" y="7292"/>
                      <a:pt x="15314" y="6377"/>
                    </a:cubicBezTo>
                    <a:cubicBezTo>
                      <a:pt x="14885" y="5462"/>
                      <a:pt x="13118" y="3639"/>
                      <a:pt x="13668" y="2443"/>
                    </a:cubicBezTo>
                    <a:cubicBezTo>
                      <a:pt x="14217" y="1248"/>
                      <a:pt x="16633" y="0"/>
                      <a:pt x="21600" y="0"/>
                    </a:cubicBezTo>
                    <a:close/>
                  </a:path>
                </a:pathLst>
              </a:custGeom>
              <a:gradFill>
                <a:gsLst>
                  <a:gs pos="87000">
                    <a:schemeClr val="tx1">
                      <a:alpha val="40000"/>
                    </a:schemeClr>
                  </a:gs>
                  <a:gs pos="36000">
                    <a:schemeClr val="bg2">
                      <a:alpha val="15000"/>
                    </a:schemeClr>
                  </a:gs>
                </a:gsLst>
                <a:lin ang="0" scaled="0"/>
              </a:gradFill>
              <a:ln w="12700">
                <a:miter lim="400000"/>
              </a:ln>
            </p:spPr>
            <p:txBody>
              <a:bodyPr lIns="0" tIns="0" rIns="0" bIns="0" anchor="ctr"/>
              <a:lstStyle/>
              <a:p>
                <a:pPr eaLnBrk="0" fontAlgn="base" hangingPunct="0">
                  <a:spcBef>
                    <a:spcPct val="0"/>
                  </a:spcBef>
                  <a:spcAft>
                    <a:spcPct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Arial" panose="020B0604020202020204" pitchFamily="34" charset="0"/>
                  <a:ea typeface="宋体" panose="02010600030101010101" pitchFamily="2" charset="-122"/>
                  <a:cs typeface="+mn-ea"/>
                  <a:sym typeface="+mn-lt"/>
                </a:endParaRPr>
              </a:p>
            </p:txBody>
          </p:sp>
          <p:sp>
            <p:nvSpPr>
              <p:cNvPr id="24" name="Shape 7"/>
              <p:cNvSpPr/>
              <p:nvPr/>
            </p:nvSpPr>
            <p:spPr>
              <a:xfrm>
                <a:off x="2847500" y="1026110"/>
                <a:ext cx="9379940" cy="5853156"/>
              </a:xfrm>
              <a:custGeom>
                <a:avLst/>
                <a:gdLst/>
                <a:ahLst/>
                <a:cxnLst>
                  <a:cxn ang="0">
                    <a:pos x="wd2" y="hd2"/>
                  </a:cxn>
                  <a:cxn ang="5400000">
                    <a:pos x="wd2" y="hd2"/>
                  </a:cxn>
                  <a:cxn ang="10800000">
                    <a:pos x="wd2" y="hd2"/>
                  </a:cxn>
                  <a:cxn ang="16200000">
                    <a:pos x="wd2" y="hd2"/>
                  </a:cxn>
                </a:cxnLst>
                <a:rect l="0" t="0" r="r" b="b"/>
                <a:pathLst>
                  <a:path w="21600" h="21599" extrusionOk="0">
                    <a:moveTo>
                      <a:pt x="21101" y="1"/>
                    </a:moveTo>
                    <a:cubicBezTo>
                      <a:pt x="20976" y="-1"/>
                      <a:pt x="20843" y="0"/>
                      <a:pt x="20704" y="3"/>
                    </a:cubicBezTo>
                    <a:lnTo>
                      <a:pt x="20706" y="129"/>
                    </a:lnTo>
                    <a:cubicBezTo>
                      <a:pt x="20844" y="126"/>
                      <a:pt x="20976" y="125"/>
                      <a:pt x="21100" y="127"/>
                    </a:cubicBezTo>
                    <a:lnTo>
                      <a:pt x="21101" y="1"/>
                    </a:lnTo>
                    <a:close/>
                    <a:moveTo>
                      <a:pt x="20431" y="35"/>
                    </a:moveTo>
                    <a:cubicBezTo>
                      <a:pt x="20303" y="41"/>
                      <a:pt x="20171" y="49"/>
                      <a:pt x="20035" y="59"/>
                    </a:cubicBezTo>
                    <a:lnTo>
                      <a:pt x="20039" y="184"/>
                    </a:lnTo>
                    <a:cubicBezTo>
                      <a:pt x="20175" y="175"/>
                      <a:pt x="20306" y="167"/>
                      <a:pt x="20434" y="161"/>
                    </a:cubicBezTo>
                    <a:lnTo>
                      <a:pt x="20431" y="35"/>
                    </a:lnTo>
                    <a:close/>
                    <a:moveTo>
                      <a:pt x="21401" y="35"/>
                    </a:moveTo>
                    <a:lnTo>
                      <a:pt x="21398" y="161"/>
                    </a:lnTo>
                    <a:cubicBezTo>
                      <a:pt x="21466" y="165"/>
                      <a:pt x="21532" y="170"/>
                      <a:pt x="21594" y="176"/>
                    </a:cubicBezTo>
                    <a:lnTo>
                      <a:pt x="21600" y="50"/>
                    </a:lnTo>
                    <a:cubicBezTo>
                      <a:pt x="21537" y="44"/>
                      <a:pt x="21470" y="39"/>
                      <a:pt x="21401" y="35"/>
                    </a:cubicBezTo>
                    <a:close/>
                    <a:moveTo>
                      <a:pt x="19761" y="71"/>
                    </a:moveTo>
                    <a:cubicBezTo>
                      <a:pt x="19631" y="82"/>
                      <a:pt x="19499" y="95"/>
                      <a:pt x="19365" y="109"/>
                    </a:cubicBezTo>
                    <a:lnTo>
                      <a:pt x="19371" y="235"/>
                    </a:lnTo>
                    <a:cubicBezTo>
                      <a:pt x="19505" y="221"/>
                      <a:pt x="19637" y="208"/>
                      <a:pt x="19766" y="197"/>
                    </a:cubicBezTo>
                    <a:lnTo>
                      <a:pt x="19761" y="71"/>
                    </a:lnTo>
                    <a:close/>
                    <a:moveTo>
                      <a:pt x="19067" y="141"/>
                    </a:moveTo>
                    <a:cubicBezTo>
                      <a:pt x="18936" y="157"/>
                      <a:pt x="18805" y="174"/>
                      <a:pt x="18672" y="193"/>
                    </a:cubicBezTo>
                    <a:lnTo>
                      <a:pt x="18680" y="318"/>
                    </a:lnTo>
                    <a:cubicBezTo>
                      <a:pt x="18813" y="299"/>
                      <a:pt x="18943" y="282"/>
                      <a:pt x="19073" y="266"/>
                    </a:cubicBezTo>
                    <a:lnTo>
                      <a:pt x="19067" y="141"/>
                    </a:lnTo>
                    <a:close/>
                    <a:moveTo>
                      <a:pt x="18396" y="247"/>
                    </a:moveTo>
                    <a:cubicBezTo>
                      <a:pt x="18266" y="268"/>
                      <a:pt x="18134" y="289"/>
                      <a:pt x="18003" y="312"/>
                    </a:cubicBezTo>
                    <a:lnTo>
                      <a:pt x="18012" y="436"/>
                    </a:lnTo>
                    <a:cubicBezTo>
                      <a:pt x="18144" y="414"/>
                      <a:pt x="18275" y="392"/>
                      <a:pt x="18405" y="372"/>
                    </a:cubicBezTo>
                    <a:lnTo>
                      <a:pt x="18396" y="247"/>
                    </a:lnTo>
                    <a:close/>
                    <a:moveTo>
                      <a:pt x="17726" y="354"/>
                    </a:moveTo>
                    <a:cubicBezTo>
                      <a:pt x="17595" y="378"/>
                      <a:pt x="17464" y="404"/>
                      <a:pt x="17333" y="431"/>
                    </a:cubicBezTo>
                    <a:lnTo>
                      <a:pt x="17345" y="556"/>
                    </a:lnTo>
                    <a:cubicBezTo>
                      <a:pt x="17476" y="529"/>
                      <a:pt x="17607" y="503"/>
                      <a:pt x="17737" y="478"/>
                    </a:cubicBezTo>
                    <a:lnTo>
                      <a:pt x="17726" y="354"/>
                    </a:lnTo>
                    <a:close/>
                    <a:moveTo>
                      <a:pt x="17055" y="495"/>
                    </a:moveTo>
                    <a:cubicBezTo>
                      <a:pt x="16924" y="524"/>
                      <a:pt x="16793" y="554"/>
                      <a:pt x="16664" y="586"/>
                    </a:cubicBezTo>
                    <a:lnTo>
                      <a:pt x="16678" y="710"/>
                    </a:lnTo>
                    <a:cubicBezTo>
                      <a:pt x="16807" y="679"/>
                      <a:pt x="16937" y="649"/>
                      <a:pt x="17068" y="620"/>
                    </a:cubicBezTo>
                    <a:lnTo>
                      <a:pt x="17055" y="495"/>
                    </a:lnTo>
                    <a:close/>
                    <a:moveTo>
                      <a:pt x="16384" y="672"/>
                    </a:moveTo>
                    <a:cubicBezTo>
                      <a:pt x="16252" y="706"/>
                      <a:pt x="16122" y="742"/>
                      <a:pt x="15994" y="779"/>
                    </a:cubicBezTo>
                    <a:lnTo>
                      <a:pt x="16011" y="903"/>
                    </a:lnTo>
                    <a:cubicBezTo>
                      <a:pt x="16138" y="866"/>
                      <a:pt x="16267" y="830"/>
                      <a:pt x="16399" y="796"/>
                    </a:cubicBezTo>
                    <a:lnTo>
                      <a:pt x="16384" y="672"/>
                    </a:lnTo>
                    <a:close/>
                    <a:moveTo>
                      <a:pt x="15712" y="849"/>
                    </a:moveTo>
                    <a:cubicBezTo>
                      <a:pt x="15580" y="890"/>
                      <a:pt x="15451" y="933"/>
                      <a:pt x="15325" y="977"/>
                    </a:cubicBezTo>
                    <a:lnTo>
                      <a:pt x="15344" y="1099"/>
                    </a:lnTo>
                    <a:cubicBezTo>
                      <a:pt x="15469" y="1056"/>
                      <a:pt x="15598" y="1012"/>
                      <a:pt x="15730" y="971"/>
                    </a:cubicBezTo>
                    <a:lnTo>
                      <a:pt x="15712" y="849"/>
                    </a:lnTo>
                    <a:close/>
                    <a:moveTo>
                      <a:pt x="15062" y="1061"/>
                    </a:moveTo>
                    <a:cubicBezTo>
                      <a:pt x="14928" y="1112"/>
                      <a:pt x="14800" y="1165"/>
                      <a:pt x="14679" y="1219"/>
                    </a:cubicBezTo>
                    <a:lnTo>
                      <a:pt x="14704" y="1339"/>
                    </a:lnTo>
                    <a:cubicBezTo>
                      <a:pt x="14823" y="1286"/>
                      <a:pt x="14951" y="1233"/>
                      <a:pt x="15084" y="1182"/>
                    </a:cubicBezTo>
                    <a:lnTo>
                      <a:pt x="15062" y="1061"/>
                    </a:lnTo>
                    <a:close/>
                    <a:moveTo>
                      <a:pt x="14407" y="1344"/>
                    </a:moveTo>
                    <a:cubicBezTo>
                      <a:pt x="14272" y="1411"/>
                      <a:pt x="14147" y="1480"/>
                      <a:pt x="14034" y="1550"/>
                    </a:cubicBezTo>
                    <a:lnTo>
                      <a:pt x="14067" y="1666"/>
                    </a:lnTo>
                    <a:cubicBezTo>
                      <a:pt x="14178" y="1598"/>
                      <a:pt x="14301" y="1530"/>
                      <a:pt x="14434" y="1463"/>
                    </a:cubicBezTo>
                    <a:lnTo>
                      <a:pt x="14407" y="1344"/>
                    </a:lnTo>
                    <a:close/>
                    <a:moveTo>
                      <a:pt x="13775" y="1733"/>
                    </a:moveTo>
                    <a:cubicBezTo>
                      <a:pt x="13638" y="1838"/>
                      <a:pt x="13524" y="1947"/>
                      <a:pt x="13436" y="2056"/>
                    </a:cubicBezTo>
                    <a:lnTo>
                      <a:pt x="13491" y="2152"/>
                    </a:lnTo>
                    <a:cubicBezTo>
                      <a:pt x="13573" y="2049"/>
                      <a:pt x="13682" y="1945"/>
                      <a:pt x="13814" y="1844"/>
                    </a:cubicBezTo>
                    <a:lnTo>
                      <a:pt x="13775" y="1733"/>
                    </a:lnTo>
                    <a:close/>
                    <a:moveTo>
                      <a:pt x="13240" y="2404"/>
                    </a:moveTo>
                    <a:cubicBezTo>
                      <a:pt x="13212" y="2490"/>
                      <a:pt x="13197" y="2577"/>
                      <a:pt x="13197" y="2664"/>
                    </a:cubicBezTo>
                    <a:cubicBezTo>
                      <a:pt x="13197" y="2694"/>
                      <a:pt x="13199" y="2723"/>
                      <a:pt x="13202" y="2754"/>
                    </a:cubicBezTo>
                    <a:cubicBezTo>
                      <a:pt x="13212" y="2842"/>
                      <a:pt x="13226" y="2930"/>
                      <a:pt x="13246" y="3014"/>
                    </a:cubicBezTo>
                    <a:lnTo>
                      <a:pt x="13326" y="2973"/>
                    </a:lnTo>
                    <a:cubicBezTo>
                      <a:pt x="13309" y="2895"/>
                      <a:pt x="13295" y="2815"/>
                      <a:pt x="13286" y="2734"/>
                    </a:cubicBezTo>
                    <a:cubicBezTo>
                      <a:pt x="13283" y="2710"/>
                      <a:pt x="13282" y="2687"/>
                      <a:pt x="13282" y="2664"/>
                    </a:cubicBezTo>
                    <a:cubicBezTo>
                      <a:pt x="13282" y="2596"/>
                      <a:pt x="13294" y="2528"/>
                      <a:pt x="13316" y="2460"/>
                    </a:cubicBezTo>
                    <a:lnTo>
                      <a:pt x="13240" y="2404"/>
                    </a:lnTo>
                    <a:close/>
                    <a:moveTo>
                      <a:pt x="13436" y="3324"/>
                    </a:moveTo>
                    <a:lnTo>
                      <a:pt x="13364" y="3392"/>
                    </a:lnTo>
                    <a:cubicBezTo>
                      <a:pt x="13432" y="3547"/>
                      <a:pt x="13518" y="3696"/>
                      <a:pt x="13626" y="3847"/>
                    </a:cubicBezTo>
                    <a:lnTo>
                      <a:pt x="13684" y="3756"/>
                    </a:lnTo>
                    <a:cubicBezTo>
                      <a:pt x="13581" y="3611"/>
                      <a:pt x="13500" y="3470"/>
                      <a:pt x="13436" y="3324"/>
                    </a:cubicBezTo>
                    <a:close/>
                    <a:moveTo>
                      <a:pt x="13895" y="4031"/>
                    </a:moveTo>
                    <a:lnTo>
                      <a:pt x="13843" y="4130"/>
                    </a:lnTo>
                    <a:cubicBezTo>
                      <a:pt x="13952" y="4255"/>
                      <a:pt x="14067" y="4374"/>
                      <a:pt x="14166" y="4473"/>
                    </a:cubicBezTo>
                    <a:cubicBezTo>
                      <a:pt x="14166" y="4473"/>
                      <a:pt x="14214" y="4369"/>
                      <a:pt x="14214" y="4369"/>
                    </a:cubicBezTo>
                    <a:cubicBezTo>
                      <a:pt x="14116" y="4271"/>
                      <a:pt x="14002" y="4154"/>
                      <a:pt x="13895" y="4031"/>
                    </a:cubicBezTo>
                    <a:close/>
                    <a:moveTo>
                      <a:pt x="14464" y="4597"/>
                    </a:moveTo>
                    <a:lnTo>
                      <a:pt x="14416" y="4701"/>
                    </a:lnTo>
                    <a:cubicBezTo>
                      <a:pt x="14514" y="4799"/>
                      <a:pt x="14627" y="4917"/>
                      <a:pt x="14733" y="5042"/>
                    </a:cubicBezTo>
                    <a:lnTo>
                      <a:pt x="14786" y="4944"/>
                    </a:lnTo>
                    <a:cubicBezTo>
                      <a:pt x="14678" y="4816"/>
                      <a:pt x="14563" y="4696"/>
                      <a:pt x="14464" y="4597"/>
                    </a:cubicBezTo>
                    <a:close/>
                    <a:moveTo>
                      <a:pt x="15004" y="5233"/>
                    </a:moveTo>
                    <a:cubicBezTo>
                      <a:pt x="15004" y="5233"/>
                      <a:pt x="14942" y="5320"/>
                      <a:pt x="14942" y="5320"/>
                    </a:cubicBezTo>
                    <a:cubicBezTo>
                      <a:pt x="15041" y="5473"/>
                      <a:pt x="15112" y="5622"/>
                      <a:pt x="15158" y="5778"/>
                    </a:cubicBezTo>
                    <a:lnTo>
                      <a:pt x="15236" y="5727"/>
                    </a:lnTo>
                    <a:cubicBezTo>
                      <a:pt x="15186" y="5557"/>
                      <a:pt x="15109" y="5396"/>
                      <a:pt x="15004" y="5233"/>
                    </a:cubicBezTo>
                    <a:close/>
                    <a:moveTo>
                      <a:pt x="15294" y="6152"/>
                    </a:moveTo>
                    <a:lnTo>
                      <a:pt x="15210" y="6161"/>
                    </a:lnTo>
                    <a:cubicBezTo>
                      <a:pt x="15211" y="6190"/>
                      <a:pt x="15211" y="6219"/>
                      <a:pt x="15211" y="6249"/>
                    </a:cubicBezTo>
                    <a:cubicBezTo>
                      <a:pt x="15211" y="6356"/>
                      <a:pt x="15202" y="6470"/>
                      <a:pt x="15183" y="6586"/>
                    </a:cubicBezTo>
                    <a:cubicBezTo>
                      <a:pt x="15176" y="6628"/>
                      <a:pt x="15167" y="6669"/>
                      <a:pt x="15158" y="6709"/>
                    </a:cubicBezTo>
                    <a:lnTo>
                      <a:pt x="15238" y="6752"/>
                    </a:lnTo>
                    <a:cubicBezTo>
                      <a:pt x="15248" y="6708"/>
                      <a:pt x="15257" y="6663"/>
                      <a:pt x="15265" y="6615"/>
                    </a:cubicBezTo>
                    <a:cubicBezTo>
                      <a:pt x="15286" y="6490"/>
                      <a:pt x="15297" y="6366"/>
                      <a:pt x="15297" y="6249"/>
                    </a:cubicBezTo>
                    <a:cubicBezTo>
                      <a:pt x="15297" y="6216"/>
                      <a:pt x="15296" y="6184"/>
                      <a:pt x="15294" y="6152"/>
                    </a:cubicBezTo>
                    <a:close/>
                    <a:moveTo>
                      <a:pt x="15037" y="7036"/>
                    </a:moveTo>
                    <a:cubicBezTo>
                      <a:pt x="14965" y="7172"/>
                      <a:pt x="14868" y="7295"/>
                      <a:pt x="14751" y="7400"/>
                    </a:cubicBezTo>
                    <a:lnTo>
                      <a:pt x="14795" y="7507"/>
                    </a:lnTo>
                    <a:cubicBezTo>
                      <a:pt x="14921" y="7394"/>
                      <a:pt x="15025" y="7262"/>
                      <a:pt x="15104" y="7115"/>
                    </a:cubicBezTo>
                    <a:lnTo>
                      <a:pt x="15037" y="7036"/>
                    </a:lnTo>
                    <a:close/>
                    <a:moveTo>
                      <a:pt x="14500" y="7602"/>
                    </a:moveTo>
                    <a:cubicBezTo>
                      <a:pt x="14390" y="7668"/>
                      <a:pt x="14265" y="7726"/>
                      <a:pt x="14130" y="7775"/>
                    </a:cubicBezTo>
                    <a:lnTo>
                      <a:pt x="14150" y="7897"/>
                    </a:lnTo>
                    <a:cubicBezTo>
                      <a:pt x="14290" y="7847"/>
                      <a:pt x="14418" y="7786"/>
                      <a:pt x="14531" y="7718"/>
                    </a:cubicBezTo>
                    <a:cubicBezTo>
                      <a:pt x="14531" y="7718"/>
                      <a:pt x="14500" y="7602"/>
                      <a:pt x="14500" y="7602"/>
                    </a:cubicBezTo>
                    <a:close/>
                    <a:moveTo>
                      <a:pt x="10089" y="7821"/>
                    </a:moveTo>
                    <a:lnTo>
                      <a:pt x="10094" y="7946"/>
                    </a:lnTo>
                    <a:cubicBezTo>
                      <a:pt x="10204" y="7937"/>
                      <a:pt x="10320" y="7938"/>
                      <a:pt x="10440" y="7949"/>
                    </a:cubicBezTo>
                    <a:lnTo>
                      <a:pt x="10484" y="7954"/>
                    </a:lnTo>
                    <a:lnTo>
                      <a:pt x="10489" y="7828"/>
                    </a:lnTo>
                    <a:lnTo>
                      <a:pt x="10445" y="7824"/>
                    </a:lnTo>
                    <a:cubicBezTo>
                      <a:pt x="10322" y="7813"/>
                      <a:pt x="10203" y="7812"/>
                      <a:pt x="10089" y="7821"/>
                    </a:cubicBezTo>
                    <a:close/>
                    <a:moveTo>
                      <a:pt x="10765" y="7850"/>
                    </a:moveTo>
                    <a:lnTo>
                      <a:pt x="10759" y="7975"/>
                    </a:lnTo>
                    <a:lnTo>
                      <a:pt x="10784" y="7978"/>
                    </a:lnTo>
                    <a:cubicBezTo>
                      <a:pt x="10904" y="7990"/>
                      <a:pt x="11028" y="8002"/>
                      <a:pt x="11153" y="8013"/>
                    </a:cubicBezTo>
                    <a:lnTo>
                      <a:pt x="11158" y="7887"/>
                    </a:lnTo>
                    <a:cubicBezTo>
                      <a:pt x="11033" y="7876"/>
                      <a:pt x="10910" y="7864"/>
                      <a:pt x="10790" y="7852"/>
                    </a:cubicBezTo>
                    <a:lnTo>
                      <a:pt x="10765" y="7850"/>
                    </a:lnTo>
                    <a:close/>
                    <a:moveTo>
                      <a:pt x="13849" y="7850"/>
                    </a:moveTo>
                    <a:cubicBezTo>
                      <a:pt x="13728" y="7880"/>
                      <a:pt x="13597" y="7905"/>
                      <a:pt x="13460" y="7925"/>
                    </a:cubicBezTo>
                    <a:cubicBezTo>
                      <a:pt x="13460" y="7925"/>
                      <a:pt x="13468" y="8050"/>
                      <a:pt x="13468" y="8050"/>
                    </a:cubicBezTo>
                    <a:cubicBezTo>
                      <a:pt x="13608" y="8030"/>
                      <a:pt x="13740" y="8004"/>
                      <a:pt x="13863" y="7973"/>
                    </a:cubicBezTo>
                    <a:lnTo>
                      <a:pt x="13849" y="7850"/>
                    </a:lnTo>
                    <a:close/>
                    <a:moveTo>
                      <a:pt x="9810" y="7885"/>
                    </a:moveTo>
                    <a:cubicBezTo>
                      <a:pt x="9673" y="7918"/>
                      <a:pt x="9542" y="7967"/>
                      <a:pt x="9420" y="8030"/>
                    </a:cubicBezTo>
                    <a:lnTo>
                      <a:pt x="9448" y="8149"/>
                    </a:lnTo>
                    <a:cubicBezTo>
                      <a:pt x="9565" y="8088"/>
                      <a:pt x="9691" y="8041"/>
                      <a:pt x="9823" y="8009"/>
                    </a:cubicBezTo>
                    <a:lnTo>
                      <a:pt x="9810" y="7885"/>
                    </a:lnTo>
                    <a:close/>
                    <a:moveTo>
                      <a:pt x="11432" y="7920"/>
                    </a:moveTo>
                    <a:lnTo>
                      <a:pt x="11428" y="8046"/>
                    </a:lnTo>
                    <a:cubicBezTo>
                      <a:pt x="11558" y="8057"/>
                      <a:pt x="11691" y="8067"/>
                      <a:pt x="11823" y="8075"/>
                    </a:cubicBezTo>
                    <a:cubicBezTo>
                      <a:pt x="11823" y="8075"/>
                      <a:pt x="11827" y="7949"/>
                      <a:pt x="11827" y="7949"/>
                    </a:cubicBezTo>
                    <a:cubicBezTo>
                      <a:pt x="11695" y="7941"/>
                      <a:pt x="11563" y="7931"/>
                      <a:pt x="11432" y="7920"/>
                    </a:cubicBezTo>
                    <a:close/>
                    <a:moveTo>
                      <a:pt x="12124" y="7956"/>
                    </a:moveTo>
                    <a:lnTo>
                      <a:pt x="12121" y="8082"/>
                    </a:lnTo>
                    <a:cubicBezTo>
                      <a:pt x="12254" y="8087"/>
                      <a:pt x="12386" y="8091"/>
                      <a:pt x="12517" y="8092"/>
                    </a:cubicBezTo>
                    <a:cubicBezTo>
                      <a:pt x="12517" y="8092"/>
                      <a:pt x="12517" y="7966"/>
                      <a:pt x="12517" y="7966"/>
                    </a:cubicBezTo>
                    <a:cubicBezTo>
                      <a:pt x="12387" y="7965"/>
                      <a:pt x="12255" y="7961"/>
                      <a:pt x="12124" y="7956"/>
                    </a:cubicBezTo>
                    <a:close/>
                    <a:moveTo>
                      <a:pt x="13184" y="7956"/>
                    </a:moveTo>
                    <a:cubicBezTo>
                      <a:pt x="13059" y="7967"/>
                      <a:pt x="12927" y="7974"/>
                      <a:pt x="12791" y="7978"/>
                    </a:cubicBezTo>
                    <a:lnTo>
                      <a:pt x="12792" y="8103"/>
                    </a:lnTo>
                    <a:cubicBezTo>
                      <a:pt x="12930" y="8099"/>
                      <a:pt x="13064" y="8093"/>
                      <a:pt x="13189" y="8082"/>
                    </a:cubicBezTo>
                    <a:lnTo>
                      <a:pt x="13184" y="7956"/>
                    </a:lnTo>
                    <a:close/>
                    <a:moveTo>
                      <a:pt x="9148" y="8203"/>
                    </a:moveTo>
                    <a:cubicBezTo>
                      <a:pt x="9019" y="8306"/>
                      <a:pt x="8910" y="8427"/>
                      <a:pt x="8822" y="8562"/>
                    </a:cubicBezTo>
                    <a:lnTo>
                      <a:pt x="8883" y="8649"/>
                    </a:lnTo>
                    <a:cubicBezTo>
                      <a:pt x="8965" y="8523"/>
                      <a:pt x="9068" y="8411"/>
                      <a:pt x="9189" y="8314"/>
                    </a:cubicBezTo>
                    <a:lnTo>
                      <a:pt x="9148" y="8203"/>
                    </a:lnTo>
                    <a:close/>
                    <a:moveTo>
                      <a:pt x="8643" y="8911"/>
                    </a:moveTo>
                    <a:cubicBezTo>
                      <a:pt x="8604" y="9040"/>
                      <a:pt x="8583" y="9173"/>
                      <a:pt x="8583" y="9306"/>
                    </a:cubicBezTo>
                    <a:cubicBezTo>
                      <a:pt x="8583" y="9378"/>
                      <a:pt x="8589" y="9451"/>
                      <a:pt x="8601" y="9522"/>
                    </a:cubicBezTo>
                    <a:cubicBezTo>
                      <a:pt x="8601" y="9522"/>
                      <a:pt x="8683" y="9491"/>
                      <a:pt x="8683" y="9491"/>
                    </a:cubicBezTo>
                    <a:cubicBezTo>
                      <a:pt x="8673" y="9430"/>
                      <a:pt x="8668" y="9368"/>
                      <a:pt x="8668" y="9306"/>
                    </a:cubicBezTo>
                    <a:cubicBezTo>
                      <a:pt x="8668" y="9191"/>
                      <a:pt x="8686" y="9075"/>
                      <a:pt x="8720" y="8962"/>
                    </a:cubicBezTo>
                    <a:lnTo>
                      <a:pt x="8643" y="8911"/>
                    </a:lnTo>
                    <a:close/>
                    <a:moveTo>
                      <a:pt x="8818" y="9830"/>
                    </a:moveTo>
                    <a:lnTo>
                      <a:pt x="8750" y="9907"/>
                    </a:lnTo>
                    <a:cubicBezTo>
                      <a:pt x="8826" y="10051"/>
                      <a:pt x="8930" y="10183"/>
                      <a:pt x="9058" y="10302"/>
                    </a:cubicBezTo>
                    <a:lnTo>
                      <a:pt x="9103" y="10196"/>
                    </a:lnTo>
                    <a:cubicBezTo>
                      <a:pt x="8983" y="10085"/>
                      <a:pt x="8887" y="9962"/>
                      <a:pt x="8818" y="9830"/>
                    </a:cubicBezTo>
                    <a:close/>
                    <a:moveTo>
                      <a:pt x="9334" y="10396"/>
                    </a:moveTo>
                    <a:lnTo>
                      <a:pt x="9300" y="10511"/>
                    </a:lnTo>
                    <a:cubicBezTo>
                      <a:pt x="9409" y="10581"/>
                      <a:pt x="9531" y="10644"/>
                      <a:pt x="9662" y="10699"/>
                    </a:cubicBezTo>
                    <a:lnTo>
                      <a:pt x="9678" y="10706"/>
                    </a:lnTo>
                    <a:lnTo>
                      <a:pt x="9701" y="10586"/>
                    </a:lnTo>
                    <a:lnTo>
                      <a:pt x="9686" y="10579"/>
                    </a:lnTo>
                    <a:cubicBezTo>
                      <a:pt x="9558" y="10525"/>
                      <a:pt x="9439" y="10463"/>
                      <a:pt x="9334" y="10396"/>
                    </a:cubicBezTo>
                    <a:close/>
                    <a:moveTo>
                      <a:pt x="9989" y="10678"/>
                    </a:moveTo>
                    <a:cubicBezTo>
                      <a:pt x="9989" y="10678"/>
                      <a:pt x="9970" y="10801"/>
                      <a:pt x="9970" y="10801"/>
                    </a:cubicBezTo>
                    <a:cubicBezTo>
                      <a:pt x="10088" y="10842"/>
                      <a:pt x="10219" y="10882"/>
                      <a:pt x="10359" y="10922"/>
                    </a:cubicBezTo>
                    <a:lnTo>
                      <a:pt x="10375" y="10798"/>
                    </a:lnTo>
                    <a:cubicBezTo>
                      <a:pt x="10236" y="10759"/>
                      <a:pt x="10106" y="10719"/>
                      <a:pt x="9989" y="10678"/>
                    </a:cubicBezTo>
                    <a:close/>
                    <a:moveTo>
                      <a:pt x="10653" y="10891"/>
                    </a:moveTo>
                    <a:cubicBezTo>
                      <a:pt x="10653" y="10891"/>
                      <a:pt x="10639" y="11014"/>
                      <a:pt x="10639" y="11014"/>
                    </a:cubicBezTo>
                    <a:cubicBezTo>
                      <a:pt x="10766" y="11046"/>
                      <a:pt x="10897" y="11076"/>
                      <a:pt x="11030" y="11106"/>
                    </a:cubicBezTo>
                    <a:lnTo>
                      <a:pt x="11043" y="10982"/>
                    </a:lnTo>
                    <a:cubicBezTo>
                      <a:pt x="10910" y="10953"/>
                      <a:pt x="10780" y="10922"/>
                      <a:pt x="10653" y="10891"/>
                    </a:cubicBezTo>
                    <a:close/>
                    <a:moveTo>
                      <a:pt x="11320" y="11032"/>
                    </a:moveTo>
                    <a:cubicBezTo>
                      <a:pt x="11320" y="11032"/>
                      <a:pt x="11308" y="11157"/>
                      <a:pt x="11308" y="11157"/>
                    </a:cubicBezTo>
                    <a:cubicBezTo>
                      <a:pt x="11438" y="11184"/>
                      <a:pt x="11569" y="11209"/>
                      <a:pt x="11701" y="11235"/>
                    </a:cubicBezTo>
                    <a:lnTo>
                      <a:pt x="11712" y="11112"/>
                    </a:lnTo>
                    <a:cubicBezTo>
                      <a:pt x="11580" y="11086"/>
                      <a:pt x="11450" y="11059"/>
                      <a:pt x="11320" y="11032"/>
                    </a:cubicBezTo>
                    <a:close/>
                    <a:moveTo>
                      <a:pt x="11989" y="11174"/>
                    </a:moveTo>
                    <a:cubicBezTo>
                      <a:pt x="11989" y="11174"/>
                      <a:pt x="11978" y="11298"/>
                      <a:pt x="11978" y="11298"/>
                    </a:cubicBezTo>
                    <a:lnTo>
                      <a:pt x="12370" y="11375"/>
                    </a:lnTo>
                    <a:lnTo>
                      <a:pt x="12381" y="11251"/>
                    </a:lnTo>
                    <a:lnTo>
                      <a:pt x="11989" y="11174"/>
                    </a:lnTo>
                    <a:close/>
                    <a:moveTo>
                      <a:pt x="12659" y="11280"/>
                    </a:moveTo>
                    <a:lnTo>
                      <a:pt x="12647" y="11404"/>
                    </a:lnTo>
                    <a:cubicBezTo>
                      <a:pt x="12779" y="11431"/>
                      <a:pt x="12910" y="11459"/>
                      <a:pt x="13039" y="11487"/>
                    </a:cubicBezTo>
                    <a:lnTo>
                      <a:pt x="13051" y="11362"/>
                    </a:lnTo>
                    <a:cubicBezTo>
                      <a:pt x="12922" y="11334"/>
                      <a:pt x="12792" y="11307"/>
                      <a:pt x="12659" y="11280"/>
                    </a:cubicBezTo>
                    <a:close/>
                    <a:moveTo>
                      <a:pt x="13330" y="11456"/>
                    </a:moveTo>
                    <a:lnTo>
                      <a:pt x="13317" y="11580"/>
                    </a:lnTo>
                    <a:cubicBezTo>
                      <a:pt x="13450" y="11612"/>
                      <a:pt x="13580" y="11645"/>
                      <a:pt x="13705" y="11680"/>
                    </a:cubicBezTo>
                    <a:lnTo>
                      <a:pt x="13721" y="11556"/>
                    </a:lnTo>
                    <a:cubicBezTo>
                      <a:pt x="13595" y="11521"/>
                      <a:pt x="13464" y="11488"/>
                      <a:pt x="13330" y="11456"/>
                    </a:cubicBezTo>
                    <a:close/>
                    <a:moveTo>
                      <a:pt x="14004" y="11633"/>
                    </a:moveTo>
                    <a:cubicBezTo>
                      <a:pt x="14004" y="11633"/>
                      <a:pt x="13986" y="11756"/>
                      <a:pt x="13986" y="11756"/>
                    </a:cubicBezTo>
                    <a:cubicBezTo>
                      <a:pt x="14125" y="11800"/>
                      <a:pt x="14253" y="11846"/>
                      <a:pt x="14368" y="11893"/>
                    </a:cubicBezTo>
                    <a:lnTo>
                      <a:pt x="14391" y="11771"/>
                    </a:lnTo>
                    <a:cubicBezTo>
                      <a:pt x="14275" y="11724"/>
                      <a:pt x="14145" y="11678"/>
                      <a:pt x="14004" y="11633"/>
                    </a:cubicBezTo>
                    <a:close/>
                    <a:moveTo>
                      <a:pt x="14659" y="11881"/>
                    </a:moveTo>
                    <a:cubicBezTo>
                      <a:pt x="14659" y="11881"/>
                      <a:pt x="14632" y="11999"/>
                      <a:pt x="14632" y="11999"/>
                    </a:cubicBezTo>
                    <a:cubicBezTo>
                      <a:pt x="14772" y="12071"/>
                      <a:pt x="14890" y="12149"/>
                      <a:pt x="14985" y="12230"/>
                    </a:cubicBezTo>
                    <a:lnTo>
                      <a:pt x="15028" y="12122"/>
                    </a:lnTo>
                    <a:cubicBezTo>
                      <a:pt x="14928" y="12037"/>
                      <a:pt x="14804" y="11956"/>
                      <a:pt x="14659" y="11881"/>
                    </a:cubicBezTo>
                    <a:close/>
                    <a:moveTo>
                      <a:pt x="15246" y="12411"/>
                    </a:moveTo>
                    <a:cubicBezTo>
                      <a:pt x="15246" y="12411"/>
                      <a:pt x="15181" y="12494"/>
                      <a:pt x="15181" y="12494"/>
                    </a:cubicBezTo>
                    <a:cubicBezTo>
                      <a:pt x="15243" y="12600"/>
                      <a:pt x="15273" y="12709"/>
                      <a:pt x="15273" y="12830"/>
                    </a:cubicBezTo>
                    <a:cubicBezTo>
                      <a:pt x="15273" y="12874"/>
                      <a:pt x="15270" y="12921"/>
                      <a:pt x="15260" y="12976"/>
                    </a:cubicBezTo>
                    <a:lnTo>
                      <a:pt x="15343" y="13001"/>
                    </a:lnTo>
                    <a:cubicBezTo>
                      <a:pt x="15353" y="12943"/>
                      <a:pt x="15359" y="12885"/>
                      <a:pt x="15359" y="12830"/>
                    </a:cubicBezTo>
                    <a:cubicBezTo>
                      <a:pt x="15359" y="12680"/>
                      <a:pt x="15321" y="12539"/>
                      <a:pt x="15246" y="12411"/>
                    </a:cubicBezTo>
                    <a:close/>
                    <a:moveTo>
                      <a:pt x="15159" y="13295"/>
                    </a:moveTo>
                    <a:cubicBezTo>
                      <a:pt x="15095" y="13434"/>
                      <a:pt x="15006" y="13569"/>
                      <a:pt x="14895" y="13696"/>
                    </a:cubicBezTo>
                    <a:lnTo>
                      <a:pt x="14947" y="13796"/>
                    </a:lnTo>
                    <a:cubicBezTo>
                      <a:pt x="15065" y="13660"/>
                      <a:pt x="15160" y="13515"/>
                      <a:pt x="15229" y="13366"/>
                    </a:cubicBezTo>
                    <a:lnTo>
                      <a:pt x="15159" y="13295"/>
                    </a:lnTo>
                    <a:close/>
                    <a:moveTo>
                      <a:pt x="14668" y="13932"/>
                    </a:moveTo>
                    <a:cubicBezTo>
                      <a:pt x="14566" y="14020"/>
                      <a:pt x="14449" y="14109"/>
                      <a:pt x="14321" y="14193"/>
                    </a:cubicBezTo>
                    <a:lnTo>
                      <a:pt x="14355" y="14308"/>
                    </a:lnTo>
                    <a:cubicBezTo>
                      <a:pt x="14486" y="14222"/>
                      <a:pt x="14607" y="14131"/>
                      <a:pt x="14712" y="14040"/>
                    </a:cubicBezTo>
                    <a:lnTo>
                      <a:pt x="14668" y="13932"/>
                    </a:lnTo>
                    <a:close/>
                    <a:moveTo>
                      <a:pt x="14070" y="14356"/>
                    </a:moveTo>
                    <a:cubicBezTo>
                      <a:pt x="13956" y="14420"/>
                      <a:pt x="13831" y="14485"/>
                      <a:pt x="13699" y="14548"/>
                    </a:cubicBezTo>
                    <a:lnTo>
                      <a:pt x="13725" y="14669"/>
                    </a:lnTo>
                    <a:cubicBezTo>
                      <a:pt x="13859" y="14605"/>
                      <a:pt x="13985" y="14538"/>
                      <a:pt x="14100" y="14473"/>
                    </a:cubicBezTo>
                    <a:lnTo>
                      <a:pt x="14070" y="14356"/>
                    </a:lnTo>
                    <a:close/>
                    <a:moveTo>
                      <a:pt x="13409" y="14674"/>
                    </a:moveTo>
                    <a:cubicBezTo>
                      <a:pt x="13288" y="14727"/>
                      <a:pt x="13161" y="14779"/>
                      <a:pt x="13030" y="14830"/>
                    </a:cubicBezTo>
                    <a:lnTo>
                      <a:pt x="13051" y="14951"/>
                    </a:lnTo>
                    <a:cubicBezTo>
                      <a:pt x="13184" y="14900"/>
                      <a:pt x="13311" y="14848"/>
                      <a:pt x="13433" y="14795"/>
                    </a:cubicBezTo>
                    <a:lnTo>
                      <a:pt x="13409" y="14674"/>
                    </a:lnTo>
                    <a:close/>
                    <a:moveTo>
                      <a:pt x="12768" y="14922"/>
                    </a:moveTo>
                    <a:cubicBezTo>
                      <a:pt x="12644" y="14967"/>
                      <a:pt x="12516" y="15011"/>
                      <a:pt x="12384" y="15055"/>
                    </a:cubicBezTo>
                    <a:lnTo>
                      <a:pt x="12403" y="15178"/>
                    </a:lnTo>
                    <a:cubicBezTo>
                      <a:pt x="12535" y="15133"/>
                      <a:pt x="12664" y="15090"/>
                      <a:pt x="12788" y="15044"/>
                    </a:cubicBezTo>
                    <a:lnTo>
                      <a:pt x="12768" y="14922"/>
                    </a:lnTo>
                    <a:close/>
                    <a:moveTo>
                      <a:pt x="12101" y="15169"/>
                    </a:moveTo>
                    <a:cubicBezTo>
                      <a:pt x="11976" y="15209"/>
                      <a:pt x="11846" y="15249"/>
                      <a:pt x="11715" y="15290"/>
                    </a:cubicBezTo>
                    <a:lnTo>
                      <a:pt x="11732" y="15413"/>
                    </a:lnTo>
                    <a:cubicBezTo>
                      <a:pt x="11864" y="15373"/>
                      <a:pt x="11993" y="15332"/>
                      <a:pt x="12119" y="15292"/>
                    </a:cubicBezTo>
                    <a:lnTo>
                      <a:pt x="12101" y="15169"/>
                    </a:lnTo>
                    <a:close/>
                    <a:moveTo>
                      <a:pt x="11456" y="15346"/>
                    </a:moveTo>
                    <a:cubicBezTo>
                      <a:pt x="11330" y="15383"/>
                      <a:pt x="11201" y="15421"/>
                      <a:pt x="11069" y="15459"/>
                    </a:cubicBezTo>
                    <a:lnTo>
                      <a:pt x="11085" y="15581"/>
                    </a:lnTo>
                    <a:cubicBezTo>
                      <a:pt x="11217" y="15544"/>
                      <a:pt x="11347" y="15507"/>
                      <a:pt x="11474" y="15470"/>
                    </a:cubicBezTo>
                    <a:lnTo>
                      <a:pt x="11456" y="15346"/>
                    </a:lnTo>
                    <a:close/>
                    <a:moveTo>
                      <a:pt x="10788" y="15558"/>
                    </a:moveTo>
                    <a:cubicBezTo>
                      <a:pt x="10661" y="15594"/>
                      <a:pt x="10531" y="15629"/>
                      <a:pt x="10400" y="15665"/>
                    </a:cubicBezTo>
                    <a:lnTo>
                      <a:pt x="10416" y="15789"/>
                    </a:lnTo>
                    <a:cubicBezTo>
                      <a:pt x="10547" y="15753"/>
                      <a:pt x="10677" y="15717"/>
                      <a:pt x="10804" y="15682"/>
                    </a:cubicBezTo>
                    <a:lnTo>
                      <a:pt x="10788" y="15558"/>
                    </a:lnTo>
                    <a:close/>
                    <a:moveTo>
                      <a:pt x="10119" y="15735"/>
                    </a:moveTo>
                    <a:cubicBezTo>
                      <a:pt x="10119" y="15735"/>
                      <a:pt x="9730" y="15840"/>
                      <a:pt x="9730" y="15840"/>
                    </a:cubicBezTo>
                    <a:lnTo>
                      <a:pt x="9745" y="15964"/>
                    </a:lnTo>
                    <a:lnTo>
                      <a:pt x="10135" y="15859"/>
                    </a:lnTo>
                    <a:lnTo>
                      <a:pt x="10119" y="15735"/>
                    </a:lnTo>
                    <a:close/>
                    <a:moveTo>
                      <a:pt x="9450" y="15912"/>
                    </a:moveTo>
                    <a:cubicBezTo>
                      <a:pt x="9450" y="15912"/>
                      <a:pt x="9061" y="16016"/>
                      <a:pt x="9061" y="16016"/>
                    </a:cubicBezTo>
                    <a:lnTo>
                      <a:pt x="9076" y="16139"/>
                    </a:lnTo>
                    <a:lnTo>
                      <a:pt x="9465" y="16035"/>
                    </a:lnTo>
                    <a:lnTo>
                      <a:pt x="9450" y="15912"/>
                    </a:lnTo>
                    <a:close/>
                    <a:moveTo>
                      <a:pt x="8780" y="16088"/>
                    </a:moveTo>
                    <a:cubicBezTo>
                      <a:pt x="8780" y="16088"/>
                      <a:pt x="8626" y="16130"/>
                      <a:pt x="8626" y="16130"/>
                    </a:cubicBezTo>
                    <a:cubicBezTo>
                      <a:pt x="8548" y="16151"/>
                      <a:pt x="8470" y="16172"/>
                      <a:pt x="8392" y="16193"/>
                    </a:cubicBezTo>
                    <a:lnTo>
                      <a:pt x="8407" y="16317"/>
                    </a:lnTo>
                    <a:cubicBezTo>
                      <a:pt x="8485" y="16296"/>
                      <a:pt x="8563" y="16275"/>
                      <a:pt x="8640" y="16254"/>
                    </a:cubicBezTo>
                    <a:lnTo>
                      <a:pt x="8795" y="16212"/>
                    </a:lnTo>
                    <a:lnTo>
                      <a:pt x="8780" y="16088"/>
                    </a:lnTo>
                    <a:close/>
                    <a:moveTo>
                      <a:pt x="8110" y="16265"/>
                    </a:moveTo>
                    <a:cubicBezTo>
                      <a:pt x="7981" y="16303"/>
                      <a:pt x="7851" y="16341"/>
                      <a:pt x="7722" y="16380"/>
                    </a:cubicBezTo>
                    <a:lnTo>
                      <a:pt x="7739" y="16503"/>
                    </a:lnTo>
                    <a:cubicBezTo>
                      <a:pt x="7868" y="16464"/>
                      <a:pt x="7997" y="16426"/>
                      <a:pt x="8126" y="16389"/>
                    </a:cubicBezTo>
                    <a:lnTo>
                      <a:pt x="8110" y="16265"/>
                    </a:lnTo>
                    <a:close/>
                    <a:moveTo>
                      <a:pt x="7464" y="16477"/>
                    </a:moveTo>
                    <a:cubicBezTo>
                      <a:pt x="7334" y="16518"/>
                      <a:pt x="7205" y="16561"/>
                      <a:pt x="7077" y="16603"/>
                    </a:cubicBezTo>
                    <a:lnTo>
                      <a:pt x="7095" y="16725"/>
                    </a:lnTo>
                    <a:cubicBezTo>
                      <a:pt x="7224" y="16682"/>
                      <a:pt x="7353" y="16641"/>
                      <a:pt x="7482" y="16600"/>
                    </a:cubicBezTo>
                    <a:lnTo>
                      <a:pt x="7464" y="16477"/>
                    </a:lnTo>
                    <a:close/>
                    <a:moveTo>
                      <a:pt x="6792" y="16690"/>
                    </a:moveTo>
                    <a:cubicBezTo>
                      <a:pt x="6663" y="16734"/>
                      <a:pt x="6535" y="16780"/>
                      <a:pt x="6407" y="16827"/>
                    </a:cubicBezTo>
                    <a:lnTo>
                      <a:pt x="6427" y="16948"/>
                    </a:lnTo>
                    <a:cubicBezTo>
                      <a:pt x="6555" y="16902"/>
                      <a:pt x="6683" y="16857"/>
                      <a:pt x="6811" y="16812"/>
                    </a:cubicBezTo>
                    <a:lnTo>
                      <a:pt x="6792" y="16690"/>
                    </a:lnTo>
                    <a:close/>
                    <a:moveTo>
                      <a:pt x="6120" y="16937"/>
                    </a:moveTo>
                    <a:cubicBezTo>
                      <a:pt x="5992" y="16986"/>
                      <a:pt x="5865" y="17035"/>
                      <a:pt x="5738" y="17085"/>
                    </a:cubicBezTo>
                    <a:lnTo>
                      <a:pt x="5760" y="17207"/>
                    </a:lnTo>
                    <a:cubicBezTo>
                      <a:pt x="5887" y="17156"/>
                      <a:pt x="6013" y="17107"/>
                      <a:pt x="6141" y="17059"/>
                    </a:cubicBezTo>
                    <a:lnTo>
                      <a:pt x="6120" y="16937"/>
                    </a:lnTo>
                    <a:close/>
                    <a:moveTo>
                      <a:pt x="5473" y="17185"/>
                    </a:moveTo>
                    <a:cubicBezTo>
                      <a:pt x="5345" y="17237"/>
                      <a:pt x="5218" y="17291"/>
                      <a:pt x="5092" y="17346"/>
                    </a:cubicBezTo>
                    <a:lnTo>
                      <a:pt x="5116" y="17467"/>
                    </a:lnTo>
                    <a:cubicBezTo>
                      <a:pt x="5242" y="17413"/>
                      <a:pt x="5368" y="17359"/>
                      <a:pt x="5496" y="17306"/>
                    </a:cubicBezTo>
                    <a:lnTo>
                      <a:pt x="5473" y="17185"/>
                    </a:lnTo>
                    <a:close/>
                    <a:moveTo>
                      <a:pt x="4824" y="17467"/>
                    </a:moveTo>
                    <a:cubicBezTo>
                      <a:pt x="4697" y="17525"/>
                      <a:pt x="4571" y="17584"/>
                      <a:pt x="4447" y="17644"/>
                    </a:cubicBezTo>
                    <a:lnTo>
                      <a:pt x="4473" y="17764"/>
                    </a:lnTo>
                    <a:cubicBezTo>
                      <a:pt x="4597" y="17704"/>
                      <a:pt x="4722" y="17646"/>
                      <a:pt x="4849" y="17588"/>
                    </a:cubicBezTo>
                    <a:lnTo>
                      <a:pt x="4824" y="17467"/>
                    </a:lnTo>
                    <a:close/>
                    <a:moveTo>
                      <a:pt x="4175" y="17786"/>
                    </a:moveTo>
                    <a:cubicBezTo>
                      <a:pt x="4049" y="17849"/>
                      <a:pt x="3924" y="17913"/>
                      <a:pt x="3801" y="17979"/>
                    </a:cubicBezTo>
                    <a:lnTo>
                      <a:pt x="3830" y="18097"/>
                    </a:lnTo>
                    <a:cubicBezTo>
                      <a:pt x="3953" y="18032"/>
                      <a:pt x="4077" y="17968"/>
                      <a:pt x="4203" y="17905"/>
                    </a:cubicBezTo>
                    <a:lnTo>
                      <a:pt x="4175" y="17786"/>
                    </a:lnTo>
                    <a:close/>
                    <a:moveTo>
                      <a:pt x="3549" y="18139"/>
                    </a:moveTo>
                    <a:cubicBezTo>
                      <a:pt x="3424" y="18209"/>
                      <a:pt x="3301" y="18280"/>
                      <a:pt x="3180" y="18353"/>
                    </a:cubicBezTo>
                    <a:lnTo>
                      <a:pt x="3212" y="18470"/>
                    </a:lnTo>
                    <a:cubicBezTo>
                      <a:pt x="3332" y="18398"/>
                      <a:pt x="3454" y="18326"/>
                      <a:pt x="3579" y="18256"/>
                    </a:cubicBezTo>
                    <a:lnTo>
                      <a:pt x="3549" y="18139"/>
                    </a:lnTo>
                    <a:close/>
                    <a:moveTo>
                      <a:pt x="2920" y="18493"/>
                    </a:moveTo>
                    <a:cubicBezTo>
                      <a:pt x="2797" y="18571"/>
                      <a:pt x="2676" y="18650"/>
                      <a:pt x="2558" y="18730"/>
                    </a:cubicBezTo>
                    <a:lnTo>
                      <a:pt x="2594" y="18844"/>
                    </a:lnTo>
                    <a:cubicBezTo>
                      <a:pt x="2711" y="18764"/>
                      <a:pt x="2831" y="18686"/>
                      <a:pt x="2954" y="18609"/>
                    </a:cubicBezTo>
                    <a:lnTo>
                      <a:pt x="2920" y="18493"/>
                    </a:lnTo>
                    <a:close/>
                    <a:moveTo>
                      <a:pt x="2290" y="18917"/>
                    </a:moveTo>
                    <a:cubicBezTo>
                      <a:pt x="2169" y="19005"/>
                      <a:pt x="2050" y="19094"/>
                      <a:pt x="1937" y="19184"/>
                    </a:cubicBezTo>
                    <a:lnTo>
                      <a:pt x="1976" y="19294"/>
                    </a:lnTo>
                    <a:cubicBezTo>
                      <a:pt x="2089" y="19205"/>
                      <a:pt x="2207" y="19117"/>
                      <a:pt x="2327" y="19030"/>
                    </a:cubicBezTo>
                    <a:lnTo>
                      <a:pt x="2290" y="18917"/>
                    </a:lnTo>
                    <a:close/>
                    <a:moveTo>
                      <a:pt x="1703" y="19377"/>
                    </a:moveTo>
                    <a:cubicBezTo>
                      <a:pt x="1585" y="19477"/>
                      <a:pt x="1470" y="19579"/>
                      <a:pt x="1363" y="19681"/>
                    </a:cubicBezTo>
                    <a:lnTo>
                      <a:pt x="1408" y="19787"/>
                    </a:lnTo>
                    <a:cubicBezTo>
                      <a:pt x="1515" y="19686"/>
                      <a:pt x="1628" y="19585"/>
                      <a:pt x="1745" y="19486"/>
                    </a:cubicBezTo>
                    <a:lnTo>
                      <a:pt x="1703" y="19377"/>
                    </a:lnTo>
                    <a:close/>
                    <a:moveTo>
                      <a:pt x="1107" y="19907"/>
                    </a:moveTo>
                    <a:cubicBezTo>
                      <a:pt x="995" y="20023"/>
                      <a:pt x="888" y="20142"/>
                      <a:pt x="789" y="20260"/>
                    </a:cubicBezTo>
                    <a:lnTo>
                      <a:pt x="842" y="20358"/>
                    </a:lnTo>
                    <a:cubicBezTo>
                      <a:pt x="939" y="20242"/>
                      <a:pt x="1045" y="20124"/>
                      <a:pt x="1156" y="20010"/>
                    </a:cubicBezTo>
                    <a:lnTo>
                      <a:pt x="1107" y="19907"/>
                    </a:lnTo>
                    <a:close/>
                    <a:moveTo>
                      <a:pt x="592" y="20544"/>
                    </a:moveTo>
                    <a:cubicBezTo>
                      <a:pt x="490" y="20681"/>
                      <a:pt x="395" y="20823"/>
                      <a:pt x="311" y="20964"/>
                    </a:cubicBezTo>
                    <a:lnTo>
                      <a:pt x="374" y="21047"/>
                    </a:lnTo>
                    <a:cubicBezTo>
                      <a:pt x="457" y="20909"/>
                      <a:pt x="549" y="20771"/>
                      <a:pt x="649" y="20637"/>
                    </a:cubicBezTo>
                    <a:lnTo>
                      <a:pt x="592" y="20544"/>
                    </a:lnTo>
                    <a:close/>
                    <a:moveTo>
                      <a:pt x="112" y="21286"/>
                    </a:moveTo>
                    <a:cubicBezTo>
                      <a:pt x="72" y="21368"/>
                      <a:pt x="34" y="21452"/>
                      <a:pt x="0" y="21534"/>
                    </a:cubicBezTo>
                    <a:lnTo>
                      <a:pt x="72" y="21599"/>
                    </a:lnTo>
                    <a:cubicBezTo>
                      <a:pt x="105" y="21520"/>
                      <a:pt x="142" y="21440"/>
                      <a:pt x="181" y="21360"/>
                    </a:cubicBezTo>
                    <a:lnTo>
                      <a:pt x="112" y="21286"/>
                    </a:lnTo>
                    <a:close/>
                  </a:path>
                </a:pathLst>
              </a:custGeom>
              <a:solidFill>
                <a:schemeClr val="accent4"/>
              </a:solidFill>
              <a:ln w="12700">
                <a:miter lim="400000"/>
              </a:ln>
            </p:spPr>
            <p:txBody>
              <a:bodyPr lIns="0" tIns="0" rIns="0" bIns="0" anchor="ctr"/>
              <a:lstStyle/>
              <a:p>
                <a:pPr eaLnBrk="0" fontAlgn="base" hangingPunct="0">
                  <a:spcBef>
                    <a:spcPct val="0"/>
                  </a:spcBef>
                  <a:spcAft>
                    <a:spcPct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Arial" panose="020B0604020202020204" pitchFamily="34" charset="0"/>
                  <a:ea typeface="宋体" panose="02010600030101010101" pitchFamily="2" charset="-122"/>
                  <a:cs typeface="+mn-ea"/>
                  <a:sym typeface="+mn-lt"/>
                </a:endParaRPr>
              </a:p>
            </p:txBody>
          </p:sp>
        </p:grpSp>
        <p:sp>
          <p:nvSpPr>
            <p:cNvPr id="25" name="Oval Callout 6"/>
            <p:cNvSpPr/>
            <p:nvPr/>
          </p:nvSpPr>
          <p:spPr>
            <a:xfrm>
              <a:off x="2932325" y="3873040"/>
              <a:ext cx="1727212" cy="1694173"/>
            </a:xfrm>
            <a:prstGeom prst="wedgeEllipseCallout">
              <a:avLst>
                <a:gd name="adj1" fmla="val -5527"/>
                <a:gd name="adj2" fmla="val 67378"/>
              </a:avLst>
            </a:prstGeom>
            <a:solidFill>
              <a:schemeClr val="bg1"/>
            </a:solidFill>
            <a:ln w="1270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Times New Roman"/>
                <a:ea typeface="黑体"/>
                <a:cs typeface="+mn-ea"/>
                <a:sym typeface="+mn-lt"/>
              </a:endParaRPr>
            </a:p>
          </p:txBody>
        </p:sp>
        <p:sp>
          <p:nvSpPr>
            <p:cNvPr id="26" name="Oval 7"/>
            <p:cNvSpPr/>
            <p:nvPr/>
          </p:nvSpPr>
          <p:spPr>
            <a:xfrm>
              <a:off x="3068755" y="4025804"/>
              <a:ext cx="1449019" cy="14490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dirty="0">
                  <a:ln w="0"/>
                  <a:solidFill>
                    <a:srgbClr val="000000"/>
                  </a:solidFill>
                  <a:effectLst>
                    <a:outerShdw blurRad="38100" dist="19050" dir="2700000" algn="tl" rotWithShape="0">
                      <a:srgbClr val="000000">
                        <a:alpha val="40000"/>
                      </a:srgbClr>
                    </a:outerShdw>
                  </a:effectLst>
                  <a:latin typeface="Times New Roman"/>
                  <a:ea typeface="黑体"/>
                  <a:cs typeface="+mn-ea"/>
                  <a:sym typeface="+mn-lt"/>
                </a:rPr>
                <a:t>1</a:t>
              </a:r>
            </a:p>
          </p:txBody>
        </p:sp>
        <p:sp>
          <p:nvSpPr>
            <p:cNvPr id="27" name="Oval Callout 10"/>
            <p:cNvSpPr/>
            <p:nvPr/>
          </p:nvSpPr>
          <p:spPr>
            <a:xfrm>
              <a:off x="7406058" y="3161101"/>
              <a:ext cx="1736840" cy="1703618"/>
            </a:xfrm>
            <a:prstGeom prst="wedgeEllipseCallout">
              <a:avLst>
                <a:gd name="adj1" fmla="val -5527"/>
                <a:gd name="adj2" fmla="val 67378"/>
              </a:avLst>
            </a:prstGeom>
            <a:gradFill>
              <a:gsLst>
                <a:gs pos="100000">
                  <a:schemeClr val="accent2">
                    <a:lumMod val="75000"/>
                  </a:schemeClr>
                </a:gs>
                <a:gs pos="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Times New Roman"/>
                <a:ea typeface="黑体"/>
                <a:cs typeface="+mn-ea"/>
                <a:sym typeface="+mn-lt"/>
              </a:endParaRPr>
            </a:p>
          </p:txBody>
        </p:sp>
        <p:sp>
          <p:nvSpPr>
            <p:cNvPr id="28" name="Oval 11"/>
            <p:cNvSpPr/>
            <p:nvPr/>
          </p:nvSpPr>
          <p:spPr>
            <a:xfrm>
              <a:off x="7609924" y="3347102"/>
              <a:ext cx="1329107" cy="132910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dirty="0">
                  <a:ln w="0"/>
                  <a:solidFill>
                    <a:srgbClr val="000000"/>
                  </a:solidFill>
                  <a:effectLst>
                    <a:outerShdw blurRad="38100" dist="19050" dir="2700000" algn="tl" rotWithShape="0">
                      <a:srgbClr val="000000">
                        <a:alpha val="40000"/>
                      </a:srgbClr>
                    </a:outerShdw>
                  </a:effectLst>
                  <a:latin typeface="Times New Roman"/>
                  <a:ea typeface="黑体"/>
                  <a:cs typeface="+mn-ea"/>
                  <a:sym typeface="+mn-lt"/>
                </a:rPr>
                <a:t>2</a:t>
              </a:r>
            </a:p>
          </p:txBody>
        </p:sp>
        <p:sp>
          <p:nvSpPr>
            <p:cNvPr id="29" name="Oval Callout 14"/>
            <p:cNvSpPr/>
            <p:nvPr/>
          </p:nvSpPr>
          <p:spPr>
            <a:xfrm>
              <a:off x="4811644" y="2109939"/>
              <a:ext cx="1736840" cy="1703618"/>
            </a:xfrm>
            <a:prstGeom prst="wedgeEllipseCallout">
              <a:avLst>
                <a:gd name="adj1" fmla="val -5527"/>
                <a:gd name="adj2" fmla="val 67378"/>
              </a:avLst>
            </a:prstGeom>
            <a:solidFill>
              <a:srgbClr val="F3A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Times New Roman"/>
                <a:ea typeface="黑体"/>
                <a:cs typeface="+mn-ea"/>
                <a:sym typeface="+mn-lt"/>
              </a:endParaRPr>
            </a:p>
          </p:txBody>
        </p:sp>
        <p:sp>
          <p:nvSpPr>
            <p:cNvPr id="30" name="Oval 15"/>
            <p:cNvSpPr/>
            <p:nvPr/>
          </p:nvSpPr>
          <p:spPr>
            <a:xfrm>
              <a:off x="5015510" y="2295940"/>
              <a:ext cx="1329107" cy="132910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dirty="0">
                  <a:ln w="0"/>
                  <a:solidFill>
                    <a:srgbClr val="000000"/>
                  </a:solidFill>
                  <a:effectLst>
                    <a:outerShdw blurRad="38100" dist="19050" dir="2700000" algn="tl" rotWithShape="0">
                      <a:srgbClr val="000000">
                        <a:alpha val="40000"/>
                      </a:srgbClr>
                    </a:outerShdw>
                  </a:effectLst>
                  <a:latin typeface="Times New Roman"/>
                  <a:ea typeface="黑体"/>
                  <a:cs typeface="+mn-ea"/>
                  <a:sym typeface="+mn-lt"/>
                </a:rPr>
                <a:t>3</a:t>
              </a:r>
              <a:endParaRPr lang="en-US" dirty="0">
                <a:solidFill>
                  <a:srgbClr val="FFFFFF"/>
                </a:solidFill>
                <a:latin typeface="Times New Roman"/>
                <a:ea typeface="黑体"/>
                <a:cs typeface="+mn-ea"/>
                <a:sym typeface="+mn-lt"/>
              </a:endParaRPr>
            </a:p>
          </p:txBody>
        </p:sp>
        <p:sp>
          <p:nvSpPr>
            <p:cNvPr id="31" name="Oval Callout 18"/>
            <p:cNvSpPr/>
            <p:nvPr/>
          </p:nvSpPr>
          <p:spPr>
            <a:xfrm>
              <a:off x="6933301" y="692804"/>
              <a:ext cx="1510276" cy="1481388"/>
            </a:xfrm>
            <a:prstGeom prst="wedgeEllipseCallout">
              <a:avLst>
                <a:gd name="adj1" fmla="val -5527"/>
                <a:gd name="adj2" fmla="val 67378"/>
              </a:avLst>
            </a:prstGeom>
            <a:gradFill>
              <a:gsLst>
                <a:gs pos="100000">
                  <a:schemeClr val="accent4">
                    <a:lumMod val="75000"/>
                  </a:schemeClr>
                </a:gs>
                <a:gs pos="0">
                  <a:schemeClr val="accent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Times New Roman"/>
                <a:ea typeface="黑体"/>
                <a:cs typeface="+mn-ea"/>
                <a:sym typeface="+mn-lt"/>
              </a:endParaRPr>
            </a:p>
          </p:txBody>
        </p:sp>
        <p:sp>
          <p:nvSpPr>
            <p:cNvPr id="32" name="Oval 19"/>
            <p:cNvSpPr/>
            <p:nvPr/>
          </p:nvSpPr>
          <p:spPr>
            <a:xfrm>
              <a:off x="7167219" y="912575"/>
              <a:ext cx="1042442" cy="10424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dirty="0">
                  <a:ln w="0"/>
                  <a:solidFill>
                    <a:srgbClr val="000000"/>
                  </a:solidFill>
                  <a:effectLst>
                    <a:outerShdw blurRad="38100" dist="19050" dir="2700000" algn="tl" rotWithShape="0">
                      <a:srgbClr val="000000">
                        <a:alpha val="40000"/>
                      </a:srgbClr>
                    </a:outerShdw>
                  </a:effectLst>
                  <a:latin typeface="Times New Roman"/>
                  <a:ea typeface="黑体"/>
                  <a:cs typeface="+mn-ea"/>
                  <a:sym typeface="+mn-lt"/>
                </a:rPr>
                <a:t>4</a:t>
              </a:r>
              <a:endParaRPr lang="en-US" dirty="0">
                <a:solidFill>
                  <a:srgbClr val="FFFFFF"/>
                </a:solidFill>
                <a:latin typeface="Times New Roman"/>
                <a:ea typeface="黑体"/>
                <a:cs typeface="+mn-ea"/>
                <a:sym typeface="+mn-lt"/>
              </a:endParaRPr>
            </a:p>
          </p:txBody>
        </p:sp>
        <p:sp>
          <p:nvSpPr>
            <p:cNvPr id="33" name="Oval Callout 22"/>
            <p:cNvSpPr/>
            <p:nvPr/>
          </p:nvSpPr>
          <p:spPr>
            <a:xfrm>
              <a:off x="9142898" y="560423"/>
              <a:ext cx="1181244" cy="1158650"/>
            </a:xfrm>
            <a:prstGeom prst="wedgeEllipseCallout">
              <a:avLst>
                <a:gd name="adj1" fmla="val -5527"/>
                <a:gd name="adj2" fmla="val 67378"/>
              </a:avLst>
            </a:prstGeom>
            <a:gradFill>
              <a:gsLst>
                <a:gs pos="100000">
                  <a:schemeClr val="accent5">
                    <a:lumMod val="75000"/>
                  </a:schemeClr>
                </a:gs>
                <a:gs pos="0">
                  <a:schemeClr val="accent5"/>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Times New Roman"/>
                <a:ea typeface="黑体"/>
                <a:cs typeface="+mn-ea"/>
                <a:sym typeface="+mn-lt"/>
              </a:endParaRPr>
            </a:p>
          </p:txBody>
        </p:sp>
        <p:sp>
          <p:nvSpPr>
            <p:cNvPr id="35" name="Rectangle 32"/>
            <p:cNvSpPr/>
            <p:nvPr/>
          </p:nvSpPr>
          <p:spPr>
            <a:xfrm>
              <a:off x="3754356" y="3786777"/>
              <a:ext cx="342906" cy="1085485"/>
            </a:xfrm>
            <a:prstGeom prst="rect">
              <a:avLst/>
            </a:prstGeom>
          </p:spPr>
          <p:txBody>
            <a:bodyPr wrap="none" anchor="ctr">
              <a:spAutoFit/>
            </a:bodyPr>
            <a:lstStyle/>
            <a:p>
              <a:pPr algn="ctr" eaLnBrk="0" fontAlgn="base" hangingPunct="0">
                <a:spcBef>
                  <a:spcPct val="0"/>
                </a:spcBef>
                <a:spcAft>
                  <a:spcPct val="0"/>
                </a:spcAft>
              </a:pPr>
              <a:endParaRPr lang="en-US" sz="3200" dirty="0">
                <a:solidFill>
                  <a:srgbClr val="FEFEFE"/>
                </a:solidFill>
                <a:latin typeface="Arial" panose="020B0604020202020204" pitchFamily="34" charset="0"/>
                <a:ea typeface="宋体" panose="02010600030101010101" pitchFamily="2" charset="-122"/>
                <a:cs typeface="+mn-ea"/>
                <a:sym typeface="+mn-lt"/>
              </a:endParaRPr>
            </a:p>
          </p:txBody>
        </p:sp>
      </p:grpSp>
      <p:sp>
        <p:nvSpPr>
          <p:cNvPr id="45" name="Oval 46"/>
          <p:cNvSpPr/>
          <p:nvPr/>
        </p:nvSpPr>
        <p:spPr>
          <a:xfrm>
            <a:off x="1810687" y="879554"/>
            <a:ext cx="636505" cy="636505"/>
          </a:xfrm>
          <a:prstGeom prst="ellipse">
            <a:avLst/>
          </a:prstGeom>
          <a:solidFill>
            <a:schemeClr val="tx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2000" dirty="0">
                <a:solidFill>
                  <a:srgbClr val="FFFFFF"/>
                </a:solidFill>
                <a:latin typeface="Times New Roman"/>
                <a:ea typeface="黑体"/>
                <a:cs typeface="+mn-ea"/>
                <a:sym typeface="+mn-lt"/>
              </a:rPr>
              <a:t>01</a:t>
            </a:r>
          </a:p>
        </p:txBody>
      </p:sp>
      <p:sp>
        <p:nvSpPr>
          <p:cNvPr id="46" name="Oval 47"/>
          <p:cNvSpPr/>
          <p:nvPr/>
        </p:nvSpPr>
        <p:spPr>
          <a:xfrm>
            <a:off x="1810689" y="1702872"/>
            <a:ext cx="636505" cy="636505"/>
          </a:xfrm>
          <a:prstGeom prst="ellipse">
            <a:avLst/>
          </a:prstGeom>
          <a:solidFill>
            <a:schemeClr val="accent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2000" dirty="0">
                <a:solidFill>
                  <a:srgbClr val="FFFFFF"/>
                </a:solidFill>
                <a:latin typeface="Times New Roman"/>
                <a:ea typeface="黑体"/>
                <a:cs typeface="+mn-ea"/>
                <a:sym typeface="+mn-lt"/>
              </a:rPr>
              <a:t>02</a:t>
            </a:r>
          </a:p>
        </p:txBody>
      </p:sp>
      <p:sp>
        <p:nvSpPr>
          <p:cNvPr id="47" name="Oval 48"/>
          <p:cNvSpPr/>
          <p:nvPr/>
        </p:nvSpPr>
        <p:spPr>
          <a:xfrm>
            <a:off x="1810688" y="2526190"/>
            <a:ext cx="636505" cy="636505"/>
          </a:xfrm>
          <a:prstGeom prst="ellipse">
            <a:avLst/>
          </a:prstGeom>
          <a:solidFill>
            <a:srgbClr val="F3A5FA"/>
          </a:solidFill>
          <a:ln w="25400">
            <a:solidFill>
              <a:srgbClr val="F3A5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2000" dirty="0">
                <a:solidFill>
                  <a:srgbClr val="FFFFFF"/>
                </a:solidFill>
                <a:latin typeface="Times New Roman"/>
                <a:ea typeface="黑体"/>
                <a:cs typeface="+mn-ea"/>
                <a:sym typeface="+mn-lt"/>
              </a:rPr>
              <a:t>03</a:t>
            </a:r>
          </a:p>
        </p:txBody>
      </p:sp>
      <p:sp>
        <p:nvSpPr>
          <p:cNvPr id="48" name="Oval 49"/>
          <p:cNvSpPr/>
          <p:nvPr/>
        </p:nvSpPr>
        <p:spPr>
          <a:xfrm>
            <a:off x="1810688" y="3415541"/>
            <a:ext cx="636505" cy="636505"/>
          </a:xfrm>
          <a:prstGeom prst="ellipse">
            <a:avLst/>
          </a:prstGeom>
          <a:solidFill>
            <a:schemeClr val="accent4"/>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2000" dirty="0">
                <a:solidFill>
                  <a:srgbClr val="FFFFFF"/>
                </a:solidFill>
                <a:latin typeface="Times New Roman"/>
                <a:ea typeface="黑体"/>
                <a:cs typeface="+mn-ea"/>
                <a:sym typeface="+mn-lt"/>
              </a:rPr>
              <a:t>04</a:t>
            </a:r>
          </a:p>
        </p:txBody>
      </p:sp>
      <p:sp>
        <p:nvSpPr>
          <p:cNvPr id="49" name="Oval 50"/>
          <p:cNvSpPr/>
          <p:nvPr/>
        </p:nvSpPr>
        <p:spPr>
          <a:xfrm>
            <a:off x="1810687" y="4495773"/>
            <a:ext cx="636505" cy="636505"/>
          </a:xfrm>
          <a:prstGeom prst="ellipse">
            <a:avLst/>
          </a:prstGeom>
          <a:solidFill>
            <a:schemeClr val="accent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2000" dirty="0">
                <a:solidFill>
                  <a:srgbClr val="FFFFFF"/>
                </a:solidFill>
                <a:latin typeface="Times New Roman"/>
                <a:ea typeface="黑体"/>
                <a:cs typeface="+mn-ea"/>
                <a:sym typeface="+mn-lt"/>
              </a:rPr>
              <a:t>05</a:t>
            </a:r>
          </a:p>
        </p:txBody>
      </p:sp>
      <p:sp>
        <p:nvSpPr>
          <p:cNvPr id="50" name="TextBox 51"/>
          <p:cNvSpPr txBox="1"/>
          <p:nvPr/>
        </p:nvSpPr>
        <p:spPr>
          <a:xfrm>
            <a:off x="2641798" y="987607"/>
            <a:ext cx="7411891" cy="457113"/>
          </a:xfrm>
          <a:prstGeom prst="rect">
            <a:avLst/>
          </a:prstGeom>
          <a:noFill/>
        </p:spPr>
        <p:txBody>
          <a:bodyPr wrap="square" numCol="1" spcCol="457200" rtlCol="0">
            <a:spAutoFit/>
          </a:bodyPr>
          <a:lstStyle/>
          <a:p>
            <a:pPr eaLnBrk="0" fontAlgn="base" hangingPunct="0">
              <a:lnSpc>
                <a:spcPts val="3200"/>
              </a:lnSpc>
              <a:spcBef>
                <a:spcPct val="0"/>
              </a:spcBef>
              <a:spcAft>
                <a:spcPct val="0"/>
              </a:spcAft>
            </a:pPr>
            <a:r>
              <a:rPr lang="zh-CN" altLang="en-US" sz="2000" dirty="0">
                <a:solidFill>
                  <a:srgbClr val="000000"/>
                </a:solidFill>
                <a:latin typeface="Times New Roman"/>
                <a:ea typeface="黑体"/>
                <a:sym typeface="+mn-ea"/>
              </a:rPr>
              <a:t>     在香农定理的指导下，信道编码理论和技术逐步发展成熟。</a:t>
            </a:r>
            <a:endParaRPr lang="zh-CN" altLang="en-US" sz="2000" dirty="0">
              <a:solidFill>
                <a:srgbClr val="808080"/>
              </a:solidFill>
              <a:latin typeface="Times New Roman"/>
              <a:ea typeface="黑体"/>
              <a:cs typeface="+mn-ea"/>
              <a:sym typeface="+mn-lt"/>
            </a:endParaRPr>
          </a:p>
        </p:txBody>
      </p:sp>
      <p:sp>
        <p:nvSpPr>
          <p:cNvPr id="73" name="TextBox 51"/>
          <p:cNvSpPr txBox="1"/>
          <p:nvPr/>
        </p:nvSpPr>
        <p:spPr>
          <a:xfrm>
            <a:off x="2638942" y="1736292"/>
            <a:ext cx="7897240" cy="457113"/>
          </a:xfrm>
          <a:prstGeom prst="rect">
            <a:avLst/>
          </a:prstGeom>
          <a:noFill/>
        </p:spPr>
        <p:txBody>
          <a:bodyPr wrap="square" numCol="1" spcCol="457200" rtlCol="0">
            <a:spAutoFit/>
          </a:bodyPr>
          <a:lstStyle/>
          <a:p>
            <a:pPr eaLnBrk="0" fontAlgn="base" hangingPunct="0">
              <a:lnSpc>
                <a:spcPts val="3200"/>
              </a:lnSpc>
              <a:spcBef>
                <a:spcPct val="0"/>
              </a:spcBef>
              <a:spcAft>
                <a:spcPct val="0"/>
              </a:spcAft>
            </a:pPr>
            <a:r>
              <a:rPr lang="zh-CN" altLang="en-US" sz="2000" dirty="0">
                <a:solidFill>
                  <a:srgbClr val="000000"/>
                </a:solidFill>
                <a:latin typeface="Times New Roman"/>
                <a:ea typeface="黑体"/>
                <a:sym typeface="+mn-ea"/>
              </a:rPr>
              <a:t>     纠删码</a:t>
            </a:r>
            <a:r>
              <a:rPr lang="en-US" altLang="zh-CN" sz="2000" dirty="0">
                <a:solidFill>
                  <a:srgbClr val="000000"/>
                </a:solidFill>
                <a:latin typeface="Times New Roman"/>
                <a:ea typeface="黑体"/>
                <a:sym typeface="+mn-ea"/>
              </a:rPr>
              <a:t>(Erasure Code)</a:t>
            </a:r>
            <a:r>
              <a:rPr lang="zh-CN" altLang="en-US" sz="2000" dirty="0">
                <a:solidFill>
                  <a:srgbClr val="000000"/>
                </a:solidFill>
                <a:latin typeface="Times New Roman"/>
                <a:ea typeface="黑体"/>
                <a:sym typeface="+mn-ea"/>
              </a:rPr>
              <a:t>原来是</a:t>
            </a:r>
            <a:r>
              <a:rPr lang="zh-CN" altLang="en-US" sz="2000" dirty="0">
                <a:solidFill>
                  <a:srgbClr val="3333CC"/>
                </a:solidFill>
                <a:latin typeface="Times New Roman"/>
                <a:ea typeface="黑体"/>
                <a:sym typeface="+mn-ea"/>
              </a:rPr>
              <a:t>无线通信中有噪信道编码的一种。</a:t>
            </a:r>
            <a:endParaRPr lang="zh-CN" altLang="en-US" sz="2000" dirty="0">
              <a:solidFill>
                <a:srgbClr val="808080"/>
              </a:solidFill>
              <a:latin typeface="Times New Roman"/>
              <a:ea typeface="黑体"/>
              <a:cs typeface="+mn-ea"/>
              <a:sym typeface="+mn-lt"/>
            </a:endParaRPr>
          </a:p>
        </p:txBody>
      </p:sp>
      <p:sp>
        <p:nvSpPr>
          <p:cNvPr id="74" name="TextBox 51"/>
          <p:cNvSpPr txBox="1"/>
          <p:nvPr/>
        </p:nvSpPr>
        <p:spPr>
          <a:xfrm>
            <a:off x="2638943" y="2332940"/>
            <a:ext cx="7569312" cy="867482"/>
          </a:xfrm>
          <a:prstGeom prst="rect">
            <a:avLst/>
          </a:prstGeom>
          <a:noFill/>
        </p:spPr>
        <p:txBody>
          <a:bodyPr wrap="square" numCol="1" spcCol="457200" rtlCol="0">
            <a:spAutoFit/>
          </a:bodyPr>
          <a:lstStyle/>
          <a:p>
            <a:pPr eaLnBrk="0" fontAlgn="base" hangingPunct="0">
              <a:lnSpc>
                <a:spcPts val="3200"/>
              </a:lnSpc>
              <a:spcBef>
                <a:spcPct val="0"/>
              </a:spcBef>
              <a:spcAft>
                <a:spcPct val="0"/>
              </a:spcAft>
            </a:pPr>
            <a:r>
              <a:rPr lang="en-US" altLang="zh-CN" sz="2000" dirty="0">
                <a:solidFill>
                  <a:srgbClr val="000000"/>
                </a:solidFill>
                <a:latin typeface="Times New Roman"/>
                <a:ea typeface="黑体"/>
                <a:sym typeface="+mn-ea"/>
              </a:rPr>
              <a:t>     </a:t>
            </a:r>
            <a:r>
              <a:rPr lang="en-US" altLang="zh-CN" sz="2000" dirty="0" err="1">
                <a:solidFill>
                  <a:srgbClr val="000000"/>
                </a:solidFill>
                <a:latin typeface="Times New Roman"/>
                <a:ea typeface="黑体"/>
                <a:sym typeface="+mn-ea"/>
              </a:rPr>
              <a:t>Karnin</a:t>
            </a:r>
            <a:r>
              <a:rPr lang="zh-CN" altLang="en-US" sz="2000" dirty="0">
                <a:solidFill>
                  <a:srgbClr val="000000"/>
                </a:solidFill>
                <a:latin typeface="Times New Roman"/>
                <a:ea typeface="黑体"/>
                <a:sym typeface="+mn-ea"/>
              </a:rPr>
              <a:t>提出的密钥共享</a:t>
            </a:r>
            <a:r>
              <a:rPr lang="en-US" altLang="zh-CN" sz="2000" dirty="0">
                <a:solidFill>
                  <a:srgbClr val="000000"/>
                </a:solidFill>
                <a:latin typeface="Times New Roman"/>
                <a:ea typeface="黑体"/>
                <a:sym typeface="+mn-ea"/>
              </a:rPr>
              <a:t>(Secret Sharing)</a:t>
            </a:r>
            <a:r>
              <a:rPr lang="zh-CN" altLang="en-US" sz="2000" dirty="0">
                <a:solidFill>
                  <a:srgbClr val="000000"/>
                </a:solidFill>
                <a:latin typeface="Times New Roman"/>
                <a:ea typeface="黑体"/>
                <a:sym typeface="+mn-ea"/>
              </a:rPr>
              <a:t>以及</a:t>
            </a:r>
            <a:r>
              <a:rPr lang="en-US" altLang="zh-CN" sz="2000" dirty="0" err="1">
                <a:solidFill>
                  <a:srgbClr val="000000"/>
                </a:solidFill>
                <a:latin typeface="Times New Roman"/>
                <a:ea typeface="黑体"/>
                <a:sym typeface="+mn-ea"/>
              </a:rPr>
              <a:t>M.O.Rabin</a:t>
            </a:r>
            <a:r>
              <a:rPr lang="zh-CN" altLang="en-US" sz="2000" dirty="0">
                <a:solidFill>
                  <a:srgbClr val="000000"/>
                </a:solidFill>
                <a:latin typeface="Times New Roman"/>
                <a:ea typeface="黑体"/>
                <a:sym typeface="+mn-ea"/>
              </a:rPr>
              <a:t>提出的</a:t>
            </a:r>
            <a:r>
              <a:rPr lang="en-US" altLang="zh-CN" sz="2000" dirty="0">
                <a:solidFill>
                  <a:srgbClr val="000000"/>
                </a:solidFill>
                <a:latin typeface="Times New Roman"/>
                <a:ea typeface="黑体"/>
                <a:sym typeface="+mn-ea"/>
              </a:rPr>
              <a:t>IDA</a:t>
            </a:r>
          </a:p>
          <a:p>
            <a:pPr eaLnBrk="0" fontAlgn="base" hangingPunct="0">
              <a:lnSpc>
                <a:spcPts val="3200"/>
              </a:lnSpc>
              <a:spcBef>
                <a:spcPct val="0"/>
              </a:spcBef>
              <a:spcAft>
                <a:spcPct val="0"/>
              </a:spcAft>
            </a:pPr>
            <a:r>
              <a:rPr lang="en-US" altLang="zh-CN" sz="2000" dirty="0">
                <a:solidFill>
                  <a:srgbClr val="000000"/>
                </a:solidFill>
                <a:latin typeface="Times New Roman"/>
                <a:ea typeface="黑体"/>
                <a:sym typeface="+mn-ea"/>
              </a:rPr>
              <a:t>(Information Dispersal Algorithm)</a:t>
            </a:r>
            <a:r>
              <a:rPr lang="zh-CN" altLang="en-US" sz="2000" dirty="0">
                <a:solidFill>
                  <a:srgbClr val="000000"/>
                </a:solidFill>
                <a:latin typeface="Times New Roman"/>
                <a:ea typeface="黑体"/>
                <a:sym typeface="+mn-ea"/>
              </a:rPr>
              <a:t>算法，将其引入到计算机应用中。</a:t>
            </a:r>
            <a:endParaRPr lang="zh-CN" altLang="en-US" sz="2000" dirty="0">
              <a:solidFill>
                <a:srgbClr val="808080"/>
              </a:solidFill>
              <a:latin typeface="Times New Roman"/>
              <a:ea typeface="黑体"/>
              <a:cs typeface="+mn-ea"/>
              <a:sym typeface="+mn-lt"/>
            </a:endParaRPr>
          </a:p>
        </p:txBody>
      </p:sp>
      <p:sp>
        <p:nvSpPr>
          <p:cNvPr id="75" name="TextBox 51"/>
          <p:cNvSpPr txBox="1"/>
          <p:nvPr/>
        </p:nvSpPr>
        <p:spPr>
          <a:xfrm>
            <a:off x="2674070" y="3325400"/>
            <a:ext cx="5651693" cy="867482"/>
          </a:xfrm>
          <a:prstGeom prst="rect">
            <a:avLst/>
          </a:prstGeom>
          <a:noFill/>
        </p:spPr>
        <p:txBody>
          <a:bodyPr wrap="square" numCol="1" spcCol="457200" rtlCol="0">
            <a:spAutoFit/>
          </a:bodyPr>
          <a:lstStyle/>
          <a:p>
            <a:pPr eaLnBrk="0" fontAlgn="base" hangingPunct="0">
              <a:lnSpc>
                <a:spcPts val="3200"/>
              </a:lnSpc>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近年来，前向纠错技术广泛</a:t>
            </a:r>
            <a:r>
              <a:rPr lang="zh-CN" altLang="en-US" sz="2000" dirty="0">
                <a:solidFill>
                  <a:srgbClr val="3333CC"/>
                </a:solidFill>
                <a:latin typeface="Times New Roman" panose="02020603050405020304" pitchFamily="18" charset="0"/>
                <a:ea typeface="黑体" panose="02010609060101010101" pitchFamily="49" charset="-122"/>
                <a:sym typeface="+mn-ea"/>
              </a:rPr>
              <a:t>应用于信息处理的各个领域</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zh-CN" altLang="en-US" sz="2000" dirty="0">
              <a:solidFill>
                <a:srgbClr val="808080"/>
              </a:solidFill>
              <a:latin typeface="Times New Roman"/>
              <a:ea typeface="黑体"/>
              <a:cs typeface="+mn-ea"/>
              <a:sym typeface="+mn-lt"/>
            </a:endParaRPr>
          </a:p>
        </p:txBody>
      </p:sp>
      <p:sp>
        <p:nvSpPr>
          <p:cNvPr id="77" name="TextBox 51"/>
          <p:cNvSpPr txBox="1"/>
          <p:nvPr/>
        </p:nvSpPr>
        <p:spPr>
          <a:xfrm>
            <a:off x="2568699" y="4208496"/>
            <a:ext cx="4560020" cy="1277850"/>
          </a:xfrm>
          <a:prstGeom prst="rect">
            <a:avLst/>
          </a:prstGeom>
          <a:noFill/>
        </p:spPr>
        <p:txBody>
          <a:bodyPr wrap="square" numCol="1" spcCol="457200" rtlCol="0">
            <a:spAutoFit/>
          </a:bodyPr>
          <a:lstStyle/>
          <a:p>
            <a:pPr eaLnBrk="0" fontAlgn="base" hangingPunct="0">
              <a:lnSpc>
                <a:spcPts val="3200"/>
              </a:lnSpc>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各种纠错码所讨论的以比特串为单位的</a:t>
            </a:r>
            <a:r>
              <a:rPr lang="zh-CN" altLang="en-US" sz="2000" dirty="0">
                <a:solidFill>
                  <a:srgbClr val="3333CC"/>
                </a:solidFill>
                <a:latin typeface="Times New Roman" panose="02020603050405020304" pitchFamily="18" charset="0"/>
                <a:ea typeface="黑体" panose="02010609060101010101" pitchFamily="49" charset="-122"/>
                <a:sym typeface="+mn-ea"/>
              </a:rPr>
              <a:t>错误检测和纠错也多用于低层协议</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如链路层</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 。</a:t>
            </a:r>
            <a:endParaRPr lang="zh-CN" altLang="en-US" sz="2000" dirty="0">
              <a:solidFill>
                <a:srgbClr val="808080"/>
              </a:solidFill>
              <a:latin typeface="Times New Roman"/>
              <a:ea typeface="黑体"/>
              <a:cs typeface="+mn-ea"/>
              <a:sym typeface="+mn-lt"/>
            </a:endParaRPr>
          </a:p>
        </p:txBody>
      </p:sp>
      <p:sp>
        <p:nvSpPr>
          <p:cNvPr id="11" name="椭圆 10"/>
          <p:cNvSpPr/>
          <p:nvPr/>
        </p:nvSpPr>
        <p:spPr>
          <a:xfrm>
            <a:off x="9644948" y="3559342"/>
            <a:ext cx="434479" cy="434479"/>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altLang="zh-CN" dirty="0">
                <a:solidFill>
                  <a:srgbClr val="000000"/>
                </a:solidFill>
                <a:latin typeface="Times New Roman"/>
                <a:ea typeface="黑体"/>
              </a:rPr>
              <a:t>5</a:t>
            </a:r>
            <a:endParaRPr lang="zh-CN" altLang="en-US" dirty="0">
              <a:solidFill>
                <a:srgbClr val="000000"/>
              </a:solidFill>
              <a:latin typeface="Times New Roman"/>
              <a:ea typeface="黑体"/>
            </a:endParaRPr>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纠删码技术产生的背景 </a:t>
            </a:r>
          </a:p>
        </p:txBody>
      </p:sp>
      <p:sp>
        <p:nvSpPr>
          <p:cNvPr id="59" name="文本框 58"/>
          <p:cNvSpPr txBox="1"/>
          <p:nvPr>
            <p:custDataLst>
              <p:tags r:id="rId1"/>
            </p:custDataLst>
          </p:nvPr>
        </p:nvSpPr>
        <p:spPr>
          <a:xfrm>
            <a:off x="3619598" y="1184796"/>
            <a:ext cx="6553028" cy="1172052"/>
          </a:xfrm>
          <a:prstGeom prst="rect">
            <a:avLst/>
          </a:prstGeom>
          <a:noFill/>
        </p:spPr>
        <p:txBody>
          <a:bodyPr wrap="square" rtlCol="0" anchor="t">
            <a:spAutoFit/>
          </a:bodyPr>
          <a:lstStyle/>
          <a:p>
            <a:pPr algn="just" eaLnBrk="0" fontAlgn="base" hangingPunct="0">
              <a:lnSpc>
                <a:spcPts val="2900"/>
              </a:lnSpc>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数据的存储呈现出集中化</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以分布式存储系统为基础的云存储系统</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和移动化</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互联网移动终端</a:t>
            </a:r>
            <a:r>
              <a:rPr lang="en-US" altLang="zh-CN" sz="2000" dirty="0">
                <a:solidFill>
                  <a:srgbClr val="000000"/>
                </a:solidFill>
                <a:latin typeface="Times New Roman" panose="02020603050405020304" pitchFamily="18" charset="0"/>
                <a:ea typeface="黑体" panose="02010609060101010101" pitchFamily="49" charset="-122"/>
                <a:sym typeface="+mn-ea"/>
              </a:rPr>
              <a:t>)</a:t>
            </a:r>
            <a:r>
              <a:rPr lang="zh-CN" altLang="en-US" sz="2000" dirty="0">
                <a:solidFill>
                  <a:srgbClr val="000000"/>
                </a:solidFill>
                <a:latin typeface="Times New Roman" panose="02020603050405020304" pitchFamily="18" charset="0"/>
                <a:ea typeface="黑体" panose="02010609060101010101" pitchFamily="49" charset="-122"/>
                <a:sym typeface="+mn-ea"/>
              </a:rPr>
              <a:t>的趋势，</a:t>
            </a:r>
            <a:r>
              <a:rPr lang="zh-CN" altLang="en-US" sz="2000" dirty="0">
                <a:solidFill>
                  <a:srgbClr val="FF0000"/>
                </a:solidFill>
                <a:latin typeface="Times New Roman" panose="02020603050405020304" pitchFamily="18" charset="0"/>
                <a:ea typeface="黑体" panose="02010609060101010101" pitchFamily="49" charset="-122"/>
                <a:sym typeface="+mn-ea"/>
              </a:rPr>
              <a:t>数据可靠性</a:t>
            </a:r>
            <a:r>
              <a:rPr lang="zh-CN" altLang="en-US" sz="2000" dirty="0">
                <a:solidFill>
                  <a:srgbClr val="000000"/>
                </a:solidFill>
                <a:latin typeface="Times New Roman" panose="02020603050405020304" pitchFamily="18" charset="0"/>
                <a:ea typeface="黑体" panose="02010609060101010101" pitchFamily="49" charset="-122"/>
                <a:sym typeface="+mn-ea"/>
              </a:rPr>
              <a:t>愈发引起重视。</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grpSp>
        <p:nvGrpSpPr>
          <p:cNvPr id="69" name="组合 68"/>
          <p:cNvGrpSpPr/>
          <p:nvPr>
            <p:custDataLst>
              <p:tags r:id="rId2"/>
            </p:custDataLst>
          </p:nvPr>
        </p:nvGrpSpPr>
        <p:grpSpPr>
          <a:xfrm>
            <a:off x="2101283" y="1067072"/>
            <a:ext cx="1258024" cy="1599949"/>
            <a:chOff x="574009" y="1036033"/>
            <a:chExt cx="1258024" cy="1599949"/>
          </a:xfrm>
        </p:grpSpPr>
        <p:sp>
          <p:nvSpPr>
            <p:cNvPr id="43" name="Freeform 67"/>
            <p:cNvSpPr/>
            <p:nvPr>
              <p:custDataLst>
                <p:tags r:id="rId11"/>
              </p:custDataLst>
            </p:nvPr>
          </p:nvSpPr>
          <p:spPr>
            <a:xfrm rot="10800000">
              <a:off x="574009" y="1036033"/>
              <a:ext cx="1258024" cy="1599949"/>
            </a:xfrm>
            <a:custGeom>
              <a:avLst/>
              <a:gdLst>
                <a:gd name="connsiteX0" fmla="*/ 1051560 w 2103120"/>
                <a:gd name="connsiteY0" fmla="*/ 0 h 3138026"/>
                <a:gd name="connsiteX1" fmla="*/ 2103120 w 2103120"/>
                <a:gd name="connsiteY1" fmla="*/ 1051559 h 3138026"/>
                <a:gd name="connsiteX2" fmla="*/ 2103120 w 2103120"/>
                <a:gd name="connsiteY2" fmla="*/ 1922701 h 3138026"/>
                <a:gd name="connsiteX3" fmla="*/ 2103120 w 2103120"/>
                <a:gd name="connsiteY3" fmla="*/ 3138026 h 3138026"/>
                <a:gd name="connsiteX4" fmla="*/ 1495458 w 2103120"/>
                <a:gd name="connsiteY4" fmla="*/ 2530363 h 3138026"/>
                <a:gd name="connsiteX5" fmla="*/ 1051560 w 2103120"/>
                <a:gd name="connsiteY5" fmla="*/ 2086466 h 3138026"/>
                <a:gd name="connsiteX6" fmla="*/ 607663 w 2103120"/>
                <a:gd name="connsiteY6" fmla="*/ 2530363 h 3138026"/>
                <a:gd name="connsiteX7" fmla="*/ 607664 w 2103120"/>
                <a:gd name="connsiteY7" fmla="*/ 2530363 h 3138026"/>
                <a:gd name="connsiteX8" fmla="*/ 1 w 2103120"/>
                <a:gd name="connsiteY8" fmla="*/ 3138026 h 3138026"/>
                <a:gd name="connsiteX9" fmla="*/ 1 w 2103120"/>
                <a:gd name="connsiteY9" fmla="*/ 1922701 h 3138026"/>
                <a:gd name="connsiteX10" fmla="*/ 0 w 2103120"/>
                <a:gd name="connsiteY10" fmla="*/ 1922700 h 3138026"/>
                <a:gd name="connsiteX11" fmla="*/ 0 w 2103120"/>
                <a:gd name="connsiteY11" fmla="*/ 1051560 h 3138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3120" h="3138026">
                  <a:moveTo>
                    <a:pt x="1051560" y="0"/>
                  </a:moveTo>
                  <a:lnTo>
                    <a:pt x="2103120" y="1051559"/>
                  </a:lnTo>
                  <a:lnTo>
                    <a:pt x="2103120" y="1922701"/>
                  </a:lnTo>
                  <a:lnTo>
                    <a:pt x="2103120" y="3138026"/>
                  </a:lnTo>
                  <a:lnTo>
                    <a:pt x="1495458" y="2530363"/>
                  </a:lnTo>
                  <a:lnTo>
                    <a:pt x="1051560" y="2086466"/>
                  </a:lnTo>
                  <a:lnTo>
                    <a:pt x="607663" y="2530363"/>
                  </a:lnTo>
                  <a:lnTo>
                    <a:pt x="607664" y="2530363"/>
                  </a:lnTo>
                  <a:lnTo>
                    <a:pt x="1" y="3138026"/>
                  </a:lnTo>
                  <a:lnTo>
                    <a:pt x="1" y="1922701"/>
                  </a:lnTo>
                  <a:lnTo>
                    <a:pt x="0" y="1922700"/>
                  </a:lnTo>
                  <a:lnTo>
                    <a:pt x="0" y="1051560"/>
                  </a:lnTo>
                  <a:close/>
                </a:path>
              </a:pathLst>
            </a:custGeom>
            <a:solidFill>
              <a:srgbClr val="F3A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2400" dirty="0">
                <a:solidFill>
                  <a:srgbClr val="FFFFFF"/>
                </a:solidFill>
                <a:latin typeface="Times New Roman"/>
                <a:ea typeface="黑体"/>
                <a:cs typeface="+mn-ea"/>
                <a:sym typeface="+mn-lt"/>
              </a:endParaRPr>
            </a:p>
          </p:txBody>
        </p:sp>
        <p:sp>
          <p:nvSpPr>
            <p:cNvPr id="60" name="文本框 59"/>
            <p:cNvSpPr txBox="1"/>
            <p:nvPr>
              <p:custDataLst>
                <p:tags r:id="rId12"/>
              </p:custDataLst>
            </p:nvPr>
          </p:nvSpPr>
          <p:spPr>
            <a:xfrm>
              <a:off x="1020068" y="1736535"/>
              <a:ext cx="354529" cy="476950"/>
            </a:xfrm>
            <a:prstGeom prst="rect">
              <a:avLst/>
            </a:prstGeom>
            <a:noFill/>
          </p:spPr>
          <p:txBody>
            <a:bodyPr wrap="square" rtlCol="0" anchor="t">
              <a:spAutoFit/>
            </a:bodyPr>
            <a:lstStyle/>
            <a:p>
              <a:pPr eaLnBrk="0" fontAlgn="base" hangingPunct="0">
                <a:spcBef>
                  <a:spcPct val="0"/>
                </a:spcBef>
                <a:spcAft>
                  <a:spcPct val="0"/>
                </a:spcAft>
              </a:pPr>
              <a:r>
                <a:rPr lang="en-US" altLang="zh-CN" sz="2400" b="1" dirty="0">
                  <a:solidFill>
                    <a:srgbClr val="FFFFFF"/>
                  </a:solidFill>
                  <a:latin typeface="Times New Roman"/>
                  <a:ea typeface="黑体" panose="02010609060101010101" pitchFamily="49" charset="-122"/>
                  <a:sym typeface="+mn-ea"/>
                </a:rPr>
                <a:t>1</a:t>
              </a:r>
              <a:endParaRPr lang="zh-CN" altLang="en-US" sz="2400" b="1" dirty="0">
                <a:solidFill>
                  <a:srgbClr val="FFFFFF"/>
                </a:solidFill>
                <a:latin typeface="Times New Roman"/>
                <a:ea typeface="黑体" panose="02010609060101010101" pitchFamily="49" charset="-122"/>
                <a:sym typeface="+mn-ea"/>
              </a:endParaRPr>
            </a:p>
          </p:txBody>
        </p:sp>
      </p:grpSp>
      <p:sp>
        <p:nvSpPr>
          <p:cNvPr id="61" name="文本框 60"/>
          <p:cNvSpPr txBox="1"/>
          <p:nvPr>
            <p:custDataLst>
              <p:tags r:id="rId3"/>
            </p:custDataLst>
          </p:nvPr>
        </p:nvSpPr>
        <p:spPr>
          <a:xfrm>
            <a:off x="3619598" y="2872302"/>
            <a:ext cx="6553028" cy="1172052"/>
          </a:xfrm>
          <a:prstGeom prst="rect">
            <a:avLst/>
          </a:prstGeom>
          <a:noFill/>
        </p:spPr>
        <p:txBody>
          <a:bodyPr wrap="square" rtlCol="0" anchor="t">
            <a:spAutoFit/>
          </a:bodyPr>
          <a:lstStyle/>
          <a:p>
            <a:pPr algn="just" eaLnBrk="0" fontAlgn="base" hangingPunct="0">
              <a:lnSpc>
                <a:spcPts val="2900"/>
              </a:lnSpc>
              <a:spcBef>
                <a:spcPct val="0"/>
              </a:spcBef>
              <a:spcAft>
                <a:spcPct val="0"/>
              </a:spcAft>
            </a:pPr>
            <a:r>
              <a:rPr lang="zh-CN" altLang="en-US" sz="2000" dirty="0">
                <a:solidFill>
                  <a:srgbClr val="FF0000"/>
                </a:solidFill>
                <a:latin typeface="Times New Roman" panose="02020603050405020304" pitchFamily="18" charset="0"/>
                <a:ea typeface="黑体" panose="02010609060101010101" pitchFamily="49" charset="-122"/>
                <a:sym typeface="+mn-ea"/>
              </a:rPr>
              <a:t>        </a:t>
            </a:r>
            <a:r>
              <a:rPr lang="zh-CN" altLang="en-US" sz="2000" dirty="0">
                <a:solidFill>
                  <a:srgbClr val="000000"/>
                </a:solidFill>
                <a:latin typeface="Times New Roman" panose="02020603050405020304" pitchFamily="18" charset="0"/>
                <a:ea typeface="黑体" panose="02010609060101010101" pitchFamily="49" charset="-122"/>
                <a:sym typeface="+mn-ea"/>
              </a:rPr>
              <a:t>集群所承载的数据量大大上升，但存储介质本身的可靠性进步却很小，这要求必须以</a:t>
            </a:r>
            <a:r>
              <a:rPr lang="zh-CN" altLang="en-US" sz="2000" dirty="0">
                <a:solidFill>
                  <a:srgbClr val="FF0000"/>
                </a:solidFill>
                <a:latin typeface="Times New Roman" panose="02020603050405020304" pitchFamily="18" charset="0"/>
                <a:ea typeface="黑体" panose="02010609060101010101" pitchFamily="49" charset="-122"/>
                <a:sym typeface="+mn-ea"/>
              </a:rPr>
              <a:t>更加经济有效的方式来保障数据安全</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grpSp>
        <p:nvGrpSpPr>
          <p:cNvPr id="70" name="组合 69"/>
          <p:cNvGrpSpPr/>
          <p:nvPr>
            <p:custDataLst>
              <p:tags r:id="rId4"/>
            </p:custDataLst>
          </p:nvPr>
        </p:nvGrpSpPr>
        <p:grpSpPr>
          <a:xfrm>
            <a:off x="2101282" y="2779901"/>
            <a:ext cx="1258024" cy="1599948"/>
            <a:chOff x="577282" y="2779901"/>
            <a:chExt cx="1258024" cy="1599948"/>
          </a:xfrm>
        </p:grpSpPr>
        <p:sp>
          <p:nvSpPr>
            <p:cNvPr id="42" name="Freeform 71"/>
            <p:cNvSpPr/>
            <p:nvPr>
              <p:custDataLst>
                <p:tags r:id="rId9"/>
              </p:custDataLst>
            </p:nvPr>
          </p:nvSpPr>
          <p:spPr>
            <a:xfrm rot="10800000">
              <a:off x="577282" y="2779901"/>
              <a:ext cx="1258024" cy="1599948"/>
            </a:xfrm>
            <a:custGeom>
              <a:avLst/>
              <a:gdLst>
                <a:gd name="connsiteX0" fmla="*/ 1051560 w 2103120"/>
                <a:gd name="connsiteY0" fmla="*/ 0 h 3138026"/>
                <a:gd name="connsiteX1" fmla="*/ 2103120 w 2103120"/>
                <a:gd name="connsiteY1" fmla="*/ 1051559 h 3138026"/>
                <a:gd name="connsiteX2" fmla="*/ 2103120 w 2103120"/>
                <a:gd name="connsiteY2" fmla="*/ 1922701 h 3138026"/>
                <a:gd name="connsiteX3" fmla="*/ 2103120 w 2103120"/>
                <a:gd name="connsiteY3" fmla="*/ 3138026 h 3138026"/>
                <a:gd name="connsiteX4" fmla="*/ 1495458 w 2103120"/>
                <a:gd name="connsiteY4" fmla="*/ 2530363 h 3138026"/>
                <a:gd name="connsiteX5" fmla="*/ 1051560 w 2103120"/>
                <a:gd name="connsiteY5" fmla="*/ 2086466 h 3138026"/>
                <a:gd name="connsiteX6" fmla="*/ 607663 w 2103120"/>
                <a:gd name="connsiteY6" fmla="*/ 2530363 h 3138026"/>
                <a:gd name="connsiteX7" fmla="*/ 607664 w 2103120"/>
                <a:gd name="connsiteY7" fmla="*/ 2530363 h 3138026"/>
                <a:gd name="connsiteX8" fmla="*/ 1 w 2103120"/>
                <a:gd name="connsiteY8" fmla="*/ 3138026 h 3138026"/>
                <a:gd name="connsiteX9" fmla="*/ 1 w 2103120"/>
                <a:gd name="connsiteY9" fmla="*/ 1922701 h 3138026"/>
                <a:gd name="connsiteX10" fmla="*/ 0 w 2103120"/>
                <a:gd name="connsiteY10" fmla="*/ 1922700 h 3138026"/>
                <a:gd name="connsiteX11" fmla="*/ 0 w 2103120"/>
                <a:gd name="connsiteY11" fmla="*/ 1051560 h 3138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3120" h="3138026">
                  <a:moveTo>
                    <a:pt x="1051560" y="0"/>
                  </a:moveTo>
                  <a:lnTo>
                    <a:pt x="2103120" y="1051559"/>
                  </a:lnTo>
                  <a:lnTo>
                    <a:pt x="2103120" y="1922701"/>
                  </a:lnTo>
                  <a:lnTo>
                    <a:pt x="2103120" y="3138026"/>
                  </a:lnTo>
                  <a:lnTo>
                    <a:pt x="1495458" y="2530363"/>
                  </a:lnTo>
                  <a:lnTo>
                    <a:pt x="1051560" y="2086466"/>
                  </a:lnTo>
                  <a:lnTo>
                    <a:pt x="607663" y="2530363"/>
                  </a:lnTo>
                  <a:lnTo>
                    <a:pt x="607664" y="2530363"/>
                  </a:lnTo>
                  <a:lnTo>
                    <a:pt x="1" y="3138026"/>
                  </a:lnTo>
                  <a:lnTo>
                    <a:pt x="1" y="1922701"/>
                  </a:lnTo>
                  <a:lnTo>
                    <a:pt x="0" y="1922700"/>
                  </a:lnTo>
                  <a:lnTo>
                    <a:pt x="0" y="105156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Times New Roman"/>
                <a:ea typeface="黑体"/>
                <a:cs typeface="+mn-ea"/>
                <a:sym typeface="+mn-lt"/>
              </a:endParaRPr>
            </a:p>
          </p:txBody>
        </p:sp>
        <p:sp>
          <p:nvSpPr>
            <p:cNvPr id="62" name="文本框 61"/>
            <p:cNvSpPr txBox="1"/>
            <p:nvPr>
              <p:custDataLst>
                <p:tags r:id="rId10"/>
              </p:custDataLst>
            </p:nvPr>
          </p:nvSpPr>
          <p:spPr>
            <a:xfrm>
              <a:off x="1023342" y="3470071"/>
              <a:ext cx="354529" cy="476950"/>
            </a:xfrm>
            <a:prstGeom prst="rect">
              <a:avLst/>
            </a:prstGeom>
            <a:noFill/>
          </p:spPr>
          <p:txBody>
            <a:bodyPr wrap="square" rtlCol="0" anchor="t">
              <a:spAutoFit/>
            </a:bodyPr>
            <a:lstStyle/>
            <a:p>
              <a:pPr eaLnBrk="0" fontAlgn="base" hangingPunct="0">
                <a:spcBef>
                  <a:spcPct val="0"/>
                </a:spcBef>
                <a:spcAft>
                  <a:spcPct val="0"/>
                </a:spcAft>
              </a:pPr>
              <a:r>
                <a:rPr lang="en-US" altLang="zh-CN" sz="2400" b="1" dirty="0">
                  <a:solidFill>
                    <a:srgbClr val="FFFFFF"/>
                  </a:solidFill>
                  <a:latin typeface="Times New Roman"/>
                  <a:ea typeface="黑体" panose="02010609060101010101" pitchFamily="49" charset="-122"/>
                  <a:sym typeface="+mn-ea"/>
                </a:rPr>
                <a:t>2</a:t>
              </a:r>
              <a:endParaRPr lang="zh-CN" altLang="en-US" sz="2400" b="1" dirty="0">
                <a:solidFill>
                  <a:srgbClr val="FFFFFF"/>
                </a:solidFill>
                <a:latin typeface="Times New Roman"/>
                <a:ea typeface="黑体" panose="02010609060101010101" pitchFamily="49" charset="-122"/>
                <a:sym typeface="+mn-ea"/>
              </a:endParaRPr>
            </a:p>
          </p:txBody>
        </p:sp>
      </p:grpSp>
      <p:grpSp>
        <p:nvGrpSpPr>
          <p:cNvPr id="67" name="组合 66"/>
          <p:cNvGrpSpPr/>
          <p:nvPr>
            <p:custDataLst>
              <p:tags r:id="rId5"/>
            </p:custDataLst>
          </p:nvPr>
        </p:nvGrpSpPr>
        <p:grpSpPr>
          <a:xfrm>
            <a:off x="2095166" y="4492730"/>
            <a:ext cx="1258024" cy="1599948"/>
            <a:chOff x="571166" y="3476061"/>
            <a:chExt cx="1258024" cy="1599948"/>
          </a:xfrm>
        </p:grpSpPr>
        <p:sp>
          <p:nvSpPr>
            <p:cNvPr id="41" name="Freeform 72"/>
            <p:cNvSpPr/>
            <p:nvPr>
              <p:custDataLst>
                <p:tags r:id="rId7"/>
              </p:custDataLst>
            </p:nvPr>
          </p:nvSpPr>
          <p:spPr>
            <a:xfrm rot="10800000">
              <a:off x="571166" y="3476061"/>
              <a:ext cx="1258024" cy="1599948"/>
            </a:xfrm>
            <a:custGeom>
              <a:avLst/>
              <a:gdLst>
                <a:gd name="connsiteX0" fmla="*/ 1051560 w 2103120"/>
                <a:gd name="connsiteY0" fmla="*/ 0 h 3138026"/>
                <a:gd name="connsiteX1" fmla="*/ 2103120 w 2103120"/>
                <a:gd name="connsiteY1" fmla="*/ 1051559 h 3138026"/>
                <a:gd name="connsiteX2" fmla="*/ 2103120 w 2103120"/>
                <a:gd name="connsiteY2" fmla="*/ 1922701 h 3138026"/>
                <a:gd name="connsiteX3" fmla="*/ 2103120 w 2103120"/>
                <a:gd name="connsiteY3" fmla="*/ 3138026 h 3138026"/>
                <a:gd name="connsiteX4" fmla="*/ 1495458 w 2103120"/>
                <a:gd name="connsiteY4" fmla="*/ 2530363 h 3138026"/>
                <a:gd name="connsiteX5" fmla="*/ 1051560 w 2103120"/>
                <a:gd name="connsiteY5" fmla="*/ 2086466 h 3138026"/>
                <a:gd name="connsiteX6" fmla="*/ 607663 w 2103120"/>
                <a:gd name="connsiteY6" fmla="*/ 2530363 h 3138026"/>
                <a:gd name="connsiteX7" fmla="*/ 607664 w 2103120"/>
                <a:gd name="connsiteY7" fmla="*/ 2530363 h 3138026"/>
                <a:gd name="connsiteX8" fmla="*/ 1 w 2103120"/>
                <a:gd name="connsiteY8" fmla="*/ 3138026 h 3138026"/>
                <a:gd name="connsiteX9" fmla="*/ 1 w 2103120"/>
                <a:gd name="connsiteY9" fmla="*/ 1922701 h 3138026"/>
                <a:gd name="connsiteX10" fmla="*/ 0 w 2103120"/>
                <a:gd name="connsiteY10" fmla="*/ 1922700 h 3138026"/>
                <a:gd name="connsiteX11" fmla="*/ 0 w 2103120"/>
                <a:gd name="connsiteY11" fmla="*/ 1051560 h 3138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3120" h="3138026">
                  <a:moveTo>
                    <a:pt x="1051560" y="0"/>
                  </a:moveTo>
                  <a:lnTo>
                    <a:pt x="2103120" y="1051559"/>
                  </a:lnTo>
                  <a:lnTo>
                    <a:pt x="2103120" y="1922701"/>
                  </a:lnTo>
                  <a:lnTo>
                    <a:pt x="2103120" y="3138026"/>
                  </a:lnTo>
                  <a:lnTo>
                    <a:pt x="1495458" y="2530363"/>
                  </a:lnTo>
                  <a:lnTo>
                    <a:pt x="1051560" y="2086466"/>
                  </a:lnTo>
                  <a:lnTo>
                    <a:pt x="607663" y="2530363"/>
                  </a:lnTo>
                  <a:lnTo>
                    <a:pt x="607664" y="2530363"/>
                  </a:lnTo>
                  <a:lnTo>
                    <a:pt x="1" y="3138026"/>
                  </a:lnTo>
                  <a:lnTo>
                    <a:pt x="1" y="1922701"/>
                  </a:lnTo>
                  <a:lnTo>
                    <a:pt x="0" y="1922700"/>
                  </a:lnTo>
                  <a:lnTo>
                    <a:pt x="0" y="105156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Times New Roman"/>
                <a:ea typeface="黑体"/>
                <a:cs typeface="+mn-ea"/>
                <a:sym typeface="+mn-lt"/>
              </a:endParaRPr>
            </a:p>
          </p:txBody>
        </p:sp>
        <p:sp>
          <p:nvSpPr>
            <p:cNvPr id="63" name="文本框 62"/>
            <p:cNvSpPr txBox="1"/>
            <p:nvPr>
              <p:custDataLst>
                <p:tags r:id="rId8"/>
              </p:custDataLst>
            </p:nvPr>
          </p:nvSpPr>
          <p:spPr>
            <a:xfrm>
              <a:off x="1035151" y="4167271"/>
              <a:ext cx="354529" cy="476950"/>
            </a:xfrm>
            <a:prstGeom prst="rect">
              <a:avLst/>
            </a:prstGeom>
            <a:noFill/>
          </p:spPr>
          <p:txBody>
            <a:bodyPr wrap="square" rtlCol="0" anchor="t">
              <a:spAutoFit/>
            </a:bodyPr>
            <a:lstStyle/>
            <a:p>
              <a:pPr eaLnBrk="0" fontAlgn="base" hangingPunct="0">
                <a:spcBef>
                  <a:spcPct val="0"/>
                </a:spcBef>
                <a:spcAft>
                  <a:spcPct val="0"/>
                </a:spcAft>
              </a:pPr>
              <a:r>
                <a:rPr lang="en-US" altLang="zh-CN" sz="2400" b="1" dirty="0">
                  <a:solidFill>
                    <a:srgbClr val="FFFFFF"/>
                  </a:solidFill>
                  <a:latin typeface="Times New Roman"/>
                  <a:ea typeface="黑体" panose="02010609060101010101" pitchFamily="49" charset="-122"/>
                  <a:sym typeface="+mn-ea"/>
                </a:rPr>
                <a:t>3</a:t>
              </a:r>
              <a:endParaRPr lang="zh-CN" altLang="en-US" sz="2400" b="1" dirty="0">
                <a:solidFill>
                  <a:srgbClr val="FFFFFF"/>
                </a:solidFill>
                <a:latin typeface="Times New Roman"/>
                <a:ea typeface="黑体" panose="02010609060101010101" pitchFamily="49" charset="-122"/>
                <a:sym typeface="+mn-ea"/>
              </a:endParaRPr>
            </a:p>
          </p:txBody>
        </p:sp>
      </p:grpSp>
      <p:sp>
        <p:nvSpPr>
          <p:cNvPr id="65" name="文本框 64"/>
          <p:cNvSpPr txBox="1"/>
          <p:nvPr>
            <p:custDataLst>
              <p:tags r:id="rId6"/>
            </p:custDataLst>
          </p:nvPr>
        </p:nvSpPr>
        <p:spPr>
          <a:xfrm>
            <a:off x="3566649" y="4545425"/>
            <a:ext cx="6553028" cy="1172052"/>
          </a:xfrm>
          <a:prstGeom prst="rect">
            <a:avLst/>
          </a:prstGeom>
          <a:noFill/>
        </p:spPr>
        <p:txBody>
          <a:bodyPr wrap="square" rtlCol="0" anchor="t">
            <a:spAutoFit/>
          </a:bodyPr>
          <a:lstStyle/>
          <a:p>
            <a:pPr algn="just" eaLnBrk="0" fontAlgn="base" hangingPunct="0">
              <a:lnSpc>
                <a:spcPts val="2900"/>
              </a:lnSpc>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副本技术通过</a:t>
            </a:r>
            <a:r>
              <a:rPr lang="zh-CN" altLang="en-US" sz="2000" dirty="0">
                <a:solidFill>
                  <a:srgbClr val="FF0000"/>
                </a:solidFill>
                <a:latin typeface="Times New Roman" panose="02020603050405020304" pitchFamily="18" charset="0"/>
                <a:ea typeface="黑体" panose="02010609060101010101" pitchFamily="49" charset="-122"/>
                <a:sym typeface="+mn-ea"/>
              </a:rPr>
              <a:t>增加冗余数据的方式</a:t>
            </a:r>
            <a:r>
              <a:rPr lang="zh-CN" altLang="en-US" sz="2000" dirty="0">
                <a:solidFill>
                  <a:srgbClr val="000000"/>
                </a:solidFill>
                <a:latin typeface="Times New Roman" panose="02020603050405020304" pitchFamily="18" charset="0"/>
                <a:ea typeface="黑体" panose="02010609060101010101" pitchFamily="49" charset="-122"/>
                <a:sym typeface="+mn-ea"/>
              </a:rPr>
              <a:t>来保证数据在发生部分丢失时，原始数据不发生丢失。但相较于副本，纠删码能</a:t>
            </a:r>
            <a:r>
              <a:rPr lang="zh-CN" altLang="en-US" sz="2000" dirty="0">
                <a:solidFill>
                  <a:srgbClr val="FF0000"/>
                </a:solidFill>
                <a:latin typeface="Times New Roman" panose="02020603050405020304" pitchFamily="18" charset="0"/>
                <a:ea typeface="黑体" panose="02010609060101010101" pitchFamily="49" charset="-122"/>
                <a:sym typeface="+mn-ea"/>
              </a:rPr>
              <a:t>以低得多的存储空间代价获得相似的可靠性</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纠删码技术的引入 </a:t>
            </a:r>
          </a:p>
        </p:txBody>
      </p:sp>
      <p:sp>
        <p:nvSpPr>
          <p:cNvPr id="4" name="文本框 3"/>
          <p:cNvSpPr txBox="1"/>
          <p:nvPr/>
        </p:nvSpPr>
        <p:spPr>
          <a:xfrm>
            <a:off x="4640410" y="919362"/>
            <a:ext cx="7387501" cy="867482"/>
          </a:xfrm>
          <a:prstGeom prst="rect">
            <a:avLst/>
          </a:prstGeom>
          <a:noFill/>
        </p:spPr>
        <p:txBody>
          <a:bodyPr wrap="square" rtlCol="0" anchor="t">
            <a:spAutoFit/>
          </a:bodyPr>
          <a:lstStyle/>
          <a:p>
            <a:pPr algn="just" eaLnBrk="0" fontAlgn="base" hangingPunct="0">
              <a:lnSpc>
                <a:spcPts val="3200"/>
              </a:lnSpc>
              <a:spcBef>
                <a:spcPct val="0"/>
              </a:spcBef>
              <a:spcAft>
                <a:spcPct val="0"/>
              </a:spcAft>
            </a:pPr>
            <a:r>
              <a:rPr lang="zh-CN" altLang="en-US" sz="2000" dirty="0">
                <a:solidFill>
                  <a:srgbClr val="FF0000"/>
                </a:solidFill>
                <a:latin typeface="Times New Roman" panose="02020603050405020304" pitchFamily="18" charset="0"/>
                <a:ea typeface="黑体" panose="02010609060101010101" pitchFamily="49" charset="-122"/>
                <a:sym typeface="+mn-ea"/>
              </a:rPr>
              <a:t>        副本策略</a:t>
            </a:r>
            <a:r>
              <a:rPr lang="zh-CN" altLang="en-US" sz="2000" dirty="0">
                <a:solidFill>
                  <a:srgbClr val="000000"/>
                </a:solidFill>
                <a:latin typeface="Times New Roman" panose="02020603050405020304" pitchFamily="18" charset="0"/>
                <a:ea typeface="黑体" panose="02010609060101010101" pitchFamily="49" charset="-122"/>
                <a:sym typeface="+mn-ea"/>
              </a:rPr>
              <a:t>：若方程</a:t>
            </a:r>
            <a:r>
              <a:rPr lang="en-US" altLang="zh-CN" sz="2000" dirty="0">
                <a:solidFill>
                  <a:srgbClr val="000000"/>
                </a:solidFill>
                <a:latin typeface="Times New Roman" panose="02020603050405020304" pitchFamily="18" charset="0"/>
                <a:ea typeface="黑体" panose="02010609060101010101" pitchFamily="49" charset="-122"/>
                <a:sym typeface="+mn-ea"/>
              </a:rPr>
              <a:t>(1)(2)(3)</a:t>
            </a:r>
            <a:r>
              <a:rPr lang="zh-CN" altLang="en-US" sz="2000" dirty="0">
                <a:solidFill>
                  <a:srgbClr val="000000"/>
                </a:solidFill>
                <a:latin typeface="Times New Roman" panose="02020603050405020304" pitchFamily="18" charset="0"/>
                <a:ea typeface="黑体" panose="02010609060101010101" pitchFamily="49" charset="-122"/>
                <a:sym typeface="+mn-ea"/>
              </a:rPr>
              <a:t>丢失任何一个方程数据都能恢复，则需要把</a:t>
            </a:r>
            <a:r>
              <a:rPr lang="en-US" altLang="zh-CN" sz="2000" dirty="0">
                <a:solidFill>
                  <a:srgbClr val="000000"/>
                </a:solidFill>
                <a:latin typeface="Times New Roman" panose="02020603050405020304" pitchFamily="18" charset="0"/>
                <a:ea typeface="黑体" panose="02010609060101010101" pitchFamily="49" charset="-122"/>
                <a:sym typeface="+mn-ea"/>
              </a:rPr>
              <a:t>(1)(2)(3)</a:t>
            </a:r>
            <a:r>
              <a:rPr lang="zh-CN" altLang="en-US" sz="2000" dirty="0">
                <a:solidFill>
                  <a:srgbClr val="3333CC"/>
                </a:solidFill>
                <a:latin typeface="Times New Roman" panose="02020603050405020304" pitchFamily="18" charset="0"/>
                <a:ea typeface="黑体" panose="02010609060101010101" pitchFamily="49" charset="-122"/>
                <a:sym typeface="+mn-ea"/>
              </a:rPr>
              <a:t>三个方程都存储两份</a:t>
            </a:r>
            <a:r>
              <a:rPr lang="zh-CN" altLang="en-US" sz="2000" dirty="0">
                <a:solidFill>
                  <a:srgbClr val="000000"/>
                </a:solidFill>
                <a:latin typeface="Times New Roman" panose="02020603050405020304" pitchFamily="18" charset="0"/>
                <a:ea typeface="黑体" panose="02010609060101010101" pitchFamily="49" charset="-122"/>
                <a:sym typeface="+mn-ea"/>
              </a:rPr>
              <a:t>，也就是</a:t>
            </a:r>
            <a:r>
              <a:rPr lang="zh-CN" altLang="en-US" sz="2000" dirty="0">
                <a:solidFill>
                  <a:srgbClr val="3333CC"/>
                </a:solidFill>
                <a:latin typeface="Times New Roman" panose="02020603050405020304" pitchFamily="18" charset="0"/>
                <a:ea typeface="黑体" panose="02010609060101010101" pitchFamily="49" charset="-122"/>
                <a:sym typeface="+mn-ea"/>
              </a:rPr>
              <a:t>存储</a:t>
            </a:r>
            <a:r>
              <a:rPr lang="en-US" altLang="zh-CN" sz="2000" dirty="0">
                <a:solidFill>
                  <a:srgbClr val="3333CC"/>
                </a:solidFill>
                <a:latin typeface="Times New Roman" panose="02020603050405020304" pitchFamily="18" charset="0"/>
                <a:ea typeface="黑体" panose="02010609060101010101" pitchFamily="49" charset="-122"/>
                <a:sym typeface="+mn-ea"/>
              </a:rPr>
              <a:t>6</a:t>
            </a:r>
            <a:r>
              <a:rPr lang="zh-CN" altLang="en-US" sz="2000" dirty="0">
                <a:solidFill>
                  <a:srgbClr val="3333CC"/>
                </a:solidFill>
                <a:latin typeface="Times New Roman" panose="02020603050405020304" pitchFamily="18" charset="0"/>
                <a:ea typeface="黑体" panose="02010609060101010101" pitchFamily="49" charset="-122"/>
                <a:sym typeface="+mn-ea"/>
              </a:rPr>
              <a:t>个方程</a:t>
            </a:r>
            <a:r>
              <a:rPr lang="zh-CN" altLang="en-US" sz="2000" dirty="0">
                <a:solidFill>
                  <a:srgbClr val="000000"/>
                </a:solidFill>
                <a:latin typeface="Times New Roman" panose="02020603050405020304" pitchFamily="18" charset="0"/>
                <a:ea typeface="黑体" panose="02010609060101010101" pitchFamily="49" charset="-122"/>
                <a:sym typeface="+mn-ea"/>
              </a:rPr>
              <a:t>。</a:t>
            </a:r>
          </a:p>
        </p:txBody>
      </p:sp>
      <p:sp>
        <p:nvSpPr>
          <p:cNvPr id="5" name="文本框 4"/>
          <p:cNvSpPr txBox="1"/>
          <p:nvPr/>
        </p:nvSpPr>
        <p:spPr>
          <a:xfrm>
            <a:off x="164088" y="866074"/>
            <a:ext cx="4174076" cy="800155"/>
          </a:xfrm>
          <a:prstGeom prst="rect">
            <a:avLst/>
          </a:prstGeom>
          <a:noFill/>
        </p:spPr>
        <p:txBody>
          <a:bodyPr wrap="square" rtlCol="0" anchor="t">
            <a:spAutoFit/>
          </a:bodyPr>
          <a:lstStyle/>
          <a:p>
            <a:pPr algn="just" eaLnBrk="0" fontAlgn="base" hangingPunct="0">
              <a:lnSpc>
                <a:spcPts val="2900"/>
              </a:lnSpc>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要想知道</a:t>
            </a:r>
            <a:r>
              <a:rPr lang="en-US" altLang="zh-CN" sz="2000" i="1" dirty="0">
                <a:solidFill>
                  <a:srgbClr val="000000"/>
                </a:solidFill>
                <a:latin typeface="Times New Roman"/>
                <a:ea typeface="黑体" panose="02010609060101010101" pitchFamily="49" charset="-122"/>
                <a:sym typeface="+mn-ea"/>
              </a:rPr>
              <a:t>x</a:t>
            </a:r>
            <a:r>
              <a:rPr lang="en-US" altLang="zh-CN" sz="2000" baseline="-25000" dirty="0">
                <a:solidFill>
                  <a:srgbClr val="000000"/>
                </a:solidFill>
                <a:latin typeface="Times New Roman"/>
                <a:ea typeface="黑体" panose="02010609060101010101" pitchFamily="49" charset="-122"/>
                <a:sym typeface="+mn-ea"/>
              </a:rPr>
              <a:t>1</a:t>
            </a:r>
            <a:r>
              <a:rPr lang="zh-CN" altLang="en-US" sz="2000" baseline="-25000" dirty="0">
                <a:solidFill>
                  <a:srgbClr val="000000"/>
                </a:solidFill>
                <a:latin typeface="Times New Roman"/>
                <a:ea typeface="黑体" panose="02010609060101010101" pitchFamily="49" charset="-122"/>
                <a:sym typeface="+mn-ea"/>
              </a:rPr>
              <a:t>、</a:t>
            </a:r>
            <a:r>
              <a:rPr lang="en-US" altLang="zh-CN" sz="2000" i="1" dirty="0">
                <a:solidFill>
                  <a:srgbClr val="000000"/>
                </a:solidFill>
                <a:latin typeface="Times New Roman"/>
                <a:ea typeface="黑体" panose="02010609060101010101" pitchFamily="49" charset="-122"/>
                <a:sym typeface="+mn-ea"/>
              </a:rPr>
              <a:t>x</a:t>
            </a:r>
            <a:r>
              <a:rPr lang="en-US" altLang="zh-CN" sz="2000" baseline="-25000" dirty="0">
                <a:solidFill>
                  <a:srgbClr val="000000"/>
                </a:solidFill>
                <a:latin typeface="Times New Roman"/>
                <a:ea typeface="黑体" panose="02010609060101010101" pitchFamily="49" charset="-122"/>
                <a:sym typeface="+mn-ea"/>
              </a:rPr>
              <a:t>2</a:t>
            </a:r>
            <a:r>
              <a:rPr lang="zh-CN" altLang="en-US" sz="2000" baseline="-25000" dirty="0">
                <a:solidFill>
                  <a:srgbClr val="000000"/>
                </a:solidFill>
                <a:latin typeface="Times New Roman"/>
                <a:ea typeface="黑体" panose="02010609060101010101" pitchFamily="49" charset="-122"/>
                <a:sym typeface="+mn-ea"/>
              </a:rPr>
              <a:t>、</a:t>
            </a:r>
            <a:r>
              <a:rPr lang="en-US" altLang="zh-CN" sz="2000" i="1" dirty="0">
                <a:solidFill>
                  <a:srgbClr val="000000"/>
                </a:solidFill>
                <a:latin typeface="Times New Roman"/>
                <a:ea typeface="黑体" panose="02010609060101010101" pitchFamily="49" charset="-122"/>
                <a:sym typeface="+mn-ea"/>
              </a:rPr>
              <a:t>x</a:t>
            </a:r>
            <a:r>
              <a:rPr lang="en-US" altLang="zh-CN" sz="2000" baseline="-25000" dirty="0">
                <a:solidFill>
                  <a:srgbClr val="000000"/>
                </a:solidFill>
                <a:latin typeface="Times New Roman"/>
                <a:ea typeface="黑体" panose="02010609060101010101" pitchFamily="49" charset="-122"/>
                <a:sym typeface="+mn-ea"/>
              </a:rPr>
              <a:t>3</a:t>
            </a:r>
            <a:r>
              <a:rPr lang="zh-CN" altLang="en-US" sz="2000" dirty="0">
                <a:solidFill>
                  <a:srgbClr val="000000"/>
                </a:solidFill>
                <a:latin typeface="Times New Roman" panose="02020603050405020304" pitchFamily="18" charset="0"/>
                <a:ea typeface="黑体" panose="02010609060101010101" pitchFamily="49" charset="-122"/>
                <a:sym typeface="+mn-ea"/>
              </a:rPr>
              <a:t>的值，只需要任意</a:t>
            </a:r>
            <a:r>
              <a:rPr lang="en-US" altLang="zh-CN" sz="2000" dirty="0">
                <a:solidFill>
                  <a:srgbClr val="000000"/>
                </a:solidFill>
                <a:latin typeface="Times New Roman" panose="02020603050405020304" pitchFamily="18" charset="0"/>
                <a:ea typeface="黑体" panose="02010609060101010101" pitchFamily="49" charset="-122"/>
                <a:sym typeface="+mn-ea"/>
              </a:rPr>
              <a:t>3</a:t>
            </a:r>
            <a:r>
              <a:rPr lang="zh-CN" altLang="en-US" sz="2000" dirty="0">
                <a:solidFill>
                  <a:srgbClr val="000000"/>
                </a:solidFill>
                <a:latin typeface="Times New Roman" panose="02020603050405020304" pitchFamily="18" charset="0"/>
                <a:ea typeface="黑体" panose="02010609060101010101" pitchFamily="49" charset="-122"/>
                <a:sym typeface="+mn-ea"/>
              </a:rPr>
              <a:t>个方程式即可解出。</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
        <p:nvSpPr>
          <p:cNvPr id="6" name="文本框 5"/>
          <p:cNvSpPr txBox="1"/>
          <p:nvPr/>
        </p:nvSpPr>
        <p:spPr>
          <a:xfrm>
            <a:off x="466335" y="1558287"/>
            <a:ext cx="3569582" cy="2290820"/>
          </a:xfrm>
          <a:prstGeom prst="rect">
            <a:avLst/>
          </a:prstGeom>
          <a:noFill/>
        </p:spPr>
        <p:txBody>
          <a:bodyPr wrap="square" rtlCol="0" anchor="t">
            <a:spAutoFit/>
          </a:bodyPr>
          <a:lstStyle/>
          <a:p>
            <a:pPr algn="just" eaLnBrk="0" fontAlgn="base" hangingPunct="0">
              <a:lnSpc>
                <a:spcPts val="2900"/>
              </a:lnSpc>
              <a:spcBef>
                <a:spcPct val="0"/>
              </a:spcBef>
              <a:spcAft>
                <a:spcPct val="0"/>
              </a:spcAft>
            </a:pPr>
            <a:r>
              <a:rPr lang="en-US" altLang="zh-CN" sz="2000" i="1" dirty="0">
                <a:solidFill>
                  <a:srgbClr val="000000"/>
                </a:solidFill>
                <a:latin typeface="Times New Roman" panose="02020603050405020304" pitchFamily="18" charset="0"/>
                <a:ea typeface="黑体" panose="02010609060101010101" pitchFamily="49" charset="-122"/>
                <a:sym typeface="+mn-ea"/>
              </a:rPr>
              <a:t>x</a:t>
            </a:r>
            <a:r>
              <a:rPr lang="en-US" altLang="zh-CN" sz="2000" baseline="-25000" dirty="0">
                <a:solidFill>
                  <a:srgbClr val="000000"/>
                </a:solidFill>
                <a:latin typeface="Times New Roman" panose="02020603050405020304" pitchFamily="18" charset="0"/>
                <a:ea typeface="黑体" panose="02010609060101010101" pitchFamily="49" charset="-122"/>
                <a:sym typeface="+mn-ea"/>
              </a:rPr>
              <a:t>1</a:t>
            </a:r>
            <a:r>
              <a:rPr lang="en-US" altLang="zh-CN" sz="2000" dirty="0">
                <a:solidFill>
                  <a:srgbClr val="000000"/>
                </a:solidFill>
                <a:latin typeface="Times New Roman" panose="02020603050405020304" pitchFamily="18" charset="0"/>
                <a:ea typeface="黑体" panose="02010609060101010101" pitchFamily="49" charset="-122"/>
                <a:sym typeface="+mn-ea"/>
              </a:rPr>
              <a:t> = 1                                   (1)</a:t>
            </a:r>
          </a:p>
          <a:p>
            <a:pPr algn="just" eaLnBrk="0" fontAlgn="base" hangingPunct="0">
              <a:lnSpc>
                <a:spcPts val="2900"/>
              </a:lnSpc>
              <a:spcBef>
                <a:spcPct val="0"/>
              </a:spcBef>
              <a:spcAft>
                <a:spcPct val="0"/>
              </a:spcAft>
            </a:pPr>
            <a:r>
              <a:rPr lang="en-US" altLang="zh-CN" sz="2000" i="1" dirty="0">
                <a:solidFill>
                  <a:srgbClr val="000000"/>
                </a:solidFill>
                <a:latin typeface="Times New Roman" panose="02020603050405020304" pitchFamily="18" charset="0"/>
                <a:ea typeface="黑体" panose="02010609060101010101" pitchFamily="49" charset="-122"/>
                <a:sym typeface="+mn-ea"/>
              </a:rPr>
              <a:t>x</a:t>
            </a:r>
            <a:r>
              <a:rPr lang="en-US" altLang="zh-CN" sz="2000" baseline="-25000" dirty="0">
                <a:solidFill>
                  <a:srgbClr val="000000"/>
                </a:solidFill>
                <a:latin typeface="Times New Roman" panose="02020603050405020304" pitchFamily="18" charset="0"/>
                <a:ea typeface="黑体" panose="02010609060101010101" pitchFamily="49" charset="-122"/>
                <a:sym typeface="+mn-ea"/>
              </a:rPr>
              <a:t>2</a:t>
            </a:r>
            <a:r>
              <a:rPr lang="en-US" altLang="zh-CN" sz="2000" dirty="0">
                <a:solidFill>
                  <a:srgbClr val="000000"/>
                </a:solidFill>
                <a:latin typeface="Times New Roman" panose="02020603050405020304" pitchFamily="18" charset="0"/>
                <a:ea typeface="黑体" panose="02010609060101010101" pitchFamily="49" charset="-122"/>
                <a:sym typeface="+mn-ea"/>
              </a:rPr>
              <a:t> = 2                                   (2)</a:t>
            </a:r>
          </a:p>
          <a:p>
            <a:pPr algn="just" eaLnBrk="0" fontAlgn="base" hangingPunct="0">
              <a:lnSpc>
                <a:spcPts val="2900"/>
              </a:lnSpc>
              <a:spcBef>
                <a:spcPct val="0"/>
              </a:spcBef>
              <a:spcAft>
                <a:spcPct val="0"/>
              </a:spcAft>
            </a:pPr>
            <a:r>
              <a:rPr lang="en-US" altLang="zh-CN" sz="2000" i="1" dirty="0">
                <a:solidFill>
                  <a:srgbClr val="000000"/>
                </a:solidFill>
                <a:latin typeface="Times New Roman" panose="02020603050405020304" pitchFamily="18" charset="0"/>
                <a:ea typeface="黑体" panose="02010609060101010101" pitchFamily="49" charset="-122"/>
                <a:sym typeface="+mn-ea"/>
              </a:rPr>
              <a:t>x</a:t>
            </a:r>
            <a:r>
              <a:rPr lang="en-US" altLang="zh-CN" sz="2000" baseline="-25000" dirty="0">
                <a:solidFill>
                  <a:srgbClr val="000000"/>
                </a:solidFill>
                <a:latin typeface="Times New Roman" panose="02020603050405020304" pitchFamily="18" charset="0"/>
                <a:ea typeface="黑体" panose="02010609060101010101" pitchFamily="49" charset="-122"/>
                <a:sym typeface="+mn-ea"/>
              </a:rPr>
              <a:t>3</a:t>
            </a:r>
            <a:r>
              <a:rPr lang="en-US" altLang="zh-CN" sz="2000" dirty="0">
                <a:solidFill>
                  <a:srgbClr val="000000"/>
                </a:solidFill>
                <a:latin typeface="Times New Roman" panose="02020603050405020304" pitchFamily="18" charset="0"/>
                <a:ea typeface="黑体" panose="02010609060101010101" pitchFamily="49" charset="-122"/>
                <a:sym typeface="+mn-ea"/>
              </a:rPr>
              <a:t> = 3                                   (3)</a:t>
            </a:r>
          </a:p>
          <a:p>
            <a:pPr algn="just" eaLnBrk="0" fontAlgn="base" hangingPunct="0">
              <a:lnSpc>
                <a:spcPts val="2900"/>
              </a:lnSpc>
              <a:spcBef>
                <a:spcPct val="0"/>
              </a:spcBef>
              <a:spcAft>
                <a:spcPct val="0"/>
              </a:spcAft>
            </a:pPr>
            <a:r>
              <a:rPr lang="en-US" altLang="zh-CN" sz="2000" i="1" dirty="0">
                <a:solidFill>
                  <a:srgbClr val="000000"/>
                </a:solidFill>
                <a:latin typeface="Times New Roman" panose="02020603050405020304" pitchFamily="18" charset="0"/>
                <a:ea typeface="黑体" panose="02010609060101010101" pitchFamily="49" charset="-122"/>
                <a:sym typeface="+mn-ea"/>
              </a:rPr>
              <a:t>x</a:t>
            </a:r>
            <a:r>
              <a:rPr lang="en-US" altLang="zh-CN" sz="2000" baseline="-25000" dirty="0">
                <a:solidFill>
                  <a:srgbClr val="000000"/>
                </a:solidFill>
                <a:latin typeface="Times New Roman" panose="02020603050405020304" pitchFamily="18" charset="0"/>
                <a:ea typeface="黑体" panose="02010609060101010101" pitchFamily="49" charset="-122"/>
                <a:sym typeface="+mn-ea"/>
              </a:rPr>
              <a:t>1</a:t>
            </a:r>
            <a:r>
              <a:rPr lang="en-US" altLang="zh-CN" sz="2000" dirty="0">
                <a:solidFill>
                  <a:srgbClr val="000000"/>
                </a:solidFill>
                <a:latin typeface="Times New Roman" panose="02020603050405020304" pitchFamily="18" charset="0"/>
                <a:ea typeface="黑体" panose="02010609060101010101" pitchFamily="49" charset="-122"/>
                <a:sym typeface="+mn-ea"/>
              </a:rPr>
              <a:t> + </a:t>
            </a:r>
            <a:r>
              <a:rPr lang="en-US" altLang="zh-CN" sz="2000" i="1" dirty="0">
                <a:solidFill>
                  <a:srgbClr val="000000"/>
                </a:solidFill>
                <a:latin typeface="Times New Roman" panose="02020603050405020304" pitchFamily="18" charset="0"/>
                <a:ea typeface="黑体" panose="02010609060101010101" pitchFamily="49" charset="-122"/>
                <a:sym typeface="+mn-ea"/>
              </a:rPr>
              <a:t>x</a:t>
            </a:r>
            <a:r>
              <a:rPr lang="en-US" altLang="zh-CN" sz="2000" baseline="-25000" dirty="0">
                <a:solidFill>
                  <a:srgbClr val="000000"/>
                </a:solidFill>
                <a:latin typeface="Times New Roman" panose="02020603050405020304" pitchFamily="18" charset="0"/>
                <a:ea typeface="黑体" panose="02010609060101010101" pitchFamily="49" charset="-122"/>
                <a:sym typeface="+mn-ea"/>
              </a:rPr>
              <a:t>2</a:t>
            </a:r>
            <a:r>
              <a:rPr lang="en-US" altLang="zh-CN" sz="2000" dirty="0">
                <a:solidFill>
                  <a:srgbClr val="000000"/>
                </a:solidFill>
                <a:latin typeface="Times New Roman" panose="02020603050405020304" pitchFamily="18" charset="0"/>
                <a:ea typeface="黑体" panose="02010609060101010101" pitchFamily="49" charset="-122"/>
                <a:sym typeface="+mn-ea"/>
              </a:rPr>
              <a:t> + </a:t>
            </a:r>
            <a:r>
              <a:rPr lang="en-US" altLang="zh-CN" sz="2000" i="1" dirty="0">
                <a:solidFill>
                  <a:srgbClr val="000000"/>
                </a:solidFill>
                <a:latin typeface="Times New Roman" panose="02020603050405020304" pitchFamily="18" charset="0"/>
                <a:ea typeface="黑体" panose="02010609060101010101" pitchFamily="49" charset="-122"/>
                <a:sym typeface="+mn-ea"/>
              </a:rPr>
              <a:t>x</a:t>
            </a:r>
            <a:r>
              <a:rPr lang="en-US" altLang="zh-CN" sz="2000" baseline="-25000" dirty="0">
                <a:solidFill>
                  <a:srgbClr val="000000"/>
                </a:solidFill>
                <a:latin typeface="Times New Roman" panose="02020603050405020304" pitchFamily="18" charset="0"/>
                <a:ea typeface="黑体" panose="02010609060101010101" pitchFamily="49" charset="-122"/>
                <a:sym typeface="+mn-ea"/>
              </a:rPr>
              <a:t>3</a:t>
            </a:r>
            <a:r>
              <a:rPr lang="en-US" altLang="zh-CN" sz="2000" dirty="0">
                <a:solidFill>
                  <a:srgbClr val="000000"/>
                </a:solidFill>
                <a:latin typeface="Times New Roman" panose="02020603050405020304" pitchFamily="18" charset="0"/>
                <a:ea typeface="黑体" panose="02010609060101010101" pitchFamily="49" charset="-122"/>
                <a:sym typeface="+mn-ea"/>
              </a:rPr>
              <a:t>= 6                     (4)</a:t>
            </a:r>
          </a:p>
          <a:p>
            <a:pPr algn="just" eaLnBrk="0" fontAlgn="base" hangingPunct="0">
              <a:lnSpc>
                <a:spcPts val="2900"/>
              </a:lnSpc>
              <a:spcBef>
                <a:spcPct val="0"/>
              </a:spcBef>
              <a:spcAft>
                <a:spcPct val="0"/>
              </a:spcAft>
            </a:pPr>
            <a:r>
              <a:rPr lang="en-US" altLang="zh-CN" sz="2000" i="1" dirty="0">
                <a:solidFill>
                  <a:srgbClr val="000000"/>
                </a:solidFill>
                <a:latin typeface="Times New Roman" panose="02020603050405020304" pitchFamily="18" charset="0"/>
                <a:ea typeface="黑体" panose="02010609060101010101" pitchFamily="49" charset="-122"/>
                <a:sym typeface="+mn-ea"/>
              </a:rPr>
              <a:t>x</a:t>
            </a:r>
            <a:r>
              <a:rPr lang="en-US" altLang="zh-CN" sz="2000" baseline="-25000" dirty="0">
                <a:solidFill>
                  <a:srgbClr val="000000"/>
                </a:solidFill>
                <a:latin typeface="Times New Roman" panose="02020603050405020304" pitchFamily="18" charset="0"/>
                <a:ea typeface="黑体" panose="02010609060101010101" pitchFamily="49" charset="-122"/>
                <a:sym typeface="+mn-ea"/>
              </a:rPr>
              <a:t>1</a:t>
            </a:r>
            <a:r>
              <a:rPr lang="en-US" altLang="zh-CN" sz="2000" dirty="0">
                <a:solidFill>
                  <a:srgbClr val="000000"/>
                </a:solidFill>
                <a:latin typeface="Times New Roman" panose="02020603050405020304" pitchFamily="18" charset="0"/>
                <a:ea typeface="黑体" panose="02010609060101010101" pitchFamily="49" charset="-122"/>
                <a:sym typeface="+mn-ea"/>
              </a:rPr>
              <a:t> + 2</a:t>
            </a:r>
            <a:r>
              <a:rPr lang="en-US" altLang="zh-CN" sz="2000" i="1" dirty="0">
                <a:solidFill>
                  <a:srgbClr val="000000"/>
                </a:solidFill>
                <a:latin typeface="Times New Roman" panose="02020603050405020304" pitchFamily="18" charset="0"/>
                <a:ea typeface="黑体" panose="02010609060101010101" pitchFamily="49" charset="-122"/>
                <a:sym typeface="+mn-ea"/>
              </a:rPr>
              <a:t>x</a:t>
            </a:r>
            <a:r>
              <a:rPr lang="en-US" altLang="zh-CN" sz="2000" baseline="-25000" dirty="0">
                <a:solidFill>
                  <a:srgbClr val="000000"/>
                </a:solidFill>
                <a:latin typeface="Times New Roman" panose="02020603050405020304" pitchFamily="18" charset="0"/>
                <a:ea typeface="黑体" panose="02010609060101010101" pitchFamily="49" charset="-122"/>
                <a:sym typeface="+mn-ea"/>
              </a:rPr>
              <a:t>2</a:t>
            </a:r>
            <a:r>
              <a:rPr lang="en-US" altLang="zh-CN" sz="2000" dirty="0">
                <a:solidFill>
                  <a:srgbClr val="000000"/>
                </a:solidFill>
                <a:latin typeface="Times New Roman" panose="02020603050405020304" pitchFamily="18" charset="0"/>
                <a:ea typeface="黑体" panose="02010609060101010101" pitchFamily="49" charset="-122"/>
                <a:sym typeface="+mn-ea"/>
              </a:rPr>
              <a:t> +4</a:t>
            </a:r>
            <a:r>
              <a:rPr lang="en-US" altLang="zh-CN" sz="2000" i="1" dirty="0">
                <a:solidFill>
                  <a:srgbClr val="000000"/>
                </a:solidFill>
                <a:latin typeface="Times New Roman" panose="02020603050405020304" pitchFamily="18" charset="0"/>
                <a:ea typeface="黑体" panose="02010609060101010101" pitchFamily="49" charset="-122"/>
                <a:sym typeface="+mn-ea"/>
              </a:rPr>
              <a:t>x</a:t>
            </a:r>
            <a:r>
              <a:rPr lang="en-US" altLang="zh-CN" sz="2000" baseline="-25000" dirty="0">
                <a:solidFill>
                  <a:srgbClr val="000000"/>
                </a:solidFill>
                <a:latin typeface="Times New Roman" panose="02020603050405020304" pitchFamily="18" charset="0"/>
                <a:ea typeface="黑体" panose="02010609060101010101" pitchFamily="49" charset="-122"/>
                <a:sym typeface="+mn-ea"/>
              </a:rPr>
              <a:t>3</a:t>
            </a:r>
            <a:r>
              <a:rPr lang="en-US" altLang="zh-CN" sz="2000" dirty="0">
                <a:solidFill>
                  <a:srgbClr val="000000"/>
                </a:solidFill>
                <a:latin typeface="Times New Roman" panose="02020603050405020304" pitchFamily="18" charset="0"/>
                <a:ea typeface="黑体" panose="02010609060101010101" pitchFamily="49" charset="-122"/>
                <a:sym typeface="+mn-ea"/>
              </a:rPr>
              <a:t> = 17               (5)</a:t>
            </a:r>
          </a:p>
          <a:p>
            <a:pPr algn="just" eaLnBrk="0" fontAlgn="base" hangingPunct="0">
              <a:lnSpc>
                <a:spcPts val="2900"/>
              </a:lnSpc>
              <a:spcBef>
                <a:spcPct val="0"/>
              </a:spcBef>
              <a:spcAft>
                <a:spcPct val="0"/>
              </a:spcAft>
            </a:pPr>
            <a:r>
              <a:rPr lang="en-US" altLang="zh-CN" sz="2000" i="1" dirty="0">
                <a:solidFill>
                  <a:srgbClr val="000000"/>
                </a:solidFill>
                <a:latin typeface="Times New Roman" panose="02020603050405020304" pitchFamily="18" charset="0"/>
                <a:ea typeface="黑体" panose="02010609060101010101" pitchFamily="49" charset="-122"/>
                <a:sym typeface="+mn-ea"/>
              </a:rPr>
              <a:t>x</a:t>
            </a:r>
            <a:r>
              <a:rPr lang="en-US" altLang="zh-CN" sz="2000" baseline="-25000" dirty="0">
                <a:solidFill>
                  <a:srgbClr val="000000"/>
                </a:solidFill>
                <a:latin typeface="Times New Roman" panose="02020603050405020304" pitchFamily="18" charset="0"/>
                <a:ea typeface="黑体" panose="02010609060101010101" pitchFamily="49" charset="-122"/>
                <a:sym typeface="+mn-ea"/>
              </a:rPr>
              <a:t>1</a:t>
            </a:r>
            <a:r>
              <a:rPr lang="en-US" altLang="zh-CN" sz="2000" dirty="0">
                <a:solidFill>
                  <a:srgbClr val="000000"/>
                </a:solidFill>
                <a:latin typeface="Times New Roman" panose="02020603050405020304" pitchFamily="18" charset="0"/>
                <a:ea typeface="黑体" panose="02010609060101010101" pitchFamily="49" charset="-122"/>
                <a:sym typeface="+mn-ea"/>
              </a:rPr>
              <a:t> + 3</a:t>
            </a:r>
            <a:r>
              <a:rPr lang="en-US" altLang="zh-CN" sz="2000" i="1" dirty="0">
                <a:solidFill>
                  <a:srgbClr val="000000"/>
                </a:solidFill>
                <a:latin typeface="Times New Roman" panose="02020603050405020304" pitchFamily="18" charset="0"/>
                <a:ea typeface="黑体" panose="02010609060101010101" pitchFamily="49" charset="-122"/>
                <a:sym typeface="+mn-ea"/>
              </a:rPr>
              <a:t>x</a:t>
            </a:r>
            <a:r>
              <a:rPr lang="en-US" altLang="zh-CN" sz="2000" baseline="-25000" dirty="0">
                <a:solidFill>
                  <a:srgbClr val="000000"/>
                </a:solidFill>
                <a:latin typeface="Times New Roman" panose="02020603050405020304" pitchFamily="18" charset="0"/>
                <a:ea typeface="黑体" panose="02010609060101010101" pitchFamily="49" charset="-122"/>
                <a:sym typeface="+mn-ea"/>
              </a:rPr>
              <a:t>2</a:t>
            </a:r>
            <a:r>
              <a:rPr lang="en-US" altLang="zh-CN" sz="2000" dirty="0">
                <a:solidFill>
                  <a:srgbClr val="000000"/>
                </a:solidFill>
                <a:latin typeface="Times New Roman" panose="02020603050405020304" pitchFamily="18" charset="0"/>
                <a:ea typeface="黑体" panose="02010609060101010101" pitchFamily="49" charset="-122"/>
                <a:sym typeface="+mn-ea"/>
              </a:rPr>
              <a:t> +9</a:t>
            </a:r>
            <a:r>
              <a:rPr lang="en-US" altLang="zh-CN" sz="2000" i="1" dirty="0">
                <a:solidFill>
                  <a:srgbClr val="000000"/>
                </a:solidFill>
                <a:latin typeface="Times New Roman" panose="02020603050405020304" pitchFamily="18" charset="0"/>
                <a:ea typeface="黑体" panose="02010609060101010101" pitchFamily="49" charset="-122"/>
                <a:sym typeface="+mn-ea"/>
              </a:rPr>
              <a:t>x</a:t>
            </a:r>
            <a:r>
              <a:rPr lang="en-US" altLang="zh-CN" sz="2000" baseline="-25000" dirty="0">
                <a:solidFill>
                  <a:srgbClr val="000000"/>
                </a:solidFill>
                <a:latin typeface="Times New Roman" panose="02020603050405020304" pitchFamily="18" charset="0"/>
                <a:ea typeface="黑体" panose="02010609060101010101" pitchFamily="49" charset="-122"/>
                <a:sym typeface="+mn-ea"/>
              </a:rPr>
              <a:t>3</a:t>
            </a:r>
            <a:r>
              <a:rPr lang="en-US" altLang="zh-CN" sz="2000" dirty="0">
                <a:solidFill>
                  <a:srgbClr val="000000"/>
                </a:solidFill>
                <a:latin typeface="Times New Roman" panose="02020603050405020304" pitchFamily="18" charset="0"/>
                <a:ea typeface="黑体" panose="02010609060101010101" pitchFamily="49" charset="-122"/>
                <a:sym typeface="+mn-ea"/>
              </a:rPr>
              <a:t> = 34               (6)</a:t>
            </a:r>
          </a:p>
        </p:txBody>
      </p:sp>
      <p:sp>
        <p:nvSpPr>
          <p:cNvPr id="3" name="文本框 2">
            <a:extLst>
              <a:ext uri="{FF2B5EF4-FFF2-40B4-BE49-F238E27FC236}">
                <a16:creationId xmlns:a16="http://schemas.microsoft.com/office/drawing/2014/main" id="{A581D847-72E8-53DE-4182-819D28F1B215}"/>
              </a:ext>
            </a:extLst>
          </p:cNvPr>
          <p:cNvSpPr txBox="1"/>
          <p:nvPr/>
        </p:nvSpPr>
        <p:spPr>
          <a:xfrm>
            <a:off x="4583200" y="1915631"/>
            <a:ext cx="7444711" cy="1277850"/>
          </a:xfrm>
          <a:prstGeom prst="rect">
            <a:avLst/>
          </a:prstGeom>
          <a:noFill/>
        </p:spPr>
        <p:txBody>
          <a:bodyPr wrap="square" rtlCol="0" anchor="t">
            <a:spAutoFit/>
          </a:bodyPr>
          <a:lstStyle/>
          <a:p>
            <a:pPr algn="just" eaLnBrk="0" fontAlgn="base" hangingPunct="0">
              <a:lnSpc>
                <a:spcPts val="3200"/>
              </a:lnSpc>
              <a:spcBef>
                <a:spcPct val="0"/>
              </a:spcBef>
              <a:spcAft>
                <a:spcPct val="0"/>
              </a:spcAft>
            </a:pPr>
            <a:r>
              <a:rPr lang="zh-CN" altLang="en-US" sz="2000" dirty="0">
                <a:solidFill>
                  <a:srgbClr val="000000"/>
                </a:solidFill>
                <a:latin typeface="Times New Roman" panose="02020603050405020304" pitchFamily="18" charset="0"/>
                <a:ea typeface="黑体" panose="02010609060101010101" pitchFamily="49" charset="-122"/>
                <a:sym typeface="+mn-ea"/>
              </a:rPr>
              <a:t>         </a:t>
            </a:r>
            <a:r>
              <a:rPr lang="zh-CN" altLang="en-US" sz="2000" dirty="0">
                <a:solidFill>
                  <a:srgbClr val="FF0000"/>
                </a:solidFill>
                <a:latin typeface="Times New Roman" panose="02020603050405020304" pitchFamily="18" charset="0"/>
                <a:ea typeface="黑体" panose="02010609060101010101" pitchFamily="49" charset="-122"/>
                <a:sym typeface="+mn-ea"/>
              </a:rPr>
              <a:t>纠删码策略</a:t>
            </a:r>
            <a:r>
              <a:rPr lang="zh-CN" altLang="en-US" sz="2000" dirty="0">
                <a:solidFill>
                  <a:srgbClr val="000000"/>
                </a:solidFill>
                <a:latin typeface="Times New Roman" panose="02020603050405020304" pitchFamily="18" charset="0"/>
                <a:ea typeface="黑体" panose="02010609060101010101" pitchFamily="49" charset="-122"/>
                <a:sym typeface="+mn-ea"/>
              </a:rPr>
              <a:t>：把方程</a:t>
            </a:r>
            <a:r>
              <a:rPr lang="en-US" altLang="zh-CN" sz="2000" dirty="0">
                <a:solidFill>
                  <a:srgbClr val="000000"/>
                </a:solidFill>
                <a:latin typeface="Times New Roman" panose="02020603050405020304" pitchFamily="18" charset="0"/>
                <a:ea typeface="黑体" panose="02010609060101010101" pitchFamily="49" charset="-122"/>
                <a:sym typeface="+mn-ea"/>
              </a:rPr>
              <a:t>(1)(2)(3)</a:t>
            </a:r>
            <a:r>
              <a:rPr lang="zh-CN" altLang="en-US" sz="2000" dirty="0">
                <a:solidFill>
                  <a:srgbClr val="000000"/>
                </a:solidFill>
                <a:latin typeface="Times New Roman" panose="02020603050405020304" pitchFamily="18" charset="0"/>
                <a:ea typeface="黑体" panose="02010609060101010101" pitchFamily="49" charset="-122"/>
                <a:sym typeface="+mn-ea"/>
              </a:rPr>
              <a:t>看做是分布式系统的数据，</a:t>
            </a:r>
            <a:r>
              <a:rPr lang="en-US" altLang="zh-CN" sz="2000" dirty="0">
                <a:solidFill>
                  <a:srgbClr val="000000"/>
                </a:solidFill>
                <a:latin typeface="Times New Roman" panose="02020603050405020304" pitchFamily="18" charset="0"/>
                <a:ea typeface="黑体" panose="02010609060101010101" pitchFamily="49" charset="-122"/>
                <a:sym typeface="+mn-ea"/>
              </a:rPr>
              <a:t>(4)(5)(6)</a:t>
            </a:r>
            <a:r>
              <a:rPr lang="zh-CN" altLang="en-US" sz="2000" dirty="0">
                <a:solidFill>
                  <a:srgbClr val="000000"/>
                </a:solidFill>
                <a:latin typeface="Times New Roman" panose="02020603050405020304" pitchFamily="18" charset="0"/>
                <a:ea typeface="黑体" panose="02010609060101010101" pitchFamily="49" charset="-122"/>
                <a:sym typeface="+mn-ea"/>
              </a:rPr>
              <a:t>看做是</a:t>
            </a:r>
            <a:r>
              <a:rPr lang="en-US" altLang="zh-CN" sz="2000" dirty="0">
                <a:solidFill>
                  <a:srgbClr val="000000"/>
                </a:solidFill>
                <a:latin typeface="Times New Roman" panose="02020603050405020304" pitchFamily="18" charset="0"/>
                <a:ea typeface="黑体" panose="02010609060101010101" pitchFamily="49" charset="-122"/>
                <a:sym typeface="+mn-ea"/>
              </a:rPr>
              <a:t>code</a:t>
            </a:r>
            <a:r>
              <a:rPr lang="zh-CN" altLang="en-US" sz="2000" dirty="0">
                <a:solidFill>
                  <a:srgbClr val="000000"/>
                </a:solidFill>
                <a:latin typeface="Times New Roman" panose="02020603050405020304" pitchFamily="18" charset="0"/>
                <a:ea typeface="黑体" panose="02010609060101010101" pitchFamily="49" charset="-122"/>
                <a:sym typeface="+mn-ea"/>
              </a:rPr>
              <a:t>，只要一个</a:t>
            </a:r>
            <a:r>
              <a:rPr lang="en-US" altLang="zh-CN" sz="2000" dirty="0">
                <a:solidFill>
                  <a:srgbClr val="000000"/>
                </a:solidFill>
                <a:latin typeface="Times New Roman" panose="02020603050405020304" pitchFamily="18" charset="0"/>
                <a:ea typeface="黑体" panose="02010609060101010101" pitchFamily="49" charset="-122"/>
                <a:sym typeface="+mn-ea"/>
              </a:rPr>
              <a:t>code</a:t>
            </a:r>
            <a:r>
              <a:rPr lang="zh-CN" altLang="en-US" sz="2000" dirty="0">
                <a:solidFill>
                  <a:srgbClr val="000000"/>
                </a:solidFill>
                <a:latin typeface="Times New Roman" panose="02020603050405020304" pitchFamily="18" charset="0"/>
                <a:ea typeface="黑体" panose="02010609060101010101" pitchFamily="49" charset="-122"/>
                <a:sym typeface="+mn-ea"/>
              </a:rPr>
              <a:t>，即使丢了</a:t>
            </a:r>
            <a:r>
              <a:rPr lang="en-US" altLang="zh-CN" sz="2000" dirty="0">
                <a:solidFill>
                  <a:srgbClr val="000000"/>
                </a:solidFill>
                <a:latin typeface="Times New Roman" panose="02020603050405020304" pitchFamily="18" charset="0"/>
                <a:ea typeface="黑体" panose="02010609060101010101" pitchFamily="49" charset="-122"/>
                <a:sym typeface="+mn-ea"/>
              </a:rPr>
              <a:t>(1)(2)(3)</a:t>
            </a:r>
            <a:r>
              <a:rPr lang="zh-CN" altLang="en-US" sz="2000" dirty="0">
                <a:solidFill>
                  <a:srgbClr val="000000"/>
                </a:solidFill>
                <a:latin typeface="Times New Roman" panose="02020603050405020304" pitchFamily="18" charset="0"/>
                <a:ea typeface="黑体" panose="02010609060101010101" pitchFamily="49" charset="-122"/>
                <a:sym typeface="+mn-ea"/>
              </a:rPr>
              <a:t>中的任何一个方程，数据都可以恢复，故只需要</a:t>
            </a:r>
            <a:r>
              <a:rPr lang="zh-CN" altLang="en-US" sz="2000" dirty="0">
                <a:solidFill>
                  <a:srgbClr val="3333CC"/>
                </a:solidFill>
                <a:latin typeface="Times New Roman" panose="02020603050405020304" pitchFamily="18" charset="0"/>
                <a:ea typeface="黑体" panose="02010609060101010101" pitchFamily="49" charset="-122"/>
                <a:sym typeface="+mn-ea"/>
              </a:rPr>
              <a:t>存储</a:t>
            </a:r>
            <a:r>
              <a:rPr lang="en-US" altLang="zh-CN" sz="2000" dirty="0">
                <a:solidFill>
                  <a:srgbClr val="3333CC"/>
                </a:solidFill>
                <a:latin typeface="Times New Roman" panose="02020603050405020304" pitchFamily="18" charset="0"/>
                <a:ea typeface="黑体" panose="02010609060101010101" pitchFamily="49" charset="-122"/>
                <a:sym typeface="+mn-ea"/>
              </a:rPr>
              <a:t>4</a:t>
            </a:r>
            <a:r>
              <a:rPr lang="zh-CN" altLang="en-US" sz="2000" dirty="0">
                <a:solidFill>
                  <a:srgbClr val="3333CC"/>
                </a:solidFill>
                <a:latin typeface="Times New Roman" panose="02020603050405020304" pitchFamily="18" charset="0"/>
                <a:ea typeface="黑体" panose="02010609060101010101" pitchFamily="49" charset="-122"/>
                <a:sym typeface="+mn-ea"/>
              </a:rPr>
              <a:t>个方程</a:t>
            </a:r>
            <a:r>
              <a:rPr lang="zh-CN" altLang="en-US" sz="2000" dirty="0">
                <a:solidFill>
                  <a:srgbClr val="000000"/>
                </a:solidFill>
                <a:latin typeface="Times New Roman" panose="02020603050405020304" pitchFamily="18" charset="0"/>
                <a:ea typeface="黑体" panose="02010609060101010101" pitchFamily="49" charset="-122"/>
                <a:sym typeface="+mn-ea"/>
              </a:rPr>
              <a:t>。</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
        <p:nvSpPr>
          <p:cNvPr id="7" name="文本框 6">
            <a:extLst>
              <a:ext uri="{FF2B5EF4-FFF2-40B4-BE49-F238E27FC236}">
                <a16:creationId xmlns:a16="http://schemas.microsoft.com/office/drawing/2014/main" id="{7EE5ECC6-C3CB-DEB6-FE44-D7846BA35CDB}"/>
              </a:ext>
            </a:extLst>
          </p:cNvPr>
          <p:cNvSpPr txBox="1"/>
          <p:nvPr/>
        </p:nvSpPr>
        <p:spPr>
          <a:xfrm>
            <a:off x="4583200" y="3322268"/>
            <a:ext cx="7389060" cy="1277850"/>
          </a:xfrm>
          <a:prstGeom prst="rect">
            <a:avLst/>
          </a:prstGeom>
          <a:noFill/>
        </p:spPr>
        <p:txBody>
          <a:bodyPr wrap="square" rtlCol="0" anchor="t">
            <a:spAutoFit/>
          </a:bodyPr>
          <a:lstStyle/>
          <a:p>
            <a:pPr algn="just" eaLnBrk="0" fontAlgn="base" hangingPunct="0">
              <a:lnSpc>
                <a:spcPts val="3200"/>
              </a:lnSpc>
              <a:spcBef>
                <a:spcPct val="0"/>
              </a:spcBef>
              <a:spcAft>
                <a:spcPct val="0"/>
              </a:spcAft>
            </a:pPr>
            <a:r>
              <a:rPr lang="zh-CN" altLang="en-US" sz="2000" dirty="0">
                <a:solidFill>
                  <a:srgbClr val="FF0000"/>
                </a:solidFill>
                <a:latin typeface="Times New Roman" panose="02020603050405020304" pitchFamily="18" charset="0"/>
                <a:ea typeface="黑体" panose="02010609060101010101" pitchFamily="49" charset="-122"/>
                <a:sym typeface="+mn-ea"/>
              </a:rPr>
              <a:t>         策略存储效率对比</a:t>
            </a:r>
            <a:r>
              <a:rPr lang="zh-CN" altLang="en-US" sz="2000" dirty="0">
                <a:solidFill>
                  <a:srgbClr val="000000"/>
                </a:solidFill>
                <a:latin typeface="Times New Roman" panose="02020603050405020304" pitchFamily="18" charset="0"/>
                <a:ea typeface="黑体" panose="02010609060101010101" pitchFamily="49" charset="-122"/>
                <a:sym typeface="+mn-ea"/>
              </a:rPr>
              <a:t>：纠删码策略存储</a:t>
            </a:r>
            <a:r>
              <a:rPr lang="en-US" altLang="zh-CN" sz="2000" dirty="0">
                <a:solidFill>
                  <a:srgbClr val="000000"/>
                </a:solidFill>
                <a:latin typeface="Times New Roman" panose="02020603050405020304" pitchFamily="18" charset="0"/>
                <a:ea typeface="黑体" panose="02010609060101010101" pitchFamily="49" charset="-122"/>
                <a:sym typeface="+mn-ea"/>
              </a:rPr>
              <a:t>4</a:t>
            </a:r>
            <a:r>
              <a:rPr lang="zh-CN" altLang="en-US" sz="2000" dirty="0">
                <a:solidFill>
                  <a:srgbClr val="000000"/>
                </a:solidFill>
                <a:latin typeface="Times New Roman" panose="02020603050405020304" pitchFamily="18" charset="0"/>
                <a:ea typeface="黑体" panose="02010609060101010101" pitchFamily="49" charset="-122"/>
                <a:sym typeface="+mn-ea"/>
              </a:rPr>
              <a:t>个方程，副本策略存储</a:t>
            </a:r>
            <a:r>
              <a:rPr lang="en-US" altLang="zh-CN" sz="2000" dirty="0">
                <a:solidFill>
                  <a:srgbClr val="000000"/>
                </a:solidFill>
                <a:latin typeface="Times New Roman" panose="02020603050405020304" pitchFamily="18" charset="0"/>
                <a:ea typeface="黑体" panose="02010609060101010101" pitchFamily="49" charset="-122"/>
                <a:sym typeface="+mn-ea"/>
              </a:rPr>
              <a:t>6</a:t>
            </a:r>
            <a:r>
              <a:rPr lang="zh-CN" altLang="en-US" sz="2000" dirty="0">
                <a:solidFill>
                  <a:srgbClr val="000000"/>
                </a:solidFill>
                <a:latin typeface="Times New Roman" panose="02020603050405020304" pitchFamily="18" charset="0"/>
                <a:ea typeface="黑体" panose="02010609060101010101" pitchFamily="49" charset="-122"/>
                <a:sym typeface="+mn-ea"/>
              </a:rPr>
              <a:t>个方程，</a:t>
            </a:r>
            <a:r>
              <a:rPr lang="zh-CN" altLang="en-US" sz="2000" dirty="0">
                <a:solidFill>
                  <a:srgbClr val="3333CC"/>
                </a:solidFill>
                <a:latin typeface="Times New Roman" panose="02020603050405020304" pitchFamily="18" charset="0"/>
                <a:ea typeface="黑体" panose="02010609060101010101" pitchFamily="49" charset="-122"/>
                <a:sym typeface="+mn-ea"/>
              </a:rPr>
              <a:t>存储效率是</a:t>
            </a:r>
            <a:r>
              <a:rPr lang="en-US" altLang="zh-CN" sz="2000" dirty="0">
                <a:solidFill>
                  <a:srgbClr val="3333CC"/>
                </a:solidFill>
                <a:latin typeface="Times New Roman" panose="02020603050405020304" pitchFamily="18" charset="0"/>
                <a:ea typeface="黑体" panose="02010609060101010101" pitchFamily="49" charset="-122"/>
                <a:sym typeface="+mn-ea"/>
              </a:rPr>
              <a:t>4/6</a:t>
            </a:r>
            <a:r>
              <a:rPr lang="zh-CN" altLang="en-US" sz="2000" dirty="0">
                <a:solidFill>
                  <a:srgbClr val="000000"/>
                </a:solidFill>
                <a:latin typeface="Times New Roman" panose="02020603050405020304" pitchFamily="18" charset="0"/>
                <a:ea typeface="黑体" panose="02010609060101010101" pitchFamily="49" charset="-122"/>
                <a:sym typeface="+mn-ea"/>
              </a:rPr>
              <a:t>，可以节省</a:t>
            </a:r>
            <a:r>
              <a:rPr lang="en-US" altLang="zh-CN" sz="2000" dirty="0">
                <a:solidFill>
                  <a:srgbClr val="000000"/>
                </a:solidFill>
                <a:latin typeface="Times New Roman" panose="02020603050405020304" pitchFamily="18" charset="0"/>
                <a:ea typeface="黑体" panose="02010609060101010101" pitchFamily="49" charset="-122"/>
                <a:sym typeface="+mn-ea"/>
              </a:rPr>
              <a:t>1/3</a:t>
            </a:r>
            <a:r>
              <a:rPr lang="zh-CN" altLang="en-US" sz="2000" dirty="0">
                <a:solidFill>
                  <a:srgbClr val="000000"/>
                </a:solidFill>
                <a:latin typeface="Times New Roman" panose="02020603050405020304" pitchFamily="18" charset="0"/>
                <a:ea typeface="黑体" panose="02010609060101010101" pitchFamily="49" charset="-122"/>
                <a:sym typeface="+mn-ea"/>
              </a:rPr>
              <a:t>的空间。实际根据</a:t>
            </a:r>
            <a:r>
              <a:rPr lang="en-US" altLang="zh-CN" sz="2000" dirty="0">
                <a:solidFill>
                  <a:srgbClr val="000000"/>
                </a:solidFill>
                <a:latin typeface="Times New Roman" panose="02020603050405020304" pitchFamily="18" charset="0"/>
                <a:ea typeface="黑体" panose="02010609060101010101" pitchFamily="49" charset="-122"/>
                <a:sym typeface="+mn-ea"/>
              </a:rPr>
              <a:t>code</a:t>
            </a:r>
            <a:r>
              <a:rPr lang="zh-CN" altLang="en-US" sz="2000" dirty="0">
                <a:solidFill>
                  <a:srgbClr val="000000"/>
                </a:solidFill>
                <a:latin typeface="Times New Roman" panose="02020603050405020304" pitchFamily="18" charset="0"/>
                <a:ea typeface="黑体" panose="02010609060101010101" pitchFamily="49" charset="-122"/>
                <a:sym typeface="+mn-ea"/>
              </a:rPr>
              <a:t>的多少，存储效率会不一样。</a:t>
            </a:r>
            <a:endParaRPr lang="en-US" altLang="zh-CN" sz="20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纠删码的定义</a:t>
            </a:r>
          </a:p>
        </p:txBody>
      </p:sp>
      <p:sp>
        <p:nvSpPr>
          <p:cNvPr id="10" name="文本框 9"/>
          <p:cNvSpPr txBox="1"/>
          <p:nvPr/>
        </p:nvSpPr>
        <p:spPr>
          <a:xfrm>
            <a:off x="1875557" y="1037916"/>
            <a:ext cx="8176726"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000000"/>
                </a:solidFill>
              </a:rPr>
              <a:t>        纠删码是一组数据冗余和恢复算法的统称，是一种数据保护方法。</a:t>
            </a:r>
            <a:endParaRPr lang="en-US" altLang="zh-CN" dirty="0">
              <a:solidFill>
                <a:srgbClr val="000000"/>
              </a:solidFill>
            </a:endParaRPr>
          </a:p>
        </p:txBody>
      </p:sp>
      <p:sp>
        <p:nvSpPr>
          <p:cNvPr id="13" name="文本框 12"/>
          <p:cNvSpPr txBox="1"/>
          <p:nvPr/>
        </p:nvSpPr>
        <p:spPr>
          <a:xfrm>
            <a:off x="6737835" y="1984952"/>
            <a:ext cx="3962416" cy="191584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000000"/>
                </a:solidFill>
              </a:rPr>
              <a:t>        纠删码技术将数据</a:t>
            </a:r>
            <a:r>
              <a:rPr lang="zh-CN" altLang="en-US" dirty="0">
                <a:solidFill>
                  <a:srgbClr val="FF0000"/>
                </a:solidFill>
              </a:rPr>
              <a:t>分割成片段</a:t>
            </a:r>
            <a:r>
              <a:rPr lang="zh-CN" altLang="en-US" dirty="0">
                <a:solidFill>
                  <a:srgbClr val="000000"/>
                </a:solidFill>
              </a:rPr>
              <a:t>，把冗余数据块扩展、编码，并将其</a:t>
            </a:r>
            <a:r>
              <a:rPr lang="zh-CN" altLang="en-US" dirty="0">
                <a:solidFill>
                  <a:srgbClr val="FF0000"/>
                </a:solidFill>
              </a:rPr>
              <a:t>存储在不同的位置</a:t>
            </a:r>
            <a:r>
              <a:rPr lang="zh-CN" altLang="en-US" dirty="0">
                <a:solidFill>
                  <a:srgbClr val="000000"/>
                </a:solidFill>
              </a:rPr>
              <a:t>，比如磁盘、存储节点或者其它地理位置。</a:t>
            </a:r>
            <a:endParaRPr lang="zh-CN" altLang="en-US" dirty="0">
              <a:solidFill>
                <a:srgbClr val="000000"/>
              </a:solidFill>
              <a:sym typeface="+mn-ea"/>
            </a:endParaRPr>
          </a:p>
        </p:txBody>
      </p:sp>
      <p:sp>
        <p:nvSpPr>
          <p:cNvPr id="14" name="文本框 13"/>
          <p:cNvSpPr txBox="1"/>
          <p:nvPr/>
        </p:nvSpPr>
        <p:spPr>
          <a:xfrm>
            <a:off x="6781902" y="4419574"/>
            <a:ext cx="3886098" cy="117205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000000"/>
                </a:solidFill>
              </a:rPr>
              <a:t>        纠删码技术</a:t>
            </a:r>
            <a:r>
              <a:rPr lang="zh-CN" altLang="en-US" dirty="0">
                <a:solidFill>
                  <a:srgbClr val="3333CC"/>
                </a:solidFill>
              </a:rPr>
              <a:t>具有良好的容错性和安全性</a:t>
            </a:r>
            <a:r>
              <a:rPr lang="zh-CN" altLang="en-US" dirty="0">
                <a:solidFill>
                  <a:srgbClr val="000000"/>
                </a:solidFill>
              </a:rPr>
              <a:t>，主要应用于网络传输中丢包错误的解决。</a:t>
            </a:r>
            <a:endParaRPr lang="zh-CN" altLang="en-US" dirty="0">
              <a:solidFill>
                <a:srgbClr val="000000"/>
              </a:solidFill>
              <a:sym typeface="+mn-ea"/>
            </a:endParaRPr>
          </a:p>
        </p:txBody>
      </p:sp>
      <p:grpSp>
        <p:nvGrpSpPr>
          <p:cNvPr id="11" name="组合 10"/>
          <p:cNvGrpSpPr/>
          <p:nvPr/>
        </p:nvGrpSpPr>
        <p:grpSpPr>
          <a:xfrm>
            <a:off x="1676516" y="1606329"/>
            <a:ext cx="4876672" cy="4989462"/>
            <a:chOff x="152516" y="1565457"/>
            <a:chExt cx="4876672" cy="4989462"/>
          </a:xfrm>
        </p:grpSpPr>
        <p:sp>
          <p:nvSpPr>
            <p:cNvPr id="7" name="文本框 6"/>
            <p:cNvSpPr txBox="1"/>
            <p:nvPr/>
          </p:nvSpPr>
          <p:spPr>
            <a:xfrm>
              <a:off x="1447882" y="6123582"/>
              <a:ext cx="2285940" cy="43133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sz="1800" dirty="0">
                  <a:solidFill>
                    <a:srgbClr val="000000"/>
                  </a:solidFill>
                  <a:sym typeface="+mn-ea"/>
                </a:rPr>
                <a:t>纠删码的存储思想</a:t>
              </a: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16" y="1565457"/>
              <a:ext cx="4876672" cy="4558125"/>
            </a:xfrm>
            <a:prstGeom prst="rect">
              <a:avLst/>
            </a:prstGeom>
          </p:spPr>
        </p:pic>
      </p:gr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纠删码的基本思想</a:t>
            </a:r>
          </a:p>
        </p:txBody>
      </p:sp>
      <p:sp>
        <p:nvSpPr>
          <p:cNvPr id="10" name="文本框 9"/>
          <p:cNvSpPr txBox="1"/>
          <p:nvPr/>
        </p:nvSpPr>
        <p:spPr>
          <a:xfrm>
            <a:off x="133327" y="851384"/>
            <a:ext cx="5830594" cy="266213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sz="2200" dirty="0">
                <a:solidFill>
                  <a:srgbClr val="000000"/>
                </a:solidFill>
                <a:latin typeface="Times New Roman"/>
                <a:ea typeface="黑体"/>
              </a:rPr>
              <a:t>        </a:t>
            </a:r>
            <a:r>
              <a:rPr lang="zh-CN" altLang="en-US" sz="2200" dirty="0">
                <a:solidFill>
                  <a:srgbClr val="FF0000"/>
                </a:solidFill>
                <a:latin typeface="Times New Roman"/>
                <a:ea typeface="黑体"/>
              </a:rPr>
              <a:t>网络传输方面</a:t>
            </a:r>
            <a:r>
              <a:rPr lang="zh-CN" altLang="en-US" sz="2200" dirty="0">
                <a:solidFill>
                  <a:srgbClr val="000000"/>
                </a:solidFill>
                <a:latin typeface="Times New Roman"/>
                <a:ea typeface="黑体"/>
              </a:rPr>
              <a:t>：纠删码的基本思想是“发送方将</a:t>
            </a:r>
            <a:r>
              <a:rPr lang="en-US" altLang="zh-CN" sz="2200" dirty="0">
                <a:solidFill>
                  <a:srgbClr val="3333CC"/>
                </a:solidFill>
                <a:latin typeface="Times New Roman"/>
                <a:ea typeface="黑体"/>
              </a:rPr>
              <a:t>n</a:t>
            </a:r>
            <a:r>
              <a:rPr lang="zh-CN" altLang="en-US" sz="2200" dirty="0">
                <a:solidFill>
                  <a:srgbClr val="3333CC"/>
                </a:solidFill>
                <a:latin typeface="Times New Roman"/>
                <a:ea typeface="黑体"/>
              </a:rPr>
              <a:t>个源数据包编码</a:t>
            </a:r>
            <a:r>
              <a:rPr lang="zh-CN" altLang="en-US" sz="2200" dirty="0">
                <a:solidFill>
                  <a:srgbClr val="000000"/>
                </a:solidFill>
                <a:latin typeface="Times New Roman"/>
                <a:ea typeface="黑体"/>
              </a:rPr>
              <a:t>，得到</a:t>
            </a:r>
            <a:r>
              <a:rPr lang="en-US" altLang="zh-CN" sz="2200" dirty="0">
                <a:solidFill>
                  <a:srgbClr val="3333CC"/>
                </a:solidFill>
                <a:latin typeface="Times New Roman"/>
                <a:ea typeface="黑体"/>
              </a:rPr>
              <a:t>m</a:t>
            </a:r>
            <a:r>
              <a:rPr lang="zh-CN" altLang="en-US" sz="2200" dirty="0">
                <a:solidFill>
                  <a:srgbClr val="3333CC"/>
                </a:solidFill>
                <a:latin typeface="Times New Roman"/>
                <a:ea typeface="黑体"/>
              </a:rPr>
              <a:t>个校验数据包</a:t>
            </a:r>
            <a:r>
              <a:rPr lang="zh-CN" altLang="en-US" sz="2200" dirty="0">
                <a:solidFill>
                  <a:srgbClr val="000000"/>
                </a:solidFill>
                <a:latin typeface="Times New Roman"/>
                <a:ea typeface="黑体"/>
              </a:rPr>
              <a:t>，将这</a:t>
            </a:r>
            <a:r>
              <a:rPr lang="en-US" altLang="zh-CN" sz="2200" dirty="0" err="1">
                <a:solidFill>
                  <a:srgbClr val="3333CC"/>
                </a:solidFill>
                <a:latin typeface="Times New Roman"/>
                <a:ea typeface="黑体"/>
              </a:rPr>
              <a:t>n+m</a:t>
            </a:r>
            <a:r>
              <a:rPr lang="zh-CN" altLang="en-US" sz="2200" dirty="0">
                <a:solidFill>
                  <a:srgbClr val="3333CC"/>
                </a:solidFill>
                <a:latin typeface="Times New Roman"/>
                <a:ea typeface="黑体"/>
              </a:rPr>
              <a:t>个数据包在网络上进行传输</a:t>
            </a:r>
            <a:r>
              <a:rPr lang="zh-CN" altLang="en-US" sz="2200" dirty="0">
                <a:solidFill>
                  <a:srgbClr val="000000"/>
                </a:solidFill>
                <a:latin typeface="Times New Roman"/>
                <a:ea typeface="黑体"/>
              </a:rPr>
              <a:t>。接受方只要</a:t>
            </a:r>
            <a:r>
              <a:rPr lang="zh-CN" altLang="en-US" sz="2200" dirty="0">
                <a:solidFill>
                  <a:srgbClr val="FF0000"/>
                </a:solidFill>
                <a:latin typeface="Times New Roman"/>
                <a:ea typeface="黑体"/>
              </a:rPr>
              <a:t>接收到不少于</a:t>
            </a:r>
            <a:r>
              <a:rPr lang="en-US" altLang="zh-CN" sz="2200" dirty="0">
                <a:solidFill>
                  <a:srgbClr val="FF0000"/>
                </a:solidFill>
                <a:latin typeface="Times New Roman"/>
                <a:ea typeface="黑体"/>
              </a:rPr>
              <a:t>n</a:t>
            </a:r>
            <a:r>
              <a:rPr lang="zh-CN" altLang="en-US" sz="2200" dirty="0">
                <a:solidFill>
                  <a:srgbClr val="FF0000"/>
                </a:solidFill>
                <a:latin typeface="Times New Roman"/>
                <a:ea typeface="黑体"/>
              </a:rPr>
              <a:t>个编码包</a:t>
            </a:r>
            <a:r>
              <a:rPr lang="zh-CN" altLang="en-US" sz="2200" dirty="0">
                <a:solidFill>
                  <a:srgbClr val="000000"/>
                </a:solidFill>
                <a:latin typeface="Times New Roman"/>
                <a:ea typeface="黑体"/>
              </a:rPr>
              <a:t>，就可以将源数据恢复。一般来说，这个传输过程允许最多</a:t>
            </a:r>
            <a:r>
              <a:rPr lang="en-US" altLang="zh-CN" sz="2200" dirty="0">
                <a:solidFill>
                  <a:srgbClr val="000000"/>
                </a:solidFill>
                <a:latin typeface="Times New Roman"/>
                <a:ea typeface="黑体"/>
              </a:rPr>
              <a:t>m</a:t>
            </a:r>
            <a:r>
              <a:rPr lang="zh-CN" altLang="en-US" sz="2200" dirty="0">
                <a:solidFill>
                  <a:srgbClr val="000000"/>
                </a:solidFill>
                <a:latin typeface="Times New Roman"/>
                <a:ea typeface="黑体"/>
              </a:rPr>
              <a:t>个数据包的丢失。”</a:t>
            </a:r>
            <a:endParaRPr lang="zh-CN" altLang="en-US" sz="2200" dirty="0">
              <a:solidFill>
                <a:srgbClr val="000000"/>
              </a:solidFill>
              <a:latin typeface="Times New Roman"/>
              <a:ea typeface="黑体"/>
              <a:sym typeface="+mn-ea"/>
            </a:endParaRPr>
          </a:p>
        </p:txBody>
      </p:sp>
      <p:grpSp>
        <p:nvGrpSpPr>
          <p:cNvPr id="5" name="组合 4"/>
          <p:cNvGrpSpPr/>
          <p:nvPr/>
        </p:nvGrpSpPr>
        <p:grpSpPr>
          <a:xfrm>
            <a:off x="620344" y="4138924"/>
            <a:ext cx="4731378" cy="1867692"/>
            <a:chOff x="1385886" y="3434866"/>
            <a:chExt cx="6372225" cy="257175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5886" y="3434866"/>
              <a:ext cx="6372225" cy="2571750"/>
            </a:xfrm>
            <a:prstGeom prst="rect">
              <a:avLst/>
            </a:prstGeom>
          </p:spPr>
        </p:pic>
        <p:sp>
          <p:nvSpPr>
            <p:cNvPr id="3" name="矩形 2"/>
            <p:cNvSpPr/>
            <p:nvPr/>
          </p:nvSpPr>
          <p:spPr>
            <a:xfrm>
              <a:off x="1676476" y="3886188"/>
              <a:ext cx="914376" cy="457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zh-CN" altLang="en-US" sz="1400" dirty="0">
                  <a:solidFill>
                    <a:srgbClr val="000000"/>
                  </a:solidFill>
                  <a:latin typeface="Times New Roman"/>
                  <a:ea typeface="黑体"/>
                </a:rPr>
                <a:t>原文件</a:t>
              </a:r>
            </a:p>
          </p:txBody>
        </p:sp>
        <p:sp>
          <p:nvSpPr>
            <p:cNvPr id="6" name="矩形 5"/>
            <p:cNvSpPr/>
            <p:nvPr/>
          </p:nvSpPr>
          <p:spPr>
            <a:xfrm>
              <a:off x="1600278" y="5181554"/>
              <a:ext cx="914376" cy="457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zh-CN" altLang="en-US" sz="1400" dirty="0">
                  <a:solidFill>
                    <a:srgbClr val="000000"/>
                  </a:solidFill>
                  <a:latin typeface="Times New Roman"/>
                  <a:ea typeface="黑体"/>
                </a:rPr>
                <a:t>校验块</a:t>
              </a:r>
            </a:p>
          </p:txBody>
        </p:sp>
        <p:sp>
          <p:nvSpPr>
            <p:cNvPr id="7" name="矩形 6"/>
            <p:cNvSpPr/>
            <p:nvPr/>
          </p:nvSpPr>
          <p:spPr>
            <a:xfrm>
              <a:off x="3982732" y="4492146"/>
              <a:ext cx="457188" cy="6132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zh-CN" altLang="en-US" sz="1400" dirty="0">
                  <a:solidFill>
                    <a:srgbClr val="000000"/>
                  </a:solidFill>
                  <a:latin typeface="Times New Roman"/>
                  <a:ea typeface="黑体"/>
                </a:rPr>
                <a:t>生成</a:t>
              </a:r>
            </a:p>
          </p:txBody>
        </p:sp>
        <p:sp>
          <p:nvSpPr>
            <p:cNvPr id="8" name="矩形 7"/>
            <p:cNvSpPr/>
            <p:nvPr/>
          </p:nvSpPr>
          <p:spPr>
            <a:xfrm>
              <a:off x="6579578" y="4281235"/>
              <a:ext cx="914376" cy="457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zh-CN" altLang="en-US" sz="1400" dirty="0">
                  <a:solidFill>
                    <a:srgbClr val="000000"/>
                  </a:solidFill>
                  <a:latin typeface="Times New Roman"/>
                  <a:ea typeface="黑体"/>
                </a:rPr>
                <a:t>原文件</a:t>
              </a:r>
            </a:p>
          </p:txBody>
        </p:sp>
      </p:grpSp>
      <p:sp>
        <p:nvSpPr>
          <p:cNvPr id="9" name="文本框 8">
            <a:extLst>
              <a:ext uri="{FF2B5EF4-FFF2-40B4-BE49-F238E27FC236}">
                <a16:creationId xmlns:a16="http://schemas.microsoft.com/office/drawing/2014/main" id="{B31D5780-887E-89A2-91B3-372308C24E1A}"/>
              </a:ext>
            </a:extLst>
          </p:cNvPr>
          <p:cNvSpPr txBox="1"/>
          <p:nvPr/>
        </p:nvSpPr>
        <p:spPr>
          <a:xfrm>
            <a:off x="6258660" y="851384"/>
            <a:ext cx="5800013" cy="266213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sz="2200" dirty="0">
                <a:solidFill>
                  <a:srgbClr val="000000"/>
                </a:solidFill>
              </a:rPr>
              <a:t>        </a:t>
            </a:r>
            <a:r>
              <a:rPr lang="zh-CN" altLang="en-US" sz="2200" dirty="0">
                <a:solidFill>
                  <a:srgbClr val="FF0000"/>
                </a:solidFill>
              </a:rPr>
              <a:t>数据存储方面</a:t>
            </a:r>
            <a:r>
              <a:rPr lang="zh-CN" altLang="en-US" sz="2200" dirty="0">
                <a:solidFill>
                  <a:srgbClr val="000000"/>
                </a:solidFill>
              </a:rPr>
              <a:t>：纠删码的基本思想是“当冗余级别为</a:t>
            </a:r>
            <a:r>
              <a:rPr lang="en-US" altLang="zh-CN" sz="2200" dirty="0" err="1">
                <a:solidFill>
                  <a:srgbClr val="000000"/>
                </a:solidFill>
              </a:rPr>
              <a:t>n+m</a:t>
            </a:r>
            <a:r>
              <a:rPr lang="zh-CN" altLang="en-US" sz="2200" dirty="0">
                <a:solidFill>
                  <a:srgbClr val="000000"/>
                </a:solidFill>
              </a:rPr>
              <a:t>时，将这些</a:t>
            </a:r>
            <a:r>
              <a:rPr lang="zh-CN" altLang="en-US" sz="2200" dirty="0">
                <a:solidFill>
                  <a:srgbClr val="3333CC"/>
                </a:solidFill>
              </a:rPr>
              <a:t>数据块分别存放在</a:t>
            </a:r>
            <a:r>
              <a:rPr lang="en-US" altLang="zh-CN" sz="2200" dirty="0" err="1">
                <a:solidFill>
                  <a:srgbClr val="3333CC"/>
                </a:solidFill>
              </a:rPr>
              <a:t>n+m</a:t>
            </a:r>
            <a:r>
              <a:rPr lang="zh-CN" altLang="en-US" sz="2200" dirty="0">
                <a:solidFill>
                  <a:srgbClr val="3333CC"/>
                </a:solidFill>
              </a:rPr>
              <a:t>个硬盘</a:t>
            </a:r>
            <a:r>
              <a:rPr lang="zh-CN" altLang="en-US" sz="2200" dirty="0">
                <a:solidFill>
                  <a:srgbClr val="000000"/>
                </a:solidFill>
              </a:rPr>
              <a:t>上，这样就</a:t>
            </a:r>
            <a:r>
              <a:rPr lang="zh-CN" altLang="en-US" sz="2200" dirty="0">
                <a:solidFill>
                  <a:srgbClr val="3333CC"/>
                </a:solidFill>
              </a:rPr>
              <a:t>能容忍</a:t>
            </a:r>
            <a:r>
              <a:rPr lang="en-US" altLang="zh-CN" sz="2200" dirty="0">
                <a:solidFill>
                  <a:srgbClr val="3333CC"/>
                </a:solidFill>
              </a:rPr>
              <a:t>m</a:t>
            </a:r>
            <a:r>
              <a:rPr lang="zh-CN" altLang="en-US" sz="2200" dirty="0">
                <a:solidFill>
                  <a:srgbClr val="3333CC"/>
                </a:solidFill>
              </a:rPr>
              <a:t>个</a:t>
            </a:r>
            <a:r>
              <a:rPr lang="en-US" altLang="zh-CN" sz="2200" dirty="0">
                <a:solidFill>
                  <a:srgbClr val="3333CC"/>
                </a:solidFill>
              </a:rPr>
              <a:t>(</a:t>
            </a:r>
            <a:r>
              <a:rPr lang="zh-CN" altLang="en-US" sz="2200" dirty="0">
                <a:solidFill>
                  <a:srgbClr val="3333CC"/>
                </a:solidFill>
              </a:rPr>
              <a:t>假设初始数据有</a:t>
            </a:r>
            <a:r>
              <a:rPr lang="en-US" altLang="zh-CN" sz="2200" dirty="0">
                <a:solidFill>
                  <a:srgbClr val="3333CC"/>
                </a:solidFill>
              </a:rPr>
              <a:t>n</a:t>
            </a:r>
            <a:r>
              <a:rPr lang="zh-CN" altLang="en-US" sz="2200" dirty="0">
                <a:solidFill>
                  <a:srgbClr val="3333CC"/>
                </a:solidFill>
              </a:rPr>
              <a:t>个</a:t>
            </a:r>
            <a:r>
              <a:rPr lang="en-US" altLang="zh-CN" sz="2200" dirty="0">
                <a:solidFill>
                  <a:srgbClr val="3333CC"/>
                </a:solidFill>
              </a:rPr>
              <a:t>)</a:t>
            </a:r>
            <a:r>
              <a:rPr lang="zh-CN" altLang="en-US" sz="2200" dirty="0">
                <a:solidFill>
                  <a:srgbClr val="3333CC"/>
                </a:solidFill>
              </a:rPr>
              <a:t>硬盘发生故障</a:t>
            </a:r>
            <a:r>
              <a:rPr lang="zh-CN" altLang="en-US" sz="2200" dirty="0">
                <a:solidFill>
                  <a:srgbClr val="000000"/>
                </a:solidFill>
              </a:rPr>
              <a:t>。当不超过</a:t>
            </a:r>
            <a:r>
              <a:rPr lang="en-US" altLang="zh-CN" sz="2200" dirty="0">
                <a:solidFill>
                  <a:srgbClr val="000000"/>
                </a:solidFill>
              </a:rPr>
              <a:t>m</a:t>
            </a:r>
            <a:r>
              <a:rPr lang="zh-CN" altLang="en-US" sz="2200" dirty="0">
                <a:solidFill>
                  <a:srgbClr val="000000"/>
                </a:solidFill>
              </a:rPr>
              <a:t>个硬盘发生故障时，只需任意选取</a:t>
            </a:r>
            <a:r>
              <a:rPr lang="en-US" altLang="zh-CN" sz="2200" dirty="0">
                <a:solidFill>
                  <a:srgbClr val="000000"/>
                </a:solidFill>
              </a:rPr>
              <a:t>n</a:t>
            </a:r>
            <a:r>
              <a:rPr lang="zh-CN" altLang="en-US" sz="2200" dirty="0">
                <a:solidFill>
                  <a:srgbClr val="000000"/>
                </a:solidFill>
              </a:rPr>
              <a:t>个正常的数据块就能计算得到所有的原始数据。”</a:t>
            </a:r>
            <a:endParaRPr lang="zh-CN" altLang="en-US" sz="2200" dirty="0">
              <a:solidFill>
                <a:srgbClr val="000000"/>
              </a:solidFill>
              <a:sym typeface="+mn-ea"/>
            </a:endParaRPr>
          </a:p>
        </p:txBody>
      </p:sp>
      <p:pic>
        <p:nvPicPr>
          <p:cNvPr id="11" name="图片 10">
            <a:extLst>
              <a:ext uri="{FF2B5EF4-FFF2-40B4-BE49-F238E27FC236}">
                <a16:creationId xmlns:a16="http://schemas.microsoft.com/office/drawing/2014/main" id="{5E2C7B0C-2646-51FD-D6D7-2A75DFDAA0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1" y="3571683"/>
            <a:ext cx="5515730" cy="3002173"/>
          </a:xfrm>
          <a:prstGeom prst="rect">
            <a:avLst/>
          </a:prstGeom>
        </p:spPr>
      </p:pic>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基本名词术语</a:t>
            </a:r>
          </a:p>
        </p:txBody>
      </p:sp>
      <p:sp>
        <p:nvSpPr>
          <p:cNvPr id="14" name="文本框 13"/>
          <p:cNvSpPr txBox="1"/>
          <p:nvPr/>
        </p:nvSpPr>
        <p:spPr>
          <a:xfrm>
            <a:off x="163597" y="791873"/>
            <a:ext cx="11737780" cy="1424621"/>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2200" dirty="0">
                <a:solidFill>
                  <a:srgbClr val="FF0000"/>
                </a:solidFill>
              </a:rPr>
              <a:t>        单元</a:t>
            </a:r>
            <a:r>
              <a:rPr lang="en-US" altLang="zh-CN" sz="2200" dirty="0">
                <a:solidFill>
                  <a:srgbClr val="000000"/>
                </a:solidFill>
              </a:rPr>
              <a:t>(Element)</a:t>
            </a:r>
            <a:r>
              <a:rPr lang="zh-CN" altLang="en-US" sz="2200" dirty="0">
                <a:solidFill>
                  <a:srgbClr val="000000"/>
                </a:solidFill>
              </a:rPr>
              <a:t>是用户数据或校验的一个基本单位，可以是一个比特</a:t>
            </a:r>
            <a:r>
              <a:rPr lang="en-US" altLang="zh-CN" sz="2200" dirty="0">
                <a:solidFill>
                  <a:srgbClr val="000000"/>
                </a:solidFill>
              </a:rPr>
              <a:t>(Bit)</a:t>
            </a:r>
            <a:r>
              <a:rPr lang="zh-CN" altLang="en-US" sz="2200" dirty="0">
                <a:solidFill>
                  <a:srgbClr val="000000"/>
                </a:solidFill>
              </a:rPr>
              <a:t>、一个字节</a:t>
            </a:r>
            <a:r>
              <a:rPr lang="en-US" altLang="zh-CN" sz="2200" dirty="0">
                <a:solidFill>
                  <a:srgbClr val="000000"/>
                </a:solidFill>
              </a:rPr>
              <a:t>(Byte)</a:t>
            </a:r>
            <a:r>
              <a:rPr lang="zh-CN" altLang="en-US" sz="2200" dirty="0">
                <a:solidFill>
                  <a:srgbClr val="000000"/>
                </a:solidFill>
              </a:rPr>
              <a:t>、一个扇区</a:t>
            </a:r>
            <a:r>
              <a:rPr lang="en-US" altLang="zh-CN" sz="2200" dirty="0">
                <a:solidFill>
                  <a:srgbClr val="000000"/>
                </a:solidFill>
              </a:rPr>
              <a:t>(Sector)</a:t>
            </a:r>
            <a:r>
              <a:rPr lang="zh-CN" altLang="en-US" sz="2200" dirty="0">
                <a:solidFill>
                  <a:srgbClr val="000000"/>
                </a:solidFill>
              </a:rPr>
              <a:t>或一个更大的磁盘数据块。它是纠删码的构造块</a:t>
            </a:r>
            <a:r>
              <a:rPr lang="en-US" altLang="zh-CN" sz="2200" dirty="0">
                <a:solidFill>
                  <a:srgbClr val="000000"/>
                </a:solidFill>
              </a:rPr>
              <a:t>(Building Block)</a:t>
            </a:r>
            <a:r>
              <a:rPr lang="zh-CN" altLang="en-US" sz="2200" dirty="0">
                <a:solidFill>
                  <a:srgbClr val="000000"/>
                </a:solidFill>
              </a:rPr>
              <a:t>。在编码理论中，它对应于码符号</a:t>
            </a:r>
            <a:r>
              <a:rPr lang="en-US" altLang="zh-CN" sz="2200" dirty="0">
                <a:solidFill>
                  <a:srgbClr val="000000"/>
                </a:solidFill>
              </a:rPr>
              <a:t>(Code Symbol)</a:t>
            </a:r>
            <a:r>
              <a:rPr lang="zh-CN" altLang="en-US" sz="2200" dirty="0">
                <a:solidFill>
                  <a:srgbClr val="000000"/>
                </a:solidFill>
              </a:rPr>
              <a:t>中的一个比特。</a:t>
            </a:r>
            <a:endParaRPr lang="zh-CN" altLang="en-US" sz="2200" dirty="0">
              <a:solidFill>
                <a:srgbClr val="000000"/>
              </a:solidFill>
              <a:sym typeface="+mn-ea"/>
            </a:endParaRPr>
          </a:p>
        </p:txBody>
      </p:sp>
      <p:grpSp>
        <p:nvGrpSpPr>
          <p:cNvPr id="3" name="组合 2"/>
          <p:cNvGrpSpPr/>
          <p:nvPr/>
        </p:nvGrpSpPr>
        <p:grpSpPr>
          <a:xfrm>
            <a:off x="8368997" y="2601044"/>
            <a:ext cx="3532380" cy="2864713"/>
            <a:chOff x="381110" y="1937359"/>
            <a:chExt cx="4512945" cy="3469590"/>
          </a:xfrm>
        </p:grpSpPr>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6908" r="6220"/>
            <a:stretch>
              <a:fillRect/>
            </a:stretch>
          </p:blipFill>
          <p:spPr>
            <a:xfrm>
              <a:off x="381110" y="1937359"/>
              <a:ext cx="4512945" cy="2983282"/>
            </a:xfrm>
            <a:prstGeom prst="rect">
              <a:avLst/>
            </a:prstGeom>
          </p:spPr>
        </p:pic>
        <p:sp>
          <p:nvSpPr>
            <p:cNvPr id="5" name="文本框 4"/>
            <p:cNvSpPr txBox="1"/>
            <p:nvPr/>
          </p:nvSpPr>
          <p:spPr>
            <a:xfrm>
              <a:off x="1620839" y="4888264"/>
              <a:ext cx="2666459" cy="51868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000000"/>
                  </a:solidFill>
                </a:rPr>
                <a:t>用户数据分布图</a:t>
              </a:r>
              <a:endParaRPr lang="zh-CN" altLang="en-US" dirty="0">
                <a:solidFill>
                  <a:srgbClr val="000000"/>
                </a:solidFill>
                <a:sym typeface="+mn-ea"/>
              </a:endParaRPr>
            </a:p>
          </p:txBody>
        </p:sp>
      </p:grpSp>
      <p:sp>
        <p:nvSpPr>
          <p:cNvPr id="6" name="文本框 5">
            <a:extLst>
              <a:ext uri="{FF2B5EF4-FFF2-40B4-BE49-F238E27FC236}">
                <a16:creationId xmlns:a16="http://schemas.microsoft.com/office/drawing/2014/main" id="{BD2A392D-1062-9D2B-9528-84ABB30F49FD}"/>
              </a:ext>
            </a:extLst>
          </p:cNvPr>
          <p:cNvSpPr txBox="1"/>
          <p:nvPr/>
        </p:nvSpPr>
        <p:spPr>
          <a:xfrm>
            <a:off x="163597" y="2216494"/>
            <a:ext cx="7895882" cy="189199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2200" dirty="0">
                <a:solidFill>
                  <a:srgbClr val="FF0000"/>
                </a:solidFill>
              </a:rPr>
              <a:t>        条带</a:t>
            </a:r>
            <a:r>
              <a:rPr lang="en-US" altLang="zh-CN" sz="2200" dirty="0">
                <a:solidFill>
                  <a:srgbClr val="000000"/>
                </a:solidFill>
              </a:rPr>
              <a:t>(Stripe)</a:t>
            </a:r>
            <a:r>
              <a:rPr lang="zh-CN" altLang="en-US" sz="2200" dirty="0">
                <a:solidFill>
                  <a:srgbClr val="000000"/>
                </a:solidFill>
              </a:rPr>
              <a:t>是一个由用户数据单元和校验单元组成的具有独立编码关系的集合。在编码理论中，它对应于一个码字</a:t>
            </a:r>
            <a:r>
              <a:rPr lang="en-US" altLang="zh-CN" sz="2200" dirty="0">
                <a:solidFill>
                  <a:srgbClr val="000000"/>
                </a:solidFill>
              </a:rPr>
              <a:t>(Code Word)</a:t>
            </a:r>
            <a:r>
              <a:rPr lang="zh-CN" altLang="en-US" sz="2200" dirty="0">
                <a:solidFill>
                  <a:srgbClr val="000000"/>
                </a:solidFill>
              </a:rPr>
              <a:t>。这里，条带长度</a:t>
            </a:r>
            <a:r>
              <a:rPr lang="en-US" altLang="zh-CN" sz="2200" dirty="0">
                <a:solidFill>
                  <a:srgbClr val="000000"/>
                </a:solidFill>
              </a:rPr>
              <a:t>(Stripe Length)</a:t>
            </a:r>
            <a:r>
              <a:rPr lang="zh-CN" altLang="en-US" sz="2200" dirty="0">
                <a:solidFill>
                  <a:srgbClr val="000000"/>
                </a:solidFill>
              </a:rPr>
              <a:t>定义为一个条带所跨越的磁盘个数，记为</a:t>
            </a:r>
            <a:r>
              <a:rPr lang="en-US" altLang="zh-CN" sz="2200" dirty="0">
                <a:solidFill>
                  <a:srgbClr val="000000"/>
                </a:solidFill>
              </a:rPr>
              <a:t>n</a:t>
            </a:r>
            <a:r>
              <a:rPr lang="zh-CN" altLang="en-US" sz="2200" dirty="0">
                <a:solidFill>
                  <a:srgbClr val="000000"/>
                </a:solidFill>
              </a:rPr>
              <a:t>。</a:t>
            </a:r>
            <a:endParaRPr lang="zh-CN" altLang="en-US" sz="2200" dirty="0">
              <a:solidFill>
                <a:srgbClr val="000000"/>
              </a:solidFill>
              <a:sym typeface="+mn-ea"/>
            </a:endParaRPr>
          </a:p>
        </p:txBody>
      </p:sp>
      <p:sp>
        <p:nvSpPr>
          <p:cNvPr id="7" name="文本框 6">
            <a:extLst>
              <a:ext uri="{FF2B5EF4-FFF2-40B4-BE49-F238E27FC236}">
                <a16:creationId xmlns:a16="http://schemas.microsoft.com/office/drawing/2014/main" id="{2D1E1E1D-CD5B-EE1D-F6A4-C43E749EE4C8}"/>
              </a:ext>
            </a:extLst>
          </p:cNvPr>
          <p:cNvSpPr txBox="1"/>
          <p:nvPr/>
        </p:nvSpPr>
        <p:spPr>
          <a:xfrm>
            <a:off x="163597" y="4174134"/>
            <a:ext cx="8000910" cy="189199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2200" dirty="0">
                <a:solidFill>
                  <a:srgbClr val="FF0000"/>
                </a:solidFill>
              </a:rPr>
              <a:t>        条块</a:t>
            </a:r>
            <a:r>
              <a:rPr lang="en-US" altLang="zh-CN" sz="2200" dirty="0">
                <a:solidFill>
                  <a:srgbClr val="000000"/>
                </a:solidFill>
              </a:rPr>
              <a:t>(Strip)</a:t>
            </a:r>
            <a:r>
              <a:rPr lang="zh-CN" altLang="en-US" sz="2200" dirty="0">
                <a:solidFill>
                  <a:srgbClr val="000000"/>
                </a:solidFill>
              </a:rPr>
              <a:t>是一个条带中存储在同一个磁盘上的所有单元组成的集合。在编码理论中，它对应于码字中的一个码符号。这里，条块宽度</a:t>
            </a:r>
            <a:r>
              <a:rPr lang="en-US" altLang="zh-CN" sz="2200" dirty="0">
                <a:solidFill>
                  <a:srgbClr val="000000"/>
                </a:solidFill>
              </a:rPr>
              <a:t>(Strip Width)</a:t>
            </a:r>
            <a:r>
              <a:rPr lang="zh-CN" altLang="en-US" sz="2200" dirty="0">
                <a:solidFill>
                  <a:srgbClr val="000000"/>
                </a:solidFill>
              </a:rPr>
              <a:t>定义为一个条块中包含的单元个数，记为</a:t>
            </a:r>
            <a:r>
              <a:rPr lang="en-US" altLang="zh-CN" sz="2200" dirty="0">
                <a:solidFill>
                  <a:srgbClr val="000000"/>
                </a:solidFill>
              </a:rPr>
              <a:t>w</a:t>
            </a:r>
            <a:r>
              <a:rPr lang="zh-CN" altLang="en-US" sz="2200" dirty="0">
                <a:solidFill>
                  <a:srgbClr val="000000"/>
                </a:solidFill>
              </a:rPr>
              <a:t>。</a:t>
            </a:r>
            <a:endParaRPr lang="zh-CN" altLang="en-US" sz="2200" dirty="0">
              <a:solidFill>
                <a:srgbClr val="000000"/>
              </a:solidFill>
              <a:sym typeface="+mn-ea"/>
            </a:endParaRPr>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柯西矩阵、范德蒙矩阵、二部图</a:t>
            </a:r>
          </a:p>
        </p:txBody>
      </p:sp>
      <p:sp>
        <p:nvSpPr>
          <p:cNvPr id="14" name="文本框 13"/>
          <p:cNvSpPr txBox="1"/>
          <p:nvPr/>
        </p:nvSpPr>
        <p:spPr>
          <a:xfrm>
            <a:off x="346533" y="1014249"/>
            <a:ext cx="5175310" cy="327128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2200" dirty="0">
                <a:solidFill>
                  <a:srgbClr val="FF0000"/>
                </a:solidFill>
              </a:rPr>
              <a:t>        二部图</a:t>
            </a:r>
            <a:r>
              <a:rPr lang="zh-CN" altLang="en-US" sz="2200" dirty="0">
                <a:solidFill>
                  <a:srgbClr val="000000"/>
                </a:solidFill>
              </a:rPr>
              <a:t>又称为二分图，是图论中的一种特殊模型。设</a:t>
            </a:r>
            <a:r>
              <a:rPr lang="en-US" altLang="zh-CN" sz="2200" i="1" dirty="0">
                <a:solidFill>
                  <a:srgbClr val="000000"/>
                </a:solidFill>
              </a:rPr>
              <a:t>G</a:t>
            </a:r>
            <a:r>
              <a:rPr lang="en-US" altLang="zh-CN" sz="2200" dirty="0">
                <a:solidFill>
                  <a:srgbClr val="000000"/>
                </a:solidFill>
              </a:rPr>
              <a:t>=(</a:t>
            </a:r>
            <a:r>
              <a:rPr lang="en-US" altLang="zh-CN" sz="2200" i="1" dirty="0">
                <a:solidFill>
                  <a:srgbClr val="000000"/>
                </a:solidFill>
              </a:rPr>
              <a:t>V</a:t>
            </a:r>
            <a:r>
              <a:rPr lang="en-US" altLang="zh-CN" sz="2200" dirty="0">
                <a:solidFill>
                  <a:srgbClr val="000000"/>
                </a:solidFill>
              </a:rPr>
              <a:t>,</a:t>
            </a:r>
            <a:r>
              <a:rPr lang="en-US" altLang="zh-CN" sz="2200" i="1" dirty="0">
                <a:solidFill>
                  <a:srgbClr val="000000"/>
                </a:solidFill>
              </a:rPr>
              <a:t>E</a:t>
            </a:r>
            <a:r>
              <a:rPr lang="en-US" altLang="zh-CN" sz="2200" dirty="0">
                <a:solidFill>
                  <a:srgbClr val="000000"/>
                </a:solidFill>
              </a:rPr>
              <a:t>)</a:t>
            </a:r>
            <a:r>
              <a:rPr lang="zh-CN" altLang="en-US" sz="2200" dirty="0">
                <a:solidFill>
                  <a:srgbClr val="000000"/>
                </a:solidFill>
              </a:rPr>
              <a:t>是一个无向图，如果顶点</a:t>
            </a:r>
            <a:r>
              <a:rPr lang="en-US" altLang="zh-CN" sz="2200" i="1" dirty="0">
                <a:solidFill>
                  <a:srgbClr val="000000"/>
                </a:solidFill>
              </a:rPr>
              <a:t>V</a:t>
            </a:r>
            <a:r>
              <a:rPr lang="zh-CN" altLang="en-US" sz="2200" dirty="0">
                <a:solidFill>
                  <a:srgbClr val="000000"/>
                </a:solidFill>
              </a:rPr>
              <a:t>可以分割为两个互不相交的子集</a:t>
            </a:r>
            <a:r>
              <a:rPr lang="en-US" altLang="zh-CN" sz="2200" dirty="0">
                <a:solidFill>
                  <a:srgbClr val="000000"/>
                </a:solidFill>
              </a:rPr>
              <a:t>(</a:t>
            </a:r>
            <a:r>
              <a:rPr lang="en-US" altLang="zh-CN" sz="2200" i="1" dirty="0">
                <a:solidFill>
                  <a:srgbClr val="000000"/>
                </a:solidFill>
              </a:rPr>
              <a:t>U</a:t>
            </a:r>
            <a:r>
              <a:rPr lang="en-US" altLang="zh-CN" sz="2200" dirty="0">
                <a:solidFill>
                  <a:srgbClr val="000000"/>
                </a:solidFill>
              </a:rPr>
              <a:t>,</a:t>
            </a:r>
            <a:r>
              <a:rPr lang="en-US" altLang="zh-CN" sz="2200" i="1" dirty="0">
                <a:solidFill>
                  <a:srgbClr val="000000"/>
                </a:solidFill>
              </a:rPr>
              <a:t>V</a:t>
            </a:r>
            <a:r>
              <a:rPr lang="en-US" altLang="zh-CN" sz="2200" dirty="0">
                <a:solidFill>
                  <a:srgbClr val="000000"/>
                </a:solidFill>
              </a:rPr>
              <a:t>)</a:t>
            </a:r>
            <a:r>
              <a:rPr lang="zh-CN" altLang="en-US" sz="2200" dirty="0">
                <a:solidFill>
                  <a:srgbClr val="000000"/>
                </a:solidFill>
              </a:rPr>
              <a:t>，并且图中每条边</a:t>
            </a:r>
            <a:r>
              <a:rPr lang="en-US" altLang="zh-CN" sz="2200" dirty="0">
                <a:solidFill>
                  <a:srgbClr val="000000"/>
                </a:solidFill>
              </a:rPr>
              <a:t>(</a:t>
            </a:r>
            <a:r>
              <a:rPr lang="en-US" altLang="zh-CN" sz="2200" i="1" dirty="0" err="1">
                <a:solidFill>
                  <a:srgbClr val="000000"/>
                </a:solidFill>
              </a:rPr>
              <a:t>i</a:t>
            </a:r>
            <a:r>
              <a:rPr lang="en-US" altLang="zh-CN" sz="2200" dirty="0" err="1">
                <a:solidFill>
                  <a:srgbClr val="000000"/>
                </a:solidFill>
              </a:rPr>
              <a:t>,</a:t>
            </a:r>
            <a:r>
              <a:rPr lang="en-US" altLang="zh-CN" sz="2200" i="1" dirty="0" err="1">
                <a:solidFill>
                  <a:srgbClr val="000000"/>
                </a:solidFill>
              </a:rPr>
              <a:t>j</a:t>
            </a:r>
            <a:r>
              <a:rPr lang="en-US" altLang="zh-CN" sz="2200" dirty="0">
                <a:solidFill>
                  <a:srgbClr val="000000"/>
                </a:solidFill>
              </a:rPr>
              <a:t>)</a:t>
            </a:r>
            <a:r>
              <a:rPr lang="zh-CN" altLang="en-US" sz="2200" dirty="0">
                <a:solidFill>
                  <a:srgbClr val="000000"/>
                </a:solidFill>
              </a:rPr>
              <a:t>所关联的两个顶点</a:t>
            </a:r>
            <a:r>
              <a:rPr lang="en-US" altLang="zh-CN" sz="2200" dirty="0" err="1">
                <a:solidFill>
                  <a:srgbClr val="000000"/>
                </a:solidFill>
              </a:rPr>
              <a:t>i</a:t>
            </a:r>
            <a:r>
              <a:rPr lang="zh-CN" altLang="en-US" sz="2200" dirty="0">
                <a:solidFill>
                  <a:srgbClr val="000000"/>
                </a:solidFill>
              </a:rPr>
              <a:t>和</a:t>
            </a:r>
            <a:r>
              <a:rPr lang="en-US" altLang="zh-CN" sz="2200" dirty="0">
                <a:solidFill>
                  <a:srgbClr val="000000"/>
                </a:solidFill>
              </a:rPr>
              <a:t>j</a:t>
            </a:r>
            <a:r>
              <a:rPr lang="zh-CN" altLang="en-US" sz="2200" dirty="0">
                <a:solidFill>
                  <a:srgbClr val="000000"/>
                </a:solidFill>
              </a:rPr>
              <a:t>分别属于这两个不同的顶点集</a:t>
            </a:r>
            <a:r>
              <a:rPr lang="en-US" altLang="zh-CN" sz="2200" dirty="0">
                <a:solidFill>
                  <a:srgbClr val="000000"/>
                </a:solidFill>
              </a:rPr>
              <a:t>(</a:t>
            </a:r>
            <a:r>
              <a:rPr lang="en-US" altLang="zh-CN" sz="2200" i="1" dirty="0" err="1">
                <a:solidFill>
                  <a:srgbClr val="000000"/>
                </a:solidFill>
              </a:rPr>
              <a:t>i</a:t>
            </a:r>
            <a:r>
              <a:rPr lang="en-US" altLang="zh-CN" sz="2200" i="1" dirty="0">
                <a:solidFill>
                  <a:srgbClr val="000000"/>
                </a:solidFill>
              </a:rPr>
              <a:t> in U</a:t>
            </a:r>
            <a:r>
              <a:rPr lang="zh-CN" altLang="en-US" sz="2200" i="1" dirty="0">
                <a:solidFill>
                  <a:srgbClr val="000000"/>
                </a:solidFill>
              </a:rPr>
              <a:t>，</a:t>
            </a:r>
            <a:r>
              <a:rPr lang="en-US" altLang="zh-CN" sz="2200" i="1" dirty="0">
                <a:solidFill>
                  <a:srgbClr val="000000"/>
                </a:solidFill>
              </a:rPr>
              <a:t>j in V</a:t>
            </a:r>
            <a:r>
              <a:rPr lang="en-US" altLang="zh-CN" sz="2200" dirty="0">
                <a:solidFill>
                  <a:srgbClr val="000000"/>
                </a:solidFill>
              </a:rPr>
              <a:t>)</a:t>
            </a:r>
            <a:r>
              <a:rPr lang="zh-CN" altLang="en-US" sz="2200" dirty="0">
                <a:solidFill>
                  <a:srgbClr val="000000"/>
                </a:solidFill>
              </a:rPr>
              <a:t>，则称图</a:t>
            </a:r>
            <a:r>
              <a:rPr lang="en-US" altLang="zh-CN" sz="2200" dirty="0">
                <a:solidFill>
                  <a:srgbClr val="000000"/>
                </a:solidFill>
              </a:rPr>
              <a:t>G</a:t>
            </a:r>
            <a:r>
              <a:rPr lang="zh-CN" altLang="en-US" sz="2200" dirty="0">
                <a:solidFill>
                  <a:srgbClr val="000000"/>
                </a:solidFill>
              </a:rPr>
              <a:t>是一个二部图。</a:t>
            </a:r>
            <a:endParaRPr lang="zh-CN" altLang="en-US" sz="2200" dirty="0">
              <a:solidFill>
                <a:srgbClr val="000000"/>
              </a:solidFill>
              <a:sym typeface="+mn-ea"/>
            </a:endParaRPr>
          </a:p>
        </p:txBody>
      </p:sp>
      <p:grpSp>
        <p:nvGrpSpPr>
          <p:cNvPr id="3" name="组合 2"/>
          <p:cNvGrpSpPr/>
          <p:nvPr/>
        </p:nvGrpSpPr>
        <p:grpSpPr>
          <a:xfrm>
            <a:off x="995481" y="3955312"/>
            <a:ext cx="3427664" cy="2718391"/>
            <a:chOff x="2838457" y="3124208"/>
            <a:chExt cx="3467084" cy="3612853"/>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8457" y="3124208"/>
              <a:ext cx="3467084" cy="346708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4038614" y="6232307"/>
              <a:ext cx="1371563" cy="50475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000000"/>
                  </a:solidFill>
                </a:rPr>
                <a:t>二部图示例</a:t>
              </a:r>
              <a:endParaRPr lang="zh-CN" altLang="en-US" sz="2200" dirty="0">
                <a:solidFill>
                  <a:srgbClr val="000000"/>
                </a:solidFill>
                <a:sym typeface="+mn-ea"/>
              </a:endParaRPr>
            </a:p>
          </p:txBody>
        </p:sp>
      </p:gr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B8F71DE-3C94-A6D9-66EB-9D49DEF0D13A}"/>
                  </a:ext>
                </a:extLst>
              </p:cNvPr>
              <p:cNvSpPr txBox="1"/>
              <p:nvPr/>
            </p:nvSpPr>
            <p:spPr>
              <a:xfrm>
                <a:off x="5963921" y="1066862"/>
                <a:ext cx="5717716" cy="146418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2200" dirty="0">
                    <a:solidFill>
                      <a:srgbClr val="FF0000"/>
                    </a:solidFill>
                    <a:latin typeface="Times New Roman"/>
                  </a:rPr>
                  <a:t>       范德蒙矩阵</a:t>
                </a:r>
                <a:r>
                  <a:rPr lang="zh-CN" altLang="en-US" sz="2200" dirty="0">
                    <a:solidFill>
                      <a:srgbClr val="000000"/>
                    </a:solidFill>
                    <a:latin typeface="Times New Roman"/>
                  </a:rPr>
                  <a:t>是法国数学家范德蒙提出的一种各列为几何级数的矩阵。</a:t>
                </a:r>
                <a:endParaRPr lang="en-US" altLang="zh-CN" sz="2200" dirty="0">
                  <a:solidFill>
                    <a:srgbClr val="000000"/>
                  </a:solidFill>
                  <a:latin typeface="Times New Roman"/>
                </a:endParaRPr>
              </a:p>
              <a:p>
                <a:pPr eaLnBrk="0" fontAlgn="base" hangingPunct="0">
                  <a:lnSpc>
                    <a:spcPts val="3600"/>
                  </a:lnSpc>
                  <a:spcBef>
                    <a:spcPct val="0"/>
                  </a:spcBef>
                  <a:spcAft>
                    <a:spcPct val="0"/>
                  </a:spcAft>
                </a:pPr>
                <a:r>
                  <a:rPr lang="en-US" altLang="zh-CN" sz="2200" dirty="0">
                    <a:solidFill>
                      <a:srgbClr val="333333"/>
                    </a:solidFill>
                    <a:latin typeface="Times New Roman"/>
                  </a:rPr>
                  <a:t>         </a:t>
                </a:r>
                <a:r>
                  <a:rPr lang="zh-CN" altLang="en-US" sz="2200" dirty="0">
                    <a:solidFill>
                      <a:srgbClr val="000000"/>
                    </a:solidFill>
                    <a:latin typeface="Times New Roman"/>
                  </a:rPr>
                  <a:t>该矩阵第</a:t>
                </a:r>
                <a:r>
                  <a:rPr lang="en-US" altLang="zh-CN" sz="2200" dirty="0" err="1">
                    <a:solidFill>
                      <a:srgbClr val="000000"/>
                    </a:solidFill>
                    <a:latin typeface="Times New Roman"/>
                  </a:rPr>
                  <a:t>i</a:t>
                </a:r>
                <a:r>
                  <a:rPr lang="zh-CN" altLang="en-US" sz="2200" dirty="0">
                    <a:solidFill>
                      <a:srgbClr val="000000"/>
                    </a:solidFill>
                    <a:latin typeface="Times New Roman"/>
                  </a:rPr>
                  <a:t>行、第</a:t>
                </a:r>
                <a:r>
                  <a:rPr lang="en-US" altLang="zh-CN" sz="2200" dirty="0">
                    <a:solidFill>
                      <a:srgbClr val="000000"/>
                    </a:solidFill>
                    <a:latin typeface="Times New Roman"/>
                  </a:rPr>
                  <a:t>j</a:t>
                </a:r>
                <a:r>
                  <a:rPr lang="zh-CN" altLang="en-US" sz="2200" dirty="0">
                    <a:solidFill>
                      <a:srgbClr val="000000"/>
                    </a:solidFill>
                    <a:latin typeface="Times New Roman"/>
                  </a:rPr>
                  <a:t>列可以表示为</a:t>
                </a:r>
                <a14:m>
                  <m:oMath xmlns:m="http://schemas.openxmlformats.org/officeDocument/2006/math">
                    <m:sSubSup>
                      <m:sSubSupPr>
                        <m:ctrlPr>
                          <a:rPr lang="en-US" altLang="zh-CN" sz="2200" i="1">
                            <a:solidFill>
                              <a:srgbClr val="000000"/>
                            </a:solidFill>
                            <a:latin typeface="Cambria Math" panose="02040503050406030204" pitchFamily="18" charset="0"/>
                          </a:rPr>
                        </m:ctrlPr>
                      </m:sSubSupPr>
                      <m:e>
                        <m:r>
                          <a:rPr lang="en-US" altLang="zh-CN" sz="2200" i="1">
                            <a:solidFill>
                              <a:srgbClr val="000000"/>
                            </a:solidFill>
                            <a:latin typeface="Cambria Math" panose="02040503050406030204" pitchFamily="18" charset="0"/>
                          </a:rPr>
                          <m:t>𝑔</m:t>
                        </m:r>
                      </m:e>
                      <m:sub>
                        <m:r>
                          <a:rPr lang="en-US" altLang="zh-CN" sz="2200" i="1">
                            <a:solidFill>
                              <a:srgbClr val="000000"/>
                            </a:solidFill>
                            <a:latin typeface="Cambria Math" panose="02040503050406030204" pitchFamily="18" charset="0"/>
                          </a:rPr>
                          <m:t>𝑗</m:t>
                        </m:r>
                        <m:r>
                          <a:rPr lang="en-US" altLang="zh-CN" sz="2200" i="1">
                            <a:solidFill>
                              <a:srgbClr val="000000"/>
                            </a:solidFill>
                            <a:latin typeface="Cambria Math" panose="02040503050406030204" pitchFamily="18" charset="0"/>
                          </a:rPr>
                          <m:t>−1</m:t>
                        </m:r>
                      </m:sub>
                      <m:sup>
                        <m:r>
                          <a:rPr lang="en-US" altLang="zh-CN" sz="2200" i="1">
                            <a:solidFill>
                              <a:srgbClr val="000000"/>
                            </a:solidFill>
                            <a:latin typeface="Cambria Math" panose="02040503050406030204" pitchFamily="18" charset="0"/>
                          </a:rPr>
                          <m:t>𝑖</m:t>
                        </m:r>
                      </m:sup>
                    </m:sSubSup>
                  </m:oMath>
                </a14:m>
                <a:r>
                  <a:rPr lang="zh-CN" altLang="en-US" sz="2200" dirty="0">
                    <a:solidFill>
                      <a:srgbClr val="000000"/>
                    </a:solidFill>
                    <a:latin typeface="Times New Roman"/>
                  </a:rPr>
                  <a:t>。</a:t>
                </a:r>
                <a:endParaRPr lang="en-US" altLang="zh-CN" sz="2200" dirty="0">
                  <a:solidFill>
                    <a:srgbClr val="000000"/>
                  </a:solidFill>
                  <a:latin typeface="Times New Roman"/>
                  <a:sym typeface="+mn-ea"/>
                </a:endParaRPr>
              </a:p>
            </p:txBody>
          </p:sp>
        </mc:Choice>
        <mc:Fallback xmlns="">
          <p:sp>
            <p:nvSpPr>
              <p:cNvPr id="4" name="文本框 3">
                <a:extLst>
                  <a:ext uri="{FF2B5EF4-FFF2-40B4-BE49-F238E27FC236}">
                    <a16:creationId xmlns:a16="http://schemas.microsoft.com/office/drawing/2014/main" id="{EB8F71DE-3C94-A6D9-66EB-9D49DEF0D13A}"/>
                  </a:ext>
                </a:extLst>
              </p:cNvPr>
              <p:cNvSpPr txBox="1">
                <a:spLocks noRot="1" noChangeAspect="1" noMove="1" noResize="1" noEditPoints="1" noAdjustHandles="1" noChangeArrowheads="1" noChangeShapeType="1" noTextEdit="1"/>
              </p:cNvSpPr>
              <p:nvPr/>
            </p:nvSpPr>
            <p:spPr>
              <a:xfrm>
                <a:off x="5963921" y="1066862"/>
                <a:ext cx="5717716" cy="1464183"/>
              </a:xfrm>
              <a:prstGeom prst="rect">
                <a:avLst/>
              </a:prstGeom>
              <a:blipFill>
                <a:blip r:embed="rId3"/>
                <a:stretch>
                  <a:fillRect l="-1386" r="-1386" b="-5000"/>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113D12B0-2006-43AE-65A4-5034CB787B1B}"/>
              </a:ext>
            </a:extLst>
          </p:cNvPr>
          <p:cNvGrpSpPr/>
          <p:nvPr/>
        </p:nvGrpSpPr>
        <p:grpSpPr>
          <a:xfrm>
            <a:off x="5791199" y="2649889"/>
            <a:ext cx="2843908" cy="2035299"/>
            <a:chOff x="197097" y="2157780"/>
            <a:chExt cx="4867275" cy="3668810"/>
          </a:xfrm>
        </p:grpSpPr>
        <p:sp>
          <p:nvSpPr>
            <p:cNvPr id="7" name="文本框 6">
              <a:extLst>
                <a:ext uri="{FF2B5EF4-FFF2-40B4-BE49-F238E27FC236}">
                  <a16:creationId xmlns:a16="http://schemas.microsoft.com/office/drawing/2014/main" id="{1FEC9D36-6549-2EB2-0A95-050DBAE8E0CD}"/>
                </a:ext>
              </a:extLst>
            </p:cNvPr>
            <p:cNvSpPr txBox="1"/>
            <p:nvPr/>
          </p:nvSpPr>
          <p:spPr>
            <a:xfrm>
              <a:off x="1335368" y="5105356"/>
              <a:ext cx="2590732" cy="721234"/>
            </a:xfrm>
            <a:prstGeom prst="rect">
              <a:avLst/>
            </a:prstGeom>
            <a:noFill/>
          </p:spPr>
          <p:txBody>
            <a:bodyPr wrap="square" rtlCol="0" anchor="t">
              <a:spAutoFit/>
            </a:bodyPr>
            <a:lstStyle/>
            <a:p>
              <a:pPr eaLnBrk="0" fontAlgn="base" hangingPunct="0">
                <a:spcBef>
                  <a:spcPct val="0"/>
                </a:spcBef>
                <a:spcAft>
                  <a:spcPct val="0"/>
                </a:spcAft>
              </a:pPr>
              <a:endParaRPr lang="zh-CN" altLang="en-US" sz="2000" dirty="0">
                <a:solidFill>
                  <a:srgbClr val="333333"/>
                </a:solidFill>
                <a:latin typeface="Arial" panose="020B0604020202020204" pitchFamily="34" charset="0"/>
                <a:ea typeface="黑体" panose="02010609060101010101" pitchFamily="49" charset="-122"/>
                <a:sym typeface="+mn-ea"/>
              </a:endParaRPr>
            </a:p>
          </p:txBody>
        </p:sp>
        <p:pic>
          <p:nvPicPr>
            <p:cNvPr id="8" name="图片 7">
              <a:extLst>
                <a:ext uri="{FF2B5EF4-FFF2-40B4-BE49-F238E27FC236}">
                  <a16:creationId xmlns:a16="http://schemas.microsoft.com/office/drawing/2014/main" id="{40589CB4-1444-B021-604A-52EBE5A9BA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7097" y="2157780"/>
              <a:ext cx="4867275" cy="2857500"/>
            </a:xfrm>
            <a:prstGeom prst="rect">
              <a:avLst/>
            </a:prstGeom>
          </p:spPr>
        </p:pic>
      </p:grpSp>
      <p:sp>
        <p:nvSpPr>
          <p:cNvPr id="9" name="文本框 8">
            <a:extLst>
              <a:ext uri="{FF2B5EF4-FFF2-40B4-BE49-F238E27FC236}">
                <a16:creationId xmlns:a16="http://schemas.microsoft.com/office/drawing/2014/main" id="{397E97D4-8902-F6DC-2A03-A93BCFA79DBC}"/>
              </a:ext>
            </a:extLst>
          </p:cNvPr>
          <p:cNvSpPr txBox="1"/>
          <p:nvPr/>
        </p:nvSpPr>
        <p:spPr>
          <a:xfrm>
            <a:off x="4403153" y="4202468"/>
            <a:ext cx="7133742" cy="143032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2200" dirty="0">
                <a:solidFill>
                  <a:srgbClr val="FF0000"/>
                </a:solidFill>
                <a:latin typeface="Times New Roman"/>
              </a:rPr>
              <a:t>        柯西矩阵</a:t>
            </a:r>
            <a:r>
              <a:rPr lang="zh-CN" altLang="en-US" sz="2200" dirty="0">
                <a:solidFill>
                  <a:srgbClr val="000000"/>
                </a:solidFill>
                <a:latin typeface="Times New Roman"/>
              </a:rPr>
              <a:t>中</a:t>
            </a:r>
            <a:r>
              <a:rPr lang="en-US" altLang="zh-CN" sz="2200" dirty="0">
                <a:solidFill>
                  <a:srgbClr val="000000"/>
                </a:solidFill>
                <a:latin typeface="Times New Roman"/>
              </a:rPr>
              <a:t>{</a:t>
            </a:r>
            <a:r>
              <a:rPr lang="en-US" altLang="zh-CN" sz="2200" i="1" dirty="0">
                <a:solidFill>
                  <a:srgbClr val="000000"/>
                </a:solidFill>
                <a:latin typeface="Times New Roman"/>
              </a:rPr>
              <a:t>x</a:t>
            </a:r>
            <a:r>
              <a:rPr lang="en-US" altLang="zh-CN" sz="2200" baseline="-25000" dirty="0">
                <a:solidFill>
                  <a:srgbClr val="000000"/>
                </a:solidFill>
                <a:latin typeface="Times New Roman"/>
              </a:rPr>
              <a:t>1</a:t>
            </a:r>
            <a:r>
              <a:rPr lang="en-US" altLang="zh-CN" sz="2200" dirty="0">
                <a:solidFill>
                  <a:srgbClr val="000000"/>
                </a:solidFill>
                <a:latin typeface="Times New Roman"/>
              </a:rPr>
              <a:t>,</a:t>
            </a:r>
            <a:r>
              <a:rPr lang="en-US" altLang="zh-CN" sz="2200" i="1" dirty="0">
                <a:solidFill>
                  <a:srgbClr val="000000"/>
                </a:solidFill>
                <a:latin typeface="Times New Roman"/>
              </a:rPr>
              <a:t>x</a:t>
            </a:r>
            <a:r>
              <a:rPr lang="en-US" altLang="zh-CN" sz="2200" baseline="-25000" dirty="0">
                <a:solidFill>
                  <a:srgbClr val="000000"/>
                </a:solidFill>
                <a:latin typeface="Times New Roman"/>
              </a:rPr>
              <a:t>2</a:t>
            </a:r>
            <a:r>
              <a:rPr lang="en-US" altLang="zh-CN" sz="2200" dirty="0">
                <a:solidFill>
                  <a:srgbClr val="000000"/>
                </a:solidFill>
                <a:latin typeface="Times New Roman"/>
              </a:rPr>
              <a:t>,…,</a:t>
            </a:r>
            <a:r>
              <a:rPr lang="en-US" altLang="zh-CN" sz="2200" i="1" dirty="0" err="1">
                <a:solidFill>
                  <a:srgbClr val="000000"/>
                </a:solidFill>
                <a:latin typeface="Times New Roman"/>
              </a:rPr>
              <a:t>x</a:t>
            </a:r>
            <a:r>
              <a:rPr lang="en-US" altLang="zh-CN" sz="2200" baseline="-25000" dirty="0" err="1">
                <a:solidFill>
                  <a:srgbClr val="000000"/>
                </a:solidFill>
                <a:latin typeface="Times New Roman"/>
              </a:rPr>
              <a:t>m</a:t>
            </a:r>
            <a:r>
              <a:rPr lang="en-US" altLang="zh-CN" sz="2200" dirty="0">
                <a:solidFill>
                  <a:srgbClr val="000000"/>
                </a:solidFill>
                <a:latin typeface="Times New Roman"/>
              </a:rPr>
              <a:t>}</a:t>
            </a:r>
            <a:r>
              <a:rPr lang="zh-CN" altLang="en-US" sz="2200" dirty="0">
                <a:solidFill>
                  <a:srgbClr val="000000"/>
                </a:solidFill>
                <a:latin typeface="Times New Roman"/>
              </a:rPr>
              <a:t>和</a:t>
            </a:r>
            <a:r>
              <a:rPr lang="en-US" altLang="zh-CN" sz="2200" dirty="0">
                <a:solidFill>
                  <a:srgbClr val="000000"/>
                </a:solidFill>
                <a:latin typeface="Times New Roman"/>
              </a:rPr>
              <a:t>{</a:t>
            </a:r>
            <a:r>
              <a:rPr lang="en-US" altLang="zh-CN" sz="2200" i="1" dirty="0">
                <a:solidFill>
                  <a:srgbClr val="000000"/>
                </a:solidFill>
                <a:latin typeface="Times New Roman"/>
              </a:rPr>
              <a:t>y</a:t>
            </a:r>
            <a:r>
              <a:rPr lang="en-US" altLang="zh-CN" sz="2200" baseline="-25000" dirty="0">
                <a:solidFill>
                  <a:srgbClr val="000000"/>
                </a:solidFill>
                <a:latin typeface="Times New Roman"/>
              </a:rPr>
              <a:t>1</a:t>
            </a:r>
            <a:r>
              <a:rPr lang="en-US" altLang="zh-CN" sz="2200" dirty="0">
                <a:solidFill>
                  <a:srgbClr val="000000"/>
                </a:solidFill>
                <a:latin typeface="Times New Roman"/>
              </a:rPr>
              <a:t>,</a:t>
            </a:r>
            <a:r>
              <a:rPr lang="en-US" altLang="zh-CN" sz="2200" i="1" dirty="0">
                <a:solidFill>
                  <a:srgbClr val="000000"/>
                </a:solidFill>
                <a:latin typeface="Times New Roman"/>
              </a:rPr>
              <a:t>y</a:t>
            </a:r>
            <a:r>
              <a:rPr lang="en-US" altLang="zh-CN" sz="2200" baseline="-25000" dirty="0">
                <a:solidFill>
                  <a:srgbClr val="000000"/>
                </a:solidFill>
                <a:latin typeface="Times New Roman"/>
              </a:rPr>
              <a:t>2</a:t>
            </a:r>
            <a:r>
              <a:rPr lang="en-US" altLang="zh-CN" sz="2200" dirty="0">
                <a:solidFill>
                  <a:srgbClr val="000000"/>
                </a:solidFill>
                <a:latin typeface="Times New Roman"/>
              </a:rPr>
              <a:t>,…,</a:t>
            </a:r>
            <a:r>
              <a:rPr lang="en-US" altLang="zh-CN" sz="2200" i="1" dirty="0" err="1">
                <a:solidFill>
                  <a:srgbClr val="000000"/>
                </a:solidFill>
                <a:latin typeface="Times New Roman"/>
              </a:rPr>
              <a:t>y</a:t>
            </a:r>
            <a:r>
              <a:rPr lang="en-US" altLang="zh-CN" sz="2200" baseline="-25000" dirty="0" err="1">
                <a:solidFill>
                  <a:srgbClr val="000000"/>
                </a:solidFill>
                <a:latin typeface="Times New Roman"/>
              </a:rPr>
              <a:t>n</a:t>
            </a:r>
            <a:r>
              <a:rPr lang="en-US" altLang="zh-CN" sz="2200" dirty="0">
                <a:solidFill>
                  <a:srgbClr val="000000"/>
                </a:solidFill>
                <a:latin typeface="Times New Roman"/>
              </a:rPr>
              <a:t>,}</a:t>
            </a:r>
            <a:r>
              <a:rPr lang="zh-CN" altLang="en-US" sz="2200" dirty="0">
                <a:solidFill>
                  <a:srgbClr val="000000"/>
                </a:solidFill>
                <a:latin typeface="Times New Roman"/>
              </a:rPr>
              <a:t>为同一个有限域的两个不同子集。它们必须满足</a:t>
            </a:r>
            <a:r>
              <a:rPr lang="en-US" altLang="zh-CN" sz="2200" dirty="0">
                <a:solidFill>
                  <a:srgbClr val="000000"/>
                </a:solidFill>
                <a:latin typeface="Times New Roman"/>
              </a:rPr>
              <a:t>:</a:t>
            </a:r>
          </a:p>
          <a:p>
            <a:pPr eaLnBrk="0" fontAlgn="base" hangingPunct="0">
              <a:lnSpc>
                <a:spcPts val="3600"/>
              </a:lnSpc>
              <a:spcBef>
                <a:spcPct val="0"/>
              </a:spcBef>
              <a:spcAft>
                <a:spcPct val="0"/>
              </a:spcAft>
            </a:pPr>
            <a:r>
              <a:rPr lang="en-US" altLang="zh-CN" sz="2200" dirty="0">
                <a:solidFill>
                  <a:srgbClr val="000000"/>
                </a:solidFill>
                <a:latin typeface="Times New Roman"/>
              </a:rPr>
              <a:t>        (1)</a:t>
            </a:r>
            <a:r>
              <a:rPr lang="zh-CN" altLang="en-US" sz="2200" dirty="0">
                <a:solidFill>
                  <a:srgbClr val="000000"/>
                </a:solidFill>
                <a:latin typeface="Times New Roman"/>
              </a:rPr>
              <a:t>不同子集中的任意两个元素相加不能为</a:t>
            </a:r>
            <a:r>
              <a:rPr lang="en-US" altLang="zh-CN" sz="2200" dirty="0">
                <a:solidFill>
                  <a:srgbClr val="000000"/>
                </a:solidFill>
                <a:latin typeface="Times New Roman"/>
              </a:rPr>
              <a:t>0</a:t>
            </a:r>
            <a:r>
              <a:rPr lang="zh-CN" altLang="en-US" sz="2200" dirty="0">
                <a:solidFill>
                  <a:srgbClr val="000000"/>
                </a:solidFill>
                <a:latin typeface="Times New Roman"/>
              </a:rPr>
              <a:t>。</a:t>
            </a:r>
            <a:endParaRPr lang="en-US" altLang="zh-CN" sz="2200" dirty="0">
              <a:solidFill>
                <a:srgbClr val="000000"/>
              </a:solidFill>
              <a:latin typeface="Times New Roman"/>
            </a:endParaRPr>
          </a:p>
        </p:txBody>
      </p:sp>
      <p:sp>
        <p:nvSpPr>
          <p:cNvPr id="10" name="文本框 9">
            <a:extLst>
              <a:ext uri="{FF2B5EF4-FFF2-40B4-BE49-F238E27FC236}">
                <a16:creationId xmlns:a16="http://schemas.microsoft.com/office/drawing/2014/main" id="{D9F36116-4D0A-F37A-DAF1-2E2DEAE98911}"/>
              </a:ext>
            </a:extLst>
          </p:cNvPr>
          <p:cNvSpPr txBox="1"/>
          <p:nvPr/>
        </p:nvSpPr>
        <p:spPr>
          <a:xfrm>
            <a:off x="4403152" y="5618026"/>
            <a:ext cx="6990561" cy="96295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2200" dirty="0">
                <a:solidFill>
                  <a:srgbClr val="FF0000"/>
                </a:solidFill>
                <a:latin typeface="Times New Roman"/>
              </a:rPr>
              <a:t>        </a:t>
            </a:r>
            <a:r>
              <a:rPr lang="en-US" altLang="zh-CN" sz="2200" dirty="0">
                <a:solidFill>
                  <a:srgbClr val="000000"/>
                </a:solidFill>
                <a:latin typeface="Times New Roman"/>
              </a:rPr>
              <a:t>(2)</a:t>
            </a:r>
            <a:r>
              <a:rPr lang="zh-CN" altLang="en-US" sz="2200" dirty="0">
                <a:solidFill>
                  <a:srgbClr val="000000"/>
                </a:solidFill>
                <a:latin typeface="Times New Roman"/>
              </a:rPr>
              <a:t>这两个子集中的每个元素都不相同。</a:t>
            </a:r>
            <a:endParaRPr lang="en-US" altLang="zh-CN" sz="2200" dirty="0">
              <a:solidFill>
                <a:srgbClr val="000000"/>
              </a:solidFill>
              <a:latin typeface="Times New Roman"/>
            </a:endParaRPr>
          </a:p>
          <a:p>
            <a:pPr eaLnBrk="0" fontAlgn="base" hangingPunct="0">
              <a:lnSpc>
                <a:spcPts val="3600"/>
              </a:lnSpc>
              <a:spcBef>
                <a:spcPct val="0"/>
              </a:spcBef>
              <a:spcAft>
                <a:spcPct val="0"/>
              </a:spcAft>
            </a:pPr>
            <a:r>
              <a:rPr lang="en-US" altLang="zh-CN" sz="2200" dirty="0">
                <a:solidFill>
                  <a:srgbClr val="000000"/>
                </a:solidFill>
                <a:latin typeface="Times New Roman"/>
              </a:rPr>
              <a:t>        </a:t>
            </a:r>
            <a:r>
              <a:rPr lang="zh-CN" altLang="en-US" sz="2200" dirty="0">
                <a:solidFill>
                  <a:srgbClr val="000000"/>
                </a:solidFill>
                <a:latin typeface="Times New Roman"/>
              </a:rPr>
              <a:t>这两个条件都满足才能构成柯西矩阵。</a:t>
            </a:r>
            <a:r>
              <a:rPr lang="zh-CN" altLang="en-US" sz="2200" dirty="0">
                <a:solidFill>
                  <a:srgbClr val="FF0000"/>
                </a:solidFill>
                <a:latin typeface="Times New Roman"/>
              </a:rPr>
              <a:t> </a:t>
            </a:r>
            <a:endParaRPr lang="en-US" altLang="zh-CN" sz="2200" dirty="0">
              <a:solidFill>
                <a:srgbClr val="333333"/>
              </a:solidFill>
              <a:latin typeface="Times New Roman"/>
              <a:sym typeface="+mn-ea"/>
            </a:endParaRPr>
          </a:p>
        </p:txBody>
      </p:sp>
      <p:pic>
        <p:nvPicPr>
          <p:cNvPr id="13" name="图片 12">
            <a:extLst>
              <a:ext uri="{FF2B5EF4-FFF2-40B4-BE49-F238E27FC236}">
                <a16:creationId xmlns:a16="http://schemas.microsoft.com/office/drawing/2014/main" id="{FC2EF79E-C9FC-669D-DD2B-DEDC000788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57678" y="2488157"/>
            <a:ext cx="2079217" cy="1796921"/>
          </a:xfrm>
          <a:prstGeom prst="rect">
            <a:avLst/>
          </a:prstGeom>
        </p:spPr>
      </p:pic>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E2B7D1F3-F636-A509-F6EE-8B00781E18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3785" y="4919330"/>
            <a:ext cx="2211578" cy="183161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5963921" y="16851"/>
            <a:ext cx="4512945" cy="685800"/>
          </a:xfrm>
        </p:spPr>
        <p:txBody>
          <a:bodyPr/>
          <a:lstStyle/>
          <a:p>
            <a:r>
              <a:rPr lang="zh-CN" altLang="en-US" sz="2400" dirty="0">
                <a:sym typeface="+mn-ea"/>
              </a:rPr>
              <a:t>迦罗华域</a:t>
            </a:r>
          </a:p>
        </p:txBody>
      </p:sp>
      <p:sp>
        <p:nvSpPr>
          <p:cNvPr id="14" name="文本框 13"/>
          <p:cNvSpPr txBox="1"/>
          <p:nvPr/>
        </p:nvSpPr>
        <p:spPr>
          <a:xfrm>
            <a:off x="251997" y="774620"/>
            <a:ext cx="6896780" cy="465364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FF0000"/>
                </a:solidFill>
                <a:latin typeface="Times New Roman"/>
              </a:rPr>
              <a:t>         迦罗华域</a:t>
            </a:r>
            <a:r>
              <a:rPr lang="zh-CN" altLang="en-US" dirty="0">
                <a:solidFill>
                  <a:srgbClr val="000000"/>
                </a:solidFill>
                <a:latin typeface="Times New Roman"/>
              </a:rPr>
              <a:t>，用</a:t>
            </a:r>
            <a:r>
              <a:rPr lang="en-US" altLang="zh-CN" dirty="0">
                <a:solidFill>
                  <a:srgbClr val="FF0000"/>
                </a:solidFill>
                <a:latin typeface="Times New Roman"/>
              </a:rPr>
              <a:t>GF(2</a:t>
            </a:r>
            <a:r>
              <a:rPr lang="en-US" altLang="zh-CN" baseline="30000" dirty="0">
                <a:solidFill>
                  <a:srgbClr val="FF0000"/>
                </a:solidFill>
                <a:latin typeface="Times New Roman"/>
              </a:rPr>
              <a:t>w</a:t>
            </a:r>
            <a:r>
              <a:rPr lang="en-US" altLang="zh-CN" dirty="0">
                <a:solidFill>
                  <a:srgbClr val="FF0000"/>
                </a:solidFill>
                <a:latin typeface="Times New Roman"/>
              </a:rPr>
              <a:t>)</a:t>
            </a:r>
            <a:r>
              <a:rPr lang="zh-CN" altLang="en-US" dirty="0">
                <a:solidFill>
                  <a:srgbClr val="000000"/>
                </a:solidFill>
                <a:latin typeface="Times New Roman"/>
              </a:rPr>
              <a:t>来表示，代表含有</a:t>
            </a:r>
            <a:r>
              <a:rPr lang="en-US" altLang="zh-CN" dirty="0">
                <a:solidFill>
                  <a:srgbClr val="000000"/>
                </a:solidFill>
                <a:latin typeface="Times New Roman"/>
              </a:rPr>
              <a:t>2</a:t>
            </a:r>
            <a:r>
              <a:rPr lang="en-US" altLang="zh-CN" baseline="30000" dirty="0">
                <a:solidFill>
                  <a:srgbClr val="000000"/>
                </a:solidFill>
                <a:latin typeface="Times New Roman"/>
              </a:rPr>
              <a:t>w</a:t>
            </a:r>
            <a:r>
              <a:rPr lang="zh-CN" altLang="en-US" dirty="0">
                <a:solidFill>
                  <a:srgbClr val="000000"/>
                </a:solidFill>
                <a:latin typeface="Times New Roman"/>
              </a:rPr>
              <a:t>个元素的有限域。迦罗华域中的四则运算</a:t>
            </a:r>
            <a:r>
              <a:rPr lang="en-US" altLang="zh-CN" dirty="0">
                <a:solidFill>
                  <a:srgbClr val="000000"/>
                </a:solidFill>
                <a:latin typeface="Times New Roman"/>
              </a:rPr>
              <a:t>(</a:t>
            </a:r>
            <a:r>
              <a:rPr lang="zh-CN" altLang="en-US" dirty="0">
                <a:solidFill>
                  <a:srgbClr val="000000"/>
                </a:solidFill>
                <a:latin typeface="Times New Roman"/>
              </a:rPr>
              <a:t>即基于多项式的运算</a:t>
            </a:r>
            <a:r>
              <a:rPr lang="en-US" altLang="zh-CN" dirty="0">
                <a:solidFill>
                  <a:srgbClr val="000000"/>
                </a:solidFill>
                <a:latin typeface="Times New Roman"/>
              </a:rPr>
              <a:t>)</a:t>
            </a:r>
            <a:r>
              <a:rPr lang="zh-CN" altLang="en-US" dirty="0">
                <a:solidFill>
                  <a:srgbClr val="000000"/>
                </a:solidFill>
                <a:latin typeface="Times New Roman"/>
              </a:rPr>
              <a:t>，多项式一般为</a:t>
            </a:r>
            <a:r>
              <a:rPr lang="en-US" altLang="zh-CN" dirty="0">
                <a:solidFill>
                  <a:srgbClr val="000000"/>
                </a:solidFill>
                <a:latin typeface="Times New Roman"/>
              </a:rPr>
              <a:t>  f(x) = </a:t>
            </a:r>
            <a:r>
              <a:rPr lang="en-US" altLang="zh-CN" i="1" dirty="0">
                <a:solidFill>
                  <a:srgbClr val="000000"/>
                </a:solidFill>
                <a:latin typeface="Times New Roman"/>
              </a:rPr>
              <a:t>x</a:t>
            </a:r>
            <a:r>
              <a:rPr lang="en-US" altLang="zh-CN" baseline="30000" dirty="0">
                <a:solidFill>
                  <a:srgbClr val="000000"/>
                </a:solidFill>
                <a:latin typeface="Times New Roman"/>
              </a:rPr>
              <a:t>6</a:t>
            </a:r>
            <a:r>
              <a:rPr lang="en-US" altLang="zh-CN" dirty="0">
                <a:solidFill>
                  <a:srgbClr val="000000"/>
                </a:solidFill>
                <a:latin typeface="Times New Roman"/>
              </a:rPr>
              <a:t> + </a:t>
            </a:r>
            <a:r>
              <a:rPr lang="en-US" altLang="zh-CN" i="1" dirty="0">
                <a:solidFill>
                  <a:srgbClr val="000000"/>
                </a:solidFill>
                <a:latin typeface="Times New Roman"/>
              </a:rPr>
              <a:t>x</a:t>
            </a:r>
            <a:r>
              <a:rPr lang="en-US" altLang="zh-CN" baseline="30000" dirty="0">
                <a:solidFill>
                  <a:srgbClr val="000000"/>
                </a:solidFill>
                <a:latin typeface="Times New Roman"/>
              </a:rPr>
              <a:t>4 </a:t>
            </a:r>
            <a:r>
              <a:rPr lang="en-US" altLang="zh-CN" dirty="0">
                <a:solidFill>
                  <a:srgbClr val="000000"/>
                </a:solidFill>
                <a:latin typeface="Times New Roman"/>
              </a:rPr>
              <a:t>+ </a:t>
            </a:r>
            <a:r>
              <a:rPr lang="en-US" altLang="zh-CN" i="1" dirty="0">
                <a:solidFill>
                  <a:srgbClr val="000000"/>
                </a:solidFill>
                <a:latin typeface="Times New Roman"/>
              </a:rPr>
              <a:t>x</a:t>
            </a:r>
            <a:r>
              <a:rPr lang="en-US" altLang="zh-CN" baseline="30000" dirty="0">
                <a:solidFill>
                  <a:srgbClr val="000000"/>
                </a:solidFill>
                <a:latin typeface="Times New Roman"/>
              </a:rPr>
              <a:t>2</a:t>
            </a:r>
            <a:r>
              <a:rPr lang="en-US" altLang="zh-CN" dirty="0">
                <a:solidFill>
                  <a:srgbClr val="000000"/>
                </a:solidFill>
                <a:latin typeface="Times New Roman"/>
              </a:rPr>
              <a:t> + </a:t>
            </a:r>
            <a:r>
              <a:rPr lang="en-US" altLang="zh-CN" i="1" dirty="0">
                <a:solidFill>
                  <a:srgbClr val="000000"/>
                </a:solidFill>
                <a:latin typeface="Times New Roman"/>
              </a:rPr>
              <a:t>x</a:t>
            </a:r>
            <a:r>
              <a:rPr lang="en-US" altLang="zh-CN" dirty="0">
                <a:solidFill>
                  <a:srgbClr val="000000"/>
                </a:solidFill>
                <a:latin typeface="Times New Roman"/>
              </a:rPr>
              <a:t> + 1</a:t>
            </a:r>
            <a:r>
              <a:rPr lang="zh-CN" altLang="en-US" dirty="0">
                <a:solidFill>
                  <a:srgbClr val="000000"/>
                </a:solidFill>
                <a:latin typeface="Times New Roman"/>
              </a:rPr>
              <a:t>。</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rPr>
              <a:t>(1)</a:t>
            </a:r>
            <a:r>
              <a:rPr lang="zh-CN" altLang="en-US" dirty="0">
                <a:solidFill>
                  <a:srgbClr val="000000"/>
                </a:solidFill>
                <a:latin typeface="Times New Roman"/>
              </a:rPr>
              <a:t>多项式加减法</a:t>
            </a:r>
            <a:endParaRPr lang="en-US" altLang="zh-CN" dirty="0">
              <a:solidFill>
                <a:srgbClr val="000000"/>
              </a:solidFill>
              <a:latin typeface="Times New Roman"/>
            </a:endParaRPr>
          </a:p>
          <a:p>
            <a:pPr algn="l" eaLnBrk="0" fontAlgn="base" hangingPunct="0">
              <a:lnSpc>
                <a:spcPts val="3600"/>
              </a:lnSpc>
              <a:spcBef>
                <a:spcPct val="0"/>
              </a:spcBef>
              <a:spcAft>
                <a:spcPct val="0"/>
              </a:spcAft>
            </a:pPr>
            <a:r>
              <a:rPr lang="zh-CN" altLang="en-US" dirty="0">
                <a:solidFill>
                  <a:srgbClr val="000000"/>
                </a:solidFill>
                <a:latin typeface="Times New Roman"/>
              </a:rPr>
              <a:t>        将两个多项式中相同阶数的项系数相加或相减。例如 </a:t>
            </a:r>
            <a:r>
              <a:rPr lang="en-US" altLang="zh-CN" dirty="0">
                <a:solidFill>
                  <a:srgbClr val="000000"/>
                </a:solidFill>
                <a:latin typeface="Times New Roman"/>
              </a:rPr>
              <a:t>(</a:t>
            </a:r>
            <a:r>
              <a:rPr lang="en-US" altLang="zh-CN" i="1" dirty="0">
                <a:solidFill>
                  <a:srgbClr val="000000"/>
                </a:solidFill>
                <a:latin typeface="Times New Roman"/>
              </a:rPr>
              <a:t>x</a:t>
            </a:r>
            <a:r>
              <a:rPr lang="en-US" altLang="zh-CN" baseline="30000" dirty="0">
                <a:solidFill>
                  <a:srgbClr val="000000"/>
                </a:solidFill>
                <a:latin typeface="Times New Roman"/>
              </a:rPr>
              <a:t>2</a:t>
            </a:r>
            <a:r>
              <a:rPr lang="en-US" altLang="zh-CN" dirty="0">
                <a:solidFill>
                  <a:srgbClr val="000000"/>
                </a:solidFill>
                <a:latin typeface="Times New Roman"/>
              </a:rPr>
              <a:t> + </a:t>
            </a:r>
            <a:r>
              <a:rPr lang="en-US" altLang="zh-CN" i="1" dirty="0">
                <a:solidFill>
                  <a:srgbClr val="000000"/>
                </a:solidFill>
                <a:latin typeface="Times New Roman"/>
              </a:rPr>
              <a:t>x</a:t>
            </a:r>
            <a:r>
              <a:rPr lang="en-US" altLang="zh-CN" dirty="0">
                <a:solidFill>
                  <a:srgbClr val="000000"/>
                </a:solidFill>
                <a:latin typeface="Times New Roman"/>
              </a:rPr>
              <a:t> ) + (</a:t>
            </a:r>
            <a:r>
              <a:rPr lang="en-US" altLang="zh-CN" i="1" dirty="0">
                <a:solidFill>
                  <a:srgbClr val="000000"/>
                </a:solidFill>
                <a:latin typeface="Times New Roman"/>
              </a:rPr>
              <a:t>x</a:t>
            </a:r>
            <a:r>
              <a:rPr lang="en-US" altLang="zh-CN" dirty="0">
                <a:solidFill>
                  <a:srgbClr val="000000"/>
                </a:solidFill>
                <a:latin typeface="Times New Roman"/>
              </a:rPr>
              <a:t> + 1) = </a:t>
            </a:r>
            <a:r>
              <a:rPr lang="en-US" altLang="zh-CN" i="1" dirty="0">
                <a:solidFill>
                  <a:srgbClr val="000000"/>
                </a:solidFill>
                <a:latin typeface="Times New Roman"/>
              </a:rPr>
              <a:t>x</a:t>
            </a:r>
            <a:r>
              <a:rPr lang="en-US" altLang="zh-CN" baseline="30000" dirty="0">
                <a:solidFill>
                  <a:srgbClr val="000000"/>
                </a:solidFill>
                <a:latin typeface="Times New Roman"/>
              </a:rPr>
              <a:t>2</a:t>
            </a:r>
            <a:r>
              <a:rPr lang="en-US" altLang="zh-CN" dirty="0">
                <a:solidFill>
                  <a:srgbClr val="000000"/>
                </a:solidFill>
                <a:latin typeface="Times New Roman"/>
              </a:rPr>
              <a:t> + 2</a:t>
            </a:r>
            <a:r>
              <a:rPr lang="en-US" altLang="zh-CN" i="1" dirty="0">
                <a:solidFill>
                  <a:srgbClr val="000000"/>
                </a:solidFill>
                <a:latin typeface="Times New Roman"/>
              </a:rPr>
              <a:t>x</a:t>
            </a:r>
            <a:r>
              <a:rPr lang="en-US" altLang="zh-CN" dirty="0">
                <a:solidFill>
                  <a:srgbClr val="000000"/>
                </a:solidFill>
                <a:latin typeface="Times New Roman"/>
              </a:rPr>
              <a:t> +1</a:t>
            </a:r>
            <a:endParaRPr lang="zh-CN" altLang="en-US"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sym typeface="+mn-ea"/>
              </a:rPr>
              <a:t>(2)</a:t>
            </a:r>
            <a:r>
              <a:rPr lang="zh-CN" altLang="en-US" dirty="0">
                <a:solidFill>
                  <a:srgbClr val="000000"/>
                </a:solidFill>
                <a:latin typeface="Times New Roman"/>
                <a:sym typeface="+mn-ea"/>
              </a:rPr>
              <a:t>多项式乘法</a:t>
            </a:r>
            <a:endParaRPr lang="en-US" altLang="zh-CN" dirty="0">
              <a:solidFill>
                <a:srgbClr val="000000"/>
              </a:solidFill>
              <a:latin typeface="Times New Roman"/>
              <a:sym typeface="+mn-ea"/>
            </a:endParaRPr>
          </a:p>
          <a:p>
            <a:pPr algn="l" eaLnBrk="0" fontAlgn="base" hangingPunct="0">
              <a:lnSpc>
                <a:spcPts val="3600"/>
              </a:lnSpc>
              <a:spcBef>
                <a:spcPct val="0"/>
              </a:spcBef>
              <a:spcAft>
                <a:spcPct val="0"/>
              </a:spcAft>
            </a:pPr>
            <a:r>
              <a:rPr lang="zh-CN" altLang="en-US" dirty="0">
                <a:solidFill>
                  <a:srgbClr val="000000"/>
                </a:solidFill>
                <a:latin typeface="Times New Roman"/>
              </a:rPr>
              <a:t>        将其中一个多项式的各项分别与另一个多项式的各项相乘，然后把相同指数的项的系数相加。例如 </a:t>
            </a:r>
            <a:r>
              <a:rPr lang="en-US" altLang="zh-CN" dirty="0">
                <a:solidFill>
                  <a:srgbClr val="000000"/>
                </a:solidFill>
                <a:latin typeface="Times New Roman"/>
              </a:rPr>
              <a:t>(</a:t>
            </a:r>
            <a:r>
              <a:rPr lang="en-US" altLang="zh-CN" i="1" dirty="0">
                <a:solidFill>
                  <a:srgbClr val="000000"/>
                </a:solidFill>
                <a:latin typeface="Times New Roman"/>
              </a:rPr>
              <a:t>x</a:t>
            </a:r>
            <a:r>
              <a:rPr lang="en-US" altLang="zh-CN" baseline="30000" dirty="0">
                <a:solidFill>
                  <a:srgbClr val="000000"/>
                </a:solidFill>
                <a:latin typeface="Times New Roman"/>
              </a:rPr>
              <a:t>2</a:t>
            </a:r>
            <a:r>
              <a:rPr lang="en-US" altLang="zh-CN" dirty="0">
                <a:solidFill>
                  <a:srgbClr val="000000"/>
                </a:solidFill>
                <a:latin typeface="Times New Roman"/>
              </a:rPr>
              <a:t> + </a:t>
            </a:r>
            <a:r>
              <a:rPr lang="en-US" altLang="zh-CN" i="1" dirty="0">
                <a:solidFill>
                  <a:srgbClr val="000000"/>
                </a:solidFill>
                <a:latin typeface="Times New Roman"/>
              </a:rPr>
              <a:t>x</a:t>
            </a:r>
            <a:r>
              <a:rPr lang="en-US" altLang="zh-CN" dirty="0">
                <a:solidFill>
                  <a:srgbClr val="000000"/>
                </a:solidFill>
                <a:latin typeface="Times New Roman"/>
              </a:rPr>
              <a:t>)(</a:t>
            </a:r>
            <a:r>
              <a:rPr lang="en-US" altLang="zh-CN" i="1" dirty="0">
                <a:solidFill>
                  <a:srgbClr val="000000"/>
                </a:solidFill>
                <a:latin typeface="Times New Roman"/>
              </a:rPr>
              <a:t>x</a:t>
            </a:r>
            <a:r>
              <a:rPr lang="en-US" altLang="zh-CN" dirty="0">
                <a:solidFill>
                  <a:srgbClr val="000000"/>
                </a:solidFill>
                <a:latin typeface="Times New Roman"/>
              </a:rPr>
              <a:t> + 1) = </a:t>
            </a:r>
            <a:r>
              <a:rPr lang="en-US" altLang="zh-CN" i="1" dirty="0">
                <a:solidFill>
                  <a:srgbClr val="000000"/>
                </a:solidFill>
                <a:latin typeface="Times New Roman"/>
              </a:rPr>
              <a:t>x</a:t>
            </a:r>
            <a:r>
              <a:rPr lang="en-US" altLang="zh-CN" baseline="30000" dirty="0">
                <a:solidFill>
                  <a:srgbClr val="000000"/>
                </a:solidFill>
                <a:latin typeface="Times New Roman"/>
              </a:rPr>
              <a:t>2</a:t>
            </a:r>
            <a:r>
              <a:rPr lang="en-US" altLang="zh-CN" dirty="0">
                <a:solidFill>
                  <a:srgbClr val="000000"/>
                </a:solidFill>
                <a:latin typeface="Times New Roman"/>
              </a:rPr>
              <a:t>(</a:t>
            </a:r>
            <a:r>
              <a:rPr lang="en-US" altLang="zh-CN" i="1" dirty="0">
                <a:solidFill>
                  <a:srgbClr val="000000"/>
                </a:solidFill>
                <a:latin typeface="Times New Roman"/>
              </a:rPr>
              <a:t>x</a:t>
            </a:r>
            <a:r>
              <a:rPr lang="en-US" altLang="zh-CN" dirty="0">
                <a:solidFill>
                  <a:srgbClr val="000000"/>
                </a:solidFill>
                <a:latin typeface="Times New Roman"/>
              </a:rPr>
              <a:t> + 1) + </a:t>
            </a:r>
            <a:r>
              <a:rPr lang="en-US" altLang="zh-CN" i="1" dirty="0">
                <a:solidFill>
                  <a:srgbClr val="000000"/>
                </a:solidFill>
                <a:latin typeface="Times New Roman"/>
              </a:rPr>
              <a:t>x</a:t>
            </a:r>
            <a:r>
              <a:rPr lang="en-US" altLang="zh-CN" dirty="0">
                <a:solidFill>
                  <a:srgbClr val="000000"/>
                </a:solidFill>
                <a:latin typeface="Times New Roman"/>
              </a:rPr>
              <a:t>(</a:t>
            </a:r>
            <a:r>
              <a:rPr lang="en-US" altLang="zh-CN" i="1" dirty="0">
                <a:solidFill>
                  <a:srgbClr val="000000"/>
                </a:solidFill>
                <a:latin typeface="Times New Roman"/>
              </a:rPr>
              <a:t>x</a:t>
            </a:r>
            <a:r>
              <a:rPr lang="en-US" altLang="zh-CN" dirty="0">
                <a:solidFill>
                  <a:srgbClr val="000000"/>
                </a:solidFill>
                <a:latin typeface="Times New Roman"/>
              </a:rPr>
              <a:t> + 1)</a:t>
            </a:r>
            <a:r>
              <a:rPr lang="zh-CN" altLang="en-US" dirty="0">
                <a:solidFill>
                  <a:srgbClr val="000000"/>
                </a:solidFill>
                <a:latin typeface="Times New Roman"/>
              </a:rPr>
              <a:t> </a:t>
            </a:r>
            <a:r>
              <a:rPr lang="en-US" altLang="zh-CN" dirty="0">
                <a:solidFill>
                  <a:srgbClr val="000000"/>
                </a:solidFill>
                <a:latin typeface="Times New Roman"/>
              </a:rPr>
              <a:t>= </a:t>
            </a:r>
            <a:r>
              <a:rPr lang="en-US" altLang="zh-CN" i="1" dirty="0">
                <a:solidFill>
                  <a:srgbClr val="000000"/>
                </a:solidFill>
                <a:latin typeface="Times New Roman"/>
              </a:rPr>
              <a:t>x</a:t>
            </a:r>
            <a:r>
              <a:rPr lang="en-US" altLang="zh-CN" baseline="30000" dirty="0">
                <a:solidFill>
                  <a:srgbClr val="000000"/>
                </a:solidFill>
                <a:latin typeface="Times New Roman"/>
              </a:rPr>
              <a:t>3</a:t>
            </a:r>
            <a:r>
              <a:rPr lang="en-US" altLang="zh-CN" dirty="0">
                <a:solidFill>
                  <a:srgbClr val="000000"/>
                </a:solidFill>
                <a:latin typeface="Times New Roman"/>
              </a:rPr>
              <a:t> + </a:t>
            </a:r>
            <a:r>
              <a:rPr lang="en-US" altLang="zh-CN" i="1" dirty="0">
                <a:solidFill>
                  <a:srgbClr val="000000"/>
                </a:solidFill>
                <a:latin typeface="Times New Roman"/>
              </a:rPr>
              <a:t>x</a:t>
            </a:r>
            <a:r>
              <a:rPr lang="en-US" altLang="zh-CN" baseline="30000" dirty="0">
                <a:solidFill>
                  <a:srgbClr val="000000"/>
                </a:solidFill>
                <a:latin typeface="Times New Roman"/>
              </a:rPr>
              <a:t>2</a:t>
            </a:r>
            <a:r>
              <a:rPr lang="en-US" altLang="zh-CN" dirty="0">
                <a:solidFill>
                  <a:srgbClr val="000000"/>
                </a:solidFill>
                <a:latin typeface="Times New Roman"/>
              </a:rPr>
              <a:t> + </a:t>
            </a:r>
            <a:r>
              <a:rPr lang="en-US" altLang="zh-CN" i="1" dirty="0">
                <a:solidFill>
                  <a:srgbClr val="000000"/>
                </a:solidFill>
                <a:latin typeface="Times New Roman"/>
              </a:rPr>
              <a:t>x</a:t>
            </a:r>
            <a:r>
              <a:rPr lang="en-US" altLang="zh-CN" baseline="30000" dirty="0">
                <a:solidFill>
                  <a:srgbClr val="000000"/>
                </a:solidFill>
                <a:latin typeface="Times New Roman"/>
              </a:rPr>
              <a:t>2</a:t>
            </a:r>
            <a:r>
              <a:rPr lang="en-US" altLang="zh-CN" dirty="0">
                <a:solidFill>
                  <a:srgbClr val="000000"/>
                </a:solidFill>
                <a:latin typeface="Times New Roman"/>
              </a:rPr>
              <a:t> + </a:t>
            </a:r>
            <a:r>
              <a:rPr lang="en-US" altLang="zh-CN" i="1" dirty="0">
                <a:solidFill>
                  <a:srgbClr val="000000"/>
                </a:solidFill>
                <a:latin typeface="Times New Roman"/>
              </a:rPr>
              <a:t>x</a:t>
            </a:r>
            <a:endParaRPr lang="zh-CN" altLang="en-US" i="1" dirty="0">
              <a:solidFill>
                <a:srgbClr val="000000"/>
              </a:solidFill>
              <a:latin typeface="Times New Roman"/>
            </a:endParaRPr>
          </a:p>
        </p:txBody>
      </p:sp>
      <p:sp>
        <p:nvSpPr>
          <p:cNvPr id="3" name="文本框 2">
            <a:extLst>
              <a:ext uri="{FF2B5EF4-FFF2-40B4-BE49-F238E27FC236}">
                <a16:creationId xmlns:a16="http://schemas.microsoft.com/office/drawing/2014/main" id="{1A6AFE15-4C6A-2B9D-4A51-513EB1388D77}"/>
              </a:ext>
            </a:extLst>
          </p:cNvPr>
          <p:cNvSpPr txBox="1"/>
          <p:nvPr/>
        </p:nvSpPr>
        <p:spPr>
          <a:xfrm>
            <a:off x="195496" y="5402563"/>
            <a:ext cx="5283815" cy="134838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dirty="0">
                <a:solidFill>
                  <a:srgbClr val="000000"/>
                </a:solidFill>
                <a:latin typeface="Times New Roman"/>
                <a:sym typeface="+mn-ea"/>
              </a:rPr>
              <a:t>(3)</a:t>
            </a:r>
            <a:r>
              <a:rPr lang="zh-CN" altLang="en-US" dirty="0">
                <a:solidFill>
                  <a:srgbClr val="000000"/>
                </a:solidFill>
                <a:latin typeface="Times New Roman"/>
                <a:sym typeface="+mn-ea"/>
              </a:rPr>
              <a:t>多项式除法</a:t>
            </a:r>
            <a:endParaRPr lang="en-US" altLang="zh-CN" dirty="0">
              <a:solidFill>
                <a:srgbClr val="000000"/>
              </a:solidFill>
              <a:latin typeface="Times New Roman"/>
              <a:sym typeface="+mn-ea"/>
            </a:endParaRPr>
          </a:p>
          <a:p>
            <a:pPr eaLnBrk="0" fontAlgn="base" hangingPunct="0">
              <a:lnSpc>
                <a:spcPts val="3400"/>
              </a:lnSpc>
              <a:spcBef>
                <a:spcPct val="0"/>
              </a:spcBef>
              <a:spcAft>
                <a:spcPct val="0"/>
              </a:spcAft>
            </a:pPr>
            <a:r>
              <a:rPr lang="zh-CN" altLang="en-US" dirty="0">
                <a:solidFill>
                  <a:srgbClr val="000000"/>
                </a:solidFill>
                <a:latin typeface="Times New Roman"/>
              </a:rPr>
              <a:t>        使用长除法。例如计算</a:t>
            </a:r>
            <a:r>
              <a:rPr lang="en-US" altLang="zh-CN" i="1" dirty="0">
                <a:solidFill>
                  <a:srgbClr val="000000"/>
                </a:solidFill>
                <a:latin typeface="Times New Roman"/>
              </a:rPr>
              <a:t>x</a:t>
            </a:r>
            <a:r>
              <a:rPr lang="en-US" altLang="zh-CN" baseline="30000" dirty="0">
                <a:solidFill>
                  <a:srgbClr val="000000"/>
                </a:solidFill>
                <a:latin typeface="Times New Roman"/>
              </a:rPr>
              <a:t>3</a:t>
            </a:r>
            <a:r>
              <a:rPr lang="en-US" altLang="zh-CN" dirty="0">
                <a:solidFill>
                  <a:srgbClr val="000000"/>
                </a:solidFill>
                <a:latin typeface="Times New Roman"/>
              </a:rPr>
              <a:t>-12</a:t>
            </a:r>
            <a:r>
              <a:rPr lang="en-US" altLang="zh-CN" i="1" dirty="0">
                <a:solidFill>
                  <a:srgbClr val="000000"/>
                </a:solidFill>
                <a:latin typeface="Times New Roman"/>
              </a:rPr>
              <a:t>x</a:t>
            </a:r>
            <a:r>
              <a:rPr lang="en-US" altLang="zh-CN" baseline="30000" dirty="0">
                <a:solidFill>
                  <a:srgbClr val="000000"/>
                </a:solidFill>
                <a:latin typeface="Times New Roman"/>
              </a:rPr>
              <a:t>2</a:t>
            </a:r>
            <a:r>
              <a:rPr lang="en-US" altLang="zh-CN" dirty="0">
                <a:solidFill>
                  <a:srgbClr val="000000"/>
                </a:solidFill>
                <a:latin typeface="Times New Roman"/>
              </a:rPr>
              <a:t>-42</a:t>
            </a:r>
            <a:r>
              <a:rPr lang="zh-CN" altLang="en-US" dirty="0">
                <a:solidFill>
                  <a:srgbClr val="000000"/>
                </a:solidFill>
                <a:latin typeface="Times New Roman"/>
              </a:rPr>
              <a:t>，除以</a:t>
            </a:r>
            <a:r>
              <a:rPr lang="en-US" altLang="zh-CN" i="1" dirty="0">
                <a:solidFill>
                  <a:srgbClr val="000000"/>
                </a:solidFill>
                <a:latin typeface="Times New Roman"/>
              </a:rPr>
              <a:t>x</a:t>
            </a:r>
            <a:r>
              <a:rPr lang="en-US" altLang="zh-CN" dirty="0">
                <a:solidFill>
                  <a:srgbClr val="000000"/>
                </a:solidFill>
                <a:latin typeface="Times New Roman"/>
              </a:rPr>
              <a:t>-3</a:t>
            </a:r>
            <a:r>
              <a:rPr lang="zh-CN" altLang="en-US" dirty="0">
                <a:solidFill>
                  <a:srgbClr val="000000"/>
                </a:solidFill>
                <a:latin typeface="Times New Roman"/>
              </a:rPr>
              <a:t>。使用长除法计算，商</a:t>
            </a:r>
            <a:r>
              <a:rPr lang="en-US" altLang="zh-CN" i="1" dirty="0">
                <a:solidFill>
                  <a:srgbClr val="000000"/>
                </a:solidFill>
                <a:latin typeface="Times New Roman"/>
              </a:rPr>
              <a:t>x</a:t>
            </a:r>
            <a:r>
              <a:rPr lang="en-US" altLang="zh-CN" baseline="30000" dirty="0">
                <a:solidFill>
                  <a:srgbClr val="000000"/>
                </a:solidFill>
                <a:latin typeface="Times New Roman"/>
              </a:rPr>
              <a:t>2</a:t>
            </a:r>
            <a:r>
              <a:rPr lang="en-US" altLang="zh-CN" dirty="0">
                <a:solidFill>
                  <a:srgbClr val="000000"/>
                </a:solidFill>
                <a:latin typeface="Times New Roman"/>
              </a:rPr>
              <a:t>-9</a:t>
            </a:r>
            <a:r>
              <a:rPr lang="en-US" altLang="zh-CN" i="1" dirty="0">
                <a:solidFill>
                  <a:srgbClr val="000000"/>
                </a:solidFill>
                <a:latin typeface="Times New Roman"/>
              </a:rPr>
              <a:t>x</a:t>
            </a:r>
            <a:r>
              <a:rPr lang="en-US" altLang="zh-CN" dirty="0">
                <a:solidFill>
                  <a:srgbClr val="000000"/>
                </a:solidFill>
                <a:latin typeface="Times New Roman"/>
              </a:rPr>
              <a:t>-27</a:t>
            </a:r>
            <a:r>
              <a:rPr lang="zh-CN" altLang="en-US" dirty="0">
                <a:solidFill>
                  <a:srgbClr val="000000"/>
                </a:solidFill>
                <a:latin typeface="Times New Roman"/>
              </a:rPr>
              <a:t>，余数</a:t>
            </a:r>
            <a:r>
              <a:rPr lang="en-US" altLang="zh-CN" dirty="0">
                <a:solidFill>
                  <a:srgbClr val="000000"/>
                </a:solidFill>
                <a:latin typeface="Times New Roman"/>
              </a:rPr>
              <a:t>-123</a:t>
            </a:r>
            <a:r>
              <a:rPr lang="zh-CN" altLang="en-US" dirty="0">
                <a:solidFill>
                  <a:srgbClr val="000000"/>
                </a:solidFill>
                <a:latin typeface="Times New Roman"/>
              </a:rPr>
              <a:t>。</a:t>
            </a:r>
            <a:endParaRPr lang="en-US" altLang="zh-CN" dirty="0">
              <a:solidFill>
                <a:srgbClr val="000000"/>
              </a:solidFill>
              <a:latin typeface="Times New Roman"/>
              <a:sym typeface="+mn-ea"/>
            </a:endParaRPr>
          </a:p>
        </p:txBody>
      </p:sp>
      <p:sp>
        <p:nvSpPr>
          <p:cNvPr id="5" name="文本框 4">
            <a:extLst>
              <a:ext uri="{FF2B5EF4-FFF2-40B4-BE49-F238E27FC236}">
                <a16:creationId xmlns:a16="http://schemas.microsoft.com/office/drawing/2014/main" id="{961FF064-7793-A4D2-3EDC-830851B8EF28}"/>
              </a:ext>
            </a:extLst>
          </p:cNvPr>
          <p:cNvSpPr txBox="1"/>
          <p:nvPr/>
        </p:nvSpPr>
        <p:spPr>
          <a:xfrm>
            <a:off x="7364819" y="2162886"/>
            <a:ext cx="4761836" cy="465056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en-US" altLang="zh-CN" dirty="0">
                <a:solidFill>
                  <a:srgbClr val="000000"/>
                </a:solidFill>
                <a:latin typeface="Times New Roman"/>
              </a:rPr>
              <a:t>(4)GF (2</a:t>
            </a:r>
            <a:r>
              <a:rPr lang="en-US" altLang="zh-CN" baseline="30000" dirty="0">
                <a:solidFill>
                  <a:srgbClr val="000000"/>
                </a:solidFill>
                <a:latin typeface="Times New Roman"/>
              </a:rPr>
              <a:t>w</a:t>
            </a:r>
            <a:r>
              <a:rPr lang="en-US" altLang="zh-CN" dirty="0">
                <a:solidFill>
                  <a:srgbClr val="000000"/>
                </a:solidFill>
                <a:latin typeface="Times New Roman"/>
              </a:rPr>
              <a:t>)</a:t>
            </a:r>
            <a:r>
              <a:rPr lang="zh-CN" altLang="en-US" dirty="0">
                <a:solidFill>
                  <a:srgbClr val="000000"/>
                </a:solidFill>
                <a:latin typeface="Times New Roman"/>
              </a:rPr>
              <a:t>上的多项式运算</a:t>
            </a:r>
            <a:endParaRPr lang="en-US" altLang="zh-CN" dirty="0">
              <a:solidFill>
                <a:srgbClr val="000000"/>
              </a:solidFill>
              <a:latin typeface="Times New Roman"/>
              <a:sym typeface="+mn-ea"/>
            </a:endParaRPr>
          </a:p>
          <a:p>
            <a:pPr eaLnBrk="0" fontAlgn="base" hangingPunct="0">
              <a:lnSpc>
                <a:spcPts val="3600"/>
              </a:lnSpc>
              <a:spcBef>
                <a:spcPct val="0"/>
              </a:spcBef>
              <a:spcAft>
                <a:spcPct val="0"/>
              </a:spcAft>
            </a:pPr>
            <a:r>
              <a:rPr lang="zh-CN" altLang="en-US" dirty="0">
                <a:solidFill>
                  <a:srgbClr val="000000"/>
                </a:solidFill>
                <a:latin typeface="Times New Roman"/>
              </a:rPr>
              <a:t>         对于</a:t>
            </a:r>
            <a:r>
              <a:rPr lang="en-US" altLang="zh-CN" dirty="0">
                <a:solidFill>
                  <a:srgbClr val="000000"/>
                </a:solidFill>
                <a:latin typeface="Times New Roman"/>
              </a:rPr>
              <a:t>GF(2</a:t>
            </a:r>
            <a:r>
              <a:rPr lang="en-US" altLang="zh-CN" baseline="30000" dirty="0">
                <a:solidFill>
                  <a:srgbClr val="000000"/>
                </a:solidFill>
                <a:latin typeface="Times New Roman"/>
              </a:rPr>
              <a:t>w</a:t>
            </a:r>
            <a:r>
              <a:rPr lang="en-US" altLang="zh-CN" dirty="0">
                <a:solidFill>
                  <a:srgbClr val="000000"/>
                </a:solidFill>
                <a:latin typeface="Times New Roman"/>
              </a:rPr>
              <a:t>)</a:t>
            </a:r>
            <a:r>
              <a:rPr lang="zh-CN" altLang="en-US" dirty="0">
                <a:solidFill>
                  <a:srgbClr val="000000"/>
                </a:solidFill>
                <a:latin typeface="Times New Roman"/>
              </a:rPr>
              <a:t>上的多项式计算，多项式系数只能取</a:t>
            </a:r>
            <a:r>
              <a:rPr lang="en-US" altLang="zh-CN" dirty="0">
                <a:solidFill>
                  <a:srgbClr val="000000"/>
                </a:solidFill>
                <a:latin typeface="Times New Roman"/>
              </a:rPr>
              <a:t>0</a:t>
            </a:r>
            <a:r>
              <a:rPr lang="zh-CN" altLang="en-US" dirty="0">
                <a:solidFill>
                  <a:srgbClr val="000000"/>
                </a:solidFill>
                <a:latin typeface="Times New Roman"/>
              </a:rPr>
              <a:t>或</a:t>
            </a:r>
            <a:r>
              <a:rPr lang="en-US" altLang="zh-CN" dirty="0">
                <a:solidFill>
                  <a:srgbClr val="000000"/>
                </a:solidFill>
                <a:latin typeface="Times New Roman"/>
              </a:rPr>
              <a:t>1</a:t>
            </a:r>
            <a:r>
              <a:rPr lang="zh-CN" altLang="en-US" dirty="0">
                <a:solidFill>
                  <a:srgbClr val="000000"/>
                </a:solidFill>
                <a:latin typeface="Times New Roman"/>
              </a:rPr>
              <a:t>。</a:t>
            </a:r>
            <a:r>
              <a:rPr lang="en-US" altLang="zh-CN" dirty="0">
                <a:solidFill>
                  <a:srgbClr val="000000"/>
                </a:solidFill>
                <a:latin typeface="Times New Roman"/>
              </a:rPr>
              <a:t>(</a:t>
            </a:r>
            <a:r>
              <a:rPr lang="zh-CN" altLang="en-US" dirty="0">
                <a:solidFill>
                  <a:srgbClr val="000000"/>
                </a:solidFill>
                <a:latin typeface="Times New Roman"/>
              </a:rPr>
              <a:t>如果是</a:t>
            </a:r>
            <a:r>
              <a:rPr lang="en-US" altLang="zh-CN" dirty="0">
                <a:solidFill>
                  <a:srgbClr val="000000"/>
                </a:solidFill>
                <a:latin typeface="Times New Roman"/>
              </a:rPr>
              <a:t>GF(3</a:t>
            </a:r>
            <a:r>
              <a:rPr lang="en-US" altLang="zh-CN" baseline="30000" dirty="0">
                <a:solidFill>
                  <a:srgbClr val="000000"/>
                </a:solidFill>
                <a:latin typeface="Times New Roman"/>
              </a:rPr>
              <a:t>w</a:t>
            </a:r>
            <a:r>
              <a:rPr lang="en-US" altLang="zh-CN" dirty="0">
                <a:solidFill>
                  <a:srgbClr val="000000"/>
                </a:solidFill>
                <a:latin typeface="Times New Roman"/>
              </a:rPr>
              <a:t>)</a:t>
            </a:r>
            <a:r>
              <a:rPr lang="zh-CN" altLang="en-US" dirty="0">
                <a:solidFill>
                  <a:srgbClr val="000000"/>
                </a:solidFill>
                <a:latin typeface="Times New Roman"/>
              </a:rPr>
              <a:t>，那么系数可以取</a:t>
            </a:r>
            <a:r>
              <a:rPr lang="en-US" altLang="zh-CN" dirty="0">
                <a:solidFill>
                  <a:srgbClr val="000000"/>
                </a:solidFill>
                <a:latin typeface="Times New Roman"/>
              </a:rPr>
              <a:t>0</a:t>
            </a:r>
            <a:r>
              <a:rPr lang="zh-CN" altLang="en-US" dirty="0">
                <a:solidFill>
                  <a:srgbClr val="000000"/>
                </a:solidFill>
                <a:latin typeface="Times New Roman"/>
              </a:rPr>
              <a:t>、</a:t>
            </a:r>
            <a:r>
              <a:rPr lang="en-US" altLang="zh-CN" dirty="0">
                <a:solidFill>
                  <a:srgbClr val="000000"/>
                </a:solidFill>
                <a:latin typeface="Times New Roman"/>
              </a:rPr>
              <a:t>1</a:t>
            </a:r>
            <a:r>
              <a:rPr lang="zh-CN" altLang="en-US" dirty="0">
                <a:solidFill>
                  <a:srgbClr val="000000"/>
                </a:solidFill>
                <a:latin typeface="Times New Roman"/>
              </a:rPr>
              <a:t>、</a:t>
            </a:r>
            <a:r>
              <a:rPr lang="en-US" altLang="zh-CN" dirty="0">
                <a:solidFill>
                  <a:srgbClr val="000000"/>
                </a:solidFill>
                <a:latin typeface="Times New Roman"/>
              </a:rPr>
              <a:t>2)</a:t>
            </a:r>
          </a:p>
          <a:p>
            <a:pPr eaLnBrk="0" fontAlgn="base" hangingPunct="0">
              <a:lnSpc>
                <a:spcPts val="3600"/>
              </a:lnSpc>
              <a:spcBef>
                <a:spcPct val="0"/>
              </a:spcBef>
              <a:spcAft>
                <a:spcPct val="0"/>
              </a:spcAft>
            </a:pPr>
            <a:r>
              <a:rPr lang="en-US" altLang="zh-CN" dirty="0">
                <a:solidFill>
                  <a:srgbClr val="000000"/>
                </a:solidFill>
                <a:latin typeface="Times New Roman"/>
              </a:rPr>
              <a:t>         GF(2</a:t>
            </a:r>
            <a:r>
              <a:rPr lang="en-US" altLang="zh-CN" baseline="30000" dirty="0">
                <a:solidFill>
                  <a:srgbClr val="000000"/>
                </a:solidFill>
                <a:latin typeface="Times New Roman"/>
              </a:rPr>
              <a:t>w</a:t>
            </a:r>
            <a:r>
              <a:rPr lang="en-US" altLang="zh-CN" dirty="0">
                <a:solidFill>
                  <a:srgbClr val="000000"/>
                </a:solidFill>
                <a:latin typeface="Times New Roman"/>
              </a:rPr>
              <a:t>)</a:t>
            </a:r>
            <a:r>
              <a:rPr lang="zh-CN" altLang="en-US" dirty="0">
                <a:solidFill>
                  <a:srgbClr val="000000"/>
                </a:solidFill>
                <a:latin typeface="Times New Roman"/>
              </a:rPr>
              <a:t>的多项式加法中，合并阶数相同的同类项时，由于</a:t>
            </a:r>
            <a:r>
              <a:rPr lang="en-US" altLang="zh-CN" dirty="0">
                <a:solidFill>
                  <a:srgbClr val="000000"/>
                </a:solidFill>
                <a:latin typeface="Times New Roman"/>
              </a:rPr>
              <a:t>0+0=0, 1+1=0,</a:t>
            </a:r>
          </a:p>
          <a:p>
            <a:pPr eaLnBrk="0" fontAlgn="base" hangingPunct="0">
              <a:lnSpc>
                <a:spcPts val="3600"/>
              </a:lnSpc>
              <a:spcBef>
                <a:spcPct val="0"/>
              </a:spcBef>
              <a:spcAft>
                <a:spcPct val="0"/>
              </a:spcAft>
            </a:pPr>
            <a:r>
              <a:rPr lang="en-US" altLang="zh-CN" dirty="0">
                <a:solidFill>
                  <a:srgbClr val="000000"/>
                </a:solidFill>
                <a:latin typeface="Times New Roman"/>
              </a:rPr>
              <a:t>0+1=1+0=1</a:t>
            </a:r>
            <a:r>
              <a:rPr lang="zh-CN" altLang="en-US" dirty="0">
                <a:solidFill>
                  <a:srgbClr val="000000"/>
                </a:solidFill>
                <a:latin typeface="Times New Roman"/>
              </a:rPr>
              <a:t>，因此系数不是进行加法操作，而是进行异或操作。</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rPr>
              <a:t>         GF(2</a:t>
            </a:r>
            <a:r>
              <a:rPr lang="en-US" altLang="zh-CN" baseline="30000" dirty="0">
                <a:solidFill>
                  <a:srgbClr val="000000"/>
                </a:solidFill>
                <a:latin typeface="Times New Roman"/>
              </a:rPr>
              <a:t>w</a:t>
            </a:r>
            <a:r>
              <a:rPr lang="en-US" altLang="zh-CN" dirty="0">
                <a:solidFill>
                  <a:srgbClr val="000000"/>
                </a:solidFill>
                <a:latin typeface="Times New Roman"/>
              </a:rPr>
              <a:t>)</a:t>
            </a:r>
            <a:r>
              <a:rPr lang="zh-CN" altLang="en-US" dirty="0">
                <a:solidFill>
                  <a:srgbClr val="000000"/>
                </a:solidFill>
                <a:latin typeface="Times New Roman"/>
              </a:rPr>
              <a:t>的多项式减法等于加法，例如</a:t>
            </a:r>
            <a:r>
              <a:rPr lang="en-US" altLang="zh-CN" i="1" dirty="0">
                <a:solidFill>
                  <a:srgbClr val="000000"/>
                </a:solidFill>
                <a:latin typeface="Times New Roman"/>
              </a:rPr>
              <a:t>x</a:t>
            </a:r>
            <a:r>
              <a:rPr lang="en-US" altLang="zh-CN" baseline="30000" dirty="0">
                <a:solidFill>
                  <a:srgbClr val="000000"/>
                </a:solidFill>
                <a:latin typeface="Times New Roman"/>
              </a:rPr>
              <a:t>4</a:t>
            </a:r>
            <a:r>
              <a:rPr lang="en-US" altLang="zh-CN" dirty="0">
                <a:solidFill>
                  <a:srgbClr val="000000"/>
                </a:solidFill>
                <a:latin typeface="Times New Roman"/>
              </a:rPr>
              <a:t> – </a:t>
            </a:r>
            <a:r>
              <a:rPr lang="en-US" altLang="zh-CN" i="1" dirty="0">
                <a:solidFill>
                  <a:srgbClr val="000000"/>
                </a:solidFill>
                <a:latin typeface="Times New Roman"/>
              </a:rPr>
              <a:t>x</a:t>
            </a:r>
            <a:r>
              <a:rPr lang="en-US" altLang="zh-CN" baseline="30000" dirty="0">
                <a:solidFill>
                  <a:srgbClr val="000000"/>
                </a:solidFill>
                <a:latin typeface="Times New Roman"/>
              </a:rPr>
              <a:t>4</a:t>
            </a:r>
            <a:r>
              <a:rPr lang="en-US" altLang="zh-CN" dirty="0">
                <a:solidFill>
                  <a:srgbClr val="000000"/>
                </a:solidFill>
                <a:latin typeface="Times New Roman"/>
              </a:rPr>
              <a:t> </a:t>
            </a:r>
            <a:r>
              <a:rPr lang="zh-CN" altLang="en-US" dirty="0">
                <a:solidFill>
                  <a:srgbClr val="000000"/>
                </a:solidFill>
                <a:latin typeface="Times New Roman"/>
              </a:rPr>
              <a:t>就等于</a:t>
            </a:r>
            <a:r>
              <a:rPr lang="en-US" altLang="zh-CN" i="1" dirty="0">
                <a:solidFill>
                  <a:srgbClr val="000000"/>
                </a:solidFill>
                <a:latin typeface="Times New Roman"/>
              </a:rPr>
              <a:t>x</a:t>
            </a:r>
            <a:r>
              <a:rPr lang="en-US" altLang="zh-CN" baseline="30000" dirty="0">
                <a:solidFill>
                  <a:srgbClr val="000000"/>
                </a:solidFill>
                <a:latin typeface="Times New Roman"/>
              </a:rPr>
              <a:t>4</a:t>
            </a:r>
            <a:r>
              <a:rPr lang="en-US" altLang="zh-CN" dirty="0">
                <a:solidFill>
                  <a:srgbClr val="000000"/>
                </a:solidFill>
                <a:latin typeface="Times New Roman"/>
              </a:rPr>
              <a:t> + </a:t>
            </a:r>
            <a:r>
              <a:rPr lang="en-US" altLang="zh-CN" i="1" dirty="0">
                <a:solidFill>
                  <a:srgbClr val="000000"/>
                </a:solidFill>
                <a:latin typeface="Times New Roman"/>
              </a:rPr>
              <a:t>x</a:t>
            </a:r>
            <a:r>
              <a:rPr lang="en-US" altLang="zh-CN" baseline="30000" dirty="0">
                <a:solidFill>
                  <a:srgbClr val="000000"/>
                </a:solidFill>
                <a:latin typeface="Times New Roman"/>
              </a:rPr>
              <a:t>4</a:t>
            </a:r>
            <a:r>
              <a:rPr lang="zh-CN" altLang="en-US" dirty="0">
                <a:solidFill>
                  <a:srgbClr val="000000"/>
                </a:solidFill>
                <a:latin typeface="Times New Roman"/>
              </a:rPr>
              <a:t>。</a:t>
            </a:r>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简单的纠删码</a:t>
            </a:r>
            <a:r>
              <a:rPr lang="en-US" altLang="zh-CN" sz="2400" dirty="0">
                <a:sym typeface="+mn-ea"/>
              </a:rPr>
              <a:t>——</a:t>
            </a:r>
            <a:r>
              <a:rPr lang="zh-CN" altLang="en-US" sz="2400" dirty="0">
                <a:sym typeface="+mn-ea"/>
              </a:rPr>
              <a:t>重复码</a:t>
            </a:r>
          </a:p>
        </p:txBody>
      </p:sp>
      <p:sp>
        <p:nvSpPr>
          <p:cNvPr id="9" name="文本框 8"/>
          <p:cNvSpPr txBox="1"/>
          <p:nvPr/>
        </p:nvSpPr>
        <p:spPr>
          <a:xfrm>
            <a:off x="2086714" y="1431930"/>
            <a:ext cx="8162077" cy="178439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000000"/>
                </a:solidFill>
                <a:latin typeface="Times New Roman"/>
                <a:sym typeface="+mn-ea"/>
              </a:rPr>
              <a:t>编码方式：</a:t>
            </a:r>
            <a:endParaRPr lang="en-US" altLang="zh-CN" dirty="0">
              <a:solidFill>
                <a:srgbClr val="000000"/>
              </a:solidFill>
              <a:latin typeface="Times New Roman"/>
              <a:sym typeface="+mn-ea"/>
            </a:endParaRPr>
          </a:p>
          <a:p>
            <a:pPr eaLnBrk="0" fontAlgn="base" hangingPunct="0">
              <a:lnSpc>
                <a:spcPts val="3400"/>
              </a:lnSpc>
              <a:spcBef>
                <a:spcPct val="0"/>
              </a:spcBef>
              <a:spcAft>
                <a:spcPct val="0"/>
              </a:spcAft>
            </a:pPr>
            <a:r>
              <a:rPr lang="zh-CN" altLang="en-US" dirty="0">
                <a:solidFill>
                  <a:srgbClr val="000000"/>
                </a:solidFill>
                <a:latin typeface="Times New Roman"/>
                <a:sym typeface="+mn-ea"/>
              </a:rPr>
              <a:t>        将原数据重复</a:t>
            </a:r>
            <a:r>
              <a:rPr lang="en-US" altLang="zh-CN" dirty="0">
                <a:solidFill>
                  <a:srgbClr val="000000"/>
                </a:solidFill>
                <a:latin typeface="Times New Roman"/>
                <a:sym typeface="+mn-ea"/>
              </a:rPr>
              <a:t>k</a:t>
            </a:r>
            <a:r>
              <a:rPr lang="zh-CN" altLang="en-US" dirty="0">
                <a:solidFill>
                  <a:srgbClr val="000000"/>
                </a:solidFill>
                <a:latin typeface="Times New Roman"/>
                <a:sym typeface="+mn-ea"/>
              </a:rPr>
              <a:t>次后，就得到</a:t>
            </a:r>
            <a:r>
              <a:rPr lang="en-US" altLang="zh-CN" dirty="0">
                <a:solidFill>
                  <a:srgbClr val="000000"/>
                </a:solidFill>
                <a:latin typeface="Times New Roman"/>
                <a:sym typeface="+mn-ea"/>
              </a:rPr>
              <a:t>k-</a:t>
            </a:r>
            <a:r>
              <a:rPr lang="zh-CN" altLang="en-US" dirty="0">
                <a:solidFill>
                  <a:srgbClr val="000000"/>
                </a:solidFill>
                <a:latin typeface="Times New Roman"/>
                <a:sym typeface="+mn-ea"/>
              </a:rPr>
              <a:t>重复码。例如，将原数据</a:t>
            </a:r>
            <a:r>
              <a:rPr lang="en-US" altLang="zh-CN" dirty="0">
                <a:solidFill>
                  <a:srgbClr val="000000"/>
                </a:solidFill>
                <a:latin typeface="Times New Roman"/>
                <a:sym typeface="+mn-ea"/>
              </a:rPr>
              <a:t>x</a:t>
            </a:r>
            <a:r>
              <a:rPr lang="zh-CN" altLang="en-US" dirty="0">
                <a:solidFill>
                  <a:srgbClr val="000000"/>
                </a:solidFill>
                <a:latin typeface="Times New Roman"/>
                <a:sym typeface="+mn-ea"/>
              </a:rPr>
              <a:t>重复</a:t>
            </a:r>
            <a:r>
              <a:rPr lang="en-US" altLang="zh-CN" dirty="0">
                <a:solidFill>
                  <a:srgbClr val="000000"/>
                </a:solidFill>
                <a:latin typeface="Times New Roman"/>
                <a:sym typeface="+mn-ea"/>
              </a:rPr>
              <a:t>3</a:t>
            </a:r>
            <a:r>
              <a:rPr lang="zh-CN" altLang="en-US" dirty="0">
                <a:solidFill>
                  <a:srgbClr val="000000"/>
                </a:solidFill>
                <a:latin typeface="Times New Roman"/>
                <a:sym typeface="+mn-ea"/>
              </a:rPr>
              <a:t>次，拼接得到数据</a:t>
            </a:r>
            <a:r>
              <a:rPr lang="en-US" altLang="zh-CN" dirty="0">
                <a:solidFill>
                  <a:srgbClr val="000000"/>
                </a:solidFill>
                <a:latin typeface="Times New Roman"/>
                <a:sym typeface="+mn-ea"/>
              </a:rPr>
              <a:t>{</a:t>
            </a:r>
            <a:r>
              <a:rPr lang="en-US" altLang="zh-CN" i="1" dirty="0" err="1">
                <a:solidFill>
                  <a:srgbClr val="000000"/>
                </a:solidFill>
                <a:latin typeface="Times New Roman"/>
                <a:sym typeface="+mn-ea"/>
              </a:rPr>
              <a:t>x</a:t>
            </a:r>
            <a:r>
              <a:rPr lang="en-US" altLang="zh-CN" dirty="0" err="1">
                <a:solidFill>
                  <a:srgbClr val="000000"/>
                </a:solidFill>
                <a:latin typeface="Times New Roman"/>
                <a:sym typeface="+mn-ea"/>
              </a:rPr>
              <a:t>,</a:t>
            </a:r>
            <a:r>
              <a:rPr lang="en-US" altLang="zh-CN" i="1" dirty="0" err="1">
                <a:solidFill>
                  <a:srgbClr val="000000"/>
                </a:solidFill>
                <a:latin typeface="Times New Roman"/>
                <a:sym typeface="+mn-ea"/>
              </a:rPr>
              <a:t>x</a:t>
            </a:r>
            <a:r>
              <a:rPr lang="en-US" altLang="zh-CN" dirty="0" err="1">
                <a:solidFill>
                  <a:srgbClr val="000000"/>
                </a:solidFill>
                <a:latin typeface="Times New Roman"/>
                <a:sym typeface="+mn-ea"/>
              </a:rPr>
              <a:t>,</a:t>
            </a:r>
            <a:r>
              <a:rPr lang="en-US" altLang="zh-CN" i="1" dirty="0" err="1">
                <a:solidFill>
                  <a:srgbClr val="000000"/>
                </a:solidFill>
                <a:latin typeface="Times New Roman"/>
                <a:sym typeface="+mn-ea"/>
              </a:rPr>
              <a:t>x</a:t>
            </a:r>
            <a:r>
              <a:rPr lang="en-US" altLang="zh-CN" dirty="0">
                <a:solidFill>
                  <a:srgbClr val="000000"/>
                </a:solidFill>
                <a:latin typeface="Times New Roman"/>
                <a:sym typeface="+mn-ea"/>
              </a:rPr>
              <a:t>},</a:t>
            </a:r>
            <a:r>
              <a:rPr lang="zh-CN" altLang="en-US" dirty="0">
                <a:solidFill>
                  <a:srgbClr val="000000"/>
                </a:solidFill>
                <a:latin typeface="Times New Roman"/>
                <a:sym typeface="+mn-ea"/>
              </a:rPr>
              <a:t>即为原数据的</a:t>
            </a:r>
            <a:r>
              <a:rPr lang="en-US" altLang="zh-CN" dirty="0">
                <a:solidFill>
                  <a:srgbClr val="000000"/>
                </a:solidFill>
                <a:latin typeface="Times New Roman"/>
                <a:sym typeface="+mn-ea"/>
              </a:rPr>
              <a:t>3-</a:t>
            </a:r>
            <a:r>
              <a:rPr lang="zh-CN" altLang="en-US" dirty="0">
                <a:solidFill>
                  <a:srgbClr val="000000"/>
                </a:solidFill>
                <a:latin typeface="Times New Roman"/>
                <a:sym typeface="+mn-ea"/>
              </a:rPr>
              <a:t>重复码。发送方传输的就是</a:t>
            </a:r>
            <a:r>
              <a:rPr lang="en-US" altLang="zh-CN" dirty="0">
                <a:solidFill>
                  <a:srgbClr val="000000"/>
                </a:solidFill>
                <a:latin typeface="Times New Roman"/>
                <a:sym typeface="+mn-ea"/>
              </a:rPr>
              <a:t>k-</a:t>
            </a:r>
            <a:r>
              <a:rPr lang="zh-CN" altLang="en-US" dirty="0">
                <a:solidFill>
                  <a:srgbClr val="000000"/>
                </a:solidFill>
                <a:latin typeface="Times New Roman"/>
                <a:sym typeface="+mn-ea"/>
              </a:rPr>
              <a:t>重复码。</a:t>
            </a:r>
            <a:endParaRPr lang="en-US" altLang="zh-CN" dirty="0">
              <a:solidFill>
                <a:srgbClr val="000000"/>
              </a:solidFill>
              <a:latin typeface="Times New Roman"/>
              <a:sym typeface="+mn-ea"/>
            </a:endParaRPr>
          </a:p>
        </p:txBody>
      </p:sp>
      <p:sp>
        <p:nvSpPr>
          <p:cNvPr id="6" name="文本框 5"/>
          <p:cNvSpPr txBox="1"/>
          <p:nvPr/>
        </p:nvSpPr>
        <p:spPr>
          <a:xfrm>
            <a:off x="2014962" y="3981617"/>
            <a:ext cx="8162077" cy="178439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000000"/>
                </a:solidFill>
                <a:latin typeface="Times New Roman"/>
                <a:sym typeface="+mn-ea"/>
              </a:rPr>
              <a:t>解码方式：</a:t>
            </a:r>
            <a:endParaRPr lang="en-US" altLang="zh-CN" dirty="0">
              <a:solidFill>
                <a:srgbClr val="000000"/>
              </a:solidFill>
              <a:latin typeface="Times New Roman"/>
              <a:sym typeface="+mn-ea"/>
            </a:endParaRPr>
          </a:p>
          <a:p>
            <a:pPr eaLnBrk="0" fontAlgn="base" hangingPunct="0">
              <a:lnSpc>
                <a:spcPts val="3400"/>
              </a:lnSpc>
              <a:spcBef>
                <a:spcPct val="0"/>
              </a:spcBef>
              <a:spcAft>
                <a:spcPct val="0"/>
              </a:spcAft>
            </a:pPr>
            <a:r>
              <a:rPr lang="zh-CN" altLang="en-US" dirty="0">
                <a:solidFill>
                  <a:srgbClr val="000000"/>
                </a:solidFill>
                <a:latin typeface="Times New Roman"/>
                <a:sym typeface="+mn-ea"/>
              </a:rPr>
              <a:t>        将接收到的数据分为</a:t>
            </a:r>
            <a:r>
              <a:rPr lang="en-US" altLang="zh-CN" dirty="0">
                <a:solidFill>
                  <a:srgbClr val="000000"/>
                </a:solidFill>
                <a:latin typeface="Times New Roman"/>
                <a:sym typeface="+mn-ea"/>
              </a:rPr>
              <a:t>k</a:t>
            </a:r>
            <a:r>
              <a:rPr lang="zh-CN" altLang="en-US" dirty="0">
                <a:solidFill>
                  <a:srgbClr val="000000"/>
                </a:solidFill>
                <a:latin typeface="Times New Roman"/>
                <a:sym typeface="+mn-ea"/>
              </a:rPr>
              <a:t>段，</a:t>
            </a:r>
            <a:r>
              <a:rPr lang="en-US" altLang="zh-CN" dirty="0">
                <a:solidFill>
                  <a:srgbClr val="000000"/>
                </a:solidFill>
                <a:latin typeface="Times New Roman"/>
                <a:sym typeface="+mn-ea"/>
              </a:rPr>
              <a:t>k</a:t>
            </a:r>
            <a:r>
              <a:rPr lang="zh-CN" altLang="en-US" dirty="0">
                <a:solidFill>
                  <a:srgbClr val="000000"/>
                </a:solidFill>
                <a:latin typeface="Times New Roman"/>
                <a:sym typeface="+mn-ea"/>
              </a:rPr>
              <a:t>为原数据的重复次数。每一段即是一个原数据，这样就完成了数据恢复。将这</a:t>
            </a:r>
            <a:r>
              <a:rPr lang="en-US" altLang="zh-CN" dirty="0">
                <a:solidFill>
                  <a:srgbClr val="000000"/>
                </a:solidFill>
                <a:latin typeface="Times New Roman"/>
                <a:sym typeface="+mn-ea"/>
              </a:rPr>
              <a:t>k</a:t>
            </a:r>
            <a:r>
              <a:rPr lang="zh-CN" altLang="en-US" dirty="0">
                <a:solidFill>
                  <a:srgbClr val="000000"/>
                </a:solidFill>
                <a:latin typeface="Times New Roman"/>
                <a:sym typeface="+mn-ea"/>
              </a:rPr>
              <a:t>段数据比较。可保证传输数据的可靠性。</a:t>
            </a:r>
            <a:endParaRPr lang="en-US" altLang="zh-CN" dirty="0">
              <a:solidFill>
                <a:srgbClr val="000000"/>
              </a:solidFill>
              <a:latin typeface="Times New Roman"/>
              <a:sym typeface="+mn-ea"/>
            </a:endParaRPr>
          </a:p>
        </p:txBody>
      </p:sp>
      <p:cxnSp>
        <p:nvCxnSpPr>
          <p:cNvPr id="4" name="直接连接符 3"/>
          <p:cNvCxnSpPr/>
          <p:nvPr/>
        </p:nvCxnSpPr>
        <p:spPr bwMode="auto">
          <a:xfrm>
            <a:off x="2209902" y="3581396"/>
            <a:ext cx="7772196" cy="0"/>
          </a:xfrm>
          <a:prstGeom prst="line">
            <a:avLst/>
          </a:prstGeom>
          <a:ln w="28575"/>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简单的纠删码</a:t>
            </a:r>
            <a:r>
              <a:rPr lang="en-US" altLang="zh-CN" sz="2400" dirty="0">
                <a:sym typeface="+mn-ea"/>
              </a:rPr>
              <a:t>——</a:t>
            </a:r>
            <a:r>
              <a:rPr lang="zh-CN" altLang="en-US" sz="2400" dirty="0">
                <a:sym typeface="+mn-ea"/>
              </a:rPr>
              <a:t>奇偶校验码</a:t>
            </a:r>
          </a:p>
        </p:txBody>
      </p:sp>
      <p:sp>
        <p:nvSpPr>
          <p:cNvPr id="9" name="文本框 8"/>
          <p:cNvSpPr txBox="1"/>
          <p:nvPr/>
        </p:nvSpPr>
        <p:spPr>
          <a:xfrm>
            <a:off x="235779" y="855212"/>
            <a:ext cx="5860221" cy="250895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dirty="0">
                <a:solidFill>
                  <a:srgbClr val="000000"/>
                </a:solidFill>
                <a:latin typeface="Times New Roman"/>
                <a:sym typeface="+mn-ea"/>
              </a:rPr>
              <a:t>编码方式：</a:t>
            </a:r>
            <a:endParaRPr lang="en-US" altLang="zh-CN" dirty="0">
              <a:solidFill>
                <a:srgbClr val="000000"/>
              </a:solidFill>
              <a:latin typeface="Times New Roman"/>
              <a:sym typeface="+mn-ea"/>
            </a:endParaRPr>
          </a:p>
          <a:p>
            <a:pPr eaLnBrk="0" fontAlgn="base" hangingPunct="0">
              <a:lnSpc>
                <a:spcPts val="3200"/>
              </a:lnSpc>
              <a:spcBef>
                <a:spcPct val="0"/>
              </a:spcBef>
              <a:spcAft>
                <a:spcPct val="0"/>
              </a:spcAft>
            </a:pPr>
            <a:r>
              <a:rPr lang="zh-CN" altLang="en-US" dirty="0">
                <a:solidFill>
                  <a:srgbClr val="000000"/>
                </a:solidFill>
                <a:latin typeface="Times New Roman"/>
                <a:sym typeface="+mn-ea"/>
              </a:rPr>
              <a:t>        奇偶校验码是一种通过</a:t>
            </a:r>
            <a:r>
              <a:rPr lang="zh-CN" altLang="en-US" dirty="0">
                <a:solidFill>
                  <a:srgbClr val="3333CC"/>
                </a:solidFill>
                <a:latin typeface="Times New Roman"/>
                <a:sym typeface="+mn-ea"/>
              </a:rPr>
              <a:t>增加冗余位，使得码字中“</a:t>
            </a:r>
            <a:r>
              <a:rPr lang="en-US" altLang="zh-CN" dirty="0">
                <a:solidFill>
                  <a:srgbClr val="3333CC"/>
                </a:solidFill>
                <a:latin typeface="Times New Roman"/>
                <a:sym typeface="+mn-ea"/>
              </a:rPr>
              <a:t>1</a:t>
            </a:r>
            <a:r>
              <a:rPr lang="zh-CN" altLang="en-US" dirty="0">
                <a:solidFill>
                  <a:srgbClr val="3333CC"/>
                </a:solidFill>
                <a:latin typeface="Times New Roman"/>
                <a:sym typeface="+mn-ea"/>
              </a:rPr>
              <a:t>”的个数恒为奇数或者偶数的编码方法</a:t>
            </a:r>
            <a:r>
              <a:rPr lang="zh-CN" altLang="en-US" dirty="0">
                <a:solidFill>
                  <a:srgbClr val="000000"/>
                </a:solidFill>
                <a:latin typeface="Times New Roman"/>
                <a:sym typeface="+mn-ea"/>
              </a:rPr>
              <a:t>。</a:t>
            </a:r>
            <a:endParaRPr lang="en-US" altLang="zh-CN" dirty="0">
              <a:solidFill>
                <a:srgbClr val="000000"/>
              </a:solidFill>
              <a:latin typeface="Times New Roman"/>
              <a:sym typeface="+mn-ea"/>
            </a:endParaRPr>
          </a:p>
          <a:p>
            <a:pPr eaLnBrk="0" fontAlgn="base" hangingPunct="0">
              <a:lnSpc>
                <a:spcPts val="3200"/>
              </a:lnSpc>
              <a:spcBef>
                <a:spcPct val="0"/>
              </a:spcBef>
              <a:spcAft>
                <a:spcPct val="0"/>
              </a:spcAft>
            </a:pPr>
            <a:r>
              <a:rPr lang="en-US" altLang="zh-CN" dirty="0">
                <a:solidFill>
                  <a:srgbClr val="000000"/>
                </a:solidFill>
                <a:latin typeface="Times New Roman"/>
                <a:sym typeface="+mn-ea"/>
              </a:rPr>
              <a:t>        </a:t>
            </a:r>
            <a:r>
              <a:rPr lang="zh-CN" altLang="en-US" dirty="0">
                <a:solidFill>
                  <a:srgbClr val="000000"/>
                </a:solidFill>
                <a:latin typeface="Times New Roman"/>
                <a:sym typeface="+mn-ea"/>
              </a:rPr>
              <a:t>将原数据分为</a:t>
            </a:r>
            <a:r>
              <a:rPr lang="en-US" altLang="zh-CN" dirty="0">
                <a:solidFill>
                  <a:srgbClr val="FF0000"/>
                </a:solidFill>
                <a:latin typeface="Times New Roman"/>
                <a:sym typeface="+mn-ea"/>
              </a:rPr>
              <a:t>k</a:t>
            </a:r>
            <a:r>
              <a:rPr lang="zh-CN" altLang="en-US" dirty="0">
                <a:solidFill>
                  <a:srgbClr val="FF0000"/>
                </a:solidFill>
                <a:latin typeface="Times New Roman"/>
                <a:sym typeface="+mn-ea"/>
              </a:rPr>
              <a:t>个等长</a:t>
            </a:r>
            <a:r>
              <a:rPr lang="zh-CN" altLang="en-US" dirty="0">
                <a:solidFill>
                  <a:srgbClr val="000000"/>
                </a:solidFill>
                <a:latin typeface="Times New Roman"/>
                <a:sym typeface="+mn-ea"/>
              </a:rPr>
              <a:t>的部分，将这</a:t>
            </a:r>
            <a:r>
              <a:rPr lang="en-US" altLang="zh-CN" dirty="0">
                <a:solidFill>
                  <a:srgbClr val="000000"/>
                </a:solidFill>
                <a:latin typeface="Times New Roman"/>
                <a:sym typeface="+mn-ea"/>
              </a:rPr>
              <a:t>k</a:t>
            </a:r>
            <a:r>
              <a:rPr lang="zh-CN" altLang="en-US" dirty="0">
                <a:solidFill>
                  <a:srgbClr val="000000"/>
                </a:solidFill>
                <a:latin typeface="Times New Roman"/>
                <a:sym typeface="+mn-ea"/>
              </a:rPr>
              <a:t>个部分进行异或操作，在数据最后加上异或操作的结果，作为冗余段，然后将原数据和冗余段一起传输。</a:t>
            </a:r>
            <a:endParaRPr lang="en-US" altLang="zh-CN" dirty="0">
              <a:solidFill>
                <a:srgbClr val="000000"/>
              </a:solidFill>
              <a:latin typeface="Times New Roman"/>
              <a:sym typeface="+mn-ea"/>
            </a:endParaRPr>
          </a:p>
        </p:txBody>
      </p:sp>
      <p:grpSp>
        <p:nvGrpSpPr>
          <p:cNvPr id="3" name="组合 2"/>
          <p:cNvGrpSpPr/>
          <p:nvPr/>
        </p:nvGrpSpPr>
        <p:grpSpPr>
          <a:xfrm>
            <a:off x="566366" y="3546333"/>
            <a:ext cx="4934211" cy="2309694"/>
            <a:chOff x="1239761" y="3738900"/>
            <a:chExt cx="6664477" cy="2777492"/>
          </a:xfrm>
        </p:grpSpPr>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9761" y="3738900"/>
              <a:ext cx="6664477" cy="2263887"/>
            </a:xfrm>
            <a:prstGeom prst="rect">
              <a:avLst/>
            </a:prstGeom>
          </p:spPr>
        </p:pic>
        <p:sp>
          <p:nvSpPr>
            <p:cNvPr id="5" name="文本框 4"/>
            <p:cNvSpPr txBox="1"/>
            <p:nvPr/>
          </p:nvSpPr>
          <p:spPr>
            <a:xfrm>
              <a:off x="3139361" y="5927296"/>
              <a:ext cx="3222981" cy="58909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000000"/>
                  </a:solidFill>
                  <a:sym typeface="+mn-ea"/>
                </a:rPr>
                <a:t>奇偶校验码编码示例</a:t>
              </a:r>
            </a:p>
          </p:txBody>
        </p:sp>
      </p:grpSp>
      <p:sp>
        <p:nvSpPr>
          <p:cNvPr id="4" name="文本框 3">
            <a:extLst>
              <a:ext uri="{FF2B5EF4-FFF2-40B4-BE49-F238E27FC236}">
                <a16:creationId xmlns:a16="http://schemas.microsoft.com/office/drawing/2014/main" id="{8E51937B-F7CF-5552-2FD8-6D4FD70C74F9}"/>
              </a:ext>
            </a:extLst>
          </p:cNvPr>
          <p:cNvSpPr txBox="1"/>
          <p:nvPr/>
        </p:nvSpPr>
        <p:spPr>
          <a:xfrm>
            <a:off x="6233939" y="855212"/>
            <a:ext cx="5722281" cy="222041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000000"/>
                </a:solidFill>
                <a:latin typeface="Times New Roman"/>
                <a:sym typeface="+mn-ea"/>
              </a:rPr>
              <a:t>解码方式：</a:t>
            </a:r>
            <a:endParaRPr lang="en-US" altLang="zh-CN" dirty="0">
              <a:solidFill>
                <a:srgbClr val="000000"/>
              </a:solidFill>
              <a:latin typeface="Times New Roman"/>
              <a:sym typeface="+mn-ea"/>
            </a:endParaRPr>
          </a:p>
          <a:p>
            <a:pPr eaLnBrk="0" fontAlgn="base" hangingPunct="0">
              <a:lnSpc>
                <a:spcPts val="3400"/>
              </a:lnSpc>
              <a:spcBef>
                <a:spcPct val="0"/>
              </a:spcBef>
              <a:spcAft>
                <a:spcPct val="0"/>
              </a:spcAft>
            </a:pPr>
            <a:r>
              <a:rPr lang="zh-CN" altLang="en-US" dirty="0">
                <a:solidFill>
                  <a:srgbClr val="000000"/>
                </a:solidFill>
                <a:latin typeface="Times New Roman"/>
                <a:sym typeface="+mn-ea"/>
              </a:rPr>
              <a:t>        冗余检测方式，接收方根据接收到的数据和冗余恢复出丢失的数据。也可以</a:t>
            </a:r>
            <a:r>
              <a:rPr lang="zh-CN" altLang="en-US" dirty="0">
                <a:solidFill>
                  <a:srgbClr val="FF0000"/>
                </a:solidFill>
                <a:latin typeface="Times New Roman"/>
                <a:sym typeface="+mn-ea"/>
              </a:rPr>
              <a:t>对接收到的数据进行异或操作</a:t>
            </a:r>
            <a:r>
              <a:rPr lang="zh-CN" altLang="en-US" dirty="0">
                <a:solidFill>
                  <a:srgbClr val="000000"/>
                </a:solidFill>
                <a:latin typeface="Times New Roman"/>
                <a:sym typeface="+mn-ea"/>
              </a:rPr>
              <a:t>，与数据段尾部的冗余比较，以保证数据传输的可靠性。</a:t>
            </a:r>
            <a:endParaRPr lang="en-US" altLang="zh-CN" dirty="0">
              <a:solidFill>
                <a:srgbClr val="000000"/>
              </a:solidFill>
              <a:latin typeface="Times New Roman"/>
              <a:sym typeface="+mn-ea"/>
            </a:endParaRPr>
          </a:p>
        </p:txBody>
      </p:sp>
      <p:grpSp>
        <p:nvGrpSpPr>
          <p:cNvPr id="6" name="组合 5">
            <a:extLst>
              <a:ext uri="{FF2B5EF4-FFF2-40B4-BE49-F238E27FC236}">
                <a16:creationId xmlns:a16="http://schemas.microsoft.com/office/drawing/2014/main" id="{78949DDD-020A-73DF-2F05-F2C0AAD99F79}"/>
              </a:ext>
            </a:extLst>
          </p:cNvPr>
          <p:cNvGrpSpPr/>
          <p:nvPr/>
        </p:nvGrpSpPr>
        <p:grpSpPr>
          <a:xfrm>
            <a:off x="6379535" y="3382662"/>
            <a:ext cx="5385008" cy="2670264"/>
            <a:chOff x="1363122" y="3476302"/>
            <a:chExt cx="6417755" cy="3065056"/>
          </a:xfrm>
        </p:grpSpPr>
        <p:pic>
          <p:nvPicPr>
            <p:cNvPr id="7" name="图片 6">
              <a:extLst>
                <a:ext uri="{FF2B5EF4-FFF2-40B4-BE49-F238E27FC236}">
                  <a16:creationId xmlns:a16="http://schemas.microsoft.com/office/drawing/2014/main" id="{3DB38241-4B4D-E86C-D718-C0D00C8C45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3122" y="3476302"/>
              <a:ext cx="6417755" cy="2484292"/>
            </a:xfrm>
            <a:prstGeom prst="rect">
              <a:avLst/>
            </a:prstGeom>
          </p:spPr>
        </p:pic>
        <p:sp>
          <p:nvSpPr>
            <p:cNvPr id="8" name="文本框 7">
              <a:extLst>
                <a:ext uri="{FF2B5EF4-FFF2-40B4-BE49-F238E27FC236}">
                  <a16:creationId xmlns:a16="http://schemas.microsoft.com/office/drawing/2014/main" id="{21813902-835C-9EBB-510E-89F3871483B4}"/>
                </a:ext>
              </a:extLst>
            </p:cNvPr>
            <p:cNvSpPr txBox="1"/>
            <p:nvPr/>
          </p:nvSpPr>
          <p:spPr>
            <a:xfrm>
              <a:off x="3736951" y="5979053"/>
              <a:ext cx="2760471" cy="56230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000000"/>
                  </a:solidFill>
                  <a:sym typeface="+mn-ea"/>
                </a:rPr>
                <a:t>奇偶校验码解码示例</a:t>
              </a:r>
            </a:p>
          </p:txBody>
        </p:sp>
      </p:gr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两种简单纠删码的性能比较</a:t>
            </a:r>
          </a:p>
        </p:txBody>
      </p:sp>
      <p:sp>
        <p:nvSpPr>
          <p:cNvPr id="9" name="文本框 8"/>
          <p:cNvSpPr txBox="1"/>
          <p:nvPr/>
        </p:nvSpPr>
        <p:spPr>
          <a:xfrm>
            <a:off x="2223602" y="1184377"/>
            <a:ext cx="7480637" cy="222349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3333CC"/>
                </a:solidFill>
                <a:latin typeface="Times New Roman"/>
                <a:sym typeface="+mn-ea"/>
              </a:rPr>
              <a:t>重复码</a:t>
            </a:r>
            <a:r>
              <a:rPr lang="zh-CN" altLang="en-US" dirty="0">
                <a:solidFill>
                  <a:srgbClr val="000000"/>
                </a:solidFill>
                <a:latin typeface="Times New Roman"/>
                <a:sym typeface="+mn-ea"/>
              </a:rPr>
              <a:t>可容忍擦除率很高，但编码率低，效率低下，造成浪费</a:t>
            </a:r>
            <a:r>
              <a:rPr lang="zh-CN" altLang="en-US" dirty="0">
                <a:solidFill>
                  <a:srgbClr val="000000"/>
                </a:solidFill>
                <a:latin typeface="Times New Roman"/>
              </a:rPr>
              <a:t>。</a:t>
            </a:r>
            <a:endParaRPr lang="en-US" altLang="zh-CN" dirty="0">
              <a:solidFill>
                <a:srgbClr val="000000"/>
              </a:solidFill>
              <a:latin typeface="Times New Roman"/>
            </a:endParaRPr>
          </a:p>
          <a:p>
            <a:pPr eaLnBrk="0" fontAlgn="base" hangingPunct="0">
              <a:lnSpc>
                <a:spcPts val="3400"/>
              </a:lnSpc>
              <a:spcBef>
                <a:spcPct val="0"/>
              </a:spcBef>
              <a:spcAft>
                <a:spcPct val="0"/>
              </a:spcAft>
            </a:pPr>
            <a:endParaRPr lang="en-US" altLang="zh-CN" dirty="0">
              <a:solidFill>
                <a:srgbClr val="000000"/>
              </a:solidFill>
              <a:latin typeface="Times New Roman"/>
              <a:sym typeface="+mn-ea"/>
            </a:endParaRPr>
          </a:p>
          <a:p>
            <a:pPr eaLnBrk="0" fontAlgn="base" hangingPunct="0">
              <a:lnSpc>
                <a:spcPts val="3400"/>
              </a:lnSpc>
              <a:spcBef>
                <a:spcPct val="0"/>
              </a:spcBef>
              <a:spcAft>
                <a:spcPct val="0"/>
              </a:spcAft>
            </a:pPr>
            <a:r>
              <a:rPr lang="zh-CN" altLang="en-US" dirty="0">
                <a:solidFill>
                  <a:srgbClr val="3333CC"/>
                </a:solidFill>
                <a:latin typeface="Times New Roman"/>
                <a:sym typeface="+mn-ea"/>
              </a:rPr>
              <a:t>奇偶校验码</a:t>
            </a:r>
            <a:r>
              <a:rPr lang="zh-CN" altLang="en-US" dirty="0">
                <a:solidFill>
                  <a:srgbClr val="000000"/>
                </a:solidFill>
                <a:latin typeface="Times New Roman"/>
                <a:sym typeface="+mn-ea"/>
              </a:rPr>
              <a:t>的编码率高，但可容忍擦除数少，容错性差。</a:t>
            </a:r>
            <a:endParaRPr lang="en-US" altLang="zh-CN" dirty="0">
              <a:solidFill>
                <a:srgbClr val="000000"/>
              </a:solidFill>
              <a:latin typeface="Times New Roman"/>
              <a:sym typeface="+mn-ea"/>
            </a:endParaRPr>
          </a:p>
          <a:p>
            <a:pPr eaLnBrk="0" fontAlgn="base" hangingPunct="0">
              <a:lnSpc>
                <a:spcPts val="3400"/>
              </a:lnSpc>
              <a:spcBef>
                <a:spcPct val="0"/>
              </a:spcBef>
              <a:spcAft>
                <a:spcPct val="0"/>
              </a:spcAft>
            </a:pPr>
            <a:endParaRPr lang="en-US" altLang="zh-CN" dirty="0">
              <a:solidFill>
                <a:srgbClr val="000000"/>
              </a:solidFill>
              <a:latin typeface="Times New Roman"/>
              <a:sym typeface="+mn-ea"/>
            </a:endParaRPr>
          </a:p>
          <a:p>
            <a:pPr eaLnBrk="0" fontAlgn="base" hangingPunct="0">
              <a:lnSpc>
                <a:spcPts val="3400"/>
              </a:lnSpc>
              <a:spcBef>
                <a:spcPct val="0"/>
              </a:spcBef>
              <a:spcAft>
                <a:spcPct val="0"/>
              </a:spcAft>
            </a:pPr>
            <a:r>
              <a:rPr lang="zh-CN" altLang="en-US" dirty="0">
                <a:solidFill>
                  <a:srgbClr val="000000"/>
                </a:solidFill>
                <a:latin typeface="Times New Roman"/>
                <a:sym typeface="+mn-ea"/>
              </a:rPr>
              <a:t>二者的具体区别如表所示。其中</a:t>
            </a:r>
            <a:r>
              <a:rPr lang="en-US" altLang="zh-CN" dirty="0">
                <a:solidFill>
                  <a:srgbClr val="000000"/>
                </a:solidFill>
                <a:latin typeface="Times New Roman"/>
                <a:sym typeface="+mn-ea"/>
              </a:rPr>
              <a:t>n</a:t>
            </a:r>
            <a:r>
              <a:rPr lang="zh-CN" altLang="en-US" dirty="0">
                <a:solidFill>
                  <a:srgbClr val="000000"/>
                </a:solidFill>
                <a:latin typeface="Times New Roman"/>
                <a:sym typeface="+mn-ea"/>
              </a:rPr>
              <a:t>为原数据个数，</a:t>
            </a:r>
            <a:r>
              <a:rPr lang="en-US" altLang="zh-CN" dirty="0">
                <a:solidFill>
                  <a:srgbClr val="000000"/>
                </a:solidFill>
                <a:latin typeface="Times New Roman"/>
                <a:sym typeface="+mn-ea"/>
              </a:rPr>
              <a:t>m</a:t>
            </a:r>
            <a:r>
              <a:rPr lang="zh-CN" altLang="en-US" dirty="0">
                <a:solidFill>
                  <a:srgbClr val="000000"/>
                </a:solidFill>
                <a:latin typeface="Times New Roman"/>
                <a:sym typeface="+mn-ea"/>
              </a:rPr>
              <a:t>为冗余数。</a:t>
            </a:r>
            <a:endParaRPr lang="en-US" altLang="zh-CN" dirty="0">
              <a:solidFill>
                <a:srgbClr val="000000"/>
              </a:solidFill>
              <a:latin typeface="Times New Roman"/>
              <a:sym typeface="+mn-ea"/>
            </a:endParaRPr>
          </a:p>
        </p:txBody>
      </p:sp>
      <p:graphicFrame>
        <p:nvGraphicFramePr>
          <p:cNvPr id="3" name="表格 3"/>
          <p:cNvGraphicFramePr>
            <a:graphicFrameLocks noGrp="1"/>
          </p:cNvGraphicFramePr>
          <p:nvPr/>
        </p:nvGraphicFramePr>
        <p:xfrm>
          <a:off x="2561322" y="4038585"/>
          <a:ext cx="6805194" cy="1426503"/>
        </p:xfrm>
        <a:graphic>
          <a:graphicData uri="http://schemas.openxmlformats.org/drawingml/2006/table">
            <a:tbl>
              <a:tblPr firstRow="1" bandRow="1">
                <a:tableStyleId>{5C22544A-7EE6-4342-B048-85BDC9FD1C3A}</a:tableStyleId>
              </a:tblPr>
              <a:tblGrid>
                <a:gridCol w="2268398">
                  <a:extLst>
                    <a:ext uri="{9D8B030D-6E8A-4147-A177-3AD203B41FA5}">
                      <a16:colId xmlns:a16="http://schemas.microsoft.com/office/drawing/2014/main" val="20000"/>
                    </a:ext>
                  </a:extLst>
                </a:gridCol>
                <a:gridCol w="2581962">
                  <a:extLst>
                    <a:ext uri="{9D8B030D-6E8A-4147-A177-3AD203B41FA5}">
                      <a16:colId xmlns:a16="http://schemas.microsoft.com/office/drawing/2014/main" val="20001"/>
                    </a:ext>
                  </a:extLst>
                </a:gridCol>
                <a:gridCol w="1954834">
                  <a:extLst>
                    <a:ext uri="{9D8B030D-6E8A-4147-A177-3AD203B41FA5}">
                      <a16:colId xmlns:a16="http://schemas.microsoft.com/office/drawing/2014/main" val="20002"/>
                    </a:ext>
                  </a:extLst>
                </a:gridCol>
              </a:tblGrid>
              <a:tr h="475501">
                <a:tc>
                  <a:txBody>
                    <a:bodyPr/>
                    <a:lstStyle/>
                    <a:p>
                      <a:pPr algn="ctr"/>
                      <a:endParaRPr lang="zh-CN" altLang="en-US" sz="1600" b="0" dirty="0">
                        <a:solidFill>
                          <a:schemeClr val="tx1"/>
                        </a:solidFill>
                        <a:latin typeface="+mn-ea"/>
                        <a:ea typeface="+mn-ea"/>
                        <a:cs typeface="Adobe Arabic" panose="02040503050201020203" pitchFamily="18" charset="-78"/>
                      </a:endParaRPr>
                    </a:p>
                  </a:txBody>
                  <a:tcPr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latin typeface="+mn-ea"/>
                          <a:ea typeface="+mn-ea"/>
                          <a:cs typeface="Adobe Arabic" panose="02040503050201020203" pitchFamily="18" charset="-78"/>
                        </a:rPr>
                        <a:t>重复码</a:t>
                      </a:r>
                    </a:p>
                  </a:txBody>
                  <a:tcPr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latin typeface="+mn-ea"/>
                          <a:ea typeface="+mn-ea"/>
                          <a:cs typeface="Adobe Arabic" panose="02040503050201020203" pitchFamily="18" charset="-78"/>
                        </a:rPr>
                        <a:t>奇偶校验码</a:t>
                      </a:r>
                    </a:p>
                  </a:txBody>
                  <a:tcPr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75501">
                <a:tc>
                  <a:txBody>
                    <a:bodyPr/>
                    <a:lstStyle/>
                    <a:p>
                      <a:pPr algn="ctr"/>
                      <a:r>
                        <a:rPr lang="zh-CN" altLang="en-US" sz="1600" b="0" dirty="0">
                          <a:solidFill>
                            <a:schemeClr val="tx1"/>
                          </a:solidFill>
                          <a:latin typeface="+mn-ea"/>
                          <a:ea typeface="+mn-ea"/>
                          <a:cs typeface="Adobe Arabic" panose="02040503050201020203" pitchFamily="18" charset="-78"/>
                        </a:rPr>
                        <a:t>可容忍擦除数</a:t>
                      </a:r>
                    </a:p>
                  </a:txBody>
                  <a:tcPr anchor="ctr">
                    <a:lnT w="6350" cap="flat" cmpd="sng" algn="ctr">
                      <a:solidFill>
                        <a:schemeClr val="tx1"/>
                      </a:solidFill>
                      <a:prstDash val="solid"/>
                      <a:round/>
                      <a:headEnd type="none" w="med" len="med"/>
                      <a:tailEnd type="none" w="med" len="med"/>
                    </a:lnT>
                    <a:noFill/>
                  </a:tcPr>
                </a:tc>
                <a:tc>
                  <a:txBody>
                    <a:bodyPr/>
                    <a:lstStyle/>
                    <a:p>
                      <a:pPr algn="ctr"/>
                      <a:r>
                        <a:rPr lang="zh-CN" altLang="en-US" sz="1600" b="0" dirty="0">
                          <a:solidFill>
                            <a:schemeClr val="tx1"/>
                          </a:solidFill>
                          <a:latin typeface="+mn-ea"/>
                          <a:ea typeface="+mn-ea"/>
                          <a:cs typeface="Adobe Arabic" panose="02040503050201020203" pitchFamily="18" charset="-78"/>
                        </a:rPr>
                        <a:t>最多</a:t>
                      </a:r>
                      <a:r>
                        <a:rPr lang="en-US" altLang="zh-CN" sz="1600" b="0" dirty="0">
                          <a:solidFill>
                            <a:schemeClr val="tx1"/>
                          </a:solidFill>
                          <a:latin typeface="+mn-ea"/>
                          <a:ea typeface="+mn-ea"/>
                          <a:cs typeface="Adobe Arabic" panose="02040503050201020203" pitchFamily="18" charset="-78"/>
                        </a:rPr>
                        <a:t>(k-1)</a:t>
                      </a:r>
                      <a:r>
                        <a:rPr lang="zh-CN" altLang="en-US" sz="1600" b="0" dirty="0">
                          <a:solidFill>
                            <a:schemeClr val="tx1"/>
                          </a:solidFill>
                          <a:latin typeface="+mn-ea"/>
                          <a:ea typeface="+mn-ea"/>
                          <a:cs typeface="Adobe Arabic" panose="02040503050201020203" pitchFamily="18" charset="-78"/>
                        </a:rPr>
                        <a:t>倍于原数据包</a:t>
                      </a:r>
                    </a:p>
                  </a:txBody>
                  <a:tcPr anchor="ctr">
                    <a:lnT w="6350" cap="flat" cmpd="sng" algn="ctr">
                      <a:solidFill>
                        <a:schemeClr val="tx1"/>
                      </a:solidFill>
                      <a:prstDash val="solid"/>
                      <a:round/>
                      <a:headEnd type="none" w="med" len="med"/>
                      <a:tailEnd type="none" w="med" len="med"/>
                    </a:lnT>
                    <a:noFill/>
                  </a:tcPr>
                </a:tc>
                <a:tc>
                  <a:txBody>
                    <a:bodyPr/>
                    <a:lstStyle/>
                    <a:p>
                      <a:pPr algn="ctr"/>
                      <a:r>
                        <a:rPr lang="zh-CN" altLang="en-US" sz="1600" b="0" dirty="0">
                          <a:solidFill>
                            <a:schemeClr val="tx1"/>
                          </a:solidFill>
                          <a:latin typeface="+mn-ea"/>
                          <a:ea typeface="+mn-ea"/>
                          <a:cs typeface="Adobe Arabic" panose="02040503050201020203" pitchFamily="18" charset="-78"/>
                        </a:rPr>
                        <a:t>只能容忍</a:t>
                      </a:r>
                      <a:r>
                        <a:rPr lang="en-US" altLang="zh-CN" sz="1600" b="0" dirty="0">
                          <a:solidFill>
                            <a:schemeClr val="tx1"/>
                          </a:solidFill>
                          <a:latin typeface="+mn-ea"/>
                          <a:ea typeface="+mn-ea"/>
                          <a:cs typeface="Adobe Arabic" panose="02040503050201020203" pitchFamily="18" charset="-78"/>
                        </a:rPr>
                        <a:t>1</a:t>
                      </a:r>
                      <a:r>
                        <a:rPr lang="zh-CN" altLang="en-US" sz="1600" b="0" dirty="0">
                          <a:solidFill>
                            <a:schemeClr val="tx1"/>
                          </a:solidFill>
                          <a:latin typeface="+mn-ea"/>
                          <a:ea typeface="+mn-ea"/>
                          <a:cs typeface="Adobe Arabic" panose="02040503050201020203" pitchFamily="18" charset="-78"/>
                        </a:rPr>
                        <a:t>个数据包</a:t>
                      </a:r>
                    </a:p>
                  </a:txBody>
                  <a:tcPr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475501">
                <a:tc>
                  <a:txBody>
                    <a:bodyPr/>
                    <a:lstStyle/>
                    <a:p>
                      <a:pPr algn="ctr"/>
                      <a:r>
                        <a:rPr lang="zh-CN" altLang="en-US" sz="1600" b="0" dirty="0">
                          <a:solidFill>
                            <a:schemeClr val="tx1"/>
                          </a:solidFill>
                          <a:latin typeface="+mn-ea"/>
                          <a:ea typeface="+mn-ea"/>
                          <a:cs typeface="Adobe Arabic" panose="02040503050201020203" pitchFamily="18" charset="-78"/>
                        </a:rPr>
                        <a:t>编码率</a:t>
                      </a:r>
                    </a:p>
                  </a:txBody>
                  <a:tcPr anchor="ctr">
                    <a:lnB w="190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latin typeface="+mn-ea"/>
                          <a:ea typeface="+mn-ea"/>
                          <a:cs typeface="Adobe Arabic" panose="02040503050201020203" pitchFamily="18" charset="-78"/>
                        </a:rPr>
                        <a:t>低，只有</a:t>
                      </a:r>
                      <a:r>
                        <a:rPr lang="en-US" altLang="zh-CN" sz="1600" b="0" dirty="0">
                          <a:solidFill>
                            <a:schemeClr val="tx1"/>
                          </a:solidFill>
                          <a:latin typeface="+mn-ea"/>
                          <a:ea typeface="+mn-ea"/>
                          <a:cs typeface="Adobe Arabic" panose="02040503050201020203" pitchFamily="18" charset="-78"/>
                        </a:rPr>
                        <a:t>1/</a:t>
                      </a:r>
                      <a:r>
                        <a:rPr lang="en-US" altLang="zh-CN" sz="1600" b="0" i="1" dirty="0">
                          <a:solidFill>
                            <a:schemeClr val="tx1"/>
                          </a:solidFill>
                          <a:latin typeface="+mn-ea"/>
                          <a:ea typeface="+mn-ea"/>
                          <a:cs typeface="Adobe Arabic" panose="02040503050201020203" pitchFamily="18" charset="-78"/>
                        </a:rPr>
                        <a:t>n</a:t>
                      </a:r>
                      <a:endParaRPr lang="zh-CN" altLang="en-US" sz="1600" b="0" i="1" dirty="0">
                        <a:solidFill>
                          <a:schemeClr val="tx1"/>
                        </a:solidFill>
                        <a:latin typeface="+mn-ea"/>
                        <a:ea typeface="+mn-ea"/>
                        <a:cs typeface="Adobe Arabic" panose="02040503050201020203" pitchFamily="18" charset="-78"/>
                      </a:endParaRPr>
                    </a:p>
                  </a:txBody>
                  <a:tcPr anchor="ctr">
                    <a:lnB w="190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latin typeface="+mn-ea"/>
                          <a:ea typeface="+mn-ea"/>
                          <a:cs typeface="Adobe Arabic" panose="02040503050201020203" pitchFamily="18" charset="-78"/>
                        </a:rPr>
                        <a:t>高达</a:t>
                      </a:r>
                      <a:r>
                        <a:rPr lang="en-US" altLang="zh-CN" sz="1600" b="0" i="1" dirty="0">
                          <a:solidFill>
                            <a:schemeClr val="tx1"/>
                          </a:solidFill>
                          <a:latin typeface="+mn-ea"/>
                          <a:ea typeface="+mn-ea"/>
                          <a:cs typeface="Adobe Arabic" panose="02040503050201020203" pitchFamily="18" charset="-78"/>
                        </a:rPr>
                        <a:t>n</a:t>
                      </a:r>
                      <a:r>
                        <a:rPr lang="en-US" altLang="zh-CN" sz="1600" b="0" dirty="0">
                          <a:solidFill>
                            <a:schemeClr val="tx1"/>
                          </a:solidFill>
                          <a:latin typeface="+mn-ea"/>
                          <a:ea typeface="+mn-ea"/>
                          <a:cs typeface="Adobe Arabic" panose="02040503050201020203" pitchFamily="18" charset="-78"/>
                        </a:rPr>
                        <a:t>/(</a:t>
                      </a:r>
                      <a:r>
                        <a:rPr lang="en-US" altLang="zh-CN" sz="1600" b="0" i="1" dirty="0" err="1">
                          <a:solidFill>
                            <a:schemeClr val="tx1"/>
                          </a:solidFill>
                          <a:latin typeface="+mn-ea"/>
                          <a:ea typeface="+mn-ea"/>
                          <a:cs typeface="Adobe Arabic" panose="02040503050201020203" pitchFamily="18" charset="-78"/>
                        </a:rPr>
                        <a:t>n</a:t>
                      </a:r>
                      <a:r>
                        <a:rPr lang="en-US" altLang="zh-CN" sz="1600" b="0" dirty="0" err="1">
                          <a:solidFill>
                            <a:schemeClr val="tx1"/>
                          </a:solidFill>
                          <a:latin typeface="+mn-ea"/>
                          <a:ea typeface="+mn-ea"/>
                          <a:cs typeface="Adobe Arabic" panose="02040503050201020203" pitchFamily="18" charset="-78"/>
                        </a:rPr>
                        <a:t>+</a:t>
                      </a:r>
                      <a:r>
                        <a:rPr lang="en-US" altLang="zh-CN" sz="1600" b="0" i="1" dirty="0" err="1">
                          <a:solidFill>
                            <a:schemeClr val="tx1"/>
                          </a:solidFill>
                          <a:latin typeface="+mn-ea"/>
                          <a:ea typeface="+mn-ea"/>
                          <a:cs typeface="Adobe Arabic" panose="02040503050201020203" pitchFamily="18" charset="-78"/>
                        </a:rPr>
                        <a:t>m</a:t>
                      </a:r>
                      <a:r>
                        <a:rPr lang="en-US" altLang="zh-CN" sz="1600" b="0" dirty="0">
                          <a:solidFill>
                            <a:schemeClr val="tx1"/>
                          </a:solidFill>
                          <a:latin typeface="+mn-ea"/>
                          <a:ea typeface="+mn-ea"/>
                          <a:cs typeface="Adobe Arabic" panose="02040503050201020203" pitchFamily="18" charset="-78"/>
                        </a:rPr>
                        <a:t>)</a:t>
                      </a:r>
                      <a:endParaRPr lang="zh-CN" altLang="en-US" sz="1600" b="0" dirty="0">
                        <a:solidFill>
                          <a:schemeClr val="tx1"/>
                        </a:solidFill>
                        <a:latin typeface="+mn-ea"/>
                        <a:ea typeface="+mn-ea"/>
                        <a:cs typeface="Adobe Arabic" panose="02040503050201020203" pitchFamily="18" charset="-78"/>
                      </a:endParaRPr>
                    </a:p>
                  </a:txBody>
                  <a:tcPr anchor="ct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6" name="内容占位符 2"/>
          <p:cNvSpPr txBox="1"/>
          <p:nvPr/>
        </p:nvSpPr>
        <p:spPr>
          <a:xfrm>
            <a:off x="2052955" y="1063800"/>
            <a:ext cx="7821930" cy="247643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Aft>
                <a:spcPct val="0"/>
              </a:spcAft>
              <a:buNone/>
            </a:pPr>
            <a:endParaRPr lang="en-US" altLang="zh-CN" sz="2000" dirty="0">
              <a:solidFill>
                <a:srgbClr val="C00000"/>
              </a:solidFill>
              <a:latin typeface="黑体" panose="02010609060101010101" pitchFamily="49" charset="-122"/>
              <a:ea typeface="黑体" panose="02010609060101010101" pitchFamily="49" charset="-122"/>
            </a:endParaRPr>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纠删码的分类</a:t>
            </a:r>
          </a:p>
        </p:txBody>
      </p:sp>
      <p:sp>
        <p:nvSpPr>
          <p:cNvPr id="10" name="文本框 9"/>
          <p:cNvSpPr txBox="1"/>
          <p:nvPr/>
        </p:nvSpPr>
        <p:spPr>
          <a:xfrm>
            <a:off x="2411379" y="1209360"/>
            <a:ext cx="7369242"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000000"/>
                </a:solidFill>
              </a:rPr>
              <a:t>        目前，纠删码技术在</a:t>
            </a:r>
            <a:r>
              <a:rPr lang="zh-CN" altLang="en-US" dirty="0">
                <a:solidFill>
                  <a:srgbClr val="3333CC"/>
                </a:solidFill>
              </a:rPr>
              <a:t>分布式存储系统</a:t>
            </a:r>
            <a:r>
              <a:rPr lang="zh-CN" altLang="en-US" dirty="0">
                <a:solidFill>
                  <a:srgbClr val="000000"/>
                </a:solidFill>
              </a:rPr>
              <a:t>中的应用主要有四类。</a:t>
            </a:r>
            <a:endParaRPr lang="zh-CN" altLang="en-US" dirty="0">
              <a:solidFill>
                <a:srgbClr val="000000"/>
              </a:solidFill>
              <a:sym typeface="+mn-ea"/>
            </a:endParaRPr>
          </a:p>
        </p:txBody>
      </p:sp>
      <p:grpSp>
        <p:nvGrpSpPr>
          <p:cNvPr id="5" name="组合 4"/>
          <p:cNvGrpSpPr/>
          <p:nvPr/>
        </p:nvGrpSpPr>
        <p:grpSpPr>
          <a:xfrm>
            <a:off x="1828913" y="2362228"/>
            <a:ext cx="7804459" cy="2957258"/>
            <a:chOff x="571605" y="2362228"/>
            <a:chExt cx="7804459" cy="2957258"/>
          </a:xfrm>
        </p:grpSpPr>
        <p:grpSp>
          <p:nvGrpSpPr>
            <p:cNvPr id="4" name="组合 3"/>
            <p:cNvGrpSpPr/>
            <p:nvPr/>
          </p:nvGrpSpPr>
          <p:grpSpPr>
            <a:xfrm>
              <a:off x="1752674" y="2362228"/>
              <a:ext cx="6623390" cy="2957258"/>
              <a:chOff x="1905070" y="2868612"/>
              <a:chExt cx="6623390" cy="2957258"/>
            </a:xfrm>
          </p:grpSpPr>
          <p:sp>
            <p:nvSpPr>
              <p:cNvPr id="3" name="左大括号 2"/>
              <p:cNvSpPr/>
              <p:nvPr/>
            </p:nvSpPr>
            <p:spPr bwMode="auto">
              <a:xfrm>
                <a:off x="1905070" y="3082742"/>
                <a:ext cx="914376" cy="2743128"/>
              </a:xfrm>
              <a:prstGeom prst="leftBrace">
                <a:avLst/>
              </a:prstGeom>
              <a:ln w="28575"/>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indent="-342900" fontAlgn="base">
                  <a:spcBef>
                    <a:spcPct val="20000"/>
                  </a:spcBef>
                  <a:spcAft>
                    <a:spcPct val="0"/>
                  </a:spcAft>
                  <a:buFont typeface="Wingdings" panose="05000000000000000000" pitchFamily="2" charset="2"/>
                  <a:buChar char="v"/>
                </a:pPr>
                <a:endParaRPr kumimoji="1" lang="zh-CN" altLang="en-US" sz="2800">
                  <a:solidFill>
                    <a:srgbClr val="336699"/>
                  </a:solidFill>
                  <a:latin typeface="黑体" panose="02010609060101010101" pitchFamily="49" charset="-122"/>
                  <a:ea typeface="黑体" panose="02010609060101010101" pitchFamily="49" charset="-122"/>
                </a:endParaRPr>
              </a:p>
            </p:txBody>
          </p:sp>
          <p:sp>
            <p:nvSpPr>
              <p:cNvPr id="8" name="文本框 7"/>
              <p:cNvSpPr txBox="1"/>
              <p:nvPr/>
            </p:nvSpPr>
            <p:spPr>
              <a:xfrm>
                <a:off x="3042204" y="3767214"/>
                <a:ext cx="4876672"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FF0000"/>
                    </a:solidFill>
                  </a:rPr>
                  <a:t>阵列码</a:t>
                </a:r>
                <a:r>
                  <a:rPr lang="en-US" altLang="zh-CN" dirty="0">
                    <a:solidFill>
                      <a:srgbClr val="000000"/>
                    </a:solidFill>
                  </a:rPr>
                  <a:t>(Array Code: RAID5</a:t>
                </a:r>
                <a:r>
                  <a:rPr lang="zh-CN" altLang="en-US" dirty="0">
                    <a:solidFill>
                      <a:srgbClr val="000000"/>
                    </a:solidFill>
                  </a:rPr>
                  <a:t>、</a:t>
                </a:r>
                <a:r>
                  <a:rPr lang="en-US" altLang="zh-CN" dirty="0">
                    <a:solidFill>
                      <a:srgbClr val="000000"/>
                    </a:solidFill>
                  </a:rPr>
                  <a:t>RAID6</a:t>
                </a:r>
                <a:r>
                  <a:rPr lang="zh-CN" altLang="en-US" dirty="0">
                    <a:solidFill>
                      <a:srgbClr val="000000"/>
                    </a:solidFill>
                  </a:rPr>
                  <a:t>等</a:t>
                </a:r>
                <a:r>
                  <a:rPr lang="en-US" altLang="zh-CN" dirty="0">
                    <a:solidFill>
                      <a:srgbClr val="000000"/>
                    </a:solidFill>
                  </a:rPr>
                  <a:t>)</a:t>
                </a:r>
                <a:endParaRPr lang="zh-CN" altLang="en-US" dirty="0">
                  <a:solidFill>
                    <a:srgbClr val="000000"/>
                  </a:solidFill>
                  <a:sym typeface="+mn-ea"/>
                </a:endParaRPr>
              </a:p>
            </p:txBody>
          </p:sp>
          <p:sp>
            <p:nvSpPr>
              <p:cNvPr id="11" name="文本框 10"/>
              <p:cNvSpPr txBox="1"/>
              <p:nvPr/>
            </p:nvSpPr>
            <p:spPr>
              <a:xfrm>
                <a:off x="3042204" y="2868612"/>
                <a:ext cx="5486256"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FF0000"/>
                    </a:solidFill>
                  </a:rPr>
                  <a:t>里德</a:t>
                </a:r>
                <a:r>
                  <a:rPr lang="en-US" altLang="zh-CN" dirty="0">
                    <a:solidFill>
                      <a:srgbClr val="FF0000"/>
                    </a:solidFill>
                  </a:rPr>
                  <a:t>-</a:t>
                </a:r>
                <a:r>
                  <a:rPr lang="zh-CN" altLang="en-US" dirty="0">
                    <a:solidFill>
                      <a:srgbClr val="FF0000"/>
                    </a:solidFill>
                  </a:rPr>
                  <a:t>所罗门类纠删码</a:t>
                </a:r>
                <a:r>
                  <a:rPr lang="en-US" altLang="zh-CN" dirty="0">
                    <a:solidFill>
                      <a:srgbClr val="FF0000"/>
                    </a:solidFill>
                  </a:rPr>
                  <a:t> </a:t>
                </a:r>
                <a:r>
                  <a:rPr lang="en-US" altLang="zh-CN" dirty="0">
                    <a:solidFill>
                      <a:srgbClr val="000000"/>
                    </a:solidFill>
                  </a:rPr>
                  <a:t>(Reed-Solomon Code,</a:t>
                </a:r>
                <a:r>
                  <a:rPr lang="en-US" altLang="zh-CN" dirty="0">
                    <a:solidFill>
                      <a:srgbClr val="FF0000"/>
                    </a:solidFill>
                  </a:rPr>
                  <a:t> RS</a:t>
                </a:r>
                <a:r>
                  <a:rPr lang="en-US" altLang="zh-CN" dirty="0">
                    <a:solidFill>
                      <a:srgbClr val="000000"/>
                    </a:solidFill>
                  </a:rPr>
                  <a:t>)</a:t>
                </a:r>
                <a:endParaRPr lang="zh-CN" altLang="en-US" dirty="0">
                  <a:solidFill>
                    <a:srgbClr val="000000"/>
                  </a:solidFill>
                  <a:sym typeface="+mn-ea"/>
                </a:endParaRPr>
              </a:p>
            </p:txBody>
          </p:sp>
          <p:sp>
            <p:nvSpPr>
              <p:cNvPr id="12" name="文本框 11"/>
              <p:cNvSpPr txBox="1"/>
              <p:nvPr/>
            </p:nvSpPr>
            <p:spPr>
              <a:xfrm>
                <a:off x="3042202" y="4631903"/>
                <a:ext cx="5468689" cy="45711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dirty="0">
                    <a:solidFill>
                      <a:srgbClr val="FF0000"/>
                    </a:solidFill>
                  </a:rPr>
                  <a:t>奇偶校验码</a:t>
                </a:r>
                <a:r>
                  <a:rPr lang="en-US" altLang="zh-CN" dirty="0">
                    <a:solidFill>
                      <a:srgbClr val="000000"/>
                    </a:solidFill>
                  </a:rPr>
                  <a:t>(Parity-Check Code)</a:t>
                </a:r>
                <a:endParaRPr lang="zh-CN" altLang="en-US" dirty="0">
                  <a:solidFill>
                    <a:srgbClr val="000000"/>
                  </a:solidFill>
                  <a:sym typeface="+mn-ea"/>
                </a:endParaRPr>
              </a:p>
            </p:txBody>
          </p:sp>
        </p:grpSp>
        <p:sp>
          <p:nvSpPr>
            <p:cNvPr id="15" name="文本框 14"/>
            <p:cNvSpPr txBox="1"/>
            <p:nvPr/>
          </p:nvSpPr>
          <p:spPr>
            <a:xfrm>
              <a:off x="571605" y="3733792"/>
              <a:ext cx="1066772"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000000"/>
                  </a:solidFill>
                </a:rPr>
                <a:t>纠删码</a:t>
              </a:r>
              <a:endParaRPr lang="zh-CN" altLang="en-US" dirty="0">
                <a:solidFill>
                  <a:srgbClr val="000000"/>
                </a:solidFill>
                <a:sym typeface="+mn-ea"/>
              </a:endParaRPr>
            </a:p>
          </p:txBody>
        </p:sp>
      </p:grpSp>
      <p:sp>
        <p:nvSpPr>
          <p:cNvPr id="16" name="文本框 15"/>
          <p:cNvSpPr txBox="1"/>
          <p:nvPr/>
        </p:nvSpPr>
        <p:spPr>
          <a:xfrm>
            <a:off x="4147113" y="4972744"/>
            <a:ext cx="5468689" cy="45711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dirty="0">
                <a:solidFill>
                  <a:srgbClr val="FF0000"/>
                </a:solidFill>
              </a:rPr>
              <a:t>数字喷泉码</a:t>
            </a:r>
            <a:r>
              <a:rPr lang="en-US" altLang="zh-CN" dirty="0">
                <a:solidFill>
                  <a:srgbClr val="000000"/>
                </a:solidFill>
              </a:rPr>
              <a:t>(</a:t>
            </a:r>
            <a:r>
              <a:rPr lang="en-US" altLang="zh-CN" dirty="0" err="1">
                <a:solidFill>
                  <a:srgbClr val="000000"/>
                </a:solidFill>
              </a:rPr>
              <a:t>Rateless</a:t>
            </a:r>
            <a:r>
              <a:rPr lang="en-US" altLang="zh-CN" dirty="0">
                <a:solidFill>
                  <a:srgbClr val="000000"/>
                </a:solidFill>
              </a:rPr>
              <a:t> Erasure Code)</a:t>
            </a:r>
            <a:endParaRPr lang="zh-CN" altLang="en-US" dirty="0">
              <a:solidFill>
                <a:srgbClr val="000000"/>
              </a:solidFill>
              <a:sym typeface="+mn-ea"/>
            </a:endParaRPr>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阵列码</a:t>
            </a:r>
          </a:p>
        </p:txBody>
      </p:sp>
      <p:sp>
        <p:nvSpPr>
          <p:cNvPr id="14" name="文本框 13"/>
          <p:cNvSpPr txBox="1"/>
          <p:nvPr/>
        </p:nvSpPr>
        <p:spPr>
          <a:xfrm>
            <a:off x="1921562" y="1038618"/>
            <a:ext cx="8348877" cy="209858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dirty="0">
                <a:solidFill>
                  <a:srgbClr val="000000"/>
                </a:solidFill>
              </a:rPr>
              <a:t>        </a:t>
            </a:r>
            <a:r>
              <a:rPr lang="zh-CN" altLang="en-US" dirty="0">
                <a:solidFill>
                  <a:srgbClr val="FF0000"/>
                </a:solidFill>
              </a:rPr>
              <a:t>阵列码</a:t>
            </a:r>
            <a:r>
              <a:rPr lang="en-US" altLang="zh-CN" dirty="0">
                <a:solidFill>
                  <a:srgbClr val="000000"/>
                </a:solidFill>
              </a:rPr>
              <a:t>(Array Code)</a:t>
            </a:r>
            <a:r>
              <a:rPr lang="zh-CN" altLang="en-US" dirty="0">
                <a:solidFill>
                  <a:srgbClr val="000000"/>
                </a:solidFill>
              </a:rPr>
              <a:t>，即奇偶校验阵列码</a:t>
            </a:r>
            <a:r>
              <a:rPr lang="en-US" altLang="zh-CN" dirty="0">
                <a:solidFill>
                  <a:srgbClr val="000000"/>
                </a:solidFill>
              </a:rPr>
              <a:t>(Parity Array Code)</a:t>
            </a:r>
            <a:r>
              <a:rPr lang="zh-CN" altLang="en-US" dirty="0">
                <a:solidFill>
                  <a:srgbClr val="000000"/>
                </a:solidFill>
              </a:rPr>
              <a:t>的简称。</a:t>
            </a:r>
            <a:r>
              <a:rPr lang="zh-CN" altLang="en-US" dirty="0">
                <a:solidFill>
                  <a:srgbClr val="00CC99">
                    <a:lumMod val="75000"/>
                  </a:srgbClr>
                </a:solidFill>
              </a:rPr>
              <a:t>它将一个条带中的用户数据单元和校验单元排列成一个二维或多维阵列，并基于</a:t>
            </a:r>
            <a:r>
              <a:rPr lang="en-US" altLang="zh-CN" dirty="0">
                <a:solidFill>
                  <a:srgbClr val="00CC99">
                    <a:lumMod val="75000"/>
                  </a:srgbClr>
                </a:solidFill>
              </a:rPr>
              <a:t>XOR</a:t>
            </a:r>
            <a:r>
              <a:rPr lang="zh-CN" altLang="en-US" dirty="0">
                <a:solidFill>
                  <a:srgbClr val="00CC99">
                    <a:lumMod val="75000"/>
                  </a:srgbClr>
                </a:solidFill>
              </a:rPr>
              <a:t>运算对条带内的单元进行编码</a:t>
            </a:r>
            <a:r>
              <a:rPr lang="zh-CN" altLang="en-US" dirty="0">
                <a:solidFill>
                  <a:srgbClr val="000000"/>
                </a:solidFill>
              </a:rPr>
              <a:t>。阵列码的提出主要是为了满足高容错磁盘阵列设计的需要。</a:t>
            </a:r>
            <a:endParaRPr lang="en-US" altLang="zh-CN" dirty="0">
              <a:solidFill>
                <a:srgbClr val="000000"/>
              </a:solidFill>
            </a:endParaRPr>
          </a:p>
          <a:p>
            <a:pPr eaLnBrk="0" fontAlgn="base" hangingPunct="0">
              <a:lnSpc>
                <a:spcPts val="3200"/>
              </a:lnSpc>
              <a:spcBef>
                <a:spcPct val="0"/>
              </a:spcBef>
              <a:spcAft>
                <a:spcPct val="0"/>
              </a:spcAft>
            </a:pPr>
            <a:r>
              <a:rPr lang="en-US" altLang="zh-CN" dirty="0">
                <a:solidFill>
                  <a:srgbClr val="00CC99">
                    <a:lumMod val="75000"/>
                  </a:srgbClr>
                </a:solidFill>
              </a:rPr>
              <a:t>        </a:t>
            </a:r>
            <a:r>
              <a:rPr lang="zh-CN" altLang="en-US" dirty="0">
                <a:solidFill>
                  <a:srgbClr val="000000"/>
                </a:solidFill>
              </a:rPr>
              <a:t>阵列码分为水平阵列码、垂直阵列码和水平垂直阵列码。</a:t>
            </a:r>
            <a:endParaRPr lang="en-US" altLang="zh-CN" dirty="0">
              <a:solidFill>
                <a:srgbClr val="000000"/>
              </a:solidFill>
            </a:endParaRPr>
          </a:p>
        </p:txBody>
      </p:sp>
      <p:grpSp>
        <p:nvGrpSpPr>
          <p:cNvPr id="3" name="组合 2"/>
          <p:cNvGrpSpPr/>
          <p:nvPr/>
        </p:nvGrpSpPr>
        <p:grpSpPr>
          <a:xfrm>
            <a:off x="2344455" y="3352803"/>
            <a:ext cx="7238930" cy="3420339"/>
            <a:chOff x="490210" y="3352802"/>
            <a:chExt cx="7238930" cy="3420339"/>
          </a:xfrm>
        </p:grpSpPr>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210" y="3352802"/>
              <a:ext cx="7238930" cy="2907637"/>
            </a:xfrm>
            <a:prstGeom prst="rect">
              <a:avLst/>
            </a:prstGeom>
          </p:spPr>
        </p:pic>
        <p:sp>
          <p:nvSpPr>
            <p:cNvPr id="5" name="文本框 4"/>
            <p:cNvSpPr txBox="1"/>
            <p:nvPr/>
          </p:nvSpPr>
          <p:spPr>
            <a:xfrm>
              <a:off x="3784567" y="6268387"/>
              <a:ext cx="1371563" cy="50475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000000"/>
                  </a:solidFill>
                  <a:sym typeface="+mn-ea"/>
                </a:rPr>
                <a:t>阵列码布局</a:t>
              </a:r>
            </a:p>
          </p:txBody>
        </p:sp>
      </p:gr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水平、垂直阵列码</a:t>
            </a:r>
          </a:p>
        </p:txBody>
      </p:sp>
      <p:sp>
        <p:nvSpPr>
          <p:cNvPr id="14" name="文本框 13"/>
          <p:cNvSpPr txBox="1"/>
          <p:nvPr/>
        </p:nvSpPr>
        <p:spPr>
          <a:xfrm>
            <a:off x="135792" y="810062"/>
            <a:ext cx="11134719"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000000"/>
                </a:solidFill>
              </a:rPr>
              <a:t>        </a:t>
            </a:r>
            <a:r>
              <a:rPr lang="zh-CN" altLang="en-US" dirty="0">
                <a:solidFill>
                  <a:srgbClr val="FF0000"/>
                </a:solidFill>
              </a:rPr>
              <a:t>水平阵列码</a:t>
            </a:r>
            <a:r>
              <a:rPr lang="zh-CN" altLang="en-US" dirty="0">
                <a:solidFill>
                  <a:srgbClr val="000000"/>
                </a:solidFill>
              </a:rPr>
              <a:t>的一个条带中的用户数据单元和校验单元分别存放在不同的条块中。</a:t>
            </a:r>
            <a:endParaRPr lang="en-US" altLang="zh-CN" dirty="0">
              <a:solidFill>
                <a:srgbClr val="000000"/>
              </a:solidFill>
            </a:endParaRPr>
          </a:p>
        </p:txBody>
      </p:sp>
      <p:grpSp>
        <p:nvGrpSpPr>
          <p:cNvPr id="4" name="组合 3"/>
          <p:cNvGrpSpPr/>
          <p:nvPr/>
        </p:nvGrpSpPr>
        <p:grpSpPr>
          <a:xfrm>
            <a:off x="580990" y="1368066"/>
            <a:ext cx="8915286" cy="2313364"/>
            <a:chOff x="228714" y="3370994"/>
            <a:chExt cx="8915286" cy="2313364"/>
          </a:xfrm>
        </p:grpSpPr>
        <p:sp>
          <p:nvSpPr>
            <p:cNvPr id="5" name="文本框 4"/>
            <p:cNvSpPr txBox="1"/>
            <p:nvPr/>
          </p:nvSpPr>
          <p:spPr>
            <a:xfrm>
              <a:off x="228714" y="4343376"/>
              <a:ext cx="1573811"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000000"/>
                  </a:solidFill>
                </a:rPr>
                <a:t>水平阵列码</a:t>
              </a:r>
              <a:endParaRPr lang="en-US" altLang="zh-CN" dirty="0">
                <a:solidFill>
                  <a:srgbClr val="000000"/>
                </a:solidFill>
              </a:endParaRPr>
            </a:p>
          </p:txBody>
        </p:sp>
        <p:sp>
          <p:nvSpPr>
            <p:cNvPr id="3" name="左大括号 2"/>
            <p:cNvSpPr/>
            <p:nvPr/>
          </p:nvSpPr>
          <p:spPr bwMode="auto">
            <a:xfrm>
              <a:off x="1676476" y="3585124"/>
              <a:ext cx="685782" cy="1992042"/>
            </a:xfrm>
            <a:prstGeom prst="leftBrace">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indent="-342900" fontAlgn="base">
                <a:spcBef>
                  <a:spcPct val="20000"/>
                </a:spcBef>
                <a:spcAft>
                  <a:spcPct val="0"/>
                </a:spcAft>
                <a:buFont typeface="Wingdings" panose="05000000000000000000" pitchFamily="2" charset="2"/>
                <a:buChar char="v"/>
              </a:pPr>
              <a:endParaRPr kumimoji="1" lang="zh-CN" altLang="en-US" sz="2800">
                <a:solidFill>
                  <a:srgbClr val="336699"/>
                </a:solidFill>
                <a:latin typeface="黑体" panose="02010609060101010101" pitchFamily="49" charset="-122"/>
                <a:ea typeface="黑体" panose="02010609060101010101" pitchFamily="49" charset="-122"/>
              </a:endParaRPr>
            </a:p>
          </p:txBody>
        </p:sp>
        <p:sp>
          <p:nvSpPr>
            <p:cNvPr id="8" name="文本框 7"/>
            <p:cNvSpPr txBox="1"/>
            <p:nvPr/>
          </p:nvSpPr>
          <p:spPr>
            <a:xfrm>
              <a:off x="2667050" y="3370994"/>
              <a:ext cx="3352712"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en-US" altLang="zh-CN" dirty="0">
                  <a:solidFill>
                    <a:srgbClr val="000000"/>
                  </a:solidFill>
                </a:rPr>
                <a:t>1995</a:t>
              </a:r>
              <a:r>
                <a:rPr lang="zh-CN" altLang="en-US" dirty="0">
                  <a:solidFill>
                    <a:srgbClr val="000000"/>
                  </a:solidFill>
                </a:rPr>
                <a:t>年出现了</a:t>
              </a:r>
              <a:r>
                <a:rPr lang="en-US" altLang="zh-CN" dirty="0">
                  <a:solidFill>
                    <a:srgbClr val="000000"/>
                  </a:solidFill>
                </a:rPr>
                <a:t>EVENODD</a:t>
              </a:r>
              <a:r>
                <a:rPr lang="zh-CN" altLang="en-US" dirty="0">
                  <a:solidFill>
                    <a:srgbClr val="000000"/>
                  </a:solidFill>
                </a:rPr>
                <a:t>码</a:t>
              </a:r>
              <a:endParaRPr lang="en-US" altLang="zh-CN" dirty="0">
                <a:solidFill>
                  <a:srgbClr val="000000"/>
                </a:solidFill>
              </a:endParaRPr>
            </a:p>
          </p:txBody>
        </p:sp>
        <p:sp>
          <p:nvSpPr>
            <p:cNvPr id="9" name="文本框 8"/>
            <p:cNvSpPr txBox="1"/>
            <p:nvPr/>
          </p:nvSpPr>
          <p:spPr>
            <a:xfrm>
              <a:off x="2667050" y="3976069"/>
              <a:ext cx="6476950"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en-US" altLang="zh-CN" dirty="0">
                  <a:solidFill>
                    <a:srgbClr val="000000"/>
                  </a:solidFill>
                </a:rPr>
                <a:t>NetApp</a:t>
              </a:r>
              <a:r>
                <a:rPr lang="zh-CN" altLang="en-US" dirty="0">
                  <a:solidFill>
                    <a:srgbClr val="000000"/>
                  </a:solidFill>
                </a:rPr>
                <a:t>公司在</a:t>
              </a:r>
              <a:r>
                <a:rPr lang="en-US" altLang="zh-CN" dirty="0">
                  <a:solidFill>
                    <a:srgbClr val="000000"/>
                  </a:solidFill>
                </a:rPr>
                <a:t>EVENODD</a:t>
              </a:r>
              <a:r>
                <a:rPr lang="zh-CN" altLang="en-US" dirty="0">
                  <a:solidFill>
                    <a:srgbClr val="000000"/>
                  </a:solidFill>
                </a:rPr>
                <a:t>码的基础上进行改进的</a:t>
              </a:r>
              <a:r>
                <a:rPr lang="en-US" altLang="zh-CN" dirty="0">
                  <a:solidFill>
                    <a:srgbClr val="000000"/>
                  </a:solidFill>
                </a:rPr>
                <a:t>RDP</a:t>
              </a:r>
              <a:r>
                <a:rPr lang="zh-CN" altLang="en-US" dirty="0">
                  <a:solidFill>
                    <a:srgbClr val="000000"/>
                  </a:solidFill>
                </a:rPr>
                <a:t>码</a:t>
              </a:r>
              <a:endParaRPr lang="en-US" altLang="zh-CN" dirty="0">
                <a:solidFill>
                  <a:srgbClr val="000000"/>
                </a:solidFill>
              </a:endParaRPr>
            </a:p>
          </p:txBody>
        </p:sp>
        <p:sp>
          <p:nvSpPr>
            <p:cNvPr id="10" name="文本框 9"/>
            <p:cNvSpPr txBox="1"/>
            <p:nvPr/>
          </p:nvSpPr>
          <p:spPr>
            <a:xfrm>
              <a:off x="2677516" y="4594223"/>
              <a:ext cx="3657504"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en-US" altLang="zh-CN" dirty="0">
                  <a:solidFill>
                    <a:srgbClr val="000000"/>
                  </a:solidFill>
                </a:rPr>
                <a:t>2008</a:t>
              </a:r>
              <a:r>
                <a:rPr lang="zh-CN" altLang="en-US" dirty="0">
                  <a:solidFill>
                    <a:srgbClr val="000000"/>
                  </a:solidFill>
                </a:rPr>
                <a:t>年</a:t>
              </a:r>
              <a:r>
                <a:rPr lang="en-US" altLang="zh-CN" dirty="0">
                  <a:solidFill>
                    <a:srgbClr val="000000"/>
                  </a:solidFill>
                </a:rPr>
                <a:t>Plank</a:t>
              </a:r>
              <a:r>
                <a:rPr lang="zh-CN" altLang="en-US" dirty="0">
                  <a:solidFill>
                    <a:srgbClr val="000000"/>
                  </a:solidFill>
                </a:rPr>
                <a:t>提出了</a:t>
              </a:r>
              <a:r>
                <a:rPr lang="en-US" altLang="zh-CN" dirty="0">
                  <a:solidFill>
                    <a:srgbClr val="000000"/>
                  </a:solidFill>
                </a:rPr>
                <a:t>Liberation</a:t>
              </a:r>
              <a:r>
                <a:rPr lang="zh-CN" altLang="en-US" dirty="0">
                  <a:solidFill>
                    <a:srgbClr val="000000"/>
                  </a:solidFill>
                </a:rPr>
                <a:t>码</a:t>
              </a:r>
              <a:endParaRPr lang="en-US" altLang="zh-CN" dirty="0">
                <a:solidFill>
                  <a:srgbClr val="000000"/>
                </a:solidFill>
              </a:endParaRPr>
            </a:p>
          </p:txBody>
        </p:sp>
        <p:sp>
          <p:nvSpPr>
            <p:cNvPr id="11" name="文本框 10"/>
            <p:cNvSpPr txBox="1"/>
            <p:nvPr/>
          </p:nvSpPr>
          <p:spPr>
            <a:xfrm>
              <a:off x="2667050" y="5256099"/>
              <a:ext cx="3352712"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en-US" altLang="zh-CN" dirty="0">
                  <a:solidFill>
                    <a:srgbClr val="000000"/>
                  </a:solidFill>
                </a:rPr>
                <a:t>STAR</a:t>
              </a:r>
              <a:r>
                <a:rPr lang="zh-CN" altLang="en-US" dirty="0">
                  <a:solidFill>
                    <a:srgbClr val="000000"/>
                  </a:solidFill>
                </a:rPr>
                <a:t>码</a:t>
              </a:r>
              <a:endParaRPr lang="en-US" altLang="zh-CN" dirty="0">
                <a:solidFill>
                  <a:srgbClr val="000000"/>
                </a:solidFill>
              </a:endParaRPr>
            </a:p>
          </p:txBody>
        </p:sp>
      </p:grpSp>
      <p:sp>
        <p:nvSpPr>
          <p:cNvPr id="6" name="文本框 5">
            <a:extLst>
              <a:ext uri="{FF2B5EF4-FFF2-40B4-BE49-F238E27FC236}">
                <a16:creationId xmlns:a16="http://schemas.microsoft.com/office/drawing/2014/main" id="{8470F792-7854-699E-E3C3-B29396AD0A8E}"/>
              </a:ext>
            </a:extLst>
          </p:cNvPr>
          <p:cNvSpPr txBox="1"/>
          <p:nvPr/>
        </p:nvSpPr>
        <p:spPr>
          <a:xfrm>
            <a:off x="199587" y="3764133"/>
            <a:ext cx="11907353" cy="80015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000000"/>
                </a:solidFill>
              </a:rPr>
              <a:t>        </a:t>
            </a:r>
            <a:r>
              <a:rPr lang="zh-CN" altLang="en-US" dirty="0">
                <a:solidFill>
                  <a:srgbClr val="FF0000"/>
                </a:solidFill>
              </a:rPr>
              <a:t>垂直阵列码</a:t>
            </a:r>
            <a:r>
              <a:rPr lang="zh-CN" altLang="en-US" dirty="0">
                <a:solidFill>
                  <a:srgbClr val="000000"/>
                </a:solidFill>
              </a:rPr>
              <a:t>的一个条带中的每个条块既包括用户数据单元，又包括校验单元。垂直阵列码的出现是为了使更新复杂度达到最低。</a:t>
            </a:r>
            <a:endParaRPr lang="en-US" altLang="zh-CN" dirty="0">
              <a:solidFill>
                <a:srgbClr val="000000"/>
              </a:solidFill>
            </a:endParaRPr>
          </a:p>
        </p:txBody>
      </p:sp>
      <p:grpSp>
        <p:nvGrpSpPr>
          <p:cNvPr id="7" name="组合 6">
            <a:extLst>
              <a:ext uri="{FF2B5EF4-FFF2-40B4-BE49-F238E27FC236}">
                <a16:creationId xmlns:a16="http://schemas.microsoft.com/office/drawing/2014/main" id="{08087D7D-8E86-9E8C-B348-0AE168D0B087}"/>
              </a:ext>
            </a:extLst>
          </p:cNvPr>
          <p:cNvGrpSpPr/>
          <p:nvPr/>
        </p:nvGrpSpPr>
        <p:grpSpPr>
          <a:xfrm>
            <a:off x="2028752" y="4426009"/>
            <a:ext cx="8915286" cy="2206172"/>
            <a:chOff x="228714" y="3370994"/>
            <a:chExt cx="8915286" cy="2206172"/>
          </a:xfrm>
        </p:grpSpPr>
        <p:sp>
          <p:nvSpPr>
            <p:cNvPr id="12" name="文本框 11">
              <a:extLst>
                <a:ext uri="{FF2B5EF4-FFF2-40B4-BE49-F238E27FC236}">
                  <a16:creationId xmlns:a16="http://schemas.microsoft.com/office/drawing/2014/main" id="{C4A65DD3-6146-9DD7-395C-0979197778CD}"/>
                </a:ext>
              </a:extLst>
            </p:cNvPr>
            <p:cNvSpPr txBox="1"/>
            <p:nvPr/>
          </p:nvSpPr>
          <p:spPr>
            <a:xfrm>
              <a:off x="228714" y="4343376"/>
              <a:ext cx="1573811"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000000"/>
                  </a:solidFill>
                </a:rPr>
                <a:t>垂直阵列码</a:t>
              </a:r>
              <a:endParaRPr lang="en-US" altLang="zh-CN" dirty="0">
                <a:solidFill>
                  <a:srgbClr val="000000"/>
                </a:solidFill>
              </a:endParaRPr>
            </a:p>
          </p:txBody>
        </p:sp>
        <p:sp>
          <p:nvSpPr>
            <p:cNvPr id="13" name="左大括号 12">
              <a:extLst>
                <a:ext uri="{FF2B5EF4-FFF2-40B4-BE49-F238E27FC236}">
                  <a16:creationId xmlns:a16="http://schemas.microsoft.com/office/drawing/2014/main" id="{35638FFB-3DC5-1E22-2396-4AF5169A7407}"/>
                </a:ext>
              </a:extLst>
            </p:cNvPr>
            <p:cNvSpPr/>
            <p:nvPr/>
          </p:nvSpPr>
          <p:spPr bwMode="auto">
            <a:xfrm>
              <a:off x="1676476" y="3585124"/>
              <a:ext cx="685782" cy="1992042"/>
            </a:xfrm>
            <a:prstGeom prst="leftBrace">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indent="-342900" fontAlgn="base">
                <a:spcBef>
                  <a:spcPct val="20000"/>
                </a:spcBef>
                <a:spcAft>
                  <a:spcPct val="0"/>
                </a:spcAft>
                <a:buFont typeface="Wingdings" panose="05000000000000000000" pitchFamily="2" charset="2"/>
                <a:buChar char="v"/>
              </a:pPr>
              <a:endParaRPr kumimoji="1" lang="zh-CN" altLang="en-US" sz="2800">
                <a:solidFill>
                  <a:srgbClr val="336699"/>
                </a:solidFill>
                <a:latin typeface="黑体" panose="02010609060101010101" pitchFamily="49" charset="-122"/>
                <a:ea typeface="黑体" panose="02010609060101010101" pitchFamily="49" charset="-122"/>
              </a:endParaRPr>
            </a:p>
          </p:txBody>
        </p:sp>
        <p:sp>
          <p:nvSpPr>
            <p:cNvPr id="15" name="文本框 14">
              <a:extLst>
                <a:ext uri="{FF2B5EF4-FFF2-40B4-BE49-F238E27FC236}">
                  <a16:creationId xmlns:a16="http://schemas.microsoft.com/office/drawing/2014/main" id="{B6A277EF-E3FA-7002-7B82-702859F70EA6}"/>
                </a:ext>
              </a:extLst>
            </p:cNvPr>
            <p:cNvSpPr txBox="1"/>
            <p:nvPr/>
          </p:nvSpPr>
          <p:spPr>
            <a:xfrm>
              <a:off x="2667049" y="3370994"/>
              <a:ext cx="6309223" cy="80015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en-US" altLang="zh-CN" dirty="0">
                  <a:solidFill>
                    <a:srgbClr val="000000"/>
                  </a:solidFill>
                </a:rPr>
                <a:t>X</a:t>
              </a:r>
              <a:r>
                <a:rPr lang="zh-CN" altLang="en-US" dirty="0">
                  <a:solidFill>
                    <a:srgbClr val="000000"/>
                  </a:solidFill>
                </a:rPr>
                <a:t>码，根据几何结构构造，一个条块中包含两个校验单元，条带长度必须为质数。</a:t>
              </a:r>
              <a:endParaRPr lang="en-US" altLang="zh-CN" dirty="0">
                <a:solidFill>
                  <a:srgbClr val="000000"/>
                </a:solidFill>
              </a:endParaRPr>
            </a:p>
          </p:txBody>
        </p:sp>
        <p:sp>
          <p:nvSpPr>
            <p:cNvPr id="16" name="文本框 15">
              <a:extLst>
                <a:ext uri="{FF2B5EF4-FFF2-40B4-BE49-F238E27FC236}">
                  <a16:creationId xmlns:a16="http://schemas.microsoft.com/office/drawing/2014/main" id="{6A225DC5-D95F-9127-1F1C-D683AF21ADC7}"/>
                </a:ext>
              </a:extLst>
            </p:cNvPr>
            <p:cNvSpPr txBox="1"/>
            <p:nvPr/>
          </p:nvSpPr>
          <p:spPr>
            <a:xfrm>
              <a:off x="2667050" y="4771635"/>
              <a:ext cx="6476950" cy="80015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en-US" altLang="zh-CN" dirty="0">
                  <a:solidFill>
                    <a:srgbClr val="000000"/>
                  </a:solidFill>
                </a:rPr>
                <a:t>B</a:t>
              </a:r>
              <a:r>
                <a:rPr lang="zh-CN" altLang="en-US" dirty="0">
                  <a:solidFill>
                    <a:srgbClr val="000000"/>
                  </a:solidFill>
                </a:rPr>
                <a:t>码，利用图的完全因式分解构造，一个条块中只包含一个校验单元。</a:t>
              </a:r>
              <a:endParaRPr lang="en-US" altLang="zh-CN" dirty="0">
                <a:solidFill>
                  <a:srgbClr val="000000"/>
                </a:solidFill>
              </a:endParaRPr>
            </a:p>
          </p:txBody>
        </p:sp>
      </p:gr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水平垂直阵列码</a:t>
            </a:r>
          </a:p>
        </p:txBody>
      </p:sp>
      <p:sp>
        <p:nvSpPr>
          <p:cNvPr id="14" name="文本框 13"/>
          <p:cNvSpPr txBox="1"/>
          <p:nvPr/>
        </p:nvSpPr>
        <p:spPr>
          <a:xfrm>
            <a:off x="2014211" y="1371655"/>
            <a:ext cx="8348877" cy="80015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000000"/>
                </a:solidFill>
              </a:rPr>
              <a:t>        </a:t>
            </a:r>
            <a:r>
              <a:rPr lang="zh-CN" altLang="en-US" dirty="0">
                <a:solidFill>
                  <a:srgbClr val="FF0000"/>
                </a:solidFill>
              </a:rPr>
              <a:t>水平垂直阵列码</a:t>
            </a:r>
            <a:r>
              <a:rPr lang="zh-CN" altLang="en-US" dirty="0">
                <a:solidFill>
                  <a:srgbClr val="000000"/>
                </a:solidFill>
              </a:rPr>
              <a:t>的一个条带中一些条块只包括校验单元，另一些条块同时包括用户数据单元和校验单元。</a:t>
            </a:r>
            <a:endParaRPr lang="en-US" altLang="zh-CN" dirty="0">
              <a:solidFill>
                <a:srgbClr val="000000"/>
              </a:solidFill>
            </a:endParaRPr>
          </a:p>
        </p:txBody>
      </p:sp>
      <p:grpSp>
        <p:nvGrpSpPr>
          <p:cNvPr id="4" name="组合 3"/>
          <p:cNvGrpSpPr/>
          <p:nvPr/>
        </p:nvGrpSpPr>
        <p:grpSpPr>
          <a:xfrm>
            <a:off x="1729307" y="3028922"/>
            <a:ext cx="8747559" cy="2381226"/>
            <a:chOff x="228714" y="3351906"/>
            <a:chExt cx="8747559" cy="2381226"/>
          </a:xfrm>
        </p:grpSpPr>
        <p:sp>
          <p:nvSpPr>
            <p:cNvPr id="5" name="文本框 4"/>
            <p:cNvSpPr txBox="1"/>
            <p:nvPr/>
          </p:nvSpPr>
          <p:spPr>
            <a:xfrm>
              <a:off x="228714" y="4343376"/>
              <a:ext cx="2004556"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zh-CN" altLang="en-US" dirty="0">
                  <a:solidFill>
                    <a:srgbClr val="000000"/>
                  </a:solidFill>
                </a:rPr>
                <a:t>水平垂直阵列码</a:t>
              </a:r>
              <a:endParaRPr lang="en-US" altLang="zh-CN" dirty="0">
                <a:solidFill>
                  <a:srgbClr val="000000"/>
                </a:solidFill>
              </a:endParaRPr>
            </a:p>
          </p:txBody>
        </p:sp>
        <p:sp>
          <p:nvSpPr>
            <p:cNvPr id="3" name="左大括号 2"/>
            <p:cNvSpPr/>
            <p:nvPr/>
          </p:nvSpPr>
          <p:spPr bwMode="auto">
            <a:xfrm>
              <a:off x="2233270" y="3585124"/>
              <a:ext cx="685782" cy="1992042"/>
            </a:xfrm>
            <a:prstGeom prst="leftBrace">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indent="-342900" fontAlgn="base">
                <a:spcBef>
                  <a:spcPct val="20000"/>
                </a:spcBef>
                <a:spcAft>
                  <a:spcPct val="0"/>
                </a:spcAft>
                <a:buFont typeface="Wingdings" panose="05000000000000000000" pitchFamily="2" charset="2"/>
                <a:buChar char="v"/>
              </a:pPr>
              <a:endParaRPr kumimoji="1" lang="zh-CN" altLang="en-US" sz="2800">
                <a:solidFill>
                  <a:srgbClr val="336699"/>
                </a:solidFill>
                <a:latin typeface="黑体" panose="02010609060101010101" pitchFamily="49" charset="-122"/>
                <a:ea typeface="黑体" panose="02010609060101010101" pitchFamily="49" charset="-122"/>
              </a:endParaRPr>
            </a:p>
          </p:txBody>
        </p:sp>
        <p:sp>
          <p:nvSpPr>
            <p:cNvPr id="8" name="文本框 7"/>
            <p:cNvSpPr txBox="1"/>
            <p:nvPr/>
          </p:nvSpPr>
          <p:spPr>
            <a:xfrm>
              <a:off x="3147646" y="3351906"/>
              <a:ext cx="5714849" cy="43133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en-US" altLang="zh-CN" dirty="0">
                  <a:solidFill>
                    <a:srgbClr val="000000"/>
                  </a:solidFill>
                </a:rPr>
                <a:t>2006</a:t>
              </a:r>
              <a:r>
                <a:rPr lang="zh-CN" altLang="en-US" dirty="0">
                  <a:solidFill>
                    <a:srgbClr val="000000"/>
                  </a:solidFill>
                </a:rPr>
                <a:t>年</a:t>
              </a:r>
              <a:r>
                <a:rPr lang="en-US" altLang="zh-CN" dirty="0">
                  <a:solidFill>
                    <a:srgbClr val="000000"/>
                  </a:solidFill>
                </a:rPr>
                <a:t>Hafner</a:t>
              </a:r>
              <a:r>
                <a:rPr lang="zh-CN" altLang="en-US" dirty="0">
                  <a:solidFill>
                    <a:srgbClr val="000000"/>
                  </a:solidFill>
                </a:rPr>
                <a:t>提出的的</a:t>
              </a:r>
              <a:r>
                <a:rPr lang="en-US" altLang="zh-CN" dirty="0" err="1">
                  <a:solidFill>
                    <a:srgbClr val="000000"/>
                  </a:solidFill>
                </a:rPr>
                <a:t>HoVer</a:t>
              </a:r>
              <a:r>
                <a:rPr lang="zh-CN" altLang="en-US" dirty="0">
                  <a:solidFill>
                    <a:srgbClr val="000000"/>
                  </a:solidFill>
                </a:rPr>
                <a:t>码</a:t>
              </a:r>
              <a:endParaRPr lang="en-US" altLang="zh-CN" dirty="0">
                <a:solidFill>
                  <a:srgbClr val="000000"/>
                </a:solidFill>
              </a:endParaRPr>
            </a:p>
          </p:txBody>
        </p:sp>
        <p:sp>
          <p:nvSpPr>
            <p:cNvPr id="9" name="文本框 8"/>
            <p:cNvSpPr txBox="1"/>
            <p:nvPr/>
          </p:nvSpPr>
          <p:spPr>
            <a:xfrm>
              <a:off x="3147646" y="5301795"/>
              <a:ext cx="5828627" cy="43133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spcBef>
                  <a:spcPct val="0"/>
                </a:spcBef>
                <a:spcAft>
                  <a:spcPct val="0"/>
                </a:spcAft>
              </a:pPr>
              <a:r>
                <a:rPr lang="en-US" altLang="zh-CN" dirty="0" err="1">
                  <a:solidFill>
                    <a:srgbClr val="000000"/>
                  </a:solidFill>
                </a:rPr>
                <a:t>Jin</a:t>
              </a:r>
              <a:r>
                <a:rPr lang="zh-CN" altLang="en-US" dirty="0">
                  <a:solidFill>
                    <a:srgbClr val="000000"/>
                  </a:solidFill>
                </a:rPr>
                <a:t>等人对</a:t>
              </a:r>
              <a:r>
                <a:rPr lang="en-US" altLang="zh-CN" dirty="0">
                  <a:solidFill>
                    <a:srgbClr val="000000"/>
                  </a:solidFill>
                </a:rPr>
                <a:t>RDP</a:t>
              </a:r>
              <a:r>
                <a:rPr lang="zh-CN" altLang="en-US" dirty="0">
                  <a:solidFill>
                    <a:srgbClr val="000000"/>
                  </a:solidFill>
                </a:rPr>
                <a:t>码变形得到的</a:t>
              </a:r>
              <a:r>
                <a:rPr lang="en-US" altLang="zh-CN" dirty="0">
                  <a:solidFill>
                    <a:srgbClr val="000000"/>
                  </a:solidFill>
                </a:rPr>
                <a:t>TRDP</a:t>
              </a:r>
              <a:r>
                <a:rPr lang="zh-CN" altLang="en-US" dirty="0">
                  <a:solidFill>
                    <a:srgbClr val="000000"/>
                  </a:solidFill>
                </a:rPr>
                <a:t>码</a:t>
              </a:r>
              <a:endParaRPr lang="en-US" altLang="zh-CN" dirty="0">
                <a:solidFill>
                  <a:srgbClr val="000000"/>
                </a:solidFill>
              </a:endParaRPr>
            </a:p>
          </p:txBody>
        </p:sp>
      </p:gr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EVENODD</a:t>
            </a:r>
            <a:r>
              <a:rPr lang="zh-CN" altLang="en-US" sz="2400" dirty="0">
                <a:sym typeface="+mn-ea"/>
              </a:rPr>
              <a:t>码</a:t>
            </a:r>
          </a:p>
        </p:txBody>
      </p:sp>
      <p:sp>
        <p:nvSpPr>
          <p:cNvPr id="14" name="文本框 13"/>
          <p:cNvSpPr txBox="1"/>
          <p:nvPr/>
        </p:nvSpPr>
        <p:spPr>
          <a:xfrm>
            <a:off x="1981309" y="1269520"/>
            <a:ext cx="8348877" cy="178439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000000"/>
                </a:solidFill>
              </a:rPr>
              <a:t>        在阵列码中，</a:t>
            </a:r>
            <a:r>
              <a:rPr lang="en-US" altLang="zh-CN" dirty="0">
                <a:solidFill>
                  <a:srgbClr val="000000"/>
                </a:solidFill>
              </a:rPr>
              <a:t>EVENODD</a:t>
            </a:r>
            <a:r>
              <a:rPr lang="zh-CN" altLang="en-US" dirty="0">
                <a:solidFill>
                  <a:srgbClr val="000000"/>
                </a:solidFill>
              </a:rPr>
              <a:t>码是首个可以容忍两列丢失的编码方法，被公认为阵列码的始祖。在</a:t>
            </a:r>
            <a:r>
              <a:rPr lang="en-US" altLang="zh-CN" dirty="0">
                <a:solidFill>
                  <a:srgbClr val="000000"/>
                </a:solidFill>
              </a:rPr>
              <a:t>EVENODD</a:t>
            </a:r>
            <a:r>
              <a:rPr lang="zh-CN" altLang="en-US" dirty="0">
                <a:solidFill>
                  <a:srgbClr val="000000"/>
                </a:solidFill>
              </a:rPr>
              <a:t>码中，一共有</a:t>
            </a:r>
            <a:r>
              <a:rPr lang="en-US" altLang="zh-CN" dirty="0">
                <a:solidFill>
                  <a:srgbClr val="000000"/>
                </a:solidFill>
              </a:rPr>
              <a:t>p</a:t>
            </a:r>
            <a:r>
              <a:rPr lang="zh-CN" altLang="en-US" dirty="0">
                <a:solidFill>
                  <a:srgbClr val="000000"/>
                </a:solidFill>
              </a:rPr>
              <a:t>列数据列和</a:t>
            </a:r>
            <a:r>
              <a:rPr lang="en-US" altLang="zh-CN" dirty="0">
                <a:solidFill>
                  <a:srgbClr val="000000"/>
                </a:solidFill>
              </a:rPr>
              <a:t>2</a:t>
            </a:r>
            <a:r>
              <a:rPr lang="zh-CN" altLang="en-US" dirty="0">
                <a:solidFill>
                  <a:srgbClr val="000000"/>
                </a:solidFill>
              </a:rPr>
              <a:t>列冗余校验列，每一列有</a:t>
            </a:r>
            <a:r>
              <a:rPr lang="en-US" altLang="zh-CN" i="1" dirty="0">
                <a:solidFill>
                  <a:srgbClr val="000000"/>
                </a:solidFill>
              </a:rPr>
              <a:t>p</a:t>
            </a:r>
            <a:r>
              <a:rPr lang="en-US" altLang="zh-CN" dirty="0">
                <a:solidFill>
                  <a:srgbClr val="000000"/>
                </a:solidFill>
              </a:rPr>
              <a:t>-1</a:t>
            </a:r>
            <a:r>
              <a:rPr lang="zh-CN" altLang="en-US" dirty="0">
                <a:solidFill>
                  <a:srgbClr val="000000"/>
                </a:solidFill>
              </a:rPr>
              <a:t>个信息位，因此其</a:t>
            </a:r>
            <a:r>
              <a:rPr lang="zh-CN" altLang="en-US" dirty="0">
                <a:solidFill>
                  <a:srgbClr val="FF0000"/>
                </a:solidFill>
              </a:rPr>
              <a:t>码字为</a:t>
            </a:r>
            <a:r>
              <a:rPr lang="en-US" altLang="zh-CN" dirty="0">
                <a:solidFill>
                  <a:srgbClr val="FF0000"/>
                </a:solidFill>
              </a:rPr>
              <a:t>(</a:t>
            </a:r>
            <a:r>
              <a:rPr lang="en-US" altLang="zh-CN" i="1" dirty="0">
                <a:solidFill>
                  <a:srgbClr val="FF0000"/>
                </a:solidFill>
              </a:rPr>
              <a:t>p</a:t>
            </a:r>
            <a:r>
              <a:rPr lang="en-US" altLang="zh-CN" dirty="0">
                <a:solidFill>
                  <a:srgbClr val="FF0000"/>
                </a:solidFill>
              </a:rPr>
              <a:t>-1)*(</a:t>
            </a:r>
            <a:r>
              <a:rPr lang="en-US" altLang="zh-CN" i="1" dirty="0">
                <a:solidFill>
                  <a:srgbClr val="FF0000"/>
                </a:solidFill>
              </a:rPr>
              <a:t>p</a:t>
            </a:r>
            <a:r>
              <a:rPr lang="en-US" altLang="zh-CN" dirty="0">
                <a:solidFill>
                  <a:srgbClr val="FF0000"/>
                </a:solidFill>
              </a:rPr>
              <a:t>+2)</a:t>
            </a:r>
            <a:r>
              <a:rPr lang="zh-CN" altLang="en-US" dirty="0">
                <a:solidFill>
                  <a:srgbClr val="FF0000"/>
                </a:solidFill>
              </a:rPr>
              <a:t>的二维阵列</a:t>
            </a:r>
            <a:r>
              <a:rPr lang="zh-CN" altLang="en-US" dirty="0">
                <a:solidFill>
                  <a:srgbClr val="000000"/>
                </a:solidFill>
              </a:rPr>
              <a:t>，其中</a:t>
            </a:r>
            <a:r>
              <a:rPr lang="en-US" altLang="zh-CN" i="1" dirty="0">
                <a:solidFill>
                  <a:srgbClr val="000000"/>
                </a:solidFill>
              </a:rPr>
              <a:t>p</a:t>
            </a:r>
            <a:r>
              <a:rPr lang="zh-CN" altLang="en-US" dirty="0">
                <a:solidFill>
                  <a:srgbClr val="000000"/>
                </a:solidFill>
              </a:rPr>
              <a:t>为大于</a:t>
            </a:r>
            <a:r>
              <a:rPr lang="en-US" altLang="zh-CN" dirty="0">
                <a:solidFill>
                  <a:srgbClr val="000000"/>
                </a:solidFill>
              </a:rPr>
              <a:t>2</a:t>
            </a:r>
            <a:r>
              <a:rPr lang="zh-CN" altLang="en-US" dirty="0">
                <a:solidFill>
                  <a:srgbClr val="000000"/>
                </a:solidFill>
              </a:rPr>
              <a:t>的素数。</a:t>
            </a:r>
            <a:endParaRPr lang="en-US" altLang="zh-CN" dirty="0">
              <a:solidFill>
                <a:srgbClr val="000000"/>
              </a:solidFill>
            </a:endParaRPr>
          </a:p>
        </p:txBody>
      </p:sp>
      <p:grpSp>
        <p:nvGrpSpPr>
          <p:cNvPr id="3" name="组合 2"/>
          <p:cNvGrpSpPr/>
          <p:nvPr/>
        </p:nvGrpSpPr>
        <p:grpSpPr>
          <a:xfrm>
            <a:off x="2864362" y="3200406"/>
            <a:ext cx="6463277" cy="3171684"/>
            <a:chOff x="1340361" y="3200406"/>
            <a:chExt cx="6463277" cy="3171684"/>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0361" y="3200406"/>
              <a:ext cx="6463277" cy="2819326"/>
            </a:xfrm>
            <a:prstGeom prst="rect">
              <a:avLst/>
            </a:prstGeom>
          </p:spPr>
        </p:pic>
        <p:sp>
          <p:nvSpPr>
            <p:cNvPr id="5" name="文本框 4"/>
            <p:cNvSpPr txBox="1"/>
            <p:nvPr/>
          </p:nvSpPr>
          <p:spPr>
            <a:xfrm>
              <a:off x="3886218" y="5867336"/>
              <a:ext cx="2057345" cy="50475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en-US" altLang="zh-CN" sz="1800" dirty="0">
                  <a:solidFill>
                    <a:srgbClr val="000000"/>
                  </a:solidFill>
                  <a:sym typeface="+mn-ea"/>
                </a:rPr>
                <a:t>EVENODD</a:t>
              </a:r>
              <a:r>
                <a:rPr lang="zh-CN" altLang="en-US" sz="1800" dirty="0">
                  <a:solidFill>
                    <a:srgbClr val="000000"/>
                  </a:solidFill>
                  <a:sym typeface="+mn-ea"/>
                </a:rPr>
                <a:t>码布局</a:t>
              </a:r>
            </a:p>
          </p:txBody>
        </p:sp>
      </p:gr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EVENODD</a:t>
            </a:r>
            <a:r>
              <a:rPr lang="zh-CN" altLang="en-US" sz="2400" dirty="0">
                <a:sym typeface="+mn-ea"/>
              </a:rPr>
              <a:t>码编码过程</a:t>
            </a:r>
          </a:p>
        </p:txBody>
      </p:sp>
      <p:sp>
        <p:nvSpPr>
          <p:cNvPr id="14" name="文本框 13"/>
          <p:cNvSpPr txBox="1"/>
          <p:nvPr/>
        </p:nvSpPr>
        <p:spPr>
          <a:xfrm>
            <a:off x="1905110" y="1238805"/>
            <a:ext cx="8076988" cy="91236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000000"/>
                </a:solidFill>
              </a:rPr>
              <a:t>        </a:t>
            </a:r>
            <a:r>
              <a:rPr lang="en-US" altLang="zh-CN" i="1" dirty="0">
                <a:solidFill>
                  <a:srgbClr val="000000"/>
                </a:solidFill>
              </a:rPr>
              <a:t>p</a:t>
            </a:r>
            <a:r>
              <a:rPr lang="en-US" altLang="zh-CN" dirty="0">
                <a:solidFill>
                  <a:srgbClr val="000000"/>
                </a:solidFill>
              </a:rPr>
              <a:t>=5</a:t>
            </a:r>
            <a:r>
              <a:rPr lang="zh-CN" altLang="en-US" dirty="0">
                <a:solidFill>
                  <a:srgbClr val="000000"/>
                </a:solidFill>
              </a:rPr>
              <a:t>时，</a:t>
            </a:r>
            <a:r>
              <a:rPr lang="en-US" altLang="zh-CN" dirty="0">
                <a:solidFill>
                  <a:srgbClr val="000000"/>
                </a:solidFill>
              </a:rPr>
              <a:t>EVENODD</a:t>
            </a:r>
            <a:r>
              <a:rPr lang="zh-CN" altLang="en-US" dirty="0">
                <a:solidFill>
                  <a:srgbClr val="000000"/>
                </a:solidFill>
              </a:rPr>
              <a:t>的码字如下图所示，</a:t>
            </a:r>
            <a:r>
              <a:rPr lang="en-US" altLang="zh-CN" dirty="0">
                <a:solidFill>
                  <a:srgbClr val="000000"/>
                </a:solidFill>
              </a:rPr>
              <a:t>EVENODD</a:t>
            </a:r>
            <a:r>
              <a:rPr lang="zh-CN" altLang="en-US" dirty="0">
                <a:solidFill>
                  <a:srgbClr val="000000"/>
                </a:solidFill>
              </a:rPr>
              <a:t>编码的目的是计算出</a:t>
            </a:r>
            <a:r>
              <a:rPr lang="en-US" altLang="zh-CN" i="1" dirty="0">
                <a:solidFill>
                  <a:srgbClr val="000000"/>
                </a:solidFill>
              </a:rPr>
              <a:t>C</a:t>
            </a:r>
            <a:r>
              <a:rPr lang="en-US" altLang="zh-CN" baseline="-25000" dirty="0">
                <a:solidFill>
                  <a:srgbClr val="000000"/>
                </a:solidFill>
              </a:rPr>
              <a:t>0,0</a:t>
            </a:r>
            <a:r>
              <a:rPr lang="zh-CN" altLang="en-US" dirty="0">
                <a:solidFill>
                  <a:srgbClr val="000000"/>
                </a:solidFill>
              </a:rPr>
              <a:t>、</a:t>
            </a:r>
            <a:r>
              <a:rPr lang="en-US" altLang="zh-CN" i="1" dirty="0">
                <a:solidFill>
                  <a:srgbClr val="000000"/>
                </a:solidFill>
              </a:rPr>
              <a:t>C</a:t>
            </a:r>
            <a:r>
              <a:rPr lang="en-US" altLang="zh-CN" baseline="-25000" dirty="0">
                <a:solidFill>
                  <a:srgbClr val="000000"/>
                </a:solidFill>
              </a:rPr>
              <a:t>1,0</a:t>
            </a:r>
            <a:r>
              <a:rPr lang="zh-CN" altLang="en-US" dirty="0">
                <a:solidFill>
                  <a:srgbClr val="000000"/>
                </a:solidFill>
              </a:rPr>
              <a:t>、</a:t>
            </a:r>
            <a:r>
              <a:rPr lang="en-US" altLang="zh-CN" i="1" dirty="0">
                <a:solidFill>
                  <a:srgbClr val="000000"/>
                </a:solidFill>
              </a:rPr>
              <a:t>C</a:t>
            </a:r>
            <a:r>
              <a:rPr lang="en-US" altLang="zh-CN" baseline="-25000" dirty="0">
                <a:solidFill>
                  <a:srgbClr val="000000"/>
                </a:solidFill>
              </a:rPr>
              <a:t>2,0</a:t>
            </a:r>
            <a:r>
              <a:rPr lang="zh-CN" altLang="en-US" dirty="0">
                <a:solidFill>
                  <a:srgbClr val="000000"/>
                </a:solidFill>
              </a:rPr>
              <a:t>、</a:t>
            </a:r>
            <a:r>
              <a:rPr lang="en-US" altLang="zh-CN" dirty="0">
                <a:solidFill>
                  <a:srgbClr val="000000"/>
                </a:solidFill>
              </a:rPr>
              <a:t>…</a:t>
            </a:r>
            <a:r>
              <a:rPr lang="zh-CN" altLang="en-US" dirty="0">
                <a:solidFill>
                  <a:srgbClr val="000000"/>
                </a:solidFill>
              </a:rPr>
              <a:t>、</a:t>
            </a:r>
            <a:r>
              <a:rPr lang="en-US" altLang="zh-CN" i="1" dirty="0">
                <a:solidFill>
                  <a:srgbClr val="000000"/>
                </a:solidFill>
              </a:rPr>
              <a:t>C</a:t>
            </a:r>
            <a:r>
              <a:rPr lang="en-US" altLang="zh-CN" baseline="-25000" dirty="0">
                <a:solidFill>
                  <a:srgbClr val="000000"/>
                </a:solidFill>
              </a:rPr>
              <a:t>3,1</a:t>
            </a:r>
            <a:r>
              <a:rPr lang="zh-CN" altLang="en-US" dirty="0">
                <a:solidFill>
                  <a:srgbClr val="000000"/>
                </a:solidFill>
              </a:rPr>
              <a:t>。</a:t>
            </a:r>
            <a:endParaRPr lang="en-US" altLang="zh-CN" dirty="0">
              <a:solidFill>
                <a:srgbClr val="000000"/>
              </a:solidFill>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406" y="1889941"/>
            <a:ext cx="4276240" cy="2074104"/>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308" y="3931007"/>
            <a:ext cx="4876672" cy="2591468"/>
          </a:xfrm>
          <a:prstGeom prst="rect">
            <a:avLst/>
          </a:prstGeom>
        </p:spPr>
      </p:pic>
      <p:sp>
        <p:nvSpPr>
          <p:cNvPr id="8" name="箭头: 右弧形 7"/>
          <p:cNvSpPr/>
          <p:nvPr/>
        </p:nvSpPr>
        <p:spPr>
          <a:xfrm rot="1538991">
            <a:off x="7239580" y="3895747"/>
            <a:ext cx="943810" cy="2405375"/>
          </a:xfrm>
          <a:prstGeom prst="curvedLef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000000"/>
              </a:solidFill>
              <a:latin typeface="Times New Roman"/>
              <a:ea typeface="黑体"/>
            </a:endParaRPr>
          </a:p>
        </p:txBody>
      </p:sp>
      <p:sp>
        <p:nvSpPr>
          <p:cNvPr id="10" name="文本框 9"/>
          <p:cNvSpPr txBox="1"/>
          <p:nvPr/>
        </p:nvSpPr>
        <p:spPr>
          <a:xfrm>
            <a:off x="8257601" y="5095678"/>
            <a:ext cx="2285940" cy="47634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000000"/>
                </a:solidFill>
              </a:rPr>
              <a:t>编码的整体过程</a:t>
            </a:r>
            <a:endParaRPr lang="en-US" altLang="zh-CN" dirty="0">
              <a:solidFill>
                <a:srgbClr val="000000"/>
              </a:solidFill>
            </a:endParaRPr>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EVENODD</a:t>
            </a:r>
            <a:r>
              <a:rPr lang="zh-CN" altLang="en-US" sz="2400" dirty="0">
                <a:sym typeface="+mn-ea"/>
              </a:rPr>
              <a:t>码编码过程</a:t>
            </a:r>
          </a:p>
        </p:txBody>
      </p:sp>
      <p:sp>
        <p:nvSpPr>
          <p:cNvPr id="14" name="文本框 13"/>
          <p:cNvSpPr txBox="1"/>
          <p:nvPr/>
        </p:nvSpPr>
        <p:spPr>
          <a:xfrm>
            <a:off x="177209" y="891625"/>
            <a:ext cx="4439023" cy="91236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000000"/>
                </a:solidFill>
              </a:rPr>
              <a:t>        </a:t>
            </a:r>
            <a:r>
              <a:rPr lang="en-US" altLang="zh-CN" dirty="0">
                <a:solidFill>
                  <a:srgbClr val="000000"/>
                </a:solidFill>
              </a:rPr>
              <a:t>(1)</a:t>
            </a:r>
            <a:r>
              <a:rPr lang="zh-CN" altLang="en-US" dirty="0">
                <a:solidFill>
                  <a:srgbClr val="000000"/>
                </a:solidFill>
              </a:rPr>
              <a:t>计算第一列校验信息即</a:t>
            </a:r>
            <a:r>
              <a:rPr lang="en-US" altLang="zh-CN" i="1" dirty="0">
                <a:solidFill>
                  <a:srgbClr val="000000"/>
                </a:solidFill>
              </a:rPr>
              <a:t>C</a:t>
            </a:r>
            <a:r>
              <a:rPr lang="en-US" altLang="zh-CN" baseline="-25000" dirty="0">
                <a:solidFill>
                  <a:srgbClr val="000000"/>
                </a:solidFill>
              </a:rPr>
              <a:t>0,0</a:t>
            </a:r>
            <a:r>
              <a:rPr lang="zh-CN" altLang="en-US" dirty="0">
                <a:solidFill>
                  <a:srgbClr val="000000"/>
                </a:solidFill>
              </a:rPr>
              <a:t>、</a:t>
            </a:r>
            <a:r>
              <a:rPr lang="en-US" altLang="zh-CN" i="1" dirty="0">
                <a:solidFill>
                  <a:srgbClr val="000000"/>
                </a:solidFill>
              </a:rPr>
              <a:t>C</a:t>
            </a:r>
            <a:r>
              <a:rPr lang="en-US" altLang="zh-CN" baseline="-25000" dirty="0">
                <a:solidFill>
                  <a:srgbClr val="000000"/>
                </a:solidFill>
              </a:rPr>
              <a:t>1,0</a:t>
            </a:r>
            <a:r>
              <a:rPr lang="zh-CN" altLang="en-US" dirty="0">
                <a:solidFill>
                  <a:srgbClr val="000000"/>
                </a:solidFill>
              </a:rPr>
              <a:t>、</a:t>
            </a:r>
            <a:r>
              <a:rPr lang="en-US" altLang="zh-CN" i="1" dirty="0">
                <a:solidFill>
                  <a:srgbClr val="000000"/>
                </a:solidFill>
              </a:rPr>
              <a:t>C</a:t>
            </a:r>
            <a:r>
              <a:rPr lang="en-US" altLang="zh-CN" baseline="-25000" dirty="0">
                <a:solidFill>
                  <a:srgbClr val="000000"/>
                </a:solidFill>
              </a:rPr>
              <a:t>2,0</a:t>
            </a:r>
            <a:r>
              <a:rPr lang="zh-CN" altLang="en-US" dirty="0">
                <a:solidFill>
                  <a:srgbClr val="000000"/>
                </a:solidFill>
              </a:rPr>
              <a:t>、</a:t>
            </a:r>
            <a:r>
              <a:rPr lang="en-US" altLang="zh-CN" i="1" dirty="0">
                <a:solidFill>
                  <a:srgbClr val="000000"/>
                </a:solidFill>
              </a:rPr>
              <a:t>C</a:t>
            </a:r>
            <a:r>
              <a:rPr lang="en-US" altLang="zh-CN" baseline="-25000" dirty="0">
                <a:solidFill>
                  <a:srgbClr val="000000"/>
                </a:solidFill>
              </a:rPr>
              <a:t>3,0</a:t>
            </a:r>
            <a:r>
              <a:rPr lang="zh-CN" altLang="en-US" dirty="0">
                <a:solidFill>
                  <a:srgbClr val="000000"/>
                </a:solidFill>
              </a:rPr>
              <a:t>的值。</a:t>
            </a:r>
            <a:endParaRPr lang="en-US" altLang="zh-CN" dirty="0">
              <a:solidFill>
                <a:srgbClr val="000000"/>
              </a:solidFill>
            </a:endParaRPr>
          </a:p>
        </p:txBody>
      </p:sp>
      <p:sp>
        <p:nvSpPr>
          <p:cNvPr id="9" name="文本框 8"/>
          <p:cNvSpPr txBox="1"/>
          <p:nvPr/>
        </p:nvSpPr>
        <p:spPr>
          <a:xfrm>
            <a:off x="395547" y="4822275"/>
            <a:ext cx="4174170" cy="178439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i="1" dirty="0">
                <a:solidFill>
                  <a:srgbClr val="000000"/>
                </a:solidFill>
              </a:rPr>
              <a:t>C</a:t>
            </a:r>
            <a:r>
              <a:rPr lang="en-US" altLang="zh-CN" baseline="-25000" dirty="0">
                <a:solidFill>
                  <a:srgbClr val="000000"/>
                </a:solidFill>
              </a:rPr>
              <a:t>0,0</a:t>
            </a:r>
            <a:r>
              <a:rPr lang="en-US" altLang="zh-CN" dirty="0">
                <a:solidFill>
                  <a:srgbClr val="000000"/>
                </a:solidFill>
              </a:rPr>
              <a:t> = </a:t>
            </a:r>
            <a:r>
              <a:rPr lang="en-US" altLang="zh-CN" i="1" dirty="0">
                <a:solidFill>
                  <a:srgbClr val="000000"/>
                </a:solidFill>
              </a:rPr>
              <a:t>D</a:t>
            </a:r>
            <a:r>
              <a:rPr lang="en-US" altLang="zh-CN" baseline="-25000" dirty="0">
                <a:solidFill>
                  <a:srgbClr val="000000"/>
                </a:solidFill>
              </a:rPr>
              <a:t>0,0</a:t>
            </a:r>
            <a:r>
              <a:rPr lang="en-US" altLang="zh-CN" dirty="0">
                <a:solidFill>
                  <a:srgbClr val="000000"/>
                </a:solidFill>
                <a:latin typeface="Times New Roman"/>
                <a:ea typeface="宋体" panose="02010600030101010101" pitchFamily="2" charset="-122"/>
              </a:rPr>
              <a:t>⊕</a:t>
            </a:r>
            <a:r>
              <a:rPr lang="en-US" altLang="zh-CN" i="1" dirty="0">
                <a:solidFill>
                  <a:srgbClr val="000000"/>
                </a:solidFill>
              </a:rPr>
              <a:t>D</a:t>
            </a:r>
            <a:r>
              <a:rPr lang="en-US" altLang="zh-CN" baseline="-25000" dirty="0">
                <a:solidFill>
                  <a:srgbClr val="000000"/>
                </a:solidFill>
              </a:rPr>
              <a:t>0,1</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0,2</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0,3</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0,4</a:t>
            </a:r>
          </a:p>
          <a:p>
            <a:pPr eaLnBrk="0" fontAlgn="base" hangingPunct="0">
              <a:lnSpc>
                <a:spcPts val="3400"/>
              </a:lnSpc>
              <a:spcBef>
                <a:spcPct val="0"/>
              </a:spcBef>
              <a:spcAft>
                <a:spcPct val="0"/>
              </a:spcAft>
            </a:pPr>
            <a:r>
              <a:rPr lang="en-US" altLang="zh-CN" i="1" dirty="0">
                <a:solidFill>
                  <a:srgbClr val="000000"/>
                </a:solidFill>
              </a:rPr>
              <a:t>C</a:t>
            </a:r>
            <a:r>
              <a:rPr lang="en-US" altLang="zh-CN" baseline="-25000" dirty="0">
                <a:solidFill>
                  <a:srgbClr val="000000"/>
                </a:solidFill>
              </a:rPr>
              <a:t>1,0</a:t>
            </a:r>
            <a:r>
              <a:rPr lang="en-US" altLang="zh-CN" dirty="0">
                <a:solidFill>
                  <a:srgbClr val="000000"/>
                </a:solidFill>
              </a:rPr>
              <a:t> = </a:t>
            </a:r>
            <a:r>
              <a:rPr lang="en-US" altLang="zh-CN" i="1" dirty="0">
                <a:solidFill>
                  <a:srgbClr val="000000"/>
                </a:solidFill>
              </a:rPr>
              <a:t>D</a:t>
            </a:r>
            <a:r>
              <a:rPr lang="en-US" altLang="zh-CN" baseline="-25000" dirty="0">
                <a:solidFill>
                  <a:srgbClr val="000000"/>
                </a:solidFill>
              </a:rPr>
              <a:t>1,0</a:t>
            </a:r>
            <a:r>
              <a:rPr lang="en-US" altLang="zh-CN" dirty="0">
                <a:solidFill>
                  <a:srgbClr val="000000"/>
                </a:solidFill>
                <a:latin typeface="Times New Roman"/>
                <a:ea typeface="宋体" panose="02010600030101010101" pitchFamily="2" charset="-122"/>
              </a:rPr>
              <a:t>⊕</a:t>
            </a:r>
            <a:r>
              <a:rPr lang="en-US" altLang="zh-CN" i="1" dirty="0">
                <a:solidFill>
                  <a:srgbClr val="000000"/>
                </a:solidFill>
              </a:rPr>
              <a:t>D</a:t>
            </a:r>
            <a:r>
              <a:rPr lang="en-US" altLang="zh-CN" baseline="-25000" dirty="0">
                <a:solidFill>
                  <a:srgbClr val="000000"/>
                </a:solidFill>
              </a:rPr>
              <a:t>1,1</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1,2</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1,3</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1,4</a:t>
            </a:r>
            <a:endParaRPr lang="en-US" altLang="zh-CN" dirty="0">
              <a:solidFill>
                <a:srgbClr val="000000"/>
              </a:solidFill>
            </a:endParaRPr>
          </a:p>
          <a:p>
            <a:pPr eaLnBrk="0" fontAlgn="base" hangingPunct="0">
              <a:lnSpc>
                <a:spcPts val="3400"/>
              </a:lnSpc>
              <a:spcBef>
                <a:spcPct val="0"/>
              </a:spcBef>
              <a:spcAft>
                <a:spcPct val="0"/>
              </a:spcAft>
            </a:pPr>
            <a:r>
              <a:rPr lang="en-US" altLang="zh-CN" i="1" dirty="0">
                <a:solidFill>
                  <a:srgbClr val="000000"/>
                </a:solidFill>
              </a:rPr>
              <a:t>C</a:t>
            </a:r>
            <a:r>
              <a:rPr lang="en-US" altLang="zh-CN" baseline="-25000" dirty="0">
                <a:solidFill>
                  <a:srgbClr val="000000"/>
                </a:solidFill>
              </a:rPr>
              <a:t>2,0</a:t>
            </a:r>
            <a:r>
              <a:rPr lang="en-US" altLang="zh-CN" dirty="0">
                <a:solidFill>
                  <a:srgbClr val="000000"/>
                </a:solidFill>
              </a:rPr>
              <a:t> = </a:t>
            </a:r>
            <a:r>
              <a:rPr lang="en-US" altLang="zh-CN" i="1" dirty="0">
                <a:solidFill>
                  <a:srgbClr val="000000"/>
                </a:solidFill>
              </a:rPr>
              <a:t>D</a:t>
            </a:r>
            <a:r>
              <a:rPr lang="en-US" altLang="zh-CN" baseline="-25000" dirty="0">
                <a:solidFill>
                  <a:srgbClr val="000000"/>
                </a:solidFill>
              </a:rPr>
              <a:t>2,0</a:t>
            </a:r>
            <a:r>
              <a:rPr lang="en-US" altLang="zh-CN" dirty="0">
                <a:solidFill>
                  <a:srgbClr val="000000"/>
                </a:solidFill>
                <a:latin typeface="Times New Roman"/>
                <a:ea typeface="宋体" panose="02010600030101010101" pitchFamily="2" charset="-122"/>
              </a:rPr>
              <a:t>⊕</a:t>
            </a:r>
            <a:r>
              <a:rPr lang="en-US" altLang="zh-CN" i="1" dirty="0">
                <a:solidFill>
                  <a:srgbClr val="000000"/>
                </a:solidFill>
              </a:rPr>
              <a:t>D</a:t>
            </a:r>
            <a:r>
              <a:rPr lang="en-US" altLang="zh-CN" baseline="-25000" dirty="0">
                <a:solidFill>
                  <a:srgbClr val="000000"/>
                </a:solidFill>
              </a:rPr>
              <a:t>2,1</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2,2</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2,3</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2,4</a:t>
            </a:r>
            <a:endParaRPr lang="en-US" altLang="zh-CN" dirty="0">
              <a:solidFill>
                <a:srgbClr val="000000"/>
              </a:solidFill>
            </a:endParaRPr>
          </a:p>
          <a:p>
            <a:pPr eaLnBrk="0" fontAlgn="base" hangingPunct="0">
              <a:lnSpc>
                <a:spcPts val="3400"/>
              </a:lnSpc>
              <a:spcBef>
                <a:spcPct val="0"/>
              </a:spcBef>
              <a:spcAft>
                <a:spcPct val="0"/>
              </a:spcAft>
            </a:pPr>
            <a:r>
              <a:rPr lang="en-US" altLang="zh-CN" i="1" dirty="0">
                <a:solidFill>
                  <a:srgbClr val="000000"/>
                </a:solidFill>
              </a:rPr>
              <a:t>C</a:t>
            </a:r>
            <a:r>
              <a:rPr lang="en-US" altLang="zh-CN" baseline="-25000" dirty="0">
                <a:solidFill>
                  <a:srgbClr val="000000"/>
                </a:solidFill>
              </a:rPr>
              <a:t>3,0</a:t>
            </a:r>
            <a:r>
              <a:rPr lang="en-US" altLang="zh-CN" dirty="0">
                <a:solidFill>
                  <a:srgbClr val="000000"/>
                </a:solidFill>
              </a:rPr>
              <a:t> = </a:t>
            </a:r>
            <a:r>
              <a:rPr lang="en-US" altLang="zh-CN" i="1" dirty="0">
                <a:solidFill>
                  <a:srgbClr val="000000"/>
                </a:solidFill>
              </a:rPr>
              <a:t>D</a:t>
            </a:r>
            <a:r>
              <a:rPr lang="en-US" altLang="zh-CN" baseline="-25000" dirty="0">
                <a:solidFill>
                  <a:srgbClr val="000000"/>
                </a:solidFill>
              </a:rPr>
              <a:t>3,0</a:t>
            </a:r>
            <a:r>
              <a:rPr lang="en-US" altLang="zh-CN" dirty="0">
                <a:solidFill>
                  <a:srgbClr val="000000"/>
                </a:solidFill>
                <a:latin typeface="Times New Roman"/>
                <a:ea typeface="宋体" panose="02010600030101010101" pitchFamily="2" charset="-122"/>
              </a:rPr>
              <a:t>⊕</a:t>
            </a:r>
            <a:r>
              <a:rPr lang="en-US" altLang="zh-CN" i="1" dirty="0">
                <a:solidFill>
                  <a:srgbClr val="000000"/>
                </a:solidFill>
              </a:rPr>
              <a:t>D</a:t>
            </a:r>
            <a:r>
              <a:rPr lang="en-US" altLang="zh-CN" baseline="-25000" dirty="0">
                <a:solidFill>
                  <a:srgbClr val="000000"/>
                </a:solidFill>
              </a:rPr>
              <a:t>3,1</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3,2</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3,3</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3,4</a:t>
            </a:r>
            <a:endParaRPr lang="en-US" altLang="zh-CN" dirty="0">
              <a:solidFill>
                <a:srgbClr val="000000"/>
              </a:solidFill>
            </a:endParaRPr>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t="11133"/>
          <a:stretch>
            <a:fillRect/>
          </a:stretch>
        </p:blipFill>
        <p:spPr>
          <a:xfrm>
            <a:off x="349032" y="2648326"/>
            <a:ext cx="4267200" cy="2039961"/>
          </a:xfrm>
          <a:prstGeom prst="rect">
            <a:avLst/>
          </a:prstGeom>
        </p:spPr>
      </p:pic>
      <mc:AlternateContent xmlns:mc="http://schemas.openxmlformats.org/markup-compatibility/2006" xmlns:a14="http://schemas.microsoft.com/office/drawing/2010/main">
        <mc:Choice Requires="a14">
          <p:sp>
            <p:nvSpPr>
              <p:cNvPr id="11" name="文本框 10"/>
              <p:cNvSpPr txBox="1"/>
              <p:nvPr/>
            </p:nvSpPr>
            <p:spPr>
              <a:xfrm>
                <a:off x="577794" y="1844628"/>
                <a:ext cx="3505108" cy="52835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i="1" dirty="0" err="1">
                    <a:solidFill>
                      <a:srgbClr val="FF0000"/>
                    </a:solidFill>
                  </a:rPr>
                  <a:t>C</a:t>
                </a:r>
                <a:r>
                  <a:rPr lang="en-US" altLang="zh-CN" i="1" baseline="-25000" dirty="0" err="1">
                    <a:solidFill>
                      <a:srgbClr val="FF0000"/>
                    </a:solidFill>
                  </a:rPr>
                  <a:t>i</a:t>
                </a:r>
                <a:r>
                  <a:rPr lang="en-US" altLang="zh-CN" baseline="-25000" dirty="0" err="1">
                    <a:solidFill>
                      <a:srgbClr val="FF0000"/>
                    </a:solidFill>
                  </a:rPr>
                  <a:t>,</a:t>
                </a:r>
                <a:r>
                  <a:rPr lang="en-US" altLang="zh-CN" i="1" baseline="-25000" dirty="0" err="1">
                    <a:solidFill>
                      <a:srgbClr val="FF0000"/>
                    </a:solidFill>
                  </a:rPr>
                  <a:t>p</a:t>
                </a:r>
                <a:r>
                  <a:rPr lang="en-US" altLang="zh-CN" dirty="0">
                    <a:solidFill>
                      <a:srgbClr val="FF0000"/>
                    </a:solidFill>
                  </a:rPr>
                  <a:t> = </a:t>
                </a:r>
                <a14:m>
                  <m:oMath xmlns:m="http://schemas.openxmlformats.org/officeDocument/2006/math">
                    <m:sSubSup>
                      <m:sSubSupPr>
                        <m:ctrlPr>
                          <a:rPr lang="en-US" altLang="zh-CN" i="1">
                            <a:solidFill>
                              <a:srgbClr val="FF0000"/>
                            </a:solidFill>
                            <a:latin typeface="Cambria Math" panose="02040503050406030204" pitchFamily="18" charset="0"/>
                            <a:ea typeface="宋体" panose="02010600030101010101" pitchFamily="2" charset="-122"/>
                          </a:rPr>
                        </m:ctrlPr>
                      </m:sSubSupPr>
                      <m:e>
                        <m:r>
                          <m:rPr>
                            <m:nor/>
                          </m:rPr>
                          <a:rPr lang="en-US" altLang="zh-CN" dirty="0">
                            <a:solidFill>
                              <a:srgbClr val="FF0000"/>
                            </a:solidFill>
                            <a:latin typeface="Cambria Math" panose="02040503050406030204" pitchFamily="18" charset="0"/>
                            <a:ea typeface="宋体" panose="02010600030101010101" pitchFamily="2" charset="-122"/>
                          </a:rPr>
                          <m:t>⊕</m:t>
                        </m:r>
                      </m:e>
                      <m:sub>
                        <m:r>
                          <a:rPr lang="en-US" altLang="zh-CN" i="1">
                            <a:solidFill>
                              <a:srgbClr val="FF0000"/>
                            </a:solidFill>
                            <a:latin typeface="Cambria Math" panose="02040503050406030204" pitchFamily="18" charset="0"/>
                            <a:ea typeface="宋体" panose="02010600030101010101" pitchFamily="2" charset="-122"/>
                          </a:rPr>
                          <m:t>𝑗</m:t>
                        </m:r>
                        <m:r>
                          <a:rPr lang="en-US" altLang="zh-CN">
                            <a:solidFill>
                              <a:srgbClr val="FF0000"/>
                            </a:solidFill>
                            <a:latin typeface="Cambria Math" panose="02040503050406030204" pitchFamily="18" charset="0"/>
                            <a:ea typeface="宋体" panose="02010600030101010101" pitchFamily="2" charset="-122"/>
                          </a:rPr>
                          <m:t>=0</m:t>
                        </m:r>
                      </m:sub>
                      <m:sup>
                        <m:r>
                          <a:rPr lang="en-US" altLang="zh-CN" i="1">
                            <a:solidFill>
                              <a:srgbClr val="FF0000"/>
                            </a:solidFill>
                            <a:latin typeface="Cambria Math" panose="02040503050406030204" pitchFamily="18" charset="0"/>
                            <a:ea typeface="宋体" panose="02010600030101010101" pitchFamily="2" charset="-122"/>
                          </a:rPr>
                          <m:t>𝑝</m:t>
                        </m:r>
                        <m:r>
                          <a:rPr lang="en-US" altLang="zh-CN">
                            <a:solidFill>
                              <a:srgbClr val="FF0000"/>
                            </a:solidFill>
                            <a:latin typeface="Cambria Math" panose="02040503050406030204" pitchFamily="18" charset="0"/>
                            <a:ea typeface="宋体" panose="02010600030101010101" pitchFamily="2" charset="-122"/>
                          </a:rPr>
                          <m:t>−1</m:t>
                        </m:r>
                      </m:sup>
                    </m:sSubSup>
                  </m:oMath>
                </a14:m>
                <a:r>
                  <a:rPr lang="en-US" altLang="zh-CN" i="1" dirty="0" err="1">
                    <a:solidFill>
                      <a:srgbClr val="FF0000"/>
                    </a:solidFill>
                  </a:rPr>
                  <a:t>D</a:t>
                </a:r>
                <a:r>
                  <a:rPr lang="en-US" altLang="zh-CN" i="1" baseline="-25000" dirty="0" err="1">
                    <a:solidFill>
                      <a:srgbClr val="FF0000"/>
                    </a:solidFill>
                  </a:rPr>
                  <a:t>i</a:t>
                </a:r>
                <a:r>
                  <a:rPr lang="en-US" altLang="zh-CN" baseline="-25000" dirty="0" err="1">
                    <a:solidFill>
                      <a:srgbClr val="FF0000"/>
                    </a:solidFill>
                  </a:rPr>
                  <a:t>,</a:t>
                </a:r>
                <a:r>
                  <a:rPr lang="en-US" altLang="zh-CN" i="1" baseline="-25000" dirty="0" err="1">
                    <a:solidFill>
                      <a:srgbClr val="FF0000"/>
                    </a:solidFill>
                  </a:rPr>
                  <a:t>j</a:t>
                </a:r>
                <a:r>
                  <a:rPr lang="en-US" altLang="zh-CN" dirty="0">
                    <a:solidFill>
                      <a:srgbClr val="FF0000"/>
                    </a:solidFill>
                  </a:rPr>
                  <a:t>   0</a:t>
                </a:r>
                <a:r>
                  <a:rPr lang="zh-CN" altLang="en-US" dirty="0">
                    <a:solidFill>
                      <a:srgbClr val="FF0000"/>
                    </a:solidFill>
                  </a:rPr>
                  <a:t>≤</a:t>
                </a:r>
                <a:r>
                  <a:rPr lang="en-US" altLang="zh-CN" i="1" dirty="0" err="1">
                    <a:solidFill>
                      <a:srgbClr val="FF0000"/>
                    </a:solidFill>
                  </a:rPr>
                  <a:t>i</a:t>
                </a:r>
                <a:r>
                  <a:rPr lang="zh-CN" altLang="en-US" dirty="0">
                    <a:solidFill>
                      <a:srgbClr val="FF0000"/>
                    </a:solidFill>
                  </a:rPr>
                  <a:t>≤</a:t>
                </a:r>
                <a:r>
                  <a:rPr lang="en-US" altLang="zh-CN" i="1" dirty="0">
                    <a:solidFill>
                      <a:srgbClr val="FF0000"/>
                    </a:solidFill>
                  </a:rPr>
                  <a:t>p</a:t>
                </a:r>
                <a:r>
                  <a:rPr lang="en-US" altLang="zh-CN" dirty="0">
                    <a:solidFill>
                      <a:srgbClr val="FF0000"/>
                    </a:solidFill>
                  </a:rPr>
                  <a:t>-2      (1)</a:t>
                </a:r>
              </a:p>
            </p:txBody>
          </p:sp>
        </mc:Choice>
        <mc:Fallback xmlns="">
          <p:sp>
            <p:nvSpPr>
              <p:cNvPr id="11" name="文本框 10"/>
              <p:cNvSpPr txBox="1">
                <a:spLocks noRot="1" noChangeAspect="1" noMove="1" noResize="1" noEditPoints="1" noAdjustHandles="1" noChangeArrowheads="1" noChangeShapeType="1" noTextEdit="1"/>
              </p:cNvSpPr>
              <p:nvPr/>
            </p:nvSpPr>
            <p:spPr>
              <a:xfrm>
                <a:off x="577794" y="1844628"/>
                <a:ext cx="3505108" cy="528350"/>
              </a:xfrm>
              <a:prstGeom prst="rect">
                <a:avLst/>
              </a:prstGeom>
              <a:blipFill>
                <a:blip r:embed="rId3"/>
                <a:stretch>
                  <a:fillRect l="-1913" b="-10465"/>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4C31BEE3-DD1F-42F3-A631-5762724F3B76}"/>
              </a:ext>
            </a:extLst>
          </p:cNvPr>
          <p:cNvSpPr txBox="1"/>
          <p:nvPr/>
        </p:nvSpPr>
        <p:spPr>
          <a:xfrm>
            <a:off x="5094878" y="871459"/>
            <a:ext cx="6857820" cy="47634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000000"/>
                </a:solidFill>
              </a:rPr>
              <a:t>        </a:t>
            </a:r>
            <a:r>
              <a:rPr lang="en-US" altLang="zh-CN" dirty="0">
                <a:solidFill>
                  <a:srgbClr val="000000"/>
                </a:solidFill>
              </a:rPr>
              <a:t>(2)</a:t>
            </a:r>
            <a:r>
              <a:rPr lang="zh-CN" altLang="en-US" dirty="0">
                <a:solidFill>
                  <a:srgbClr val="000000"/>
                </a:solidFill>
              </a:rPr>
              <a:t>计算第二列校验信息即</a:t>
            </a:r>
            <a:r>
              <a:rPr lang="en-US" altLang="zh-CN" i="1" dirty="0">
                <a:solidFill>
                  <a:srgbClr val="000000"/>
                </a:solidFill>
              </a:rPr>
              <a:t>C</a:t>
            </a:r>
            <a:r>
              <a:rPr lang="en-US" altLang="zh-CN" baseline="-25000" dirty="0">
                <a:solidFill>
                  <a:srgbClr val="000000"/>
                </a:solidFill>
              </a:rPr>
              <a:t>0,1</a:t>
            </a:r>
            <a:r>
              <a:rPr lang="zh-CN" altLang="en-US" dirty="0">
                <a:solidFill>
                  <a:srgbClr val="000000"/>
                </a:solidFill>
              </a:rPr>
              <a:t>、</a:t>
            </a:r>
            <a:r>
              <a:rPr lang="en-US" altLang="zh-CN" i="1" dirty="0">
                <a:solidFill>
                  <a:srgbClr val="000000"/>
                </a:solidFill>
              </a:rPr>
              <a:t>C</a:t>
            </a:r>
            <a:r>
              <a:rPr lang="en-US" altLang="zh-CN" baseline="-25000" dirty="0">
                <a:solidFill>
                  <a:srgbClr val="000000"/>
                </a:solidFill>
              </a:rPr>
              <a:t>1,1</a:t>
            </a:r>
            <a:r>
              <a:rPr lang="zh-CN" altLang="en-US" dirty="0">
                <a:solidFill>
                  <a:srgbClr val="000000"/>
                </a:solidFill>
              </a:rPr>
              <a:t>、</a:t>
            </a:r>
            <a:r>
              <a:rPr lang="en-US" altLang="zh-CN" i="1" dirty="0">
                <a:solidFill>
                  <a:srgbClr val="000000"/>
                </a:solidFill>
              </a:rPr>
              <a:t>C</a:t>
            </a:r>
            <a:r>
              <a:rPr lang="en-US" altLang="zh-CN" baseline="-25000" dirty="0">
                <a:solidFill>
                  <a:srgbClr val="000000"/>
                </a:solidFill>
              </a:rPr>
              <a:t>2,1</a:t>
            </a:r>
            <a:r>
              <a:rPr lang="zh-CN" altLang="en-US" dirty="0">
                <a:solidFill>
                  <a:srgbClr val="000000"/>
                </a:solidFill>
              </a:rPr>
              <a:t>、</a:t>
            </a:r>
            <a:r>
              <a:rPr lang="en-US" altLang="zh-CN" i="1" dirty="0">
                <a:solidFill>
                  <a:srgbClr val="000000"/>
                </a:solidFill>
              </a:rPr>
              <a:t>C</a:t>
            </a:r>
            <a:r>
              <a:rPr lang="en-US" altLang="zh-CN" baseline="-25000" dirty="0">
                <a:solidFill>
                  <a:srgbClr val="000000"/>
                </a:solidFill>
              </a:rPr>
              <a:t>3,1</a:t>
            </a:r>
            <a:r>
              <a:rPr lang="zh-CN" altLang="en-US" dirty="0">
                <a:solidFill>
                  <a:srgbClr val="000000"/>
                </a:solidFill>
              </a:rPr>
              <a:t>的值。</a:t>
            </a:r>
            <a:endParaRPr lang="en-US" altLang="zh-CN" dirty="0">
              <a:solidFill>
                <a:srgbClr val="000000"/>
              </a:solidFill>
            </a:endParaRPr>
          </a:p>
        </p:txBody>
      </p:sp>
      <p:pic>
        <p:nvPicPr>
          <p:cNvPr id="4" name="图片 3">
            <a:extLst>
              <a:ext uri="{FF2B5EF4-FFF2-40B4-BE49-F238E27FC236}">
                <a16:creationId xmlns:a16="http://schemas.microsoft.com/office/drawing/2014/main" id="{51262360-C0D6-6392-4756-1D4690313B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9070" y="1428692"/>
            <a:ext cx="3231323" cy="1646896"/>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3D5EB90-B8E1-4828-024D-AC56B344C7E9}"/>
                  </a:ext>
                </a:extLst>
              </p:cNvPr>
              <p:cNvSpPr txBox="1"/>
              <p:nvPr/>
            </p:nvSpPr>
            <p:spPr>
              <a:xfrm>
                <a:off x="8045142" y="1583655"/>
                <a:ext cx="4572000" cy="133696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i="1" dirty="0">
                    <a:solidFill>
                      <a:srgbClr val="FF0000"/>
                    </a:solidFill>
                  </a:rPr>
                  <a:t>S</a:t>
                </a:r>
                <a:r>
                  <a:rPr lang="en-US" altLang="zh-CN" dirty="0">
                    <a:solidFill>
                      <a:srgbClr val="FF0000"/>
                    </a:solidFill>
                  </a:rPr>
                  <a:t> = </a:t>
                </a:r>
                <a14:m>
                  <m:oMath xmlns:m="http://schemas.openxmlformats.org/officeDocument/2006/math">
                    <m:sSubSup>
                      <m:sSubSupPr>
                        <m:ctrlPr>
                          <a:rPr lang="en-US" altLang="zh-CN" i="1">
                            <a:solidFill>
                              <a:srgbClr val="FF0000"/>
                            </a:solidFill>
                            <a:latin typeface="Cambria Math" panose="02040503050406030204" pitchFamily="18" charset="0"/>
                            <a:ea typeface="宋体" panose="02010600030101010101" pitchFamily="2" charset="-122"/>
                          </a:rPr>
                        </m:ctrlPr>
                      </m:sSubSupPr>
                      <m:e>
                        <m:r>
                          <m:rPr>
                            <m:nor/>
                          </m:rPr>
                          <a:rPr lang="en-US" altLang="zh-CN" dirty="0">
                            <a:solidFill>
                              <a:srgbClr val="FF0000"/>
                            </a:solidFill>
                            <a:latin typeface="Cambria Math" panose="02040503050406030204" pitchFamily="18" charset="0"/>
                            <a:ea typeface="宋体" panose="02010600030101010101" pitchFamily="2" charset="-122"/>
                          </a:rPr>
                          <m:t>⊕</m:t>
                        </m:r>
                      </m:e>
                      <m:sub>
                        <m:r>
                          <a:rPr lang="en-US" altLang="zh-CN" i="1">
                            <a:solidFill>
                              <a:srgbClr val="FF0000"/>
                            </a:solidFill>
                            <a:latin typeface="Cambria Math" panose="02040503050406030204" pitchFamily="18" charset="0"/>
                            <a:ea typeface="宋体" panose="02010600030101010101" pitchFamily="2" charset="-122"/>
                          </a:rPr>
                          <m:t>𝑗</m:t>
                        </m:r>
                        <m:r>
                          <a:rPr lang="en-US" altLang="zh-CN">
                            <a:solidFill>
                              <a:srgbClr val="FF0000"/>
                            </a:solidFill>
                            <a:latin typeface="Cambria Math" panose="02040503050406030204" pitchFamily="18" charset="0"/>
                            <a:ea typeface="宋体" panose="02010600030101010101" pitchFamily="2" charset="-122"/>
                          </a:rPr>
                          <m:t>=1</m:t>
                        </m:r>
                      </m:sub>
                      <m:sup>
                        <m:r>
                          <a:rPr lang="en-US" altLang="zh-CN" i="1">
                            <a:solidFill>
                              <a:srgbClr val="FF0000"/>
                            </a:solidFill>
                            <a:latin typeface="Cambria Math" panose="02040503050406030204" pitchFamily="18" charset="0"/>
                            <a:ea typeface="宋体" panose="02010600030101010101" pitchFamily="2" charset="-122"/>
                          </a:rPr>
                          <m:t>𝑝</m:t>
                        </m:r>
                        <m:r>
                          <a:rPr lang="en-US" altLang="zh-CN">
                            <a:solidFill>
                              <a:srgbClr val="FF0000"/>
                            </a:solidFill>
                            <a:latin typeface="Cambria Math" panose="02040503050406030204" pitchFamily="18" charset="0"/>
                            <a:ea typeface="宋体" panose="02010600030101010101" pitchFamily="2" charset="-122"/>
                          </a:rPr>
                          <m:t>−1</m:t>
                        </m:r>
                      </m:sup>
                    </m:sSubSup>
                  </m:oMath>
                </a14:m>
                <a:r>
                  <a:rPr lang="en-US" altLang="zh-CN" i="1" dirty="0">
                    <a:solidFill>
                      <a:srgbClr val="FF0000"/>
                    </a:solidFill>
                  </a:rPr>
                  <a:t>D</a:t>
                </a:r>
                <a:r>
                  <a:rPr lang="en-US" altLang="zh-CN" i="1" baseline="-25000" dirty="0">
                    <a:solidFill>
                      <a:srgbClr val="FF0000"/>
                    </a:solidFill>
                  </a:rPr>
                  <a:t>p</a:t>
                </a:r>
                <a:r>
                  <a:rPr lang="en-US" altLang="zh-CN" baseline="-25000" dirty="0">
                    <a:solidFill>
                      <a:srgbClr val="FF0000"/>
                    </a:solidFill>
                  </a:rPr>
                  <a:t>-1-</a:t>
                </a:r>
                <a:r>
                  <a:rPr lang="en-US" altLang="zh-CN" i="1" baseline="-25000" dirty="0">
                    <a:solidFill>
                      <a:srgbClr val="FF0000"/>
                    </a:solidFill>
                  </a:rPr>
                  <a:t>j</a:t>
                </a:r>
                <a:r>
                  <a:rPr lang="en-US" altLang="zh-CN" baseline="-25000" dirty="0">
                    <a:solidFill>
                      <a:srgbClr val="FF0000"/>
                    </a:solidFill>
                  </a:rPr>
                  <a:t>,</a:t>
                </a:r>
                <a:r>
                  <a:rPr lang="en-US" altLang="zh-CN" i="1" baseline="-25000" dirty="0">
                    <a:solidFill>
                      <a:srgbClr val="FF0000"/>
                    </a:solidFill>
                  </a:rPr>
                  <a:t>j                                                </a:t>
                </a:r>
                <a:r>
                  <a:rPr lang="en-US" altLang="zh-CN" dirty="0">
                    <a:solidFill>
                      <a:srgbClr val="FF0000"/>
                    </a:solidFill>
                  </a:rPr>
                  <a:t>(2)</a:t>
                </a:r>
              </a:p>
              <a:p>
                <a:pPr eaLnBrk="0" fontAlgn="base" hangingPunct="0">
                  <a:lnSpc>
                    <a:spcPts val="3400"/>
                  </a:lnSpc>
                  <a:spcBef>
                    <a:spcPct val="0"/>
                  </a:spcBef>
                  <a:spcAft>
                    <a:spcPct val="0"/>
                  </a:spcAft>
                </a:pPr>
                <a:r>
                  <a:rPr lang="en-US" altLang="zh-CN" i="1" dirty="0">
                    <a:solidFill>
                      <a:srgbClr val="FF0000"/>
                    </a:solidFill>
                  </a:rPr>
                  <a:t>C</a:t>
                </a:r>
                <a:r>
                  <a:rPr lang="en-US" altLang="zh-CN" i="1" baseline="-25000" dirty="0">
                    <a:solidFill>
                      <a:srgbClr val="FF0000"/>
                    </a:solidFill>
                  </a:rPr>
                  <a:t>i</a:t>
                </a:r>
                <a:r>
                  <a:rPr lang="en-US" altLang="zh-CN" baseline="-25000" dirty="0">
                    <a:solidFill>
                      <a:srgbClr val="FF0000"/>
                    </a:solidFill>
                  </a:rPr>
                  <a:t>,</a:t>
                </a:r>
                <a:r>
                  <a:rPr lang="en-US" altLang="zh-CN" i="1" baseline="-25000" dirty="0">
                    <a:solidFill>
                      <a:srgbClr val="FF0000"/>
                    </a:solidFill>
                  </a:rPr>
                  <a:t>p</a:t>
                </a:r>
                <a:r>
                  <a:rPr lang="en-US" altLang="zh-CN" baseline="-25000" dirty="0">
                    <a:solidFill>
                      <a:srgbClr val="FF0000"/>
                    </a:solidFill>
                  </a:rPr>
                  <a:t>+1</a:t>
                </a:r>
                <a:r>
                  <a:rPr lang="en-US" altLang="zh-CN" dirty="0">
                    <a:solidFill>
                      <a:srgbClr val="FF0000"/>
                    </a:solidFill>
                  </a:rPr>
                  <a:t> = </a:t>
                </a:r>
                <a:r>
                  <a:rPr lang="en-US" altLang="zh-CN" i="1" dirty="0">
                    <a:solidFill>
                      <a:srgbClr val="FF0000"/>
                    </a:solidFill>
                  </a:rPr>
                  <a:t>S</a:t>
                </a:r>
                <a14:m>
                  <m:oMath xmlns:m="http://schemas.openxmlformats.org/officeDocument/2006/math">
                    <m:sSubSup>
                      <m:sSubSupPr>
                        <m:ctrlPr>
                          <a:rPr lang="en-US" altLang="zh-CN" i="1">
                            <a:solidFill>
                              <a:srgbClr val="FF0000"/>
                            </a:solidFill>
                            <a:latin typeface="Cambria Math" panose="02040503050406030204" pitchFamily="18" charset="0"/>
                            <a:ea typeface="宋体" panose="02010600030101010101" pitchFamily="2" charset="-122"/>
                          </a:rPr>
                        </m:ctrlPr>
                      </m:sSubSupPr>
                      <m:e>
                        <m:r>
                          <m:rPr>
                            <m:nor/>
                          </m:rPr>
                          <a:rPr lang="en-US" altLang="zh-CN" dirty="0">
                            <a:solidFill>
                              <a:srgbClr val="FF0000"/>
                            </a:solidFill>
                            <a:latin typeface="Cambria Math" panose="02040503050406030204" pitchFamily="18" charset="0"/>
                            <a:ea typeface="宋体" panose="02010600030101010101" pitchFamily="2" charset="-122"/>
                          </a:rPr>
                          <m:t>⊕</m:t>
                        </m:r>
                      </m:e>
                      <m:sub>
                        <m:r>
                          <a:rPr lang="en-US" altLang="zh-CN" i="1">
                            <a:solidFill>
                              <a:srgbClr val="FF0000"/>
                            </a:solidFill>
                            <a:latin typeface="Cambria Math" panose="02040503050406030204" pitchFamily="18" charset="0"/>
                            <a:ea typeface="宋体" panose="02010600030101010101" pitchFamily="2" charset="-122"/>
                          </a:rPr>
                          <m:t>𝑗</m:t>
                        </m:r>
                        <m:r>
                          <a:rPr lang="en-US" altLang="zh-CN">
                            <a:solidFill>
                              <a:srgbClr val="FF0000"/>
                            </a:solidFill>
                            <a:latin typeface="Cambria Math" panose="02040503050406030204" pitchFamily="18" charset="0"/>
                            <a:ea typeface="宋体" panose="02010600030101010101" pitchFamily="2" charset="-122"/>
                          </a:rPr>
                          <m:t>=0</m:t>
                        </m:r>
                      </m:sub>
                      <m:sup>
                        <m:r>
                          <a:rPr lang="en-US" altLang="zh-CN" i="1">
                            <a:solidFill>
                              <a:srgbClr val="FF0000"/>
                            </a:solidFill>
                            <a:latin typeface="Cambria Math" panose="02040503050406030204" pitchFamily="18" charset="0"/>
                            <a:ea typeface="宋体" panose="02010600030101010101" pitchFamily="2" charset="-122"/>
                          </a:rPr>
                          <m:t>𝑝</m:t>
                        </m:r>
                        <m:r>
                          <a:rPr lang="en-US" altLang="zh-CN">
                            <a:solidFill>
                              <a:srgbClr val="FF0000"/>
                            </a:solidFill>
                            <a:latin typeface="Cambria Math" panose="02040503050406030204" pitchFamily="18" charset="0"/>
                            <a:ea typeface="宋体" panose="02010600030101010101" pitchFamily="2" charset="-122"/>
                          </a:rPr>
                          <m:t>−1</m:t>
                        </m:r>
                      </m:sup>
                    </m:sSubSup>
                  </m:oMath>
                </a14:m>
                <a:r>
                  <a:rPr lang="en-US" altLang="zh-CN" i="1" dirty="0" err="1">
                    <a:solidFill>
                      <a:srgbClr val="FF0000"/>
                    </a:solidFill>
                  </a:rPr>
                  <a:t>D</a:t>
                </a:r>
                <a:r>
                  <a:rPr lang="en-US" altLang="zh-CN" i="1" baseline="-25000" dirty="0" err="1">
                    <a:solidFill>
                      <a:srgbClr val="FF0000"/>
                    </a:solidFill>
                  </a:rPr>
                  <a:t>j</a:t>
                </a:r>
                <a:r>
                  <a:rPr lang="en-US" altLang="zh-CN" i="1" baseline="-25000" dirty="0">
                    <a:solidFill>
                      <a:srgbClr val="FF0000"/>
                    </a:solidFill>
                  </a:rPr>
                  <a:t>,&lt;</a:t>
                </a:r>
                <a:r>
                  <a:rPr lang="en-US" altLang="zh-CN" i="1" baseline="-25000" dirty="0" err="1">
                    <a:solidFill>
                      <a:srgbClr val="FF0000"/>
                    </a:solidFill>
                  </a:rPr>
                  <a:t>i</a:t>
                </a:r>
                <a:r>
                  <a:rPr lang="en-US" altLang="zh-CN" i="1" baseline="-25000" dirty="0">
                    <a:solidFill>
                      <a:srgbClr val="FF0000"/>
                    </a:solidFill>
                  </a:rPr>
                  <a:t>-j&gt;p</a:t>
                </a:r>
                <a:r>
                  <a:rPr lang="en-US" altLang="zh-CN" i="1" dirty="0">
                    <a:solidFill>
                      <a:srgbClr val="FF0000"/>
                    </a:solidFill>
                  </a:rPr>
                  <a:t>  </a:t>
                </a:r>
                <a:r>
                  <a:rPr lang="en-US" altLang="zh-CN" dirty="0">
                    <a:solidFill>
                      <a:srgbClr val="FF0000"/>
                    </a:solidFill>
                  </a:rPr>
                  <a:t>0</a:t>
                </a:r>
                <a:r>
                  <a:rPr lang="zh-CN" altLang="en-US" dirty="0">
                    <a:solidFill>
                      <a:srgbClr val="FF0000"/>
                    </a:solidFill>
                  </a:rPr>
                  <a:t>≤</a:t>
                </a:r>
                <a:r>
                  <a:rPr lang="en-US" altLang="zh-CN" i="1" dirty="0" err="1">
                    <a:solidFill>
                      <a:srgbClr val="FF0000"/>
                    </a:solidFill>
                  </a:rPr>
                  <a:t>i</a:t>
                </a:r>
                <a:r>
                  <a:rPr lang="zh-CN" altLang="en-US" dirty="0">
                    <a:solidFill>
                      <a:srgbClr val="FF0000"/>
                    </a:solidFill>
                  </a:rPr>
                  <a:t>≤</a:t>
                </a:r>
                <a:r>
                  <a:rPr lang="en-US" altLang="zh-CN" i="1" dirty="0">
                    <a:solidFill>
                      <a:srgbClr val="FF0000"/>
                    </a:solidFill>
                  </a:rPr>
                  <a:t>p</a:t>
                </a:r>
                <a:r>
                  <a:rPr lang="en-US" altLang="zh-CN" dirty="0">
                    <a:solidFill>
                      <a:srgbClr val="FF0000"/>
                    </a:solidFill>
                  </a:rPr>
                  <a:t>-2       (3)</a:t>
                </a:r>
              </a:p>
              <a:p>
                <a:pPr eaLnBrk="0" fontAlgn="base" hangingPunct="0">
                  <a:lnSpc>
                    <a:spcPts val="3400"/>
                  </a:lnSpc>
                  <a:spcBef>
                    <a:spcPct val="0"/>
                  </a:spcBef>
                  <a:spcAft>
                    <a:spcPct val="0"/>
                  </a:spcAft>
                </a:pPr>
                <a:r>
                  <a:rPr lang="en-US" altLang="zh-CN" sz="1600" dirty="0">
                    <a:solidFill>
                      <a:srgbClr val="000000"/>
                    </a:solidFill>
                  </a:rPr>
                  <a:t>(</a:t>
                </a:r>
                <a:r>
                  <a:rPr lang="zh-CN" altLang="en-US" sz="1600" dirty="0">
                    <a:solidFill>
                      <a:srgbClr val="000000"/>
                    </a:solidFill>
                  </a:rPr>
                  <a:t>记</a:t>
                </a:r>
                <a:r>
                  <a:rPr lang="en-US" altLang="zh-CN" sz="1600" dirty="0">
                    <a:solidFill>
                      <a:srgbClr val="000000"/>
                    </a:solidFill>
                  </a:rPr>
                  <a:t>&lt;</a:t>
                </a:r>
                <a:r>
                  <a:rPr lang="en-US" altLang="zh-CN" sz="1600" i="1" dirty="0">
                    <a:solidFill>
                      <a:srgbClr val="000000"/>
                    </a:solidFill>
                  </a:rPr>
                  <a:t>n</a:t>
                </a:r>
                <a:r>
                  <a:rPr lang="en-US" altLang="zh-CN" sz="1600" dirty="0">
                    <a:solidFill>
                      <a:srgbClr val="000000"/>
                    </a:solidFill>
                  </a:rPr>
                  <a:t>&gt;</a:t>
                </a:r>
                <a:r>
                  <a:rPr lang="en-US" altLang="zh-CN" sz="1600" i="1" dirty="0">
                    <a:solidFill>
                      <a:srgbClr val="000000"/>
                    </a:solidFill>
                  </a:rPr>
                  <a:t>p</a:t>
                </a:r>
                <a:r>
                  <a:rPr lang="en-US" altLang="zh-CN" sz="1600" dirty="0">
                    <a:solidFill>
                      <a:srgbClr val="000000"/>
                    </a:solidFill>
                  </a:rPr>
                  <a:t>=</a:t>
                </a:r>
                <a:r>
                  <a:rPr lang="en-US" altLang="zh-CN" sz="1600" i="1" dirty="0">
                    <a:solidFill>
                      <a:srgbClr val="000000"/>
                    </a:solidFill>
                  </a:rPr>
                  <a:t>j</a:t>
                </a:r>
                <a:r>
                  <a:rPr lang="zh-CN" altLang="en-US" sz="1600" dirty="0">
                    <a:solidFill>
                      <a:srgbClr val="000000"/>
                    </a:solidFill>
                  </a:rPr>
                  <a:t>为</a:t>
                </a:r>
                <a:r>
                  <a:rPr lang="en-US" altLang="zh-CN" sz="1600" i="1" dirty="0">
                    <a:solidFill>
                      <a:srgbClr val="000000"/>
                    </a:solidFill>
                  </a:rPr>
                  <a:t>j</a:t>
                </a:r>
                <a:r>
                  <a:rPr lang="en-US" altLang="zh-CN" sz="1600" dirty="0">
                    <a:solidFill>
                      <a:srgbClr val="000000"/>
                    </a:solidFill>
                  </a:rPr>
                  <a:t>=</a:t>
                </a:r>
                <a:r>
                  <a:rPr lang="en-US" altLang="zh-CN" sz="1600" i="1" dirty="0">
                    <a:solidFill>
                      <a:srgbClr val="000000"/>
                    </a:solidFill>
                  </a:rPr>
                  <a:t>n</a:t>
                </a:r>
                <a:r>
                  <a:rPr lang="en-US" altLang="zh-CN" sz="1600" dirty="0">
                    <a:solidFill>
                      <a:srgbClr val="000000"/>
                    </a:solidFill>
                  </a:rPr>
                  <a:t> mod </a:t>
                </a:r>
                <a:r>
                  <a:rPr lang="en-US" altLang="zh-CN" sz="1600" i="1" dirty="0">
                    <a:solidFill>
                      <a:srgbClr val="000000"/>
                    </a:solidFill>
                  </a:rPr>
                  <a:t>p</a:t>
                </a:r>
                <a:r>
                  <a:rPr lang="zh-CN" altLang="en-US" sz="1600" dirty="0">
                    <a:solidFill>
                      <a:srgbClr val="000000"/>
                    </a:solidFill>
                  </a:rPr>
                  <a:t>，</a:t>
                </a:r>
                <a:r>
                  <a:rPr lang="en-US" altLang="zh-CN" sz="1600" dirty="0">
                    <a:solidFill>
                      <a:srgbClr val="000000"/>
                    </a:solidFill>
                  </a:rPr>
                  <a:t>0</a:t>
                </a:r>
                <a:r>
                  <a:rPr lang="zh-CN" altLang="en-US" sz="1600" dirty="0">
                    <a:solidFill>
                      <a:srgbClr val="000000"/>
                    </a:solidFill>
                  </a:rPr>
                  <a:t> ≤ </a:t>
                </a:r>
                <a:r>
                  <a:rPr lang="en-US" altLang="zh-CN" sz="1600" i="1" dirty="0">
                    <a:solidFill>
                      <a:srgbClr val="000000"/>
                    </a:solidFill>
                  </a:rPr>
                  <a:t>j</a:t>
                </a:r>
                <a:r>
                  <a:rPr lang="zh-CN" altLang="en-US" sz="1600" dirty="0">
                    <a:solidFill>
                      <a:srgbClr val="000000"/>
                    </a:solidFill>
                  </a:rPr>
                  <a:t> ≤ </a:t>
                </a:r>
                <a:r>
                  <a:rPr lang="en-US" altLang="zh-CN" sz="1600" i="1" dirty="0">
                    <a:solidFill>
                      <a:srgbClr val="000000"/>
                    </a:solidFill>
                  </a:rPr>
                  <a:t>p</a:t>
                </a:r>
                <a:r>
                  <a:rPr lang="en-US" altLang="zh-CN" sz="1600" dirty="0">
                    <a:solidFill>
                      <a:srgbClr val="000000"/>
                    </a:solidFill>
                  </a:rPr>
                  <a:t>+1)</a:t>
                </a:r>
                <a:endParaRPr lang="en-US" altLang="zh-CN" sz="1600" dirty="0">
                  <a:solidFill>
                    <a:srgbClr val="FF0000"/>
                  </a:solidFill>
                </a:endParaRPr>
              </a:p>
            </p:txBody>
          </p:sp>
        </mc:Choice>
        <mc:Fallback xmlns="">
          <p:sp>
            <p:nvSpPr>
              <p:cNvPr id="6" name="文本框 5">
                <a:extLst>
                  <a:ext uri="{FF2B5EF4-FFF2-40B4-BE49-F238E27FC236}">
                    <a16:creationId xmlns:a16="http://schemas.microsoft.com/office/drawing/2014/main" id="{53D5EB90-B8E1-4828-024D-AC56B344C7E9}"/>
                  </a:ext>
                </a:extLst>
              </p:cNvPr>
              <p:cNvSpPr txBox="1">
                <a:spLocks noRot="1" noChangeAspect="1" noMove="1" noResize="1" noEditPoints="1" noAdjustHandles="1" noChangeArrowheads="1" noChangeShapeType="1" noTextEdit="1"/>
              </p:cNvSpPr>
              <p:nvPr/>
            </p:nvSpPr>
            <p:spPr>
              <a:xfrm>
                <a:off x="8045142" y="1583655"/>
                <a:ext cx="4572000" cy="1336969"/>
              </a:xfrm>
              <a:prstGeom prst="rect">
                <a:avLst/>
              </a:prstGeom>
              <a:blipFill>
                <a:blip r:embed="rId5"/>
                <a:stretch>
                  <a:fillRect l="-1467" b="-5479"/>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BD6180B0-A881-5BCA-A866-A8B0D352F9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14215" y="3311435"/>
            <a:ext cx="3709573" cy="2039962"/>
          </a:xfrm>
          <a:prstGeom prst="rect">
            <a:avLst/>
          </a:prstGeom>
        </p:spPr>
      </p:pic>
      <p:sp>
        <p:nvSpPr>
          <p:cNvPr id="8" name="文本框 7">
            <a:extLst>
              <a:ext uri="{FF2B5EF4-FFF2-40B4-BE49-F238E27FC236}">
                <a16:creationId xmlns:a16="http://schemas.microsoft.com/office/drawing/2014/main" id="{E8A38C8E-78FC-1263-9C27-FD83D732B213}"/>
              </a:ext>
            </a:extLst>
          </p:cNvPr>
          <p:cNvSpPr txBox="1"/>
          <p:nvPr/>
        </p:nvSpPr>
        <p:spPr>
          <a:xfrm>
            <a:off x="8389781" y="3221208"/>
            <a:ext cx="4174170" cy="222041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i="1" dirty="0">
                <a:solidFill>
                  <a:srgbClr val="000000"/>
                </a:solidFill>
              </a:rPr>
              <a:t>S</a:t>
            </a:r>
            <a:r>
              <a:rPr lang="en-US" altLang="zh-CN" dirty="0">
                <a:solidFill>
                  <a:srgbClr val="000000"/>
                </a:solidFill>
              </a:rPr>
              <a:t> = </a:t>
            </a:r>
            <a:r>
              <a:rPr lang="en-US" altLang="zh-CN" i="1" dirty="0">
                <a:solidFill>
                  <a:srgbClr val="000000"/>
                </a:solidFill>
              </a:rPr>
              <a:t>D</a:t>
            </a:r>
            <a:r>
              <a:rPr lang="en-US" altLang="zh-CN" baseline="-25000" dirty="0">
                <a:solidFill>
                  <a:srgbClr val="000000"/>
                </a:solidFill>
              </a:rPr>
              <a:t>3,1</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2,2</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1,3</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0,4</a:t>
            </a:r>
            <a:endParaRPr lang="en-US" altLang="zh-CN" dirty="0">
              <a:solidFill>
                <a:srgbClr val="000000"/>
              </a:solidFill>
            </a:endParaRPr>
          </a:p>
          <a:p>
            <a:pPr eaLnBrk="0" fontAlgn="base" hangingPunct="0">
              <a:lnSpc>
                <a:spcPts val="3400"/>
              </a:lnSpc>
              <a:spcBef>
                <a:spcPct val="0"/>
              </a:spcBef>
              <a:spcAft>
                <a:spcPct val="0"/>
              </a:spcAft>
            </a:pPr>
            <a:r>
              <a:rPr lang="en-US" altLang="zh-CN" i="1" dirty="0">
                <a:solidFill>
                  <a:srgbClr val="000000"/>
                </a:solidFill>
              </a:rPr>
              <a:t>C</a:t>
            </a:r>
            <a:r>
              <a:rPr lang="en-US" altLang="zh-CN" baseline="-25000" dirty="0">
                <a:solidFill>
                  <a:srgbClr val="000000"/>
                </a:solidFill>
              </a:rPr>
              <a:t>0,1</a:t>
            </a:r>
            <a:r>
              <a:rPr lang="en-US" altLang="zh-CN" dirty="0">
                <a:solidFill>
                  <a:srgbClr val="000000"/>
                </a:solidFill>
              </a:rPr>
              <a:t> = </a:t>
            </a:r>
            <a:r>
              <a:rPr lang="en-US" altLang="zh-CN" i="1" dirty="0">
                <a:solidFill>
                  <a:srgbClr val="000000"/>
                </a:solidFill>
              </a:rPr>
              <a:t>D</a:t>
            </a:r>
            <a:r>
              <a:rPr lang="en-US" altLang="zh-CN" baseline="-25000" dirty="0">
                <a:solidFill>
                  <a:srgbClr val="000000"/>
                </a:solidFill>
              </a:rPr>
              <a:t>0,0</a:t>
            </a:r>
            <a:r>
              <a:rPr lang="en-US" altLang="zh-CN" dirty="0">
                <a:solidFill>
                  <a:srgbClr val="000000"/>
                </a:solidFill>
                <a:latin typeface="Times New Roman"/>
                <a:ea typeface="宋体" panose="02010600030101010101" pitchFamily="2" charset="-122"/>
              </a:rPr>
              <a:t>⊕</a:t>
            </a:r>
            <a:r>
              <a:rPr lang="en-US" altLang="zh-CN" i="1" dirty="0">
                <a:solidFill>
                  <a:srgbClr val="000000"/>
                </a:solidFill>
              </a:rPr>
              <a:t>D</a:t>
            </a:r>
            <a:r>
              <a:rPr lang="en-US" altLang="zh-CN" baseline="-25000" dirty="0">
                <a:solidFill>
                  <a:srgbClr val="000000"/>
                </a:solidFill>
              </a:rPr>
              <a:t>3,2</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2,3</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1,4</a:t>
            </a:r>
            <a:r>
              <a:rPr lang="en-US" altLang="zh-CN" dirty="0">
                <a:solidFill>
                  <a:srgbClr val="000000"/>
                </a:solidFill>
                <a:ea typeface="宋体" panose="02010600030101010101" pitchFamily="2" charset="-122"/>
              </a:rPr>
              <a:t>⊕S</a:t>
            </a:r>
            <a:endParaRPr lang="en-US" altLang="zh-CN" baseline="-25000" dirty="0">
              <a:solidFill>
                <a:srgbClr val="000000"/>
              </a:solidFill>
            </a:endParaRPr>
          </a:p>
          <a:p>
            <a:pPr eaLnBrk="0" fontAlgn="base" hangingPunct="0">
              <a:lnSpc>
                <a:spcPts val="3400"/>
              </a:lnSpc>
              <a:spcBef>
                <a:spcPct val="0"/>
              </a:spcBef>
              <a:spcAft>
                <a:spcPct val="0"/>
              </a:spcAft>
            </a:pPr>
            <a:r>
              <a:rPr lang="en-US" altLang="zh-CN" i="1" dirty="0">
                <a:solidFill>
                  <a:srgbClr val="000000"/>
                </a:solidFill>
              </a:rPr>
              <a:t>C</a:t>
            </a:r>
            <a:r>
              <a:rPr lang="en-US" altLang="zh-CN" baseline="-25000" dirty="0">
                <a:solidFill>
                  <a:srgbClr val="000000"/>
                </a:solidFill>
              </a:rPr>
              <a:t>1,1</a:t>
            </a:r>
            <a:r>
              <a:rPr lang="en-US" altLang="zh-CN" dirty="0">
                <a:solidFill>
                  <a:srgbClr val="000000"/>
                </a:solidFill>
              </a:rPr>
              <a:t> = </a:t>
            </a:r>
            <a:r>
              <a:rPr lang="en-US" altLang="zh-CN" i="1" dirty="0">
                <a:solidFill>
                  <a:srgbClr val="000000"/>
                </a:solidFill>
              </a:rPr>
              <a:t>D</a:t>
            </a:r>
            <a:r>
              <a:rPr lang="en-US" altLang="zh-CN" baseline="-25000" dirty="0">
                <a:solidFill>
                  <a:srgbClr val="000000"/>
                </a:solidFill>
              </a:rPr>
              <a:t>1,0</a:t>
            </a:r>
            <a:r>
              <a:rPr lang="en-US" altLang="zh-CN" dirty="0">
                <a:solidFill>
                  <a:srgbClr val="000000"/>
                </a:solidFill>
                <a:latin typeface="Times New Roman"/>
                <a:ea typeface="宋体" panose="02010600030101010101" pitchFamily="2" charset="-122"/>
              </a:rPr>
              <a:t>⊕</a:t>
            </a:r>
            <a:r>
              <a:rPr lang="en-US" altLang="zh-CN" i="1" dirty="0">
                <a:solidFill>
                  <a:srgbClr val="000000"/>
                </a:solidFill>
              </a:rPr>
              <a:t>D</a:t>
            </a:r>
            <a:r>
              <a:rPr lang="en-US" altLang="zh-CN" baseline="-25000" dirty="0">
                <a:solidFill>
                  <a:srgbClr val="000000"/>
                </a:solidFill>
              </a:rPr>
              <a:t>0,1</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3,3</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2,4</a:t>
            </a:r>
            <a:r>
              <a:rPr lang="en-US" altLang="zh-CN" dirty="0">
                <a:solidFill>
                  <a:srgbClr val="000000"/>
                </a:solidFill>
                <a:ea typeface="宋体" panose="02010600030101010101" pitchFamily="2" charset="-122"/>
              </a:rPr>
              <a:t>⊕S</a:t>
            </a:r>
            <a:endParaRPr lang="en-US" altLang="zh-CN" dirty="0">
              <a:solidFill>
                <a:srgbClr val="000000"/>
              </a:solidFill>
            </a:endParaRPr>
          </a:p>
          <a:p>
            <a:pPr eaLnBrk="0" fontAlgn="base" hangingPunct="0">
              <a:lnSpc>
                <a:spcPts val="3400"/>
              </a:lnSpc>
              <a:spcBef>
                <a:spcPct val="0"/>
              </a:spcBef>
              <a:spcAft>
                <a:spcPct val="0"/>
              </a:spcAft>
            </a:pPr>
            <a:r>
              <a:rPr lang="en-US" altLang="zh-CN" i="1" dirty="0">
                <a:solidFill>
                  <a:srgbClr val="000000"/>
                </a:solidFill>
              </a:rPr>
              <a:t>C</a:t>
            </a:r>
            <a:r>
              <a:rPr lang="en-US" altLang="zh-CN" baseline="-25000" dirty="0">
                <a:solidFill>
                  <a:srgbClr val="000000"/>
                </a:solidFill>
              </a:rPr>
              <a:t>2,1</a:t>
            </a:r>
            <a:r>
              <a:rPr lang="en-US" altLang="zh-CN" dirty="0">
                <a:solidFill>
                  <a:srgbClr val="000000"/>
                </a:solidFill>
              </a:rPr>
              <a:t> = </a:t>
            </a:r>
            <a:r>
              <a:rPr lang="en-US" altLang="zh-CN" i="1" dirty="0">
                <a:solidFill>
                  <a:srgbClr val="000000"/>
                </a:solidFill>
              </a:rPr>
              <a:t>D</a:t>
            </a:r>
            <a:r>
              <a:rPr lang="en-US" altLang="zh-CN" baseline="-25000" dirty="0">
                <a:solidFill>
                  <a:srgbClr val="000000"/>
                </a:solidFill>
              </a:rPr>
              <a:t>2,0</a:t>
            </a:r>
            <a:r>
              <a:rPr lang="en-US" altLang="zh-CN" dirty="0">
                <a:solidFill>
                  <a:srgbClr val="000000"/>
                </a:solidFill>
                <a:latin typeface="Times New Roman"/>
                <a:ea typeface="宋体" panose="02010600030101010101" pitchFamily="2" charset="-122"/>
              </a:rPr>
              <a:t>⊕</a:t>
            </a:r>
            <a:r>
              <a:rPr lang="en-US" altLang="zh-CN" i="1" dirty="0">
                <a:solidFill>
                  <a:srgbClr val="000000"/>
                </a:solidFill>
              </a:rPr>
              <a:t>D</a:t>
            </a:r>
            <a:r>
              <a:rPr lang="en-US" altLang="zh-CN" baseline="-25000" dirty="0">
                <a:solidFill>
                  <a:srgbClr val="000000"/>
                </a:solidFill>
              </a:rPr>
              <a:t>1,1</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0,2</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3,4</a:t>
            </a:r>
            <a:r>
              <a:rPr lang="en-US" altLang="zh-CN" dirty="0">
                <a:solidFill>
                  <a:srgbClr val="000000"/>
                </a:solidFill>
                <a:ea typeface="宋体" panose="02010600030101010101" pitchFamily="2" charset="-122"/>
              </a:rPr>
              <a:t>⊕S</a:t>
            </a:r>
            <a:endParaRPr lang="en-US" altLang="zh-CN" dirty="0">
              <a:solidFill>
                <a:srgbClr val="000000"/>
              </a:solidFill>
            </a:endParaRPr>
          </a:p>
          <a:p>
            <a:pPr eaLnBrk="0" fontAlgn="base" hangingPunct="0">
              <a:lnSpc>
                <a:spcPts val="3400"/>
              </a:lnSpc>
              <a:spcBef>
                <a:spcPct val="0"/>
              </a:spcBef>
              <a:spcAft>
                <a:spcPct val="0"/>
              </a:spcAft>
            </a:pPr>
            <a:r>
              <a:rPr lang="en-US" altLang="zh-CN" i="1" dirty="0">
                <a:solidFill>
                  <a:srgbClr val="000000"/>
                </a:solidFill>
              </a:rPr>
              <a:t>C</a:t>
            </a:r>
            <a:r>
              <a:rPr lang="en-US" altLang="zh-CN" baseline="-25000" dirty="0">
                <a:solidFill>
                  <a:srgbClr val="000000"/>
                </a:solidFill>
              </a:rPr>
              <a:t>3,1</a:t>
            </a:r>
            <a:r>
              <a:rPr lang="en-US" altLang="zh-CN" dirty="0">
                <a:solidFill>
                  <a:srgbClr val="000000"/>
                </a:solidFill>
              </a:rPr>
              <a:t> = </a:t>
            </a:r>
            <a:r>
              <a:rPr lang="en-US" altLang="zh-CN" i="1" dirty="0">
                <a:solidFill>
                  <a:srgbClr val="000000"/>
                </a:solidFill>
              </a:rPr>
              <a:t>D</a:t>
            </a:r>
            <a:r>
              <a:rPr lang="en-US" altLang="zh-CN" baseline="-25000" dirty="0">
                <a:solidFill>
                  <a:srgbClr val="000000"/>
                </a:solidFill>
              </a:rPr>
              <a:t>3,0</a:t>
            </a:r>
            <a:r>
              <a:rPr lang="en-US" altLang="zh-CN" dirty="0">
                <a:solidFill>
                  <a:srgbClr val="000000"/>
                </a:solidFill>
                <a:latin typeface="Times New Roman"/>
                <a:ea typeface="宋体" panose="02010600030101010101" pitchFamily="2" charset="-122"/>
              </a:rPr>
              <a:t>⊕</a:t>
            </a:r>
            <a:r>
              <a:rPr lang="en-US" altLang="zh-CN" i="1" dirty="0">
                <a:solidFill>
                  <a:srgbClr val="000000"/>
                </a:solidFill>
              </a:rPr>
              <a:t>D</a:t>
            </a:r>
            <a:r>
              <a:rPr lang="en-US" altLang="zh-CN" baseline="-25000" dirty="0">
                <a:solidFill>
                  <a:srgbClr val="000000"/>
                </a:solidFill>
              </a:rPr>
              <a:t>2,1</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1,2</a:t>
            </a:r>
            <a:r>
              <a:rPr lang="en-US" altLang="zh-CN" dirty="0">
                <a:solidFill>
                  <a:srgbClr val="000000"/>
                </a:solidFill>
                <a:latin typeface="Times New Roman"/>
                <a:ea typeface="宋体" panose="02010600030101010101" pitchFamily="2" charset="-122"/>
              </a:rPr>
              <a:t> ⊕</a:t>
            </a:r>
            <a:r>
              <a:rPr lang="en-US" altLang="zh-CN" i="1" dirty="0">
                <a:solidFill>
                  <a:srgbClr val="000000"/>
                </a:solidFill>
              </a:rPr>
              <a:t>D</a:t>
            </a:r>
            <a:r>
              <a:rPr lang="en-US" altLang="zh-CN" baseline="-25000" dirty="0">
                <a:solidFill>
                  <a:srgbClr val="000000"/>
                </a:solidFill>
              </a:rPr>
              <a:t>0,3</a:t>
            </a:r>
            <a:r>
              <a:rPr lang="en-US" altLang="zh-CN" dirty="0">
                <a:solidFill>
                  <a:srgbClr val="000000"/>
                </a:solidFill>
                <a:ea typeface="宋体" panose="02010600030101010101" pitchFamily="2" charset="-122"/>
              </a:rPr>
              <a:t>⊕S</a:t>
            </a:r>
            <a:endParaRPr lang="en-US" altLang="zh-CN" dirty="0">
              <a:solidFill>
                <a:srgbClr val="000000"/>
              </a:solidFill>
            </a:endParaRPr>
          </a:p>
        </p:txBody>
      </p:sp>
      <p:cxnSp>
        <p:nvCxnSpPr>
          <p:cNvPr id="12" name="直接连接符 11">
            <a:extLst>
              <a:ext uri="{FF2B5EF4-FFF2-40B4-BE49-F238E27FC236}">
                <a16:creationId xmlns:a16="http://schemas.microsoft.com/office/drawing/2014/main" id="{B9D8CE51-5782-D099-3B0F-691677883647}"/>
              </a:ext>
            </a:extLst>
          </p:cNvPr>
          <p:cNvCxnSpPr/>
          <p:nvPr/>
        </p:nvCxnSpPr>
        <p:spPr bwMode="auto">
          <a:xfrm flipH="1">
            <a:off x="4760686" y="891625"/>
            <a:ext cx="116114" cy="5661575"/>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EVENODD</a:t>
            </a:r>
            <a:r>
              <a:rPr lang="zh-CN" altLang="en-US" sz="2400" dirty="0">
                <a:sym typeface="+mn-ea"/>
              </a:rPr>
              <a:t>码解码过程</a:t>
            </a:r>
          </a:p>
        </p:txBody>
      </p:sp>
      <mc:AlternateContent xmlns:mc="http://schemas.openxmlformats.org/markup-compatibility/2006" xmlns:a14="http://schemas.microsoft.com/office/drawing/2010/main">
        <mc:Choice Requires="a14">
          <p:sp>
            <p:nvSpPr>
              <p:cNvPr id="14" name="文本框 13"/>
              <p:cNvSpPr txBox="1"/>
              <p:nvPr/>
            </p:nvSpPr>
            <p:spPr>
              <a:xfrm>
                <a:off x="549348" y="1322202"/>
                <a:ext cx="10976345" cy="376827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rPr>
                  <a:t>        在这里介绍的是</a:t>
                </a:r>
                <a:r>
                  <a:rPr lang="en-US" altLang="zh-CN" dirty="0">
                    <a:solidFill>
                      <a:srgbClr val="FF0000"/>
                    </a:solidFill>
                  </a:rPr>
                  <a:t>EVENODD</a:t>
                </a:r>
                <a:r>
                  <a:rPr lang="zh-CN" altLang="en-US" dirty="0">
                    <a:solidFill>
                      <a:srgbClr val="FF0000"/>
                    </a:solidFill>
                  </a:rPr>
                  <a:t>双列删错的译码算法</a:t>
                </a:r>
                <a:r>
                  <a:rPr lang="zh-CN" altLang="en-US" dirty="0">
                    <a:solidFill>
                      <a:srgbClr val="000000"/>
                    </a:solidFill>
                  </a:rPr>
                  <a:t>，在译码过程中只需要简单的异或操作。</a:t>
                </a:r>
                <a:endParaRPr lang="en-US" altLang="zh-CN" dirty="0">
                  <a:solidFill>
                    <a:srgbClr val="000000"/>
                  </a:solidFill>
                </a:endParaRPr>
              </a:p>
              <a:p>
                <a:pPr eaLnBrk="0" fontAlgn="base" hangingPunct="0">
                  <a:lnSpc>
                    <a:spcPts val="3600"/>
                  </a:lnSpc>
                  <a:spcBef>
                    <a:spcPct val="0"/>
                  </a:spcBef>
                  <a:spcAft>
                    <a:spcPct val="0"/>
                  </a:spcAft>
                </a:pPr>
                <a:r>
                  <a:rPr lang="zh-CN" altLang="en-US" dirty="0">
                    <a:solidFill>
                      <a:srgbClr val="000000"/>
                    </a:solidFill>
                  </a:rPr>
                  <a:t>        假定数据块</a:t>
                </a:r>
                <a:r>
                  <a:rPr lang="en-US" altLang="zh-CN" dirty="0" err="1">
                    <a:solidFill>
                      <a:srgbClr val="000000"/>
                    </a:solidFill>
                  </a:rPr>
                  <a:t>i</a:t>
                </a:r>
                <a:r>
                  <a:rPr lang="zh-CN" altLang="en-US" dirty="0">
                    <a:solidFill>
                      <a:srgbClr val="000000"/>
                    </a:solidFill>
                  </a:rPr>
                  <a:t>和</a:t>
                </a:r>
                <a:r>
                  <a:rPr lang="en-US" altLang="zh-CN" dirty="0">
                    <a:solidFill>
                      <a:srgbClr val="000000"/>
                    </a:solidFill>
                  </a:rPr>
                  <a:t>j</a:t>
                </a:r>
                <a:r>
                  <a:rPr lang="zh-CN" altLang="en-US" dirty="0">
                    <a:solidFill>
                      <a:srgbClr val="000000"/>
                    </a:solidFill>
                  </a:rPr>
                  <a:t>损坏，</a:t>
                </a:r>
                <a:r>
                  <a:rPr lang="en-US" altLang="zh-CN" dirty="0">
                    <a:solidFill>
                      <a:srgbClr val="000000"/>
                    </a:solidFill>
                  </a:rPr>
                  <a:t>0</a:t>
                </a:r>
                <a:r>
                  <a:rPr lang="zh-CN" altLang="en-US" dirty="0">
                    <a:solidFill>
                      <a:srgbClr val="000000"/>
                    </a:solidFill>
                  </a:rPr>
                  <a:t>≤</a:t>
                </a:r>
                <a:r>
                  <a:rPr lang="en-US" altLang="zh-CN" i="1" dirty="0" err="1">
                    <a:solidFill>
                      <a:srgbClr val="000000"/>
                    </a:solidFill>
                  </a:rPr>
                  <a:t>i</a:t>
                </a:r>
                <a:r>
                  <a:rPr lang="en-US" altLang="zh-CN" dirty="0">
                    <a:solidFill>
                      <a:srgbClr val="000000"/>
                    </a:solidFill>
                  </a:rPr>
                  <a:t>&lt;</a:t>
                </a:r>
                <a:r>
                  <a:rPr lang="en-US" altLang="zh-CN" i="1" dirty="0">
                    <a:solidFill>
                      <a:srgbClr val="000000"/>
                    </a:solidFill>
                  </a:rPr>
                  <a:t>j</a:t>
                </a:r>
                <a:r>
                  <a:rPr lang="zh-CN" altLang="en-US" dirty="0">
                    <a:solidFill>
                      <a:srgbClr val="000000"/>
                    </a:solidFill>
                  </a:rPr>
                  <a:t>≤</a:t>
                </a:r>
                <a:r>
                  <a:rPr lang="en-US" altLang="zh-CN" i="1" dirty="0">
                    <a:solidFill>
                      <a:srgbClr val="000000"/>
                    </a:solidFill>
                  </a:rPr>
                  <a:t>p</a:t>
                </a:r>
                <a:r>
                  <a:rPr lang="en-US" altLang="zh-CN" dirty="0">
                    <a:solidFill>
                      <a:srgbClr val="000000"/>
                    </a:solidFill>
                  </a:rPr>
                  <a:t>+1</a:t>
                </a:r>
                <a:r>
                  <a:rPr lang="zh-CN" altLang="en-US" dirty="0">
                    <a:solidFill>
                      <a:srgbClr val="000000"/>
                    </a:solidFill>
                  </a:rPr>
                  <a:t>，假设数据块的排列从左到右是</a:t>
                </a:r>
                <a:r>
                  <a:rPr lang="en-US" altLang="zh-CN" dirty="0">
                    <a:solidFill>
                      <a:srgbClr val="000000"/>
                    </a:solidFill>
                  </a:rPr>
                  <a:t>0~</a:t>
                </a:r>
                <a:r>
                  <a:rPr lang="en-US" altLang="zh-CN" i="1" dirty="0">
                    <a:solidFill>
                      <a:srgbClr val="000000"/>
                    </a:solidFill>
                  </a:rPr>
                  <a:t>p</a:t>
                </a:r>
                <a:r>
                  <a:rPr lang="en-US" altLang="zh-CN" dirty="0">
                    <a:solidFill>
                      <a:srgbClr val="000000"/>
                    </a:solidFill>
                  </a:rPr>
                  <a:t>+1</a:t>
                </a:r>
                <a:r>
                  <a:rPr lang="zh-CN" altLang="en-US" dirty="0">
                    <a:solidFill>
                      <a:srgbClr val="000000"/>
                    </a:solidFill>
                  </a:rPr>
                  <a:t>，其中</a:t>
                </a:r>
                <a:r>
                  <a:rPr lang="en-US" altLang="zh-CN" dirty="0">
                    <a:solidFill>
                      <a:srgbClr val="000000"/>
                    </a:solidFill>
                  </a:rPr>
                  <a:t>0~</a:t>
                </a:r>
                <a:r>
                  <a:rPr lang="en-US" altLang="zh-CN" i="1" dirty="0">
                    <a:solidFill>
                      <a:srgbClr val="000000"/>
                    </a:solidFill>
                  </a:rPr>
                  <a:t>p</a:t>
                </a:r>
                <a:r>
                  <a:rPr lang="en-US" altLang="zh-CN" dirty="0">
                    <a:solidFill>
                      <a:srgbClr val="000000"/>
                    </a:solidFill>
                  </a:rPr>
                  <a:t>-1</a:t>
                </a:r>
                <a:r>
                  <a:rPr lang="zh-CN" altLang="en-US" dirty="0">
                    <a:solidFill>
                      <a:srgbClr val="000000"/>
                    </a:solidFill>
                  </a:rPr>
                  <a:t>列为用户数据块，</a:t>
                </a:r>
                <a:r>
                  <a:rPr lang="en-US" altLang="zh-CN" i="1" dirty="0">
                    <a:solidFill>
                      <a:srgbClr val="000000"/>
                    </a:solidFill>
                  </a:rPr>
                  <a:t>p</a:t>
                </a:r>
                <a:r>
                  <a:rPr lang="zh-CN" altLang="en-US" dirty="0">
                    <a:solidFill>
                      <a:srgbClr val="000000"/>
                    </a:solidFill>
                  </a:rPr>
                  <a:t>、</a:t>
                </a:r>
                <a:r>
                  <a:rPr lang="en-US" altLang="zh-CN" i="1" dirty="0">
                    <a:solidFill>
                      <a:srgbClr val="000000"/>
                    </a:solidFill>
                  </a:rPr>
                  <a:t>p</a:t>
                </a:r>
                <a:r>
                  <a:rPr lang="en-US" altLang="zh-CN" dirty="0">
                    <a:solidFill>
                      <a:srgbClr val="000000"/>
                    </a:solidFill>
                  </a:rPr>
                  <a:t>+1</a:t>
                </a:r>
                <a:r>
                  <a:rPr lang="zh-CN" altLang="en-US" dirty="0">
                    <a:solidFill>
                      <a:srgbClr val="000000"/>
                    </a:solidFill>
                  </a:rPr>
                  <a:t>列为校验块。</a:t>
                </a:r>
                <a:endParaRPr lang="en-US" altLang="zh-CN" dirty="0">
                  <a:solidFill>
                    <a:srgbClr val="000000"/>
                  </a:solidFill>
                </a:endParaRPr>
              </a:p>
              <a:p>
                <a:pPr eaLnBrk="0" fontAlgn="base" hangingPunct="0">
                  <a:lnSpc>
                    <a:spcPts val="3600"/>
                  </a:lnSpc>
                  <a:spcBef>
                    <a:spcPct val="0"/>
                  </a:spcBef>
                  <a:spcAft>
                    <a:spcPct val="0"/>
                  </a:spcAft>
                </a:pPr>
                <a:r>
                  <a:rPr lang="en-US" altLang="zh-CN" dirty="0">
                    <a:solidFill>
                      <a:srgbClr val="000000"/>
                    </a:solidFill>
                  </a:rPr>
                  <a:t>        </a:t>
                </a:r>
                <a:r>
                  <a:rPr lang="en-US" altLang="zh-CN" dirty="0">
                    <a:solidFill>
                      <a:srgbClr val="000000"/>
                    </a:solidFill>
                    <a:latin typeface="Times New Roman"/>
                  </a:rPr>
                  <a:t>(1)</a:t>
                </a:r>
                <a:r>
                  <a:rPr lang="en-US" altLang="zh-CN" i="1" dirty="0" err="1">
                    <a:solidFill>
                      <a:srgbClr val="000000"/>
                    </a:solidFill>
                    <a:latin typeface="Times New Roman"/>
                  </a:rPr>
                  <a:t>i</a:t>
                </a:r>
                <a:r>
                  <a:rPr lang="en-US" altLang="zh-CN" i="1" dirty="0">
                    <a:solidFill>
                      <a:srgbClr val="000000"/>
                    </a:solidFill>
                    <a:latin typeface="Times New Roman"/>
                  </a:rPr>
                  <a:t>=</a:t>
                </a:r>
                <a:r>
                  <a:rPr lang="en-US" altLang="zh-CN" i="1" dirty="0" err="1">
                    <a:solidFill>
                      <a:srgbClr val="000000"/>
                    </a:solidFill>
                    <a:latin typeface="Times New Roman"/>
                  </a:rPr>
                  <a:t>p,j</a:t>
                </a:r>
                <a:r>
                  <a:rPr lang="en-US" altLang="zh-CN" i="1" dirty="0">
                    <a:solidFill>
                      <a:srgbClr val="000000"/>
                    </a:solidFill>
                    <a:latin typeface="Times New Roman"/>
                  </a:rPr>
                  <a:t>=p+</a:t>
                </a:r>
                <a:r>
                  <a:rPr lang="en-US" altLang="zh-CN" dirty="0">
                    <a:solidFill>
                      <a:srgbClr val="000000"/>
                    </a:solidFill>
                    <a:latin typeface="Times New Roman"/>
                  </a:rPr>
                  <a:t>1,</a:t>
                </a:r>
                <a:r>
                  <a:rPr lang="zh-CN" altLang="en-US" dirty="0">
                    <a:solidFill>
                      <a:srgbClr val="00CC99">
                        <a:lumMod val="75000"/>
                      </a:srgbClr>
                    </a:solidFill>
                    <a:latin typeface="Times New Roman"/>
                  </a:rPr>
                  <a:t>两个检验数据块损坏</a:t>
                </a:r>
                <a:r>
                  <a:rPr lang="zh-CN" altLang="en-US" dirty="0">
                    <a:solidFill>
                      <a:srgbClr val="000000"/>
                    </a:solidFill>
                    <a:latin typeface="Times New Roman"/>
                  </a:rPr>
                  <a:t>，数据恢复方式是重新编码。</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rPr>
                  <a:t>        (2)</a:t>
                </a:r>
                <a:r>
                  <a:rPr lang="en-US" altLang="zh-CN" i="1" dirty="0" err="1">
                    <a:solidFill>
                      <a:srgbClr val="000000"/>
                    </a:solidFill>
                    <a:latin typeface="Times New Roman"/>
                  </a:rPr>
                  <a:t>i</a:t>
                </a:r>
                <a:r>
                  <a:rPr lang="en-US" altLang="zh-CN" dirty="0">
                    <a:solidFill>
                      <a:srgbClr val="000000"/>
                    </a:solidFill>
                    <a:latin typeface="Times New Roman"/>
                  </a:rPr>
                  <a:t>&lt;</a:t>
                </a:r>
                <a:r>
                  <a:rPr lang="en-US" altLang="zh-CN" i="1" dirty="0" err="1">
                    <a:solidFill>
                      <a:srgbClr val="000000"/>
                    </a:solidFill>
                    <a:latin typeface="Times New Roman"/>
                  </a:rPr>
                  <a:t>p,j</a:t>
                </a:r>
                <a:r>
                  <a:rPr lang="en-US" altLang="zh-CN" i="1" dirty="0">
                    <a:solidFill>
                      <a:srgbClr val="000000"/>
                    </a:solidFill>
                    <a:latin typeface="Times New Roman"/>
                  </a:rPr>
                  <a:t>=p</a:t>
                </a:r>
                <a:r>
                  <a:rPr lang="en-US" altLang="zh-CN" dirty="0">
                    <a:solidFill>
                      <a:srgbClr val="000000"/>
                    </a:solidFill>
                    <a:latin typeface="Times New Roman"/>
                  </a:rPr>
                  <a:t>+1,</a:t>
                </a:r>
                <a:r>
                  <a:rPr lang="zh-CN" altLang="en-US" dirty="0">
                    <a:solidFill>
                      <a:srgbClr val="00CC99">
                        <a:lumMod val="75000"/>
                      </a:srgbClr>
                    </a:solidFill>
                    <a:latin typeface="Times New Roman"/>
                  </a:rPr>
                  <a:t>一个用户数据块和一个校验块损坏</a:t>
                </a:r>
                <a:r>
                  <a:rPr lang="zh-CN" altLang="en-US" dirty="0">
                    <a:solidFill>
                      <a:srgbClr val="000000"/>
                    </a:solidFill>
                    <a:latin typeface="Times New Roman"/>
                  </a:rPr>
                  <a:t>，恢复用户数据块</a:t>
                </a:r>
                <a:r>
                  <a:rPr lang="en-US" altLang="zh-CN" dirty="0" err="1">
                    <a:solidFill>
                      <a:srgbClr val="000000"/>
                    </a:solidFill>
                    <a:latin typeface="Times New Roman"/>
                  </a:rPr>
                  <a:t>i</a:t>
                </a:r>
                <a:r>
                  <a:rPr lang="zh-CN" altLang="en-US" dirty="0">
                    <a:solidFill>
                      <a:srgbClr val="000000"/>
                    </a:solidFill>
                    <a:latin typeface="Times New Roman"/>
                  </a:rPr>
                  <a:t>是通过参数</a:t>
                </a:r>
                <a:r>
                  <a:rPr lang="en-US" altLang="zh-CN" i="1" dirty="0">
                    <a:solidFill>
                      <a:srgbClr val="000000"/>
                    </a:solidFill>
                    <a:latin typeface="Times New Roman"/>
                  </a:rPr>
                  <a:t>S</a:t>
                </a:r>
                <a:r>
                  <a:rPr lang="zh-CN" altLang="en-US" dirty="0">
                    <a:solidFill>
                      <a:srgbClr val="000000"/>
                    </a:solidFill>
                    <a:latin typeface="Times New Roman"/>
                  </a:rPr>
                  <a:t>进行恢复，即</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rPr>
                  <a:t>                       </a:t>
                </a:r>
                <a:r>
                  <a:rPr lang="en-US" altLang="zh-CN" i="1" dirty="0">
                    <a:solidFill>
                      <a:srgbClr val="000000"/>
                    </a:solidFill>
                    <a:latin typeface="Times New Roman"/>
                  </a:rPr>
                  <a:t>S</a:t>
                </a:r>
                <a:r>
                  <a:rPr lang="en-US" altLang="zh-CN" dirty="0">
                    <a:solidFill>
                      <a:srgbClr val="000000"/>
                    </a:solidFill>
                    <a:latin typeface="Times New Roman"/>
                  </a:rPr>
                  <a:t> = </a:t>
                </a:r>
                <a:r>
                  <a:rPr lang="en-US" altLang="zh-CN" i="1" dirty="0">
                    <a:solidFill>
                      <a:srgbClr val="000000"/>
                    </a:solidFill>
                    <a:latin typeface="Times New Roman"/>
                  </a:rPr>
                  <a:t>D</a:t>
                </a:r>
                <a:r>
                  <a:rPr lang="en-US" altLang="zh-CN" i="1" baseline="-25000" dirty="0">
                    <a:solidFill>
                      <a:srgbClr val="000000"/>
                    </a:solidFill>
                    <a:latin typeface="Times New Roman"/>
                  </a:rPr>
                  <a:t>&lt;i-1&gt;p,p</a:t>
                </a:r>
                <a:r>
                  <a:rPr lang="en-US" altLang="zh-CN" baseline="-25000" dirty="0">
                    <a:solidFill>
                      <a:srgbClr val="000000"/>
                    </a:solidFill>
                    <a:latin typeface="Times New Roman"/>
                  </a:rPr>
                  <a:t>+1</a:t>
                </a:r>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a:solidFill>
                              <a:srgbClr val="000000"/>
                            </a:solidFill>
                            <a:latin typeface="Cambria Math" panose="02040503050406030204" pitchFamily="18" charset="0"/>
                            <a:ea typeface="宋体" panose="02010600030101010101" pitchFamily="2" charset="-122"/>
                          </a:rPr>
                          <m:t>=0</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rPr>
                  <a:t>D</a:t>
                </a:r>
                <a:r>
                  <a:rPr lang="en-US" altLang="zh-CN" i="1" baseline="-25000" dirty="0">
                    <a:solidFill>
                      <a:srgbClr val="000000"/>
                    </a:solidFill>
                  </a:rPr>
                  <a:t>&lt;i-l-</a:t>
                </a:r>
                <a:r>
                  <a:rPr lang="en-US" altLang="zh-CN" baseline="-25000" dirty="0">
                    <a:solidFill>
                      <a:srgbClr val="000000"/>
                    </a:solidFill>
                  </a:rPr>
                  <a:t>1</a:t>
                </a:r>
                <a:r>
                  <a:rPr lang="en-US" altLang="zh-CN" i="1" baseline="-25000" dirty="0">
                    <a:solidFill>
                      <a:srgbClr val="000000"/>
                    </a:solidFill>
                  </a:rPr>
                  <a:t>&gt;</a:t>
                </a:r>
                <a:r>
                  <a:rPr lang="en-US" altLang="zh-CN" i="1" baseline="-25000" dirty="0" err="1">
                    <a:solidFill>
                      <a:srgbClr val="000000"/>
                    </a:solidFill>
                  </a:rPr>
                  <a:t>p,l</a:t>
                </a:r>
                <a:r>
                  <a:rPr lang="en-US" altLang="zh-CN" dirty="0">
                    <a:solidFill>
                      <a:srgbClr val="000000"/>
                    </a:solidFill>
                  </a:rPr>
                  <a:t>)                                              (4)</a:t>
                </a:r>
              </a:p>
              <a:p>
                <a:pPr eaLnBrk="0" fontAlgn="base" hangingPunct="0">
                  <a:lnSpc>
                    <a:spcPts val="3600"/>
                  </a:lnSpc>
                  <a:spcBef>
                    <a:spcPct val="0"/>
                  </a:spcBef>
                  <a:spcAft>
                    <a:spcPct val="0"/>
                  </a:spcAft>
                </a:pPr>
                <a:r>
                  <a:rPr lang="zh-CN" altLang="en-US" dirty="0">
                    <a:solidFill>
                      <a:srgbClr val="000000"/>
                    </a:solidFill>
                    <a:latin typeface="Times New Roman"/>
                  </a:rPr>
                  <a:t>        假定</a:t>
                </a:r>
                <a:r>
                  <a:rPr lang="en-US" altLang="zh-CN" i="1" dirty="0">
                    <a:solidFill>
                      <a:srgbClr val="000000"/>
                    </a:solidFill>
                    <a:latin typeface="Times New Roman"/>
                  </a:rPr>
                  <a:t>D</a:t>
                </a:r>
                <a:r>
                  <a:rPr lang="en-US" altLang="zh-CN" i="1" baseline="-25000" dirty="0">
                    <a:solidFill>
                      <a:srgbClr val="000000"/>
                    </a:solidFill>
                    <a:latin typeface="Times New Roman"/>
                  </a:rPr>
                  <a:t>p</a:t>
                </a:r>
                <a:r>
                  <a:rPr lang="en-US" altLang="zh-CN" baseline="-25000" dirty="0">
                    <a:solidFill>
                      <a:srgbClr val="000000"/>
                    </a:solidFill>
                    <a:latin typeface="Times New Roman"/>
                  </a:rPr>
                  <a:t>-1,</a:t>
                </a:r>
                <a:r>
                  <a:rPr lang="en-US" altLang="zh-CN" i="1" baseline="-25000" dirty="0">
                    <a:solidFill>
                      <a:srgbClr val="000000"/>
                    </a:solidFill>
                    <a:latin typeface="Times New Roman"/>
                  </a:rPr>
                  <a:t>l</a:t>
                </a:r>
                <a:r>
                  <a:rPr lang="en-US" altLang="zh-CN" baseline="-25000" dirty="0">
                    <a:solidFill>
                      <a:srgbClr val="000000"/>
                    </a:solidFill>
                    <a:latin typeface="Times New Roman"/>
                  </a:rPr>
                  <a:t> </a:t>
                </a:r>
                <a:r>
                  <a:rPr lang="en-US" altLang="zh-CN" dirty="0">
                    <a:solidFill>
                      <a:srgbClr val="000000"/>
                    </a:solidFill>
                    <a:latin typeface="Times New Roman"/>
                  </a:rPr>
                  <a:t>=0,0</a:t>
                </a:r>
                <a:r>
                  <a:rPr lang="zh-CN" altLang="en-US" dirty="0">
                    <a:solidFill>
                      <a:srgbClr val="000000"/>
                    </a:solidFill>
                  </a:rPr>
                  <a:t> ≤</a:t>
                </a:r>
                <a:r>
                  <a:rPr lang="en-US" altLang="zh-CN" i="1" dirty="0">
                    <a:solidFill>
                      <a:srgbClr val="000000"/>
                    </a:solidFill>
                  </a:rPr>
                  <a:t>l</a:t>
                </a:r>
                <a:r>
                  <a:rPr lang="zh-CN" altLang="en-US" dirty="0">
                    <a:solidFill>
                      <a:srgbClr val="000000"/>
                    </a:solidFill>
                  </a:rPr>
                  <a:t> ≤</a:t>
                </a:r>
                <a:r>
                  <a:rPr lang="en-US" altLang="zh-CN" i="1" dirty="0">
                    <a:solidFill>
                      <a:srgbClr val="000000"/>
                    </a:solidFill>
                  </a:rPr>
                  <a:t>p</a:t>
                </a:r>
                <a:r>
                  <a:rPr lang="en-US" altLang="zh-CN" dirty="0">
                    <a:solidFill>
                      <a:srgbClr val="000000"/>
                    </a:solidFill>
                  </a:rPr>
                  <a:t>,</a:t>
                </a:r>
                <a:r>
                  <a:rPr lang="zh-CN" altLang="en-US" dirty="0">
                    <a:solidFill>
                      <a:srgbClr val="000000"/>
                    </a:solidFill>
                  </a:rPr>
                  <a:t>然后利用下式计算</a:t>
                </a:r>
                <a:r>
                  <a:rPr lang="en-US" altLang="zh-CN" dirty="0" err="1">
                    <a:solidFill>
                      <a:srgbClr val="000000"/>
                    </a:solidFill>
                  </a:rPr>
                  <a:t>i</a:t>
                </a:r>
                <a:r>
                  <a:rPr lang="zh-CN" altLang="en-US" dirty="0">
                    <a:solidFill>
                      <a:srgbClr val="000000"/>
                    </a:solidFill>
                  </a:rPr>
                  <a:t>数据块的信息：</a:t>
                </a:r>
                <a:endParaRPr lang="en-US" altLang="zh-CN" dirty="0">
                  <a:solidFill>
                    <a:srgbClr val="000000"/>
                  </a:solidFill>
                </a:endParaRPr>
              </a:p>
              <a:p>
                <a:pPr eaLnBrk="0" fontAlgn="base" hangingPunct="0">
                  <a:lnSpc>
                    <a:spcPts val="3600"/>
                  </a:lnSpc>
                  <a:spcBef>
                    <a:spcPct val="0"/>
                  </a:spcBef>
                  <a:spcAft>
                    <a:spcPct val="0"/>
                  </a:spcAft>
                </a:pPr>
                <a:r>
                  <a:rPr lang="en-US" altLang="zh-CN" dirty="0">
                    <a:solidFill>
                      <a:srgbClr val="000000"/>
                    </a:solidFill>
                    <a:latin typeface="Times New Roman"/>
                  </a:rPr>
                  <a:t>                       </a:t>
                </a:r>
                <a:r>
                  <a:rPr lang="en-US" altLang="zh-CN" i="1" dirty="0" err="1">
                    <a:solidFill>
                      <a:srgbClr val="000000"/>
                    </a:solidFill>
                    <a:latin typeface="Times New Roman"/>
                  </a:rPr>
                  <a:t>D</a:t>
                </a:r>
                <a:r>
                  <a:rPr lang="en-US" altLang="zh-CN" i="1" baseline="-25000" dirty="0" err="1">
                    <a:solidFill>
                      <a:srgbClr val="000000"/>
                    </a:solidFill>
                    <a:latin typeface="Times New Roman"/>
                  </a:rPr>
                  <a:t>k,i</a:t>
                </a:r>
                <a:r>
                  <a:rPr lang="en-US" altLang="zh-CN" dirty="0">
                    <a:solidFill>
                      <a:srgbClr val="000000"/>
                    </a:solidFill>
                    <a:latin typeface="Times New Roman"/>
                  </a:rPr>
                  <a:t>=</a:t>
                </a:r>
                <a:r>
                  <a:rPr lang="en-US" altLang="zh-CN" i="1" dirty="0">
                    <a:solidFill>
                      <a:srgbClr val="000000"/>
                    </a:solidFill>
                    <a:latin typeface="Times New Roman"/>
                  </a:rPr>
                  <a:t>S</a:t>
                </a:r>
                <a:r>
                  <a:rPr lang="en-US" altLang="zh-CN" dirty="0">
                    <a:solidFill>
                      <a:srgbClr val="000000"/>
                    </a:solidFill>
                    <a:latin typeface="Times New Roman"/>
                    <a:ea typeface="宋体" panose="02010600030101010101" pitchFamily="2" charset="-122"/>
                  </a:rPr>
                  <a:t>⊕</a:t>
                </a:r>
                <a:r>
                  <a:rPr lang="en-US" altLang="zh-CN" i="1" dirty="0">
                    <a:solidFill>
                      <a:srgbClr val="000000"/>
                    </a:solidFill>
                    <a:latin typeface="Times New Roman"/>
                  </a:rPr>
                  <a:t>D</a:t>
                </a:r>
                <a:r>
                  <a:rPr lang="en-US" altLang="zh-CN" i="1" baseline="-25000" dirty="0">
                    <a:solidFill>
                      <a:srgbClr val="000000"/>
                    </a:solidFill>
                    <a:latin typeface="Times New Roman"/>
                  </a:rPr>
                  <a:t>&lt;i-</a:t>
                </a:r>
                <a:r>
                  <a:rPr lang="en-US" altLang="zh-CN" baseline="-25000" dirty="0">
                    <a:solidFill>
                      <a:srgbClr val="000000"/>
                    </a:solidFill>
                    <a:latin typeface="Times New Roman"/>
                  </a:rPr>
                  <a:t>1</a:t>
                </a:r>
                <a:r>
                  <a:rPr lang="en-US" altLang="zh-CN" i="1" baseline="-25000" dirty="0">
                    <a:solidFill>
                      <a:srgbClr val="000000"/>
                    </a:solidFill>
                    <a:latin typeface="Times New Roman"/>
                  </a:rPr>
                  <a:t>&gt;p,p+</a:t>
                </a:r>
                <a:r>
                  <a:rPr lang="en-US" altLang="zh-CN" baseline="-25000" dirty="0">
                    <a:solidFill>
                      <a:srgbClr val="000000"/>
                    </a:solidFill>
                    <a:latin typeface="Times New Roman"/>
                  </a:rPr>
                  <a:t>1</a:t>
                </a:r>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m:t>
                        </m:r>
                        <m:r>
                          <a:rPr lang="en-US" altLang="zh-CN" i="1">
                            <a:solidFill>
                              <a:srgbClr val="000000"/>
                            </a:solidFill>
                            <a:latin typeface="Cambria Math" panose="02040503050406030204" pitchFamily="18" charset="0"/>
                            <a:ea typeface="宋体" panose="02010600030101010101" pitchFamily="2" charset="-122"/>
                          </a:rPr>
                          <m:t>𝑙</m:t>
                        </m:r>
                        <m:r>
                          <a:rPr lang="zh-CN" altLang="en-US" i="1">
                            <a:solidFill>
                              <a:srgbClr val="000000"/>
                            </a:solidFill>
                            <a:latin typeface="Cambria Math" panose="02040503050406030204" pitchFamily="18" charset="0"/>
                            <a:ea typeface="宋体" panose="02010600030101010101" pitchFamily="2" charset="-122"/>
                          </a:rPr>
                          <m:t>≠</m:t>
                        </m:r>
                        <m:r>
                          <a:rPr lang="en-US" altLang="zh-CN" i="1">
                            <a:solidFill>
                              <a:srgbClr val="000000"/>
                            </a:solidFill>
                            <a:latin typeface="Cambria Math" panose="02040503050406030204" pitchFamily="18" charset="0"/>
                            <a:ea typeface="宋体" panose="02010600030101010101" pitchFamily="2" charset="-122"/>
                          </a:rPr>
                          <m:t>𝑖</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a:solidFill>
                              <a:srgbClr val="000000"/>
                            </a:solidFill>
                            <a:latin typeface="Cambria Math" panose="02040503050406030204" pitchFamily="18" charset="0"/>
                            <a:ea typeface="宋体" panose="02010600030101010101" pitchFamily="2" charset="-122"/>
                          </a:rPr>
                          <m:t>−</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dirty="0">
                    <a:solidFill>
                      <a:srgbClr val="000000"/>
                    </a:solidFill>
                  </a:rPr>
                  <a:t> </a:t>
                </a:r>
                <a:r>
                  <a:rPr lang="en-US" altLang="zh-CN" i="1" dirty="0">
                    <a:solidFill>
                      <a:srgbClr val="000000"/>
                    </a:solidFill>
                  </a:rPr>
                  <a:t>D</a:t>
                </a:r>
                <a:r>
                  <a:rPr lang="en-US" altLang="zh-CN" i="1" baseline="-25000" dirty="0">
                    <a:solidFill>
                      <a:srgbClr val="000000"/>
                    </a:solidFill>
                  </a:rPr>
                  <a:t>&lt;</a:t>
                </a:r>
                <a:r>
                  <a:rPr lang="en-US" altLang="zh-CN" i="1" baseline="-25000" dirty="0" err="1">
                    <a:solidFill>
                      <a:srgbClr val="000000"/>
                    </a:solidFill>
                  </a:rPr>
                  <a:t>k+i-l</a:t>
                </a:r>
                <a:r>
                  <a:rPr lang="en-US" altLang="zh-CN" i="1" baseline="-25000" dirty="0">
                    <a:solidFill>
                      <a:srgbClr val="000000"/>
                    </a:solidFill>
                  </a:rPr>
                  <a:t>&gt;</a:t>
                </a:r>
                <a:r>
                  <a:rPr lang="en-US" altLang="zh-CN" i="1" baseline="-25000" dirty="0" err="1">
                    <a:solidFill>
                      <a:srgbClr val="000000"/>
                    </a:solidFill>
                  </a:rPr>
                  <a:t>p,l</a:t>
                </a:r>
                <a:r>
                  <a:rPr lang="en-US" altLang="zh-CN" dirty="0">
                    <a:solidFill>
                      <a:srgbClr val="000000"/>
                    </a:solidFill>
                  </a:rPr>
                  <a:t>), 0</a:t>
                </a:r>
                <a:r>
                  <a:rPr lang="zh-CN" altLang="en-US" dirty="0">
                    <a:solidFill>
                      <a:srgbClr val="000000"/>
                    </a:solidFill>
                  </a:rPr>
                  <a:t> ≤</a:t>
                </a:r>
                <a:r>
                  <a:rPr lang="en-US" altLang="zh-CN" i="1" dirty="0">
                    <a:solidFill>
                      <a:srgbClr val="000000"/>
                    </a:solidFill>
                  </a:rPr>
                  <a:t>k</a:t>
                </a:r>
                <a:r>
                  <a:rPr lang="zh-CN" altLang="en-US" dirty="0">
                    <a:solidFill>
                      <a:srgbClr val="000000"/>
                    </a:solidFill>
                  </a:rPr>
                  <a:t> ≤</a:t>
                </a:r>
                <a:r>
                  <a:rPr lang="en-US" altLang="zh-CN" i="1" dirty="0">
                    <a:solidFill>
                      <a:srgbClr val="000000"/>
                    </a:solidFill>
                  </a:rPr>
                  <a:t>p</a:t>
                </a:r>
                <a:r>
                  <a:rPr lang="en-US" altLang="zh-CN" dirty="0">
                    <a:solidFill>
                      <a:srgbClr val="000000"/>
                    </a:solidFill>
                  </a:rPr>
                  <a:t>-2               (5)</a:t>
                </a:r>
                <a:endParaRPr lang="en-US" altLang="zh-CN" dirty="0">
                  <a:solidFill>
                    <a:srgbClr val="000000"/>
                  </a:solidFill>
                  <a:latin typeface="Times New Roman"/>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549348" y="1322202"/>
                <a:ext cx="10976345" cy="3768276"/>
              </a:xfrm>
              <a:prstGeom prst="rect">
                <a:avLst/>
              </a:prstGeom>
              <a:blipFill>
                <a:blip r:embed="rId2"/>
                <a:stretch>
                  <a:fillRect l="-555" r="-611" b="-809"/>
                </a:stretch>
              </a:blipFill>
            </p:spPr>
            <p:txBody>
              <a:bodyPr/>
              <a:lstStyle/>
              <a:p>
                <a:r>
                  <a:rPr lang="zh-CN" altLang="en-US">
                    <a:noFill/>
                  </a:rPr>
                  <a:t> </a:t>
                </a:r>
              </a:p>
            </p:txBody>
          </p:sp>
        </mc:Fallback>
      </mc:AlternateContent>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EVENODD</a:t>
            </a:r>
            <a:r>
              <a:rPr lang="zh-CN" altLang="en-US" sz="2400" dirty="0">
                <a:sym typeface="+mn-ea"/>
              </a:rPr>
              <a:t>码解码过程</a:t>
            </a:r>
          </a:p>
        </p:txBody>
      </p:sp>
      <mc:AlternateContent xmlns:mc="http://schemas.openxmlformats.org/markup-compatibility/2006" xmlns:a14="http://schemas.microsoft.com/office/drawing/2010/main">
        <mc:Choice Requires="a14">
          <p:sp>
            <p:nvSpPr>
              <p:cNvPr id="14" name="文本框 13"/>
              <p:cNvSpPr txBox="1"/>
              <p:nvPr/>
            </p:nvSpPr>
            <p:spPr>
              <a:xfrm>
                <a:off x="1811129" y="1102177"/>
                <a:ext cx="8305582" cy="465056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rPr>
                  <a:t>        </a:t>
                </a:r>
                <a:r>
                  <a:rPr lang="en-US" altLang="zh-CN" dirty="0">
                    <a:solidFill>
                      <a:srgbClr val="000000"/>
                    </a:solidFill>
                    <a:latin typeface="Times New Roman"/>
                  </a:rPr>
                  <a:t>(3)</a:t>
                </a:r>
                <a:r>
                  <a:rPr lang="en-US" altLang="zh-CN" i="1" dirty="0" err="1">
                    <a:solidFill>
                      <a:srgbClr val="000000"/>
                    </a:solidFill>
                    <a:latin typeface="Times New Roman"/>
                  </a:rPr>
                  <a:t>i</a:t>
                </a:r>
                <a:r>
                  <a:rPr lang="en-US" altLang="zh-CN" i="1" dirty="0">
                    <a:solidFill>
                      <a:srgbClr val="000000"/>
                    </a:solidFill>
                    <a:latin typeface="Times New Roman"/>
                  </a:rPr>
                  <a:t>&lt;</a:t>
                </a:r>
                <a:r>
                  <a:rPr lang="en-US" altLang="zh-CN" i="1" dirty="0" err="1">
                    <a:solidFill>
                      <a:srgbClr val="000000"/>
                    </a:solidFill>
                    <a:latin typeface="Times New Roman"/>
                  </a:rPr>
                  <a:t>p,j</a:t>
                </a:r>
                <a:r>
                  <a:rPr lang="en-US" altLang="zh-CN" i="1" dirty="0">
                    <a:solidFill>
                      <a:srgbClr val="000000"/>
                    </a:solidFill>
                    <a:latin typeface="Times New Roman"/>
                  </a:rPr>
                  <a:t>=p</a:t>
                </a:r>
                <a:r>
                  <a:rPr lang="en-US" altLang="zh-CN" dirty="0">
                    <a:solidFill>
                      <a:srgbClr val="000000"/>
                    </a:solidFill>
                    <a:latin typeface="Times New Roman"/>
                  </a:rPr>
                  <a:t>,</a:t>
                </a:r>
                <a:r>
                  <a:rPr lang="zh-CN" altLang="en-US" dirty="0">
                    <a:solidFill>
                      <a:srgbClr val="00CC99">
                        <a:lumMod val="75000"/>
                      </a:srgbClr>
                    </a:solidFill>
                    <a:latin typeface="Times New Roman"/>
                  </a:rPr>
                  <a:t>一个用户数据块和一个校验块损坏</a:t>
                </a:r>
                <a:r>
                  <a:rPr lang="zh-CN" altLang="en-US" dirty="0">
                    <a:solidFill>
                      <a:srgbClr val="000000"/>
                    </a:solidFill>
                    <a:latin typeface="Times New Roman"/>
                  </a:rPr>
                  <a:t>，用户数据块</a:t>
                </a:r>
                <a:r>
                  <a:rPr lang="en-US" altLang="zh-CN" dirty="0" err="1">
                    <a:solidFill>
                      <a:srgbClr val="000000"/>
                    </a:solidFill>
                    <a:latin typeface="Times New Roman"/>
                  </a:rPr>
                  <a:t>i</a:t>
                </a:r>
                <a:r>
                  <a:rPr lang="zh-CN" altLang="en-US" dirty="0">
                    <a:solidFill>
                      <a:srgbClr val="000000"/>
                    </a:solidFill>
                    <a:latin typeface="Times New Roman"/>
                  </a:rPr>
                  <a:t>可以根据平行校验数据块进行异或得到恢复，即</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rPr>
                  <a:t>                            </a:t>
                </a:r>
                <a:r>
                  <a:rPr lang="en-US" altLang="zh-CN" i="1" dirty="0" err="1">
                    <a:solidFill>
                      <a:srgbClr val="000000"/>
                    </a:solidFill>
                    <a:latin typeface="Times New Roman"/>
                  </a:rPr>
                  <a:t>D</a:t>
                </a:r>
                <a:r>
                  <a:rPr lang="en-US" altLang="zh-CN" i="1" baseline="-25000" dirty="0" err="1">
                    <a:solidFill>
                      <a:srgbClr val="000000"/>
                    </a:solidFill>
                    <a:latin typeface="Times New Roman"/>
                  </a:rPr>
                  <a:t>k,i</a:t>
                </a:r>
                <a:r>
                  <a:rPr lang="en-US" altLang="zh-CN" dirty="0">
                    <a:solidFill>
                      <a:srgbClr val="000000"/>
                    </a:solidFill>
                    <a:latin typeface="Times New Roman"/>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m:t>
                        </m:r>
                        <m:r>
                          <a:rPr lang="en-US" altLang="zh-CN" i="1">
                            <a:solidFill>
                              <a:srgbClr val="000000"/>
                            </a:solidFill>
                            <a:latin typeface="Cambria Math" panose="02040503050406030204" pitchFamily="18" charset="0"/>
                            <a:ea typeface="宋体" panose="02010600030101010101" pitchFamily="2" charset="-122"/>
                          </a:rPr>
                          <m:t>𝑙</m:t>
                        </m:r>
                        <m:r>
                          <a:rPr lang="zh-CN" altLang="en-US" i="1">
                            <a:solidFill>
                              <a:srgbClr val="000000"/>
                            </a:solidFill>
                            <a:latin typeface="Cambria Math" panose="02040503050406030204" pitchFamily="18" charset="0"/>
                            <a:ea typeface="宋体" panose="02010600030101010101" pitchFamily="2" charset="-122"/>
                          </a:rPr>
                          <m:t>≠</m:t>
                        </m:r>
                        <m:r>
                          <a:rPr lang="en-US" altLang="zh-CN" i="1">
                            <a:solidFill>
                              <a:srgbClr val="000000"/>
                            </a:solidFill>
                            <a:latin typeface="Cambria Math" panose="02040503050406030204" pitchFamily="18" charset="0"/>
                            <a:ea typeface="宋体" panose="02010600030101010101" pitchFamily="2" charset="-122"/>
                          </a:rPr>
                          <m:t>𝑘</m:t>
                        </m:r>
                      </m:sub>
                      <m:sup>
                        <m:r>
                          <a:rPr lang="en-US" altLang="zh-CN" i="1">
                            <a:solidFill>
                              <a:srgbClr val="000000"/>
                            </a:solidFill>
                            <a:latin typeface="Cambria Math" panose="02040503050406030204" pitchFamily="18" charset="0"/>
                            <a:ea typeface="宋体" panose="02010600030101010101" pitchFamily="2" charset="-122"/>
                          </a:rPr>
                          <m:t>𝑝</m:t>
                        </m:r>
                      </m:sup>
                    </m:sSubSup>
                  </m:oMath>
                </a14:m>
                <a:r>
                  <a:rPr lang="en-US" altLang="zh-CN" dirty="0">
                    <a:solidFill>
                      <a:srgbClr val="000000"/>
                    </a:solidFill>
                  </a:rPr>
                  <a:t> </a:t>
                </a:r>
                <a:r>
                  <a:rPr lang="en-US" altLang="zh-CN" i="1" dirty="0" err="1">
                    <a:solidFill>
                      <a:srgbClr val="000000"/>
                    </a:solidFill>
                  </a:rPr>
                  <a:t>D</a:t>
                </a:r>
                <a:r>
                  <a:rPr lang="en-US" altLang="zh-CN" i="1" baseline="-25000" dirty="0" err="1">
                    <a:solidFill>
                      <a:srgbClr val="000000"/>
                    </a:solidFill>
                  </a:rPr>
                  <a:t>k,l</a:t>
                </a:r>
                <a:r>
                  <a:rPr lang="en-US" altLang="zh-CN" dirty="0">
                    <a:solidFill>
                      <a:srgbClr val="000000"/>
                    </a:solidFill>
                  </a:rPr>
                  <a:t>, 0</a:t>
                </a:r>
                <a:r>
                  <a:rPr lang="zh-CN" altLang="en-US" dirty="0">
                    <a:solidFill>
                      <a:srgbClr val="000000"/>
                    </a:solidFill>
                  </a:rPr>
                  <a:t> ≤</a:t>
                </a:r>
                <a:r>
                  <a:rPr lang="en-US" altLang="zh-CN" i="1" dirty="0">
                    <a:solidFill>
                      <a:srgbClr val="000000"/>
                    </a:solidFill>
                  </a:rPr>
                  <a:t>k</a:t>
                </a:r>
                <a:r>
                  <a:rPr lang="zh-CN" altLang="en-US" dirty="0">
                    <a:solidFill>
                      <a:srgbClr val="000000"/>
                    </a:solidFill>
                  </a:rPr>
                  <a:t> ≤</a:t>
                </a:r>
                <a:r>
                  <a:rPr lang="en-US" altLang="zh-CN" i="1" dirty="0">
                    <a:solidFill>
                      <a:srgbClr val="000000"/>
                    </a:solidFill>
                  </a:rPr>
                  <a:t>p</a:t>
                </a:r>
                <a:r>
                  <a:rPr lang="en-US" altLang="zh-CN" dirty="0">
                    <a:solidFill>
                      <a:srgbClr val="000000"/>
                    </a:solidFill>
                  </a:rPr>
                  <a:t>-2                                           (6)</a:t>
                </a:r>
              </a:p>
              <a:p>
                <a:pPr eaLnBrk="0" fontAlgn="base" hangingPunct="0">
                  <a:lnSpc>
                    <a:spcPts val="3600"/>
                  </a:lnSpc>
                  <a:spcBef>
                    <a:spcPct val="0"/>
                  </a:spcBef>
                  <a:spcAft>
                    <a:spcPct val="0"/>
                  </a:spcAft>
                </a:pPr>
                <a:r>
                  <a:rPr lang="en-US" altLang="zh-CN" dirty="0">
                    <a:solidFill>
                      <a:srgbClr val="000000"/>
                    </a:solidFill>
                    <a:latin typeface="Times New Roman"/>
                  </a:rPr>
                  <a:t>        (4)</a:t>
                </a:r>
                <a:r>
                  <a:rPr lang="en-US" altLang="zh-CN" i="1" dirty="0" err="1">
                    <a:solidFill>
                      <a:srgbClr val="000000"/>
                    </a:solidFill>
                    <a:latin typeface="Times New Roman"/>
                  </a:rPr>
                  <a:t>i</a:t>
                </a:r>
                <a:r>
                  <a:rPr lang="en-US" altLang="zh-CN" i="1" dirty="0">
                    <a:solidFill>
                      <a:srgbClr val="000000"/>
                    </a:solidFill>
                    <a:latin typeface="Times New Roman"/>
                  </a:rPr>
                  <a:t>&lt;</a:t>
                </a:r>
                <a:r>
                  <a:rPr lang="en-US" altLang="zh-CN" i="1" dirty="0" err="1">
                    <a:solidFill>
                      <a:srgbClr val="000000"/>
                    </a:solidFill>
                    <a:latin typeface="Times New Roman"/>
                  </a:rPr>
                  <a:t>p,j</a:t>
                </a:r>
                <a:r>
                  <a:rPr lang="en-US" altLang="zh-CN" i="1" dirty="0">
                    <a:solidFill>
                      <a:srgbClr val="000000"/>
                    </a:solidFill>
                    <a:latin typeface="Times New Roman"/>
                  </a:rPr>
                  <a:t>&lt;p</a:t>
                </a:r>
                <a:r>
                  <a:rPr lang="en-US" altLang="zh-CN" dirty="0">
                    <a:solidFill>
                      <a:srgbClr val="000000"/>
                    </a:solidFill>
                    <a:latin typeface="Times New Roman"/>
                  </a:rPr>
                  <a:t>,</a:t>
                </a:r>
                <a:r>
                  <a:rPr lang="zh-CN" altLang="en-US" dirty="0">
                    <a:solidFill>
                      <a:srgbClr val="00CC99">
                        <a:lumMod val="75000"/>
                      </a:srgbClr>
                    </a:solidFill>
                    <a:latin typeface="Times New Roman"/>
                  </a:rPr>
                  <a:t>两个用户数据块损坏</a:t>
                </a:r>
                <a:r>
                  <a:rPr lang="zh-CN" altLang="en-US" dirty="0">
                    <a:solidFill>
                      <a:srgbClr val="000000"/>
                    </a:solidFill>
                    <a:latin typeface="Times New Roman"/>
                  </a:rPr>
                  <a:t>，数据恢复方法如下：</a:t>
                </a:r>
                <a:endParaRPr lang="en-US" altLang="zh-CN" dirty="0">
                  <a:solidFill>
                    <a:srgbClr val="000000"/>
                  </a:solidFill>
                  <a:latin typeface="Times New Roman"/>
                </a:endParaRPr>
              </a:p>
              <a:p>
                <a:pPr lvl="1" eaLnBrk="0" fontAlgn="base" hangingPunct="0">
                  <a:lnSpc>
                    <a:spcPts val="3600"/>
                  </a:lnSpc>
                  <a:spcBef>
                    <a:spcPct val="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①</a:t>
                </a:r>
                <a:r>
                  <a:rPr lang="zh-CN" altLang="en-US" sz="2000" dirty="0">
                    <a:solidFill>
                      <a:srgbClr val="000000"/>
                    </a:solidFill>
                    <a:latin typeface="Times New Roman"/>
                    <a:ea typeface="黑体" panose="02010609060101010101" pitchFamily="49" charset="-122"/>
                  </a:rPr>
                  <a:t>首先将最后两列校验数据块的信息异或，恢复参数</a:t>
                </a:r>
                <a:r>
                  <a:rPr lang="en-US" altLang="zh-CN" sz="2000" i="1" dirty="0">
                    <a:solidFill>
                      <a:srgbClr val="000000"/>
                    </a:solidFill>
                    <a:latin typeface="Times New Roman"/>
                    <a:ea typeface="黑体" panose="02010609060101010101" pitchFamily="49" charset="-122"/>
                  </a:rPr>
                  <a:t>S</a:t>
                </a:r>
              </a:p>
              <a:p>
                <a:pPr eaLnBrk="0" fontAlgn="base" hangingPunct="0">
                  <a:lnSpc>
                    <a:spcPts val="3600"/>
                  </a:lnSpc>
                  <a:spcBef>
                    <a:spcPct val="0"/>
                  </a:spcBef>
                  <a:spcAft>
                    <a:spcPct val="0"/>
                  </a:spcAft>
                </a:pPr>
                <a:r>
                  <a:rPr lang="en-US" altLang="zh-CN" dirty="0">
                    <a:solidFill>
                      <a:srgbClr val="000000"/>
                    </a:solidFill>
                    <a:latin typeface="Times New Roman"/>
                  </a:rPr>
                  <a:t>                            </a:t>
                </a:r>
                <a:r>
                  <a:rPr lang="en-US" altLang="zh-CN" i="1" dirty="0">
                    <a:solidFill>
                      <a:srgbClr val="000000"/>
                    </a:solidFill>
                    <a:latin typeface="Times New Roman"/>
                  </a:rPr>
                  <a:t>S</a:t>
                </a:r>
                <a:r>
                  <a:rPr lang="en-US" altLang="zh-CN" dirty="0">
                    <a:solidFill>
                      <a:srgbClr val="000000"/>
                    </a:solidFill>
                    <a:latin typeface="Times New Roman"/>
                  </a:rPr>
                  <a:t> = </a:t>
                </a:r>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a:solidFill>
                              <a:srgbClr val="000000"/>
                            </a:solidFill>
                            <a:latin typeface="Cambria Math" panose="02040503050406030204" pitchFamily="18" charset="0"/>
                            <a:ea typeface="宋体" panose="02010600030101010101" pitchFamily="2" charset="-122"/>
                          </a:rPr>
                          <m:t>=0</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m:t>
                        </m:r>
                        <m:r>
                          <a:rPr lang="en-US" altLang="zh-CN">
                            <a:solidFill>
                              <a:srgbClr val="000000"/>
                            </a:solidFill>
                            <a:latin typeface="Cambria Math" panose="02040503050406030204" pitchFamily="18" charset="0"/>
                            <a:ea typeface="宋体" panose="02010600030101010101" pitchFamily="2" charset="-122"/>
                          </a:rPr>
                          <m:t>2</m:t>
                        </m:r>
                      </m:sup>
                    </m:sSubSup>
                  </m:oMath>
                </a14:m>
                <a:r>
                  <a:rPr lang="en-US" altLang="zh-CN" i="1" dirty="0" err="1">
                    <a:solidFill>
                      <a:srgbClr val="000000"/>
                    </a:solidFill>
                  </a:rPr>
                  <a:t>D</a:t>
                </a:r>
                <a:r>
                  <a:rPr lang="en-US" altLang="zh-CN" i="1" baseline="-25000" dirty="0" err="1">
                    <a:solidFill>
                      <a:srgbClr val="000000"/>
                    </a:solidFill>
                  </a:rPr>
                  <a:t>l,p</a:t>
                </a:r>
                <a:r>
                  <a:rPr lang="en-US" altLang="zh-CN" dirty="0">
                    <a:solidFill>
                      <a:srgbClr val="000000"/>
                    </a:solidFill>
                  </a:rPr>
                  <a:t>)</a:t>
                </a:r>
                <a:r>
                  <a:rPr lang="en-US" altLang="zh-CN" dirty="0">
                    <a:solidFill>
                      <a:srgbClr val="000000"/>
                    </a:solidFill>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a:solidFill>
                              <a:srgbClr val="000000"/>
                            </a:solidFill>
                            <a:latin typeface="Cambria Math" panose="02040503050406030204" pitchFamily="18" charset="0"/>
                            <a:ea typeface="宋体" panose="02010600030101010101" pitchFamily="2" charset="-122"/>
                          </a:rPr>
                          <m:t>=0</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a:solidFill>
                              <a:srgbClr val="000000"/>
                            </a:solidFill>
                            <a:latin typeface="Cambria Math" panose="02040503050406030204" pitchFamily="18" charset="0"/>
                            <a:ea typeface="宋体" panose="02010600030101010101" pitchFamily="2" charset="-122"/>
                          </a:rPr>
                          <m:t>−</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i="1" dirty="0">
                    <a:solidFill>
                      <a:srgbClr val="000000"/>
                    </a:solidFill>
                  </a:rPr>
                  <a:t>D</a:t>
                </a:r>
                <a:r>
                  <a:rPr lang="en-US" altLang="zh-CN" i="1" baseline="-25000" dirty="0">
                    <a:solidFill>
                      <a:srgbClr val="000000"/>
                    </a:solidFill>
                  </a:rPr>
                  <a:t>l,p+</a:t>
                </a:r>
                <a:r>
                  <a:rPr lang="en-US" altLang="zh-CN" baseline="-25000" dirty="0">
                    <a:solidFill>
                      <a:srgbClr val="000000"/>
                    </a:solidFill>
                  </a:rPr>
                  <a:t>1</a:t>
                </a:r>
                <a:r>
                  <a:rPr lang="en-US" altLang="zh-CN" dirty="0">
                    <a:solidFill>
                      <a:srgbClr val="000000"/>
                    </a:solidFill>
                  </a:rPr>
                  <a:t>)                                        (7)</a:t>
                </a:r>
              </a:p>
              <a:p>
                <a:pPr lvl="1" eaLnBrk="0" fontAlgn="base" hangingPunct="0">
                  <a:lnSpc>
                    <a:spcPts val="3600"/>
                  </a:lnSpc>
                  <a:spcBef>
                    <a:spcPct val="0"/>
                  </a:spcBef>
                  <a:spcAft>
                    <a:spcPct val="0"/>
                  </a:spcAft>
                </a:pPr>
                <a:r>
                  <a:rPr lang="zh-CN" altLang="en-US" sz="2000" dirty="0">
                    <a:solidFill>
                      <a:srgbClr val="000000"/>
                    </a:solidFill>
                    <a:latin typeface="黑体" panose="02010609060101010101" pitchFamily="49" charset="-122"/>
                    <a:ea typeface="黑体" panose="02010609060101010101" pitchFamily="49" charset="-122"/>
                  </a:rPr>
                  <a:t>②然后计算</a:t>
                </a:r>
                <a:r>
                  <a:rPr lang="en-US" altLang="zh-CN" sz="2000" i="1" dirty="0">
                    <a:solidFill>
                      <a:srgbClr val="000000"/>
                    </a:solidFill>
                    <a:latin typeface="黑体" panose="02010609060101010101" pitchFamily="49" charset="-122"/>
                    <a:ea typeface="黑体" panose="02010609060101010101" pitchFamily="49" charset="-122"/>
                  </a:rPr>
                  <a:t>S</a:t>
                </a:r>
                <a:r>
                  <a:rPr lang="en-US" altLang="zh-CN" sz="2000" baseline="30000" dirty="0">
                    <a:solidFill>
                      <a:srgbClr val="000000"/>
                    </a:solidFill>
                    <a:latin typeface="黑体" panose="02010609060101010101" pitchFamily="49" charset="-122"/>
                    <a:ea typeface="黑体" panose="02010609060101010101" pitchFamily="49" charset="-122"/>
                  </a:rPr>
                  <a:t>(0)</a:t>
                </a:r>
                <a:r>
                  <a:rPr lang="en-US" altLang="zh-CN" sz="2000" dirty="0">
                    <a:solidFill>
                      <a:srgbClr val="000000"/>
                    </a:solidFill>
                    <a:latin typeface="黑体" panose="02010609060101010101" pitchFamily="49" charset="-122"/>
                    <a:ea typeface="黑体" panose="02010609060101010101" pitchFamily="49" charset="-122"/>
                  </a:rPr>
                  <a:t>=</a:t>
                </a:r>
                <a:r>
                  <a:rPr lang="en-US" altLang="zh-CN" sz="2000" i="1" dirty="0">
                    <a:solidFill>
                      <a:srgbClr val="000000"/>
                    </a:solidFill>
                    <a:latin typeface="黑体" panose="02010609060101010101" pitchFamily="49" charset="-122"/>
                    <a:ea typeface="黑体" panose="02010609060101010101" pitchFamily="49" charset="-122"/>
                  </a:rPr>
                  <a:t>S</a:t>
                </a:r>
                <a:r>
                  <a:rPr lang="en-US" altLang="zh-CN" sz="2000" baseline="-25000" dirty="0">
                    <a:solidFill>
                      <a:srgbClr val="000000"/>
                    </a:solidFill>
                    <a:latin typeface="黑体" panose="02010609060101010101" pitchFamily="49" charset="-122"/>
                    <a:ea typeface="黑体" panose="02010609060101010101" pitchFamily="49" charset="-122"/>
                  </a:rPr>
                  <a:t>0</a:t>
                </a:r>
                <a:r>
                  <a:rPr lang="en-US" altLang="zh-CN" sz="2000" baseline="30000" dirty="0">
                    <a:solidFill>
                      <a:srgbClr val="000000"/>
                    </a:solidFill>
                    <a:latin typeface="黑体" panose="02010609060101010101" pitchFamily="49" charset="-122"/>
                    <a:ea typeface="黑体" panose="02010609060101010101" pitchFamily="49" charset="-122"/>
                  </a:rPr>
                  <a:t>(0)</a:t>
                </a:r>
                <a:r>
                  <a:rPr lang="en-US" altLang="zh-CN" sz="2000" dirty="0">
                    <a:solidFill>
                      <a:srgbClr val="000000"/>
                    </a:solidFill>
                    <a:latin typeface="黑体" panose="02010609060101010101" pitchFamily="49" charset="-122"/>
                    <a:ea typeface="黑体" panose="02010609060101010101" pitchFamily="49" charset="-122"/>
                  </a:rPr>
                  <a:t>,</a:t>
                </a:r>
                <a:r>
                  <a:rPr lang="en-US" altLang="zh-CN" sz="2000" i="1" dirty="0">
                    <a:solidFill>
                      <a:srgbClr val="000000"/>
                    </a:solidFill>
                    <a:latin typeface="黑体" panose="02010609060101010101" pitchFamily="49" charset="-122"/>
                    <a:ea typeface="黑体" panose="02010609060101010101" pitchFamily="49" charset="-122"/>
                  </a:rPr>
                  <a:t>S</a:t>
                </a:r>
                <a:r>
                  <a:rPr lang="en-US" altLang="zh-CN" sz="2000" baseline="-25000" dirty="0">
                    <a:solidFill>
                      <a:srgbClr val="000000"/>
                    </a:solidFill>
                    <a:latin typeface="黑体" panose="02010609060101010101" pitchFamily="49" charset="-122"/>
                    <a:ea typeface="黑体" panose="02010609060101010101" pitchFamily="49" charset="-122"/>
                  </a:rPr>
                  <a:t>1</a:t>
                </a:r>
                <a:r>
                  <a:rPr lang="en-US" altLang="zh-CN" sz="2000" baseline="30000" dirty="0">
                    <a:solidFill>
                      <a:srgbClr val="000000"/>
                    </a:solidFill>
                    <a:latin typeface="黑体" panose="02010609060101010101" pitchFamily="49" charset="-122"/>
                    <a:ea typeface="黑体" panose="02010609060101010101" pitchFamily="49" charset="-122"/>
                  </a:rPr>
                  <a:t>(0)</a:t>
                </a:r>
                <a:r>
                  <a:rPr lang="en-US" altLang="zh-CN" sz="2000" dirty="0">
                    <a:solidFill>
                      <a:srgbClr val="000000"/>
                    </a:solidFill>
                    <a:latin typeface="黑体" panose="02010609060101010101" pitchFamily="49" charset="-122"/>
                    <a:ea typeface="黑体" panose="02010609060101010101" pitchFamily="49" charset="-122"/>
                  </a:rPr>
                  <a:t>,…, </a:t>
                </a:r>
                <a:r>
                  <a:rPr lang="en-US" altLang="zh-CN" sz="2000" i="1" dirty="0">
                    <a:solidFill>
                      <a:srgbClr val="000000"/>
                    </a:solidFill>
                    <a:latin typeface="黑体" panose="02010609060101010101" pitchFamily="49" charset="-122"/>
                    <a:ea typeface="黑体" panose="02010609060101010101" pitchFamily="49" charset="-122"/>
                  </a:rPr>
                  <a:t>S</a:t>
                </a:r>
                <a:r>
                  <a:rPr lang="en-US" altLang="zh-CN" sz="2000" i="1" baseline="-25000" dirty="0">
                    <a:solidFill>
                      <a:srgbClr val="000000"/>
                    </a:solidFill>
                    <a:latin typeface="黑体" panose="02010609060101010101" pitchFamily="49" charset="-122"/>
                    <a:ea typeface="黑体" panose="02010609060101010101" pitchFamily="49" charset="-122"/>
                  </a:rPr>
                  <a:t>P</a:t>
                </a:r>
                <a:r>
                  <a:rPr lang="en-US" altLang="zh-CN" sz="2000" baseline="-25000" dirty="0">
                    <a:solidFill>
                      <a:srgbClr val="000000"/>
                    </a:solidFill>
                    <a:latin typeface="黑体" panose="02010609060101010101" pitchFamily="49" charset="-122"/>
                    <a:ea typeface="黑体" panose="02010609060101010101" pitchFamily="49" charset="-122"/>
                  </a:rPr>
                  <a:t>-1</a:t>
                </a:r>
                <a:r>
                  <a:rPr lang="en-US" altLang="zh-CN" sz="2000" baseline="30000" dirty="0">
                    <a:solidFill>
                      <a:srgbClr val="000000"/>
                    </a:solidFill>
                    <a:latin typeface="黑体" panose="02010609060101010101" pitchFamily="49" charset="-122"/>
                    <a:ea typeface="黑体" panose="02010609060101010101" pitchFamily="49" charset="-122"/>
                  </a:rPr>
                  <a:t>(0)</a:t>
                </a:r>
                <a:r>
                  <a:rPr lang="en-US" altLang="zh-CN" sz="2000" dirty="0">
                    <a:solidFill>
                      <a:srgbClr val="000000"/>
                    </a:solidFill>
                    <a:latin typeface="黑体" panose="02010609060101010101" pitchFamily="49" charset="-122"/>
                    <a:ea typeface="黑体" panose="02010609060101010101" pitchFamily="49" charset="-122"/>
                  </a:rPr>
                  <a:t>,</a:t>
                </a:r>
                <a:r>
                  <a:rPr lang="en-US" altLang="zh-CN" sz="2000" i="1" dirty="0">
                    <a:solidFill>
                      <a:srgbClr val="000000"/>
                    </a:solidFill>
                    <a:latin typeface="黑体" panose="02010609060101010101" pitchFamily="49" charset="-122"/>
                    <a:ea typeface="黑体" panose="02010609060101010101" pitchFamily="49" charset="-122"/>
                  </a:rPr>
                  <a:t>S</a:t>
                </a:r>
                <a:r>
                  <a:rPr lang="en-US" altLang="zh-CN" sz="2000" baseline="30000" dirty="0">
                    <a:solidFill>
                      <a:srgbClr val="000000"/>
                    </a:solidFill>
                    <a:latin typeface="黑体" panose="02010609060101010101" pitchFamily="49" charset="-122"/>
                    <a:ea typeface="黑体" panose="02010609060101010101" pitchFamily="49" charset="-122"/>
                  </a:rPr>
                  <a:t>(1)</a:t>
                </a:r>
                <a:r>
                  <a:rPr lang="en-US" altLang="zh-CN" sz="2000" dirty="0">
                    <a:solidFill>
                      <a:srgbClr val="000000"/>
                    </a:solidFill>
                    <a:latin typeface="黑体" panose="02010609060101010101" pitchFamily="49" charset="-122"/>
                    <a:ea typeface="黑体" panose="02010609060101010101" pitchFamily="49" charset="-122"/>
                  </a:rPr>
                  <a:t>=</a:t>
                </a:r>
                <a:r>
                  <a:rPr lang="en-US" altLang="zh-CN" sz="2000" i="1" dirty="0">
                    <a:solidFill>
                      <a:srgbClr val="000000"/>
                    </a:solidFill>
                    <a:latin typeface="黑体" panose="02010609060101010101" pitchFamily="49" charset="-122"/>
                    <a:ea typeface="黑体" panose="02010609060101010101" pitchFamily="49" charset="-122"/>
                  </a:rPr>
                  <a:t>S</a:t>
                </a:r>
                <a:r>
                  <a:rPr lang="en-US" altLang="zh-CN" sz="2000" baseline="-25000" dirty="0">
                    <a:solidFill>
                      <a:srgbClr val="000000"/>
                    </a:solidFill>
                    <a:latin typeface="黑体" panose="02010609060101010101" pitchFamily="49" charset="-122"/>
                    <a:ea typeface="黑体" panose="02010609060101010101" pitchFamily="49" charset="-122"/>
                  </a:rPr>
                  <a:t>0</a:t>
                </a:r>
                <a:r>
                  <a:rPr lang="en-US" altLang="zh-CN" sz="2000" baseline="30000" dirty="0">
                    <a:solidFill>
                      <a:srgbClr val="000000"/>
                    </a:solidFill>
                    <a:latin typeface="黑体" panose="02010609060101010101" pitchFamily="49" charset="-122"/>
                    <a:ea typeface="黑体" panose="02010609060101010101" pitchFamily="49" charset="-122"/>
                  </a:rPr>
                  <a:t>(1)</a:t>
                </a:r>
                <a:r>
                  <a:rPr lang="en-US" altLang="zh-CN" sz="2000" dirty="0">
                    <a:solidFill>
                      <a:srgbClr val="000000"/>
                    </a:solidFill>
                    <a:latin typeface="黑体" panose="02010609060101010101" pitchFamily="49" charset="-122"/>
                    <a:ea typeface="黑体" panose="02010609060101010101" pitchFamily="49" charset="-122"/>
                  </a:rPr>
                  <a:t>,</a:t>
                </a:r>
                <a:r>
                  <a:rPr lang="en-US" altLang="zh-CN" sz="2000" i="1" dirty="0">
                    <a:solidFill>
                      <a:srgbClr val="000000"/>
                    </a:solidFill>
                    <a:latin typeface="黑体" panose="02010609060101010101" pitchFamily="49" charset="-122"/>
                    <a:ea typeface="黑体" panose="02010609060101010101" pitchFamily="49" charset="-122"/>
                  </a:rPr>
                  <a:t>S</a:t>
                </a:r>
                <a:r>
                  <a:rPr lang="en-US" altLang="zh-CN" sz="2000" baseline="-25000" dirty="0">
                    <a:solidFill>
                      <a:srgbClr val="000000"/>
                    </a:solidFill>
                    <a:latin typeface="黑体" panose="02010609060101010101" pitchFamily="49" charset="-122"/>
                    <a:ea typeface="黑体" panose="02010609060101010101" pitchFamily="49" charset="-122"/>
                  </a:rPr>
                  <a:t>1</a:t>
                </a:r>
                <a:r>
                  <a:rPr lang="en-US" altLang="zh-CN" sz="2000" baseline="30000" dirty="0">
                    <a:solidFill>
                      <a:srgbClr val="000000"/>
                    </a:solidFill>
                    <a:latin typeface="黑体" panose="02010609060101010101" pitchFamily="49" charset="-122"/>
                    <a:ea typeface="黑体" panose="02010609060101010101" pitchFamily="49" charset="-122"/>
                  </a:rPr>
                  <a:t>(1)</a:t>
                </a:r>
                <a:r>
                  <a:rPr lang="en-US" altLang="zh-CN" sz="2000" dirty="0">
                    <a:solidFill>
                      <a:srgbClr val="000000"/>
                    </a:solidFill>
                    <a:latin typeface="黑体" panose="02010609060101010101" pitchFamily="49" charset="-122"/>
                    <a:ea typeface="黑体" panose="02010609060101010101" pitchFamily="49" charset="-122"/>
                  </a:rPr>
                  <a:t>,…,</a:t>
                </a:r>
                <a:r>
                  <a:rPr lang="en-US" altLang="zh-CN" sz="2000" i="1" dirty="0">
                    <a:solidFill>
                      <a:srgbClr val="000000"/>
                    </a:solidFill>
                    <a:latin typeface="黑体" panose="02010609060101010101" pitchFamily="49" charset="-122"/>
                    <a:ea typeface="黑体" panose="02010609060101010101" pitchFamily="49" charset="-122"/>
                  </a:rPr>
                  <a:t>S</a:t>
                </a:r>
                <a:r>
                  <a:rPr lang="en-US" altLang="zh-CN" sz="2000" i="1" baseline="-25000" dirty="0">
                    <a:solidFill>
                      <a:srgbClr val="000000"/>
                    </a:solidFill>
                    <a:latin typeface="黑体" panose="02010609060101010101" pitchFamily="49" charset="-122"/>
                    <a:ea typeface="黑体" panose="02010609060101010101" pitchFamily="49" charset="-122"/>
                  </a:rPr>
                  <a:t>P</a:t>
                </a:r>
                <a:r>
                  <a:rPr lang="en-US" altLang="zh-CN" sz="2000" baseline="-25000" dirty="0">
                    <a:solidFill>
                      <a:srgbClr val="000000"/>
                    </a:solidFill>
                    <a:latin typeface="黑体" panose="02010609060101010101" pitchFamily="49" charset="-122"/>
                    <a:ea typeface="黑体" panose="02010609060101010101" pitchFamily="49" charset="-122"/>
                  </a:rPr>
                  <a:t>-1</a:t>
                </a:r>
                <a:r>
                  <a:rPr lang="en-US" altLang="zh-CN" sz="2000" baseline="30000" dirty="0">
                    <a:solidFill>
                      <a:srgbClr val="000000"/>
                    </a:solidFill>
                    <a:latin typeface="黑体" panose="02010609060101010101" pitchFamily="49" charset="-122"/>
                    <a:ea typeface="黑体" panose="02010609060101010101" pitchFamily="49" charset="-122"/>
                  </a:rPr>
                  <a:t>(1)</a:t>
                </a:r>
                <a:r>
                  <a:rPr lang="en-US" altLang="zh-CN" sz="2000" dirty="0">
                    <a:solidFill>
                      <a:srgbClr val="000000"/>
                    </a:solidFill>
                    <a:latin typeface="黑体" panose="02010609060101010101" pitchFamily="49" charset="-122"/>
                    <a:ea typeface="黑体" panose="02010609060101010101" pitchFamily="49" charset="-122"/>
                  </a:rPr>
                  <a:t>,</a:t>
                </a:r>
                <a:r>
                  <a:rPr lang="zh-CN" altLang="en-US" sz="2000" dirty="0">
                    <a:solidFill>
                      <a:srgbClr val="000000"/>
                    </a:solidFill>
                    <a:latin typeface="黑体" panose="02010609060101010101" pitchFamily="49" charset="-122"/>
                    <a:ea typeface="黑体" panose="02010609060101010101" pitchFamily="49" charset="-122"/>
                  </a:rPr>
                  <a:t>其中</a:t>
                </a:r>
                <a:endParaRPr lang="en-US" altLang="zh-CN" sz="2000" dirty="0">
                  <a:solidFill>
                    <a:srgbClr val="000000"/>
                  </a:solidFill>
                  <a:latin typeface="黑体" panose="02010609060101010101" pitchFamily="49" charset="-122"/>
                  <a:ea typeface="黑体" panose="02010609060101010101" pitchFamily="49" charset="-122"/>
                </a:endParaRPr>
              </a:p>
              <a:p>
                <a:pPr lvl="1" eaLnBrk="0" fontAlgn="base" hangingPunct="0">
                  <a:lnSpc>
                    <a:spcPts val="3600"/>
                  </a:lnSpc>
                  <a:spcBef>
                    <a:spcPct val="0"/>
                  </a:spcBef>
                  <a:spcAft>
                    <a:spcPct val="0"/>
                  </a:spcAft>
                </a:pPr>
                <a:r>
                  <a:rPr lang="en-US" altLang="zh-CN" sz="2000" dirty="0">
                    <a:solidFill>
                      <a:srgbClr val="000000"/>
                    </a:solidFill>
                    <a:latin typeface="黑体" panose="02010609060101010101" pitchFamily="49" charset="-122"/>
                    <a:ea typeface="黑体" panose="02010609060101010101" pitchFamily="49" charset="-122"/>
                  </a:rPr>
                  <a:t>          </a:t>
                </a:r>
                <a:r>
                  <a:rPr lang="en-US" altLang="zh-CN" sz="2000" i="1" dirty="0" err="1">
                    <a:solidFill>
                      <a:srgbClr val="000000"/>
                    </a:solidFill>
                    <a:latin typeface="黑体" panose="02010609060101010101" pitchFamily="49" charset="-122"/>
                    <a:ea typeface="黑体" panose="02010609060101010101" pitchFamily="49" charset="-122"/>
                  </a:rPr>
                  <a:t>S</a:t>
                </a:r>
                <a:r>
                  <a:rPr lang="en-US" altLang="zh-CN" sz="2000" i="1" baseline="-25000" dirty="0" err="1">
                    <a:solidFill>
                      <a:srgbClr val="000000"/>
                    </a:solidFill>
                    <a:latin typeface="黑体" panose="02010609060101010101" pitchFamily="49" charset="-122"/>
                    <a:ea typeface="黑体" panose="02010609060101010101" pitchFamily="49" charset="-122"/>
                  </a:rPr>
                  <a:t>u</a:t>
                </a:r>
                <a:r>
                  <a:rPr lang="en-US" altLang="zh-CN" sz="2000" baseline="30000" dirty="0">
                    <a:solidFill>
                      <a:srgbClr val="000000"/>
                    </a:solidFill>
                    <a:latin typeface="黑体" panose="02010609060101010101" pitchFamily="49" charset="-122"/>
                    <a:ea typeface="黑体" panose="02010609060101010101" pitchFamily="49" charset="-122"/>
                  </a:rPr>
                  <a:t>(0)</a:t>
                </a:r>
                <a:r>
                  <a:rPr lang="en-US" altLang="zh-CN" sz="2000" dirty="0">
                    <a:solidFill>
                      <a:srgbClr val="000000"/>
                    </a:solidFill>
                    <a:latin typeface="黑体" panose="02010609060101010101" pitchFamily="49" charset="-122"/>
                    <a:ea typeface="黑体" panose="02010609060101010101" pitchFamily="49" charset="-122"/>
                  </a:rPr>
                  <a:t>=</a:t>
                </a:r>
                <a:r>
                  <a:rPr lang="en-US" altLang="zh-CN" sz="2000" dirty="0">
                    <a:solidFill>
                      <a:srgbClr val="000000"/>
                    </a:solidFill>
                    <a:latin typeface="Arial" panose="020B0604020202020204" pitchFamily="34" charset="0"/>
                    <a:ea typeface="宋体" panose="02010600030101010101" pitchFamily="2" charset="-122"/>
                  </a:rPr>
                  <a:t> </a:t>
                </a:r>
                <a14:m>
                  <m:oMath xmlns:m="http://schemas.openxmlformats.org/officeDocument/2006/math">
                    <m:sSubSup>
                      <m:sSubSupPr>
                        <m:ctrlPr>
                          <a:rPr lang="en-US" altLang="zh-CN" sz="2000" i="1">
                            <a:solidFill>
                              <a:srgbClr val="000000"/>
                            </a:solidFill>
                            <a:latin typeface="Cambria Math" panose="02040503050406030204" pitchFamily="18" charset="0"/>
                          </a:rPr>
                        </m:ctrlPr>
                      </m:sSubSupPr>
                      <m:e>
                        <m:r>
                          <m:rPr>
                            <m:nor/>
                          </m:rPr>
                          <a:rPr lang="en-US" altLang="zh-CN" sz="2000" dirty="0">
                            <a:solidFill>
                              <a:srgbClr val="000000"/>
                            </a:solidFill>
                            <a:latin typeface="Cambria Math" panose="02040503050406030204" pitchFamily="18" charset="0"/>
                            <a:ea typeface="宋体" panose="02010600030101010101" pitchFamily="2" charset="-122"/>
                          </a:rPr>
                          <m:t>⊕</m:t>
                        </m:r>
                      </m:e>
                      <m:sub>
                        <m:r>
                          <a:rPr lang="en-US" altLang="zh-CN" sz="2000" i="1" dirty="0">
                            <a:solidFill>
                              <a:srgbClr val="000000"/>
                            </a:solidFill>
                            <a:latin typeface="Cambria Math" panose="02040503050406030204" pitchFamily="18" charset="0"/>
                          </a:rPr>
                          <m:t>𝑙</m:t>
                        </m:r>
                        <m:r>
                          <a:rPr lang="en-US" altLang="zh-CN" sz="2000" i="1">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0,</m:t>
                        </m:r>
                        <m:r>
                          <a:rPr lang="en-US" altLang="zh-CN" sz="2000" i="1">
                            <a:solidFill>
                              <a:srgbClr val="000000"/>
                            </a:solidFill>
                            <a:latin typeface="Cambria Math" panose="02040503050406030204" pitchFamily="18" charset="0"/>
                          </a:rPr>
                          <m:t>𝑙</m:t>
                        </m:r>
                        <m:r>
                          <a:rPr lang="zh-CN" altLang="en-US"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𝑖</m:t>
                        </m:r>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𝑗</m:t>
                        </m:r>
                      </m:sub>
                      <m:sup>
                        <m:r>
                          <a:rPr lang="en-US" altLang="zh-CN" sz="2000" i="1">
                            <a:solidFill>
                              <a:srgbClr val="000000"/>
                            </a:solidFill>
                            <a:latin typeface="Cambria Math" panose="02040503050406030204" pitchFamily="18" charset="0"/>
                          </a:rPr>
                          <m:t>𝑝</m:t>
                        </m:r>
                      </m:sup>
                    </m:sSubSup>
                  </m:oMath>
                </a14:m>
                <a:r>
                  <a:rPr lang="en-US" altLang="zh-CN" sz="2000" dirty="0">
                    <a:solidFill>
                      <a:srgbClr val="000000"/>
                    </a:solidFill>
                    <a:latin typeface="Arial" panose="020B0604020202020204" pitchFamily="34" charset="0"/>
                    <a:ea typeface="宋体" panose="02010600030101010101" pitchFamily="2" charset="-122"/>
                  </a:rPr>
                  <a:t> </a:t>
                </a:r>
                <a:r>
                  <a:rPr lang="en-US" altLang="zh-CN" sz="2000" i="1" dirty="0" err="1">
                    <a:solidFill>
                      <a:srgbClr val="000000"/>
                    </a:solidFill>
                    <a:latin typeface="Arial" panose="020B0604020202020204" pitchFamily="34" charset="0"/>
                    <a:ea typeface="宋体" panose="02010600030101010101" pitchFamily="2" charset="-122"/>
                  </a:rPr>
                  <a:t>D</a:t>
                </a:r>
                <a:r>
                  <a:rPr lang="en-US" altLang="zh-CN" sz="2000" i="1" baseline="-25000" dirty="0" err="1">
                    <a:solidFill>
                      <a:srgbClr val="000000"/>
                    </a:solidFill>
                    <a:latin typeface="Arial" panose="020B0604020202020204" pitchFamily="34" charset="0"/>
                    <a:ea typeface="宋体" panose="02010600030101010101" pitchFamily="2" charset="-122"/>
                  </a:rPr>
                  <a:t>u,l</a:t>
                </a:r>
                <a:r>
                  <a:rPr lang="en-US" altLang="zh-CN" sz="2000" baseline="-25000" dirty="0">
                    <a:solidFill>
                      <a:srgbClr val="000000"/>
                    </a:solidFill>
                    <a:latin typeface="Arial" panose="020B0604020202020204" pitchFamily="34" charset="0"/>
                    <a:ea typeface="宋体" panose="02010600030101010101" pitchFamily="2" charset="-122"/>
                  </a:rPr>
                  <a:t> </a:t>
                </a:r>
                <a:r>
                  <a:rPr lang="en-US" altLang="zh-CN" sz="2000" dirty="0">
                    <a:solidFill>
                      <a:srgbClr val="000000"/>
                    </a:solidFill>
                    <a:latin typeface="黑体" panose="02010609060101010101" pitchFamily="49" charset="-122"/>
                    <a:ea typeface="黑体" panose="02010609060101010101" pitchFamily="49" charset="-122"/>
                  </a:rPr>
                  <a:t>                            </a:t>
                </a:r>
                <a:r>
                  <a:rPr lang="en-US" altLang="zh-CN" sz="2000" dirty="0">
                    <a:solidFill>
                      <a:srgbClr val="000000"/>
                    </a:solidFill>
                    <a:latin typeface="Times New Roman"/>
                    <a:ea typeface="黑体" panose="02010609060101010101" pitchFamily="49" charset="-122"/>
                  </a:rPr>
                  <a:t>(8)</a:t>
                </a:r>
              </a:p>
              <a:p>
                <a:pPr eaLnBrk="0" fontAlgn="base" hangingPunct="0">
                  <a:lnSpc>
                    <a:spcPts val="3600"/>
                  </a:lnSpc>
                  <a:spcBef>
                    <a:spcPct val="0"/>
                  </a:spcBef>
                  <a:spcAft>
                    <a:spcPct val="0"/>
                  </a:spcAft>
                </a:pPr>
                <a:r>
                  <a:rPr lang="en-US" altLang="zh-CN" dirty="0">
                    <a:solidFill>
                      <a:srgbClr val="000000"/>
                    </a:solidFill>
                    <a:latin typeface="Times New Roman"/>
                  </a:rPr>
                  <a:t>                           </a:t>
                </a:r>
                <a:r>
                  <a:rPr lang="en-US" altLang="zh-CN" i="1" dirty="0" err="1">
                    <a:solidFill>
                      <a:srgbClr val="000000"/>
                    </a:solidFill>
                    <a:latin typeface="黑体" panose="02010609060101010101" pitchFamily="49" charset="-122"/>
                  </a:rPr>
                  <a:t>S</a:t>
                </a:r>
                <a:r>
                  <a:rPr lang="en-US" altLang="zh-CN" i="1" baseline="-25000" dirty="0" err="1">
                    <a:solidFill>
                      <a:srgbClr val="000000"/>
                    </a:solidFill>
                    <a:latin typeface="黑体" panose="02010609060101010101" pitchFamily="49" charset="-122"/>
                  </a:rPr>
                  <a:t>u</a:t>
                </a:r>
                <a:r>
                  <a:rPr lang="en-US" altLang="zh-CN" baseline="30000" dirty="0">
                    <a:solidFill>
                      <a:srgbClr val="000000"/>
                    </a:solidFill>
                    <a:latin typeface="黑体" panose="02010609060101010101" pitchFamily="49" charset="-122"/>
                  </a:rPr>
                  <a:t>(1)</a:t>
                </a:r>
                <a:r>
                  <a:rPr lang="en-US" altLang="zh-CN" dirty="0">
                    <a:solidFill>
                      <a:srgbClr val="000000"/>
                    </a:solidFill>
                    <a:latin typeface="黑体" panose="02010609060101010101" pitchFamily="49" charset="-122"/>
                  </a:rPr>
                  <a:t>= </a:t>
                </a:r>
                <a:r>
                  <a:rPr lang="en-US" altLang="zh-CN" i="1" dirty="0">
                    <a:solidFill>
                      <a:srgbClr val="000000"/>
                    </a:solidFill>
                    <a:latin typeface="黑体" panose="02010609060101010101" pitchFamily="49" charset="-122"/>
                  </a:rPr>
                  <a:t>S</a:t>
                </a:r>
                <a:r>
                  <a:rPr lang="en-US" altLang="zh-CN" dirty="0">
                    <a:solidFill>
                      <a:srgbClr val="000000"/>
                    </a:solidFill>
                    <a:ea typeface="宋体" panose="02010600030101010101" pitchFamily="2" charset="-122"/>
                  </a:rPr>
                  <a:t>⊕</a:t>
                </a:r>
                <a:r>
                  <a:rPr lang="en-US" altLang="zh-CN" i="1" dirty="0">
                    <a:solidFill>
                      <a:srgbClr val="000000"/>
                    </a:solidFill>
                  </a:rPr>
                  <a:t>D</a:t>
                </a:r>
                <a:r>
                  <a:rPr lang="en-US" altLang="zh-CN" i="1" baseline="-25000" dirty="0">
                    <a:solidFill>
                      <a:srgbClr val="000000"/>
                    </a:solidFill>
                  </a:rPr>
                  <a:t>u,p</a:t>
                </a:r>
                <a:r>
                  <a:rPr lang="en-US" altLang="zh-CN" baseline="-25000" dirty="0">
                    <a:solidFill>
                      <a:srgbClr val="000000"/>
                    </a:solidFill>
                  </a:rPr>
                  <a:t>+1</a:t>
                </a:r>
                <a:r>
                  <a:rPr lang="en-US" altLang="zh-CN" dirty="0">
                    <a:solidFill>
                      <a:srgbClr val="000000"/>
                    </a:solidFill>
                  </a:rPr>
                  <a:t>(</a:t>
                </a:r>
                <a14:m>
                  <m:oMath xmlns:m="http://schemas.openxmlformats.org/officeDocument/2006/math">
                    <m:sSubSup>
                      <m:sSubSupPr>
                        <m:ctrlPr>
                          <a:rPr lang="en-US" altLang="zh-CN" i="1">
                            <a:solidFill>
                              <a:srgbClr val="000000"/>
                            </a:solidFill>
                            <a:latin typeface="Cambria Math" panose="02040503050406030204" pitchFamily="18" charset="0"/>
                          </a:rPr>
                        </m:ctrlPr>
                      </m:sSubSupPr>
                      <m:e>
                        <m:r>
                          <m:rPr>
                            <m:nor/>
                          </m:rPr>
                          <a:rPr lang="en-US" altLang="zh-CN" dirty="0">
                            <a:solidFill>
                              <a:srgbClr val="000000"/>
                            </a:solidFill>
                            <a:latin typeface="Cambria Math" panose="02040503050406030204" pitchFamily="18" charset="0"/>
                          </a:rPr>
                          <m:t>⊕</m:t>
                        </m:r>
                      </m:e>
                      <m:sub>
                        <m:r>
                          <a:rPr lang="en-US" altLang="zh-CN" i="1" dirty="0">
                            <a:solidFill>
                              <a:srgbClr val="000000"/>
                            </a:solidFill>
                            <a:latin typeface="Cambria Math" panose="02040503050406030204" pitchFamily="18" charset="0"/>
                          </a:rPr>
                          <m:t>𝑙</m:t>
                        </m:r>
                        <m:r>
                          <a:rPr lang="en-US" altLang="zh-CN">
                            <a:solidFill>
                              <a:srgbClr val="000000"/>
                            </a:solidFill>
                            <a:latin typeface="Cambria Math" panose="02040503050406030204" pitchFamily="18" charset="0"/>
                          </a:rPr>
                          <m:t>=0,</m:t>
                        </m:r>
                        <m:r>
                          <a:rPr lang="en-US" altLang="zh-CN" i="1">
                            <a:solidFill>
                              <a:srgbClr val="000000"/>
                            </a:solidFill>
                            <a:latin typeface="Cambria Math" panose="02040503050406030204" pitchFamily="18" charset="0"/>
                          </a:rPr>
                          <m:t>𝑙</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𝑖</m:t>
                        </m:r>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𝑗</m:t>
                        </m:r>
                      </m:sub>
                      <m:sup>
                        <m:r>
                          <a:rPr lang="en-US" altLang="zh-CN" i="1">
                            <a:solidFill>
                              <a:srgbClr val="000000"/>
                            </a:solidFill>
                            <a:latin typeface="Cambria Math" panose="02040503050406030204" pitchFamily="18" charset="0"/>
                          </a:rPr>
                          <m:t>𝑝</m:t>
                        </m:r>
                        <m:r>
                          <a:rPr lang="en-US" altLang="zh-CN">
                            <a:solidFill>
                              <a:srgbClr val="000000"/>
                            </a:solidFill>
                            <a:latin typeface="Cambria Math" panose="02040503050406030204" pitchFamily="18" charset="0"/>
                          </a:rPr>
                          <m:t>−1</m:t>
                        </m:r>
                      </m:sup>
                    </m:sSubSup>
                  </m:oMath>
                </a14:m>
                <a:r>
                  <a:rPr lang="en-US" altLang="zh-CN" dirty="0">
                    <a:solidFill>
                      <a:srgbClr val="000000"/>
                    </a:solidFill>
                  </a:rPr>
                  <a:t> </a:t>
                </a:r>
                <a:r>
                  <a:rPr lang="en-US" altLang="zh-CN" i="1" dirty="0">
                    <a:solidFill>
                      <a:srgbClr val="000000"/>
                    </a:solidFill>
                  </a:rPr>
                  <a:t>D</a:t>
                </a:r>
                <a:r>
                  <a:rPr lang="en-US" altLang="zh-CN" i="1" baseline="-25000" dirty="0">
                    <a:solidFill>
                      <a:srgbClr val="000000"/>
                    </a:solidFill>
                  </a:rPr>
                  <a:t>&lt;u-l&gt;</a:t>
                </a:r>
                <a:r>
                  <a:rPr lang="en-US" altLang="zh-CN" i="1" baseline="-25000" dirty="0" err="1">
                    <a:solidFill>
                      <a:srgbClr val="000000"/>
                    </a:solidFill>
                  </a:rPr>
                  <a:t>p,l</a:t>
                </a:r>
                <a:r>
                  <a:rPr lang="en-US" altLang="zh-CN" baseline="-25000" dirty="0">
                    <a:solidFill>
                      <a:srgbClr val="000000"/>
                    </a:solidFill>
                  </a:rPr>
                  <a:t> </a:t>
                </a:r>
                <a:r>
                  <a:rPr lang="en-US" altLang="zh-CN" dirty="0">
                    <a:solidFill>
                      <a:srgbClr val="000000"/>
                    </a:solidFill>
                    <a:latin typeface="黑体" panose="02010609060101010101" pitchFamily="49" charset="-122"/>
                  </a:rPr>
                  <a:t>)               </a:t>
                </a:r>
                <a:r>
                  <a:rPr lang="en-US" altLang="zh-CN" dirty="0">
                    <a:solidFill>
                      <a:srgbClr val="000000"/>
                    </a:solidFill>
                    <a:latin typeface="Times New Roman"/>
                  </a:rPr>
                  <a:t>(9)</a:t>
                </a:r>
              </a:p>
              <a:p>
                <a:pPr lvl="1" eaLnBrk="0" fontAlgn="base" hangingPunct="0">
                  <a:lnSpc>
                    <a:spcPts val="3600"/>
                  </a:lnSpc>
                  <a:spcBef>
                    <a:spcPct val="0"/>
                  </a:spcBef>
                  <a:spcAft>
                    <a:spcPct val="0"/>
                  </a:spcAft>
                </a:pPr>
                <a:r>
                  <a:rPr lang="zh-CN" altLang="en-US" sz="2000" dirty="0">
                    <a:solidFill>
                      <a:srgbClr val="000000"/>
                    </a:solidFill>
                    <a:latin typeface="Times New Roman"/>
                    <a:ea typeface="黑体" panose="02010609060101010101" pitchFamily="49" charset="-122"/>
                  </a:rPr>
                  <a:t>③然后按照下面的顺序恢复</a:t>
                </a:r>
                <a:r>
                  <a:rPr lang="en-US" altLang="zh-CN" sz="2000" i="1" dirty="0" err="1">
                    <a:solidFill>
                      <a:srgbClr val="000000"/>
                    </a:solidFill>
                    <a:latin typeface="Times New Roman"/>
                    <a:ea typeface="黑体" panose="02010609060101010101" pitchFamily="49" charset="-122"/>
                  </a:rPr>
                  <a:t>i</a:t>
                </a:r>
                <a:r>
                  <a:rPr lang="zh-CN" altLang="en-US" sz="2000" dirty="0">
                    <a:solidFill>
                      <a:srgbClr val="000000"/>
                    </a:solidFill>
                    <a:latin typeface="Times New Roman"/>
                    <a:ea typeface="黑体" panose="02010609060101010101" pitchFamily="49" charset="-122"/>
                  </a:rPr>
                  <a:t>，</a:t>
                </a:r>
                <a:r>
                  <a:rPr lang="en-US" altLang="zh-CN" sz="2000" i="1" dirty="0">
                    <a:solidFill>
                      <a:srgbClr val="000000"/>
                    </a:solidFill>
                    <a:latin typeface="Times New Roman"/>
                    <a:ea typeface="黑体" panose="02010609060101010101" pitchFamily="49" charset="-122"/>
                  </a:rPr>
                  <a:t>j</a:t>
                </a:r>
                <a:r>
                  <a:rPr lang="zh-CN" altLang="en-US" sz="2000" dirty="0">
                    <a:solidFill>
                      <a:srgbClr val="000000"/>
                    </a:solidFill>
                    <a:latin typeface="Times New Roman"/>
                    <a:ea typeface="黑体" panose="02010609060101010101" pitchFamily="49" charset="-122"/>
                  </a:rPr>
                  <a:t>数据块的各个信息：</a:t>
                </a:r>
                <a:endParaRPr lang="en-US" altLang="zh-CN" sz="2000" dirty="0">
                  <a:solidFill>
                    <a:srgbClr val="000000"/>
                  </a:solidFill>
                  <a:latin typeface="Times New Roman"/>
                  <a:ea typeface="黑体" panose="02010609060101010101" pitchFamily="49" charset="-122"/>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1811129" y="1102177"/>
                <a:ext cx="8305582" cy="4650568"/>
              </a:xfrm>
              <a:prstGeom prst="rect">
                <a:avLst/>
              </a:prstGeom>
              <a:blipFill>
                <a:blip r:embed="rId2"/>
                <a:stretch>
                  <a:fillRect l="-734" r="-734" b="-1442"/>
                </a:stretch>
              </a:blipFill>
            </p:spPr>
            <p:txBody>
              <a:bodyPr/>
              <a:lstStyle/>
              <a:p>
                <a:r>
                  <a:rPr lang="zh-CN" altLang="en-US">
                    <a:noFill/>
                  </a:rPr>
                  <a:t> </a:t>
                </a:r>
              </a:p>
            </p:txBody>
          </p:sp>
        </mc:Fallback>
      </mc:AlternateContent>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EVENODD</a:t>
            </a:r>
            <a:r>
              <a:rPr lang="zh-CN" altLang="en-US" sz="2400" dirty="0">
                <a:sym typeface="+mn-ea"/>
              </a:rPr>
              <a:t>码解码过程</a:t>
            </a:r>
          </a:p>
        </p:txBody>
      </p:sp>
      <p:sp>
        <p:nvSpPr>
          <p:cNvPr id="14" name="文本框 13"/>
          <p:cNvSpPr txBox="1"/>
          <p:nvPr/>
        </p:nvSpPr>
        <p:spPr>
          <a:xfrm>
            <a:off x="1811129" y="1102177"/>
            <a:ext cx="8305582" cy="142199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latin typeface="Times New Roman"/>
              </a:rPr>
              <a:t>        </a:t>
            </a:r>
            <a:r>
              <a:rPr lang="en-US" altLang="zh-CN" dirty="0">
                <a:solidFill>
                  <a:srgbClr val="000000"/>
                </a:solidFill>
                <a:latin typeface="Times New Roman"/>
              </a:rPr>
              <a:t>1  Set </a:t>
            </a:r>
            <a:r>
              <a:rPr lang="en-US" altLang="zh-CN" i="1" dirty="0">
                <a:solidFill>
                  <a:srgbClr val="000000"/>
                </a:solidFill>
                <a:latin typeface="Times New Roman"/>
              </a:rPr>
              <a:t>s</a:t>
            </a:r>
            <a:r>
              <a:rPr lang="en-US" altLang="zh-CN" dirty="0">
                <a:solidFill>
                  <a:srgbClr val="000000"/>
                </a:solidFill>
                <a:latin typeface="Times New Roman"/>
              </a:rPr>
              <a:t> </a:t>
            </a:r>
            <a:r>
              <a:rPr lang="en-US" altLang="zh-CN" dirty="0">
                <a:solidFill>
                  <a:srgbClr val="000000"/>
                </a:solidFill>
                <a:latin typeface="Times New Roman"/>
                <a:sym typeface="Wingdings" panose="05000000000000000000" pitchFamily="2" charset="2"/>
              </a:rPr>
              <a:t> &lt;-(</a:t>
            </a:r>
            <a:r>
              <a:rPr lang="en-US" altLang="zh-CN" i="1" dirty="0">
                <a:solidFill>
                  <a:srgbClr val="000000"/>
                </a:solidFill>
                <a:latin typeface="Times New Roman"/>
                <a:sym typeface="Wingdings" panose="05000000000000000000" pitchFamily="2" charset="2"/>
              </a:rPr>
              <a:t>j-</a:t>
            </a:r>
            <a:r>
              <a:rPr lang="en-US" altLang="zh-CN" i="1" dirty="0" err="1">
                <a:solidFill>
                  <a:srgbClr val="000000"/>
                </a:solidFill>
                <a:latin typeface="Times New Roman"/>
                <a:sym typeface="Wingdings" panose="05000000000000000000" pitchFamily="2" charset="2"/>
              </a:rPr>
              <a:t>i</a:t>
            </a:r>
            <a:r>
              <a:rPr lang="en-US" altLang="zh-CN" dirty="0">
                <a:solidFill>
                  <a:srgbClr val="000000"/>
                </a:solidFill>
                <a:latin typeface="Times New Roman"/>
                <a:sym typeface="Wingdings" panose="05000000000000000000" pitchFamily="2" charset="2"/>
              </a:rPr>
              <a:t>)-1&gt;</a:t>
            </a:r>
            <a:r>
              <a:rPr lang="en-US" altLang="zh-CN" i="1" dirty="0">
                <a:solidFill>
                  <a:srgbClr val="000000"/>
                </a:solidFill>
                <a:latin typeface="Times New Roman"/>
                <a:sym typeface="Wingdings" panose="05000000000000000000" pitchFamily="2" charset="2"/>
              </a:rPr>
              <a:t>p</a:t>
            </a:r>
            <a:r>
              <a:rPr lang="en-US" altLang="zh-CN" dirty="0">
                <a:solidFill>
                  <a:srgbClr val="000000"/>
                </a:solidFill>
                <a:latin typeface="Times New Roman"/>
                <a:sym typeface="Wingdings" panose="05000000000000000000" pitchFamily="2" charset="2"/>
              </a:rPr>
              <a:t> and </a:t>
            </a:r>
            <a:r>
              <a:rPr lang="en-US" altLang="zh-CN" i="1" dirty="0">
                <a:solidFill>
                  <a:srgbClr val="000000"/>
                </a:solidFill>
                <a:latin typeface="Times New Roman"/>
                <a:sym typeface="Wingdings" panose="05000000000000000000" pitchFamily="2" charset="2"/>
              </a:rPr>
              <a:t>a</a:t>
            </a:r>
            <a:r>
              <a:rPr lang="en-US" altLang="zh-CN" i="1" baseline="-25000" dirty="0">
                <a:solidFill>
                  <a:srgbClr val="000000"/>
                </a:solidFill>
                <a:latin typeface="Times New Roman"/>
                <a:sym typeface="Wingdings" panose="05000000000000000000" pitchFamily="2" charset="2"/>
              </a:rPr>
              <a:t>m-</a:t>
            </a:r>
            <a:r>
              <a:rPr lang="en-US" altLang="zh-CN" baseline="-25000" dirty="0">
                <a:solidFill>
                  <a:srgbClr val="000000"/>
                </a:solidFill>
                <a:latin typeface="Times New Roman"/>
                <a:sym typeface="Wingdings" panose="05000000000000000000" pitchFamily="2" charset="2"/>
              </a:rPr>
              <a:t>1</a:t>
            </a:r>
            <a:r>
              <a:rPr lang="en-US" altLang="zh-CN" i="1" baseline="-25000" dirty="0">
                <a:solidFill>
                  <a:srgbClr val="000000"/>
                </a:solidFill>
                <a:latin typeface="Times New Roman"/>
                <a:sym typeface="Wingdings" panose="05000000000000000000" pitchFamily="2" charset="2"/>
              </a:rPr>
              <a:t>,l</a:t>
            </a:r>
            <a:r>
              <a:rPr lang="en-US" altLang="zh-CN" dirty="0">
                <a:solidFill>
                  <a:srgbClr val="000000"/>
                </a:solidFill>
                <a:latin typeface="Times New Roman"/>
                <a:sym typeface="Wingdings" panose="05000000000000000000" pitchFamily="2" charset="2"/>
              </a:rPr>
              <a:t>  0 for 0 </a:t>
            </a:r>
            <a:r>
              <a:rPr lang="zh-CN" altLang="en-US" dirty="0">
                <a:solidFill>
                  <a:srgbClr val="000000"/>
                </a:solidFill>
                <a:latin typeface="Times New Roman"/>
                <a:sym typeface="Wingdings" panose="05000000000000000000" pitchFamily="2" charset="2"/>
              </a:rPr>
              <a:t>≤ </a:t>
            </a:r>
            <a:r>
              <a:rPr lang="en-US" altLang="zh-CN" i="1" dirty="0">
                <a:solidFill>
                  <a:srgbClr val="000000"/>
                </a:solidFill>
                <a:latin typeface="Times New Roman"/>
                <a:sym typeface="Wingdings" panose="05000000000000000000" pitchFamily="2" charset="2"/>
              </a:rPr>
              <a:t>l</a:t>
            </a:r>
            <a:r>
              <a:rPr lang="en-US" altLang="zh-CN" dirty="0">
                <a:solidFill>
                  <a:srgbClr val="000000"/>
                </a:solidFill>
                <a:latin typeface="Times New Roman"/>
                <a:sym typeface="Wingdings" panose="05000000000000000000" pitchFamily="2" charset="2"/>
              </a:rPr>
              <a:t> </a:t>
            </a:r>
            <a:r>
              <a:rPr lang="zh-CN" altLang="en-US" dirty="0">
                <a:solidFill>
                  <a:srgbClr val="000000"/>
                </a:solidFill>
                <a:latin typeface="Times New Roman"/>
                <a:sym typeface="Wingdings" panose="05000000000000000000" pitchFamily="2" charset="2"/>
              </a:rPr>
              <a:t>≤</a:t>
            </a:r>
            <a:r>
              <a:rPr lang="en-US" altLang="zh-CN" i="1" dirty="0">
                <a:solidFill>
                  <a:srgbClr val="000000"/>
                </a:solidFill>
                <a:latin typeface="Times New Roman"/>
                <a:sym typeface="Wingdings" panose="05000000000000000000" pitchFamily="2" charset="2"/>
              </a:rPr>
              <a:t>p</a:t>
            </a:r>
            <a:r>
              <a:rPr lang="en-US" altLang="zh-CN" dirty="0">
                <a:solidFill>
                  <a:srgbClr val="000000"/>
                </a:solidFill>
                <a:latin typeface="Times New Roman"/>
                <a:sym typeface="Wingdings" panose="05000000000000000000" pitchFamily="2" charset="2"/>
              </a:rPr>
              <a:t>-1</a:t>
            </a:r>
          </a:p>
          <a:p>
            <a:pPr eaLnBrk="0" fontAlgn="base" hangingPunct="0">
              <a:lnSpc>
                <a:spcPts val="3600"/>
              </a:lnSpc>
              <a:spcBef>
                <a:spcPct val="0"/>
              </a:spcBef>
              <a:spcAft>
                <a:spcPct val="0"/>
              </a:spcAft>
            </a:pPr>
            <a:r>
              <a:rPr lang="en-US" altLang="zh-CN" dirty="0">
                <a:solidFill>
                  <a:srgbClr val="000000"/>
                </a:solidFill>
                <a:latin typeface="Times New Roman"/>
                <a:sym typeface="Wingdings" panose="05000000000000000000" pitchFamily="2" charset="2"/>
              </a:rPr>
              <a:t>        2  Let </a:t>
            </a:r>
            <a:r>
              <a:rPr lang="en-US" altLang="zh-CN" i="1" dirty="0" err="1">
                <a:solidFill>
                  <a:srgbClr val="000000"/>
                </a:solidFill>
                <a:latin typeface="Times New Roman"/>
                <a:sym typeface="Wingdings" panose="05000000000000000000" pitchFamily="2" charset="2"/>
              </a:rPr>
              <a:t>a</a:t>
            </a:r>
            <a:r>
              <a:rPr lang="en-US" altLang="zh-CN" i="1" baseline="-25000" dirty="0" err="1">
                <a:solidFill>
                  <a:srgbClr val="000000"/>
                </a:solidFill>
                <a:latin typeface="Times New Roman"/>
                <a:sym typeface="Wingdings" panose="05000000000000000000" pitchFamily="2" charset="2"/>
              </a:rPr>
              <a:t>s,j</a:t>
            </a:r>
            <a:r>
              <a:rPr lang="en-US" altLang="zh-CN" i="1" dirty="0">
                <a:solidFill>
                  <a:srgbClr val="000000"/>
                </a:solidFill>
                <a:latin typeface="Times New Roman"/>
                <a:sym typeface="Wingdings" panose="05000000000000000000" pitchFamily="2" charset="2"/>
              </a:rPr>
              <a:t> </a:t>
            </a:r>
            <a:r>
              <a:rPr lang="en-US" altLang="zh-CN" dirty="0">
                <a:solidFill>
                  <a:srgbClr val="000000"/>
                </a:solidFill>
                <a:latin typeface="Times New Roman"/>
                <a:sym typeface="Wingdings" panose="05000000000000000000" pitchFamily="2" charset="2"/>
              </a:rPr>
              <a:t> </a:t>
            </a:r>
            <a:r>
              <a:rPr lang="en-US" altLang="zh-CN" i="1" dirty="0">
                <a:solidFill>
                  <a:srgbClr val="000000"/>
                </a:solidFill>
                <a:latin typeface="Times New Roman"/>
                <a:sym typeface="Wingdings" panose="05000000000000000000" pitchFamily="2" charset="2"/>
              </a:rPr>
              <a:t>S</a:t>
            </a:r>
            <a:r>
              <a:rPr lang="en-US" altLang="zh-CN" i="1" baseline="-25000" dirty="0">
                <a:solidFill>
                  <a:srgbClr val="000000"/>
                </a:solidFill>
                <a:latin typeface="Times New Roman"/>
                <a:sym typeface="Wingdings" panose="05000000000000000000" pitchFamily="2" charset="2"/>
              </a:rPr>
              <a:t>&lt;</a:t>
            </a:r>
            <a:r>
              <a:rPr lang="en-US" altLang="zh-CN" i="1" baseline="-25000" dirty="0" err="1">
                <a:solidFill>
                  <a:srgbClr val="000000"/>
                </a:solidFill>
                <a:latin typeface="Times New Roman"/>
                <a:sym typeface="Wingdings" panose="05000000000000000000" pitchFamily="2" charset="2"/>
              </a:rPr>
              <a:t>j+s</a:t>
            </a:r>
            <a:r>
              <a:rPr lang="en-US" altLang="zh-CN" i="1" baseline="-25000" dirty="0">
                <a:solidFill>
                  <a:srgbClr val="000000"/>
                </a:solidFill>
                <a:latin typeface="Times New Roman"/>
                <a:sym typeface="Wingdings" panose="05000000000000000000" pitchFamily="2" charset="2"/>
              </a:rPr>
              <a:t>&gt;p</a:t>
            </a:r>
            <a:r>
              <a:rPr lang="en-US" altLang="zh-CN" baseline="30000" dirty="0">
                <a:solidFill>
                  <a:srgbClr val="000000"/>
                </a:solidFill>
                <a:latin typeface="Times New Roman"/>
                <a:sym typeface="Wingdings" panose="05000000000000000000" pitchFamily="2" charset="2"/>
              </a:rPr>
              <a:t>(1)</a:t>
            </a:r>
            <a:r>
              <a:rPr lang="en-US" altLang="zh-CN" dirty="0">
                <a:solidFill>
                  <a:srgbClr val="000000"/>
                </a:solidFill>
                <a:latin typeface="Times New Roman"/>
                <a:sym typeface="Wingdings" panose="05000000000000000000" pitchFamily="2" charset="2"/>
              </a:rPr>
              <a:t> </a:t>
            </a:r>
            <a:r>
              <a:rPr lang="en-US" altLang="zh-CN" dirty="0">
                <a:solidFill>
                  <a:srgbClr val="000000"/>
                </a:solidFill>
                <a:latin typeface="Times New Roman"/>
                <a:ea typeface="宋体" panose="02010600030101010101" pitchFamily="2" charset="-122"/>
              </a:rPr>
              <a:t>⊕</a:t>
            </a:r>
            <a:r>
              <a:rPr lang="en-US" altLang="zh-CN" i="1" dirty="0">
                <a:solidFill>
                  <a:srgbClr val="000000"/>
                </a:solidFill>
                <a:latin typeface="Times New Roman"/>
                <a:ea typeface="宋体" panose="02010600030101010101" pitchFamily="2" charset="-122"/>
              </a:rPr>
              <a:t>a</a:t>
            </a:r>
            <a:r>
              <a:rPr lang="en-US" altLang="zh-CN" i="1" baseline="-25000" dirty="0">
                <a:solidFill>
                  <a:srgbClr val="000000"/>
                </a:solidFill>
                <a:latin typeface="Times New Roman"/>
                <a:ea typeface="宋体" panose="02010600030101010101" pitchFamily="2" charset="-122"/>
              </a:rPr>
              <a:t>&lt;s+(j-</a:t>
            </a:r>
            <a:r>
              <a:rPr lang="en-US" altLang="zh-CN" i="1" baseline="-25000" dirty="0" err="1">
                <a:solidFill>
                  <a:srgbClr val="000000"/>
                </a:solidFill>
                <a:latin typeface="Times New Roman"/>
                <a:ea typeface="宋体" panose="02010600030101010101" pitchFamily="2" charset="-122"/>
              </a:rPr>
              <a:t>i</a:t>
            </a:r>
            <a:r>
              <a:rPr lang="en-US" altLang="zh-CN" i="1" baseline="-25000" dirty="0">
                <a:solidFill>
                  <a:srgbClr val="000000"/>
                </a:solidFill>
                <a:latin typeface="Times New Roman"/>
                <a:ea typeface="宋体" panose="02010600030101010101" pitchFamily="2" charset="-122"/>
              </a:rPr>
              <a:t>)&gt;</a:t>
            </a:r>
            <a:r>
              <a:rPr lang="en-US" altLang="zh-CN" i="1" baseline="-25000" dirty="0" err="1">
                <a:solidFill>
                  <a:srgbClr val="000000"/>
                </a:solidFill>
                <a:latin typeface="Times New Roman"/>
                <a:ea typeface="宋体" panose="02010600030101010101" pitchFamily="2" charset="-122"/>
              </a:rPr>
              <a:t>p,i</a:t>
            </a:r>
            <a:r>
              <a:rPr lang="en-US" altLang="zh-CN" i="1" baseline="-25000" dirty="0">
                <a:solidFill>
                  <a:srgbClr val="000000"/>
                </a:solidFill>
                <a:latin typeface="Times New Roman"/>
                <a:ea typeface="宋体" panose="02010600030101010101" pitchFamily="2" charset="-122"/>
              </a:rPr>
              <a:t> </a:t>
            </a:r>
            <a:r>
              <a:rPr lang="en-US" altLang="zh-CN" dirty="0">
                <a:solidFill>
                  <a:srgbClr val="000000"/>
                </a:solidFill>
                <a:latin typeface="Times New Roman"/>
                <a:ea typeface="宋体" panose="02010600030101010101" pitchFamily="2" charset="-122"/>
              </a:rPr>
              <a:t>and </a:t>
            </a:r>
            <a:r>
              <a:rPr lang="en-US" altLang="zh-CN" i="1" dirty="0" err="1">
                <a:solidFill>
                  <a:srgbClr val="000000"/>
                </a:solidFill>
                <a:latin typeface="Times New Roman"/>
                <a:ea typeface="宋体" panose="02010600030101010101" pitchFamily="2" charset="-122"/>
              </a:rPr>
              <a:t>a</a:t>
            </a:r>
            <a:r>
              <a:rPr lang="en-US" altLang="zh-CN" i="1" baseline="-25000" dirty="0" err="1">
                <a:solidFill>
                  <a:srgbClr val="000000"/>
                </a:solidFill>
                <a:latin typeface="Times New Roman"/>
                <a:ea typeface="宋体" panose="02010600030101010101" pitchFamily="2" charset="-122"/>
              </a:rPr>
              <a:t>s,i</a:t>
            </a:r>
            <a:r>
              <a:rPr lang="en-US" altLang="zh-CN" dirty="0">
                <a:solidFill>
                  <a:srgbClr val="000000"/>
                </a:solidFill>
                <a:latin typeface="Times New Roman"/>
                <a:ea typeface="宋体" panose="02010600030101010101" pitchFamily="2" charset="-122"/>
              </a:rPr>
              <a:t> </a:t>
            </a:r>
            <a:r>
              <a:rPr lang="en-US" altLang="zh-CN" dirty="0">
                <a:solidFill>
                  <a:srgbClr val="000000"/>
                </a:solidFill>
                <a:latin typeface="Times New Roman"/>
                <a:ea typeface="宋体" panose="02010600030101010101" pitchFamily="2" charset="-122"/>
                <a:sym typeface="Wingdings" panose="05000000000000000000" pitchFamily="2" charset="2"/>
              </a:rPr>
              <a:t> </a:t>
            </a:r>
            <a:r>
              <a:rPr lang="en-US" altLang="zh-CN" i="1" dirty="0">
                <a:solidFill>
                  <a:srgbClr val="000000"/>
                </a:solidFill>
                <a:latin typeface="Times New Roman"/>
                <a:ea typeface="宋体" panose="02010600030101010101" pitchFamily="2" charset="-122"/>
                <a:sym typeface="Wingdings" panose="05000000000000000000" pitchFamily="2" charset="2"/>
              </a:rPr>
              <a:t>S</a:t>
            </a:r>
            <a:r>
              <a:rPr lang="en-US" altLang="zh-CN" i="1" baseline="-25000" dirty="0">
                <a:solidFill>
                  <a:srgbClr val="000000"/>
                </a:solidFill>
                <a:latin typeface="Times New Roman"/>
                <a:ea typeface="宋体" panose="02010600030101010101" pitchFamily="2" charset="-122"/>
                <a:sym typeface="Wingdings" panose="05000000000000000000" pitchFamily="2" charset="2"/>
              </a:rPr>
              <a:t>s</a:t>
            </a:r>
            <a:r>
              <a:rPr lang="en-US" altLang="zh-CN" baseline="30000" dirty="0">
                <a:solidFill>
                  <a:srgbClr val="000000"/>
                </a:solidFill>
                <a:latin typeface="Times New Roman"/>
                <a:ea typeface="宋体" panose="02010600030101010101" pitchFamily="2" charset="-122"/>
                <a:sym typeface="Wingdings" panose="05000000000000000000" pitchFamily="2" charset="2"/>
              </a:rPr>
              <a:t>(0)</a:t>
            </a:r>
            <a:r>
              <a:rPr lang="en-US" altLang="zh-CN" baseline="30000" dirty="0">
                <a:solidFill>
                  <a:srgbClr val="000000"/>
                </a:solidFill>
                <a:latin typeface="Times New Roman"/>
                <a:ea typeface="宋体" panose="02010600030101010101" pitchFamily="2" charset="-122"/>
              </a:rPr>
              <a:t> </a:t>
            </a:r>
            <a:r>
              <a:rPr lang="en-US" altLang="zh-CN" dirty="0">
                <a:solidFill>
                  <a:srgbClr val="000000"/>
                </a:solidFill>
                <a:latin typeface="Times New Roman"/>
                <a:ea typeface="宋体" panose="02010600030101010101" pitchFamily="2" charset="-122"/>
              </a:rPr>
              <a:t>⊕</a:t>
            </a:r>
            <a:r>
              <a:rPr lang="en-US" altLang="zh-CN" i="1" dirty="0" err="1">
                <a:solidFill>
                  <a:srgbClr val="000000"/>
                </a:solidFill>
                <a:latin typeface="Times New Roman"/>
                <a:ea typeface="宋体" panose="02010600030101010101" pitchFamily="2" charset="-122"/>
              </a:rPr>
              <a:t>a</a:t>
            </a:r>
            <a:r>
              <a:rPr lang="en-US" altLang="zh-CN" i="1" baseline="-25000" dirty="0" err="1">
                <a:solidFill>
                  <a:srgbClr val="000000"/>
                </a:solidFill>
                <a:latin typeface="Times New Roman"/>
                <a:ea typeface="宋体" panose="02010600030101010101" pitchFamily="2" charset="-122"/>
              </a:rPr>
              <a:t>s,j</a:t>
            </a:r>
            <a:endParaRPr lang="en-US" altLang="zh-CN" i="1" baseline="-25000" dirty="0">
              <a:solidFill>
                <a:srgbClr val="000000"/>
              </a:solidFill>
              <a:latin typeface="Times New Roman"/>
              <a:ea typeface="宋体" panose="02010600030101010101" pitchFamily="2" charset="-122"/>
            </a:endParaRPr>
          </a:p>
          <a:p>
            <a:pPr eaLnBrk="0" fontAlgn="base" hangingPunct="0">
              <a:lnSpc>
                <a:spcPts val="3600"/>
              </a:lnSpc>
              <a:spcBef>
                <a:spcPct val="0"/>
              </a:spcBef>
              <a:spcAft>
                <a:spcPct val="0"/>
              </a:spcAft>
            </a:pPr>
            <a:r>
              <a:rPr lang="en-US" altLang="zh-CN" dirty="0">
                <a:solidFill>
                  <a:srgbClr val="000000"/>
                </a:solidFill>
                <a:latin typeface="Times New Roman"/>
              </a:rPr>
              <a:t>        3  Set </a:t>
            </a:r>
            <a:r>
              <a:rPr lang="en-US" altLang="zh-CN" i="1" dirty="0">
                <a:solidFill>
                  <a:srgbClr val="000000"/>
                </a:solidFill>
                <a:latin typeface="Times New Roman"/>
              </a:rPr>
              <a:t>s</a:t>
            </a:r>
            <a:r>
              <a:rPr lang="en-US" altLang="zh-CN" dirty="0">
                <a:solidFill>
                  <a:srgbClr val="000000"/>
                </a:solidFill>
                <a:latin typeface="Times New Roman"/>
              </a:rPr>
              <a:t> </a:t>
            </a:r>
            <a:r>
              <a:rPr lang="en-US" altLang="zh-CN" dirty="0">
                <a:solidFill>
                  <a:srgbClr val="000000"/>
                </a:solidFill>
                <a:latin typeface="Times New Roman"/>
                <a:sym typeface="Wingdings" panose="05000000000000000000" pitchFamily="2" charset="2"/>
              </a:rPr>
              <a:t> &lt;</a:t>
            </a:r>
            <a:r>
              <a:rPr lang="en-US" altLang="zh-CN" i="1" dirty="0">
                <a:solidFill>
                  <a:srgbClr val="000000"/>
                </a:solidFill>
                <a:latin typeface="Times New Roman"/>
                <a:sym typeface="Wingdings" panose="05000000000000000000" pitchFamily="2" charset="2"/>
              </a:rPr>
              <a:t>s-</a:t>
            </a:r>
            <a:r>
              <a:rPr lang="en-US" altLang="zh-CN" dirty="0">
                <a:solidFill>
                  <a:srgbClr val="000000"/>
                </a:solidFill>
                <a:latin typeface="Times New Roman"/>
                <a:sym typeface="Wingdings" panose="05000000000000000000" pitchFamily="2" charset="2"/>
              </a:rPr>
              <a:t>(</a:t>
            </a:r>
            <a:r>
              <a:rPr lang="en-US" altLang="zh-CN" i="1" dirty="0">
                <a:solidFill>
                  <a:srgbClr val="000000"/>
                </a:solidFill>
                <a:latin typeface="Times New Roman"/>
                <a:sym typeface="Wingdings" panose="05000000000000000000" pitchFamily="2" charset="2"/>
              </a:rPr>
              <a:t>j-</a:t>
            </a:r>
            <a:r>
              <a:rPr lang="en-US" altLang="zh-CN" i="1" dirty="0" err="1">
                <a:solidFill>
                  <a:srgbClr val="000000"/>
                </a:solidFill>
                <a:latin typeface="Times New Roman"/>
                <a:sym typeface="Wingdings" panose="05000000000000000000" pitchFamily="2" charset="2"/>
              </a:rPr>
              <a:t>i</a:t>
            </a:r>
            <a:r>
              <a:rPr lang="en-US" altLang="zh-CN" dirty="0">
                <a:solidFill>
                  <a:srgbClr val="000000"/>
                </a:solidFill>
                <a:latin typeface="Times New Roman"/>
                <a:sym typeface="Wingdings" panose="05000000000000000000" pitchFamily="2" charset="2"/>
              </a:rPr>
              <a:t>)</a:t>
            </a:r>
            <a:r>
              <a:rPr lang="en-US" altLang="zh-CN" i="1" dirty="0">
                <a:solidFill>
                  <a:srgbClr val="000000"/>
                </a:solidFill>
                <a:latin typeface="Times New Roman"/>
                <a:sym typeface="Wingdings" panose="05000000000000000000" pitchFamily="2" charset="2"/>
              </a:rPr>
              <a:t>-</a:t>
            </a:r>
            <a:r>
              <a:rPr lang="en-US" altLang="zh-CN" dirty="0">
                <a:solidFill>
                  <a:srgbClr val="000000"/>
                </a:solidFill>
                <a:latin typeface="Times New Roman"/>
                <a:sym typeface="Wingdings" panose="05000000000000000000" pitchFamily="2" charset="2"/>
              </a:rPr>
              <a:t>1&gt;</a:t>
            </a:r>
            <a:r>
              <a:rPr lang="en-US" altLang="zh-CN" i="1" dirty="0">
                <a:solidFill>
                  <a:srgbClr val="000000"/>
                </a:solidFill>
                <a:latin typeface="Times New Roman"/>
                <a:sym typeface="Wingdings" panose="05000000000000000000" pitchFamily="2" charset="2"/>
              </a:rPr>
              <a:t>p</a:t>
            </a:r>
            <a:r>
              <a:rPr lang="en-US" altLang="zh-CN" dirty="0">
                <a:solidFill>
                  <a:srgbClr val="000000"/>
                </a:solidFill>
                <a:latin typeface="Times New Roman"/>
                <a:sym typeface="Wingdings" panose="05000000000000000000" pitchFamily="2" charset="2"/>
              </a:rPr>
              <a:t>  if </a:t>
            </a:r>
            <a:r>
              <a:rPr lang="en-US" altLang="zh-CN" i="1" dirty="0">
                <a:solidFill>
                  <a:srgbClr val="000000"/>
                </a:solidFill>
                <a:latin typeface="Times New Roman"/>
                <a:sym typeface="Wingdings" panose="05000000000000000000" pitchFamily="2" charset="2"/>
              </a:rPr>
              <a:t>s</a:t>
            </a:r>
            <a:r>
              <a:rPr lang="en-US" altLang="zh-CN" dirty="0">
                <a:solidFill>
                  <a:srgbClr val="000000"/>
                </a:solidFill>
                <a:latin typeface="Times New Roman"/>
                <a:sym typeface="Wingdings" panose="05000000000000000000" pitchFamily="2" charset="2"/>
              </a:rPr>
              <a:t>=</a:t>
            </a:r>
            <a:r>
              <a:rPr lang="en-US" altLang="zh-CN" i="1" dirty="0">
                <a:solidFill>
                  <a:srgbClr val="000000"/>
                </a:solidFill>
                <a:latin typeface="Times New Roman"/>
                <a:sym typeface="Wingdings" panose="05000000000000000000" pitchFamily="2" charset="2"/>
              </a:rPr>
              <a:t>p</a:t>
            </a:r>
            <a:r>
              <a:rPr lang="en-US" altLang="zh-CN" dirty="0">
                <a:solidFill>
                  <a:srgbClr val="000000"/>
                </a:solidFill>
                <a:latin typeface="Times New Roman"/>
                <a:sym typeface="Wingdings" panose="05000000000000000000" pitchFamily="2" charset="2"/>
              </a:rPr>
              <a:t>-1 then stop,  else </a:t>
            </a:r>
            <a:r>
              <a:rPr lang="en-US" altLang="zh-CN" dirty="0" err="1">
                <a:solidFill>
                  <a:srgbClr val="000000"/>
                </a:solidFill>
                <a:latin typeface="Times New Roman"/>
                <a:sym typeface="Wingdings" panose="05000000000000000000" pitchFamily="2" charset="2"/>
              </a:rPr>
              <a:t>goto</a:t>
            </a:r>
            <a:r>
              <a:rPr lang="en-US" altLang="zh-CN" dirty="0">
                <a:solidFill>
                  <a:srgbClr val="000000"/>
                </a:solidFill>
                <a:latin typeface="Times New Roman"/>
                <a:sym typeface="Wingdings" panose="05000000000000000000" pitchFamily="2" charset="2"/>
              </a:rPr>
              <a:t> step 2</a:t>
            </a:r>
            <a:endParaRPr lang="en-US" altLang="zh-CN" dirty="0">
              <a:solidFill>
                <a:srgbClr val="000000"/>
              </a:solidFill>
              <a:latin typeface="Times New Roman"/>
            </a:endParaRPr>
          </a:p>
        </p:txBody>
      </p:sp>
      <p:sp>
        <p:nvSpPr>
          <p:cNvPr id="5" name="文本框 4"/>
          <p:cNvSpPr txBox="1"/>
          <p:nvPr/>
        </p:nvSpPr>
        <p:spPr>
          <a:xfrm>
            <a:off x="4267248" y="2835772"/>
            <a:ext cx="5943444" cy="49866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rPr>
              <a:t> 利用译码算法恢复第</a:t>
            </a:r>
            <a:r>
              <a:rPr lang="en-US" altLang="zh-CN" dirty="0">
                <a:solidFill>
                  <a:srgbClr val="000000"/>
                </a:solidFill>
              </a:rPr>
              <a:t>0</a:t>
            </a:r>
            <a:r>
              <a:rPr lang="zh-CN" altLang="en-US" dirty="0">
                <a:solidFill>
                  <a:srgbClr val="000000"/>
                </a:solidFill>
              </a:rPr>
              <a:t>和</a:t>
            </a:r>
            <a:r>
              <a:rPr lang="en-US" altLang="zh-CN" dirty="0">
                <a:solidFill>
                  <a:srgbClr val="000000"/>
                </a:solidFill>
              </a:rPr>
              <a:t>2</a:t>
            </a:r>
            <a:r>
              <a:rPr lang="zh-CN" altLang="en-US" dirty="0">
                <a:solidFill>
                  <a:srgbClr val="000000"/>
                </a:solidFill>
              </a:rPr>
              <a:t>个错误数据块的信息：</a:t>
            </a:r>
            <a:endParaRPr lang="en-US" altLang="zh-CN" dirty="0">
              <a:solidFill>
                <a:srgbClr val="000000"/>
              </a:solidFill>
              <a:latin typeface="Times New Roman"/>
            </a:endParaRPr>
          </a:p>
        </p:txBody>
      </p:sp>
      <p:graphicFrame>
        <p:nvGraphicFramePr>
          <p:cNvPr id="3" name="表格 3"/>
          <p:cNvGraphicFramePr>
            <a:graphicFrameLocks noGrp="1"/>
          </p:cNvGraphicFramePr>
          <p:nvPr/>
        </p:nvGraphicFramePr>
        <p:xfrm>
          <a:off x="4380867" y="4249364"/>
          <a:ext cx="6095999" cy="1483360"/>
        </p:xfrm>
        <a:graphic>
          <a:graphicData uri="http://schemas.openxmlformats.org/drawingml/2006/table">
            <a:tbl>
              <a:tblPr firstRow="1" bandRow="1">
                <a:tableStyleId>{5C22544A-7EE6-4342-B048-85BDC9FD1C3A}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zh-CN" altLang="en-US" b="0" dirty="0">
                          <a:solidFill>
                            <a:schemeClr val="tx1"/>
                          </a:solidFill>
                          <a:latin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chemeClr val="tx1"/>
                          </a:solidFill>
                          <a:latin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mn-lt"/>
                        </a:rPr>
                        <a:t>1</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mn-lt"/>
                        </a:rPr>
                        <a:t>1</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mn-lt"/>
                        </a:rPr>
                        <a:t>1</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7" name="文本框 6"/>
          <p:cNvSpPr txBox="1"/>
          <p:nvPr/>
        </p:nvSpPr>
        <p:spPr>
          <a:xfrm>
            <a:off x="6866724" y="3646037"/>
            <a:ext cx="1167128" cy="49866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000000"/>
                </a:solidFill>
              </a:rPr>
              <a:t>初始数据</a:t>
            </a:r>
            <a:endParaRPr lang="en-US" altLang="zh-CN" sz="1800" dirty="0">
              <a:solidFill>
                <a:srgbClr val="000000"/>
              </a:solidFill>
              <a:latin typeface="Times New Roman"/>
            </a:endParaRPr>
          </a:p>
        </p:txBody>
      </p:sp>
      <p:grpSp>
        <p:nvGrpSpPr>
          <p:cNvPr id="6" name="组合 5"/>
          <p:cNvGrpSpPr/>
          <p:nvPr/>
        </p:nvGrpSpPr>
        <p:grpSpPr>
          <a:xfrm>
            <a:off x="1524000" y="3422215"/>
            <a:ext cx="2743248" cy="2140330"/>
            <a:chOff x="0" y="3422215"/>
            <a:chExt cx="2743248" cy="214033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422215"/>
              <a:ext cx="2642894" cy="214033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524080" y="4724366"/>
              <a:ext cx="1219168" cy="457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zh-CN" altLang="en-US" sz="1600" i="1" dirty="0">
                  <a:solidFill>
                    <a:srgbClr val="000000"/>
                  </a:solidFill>
                  <a:latin typeface="隶书" panose="02010509060101010101" pitchFamily="49" charset="-122"/>
                  <a:ea typeface="隶书" panose="02010509060101010101" pitchFamily="49" charset="-122"/>
                </a:rPr>
                <a:t>举个例子！</a:t>
              </a:r>
            </a:p>
          </p:txBody>
        </p:sp>
      </p:gr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EVENODD</a:t>
            </a:r>
            <a:r>
              <a:rPr lang="zh-CN" altLang="en-US" sz="2400" dirty="0">
                <a:sym typeface="+mn-ea"/>
              </a:rPr>
              <a:t>码解码过程</a:t>
            </a:r>
          </a:p>
        </p:txBody>
      </p:sp>
      <p:graphicFrame>
        <p:nvGraphicFramePr>
          <p:cNvPr id="3" name="表格 3"/>
          <p:cNvGraphicFramePr>
            <a:graphicFrameLocks noGrp="1"/>
          </p:cNvGraphicFramePr>
          <p:nvPr/>
        </p:nvGraphicFramePr>
        <p:xfrm>
          <a:off x="2628991" y="1447852"/>
          <a:ext cx="6934018" cy="2148548"/>
        </p:xfrm>
        <a:graphic>
          <a:graphicData uri="http://schemas.openxmlformats.org/drawingml/2006/table">
            <a:tbl>
              <a:tblPr firstRow="1" bandRow="1">
                <a:tableStyleId>{5C22544A-7EE6-4342-B048-85BDC9FD1C3A}</a:tableStyleId>
              </a:tblPr>
              <a:tblGrid>
                <a:gridCol w="990574">
                  <a:extLst>
                    <a:ext uri="{9D8B030D-6E8A-4147-A177-3AD203B41FA5}">
                      <a16:colId xmlns:a16="http://schemas.microsoft.com/office/drawing/2014/main" val="20000"/>
                    </a:ext>
                  </a:extLst>
                </a:gridCol>
                <a:gridCol w="990574">
                  <a:extLst>
                    <a:ext uri="{9D8B030D-6E8A-4147-A177-3AD203B41FA5}">
                      <a16:colId xmlns:a16="http://schemas.microsoft.com/office/drawing/2014/main" val="20001"/>
                    </a:ext>
                  </a:extLst>
                </a:gridCol>
                <a:gridCol w="990574">
                  <a:extLst>
                    <a:ext uri="{9D8B030D-6E8A-4147-A177-3AD203B41FA5}">
                      <a16:colId xmlns:a16="http://schemas.microsoft.com/office/drawing/2014/main" val="20002"/>
                    </a:ext>
                  </a:extLst>
                </a:gridCol>
                <a:gridCol w="990574">
                  <a:extLst>
                    <a:ext uri="{9D8B030D-6E8A-4147-A177-3AD203B41FA5}">
                      <a16:colId xmlns:a16="http://schemas.microsoft.com/office/drawing/2014/main" val="20003"/>
                    </a:ext>
                  </a:extLst>
                </a:gridCol>
                <a:gridCol w="990574">
                  <a:extLst>
                    <a:ext uri="{9D8B030D-6E8A-4147-A177-3AD203B41FA5}">
                      <a16:colId xmlns:a16="http://schemas.microsoft.com/office/drawing/2014/main" val="20004"/>
                    </a:ext>
                  </a:extLst>
                </a:gridCol>
                <a:gridCol w="990574">
                  <a:extLst>
                    <a:ext uri="{9D8B030D-6E8A-4147-A177-3AD203B41FA5}">
                      <a16:colId xmlns:a16="http://schemas.microsoft.com/office/drawing/2014/main" val="20005"/>
                    </a:ext>
                  </a:extLst>
                </a:gridCol>
                <a:gridCol w="990574">
                  <a:extLst>
                    <a:ext uri="{9D8B030D-6E8A-4147-A177-3AD203B41FA5}">
                      <a16:colId xmlns:a16="http://schemas.microsoft.com/office/drawing/2014/main" val="20006"/>
                    </a:ext>
                  </a:extLst>
                </a:gridCol>
              </a:tblGrid>
              <a:tr h="537137">
                <a:tc>
                  <a:txBody>
                    <a:bodyPr/>
                    <a:lstStyle/>
                    <a:p>
                      <a:pPr algn="ctr"/>
                      <a:r>
                        <a:rPr lang="zh-CN" altLang="en-US" b="0" dirty="0">
                          <a:solidFill>
                            <a:schemeClr val="tx1"/>
                          </a:solidFill>
                          <a:latin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3713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chemeClr val="tx1"/>
                          </a:solidFill>
                          <a:latin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mn-lt"/>
                        </a:rPr>
                        <a:t>1</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3713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mn-lt"/>
                        </a:rPr>
                        <a:t>1</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3713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mn-lt"/>
                        </a:rPr>
                        <a:t>1</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7" name="文本框 6"/>
          <p:cNvSpPr txBox="1"/>
          <p:nvPr/>
        </p:nvSpPr>
        <p:spPr>
          <a:xfrm>
            <a:off x="2496911" y="845019"/>
            <a:ext cx="1142970"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000000"/>
                </a:solidFill>
              </a:rPr>
              <a:t>初始数据</a:t>
            </a:r>
            <a:endParaRPr lang="en-US" altLang="zh-CN" sz="1800" dirty="0">
              <a:solidFill>
                <a:srgbClr val="000000"/>
              </a:solidFill>
              <a:latin typeface="Times New Roman"/>
            </a:endParaRPr>
          </a:p>
        </p:txBody>
      </p:sp>
      <p:sp>
        <p:nvSpPr>
          <p:cNvPr id="8" name="文本框 7"/>
          <p:cNvSpPr txBox="1"/>
          <p:nvPr/>
        </p:nvSpPr>
        <p:spPr>
          <a:xfrm>
            <a:off x="2209902" y="3962386"/>
            <a:ext cx="7979416" cy="149252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800"/>
              </a:lnSpc>
              <a:spcBef>
                <a:spcPct val="0"/>
              </a:spcBef>
              <a:spcAft>
                <a:spcPct val="0"/>
              </a:spcAft>
            </a:pPr>
            <a:r>
              <a:rPr lang="zh-CN" altLang="en-US" dirty="0">
                <a:solidFill>
                  <a:srgbClr val="000000"/>
                </a:solidFill>
              </a:rPr>
              <a:t>第一步：</a:t>
            </a:r>
            <a:r>
              <a:rPr lang="zh-CN" altLang="en-US" dirty="0">
                <a:solidFill>
                  <a:srgbClr val="00CC99">
                    <a:lumMod val="75000"/>
                  </a:srgbClr>
                </a:solidFill>
              </a:rPr>
              <a:t>找到公共因子</a:t>
            </a:r>
            <a:r>
              <a:rPr lang="en-US" altLang="zh-CN" i="1" dirty="0">
                <a:solidFill>
                  <a:srgbClr val="00CC99">
                    <a:lumMod val="75000"/>
                  </a:srgbClr>
                </a:solidFill>
              </a:rPr>
              <a:t>S</a:t>
            </a:r>
            <a:r>
              <a:rPr lang="zh-CN" altLang="en-US" dirty="0">
                <a:solidFill>
                  <a:srgbClr val="000000"/>
                </a:solidFill>
              </a:rPr>
              <a:t>，将这个数组的最后两列相异或，得到</a:t>
            </a:r>
            <a:r>
              <a:rPr lang="en-US" altLang="zh-CN" i="1" dirty="0">
                <a:solidFill>
                  <a:srgbClr val="000000"/>
                </a:solidFill>
              </a:rPr>
              <a:t>S</a:t>
            </a:r>
            <a:r>
              <a:rPr lang="en-US" altLang="zh-CN" dirty="0">
                <a:solidFill>
                  <a:srgbClr val="000000"/>
                </a:solidFill>
              </a:rPr>
              <a:t>=1</a:t>
            </a:r>
            <a:r>
              <a:rPr lang="zh-CN" altLang="en-US" dirty="0">
                <a:solidFill>
                  <a:srgbClr val="000000"/>
                </a:solidFill>
              </a:rPr>
              <a:t>。这意味着，对角校验是奇校验。根据公式</a:t>
            </a:r>
            <a:r>
              <a:rPr lang="en-US" altLang="zh-CN" dirty="0">
                <a:solidFill>
                  <a:srgbClr val="000000"/>
                </a:solidFill>
              </a:rPr>
              <a:t>(6)</a:t>
            </a:r>
            <a:r>
              <a:rPr lang="zh-CN" altLang="en-US" dirty="0">
                <a:solidFill>
                  <a:srgbClr val="000000"/>
                </a:solidFill>
              </a:rPr>
              <a:t>得到校验数组：</a:t>
            </a:r>
            <a:endParaRPr lang="en-US" altLang="zh-CN" dirty="0">
              <a:solidFill>
                <a:srgbClr val="000000"/>
              </a:solidFill>
            </a:endParaRPr>
          </a:p>
          <a:p>
            <a:pPr eaLnBrk="0" fontAlgn="base" hangingPunct="0">
              <a:lnSpc>
                <a:spcPts val="3800"/>
              </a:lnSpc>
              <a:spcBef>
                <a:spcPct val="0"/>
              </a:spcBef>
              <a:spcAft>
                <a:spcPct val="0"/>
              </a:spcAft>
            </a:pPr>
            <a:r>
              <a:rPr lang="en-US" altLang="zh-CN" i="1" dirty="0">
                <a:solidFill>
                  <a:srgbClr val="000000"/>
                </a:solidFill>
                <a:latin typeface="Times New Roman"/>
              </a:rPr>
              <a:t>S</a:t>
            </a:r>
            <a:r>
              <a:rPr lang="en-US" altLang="zh-CN" baseline="30000" dirty="0">
                <a:solidFill>
                  <a:srgbClr val="000000"/>
                </a:solidFill>
                <a:latin typeface="Times New Roman"/>
              </a:rPr>
              <a:t>(0) </a:t>
            </a:r>
            <a:r>
              <a:rPr lang="en-US" altLang="zh-CN" dirty="0">
                <a:solidFill>
                  <a:srgbClr val="000000"/>
                </a:solidFill>
                <a:latin typeface="Times New Roman"/>
              </a:rPr>
              <a:t>= 0 1 0 1 0 , </a:t>
            </a:r>
            <a:r>
              <a:rPr lang="en-US" altLang="zh-CN" i="1" dirty="0">
                <a:solidFill>
                  <a:srgbClr val="000000"/>
                </a:solidFill>
                <a:latin typeface="Times New Roman"/>
              </a:rPr>
              <a:t>S</a:t>
            </a:r>
            <a:r>
              <a:rPr lang="en-US" altLang="zh-CN" baseline="30000" dirty="0">
                <a:solidFill>
                  <a:srgbClr val="000000"/>
                </a:solidFill>
                <a:latin typeface="Times New Roman"/>
              </a:rPr>
              <a:t>(1) </a:t>
            </a:r>
            <a:r>
              <a:rPr lang="en-US" altLang="zh-CN" dirty="0">
                <a:solidFill>
                  <a:srgbClr val="000000"/>
                </a:solidFill>
                <a:latin typeface="Times New Roman"/>
              </a:rPr>
              <a:t>= 0 1 0 1 0</a:t>
            </a:r>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EVENODD</a:t>
            </a:r>
            <a:r>
              <a:rPr lang="zh-CN" altLang="en-US" sz="2400" dirty="0">
                <a:sym typeface="+mn-ea"/>
              </a:rPr>
              <a:t>码解码过程</a:t>
            </a:r>
          </a:p>
        </p:txBody>
      </p:sp>
      <p:sp>
        <p:nvSpPr>
          <p:cNvPr id="9" name="文本框 8"/>
          <p:cNvSpPr txBox="1"/>
          <p:nvPr/>
        </p:nvSpPr>
        <p:spPr>
          <a:xfrm>
            <a:off x="2001624" y="1037593"/>
            <a:ext cx="7924592" cy="141891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rPr>
              <a:t> 第二步：</a:t>
            </a:r>
            <a:r>
              <a:rPr lang="zh-CN" altLang="en-US" dirty="0">
                <a:solidFill>
                  <a:srgbClr val="00CC99">
                    <a:lumMod val="75000"/>
                  </a:srgbClr>
                </a:solidFill>
              </a:rPr>
              <a:t>利用递归恢复丢失的数据</a:t>
            </a:r>
            <a:r>
              <a:rPr lang="en-US" altLang="zh-CN" i="1" dirty="0">
                <a:solidFill>
                  <a:srgbClr val="000000"/>
                </a:solidFill>
              </a:rPr>
              <a:t>a</a:t>
            </a:r>
            <a:r>
              <a:rPr lang="en-US" altLang="zh-CN" i="1" baseline="-25000" dirty="0">
                <a:solidFill>
                  <a:srgbClr val="000000"/>
                </a:solidFill>
              </a:rPr>
              <a:t>l</a:t>
            </a:r>
            <a:r>
              <a:rPr lang="en-US" altLang="zh-CN" baseline="-25000" dirty="0">
                <a:solidFill>
                  <a:srgbClr val="000000"/>
                </a:solidFill>
              </a:rPr>
              <a:t>,0 </a:t>
            </a:r>
            <a:r>
              <a:rPr lang="en-US" altLang="zh-CN" dirty="0">
                <a:solidFill>
                  <a:srgbClr val="000000"/>
                </a:solidFill>
              </a:rPr>
              <a:t>, </a:t>
            </a:r>
            <a:r>
              <a:rPr lang="en-US" altLang="zh-CN" i="1" dirty="0">
                <a:solidFill>
                  <a:srgbClr val="000000"/>
                </a:solidFill>
              </a:rPr>
              <a:t>a</a:t>
            </a:r>
            <a:r>
              <a:rPr lang="en-US" altLang="zh-CN" i="1" baseline="-25000" dirty="0">
                <a:solidFill>
                  <a:srgbClr val="000000"/>
                </a:solidFill>
              </a:rPr>
              <a:t>l</a:t>
            </a:r>
            <a:r>
              <a:rPr lang="en-US" altLang="zh-CN" baseline="-25000" dirty="0">
                <a:solidFill>
                  <a:srgbClr val="000000"/>
                </a:solidFill>
              </a:rPr>
              <a:t>,2 </a:t>
            </a:r>
            <a:r>
              <a:rPr lang="en-US" altLang="zh-CN" dirty="0">
                <a:solidFill>
                  <a:srgbClr val="000000"/>
                </a:solidFill>
              </a:rPr>
              <a:t>, 0</a:t>
            </a:r>
            <a:r>
              <a:rPr lang="zh-CN" altLang="en-US" dirty="0">
                <a:solidFill>
                  <a:srgbClr val="000000"/>
                </a:solidFill>
              </a:rPr>
              <a:t>≤</a:t>
            </a:r>
            <a:r>
              <a:rPr lang="en-US" altLang="zh-CN" i="1" dirty="0">
                <a:solidFill>
                  <a:srgbClr val="000000"/>
                </a:solidFill>
              </a:rPr>
              <a:t>l</a:t>
            </a:r>
            <a:r>
              <a:rPr lang="zh-CN" altLang="en-US" dirty="0">
                <a:solidFill>
                  <a:srgbClr val="000000"/>
                </a:solidFill>
              </a:rPr>
              <a:t>≤</a:t>
            </a:r>
            <a:r>
              <a:rPr lang="en-US" altLang="zh-CN" dirty="0">
                <a:solidFill>
                  <a:srgbClr val="000000"/>
                </a:solidFill>
              </a:rPr>
              <a:t>3</a:t>
            </a:r>
            <a:r>
              <a:rPr lang="zh-CN" altLang="en-US" dirty="0">
                <a:solidFill>
                  <a:srgbClr val="000000"/>
                </a:solidFill>
              </a:rPr>
              <a:t>。</a:t>
            </a:r>
            <a:endParaRPr lang="en-US" altLang="zh-CN" dirty="0">
              <a:solidFill>
                <a:srgbClr val="000000"/>
              </a:solidFill>
            </a:endParaRPr>
          </a:p>
          <a:p>
            <a:pPr eaLnBrk="0" fontAlgn="base" hangingPunct="0">
              <a:lnSpc>
                <a:spcPts val="3600"/>
              </a:lnSpc>
              <a:spcBef>
                <a:spcPct val="0"/>
              </a:spcBef>
              <a:spcAft>
                <a:spcPct val="0"/>
              </a:spcAft>
            </a:pPr>
            <a:r>
              <a:rPr lang="zh-CN" altLang="en-US" dirty="0">
                <a:solidFill>
                  <a:srgbClr val="000000"/>
                </a:solidFill>
              </a:rPr>
              <a:t>         由于</a:t>
            </a:r>
            <a:r>
              <a:rPr lang="en-US" altLang="zh-CN" i="1" dirty="0" err="1">
                <a:solidFill>
                  <a:srgbClr val="000000"/>
                </a:solidFill>
              </a:rPr>
              <a:t>i</a:t>
            </a:r>
            <a:r>
              <a:rPr lang="en-US" altLang="zh-CN" dirty="0">
                <a:solidFill>
                  <a:srgbClr val="000000"/>
                </a:solidFill>
              </a:rPr>
              <a:t> = 0,</a:t>
            </a:r>
            <a:r>
              <a:rPr lang="en-US" altLang="zh-CN" i="1" dirty="0">
                <a:solidFill>
                  <a:srgbClr val="000000"/>
                </a:solidFill>
              </a:rPr>
              <a:t>j</a:t>
            </a:r>
            <a:r>
              <a:rPr lang="en-US" altLang="zh-CN" dirty="0">
                <a:solidFill>
                  <a:srgbClr val="000000"/>
                </a:solidFill>
              </a:rPr>
              <a:t> = 2,</a:t>
            </a:r>
            <a:r>
              <a:rPr lang="zh-CN" altLang="en-US" dirty="0">
                <a:solidFill>
                  <a:srgbClr val="000000"/>
                </a:solidFill>
              </a:rPr>
              <a:t>故 </a:t>
            </a:r>
            <a:r>
              <a:rPr lang="en-US" altLang="zh-CN" i="1" dirty="0">
                <a:solidFill>
                  <a:srgbClr val="000000"/>
                </a:solidFill>
              </a:rPr>
              <a:t>s</a:t>
            </a:r>
            <a:r>
              <a:rPr lang="en-US" altLang="zh-CN" dirty="0">
                <a:solidFill>
                  <a:srgbClr val="000000"/>
                </a:solidFill>
              </a:rPr>
              <a:t> =</a:t>
            </a:r>
            <a:r>
              <a:rPr lang="en-US" altLang="zh-CN" dirty="0">
                <a:solidFill>
                  <a:srgbClr val="000000"/>
                </a:solidFill>
                <a:latin typeface="Times New Roman"/>
                <a:sym typeface="Wingdings" panose="05000000000000000000" pitchFamily="2" charset="2"/>
              </a:rPr>
              <a:t> </a:t>
            </a:r>
            <a:r>
              <a:rPr lang="en-US" altLang="zh-CN" i="1" dirty="0">
                <a:solidFill>
                  <a:srgbClr val="000000"/>
                </a:solidFill>
                <a:latin typeface="Times New Roman"/>
                <a:sym typeface="Wingdings" panose="05000000000000000000" pitchFamily="2" charset="2"/>
              </a:rPr>
              <a:t>&lt;-(j-</a:t>
            </a:r>
            <a:r>
              <a:rPr lang="en-US" altLang="zh-CN" i="1" dirty="0" err="1">
                <a:solidFill>
                  <a:srgbClr val="000000"/>
                </a:solidFill>
                <a:latin typeface="Times New Roman"/>
                <a:sym typeface="Wingdings" panose="05000000000000000000" pitchFamily="2" charset="2"/>
              </a:rPr>
              <a:t>i</a:t>
            </a:r>
            <a:r>
              <a:rPr lang="en-US" altLang="zh-CN" i="1" dirty="0">
                <a:solidFill>
                  <a:srgbClr val="000000"/>
                </a:solidFill>
                <a:latin typeface="Times New Roman"/>
                <a:sym typeface="Wingdings" panose="05000000000000000000" pitchFamily="2" charset="2"/>
              </a:rPr>
              <a:t>)</a:t>
            </a:r>
            <a:r>
              <a:rPr lang="en-US" altLang="zh-CN" dirty="0">
                <a:solidFill>
                  <a:srgbClr val="000000"/>
                </a:solidFill>
                <a:latin typeface="Times New Roman"/>
                <a:sym typeface="Wingdings" panose="05000000000000000000" pitchFamily="2" charset="2"/>
              </a:rPr>
              <a:t>-1</a:t>
            </a:r>
            <a:r>
              <a:rPr lang="en-US" altLang="zh-CN" i="1" dirty="0">
                <a:solidFill>
                  <a:srgbClr val="000000"/>
                </a:solidFill>
                <a:latin typeface="Times New Roman"/>
                <a:sym typeface="Wingdings" panose="05000000000000000000" pitchFamily="2" charset="2"/>
              </a:rPr>
              <a:t>&gt;p</a:t>
            </a:r>
            <a:r>
              <a:rPr lang="en-US" altLang="zh-CN" dirty="0">
                <a:solidFill>
                  <a:srgbClr val="000000"/>
                </a:solidFill>
                <a:latin typeface="Times New Roman"/>
                <a:sym typeface="Wingdings" panose="05000000000000000000" pitchFamily="2" charset="2"/>
              </a:rPr>
              <a:t> = &lt;-3&gt;5 = 2</a:t>
            </a:r>
            <a:r>
              <a:rPr lang="zh-CN" altLang="en-US" dirty="0">
                <a:solidFill>
                  <a:srgbClr val="000000"/>
                </a:solidFill>
                <a:latin typeface="Times New Roman"/>
                <a:sym typeface="Wingdings" panose="05000000000000000000" pitchFamily="2" charset="2"/>
              </a:rPr>
              <a:t>，后续计算过程如表所示。</a:t>
            </a:r>
            <a:endParaRPr lang="en-US" altLang="zh-CN" dirty="0">
              <a:solidFill>
                <a:srgbClr val="000000"/>
              </a:solidFill>
              <a:latin typeface="Times New Roman"/>
            </a:endParaRPr>
          </a:p>
        </p:txBody>
      </p:sp>
      <p:graphicFrame>
        <p:nvGraphicFramePr>
          <p:cNvPr id="4" name="表格 5"/>
          <p:cNvGraphicFramePr>
            <a:graphicFrameLocks noGrp="1"/>
          </p:cNvGraphicFramePr>
          <p:nvPr/>
        </p:nvGraphicFramePr>
        <p:xfrm>
          <a:off x="2476595" y="2819416"/>
          <a:ext cx="7238810" cy="18542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2285900">
                  <a:extLst>
                    <a:ext uri="{9D8B030D-6E8A-4147-A177-3AD203B41FA5}">
                      <a16:colId xmlns:a16="http://schemas.microsoft.com/office/drawing/2014/main" val="20001"/>
                    </a:ext>
                  </a:extLst>
                </a:gridCol>
                <a:gridCol w="2209742">
                  <a:extLst>
                    <a:ext uri="{9D8B030D-6E8A-4147-A177-3AD203B41FA5}">
                      <a16:colId xmlns:a16="http://schemas.microsoft.com/office/drawing/2014/main" val="20002"/>
                    </a:ext>
                  </a:extLst>
                </a:gridCol>
                <a:gridCol w="1219168">
                  <a:extLst>
                    <a:ext uri="{9D8B030D-6E8A-4147-A177-3AD203B41FA5}">
                      <a16:colId xmlns:a16="http://schemas.microsoft.com/office/drawing/2014/main" val="20003"/>
                    </a:ext>
                  </a:extLst>
                </a:gridCol>
              </a:tblGrid>
              <a:tr h="370840">
                <a:tc>
                  <a:txBody>
                    <a:bodyPr/>
                    <a:lstStyle/>
                    <a:p>
                      <a:pPr algn="ctr"/>
                      <a:r>
                        <a:rPr lang="en-US" altLang="zh-CN" b="0" dirty="0">
                          <a:solidFill>
                            <a:schemeClr val="tx1"/>
                          </a:solidFill>
                          <a:latin typeface="+mn-lt"/>
                          <a:ea typeface="黑体" panose="02010609060101010101" pitchFamily="49" charset="-122"/>
                        </a:rPr>
                        <a:t>1</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mn-lt"/>
                          <a:ea typeface="黑体" panose="02010609060101010101" pitchFamily="49" charset="-122"/>
                        </a:rPr>
                        <a:t>2</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mn-lt"/>
                          <a:ea typeface="黑体" panose="02010609060101010101" pitchFamily="49" charset="-122"/>
                        </a:rPr>
                        <a:t>3</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mn-lt"/>
                          <a:ea typeface="黑体" panose="02010609060101010101" pitchFamily="49" charset="-122"/>
                        </a:rPr>
                        <a:t>4</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2</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2,2</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SD</a:t>
                      </a:r>
                      <a:r>
                        <a:rPr lang="en-US" altLang="zh-CN" b="0" baseline="-25000" dirty="0">
                          <a:solidFill>
                            <a:schemeClr val="tx1"/>
                          </a:solidFill>
                          <a:latin typeface="+mn-lt"/>
                          <a:ea typeface="黑体" panose="02010609060101010101" pitchFamily="49" charset="-122"/>
                          <a:sym typeface="Wingdings" panose="05000000000000000000" pitchFamily="2" charset="2"/>
                        </a:rPr>
                        <a:t>4</a:t>
                      </a:r>
                      <a:r>
                        <a:rPr lang="en-US" altLang="zh-CN" b="0" dirty="0">
                          <a:solidFill>
                            <a:schemeClr val="tx1"/>
                          </a:solidFill>
                          <a:latin typeface="+mn-lt"/>
                          <a:ea typeface="黑体" panose="02010609060101010101" pitchFamily="49" charset="-122"/>
                          <a:sym typeface="Wingdings" panose="05000000000000000000" pitchFamily="2" charset="2"/>
                        </a:rPr>
                        <a:t> = 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2,0</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SH</a:t>
                      </a:r>
                      <a:r>
                        <a:rPr lang="en-US" altLang="zh-CN" b="0" baseline="-25000" dirty="0">
                          <a:solidFill>
                            <a:schemeClr val="tx1"/>
                          </a:solidFill>
                          <a:latin typeface="+mn-lt"/>
                          <a:ea typeface="黑体" panose="02010609060101010101" pitchFamily="49" charset="-122"/>
                          <a:sym typeface="Wingdings" panose="05000000000000000000" pitchFamily="2" charset="2"/>
                        </a:rPr>
                        <a:t>2</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2,2</a:t>
                      </a:r>
                      <a:r>
                        <a:rPr lang="en-US" altLang="zh-CN" dirty="0">
                          <a:latin typeface="+mn-lt"/>
                          <a:ea typeface="宋体" panose="02010600030101010101" pitchFamily="2" charset="-122"/>
                        </a:rPr>
                        <a:t> = 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0,2</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SD</a:t>
                      </a:r>
                      <a:r>
                        <a:rPr lang="en-US" altLang="zh-CN" b="0" baseline="-25000" dirty="0">
                          <a:solidFill>
                            <a:schemeClr val="tx1"/>
                          </a:solidFill>
                          <a:latin typeface="+mn-lt"/>
                          <a:ea typeface="黑体" panose="02010609060101010101" pitchFamily="49" charset="-122"/>
                          <a:sym typeface="Wingdings" panose="05000000000000000000" pitchFamily="2" charset="2"/>
                        </a:rPr>
                        <a:t>2</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2,0</a:t>
                      </a:r>
                      <a:r>
                        <a:rPr lang="en-US" altLang="zh-CN" dirty="0">
                          <a:latin typeface="+mn-lt"/>
                          <a:ea typeface="宋体" panose="02010600030101010101" pitchFamily="2" charset="-122"/>
                        </a:rPr>
                        <a:t> </a:t>
                      </a:r>
                      <a:r>
                        <a:rPr lang="en-US" altLang="zh-CN" b="0" dirty="0">
                          <a:solidFill>
                            <a:schemeClr val="tx1"/>
                          </a:solidFill>
                          <a:latin typeface="+mn-lt"/>
                          <a:ea typeface="黑体" panose="02010609060101010101" pitchFamily="49" charset="-122"/>
                          <a:sym typeface="Wingdings" panose="05000000000000000000" pitchFamily="2" charset="2"/>
                        </a:rPr>
                        <a:t>= 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0,0</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SH</a:t>
                      </a:r>
                      <a:r>
                        <a:rPr lang="en-US" altLang="zh-CN" b="0" baseline="-25000" dirty="0">
                          <a:solidFill>
                            <a:schemeClr val="tx1"/>
                          </a:solidFill>
                          <a:latin typeface="+mn-lt"/>
                          <a:ea typeface="黑体" panose="02010609060101010101" pitchFamily="49" charset="-122"/>
                          <a:sym typeface="Wingdings" panose="05000000000000000000" pitchFamily="2" charset="2"/>
                        </a:rPr>
                        <a:t>0</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0,2</a:t>
                      </a:r>
                      <a:r>
                        <a:rPr lang="en-US" altLang="zh-CN" dirty="0">
                          <a:latin typeface="+mn-lt"/>
                          <a:ea typeface="宋体" panose="02010600030101010101" pitchFamily="2" charset="-122"/>
                        </a:rPr>
                        <a:t> </a:t>
                      </a:r>
                      <a:r>
                        <a:rPr lang="en-US" altLang="zh-CN" b="0" dirty="0">
                          <a:solidFill>
                            <a:schemeClr val="tx1"/>
                          </a:solidFill>
                          <a:latin typeface="+mn-lt"/>
                          <a:ea typeface="黑体" panose="02010609060101010101" pitchFamily="49" charset="-122"/>
                          <a:sym typeface="Wingdings" panose="05000000000000000000" pitchFamily="2" charset="2"/>
                        </a:rPr>
                        <a:t>= 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3</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3</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3,2</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SD</a:t>
                      </a:r>
                      <a:r>
                        <a:rPr lang="en-US" altLang="zh-CN" b="0" baseline="-25000" dirty="0">
                          <a:solidFill>
                            <a:schemeClr val="tx1"/>
                          </a:solidFill>
                          <a:latin typeface="+mn-lt"/>
                          <a:ea typeface="黑体" panose="02010609060101010101" pitchFamily="49" charset="-122"/>
                          <a:sym typeface="Wingdings" panose="05000000000000000000" pitchFamily="2" charset="2"/>
                        </a:rPr>
                        <a:t>0</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0,0</a:t>
                      </a:r>
                      <a:r>
                        <a:rPr lang="en-US" altLang="zh-CN" dirty="0">
                          <a:latin typeface="+mn-lt"/>
                          <a:ea typeface="宋体" panose="02010600030101010101" pitchFamily="2" charset="-122"/>
                        </a:rPr>
                        <a:t> </a:t>
                      </a:r>
                      <a:r>
                        <a:rPr lang="en-US" altLang="zh-CN" b="0" dirty="0">
                          <a:solidFill>
                            <a:schemeClr val="tx1"/>
                          </a:solidFill>
                          <a:latin typeface="+mn-lt"/>
                          <a:ea typeface="黑体" panose="02010609060101010101" pitchFamily="49" charset="-122"/>
                          <a:sym typeface="Wingdings" panose="05000000000000000000" pitchFamily="2" charset="2"/>
                        </a:rPr>
                        <a:t>= 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3,0</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SH</a:t>
                      </a:r>
                      <a:r>
                        <a:rPr lang="en-US" altLang="zh-CN" b="0" baseline="-25000" dirty="0">
                          <a:solidFill>
                            <a:schemeClr val="tx1"/>
                          </a:solidFill>
                          <a:latin typeface="+mn-lt"/>
                          <a:ea typeface="黑体" panose="02010609060101010101" pitchFamily="49" charset="-122"/>
                          <a:sym typeface="Wingdings" panose="05000000000000000000" pitchFamily="2" charset="2"/>
                        </a:rPr>
                        <a:t>3</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3,2</a:t>
                      </a:r>
                      <a:r>
                        <a:rPr lang="en-US" altLang="zh-CN" dirty="0">
                          <a:latin typeface="+mn-lt"/>
                          <a:ea typeface="宋体" panose="02010600030101010101" pitchFamily="2" charset="-122"/>
                        </a:rPr>
                        <a:t> </a:t>
                      </a:r>
                      <a:r>
                        <a:rPr lang="en-US" altLang="zh-CN" b="0" dirty="0">
                          <a:solidFill>
                            <a:schemeClr val="tx1"/>
                          </a:solidFill>
                          <a:latin typeface="+mn-lt"/>
                          <a:ea typeface="黑体" panose="02010609060101010101" pitchFamily="49" charset="-122"/>
                          <a:sym typeface="Wingdings" panose="05000000000000000000" pitchFamily="2" charset="2"/>
                        </a:rPr>
                        <a:t>= 1</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1</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1</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1,2</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SD</a:t>
                      </a:r>
                      <a:r>
                        <a:rPr lang="en-US" altLang="zh-CN" b="0" baseline="-25000" dirty="0">
                          <a:solidFill>
                            <a:schemeClr val="tx1"/>
                          </a:solidFill>
                          <a:latin typeface="+mn-lt"/>
                          <a:ea typeface="黑体" panose="02010609060101010101" pitchFamily="49" charset="-122"/>
                          <a:sym typeface="Wingdings" panose="05000000000000000000" pitchFamily="2" charset="2"/>
                        </a:rPr>
                        <a:t>3</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3,0</a:t>
                      </a:r>
                      <a:r>
                        <a:rPr lang="en-US" altLang="zh-CN" dirty="0">
                          <a:latin typeface="+mn-lt"/>
                          <a:ea typeface="宋体" panose="02010600030101010101" pitchFamily="2" charset="-122"/>
                        </a:rPr>
                        <a:t> </a:t>
                      </a:r>
                      <a:r>
                        <a:rPr lang="en-US" altLang="zh-CN" b="0" dirty="0">
                          <a:solidFill>
                            <a:schemeClr val="tx1"/>
                          </a:solidFill>
                          <a:latin typeface="+mn-lt"/>
                          <a:ea typeface="黑体" panose="02010609060101010101" pitchFamily="49" charset="-122"/>
                          <a:sym typeface="Wingdings" panose="05000000000000000000" pitchFamily="2" charset="2"/>
                        </a:rPr>
                        <a:t>= 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1,0</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SH</a:t>
                      </a:r>
                      <a:r>
                        <a:rPr lang="en-US" altLang="zh-CN" b="0" baseline="-25000" dirty="0">
                          <a:solidFill>
                            <a:schemeClr val="tx1"/>
                          </a:solidFill>
                          <a:latin typeface="+mn-lt"/>
                          <a:ea typeface="黑体" panose="02010609060101010101" pitchFamily="49" charset="-122"/>
                          <a:sym typeface="Wingdings" panose="05000000000000000000" pitchFamily="2" charset="2"/>
                        </a:rPr>
                        <a:t>1</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1,2</a:t>
                      </a:r>
                      <a:r>
                        <a:rPr lang="en-US" altLang="zh-CN" dirty="0">
                          <a:latin typeface="+mn-lt"/>
                          <a:ea typeface="宋体" panose="02010600030101010101" pitchFamily="2" charset="-122"/>
                        </a:rPr>
                        <a:t> </a:t>
                      </a:r>
                      <a:r>
                        <a:rPr lang="en-US" altLang="zh-CN" b="0" dirty="0">
                          <a:solidFill>
                            <a:schemeClr val="tx1"/>
                          </a:solidFill>
                          <a:latin typeface="+mn-lt"/>
                          <a:ea typeface="黑体" panose="02010609060101010101" pitchFamily="49" charset="-122"/>
                          <a:sym typeface="Wingdings" panose="05000000000000000000" pitchFamily="2" charset="2"/>
                        </a:rPr>
                        <a:t>= 1</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4</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1" name="文本框 10"/>
          <p:cNvSpPr txBox="1"/>
          <p:nvPr/>
        </p:nvSpPr>
        <p:spPr>
          <a:xfrm>
            <a:off x="2476595" y="5036526"/>
            <a:ext cx="3428790" cy="49558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rPr>
              <a:t>由于</a:t>
            </a:r>
            <a:r>
              <a:rPr lang="en-US" altLang="zh-CN" i="1" dirty="0">
                <a:solidFill>
                  <a:srgbClr val="000000"/>
                </a:solidFill>
              </a:rPr>
              <a:t>S</a:t>
            </a:r>
            <a:r>
              <a:rPr lang="en-US" altLang="zh-CN" dirty="0">
                <a:solidFill>
                  <a:srgbClr val="000000"/>
                </a:solidFill>
              </a:rPr>
              <a:t>=4=</a:t>
            </a:r>
            <a:r>
              <a:rPr lang="en-US" altLang="zh-CN" i="1" dirty="0">
                <a:solidFill>
                  <a:srgbClr val="000000"/>
                </a:solidFill>
              </a:rPr>
              <a:t>p</a:t>
            </a:r>
            <a:r>
              <a:rPr lang="en-US" altLang="zh-CN" dirty="0">
                <a:solidFill>
                  <a:srgbClr val="000000"/>
                </a:solidFill>
              </a:rPr>
              <a:t>-1,</a:t>
            </a:r>
            <a:r>
              <a:rPr lang="zh-CN" altLang="en-US" dirty="0">
                <a:solidFill>
                  <a:srgbClr val="000000"/>
                </a:solidFill>
              </a:rPr>
              <a:t>故算法停止</a:t>
            </a:r>
            <a:r>
              <a:rPr lang="zh-CN" altLang="en-US" dirty="0">
                <a:solidFill>
                  <a:srgbClr val="000000"/>
                </a:solidFill>
                <a:latin typeface="Times New Roman"/>
                <a:sym typeface="Wingdings" panose="05000000000000000000" pitchFamily="2" charset="2"/>
              </a:rPr>
              <a:t>。</a:t>
            </a:r>
            <a:endParaRPr lang="en-US" altLang="zh-CN" dirty="0">
              <a:solidFill>
                <a:srgbClr val="000000"/>
              </a:solidFill>
              <a:latin typeface="Times New Roman"/>
            </a:endParaRPr>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EVENODD</a:t>
            </a:r>
            <a:r>
              <a:rPr lang="zh-CN" altLang="en-US" sz="2400" dirty="0">
                <a:sym typeface="+mn-ea"/>
              </a:rPr>
              <a:t>码解码正确性证明</a:t>
            </a:r>
          </a:p>
        </p:txBody>
      </p:sp>
      <p:sp>
        <p:nvSpPr>
          <p:cNvPr id="9" name="文本框 8"/>
          <p:cNvSpPr txBox="1"/>
          <p:nvPr/>
        </p:nvSpPr>
        <p:spPr>
          <a:xfrm>
            <a:off x="2133704" y="1103717"/>
            <a:ext cx="7924592" cy="490063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800"/>
              </a:lnSpc>
              <a:spcBef>
                <a:spcPct val="0"/>
              </a:spcBef>
              <a:spcAft>
                <a:spcPct val="0"/>
              </a:spcAft>
            </a:pPr>
            <a:r>
              <a:rPr lang="zh-CN" altLang="en-US" dirty="0">
                <a:solidFill>
                  <a:srgbClr val="000000"/>
                </a:solidFill>
              </a:rPr>
              <a:t>定理一：</a:t>
            </a:r>
            <a:r>
              <a:rPr lang="en-US" altLang="zh-CN" dirty="0">
                <a:solidFill>
                  <a:srgbClr val="000000"/>
                </a:solidFill>
              </a:rPr>
              <a:t> EVENODD</a:t>
            </a:r>
            <a:r>
              <a:rPr lang="zh-CN" altLang="en-US" dirty="0">
                <a:solidFill>
                  <a:srgbClr val="000000"/>
                </a:solidFill>
              </a:rPr>
              <a:t>译码算法可以恢复任意</a:t>
            </a:r>
            <a:r>
              <a:rPr lang="en-US" altLang="zh-CN" dirty="0">
                <a:solidFill>
                  <a:srgbClr val="000000"/>
                </a:solidFill>
              </a:rPr>
              <a:t>2</a:t>
            </a:r>
            <a:r>
              <a:rPr lang="zh-CN" altLang="en-US" dirty="0">
                <a:solidFill>
                  <a:srgbClr val="000000"/>
                </a:solidFill>
              </a:rPr>
              <a:t>个数据块出错的数据。</a:t>
            </a:r>
            <a:endParaRPr lang="en-US" altLang="zh-CN" dirty="0">
              <a:solidFill>
                <a:srgbClr val="000000"/>
              </a:solidFill>
            </a:endParaRPr>
          </a:p>
          <a:p>
            <a:pPr eaLnBrk="0" fontAlgn="base" hangingPunct="0">
              <a:lnSpc>
                <a:spcPts val="3800"/>
              </a:lnSpc>
              <a:spcBef>
                <a:spcPct val="0"/>
              </a:spcBef>
              <a:spcAft>
                <a:spcPct val="0"/>
              </a:spcAft>
            </a:pPr>
            <a:r>
              <a:rPr lang="zh-CN" altLang="en-US" dirty="0">
                <a:solidFill>
                  <a:srgbClr val="000000"/>
                </a:solidFill>
              </a:rPr>
              <a:t>证明：如果只有一列出错，我们可以利用剩余的正确校验位数据相异或进行恢复。根据异或的性质可以很容易知道这是完全可行的。</a:t>
            </a:r>
            <a:endParaRPr lang="en-US" altLang="zh-CN" dirty="0">
              <a:solidFill>
                <a:srgbClr val="000000"/>
              </a:solidFill>
            </a:endParaRPr>
          </a:p>
          <a:p>
            <a:pPr eaLnBrk="0" fontAlgn="base" hangingPunct="0">
              <a:lnSpc>
                <a:spcPts val="3800"/>
              </a:lnSpc>
              <a:spcBef>
                <a:spcPct val="0"/>
              </a:spcBef>
              <a:spcAft>
                <a:spcPct val="0"/>
              </a:spcAft>
            </a:pPr>
            <a:r>
              <a:rPr lang="en-US" altLang="zh-CN" dirty="0">
                <a:solidFill>
                  <a:srgbClr val="000000"/>
                </a:solidFill>
              </a:rPr>
              <a:t>            </a:t>
            </a:r>
            <a:r>
              <a:rPr lang="zh-CN" altLang="en-US" dirty="0">
                <a:solidFill>
                  <a:srgbClr val="000000"/>
                </a:solidFill>
              </a:rPr>
              <a:t>如果有两列出错，假设第</a:t>
            </a:r>
            <a:r>
              <a:rPr lang="en-US" altLang="zh-CN" dirty="0" err="1">
                <a:solidFill>
                  <a:srgbClr val="000000"/>
                </a:solidFill>
              </a:rPr>
              <a:t>i</a:t>
            </a:r>
            <a:r>
              <a:rPr lang="zh-CN" altLang="en-US" dirty="0">
                <a:solidFill>
                  <a:srgbClr val="000000"/>
                </a:solidFill>
              </a:rPr>
              <a:t>和</a:t>
            </a:r>
            <a:r>
              <a:rPr lang="en-US" altLang="zh-CN" dirty="0">
                <a:solidFill>
                  <a:srgbClr val="000000"/>
                </a:solidFill>
              </a:rPr>
              <a:t>j</a:t>
            </a:r>
            <a:r>
              <a:rPr lang="zh-CN" altLang="en-US" dirty="0">
                <a:solidFill>
                  <a:srgbClr val="000000"/>
                </a:solidFill>
              </a:rPr>
              <a:t>列出错，</a:t>
            </a:r>
            <a:r>
              <a:rPr lang="en-US" altLang="zh-CN" dirty="0">
                <a:solidFill>
                  <a:srgbClr val="000000"/>
                </a:solidFill>
              </a:rPr>
              <a:t>0≤</a:t>
            </a:r>
            <a:r>
              <a:rPr lang="en-US" altLang="zh-CN" i="1" dirty="0">
                <a:solidFill>
                  <a:srgbClr val="000000"/>
                </a:solidFill>
              </a:rPr>
              <a:t>i</a:t>
            </a:r>
            <a:r>
              <a:rPr lang="en-US" altLang="zh-CN" dirty="0">
                <a:solidFill>
                  <a:srgbClr val="000000"/>
                </a:solidFill>
              </a:rPr>
              <a:t>&lt;</a:t>
            </a:r>
            <a:r>
              <a:rPr lang="en-US" altLang="zh-CN" i="1" dirty="0">
                <a:solidFill>
                  <a:srgbClr val="000000"/>
                </a:solidFill>
              </a:rPr>
              <a:t>j</a:t>
            </a:r>
            <a:r>
              <a:rPr lang="en-US" altLang="zh-CN" dirty="0">
                <a:solidFill>
                  <a:srgbClr val="000000"/>
                </a:solidFill>
              </a:rPr>
              <a:t>≤</a:t>
            </a:r>
            <a:r>
              <a:rPr lang="en-US" altLang="zh-CN" i="1" dirty="0">
                <a:solidFill>
                  <a:srgbClr val="000000"/>
                </a:solidFill>
              </a:rPr>
              <a:t>p</a:t>
            </a:r>
            <a:r>
              <a:rPr lang="en-US" altLang="zh-CN" dirty="0">
                <a:solidFill>
                  <a:srgbClr val="000000"/>
                </a:solidFill>
              </a:rPr>
              <a:t>-1</a:t>
            </a:r>
            <a:r>
              <a:rPr lang="zh-CN" altLang="en-US" dirty="0">
                <a:solidFill>
                  <a:srgbClr val="000000"/>
                </a:solidFill>
              </a:rPr>
              <a:t>。我们假设译码算法的四种情况：</a:t>
            </a:r>
            <a:endParaRPr lang="en-US" altLang="zh-CN" dirty="0">
              <a:solidFill>
                <a:srgbClr val="000000"/>
              </a:solidFill>
            </a:endParaRPr>
          </a:p>
          <a:p>
            <a:pPr eaLnBrk="0" fontAlgn="base" hangingPunct="0">
              <a:lnSpc>
                <a:spcPts val="3800"/>
              </a:lnSpc>
              <a:spcBef>
                <a:spcPct val="0"/>
              </a:spcBef>
              <a:spcAft>
                <a:spcPct val="0"/>
              </a:spcAft>
            </a:pPr>
            <a:r>
              <a:rPr lang="en-US" altLang="zh-CN" dirty="0">
                <a:solidFill>
                  <a:srgbClr val="000000"/>
                </a:solidFill>
              </a:rPr>
              <a:t>        (1)</a:t>
            </a:r>
            <a:r>
              <a:rPr lang="en-US" altLang="zh-CN" i="1" dirty="0" err="1">
                <a:solidFill>
                  <a:srgbClr val="000000"/>
                </a:solidFill>
              </a:rPr>
              <a:t>i</a:t>
            </a:r>
            <a:r>
              <a:rPr lang="en-US" altLang="zh-CN" i="1" dirty="0">
                <a:solidFill>
                  <a:srgbClr val="000000"/>
                </a:solidFill>
              </a:rPr>
              <a:t>=p</a:t>
            </a:r>
            <a:r>
              <a:rPr lang="zh-CN" altLang="en-US" dirty="0">
                <a:solidFill>
                  <a:srgbClr val="000000"/>
                </a:solidFill>
              </a:rPr>
              <a:t>，</a:t>
            </a:r>
            <a:r>
              <a:rPr lang="en-US" altLang="zh-CN" i="1" dirty="0">
                <a:solidFill>
                  <a:srgbClr val="000000"/>
                </a:solidFill>
              </a:rPr>
              <a:t>j=p</a:t>
            </a:r>
            <a:r>
              <a:rPr lang="en-US" altLang="zh-CN" dirty="0">
                <a:solidFill>
                  <a:srgbClr val="000000"/>
                </a:solidFill>
              </a:rPr>
              <a:t>+1</a:t>
            </a:r>
            <a:r>
              <a:rPr lang="zh-CN" altLang="en-US" dirty="0">
                <a:solidFill>
                  <a:srgbClr val="000000"/>
                </a:solidFill>
              </a:rPr>
              <a:t>，这种情形和编码过程完全一样，显然此算法可行</a:t>
            </a:r>
            <a:r>
              <a:rPr lang="en-US" altLang="zh-CN" dirty="0">
                <a:solidFill>
                  <a:srgbClr val="000000"/>
                </a:solidFill>
              </a:rPr>
              <a:t>;</a:t>
            </a:r>
          </a:p>
          <a:p>
            <a:pPr eaLnBrk="0" fontAlgn="base" hangingPunct="0">
              <a:lnSpc>
                <a:spcPts val="3800"/>
              </a:lnSpc>
              <a:spcBef>
                <a:spcPct val="0"/>
              </a:spcBef>
              <a:spcAft>
                <a:spcPct val="0"/>
              </a:spcAft>
            </a:pPr>
            <a:r>
              <a:rPr lang="en-US" altLang="zh-CN" dirty="0">
                <a:solidFill>
                  <a:srgbClr val="000000"/>
                </a:solidFill>
              </a:rPr>
              <a:t>        (2)</a:t>
            </a:r>
            <a:r>
              <a:rPr lang="en-US" altLang="zh-CN" i="1" dirty="0" err="1">
                <a:solidFill>
                  <a:srgbClr val="000000"/>
                </a:solidFill>
              </a:rPr>
              <a:t>i</a:t>
            </a:r>
            <a:r>
              <a:rPr lang="en-US" altLang="zh-CN" i="1" dirty="0">
                <a:solidFill>
                  <a:srgbClr val="000000"/>
                </a:solidFill>
              </a:rPr>
              <a:t>&lt;p</a:t>
            </a:r>
            <a:r>
              <a:rPr lang="zh-CN" altLang="en-US" dirty="0">
                <a:solidFill>
                  <a:srgbClr val="000000"/>
                </a:solidFill>
              </a:rPr>
              <a:t>，</a:t>
            </a:r>
            <a:r>
              <a:rPr lang="en-US" altLang="zh-CN" i="1" dirty="0">
                <a:solidFill>
                  <a:srgbClr val="000000"/>
                </a:solidFill>
              </a:rPr>
              <a:t>j=p</a:t>
            </a:r>
            <a:r>
              <a:rPr lang="en-US" altLang="zh-CN" dirty="0">
                <a:solidFill>
                  <a:srgbClr val="000000"/>
                </a:solidFill>
              </a:rPr>
              <a:t>+1</a:t>
            </a:r>
            <a:r>
              <a:rPr lang="zh-CN" altLang="en-US" dirty="0">
                <a:solidFill>
                  <a:srgbClr val="000000"/>
                </a:solidFill>
              </a:rPr>
              <a:t>，注意公共因子</a:t>
            </a:r>
            <a:r>
              <a:rPr lang="en-US" altLang="zh-CN" dirty="0">
                <a:solidFill>
                  <a:srgbClr val="000000"/>
                </a:solidFill>
              </a:rPr>
              <a:t>S</a:t>
            </a:r>
            <a:r>
              <a:rPr lang="zh-CN" altLang="en-US" dirty="0">
                <a:solidFill>
                  <a:srgbClr val="000000"/>
                </a:solidFill>
              </a:rPr>
              <a:t>的校验值是由公式</a:t>
            </a:r>
            <a:r>
              <a:rPr lang="en-US" altLang="zh-CN" dirty="0">
                <a:solidFill>
                  <a:srgbClr val="000000"/>
                </a:solidFill>
              </a:rPr>
              <a:t>(4)</a:t>
            </a:r>
            <a:r>
              <a:rPr lang="zh-CN" altLang="en-US" dirty="0">
                <a:solidFill>
                  <a:srgbClr val="000000"/>
                </a:solidFill>
              </a:rPr>
              <a:t>得到的，它由对角线位</a:t>
            </a:r>
            <a:r>
              <a:rPr lang="en-US" altLang="zh-CN" dirty="0">
                <a:solidFill>
                  <a:srgbClr val="000000"/>
                </a:solidFill>
              </a:rPr>
              <a:t>(&lt;</a:t>
            </a:r>
            <a:r>
              <a:rPr lang="en-US" altLang="zh-CN" i="1" dirty="0">
                <a:solidFill>
                  <a:srgbClr val="000000"/>
                </a:solidFill>
              </a:rPr>
              <a:t>i</a:t>
            </a:r>
            <a:r>
              <a:rPr lang="en-US" altLang="zh-CN" dirty="0">
                <a:solidFill>
                  <a:srgbClr val="000000"/>
                </a:solidFill>
              </a:rPr>
              <a:t>-1&gt;</a:t>
            </a:r>
            <a:r>
              <a:rPr lang="en-US" altLang="zh-CN" i="1" dirty="0">
                <a:solidFill>
                  <a:srgbClr val="000000"/>
                </a:solidFill>
              </a:rPr>
              <a:t>p,0</a:t>
            </a:r>
            <a:r>
              <a:rPr lang="en-US" altLang="zh-CN" dirty="0">
                <a:solidFill>
                  <a:srgbClr val="000000"/>
                </a:solidFill>
              </a:rPr>
              <a:t>),(&lt;</a:t>
            </a:r>
            <a:r>
              <a:rPr lang="en-US" altLang="zh-CN" i="1" dirty="0">
                <a:solidFill>
                  <a:srgbClr val="000000"/>
                </a:solidFill>
              </a:rPr>
              <a:t>i</a:t>
            </a:r>
            <a:r>
              <a:rPr lang="en-US" altLang="zh-CN" dirty="0">
                <a:solidFill>
                  <a:srgbClr val="000000"/>
                </a:solidFill>
              </a:rPr>
              <a:t>-2&gt;</a:t>
            </a:r>
            <a:r>
              <a:rPr lang="en-US" altLang="zh-CN" i="1" dirty="0">
                <a:solidFill>
                  <a:srgbClr val="000000"/>
                </a:solidFill>
              </a:rPr>
              <a:t>p</a:t>
            </a:r>
            <a:r>
              <a:rPr lang="en-US" altLang="zh-CN" dirty="0">
                <a:solidFill>
                  <a:srgbClr val="000000"/>
                </a:solidFill>
              </a:rPr>
              <a:t>,1),…,(</a:t>
            </a:r>
            <a:r>
              <a:rPr lang="en-US" altLang="zh-CN" i="1" dirty="0">
                <a:solidFill>
                  <a:srgbClr val="000000"/>
                </a:solidFill>
              </a:rPr>
              <a:t>i</a:t>
            </a:r>
            <a:r>
              <a:rPr lang="en-US" altLang="zh-CN" dirty="0">
                <a:solidFill>
                  <a:srgbClr val="000000"/>
                </a:solidFill>
              </a:rPr>
              <a:t>,</a:t>
            </a:r>
            <a:r>
              <a:rPr lang="en-US" altLang="zh-CN" i="1" dirty="0">
                <a:solidFill>
                  <a:srgbClr val="000000"/>
                </a:solidFill>
              </a:rPr>
              <a:t>p</a:t>
            </a:r>
            <a:r>
              <a:rPr lang="en-US" altLang="zh-CN" dirty="0">
                <a:solidFill>
                  <a:srgbClr val="000000"/>
                </a:solidFill>
              </a:rPr>
              <a:t>-1)</a:t>
            </a:r>
            <a:r>
              <a:rPr lang="zh-CN" altLang="en-US" dirty="0">
                <a:solidFill>
                  <a:srgbClr val="000000"/>
                </a:solidFill>
              </a:rPr>
              <a:t>上的数值相异或得到。这是一条唯一不与第</a:t>
            </a:r>
            <a:r>
              <a:rPr lang="en-US" altLang="zh-CN" i="1" dirty="0" err="1">
                <a:solidFill>
                  <a:srgbClr val="000000"/>
                </a:solidFill>
              </a:rPr>
              <a:t>i</a:t>
            </a:r>
            <a:r>
              <a:rPr lang="zh-CN" altLang="en-US" dirty="0">
                <a:solidFill>
                  <a:srgbClr val="000000"/>
                </a:solidFill>
              </a:rPr>
              <a:t>列相交的对角线</a:t>
            </a:r>
            <a:r>
              <a:rPr lang="en-US" altLang="zh-CN" dirty="0">
                <a:solidFill>
                  <a:srgbClr val="000000"/>
                </a:solidFill>
              </a:rPr>
              <a:t>(</a:t>
            </a:r>
            <a:r>
              <a:rPr lang="zh-CN" altLang="en-US" dirty="0">
                <a:solidFill>
                  <a:srgbClr val="000000"/>
                </a:solidFill>
              </a:rPr>
              <a:t>此时第</a:t>
            </a:r>
            <a:r>
              <a:rPr lang="en-US" altLang="zh-CN" dirty="0" err="1">
                <a:solidFill>
                  <a:srgbClr val="000000"/>
                </a:solidFill>
              </a:rPr>
              <a:t>i</a:t>
            </a:r>
            <a:r>
              <a:rPr lang="zh-CN" altLang="en-US" dirty="0">
                <a:solidFill>
                  <a:srgbClr val="000000"/>
                </a:solidFill>
              </a:rPr>
              <a:t>列无效</a:t>
            </a:r>
            <a:r>
              <a:rPr lang="en-US" altLang="zh-CN" dirty="0">
                <a:solidFill>
                  <a:srgbClr val="000000"/>
                </a:solidFill>
              </a:rPr>
              <a:t>)</a:t>
            </a:r>
            <a:r>
              <a:rPr lang="zh-CN" altLang="en-US" dirty="0">
                <a:solidFill>
                  <a:srgbClr val="000000"/>
                </a:solidFill>
              </a:rPr>
              <a:t>。因此所有的对角线都有相同的公共因子</a:t>
            </a:r>
            <a:r>
              <a:rPr lang="en-US" altLang="zh-CN" dirty="0">
                <a:solidFill>
                  <a:srgbClr val="000000"/>
                </a:solidFill>
              </a:rPr>
              <a:t>S</a:t>
            </a:r>
            <a:r>
              <a:rPr lang="zh-CN" altLang="en-US" dirty="0">
                <a:solidFill>
                  <a:srgbClr val="000000"/>
                </a:solidFill>
              </a:rPr>
              <a:t>。</a:t>
            </a:r>
            <a:endParaRPr lang="en-US" altLang="zh-CN" dirty="0">
              <a:solidFill>
                <a:srgbClr val="000000"/>
              </a:solidFill>
              <a:latin typeface="Times New Roman"/>
            </a:endParaRPr>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EVENODD</a:t>
            </a:r>
            <a:r>
              <a:rPr lang="zh-CN" altLang="en-US" sz="2400" dirty="0">
                <a:sym typeface="+mn-ea"/>
              </a:rPr>
              <a:t>码解码正确性证明</a:t>
            </a:r>
          </a:p>
        </p:txBody>
      </p:sp>
      <mc:AlternateContent xmlns:mc="http://schemas.openxmlformats.org/markup-compatibility/2006" xmlns:a14="http://schemas.microsoft.com/office/drawing/2010/main">
        <mc:Choice Requires="a14">
          <p:sp>
            <p:nvSpPr>
              <p:cNvPr id="9" name="文本框 8"/>
              <p:cNvSpPr txBox="1"/>
              <p:nvPr/>
            </p:nvSpPr>
            <p:spPr>
              <a:xfrm>
                <a:off x="2133704" y="1066862"/>
                <a:ext cx="7924592" cy="513525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rPr>
                  <a:t>经过分析公式</a:t>
                </a:r>
                <a:r>
                  <a:rPr lang="en-US" altLang="zh-CN" dirty="0">
                    <a:solidFill>
                      <a:srgbClr val="000000"/>
                    </a:solidFill>
                  </a:rPr>
                  <a:t>(3)</a:t>
                </a:r>
                <a:r>
                  <a:rPr lang="zh-CN" altLang="en-US" dirty="0">
                    <a:solidFill>
                      <a:srgbClr val="000000"/>
                    </a:solidFill>
                  </a:rPr>
                  <a:t>得到</a:t>
                </a:r>
                <a:r>
                  <a:rPr lang="en-US" altLang="zh-CN" i="1" dirty="0" err="1">
                    <a:solidFill>
                      <a:srgbClr val="000000"/>
                    </a:solidFill>
                  </a:rPr>
                  <a:t>a</a:t>
                </a:r>
                <a:r>
                  <a:rPr lang="en-US" altLang="zh-CN" i="1" baseline="-25000" dirty="0" err="1">
                    <a:solidFill>
                      <a:srgbClr val="000000"/>
                    </a:solidFill>
                  </a:rPr>
                  <a:t>k,i</a:t>
                </a:r>
                <a:r>
                  <a:rPr lang="zh-CN" altLang="en-US" dirty="0">
                    <a:solidFill>
                      <a:srgbClr val="000000"/>
                    </a:solidFill>
                  </a:rPr>
                  <a:t>的过程，我们可以推出能够找到恢复第</a:t>
                </a:r>
                <a:r>
                  <a:rPr lang="en-US" altLang="zh-CN" dirty="0" err="1">
                    <a:solidFill>
                      <a:srgbClr val="000000"/>
                    </a:solidFill>
                  </a:rPr>
                  <a:t>i</a:t>
                </a:r>
                <a:r>
                  <a:rPr lang="zh-CN" altLang="en-US" dirty="0">
                    <a:solidFill>
                      <a:srgbClr val="000000"/>
                    </a:solidFill>
                  </a:rPr>
                  <a:t>列数值的公式</a:t>
                </a:r>
                <a:r>
                  <a:rPr lang="en-US" altLang="zh-CN" dirty="0">
                    <a:solidFill>
                      <a:srgbClr val="000000"/>
                    </a:solidFill>
                  </a:rPr>
                  <a:t>(5),</a:t>
                </a:r>
                <a:r>
                  <a:rPr lang="zh-CN" altLang="en-US" dirty="0">
                    <a:solidFill>
                      <a:srgbClr val="000000"/>
                    </a:solidFill>
                  </a:rPr>
                  <a:t>一旦第</a:t>
                </a:r>
                <a:r>
                  <a:rPr lang="en-US" altLang="zh-CN" dirty="0" err="1">
                    <a:solidFill>
                      <a:srgbClr val="000000"/>
                    </a:solidFill>
                  </a:rPr>
                  <a:t>i</a:t>
                </a:r>
                <a:r>
                  <a:rPr lang="zh-CN" altLang="en-US" dirty="0">
                    <a:solidFill>
                      <a:srgbClr val="000000"/>
                    </a:solidFill>
                  </a:rPr>
                  <a:t>列的值被恢复，这个算法就可以利用公式</a:t>
                </a:r>
                <a:r>
                  <a:rPr lang="en-US" altLang="zh-CN" dirty="0">
                    <a:solidFill>
                      <a:srgbClr val="000000"/>
                    </a:solidFill>
                  </a:rPr>
                  <a:t>(1)</a:t>
                </a:r>
                <a:r>
                  <a:rPr lang="zh-CN" altLang="en-US" dirty="0">
                    <a:solidFill>
                      <a:srgbClr val="000000"/>
                    </a:solidFill>
                  </a:rPr>
                  <a:t>得到第</a:t>
                </a:r>
                <a:r>
                  <a:rPr lang="en-US" altLang="zh-CN" i="1" dirty="0">
                    <a:solidFill>
                      <a:srgbClr val="000000"/>
                    </a:solidFill>
                  </a:rPr>
                  <a:t>p</a:t>
                </a:r>
                <a:r>
                  <a:rPr lang="zh-CN" altLang="en-US" dirty="0">
                    <a:solidFill>
                      <a:srgbClr val="000000"/>
                    </a:solidFill>
                  </a:rPr>
                  <a:t>列的值。</a:t>
                </a:r>
                <a:endParaRPr lang="en-US" altLang="zh-CN" dirty="0">
                  <a:solidFill>
                    <a:srgbClr val="000000"/>
                  </a:solidFill>
                </a:endParaRPr>
              </a:p>
              <a:p>
                <a:pPr eaLnBrk="0" fontAlgn="base" hangingPunct="0">
                  <a:lnSpc>
                    <a:spcPts val="3600"/>
                  </a:lnSpc>
                  <a:spcBef>
                    <a:spcPct val="0"/>
                  </a:spcBef>
                  <a:spcAft>
                    <a:spcPct val="0"/>
                  </a:spcAft>
                </a:pPr>
                <a:r>
                  <a:rPr lang="en-US" altLang="zh-CN" dirty="0">
                    <a:solidFill>
                      <a:srgbClr val="000000"/>
                    </a:solidFill>
                  </a:rPr>
                  <a:t>        (3)</a:t>
                </a:r>
                <a:r>
                  <a:rPr lang="en-US" altLang="zh-CN" i="1" dirty="0" err="1">
                    <a:solidFill>
                      <a:srgbClr val="000000"/>
                    </a:solidFill>
                  </a:rPr>
                  <a:t>i</a:t>
                </a:r>
                <a:r>
                  <a:rPr lang="en-US" altLang="zh-CN" dirty="0">
                    <a:solidFill>
                      <a:srgbClr val="000000"/>
                    </a:solidFill>
                  </a:rPr>
                  <a:t>&lt;</a:t>
                </a:r>
                <a:r>
                  <a:rPr lang="en-US" altLang="zh-CN" i="1" dirty="0">
                    <a:solidFill>
                      <a:srgbClr val="000000"/>
                    </a:solidFill>
                  </a:rPr>
                  <a:t>p</a:t>
                </a:r>
                <a:r>
                  <a:rPr lang="zh-CN" altLang="en-US" dirty="0">
                    <a:solidFill>
                      <a:srgbClr val="000000"/>
                    </a:solidFill>
                  </a:rPr>
                  <a:t>，</a:t>
                </a:r>
                <a:r>
                  <a:rPr lang="en-US" altLang="zh-CN" i="1" dirty="0">
                    <a:solidFill>
                      <a:srgbClr val="000000"/>
                    </a:solidFill>
                  </a:rPr>
                  <a:t>j</a:t>
                </a:r>
                <a:r>
                  <a:rPr lang="en-US" altLang="zh-CN" dirty="0">
                    <a:solidFill>
                      <a:srgbClr val="000000"/>
                    </a:solidFill>
                  </a:rPr>
                  <a:t>=</a:t>
                </a:r>
                <a:r>
                  <a:rPr lang="en-US" altLang="zh-CN" i="1" dirty="0">
                    <a:solidFill>
                      <a:srgbClr val="000000"/>
                    </a:solidFill>
                  </a:rPr>
                  <a:t>p</a:t>
                </a:r>
                <a:r>
                  <a:rPr lang="zh-CN" altLang="en-US" dirty="0">
                    <a:solidFill>
                      <a:srgbClr val="000000"/>
                    </a:solidFill>
                  </a:rPr>
                  <a:t>，这种情形和编码的过程相似，在这里不再赘述。</a:t>
                </a:r>
                <a:endParaRPr lang="en-US" altLang="zh-CN" dirty="0">
                  <a:solidFill>
                    <a:srgbClr val="000000"/>
                  </a:solidFill>
                </a:endParaRPr>
              </a:p>
              <a:p>
                <a:pPr eaLnBrk="0" fontAlgn="base" hangingPunct="0">
                  <a:lnSpc>
                    <a:spcPts val="3600"/>
                  </a:lnSpc>
                  <a:spcBef>
                    <a:spcPct val="0"/>
                  </a:spcBef>
                  <a:spcAft>
                    <a:spcPct val="0"/>
                  </a:spcAft>
                </a:pPr>
                <a:r>
                  <a:rPr lang="en-US" altLang="zh-CN" dirty="0">
                    <a:solidFill>
                      <a:srgbClr val="000000"/>
                    </a:solidFill>
                    <a:latin typeface="Times New Roman"/>
                  </a:rPr>
                  <a:t>        (4)</a:t>
                </a:r>
                <a:r>
                  <a:rPr lang="en-US" altLang="zh-CN" i="1" dirty="0" err="1">
                    <a:solidFill>
                      <a:srgbClr val="000000"/>
                    </a:solidFill>
                    <a:latin typeface="Times New Roman"/>
                  </a:rPr>
                  <a:t>i</a:t>
                </a:r>
                <a:r>
                  <a:rPr lang="en-US" altLang="zh-CN" dirty="0">
                    <a:solidFill>
                      <a:srgbClr val="000000"/>
                    </a:solidFill>
                    <a:latin typeface="Times New Roman"/>
                  </a:rPr>
                  <a:t>&lt;</a:t>
                </a:r>
                <a:r>
                  <a:rPr lang="en-US" altLang="zh-CN" i="1" dirty="0">
                    <a:solidFill>
                      <a:srgbClr val="000000"/>
                    </a:solidFill>
                    <a:latin typeface="Times New Roman"/>
                  </a:rPr>
                  <a:t>j</a:t>
                </a:r>
                <a:r>
                  <a:rPr lang="en-US" altLang="zh-CN" dirty="0">
                    <a:solidFill>
                      <a:srgbClr val="000000"/>
                    </a:solidFill>
                    <a:latin typeface="Times New Roman"/>
                  </a:rPr>
                  <a:t>&lt;</a:t>
                </a:r>
                <a:r>
                  <a:rPr lang="en-US" altLang="zh-CN" i="1" dirty="0">
                    <a:solidFill>
                      <a:srgbClr val="000000"/>
                    </a:solidFill>
                    <a:latin typeface="Times New Roman"/>
                  </a:rPr>
                  <a:t>p</a:t>
                </a:r>
                <a:r>
                  <a:rPr lang="zh-CN" altLang="en-US" dirty="0">
                    <a:solidFill>
                      <a:srgbClr val="000000"/>
                    </a:solidFill>
                    <a:latin typeface="Times New Roman"/>
                  </a:rPr>
                  <a:t>，第一步通过公式</a:t>
                </a:r>
                <a:r>
                  <a:rPr lang="en-US" altLang="zh-CN" dirty="0">
                    <a:solidFill>
                      <a:srgbClr val="000000"/>
                    </a:solidFill>
                    <a:latin typeface="Times New Roman"/>
                  </a:rPr>
                  <a:t>(7)</a:t>
                </a:r>
                <a:r>
                  <a:rPr lang="zh-CN" altLang="en-US" dirty="0">
                    <a:solidFill>
                      <a:srgbClr val="000000"/>
                    </a:solidFill>
                    <a:latin typeface="Times New Roman"/>
                  </a:rPr>
                  <a:t>计算出共同因子</a:t>
                </a:r>
                <a:r>
                  <a:rPr lang="en-US" altLang="zh-CN" dirty="0">
                    <a:solidFill>
                      <a:srgbClr val="000000"/>
                    </a:solidFill>
                    <a:latin typeface="Times New Roman"/>
                  </a:rPr>
                  <a:t>S</a:t>
                </a:r>
                <a:r>
                  <a:rPr lang="zh-CN" altLang="en-US" dirty="0">
                    <a:solidFill>
                      <a:srgbClr val="000000"/>
                    </a:solidFill>
                    <a:latin typeface="Times New Roman"/>
                  </a:rPr>
                  <a:t>，也就是公式</a:t>
                </a:r>
                <a:r>
                  <a:rPr lang="en-US" altLang="zh-CN" dirty="0">
                    <a:solidFill>
                      <a:srgbClr val="000000"/>
                    </a:solidFill>
                    <a:latin typeface="Times New Roman"/>
                  </a:rPr>
                  <a:t>(3)</a:t>
                </a:r>
                <a:r>
                  <a:rPr lang="zh-CN" altLang="en-US" dirty="0">
                    <a:solidFill>
                      <a:srgbClr val="000000"/>
                    </a:solidFill>
                    <a:latin typeface="Times New Roman"/>
                  </a:rPr>
                  <a:t>和公式</a:t>
                </a:r>
                <a:r>
                  <a:rPr lang="en-US" altLang="zh-CN" dirty="0">
                    <a:solidFill>
                      <a:srgbClr val="000000"/>
                    </a:solidFill>
                    <a:latin typeface="Times New Roman"/>
                  </a:rPr>
                  <a:t>(7)</a:t>
                </a:r>
                <a:r>
                  <a:rPr lang="zh-CN" altLang="en-US" dirty="0">
                    <a:solidFill>
                      <a:srgbClr val="000000"/>
                    </a:solidFill>
                    <a:latin typeface="Times New Roman"/>
                  </a:rPr>
                  <a:t>是等价的，但是公式</a:t>
                </a:r>
                <a:r>
                  <a:rPr lang="en-US" altLang="zh-CN" dirty="0">
                    <a:solidFill>
                      <a:srgbClr val="000000"/>
                    </a:solidFill>
                    <a:latin typeface="Times New Roman"/>
                  </a:rPr>
                  <a:t>(3)</a:t>
                </a:r>
                <a:r>
                  <a:rPr lang="zh-CN" altLang="en-US" dirty="0">
                    <a:solidFill>
                      <a:srgbClr val="000000"/>
                    </a:solidFill>
                    <a:latin typeface="Times New Roman"/>
                  </a:rPr>
                  <a:t>中存在未知的变量</a:t>
                </a:r>
                <a:r>
                  <a:rPr lang="en-US" altLang="zh-CN" dirty="0" err="1">
                    <a:solidFill>
                      <a:srgbClr val="000000"/>
                    </a:solidFill>
                    <a:latin typeface="Times New Roman"/>
                  </a:rPr>
                  <a:t>i</a:t>
                </a:r>
                <a:r>
                  <a:rPr lang="en-US" altLang="zh-CN" dirty="0">
                    <a:solidFill>
                      <a:srgbClr val="000000"/>
                    </a:solidFill>
                    <a:latin typeface="Times New Roman"/>
                  </a:rPr>
                  <a:t>, j</a:t>
                </a:r>
                <a:r>
                  <a:rPr lang="zh-CN" altLang="en-US" dirty="0">
                    <a:solidFill>
                      <a:srgbClr val="000000"/>
                    </a:solidFill>
                    <a:latin typeface="Times New Roman"/>
                  </a:rPr>
                  <a:t>的值，因此不能使</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zh-CN" altLang="en-US" dirty="0">
                    <a:solidFill>
                      <a:srgbClr val="000000"/>
                    </a:solidFill>
                    <a:latin typeface="Times New Roman"/>
                  </a:rPr>
                  <a:t>用公式</a:t>
                </a:r>
                <a:r>
                  <a:rPr lang="en-US" altLang="zh-CN" dirty="0">
                    <a:solidFill>
                      <a:srgbClr val="000000"/>
                    </a:solidFill>
                    <a:latin typeface="Times New Roman"/>
                  </a:rPr>
                  <a:t>(3)</a:t>
                </a:r>
                <a:r>
                  <a:rPr lang="zh-CN" altLang="en-US" dirty="0">
                    <a:solidFill>
                      <a:srgbClr val="000000"/>
                    </a:solidFill>
                    <a:latin typeface="Times New Roman"/>
                  </a:rPr>
                  <a:t>直接得到共同因子</a:t>
                </a:r>
                <a:r>
                  <a:rPr lang="en-US" altLang="zh-CN" dirty="0">
                    <a:solidFill>
                      <a:srgbClr val="000000"/>
                    </a:solidFill>
                    <a:latin typeface="Times New Roman"/>
                  </a:rPr>
                  <a:t>S</a:t>
                </a:r>
                <a:r>
                  <a:rPr lang="zh-CN" altLang="en-US" dirty="0">
                    <a:solidFill>
                      <a:srgbClr val="000000"/>
                    </a:solidFill>
                    <a:latin typeface="Times New Roman"/>
                  </a:rPr>
                  <a:t>，因此根据公式</a:t>
                </a:r>
                <a:r>
                  <a:rPr lang="en-US" altLang="zh-CN" dirty="0">
                    <a:solidFill>
                      <a:srgbClr val="000000"/>
                    </a:solidFill>
                    <a:latin typeface="Times New Roman"/>
                  </a:rPr>
                  <a:t>(1)</a:t>
                </a:r>
                <a:r>
                  <a:rPr lang="zh-CN" altLang="en-US" dirty="0">
                    <a:solidFill>
                      <a:srgbClr val="000000"/>
                    </a:solidFill>
                    <a:latin typeface="Times New Roman"/>
                  </a:rPr>
                  <a:t>和</a:t>
                </a:r>
                <a:r>
                  <a:rPr lang="en-US" altLang="zh-CN" dirty="0">
                    <a:solidFill>
                      <a:srgbClr val="000000"/>
                    </a:solidFill>
                    <a:latin typeface="Times New Roman"/>
                  </a:rPr>
                  <a:t>(2)</a:t>
                </a:r>
                <a:r>
                  <a:rPr lang="zh-CN" altLang="en-US" dirty="0">
                    <a:solidFill>
                      <a:srgbClr val="000000"/>
                    </a:solidFill>
                    <a:latin typeface="Times New Roman"/>
                  </a:rPr>
                  <a:t>可以得到下面的式子</a:t>
                </a:r>
                <a:r>
                  <a:rPr lang="en-US" altLang="zh-CN" dirty="0">
                    <a:solidFill>
                      <a:srgbClr val="000000"/>
                    </a:solidFill>
                    <a:latin typeface="Times New Roman"/>
                  </a:rPr>
                  <a:t>(</a:t>
                </a:r>
                <a:r>
                  <a:rPr lang="zh-CN" altLang="en-US" dirty="0">
                    <a:solidFill>
                      <a:srgbClr val="000000"/>
                    </a:solidFill>
                    <a:latin typeface="Times New Roman"/>
                  </a:rPr>
                  <a:t>也就是公式</a:t>
                </a:r>
                <a:r>
                  <a:rPr lang="en-US" altLang="zh-CN" dirty="0">
                    <a:solidFill>
                      <a:srgbClr val="000000"/>
                    </a:solidFill>
                    <a:latin typeface="Times New Roman"/>
                  </a:rPr>
                  <a:t>(7))</a:t>
                </a:r>
                <a:r>
                  <a:rPr lang="zh-CN" altLang="en-US" dirty="0">
                    <a:solidFill>
                      <a:srgbClr val="000000"/>
                    </a:solidFill>
                    <a:latin typeface="Times New Roman"/>
                  </a:rPr>
                  <a:t>：</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latin typeface="Times New Roman"/>
                  </a:rPr>
                  <a:t>)</a:t>
                </a:r>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i="1" dirty="0">
                    <a:solidFill>
                      <a:srgbClr val="000000"/>
                    </a:solidFill>
                    <a:latin typeface="Times New Roman"/>
                    <a:ea typeface="宋体" panose="02010600030101010101" pitchFamily="2" charset="-122"/>
                  </a:rPr>
                  <a:t>a</a:t>
                </a:r>
                <a:r>
                  <a:rPr lang="en-US" altLang="zh-CN" i="1" baseline="-25000" dirty="0">
                    <a:solidFill>
                      <a:srgbClr val="000000"/>
                    </a:solidFill>
                    <a:latin typeface="Times New Roman"/>
                    <a:ea typeface="宋体" panose="02010600030101010101" pitchFamily="2" charset="-122"/>
                  </a:rPr>
                  <a:t>l,p</a:t>
                </a:r>
                <a:r>
                  <a:rPr lang="en-US" altLang="zh-CN" baseline="-25000" dirty="0">
                    <a:solidFill>
                      <a:srgbClr val="000000"/>
                    </a:solidFill>
                    <a:latin typeface="Times New Roman"/>
                    <a:ea typeface="宋体" panose="02010600030101010101" pitchFamily="2" charset="-122"/>
                  </a:rPr>
                  <a:t>+1</a:t>
                </a:r>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latin typeface="Times New Roman"/>
                    <a:ea typeface="宋体" panose="02010600030101010101" pitchFamily="2" charset="-122"/>
                  </a:rPr>
                  <a:t> a</a:t>
                </a:r>
                <a:r>
                  <a:rPr lang="en-US" altLang="zh-CN" i="1" baseline="-25000" dirty="0">
                    <a:solidFill>
                      <a:srgbClr val="000000"/>
                    </a:solidFill>
                    <a:latin typeface="Times New Roman"/>
                    <a:ea typeface="宋体" panose="02010600030101010101" pitchFamily="2" charset="-122"/>
                  </a:rPr>
                  <a:t>l,t</a:t>
                </a:r>
                <a:r>
                  <a:rPr lang="en-US" altLang="zh-CN" dirty="0">
                    <a:solidFill>
                      <a:srgbClr val="000000"/>
                    </a:solidFill>
                    <a:latin typeface="Times New Roman"/>
                  </a:rPr>
                  <a:t>))</a:t>
                </a:r>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latin typeface="Times New Roman"/>
                    <a:ea typeface="宋体" panose="02010600030101010101" pitchFamily="2" charset="-122"/>
                  </a:rPr>
                  <a:t>(</a:t>
                </a:r>
                <a:r>
                  <a:rPr lang="en-US" altLang="zh-CN" i="1" dirty="0">
                    <a:solidFill>
                      <a:srgbClr val="000000"/>
                    </a:solidFill>
                    <a:latin typeface="Times New Roman"/>
                    <a:ea typeface="宋体" panose="02010600030101010101" pitchFamily="2" charset="-122"/>
                  </a:rPr>
                  <a:t>S</a:t>
                </a:r>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latin typeface="Times New Roman"/>
                    <a:ea typeface="宋体" panose="02010600030101010101" pitchFamily="2" charset="-122"/>
                  </a:rPr>
                  <a:t> a</a:t>
                </a:r>
                <a:r>
                  <a:rPr lang="en-US" altLang="zh-CN" i="1" baseline="-25000" dirty="0">
                    <a:solidFill>
                      <a:srgbClr val="000000"/>
                    </a:solidFill>
                    <a:latin typeface="Times New Roman"/>
                    <a:ea typeface="宋体" panose="02010600030101010101" pitchFamily="2" charset="-122"/>
                  </a:rPr>
                  <a:t>&lt;l-t&gt;</a:t>
                </a:r>
                <a:r>
                  <a:rPr lang="en-US" altLang="zh-CN" i="1" baseline="-25000" dirty="0" err="1">
                    <a:solidFill>
                      <a:srgbClr val="000000"/>
                    </a:solidFill>
                    <a:latin typeface="Times New Roman"/>
                    <a:ea typeface="宋体" panose="02010600030101010101" pitchFamily="2" charset="-122"/>
                  </a:rPr>
                  <a:t>p,t</a:t>
                </a:r>
                <a:r>
                  <a:rPr lang="en-US" altLang="zh-CN" dirty="0">
                    <a:solidFill>
                      <a:srgbClr val="000000"/>
                    </a:solidFill>
                    <a:latin typeface="Times New Roman"/>
                  </a:rPr>
                  <a:t>))</a:t>
                </a:r>
                <a:r>
                  <a:rPr lang="en-US" altLang="zh-CN" dirty="0">
                    <a:solidFill>
                      <a:srgbClr val="000000"/>
                    </a:solidFill>
                    <a:latin typeface="Times New Roman"/>
                    <a:ea typeface="宋体" panose="02010600030101010101" pitchFamily="2" charset="-122"/>
                  </a:rPr>
                  <a:t> </a:t>
                </a:r>
              </a:p>
              <a:p>
                <a:pPr eaLnBrk="0" fontAlgn="base" hangingPunct="0">
                  <a:lnSpc>
                    <a:spcPts val="3600"/>
                  </a:lnSpc>
                  <a:spcBef>
                    <a:spcPct val="0"/>
                  </a:spcBef>
                  <a:spcAft>
                    <a:spcPct val="0"/>
                  </a:spcAft>
                </a:pPr>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latin typeface="Times New Roman"/>
                    <a:ea typeface="宋体" panose="02010600030101010101" pitchFamily="2" charset="-122"/>
                  </a:rPr>
                  <a:t> </a:t>
                </a:r>
                <a:r>
                  <a:rPr lang="en-US" altLang="zh-CN" i="1" dirty="0" err="1">
                    <a:solidFill>
                      <a:srgbClr val="000000"/>
                    </a:solidFill>
                    <a:latin typeface="Times New Roman"/>
                    <a:ea typeface="宋体" panose="02010600030101010101" pitchFamily="2" charset="-122"/>
                  </a:rPr>
                  <a:t>a</a:t>
                </a:r>
                <a:r>
                  <a:rPr lang="en-US" altLang="zh-CN" i="1" baseline="-25000" dirty="0" err="1">
                    <a:solidFill>
                      <a:srgbClr val="000000"/>
                    </a:solidFill>
                    <a:latin typeface="Times New Roman"/>
                    <a:ea typeface="宋体" panose="02010600030101010101" pitchFamily="2" charset="-122"/>
                  </a:rPr>
                  <a:t>l,t</a:t>
                </a:r>
                <a:r>
                  <a:rPr lang="en-US" altLang="zh-CN" dirty="0">
                    <a:solidFill>
                      <a:srgbClr val="000000"/>
                    </a:solidFill>
                    <a:latin typeface="Times New Roman"/>
                  </a:rPr>
                  <a:t>))</a:t>
                </a:r>
                <a:r>
                  <a:rPr lang="en-US" altLang="zh-CN" dirty="0">
                    <a:solidFill>
                      <a:srgbClr val="000000"/>
                    </a:solidFill>
                    <a:latin typeface="Times New Roman"/>
                    <a:ea typeface="宋体" panose="02010600030101010101" pitchFamily="2" charset="-122"/>
                  </a:rPr>
                  <a:t>⊕(</a:t>
                </a:r>
                <a:r>
                  <a:rPr lang="en-US" altLang="zh-CN" i="1" dirty="0">
                    <a:solidFill>
                      <a:srgbClr val="000000"/>
                    </a:solidFill>
                    <a:latin typeface="Times New Roman"/>
                    <a:ea typeface="宋体" panose="02010600030101010101" pitchFamily="2" charset="-122"/>
                  </a:rPr>
                  <a:t>p</a:t>
                </a:r>
                <a:r>
                  <a:rPr lang="en-US" altLang="zh-CN" dirty="0">
                    <a:solidFill>
                      <a:srgbClr val="000000"/>
                    </a:solidFill>
                    <a:latin typeface="Times New Roman"/>
                    <a:ea typeface="宋体" panose="02010600030101010101" pitchFamily="2" charset="-122"/>
                  </a:rPr>
                  <a:t>-1)</a:t>
                </a:r>
                <a:r>
                  <a:rPr lang="en-US" altLang="zh-CN" i="1" dirty="0">
                    <a:solidFill>
                      <a:srgbClr val="000000"/>
                    </a:solidFill>
                    <a:latin typeface="Times New Roman"/>
                    <a:ea typeface="宋体" panose="02010600030101010101" pitchFamily="2" charset="-122"/>
                  </a:rPr>
                  <a:t>S</a:t>
                </a:r>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latin typeface="Times New Roman"/>
                    <a:ea typeface="宋体" panose="02010600030101010101" pitchFamily="2" charset="-122"/>
                  </a:rPr>
                  <a:t>(</a:t>
                </a:r>
                <a:r>
                  <a:rPr lang="en-US" altLang="zh-CN" i="1" dirty="0">
                    <a:solidFill>
                      <a:srgbClr val="000000"/>
                    </a:solidFill>
                    <a:latin typeface="Times New Roman"/>
                    <a:ea typeface="宋体" panose="02010600030101010101" pitchFamily="2" charset="-122"/>
                  </a:rPr>
                  <a:t>S</a:t>
                </a:r>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latin typeface="Times New Roman"/>
                    <a:ea typeface="宋体" panose="02010600030101010101" pitchFamily="2" charset="-122"/>
                  </a:rPr>
                  <a:t> a</a:t>
                </a:r>
                <a:r>
                  <a:rPr lang="en-US" altLang="zh-CN" i="1" baseline="-25000" dirty="0">
                    <a:solidFill>
                      <a:srgbClr val="000000"/>
                    </a:solidFill>
                    <a:latin typeface="Times New Roman"/>
                    <a:ea typeface="宋体" panose="02010600030101010101" pitchFamily="2" charset="-122"/>
                  </a:rPr>
                  <a:t>&lt;l-t&gt;</a:t>
                </a:r>
                <a:r>
                  <a:rPr lang="en-US" altLang="zh-CN" i="1" baseline="-25000" dirty="0" err="1">
                    <a:solidFill>
                      <a:srgbClr val="000000"/>
                    </a:solidFill>
                    <a:latin typeface="Times New Roman"/>
                    <a:ea typeface="宋体" panose="02010600030101010101" pitchFamily="2" charset="-122"/>
                  </a:rPr>
                  <a:t>p,t</a:t>
                </a:r>
                <a:r>
                  <a:rPr lang="en-US" altLang="zh-CN" dirty="0">
                    <a:solidFill>
                      <a:srgbClr val="000000"/>
                    </a:solidFill>
                    <a:latin typeface="Times New Roman"/>
                  </a:rPr>
                  <a:t>))</a:t>
                </a:r>
                <a:r>
                  <a:rPr lang="en-US" altLang="zh-CN" dirty="0">
                    <a:solidFill>
                      <a:srgbClr val="000000"/>
                    </a:solidFill>
                    <a:latin typeface="Times New Roman"/>
                    <a:ea typeface="宋体" panose="02010600030101010101" pitchFamily="2" charset="-122"/>
                  </a:rPr>
                  <a:t> </a:t>
                </a:r>
              </a:p>
              <a:p>
                <a:pPr eaLnBrk="0" fontAlgn="base" hangingPunct="0">
                  <a:lnSpc>
                    <a:spcPts val="3600"/>
                  </a:lnSpc>
                  <a:spcBef>
                    <a:spcPct val="0"/>
                  </a:spcBef>
                  <a:spcAft>
                    <a:spcPct val="0"/>
                  </a:spcAft>
                </a:pPr>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latin typeface="Times New Roman"/>
                    <a:ea typeface="宋体" panose="02010600030101010101" pitchFamily="2" charset="-122"/>
                  </a:rPr>
                  <a:t> </a:t>
                </a:r>
                <a:r>
                  <a:rPr lang="en-US" altLang="zh-CN" i="1" dirty="0" err="1">
                    <a:solidFill>
                      <a:srgbClr val="000000"/>
                    </a:solidFill>
                    <a:latin typeface="Times New Roman"/>
                    <a:ea typeface="宋体" panose="02010600030101010101" pitchFamily="2" charset="-122"/>
                  </a:rPr>
                  <a:t>a</a:t>
                </a:r>
                <a:r>
                  <a:rPr lang="en-US" altLang="zh-CN" i="1" baseline="-25000" dirty="0" err="1">
                    <a:solidFill>
                      <a:srgbClr val="000000"/>
                    </a:solidFill>
                    <a:latin typeface="Times New Roman"/>
                    <a:ea typeface="宋体" panose="02010600030101010101" pitchFamily="2" charset="-122"/>
                  </a:rPr>
                  <a:t>l,t</a:t>
                </a:r>
                <a:r>
                  <a:rPr lang="en-US" altLang="zh-CN" dirty="0">
                    <a:solidFill>
                      <a:srgbClr val="000000"/>
                    </a:solidFill>
                    <a:latin typeface="Times New Roman"/>
                  </a:rPr>
                  <a:t>))</a:t>
                </a:r>
                <a:r>
                  <a:rPr lang="en-US" altLang="zh-CN" dirty="0">
                    <a:solidFill>
                      <a:srgbClr val="000000"/>
                    </a:solidFill>
                    <a:latin typeface="Times New Roman"/>
                    <a:ea typeface="宋体" panose="02010600030101010101" pitchFamily="2" charset="-122"/>
                  </a:rPr>
                  <a:t>⊕ (</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latin typeface="Times New Roman"/>
                    <a:ea typeface="宋体" panose="02010600030101010101" pitchFamily="2" charset="-122"/>
                  </a:rPr>
                  <a:t> a</a:t>
                </a:r>
                <a:r>
                  <a:rPr lang="en-US" altLang="zh-CN" i="1" baseline="-25000" dirty="0">
                    <a:solidFill>
                      <a:srgbClr val="000000"/>
                    </a:solidFill>
                    <a:latin typeface="Times New Roman"/>
                    <a:ea typeface="宋体" panose="02010600030101010101" pitchFamily="2" charset="-122"/>
                  </a:rPr>
                  <a:t>&lt;l-t&gt;</a:t>
                </a:r>
                <a:r>
                  <a:rPr lang="en-US" altLang="zh-CN" i="1" baseline="-25000" dirty="0" err="1">
                    <a:solidFill>
                      <a:srgbClr val="000000"/>
                    </a:solidFill>
                    <a:latin typeface="Times New Roman"/>
                    <a:ea typeface="宋体" panose="02010600030101010101" pitchFamily="2" charset="-122"/>
                  </a:rPr>
                  <a:t>p,t</a:t>
                </a:r>
                <a:r>
                  <a:rPr lang="en-US" altLang="zh-CN">
                    <a:solidFill>
                      <a:srgbClr val="000000"/>
                    </a:solidFill>
                    <a:latin typeface="Times New Roman"/>
                  </a:rPr>
                  <a:t>))</a:t>
                </a:r>
                <a:r>
                  <a:rPr lang="en-US" altLang="zh-CN">
                    <a:solidFill>
                      <a:srgbClr val="000000"/>
                    </a:solidFill>
                    <a:latin typeface="Times New Roman"/>
                    <a:ea typeface="宋体" panose="02010600030101010101" pitchFamily="2" charset="-122"/>
                  </a:rPr>
                  <a:t>                                  (</a:t>
                </a:r>
                <a:r>
                  <a:rPr lang="en-US" altLang="zh-CN" dirty="0">
                    <a:solidFill>
                      <a:srgbClr val="000000"/>
                    </a:solidFill>
                    <a:latin typeface="Times New Roman"/>
                    <a:ea typeface="宋体" panose="02010600030101010101" pitchFamily="2" charset="-122"/>
                  </a:rPr>
                  <a:t>10)</a:t>
                </a:r>
              </a:p>
            </p:txBody>
          </p:sp>
        </mc:Choice>
        <mc:Fallback xmlns="">
          <p:sp>
            <p:nvSpPr>
              <p:cNvPr id="9" name="文本框 8"/>
              <p:cNvSpPr txBox="1">
                <a:spLocks noRot="1" noChangeAspect="1" noMove="1" noResize="1" noEditPoints="1" noAdjustHandles="1" noChangeArrowheads="1" noChangeShapeType="1" noTextEdit="1"/>
              </p:cNvSpPr>
              <p:nvPr/>
            </p:nvSpPr>
            <p:spPr>
              <a:xfrm>
                <a:off x="2133704" y="1066862"/>
                <a:ext cx="7924592" cy="5135252"/>
              </a:xfrm>
              <a:prstGeom prst="rect">
                <a:avLst/>
              </a:prstGeom>
              <a:blipFill>
                <a:blip r:embed="rId3"/>
                <a:stretch>
                  <a:fillRect l="-769" r="-846" b="-831"/>
                </a:stretch>
              </a:blipFill>
            </p:spPr>
            <p:txBody>
              <a:bodyPr/>
              <a:lstStyle/>
              <a:p>
                <a:r>
                  <a:rPr lang="zh-CN" altLang="en-US">
                    <a:noFill/>
                  </a:rPr>
                  <a:t> </a:t>
                </a:r>
              </a:p>
            </p:txBody>
          </p:sp>
        </mc:Fallback>
      </mc:AlternateContent>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EVENODD</a:t>
            </a:r>
            <a:r>
              <a:rPr lang="zh-CN" altLang="en-US" sz="2400" dirty="0">
                <a:sym typeface="+mn-ea"/>
              </a:rPr>
              <a:t>码解码正确性证明</a:t>
            </a:r>
          </a:p>
        </p:txBody>
      </p:sp>
      <mc:AlternateContent xmlns:mc="http://schemas.openxmlformats.org/markup-compatibility/2006" xmlns:a14="http://schemas.microsoft.com/office/drawing/2010/main">
        <mc:Choice Requires="a14">
          <p:sp>
            <p:nvSpPr>
              <p:cNvPr id="9" name="文本框 8"/>
              <p:cNvSpPr txBox="1"/>
              <p:nvPr/>
            </p:nvSpPr>
            <p:spPr>
              <a:xfrm>
                <a:off x="2001624" y="914466"/>
                <a:ext cx="7924592" cy="557389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latin typeface="Times New Roman"/>
                  </a:rPr>
                  <a:t>         因为</a:t>
                </a:r>
                <a:r>
                  <a:rPr lang="en-US" altLang="zh-CN" dirty="0">
                    <a:solidFill>
                      <a:srgbClr val="000000"/>
                    </a:solidFill>
                    <a:latin typeface="Times New Roman"/>
                  </a:rPr>
                  <a:t>p-1</a:t>
                </a:r>
                <a:r>
                  <a:rPr lang="zh-CN" altLang="en-US" dirty="0">
                    <a:solidFill>
                      <a:srgbClr val="000000"/>
                    </a:solidFill>
                    <a:latin typeface="Times New Roman"/>
                  </a:rPr>
                  <a:t>为偶数，所以</a:t>
                </a:r>
                <a:r>
                  <a:rPr lang="en-US" altLang="zh-CN" dirty="0">
                    <a:solidFill>
                      <a:srgbClr val="000000"/>
                    </a:solidFill>
                    <a:latin typeface="Times New Roman"/>
                  </a:rPr>
                  <a:t>(</a:t>
                </a:r>
                <a:r>
                  <a:rPr lang="en-US" altLang="zh-CN" i="1" dirty="0">
                    <a:solidFill>
                      <a:srgbClr val="000000"/>
                    </a:solidFill>
                    <a:latin typeface="Times New Roman"/>
                  </a:rPr>
                  <a:t>p</a:t>
                </a:r>
                <a:r>
                  <a:rPr lang="en-US" altLang="zh-CN" dirty="0">
                    <a:solidFill>
                      <a:srgbClr val="000000"/>
                    </a:solidFill>
                    <a:latin typeface="Times New Roman"/>
                  </a:rPr>
                  <a:t>-1)</a:t>
                </a:r>
                <a:r>
                  <a:rPr lang="en-US" altLang="zh-CN" i="1" dirty="0">
                    <a:solidFill>
                      <a:srgbClr val="000000"/>
                    </a:solidFill>
                    <a:latin typeface="Times New Roman"/>
                  </a:rPr>
                  <a:t>S</a:t>
                </a:r>
                <a:r>
                  <a:rPr lang="en-US" altLang="zh-CN" dirty="0">
                    <a:solidFill>
                      <a:srgbClr val="000000"/>
                    </a:solidFill>
                    <a:latin typeface="Times New Roman"/>
                  </a:rPr>
                  <a:t>=0 mod 2</a:t>
                </a:r>
                <a:r>
                  <a:rPr lang="zh-CN" altLang="en-US" dirty="0">
                    <a:solidFill>
                      <a:srgbClr val="000000"/>
                    </a:solidFill>
                    <a:latin typeface="Times New Roman"/>
                  </a:rPr>
                  <a:t>，又因为最后一个虚拟的</a:t>
                </a:r>
                <a:r>
                  <a:rPr lang="en-US" altLang="zh-CN" i="1" dirty="0">
                    <a:solidFill>
                      <a:srgbClr val="000000"/>
                    </a:solidFill>
                    <a:latin typeface="Times New Roman"/>
                  </a:rPr>
                  <a:t>p</a:t>
                </a:r>
                <a:r>
                  <a:rPr lang="en-US" altLang="zh-CN" dirty="0">
                    <a:solidFill>
                      <a:srgbClr val="000000"/>
                    </a:solidFill>
                    <a:latin typeface="Times New Roman"/>
                  </a:rPr>
                  <a:t>-1</a:t>
                </a:r>
                <a:r>
                  <a:rPr lang="zh-CN" altLang="en-US" dirty="0">
                    <a:solidFill>
                      <a:srgbClr val="000000"/>
                    </a:solidFill>
                    <a:latin typeface="Times New Roman"/>
                  </a:rPr>
                  <a:t>行所有的值都为</a:t>
                </a:r>
                <a:r>
                  <a:rPr lang="en-US" altLang="zh-CN" dirty="0">
                    <a:solidFill>
                      <a:srgbClr val="000000"/>
                    </a:solidFill>
                    <a:latin typeface="Times New Roman"/>
                  </a:rPr>
                  <a:t>0</a:t>
                </a:r>
                <a:r>
                  <a:rPr lang="zh-CN" altLang="en-US" dirty="0">
                    <a:solidFill>
                      <a:srgbClr val="000000"/>
                    </a:solidFill>
                    <a:latin typeface="Times New Roman"/>
                  </a:rPr>
                  <a:t>，即</a:t>
                </a:r>
                <a:r>
                  <a:rPr lang="en-US" altLang="zh-CN" dirty="0">
                    <a:solidFill>
                      <a:srgbClr val="000000"/>
                    </a:solidFill>
                    <a:latin typeface="Times New Roman"/>
                  </a:rPr>
                  <a:t>a</a:t>
                </a:r>
                <a:r>
                  <a:rPr lang="en-US" altLang="zh-CN" i="1" baseline="-25000" dirty="0">
                    <a:solidFill>
                      <a:srgbClr val="000000"/>
                    </a:solidFill>
                    <a:latin typeface="Times New Roman"/>
                  </a:rPr>
                  <a:t>p-</a:t>
                </a:r>
                <a:r>
                  <a:rPr lang="en-US" altLang="zh-CN" baseline="-25000" dirty="0">
                    <a:solidFill>
                      <a:srgbClr val="000000"/>
                    </a:solidFill>
                    <a:latin typeface="Times New Roman"/>
                  </a:rPr>
                  <a:t>1</a:t>
                </a:r>
                <a:r>
                  <a:rPr lang="en-US" altLang="zh-CN" i="1" baseline="-25000" dirty="0">
                    <a:solidFill>
                      <a:srgbClr val="000000"/>
                    </a:solidFill>
                    <a:latin typeface="Times New Roman"/>
                  </a:rPr>
                  <a:t>,t</a:t>
                </a:r>
                <a:r>
                  <a:rPr lang="en-US" altLang="zh-CN" dirty="0">
                    <a:solidFill>
                      <a:srgbClr val="000000"/>
                    </a:solidFill>
                    <a:latin typeface="Times New Roman"/>
                  </a:rPr>
                  <a:t>=0</a:t>
                </a:r>
                <a:r>
                  <a:rPr lang="zh-CN" altLang="en-US" dirty="0">
                    <a:solidFill>
                      <a:srgbClr val="000000"/>
                    </a:solidFill>
                    <a:latin typeface="Times New Roman"/>
                  </a:rPr>
                  <a:t>，因此可以得到</a:t>
                </a:r>
                <a:r>
                  <a:rPr lang="en-US" altLang="zh-CN" dirty="0">
                    <a:solidFill>
                      <a:srgbClr val="000000"/>
                    </a:solidFill>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ea typeface="宋体" panose="02010600030101010101" pitchFamily="2" charset="-122"/>
                  </a:rPr>
                  <a:t> </a:t>
                </a:r>
                <a:r>
                  <a:rPr lang="en-US" altLang="zh-CN" i="1" dirty="0" err="1">
                    <a:solidFill>
                      <a:srgbClr val="000000"/>
                    </a:solidFill>
                    <a:ea typeface="宋体" panose="02010600030101010101" pitchFamily="2" charset="-122"/>
                  </a:rPr>
                  <a:t>a</a:t>
                </a:r>
                <a:r>
                  <a:rPr lang="en-US" altLang="zh-CN" i="1" baseline="-25000" dirty="0" err="1">
                    <a:solidFill>
                      <a:srgbClr val="000000"/>
                    </a:solidFill>
                    <a:ea typeface="宋体" panose="02010600030101010101" pitchFamily="2" charset="-122"/>
                  </a:rPr>
                  <a:t>l,t</a:t>
                </a:r>
                <a:r>
                  <a:rPr lang="en-US" altLang="zh-CN" dirty="0">
                    <a:solidFill>
                      <a:srgbClr val="000000"/>
                    </a:solidFill>
                  </a:rPr>
                  <a:t>))</a:t>
                </a:r>
                <a:r>
                  <a:rPr lang="zh-CN" altLang="en-US" dirty="0">
                    <a:solidFill>
                      <a:srgbClr val="000000"/>
                    </a:solidFill>
                    <a:latin typeface="Times New Roman"/>
                  </a:rPr>
                  <a:t>所有水平校验列的值异或，也就是所有的</a:t>
                </a:r>
                <a:r>
                  <a:rPr lang="en-US" altLang="zh-CN" dirty="0">
                    <a:solidFill>
                      <a:srgbClr val="000000"/>
                    </a:solidFill>
                    <a:latin typeface="Times New Roman"/>
                  </a:rPr>
                  <a:t>0</a:t>
                </a:r>
                <a:r>
                  <a:rPr lang="zh-CN" altLang="en-US" dirty="0">
                    <a:solidFill>
                      <a:srgbClr val="000000"/>
                    </a:solidFill>
                    <a:latin typeface="Times New Roman"/>
                  </a:rPr>
                  <a:t>到</a:t>
                </a:r>
                <a:r>
                  <a:rPr lang="en-US" altLang="zh-CN" i="1" dirty="0">
                    <a:solidFill>
                      <a:srgbClr val="000000"/>
                    </a:solidFill>
                    <a:latin typeface="Times New Roman"/>
                  </a:rPr>
                  <a:t>p</a:t>
                </a:r>
                <a:r>
                  <a:rPr lang="en-US" altLang="zh-CN" dirty="0">
                    <a:solidFill>
                      <a:srgbClr val="000000"/>
                    </a:solidFill>
                    <a:latin typeface="Times New Roman"/>
                  </a:rPr>
                  <a:t>-1</a:t>
                </a:r>
                <a:r>
                  <a:rPr lang="zh-CN" altLang="en-US" dirty="0">
                    <a:solidFill>
                      <a:srgbClr val="000000"/>
                    </a:solidFill>
                    <a:latin typeface="Times New Roman"/>
                  </a:rPr>
                  <a:t>列的数据</a:t>
                </a:r>
                <a:r>
                  <a:rPr lang="en-US" altLang="zh-CN" dirty="0">
                    <a:solidFill>
                      <a:srgbClr val="000000"/>
                    </a:solidFill>
                    <a:latin typeface="Times New Roman"/>
                  </a:rPr>
                  <a:t>(</a:t>
                </a:r>
                <a:r>
                  <a:rPr lang="zh-CN" altLang="en-US" dirty="0">
                    <a:solidFill>
                      <a:srgbClr val="000000"/>
                    </a:solidFill>
                    <a:latin typeface="Times New Roman"/>
                  </a:rPr>
                  <a:t>每列是</a:t>
                </a:r>
                <a:r>
                  <a:rPr lang="en-US" altLang="zh-CN" i="1" dirty="0">
                    <a:solidFill>
                      <a:srgbClr val="000000"/>
                    </a:solidFill>
                    <a:latin typeface="Times New Roman"/>
                  </a:rPr>
                  <a:t>p</a:t>
                </a:r>
                <a:r>
                  <a:rPr lang="en-US" altLang="zh-CN" dirty="0">
                    <a:solidFill>
                      <a:srgbClr val="000000"/>
                    </a:solidFill>
                    <a:latin typeface="Times New Roman"/>
                  </a:rPr>
                  <a:t>-1</a:t>
                </a:r>
                <a:r>
                  <a:rPr lang="zh-CN" altLang="en-US" dirty="0">
                    <a:solidFill>
                      <a:srgbClr val="000000"/>
                    </a:solidFill>
                    <a:latin typeface="Times New Roman"/>
                  </a:rPr>
                  <a:t>行</a:t>
                </a:r>
                <a:r>
                  <a:rPr lang="en-US" altLang="zh-CN" dirty="0">
                    <a:solidFill>
                      <a:srgbClr val="000000"/>
                    </a:solidFill>
                    <a:latin typeface="Times New Roman"/>
                  </a:rPr>
                  <a:t>)</a:t>
                </a:r>
                <a:r>
                  <a:rPr lang="zh-CN" altLang="en-US" dirty="0">
                    <a:solidFill>
                      <a:srgbClr val="000000"/>
                    </a:solidFill>
                    <a:latin typeface="Times New Roman"/>
                  </a:rPr>
                  <a:t>，所有数据位异或。</a:t>
                </a:r>
                <a:r>
                  <a:rPr lang="en-US" altLang="zh-CN" dirty="0">
                    <a:solidFill>
                      <a:srgbClr val="000000"/>
                    </a:solidFill>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ea typeface="宋体" panose="02010600030101010101" pitchFamily="2" charset="-122"/>
                  </a:rPr>
                  <a:t> a</a:t>
                </a:r>
                <a:r>
                  <a:rPr lang="en-US" altLang="zh-CN" i="1" baseline="-25000" dirty="0">
                    <a:solidFill>
                      <a:srgbClr val="000000"/>
                    </a:solidFill>
                    <a:ea typeface="宋体" panose="02010600030101010101" pitchFamily="2" charset="-122"/>
                  </a:rPr>
                  <a:t>&lt;l-t&gt;</a:t>
                </a:r>
                <a:r>
                  <a:rPr lang="en-US" altLang="zh-CN" i="1" baseline="-25000" dirty="0" err="1">
                    <a:solidFill>
                      <a:srgbClr val="000000"/>
                    </a:solidFill>
                    <a:ea typeface="宋体" panose="02010600030101010101" pitchFamily="2" charset="-122"/>
                  </a:rPr>
                  <a:t>p,t</a:t>
                </a:r>
                <a:r>
                  <a:rPr lang="en-US" altLang="zh-CN" dirty="0">
                    <a:solidFill>
                      <a:srgbClr val="000000"/>
                    </a:solidFill>
                  </a:rPr>
                  <a:t>))</a:t>
                </a:r>
                <a:r>
                  <a:rPr lang="zh-CN" altLang="en-US" dirty="0">
                    <a:solidFill>
                      <a:srgbClr val="000000"/>
                    </a:solidFill>
                  </a:rPr>
                  <a:t>表示</a:t>
                </a:r>
                <a:r>
                  <a:rPr lang="zh-CN" altLang="en-US" dirty="0">
                    <a:solidFill>
                      <a:srgbClr val="000000"/>
                    </a:solidFill>
                    <a:latin typeface="Times New Roman"/>
                  </a:rPr>
                  <a:t>所有的垂直校验列的值异或</a:t>
                </a:r>
                <a:r>
                  <a:rPr lang="en-US" altLang="zh-CN" dirty="0">
                    <a:solidFill>
                      <a:srgbClr val="000000"/>
                    </a:solidFill>
                    <a:latin typeface="Times New Roman"/>
                  </a:rPr>
                  <a:t>(</a:t>
                </a:r>
                <a:r>
                  <a:rPr lang="zh-CN" altLang="en-US" dirty="0">
                    <a:solidFill>
                      <a:srgbClr val="000000"/>
                    </a:solidFill>
                    <a:latin typeface="Times New Roman"/>
                  </a:rPr>
                  <a:t>除掉共同因子</a:t>
                </a:r>
                <a:r>
                  <a:rPr lang="en-US" altLang="zh-CN" dirty="0">
                    <a:solidFill>
                      <a:srgbClr val="000000"/>
                    </a:solidFill>
                    <a:latin typeface="Times New Roman"/>
                  </a:rPr>
                  <a:t>S)</a:t>
                </a:r>
                <a:r>
                  <a:rPr lang="zh-CN" altLang="en-US" dirty="0">
                    <a:solidFill>
                      <a:srgbClr val="000000"/>
                    </a:solidFill>
                    <a:latin typeface="Times New Roman"/>
                  </a:rPr>
                  <a:t>，从</a:t>
                </a:r>
                <a:r>
                  <a:rPr lang="en-US" altLang="zh-CN" dirty="0">
                    <a:solidFill>
                      <a:srgbClr val="000000"/>
                    </a:solidFill>
                    <a:latin typeface="Times New Roman"/>
                  </a:rPr>
                  <a:t>0</a:t>
                </a:r>
                <a:r>
                  <a:rPr lang="zh-CN" altLang="en-US" dirty="0">
                    <a:solidFill>
                      <a:srgbClr val="000000"/>
                    </a:solidFill>
                    <a:latin typeface="Times New Roman"/>
                  </a:rPr>
                  <a:t>到</a:t>
                </a:r>
                <a:r>
                  <a:rPr lang="en-US" altLang="zh-CN" i="1" dirty="0">
                    <a:solidFill>
                      <a:srgbClr val="000000"/>
                    </a:solidFill>
                    <a:latin typeface="Times New Roman"/>
                  </a:rPr>
                  <a:t>p</a:t>
                </a:r>
                <a:r>
                  <a:rPr lang="en-US" altLang="zh-CN" dirty="0">
                    <a:solidFill>
                      <a:srgbClr val="000000"/>
                    </a:solidFill>
                    <a:latin typeface="Times New Roman"/>
                  </a:rPr>
                  <a:t>-1(</a:t>
                </a:r>
                <a:r>
                  <a:rPr lang="zh-CN" altLang="en-US" dirty="0">
                    <a:solidFill>
                      <a:srgbClr val="000000"/>
                    </a:solidFill>
                    <a:latin typeface="Times New Roman"/>
                  </a:rPr>
                  <a:t>每列</a:t>
                </a:r>
                <a:r>
                  <a:rPr lang="en-US" altLang="zh-CN" i="1" dirty="0">
                    <a:solidFill>
                      <a:srgbClr val="000000"/>
                    </a:solidFill>
                    <a:latin typeface="Times New Roman"/>
                  </a:rPr>
                  <a:t>p</a:t>
                </a:r>
                <a:r>
                  <a:rPr lang="zh-CN" altLang="en-US" dirty="0">
                    <a:solidFill>
                      <a:srgbClr val="000000"/>
                    </a:solidFill>
                    <a:latin typeface="Times New Roman"/>
                  </a:rPr>
                  <a:t>行，但最后一行的值为</a:t>
                </a:r>
                <a:r>
                  <a:rPr lang="en-US" altLang="zh-CN" dirty="0">
                    <a:solidFill>
                      <a:srgbClr val="000000"/>
                    </a:solidFill>
                    <a:latin typeface="Times New Roman"/>
                  </a:rPr>
                  <a:t>0)</a:t>
                </a:r>
                <a:r>
                  <a:rPr lang="zh-CN" altLang="en-US" dirty="0">
                    <a:solidFill>
                      <a:srgbClr val="000000"/>
                    </a:solidFill>
                    <a:latin typeface="Times New Roman"/>
                  </a:rPr>
                  <a:t>，因此也就是所有的</a:t>
                </a:r>
                <a:r>
                  <a:rPr lang="en-US" altLang="zh-CN" dirty="0">
                    <a:solidFill>
                      <a:srgbClr val="000000"/>
                    </a:solidFill>
                    <a:latin typeface="Times New Roman"/>
                  </a:rPr>
                  <a:t>0</a:t>
                </a:r>
                <a:r>
                  <a:rPr lang="zh-CN" altLang="en-US" dirty="0">
                    <a:solidFill>
                      <a:srgbClr val="000000"/>
                    </a:solidFill>
                    <a:latin typeface="Times New Roman"/>
                  </a:rPr>
                  <a:t>到</a:t>
                </a:r>
                <a:r>
                  <a:rPr lang="en-US" altLang="zh-CN" i="1" dirty="0">
                    <a:solidFill>
                      <a:srgbClr val="000000"/>
                    </a:solidFill>
                    <a:latin typeface="Times New Roman"/>
                  </a:rPr>
                  <a:t>p</a:t>
                </a:r>
                <a:r>
                  <a:rPr lang="en-US" altLang="zh-CN" dirty="0">
                    <a:solidFill>
                      <a:srgbClr val="000000"/>
                    </a:solidFill>
                    <a:latin typeface="Times New Roman"/>
                  </a:rPr>
                  <a:t>-1</a:t>
                </a:r>
                <a:r>
                  <a:rPr lang="zh-CN" altLang="en-US" dirty="0">
                    <a:solidFill>
                      <a:srgbClr val="000000"/>
                    </a:solidFill>
                    <a:latin typeface="Times New Roman"/>
                  </a:rPr>
                  <a:t>列所有数据位异或。</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zh-CN" altLang="en-US" dirty="0">
                    <a:solidFill>
                      <a:srgbClr val="000000"/>
                    </a:solidFill>
                    <a:latin typeface="Times New Roman"/>
                  </a:rPr>
                  <a:t>        因此：</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ea typeface="宋体" panose="02010600030101010101" pitchFamily="2" charset="-122"/>
                  </a:rPr>
                  <a:t>            0=(</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latin typeface="Times New Roman"/>
                    <a:ea typeface="宋体" panose="02010600030101010101" pitchFamily="2" charset="-122"/>
                  </a:rPr>
                  <a:t> </a:t>
                </a:r>
                <a:r>
                  <a:rPr lang="en-US" altLang="zh-CN" i="1" dirty="0" err="1">
                    <a:solidFill>
                      <a:srgbClr val="000000"/>
                    </a:solidFill>
                    <a:latin typeface="Times New Roman"/>
                    <a:ea typeface="宋体" panose="02010600030101010101" pitchFamily="2" charset="-122"/>
                  </a:rPr>
                  <a:t>a</a:t>
                </a:r>
                <a:r>
                  <a:rPr lang="en-US" altLang="zh-CN" i="1" baseline="-25000" dirty="0" err="1">
                    <a:solidFill>
                      <a:srgbClr val="000000"/>
                    </a:solidFill>
                    <a:latin typeface="Times New Roman"/>
                    <a:ea typeface="宋体" panose="02010600030101010101" pitchFamily="2" charset="-122"/>
                  </a:rPr>
                  <a:t>l,t</a:t>
                </a:r>
                <a:r>
                  <a:rPr lang="en-US" altLang="zh-CN" dirty="0">
                    <a:solidFill>
                      <a:srgbClr val="000000"/>
                    </a:solidFill>
                    <a:latin typeface="Times New Roman"/>
                  </a:rPr>
                  <a:t>))</a:t>
                </a:r>
                <a:r>
                  <a:rPr lang="en-US" altLang="zh-CN" dirty="0">
                    <a:solidFill>
                      <a:srgbClr val="000000"/>
                    </a:solidFill>
                    <a:latin typeface="Times New Roman"/>
                    <a:ea typeface="宋体" panose="02010600030101010101" pitchFamily="2" charset="-122"/>
                  </a:rPr>
                  <a:t>⊕ (</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dirty="0">
                    <a:solidFill>
                      <a:srgbClr val="000000"/>
                    </a:solidFill>
                    <a:latin typeface="Times New Roman"/>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Times New Roman"/>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latin typeface="Times New Roman"/>
                    <a:ea typeface="宋体" panose="02010600030101010101" pitchFamily="2" charset="-122"/>
                  </a:rPr>
                  <a:t> a</a:t>
                </a:r>
                <a:r>
                  <a:rPr lang="en-US" altLang="zh-CN" i="1" baseline="-25000" dirty="0">
                    <a:solidFill>
                      <a:srgbClr val="000000"/>
                    </a:solidFill>
                    <a:latin typeface="Times New Roman"/>
                    <a:ea typeface="宋体" panose="02010600030101010101" pitchFamily="2" charset="-122"/>
                  </a:rPr>
                  <a:t>&lt;l-t&gt;</a:t>
                </a:r>
                <a:r>
                  <a:rPr lang="en-US" altLang="zh-CN" i="1" baseline="-25000" dirty="0" err="1">
                    <a:solidFill>
                      <a:srgbClr val="000000"/>
                    </a:solidFill>
                    <a:latin typeface="Times New Roman"/>
                    <a:ea typeface="宋体" panose="02010600030101010101" pitchFamily="2" charset="-122"/>
                  </a:rPr>
                  <a:t>p,t</a:t>
                </a:r>
                <a:r>
                  <a:rPr lang="en-US" altLang="zh-CN" dirty="0">
                    <a:solidFill>
                      <a:srgbClr val="000000"/>
                    </a:solidFill>
                    <a:latin typeface="Times New Roman"/>
                  </a:rPr>
                  <a:t>))</a:t>
                </a:r>
              </a:p>
              <a:p>
                <a:pPr eaLnBrk="0" fontAlgn="base" hangingPunct="0">
                  <a:lnSpc>
                    <a:spcPts val="3600"/>
                  </a:lnSpc>
                  <a:spcBef>
                    <a:spcPct val="0"/>
                  </a:spcBef>
                  <a:spcAft>
                    <a:spcPct val="0"/>
                  </a:spcAft>
                </a:pPr>
                <a:r>
                  <a:rPr lang="en-US" altLang="zh-CN" dirty="0">
                    <a:solidFill>
                      <a:srgbClr val="000000"/>
                    </a:solidFill>
                    <a:ea typeface="宋体" panose="02010600030101010101" pitchFamily="2" charset="-122"/>
                  </a:rPr>
                  <a:t>              =(</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ea typeface="宋体" panose="02010600030101010101" pitchFamily="2" charset="-122"/>
                  </a:rPr>
                  <a:t> </a:t>
                </a:r>
                <a:r>
                  <a:rPr lang="en-US" altLang="zh-CN" i="1" dirty="0" err="1">
                    <a:solidFill>
                      <a:srgbClr val="000000"/>
                    </a:solidFill>
                    <a:ea typeface="宋体" panose="02010600030101010101" pitchFamily="2" charset="-122"/>
                  </a:rPr>
                  <a:t>a</a:t>
                </a:r>
                <a:r>
                  <a:rPr lang="en-US" altLang="zh-CN" i="1" baseline="-25000" dirty="0" err="1">
                    <a:solidFill>
                      <a:srgbClr val="000000"/>
                    </a:solidFill>
                    <a:ea typeface="宋体" panose="02010600030101010101" pitchFamily="2" charset="-122"/>
                  </a:rPr>
                  <a:t>l,t</a:t>
                </a:r>
                <a:r>
                  <a:rPr lang="en-US" altLang="zh-CN" dirty="0">
                    <a:solidFill>
                      <a:srgbClr val="000000"/>
                    </a:solidFill>
                  </a:rPr>
                  <a:t>))</a:t>
                </a:r>
                <a:r>
                  <a:rPr lang="en-US" altLang="zh-CN" dirty="0">
                    <a:solidFill>
                      <a:srgbClr val="000000"/>
                    </a:solidFill>
                    <a:ea typeface="宋体" panose="02010600030101010101" pitchFamily="2" charset="-122"/>
                  </a:rPr>
                  <a:t>⊕ (</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ea typeface="宋体" panose="02010600030101010101" pitchFamily="2" charset="-122"/>
                  </a:rPr>
                  <a:t> a</a:t>
                </a:r>
                <a:r>
                  <a:rPr lang="en-US" altLang="zh-CN" i="1" baseline="-25000" dirty="0">
                    <a:solidFill>
                      <a:srgbClr val="000000"/>
                    </a:solidFill>
                    <a:ea typeface="宋体" panose="02010600030101010101" pitchFamily="2" charset="-122"/>
                  </a:rPr>
                  <a:t>&lt;l-t&gt;</a:t>
                </a:r>
                <a:r>
                  <a:rPr lang="en-US" altLang="zh-CN" i="1" baseline="-25000" dirty="0" err="1">
                    <a:solidFill>
                      <a:srgbClr val="000000"/>
                    </a:solidFill>
                    <a:ea typeface="宋体" panose="02010600030101010101" pitchFamily="2" charset="-122"/>
                  </a:rPr>
                  <a:t>p,t</a:t>
                </a:r>
                <a:r>
                  <a:rPr lang="en-US" altLang="zh-CN" dirty="0">
                    <a:solidFill>
                      <a:srgbClr val="000000"/>
                    </a:solidFill>
                  </a:rPr>
                  <a:t>))</a:t>
                </a:r>
                <a:r>
                  <a:rPr lang="en-US" altLang="zh-CN" dirty="0">
                    <a:solidFill>
                      <a:srgbClr val="000000"/>
                    </a:solidFill>
                    <a:ea typeface="宋体" panose="02010600030101010101" pitchFamily="2" charset="-122"/>
                  </a:rPr>
                  <a:t> ⊕(</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=1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ea typeface="宋体" panose="02010600030101010101" pitchFamily="2" charset="-122"/>
                  </a:rPr>
                  <a:t> a</a:t>
                </a:r>
                <a:r>
                  <a:rPr lang="en-US" altLang="zh-CN" i="1" baseline="-25000" dirty="0">
                    <a:solidFill>
                      <a:srgbClr val="000000"/>
                    </a:solidFill>
                    <a:ea typeface="宋体" panose="02010600030101010101" pitchFamily="2" charset="-122"/>
                  </a:rPr>
                  <a:t>p</a:t>
                </a:r>
                <a:r>
                  <a:rPr lang="en-US" altLang="zh-CN" baseline="-25000" dirty="0">
                    <a:solidFill>
                      <a:srgbClr val="000000"/>
                    </a:solidFill>
                    <a:ea typeface="宋体" panose="02010600030101010101" pitchFamily="2" charset="-122"/>
                  </a:rPr>
                  <a:t>-1-</a:t>
                </a:r>
                <a:r>
                  <a:rPr lang="en-US" altLang="zh-CN" i="1" baseline="-25000" dirty="0">
                    <a:solidFill>
                      <a:srgbClr val="000000"/>
                    </a:solidFill>
                    <a:ea typeface="宋体" panose="02010600030101010101" pitchFamily="2" charset="-122"/>
                  </a:rPr>
                  <a:t>t,t</a:t>
                </a:r>
                <a:r>
                  <a:rPr lang="en-US" altLang="zh-CN" dirty="0">
                    <a:solidFill>
                      <a:srgbClr val="000000"/>
                    </a:solidFill>
                    <a:ea typeface="宋体" panose="02010600030101010101" pitchFamily="2" charset="-122"/>
                  </a:rPr>
                  <a:t>) </a:t>
                </a:r>
              </a:p>
              <a:p>
                <a:pPr eaLnBrk="0" fontAlgn="base" hangingPunct="0">
                  <a:lnSpc>
                    <a:spcPts val="3600"/>
                  </a:lnSpc>
                  <a:spcBef>
                    <a:spcPct val="0"/>
                  </a:spcBef>
                  <a:spcAft>
                    <a:spcPct val="0"/>
                  </a:spcAft>
                </a:pPr>
                <a:r>
                  <a:rPr lang="zh-CN" altLang="en-US" dirty="0">
                    <a:solidFill>
                      <a:srgbClr val="000000"/>
                    </a:solidFill>
                    <a:latin typeface="Times New Roman"/>
                  </a:rPr>
                  <a:t>         所以得到如下公式：</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ea typeface="宋体" panose="02010600030101010101" pitchFamily="2" charset="-122"/>
                  </a:rPr>
                  <a:t>       (</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ea typeface="宋体" panose="02010600030101010101" pitchFamily="2" charset="-122"/>
                  </a:rPr>
                  <a:t> </a:t>
                </a:r>
                <a:r>
                  <a:rPr lang="en-US" altLang="zh-CN" i="1" dirty="0" err="1">
                    <a:solidFill>
                      <a:srgbClr val="000000"/>
                    </a:solidFill>
                    <a:ea typeface="宋体" panose="02010600030101010101" pitchFamily="2" charset="-122"/>
                  </a:rPr>
                  <a:t>a</a:t>
                </a:r>
                <a:r>
                  <a:rPr lang="en-US" altLang="zh-CN" i="1" baseline="-25000" dirty="0" err="1">
                    <a:solidFill>
                      <a:srgbClr val="000000"/>
                    </a:solidFill>
                    <a:ea typeface="宋体" panose="02010600030101010101" pitchFamily="2" charset="-122"/>
                  </a:rPr>
                  <a:t>l,t</a:t>
                </a:r>
                <a:r>
                  <a:rPr lang="en-US" altLang="zh-CN" dirty="0">
                    <a:solidFill>
                      <a:srgbClr val="000000"/>
                    </a:solidFill>
                  </a:rPr>
                  <a:t>))</a:t>
                </a:r>
                <a:r>
                  <a:rPr lang="en-US" altLang="zh-CN" dirty="0">
                    <a:solidFill>
                      <a:srgbClr val="000000"/>
                    </a:solidFill>
                    <a:ea typeface="宋体" panose="02010600030101010101" pitchFamily="2" charset="-122"/>
                  </a:rPr>
                  <a:t>⊕ (</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𝑙</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−2</m:t>
                        </m:r>
                      </m:sup>
                    </m:sSubSup>
                  </m:oMath>
                </a14:m>
                <a:r>
                  <a:rPr lang="en-US" altLang="zh-CN" dirty="0">
                    <a:solidFill>
                      <a:srgbClr val="000000"/>
                    </a:solidFill>
                    <a:ea typeface="宋体" panose="02010600030101010101" pitchFamily="2" charset="-122"/>
                  </a:rPr>
                  <a:t>(</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=0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ea typeface="宋体" panose="02010600030101010101" pitchFamily="2" charset="-122"/>
                  </a:rPr>
                  <a:t> a</a:t>
                </a:r>
                <a:r>
                  <a:rPr lang="en-US" altLang="zh-CN" i="1" baseline="-25000" dirty="0">
                    <a:solidFill>
                      <a:srgbClr val="000000"/>
                    </a:solidFill>
                    <a:ea typeface="宋体" panose="02010600030101010101" pitchFamily="2" charset="-122"/>
                  </a:rPr>
                  <a:t>&lt;l-t&gt;</a:t>
                </a:r>
                <a:r>
                  <a:rPr lang="en-US" altLang="zh-CN" i="1" baseline="-25000" dirty="0" err="1">
                    <a:solidFill>
                      <a:srgbClr val="000000"/>
                    </a:solidFill>
                    <a:ea typeface="宋体" panose="02010600030101010101" pitchFamily="2" charset="-122"/>
                  </a:rPr>
                  <a:t>p,t</a:t>
                </a:r>
                <a:r>
                  <a:rPr lang="en-US" altLang="zh-CN" dirty="0">
                    <a:solidFill>
                      <a:srgbClr val="000000"/>
                    </a:solidFill>
                  </a:rPr>
                  <a:t>)) = </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dirty="0">
                            <a:solidFill>
                              <a:srgbClr val="000000"/>
                            </a:solidFill>
                            <a:latin typeface="Cambria Math" panose="02040503050406030204" pitchFamily="18" charset="0"/>
                            <a:ea typeface="宋体" panose="02010600030101010101" pitchFamily="2" charset="-122"/>
                          </a:rPr>
                          <m:t>⊕</m:t>
                        </m:r>
                      </m:e>
                      <m:sub>
                        <m:r>
                          <a:rPr lang="en-US" altLang="zh-CN" i="1" dirty="0">
                            <a:solidFill>
                              <a:srgbClr val="000000"/>
                            </a:solidFill>
                            <a:latin typeface="Cambria Math" panose="02040503050406030204" pitchFamily="18" charset="0"/>
                            <a:ea typeface="宋体" panose="02010600030101010101" pitchFamily="2" charset="-122"/>
                          </a:rPr>
                          <m:t>𝑡</m:t>
                        </m:r>
                        <m:r>
                          <a:rPr lang="en-US" altLang="zh-CN" i="1">
                            <a:solidFill>
                              <a:srgbClr val="000000"/>
                            </a:solidFill>
                            <a:latin typeface="Cambria Math" panose="02040503050406030204" pitchFamily="18" charset="0"/>
                            <a:ea typeface="宋体" panose="02010600030101010101" pitchFamily="2" charset="-122"/>
                          </a:rPr>
                          <m:t>=1 </m:t>
                        </m:r>
                      </m:sub>
                      <m:sup>
                        <m:r>
                          <a:rPr lang="en-US" altLang="zh-CN" i="1">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i="1" dirty="0">
                    <a:solidFill>
                      <a:srgbClr val="000000"/>
                    </a:solidFill>
                    <a:ea typeface="宋体" panose="02010600030101010101" pitchFamily="2" charset="-122"/>
                  </a:rPr>
                  <a:t> a</a:t>
                </a:r>
                <a:r>
                  <a:rPr lang="en-US" altLang="zh-CN" i="1" baseline="-25000" dirty="0">
                    <a:solidFill>
                      <a:srgbClr val="000000"/>
                    </a:solidFill>
                    <a:ea typeface="宋体" panose="02010600030101010101" pitchFamily="2" charset="-122"/>
                  </a:rPr>
                  <a:t>p</a:t>
                </a:r>
                <a:r>
                  <a:rPr lang="en-US" altLang="zh-CN" baseline="-25000" dirty="0">
                    <a:solidFill>
                      <a:srgbClr val="000000"/>
                    </a:solidFill>
                    <a:ea typeface="宋体" panose="02010600030101010101" pitchFamily="2" charset="-122"/>
                  </a:rPr>
                  <a:t>-1-</a:t>
                </a:r>
                <a:r>
                  <a:rPr lang="en-US" altLang="zh-CN" i="1" baseline="-25000" dirty="0">
                    <a:solidFill>
                      <a:srgbClr val="000000"/>
                    </a:solidFill>
                    <a:ea typeface="宋体" panose="02010600030101010101" pitchFamily="2" charset="-122"/>
                  </a:rPr>
                  <a:t>t,t                 </a:t>
                </a:r>
                <a:r>
                  <a:rPr lang="en-US" altLang="zh-CN" dirty="0">
                    <a:solidFill>
                      <a:srgbClr val="000000"/>
                    </a:solidFill>
                    <a:ea typeface="宋体" panose="02010600030101010101" pitchFamily="2" charset="-122"/>
                  </a:rPr>
                  <a:t>(11)</a:t>
                </a:r>
              </a:p>
              <a:p>
                <a:pPr eaLnBrk="0" fontAlgn="base" hangingPunct="0">
                  <a:lnSpc>
                    <a:spcPts val="3600"/>
                  </a:lnSpc>
                  <a:spcBef>
                    <a:spcPct val="0"/>
                  </a:spcBef>
                  <a:spcAft>
                    <a:spcPct val="0"/>
                  </a:spcAft>
                </a:pPr>
                <a:r>
                  <a:rPr lang="zh-CN" altLang="en-US" dirty="0">
                    <a:solidFill>
                      <a:srgbClr val="000000"/>
                    </a:solidFill>
                    <a:latin typeface="Times New Roman"/>
                  </a:rPr>
                  <a:t>         公式</a:t>
                </a:r>
                <a:r>
                  <a:rPr lang="en-US" altLang="zh-CN" dirty="0">
                    <a:solidFill>
                      <a:srgbClr val="000000"/>
                    </a:solidFill>
                    <a:latin typeface="Times New Roman"/>
                  </a:rPr>
                  <a:t>(11)</a:t>
                </a:r>
                <a:r>
                  <a:rPr lang="zh-CN" altLang="en-US" dirty="0">
                    <a:solidFill>
                      <a:srgbClr val="000000"/>
                    </a:solidFill>
                    <a:latin typeface="Times New Roman"/>
                  </a:rPr>
                  <a:t>证明了公式</a:t>
                </a:r>
                <a:r>
                  <a:rPr lang="en-US" altLang="zh-CN" dirty="0">
                    <a:solidFill>
                      <a:srgbClr val="000000"/>
                    </a:solidFill>
                    <a:latin typeface="Times New Roman"/>
                  </a:rPr>
                  <a:t>(2)</a:t>
                </a:r>
                <a:r>
                  <a:rPr lang="zh-CN" altLang="en-US" dirty="0">
                    <a:solidFill>
                      <a:srgbClr val="000000"/>
                    </a:solidFill>
                    <a:latin typeface="Times New Roman"/>
                  </a:rPr>
                  <a:t>和公式</a:t>
                </a:r>
                <a:r>
                  <a:rPr lang="en-US" altLang="zh-CN" dirty="0">
                    <a:solidFill>
                      <a:srgbClr val="000000"/>
                    </a:solidFill>
                    <a:latin typeface="Times New Roman"/>
                  </a:rPr>
                  <a:t>(7)</a:t>
                </a:r>
                <a:r>
                  <a:rPr lang="zh-CN" altLang="en-US" dirty="0">
                    <a:solidFill>
                      <a:srgbClr val="000000"/>
                    </a:solidFill>
                    <a:latin typeface="Times New Roman"/>
                  </a:rPr>
                  <a:t>都能给出公共因子</a:t>
                </a:r>
                <a:r>
                  <a:rPr lang="en-US" altLang="zh-CN" dirty="0">
                    <a:solidFill>
                      <a:srgbClr val="000000"/>
                    </a:solidFill>
                    <a:latin typeface="Times New Roman"/>
                  </a:rPr>
                  <a:t>S</a:t>
                </a:r>
                <a:r>
                  <a:rPr lang="zh-CN" altLang="en-US" dirty="0">
                    <a:solidFill>
                      <a:srgbClr val="000000"/>
                    </a:solidFill>
                    <a:latin typeface="Times New Roman"/>
                  </a:rPr>
                  <a:t>的值。</a:t>
                </a:r>
                <a:endParaRPr lang="en-US" altLang="zh-CN" dirty="0">
                  <a:solidFill>
                    <a:srgbClr val="000000"/>
                  </a:solidFill>
                  <a:latin typeface="Times New Roman"/>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2001624" y="914466"/>
                <a:ext cx="7924592" cy="5573898"/>
              </a:xfrm>
              <a:prstGeom prst="rect">
                <a:avLst/>
              </a:prstGeom>
              <a:blipFill>
                <a:blip r:embed="rId3"/>
                <a:stretch>
                  <a:fillRect l="-769" r="-846" b="-1094"/>
                </a:stretch>
              </a:blipFill>
            </p:spPr>
            <p:txBody>
              <a:bodyPr/>
              <a:lstStyle/>
              <a:p>
                <a:r>
                  <a:rPr lang="zh-CN" altLang="en-US">
                    <a:noFill/>
                  </a:rPr>
                  <a:t> </a:t>
                </a:r>
              </a:p>
            </p:txBody>
          </p:sp>
        </mc:Fallback>
      </mc:AlternateContent>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en-US" altLang="zh-CN" sz="2400" dirty="0">
                <a:sym typeface="+mn-ea"/>
              </a:rPr>
              <a:t>EVENODD</a:t>
            </a:r>
            <a:r>
              <a:rPr lang="zh-CN" altLang="en-US" sz="2400" dirty="0">
                <a:sym typeface="+mn-ea"/>
              </a:rPr>
              <a:t>码解码正确性证明</a:t>
            </a:r>
          </a:p>
        </p:txBody>
      </p:sp>
      <mc:AlternateContent xmlns:mc="http://schemas.openxmlformats.org/markup-compatibility/2006" xmlns:a14="http://schemas.microsoft.com/office/drawing/2010/main">
        <mc:Choice Requires="a14">
          <p:sp>
            <p:nvSpPr>
              <p:cNvPr id="9" name="文本框 8"/>
              <p:cNvSpPr txBox="1"/>
              <p:nvPr/>
            </p:nvSpPr>
            <p:spPr>
              <a:xfrm>
                <a:off x="385475" y="790575"/>
                <a:ext cx="11600962" cy="418890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latin typeface="Times New Roman"/>
                  </a:rPr>
                  <a:t>        下面给出证明“这个算法只能唯一恢复第</a:t>
                </a:r>
                <a:r>
                  <a:rPr lang="en-US" altLang="zh-CN" dirty="0" err="1">
                    <a:solidFill>
                      <a:srgbClr val="000000"/>
                    </a:solidFill>
                    <a:latin typeface="Times New Roman"/>
                  </a:rPr>
                  <a:t>i</a:t>
                </a:r>
                <a:r>
                  <a:rPr lang="zh-CN" altLang="en-US" dirty="0">
                    <a:solidFill>
                      <a:srgbClr val="000000"/>
                    </a:solidFill>
                    <a:latin typeface="Times New Roman"/>
                  </a:rPr>
                  <a:t>列和第</a:t>
                </a:r>
                <a:r>
                  <a:rPr lang="en-US" altLang="zh-CN" dirty="0">
                    <a:solidFill>
                      <a:srgbClr val="000000"/>
                    </a:solidFill>
                    <a:latin typeface="Times New Roman"/>
                  </a:rPr>
                  <a:t>j</a:t>
                </a:r>
                <a:r>
                  <a:rPr lang="zh-CN" altLang="en-US" dirty="0">
                    <a:solidFill>
                      <a:srgbClr val="000000"/>
                    </a:solidFill>
                    <a:latin typeface="Times New Roman"/>
                  </a:rPr>
                  <a:t>列的数据”。</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zh-CN" altLang="en-US" dirty="0">
                    <a:solidFill>
                      <a:srgbClr val="000000"/>
                    </a:solidFill>
                    <a:latin typeface="Times New Roman"/>
                  </a:rPr>
                  <a:t>假设校验组</a:t>
                </a:r>
                <a:r>
                  <a:rPr lang="en-US" altLang="zh-CN" i="1" dirty="0">
                    <a:solidFill>
                      <a:srgbClr val="000000"/>
                    </a:solidFill>
                    <a:latin typeface="Times New Roman"/>
                  </a:rPr>
                  <a:t>S</a:t>
                </a:r>
                <a:r>
                  <a:rPr lang="en-US" altLang="zh-CN" baseline="30000" dirty="0">
                    <a:solidFill>
                      <a:srgbClr val="000000"/>
                    </a:solidFill>
                    <a:latin typeface="Times New Roman"/>
                  </a:rPr>
                  <a:t>(0)</a:t>
                </a:r>
                <a:r>
                  <a:rPr lang="zh-CN" altLang="en-US" dirty="0">
                    <a:solidFill>
                      <a:srgbClr val="000000"/>
                    </a:solidFill>
                    <a:latin typeface="Times New Roman"/>
                  </a:rPr>
                  <a:t>和对角校验组</a:t>
                </a:r>
                <a:r>
                  <a:rPr lang="en-US" altLang="zh-CN" i="1" dirty="0">
                    <a:solidFill>
                      <a:srgbClr val="000000"/>
                    </a:solidFill>
                    <a:latin typeface="Times New Roman"/>
                  </a:rPr>
                  <a:t>S</a:t>
                </a:r>
                <a:r>
                  <a:rPr lang="en-US" altLang="zh-CN" baseline="30000" dirty="0">
                    <a:solidFill>
                      <a:srgbClr val="000000"/>
                    </a:solidFill>
                    <a:latin typeface="Times New Roman"/>
                  </a:rPr>
                  <a:t>(1)</a:t>
                </a:r>
                <a:r>
                  <a:rPr lang="zh-CN" altLang="en-US" dirty="0">
                    <a:solidFill>
                      <a:srgbClr val="000000"/>
                    </a:solidFill>
                    <a:latin typeface="Times New Roman"/>
                  </a:rPr>
                  <a:t>已经分别由公式</a:t>
                </a:r>
                <a:r>
                  <a:rPr lang="en-US" altLang="zh-CN" dirty="0">
                    <a:solidFill>
                      <a:srgbClr val="000000"/>
                    </a:solidFill>
                    <a:latin typeface="Times New Roman"/>
                  </a:rPr>
                  <a:t>(8)</a:t>
                </a:r>
                <a:r>
                  <a:rPr lang="zh-CN" altLang="en-US" dirty="0">
                    <a:solidFill>
                      <a:srgbClr val="000000"/>
                    </a:solidFill>
                    <a:latin typeface="Times New Roman"/>
                  </a:rPr>
                  <a:t>和公式</a:t>
                </a:r>
                <a:r>
                  <a:rPr lang="en-US" altLang="zh-CN" dirty="0">
                    <a:solidFill>
                      <a:srgbClr val="000000"/>
                    </a:solidFill>
                    <a:latin typeface="Times New Roman"/>
                  </a:rPr>
                  <a:t>(9)</a:t>
                </a:r>
                <a:r>
                  <a:rPr lang="zh-CN" altLang="en-US" dirty="0">
                    <a:solidFill>
                      <a:srgbClr val="000000"/>
                    </a:solidFill>
                    <a:latin typeface="Times New Roman"/>
                  </a:rPr>
                  <a:t>获得。</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zh-CN" altLang="en-US" dirty="0">
                    <a:solidFill>
                      <a:srgbClr val="000000"/>
                    </a:solidFill>
                    <a:latin typeface="Times New Roman"/>
                  </a:rPr>
                  <a:t>         第一步给</a:t>
                </a:r>
                <a:r>
                  <a:rPr lang="en-US" altLang="zh-CN" i="1" dirty="0">
                    <a:solidFill>
                      <a:srgbClr val="000000"/>
                    </a:solidFill>
                    <a:latin typeface="Times New Roman"/>
                  </a:rPr>
                  <a:t>S</a:t>
                </a:r>
                <a:r>
                  <a:rPr lang="zh-CN" altLang="en-US" dirty="0">
                    <a:solidFill>
                      <a:srgbClr val="000000"/>
                    </a:solidFill>
                    <a:latin typeface="Times New Roman"/>
                  </a:rPr>
                  <a:t>赋初值</a:t>
                </a:r>
                <a:r>
                  <a:rPr lang="en-US" altLang="zh-CN" i="1" dirty="0">
                    <a:solidFill>
                      <a:srgbClr val="000000"/>
                    </a:solidFill>
                    <a:latin typeface="Times New Roman"/>
                  </a:rPr>
                  <a:t>S</a:t>
                </a:r>
                <a:r>
                  <a:rPr lang="en-US" altLang="zh-CN" dirty="0">
                    <a:solidFill>
                      <a:srgbClr val="000000"/>
                    </a:solidFill>
                    <a:latin typeface="Times New Roman"/>
                  </a:rPr>
                  <a:t> = &lt;-(</a:t>
                </a:r>
                <a:r>
                  <a:rPr lang="en-US" altLang="zh-CN" i="1" dirty="0">
                    <a:solidFill>
                      <a:srgbClr val="000000"/>
                    </a:solidFill>
                    <a:latin typeface="Times New Roman"/>
                  </a:rPr>
                  <a:t>j</a:t>
                </a:r>
                <a:r>
                  <a:rPr lang="en-US" altLang="zh-CN" dirty="0">
                    <a:solidFill>
                      <a:srgbClr val="000000"/>
                    </a:solidFill>
                    <a:latin typeface="Times New Roman"/>
                  </a:rPr>
                  <a:t>-</a:t>
                </a:r>
                <a:r>
                  <a:rPr lang="en-US" altLang="zh-CN" i="1" dirty="0" err="1">
                    <a:solidFill>
                      <a:srgbClr val="000000"/>
                    </a:solidFill>
                    <a:latin typeface="Times New Roman"/>
                  </a:rPr>
                  <a:t>i</a:t>
                </a:r>
                <a:r>
                  <a:rPr lang="en-US" altLang="zh-CN" dirty="0">
                    <a:solidFill>
                      <a:srgbClr val="000000"/>
                    </a:solidFill>
                    <a:latin typeface="Times New Roman"/>
                  </a:rPr>
                  <a:t>)-1&gt;</a:t>
                </a:r>
                <a:r>
                  <a:rPr lang="en-US" altLang="zh-CN" i="1" dirty="0">
                    <a:solidFill>
                      <a:srgbClr val="000000"/>
                    </a:solidFill>
                    <a:latin typeface="Times New Roman"/>
                  </a:rPr>
                  <a:t>p</a:t>
                </a:r>
                <a:r>
                  <a:rPr lang="zh-CN" altLang="en-US" dirty="0">
                    <a:solidFill>
                      <a:srgbClr val="000000"/>
                    </a:solidFill>
                    <a:latin typeface="Times New Roman"/>
                  </a:rPr>
                  <a:t>得到</a:t>
                </a:r>
                <a:r>
                  <a:rPr lang="en-US" altLang="zh-CN" i="1" dirty="0">
                    <a:solidFill>
                      <a:srgbClr val="000000"/>
                    </a:solidFill>
                    <a:latin typeface="Times New Roman"/>
                  </a:rPr>
                  <a:t>S</a:t>
                </a:r>
                <a:r>
                  <a:rPr lang="zh-CN" altLang="en-US" dirty="0">
                    <a:solidFill>
                      <a:srgbClr val="000000"/>
                    </a:solidFill>
                    <a:latin typeface="Times New Roman"/>
                  </a:rPr>
                  <a:t>。</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zh-CN" altLang="en-US" dirty="0">
                    <a:solidFill>
                      <a:srgbClr val="000000"/>
                    </a:solidFill>
                    <a:latin typeface="Times New Roman"/>
                  </a:rPr>
                  <a:t>         第二步计算：</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rPr>
                  <a:t>                                </a:t>
                </a:r>
                <a:r>
                  <a:rPr lang="en-US" altLang="zh-CN" i="1" dirty="0">
                    <a:solidFill>
                      <a:srgbClr val="000000"/>
                    </a:solidFill>
                    <a:latin typeface="Times New Roman"/>
                  </a:rPr>
                  <a:t>a</a:t>
                </a:r>
                <a:r>
                  <a:rPr lang="en-US" altLang="zh-CN" baseline="-25000" dirty="0">
                    <a:solidFill>
                      <a:srgbClr val="000000"/>
                    </a:solidFill>
                    <a:latin typeface="Times New Roman"/>
                  </a:rPr>
                  <a:t>&lt;-(</a:t>
                </a:r>
                <a:r>
                  <a:rPr lang="en-US" altLang="zh-CN" i="1" baseline="-25000" dirty="0">
                    <a:solidFill>
                      <a:srgbClr val="000000"/>
                    </a:solidFill>
                    <a:latin typeface="Times New Roman"/>
                  </a:rPr>
                  <a:t>j-</a:t>
                </a:r>
                <a:r>
                  <a:rPr lang="en-US" altLang="zh-CN" i="1" baseline="-25000" dirty="0" err="1">
                    <a:solidFill>
                      <a:srgbClr val="000000"/>
                    </a:solidFill>
                    <a:latin typeface="Times New Roman"/>
                  </a:rPr>
                  <a:t>i</a:t>
                </a:r>
                <a:r>
                  <a:rPr lang="en-US" altLang="zh-CN" baseline="-25000" dirty="0">
                    <a:solidFill>
                      <a:srgbClr val="000000"/>
                    </a:solidFill>
                    <a:latin typeface="Times New Roman"/>
                  </a:rPr>
                  <a:t>)-1&gt;</a:t>
                </a:r>
                <a:r>
                  <a:rPr lang="en-US" altLang="zh-CN" i="1" baseline="-25000" dirty="0" err="1">
                    <a:solidFill>
                      <a:srgbClr val="000000"/>
                    </a:solidFill>
                    <a:latin typeface="Times New Roman"/>
                  </a:rPr>
                  <a:t>p,j</a:t>
                </a:r>
                <a:r>
                  <a:rPr lang="en-US" altLang="zh-CN" i="1" baseline="-25000" dirty="0">
                    <a:solidFill>
                      <a:srgbClr val="000000"/>
                    </a:solidFill>
                    <a:latin typeface="Times New Roman"/>
                  </a:rPr>
                  <a:t> </a:t>
                </a:r>
                <a:r>
                  <a:rPr lang="en-US" altLang="zh-CN" dirty="0">
                    <a:solidFill>
                      <a:srgbClr val="000000"/>
                    </a:solidFill>
                    <a:latin typeface="Times New Roman"/>
                    <a:sym typeface="Wingdings" panose="05000000000000000000" pitchFamily="2" charset="2"/>
                  </a:rPr>
                  <a:t> </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i="1" dirty="0">
                            <a:solidFill>
                              <a:srgbClr val="000000"/>
                            </a:solidFill>
                            <a:latin typeface="Cambria Math" panose="02040503050406030204" pitchFamily="18" charset="0"/>
                            <a:ea typeface="宋体" panose="02010600030101010101" pitchFamily="2" charset="-122"/>
                          </a:rPr>
                          <m:t>S</m:t>
                        </m:r>
                      </m:e>
                      <m:sub>
                        <m:r>
                          <a:rPr lang="en-US" altLang="zh-CN" i="1" dirty="0">
                            <a:solidFill>
                              <a:srgbClr val="000000"/>
                            </a:solidFill>
                            <a:latin typeface="Cambria Math" panose="02040503050406030204" pitchFamily="18" charset="0"/>
                            <a:ea typeface="宋体" panose="02010600030101010101" pitchFamily="2" charset="-122"/>
                          </a:rPr>
                          <m:t>&lt;</m:t>
                        </m:r>
                        <m:r>
                          <a:rPr lang="en-US" altLang="zh-CN" i="1" dirty="0">
                            <a:solidFill>
                              <a:srgbClr val="000000"/>
                            </a:solidFill>
                            <a:latin typeface="Cambria Math" panose="02040503050406030204" pitchFamily="18" charset="0"/>
                            <a:ea typeface="宋体" panose="02010600030101010101" pitchFamily="2" charset="-122"/>
                          </a:rPr>
                          <m:t>𝑖</m:t>
                        </m:r>
                        <m:r>
                          <a:rPr lang="en-US" altLang="zh-CN" i="1" dirty="0">
                            <a:solidFill>
                              <a:srgbClr val="000000"/>
                            </a:solidFill>
                            <a:latin typeface="Cambria Math" panose="02040503050406030204" pitchFamily="18" charset="0"/>
                            <a:ea typeface="宋体" panose="02010600030101010101" pitchFamily="2" charset="-122"/>
                          </a:rPr>
                          <m:t>−1&gt;</m:t>
                        </m:r>
                        <m:r>
                          <a:rPr lang="en-US" altLang="zh-CN" i="1" dirty="0">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 </m:t>
                        </m:r>
                      </m:sub>
                      <m:sup>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dirty="0">
                    <a:solidFill>
                      <a:srgbClr val="000000"/>
                    </a:solidFill>
                    <a:latin typeface="Times New Roman"/>
                  </a:rPr>
                  <a:t>                                           (12)</a:t>
                </a:r>
              </a:p>
              <a:p>
                <a:pPr eaLnBrk="0" fontAlgn="base" hangingPunct="0">
                  <a:lnSpc>
                    <a:spcPts val="3600"/>
                  </a:lnSpc>
                  <a:spcBef>
                    <a:spcPct val="0"/>
                  </a:spcBef>
                  <a:spcAft>
                    <a:spcPct val="0"/>
                  </a:spcAft>
                </a:pPr>
                <a:r>
                  <a:rPr lang="zh-CN" altLang="en-US" dirty="0">
                    <a:solidFill>
                      <a:srgbClr val="000000"/>
                    </a:solidFill>
                    <a:latin typeface="Times New Roman"/>
                  </a:rPr>
                  <a:t>         该公式是正确的，通过公式</a:t>
                </a:r>
                <a:r>
                  <a:rPr lang="en-US" altLang="zh-CN" dirty="0">
                    <a:solidFill>
                      <a:srgbClr val="000000"/>
                    </a:solidFill>
                    <a:latin typeface="Times New Roman"/>
                  </a:rPr>
                  <a:t>(3)</a:t>
                </a:r>
                <a:r>
                  <a:rPr lang="zh-CN" altLang="en-US" dirty="0">
                    <a:solidFill>
                      <a:srgbClr val="000000"/>
                    </a:solidFill>
                    <a:latin typeface="Times New Roman"/>
                  </a:rPr>
                  <a:t>和公式</a:t>
                </a:r>
                <a:r>
                  <a:rPr lang="en-US" altLang="zh-CN" dirty="0">
                    <a:solidFill>
                      <a:srgbClr val="000000"/>
                    </a:solidFill>
                    <a:latin typeface="Times New Roman"/>
                  </a:rPr>
                  <a:t>(9)</a:t>
                </a:r>
                <a:r>
                  <a:rPr lang="zh-CN" altLang="en-US" dirty="0">
                    <a:solidFill>
                      <a:srgbClr val="000000"/>
                    </a:solidFill>
                    <a:latin typeface="Times New Roman"/>
                  </a:rPr>
                  <a:t>可以得出。</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rPr>
                  <a:t>         </a:t>
                </a:r>
                <a:r>
                  <a:rPr lang="zh-CN" altLang="en-US" dirty="0">
                    <a:solidFill>
                      <a:srgbClr val="000000"/>
                    </a:solidFill>
                    <a:latin typeface="Times New Roman"/>
                  </a:rPr>
                  <a:t>如果首先计算出</a:t>
                </a:r>
                <a:r>
                  <a:rPr lang="en-US" altLang="zh-CN" sz="2400" i="1" dirty="0">
                    <a:solidFill>
                      <a:srgbClr val="000000"/>
                    </a:solidFill>
                  </a:rPr>
                  <a:t>a</a:t>
                </a:r>
                <a:r>
                  <a:rPr lang="en-US" altLang="zh-CN" sz="2400" baseline="-25000" dirty="0">
                    <a:solidFill>
                      <a:srgbClr val="000000"/>
                    </a:solidFill>
                  </a:rPr>
                  <a:t>&lt;</a:t>
                </a:r>
                <a:r>
                  <a:rPr lang="en-US" altLang="zh-CN" sz="2400" i="1" baseline="-25000" dirty="0">
                    <a:solidFill>
                      <a:srgbClr val="000000"/>
                    </a:solidFill>
                  </a:rPr>
                  <a:t>i</a:t>
                </a:r>
                <a:r>
                  <a:rPr lang="en-US" altLang="zh-CN" sz="2400" baseline="-25000" dirty="0">
                    <a:solidFill>
                      <a:srgbClr val="000000"/>
                    </a:solidFill>
                  </a:rPr>
                  <a:t>-1-</a:t>
                </a:r>
                <a:r>
                  <a:rPr lang="en-US" altLang="zh-CN" sz="2400" i="1" baseline="-25000" dirty="0">
                    <a:solidFill>
                      <a:srgbClr val="000000"/>
                    </a:solidFill>
                  </a:rPr>
                  <a:t>j</a:t>
                </a:r>
                <a:r>
                  <a:rPr lang="en-US" altLang="zh-CN" sz="2400" baseline="-25000" dirty="0">
                    <a:solidFill>
                      <a:srgbClr val="000000"/>
                    </a:solidFill>
                  </a:rPr>
                  <a:t>&gt;</a:t>
                </a:r>
                <a:r>
                  <a:rPr lang="en-US" altLang="zh-CN" sz="2400" i="1" baseline="-25000" dirty="0" err="1">
                    <a:solidFill>
                      <a:srgbClr val="000000"/>
                    </a:solidFill>
                  </a:rPr>
                  <a:t>p,j</a:t>
                </a:r>
                <a:r>
                  <a:rPr lang="zh-CN" altLang="en-US" dirty="0">
                    <a:solidFill>
                      <a:srgbClr val="000000"/>
                    </a:solidFill>
                    <a:latin typeface="Times New Roman"/>
                  </a:rPr>
                  <a:t>的值，可以根据下面的公式</a:t>
                </a:r>
                <a:r>
                  <a:rPr lang="en-US" altLang="zh-CN" dirty="0">
                    <a:solidFill>
                      <a:srgbClr val="000000"/>
                    </a:solidFill>
                    <a:latin typeface="Times New Roman"/>
                  </a:rPr>
                  <a:t>(13)</a:t>
                </a:r>
                <a:r>
                  <a:rPr lang="zh-CN" altLang="en-US" dirty="0">
                    <a:solidFill>
                      <a:srgbClr val="000000"/>
                    </a:solidFill>
                    <a:latin typeface="Times New Roman"/>
                  </a:rPr>
                  <a:t>计算得到</a:t>
                </a:r>
                <a:r>
                  <a:rPr lang="en-US" altLang="zh-CN" sz="2400" i="1" dirty="0">
                    <a:solidFill>
                      <a:srgbClr val="000000"/>
                    </a:solidFill>
                  </a:rPr>
                  <a:t>a</a:t>
                </a:r>
                <a:r>
                  <a:rPr lang="en-US" altLang="zh-CN" sz="2400" baseline="-25000" dirty="0">
                    <a:solidFill>
                      <a:srgbClr val="000000"/>
                    </a:solidFill>
                  </a:rPr>
                  <a:t>&lt;-(</a:t>
                </a:r>
                <a:r>
                  <a:rPr lang="en-US" altLang="zh-CN" sz="2400" i="1" baseline="-25000" dirty="0">
                    <a:solidFill>
                      <a:srgbClr val="000000"/>
                    </a:solidFill>
                  </a:rPr>
                  <a:t>j-</a:t>
                </a:r>
                <a:r>
                  <a:rPr lang="en-US" altLang="zh-CN" sz="2400" i="1" baseline="-25000" dirty="0" err="1">
                    <a:solidFill>
                      <a:srgbClr val="000000"/>
                    </a:solidFill>
                  </a:rPr>
                  <a:t>i</a:t>
                </a:r>
                <a:r>
                  <a:rPr lang="en-US" altLang="zh-CN" sz="2400" baseline="-25000" dirty="0">
                    <a:solidFill>
                      <a:srgbClr val="000000"/>
                    </a:solidFill>
                  </a:rPr>
                  <a:t>)-1&gt;</a:t>
                </a:r>
                <a:r>
                  <a:rPr lang="en-US" altLang="zh-CN" sz="2400" i="1" baseline="-25000" dirty="0" err="1">
                    <a:solidFill>
                      <a:srgbClr val="000000"/>
                    </a:solidFill>
                  </a:rPr>
                  <a:t>p,j</a:t>
                </a:r>
                <a:r>
                  <a:rPr lang="en-US" altLang="zh-CN" sz="2400" i="1" baseline="-25000" dirty="0">
                    <a:solidFill>
                      <a:srgbClr val="000000"/>
                    </a:solidFill>
                  </a:rPr>
                  <a:t> </a:t>
                </a:r>
                <a:r>
                  <a:rPr lang="zh-CN" altLang="en-US" dirty="0">
                    <a:solidFill>
                      <a:srgbClr val="000000"/>
                    </a:solidFill>
                    <a:latin typeface="Times New Roman"/>
                  </a:rPr>
                  <a:t>：</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rPr>
                  <a:t>                                 </a:t>
                </a:r>
                <a:r>
                  <a:rPr lang="en-US" altLang="zh-CN" i="1" dirty="0">
                    <a:solidFill>
                      <a:srgbClr val="000000"/>
                    </a:solidFill>
                  </a:rPr>
                  <a:t>a</a:t>
                </a:r>
                <a:r>
                  <a:rPr lang="en-US" altLang="zh-CN" baseline="-25000" dirty="0">
                    <a:solidFill>
                      <a:srgbClr val="000000"/>
                    </a:solidFill>
                  </a:rPr>
                  <a:t>&lt;-(</a:t>
                </a:r>
                <a:r>
                  <a:rPr lang="en-US" altLang="zh-CN" i="1" baseline="-25000" dirty="0">
                    <a:solidFill>
                      <a:srgbClr val="000000"/>
                    </a:solidFill>
                  </a:rPr>
                  <a:t>j-</a:t>
                </a:r>
                <a:r>
                  <a:rPr lang="en-US" altLang="zh-CN" i="1" baseline="-25000" dirty="0" err="1">
                    <a:solidFill>
                      <a:srgbClr val="000000"/>
                    </a:solidFill>
                  </a:rPr>
                  <a:t>i</a:t>
                </a:r>
                <a:r>
                  <a:rPr lang="en-US" altLang="zh-CN" baseline="-25000" dirty="0">
                    <a:solidFill>
                      <a:srgbClr val="000000"/>
                    </a:solidFill>
                  </a:rPr>
                  <a:t>)-1&gt;</a:t>
                </a:r>
                <a:r>
                  <a:rPr lang="en-US" altLang="zh-CN" i="1" baseline="-25000" dirty="0" err="1">
                    <a:solidFill>
                      <a:srgbClr val="000000"/>
                    </a:solidFill>
                  </a:rPr>
                  <a:t>p,i</a:t>
                </a:r>
                <a:r>
                  <a:rPr lang="en-US" altLang="zh-CN" i="1" baseline="-25000" dirty="0">
                    <a:solidFill>
                      <a:srgbClr val="000000"/>
                    </a:solidFill>
                  </a:rPr>
                  <a:t> </a:t>
                </a:r>
                <a:r>
                  <a:rPr lang="en-US" altLang="zh-CN" dirty="0">
                    <a:solidFill>
                      <a:srgbClr val="000000"/>
                    </a:solidFill>
                    <a:sym typeface="Wingdings" panose="05000000000000000000" pitchFamily="2" charset="2"/>
                  </a:rPr>
                  <a:t> </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i="1" dirty="0">
                            <a:solidFill>
                              <a:srgbClr val="000000"/>
                            </a:solidFill>
                            <a:latin typeface="Cambria Math" panose="02040503050406030204" pitchFamily="18" charset="0"/>
                            <a:ea typeface="宋体" panose="02010600030101010101" pitchFamily="2" charset="-122"/>
                          </a:rPr>
                          <m:t>S</m:t>
                        </m:r>
                      </m:e>
                      <m:sub>
                        <m:r>
                          <a:rPr lang="en-US" altLang="zh-CN" i="1" dirty="0">
                            <a:solidFill>
                              <a:srgbClr val="000000"/>
                            </a:solidFill>
                            <a:latin typeface="Cambria Math" panose="02040503050406030204" pitchFamily="18" charset="0"/>
                            <a:ea typeface="宋体" panose="02010600030101010101" pitchFamily="2" charset="-122"/>
                          </a:rPr>
                          <m:t>&lt;−</m:t>
                        </m:r>
                        <m:d>
                          <m:dPr>
                            <m:ctrlPr>
                              <a:rPr lang="en-US" altLang="zh-CN" i="1" dirty="0">
                                <a:solidFill>
                                  <a:srgbClr val="000000"/>
                                </a:solidFill>
                                <a:latin typeface="Cambria Math" panose="02040503050406030204" pitchFamily="18" charset="0"/>
                                <a:ea typeface="宋体" panose="02010600030101010101" pitchFamily="2" charset="-122"/>
                              </a:rPr>
                            </m:ctrlPr>
                          </m:dPr>
                          <m:e>
                            <m:r>
                              <a:rPr lang="en-US" altLang="zh-CN" i="1" dirty="0">
                                <a:solidFill>
                                  <a:srgbClr val="000000"/>
                                </a:solidFill>
                                <a:latin typeface="Cambria Math" panose="02040503050406030204" pitchFamily="18" charset="0"/>
                                <a:ea typeface="宋体" panose="02010600030101010101" pitchFamily="2" charset="-122"/>
                              </a:rPr>
                              <m:t>𝑗</m:t>
                            </m:r>
                            <m:r>
                              <a:rPr lang="en-US" altLang="zh-CN" i="1" dirty="0">
                                <a:solidFill>
                                  <a:srgbClr val="000000"/>
                                </a:solidFill>
                                <a:latin typeface="Cambria Math" panose="02040503050406030204" pitchFamily="18" charset="0"/>
                                <a:ea typeface="宋体" panose="02010600030101010101" pitchFamily="2" charset="-122"/>
                              </a:rPr>
                              <m:t>−</m:t>
                            </m:r>
                            <m:r>
                              <a:rPr lang="en-US" altLang="zh-CN" i="1" dirty="0">
                                <a:solidFill>
                                  <a:srgbClr val="000000"/>
                                </a:solidFill>
                                <a:latin typeface="Cambria Math" panose="02040503050406030204" pitchFamily="18" charset="0"/>
                                <a:ea typeface="宋体" panose="02010600030101010101" pitchFamily="2" charset="-122"/>
                              </a:rPr>
                              <m:t>𝑖</m:t>
                            </m:r>
                          </m:e>
                        </m:d>
                        <m:r>
                          <a:rPr lang="en-US" altLang="zh-CN" i="1" dirty="0">
                            <a:solidFill>
                              <a:srgbClr val="000000"/>
                            </a:solidFill>
                            <a:latin typeface="Cambria Math" panose="02040503050406030204" pitchFamily="18" charset="0"/>
                            <a:ea typeface="宋体" panose="02010600030101010101" pitchFamily="2" charset="-122"/>
                          </a:rPr>
                          <m:t>+</m:t>
                        </m:r>
                        <m:r>
                          <a:rPr lang="en-US" altLang="zh-CN" i="1" dirty="0">
                            <a:solidFill>
                              <a:srgbClr val="000000"/>
                            </a:solidFill>
                            <a:latin typeface="Cambria Math" panose="02040503050406030204" pitchFamily="18" charset="0"/>
                            <a:ea typeface="宋体" panose="02010600030101010101" pitchFamily="2" charset="-122"/>
                          </a:rPr>
                          <m:t>𝑗</m:t>
                        </m:r>
                        <m:r>
                          <a:rPr lang="en-US" altLang="zh-CN" i="1" dirty="0">
                            <a:solidFill>
                              <a:srgbClr val="000000"/>
                            </a:solidFill>
                            <a:latin typeface="Cambria Math" panose="02040503050406030204" pitchFamily="18" charset="0"/>
                            <a:ea typeface="宋体" panose="02010600030101010101" pitchFamily="2" charset="-122"/>
                          </a:rPr>
                          <m:t>−1&gt;</m:t>
                        </m:r>
                        <m:r>
                          <a:rPr lang="en-US" altLang="zh-CN" i="1" dirty="0">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 </m:t>
                        </m:r>
                      </m:sub>
                      <m:sup>
                        <m:r>
                          <a:rPr lang="en-US" altLang="zh-CN" i="1">
                            <a:solidFill>
                              <a:srgbClr val="000000"/>
                            </a:solidFill>
                            <a:latin typeface="Cambria Math" panose="02040503050406030204" pitchFamily="18" charset="0"/>
                            <a:ea typeface="宋体" panose="02010600030101010101" pitchFamily="2" charset="-122"/>
                          </a:rPr>
                          <m:t>(0)</m:t>
                        </m:r>
                      </m:sup>
                    </m:sSubSup>
                  </m:oMath>
                </a14:m>
                <a:r>
                  <a:rPr lang="en-US" altLang="zh-CN" sz="2400" dirty="0">
                    <a:solidFill>
                      <a:srgbClr val="000000"/>
                    </a:solidFill>
                    <a:ea typeface="宋体" panose="02010600030101010101" pitchFamily="2" charset="-122"/>
                  </a:rPr>
                  <a:t>⊕</a:t>
                </a:r>
                <a:r>
                  <a:rPr lang="en-US" altLang="zh-CN" i="1" dirty="0">
                    <a:solidFill>
                      <a:srgbClr val="000000"/>
                    </a:solidFill>
                  </a:rPr>
                  <a:t>a</a:t>
                </a:r>
                <a:r>
                  <a:rPr lang="en-US" altLang="zh-CN" baseline="-25000" dirty="0">
                    <a:solidFill>
                      <a:srgbClr val="000000"/>
                    </a:solidFill>
                  </a:rPr>
                  <a:t>&lt;-(</a:t>
                </a:r>
                <a:r>
                  <a:rPr lang="en-US" altLang="zh-CN" i="1" baseline="-25000" dirty="0">
                    <a:solidFill>
                      <a:srgbClr val="000000"/>
                    </a:solidFill>
                  </a:rPr>
                  <a:t>j-</a:t>
                </a:r>
                <a:r>
                  <a:rPr lang="en-US" altLang="zh-CN" i="1" baseline="-25000" dirty="0" err="1">
                    <a:solidFill>
                      <a:srgbClr val="000000"/>
                    </a:solidFill>
                  </a:rPr>
                  <a:t>i</a:t>
                </a:r>
                <a:r>
                  <a:rPr lang="en-US" altLang="zh-CN" baseline="-25000" dirty="0">
                    <a:solidFill>
                      <a:srgbClr val="000000"/>
                    </a:solidFill>
                  </a:rPr>
                  <a:t>)&gt;</a:t>
                </a:r>
                <a:r>
                  <a:rPr lang="en-US" altLang="zh-CN" i="1" baseline="-25000" dirty="0" err="1">
                    <a:solidFill>
                      <a:srgbClr val="000000"/>
                    </a:solidFill>
                  </a:rPr>
                  <a:t>p,j</a:t>
                </a:r>
                <a:r>
                  <a:rPr lang="en-US" altLang="zh-CN" dirty="0">
                    <a:solidFill>
                      <a:srgbClr val="000000"/>
                    </a:solidFill>
                  </a:rPr>
                  <a:t>              (13)</a:t>
                </a:r>
              </a:p>
              <a:p>
                <a:pPr eaLnBrk="0" fontAlgn="base" hangingPunct="0">
                  <a:lnSpc>
                    <a:spcPts val="3600"/>
                  </a:lnSpc>
                  <a:spcBef>
                    <a:spcPct val="0"/>
                  </a:spcBef>
                  <a:spcAft>
                    <a:spcPct val="0"/>
                  </a:spcAft>
                </a:pPr>
                <a:r>
                  <a:rPr lang="zh-CN" altLang="en-US" dirty="0">
                    <a:solidFill>
                      <a:srgbClr val="000000"/>
                    </a:solidFill>
                    <a:latin typeface="Times New Roman"/>
                  </a:rPr>
                  <a:t>         公式</a:t>
                </a:r>
                <a:r>
                  <a:rPr lang="en-US" altLang="zh-CN" dirty="0">
                    <a:solidFill>
                      <a:srgbClr val="000000"/>
                    </a:solidFill>
                    <a:latin typeface="Times New Roman"/>
                  </a:rPr>
                  <a:t>(13)</a:t>
                </a:r>
                <a:r>
                  <a:rPr lang="zh-CN" altLang="en-US" dirty="0">
                    <a:solidFill>
                      <a:srgbClr val="000000"/>
                    </a:solidFill>
                    <a:latin typeface="Times New Roman"/>
                  </a:rPr>
                  <a:t>的正确性，根据公式</a:t>
                </a:r>
                <a:r>
                  <a:rPr lang="en-US" altLang="zh-CN" dirty="0">
                    <a:solidFill>
                      <a:srgbClr val="000000"/>
                    </a:solidFill>
                    <a:latin typeface="Times New Roman"/>
                  </a:rPr>
                  <a:t>(1)</a:t>
                </a:r>
                <a:r>
                  <a:rPr lang="zh-CN" altLang="en-US" dirty="0">
                    <a:solidFill>
                      <a:srgbClr val="000000"/>
                    </a:solidFill>
                    <a:latin typeface="Times New Roman"/>
                  </a:rPr>
                  <a:t>和公式</a:t>
                </a:r>
                <a:r>
                  <a:rPr lang="en-US" altLang="zh-CN" dirty="0">
                    <a:solidFill>
                      <a:srgbClr val="000000"/>
                    </a:solidFill>
                    <a:latin typeface="Times New Roman"/>
                  </a:rPr>
                  <a:t>(8)</a:t>
                </a:r>
                <a:r>
                  <a:rPr lang="zh-CN" altLang="en-US" dirty="0">
                    <a:solidFill>
                      <a:srgbClr val="000000"/>
                    </a:solidFill>
                    <a:latin typeface="Times New Roman"/>
                  </a:rPr>
                  <a:t>可以得到。</a:t>
                </a:r>
                <a:endParaRPr lang="en-US" altLang="zh-CN" dirty="0">
                  <a:solidFill>
                    <a:srgbClr val="000000"/>
                  </a:solidFill>
                  <a:latin typeface="Times New Roman"/>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385475" y="790575"/>
                <a:ext cx="11600962" cy="4188904"/>
              </a:xfrm>
              <a:prstGeom prst="rect">
                <a:avLst/>
              </a:prstGeom>
              <a:blipFill>
                <a:blip r:embed="rId3"/>
                <a:stretch>
                  <a:fillRect l="-525" b="-17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0F0AC2B-803A-5F87-7062-9F1166A71D89}"/>
                  </a:ext>
                </a:extLst>
              </p:cNvPr>
              <p:cNvSpPr txBox="1"/>
              <p:nvPr/>
            </p:nvSpPr>
            <p:spPr>
              <a:xfrm>
                <a:off x="385474" y="5101615"/>
                <a:ext cx="10473911" cy="147732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latin typeface="Times New Roman"/>
                  </a:rPr>
                  <a:t>        第三步，参数</a:t>
                </a:r>
                <a:r>
                  <a:rPr lang="en-US" altLang="zh-CN" dirty="0">
                    <a:solidFill>
                      <a:srgbClr val="000000"/>
                    </a:solidFill>
                    <a:latin typeface="Times New Roman"/>
                  </a:rPr>
                  <a:t>S</a:t>
                </a:r>
                <a:r>
                  <a:rPr lang="zh-CN" altLang="en-US" dirty="0">
                    <a:solidFill>
                      <a:srgbClr val="000000"/>
                    </a:solidFill>
                    <a:latin typeface="Times New Roman"/>
                  </a:rPr>
                  <a:t>的值设置为</a:t>
                </a:r>
                <a:r>
                  <a:rPr lang="en-US" altLang="zh-CN" dirty="0">
                    <a:solidFill>
                      <a:srgbClr val="000000"/>
                    </a:solidFill>
                    <a:latin typeface="Times New Roman"/>
                  </a:rPr>
                  <a:t>&lt;-2(</a:t>
                </a:r>
                <a:r>
                  <a:rPr lang="en-US" altLang="zh-CN" i="1" dirty="0">
                    <a:solidFill>
                      <a:srgbClr val="000000"/>
                    </a:solidFill>
                    <a:latin typeface="Times New Roman"/>
                  </a:rPr>
                  <a:t>j</a:t>
                </a:r>
                <a:r>
                  <a:rPr lang="en-US" altLang="zh-CN" dirty="0">
                    <a:solidFill>
                      <a:srgbClr val="000000"/>
                    </a:solidFill>
                    <a:latin typeface="Times New Roman"/>
                  </a:rPr>
                  <a:t>-</a:t>
                </a:r>
                <a:r>
                  <a:rPr lang="en-US" altLang="zh-CN" i="1" dirty="0" err="1">
                    <a:solidFill>
                      <a:srgbClr val="000000"/>
                    </a:solidFill>
                    <a:latin typeface="Times New Roman"/>
                  </a:rPr>
                  <a:t>i</a:t>
                </a:r>
                <a:r>
                  <a:rPr lang="en-US" altLang="zh-CN" dirty="0">
                    <a:solidFill>
                      <a:srgbClr val="000000"/>
                    </a:solidFill>
                    <a:latin typeface="Times New Roman"/>
                  </a:rPr>
                  <a:t>)-1&gt;</a:t>
                </a:r>
                <a:r>
                  <a:rPr lang="en-US" altLang="zh-CN" i="1" dirty="0">
                    <a:solidFill>
                      <a:srgbClr val="000000"/>
                    </a:solidFill>
                    <a:latin typeface="Times New Roman"/>
                  </a:rPr>
                  <a:t>p</a:t>
                </a:r>
                <a:r>
                  <a:rPr lang="zh-CN" altLang="en-US" dirty="0">
                    <a:solidFill>
                      <a:srgbClr val="000000"/>
                    </a:solidFill>
                    <a:latin typeface="Times New Roman"/>
                  </a:rPr>
                  <a:t>，返回第二步，根据算法可以得到：</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i="1" dirty="0">
                    <a:solidFill>
                      <a:srgbClr val="000000"/>
                    </a:solidFill>
                  </a:rPr>
                  <a:t>                       a</a:t>
                </a:r>
                <a:r>
                  <a:rPr lang="en-US" altLang="zh-CN" baseline="-25000" dirty="0">
                    <a:solidFill>
                      <a:srgbClr val="000000"/>
                    </a:solidFill>
                  </a:rPr>
                  <a:t>&lt;-2(</a:t>
                </a:r>
                <a:r>
                  <a:rPr lang="en-US" altLang="zh-CN" i="1" baseline="-25000" dirty="0">
                    <a:solidFill>
                      <a:srgbClr val="000000"/>
                    </a:solidFill>
                  </a:rPr>
                  <a:t>j-</a:t>
                </a:r>
                <a:r>
                  <a:rPr lang="en-US" altLang="zh-CN" i="1" baseline="-25000" dirty="0" err="1">
                    <a:solidFill>
                      <a:srgbClr val="000000"/>
                    </a:solidFill>
                  </a:rPr>
                  <a:t>i</a:t>
                </a:r>
                <a:r>
                  <a:rPr lang="en-US" altLang="zh-CN" baseline="-25000" dirty="0">
                    <a:solidFill>
                      <a:srgbClr val="000000"/>
                    </a:solidFill>
                  </a:rPr>
                  <a:t>)-1&gt;</a:t>
                </a:r>
                <a:r>
                  <a:rPr lang="en-US" altLang="zh-CN" i="1" baseline="-25000" dirty="0" err="1">
                    <a:solidFill>
                      <a:srgbClr val="000000"/>
                    </a:solidFill>
                  </a:rPr>
                  <a:t>p,j</a:t>
                </a:r>
                <a:r>
                  <a:rPr lang="en-US" altLang="zh-CN" i="1" baseline="-25000" dirty="0">
                    <a:solidFill>
                      <a:srgbClr val="000000"/>
                    </a:solidFill>
                  </a:rPr>
                  <a:t> </a:t>
                </a:r>
                <a:r>
                  <a:rPr lang="en-US" altLang="zh-CN" dirty="0">
                    <a:solidFill>
                      <a:srgbClr val="000000"/>
                    </a:solidFill>
                    <a:sym typeface="Wingdings" panose="05000000000000000000" pitchFamily="2" charset="2"/>
                  </a:rPr>
                  <a:t> </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i="1" dirty="0">
                            <a:solidFill>
                              <a:srgbClr val="000000"/>
                            </a:solidFill>
                            <a:latin typeface="Cambria Math" panose="02040503050406030204" pitchFamily="18" charset="0"/>
                            <a:ea typeface="宋体" panose="02010600030101010101" pitchFamily="2" charset="-122"/>
                          </a:rPr>
                          <m:t>S</m:t>
                        </m:r>
                      </m:e>
                      <m:sub>
                        <m:r>
                          <a:rPr lang="en-US" altLang="zh-CN" i="1" dirty="0">
                            <a:solidFill>
                              <a:srgbClr val="000000"/>
                            </a:solidFill>
                            <a:latin typeface="Cambria Math" panose="02040503050406030204" pitchFamily="18" charset="0"/>
                            <a:ea typeface="宋体" panose="02010600030101010101" pitchFamily="2" charset="-122"/>
                          </a:rPr>
                          <m:t>&lt;−2</m:t>
                        </m:r>
                        <m:d>
                          <m:dPr>
                            <m:ctrlPr>
                              <a:rPr lang="en-US" altLang="zh-CN" i="1" dirty="0">
                                <a:solidFill>
                                  <a:srgbClr val="000000"/>
                                </a:solidFill>
                                <a:latin typeface="Cambria Math" panose="02040503050406030204" pitchFamily="18" charset="0"/>
                                <a:ea typeface="宋体" panose="02010600030101010101" pitchFamily="2" charset="-122"/>
                              </a:rPr>
                            </m:ctrlPr>
                          </m:dPr>
                          <m:e>
                            <m:r>
                              <a:rPr lang="en-US" altLang="zh-CN" i="1" dirty="0">
                                <a:solidFill>
                                  <a:srgbClr val="000000"/>
                                </a:solidFill>
                                <a:latin typeface="Cambria Math" panose="02040503050406030204" pitchFamily="18" charset="0"/>
                                <a:ea typeface="宋体" panose="02010600030101010101" pitchFamily="2" charset="-122"/>
                              </a:rPr>
                              <m:t>𝑗</m:t>
                            </m:r>
                            <m:r>
                              <a:rPr lang="en-US" altLang="zh-CN" i="1" dirty="0">
                                <a:solidFill>
                                  <a:srgbClr val="000000"/>
                                </a:solidFill>
                                <a:latin typeface="Cambria Math" panose="02040503050406030204" pitchFamily="18" charset="0"/>
                                <a:ea typeface="宋体" panose="02010600030101010101" pitchFamily="2" charset="-122"/>
                              </a:rPr>
                              <m:t>−</m:t>
                            </m:r>
                            <m:r>
                              <a:rPr lang="en-US" altLang="zh-CN" i="1" dirty="0">
                                <a:solidFill>
                                  <a:srgbClr val="000000"/>
                                </a:solidFill>
                                <a:latin typeface="Cambria Math" panose="02040503050406030204" pitchFamily="18" charset="0"/>
                                <a:ea typeface="宋体" panose="02010600030101010101" pitchFamily="2" charset="-122"/>
                              </a:rPr>
                              <m:t>𝑖</m:t>
                            </m:r>
                          </m:e>
                        </m:d>
                        <m:r>
                          <a:rPr lang="en-US" altLang="zh-CN" i="1" dirty="0">
                            <a:solidFill>
                              <a:srgbClr val="000000"/>
                            </a:solidFill>
                            <a:latin typeface="Cambria Math" panose="02040503050406030204" pitchFamily="18" charset="0"/>
                            <a:ea typeface="宋体" panose="02010600030101010101" pitchFamily="2" charset="-122"/>
                          </a:rPr>
                          <m:t>+</m:t>
                        </m:r>
                        <m:r>
                          <a:rPr lang="en-US" altLang="zh-CN" i="1" dirty="0">
                            <a:solidFill>
                              <a:srgbClr val="000000"/>
                            </a:solidFill>
                            <a:latin typeface="Cambria Math" panose="02040503050406030204" pitchFamily="18" charset="0"/>
                            <a:ea typeface="宋体" panose="02010600030101010101" pitchFamily="2" charset="-122"/>
                          </a:rPr>
                          <m:t>𝑗</m:t>
                        </m:r>
                        <m:r>
                          <a:rPr lang="en-US" altLang="zh-CN" i="1" dirty="0">
                            <a:solidFill>
                              <a:srgbClr val="000000"/>
                            </a:solidFill>
                            <a:latin typeface="Cambria Math" panose="02040503050406030204" pitchFamily="18" charset="0"/>
                            <a:ea typeface="宋体" panose="02010600030101010101" pitchFamily="2" charset="-122"/>
                          </a:rPr>
                          <m:t>−1&gt;</m:t>
                        </m:r>
                        <m:r>
                          <a:rPr lang="en-US" altLang="zh-CN" i="1" dirty="0">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 </m:t>
                        </m:r>
                      </m:sub>
                      <m:sup>
                        <m:r>
                          <a:rPr lang="en-US" altLang="zh-CN" i="1">
                            <a:solidFill>
                              <a:srgbClr val="000000"/>
                            </a:solidFill>
                            <a:latin typeface="Cambria Math" panose="02040503050406030204" pitchFamily="18" charset="0"/>
                            <a:ea typeface="宋体" panose="02010600030101010101" pitchFamily="2" charset="-122"/>
                          </a:rPr>
                          <m:t>(1)</m:t>
                        </m:r>
                      </m:sup>
                    </m:sSubSup>
                  </m:oMath>
                </a14:m>
                <a:r>
                  <a:rPr lang="en-US" altLang="zh-CN" dirty="0">
                    <a:solidFill>
                      <a:srgbClr val="000000"/>
                    </a:solidFill>
                    <a:ea typeface="宋体" panose="02010600030101010101" pitchFamily="2" charset="-122"/>
                  </a:rPr>
                  <a:t>⊕</a:t>
                </a:r>
                <a:r>
                  <a:rPr lang="en-US" altLang="zh-CN" i="1" dirty="0">
                    <a:solidFill>
                      <a:srgbClr val="000000"/>
                    </a:solidFill>
                  </a:rPr>
                  <a:t>a</a:t>
                </a:r>
                <a:r>
                  <a:rPr lang="en-US" altLang="zh-CN" baseline="-25000" dirty="0">
                    <a:solidFill>
                      <a:srgbClr val="000000"/>
                    </a:solidFill>
                  </a:rPr>
                  <a:t>&lt;-(</a:t>
                </a:r>
                <a:r>
                  <a:rPr lang="en-US" altLang="zh-CN" i="1" baseline="-25000" dirty="0">
                    <a:solidFill>
                      <a:srgbClr val="000000"/>
                    </a:solidFill>
                  </a:rPr>
                  <a:t>j-</a:t>
                </a:r>
                <a:r>
                  <a:rPr lang="en-US" altLang="zh-CN" i="1" baseline="-25000" dirty="0" err="1">
                    <a:solidFill>
                      <a:srgbClr val="000000"/>
                    </a:solidFill>
                  </a:rPr>
                  <a:t>i</a:t>
                </a:r>
                <a:r>
                  <a:rPr lang="en-US" altLang="zh-CN" baseline="-25000" dirty="0">
                    <a:solidFill>
                      <a:srgbClr val="000000"/>
                    </a:solidFill>
                  </a:rPr>
                  <a:t>)&gt;</a:t>
                </a:r>
                <a:r>
                  <a:rPr lang="en-US" altLang="zh-CN" i="1" baseline="-25000" dirty="0" err="1">
                    <a:solidFill>
                      <a:srgbClr val="000000"/>
                    </a:solidFill>
                  </a:rPr>
                  <a:t>p,i</a:t>
                </a:r>
                <a:r>
                  <a:rPr lang="en-US" altLang="zh-CN" dirty="0">
                    <a:solidFill>
                      <a:srgbClr val="000000"/>
                    </a:solidFill>
                  </a:rPr>
                  <a:t>                    (14)</a:t>
                </a:r>
              </a:p>
              <a:p>
                <a:pPr eaLnBrk="0" fontAlgn="base" hangingPunct="0">
                  <a:lnSpc>
                    <a:spcPts val="3600"/>
                  </a:lnSpc>
                  <a:spcBef>
                    <a:spcPct val="0"/>
                  </a:spcBef>
                  <a:spcAft>
                    <a:spcPct val="0"/>
                  </a:spcAft>
                </a:pPr>
                <a:r>
                  <a:rPr lang="en-US" altLang="zh-CN" i="1" dirty="0">
                    <a:solidFill>
                      <a:srgbClr val="000000"/>
                    </a:solidFill>
                  </a:rPr>
                  <a:t>                       a</a:t>
                </a:r>
                <a:r>
                  <a:rPr lang="en-US" altLang="zh-CN" baseline="-25000" dirty="0">
                    <a:solidFill>
                      <a:srgbClr val="000000"/>
                    </a:solidFill>
                  </a:rPr>
                  <a:t>&lt;-2(</a:t>
                </a:r>
                <a:r>
                  <a:rPr lang="en-US" altLang="zh-CN" i="1" baseline="-25000" dirty="0">
                    <a:solidFill>
                      <a:srgbClr val="000000"/>
                    </a:solidFill>
                  </a:rPr>
                  <a:t>j-</a:t>
                </a:r>
                <a:r>
                  <a:rPr lang="en-US" altLang="zh-CN" i="1" baseline="-25000" dirty="0" err="1">
                    <a:solidFill>
                      <a:srgbClr val="000000"/>
                    </a:solidFill>
                  </a:rPr>
                  <a:t>i</a:t>
                </a:r>
                <a:r>
                  <a:rPr lang="en-US" altLang="zh-CN" baseline="-25000" dirty="0">
                    <a:solidFill>
                      <a:srgbClr val="000000"/>
                    </a:solidFill>
                  </a:rPr>
                  <a:t>)-1&gt;</a:t>
                </a:r>
                <a:r>
                  <a:rPr lang="en-US" altLang="zh-CN" i="1" baseline="-25000" dirty="0" err="1">
                    <a:solidFill>
                      <a:srgbClr val="000000"/>
                    </a:solidFill>
                  </a:rPr>
                  <a:t>p,j</a:t>
                </a:r>
                <a:r>
                  <a:rPr lang="en-US" altLang="zh-CN" i="1" baseline="-25000" dirty="0">
                    <a:solidFill>
                      <a:srgbClr val="000000"/>
                    </a:solidFill>
                  </a:rPr>
                  <a:t> </a:t>
                </a:r>
                <a:r>
                  <a:rPr lang="en-US" altLang="zh-CN" dirty="0">
                    <a:solidFill>
                      <a:srgbClr val="000000"/>
                    </a:solidFill>
                    <a:sym typeface="Wingdings" panose="05000000000000000000" pitchFamily="2" charset="2"/>
                  </a:rPr>
                  <a:t> </a:t>
                </a:r>
                <a14:m>
                  <m:oMath xmlns:m="http://schemas.openxmlformats.org/officeDocument/2006/math">
                    <m:sSubSup>
                      <m:sSubSupPr>
                        <m:ctrlPr>
                          <a:rPr lang="en-US" altLang="zh-CN" i="1">
                            <a:solidFill>
                              <a:srgbClr val="000000"/>
                            </a:solidFill>
                            <a:latin typeface="Cambria Math" panose="02040503050406030204" pitchFamily="18" charset="0"/>
                            <a:ea typeface="宋体" panose="02010600030101010101" pitchFamily="2" charset="-122"/>
                          </a:rPr>
                        </m:ctrlPr>
                      </m:sSubSupPr>
                      <m:e>
                        <m:r>
                          <m:rPr>
                            <m:nor/>
                          </m:rPr>
                          <a:rPr lang="en-US" altLang="zh-CN" i="1" dirty="0">
                            <a:solidFill>
                              <a:srgbClr val="000000"/>
                            </a:solidFill>
                            <a:latin typeface="Cambria Math" panose="02040503050406030204" pitchFamily="18" charset="0"/>
                            <a:ea typeface="宋体" panose="02010600030101010101" pitchFamily="2" charset="-122"/>
                          </a:rPr>
                          <m:t>S</m:t>
                        </m:r>
                      </m:e>
                      <m:sub>
                        <m:r>
                          <a:rPr lang="en-US" altLang="zh-CN" i="1" dirty="0">
                            <a:solidFill>
                              <a:srgbClr val="000000"/>
                            </a:solidFill>
                            <a:latin typeface="Cambria Math" panose="02040503050406030204" pitchFamily="18" charset="0"/>
                            <a:ea typeface="宋体" panose="02010600030101010101" pitchFamily="2" charset="-122"/>
                          </a:rPr>
                          <m:t>&lt;−2</m:t>
                        </m:r>
                        <m:d>
                          <m:dPr>
                            <m:ctrlPr>
                              <a:rPr lang="en-US" altLang="zh-CN" i="1" dirty="0">
                                <a:solidFill>
                                  <a:srgbClr val="000000"/>
                                </a:solidFill>
                                <a:latin typeface="Cambria Math" panose="02040503050406030204" pitchFamily="18" charset="0"/>
                                <a:ea typeface="宋体" panose="02010600030101010101" pitchFamily="2" charset="-122"/>
                              </a:rPr>
                            </m:ctrlPr>
                          </m:dPr>
                          <m:e>
                            <m:r>
                              <a:rPr lang="en-US" altLang="zh-CN" i="1" dirty="0">
                                <a:solidFill>
                                  <a:srgbClr val="000000"/>
                                </a:solidFill>
                                <a:latin typeface="Cambria Math" panose="02040503050406030204" pitchFamily="18" charset="0"/>
                                <a:ea typeface="宋体" panose="02010600030101010101" pitchFamily="2" charset="-122"/>
                              </a:rPr>
                              <m:t>𝑗</m:t>
                            </m:r>
                            <m:r>
                              <a:rPr lang="en-US" altLang="zh-CN" i="1" dirty="0">
                                <a:solidFill>
                                  <a:srgbClr val="000000"/>
                                </a:solidFill>
                                <a:latin typeface="Cambria Math" panose="02040503050406030204" pitchFamily="18" charset="0"/>
                                <a:ea typeface="宋体" panose="02010600030101010101" pitchFamily="2" charset="-122"/>
                              </a:rPr>
                              <m:t>−</m:t>
                            </m:r>
                            <m:r>
                              <a:rPr lang="en-US" altLang="zh-CN" i="1" dirty="0">
                                <a:solidFill>
                                  <a:srgbClr val="000000"/>
                                </a:solidFill>
                                <a:latin typeface="Cambria Math" panose="02040503050406030204" pitchFamily="18" charset="0"/>
                                <a:ea typeface="宋体" panose="02010600030101010101" pitchFamily="2" charset="-122"/>
                              </a:rPr>
                              <m:t>𝑖</m:t>
                            </m:r>
                          </m:e>
                        </m:d>
                        <m:r>
                          <a:rPr lang="en-US" altLang="zh-CN" i="1" dirty="0">
                            <a:solidFill>
                              <a:srgbClr val="000000"/>
                            </a:solidFill>
                            <a:latin typeface="Cambria Math" panose="02040503050406030204" pitchFamily="18" charset="0"/>
                            <a:ea typeface="宋体" panose="02010600030101010101" pitchFamily="2" charset="-122"/>
                          </a:rPr>
                          <m:t>−1&gt;</m:t>
                        </m:r>
                        <m:r>
                          <a:rPr lang="en-US" altLang="zh-CN" i="1" dirty="0">
                            <a:solidFill>
                              <a:srgbClr val="000000"/>
                            </a:solidFill>
                            <a:latin typeface="Cambria Math" panose="02040503050406030204" pitchFamily="18" charset="0"/>
                            <a:ea typeface="宋体" panose="02010600030101010101" pitchFamily="2" charset="-122"/>
                          </a:rPr>
                          <m:t>𝑝</m:t>
                        </m:r>
                        <m:r>
                          <a:rPr lang="en-US" altLang="zh-CN" i="1">
                            <a:solidFill>
                              <a:srgbClr val="000000"/>
                            </a:solidFill>
                            <a:latin typeface="Cambria Math" panose="02040503050406030204" pitchFamily="18" charset="0"/>
                            <a:ea typeface="宋体" panose="02010600030101010101" pitchFamily="2" charset="-122"/>
                          </a:rPr>
                          <m:t> </m:t>
                        </m:r>
                      </m:sub>
                      <m:sup>
                        <m:r>
                          <a:rPr lang="en-US" altLang="zh-CN" i="1">
                            <a:solidFill>
                              <a:srgbClr val="000000"/>
                            </a:solidFill>
                            <a:latin typeface="Cambria Math" panose="02040503050406030204" pitchFamily="18" charset="0"/>
                            <a:ea typeface="宋体" panose="02010600030101010101" pitchFamily="2" charset="-122"/>
                          </a:rPr>
                          <m:t>(0)</m:t>
                        </m:r>
                      </m:sup>
                    </m:sSubSup>
                  </m:oMath>
                </a14:m>
                <a:r>
                  <a:rPr lang="en-US" altLang="zh-CN" dirty="0">
                    <a:solidFill>
                      <a:srgbClr val="000000"/>
                    </a:solidFill>
                    <a:ea typeface="宋体" panose="02010600030101010101" pitchFamily="2" charset="-122"/>
                  </a:rPr>
                  <a:t>⊕</a:t>
                </a:r>
                <a:r>
                  <a:rPr lang="en-US" altLang="zh-CN" i="1" dirty="0">
                    <a:solidFill>
                      <a:srgbClr val="000000"/>
                    </a:solidFill>
                  </a:rPr>
                  <a:t>a</a:t>
                </a:r>
                <a:r>
                  <a:rPr lang="en-US" altLang="zh-CN" baseline="-25000" dirty="0">
                    <a:solidFill>
                      <a:srgbClr val="000000"/>
                    </a:solidFill>
                  </a:rPr>
                  <a:t>&lt;-2(</a:t>
                </a:r>
                <a:r>
                  <a:rPr lang="en-US" altLang="zh-CN" i="1" baseline="-25000" dirty="0">
                    <a:solidFill>
                      <a:srgbClr val="000000"/>
                    </a:solidFill>
                  </a:rPr>
                  <a:t>j-</a:t>
                </a:r>
                <a:r>
                  <a:rPr lang="en-US" altLang="zh-CN" i="1" baseline="-25000" dirty="0" err="1">
                    <a:solidFill>
                      <a:srgbClr val="000000"/>
                    </a:solidFill>
                  </a:rPr>
                  <a:t>i</a:t>
                </a:r>
                <a:r>
                  <a:rPr lang="en-US" altLang="zh-CN" baseline="-25000" dirty="0">
                    <a:solidFill>
                      <a:srgbClr val="000000"/>
                    </a:solidFill>
                  </a:rPr>
                  <a:t>)-1&gt;</a:t>
                </a:r>
                <a:r>
                  <a:rPr lang="en-US" altLang="zh-CN" i="1" baseline="-25000" dirty="0" err="1">
                    <a:solidFill>
                      <a:srgbClr val="000000"/>
                    </a:solidFill>
                  </a:rPr>
                  <a:t>p,j</a:t>
                </a:r>
                <a:r>
                  <a:rPr lang="en-US" altLang="zh-CN" dirty="0">
                    <a:solidFill>
                      <a:srgbClr val="000000"/>
                    </a:solidFill>
                  </a:rPr>
                  <a:t>                    (15)</a:t>
                </a:r>
                <a:endParaRPr lang="en-US" altLang="zh-CN" dirty="0">
                  <a:solidFill>
                    <a:srgbClr val="000000"/>
                  </a:solidFill>
                  <a:latin typeface="Times New Roman"/>
                </a:endParaRPr>
              </a:p>
            </p:txBody>
          </p:sp>
        </mc:Choice>
        <mc:Fallback xmlns="">
          <p:sp>
            <p:nvSpPr>
              <p:cNvPr id="3" name="文本框 2">
                <a:extLst>
                  <a:ext uri="{FF2B5EF4-FFF2-40B4-BE49-F238E27FC236}">
                    <a16:creationId xmlns:a16="http://schemas.microsoft.com/office/drawing/2014/main" id="{00F0AC2B-803A-5F87-7062-9F1166A71D89}"/>
                  </a:ext>
                </a:extLst>
              </p:cNvPr>
              <p:cNvSpPr txBox="1">
                <a:spLocks noRot="1" noChangeAspect="1" noMove="1" noResize="1" noEditPoints="1" noAdjustHandles="1" noChangeArrowheads="1" noChangeShapeType="1" noTextEdit="1"/>
              </p:cNvSpPr>
              <p:nvPr/>
            </p:nvSpPr>
            <p:spPr>
              <a:xfrm>
                <a:off x="385474" y="5101615"/>
                <a:ext cx="10473911" cy="1477328"/>
              </a:xfrm>
              <a:prstGeom prst="rect">
                <a:avLst/>
              </a:prstGeom>
              <a:blipFill>
                <a:blip r:embed="rId4"/>
                <a:stretch>
                  <a:fillRect b="-2479"/>
                </a:stretch>
              </a:blipFill>
            </p:spPr>
            <p:txBody>
              <a:bodyPr/>
              <a:lstStyle/>
              <a:p>
                <a:r>
                  <a:rPr lang="zh-CN" altLang="en-US">
                    <a:noFill/>
                  </a:rPr>
                  <a:t> </a:t>
                </a:r>
              </a:p>
            </p:txBody>
          </p:sp>
        </mc:Fallback>
      </mc:AlternateContent>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奇偶校验码</a:t>
            </a:r>
          </a:p>
        </p:txBody>
      </p:sp>
      <p:sp>
        <p:nvSpPr>
          <p:cNvPr id="14" name="文本框 13"/>
          <p:cNvSpPr txBox="1"/>
          <p:nvPr/>
        </p:nvSpPr>
        <p:spPr>
          <a:xfrm>
            <a:off x="2179194" y="1066862"/>
            <a:ext cx="7833612" cy="441332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800"/>
              </a:lnSpc>
              <a:spcBef>
                <a:spcPct val="0"/>
              </a:spcBef>
              <a:spcAft>
                <a:spcPct val="0"/>
              </a:spcAft>
            </a:pPr>
            <a:r>
              <a:rPr lang="zh-CN" altLang="en-US" dirty="0">
                <a:solidFill>
                  <a:srgbClr val="FF0000"/>
                </a:solidFill>
                <a:latin typeface="Marlett" charset="0"/>
                <a:sym typeface="+mn-ea"/>
              </a:rPr>
              <a:t>         </a:t>
            </a:r>
            <a:r>
              <a:rPr lang="zh-CN" altLang="en-US" dirty="0">
                <a:solidFill>
                  <a:srgbClr val="FF0000"/>
                </a:solidFill>
                <a:latin typeface="Times New Roman"/>
                <a:sym typeface="+mn-ea"/>
              </a:rPr>
              <a:t>奇偶校验码</a:t>
            </a:r>
            <a:r>
              <a:rPr lang="zh-CN" altLang="en-US" dirty="0">
                <a:solidFill>
                  <a:srgbClr val="121212"/>
                </a:solidFill>
                <a:latin typeface="Times New Roman"/>
                <a:sym typeface="+mn-ea"/>
              </a:rPr>
              <a:t>，是一种完全基于</a:t>
            </a:r>
            <a:r>
              <a:rPr lang="en-US" altLang="zh-CN" dirty="0">
                <a:solidFill>
                  <a:srgbClr val="121212"/>
                </a:solidFill>
                <a:latin typeface="Times New Roman"/>
                <a:sym typeface="+mn-ea"/>
              </a:rPr>
              <a:t>XOR</a:t>
            </a:r>
            <a:r>
              <a:rPr lang="zh-CN" altLang="en-US" dirty="0">
                <a:solidFill>
                  <a:srgbClr val="121212"/>
                </a:solidFill>
                <a:latin typeface="Times New Roman"/>
                <a:sym typeface="+mn-ea"/>
              </a:rPr>
              <a:t>运算的纠删码，他是一种条块宽度为</a:t>
            </a:r>
            <a:r>
              <a:rPr lang="en-US" altLang="zh-CN" dirty="0">
                <a:solidFill>
                  <a:srgbClr val="121212"/>
                </a:solidFill>
                <a:latin typeface="Times New Roman"/>
                <a:sym typeface="+mn-ea"/>
              </a:rPr>
              <a:t>w=1</a:t>
            </a:r>
            <a:r>
              <a:rPr lang="zh-CN" altLang="en-US" dirty="0">
                <a:solidFill>
                  <a:srgbClr val="121212"/>
                </a:solidFill>
                <a:latin typeface="Times New Roman"/>
                <a:sym typeface="+mn-ea"/>
              </a:rPr>
              <a:t>的特殊水平码。</a:t>
            </a:r>
            <a:r>
              <a:rPr lang="zh-CN" altLang="en-US" dirty="0">
                <a:solidFill>
                  <a:srgbClr val="00CC99">
                    <a:lumMod val="75000"/>
                  </a:srgbClr>
                </a:solidFill>
                <a:latin typeface="Times New Roman"/>
                <a:sym typeface="+mn-ea"/>
              </a:rPr>
              <a:t>最简单的奇偶校验码是单奇偶校验码</a:t>
            </a:r>
            <a:r>
              <a:rPr lang="zh-CN" altLang="en-US" dirty="0">
                <a:solidFill>
                  <a:srgbClr val="121212"/>
                </a:solidFill>
                <a:latin typeface="Times New Roman"/>
                <a:sym typeface="+mn-ea"/>
              </a:rPr>
              <a:t>：在一个条带中，只有唯一的一个校验条块，这个校验条块由所有用户数据条块的</a:t>
            </a:r>
            <a:r>
              <a:rPr lang="en-US" altLang="zh-CN" dirty="0">
                <a:solidFill>
                  <a:srgbClr val="121212"/>
                </a:solidFill>
                <a:latin typeface="Times New Roman"/>
                <a:sym typeface="+mn-ea"/>
              </a:rPr>
              <a:t>XOR</a:t>
            </a:r>
            <a:r>
              <a:rPr lang="zh-CN" altLang="en-US" dirty="0">
                <a:solidFill>
                  <a:srgbClr val="121212"/>
                </a:solidFill>
                <a:latin typeface="Times New Roman"/>
                <a:sym typeface="+mn-ea"/>
              </a:rPr>
              <a:t>运算之和得到。于是单奇偶校验的容错能力为</a:t>
            </a:r>
            <a:r>
              <a:rPr lang="en-US" altLang="zh-CN" dirty="0">
                <a:solidFill>
                  <a:srgbClr val="121212"/>
                </a:solidFill>
                <a:latin typeface="Times New Roman"/>
                <a:sym typeface="+mn-ea"/>
              </a:rPr>
              <a:t>1</a:t>
            </a:r>
            <a:r>
              <a:rPr lang="zh-CN" altLang="en-US" dirty="0">
                <a:solidFill>
                  <a:srgbClr val="121212"/>
                </a:solidFill>
                <a:latin typeface="Times New Roman"/>
                <a:sym typeface="+mn-ea"/>
              </a:rPr>
              <a:t>，其最典型的应用是</a:t>
            </a:r>
            <a:r>
              <a:rPr lang="en-US" altLang="zh-CN" dirty="0">
                <a:solidFill>
                  <a:srgbClr val="121212"/>
                </a:solidFill>
                <a:latin typeface="Times New Roman"/>
                <a:sym typeface="+mn-ea"/>
              </a:rPr>
              <a:t>RAID 5</a:t>
            </a:r>
            <a:r>
              <a:rPr lang="zh-CN" altLang="en-US" dirty="0">
                <a:solidFill>
                  <a:srgbClr val="121212"/>
                </a:solidFill>
                <a:latin typeface="Times New Roman"/>
                <a:sym typeface="+mn-ea"/>
              </a:rPr>
              <a:t>。</a:t>
            </a:r>
            <a:endParaRPr lang="en-US" altLang="zh-CN" dirty="0">
              <a:solidFill>
                <a:srgbClr val="121212"/>
              </a:solidFill>
              <a:latin typeface="Times New Roman"/>
              <a:sym typeface="+mn-ea"/>
            </a:endParaRPr>
          </a:p>
          <a:p>
            <a:pPr eaLnBrk="0" fontAlgn="base" hangingPunct="0">
              <a:lnSpc>
                <a:spcPts val="3800"/>
              </a:lnSpc>
              <a:spcBef>
                <a:spcPct val="0"/>
              </a:spcBef>
              <a:spcAft>
                <a:spcPct val="0"/>
              </a:spcAft>
            </a:pPr>
            <a:r>
              <a:rPr lang="zh-CN" altLang="en-US" dirty="0">
                <a:solidFill>
                  <a:srgbClr val="121212"/>
                </a:solidFill>
                <a:latin typeface="Times New Roman"/>
                <a:sym typeface="+mn-ea"/>
              </a:rPr>
              <a:t>          基于单奇偶校验码可以构造出容错能力更高的奇偶校验码，大致可分为两类：</a:t>
            </a:r>
            <a:endParaRPr lang="en-US" altLang="zh-CN" dirty="0">
              <a:solidFill>
                <a:srgbClr val="121212"/>
              </a:solidFill>
              <a:latin typeface="Times New Roman"/>
              <a:sym typeface="+mn-ea"/>
            </a:endParaRPr>
          </a:p>
          <a:p>
            <a:pPr lvl="1" eaLnBrk="0" fontAlgn="base" hangingPunct="0">
              <a:lnSpc>
                <a:spcPts val="3800"/>
              </a:lnSpc>
              <a:spcBef>
                <a:spcPct val="0"/>
              </a:spcBef>
              <a:spcAft>
                <a:spcPct val="0"/>
              </a:spcAft>
            </a:pPr>
            <a:r>
              <a:rPr lang="en-US" altLang="zh-CN" sz="2000" dirty="0">
                <a:solidFill>
                  <a:srgbClr val="000000"/>
                </a:solidFill>
                <a:latin typeface="Times New Roman"/>
                <a:ea typeface="黑体" panose="02010609060101010101" pitchFamily="49" charset="-122"/>
                <a:sym typeface="+mn-ea"/>
              </a:rPr>
              <a:t>(1)</a:t>
            </a:r>
            <a:r>
              <a:rPr lang="zh-CN" altLang="en-US" sz="2000" dirty="0">
                <a:solidFill>
                  <a:srgbClr val="3333CC"/>
                </a:solidFill>
                <a:latin typeface="Times New Roman"/>
                <a:ea typeface="黑体" panose="02010609060101010101" pitchFamily="49" charset="-122"/>
                <a:sym typeface="+mn-ea"/>
              </a:rPr>
              <a:t>根据几何结构构造的奇偶校验码</a:t>
            </a:r>
            <a:r>
              <a:rPr lang="zh-CN" altLang="en-US" sz="2000" dirty="0">
                <a:solidFill>
                  <a:srgbClr val="121212"/>
                </a:solidFill>
                <a:latin typeface="Times New Roman"/>
                <a:ea typeface="黑体" panose="02010609060101010101" pitchFamily="49" charset="-122"/>
                <a:sym typeface="+mn-ea"/>
              </a:rPr>
              <a:t>，例如水平垂直奇偶校验码</a:t>
            </a:r>
            <a:endParaRPr lang="en-US" altLang="zh-CN" sz="2000" dirty="0">
              <a:solidFill>
                <a:srgbClr val="121212"/>
              </a:solidFill>
              <a:latin typeface="Times New Roman"/>
              <a:ea typeface="黑体" panose="02010609060101010101" pitchFamily="49" charset="-122"/>
              <a:sym typeface="+mn-ea"/>
            </a:endParaRPr>
          </a:p>
          <a:p>
            <a:pPr lvl="1" eaLnBrk="0" fontAlgn="base" hangingPunct="0">
              <a:lnSpc>
                <a:spcPts val="3800"/>
              </a:lnSpc>
              <a:spcBef>
                <a:spcPct val="0"/>
              </a:spcBef>
              <a:spcAft>
                <a:spcPct val="0"/>
              </a:spcAft>
            </a:pPr>
            <a:r>
              <a:rPr lang="en-US" altLang="zh-CN" sz="2000" dirty="0">
                <a:solidFill>
                  <a:srgbClr val="000000"/>
                </a:solidFill>
                <a:latin typeface="Times New Roman"/>
                <a:ea typeface="黑体" panose="02010609060101010101" pitchFamily="49" charset="-122"/>
                <a:sym typeface="+mn-ea"/>
              </a:rPr>
              <a:t>(2)</a:t>
            </a:r>
            <a:r>
              <a:rPr lang="zh-CN" altLang="en-US" sz="2000" dirty="0">
                <a:solidFill>
                  <a:srgbClr val="3333CC"/>
                </a:solidFill>
                <a:latin typeface="Times New Roman"/>
                <a:ea typeface="黑体" panose="02010609060101010101" pitchFamily="49" charset="-122"/>
                <a:sym typeface="+mn-ea"/>
              </a:rPr>
              <a:t>根据图结构构造的奇偶校验码</a:t>
            </a:r>
            <a:r>
              <a:rPr lang="zh-CN" altLang="en-US" sz="2000" dirty="0">
                <a:solidFill>
                  <a:srgbClr val="121212"/>
                </a:solidFill>
                <a:latin typeface="Times New Roman"/>
                <a:ea typeface="黑体" panose="02010609060101010101" pitchFamily="49" charset="-122"/>
                <a:sym typeface="+mn-ea"/>
              </a:rPr>
              <a:t>，例如基于</a:t>
            </a:r>
            <a:r>
              <a:rPr lang="en-US" altLang="zh-CN" sz="2000" dirty="0">
                <a:solidFill>
                  <a:srgbClr val="121212"/>
                </a:solidFill>
                <a:latin typeface="Times New Roman"/>
                <a:ea typeface="黑体" panose="02010609060101010101" pitchFamily="49" charset="-122"/>
                <a:sym typeface="+mn-ea"/>
              </a:rPr>
              <a:t>Tanner</a:t>
            </a:r>
            <a:r>
              <a:rPr lang="zh-CN" altLang="en-US" sz="2000" dirty="0">
                <a:solidFill>
                  <a:srgbClr val="121212"/>
                </a:solidFill>
                <a:latin typeface="Times New Roman"/>
                <a:ea typeface="黑体" panose="02010609060101010101" pitchFamily="49" charset="-122"/>
                <a:sym typeface="+mn-ea"/>
              </a:rPr>
              <a:t>图的</a:t>
            </a:r>
            <a:r>
              <a:rPr lang="en-US" altLang="zh-CN" sz="2000" dirty="0">
                <a:solidFill>
                  <a:srgbClr val="121212"/>
                </a:solidFill>
                <a:latin typeface="Times New Roman"/>
                <a:ea typeface="黑体" panose="02010609060101010101" pitchFamily="49" charset="-122"/>
                <a:sym typeface="+mn-ea"/>
              </a:rPr>
              <a:t>LDPC</a:t>
            </a:r>
            <a:r>
              <a:rPr lang="zh-CN" altLang="en-US" sz="2000" dirty="0">
                <a:solidFill>
                  <a:srgbClr val="121212"/>
                </a:solidFill>
                <a:latin typeface="Times New Roman"/>
                <a:ea typeface="黑体" panose="02010609060101010101" pitchFamily="49" charset="-122"/>
                <a:sym typeface="+mn-ea"/>
              </a:rPr>
              <a:t>码</a:t>
            </a:r>
            <a:endParaRPr lang="en-US" altLang="zh-CN" sz="2000" dirty="0">
              <a:solidFill>
                <a:srgbClr val="121212"/>
              </a:solidFill>
              <a:latin typeface="Times New Roman"/>
              <a:ea typeface="黑体" panose="02010609060101010101" pitchFamily="49" charset="-122"/>
              <a:sym typeface="+mn-ea"/>
            </a:endParaRPr>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水平垂直奇偶校验码</a:t>
            </a:r>
          </a:p>
        </p:txBody>
      </p:sp>
      <p:sp>
        <p:nvSpPr>
          <p:cNvPr id="14" name="文本框 13"/>
          <p:cNvSpPr txBox="1"/>
          <p:nvPr/>
        </p:nvSpPr>
        <p:spPr>
          <a:xfrm>
            <a:off x="2042152" y="990664"/>
            <a:ext cx="8107696" cy="309245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121212"/>
                </a:solidFill>
                <a:latin typeface="Times New Roman"/>
                <a:sym typeface="+mn-ea"/>
              </a:rPr>
              <a:t>       根据几何结构构造的奇偶校验码。</a:t>
            </a:r>
            <a:r>
              <a:rPr lang="zh-CN" altLang="en-US" dirty="0">
                <a:solidFill>
                  <a:srgbClr val="00CC99">
                    <a:lumMod val="75000"/>
                  </a:srgbClr>
                </a:solidFill>
                <a:latin typeface="Times New Roman"/>
                <a:sym typeface="+mn-ea"/>
              </a:rPr>
              <a:t>这类奇偶校验码将一个条带中的条块在逻辑上组织成多维几何结构，然后在每个方向上采用单奇偶校验码进行编码</a:t>
            </a:r>
            <a:r>
              <a:rPr lang="zh-CN" altLang="en-US" dirty="0">
                <a:solidFill>
                  <a:srgbClr val="121212"/>
                </a:solidFill>
                <a:latin typeface="Times New Roman"/>
                <a:sym typeface="+mn-ea"/>
              </a:rPr>
              <a:t>，因此具有十分规整的结构，十分易于实现。但是，他们的存储效率通常较低。</a:t>
            </a:r>
            <a:endParaRPr lang="en-US" altLang="zh-CN" dirty="0">
              <a:solidFill>
                <a:srgbClr val="121212"/>
              </a:solidFill>
              <a:latin typeface="Times New Roman"/>
              <a:sym typeface="+mn-ea"/>
            </a:endParaRPr>
          </a:p>
          <a:p>
            <a:pPr lvl="1" algn="just" eaLnBrk="0" fontAlgn="base" hangingPunct="0">
              <a:lnSpc>
                <a:spcPts val="3400"/>
              </a:lnSpc>
              <a:spcBef>
                <a:spcPct val="0"/>
              </a:spcBef>
              <a:spcAft>
                <a:spcPct val="0"/>
              </a:spcAft>
            </a:pPr>
            <a:r>
              <a:rPr lang="en-US" altLang="zh-CN" sz="2000" dirty="0" err="1">
                <a:solidFill>
                  <a:srgbClr val="121212"/>
                </a:solidFill>
                <a:latin typeface="Times New Roman"/>
                <a:ea typeface="黑体" panose="02010609060101010101" pitchFamily="49" charset="-122"/>
                <a:sym typeface="+mn-ea"/>
              </a:rPr>
              <a:t>eg</a:t>
            </a:r>
            <a:r>
              <a:rPr lang="zh-CN" altLang="en-US" sz="2000" dirty="0">
                <a:solidFill>
                  <a:srgbClr val="121212"/>
                </a:solidFill>
                <a:latin typeface="Times New Roman"/>
                <a:ea typeface="黑体" panose="02010609060101010101" pitchFamily="49" charset="-122"/>
                <a:sym typeface="+mn-ea"/>
              </a:rPr>
              <a:t>：</a:t>
            </a:r>
            <a:r>
              <a:rPr lang="zh-CN" altLang="en-US" sz="2000" dirty="0">
                <a:solidFill>
                  <a:srgbClr val="FF0000"/>
                </a:solidFill>
                <a:latin typeface="Times New Roman"/>
                <a:ea typeface="黑体" panose="02010609060101010101" pitchFamily="49" charset="-122"/>
                <a:sym typeface="+mn-ea"/>
              </a:rPr>
              <a:t>水平垂直奇偶校验码</a:t>
            </a:r>
            <a:endParaRPr lang="en-US" altLang="zh-CN" sz="2000" dirty="0">
              <a:solidFill>
                <a:srgbClr val="FF0000"/>
              </a:solidFill>
              <a:latin typeface="Times New Roman"/>
              <a:ea typeface="黑体" panose="02010609060101010101" pitchFamily="49" charset="-122"/>
              <a:sym typeface="+mn-ea"/>
            </a:endParaRPr>
          </a:p>
          <a:p>
            <a:pPr eaLnBrk="0" fontAlgn="base" hangingPunct="0">
              <a:lnSpc>
                <a:spcPts val="3400"/>
              </a:lnSpc>
              <a:spcBef>
                <a:spcPct val="0"/>
              </a:spcBef>
              <a:spcAft>
                <a:spcPct val="0"/>
              </a:spcAft>
            </a:pPr>
            <a:r>
              <a:rPr lang="zh-CN" altLang="en-US" dirty="0">
                <a:solidFill>
                  <a:srgbClr val="121212"/>
                </a:solidFill>
                <a:latin typeface="Times New Roman"/>
                <a:sym typeface="+mn-ea"/>
              </a:rPr>
              <a:t>        编码方式：他将一个条带中的条块在逻辑上组织成二维阵列结构，然后在水平和垂直方向上分别采取单奇偶校验码进行编码。</a:t>
            </a:r>
            <a:endParaRPr lang="en-US" altLang="zh-CN" dirty="0">
              <a:solidFill>
                <a:srgbClr val="121212"/>
              </a:solidFill>
              <a:latin typeface="Times New Roman"/>
              <a:sym typeface="+mn-ea"/>
            </a:endParaRPr>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2153" t="5437" r="2153" b="2652"/>
          <a:stretch>
            <a:fillRect/>
          </a:stretch>
        </p:blipFill>
        <p:spPr>
          <a:xfrm>
            <a:off x="1752714" y="4273040"/>
            <a:ext cx="5029068" cy="2127682"/>
          </a:xfrm>
          <a:prstGeom prst="rect">
            <a:avLst/>
          </a:prstGeom>
        </p:spPr>
      </p:pic>
      <mc:AlternateContent xmlns:mc="http://schemas.openxmlformats.org/markup-compatibility/2006" xmlns:a14="http://schemas.microsoft.com/office/drawing/2010/main">
        <mc:Choice Requires="a14">
          <p:sp>
            <p:nvSpPr>
              <p:cNvPr id="6" name="文本框 5"/>
              <p:cNvSpPr txBox="1"/>
              <p:nvPr/>
            </p:nvSpPr>
            <p:spPr>
              <a:xfrm>
                <a:off x="7162773" y="4094867"/>
                <a:ext cx="3405645" cy="263546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sz="1800" i="1" dirty="0">
                    <a:solidFill>
                      <a:srgbClr val="121212"/>
                    </a:solidFill>
                    <a:latin typeface="Times New Roman"/>
                    <a:sym typeface="+mn-ea"/>
                  </a:rPr>
                  <a:t>D</a:t>
                </a:r>
                <a:r>
                  <a:rPr lang="en-US" altLang="zh-CN" sz="1800" baseline="-25000" dirty="0">
                    <a:solidFill>
                      <a:srgbClr val="121212"/>
                    </a:solidFill>
                    <a:latin typeface="Times New Roman"/>
                    <a:sym typeface="+mn-ea"/>
                  </a:rPr>
                  <a:t>-,-</a:t>
                </a:r>
                <a:r>
                  <a:rPr lang="zh-CN" altLang="en-US" sz="1800" dirty="0">
                    <a:solidFill>
                      <a:srgbClr val="121212"/>
                    </a:solidFill>
                    <a:latin typeface="Times New Roman"/>
                    <a:sym typeface="+mn-ea"/>
                  </a:rPr>
                  <a:t>表示用户数据条块</a:t>
                </a:r>
                <a:endParaRPr lang="en-US" altLang="zh-CN" sz="1800" dirty="0">
                  <a:solidFill>
                    <a:srgbClr val="121212"/>
                  </a:solidFill>
                  <a:latin typeface="Times New Roman"/>
                  <a:sym typeface="+mn-ea"/>
                </a:endParaRPr>
              </a:p>
              <a:p>
                <a:pPr eaLnBrk="0" fontAlgn="base" hangingPunct="0">
                  <a:lnSpc>
                    <a:spcPts val="3400"/>
                  </a:lnSpc>
                  <a:spcBef>
                    <a:spcPct val="0"/>
                  </a:spcBef>
                  <a:spcAft>
                    <a:spcPct val="0"/>
                  </a:spcAft>
                </a:pPr>
                <a:r>
                  <a:rPr lang="en-US" altLang="zh-CN" sz="1800" i="1" dirty="0">
                    <a:solidFill>
                      <a:srgbClr val="121212"/>
                    </a:solidFill>
                    <a:latin typeface="Times New Roman"/>
                    <a:sym typeface="+mn-ea"/>
                  </a:rPr>
                  <a:t>P</a:t>
                </a:r>
                <a:r>
                  <a:rPr lang="en-US" altLang="zh-CN" sz="1800" baseline="-25000" dirty="0">
                    <a:solidFill>
                      <a:srgbClr val="121212"/>
                    </a:solidFill>
                    <a:latin typeface="Times New Roman"/>
                    <a:sym typeface="+mn-ea"/>
                  </a:rPr>
                  <a:t>-,-</a:t>
                </a:r>
                <a:r>
                  <a:rPr lang="zh-CN" altLang="en-US" sz="1800" dirty="0">
                    <a:solidFill>
                      <a:srgbClr val="121212"/>
                    </a:solidFill>
                    <a:latin typeface="Times New Roman"/>
                    <a:sym typeface="+mn-ea"/>
                  </a:rPr>
                  <a:t>表示校验条块</a:t>
                </a:r>
                <a:endParaRPr lang="en-US" altLang="zh-CN" sz="1800" dirty="0">
                  <a:solidFill>
                    <a:srgbClr val="121212"/>
                  </a:solidFill>
                  <a:latin typeface="Times New Roman"/>
                  <a:sym typeface="+mn-ea"/>
                </a:endParaRPr>
              </a:p>
              <a:p>
                <a:pPr eaLnBrk="0" fontAlgn="base" hangingPunct="0">
                  <a:lnSpc>
                    <a:spcPts val="3400"/>
                  </a:lnSpc>
                  <a:spcBef>
                    <a:spcPct val="0"/>
                  </a:spcBef>
                  <a:spcAft>
                    <a:spcPct val="0"/>
                  </a:spcAft>
                </a:pPr>
                <a:r>
                  <a:rPr lang="en-US" altLang="zh-CN" sz="1800" i="1" dirty="0">
                    <a:solidFill>
                      <a:srgbClr val="121212"/>
                    </a:solidFill>
                    <a:latin typeface="Times New Roman"/>
                    <a:sym typeface="+mn-ea"/>
                  </a:rPr>
                  <a:t>P</a:t>
                </a:r>
                <a:r>
                  <a:rPr lang="en-US" altLang="zh-CN" sz="1800" i="1" baseline="-25000" dirty="0">
                    <a:solidFill>
                      <a:srgbClr val="121212"/>
                    </a:solidFill>
                    <a:latin typeface="Times New Roman"/>
                    <a:sym typeface="+mn-ea"/>
                  </a:rPr>
                  <a:t>i</a:t>
                </a:r>
                <a:r>
                  <a:rPr lang="en-US" altLang="zh-CN" sz="1800" baseline="-25000" dirty="0">
                    <a:solidFill>
                      <a:srgbClr val="121212"/>
                    </a:solidFill>
                    <a:latin typeface="Times New Roman"/>
                    <a:sym typeface="+mn-ea"/>
                  </a:rPr>
                  <a:t>,*</a:t>
                </a:r>
                <a:r>
                  <a:rPr lang="en-US" altLang="zh-CN" sz="1800" dirty="0">
                    <a:solidFill>
                      <a:srgbClr val="121212"/>
                    </a:solidFill>
                    <a:latin typeface="Times New Roman"/>
                    <a:sym typeface="+mn-ea"/>
                  </a:rPr>
                  <a:t>=</a:t>
                </a:r>
                <a14:m>
                  <m:oMath xmlns:m="http://schemas.openxmlformats.org/officeDocument/2006/math">
                    <m:sSubSup>
                      <m:sSubSupPr>
                        <m:ctrlPr>
                          <a:rPr lang="en-US" altLang="zh-CN" sz="1800" i="1">
                            <a:solidFill>
                              <a:srgbClr val="121212"/>
                            </a:solidFill>
                            <a:latin typeface="Cambria Math" panose="02040503050406030204" pitchFamily="18" charset="0"/>
                            <a:ea typeface="Cambria Math" panose="02040503050406030204" pitchFamily="18" charset="0"/>
                            <a:sym typeface="+mn-ea"/>
                          </a:rPr>
                        </m:ctrlPr>
                      </m:sSubSupPr>
                      <m:e>
                        <m:r>
                          <a:rPr lang="en-US" altLang="zh-CN" sz="1800">
                            <a:solidFill>
                              <a:srgbClr val="121212"/>
                            </a:solidFill>
                            <a:latin typeface="Cambria Math" panose="02040503050406030204" pitchFamily="18" charset="0"/>
                            <a:ea typeface="Cambria Math" panose="02040503050406030204" pitchFamily="18" charset="0"/>
                            <a:sym typeface="+mn-ea"/>
                          </a:rPr>
                          <m:t>∑</m:t>
                        </m:r>
                      </m:e>
                      <m:sub>
                        <m:r>
                          <a:rPr lang="en-US" altLang="zh-CN" sz="1800" i="1">
                            <a:solidFill>
                              <a:srgbClr val="121212"/>
                            </a:solidFill>
                            <a:latin typeface="Cambria Math" panose="02040503050406030204" pitchFamily="18" charset="0"/>
                            <a:ea typeface="Cambria Math" panose="02040503050406030204" pitchFamily="18" charset="0"/>
                            <a:sym typeface="+mn-ea"/>
                          </a:rPr>
                          <m:t>𝑗</m:t>
                        </m:r>
                        <m:r>
                          <a:rPr lang="en-US" altLang="zh-CN" sz="1800">
                            <a:solidFill>
                              <a:srgbClr val="121212"/>
                            </a:solidFill>
                            <a:latin typeface="Cambria Math" panose="02040503050406030204" pitchFamily="18" charset="0"/>
                            <a:ea typeface="Cambria Math" panose="02040503050406030204" pitchFamily="18" charset="0"/>
                            <a:sym typeface="+mn-ea"/>
                          </a:rPr>
                          <m:t>=0</m:t>
                        </m:r>
                      </m:sub>
                      <m:sup>
                        <m:sSub>
                          <m:sSubPr>
                            <m:ctrlPr>
                              <a:rPr lang="en-US" altLang="zh-CN" sz="1800" i="1">
                                <a:solidFill>
                                  <a:srgbClr val="121212"/>
                                </a:solidFill>
                                <a:latin typeface="Cambria Math" panose="02040503050406030204" pitchFamily="18" charset="0"/>
                                <a:ea typeface="Cambria Math" panose="02040503050406030204" pitchFamily="18" charset="0"/>
                                <a:sym typeface="+mn-ea"/>
                              </a:rPr>
                            </m:ctrlPr>
                          </m:sSubPr>
                          <m:e>
                            <m:r>
                              <a:rPr lang="en-US" altLang="zh-CN" sz="1800" i="1">
                                <a:solidFill>
                                  <a:srgbClr val="121212"/>
                                </a:solidFill>
                                <a:latin typeface="Cambria Math" panose="02040503050406030204" pitchFamily="18" charset="0"/>
                                <a:ea typeface="Cambria Math" panose="02040503050406030204" pitchFamily="18" charset="0"/>
                                <a:sym typeface="+mn-ea"/>
                              </a:rPr>
                              <m:t>𝐾</m:t>
                            </m:r>
                          </m:e>
                          <m:sub>
                            <m:r>
                              <a:rPr lang="en-US" altLang="zh-CN" sz="1800">
                                <a:solidFill>
                                  <a:srgbClr val="121212"/>
                                </a:solidFill>
                                <a:latin typeface="Cambria Math" panose="02040503050406030204" pitchFamily="18" charset="0"/>
                                <a:ea typeface="Cambria Math" panose="02040503050406030204" pitchFamily="18" charset="0"/>
                                <a:sym typeface="+mn-ea"/>
                              </a:rPr>
                              <m:t>2</m:t>
                            </m:r>
                          </m:sub>
                        </m:sSub>
                        <m:r>
                          <a:rPr lang="en-US" altLang="zh-CN" sz="1800">
                            <a:solidFill>
                              <a:srgbClr val="121212"/>
                            </a:solidFill>
                            <a:latin typeface="Cambria Math" panose="02040503050406030204" pitchFamily="18" charset="0"/>
                            <a:ea typeface="Cambria Math" panose="02040503050406030204" pitchFamily="18" charset="0"/>
                            <a:sym typeface="+mn-ea"/>
                          </a:rPr>
                          <m:t>−1</m:t>
                        </m:r>
                      </m:sup>
                    </m:sSubSup>
                  </m:oMath>
                </a14:m>
                <a:r>
                  <a:rPr lang="en-US" altLang="zh-CN" sz="1800" i="1" dirty="0" err="1">
                    <a:solidFill>
                      <a:srgbClr val="121212"/>
                    </a:solidFill>
                    <a:latin typeface="Times New Roman"/>
                    <a:sym typeface="+mn-ea"/>
                  </a:rPr>
                  <a:t>D</a:t>
                </a:r>
                <a:r>
                  <a:rPr lang="en-US" altLang="zh-CN" sz="1800" i="1" baseline="-25000" dirty="0" err="1">
                    <a:solidFill>
                      <a:srgbClr val="121212"/>
                    </a:solidFill>
                    <a:latin typeface="Times New Roman"/>
                    <a:sym typeface="+mn-ea"/>
                  </a:rPr>
                  <a:t>i,j</a:t>
                </a:r>
                <a:endParaRPr lang="en-US" altLang="zh-CN" sz="1800" i="1" baseline="-25000" dirty="0">
                  <a:solidFill>
                    <a:srgbClr val="121212"/>
                  </a:solidFill>
                  <a:latin typeface="Times New Roman"/>
                  <a:sym typeface="+mn-ea"/>
                </a:endParaRPr>
              </a:p>
              <a:p>
                <a:pPr eaLnBrk="0" fontAlgn="base" hangingPunct="0">
                  <a:lnSpc>
                    <a:spcPts val="3400"/>
                  </a:lnSpc>
                  <a:spcBef>
                    <a:spcPct val="0"/>
                  </a:spcBef>
                  <a:spcAft>
                    <a:spcPct val="0"/>
                  </a:spcAft>
                </a:pPr>
                <a:r>
                  <a:rPr lang="en-US" altLang="zh-CN" sz="1800" i="1" dirty="0">
                    <a:solidFill>
                      <a:srgbClr val="121212"/>
                    </a:solidFill>
                    <a:latin typeface="Times New Roman"/>
                    <a:sym typeface="+mn-ea"/>
                  </a:rPr>
                  <a:t>P</a:t>
                </a:r>
                <a:r>
                  <a:rPr lang="en-US" altLang="zh-CN" sz="1800" i="1" baseline="-25000" dirty="0">
                    <a:solidFill>
                      <a:srgbClr val="121212"/>
                    </a:solidFill>
                    <a:latin typeface="Times New Roman"/>
                    <a:sym typeface="+mn-ea"/>
                  </a:rPr>
                  <a:t>*,j</a:t>
                </a:r>
                <a:r>
                  <a:rPr lang="en-US" altLang="zh-CN" sz="1800" dirty="0">
                    <a:solidFill>
                      <a:srgbClr val="121212"/>
                    </a:solidFill>
                    <a:latin typeface="Times New Roman"/>
                    <a:sym typeface="+mn-ea"/>
                  </a:rPr>
                  <a:t>=</a:t>
                </a:r>
                <a14:m>
                  <m:oMath xmlns:m="http://schemas.openxmlformats.org/officeDocument/2006/math">
                    <m:sSubSup>
                      <m:sSubSupPr>
                        <m:ctrlPr>
                          <a:rPr lang="en-US" altLang="zh-CN" sz="1800" i="1">
                            <a:solidFill>
                              <a:srgbClr val="121212"/>
                            </a:solidFill>
                            <a:latin typeface="Cambria Math" panose="02040503050406030204" pitchFamily="18" charset="0"/>
                            <a:ea typeface="Cambria Math" panose="02040503050406030204" pitchFamily="18" charset="0"/>
                            <a:sym typeface="+mn-ea"/>
                          </a:rPr>
                        </m:ctrlPr>
                      </m:sSubSupPr>
                      <m:e>
                        <m:r>
                          <a:rPr lang="en-US" altLang="zh-CN" sz="1800">
                            <a:solidFill>
                              <a:srgbClr val="121212"/>
                            </a:solidFill>
                            <a:latin typeface="Cambria Math" panose="02040503050406030204" pitchFamily="18" charset="0"/>
                            <a:ea typeface="Cambria Math" panose="02040503050406030204" pitchFamily="18" charset="0"/>
                            <a:sym typeface="+mn-ea"/>
                          </a:rPr>
                          <m:t>∑</m:t>
                        </m:r>
                      </m:e>
                      <m:sub>
                        <m:r>
                          <a:rPr lang="en-US" altLang="zh-CN" sz="1800" i="1">
                            <a:solidFill>
                              <a:srgbClr val="121212"/>
                            </a:solidFill>
                            <a:latin typeface="Cambria Math" panose="02040503050406030204" pitchFamily="18" charset="0"/>
                            <a:ea typeface="Cambria Math" panose="02040503050406030204" pitchFamily="18" charset="0"/>
                            <a:sym typeface="+mn-ea"/>
                          </a:rPr>
                          <m:t>𝑖</m:t>
                        </m:r>
                        <m:r>
                          <a:rPr lang="en-US" altLang="zh-CN" sz="1800">
                            <a:solidFill>
                              <a:srgbClr val="121212"/>
                            </a:solidFill>
                            <a:latin typeface="Cambria Math" panose="02040503050406030204" pitchFamily="18" charset="0"/>
                            <a:ea typeface="Cambria Math" panose="02040503050406030204" pitchFamily="18" charset="0"/>
                            <a:sym typeface="+mn-ea"/>
                          </a:rPr>
                          <m:t>=0</m:t>
                        </m:r>
                      </m:sub>
                      <m:sup>
                        <m:sSub>
                          <m:sSubPr>
                            <m:ctrlPr>
                              <a:rPr lang="en-US" altLang="zh-CN" sz="1800" i="1">
                                <a:solidFill>
                                  <a:srgbClr val="121212"/>
                                </a:solidFill>
                                <a:latin typeface="Cambria Math" panose="02040503050406030204" pitchFamily="18" charset="0"/>
                                <a:ea typeface="Cambria Math" panose="02040503050406030204" pitchFamily="18" charset="0"/>
                                <a:sym typeface="+mn-ea"/>
                              </a:rPr>
                            </m:ctrlPr>
                          </m:sSubPr>
                          <m:e>
                            <m:r>
                              <a:rPr lang="en-US" altLang="zh-CN" sz="1800" i="1">
                                <a:solidFill>
                                  <a:srgbClr val="121212"/>
                                </a:solidFill>
                                <a:latin typeface="Cambria Math" panose="02040503050406030204" pitchFamily="18" charset="0"/>
                                <a:ea typeface="Cambria Math" panose="02040503050406030204" pitchFamily="18" charset="0"/>
                                <a:sym typeface="+mn-ea"/>
                              </a:rPr>
                              <m:t>𝐾</m:t>
                            </m:r>
                          </m:e>
                          <m:sub>
                            <m:r>
                              <a:rPr lang="en-US" altLang="zh-CN" sz="1800">
                                <a:solidFill>
                                  <a:srgbClr val="121212"/>
                                </a:solidFill>
                                <a:latin typeface="Cambria Math" panose="02040503050406030204" pitchFamily="18" charset="0"/>
                                <a:ea typeface="Cambria Math" panose="02040503050406030204" pitchFamily="18" charset="0"/>
                                <a:sym typeface="+mn-ea"/>
                              </a:rPr>
                              <m:t>1</m:t>
                            </m:r>
                          </m:sub>
                        </m:sSub>
                        <m:r>
                          <a:rPr lang="en-US" altLang="zh-CN" sz="1800">
                            <a:solidFill>
                              <a:srgbClr val="121212"/>
                            </a:solidFill>
                            <a:latin typeface="Cambria Math" panose="02040503050406030204" pitchFamily="18" charset="0"/>
                            <a:ea typeface="Cambria Math" panose="02040503050406030204" pitchFamily="18" charset="0"/>
                            <a:sym typeface="+mn-ea"/>
                          </a:rPr>
                          <m:t>−1</m:t>
                        </m:r>
                      </m:sup>
                    </m:sSubSup>
                  </m:oMath>
                </a14:m>
                <a:r>
                  <a:rPr lang="en-US" altLang="zh-CN" sz="1800" i="1" dirty="0" err="1">
                    <a:solidFill>
                      <a:srgbClr val="121212"/>
                    </a:solidFill>
                    <a:latin typeface="Times New Roman"/>
                    <a:sym typeface="+mn-ea"/>
                  </a:rPr>
                  <a:t>D</a:t>
                </a:r>
                <a:r>
                  <a:rPr lang="en-US" altLang="zh-CN" sz="1800" i="1" baseline="-25000" dirty="0" err="1">
                    <a:solidFill>
                      <a:srgbClr val="121212"/>
                    </a:solidFill>
                    <a:latin typeface="Times New Roman"/>
                    <a:sym typeface="+mn-ea"/>
                  </a:rPr>
                  <a:t>i,j</a:t>
                </a:r>
                <a:endParaRPr lang="en-US" altLang="zh-CN" sz="1800" i="1" baseline="-25000" dirty="0">
                  <a:solidFill>
                    <a:srgbClr val="121212"/>
                  </a:solidFill>
                  <a:latin typeface="Times New Roman"/>
                  <a:sym typeface="+mn-ea"/>
                </a:endParaRPr>
              </a:p>
              <a:p>
                <a:pPr eaLnBrk="0" fontAlgn="base" hangingPunct="0">
                  <a:lnSpc>
                    <a:spcPts val="3400"/>
                  </a:lnSpc>
                  <a:spcBef>
                    <a:spcPct val="0"/>
                  </a:spcBef>
                  <a:spcAft>
                    <a:spcPct val="0"/>
                  </a:spcAft>
                </a:pPr>
                <a:r>
                  <a:rPr lang="en-US" altLang="zh-CN" sz="1800" i="1" dirty="0">
                    <a:solidFill>
                      <a:srgbClr val="121212"/>
                    </a:solidFill>
                    <a:latin typeface="Times New Roman"/>
                    <a:sym typeface="+mn-ea"/>
                  </a:rPr>
                  <a:t>P</a:t>
                </a:r>
                <a:r>
                  <a:rPr lang="en-US" altLang="zh-CN" sz="1800" i="1" baseline="-25000" dirty="0">
                    <a:solidFill>
                      <a:srgbClr val="121212"/>
                    </a:solidFill>
                    <a:latin typeface="Times New Roman"/>
                    <a:sym typeface="+mn-ea"/>
                  </a:rPr>
                  <a:t>*,j</a:t>
                </a:r>
                <a:r>
                  <a:rPr lang="en-US" altLang="zh-CN" sz="1800" dirty="0">
                    <a:solidFill>
                      <a:srgbClr val="121212"/>
                    </a:solidFill>
                    <a:latin typeface="Times New Roman"/>
                    <a:sym typeface="+mn-ea"/>
                  </a:rPr>
                  <a:t>=</a:t>
                </a:r>
                <a14:m>
                  <m:oMath xmlns:m="http://schemas.openxmlformats.org/officeDocument/2006/math">
                    <m:sSubSup>
                      <m:sSubSupPr>
                        <m:ctrlPr>
                          <a:rPr lang="en-US" altLang="zh-CN" sz="1800" i="1">
                            <a:solidFill>
                              <a:srgbClr val="121212"/>
                            </a:solidFill>
                            <a:latin typeface="Cambria Math" panose="02040503050406030204" pitchFamily="18" charset="0"/>
                            <a:ea typeface="Cambria Math" panose="02040503050406030204" pitchFamily="18" charset="0"/>
                            <a:sym typeface="+mn-ea"/>
                          </a:rPr>
                        </m:ctrlPr>
                      </m:sSubSupPr>
                      <m:e>
                        <m:r>
                          <a:rPr lang="en-US" altLang="zh-CN" sz="1800">
                            <a:solidFill>
                              <a:srgbClr val="121212"/>
                            </a:solidFill>
                            <a:latin typeface="Cambria Math" panose="02040503050406030204" pitchFamily="18" charset="0"/>
                            <a:ea typeface="Cambria Math" panose="02040503050406030204" pitchFamily="18" charset="0"/>
                            <a:sym typeface="+mn-ea"/>
                          </a:rPr>
                          <m:t>∑</m:t>
                        </m:r>
                      </m:e>
                      <m:sub>
                        <m:r>
                          <a:rPr lang="en-US" altLang="zh-CN" sz="1800" i="1">
                            <a:solidFill>
                              <a:srgbClr val="121212"/>
                            </a:solidFill>
                            <a:latin typeface="Cambria Math" panose="02040503050406030204" pitchFamily="18" charset="0"/>
                            <a:ea typeface="Cambria Math" panose="02040503050406030204" pitchFamily="18" charset="0"/>
                            <a:sym typeface="+mn-ea"/>
                          </a:rPr>
                          <m:t>𝑖</m:t>
                        </m:r>
                        <m:r>
                          <a:rPr lang="en-US" altLang="zh-CN" sz="1800">
                            <a:solidFill>
                              <a:srgbClr val="121212"/>
                            </a:solidFill>
                            <a:latin typeface="Cambria Math" panose="02040503050406030204" pitchFamily="18" charset="0"/>
                            <a:ea typeface="Cambria Math" panose="02040503050406030204" pitchFamily="18" charset="0"/>
                            <a:sym typeface="+mn-ea"/>
                          </a:rPr>
                          <m:t>=0</m:t>
                        </m:r>
                      </m:sub>
                      <m:sup>
                        <m:sSub>
                          <m:sSubPr>
                            <m:ctrlPr>
                              <a:rPr lang="en-US" altLang="zh-CN" sz="1800" i="1">
                                <a:solidFill>
                                  <a:srgbClr val="121212"/>
                                </a:solidFill>
                                <a:latin typeface="Cambria Math" panose="02040503050406030204" pitchFamily="18" charset="0"/>
                                <a:ea typeface="Cambria Math" panose="02040503050406030204" pitchFamily="18" charset="0"/>
                                <a:sym typeface="+mn-ea"/>
                              </a:rPr>
                            </m:ctrlPr>
                          </m:sSubPr>
                          <m:e>
                            <m:r>
                              <a:rPr lang="en-US" altLang="zh-CN" sz="1800" i="1">
                                <a:solidFill>
                                  <a:srgbClr val="121212"/>
                                </a:solidFill>
                                <a:latin typeface="Cambria Math" panose="02040503050406030204" pitchFamily="18" charset="0"/>
                                <a:ea typeface="Cambria Math" panose="02040503050406030204" pitchFamily="18" charset="0"/>
                                <a:sym typeface="+mn-ea"/>
                              </a:rPr>
                              <m:t>𝐾</m:t>
                            </m:r>
                          </m:e>
                          <m:sub>
                            <m:r>
                              <a:rPr lang="en-US" altLang="zh-CN" sz="1800">
                                <a:solidFill>
                                  <a:srgbClr val="121212"/>
                                </a:solidFill>
                                <a:latin typeface="Cambria Math" panose="02040503050406030204" pitchFamily="18" charset="0"/>
                                <a:ea typeface="Cambria Math" panose="02040503050406030204" pitchFamily="18" charset="0"/>
                                <a:sym typeface="+mn-ea"/>
                              </a:rPr>
                              <m:t>1</m:t>
                            </m:r>
                          </m:sub>
                        </m:sSub>
                        <m:r>
                          <a:rPr lang="en-US" altLang="zh-CN" sz="1800">
                            <a:solidFill>
                              <a:srgbClr val="121212"/>
                            </a:solidFill>
                            <a:latin typeface="Cambria Math" panose="02040503050406030204" pitchFamily="18" charset="0"/>
                            <a:ea typeface="Cambria Math" panose="02040503050406030204" pitchFamily="18" charset="0"/>
                            <a:sym typeface="+mn-ea"/>
                          </a:rPr>
                          <m:t>−1</m:t>
                        </m:r>
                      </m:sup>
                    </m:sSubSup>
                  </m:oMath>
                </a14:m>
                <a:r>
                  <a:rPr lang="en-US" altLang="zh-CN" sz="1800" dirty="0">
                    <a:solidFill>
                      <a:srgbClr val="121212"/>
                    </a:solidFill>
                    <a:latin typeface="Times New Roman"/>
                    <a:ea typeface="Cambria Math" panose="02040503050406030204" pitchFamily="18" charset="0"/>
                    <a:sym typeface="+mn-ea"/>
                  </a:rPr>
                  <a:t> </a:t>
                </a:r>
                <a14:m>
                  <m:oMath xmlns:m="http://schemas.openxmlformats.org/officeDocument/2006/math">
                    <m:sSubSup>
                      <m:sSubSupPr>
                        <m:ctrlPr>
                          <a:rPr lang="en-US" altLang="zh-CN" sz="1800" i="1">
                            <a:solidFill>
                              <a:srgbClr val="121212"/>
                            </a:solidFill>
                            <a:latin typeface="Cambria Math" panose="02040503050406030204" pitchFamily="18" charset="0"/>
                            <a:ea typeface="Cambria Math" panose="02040503050406030204" pitchFamily="18" charset="0"/>
                            <a:sym typeface="+mn-ea"/>
                          </a:rPr>
                        </m:ctrlPr>
                      </m:sSubSupPr>
                      <m:e>
                        <m:r>
                          <a:rPr lang="en-US" altLang="zh-CN" sz="1800">
                            <a:solidFill>
                              <a:srgbClr val="121212"/>
                            </a:solidFill>
                            <a:latin typeface="Cambria Math" panose="02040503050406030204" pitchFamily="18" charset="0"/>
                            <a:ea typeface="Cambria Math" panose="02040503050406030204" pitchFamily="18" charset="0"/>
                            <a:sym typeface="+mn-ea"/>
                          </a:rPr>
                          <m:t>∑</m:t>
                        </m:r>
                      </m:e>
                      <m:sub>
                        <m:r>
                          <a:rPr lang="en-US" altLang="zh-CN" sz="1800" i="1">
                            <a:solidFill>
                              <a:srgbClr val="121212"/>
                            </a:solidFill>
                            <a:latin typeface="Cambria Math" panose="02040503050406030204" pitchFamily="18" charset="0"/>
                            <a:ea typeface="Cambria Math" panose="02040503050406030204" pitchFamily="18" charset="0"/>
                            <a:sym typeface="+mn-ea"/>
                          </a:rPr>
                          <m:t>𝑗</m:t>
                        </m:r>
                        <m:r>
                          <a:rPr lang="en-US" altLang="zh-CN" sz="1800">
                            <a:solidFill>
                              <a:srgbClr val="121212"/>
                            </a:solidFill>
                            <a:latin typeface="Cambria Math" panose="02040503050406030204" pitchFamily="18" charset="0"/>
                            <a:ea typeface="Cambria Math" panose="02040503050406030204" pitchFamily="18" charset="0"/>
                            <a:sym typeface="+mn-ea"/>
                          </a:rPr>
                          <m:t>=0</m:t>
                        </m:r>
                      </m:sub>
                      <m:sup>
                        <m:sSub>
                          <m:sSubPr>
                            <m:ctrlPr>
                              <a:rPr lang="en-US" altLang="zh-CN" sz="1800" i="1">
                                <a:solidFill>
                                  <a:srgbClr val="121212"/>
                                </a:solidFill>
                                <a:latin typeface="Cambria Math" panose="02040503050406030204" pitchFamily="18" charset="0"/>
                                <a:ea typeface="Cambria Math" panose="02040503050406030204" pitchFamily="18" charset="0"/>
                                <a:sym typeface="+mn-ea"/>
                              </a:rPr>
                            </m:ctrlPr>
                          </m:sSubPr>
                          <m:e>
                            <m:r>
                              <a:rPr lang="en-US" altLang="zh-CN" sz="1800" i="1">
                                <a:solidFill>
                                  <a:srgbClr val="121212"/>
                                </a:solidFill>
                                <a:latin typeface="Cambria Math" panose="02040503050406030204" pitchFamily="18" charset="0"/>
                                <a:ea typeface="Cambria Math" panose="02040503050406030204" pitchFamily="18" charset="0"/>
                                <a:sym typeface="+mn-ea"/>
                              </a:rPr>
                              <m:t>𝐾</m:t>
                            </m:r>
                          </m:e>
                          <m:sub>
                            <m:r>
                              <a:rPr lang="en-US" altLang="zh-CN" sz="1800">
                                <a:solidFill>
                                  <a:srgbClr val="121212"/>
                                </a:solidFill>
                                <a:latin typeface="Cambria Math" panose="02040503050406030204" pitchFamily="18" charset="0"/>
                                <a:ea typeface="Cambria Math" panose="02040503050406030204" pitchFamily="18" charset="0"/>
                                <a:sym typeface="+mn-ea"/>
                              </a:rPr>
                              <m:t>2</m:t>
                            </m:r>
                          </m:sub>
                        </m:sSub>
                        <m:r>
                          <a:rPr lang="en-US" altLang="zh-CN" sz="1800">
                            <a:solidFill>
                              <a:srgbClr val="121212"/>
                            </a:solidFill>
                            <a:latin typeface="Cambria Math" panose="02040503050406030204" pitchFamily="18" charset="0"/>
                            <a:ea typeface="Cambria Math" panose="02040503050406030204" pitchFamily="18" charset="0"/>
                            <a:sym typeface="+mn-ea"/>
                          </a:rPr>
                          <m:t>−1</m:t>
                        </m:r>
                      </m:sup>
                    </m:sSubSup>
                    <m:r>
                      <a:rPr lang="en-US" altLang="zh-CN" sz="1800">
                        <a:solidFill>
                          <a:srgbClr val="121212"/>
                        </a:solidFill>
                        <a:latin typeface="Cambria Math" panose="02040503050406030204" pitchFamily="18" charset="0"/>
                        <a:ea typeface="Cambria Math" panose="02040503050406030204" pitchFamily="18" charset="0"/>
                        <a:sym typeface="+mn-ea"/>
                      </a:rPr>
                      <m:t> </m:t>
                    </m:r>
                  </m:oMath>
                </a14:m>
                <a:r>
                  <a:rPr lang="en-US" altLang="zh-CN" sz="1800" i="1" dirty="0" err="1">
                    <a:solidFill>
                      <a:srgbClr val="121212"/>
                    </a:solidFill>
                    <a:latin typeface="Times New Roman"/>
                    <a:sym typeface="+mn-ea"/>
                  </a:rPr>
                  <a:t>D</a:t>
                </a:r>
                <a:r>
                  <a:rPr lang="en-US" altLang="zh-CN" sz="1800" i="1" baseline="-25000" dirty="0" err="1">
                    <a:solidFill>
                      <a:srgbClr val="121212"/>
                    </a:solidFill>
                    <a:latin typeface="Times New Roman"/>
                    <a:sym typeface="+mn-ea"/>
                  </a:rPr>
                  <a:t>i,j</a:t>
                </a:r>
                <a:endParaRPr lang="en-US" altLang="zh-CN" sz="1800" i="1" baseline="-25000" dirty="0">
                  <a:solidFill>
                    <a:srgbClr val="121212"/>
                  </a:solidFill>
                  <a:latin typeface="Times New Roman"/>
                  <a:sym typeface="+mn-ea"/>
                </a:endParaRPr>
              </a:p>
              <a:p>
                <a:pPr eaLnBrk="0" fontAlgn="base" hangingPunct="0">
                  <a:lnSpc>
                    <a:spcPts val="3400"/>
                  </a:lnSpc>
                  <a:spcBef>
                    <a:spcPct val="0"/>
                  </a:spcBef>
                  <a:spcAft>
                    <a:spcPct val="0"/>
                  </a:spcAft>
                </a:pPr>
                <a:r>
                  <a:rPr lang="en-US" altLang="zh-CN" sz="1800" dirty="0">
                    <a:solidFill>
                      <a:srgbClr val="121212"/>
                    </a:solidFill>
                    <a:latin typeface="Times New Roman"/>
                    <a:sym typeface="+mn-ea"/>
                  </a:rPr>
                  <a:t>(</a:t>
                </a:r>
                <a:r>
                  <a:rPr lang="zh-CN" altLang="en-US" sz="1800" dirty="0">
                    <a:solidFill>
                      <a:srgbClr val="121212"/>
                    </a:solidFill>
                    <a:latin typeface="Times New Roman"/>
                    <a:sym typeface="+mn-ea"/>
                  </a:rPr>
                  <a:t> </a:t>
                </a:r>
                <a:r>
                  <a:rPr lang="en-US" altLang="zh-CN" sz="1800" dirty="0">
                    <a:solidFill>
                      <a:srgbClr val="121212"/>
                    </a:solidFill>
                    <a:latin typeface="Times New Roman"/>
                    <a:sym typeface="+mn-ea"/>
                  </a:rPr>
                  <a:t>0</a:t>
                </a:r>
                <a:r>
                  <a:rPr lang="zh-CN" altLang="en-US" sz="1800" dirty="0">
                    <a:solidFill>
                      <a:srgbClr val="121212"/>
                    </a:solidFill>
                    <a:latin typeface="Times New Roman"/>
                    <a:sym typeface="+mn-ea"/>
                  </a:rPr>
                  <a:t>≤</a:t>
                </a:r>
                <a:r>
                  <a:rPr lang="en-US" altLang="zh-CN" sz="1800" i="1" dirty="0" err="1">
                    <a:solidFill>
                      <a:srgbClr val="121212"/>
                    </a:solidFill>
                    <a:latin typeface="Times New Roman"/>
                    <a:sym typeface="+mn-ea"/>
                  </a:rPr>
                  <a:t>i</a:t>
                </a:r>
                <a:r>
                  <a:rPr lang="zh-CN" altLang="en-US" sz="1800" dirty="0">
                    <a:solidFill>
                      <a:srgbClr val="121212"/>
                    </a:solidFill>
                    <a:latin typeface="Times New Roman"/>
                    <a:sym typeface="+mn-ea"/>
                  </a:rPr>
                  <a:t>≤</a:t>
                </a:r>
                <a:r>
                  <a:rPr lang="en-US" altLang="zh-CN" sz="1800" i="1" dirty="0">
                    <a:solidFill>
                      <a:srgbClr val="121212"/>
                    </a:solidFill>
                    <a:latin typeface="Times New Roman"/>
                    <a:sym typeface="+mn-ea"/>
                  </a:rPr>
                  <a:t>K</a:t>
                </a:r>
                <a:r>
                  <a:rPr lang="en-US" altLang="zh-CN" sz="1800" baseline="-25000" dirty="0">
                    <a:solidFill>
                      <a:srgbClr val="121212"/>
                    </a:solidFill>
                    <a:latin typeface="Times New Roman"/>
                    <a:sym typeface="+mn-ea"/>
                  </a:rPr>
                  <a:t>1</a:t>
                </a:r>
                <a:r>
                  <a:rPr lang="en-US" altLang="zh-CN" sz="1800" dirty="0">
                    <a:solidFill>
                      <a:srgbClr val="121212"/>
                    </a:solidFill>
                    <a:latin typeface="Times New Roman"/>
                    <a:sym typeface="+mn-ea"/>
                  </a:rPr>
                  <a:t>-1 ,  0</a:t>
                </a:r>
                <a:r>
                  <a:rPr lang="zh-CN" altLang="en-US" sz="1800" dirty="0">
                    <a:solidFill>
                      <a:srgbClr val="121212"/>
                    </a:solidFill>
                    <a:latin typeface="Times New Roman"/>
                    <a:sym typeface="+mn-ea"/>
                  </a:rPr>
                  <a:t>≤</a:t>
                </a:r>
                <a:r>
                  <a:rPr lang="en-US" altLang="zh-CN" sz="1800" i="1" dirty="0">
                    <a:solidFill>
                      <a:srgbClr val="121212"/>
                    </a:solidFill>
                    <a:latin typeface="Times New Roman"/>
                    <a:sym typeface="+mn-ea"/>
                  </a:rPr>
                  <a:t>j</a:t>
                </a:r>
                <a:r>
                  <a:rPr lang="zh-CN" altLang="en-US" sz="1800" dirty="0">
                    <a:solidFill>
                      <a:srgbClr val="121212"/>
                    </a:solidFill>
                    <a:latin typeface="Times New Roman"/>
                    <a:sym typeface="+mn-ea"/>
                  </a:rPr>
                  <a:t>≤</a:t>
                </a:r>
                <a:r>
                  <a:rPr lang="en-US" altLang="zh-CN" sz="1800" i="1" dirty="0">
                    <a:solidFill>
                      <a:srgbClr val="121212"/>
                    </a:solidFill>
                    <a:latin typeface="Times New Roman"/>
                    <a:sym typeface="+mn-ea"/>
                  </a:rPr>
                  <a:t>K</a:t>
                </a:r>
                <a:r>
                  <a:rPr lang="en-US" altLang="zh-CN" sz="1800" baseline="-25000" dirty="0">
                    <a:solidFill>
                      <a:srgbClr val="121212"/>
                    </a:solidFill>
                    <a:latin typeface="Times New Roman"/>
                    <a:sym typeface="+mn-ea"/>
                  </a:rPr>
                  <a:t>2</a:t>
                </a:r>
                <a:r>
                  <a:rPr lang="en-US" altLang="zh-CN" sz="1800" dirty="0">
                    <a:solidFill>
                      <a:srgbClr val="121212"/>
                    </a:solidFill>
                    <a:latin typeface="Times New Roman"/>
                    <a:sym typeface="+mn-ea"/>
                  </a:rPr>
                  <a:t>-1) </a:t>
                </a:r>
              </a:p>
            </p:txBody>
          </p:sp>
        </mc:Choice>
        <mc:Fallback xmlns="">
          <p:sp>
            <p:nvSpPr>
              <p:cNvPr id="6" name="文本框 5"/>
              <p:cNvSpPr txBox="1">
                <a:spLocks noRot="1" noChangeAspect="1" noMove="1" noResize="1" noEditPoints="1" noAdjustHandles="1" noChangeArrowheads="1" noChangeShapeType="1" noTextEdit="1"/>
              </p:cNvSpPr>
              <p:nvPr/>
            </p:nvSpPr>
            <p:spPr>
              <a:xfrm>
                <a:off x="7162773" y="4094867"/>
                <a:ext cx="3405645" cy="2635465"/>
              </a:xfrm>
              <a:prstGeom prst="rect">
                <a:avLst/>
              </a:prstGeom>
              <a:blipFill>
                <a:blip r:embed="rId3"/>
                <a:stretch>
                  <a:fillRect l="-1610" b="-3472"/>
                </a:stretch>
              </a:blipFill>
            </p:spPr>
            <p:txBody>
              <a:bodyPr/>
              <a:lstStyle/>
              <a:p>
                <a:r>
                  <a:rPr lang="zh-CN" altLang="en-US">
                    <a:noFill/>
                  </a:rPr>
                  <a:t> </a:t>
                </a:r>
              </a:p>
            </p:txBody>
          </p:sp>
        </mc:Fallback>
      </mc:AlternateContent>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104775"/>
            <a:ext cx="4512945" cy="685800"/>
          </a:xfrm>
        </p:spPr>
        <p:txBody>
          <a:bodyPr/>
          <a:lstStyle/>
          <a:p>
            <a:r>
              <a:rPr lang="zh-CN" altLang="en-US" sz="2400" dirty="0">
                <a:sym typeface="+mn-ea"/>
              </a:rPr>
              <a:t>低密度奇偶校验码</a:t>
            </a:r>
          </a:p>
        </p:txBody>
      </p:sp>
      <p:sp>
        <p:nvSpPr>
          <p:cNvPr id="14" name="文本框 13"/>
          <p:cNvSpPr txBox="1"/>
          <p:nvPr/>
        </p:nvSpPr>
        <p:spPr>
          <a:xfrm>
            <a:off x="2134445" y="984296"/>
            <a:ext cx="8031498" cy="168821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dirty="0">
                <a:solidFill>
                  <a:srgbClr val="121212"/>
                </a:solidFill>
                <a:latin typeface="Times New Roman"/>
                <a:sym typeface="+mn-ea"/>
              </a:rPr>
              <a:t>        </a:t>
            </a:r>
            <a:r>
              <a:rPr lang="zh-CN" altLang="en-US" dirty="0">
                <a:solidFill>
                  <a:srgbClr val="FF0000"/>
                </a:solidFill>
                <a:latin typeface="Times New Roman"/>
                <a:sym typeface="+mn-ea"/>
              </a:rPr>
              <a:t>低密度奇偶校验码</a:t>
            </a:r>
            <a:r>
              <a:rPr lang="en-US" altLang="zh-CN" dirty="0">
                <a:solidFill>
                  <a:srgbClr val="121212"/>
                </a:solidFill>
                <a:latin typeface="Times New Roman"/>
                <a:sym typeface="+mn-ea"/>
              </a:rPr>
              <a:t>(Low-Density Parity-Check </a:t>
            </a:r>
            <a:r>
              <a:rPr lang="en-US" altLang="zh-CN" dirty="0" err="1">
                <a:solidFill>
                  <a:srgbClr val="121212"/>
                </a:solidFill>
                <a:latin typeface="Times New Roman"/>
                <a:sym typeface="+mn-ea"/>
              </a:rPr>
              <a:t>Code,LDPC</a:t>
            </a:r>
            <a:r>
              <a:rPr lang="en-US" altLang="zh-CN" dirty="0">
                <a:solidFill>
                  <a:srgbClr val="121212"/>
                </a:solidFill>
                <a:latin typeface="Times New Roman"/>
                <a:sym typeface="+mn-ea"/>
              </a:rPr>
              <a:t>)</a:t>
            </a:r>
            <a:r>
              <a:rPr lang="zh-CN" altLang="en-US" dirty="0">
                <a:solidFill>
                  <a:srgbClr val="121212"/>
                </a:solidFill>
                <a:latin typeface="Times New Roman"/>
                <a:sym typeface="+mn-ea"/>
              </a:rPr>
              <a:t>最初是为通信链路的容错而设计的，近年来开始在基于广域网的存储应用中被研究。</a:t>
            </a:r>
            <a:r>
              <a:rPr lang="en-US" altLang="zh-CN" dirty="0">
                <a:solidFill>
                  <a:srgbClr val="121212"/>
                </a:solidFill>
                <a:latin typeface="Times New Roman"/>
                <a:sym typeface="+mn-ea"/>
              </a:rPr>
              <a:t>LDPC</a:t>
            </a:r>
            <a:r>
              <a:rPr lang="zh-CN" altLang="en-US" dirty="0">
                <a:solidFill>
                  <a:srgbClr val="121212"/>
                </a:solidFill>
                <a:latin typeface="Times New Roman"/>
                <a:sym typeface="+mn-ea"/>
              </a:rPr>
              <a:t>码的主要优点在于，构造出的高容错</a:t>
            </a:r>
            <a:r>
              <a:rPr lang="en-US" altLang="zh-CN" dirty="0">
                <a:solidFill>
                  <a:srgbClr val="121212"/>
                </a:solidFill>
                <a:latin typeface="Times New Roman"/>
                <a:sym typeface="+mn-ea"/>
              </a:rPr>
              <a:t>LDPC</a:t>
            </a:r>
            <a:r>
              <a:rPr lang="zh-CN" altLang="en-US" dirty="0">
                <a:solidFill>
                  <a:srgbClr val="121212"/>
                </a:solidFill>
                <a:latin typeface="Times New Roman"/>
                <a:sym typeface="+mn-ea"/>
              </a:rPr>
              <a:t>码可以具有接近最高的存储效率并且解码复杂度很低。</a:t>
            </a:r>
            <a:endParaRPr lang="zh-CN" altLang="en-US" dirty="0">
              <a:solidFill>
                <a:srgbClr val="000000"/>
              </a:solidFill>
              <a:latin typeface="Times New Roman"/>
              <a:sym typeface="+mn-ea"/>
            </a:endParaRPr>
          </a:p>
        </p:txBody>
      </p:sp>
      <p:sp>
        <p:nvSpPr>
          <p:cNvPr id="4" name="文本框 3"/>
          <p:cNvSpPr txBox="1"/>
          <p:nvPr/>
        </p:nvSpPr>
        <p:spPr>
          <a:xfrm>
            <a:off x="2134446" y="2672515"/>
            <a:ext cx="8162077" cy="82259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000"/>
              </a:lnSpc>
              <a:spcBef>
                <a:spcPct val="0"/>
              </a:spcBef>
              <a:spcAft>
                <a:spcPct val="0"/>
              </a:spcAft>
            </a:pPr>
            <a:r>
              <a:rPr lang="zh-CN" altLang="en-US" dirty="0">
                <a:solidFill>
                  <a:srgbClr val="000000"/>
                </a:solidFill>
                <a:latin typeface="Times New Roman"/>
                <a:sym typeface="+mn-ea"/>
              </a:rPr>
              <a:t>        </a:t>
            </a:r>
            <a:r>
              <a:rPr lang="en-US" altLang="zh-CN" dirty="0">
                <a:solidFill>
                  <a:srgbClr val="FF0000"/>
                </a:solidFill>
                <a:latin typeface="Times New Roman"/>
                <a:sym typeface="+mn-ea"/>
              </a:rPr>
              <a:t>LDPC</a:t>
            </a:r>
            <a:r>
              <a:rPr lang="zh-CN" altLang="en-US" dirty="0">
                <a:solidFill>
                  <a:srgbClr val="FF0000"/>
                </a:solidFill>
                <a:latin typeface="Times New Roman"/>
                <a:sym typeface="+mn-ea"/>
              </a:rPr>
              <a:t>码</a:t>
            </a:r>
            <a:r>
              <a:rPr lang="zh-CN" altLang="en-US" dirty="0">
                <a:solidFill>
                  <a:srgbClr val="000000"/>
                </a:solidFill>
                <a:latin typeface="Times New Roman"/>
                <a:sym typeface="+mn-ea"/>
              </a:rPr>
              <a:t>是一种由级联的随机稀疏二部图和一个传统的纠删码构成的特殊的纠删，级联二部图的意思就是多级二部图。</a:t>
            </a:r>
            <a:endParaRPr lang="en-US" altLang="zh-CN" dirty="0">
              <a:solidFill>
                <a:srgbClr val="000000"/>
              </a:solidFill>
              <a:latin typeface="Times New Roman"/>
              <a:sym typeface="+mn-ea"/>
            </a:endParaRPr>
          </a:p>
        </p:txBody>
      </p:sp>
      <p:grpSp>
        <p:nvGrpSpPr>
          <p:cNvPr id="3" name="组合 2"/>
          <p:cNvGrpSpPr/>
          <p:nvPr/>
        </p:nvGrpSpPr>
        <p:grpSpPr>
          <a:xfrm>
            <a:off x="2920258" y="3733793"/>
            <a:ext cx="6351485" cy="3019433"/>
            <a:chOff x="1396257" y="3733792"/>
            <a:chExt cx="6351485" cy="3019433"/>
          </a:xfrm>
        </p:grpSpPr>
        <p:grpSp>
          <p:nvGrpSpPr>
            <p:cNvPr id="11" name="组合 10"/>
            <p:cNvGrpSpPr/>
            <p:nvPr/>
          </p:nvGrpSpPr>
          <p:grpSpPr>
            <a:xfrm>
              <a:off x="1396257" y="3733792"/>
              <a:ext cx="6351485" cy="2663757"/>
              <a:chOff x="377308" y="3930482"/>
              <a:chExt cx="6351485" cy="2663757"/>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308" y="3930482"/>
                <a:ext cx="6351485" cy="2663757"/>
              </a:xfrm>
              <a:prstGeom prst="rect">
                <a:avLst/>
              </a:prstGeom>
            </p:spPr>
          </p:pic>
          <p:grpSp>
            <p:nvGrpSpPr>
              <p:cNvPr id="10" name="组合 9"/>
              <p:cNvGrpSpPr/>
              <p:nvPr/>
            </p:nvGrpSpPr>
            <p:grpSpPr>
              <a:xfrm>
                <a:off x="5867366" y="5943534"/>
                <a:ext cx="761980" cy="304792"/>
                <a:chOff x="5867366" y="5943534"/>
                <a:chExt cx="761980" cy="304792"/>
              </a:xfrm>
            </p:grpSpPr>
            <p:sp>
              <p:nvSpPr>
                <p:cNvPr id="6" name="矩形 5"/>
                <p:cNvSpPr/>
                <p:nvPr/>
              </p:nvSpPr>
              <p:spPr>
                <a:xfrm>
                  <a:off x="5943564" y="6095930"/>
                  <a:ext cx="685782" cy="1523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7" name="矩形 6"/>
                <p:cNvSpPr/>
                <p:nvPr/>
              </p:nvSpPr>
              <p:spPr>
                <a:xfrm>
                  <a:off x="6248356" y="5943534"/>
                  <a:ext cx="304792" cy="1523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8" name="矩形 7"/>
                <p:cNvSpPr/>
                <p:nvPr/>
              </p:nvSpPr>
              <p:spPr>
                <a:xfrm>
                  <a:off x="5867366" y="5943534"/>
                  <a:ext cx="152396" cy="1523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9" name="椭圆 8"/>
                <p:cNvSpPr/>
                <p:nvPr/>
              </p:nvSpPr>
              <p:spPr>
                <a:xfrm>
                  <a:off x="6095960" y="5968859"/>
                  <a:ext cx="76198" cy="10174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grpSp>
        <p:sp>
          <p:nvSpPr>
            <p:cNvPr id="12" name="文本框 11"/>
            <p:cNvSpPr txBox="1"/>
            <p:nvPr/>
          </p:nvSpPr>
          <p:spPr>
            <a:xfrm>
              <a:off x="3500178" y="6248471"/>
              <a:ext cx="2382610" cy="50475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en-US" altLang="zh-CN" sz="1800" dirty="0">
                  <a:solidFill>
                    <a:srgbClr val="000000"/>
                  </a:solidFill>
                  <a:sym typeface="+mn-ea"/>
                </a:rPr>
                <a:t>LDPC</a:t>
              </a:r>
              <a:r>
                <a:rPr lang="zh-CN" altLang="en-US" sz="1800" dirty="0">
                  <a:solidFill>
                    <a:srgbClr val="000000"/>
                  </a:solidFill>
                  <a:sym typeface="+mn-ea"/>
                </a:rPr>
                <a:t>码示例</a:t>
              </a:r>
            </a:p>
          </p:txBody>
        </p:sp>
      </p:gr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龙卷风码的编码</a:t>
            </a:r>
          </a:p>
        </p:txBody>
      </p:sp>
      <p:sp>
        <p:nvSpPr>
          <p:cNvPr id="6" name="文本框 5"/>
          <p:cNvSpPr txBox="1"/>
          <p:nvPr/>
        </p:nvSpPr>
        <p:spPr>
          <a:xfrm>
            <a:off x="1828912" y="1966617"/>
            <a:ext cx="5257662" cy="396448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000000"/>
                </a:solidFill>
                <a:latin typeface="Times New Roman"/>
                <a:sym typeface="+mn-ea"/>
              </a:rPr>
              <a:t>编码方式：</a:t>
            </a:r>
            <a:endParaRPr lang="en-US" altLang="zh-CN" dirty="0">
              <a:solidFill>
                <a:srgbClr val="000000"/>
              </a:solidFill>
              <a:latin typeface="Times New Roman"/>
              <a:sym typeface="+mn-ea"/>
            </a:endParaRPr>
          </a:p>
          <a:p>
            <a:pPr eaLnBrk="0" fontAlgn="base" hangingPunct="0">
              <a:lnSpc>
                <a:spcPts val="3400"/>
              </a:lnSpc>
              <a:spcBef>
                <a:spcPct val="0"/>
              </a:spcBef>
              <a:spcAft>
                <a:spcPct val="0"/>
              </a:spcAft>
            </a:pPr>
            <a:r>
              <a:rPr lang="zh-CN" altLang="en-US" dirty="0">
                <a:solidFill>
                  <a:srgbClr val="000000"/>
                </a:solidFill>
                <a:latin typeface="Times New Roman"/>
                <a:sym typeface="+mn-ea"/>
              </a:rPr>
              <a:t>      龙卷风码通过</a:t>
            </a:r>
            <a:r>
              <a:rPr lang="zh-CN" altLang="en-US" dirty="0">
                <a:solidFill>
                  <a:srgbClr val="FF0000"/>
                </a:solidFill>
                <a:latin typeface="Times New Roman"/>
                <a:sym typeface="+mn-ea"/>
              </a:rPr>
              <a:t>层层递进的异或操作得到校验码</a:t>
            </a:r>
            <a:r>
              <a:rPr lang="zh-CN" altLang="en-US" dirty="0">
                <a:solidFill>
                  <a:srgbClr val="000000"/>
                </a:solidFill>
                <a:latin typeface="Times New Roman"/>
                <a:sym typeface="+mn-ea"/>
              </a:rPr>
              <a:t>。</a:t>
            </a:r>
            <a:endParaRPr lang="en-US" altLang="zh-CN" dirty="0">
              <a:solidFill>
                <a:srgbClr val="000000"/>
              </a:solidFill>
              <a:latin typeface="Times New Roman"/>
              <a:sym typeface="+mn-ea"/>
            </a:endParaRPr>
          </a:p>
          <a:p>
            <a:pPr eaLnBrk="0" fontAlgn="base" hangingPunct="0">
              <a:lnSpc>
                <a:spcPts val="3400"/>
              </a:lnSpc>
              <a:spcBef>
                <a:spcPct val="0"/>
              </a:spcBef>
              <a:spcAft>
                <a:spcPct val="0"/>
              </a:spcAft>
            </a:pPr>
            <a:r>
              <a:rPr lang="en-US" altLang="zh-CN" dirty="0">
                <a:solidFill>
                  <a:srgbClr val="000000"/>
                </a:solidFill>
                <a:latin typeface="Times New Roman"/>
                <a:sym typeface="+mn-ea"/>
              </a:rPr>
              <a:t>        </a:t>
            </a:r>
            <a:r>
              <a:rPr lang="zh-CN" altLang="en-US" dirty="0">
                <a:solidFill>
                  <a:srgbClr val="000000"/>
                </a:solidFill>
                <a:latin typeface="Times New Roman"/>
                <a:sym typeface="+mn-ea"/>
              </a:rPr>
              <a:t>如图所示，把原数据分成</a:t>
            </a:r>
            <a:r>
              <a:rPr lang="en-US" altLang="zh-CN" dirty="0">
                <a:solidFill>
                  <a:srgbClr val="000000"/>
                </a:solidFill>
                <a:latin typeface="Times New Roman"/>
                <a:sym typeface="+mn-ea"/>
              </a:rPr>
              <a:t>n</a:t>
            </a:r>
            <a:r>
              <a:rPr lang="zh-CN" altLang="en-US" dirty="0">
                <a:solidFill>
                  <a:srgbClr val="000000"/>
                </a:solidFill>
                <a:latin typeface="Times New Roman"/>
                <a:sym typeface="+mn-ea"/>
              </a:rPr>
              <a:t>个等长的数据块</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x</a:t>
            </a:r>
            <a:r>
              <a:rPr lang="en-US" altLang="zh-CN" baseline="-25000" dirty="0">
                <a:solidFill>
                  <a:srgbClr val="000000"/>
                </a:solidFill>
                <a:latin typeface="Times New Roman"/>
                <a:sym typeface="+mn-ea"/>
              </a:rPr>
              <a:t>1</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x</a:t>
            </a:r>
            <a:r>
              <a:rPr lang="en-US" altLang="zh-CN" baseline="-25000" dirty="0">
                <a:solidFill>
                  <a:srgbClr val="000000"/>
                </a:solidFill>
                <a:latin typeface="Times New Roman"/>
                <a:sym typeface="+mn-ea"/>
              </a:rPr>
              <a:t>2</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x</a:t>
            </a:r>
            <a:r>
              <a:rPr lang="en-US" altLang="zh-CN" baseline="-25000" dirty="0">
                <a:solidFill>
                  <a:srgbClr val="000000"/>
                </a:solidFill>
                <a:latin typeface="Times New Roman"/>
                <a:sym typeface="+mn-ea"/>
              </a:rPr>
              <a:t>3</a:t>
            </a:r>
            <a:r>
              <a:rPr lang="en-US" altLang="zh-CN" dirty="0">
                <a:solidFill>
                  <a:srgbClr val="000000"/>
                </a:solidFill>
                <a:latin typeface="Times New Roman"/>
                <a:sym typeface="+mn-ea"/>
              </a:rPr>
              <a:t>,…,</a:t>
            </a:r>
            <a:r>
              <a:rPr lang="en-US" altLang="zh-CN" i="1" dirty="0" err="1">
                <a:solidFill>
                  <a:srgbClr val="000000"/>
                </a:solidFill>
                <a:latin typeface="Times New Roman"/>
                <a:sym typeface="+mn-ea"/>
              </a:rPr>
              <a:t>x</a:t>
            </a:r>
            <a:r>
              <a:rPr lang="en-US" altLang="zh-CN" i="1" baseline="-25000" dirty="0" err="1">
                <a:solidFill>
                  <a:srgbClr val="000000"/>
                </a:solidFill>
                <a:latin typeface="Times New Roman"/>
                <a:sym typeface="+mn-ea"/>
              </a:rPr>
              <a:t>n</a:t>
            </a:r>
            <a:r>
              <a:rPr lang="en-US" altLang="zh-CN" dirty="0">
                <a:solidFill>
                  <a:srgbClr val="000000"/>
                </a:solidFill>
                <a:latin typeface="Times New Roman"/>
                <a:sym typeface="+mn-ea"/>
              </a:rPr>
              <a:t>)</a:t>
            </a:r>
            <a:r>
              <a:rPr lang="zh-CN" altLang="en-US" dirty="0">
                <a:solidFill>
                  <a:srgbClr val="000000"/>
                </a:solidFill>
                <a:latin typeface="Times New Roman"/>
                <a:sym typeface="+mn-ea"/>
              </a:rPr>
              <a:t>，这些数据被称为用户数据块</a:t>
            </a:r>
            <a:r>
              <a:rPr lang="en-US" altLang="zh-CN" dirty="0">
                <a:solidFill>
                  <a:srgbClr val="000000"/>
                </a:solidFill>
                <a:latin typeface="Times New Roman"/>
                <a:sym typeface="+mn-ea"/>
              </a:rPr>
              <a:t>(message bits)</a:t>
            </a:r>
            <a:r>
              <a:rPr lang="zh-CN" altLang="en-US" dirty="0">
                <a:solidFill>
                  <a:srgbClr val="000000"/>
                </a:solidFill>
                <a:latin typeface="Times New Roman"/>
                <a:sym typeface="+mn-ea"/>
              </a:rPr>
              <a:t>。根据多级二部图</a:t>
            </a:r>
            <a:r>
              <a:rPr lang="en-US" altLang="zh-CN" i="1" dirty="0">
                <a:solidFill>
                  <a:srgbClr val="000000"/>
                </a:solidFill>
                <a:latin typeface="Times New Roman"/>
                <a:sym typeface="+mn-ea"/>
              </a:rPr>
              <a:t>B</a:t>
            </a:r>
            <a:r>
              <a:rPr lang="en-US" altLang="zh-CN" baseline="-25000" dirty="0">
                <a:solidFill>
                  <a:srgbClr val="000000"/>
                </a:solidFill>
                <a:latin typeface="Times New Roman"/>
                <a:sym typeface="+mn-ea"/>
              </a:rPr>
              <a:t>0</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B</a:t>
            </a:r>
            <a:r>
              <a:rPr lang="en-US" altLang="zh-CN" baseline="-25000" dirty="0">
                <a:solidFill>
                  <a:srgbClr val="000000"/>
                </a:solidFill>
                <a:latin typeface="Times New Roman"/>
                <a:sym typeface="+mn-ea"/>
              </a:rPr>
              <a:t>1</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B</a:t>
            </a:r>
            <a:r>
              <a:rPr lang="en-US" altLang="zh-CN" i="1" baseline="-25000" dirty="0">
                <a:solidFill>
                  <a:srgbClr val="000000"/>
                </a:solidFill>
                <a:latin typeface="Times New Roman"/>
                <a:sym typeface="+mn-ea"/>
              </a:rPr>
              <a:t>k</a:t>
            </a:r>
            <a:r>
              <a:rPr lang="en-US" altLang="zh-CN" dirty="0">
                <a:solidFill>
                  <a:srgbClr val="000000"/>
                </a:solidFill>
                <a:latin typeface="Times New Roman"/>
                <a:sym typeface="+mn-ea"/>
              </a:rPr>
              <a:t>,</a:t>
            </a:r>
          </a:p>
          <a:p>
            <a:pPr eaLnBrk="0" fontAlgn="base" hangingPunct="0">
              <a:lnSpc>
                <a:spcPts val="3400"/>
              </a:lnSpc>
              <a:spcBef>
                <a:spcPct val="0"/>
              </a:spcBef>
              <a:spcAft>
                <a:spcPct val="0"/>
              </a:spcAft>
            </a:pPr>
            <a:r>
              <a:rPr lang="en-US" altLang="zh-CN" i="1" dirty="0">
                <a:solidFill>
                  <a:srgbClr val="000000"/>
                </a:solidFill>
                <a:latin typeface="Times New Roman"/>
                <a:sym typeface="+mn-ea"/>
              </a:rPr>
              <a:t>B</a:t>
            </a:r>
            <a:r>
              <a:rPr lang="en-US" altLang="zh-CN" i="1" baseline="-25000" dirty="0">
                <a:solidFill>
                  <a:srgbClr val="000000"/>
                </a:solidFill>
                <a:latin typeface="Times New Roman"/>
                <a:sym typeface="+mn-ea"/>
              </a:rPr>
              <a:t>k</a:t>
            </a:r>
            <a:r>
              <a:rPr lang="en-US" altLang="zh-CN" baseline="-25000" dirty="0">
                <a:solidFill>
                  <a:srgbClr val="000000"/>
                </a:solidFill>
                <a:latin typeface="Times New Roman"/>
                <a:sym typeface="+mn-ea"/>
              </a:rPr>
              <a:t>+1</a:t>
            </a:r>
            <a:r>
              <a:rPr lang="zh-CN" altLang="en-US" dirty="0">
                <a:solidFill>
                  <a:srgbClr val="000000"/>
                </a:solidFill>
                <a:latin typeface="Times New Roman"/>
                <a:sym typeface="+mn-ea"/>
              </a:rPr>
              <a:t>的连接关系，将相连的数据节点进行异或得到下一层校验节点</a:t>
            </a:r>
            <a:r>
              <a:rPr lang="en-US" altLang="zh-CN" dirty="0">
                <a:solidFill>
                  <a:srgbClr val="000000"/>
                </a:solidFill>
                <a:latin typeface="Times New Roman"/>
                <a:sym typeface="+mn-ea"/>
              </a:rPr>
              <a:t>(check bits)</a:t>
            </a:r>
            <a:r>
              <a:rPr lang="zh-CN" altLang="en-US" dirty="0">
                <a:solidFill>
                  <a:srgbClr val="000000"/>
                </a:solidFill>
                <a:latin typeface="Times New Roman"/>
                <a:sym typeface="+mn-ea"/>
              </a:rPr>
              <a:t>的值</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C</a:t>
            </a:r>
            <a:r>
              <a:rPr lang="en-US" altLang="zh-CN" baseline="-25000" dirty="0">
                <a:solidFill>
                  <a:srgbClr val="000000"/>
                </a:solidFill>
                <a:latin typeface="Times New Roman"/>
                <a:sym typeface="+mn-ea"/>
              </a:rPr>
              <a:t>1</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C</a:t>
            </a:r>
            <a:r>
              <a:rPr lang="en-US" altLang="zh-CN" baseline="-25000" dirty="0">
                <a:solidFill>
                  <a:srgbClr val="000000"/>
                </a:solidFill>
                <a:latin typeface="Times New Roman"/>
                <a:sym typeface="+mn-ea"/>
              </a:rPr>
              <a:t>2</a:t>
            </a:r>
            <a:r>
              <a:rPr lang="en-US" altLang="zh-CN" dirty="0">
                <a:solidFill>
                  <a:srgbClr val="000000"/>
                </a:solidFill>
                <a:latin typeface="Times New Roman"/>
                <a:sym typeface="+mn-ea"/>
              </a:rPr>
              <a:t>,…,</a:t>
            </a:r>
          </a:p>
          <a:p>
            <a:pPr eaLnBrk="0" fontAlgn="base" hangingPunct="0">
              <a:lnSpc>
                <a:spcPts val="3400"/>
              </a:lnSpc>
              <a:spcBef>
                <a:spcPct val="0"/>
              </a:spcBef>
              <a:spcAft>
                <a:spcPct val="0"/>
              </a:spcAft>
            </a:pPr>
            <a:r>
              <a:rPr lang="en-US" altLang="zh-CN" i="1" dirty="0">
                <a:solidFill>
                  <a:srgbClr val="000000"/>
                </a:solidFill>
                <a:latin typeface="Times New Roman"/>
                <a:sym typeface="+mn-ea"/>
              </a:rPr>
              <a:t>C</a:t>
            </a:r>
            <a:r>
              <a:rPr lang="el-GR" altLang="zh-CN" i="1" baseline="-25000" dirty="0">
                <a:solidFill>
                  <a:srgbClr val="000000"/>
                </a:solidFill>
                <a:latin typeface="Times New Roman"/>
                <a:sym typeface="+mn-ea"/>
              </a:rPr>
              <a:t>β</a:t>
            </a:r>
            <a:r>
              <a:rPr lang="en-US" altLang="zh-CN" dirty="0">
                <a:solidFill>
                  <a:srgbClr val="000000"/>
                </a:solidFill>
                <a:latin typeface="Times New Roman"/>
                <a:sym typeface="+mn-ea"/>
              </a:rPr>
              <a:t>)</a:t>
            </a:r>
            <a:r>
              <a:rPr lang="zh-CN" altLang="en-US" dirty="0">
                <a:solidFill>
                  <a:srgbClr val="000000"/>
                </a:solidFill>
                <a:latin typeface="Times New Roman"/>
                <a:sym typeface="+mn-ea"/>
              </a:rPr>
              <a:t>。</a:t>
            </a:r>
            <a:endParaRPr lang="en-US" altLang="zh-CN" dirty="0">
              <a:solidFill>
                <a:srgbClr val="000000"/>
              </a:solidFill>
              <a:latin typeface="Times New Roman"/>
              <a:sym typeface="+mn-ea"/>
            </a:endParaRPr>
          </a:p>
        </p:txBody>
      </p:sp>
      <p:sp>
        <p:nvSpPr>
          <p:cNvPr id="8" name="文本框 7"/>
          <p:cNvSpPr txBox="1"/>
          <p:nvPr/>
        </p:nvSpPr>
        <p:spPr>
          <a:xfrm>
            <a:off x="2667091" y="1043297"/>
            <a:ext cx="7475577" cy="47634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eaLnBrk="0" fontAlgn="base" hangingPunct="0">
              <a:lnSpc>
                <a:spcPts val="3400"/>
              </a:lnSpc>
              <a:spcBef>
                <a:spcPct val="0"/>
              </a:spcBef>
              <a:spcAft>
                <a:spcPct val="0"/>
              </a:spcAft>
            </a:pPr>
            <a:r>
              <a:rPr lang="zh-CN" altLang="en-US" dirty="0">
                <a:solidFill>
                  <a:srgbClr val="000000"/>
                </a:solidFill>
                <a:latin typeface="Times New Roman"/>
                <a:sym typeface="+mn-ea"/>
              </a:rPr>
              <a:t>低密度奇偶校验码的一个典型的例子是龙卷风码</a:t>
            </a:r>
            <a:r>
              <a:rPr lang="en-US" altLang="zh-CN" dirty="0">
                <a:solidFill>
                  <a:srgbClr val="000000"/>
                </a:solidFill>
                <a:latin typeface="Times New Roman"/>
                <a:sym typeface="+mn-ea"/>
              </a:rPr>
              <a:t>(Tornado Code)</a:t>
            </a:r>
          </a:p>
        </p:txBody>
      </p:sp>
      <p:grpSp>
        <p:nvGrpSpPr>
          <p:cNvPr id="11" name="组合 10"/>
          <p:cNvGrpSpPr/>
          <p:nvPr/>
        </p:nvGrpSpPr>
        <p:grpSpPr>
          <a:xfrm>
            <a:off x="7238618" y="1864606"/>
            <a:ext cx="3124471" cy="4812276"/>
            <a:chOff x="5714617" y="1864606"/>
            <a:chExt cx="3124471" cy="4812276"/>
          </a:xfrm>
        </p:grpSpPr>
        <p:sp>
          <p:nvSpPr>
            <p:cNvPr id="7" name="文本框 6"/>
            <p:cNvSpPr txBox="1"/>
            <p:nvPr/>
          </p:nvSpPr>
          <p:spPr>
            <a:xfrm>
              <a:off x="6273130" y="6172128"/>
              <a:ext cx="2382610" cy="50475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000000"/>
                  </a:solidFill>
                  <a:sym typeface="+mn-ea"/>
                </a:rPr>
                <a:t>龙卷风码编码示例</a:t>
              </a: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4617" y="1864606"/>
              <a:ext cx="3124471" cy="4168501"/>
            </a:xfrm>
            <a:prstGeom prst="rect">
              <a:avLst/>
            </a:prstGeom>
          </p:spPr>
        </p:pic>
      </p:gr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龙卷风码的编码</a:t>
            </a:r>
          </a:p>
        </p:txBody>
      </p:sp>
      <p:sp>
        <p:nvSpPr>
          <p:cNvPr id="9" name="文本框 8"/>
          <p:cNvSpPr txBox="1"/>
          <p:nvPr/>
        </p:nvSpPr>
        <p:spPr>
          <a:xfrm>
            <a:off x="266440" y="746613"/>
            <a:ext cx="8303379" cy="234224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latin typeface="Times New Roman"/>
                <a:sym typeface="+mn-ea"/>
              </a:rPr>
              <a:t>        举例来说，在右图中，某校验块层各节点的值分别为</a:t>
            </a:r>
            <a:r>
              <a:rPr lang="en-US" altLang="zh-CN" i="1" dirty="0">
                <a:solidFill>
                  <a:srgbClr val="000000"/>
                </a:solidFill>
                <a:latin typeface="Times New Roman"/>
                <a:sym typeface="+mn-ea"/>
              </a:rPr>
              <a:t>X</a:t>
            </a:r>
            <a:r>
              <a:rPr lang="en-US" altLang="zh-CN" baseline="-25000" dirty="0">
                <a:solidFill>
                  <a:srgbClr val="000000"/>
                </a:solidFill>
                <a:latin typeface="Times New Roman"/>
                <a:sym typeface="+mn-ea"/>
              </a:rPr>
              <a:t>1</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X</a:t>
            </a:r>
            <a:r>
              <a:rPr lang="en-US" altLang="zh-CN" baseline="-25000" dirty="0">
                <a:solidFill>
                  <a:srgbClr val="000000"/>
                </a:solidFill>
                <a:latin typeface="Times New Roman"/>
                <a:sym typeface="+mn-ea"/>
              </a:rPr>
              <a:t>2</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X</a:t>
            </a:r>
            <a:r>
              <a:rPr lang="en-US" altLang="zh-CN" baseline="-25000" dirty="0">
                <a:solidFill>
                  <a:srgbClr val="000000"/>
                </a:solidFill>
                <a:latin typeface="Times New Roman"/>
                <a:sym typeface="+mn-ea"/>
              </a:rPr>
              <a:t>1</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X</a:t>
            </a:r>
            <a:r>
              <a:rPr lang="en-US" altLang="zh-CN" baseline="-25000" dirty="0">
                <a:solidFill>
                  <a:srgbClr val="000000"/>
                </a:solidFill>
                <a:latin typeface="Times New Roman"/>
                <a:sym typeface="+mn-ea"/>
              </a:rPr>
              <a:t>2</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C</a:t>
            </a:r>
            <a:r>
              <a:rPr lang="en-US" altLang="zh-CN" baseline="-25000" dirty="0">
                <a:solidFill>
                  <a:srgbClr val="000000"/>
                </a:solidFill>
                <a:latin typeface="Times New Roman"/>
                <a:sym typeface="+mn-ea"/>
              </a:rPr>
              <a:t>1</a:t>
            </a:r>
            <a:r>
              <a:rPr lang="en-US" altLang="zh-CN" dirty="0">
                <a:solidFill>
                  <a:srgbClr val="000000"/>
                </a:solidFill>
                <a:latin typeface="Times New Roman"/>
                <a:sym typeface="+mn-ea"/>
              </a:rPr>
              <a:t>,…,</a:t>
            </a:r>
            <a:r>
              <a:rPr lang="zh-CN" altLang="en-US" dirty="0">
                <a:solidFill>
                  <a:srgbClr val="000000"/>
                </a:solidFill>
                <a:latin typeface="Times New Roman"/>
                <a:sym typeface="+mn-ea"/>
              </a:rPr>
              <a:t>下一级第一个校验块由</a:t>
            </a:r>
            <a:r>
              <a:rPr lang="en-US" altLang="zh-CN" i="1" dirty="0">
                <a:solidFill>
                  <a:srgbClr val="000000"/>
                </a:solidFill>
                <a:latin typeface="Times New Roman"/>
                <a:sym typeface="+mn-ea"/>
              </a:rPr>
              <a:t>X</a:t>
            </a:r>
            <a:r>
              <a:rPr lang="en-US" altLang="zh-CN" baseline="-25000" dirty="0">
                <a:solidFill>
                  <a:srgbClr val="000000"/>
                </a:solidFill>
                <a:latin typeface="Times New Roman"/>
                <a:sym typeface="+mn-ea"/>
              </a:rPr>
              <a:t>1</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X</a:t>
            </a:r>
            <a:r>
              <a:rPr lang="en-US" altLang="zh-CN" baseline="-25000" dirty="0">
                <a:solidFill>
                  <a:srgbClr val="000000"/>
                </a:solidFill>
                <a:latin typeface="Times New Roman"/>
                <a:sym typeface="+mn-ea"/>
              </a:rPr>
              <a:t>2</a:t>
            </a:r>
            <a:r>
              <a:rPr lang="zh-CN" altLang="en-US" dirty="0">
                <a:solidFill>
                  <a:srgbClr val="000000"/>
                </a:solidFill>
                <a:latin typeface="Times New Roman"/>
                <a:sym typeface="+mn-ea"/>
              </a:rPr>
              <a:t>得到。</a:t>
            </a:r>
            <a:endParaRPr lang="en-US" altLang="zh-CN" dirty="0">
              <a:solidFill>
                <a:srgbClr val="000000"/>
              </a:solidFill>
              <a:latin typeface="Times New Roman"/>
              <a:sym typeface="+mn-ea"/>
            </a:endParaRPr>
          </a:p>
          <a:p>
            <a:pPr eaLnBrk="0" fontAlgn="base" hangingPunct="0">
              <a:lnSpc>
                <a:spcPts val="3600"/>
              </a:lnSpc>
              <a:spcBef>
                <a:spcPct val="0"/>
              </a:spcBef>
              <a:spcAft>
                <a:spcPct val="0"/>
              </a:spcAft>
            </a:pPr>
            <a:r>
              <a:rPr lang="en-US" altLang="zh-CN" dirty="0">
                <a:solidFill>
                  <a:srgbClr val="000000"/>
                </a:solidFill>
                <a:latin typeface="Times New Roman"/>
                <a:sym typeface="+mn-ea"/>
              </a:rPr>
              <a:t>        </a:t>
            </a:r>
            <a:r>
              <a:rPr lang="zh-CN" altLang="en-US" dirty="0">
                <a:solidFill>
                  <a:srgbClr val="FF0000"/>
                </a:solidFill>
                <a:latin typeface="Times New Roman"/>
                <a:sym typeface="+mn-ea"/>
              </a:rPr>
              <a:t>选择哪些变量来进行异或操作由二部图确定</a:t>
            </a:r>
            <a:r>
              <a:rPr lang="zh-CN" altLang="en-US" dirty="0">
                <a:solidFill>
                  <a:srgbClr val="000000"/>
                </a:solidFill>
                <a:latin typeface="Times New Roman"/>
                <a:sym typeface="+mn-ea"/>
              </a:rPr>
              <a:t>，一般来说，级联低密度纠删码二部图的生成具有随机性</a:t>
            </a:r>
            <a:r>
              <a:rPr lang="en-US" altLang="zh-CN" dirty="0">
                <a:solidFill>
                  <a:srgbClr val="000000"/>
                </a:solidFill>
                <a:latin typeface="Times New Roman"/>
                <a:sym typeface="+mn-ea"/>
              </a:rPr>
              <a:t>,</a:t>
            </a:r>
            <a:r>
              <a:rPr lang="zh-CN" altLang="en-US" dirty="0">
                <a:solidFill>
                  <a:srgbClr val="FF0000"/>
                </a:solidFill>
                <a:latin typeface="Times New Roman"/>
                <a:sym typeface="+mn-ea"/>
              </a:rPr>
              <a:t>通过使用每一级二部图的连接关系，就可以依次生成级联二部图的所有右节点</a:t>
            </a:r>
            <a:r>
              <a:rPr lang="zh-CN" altLang="en-US" dirty="0">
                <a:solidFill>
                  <a:srgbClr val="000000"/>
                </a:solidFill>
                <a:latin typeface="Times New Roman"/>
                <a:sym typeface="+mn-ea"/>
              </a:rPr>
              <a:t>。</a:t>
            </a:r>
            <a:r>
              <a:rPr lang="en-US" altLang="zh-CN" dirty="0">
                <a:solidFill>
                  <a:srgbClr val="000000"/>
                </a:solidFill>
                <a:latin typeface="Times New Roman"/>
                <a:sym typeface="+mn-ea"/>
              </a:rPr>
              <a:t>        </a:t>
            </a:r>
          </a:p>
        </p:txBody>
      </p:sp>
      <p:grpSp>
        <p:nvGrpSpPr>
          <p:cNvPr id="7" name="组合 6"/>
          <p:cNvGrpSpPr/>
          <p:nvPr/>
        </p:nvGrpSpPr>
        <p:grpSpPr>
          <a:xfrm>
            <a:off x="8569819" y="914599"/>
            <a:ext cx="3466489" cy="4116407"/>
            <a:chOff x="5486376" y="1630524"/>
            <a:chExt cx="3466489" cy="4116407"/>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376" y="1630524"/>
              <a:ext cx="3292125" cy="3596952"/>
            </a:xfrm>
            <a:prstGeom prst="rect">
              <a:avLst/>
            </a:prstGeom>
          </p:spPr>
        </p:pic>
        <p:sp>
          <p:nvSpPr>
            <p:cNvPr id="10" name="文本框 9"/>
            <p:cNvSpPr txBox="1"/>
            <p:nvPr/>
          </p:nvSpPr>
          <p:spPr>
            <a:xfrm>
              <a:off x="5769333" y="5257053"/>
              <a:ext cx="3183532"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000000"/>
                  </a:solidFill>
                  <a:sym typeface="+mn-ea"/>
                </a:rPr>
                <a:t>龙卷风码中校验块的计算过程</a:t>
              </a:r>
            </a:p>
          </p:txBody>
        </p:sp>
      </p:grpSp>
      <p:sp>
        <p:nvSpPr>
          <p:cNvPr id="3" name="文本框 2">
            <a:extLst>
              <a:ext uri="{FF2B5EF4-FFF2-40B4-BE49-F238E27FC236}">
                <a16:creationId xmlns:a16="http://schemas.microsoft.com/office/drawing/2014/main" id="{C54D6986-A358-2DE1-35D1-4C7464EAF881}"/>
              </a:ext>
            </a:extLst>
          </p:cNvPr>
          <p:cNvSpPr txBox="1"/>
          <p:nvPr/>
        </p:nvSpPr>
        <p:spPr>
          <a:xfrm>
            <a:off x="266440" y="3088857"/>
            <a:ext cx="8303378" cy="2803909"/>
          </a:xfrm>
          <a:prstGeom prst="rect">
            <a:avLst/>
          </a:prstGeom>
          <a:noFill/>
        </p:spPr>
        <p:txBody>
          <a:bodyPr wrap="square" rtlCol="0" anchor="t">
            <a:spAutoFit/>
          </a:bodyPr>
          <a:lstStyle/>
          <a:p>
            <a:pPr algn="just" eaLnBrk="0" fontAlgn="base" hangingPunct="0">
              <a:lnSpc>
                <a:spcPts val="3600"/>
              </a:lnSpc>
              <a:spcBef>
                <a:spcPct val="0"/>
              </a:spcBef>
              <a:spcAft>
                <a:spcPct val="0"/>
              </a:spcAft>
            </a:pPr>
            <a:r>
              <a:rPr lang="zh-CN" altLang="en-US" sz="2000" dirty="0">
                <a:solidFill>
                  <a:srgbClr val="000000"/>
                </a:solidFill>
                <a:latin typeface="Times New Roman"/>
                <a:ea typeface="黑体" panose="02010609060101010101" pitchFamily="49" charset="-122"/>
                <a:sym typeface="+mn-ea"/>
              </a:rPr>
              <a:t>        在此过程中，</a:t>
            </a:r>
            <a:r>
              <a:rPr lang="zh-CN" altLang="en-US" sz="2000" dirty="0">
                <a:solidFill>
                  <a:srgbClr val="00B050"/>
                </a:solidFill>
                <a:latin typeface="Times New Roman"/>
                <a:ea typeface="黑体" panose="02010609060101010101" pitchFamily="49" charset="-122"/>
                <a:sym typeface="+mn-ea"/>
              </a:rPr>
              <a:t>进行异或操作的次数</a:t>
            </a:r>
            <a:r>
              <a:rPr lang="en-US" altLang="zh-CN" sz="2000" dirty="0">
                <a:solidFill>
                  <a:srgbClr val="00B050"/>
                </a:solidFill>
                <a:latin typeface="Times New Roman"/>
                <a:ea typeface="黑体" panose="02010609060101010101" pitchFamily="49" charset="-122"/>
                <a:sym typeface="+mn-ea"/>
              </a:rPr>
              <a:t>(</a:t>
            </a:r>
            <a:r>
              <a:rPr lang="zh-CN" altLang="en-US" sz="2000" dirty="0">
                <a:solidFill>
                  <a:srgbClr val="00B050"/>
                </a:solidFill>
                <a:latin typeface="Times New Roman"/>
                <a:ea typeface="黑体" panose="02010609060101010101" pitchFamily="49" charset="-122"/>
                <a:sym typeface="+mn-ea"/>
              </a:rPr>
              <a:t>或者说是运算层数</a:t>
            </a:r>
            <a:r>
              <a:rPr lang="en-US" altLang="zh-CN" sz="2000" dirty="0">
                <a:solidFill>
                  <a:srgbClr val="00B050"/>
                </a:solidFill>
                <a:latin typeface="Times New Roman"/>
                <a:ea typeface="黑体" panose="02010609060101010101" pitchFamily="49" charset="-122"/>
                <a:sym typeface="+mn-ea"/>
              </a:rPr>
              <a:t>)</a:t>
            </a:r>
            <a:r>
              <a:rPr lang="zh-CN" altLang="en-US" sz="2000" dirty="0">
                <a:solidFill>
                  <a:srgbClr val="00B050"/>
                </a:solidFill>
                <a:latin typeface="Times New Roman"/>
                <a:ea typeface="黑体" panose="02010609060101010101" pitchFamily="49" charset="-122"/>
                <a:sym typeface="+mn-ea"/>
              </a:rPr>
              <a:t>由每层中的数据块数目决定</a:t>
            </a:r>
            <a:r>
              <a:rPr lang="zh-CN" altLang="en-US" sz="2000" dirty="0">
                <a:solidFill>
                  <a:srgbClr val="000000"/>
                </a:solidFill>
                <a:latin typeface="Times New Roman"/>
                <a:ea typeface="黑体" panose="02010609060101010101" pitchFamily="49" charset="-122"/>
                <a:sym typeface="+mn-ea"/>
              </a:rPr>
              <a:t>。</a:t>
            </a:r>
            <a:endParaRPr lang="en-US" altLang="zh-CN" sz="2000" dirty="0">
              <a:solidFill>
                <a:srgbClr val="000000"/>
              </a:solidFill>
              <a:latin typeface="Times New Roman"/>
              <a:ea typeface="黑体" panose="02010609060101010101" pitchFamily="49" charset="-122"/>
              <a:sym typeface="+mn-ea"/>
            </a:endParaRPr>
          </a:p>
          <a:p>
            <a:pPr algn="just" eaLnBrk="0" fontAlgn="base" hangingPunct="0">
              <a:lnSpc>
                <a:spcPts val="3600"/>
              </a:lnSpc>
              <a:spcBef>
                <a:spcPct val="0"/>
              </a:spcBef>
              <a:spcAft>
                <a:spcPct val="0"/>
              </a:spcAft>
            </a:pPr>
            <a:r>
              <a:rPr lang="en-US" altLang="zh-CN" sz="2000" dirty="0">
                <a:solidFill>
                  <a:srgbClr val="000000"/>
                </a:solidFill>
                <a:latin typeface="Times New Roman"/>
                <a:ea typeface="黑体" panose="02010609060101010101" pitchFamily="49" charset="-122"/>
                <a:sym typeface="+mn-ea"/>
              </a:rPr>
              <a:t>       </a:t>
            </a:r>
            <a:r>
              <a:rPr lang="zh-CN" altLang="en-US" sz="2000" dirty="0">
                <a:solidFill>
                  <a:srgbClr val="000000"/>
                </a:solidFill>
                <a:latin typeface="Times New Roman"/>
                <a:ea typeface="黑体" panose="02010609060101010101" pitchFamily="49" charset="-122"/>
                <a:sym typeface="+mn-ea"/>
              </a:rPr>
              <a:t>不妨引入一个参数</a:t>
            </a:r>
            <a:r>
              <a:rPr lang="en-US" altLang="zh-CN" sz="2000" i="1" dirty="0">
                <a:solidFill>
                  <a:srgbClr val="000000"/>
                </a:solidFill>
                <a:latin typeface="Times New Roman"/>
                <a:ea typeface="黑体" panose="02010609060101010101" pitchFamily="49" charset="-122"/>
                <a:sym typeface="+mn-ea"/>
              </a:rPr>
              <a:t>e</a:t>
            </a:r>
            <a:r>
              <a:rPr lang="en-US" altLang="zh-CN" sz="2000" dirty="0">
                <a:solidFill>
                  <a:srgbClr val="000000"/>
                </a:solidFill>
                <a:latin typeface="Times New Roman"/>
                <a:ea typeface="黑体" panose="02010609060101010101" pitchFamily="49" charset="-122"/>
                <a:sym typeface="+mn-ea"/>
              </a:rPr>
              <a:t>, </a:t>
            </a:r>
            <a:r>
              <a:rPr lang="en-US" altLang="zh-CN" sz="2000" i="1" dirty="0">
                <a:solidFill>
                  <a:srgbClr val="000000"/>
                </a:solidFill>
                <a:latin typeface="Times New Roman"/>
                <a:ea typeface="黑体" panose="02010609060101010101" pitchFamily="49" charset="-122"/>
                <a:sym typeface="+mn-ea"/>
              </a:rPr>
              <a:t>e</a:t>
            </a:r>
            <a:r>
              <a:rPr lang="en-US" altLang="zh-CN" sz="2000" dirty="0">
                <a:solidFill>
                  <a:srgbClr val="000000"/>
                </a:solidFill>
                <a:latin typeface="Times New Roman"/>
                <a:ea typeface="黑体" panose="02010609060101010101" pitchFamily="49" charset="-122"/>
                <a:sym typeface="+mn-ea"/>
              </a:rPr>
              <a:t> = </a:t>
            </a:r>
            <a:r>
              <a:rPr lang="en-US" altLang="zh-CN" sz="2000" i="1" dirty="0">
                <a:solidFill>
                  <a:srgbClr val="000000"/>
                </a:solidFill>
                <a:latin typeface="Times New Roman"/>
                <a:ea typeface="黑体" panose="02010609060101010101" pitchFamily="49" charset="-122"/>
                <a:sym typeface="+mn-ea"/>
              </a:rPr>
              <a:t>m</a:t>
            </a:r>
            <a:r>
              <a:rPr lang="en-US" altLang="zh-CN" sz="2000" dirty="0">
                <a:solidFill>
                  <a:srgbClr val="000000"/>
                </a:solidFill>
                <a:latin typeface="Times New Roman"/>
                <a:ea typeface="黑体" panose="02010609060101010101" pitchFamily="49" charset="-122"/>
                <a:sym typeface="+mn-ea"/>
              </a:rPr>
              <a:t>/(</a:t>
            </a:r>
            <a:r>
              <a:rPr lang="en-US" altLang="zh-CN" sz="2000" i="1" dirty="0" err="1">
                <a:solidFill>
                  <a:srgbClr val="000000"/>
                </a:solidFill>
                <a:latin typeface="Times New Roman"/>
                <a:ea typeface="黑体" panose="02010609060101010101" pitchFamily="49" charset="-122"/>
                <a:sym typeface="+mn-ea"/>
              </a:rPr>
              <a:t>m</a:t>
            </a:r>
            <a:r>
              <a:rPr lang="en-US" altLang="zh-CN" sz="2000" dirty="0" err="1">
                <a:solidFill>
                  <a:srgbClr val="000000"/>
                </a:solidFill>
                <a:latin typeface="Times New Roman"/>
                <a:ea typeface="黑体" panose="02010609060101010101" pitchFamily="49" charset="-122"/>
                <a:sym typeface="+mn-ea"/>
              </a:rPr>
              <a:t>+</a:t>
            </a:r>
            <a:r>
              <a:rPr lang="en-US" altLang="zh-CN" sz="2000" i="1" dirty="0" err="1">
                <a:solidFill>
                  <a:srgbClr val="000000"/>
                </a:solidFill>
                <a:latin typeface="Times New Roman"/>
                <a:ea typeface="黑体" panose="02010609060101010101" pitchFamily="49" charset="-122"/>
                <a:sym typeface="+mn-ea"/>
              </a:rPr>
              <a:t>n</a:t>
            </a:r>
            <a:r>
              <a:rPr lang="en-US" altLang="zh-CN" sz="2000" dirty="0">
                <a:solidFill>
                  <a:srgbClr val="000000"/>
                </a:solidFill>
                <a:latin typeface="Times New Roman"/>
                <a:ea typeface="黑体" panose="02010609060101010101" pitchFamily="49" charset="-122"/>
                <a:sym typeface="+mn-ea"/>
              </a:rPr>
              <a:t>),</a:t>
            </a:r>
            <a:r>
              <a:rPr lang="zh-CN" altLang="en-US" sz="2000" dirty="0">
                <a:solidFill>
                  <a:srgbClr val="000000"/>
                </a:solidFill>
                <a:latin typeface="Times New Roman"/>
                <a:ea typeface="黑体" panose="02010609060101010101" pitchFamily="49" charset="-122"/>
                <a:sym typeface="+mn-ea"/>
              </a:rPr>
              <a:t> 其中</a:t>
            </a:r>
            <a:r>
              <a:rPr lang="en-US" altLang="zh-CN" sz="2000" i="1" dirty="0">
                <a:solidFill>
                  <a:srgbClr val="000000"/>
                </a:solidFill>
                <a:latin typeface="Times New Roman"/>
                <a:ea typeface="黑体" panose="02010609060101010101" pitchFamily="49" charset="-122"/>
                <a:sym typeface="+mn-ea"/>
              </a:rPr>
              <a:t>m</a:t>
            </a:r>
            <a:r>
              <a:rPr lang="zh-CN" altLang="en-US" sz="2000" dirty="0">
                <a:solidFill>
                  <a:srgbClr val="000000"/>
                </a:solidFill>
                <a:latin typeface="Times New Roman"/>
                <a:ea typeface="黑体" panose="02010609060101010101" pitchFamily="49" charset="-122"/>
                <a:sym typeface="+mn-ea"/>
              </a:rPr>
              <a:t>是最终的校验码数目</a:t>
            </a:r>
            <a:r>
              <a:rPr lang="en-US" altLang="zh-CN" sz="2000" dirty="0">
                <a:solidFill>
                  <a:srgbClr val="000000"/>
                </a:solidFill>
                <a:latin typeface="Times New Roman"/>
                <a:ea typeface="黑体" panose="02010609060101010101" pitchFamily="49" charset="-122"/>
                <a:sym typeface="+mn-ea"/>
              </a:rPr>
              <a:t>, </a:t>
            </a:r>
            <a:r>
              <a:rPr lang="zh-CN" altLang="en-US" sz="2000" dirty="0">
                <a:solidFill>
                  <a:srgbClr val="000000"/>
                </a:solidFill>
                <a:latin typeface="Times New Roman"/>
                <a:ea typeface="黑体" panose="02010609060101010101" pitchFamily="49" charset="-122"/>
                <a:sym typeface="+mn-ea"/>
              </a:rPr>
              <a:t>也就是说</a:t>
            </a:r>
            <a:r>
              <a:rPr lang="en-US" altLang="zh-CN" sz="2000" dirty="0">
                <a:solidFill>
                  <a:srgbClr val="000000"/>
                </a:solidFill>
                <a:latin typeface="Times New Roman"/>
                <a:ea typeface="黑体" panose="02010609060101010101" pitchFamily="49" charset="-122"/>
                <a:sym typeface="+mn-ea"/>
              </a:rPr>
              <a:t>,</a:t>
            </a:r>
            <a:r>
              <a:rPr lang="zh-CN" altLang="en-US" sz="2000" dirty="0">
                <a:solidFill>
                  <a:srgbClr val="000000"/>
                </a:solidFill>
                <a:latin typeface="Times New Roman"/>
                <a:ea typeface="黑体" panose="02010609060101010101" pitchFamily="49" charset="-122"/>
                <a:sym typeface="+mn-ea"/>
              </a:rPr>
              <a:t> </a:t>
            </a:r>
            <a:r>
              <a:rPr lang="en-US" altLang="zh-CN" sz="2000" i="1" dirty="0">
                <a:solidFill>
                  <a:srgbClr val="000000"/>
                </a:solidFill>
                <a:latin typeface="Times New Roman"/>
                <a:ea typeface="黑体" panose="02010609060101010101" pitchFamily="49" charset="-122"/>
                <a:sym typeface="+mn-ea"/>
              </a:rPr>
              <a:t>e</a:t>
            </a:r>
            <a:r>
              <a:rPr lang="zh-CN" altLang="en-US" sz="2000" dirty="0">
                <a:solidFill>
                  <a:srgbClr val="000000"/>
                </a:solidFill>
                <a:latin typeface="Times New Roman"/>
                <a:ea typeface="黑体" panose="02010609060101010101" pitchFamily="49" charset="-122"/>
                <a:sym typeface="+mn-ea"/>
              </a:rPr>
              <a:t>是擦除概率</a:t>
            </a:r>
            <a:r>
              <a:rPr lang="en-US" altLang="zh-CN" sz="2000" dirty="0">
                <a:solidFill>
                  <a:srgbClr val="000000"/>
                </a:solidFill>
                <a:latin typeface="Times New Roman"/>
                <a:ea typeface="黑体" panose="02010609060101010101" pitchFamily="49" charset="-122"/>
                <a:sym typeface="+mn-ea"/>
              </a:rPr>
              <a:t>, </a:t>
            </a:r>
            <a:r>
              <a:rPr lang="zh-CN" altLang="en-US" sz="2000" dirty="0">
                <a:solidFill>
                  <a:srgbClr val="000000"/>
                </a:solidFill>
                <a:latin typeface="Times New Roman"/>
                <a:ea typeface="黑体" panose="02010609060101010101" pitchFamily="49" charset="-122"/>
                <a:sym typeface="+mn-ea"/>
              </a:rPr>
              <a:t>它与码率的和为</a:t>
            </a:r>
            <a:r>
              <a:rPr lang="en-US" altLang="zh-CN" sz="2000" dirty="0">
                <a:solidFill>
                  <a:srgbClr val="000000"/>
                </a:solidFill>
                <a:latin typeface="Times New Roman"/>
                <a:ea typeface="黑体" panose="02010609060101010101" pitchFamily="49" charset="-122"/>
                <a:sym typeface="+mn-ea"/>
              </a:rPr>
              <a:t>1</a:t>
            </a:r>
            <a:r>
              <a:rPr lang="zh-CN" altLang="en-US" sz="2000" dirty="0">
                <a:solidFill>
                  <a:srgbClr val="000000"/>
                </a:solidFill>
                <a:latin typeface="Times New Roman"/>
                <a:ea typeface="黑体" panose="02010609060101010101" pitchFamily="49" charset="-122"/>
                <a:sym typeface="+mn-ea"/>
              </a:rPr>
              <a:t>。显然，</a:t>
            </a:r>
            <a:r>
              <a:rPr lang="en-US" altLang="zh-CN" sz="2000" i="1" dirty="0">
                <a:solidFill>
                  <a:srgbClr val="000000"/>
                </a:solidFill>
                <a:latin typeface="Times New Roman"/>
                <a:ea typeface="黑体" panose="02010609060101010101" pitchFamily="49" charset="-122"/>
                <a:sym typeface="+mn-ea"/>
              </a:rPr>
              <a:t>e</a:t>
            </a:r>
            <a:r>
              <a:rPr lang="zh-CN" altLang="en-US" sz="2000" dirty="0">
                <a:solidFill>
                  <a:srgbClr val="000000"/>
                </a:solidFill>
                <a:latin typeface="Times New Roman"/>
                <a:ea typeface="黑体" panose="02010609060101010101" pitchFamily="49" charset="-122"/>
                <a:sym typeface="+mn-ea"/>
              </a:rPr>
              <a:t>满足</a:t>
            </a:r>
            <a:r>
              <a:rPr lang="en-US" altLang="zh-CN" sz="2000" i="1" dirty="0">
                <a:solidFill>
                  <a:srgbClr val="000000"/>
                </a:solidFill>
                <a:latin typeface="Times New Roman"/>
                <a:ea typeface="黑体" panose="02010609060101010101" pitchFamily="49" charset="-122"/>
                <a:sym typeface="+mn-ea"/>
              </a:rPr>
              <a:t>e</a:t>
            </a:r>
            <a:r>
              <a:rPr lang="en-US" altLang="zh-CN" sz="2000" dirty="0">
                <a:solidFill>
                  <a:srgbClr val="000000"/>
                </a:solidFill>
                <a:latin typeface="Times New Roman"/>
                <a:ea typeface="黑体" panose="02010609060101010101" pitchFamily="49" charset="-122"/>
                <a:sym typeface="+mn-ea"/>
              </a:rPr>
              <a:t>&lt;1</a:t>
            </a:r>
            <a:r>
              <a:rPr lang="zh-CN" altLang="en-US" sz="2000" dirty="0">
                <a:solidFill>
                  <a:srgbClr val="000000"/>
                </a:solidFill>
                <a:latin typeface="Times New Roman"/>
                <a:ea typeface="黑体" panose="02010609060101010101" pitchFamily="49" charset="-122"/>
                <a:sym typeface="+mn-ea"/>
              </a:rPr>
              <a:t>。那么</a:t>
            </a:r>
            <a:r>
              <a:rPr lang="en-US" altLang="zh-CN" sz="2000" dirty="0">
                <a:solidFill>
                  <a:srgbClr val="000000"/>
                </a:solidFill>
                <a:latin typeface="Times New Roman"/>
                <a:ea typeface="黑体" panose="02010609060101010101" pitchFamily="49" charset="-122"/>
                <a:sym typeface="+mn-ea"/>
              </a:rPr>
              <a:t>, </a:t>
            </a:r>
            <a:r>
              <a:rPr lang="zh-CN" altLang="en-US" sz="2000" dirty="0">
                <a:solidFill>
                  <a:srgbClr val="3333CC"/>
                </a:solidFill>
                <a:latin typeface="Times New Roman"/>
                <a:ea typeface="黑体" panose="02010609060101010101" pitchFamily="49" charset="-122"/>
                <a:sym typeface="+mn-ea"/>
              </a:rPr>
              <a:t>在校验块计算时</a:t>
            </a:r>
            <a:r>
              <a:rPr lang="en-US" altLang="zh-CN" sz="2000" dirty="0">
                <a:solidFill>
                  <a:srgbClr val="3333CC"/>
                </a:solidFill>
                <a:latin typeface="Times New Roman"/>
                <a:ea typeface="黑体" panose="02010609060101010101" pitchFamily="49" charset="-122"/>
                <a:sym typeface="+mn-ea"/>
              </a:rPr>
              <a:t>, </a:t>
            </a:r>
            <a:r>
              <a:rPr lang="zh-CN" altLang="en-US" sz="2000" dirty="0">
                <a:solidFill>
                  <a:srgbClr val="3333CC"/>
                </a:solidFill>
                <a:latin typeface="Times New Roman"/>
                <a:ea typeface="黑体" panose="02010609060101010101" pitchFamily="49" charset="-122"/>
                <a:sym typeface="+mn-ea"/>
              </a:rPr>
              <a:t>第一层得到的数据块数目就是</a:t>
            </a:r>
            <a:r>
              <a:rPr lang="en-US" altLang="zh-CN" sz="2000" i="1" dirty="0" err="1">
                <a:solidFill>
                  <a:srgbClr val="3333CC"/>
                </a:solidFill>
                <a:latin typeface="Times New Roman"/>
                <a:ea typeface="黑体" panose="02010609060101010101" pitchFamily="49" charset="-122"/>
                <a:sym typeface="+mn-ea"/>
              </a:rPr>
              <a:t>e</a:t>
            </a:r>
            <a:r>
              <a:rPr lang="en-US" altLang="zh-CN" sz="1600" dirty="0" err="1">
                <a:solidFill>
                  <a:srgbClr val="3333CC"/>
                </a:solidFill>
                <a:latin typeface="Times New Roman"/>
                <a:ea typeface="黑体" panose="02010609060101010101" pitchFamily="49" charset="-122"/>
                <a:sym typeface="+mn-ea"/>
              </a:rPr>
              <a:t>×</a:t>
            </a:r>
            <a:r>
              <a:rPr lang="en-US" altLang="zh-CN" sz="2000" i="1" dirty="0" err="1">
                <a:solidFill>
                  <a:srgbClr val="3333CC"/>
                </a:solidFill>
                <a:latin typeface="Times New Roman"/>
                <a:ea typeface="黑体" panose="02010609060101010101" pitchFamily="49" charset="-122"/>
                <a:sym typeface="+mn-ea"/>
              </a:rPr>
              <a:t>n</a:t>
            </a:r>
            <a:r>
              <a:rPr lang="zh-CN" altLang="en-US" sz="2000" dirty="0">
                <a:solidFill>
                  <a:srgbClr val="3333CC"/>
                </a:solidFill>
                <a:latin typeface="Times New Roman"/>
                <a:ea typeface="黑体" panose="02010609060101010101" pitchFamily="49" charset="-122"/>
                <a:sym typeface="+mn-ea"/>
              </a:rPr>
              <a:t>，第二层的数目是</a:t>
            </a:r>
            <a:r>
              <a:rPr lang="en-US" altLang="zh-CN" sz="2000" i="1" dirty="0">
                <a:solidFill>
                  <a:srgbClr val="3333CC"/>
                </a:solidFill>
                <a:latin typeface="Times New Roman"/>
                <a:ea typeface="黑体" panose="02010609060101010101" pitchFamily="49" charset="-122"/>
                <a:sym typeface="+mn-ea"/>
              </a:rPr>
              <a:t>e</a:t>
            </a:r>
            <a:r>
              <a:rPr lang="en-US" altLang="zh-CN" sz="2000" baseline="30000" dirty="0">
                <a:solidFill>
                  <a:srgbClr val="3333CC"/>
                </a:solidFill>
                <a:latin typeface="Times New Roman"/>
                <a:ea typeface="黑体" panose="02010609060101010101" pitchFamily="49" charset="-122"/>
                <a:sym typeface="+mn-ea"/>
              </a:rPr>
              <a:t>2</a:t>
            </a:r>
            <a:r>
              <a:rPr lang="en-US" altLang="zh-CN" sz="1600" dirty="0">
                <a:solidFill>
                  <a:srgbClr val="3333CC"/>
                </a:solidFill>
                <a:latin typeface="Times New Roman"/>
                <a:ea typeface="黑体" panose="02010609060101010101" pitchFamily="49" charset="-122"/>
                <a:sym typeface="+mn-ea"/>
              </a:rPr>
              <a:t>×</a:t>
            </a:r>
            <a:r>
              <a:rPr lang="en-US" altLang="zh-CN" sz="2000" i="1" dirty="0">
                <a:solidFill>
                  <a:srgbClr val="3333CC"/>
                </a:solidFill>
                <a:latin typeface="Times New Roman"/>
                <a:ea typeface="黑体" panose="02010609060101010101" pitchFamily="49" charset="-122"/>
                <a:sym typeface="+mn-ea"/>
              </a:rPr>
              <a:t>n</a:t>
            </a:r>
            <a:r>
              <a:rPr lang="zh-CN" altLang="en-US" sz="2000" dirty="0">
                <a:solidFill>
                  <a:srgbClr val="3333CC"/>
                </a:solidFill>
                <a:latin typeface="Times New Roman"/>
                <a:ea typeface="黑体" panose="02010609060101010101" pitchFamily="49" charset="-122"/>
                <a:sym typeface="+mn-ea"/>
              </a:rPr>
              <a:t>，第三层的数目是</a:t>
            </a:r>
            <a:r>
              <a:rPr lang="en-US" altLang="zh-CN" sz="2000" i="1" dirty="0">
                <a:solidFill>
                  <a:srgbClr val="3333CC"/>
                </a:solidFill>
                <a:latin typeface="Times New Roman"/>
                <a:ea typeface="黑体" panose="02010609060101010101" pitchFamily="49" charset="-122"/>
                <a:sym typeface="+mn-ea"/>
              </a:rPr>
              <a:t>e</a:t>
            </a:r>
            <a:r>
              <a:rPr lang="en-US" altLang="zh-CN" sz="2000" baseline="30000" dirty="0">
                <a:solidFill>
                  <a:srgbClr val="3333CC"/>
                </a:solidFill>
                <a:latin typeface="Times New Roman"/>
                <a:ea typeface="黑体" panose="02010609060101010101" pitchFamily="49" charset="-122"/>
                <a:sym typeface="+mn-ea"/>
              </a:rPr>
              <a:t>3</a:t>
            </a:r>
            <a:r>
              <a:rPr lang="en-US" altLang="zh-CN" sz="1600" dirty="0">
                <a:solidFill>
                  <a:srgbClr val="3333CC"/>
                </a:solidFill>
                <a:latin typeface="Times New Roman"/>
                <a:ea typeface="黑体" panose="02010609060101010101" pitchFamily="49" charset="-122"/>
                <a:sym typeface="+mn-ea"/>
              </a:rPr>
              <a:t>×</a:t>
            </a:r>
            <a:r>
              <a:rPr lang="en-US" altLang="zh-CN" sz="2000" i="1" dirty="0">
                <a:solidFill>
                  <a:srgbClr val="3333CC"/>
                </a:solidFill>
                <a:latin typeface="Times New Roman"/>
                <a:ea typeface="黑体" panose="02010609060101010101" pitchFamily="49" charset="-122"/>
                <a:sym typeface="+mn-ea"/>
              </a:rPr>
              <a:t>n</a:t>
            </a:r>
            <a:r>
              <a:rPr lang="zh-CN" altLang="en-US" sz="2000" dirty="0">
                <a:solidFill>
                  <a:srgbClr val="3333CC"/>
                </a:solidFill>
                <a:latin typeface="Times New Roman"/>
                <a:ea typeface="黑体" panose="02010609060101010101" pitchFamily="49" charset="-122"/>
                <a:sym typeface="+mn-ea"/>
              </a:rPr>
              <a:t>，依次递推，第</a:t>
            </a:r>
            <a:r>
              <a:rPr lang="en-US" altLang="zh-CN" sz="2000" i="1" dirty="0">
                <a:solidFill>
                  <a:srgbClr val="3333CC"/>
                </a:solidFill>
                <a:latin typeface="Times New Roman"/>
                <a:ea typeface="黑体" panose="02010609060101010101" pitchFamily="49" charset="-122"/>
                <a:sym typeface="+mn-ea"/>
              </a:rPr>
              <a:t>k</a:t>
            </a:r>
            <a:r>
              <a:rPr lang="zh-CN" altLang="en-US" sz="2000" dirty="0">
                <a:solidFill>
                  <a:srgbClr val="3333CC"/>
                </a:solidFill>
                <a:latin typeface="Times New Roman"/>
                <a:ea typeface="黑体" panose="02010609060101010101" pitchFamily="49" charset="-122"/>
                <a:sym typeface="+mn-ea"/>
              </a:rPr>
              <a:t>层的数据块数目就是</a:t>
            </a:r>
            <a:r>
              <a:rPr lang="en-US" altLang="zh-CN" sz="2000" i="1" dirty="0" err="1">
                <a:solidFill>
                  <a:srgbClr val="3333CC"/>
                </a:solidFill>
                <a:latin typeface="Times New Roman"/>
                <a:ea typeface="黑体" panose="02010609060101010101" pitchFamily="49" charset="-122"/>
                <a:sym typeface="+mn-ea"/>
              </a:rPr>
              <a:t>e</a:t>
            </a:r>
            <a:r>
              <a:rPr lang="en-US" altLang="zh-CN" sz="2000" i="1" baseline="30000" dirty="0" err="1">
                <a:solidFill>
                  <a:srgbClr val="3333CC"/>
                </a:solidFill>
                <a:latin typeface="Times New Roman"/>
                <a:ea typeface="黑体" panose="02010609060101010101" pitchFamily="49" charset="-122"/>
                <a:sym typeface="+mn-ea"/>
              </a:rPr>
              <a:t>k</a:t>
            </a:r>
            <a:r>
              <a:rPr lang="en-US" altLang="zh-CN" sz="1600" dirty="0" err="1">
                <a:solidFill>
                  <a:srgbClr val="3333CC"/>
                </a:solidFill>
                <a:latin typeface="Times New Roman"/>
                <a:ea typeface="黑体" panose="02010609060101010101" pitchFamily="49" charset="-122"/>
                <a:sym typeface="+mn-ea"/>
              </a:rPr>
              <a:t>×</a:t>
            </a:r>
            <a:r>
              <a:rPr lang="en-US" altLang="zh-CN" sz="2000" i="1" dirty="0" err="1">
                <a:solidFill>
                  <a:srgbClr val="3333CC"/>
                </a:solidFill>
                <a:latin typeface="Times New Roman"/>
                <a:ea typeface="黑体" panose="02010609060101010101" pitchFamily="49" charset="-122"/>
                <a:sym typeface="+mn-ea"/>
              </a:rPr>
              <a:t>n</a:t>
            </a:r>
            <a:r>
              <a:rPr lang="zh-CN" altLang="en-US" sz="2000" dirty="0">
                <a:solidFill>
                  <a:srgbClr val="000000"/>
                </a:solidFill>
                <a:latin typeface="Times New Roman"/>
                <a:ea typeface="黑体" panose="02010609060101010101" pitchFamily="49" charset="-122"/>
                <a:sym typeface="+mn-ea"/>
              </a:rPr>
              <a:t>。</a:t>
            </a:r>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龙卷风码的编码</a:t>
            </a:r>
          </a:p>
        </p:txBody>
      </p:sp>
      <p:sp>
        <p:nvSpPr>
          <p:cNvPr id="9" name="文本框 8"/>
          <p:cNvSpPr txBox="1"/>
          <p:nvPr/>
        </p:nvSpPr>
        <p:spPr>
          <a:xfrm>
            <a:off x="1917965" y="990664"/>
            <a:ext cx="8347811" cy="222041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000000"/>
                </a:solidFill>
                <a:latin typeface="Times New Roman"/>
                <a:sym typeface="+mn-ea"/>
              </a:rPr>
              <a:t>        下图说明，</a:t>
            </a:r>
            <a:r>
              <a:rPr lang="zh-CN" altLang="en-US" dirty="0">
                <a:solidFill>
                  <a:srgbClr val="FF0000"/>
                </a:solidFill>
                <a:latin typeface="Times New Roman"/>
                <a:sym typeface="+mn-ea"/>
              </a:rPr>
              <a:t>最后一级</a:t>
            </a:r>
            <a:r>
              <a:rPr lang="en-US" altLang="zh-CN" dirty="0">
                <a:solidFill>
                  <a:srgbClr val="000000"/>
                </a:solidFill>
                <a:latin typeface="Times New Roman"/>
                <a:sym typeface="+mn-ea"/>
              </a:rPr>
              <a:t>(</a:t>
            </a:r>
            <a:r>
              <a:rPr lang="zh-CN" altLang="en-US" dirty="0">
                <a:solidFill>
                  <a:srgbClr val="000000"/>
                </a:solidFill>
                <a:latin typeface="Times New Roman"/>
                <a:sym typeface="+mn-ea"/>
              </a:rPr>
              <a:t>也就是二部图中的</a:t>
            </a:r>
            <a:r>
              <a:rPr lang="en-US" altLang="zh-CN" i="1" dirty="0">
                <a:solidFill>
                  <a:srgbClr val="000000"/>
                </a:solidFill>
                <a:latin typeface="Times New Roman"/>
                <a:sym typeface="+mn-ea"/>
              </a:rPr>
              <a:t>B</a:t>
            </a:r>
            <a:r>
              <a:rPr lang="en-US" altLang="zh-CN" i="1" baseline="-25000" dirty="0">
                <a:solidFill>
                  <a:srgbClr val="000000"/>
                </a:solidFill>
                <a:latin typeface="Times New Roman"/>
                <a:sym typeface="+mn-ea"/>
              </a:rPr>
              <a:t>k</a:t>
            </a:r>
            <a:r>
              <a:rPr lang="en-US" altLang="zh-CN" baseline="-25000" dirty="0">
                <a:solidFill>
                  <a:srgbClr val="000000"/>
                </a:solidFill>
                <a:latin typeface="Times New Roman"/>
                <a:sym typeface="+mn-ea"/>
              </a:rPr>
              <a:t>+1</a:t>
            </a:r>
            <a:r>
              <a:rPr lang="en-US" altLang="zh-CN" dirty="0">
                <a:solidFill>
                  <a:srgbClr val="000000"/>
                </a:solidFill>
                <a:latin typeface="Times New Roman"/>
                <a:sym typeface="+mn-ea"/>
              </a:rPr>
              <a:t>)</a:t>
            </a:r>
            <a:r>
              <a:rPr lang="zh-CN" altLang="en-US" dirty="0">
                <a:solidFill>
                  <a:srgbClr val="FF0000"/>
                </a:solidFill>
                <a:latin typeface="Times New Roman"/>
                <a:sym typeface="+mn-ea"/>
              </a:rPr>
              <a:t>的计算使用传统的编码方法</a:t>
            </a:r>
            <a:r>
              <a:rPr lang="en-US" altLang="zh-CN" dirty="0">
                <a:solidFill>
                  <a:srgbClr val="000000"/>
                </a:solidFill>
                <a:latin typeface="Times New Roman"/>
                <a:sym typeface="+mn-ea"/>
              </a:rPr>
              <a:t>(</a:t>
            </a:r>
            <a:r>
              <a:rPr lang="zh-CN" altLang="en-US" dirty="0">
                <a:solidFill>
                  <a:srgbClr val="000000"/>
                </a:solidFill>
                <a:latin typeface="Times New Roman"/>
                <a:sym typeface="+mn-ea"/>
              </a:rPr>
              <a:t>如</a:t>
            </a:r>
            <a:r>
              <a:rPr lang="en-US" altLang="zh-CN" dirty="0">
                <a:solidFill>
                  <a:srgbClr val="000000"/>
                </a:solidFill>
                <a:latin typeface="Times New Roman"/>
                <a:sym typeface="+mn-ea"/>
              </a:rPr>
              <a:t>RS</a:t>
            </a:r>
            <a:r>
              <a:rPr lang="zh-CN" altLang="en-US" dirty="0">
                <a:solidFill>
                  <a:srgbClr val="000000"/>
                </a:solidFill>
                <a:latin typeface="Times New Roman"/>
                <a:sym typeface="+mn-ea"/>
              </a:rPr>
              <a:t>码的编码方法</a:t>
            </a:r>
            <a:r>
              <a:rPr lang="en-US" altLang="zh-CN" dirty="0">
                <a:solidFill>
                  <a:srgbClr val="000000"/>
                </a:solidFill>
                <a:latin typeface="Times New Roman"/>
                <a:sym typeface="+mn-ea"/>
              </a:rPr>
              <a:t>)</a:t>
            </a:r>
            <a:r>
              <a:rPr lang="zh-CN" altLang="en-US" dirty="0">
                <a:solidFill>
                  <a:srgbClr val="000000"/>
                </a:solidFill>
                <a:latin typeface="Times New Roman"/>
                <a:sym typeface="+mn-ea"/>
              </a:rPr>
              <a:t>。最后一级的运算中，</a:t>
            </a:r>
            <a:r>
              <a:rPr lang="en-US" altLang="zh-CN" i="1" dirty="0">
                <a:solidFill>
                  <a:srgbClr val="000000"/>
                </a:solidFill>
                <a:latin typeface="Times New Roman"/>
                <a:sym typeface="+mn-ea"/>
              </a:rPr>
              <a:t>B</a:t>
            </a:r>
            <a:r>
              <a:rPr lang="en-US" altLang="zh-CN" i="1" baseline="-25000" dirty="0">
                <a:solidFill>
                  <a:srgbClr val="000000"/>
                </a:solidFill>
                <a:latin typeface="Times New Roman"/>
                <a:sym typeface="+mn-ea"/>
              </a:rPr>
              <a:t>k</a:t>
            </a:r>
            <a:r>
              <a:rPr lang="en-US" altLang="zh-CN" baseline="-25000" dirty="0">
                <a:solidFill>
                  <a:srgbClr val="000000"/>
                </a:solidFill>
                <a:latin typeface="Times New Roman"/>
                <a:sym typeface="+mn-ea"/>
              </a:rPr>
              <a:t>+1</a:t>
            </a:r>
            <a:r>
              <a:rPr lang="zh-CN" altLang="en-US" dirty="0">
                <a:solidFill>
                  <a:srgbClr val="000000"/>
                </a:solidFill>
                <a:latin typeface="Times New Roman"/>
                <a:sym typeface="+mn-ea"/>
              </a:rPr>
              <a:t>和</a:t>
            </a:r>
            <a:r>
              <a:rPr lang="en-US" altLang="zh-CN" i="1" dirty="0">
                <a:solidFill>
                  <a:srgbClr val="000000"/>
                </a:solidFill>
                <a:latin typeface="Times New Roman"/>
                <a:sym typeface="+mn-ea"/>
              </a:rPr>
              <a:t>B</a:t>
            </a:r>
            <a:r>
              <a:rPr lang="en-US" altLang="zh-CN" i="1" baseline="-25000" dirty="0">
                <a:solidFill>
                  <a:srgbClr val="000000"/>
                </a:solidFill>
                <a:latin typeface="Times New Roman"/>
                <a:sym typeface="+mn-ea"/>
              </a:rPr>
              <a:t>k</a:t>
            </a:r>
            <a:r>
              <a:rPr lang="zh-CN" altLang="en-US" dirty="0">
                <a:solidFill>
                  <a:srgbClr val="000000"/>
                </a:solidFill>
                <a:latin typeface="Times New Roman"/>
                <a:sym typeface="+mn-ea"/>
              </a:rPr>
              <a:t>具有相同的变量节点，根据连接关系生成新节点。</a:t>
            </a:r>
            <a:endParaRPr lang="en-US" altLang="zh-CN" dirty="0">
              <a:solidFill>
                <a:srgbClr val="000000"/>
              </a:solidFill>
              <a:latin typeface="Times New Roman"/>
              <a:sym typeface="+mn-ea"/>
            </a:endParaRPr>
          </a:p>
          <a:p>
            <a:pPr eaLnBrk="0" fontAlgn="base" hangingPunct="0">
              <a:lnSpc>
                <a:spcPts val="3400"/>
              </a:lnSpc>
              <a:spcBef>
                <a:spcPct val="0"/>
              </a:spcBef>
              <a:spcAft>
                <a:spcPct val="0"/>
              </a:spcAft>
            </a:pPr>
            <a:r>
              <a:rPr lang="en-US" altLang="zh-CN" dirty="0">
                <a:solidFill>
                  <a:srgbClr val="000000"/>
                </a:solidFill>
                <a:latin typeface="Times New Roman"/>
                <a:sym typeface="+mn-ea"/>
              </a:rPr>
              <a:t>        </a:t>
            </a:r>
            <a:r>
              <a:rPr lang="zh-CN" altLang="en-US" dirty="0">
                <a:solidFill>
                  <a:srgbClr val="000000"/>
                </a:solidFill>
                <a:latin typeface="Times New Roman"/>
                <a:sym typeface="+mn-ea"/>
              </a:rPr>
              <a:t>至此，整个编码工作完成。发送方传输的编码就是原数据包加上校验块的总数据包。</a:t>
            </a:r>
            <a:endParaRPr lang="en-US" altLang="zh-CN" dirty="0">
              <a:solidFill>
                <a:srgbClr val="000000"/>
              </a:solidFill>
              <a:latin typeface="Times New Roman"/>
              <a:sym typeface="+mn-ea"/>
            </a:endParaRPr>
          </a:p>
        </p:txBody>
      </p:sp>
      <p:grpSp>
        <p:nvGrpSpPr>
          <p:cNvPr id="3" name="组合 2"/>
          <p:cNvGrpSpPr/>
          <p:nvPr/>
        </p:nvGrpSpPr>
        <p:grpSpPr>
          <a:xfrm>
            <a:off x="4038654" y="2895614"/>
            <a:ext cx="5329784" cy="3766392"/>
            <a:chOff x="2514654" y="2895614"/>
            <a:chExt cx="5329784" cy="3766392"/>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54" y="2895614"/>
              <a:ext cx="5329784" cy="3442429"/>
            </a:xfrm>
            <a:prstGeom prst="rect">
              <a:avLst/>
            </a:prstGeom>
          </p:spPr>
        </p:pic>
        <p:sp>
          <p:nvSpPr>
            <p:cNvPr id="5" name="文本框 4"/>
            <p:cNvSpPr txBox="1"/>
            <p:nvPr/>
          </p:nvSpPr>
          <p:spPr>
            <a:xfrm>
              <a:off x="4561398" y="6172128"/>
              <a:ext cx="2358667"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000000"/>
                  </a:solidFill>
                  <a:sym typeface="+mn-ea"/>
                </a:rPr>
                <a:t>龙卷风码解码过程</a:t>
              </a:r>
            </a:p>
          </p:txBody>
        </p:sp>
      </p:gr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龙卷风码的解码</a:t>
            </a:r>
          </a:p>
        </p:txBody>
      </p:sp>
      <p:sp>
        <p:nvSpPr>
          <p:cNvPr id="9" name="文本框 8"/>
          <p:cNvSpPr txBox="1"/>
          <p:nvPr/>
        </p:nvSpPr>
        <p:spPr>
          <a:xfrm>
            <a:off x="1790813" y="1371654"/>
            <a:ext cx="8610374" cy="418890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latin typeface="Times New Roman"/>
                <a:sym typeface="+mn-ea"/>
              </a:rPr>
              <a:t>解码方式：</a:t>
            </a:r>
            <a:endParaRPr lang="en-US" altLang="zh-CN" dirty="0">
              <a:solidFill>
                <a:srgbClr val="000000"/>
              </a:solidFill>
              <a:latin typeface="Times New Roman"/>
              <a:sym typeface="+mn-ea"/>
            </a:endParaRPr>
          </a:p>
          <a:p>
            <a:pPr eaLnBrk="0" fontAlgn="base" hangingPunct="0">
              <a:lnSpc>
                <a:spcPts val="3600"/>
              </a:lnSpc>
              <a:spcBef>
                <a:spcPct val="0"/>
              </a:spcBef>
              <a:spcAft>
                <a:spcPct val="0"/>
              </a:spcAft>
            </a:pPr>
            <a:r>
              <a:rPr lang="zh-CN" altLang="en-US" dirty="0">
                <a:solidFill>
                  <a:srgbClr val="000000"/>
                </a:solidFill>
                <a:latin typeface="Times New Roman"/>
                <a:sym typeface="+mn-ea"/>
              </a:rPr>
              <a:t>        接收方收到</a:t>
            </a:r>
            <a:r>
              <a:rPr lang="en-US" altLang="zh-CN" i="1" dirty="0" err="1">
                <a:solidFill>
                  <a:srgbClr val="000000"/>
                </a:solidFill>
                <a:latin typeface="Times New Roman"/>
                <a:sym typeface="+mn-ea"/>
              </a:rPr>
              <a:t>n+m</a:t>
            </a:r>
            <a:r>
              <a:rPr lang="zh-CN" altLang="en-US" dirty="0">
                <a:solidFill>
                  <a:srgbClr val="000000"/>
                </a:solidFill>
                <a:latin typeface="Times New Roman"/>
                <a:sym typeface="+mn-ea"/>
              </a:rPr>
              <a:t>个数据包，如果包含源数据的</a:t>
            </a:r>
            <a:r>
              <a:rPr lang="en-US" altLang="zh-CN" i="1" dirty="0">
                <a:solidFill>
                  <a:srgbClr val="000000"/>
                </a:solidFill>
                <a:latin typeface="Times New Roman"/>
                <a:sym typeface="+mn-ea"/>
              </a:rPr>
              <a:t>n</a:t>
            </a:r>
            <a:r>
              <a:rPr lang="zh-CN" altLang="en-US" dirty="0">
                <a:solidFill>
                  <a:srgbClr val="000000"/>
                </a:solidFill>
                <a:latin typeface="Times New Roman"/>
                <a:sym typeface="+mn-ea"/>
              </a:rPr>
              <a:t>个数据包有丢失，就可以通过</a:t>
            </a:r>
            <a:r>
              <a:rPr lang="en-US" altLang="zh-CN" i="1" dirty="0">
                <a:solidFill>
                  <a:srgbClr val="000000"/>
                </a:solidFill>
                <a:latin typeface="Times New Roman"/>
                <a:sym typeface="+mn-ea"/>
              </a:rPr>
              <a:t>m</a:t>
            </a:r>
            <a:r>
              <a:rPr lang="zh-CN" altLang="en-US" dirty="0">
                <a:solidFill>
                  <a:srgbClr val="000000"/>
                </a:solidFill>
                <a:latin typeface="Times New Roman"/>
                <a:sym typeface="+mn-ea"/>
              </a:rPr>
              <a:t>个冗余数据包进行重构。</a:t>
            </a:r>
            <a:endParaRPr lang="en-US" altLang="zh-CN" dirty="0">
              <a:solidFill>
                <a:srgbClr val="000000"/>
              </a:solidFill>
              <a:latin typeface="Times New Roman"/>
              <a:sym typeface="+mn-ea"/>
            </a:endParaRPr>
          </a:p>
          <a:p>
            <a:pPr eaLnBrk="0" fontAlgn="base" hangingPunct="0">
              <a:lnSpc>
                <a:spcPts val="3600"/>
              </a:lnSpc>
              <a:spcBef>
                <a:spcPct val="0"/>
              </a:spcBef>
              <a:spcAft>
                <a:spcPct val="0"/>
              </a:spcAft>
            </a:pPr>
            <a:r>
              <a:rPr lang="en-US" altLang="zh-CN" dirty="0">
                <a:solidFill>
                  <a:srgbClr val="000000"/>
                </a:solidFill>
                <a:latin typeface="Times New Roman"/>
                <a:sym typeface="+mn-ea"/>
              </a:rPr>
              <a:t>        </a:t>
            </a:r>
            <a:r>
              <a:rPr lang="zh-CN" altLang="en-US" dirty="0">
                <a:solidFill>
                  <a:srgbClr val="FF0000"/>
                </a:solidFill>
                <a:latin typeface="Times New Roman"/>
                <a:sym typeface="+mn-ea"/>
              </a:rPr>
              <a:t>解码过程实际上是一个在二部图上去边的过程</a:t>
            </a:r>
            <a:r>
              <a:rPr lang="zh-CN" altLang="en-US" dirty="0">
                <a:solidFill>
                  <a:srgbClr val="000000"/>
                </a:solidFill>
                <a:latin typeface="Times New Roman"/>
                <a:sym typeface="+mn-ea"/>
              </a:rPr>
              <a:t>，从最高级二部图开始：</a:t>
            </a:r>
            <a:r>
              <a:rPr lang="en-US" altLang="zh-CN" dirty="0">
                <a:solidFill>
                  <a:srgbClr val="000000"/>
                </a:solidFill>
                <a:latin typeface="Times New Roman"/>
                <a:sym typeface="+mn-ea"/>
              </a:rPr>
              <a:t>	(</a:t>
            </a:r>
            <a:r>
              <a:rPr lang="en-US" altLang="zh-CN" dirty="0">
                <a:solidFill>
                  <a:srgbClr val="000000"/>
                </a:solidFill>
                <a:latin typeface="Times New Roman"/>
                <a:sym typeface="Wingdings" panose="05000000000000000000" pitchFamily="2" charset="2"/>
              </a:rPr>
              <a:t>1)</a:t>
            </a:r>
            <a:r>
              <a:rPr lang="zh-CN" altLang="en-US" dirty="0">
                <a:solidFill>
                  <a:srgbClr val="000000"/>
                </a:solidFill>
                <a:latin typeface="Times New Roman"/>
                <a:sym typeface="+mn-ea"/>
              </a:rPr>
              <a:t>首先，利用</a:t>
            </a:r>
            <a:r>
              <a:rPr lang="en-US" altLang="zh-CN" i="1" dirty="0">
                <a:solidFill>
                  <a:srgbClr val="000000"/>
                </a:solidFill>
                <a:latin typeface="Times New Roman"/>
                <a:sym typeface="+mn-ea"/>
              </a:rPr>
              <a:t>B</a:t>
            </a:r>
            <a:r>
              <a:rPr lang="en-US" altLang="zh-CN" i="1" baseline="-25000" dirty="0">
                <a:solidFill>
                  <a:srgbClr val="000000"/>
                </a:solidFill>
                <a:latin typeface="Times New Roman"/>
                <a:sym typeface="+mn-ea"/>
              </a:rPr>
              <a:t>k</a:t>
            </a:r>
            <a:r>
              <a:rPr lang="zh-CN" altLang="en-US" dirty="0">
                <a:solidFill>
                  <a:srgbClr val="000000"/>
                </a:solidFill>
                <a:latin typeface="Times New Roman"/>
                <a:sym typeface="+mn-ea"/>
              </a:rPr>
              <a:t>和</a:t>
            </a:r>
            <a:r>
              <a:rPr lang="en-US" altLang="zh-CN" i="1" dirty="0">
                <a:solidFill>
                  <a:srgbClr val="000000"/>
                </a:solidFill>
                <a:latin typeface="Times New Roman"/>
                <a:sym typeface="+mn-ea"/>
              </a:rPr>
              <a:t>B</a:t>
            </a:r>
            <a:r>
              <a:rPr lang="en-US" altLang="zh-CN" i="1" baseline="-25000" dirty="0">
                <a:solidFill>
                  <a:srgbClr val="000000"/>
                </a:solidFill>
                <a:latin typeface="Times New Roman"/>
                <a:sym typeface="+mn-ea"/>
              </a:rPr>
              <a:t>k</a:t>
            </a:r>
            <a:r>
              <a:rPr lang="en-US" altLang="zh-CN" baseline="-25000" dirty="0">
                <a:solidFill>
                  <a:srgbClr val="000000"/>
                </a:solidFill>
                <a:latin typeface="Times New Roman"/>
                <a:sym typeface="+mn-ea"/>
              </a:rPr>
              <a:t>+1</a:t>
            </a:r>
            <a:r>
              <a:rPr lang="zh-CN" altLang="en-US" dirty="0">
                <a:solidFill>
                  <a:srgbClr val="000000"/>
                </a:solidFill>
                <a:latin typeface="Times New Roman"/>
                <a:sym typeface="+mn-ea"/>
              </a:rPr>
              <a:t>得到它们的信息块，即</a:t>
            </a:r>
            <a:r>
              <a:rPr lang="en-US" altLang="zh-CN" i="1" dirty="0">
                <a:solidFill>
                  <a:srgbClr val="000000"/>
                </a:solidFill>
                <a:latin typeface="Times New Roman"/>
                <a:sym typeface="+mn-ea"/>
              </a:rPr>
              <a:t>B</a:t>
            </a:r>
            <a:r>
              <a:rPr lang="en-US" altLang="zh-CN" i="1" baseline="-25000" dirty="0">
                <a:solidFill>
                  <a:srgbClr val="000000"/>
                </a:solidFill>
                <a:latin typeface="Times New Roman"/>
                <a:sym typeface="+mn-ea"/>
              </a:rPr>
              <a:t>k</a:t>
            </a:r>
            <a:r>
              <a:rPr lang="en-US" altLang="zh-CN" baseline="-25000" dirty="0">
                <a:solidFill>
                  <a:srgbClr val="000000"/>
                </a:solidFill>
                <a:latin typeface="Times New Roman"/>
                <a:sym typeface="+mn-ea"/>
              </a:rPr>
              <a:t>-1</a:t>
            </a:r>
            <a:r>
              <a:rPr lang="zh-CN" altLang="en-US" dirty="0">
                <a:solidFill>
                  <a:srgbClr val="000000"/>
                </a:solidFill>
                <a:latin typeface="Times New Roman"/>
                <a:sym typeface="+mn-ea"/>
              </a:rPr>
              <a:t>的校验块。</a:t>
            </a:r>
            <a:endParaRPr lang="en-US" altLang="zh-CN" dirty="0">
              <a:solidFill>
                <a:srgbClr val="000000"/>
              </a:solidFill>
              <a:latin typeface="Times New Roman"/>
              <a:sym typeface="+mn-ea"/>
            </a:endParaRPr>
          </a:p>
          <a:p>
            <a:pPr eaLnBrk="0" fontAlgn="base" hangingPunct="0">
              <a:lnSpc>
                <a:spcPts val="3600"/>
              </a:lnSpc>
              <a:spcBef>
                <a:spcPct val="0"/>
              </a:spcBef>
              <a:spcAft>
                <a:spcPct val="0"/>
              </a:spcAft>
            </a:pPr>
            <a:r>
              <a:rPr lang="en-US" altLang="zh-CN" dirty="0">
                <a:solidFill>
                  <a:srgbClr val="000000"/>
                </a:solidFill>
                <a:latin typeface="Times New Roman"/>
                <a:sym typeface="+mn-ea"/>
              </a:rPr>
              <a:t>	(2)</a:t>
            </a:r>
            <a:r>
              <a:rPr lang="zh-CN" altLang="en-US" dirty="0">
                <a:solidFill>
                  <a:srgbClr val="000000"/>
                </a:solidFill>
                <a:latin typeface="Times New Roman"/>
                <a:sym typeface="+mn-ea"/>
              </a:rPr>
              <a:t>然后，依次得到</a:t>
            </a:r>
            <a:r>
              <a:rPr lang="en-US" altLang="zh-CN" i="1" dirty="0">
                <a:solidFill>
                  <a:srgbClr val="000000"/>
                </a:solidFill>
                <a:latin typeface="Times New Roman"/>
                <a:sym typeface="+mn-ea"/>
              </a:rPr>
              <a:t>B</a:t>
            </a:r>
            <a:r>
              <a:rPr lang="en-US" altLang="zh-CN" i="1" baseline="-25000" dirty="0">
                <a:solidFill>
                  <a:srgbClr val="000000"/>
                </a:solidFill>
                <a:latin typeface="Times New Roman"/>
                <a:sym typeface="+mn-ea"/>
              </a:rPr>
              <a:t>k</a:t>
            </a:r>
            <a:r>
              <a:rPr lang="en-US" altLang="zh-CN" baseline="-25000" dirty="0">
                <a:solidFill>
                  <a:srgbClr val="000000"/>
                </a:solidFill>
                <a:latin typeface="Times New Roman"/>
                <a:sym typeface="+mn-ea"/>
              </a:rPr>
              <a:t>-2</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B</a:t>
            </a:r>
            <a:r>
              <a:rPr lang="en-US" altLang="zh-CN" baseline="-25000" dirty="0">
                <a:solidFill>
                  <a:srgbClr val="000000"/>
                </a:solidFill>
                <a:latin typeface="Times New Roman"/>
                <a:sym typeface="+mn-ea"/>
              </a:rPr>
              <a:t>1</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B</a:t>
            </a:r>
            <a:r>
              <a:rPr lang="en-US" altLang="zh-CN" baseline="-25000" dirty="0">
                <a:solidFill>
                  <a:srgbClr val="000000"/>
                </a:solidFill>
                <a:latin typeface="Times New Roman"/>
                <a:sym typeface="+mn-ea"/>
              </a:rPr>
              <a:t>0</a:t>
            </a:r>
            <a:r>
              <a:rPr lang="zh-CN" altLang="en-US" dirty="0">
                <a:solidFill>
                  <a:srgbClr val="000000"/>
                </a:solidFill>
                <a:latin typeface="Times New Roman"/>
                <a:sym typeface="+mn-ea"/>
              </a:rPr>
              <a:t>的校验块。</a:t>
            </a:r>
            <a:endParaRPr lang="en-US" altLang="zh-CN" dirty="0">
              <a:solidFill>
                <a:srgbClr val="000000"/>
              </a:solidFill>
              <a:latin typeface="Times New Roman"/>
              <a:sym typeface="+mn-ea"/>
            </a:endParaRPr>
          </a:p>
          <a:p>
            <a:pPr eaLnBrk="0" fontAlgn="base" hangingPunct="0">
              <a:lnSpc>
                <a:spcPts val="3600"/>
              </a:lnSpc>
              <a:spcBef>
                <a:spcPct val="0"/>
              </a:spcBef>
              <a:spcAft>
                <a:spcPct val="0"/>
              </a:spcAft>
            </a:pPr>
            <a:r>
              <a:rPr lang="en-US" altLang="zh-CN" dirty="0">
                <a:solidFill>
                  <a:srgbClr val="000000"/>
                </a:solidFill>
                <a:latin typeface="Times New Roman"/>
                <a:sym typeface="+mn-ea"/>
              </a:rPr>
              <a:t>	(3)</a:t>
            </a:r>
            <a:r>
              <a:rPr lang="zh-CN" altLang="en-US" dirty="0">
                <a:solidFill>
                  <a:srgbClr val="000000"/>
                </a:solidFill>
                <a:latin typeface="Times New Roman"/>
                <a:sym typeface="+mn-ea"/>
              </a:rPr>
              <a:t>最后，得到</a:t>
            </a:r>
            <a:r>
              <a:rPr lang="en-US" altLang="zh-CN" i="1" dirty="0">
                <a:solidFill>
                  <a:srgbClr val="000000"/>
                </a:solidFill>
                <a:latin typeface="Times New Roman"/>
                <a:sym typeface="+mn-ea"/>
              </a:rPr>
              <a:t>B</a:t>
            </a:r>
            <a:r>
              <a:rPr lang="en-US" altLang="zh-CN" baseline="-25000" dirty="0">
                <a:solidFill>
                  <a:srgbClr val="000000"/>
                </a:solidFill>
                <a:latin typeface="Times New Roman"/>
                <a:sym typeface="+mn-ea"/>
              </a:rPr>
              <a:t>0</a:t>
            </a:r>
            <a:r>
              <a:rPr lang="zh-CN" altLang="en-US" dirty="0">
                <a:solidFill>
                  <a:srgbClr val="000000"/>
                </a:solidFill>
                <a:latin typeface="Times New Roman"/>
                <a:sym typeface="+mn-ea"/>
              </a:rPr>
              <a:t>的</a:t>
            </a:r>
            <a:r>
              <a:rPr lang="en-US" altLang="zh-CN" i="1" dirty="0">
                <a:solidFill>
                  <a:srgbClr val="000000"/>
                </a:solidFill>
                <a:latin typeface="Times New Roman"/>
                <a:sym typeface="+mn-ea"/>
              </a:rPr>
              <a:t>m</a:t>
            </a:r>
            <a:r>
              <a:rPr lang="zh-CN" altLang="en-US" dirty="0">
                <a:solidFill>
                  <a:srgbClr val="000000"/>
                </a:solidFill>
                <a:latin typeface="Times New Roman"/>
                <a:sym typeface="+mn-ea"/>
              </a:rPr>
              <a:t>个信息块。</a:t>
            </a:r>
            <a:endParaRPr lang="en-US" altLang="zh-CN" dirty="0">
              <a:solidFill>
                <a:srgbClr val="000000"/>
              </a:solidFill>
              <a:latin typeface="Times New Roman"/>
              <a:sym typeface="+mn-ea"/>
            </a:endParaRPr>
          </a:p>
          <a:p>
            <a:pPr eaLnBrk="0" fontAlgn="base" hangingPunct="0">
              <a:lnSpc>
                <a:spcPts val="3600"/>
              </a:lnSpc>
              <a:spcBef>
                <a:spcPct val="0"/>
              </a:spcBef>
              <a:spcAft>
                <a:spcPct val="0"/>
              </a:spcAft>
            </a:pPr>
            <a:r>
              <a:rPr lang="en-US" altLang="zh-CN" dirty="0">
                <a:solidFill>
                  <a:srgbClr val="000000"/>
                </a:solidFill>
                <a:latin typeface="Times New Roman"/>
                <a:sym typeface="+mn-ea"/>
              </a:rPr>
              <a:t>        </a:t>
            </a:r>
            <a:r>
              <a:rPr lang="zh-CN" altLang="en-US" dirty="0">
                <a:solidFill>
                  <a:srgbClr val="000000"/>
                </a:solidFill>
                <a:latin typeface="Times New Roman"/>
                <a:sym typeface="+mn-ea"/>
              </a:rPr>
              <a:t>当然，如果在解码开始时就已经得到了某一层</a:t>
            </a:r>
            <a:r>
              <a:rPr lang="en-US" altLang="zh-CN" i="1" dirty="0">
                <a:solidFill>
                  <a:srgbClr val="000000"/>
                </a:solidFill>
                <a:latin typeface="Times New Roman"/>
                <a:sym typeface="+mn-ea"/>
              </a:rPr>
              <a:t>B</a:t>
            </a:r>
            <a:r>
              <a:rPr lang="en-US" altLang="zh-CN" i="1" baseline="-25000" dirty="0">
                <a:solidFill>
                  <a:srgbClr val="000000"/>
                </a:solidFill>
                <a:latin typeface="Times New Roman"/>
                <a:sym typeface="+mn-ea"/>
              </a:rPr>
              <a:t>i</a:t>
            </a:r>
            <a:r>
              <a:rPr lang="en-US" altLang="zh-CN" dirty="0">
                <a:solidFill>
                  <a:srgbClr val="000000"/>
                </a:solidFill>
                <a:latin typeface="Times New Roman"/>
                <a:sym typeface="+mn-ea"/>
              </a:rPr>
              <a:t>(0</a:t>
            </a:r>
            <a:r>
              <a:rPr lang="zh-CN" altLang="en-US" dirty="0">
                <a:solidFill>
                  <a:srgbClr val="000000"/>
                </a:solidFill>
                <a:latin typeface="Times New Roman"/>
                <a:sym typeface="+mn-ea"/>
              </a:rPr>
              <a:t>≤</a:t>
            </a:r>
            <a:r>
              <a:rPr lang="en-US" altLang="zh-CN" i="1" dirty="0" err="1">
                <a:solidFill>
                  <a:srgbClr val="000000"/>
                </a:solidFill>
                <a:latin typeface="Times New Roman"/>
                <a:sym typeface="+mn-ea"/>
              </a:rPr>
              <a:t>i</a:t>
            </a:r>
            <a:r>
              <a:rPr lang="en-US" altLang="zh-CN" dirty="0">
                <a:solidFill>
                  <a:srgbClr val="000000"/>
                </a:solidFill>
                <a:latin typeface="Times New Roman"/>
                <a:sym typeface="+mn-ea"/>
              </a:rPr>
              <a:t>&lt;</a:t>
            </a:r>
            <a:r>
              <a:rPr lang="en-US" altLang="zh-CN" i="1" dirty="0">
                <a:solidFill>
                  <a:srgbClr val="000000"/>
                </a:solidFill>
                <a:latin typeface="Times New Roman"/>
                <a:sym typeface="+mn-ea"/>
              </a:rPr>
              <a:t>k</a:t>
            </a:r>
            <a:r>
              <a:rPr lang="en-US" altLang="zh-CN" dirty="0">
                <a:solidFill>
                  <a:srgbClr val="000000"/>
                </a:solidFill>
                <a:latin typeface="Times New Roman"/>
                <a:sym typeface="+mn-ea"/>
              </a:rPr>
              <a:t>)</a:t>
            </a:r>
            <a:r>
              <a:rPr lang="zh-CN" altLang="en-US" dirty="0">
                <a:solidFill>
                  <a:srgbClr val="000000"/>
                </a:solidFill>
                <a:latin typeface="Times New Roman"/>
                <a:sym typeface="+mn-ea"/>
              </a:rPr>
              <a:t>的所有校验块，那么就可以直接从</a:t>
            </a:r>
            <a:r>
              <a:rPr lang="en-US" altLang="zh-CN" i="1" dirty="0">
                <a:solidFill>
                  <a:srgbClr val="000000"/>
                </a:solidFill>
                <a:latin typeface="Times New Roman"/>
                <a:sym typeface="+mn-ea"/>
              </a:rPr>
              <a:t>B</a:t>
            </a:r>
            <a:r>
              <a:rPr lang="en-US" altLang="zh-CN" i="1" baseline="-25000" dirty="0">
                <a:solidFill>
                  <a:srgbClr val="000000"/>
                </a:solidFill>
                <a:latin typeface="Times New Roman"/>
                <a:sym typeface="+mn-ea"/>
              </a:rPr>
              <a:t>i</a:t>
            </a:r>
            <a:r>
              <a:rPr lang="zh-CN" altLang="en-US" dirty="0">
                <a:solidFill>
                  <a:srgbClr val="000000"/>
                </a:solidFill>
                <a:latin typeface="Times New Roman"/>
                <a:sym typeface="+mn-ea"/>
              </a:rPr>
              <a:t>开始解码。</a:t>
            </a:r>
            <a:endParaRPr lang="en-US" altLang="zh-CN" dirty="0">
              <a:solidFill>
                <a:srgbClr val="000000"/>
              </a:solidFill>
              <a:latin typeface="Times New Roman"/>
              <a:sym typeface="+mn-ea"/>
            </a:endParaRPr>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龙卷风码的容错性和数据恢复</a:t>
            </a:r>
          </a:p>
        </p:txBody>
      </p:sp>
      <p:sp>
        <p:nvSpPr>
          <p:cNvPr id="8" name="文本框 7"/>
          <p:cNvSpPr txBox="1"/>
          <p:nvPr/>
        </p:nvSpPr>
        <p:spPr>
          <a:xfrm>
            <a:off x="274785" y="814910"/>
            <a:ext cx="11619503" cy="134838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FF0000"/>
                </a:solidFill>
                <a:latin typeface="Times New Roman"/>
                <a:sym typeface="+mn-ea"/>
              </a:rPr>
              <a:t>容错性：</a:t>
            </a:r>
            <a:endParaRPr lang="en-US" altLang="zh-CN" dirty="0">
              <a:solidFill>
                <a:srgbClr val="FF0000"/>
              </a:solidFill>
              <a:latin typeface="Times New Roman"/>
              <a:sym typeface="+mn-ea"/>
            </a:endParaRPr>
          </a:p>
          <a:p>
            <a:pPr eaLnBrk="0" fontAlgn="base" hangingPunct="0">
              <a:lnSpc>
                <a:spcPts val="3400"/>
              </a:lnSpc>
              <a:spcBef>
                <a:spcPct val="0"/>
              </a:spcBef>
              <a:spcAft>
                <a:spcPct val="0"/>
              </a:spcAft>
            </a:pPr>
            <a:r>
              <a:rPr lang="en-US" altLang="zh-CN" dirty="0">
                <a:solidFill>
                  <a:srgbClr val="000000"/>
                </a:solidFill>
                <a:latin typeface="Times New Roman"/>
                <a:sym typeface="+mn-ea"/>
              </a:rPr>
              <a:t>        </a:t>
            </a:r>
            <a:r>
              <a:rPr lang="zh-CN" altLang="en-US" dirty="0">
                <a:solidFill>
                  <a:srgbClr val="000000"/>
                </a:solidFill>
                <a:latin typeface="Times New Roman"/>
                <a:sym typeface="+mn-ea"/>
              </a:rPr>
              <a:t>如果与某一校验节点相邻的信息节点中存在一个丢失数据的信息节点</a:t>
            </a:r>
            <a:r>
              <a:rPr lang="en-US" altLang="zh-CN" dirty="0">
                <a:solidFill>
                  <a:srgbClr val="000000"/>
                </a:solidFill>
                <a:latin typeface="Times New Roman"/>
                <a:sym typeface="+mn-ea"/>
              </a:rPr>
              <a:t>, </a:t>
            </a:r>
            <a:r>
              <a:rPr lang="zh-CN" altLang="en-US" dirty="0">
                <a:solidFill>
                  <a:srgbClr val="000000"/>
                </a:solidFill>
                <a:latin typeface="Times New Roman"/>
                <a:sym typeface="+mn-ea"/>
              </a:rPr>
              <a:t>那么可以通过该校验节点和其它节点进行异或运算，得到丢失的信息数据。</a:t>
            </a:r>
            <a:endParaRPr lang="en-US" altLang="zh-CN" dirty="0">
              <a:solidFill>
                <a:srgbClr val="000000"/>
              </a:solidFill>
              <a:latin typeface="Times New Roman"/>
              <a:sym typeface="+mn-ea"/>
            </a:endParaRPr>
          </a:p>
        </p:txBody>
      </p:sp>
      <p:sp>
        <p:nvSpPr>
          <p:cNvPr id="10" name="文本框 9"/>
          <p:cNvSpPr txBox="1"/>
          <p:nvPr/>
        </p:nvSpPr>
        <p:spPr>
          <a:xfrm>
            <a:off x="274785" y="2163292"/>
            <a:ext cx="11642430" cy="265643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FF0000"/>
                </a:solidFill>
                <a:latin typeface="Times New Roman"/>
                <a:sym typeface="+mn-ea"/>
              </a:rPr>
              <a:t>数据恢复：</a:t>
            </a:r>
            <a:endParaRPr lang="en-US" altLang="zh-CN" dirty="0">
              <a:solidFill>
                <a:srgbClr val="FF0000"/>
              </a:solidFill>
              <a:latin typeface="Times New Roman"/>
              <a:sym typeface="+mn-ea"/>
            </a:endParaRPr>
          </a:p>
          <a:p>
            <a:pPr eaLnBrk="0" fontAlgn="base" hangingPunct="0">
              <a:lnSpc>
                <a:spcPts val="3400"/>
              </a:lnSpc>
              <a:spcBef>
                <a:spcPct val="0"/>
              </a:spcBef>
              <a:spcAft>
                <a:spcPct val="0"/>
              </a:spcAft>
            </a:pPr>
            <a:r>
              <a:rPr lang="zh-CN" altLang="en-US" dirty="0">
                <a:solidFill>
                  <a:srgbClr val="000000"/>
                </a:solidFill>
                <a:latin typeface="Times New Roman"/>
                <a:sym typeface="+mn-ea"/>
              </a:rPr>
              <a:t>        这里的“信息节点”与“校验节点”是</a:t>
            </a:r>
            <a:r>
              <a:rPr lang="zh-CN" altLang="en-US" dirty="0">
                <a:solidFill>
                  <a:srgbClr val="3333CC"/>
                </a:solidFill>
                <a:latin typeface="Times New Roman"/>
                <a:sym typeface="+mn-ea"/>
              </a:rPr>
              <a:t>相对的</a:t>
            </a:r>
            <a:r>
              <a:rPr lang="zh-CN" altLang="en-US" dirty="0">
                <a:solidFill>
                  <a:srgbClr val="000000"/>
                </a:solidFill>
                <a:latin typeface="Times New Roman"/>
                <a:sym typeface="+mn-ea"/>
              </a:rPr>
              <a:t>，在每一层异或运算中，参数节点称为“信息节点”，生成节点称为“校验节点”。具体步骤如下：</a:t>
            </a:r>
            <a:endParaRPr lang="en-US" altLang="zh-CN" dirty="0">
              <a:solidFill>
                <a:srgbClr val="000000"/>
              </a:solidFill>
              <a:latin typeface="Times New Roman"/>
              <a:sym typeface="+mn-ea"/>
            </a:endParaRPr>
          </a:p>
          <a:p>
            <a:pPr eaLnBrk="0" fontAlgn="base" hangingPunct="0">
              <a:lnSpc>
                <a:spcPts val="3400"/>
              </a:lnSpc>
              <a:spcBef>
                <a:spcPct val="0"/>
              </a:spcBef>
              <a:spcAft>
                <a:spcPct val="0"/>
              </a:spcAft>
            </a:pPr>
            <a:r>
              <a:rPr lang="en-US" altLang="zh-CN" dirty="0">
                <a:solidFill>
                  <a:srgbClr val="000000"/>
                </a:solidFill>
                <a:latin typeface="Times New Roman"/>
                <a:sym typeface="+mn-ea"/>
              </a:rPr>
              <a:t>        (1)</a:t>
            </a:r>
            <a:r>
              <a:rPr lang="zh-CN" altLang="en-US" dirty="0">
                <a:solidFill>
                  <a:srgbClr val="000000"/>
                </a:solidFill>
                <a:latin typeface="Times New Roman"/>
                <a:sym typeface="+mn-ea"/>
              </a:rPr>
              <a:t>所有校验节点赋初始值</a:t>
            </a:r>
            <a:r>
              <a:rPr lang="en-US" altLang="zh-CN" dirty="0">
                <a:solidFill>
                  <a:srgbClr val="000000"/>
                </a:solidFill>
                <a:latin typeface="Times New Roman"/>
                <a:sym typeface="+mn-ea"/>
              </a:rPr>
              <a:t>0</a:t>
            </a:r>
            <a:r>
              <a:rPr lang="zh-CN" altLang="en-US" dirty="0">
                <a:solidFill>
                  <a:srgbClr val="000000"/>
                </a:solidFill>
                <a:latin typeface="Times New Roman"/>
                <a:sym typeface="+mn-ea"/>
              </a:rPr>
              <a:t>，所有信息节点根据接收的信息赋值为</a:t>
            </a:r>
            <a:r>
              <a:rPr lang="en-US" altLang="zh-CN" dirty="0">
                <a:solidFill>
                  <a:srgbClr val="000000"/>
                </a:solidFill>
                <a:latin typeface="Times New Roman"/>
                <a:sym typeface="+mn-ea"/>
              </a:rPr>
              <a:t>0,1,</a:t>
            </a:r>
            <a:r>
              <a:rPr lang="zh-CN" altLang="en-US" dirty="0">
                <a:solidFill>
                  <a:srgbClr val="000000"/>
                </a:solidFill>
                <a:latin typeface="Times New Roman"/>
                <a:sym typeface="+mn-ea"/>
              </a:rPr>
              <a:t>或</a:t>
            </a:r>
            <a:r>
              <a:rPr lang="en-US" altLang="zh-CN" dirty="0">
                <a:solidFill>
                  <a:srgbClr val="000000"/>
                </a:solidFill>
                <a:latin typeface="Times New Roman"/>
                <a:sym typeface="+mn-ea"/>
              </a:rPr>
              <a:t>D (</a:t>
            </a:r>
            <a:r>
              <a:rPr lang="zh-CN" altLang="en-US" dirty="0">
                <a:solidFill>
                  <a:srgbClr val="000000"/>
                </a:solidFill>
                <a:latin typeface="Times New Roman"/>
                <a:sym typeface="+mn-ea"/>
              </a:rPr>
              <a:t>删除</a:t>
            </a:r>
            <a:r>
              <a:rPr lang="en-US" altLang="zh-CN" dirty="0">
                <a:solidFill>
                  <a:srgbClr val="000000"/>
                </a:solidFill>
                <a:latin typeface="Times New Roman"/>
                <a:sym typeface="+mn-ea"/>
              </a:rPr>
              <a:t>)</a:t>
            </a:r>
            <a:r>
              <a:rPr lang="zh-CN" altLang="en-US" dirty="0">
                <a:solidFill>
                  <a:srgbClr val="000000"/>
                </a:solidFill>
                <a:latin typeface="Times New Roman"/>
                <a:sym typeface="+mn-ea"/>
              </a:rPr>
              <a:t>。</a:t>
            </a:r>
            <a:endParaRPr lang="en-US" altLang="zh-CN" dirty="0">
              <a:solidFill>
                <a:srgbClr val="000000"/>
              </a:solidFill>
              <a:latin typeface="Times New Roman"/>
              <a:sym typeface="+mn-ea"/>
            </a:endParaRPr>
          </a:p>
          <a:p>
            <a:pPr eaLnBrk="0" fontAlgn="base" hangingPunct="0">
              <a:lnSpc>
                <a:spcPts val="3400"/>
              </a:lnSpc>
              <a:spcBef>
                <a:spcPct val="0"/>
              </a:spcBef>
              <a:spcAft>
                <a:spcPct val="0"/>
              </a:spcAft>
            </a:pPr>
            <a:r>
              <a:rPr lang="en-US" altLang="zh-CN" dirty="0">
                <a:solidFill>
                  <a:srgbClr val="000000"/>
                </a:solidFill>
                <a:latin typeface="Times New Roman"/>
                <a:sym typeface="+mn-ea"/>
              </a:rPr>
              <a:t>         (2)</a:t>
            </a:r>
            <a:r>
              <a:rPr lang="zh-CN" altLang="en-US" dirty="0">
                <a:solidFill>
                  <a:srgbClr val="000000"/>
                </a:solidFill>
                <a:latin typeface="Times New Roman"/>
                <a:sym typeface="+mn-ea"/>
              </a:rPr>
              <a:t>根据边的连接关系，</a:t>
            </a:r>
            <a:r>
              <a:rPr lang="zh-CN" altLang="en-US" dirty="0">
                <a:solidFill>
                  <a:srgbClr val="3333CC"/>
                </a:solidFill>
                <a:latin typeface="Times New Roman"/>
                <a:sym typeface="+mn-ea"/>
              </a:rPr>
              <a:t>把所有未被删除的信息节点的值和与其相连的校验节点的值</a:t>
            </a:r>
            <a:r>
              <a:rPr lang="en-US" altLang="zh-CN" dirty="0">
                <a:solidFill>
                  <a:srgbClr val="3333CC"/>
                </a:solidFill>
                <a:latin typeface="Times New Roman"/>
                <a:sym typeface="+mn-ea"/>
              </a:rPr>
              <a:t>(</a:t>
            </a:r>
            <a:r>
              <a:rPr lang="zh-CN" altLang="en-US" dirty="0">
                <a:solidFill>
                  <a:srgbClr val="3333CC"/>
                </a:solidFill>
                <a:latin typeface="Times New Roman"/>
                <a:sym typeface="+mn-ea"/>
              </a:rPr>
              <a:t>模二</a:t>
            </a:r>
            <a:r>
              <a:rPr lang="en-US" altLang="zh-CN" dirty="0">
                <a:solidFill>
                  <a:srgbClr val="3333CC"/>
                </a:solidFill>
                <a:latin typeface="Times New Roman"/>
                <a:sym typeface="+mn-ea"/>
              </a:rPr>
              <a:t>)</a:t>
            </a:r>
            <a:r>
              <a:rPr lang="zh-CN" altLang="en-US" dirty="0">
                <a:solidFill>
                  <a:srgbClr val="3333CC"/>
                </a:solidFill>
                <a:latin typeface="Times New Roman"/>
                <a:sym typeface="+mn-ea"/>
              </a:rPr>
              <a:t>相加</a:t>
            </a:r>
            <a:r>
              <a:rPr lang="zh-CN" altLang="en-US" dirty="0">
                <a:solidFill>
                  <a:srgbClr val="000000"/>
                </a:solidFill>
                <a:latin typeface="Times New Roman"/>
                <a:sym typeface="+mn-ea"/>
              </a:rPr>
              <a:t>，并将得到的值作为该校验节点的新值，然后从二部图中去掉这些正确接收的变量节点以及与之相连的边。</a:t>
            </a:r>
            <a:endParaRPr lang="en-US" altLang="zh-CN" dirty="0">
              <a:solidFill>
                <a:srgbClr val="000000"/>
              </a:solidFill>
              <a:latin typeface="Times New Roman"/>
              <a:sym typeface="+mn-ea"/>
            </a:endParaRPr>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龙卷风码的数据恢复</a:t>
            </a:r>
          </a:p>
        </p:txBody>
      </p:sp>
      <p:sp>
        <p:nvSpPr>
          <p:cNvPr id="9" name="文本框 8"/>
          <p:cNvSpPr txBox="1"/>
          <p:nvPr/>
        </p:nvSpPr>
        <p:spPr>
          <a:xfrm>
            <a:off x="309343" y="746613"/>
            <a:ext cx="11599122" cy="372723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latin typeface="Times New Roman"/>
                <a:sym typeface="+mn-ea"/>
              </a:rPr>
              <a:t>        </a:t>
            </a:r>
            <a:r>
              <a:rPr lang="en-US" altLang="zh-CN" dirty="0">
                <a:solidFill>
                  <a:srgbClr val="000000"/>
                </a:solidFill>
                <a:latin typeface="Times New Roman"/>
                <a:sym typeface="+mn-ea"/>
              </a:rPr>
              <a:t>(3)</a:t>
            </a:r>
            <a:r>
              <a:rPr lang="zh-CN" altLang="en-US" dirty="0">
                <a:solidFill>
                  <a:srgbClr val="3333CC"/>
                </a:solidFill>
                <a:latin typeface="Times New Roman"/>
                <a:sym typeface="+mn-ea"/>
              </a:rPr>
              <a:t>在得到的二部图中寻找度数为</a:t>
            </a:r>
            <a:r>
              <a:rPr lang="en-US" altLang="zh-CN" dirty="0">
                <a:solidFill>
                  <a:srgbClr val="3333CC"/>
                </a:solidFill>
                <a:latin typeface="Times New Roman"/>
                <a:sym typeface="+mn-ea"/>
              </a:rPr>
              <a:t>1</a:t>
            </a:r>
            <a:r>
              <a:rPr lang="zh-CN" altLang="en-US" dirty="0">
                <a:solidFill>
                  <a:srgbClr val="3333CC"/>
                </a:solidFill>
                <a:latin typeface="Times New Roman"/>
                <a:sym typeface="+mn-ea"/>
              </a:rPr>
              <a:t>的校验节点</a:t>
            </a:r>
            <a:r>
              <a:rPr lang="zh-CN" altLang="en-US" dirty="0">
                <a:solidFill>
                  <a:srgbClr val="000000"/>
                </a:solidFill>
                <a:latin typeface="Times New Roman"/>
                <a:sym typeface="+mn-ea"/>
              </a:rPr>
              <a:t>。如果某一校验节点度数为</a:t>
            </a:r>
            <a:r>
              <a:rPr lang="en-US" altLang="zh-CN" dirty="0">
                <a:solidFill>
                  <a:srgbClr val="000000"/>
                </a:solidFill>
                <a:latin typeface="Times New Roman"/>
                <a:sym typeface="+mn-ea"/>
              </a:rPr>
              <a:t>1,</a:t>
            </a:r>
            <a:r>
              <a:rPr lang="zh-CN" altLang="en-US" dirty="0">
                <a:solidFill>
                  <a:srgbClr val="000000"/>
                </a:solidFill>
                <a:latin typeface="Times New Roman"/>
                <a:sym typeface="+mn-ea"/>
              </a:rPr>
              <a:t>则该校验节点的值就等于唯一与它相连的信息节点的值，此信息节点所对应的信息比特得到恢复。</a:t>
            </a:r>
            <a:endParaRPr lang="en-US" altLang="zh-CN" dirty="0">
              <a:solidFill>
                <a:srgbClr val="000000"/>
              </a:solidFill>
              <a:latin typeface="Times New Roman"/>
              <a:sym typeface="+mn-ea"/>
            </a:endParaRPr>
          </a:p>
          <a:p>
            <a:pPr eaLnBrk="0" fontAlgn="base" hangingPunct="0">
              <a:lnSpc>
                <a:spcPts val="3600"/>
              </a:lnSpc>
              <a:spcBef>
                <a:spcPct val="0"/>
              </a:spcBef>
              <a:spcAft>
                <a:spcPct val="0"/>
              </a:spcAft>
            </a:pPr>
            <a:r>
              <a:rPr lang="en-US" altLang="zh-CN" dirty="0">
                <a:solidFill>
                  <a:srgbClr val="000000"/>
                </a:solidFill>
                <a:latin typeface="Times New Roman"/>
                <a:sym typeface="+mn-ea"/>
              </a:rPr>
              <a:t>        (4)</a:t>
            </a:r>
            <a:r>
              <a:rPr lang="zh-CN" altLang="en-US" dirty="0">
                <a:solidFill>
                  <a:srgbClr val="000000"/>
                </a:solidFill>
                <a:latin typeface="Times New Roman"/>
                <a:sym typeface="+mn-ea"/>
              </a:rPr>
              <a:t>再根据边的连接关系，把恢复出来的信息节点的值与和它相连的校验节点的值</a:t>
            </a:r>
            <a:r>
              <a:rPr lang="en-US" altLang="zh-CN" dirty="0">
                <a:solidFill>
                  <a:srgbClr val="000000"/>
                </a:solidFill>
                <a:latin typeface="Times New Roman"/>
                <a:sym typeface="+mn-ea"/>
              </a:rPr>
              <a:t>(</a:t>
            </a:r>
            <a:r>
              <a:rPr lang="zh-CN" altLang="en-US" dirty="0">
                <a:solidFill>
                  <a:srgbClr val="000000"/>
                </a:solidFill>
                <a:latin typeface="Times New Roman"/>
                <a:sym typeface="+mn-ea"/>
              </a:rPr>
              <a:t>模二</a:t>
            </a:r>
            <a:r>
              <a:rPr lang="en-US" altLang="zh-CN" dirty="0">
                <a:solidFill>
                  <a:srgbClr val="000000"/>
                </a:solidFill>
                <a:latin typeface="Times New Roman"/>
                <a:sym typeface="+mn-ea"/>
              </a:rPr>
              <a:t>)</a:t>
            </a:r>
            <a:r>
              <a:rPr lang="zh-CN" altLang="en-US" dirty="0">
                <a:solidFill>
                  <a:srgbClr val="000000"/>
                </a:solidFill>
                <a:latin typeface="Times New Roman"/>
                <a:sym typeface="+mn-ea"/>
              </a:rPr>
              <a:t>相加，作为这些校验节点的新值，并</a:t>
            </a:r>
            <a:r>
              <a:rPr lang="zh-CN" altLang="en-US" dirty="0">
                <a:solidFill>
                  <a:srgbClr val="3333CC"/>
                </a:solidFill>
                <a:latin typeface="Times New Roman"/>
                <a:sym typeface="+mn-ea"/>
              </a:rPr>
              <a:t>从二部图中去掉恢复出来的信息节点和与之相连的边</a:t>
            </a:r>
            <a:r>
              <a:rPr lang="zh-CN" altLang="en-US" dirty="0">
                <a:solidFill>
                  <a:srgbClr val="000000"/>
                </a:solidFill>
                <a:latin typeface="Times New Roman"/>
                <a:sym typeface="+mn-ea"/>
              </a:rPr>
              <a:t>。</a:t>
            </a:r>
            <a:endParaRPr lang="en-US" altLang="zh-CN" dirty="0">
              <a:solidFill>
                <a:srgbClr val="000000"/>
              </a:solidFill>
              <a:latin typeface="Times New Roman"/>
              <a:sym typeface="+mn-ea"/>
            </a:endParaRPr>
          </a:p>
          <a:p>
            <a:pPr eaLnBrk="0" fontAlgn="base" hangingPunct="0">
              <a:lnSpc>
                <a:spcPts val="3600"/>
              </a:lnSpc>
              <a:spcBef>
                <a:spcPct val="0"/>
              </a:spcBef>
              <a:spcAft>
                <a:spcPct val="0"/>
              </a:spcAft>
            </a:pPr>
            <a:r>
              <a:rPr lang="en-US" altLang="zh-CN" dirty="0">
                <a:solidFill>
                  <a:srgbClr val="000000"/>
                </a:solidFill>
                <a:latin typeface="Times New Roman"/>
                <a:sym typeface="+mn-ea"/>
              </a:rPr>
              <a:t>        (5) </a:t>
            </a:r>
            <a:r>
              <a:rPr lang="zh-CN" altLang="en-US" dirty="0">
                <a:solidFill>
                  <a:srgbClr val="000000"/>
                </a:solidFill>
                <a:latin typeface="Times New Roman"/>
                <a:sym typeface="+mn-ea"/>
              </a:rPr>
              <a:t>在去边之后的二部图中重复步骤</a:t>
            </a:r>
            <a:r>
              <a:rPr lang="en-US" altLang="zh-CN" dirty="0">
                <a:solidFill>
                  <a:srgbClr val="000000"/>
                </a:solidFill>
                <a:latin typeface="Times New Roman"/>
                <a:sym typeface="+mn-ea"/>
              </a:rPr>
              <a:t>(3)(4)</a:t>
            </a:r>
            <a:r>
              <a:rPr lang="zh-CN" altLang="en-US" dirty="0">
                <a:solidFill>
                  <a:srgbClr val="000000"/>
                </a:solidFill>
                <a:latin typeface="Times New Roman"/>
                <a:sym typeface="+mn-ea"/>
              </a:rPr>
              <a:t>，</a:t>
            </a:r>
            <a:r>
              <a:rPr lang="zh-CN" altLang="en-US" dirty="0">
                <a:solidFill>
                  <a:srgbClr val="3333CC"/>
                </a:solidFill>
                <a:latin typeface="Times New Roman"/>
                <a:sym typeface="+mn-ea"/>
              </a:rPr>
              <a:t>直至二部图中不存在度数为</a:t>
            </a:r>
            <a:r>
              <a:rPr lang="en-US" altLang="zh-CN" dirty="0">
                <a:solidFill>
                  <a:srgbClr val="3333CC"/>
                </a:solidFill>
                <a:latin typeface="Times New Roman"/>
                <a:sym typeface="+mn-ea"/>
              </a:rPr>
              <a:t>1</a:t>
            </a:r>
            <a:r>
              <a:rPr lang="zh-CN" altLang="en-US" dirty="0">
                <a:solidFill>
                  <a:srgbClr val="3333CC"/>
                </a:solidFill>
                <a:latin typeface="Times New Roman"/>
                <a:sym typeface="+mn-ea"/>
              </a:rPr>
              <a:t>的校验节点，或所有的原数据</a:t>
            </a:r>
            <a:r>
              <a:rPr lang="en-US" altLang="zh-CN" dirty="0">
                <a:solidFill>
                  <a:srgbClr val="3333CC"/>
                </a:solidFill>
                <a:latin typeface="Times New Roman"/>
                <a:sym typeface="+mn-ea"/>
              </a:rPr>
              <a:t>(message bits) </a:t>
            </a:r>
            <a:r>
              <a:rPr lang="zh-CN" altLang="en-US" dirty="0">
                <a:solidFill>
                  <a:srgbClr val="3333CC"/>
                </a:solidFill>
                <a:latin typeface="Times New Roman"/>
                <a:sym typeface="+mn-ea"/>
              </a:rPr>
              <a:t>值均被恢复</a:t>
            </a:r>
            <a:r>
              <a:rPr lang="zh-CN" altLang="en-US" dirty="0">
                <a:solidFill>
                  <a:srgbClr val="000000"/>
                </a:solidFill>
                <a:latin typeface="Times New Roman"/>
                <a:sym typeface="+mn-ea"/>
              </a:rPr>
              <a:t>。</a:t>
            </a:r>
            <a:endParaRPr lang="en-US" altLang="zh-CN" dirty="0">
              <a:solidFill>
                <a:srgbClr val="000000"/>
              </a:solidFill>
              <a:latin typeface="Times New Roman"/>
              <a:sym typeface="+mn-ea"/>
            </a:endParaRPr>
          </a:p>
          <a:p>
            <a:pPr eaLnBrk="0" fontAlgn="base" hangingPunct="0">
              <a:lnSpc>
                <a:spcPts val="3600"/>
              </a:lnSpc>
              <a:spcBef>
                <a:spcPct val="0"/>
              </a:spcBef>
              <a:spcAft>
                <a:spcPct val="0"/>
              </a:spcAft>
            </a:pPr>
            <a:r>
              <a:rPr lang="en-US" altLang="zh-CN" dirty="0">
                <a:solidFill>
                  <a:srgbClr val="000000"/>
                </a:solidFill>
                <a:latin typeface="Times New Roman"/>
                <a:sym typeface="+mn-ea"/>
              </a:rPr>
              <a:t>         </a:t>
            </a:r>
            <a:r>
              <a:rPr lang="zh-CN" altLang="en-US" dirty="0">
                <a:solidFill>
                  <a:srgbClr val="000000"/>
                </a:solidFill>
                <a:latin typeface="Times New Roman"/>
                <a:sym typeface="+mn-ea"/>
              </a:rPr>
              <a:t>这样，所有能恢复的丢失数据都能被恢复。此解码过程中只有异或计算，故解码速度较其他纠删码快速。</a:t>
            </a:r>
            <a:endParaRPr lang="en-US" altLang="zh-CN" dirty="0">
              <a:solidFill>
                <a:srgbClr val="000000"/>
              </a:solidFill>
              <a:latin typeface="Times New Roman"/>
              <a:sym typeface="+mn-ea"/>
            </a:endParaRPr>
          </a:p>
        </p:txBody>
      </p:sp>
      <p:graphicFrame>
        <p:nvGraphicFramePr>
          <p:cNvPr id="3" name="表格 3">
            <a:extLst>
              <a:ext uri="{FF2B5EF4-FFF2-40B4-BE49-F238E27FC236}">
                <a16:creationId xmlns:a16="http://schemas.microsoft.com/office/drawing/2014/main" id="{28CB75C7-B3D0-5D20-146E-4E2532AD4B1C}"/>
              </a:ext>
            </a:extLst>
          </p:cNvPr>
          <p:cNvGraphicFramePr>
            <a:graphicFrameLocks noGrp="1"/>
          </p:cNvGraphicFramePr>
          <p:nvPr>
            <p:extLst>
              <p:ext uri="{D42A27DB-BD31-4B8C-83A1-F6EECF244321}">
                <p14:modId xmlns:p14="http://schemas.microsoft.com/office/powerpoint/2010/main" val="1572355168"/>
              </p:ext>
            </p:extLst>
          </p:nvPr>
        </p:nvGraphicFramePr>
        <p:xfrm>
          <a:off x="4793603" y="4197623"/>
          <a:ext cx="6629226" cy="2599564"/>
        </p:xfrm>
        <a:graphic>
          <a:graphicData uri="http://schemas.openxmlformats.org/drawingml/2006/table">
            <a:tbl>
              <a:tblPr firstRow="1" bandRow="1">
                <a:tableStyleId>{5C22544A-7EE6-4342-B048-85BDC9FD1C3A}</a:tableStyleId>
              </a:tblPr>
              <a:tblGrid>
                <a:gridCol w="3100331">
                  <a:extLst>
                    <a:ext uri="{9D8B030D-6E8A-4147-A177-3AD203B41FA5}">
                      <a16:colId xmlns:a16="http://schemas.microsoft.com/office/drawing/2014/main" val="20000"/>
                    </a:ext>
                  </a:extLst>
                </a:gridCol>
                <a:gridCol w="3528895">
                  <a:extLst>
                    <a:ext uri="{9D8B030D-6E8A-4147-A177-3AD203B41FA5}">
                      <a16:colId xmlns:a16="http://schemas.microsoft.com/office/drawing/2014/main" val="20001"/>
                    </a:ext>
                  </a:extLst>
                </a:gridCol>
              </a:tblGrid>
              <a:tr h="649891">
                <a:tc>
                  <a:txBody>
                    <a:bodyPr/>
                    <a:lstStyle/>
                    <a:p>
                      <a:pPr algn="ctr"/>
                      <a:endParaRPr lang="zh-CN" altLang="en-US" sz="2200" b="0" dirty="0">
                        <a:solidFill>
                          <a:schemeClr val="tx1"/>
                        </a:solidFill>
                        <a:latin typeface="+mn-ea"/>
                        <a:ea typeface="+mn-ea"/>
                        <a:cs typeface="Adobe Arabic" panose="02040503050201020203" pitchFamily="18" charset="-78"/>
                      </a:endParaRPr>
                    </a:p>
                  </a:txBody>
                  <a:tcPr marL="124976" marR="124976" marT="62487" marB="62487"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2200" b="0" dirty="0">
                          <a:solidFill>
                            <a:schemeClr val="tx1"/>
                          </a:solidFill>
                          <a:latin typeface="+mn-ea"/>
                          <a:ea typeface="+mn-ea"/>
                          <a:cs typeface="Adobe Arabic" panose="02040503050201020203" pitchFamily="18" charset="-78"/>
                        </a:rPr>
                        <a:t>Tornado code</a:t>
                      </a:r>
                      <a:endParaRPr lang="zh-CN" altLang="en-US" sz="2200" b="0" dirty="0">
                        <a:solidFill>
                          <a:schemeClr val="tx1"/>
                        </a:solidFill>
                        <a:latin typeface="+mn-ea"/>
                        <a:ea typeface="+mn-ea"/>
                        <a:cs typeface="Adobe Arabic" panose="02040503050201020203" pitchFamily="18" charset="-78"/>
                      </a:endParaRPr>
                    </a:p>
                  </a:txBody>
                  <a:tcPr marL="124976" marR="124976" marT="62487" marB="62487"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49891">
                <a:tc>
                  <a:txBody>
                    <a:bodyPr/>
                    <a:lstStyle/>
                    <a:p>
                      <a:pPr algn="ctr"/>
                      <a:r>
                        <a:rPr lang="zh-CN" altLang="en-US" sz="2200" b="0" dirty="0">
                          <a:solidFill>
                            <a:schemeClr val="tx1"/>
                          </a:solidFill>
                          <a:latin typeface="+mn-ea"/>
                          <a:ea typeface="+mn-ea"/>
                          <a:cs typeface="Adobe Arabic" panose="02040503050201020203" pitchFamily="18" charset="-78"/>
                        </a:rPr>
                        <a:t>编码时间复杂度</a:t>
                      </a:r>
                    </a:p>
                  </a:txBody>
                  <a:tcPr marL="124976" marR="124976" marT="62487" marB="62487" anchor="ctr">
                    <a:lnT w="6350" cap="flat" cmpd="sng" algn="ctr">
                      <a:solidFill>
                        <a:schemeClr val="tx1"/>
                      </a:solidFill>
                      <a:prstDash val="solid"/>
                      <a:round/>
                      <a:headEnd type="none" w="med" len="med"/>
                      <a:tailEnd type="none" w="med" len="med"/>
                    </a:lnT>
                    <a:noFill/>
                  </a:tcPr>
                </a:tc>
                <a:tc>
                  <a:txBody>
                    <a:bodyPr/>
                    <a:lstStyle/>
                    <a:p>
                      <a:pPr algn="ctr"/>
                      <a:r>
                        <a:rPr lang="en-US" altLang="zh-CN" sz="2200" b="0" i="1" dirty="0">
                          <a:solidFill>
                            <a:schemeClr val="tx1"/>
                          </a:solidFill>
                          <a:latin typeface="+mn-ea"/>
                          <a:ea typeface="+mn-ea"/>
                          <a:cs typeface="Adobe Arabic" panose="02040503050201020203" pitchFamily="18" charset="-78"/>
                        </a:rPr>
                        <a:t>O</a:t>
                      </a:r>
                      <a:r>
                        <a:rPr lang="en-US" altLang="zh-CN" sz="2200" b="0" i="0" dirty="0">
                          <a:solidFill>
                            <a:schemeClr val="tx1"/>
                          </a:solidFill>
                          <a:latin typeface="+mn-ea"/>
                          <a:ea typeface="+mn-ea"/>
                          <a:cs typeface="Adobe Arabic" panose="02040503050201020203" pitchFamily="18" charset="-78"/>
                        </a:rPr>
                        <a:t>(</a:t>
                      </a:r>
                      <a:r>
                        <a:rPr lang="en-US" altLang="zh-CN" sz="2200" b="0" i="1" dirty="0" err="1">
                          <a:solidFill>
                            <a:schemeClr val="tx1"/>
                          </a:solidFill>
                          <a:latin typeface="+mn-ea"/>
                          <a:ea typeface="+mn-ea"/>
                          <a:cs typeface="Adobe Arabic" panose="02040503050201020203" pitchFamily="18" charset="-78"/>
                        </a:rPr>
                        <a:t>nln</a:t>
                      </a:r>
                      <a:r>
                        <a:rPr lang="en-US" altLang="zh-CN" sz="2200" b="0" i="0" dirty="0">
                          <a:solidFill>
                            <a:schemeClr val="tx1"/>
                          </a:solidFill>
                          <a:latin typeface="+mn-ea"/>
                          <a:ea typeface="+mn-ea"/>
                          <a:cs typeface="Adobe Arabic" panose="02040503050201020203" pitchFamily="18" charset="-78"/>
                        </a:rPr>
                        <a:t>(1/</a:t>
                      </a:r>
                      <a:r>
                        <a:rPr lang="en-US" altLang="zh-CN" sz="2200" b="0" i="1" dirty="0">
                          <a:solidFill>
                            <a:schemeClr val="tx1"/>
                          </a:solidFill>
                          <a:latin typeface="+mn-ea"/>
                          <a:ea typeface="+mn-ea"/>
                          <a:cs typeface="Adobe Arabic" panose="02040503050201020203" pitchFamily="18" charset="-78"/>
                        </a:rPr>
                        <a:t>e</a:t>
                      </a:r>
                      <a:r>
                        <a:rPr lang="en-US" altLang="zh-CN" sz="2200" b="0" i="0" dirty="0">
                          <a:solidFill>
                            <a:schemeClr val="tx1"/>
                          </a:solidFill>
                          <a:latin typeface="+mn-ea"/>
                          <a:ea typeface="+mn-ea"/>
                          <a:cs typeface="Adobe Arabic" panose="02040503050201020203" pitchFamily="18" charset="-78"/>
                        </a:rPr>
                        <a:t>))</a:t>
                      </a:r>
                      <a:endParaRPr lang="zh-CN" altLang="en-US" sz="2200" b="0" i="0" dirty="0">
                        <a:solidFill>
                          <a:schemeClr val="tx1"/>
                        </a:solidFill>
                        <a:latin typeface="+mn-ea"/>
                        <a:ea typeface="+mn-ea"/>
                        <a:cs typeface="Adobe Arabic" panose="02040503050201020203" pitchFamily="18" charset="-78"/>
                      </a:endParaRPr>
                    </a:p>
                  </a:txBody>
                  <a:tcPr marL="124976" marR="124976" marT="62487" marB="62487"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649891">
                <a:tc>
                  <a:txBody>
                    <a:bodyPr/>
                    <a:lstStyle/>
                    <a:p>
                      <a:pPr algn="ctr"/>
                      <a:r>
                        <a:rPr lang="zh-CN" altLang="en-US" sz="2200" b="0" dirty="0">
                          <a:solidFill>
                            <a:schemeClr val="tx1"/>
                          </a:solidFill>
                          <a:latin typeface="+mn-ea"/>
                          <a:ea typeface="+mn-ea"/>
                          <a:cs typeface="Adobe Arabic" panose="02040503050201020203" pitchFamily="18" charset="-78"/>
                        </a:rPr>
                        <a:t>解码时间复杂度</a:t>
                      </a:r>
                    </a:p>
                  </a:txBody>
                  <a:tcPr marL="124976" marR="124976" marT="62487" marB="62487"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b="0" i="1" dirty="0">
                          <a:solidFill>
                            <a:schemeClr val="tx1"/>
                          </a:solidFill>
                          <a:latin typeface="+mn-ea"/>
                          <a:ea typeface="+mn-ea"/>
                          <a:cs typeface="Adobe Arabic" panose="02040503050201020203" pitchFamily="18" charset="-78"/>
                        </a:rPr>
                        <a:t>O</a:t>
                      </a:r>
                      <a:r>
                        <a:rPr lang="en-US" altLang="zh-CN" sz="2200" b="0" i="0" dirty="0">
                          <a:solidFill>
                            <a:schemeClr val="tx1"/>
                          </a:solidFill>
                          <a:latin typeface="+mn-ea"/>
                          <a:ea typeface="+mn-ea"/>
                          <a:cs typeface="Adobe Arabic" panose="02040503050201020203" pitchFamily="18" charset="-78"/>
                        </a:rPr>
                        <a:t>(</a:t>
                      </a:r>
                      <a:r>
                        <a:rPr lang="en-US" altLang="zh-CN" sz="2200" b="0" i="1" dirty="0" err="1">
                          <a:solidFill>
                            <a:schemeClr val="tx1"/>
                          </a:solidFill>
                          <a:latin typeface="+mn-ea"/>
                          <a:ea typeface="+mn-ea"/>
                          <a:cs typeface="Adobe Arabic" panose="02040503050201020203" pitchFamily="18" charset="-78"/>
                        </a:rPr>
                        <a:t>nln</a:t>
                      </a:r>
                      <a:r>
                        <a:rPr lang="en-US" altLang="zh-CN" sz="2200" b="0" i="0" dirty="0">
                          <a:solidFill>
                            <a:schemeClr val="tx1"/>
                          </a:solidFill>
                          <a:latin typeface="+mn-ea"/>
                          <a:ea typeface="+mn-ea"/>
                          <a:cs typeface="Adobe Arabic" panose="02040503050201020203" pitchFamily="18" charset="-78"/>
                        </a:rPr>
                        <a:t>(1/</a:t>
                      </a:r>
                      <a:r>
                        <a:rPr lang="en-US" altLang="zh-CN" sz="2200" b="0" i="1" dirty="0">
                          <a:solidFill>
                            <a:schemeClr val="tx1"/>
                          </a:solidFill>
                          <a:latin typeface="+mn-ea"/>
                          <a:ea typeface="+mn-ea"/>
                          <a:cs typeface="Adobe Arabic" panose="02040503050201020203" pitchFamily="18" charset="-78"/>
                        </a:rPr>
                        <a:t>e</a:t>
                      </a:r>
                      <a:r>
                        <a:rPr lang="en-US" altLang="zh-CN" sz="2200" b="0" i="0" dirty="0">
                          <a:solidFill>
                            <a:schemeClr val="tx1"/>
                          </a:solidFill>
                          <a:latin typeface="+mn-ea"/>
                          <a:ea typeface="+mn-ea"/>
                          <a:cs typeface="Adobe Arabic" panose="02040503050201020203" pitchFamily="18" charset="-78"/>
                        </a:rPr>
                        <a:t>))</a:t>
                      </a:r>
                      <a:endParaRPr lang="zh-CN" altLang="en-US" sz="2200" b="0" i="0" dirty="0">
                        <a:solidFill>
                          <a:schemeClr val="tx1"/>
                        </a:solidFill>
                        <a:latin typeface="+mn-ea"/>
                        <a:ea typeface="+mn-ea"/>
                        <a:cs typeface="Adobe Arabic" panose="02040503050201020203" pitchFamily="18" charset="-78"/>
                      </a:endParaRPr>
                    </a:p>
                  </a:txBody>
                  <a:tcPr marL="124976" marR="124976" marT="62487" marB="62487" anchor="ctr">
                    <a:noFill/>
                  </a:tcPr>
                </a:tc>
                <a:extLst>
                  <a:ext uri="{0D108BD9-81ED-4DB2-BD59-A6C34878D82A}">
                    <a16:rowId xmlns:a16="http://schemas.microsoft.com/office/drawing/2014/main" val="10002"/>
                  </a:ext>
                </a:extLst>
              </a:tr>
              <a:tr h="649891">
                <a:tc>
                  <a:txBody>
                    <a:bodyPr/>
                    <a:lstStyle/>
                    <a:p>
                      <a:pPr algn="ctr"/>
                      <a:r>
                        <a:rPr lang="zh-CN" altLang="en-US" sz="2200" b="0" dirty="0">
                          <a:solidFill>
                            <a:schemeClr val="tx1"/>
                          </a:solidFill>
                          <a:latin typeface="+mn-ea"/>
                          <a:ea typeface="+mn-ea"/>
                          <a:cs typeface="Adobe Arabic" panose="02040503050201020203" pitchFamily="18" charset="-78"/>
                        </a:rPr>
                        <a:t>编码率</a:t>
                      </a:r>
                    </a:p>
                  </a:txBody>
                  <a:tcPr marL="124976" marR="124976" marT="62487" marB="62487" anchor="ctr">
                    <a:lnB w="19050" cap="flat" cmpd="sng" algn="ctr">
                      <a:solidFill>
                        <a:schemeClr val="tx1"/>
                      </a:solidFill>
                      <a:prstDash val="solid"/>
                      <a:round/>
                      <a:headEnd type="none" w="med" len="med"/>
                      <a:tailEnd type="none" w="med" len="med"/>
                    </a:lnB>
                    <a:noFill/>
                  </a:tcPr>
                </a:tc>
                <a:tc>
                  <a:txBody>
                    <a:bodyPr/>
                    <a:lstStyle/>
                    <a:p>
                      <a:pPr algn="ctr"/>
                      <a:r>
                        <a:rPr lang="en-US" altLang="zh-CN" sz="2200" b="0" i="0" dirty="0">
                          <a:solidFill>
                            <a:schemeClr val="tx1"/>
                          </a:solidFill>
                          <a:latin typeface="+mn-ea"/>
                          <a:ea typeface="+mn-ea"/>
                          <a:cs typeface="Adobe Arabic" panose="02040503050201020203" pitchFamily="18" charset="-78"/>
                        </a:rPr>
                        <a:t>1</a:t>
                      </a:r>
                      <a:r>
                        <a:rPr lang="en-US" altLang="zh-CN" sz="2200" b="0" i="1" dirty="0">
                          <a:solidFill>
                            <a:schemeClr val="tx1"/>
                          </a:solidFill>
                          <a:latin typeface="+mn-ea"/>
                          <a:ea typeface="+mn-ea"/>
                          <a:cs typeface="Adobe Arabic" panose="02040503050201020203" pitchFamily="18" charset="-78"/>
                        </a:rPr>
                        <a:t>-p</a:t>
                      </a:r>
                      <a:r>
                        <a:rPr lang="en-US" altLang="zh-CN" sz="2200" b="0" i="0" dirty="0">
                          <a:solidFill>
                            <a:schemeClr val="tx1"/>
                          </a:solidFill>
                          <a:latin typeface="+mn-ea"/>
                          <a:ea typeface="+mn-ea"/>
                          <a:cs typeface="Adobe Arabic" panose="02040503050201020203" pitchFamily="18" charset="-78"/>
                        </a:rPr>
                        <a:t>(</a:t>
                      </a:r>
                      <a:r>
                        <a:rPr lang="en-US" altLang="zh-CN" sz="2200" b="0" i="1" dirty="0">
                          <a:solidFill>
                            <a:schemeClr val="tx1"/>
                          </a:solidFill>
                          <a:latin typeface="+mn-ea"/>
                          <a:ea typeface="+mn-ea"/>
                          <a:cs typeface="Adobe Arabic" panose="02040503050201020203" pitchFamily="18" charset="-78"/>
                        </a:rPr>
                        <a:t>e</a:t>
                      </a:r>
                      <a:r>
                        <a:rPr lang="en-US" altLang="zh-CN" sz="2200" b="0" i="0" dirty="0">
                          <a:solidFill>
                            <a:schemeClr val="tx1"/>
                          </a:solidFill>
                          <a:latin typeface="+mn-ea"/>
                          <a:ea typeface="+mn-ea"/>
                          <a:cs typeface="Adobe Arabic" panose="02040503050201020203" pitchFamily="18" charset="-78"/>
                        </a:rPr>
                        <a:t>)</a:t>
                      </a:r>
                      <a:r>
                        <a:rPr lang="en-US" altLang="zh-CN" sz="2200" b="0" i="1" dirty="0">
                          <a:solidFill>
                            <a:schemeClr val="tx1"/>
                          </a:solidFill>
                          <a:latin typeface="+mn-ea"/>
                          <a:ea typeface="+mn-ea"/>
                          <a:cs typeface="Adobe Arabic" panose="02040503050201020203" pitchFamily="18" charset="-78"/>
                        </a:rPr>
                        <a:t>^exp</a:t>
                      </a:r>
                      <a:r>
                        <a:rPr lang="en-US" altLang="zh-CN" sz="2200" b="0" i="0" dirty="0">
                          <a:solidFill>
                            <a:schemeClr val="tx1"/>
                          </a:solidFill>
                          <a:latin typeface="+mn-ea"/>
                          <a:ea typeface="+mn-ea"/>
                          <a:cs typeface="Adobe Arabic" panose="02040503050201020203" pitchFamily="18" charset="-78"/>
                        </a:rPr>
                        <a:t>(1+</a:t>
                      </a:r>
                      <a:r>
                        <a:rPr lang="en-US" altLang="zh-CN" sz="2200" b="0" i="1" dirty="0">
                          <a:solidFill>
                            <a:schemeClr val="tx1"/>
                          </a:solidFill>
                          <a:latin typeface="+mn-ea"/>
                          <a:ea typeface="+mn-ea"/>
                          <a:cs typeface="Adobe Arabic" panose="02040503050201020203" pitchFamily="18" charset="-78"/>
                        </a:rPr>
                        <a:t>e</a:t>
                      </a:r>
                      <a:r>
                        <a:rPr lang="en-US" altLang="zh-CN" sz="2200" b="0" i="0" dirty="0">
                          <a:solidFill>
                            <a:schemeClr val="tx1"/>
                          </a:solidFill>
                          <a:latin typeface="+mn-ea"/>
                          <a:ea typeface="+mn-ea"/>
                          <a:cs typeface="Adobe Arabic" panose="02040503050201020203" pitchFamily="18" charset="-78"/>
                        </a:rPr>
                        <a:t>)</a:t>
                      </a:r>
                      <a:endParaRPr lang="zh-CN" altLang="en-US" sz="2200" b="0" i="0" dirty="0">
                        <a:solidFill>
                          <a:schemeClr val="tx1"/>
                        </a:solidFill>
                        <a:latin typeface="+mn-ea"/>
                        <a:ea typeface="+mn-ea"/>
                        <a:cs typeface="Adobe Arabic" panose="02040503050201020203" pitchFamily="18" charset="-78"/>
                      </a:endParaRPr>
                    </a:p>
                  </a:txBody>
                  <a:tcPr marL="124976" marR="124976" marT="62487" marB="62487" anchor="ct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5" name="文本框 4">
            <a:extLst>
              <a:ext uri="{FF2B5EF4-FFF2-40B4-BE49-F238E27FC236}">
                <a16:creationId xmlns:a16="http://schemas.microsoft.com/office/drawing/2014/main" id="{433B72FA-1CA5-FB73-0860-057BBE3A5BAC}"/>
              </a:ext>
            </a:extLst>
          </p:cNvPr>
          <p:cNvSpPr txBox="1"/>
          <p:nvPr/>
        </p:nvSpPr>
        <p:spPr>
          <a:xfrm>
            <a:off x="5172393" y="4351892"/>
            <a:ext cx="6096000" cy="369332"/>
          </a:xfrm>
          <a:prstGeom prst="rect">
            <a:avLst/>
          </a:prstGeom>
          <a:noFill/>
        </p:spPr>
        <p:txBody>
          <a:bodyPr wrap="square">
            <a:spAutoFit/>
          </a:bodyPr>
          <a:lstStyle/>
          <a:p>
            <a:r>
              <a:rPr lang="zh-CN" altLang="en-US" sz="1800" dirty="0">
                <a:sym typeface="+mn-ea"/>
              </a:rPr>
              <a:t>龙卷风码的复杂度分析</a:t>
            </a:r>
            <a:endParaRPr lang="zh-CN" altLang="en-US" dirty="0"/>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龙卷风码的优缺点</a:t>
            </a:r>
          </a:p>
        </p:txBody>
      </p:sp>
      <p:sp>
        <p:nvSpPr>
          <p:cNvPr id="9" name="文本框 8"/>
          <p:cNvSpPr txBox="1"/>
          <p:nvPr/>
        </p:nvSpPr>
        <p:spPr>
          <a:xfrm>
            <a:off x="290784" y="841786"/>
            <a:ext cx="11610432" cy="234224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latin typeface="Times New Roman"/>
                <a:sym typeface="+mn-ea"/>
              </a:rPr>
              <a:t>优点</a:t>
            </a:r>
            <a:r>
              <a:rPr lang="en-US" altLang="zh-CN" dirty="0">
                <a:solidFill>
                  <a:srgbClr val="000000"/>
                </a:solidFill>
                <a:latin typeface="Times New Roman"/>
                <a:sym typeface="+mn-ea"/>
              </a:rPr>
              <a:t>: </a:t>
            </a:r>
          </a:p>
          <a:p>
            <a:pPr eaLnBrk="0" fontAlgn="base" hangingPunct="0">
              <a:lnSpc>
                <a:spcPts val="3600"/>
              </a:lnSpc>
              <a:spcBef>
                <a:spcPct val="0"/>
              </a:spcBef>
              <a:spcAft>
                <a:spcPct val="0"/>
              </a:spcAft>
            </a:pPr>
            <a:r>
              <a:rPr lang="en-US" altLang="zh-CN" dirty="0">
                <a:solidFill>
                  <a:srgbClr val="000000"/>
                </a:solidFill>
                <a:latin typeface="Times New Roman"/>
                <a:sym typeface="+mn-ea"/>
              </a:rPr>
              <a:t>        (1)</a:t>
            </a:r>
            <a:r>
              <a:rPr lang="zh-CN" altLang="en-US" dirty="0">
                <a:solidFill>
                  <a:srgbClr val="000000"/>
                </a:solidFill>
                <a:latin typeface="Times New Roman"/>
                <a:sym typeface="+mn-ea"/>
              </a:rPr>
              <a:t>由于只涉及异或操作，编码率高，其中</a:t>
            </a:r>
            <a:r>
              <a:rPr lang="en-US" altLang="zh-CN" i="1" dirty="0">
                <a:solidFill>
                  <a:srgbClr val="000000"/>
                </a:solidFill>
                <a:latin typeface="Times New Roman"/>
                <a:sym typeface="+mn-ea"/>
              </a:rPr>
              <a:t>p(e)</a:t>
            </a:r>
            <a:r>
              <a:rPr lang="en-US" altLang="zh-CN" dirty="0">
                <a:solidFill>
                  <a:srgbClr val="000000"/>
                </a:solidFill>
                <a:latin typeface="Times New Roman"/>
                <a:sym typeface="+mn-ea"/>
              </a:rPr>
              <a:t>(</a:t>
            </a:r>
            <a:r>
              <a:rPr lang="en-US" altLang="zh-CN" i="1" dirty="0">
                <a:solidFill>
                  <a:srgbClr val="000000"/>
                </a:solidFill>
                <a:latin typeface="Times New Roman"/>
                <a:sym typeface="+mn-ea"/>
              </a:rPr>
              <a:t>e</a:t>
            </a:r>
            <a:r>
              <a:rPr lang="zh-CN" altLang="en-US" dirty="0">
                <a:solidFill>
                  <a:srgbClr val="000000"/>
                </a:solidFill>
                <a:latin typeface="Times New Roman"/>
                <a:sym typeface="+mn-ea"/>
              </a:rPr>
              <a:t>是擦除概率</a:t>
            </a:r>
            <a:r>
              <a:rPr lang="en-US" altLang="zh-CN" dirty="0">
                <a:solidFill>
                  <a:srgbClr val="000000"/>
                </a:solidFill>
                <a:latin typeface="Times New Roman"/>
                <a:sym typeface="+mn-ea"/>
              </a:rPr>
              <a:t>)</a:t>
            </a:r>
            <a:r>
              <a:rPr lang="zh-CN" altLang="en-US" dirty="0">
                <a:solidFill>
                  <a:srgbClr val="000000"/>
                </a:solidFill>
                <a:latin typeface="Times New Roman"/>
                <a:sym typeface="+mn-ea"/>
              </a:rPr>
              <a:t>是一个极小量，与二部图的选择有关。</a:t>
            </a:r>
            <a:endParaRPr lang="en-US" altLang="zh-CN" dirty="0">
              <a:solidFill>
                <a:srgbClr val="000000"/>
              </a:solidFill>
              <a:latin typeface="Times New Roman"/>
              <a:sym typeface="+mn-ea"/>
            </a:endParaRPr>
          </a:p>
          <a:p>
            <a:pPr eaLnBrk="0" fontAlgn="base" hangingPunct="0">
              <a:lnSpc>
                <a:spcPts val="3600"/>
              </a:lnSpc>
              <a:spcBef>
                <a:spcPct val="0"/>
              </a:spcBef>
              <a:spcAft>
                <a:spcPct val="0"/>
              </a:spcAft>
            </a:pPr>
            <a:r>
              <a:rPr lang="en-US" altLang="zh-CN" dirty="0">
                <a:solidFill>
                  <a:srgbClr val="000000"/>
                </a:solidFill>
                <a:latin typeface="Times New Roman"/>
                <a:sym typeface="+mn-ea"/>
              </a:rPr>
              <a:t>        (2)</a:t>
            </a:r>
            <a:r>
              <a:rPr lang="zh-CN" altLang="en-US" dirty="0">
                <a:solidFill>
                  <a:srgbClr val="000000"/>
                </a:solidFill>
                <a:latin typeface="Times New Roman"/>
                <a:sym typeface="+mn-ea"/>
              </a:rPr>
              <a:t>编码过程提到，进行异或操作的次数，也就是二分图的边的数目，由每层中的数据块数目决定。因此该算法的复杂度为线性，编解码效率高。</a:t>
            </a:r>
            <a:endParaRPr lang="en-US" altLang="zh-CN" dirty="0">
              <a:solidFill>
                <a:srgbClr val="000000"/>
              </a:solidFill>
              <a:latin typeface="Times New Roman"/>
              <a:sym typeface="+mn-ea"/>
            </a:endParaRPr>
          </a:p>
          <a:p>
            <a:pPr eaLnBrk="0" fontAlgn="base" hangingPunct="0">
              <a:lnSpc>
                <a:spcPts val="3600"/>
              </a:lnSpc>
              <a:spcBef>
                <a:spcPct val="0"/>
              </a:spcBef>
              <a:spcAft>
                <a:spcPct val="0"/>
              </a:spcAft>
            </a:pPr>
            <a:r>
              <a:rPr lang="en-US" altLang="zh-CN" dirty="0">
                <a:solidFill>
                  <a:srgbClr val="000000"/>
                </a:solidFill>
                <a:latin typeface="Times New Roman"/>
                <a:sym typeface="+mn-ea"/>
              </a:rPr>
              <a:t>        (3)</a:t>
            </a:r>
            <a:r>
              <a:rPr lang="zh-CN" altLang="en-US" dirty="0">
                <a:solidFill>
                  <a:srgbClr val="000000"/>
                </a:solidFill>
                <a:latin typeface="Times New Roman"/>
                <a:sym typeface="+mn-ea"/>
              </a:rPr>
              <a:t>由于所有的丢失数据基本能恢复，龙卷风码能提供接近最优的损失保护。</a:t>
            </a:r>
            <a:endParaRPr lang="en-US" altLang="zh-CN" dirty="0">
              <a:solidFill>
                <a:srgbClr val="000000"/>
              </a:solidFill>
              <a:latin typeface="Times New Roman"/>
              <a:sym typeface="+mn-ea"/>
            </a:endParaRPr>
          </a:p>
        </p:txBody>
      </p:sp>
      <p:sp>
        <p:nvSpPr>
          <p:cNvPr id="3" name="文本框 2">
            <a:extLst>
              <a:ext uri="{FF2B5EF4-FFF2-40B4-BE49-F238E27FC236}">
                <a16:creationId xmlns:a16="http://schemas.microsoft.com/office/drawing/2014/main" id="{E93FF309-3596-F493-58AF-7DD291413D70}"/>
              </a:ext>
            </a:extLst>
          </p:cNvPr>
          <p:cNvSpPr txBox="1"/>
          <p:nvPr/>
        </p:nvSpPr>
        <p:spPr>
          <a:xfrm>
            <a:off x="290784" y="3279203"/>
            <a:ext cx="11610432" cy="246407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800"/>
              </a:lnSpc>
              <a:spcBef>
                <a:spcPct val="0"/>
              </a:spcBef>
              <a:spcAft>
                <a:spcPct val="0"/>
              </a:spcAft>
            </a:pPr>
            <a:r>
              <a:rPr lang="zh-CN" altLang="en-US" dirty="0">
                <a:solidFill>
                  <a:srgbClr val="000000"/>
                </a:solidFill>
                <a:latin typeface="Times New Roman"/>
                <a:sym typeface="+mn-ea"/>
              </a:rPr>
              <a:t>缺点</a:t>
            </a:r>
            <a:r>
              <a:rPr lang="en-US" altLang="zh-CN" dirty="0">
                <a:solidFill>
                  <a:srgbClr val="000000"/>
                </a:solidFill>
                <a:latin typeface="Times New Roman"/>
                <a:sym typeface="+mn-ea"/>
              </a:rPr>
              <a:t>: </a:t>
            </a:r>
          </a:p>
          <a:p>
            <a:pPr eaLnBrk="0" fontAlgn="base" hangingPunct="0">
              <a:lnSpc>
                <a:spcPts val="3800"/>
              </a:lnSpc>
              <a:spcBef>
                <a:spcPct val="0"/>
              </a:spcBef>
              <a:spcAft>
                <a:spcPct val="0"/>
              </a:spcAft>
            </a:pPr>
            <a:r>
              <a:rPr lang="en-US" altLang="zh-CN" dirty="0">
                <a:solidFill>
                  <a:srgbClr val="000000"/>
                </a:solidFill>
                <a:latin typeface="Times New Roman"/>
                <a:sym typeface="+mn-ea"/>
              </a:rPr>
              <a:t>        (1)</a:t>
            </a:r>
            <a:r>
              <a:rPr lang="zh-CN" altLang="en-US" dirty="0">
                <a:solidFill>
                  <a:srgbClr val="000000"/>
                </a:solidFill>
                <a:latin typeface="Times New Roman"/>
                <a:sym typeface="+mn-ea"/>
              </a:rPr>
              <a:t>需要擦除概率</a:t>
            </a:r>
            <a:r>
              <a:rPr lang="en-US" altLang="zh-CN" i="1" dirty="0">
                <a:solidFill>
                  <a:srgbClr val="000000"/>
                </a:solidFill>
                <a:latin typeface="Times New Roman"/>
                <a:sym typeface="+mn-ea"/>
              </a:rPr>
              <a:t>e</a:t>
            </a:r>
            <a:r>
              <a:rPr lang="zh-CN" altLang="en-US" dirty="0">
                <a:solidFill>
                  <a:srgbClr val="000000"/>
                </a:solidFill>
                <a:latin typeface="Times New Roman"/>
                <a:sym typeface="+mn-ea"/>
              </a:rPr>
              <a:t>作为输入，而擦除概率难以精确获得、随时可能变化、多个接受者的擦除概率不同的特点也带来了这种算法的缺点。</a:t>
            </a:r>
            <a:endParaRPr lang="en-US" altLang="zh-CN" dirty="0">
              <a:solidFill>
                <a:srgbClr val="000000"/>
              </a:solidFill>
              <a:latin typeface="Times New Roman"/>
              <a:sym typeface="+mn-ea"/>
            </a:endParaRPr>
          </a:p>
          <a:p>
            <a:pPr eaLnBrk="0" fontAlgn="base" hangingPunct="0">
              <a:lnSpc>
                <a:spcPts val="3800"/>
              </a:lnSpc>
              <a:spcBef>
                <a:spcPct val="0"/>
              </a:spcBef>
              <a:spcAft>
                <a:spcPct val="0"/>
              </a:spcAft>
            </a:pPr>
            <a:r>
              <a:rPr lang="en-US" altLang="zh-CN" dirty="0">
                <a:solidFill>
                  <a:srgbClr val="000000"/>
                </a:solidFill>
                <a:latin typeface="Times New Roman"/>
                <a:sym typeface="+mn-ea"/>
              </a:rPr>
              <a:t>        (2)</a:t>
            </a:r>
            <a:r>
              <a:rPr lang="zh-CN" altLang="en-US" dirty="0">
                <a:solidFill>
                  <a:srgbClr val="000000"/>
                </a:solidFill>
                <a:latin typeface="Times New Roman"/>
                <a:sym typeface="+mn-ea"/>
              </a:rPr>
              <a:t>和</a:t>
            </a:r>
            <a:r>
              <a:rPr lang="en-US" altLang="zh-CN" dirty="0">
                <a:solidFill>
                  <a:srgbClr val="000000"/>
                </a:solidFill>
                <a:latin typeface="Times New Roman"/>
                <a:sym typeface="+mn-ea"/>
              </a:rPr>
              <a:t>RS Code</a:t>
            </a:r>
            <a:r>
              <a:rPr lang="zh-CN" altLang="en-US" dirty="0">
                <a:solidFill>
                  <a:srgbClr val="000000"/>
                </a:solidFill>
                <a:latin typeface="Times New Roman"/>
                <a:sym typeface="+mn-ea"/>
              </a:rPr>
              <a:t>一样，在数据规模较大，且在数据规模较大的情况下，编解码优势才比较明显。数据规模较小时并不能体现很大优势。</a:t>
            </a:r>
            <a:endParaRPr lang="en-US" altLang="zh-CN" sz="2400" dirty="0">
              <a:solidFill>
                <a:srgbClr val="000000"/>
              </a:solidFill>
              <a:latin typeface="Times New Roman"/>
              <a:sym typeface="+mn-ea"/>
            </a:endParaRPr>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数字喷泉码</a:t>
            </a:r>
          </a:p>
        </p:txBody>
      </p:sp>
      <p:sp>
        <p:nvSpPr>
          <p:cNvPr id="9" name="文本框 8"/>
          <p:cNvSpPr txBox="1"/>
          <p:nvPr/>
        </p:nvSpPr>
        <p:spPr>
          <a:xfrm>
            <a:off x="2140269" y="1004612"/>
            <a:ext cx="8162077" cy="2746201"/>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000"/>
              </a:lnSpc>
              <a:spcBef>
                <a:spcPct val="0"/>
              </a:spcBef>
              <a:spcAft>
                <a:spcPct val="0"/>
              </a:spcAft>
            </a:pPr>
            <a:r>
              <a:rPr lang="zh-CN" altLang="en-US" dirty="0">
                <a:solidFill>
                  <a:srgbClr val="000000"/>
                </a:solidFill>
                <a:latin typeface="Times New Roman"/>
                <a:sym typeface="+mn-ea"/>
              </a:rPr>
              <a:t>         </a:t>
            </a:r>
            <a:r>
              <a:rPr lang="zh-CN" altLang="en-US" dirty="0">
                <a:solidFill>
                  <a:srgbClr val="FF0000"/>
                </a:solidFill>
                <a:latin typeface="Times New Roman"/>
                <a:sym typeface="+mn-ea"/>
              </a:rPr>
              <a:t>数字喷泉码</a:t>
            </a:r>
            <a:r>
              <a:rPr lang="zh-CN" altLang="en-US" dirty="0">
                <a:solidFill>
                  <a:srgbClr val="000000"/>
                </a:solidFill>
                <a:latin typeface="Times New Roman"/>
                <a:sym typeface="+mn-ea"/>
              </a:rPr>
              <a:t>是一类</a:t>
            </a:r>
            <a:r>
              <a:rPr lang="zh-CN" altLang="en-US" dirty="0">
                <a:solidFill>
                  <a:srgbClr val="FF0000"/>
                </a:solidFill>
                <a:latin typeface="Times New Roman"/>
                <a:sym typeface="+mn-ea"/>
              </a:rPr>
              <a:t>码率不受限制的纠删码</a:t>
            </a:r>
            <a:r>
              <a:rPr lang="en-US" altLang="zh-CN" dirty="0">
                <a:solidFill>
                  <a:srgbClr val="000000"/>
                </a:solidFill>
                <a:latin typeface="Times New Roman"/>
                <a:sym typeface="+mn-ea"/>
              </a:rPr>
              <a:t>(</a:t>
            </a:r>
            <a:r>
              <a:rPr lang="en-US" altLang="zh-CN" dirty="0" err="1">
                <a:solidFill>
                  <a:srgbClr val="000000"/>
                </a:solidFill>
                <a:latin typeface="Times New Roman"/>
                <a:sym typeface="+mn-ea"/>
              </a:rPr>
              <a:t>Rateless</a:t>
            </a:r>
            <a:r>
              <a:rPr lang="en-US" altLang="zh-CN" dirty="0">
                <a:solidFill>
                  <a:srgbClr val="000000"/>
                </a:solidFill>
                <a:latin typeface="Times New Roman"/>
                <a:sym typeface="+mn-ea"/>
              </a:rPr>
              <a:t> Erasure Code)</a:t>
            </a:r>
            <a:r>
              <a:rPr lang="zh-CN" altLang="en-US" dirty="0">
                <a:solidFill>
                  <a:srgbClr val="000000"/>
                </a:solidFill>
                <a:latin typeface="Times New Roman"/>
                <a:sym typeface="+mn-ea"/>
              </a:rPr>
              <a:t>，也称为</a:t>
            </a:r>
            <a:r>
              <a:rPr lang="zh-CN" altLang="en-US" dirty="0">
                <a:solidFill>
                  <a:srgbClr val="FF0000"/>
                </a:solidFill>
                <a:latin typeface="Times New Roman"/>
                <a:sym typeface="+mn-ea"/>
              </a:rPr>
              <a:t>无速率编码</a:t>
            </a:r>
            <a:r>
              <a:rPr lang="zh-CN" altLang="en-US" dirty="0">
                <a:solidFill>
                  <a:srgbClr val="000000"/>
                </a:solidFill>
                <a:latin typeface="Times New Roman"/>
                <a:sym typeface="+mn-ea"/>
              </a:rPr>
              <a:t>，是一类基于图的线性纠删码。喷泉码是指可以由</a:t>
            </a:r>
            <a:r>
              <a:rPr lang="en-US" altLang="zh-CN" i="1" dirty="0">
                <a:solidFill>
                  <a:srgbClr val="000000"/>
                </a:solidFill>
                <a:latin typeface="Times New Roman"/>
                <a:sym typeface="+mn-ea"/>
              </a:rPr>
              <a:t>k</a:t>
            </a:r>
            <a:r>
              <a:rPr lang="zh-CN" altLang="en-US" dirty="0">
                <a:solidFill>
                  <a:srgbClr val="000000"/>
                </a:solidFill>
                <a:latin typeface="Times New Roman"/>
                <a:sym typeface="+mn-ea"/>
              </a:rPr>
              <a:t>个原始数据分组生成任意数量的编码分组，而接收方只要收到其中任意</a:t>
            </a:r>
            <a:r>
              <a:rPr lang="en-US" altLang="zh-CN" i="1" dirty="0">
                <a:solidFill>
                  <a:srgbClr val="000000"/>
                </a:solidFill>
                <a:latin typeface="Times New Roman"/>
                <a:sym typeface="+mn-ea"/>
              </a:rPr>
              <a:t>m</a:t>
            </a:r>
            <a:r>
              <a:rPr lang="zh-CN" altLang="en-US" dirty="0">
                <a:solidFill>
                  <a:srgbClr val="000000"/>
                </a:solidFill>
                <a:latin typeface="Times New Roman"/>
                <a:sym typeface="+mn-ea"/>
              </a:rPr>
              <a:t>个编码分组，即可通过译码以高概率成功恢复全部原始数据分组。</a:t>
            </a:r>
            <a:endParaRPr lang="en-US" altLang="zh-CN" dirty="0">
              <a:solidFill>
                <a:srgbClr val="000000"/>
              </a:solidFill>
              <a:latin typeface="Times New Roman"/>
              <a:sym typeface="+mn-ea"/>
            </a:endParaRPr>
          </a:p>
          <a:p>
            <a:pPr eaLnBrk="0" fontAlgn="base" hangingPunct="0">
              <a:lnSpc>
                <a:spcPts val="3000"/>
              </a:lnSpc>
              <a:spcBef>
                <a:spcPct val="0"/>
              </a:spcBef>
              <a:spcAft>
                <a:spcPct val="0"/>
              </a:spcAft>
            </a:pPr>
            <a:r>
              <a:rPr lang="en-US" altLang="zh-CN" dirty="0">
                <a:solidFill>
                  <a:srgbClr val="000000"/>
                </a:solidFill>
                <a:latin typeface="Times New Roman"/>
                <a:sym typeface="+mn-ea"/>
              </a:rPr>
              <a:t>         </a:t>
            </a:r>
            <a:r>
              <a:rPr lang="zh-CN" altLang="en-US" dirty="0">
                <a:solidFill>
                  <a:srgbClr val="000000"/>
                </a:solidFill>
                <a:latin typeface="Times New Roman"/>
                <a:sym typeface="+mn-ea"/>
              </a:rPr>
              <a:t>可以看到，上述编码过程就如同源源不断产生水滴</a:t>
            </a:r>
            <a:r>
              <a:rPr lang="en-US" altLang="zh-CN" dirty="0">
                <a:solidFill>
                  <a:srgbClr val="000000"/>
                </a:solidFill>
                <a:latin typeface="Times New Roman"/>
                <a:sym typeface="+mn-ea"/>
              </a:rPr>
              <a:t>(</a:t>
            </a:r>
            <a:r>
              <a:rPr lang="zh-CN" altLang="en-US" dirty="0">
                <a:solidFill>
                  <a:srgbClr val="000000"/>
                </a:solidFill>
                <a:latin typeface="Times New Roman"/>
                <a:sym typeface="+mn-ea"/>
              </a:rPr>
              <a:t>编码分组</a:t>
            </a:r>
            <a:r>
              <a:rPr lang="en-US" altLang="zh-CN" dirty="0">
                <a:solidFill>
                  <a:srgbClr val="000000"/>
                </a:solidFill>
                <a:latin typeface="Times New Roman"/>
                <a:sym typeface="+mn-ea"/>
              </a:rPr>
              <a:t>)</a:t>
            </a:r>
            <a:r>
              <a:rPr lang="zh-CN" altLang="en-US" dirty="0">
                <a:solidFill>
                  <a:srgbClr val="000000"/>
                </a:solidFill>
                <a:latin typeface="Times New Roman"/>
                <a:sym typeface="+mn-ea"/>
              </a:rPr>
              <a:t>的喷泉</a:t>
            </a:r>
            <a:r>
              <a:rPr lang="en-US" altLang="zh-CN" dirty="0">
                <a:solidFill>
                  <a:srgbClr val="000000"/>
                </a:solidFill>
                <a:latin typeface="Times New Roman"/>
                <a:sym typeface="+mn-ea"/>
              </a:rPr>
              <a:t>(</a:t>
            </a:r>
            <a:r>
              <a:rPr lang="zh-CN" altLang="en-US" dirty="0">
                <a:solidFill>
                  <a:srgbClr val="000000"/>
                </a:solidFill>
                <a:latin typeface="Times New Roman"/>
                <a:sym typeface="+mn-ea"/>
              </a:rPr>
              <a:t>编码器</a:t>
            </a:r>
            <a:r>
              <a:rPr lang="en-US" altLang="zh-CN" dirty="0">
                <a:solidFill>
                  <a:srgbClr val="000000"/>
                </a:solidFill>
                <a:latin typeface="Times New Roman"/>
                <a:sym typeface="+mn-ea"/>
              </a:rPr>
              <a:t>)</a:t>
            </a:r>
            <a:r>
              <a:rPr lang="zh-CN" altLang="en-US" dirty="0">
                <a:solidFill>
                  <a:srgbClr val="000000"/>
                </a:solidFill>
                <a:latin typeface="Times New Roman"/>
                <a:sym typeface="+mn-ea"/>
              </a:rPr>
              <a:t>，而我们只要用杯子</a:t>
            </a:r>
            <a:r>
              <a:rPr lang="en-US" altLang="zh-CN" dirty="0">
                <a:solidFill>
                  <a:srgbClr val="000000"/>
                </a:solidFill>
                <a:latin typeface="Times New Roman"/>
                <a:sym typeface="+mn-ea"/>
              </a:rPr>
              <a:t>(</a:t>
            </a:r>
            <a:r>
              <a:rPr lang="zh-CN" altLang="en-US" dirty="0">
                <a:solidFill>
                  <a:srgbClr val="000000"/>
                </a:solidFill>
                <a:latin typeface="Times New Roman"/>
                <a:sym typeface="+mn-ea"/>
              </a:rPr>
              <a:t>译码器</a:t>
            </a:r>
            <a:r>
              <a:rPr lang="en-US" altLang="zh-CN" dirty="0">
                <a:solidFill>
                  <a:srgbClr val="000000"/>
                </a:solidFill>
                <a:latin typeface="Times New Roman"/>
                <a:sym typeface="+mn-ea"/>
              </a:rPr>
              <a:t>)</a:t>
            </a:r>
            <a:r>
              <a:rPr lang="zh-CN" altLang="en-US" dirty="0">
                <a:solidFill>
                  <a:srgbClr val="000000"/>
                </a:solidFill>
                <a:latin typeface="Times New Roman"/>
                <a:sym typeface="+mn-ea"/>
              </a:rPr>
              <a:t>接收足够数量的水滴，即可达到饮用</a:t>
            </a:r>
            <a:r>
              <a:rPr lang="en-US" altLang="zh-CN" dirty="0">
                <a:solidFill>
                  <a:srgbClr val="000000"/>
                </a:solidFill>
                <a:latin typeface="Times New Roman"/>
                <a:sym typeface="+mn-ea"/>
              </a:rPr>
              <a:t>(</a:t>
            </a:r>
            <a:r>
              <a:rPr lang="zh-CN" altLang="en-US" dirty="0">
                <a:solidFill>
                  <a:srgbClr val="000000"/>
                </a:solidFill>
                <a:latin typeface="Times New Roman"/>
                <a:sym typeface="+mn-ea"/>
              </a:rPr>
              <a:t>成功译码</a:t>
            </a:r>
            <a:r>
              <a:rPr lang="en-US" altLang="zh-CN" dirty="0">
                <a:solidFill>
                  <a:srgbClr val="000000"/>
                </a:solidFill>
                <a:latin typeface="Times New Roman"/>
                <a:sym typeface="+mn-ea"/>
              </a:rPr>
              <a:t>)</a:t>
            </a:r>
            <a:r>
              <a:rPr lang="zh-CN" altLang="en-US" dirty="0">
                <a:solidFill>
                  <a:srgbClr val="000000"/>
                </a:solidFill>
                <a:latin typeface="Times New Roman"/>
                <a:sym typeface="+mn-ea"/>
              </a:rPr>
              <a:t>的目的。正因如此，该种编码被称为喷泉码。</a:t>
            </a:r>
            <a:endParaRPr lang="en-US" altLang="zh-CN" dirty="0">
              <a:solidFill>
                <a:srgbClr val="000000"/>
              </a:solidFill>
              <a:latin typeface="Times New Roman"/>
              <a:sym typeface="+mn-ea"/>
            </a:endParaRPr>
          </a:p>
        </p:txBody>
      </p:sp>
      <p:sp>
        <p:nvSpPr>
          <p:cNvPr id="8" name="矩形 7"/>
          <p:cNvSpPr/>
          <p:nvPr/>
        </p:nvSpPr>
        <p:spPr>
          <a:xfrm>
            <a:off x="6172192" y="4952960"/>
            <a:ext cx="228600" cy="5333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nvGrpSpPr>
          <p:cNvPr id="3" name="组合 2"/>
          <p:cNvGrpSpPr/>
          <p:nvPr/>
        </p:nvGrpSpPr>
        <p:grpSpPr>
          <a:xfrm>
            <a:off x="3343594" y="4089960"/>
            <a:ext cx="5504812" cy="2605346"/>
            <a:chOff x="1819594" y="4089960"/>
            <a:chExt cx="5504812" cy="2605346"/>
          </a:xfrm>
        </p:grpSpPr>
        <p:grpSp>
          <p:nvGrpSpPr>
            <p:cNvPr id="28" name="组合 27"/>
            <p:cNvGrpSpPr/>
            <p:nvPr/>
          </p:nvGrpSpPr>
          <p:grpSpPr>
            <a:xfrm>
              <a:off x="1819594" y="4089960"/>
              <a:ext cx="5504812" cy="2259385"/>
              <a:chOff x="1822333" y="4088080"/>
              <a:chExt cx="5504812" cy="2259385"/>
            </a:xfrm>
          </p:grpSpPr>
          <p:grpSp>
            <p:nvGrpSpPr>
              <p:cNvPr id="24" name="组合 23"/>
              <p:cNvGrpSpPr/>
              <p:nvPr/>
            </p:nvGrpSpPr>
            <p:grpSpPr>
              <a:xfrm>
                <a:off x="1822333" y="4088080"/>
                <a:ext cx="5504812" cy="2259385"/>
                <a:chOff x="1822333" y="4088080"/>
                <a:chExt cx="5504812" cy="2259385"/>
              </a:xfrm>
            </p:grpSpPr>
            <p:grpSp>
              <p:nvGrpSpPr>
                <p:cNvPr id="19" name="组合 18"/>
                <p:cNvGrpSpPr/>
                <p:nvPr/>
              </p:nvGrpSpPr>
              <p:grpSpPr>
                <a:xfrm>
                  <a:off x="1871662" y="4088080"/>
                  <a:ext cx="5455483" cy="2259385"/>
                  <a:chOff x="1871662" y="4088080"/>
                  <a:chExt cx="5455483" cy="2259385"/>
                </a:xfrm>
              </p:grpSpPr>
              <p:grpSp>
                <p:nvGrpSpPr>
                  <p:cNvPr id="6" name="组合 5"/>
                  <p:cNvGrpSpPr/>
                  <p:nvPr/>
                </p:nvGrpSpPr>
                <p:grpSpPr>
                  <a:xfrm>
                    <a:off x="1871662" y="4088080"/>
                    <a:ext cx="5455483" cy="2259385"/>
                    <a:chOff x="1871662" y="4088080"/>
                    <a:chExt cx="5455483" cy="2259385"/>
                  </a:xfrm>
                </p:grpSpPr>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t="5100"/>
                    <a:stretch>
                      <a:fillRect/>
                    </a:stretch>
                  </p:blipFill>
                  <p:spPr>
                    <a:xfrm>
                      <a:off x="1871662" y="4114782"/>
                      <a:ext cx="5400675" cy="2232683"/>
                    </a:xfrm>
                    <a:prstGeom prst="rect">
                      <a:avLst/>
                    </a:prstGeom>
                  </p:spPr>
                </p:pic>
                <p:sp>
                  <p:nvSpPr>
                    <p:cNvPr id="5" name="矩形 4"/>
                    <p:cNvSpPr/>
                    <p:nvPr/>
                  </p:nvSpPr>
                  <p:spPr>
                    <a:xfrm>
                      <a:off x="3765906" y="5029158"/>
                      <a:ext cx="882292" cy="10667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0" name="矩形 9"/>
                    <p:cNvSpPr/>
                    <p:nvPr/>
                  </p:nvSpPr>
                  <p:spPr>
                    <a:xfrm>
                      <a:off x="5486376" y="5511690"/>
                      <a:ext cx="761980" cy="5080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1" name="矩形 10"/>
                    <p:cNvSpPr/>
                    <p:nvPr/>
                  </p:nvSpPr>
                  <p:spPr>
                    <a:xfrm>
                      <a:off x="7098545" y="5029158"/>
                      <a:ext cx="228600" cy="9143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2" name="矩形 11"/>
                    <p:cNvSpPr/>
                    <p:nvPr/>
                  </p:nvSpPr>
                  <p:spPr>
                    <a:xfrm>
                      <a:off x="6292460" y="5793624"/>
                      <a:ext cx="870272" cy="4522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3" name="矩形 12"/>
                    <p:cNvSpPr/>
                    <p:nvPr/>
                  </p:nvSpPr>
                  <p:spPr>
                    <a:xfrm>
                      <a:off x="4812605" y="4819613"/>
                      <a:ext cx="685782" cy="2666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4" name="矩形 13"/>
                    <p:cNvSpPr/>
                    <p:nvPr/>
                  </p:nvSpPr>
                  <p:spPr>
                    <a:xfrm>
                      <a:off x="4097029" y="4088080"/>
                      <a:ext cx="685782" cy="5466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sp>
                <p:nvSpPr>
                  <p:cNvPr id="7" name="椭圆 6"/>
                  <p:cNvSpPr/>
                  <p:nvPr/>
                </p:nvSpPr>
                <p:spPr>
                  <a:xfrm>
                    <a:off x="4616095" y="5116808"/>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6" name="椭圆 15"/>
                  <p:cNvSpPr/>
                  <p:nvPr/>
                </p:nvSpPr>
                <p:spPr>
                  <a:xfrm>
                    <a:off x="3816703" y="5147610"/>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7" name="椭圆 16"/>
                  <p:cNvSpPr/>
                  <p:nvPr/>
                </p:nvSpPr>
                <p:spPr>
                  <a:xfrm rot="17424943">
                    <a:off x="3791321" y="5405792"/>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18" name="椭圆 17"/>
                  <p:cNvSpPr/>
                  <p:nvPr/>
                </p:nvSpPr>
                <p:spPr>
                  <a:xfrm rot="3388731">
                    <a:off x="3806741" y="5693565"/>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sp>
              <p:nvSpPr>
                <p:cNvPr id="20" name="椭圆 19"/>
                <p:cNvSpPr/>
                <p:nvPr/>
              </p:nvSpPr>
              <p:spPr>
                <a:xfrm>
                  <a:off x="1827404" y="5257752"/>
                  <a:ext cx="382458" cy="59563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1" name="椭圆 20"/>
                <p:cNvSpPr/>
                <p:nvPr/>
              </p:nvSpPr>
              <p:spPr>
                <a:xfrm>
                  <a:off x="1822333" y="5192952"/>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2" name="椭圆 21"/>
                <p:cNvSpPr/>
                <p:nvPr/>
              </p:nvSpPr>
              <p:spPr>
                <a:xfrm>
                  <a:off x="1822333" y="5621722"/>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3" name="椭圆 22"/>
                <p:cNvSpPr/>
                <p:nvPr/>
              </p:nvSpPr>
              <p:spPr>
                <a:xfrm rot="9083987">
                  <a:off x="2371115" y="5290261"/>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sp>
            <p:nvSpPr>
              <p:cNvPr id="25" name="椭圆 24"/>
              <p:cNvSpPr/>
              <p:nvPr/>
            </p:nvSpPr>
            <p:spPr>
              <a:xfrm>
                <a:off x="2355722" y="5391224"/>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6" name="椭圆 25"/>
              <p:cNvSpPr/>
              <p:nvPr/>
            </p:nvSpPr>
            <p:spPr>
              <a:xfrm>
                <a:off x="2595328" y="5621722"/>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27" name="椭圆 26"/>
              <p:cNvSpPr/>
              <p:nvPr/>
            </p:nvSpPr>
            <p:spPr>
              <a:xfrm>
                <a:off x="2834934" y="5180876"/>
                <a:ext cx="273771" cy="80481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sp>
          <p:nvSpPr>
            <p:cNvPr id="29" name="文本框 28"/>
            <p:cNvSpPr txBox="1"/>
            <p:nvPr/>
          </p:nvSpPr>
          <p:spPr>
            <a:xfrm>
              <a:off x="3389926" y="6205428"/>
              <a:ext cx="2629836"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000000"/>
                  </a:solidFill>
                  <a:sym typeface="+mn-ea"/>
                </a:rPr>
                <a:t>数字喷泉码的形象说明</a:t>
              </a:r>
            </a:p>
          </p:txBody>
        </p:sp>
      </p:gr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数字喷泉码的发展</a:t>
            </a:r>
          </a:p>
        </p:txBody>
      </p:sp>
      <p:sp>
        <p:nvSpPr>
          <p:cNvPr id="6" name="文本框 5"/>
          <p:cNvSpPr txBox="1"/>
          <p:nvPr/>
        </p:nvSpPr>
        <p:spPr>
          <a:xfrm>
            <a:off x="2965569" y="1000785"/>
            <a:ext cx="7449581" cy="168821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en-US" altLang="zh-CN" dirty="0">
                <a:solidFill>
                  <a:srgbClr val="000000"/>
                </a:solidFill>
                <a:latin typeface="Times New Roman"/>
                <a:sym typeface="+mn-ea"/>
              </a:rPr>
              <a:t>         John Byers </a:t>
            </a:r>
            <a:r>
              <a:rPr lang="zh-CN" altLang="en-US" dirty="0">
                <a:solidFill>
                  <a:srgbClr val="000000"/>
                </a:solidFill>
                <a:latin typeface="Times New Roman"/>
                <a:sym typeface="+mn-ea"/>
              </a:rPr>
              <a:t>及</a:t>
            </a:r>
            <a:r>
              <a:rPr lang="en-US" altLang="zh-CN" dirty="0">
                <a:solidFill>
                  <a:srgbClr val="000000"/>
                </a:solidFill>
                <a:latin typeface="Times New Roman"/>
                <a:sym typeface="+mn-ea"/>
              </a:rPr>
              <a:t>Michael </a:t>
            </a:r>
            <a:r>
              <a:rPr lang="en-US" altLang="zh-CN" dirty="0" err="1">
                <a:solidFill>
                  <a:srgbClr val="000000"/>
                </a:solidFill>
                <a:latin typeface="Times New Roman"/>
                <a:sym typeface="+mn-ea"/>
              </a:rPr>
              <a:t>Luby</a:t>
            </a:r>
            <a:r>
              <a:rPr lang="en-US" altLang="zh-CN" dirty="0">
                <a:solidFill>
                  <a:srgbClr val="000000"/>
                </a:solidFill>
                <a:latin typeface="Times New Roman"/>
                <a:sym typeface="+mn-ea"/>
              </a:rPr>
              <a:t> </a:t>
            </a:r>
            <a:r>
              <a:rPr lang="zh-CN" altLang="en-US" dirty="0">
                <a:solidFill>
                  <a:srgbClr val="000000"/>
                </a:solidFill>
                <a:latin typeface="Times New Roman"/>
                <a:sym typeface="+mn-ea"/>
              </a:rPr>
              <a:t>等人于</a:t>
            </a:r>
            <a:r>
              <a:rPr lang="en-US" altLang="zh-CN" dirty="0">
                <a:solidFill>
                  <a:srgbClr val="FF0000"/>
                </a:solidFill>
                <a:latin typeface="Times New Roman"/>
                <a:sym typeface="+mn-ea"/>
              </a:rPr>
              <a:t>1998 </a:t>
            </a:r>
            <a:r>
              <a:rPr lang="zh-CN" altLang="en-US" dirty="0">
                <a:solidFill>
                  <a:srgbClr val="FF0000"/>
                </a:solidFill>
                <a:latin typeface="Times New Roman"/>
                <a:sym typeface="+mn-ea"/>
              </a:rPr>
              <a:t>年首次提出了数字喷泉</a:t>
            </a:r>
            <a:r>
              <a:rPr lang="en-US" altLang="zh-CN" dirty="0">
                <a:solidFill>
                  <a:srgbClr val="FF0000"/>
                </a:solidFill>
                <a:latin typeface="Times New Roman"/>
                <a:sym typeface="+mn-ea"/>
              </a:rPr>
              <a:t>(Digital Fountain)</a:t>
            </a:r>
            <a:r>
              <a:rPr lang="zh-CN" altLang="en-US" dirty="0">
                <a:solidFill>
                  <a:srgbClr val="FF0000"/>
                </a:solidFill>
                <a:latin typeface="Times New Roman"/>
                <a:sym typeface="+mn-ea"/>
              </a:rPr>
              <a:t>的概念</a:t>
            </a:r>
            <a:r>
              <a:rPr lang="zh-CN" altLang="en-US" dirty="0">
                <a:solidFill>
                  <a:srgbClr val="000000"/>
                </a:solidFill>
                <a:latin typeface="Times New Roman"/>
                <a:sym typeface="+mn-ea"/>
              </a:rPr>
              <a:t>，它是针对大规模数据分发和可靠广播的应用特点而提出的一种理想的解决方案。但当时并未给出实用数字喷泉码设计方案。</a:t>
            </a:r>
            <a:endParaRPr lang="en-US" altLang="zh-CN" dirty="0">
              <a:solidFill>
                <a:srgbClr val="000000"/>
              </a:solidFill>
              <a:latin typeface="Times New Roman"/>
              <a:sym typeface="+mn-ea"/>
            </a:endParaRPr>
          </a:p>
        </p:txBody>
      </p:sp>
      <p:grpSp>
        <p:nvGrpSpPr>
          <p:cNvPr id="5" name="组合 38"/>
          <p:cNvGrpSpPr/>
          <p:nvPr/>
        </p:nvGrpSpPr>
        <p:grpSpPr bwMode="auto">
          <a:xfrm>
            <a:off x="1776852" y="1348485"/>
            <a:ext cx="992815" cy="992816"/>
            <a:chOff x="0" y="0"/>
            <a:chExt cx="941070" cy="941070"/>
          </a:xfrm>
          <a:solidFill>
            <a:schemeClr val="accent1"/>
          </a:solidFill>
        </p:grpSpPr>
        <p:sp>
          <p:nvSpPr>
            <p:cNvPr id="7" name="圆角矩形 4"/>
            <p:cNvSpPr>
              <a:spLocks noChangeArrowheads="1"/>
            </p:cNvSpPr>
            <p:nvPr/>
          </p:nvSpPr>
          <p:spPr bwMode="auto">
            <a:xfrm>
              <a:off x="0" y="0"/>
              <a:ext cx="941070" cy="941070"/>
            </a:xfrm>
            <a:prstGeom prst="roundRect">
              <a:avLst>
                <a:gd name="adj" fmla="val 13333"/>
              </a:avLst>
            </a:prstGeom>
            <a:grpFill/>
            <a:ln w="12700" cmpd="sng">
              <a:solidFill>
                <a:schemeClr val="bg1">
                  <a:alpha val="59000"/>
                </a:schemeClr>
              </a:solidFill>
              <a:round/>
            </a:ln>
          </p:spPr>
          <p:txBody>
            <a:bodyPr anchor="ctr"/>
            <a:lstStyle/>
            <a:p>
              <a:pPr algn="ctr" fontAlgn="base">
                <a:lnSpc>
                  <a:spcPct val="150000"/>
                </a:lnSpc>
                <a:spcBef>
                  <a:spcPct val="0"/>
                </a:spcBef>
                <a:spcAft>
                  <a:spcPct val="0"/>
                </a:spcAft>
              </a:pPr>
              <a:endParaRPr lang="zh-CN" altLang="en-US">
                <a:solidFill>
                  <a:srgbClr val="FFFFFF">
                    <a:lumMod val="65000"/>
                  </a:srgbClr>
                </a:solidFill>
                <a:latin typeface="Arial" panose="020B0604020202020204" pitchFamily="34" charset="0"/>
                <a:ea typeface="微软雅黑" panose="020B0503020204020204" charset="-122"/>
                <a:sym typeface="Arial" panose="020B0604020202020204" pitchFamily="34" charset="0"/>
              </a:endParaRPr>
            </a:p>
          </p:txBody>
        </p:sp>
        <p:sp>
          <p:nvSpPr>
            <p:cNvPr id="9" name="Freeform 10"/>
            <p:cNvSpPr>
              <a:spLocks noEditPoints="1"/>
            </p:cNvSpPr>
            <p:nvPr/>
          </p:nvSpPr>
          <p:spPr bwMode="auto">
            <a:xfrm>
              <a:off x="174430" y="206113"/>
              <a:ext cx="628568" cy="528844"/>
            </a:xfrm>
            <a:custGeom>
              <a:avLst/>
              <a:gdLst>
                <a:gd name="T0" fmla="*/ 1050 w 1051"/>
                <a:gd name="T1" fmla="*/ 533 h 884"/>
                <a:gd name="T2" fmla="*/ 1048 w 1051"/>
                <a:gd name="T3" fmla="*/ 520 h 884"/>
                <a:gd name="T4" fmla="*/ 1046 w 1051"/>
                <a:gd name="T5" fmla="*/ 505 h 884"/>
                <a:gd name="T6" fmla="*/ 1042 w 1051"/>
                <a:gd name="T7" fmla="*/ 489 h 884"/>
                <a:gd name="T8" fmla="*/ 1040 w 1051"/>
                <a:gd name="T9" fmla="*/ 479 h 884"/>
                <a:gd name="T10" fmla="*/ 1034 w 1051"/>
                <a:gd name="T11" fmla="*/ 460 h 884"/>
                <a:gd name="T12" fmla="*/ 1034 w 1051"/>
                <a:gd name="T13" fmla="*/ 459 h 884"/>
                <a:gd name="T14" fmla="*/ 894 w 1051"/>
                <a:gd name="T15" fmla="*/ 287 h 884"/>
                <a:gd name="T16" fmla="*/ 889 w 1051"/>
                <a:gd name="T17" fmla="*/ 284 h 884"/>
                <a:gd name="T18" fmla="*/ 873 w 1051"/>
                <a:gd name="T19" fmla="*/ 275 h 884"/>
                <a:gd name="T20" fmla="*/ 863 w 1051"/>
                <a:gd name="T21" fmla="*/ 271 h 884"/>
                <a:gd name="T22" fmla="*/ 848 w 1051"/>
                <a:gd name="T23" fmla="*/ 264 h 884"/>
                <a:gd name="T24" fmla="*/ 837 w 1051"/>
                <a:gd name="T25" fmla="*/ 260 h 884"/>
                <a:gd name="T26" fmla="*/ 821 w 1051"/>
                <a:gd name="T27" fmla="*/ 255 h 884"/>
                <a:gd name="T28" fmla="*/ 819 w 1051"/>
                <a:gd name="T29" fmla="*/ 254 h 884"/>
                <a:gd name="T30" fmla="*/ 511 w 1051"/>
                <a:gd name="T31" fmla="*/ 0 h 884"/>
                <a:gd name="T32" fmla="*/ 196 w 1051"/>
                <a:gd name="T33" fmla="*/ 315 h 884"/>
                <a:gd name="T34" fmla="*/ 197 w 1051"/>
                <a:gd name="T35" fmla="*/ 330 h 884"/>
                <a:gd name="T36" fmla="*/ 0 w 1051"/>
                <a:gd name="T37" fmla="*/ 600 h 884"/>
                <a:gd name="T38" fmla="*/ 283 w 1051"/>
                <a:gd name="T39" fmla="*/ 884 h 884"/>
                <a:gd name="T40" fmla="*/ 730 w 1051"/>
                <a:gd name="T41" fmla="*/ 884 h 884"/>
                <a:gd name="T42" fmla="*/ 1051 w 1051"/>
                <a:gd name="T43" fmla="*/ 562 h 884"/>
                <a:gd name="T44" fmla="*/ 1050 w 1051"/>
                <a:gd name="T45" fmla="*/ 533 h 884"/>
                <a:gd name="T46" fmla="*/ 730 w 1051"/>
                <a:gd name="T47" fmla="*/ 825 h 884"/>
                <a:gd name="T48" fmla="*/ 283 w 1051"/>
                <a:gd name="T49" fmla="*/ 825 h 884"/>
                <a:gd name="T50" fmla="*/ 59 w 1051"/>
                <a:gd name="T51" fmla="*/ 600 h 884"/>
                <a:gd name="T52" fmla="*/ 205 w 1051"/>
                <a:gd name="T53" fmla="*/ 389 h 884"/>
                <a:gd name="T54" fmla="*/ 265 w 1051"/>
                <a:gd name="T55" fmla="*/ 512 h 884"/>
                <a:gd name="T56" fmla="*/ 288 w 1051"/>
                <a:gd name="T57" fmla="*/ 523 h 884"/>
                <a:gd name="T58" fmla="*/ 307 w 1051"/>
                <a:gd name="T59" fmla="*/ 516 h 884"/>
                <a:gd name="T60" fmla="*/ 311 w 1051"/>
                <a:gd name="T61" fmla="*/ 475 h 884"/>
                <a:gd name="T62" fmla="*/ 257 w 1051"/>
                <a:gd name="T63" fmla="*/ 348 h 884"/>
                <a:gd name="T64" fmla="*/ 257 w 1051"/>
                <a:gd name="T65" fmla="*/ 348 h 884"/>
                <a:gd name="T66" fmla="*/ 255 w 1051"/>
                <a:gd name="T67" fmla="*/ 331 h 884"/>
                <a:gd name="T68" fmla="*/ 255 w 1051"/>
                <a:gd name="T69" fmla="*/ 315 h 884"/>
                <a:gd name="T70" fmla="*/ 511 w 1051"/>
                <a:gd name="T71" fmla="*/ 59 h 884"/>
                <a:gd name="T72" fmla="*/ 756 w 1051"/>
                <a:gd name="T73" fmla="*/ 243 h 884"/>
                <a:gd name="T74" fmla="*/ 730 w 1051"/>
                <a:gd name="T75" fmla="*/ 241 h 884"/>
                <a:gd name="T76" fmla="*/ 532 w 1051"/>
                <a:gd name="T77" fmla="*/ 310 h 884"/>
                <a:gd name="T78" fmla="*/ 527 w 1051"/>
                <a:gd name="T79" fmla="*/ 351 h 884"/>
                <a:gd name="T80" fmla="*/ 568 w 1051"/>
                <a:gd name="T81" fmla="*/ 356 h 884"/>
                <a:gd name="T82" fmla="*/ 730 w 1051"/>
                <a:gd name="T83" fmla="*/ 300 h 884"/>
                <a:gd name="T84" fmla="*/ 792 w 1051"/>
                <a:gd name="T85" fmla="*/ 307 h 884"/>
                <a:gd name="T86" fmla="*/ 846 w 1051"/>
                <a:gd name="T87" fmla="*/ 327 h 884"/>
                <a:gd name="T88" fmla="*/ 851 w 1051"/>
                <a:gd name="T89" fmla="*/ 330 h 884"/>
                <a:gd name="T90" fmla="*/ 866 w 1051"/>
                <a:gd name="T91" fmla="*/ 338 h 884"/>
                <a:gd name="T92" fmla="*/ 871 w 1051"/>
                <a:gd name="T93" fmla="*/ 341 h 884"/>
                <a:gd name="T94" fmla="*/ 886 w 1051"/>
                <a:gd name="T95" fmla="*/ 352 h 884"/>
                <a:gd name="T96" fmla="*/ 888 w 1051"/>
                <a:gd name="T97" fmla="*/ 353 h 884"/>
                <a:gd name="T98" fmla="*/ 977 w 1051"/>
                <a:gd name="T99" fmla="*/ 473 h 884"/>
                <a:gd name="T100" fmla="*/ 978 w 1051"/>
                <a:gd name="T101" fmla="*/ 476 h 884"/>
                <a:gd name="T102" fmla="*/ 983 w 1051"/>
                <a:gd name="T103" fmla="*/ 493 h 884"/>
                <a:gd name="T104" fmla="*/ 985 w 1051"/>
                <a:gd name="T105" fmla="*/ 500 h 884"/>
                <a:gd name="T106" fmla="*/ 988 w 1051"/>
                <a:gd name="T107" fmla="*/ 515 h 884"/>
                <a:gd name="T108" fmla="*/ 990 w 1051"/>
                <a:gd name="T109" fmla="*/ 527 h 884"/>
                <a:gd name="T110" fmla="*/ 991 w 1051"/>
                <a:gd name="T111" fmla="*/ 538 h 884"/>
                <a:gd name="T112" fmla="*/ 993 w 1051"/>
                <a:gd name="T113" fmla="*/ 562 h 884"/>
                <a:gd name="T114" fmla="*/ 730 w 1051"/>
                <a:gd name="T115" fmla="*/ 825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51" h="884">
                  <a:moveTo>
                    <a:pt x="1050" y="533"/>
                  </a:moveTo>
                  <a:cubicBezTo>
                    <a:pt x="1049" y="529"/>
                    <a:pt x="1049" y="525"/>
                    <a:pt x="1048" y="520"/>
                  </a:cubicBezTo>
                  <a:cubicBezTo>
                    <a:pt x="1048" y="515"/>
                    <a:pt x="1047" y="510"/>
                    <a:pt x="1046" y="505"/>
                  </a:cubicBezTo>
                  <a:cubicBezTo>
                    <a:pt x="1045" y="500"/>
                    <a:pt x="1044" y="494"/>
                    <a:pt x="1042" y="489"/>
                  </a:cubicBezTo>
                  <a:cubicBezTo>
                    <a:pt x="1042" y="485"/>
                    <a:pt x="1041" y="482"/>
                    <a:pt x="1040" y="479"/>
                  </a:cubicBezTo>
                  <a:cubicBezTo>
                    <a:pt x="1038" y="473"/>
                    <a:pt x="1036" y="466"/>
                    <a:pt x="1034" y="460"/>
                  </a:cubicBezTo>
                  <a:cubicBezTo>
                    <a:pt x="1034" y="459"/>
                    <a:pt x="1034" y="459"/>
                    <a:pt x="1034" y="459"/>
                  </a:cubicBezTo>
                  <a:cubicBezTo>
                    <a:pt x="1009" y="386"/>
                    <a:pt x="959" y="326"/>
                    <a:pt x="894" y="287"/>
                  </a:cubicBezTo>
                  <a:cubicBezTo>
                    <a:pt x="893" y="286"/>
                    <a:pt x="891" y="285"/>
                    <a:pt x="889" y="284"/>
                  </a:cubicBezTo>
                  <a:cubicBezTo>
                    <a:pt x="884" y="281"/>
                    <a:pt x="878" y="278"/>
                    <a:pt x="873" y="275"/>
                  </a:cubicBezTo>
                  <a:cubicBezTo>
                    <a:pt x="870" y="274"/>
                    <a:pt x="867" y="272"/>
                    <a:pt x="863" y="271"/>
                  </a:cubicBezTo>
                  <a:cubicBezTo>
                    <a:pt x="858" y="268"/>
                    <a:pt x="853" y="266"/>
                    <a:pt x="848" y="264"/>
                  </a:cubicBezTo>
                  <a:cubicBezTo>
                    <a:pt x="844" y="262"/>
                    <a:pt x="840" y="261"/>
                    <a:pt x="837" y="260"/>
                  </a:cubicBezTo>
                  <a:cubicBezTo>
                    <a:pt x="831" y="258"/>
                    <a:pt x="826" y="256"/>
                    <a:pt x="821" y="255"/>
                  </a:cubicBezTo>
                  <a:cubicBezTo>
                    <a:pt x="820" y="254"/>
                    <a:pt x="819" y="254"/>
                    <a:pt x="819" y="254"/>
                  </a:cubicBezTo>
                  <a:cubicBezTo>
                    <a:pt x="790" y="108"/>
                    <a:pt x="661" y="0"/>
                    <a:pt x="511" y="0"/>
                  </a:cubicBezTo>
                  <a:cubicBezTo>
                    <a:pt x="337" y="0"/>
                    <a:pt x="196" y="141"/>
                    <a:pt x="196" y="315"/>
                  </a:cubicBezTo>
                  <a:cubicBezTo>
                    <a:pt x="196" y="320"/>
                    <a:pt x="196" y="325"/>
                    <a:pt x="197" y="330"/>
                  </a:cubicBezTo>
                  <a:cubicBezTo>
                    <a:pt x="81" y="367"/>
                    <a:pt x="0" y="477"/>
                    <a:pt x="0" y="600"/>
                  </a:cubicBezTo>
                  <a:cubicBezTo>
                    <a:pt x="0" y="756"/>
                    <a:pt x="127" y="884"/>
                    <a:pt x="283" y="884"/>
                  </a:cubicBezTo>
                  <a:cubicBezTo>
                    <a:pt x="730" y="884"/>
                    <a:pt x="730" y="884"/>
                    <a:pt x="730" y="884"/>
                  </a:cubicBezTo>
                  <a:cubicBezTo>
                    <a:pt x="907" y="884"/>
                    <a:pt x="1051" y="739"/>
                    <a:pt x="1051" y="562"/>
                  </a:cubicBezTo>
                  <a:cubicBezTo>
                    <a:pt x="1051" y="552"/>
                    <a:pt x="1051" y="543"/>
                    <a:pt x="1050" y="533"/>
                  </a:cubicBezTo>
                  <a:close/>
                  <a:moveTo>
                    <a:pt x="730" y="825"/>
                  </a:moveTo>
                  <a:cubicBezTo>
                    <a:pt x="283" y="825"/>
                    <a:pt x="283" y="825"/>
                    <a:pt x="283" y="825"/>
                  </a:cubicBezTo>
                  <a:cubicBezTo>
                    <a:pt x="159" y="825"/>
                    <a:pt x="59" y="724"/>
                    <a:pt x="59" y="600"/>
                  </a:cubicBezTo>
                  <a:cubicBezTo>
                    <a:pt x="59" y="506"/>
                    <a:pt x="119" y="421"/>
                    <a:pt x="205" y="389"/>
                  </a:cubicBezTo>
                  <a:cubicBezTo>
                    <a:pt x="216" y="434"/>
                    <a:pt x="236" y="476"/>
                    <a:pt x="265" y="512"/>
                  </a:cubicBezTo>
                  <a:cubicBezTo>
                    <a:pt x="271" y="519"/>
                    <a:pt x="280" y="523"/>
                    <a:pt x="288" y="523"/>
                  </a:cubicBezTo>
                  <a:cubicBezTo>
                    <a:pt x="295" y="523"/>
                    <a:pt x="301" y="520"/>
                    <a:pt x="307" y="516"/>
                  </a:cubicBezTo>
                  <a:cubicBezTo>
                    <a:pt x="319" y="506"/>
                    <a:pt x="321" y="487"/>
                    <a:pt x="311" y="475"/>
                  </a:cubicBezTo>
                  <a:cubicBezTo>
                    <a:pt x="281" y="438"/>
                    <a:pt x="263" y="395"/>
                    <a:pt x="257" y="348"/>
                  </a:cubicBezTo>
                  <a:cubicBezTo>
                    <a:pt x="257" y="348"/>
                    <a:pt x="257" y="348"/>
                    <a:pt x="257" y="348"/>
                  </a:cubicBezTo>
                  <a:cubicBezTo>
                    <a:pt x="256" y="342"/>
                    <a:pt x="256" y="336"/>
                    <a:pt x="255" y="331"/>
                  </a:cubicBezTo>
                  <a:cubicBezTo>
                    <a:pt x="255" y="326"/>
                    <a:pt x="255" y="320"/>
                    <a:pt x="255" y="315"/>
                  </a:cubicBezTo>
                  <a:cubicBezTo>
                    <a:pt x="255" y="174"/>
                    <a:pt x="369" y="59"/>
                    <a:pt x="511" y="59"/>
                  </a:cubicBezTo>
                  <a:cubicBezTo>
                    <a:pt x="625" y="59"/>
                    <a:pt x="724" y="136"/>
                    <a:pt x="756" y="243"/>
                  </a:cubicBezTo>
                  <a:cubicBezTo>
                    <a:pt x="747" y="242"/>
                    <a:pt x="739" y="241"/>
                    <a:pt x="730" y="241"/>
                  </a:cubicBezTo>
                  <a:cubicBezTo>
                    <a:pt x="657" y="241"/>
                    <a:pt x="589" y="265"/>
                    <a:pt x="532" y="310"/>
                  </a:cubicBezTo>
                  <a:cubicBezTo>
                    <a:pt x="519" y="320"/>
                    <a:pt x="517" y="338"/>
                    <a:pt x="527" y="351"/>
                  </a:cubicBezTo>
                  <a:cubicBezTo>
                    <a:pt x="537" y="364"/>
                    <a:pt x="555" y="366"/>
                    <a:pt x="568" y="356"/>
                  </a:cubicBezTo>
                  <a:cubicBezTo>
                    <a:pt x="615" y="319"/>
                    <a:pt x="671" y="300"/>
                    <a:pt x="730" y="300"/>
                  </a:cubicBezTo>
                  <a:cubicBezTo>
                    <a:pt x="751" y="300"/>
                    <a:pt x="772" y="303"/>
                    <a:pt x="792" y="307"/>
                  </a:cubicBezTo>
                  <a:cubicBezTo>
                    <a:pt x="811" y="312"/>
                    <a:pt x="829" y="319"/>
                    <a:pt x="846" y="327"/>
                  </a:cubicBezTo>
                  <a:cubicBezTo>
                    <a:pt x="848" y="328"/>
                    <a:pt x="849" y="329"/>
                    <a:pt x="851" y="330"/>
                  </a:cubicBezTo>
                  <a:cubicBezTo>
                    <a:pt x="856" y="332"/>
                    <a:pt x="861" y="335"/>
                    <a:pt x="866" y="338"/>
                  </a:cubicBezTo>
                  <a:cubicBezTo>
                    <a:pt x="868" y="339"/>
                    <a:pt x="869" y="340"/>
                    <a:pt x="871" y="341"/>
                  </a:cubicBezTo>
                  <a:cubicBezTo>
                    <a:pt x="876" y="344"/>
                    <a:pt x="881" y="348"/>
                    <a:pt x="886" y="352"/>
                  </a:cubicBezTo>
                  <a:cubicBezTo>
                    <a:pt x="887" y="352"/>
                    <a:pt x="888" y="353"/>
                    <a:pt x="888" y="353"/>
                  </a:cubicBezTo>
                  <a:cubicBezTo>
                    <a:pt x="928" y="384"/>
                    <a:pt x="959" y="425"/>
                    <a:pt x="977" y="473"/>
                  </a:cubicBezTo>
                  <a:cubicBezTo>
                    <a:pt x="977" y="474"/>
                    <a:pt x="977" y="475"/>
                    <a:pt x="978" y="476"/>
                  </a:cubicBezTo>
                  <a:cubicBezTo>
                    <a:pt x="980" y="481"/>
                    <a:pt x="981" y="487"/>
                    <a:pt x="983" y="493"/>
                  </a:cubicBezTo>
                  <a:cubicBezTo>
                    <a:pt x="984" y="495"/>
                    <a:pt x="984" y="498"/>
                    <a:pt x="985" y="500"/>
                  </a:cubicBezTo>
                  <a:cubicBezTo>
                    <a:pt x="986" y="505"/>
                    <a:pt x="987" y="510"/>
                    <a:pt x="988" y="515"/>
                  </a:cubicBezTo>
                  <a:cubicBezTo>
                    <a:pt x="989" y="519"/>
                    <a:pt x="989" y="523"/>
                    <a:pt x="990" y="527"/>
                  </a:cubicBezTo>
                  <a:cubicBezTo>
                    <a:pt x="990" y="530"/>
                    <a:pt x="991" y="534"/>
                    <a:pt x="991" y="538"/>
                  </a:cubicBezTo>
                  <a:cubicBezTo>
                    <a:pt x="992" y="546"/>
                    <a:pt x="993" y="554"/>
                    <a:pt x="993" y="562"/>
                  </a:cubicBezTo>
                  <a:cubicBezTo>
                    <a:pt x="993" y="707"/>
                    <a:pt x="875" y="825"/>
                    <a:pt x="730" y="825"/>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50000"/>
                </a:lnSpc>
                <a:spcBef>
                  <a:spcPct val="0"/>
                </a:spcBef>
                <a:spcAft>
                  <a:spcPct val="0"/>
                </a:spcAft>
              </a:pPr>
              <a:endParaRPr lang="zh-CN" altLang="en-US">
                <a:solidFill>
                  <a:srgbClr val="FFFFFF">
                    <a:lumMod val="65000"/>
                  </a:srgbClr>
                </a:solidFill>
                <a:latin typeface="Arial" panose="020B0604020202020204" pitchFamily="34" charset="0"/>
                <a:ea typeface="微软雅黑" panose="020B0503020204020204" charset="-122"/>
                <a:sym typeface="Arial" panose="020B0604020202020204" pitchFamily="34" charset="0"/>
              </a:endParaRPr>
            </a:p>
          </p:txBody>
        </p:sp>
      </p:grpSp>
      <p:grpSp>
        <p:nvGrpSpPr>
          <p:cNvPr id="13" name="组合 39"/>
          <p:cNvGrpSpPr/>
          <p:nvPr/>
        </p:nvGrpSpPr>
        <p:grpSpPr bwMode="auto">
          <a:xfrm>
            <a:off x="1776852" y="3113327"/>
            <a:ext cx="992815" cy="992816"/>
            <a:chOff x="0" y="0"/>
            <a:chExt cx="941070" cy="941070"/>
          </a:xfrm>
          <a:solidFill>
            <a:schemeClr val="accent2"/>
          </a:solidFill>
        </p:grpSpPr>
        <p:sp>
          <p:nvSpPr>
            <p:cNvPr id="14" name="圆角矩形 18"/>
            <p:cNvSpPr>
              <a:spLocks noChangeArrowheads="1"/>
            </p:cNvSpPr>
            <p:nvPr/>
          </p:nvSpPr>
          <p:spPr bwMode="auto">
            <a:xfrm>
              <a:off x="0" y="0"/>
              <a:ext cx="941070" cy="941070"/>
            </a:xfrm>
            <a:prstGeom prst="roundRect">
              <a:avLst>
                <a:gd name="adj" fmla="val 13333"/>
              </a:avLst>
            </a:prstGeom>
            <a:grpFill/>
            <a:ln w="12700" cmpd="sng">
              <a:solidFill>
                <a:schemeClr val="bg1">
                  <a:alpha val="59000"/>
                </a:schemeClr>
              </a:solidFill>
              <a:round/>
            </a:ln>
          </p:spPr>
          <p:txBody>
            <a:bodyPr anchor="ctr"/>
            <a:lstStyle/>
            <a:p>
              <a:pPr algn="ctr" fontAlgn="base">
                <a:lnSpc>
                  <a:spcPct val="150000"/>
                </a:lnSpc>
                <a:spcBef>
                  <a:spcPct val="0"/>
                </a:spcBef>
                <a:spcAft>
                  <a:spcPct val="0"/>
                </a:spcAft>
              </a:pPr>
              <a:endParaRPr lang="zh-CN" altLang="en-US">
                <a:solidFill>
                  <a:srgbClr val="FFFFFF">
                    <a:lumMod val="65000"/>
                  </a:srgbClr>
                </a:solidFill>
                <a:latin typeface="Arial" panose="020B0604020202020204" pitchFamily="34" charset="0"/>
                <a:ea typeface="微软雅黑" panose="020B0503020204020204" charset="-122"/>
                <a:sym typeface="Arial" panose="020B0604020202020204" pitchFamily="34" charset="0"/>
              </a:endParaRPr>
            </a:p>
          </p:txBody>
        </p:sp>
        <p:pic>
          <p:nvPicPr>
            <p:cNvPr id="15" name="组合 25"/>
            <p:cNvPicPr>
              <a:picLocks noChangeArrowheads="1"/>
            </p:cNvPicPr>
            <p:nvPr/>
          </p:nvPicPr>
          <p:blipFill>
            <a:blip r:embed="rId2"/>
            <a:srcRect/>
            <a:stretch>
              <a:fillRect/>
            </a:stretch>
          </p:blipFill>
          <p:spPr bwMode="auto">
            <a:xfrm>
              <a:off x="148730" y="152602"/>
              <a:ext cx="645958" cy="62158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6" name="组合 41"/>
          <p:cNvGrpSpPr/>
          <p:nvPr/>
        </p:nvGrpSpPr>
        <p:grpSpPr bwMode="auto">
          <a:xfrm>
            <a:off x="1796029" y="4795661"/>
            <a:ext cx="992816" cy="992816"/>
            <a:chOff x="0" y="0"/>
            <a:chExt cx="941070" cy="941070"/>
          </a:xfrm>
          <a:solidFill>
            <a:schemeClr val="accent4"/>
          </a:solidFill>
        </p:grpSpPr>
        <p:sp>
          <p:nvSpPr>
            <p:cNvPr id="17" name="圆角矩形 20"/>
            <p:cNvSpPr>
              <a:spLocks noChangeArrowheads="1"/>
            </p:cNvSpPr>
            <p:nvPr/>
          </p:nvSpPr>
          <p:spPr bwMode="auto">
            <a:xfrm>
              <a:off x="0" y="0"/>
              <a:ext cx="941070" cy="941070"/>
            </a:xfrm>
            <a:prstGeom prst="roundRect">
              <a:avLst>
                <a:gd name="adj" fmla="val 13333"/>
              </a:avLst>
            </a:prstGeom>
            <a:grpFill/>
            <a:ln w="12700" cmpd="sng">
              <a:solidFill>
                <a:schemeClr val="bg1">
                  <a:alpha val="59000"/>
                </a:schemeClr>
              </a:solidFill>
              <a:round/>
            </a:ln>
          </p:spPr>
          <p:txBody>
            <a:bodyPr anchor="ctr"/>
            <a:lstStyle/>
            <a:p>
              <a:pPr algn="ctr" fontAlgn="base">
                <a:lnSpc>
                  <a:spcPct val="150000"/>
                </a:lnSpc>
                <a:spcBef>
                  <a:spcPct val="0"/>
                </a:spcBef>
                <a:spcAft>
                  <a:spcPct val="0"/>
                </a:spcAft>
              </a:pPr>
              <a:endParaRPr lang="zh-CN" altLang="en-US">
                <a:solidFill>
                  <a:srgbClr val="FFFFFF">
                    <a:lumMod val="65000"/>
                  </a:srgbClr>
                </a:solidFill>
                <a:latin typeface="Arial" panose="020B0604020202020204" pitchFamily="34" charset="0"/>
                <a:ea typeface="微软雅黑" panose="020B0503020204020204" charset="-122"/>
                <a:sym typeface="Arial" panose="020B0604020202020204" pitchFamily="34" charset="0"/>
              </a:endParaRPr>
            </a:p>
          </p:txBody>
        </p:sp>
        <p:pic>
          <p:nvPicPr>
            <p:cNvPr id="18" name="组合 30"/>
            <p:cNvPicPr>
              <a:picLocks noChangeArrowheads="1"/>
            </p:cNvPicPr>
            <p:nvPr/>
          </p:nvPicPr>
          <p:blipFill>
            <a:blip r:embed="rId3"/>
            <a:srcRect/>
            <a:stretch>
              <a:fillRect/>
            </a:stretch>
          </p:blipFill>
          <p:spPr bwMode="auto">
            <a:xfrm>
              <a:off x="213161" y="207448"/>
              <a:ext cx="560643" cy="55454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9" name="文本框 18"/>
          <p:cNvSpPr txBox="1"/>
          <p:nvPr/>
        </p:nvSpPr>
        <p:spPr>
          <a:xfrm>
            <a:off x="2983323" y="2970810"/>
            <a:ext cx="7449581" cy="127785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en-US" altLang="zh-CN" dirty="0">
                <a:solidFill>
                  <a:srgbClr val="000000"/>
                </a:solidFill>
                <a:latin typeface="Times New Roman"/>
                <a:sym typeface="+mn-ea"/>
              </a:rPr>
              <a:t>        </a:t>
            </a:r>
            <a:r>
              <a:rPr lang="en-US" altLang="zh-CN" dirty="0">
                <a:solidFill>
                  <a:srgbClr val="FF0000"/>
                </a:solidFill>
                <a:latin typeface="Times New Roman"/>
                <a:sym typeface="+mn-ea"/>
              </a:rPr>
              <a:t>2002</a:t>
            </a:r>
            <a:r>
              <a:rPr lang="zh-CN" altLang="en-US" dirty="0">
                <a:solidFill>
                  <a:srgbClr val="FF0000"/>
                </a:solidFill>
                <a:latin typeface="Times New Roman"/>
                <a:sym typeface="+mn-ea"/>
              </a:rPr>
              <a:t>年，</a:t>
            </a:r>
            <a:r>
              <a:rPr lang="en-US" altLang="zh-CN" dirty="0" err="1">
                <a:solidFill>
                  <a:srgbClr val="FF0000"/>
                </a:solidFill>
                <a:latin typeface="Times New Roman"/>
                <a:sym typeface="+mn-ea"/>
              </a:rPr>
              <a:t>M.Luby</a:t>
            </a:r>
            <a:r>
              <a:rPr lang="zh-CN" altLang="en-US" dirty="0">
                <a:solidFill>
                  <a:srgbClr val="FF0000"/>
                </a:solidFill>
                <a:latin typeface="Times New Roman"/>
                <a:sym typeface="+mn-ea"/>
              </a:rPr>
              <a:t>提出了第一种现实可行的喷泉码</a:t>
            </a:r>
            <a:r>
              <a:rPr lang="en-US" altLang="zh-CN" dirty="0">
                <a:solidFill>
                  <a:srgbClr val="FF0000"/>
                </a:solidFill>
                <a:latin typeface="Times New Roman"/>
                <a:sym typeface="+mn-ea"/>
              </a:rPr>
              <a:t>——LT</a:t>
            </a:r>
            <a:r>
              <a:rPr lang="zh-CN" altLang="en-US" dirty="0">
                <a:solidFill>
                  <a:srgbClr val="FF0000"/>
                </a:solidFill>
                <a:latin typeface="Times New Roman"/>
                <a:sym typeface="+mn-ea"/>
              </a:rPr>
              <a:t>码。</a:t>
            </a:r>
            <a:r>
              <a:rPr lang="zh-CN" altLang="en-US" dirty="0">
                <a:solidFill>
                  <a:srgbClr val="000000"/>
                </a:solidFill>
                <a:latin typeface="Times New Roman"/>
                <a:sym typeface="+mn-ea"/>
              </a:rPr>
              <a:t>在学术理论日渐完善的同时，喷泉码也日益受到产业界的关注，获得了越来越多的实际应用。</a:t>
            </a:r>
            <a:endParaRPr lang="en-US" altLang="zh-CN" dirty="0">
              <a:solidFill>
                <a:srgbClr val="000000"/>
              </a:solidFill>
              <a:latin typeface="Times New Roman"/>
              <a:sym typeface="+mn-ea"/>
            </a:endParaRPr>
          </a:p>
        </p:txBody>
      </p:sp>
      <p:sp>
        <p:nvSpPr>
          <p:cNvPr id="20" name="文本框 19"/>
          <p:cNvSpPr txBox="1"/>
          <p:nvPr/>
        </p:nvSpPr>
        <p:spPr>
          <a:xfrm>
            <a:off x="2965569" y="4579366"/>
            <a:ext cx="7449581" cy="127785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dirty="0">
                <a:solidFill>
                  <a:srgbClr val="000000"/>
                </a:solidFill>
                <a:latin typeface="Times New Roman"/>
                <a:sym typeface="+mn-ea"/>
              </a:rPr>
              <a:t>        </a:t>
            </a:r>
            <a:r>
              <a:rPr lang="zh-CN" altLang="en-US" dirty="0">
                <a:solidFill>
                  <a:srgbClr val="FF0000"/>
                </a:solidFill>
                <a:latin typeface="Times New Roman"/>
                <a:sym typeface="+mn-ea"/>
              </a:rPr>
              <a:t>目前，一种由</a:t>
            </a:r>
            <a:r>
              <a:rPr lang="en-US" altLang="zh-CN" dirty="0">
                <a:solidFill>
                  <a:srgbClr val="FF0000"/>
                </a:solidFill>
                <a:latin typeface="Times New Roman"/>
                <a:sym typeface="+mn-ea"/>
              </a:rPr>
              <a:t>Digital Fountain</a:t>
            </a:r>
            <a:r>
              <a:rPr lang="zh-CN" altLang="en-US" dirty="0">
                <a:solidFill>
                  <a:srgbClr val="FF0000"/>
                </a:solidFill>
                <a:latin typeface="Times New Roman"/>
                <a:sym typeface="+mn-ea"/>
              </a:rPr>
              <a:t>公司设计的系统</a:t>
            </a:r>
            <a:r>
              <a:rPr lang="en-US" altLang="zh-CN" dirty="0">
                <a:solidFill>
                  <a:srgbClr val="FF0000"/>
                </a:solidFill>
                <a:latin typeface="Times New Roman"/>
                <a:sym typeface="+mn-ea"/>
              </a:rPr>
              <a:t>Raptor</a:t>
            </a:r>
            <a:r>
              <a:rPr lang="zh-CN" altLang="en-US" dirty="0">
                <a:solidFill>
                  <a:srgbClr val="FF0000"/>
                </a:solidFill>
                <a:latin typeface="Times New Roman"/>
                <a:sym typeface="+mn-ea"/>
              </a:rPr>
              <a:t>码也已经被</a:t>
            </a:r>
            <a:r>
              <a:rPr lang="en-US" altLang="zh-CN" dirty="0">
                <a:solidFill>
                  <a:srgbClr val="000000"/>
                </a:solidFill>
                <a:latin typeface="Times New Roman"/>
                <a:sym typeface="+mn-ea"/>
              </a:rPr>
              <a:t>DVB-H</a:t>
            </a:r>
            <a:r>
              <a:rPr lang="zh-CN" altLang="en-US" dirty="0">
                <a:solidFill>
                  <a:srgbClr val="000000"/>
                </a:solidFill>
                <a:latin typeface="Times New Roman"/>
                <a:sym typeface="+mn-ea"/>
              </a:rPr>
              <a:t>标准和</a:t>
            </a:r>
            <a:r>
              <a:rPr lang="en-US" altLang="zh-CN" dirty="0">
                <a:solidFill>
                  <a:srgbClr val="000000"/>
                </a:solidFill>
                <a:latin typeface="Times New Roman"/>
                <a:sym typeface="+mn-ea"/>
              </a:rPr>
              <a:t>3GPP</a:t>
            </a:r>
            <a:r>
              <a:rPr lang="zh-CN" altLang="en-US" dirty="0">
                <a:solidFill>
                  <a:srgbClr val="000000"/>
                </a:solidFill>
                <a:latin typeface="Times New Roman"/>
                <a:sym typeface="+mn-ea"/>
              </a:rPr>
              <a:t>组织的</a:t>
            </a:r>
            <a:r>
              <a:rPr lang="en-US" altLang="zh-CN" dirty="0">
                <a:solidFill>
                  <a:srgbClr val="000000"/>
                </a:solidFill>
                <a:latin typeface="Times New Roman"/>
                <a:sym typeface="+mn-ea"/>
              </a:rPr>
              <a:t>MBMS</a:t>
            </a:r>
            <a:r>
              <a:rPr lang="zh-CN" altLang="en-US" dirty="0">
                <a:solidFill>
                  <a:srgbClr val="000000"/>
                </a:solidFill>
                <a:latin typeface="Times New Roman"/>
                <a:sym typeface="+mn-ea"/>
              </a:rPr>
              <a:t>标准</a:t>
            </a:r>
            <a:r>
              <a:rPr lang="zh-CN" altLang="en-US" dirty="0">
                <a:solidFill>
                  <a:srgbClr val="FF0000"/>
                </a:solidFill>
                <a:latin typeface="Times New Roman"/>
                <a:sym typeface="+mn-ea"/>
              </a:rPr>
              <a:t>采用</a:t>
            </a:r>
            <a:r>
              <a:rPr lang="zh-CN" altLang="en-US" dirty="0">
                <a:solidFill>
                  <a:srgbClr val="000000"/>
                </a:solidFill>
                <a:latin typeface="Times New Roman"/>
                <a:sym typeface="+mn-ea"/>
              </a:rPr>
              <a:t>，并且正在参与其他多项国际标准的制定。</a:t>
            </a:r>
            <a:endParaRPr lang="en-US" altLang="zh-CN" dirty="0">
              <a:solidFill>
                <a:srgbClr val="000000"/>
              </a:solidFill>
              <a:latin typeface="Times New Roman"/>
              <a:sym typeface="+mn-ea"/>
            </a:endParaRPr>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数字喷泉码的研究现状及方案</a:t>
            </a:r>
          </a:p>
        </p:txBody>
      </p:sp>
      <p:sp>
        <p:nvSpPr>
          <p:cNvPr id="6" name="文本框 5"/>
          <p:cNvSpPr txBox="1"/>
          <p:nvPr/>
        </p:nvSpPr>
        <p:spPr>
          <a:xfrm>
            <a:off x="1804302" y="1066862"/>
            <a:ext cx="8583399" cy="209858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dirty="0">
                <a:solidFill>
                  <a:srgbClr val="000000"/>
                </a:solidFill>
                <a:latin typeface="Times New Roman"/>
                <a:sym typeface="+mn-ea"/>
              </a:rPr>
              <a:t>喷泉码的研究现状：</a:t>
            </a:r>
            <a:endParaRPr lang="en-US" altLang="zh-CN" dirty="0">
              <a:solidFill>
                <a:srgbClr val="000000"/>
              </a:solidFill>
              <a:latin typeface="Times New Roman"/>
              <a:sym typeface="+mn-ea"/>
            </a:endParaRPr>
          </a:p>
          <a:p>
            <a:pPr eaLnBrk="0" fontAlgn="base" hangingPunct="0">
              <a:lnSpc>
                <a:spcPts val="3200"/>
              </a:lnSpc>
              <a:spcBef>
                <a:spcPct val="0"/>
              </a:spcBef>
              <a:spcAft>
                <a:spcPct val="0"/>
              </a:spcAft>
            </a:pPr>
            <a:r>
              <a:rPr lang="en-US" altLang="zh-CN" dirty="0">
                <a:solidFill>
                  <a:srgbClr val="000000"/>
                </a:solidFill>
                <a:latin typeface="Times New Roman"/>
                <a:sym typeface="+mn-ea"/>
              </a:rPr>
              <a:t>      (1)</a:t>
            </a:r>
            <a:r>
              <a:rPr lang="zh-CN" altLang="en-US" dirty="0">
                <a:solidFill>
                  <a:srgbClr val="000000"/>
                </a:solidFill>
                <a:latin typeface="Times New Roman"/>
                <a:sym typeface="+mn-ea"/>
              </a:rPr>
              <a:t>应该尽量减小译码开销</a:t>
            </a:r>
            <a:r>
              <a:rPr lang="en-US" altLang="zh-CN" i="1" dirty="0">
                <a:solidFill>
                  <a:srgbClr val="000000"/>
                </a:solidFill>
                <a:latin typeface="Times New Roman"/>
                <a:sym typeface="+mn-ea"/>
              </a:rPr>
              <a:t>ε</a:t>
            </a:r>
            <a:r>
              <a:rPr lang="en-US" altLang="zh-CN" dirty="0">
                <a:solidFill>
                  <a:srgbClr val="000000"/>
                </a:solidFill>
                <a:latin typeface="Times New Roman"/>
                <a:sym typeface="+mn-ea"/>
              </a:rPr>
              <a:t>,</a:t>
            </a:r>
            <a:r>
              <a:rPr lang="zh-CN" altLang="en-US" dirty="0">
                <a:solidFill>
                  <a:srgbClr val="000000"/>
                </a:solidFill>
                <a:latin typeface="Times New Roman"/>
                <a:sym typeface="+mn-ea"/>
              </a:rPr>
              <a:t>使其趋于零。</a:t>
            </a:r>
            <a:endParaRPr lang="en-US" altLang="zh-CN" dirty="0">
              <a:solidFill>
                <a:srgbClr val="000000"/>
              </a:solidFill>
              <a:latin typeface="Times New Roman"/>
              <a:sym typeface="+mn-ea"/>
            </a:endParaRPr>
          </a:p>
          <a:p>
            <a:pPr eaLnBrk="0" fontAlgn="base" hangingPunct="0">
              <a:lnSpc>
                <a:spcPts val="3200"/>
              </a:lnSpc>
              <a:spcBef>
                <a:spcPct val="0"/>
              </a:spcBef>
              <a:spcAft>
                <a:spcPct val="0"/>
              </a:spcAft>
            </a:pPr>
            <a:r>
              <a:rPr lang="en-US" altLang="zh-CN" dirty="0">
                <a:solidFill>
                  <a:srgbClr val="000000"/>
                </a:solidFill>
                <a:latin typeface="Times New Roman"/>
                <a:sym typeface="+mn-ea"/>
              </a:rPr>
              <a:t>      (2)</a:t>
            </a:r>
            <a:r>
              <a:rPr lang="zh-CN" altLang="en-US" dirty="0">
                <a:solidFill>
                  <a:srgbClr val="000000"/>
                </a:solidFill>
                <a:latin typeface="Times New Roman"/>
                <a:sym typeface="+mn-ea"/>
              </a:rPr>
              <a:t>应该尽量减小编译码复杂度，理想情况下，应该使生成每个编码分组需要的运算量是一个与</a:t>
            </a:r>
            <a:r>
              <a:rPr lang="en-US" altLang="zh-CN" dirty="0">
                <a:solidFill>
                  <a:srgbClr val="000000"/>
                </a:solidFill>
                <a:latin typeface="Times New Roman"/>
                <a:sym typeface="+mn-ea"/>
              </a:rPr>
              <a:t>k</a:t>
            </a:r>
            <a:r>
              <a:rPr lang="zh-CN" altLang="en-US" dirty="0">
                <a:solidFill>
                  <a:srgbClr val="000000"/>
                </a:solidFill>
                <a:latin typeface="Times New Roman"/>
                <a:sym typeface="+mn-ea"/>
              </a:rPr>
              <a:t>无关的常数，而成功译码</a:t>
            </a:r>
            <a:r>
              <a:rPr lang="en-US" altLang="zh-CN" i="1" dirty="0">
                <a:solidFill>
                  <a:srgbClr val="000000"/>
                </a:solidFill>
                <a:latin typeface="Times New Roman"/>
                <a:sym typeface="+mn-ea"/>
              </a:rPr>
              <a:t>m</a:t>
            </a:r>
            <a:r>
              <a:rPr lang="zh-CN" altLang="en-US" dirty="0">
                <a:solidFill>
                  <a:srgbClr val="000000"/>
                </a:solidFill>
                <a:latin typeface="Times New Roman"/>
                <a:sym typeface="+mn-ea"/>
              </a:rPr>
              <a:t>个编码分组获得</a:t>
            </a:r>
            <a:r>
              <a:rPr lang="en-US" altLang="zh-CN" i="1" dirty="0">
                <a:solidFill>
                  <a:srgbClr val="000000"/>
                </a:solidFill>
                <a:latin typeface="Times New Roman"/>
                <a:sym typeface="+mn-ea"/>
              </a:rPr>
              <a:t>k</a:t>
            </a:r>
            <a:r>
              <a:rPr lang="zh-CN" altLang="en-US" dirty="0">
                <a:solidFill>
                  <a:srgbClr val="000000"/>
                </a:solidFill>
                <a:latin typeface="Times New Roman"/>
                <a:sym typeface="+mn-ea"/>
              </a:rPr>
              <a:t>个原始数据分组需要的运算量是一个关于</a:t>
            </a:r>
            <a:r>
              <a:rPr lang="en-US" altLang="zh-CN" i="1" dirty="0">
                <a:solidFill>
                  <a:srgbClr val="000000"/>
                </a:solidFill>
                <a:latin typeface="Times New Roman"/>
                <a:sym typeface="+mn-ea"/>
              </a:rPr>
              <a:t>k</a:t>
            </a:r>
            <a:r>
              <a:rPr lang="zh-CN" altLang="en-US" dirty="0">
                <a:solidFill>
                  <a:srgbClr val="000000"/>
                </a:solidFill>
                <a:latin typeface="Times New Roman"/>
                <a:sym typeface="+mn-ea"/>
              </a:rPr>
              <a:t>的线性函数。</a:t>
            </a:r>
            <a:endParaRPr lang="en-US" altLang="zh-CN" dirty="0">
              <a:solidFill>
                <a:srgbClr val="000000"/>
              </a:solidFill>
              <a:latin typeface="Times New Roman"/>
              <a:sym typeface="+mn-ea"/>
            </a:endParaRPr>
          </a:p>
        </p:txBody>
      </p:sp>
      <p:sp>
        <p:nvSpPr>
          <p:cNvPr id="3" name="箭头: 下 2"/>
          <p:cNvSpPr/>
          <p:nvPr/>
        </p:nvSpPr>
        <p:spPr>
          <a:xfrm>
            <a:off x="5600712" y="3276604"/>
            <a:ext cx="990574" cy="685782"/>
          </a:xfrm>
          <a:prstGeom prst="down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nvGrpSpPr>
          <p:cNvPr id="5" name="组合 4"/>
          <p:cNvGrpSpPr/>
          <p:nvPr/>
        </p:nvGrpSpPr>
        <p:grpSpPr>
          <a:xfrm>
            <a:off x="2212999" y="4267179"/>
            <a:ext cx="6024943" cy="1817167"/>
            <a:chOff x="235717" y="4103347"/>
            <a:chExt cx="6024943" cy="1817167"/>
          </a:xfrm>
        </p:grpSpPr>
        <p:sp>
          <p:nvSpPr>
            <p:cNvPr id="9" name="文本框 8"/>
            <p:cNvSpPr txBox="1"/>
            <p:nvPr/>
          </p:nvSpPr>
          <p:spPr>
            <a:xfrm>
              <a:off x="235717" y="4792032"/>
              <a:ext cx="2234353" cy="45711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dirty="0">
                  <a:solidFill>
                    <a:srgbClr val="000000"/>
                  </a:solidFill>
                  <a:latin typeface="Times New Roman"/>
                  <a:sym typeface="+mn-ea"/>
                </a:rPr>
                <a:t>喷泉码的研究方案</a:t>
              </a:r>
              <a:endParaRPr lang="en-US" altLang="zh-CN" dirty="0">
                <a:solidFill>
                  <a:srgbClr val="000000"/>
                </a:solidFill>
                <a:latin typeface="Times New Roman"/>
                <a:sym typeface="+mn-ea"/>
              </a:endParaRPr>
            </a:p>
          </p:txBody>
        </p:sp>
        <p:sp>
          <p:nvSpPr>
            <p:cNvPr id="4" name="左大括号 3"/>
            <p:cNvSpPr/>
            <p:nvPr/>
          </p:nvSpPr>
          <p:spPr bwMode="auto">
            <a:xfrm>
              <a:off x="2667050" y="4331904"/>
              <a:ext cx="838178" cy="1371564"/>
            </a:xfrm>
            <a:prstGeom prst="leftBrace">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indent="-342900" fontAlgn="base">
                <a:spcBef>
                  <a:spcPct val="20000"/>
                </a:spcBef>
                <a:spcAft>
                  <a:spcPct val="0"/>
                </a:spcAft>
                <a:buFont typeface="Wingdings" panose="05000000000000000000" pitchFamily="2" charset="2"/>
                <a:buChar char="v"/>
              </a:pPr>
              <a:endParaRPr kumimoji="1" lang="zh-CN" altLang="en-US" sz="2800">
                <a:solidFill>
                  <a:srgbClr val="336699"/>
                </a:solidFill>
                <a:latin typeface="黑体" panose="02010609060101010101" pitchFamily="49" charset="-122"/>
                <a:ea typeface="黑体" panose="02010609060101010101" pitchFamily="49" charset="-122"/>
              </a:endParaRPr>
            </a:p>
          </p:txBody>
        </p:sp>
        <p:sp>
          <p:nvSpPr>
            <p:cNvPr id="10" name="文本框 9"/>
            <p:cNvSpPr txBox="1"/>
            <p:nvPr/>
          </p:nvSpPr>
          <p:spPr>
            <a:xfrm>
              <a:off x="3873911" y="4103347"/>
              <a:ext cx="2386749" cy="45711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dirty="0">
                  <a:solidFill>
                    <a:srgbClr val="000000"/>
                  </a:solidFill>
                  <a:latin typeface="Times New Roman"/>
                  <a:sym typeface="+mn-ea"/>
                </a:rPr>
                <a:t>随机线性喷泉码</a:t>
              </a:r>
              <a:endParaRPr lang="en-US" altLang="zh-CN" dirty="0">
                <a:solidFill>
                  <a:srgbClr val="000000"/>
                </a:solidFill>
                <a:latin typeface="Times New Roman"/>
                <a:sym typeface="+mn-ea"/>
              </a:endParaRPr>
            </a:p>
          </p:txBody>
        </p:sp>
        <p:sp>
          <p:nvSpPr>
            <p:cNvPr id="11" name="文本框 10"/>
            <p:cNvSpPr txBox="1"/>
            <p:nvPr/>
          </p:nvSpPr>
          <p:spPr>
            <a:xfrm>
              <a:off x="3868189" y="4789129"/>
              <a:ext cx="1167581" cy="45711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en-US" altLang="zh-CN" dirty="0">
                  <a:solidFill>
                    <a:srgbClr val="000000"/>
                  </a:solidFill>
                  <a:latin typeface="Times New Roman"/>
                  <a:sym typeface="+mn-ea"/>
                </a:rPr>
                <a:t>LT</a:t>
              </a:r>
              <a:r>
                <a:rPr lang="zh-CN" altLang="en-US" dirty="0">
                  <a:solidFill>
                    <a:srgbClr val="000000"/>
                  </a:solidFill>
                  <a:latin typeface="Times New Roman"/>
                  <a:sym typeface="+mn-ea"/>
                </a:rPr>
                <a:t>码</a:t>
              </a:r>
              <a:endParaRPr lang="en-US" altLang="zh-CN" dirty="0">
                <a:solidFill>
                  <a:srgbClr val="000000"/>
                </a:solidFill>
                <a:latin typeface="Times New Roman"/>
                <a:sym typeface="+mn-ea"/>
              </a:endParaRPr>
            </a:p>
          </p:txBody>
        </p:sp>
        <p:sp>
          <p:nvSpPr>
            <p:cNvPr id="12" name="文本框 11"/>
            <p:cNvSpPr txBox="1"/>
            <p:nvPr/>
          </p:nvSpPr>
          <p:spPr>
            <a:xfrm>
              <a:off x="3873911" y="5463401"/>
              <a:ext cx="1472372" cy="45711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en-US" altLang="zh-CN" dirty="0">
                  <a:solidFill>
                    <a:srgbClr val="000000"/>
                  </a:solidFill>
                  <a:latin typeface="Times New Roman"/>
                  <a:sym typeface="+mn-ea"/>
                </a:rPr>
                <a:t>Raptor</a:t>
              </a:r>
              <a:r>
                <a:rPr lang="zh-CN" altLang="en-US" dirty="0">
                  <a:solidFill>
                    <a:srgbClr val="000000"/>
                  </a:solidFill>
                  <a:latin typeface="Times New Roman"/>
                  <a:sym typeface="+mn-ea"/>
                </a:rPr>
                <a:t>码</a:t>
              </a:r>
              <a:endParaRPr lang="en-US" altLang="zh-CN" dirty="0">
                <a:solidFill>
                  <a:srgbClr val="000000"/>
                </a:solidFill>
                <a:latin typeface="Times New Roman"/>
                <a:sym typeface="+mn-ea"/>
              </a:endParaRPr>
            </a:p>
          </p:txBody>
        </p:sp>
      </p:gr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随机线性喷泉码的编码</a:t>
            </a:r>
          </a:p>
        </p:txBody>
      </p:sp>
      <mc:AlternateContent xmlns:mc="http://schemas.openxmlformats.org/markup-compatibility/2006" xmlns:a14="http://schemas.microsoft.com/office/drawing/2010/main">
        <mc:Choice Requires="a14">
          <p:sp>
            <p:nvSpPr>
              <p:cNvPr id="6" name="文本框 5"/>
              <p:cNvSpPr txBox="1"/>
              <p:nvPr/>
            </p:nvSpPr>
            <p:spPr>
              <a:xfrm>
                <a:off x="1817619" y="914466"/>
                <a:ext cx="8583399" cy="265713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sz="1800" dirty="0">
                    <a:solidFill>
                      <a:srgbClr val="000000"/>
                    </a:solidFill>
                    <a:latin typeface="Times New Roman"/>
                    <a:sym typeface="+mn-ea"/>
                  </a:rPr>
                  <a:t>        假设编码器需要编码的文件为</a:t>
                </a:r>
                <a:r>
                  <a:rPr lang="en-US" altLang="zh-CN" sz="1800" i="1" dirty="0">
                    <a:solidFill>
                      <a:srgbClr val="000000"/>
                    </a:solidFill>
                    <a:latin typeface="Times New Roman"/>
                    <a:sym typeface="+mn-ea"/>
                  </a:rPr>
                  <a:t>S</a:t>
                </a:r>
                <a:r>
                  <a:rPr lang="en-US" altLang="zh-CN" sz="1800" baseline="-25000" dirty="0">
                    <a:solidFill>
                      <a:srgbClr val="000000"/>
                    </a:solidFill>
                    <a:latin typeface="Times New Roman"/>
                    <a:sym typeface="+mn-ea"/>
                  </a:rPr>
                  <a:t>1</a:t>
                </a:r>
                <a:r>
                  <a:rPr lang="en-US" altLang="zh-CN" sz="1800" dirty="0">
                    <a:solidFill>
                      <a:srgbClr val="000000"/>
                    </a:solidFill>
                    <a:latin typeface="Times New Roman"/>
                    <a:sym typeface="+mn-ea"/>
                  </a:rPr>
                  <a:t>,</a:t>
                </a:r>
                <a:r>
                  <a:rPr lang="en-US" altLang="zh-CN" sz="1800" i="1" dirty="0">
                    <a:solidFill>
                      <a:srgbClr val="000000"/>
                    </a:solidFill>
                    <a:latin typeface="Times New Roman"/>
                    <a:sym typeface="+mn-ea"/>
                  </a:rPr>
                  <a:t>S</a:t>
                </a:r>
                <a:r>
                  <a:rPr lang="en-US" altLang="zh-CN" sz="1800" baseline="-25000" dirty="0">
                    <a:solidFill>
                      <a:srgbClr val="000000"/>
                    </a:solidFill>
                    <a:latin typeface="Times New Roman"/>
                    <a:sym typeface="+mn-ea"/>
                  </a:rPr>
                  <a:t>2</a:t>
                </a:r>
                <a:r>
                  <a:rPr lang="en-US" altLang="zh-CN" sz="1800" dirty="0">
                    <a:solidFill>
                      <a:srgbClr val="000000"/>
                    </a:solidFill>
                    <a:latin typeface="Times New Roman"/>
                    <a:sym typeface="+mn-ea"/>
                  </a:rPr>
                  <a:t>,...,</a:t>
                </a:r>
                <a:r>
                  <a:rPr lang="en-US" altLang="zh-CN" sz="1800" i="1" dirty="0" err="1">
                    <a:solidFill>
                      <a:srgbClr val="000000"/>
                    </a:solidFill>
                    <a:latin typeface="Times New Roman"/>
                    <a:sym typeface="+mn-ea"/>
                  </a:rPr>
                  <a:t>S</a:t>
                </a:r>
                <a:r>
                  <a:rPr lang="en-US" altLang="zh-CN" sz="1800" i="1" baseline="-25000" dirty="0" err="1">
                    <a:solidFill>
                      <a:srgbClr val="000000"/>
                    </a:solidFill>
                    <a:latin typeface="Times New Roman"/>
                    <a:sym typeface="+mn-ea"/>
                  </a:rPr>
                  <a:t>k</a:t>
                </a:r>
                <a:r>
                  <a:rPr lang="zh-CN" altLang="en-US" sz="1800" dirty="0">
                    <a:solidFill>
                      <a:srgbClr val="000000"/>
                    </a:solidFill>
                    <a:latin typeface="Times New Roman"/>
                    <a:sym typeface="+mn-ea"/>
                  </a:rPr>
                  <a:t>，每个</a:t>
                </a:r>
                <a:r>
                  <a:rPr lang="en-US" altLang="zh-CN" sz="1800" i="1" dirty="0" err="1">
                    <a:solidFill>
                      <a:srgbClr val="000000"/>
                    </a:solidFill>
                    <a:latin typeface="Times New Roman"/>
                    <a:sym typeface="+mn-ea"/>
                  </a:rPr>
                  <a:t>S</a:t>
                </a:r>
                <a:r>
                  <a:rPr lang="en-US" altLang="zh-CN" sz="1800" i="1" baseline="-25000" dirty="0" err="1">
                    <a:solidFill>
                      <a:srgbClr val="000000"/>
                    </a:solidFill>
                    <a:latin typeface="Times New Roman"/>
                    <a:sym typeface="+mn-ea"/>
                  </a:rPr>
                  <a:t>k</a:t>
                </a:r>
                <a:r>
                  <a:rPr lang="zh-CN" altLang="en-US" sz="1800" dirty="0">
                    <a:solidFill>
                      <a:srgbClr val="000000"/>
                    </a:solidFill>
                    <a:latin typeface="Times New Roman"/>
                    <a:sym typeface="+mn-ea"/>
                  </a:rPr>
                  <a:t>都是一个信源符号，它只能被完整的传输或者被删除。假定每个</a:t>
                </a:r>
                <a:r>
                  <a:rPr lang="en-US" altLang="zh-CN" sz="1800" i="1" dirty="0" err="1">
                    <a:solidFill>
                      <a:srgbClr val="000000"/>
                    </a:solidFill>
                    <a:latin typeface="Times New Roman"/>
                    <a:sym typeface="+mn-ea"/>
                  </a:rPr>
                  <a:t>S</a:t>
                </a:r>
                <a:r>
                  <a:rPr lang="en-US" altLang="zh-CN" sz="1800" i="1" baseline="-25000" dirty="0" err="1">
                    <a:solidFill>
                      <a:srgbClr val="000000"/>
                    </a:solidFill>
                    <a:latin typeface="Times New Roman"/>
                    <a:sym typeface="+mn-ea"/>
                  </a:rPr>
                  <a:t>k</a:t>
                </a:r>
                <a:r>
                  <a:rPr lang="zh-CN" altLang="en-US" sz="1800" dirty="0">
                    <a:solidFill>
                      <a:srgbClr val="000000"/>
                    </a:solidFill>
                    <a:latin typeface="Times New Roman"/>
                    <a:sym typeface="+mn-ea"/>
                  </a:rPr>
                  <a:t>大小都是相同的比特数。在每一个时钟周期，编码器产生一个</a:t>
                </a:r>
                <a:r>
                  <a:rPr lang="en-US" altLang="zh-CN" sz="1800" dirty="0">
                    <a:solidFill>
                      <a:srgbClr val="000000"/>
                    </a:solidFill>
                    <a:latin typeface="Times New Roman"/>
                    <a:sym typeface="+mn-ea"/>
                  </a:rPr>
                  <a:t>K</a:t>
                </a:r>
                <a:r>
                  <a:rPr lang="zh-CN" altLang="en-US" sz="1800" dirty="0">
                    <a:solidFill>
                      <a:srgbClr val="000000"/>
                    </a:solidFill>
                    <a:latin typeface="Times New Roman"/>
                    <a:sym typeface="+mn-ea"/>
                  </a:rPr>
                  <a:t>阶随机二进制矩阵</a:t>
                </a:r>
                <a:r>
                  <a:rPr lang="en-US" altLang="zh-CN" sz="1800" dirty="0">
                    <a:solidFill>
                      <a:srgbClr val="000000"/>
                    </a:solidFill>
                    <a:latin typeface="Times New Roman"/>
                    <a:sym typeface="+mn-ea"/>
                  </a:rPr>
                  <a:t>{</a:t>
                </a:r>
                <a:r>
                  <a:rPr lang="en-US" altLang="zh-CN" sz="1800" i="1" dirty="0" err="1">
                    <a:solidFill>
                      <a:srgbClr val="000000"/>
                    </a:solidFill>
                    <a:latin typeface="Times New Roman"/>
                    <a:sym typeface="+mn-ea"/>
                  </a:rPr>
                  <a:t>G</a:t>
                </a:r>
                <a:r>
                  <a:rPr lang="en-US" altLang="zh-CN" sz="1800" i="1" baseline="-25000" dirty="0" err="1">
                    <a:solidFill>
                      <a:srgbClr val="000000"/>
                    </a:solidFill>
                    <a:latin typeface="Times New Roman"/>
                    <a:sym typeface="+mn-ea"/>
                  </a:rPr>
                  <a:t>kn</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，编码器的输出</a:t>
                </a:r>
                <a:r>
                  <a:rPr lang="en-US" altLang="zh-CN" sz="1800" i="1" dirty="0" err="1">
                    <a:solidFill>
                      <a:srgbClr val="000000"/>
                    </a:solidFill>
                    <a:latin typeface="Times New Roman"/>
                    <a:sym typeface="+mn-ea"/>
                  </a:rPr>
                  <a:t>t</a:t>
                </a:r>
                <a:r>
                  <a:rPr lang="en-US" altLang="zh-CN" sz="1800" i="1" baseline="-25000" dirty="0" err="1">
                    <a:solidFill>
                      <a:srgbClr val="000000"/>
                    </a:solidFill>
                    <a:latin typeface="Times New Roman"/>
                    <a:sym typeface="+mn-ea"/>
                  </a:rPr>
                  <a:t>n</a:t>
                </a:r>
                <a:r>
                  <a:rPr lang="zh-CN" altLang="en-US" sz="1800" dirty="0">
                    <a:solidFill>
                      <a:srgbClr val="000000"/>
                    </a:solidFill>
                    <a:latin typeface="Times New Roman"/>
                    <a:sym typeface="+mn-ea"/>
                  </a:rPr>
                  <a:t>由</a:t>
                </a:r>
                <a:r>
                  <a:rPr lang="en-US" altLang="zh-CN" sz="1800" i="1" dirty="0" err="1">
                    <a:solidFill>
                      <a:srgbClr val="000000"/>
                    </a:solidFill>
                    <a:latin typeface="Times New Roman"/>
                    <a:sym typeface="+mn-ea"/>
                  </a:rPr>
                  <a:t>S</a:t>
                </a:r>
                <a:r>
                  <a:rPr lang="en-US" altLang="zh-CN" sz="1800" i="1" baseline="-25000" dirty="0" err="1">
                    <a:solidFill>
                      <a:srgbClr val="000000"/>
                    </a:solidFill>
                    <a:latin typeface="Times New Roman"/>
                    <a:sym typeface="+mn-ea"/>
                  </a:rPr>
                  <a:t>k</a:t>
                </a:r>
                <a:r>
                  <a:rPr lang="zh-CN" altLang="en-US" sz="1800" dirty="0">
                    <a:solidFill>
                      <a:srgbClr val="000000"/>
                    </a:solidFill>
                    <a:latin typeface="Times New Roman"/>
                    <a:sym typeface="+mn-ea"/>
                  </a:rPr>
                  <a:t>异或而成，</a:t>
                </a:r>
                <a:r>
                  <a:rPr lang="zh-CN" altLang="en-US" sz="1800" dirty="0">
                    <a:solidFill>
                      <a:srgbClr val="FF0000"/>
                    </a:solidFill>
                    <a:latin typeface="Times New Roman"/>
                    <a:sym typeface="+mn-ea"/>
                  </a:rPr>
                  <a:t>参加运算的</a:t>
                </a:r>
                <a:r>
                  <a:rPr lang="en-US" altLang="zh-CN" sz="1800" i="1" dirty="0" err="1">
                    <a:solidFill>
                      <a:srgbClr val="FF0000"/>
                    </a:solidFill>
                    <a:latin typeface="Times New Roman"/>
                    <a:sym typeface="+mn-ea"/>
                  </a:rPr>
                  <a:t>S</a:t>
                </a:r>
                <a:r>
                  <a:rPr lang="en-US" altLang="zh-CN" sz="1800" i="1" baseline="-25000" dirty="0" err="1">
                    <a:solidFill>
                      <a:srgbClr val="FF0000"/>
                    </a:solidFill>
                    <a:latin typeface="Times New Roman"/>
                    <a:sym typeface="+mn-ea"/>
                  </a:rPr>
                  <a:t>k</a:t>
                </a:r>
                <a:r>
                  <a:rPr lang="zh-CN" altLang="en-US" sz="1800" dirty="0">
                    <a:solidFill>
                      <a:srgbClr val="FF0000"/>
                    </a:solidFill>
                    <a:latin typeface="Times New Roman"/>
                    <a:sym typeface="+mn-ea"/>
                  </a:rPr>
                  <a:t>对应的</a:t>
                </a:r>
                <a:r>
                  <a:rPr lang="en-US" altLang="zh-CN" sz="1800" i="1" dirty="0" err="1">
                    <a:solidFill>
                      <a:srgbClr val="FF0000"/>
                    </a:solidFill>
                    <a:latin typeface="Times New Roman"/>
                    <a:sym typeface="+mn-ea"/>
                  </a:rPr>
                  <a:t>G</a:t>
                </a:r>
                <a:r>
                  <a:rPr lang="en-US" altLang="zh-CN" sz="1800" i="1" baseline="-25000" dirty="0" err="1">
                    <a:solidFill>
                      <a:srgbClr val="FF0000"/>
                    </a:solidFill>
                    <a:latin typeface="Times New Roman"/>
                    <a:sym typeface="+mn-ea"/>
                  </a:rPr>
                  <a:t>kn</a:t>
                </a:r>
                <a:r>
                  <a:rPr lang="en-US" altLang="zh-CN" sz="1800" dirty="0">
                    <a:solidFill>
                      <a:srgbClr val="FF0000"/>
                    </a:solidFill>
                    <a:latin typeface="Times New Roman"/>
                    <a:sym typeface="+mn-ea"/>
                  </a:rPr>
                  <a:t>=1</a:t>
                </a:r>
                <a:r>
                  <a:rPr lang="zh-CN" altLang="en-US" sz="1800" dirty="0">
                    <a:solidFill>
                      <a:srgbClr val="000000"/>
                    </a:solidFill>
                    <a:latin typeface="Times New Roman"/>
                    <a:sym typeface="+mn-ea"/>
                  </a:rPr>
                  <a:t>，即</a:t>
                </a:r>
                <a14:m>
                  <m:oMath xmlns:m="http://schemas.openxmlformats.org/officeDocument/2006/math">
                    <m:r>
                      <a:rPr lang="en-US" altLang="zh-CN" sz="1800">
                        <a:solidFill>
                          <a:srgbClr val="000000"/>
                        </a:solidFill>
                        <a:latin typeface="Cambria Math" panose="02040503050406030204" pitchFamily="18" charset="0"/>
                        <a:sym typeface="+mn-ea"/>
                      </a:rPr>
                      <m:t> </m:t>
                    </m:r>
                    <m:sSub>
                      <m:sSubPr>
                        <m:ctrlPr>
                          <a:rPr lang="en-US" altLang="zh-CN" sz="1800" i="1">
                            <a:solidFill>
                              <a:srgbClr val="000000"/>
                            </a:solidFill>
                            <a:latin typeface="Cambria Math" panose="02040503050406030204" pitchFamily="18" charset="0"/>
                            <a:sym typeface="+mn-ea"/>
                          </a:rPr>
                        </m:ctrlPr>
                      </m:sSubPr>
                      <m:e>
                        <m:r>
                          <a:rPr lang="en-US" altLang="zh-CN" sz="1800" i="1">
                            <a:solidFill>
                              <a:srgbClr val="000000"/>
                            </a:solidFill>
                            <a:latin typeface="Cambria Math" panose="02040503050406030204" pitchFamily="18" charset="0"/>
                            <a:sym typeface="+mn-ea"/>
                          </a:rPr>
                          <m:t>𝑡</m:t>
                        </m:r>
                      </m:e>
                      <m:sub>
                        <m:r>
                          <a:rPr lang="en-US" altLang="zh-CN" sz="1800" i="1">
                            <a:solidFill>
                              <a:srgbClr val="000000"/>
                            </a:solidFill>
                            <a:latin typeface="Cambria Math" panose="02040503050406030204" pitchFamily="18" charset="0"/>
                            <a:sym typeface="+mn-ea"/>
                          </a:rPr>
                          <m:t>𝑛</m:t>
                        </m:r>
                      </m:sub>
                    </m:sSub>
                    <m:r>
                      <a:rPr lang="en-US" altLang="zh-CN" sz="1800">
                        <a:solidFill>
                          <a:srgbClr val="000000"/>
                        </a:solidFill>
                        <a:latin typeface="Cambria Math" panose="02040503050406030204" pitchFamily="18" charset="0"/>
                        <a:sym typeface="+mn-ea"/>
                      </a:rPr>
                      <m:t>=</m:t>
                    </m:r>
                    <m:sSubSup>
                      <m:sSubSupPr>
                        <m:ctrlPr>
                          <a:rPr lang="en-US" altLang="zh-CN" sz="1800" i="1">
                            <a:solidFill>
                              <a:srgbClr val="000000"/>
                            </a:solidFill>
                            <a:latin typeface="Cambria Math" panose="02040503050406030204" pitchFamily="18" charset="0"/>
                            <a:ea typeface="Cambria Math" panose="02040503050406030204" pitchFamily="18" charset="0"/>
                            <a:sym typeface="+mn-ea"/>
                          </a:rPr>
                        </m:ctrlPr>
                      </m:sSubSupPr>
                      <m:e>
                        <m:r>
                          <a:rPr lang="en-US" altLang="zh-CN" sz="1800" i="1">
                            <a:solidFill>
                              <a:srgbClr val="000000"/>
                            </a:solidFill>
                            <a:latin typeface="Cambria Math" panose="02040503050406030204" pitchFamily="18" charset="0"/>
                            <a:ea typeface="Cambria Math" panose="02040503050406030204" pitchFamily="18" charset="0"/>
                            <a:sym typeface="+mn-ea"/>
                          </a:rPr>
                          <m:t>∑</m:t>
                        </m:r>
                      </m:e>
                      <m:sub>
                        <m:r>
                          <a:rPr lang="en-US" altLang="zh-CN" sz="1800" i="1">
                            <a:solidFill>
                              <a:srgbClr val="000000"/>
                            </a:solidFill>
                            <a:latin typeface="Cambria Math" panose="02040503050406030204" pitchFamily="18" charset="0"/>
                            <a:ea typeface="Cambria Math" panose="02040503050406030204" pitchFamily="18" charset="0"/>
                            <a:sym typeface="+mn-ea"/>
                          </a:rPr>
                          <m:t>𝑘</m:t>
                        </m:r>
                        <m:r>
                          <a:rPr lang="en-US" altLang="zh-CN" sz="1800" i="1">
                            <a:solidFill>
                              <a:srgbClr val="000000"/>
                            </a:solidFill>
                            <a:latin typeface="Cambria Math" panose="02040503050406030204" pitchFamily="18" charset="0"/>
                            <a:ea typeface="Cambria Math" panose="02040503050406030204" pitchFamily="18" charset="0"/>
                            <a:sym typeface="+mn-ea"/>
                          </a:rPr>
                          <m:t>=1</m:t>
                        </m:r>
                      </m:sub>
                      <m:sup>
                        <m:r>
                          <a:rPr lang="en-US" altLang="zh-CN" sz="1800" i="1">
                            <a:solidFill>
                              <a:srgbClr val="000000"/>
                            </a:solidFill>
                            <a:latin typeface="Cambria Math" panose="02040503050406030204" pitchFamily="18" charset="0"/>
                            <a:ea typeface="Cambria Math" panose="02040503050406030204" pitchFamily="18" charset="0"/>
                            <a:sym typeface="+mn-ea"/>
                          </a:rPr>
                          <m:t>𝐾</m:t>
                        </m:r>
                      </m:sup>
                    </m:sSubSup>
                    <m:sSub>
                      <m:sSubPr>
                        <m:ctrlPr>
                          <a:rPr lang="en-US" altLang="zh-CN" sz="1800" i="1">
                            <a:solidFill>
                              <a:srgbClr val="000000"/>
                            </a:solidFill>
                            <a:latin typeface="Cambria Math" panose="02040503050406030204" pitchFamily="18" charset="0"/>
                            <a:ea typeface="Cambria Math" panose="02040503050406030204" pitchFamily="18" charset="0"/>
                            <a:sym typeface="+mn-ea"/>
                          </a:rPr>
                        </m:ctrlPr>
                      </m:sSubPr>
                      <m:e>
                        <m:r>
                          <a:rPr lang="en-US" altLang="zh-CN" sz="1800" i="1">
                            <a:solidFill>
                              <a:srgbClr val="000000"/>
                            </a:solidFill>
                            <a:latin typeface="Cambria Math" panose="02040503050406030204" pitchFamily="18" charset="0"/>
                            <a:ea typeface="Cambria Math" panose="02040503050406030204" pitchFamily="18" charset="0"/>
                            <a:sym typeface="+mn-ea"/>
                          </a:rPr>
                          <m:t>𝑆</m:t>
                        </m:r>
                      </m:e>
                      <m:sub>
                        <m:r>
                          <a:rPr lang="en-US" altLang="zh-CN" sz="1800" i="1">
                            <a:solidFill>
                              <a:srgbClr val="000000"/>
                            </a:solidFill>
                            <a:latin typeface="Cambria Math" panose="02040503050406030204" pitchFamily="18" charset="0"/>
                            <a:ea typeface="Cambria Math" panose="02040503050406030204" pitchFamily="18" charset="0"/>
                            <a:sym typeface="+mn-ea"/>
                          </a:rPr>
                          <m:t>𝑘</m:t>
                        </m:r>
                      </m:sub>
                    </m:sSub>
                    <m:sSub>
                      <m:sSubPr>
                        <m:ctrlPr>
                          <a:rPr lang="en-US" altLang="zh-CN" sz="1800" i="1">
                            <a:solidFill>
                              <a:srgbClr val="000000"/>
                            </a:solidFill>
                            <a:latin typeface="Cambria Math" panose="02040503050406030204" pitchFamily="18" charset="0"/>
                            <a:ea typeface="Cambria Math" panose="02040503050406030204" pitchFamily="18" charset="0"/>
                            <a:sym typeface="+mn-ea"/>
                          </a:rPr>
                        </m:ctrlPr>
                      </m:sSubPr>
                      <m:e>
                        <m:r>
                          <a:rPr lang="en-US" altLang="zh-CN" sz="1800" i="1">
                            <a:solidFill>
                              <a:srgbClr val="000000"/>
                            </a:solidFill>
                            <a:latin typeface="Cambria Math" panose="02040503050406030204" pitchFamily="18" charset="0"/>
                            <a:ea typeface="Cambria Math" panose="02040503050406030204" pitchFamily="18" charset="0"/>
                            <a:sym typeface="+mn-ea"/>
                          </a:rPr>
                          <m:t>𝐺</m:t>
                        </m:r>
                      </m:e>
                      <m:sub>
                        <m:r>
                          <a:rPr lang="en-US" altLang="zh-CN" sz="1800" i="1">
                            <a:solidFill>
                              <a:srgbClr val="000000"/>
                            </a:solidFill>
                            <a:latin typeface="Cambria Math" panose="02040503050406030204" pitchFamily="18" charset="0"/>
                            <a:ea typeface="Cambria Math" panose="02040503050406030204" pitchFamily="18" charset="0"/>
                            <a:sym typeface="+mn-ea"/>
                          </a:rPr>
                          <m:t>𝑘𝑛</m:t>
                        </m:r>
                      </m:sub>
                    </m:sSub>
                  </m:oMath>
                </a14:m>
                <a:endParaRPr lang="en-US" altLang="zh-CN" sz="1800" i="1" dirty="0">
                  <a:solidFill>
                    <a:srgbClr val="000000"/>
                  </a:solidFill>
                  <a:latin typeface="Times New Roman"/>
                  <a:sym typeface="+mn-ea"/>
                </a:endParaRPr>
              </a:p>
              <a:p>
                <a:pPr eaLnBrk="0" fontAlgn="base" hangingPunct="0">
                  <a:lnSpc>
                    <a:spcPts val="3200"/>
                  </a:lnSpc>
                  <a:spcBef>
                    <a:spcPts val="1200"/>
                  </a:spcBef>
                  <a:spcAft>
                    <a:spcPct val="0"/>
                  </a:spcAft>
                </a:pPr>
                <a:r>
                  <a:rPr lang="zh-CN" altLang="en-US" sz="1800" dirty="0">
                    <a:solidFill>
                      <a:srgbClr val="000000"/>
                    </a:solidFill>
                    <a:latin typeface="Times New Roman"/>
                    <a:sym typeface="+mn-ea"/>
                  </a:rPr>
                  <a:t>        这个和可连续的由不同的</a:t>
                </a:r>
                <a:r>
                  <a:rPr lang="en-US" altLang="zh-CN" sz="1800" i="1" dirty="0" err="1">
                    <a:solidFill>
                      <a:srgbClr val="000000"/>
                    </a:solidFill>
                    <a:latin typeface="Times New Roman"/>
                    <a:sym typeface="+mn-ea"/>
                  </a:rPr>
                  <a:t>S</a:t>
                </a:r>
                <a:r>
                  <a:rPr lang="en-US" altLang="zh-CN" sz="1800" i="1" baseline="-25000" dirty="0" err="1">
                    <a:solidFill>
                      <a:srgbClr val="000000"/>
                    </a:solidFill>
                    <a:latin typeface="Times New Roman"/>
                    <a:sym typeface="+mn-ea"/>
                  </a:rPr>
                  <a:t>k</a:t>
                </a:r>
                <a:r>
                  <a:rPr lang="zh-CN" altLang="en-US" sz="1800" dirty="0">
                    <a:solidFill>
                      <a:srgbClr val="000000"/>
                    </a:solidFill>
                    <a:latin typeface="Times New Roman"/>
                    <a:sym typeface="+mn-ea"/>
                  </a:rPr>
                  <a:t>异或而来，可以</a:t>
                </a:r>
                <a:r>
                  <a:rPr lang="zh-CN" altLang="en-US" sz="1800" dirty="0">
                    <a:solidFill>
                      <a:srgbClr val="FF0000"/>
                    </a:solidFill>
                    <a:latin typeface="Times New Roman"/>
                    <a:sym typeface="+mn-ea"/>
                  </a:rPr>
                  <a:t>对每</a:t>
                </a:r>
                <a:r>
                  <a:rPr lang="en-US" altLang="zh-CN" sz="1800" dirty="0">
                    <a:solidFill>
                      <a:srgbClr val="FF0000"/>
                    </a:solidFill>
                    <a:latin typeface="Times New Roman"/>
                    <a:sym typeface="+mn-ea"/>
                  </a:rPr>
                  <a:t>K</a:t>
                </a:r>
                <a:r>
                  <a:rPr lang="zh-CN" altLang="en-US" sz="1800" dirty="0">
                    <a:solidFill>
                      <a:srgbClr val="FF0000"/>
                    </a:solidFill>
                    <a:latin typeface="Times New Roman"/>
                    <a:sym typeface="+mn-ea"/>
                  </a:rPr>
                  <a:t>个随机</a:t>
                </a:r>
                <a:r>
                  <a:rPr lang="en-US" altLang="zh-CN" sz="1800" i="1" dirty="0" err="1">
                    <a:solidFill>
                      <a:srgbClr val="FF0000"/>
                    </a:solidFill>
                    <a:latin typeface="Times New Roman"/>
                    <a:sym typeface="+mn-ea"/>
                  </a:rPr>
                  <a:t>t</a:t>
                </a:r>
                <a:r>
                  <a:rPr lang="en-US" altLang="zh-CN" sz="1800" i="1" baseline="-25000" dirty="0" err="1">
                    <a:solidFill>
                      <a:srgbClr val="FF0000"/>
                    </a:solidFill>
                    <a:latin typeface="Times New Roman"/>
                    <a:sym typeface="+mn-ea"/>
                  </a:rPr>
                  <a:t>n</a:t>
                </a:r>
                <a:r>
                  <a:rPr lang="zh-CN" altLang="en-US" sz="1800" dirty="0">
                    <a:solidFill>
                      <a:srgbClr val="FF0000"/>
                    </a:solidFill>
                    <a:latin typeface="Times New Roman"/>
                    <a:sym typeface="+mn-ea"/>
                  </a:rPr>
                  <a:t>在一个半无限的二进制矩阵中定义一个新的列</a:t>
                </a:r>
                <a:r>
                  <a:rPr lang="zh-CN" altLang="en-US" sz="1800" dirty="0">
                    <a:solidFill>
                      <a:srgbClr val="000000"/>
                    </a:solidFill>
                    <a:latin typeface="Times New Roman"/>
                    <a:sym typeface="+mn-ea"/>
                  </a:rPr>
                  <a:t>，如图所示。</a:t>
                </a:r>
                <a:endParaRPr lang="en-US" altLang="zh-CN" sz="1800" dirty="0">
                  <a:solidFill>
                    <a:srgbClr val="000000"/>
                  </a:solidFill>
                  <a:latin typeface="Times New Roman"/>
                  <a:sym typeface="+mn-ea"/>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817619" y="914466"/>
                <a:ext cx="8583399" cy="2657138"/>
              </a:xfrm>
              <a:prstGeom prst="rect">
                <a:avLst/>
              </a:prstGeom>
              <a:blipFill>
                <a:blip r:embed="rId2"/>
                <a:stretch>
                  <a:fillRect l="-568" r="-639" b="-2064"/>
                </a:stretch>
              </a:blipFill>
            </p:spPr>
            <p:txBody>
              <a:bodyPr/>
              <a:lstStyle/>
              <a:p>
                <a:r>
                  <a:rPr lang="zh-CN" altLang="en-US">
                    <a:noFill/>
                  </a:rPr>
                  <a:t> </a:t>
                </a:r>
              </a:p>
            </p:txBody>
          </p:sp>
        </mc:Fallback>
      </mc:AlternateContent>
      <p:grpSp>
        <p:nvGrpSpPr>
          <p:cNvPr id="3" name="组合 2"/>
          <p:cNvGrpSpPr/>
          <p:nvPr/>
        </p:nvGrpSpPr>
        <p:grpSpPr>
          <a:xfrm>
            <a:off x="3411287" y="3751146"/>
            <a:ext cx="5105266" cy="2944160"/>
            <a:chOff x="1887287" y="3751146"/>
            <a:chExt cx="5105266" cy="2944160"/>
          </a:xfrm>
        </p:grpSpPr>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7287" y="3751146"/>
              <a:ext cx="5105266" cy="2579717"/>
            </a:xfrm>
            <a:prstGeom prst="rect">
              <a:avLst/>
            </a:prstGeom>
          </p:spPr>
        </p:pic>
        <p:sp>
          <p:nvSpPr>
            <p:cNvPr id="5" name="文本框 4"/>
            <p:cNvSpPr txBox="1"/>
            <p:nvPr/>
          </p:nvSpPr>
          <p:spPr>
            <a:xfrm>
              <a:off x="3389926" y="6205428"/>
              <a:ext cx="2629836"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000000"/>
                  </a:solidFill>
                  <a:sym typeface="+mn-ea"/>
                </a:rPr>
                <a:t>随机矩阵</a:t>
              </a:r>
              <a:r>
                <a:rPr lang="en-US" altLang="zh-CN" sz="1800" dirty="0">
                  <a:solidFill>
                    <a:srgbClr val="000000"/>
                  </a:solidFill>
                  <a:sym typeface="+mn-ea"/>
                </a:rPr>
                <a:t>G</a:t>
              </a:r>
              <a:endParaRPr lang="zh-CN" altLang="en-US" sz="1800" dirty="0">
                <a:solidFill>
                  <a:srgbClr val="000000"/>
                </a:solidFill>
                <a:sym typeface="+mn-ea"/>
              </a:endParaRPr>
            </a:p>
          </p:txBody>
        </p:sp>
      </p:gr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随机线性喷泉码的编码</a:t>
            </a:r>
          </a:p>
        </p:txBody>
      </p:sp>
      <p:sp>
        <p:nvSpPr>
          <p:cNvPr id="6" name="文本框 5"/>
          <p:cNvSpPr txBox="1"/>
          <p:nvPr/>
        </p:nvSpPr>
        <p:spPr>
          <a:xfrm>
            <a:off x="7010116" y="3074560"/>
            <a:ext cx="3314613" cy="127214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sz="1800" dirty="0">
                <a:solidFill>
                  <a:srgbClr val="000000"/>
                </a:solidFill>
                <a:latin typeface="Times New Roman"/>
                <a:sym typeface="+mn-ea"/>
              </a:rPr>
              <a:t>        经过信道传输，发生数据包删除，接收端一直接收数据包，直到</a:t>
            </a:r>
            <a:r>
              <a:rPr lang="zh-CN" altLang="en-US" sz="1800" dirty="0">
                <a:solidFill>
                  <a:srgbClr val="FF0000"/>
                </a:solidFill>
                <a:latin typeface="Times New Roman"/>
                <a:sym typeface="+mn-ea"/>
              </a:rPr>
              <a:t>接收到</a:t>
            </a:r>
            <a:r>
              <a:rPr lang="en-US" altLang="zh-CN" sz="1800" dirty="0">
                <a:solidFill>
                  <a:srgbClr val="FF0000"/>
                </a:solidFill>
                <a:latin typeface="Times New Roman"/>
                <a:sym typeface="+mn-ea"/>
              </a:rPr>
              <a:t>N</a:t>
            </a:r>
            <a:r>
              <a:rPr lang="zh-CN" altLang="en-US" sz="1800" dirty="0">
                <a:solidFill>
                  <a:srgbClr val="FF0000"/>
                </a:solidFill>
                <a:latin typeface="Times New Roman"/>
                <a:sym typeface="+mn-ea"/>
              </a:rPr>
              <a:t>个</a:t>
            </a:r>
            <a:r>
              <a:rPr lang="zh-CN" altLang="en-US" sz="1800" dirty="0">
                <a:solidFill>
                  <a:srgbClr val="000000"/>
                </a:solidFill>
                <a:latin typeface="Times New Roman"/>
                <a:sym typeface="+mn-ea"/>
              </a:rPr>
              <a:t>数据包。</a:t>
            </a:r>
            <a:endParaRPr lang="en-US" altLang="zh-CN" sz="1800" dirty="0">
              <a:solidFill>
                <a:srgbClr val="000000"/>
              </a:solidFill>
              <a:latin typeface="Times New Roman"/>
              <a:sym typeface="+mn-ea"/>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7138" y="2590823"/>
            <a:ext cx="1295366" cy="624083"/>
          </a:xfrm>
          <a:prstGeom prst="rect">
            <a:avLst/>
          </a:prstGeom>
        </p:spPr>
      </p:pic>
      <p:grpSp>
        <p:nvGrpSpPr>
          <p:cNvPr id="9" name="组合 8"/>
          <p:cNvGrpSpPr/>
          <p:nvPr/>
        </p:nvGrpSpPr>
        <p:grpSpPr>
          <a:xfrm>
            <a:off x="1562219" y="885732"/>
            <a:ext cx="5105266" cy="5915757"/>
            <a:chOff x="38219" y="885731"/>
            <a:chExt cx="5105266" cy="5915757"/>
          </a:xfrm>
        </p:grpSpPr>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9" y="885731"/>
              <a:ext cx="5105266" cy="2579717"/>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18" y="3548054"/>
              <a:ext cx="4876672" cy="3253434"/>
            </a:xfrm>
            <a:prstGeom prst="rect">
              <a:avLst/>
            </a:prstGeom>
          </p:spPr>
        </p:pic>
      </p:grpSp>
      <p:sp>
        <p:nvSpPr>
          <p:cNvPr id="13" name="文本框 12"/>
          <p:cNvSpPr txBox="1"/>
          <p:nvPr/>
        </p:nvSpPr>
        <p:spPr>
          <a:xfrm>
            <a:off x="5861498" y="5868816"/>
            <a:ext cx="3968204" cy="45140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sz="1800" dirty="0">
                <a:solidFill>
                  <a:srgbClr val="000000"/>
                </a:solidFill>
                <a:latin typeface="Times New Roman"/>
                <a:sym typeface="+mn-ea"/>
              </a:rPr>
              <a:t> </a:t>
            </a:r>
            <a:r>
              <a:rPr lang="en-US" altLang="zh-CN" sz="1800" dirty="0">
                <a:solidFill>
                  <a:srgbClr val="000000"/>
                </a:solidFill>
                <a:latin typeface="Times New Roman"/>
                <a:sym typeface="+mn-ea"/>
              </a:rPr>
              <a:t>K – BY – N </a:t>
            </a:r>
            <a:r>
              <a:rPr lang="zh-CN" altLang="en-US" sz="1800" dirty="0">
                <a:solidFill>
                  <a:srgbClr val="000000"/>
                </a:solidFill>
                <a:latin typeface="Times New Roman"/>
                <a:sym typeface="+mn-ea"/>
              </a:rPr>
              <a:t>矩阵，称其中一部分为</a:t>
            </a:r>
            <a:r>
              <a:rPr lang="en-US" altLang="zh-CN" sz="1800" dirty="0">
                <a:solidFill>
                  <a:srgbClr val="000000"/>
                </a:solidFill>
                <a:latin typeface="Times New Roman"/>
                <a:sym typeface="+mn-ea"/>
              </a:rPr>
              <a:t>G</a:t>
            </a:r>
          </a:p>
        </p:txBody>
      </p:sp>
      <p:cxnSp>
        <p:nvCxnSpPr>
          <p:cNvPr id="14" name="直接箭头连接符 13"/>
          <p:cNvCxnSpPr/>
          <p:nvPr/>
        </p:nvCxnSpPr>
        <p:spPr bwMode="auto">
          <a:xfrm flipH="1" flipV="1">
            <a:off x="4648238" y="5486346"/>
            <a:ext cx="1154266" cy="6095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随机线性喷泉码的解码</a:t>
            </a:r>
          </a:p>
        </p:txBody>
      </p:sp>
      <mc:AlternateContent xmlns:mc="http://schemas.openxmlformats.org/markup-compatibility/2006" xmlns:a14="http://schemas.microsoft.com/office/drawing/2010/main">
        <mc:Choice Requires="a14">
          <p:sp>
            <p:nvSpPr>
              <p:cNvPr id="6" name="文本框 5"/>
              <p:cNvSpPr txBox="1"/>
              <p:nvPr/>
            </p:nvSpPr>
            <p:spPr>
              <a:xfrm>
                <a:off x="123498" y="746613"/>
                <a:ext cx="11967218" cy="372153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FF0000"/>
                    </a:solidFill>
                    <a:latin typeface="Times New Roman"/>
                    <a:sym typeface="+mn-ea"/>
                  </a:rPr>
                  <a:t>（</a:t>
                </a:r>
                <a:r>
                  <a:rPr lang="en-US" altLang="zh-CN" sz="1800" dirty="0">
                    <a:solidFill>
                      <a:srgbClr val="FF0000"/>
                    </a:solidFill>
                    <a:latin typeface="Times New Roman"/>
                    <a:sym typeface="+mn-ea"/>
                  </a:rPr>
                  <a:t>1</a:t>
                </a:r>
                <a:r>
                  <a:rPr lang="zh-CN" altLang="en-US" sz="1800" dirty="0">
                    <a:solidFill>
                      <a:srgbClr val="FF0000"/>
                    </a:solidFill>
                    <a:latin typeface="Times New Roman"/>
                    <a:sym typeface="+mn-ea"/>
                  </a:rPr>
                  <a:t>）如果</a:t>
                </a:r>
                <a:r>
                  <a:rPr lang="en-US" altLang="zh-CN" sz="1800" dirty="0">
                    <a:solidFill>
                      <a:srgbClr val="FF0000"/>
                    </a:solidFill>
                    <a:latin typeface="Times New Roman"/>
                    <a:sym typeface="+mn-ea"/>
                  </a:rPr>
                  <a:t>N&lt;K</a:t>
                </a:r>
                <a:r>
                  <a:rPr lang="zh-CN" altLang="en-US" sz="1800" dirty="0">
                    <a:solidFill>
                      <a:srgbClr val="FF0000"/>
                    </a:solidFill>
                    <a:latin typeface="Times New Roman"/>
                    <a:sym typeface="+mn-ea"/>
                  </a:rPr>
                  <a:t>，</a:t>
                </a:r>
                <a:r>
                  <a:rPr lang="zh-CN" altLang="en-US" sz="1800" dirty="0">
                    <a:solidFill>
                      <a:srgbClr val="000000"/>
                    </a:solidFill>
                    <a:latin typeface="Times New Roman"/>
                    <a:sym typeface="+mn-ea"/>
                  </a:rPr>
                  <a:t>接收端就没有接收到足够多的码元，不可能恢复源文件。</a:t>
                </a:r>
                <a:endParaRPr lang="en-US" altLang="zh-CN" sz="1800" dirty="0">
                  <a:solidFill>
                    <a:srgbClr val="000000"/>
                  </a:solidFill>
                  <a:latin typeface="Times New Roman"/>
                  <a:sym typeface="+mn-ea"/>
                </a:endParaRPr>
              </a:p>
              <a:p>
                <a:pPr marL="285750" indent="-285750" eaLnBrk="0" fontAlgn="base" hangingPunct="0">
                  <a:lnSpc>
                    <a:spcPts val="3600"/>
                  </a:lnSpc>
                  <a:spcBef>
                    <a:spcPct val="0"/>
                  </a:spcBef>
                  <a:spcAft>
                    <a:spcPct val="0"/>
                  </a:spcAft>
                  <a:buFont typeface="Wingdings" panose="05000000000000000000" pitchFamily="2" charset="2"/>
                  <a:buChar char="l"/>
                </a:pPr>
                <a:r>
                  <a:rPr lang="en-US" altLang="zh-CN" sz="1800" dirty="0">
                    <a:solidFill>
                      <a:srgbClr val="000000"/>
                    </a:solidFill>
                    <a:latin typeface="Times New Roman"/>
                    <a:sym typeface="+mn-ea"/>
                  </a:rPr>
                  <a:t>        </a:t>
                </a:r>
                <a:r>
                  <a:rPr lang="zh-CN" altLang="en-US" sz="1800" dirty="0">
                    <a:solidFill>
                      <a:srgbClr val="FF0000"/>
                    </a:solidFill>
                    <a:latin typeface="Times New Roman"/>
                    <a:sym typeface="+mn-ea"/>
                  </a:rPr>
                  <a:t>如果</a:t>
                </a:r>
                <a:r>
                  <a:rPr lang="en-US" altLang="zh-CN" sz="1800" dirty="0">
                    <a:solidFill>
                      <a:srgbClr val="FF0000"/>
                    </a:solidFill>
                    <a:latin typeface="Times New Roman"/>
                    <a:sym typeface="+mn-ea"/>
                  </a:rPr>
                  <a:t>N=K</a:t>
                </a:r>
                <a:r>
                  <a:rPr lang="zh-CN" altLang="en-US" sz="1800" dirty="0">
                    <a:solidFill>
                      <a:srgbClr val="FF0000"/>
                    </a:solidFill>
                    <a:latin typeface="Times New Roman"/>
                    <a:sym typeface="+mn-ea"/>
                  </a:rPr>
                  <a:t>，</a:t>
                </a:r>
                <a:r>
                  <a:rPr lang="zh-CN" altLang="en-US" sz="1800" dirty="0">
                    <a:solidFill>
                      <a:srgbClr val="000000"/>
                    </a:solidFill>
                    <a:latin typeface="Times New Roman"/>
                    <a:sym typeface="+mn-ea"/>
                  </a:rPr>
                  <a:t>则接收端有可能恢复源文件。如果矩阵</a:t>
                </a:r>
                <a:r>
                  <a:rPr lang="en-US" altLang="zh-CN" sz="1800" dirty="0">
                    <a:solidFill>
                      <a:srgbClr val="000000"/>
                    </a:solidFill>
                    <a:latin typeface="Times New Roman"/>
                    <a:sym typeface="+mn-ea"/>
                  </a:rPr>
                  <a:t>G</a:t>
                </a:r>
                <a:r>
                  <a:rPr lang="zh-CN" altLang="en-US" sz="1800" dirty="0">
                    <a:solidFill>
                      <a:srgbClr val="000000"/>
                    </a:solidFill>
                    <a:latin typeface="Times New Roman"/>
                    <a:sym typeface="+mn-ea"/>
                  </a:rPr>
                  <a:t>可逆（二进制），就可以计算出</a:t>
                </a:r>
                <a:r>
                  <a:rPr lang="en-US" altLang="zh-CN" sz="1800" dirty="0">
                    <a:solidFill>
                      <a:srgbClr val="000000"/>
                    </a:solidFill>
                    <a:latin typeface="Times New Roman"/>
                    <a:sym typeface="+mn-ea"/>
                  </a:rPr>
                  <a:t>G</a:t>
                </a:r>
                <a:r>
                  <a:rPr lang="zh-CN" altLang="en-US" sz="1800" dirty="0">
                    <a:solidFill>
                      <a:srgbClr val="000000"/>
                    </a:solidFill>
                    <a:latin typeface="Times New Roman"/>
                    <a:sym typeface="+mn-ea"/>
                  </a:rPr>
                  <a:t>的逆矩阵</a:t>
                </a:r>
                <a:r>
                  <a:rPr lang="en-US" altLang="zh-CN" sz="1800" dirty="0">
                    <a:solidFill>
                      <a:srgbClr val="000000"/>
                    </a:solidFill>
                    <a:latin typeface="Times New Roman"/>
                    <a:sym typeface="+mn-ea"/>
                  </a:rPr>
                  <a:t>G</a:t>
                </a:r>
                <a:r>
                  <a:rPr lang="en-US" altLang="zh-CN" sz="1800" baseline="30000" dirty="0">
                    <a:solidFill>
                      <a:srgbClr val="000000"/>
                    </a:solidFill>
                    <a:latin typeface="Times New Roman"/>
                    <a:sym typeface="+mn-ea"/>
                  </a:rPr>
                  <a:t>-1</a:t>
                </a:r>
                <a:r>
                  <a:rPr lang="zh-CN" altLang="en-US" sz="1800" dirty="0">
                    <a:solidFill>
                      <a:srgbClr val="000000"/>
                    </a:solidFill>
                    <a:latin typeface="Times New Roman"/>
                    <a:sym typeface="+mn-ea"/>
                  </a:rPr>
                  <a:t>，就能恢复</a:t>
                </a:r>
                <a:r>
                  <a:rPr lang="en-US" altLang="zh-CN" sz="1800" i="1" dirty="0" err="1">
                    <a:solidFill>
                      <a:srgbClr val="000000"/>
                    </a:solidFill>
                    <a:latin typeface="Times New Roman"/>
                    <a:sym typeface="+mn-ea"/>
                  </a:rPr>
                  <a:t>S</a:t>
                </a:r>
                <a:r>
                  <a:rPr lang="en-US" altLang="zh-CN" sz="1800" i="1" baseline="-25000" dirty="0" err="1">
                    <a:solidFill>
                      <a:srgbClr val="000000"/>
                    </a:solidFill>
                    <a:latin typeface="Times New Roman"/>
                    <a:sym typeface="+mn-ea"/>
                  </a:rPr>
                  <a:t>k</a:t>
                </a:r>
                <a:r>
                  <a:rPr lang="zh-CN" altLang="en-US" sz="1800" dirty="0">
                    <a:solidFill>
                      <a:srgbClr val="000000"/>
                    </a:solidFill>
                    <a:latin typeface="Times New Roman"/>
                    <a:sym typeface="+mn-ea"/>
                  </a:rPr>
                  <a:t>，即</a:t>
                </a:r>
                <a14:m>
                  <m:oMath xmlns:m="http://schemas.openxmlformats.org/officeDocument/2006/math">
                    <m:sSub>
                      <m:sSubPr>
                        <m:ctrlPr>
                          <a:rPr lang="en-US" altLang="zh-CN" sz="1800" i="1">
                            <a:solidFill>
                              <a:srgbClr val="000000"/>
                            </a:solidFill>
                            <a:latin typeface="Cambria Math" panose="02040503050406030204" pitchFamily="18" charset="0"/>
                            <a:sym typeface="+mn-ea"/>
                          </a:rPr>
                        </m:ctrlPr>
                      </m:sSubPr>
                      <m:e>
                        <m:r>
                          <m:rPr>
                            <m:sty m:val="p"/>
                          </m:rPr>
                          <a:rPr lang="en-US" altLang="zh-CN" sz="1800">
                            <a:solidFill>
                              <a:srgbClr val="000000"/>
                            </a:solidFill>
                            <a:latin typeface="Cambria Math" panose="02040503050406030204" pitchFamily="18" charset="0"/>
                            <a:sym typeface="+mn-ea"/>
                          </a:rPr>
                          <m:t>S</m:t>
                        </m:r>
                      </m:e>
                      <m:sub>
                        <m:r>
                          <m:rPr>
                            <m:sty m:val="p"/>
                          </m:rPr>
                          <a:rPr lang="en-US" altLang="zh-CN" sz="1800">
                            <a:solidFill>
                              <a:srgbClr val="000000"/>
                            </a:solidFill>
                            <a:latin typeface="Cambria Math" panose="02040503050406030204" pitchFamily="18" charset="0"/>
                            <a:sym typeface="+mn-ea"/>
                          </a:rPr>
                          <m:t>k</m:t>
                        </m:r>
                      </m:sub>
                    </m:sSub>
                    <m:r>
                      <a:rPr lang="en-US" altLang="zh-CN" sz="1800">
                        <a:solidFill>
                          <a:srgbClr val="000000"/>
                        </a:solidFill>
                        <a:latin typeface="Cambria Math" panose="02040503050406030204" pitchFamily="18" charset="0"/>
                        <a:sym typeface="+mn-ea"/>
                      </a:rPr>
                      <m:t>=</m:t>
                    </m:r>
                    <m:sSubSup>
                      <m:sSubSupPr>
                        <m:ctrlPr>
                          <a:rPr lang="en-US" altLang="zh-CN" sz="1800" i="1">
                            <a:solidFill>
                              <a:srgbClr val="000000"/>
                            </a:solidFill>
                            <a:latin typeface="Cambria Math" panose="02040503050406030204" pitchFamily="18" charset="0"/>
                            <a:ea typeface="Cambria Math" panose="02040503050406030204" pitchFamily="18" charset="0"/>
                            <a:sym typeface="+mn-ea"/>
                          </a:rPr>
                        </m:ctrlPr>
                      </m:sSubSupPr>
                      <m:e>
                        <m:r>
                          <a:rPr lang="en-US" altLang="zh-CN" sz="1800" i="1">
                            <a:solidFill>
                              <a:srgbClr val="000000"/>
                            </a:solidFill>
                            <a:latin typeface="Cambria Math" panose="02040503050406030204" pitchFamily="18" charset="0"/>
                            <a:ea typeface="Cambria Math" panose="02040503050406030204" pitchFamily="18" charset="0"/>
                            <a:sym typeface="+mn-ea"/>
                          </a:rPr>
                          <m:t>∑</m:t>
                        </m:r>
                      </m:e>
                      <m:sub>
                        <m:r>
                          <a:rPr lang="en-US" altLang="zh-CN" sz="1800" i="1">
                            <a:solidFill>
                              <a:srgbClr val="000000"/>
                            </a:solidFill>
                            <a:latin typeface="Cambria Math" panose="02040503050406030204" pitchFamily="18" charset="0"/>
                            <a:ea typeface="Cambria Math" panose="02040503050406030204" pitchFamily="18" charset="0"/>
                            <a:sym typeface="+mn-ea"/>
                          </a:rPr>
                          <m:t>𝑛</m:t>
                        </m:r>
                        <m:r>
                          <a:rPr lang="en-US" altLang="zh-CN" sz="1800" i="1">
                            <a:solidFill>
                              <a:srgbClr val="000000"/>
                            </a:solidFill>
                            <a:latin typeface="Cambria Math" panose="02040503050406030204" pitchFamily="18" charset="0"/>
                            <a:ea typeface="Cambria Math" panose="02040503050406030204" pitchFamily="18" charset="0"/>
                            <a:sym typeface="+mn-ea"/>
                          </a:rPr>
                          <m:t>=1</m:t>
                        </m:r>
                      </m:sub>
                      <m:sup>
                        <m:r>
                          <a:rPr lang="en-US" altLang="zh-CN" sz="1800" i="1">
                            <a:solidFill>
                              <a:srgbClr val="000000"/>
                            </a:solidFill>
                            <a:latin typeface="Cambria Math" panose="02040503050406030204" pitchFamily="18" charset="0"/>
                            <a:ea typeface="Cambria Math" panose="02040503050406030204" pitchFamily="18" charset="0"/>
                            <a:sym typeface="+mn-ea"/>
                          </a:rPr>
                          <m:t>𝑁</m:t>
                        </m:r>
                      </m:sup>
                    </m:sSubSup>
                    <m:sSub>
                      <m:sSubPr>
                        <m:ctrlPr>
                          <a:rPr lang="en-US" altLang="zh-CN" sz="1800" i="1">
                            <a:solidFill>
                              <a:srgbClr val="000000"/>
                            </a:solidFill>
                            <a:latin typeface="Cambria Math" panose="02040503050406030204" pitchFamily="18" charset="0"/>
                            <a:ea typeface="Cambria Math" panose="02040503050406030204" pitchFamily="18" charset="0"/>
                            <a:sym typeface="+mn-ea"/>
                          </a:rPr>
                        </m:ctrlPr>
                      </m:sSubPr>
                      <m:e>
                        <m:r>
                          <a:rPr lang="en-US" altLang="zh-CN" sz="1800" i="1">
                            <a:solidFill>
                              <a:srgbClr val="000000"/>
                            </a:solidFill>
                            <a:latin typeface="Cambria Math" panose="02040503050406030204" pitchFamily="18" charset="0"/>
                            <a:ea typeface="Cambria Math" panose="02040503050406030204" pitchFamily="18" charset="0"/>
                            <a:sym typeface="+mn-ea"/>
                          </a:rPr>
                          <m:t>𝑡</m:t>
                        </m:r>
                      </m:e>
                      <m:sub>
                        <m:r>
                          <a:rPr lang="en-US" altLang="zh-CN" sz="1800" i="1">
                            <a:solidFill>
                              <a:srgbClr val="000000"/>
                            </a:solidFill>
                            <a:latin typeface="Cambria Math" panose="02040503050406030204" pitchFamily="18" charset="0"/>
                            <a:ea typeface="Cambria Math" panose="02040503050406030204" pitchFamily="18" charset="0"/>
                            <a:sym typeface="+mn-ea"/>
                          </a:rPr>
                          <m:t>𝑛</m:t>
                        </m:r>
                      </m:sub>
                    </m:sSub>
                    <m:sSubSup>
                      <m:sSubSupPr>
                        <m:ctrlPr>
                          <a:rPr lang="en-US" altLang="zh-CN" sz="1800" i="1">
                            <a:solidFill>
                              <a:srgbClr val="000000"/>
                            </a:solidFill>
                            <a:latin typeface="Cambria Math" panose="02040503050406030204" pitchFamily="18" charset="0"/>
                            <a:ea typeface="Cambria Math" panose="02040503050406030204" pitchFamily="18" charset="0"/>
                            <a:sym typeface="+mn-ea"/>
                          </a:rPr>
                        </m:ctrlPr>
                      </m:sSubSupPr>
                      <m:e>
                        <m:r>
                          <a:rPr lang="en-US" altLang="zh-CN" sz="1800" i="1">
                            <a:solidFill>
                              <a:srgbClr val="000000"/>
                            </a:solidFill>
                            <a:latin typeface="Cambria Math" panose="02040503050406030204" pitchFamily="18" charset="0"/>
                            <a:ea typeface="Cambria Math" panose="02040503050406030204" pitchFamily="18" charset="0"/>
                            <a:sym typeface="+mn-ea"/>
                          </a:rPr>
                          <m:t>𝐺</m:t>
                        </m:r>
                      </m:e>
                      <m:sub>
                        <m:r>
                          <a:rPr lang="en-US" altLang="zh-CN" sz="1800" i="1">
                            <a:solidFill>
                              <a:srgbClr val="000000"/>
                            </a:solidFill>
                            <a:latin typeface="Cambria Math" panose="02040503050406030204" pitchFamily="18" charset="0"/>
                            <a:ea typeface="Cambria Math" panose="02040503050406030204" pitchFamily="18" charset="0"/>
                            <a:sym typeface="+mn-ea"/>
                          </a:rPr>
                          <m:t>𝑛𝑘</m:t>
                        </m:r>
                      </m:sub>
                      <m:sup>
                        <m:r>
                          <a:rPr lang="en-US" altLang="zh-CN" sz="1800" i="1">
                            <a:solidFill>
                              <a:srgbClr val="000000"/>
                            </a:solidFill>
                            <a:latin typeface="Cambria Math" panose="02040503050406030204" pitchFamily="18" charset="0"/>
                            <a:ea typeface="Cambria Math" panose="02040503050406030204" pitchFamily="18" charset="0"/>
                            <a:sym typeface="+mn-ea"/>
                          </a:rPr>
                          <m:t>−1</m:t>
                        </m:r>
                      </m:sup>
                    </m:sSubSup>
                    <m:r>
                      <a:rPr lang="zh-CN" altLang="en-US" sz="1800" i="1">
                        <a:solidFill>
                          <a:srgbClr val="000000"/>
                        </a:solidFill>
                        <a:latin typeface="Cambria Math" panose="02040503050406030204" pitchFamily="18" charset="0"/>
                        <a:ea typeface="Cambria Math" panose="02040503050406030204" pitchFamily="18" charset="0"/>
                        <a:sym typeface="+mn-ea"/>
                      </a:rPr>
                      <m:t>，</m:t>
                    </m:r>
                  </m:oMath>
                </a14:m>
                <a:r>
                  <a:rPr lang="zh-CN" altLang="en-US" sz="1800" dirty="0">
                    <a:solidFill>
                      <a:srgbClr val="000000"/>
                    </a:solidFill>
                    <a:latin typeface="Times New Roman"/>
                    <a:sym typeface="+mn-ea"/>
                  </a:rPr>
                  <a:t>此时数据恢复的概率为</a:t>
                </a:r>
                <a:r>
                  <a:rPr lang="en-US" altLang="zh-CN" sz="1800" dirty="0">
                    <a:solidFill>
                      <a:srgbClr val="000000"/>
                    </a:solidFill>
                    <a:latin typeface="Times New Roman"/>
                    <a:sym typeface="+mn-ea"/>
                  </a:rPr>
                  <a:t>(1-2</a:t>
                </a:r>
                <a:r>
                  <a:rPr lang="en-US" altLang="zh-CN" sz="1800" baseline="30000" dirty="0">
                    <a:solidFill>
                      <a:srgbClr val="000000"/>
                    </a:solidFill>
                    <a:latin typeface="Times New Roman"/>
                    <a:sym typeface="+mn-ea"/>
                  </a:rPr>
                  <a:t>-K</a:t>
                </a:r>
                <a:r>
                  <a:rPr lang="en-US" altLang="zh-CN" sz="1800" dirty="0">
                    <a:solidFill>
                      <a:srgbClr val="000000"/>
                    </a:solidFill>
                    <a:latin typeface="Times New Roman"/>
                    <a:sym typeface="+mn-ea"/>
                  </a:rPr>
                  <a:t>)(1-2</a:t>
                </a:r>
                <a:r>
                  <a:rPr lang="en-US" altLang="zh-CN" sz="1800" baseline="30000" dirty="0">
                    <a:solidFill>
                      <a:srgbClr val="000000"/>
                    </a:solidFill>
                    <a:latin typeface="Times New Roman"/>
                    <a:sym typeface="+mn-ea"/>
                  </a:rPr>
                  <a:t>-(K-1)</a:t>
                </a:r>
                <a:r>
                  <a:rPr lang="en-US" altLang="zh-CN" sz="1800" dirty="0">
                    <a:solidFill>
                      <a:srgbClr val="000000"/>
                    </a:solidFill>
                    <a:latin typeface="Times New Roman"/>
                    <a:sym typeface="+mn-ea"/>
                  </a:rPr>
                  <a:t>)…(1-1/8)(1-1/4)(1-1/2)</a:t>
                </a:r>
                <a:r>
                  <a:rPr lang="zh-CN" altLang="en-US" sz="1800" dirty="0">
                    <a:solidFill>
                      <a:srgbClr val="000000"/>
                    </a:solidFill>
                    <a:latin typeface="Times New Roman"/>
                    <a:sym typeface="+mn-ea"/>
                  </a:rPr>
                  <a:t>，当</a:t>
                </a:r>
                <a:r>
                  <a:rPr lang="en-US" altLang="zh-CN" sz="1800" dirty="0">
                    <a:solidFill>
                      <a:srgbClr val="000000"/>
                    </a:solidFill>
                    <a:latin typeface="Times New Roman"/>
                    <a:sym typeface="+mn-ea"/>
                  </a:rPr>
                  <a:t>K&gt;10</a:t>
                </a:r>
                <a:r>
                  <a:rPr lang="zh-CN" altLang="en-US" sz="1800" dirty="0">
                    <a:solidFill>
                      <a:srgbClr val="000000"/>
                    </a:solidFill>
                    <a:latin typeface="Times New Roman"/>
                    <a:sym typeface="+mn-ea"/>
                  </a:rPr>
                  <a:t>时，概率约为</a:t>
                </a:r>
                <a:r>
                  <a:rPr lang="en-US" altLang="zh-CN" sz="1800" dirty="0">
                    <a:solidFill>
                      <a:srgbClr val="000000"/>
                    </a:solidFill>
                    <a:latin typeface="Times New Roman"/>
                    <a:sym typeface="+mn-ea"/>
                  </a:rPr>
                  <a:t>0.289</a:t>
                </a:r>
                <a:r>
                  <a:rPr lang="zh-CN" altLang="en-US" sz="1800" dirty="0">
                    <a:solidFill>
                      <a:srgbClr val="000000"/>
                    </a:solidFill>
                    <a:latin typeface="Times New Roman"/>
                    <a:sym typeface="+mn-ea"/>
                  </a:rPr>
                  <a:t>。</a:t>
                </a:r>
                <a:endParaRPr lang="en-US" altLang="zh-CN" sz="1800" dirty="0">
                  <a:solidFill>
                    <a:srgbClr val="000000"/>
                  </a:solidFill>
                  <a:latin typeface="Times New Roman"/>
                  <a:sym typeface="+mn-ea"/>
                </a:endParaRPr>
              </a:p>
              <a:p>
                <a:pPr marL="285750" indent="-285750" eaLnBrk="0" fontAlgn="base" hangingPunct="0">
                  <a:lnSpc>
                    <a:spcPts val="3600"/>
                  </a:lnSpc>
                  <a:spcBef>
                    <a:spcPct val="0"/>
                  </a:spcBef>
                  <a:spcAft>
                    <a:spcPct val="0"/>
                  </a:spcAft>
                  <a:buFont typeface="Wingdings" panose="05000000000000000000" pitchFamily="2" charset="2"/>
                  <a:buChar char="l"/>
                </a:pPr>
                <a:r>
                  <a:rPr lang="en-US" altLang="zh-CN" sz="1800" dirty="0">
                    <a:solidFill>
                      <a:srgbClr val="000000"/>
                    </a:solidFill>
                    <a:latin typeface="Times New Roman"/>
                    <a:sym typeface="+mn-ea"/>
                  </a:rPr>
                  <a:t>       </a:t>
                </a:r>
                <a:r>
                  <a:rPr lang="zh-CN" altLang="en-US" sz="1800" dirty="0">
                    <a:solidFill>
                      <a:srgbClr val="FF0000"/>
                    </a:solidFill>
                    <a:latin typeface="Times New Roman"/>
                    <a:sym typeface="+mn-ea"/>
                  </a:rPr>
                  <a:t>如果</a:t>
                </a:r>
                <a:r>
                  <a:rPr lang="en-US" altLang="zh-CN" sz="1800" dirty="0">
                    <a:solidFill>
                      <a:srgbClr val="FF0000"/>
                    </a:solidFill>
                    <a:latin typeface="Times New Roman"/>
                    <a:sym typeface="+mn-ea"/>
                  </a:rPr>
                  <a:t>N&gt;K</a:t>
                </a:r>
                <a:r>
                  <a:rPr lang="zh-CN" altLang="en-US" sz="1800" dirty="0">
                    <a:solidFill>
                      <a:srgbClr val="FF0000"/>
                    </a:solidFill>
                    <a:latin typeface="Times New Roman"/>
                    <a:sym typeface="+mn-ea"/>
                  </a:rPr>
                  <a:t>，</a:t>
                </a:r>
                <a:r>
                  <a:rPr lang="zh-CN" altLang="en-US" sz="1800" dirty="0">
                    <a:solidFill>
                      <a:srgbClr val="000000"/>
                    </a:solidFill>
                    <a:latin typeface="Times New Roman"/>
                    <a:sym typeface="+mn-ea"/>
                  </a:rPr>
                  <a:t>令</a:t>
                </a:r>
                <a:r>
                  <a:rPr lang="en-US" altLang="zh-CN" sz="1800" dirty="0">
                    <a:solidFill>
                      <a:srgbClr val="000000"/>
                    </a:solidFill>
                    <a:latin typeface="Times New Roman"/>
                    <a:sym typeface="+mn-ea"/>
                  </a:rPr>
                  <a:t>N = K + E </a:t>
                </a:r>
                <a:r>
                  <a:rPr lang="zh-CN" altLang="en-US" sz="1800" dirty="0">
                    <a:solidFill>
                      <a:srgbClr val="000000"/>
                    </a:solidFill>
                    <a:latin typeface="Times New Roman"/>
                    <a:sym typeface="+mn-ea"/>
                  </a:rPr>
                  <a:t>，</a:t>
                </a:r>
                <a:r>
                  <a:rPr lang="en-US" altLang="zh-CN" sz="1800" dirty="0">
                    <a:solidFill>
                      <a:srgbClr val="000000"/>
                    </a:solidFill>
                    <a:latin typeface="Times New Roman"/>
                    <a:sym typeface="+mn-ea"/>
                  </a:rPr>
                  <a:t>E</a:t>
                </a:r>
                <a:r>
                  <a:rPr lang="zh-CN" altLang="en-US" sz="1800" dirty="0">
                    <a:solidFill>
                      <a:srgbClr val="000000"/>
                    </a:solidFill>
                    <a:latin typeface="Times New Roman"/>
                    <a:sym typeface="+mn-ea"/>
                  </a:rPr>
                  <a:t>是多接收到的很小量的码元。令此时数据恢复的概率为</a:t>
                </a:r>
                <a:r>
                  <a:rPr lang="en-US" altLang="zh-CN" sz="1800" dirty="0">
                    <a:solidFill>
                      <a:srgbClr val="000000"/>
                    </a:solidFill>
                    <a:latin typeface="Times New Roman"/>
                    <a:sym typeface="+mn-ea"/>
                  </a:rPr>
                  <a:t>1-</a:t>
                </a:r>
                <a:r>
                  <a:rPr lang="en-US" altLang="zh-CN" sz="1800" i="1" dirty="0">
                    <a:solidFill>
                      <a:srgbClr val="000000"/>
                    </a:solidFill>
                    <a:latin typeface="Times New Roman"/>
                    <a:sym typeface="+mn-ea"/>
                  </a:rPr>
                  <a:t>e</a:t>
                </a:r>
                <a:r>
                  <a:rPr lang="zh-CN" altLang="en-US" sz="1800" dirty="0">
                    <a:solidFill>
                      <a:srgbClr val="000000"/>
                    </a:solidFill>
                    <a:latin typeface="Times New Roman"/>
                    <a:sym typeface="+mn-ea"/>
                  </a:rPr>
                  <a:t>，</a:t>
                </a:r>
                <a:r>
                  <a:rPr lang="en-US" altLang="zh-CN" sz="1800" i="1" dirty="0">
                    <a:solidFill>
                      <a:srgbClr val="000000"/>
                    </a:solidFill>
                    <a:latin typeface="Times New Roman"/>
                    <a:sym typeface="+mn-ea"/>
                  </a:rPr>
                  <a:t>e</a:t>
                </a:r>
                <a:r>
                  <a:rPr lang="zh-CN" altLang="en-US" sz="1800" dirty="0">
                    <a:solidFill>
                      <a:srgbClr val="000000"/>
                    </a:solidFill>
                    <a:latin typeface="Times New Roman"/>
                    <a:sym typeface="+mn-ea"/>
                  </a:rPr>
                  <a:t>为接收端接收到额外的码元时无法恢复的概率。对于任何</a:t>
                </a:r>
                <a:r>
                  <a:rPr lang="en-US" altLang="zh-CN" sz="1800" dirty="0">
                    <a:solidFill>
                      <a:srgbClr val="000000"/>
                    </a:solidFill>
                    <a:latin typeface="Times New Roman"/>
                    <a:sym typeface="+mn-ea"/>
                  </a:rPr>
                  <a:t>K</a:t>
                </a:r>
                <a:r>
                  <a:rPr lang="zh-CN" altLang="en-US" sz="1800" dirty="0">
                    <a:solidFill>
                      <a:srgbClr val="000000"/>
                    </a:solidFill>
                    <a:latin typeface="Times New Roman"/>
                    <a:sym typeface="+mn-ea"/>
                  </a:rPr>
                  <a:t>，无法恢复源文件的概率</a:t>
                </a:r>
                <a:r>
                  <a:rPr lang="en-US" altLang="zh-CN" sz="1800" i="1" dirty="0">
                    <a:solidFill>
                      <a:srgbClr val="000000"/>
                    </a:solidFill>
                    <a:latin typeface="Times New Roman"/>
                    <a:sym typeface="+mn-ea"/>
                  </a:rPr>
                  <a:t>e</a:t>
                </a:r>
                <a:r>
                  <a:rPr lang="en-US" altLang="zh-CN" sz="1800" dirty="0">
                    <a:solidFill>
                      <a:srgbClr val="000000"/>
                    </a:solidFill>
                    <a:latin typeface="Times New Roman"/>
                    <a:sym typeface="+mn-ea"/>
                  </a:rPr>
                  <a:t>(E)</a:t>
                </a:r>
                <a:r>
                  <a:rPr lang="zh-CN" altLang="en-US" sz="1800" dirty="0">
                    <a:solidFill>
                      <a:srgbClr val="000000"/>
                    </a:solidFill>
                    <a:latin typeface="Times New Roman"/>
                    <a:sym typeface="+mn-ea"/>
                  </a:rPr>
                  <a:t>≤</a:t>
                </a:r>
                <a:r>
                  <a:rPr lang="en-US" altLang="zh-CN" sz="1800" dirty="0">
                    <a:solidFill>
                      <a:srgbClr val="000000"/>
                    </a:solidFill>
                    <a:latin typeface="Times New Roman"/>
                    <a:sym typeface="+mn-ea"/>
                  </a:rPr>
                  <a:t>2</a:t>
                </a:r>
                <a:r>
                  <a:rPr lang="en-US" altLang="zh-CN" sz="1800" baseline="30000" dirty="0">
                    <a:solidFill>
                      <a:srgbClr val="000000"/>
                    </a:solidFill>
                    <a:latin typeface="Times New Roman"/>
                    <a:sym typeface="+mn-ea"/>
                  </a:rPr>
                  <a:t>-E</a:t>
                </a:r>
                <a:r>
                  <a:rPr lang="zh-CN" altLang="en-US" sz="1800" dirty="0">
                    <a:solidFill>
                      <a:srgbClr val="000000"/>
                    </a:solidFill>
                    <a:latin typeface="Times New Roman"/>
                    <a:sym typeface="+mn-ea"/>
                  </a:rPr>
                  <a:t>。总的来说，恢复源文件的概率为</a:t>
                </a:r>
                <a:r>
                  <a:rPr lang="en-US" altLang="zh-CN" sz="1800" dirty="0">
                    <a:solidFill>
                      <a:srgbClr val="000000"/>
                    </a:solidFill>
                    <a:latin typeface="Times New Roman"/>
                    <a:sym typeface="+mn-ea"/>
                  </a:rPr>
                  <a:t>1-</a:t>
                </a:r>
                <a:r>
                  <a:rPr lang="en-US" altLang="zh-CN" sz="1800" i="1" dirty="0">
                    <a:solidFill>
                      <a:srgbClr val="000000"/>
                    </a:solidFill>
                    <a:latin typeface="Times New Roman"/>
                    <a:sym typeface="+mn-ea"/>
                  </a:rPr>
                  <a:t>e</a:t>
                </a:r>
                <a:r>
                  <a:rPr lang="zh-CN" altLang="en-US" sz="1800" dirty="0">
                    <a:solidFill>
                      <a:srgbClr val="000000"/>
                    </a:solidFill>
                    <a:latin typeface="Times New Roman"/>
                    <a:sym typeface="+mn-ea"/>
                  </a:rPr>
                  <a:t>时，需要接收的数据包数目大概是</a:t>
                </a:r>
                <a:r>
                  <a:rPr lang="en-US" altLang="zh-CN" sz="1800" dirty="0">
                    <a:solidFill>
                      <a:srgbClr val="000000"/>
                    </a:solidFill>
                    <a:latin typeface="Times New Roman"/>
                    <a:sym typeface="+mn-ea"/>
                  </a:rPr>
                  <a:t>K+log</a:t>
                </a:r>
                <a:r>
                  <a:rPr lang="en-US" altLang="zh-CN" sz="1800" baseline="-25000" dirty="0">
                    <a:solidFill>
                      <a:srgbClr val="000000"/>
                    </a:solidFill>
                    <a:latin typeface="Times New Roman"/>
                    <a:sym typeface="+mn-ea"/>
                  </a:rPr>
                  <a:t>2</a:t>
                </a:r>
                <a:r>
                  <a:rPr lang="en-US" altLang="zh-CN" sz="1800" dirty="0">
                    <a:solidFill>
                      <a:srgbClr val="000000"/>
                    </a:solidFill>
                    <a:latin typeface="Times New Roman"/>
                    <a:sym typeface="+mn-ea"/>
                  </a:rPr>
                  <a:t>(1/</a:t>
                </a:r>
                <a:r>
                  <a:rPr lang="en-US" altLang="zh-CN" sz="1800" i="1" dirty="0">
                    <a:solidFill>
                      <a:srgbClr val="000000"/>
                    </a:solidFill>
                    <a:latin typeface="Times New Roman"/>
                    <a:sym typeface="+mn-ea"/>
                  </a:rPr>
                  <a:t>e</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，对一个数据包编码的代价是需要</a:t>
                </a:r>
                <a:r>
                  <a:rPr lang="en-US" altLang="zh-CN" sz="1800" dirty="0">
                    <a:solidFill>
                      <a:srgbClr val="000000"/>
                    </a:solidFill>
                    <a:latin typeface="Times New Roman"/>
                    <a:sym typeface="+mn-ea"/>
                  </a:rPr>
                  <a:t>K/2</a:t>
                </a:r>
                <a:r>
                  <a:rPr lang="zh-CN" altLang="en-US" sz="1800" dirty="0">
                    <a:solidFill>
                      <a:srgbClr val="000000"/>
                    </a:solidFill>
                    <a:latin typeface="Times New Roman"/>
                    <a:sym typeface="+mn-ea"/>
                  </a:rPr>
                  <a:t>次数据包运算，解码的代价是对随机矩阵</a:t>
                </a:r>
                <a:r>
                  <a:rPr lang="en-US" altLang="zh-CN" sz="1800" dirty="0">
                    <a:solidFill>
                      <a:srgbClr val="000000"/>
                    </a:solidFill>
                    <a:latin typeface="Times New Roman"/>
                    <a:sym typeface="+mn-ea"/>
                  </a:rPr>
                  <a:t>G</a:t>
                </a:r>
                <a:r>
                  <a:rPr lang="zh-CN" altLang="en-US" sz="1800" dirty="0">
                    <a:solidFill>
                      <a:srgbClr val="000000"/>
                    </a:solidFill>
                    <a:latin typeface="Times New Roman"/>
                    <a:sym typeface="+mn-ea"/>
                  </a:rPr>
                  <a:t>求逆的代价</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大概</a:t>
                </a:r>
                <a:r>
                  <a:rPr lang="en-US" altLang="zh-CN" sz="1800" dirty="0">
                    <a:solidFill>
                      <a:srgbClr val="000000"/>
                    </a:solidFill>
                    <a:latin typeface="Times New Roman"/>
                    <a:sym typeface="+mn-ea"/>
                  </a:rPr>
                  <a:t>K</a:t>
                </a:r>
                <a:r>
                  <a:rPr lang="en-US" altLang="zh-CN" sz="1800" baseline="30000" dirty="0">
                    <a:solidFill>
                      <a:srgbClr val="000000"/>
                    </a:solidFill>
                    <a:latin typeface="Times New Roman"/>
                    <a:sym typeface="+mn-ea"/>
                  </a:rPr>
                  <a:t>3</a:t>
                </a:r>
                <a:r>
                  <a:rPr lang="zh-CN" altLang="en-US" sz="1800" dirty="0">
                    <a:solidFill>
                      <a:srgbClr val="000000"/>
                    </a:solidFill>
                    <a:latin typeface="Times New Roman"/>
                    <a:sym typeface="+mn-ea"/>
                  </a:rPr>
                  <a:t>次二进制运算</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和对接收的数据包对应的随机矩阵求逆的代价</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大概是</a:t>
                </a:r>
                <a:r>
                  <a:rPr lang="en-US" altLang="zh-CN" sz="1800" dirty="0">
                    <a:solidFill>
                      <a:srgbClr val="000000"/>
                    </a:solidFill>
                    <a:latin typeface="Times New Roman"/>
                    <a:sym typeface="+mn-ea"/>
                  </a:rPr>
                  <a:t>K</a:t>
                </a:r>
                <a:r>
                  <a:rPr lang="en-US" altLang="zh-CN" sz="1800" baseline="30000" dirty="0">
                    <a:solidFill>
                      <a:srgbClr val="000000"/>
                    </a:solidFill>
                    <a:latin typeface="Times New Roman"/>
                    <a:sym typeface="+mn-ea"/>
                  </a:rPr>
                  <a:t>2</a:t>
                </a:r>
                <a:r>
                  <a:rPr lang="en-US" altLang="zh-CN" sz="1800" dirty="0">
                    <a:solidFill>
                      <a:srgbClr val="000000"/>
                    </a:solidFill>
                    <a:latin typeface="Times New Roman"/>
                    <a:sym typeface="+mn-ea"/>
                  </a:rPr>
                  <a:t>/2</a:t>
                </a:r>
                <a:r>
                  <a:rPr lang="zh-CN" altLang="en-US" sz="1800" dirty="0">
                    <a:solidFill>
                      <a:srgbClr val="000000"/>
                    </a:solidFill>
                    <a:latin typeface="Times New Roman"/>
                    <a:sym typeface="+mn-ea"/>
                  </a:rPr>
                  <a:t>次数据包运算</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之和。</a:t>
                </a:r>
                <a:endParaRPr lang="en-US" altLang="zh-CN" sz="1800" dirty="0">
                  <a:solidFill>
                    <a:srgbClr val="000000"/>
                  </a:solidFill>
                  <a:latin typeface="Times New Roman"/>
                  <a:sym typeface="+mn-ea"/>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23498" y="746613"/>
                <a:ext cx="11967218" cy="3721532"/>
              </a:xfrm>
              <a:prstGeom prst="rect">
                <a:avLst/>
              </a:prstGeom>
              <a:blipFill>
                <a:blip r:embed="rId2"/>
                <a:stretch>
                  <a:fillRect l="-408" r="-458" b="-1146"/>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C5B18D46-2898-4CA2-AD07-B424EE2FF4FB}"/>
              </a:ext>
            </a:extLst>
          </p:cNvPr>
          <p:cNvSpPr txBox="1"/>
          <p:nvPr/>
        </p:nvSpPr>
        <p:spPr>
          <a:xfrm>
            <a:off x="61749" y="4460650"/>
            <a:ext cx="12068502" cy="233653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sz="1800" dirty="0">
                <a:solidFill>
                  <a:srgbClr val="000000"/>
                </a:solidFill>
                <a:latin typeface="Times New Roman"/>
                <a:sym typeface="+mn-ea"/>
              </a:rPr>
              <a:t>         当一个随机码对删除信道而言并不是技术上的最佳码，在接收端接收到</a:t>
            </a:r>
            <a:r>
              <a:rPr lang="en-US" altLang="zh-CN" sz="1800" dirty="0">
                <a:solidFill>
                  <a:srgbClr val="000000"/>
                </a:solidFill>
                <a:latin typeface="Times New Roman"/>
                <a:sym typeface="+mn-ea"/>
              </a:rPr>
              <a:t>K</a:t>
            </a:r>
            <a:r>
              <a:rPr lang="zh-CN" altLang="en-US" sz="1800" dirty="0">
                <a:solidFill>
                  <a:srgbClr val="000000"/>
                </a:solidFill>
                <a:latin typeface="Times New Roman"/>
                <a:sym typeface="+mn-ea"/>
              </a:rPr>
              <a:t>个数据包时，只有</a:t>
            </a:r>
            <a:r>
              <a:rPr lang="en-US" altLang="zh-CN" sz="1800" dirty="0">
                <a:solidFill>
                  <a:srgbClr val="000000"/>
                </a:solidFill>
                <a:latin typeface="Times New Roman"/>
                <a:sym typeface="+mn-ea"/>
              </a:rPr>
              <a:t>0.289</a:t>
            </a:r>
            <a:r>
              <a:rPr lang="zh-CN" altLang="en-US" sz="1800" dirty="0">
                <a:solidFill>
                  <a:srgbClr val="000000"/>
                </a:solidFill>
                <a:latin typeface="Times New Roman"/>
                <a:sym typeface="+mn-ea"/>
              </a:rPr>
              <a:t>的概率恢复源文件，这几乎可以认为是最好的了。但当接收到额外的</a:t>
            </a:r>
            <a:r>
              <a:rPr lang="en-US" altLang="zh-CN" sz="1800" dirty="0">
                <a:solidFill>
                  <a:srgbClr val="000000"/>
                </a:solidFill>
                <a:latin typeface="Times New Roman"/>
                <a:sym typeface="+mn-ea"/>
              </a:rPr>
              <a:t>E</a:t>
            </a:r>
            <a:r>
              <a:rPr lang="zh-CN" altLang="en-US" sz="1800" dirty="0">
                <a:solidFill>
                  <a:srgbClr val="000000"/>
                </a:solidFill>
                <a:latin typeface="Times New Roman"/>
                <a:sym typeface="+mn-ea"/>
              </a:rPr>
              <a:t>个数据包时，无差错的恢复源文件的概率就至少为</a:t>
            </a:r>
            <a:r>
              <a:rPr lang="en-US" altLang="zh-CN" sz="1800" dirty="0">
                <a:solidFill>
                  <a:srgbClr val="000000"/>
                </a:solidFill>
                <a:latin typeface="Times New Roman"/>
                <a:sym typeface="+mn-ea"/>
              </a:rPr>
              <a:t>1-</a:t>
            </a:r>
            <a:r>
              <a:rPr lang="en-US" altLang="zh-CN" sz="1800" i="1" dirty="0">
                <a:solidFill>
                  <a:srgbClr val="000000"/>
                </a:solidFill>
                <a:latin typeface="Times New Roman"/>
                <a:sym typeface="+mn-ea"/>
              </a:rPr>
              <a:t>e</a:t>
            </a:r>
            <a:r>
              <a:rPr lang="zh-CN" altLang="en-US" sz="1800" dirty="0">
                <a:solidFill>
                  <a:srgbClr val="000000"/>
                </a:solidFill>
                <a:latin typeface="Times New Roman"/>
                <a:sym typeface="+mn-ea"/>
              </a:rPr>
              <a:t>，其中</a:t>
            </a:r>
            <a:r>
              <a:rPr lang="en-US" altLang="zh-CN" sz="1800" i="1" dirty="0">
                <a:solidFill>
                  <a:srgbClr val="000000"/>
                </a:solidFill>
                <a:latin typeface="Times New Roman"/>
                <a:sym typeface="+mn-ea"/>
              </a:rPr>
              <a:t>e</a:t>
            </a:r>
            <a:r>
              <a:rPr lang="en-US" altLang="zh-CN" sz="1800" dirty="0">
                <a:solidFill>
                  <a:srgbClr val="000000"/>
                </a:solidFill>
                <a:latin typeface="Times New Roman"/>
                <a:sym typeface="+mn-ea"/>
              </a:rPr>
              <a:t>=1-2</a:t>
            </a:r>
            <a:r>
              <a:rPr lang="en-US" altLang="zh-CN" sz="1800" baseline="30000" dirty="0">
                <a:solidFill>
                  <a:srgbClr val="000000"/>
                </a:solidFill>
                <a:latin typeface="Times New Roman"/>
                <a:sym typeface="+mn-ea"/>
              </a:rPr>
              <a:t>-E</a:t>
            </a:r>
            <a:r>
              <a:rPr lang="zh-CN" altLang="en-US" sz="1800" dirty="0">
                <a:solidFill>
                  <a:srgbClr val="000000"/>
                </a:solidFill>
                <a:latin typeface="Times New Roman"/>
                <a:sym typeface="+mn-ea"/>
              </a:rPr>
              <a:t>。因此，随着源文件大小的增加，随机线性喷泉码能够无限地接近香农理论的极限。唯一的缺点是随机线性喷泉码的编码和解码的代价都是二次方，编码时还会出现三次方。当</a:t>
            </a:r>
            <a:r>
              <a:rPr lang="en-US" altLang="zh-CN" sz="1800" dirty="0">
                <a:solidFill>
                  <a:srgbClr val="000000"/>
                </a:solidFill>
                <a:latin typeface="Times New Roman"/>
                <a:sym typeface="+mn-ea"/>
              </a:rPr>
              <a:t>K</a:t>
            </a:r>
            <a:r>
              <a:rPr lang="zh-CN" altLang="en-US" sz="1800" dirty="0">
                <a:solidFill>
                  <a:srgbClr val="000000"/>
                </a:solidFill>
                <a:latin typeface="Times New Roman"/>
                <a:sym typeface="+mn-ea"/>
              </a:rPr>
              <a:t>比较小时，这并不重要，但若</a:t>
            </a:r>
            <a:r>
              <a:rPr lang="en-US" altLang="zh-CN" sz="1800" dirty="0">
                <a:solidFill>
                  <a:srgbClr val="000000"/>
                </a:solidFill>
                <a:latin typeface="Times New Roman"/>
                <a:sym typeface="+mn-ea"/>
              </a:rPr>
              <a:t>K</a:t>
            </a:r>
            <a:r>
              <a:rPr lang="zh-CN" altLang="en-US" sz="1800" dirty="0">
                <a:solidFill>
                  <a:srgbClr val="000000"/>
                </a:solidFill>
                <a:latin typeface="Times New Roman"/>
                <a:sym typeface="+mn-ea"/>
              </a:rPr>
              <a:t>很大时，编码和解码的代价就会很大。因此，我们希望更小的编码和解码代价来解决问题。</a:t>
            </a:r>
            <a:endParaRPr lang="en-US" altLang="zh-CN" sz="1800" dirty="0">
              <a:solidFill>
                <a:srgbClr val="000000"/>
              </a:solidFill>
              <a:latin typeface="Times New Roman"/>
              <a:sym typeface="+mn-ea"/>
            </a:endParaRPr>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432799" y="2146507"/>
            <a:ext cx="6280543" cy="2372648"/>
            <a:chOff x="2623540" y="4456025"/>
            <a:chExt cx="6280543" cy="2372648"/>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9291" r="18988"/>
            <a:stretch/>
          </p:blipFill>
          <p:spPr bwMode="auto">
            <a:xfrm>
              <a:off x="2623540" y="4456025"/>
              <a:ext cx="3650707" cy="2108909"/>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6274247" y="6338795"/>
              <a:ext cx="2629836"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endParaRPr lang="zh-CN" altLang="en-US" sz="1800" dirty="0">
                <a:solidFill>
                  <a:srgbClr val="000000"/>
                </a:solidFill>
                <a:sym typeface="+mn-ea"/>
              </a:endParaRPr>
            </a:p>
          </p:txBody>
        </p:sp>
      </p:grpSp>
      <p:sp>
        <p:nvSpPr>
          <p:cNvPr id="2" name="标题 1"/>
          <p:cNvSpPr>
            <a:spLocks noGrp="1"/>
          </p:cNvSpPr>
          <p:nvPr>
            <p:ph type="title"/>
          </p:nvPr>
        </p:nvSpPr>
        <p:spPr>
          <a:xfrm>
            <a:off x="5963921" y="60813"/>
            <a:ext cx="4512945" cy="685800"/>
          </a:xfrm>
        </p:spPr>
        <p:txBody>
          <a:bodyPr/>
          <a:lstStyle/>
          <a:p>
            <a:r>
              <a:rPr lang="en-US" altLang="zh-CN" sz="2400" dirty="0">
                <a:sym typeface="+mn-ea"/>
              </a:rPr>
              <a:t>LT</a:t>
            </a:r>
            <a:r>
              <a:rPr lang="zh-CN" altLang="en-US" sz="2400" dirty="0">
                <a:sym typeface="+mn-ea"/>
              </a:rPr>
              <a:t>码的编码</a:t>
            </a:r>
          </a:p>
        </p:txBody>
      </p:sp>
      <p:sp>
        <p:nvSpPr>
          <p:cNvPr id="6" name="文本框 5"/>
          <p:cNvSpPr txBox="1"/>
          <p:nvPr/>
        </p:nvSpPr>
        <p:spPr>
          <a:xfrm>
            <a:off x="-1" y="746613"/>
            <a:ext cx="12064409" cy="308674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sz="1800" dirty="0">
                <a:solidFill>
                  <a:srgbClr val="000000"/>
                </a:solidFill>
                <a:latin typeface="Times New Roman"/>
                <a:sym typeface="+mn-ea"/>
              </a:rPr>
              <a:t>        将长为</a:t>
            </a:r>
            <a:r>
              <a:rPr lang="en-US" altLang="zh-CN" sz="1800" i="1" dirty="0">
                <a:solidFill>
                  <a:srgbClr val="000000"/>
                </a:solidFill>
                <a:latin typeface="Times New Roman"/>
                <a:sym typeface="+mn-ea"/>
              </a:rPr>
              <a:t>n</a:t>
            </a:r>
            <a:r>
              <a:rPr lang="zh-CN" altLang="en-US" sz="1800" dirty="0">
                <a:solidFill>
                  <a:srgbClr val="000000"/>
                </a:solidFill>
                <a:latin typeface="Times New Roman"/>
                <a:sym typeface="+mn-ea"/>
              </a:rPr>
              <a:t>的文件分割成</a:t>
            </a:r>
            <a:r>
              <a:rPr lang="en-US" altLang="zh-CN" sz="1800" i="1" dirty="0">
                <a:solidFill>
                  <a:srgbClr val="000000"/>
                </a:solidFill>
                <a:latin typeface="Times New Roman"/>
                <a:sym typeface="+mn-ea"/>
              </a:rPr>
              <a:t>k</a:t>
            </a:r>
            <a:r>
              <a:rPr lang="en-US" altLang="zh-CN" sz="1800" dirty="0">
                <a:solidFill>
                  <a:srgbClr val="000000"/>
                </a:solidFill>
                <a:latin typeface="Times New Roman"/>
                <a:sym typeface="+mn-ea"/>
              </a:rPr>
              <a:t>=</a:t>
            </a:r>
            <a:r>
              <a:rPr lang="en-US" altLang="zh-CN" sz="1800" i="1" dirty="0">
                <a:solidFill>
                  <a:srgbClr val="000000"/>
                </a:solidFill>
                <a:latin typeface="Times New Roman"/>
                <a:sym typeface="+mn-ea"/>
              </a:rPr>
              <a:t>n</a:t>
            </a:r>
            <a:r>
              <a:rPr lang="en-US" altLang="zh-CN" sz="1800" dirty="0">
                <a:solidFill>
                  <a:srgbClr val="000000"/>
                </a:solidFill>
                <a:latin typeface="Times New Roman"/>
                <a:sym typeface="+mn-ea"/>
              </a:rPr>
              <a:t>/</a:t>
            </a:r>
            <a:r>
              <a:rPr lang="en-US" altLang="zh-CN" sz="1800" i="1" dirty="0">
                <a:solidFill>
                  <a:srgbClr val="000000"/>
                </a:solidFill>
                <a:latin typeface="Times New Roman"/>
                <a:sym typeface="+mn-ea"/>
              </a:rPr>
              <a:t>w</a:t>
            </a:r>
            <a:r>
              <a:rPr lang="zh-CN" altLang="en-US" sz="1800" dirty="0">
                <a:solidFill>
                  <a:srgbClr val="000000"/>
                </a:solidFill>
                <a:latin typeface="Times New Roman"/>
                <a:sym typeface="+mn-ea"/>
              </a:rPr>
              <a:t>个等长的输入符号</a:t>
            </a:r>
            <a:r>
              <a:rPr lang="en-US" altLang="zh-CN" sz="1800" i="1" dirty="0" err="1">
                <a:solidFill>
                  <a:srgbClr val="000000"/>
                </a:solidFill>
                <a:latin typeface="Times New Roman"/>
                <a:sym typeface="+mn-ea"/>
              </a:rPr>
              <a:t>s</a:t>
            </a:r>
            <a:r>
              <a:rPr lang="en-US" altLang="zh-CN" sz="1800" i="1" baseline="-25000" dirty="0" err="1">
                <a:solidFill>
                  <a:srgbClr val="000000"/>
                </a:solidFill>
                <a:latin typeface="Times New Roman"/>
                <a:sym typeface="+mn-ea"/>
              </a:rPr>
              <a:t>k</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每个输入符号的长为</a:t>
            </a:r>
            <a:r>
              <a:rPr lang="en-US" altLang="zh-CN" sz="1800" i="1" dirty="0">
                <a:solidFill>
                  <a:srgbClr val="000000"/>
                </a:solidFill>
                <a:latin typeface="Times New Roman"/>
                <a:sym typeface="+mn-ea"/>
              </a:rPr>
              <a:t>w</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。每个数据包称为输入符号，每个编码包为输出符号。若一个输出符号结点的度为</a:t>
            </a:r>
            <a:r>
              <a:rPr lang="en-US" altLang="zh-CN" sz="1800" i="1" dirty="0">
                <a:solidFill>
                  <a:srgbClr val="000000"/>
                </a:solidFill>
                <a:latin typeface="Times New Roman"/>
                <a:sym typeface="+mn-ea"/>
              </a:rPr>
              <a:t>d</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定义</a:t>
            </a:r>
            <a:r>
              <a:rPr lang="en-US" altLang="zh-CN" sz="1800" dirty="0">
                <a:solidFill>
                  <a:srgbClr val="000000"/>
                </a:solidFill>
                <a:latin typeface="Times New Roman"/>
                <a:sym typeface="+mn-ea"/>
              </a:rPr>
              <a:t>LT</a:t>
            </a:r>
            <a:r>
              <a:rPr lang="zh-CN" altLang="en-US" sz="1800" dirty="0">
                <a:solidFill>
                  <a:srgbClr val="000000"/>
                </a:solidFill>
                <a:latin typeface="Times New Roman"/>
                <a:sym typeface="+mn-ea"/>
              </a:rPr>
              <a:t>码的度分布</a:t>
            </a:r>
            <a:r>
              <a:rPr lang="en-US" altLang="zh-CN" sz="1800" dirty="0">
                <a:solidFill>
                  <a:srgbClr val="000000"/>
                </a:solidFill>
                <a:latin typeface="Times New Roman"/>
                <a:sym typeface="+mn-ea"/>
              </a:rPr>
              <a:t>ρ(</a:t>
            </a:r>
            <a:r>
              <a:rPr lang="en-US" altLang="zh-CN" sz="1800" i="1" dirty="0">
                <a:solidFill>
                  <a:srgbClr val="000000"/>
                </a:solidFill>
                <a:latin typeface="Times New Roman"/>
                <a:sym typeface="+mn-ea"/>
              </a:rPr>
              <a:t>d</a:t>
            </a:r>
            <a:r>
              <a:rPr lang="en-US" altLang="zh-CN" sz="1800" dirty="0">
                <a:solidFill>
                  <a:srgbClr val="000000"/>
                </a:solidFill>
                <a:latin typeface="Times New Roman"/>
                <a:sym typeface="+mn-ea"/>
              </a:rPr>
              <a:t>)(</a:t>
            </a:r>
            <a:r>
              <a:rPr lang="en-US" altLang="zh-CN" sz="1800" i="1" dirty="0">
                <a:solidFill>
                  <a:srgbClr val="000000"/>
                </a:solidFill>
                <a:latin typeface="Times New Roman"/>
                <a:sym typeface="+mn-ea"/>
              </a:rPr>
              <a:t>d</a:t>
            </a:r>
            <a:r>
              <a:rPr lang="en-US" altLang="zh-CN" sz="1800" dirty="0">
                <a:solidFill>
                  <a:srgbClr val="000000"/>
                </a:solidFill>
                <a:latin typeface="Times New Roman"/>
                <a:sym typeface="+mn-ea"/>
              </a:rPr>
              <a:t>≥1)</a:t>
            </a:r>
            <a:r>
              <a:rPr lang="zh-CN" altLang="en-US" sz="1800" dirty="0">
                <a:solidFill>
                  <a:srgbClr val="000000"/>
                </a:solidFill>
                <a:latin typeface="Times New Roman"/>
                <a:sym typeface="+mn-ea"/>
              </a:rPr>
              <a:t>为</a:t>
            </a:r>
            <a:r>
              <a:rPr lang="en-US" altLang="zh-CN" sz="1800" i="1" dirty="0">
                <a:solidFill>
                  <a:srgbClr val="000000"/>
                </a:solidFill>
                <a:latin typeface="Times New Roman"/>
                <a:sym typeface="+mn-ea"/>
              </a:rPr>
              <a:t>d</a:t>
            </a:r>
            <a:r>
              <a:rPr lang="zh-CN" altLang="en-US" sz="1800" dirty="0">
                <a:solidFill>
                  <a:srgbClr val="000000"/>
                </a:solidFill>
                <a:latin typeface="Times New Roman"/>
                <a:sym typeface="+mn-ea"/>
              </a:rPr>
              <a:t>的概率分布。编码步骤如下：</a:t>
            </a:r>
            <a:endParaRPr lang="en-US" altLang="zh-CN" sz="1800" dirty="0">
              <a:solidFill>
                <a:srgbClr val="000000"/>
              </a:solidFill>
              <a:latin typeface="Times New Roman"/>
              <a:sym typeface="+mn-ea"/>
            </a:endParaRPr>
          </a:p>
          <a:p>
            <a:pPr eaLnBrk="0" fontAlgn="base" hangingPunct="0">
              <a:lnSpc>
                <a:spcPts val="3400"/>
              </a:lnSpc>
              <a:spcBef>
                <a:spcPct val="0"/>
              </a:spcBef>
              <a:spcAft>
                <a:spcPct val="0"/>
              </a:spcAft>
            </a:pPr>
            <a:r>
              <a:rPr lang="en-US" altLang="zh-CN" sz="1800" dirty="0">
                <a:solidFill>
                  <a:srgbClr val="000000"/>
                </a:solidFill>
                <a:latin typeface="Times New Roman"/>
                <a:sym typeface="+mn-ea"/>
              </a:rPr>
              <a:t>        (1)</a:t>
            </a:r>
            <a:r>
              <a:rPr lang="zh-CN" altLang="en-US" sz="1800" dirty="0">
                <a:solidFill>
                  <a:srgbClr val="000000"/>
                </a:solidFill>
                <a:latin typeface="Times New Roman"/>
                <a:sym typeface="+mn-ea"/>
              </a:rPr>
              <a:t>编码器首先在</a:t>
            </a:r>
            <a:r>
              <a:rPr lang="en-US" altLang="zh-CN" sz="1800" dirty="0">
                <a:solidFill>
                  <a:srgbClr val="000000"/>
                </a:solidFill>
                <a:latin typeface="Times New Roman"/>
                <a:sym typeface="+mn-ea"/>
              </a:rPr>
              <a:t>1~</a:t>
            </a:r>
            <a:r>
              <a:rPr lang="en-US" altLang="zh-CN" sz="1800" i="1" dirty="0">
                <a:solidFill>
                  <a:srgbClr val="000000"/>
                </a:solidFill>
                <a:latin typeface="Times New Roman"/>
                <a:sym typeface="+mn-ea"/>
              </a:rPr>
              <a:t>k</a:t>
            </a:r>
            <a:r>
              <a:rPr lang="zh-CN" altLang="en-US" sz="1800" dirty="0">
                <a:solidFill>
                  <a:srgbClr val="000000"/>
                </a:solidFill>
                <a:latin typeface="Times New Roman"/>
                <a:sym typeface="+mn-ea"/>
              </a:rPr>
              <a:t>范围内按某一分布</a:t>
            </a:r>
            <a:r>
              <a:rPr lang="en-US" altLang="zh-CN" sz="1800" dirty="0">
                <a:solidFill>
                  <a:srgbClr val="000000"/>
                </a:solidFill>
                <a:latin typeface="Times New Roman"/>
                <a:sym typeface="+mn-ea"/>
              </a:rPr>
              <a:t>ρ(</a:t>
            </a:r>
            <a:r>
              <a:rPr lang="zh-CN" altLang="en-US" sz="1800" dirty="0">
                <a:solidFill>
                  <a:srgbClr val="000000"/>
                </a:solidFill>
                <a:latin typeface="Times New Roman"/>
                <a:sym typeface="+mn-ea"/>
              </a:rPr>
              <a:t>称为编码度分布</a:t>
            </a:r>
            <a:r>
              <a:rPr lang="en-US" altLang="zh-CN" sz="1800" dirty="0">
                <a:solidFill>
                  <a:srgbClr val="000000"/>
                </a:solidFill>
                <a:latin typeface="Times New Roman"/>
                <a:sym typeface="+mn-ea"/>
              </a:rPr>
              <a:t>)</a:t>
            </a:r>
            <a:r>
              <a:rPr lang="zh-CN" altLang="en-US" sz="1800" dirty="0">
                <a:solidFill>
                  <a:srgbClr val="FF0000"/>
                </a:solidFill>
                <a:latin typeface="Times New Roman"/>
                <a:sym typeface="+mn-ea"/>
              </a:rPr>
              <a:t>随机选取一个整数</a:t>
            </a:r>
            <a:r>
              <a:rPr lang="en-US" altLang="zh-CN" sz="1800" i="1" dirty="0">
                <a:solidFill>
                  <a:srgbClr val="FF0000"/>
                </a:solidFill>
                <a:latin typeface="Times New Roman"/>
                <a:sym typeface="+mn-ea"/>
              </a:rPr>
              <a:t>d</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其中</a:t>
            </a:r>
            <a:r>
              <a:rPr lang="en-US" altLang="zh-CN" sz="1800" dirty="0">
                <a:solidFill>
                  <a:srgbClr val="000000"/>
                </a:solidFill>
                <a:latin typeface="Times New Roman"/>
                <a:sym typeface="+mn-ea"/>
              </a:rPr>
              <a:t>k</a:t>
            </a:r>
            <a:r>
              <a:rPr lang="zh-CN" altLang="en-US" sz="1800" dirty="0">
                <a:solidFill>
                  <a:srgbClr val="000000"/>
                </a:solidFill>
                <a:latin typeface="Times New Roman"/>
                <a:sym typeface="+mn-ea"/>
              </a:rPr>
              <a:t>称为该码的码长，</a:t>
            </a:r>
            <a:r>
              <a:rPr lang="en-US" altLang="zh-CN" sz="1800" i="1" dirty="0">
                <a:solidFill>
                  <a:srgbClr val="000000"/>
                </a:solidFill>
                <a:latin typeface="Times New Roman"/>
                <a:sym typeface="+mn-ea"/>
              </a:rPr>
              <a:t>d</a:t>
            </a:r>
            <a:r>
              <a:rPr lang="zh-CN" altLang="en-US" sz="1800" dirty="0">
                <a:solidFill>
                  <a:srgbClr val="000000"/>
                </a:solidFill>
                <a:latin typeface="Times New Roman"/>
                <a:sym typeface="+mn-ea"/>
              </a:rPr>
              <a:t>称为编码分组的度</a:t>
            </a:r>
            <a:r>
              <a:rPr lang="en-US" altLang="zh-CN" sz="1800" dirty="0">
                <a:solidFill>
                  <a:srgbClr val="000000"/>
                </a:solidFill>
                <a:latin typeface="Times New Roman"/>
                <a:sym typeface="+mn-ea"/>
              </a:rPr>
              <a:t>;</a:t>
            </a:r>
          </a:p>
          <a:p>
            <a:pPr eaLnBrk="0" fontAlgn="base" hangingPunct="0">
              <a:lnSpc>
                <a:spcPts val="3400"/>
              </a:lnSpc>
              <a:spcBef>
                <a:spcPct val="0"/>
              </a:spcBef>
              <a:spcAft>
                <a:spcPct val="0"/>
              </a:spcAft>
            </a:pPr>
            <a:r>
              <a:rPr lang="en-US" altLang="zh-CN" sz="1800" dirty="0">
                <a:solidFill>
                  <a:srgbClr val="000000"/>
                </a:solidFill>
                <a:latin typeface="Times New Roman"/>
                <a:sym typeface="+mn-ea"/>
              </a:rPr>
              <a:t>        (2)</a:t>
            </a:r>
            <a:r>
              <a:rPr lang="zh-CN" altLang="en-US" sz="1800" dirty="0">
                <a:solidFill>
                  <a:srgbClr val="FF0000"/>
                </a:solidFill>
                <a:latin typeface="Times New Roman"/>
                <a:sym typeface="+mn-ea"/>
              </a:rPr>
              <a:t>在所有输入符号中随机均匀地选取</a:t>
            </a:r>
            <a:r>
              <a:rPr lang="en-US" altLang="zh-CN" sz="1800" i="1" dirty="0">
                <a:solidFill>
                  <a:srgbClr val="FF0000"/>
                </a:solidFill>
                <a:latin typeface="Times New Roman"/>
                <a:sym typeface="+mn-ea"/>
              </a:rPr>
              <a:t>d</a:t>
            </a:r>
            <a:r>
              <a:rPr lang="zh-CN" altLang="en-US" sz="1800" dirty="0">
                <a:solidFill>
                  <a:srgbClr val="FF0000"/>
                </a:solidFill>
                <a:latin typeface="Times New Roman"/>
                <a:sym typeface="+mn-ea"/>
              </a:rPr>
              <a:t>个符号</a:t>
            </a:r>
            <a:r>
              <a:rPr lang="zh-CN" altLang="en-US" sz="1800" dirty="0">
                <a:solidFill>
                  <a:srgbClr val="000000"/>
                </a:solidFill>
                <a:latin typeface="Times New Roman"/>
                <a:sym typeface="+mn-ea"/>
              </a:rPr>
              <a:t>作为该编码符号的邻节点符号</a:t>
            </a:r>
            <a:r>
              <a:rPr lang="en-US" altLang="zh-CN" sz="1800" dirty="0">
                <a:solidFill>
                  <a:srgbClr val="000000"/>
                </a:solidFill>
                <a:latin typeface="Times New Roman"/>
                <a:sym typeface="+mn-ea"/>
              </a:rPr>
              <a:t>;</a:t>
            </a:r>
          </a:p>
          <a:p>
            <a:pPr eaLnBrk="0" fontAlgn="base" hangingPunct="0">
              <a:lnSpc>
                <a:spcPts val="3400"/>
              </a:lnSpc>
              <a:spcBef>
                <a:spcPct val="0"/>
              </a:spcBef>
              <a:spcAft>
                <a:spcPct val="0"/>
              </a:spcAft>
            </a:pPr>
            <a:r>
              <a:rPr lang="en-US" altLang="zh-CN" sz="1800" dirty="0">
                <a:solidFill>
                  <a:srgbClr val="000000"/>
                </a:solidFill>
                <a:latin typeface="Times New Roman"/>
                <a:sym typeface="+mn-ea"/>
              </a:rPr>
              <a:t>        (3)</a:t>
            </a:r>
            <a:r>
              <a:rPr lang="zh-CN" altLang="en-US" sz="1800" dirty="0">
                <a:solidFill>
                  <a:srgbClr val="FF0000"/>
                </a:solidFill>
                <a:latin typeface="Times New Roman"/>
                <a:sym typeface="+mn-ea"/>
              </a:rPr>
              <a:t>将</a:t>
            </a:r>
            <a:r>
              <a:rPr lang="en-US" altLang="zh-CN" sz="1800" i="1" dirty="0">
                <a:solidFill>
                  <a:srgbClr val="FF0000"/>
                </a:solidFill>
                <a:latin typeface="Times New Roman"/>
                <a:sym typeface="+mn-ea"/>
              </a:rPr>
              <a:t>d</a:t>
            </a:r>
            <a:r>
              <a:rPr lang="zh-CN" altLang="en-US" sz="1800" dirty="0">
                <a:solidFill>
                  <a:srgbClr val="FF0000"/>
                </a:solidFill>
                <a:latin typeface="Times New Roman"/>
                <a:sym typeface="+mn-ea"/>
              </a:rPr>
              <a:t>个数据进行异或并输出</a:t>
            </a:r>
            <a:r>
              <a:rPr lang="zh-CN" altLang="en-US" sz="1800" dirty="0">
                <a:solidFill>
                  <a:srgbClr val="000000"/>
                </a:solidFill>
                <a:latin typeface="Times New Roman"/>
                <a:sym typeface="+mn-ea"/>
              </a:rPr>
              <a:t>，即对这</a:t>
            </a:r>
            <a:r>
              <a:rPr lang="en-US" altLang="zh-CN" sz="1800" i="1" dirty="0">
                <a:solidFill>
                  <a:srgbClr val="000000"/>
                </a:solidFill>
                <a:latin typeface="Times New Roman"/>
                <a:sym typeface="+mn-ea"/>
              </a:rPr>
              <a:t>d</a:t>
            </a:r>
            <a:r>
              <a:rPr lang="zh-CN" altLang="en-US" sz="1800" dirty="0">
                <a:solidFill>
                  <a:srgbClr val="000000"/>
                </a:solidFill>
                <a:latin typeface="Times New Roman"/>
                <a:sym typeface="+mn-ea"/>
              </a:rPr>
              <a:t>个输入符号求异或得到一个编码符号</a:t>
            </a:r>
            <a:r>
              <a:rPr lang="en-US" altLang="zh-CN" sz="1800" i="1" dirty="0" err="1">
                <a:solidFill>
                  <a:srgbClr val="000000"/>
                </a:solidFill>
                <a:latin typeface="Times New Roman"/>
                <a:sym typeface="+mn-ea"/>
              </a:rPr>
              <a:t>t</a:t>
            </a:r>
            <a:r>
              <a:rPr lang="en-US" altLang="zh-CN" sz="1800" i="1" baseline="-25000" dirty="0" err="1">
                <a:solidFill>
                  <a:srgbClr val="000000"/>
                </a:solidFill>
                <a:latin typeface="Times New Roman"/>
                <a:sym typeface="+mn-ea"/>
              </a:rPr>
              <a:t>n</a:t>
            </a:r>
            <a:r>
              <a:rPr lang="zh-CN" altLang="en-US" sz="1800" dirty="0">
                <a:solidFill>
                  <a:srgbClr val="000000"/>
                </a:solidFill>
                <a:latin typeface="Times New Roman"/>
                <a:sym typeface="+mn-ea"/>
              </a:rPr>
              <a:t>。</a:t>
            </a:r>
            <a:endParaRPr lang="en-US" altLang="zh-CN" sz="1800" dirty="0">
              <a:solidFill>
                <a:srgbClr val="000000"/>
              </a:solidFill>
              <a:latin typeface="Times New Roman"/>
              <a:sym typeface="+mn-ea"/>
            </a:endParaRPr>
          </a:p>
          <a:p>
            <a:pPr eaLnBrk="0" fontAlgn="base" hangingPunct="0">
              <a:lnSpc>
                <a:spcPts val="3400"/>
              </a:lnSpc>
              <a:spcBef>
                <a:spcPct val="0"/>
              </a:spcBef>
              <a:spcAft>
                <a:spcPct val="0"/>
              </a:spcAft>
            </a:pPr>
            <a:r>
              <a:rPr lang="zh-CN" altLang="en-US" sz="1800" dirty="0">
                <a:solidFill>
                  <a:srgbClr val="000000"/>
                </a:solidFill>
                <a:latin typeface="Times New Roman"/>
                <a:sym typeface="+mn-ea"/>
              </a:rPr>
              <a:t>不断重复上面的步骤，就可以得到无限多个编码分组。</a:t>
            </a:r>
            <a:endParaRPr lang="en-US" altLang="zh-CN" sz="1800" dirty="0">
              <a:solidFill>
                <a:srgbClr val="000000"/>
              </a:solidFill>
              <a:latin typeface="Times New Roman"/>
              <a:sym typeface="+mn-ea"/>
            </a:endParaRPr>
          </a:p>
        </p:txBody>
      </p:sp>
      <p:sp>
        <p:nvSpPr>
          <p:cNvPr id="4" name="文本框 3">
            <a:extLst>
              <a:ext uri="{FF2B5EF4-FFF2-40B4-BE49-F238E27FC236}">
                <a16:creationId xmlns:a16="http://schemas.microsoft.com/office/drawing/2014/main" id="{BC22369B-EA48-54F3-6D3B-8FC8D50D503C}"/>
              </a:ext>
            </a:extLst>
          </p:cNvPr>
          <p:cNvSpPr txBox="1"/>
          <p:nvPr/>
        </p:nvSpPr>
        <p:spPr>
          <a:xfrm>
            <a:off x="108494" y="4030861"/>
            <a:ext cx="9623335" cy="265072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sz="1800" dirty="0">
                <a:solidFill>
                  <a:srgbClr val="000000"/>
                </a:solidFill>
                <a:latin typeface="Times New Roman"/>
                <a:sym typeface="+mn-ea"/>
              </a:rPr>
              <a:t>        在这些步骤中一些细节需要注意：</a:t>
            </a:r>
            <a:r>
              <a:rPr lang="en-US" altLang="zh-CN" sz="1800" dirty="0">
                <a:solidFill>
                  <a:srgbClr val="FF0000"/>
                </a:solidFill>
                <a:latin typeface="Times New Roman"/>
                <a:sym typeface="+mn-ea"/>
              </a:rPr>
              <a:t>LT</a:t>
            </a:r>
            <a:r>
              <a:rPr lang="zh-CN" altLang="en-US" sz="1800" dirty="0">
                <a:solidFill>
                  <a:srgbClr val="FF0000"/>
                </a:solidFill>
                <a:latin typeface="Times New Roman"/>
                <a:sym typeface="+mn-ea"/>
              </a:rPr>
              <a:t>码编码之前要先确定度分布函数</a:t>
            </a:r>
            <a:r>
              <a:rPr lang="zh-CN" altLang="en-US" sz="1800" dirty="0">
                <a:solidFill>
                  <a:srgbClr val="000000"/>
                </a:solidFill>
                <a:latin typeface="Times New Roman"/>
                <a:sym typeface="+mn-ea"/>
              </a:rPr>
              <a:t>，度值的确定由度分布函数来计算。不同的度分布，</a:t>
            </a:r>
            <a:r>
              <a:rPr lang="en-US" altLang="zh-CN" sz="1800" i="1" dirty="0">
                <a:solidFill>
                  <a:srgbClr val="000000"/>
                </a:solidFill>
                <a:latin typeface="Times New Roman"/>
                <a:sym typeface="+mn-ea"/>
              </a:rPr>
              <a:t>k</a:t>
            </a:r>
            <a:r>
              <a:rPr lang="zh-CN" altLang="en-US" sz="1800" dirty="0">
                <a:solidFill>
                  <a:srgbClr val="000000"/>
                </a:solidFill>
                <a:latin typeface="Times New Roman"/>
                <a:sym typeface="+mn-ea"/>
              </a:rPr>
              <a:t>的概率值是不同的，但</a:t>
            </a:r>
            <a:r>
              <a:rPr lang="zh-CN" altLang="en-US" sz="1800" dirty="0">
                <a:solidFill>
                  <a:srgbClr val="FF0000"/>
                </a:solidFill>
                <a:latin typeface="Times New Roman"/>
                <a:sym typeface="+mn-ea"/>
              </a:rPr>
              <a:t>度分布概率函数只是确定了取度值为</a:t>
            </a:r>
            <a:r>
              <a:rPr lang="en-US" altLang="zh-CN" sz="1800" i="1" dirty="0">
                <a:solidFill>
                  <a:srgbClr val="FF0000"/>
                </a:solidFill>
                <a:latin typeface="Times New Roman"/>
                <a:sym typeface="+mn-ea"/>
              </a:rPr>
              <a:t>d</a:t>
            </a:r>
            <a:r>
              <a:rPr lang="zh-CN" altLang="en-US" sz="1800" dirty="0">
                <a:solidFill>
                  <a:srgbClr val="FF0000"/>
                </a:solidFill>
                <a:latin typeface="Times New Roman"/>
                <a:sym typeface="+mn-ea"/>
              </a:rPr>
              <a:t>的概率是多少，而并不能确定这</a:t>
            </a:r>
            <a:r>
              <a:rPr lang="en-US" altLang="zh-CN" sz="1800" i="1" dirty="0">
                <a:solidFill>
                  <a:srgbClr val="FF0000"/>
                </a:solidFill>
                <a:latin typeface="Times New Roman"/>
                <a:sym typeface="+mn-ea"/>
              </a:rPr>
              <a:t>d</a:t>
            </a:r>
            <a:r>
              <a:rPr lang="zh-CN" altLang="en-US" sz="1800" dirty="0">
                <a:solidFill>
                  <a:srgbClr val="FF0000"/>
                </a:solidFill>
                <a:latin typeface="Times New Roman"/>
                <a:sym typeface="+mn-ea"/>
              </a:rPr>
              <a:t>个原始编码分组是哪些，所以对于这</a:t>
            </a:r>
            <a:r>
              <a:rPr lang="en-US" altLang="zh-CN" sz="1800" i="1" dirty="0">
                <a:solidFill>
                  <a:srgbClr val="FF0000"/>
                </a:solidFill>
                <a:latin typeface="Times New Roman"/>
                <a:sym typeface="+mn-ea"/>
              </a:rPr>
              <a:t>d</a:t>
            </a:r>
            <a:r>
              <a:rPr lang="zh-CN" altLang="en-US" sz="1800" dirty="0">
                <a:solidFill>
                  <a:srgbClr val="FF0000"/>
                </a:solidFill>
                <a:latin typeface="Times New Roman"/>
                <a:sym typeface="+mn-ea"/>
              </a:rPr>
              <a:t>个原始编码分组的选择来说是任意的</a:t>
            </a:r>
            <a:r>
              <a:rPr lang="zh-CN" altLang="en-US" sz="1800" dirty="0">
                <a:solidFill>
                  <a:srgbClr val="000000"/>
                </a:solidFill>
                <a:latin typeface="Times New Roman"/>
                <a:sym typeface="+mn-ea"/>
              </a:rPr>
              <a:t>，这里对这</a:t>
            </a:r>
            <a:r>
              <a:rPr lang="en-US" altLang="zh-CN" sz="1800" i="1" dirty="0">
                <a:solidFill>
                  <a:srgbClr val="000000"/>
                </a:solidFill>
                <a:latin typeface="Times New Roman"/>
                <a:sym typeface="+mn-ea"/>
              </a:rPr>
              <a:t>d</a:t>
            </a:r>
            <a:r>
              <a:rPr lang="zh-CN" altLang="en-US" sz="1800" dirty="0">
                <a:solidFill>
                  <a:srgbClr val="000000"/>
                </a:solidFill>
                <a:latin typeface="Times New Roman"/>
                <a:sym typeface="+mn-ea"/>
              </a:rPr>
              <a:t>个原始编码分组的选择采用均匀分布来进行选取，即从区间</a:t>
            </a:r>
            <a:r>
              <a:rPr lang="en-US" altLang="zh-CN" sz="1800" dirty="0">
                <a:solidFill>
                  <a:srgbClr val="000000"/>
                </a:solidFill>
                <a:latin typeface="Times New Roman"/>
                <a:sym typeface="+mn-ea"/>
              </a:rPr>
              <a:t>[1,</a:t>
            </a:r>
            <a:r>
              <a:rPr lang="en-US" altLang="zh-CN" sz="1800" i="1" dirty="0">
                <a:solidFill>
                  <a:srgbClr val="000000"/>
                </a:solidFill>
                <a:latin typeface="Times New Roman"/>
                <a:sym typeface="+mn-ea"/>
              </a:rPr>
              <a:t>k</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中按均匀分布随机生成</a:t>
            </a:r>
            <a:r>
              <a:rPr lang="en-US" altLang="zh-CN" sz="1800" i="1" dirty="0">
                <a:solidFill>
                  <a:srgbClr val="000000"/>
                </a:solidFill>
                <a:latin typeface="Times New Roman"/>
                <a:sym typeface="+mn-ea"/>
              </a:rPr>
              <a:t>d</a:t>
            </a:r>
            <a:r>
              <a:rPr lang="zh-CN" altLang="en-US" sz="1800" dirty="0">
                <a:solidFill>
                  <a:srgbClr val="000000"/>
                </a:solidFill>
                <a:latin typeface="Times New Roman"/>
                <a:sym typeface="+mn-ea"/>
              </a:rPr>
              <a:t>个整数。区间</a:t>
            </a:r>
            <a:r>
              <a:rPr lang="en-US" altLang="zh-CN" sz="1800" dirty="0">
                <a:solidFill>
                  <a:srgbClr val="000000"/>
                </a:solidFill>
                <a:latin typeface="Times New Roman"/>
                <a:sym typeface="+mn-ea"/>
              </a:rPr>
              <a:t>[1,</a:t>
            </a:r>
            <a:r>
              <a:rPr lang="en-US" altLang="zh-CN" sz="1800" i="1" dirty="0">
                <a:solidFill>
                  <a:srgbClr val="000000"/>
                </a:solidFill>
                <a:latin typeface="Times New Roman"/>
                <a:sym typeface="+mn-ea"/>
              </a:rPr>
              <a:t>k</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中所有整数被选取的概率是相等的。把这</a:t>
            </a:r>
            <a:r>
              <a:rPr lang="en-US" altLang="zh-CN" sz="1800" i="1" dirty="0">
                <a:solidFill>
                  <a:srgbClr val="000000"/>
                </a:solidFill>
                <a:latin typeface="Times New Roman"/>
                <a:sym typeface="+mn-ea"/>
              </a:rPr>
              <a:t>d</a:t>
            </a:r>
            <a:r>
              <a:rPr lang="zh-CN" altLang="en-US" sz="1800" dirty="0">
                <a:solidFill>
                  <a:srgbClr val="000000"/>
                </a:solidFill>
                <a:latin typeface="Times New Roman"/>
                <a:sym typeface="+mn-ea"/>
              </a:rPr>
              <a:t>个整数进行异或，就得到了一个编码分组。</a:t>
            </a:r>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随机度</a:t>
            </a:r>
            <a:r>
              <a:rPr lang="en-US" altLang="zh-CN" sz="2400" dirty="0">
                <a:sym typeface="+mn-ea"/>
              </a:rPr>
              <a:t>d</a:t>
            </a:r>
            <a:r>
              <a:rPr lang="zh-CN" altLang="en-US" sz="2400" dirty="0">
                <a:sym typeface="+mn-ea"/>
              </a:rPr>
              <a:t>、</a:t>
            </a:r>
            <a:r>
              <a:rPr lang="en-US" altLang="zh-CN" sz="2400" i="1" dirty="0" err="1">
                <a:sym typeface="+mn-ea"/>
              </a:rPr>
              <a:t>S</a:t>
            </a:r>
            <a:r>
              <a:rPr lang="en-US" altLang="zh-CN" sz="2400" i="1" baseline="-25000" dirty="0" err="1">
                <a:sym typeface="+mn-ea"/>
              </a:rPr>
              <a:t>k</a:t>
            </a:r>
            <a:r>
              <a:rPr lang="zh-CN" altLang="en-US" sz="2400" dirty="0">
                <a:sym typeface="+mn-ea"/>
              </a:rPr>
              <a:t>的确定</a:t>
            </a:r>
          </a:p>
        </p:txBody>
      </p:sp>
      <mc:AlternateContent xmlns:mc="http://schemas.openxmlformats.org/markup-compatibility/2006" xmlns:a14="http://schemas.microsoft.com/office/drawing/2010/main">
        <mc:Choice Requires="a14">
          <p:sp>
            <p:nvSpPr>
              <p:cNvPr id="6" name="文本框 5"/>
              <p:cNvSpPr txBox="1"/>
              <p:nvPr/>
            </p:nvSpPr>
            <p:spPr>
              <a:xfrm>
                <a:off x="196172" y="815230"/>
                <a:ext cx="7289149" cy="309899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sz="1800" dirty="0">
                    <a:solidFill>
                      <a:srgbClr val="000000"/>
                    </a:solidFill>
                    <a:latin typeface="Times New Roman"/>
                    <a:sym typeface="+mn-ea"/>
                  </a:rPr>
                  <a:t>随机度</a:t>
                </a:r>
                <a:r>
                  <a:rPr lang="en-US" altLang="zh-CN" sz="1800" dirty="0">
                    <a:solidFill>
                      <a:srgbClr val="000000"/>
                    </a:solidFill>
                    <a:latin typeface="Times New Roman"/>
                    <a:sym typeface="+mn-ea"/>
                  </a:rPr>
                  <a:t>d</a:t>
                </a:r>
                <a:r>
                  <a:rPr lang="zh-CN" altLang="en-US" sz="1800" dirty="0">
                    <a:solidFill>
                      <a:srgbClr val="000000"/>
                    </a:solidFill>
                    <a:latin typeface="Times New Roman"/>
                    <a:sym typeface="+mn-ea"/>
                  </a:rPr>
                  <a:t>的确定</a:t>
                </a:r>
                <a:r>
                  <a:rPr lang="en-US" altLang="zh-CN" sz="1800" dirty="0">
                    <a:solidFill>
                      <a:srgbClr val="000000"/>
                    </a:solidFill>
                    <a:latin typeface="Times New Roman"/>
                    <a:sym typeface="Wingdings" panose="05000000000000000000" pitchFamily="2" charset="2"/>
                  </a:rPr>
                  <a:t>(</a:t>
                </a:r>
                <a:r>
                  <a:rPr lang="zh-CN" altLang="en-US" sz="1800" dirty="0">
                    <a:solidFill>
                      <a:srgbClr val="000000"/>
                    </a:solidFill>
                    <a:latin typeface="Times New Roman"/>
                    <a:sym typeface="Wingdings" panose="05000000000000000000" pitchFamily="2" charset="2"/>
                  </a:rPr>
                  <a:t>孤波分布</a:t>
                </a:r>
                <a:r>
                  <a:rPr lang="en-US" altLang="zh-CN" sz="1800" dirty="0">
                    <a:solidFill>
                      <a:srgbClr val="000000"/>
                    </a:solidFill>
                    <a:latin typeface="Times New Roman"/>
                    <a:sym typeface="Wingdings" panose="05000000000000000000" pitchFamily="2" charset="2"/>
                  </a:rPr>
                  <a:t>)</a:t>
                </a:r>
                <a:r>
                  <a:rPr lang="zh-CN" altLang="en-US" sz="1800" dirty="0">
                    <a:solidFill>
                      <a:srgbClr val="000000"/>
                    </a:solidFill>
                    <a:latin typeface="Times New Roman"/>
                    <a:sym typeface="Wingdings" panose="05000000000000000000" pitchFamily="2" charset="2"/>
                  </a:rPr>
                  <a:t>：</a:t>
                </a:r>
                <a:endParaRPr lang="en-US" altLang="zh-CN" sz="1800" dirty="0">
                  <a:solidFill>
                    <a:srgbClr val="000000"/>
                  </a:solidFill>
                  <a:latin typeface="Times New Roman"/>
                  <a:sym typeface="Wingdings" panose="05000000000000000000" pitchFamily="2" charset="2"/>
                </a:endParaRPr>
              </a:p>
              <a:p>
                <a:pPr eaLnBrk="0" fontAlgn="base" hangingPunct="0">
                  <a:lnSpc>
                    <a:spcPct val="100000"/>
                  </a:lnSpc>
                  <a:spcBef>
                    <a:spcPct val="0"/>
                  </a:spcBef>
                  <a:spcAft>
                    <a:spcPct val="0"/>
                  </a:spcAft>
                </a:pPr>
                <a:r>
                  <a:rPr lang="zh-CN" altLang="en-US" sz="1800" dirty="0">
                    <a:solidFill>
                      <a:srgbClr val="000000"/>
                    </a:solidFill>
                    <a:sym typeface="+mn-ea"/>
                  </a:rPr>
                  <a:t>                                        </a:t>
                </a:r>
                <a14:m>
                  <m:oMath xmlns:m="http://schemas.openxmlformats.org/officeDocument/2006/math">
                    <m:r>
                      <a:rPr lang="zh-CN" altLang="en-US" sz="1800" i="1">
                        <a:solidFill>
                          <a:srgbClr val="000000"/>
                        </a:solidFill>
                        <a:latin typeface="Cambria Math" panose="02040503050406030204" pitchFamily="18" charset="0"/>
                        <a:sym typeface="+mn-ea"/>
                      </a:rPr>
                      <m:t>𝜌</m:t>
                    </m:r>
                    <m:d>
                      <m:dPr>
                        <m:ctrlPr>
                          <a:rPr lang="en-US" altLang="zh-CN" sz="1800" i="1">
                            <a:solidFill>
                              <a:srgbClr val="000000"/>
                            </a:solidFill>
                            <a:latin typeface="Cambria Math" panose="02040503050406030204" pitchFamily="18" charset="0"/>
                            <a:sym typeface="+mn-ea"/>
                          </a:rPr>
                        </m:ctrlPr>
                      </m:dPr>
                      <m:e>
                        <m:r>
                          <a:rPr lang="en-US" altLang="zh-CN" sz="1800" i="1">
                            <a:solidFill>
                              <a:srgbClr val="000000"/>
                            </a:solidFill>
                            <a:latin typeface="Cambria Math" panose="02040503050406030204" pitchFamily="18" charset="0"/>
                            <a:sym typeface="+mn-ea"/>
                          </a:rPr>
                          <m:t>𝑑</m:t>
                        </m:r>
                      </m:e>
                    </m:d>
                    <m:r>
                      <a:rPr lang="en-US" altLang="zh-CN" sz="1800" i="1">
                        <a:solidFill>
                          <a:srgbClr val="000000"/>
                        </a:solidFill>
                        <a:latin typeface="Cambria Math" panose="02040503050406030204" pitchFamily="18" charset="0"/>
                        <a:sym typeface="+mn-ea"/>
                      </a:rPr>
                      <m:t>=</m:t>
                    </m:r>
                    <m:d>
                      <m:dPr>
                        <m:begChr m:val="{"/>
                        <m:endChr m:val=""/>
                        <m:ctrlPr>
                          <a:rPr lang="en-US" altLang="zh-CN" sz="1800" i="1">
                            <a:solidFill>
                              <a:srgbClr val="000000"/>
                            </a:solidFill>
                            <a:latin typeface="Cambria Math" panose="02040503050406030204" pitchFamily="18" charset="0"/>
                            <a:sym typeface="+mn-ea"/>
                          </a:rPr>
                        </m:ctrlPr>
                      </m:dPr>
                      <m:e>
                        <m:m>
                          <m:mPr>
                            <m:mcs>
                              <m:mc>
                                <m:mcPr>
                                  <m:count m:val="1"/>
                                  <m:mcJc m:val="center"/>
                                </m:mcPr>
                              </m:mc>
                            </m:mcs>
                            <m:ctrlPr>
                              <a:rPr lang="en-US" altLang="zh-CN" sz="1800" i="1">
                                <a:solidFill>
                                  <a:srgbClr val="000000"/>
                                </a:solidFill>
                                <a:latin typeface="Cambria Math" panose="02040503050406030204" pitchFamily="18" charset="0"/>
                                <a:sym typeface="+mn-ea"/>
                              </a:rPr>
                            </m:ctrlPr>
                          </m:mPr>
                          <m:mr>
                            <m:e>
                              <m:f>
                                <m:fPr>
                                  <m:ctrlPr>
                                    <a:rPr lang="en-US" altLang="zh-CN" sz="1800" i="1">
                                      <a:solidFill>
                                        <a:srgbClr val="000000"/>
                                      </a:solidFill>
                                      <a:latin typeface="Cambria Math" panose="02040503050406030204" pitchFamily="18" charset="0"/>
                                      <a:sym typeface="+mn-ea"/>
                                    </a:rPr>
                                  </m:ctrlPr>
                                </m:fPr>
                                <m:num>
                                  <m:r>
                                    <a:rPr lang="en-US" altLang="zh-CN" sz="1800" i="1">
                                      <a:solidFill>
                                        <a:srgbClr val="000000"/>
                                      </a:solidFill>
                                      <a:latin typeface="Cambria Math" panose="02040503050406030204" pitchFamily="18" charset="0"/>
                                      <a:sym typeface="+mn-ea"/>
                                    </a:rPr>
                                    <m:t>1</m:t>
                                  </m:r>
                                </m:num>
                                <m:den>
                                  <m:r>
                                    <a:rPr lang="en-US" altLang="zh-CN" sz="1800" i="1">
                                      <a:solidFill>
                                        <a:srgbClr val="000000"/>
                                      </a:solidFill>
                                      <a:latin typeface="Cambria Math" panose="02040503050406030204" pitchFamily="18" charset="0"/>
                                      <a:sym typeface="+mn-ea"/>
                                    </a:rPr>
                                    <m:t>𝑘</m:t>
                                  </m:r>
                                </m:den>
                              </m:f>
                              <m:r>
                                <m:rPr>
                                  <m:brk m:alnAt="7"/>
                                </m:rPr>
                                <a:rPr lang="en-US" altLang="zh-CN" sz="1800" i="1">
                                  <a:solidFill>
                                    <a:srgbClr val="000000"/>
                                  </a:solidFill>
                                  <a:latin typeface="Cambria Math" panose="02040503050406030204" pitchFamily="18" charset="0"/>
                                  <a:sym typeface="+mn-ea"/>
                                </a:rPr>
                                <m:t> </m:t>
                              </m:r>
                              <m:r>
                                <a:rPr lang="en-US" altLang="zh-CN" sz="1800" i="1">
                                  <a:solidFill>
                                    <a:srgbClr val="000000"/>
                                  </a:solidFill>
                                  <a:latin typeface="Cambria Math" panose="02040503050406030204" pitchFamily="18" charset="0"/>
                                  <a:sym typeface="+mn-ea"/>
                                </a:rPr>
                                <m:t>                  </m:t>
                              </m:r>
                              <m:r>
                                <a:rPr lang="en-US" altLang="zh-CN" sz="1800" i="1">
                                  <a:solidFill>
                                    <a:srgbClr val="000000"/>
                                  </a:solidFill>
                                  <a:latin typeface="Cambria Math" panose="02040503050406030204" pitchFamily="18" charset="0"/>
                                  <a:sym typeface="+mn-ea"/>
                                </a:rPr>
                                <m:t>𝑑</m:t>
                              </m:r>
                              <m:r>
                                <a:rPr lang="en-US" altLang="zh-CN" sz="1800" i="1">
                                  <a:solidFill>
                                    <a:srgbClr val="000000"/>
                                  </a:solidFill>
                                  <a:latin typeface="Cambria Math" panose="02040503050406030204" pitchFamily="18" charset="0"/>
                                  <a:sym typeface="+mn-ea"/>
                                </a:rPr>
                                <m:t>=1</m:t>
                              </m:r>
                            </m:e>
                          </m:mr>
                          <m:mr>
                            <m:e>
                              <m:f>
                                <m:fPr>
                                  <m:ctrlPr>
                                    <a:rPr lang="en-US" altLang="zh-CN" sz="1800" i="1">
                                      <a:solidFill>
                                        <a:srgbClr val="000000"/>
                                      </a:solidFill>
                                      <a:latin typeface="Cambria Math" panose="02040503050406030204" pitchFamily="18" charset="0"/>
                                      <a:sym typeface="+mn-ea"/>
                                    </a:rPr>
                                  </m:ctrlPr>
                                </m:fPr>
                                <m:num>
                                  <m:r>
                                    <a:rPr lang="en-US" altLang="zh-CN" sz="1800" i="1">
                                      <a:solidFill>
                                        <a:srgbClr val="000000"/>
                                      </a:solidFill>
                                      <a:latin typeface="Cambria Math" panose="02040503050406030204" pitchFamily="18" charset="0"/>
                                      <a:sym typeface="+mn-ea"/>
                                    </a:rPr>
                                    <m:t>1</m:t>
                                  </m:r>
                                </m:num>
                                <m:den>
                                  <m:r>
                                    <a:rPr lang="en-US" altLang="zh-CN" sz="1800" i="1">
                                      <a:solidFill>
                                        <a:srgbClr val="000000"/>
                                      </a:solidFill>
                                      <a:latin typeface="Cambria Math" panose="02040503050406030204" pitchFamily="18" charset="0"/>
                                      <a:sym typeface="+mn-ea"/>
                                    </a:rPr>
                                    <m:t>𝑑</m:t>
                                  </m:r>
                                  <m:r>
                                    <a:rPr lang="en-US" altLang="zh-CN" sz="1800" i="1">
                                      <a:solidFill>
                                        <a:srgbClr val="000000"/>
                                      </a:solidFill>
                                      <a:latin typeface="Cambria Math" panose="02040503050406030204" pitchFamily="18" charset="0"/>
                                      <a:sym typeface="+mn-ea"/>
                                    </a:rPr>
                                    <m:t>(</m:t>
                                  </m:r>
                                  <m:r>
                                    <a:rPr lang="en-US" altLang="zh-CN" sz="1800" i="1">
                                      <a:solidFill>
                                        <a:srgbClr val="000000"/>
                                      </a:solidFill>
                                      <a:latin typeface="Cambria Math" panose="02040503050406030204" pitchFamily="18" charset="0"/>
                                      <a:sym typeface="+mn-ea"/>
                                    </a:rPr>
                                    <m:t>𝑑</m:t>
                                  </m:r>
                                  <m:r>
                                    <a:rPr lang="en-US" altLang="zh-CN" sz="1800" i="1">
                                      <a:solidFill>
                                        <a:srgbClr val="000000"/>
                                      </a:solidFill>
                                      <a:latin typeface="Cambria Math" panose="02040503050406030204" pitchFamily="18" charset="0"/>
                                      <a:sym typeface="+mn-ea"/>
                                    </a:rPr>
                                    <m:t>−1)</m:t>
                                  </m:r>
                                </m:den>
                              </m:f>
                              <m:r>
                                <a:rPr lang="en-US" altLang="zh-CN" sz="1800" i="1">
                                  <a:solidFill>
                                    <a:srgbClr val="000000"/>
                                  </a:solidFill>
                                  <a:latin typeface="Cambria Math" panose="02040503050406030204" pitchFamily="18" charset="0"/>
                                  <a:sym typeface="+mn-ea"/>
                                </a:rPr>
                                <m:t>         </m:t>
                              </m:r>
                              <m:r>
                                <a:rPr lang="en-US" altLang="zh-CN" sz="1800" i="1">
                                  <a:solidFill>
                                    <a:srgbClr val="000000"/>
                                  </a:solidFill>
                                  <a:latin typeface="Cambria Math" panose="02040503050406030204" pitchFamily="18" charset="0"/>
                                  <a:sym typeface="+mn-ea"/>
                                </a:rPr>
                                <m:t>𝑑</m:t>
                              </m:r>
                              <m:r>
                                <a:rPr lang="en-US" altLang="zh-CN" sz="1800" i="1">
                                  <a:solidFill>
                                    <a:srgbClr val="000000"/>
                                  </a:solidFill>
                                  <a:latin typeface="Cambria Math" panose="02040503050406030204" pitchFamily="18" charset="0"/>
                                  <a:sym typeface="+mn-ea"/>
                                </a:rPr>
                                <m:t>=2,3,…,</m:t>
                              </m:r>
                              <m:r>
                                <a:rPr lang="en-US" altLang="zh-CN" sz="1800" i="1">
                                  <a:solidFill>
                                    <a:srgbClr val="000000"/>
                                  </a:solidFill>
                                  <a:latin typeface="Cambria Math" panose="02040503050406030204" pitchFamily="18" charset="0"/>
                                  <a:sym typeface="+mn-ea"/>
                                </a:rPr>
                                <m:t>𝑘</m:t>
                              </m:r>
                            </m:e>
                          </m:mr>
                        </m:m>
                        <m:r>
                          <a:rPr lang="en-US" altLang="zh-CN" sz="1800" i="1">
                            <a:solidFill>
                              <a:srgbClr val="000000"/>
                            </a:solidFill>
                            <a:latin typeface="Cambria Math" panose="02040503050406030204" pitchFamily="18" charset="0"/>
                            <a:sym typeface="+mn-ea"/>
                          </a:rPr>
                          <m:t> </m:t>
                        </m:r>
                      </m:e>
                    </m:d>
                  </m:oMath>
                </a14:m>
                <a:r>
                  <a:rPr lang="en-US" altLang="zh-CN" sz="1800" dirty="0">
                    <a:solidFill>
                      <a:srgbClr val="000000"/>
                    </a:solidFill>
                    <a:latin typeface="Times New Roman"/>
                    <a:sym typeface="+mn-ea"/>
                  </a:rPr>
                  <a:t>              (1)</a:t>
                </a:r>
              </a:p>
              <a:p>
                <a:pPr eaLnBrk="0" fontAlgn="base" hangingPunct="0">
                  <a:lnSpc>
                    <a:spcPts val="3400"/>
                  </a:lnSpc>
                  <a:spcBef>
                    <a:spcPct val="0"/>
                  </a:spcBef>
                  <a:spcAft>
                    <a:spcPct val="0"/>
                  </a:spcAft>
                </a:pPr>
                <a:r>
                  <a:rPr lang="zh-CN" altLang="en-US" sz="1800" dirty="0">
                    <a:solidFill>
                      <a:srgbClr val="000000"/>
                    </a:solidFill>
                    <a:latin typeface="Times New Roman"/>
                  </a:rPr>
                  <a:t>         根据度分布函数来确定编码时的度</a:t>
                </a:r>
                <a:r>
                  <a:rPr lang="en-US" altLang="zh-CN" sz="1800" dirty="0">
                    <a:solidFill>
                      <a:srgbClr val="000000"/>
                    </a:solidFill>
                    <a:latin typeface="Times New Roman"/>
                  </a:rPr>
                  <a:t>(</a:t>
                </a:r>
                <a:r>
                  <a:rPr lang="zh-CN" altLang="en-US" sz="1800" dirty="0">
                    <a:solidFill>
                      <a:srgbClr val="000000"/>
                    </a:solidFill>
                    <a:latin typeface="Times New Roman"/>
                  </a:rPr>
                  <a:t>参与编码的源文件的个数</a:t>
                </a:r>
                <a:r>
                  <a:rPr lang="en-US" altLang="zh-CN" sz="1800" dirty="0">
                    <a:solidFill>
                      <a:srgbClr val="000000"/>
                    </a:solidFill>
                    <a:latin typeface="Times New Roman"/>
                  </a:rPr>
                  <a:t>)</a:t>
                </a:r>
                <a:r>
                  <a:rPr lang="zh-CN" altLang="en-US" sz="1800" dirty="0">
                    <a:solidFill>
                      <a:srgbClr val="000000"/>
                    </a:solidFill>
                    <a:latin typeface="Times New Roman"/>
                  </a:rPr>
                  <a:t>。</a:t>
                </a:r>
                <a:endParaRPr lang="en-US" altLang="zh-CN" sz="1800" dirty="0">
                  <a:solidFill>
                    <a:srgbClr val="000000"/>
                  </a:solidFill>
                  <a:latin typeface="Times New Roman"/>
                </a:endParaRPr>
              </a:p>
              <a:p>
                <a:pPr eaLnBrk="0" fontAlgn="base" hangingPunct="0">
                  <a:lnSpc>
                    <a:spcPts val="3400"/>
                  </a:lnSpc>
                  <a:spcBef>
                    <a:spcPct val="0"/>
                  </a:spcBef>
                  <a:spcAft>
                    <a:spcPct val="0"/>
                  </a:spcAft>
                </a:pPr>
                <a:r>
                  <a:rPr lang="zh-CN" altLang="en-US" sz="1800" dirty="0">
                    <a:solidFill>
                      <a:srgbClr val="000000"/>
                    </a:solidFill>
                    <a:latin typeface="Times New Roman"/>
                  </a:rPr>
                  <a:t>假设</a:t>
                </a:r>
                <a:r>
                  <a:rPr lang="en-US" altLang="zh-CN" sz="1800" i="1" dirty="0">
                    <a:solidFill>
                      <a:srgbClr val="000000"/>
                    </a:solidFill>
                    <a:latin typeface="Times New Roman"/>
                  </a:rPr>
                  <a:t>k</a:t>
                </a:r>
                <a:r>
                  <a:rPr lang="en-US" altLang="zh-CN" sz="1800" dirty="0">
                    <a:solidFill>
                      <a:srgbClr val="000000"/>
                    </a:solidFill>
                    <a:latin typeface="Times New Roman"/>
                  </a:rPr>
                  <a:t>=100</a:t>
                </a:r>
                <a:r>
                  <a:rPr lang="zh-CN" altLang="en-US" sz="1800" dirty="0">
                    <a:solidFill>
                      <a:srgbClr val="000000"/>
                    </a:solidFill>
                    <a:latin typeface="Times New Roman"/>
                  </a:rPr>
                  <a:t>，则由孤波分布可知：</a:t>
                </a:r>
                <a:endParaRPr lang="en-US" altLang="zh-CN" sz="1800" dirty="0">
                  <a:solidFill>
                    <a:srgbClr val="000000"/>
                  </a:solidFill>
                  <a:latin typeface="Times New Roman"/>
                </a:endParaRPr>
              </a:p>
              <a:p>
                <a:pPr eaLnBrk="0" fontAlgn="base" hangingPunct="0">
                  <a:lnSpc>
                    <a:spcPts val="3400"/>
                  </a:lnSpc>
                  <a:spcBef>
                    <a:spcPct val="0"/>
                  </a:spcBef>
                  <a:spcAft>
                    <a:spcPct val="0"/>
                  </a:spcAft>
                </a:pPr>
                <a:r>
                  <a:rPr lang="zh-CN" altLang="en-US" sz="1800" dirty="0">
                    <a:solidFill>
                      <a:srgbClr val="000000"/>
                    </a:solidFill>
                    <a:latin typeface="Times New Roman"/>
                  </a:rPr>
                  <a:t>度为</a:t>
                </a:r>
                <a:r>
                  <a:rPr lang="en-US" altLang="zh-CN" sz="1800" dirty="0">
                    <a:solidFill>
                      <a:srgbClr val="000000"/>
                    </a:solidFill>
                    <a:latin typeface="Times New Roman"/>
                  </a:rPr>
                  <a:t>1</a:t>
                </a:r>
                <a:r>
                  <a:rPr lang="zh-CN" altLang="en-US" sz="1800" dirty="0">
                    <a:solidFill>
                      <a:srgbClr val="000000"/>
                    </a:solidFill>
                    <a:latin typeface="Times New Roman"/>
                  </a:rPr>
                  <a:t>的概率为</a:t>
                </a:r>
                <a:r>
                  <a:rPr lang="en-US" altLang="zh-CN" sz="1800" dirty="0">
                    <a:solidFill>
                      <a:srgbClr val="000000"/>
                    </a:solidFill>
                    <a:latin typeface="Times New Roman"/>
                  </a:rPr>
                  <a:t>1/100</a:t>
                </a:r>
                <a:r>
                  <a:rPr lang="zh-CN" altLang="en-US" sz="1800" dirty="0">
                    <a:solidFill>
                      <a:srgbClr val="000000"/>
                    </a:solidFill>
                    <a:latin typeface="Times New Roman"/>
                  </a:rPr>
                  <a:t>，度为</a:t>
                </a:r>
                <a:r>
                  <a:rPr lang="en-US" altLang="zh-CN" sz="1800" dirty="0">
                    <a:solidFill>
                      <a:srgbClr val="000000"/>
                    </a:solidFill>
                    <a:latin typeface="Times New Roman"/>
                  </a:rPr>
                  <a:t>2</a:t>
                </a:r>
                <a:r>
                  <a:rPr lang="zh-CN" altLang="en-US" sz="1800" dirty="0">
                    <a:solidFill>
                      <a:srgbClr val="000000"/>
                    </a:solidFill>
                    <a:latin typeface="Times New Roman"/>
                  </a:rPr>
                  <a:t>的概率为</a:t>
                </a:r>
                <a:r>
                  <a:rPr lang="en-US" altLang="zh-CN" sz="1800" dirty="0">
                    <a:solidFill>
                      <a:srgbClr val="000000"/>
                    </a:solidFill>
                    <a:latin typeface="Times New Roman"/>
                  </a:rPr>
                  <a:t>1/2</a:t>
                </a:r>
                <a:r>
                  <a:rPr lang="zh-CN" altLang="en-US" sz="1800" dirty="0">
                    <a:solidFill>
                      <a:srgbClr val="000000"/>
                    </a:solidFill>
                    <a:latin typeface="Times New Roman"/>
                  </a:rPr>
                  <a:t>，</a:t>
                </a:r>
                <a:r>
                  <a:rPr lang="en-US" altLang="zh-CN" sz="1800" dirty="0">
                    <a:solidFill>
                      <a:srgbClr val="000000"/>
                    </a:solidFill>
                    <a:latin typeface="Times New Roman"/>
                  </a:rPr>
                  <a:t>...</a:t>
                </a:r>
                <a:r>
                  <a:rPr lang="zh-CN" altLang="en-US" sz="1800" dirty="0">
                    <a:solidFill>
                      <a:srgbClr val="000000"/>
                    </a:solidFill>
                    <a:latin typeface="Times New Roman"/>
                  </a:rPr>
                  <a:t>，</a:t>
                </a:r>
                <a:r>
                  <a:rPr lang="en-US" altLang="zh-CN" sz="1800" dirty="0">
                    <a:solidFill>
                      <a:srgbClr val="000000"/>
                    </a:solidFill>
                    <a:latin typeface="Times New Roman"/>
                  </a:rPr>
                  <a:t>d</a:t>
                </a:r>
                <a:r>
                  <a:rPr lang="zh-CN" altLang="en-US" sz="1800" dirty="0">
                    <a:solidFill>
                      <a:srgbClr val="000000"/>
                    </a:solidFill>
                    <a:latin typeface="Times New Roman"/>
                  </a:rPr>
                  <a:t>为</a:t>
                </a:r>
                <a:r>
                  <a:rPr lang="en-US" altLang="zh-CN" sz="1800" dirty="0">
                    <a:solidFill>
                      <a:srgbClr val="000000"/>
                    </a:solidFill>
                    <a:latin typeface="Times New Roman"/>
                  </a:rPr>
                  <a:t>100</a:t>
                </a:r>
                <a:r>
                  <a:rPr lang="zh-CN" altLang="en-US" sz="1800" dirty="0">
                    <a:solidFill>
                      <a:srgbClr val="000000"/>
                    </a:solidFill>
                    <a:latin typeface="Times New Roman"/>
                  </a:rPr>
                  <a:t>的概率为</a:t>
                </a:r>
                <a:r>
                  <a:rPr lang="en-US" altLang="zh-CN" sz="1800" dirty="0">
                    <a:solidFill>
                      <a:srgbClr val="000000"/>
                    </a:solidFill>
                    <a:latin typeface="Times New Roman"/>
                  </a:rPr>
                  <a:t>1/9900</a:t>
                </a:r>
                <a:r>
                  <a:rPr lang="zh-CN" altLang="en-US" sz="1800" dirty="0">
                    <a:solidFill>
                      <a:srgbClr val="000000"/>
                    </a:solidFill>
                    <a:latin typeface="Times New Roman"/>
                  </a:rPr>
                  <a:t>。</a:t>
                </a:r>
                <a:endParaRPr lang="en-US" altLang="zh-CN" sz="1800" dirty="0">
                  <a:solidFill>
                    <a:srgbClr val="000000"/>
                  </a:solidFill>
                  <a:latin typeface="Times New Roman"/>
                </a:endParaRPr>
              </a:p>
              <a:p>
                <a:pPr eaLnBrk="0" fontAlgn="base" hangingPunct="0">
                  <a:lnSpc>
                    <a:spcPts val="3400"/>
                  </a:lnSpc>
                  <a:spcBef>
                    <a:spcPct val="0"/>
                  </a:spcBef>
                  <a:spcAft>
                    <a:spcPct val="0"/>
                  </a:spcAft>
                </a:pPr>
                <a:r>
                  <a:rPr lang="zh-CN" altLang="en-US" sz="1800" dirty="0">
                    <a:solidFill>
                      <a:srgbClr val="000000"/>
                    </a:solidFill>
                    <a:latin typeface="Times New Roman"/>
                  </a:rPr>
                  <a:t>在</a:t>
                </a:r>
                <a:r>
                  <a:rPr lang="en-US" altLang="zh-CN" sz="1800" dirty="0">
                    <a:solidFill>
                      <a:srgbClr val="000000"/>
                    </a:solidFill>
                    <a:latin typeface="Times New Roman"/>
                  </a:rPr>
                  <a:t>[1,10000]</a:t>
                </a:r>
                <a:r>
                  <a:rPr lang="zh-CN" altLang="en-US" sz="1800" dirty="0">
                    <a:solidFill>
                      <a:srgbClr val="000000"/>
                    </a:solidFill>
                    <a:latin typeface="Times New Roman"/>
                  </a:rPr>
                  <a:t>区间上划分</a:t>
                </a:r>
                <a:r>
                  <a:rPr lang="en-US" altLang="zh-CN" sz="1800" dirty="0">
                    <a:solidFill>
                      <a:srgbClr val="000000"/>
                    </a:solidFill>
                    <a:latin typeface="Times New Roman"/>
                  </a:rPr>
                  <a:t>100</a:t>
                </a:r>
                <a:r>
                  <a:rPr lang="zh-CN" altLang="en-US" sz="1800" dirty="0">
                    <a:solidFill>
                      <a:srgbClr val="000000"/>
                    </a:solidFill>
                    <a:latin typeface="Times New Roman"/>
                  </a:rPr>
                  <a:t>个区间：</a:t>
                </a:r>
                <a:endParaRPr lang="zh-CN" altLang="en-US" sz="1800" dirty="0">
                  <a:solidFill>
                    <a:srgbClr val="000000"/>
                  </a:solidFill>
                  <a:latin typeface="Times New Roman"/>
                  <a:sym typeface="+mn-ea"/>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96172" y="815230"/>
                <a:ext cx="7289149" cy="3098990"/>
              </a:xfrm>
              <a:prstGeom prst="rect">
                <a:avLst/>
              </a:prstGeom>
              <a:blipFill>
                <a:blip r:embed="rId2"/>
                <a:stretch>
                  <a:fillRect l="-669" r="-753" b="-2362"/>
                </a:stretch>
              </a:blipFill>
            </p:spPr>
            <p:txBody>
              <a:bodyPr/>
              <a:lstStyle/>
              <a:p>
                <a:r>
                  <a:rPr lang="zh-CN" altLang="en-US">
                    <a:noFill/>
                  </a:rPr>
                  <a:t> </a:t>
                </a:r>
              </a:p>
            </p:txBody>
          </p:sp>
        </mc:Fallback>
      </mc:AlternateContent>
      <p:graphicFrame>
        <p:nvGraphicFramePr>
          <p:cNvPr id="3" name="表格 3"/>
          <p:cNvGraphicFramePr>
            <a:graphicFrameLocks noGrp="1"/>
          </p:cNvGraphicFramePr>
          <p:nvPr>
            <p:extLst>
              <p:ext uri="{D42A27DB-BD31-4B8C-83A1-F6EECF244321}">
                <p14:modId xmlns:p14="http://schemas.microsoft.com/office/powerpoint/2010/main" val="3138764145"/>
              </p:ext>
            </p:extLst>
          </p:nvPr>
        </p:nvGraphicFramePr>
        <p:xfrm>
          <a:off x="326065" y="4031090"/>
          <a:ext cx="4334409" cy="2011680"/>
        </p:xfrm>
        <a:graphic>
          <a:graphicData uri="http://schemas.openxmlformats.org/drawingml/2006/table">
            <a:tbl>
              <a:tblPr firstRow="1" bandRow="1">
                <a:tableStyleId>{5C22544A-7EE6-4342-B048-85BDC9FD1C3A}</a:tableStyleId>
              </a:tblPr>
              <a:tblGrid>
                <a:gridCol w="1444803">
                  <a:extLst>
                    <a:ext uri="{9D8B030D-6E8A-4147-A177-3AD203B41FA5}">
                      <a16:colId xmlns:a16="http://schemas.microsoft.com/office/drawing/2014/main" val="20000"/>
                    </a:ext>
                  </a:extLst>
                </a:gridCol>
                <a:gridCol w="1444803">
                  <a:extLst>
                    <a:ext uri="{9D8B030D-6E8A-4147-A177-3AD203B41FA5}">
                      <a16:colId xmlns:a16="http://schemas.microsoft.com/office/drawing/2014/main" val="20001"/>
                    </a:ext>
                  </a:extLst>
                </a:gridCol>
                <a:gridCol w="1444803">
                  <a:extLst>
                    <a:ext uri="{9D8B030D-6E8A-4147-A177-3AD203B41FA5}">
                      <a16:colId xmlns:a16="http://schemas.microsoft.com/office/drawing/2014/main" val="20002"/>
                    </a:ext>
                  </a:extLst>
                </a:gridCol>
              </a:tblGrid>
              <a:tr h="133166">
                <a:tc>
                  <a:txBody>
                    <a:bodyPr/>
                    <a:lstStyle/>
                    <a:p>
                      <a:r>
                        <a:rPr lang="zh-CN" altLang="en-US" sz="1600" b="0" dirty="0">
                          <a:solidFill>
                            <a:schemeClr val="tx1"/>
                          </a:solidFill>
                        </a:rPr>
                        <a:t>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b="0" dirty="0">
                          <a:solidFill>
                            <a:schemeClr val="tx1"/>
                          </a:solidFill>
                        </a:rPr>
                        <a:t>取该度的概率</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b="0" dirty="0">
                          <a:solidFill>
                            <a:schemeClr val="tx1"/>
                          </a:solidFill>
                        </a:rPr>
                        <a:t>取该度的空间</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33166">
                <a:tc>
                  <a:txBody>
                    <a:bodyPr/>
                    <a:lstStyle/>
                    <a:p>
                      <a:r>
                        <a:rPr lang="en-US" altLang="zh-CN" sz="1600" b="0" dirty="0">
                          <a:solidFill>
                            <a:schemeClr val="tx1"/>
                          </a:solidFill>
                        </a:rPr>
                        <a:t>1</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(0,100]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33166">
                <a:tc>
                  <a:txBody>
                    <a:bodyPr/>
                    <a:lstStyle/>
                    <a:p>
                      <a:r>
                        <a:rPr lang="en-US" altLang="zh-CN" sz="1600" b="0" dirty="0">
                          <a:solidFill>
                            <a:schemeClr val="tx1"/>
                          </a:solidFill>
                        </a:rPr>
                        <a:t>2</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1/2</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(100,5100]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33166">
                <a:tc>
                  <a:txBody>
                    <a:bodyPr/>
                    <a:lstStyle/>
                    <a:p>
                      <a:r>
                        <a:rPr lang="en-US" altLang="zh-CN" sz="1600" b="0" dirty="0">
                          <a:solidFill>
                            <a:schemeClr val="tx1"/>
                          </a:solidFill>
                        </a:rPr>
                        <a:t>3</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1/6</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(5100,6766]</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33166">
                <a:tc>
                  <a:txBody>
                    <a:bodyPr/>
                    <a:lstStyle/>
                    <a:p>
                      <a:r>
                        <a:rPr lang="en-US" altLang="zh-CN" sz="1600" b="0" dirty="0">
                          <a:solidFill>
                            <a:schemeClr val="tx1"/>
                          </a:solidFill>
                        </a:rPr>
                        <a:t>…</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33166">
                <a:tc>
                  <a:txBody>
                    <a:bodyPr/>
                    <a:lstStyle/>
                    <a:p>
                      <a:r>
                        <a:rPr lang="en-US" altLang="zh-CN" sz="1600" b="0" dirty="0">
                          <a:solidFill>
                            <a:schemeClr val="tx1"/>
                          </a:solidFill>
                        </a:rPr>
                        <a:t>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1/9900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(9999,10000]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4" name="文本框 3">
            <a:extLst>
              <a:ext uri="{FF2B5EF4-FFF2-40B4-BE49-F238E27FC236}">
                <a16:creationId xmlns:a16="http://schemas.microsoft.com/office/drawing/2014/main" id="{B59FCBA4-022F-5939-B7AE-8A37FAEED9D1}"/>
              </a:ext>
            </a:extLst>
          </p:cNvPr>
          <p:cNvSpPr txBox="1"/>
          <p:nvPr/>
        </p:nvSpPr>
        <p:spPr>
          <a:xfrm>
            <a:off x="7825562" y="870098"/>
            <a:ext cx="4170266" cy="177869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sz="1800" dirty="0">
                <a:solidFill>
                  <a:srgbClr val="000000"/>
                </a:solidFill>
                <a:latin typeface="Times New Roman"/>
                <a:sym typeface="+mn-ea"/>
              </a:rPr>
              <a:t>        确定了一次编码的度后，还需要确定是由哪几个</a:t>
            </a:r>
            <a:r>
              <a:rPr lang="en-US" altLang="zh-CN" sz="1800" i="1" dirty="0" err="1">
                <a:solidFill>
                  <a:srgbClr val="000000"/>
                </a:solidFill>
                <a:latin typeface="Times New Roman"/>
                <a:sym typeface="+mn-ea"/>
              </a:rPr>
              <a:t>s</a:t>
            </a:r>
            <a:r>
              <a:rPr lang="en-US" altLang="zh-CN" sz="1800" i="1" baseline="-25000" dirty="0" err="1">
                <a:solidFill>
                  <a:srgbClr val="000000"/>
                </a:solidFill>
                <a:latin typeface="Times New Roman"/>
                <a:sym typeface="+mn-ea"/>
              </a:rPr>
              <a:t>k</a:t>
            </a:r>
            <a:r>
              <a:rPr lang="zh-CN" altLang="en-US" sz="1800" dirty="0">
                <a:solidFill>
                  <a:srgbClr val="000000"/>
                </a:solidFill>
                <a:latin typeface="Times New Roman"/>
                <a:sym typeface="+mn-ea"/>
              </a:rPr>
              <a:t>异或编码，可以用和确定度相同的方法来选取</a:t>
            </a:r>
            <a:r>
              <a:rPr lang="en-US" altLang="zh-CN" sz="1800" i="1" dirty="0" err="1">
                <a:solidFill>
                  <a:srgbClr val="000000"/>
                </a:solidFill>
                <a:latin typeface="Times New Roman"/>
                <a:sym typeface="+mn-ea"/>
              </a:rPr>
              <a:t>s</a:t>
            </a:r>
            <a:r>
              <a:rPr lang="en-US" altLang="zh-CN" sz="1800" i="1" baseline="-25000" dirty="0" err="1">
                <a:solidFill>
                  <a:srgbClr val="000000"/>
                </a:solidFill>
                <a:latin typeface="Times New Roman"/>
                <a:sym typeface="+mn-ea"/>
              </a:rPr>
              <a:t>k</a:t>
            </a:r>
            <a:r>
              <a:rPr lang="zh-CN" altLang="en-US" sz="1800" dirty="0">
                <a:solidFill>
                  <a:srgbClr val="000000"/>
                </a:solidFill>
                <a:latin typeface="Times New Roman"/>
                <a:sym typeface="+mn-ea"/>
              </a:rPr>
              <a:t>。</a:t>
            </a:r>
            <a:endParaRPr lang="en-US" altLang="zh-CN" sz="1800" dirty="0">
              <a:solidFill>
                <a:srgbClr val="000000"/>
              </a:solidFill>
              <a:latin typeface="Times New Roman"/>
              <a:sym typeface="+mn-ea"/>
            </a:endParaRPr>
          </a:p>
          <a:p>
            <a:pPr eaLnBrk="0" fontAlgn="base" hangingPunct="0">
              <a:lnSpc>
                <a:spcPts val="3400"/>
              </a:lnSpc>
              <a:spcBef>
                <a:spcPct val="0"/>
              </a:spcBef>
              <a:spcAft>
                <a:spcPct val="0"/>
              </a:spcAft>
            </a:pPr>
            <a:r>
              <a:rPr lang="zh-CN" altLang="en-US" sz="1800" dirty="0">
                <a:solidFill>
                  <a:srgbClr val="000000"/>
                </a:solidFill>
                <a:latin typeface="Times New Roman"/>
              </a:rPr>
              <a:t>        在</a:t>
            </a:r>
            <a:r>
              <a:rPr lang="en-US" altLang="zh-CN" sz="1800" dirty="0">
                <a:solidFill>
                  <a:srgbClr val="000000"/>
                </a:solidFill>
                <a:latin typeface="Times New Roman"/>
              </a:rPr>
              <a:t>[1,10000]</a:t>
            </a:r>
            <a:r>
              <a:rPr lang="zh-CN" altLang="en-US" sz="1800" dirty="0">
                <a:solidFill>
                  <a:srgbClr val="000000"/>
                </a:solidFill>
                <a:latin typeface="Times New Roman"/>
              </a:rPr>
              <a:t>区间上划分</a:t>
            </a:r>
            <a:r>
              <a:rPr lang="en-US" altLang="zh-CN" sz="1800" dirty="0">
                <a:solidFill>
                  <a:srgbClr val="000000"/>
                </a:solidFill>
                <a:latin typeface="Times New Roman"/>
              </a:rPr>
              <a:t>100</a:t>
            </a:r>
            <a:r>
              <a:rPr lang="zh-CN" altLang="en-US" sz="1800" dirty="0">
                <a:solidFill>
                  <a:srgbClr val="000000"/>
                </a:solidFill>
                <a:latin typeface="Times New Roman"/>
              </a:rPr>
              <a:t>个区间：</a:t>
            </a:r>
            <a:endParaRPr lang="en-US" altLang="zh-CN" sz="1800" dirty="0">
              <a:solidFill>
                <a:srgbClr val="000000"/>
              </a:solidFill>
              <a:latin typeface="Times New Roman"/>
            </a:endParaRPr>
          </a:p>
        </p:txBody>
      </p:sp>
      <p:graphicFrame>
        <p:nvGraphicFramePr>
          <p:cNvPr id="5" name="表格 3">
            <a:extLst>
              <a:ext uri="{FF2B5EF4-FFF2-40B4-BE49-F238E27FC236}">
                <a16:creationId xmlns:a16="http://schemas.microsoft.com/office/drawing/2014/main" id="{876C6B0D-0922-81E4-E446-ADCB9EC2E996}"/>
              </a:ext>
            </a:extLst>
          </p:cNvPr>
          <p:cNvGraphicFramePr>
            <a:graphicFrameLocks noGrp="1"/>
          </p:cNvGraphicFramePr>
          <p:nvPr>
            <p:extLst>
              <p:ext uri="{D42A27DB-BD31-4B8C-83A1-F6EECF244321}">
                <p14:modId xmlns:p14="http://schemas.microsoft.com/office/powerpoint/2010/main" val="4154064893"/>
              </p:ext>
            </p:extLst>
          </p:nvPr>
        </p:nvGraphicFramePr>
        <p:xfrm>
          <a:off x="5847907" y="3817730"/>
          <a:ext cx="6096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r>
                        <a:rPr lang="en-US" altLang="zh-CN" sz="1600" b="0" i="1" dirty="0" err="1">
                          <a:solidFill>
                            <a:schemeClr val="tx1"/>
                          </a:solidFill>
                        </a:rPr>
                        <a:t>s</a:t>
                      </a:r>
                      <a:r>
                        <a:rPr lang="en-US" altLang="zh-CN" sz="1600" b="0" i="1" baseline="-25000" dirty="0" err="1">
                          <a:solidFill>
                            <a:schemeClr val="tx1"/>
                          </a:solidFill>
                        </a:rPr>
                        <a:t>k</a:t>
                      </a:r>
                      <a:endParaRPr lang="zh-CN" altLang="en-US" sz="1600" b="0" i="1" baseline="-25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b="0" dirty="0">
                          <a:solidFill>
                            <a:schemeClr val="tx1"/>
                          </a:solidFill>
                        </a:rPr>
                        <a:t>取该度的概率</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b="0" dirty="0">
                          <a:solidFill>
                            <a:schemeClr val="tx1"/>
                          </a:solidFill>
                        </a:rPr>
                        <a:t>取该度的空间</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r>
                        <a:rPr lang="en-US" altLang="zh-CN" sz="1600" b="0" i="1" dirty="0">
                          <a:solidFill>
                            <a:schemeClr val="tx1"/>
                          </a:solidFill>
                        </a:rPr>
                        <a:t>S</a:t>
                      </a:r>
                      <a:r>
                        <a:rPr lang="en-US" altLang="zh-CN" sz="1600" b="0" baseline="-25000" dirty="0">
                          <a:solidFill>
                            <a:schemeClr val="tx1"/>
                          </a:solidFill>
                        </a:rPr>
                        <a:t>1</a:t>
                      </a:r>
                      <a:endParaRPr lang="zh-CN" altLang="en-US" sz="1600" b="0" baseline="-25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(0,100]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i="1" dirty="0">
                          <a:solidFill>
                            <a:schemeClr val="tx1"/>
                          </a:solidFill>
                        </a:rPr>
                        <a:t>S</a:t>
                      </a:r>
                      <a:r>
                        <a:rPr lang="en-US" altLang="zh-CN" sz="1600" b="0" baseline="-25000" dirty="0">
                          <a:solidFill>
                            <a:schemeClr val="tx1"/>
                          </a:solidFill>
                        </a:rPr>
                        <a:t>2</a:t>
                      </a:r>
                      <a:endParaRPr lang="zh-CN" altLang="en-US" sz="1600" b="0" baseline="-25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(100,200]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i="1" dirty="0">
                          <a:solidFill>
                            <a:schemeClr val="tx1"/>
                          </a:solidFill>
                        </a:rPr>
                        <a:t>S</a:t>
                      </a:r>
                      <a:r>
                        <a:rPr lang="en-US" altLang="zh-CN" sz="1600" b="0" baseline="-25000" dirty="0">
                          <a:solidFill>
                            <a:schemeClr val="tx1"/>
                          </a:solidFill>
                        </a:rPr>
                        <a:t>3</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(200,300]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r>
                        <a:rPr lang="en-US" altLang="zh-CN" sz="1600" b="0" dirty="0">
                          <a:solidFill>
                            <a:schemeClr val="tx1"/>
                          </a:solidFill>
                        </a:rPr>
                        <a:t>…</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i="1" dirty="0">
                          <a:solidFill>
                            <a:schemeClr val="tx1"/>
                          </a:solidFill>
                        </a:rPr>
                        <a:t>S</a:t>
                      </a:r>
                      <a:r>
                        <a:rPr lang="en-US" altLang="zh-CN" sz="1600" b="0" baseline="-25000" dirty="0">
                          <a:solidFill>
                            <a:schemeClr val="tx1"/>
                          </a:solidFill>
                        </a:rPr>
                        <a:t>100</a:t>
                      </a:r>
                      <a:endParaRPr lang="zh-CN" altLang="en-US" sz="1600" b="0" baseline="-25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(9900,10000]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7" name="文本框 6">
            <a:extLst>
              <a:ext uri="{FF2B5EF4-FFF2-40B4-BE49-F238E27FC236}">
                <a16:creationId xmlns:a16="http://schemas.microsoft.com/office/drawing/2014/main" id="{67BE87EB-F782-6D6D-E795-F1A977467E77}"/>
              </a:ext>
            </a:extLst>
          </p:cNvPr>
          <p:cNvSpPr txBox="1"/>
          <p:nvPr/>
        </p:nvSpPr>
        <p:spPr>
          <a:xfrm>
            <a:off x="752434" y="6159640"/>
            <a:ext cx="10319603" cy="47064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sz="1800" dirty="0">
                <a:solidFill>
                  <a:srgbClr val="000000"/>
                </a:solidFill>
                <a:latin typeface="Times New Roman"/>
                <a:sym typeface="+mn-ea"/>
              </a:rPr>
              <a:t>        在</a:t>
            </a:r>
            <a:r>
              <a:rPr lang="en-US" altLang="zh-CN" sz="1800" dirty="0">
                <a:solidFill>
                  <a:srgbClr val="000000"/>
                </a:solidFill>
                <a:latin typeface="Times New Roman"/>
                <a:sym typeface="+mn-ea"/>
              </a:rPr>
              <a:t>0</a:t>
            </a:r>
            <a:r>
              <a:rPr lang="zh-CN" altLang="en-US" sz="1800" dirty="0">
                <a:solidFill>
                  <a:srgbClr val="000000"/>
                </a:solidFill>
                <a:latin typeface="Times New Roman"/>
                <a:sym typeface="+mn-ea"/>
              </a:rPr>
              <a:t>到</a:t>
            </a:r>
            <a:r>
              <a:rPr lang="en-US" altLang="zh-CN" sz="1800" dirty="0">
                <a:solidFill>
                  <a:srgbClr val="000000"/>
                </a:solidFill>
                <a:latin typeface="Times New Roman"/>
                <a:sym typeface="+mn-ea"/>
              </a:rPr>
              <a:t>10000</a:t>
            </a:r>
            <a:r>
              <a:rPr lang="zh-CN" altLang="en-US" sz="1800" dirty="0">
                <a:solidFill>
                  <a:srgbClr val="000000"/>
                </a:solidFill>
                <a:latin typeface="Times New Roman"/>
                <a:sym typeface="+mn-ea"/>
              </a:rPr>
              <a:t>之间随机产生</a:t>
            </a:r>
            <a:r>
              <a:rPr lang="en-US" altLang="zh-CN" sz="1800" i="1" dirty="0">
                <a:solidFill>
                  <a:srgbClr val="000000"/>
                </a:solidFill>
                <a:latin typeface="Times New Roman"/>
                <a:sym typeface="+mn-ea"/>
              </a:rPr>
              <a:t>d</a:t>
            </a:r>
            <a:r>
              <a:rPr lang="zh-CN" altLang="en-US" sz="1800" dirty="0">
                <a:solidFill>
                  <a:srgbClr val="000000"/>
                </a:solidFill>
                <a:latin typeface="Times New Roman"/>
                <a:sym typeface="+mn-ea"/>
              </a:rPr>
              <a:t>个数，看这</a:t>
            </a:r>
            <a:r>
              <a:rPr lang="en-US" altLang="zh-CN" sz="1800" i="1" dirty="0">
                <a:solidFill>
                  <a:srgbClr val="000000"/>
                </a:solidFill>
                <a:latin typeface="Times New Roman"/>
                <a:sym typeface="+mn-ea"/>
              </a:rPr>
              <a:t>d</a:t>
            </a:r>
            <a:r>
              <a:rPr lang="zh-CN" altLang="en-US" sz="1800" dirty="0">
                <a:solidFill>
                  <a:srgbClr val="000000"/>
                </a:solidFill>
                <a:latin typeface="Times New Roman"/>
                <a:sym typeface="+mn-ea"/>
              </a:rPr>
              <a:t>个数落在哪个区间，选取这些区间所对应的</a:t>
            </a:r>
            <a:r>
              <a:rPr lang="en-US" altLang="zh-CN" sz="1800" i="1" dirty="0" err="1">
                <a:solidFill>
                  <a:srgbClr val="000000"/>
                </a:solidFill>
                <a:latin typeface="Times New Roman"/>
                <a:sym typeface="+mn-ea"/>
              </a:rPr>
              <a:t>s</a:t>
            </a:r>
            <a:r>
              <a:rPr lang="en-US" altLang="zh-CN" sz="1800" i="1" baseline="-25000" dirty="0" err="1">
                <a:solidFill>
                  <a:srgbClr val="000000"/>
                </a:solidFill>
                <a:latin typeface="Times New Roman"/>
                <a:sym typeface="+mn-ea"/>
              </a:rPr>
              <a:t>k</a:t>
            </a:r>
            <a:r>
              <a:rPr lang="zh-CN" altLang="en-US" sz="1800" dirty="0">
                <a:solidFill>
                  <a:srgbClr val="000000"/>
                </a:solidFill>
                <a:latin typeface="Times New Roman"/>
                <a:sym typeface="+mn-ea"/>
              </a:rPr>
              <a:t>进行编码。</a:t>
            </a:r>
            <a:endParaRPr lang="en-US" altLang="zh-CN" sz="1800" dirty="0">
              <a:solidFill>
                <a:srgbClr val="000000"/>
              </a:solidFill>
              <a:latin typeface="Times New Roman"/>
            </a:endParaRPr>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en-US" altLang="zh-CN" sz="2400" dirty="0">
                <a:sym typeface="+mn-ea"/>
              </a:rPr>
              <a:t>LT</a:t>
            </a:r>
            <a:r>
              <a:rPr lang="zh-CN" altLang="en-US" sz="2400" dirty="0">
                <a:sym typeface="+mn-ea"/>
              </a:rPr>
              <a:t>码的解码</a:t>
            </a:r>
          </a:p>
        </p:txBody>
      </p:sp>
      <p:sp>
        <p:nvSpPr>
          <p:cNvPr id="6" name="文本框 5"/>
          <p:cNvSpPr txBox="1"/>
          <p:nvPr/>
        </p:nvSpPr>
        <p:spPr>
          <a:xfrm>
            <a:off x="1783967" y="914466"/>
            <a:ext cx="8659247" cy="265072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sz="1800" dirty="0">
                <a:solidFill>
                  <a:srgbClr val="000000"/>
                </a:solidFill>
                <a:latin typeface="Times New Roman"/>
                <a:sym typeface="+mn-ea"/>
              </a:rPr>
              <a:t>        LT</a:t>
            </a:r>
            <a:r>
              <a:rPr lang="zh-CN" altLang="en-US" sz="1800" dirty="0">
                <a:solidFill>
                  <a:srgbClr val="000000"/>
                </a:solidFill>
                <a:latin typeface="Times New Roman"/>
                <a:sym typeface="+mn-ea"/>
              </a:rPr>
              <a:t>码的解码采取</a:t>
            </a:r>
            <a:r>
              <a:rPr lang="zh-CN" altLang="en-US" sz="1800" dirty="0">
                <a:solidFill>
                  <a:srgbClr val="FF0000"/>
                </a:solidFill>
                <a:latin typeface="Times New Roman"/>
                <a:sym typeface="+mn-ea"/>
              </a:rPr>
              <a:t>迭代法</a:t>
            </a:r>
            <a:r>
              <a:rPr lang="en-US" altLang="zh-CN" sz="1800" dirty="0">
                <a:solidFill>
                  <a:srgbClr val="FF0000"/>
                </a:solidFill>
                <a:latin typeface="Times New Roman"/>
                <a:sym typeface="+mn-ea"/>
              </a:rPr>
              <a:t>(BP</a:t>
            </a:r>
            <a:r>
              <a:rPr lang="zh-CN" altLang="en-US" sz="1800" dirty="0">
                <a:solidFill>
                  <a:srgbClr val="FF0000"/>
                </a:solidFill>
                <a:latin typeface="Times New Roman"/>
                <a:sym typeface="+mn-ea"/>
              </a:rPr>
              <a:t>算法</a:t>
            </a:r>
            <a:r>
              <a:rPr lang="en-US" altLang="zh-CN" sz="1800" dirty="0">
                <a:solidFill>
                  <a:srgbClr val="FF0000"/>
                </a:solidFill>
                <a:latin typeface="Times New Roman"/>
                <a:sym typeface="+mn-ea"/>
              </a:rPr>
              <a:t>)</a:t>
            </a:r>
            <a:r>
              <a:rPr lang="zh-CN" altLang="en-US" sz="1800" dirty="0">
                <a:solidFill>
                  <a:srgbClr val="000000"/>
                </a:solidFill>
                <a:latin typeface="Times New Roman"/>
                <a:sym typeface="+mn-ea"/>
              </a:rPr>
              <a:t>。在解码的每一步，解码器都</a:t>
            </a:r>
            <a:r>
              <a:rPr lang="zh-CN" altLang="en-US" sz="1800" dirty="0">
                <a:solidFill>
                  <a:srgbClr val="FF0000"/>
                </a:solidFill>
                <a:latin typeface="Times New Roman"/>
                <a:sym typeface="+mn-ea"/>
              </a:rPr>
              <a:t>在编码符号集合中寻找度为</a:t>
            </a:r>
            <a:r>
              <a:rPr lang="en-US" altLang="zh-CN" sz="1800" dirty="0">
                <a:solidFill>
                  <a:srgbClr val="FF0000"/>
                </a:solidFill>
                <a:latin typeface="Times New Roman"/>
                <a:sym typeface="+mn-ea"/>
              </a:rPr>
              <a:t>1</a:t>
            </a:r>
            <a:r>
              <a:rPr lang="zh-CN" altLang="en-US" sz="1800" dirty="0">
                <a:solidFill>
                  <a:srgbClr val="FF0000"/>
                </a:solidFill>
                <a:latin typeface="Times New Roman"/>
                <a:sym typeface="+mn-ea"/>
              </a:rPr>
              <a:t>的符号</a:t>
            </a:r>
            <a:r>
              <a:rPr lang="zh-CN" altLang="en-US" sz="1800" dirty="0">
                <a:solidFill>
                  <a:srgbClr val="000000"/>
                </a:solidFill>
                <a:latin typeface="Times New Roman"/>
                <a:sym typeface="+mn-ea"/>
              </a:rPr>
              <a:t>，</a:t>
            </a:r>
            <a:r>
              <a:rPr lang="zh-CN" altLang="en-US" sz="1800" dirty="0">
                <a:solidFill>
                  <a:srgbClr val="FF0000"/>
                </a:solidFill>
                <a:latin typeface="Times New Roman"/>
                <a:sym typeface="+mn-ea"/>
              </a:rPr>
              <a:t>从而直接恢复出它们所连接的输入符号</a:t>
            </a:r>
            <a:r>
              <a:rPr lang="zh-CN" altLang="en-US" sz="1800" dirty="0">
                <a:solidFill>
                  <a:srgbClr val="000000"/>
                </a:solidFill>
                <a:latin typeface="Times New Roman"/>
                <a:sym typeface="+mn-ea"/>
              </a:rPr>
              <a:t>，然后将这些输入符号与跟它们有连接的编码符号进行异或并将结果取代该编码符号原来的值，完成之后删去它们之间的连接关系，并相应地修改编码符号的度。重复上述过程直至不存在度为</a:t>
            </a:r>
            <a:r>
              <a:rPr lang="en-US" altLang="zh-CN" sz="1800" dirty="0">
                <a:solidFill>
                  <a:srgbClr val="000000"/>
                </a:solidFill>
                <a:latin typeface="Times New Roman"/>
                <a:sym typeface="+mn-ea"/>
              </a:rPr>
              <a:t>1</a:t>
            </a:r>
            <a:r>
              <a:rPr lang="zh-CN" altLang="en-US" sz="1800" dirty="0">
                <a:solidFill>
                  <a:srgbClr val="000000"/>
                </a:solidFill>
                <a:latin typeface="Times New Roman"/>
                <a:sym typeface="+mn-ea"/>
              </a:rPr>
              <a:t>的符号为止。</a:t>
            </a:r>
            <a:endParaRPr lang="en-US" altLang="zh-CN" sz="1800" dirty="0">
              <a:solidFill>
                <a:srgbClr val="000000"/>
              </a:solidFill>
              <a:latin typeface="Times New Roman"/>
              <a:sym typeface="+mn-ea"/>
            </a:endParaRPr>
          </a:p>
          <a:p>
            <a:pPr eaLnBrk="0" fontAlgn="base" hangingPunct="0">
              <a:lnSpc>
                <a:spcPts val="3400"/>
              </a:lnSpc>
              <a:spcBef>
                <a:spcPct val="0"/>
              </a:spcBef>
              <a:spcAft>
                <a:spcPct val="0"/>
              </a:spcAft>
            </a:pPr>
            <a:r>
              <a:rPr lang="en-US" altLang="zh-CN" sz="1800" dirty="0">
                <a:solidFill>
                  <a:srgbClr val="000000"/>
                </a:solidFill>
                <a:latin typeface="Times New Roman"/>
                <a:sym typeface="+mn-ea"/>
              </a:rPr>
              <a:t>         </a:t>
            </a:r>
            <a:r>
              <a:rPr lang="zh-CN" altLang="en-US" sz="1800" dirty="0">
                <a:solidFill>
                  <a:srgbClr val="000000"/>
                </a:solidFill>
                <a:latin typeface="Times New Roman"/>
                <a:sym typeface="+mn-ea"/>
              </a:rPr>
              <a:t>如果所有输入符号都被恢复则解码成功，否则解码失败。</a:t>
            </a:r>
            <a:r>
              <a:rPr lang="en-US" altLang="zh-CN" sz="1800" dirty="0">
                <a:solidFill>
                  <a:srgbClr val="000000"/>
                </a:solidFill>
                <a:latin typeface="Times New Roman"/>
                <a:sym typeface="+mn-ea"/>
              </a:rPr>
              <a:t> </a:t>
            </a:r>
            <a:endParaRPr lang="zh-CN" altLang="en-US" sz="1800" dirty="0">
              <a:solidFill>
                <a:srgbClr val="000000"/>
              </a:solidFill>
              <a:latin typeface="Times New Roman"/>
              <a:sym typeface="+mn-ea"/>
            </a:endParaRPr>
          </a:p>
        </p:txBody>
      </p:sp>
      <p:grpSp>
        <p:nvGrpSpPr>
          <p:cNvPr id="3" name="组合 2"/>
          <p:cNvGrpSpPr/>
          <p:nvPr/>
        </p:nvGrpSpPr>
        <p:grpSpPr>
          <a:xfrm>
            <a:off x="2622889" y="3565193"/>
            <a:ext cx="6917310" cy="3223653"/>
            <a:chOff x="1098889" y="3565192"/>
            <a:chExt cx="6917310" cy="3223653"/>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5350"/>
            <a:stretch>
              <a:fillRect/>
            </a:stretch>
          </p:blipFill>
          <p:spPr bwMode="auto">
            <a:xfrm>
              <a:off x="1098889" y="3565192"/>
              <a:ext cx="6682062" cy="297871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6631272" y="6298967"/>
              <a:ext cx="1384927"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en-US" altLang="zh-CN" sz="1800" dirty="0">
                  <a:solidFill>
                    <a:srgbClr val="000000"/>
                  </a:solidFill>
                  <a:sym typeface="+mn-ea"/>
                </a:rPr>
                <a:t>LT</a:t>
              </a:r>
              <a:r>
                <a:rPr lang="zh-CN" altLang="en-US" sz="1800" dirty="0">
                  <a:solidFill>
                    <a:srgbClr val="000000"/>
                  </a:solidFill>
                  <a:sym typeface="+mn-ea"/>
                </a:rPr>
                <a:t>解码过程</a:t>
              </a:r>
            </a:p>
          </p:txBody>
        </p:sp>
      </p:gr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en-US" altLang="zh-CN" sz="2400" dirty="0">
                <a:sym typeface="+mn-ea"/>
              </a:rPr>
              <a:t>LT</a:t>
            </a:r>
            <a:r>
              <a:rPr lang="zh-CN" altLang="en-US" sz="2400" dirty="0">
                <a:sym typeface="+mn-ea"/>
              </a:rPr>
              <a:t>码的解码</a:t>
            </a:r>
          </a:p>
        </p:txBody>
      </p:sp>
      <p:sp>
        <p:nvSpPr>
          <p:cNvPr id="6" name="文本框 5"/>
          <p:cNvSpPr txBox="1"/>
          <p:nvPr/>
        </p:nvSpPr>
        <p:spPr>
          <a:xfrm>
            <a:off x="172513" y="746613"/>
            <a:ext cx="11846973" cy="177869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sz="1800" dirty="0">
                <a:solidFill>
                  <a:srgbClr val="000000"/>
                </a:solidFill>
                <a:latin typeface="Times New Roman"/>
                <a:sym typeface="+mn-ea"/>
              </a:rPr>
              <a:t>具体步骤是：</a:t>
            </a:r>
            <a:endParaRPr lang="en-US" altLang="zh-CN" sz="1800" dirty="0">
              <a:solidFill>
                <a:srgbClr val="000000"/>
              </a:solidFill>
              <a:latin typeface="Times New Roman"/>
              <a:sym typeface="+mn-ea"/>
            </a:endParaRPr>
          </a:p>
          <a:p>
            <a:pPr eaLnBrk="0" fontAlgn="base" hangingPunct="0">
              <a:lnSpc>
                <a:spcPts val="3400"/>
              </a:lnSpc>
              <a:spcBef>
                <a:spcPct val="0"/>
              </a:spcBef>
              <a:spcAft>
                <a:spcPct val="0"/>
              </a:spcAft>
            </a:pPr>
            <a:r>
              <a:rPr lang="zh-CN" altLang="en-US" sz="1800" dirty="0">
                <a:solidFill>
                  <a:srgbClr val="000000"/>
                </a:solidFill>
                <a:latin typeface="Times New Roman"/>
                <a:sym typeface="+mn-ea"/>
              </a:rPr>
              <a:t>         </a:t>
            </a:r>
            <a:r>
              <a:rPr lang="en-US" altLang="zh-CN" sz="1800" dirty="0">
                <a:solidFill>
                  <a:srgbClr val="000000"/>
                </a:solidFill>
                <a:latin typeface="Times New Roman"/>
                <a:sym typeface="+mn-ea"/>
              </a:rPr>
              <a:t>(1)</a:t>
            </a:r>
            <a:r>
              <a:rPr lang="zh-CN" altLang="en-US" sz="1800" dirty="0">
                <a:solidFill>
                  <a:srgbClr val="000000"/>
                </a:solidFill>
                <a:latin typeface="Times New Roman"/>
                <a:sym typeface="+mn-ea"/>
              </a:rPr>
              <a:t>如图</a:t>
            </a:r>
            <a:r>
              <a:rPr lang="en-US" altLang="zh-CN" sz="1800" dirty="0">
                <a:solidFill>
                  <a:srgbClr val="000000"/>
                </a:solidFill>
                <a:latin typeface="Times New Roman"/>
                <a:sym typeface="+mn-ea"/>
              </a:rPr>
              <a:t>(a)</a:t>
            </a:r>
            <a:r>
              <a:rPr lang="zh-CN" altLang="en-US" sz="1800" dirty="0">
                <a:solidFill>
                  <a:srgbClr val="000000"/>
                </a:solidFill>
                <a:latin typeface="Times New Roman"/>
                <a:sym typeface="+mn-ea"/>
              </a:rPr>
              <a:t>所示，接收一定数量的编码分组，根据编码分组间的对应关系</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可以通过分组头部等方式显式传递，也可以通过事先约定伪随机序列等方式隐式传递</a:t>
            </a:r>
            <a:r>
              <a:rPr lang="en-US" altLang="zh-CN" sz="1800" dirty="0">
                <a:solidFill>
                  <a:srgbClr val="000000"/>
                </a:solidFill>
                <a:latin typeface="Times New Roman"/>
                <a:sym typeface="+mn-ea"/>
              </a:rPr>
              <a:t>)</a:t>
            </a:r>
            <a:r>
              <a:rPr lang="zh-CN" altLang="en-US" sz="1800" dirty="0">
                <a:solidFill>
                  <a:srgbClr val="FF0000"/>
                </a:solidFill>
                <a:latin typeface="Times New Roman"/>
                <a:sym typeface="+mn-ea"/>
              </a:rPr>
              <a:t>建立双向图</a:t>
            </a:r>
            <a:r>
              <a:rPr lang="zh-CN" altLang="en-US" sz="1800" dirty="0">
                <a:solidFill>
                  <a:srgbClr val="000000"/>
                </a:solidFill>
                <a:latin typeface="Times New Roman"/>
                <a:sym typeface="+mn-ea"/>
              </a:rPr>
              <a:t>。顶层节点代表原始分组，底层节点代表编码分组，连接它们的边代表该原始分组是该编码分组的模二和分量。</a:t>
            </a:r>
            <a:endParaRPr lang="en-US" altLang="zh-CN" sz="1800" dirty="0">
              <a:solidFill>
                <a:srgbClr val="000000"/>
              </a:solidFill>
              <a:latin typeface="Times New Roman"/>
              <a:sym typeface="+mn-ea"/>
            </a:endParaRPr>
          </a:p>
        </p:txBody>
      </p:sp>
      <p:sp>
        <p:nvSpPr>
          <p:cNvPr id="4" name="文本框 3">
            <a:extLst>
              <a:ext uri="{FF2B5EF4-FFF2-40B4-BE49-F238E27FC236}">
                <a16:creationId xmlns:a16="http://schemas.microsoft.com/office/drawing/2014/main" id="{218163C2-877D-75B4-D1B0-763304D20627}"/>
              </a:ext>
            </a:extLst>
          </p:cNvPr>
          <p:cNvSpPr txBox="1"/>
          <p:nvPr/>
        </p:nvSpPr>
        <p:spPr>
          <a:xfrm>
            <a:off x="172512" y="2477457"/>
            <a:ext cx="11846973" cy="233653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en-US" altLang="zh-CN" sz="1800" dirty="0">
                <a:solidFill>
                  <a:srgbClr val="000000"/>
                </a:solidFill>
                <a:latin typeface="Times New Roman"/>
                <a:sym typeface="+mn-ea"/>
              </a:rPr>
              <a:t>        (2)</a:t>
            </a:r>
            <a:r>
              <a:rPr lang="zh-CN" altLang="en-US" sz="1800" dirty="0">
                <a:solidFill>
                  <a:srgbClr val="000000"/>
                </a:solidFill>
                <a:latin typeface="Times New Roman"/>
                <a:sym typeface="+mn-ea"/>
              </a:rPr>
              <a:t>任意</a:t>
            </a:r>
            <a:r>
              <a:rPr lang="zh-CN" altLang="en-US" sz="1800" dirty="0">
                <a:solidFill>
                  <a:srgbClr val="FF0000"/>
                </a:solidFill>
                <a:latin typeface="Times New Roman"/>
                <a:sym typeface="+mn-ea"/>
              </a:rPr>
              <a:t>选取一个度数为</a:t>
            </a:r>
            <a:r>
              <a:rPr lang="en-US" altLang="zh-CN" sz="1800" dirty="0">
                <a:solidFill>
                  <a:srgbClr val="FF0000"/>
                </a:solidFill>
                <a:latin typeface="Times New Roman"/>
                <a:sym typeface="+mn-ea"/>
              </a:rPr>
              <a:t>1</a:t>
            </a:r>
            <a:r>
              <a:rPr lang="zh-CN" altLang="en-US" sz="1800" dirty="0">
                <a:solidFill>
                  <a:srgbClr val="FF0000"/>
                </a:solidFill>
                <a:latin typeface="Times New Roman"/>
                <a:sym typeface="+mn-ea"/>
              </a:rPr>
              <a:t>的编码分组</a:t>
            </a:r>
            <a:r>
              <a:rPr lang="zh-CN" altLang="en-US" sz="1800" dirty="0">
                <a:solidFill>
                  <a:srgbClr val="000000"/>
                </a:solidFill>
                <a:latin typeface="Times New Roman"/>
                <a:sym typeface="+mn-ea"/>
              </a:rPr>
              <a:t>。如果不存在，则译码停止</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如果存在，则通过简单的复制运算，即可恢复与之相连的唯一原始分组，如图</a:t>
            </a:r>
            <a:r>
              <a:rPr lang="en-US" altLang="zh-CN" sz="1800" dirty="0">
                <a:solidFill>
                  <a:srgbClr val="000000"/>
                </a:solidFill>
                <a:latin typeface="Times New Roman"/>
                <a:sym typeface="+mn-ea"/>
              </a:rPr>
              <a:t>(b)</a:t>
            </a:r>
            <a:r>
              <a:rPr lang="zh-CN" altLang="en-US" sz="1800" dirty="0">
                <a:solidFill>
                  <a:srgbClr val="000000"/>
                </a:solidFill>
                <a:latin typeface="Times New Roman"/>
                <a:sym typeface="+mn-ea"/>
              </a:rPr>
              <a:t>所示。</a:t>
            </a:r>
            <a:endParaRPr lang="en-US" altLang="zh-CN" sz="1800" dirty="0">
              <a:solidFill>
                <a:srgbClr val="000000"/>
              </a:solidFill>
              <a:latin typeface="Times New Roman"/>
              <a:sym typeface="+mn-ea"/>
            </a:endParaRPr>
          </a:p>
          <a:p>
            <a:pPr eaLnBrk="0" fontAlgn="base" hangingPunct="0">
              <a:lnSpc>
                <a:spcPts val="3600"/>
              </a:lnSpc>
              <a:spcBef>
                <a:spcPct val="0"/>
              </a:spcBef>
              <a:spcAft>
                <a:spcPct val="0"/>
              </a:spcAft>
            </a:pPr>
            <a:r>
              <a:rPr lang="en-US" altLang="zh-CN" sz="1800" dirty="0">
                <a:solidFill>
                  <a:srgbClr val="000000"/>
                </a:solidFill>
                <a:latin typeface="Times New Roman"/>
                <a:sym typeface="+mn-ea"/>
              </a:rPr>
              <a:t>        (3)</a:t>
            </a:r>
            <a:r>
              <a:rPr lang="zh-CN" altLang="en-US" sz="1800" dirty="0">
                <a:solidFill>
                  <a:srgbClr val="000000"/>
                </a:solidFill>
                <a:latin typeface="Times New Roman"/>
                <a:sym typeface="+mn-ea"/>
              </a:rPr>
              <a:t>将已经恢复的原始分组模二和到与其相连的所有其他编码分组中，消除其在这些编码分组中的模二和分量。相应地，将双向图中对应的边删除，使得这些编码分组的度数减</a:t>
            </a:r>
            <a:r>
              <a:rPr lang="en-US" altLang="zh-CN" sz="1800" dirty="0">
                <a:solidFill>
                  <a:srgbClr val="000000"/>
                </a:solidFill>
                <a:latin typeface="Times New Roman"/>
                <a:sym typeface="+mn-ea"/>
              </a:rPr>
              <a:t>1</a:t>
            </a:r>
            <a:r>
              <a:rPr lang="zh-CN" altLang="en-US" sz="1800" dirty="0">
                <a:solidFill>
                  <a:srgbClr val="000000"/>
                </a:solidFill>
                <a:latin typeface="Times New Roman"/>
                <a:sym typeface="+mn-ea"/>
              </a:rPr>
              <a:t>。如图</a:t>
            </a:r>
            <a:r>
              <a:rPr lang="en-US" altLang="zh-CN" sz="1800" dirty="0">
                <a:solidFill>
                  <a:srgbClr val="000000"/>
                </a:solidFill>
                <a:latin typeface="Times New Roman"/>
                <a:sym typeface="+mn-ea"/>
              </a:rPr>
              <a:t> (c)</a:t>
            </a:r>
            <a:r>
              <a:rPr lang="zh-CN" altLang="en-US" sz="1800" dirty="0">
                <a:solidFill>
                  <a:srgbClr val="000000"/>
                </a:solidFill>
                <a:latin typeface="Times New Roman"/>
                <a:sym typeface="+mn-ea"/>
              </a:rPr>
              <a:t>所示。如果某个编码分组的</a:t>
            </a:r>
            <a:r>
              <a:rPr lang="zh-CN" altLang="en-US" sz="1800" dirty="0">
                <a:solidFill>
                  <a:srgbClr val="FF0000"/>
                </a:solidFill>
                <a:latin typeface="Times New Roman"/>
                <a:sym typeface="+mn-ea"/>
              </a:rPr>
              <a:t>度数减小为</a:t>
            </a:r>
            <a:r>
              <a:rPr lang="en-US" altLang="zh-CN" sz="1800" dirty="0">
                <a:solidFill>
                  <a:srgbClr val="FF0000"/>
                </a:solidFill>
                <a:latin typeface="Times New Roman"/>
                <a:sym typeface="+mn-ea"/>
              </a:rPr>
              <a:t>1</a:t>
            </a:r>
            <a:r>
              <a:rPr lang="zh-CN" altLang="en-US" sz="1800" dirty="0">
                <a:solidFill>
                  <a:srgbClr val="000000"/>
                </a:solidFill>
                <a:latin typeface="Times New Roman"/>
                <a:sym typeface="+mn-ea"/>
              </a:rPr>
              <a:t>，</a:t>
            </a:r>
            <a:r>
              <a:rPr lang="zh-CN" altLang="en-US" sz="1800" dirty="0">
                <a:solidFill>
                  <a:srgbClr val="FF0000"/>
                </a:solidFill>
                <a:latin typeface="Times New Roman"/>
                <a:sym typeface="+mn-ea"/>
              </a:rPr>
              <a:t>则称该编码分组被“释放”</a:t>
            </a:r>
            <a:r>
              <a:rPr lang="zh-CN" altLang="en-US" sz="1800" dirty="0">
                <a:solidFill>
                  <a:srgbClr val="000000"/>
                </a:solidFill>
                <a:latin typeface="Times New Roman"/>
                <a:sym typeface="+mn-ea"/>
              </a:rPr>
              <a:t>，如图</a:t>
            </a:r>
            <a:r>
              <a:rPr lang="en-US" altLang="zh-CN" sz="1800" dirty="0">
                <a:solidFill>
                  <a:srgbClr val="000000"/>
                </a:solidFill>
                <a:latin typeface="Times New Roman"/>
                <a:sym typeface="+mn-ea"/>
              </a:rPr>
              <a:t>(c)</a:t>
            </a:r>
            <a:r>
              <a:rPr lang="zh-CN" altLang="en-US" sz="1800" dirty="0">
                <a:solidFill>
                  <a:srgbClr val="000000"/>
                </a:solidFill>
                <a:latin typeface="Times New Roman"/>
                <a:sym typeface="+mn-ea"/>
              </a:rPr>
              <a:t>最右侧的编码分组。</a:t>
            </a:r>
            <a:endParaRPr lang="en-US" altLang="zh-CN" sz="1800" dirty="0">
              <a:solidFill>
                <a:srgbClr val="000000"/>
              </a:solidFill>
              <a:latin typeface="Times New Roman"/>
              <a:sym typeface="+mn-ea"/>
            </a:endParaRPr>
          </a:p>
        </p:txBody>
      </p:sp>
      <p:sp>
        <p:nvSpPr>
          <p:cNvPr id="7" name="文本框 6">
            <a:extLst>
              <a:ext uri="{FF2B5EF4-FFF2-40B4-BE49-F238E27FC236}">
                <a16:creationId xmlns:a16="http://schemas.microsoft.com/office/drawing/2014/main" id="{AE897D60-8979-85A9-2C04-DB06CC878886}"/>
              </a:ext>
            </a:extLst>
          </p:cNvPr>
          <p:cNvSpPr txBox="1"/>
          <p:nvPr/>
        </p:nvSpPr>
        <p:spPr>
          <a:xfrm>
            <a:off x="172511" y="4813994"/>
            <a:ext cx="11846972" cy="187487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en-US" altLang="zh-CN" sz="1800" dirty="0">
                <a:solidFill>
                  <a:srgbClr val="000000"/>
                </a:solidFill>
                <a:latin typeface="Times New Roman"/>
                <a:sym typeface="+mn-ea"/>
              </a:rPr>
              <a:t>        (4)</a:t>
            </a:r>
            <a:r>
              <a:rPr lang="zh-CN" altLang="en-US" sz="1800" dirty="0">
                <a:solidFill>
                  <a:srgbClr val="000000"/>
                </a:solidFill>
                <a:latin typeface="Times New Roman"/>
                <a:sym typeface="+mn-ea"/>
              </a:rPr>
              <a:t>重复步骤</a:t>
            </a:r>
            <a:r>
              <a:rPr lang="en-US" altLang="zh-CN" sz="1800" dirty="0">
                <a:solidFill>
                  <a:srgbClr val="000000"/>
                </a:solidFill>
                <a:latin typeface="Times New Roman"/>
                <a:sym typeface="+mn-ea"/>
              </a:rPr>
              <a:t>(2)</a:t>
            </a:r>
            <a:r>
              <a:rPr lang="zh-CN" altLang="en-US" sz="1800" dirty="0">
                <a:solidFill>
                  <a:srgbClr val="000000"/>
                </a:solidFill>
                <a:latin typeface="Times New Roman"/>
                <a:sym typeface="+mn-ea"/>
              </a:rPr>
              <a:t>和</a:t>
            </a:r>
            <a:r>
              <a:rPr lang="en-US" altLang="zh-CN" sz="1800" dirty="0">
                <a:solidFill>
                  <a:srgbClr val="000000"/>
                </a:solidFill>
                <a:latin typeface="Times New Roman"/>
                <a:sym typeface="+mn-ea"/>
              </a:rPr>
              <a:t>(3)</a:t>
            </a:r>
            <a:r>
              <a:rPr lang="zh-CN" altLang="en-US" sz="1800" dirty="0">
                <a:solidFill>
                  <a:srgbClr val="000000"/>
                </a:solidFill>
                <a:latin typeface="Times New Roman"/>
                <a:sym typeface="+mn-ea"/>
              </a:rPr>
              <a:t>，直至译码停止。如果所有原始分组都已经恢复，则译码成功</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否则，译码失败，必须接收更多的编码分组才能继续译码。</a:t>
            </a:r>
            <a:endParaRPr lang="en-US" altLang="zh-CN" sz="1800" dirty="0">
              <a:solidFill>
                <a:srgbClr val="000000"/>
              </a:solidFill>
              <a:latin typeface="Times New Roman"/>
              <a:sym typeface="+mn-ea"/>
            </a:endParaRPr>
          </a:p>
          <a:p>
            <a:pPr eaLnBrk="0" fontAlgn="base" hangingPunct="0">
              <a:lnSpc>
                <a:spcPts val="3600"/>
              </a:lnSpc>
              <a:spcBef>
                <a:spcPct val="0"/>
              </a:spcBef>
              <a:spcAft>
                <a:spcPct val="0"/>
              </a:spcAft>
            </a:pPr>
            <a:r>
              <a:rPr lang="en-US" altLang="zh-CN" sz="1800" dirty="0">
                <a:solidFill>
                  <a:srgbClr val="000000"/>
                </a:solidFill>
                <a:latin typeface="Times New Roman"/>
                <a:sym typeface="+mn-ea"/>
              </a:rPr>
              <a:t>         </a:t>
            </a:r>
            <a:r>
              <a:rPr lang="zh-CN" altLang="en-US" sz="1800" dirty="0">
                <a:solidFill>
                  <a:srgbClr val="000000"/>
                </a:solidFill>
                <a:latin typeface="Times New Roman"/>
                <a:sym typeface="+mn-ea"/>
              </a:rPr>
              <a:t>一般来说，为了保证所有数据均能恢复出来，度的选择期望值必须高于</a:t>
            </a:r>
            <a:r>
              <a:rPr lang="en-US" altLang="zh-CN" sz="1800" dirty="0">
                <a:solidFill>
                  <a:srgbClr val="000000"/>
                </a:solidFill>
                <a:latin typeface="Times New Roman"/>
                <a:sym typeface="+mn-ea"/>
              </a:rPr>
              <a:t>O(</a:t>
            </a:r>
            <a:r>
              <a:rPr lang="en-US" altLang="zh-CN" sz="1800" dirty="0" err="1">
                <a:solidFill>
                  <a:srgbClr val="000000"/>
                </a:solidFill>
                <a:latin typeface="Times New Roman"/>
                <a:sym typeface="+mn-ea"/>
              </a:rPr>
              <a:t>logn</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舍弃编码过程中关于计算量的考虑。</a:t>
            </a:r>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en-US" altLang="zh-CN" sz="2400" dirty="0">
                <a:sym typeface="+mn-ea"/>
              </a:rPr>
              <a:t>LT</a:t>
            </a:r>
            <a:r>
              <a:rPr lang="zh-CN" altLang="en-US" sz="2400" dirty="0">
                <a:sym typeface="+mn-ea"/>
              </a:rPr>
              <a:t>码的特点</a:t>
            </a:r>
          </a:p>
        </p:txBody>
      </p:sp>
      <p:sp>
        <p:nvSpPr>
          <p:cNvPr id="9" name="文本框 8"/>
          <p:cNvSpPr txBox="1"/>
          <p:nvPr/>
        </p:nvSpPr>
        <p:spPr>
          <a:xfrm>
            <a:off x="2086712" y="3229784"/>
            <a:ext cx="8018574" cy="90665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sz="1800" dirty="0">
                <a:solidFill>
                  <a:srgbClr val="000000"/>
                </a:solidFill>
                <a:latin typeface="Times New Roman"/>
                <a:sym typeface="+mn-ea"/>
              </a:rPr>
              <a:t>         LT</a:t>
            </a:r>
            <a:r>
              <a:rPr lang="zh-CN" altLang="en-US" sz="1800" dirty="0">
                <a:solidFill>
                  <a:srgbClr val="000000"/>
                </a:solidFill>
                <a:latin typeface="Times New Roman"/>
                <a:sym typeface="+mn-ea"/>
              </a:rPr>
              <a:t>码的编解码时间复杂度均为</a:t>
            </a:r>
            <a:r>
              <a:rPr lang="en-US" altLang="zh-CN" sz="1800" dirty="0">
                <a:solidFill>
                  <a:srgbClr val="000000"/>
                </a:solidFill>
                <a:latin typeface="Times New Roman"/>
                <a:sym typeface="+mn-ea"/>
              </a:rPr>
              <a:t>O(</a:t>
            </a:r>
            <a:r>
              <a:rPr lang="en-US" altLang="zh-CN" sz="1800" i="1" dirty="0" err="1">
                <a:solidFill>
                  <a:srgbClr val="000000"/>
                </a:solidFill>
                <a:latin typeface="Times New Roman"/>
                <a:sym typeface="+mn-ea"/>
              </a:rPr>
              <a:t>nlogn</a:t>
            </a:r>
            <a:r>
              <a:rPr lang="en-US" altLang="zh-CN" sz="1800" dirty="0">
                <a:solidFill>
                  <a:srgbClr val="000000"/>
                </a:solidFill>
                <a:latin typeface="Times New Roman"/>
                <a:sym typeface="+mn-ea"/>
              </a:rPr>
              <a:t>)</a:t>
            </a:r>
            <a:r>
              <a:rPr lang="zh-CN" altLang="en-US" sz="1800" dirty="0">
                <a:solidFill>
                  <a:srgbClr val="000000"/>
                </a:solidFill>
                <a:latin typeface="Times New Roman"/>
                <a:sym typeface="+mn-ea"/>
              </a:rPr>
              <a:t>。另外，</a:t>
            </a:r>
            <a:r>
              <a:rPr lang="en-US" altLang="zh-CN" sz="1800" dirty="0">
                <a:solidFill>
                  <a:srgbClr val="000000"/>
                </a:solidFill>
                <a:latin typeface="Times New Roman"/>
                <a:sym typeface="+mn-ea"/>
              </a:rPr>
              <a:t>LT</a:t>
            </a:r>
            <a:r>
              <a:rPr lang="zh-CN" altLang="en-US" sz="1800" dirty="0">
                <a:solidFill>
                  <a:srgbClr val="000000"/>
                </a:solidFill>
                <a:latin typeface="Times New Roman"/>
                <a:sym typeface="+mn-ea"/>
              </a:rPr>
              <a:t>码因为随机性，编码率并不确定，不过确定的是其编码效率较为低下。</a:t>
            </a:r>
            <a:endParaRPr lang="en-US" altLang="zh-CN" sz="1800" dirty="0">
              <a:solidFill>
                <a:srgbClr val="000000"/>
              </a:solidFill>
              <a:latin typeface="Times New Roman"/>
              <a:sym typeface="+mn-ea"/>
            </a:endParaRPr>
          </a:p>
        </p:txBody>
      </p:sp>
      <p:graphicFrame>
        <p:nvGraphicFramePr>
          <p:cNvPr id="3" name="表格 3"/>
          <p:cNvGraphicFramePr>
            <a:graphicFrameLocks noGrp="1"/>
          </p:cNvGraphicFramePr>
          <p:nvPr/>
        </p:nvGraphicFramePr>
        <p:xfrm>
          <a:off x="3670819" y="990664"/>
          <a:ext cx="4850360" cy="1902004"/>
        </p:xfrm>
        <a:graphic>
          <a:graphicData uri="http://schemas.openxmlformats.org/drawingml/2006/table">
            <a:tbl>
              <a:tblPr firstRow="1" bandRow="1">
                <a:tableStyleId>{5C22544A-7EE6-4342-B048-85BDC9FD1C3A}</a:tableStyleId>
              </a:tblPr>
              <a:tblGrid>
                <a:gridCol w="2268398">
                  <a:extLst>
                    <a:ext uri="{9D8B030D-6E8A-4147-A177-3AD203B41FA5}">
                      <a16:colId xmlns:a16="http://schemas.microsoft.com/office/drawing/2014/main" val="20000"/>
                    </a:ext>
                  </a:extLst>
                </a:gridCol>
                <a:gridCol w="2581962">
                  <a:extLst>
                    <a:ext uri="{9D8B030D-6E8A-4147-A177-3AD203B41FA5}">
                      <a16:colId xmlns:a16="http://schemas.microsoft.com/office/drawing/2014/main" val="20001"/>
                    </a:ext>
                  </a:extLst>
                </a:gridCol>
              </a:tblGrid>
              <a:tr h="475501">
                <a:tc>
                  <a:txBody>
                    <a:bodyPr/>
                    <a:lstStyle/>
                    <a:p>
                      <a:pPr algn="ctr"/>
                      <a:endParaRPr lang="zh-CN" altLang="en-US" sz="1600" b="0" dirty="0">
                        <a:solidFill>
                          <a:schemeClr val="tx1"/>
                        </a:solidFill>
                        <a:latin typeface="+mn-ea"/>
                        <a:ea typeface="+mn-ea"/>
                        <a:cs typeface="Adobe Arabic" panose="02040503050201020203" pitchFamily="18" charset="-78"/>
                      </a:endParaRPr>
                    </a:p>
                  </a:txBody>
                  <a:tcPr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b="0" dirty="0">
                          <a:solidFill>
                            <a:schemeClr val="tx1"/>
                          </a:solidFill>
                          <a:latin typeface="+mn-ea"/>
                          <a:ea typeface="+mn-ea"/>
                          <a:cs typeface="Adobe Arabic" panose="02040503050201020203" pitchFamily="18" charset="-78"/>
                        </a:rPr>
                        <a:t>LT</a:t>
                      </a:r>
                      <a:r>
                        <a:rPr lang="zh-CN" altLang="en-US" sz="1600" b="0" dirty="0">
                          <a:solidFill>
                            <a:schemeClr val="tx1"/>
                          </a:solidFill>
                          <a:latin typeface="+mn-ea"/>
                          <a:ea typeface="+mn-ea"/>
                          <a:cs typeface="Adobe Arabic" panose="02040503050201020203" pitchFamily="18" charset="-78"/>
                        </a:rPr>
                        <a:t>码</a:t>
                      </a:r>
                    </a:p>
                  </a:txBody>
                  <a:tcPr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75501">
                <a:tc>
                  <a:txBody>
                    <a:bodyPr/>
                    <a:lstStyle/>
                    <a:p>
                      <a:pPr algn="ctr"/>
                      <a:r>
                        <a:rPr lang="zh-CN" altLang="en-US" sz="1600" b="0" dirty="0">
                          <a:solidFill>
                            <a:schemeClr val="tx1"/>
                          </a:solidFill>
                          <a:latin typeface="+mn-ea"/>
                          <a:ea typeface="+mn-ea"/>
                          <a:cs typeface="Adobe Arabic" panose="02040503050201020203" pitchFamily="18" charset="-78"/>
                        </a:rPr>
                        <a:t>编码时间复杂度</a:t>
                      </a:r>
                    </a:p>
                  </a:txBody>
                  <a:tcPr anchor="ctr">
                    <a:lnT w="6350" cap="flat" cmpd="sng" algn="ctr">
                      <a:solidFill>
                        <a:schemeClr val="tx1"/>
                      </a:solidFill>
                      <a:prstDash val="solid"/>
                      <a:round/>
                      <a:headEnd type="none" w="med" len="med"/>
                      <a:tailEnd type="none" w="med" len="med"/>
                    </a:lnT>
                    <a:noFill/>
                  </a:tcPr>
                </a:tc>
                <a:tc>
                  <a:txBody>
                    <a:bodyPr/>
                    <a:lstStyle/>
                    <a:p>
                      <a:pPr algn="ctr"/>
                      <a:r>
                        <a:rPr lang="en-US" altLang="zh-CN" sz="1600" b="0" dirty="0">
                          <a:solidFill>
                            <a:schemeClr val="tx1"/>
                          </a:solidFill>
                          <a:latin typeface="+mn-ea"/>
                          <a:ea typeface="+mn-ea"/>
                          <a:cs typeface="Adobe Arabic" panose="02040503050201020203" pitchFamily="18" charset="-78"/>
                        </a:rPr>
                        <a:t>O(</a:t>
                      </a:r>
                      <a:r>
                        <a:rPr lang="en-US" altLang="zh-CN" sz="1600" b="0" i="1" dirty="0" err="1">
                          <a:solidFill>
                            <a:schemeClr val="tx1"/>
                          </a:solidFill>
                          <a:latin typeface="+mn-ea"/>
                          <a:ea typeface="+mn-ea"/>
                          <a:cs typeface="Adobe Arabic" panose="02040503050201020203" pitchFamily="18" charset="-78"/>
                        </a:rPr>
                        <a:t>nlogn</a:t>
                      </a:r>
                      <a:r>
                        <a:rPr lang="en-US" altLang="zh-CN" sz="1600" b="0" dirty="0">
                          <a:solidFill>
                            <a:schemeClr val="tx1"/>
                          </a:solidFill>
                          <a:latin typeface="+mn-ea"/>
                          <a:ea typeface="+mn-ea"/>
                          <a:cs typeface="Adobe Arabic" panose="02040503050201020203" pitchFamily="18" charset="-78"/>
                        </a:rPr>
                        <a:t>)</a:t>
                      </a:r>
                      <a:endParaRPr lang="zh-CN" altLang="en-US" sz="1600" b="0" dirty="0">
                        <a:solidFill>
                          <a:schemeClr val="tx1"/>
                        </a:solidFill>
                        <a:latin typeface="+mn-ea"/>
                        <a:ea typeface="+mn-ea"/>
                        <a:cs typeface="Adobe Arabic" panose="02040503050201020203" pitchFamily="18" charset="-78"/>
                      </a:endParaRPr>
                    </a:p>
                  </a:txBody>
                  <a:tcPr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475501">
                <a:tc>
                  <a:txBody>
                    <a:bodyPr/>
                    <a:lstStyle/>
                    <a:p>
                      <a:pPr algn="ctr"/>
                      <a:r>
                        <a:rPr lang="zh-CN" altLang="en-US" sz="1600" b="0" dirty="0">
                          <a:solidFill>
                            <a:schemeClr val="tx1"/>
                          </a:solidFill>
                          <a:latin typeface="+mn-ea"/>
                          <a:ea typeface="+mn-ea"/>
                          <a:cs typeface="Adobe Arabic" panose="02040503050201020203" pitchFamily="18" charset="-78"/>
                        </a:rPr>
                        <a:t>解码时间复杂度</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0" dirty="0">
                          <a:solidFill>
                            <a:schemeClr val="tx1"/>
                          </a:solidFill>
                          <a:latin typeface="+mn-ea"/>
                          <a:ea typeface="+mn-ea"/>
                          <a:cs typeface="Adobe Arabic" panose="02040503050201020203" pitchFamily="18" charset="-78"/>
                        </a:rPr>
                        <a:t>O(</a:t>
                      </a:r>
                      <a:r>
                        <a:rPr lang="en-US" altLang="zh-CN" sz="1600" b="0" i="1" dirty="0" err="1">
                          <a:solidFill>
                            <a:schemeClr val="tx1"/>
                          </a:solidFill>
                          <a:latin typeface="+mn-ea"/>
                          <a:ea typeface="+mn-ea"/>
                          <a:cs typeface="Adobe Arabic" panose="02040503050201020203" pitchFamily="18" charset="-78"/>
                        </a:rPr>
                        <a:t>nlogn</a:t>
                      </a:r>
                      <a:r>
                        <a:rPr lang="en-US" altLang="zh-CN" sz="1600" b="0" dirty="0">
                          <a:solidFill>
                            <a:schemeClr val="tx1"/>
                          </a:solidFill>
                          <a:latin typeface="+mn-ea"/>
                          <a:ea typeface="+mn-ea"/>
                          <a:cs typeface="Adobe Arabic" panose="02040503050201020203" pitchFamily="18" charset="-78"/>
                        </a:rPr>
                        <a:t>)</a:t>
                      </a:r>
                      <a:endParaRPr lang="zh-CN" altLang="en-US" sz="1600" b="0" dirty="0">
                        <a:solidFill>
                          <a:schemeClr val="tx1"/>
                        </a:solidFill>
                        <a:latin typeface="+mn-ea"/>
                        <a:ea typeface="+mn-ea"/>
                        <a:cs typeface="Adobe Arabic" panose="02040503050201020203" pitchFamily="18" charset="-78"/>
                      </a:endParaRPr>
                    </a:p>
                  </a:txBody>
                  <a:tcPr anchor="ctr">
                    <a:noFill/>
                  </a:tcPr>
                </a:tc>
                <a:extLst>
                  <a:ext uri="{0D108BD9-81ED-4DB2-BD59-A6C34878D82A}">
                    <a16:rowId xmlns:a16="http://schemas.microsoft.com/office/drawing/2014/main" val="10002"/>
                  </a:ext>
                </a:extLst>
              </a:tr>
              <a:tr h="475501">
                <a:tc>
                  <a:txBody>
                    <a:bodyPr/>
                    <a:lstStyle/>
                    <a:p>
                      <a:pPr algn="ctr"/>
                      <a:r>
                        <a:rPr lang="zh-CN" altLang="en-US" sz="1600" b="0" dirty="0">
                          <a:solidFill>
                            <a:schemeClr val="tx1"/>
                          </a:solidFill>
                          <a:latin typeface="+mn-ea"/>
                          <a:ea typeface="+mn-ea"/>
                          <a:cs typeface="Adobe Arabic" panose="02040503050201020203" pitchFamily="18" charset="-78"/>
                        </a:rPr>
                        <a:t>编码率</a:t>
                      </a:r>
                    </a:p>
                  </a:txBody>
                  <a:tcPr anchor="ctr">
                    <a:lnB w="190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latin typeface="+mn-ea"/>
                          <a:ea typeface="+mn-ea"/>
                          <a:cs typeface="Adobe Arabic" panose="02040503050201020203" pitchFamily="18" charset="-78"/>
                        </a:rPr>
                        <a:t>低</a:t>
                      </a:r>
                    </a:p>
                  </a:txBody>
                  <a:tcPr anchor="ct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en-US" altLang="zh-CN" sz="2400" dirty="0">
                <a:sym typeface="+mn-ea"/>
              </a:rPr>
              <a:t>Raptor</a:t>
            </a:r>
            <a:r>
              <a:rPr lang="zh-CN" altLang="en-US" sz="2400" dirty="0">
                <a:sym typeface="+mn-ea"/>
              </a:rPr>
              <a:t>码</a:t>
            </a:r>
          </a:p>
        </p:txBody>
      </p:sp>
      <p:sp>
        <p:nvSpPr>
          <p:cNvPr id="6" name="文本框 5"/>
          <p:cNvSpPr txBox="1"/>
          <p:nvPr/>
        </p:nvSpPr>
        <p:spPr>
          <a:xfrm>
            <a:off x="338218" y="815956"/>
            <a:ext cx="11414304" cy="141891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latin typeface="Times New Roman"/>
              </a:rPr>
              <a:t>产生原因：</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rPr>
              <a:t>         LT</a:t>
            </a:r>
            <a:r>
              <a:rPr lang="zh-CN" altLang="en-US" dirty="0">
                <a:solidFill>
                  <a:srgbClr val="000000"/>
                </a:solidFill>
                <a:latin typeface="Times New Roman"/>
              </a:rPr>
              <a:t>码生成的编码包中有少量连接度很高的包，这些</a:t>
            </a:r>
            <a:r>
              <a:rPr lang="zh-CN" altLang="en-US" dirty="0">
                <a:solidFill>
                  <a:srgbClr val="FF0000"/>
                </a:solidFill>
                <a:latin typeface="Times New Roman"/>
              </a:rPr>
              <a:t>高连接度包的存在</a:t>
            </a:r>
            <a:r>
              <a:rPr lang="zh-CN" altLang="en-US" dirty="0">
                <a:solidFill>
                  <a:srgbClr val="000000"/>
                </a:solidFill>
                <a:latin typeface="Times New Roman"/>
              </a:rPr>
              <a:t>消耗了很多编译码异或操作，同时也降低了低连接度包的比例，从而减小了译码过程中可译集的大小，</a:t>
            </a:r>
            <a:r>
              <a:rPr lang="zh-CN" altLang="en-US" dirty="0">
                <a:solidFill>
                  <a:srgbClr val="FF0000"/>
                </a:solidFill>
                <a:latin typeface="Times New Roman"/>
              </a:rPr>
              <a:t>降低了译码成功率</a:t>
            </a:r>
            <a:r>
              <a:rPr lang="zh-CN" altLang="en-US" dirty="0">
                <a:solidFill>
                  <a:srgbClr val="000000"/>
                </a:solidFill>
                <a:latin typeface="Times New Roman"/>
              </a:rPr>
              <a:t>。</a:t>
            </a:r>
            <a:endParaRPr lang="en-US" altLang="zh-CN" dirty="0">
              <a:solidFill>
                <a:srgbClr val="000000"/>
              </a:solidFill>
              <a:latin typeface="Times New Roman"/>
            </a:endParaRPr>
          </a:p>
        </p:txBody>
      </p:sp>
      <p:sp>
        <p:nvSpPr>
          <p:cNvPr id="17" name="文本框 16"/>
          <p:cNvSpPr txBox="1"/>
          <p:nvPr/>
        </p:nvSpPr>
        <p:spPr>
          <a:xfrm>
            <a:off x="338218" y="2304214"/>
            <a:ext cx="11414304" cy="141891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latin typeface="Times New Roman"/>
              </a:rPr>
              <a:t>基本思想：</a:t>
            </a:r>
            <a:endParaRPr lang="en-US" altLang="zh-CN" dirty="0">
              <a:solidFill>
                <a:srgbClr val="000000"/>
              </a:solidFill>
              <a:latin typeface="Times New Roman"/>
            </a:endParaRPr>
          </a:p>
          <a:p>
            <a:pPr eaLnBrk="0" fontAlgn="base" hangingPunct="0">
              <a:lnSpc>
                <a:spcPts val="3600"/>
              </a:lnSpc>
              <a:spcBef>
                <a:spcPct val="0"/>
              </a:spcBef>
              <a:spcAft>
                <a:spcPct val="0"/>
              </a:spcAft>
            </a:pPr>
            <a:r>
              <a:rPr lang="en-US" altLang="zh-CN" dirty="0">
                <a:solidFill>
                  <a:srgbClr val="000000"/>
                </a:solidFill>
                <a:latin typeface="Times New Roman"/>
              </a:rPr>
              <a:t>        Raptor</a:t>
            </a:r>
            <a:r>
              <a:rPr lang="zh-CN" altLang="en-US" dirty="0">
                <a:solidFill>
                  <a:srgbClr val="000000"/>
                </a:solidFill>
                <a:latin typeface="Times New Roman"/>
              </a:rPr>
              <a:t>码提出</a:t>
            </a:r>
            <a:r>
              <a:rPr lang="zh-CN" altLang="en-US" dirty="0">
                <a:solidFill>
                  <a:srgbClr val="FF0000"/>
                </a:solidFill>
                <a:latin typeface="Times New Roman"/>
              </a:rPr>
              <a:t>采用两步编码</a:t>
            </a:r>
            <a:r>
              <a:rPr lang="zh-CN" altLang="en-US" dirty="0">
                <a:solidFill>
                  <a:srgbClr val="000000"/>
                </a:solidFill>
                <a:latin typeface="Times New Roman"/>
              </a:rPr>
              <a:t>的方式。首先对原始信息用一个分组码进行预编码，然后采用一个</a:t>
            </a:r>
            <a:r>
              <a:rPr lang="zh-CN" altLang="en-US" dirty="0">
                <a:solidFill>
                  <a:srgbClr val="FF0000"/>
                </a:solidFill>
                <a:latin typeface="Times New Roman"/>
              </a:rPr>
              <a:t>弱化的</a:t>
            </a:r>
            <a:r>
              <a:rPr lang="en-US" altLang="zh-CN" dirty="0">
                <a:solidFill>
                  <a:srgbClr val="FF0000"/>
                </a:solidFill>
                <a:latin typeface="Times New Roman"/>
              </a:rPr>
              <a:t>LT</a:t>
            </a:r>
            <a:r>
              <a:rPr lang="zh-CN" altLang="en-US" dirty="0">
                <a:solidFill>
                  <a:srgbClr val="FF0000"/>
                </a:solidFill>
                <a:latin typeface="Times New Roman"/>
              </a:rPr>
              <a:t>码</a:t>
            </a:r>
            <a:r>
              <a:rPr lang="zh-CN" altLang="en-US" dirty="0">
                <a:solidFill>
                  <a:srgbClr val="000000"/>
                </a:solidFill>
                <a:latin typeface="Times New Roman"/>
              </a:rPr>
              <a:t>对数据进行编码并发送。</a:t>
            </a:r>
            <a:endParaRPr lang="en-US" altLang="zh-CN" dirty="0">
              <a:solidFill>
                <a:srgbClr val="000000"/>
              </a:solidFill>
              <a:latin typeface="Times New Roman"/>
            </a:endParaRPr>
          </a:p>
        </p:txBody>
      </p:sp>
      <p:sp>
        <p:nvSpPr>
          <p:cNvPr id="7" name="文本框 6">
            <a:extLst>
              <a:ext uri="{FF2B5EF4-FFF2-40B4-BE49-F238E27FC236}">
                <a16:creationId xmlns:a16="http://schemas.microsoft.com/office/drawing/2014/main" id="{C10886D4-B480-856E-41F6-042EC3FEA242}"/>
              </a:ext>
            </a:extLst>
          </p:cNvPr>
          <p:cNvSpPr txBox="1"/>
          <p:nvPr/>
        </p:nvSpPr>
        <p:spPr>
          <a:xfrm>
            <a:off x="296752" y="4474496"/>
            <a:ext cx="11497236" cy="141891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en-US" altLang="zh-CN" dirty="0">
                <a:solidFill>
                  <a:srgbClr val="000000"/>
                </a:solidFill>
                <a:latin typeface="Times New Roman"/>
              </a:rPr>
              <a:t>         Raptor</a:t>
            </a:r>
            <a:r>
              <a:rPr lang="zh-CN" altLang="en-US" dirty="0">
                <a:solidFill>
                  <a:srgbClr val="000000"/>
                </a:solidFill>
                <a:latin typeface="Times New Roman"/>
              </a:rPr>
              <a:t>码是在</a:t>
            </a:r>
            <a:r>
              <a:rPr lang="en-US" altLang="zh-CN" dirty="0">
                <a:solidFill>
                  <a:srgbClr val="000000"/>
                </a:solidFill>
                <a:latin typeface="Times New Roman"/>
              </a:rPr>
              <a:t>LT</a:t>
            </a:r>
            <a:r>
              <a:rPr lang="zh-CN" altLang="en-US" dirty="0">
                <a:solidFill>
                  <a:srgbClr val="000000"/>
                </a:solidFill>
                <a:latin typeface="Times New Roman"/>
              </a:rPr>
              <a:t>码的基础上发展出来的改进版，</a:t>
            </a:r>
            <a:r>
              <a:rPr lang="en-US" altLang="zh-CN" dirty="0">
                <a:solidFill>
                  <a:srgbClr val="000000"/>
                </a:solidFill>
                <a:latin typeface="Times New Roman"/>
              </a:rPr>
              <a:t>Raptor</a:t>
            </a:r>
            <a:r>
              <a:rPr lang="zh-CN" altLang="en-US" dirty="0">
                <a:solidFill>
                  <a:srgbClr val="000000"/>
                </a:solidFill>
                <a:latin typeface="Times New Roman"/>
              </a:rPr>
              <a:t>码的出现告诉我们有问题不可怕，改正就是了。正如党的十八大以来习总书记反复强调的“直面问题、解决问题”的思想，并且敢于直面问题、勇于修正错误使我们党的显著特点和优势。</a:t>
            </a:r>
            <a:endParaRPr lang="en-US" altLang="zh-CN" dirty="0">
              <a:solidFill>
                <a:srgbClr val="000000"/>
              </a:solidFill>
              <a:latin typeface="Times New Roman"/>
            </a:endParaRPr>
          </a:p>
        </p:txBody>
      </p:sp>
      <p:sp>
        <p:nvSpPr>
          <p:cNvPr id="9" name="文本框 8">
            <a:extLst>
              <a:ext uri="{FF2B5EF4-FFF2-40B4-BE49-F238E27FC236}">
                <a16:creationId xmlns:a16="http://schemas.microsoft.com/office/drawing/2014/main" id="{3A826F5D-71CD-C7A2-3EC6-7D12099BBE76}"/>
              </a:ext>
            </a:extLst>
          </p:cNvPr>
          <p:cNvSpPr txBox="1"/>
          <p:nvPr/>
        </p:nvSpPr>
        <p:spPr>
          <a:xfrm>
            <a:off x="338218" y="3951276"/>
            <a:ext cx="6096000" cy="523220"/>
          </a:xfrm>
          <a:prstGeom prst="rect">
            <a:avLst/>
          </a:prstGeom>
          <a:noFill/>
        </p:spPr>
        <p:txBody>
          <a:bodyPr wrap="square">
            <a:spAutoFit/>
          </a:bodyPr>
          <a:lstStyle/>
          <a:p>
            <a:r>
              <a:rPr lang="zh-CN" altLang="en-US" sz="2800" dirty="0">
                <a:sym typeface="+mn-ea"/>
              </a:rPr>
              <a:t>课堂思政</a:t>
            </a:r>
            <a:endParaRPr lang="zh-CN" altLang="en-US" sz="2800" dirty="0"/>
          </a:p>
        </p:txBody>
      </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en-US" altLang="zh-CN" sz="2400" dirty="0">
                <a:sym typeface="+mn-ea"/>
              </a:rPr>
              <a:t>Raptor</a:t>
            </a:r>
            <a:r>
              <a:rPr lang="zh-CN" altLang="en-US" sz="2400" dirty="0">
                <a:sym typeface="+mn-ea"/>
              </a:rPr>
              <a:t>码的编解码</a:t>
            </a:r>
          </a:p>
        </p:txBody>
      </p:sp>
      <p:sp>
        <p:nvSpPr>
          <p:cNvPr id="6" name="文本框 5"/>
          <p:cNvSpPr txBox="1"/>
          <p:nvPr/>
        </p:nvSpPr>
        <p:spPr>
          <a:xfrm>
            <a:off x="230292" y="853769"/>
            <a:ext cx="5596350" cy="280390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latin typeface="Times New Roman"/>
              </a:rPr>
              <a:t>         如下图所示，通过</a:t>
            </a:r>
            <a:r>
              <a:rPr lang="zh-CN" altLang="en-US" dirty="0">
                <a:solidFill>
                  <a:srgbClr val="FF0000"/>
                </a:solidFill>
                <a:latin typeface="Times New Roman"/>
              </a:rPr>
              <a:t>预编码</a:t>
            </a:r>
            <a:r>
              <a:rPr lang="zh-CN" altLang="en-US" dirty="0">
                <a:solidFill>
                  <a:srgbClr val="000000"/>
                </a:solidFill>
                <a:latin typeface="Times New Roman"/>
              </a:rPr>
              <a:t>过程，首先采用某种传统的编码方法</a:t>
            </a:r>
            <a:r>
              <a:rPr lang="en-US" altLang="zh-CN" dirty="0">
                <a:solidFill>
                  <a:srgbClr val="000000"/>
                </a:solidFill>
                <a:latin typeface="Times New Roman"/>
              </a:rPr>
              <a:t>(</a:t>
            </a:r>
            <a:r>
              <a:rPr lang="zh-CN" altLang="en-US" dirty="0">
                <a:solidFill>
                  <a:srgbClr val="000000"/>
                </a:solidFill>
                <a:latin typeface="Times New Roman"/>
              </a:rPr>
              <a:t>图中采用龙卷风码编码方法，如同</a:t>
            </a:r>
            <a:r>
              <a:rPr lang="en-US" altLang="zh-CN" dirty="0">
                <a:solidFill>
                  <a:srgbClr val="000000"/>
                </a:solidFill>
                <a:latin typeface="Times New Roman"/>
              </a:rPr>
              <a:t>Raptor</a:t>
            </a:r>
            <a:r>
              <a:rPr lang="zh-CN" altLang="en-US" dirty="0">
                <a:solidFill>
                  <a:srgbClr val="000000"/>
                </a:solidFill>
                <a:latin typeface="Times New Roman"/>
              </a:rPr>
              <a:t>码的命名</a:t>
            </a:r>
            <a:r>
              <a:rPr lang="en-US" altLang="zh-CN" dirty="0">
                <a:solidFill>
                  <a:srgbClr val="000000"/>
                </a:solidFill>
                <a:latin typeface="Times New Roman"/>
              </a:rPr>
              <a:t>Rapid-Tornado</a:t>
            </a:r>
            <a:r>
              <a:rPr lang="zh-CN" altLang="en-US" dirty="0">
                <a:solidFill>
                  <a:srgbClr val="000000"/>
                </a:solidFill>
                <a:latin typeface="Times New Roman"/>
              </a:rPr>
              <a:t>所暗示，这里</a:t>
            </a:r>
            <a:r>
              <a:rPr lang="zh-CN" altLang="en-US" dirty="0">
                <a:solidFill>
                  <a:srgbClr val="FF0000"/>
                </a:solidFill>
                <a:latin typeface="Times New Roman"/>
              </a:rPr>
              <a:t>一般采用的就是龙卷风码</a:t>
            </a:r>
            <a:r>
              <a:rPr lang="en-US" altLang="zh-CN" dirty="0">
                <a:solidFill>
                  <a:srgbClr val="000000"/>
                </a:solidFill>
                <a:latin typeface="Times New Roman"/>
              </a:rPr>
              <a:t>)</a:t>
            </a:r>
            <a:r>
              <a:rPr lang="zh-CN" altLang="en-US" dirty="0">
                <a:solidFill>
                  <a:srgbClr val="000000"/>
                </a:solidFill>
                <a:latin typeface="Times New Roman"/>
              </a:rPr>
              <a:t>，将原始数据编码成为中间编码校验单元。然后将这些中间编码校验单元作为</a:t>
            </a:r>
            <a:r>
              <a:rPr lang="en-US" altLang="zh-CN" dirty="0">
                <a:solidFill>
                  <a:srgbClr val="000000"/>
                </a:solidFill>
                <a:latin typeface="Times New Roman"/>
              </a:rPr>
              <a:t>LT</a:t>
            </a:r>
            <a:r>
              <a:rPr lang="zh-CN" altLang="en-US" dirty="0">
                <a:solidFill>
                  <a:srgbClr val="000000"/>
                </a:solidFill>
                <a:latin typeface="Times New Roman"/>
              </a:rPr>
              <a:t>码的输入符号，进行编码。</a:t>
            </a:r>
            <a:endParaRPr lang="en-US" altLang="zh-CN" dirty="0">
              <a:solidFill>
                <a:srgbClr val="000000"/>
              </a:solidFill>
              <a:latin typeface="Times New Roman"/>
            </a:endParaRPr>
          </a:p>
        </p:txBody>
      </p:sp>
      <p:grpSp>
        <p:nvGrpSpPr>
          <p:cNvPr id="3" name="组合 2"/>
          <p:cNvGrpSpPr/>
          <p:nvPr/>
        </p:nvGrpSpPr>
        <p:grpSpPr>
          <a:xfrm>
            <a:off x="5963921" y="992322"/>
            <a:ext cx="5917194" cy="3437142"/>
            <a:chOff x="1657984" y="3267690"/>
            <a:chExt cx="5917194" cy="3437142"/>
          </a:xfrm>
        </p:grpSpPr>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7984" y="3267690"/>
              <a:ext cx="5917194" cy="3040695"/>
            </a:xfrm>
            <a:prstGeom prst="rect">
              <a:avLst/>
            </a:prstGeom>
          </p:spPr>
        </p:pic>
        <p:sp>
          <p:nvSpPr>
            <p:cNvPr id="5" name="文本框 4"/>
            <p:cNvSpPr txBox="1"/>
            <p:nvPr/>
          </p:nvSpPr>
          <p:spPr>
            <a:xfrm>
              <a:off x="3581426" y="6214954"/>
              <a:ext cx="2666930"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en-US" altLang="zh-CN" sz="1800" dirty="0">
                  <a:solidFill>
                    <a:srgbClr val="000000"/>
                  </a:solidFill>
                  <a:sym typeface="+mn-ea"/>
                </a:rPr>
                <a:t>Raptor</a:t>
              </a:r>
              <a:r>
                <a:rPr lang="zh-CN" altLang="en-US" sz="1800" dirty="0">
                  <a:solidFill>
                    <a:srgbClr val="000000"/>
                  </a:solidFill>
                  <a:sym typeface="+mn-ea"/>
                </a:rPr>
                <a:t>码编码解码过程</a:t>
              </a:r>
            </a:p>
          </p:txBody>
        </p:sp>
      </p:grpSp>
      <p:sp>
        <p:nvSpPr>
          <p:cNvPr id="4" name="文本框 3">
            <a:extLst>
              <a:ext uri="{FF2B5EF4-FFF2-40B4-BE49-F238E27FC236}">
                <a16:creationId xmlns:a16="http://schemas.microsoft.com/office/drawing/2014/main" id="{FD5A0962-2F67-22C3-699E-A0E016CEECFC}"/>
              </a:ext>
            </a:extLst>
          </p:cNvPr>
          <p:cNvSpPr txBox="1"/>
          <p:nvPr/>
        </p:nvSpPr>
        <p:spPr>
          <a:xfrm>
            <a:off x="230292" y="4747475"/>
            <a:ext cx="8399492" cy="141891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600"/>
              </a:lnSpc>
              <a:spcBef>
                <a:spcPct val="0"/>
              </a:spcBef>
              <a:spcAft>
                <a:spcPct val="0"/>
              </a:spcAft>
            </a:pPr>
            <a:r>
              <a:rPr lang="zh-CN" altLang="en-US" dirty="0">
                <a:solidFill>
                  <a:srgbClr val="000000"/>
                </a:solidFill>
                <a:latin typeface="Times New Roman"/>
              </a:rPr>
              <a:t>        与编码过程相对应地，解码时只需要利用</a:t>
            </a:r>
            <a:r>
              <a:rPr lang="en-US" altLang="zh-CN" dirty="0">
                <a:solidFill>
                  <a:srgbClr val="000000"/>
                </a:solidFill>
                <a:latin typeface="Times New Roman"/>
              </a:rPr>
              <a:t>LT</a:t>
            </a:r>
            <a:r>
              <a:rPr lang="zh-CN" altLang="en-US" dirty="0">
                <a:solidFill>
                  <a:srgbClr val="000000"/>
                </a:solidFill>
                <a:latin typeface="Times New Roman"/>
              </a:rPr>
              <a:t>码解码技术恢复所有的中间编码校验单元，再根据中间编码的获得方式，使用传统编码的解码方式得到源数据包。</a:t>
            </a:r>
            <a:endParaRPr lang="en-US" altLang="zh-CN" dirty="0">
              <a:solidFill>
                <a:srgbClr val="000000"/>
              </a:solidFill>
              <a:latin typeface="Times New Roman"/>
            </a:endParaRPr>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en-US" altLang="zh-CN" sz="2400" dirty="0">
                <a:sym typeface="+mn-ea"/>
              </a:rPr>
              <a:t>Raptor</a:t>
            </a:r>
            <a:r>
              <a:rPr lang="zh-CN" altLang="en-US" sz="2400" dirty="0">
                <a:sym typeface="+mn-ea"/>
              </a:rPr>
              <a:t>码的特点</a:t>
            </a:r>
          </a:p>
        </p:txBody>
      </p:sp>
      <p:grpSp>
        <p:nvGrpSpPr>
          <p:cNvPr id="5" name="组合 4"/>
          <p:cNvGrpSpPr/>
          <p:nvPr/>
        </p:nvGrpSpPr>
        <p:grpSpPr>
          <a:xfrm>
            <a:off x="4555634" y="1447852"/>
            <a:ext cx="2876359" cy="5144992"/>
            <a:chOff x="4687714" y="1713008"/>
            <a:chExt cx="2876359" cy="5144992"/>
          </a:xfrm>
        </p:grpSpPr>
        <p:sp>
          <p:nvSpPr>
            <p:cNvPr id="7" name="任意多边形 7"/>
            <p:cNvSpPr/>
            <p:nvPr/>
          </p:nvSpPr>
          <p:spPr>
            <a:xfrm>
              <a:off x="5150882" y="1713008"/>
              <a:ext cx="2045082" cy="5144992"/>
            </a:xfrm>
            <a:custGeom>
              <a:avLst/>
              <a:gdLst>
                <a:gd name="connsiteX0" fmla="*/ 982449 w 1382890"/>
                <a:gd name="connsiteY0" fmla="*/ 3543487 h 3594532"/>
                <a:gd name="connsiteX1" fmla="*/ 572874 w 1382890"/>
                <a:gd name="connsiteY1" fmla="*/ 3553012 h 3594532"/>
                <a:gd name="connsiteX2" fmla="*/ 372849 w 1382890"/>
                <a:gd name="connsiteY2" fmla="*/ 3038662 h 3594532"/>
                <a:gd name="connsiteX3" fmla="*/ 725274 w 1382890"/>
                <a:gd name="connsiteY3" fmla="*/ 2343337 h 3594532"/>
                <a:gd name="connsiteX4" fmla="*/ 515724 w 1382890"/>
                <a:gd name="connsiteY4" fmla="*/ 1838512 h 3594532"/>
                <a:gd name="connsiteX5" fmla="*/ 1374 w 1382890"/>
                <a:gd name="connsiteY5" fmla="*/ 1809937 h 3594532"/>
                <a:gd name="connsiteX6" fmla="*/ 372849 w 1382890"/>
                <a:gd name="connsiteY6" fmla="*/ 1705162 h 3594532"/>
                <a:gd name="connsiteX7" fmla="*/ 620499 w 1382890"/>
                <a:gd name="connsiteY7" fmla="*/ 1838512 h 3594532"/>
                <a:gd name="connsiteX8" fmla="*/ 668124 w 1382890"/>
                <a:gd name="connsiteY8" fmla="*/ 1609912 h 3594532"/>
                <a:gd name="connsiteX9" fmla="*/ 801474 w 1382890"/>
                <a:gd name="connsiteY9" fmla="*/ 1295587 h 3594532"/>
                <a:gd name="connsiteX10" fmla="*/ 744324 w 1382890"/>
                <a:gd name="connsiteY10" fmla="*/ 771712 h 3594532"/>
                <a:gd name="connsiteX11" fmla="*/ 515724 w 1382890"/>
                <a:gd name="connsiteY11" fmla="*/ 628837 h 3594532"/>
                <a:gd name="connsiteX12" fmla="*/ 668124 w 1382890"/>
                <a:gd name="connsiteY12" fmla="*/ 628837 h 3594532"/>
                <a:gd name="connsiteX13" fmla="*/ 744324 w 1382890"/>
                <a:gd name="connsiteY13" fmla="*/ 714562 h 3594532"/>
                <a:gd name="connsiteX14" fmla="*/ 849099 w 1382890"/>
                <a:gd name="connsiteY14" fmla="*/ 187 h 3594532"/>
                <a:gd name="connsiteX15" fmla="*/ 810999 w 1382890"/>
                <a:gd name="connsiteY15" fmla="*/ 647887 h 3594532"/>
                <a:gd name="connsiteX16" fmla="*/ 887199 w 1382890"/>
                <a:gd name="connsiteY16" fmla="*/ 1038412 h 3594532"/>
                <a:gd name="connsiteX17" fmla="*/ 915774 w 1382890"/>
                <a:gd name="connsiteY17" fmla="*/ 1286062 h 3594532"/>
                <a:gd name="connsiteX18" fmla="*/ 1087224 w 1382890"/>
                <a:gd name="connsiteY18" fmla="*/ 1152712 h 3594532"/>
                <a:gd name="connsiteX19" fmla="*/ 1315824 w 1382890"/>
                <a:gd name="connsiteY19" fmla="*/ 1133662 h 3594532"/>
                <a:gd name="connsiteX20" fmla="*/ 1068174 w 1382890"/>
                <a:gd name="connsiteY20" fmla="*/ 1190812 h 3594532"/>
                <a:gd name="connsiteX21" fmla="*/ 858624 w 1382890"/>
                <a:gd name="connsiteY21" fmla="*/ 1495612 h 3594532"/>
                <a:gd name="connsiteX22" fmla="*/ 801474 w 1382890"/>
                <a:gd name="connsiteY22" fmla="*/ 1857562 h 3594532"/>
                <a:gd name="connsiteX23" fmla="*/ 953874 w 1382890"/>
                <a:gd name="connsiteY23" fmla="*/ 2314762 h 3594532"/>
                <a:gd name="connsiteX24" fmla="*/ 877674 w 1382890"/>
                <a:gd name="connsiteY24" fmla="*/ 2552887 h 3594532"/>
                <a:gd name="connsiteX25" fmla="*/ 1191999 w 1382890"/>
                <a:gd name="connsiteY25" fmla="*/ 2495737 h 3594532"/>
                <a:gd name="connsiteX26" fmla="*/ 1382499 w 1382890"/>
                <a:gd name="connsiteY26" fmla="*/ 2590987 h 3594532"/>
                <a:gd name="connsiteX27" fmla="*/ 1144374 w 1382890"/>
                <a:gd name="connsiteY27" fmla="*/ 2533837 h 3594532"/>
                <a:gd name="connsiteX28" fmla="*/ 810999 w 1382890"/>
                <a:gd name="connsiteY28" fmla="*/ 2695762 h 3594532"/>
                <a:gd name="connsiteX29" fmla="*/ 668124 w 1382890"/>
                <a:gd name="connsiteY29" fmla="*/ 3048187 h 3594532"/>
                <a:gd name="connsiteX30" fmla="*/ 896724 w 1382890"/>
                <a:gd name="connsiteY30" fmla="*/ 3381562 h 3594532"/>
                <a:gd name="connsiteX31" fmla="*/ 982449 w 1382890"/>
                <a:gd name="connsiteY31" fmla="*/ 3543487 h 3594532"/>
                <a:gd name="connsiteX0-1" fmla="*/ 982886 w 1383327"/>
                <a:gd name="connsiteY0-2" fmla="*/ 3543487 h 3594532"/>
                <a:gd name="connsiteX1-3" fmla="*/ 573311 w 1383327"/>
                <a:gd name="connsiteY1-4" fmla="*/ 3553012 h 3594532"/>
                <a:gd name="connsiteX2-5" fmla="*/ 373286 w 1383327"/>
                <a:gd name="connsiteY2-6" fmla="*/ 3038662 h 3594532"/>
                <a:gd name="connsiteX3-7" fmla="*/ 725711 w 1383327"/>
                <a:gd name="connsiteY3-8" fmla="*/ 2343337 h 3594532"/>
                <a:gd name="connsiteX4-9" fmla="*/ 539021 w 1383327"/>
                <a:gd name="connsiteY4-10" fmla="*/ 1884232 h 3594532"/>
                <a:gd name="connsiteX5-11" fmla="*/ 1811 w 1383327"/>
                <a:gd name="connsiteY5-12" fmla="*/ 1809937 h 3594532"/>
                <a:gd name="connsiteX6-13" fmla="*/ 373286 w 1383327"/>
                <a:gd name="connsiteY6-14" fmla="*/ 1705162 h 3594532"/>
                <a:gd name="connsiteX7-15" fmla="*/ 620936 w 1383327"/>
                <a:gd name="connsiteY7-16" fmla="*/ 1838512 h 3594532"/>
                <a:gd name="connsiteX8-17" fmla="*/ 668561 w 1383327"/>
                <a:gd name="connsiteY8-18" fmla="*/ 1609912 h 3594532"/>
                <a:gd name="connsiteX9-19" fmla="*/ 801911 w 1383327"/>
                <a:gd name="connsiteY9-20" fmla="*/ 1295587 h 3594532"/>
                <a:gd name="connsiteX10-21" fmla="*/ 744761 w 1383327"/>
                <a:gd name="connsiteY10-22" fmla="*/ 771712 h 3594532"/>
                <a:gd name="connsiteX11-23" fmla="*/ 516161 w 1383327"/>
                <a:gd name="connsiteY11-24" fmla="*/ 628837 h 3594532"/>
                <a:gd name="connsiteX12-25" fmla="*/ 668561 w 1383327"/>
                <a:gd name="connsiteY12-26" fmla="*/ 628837 h 3594532"/>
                <a:gd name="connsiteX13-27" fmla="*/ 744761 w 1383327"/>
                <a:gd name="connsiteY13-28" fmla="*/ 714562 h 3594532"/>
                <a:gd name="connsiteX14-29" fmla="*/ 849536 w 1383327"/>
                <a:gd name="connsiteY14-30" fmla="*/ 187 h 3594532"/>
                <a:gd name="connsiteX15-31" fmla="*/ 811436 w 1383327"/>
                <a:gd name="connsiteY15-32" fmla="*/ 647887 h 3594532"/>
                <a:gd name="connsiteX16-33" fmla="*/ 887636 w 1383327"/>
                <a:gd name="connsiteY16-34" fmla="*/ 1038412 h 3594532"/>
                <a:gd name="connsiteX17-35" fmla="*/ 916211 w 1383327"/>
                <a:gd name="connsiteY17-36" fmla="*/ 1286062 h 3594532"/>
                <a:gd name="connsiteX18-37" fmla="*/ 1087661 w 1383327"/>
                <a:gd name="connsiteY18-38" fmla="*/ 1152712 h 3594532"/>
                <a:gd name="connsiteX19-39" fmla="*/ 1316261 w 1383327"/>
                <a:gd name="connsiteY19-40" fmla="*/ 1133662 h 3594532"/>
                <a:gd name="connsiteX20-41" fmla="*/ 1068611 w 1383327"/>
                <a:gd name="connsiteY20-42" fmla="*/ 1190812 h 3594532"/>
                <a:gd name="connsiteX21-43" fmla="*/ 859061 w 1383327"/>
                <a:gd name="connsiteY21-44" fmla="*/ 1495612 h 3594532"/>
                <a:gd name="connsiteX22-45" fmla="*/ 801911 w 1383327"/>
                <a:gd name="connsiteY22-46" fmla="*/ 1857562 h 3594532"/>
                <a:gd name="connsiteX23-47" fmla="*/ 954311 w 1383327"/>
                <a:gd name="connsiteY23-48" fmla="*/ 2314762 h 3594532"/>
                <a:gd name="connsiteX24-49" fmla="*/ 878111 w 1383327"/>
                <a:gd name="connsiteY24-50" fmla="*/ 2552887 h 3594532"/>
                <a:gd name="connsiteX25-51" fmla="*/ 1192436 w 1383327"/>
                <a:gd name="connsiteY25-52" fmla="*/ 2495737 h 3594532"/>
                <a:gd name="connsiteX26-53" fmla="*/ 1382936 w 1383327"/>
                <a:gd name="connsiteY26-54" fmla="*/ 2590987 h 3594532"/>
                <a:gd name="connsiteX27-55" fmla="*/ 1144811 w 1383327"/>
                <a:gd name="connsiteY27-56" fmla="*/ 2533837 h 3594532"/>
                <a:gd name="connsiteX28-57" fmla="*/ 811436 w 1383327"/>
                <a:gd name="connsiteY28-58" fmla="*/ 2695762 h 3594532"/>
                <a:gd name="connsiteX29-59" fmla="*/ 668561 w 1383327"/>
                <a:gd name="connsiteY29-60" fmla="*/ 3048187 h 3594532"/>
                <a:gd name="connsiteX30-61" fmla="*/ 897161 w 1383327"/>
                <a:gd name="connsiteY30-62" fmla="*/ 3381562 h 3594532"/>
                <a:gd name="connsiteX31-63" fmla="*/ 982886 w 1383327"/>
                <a:gd name="connsiteY31-64" fmla="*/ 3543487 h 3594532"/>
                <a:gd name="connsiteX0-65" fmla="*/ 982886 w 1383327"/>
                <a:gd name="connsiteY0-66" fmla="*/ 3543487 h 3594532"/>
                <a:gd name="connsiteX1-67" fmla="*/ 573311 w 1383327"/>
                <a:gd name="connsiteY1-68" fmla="*/ 3553012 h 3594532"/>
                <a:gd name="connsiteX2-69" fmla="*/ 373286 w 1383327"/>
                <a:gd name="connsiteY2-70" fmla="*/ 3038662 h 3594532"/>
                <a:gd name="connsiteX3-71" fmla="*/ 725711 w 1383327"/>
                <a:gd name="connsiteY3-72" fmla="*/ 2343337 h 3594532"/>
                <a:gd name="connsiteX4-73" fmla="*/ 539021 w 1383327"/>
                <a:gd name="connsiteY4-74" fmla="*/ 1884232 h 3594532"/>
                <a:gd name="connsiteX5-75" fmla="*/ 1811 w 1383327"/>
                <a:gd name="connsiteY5-76" fmla="*/ 1809937 h 3594532"/>
                <a:gd name="connsiteX6-77" fmla="*/ 373286 w 1383327"/>
                <a:gd name="connsiteY6-78" fmla="*/ 1705162 h 3594532"/>
                <a:gd name="connsiteX7-79" fmla="*/ 620936 w 1383327"/>
                <a:gd name="connsiteY7-80" fmla="*/ 1838512 h 3594532"/>
                <a:gd name="connsiteX8-81" fmla="*/ 668561 w 1383327"/>
                <a:gd name="connsiteY8-82" fmla="*/ 1609912 h 3594532"/>
                <a:gd name="connsiteX9-83" fmla="*/ 801911 w 1383327"/>
                <a:gd name="connsiteY9-84" fmla="*/ 1295587 h 3594532"/>
                <a:gd name="connsiteX10-85" fmla="*/ 744761 w 1383327"/>
                <a:gd name="connsiteY10-86" fmla="*/ 771712 h 3594532"/>
                <a:gd name="connsiteX11-87" fmla="*/ 516161 w 1383327"/>
                <a:gd name="connsiteY11-88" fmla="*/ 628837 h 3594532"/>
                <a:gd name="connsiteX12-89" fmla="*/ 668561 w 1383327"/>
                <a:gd name="connsiteY12-90" fmla="*/ 628837 h 3594532"/>
                <a:gd name="connsiteX13-91" fmla="*/ 744761 w 1383327"/>
                <a:gd name="connsiteY13-92" fmla="*/ 714562 h 3594532"/>
                <a:gd name="connsiteX14-93" fmla="*/ 849536 w 1383327"/>
                <a:gd name="connsiteY14-94" fmla="*/ 187 h 3594532"/>
                <a:gd name="connsiteX15-95" fmla="*/ 811436 w 1383327"/>
                <a:gd name="connsiteY15-96" fmla="*/ 647887 h 3594532"/>
                <a:gd name="connsiteX16-97" fmla="*/ 887636 w 1383327"/>
                <a:gd name="connsiteY16-98" fmla="*/ 1038412 h 3594532"/>
                <a:gd name="connsiteX17-99" fmla="*/ 916211 w 1383327"/>
                <a:gd name="connsiteY17-100" fmla="*/ 1286062 h 3594532"/>
                <a:gd name="connsiteX18-101" fmla="*/ 1087661 w 1383327"/>
                <a:gd name="connsiteY18-102" fmla="*/ 1152712 h 3594532"/>
                <a:gd name="connsiteX19-103" fmla="*/ 1316261 w 1383327"/>
                <a:gd name="connsiteY19-104" fmla="*/ 1133662 h 3594532"/>
                <a:gd name="connsiteX20-105" fmla="*/ 1068611 w 1383327"/>
                <a:gd name="connsiteY20-106" fmla="*/ 1190812 h 3594532"/>
                <a:gd name="connsiteX21-107" fmla="*/ 859061 w 1383327"/>
                <a:gd name="connsiteY21-108" fmla="*/ 1495612 h 3594532"/>
                <a:gd name="connsiteX22-109" fmla="*/ 801911 w 1383327"/>
                <a:gd name="connsiteY22-110" fmla="*/ 1857562 h 3594532"/>
                <a:gd name="connsiteX23-111" fmla="*/ 954311 w 1383327"/>
                <a:gd name="connsiteY23-112" fmla="*/ 2314762 h 3594532"/>
                <a:gd name="connsiteX24-113" fmla="*/ 878111 w 1383327"/>
                <a:gd name="connsiteY24-114" fmla="*/ 2552887 h 3594532"/>
                <a:gd name="connsiteX25-115" fmla="*/ 1192436 w 1383327"/>
                <a:gd name="connsiteY25-116" fmla="*/ 2495737 h 3594532"/>
                <a:gd name="connsiteX26-117" fmla="*/ 1382936 w 1383327"/>
                <a:gd name="connsiteY26-118" fmla="*/ 2590987 h 3594532"/>
                <a:gd name="connsiteX27-119" fmla="*/ 1144811 w 1383327"/>
                <a:gd name="connsiteY27-120" fmla="*/ 2533837 h 3594532"/>
                <a:gd name="connsiteX28-121" fmla="*/ 811436 w 1383327"/>
                <a:gd name="connsiteY28-122" fmla="*/ 2695762 h 3594532"/>
                <a:gd name="connsiteX29-123" fmla="*/ 668561 w 1383327"/>
                <a:gd name="connsiteY29-124" fmla="*/ 3048187 h 3594532"/>
                <a:gd name="connsiteX30-125" fmla="*/ 897161 w 1383327"/>
                <a:gd name="connsiteY30-126" fmla="*/ 3381562 h 3594532"/>
                <a:gd name="connsiteX31-127" fmla="*/ 982886 w 1383327"/>
                <a:gd name="connsiteY31-128" fmla="*/ 3543487 h 3594532"/>
                <a:gd name="connsiteX0-129" fmla="*/ 1005643 w 1406084"/>
                <a:gd name="connsiteY0-130" fmla="*/ 3543487 h 3594532"/>
                <a:gd name="connsiteX1-131" fmla="*/ 596068 w 1406084"/>
                <a:gd name="connsiteY1-132" fmla="*/ 3553012 h 3594532"/>
                <a:gd name="connsiteX2-133" fmla="*/ 396043 w 1406084"/>
                <a:gd name="connsiteY2-134" fmla="*/ 3038662 h 3594532"/>
                <a:gd name="connsiteX3-135" fmla="*/ 748468 w 1406084"/>
                <a:gd name="connsiteY3-136" fmla="*/ 2343337 h 3594532"/>
                <a:gd name="connsiteX4-137" fmla="*/ 561778 w 1406084"/>
                <a:gd name="connsiteY4-138" fmla="*/ 1884232 h 3594532"/>
                <a:gd name="connsiteX5-139" fmla="*/ 1708 w 1406084"/>
                <a:gd name="connsiteY5-140" fmla="*/ 1832797 h 3594532"/>
                <a:gd name="connsiteX6-141" fmla="*/ 396043 w 1406084"/>
                <a:gd name="connsiteY6-142" fmla="*/ 1705162 h 3594532"/>
                <a:gd name="connsiteX7-143" fmla="*/ 643693 w 1406084"/>
                <a:gd name="connsiteY7-144" fmla="*/ 1838512 h 3594532"/>
                <a:gd name="connsiteX8-145" fmla="*/ 691318 w 1406084"/>
                <a:gd name="connsiteY8-146" fmla="*/ 1609912 h 3594532"/>
                <a:gd name="connsiteX9-147" fmla="*/ 824668 w 1406084"/>
                <a:gd name="connsiteY9-148" fmla="*/ 1295587 h 3594532"/>
                <a:gd name="connsiteX10-149" fmla="*/ 767518 w 1406084"/>
                <a:gd name="connsiteY10-150" fmla="*/ 771712 h 3594532"/>
                <a:gd name="connsiteX11-151" fmla="*/ 538918 w 1406084"/>
                <a:gd name="connsiteY11-152" fmla="*/ 628837 h 3594532"/>
                <a:gd name="connsiteX12-153" fmla="*/ 691318 w 1406084"/>
                <a:gd name="connsiteY12-154" fmla="*/ 628837 h 3594532"/>
                <a:gd name="connsiteX13-155" fmla="*/ 767518 w 1406084"/>
                <a:gd name="connsiteY13-156" fmla="*/ 714562 h 3594532"/>
                <a:gd name="connsiteX14-157" fmla="*/ 872293 w 1406084"/>
                <a:gd name="connsiteY14-158" fmla="*/ 187 h 3594532"/>
                <a:gd name="connsiteX15-159" fmla="*/ 834193 w 1406084"/>
                <a:gd name="connsiteY15-160" fmla="*/ 647887 h 3594532"/>
                <a:gd name="connsiteX16-161" fmla="*/ 910393 w 1406084"/>
                <a:gd name="connsiteY16-162" fmla="*/ 1038412 h 3594532"/>
                <a:gd name="connsiteX17-163" fmla="*/ 938968 w 1406084"/>
                <a:gd name="connsiteY17-164" fmla="*/ 1286062 h 3594532"/>
                <a:gd name="connsiteX18-165" fmla="*/ 1110418 w 1406084"/>
                <a:gd name="connsiteY18-166" fmla="*/ 1152712 h 3594532"/>
                <a:gd name="connsiteX19-167" fmla="*/ 1339018 w 1406084"/>
                <a:gd name="connsiteY19-168" fmla="*/ 1133662 h 3594532"/>
                <a:gd name="connsiteX20-169" fmla="*/ 1091368 w 1406084"/>
                <a:gd name="connsiteY20-170" fmla="*/ 1190812 h 3594532"/>
                <a:gd name="connsiteX21-171" fmla="*/ 881818 w 1406084"/>
                <a:gd name="connsiteY21-172" fmla="*/ 1495612 h 3594532"/>
                <a:gd name="connsiteX22-173" fmla="*/ 824668 w 1406084"/>
                <a:gd name="connsiteY22-174" fmla="*/ 1857562 h 3594532"/>
                <a:gd name="connsiteX23-175" fmla="*/ 977068 w 1406084"/>
                <a:gd name="connsiteY23-176" fmla="*/ 2314762 h 3594532"/>
                <a:gd name="connsiteX24-177" fmla="*/ 900868 w 1406084"/>
                <a:gd name="connsiteY24-178" fmla="*/ 2552887 h 3594532"/>
                <a:gd name="connsiteX25-179" fmla="*/ 1215193 w 1406084"/>
                <a:gd name="connsiteY25-180" fmla="*/ 2495737 h 3594532"/>
                <a:gd name="connsiteX26-181" fmla="*/ 1405693 w 1406084"/>
                <a:gd name="connsiteY26-182" fmla="*/ 2590987 h 3594532"/>
                <a:gd name="connsiteX27-183" fmla="*/ 1167568 w 1406084"/>
                <a:gd name="connsiteY27-184" fmla="*/ 2533837 h 3594532"/>
                <a:gd name="connsiteX28-185" fmla="*/ 834193 w 1406084"/>
                <a:gd name="connsiteY28-186" fmla="*/ 2695762 h 3594532"/>
                <a:gd name="connsiteX29-187" fmla="*/ 691318 w 1406084"/>
                <a:gd name="connsiteY29-188" fmla="*/ 3048187 h 3594532"/>
                <a:gd name="connsiteX30-189" fmla="*/ 919918 w 1406084"/>
                <a:gd name="connsiteY30-190" fmla="*/ 3381562 h 3594532"/>
                <a:gd name="connsiteX31-191" fmla="*/ 1005643 w 1406084"/>
                <a:gd name="connsiteY31-192" fmla="*/ 3543487 h 3594532"/>
                <a:gd name="connsiteX0-193" fmla="*/ 1003993 w 1404434"/>
                <a:gd name="connsiteY0-194" fmla="*/ 3543487 h 3594532"/>
                <a:gd name="connsiteX1-195" fmla="*/ 594418 w 1404434"/>
                <a:gd name="connsiteY1-196" fmla="*/ 3553012 h 3594532"/>
                <a:gd name="connsiteX2-197" fmla="*/ 394393 w 1404434"/>
                <a:gd name="connsiteY2-198" fmla="*/ 3038662 h 3594532"/>
                <a:gd name="connsiteX3-199" fmla="*/ 746818 w 1404434"/>
                <a:gd name="connsiteY3-200" fmla="*/ 2343337 h 3594532"/>
                <a:gd name="connsiteX4-201" fmla="*/ 560128 w 1404434"/>
                <a:gd name="connsiteY4-202" fmla="*/ 1884232 h 3594532"/>
                <a:gd name="connsiteX5-203" fmla="*/ 58 w 1404434"/>
                <a:gd name="connsiteY5-204" fmla="*/ 1832797 h 3594532"/>
                <a:gd name="connsiteX6-205" fmla="*/ 394393 w 1404434"/>
                <a:gd name="connsiteY6-206" fmla="*/ 1705162 h 3594532"/>
                <a:gd name="connsiteX7-207" fmla="*/ 642043 w 1404434"/>
                <a:gd name="connsiteY7-208" fmla="*/ 1838512 h 3594532"/>
                <a:gd name="connsiteX8-209" fmla="*/ 689668 w 1404434"/>
                <a:gd name="connsiteY8-210" fmla="*/ 1609912 h 3594532"/>
                <a:gd name="connsiteX9-211" fmla="*/ 823018 w 1404434"/>
                <a:gd name="connsiteY9-212" fmla="*/ 1295587 h 3594532"/>
                <a:gd name="connsiteX10-213" fmla="*/ 765868 w 1404434"/>
                <a:gd name="connsiteY10-214" fmla="*/ 771712 h 3594532"/>
                <a:gd name="connsiteX11-215" fmla="*/ 537268 w 1404434"/>
                <a:gd name="connsiteY11-216" fmla="*/ 628837 h 3594532"/>
                <a:gd name="connsiteX12-217" fmla="*/ 689668 w 1404434"/>
                <a:gd name="connsiteY12-218" fmla="*/ 628837 h 3594532"/>
                <a:gd name="connsiteX13-219" fmla="*/ 765868 w 1404434"/>
                <a:gd name="connsiteY13-220" fmla="*/ 714562 h 3594532"/>
                <a:gd name="connsiteX14-221" fmla="*/ 870643 w 1404434"/>
                <a:gd name="connsiteY14-222" fmla="*/ 187 h 3594532"/>
                <a:gd name="connsiteX15-223" fmla="*/ 832543 w 1404434"/>
                <a:gd name="connsiteY15-224" fmla="*/ 647887 h 3594532"/>
                <a:gd name="connsiteX16-225" fmla="*/ 908743 w 1404434"/>
                <a:gd name="connsiteY16-226" fmla="*/ 1038412 h 3594532"/>
                <a:gd name="connsiteX17-227" fmla="*/ 937318 w 1404434"/>
                <a:gd name="connsiteY17-228" fmla="*/ 1286062 h 3594532"/>
                <a:gd name="connsiteX18-229" fmla="*/ 1108768 w 1404434"/>
                <a:gd name="connsiteY18-230" fmla="*/ 1152712 h 3594532"/>
                <a:gd name="connsiteX19-231" fmla="*/ 1337368 w 1404434"/>
                <a:gd name="connsiteY19-232" fmla="*/ 1133662 h 3594532"/>
                <a:gd name="connsiteX20-233" fmla="*/ 1089718 w 1404434"/>
                <a:gd name="connsiteY20-234" fmla="*/ 1190812 h 3594532"/>
                <a:gd name="connsiteX21-235" fmla="*/ 880168 w 1404434"/>
                <a:gd name="connsiteY21-236" fmla="*/ 1495612 h 3594532"/>
                <a:gd name="connsiteX22-237" fmla="*/ 823018 w 1404434"/>
                <a:gd name="connsiteY22-238" fmla="*/ 1857562 h 3594532"/>
                <a:gd name="connsiteX23-239" fmla="*/ 975418 w 1404434"/>
                <a:gd name="connsiteY23-240" fmla="*/ 2314762 h 3594532"/>
                <a:gd name="connsiteX24-241" fmla="*/ 899218 w 1404434"/>
                <a:gd name="connsiteY24-242" fmla="*/ 2552887 h 3594532"/>
                <a:gd name="connsiteX25-243" fmla="*/ 1213543 w 1404434"/>
                <a:gd name="connsiteY25-244" fmla="*/ 2495737 h 3594532"/>
                <a:gd name="connsiteX26-245" fmla="*/ 1404043 w 1404434"/>
                <a:gd name="connsiteY26-246" fmla="*/ 2590987 h 3594532"/>
                <a:gd name="connsiteX27-247" fmla="*/ 1165918 w 1404434"/>
                <a:gd name="connsiteY27-248" fmla="*/ 2533837 h 3594532"/>
                <a:gd name="connsiteX28-249" fmla="*/ 832543 w 1404434"/>
                <a:gd name="connsiteY28-250" fmla="*/ 2695762 h 3594532"/>
                <a:gd name="connsiteX29-251" fmla="*/ 689668 w 1404434"/>
                <a:gd name="connsiteY29-252" fmla="*/ 3048187 h 3594532"/>
                <a:gd name="connsiteX30-253" fmla="*/ 918268 w 1404434"/>
                <a:gd name="connsiteY30-254" fmla="*/ 3381562 h 3594532"/>
                <a:gd name="connsiteX31-255" fmla="*/ 1003993 w 1404434"/>
                <a:gd name="connsiteY31-256" fmla="*/ 3543487 h 3594532"/>
                <a:gd name="connsiteX0-257" fmla="*/ 1003993 w 1404434"/>
                <a:gd name="connsiteY0-258" fmla="*/ 3543487 h 3559332"/>
                <a:gd name="connsiteX1-259" fmla="*/ 594418 w 1404434"/>
                <a:gd name="connsiteY1-260" fmla="*/ 3553012 h 3559332"/>
                <a:gd name="connsiteX2-261" fmla="*/ 394393 w 1404434"/>
                <a:gd name="connsiteY2-262" fmla="*/ 3038662 h 3559332"/>
                <a:gd name="connsiteX3-263" fmla="*/ 746818 w 1404434"/>
                <a:gd name="connsiteY3-264" fmla="*/ 2343337 h 3559332"/>
                <a:gd name="connsiteX4-265" fmla="*/ 560128 w 1404434"/>
                <a:gd name="connsiteY4-266" fmla="*/ 1884232 h 3559332"/>
                <a:gd name="connsiteX5-267" fmla="*/ 58 w 1404434"/>
                <a:gd name="connsiteY5-268" fmla="*/ 1832797 h 3559332"/>
                <a:gd name="connsiteX6-269" fmla="*/ 394393 w 1404434"/>
                <a:gd name="connsiteY6-270" fmla="*/ 1705162 h 3559332"/>
                <a:gd name="connsiteX7-271" fmla="*/ 642043 w 1404434"/>
                <a:gd name="connsiteY7-272" fmla="*/ 1838512 h 3559332"/>
                <a:gd name="connsiteX8-273" fmla="*/ 689668 w 1404434"/>
                <a:gd name="connsiteY8-274" fmla="*/ 1609912 h 3559332"/>
                <a:gd name="connsiteX9-275" fmla="*/ 823018 w 1404434"/>
                <a:gd name="connsiteY9-276" fmla="*/ 1295587 h 3559332"/>
                <a:gd name="connsiteX10-277" fmla="*/ 765868 w 1404434"/>
                <a:gd name="connsiteY10-278" fmla="*/ 771712 h 3559332"/>
                <a:gd name="connsiteX11-279" fmla="*/ 537268 w 1404434"/>
                <a:gd name="connsiteY11-280" fmla="*/ 628837 h 3559332"/>
                <a:gd name="connsiteX12-281" fmla="*/ 689668 w 1404434"/>
                <a:gd name="connsiteY12-282" fmla="*/ 628837 h 3559332"/>
                <a:gd name="connsiteX13-283" fmla="*/ 765868 w 1404434"/>
                <a:gd name="connsiteY13-284" fmla="*/ 714562 h 3559332"/>
                <a:gd name="connsiteX14-285" fmla="*/ 870643 w 1404434"/>
                <a:gd name="connsiteY14-286" fmla="*/ 187 h 3559332"/>
                <a:gd name="connsiteX15-287" fmla="*/ 832543 w 1404434"/>
                <a:gd name="connsiteY15-288" fmla="*/ 647887 h 3559332"/>
                <a:gd name="connsiteX16-289" fmla="*/ 908743 w 1404434"/>
                <a:gd name="connsiteY16-290" fmla="*/ 1038412 h 3559332"/>
                <a:gd name="connsiteX17-291" fmla="*/ 937318 w 1404434"/>
                <a:gd name="connsiteY17-292" fmla="*/ 1286062 h 3559332"/>
                <a:gd name="connsiteX18-293" fmla="*/ 1108768 w 1404434"/>
                <a:gd name="connsiteY18-294" fmla="*/ 1152712 h 3559332"/>
                <a:gd name="connsiteX19-295" fmla="*/ 1337368 w 1404434"/>
                <a:gd name="connsiteY19-296" fmla="*/ 1133662 h 3559332"/>
                <a:gd name="connsiteX20-297" fmla="*/ 1089718 w 1404434"/>
                <a:gd name="connsiteY20-298" fmla="*/ 1190812 h 3559332"/>
                <a:gd name="connsiteX21-299" fmla="*/ 880168 w 1404434"/>
                <a:gd name="connsiteY21-300" fmla="*/ 1495612 h 3559332"/>
                <a:gd name="connsiteX22-301" fmla="*/ 823018 w 1404434"/>
                <a:gd name="connsiteY22-302" fmla="*/ 1857562 h 3559332"/>
                <a:gd name="connsiteX23-303" fmla="*/ 975418 w 1404434"/>
                <a:gd name="connsiteY23-304" fmla="*/ 2314762 h 3559332"/>
                <a:gd name="connsiteX24-305" fmla="*/ 899218 w 1404434"/>
                <a:gd name="connsiteY24-306" fmla="*/ 2552887 h 3559332"/>
                <a:gd name="connsiteX25-307" fmla="*/ 1213543 w 1404434"/>
                <a:gd name="connsiteY25-308" fmla="*/ 2495737 h 3559332"/>
                <a:gd name="connsiteX26-309" fmla="*/ 1404043 w 1404434"/>
                <a:gd name="connsiteY26-310" fmla="*/ 2590987 h 3559332"/>
                <a:gd name="connsiteX27-311" fmla="*/ 1165918 w 1404434"/>
                <a:gd name="connsiteY27-312" fmla="*/ 2533837 h 3559332"/>
                <a:gd name="connsiteX28-313" fmla="*/ 832543 w 1404434"/>
                <a:gd name="connsiteY28-314" fmla="*/ 2695762 h 3559332"/>
                <a:gd name="connsiteX29-315" fmla="*/ 689668 w 1404434"/>
                <a:gd name="connsiteY29-316" fmla="*/ 3048187 h 3559332"/>
                <a:gd name="connsiteX30-317" fmla="*/ 918268 w 1404434"/>
                <a:gd name="connsiteY30-318" fmla="*/ 3381562 h 3559332"/>
                <a:gd name="connsiteX31-319" fmla="*/ 1003993 w 1404434"/>
                <a:gd name="connsiteY31-320" fmla="*/ 3543487 h 3559332"/>
                <a:gd name="connsiteX0-321" fmla="*/ 1003993 w 1404434"/>
                <a:gd name="connsiteY0-322" fmla="*/ 3543487 h 3553018"/>
                <a:gd name="connsiteX1-323" fmla="*/ 594418 w 1404434"/>
                <a:gd name="connsiteY1-324" fmla="*/ 3553012 h 3553018"/>
                <a:gd name="connsiteX2-325" fmla="*/ 394393 w 1404434"/>
                <a:gd name="connsiteY2-326" fmla="*/ 3038662 h 3553018"/>
                <a:gd name="connsiteX3-327" fmla="*/ 746818 w 1404434"/>
                <a:gd name="connsiteY3-328" fmla="*/ 2343337 h 3553018"/>
                <a:gd name="connsiteX4-329" fmla="*/ 560128 w 1404434"/>
                <a:gd name="connsiteY4-330" fmla="*/ 1884232 h 3553018"/>
                <a:gd name="connsiteX5-331" fmla="*/ 58 w 1404434"/>
                <a:gd name="connsiteY5-332" fmla="*/ 1832797 h 3553018"/>
                <a:gd name="connsiteX6-333" fmla="*/ 394393 w 1404434"/>
                <a:gd name="connsiteY6-334" fmla="*/ 1705162 h 3553018"/>
                <a:gd name="connsiteX7-335" fmla="*/ 642043 w 1404434"/>
                <a:gd name="connsiteY7-336" fmla="*/ 1838512 h 3553018"/>
                <a:gd name="connsiteX8-337" fmla="*/ 689668 w 1404434"/>
                <a:gd name="connsiteY8-338" fmla="*/ 1609912 h 3553018"/>
                <a:gd name="connsiteX9-339" fmla="*/ 823018 w 1404434"/>
                <a:gd name="connsiteY9-340" fmla="*/ 1295587 h 3553018"/>
                <a:gd name="connsiteX10-341" fmla="*/ 765868 w 1404434"/>
                <a:gd name="connsiteY10-342" fmla="*/ 771712 h 3553018"/>
                <a:gd name="connsiteX11-343" fmla="*/ 537268 w 1404434"/>
                <a:gd name="connsiteY11-344" fmla="*/ 628837 h 3553018"/>
                <a:gd name="connsiteX12-345" fmla="*/ 689668 w 1404434"/>
                <a:gd name="connsiteY12-346" fmla="*/ 628837 h 3553018"/>
                <a:gd name="connsiteX13-347" fmla="*/ 765868 w 1404434"/>
                <a:gd name="connsiteY13-348" fmla="*/ 714562 h 3553018"/>
                <a:gd name="connsiteX14-349" fmla="*/ 870643 w 1404434"/>
                <a:gd name="connsiteY14-350" fmla="*/ 187 h 3553018"/>
                <a:gd name="connsiteX15-351" fmla="*/ 832543 w 1404434"/>
                <a:gd name="connsiteY15-352" fmla="*/ 647887 h 3553018"/>
                <a:gd name="connsiteX16-353" fmla="*/ 908743 w 1404434"/>
                <a:gd name="connsiteY16-354" fmla="*/ 1038412 h 3553018"/>
                <a:gd name="connsiteX17-355" fmla="*/ 937318 w 1404434"/>
                <a:gd name="connsiteY17-356" fmla="*/ 1286062 h 3553018"/>
                <a:gd name="connsiteX18-357" fmla="*/ 1108768 w 1404434"/>
                <a:gd name="connsiteY18-358" fmla="*/ 1152712 h 3553018"/>
                <a:gd name="connsiteX19-359" fmla="*/ 1337368 w 1404434"/>
                <a:gd name="connsiteY19-360" fmla="*/ 1133662 h 3553018"/>
                <a:gd name="connsiteX20-361" fmla="*/ 1089718 w 1404434"/>
                <a:gd name="connsiteY20-362" fmla="*/ 1190812 h 3553018"/>
                <a:gd name="connsiteX21-363" fmla="*/ 880168 w 1404434"/>
                <a:gd name="connsiteY21-364" fmla="*/ 1495612 h 3553018"/>
                <a:gd name="connsiteX22-365" fmla="*/ 823018 w 1404434"/>
                <a:gd name="connsiteY22-366" fmla="*/ 1857562 h 3553018"/>
                <a:gd name="connsiteX23-367" fmla="*/ 975418 w 1404434"/>
                <a:gd name="connsiteY23-368" fmla="*/ 2314762 h 3553018"/>
                <a:gd name="connsiteX24-369" fmla="*/ 899218 w 1404434"/>
                <a:gd name="connsiteY24-370" fmla="*/ 2552887 h 3553018"/>
                <a:gd name="connsiteX25-371" fmla="*/ 1213543 w 1404434"/>
                <a:gd name="connsiteY25-372" fmla="*/ 2495737 h 3553018"/>
                <a:gd name="connsiteX26-373" fmla="*/ 1404043 w 1404434"/>
                <a:gd name="connsiteY26-374" fmla="*/ 2590987 h 3553018"/>
                <a:gd name="connsiteX27-375" fmla="*/ 1165918 w 1404434"/>
                <a:gd name="connsiteY27-376" fmla="*/ 2533837 h 3553018"/>
                <a:gd name="connsiteX28-377" fmla="*/ 832543 w 1404434"/>
                <a:gd name="connsiteY28-378" fmla="*/ 2695762 h 3553018"/>
                <a:gd name="connsiteX29-379" fmla="*/ 689668 w 1404434"/>
                <a:gd name="connsiteY29-380" fmla="*/ 3048187 h 3553018"/>
                <a:gd name="connsiteX30-381" fmla="*/ 918268 w 1404434"/>
                <a:gd name="connsiteY30-382" fmla="*/ 3381562 h 3553018"/>
                <a:gd name="connsiteX31-383" fmla="*/ 1003993 w 1404434"/>
                <a:gd name="connsiteY31-384" fmla="*/ 3543487 h 3553018"/>
                <a:gd name="connsiteX0-385" fmla="*/ 1003993 w 1404434"/>
                <a:gd name="connsiteY0-386" fmla="*/ 3543487 h 3553025"/>
                <a:gd name="connsiteX1-387" fmla="*/ 594418 w 1404434"/>
                <a:gd name="connsiteY1-388" fmla="*/ 3553012 h 3553025"/>
                <a:gd name="connsiteX2-389" fmla="*/ 394393 w 1404434"/>
                <a:gd name="connsiteY2-390" fmla="*/ 3038662 h 3553025"/>
                <a:gd name="connsiteX3-391" fmla="*/ 746818 w 1404434"/>
                <a:gd name="connsiteY3-392" fmla="*/ 2343337 h 3553025"/>
                <a:gd name="connsiteX4-393" fmla="*/ 560128 w 1404434"/>
                <a:gd name="connsiteY4-394" fmla="*/ 1884232 h 3553025"/>
                <a:gd name="connsiteX5-395" fmla="*/ 58 w 1404434"/>
                <a:gd name="connsiteY5-396" fmla="*/ 1832797 h 3553025"/>
                <a:gd name="connsiteX6-397" fmla="*/ 394393 w 1404434"/>
                <a:gd name="connsiteY6-398" fmla="*/ 1705162 h 3553025"/>
                <a:gd name="connsiteX7-399" fmla="*/ 642043 w 1404434"/>
                <a:gd name="connsiteY7-400" fmla="*/ 1838512 h 3553025"/>
                <a:gd name="connsiteX8-401" fmla="*/ 689668 w 1404434"/>
                <a:gd name="connsiteY8-402" fmla="*/ 1609912 h 3553025"/>
                <a:gd name="connsiteX9-403" fmla="*/ 823018 w 1404434"/>
                <a:gd name="connsiteY9-404" fmla="*/ 1295587 h 3553025"/>
                <a:gd name="connsiteX10-405" fmla="*/ 765868 w 1404434"/>
                <a:gd name="connsiteY10-406" fmla="*/ 771712 h 3553025"/>
                <a:gd name="connsiteX11-407" fmla="*/ 537268 w 1404434"/>
                <a:gd name="connsiteY11-408" fmla="*/ 628837 h 3553025"/>
                <a:gd name="connsiteX12-409" fmla="*/ 689668 w 1404434"/>
                <a:gd name="connsiteY12-410" fmla="*/ 628837 h 3553025"/>
                <a:gd name="connsiteX13-411" fmla="*/ 765868 w 1404434"/>
                <a:gd name="connsiteY13-412" fmla="*/ 714562 h 3553025"/>
                <a:gd name="connsiteX14-413" fmla="*/ 870643 w 1404434"/>
                <a:gd name="connsiteY14-414" fmla="*/ 187 h 3553025"/>
                <a:gd name="connsiteX15-415" fmla="*/ 832543 w 1404434"/>
                <a:gd name="connsiteY15-416" fmla="*/ 647887 h 3553025"/>
                <a:gd name="connsiteX16-417" fmla="*/ 908743 w 1404434"/>
                <a:gd name="connsiteY16-418" fmla="*/ 1038412 h 3553025"/>
                <a:gd name="connsiteX17-419" fmla="*/ 937318 w 1404434"/>
                <a:gd name="connsiteY17-420" fmla="*/ 1286062 h 3553025"/>
                <a:gd name="connsiteX18-421" fmla="*/ 1108768 w 1404434"/>
                <a:gd name="connsiteY18-422" fmla="*/ 1152712 h 3553025"/>
                <a:gd name="connsiteX19-423" fmla="*/ 1337368 w 1404434"/>
                <a:gd name="connsiteY19-424" fmla="*/ 1133662 h 3553025"/>
                <a:gd name="connsiteX20-425" fmla="*/ 1089718 w 1404434"/>
                <a:gd name="connsiteY20-426" fmla="*/ 1190812 h 3553025"/>
                <a:gd name="connsiteX21-427" fmla="*/ 880168 w 1404434"/>
                <a:gd name="connsiteY21-428" fmla="*/ 1495612 h 3553025"/>
                <a:gd name="connsiteX22-429" fmla="*/ 823018 w 1404434"/>
                <a:gd name="connsiteY22-430" fmla="*/ 1857562 h 3553025"/>
                <a:gd name="connsiteX23-431" fmla="*/ 975418 w 1404434"/>
                <a:gd name="connsiteY23-432" fmla="*/ 2314762 h 3553025"/>
                <a:gd name="connsiteX24-433" fmla="*/ 899218 w 1404434"/>
                <a:gd name="connsiteY24-434" fmla="*/ 2552887 h 3553025"/>
                <a:gd name="connsiteX25-435" fmla="*/ 1213543 w 1404434"/>
                <a:gd name="connsiteY25-436" fmla="*/ 2495737 h 3553025"/>
                <a:gd name="connsiteX26-437" fmla="*/ 1404043 w 1404434"/>
                <a:gd name="connsiteY26-438" fmla="*/ 2590987 h 3553025"/>
                <a:gd name="connsiteX27-439" fmla="*/ 1165918 w 1404434"/>
                <a:gd name="connsiteY27-440" fmla="*/ 2533837 h 3553025"/>
                <a:gd name="connsiteX28-441" fmla="*/ 832543 w 1404434"/>
                <a:gd name="connsiteY28-442" fmla="*/ 2695762 h 3553025"/>
                <a:gd name="connsiteX29-443" fmla="*/ 689668 w 1404434"/>
                <a:gd name="connsiteY29-444" fmla="*/ 3048187 h 3553025"/>
                <a:gd name="connsiteX30-445" fmla="*/ 918268 w 1404434"/>
                <a:gd name="connsiteY30-446" fmla="*/ 3381562 h 3553025"/>
                <a:gd name="connsiteX31-447" fmla="*/ 1003993 w 1404434"/>
                <a:gd name="connsiteY31-448" fmla="*/ 3543487 h 3553025"/>
                <a:gd name="connsiteX0-449" fmla="*/ 1016693 w 1404434"/>
                <a:gd name="connsiteY0-450" fmla="*/ 3543487 h 3588988"/>
                <a:gd name="connsiteX1-451" fmla="*/ 594418 w 1404434"/>
                <a:gd name="connsiteY1-452" fmla="*/ 3553012 h 3588988"/>
                <a:gd name="connsiteX2-453" fmla="*/ 394393 w 1404434"/>
                <a:gd name="connsiteY2-454" fmla="*/ 3038662 h 3588988"/>
                <a:gd name="connsiteX3-455" fmla="*/ 746818 w 1404434"/>
                <a:gd name="connsiteY3-456" fmla="*/ 2343337 h 3588988"/>
                <a:gd name="connsiteX4-457" fmla="*/ 560128 w 1404434"/>
                <a:gd name="connsiteY4-458" fmla="*/ 1884232 h 3588988"/>
                <a:gd name="connsiteX5-459" fmla="*/ 58 w 1404434"/>
                <a:gd name="connsiteY5-460" fmla="*/ 1832797 h 3588988"/>
                <a:gd name="connsiteX6-461" fmla="*/ 394393 w 1404434"/>
                <a:gd name="connsiteY6-462" fmla="*/ 1705162 h 3588988"/>
                <a:gd name="connsiteX7-463" fmla="*/ 642043 w 1404434"/>
                <a:gd name="connsiteY7-464" fmla="*/ 1838512 h 3588988"/>
                <a:gd name="connsiteX8-465" fmla="*/ 689668 w 1404434"/>
                <a:gd name="connsiteY8-466" fmla="*/ 1609912 h 3588988"/>
                <a:gd name="connsiteX9-467" fmla="*/ 823018 w 1404434"/>
                <a:gd name="connsiteY9-468" fmla="*/ 1295587 h 3588988"/>
                <a:gd name="connsiteX10-469" fmla="*/ 765868 w 1404434"/>
                <a:gd name="connsiteY10-470" fmla="*/ 771712 h 3588988"/>
                <a:gd name="connsiteX11-471" fmla="*/ 537268 w 1404434"/>
                <a:gd name="connsiteY11-472" fmla="*/ 628837 h 3588988"/>
                <a:gd name="connsiteX12-473" fmla="*/ 689668 w 1404434"/>
                <a:gd name="connsiteY12-474" fmla="*/ 628837 h 3588988"/>
                <a:gd name="connsiteX13-475" fmla="*/ 765868 w 1404434"/>
                <a:gd name="connsiteY13-476" fmla="*/ 714562 h 3588988"/>
                <a:gd name="connsiteX14-477" fmla="*/ 870643 w 1404434"/>
                <a:gd name="connsiteY14-478" fmla="*/ 187 h 3588988"/>
                <a:gd name="connsiteX15-479" fmla="*/ 832543 w 1404434"/>
                <a:gd name="connsiteY15-480" fmla="*/ 647887 h 3588988"/>
                <a:gd name="connsiteX16-481" fmla="*/ 908743 w 1404434"/>
                <a:gd name="connsiteY16-482" fmla="*/ 1038412 h 3588988"/>
                <a:gd name="connsiteX17-483" fmla="*/ 937318 w 1404434"/>
                <a:gd name="connsiteY17-484" fmla="*/ 1286062 h 3588988"/>
                <a:gd name="connsiteX18-485" fmla="*/ 1108768 w 1404434"/>
                <a:gd name="connsiteY18-486" fmla="*/ 1152712 h 3588988"/>
                <a:gd name="connsiteX19-487" fmla="*/ 1337368 w 1404434"/>
                <a:gd name="connsiteY19-488" fmla="*/ 1133662 h 3588988"/>
                <a:gd name="connsiteX20-489" fmla="*/ 1089718 w 1404434"/>
                <a:gd name="connsiteY20-490" fmla="*/ 1190812 h 3588988"/>
                <a:gd name="connsiteX21-491" fmla="*/ 880168 w 1404434"/>
                <a:gd name="connsiteY21-492" fmla="*/ 1495612 h 3588988"/>
                <a:gd name="connsiteX22-493" fmla="*/ 823018 w 1404434"/>
                <a:gd name="connsiteY22-494" fmla="*/ 1857562 h 3588988"/>
                <a:gd name="connsiteX23-495" fmla="*/ 975418 w 1404434"/>
                <a:gd name="connsiteY23-496" fmla="*/ 2314762 h 3588988"/>
                <a:gd name="connsiteX24-497" fmla="*/ 899218 w 1404434"/>
                <a:gd name="connsiteY24-498" fmla="*/ 2552887 h 3588988"/>
                <a:gd name="connsiteX25-499" fmla="*/ 1213543 w 1404434"/>
                <a:gd name="connsiteY25-500" fmla="*/ 2495737 h 3588988"/>
                <a:gd name="connsiteX26-501" fmla="*/ 1404043 w 1404434"/>
                <a:gd name="connsiteY26-502" fmla="*/ 2590987 h 3588988"/>
                <a:gd name="connsiteX27-503" fmla="*/ 1165918 w 1404434"/>
                <a:gd name="connsiteY27-504" fmla="*/ 2533837 h 3588988"/>
                <a:gd name="connsiteX28-505" fmla="*/ 832543 w 1404434"/>
                <a:gd name="connsiteY28-506" fmla="*/ 2695762 h 3588988"/>
                <a:gd name="connsiteX29-507" fmla="*/ 689668 w 1404434"/>
                <a:gd name="connsiteY29-508" fmla="*/ 3048187 h 3588988"/>
                <a:gd name="connsiteX30-509" fmla="*/ 918268 w 1404434"/>
                <a:gd name="connsiteY30-510" fmla="*/ 3381562 h 3588988"/>
                <a:gd name="connsiteX31-511" fmla="*/ 1016693 w 1404434"/>
                <a:gd name="connsiteY31-512" fmla="*/ 3543487 h 3588988"/>
                <a:gd name="connsiteX0-513" fmla="*/ 1016693 w 1404434"/>
                <a:gd name="connsiteY0-514" fmla="*/ 3543487 h 3592198"/>
                <a:gd name="connsiteX1-515" fmla="*/ 591243 w 1404434"/>
                <a:gd name="connsiteY1-516" fmla="*/ 3549837 h 3592198"/>
                <a:gd name="connsiteX2-517" fmla="*/ 394393 w 1404434"/>
                <a:gd name="connsiteY2-518" fmla="*/ 3038662 h 3592198"/>
                <a:gd name="connsiteX3-519" fmla="*/ 746818 w 1404434"/>
                <a:gd name="connsiteY3-520" fmla="*/ 2343337 h 3592198"/>
                <a:gd name="connsiteX4-521" fmla="*/ 560128 w 1404434"/>
                <a:gd name="connsiteY4-522" fmla="*/ 1884232 h 3592198"/>
                <a:gd name="connsiteX5-523" fmla="*/ 58 w 1404434"/>
                <a:gd name="connsiteY5-524" fmla="*/ 1832797 h 3592198"/>
                <a:gd name="connsiteX6-525" fmla="*/ 394393 w 1404434"/>
                <a:gd name="connsiteY6-526" fmla="*/ 1705162 h 3592198"/>
                <a:gd name="connsiteX7-527" fmla="*/ 642043 w 1404434"/>
                <a:gd name="connsiteY7-528" fmla="*/ 1838512 h 3592198"/>
                <a:gd name="connsiteX8-529" fmla="*/ 689668 w 1404434"/>
                <a:gd name="connsiteY8-530" fmla="*/ 1609912 h 3592198"/>
                <a:gd name="connsiteX9-531" fmla="*/ 823018 w 1404434"/>
                <a:gd name="connsiteY9-532" fmla="*/ 1295587 h 3592198"/>
                <a:gd name="connsiteX10-533" fmla="*/ 765868 w 1404434"/>
                <a:gd name="connsiteY10-534" fmla="*/ 771712 h 3592198"/>
                <a:gd name="connsiteX11-535" fmla="*/ 537268 w 1404434"/>
                <a:gd name="connsiteY11-536" fmla="*/ 628837 h 3592198"/>
                <a:gd name="connsiteX12-537" fmla="*/ 689668 w 1404434"/>
                <a:gd name="connsiteY12-538" fmla="*/ 628837 h 3592198"/>
                <a:gd name="connsiteX13-539" fmla="*/ 765868 w 1404434"/>
                <a:gd name="connsiteY13-540" fmla="*/ 714562 h 3592198"/>
                <a:gd name="connsiteX14-541" fmla="*/ 870643 w 1404434"/>
                <a:gd name="connsiteY14-542" fmla="*/ 187 h 3592198"/>
                <a:gd name="connsiteX15-543" fmla="*/ 832543 w 1404434"/>
                <a:gd name="connsiteY15-544" fmla="*/ 647887 h 3592198"/>
                <a:gd name="connsiteX16-545" fmla="*/ 908743 w 1404434"/>
                <a:gd name="connsiteY16-546" fmla="*/ 1038412 h 3592198"/>
                <a:gd name="connsiteX17-547" fmla="*/ 937318 w 1404434"/>
                <a:gd name="connsiteY17-548" fmla="*/ 1286062 h 3592198"/>
                <a:gd name="connsiteX18-549" fmla="*/ 1108768 w 1404434"/>
                <a:gd name="connsiteY18-550" fmla="*/ 1152712 h 3592198"/>
                <a:gd name="connsiteX19-551" fmla="*/ 1337368 w 1404434"/>
                <a:gd name="connsiteY19-552" fmla="*/ 1133662 h 3592198"/>
                <a:gd name="connsiteX20-553" fmla="*/ 1089718 w 1404434"/>
                <a:gd name="connsiteY20-554" fmla="*/ 1190812 h 3592198"/>
                <a:gd name="connsiteX21-555" fmla="*/ 880168 w 1404434"/>
                <a:gd name="connsiteY21-556" fmla="*/ 1495612 h 3592198"/>
                <a:gd name="connsiteX22-557" fmla="*/ 823018 w 1404434"/>
                <a:gd name="connsiteY22-558" fmla="*/ 1857562 h 3592198"/>
                <a:gd name="connsiteX23-559" fmla="*/ 975418 w 1404434"/>
                <a:gd name="connsiteY23-560" fmla="*/ 2314762 h 3592198"/>
                <a:gd name="connsiteX24-561" fmla="*/ 899218 w 1404434"/>
                <a:gd name="connsiteY24-562" fmla="*/ 2552887 h 3592198"/>
                <a:gd name="connsiteX25-563" fmla="*/ 1213543 w 1404434"/>
                <a:gd name="connsiteY25-564" fmla="*/ 2495737 h 3592198"/>
                <a:gd name="connsiteX26-565" fmla="*/ 1404043 w 1404434"/>
                <a:gd name="connsiteY26-566" fmla="*/ 2590987 h 3592198"/>
                <a:gd name="connsiteX27-567" fmla="*/ 1165918 w 1404434"/>
                <a:gd name="connsiteY27-568" fmla="*/ 2533837 h 3592198"/>
                <a:gd name="connsiteX28-569" fmla="*/ 832543 w 1404434"/>
                <a:gd name="connsiteY28-570" fmla="*/ 2695762 h 3592198"/>
                <a:gd name="connsiteX29-571" fmla="*/ 689668 w 1404434"/>
                <a:gd name="connsiteY29-572" fmla="*/ 3048187 h 3592198"/>
                <a:gd name="connsiteX30-573" fmla="*/ 918268 w 1404434"/>
                <a:gd name="connsiteY30-574" fmla="*/ 3381562 h 3592198"/>
                <a:gd name="connsiteX31-575" fmla="*/ 1016693 w 1404434"/>
                <a:gd name="connsiteY31-576" fmla="*/ 3543487 h 3592198"/>
                <a:gd name="connsiteX0-577" fmla="*/ 1016693 w 1404434"/>
                <a:gd name="connsiteY0-578" fmla="*/ 3543487 h 3558296"/>
                <a:gd name="connsiteX1-579" fmla="*/ 591243 w 1404434"/>
                <a:gd name="connsiteY1-580" fmla="*/ 3549837 h 3558296"/>
                <a:gd name="connsiteX2-581" fmla="*/ 394393 w 1404434"/>
                <a:gd name="connsiteY2-582" fmla="*/ 3038662 h 3558296"/>
                <a:gd name="connsiteX3-583" fmla="*/ 746818 w 1404434"/>
                <a:gd name="connsiteY3-584" fmla="*/ 2343337 h 3558296"/>
                <a:gd name="connsiteX4-585" fmla="*/ 560128 w 1404434"/>
                <a:gd name="connsiteY4-586" fmla="*/ 1884232 h 3558296"/>
                <a:gd name="connsiteX5-587" fmla="*/ 58 w 1404434"/>
                <a:gd name="connsiteY5-588" fmla="*/ 1832797 h 3558296"/>
                <a:gd name="connsiteX6-589" fmla="*/ 394393 w 1404434"/>
                <a:gd name="connsiteY6-590" fmla="*/ 1705162 h 3558296"/>
                <a:gd name="connsiteX7-591" fmla="*/ 642043 w 1404434"/>
                <a:gd name="connsiteY7-592" fmla="*/ 1838512 h 3558296"/>
                <a:gd name="connsiteX8-593" fmla="*/ 689668 w 1404434"/>
                <a:gd name="connsiteY8-594" fmla="*/ 1609912 h 3558296"/>
                <a:gd name="connsiteX9-595" fmla="*/ 823018 w 1404434"/>
                <a:gd name="connsiteY9-596" fmla="*/ 1295587 h 3558296"/>
                <a:gd name="connsiteX10-597" fmla="*/ 765868 w 1404434"/>
                <a:gd name="connsiteY10-598" fmla="*/ 771712 h 3558296"/>
                <a:gd name="connsiteX11-599" fmla="*/ 537268 w 1404434"/>
                <a:gd name="connsiteY11-600" fmla="*/ 628837 h 3558296"/>
                <a:gd name="connsiteX12-601" fmla="*/ 689668 w 1404434"/>
                <a:gd name="connsiteY12-602" fmla="*/ 628837 h 3558296"/>
                <a:gd name="connsiteX13-603" fmla="*/ 765868 w 1404434"/>
                <a:gd name="connsiteY13-604" fmla="*/ 714562 h 3558296"/>
                <a:gd name="connsiteX14-605" fmla="*/ 870643 w 1404434"/>
                <a:gd name="connsiteY14-606" fmla="*/ 187 h 3558296"/>
                <a:gd name="connsiteX15-607" fmla="*/ 832543 w 1404434"/>
                <a:gd name="connsiteY15-608" fmla="*/ 647887 h 3558296"/>
                <a:gd name="connsiteX16-609" fmla="*/ 908743 w 1404434"/>
                <a:gd name="connsiteY16-610" fmla="*/ 1038412 h 3558296"/>
                <a:gd name="connsiteX17-611" fmla="*/ 937318 w 1404434"/>
                <a:gd name="connsiteY17-612" fmla="*/ 1286062 h 3558296"/>
                <a:gd name="connsiteX18-613" fmla="*/ 1108768 w 1404434"/>
                <a:gd name="connsiteY18-614" fmla="*/ 1152712 h 3558296"/>
                <a:gd name="connsiteX19-615" fmla="*/ 1337368 w 1404434"/>
                <a:gd name="connsiteY19-616" fmla="*/ 1133662 h 3558296"/>
                <a:gd name="connsiteX20-617" fmla="*/ 1089718 w 1404434"/>
                <a:gd name="connsiteY20-618" fmla="*/ 1190812 h 3558296"/>
                <a:gd name="connsiteX21-619" fmla="*/ 880168 w 1404434"/>
                <a:gd name="connsiteY21-620" fmla="*/ 1495612 h 3558296"/>
                <a:gd name="connsiteX22-621" fmla="*/ 823018 w 1404434"/>
                <a:gd name="connsiteY22-622" fmla="*/ 1857562 h 3558296"/>
                <a:gd name="connsiteX23-623" fmla="*/ 975418 w 1404434"/>
                <a:gd name="connsiteY23-624" fmla="*/ 2314762 h 3558296"/>
                <a:gd name="connsiteX24-625" fmla="*/ 899218 w 1404434"/>
                <a:gd name="connsiteY24-626" fmla="*/ 2552887 h 3558296"/>
                <a:gd name="connsiteX25-627" fmla="*/ 1213543 w 1404434"/>
                <a:gd name="connsiteY25-628" fmla="*/ 2495737 h 3558296"/>
                <a:gd name="connsiteX26-629" fmla="*/ 1404043 w 1404434"/>
                <a:gd name="connsiteY26-630" fmla="*/ 2590987 h 3558296"/>
                <a:gd name="connsiteX27-631" fmla="*/ 1165918 w 1404434"/>
                <a:gd name="connsiteY27-632" fmla="*/ 2533837 h 3558296"/>
                <a:gd name="connsiteX28-633" fmla="*/ 832543 w 1404434"/>
                <a:gd name="connsiteY28-634" fmla="*/ 2695762 h 3558296"/>
                <a:gd name="connsiteX29-635" fmla="*/ 689668 w 1404434"/>
                <a:gd name="connsiteY29-636" fmla="*/ 3048187 h 3558296"/>
                <a:gd name="connsiteX30-637" fmla="*/ 918268 w 1404434"/>
                <a:gd name="connsiteY30-638" fmla="*/ 3381562 h 3558296"/>
                <a:gd name="connsiteX31-639" fmla="*/ 1016693 w 1404434"/>
                <a:gd name="connsiteY31-640" fmla="*/ 3543487 h 3558296"/>
                <a:gd name="connsiteX0-641" fmla="*/ 1016693 w 1404434"/>
                <a:gd name="connsiteY0-642" fmla="*/ 3543487 h 3550128"/>
                <a:gd name="connsiteX1-643" fmla="*/ 591243 w 1404434"/>
                <a:gd name="connsiteY1-644" fmla="*/ 3549837 h 3550128"/>
                <a:gd name="connsiteX2-645" fmla="*/ 394393 w 1404434"/>
                <a:gd name="connsiteY2-646" fmla="*/ 3038662 h 3550128"/>
                <a:gd name="connsiteX3-647" fmla="*/ 746818 w 1404434"/>
                <a:gd name="connsiteY3-648" fmla="*/ 2343337 h 3550128"/>
                <a:gd name="connsiteX4-649" fmla="*/ 560128 w 1404434"/>
                <a:gd name="connsiteY4-650" fmla="*/ 1884232 h 3550128"/>
                <a:gd name="connsiteX5-651" fmla="*/ 58 w 1404434"/>
                <a:gd name="connsiteY5-652" fmla="*/ 1832797 h 3550128"/>
                <a:gd name="connsiteX6-653" fmla="*/ 394393 w 1404434"/>
                <a:gd name="connsiteY6-654" fmla="*/ 1705162 h 3550128"/>
                <a:gd name="connsiteX7-655" fmla="*/ 642043 w 1404434"/>
                <a:gd name="connsiteY7-656" fmla="*/ 1838512 h 3550128"/>
                <a:gd name="connsiteX8-657" fmla="*/ 689668 w 1404434"/>
                <a:gd name="connsiteY8-658" fmla="*/ 1609912 h 3550128"/>
                <a:gd name="connsiteX9-659" fmla="*/ 823018 w 1404434"/>
                <a:gd name="connsiteY9-660" fmla="*/ 1295587 h 3550128"/>
                <a:gd name="connsiteX10-661" fmla="*/ 765868 w 1404434"/>
                <a:gd name="connsiteY10-662" fmla="*/ 771712 h 3550128"/>
                <a:gd name="connsiteX11-663" fmla="*/ 537268 w 1404434"/>
                <a:gd name="connsiteY11-664" fmla="*/ 628837 h 3550128"/>
                <a:gd name="connsiteX12-665" fmla="*/ 689668 w 1404434"/>
                <a:gd name="connsiteY12-666" fmla="*/ 628837 h 3550128"/>
                <a:gd name="connsiteX13-667" fmla="*/ 765868 w 1404434"/>
                <a:gd name="connsiteY13-668" fmla="*/ 714562 h 3550128"/>
                <a:gd name="connsiteX14-669" fmla="*/ 870643 w 1404434"/>
                <a:gd name="connsiteY14-670" fmla="*/ 187 h 3550128"/>
                <a:gd name="connsiteX15-671" fmla="*/ 832543 w 1404434"/>
                <a:gd name="connsiteY15-672" fmla="*/ 647887 h 3550128"/>
                <a:gd name="connsiteX16-673" fmla="*/ 908743 w 1404434"/>
                <a:gd name="connsiteY16-674" fmla="*/ 1038412 h 3550128"/>
                <a:gd name="connsiteX17-675" fmla="*/ 937318 w 1404434"/>
                <a:gd name="connsiteY17-676" fmla="*/ 1286062 h 3550128"/>
                <a:gd name="connsiteX18-677" fmla="*/ 1108768 w 1404434"/>
                <a:gd name="connsiteY18-678" fmla="*/ 1152712 h 3550128"/>
                <a:gd name="connsiteX19-679" fmla="*/ 1337368 w 1404434"/>
                <a:gd name="connsiteY19-680" fmla="*/ 1133662 h 3550128"/>
                <a:gd name="connsiteX20-681" fmla="*/ 1089718 w 1404434"/>
                <a:gd name="connsiteY20-682" fmla="*/ 1190812 h 3550128"/>
                <a:gd name="connsiteX21-683" fmla="*/ 880168 w 1404434"/>
                <a:gd name="connsiteY21-684" fmla="*/ 1495612 h 3550128"/>
                <a:gd name="connsiteX22-685" fmla="*/ 823018 w 1404434"/>
                <a:gd name="connsiteY22-686" fmla="*/ 1857562 h 3550128"/>
                <a:gd name="connsiteX23-687" fmla="*/ 975418 w 1404434"/>
                <a:gd name="connsiteY23-688" fmla="*/ 2314762 h 3550128"/>
                <a:gd name="connsiteX24-689" fmla="*/ 899218 w 1404434"/>
                <a:gd name="connsiteY24-690" fmla="*/ 2552887 h 3550128"/>
                <a:gd name="connsiteX25-691" fmla="*/ 1213543 w 1404434"/>
                <a:gd name="connsiteY25-692" fmla="*/ 2495737 h 3550128"/>
                <a:gd name="connsiteX26-693" fmla="*/ 1404043 w 1404434"/>
                <a:gd name="connsiteY26-694" fmla="*/ 2590987 h 3550128"/>
                <a:gd name="connsiteX27-695" fmla="*/ 1165918 w 1404434"/>
                <a:gd name="connsiteY27-696" fmla="*/ 2533837 h 3550128"/>
                <a:gd name="connsiteX28-697" fmla="*/ 832543 w 1404434"/>
                <a:gd name="connsiteY28-698" fmla="*/ 2695762 h 3550128"/>
                <a:gd name="connsiteX29-699" fmla="*/ 689668 w 1404434"/>
                <a:gd name="connsiteY29-700" fmla="*/ 3048187 h 3550128"/>
                <a:gd name="connsiteX30-701" fmla="*/ 918268 w 1404434"/>
                <a:gd name="connsiteY30-702" fmla="*/ 3381562 h 3550128"/>
                <a:gd name="connsiteX31-703" fmla="*/ 1016693 w 1404434"/>
                <a:gd name="connsiteY31-704" fmla="*/ 3543487 h 3550128"/>
                <a:gd name="connsiteX0-705" fmla="*/ 1016693 w 1404434"/>
                <a:gd name="connsiteY0-706" fmla="*/ 3543487 h 3550128"/>
                <a:gd name="connsiteX1-707" fmla="*/ 591243 w 1404434"/>
                <a:gd name="connsiteY1-708" fmla="*/ 3549837 h 3550128"/>
                <a:gd name="connsiteX2-709" fmla="*/ 394393 w 1404434"/>
                <a:gd name="connsiteY2-710" fmla="*/ 3038662 h 3550128"/>
                <a:gd name="connsiteX3-711" fmla="*/ 746818 w 1404434"/>
                <a:gd name="connsiteY3-712" fmla="*/ 2343337 h 3550128"/>
                <a:gd name="connsiteX4-713" fmla="*/ 560128 w 1404434"/>
                <a:gd name="connsiteY4-714" fmla="*/ 1884232 h 3550128"/>
                <a:gd name="connsiteX5-715" fmla="*/ 58 w 1404434"/>
                <a:gd name="connsiteY5-716" fmla="*/ 1832797 h 3550128"/>
                <a:gd name="connsiteX6-717" fmla="*/ 394393 w 1404434"/>
                <a:gd name="connsiteY6-718" fmla="*/ 1705162 h 3550128"/>
                <a:gd name="connsiteX7-719" fmla="*/ 642043 w 1404434"/>
                <a:gd name="connsiteY7-720" fmla="*/ 1838512 h 3550128"/>
                <a:gd name="connsiteX8-721" fmla="*/ 689668 w 1404434"/>
                <a:gd name="connsiteY8-722" fmla="*/ 1609912 h 3550128"/>
                <a:gd name="connsiteX9-723" fmla="*/ 823018 w 1404434"/>
                <a:gd name="connsiteY9-724" fmla="*/ 1295587 h 3550128"/>
                <a:gd name="connsiteX10-725" fmla="*/ 765868 w 1404434"/>
                <a:gd name="connsiteY10-726" fmla="*/ 771712 h 3550128"/>
                <a:gd name="connsiteX11-727" fmla="*/ 537268 w 1404434"/>
                <a:gd name="connsiteY11-728" fmla="*/ 628837 h 3550128"/>
                <a:gd name="connsiteX12-729" fmla="*/ 689668 w 1404434"/>
                <a:gd name="connsiteY12-730" fmla="*/ 628837 h 3550128"/>
                <a:gd name="connsiteX13-731" fmla="*/ 765868 w 1404434"/>
                <a:gd name="connsiteY13-732" fmla="*/ 714562 h 3550128"/>
                <a:gd name="connsiteX14-733" fmla="*/ 870643 w 1404434"/>
                <a:gd name="connsiteY14-734" fmla="*/ 187 h 3550128"/>
                <a:gd name="connsiteX15-735" fmla="*/ 832543 w 1404434"/>
                <a:gd name="connsiteY15-736" fmla="*/ 647887 h 3550128"/>
                <a:gd name="connsiteX16-737" fmla="*/ 908743 w 1404434"/>
                <a:gd name="connsiteY16-738" fmla="*/ 1038412 h 3550128"/>
                <a:gd name="connsiteX17-739" fmla="*/ 937318 w 1404434"/>
                <a:gd name="connsiteY17-740" fmla="*/ 1286062 h 3550128"/>
                <a:gd name="connsiteX18-741" fmla="*/ 1108768 w 1404434"/>
                <a:gd name="connsiteY18-742" fmla="*/ 1152712 h 3550128"/>
                <a:gd name="connsiteX19-743" fmla="*/ 1337368 w 1404434"/>
                <a:gd name="connsiteY19-744" fmla="*/ 1133662 h 3550128"/>
                <a:gd name="connsiteX20-745" fmla="*/ 1089718 w 1404434"/>
                <a:gd name="connsiteY20-746" fmla="*/ 1190812 h 3550128"/>
                <a:gd name="connsiteX21-747" fmla="*/ 880168 w 1404434"/>
                <a:gd name="connsiteY21-748" fmla="*/ 1495612 h 3550128"/>
                <a:gd name="connsiteX22-749" fmla="*/ 823018 w 1404434"/>
                <a:gd name="connsiteY22-750" fmla="*/ 1857562 h 3550128"/>
                <a:gd name="connsiteX23-751" fmla="*/ 975418 w 1404434"/>
                <a:gd name="connsiteY23-752" fmla="*/ 2314762 h 3550128"/>
                <a:gd name="connsiteX24-753" fmla="*/ 899218 w 1404434"/>
                <a:gd name="connsiteY24-754" fmla="*/ 2552887 h 3550128"/>
                <a:gd name="connsiteX25-755" fmla="*/ 1213543 w 1404434"/>
                <a:gd name="connsiteY25-756" fmla="*/ 2495737 h 3550128"/>
                <a:gd name="connsiteX26-757" fmla="*/ 1404043 w 1404434"/>
                <a:gd name="connsiteY26-758" fmla="*/ 2590987 h 3550128"/>
                <a:gd name="connsiteX27-759" fmla="*/ 1165918 w 1404434"/>
                <a:gd name="connsiteY27-760" fmla="*/ 2533837 h 3550128"/>
                <a:gd name="connsiteX28-761" fmla="*/ 832543 w 1404434"/>
                <a:gd name="connsiteY28-762" fmla="*/ 2695762 h 3550128"/>
                <a:gd name="connsiteX29-763" fmla="*/ 689668 w 1404434"/>
                <a:gd name="connsiteY29-764" fmla="*/ 3048187 h 3550128"/>
                <a:gd name="connsiteX30-765" fmla="*/ 918268 w 1404434"/>
                <a:gd name="connsiteY30-766" fmla="*/ 3381562 h 3550128"/>
                <a:gd name="connsiteX31-767" fmla="*/ 1016693 w 1404434"/>
                <a:gd name="connsiteY31-768" fmla="*/ 3543487 h 3550128"/>
                <a:gd name="connsiteX0-769" fmla="*/ 1016693 w 1404434"/>
                <a:gd name="connsiteY0-770" fmla="*/ 3543487 h 3550128"/>
                <a:gd name="connsiteX1-771" fmla="*/ 591243 w 1404434"/>
                <a:gd name="connsiteY1-772" fmla="*/ 3549837 h 3550128"/>
                <a:gd name="connsiteX2-773" fmla="*/ 394393 w 1404434"/>
                <a:gd name="connsiteY2-774" fmla="*/ 3038662 h 3550128"/>
                <a:gd name="connsiteX3-775" fmla="*/ 746818 w 1404434"/>
                <a:gd name="connsiteY3-776" fmla="*/ 2343337 h 3550128"/>
                <a:gd name="connsiteX4-777" fmla="*/ 560128 w 1404434"/>
                <a:gd name="connsiteY4-778" fmla="*/ 1884232 h 3550128"/>
                <a:gd name="connsiteX5-779" fmla="*/ 58 w 1404434"/>
                <a:gd name="connsiteY5-780" fmla="*/ 1832797 h 3550128"/>
                <a:gd name="connsiteX6-781" fmla="*/ 394393 w 1404434"/>
                <a:gd name="connsiteY6-782" fmla="*/ 1705162 h 3550128"/>
                <a:gd name="connsiteX7-783" fmla="*/ 642043 w 1404434"/>
                <a:gd name="connsiteY7-784" fmla="*/ 1838512 h 3550128"/>
                <a:gd name="connsiteX8-785" fmla="*/ 689668 w 1404434"/>
                <a:gd name="connsiteY8-786" fmla="*/ 1609912 h 3550128"/>
                <a:gd name="connsiteX9-787" fmla="*/ 823018 w 1404434"/>
                <a:gd name="connsiteY9-788" fmla="*/ 1295587 h 3550128"/>
                <a:gd name="connsiteX10-789" fmla="*/ 765868 w 1404434"/>
                <a:gd name="connsiteY10-790" fmla="*/ 771712 h 3550128"/>
                <a:gd name="connsiteX11-791" fmla="*/ 537268 w 1404434"/>
                <a:gd name="connsiteY11-792" fmla="*/ 628837 h 3550128"/>
                <a:gd name="connsiteX12-793" fmla="*/ 689668 w 1404434"/>
                <a:gd name="connsiteY12-794" fmla="*/ 628837 h 3550128"/>
                <a:gd name="connsiteX13-795" fmla="*/ 765868 w 1404434"/>
                <a:gd name="connsiteY13-796" fmla="*/ 714562 h 3550128"/>
                <a:gd name="connsiteX14-797" fmla="*/ 870643 w 1404434"/>
                <a:gd name="connsiteY14-798" fmla="*/ 187 h 3550128"/>
                <a:gd name="connsiteX15-799" fmla="*/ 832543 w 1404434"/>
                <a:gd name="connsiteY15-800" fmla="*/ 647887 h 3550128"/>
                <a:gd name="connsiteX16-801" fmla="*/ 908743 w 1404434"/>
                <a:gd name="connsiteY16-802" fmla="*/ 1038412 h 3550128"/>
                <a:gd name="connsiteX17-803" fmla="*/ 937318 w 1404434"/>
                <a:gd name="connsiteY17-804" fmla="*/ 1286062 h 3550128"/>
                <a:gd name="connsiteX18-805" fmla="*/ 1108768 w 1404434"/>
                <a:gd name="connsiteY18-806" fmla="*/ 1152712 h 3550128"/>
                <a:gd name="connsiteX19-807" fmla="*/ 1337368 w 1404434"/>
                <a:gd name="connsiteY19-808" fmla="*/ 1133662 h 3550128"/>
                <a:gd name="connsiteX20-809" fmla="*/ 1089718 w 1404434"/>
                <a:gd name="connsiteY20-810" fmla="*/ 1190812 h 3550128"/>
                <a:gd name="connsiteX21-811" fmla="*/ 880168 w 1404434"/>
                <a:gd name="connsiteY21-812" fmla="*/ 1495612 h 3550128"/>
                <a:gd name="connsiteX22-813" fmla="*/ 823018 w 1404434"/>
                <a:gd name="connsiteY22-814" fmla="*/ 1857562 h 3550128"/>
                <a:gd name="connsiteX23-815" fmla="*/ 975418 w 1404434"/>
                <a:gd name="connsiteY23-816" fmla="*/ 2314762 h 3550128"/>
                <a:gd name="connsiteX24-817" fmla="*/ 899218 w 1404434"/>
                <a:gd name="connsiteY24-818" fmla="*/ 2552887 h 3550128"/>
                <a:gd name="connsiteX25-819" fmla="*/ 1213543 w 1404434"/>
                <a:gd name="connsiteY25-820" fmla="*/ 2495737 h 3550128"/>
                <a:gd name="connsiteX26-821" fmla="*/ 1404043 w 1404434"/>
                <a:gd name="connsiteY26-822" fmla="*/ 2590987 h 3550128"/>
                <a:gd name="connsiteX27-823" fmla="*/ 1165918 w 1404434"/>
                <a:gd name="connsiteY27-824" fmla="*/ 2533837 h 3550128"/>
                <a:gd name="connsiteX28-825" fmla="*/ 832543 w 1404434"/>
                <a:gd name="connsiteY28-826" fmla="*/ 2695762 h 3550128"/>
                <a:gd name="connsiteX29-827" fmla="*/ 689668 w 1404434"/>
                <a:gd name="connsiteY29-828" fmla="*/ 3048187 h 3550128"/>
                <a:gd name="connsiteX30-829" fmla="*/ 918268 w 1404434"/>
                <a:gd name="connsiteY30-830" fmla="*/ 3381562 h 3550128"/>
                <a:gd name="connsiteX31-831" fmla="*/ 1016693 w 1404434"/>
                <a:gd name="connsiteY31-832" fmla="*/ 3543487 h 3550128"/>
                <a:gd name="connsiteX0-833" fmla="*/ 1016693 w 1404434"/>
                <a:gd name="connsiteY0-834" fmla="*/ 3543487 h 3550128"/>
                <a:gd name="connsiteX1-835" fmla="*/ 591243 w 1404434"/>
                <a:gd name="connsiteY1-836" fmla="*/ 3549837 h 3550128"/>
                <a:gd name="connsiteX2-837" fmla="*/ 394393 w 1404434"/>
                <a:gd name="connsiteY2-838" fmla="*/ 3038662 h 3550128"/>
                <a:gd name="connsiteX3-839" fmla="*/ 746818 w 1404434"/>
                <a:gd name="connsiteY3-840" fmla="*/ 2343337 h 3550128"/>
                <a:gd name="connsiteX4-841" fmla="*/ 560128 w 1404434"/>
                <a:gd name="connsiteY4-842" fmla="*/ 1884232 h 3550128"/>
                <a:gd name="connsiteX5-843" fmla="*/ 58 w 1404434"/>
                <a:gd name="connsiteY5-844" fmla="*/ 1832797 h 3550128"/>
                <a:gd name="connsiteX6-845" fmla="*/ 394393 w 1404434"/>
                <a:gd name="connsiteY6-846" fmla="*/ 1705162 h 3550128"/>
                <a:gd name="connsiteX7-847" fmla="*/ 642043 w 1404434"/>
                <a:gd name="connsiteY7-848" fmla="*/ 1838512 h 3550128"/>
                <a:gd name="connsiteX8-849" fmla="*/ 689668 w 1404434"/>
                <a:gd name="connsiteY8-850" fmla="*/ 1609912 h 3550128"/>
                <a:gd name="connsiteX9-851" fmla="*/ 823018 w 1404434"/>
                <a:gd name="connsiteY9-852" fmla="*/ 1295587 h 3550128"/>
                <a:gd name="connsiteX10-853" fmla="*/ 765868 w 1404434"/>
                <a:gd name="connsiteY10-854" fmla="*/ 771712 h 3550128"/>
                <a:gd name="connsiteX11-855" fmla="*/ 537268 w 1404434"/>
                <a:gd name="connsiteY11-856" fmla="*/ 628837 h 3550128"/>
                <a:gd name="connsiteX12-857" fmla="*/ 689668 w 1404434"/>
                <a:gd name="connsiteY12-858" fmla="*/ 628837 h 3550128"/>
                <a:gd name="connsiteX13-859" fmla="*/ 765868 w 1404434"/>
                <a:gd name="connsiteY13-860" fmla="*/ 714562 h 3550128"/>
                <a:gd name="connsiteX14-861" fmla="*/ 870643 w 1404434"/>
                <a:gd name="connsiteY14-862" fmla="*/ 187 h 3550128"/>
                <a:gd name="connsiteX15-863" fmla="*/ 832543 w 1404434"/>
                <a:gd name="connsiteY15-864" fmla="*/ 647887 h 3550128"/>
                <a:gd name="connsiteX16-865" fmla="*/ 908743 w 1404434"/>
                <a:gd name="connsiteY16-866" fmla="*/ 1038412 h 3550128"/>
                <a:gd name="connsiteX17-867" fmla="*/ 937318 w 1404434"/>
                <a:gd name="connsiteY17-868" fmla="*/ 1286062 h 3550128"/>
                <a:gd name="connsiteX18-869" fmla="*/ 1108768 w 1404434"/>
                <a:gd name="connsiteY18-870" fmla="*/ 1152712 h 3550128"/>
                <a:gd name="connsiteX19-871" fmla="*/ 1337368 w 1404434"/>
                <a:gd name="connsiteY19-872" fmla="*/ 1133662 h 3550128"/>
                <a:gd name="connsiteX20-873" fmla="*/ 1089718 w 1404434"/>
                <a:gd name="connsiteY20-874" fmla="*/ 1190812 h 3550128"/>
                <a:gd name="connsiteX21-875" fmla="*/ 880168 w 1404434"/>
                <a:gd name="connsiteY21-876" fmla="*/ 1495612 h 3550128"/>
                <a:gd name="connsiteX22-877" fmla="*/ 823018 w 1404434"/>
                <a:gd name="connsiteY22-878" fmla="*/ 1857562 h 3550128"/>
                <a:gd name="connsiteX23-879" fmla="*/ 975418 w 1404434"/>
                <a:gd name="connsiteY23-880" fmla="*/ 2314762 h 3550128"/>
                <a:gd name="connsiteX24-881" fmla="*/ 899218 w 1404434"/>
                <a:gd name="connsiteY24-882" fmla="*/ 2552887 h 3550128"/>
                <a:gd name="connsiteX25-883" fmla="*/ 1213543 w 1404434"/>
                <a:gd name="connsiteY25-884" fmla="*/ 2495737 h 3550128"/>
                <a:gd name="connsiteX26-885" fmla="*/ 1404043 w 1404434"/>
                <a:gd name="connsiteY26-886" fmla="*/ 2590987 h 3550128"/>
                <a:gd name="connsiteX27-887" fmla="*/ 1165918 w 1404434"/>
                <a:gd name="connsiteY27-888" fmla="*/ 2533837 h 3550128"/>
                <a:gd name="connsiteX28-889" fmla="*/ 832543 w 1404434"/>
                <a:gd name="connsiteY28-890" fmla="*/ 2695762 h 3550128"/>
                <a:gd name="connsiteX29-891" fmla="*/ 689668 w 1404434"/>
                <a:gd name="connsiteY29-892" fmla="*/ 3048187 h 3550128"/>
                <a:gd name="connsiteX30-893" fmla="*/ 918268 w 1404434"/>
                <a:gd name="connsiteY30-894" fmla="*/ 3381562 h 3550128"/>
                <a:gd name="connsiteX31-895" fmla="*/ 1016693 w 1404434"/>
                <a:gd name="connsiteY31-896" fmla="*/ 3543487 h 3550128"/>
                <a:gd name="connsiteX0-897" fmla="*/ 1016693 w 1404434"/>
                <a:gd name="connsiteY0-898" fmla="*/ 3543487 h 3550128"/>
                <a:gd name="connsiteX1-899" fmla="*/ 591243 w 1404434"/>
                <a:gd name="connsiteY1-900" fmla="*/ 3549837 h 3550128"/>
                <a:gd name="connsiteX2-901" fmla="*/ 394393 w 1404434"/>
                <a:gd name="connsiteY2-902" fmla="*/ 3038662 h 3550128"/>
                <a:gd name="connsiteX3-903" fmla="*/ 746818 w 1404434"/>
                <a:gd name="connsiteY3-904" fmla="*/ 2343337 h 3550128"/>
                <a:gd name="connsiteX4-905" fmla="*/ 560128 w 1404434"/>
                <a:gd name="connsiteY4-906" fmla="*/ 1884232 h 3550128"/>
                <a:gd name="connsiteX5-907" fmla="*/ 58 w 1404434"/>
                <a:gd name="connsiteY5-908" fmla="*/ 1832797 h 3550128"/>
                <a:gd name="connsiteX6-909" fmla="*/ 394393 w 1404434"/>
                <a:gd name="connsiteY6-910" fmla="*/ 1705162 h 3550128"/>
                <a:gd name="connsiteX7-911" fmla="*/ 642043 w 1404434"/>
                <a:gd name="connsiteY7-912" fmla="*/ 1838512 h 3550128"/>
                <a:gd name="connsiteX8-913" fmla="*/ 689668 w 1404434"/>
                <a:gd name="connsiteY8-914" fmla="*/ 1609912 h 3550128"/>
                <a:gd name="connsiteX9-915" fmla="*/ 823018 w 1404434"/>
                <a:gd name="connsiteY9-916" fmla="*/ 1295587 h 3550128"/>
                <a:gd name="connsiteX10-917" fmla="*/ 765868 w 1404434"/>
                <a:gd name="connsiteY10-918" fmla="*/ 771712 h 3550128"/>
                <a:gd name="connsiteX11-919" fmla="*/ 537268 w 1404434"/>
                <a:gd name="connsiteY11-920" fmla="*/ 628837 h 3550128"/>
                <a:gd name="connsiteX12-921" fmla="*/ 689668 w 1404434"/>
                <a:gd name="connsiteY12-922" fmla="*/ 628837 h 3550128"/>
                <a:gd name="connsiteX13-923" fmla="*/ 765868 w 1404434"/>
                <a:gd name="connsiteY13-924" fmla="*/ 714562 h 3550128"/>
                <a:gd name="connsiteX14-925" fmla="*/ 870643 w 1404434"/>
                <a:gd name="connsiteY14-926" fmla="*/ 187 h 3550128"/>
                <a:gd name="connsiteX15-927" fmla="*/ 832543 w 1404434"/>
                <a:gd name="connsiteY15-928" fmla="*/ 647887 h 3550128"/>
                <a:gd name="connsiteX16-929" fmla="*/ 908743 w 1404434"/>
                <a:gd name="connsiteY16-930" fmla="*/ 1038412 h 3550128"/>
                <a:gd name="connsiteX17-931" fmla="*/ 937318 w 1404434"/>
                <a:gd name="connsiteY17-932" fmla="*/ 1286062 h 3550128"/>
                <a:gd name="connsiteX18-933" fmla="*/ 1108768 w 1404434"/>
                <a:gd name="connsiteY18-934" fmla="*/ 1152712 h 3550128"/>
                <a:gd name="connsiteX19-935" fmla="*/ 1337368 w 1404434"/>
                <a:gd name="connsiteY19-936" fmla="*/ 1133662 h 3550128"/>
                <a:gd name="connsiteX20-937" fmla="*/ 1089718 w 1404434"/>
                <a:gd name="connsiteY20-938" fmla="*/ 1190812 h 3550128"/>
                <a:gd name="connsiteX21-939" fmla="*/ 880168 w 1404434"/>
                <a:gd name="connsiteY21-940" fmla="*/ 1495612 h 3550128"/>
                <a:gd name="connsiteX22-941" fmla="*/ 823018 w 1404434"/>
                <a:gd name="connsiteY22-942" fmla="*/ 1857562 h 3550128"/>
                <a:gd name="connsiteX23-943" fmla="*/ 975418 w 1404434"/>
                <a:gd name="connsiteY23-944" fmla="*/ 2314762 h 3550128"/>
                <a:gd name="connsiteX24-945" fmla="*/ 899218 w 1404434"/>
                <a:gd name="connsiteY24-946" fmla="*/ 2552887 h 3550128"/>
                <a:gd name="connsiteX25-947" fmla="*/ 1213543 w 1404434"/>
                <a:gd name="connsiteY25-948" fmla="*/ 2495737 h 3550128"/>
                <a:gd name="connsiteX26-949" fmla="*/ 1404043 w 1404434"/>
                <a:gd name="connsiteY26-950" fmla="*/ 2590987 h 3550128"/>
                <a:gd name="connsiteX27-951" fmla="*/ 1165918 w 1404434"/>
                <a:gd name="connsiteY27-952" fmla="*/ 2533837 h 3550128"/>
                <a:gd name="connsiteX28-953" fmla="*/ 832543 w 1404434"/>
                <a:gd name="connsiteY28-954" fmla="*/ 2695762 h 3550128"/>
                <a:gd name="connsiteX29-955" fmla="*/ 689668 w 1404434"/>
                <a:gd name="connsiteY29-956" fmla="*/ 3048187 h 3550128"/>
                <a:gd name="connsiteX30-957" fmla="*/ 918268 w 1404434"/>
                <a:gd name="connsiteY30-958" fmla="*/ 3381562 h 3550128"/>
                <a:gd name="connsiteX31-959" fmla="*/ 1016693 w 1404434"/>
                <a:gd name="connsiteY31-960" fmla="*/ 3543487 h 3550128"/>
                <a:gd name="connsiteX0-961" fmla="*/ 1016693 w 1404434"/>
                <a:gd name="connsiteY0-962" fmla="*/ 3543487 h 3550128"/>
                <a:gd name="connsiteX1-963" fmla="*/ 591243 w 1404434"/>
                <a:gd name="connsiteY1-964" fmla="*/ 3549837 h 3550128"/>
                <a:gd name="connsiteX2-965" fmla="*/ 394393 w 1404434"/>
                <a:gd name="connsiteY2-966" fmla="*/ 3038662 h 3550128"/>
                <a:gd name="connsiteX3-967" fmla="*/ 746818 w 1404434"/>
                <a:gd name="connsiteY3-968" fmla="*/ 2343337 h 3550128"/>
                <a:gd name="connsiteX4-969" fmla="*/ 560128 w 1404434"/>
                <a:gd name="connsiteY4-970" fmla="*/ 1884232 h 3550128"/>
                <a:gd name="connsiteX5-971" fmla="*/ 58 w 1404434"/>
                <a:gd name="connsiteY5-972" fmla="*/ 1832797 h 3550128"/>
                <a:gd name="connsiteX6-973" fmla="*/ 394393 w 1404434"/>
                <a:gd name="connsiteY6-974" fmla="*/ 1705162 h 3550128"/>
                <a:gd name="connsiteX7-975" fmla="*/ 642043 w 1404434"/>
                <a:gd name="connsiteY7-976" fmla="*/ 1838512 h 3550128"/>
                <a:gd name="connsiteX8-977" fmla="*/ 689668 w 1404434"/>
                <a:gd name="connsiteY8-978" fmla="*/ 1609912 h 3550128"/>
                <a:gd name="connsiteX9-979" fmla="*/ 823018 w 1404434"/>
                <a:gd name="connsiteY9-980" fmla="*/ 1295587 h 3550128"/>
                <a:gd name="connsiteX10-981" fmla="*/ 765868 w 1404434"/>
                <a:gd name="connsiteY10-982" fmla="*/ 771712 h 3550128"/>
                <a:gd name="connsiteX11-983" fmla="*/ 537268 w 1404434"/>
                <a:gd name="connsiteY11-984" fmla="*/ 628837 h 3550128"/>
                <a:gd name="connsiteX12-985" fmla="*/ 689668 w 1404434"/>
                <a:gd name="connsiteY12-986" fmla="*/ 628837 h 3550128"/>
                <a:gd name="connsiteX13-987" fmla="*/ 765868 w 1404434"/>
                <a:gd name="connsiteY13-988" fmla="*/ 714562 h 3550128"/>
                <a:gd name="connsiteX14-989" fmla="*/ 870643 w 1404434"/>
                <a:gd name="connsiteY14-990" fmla="*/ 187 h 3550128"/>
                <a:gd name="connsiteX15-991" fmla="*/ 832543 w 1404434"/>
                <a:gd name="connsiteY15-992" fmla="*/ 647887 h 3550128"/>
                <a:gd name="connsiteX16-993" fmla="*/ 908743 w 1404434"/>
                <a:gd name="connsiteY16-994" fmla="*/ 1038412 h 3550128"/>
                <a:gd name="connsiteX17-995" fmla="*/ 937318 w 1404434"/>
                <a:gd name="connsiteY17-996" fmla="*/ 1286062 h 3550128"/>
                <a:gd name="connsiteX18-997" fmla="*/ 1108768 w 1404434"/>
                <a:gd name="connsiteY18-998" fmla="*/ 1152712 h 3550128"/>
                <a:gd name="connsiteX19-999" fmla="*/ 1337368 w 1404434"/>
                <a:gd name="connsiteY19-1000" fmla="*/ 1133662 h 3550128"/>
                <a:gd name="connsiteX20-1001" fmla="*/ 1089718 w 1404434"/>
                <a:gd name="connsiteY20-1002" fmla="*/ 1190812 h 3550128"/>
                <a:gd name="connsiteX21-1003" fmla="*/ 880168 w 1404434"/>
                <a:gd name="connsiteY21-1004" fmla="*/ 1495612 h 3550128"/>
                <a:gd name="connsiteX22-1005" fmla="*/ 823018 w 1404434"/>
                <a:gd name="connsiteY22-1006" fmla="*/ 1857562 h 3550128"/>
                <a:gd name="connsiteX23-1007" fmla="*/ 975418 w 1404434"/>
                <a:gd name="connsiteY23-1008" fmla="*/ 2314762 h 3550128"/>
                <a:gd name="connsiteX24-1009" fmla="*/ 899218 w 1404434"/>
                <a:gd name="connsiteY24-1010" fmla="*/ 2552887 h 3550128"/>
                <a:gd name="connsiteX25-1011" fmla="*/ 1213543 w 1404434"/>
                <a:gd name="connsiteY25-1012" fmla="*/ 2495737 h 3550128"/>
                <a:gd name="connsiteX26-1013" fmla="*/ 1404043 w 1404434"/>
                <a:gd name="connsiteY26-1014" fmla="*/ 2590987 h 3550128"/>
                <a:gd name="connsiteX27-1015" fmla="*/ 1165918 w 1404434"/>
                <a:gd name="connsiteY27-1016" fmla="*/ 2533837 h 3550128"/>
                <a:gd name="connsiteX28-1017" fmla="*/ 832543 w 1404434"/>
                <a:gd name="connsiteY28-1018" fmla="*/ 2695762 h 3550128"/>
                <a:gd name="connsiteX29-1019" fmla="*/ 689668 w 1404434"/>
                <a:gd name="connsiteY29-1020" fmla="*/ 3048187 h 3550128"/>
                <a:gd name="connsiteX30-1021" fmla="*/ 918268 w 1404434"/>
                <a:gd name="connsiteY30-1022" fmla="*/ 3381562 h 3550128"/>
                <a:gd name="connsiteX31-1023" fmla="*/ 1016693 w 1404434"/>
                <a:gd name="connsiteY31-1024" fmla="*/ 3543487 h 3550128"/>
                <a:gd name="connsiteX0-1025" fmla="*/ 1016693 w 1404434"/>
                <a:gd name="connsiteY0-1026" fmla="*/ 3543487 h 3550128"/>
                <a:gd name="connsiteX1-1027" fmla="*/ 591243 w 1404434"/>
                <a:gd name="connsiteY1-1028" fmla="*/ 3549837 h 3550128"/>
                <a:gd name="connsiteX2-1029" fmla="*/ 394393 w 1404434"/>
                <a:gd name="connsiteY2-1030" fmla="*/ 3038662 h 3550128"/>
                <a:gd name="connsiteX3-1031" fmla="*/ 746818 w 1404434"/>
                <a:gd name="connsiteY3-1032" fmla="*/ 2343337 h 3550128"/>
                <a:gd name="connsiteX4-1033" fmla="*/ 560128 w 1404434"/>
                <a:gd name="connsiteY4-1034" fmla="*/ 1884232 h 3550128"/>
                <a:gd name="connsiteX5-1035" fmla="*/ 58 w 1404434"/>
                <a:gd name="connsiteY5-1036" fmla="*/ 1832797 h 3550128"/>
                <a:gd name="connsiteX6-1037" fmla="*/ 394393 w 1404434"/>
                <a:gd name="connsiteY6-1038" fmla="*/ 1705162 h 3550128"/>
                <a:gd name="connsiteX7-1039" fmla="*/ 642043 w 1404434"/>
                <a:gd name="connsiteY7-1040" fmla="*/ 1838512 h 3550128"/>
                <a:gd name="connsiteX8-1041" fmla="*/ 689668 w 1404434"/>
                <a:gd name="connsiteY8-1042" fmla="*/ 1609912 h 3550128"/>
                <a:gd name="connsiteX9-1043" fmla="*/ 823018 w 1404434"/>
                <a:gd name="connsiteY9-1044" fmla="*/ 1295587 h 3550128"/>
                <a:gd name="connsiteX10-1045" fmla="*/ 765868 w 1404434"/>
                <a:gd name="connsiteY10-1046" fmla="*/ 771712 h 3550128"/>
                <a:gd name="connsiteX11-1047" fmla="*/ 537268 w 1404434"/>
                <a:gd name="connsiteY11-1048" fmla="*/ 628837 h 3550128"/>
                <a:gd name="connsiteX12-1049" fmla="*/ 689668 w 1404434"/>
                <a:gd name="connsiteY12-1050" fmla="*/ 628837 h 3550128"/>
                <a:gd name="connsiteX13-1051" fmla="*/ 765868 w 1404434"/>
                <a:gd name="connsiteY13-1052" fmla="*/ 714562 h 3550128"/>
                <a:gd name="connsiteX14-1053" fmla="*/ 870643 w 1404434"/>
                <a:gd name="connsiteY14-1054" fmla="*/ 187 h 3550128"/>
                <a:gd name="connsiteX15-1055" fmla="*/ 832543 w 1404434"/>
                <a:gd name="connsiteY15-1056" fmla="*/ 647887 h 3550128"/>
                <a:gd name="connsiteX16-1057" fmla="*/ 908743 w 1404434"/>
                <a:gd name="connsiteY16-1058" fmla="*/ 1038412 h 3550128"/>
                <a:gd name="connsiteX17-1059" fmla="*/ 937318 w 1404434"/>
                <a:gd name="connsiteY17-1060" fmla="*/ 1286062 h 3550128"/>
                <a:gd name="connsiteX18-1061" fmla="*/ 1108768 w 1404434"/>
                <a:gd name="connsiteY18-1062" fmla="*/ 1152712 h 3550128"/>
                <a:gd name="connsiteX19-1063" fmla="*/ 1337368 w 1404434"/>
                <a:gd name="connsiteY19-1064" fmla="*/ 1133662 h 3550128"/>
                <a:gd name="connsiteX20-1065" fmla="*/ 1089718 w 1404434"/>
                <a:gd name="connsiteY20-1066" fmla="*/ 1190812 h 3550128"/>
                <a:gd name="connsiteX21-1067" fmla="*/ 880168 w 1404434"/>
                <a:gd name="connsiteY21-1068" fmla="*/ 1495612 h 3550128"/>
                <a:gd name="connsiteX22-1069" fmla="*/ 823018 w 1404434"/>
                <a:gd name="connsiteY22-1070" fmla="*/ 1857562 h 3550128"/>
                <a:gd name="connsiteX23-1071" fmla="*/ 975418 w 1404434"/>
                <a:gd name="connsiteY23-1072" fmla="*/ 2314762 h 3550128"/>
                <a:gd name="connsiteX24-1073" fmla="*/ 899218 w 1404434"/>
                <a:gd name="connsiteY24-1074" fmla="*/ 2552887 h 3550128"/>
                <a:gd name="connsiteX25-1075" fmla="*/ 1213543 w 1404434"/>
                <a:gd name="connsiteY25-1076" fmla="*/ 2495737 h 3550128"/>
                <a:gd name="connsiteX26-1077" fmla="*/ 1404043 w 1404434"/>
                <a:gd name="connsiteY26-1078" fmla="*/ 2590987 h 3550128"/>
                <a:gd name="connsiteX27-1079" fmla="*/ 1165918 w 1404434"/>
                <a:gd name="connsiteY27-1080" fmla="*/ 2533837 h 3550128"/>
                <a:gd name="connsiteX28-1081" fmla="*/ 832543 w 1404434"/>
                <a:gd name="connsiteY28-1082" fmla="*/ 2695762 h 3550128"/>
                <a:gd name="connsiteX29-1083" fmla="*/ 689668 w 1404434"/>
                <a:gd name="connsiteY29-1084" fmla="*/ 3048187 h 3550128"/>
                <a:gd name="connsiteX30-1085" fmla="*/ 918268 w 1404434"/>
                <a:gd name="connsiteY30-1086" fmla="*/ 3381562 h 3550128"/>
                <a:gd name="connsiteX31-1087" fmla="*/ 1016693 w 1404434"/>
                <a:gd name="connsiteY31-1088" fmla="*/ 3543487 h 3550128"/>
                <a:gd name="connsiteX0-1089" fmla="*/ 1016693 w 1404434"/>
                <a:gd name="connsiteY0-1090" fmla="*/ 3543487 h 3550128"/>
                <a:gd name="connsiteX1-1091" fmla="*/ 591243 w 1404434"/>
                <a:gd name="connsiteY1-1092" fmla="*/ 3549837 h 3550128"/>
                <a:gd name="connsiteX2-1093" fmla="*/ 394393 w 1404434"/>
                <a:gd name="connsiteY2-1094" fmla="*/ 3038662 h 3550128"/>
                <a:gd name="connsiteX3-1095" fmla="*/ 746818 w 1404434"/>
                <a:gd name="connsiteY3-1096" fmla="*/ 2343337 h 3550128"/>
                <a:gd name="connsiteX4-1097" fmla="*/ 560128 w 1404434"/>
                <a:gd name="connsiteY4-1098" fmla="*/ 1884232 h 3550128"/>
                <a:gd name="connsiteX5-1099" fmla="*/ 58 w 1404434"/>
                <a:gd name="connsiteY5-1100" fmla="*/ 1832797 h 3550128"/>
                <a:gd name="connsiteX6-1101" fmla="*/ 394393 w 1404434"/>
                <a:gd name="connsiteY6-1102" fmla="*/ 1705162 h 3550128"/>
                <a:gd name="connsiteX7-1103" fmla="*/ 642043 w 1404434"/>
                <a:gd name="connsiteY7-1104" fmla="*/ 1838512 h 3550128"/>
                <a:gd name="connsiteX8-1105" fmla="*/ 689668 w 1404434"/>
                <a:gd name="connsiteY8-1106" fmla="*/ 1609912 h 3550128"/>
                <a:gd name="connsiteX9-1107" fmla="*/ 823018 w 1404434"/>
                <a:gd name="connsiteY9-1108" fmla="*/ 1295587 h 3550128"/>
                <a:gd name="connsiteX10-1109" fmla="*/ 765868 w 1404434"/>
                <a:gd name="connsiteY10-1110" fmla="*/ 771712 h 3550128"/>
                <a:gd name="connsiteX11-1111" fmla="*/ 537268 w 1404434"/>
                <a:gd name="connsiteY11-1112" fmla="*/ 628837 h 3550128"/>
                <a:gd name="connsiteX12-1113" fmla="*/ 689668 w 1404434"/>
                <a:gd name="connsiteY12-1114" fmla="*/ 628837 h 3550128"/>
                <a:gd name="connsiteX13-1115" fmla="*/ 765868 w 1404434"/>
                <a:gd name="connsiteY13-1116" fmla="*/ 714562 h 3550128"/>
                <a:gd name="connsiteX14-1117" fmla="*/ 870643 w 1404434"/>
                <a:gd name="connsiteY14-1118" fmla="*/ 187 h 3550128"/>
                <a:gd name="connsiteX15-1119" fmla="*/ 832543 w 1404434"/>
                <a:gd name="connsiteY15-1120" fmla="*/ 647887 h 3550128"/>
                <a:gd name="connsiteX16-1121" fmla="*/ 908743 w 1404434"/>
                <a:gd name="connsiteY16-1122" fmla="*/ 1038412 h 3550128"/>
                <a:gd name="connsiteX17-1123" fmla="*/ 937318 w 1404434"/>
                <a:gd name="connsiteY17-1124" fmla="*/ 1286062 h 3550128"/>
                <a:gd name="connsiteX18-1125" fmla="*/ 1108768 w 1404434"/>
                <a:gd name="connsiteY18-1126" fmla="*/ 1152712 h 3550128"/>
                <a:gd name="connsiteX19-1127" fmla="*/ 1337368 w 1404434"/>
                <a:gd name="connsiteY19-1128" fmla="*/ 1133662 h 3550128"/>
                <a:gd name="connsiteX20-1129" fmla="*/ 1089718 w 1404434"/>
                <a:gd name="connsiteY20-1130" fmla="*/ 1190812 h 3550128"/>
                <a:gd name="connsiteX21-1131" fmla="*/ 880168 w 1404434"/>
                <a:gd name="connsiteY21-1132" fmla="*/ 1495612 h 3550128"/>
                <a:gd name="connsiteX22-1133" fmla="*/ 823018 w 1404434"/>
                <a:gd name="connsiteY22-1134" fmla="*/ 1857562 h 3550128"/>
                <a:gd name="connsiteX23-1135" fmla="*/ 975418 w 1404434"/>
                <a:gd name="connsiteY23-1136" fmla="*/ 2314762 h 3550128"/>
                <a:gd name="connsiteX24-1137" fmla="*/ 899218 w 1404434"/>
                <a:gd name="connsiteY24-1138" fmla="*/ 2552887 h 3550128"/>
                <a:gd name="connsiteX25-1139" fmla="*/ 1213543 w 1404434"/>
                <a:gd name="connsiteY25-1140" fmla="*/ 2495737 h 3550128"/>
                <a:gd name="connsiteX26-1141" fmla="*/ 1404043 w 1404434"/>
                <a:gd name="connsiteY26-1142" fmla="*/ 2590987 h 3550128"/>
                <a:gd name="connsiteX27-1143" fmla="*/ 1165918 w 1404434"/>
                <a:gd name="connsiteY27-1144" fmla="*/ 2533837 h 3550128"/>
                <a:gd name="connsiteX28-1145" fmla="*/ 832543 w 1404434"/>
                <a:gd name="connsiteY28-1146" fmla="*/ 2695762 h 3550128"/>
                <a:gd name="connsiteX29-1147" fmla="*/ 689668 w 1404434"/>
                <a:gd name="connsiteY29-1148" fmla="*/ 3048187 h 3550128"/>
                <a:gd name="connsiteX30-1149" fmla="*/ 918268 w 1404434"/>
                <a:gd name="connsiteY30-1150" fmla="*/ 3381562 h 3550128"/>
                <a:gd name="connsiteX31-1151" fmla="*/ 1016693 w 1404434"/>
                <a:gd name="connsiteY31-1152" fmla="*/ 3543487 h 3550128"/>
                <a:gd name="connsiteX0-1153" fmla="*/ 1016693 w 1404434"/>
                <a:gd name="connsiteY0-1154" fmla="*/ 3543487 h 3550128"/>
                <a:gd name="connsiteX1-1155" fmla="*/ 591243 w 1404434"/>
                <a:gd name="connsiteY1-1156" fmla="*/ 3549837 h 3550128"/>
                <a:gd name="connsiteX2-1157" fmla="*/ 394393 w 1404434"/>
                <a:gd name="connsiteY2-1158" fmla="*/ 3038662 h 3550128"/>
                <a:gd name="connsiteX3-1159" fmla="*/ 746818 w 1404434"/>
                <a:gd name="connsiteY3-1160" fmla="*/ 2343337 h 3550128"/>
                <a:gd name="connsiteX4-1161" fmla="*/ 560128 w 1404434"/>
                <a:gd name="connsiteY4-1162" fmla="*/ 1884232 h 3550128"/>
                <a:gd name="connsiteX5-1163" fmla="*/ 58 w 1404434"/>
                <a:gd name="connsiteY5-1164" fmla="*/ 1832797 h 3550128"/>
                <a:gd name="connsiteX6-1165" fmla="*/ 394393 w 1404434"/>
                <a:gd name="connsiteY6-1166" fmla="*/ 1705162 h 3550128"/>
                <a:gd name="connsiteX7-1167" fmla="*/ 642043 w 1404434"/>
                <a:gd name="connsiteY7-1168" fmla="*/ 1838512 h 3550128"/>
                <a:gd name="connsiteX8-1169" fmla="*/ 689668 w 1404434"/>
                <a:gd name="connsiteY8-1170" fmla="*/ 1609912 h 3550128"/>
                <a:gd name="connsiteX9-1171" fmla="*/ 823018 w 1404434"/>
                <a:gd name="connsiteY9-1172" fmla="*/ 1295587 h 3550128"/>
                <a:gd name="connsiteX10-1173" fmla="*/ 765868 w 1404434"/>
                <a:gd name="connsiteY10-1174" fmla="*/ 771712 h 3550128"/>
                <a:gd name="connsiteX11-1175" fmla="*/ 537268 w 1404434"/>
                <a:gd name="connsiteY11-1176" fmla="*/ 628837 h 3550128"/>
                <a:gd name="connsiteX12-1177" fmla="*/ 689668 w 1404434"/>
                <a:gd name="connsiteY12-1178" fmla="*/ 628837 h 3550128"/>
                <a:gd name="connsiteX13-1179" fmla="*/ 765868 w 1404434"/>
                <a:gd name="connsiteY13-1180" fmla="*/ 714562 h 3550128"/>
                <a:gd name="connsiteX14-1181" fmla="*/ 870643 w 1404434"/>
                <a:gd name="connsiteY14-1182" fmla="*/ 187 h 3550128"/>
                <a:gd name="connsiteX15-1183" fmla="*/ 832543 w 1404434"/>
                <a:gd name="connsiteY15-1184" fmla="*/ 647887 h 3550128"/>
                <a:gd name="connsiteX16-1185" fmla="*/ 908743 w 1404434"/>
                <a:gd name="connsiteY16-1186" fmla="*/ 1038412 h 3550128"/>
                <a:gd name="connsiteX17-1187" fmla="*/ 937318 w 1404434"/>
                <a:gd name="connsiteY17-1188" fmla="*/ 1286062 h 3550128"/>
                <a:gd name="connsiteX18-1189" fmla="*/ 1108768 w 1404434"/>
                <a:gd name="connsiteY18-1190" fmla="*/ 1152712 h 3550128"/>
                <a:gd name="connsiteX19-1191" fmla="*/ 1337368 w 1404434"/>
                <a:gd name="connsiteY19-1192" fmla="*/ 1133662 h 3550128"/>
                <a:gd name="connsiteX20-1193" fmla="*/ 1089718 w 1404434"/>
                <a:gd name="connsiteY20-1194" fmla="*/ 1190812 h 3550128"/>
                <a:gd name="connsiteX21-1195" fmla="*/ 880168 w 1404434"/>
                <a:gd name="connsiteY21-1196" fmla="*/ 1495612 h 3550128"/>
                <a:gd name="connsiteX22-1197" fmla="*/ 823018 w 1404434"/>
                <a:gd name="connsiteY22-1198" fmla="*/ 1857562 h 3550128"/>
                <a:gd name="connsiteX23-1199" fmla="*/ 975418 w 1404434"/>
                <a:gd name="connsiteY23-1200" fmla="*/ 2314762 h 3550128"/>
                <a:gd name="connsiteX24-1201" fmla="*/ 899218 w 1404434"/>
                <a:gd name="connsiteY24-1202" fmla="*/ 2552887 h 3550128"/>
                <a:gd name="connsiteX25-1203" fmla="*/ 1213543 w 1404434"/>
                <a:gd name="connsiteY25-1204" fmla="*/ 2495737 h 3550128"/>
                <a:gd name="connsiteX26-1205" fmla="*/ 1404043 w 1404434"/>
                <a:gd name="connsiteY26-1206" fmla="*/ 2590987 h 3550128"/>
                <a:gd name="connsiteX27-1207" fmla="*/ 1165918 w 1404434"/>
                <a:gd name="connsiteY27-1208" fmla="*/ 2533837 h 3550128"/>
                <a:gd name="connsiteX28-1209" fmla="*/ 832543 w 1404434"/>
                <a:gd name="connsiteY28-1210" fmla="*/ 2695762 h 3550128"/>
                <a:gd name="connsiteX29-1211" fmla="*/ 689668 w 1404434"/>
                <a:gd name="connsiteY29-1212" fmla="*/ 3048187 h 3550128"/>
                <a:gd name="connsiteX30-1213" fmla="*/ 918268 w 1404434"/>
                <a:gd name="connsiteY30-1214" fmla="*/ 3381562 h 3550128"/>
                <a:gd name="connsiteX31-1215" fmla="*/ 1016693 w 1404434"/>
                <a:gd name="connsiteY31-1216" fmla="*/ 3543487 h 3550128"/>
                <a:gd name="connsiteX0-1217" fmla="*/ 1016693 w 1404434"/>
                <a:gd name="connsiteY0-1218" fmla="*/ 3543487 h 3550128"/>
                <a:gd name="connsiteX1-1219" fmla="*/ 591243 w 1404434"/>
                <a:gd name="connsiteY1-1220" fmla="*/ 3549837 h 3550128"/>
                <a:gd name="connsiteX2-1221" fmla="*/ 394393 w 1404434"/>
                <a:gd name="connsiteY2-1222" fmla="*/ 3038662 h 3550128"/>
                <a:gd name="connsiteX3-1223" fmla="*/ 746818 w 1404434"/>
                <a:gd name="connsiteY3-1224" fmla="*/ 2343337 h 3550128"/>
                <a:gd name="connsiteX4-1225" fmla="*/ 560128 w 1404434"/>
                <a:gd name="connsiteY4-1226" fmla="*/ 1884232 h 3550128"/>
                <a:gd name="connsiteX5-1227" fmla="*/ 58 w 1404434"/>
                <a:gd name="connsiteY5-1228" fmla="*/ 1832797 h 3550128"/>
                <a:gd name="connsiteX6-1229" fmla="*/ 394393 w 1404434"/>
                <a:gd name="connsiteY6-1230" fmla="*/ 1705162 h 3550128"/>
                <a:gd name="connsiteX7-1231" fmla="*/ 642043 w 1404434"/>
                <a:gd name="connsiteY7-1232" fmla="*/ 1838512 h 3550128"/>
                <a:gd name="connsiteX8-1233" fmla="*/ 689668 w 1404434"/>
                <a:gd name="connsiteY8-1234" fmla="*/ 1609912 h 3550128"/>
                <a:gd name="connsiteX9-1235" fmla="*/ 823018 w 1404434"/>
                <a:gd name="connsiteY9-1236" fmla="*/ 1295587 h 3550128"/>
                <a:gd name="connsiteX10-1237" fmla="*/ 765868 w 1404434"/>
                <a:gd name="connsiteY10-1238" fmla="*/ 771712 h 3550128"/>
                <a:gd name="connsiteX11-1239" fmla="*/ 537268 w 1404434"/>
                <a:gd name="connsiteY11-1240" fmla="*/ 628837 h 3550128"/>
                <a:gd name="connsiteX12-1241" fmla="*/ 689668 w 1404434"/>
                <a:gd name="connsiteY12-1242" fmla="*/ 628837 h 3550128"/>
                <a:gd name="connsiteX13-1243" fmla="*/ 765868 w 1404434"/>
                <a:gd name="connsiteY13-1244" fmla="*/ 714562 h 3550128"/>
                <a:gd name="connsiteX14-1245" fmla="*/ 870643 w 1404434"/>
                <a:gd name="connsiteY14-1246" fmla="*/ 187 h 3550128"/>
                <a:gd name="connsiteX15-1247" fmla="*/ 832543 w 1404434"/>
                <a:gd name="connsiteY15-1248" fmla="*/ 647887 h 3550128"/>
                <a:gd name="connsiteX16-1249" fmla="*/ 908743 w 1404434"/>
                <a:gd name="connsiteY16-1250" fmla="*/ 1038412 h 3550128"/>
                <a:gd name="connsiteX17-1251" fmla="*/ 937318 w 1404434"/>
                <a:gd name="connsiteY17-1252" fmla="*/ 1286062 h 3550128"/>
                <a:gd name="connsiteX18-1253" fmla="*/ 1108768 w 1404434"/>
                <a:gd name="connsiteY18-1254" fmla="*/ 1152712 h 3550128"/>
                <a:gd name="connsiteX19-1255" fmla="*/ 1337368 w 1404434"/>
                <a:gd name="connsiteY19-1256" fmla="*/ 1133662 h 3550128"/>
                <a:gd name="connsiteX20-1257" fmla="*/ 1089718 w 1404434"/>
                <a:gd name="connsiteY20-1258" fmla="*/ 1190812 h 3550128"/>
                <a:gd name="connsiteX21-1259" fmla="*/ 880168 w 1404434"/>
                <a:gd name="connsiteY21-1260" fmla="*/ 1495612 h 3550128"/>
                <a:gd name="connsiteX22-1261" fmla="*/ 823018 w 1404434"/>
                <a:gd name="connsiteY22-1262" fmla="*/ 1857562 h 3550128"/>
                <a:gd name="connsiteX23-1263" fmla="*/ 975418 w 1404434"/>
                <a:gd name="connsiteY23-1264" fmla="*/ 2314762 h 3550128"/>
                <a:gd name="connsiteX24-1265" fmla="*/ 899218 w 1404434"/>
                <a:gd name="connsiteY24-1266" fmla="*/ 2552887 h 3550128"/>
                <a:gd name="connsiteX25-1267" fmla="*/ 1213543 w 1404434"/>
                <a:gd name="connsiteY25-1268" fmla="*/ 2495737 h 3550128"/>
                <a:gd name="connsiteX26-1269" fmla="*/ 1404043 w 1404434"/>
                <a:gd name="connsiteY26-1270" fmla="*/ 2590987 h 3550128"/>
                <a:gd name="connsiteX27-1271" fmla="*/ 1165918 w 1404434"/>
                <a:gd name="connsiteY27-1272" fmla="*/ 2533837 h 3550128"/>
                <a:gd name="connsiteX28-1273" fmla="*/ 832543 w 1404434"/>
                <a:gd name="connsiteY28-1274" fmla="*/ 2695762 h 3550128"/>
                <a:gd name="connsiteX29-1275" fmla="*/ 689668 w 1404434"/>
                <a:gd name="connsiteY29-1276" fmla="*/ 3048187 h 3550128"/>
                <a:gd name="connsiteX30-1277" fmla="*/ 918268 w 1404434"/>
                <a:gd name="connsiteY30-1278" fmla="*/ 3381562 h 3550128"/>
                <a:gd name="connsiteX31-1279" fmla="*/ 1016693 w 1404434"/>
                <a:gd name="connsiteY31-1280" fmla="*/ 3543487 h 3550128"/>
                <a:gd name="connsiteX0-1281" fmla="*/ 1016693 w 1404434"/>
                <a:gd name="connsiteY0-1282" fmla="*/ 3543487 h 3550128"/>
                <a:gd name="connsiteX1-1283" fmla="*/ 591243 w 1404434"/>
                <a:gd name="connsiteY1-1284" fmla="*/ 3549837 h 3550128"/>
                <a:gd name="connsiteX2-1285" fmla="*/ 394393 w 1404434"/>
                <a:gd name="connsiteY2-1286" fmla="*/ 3038662 h 3550128"/>
                <a:gd name="connsiteX3-1287" fmla="*/ 746818 w 1404434"/>
                <a:gd name="connsiteY3-1288" fmla="*/ 2343337 h 3550128"/>
                <a:gd name="connsiteX4-1289" fmla="*/ 560128 w 1404434"/>
                <a:gd name="connsiteY4-1290" fmla="*/ 1884232 h 3550128"/>
                <a:gd name="connsiteX5-1291" fmla="*/ 58 w 1404434"/>
                <a:gd name="connsiteY5-1292" fmla="*/ 1832797 h 3550128"/>
                <a:gd name="connsiteX6-1293" fmla="*/ 394393 w 1404434"/>
                <a:gd name="connsiteY6-1294" fmla="*/ 1705162 h 3550128"/>
                <a:gd name="connsiteX7-1295" fmla="*/ 642043 w 1404434"/>
                <a:gd name="connsiteY7-1296" fmla="*/ 1838512 h 3550128"/>
                <a:gd name="connsiteX8-1297" fmla="*/ 689668 w 1404434"/>
                <a:gd name="connsiteY8-1298" fmla="*/ 1609912 h 3550128"/>
                <a:gd name="connsiteX9-1299" fmla="*/ 823018 w 1404434"/>
                <a:gd name="connsiteY9-1300" fmla="*/ 1295587 h 3550128"/>
                <a:gd name="connsiteX10-1301" fmla="*/ 765868 w 1404434"/>
                <a:gd name="connsiteY10-1302" fmla="*/ 771712 h 3550128"/>
                <a:gd name="connsiteX11-1303" fmla="*/ 537268 w 1404434"/>
                <a:gd name="connsiteY11-1304" fmla="*/ 628837 h 3550128"/>
                <a:gd name="connsiteX12-1305" fmla="*/ 689668 w 1404434"/>
                <a:gd name="connsiteY12-1306" fmla="*/ 628837 h 3550128"/>
                <a:gd name="connsiteX13-1307" fmla="*/ 765868 w 1404434"/>
                <a:gd name="connsiteY13-1308" fmla="*/ 714562 h 3550128"/>
                <a:gd name="connsiteX14-1309" fmla="*/ 870643 w 1404434"/>
                <a:gd name="connsiteY14-1310" fmla="*/ 187 h 3550128"/>
                <a:gd name="connsiteX15-1311" fmla="*/ 832543 w 1404434"/>
                <a:gd name="connsiteY15-1312" fmla="*/ 647887 h 3550128"/>
                <a:gd name="connsiteX16-1313" fmla="*/ 908743 w 1404434"/>
                <a:gd name="connsiteY16-1314" fmla="*/ 1038412 h 3550128"/>
                <a:gd name="connsiteX17-1315" fmla="*/ 937318 w 1404434"/>
                <a:gd name="connsiteY17-1316" fmla="*/ 1286062 h 3550128"/>
                <a:gd name="connsiteX18-1317" fmla="*/ 1108768 w 1404434"/>
                <a:gd name="connsiteY18-1318" fmla="*/ 1152712 h 3550128"/>
                <a:gd name="connsiteX19-1319" fmla="*/ 1337368 w 1404434"/>
                <a:gd name="connsiteY19-1320" fmla="*/ 1133662 h 3550128"/>
                <a:gd name="connsiteX20-1321" fmla="*/ 1089718 w 1404434"/>
                <a:gd name="connsiteY20-1322" fmla="*/ 1190812 h 3550128"/>
                <a:gd name="connsiteX21-1323" fmla="*/ 880168 w 1404434"/>
                <a:gd name="connsiteY21-1324" fmla="*/ 1495612 h 3550128"/>
                <a:gd name="connsiteX22-1325" fmla="*/ 823018 w 1404434"/>
                <a:gd name="connsiteY22-1326" fmla="*/ 1857562 h 3550128"/>
                <a:gd name="connsiteX23-1327" fmla="*/ 975418 w 1404434"/>
                <a:gd name="connsiteY23-1328" fmla="*/ 2314762 h 3550128"/>
                <a:gd name="connsiteX24-1329" fmla="*/ 899218 w 1404434"/>
                <a:gd name="connsiteY24-1330" fmla="*/ 2552887 h 3550128"/>
                <a:gd name="connsiteX25-1331" fmla="*/ 1213543 w 1404434"/>
                <a:gd name="connsiteY25-1332" fmla="*/ 2495737 h 3550128"/>
                <a:gd name="connsiteX26-1333" fmla="*/ 1404043 w 1404434"/>
                <a:gd name="connsiteY26-1334" fmla="*/ 2590987 h 3550128"/>
                <a:gd name="connsiteX27-1335" fmla="*/ 1165918 w 1404434"/>
                <a:gd name="connsiteY27-1336" fmla="*/ 2533837 h 3550128"/>
                <a:gd name="connsiteX28-1337" fmla="*/ 832543 w 1404434"/>
                <a:gd name="connsiteY28-1338" fmla="*/ 2695762 h 3550128"/>
                <a:gd name="connsiteX29-1339" fmla="*/ 689668 w 1404434"/>
                <a:gd name="connsiteY29-1340" fmla="*/ 3048187 h 3550128"/>
                <a:gd name="connsiteX30-1341" fmla="*/ 918268 w 1404434"/>
                <a:gd name="connsiteY30-1342" fmla="*/ 3381562 h 3550128"/>
                <a:gd name="connsiteX31-1343" fmla="*/ 1016693 w 1404434"/>
                <a:gd name="connsiteY31-1344" fmla="*/ 3543487 h 3550128"/>
                <a:gd name="connsiteX0-1345" fmla="*/ 1016693 w 1404387"/>
                <a:gd name="connsiteY0-1346" fmla="*/ 3543487 h 3550128"/>
                <a:gd name="connsiteX1-1347" fmla="*/ 591243 w 1404387"/>
                <a:gd name="connsiteY1-1348" fmla="*/ 3549837 h 3550128"/>
                <a:gd name="connsiteX2-1349" fmla="*/ 394393 w 1404387"/>
                <a:gd name="connsiteY2-1350" fmla="*/ 3038662 h 3550128"/>
                <a:gd name="connsiteX3-1351" fmla="*/ 746818 w 1404387"/>
                <a:gd name="connsiteY3-1352" fmla="*/ 2343337 h 3550128"/>
                <a:gd name="connsiteX4-1353" fmla="*/ 560128 w 1404387"/>
                <a:gd name="connsiteY4-1354" fmla="*/ 1884232 h 3550128"/>
                <a:gd name="connsiteX5-1355" fmla="*/ 58 w 1404387"/>
                <a:gd name="connsiteY5-1356" fmla="*/ 1832797 h 3550128"/>
                <a:gd name="connsiteX6-1357" fmla="*/ 394393 w 1404387"/>
                <a:gd name="connsiteY6-1358" fmla="*/ 1705162 h 3550128"/>
                <a:gd name="connsiteX7-1359" fmla="*/ 642043 w 1404387"/>
                <a:gd name="connsiteY7-1360" fmla="*/ 1838512 h 3550128"/>
                <a:gd name="connsiteX8-1361" fmla="*/ 689668 w 1404387"/>
                <a:gd name="connsiteY8-1362" fmla="*/ 1609912 h 3550128"/>
                <a:gd name="connsiteX9-1363" fmla="*/ 823018 w 1404387"/>
                <a:gd name="connsiteY9-1364" fmla="*/ 1295587 h 3550128"/>
                <a:gd name="connsiteX10-1365" fmla="*/ 765868 w 1404387"/>
                <a:gd name="connsiteY10-1366" fmla="*/ 771712 h 3550128"/>
                <a:gd name="connsiteX11-1367" fmla="*/ 537268 w 1404387"/>
                <a:gd name="connsiteY11-1368" fmla="*/ 628837 h 3550128"/>
                <a:gd name="connsiteX12-1369" fmla="*/ 689668 w 1404387"/>
                <a:gd name="connsiteY12-1370" fmla="*/ 628837 h 3550128"/>
                <a:gd name="connsiteX13-1371" fmla="*/ 765868 w 1404387"/>
                <a:gd name="connsiteY13-1372" fmla="*/ 714562 h 3550128"/>
                <a:gd name="connsiteX14-1373" fmla="*/ 870643 w 1404387"/>
                <a:gd name="connsiteY14-1374" fmla="*/ 187 h 3550128"/>
                <a:gd name="connsiteX15-1375" fmla="*/ 832543 w 1404387"/>
                <a:gd name="connsiteY15-1376" fmla="*/ 647887 h 3550128"/>
                <a:gd name="connsiteX16-1377" fmla="*/ 908743 w 1404387"/>
                <a:gd name="connsiteY16-1378" fmla="*/ 1038412 h 3550128"/>
                <a:gd name="connsiteX17-1379" fmla="*/ 937318 w 1404387"/>
                <a:gd name="connsiteY17-1380" fmla="*/ 1286062 h 3550128"/>
                <a:gd name="connsiteX18-1381" fmla="*/ 1108768 w 1404387"/>
                <a:gd name="connsiteY18-1382" fmla="*/ 1152712 h 3550128"/>
                <a:gd name="connsiteX19-1383" fmla="*/ 1337368 w 1404387"/>
                <a:gd name="connsiteY19-1384" fmla="*/ 1133662 h 3550128"/>
                <a:gd name="connsiteX20-1385" fmla="*/ 1089718 w 1404387"/>
                <a:gd name="connsiteY20-1386" fmla="*/ 1190812 h 3550128"/>
                <a:gd name="connsiteX21-1387" fmla="*/ 880168 w 1404387"/>
                <a:gd name="connsiteY21-1388" fmla="*/ 1495612 h 3550128"/>
                <a:gd name="connsiteX22-1389" fmla="*/ 823018 w 1404387"/>
                <a:gd name="connsiteY22-1390" fmla="*/ 1857562 h 3550128"/>
                <a:gd name="connsiteX23-1391" fmla="*/ 975418 w 1404387"/>
                <a:gd name="connsiteY23-1392" fmla="*/ 2314762 h 3550128"/>
                <a:gd name="connsiteX24-1393" fmla="*/ 899218 w 1404387"/>
                <a:gd name="connsiteY24-1394" fmla="*/ 2552887 h 3550128"/>
                <a:gd name="connsiteX25-1395" fmla="*/ 1213543 w 1404387"/>
                <a:gd name="connsiteY25-1396" fmla="*/ 2495737 h 3550128"/>
                <a:gd name="connsiteX26-1397" fmla="*/ 1404043 w 1404387"/>
                <a:gd name="connsiteY26-1398" fmla="*/ 2590987 h 3550128"/>
                <a:gd name="connsiteX27-1399" fmla="*/ 1169093 w 1404387"/>
                <a:gd name="connsiteY27-1400" fmla="*/ 2543362 h 3550128"/>
                <a:gd name="connsiteX28-1401" fmla="*/ 832543 w 1404387"/>
                <a:gd name="connsiteY28-1402" fmla="*/ 2695762 h 3550128"/>
                <a:gd name="connsiteX29-1403" fmla="*/ 689668 w 1404387"/>
                <a:gd name="connsiteY29-1404" fmla="*/ 3048187 h 3550128"/>
                <a:gd name="connsiteX30-1405" fmla="*/ 918268 w 1404387"/>
                <a:gd name="connsiteY30-1406" fmla="*/ 3381562 h 3550128"/>
                <a:gd name="connsiteX31-1407" fmla="*/ 1016693 w 1404387"/>
                <a:gd name="connsiteY31-1408" fmla="*/ 3543487 h 3550128"/>
                <a:gd name="connsiteX0-1409" fmla="*/ 1016693 w 1404387"/>
                <a:gd name="connsiteY0-1410" fmla="*/ 3543487 h 3550128"/>
                <a:gd name="connsiteX1-1411" fmla="*/ 591243 w 1404387"/>
                <a:gd name="connsiteY1-1412" fmla="*/ 3549837 h 3550128"/>
                <a:gd name="connsiteX2-1413" fmla="*/ 394393 w 1404387"/>
                <a:gd name="connsiteY2-1414" fmla="*/ 3038662 h 3550128"/>
                <a:gd name="connsiteX3-1415" fmla="*/ 746818 w 1404387"/>
                <a:gd name="connsiteY3-1416" fmla="*/ 2343337 h 3550128"/>
                <a:gd name="connsiteX4-1417" fmla="*/ 560128 w 1404387"/>
                <a:gd name="connsiteY4-1418" fmla="*/ 1884232 h 3550128"/>
                <a:gd name="connsiteX5-1419" fmla="*/ 58 w 1404387"/>
                <a:gd name="connsiteY5-1420" fmla="*/ 1832797 h 3550128"/>
                <a:gd name="connsiteX6-1421" fmla="*/ 394393 w 1404387"/>
                <a:gd name="connsiteY6-1422" fmla="*/ 1705162 h 3550128"/>
                <a:gd name="connsiteX7-1423" fmla="*/ 642043 w 1404387"/>
                <a:gd name="connsiteY7-1424" fmla="*/ 1838512 h 3550128"/>
                <a:gd name="connsiteX8-1425" fmla="*/ 689668 w 1404387"/>
                <a:gd name="connsiteY8-1426" fmla="*/ 1609912 h 3550128"/>
                <a:gd name="connsiteX9-1427" fmla="*/ 823018 w 1404387"/>
                <a:gd name="connsiteY9-1428" fmla="*/ 1295587 h 3550128"/>
                <a:gd name="connsiteX10-1429" fmla="*/ 765868 w 1404387"/>
                <a:gd name="connsiteY10-1430" fmla="*/ 771712 h 3550128"/>
                <a:gd name="connsiteX11-1431" fmla="*/ 537268 w 1404387"/>
                <a:gd name="connsiteY11-1432" fmla="*/ 628837 h 3550128"/>
                <a:gd name="connsiteX12-1433" fmla="*/ 689668 w 1404387"/>
                <a:gd name="connsiteY12-1434" fmla="*/ 628837 h 3550128"/>
                <a:gd name="connsiteX13-1435" fmla="*/ 765868 w 1404387"/>
                <a:gd name="connsiteY13-1436" fmla="*/ 714562 h 3550128"/>
                <a:gd name="connsiteX14-1437" fmla="*/ 870643 w 1404387"/>
                <a:gd name="connsiteY14-1438" fmla="*/ 187 h 3550128"/>
                <a:gd name="connsiteX15-1439" fmla="*/ 832543 w 1404387"/>
                <a:gd name="connsiteY15-1440" fmla="*/ 647887 h 3550128"/>
                <a:gd name="connsiteX16-1441" fmla="*/ 908743 w 1404387"/>
                <a:gd name="connsiteY16-1442" fmla="*/ 1038412 h 3550128"/>
                <a:gd name="connsiteX17-1443" fmla="*/ 937318 w 1404387"/>
                <a:gd name="connsiteY17-1444" fmla="*/ 1286062 h 3550128"/>
                <a:gd name="connsiteX18-1445" fmla="*/ 1108768 w 1404387"/>
                <a:gd name="connsiteY18-1446" fmla="*/ 1152712 h 3550128"/>
                <a:gd name="connsiteX19-1447" fmla="*/ 1337368 w 1404387"/>
                <a:gd name="connsiteY19-1448" fmla="*/ 1133662 h 3550128"/>
                <a:gd name="connsiteX20-1449" fmla="*/ 1089718 w 1404387"/>
                <a:gd name="connsiteY20-1450" fmla="*/ 1190812 h 3550128"/>
                <a:gd name="connsiteX21-1451" fmla="*/ 880168 w 1404387"/>
                <a:gd name="connsiteY21-1452" fmla="*/ 1495612 h 3550128"/>
                <a:gd name="connsiteX22-1453" fmla="*/ 823018 w 1404387"/>
                <a:gd name="connsiteY22-1454" fmla="*/ 1857562 h 3550128"/>
                <a:gd name="connsiteX23-1455" fmla="*/ 975418 w 1404387"/>
                <a:gd name="connsiteY23-1456" fmla="*/ 2314762 h 3550128"/>
                <a:gd name="connsiteX24-1457" fmla="*/ 899218 w 1404387"/>
                <a:gd name="connsiteY24-1458" fmla="*/ 2552887 h 3550128"/>
                <a:gd name="connsiteX25-1459" fmla="*/ 1213543 w 1404387"/>
                <a:gd name="connsiteY25-1460" fmla="*/ 2495737 h 3550128"/>
                <a:gd name="connsiteX26-1461" fmla="*/ 1404043 w 1404387"/>
                <a:gd name="connsiteY26-1462" fmla="*/ 2590987 h 3550128"/>
                <a:gd name="connsiteX27-1463" fmla="*/ 1169093 w 1404387"/>
                <a:gd name="connsiteY27-1464" fmla="*/ 2543362 h 3550128"/>
                <a:gd name="connsiteX28-1465" fmla="*/ 832543 w 1404387"/>
                <a:gd name="connsiteY28-1466" fmla="*/ 2695762 h 3550128"/>
                <a:gd name="connsiteX29-1467" fmla="*/ 689668 w 1404387"/>
                <a:gd name="connsiteY29-1468" fmla="*/ 3048187 h 3550128"/>
                <a:gd name="connsiteX30-1469" fmla="*/ 918268 w 1404387"/>
                <a:gd name="connsiteY30-1470" fmla="*/ 3381562 h 3550128"/>
                <a:gd name="connsiteX31-1471" fmla="*/ 1016693 w 1404387"/>
                <a:gd name="connsiteY31-1472" fmla="*/ 3543487 h 3550128"/>
                <a:gd name="connsiteX0-1473" fmla="*/ 1016693 w 1404160"/>
                <a:gd name="connsiteY0-1474" fmla="*/ 3543487 h 3550128"/>
                <a:gd name="connsiteX1-1475" fmla="*/ 591243 w 1404160"/>
                <a:gd name="connsiteY1-1476" fmla="*/ 3549837 h 3550128"/>
                <a:gd name="connsiteX2-1477" fmla="*/ 394393 w 1404160"/>
                <a:gd name="connsiteY2-1478" fmla="*/ 3038662 h 3550128"/>
                <a:gd name="connsiteX3-1479" fmla="*/ 746818 w 1404160"/>
                <a:gd name="connsiteY3-1480" fmla="*/ 2343337 h 3550128"/>
                <a:gd name="connsiteX4-1481" fmla="*/ 560128 w 1404160"/>
                <a:gd name="connsiteY4-1482" fmla="*/ 1884232 h 3550128"/>
                <a:gd name="connsiteX5-1483" fmla="*/ 58 w 1404160"/>
                <a:gd name="connsiteY5-1484" fmla="*/ 1832797 h 3550128"/>
                <a:gd name="connsiteX6-1485" fmla="*/ 394393 w 1404160"/>
                <a:gd name="connsiteY6-1486" fmla="*/ 1705162 h 3550128"/>
                <a:gd name="connsiteX7-1487" fmla="*/ 642043 w 1404160"/>
                <a:gd name="connsiteY7-1488" fmla="*/ 1838512 h 3550128"/>
                <a:gd name="connsiteX8-1489" fmla="*/ 689668 w 1404160"/>
                <a:gd name="connsiteY8-1490" fmla="*/ 1609912 h 3550128"/>
                <a:gd name="connsiteX9-1491" fmla="*/ 823018 w 1404160"/>
                <a:gd name="connsiteY9-1492" fmla="*/ 1295587 h 3550128"/>
                <a:gd name="connsiteX10-1493" fmla="*/ 765868 w 1404160"/>
                <a:gd name="connsiteY10-1494" fmla="*/ 771712 h 3550128"/>
                <a:gd name="connsiteX11-1495" fmla="*/ 537268 w 1404160"/>
                <a:gd name="connsiteY11-1496" fmla="*/ 628837 h 3550128"/>
                <a:gd name="connsiteX12-1497" fmla="*/ 689668 w 1404160"/>
                <a:gd name="connsiteY12-1498" fmla="*/ 628837 h 3550128"/>
                <a:gd name="connsiteX13-1499" fmla="*/ 765868 w 1404160"/>
                <a:gd name="connsiteY13-1500" fmla="*/ 714562 h 3550128"/>
                <a:gd name="connsiteX14-1501" fmla="*/ 870643 w 1404160"/>
                <a:gd name="connsiteY14-1502" fmla="*/ 187 h 3550128"/>
                <a:gd name="connsiteX15-1503" fmla="*/ 832543 w 1404160"/>
                <a:gd name="connsiteY15-1504" fmla="*/ 647887 h 3550128"/>
                <a:gd name="connsiteX16-1505" fmla="*/ 908743 w 1404160"/>
                <a:gd name="connsiteY16-1506" fmla="*/ 1038412 h 3550128"/>
                <a:gd name="connsiteX17-1507" fmla="*/ 937318 w 1404160"/>
                <a:gd name="connsiteY17-1508" fmla="*/ 1286062 h 3550128"/>
                <a:gd name="connsiteX18-1509" fmla="*/ 1108768 w 1404160"/>
                <a:gd name="connsiteY18-1510" fmla="*/ 1152712 h 3550128"/>
                <a:gd name="connsiteX19-1511" fmla="*/ 1337368 w 1404160"/>
                <a:gd name="connsiteY19-1512" fmla="*/ 1133662 h 3550128"/>
                <a:gd name="connsiteX20-1513" fmla="*/ 1089718 w 1404160"/>
                <a:gd name="connsiteY20-1514" fmla="*/ 1190812 h 3550128"/>
                <a:gd name="connsiteX21-1515" fmla="*/ 880168 w 1404160"/>
                <a:gd name="connsiteY21-1516" fmla="*/ 1495612 h 3550128"/>
                <a:gd name="connsiteX22-1517" fmla="*/ 823018 w 1404160"/>
                <a:gd name="connsiteY22-1518" fmla="*/ 1857562 h 3550128"/>
                <a:gd name="connsiteX23-1519" fmla="*/ 975418 w 1404160"/>
                <a:gd name="connsiteY23-1520" fmla="*/ 2314762 h 3550128"/>
                <a:gd name="connsiteX24-1521" fmla="*/ 899218 w 1404160"/>
                <a:gd name="connsiteY24-1522" fmla="*/ 2552887 h 3550128"/>
                <a:gd name="connsiteX25-1523" fmla="*/ 1213543 w 1404160"/>
                <a:gd name="connsiteY25-1524" fmla="*/ 2495737 h 3550128"/>
                <a:gd name="connsiteX26-1525" fmla="*/ 1404043 w 1404160"/>
                <a:gd name="connsiteY26-1526" fmla="*/ 2590987 h 3550128"/>
                <a:gd name="connsiteX27-1527" fmla="*/ 1188143 w 1404160"/>
                <a:gd name="connsiteY27-1528" fmla="*/ 2552887 h 3550128"/>
                <a:gd name="connsiteX28-1529" fmla="*/ 832543 w 1404160"/>
                <a:gd name="connsiteY28-1530" fmla="*/ 2695762 h 3550128"/>
                <a:gd name="connsiteX29-1531" fmla="*/ 689668 w 1404160"/>
                <a:gd name="connsiteY29-1532" fmla="*/ 3048187 h 3550128"/>
                <a:gd name="connsiteX30-1533" fmla="*/ 918268 w 1404160"/>
                <a:gd name="connsiteY30-1534" fmla="*/ 3381562 h 3550128"/>
                <a:gd name="connsiteX31-1535" fmla="*/ 1016693 w 1404160"/>
                <a:gd name="connsiteY31-1536" fmla="*/ 3543487 h 3550128"/>
                <a:gd name="connsiteX0-1537" fmla="*/ 1016693 w 1404160"/>
                <a:gd name="connsiteY0-1538" fmla="*/ 3543487 h 3550128"/>
                <a:gd name="connsiteX1-1539" fmla="*/ 591243 w 1404160"/>
                <a:gd name="connsiteY1-1540" fmla="*/ 3549837 h 3550128"/>
                <a:gd name="connsiteX2-1541" fmla="*/ 394393 w 1404160"/>
                <a:gd name="connsiteY2-1542" fmla="*/ 3038662 h 3550128"/>
                <a:gd name="connsiteX3-1543" fmla="*/ 746818 w 1404160"/>
                <a:gd name="connsiteY3-1544" fmla="*/ 2343337 h 3550128"/>
                <a:gd name="connsiteX4-1545" fmla="*/ 560128 w 1404160"/>
                <a:gd name="connsiteY4-1546" fmla="*/ 1884232 h 3550128"/>
                <a:gd name="connsiteX5-1547" fmla="*/ 58 w 1404160"/>
                <a:gd name="connsiteY5-1548" fmla="*/ 1832797 h 3550128"/>
                <a:gd name="connsiteX6-1549" fmla="*/ 394393 w 1404160"/>
                <a:gd name="connsiteY6-1550" fmla="*/ 1705162 h 3550128"/>
                <a:gd name="connsiteX7-1551" fmla="*/ 642043 w 1404160"/>
                <a:gd name="connsiteY7-1552" fmla="*/ 1838512 h 3550128"/>
                <a:gd name="connsiteX8-1553" fmla="*/ 689668 w 1404160"/>
                <a:gd name="connsiteY8-1554" fmla="*/ 1609912 h 3550128"/>
                <a:gd name="connsiteX9-1555" fmla="*/ 823018 w 1404160"/>
                <a:gd name="connsiteY9-1556" fmla="*/ 1295587 h 3550128"/>
                <a:gd name="connsiteX10-1557" fmla="*/ 765868 w 1404160"/>
                <a:gd name="connsiteY10-1558" fmla="*/ 771712 h 3550128"/>
                <a:gd name="connsiteX11-1559" fmla="*/ 537268 w 1404160"/>
                <a:gd name="connsiteY11-1560" fmla="*/ 628837 h 3550128"/>
                <a:gd name="connsiteX12-1561" fmla="*/ 689668 w 1404160"/>
                <a:gd name="connsiteY12-1562" fmla="*/ 628837 h 3550128"/>
                <a:gd name="connsiteX13-1563" fmla="*/ 765868 w 1404160"/>
                <a:gd name="connsiteY13-1564" fmla="*/ 714562 h 3550128"/>
                <a:gd name="connsiteX14-1565" fmla="*/ 870643 w 1404160"/>
                <a:gd name="connsiteY14-1566" fmla="*/ 187 h 3550128"/>
                <a:gd name="connsiteX15-1567" fmla="*/ 832543 w 1404160"/>
                <a:gd name="connsiteY15-1568" fmla="*/ 647887 h 3550128"/>
                <a:gd name="connsiteX16-1569" fmla="*/ 908743 w 1404160"/>
                <a:gd name="connsiteY16-1570" fmla="*/ 1038412 h 3550128"/>
                <a:gd name="connsiteX17-1571" fmla="*/ 937318 w 1404160"/>
                <a:gd name="connsiteY17-1572" fmla="*/ 1286062 h 3550128"/>
                <a:gd name="connsiteX18-1573" fmla="*/ 1108768 w 1404160"/>
                <a:gd name="connsiteY18-1574" fmla="*/ 1152712 h 3550128"/>
                <a:gd name="connsiteX19-1575" fmla="*/ 1337368 w 1404160"/>
                <a:gd name="connsiteY19-1576" fmla="*/ 1133662 h 3550128"/>
                <a:gd name="connsiteX20-1577" fmla="*/ 1089718 w 1404160"/>
                <a:gd name="connsiteY20-1578" fmla="*/ 1190812 h 3550128"/>
                <a:gd name="connsiteX21-1579" fmla="*/ 880168 w 1404160"/>
                <a:gd name="connsiteY21-1580" fmla="*/ 1495612 h 3550128"/>
                <a:gd name="connsiteX22-1581" fmla="*/ 823018 w 1404160"/>
                <a:gd name="connsiteY22-1582" fmla="*/ 1857562 h 3550128"/>
                <a:gd name="connsiteX23-1583" fmla="*/ 975418 w 1404160"/>
                <a:gd name="connsiteY23-1584" fmla="*/ 2314762 h 3550128"/>
                <a:gd name="connsiteX24-1585" fmla="*/ 899218 w 1404160"/>
                <a:gd name="connsiteY24-1586" fmla="*/ 2552887 h 3550128"/>
                <a:gd name="connsiteX25-1587" fmla="*/ 1213543 w 1404160"/>
                <a:gd name="connsiteY25-1588" fmla="*/ 2495737 h 3550128"/>
                <a:gd name="connsiteX26-1589" fmla="*/ 1404043 w 1404160"/>
                <a:gd name="connsiteY26-1590" fmla="*/ 2590987 h 3550128"/>
                <a:gd name="connsiteX27-1591" fmla="*/ 1188143 w 1404160"/>
                <a:gd name="connsiteY27-1592" fmla="*/ 2552887 h 3550128"/>
                <a:gd name="connsiteX28-1593" fmla="*/ 832543 w 1404160"/>
                <a:gd name="connsiteY28-1594" fmla="*/ 2695762 h 3550128"/>
                <a:gd name="connsiteX29-1595" fmla="*/ 689668 w 1404160"/>
                <a:gd name="connsiteY29-1596" fmla="*/ 3048187 h 3550128"/>
                <a:gd name="connsiteX30-1597" fmla="*/ 918268 w 1404160"/>
                <a:gd name="connsiteY30-1598" fmla="*/ 3381562 h 3550128"/>
                <a:gd name="connsiteX31-1599" fmla="*/ 1016693 w 1404160"/>
                <a:gd name="connsiteY31-1600" fmla="*/ 3543487 h 3550128"/>
                <a:gd name="connsiteX0-1601" fmla="*/ 1016693 w 1423196"/>
                <a:gd name="connsiteY0-1602" fmla="*/ 3543487 h 3550128"/>
                <a:gd name="connsiteX1-1603" fmla="*/ 591243 w 1423196"/>
                <a:gd name="connsiteY1-1604" fmla="*/ 3549837 h 3550128"/>
                <a:gd name="connsiteX2-1605" fmla="*/ 394393 w 1423196"/>
                <a:gd name="connsiteY2-1606" fmla="*/ 3038662 h 3550128"/>
                <a:gd name="connsiteX3-1607" fmla="*/ 746818 w 1423196"/>
                <a:gd name="connsiteY3-1608" fmla="*/ 2343337 h 3550128"/>
                <a:gd name="connsiteX4-1609" fmla="*/ 560128 w 1423196"/>
                <a:gd name="connsiteY4-1610" fmla="*/ 1884232 h 3550128"/>
                <a:gd name="connsiteX5-1611" fmla="*/ 58 w 1423196"/>
                <a:gd name="connsiteY5-1612" fmla="*/ 1832797 h 3550128"/>
                <a:gd name="connsiteX6-1613" fmla="*/ 394393 w 1423196"/>
                <a:gd name="connsiteY6-1614" fmla="*/ 1705162 h 3550128"/>
                <a:gd name="connsiteX7-1615" fmla="*/ 642043 w 1423196"/>
                <a:gd name="connsiteY7-1616" fmla="*/ 1838512 h 3550128"/>
                <a:gd name="connsiteX8-1617" fmla="*/ 689668 w 1423196"/>
                <a:gd name="connsiteY8-1618" fmla="*/ 1609912 h 3550128"/>
                <a:gd name="connsiteX9-1619" fmla="*/ 823018 w 1423196"/>
                <a:gd name="connsiteY9-1620" fmla="*/ 1295587 h 3550128"/>
                <a:gd name="connsiteX10-1621" fmla="*/ 765868 w 1423196"/>
                <a:gd name="connsiteY10-1622" fmla="*/ 771712 h 3550128"/>
                <a:gd name="connsiteX11-1623" fmla="*/ 537268 w 1423196"/>
                <a:gd name="connsiteY11-1624" fmla="*/ 628837 h 3550128"/>
                <a:gd name="connsiteX12-1625" fmla="*/ 689668 w 1423196"/>
                <a:gd name="connsiteY12-1626" fmla="*/ 628837 h 3550128"/>
                <a:gd name="connsiteX13-1627" fmla="*/ 765868 w 1423196"/>
                <a:gd name="connsiteY13-1628" fmla="*/ 714562 h 3550128"/>
                <a:gd name="connsiteX14-1629" fmla="*/ 870643 w 1423196"/>
                <a:gd name="connsiteY14-1630" fmla="*/ 187 h 3550128"/>
                <a:gd name="connsiteX15-1631" fmla="*/ 832543 w 1423196"/>
                <a:gd name="connsiteY15-1632" fmla="*/ 647887 h 3550128"/>
                <a:gd name="connsiteX16-1633" fmla="*/ 908743 w 1423196"/>
                <a:gd name="connsiteY16-1634" fmla="*/ 1038412 h 3550128"/>
                <a:gd name="connsiteX17-1635" fmla="*/ 937318 w 1423196"/>
                <a:gd name="connsiteY17-1636" fmla="*/ 1286062 h 3550128"/>
                <a:gd name="connsiteX18-1637" fmla="*/ 1108768 w 1423196"/>
                <a:gd name="connsiteY18-1638" fmla="*/ 1152712 h 3550128"/>
                <a:gd name="connsiteX19-1639" fmla="*/ 1337368 w 1423196"/>
                <a:gd name="connsiteY19-1640" fmla="*/ 1133662 h 3550128"/>
                <a:gd name="connsiteX20-1641" fmla="*/ 1089718 w 1423196"/>
                <a:gd name="connsiteY20-1642" fmla="*/ 1190812 h 3550128"/>
                <a:gd name="connsiteX21-1643" fmla="*/ 880168 w 1423196"/>
                <a:gd name="connsiteY21-1644" fmla="*/ 1495612 h 3550128"/>
                <a:gd name="connsiteX22-1645" fmla="*/ 823018 w 1423196"/>
                <a:gd name="connsiteY22-1646" fmla="*/ 1857562 h 3550128"/>
                <a:gd name="connsiteX23-1647" fmla="*/ 975418 w 1423196"/>
                <a:gd name="connsiteY23-1648" fmla="*/ 2314762 h 3550128"/>
                <a:gd name="connsiteX24-1649" fmla="*/ 899218 w 1423196"/>
                <a:gd name="connsiteY24-1650" fmla="*/ 2552887 h 3550128"/>
                <a:gd name="connsiteX25-1651" fmla="*/ 1213543 w 1423196"/>
                <a:gd name="connsiteY25-1652" fmla="*/ 2495737 h 3550128"/>
                <a:gd name="connsiteX26-1653" fmla="*/ 1423093 w 1423196"/>
                <a:gd name="connsiteY26-1654" fmla="*/ 2612418 h 3550128"/>
                <a:gd name="connsiteX27-1655" fmla="*/ 1188143 w 1423196"/>
                <a:gd name="connsiteY27-1656" fmla="*/ 2552887 h 3550128"/>
                <a:gd name="connsiteX28-1657" fmla="*/ 832543 w 1423196"/>
                <a:gd name="connsiteY28-1658" fmla="*/ 2695762 h 3550128"/>
                <a:gd name="connsiteX29-1659" fmla="*/ 689668 w 1423196"/>
                <a:gd name="connsiteY29-1660" fmla="*/ 3048187 h 3550128"/>
                <a:gd name="connsiteX30-1661" fmla="*/ 918268 w 1423196"/>
                <a:gd name="connsiteY30-1662" fmla="*/ 3381562 h 3550128"/>
                <a:gd name="connsiteX31-1663" fmla="*/ 1016693 w 1423196"/>
                <a:gd name="connsiteY31-1664" fmla="*/ 3543487 h 3550128"/>
                <a:gd name="connsiteX0-1665" fmla="*/ 1016693 w 1420817"/>
                <a:gd name="connsiteY0-1666" fmla="*/ 3543487 h 3550128"/>
                <a:gd name="connsiteX1-1667" fmla="*/ 591243 w 1420817"/>
                <a:gd name="connsiteY1-1668" fmla="*/ 3549837 h 3550128"/>
                <a:gd name="connsiteX2-1669" fmla="*/ 394393 w 1420817"/>
                <a:gd name="connsiteY2-1670" fmla="*/ 3038662 h 3550128"/>
                <a:gd name="connsiteX3-1671" fmla="*/ 746818 w 1420817"/>
                <a:gd name="connsiteY3-1672" fmla="*/ 2343337 h 3550128"/>
                <a:gd name="connsiteX4-1673" fmla="*/ 560128 w 1420817"/>
                <a:gd name="connsiteY4-1674" fmla="*/ 1884232 h 3550128"/>
                <a:gd name="connsiteX5-1675" fmla="*/ 58 w 1420817"/>
                <a:gd name="connsiteY5-1676" fmla="*/ 1832797 h 3550128"/>
                <a:gd name="connsiteX6-1677" fmla="*/ 394393 w 1420817"/>
                <a:gd name="connsiteY6-1678" fmla="*/ 1705162 h 3550128"/>
                <a:gd name="connsiteX7-1679" fmla="*/ 642043 w 1420817"/>
                <a:gd name="connsiteY7-1680" fmla="*/ 1838512 h 3550128"/>
                <a:gd name="connsiteX8-1681" fmla="*/ 689668 w 1420817"/>
                <a:gd name="connsiteY8-1682" fmla="*/ 1609912 h 3550128"/>
                <a:gd name="connsiteX9-1683" fmla="*/ 823018 w 1420817"/>
                <a:gd name="connsiteY9-1684" fmla="*/ 1295587 h 3550128"/>
                <a:gd name="connsiteX10-1685" fmla="*/ 765868 w 1420817"/>
                <a:gd name="connsiteY10-1686" fmla="*/ 771712 h 3550128"/>
                <a:gd name="connsiteX11-1687" fmla="*/ 537268 w 1420817"/>
                <a:gd name="connsiteY11-1688" fmla="*/ 628837 h 3550128"/>
                <a:gd name="connsiteX12-1689" fmla="*/ 689668 w 1420817"/>
                <a:gd name="connsiteY12-1690" fmla="*/ 628837 h 3550128"/>
                <a:gd name="connsiteX13-1691" fmla="*/ 765868 w 1420817"/>
                <a:gd name="connsiteY13-1692" fmla="*/ 714562 h 3550128"/>
                <a:gd name="connsiteX14-1693" fmla="*/ 870643 w 1420817"/>
                <a:gd name="connsiteY14-1694" fmla="*/ 187 h 3550128"/>
                <a:gd name="connsiteX15-1695" fmla="*/ 832543 w 1420817"/>
                <a:gd name="connsiteY15-1696" fmla="*/ 647887 h 3550128"/>
                <a:gd name="connsiteX16-1697" fmla="*/ 908743 w 1420817"/>
                <a:gd name="connsiteY16-1698" fmla="*/ 1038412 h 3550128"/>
                <a:gd name="connsiteX17-1699" fmla="*/ 937318 w 1420817"/>
                <a:gd name="connsiteY17-1700" fmla="*/ 1286062 h 3550128"/>
                <a:gd name="connsiteX18-1701" fmla="*/ 1108768 w 1420817"/>
                <a:gd name="connsiteY18-1702" fmla="*/ 1152712 h 3550128"/>
                <a:gd name="connsiteX19-1703" fmla="*/ 1337368 w 1420817"/>
                <a:gd name="connsiteY19-1704" fmla="*/ 1133662 h 3550128"/>
                <a:gd name="connsiteX20-1705" fmla="*/ 1089718 w 1420817"/>
                <a:gd name="connsiteY20-1706" fmla="*/ 1190812 h 3550128"/>
                <a:gd name="connsiteX21-1707" fmla="*/ 880168 w 1420817"/>
                <a:gd name="connsiteY21-1708" fmla="*/ 1495612 h 3550128"/>
                <a:gd name="connsiteX22-1709" fmla="*/ 823018 w 1420817"/>
                <a:gd name="connsiteY22-1710" fmla="*/ 1857562 h 3550128"/>
                <a:gd name="connsiteX23-1711" fmla="*/ 975418 w 1420817"/>
                <a:gd name="connsiteY23-1712" fmla="*/ 2314762 h 3550128"/>
                <a:gd name="connsiteX24-1713" fmla="*/ 899218 w 1420817"/>
                <a:gd name="connsiteY24-1714" fmla="*/ 2552887 h 3550128"/>
                <a:gd name="connsiteX25-1715" fmla="*/ 1213543 w 1420817"/>
                <a:gd name="connsiteY25-1716" fmla="*/ 2495737 h 3550128"/>
                <a:gd name="connsiteX26-1717" fmla="*/ 1420712 w 1420817"/>
                <a:gd name="connsiteY26-1718" fmla="*/ 2583843 h 3550128"/>
                <a:gd name="connsiteX27-1719" fmla="*/ 1188143 w 1420817"/>
                <a:gd name="connsiteY27-1720" fmla="*/ 2552887 h 3550128"/>
                <a:gd name="connsiteX28-1721" fmla="*/ 832543 w 1420817"/>
                <a:gd name="connsiteY28-1722" fmla="*/ 2695762 h 3550128"/>
                <a:gd name="connsiteX29-1723" fmla="*/ 689668 w 1420817"/>
                <a:gd name="connsiteY29-1724" fmla="*/ 3048187 h 3550128"/>
                <a:gd name="connsiteX30-1725" fmla="*/ 918268 w 1420817"/>
                <a:gd name="connsiteY30-1726" fmla="*/ 3381562 h 3550128"/>
                <a:gd name="connsiteX31-1727" fmla="*/ 1016693 w 1420817"/>
                <a:gd name="connsiteY31-1728" fmla="*/ 3543487 h 3550128"/>
                <a:gd name="connsiteX0-1729" fmla="*/ 1016693 w 1420960"/>
                <a:gd name="connsiteY0-1730" fmla="*/ 3543487 h 3550128"/>
                <a:gd name="connsiteX1-1731" fmla="*/ 591243 w 1420960"/>
                <a:gd name="connsiteY1-1732" fmla="*/ 3549837 h 3550128"/>
                <a:gd name="connsiteX2-1733" fmla="*/ 394393 w 1420960"/>
                <a:gd name="connsiteY2-1734" fmla="*/ 3038662 h 3550128"/>
                <a:gd name="connsiteX3-1735" fmla="*/ 746818 w 1420960"/>
                <a:gd name="connsiteY3-1736" fmla="*/ 2343337 h 3550128"/>
                <a:gd name="connsiteX4-1737" fmla="*/ 560128 w 1420960"/>
                <a:gd name="connsiteY4-1738" fmla="*/ 1884232 h 3550128"/>
                <a:gd name="connsiteX5-1739" fmla="*/ 58 w 1420960"/>
                <a:gd name="connsiteY5-1740" fmla="*/ 1832797 h 3550128"/>
                <a:gd name="connsiteX6-1741" fmla="*/ 394393 w 1420960"/>
                <a:gd name="connsiteY6-1742" fmla="*/ 1705162 h 3550128"/>
                <a:gd name="connsiteX7-1743" fmla="*/ 642043 w 1420960"/>
                <a:gd name="connsiteY7-1744" fmla="*/ 1838512 h 3550128"/>
                <a:gd name="connsiteX8-1745" fmla="*/ 689668 w 1420960"/>
                <a:gd name="connsiteY8-1746" fmla="*/ 1609912 h 3550128"/>
                <a:gd name="connsiteX9-1747" fmla="*/ 823018 w 1420960"/>
                <a:gd name="connsiteY9-1748" fmla="*/ 1295587 h 3550128"/>
                <a:gd name="connsiteX10-1749" fmla="*/ 765868 w 1420960"/>
                <a:gd name="connsiteY10-1750" fmla="*/ 771712 h 3550128"/>
                <a:gd name="connsiteX11-1751" fmla="*/ 537268 w 1420960"/>
                <a:gd name="connsiteY11-1752" fmla="*/ 628837 h 3550128"/>
                <a:gd name="connsiteX12-1753" fmla="*/ 689668 w 1420960"/>
                <a:gd name="connsiteY12-1754" fmla="*/ 628837 h 3550128"/>
                <a:gd name="connsiteX13-1755" fmla="*/ 765868 w 1420960"/>
                <a:gd name="connsiteY13-1756" fmla="*/ 714562 h 3550128"/>
                <a:gd name="connsiteX14-1757" fmla="*/ 870643 w 1420960"/>
                <a:gd name="connsiteY14-1758" fmla="*/ 187 h 3550128"/>
                <a:gd name="connsiteX15-1759" fmla="*/ 832543 w 1420960"/>
                <a:gd name="connsiteY15-1760" fmla="*/ 647887 h 3550128"/>
                <a:gd name="connsiteX16-1761" fmla="*/ 908743 w 1420960"/>
                <a:gd name="connsiteY16-1762" fmla="*/ 1038412 h 3550128"/>
                <a:gd name="connsiteX17-1763" fmla="*/ 937318 w 1420960"/>
                <a:gd name="connsiteY17-1764" fmla="*/ 1286062 h 3550128"/>
                <a:gd name="connsiteX18-1765" fmla="*/ 1108768 w 1420960"/>
                <a:gd name="connsiteY18-1766" fmla="*/ 1152712 h 3550128"/>
                <a:gd name="connsiteX19-1767" fmla="*/ 1337368 w 1420960"/>
                <a:gd name="connsiteY19-1768" fmla="*/ 1133662 h 3550128"/>
                <a:gd name="connsiteX20-1769" fmla="*/ 1089718 w 1420960"/>
                <a:gd name="connsiteY20-1770" fmla="*/ 1190812 h 3550128"/>
                <a:gd name="connsiteX21-1771" fmla="*/ 880168 w 1420960"/>
                <a:gd name="connsiteY21-1772" fmla="*/ 1495612 h 3550128"/>
                <a:gd name="connsiteX22-1773" fmla="*/ 823018 w 1420960"/>
                <a:gd name="connsiteY22-1774" fmla="*/ 1857562 h 3550128"/>
                <a:gd name="connsiteX23-1775" fmla="*/ 975418 w 1420960"/>
                <a:gd name="connsiteY23-1776" fmla="*/ 2314762 h 3550128"/>
                <a:gd name="connsiteX24-1777" fmla="*/ 899218 w 1420960"/>
                <a:gd name="connsiteY24-1778" fmla="*/ 2552887 h 3550128"/>
                <a:gd name="connsiteX25-1779" fmla="*/ 1213543 w 1420960"/>
                <a:gd name="connsiteY25-1780" fmla="*/ 2495737 h 3550128"/>
                <a:gd name="connsiteX26-1781" fmla="*/ 1420712 w 1420960"/>
                <a:gd name="connsiteY26-1782" fmla="*/ 2583843 h 3550128"/>
                <a:gd name="connsiteX27-1783" fmla="*/ 1188143 w 1420960"/>
                <a:gd name="connsiteY27-1784" fmla="*/ 2552887 h 3550128"/>
                <a:gd name="connsiteX28-1785" fmla="*/ 832543 w 1420960"/>
                <a:gd name="connsiteY28-1786" fmla="*/ 2695762 h 3550128"/>
                <a:gd name="connsiteX29-1787" fmla="*/ 689668 w 1420960"/>
                <a:gd name="connsiteY29-1788" fmla="*/ 3048187 h 3550128"/>
                <a:gd name="connsiteX30-1789" fmla="*/ 918268 w 1420960"/>
                <a:gd name="connsiteY30-1790" fmla="*/ 3381562 h 3550128"/>
                <a:gd name="connsiteX31-1791" fmla="*/ 1016693 w 1420960"/>
                <a:gd name="connsiteY31-1792" fmla="*/ 3543487 h 3550128"/>
                <a:gd name="connsiteX0-1793" fmla="*/ 1016693 w 1432703"/>
                <a:gd name="connsiteY0-1794" fmla="*/ 3543487 h 3550128"/>
                <a:gd name="connsiteX1-1795" fmla="*/ 591243 w 1432703"/>
                <a:gd name="connsiteY1-1796" fmla="*/ 3549837 h 3550128"/>
                <a:gd name="connsiteX2-1797" fmla="*/ 394393 w 1432703"/>
                <a:gd name="connsiteY2-1798" fmla="*/ 3038662 h 3550128"/>
                <a:gd name="connsiteX3-1799" fmla="*/ 746818 w 1432703"/>
                <a:gd name="connsiteY3-1800" fmla="*/ 2343337 h 3550128"/>
                <a:gd name="connsiteX4-1801" fmla="*/ 560128 w 1432703"/>
                <a:gd name="connsiteY4-1802" fmla="*/ 1884232 h 3550128"/>
                <a:gd name="connsiteX5-1803" fmla="*/ 58 w 1432703"/>
                <a:gd name="connsiteY5-1804" fmla="*/ 1832797 h 3550128"/>
                <a:gd name="connsiteX6-1805" fmla="*/ 394393 w 1432703"/>
                <a:gd name="connsiteY6-1806" fmla="*/ 1705162 h 3550128"/>
                <a:gd name="connsiteX7-1807" fmla="*/ 642043 w 1432703"/>
                <a:gd name="connsiteY7-1808" fmla="*/ 1838512 h 3550128"/>
                <a:gd name="connsiteX8-1809" fmla="*/ 689668 w 1432703"/>
                <a:gd name="connsiteY8-1810" fmla="*/ 1609912 h 3550128"/>
                <a:gd name="connsiteX9-1811" fmla="*/ 823018 w 1432703"/>
                <a:gd name="connsiteY9-1812" fmla="*/ 1295587 h 3550128"/>
                <a:gd name="connsiteX10-1813" fmla="*/ 765868 w 1432703"/>
                <a:gd name="connsiteY10-1814" fmla="*/ 771712 h 3550128"/>
                <a:gd name="connsiteX11-1815" fmla="*/ 537268 w 1432703"/>
                <a:gd name="connsiteY11-1816" fmla="*/ 628837 h 3550128"/>
                <a:gd name="connsiteX12-1817" fmla="*/ 689668 w 1432703"/>
                <a:gd name="connsiteY12-1818" fmla="*/ 628837 h 3550128"/>
                <a:gd name="connsiteX13-1819" fmla="*/ 765868 w 1432703"/>
                <a:gd name="connsiteY13-1820" fmla="*/ 714562 h 3550128"/>
                <a:gd name="connsiteX14-1821" fmla="*/ 870643 w 1432703"/>
                <a:gd name="connsiteY14-1822" fmla="*/ 187 h 3550128"/>
                <a:gd name="connsiteX15-1823" fmla="*/ 832543 w 1432703"/>
                <a:gd name="connsiteY15-1824" fmla="*/ 647887 h 3550128"/>
                <a:gd name="connsiteX16-1825" fmla="*/ 908743 w 1432703"/>
                <a:gd name="connsiteY16-1826" fmla="*/ 1038412 h 3550128"/>
                <a:gd name="connsiteX17-1827" fmla="*/ 937318 w 1432703"/>
                <a:gd name="connsiteY17-1828" fmla="*/ 1286062 h 3550128"/>
                <a:gd name="connsiteX18-1829" fmla="*/ 1108768 w 1432703"/>
                <a:gd name="connsiteY18-1830" fmla="*/ 1152712 h 3550128"/>
                <a:gd name="connsiteX19-1831" fmla="*/ 1337368 w 1432703"/>
                <a:gd name="connsiteY19-1832" fmla="*/ 1133662 h 3550128"/>
                <a:gd name="connsiteX20-1833" fmla="*/ 1089718 w 1432703"/>
                <a:gd name="connsiteY20-1834" fmla="*/ 1190812 h 3550128"/>
                <a:gd name="connsiteX21-1835" fmla="*/ 880168 w 1432703"/>
                <a:gd name="connsiteY21-1836" fmla="*/ 1495612 h 3550128"/>
                <a:gd name="connsiteX22-1837" fmla="*/ 823018 w 1432703"/>
                <a:gd name="connsiteY22-1838" fmla="*/ 1857562 h 3550128"/>
                <a:gd name="connsiteX23-1839" fmla="*/ 975418 w 1432703"/>
                <a:gd name="connsiteY23-1840" fmla="*/ 2314762 h 3550128"/>
                <a:gd name="connsiteX24-1841" fmla="*/ 899218 w 1432703"/>
                <a:gd name="connsiteY24-1842" fmla="*/ 2552887 h 3550128"/>
                <a:gd name="connsiteX25-1843" fmla="*/ 1213543 w 1432703"/>
                <a:gd name="connsiteY25-1844" fmla="*/ 2495737 h 3550128"/>
                <a:gd name="connsiteX26-1845" fmla="*/ 1420712 w 1432703"/>
                <a:gd name="connsiteY26-1846" fmla="*/ 2583843 h 3550128"/>
                <a:gd name="connsiteX27-1847" fmla="*/ 1188143 w 1432703"/>
                <a:gd name="connsiteY27-1848" fmla="*/ 2552887 h 3550128"/>
                <a:gd name="connsiteX28-1849" fmla="*/ 832543 w 1432703"/>
                <a:gd name="connsiteY28-1850" fmla="*/ 2695762 h 3550128"/>
                <a:gd name="connsiteX29-1851" fmla="*/ 689668 w 1432703"/>
                <a:gd name="connsiteY29-1852" fmla="*/ 3048187 h 3550128"/>
                <a:gd name="connsiteX30-1853" fmla="*/ 918268 w 1432703"/>
                <a:gd name="connsiteY30-1854" fmla="*/ 3381562 h 3550128"/>
                <a:gd name="connsiteX31-1855" fmla="*/ 1016693 w 1432703"/>
                <a:gd name="connsiteY31-1856" fmla="*/ 3543487 h 3550128"/>
                <a:gd name="connsiteX0-1857" fmla="*/ 1016693 w 1420712"/>
                <a:gd name="connsiteY0-1858" fmla="*/ 3543487 h 3550128"/>
                <a:gd name="connsiteX1-1859" fmla="*/ 591243 w 1420712"/>
                <a:gd name="connsiteY1-1860" fmla="*/ 3549837 h 3550128"/>
                <a:gd name="connsiteX2-1861" fmla="*/ 394393 w 1420712"/>
                <a:gd name="connsiteY2-1862" fmla="*/ 3038662 h 3550128"/>
                <a:gd name="connsiteX3-1863" fmla="*/ 746818 w 1420712"/>
                <a:gd name="connsiteY3-1864" fmla="*/ 2343337 h 3550128"/>
                <a:gd name="connsiteX4-1865" fmla="*/ 560128 w 1420712"/>
                <a:gd name="connsiteY4-1866" fmla="*/ 1884232 h 3550128"/>
                <a:gd name="connsiteX5-1867" fmla="*/ 58 w 1420712"/>
                <a:gd name="connsiteY5-1868" fmla="*/ 1832797 h 3550128"/>
                <a:gd name="connsiteX6-1869" fmla="*/ 394393 w 1420712"/>
                <a:gd name="connsiteY6-1870" fmla="*/ 1705162 h 3550128"/>
                <a:gd name="connsiteX7-1871" fmla="*/ 642043 w 1420712"/>
                <a:gd name="connsiteY7-1872" fmla="*/ 1838512 h 3550128"/>
                <a:gd name="connsiteX8-1873" fmla="*/ 689668 w 1420712"/>
                <a:gd name="connsiteY8-1874" fmla="*/ 1609912 h 3550128"/>
                <a:gd name="connsiteX9-1875" fmla="*/ 823018 w 1420712"/>
                <a:gd name="connsiteY9-1876" fmla="*/ 1295587 h 3550128"/>
                <a:gd name="connsiteX10-1877" fmla="*/ 765868 w 1420712"/>
                <a:gd name="connsiteY10-1878" fmla="*/ 771712 h 3550128"/>
                <a:gd name="connsiteX11-1879" fmla="*/ 537268 w 1420712"/>
                <a:gd name="connsiteY11-1880" fmla="*/ 628837 h 3550128"/>
                <a:gd name="connsiteX12-1881" fmla="*/ 689668 w 1420712"/>
                <a:gd name="connsiteY12-1882" fmla="*/ 628837 h 3550128"/>
                <a:gd name="connsiteX13-1883" fmla="*/ 765868 w 1420712"/>
                <a:gd name="connsiteY13-1884" fmla="*/ 714562 h 3550128"/>
                <a:gd name="connsiteX14-1885" fmla="*/ 870643 w 1420712"/>
                <a:gd name="connsiteY14-1886" fmla="*/ 187 h 3550128"/>
                <a:gd name="connsiteX15-1887" fmla="*/ 832543 w 1420712"/>
                <a:gd name="connsiteY15-1888" fmla="*/ 647887 h 3550128"/>
                <a:gd name="connsiteX16-1889" fmla="*/ 908743 w 1420712"/>
                <a:gd name="connsiteY16-1890" fmla="*/ 1038412 h 3550128"/>
                <a:gd name="connsiteX17-1891" fmla="*/ 937318 w 1420712"/>
                <a:gd name="connsiteY17-1892" fmla="*/ 1286062 h 3550128"/>
                <a:gd name="connsiteX18-1893" fmla="*/ 1108768 w 1420712"/>
                <a:gd name="connsiteY18-1894" fmla="*/ 1152712 h 3550128"/>
                <a:gd name="connsiteX19-1895" fmla="*/ 1337368 w 1420712"/>
                <a:gd name="connsiteY19-1896" fmla="*/ 1133662 h 3550128"/>
                <a:gd name="connsiteX20-1897" fmla="*/ 1089718 w 1420712"/>
                <a:gd name="connsiteY20-1898" fmla="*/ 1190812 h 3550128"/>
                <a:gd name="connsiteX21-1899" fmla="*/ 880168 w 1420712"/>
                <a:gd name="connsiteY21-1900" fmla="*/ 1495612 h 3550128"/>
                <a:gd name="connsiteX22-1901" fmla="*/ 823018 w 1420712"/>
                <a:gd name="connsiteY22-1902" fmla="*/ 1857562 h 3550128"/>
                <a:gd name="connsiteX23-1903" fmla="*/ 975418 w 1420712"/>
                <a:gd name="connsiteY23-1904" fmla="*/ 2314762 h 3550128"/>
                <a:gd name="connsiteX24-1905" fmla="*/ 899218 w 1420712"/>
                <a:gd name="connsiteY24-1906" fmla="*/ 2552887 h 3550128"/>
                <a:gd name="connsiteX25-1907" fmla="*/ 1213543 w 1420712"/>
                <a:gd name="connsiteY25-1908" fmla="*/ 2495737 h 3550128"/>
                <a:gd name="connsiteX26-1909" fmla="*/ 1420712 w 1420712"/>
                <a:gd name="connsiteY26-1910" fmla="*/ 2583843 h 3550128"/>
                <a:gd name="connsiteX27-1911" fmla="*/ 1188143 w 1420712"/>
                <a:gd name="connsiteY27-1912" fmla="*/ 2552887 h 3550128"/>
                <a:gd name="connsiteX28-1913" fmla="*/ 832543 w 1420712"/>
                <a:gd name="connsiteY28-1914" fmla="*/ 2695762 h 3550128"/>
                <a:gd name="connsiteX29-1915" fmla="*/ 689668 w 1420712"/>
                <a:gd name="connsiteY29-1916" fmla="*/ 3048187 h 3550128"/>
                <a:gd name="connsiteX30-1917" fmla="*/ 918268 w 1420712"/>
                <a:gd name="connsiteY30-1918" fmla="*/ 3381562 h 3550128"/>
                <a:gd name="connsiteX31-1919" fmla="*/ 1016693 w 1420712"/>
                <a:gd name="connsiteY31-1920" fmla="*/ 3543487 h 3550128"/>
                <a:gd name="connsiteX0-1921" fmla="*/ 1016693 w 1432618"/>
                <a:gd name="connsiteY0-1922" fmla="*/ 3543487 h 3550128"/>
                <a:gd name="connsiteX1-1923" fmla="*/ 591243 w 1432618"/>
                <a:gd name="connsiteY1-1924" fmla="*/ 3549837 h 3550128"/>
                <a:gd name="connsiteX2-1925" fmla="*/ 394393 w 1432618"/>
                <a:gd name="connsiteY2-1926" fmla="*/ 3038662 h 3550128"/>
                <a:gd name="connsiteX3-1927" fmla="*/ 746818 w 1432618"/>
                <a:gd name="connsiteY3-1928" fmla="*/ 2343337 h 3550128"/>
                <a:gd name="connsiteX4-1929" fmla="*/ 560128 w 1432618"/>
                <a:gd name="connsiteY4-1930" fmla="*/ 1884232 h 3550128"/>
                <a:gd name="connsiteX5-1931" fmla="*/ 58 w 1432618"/>
                <a:gd name="connsiteY5-1932" fmla="*/ 1832797 h 3550128"/>
                <a:gd name="connsiteX6-1933" fmla="*/ 394393 w 1432618"/>
                <a:gd name="connsiteY6-1934" fmla="*/ 1705162 h 3550128"/>
                <a:gd name="connsiteX7-1935" fmla="*/ 642043 w 1432618"/>
                <a:gd name="connsiteY7-1936" fmla="*/ 1838512 h 3550128"/>
                <a:gd name="connsiteX8-1937" fmla="*/ 689668 w 1432618"/>
                <a:gd name="connsiteY8-1938" fmla="*/ 1609912 h 3550128"/>
                <a:gd name="connsiteX9-1939" fmla="*/ 823018 w 1432618"/>
                <a:gd name="connsiteY9-1940" fmla="*/ 1295587 h 3550128"/>
                <a:gd name="connsiteX10-1941" fmla="*/ 765868 w 1432618"/>
                <a:gd name="connsiteY10-1942" fmla="*/ 771712 h 3550128"/>
                <a:gd name="connsiteX11-1943" fmla="*/ 537268 w 1432618"/>
                <a:gd name="connsiteY11-1944" fmla="*/ 628837 h 3550128"/>
                <a:gd name="connsiteX12-1945" fmla="*/ 689668 w 1432618"/>
                <a:gd name="connsiteY12-1946" fmla="*/ 628837 h 3550128"/>
                <a:gd name="connsiteX13-1947" fmla="*/ 765868 w 1432618"/>
                <a:gd name="connsiteY13-1948" fmla="*/ 714562 h 3550128"/>
                <a:gd name="connsiteX14-1949" fmla="*/ 870643 w 1432618"/>
                <a:gd name="connsiteY14-1950" fmla="*/ 187 h 3550128"/>
                <a:gd name="connsiteX15-1951" fmla="*/ 832543 w 1432618"/>
                <a:gd name="connsiteY15-1952" fmla="*/ 647887 h 3550128"/>
                <a:gd name="connsiteX16-1953" fmla="*/ 908743 w 1432618"/>
                <a:gd name="connsiteY16-1954" fmla="*/ 1038412 h 3550128"/>
                <a:gd name="connsiteX17-1955" fmla="*/ 937318 w 1432618"/>
                <a:gd name="connsiteY17-1956" fmla="*/ 1286062 h 3550128"/>
                <a:gd name="connsiteX18-1957" fmla="*/ 1108768 w 1432618"/>
                <a:gd name="connsiteY18-1958" fmla="*/ 1152712 h 3550128"/>
                <a:gd name="connsiteX19-1959" fmla="*/ 1337368 w 1432618"/>
                <a:gd name="connsiteY19-1960" fmla="*/ 1133662 h 3550128"/>
                <a:gd name="connsiteX20-1961" fmla="*/ 1089718 w 1432618"/>
                <a:gd name="connsiteY20-1962" fmla="*/ 1190812 h 3550128"/>
                <a:gd name="connsiteX21-1963" fmla="*/ 880168 w 1432618"/>
                <a:gd name="connsiteY21-1964" fmla="*/ 1495612 h 3550128"/>
                <a:gd name="connsiteX22-1965" fmla="*/ 823018 w 1432618"/>
                <a:gd name="connsiteY22-1966" fmla="*/ 1857562 h 3550128"/>
                <a:gd name="connsiteX23-1967" fmla="*/ 975418 w 1432618"/>
                <a:gd name="connsiteY23-1968" fmla="*/ 2314762 h 3550128"/>
                <a:gd name="connsiteX24-1969" fmla="*/ 899218 w 1432618"/>
                <a:gd name="connsiteY24-1970" fmla="*/ 2552887 h 3550128"/>
                <a:gd name="connsiteX25-1971" fmla="*/ 1213543 w 1432618"/>
                <a:gd name="connsiteY25-1972" fmla="*/ 2495737 h 3550128"/>
                <a:gd name="connsiteX26-1973" fmla="*/ 1432618 w 1432618"/>
                <a:gd name="connsiteY26-1974" fmla="*/ 2588606 h 3550128"/>
                <a:gd name="connsiteX27-1975" fmla="*/ 1188143 w 1432618"/>
                <a:gd name="connsiteY27-1976" fmla="*/ 2552887 h 3550128"/>
                <a:gd name="connsiteX28-1977" fmla="*/ 832543 w 1432618"/>
                <a:gd name="connsiteY28-1978" fmla="*/ 2695762 h 3550128"/>
                <a:gd name="connsiteX29-1979" fmla="*/ 689668 w 1432618"/>
                <a:gd name="connsiteY29-1980" fmla="*/ 3048187 h 3550128"/>
                <a:gd name="connsiteX30-1981" fmla="*/ 918268 w 1432618"/>
                <a:gd name="connsiteY30-1982" fmla="*/ 3381562 h 3550128"/>
                <a:gd name="connsiteX31-1983" fmla="*/ 1016693 w 1432618"/>
                <a:gd name="connsiteY31-1984" fmla="*/ 3543487 h 3550128"/>
                <a:gd name="connsiteX0-1985" fmla="*/ 1016693 w 1432618"/>
                <a:gd name="connsiteY0-1986" fmla="*/ 3543487 h 3550128"/>
                <a:gd name="connsiteX1-1987" fmla="*/ 591243 w 1432618"/>
                <a:gd name="connsiteY1-1988" fmla="*/ 3549837 h 3550128"/>
                <a:gd name="connsiteX2-1989" fmla="*/ 394393 w 1432618"/>
                <a:gd name="connsiteY2-1990" fmla="*/ 3038662 h 3550128"/>
                <a:gd name="connsiteX3-1991" fmla="*/ 746818 w 1432618"/>
                <a:gd name="connsiteY3-1992" fmla="*/ 2343337 h 3550128"/>
                <a:gd name="connsiteX4-1993" fmla="*/ 560128 w 1432618"/>
                <a:gd name="connsiteY4-1994" fmla="*/ 1884232 h 3550128"/>
                <a:gd name="connsiteX5-1995" fmla="*/ 58 w 1432618"/>
                <a:gd name="connsiteY5-1996" fmla="*/ 1832797 h 3550128"/>
                <a:gd name="connsiteX6-1997" fmla="*/ 394393 w 1432618"/>
                <a:gd name="connsiteY6-1998" fmla="*/ 1705162 h 3550128"/>
                <a:gd name="connsiteX7-1999" fmla="*/ 642043 w 1432618"/>
                <a:gd name="connsiteY7-2000" fmla="*/ 1838512 h 3550128"/>
                <a:gd name="connsiteX8-2001" fmla="*/ 689668 w 1432618"/>
                <a:gd name="connsiteY8-2002" fmla="*/ 1609912 h 3550128"/>
                <a:gd name="connsiteX9-2003" fmla="*/ 823018 w 1432618"/>
                <a:gd name="connsiteY9-2004" fmla="*/ 1295587 h 3550128"/>
                <a:gd name="connsiteX10-2005" fmla="*/ 765868 w 1432618"/>
                <a:gd name="connsiteY10-2006" fmla="*/ 771712 h 3550128"/>
                <a:gd name="connsiteX11-2007" fmla="*/ 537268 w 1432618"/>
                <a:gd name="connsiteY11-2008" fmla="*/ 628837 h 3550128"/>
                <a:gd name="connsiteX12-2009" fmla="*/ 689668 w 1432618"/>
                <a:gd name="connsiteY12-2010" fmla="*/ 628837 h 3550128"/>
                <a:gd name="connsiteX13-2011" fmla="*/ 765868 w 1432618"/>
                <a:gd name="connsiteY13-2012" fmla="*/ 714562 h 3550128"/>
                <a:gd name="connsiteX14-2013" fmla="*/ 870643 w 1432618"/>
                <a:gd name="connsiteY14-2014" fmla="*/ 187 h 3550128"/>
                <a:gd name="connsiteX15-2015" fmla="*/ 832543 w 1432618"/>
                <a:gd name="connsiteY15-2016" fmla="*/ 647887 h 3550128"/>
                <a:gd name="connsiteX16-2017" fmla="*/ 908743 w 1432618"/>
                <a:gd name="connsiteY16-2018" fmla="*/ 1038412 h 3550128"/>
                <a:gd name="connsiteX17-2019" fmla="*/ 937318 w 1432618"/>
                <a:gd name="connsiteY17-2020" fmla="*/ 1286062 h 3550128"/>
                <a:gd name="connsiteX18-2021" fmla="*/ 1108768 w 1432618"/>
                <a:gd name="connsiteY18-2022" fmla="*/ 1152712 h 3550128"/>
                <a:gd name="connsiteX19-2023" fmla="*/ 1337368 w 1432618"/>
                <a:gd name="connsiteY19-2024" fmla="*/ 1133662 h 3550128"/>
                <a:gd name="connsiteX20-2025" fmla="*/ 1089718 w 1432618"/>
                <a:gd name="connsiteY20-2026" fmla="*/ 1190812 h 3550128"/>
                <a:gd name="connsiteX21-2027" fmla="*/ 880168 w 1432618"/>
                <a:gd name="connsiteY21-2028" fmla="*/ 1495612 h 3550128"/>
                <a:gd name="connsiteX22-2029" fmla="*/ 823018 w 1432618"/>
                <a:gd name="connsiteY22-2030" fmla="*/ 1857562 h 3550128"/>
                <a:gd name="connsiteX23-2031" fmla="*/ 975418 w 1432618"/>
                <a:gd name="connsiteY23-2032" fmla="*/ 2314762 h 3550128"/>
                <a:gd name="connsiteX24-2033" fmla="*/ 899218 w 1432618"/>
                <a:gd name="connsiteY24-2034" fmla="*/ 2552887 h 3550128"/>
                <a:gd name="connsiteX25-2035" fmla="*/ 1213543 w 1432618"/>
                <a:gd name="connsiteY25-2036" fmla="*/ 2495737 h 3550128"/>
                <a:gd name="connsiteX26-2037" fmla="*/ 1432618 w 1432618"/>
                <a:gd name="connsiteY26-2038" fmla="*/ 2588606 h 3550128"/>
                <a:gd name="connsiteX27-2039" fmla="*/ 1188143 w 1432618"/>
                <a:gd name="connsiteY27-2040" fmla="*/ 2552887 h 3550128"/>
                <a:gd name="connsiteX28-2041" fmla="*/ 832543 w 1432618"/>
                <a:gd name="connsiteY28-2042" fmla="*/ 2695762 h 3550128"/>
                <a:gd name="connsiteX29-2043" fmla="*/ 689668 w 1432618"/>
                <a:gd name="connsiteY29-2044" fmla="*/ 3048187 h 3550128"/>
                <a:gd name="connsiteX30-2045" fmla="*/ 918268 w 1432618"/>
                <a:gd name="connsiteY30-2046" fmla="*/ 3381562 h 3550128"/>
                <a:gd name="connsiteX31-2047" fmla="*/ 1016693 w 1432618"/>
                <a:gd name="connsiteY31-2048" fmla="*/ 3543487 h 3550128"/>
                <a:gd name="connsiteX0-2049" fmla="*/ 1016693 w 1432618"/>
                <a:gd name="connsiteY0-2050" fmla="*/ 3543487 h 3550128"/>
                <a:gd name="connsiteX1-2051" fmla="*/ 591243 w 1432618"/>
                <a:gd name="connsiteY1-2052" fmla="*/ 3549837 h 3550128"/>
                <a:gd name="connsiteX2-2053" fmla="*/ 394393 w 1432618"/>
                <a:gd name="connsiteY2-2054" fmla="*/ 3038662 h 3550128"/>
                <a:gd name="connsiteX3-2055" fmla="*/ 746818 w 1432618"/>
                <a:gd name="connsiteY3-2056" fmla="*/ 2343337 h 3550128"/>
                <a:gd name="connsiteX4-2057" fmla="*/ 560128 w 1432618"/>
                <a:gd name="connsiteY4-2058" fmla="*/ 1884232 h 3550128"/>
                <a:gd name="connsiteX5-2059" fmla="*/ 58 w 1432618"/>
                <a:gd name="connsiteY5-2060" fmla="*/ 1832797 h 3550128"/>
                <a:gd name="connsiteX6-2061" fmla="*/ 394393 w 1432618"/>
                <a:gd name="connsiteY6-2062" fmla="*/ 1705162 h 3550128"/>
                <a:gd name="connsiteX7-2063" fmla="*/ 642043 w 1432618"/>
                <a:gd name="connsiteY7-2064" fmla="*/ 1838512 h 3550128"/>
                <a:gd name="connsiteX8-2065" fmla="*/ 689668 w 1432618"/>
                <a:gd name="connsiteY8-2066" fmla="*/ 1609912 h 3550128"/>
                <a:gd name="connsiteX9-2067" fmla="*/ 823018 w 1432618"/>
                <a:gd name="connsiteY9-2068" fmla="*/ 1295587 h 3550128"/>
                <a:gd name="connsiteX10-2069" fmla="*/ 765868 w 1432618"/>
                <a:gd name="connsiteY10-2070" fmla="*/ 771712 h 3550128"/>
                <a:gd name="connsiteX11-2071" fmla="*/ 537268 w 1432618"/>
                <a:gd name="connsiteY11-2072" fmla="*/ 628837 h 3550128"/>
                <a:gd name="connsiteX12-2073" fmla="*/ 689668 w 1432618"/>
                <a:gd name="connsiteY12-2074" fmla="*/ 628837 h 3550128"/>
                <a:gd name="connsiteX13-2075" fmla="*/ 765868 w 1432618"/>
                <a:gd name="connsiteY13-2076" fmla="*/ 714562 h 3550128"/>
                <a:gd name="connsiteX14-2077" fmla="*/ 870643 w 1432618"/>
                <a:gd name="connsiteY14-2078" fmla="*/ 187 h 3550128"/>
                <a:gd name="connsiteX15-2079" fmla="*/ 832543 w 1432618"/>
                <a:gd name="connsiteY15-2080" fmla="*/ 647887 h 3550128"/>
                <a:gd name="connsiteX16-2081" fmla="*/ 908743 w 1432618"/>
                <a:gd name="connsiteY16-2082" fmla="*/ 1038412 h 3550128"/>
                <a:gd name="connsiteX17-2083" fmla="*/ 937318 w 1432618"/>
                <a:gd name="connsiteY17-2084" fmla="*/ 1286062 h 3550128"/>
                <a:gd name="connsiteX18-2085" fmla="*/ 1108768 w 1432618"/>
                <a:gd name="connsiteY18-2086" fmla="*/ 1152712 h 3550128"/>
                <a:gd name="connsiteX19-2087" fmla="*/ 1337368 w 1432618"/>
                <a:gd name="connsiteY19-2088" fmla="*/ 1133662 h 3550128"/>
                <a:gd name="connsiteX20-2089" fmla="*/ 1089718 w 1432618"/>
                <a:gd name="connsiteY20-2090" fmla="*/ 1190812 h 3550128"/>
                <a:gd name="connsiteX21-2091" fmla="*/ 880168 w 1432618"/>
                <a:gd name="connsiteY21-2092" fmla="*/ 1495612 h 3550128"/>
                <a:gd name="connsiteX22-2093" fmla="*/ 823018 w 1432618"/>
                <a:gd name="connsiteY22-2094" fmla="*/ 1857562 h 3550128"/>
                <a:gd name="connsiteX23-2095" fmla="*/ 975418 w 1432618"/>
                <a:gd name="connsiteY23-2096" fmla="*/ 2314762 h 3550128"/>
                <a:gd name="connsiteX24-2097" fmla="*/ 899218 w 1432618"/>
                <a:gd name="connsiteY24-2098" fmla="*/ 2552887 h 3550128"/>
                <a:gd name="connsiteX25-2099" fmla="*/ 1213543 w 1432618"/>
                <a:gd name="connsiteY25-2100" fmla="*/ 2495737 h 3550128"/>
                <a:gd name="connsiteX26-2101" fmla="*/ 1432618 w 1432618"/>
                <a:gd name="connsiteY26-2102" fmla="*/ 2588606 h 3550128"/>
                <a:gd name="connsiteX27-2103" fmla="*/ 1188143 w 1432618"/>
                <a:gd name="connsiteY27-2104" fmla="*/ 2552887 h 3550128"/>
                <a:gd name="connsiteX28-2105" fmla="*/ 832543 w 1432618"/>
                <a:gd name="connsiteY28-2106" fmla="*/ 2695762 h 3550128"/>
                <a:gd name="connsiteX29-2107" fmla="*/ 689668 w 1432618"/>
                <a:gd name="connsiteY29-2108" fmla="*/ 3048187 h 3550128"/>
                <a:gd name="connsiteX30-2109" fmla="*/ 918268 w 1432618"/>
                <a:gd name="connsiteY30-2110" fmla="*/ 3381562 h 3550128"/>
                <a:gd name="connsiteX31-2111" fmla="*/ 1016693 w 1432618"/>
                <a:gd name="connsiteY31-2112" fmla="*/ 3543487 h 3550128"/>
                <a:gd name="connsiteX0-2113" fmla="*/ 1016693 w 1432618"/>
                <a:gd name="connsiteY0-2114" fmla="*/ 3543487 h 3550128"/>
                <a:gd name="connsiteX1-2115" fmla="*/ 591243 w 1432618"/>
                <a:gd name="connsiteY1-2116" fmla="*/ 3549837 h 3550128"/>
                <a:gd name="connsiteX2-2117" fmla="*/ 394393 w 1432618"/>
                <a:gd name="connsiteY2-2118" fmla="*/ 3038662 h 3550128"/>
                <a:gd name="connsiteX3-2119" fmla="*/ 746818 w 1432618"/>
                <a:gd name="connsiteY3-2120" fmla="*/ 2343337 h 3550128"/>
                <a:gd name="connsiteX4-2121" fmla="*/ 560128 w 1432618"/>
                <a:gd name="connsiteY4-2122" fmla="*/ 1884232 h 3550128"/>
                <a:gd name="connsiteX5-2123" fmla="*/ 58 w 1432618"/>
                <a:gd name="connsiteY5-2124" fmla="*/ 1832797 h 3550128"/>
                <a:gd name="connsiteX6-2125" fmla="*/ 394393 w 1432618"/>
                <a:gd name="connsiteY6-2126" fmla="*/ 1705162 h 3550128"/>
                <a:gd name="connsiteX7-2127" fmla="*/ 642043 w 1432618"/>
                <a:gd name="connsiteY7-2128" fmla="*/ 1838512 h 3550128"/>
                <a:gd name="connsiteX8-2129" fmla="*/ 689668 w 1432618"/>
                <a:gd name="connsiteY8-2130" fmla="*/ 1609912 h 3550128"/>
                <a:gd name="connsiteX9-2131" fmla="*/ 823018 w 1432618"/>
                <a:gd name="connsiteY9-2132" fmla="*/ 1295587 h 3550128"/>
                <a:gd name="connsiteX10-2133" fmla="*/ 765868 w 1432618"/>
                <a:gd name="connsiteY10-2134" fmla="*/ 771712 h 3550128"/>
                <a:gd name="connsiteX11-2135" fmla="*/ 537268 w 1432618"/>
                <a:gd name="connsiteY11-2136" fmla="*/ 628837 h 3550128"/>
                <a:gd name="connsiteX12-2137" fmla="*/ 689668 w 1432618"/>
                <a:gd name="connsiteY12-2138" fmla="*/ 628837 h 3550128"/>
                <a:gd name="connsiteX13-2139" fmla="*/ 765868 w 1432618"/>
                <a:gd name="connsiteY13-2140" fmla="*/ 714562 h 3550128"/>
                <a:gd name="connsiteX14-2141" fmla="*/ 870643 w 1432618"/>
                <a:gd name="connsiteY14-2142" fmla="*/ 187 h 3550128"/>
                <a:gd name="connsiteX15-2143" fmla="*/ 832543 w 1432618"/>
                <a:gd name="connsiteY15-2144" fmla="*/ 647887 h 3550128"/>
                <a:gd name="connsiteX16-2145" fmla="*/ 908743 w 1432618"/>
                <a:gd name="connsiteY16-2146" fmla="*/ 1038412 h 3550128"/>
                <a:gd name="connsiteX17-2147" fmla="*/ 937318 w 1432618"/>
                <a:gd name="connsiteY17-2148" fmla="*/ 1286062 h 3550128"/>
                <a:gd name="connsiteX18-2149" fmla="*/ 1108768 w 1432618"/>
                <a:gd name="connsiteY18-2150" fmla="*/ 1152712 h 3550128"/>
                <a:gd name="connsiteX19-2151" fmla="*/ 1337368 w 1432618"/>
                <a:gd name="connsiteY19-2152" fmla="*/ 1133662 h 3550128"/>
                <a:gd name="connsiteX20-2153" fmla="*/ 1089718 w 1432618"/>
                <a:gd name="connsiteY20-2154" fmla="*/ 1190812 h 3550128"/>
                <a:gd name="connsiteX21-2155" fmla="*/ 880168 w 1432618"/>
                <a:gd name="connsiteY21-2156" fmla="*/ 1495612 h 3550128"/>
                <a:gd name="connsiteX22-2157" fmla="*/ 823018 w 1432618"/>
                <a:gd name="connsiteY22-2158" fmla="*/ 1857562 h 3550128"/>
                <a:gd name="connsiteX23-2159" fmla="*/ 975418 w 1432618"/>
                <a:gd name="connsiteY23-2160" fmla="*/ 2314762 h 3550128"/>
                <a:gd name="connsiteX24-2161" fmla="*/ 899218 w 1432618"/>
                <a:gd name="connsiteY24-2162" fmla="*/ 2552887 h 3550128"/>
                <a:gd name="connsiteX25-2163" fmla="*/ 1213543 w 1432618"/>
                <a:gd name="connsiteY25-2164" fmla="*/ 2495737 h 3550128"/>
                <a:gd name="connsiteX26-2165" fmla="*/ 1432618 w 1432618"/>
                <a:gd name="connsiteY26-2166" fmla="*/ 2588606 h 3550128"/>
                <a:gd name="connsiteX27-2167" fmla="*/ 1188143 w 1432618"/>
                <a:gd name="connsiteY27-2168" fmla="*/ 2552887 h 3550128"/>
                <a:gd name="connsiteX28-2169" fmla="*/ 832543 w 1432618"/>
                <a:gd name="connsiteY28-2170" fmla="*/ 2695762 h 3550128"/>
                <a:gd name="connsiteX29-2171" fmla="*/ 689668 w 1432618"/>
                <a:gd name="connsiteY29-2172" fmla="*/ 3048187 h 3550128"/>
                <a:gd name="connsiteX30-2173" fmla="*/ 918268 w 1432618"/>
                <a:gd name="connsiteY30-2174" fmla="*/ 3381562 h 3550128"/>
                <a:gd name="connsiteX31-2175" fmla="*/ 1016693 w 1432618"/>
                <a:gd name="connsiteY31-2176" fmla="*/ 3543487 h 3550128"/>
                <a:gd name="connsiteX0-2177" fmla="*/ 1016693 w 1432618"/>
                <a:gd name="connsiteY0-2178" fmla="*/ 3543487 h 3550128"/>
                <a:gd name="connsiteX1-2179" fmla="*/ 591243 w 1432618"/>
                <a:gd name="connsiteY1-2180" fmla="*/ 3549837 h 3550128"/>
                <a:gd name="connsiteX2-2181" fmla="*/ 394393 w 1432618"/>
                <a:gd name="connsiteY2-2182" fmla="*/ 3038662 h 3550128"/>
                <a:gd name="connsiteX3-2183" fmla="*/ 746818 w 1432618"/>
                <a:gd name="connsiteY3-2184" fmla="*/ 2343337 h 3550128"/>
                <a:gd name="connsiteX4-2185" fmla="*/ 560128 w 1432618"/>
                <a:gd name="connsiteY4-2186" fmla="*/ 1884232 h 3550128"/>
                <a:gd name="connsiteX5-2187" fmla="*/ 58 w 1432618"/>
                <a:gd name="connsiteY5-2188" fmla="*/ 1832797 h 3550128"/>
                <a:gd name="connsiteX6-2189" fmla="*/ 394393 w 1432618"/>
                <a:gd name="connsiteY6-2190" fmla="*/ 1705162 h 3550128"/>
                <a:gd name="connsiteX7-2191" fmla="*/ 642043 w 1432618"/>
                <a:gd name="connsiteY7-2192" fmla="*/ 1838512 h 3550128"/>
                <a:gd name="connsiteX8-2193" fmla="*/ 689668 w 1432618"/>
                <a:gd name="connsiteY8-2194" fmla="*/ 1609912 h 3550128"/>
                <a:gd name="connsiteX9-2195" fmla="*/ 823018 w 1432618"/>
                <a:gd name="connsiteY9-2196" fmla="*/ 1295587 h 3550128"/>
                <a:gd name="connsiteX10-2197" fmla="*/ 765868 w 1432618"/>
                <a:gd name="connsiteY10-2198" fmla="*/ 771712 h 3550128"/>
                <a:gd name="connsiteX11-2199" fmla="*/ 537268 w 1432618"/>
                <a:gd name="connsiteY11-2200" fmla="*/ 628837 h 3550128"/>
                <a:gd name="connsiteX12-2201" fmla="*/ 689668 w 1432618"/>
                <a:gd name="connsiteY12-2202" fmla="*/ 628837 h 3550128"/>
                <a:gd name="connsiteX13-2203" fmla="*/ 765868 w 1432618"/>
                <a:gd name="connsiteY13-2204" fmla="*/ 714562 h 3550128"/>
                <a:gd name="connsiteX14-2205" fmla="*/ 870643 w 1432618"/>
                <a:gd name="connsiteY14-2206" fmla="*/ 187 h 3550128"/>
                <a:gd name="connsiteX15-2207" fmla="*/ 832543 w 1432618"/>
                <a:gd name="connsiteY15-2208" fmla="*/ 647887 h 3550128"/>
                <a:gd name="connsiteX16-2209" fmla="*/ 908743 w 1432618"/>
                <a:gd name="connsiteY16-2210" fmla="*/ 1038412 h 3550128"/>
                <a:gd name="connsiteX17-2211" fmla="*/ 937318 w 1432618"/>
                <a:gd name="connsiteY17-2212" fmla="*/ 1286062 h 3550128"/>
                <a:gd name="connsiteX18-2213" fmla="*/ 1108768 w 1432618"/>
                <a:gd name="connsiteY18-2214" fmla="*/ 1152712 h 3550128"/>
                <a:gd name="connsiteX19-2215" fmla="*/ 1337368 w 1432618"/>
                <a:gd name="connsiteY19-2216" fmla="*/ 1133662 h 3550128"/>
                <a:gd name="connsiteX20-2217" fmla="*/ 1089718 w 1432618"/>
                <a:gd name="connsiteY20-2218" fmla="*/ 1190812 h 3550128"/>
                <a:gd name="connsiteX21-2219" fmla="*/ 880168 w 1432618"/>
                <a:gd name="connsiteY21-2220" fmla="*/ 1495612 h 3550128"/>
                <a:gd name="connsiteX22-2221" fmla="*/ 823018 w 1432618"/>
                <a:gd name="connsiteY22-2222" fmla="*/ 1857562 h 3550128"/>
                <a:gd name="connsiteX23-2223" fmla="*/ 975418 w 1432618"/>
                <a:gd name="connsiteY23-2224" fmla="*/ 2314762 h 3550128"/>
                <a:gd name="connsiteX24-2225" fmla="*/ 899218 w 1432618"/>
                <a:gd name="connsiteY24-2226" fmla="*/ 2552887 h 3550128"/>
                <a:gd name="connsiteX25-2227" fmla="*/ 1213543 w 1432618"/>
                <a:gd name="connsiteY25-2228" fmla="*/ 2495737 h 3550128"/>
                <a:gd name="connsiteX26-2229" fmla="*/ 1432618 w 1432618"/>
                <a:gd name="connsiteY26-2230" fmla="*/ 2588606 h 3550128"/>
                <a:gd name="connsiteX27-2231" fmla="*/ 1188143 w 1432618"/>
                <a:gd name="connsiteY27-2232" fmla="*/ 2552887 h 3550128"/>
                <a:gd name="connsiteX28-2233" fmla="*/ 832543 w 1432618"/>
                <a:gd name="connsiteY28-2234" fmla="*/ 2695762 h 3550128"/>
                <a:gd name="connsiteX29-2235" fmla="*/ 689668 w 1432618"/>
                <a:gd name="connsiteY29-2236" fmla="*/ 3048187 h 3550128"/>
                <a:gd name="connsiteX30-2237" fmla="*/ 918268 w 1432618"/>
                <a:gd name="connsiteY30-2238" fmla="*/ 3381562 h 3550128"/>
                <a:gd name="connsiteX31-2239" fmla="*/ 1016693 w 1432618"/>
                <a:gd name="connsiteY31-2240" fmla="*/ 3543487 h 3550128"/>
                <a:gd name="connsiteX0-2241" fmla="*/ 1016693 w 1432618"/>
                <a:gd name="connsiteY0-2242" fmla="*/ 3543487 h 3550128"/>
                <a:gd name="connsiteX1-2243" fmla="*/ 591243 w 1432618"/>
                <a:gd name="connsiteY1-2244" fmla="*/ 3549837 h 3550128"/>
                <a:gd name="connsiteX2-2245" fmla="*/ 394393 w 1432618"/>
                <a:gd name="connsiteY2-2246" fmla="*/ 3038662 h 3550128"/>
                <a:gd name="connsiteX3-2247" fmla="*/ 746818 w 1432618"/>
                <a:gd name="connsiteY3-2248" fmla="*/ 2343337 h 3550128"/>
                <a:gd name="connsiteX4-2249" fmla="*/ 560128 w 1432618"/>
                <a:gd name="connsiteY4-2250" fmla="*/ 1884232 h 3550128"/>
                <a:gd name="connsiteX5-2251" fmla="*/ 58 w 1432618"/>
                <a:gd name="connsiteY5-2252" fmla="*/ 1832797 h 3550128"/>
                <a:gd name="connsiteX6-2253" fmla="*/ 394393 w 1432618"/>
                <a:gd name="connsiteY6-2254" fmla="*/ 1705162 h 3550128"/>
                <a:gd name="connsiteX7-2255" fmla="*/ 642043 w 1432618"/>
                <a:gd name="connsiteY7-2256" fmla="*/ 1838512 h 3550128"/>
                <a:gd name="connsiteX8-2257" fmla="*/ 689668 w 1432618"/>
                <a:gd name="connsiteY8-2258" fmla="*/ 1609912 h 3550128"/>
                <a:gd name="connsiteX9-2259" fmla="*/ 823018 w 1432618"/>
                <a:gd name="connsiteY9-2260" fmla="*/ 1295587 h 3550128"/>
                <a:gd name="connsiteX10-2261" fmla="*/ 765868 w 1432618"/>
                <a:gd name="connsiteY10-2262" fmla="*/ 771712 h 3550128"/>
                <a:gd name="connsiteX11-2263" fmla="*/ 537268 w 1432618"/>
                <a:gd name="connsiteY11-2264" fmla="*/ 628837 h 3550128"/>
                <a:gd name="connsiteX12-2265" fmla="*/ 689668 w 1432618"/>
                <a:gd name="connsiteY12-2266" fmla="*/ 628837 h 3550128"/>
                <a:gd name="connsiteX13-2267" fmla="*/ 765868 w 1432618"/>
                <a:gd name="connsiteY13-2268" fmla="*/ 714562 h 3550128"/>
                <a:gd name="connsiteX14-2269" fmla="*/ 870643 w 1432618"/>
                <a:gd name="connsiteY14-2270" fmla="*/ 187 h 3550128"/>
                <a:gd name="connsiteX15-2271" fmla="*/ 832543 w 1432618"/>
                <a:gd name="connsiteY15-2272" fmla="*/ 647887 h 3550128"/>
                <a:gd name="connsiteX16-2273" fmla="*/ 908743 w 1432618"/>
                <a:gd name="connsiteY16-2274" fmla="*/ 1038412 h 3550128"/>
                <a:gd name="connsiteX17-2275" fmla="*/ 937318 w 1432618"/>
                <a:gd name="connsiteY17-2276" fmla="*/ 1286062 h 3550128"/>
                <a:gd name="connsiteX18-2277" fmla="*/ 1108768 w 1432618"/>
                <a:gd name="connsiteY18-2278" fmla="*/ 1152712 h 3550128"/>
                <a:gd name="connsiteX19-2279" fmla="*/ 1337368 w 1432618"/>
                <a:gd name="connsiteY19-2280" fmla="*/ 1133662 h 3550128"/>
                <a:gd name="connsiteX20-2281" fmla="*/ 1089718 w 1432618"/>
                <a:gd name="connsiteY20-2282" fmla="*/ 1190812 h 3550128"/>
                <a:gd name="connsiteX21-2283" fmla="*/ 880168 w 1432618"/>
                <a:gd name="connsiteY21-2284" fmla="*/ 1495612 h 3550128"/>
                <a:gd name="connsiteX22-2285" fmla="*/ 823018 w 1432618"/>
                <a:gd name="connsiteY22-2286" fmla="*/ 1857562 h 3550128"/>
                <a:gd name="connsiteX23-2287" fmla="*/ 975418 w 1432618"/>
                <a:gd name="connsiteY23-2288" fmla="*/ 2314762 h 3550128"/>
                <a:gd name="connsiteX24-2289" fmla="*/ 899218 w 1432618"/>
                <a:gd name="connsiteY24-2290" fmla="*/ 2552887 h 3550128"/>
                <a:gd name="connsiteX25-2291" fmla="*/ 1213543 w 1432618"/>
                <a:gd name="connsiteY25-2292" fmla="*/ 2495737 h 3550128"/>
                <a:gd name="connsiteX26-2293" fmla="*/ 1432618 w 1432618"/>
                <a:gd name="connsiteY26-2294" fmla="*/ 2588606 h 3550128"/>
                <a:gd name="connsiteX27-2295" fmla="*/ 1188143 w 1432618"/>
                <a:gd name="connsiteY27-2296" fmla="*/ 2552887 h 3550128"/>
                <a:gd name="connsiteX28-2297" fmla="*/ 832543 w 1432618"/>
                <a:gd name="connsiteY28-2298" fmla="*/ 2695762 h 3550128"/>
                <a:gd name="connsiteX29-2299" fmla="*/ 689668 w 1432618"/>
                <a:gd name="connsiteY29-2300" fmla="*/ 3048187 h 3550128"/>
                <a:gd name="connsiteX30-2301" fmla="*/ 918268 w 1432618"/>
                <a:gd name="connsiteY30-2302" fmla="*/ 3381562 h 3550128"/>
                <a:gd name="connsiteX31-2303" fmla="*/ 1016693 w 1432618"/>
                <a:gd name="connsiteY31-2304" fmla="*/ 3543487 h 3550128"/>
                <a:gd name="connsiteX0-2305" fmla="*/ 1016693 w 1432618"/>
                <a:gd name="connsiteY0-2306" fmla="*/ 3543487 h 3550128"/>
                <a:gd name="connsiteX1-2307" fmla="*/ 591243 w 1432618"/>
                <a:gd name="connsiteY1-2308" fmla="*/ 3549837 h 3550128"/>
                <a:gd name="connsiteX2-2309" fmla="*/ 394393 w 1432618"/>
                <a:gd name="connsiteY2-2310" fmla="*/ 3038662 h 3550128"/>
                <a:gd name="connsiteX3-2311" fmla="*/ 746818 w 1432618"/>
                <a:gd name="connsiteY3-2312" fmla="*/ 2343337 h 3550128"/>
                <a:gd name="connsiteX4-2313" fmla="*/ 560128 w 1432618"/>
                <a:gd name="connsiteY4-2314" fmla="*/ 1884232 h 3550128"/>
                <a:gd name="connsiteX5-2315" fmla="*/ 58 w 1432618"/>
                <a:gd name="connsiteY5-2316" fmla="*/ 1832797 h 3550128"/>
                <a:gd name="connsiteX6-2317" fmla="*/ 394393 w 1432618"/>
                <a:gd name="connsiteY6-2318" fmla="*/ 1705162 h 3550128"/>
                <a:gd name="connsiteX7-2319" fmla="*/ 642043 w 1432618"/>
                <a:gd name="connsiteY7-2320" fmla="*/ 1838512 h 3550128"/>
                <a:gd name="connsiteX8-2321" fmla="*/ 689668 w 1432618"/>
                <a:gd name="connsiteY8-2322" fmla="*/ 1609912 h 3550128"/>
                <a:gd name="connsiteX9-2323" fmla="*/ 823018 w 1432618"/>
                <a:gd name="connsiteY9-2324" fmla="*/ 1295587 h 3550128"/>
                <a:gd name="connsiteX10-2325" fmla="*/ 765868 w 1432618"/>
                <a:gd name="connsiteY10-2326" fmla="*/ 771712 h 3550128"/>
                <a:gd name="connsiteX11-2327" fmla="*/ 537268 w 1432618"/>
                <a:gd name="connsiteY11-2328" fmla="*/ 628837 h 3550128"/>
                <a:gd name="connsiteX12-2329" fmla="*/ 689668 w 1432618"/>
                <a:gd name="connsiteY12-2330" fmla="*/ 628837 h 3550128"/>
                <a:gd name="connsiteX13-2331" fmla="*/ 765868 w 1432618"/>
                <a:gd name="connsiteY13-2332" fmla="*/ 714562 h 3550128"/>
                <a:gd name="connsiteX14-2333" fmla="*/ 870643 w 1432618"/>
                <a:gd name="connsiteY14-2334" fmla="*/ 187 h 3550128"/>
                <a:gd name="connsiteX15-2335" fmla="*/ 832543 w 1432618"/>
                <a:gd name="connsiteY15-2336" fmla="*/ 647887 h 3550128"/>
                <a:gd name="connsiteX16-2337" fmla="*/ 908743 w 1432618"/>
                <a:gd name="connsiteY16-2338" fmla="*/ 1038412 h 3550128"/>
                <a:gd name="connsiteX17-2339" fmla="*/ 937318 w 1432618"/>
                <a:gd name="connsiteY17-2340" fmla="*/ 1286062 h 3550128"/>
                <a:gd name="connsiteX18-2341" fmla="*/ 1108768 w 1432618"/>
                <a:gd name="connsiteY18-2342" fmla="*/ 1152712 h 3550128"/>
                <a:gd name="connsiteX19-2343" fmla="*/ 1337368 w 1432618"/>
                <a:gd name="connsiteY19-2344" fmla="*/ 1133662 h 3550128"/>
                <a:gd name="connsiteX20-2345" fmla="*/ 1089718 w 1432618"/>
                <a:gd name="connsiteY20-2346" fmla="*/ 1190812 h 3550128"/>
                <a:gd name="connsiteX21-2347" fmla="*/ 880168 w 1432618"/>
                <a:gd name="connsiteY21-2348" fmla="*/ 1495612 h 3550128"/>
                <a:gd name="connsiteX22-2349" fmla="*/ 823018 w 1432618"/>
                <a:gd name="connsiteY22-2350" fmla="*/ 1857562 h 3550128"/>
                <a:gd name="connsiteX23-2351" fmla="*/ 975418 w 1432618"/>
                <a:gd name="connsiteY23-2352" fmla="*/ 2314762 h 3550128"/>
                <a:gd name="connsiteX24-2353" fmla="*/ 899218 w 1432618"/>
                <a:gd name="connsiteY24-2354" fmla="*/ 2552887 h 3550128"/>
                <a:gd name="connsiteX25-2355" fmla="*/ 1213543 w 1432618"/>
                <a:gd name="connsiteY25-2356" fmla="*/ 2495737 h 3550128"/>
                <a:gd name="connsiteX26-2357" fmla="*/ 1432618 w 1432618"/>
                <a:gd name="connsiteY26-2358" fmla="*/ 2588606 h 3550128"/>
                <a:gd name="connsiteX27-2359" fmla="*/ 1188143 w 1432618"/>
                <a:gd name="connsiteY27-2360" fmla="*/ 2552887 h 3550128"/>
                <a:gd name="connsiteX28-2361" fmla="*/ 832543 w 1432618"/>
                <a:gd name="connsiteY28-2362" fmla="*/ 2695762 h 3550128"/>
                <a:gd name="connsiteX29-2363" fmla="*/ 689668 w 1432618"/>
                <a:gd name="connsiteY29-2364" fmla="*/ 3048187 h 3550128"/>
                <a:gd name="connsiteX30-2365" fmla="*/ 918268 w 1432618"/>
                <a:gd name="connsiteY30-2366" fmla="*/ 3381562 h 3550128"/>
                <a:gd name="connsiteX31-2367" fmla="*/ 1016693 w 1432618"/>
                <a:gd name="connsiteY31-2368" fmla="*/ 3543487 h 3550128"/>
                <a:gd name="connsiteX0-2369" fmla="*/ 1016693 w 1432618"/>
                <a:gd name="connsiteY0-2370" fmla="*/ 3543487 h 3550128"/>
                <a:gd name="connsiteX1-2371" fmla="*/ 591243 w 1432618"/>
                <a:gd name="connsiteY1-2372" fmla="*/ 3549837 h 3550128"/>
                <a:gd name="connsiteX2-2373" fmla="*/ 394393 w 1432618"/>
                <a:gd name="connsiteY2-2374" fmla="*/ 3038662 h 3550128"/>
                <a:gd name="connsiteX3-2375" fmla="*/ 746818 w 1432618"/>
                <a:gd name="connsiteY3-2376" fmla="*/ 2343337 h 3550128"/>
                <a:gd name="connsiteX4-2377" fmla="*/ 560128 w 1432618"/>
                <a:gd name="connsiteY4-2378" fmla="*/ 1884232 h 3550128"/>
                <a:gd name="connsiteX5-2379" fmla="*/ 58 w 1432618"/>
                <a:gd name="connsiteY5-2380" fmla="*/ 1832797 h 3550128"/>
                <a:gd name="connsiteX6-2381" fmla="*/ 394393 w 1432618"/>
                <a:gd name="connsiteY6-2382" fmla="*/ 1705162 h 3550128"/>
                <a:gd name="connsiteX7-2383" fmla="*/ 642043 w 1432618"/>
                <a:gd name="connsiteY7-2384" fmla="*/ 1838512 h 3550128"/>
                <a:gd name="connsiteX8-2385" fmla="*/ 689668 w 1432618"/>
                <a:gd name="connsiteY8-2386" fmla="*/ 1609912 h 3550128"/>
                <a:gd name="connsiteX9-2387" fmla="*/ 823018 w 1432618"/>
                <a:gd name="connsiteY9-2388" fmla="*/ 1295587 h 3550128"/>
                <a:gd name="connsiteX10-2389" fmla="*/ 765868 w 1432618"/>
                <a:gd name="connsiteY10-2390" fmla="*/ 771712 h 3550128"/>
                <a:gd name="connsiteX11-2391" fmla="*/ 537268 w 1432618"/>
                <a:gd name="connsiteY11-2392" fmla="*/ 628837 h 3550128"/>
                <a:gd name="connsiteX12-2393" fmla="*/ 689668 w 1432618"/>
                <a:gd name="connsiteY12-2394" fmla="*/ 628837 h 3550128"/>
                <a:gd name="connsiteX13-2395" fmla="*/ 765868 w 1432618"/>
                <a:gd name="connsiteY13-2396" fmla="*/ 714562 h 3550128"/>
                <a:gd name="connsiteX14-2397" fmla="*/ 870643 w 1432618"/>
                <a:gd name="connsiteY14-2398" fmla="*/ 187 h 3550128"/>
                <a:gd name="connsiteX15-2399" fmla="*/ 832543 w 1432618"/>
                <a:gd name="connsiteY15-2400" fmla="*/ 647887 h 3550128"/>
                <a:gd name="connsiteX16-2401" fmla="*/ 908743 w 1432618"/>
                <a:gd name="connsiteY16-2402" fmla="*/ 1038412 h 3550128"/>
                <a:gd name="connsiteX17-2403" fmla="*/ 937318 w 1432618"/>
                <a:gd name="connsiteY17-2404" fmla="*/ 1286062 h 3550128"/>
                <a:gd name="connsiteX18-2405" fmla="*/ 1108768 w 1432618"/>
                <a:gd name="connsiteY18-2406" fmla="*/ 1152712 h 3550128"/>
                <a:gd name="connsiteX19-2407" fmla="*/ 1337368 w 1432618"/>
                <a:gd name="connsiteY19-2408" fmla="*/ 1133662 h 3550128"/>
                <a:gd name="connsiteX20-2409" fmla="*/ 1089718 w 1432618"/>
                <a:gd name="connsiteY20-2410" fmla="*/ 1190812 h 3550128"/>
                <a:gd name="connsiteX21-2411" fmla="*/ 880168 w 1432618"/>
                <a:gd name="connsiteY21-2412" fmla="*/ 1495612 h 3550128"/>
                <a:gd name="connsiteX22-2413" fmla="*/ 823018 w 1432618"/>
                <a:gd name="connsiteY22-2414" fmla="*/ 1857562 h 3550128"/>
                <a:gd name="connsiteX23-2415" fmla="*/ 975418 w 1432618"/>
                <a:gd name="connsiteY23-2416" fmla="*/ 2314762 h 3550128"/>
                <a:gd name="connsiteX24-2417" fmla="*/ 896043 w 1432618"/>
                <a:gd name="connsiteY24-2418" fmla="*/ 2540187 h 3550128"/>
                <a:gd name="connsiteX25-2419" fmla="*/ 1213543 w 1432618"/>
                <a:gd name="connsiteY25-2420" fmla="*/ 2495737 h 3550128"/>
                <a:gd name="connsiteX26-2421" fmla="*/ 1432618 w 1432618"/>
                <a:gd name="connsiteY26-2422" fmla="*/ 2588606 h 3550128"/>
                <a:gd name="connsiteX27-2423" fmla="*/ 1188143 w 1432618"/>
                <a:gd name="connsiteY27-2424" fmla="*/ 2552887 h 3550128"/>
                <a:gd name="connsiteX28-2425" fmla="*/ 832543 w 1432618"/>
                <a:gd name="connsiteY28-2426" fmla="*/ 2695762 h 3550128"/>
                <a:gd name="connsiteX29-2427" fmla="*/ 689668 w 1432618"/>
                <a:gd name="connsiteY29-2428" fmla="*/ 3048187 h 3550128"/>
                <a:gd name="connsiteX30-2429" fmla="*/ 918268 w 1432618"/>
                <a:gd name="connsiteY30-2430" fmla="*/ 3381562 h 3550128"/>
                <a:gd name="connsiteX31-2431" fmla="*/ 1016693 w 1432618"/>
                <a:gd name="connsiteY31-2432" fmla="*/ 3543487 h 3550128"/>
                <a:gd name="connsiteX0-2433" fmla="*/ 1016693 w 1432618"/>
                <a:gd name="connsiteY0-2434" fmla="*/ 3543487 h 3550128"/>
                <a:gd name="connsiteX1-2435" fmla="*/ 591243 w 1432618"/>
                <a:gd name="connsiteY1-2436" fmla="*/ 3549837 h 3550128"/>
                <a:gd name="connsiteX2-2437" fmla="*/ 394393 w 1432618"/>
                <a:gd name="connsiteY2-2438" fmla="*/ 3038662 h 3550128"/>
                <a:gd name="connsiteX3-2439" fmla="*/ 746818 w 1432618"/>
                <a:gd name="connsiteY3-2440" fmla="*/ 2343337 h 3550128"/>
                <a:gd name="connsiteX4-2441" fmla="*/ 560128 w 1432618"/>
                <a:gd name="connsiteY4-2442" fmla="*/ 1884232 h 3550128"/>
                <a:gd name="connsiteX5-2443" fmla="*/ 58 w 1432618"/>
                <a:gd name="connsiteY5-2444" fmla="*/ 1832797 h 3550128"/>
                <a:gd name="connsiteX6-2445" fmla="*/ 394393 w 1432618"/>
                <a:gd name="connsiteY6-2446" fmla="*/ 1705162 h 3550128"/>
                <a:gd name="connsiteX7-2447" fmla="*/ 642043 w 1432618"/>
                <a:gd name="connsiteY7-2448" fmla="*/ 1838512 h 3550128"/>
                <a:gd name="connsiteX8-2449" fmla="*/ 689668 w 1432618"/>
                <a:gd name="connsiteY8-2450" fmla="*/ 1609912 h 3550128"/>
                <a:gd name="connsiteX9-2451" fmla="*/ 823018 w 1432618"/>
                <a:gd name="connsiteY9-2452" fmla="*/ 1295587 h 3550128"/>
                <a:gd name="connsiteX10-2453" fmla="*/ 765868 w 1432618"/>
                <a:gd name="connsiteY10-2454" fmla="*/ 771712 h 3550128"/>
                <a:gd name="connsiteX11-2455" fmla="*/ 537268 w 1432618"/>
                <a:gd name="connsiteY11-2456" fmla="*/ 628837 h 3550128"/>
                <a:gd name="connsiteX12-2457" fmla="*/ 689668 w 1432618"/>
                <a:gd name="connsiteY12-2458" fmla="*/ 628837 h 3550128"/>
                <a:gd name="connsiteX13-2459" fmla="*/ 765868 w 1432618"/>
                <a:gd name="connsiteY13-2460" fmla="*/ 714562 h 3550128"/>
                <a:gd name="connsiteX14-2461" fmla="*/ 870643 w 1432618"/>
                <a:gd name="connsiteY14-2462" fmla="*/ 187 h 3550128"/>
                <a:gd name="connsiteX15-2463" fmla="*/ 832543 w 1432618"/>
                <a:gd name="connsiteY15-2464" fmla="*/ 647887 h 3550128"/>
                <a:gd name="connsiteX16-2465" fmla="*/ 908743 w 1432618"/>
                <a:gd name="connsiteY16-2466" fmla="*/ 1038412 h 3550128"/>
                <a:gd name="connsiteX17-2467" fmla="*/ 937318 w 1432618"/>
                <a:gd name="connsiteY17-2468" fmla="*/ 1286062 h 3550128"/>
                <a:gd name="connsiteX18-2469" fmla="*/ 1108768 w 1432618"/>
                <a:gd name="connsiteY18-2470" fmla="*/ 1152712 h 3550128"/>
                <a:gd name="connsiteX19-2471" fmla="*/ 1337368 w 1432618"/>
                <a:gd name="connsiteY19-2472" fmla="*/ 1133662 h 3550128"/>
                <a:gd name="connsiteX20-2473" fmla="*/ 1089718 w 1432618"/>
                <a:gd name="connsiteY20-2474" fmla="*/ 1190812 h 3550128"/>
                <a:gd name="connsiteX21-2475" fmla="*/ 880168 w 1432618"/>
                <a:gd name="connsiteY21-2476" fmla="*/ 1495612 h 3550128"/>
                <a:gd name="connsiteX22-2477" fmla="*/ 823018 w 1432618"/>
                <a:gd name="connsiteY22-2478" fmla="*/ 1857562 h 3550128"/>
                <a:gd name="connsiteX23-2479" fmla="*/ 975418 w 1432618"/>
                <a:gd name="connsiteY23-2480" fmla="*/ 2314762 h 3550128"/>
                <a:gd name="connsiteX24-2481" fmla="*/ 896043 w 1432618"/>
                <a:gd name="connsiteY24-2482" fmla="*/ 2540187 h 3550128"/>
                <a:gd name="connsiteX25-2483" fmla="*/ 1213543 w 1432618"/>
                <a:gd name="connsiteY25-2484" fmla="*/ 2495737 h 3550128"/>
                <a:gd name="connsiteX26-2485" fmla="*/ 1432618 w 1432618"/>
                <a:gd name="connsiteY26-2486" fmla="*/ 2588606 h 3550128"/>
                <a:gd name="connsiteX27-2487" fmla="*/ 1188143 w 1432618"/>
                <a:gd name="connsiteY27-2488" fmla="*/ 2552887 h 3550128"/>
                <a:gd name="connsiteX28-2489" fmla="*/ 832543 w 1432618"/>
                <a:gd name="connsiteY28-2490" fmla="*/ 2695762 h 3550128"/>
                <a:gd name="connsiteX29-2491" fmla="*/ 689668 w 1432618"/>
                <a:gd name="connsiteY29-2492" fmla="*/ 3048187 h 3550128"/>
                <a:gd name="connsiteX30-2493" fmla="*/ 918268 w 1432618"/>
                <a:gd name="connsiteY30-2494" fmla="*/ 3381562 h 3550128"/>
                <a:gd name="connsiteX31-2495" fmla="*/ 1016693 w 1432618"/>
                <a:gd name="connsiteY31-2496" fmla="*/ 3543487 h 3550128"/>
                <a:gd name="connsiteX0-2497" fmla="*/ 1016693 w 1432618"/>
                <a:gd name="connsiteY0-2498" fmla="*/ 3543487 h 3550128"/>
                <a:gd name="connsiteX1-2499" fmla="*/ 591243 w 1432618"/>
                <a:gd name="connsiteY1-2500" fmla="*/ 3549837 h 3550128"/>
                <a:gd name="connsiteX2-2501" fmla="*/ 394393 w 1432618"/>
                <a:gd name="connsiteY2-2502" fmla="*/ 3038662 h 3550128"/>
                <a:gd name="connsiteX3-2503" fmla="*/ 746818 w 1432618"/>
                <a:gd name="connsiteY3-2504" fmla="*/ 2343337 h 3550128"/>
                <a:gd name="connsiteX4-2505" fmla="*/ 560128 w 1432618"/>
                <a:gd name="connsiteY4-2506" fmla="*/ 1884232 h 3550128"/>
                <a:gd name="connsiteX5-2507" fmla="*/ 58 w 1432618"/>
                <a:gd name="connsiteY5-2508" fmla="*/ 1832797 h 3550128"/>
                <a:gd name="connsiteX6-2509" fmla="*/ 394393 w 1432618"/>
                <a:gd name="connsiteY6-2510" fmla="*/ 1705162 h 3550128"/>
                <a:gd name="connsiteX7-2511" fmla="*/ 642043 w 1432618"/>
                <a:gd name="connsiteY7-2512" fmla="*/ 1838512 h 3550128"/>
                <a:gd name="connsiteX8-2513" fmla="*/ 689668 w 1432618"/>
                <a:gd name="connsiteY8-2514" fmla="*/ 1609912 h 3550128"/>
                <a:gd name="connsiteX9-2515" fmla="*/ 823018 w 1432618"/>
                <a:gd name="connsiteY9-2516" fmla="*/ 1295587 h 3550128"/>
                <a:gd name="connsiteX10-2517" fmla="*/ 765868 w 1432618"/>
                <a:gd name="connsiteY10-2518" fmla="*/ 771712 h 3550128"/>
                <a:gd name="connsiteX11-2519" fmla="*/ 537268 w 1432618"/>
                <a:gd name="connsiteY11-2520" fmla="*/ 628837 h 3550128"/>
                <a:gd name="connsiteX12-2521" fmla="*/ 689668 w 1432618"/>
                <a:gd name="connsiteY12-2522" fmla="*/ 628837 h 3550128"/>
                <a:gd name="connsiteX13-2523" fmla="*/ 765868 w 1432618"/>
                <a:gd name="connsiteY13-2524" fmla="*/ 714562 h 3550128"/>
                <a:gd name="connsiteX14-2525" fmla="*/ 870643 w 1432618"/>
                <a:gd name="connsiteY14-2526" fmla="*/ 187 h 3550128"/>
                <a:gd name="connsiteX15-2527" fmla="*/ 832543 w 1432618"/>
                <a:gd name="connsiteY15-2528" fmla="*/ 647887 h 3550128"/>
                <a:gd name="connsiteX16-2529" fmla="*/ 908743 w 1432618"/>
                <a:gd name="connsiteY16-2530" fmla="*/ 1038412 h 3550128"/>
                <a:gd name="connsiteX17-2531" fmla="*/ 937318 w 1432618"/>
                <a:gd name="connsiteY17-2532" fmla="*/ 1286062 h 3550128"/>
                <a:gd name="connsiteX18-2533" fmla="*/ 1108768 w 1432618"/>
                <a:gd name="connsiteY18-2534" fmla="*/ 1152712 h 3550128"/>
                <a:gd name="connsiteX19-2535" fmla="*/ 1337368 w 1432618"/>
                <a:gd name="connsiteY19-2536" fmla="*/ 1133662 h 3550128"/>
                <a:gd name="connsiteX20-2537" fmla="*/ 1089718 w 1432618"/>
                <a:gd name="connsiteY20-2538" fmla="*/ 1190812 h 3550128"/>
                <a:gd name="connsiteX21-2539" fmla="*/ 880168 w 1432618"/>
                <a:gd name="connsiteY21-2540" fmla="*/ 1495612 h 3550128"/>
                <a:gd name="connsiteX22-2541" fmla="*/ 823018 w 1432618"/>
                <a:gd name="connsiteY22-2542" fmla="*/ 1857562 h 3550128"/>
                <a:gd name="connsiteX23-2543" fmla="*/ 975418 w 1432618"/>
                <a:gd name="connsiteY23-2544" fmla="*/ 2314762 h 3550128"/>
                <a:gd name="connsiteX24-2545" fmla="*/ 896043 w 1432618"/>
                <a:gd name="connsiteY24-2546" fmla="*/ 2540187 h 3550128"/>
                <a:gd name="connsiteX25-2547" fmla="*/ 1213543 w 1432618"/>
                <a:gd name="connsiteY25-2548" fmla="*/ 2495737 h 3550128"/>
                <a:gd name="connsiteX26-2549" fmla="*/ 1432618 w 1432618"/>
                <a:gd name="connsiteY26-2550" fmla="*/ 2588606 h 3550128"/>
                <a:gd name="connsiteX27-2551" fmla="*/ 1188143 w 1432618"/>
                <a:gd name="connsiteY27-2552" fmla="*/ 2552887 h 3550128"/>
                <a:gd name="connsiteX28-2553" fmla="*/ 832543 w 1432618"/>
                <a:gd name="connsiteY28-2554" fmla="*/ 2695762 h 3550128"/>
                <a:gd name="connsiteX29-2555" fmla="*/ 689668 w 1432618"/>
                <a:gd name="connsiteY29-2556" fmla="*/ 3048187 h 3550128"/>
                <a:gd name="connsiteX30-2557" fmla="*/ 918268 w 1432618"/>
                <a:gd name="connsiteY30-2558" fmla="*/ 3381562 h 3550128"/>
                <a:gd name="connsiteX31-2559" fmla="*/ 1016693 w 1432618"/>
                <a:gd name="connsiteY31-2560" fmla="*/ 3543487 h 3550128"/>
                <a:gd name="connsiteX0-2561" fmla="*/ 1016693 w 1432618"/>
                <a:gd name="connsiteY0-2562" fmla="*/ 3543487 h 3550128"/>
                <a:gd name="connsiteX1-2563" fmla="*/ 591243 w 1432618"/>
                <a:gd name="connsiteY1-2564" fmla="*/ 3549837 h 3550128"/>
                <a:gd name="connsiteX2-2565" fmla="*/ 394393 w 1432618"/>
                <a:gd name="connsiteY2-2566" fmla="*/ 3038662 h 3550128"/>
                <a:gd name="connsiteX3-2567" fmla="*/ 746818 w 1432618"/>
                <a:gd name="connsiteY3-2568" fmla="*/ 2343337 h 3550128"/>
                <a:gd name="connsiteX4-2569" fmla="*/ 560128 w 1432618"/>
                <a:gd name="connsiteY4-2570" fmla="*/ 1884232 h 3550128"/>
                <a:gd name="connsiteX5-2571" fmla="*/ 58 w 1432618"/>
                <a:gd name="connsiteY5-2572" fmla="*/ 1832797 h 3550128"/>
                <a:gd name="connsiteX6-2573" fmla="*/ 394393 w 1432618"/>
                <a:gd name="connsiteY6-2574" fmla="*/ 1705162 h 3550128"/>
                <a:gd name="connsiteX7-2575" fmla="*/ 642043 w 1432618"/>
                <a:gd name="connsiteY7-2576" fmla="*/ 1838512 h 3550128"/>
                <a:gd name="connsiteX8-2577" fmla="*/ 689668 w 1432618"/>
                <a:gd name="connsiteY8-2578" fmla="*/ 1609912 h 3550128"/>
                <a:gd name="connsiteX9-2579" fmla="*/ 823018 w 1432618"/>
                <a:gd name="connsiteY9-2580" fmla="*/ 1295587 h 3550128"/>
                <a:gd name="connsiteX10-2581" fmla="*/ 765868 w 1432618"/>
                <a:gd name="connsiteY10-2582" fmla="*/ 771712 h 3550128"/>
                <a:gd name="connsiteX11-2583" fmla="*/ 537268 w 1432618"/>
                <a:gd name="connsiteY11-2584" fmla="*/ 628837 h 3550128"/>
                <a:gd name="connsiteX12-2585" fmla="*/ 689668 w 1432618"/>
                <a:gd name="connsiteY12-2586" fmla="*/ 628837 h 3550128"/>
                <a:gd name="connsiteX13-2587" fmla="*/ 765868 w 1432618"/>
                <a:gd name="connsiteY13-2588" fmla="*/ 714562 h 3550128"/>
                <a:gd name="connsiteX14-2589" fmla="*/ 870643 w 1432618"/>
                <a:gd name="connsiteY14-2590" fmla="*/ 187 h 3550128"/>
                <a:gd name="connsiteX15-2591" fmla="*/ 832543 w 1432618"/>
                <a:gd name="connsiteY15-2592" fmla="*/ 647887 h 3550128"/>
                <a:gd name="connsiteX16-2593" fmla="*/ 908743 w 1432618"/>
                <a:gd name="connsiteY16-2594" fmla="*/ 1038412 h 3550128"/>
                <a:gd name="connsiteX17-2595" fmla="*/ 937318 w 1432618"/>
                <a:gd name="connsiteY17-2596" fmla="*/ 1286062 h 3550128"/>
                <a:gd name="connsiteX18-2597" fmla="*/ 1108768 w 1432618"/>
                <a:gd name="connsiteY18-2598" fmla="*/ 1152712 h 3550128"/>
                <a:gd name="connsiteX19-2599" fmla="*/ 1337368 w 1432618"/>
                <a:gd name="connsiteY19-2600" fmla="*/ 1133662 h 3550128"/>
                <a:gd name="connsiteX20-2601" fmla="*/ 1089718 w 1432618"/>
                <a:gd name="connsiteY20-2602" fmla="*/ 1190812 h 3550128"/>
                <a:gd name="connsiteX21-2603" fmla="*/ 880168 w 1432618"/>
                <a:gd name="connsiteY21-2604" fmla="*/ 1495612 h 3550128"/>
                <a:gd name="connsiteX22-2605" fmla="*/ 823018 w 1432618"/>
                <a:gd name="connsiteY22-2606" fmla="*/ 1857562 h 3550128"/>
                <a:gd name="connsiteX23-2607" fmla="*/ 975418 w 1432618"/>
                <a:gd name="connsiteY23-2608" fmla="*/ 2314762 h 3550128"/>
                <a:gd name="connsiteX24-2609" fmla="*/ 896043 w 1432618"/>
                <a:gd name="connsiteY24-2610" fmla="*/ 2540187 h 3550128"/>
                <a:gd name="connsiteX25-2611" fmla="*/ 1213543 w 1432618"/>
                <a:gd name="connsiteY25-2612" fmla="*/ 2495737 h 3550128"/>
                <a:gd name="connsiteX26-2613" fmla="*/ 1432618 w 1432618"/>
                <a:gd name="connsiteY26-2614" fmla="*/ 2588606 h 3550128"/>
                <a:gd name="connsiteX27-2615" fmla="*/ 1188143 w 1432618"/>
                <a:gd name="connsiteY27-2616" fmla="*/ 2552887 h 3550128"/>
                <a:gd name="connsiteX28-2617" fmla="*/ 832543 w 1432618"/>
                <a:gd name="connsiteY28-2618" fmla="*/ 2695762 h 3550128"/>
                <a:gd name="connsiteX29-2619" fmla="*/ 689668 w 1432618"/>
                <a:gd name="connsiteY29-2620" fmla="*/ 3048187 h 3550128"/>
                <a:gd name="connsiteX30-2621" fmla="*/ 918268 w 1432618"/>
                <a:gd name="connsiteY30-2622" fmla="*/ 3381562 h 3550128"/>
                <a:gd name="connsiteX31-2623" fmla="*/ 1016693 w 1432618"/>
                <a:gd name="connsiteY31-2624" fmla="*/ 3543487 h 3550128"/>
                <a:gd name="connsiteX0-2625" fmla="*/ 1016693 w 1432618"/>
                <a:gd name="connsiteY0-2626" fmla="*/ 3543487 h 3550128"/>
                <a:gd name="connsiteX1-2627" fmla="*/ 591243 w 1432618"/>
                <a:gd name="connsiteY1-2628" fmla="*/ 3549837 h 3550128"/>
                <a:gd name="connsiteX2-2629" fmla="*/ 394393 w 1432618"/>
                <a:gd name="connsiteY2-2630" fmla="*/ 3038662 h 3550128"/>
                <a:gd name="connsiteX3-2631" fmla="*/ 746818 w 1432618"/>
                <a:gd name="connsiteY3-2632" fmla="*/ 2343337 h 3550128"/>
                <a:gd name="connsiteX4-2633" fmla="*/ 560128 w 1432618"/>
                <a:gd name="connsiteY4-2634" fmla="*/ 1884232 h 3550128"/>
                <a:gd name="connsiteX5-2635" fmla="*/ 58 w 1432618"/>
                <a:gd name="connsiteY5-2636" fmla="*/ 1832797 h 3550128"/>
                <a:gd name="connsiteX6-2637" fmla="*/ 394393 w 1432618"/>
                <a:gd name="connsiteY6-2638" fmla="*/ 1705162 h 3550128"/>
                <a:gd name="connsiteX7-2639" fmla="*/ 642043 w 1432618"/>
                <a:gd name="connsiteY7-2640" fmla="*/ 1838512 h 3550128"/>
                <a:gd name="connsiteX8-2641" fmla="*/ 689668 w 1432618"/>
                <a:gd name="connsiteY8-2642" fmla="*/ 1609912 h 3550128"/>
                <a:gd name="connsiteX9-2643" fmla="*/ 823018 w 1432618"/>
                <a:gd name="connsiteY9-2644" fmla="*/ 1295587 h 3550128"/>
                <a:gd name="connsiteX10-2645" fmla="*/ 765868 w 1432618"/>
                <a:gd name="connsiteY10-2646" fmla="*/ 771712 h 3550128"/>
                <a:gd name="connsiteX11-2647" fmla="*/ 537268 w 1432618"/>
                <a:gd name="connsiteY11-2648" fmla="*/ 628837 h 3550128"/>
                <a:gd name="connsiteX12-2649" fmla="*/ 689668 w 1432618"/>
                <a:gd name="connsiteY12-2650" fmla="*/ 628837 h 3550128"/>
                <a:gd name="connsiteX13-2651" fmla="*/ 765868 w 1432618"/>
                <a:gd name="connsiteY13-2652" fmla="*/ 714562 h 3550128"/>
                <a:gd name="connsiteX14-2653" fmla="*/ 870643 w 1432618"/>
                <a:gd name="connsiteY14-2654" fmla="*/ 187 h 3550128"/>
                <a:gd name="connsiteX15-2655" fmla="*/ 832543 w 1432618"/>
                <a:gd name="connsiteY15-2656" fmla="*/ 647887 h 3550128"/>
                <a:gd name="connsiteX16-2657" fmla="*/ 908743 w 1432618"/>
                <a:gd name="connsiteY16-2658" fmla="*/ 1038412 h 3550128"/>
                <a:gd name="connsiteX17-2659" fmla="*/ 937318 w 1432618"/>
                <a:gd name="connsiteY17-2660" fmla="*/ 1286062 h 3550128"/>
                <a:gd name="connsiteX18-2661" fmla="*/ 1108768 w 1432618"/>
                <a:gd name="connsiteY18-2662" fmla="*/ 1152712 h 3550128"/>
                <a:gd name="connsiteX19-2663" fmla="*/ 1337368 w 1432618"/>
                <a:gd name="connsiteY19-2664" fmla="*/ 1133662 h 3550128"/>
                <a:gd name="connsiteX20-2665" fmla="*/ 1089718 w 1432618"/>
                <a:gd name="connsiteY20-2666" fmla="*/ 1190812 h 3550128"/>
                <a:gd name="connsiteX21-2667" fmla="*/ 880168 w 1432618"/>
                <a:gd name="connsiteY21-2668" fmla="*/ 1495612 h 3550128"/>
                <a:gd name="connsiteX22-2669" fmla="*/ 823018 w 1432618"/>
                <a:gd name="connsiteY22-2670" fmla="*/ 1857562 h 3550128"/>
                <a:gd name="connsiteX23-2671" fmla="*/ 1003993 w 1432618"/>
                <a:gd name="connsiteY23-2672" fmla="*/ 2270312 h 3550128"/>
                <a:gd name="connsiteX24-2673" fmla="*/ 896043 w 1432618"/>
                <a:gd name="connsiteY24-2674" fmla="*/ 2540187 h 3550128"/>
                <a:gd name="connsiteX25-2675" fmla="*/ 1213543 w 1432618"/>
                <a:gd name="connsiteY25-2676" fmla="*/ 2495737 h 3550128"/>
                <a:gd name="connsiteX26-2677" fmla="*/ 1432618 w 1432618"/>
                <a:gd name="connsiteY26-2678" fmla="*/ 2588606 h 3550128"/>
                <a:gd name="connsiteX27-2679" fmla="*/ 1188143 w 1432618"/>
                <a:gd name="connsiteY27-2680" fmla="*/ 2552887 h 3550128"/>
                <a:gd name="connsiteX28-2681" fmla="*/ 832543 w 1432618"/>
                <a:gd name="connsiteY28-2682" fmla="*/ 2695762 h 3550128"/>
                <a:gd name="connsiteX29-2683" fmla="*/ 689668 w 1432618"/>
                <a:gd name="connsiteY29-2684" fmla="*/ 3048187 h 3550128"/>
                <a:gd name="connsiteX30-2685" fmla="*/ 918268 w 1432618"/>
                <a:gd name="connsiteY30-2686" fmla="*/ 3381562 h 3550128"/>
                <a:gd name="connsiteX31-2687" fmla="*/ 1016693 w 1432618"/>
                <a:gd name="connsiteY31-2688" fmla="*/ 3543487 h 3550128"/>
                <a:gd name="connsiteX0-2689" fmla="*/ 1016693 w 1432618"/>
                <a:gd name="connsiteY0-2690" fmla="*/ 3543487 h 3550128"/>
                <a:gd name="connsiteX1-2691" fmla="*/ 591243 w 1432618"/>
                <a:gd name="connsiteY1-2692" fmla="*/ 3549837 h 3550128"/>
                <a:gd name="connsiteX2-2693" fmla="*/ 394393 w 1432618"/>
                <a:gd name="connsiteY2-2694" fmla="*/ 3038662 h 3550128"/>
                <a:gd name="connsiteX3-2695" fmla="*/ 746818 w 1432618"/>
                <a:gd name="connsiteY3-2696" fmla="*/ 2343337 h 3550128"/>
                <a:gd name="connsiteX4-2697" fmla="*/ 560128 w 1432618"/>
                <a:gd name="connsiteY4-2698" fmla="*/ 1884232 h 3550128"/>
                <a:gd name="connsiteX5-2699" fmla="*/ 58 w 1432618"/>
                <a:gd name="connsiteY5-2700" fmla="*/ 1832797 h 3550128"/>
                <a:gd name="connsiteX6-2701" fmla="*/ 394393 w 1432618"/>
                <a:gd name="connsiteY6-2702" fmla="*/ 1705162 h 3550128"/>
                <a:gd name="connsiteX7-2703" fmla="*/ 642043 w 1432618"/>
                <a:gd name="connsiteY7-2704" fmla="*/ 1838512 h 3550128"/>
                <a:gd name="connsiteX8-2705" fmla="*/ 689668 w 1432618"/>
                <a:gd name="connsiteY8-2706" fmla="*/ 1609912 h 3550128"/>
                <a:gd name="connsiteX9-2707" fmla="*/ 823018 w 1432618"/>
                <a:gd name="connsiteY9-2708" fmla="*/ 1295587 h 3550128"/>
                <a:gd name="connsiteX10-2709" fmla="*/ 765868 w 1432618"/>
                <a:gd name="connsiteY10-2710" fmla="*/ 771712 h 3550128"/>
                <a:gd name="connsiteX11-2711" fmla="*/ 537268 w 1432618"/>
                <a:gd name="connsiteY11-2712" fmla="*/ 628837 h 3550128"/>
                <a:gd name="connsiteX12-2713" fmla="*/ 689668 w 1432618"/>
                <a:gd name="connsiteY12-2714" fmla="*/ 628837 h 3550128"/>
                <a:gd name="connsiteX13-2715" fmla="*/ 765868 w 1432618"/>
                <a:gd name="connsiteY13-2716" fmla="*/ 714562 h 3550128"/>
                <a:gd name="connsiteX14-2717" fmla="*/ 870643 w 1432618"/>
                <a:gd name="connsiteY14-2718" fmla="*/ 187 h 3550128"/>
                <a:gd name="connsiteX15-2719" fmla="*/ 832543 w 1432618"/>
                <a:gd name="connsiteY15-2720" fmla="*/ 647887 h 3550128"/>
                <a:gd name="connsiteX16-2721" fmla="*/ 908743 w 1432618"/>
                <a:gd name="connsiteY16-2722" fmla="*/ 1038412 h 3550128"/>
                <a:gd name="connsiteX17-2723" fmla="*/ 937318 w 1432618"/>
                <a:gd name="connsiteY17-2724" fmla="*/ 1286062 h 3550128"/>
                <a:gd name="connsiteX18-2725" fmla="*/ 1108768 w 1432618"/>
                <a:gd name="connsiteY18-2726" fmla="*/ 1152712 h 3550128"/>
                <a:gd name="connsiteX19-2727" fmla="*/ 1337368 w 1432618"/>
                <a:gd name="connsiteY19-2728" fmla="*/ 1133662 h 3550128"/>
                <a:gd name="connsiteX20-2729" fmla="*/ 1089718 w 1432618"/>
                <a:gd name="connsiteY20-2730" fmla="*/ 1190812 h 3550128"/>
                <a:gd name="connsiteX21-2731" fmla="*/ 880168 w 1432618"/>
                <a:gd name="connsiteY21-2732" fmla="*/ 1495612 h 3550128"/>
                <a:gd name="connsiteX22-2733" fmla="*/ 835718 w 1432618"/>
                <a:gd name="connsiteY22-2734" fmla="*/ 1857562 h 3550128"/>
                <a:gd name="connsiteX23-2735" fmla="*/ 1003993 w 1432618"/>
                <a:gd name="connsiteY23-2736" fmla="*/ 2270312 h 3550128"/>
                <a:gd name="connsiteX24-2737" fmla="*/ 896043 w 1432618"/>
                <a:gd name="connsiteY24-2738" fmla="*/ 2540187 h 3550128"/>
                <a:gd name="connsiteX25-2739" fmla="*/ 1213543 w 1432618"/>
                <a:gd name="connsiteY25-2740" fmla="*/ 2495737 h 3550128"/>
                <a:gd name="connsiteX26-2741" fmla="*/ 1432618 w 1432618"/>
                <a:gd name="connsiteY26-2742" fmla="*/ 2588606 h 3550128"/>
                <a:gd name="connsiteX27-2743" fmla="*/ 1188143 w 1432618"/>
                <a:gd name="connsiteY27-2744" fmla="*/ 2552887 h 3550128"/>
                <a:gd name="connsiteX28-2745" fmla="*/ 832543 w 1432618"/>
                <a:gd name="connsiteY28-2746" fmla="*/ 2695762 h 3550128"/>
                <a:gd name="connsiteX29-2747" fmla="*/ 689668 w 1432618"/>
                <a:gd name="connsiteY29-2748" fmla="*/ 3048187 h 3550128"/>
                <a:gd name="connsiteX30-2749" fmla="*/ 918268 w 1432618"/>
                <a:gd name="connsiteY30-2750" fmla="*/ 3381562 h 3550128"/>
                <a:gd name="connsiteX31-2751" fmla="*/ 1016693 w 1432618"/>
                <a:gd name="connsiteY31-2752" fmla="*/ 3543487 h 3550128"/>
                <a:gd name="connsiteX0-2753" fmla="*/ 1016693 w 1432618"/>
                <a:gd name="connsiteY0-2754" fmla="*/ 3543487 h 3550128"/>
                <a:gd name="connsiteX1-2755" fmla="*/ 591243 w 1432618"/>
                <a:gd name="connsiteY1-2756" fmla="*/ 3549837 h 3550128"/>
                <a:gd name="connsiteX2-2757" fmla="*/ 394393 w 1432618"/>
                <a:gd name="connsiteY2-2758" fmla="*/ 3038662 h 3550128"/>
                <a:gd name="connsiteX3-2759" fmla="*/ 746818 w 1432618"/>
                <a:gd name="connsiteY3-2760" fmla="*/ 2343337 h 3550128"/>
                <a:gd name="connsiteX4-2761" fmla="*/ 560128 w 1432618"/>
                <a:gd name="connsiteY4-2762" fmla="*/ 1884232 h 3550128"/>
                <a:gd name="connsiteX5-2763" fmla="*/ 58 w 1432618"/>
                <a:gd name="connsiteY5-2764" fmla="*/ 1832797 h 3550128"/>
                <a:gd name="connsiteX6-2765" fmla="*/ 394393 w 1432618"/>
                <a:gd name="connsiteY6-2766" fmla="*/ 1705162 h 3550128"/>
                <a:gd name="connsiteX7-2767" fmla="*/ 642043 w 1432618"/>
                <a:gd name="connsiteY7-2768" fmla="*/ 1838512 h 3550128"/>
                <a:gd name="connsiteX8-2769" fmla="*/ 689668 w 1432618"/>
                <a:gd name="connsiteY8-2770" fmla="*/ 1609912 h 3550128"/>
                <a:gd name="connsiteX9-2771" fmla="*/ 823018 w 1432618"/>
                <a:gd name="connsiteY9-2772" fmla="*/ 1295587 h 3550128"/>
                <a:gd name="connsiteX10-2773" fmla="*/ 765868 w 1432618"/>
                <a:gd name="connsiteY10-2774" fmla="*/ 771712 h 3550128"/>
                <a:gd name="connsiteX11-2775" fmla="*/ 537268 w 1432618"/>
                <a:gd name="connsiteY11-2776" fmla="*/ 628837 h 3550128"/>
                <a:gd name="connsiteX12-2777" fmla="*/ 689668 w 1432618"/>
                <a:gd name="connsiteY12-2778" fmla="*/ 628837 h 3550128"/>
                <a:gd name="connsiteX13-2779" fmla="*/ 765868 w 1432618"/>
                <a:gd name="connsiteY13-2780" fmla="*/ 714562 h 3550128"/>
                <a:gd name="connsiteX14-2781" fmla="*/ 870643 w 1432618"/>
                <a:gd name="connsiteY14-2782" fmla="*/ 187 h 3550128"/>
                <a:gd name="connsiteX15-2783" fmla="*/ 832543 w 1432618"/>
                <a:gd name="connsiteY15-2784" fmla="*/ 647887 h 3550128"/>
                <a:gd name="connsiteX16-2785" fmla="*/ 908743 w 1432618"/>
                <a:gd name="connsiteY16-2786" fmla="*/ 1038412 h 3550128"/>
                <a:gd name="connsiteX17-2787" fmla="*/ 937318 w 1432618"/>
                <a:gd name="connsiteY17-2788" fmla="*/ 1286062 h 3550128"/>
                <a:gd name="connsiteX18-2789" fmla="*/ 1108768 w 1432618"/>
                <a:gd name="connsiteY18-2790" fmla="*/ 1152712 h 3550128"/>
                <a:gd name="connsiteX19-2791" fmla="*/ 1337368 w 1432618"/>
                <a:gd name="connsiteY19-2792" fmla="*/ 1133662 h 3550128"/>
                <a:gd name="connsiteX20-2793" fmla="*/ 1089718 w 1432618"/>
                <a:gd name="connsiteY20-2794" fmla="*/ 1190812 h 3550128"/>
                <a:gd name="connsiteX21-2795" fmla="*/ 889693 w 1432618"/>
                <a:gd name="connsiteY21-2796" fmla="*/ 1489262 h 3550128"/>
                <a:gd name="connsiteX22-2797" fmla="*/ 835718 w 1432618"/>
                <a:gd name="connsiteY22-2798" fmla="*/ 1857562 h 3550128"/>
                <a:gd name="connsiteX23-2799" fmla="*/ 1003993 w 1432618"/>
                <a:gd name="connsiteY23-2800" fmla="*/ 2270312 h 3550128"/>
                <a:gd name="connsiteX24-2801" fmla="*/ 896043 w 1432618"/>
                <a:gd name="connsiteY24-2802" fmla="*/ 2540187 h 3550128"/>
                <a:gd name="connsiteX25-2803" fmla="*/ 1213543 w 1432618"/>
                <a:gd name="connsiteY25-2804" fmla="*/ 2495737 h 3550128"/>
                <a:gd name="connsiteX26-2805" fmla="*/ 1432618 w 1432618"/>
                <a:gd name="connsiteY26-2806" fmla="*/ 2588606 h 3550128"/>
                <a:gd name="connsiteX27-2807" fmla="*/ 1188143 w 1432618"/>
                <a:gd name="connsiteY27-2808" fmla="*/ 2552887 h 3550128"/>
                <a:gd name="connsiteX28-2809" fmla="*/ 832543 w 1432618"/>
                <a:gd name="connsiteY28-2810" fmla="*/ 2695762 h 3550128"/>
                <a:gd name="connsiteX29-2811" fmla="*/ 689668 w 1432618"/>
                <a:gd name="connsiteY29-2812" fmla="*/ 3048187 h 3550128"/>
                <a:gd name="connsiteX30-2813" fmla="*/ 918268 w 1432618"/>
                <a:gd name="connsiteY30-2814" fmla="*/ 3381562 h 3550128"/>
                <a:gd name="connsiteX31-2815" fmla="*/ 1016693 w 1432618"/>
                <a:gd name="connsiteY31-2816" fmla="*/ 3543487 h 3550128"/>
                <a:gd name="connsiteX0-2817" fmla="*/ 1016693 w 1432618"/>
                <a:gd name="connsiteY0-2818" fmla="*/ 3543487 h 3550128"/>
                <a:gd name="connsiteX1-2819" fmla="*/ 591243 w 1432618"/>
                <a:gd name="connsiteY1-2820" fmla="*/ 3549837 h 3550128"/>
                <a:gd name="connsiteX2-2821" fmla="*/ 394393 w 1432618"/>
                <a:gd name="connsiteY2-2822" fmla="*/ 3038662 h 3550128"/>
                <a:gd name="connsiteX3-2823" fmla="*/ 746818 w 1432618"/>
                <a:gd name="connsiteY3-2824" fmla="*/ 2343337 h 3550128"/>
                <a:gd name="connsiteX4-2825" fmla="*/ 560128 w 1432618"/>
                <a:gd name="connsiteY4-2826" fmla="*/ 1884232 h 3550128"/>
                <a:gd name="connsiteX5-2827" fmla="*/ 58 w 1432618"/>
                <a:gd name="connsiteY5-2828" fmla="*/ 1832797 h 3550128"/>
                <a:gd name="connsiteX6-2829" fmla="*/ 394393 w 1432618"/>
                <a:gd name="connsiteY6-2830" fmla="*/ 1705162 h 3550128"/>
                <a:gd name="connsiteX7-2831" fmla="*/ 642043 w 1432618"/>
                <a:gd name="connsiteY7-2832" fmla="*/ 1838512 h 3550128"/>
                <a:gd name="connsiteX8-2833" fmla="*/ 689668 w 1432618"/>
                <a:gd name="connsiteY8-2834" fmla="*/ 1609912 h 3550128"/>
                <a:gd name="connsiteX9-2835" fmla="*/ 823018 w 1432618"/>
                <a:gd name="connsiteY9-2836" fmla="*/ 1295587 h 3550128"/>
                <a:gd name="connsiteX10-2837" fmla="*/ 765868 w 1432618"/>
                <a:gd name="connsiteY10-2838" fmla="*/ 771712 h 3550128"/>
                <a:gd name="connsiteX11-2839" fmla="*/ 537268 w 1432618"/>
                <a:gd name="connsiteY11-2840" fmla="*/ 628837 h 3550128"/>
                <a:gd name="connsiteX12-2841" fmla="*/ 689668 w 1432618"/>
                <a:gd name="connsiteY12-2842" fmla="*/ 628837 h 3550128"/>
                <a:gd name="connsiteX13-2843" fmla="*/ 765868 w 1432618"/>
                <a:gd name="connsiteY13-2844" fmla="*/ 714562 h 3550128"/>
                <a:gd name="connsiteX14-2845" fmla="*/ 870643 w 1432618"/>
                <a:gd name="connsiteY14-2846" fmla="*/ 187 h 3550128"/>
                <a:gd name="connsiteX15-2847" fmla="*/ 832543 w 1432618"/>
                <a:gd name="connsiteY15-2848" fmla="*/ 647887 h 3550128"/>
                <a:gd name="connsiteX16-2849" fmla="*/ 908743 w 1432618"/>
                <a:gd name="connsiteY16-2850" fmla="*/ 1038412 h 3550128"/>
                <a:gd name="connsiteX17-2851" fmla="*/ 937318 w 1432618"/>
                <a:gd name="connsiteY17-2852" fmla="*/ 1286062 h 3550128"/>
                <a:gd name="connsiteX18-2853" fmla="*/ 1108768 w 1432618"/>
                <a:gd name="connsiteY18-2854" fmla="*/ 1152712 h 3550128"/>
                <a:gd name="connsiteX19-2855" fmla="*/ 1337368 w 1432618"/>
                <a:gd name="connsiteY19-2856" fmla="*/ 1133662 h 3550128"/>
                <a:gd name="connsiteX20-2857" fmla="*/ 1105593 w 1432618"/>
                <a:gd name="connsiteY20-2858" fmla="*/ 1197162 h 3550128"/>
                <a:gd name="connsiteX21-2859" fmla="*/ 889693 w 1432618"/>
                <a:gd name="connsiteY21-2860" fmla="*/ 1489262 h 3550128"/>
                <a:gd name="connsiteX22-2861" fmla="*/ 835718 w 1432618"/>
                <a:gd name="connsiteY22-2862" fmla="*/ 1857562 h 3550128"/>
                <a:gd name="connsiteX23-2863" fmla="*/ 1003993 w 1432618"/>
                <a:gd name="connsiteY23-2864" fmla="*/ 2270312 h 3550128"/>
                <a:gd name="connsiteX24-2865" fmla="*/ 896043 w 1432618"/>
                <a:gd name="connsiteY24-2866" fmla="*/ 2540187 h 3550128"/>
                <a:gd name="connsiteX25-2867" fmla="*/ 1213543 w 1432618"/>
                <a:gd name="connsiteY25-2868" fmla="*/ 2495737 h 3550128"/>
                <a:gd name="connsiteX26-2869" fmla="*/ 1432618 w 1432618"/>
                <a:gd name="connsiteY26-2870" fmla="*/ 2588606 h 3550128"/>
                <a:gd name="connsiteX27-2871" fmla="*/ 1188143 w 1432618"/>
                <a:gd name="connsiteY27-2872" fmla="*/ 2552887 h 3550128"/>
                <a:gd name="connsiteX28-2873" fmla="*/ 832543 w 1432618"/>
                <a:gd name="connsiteY28-2874" fmla="*/ 2695762 h 3550128"/>
                <a:gd name="connsiteX29-2875" fmla="*/ 689668 w 1432618"/>
                <a:gd name="connsiteY29-2876" fmla="*/ 3048187 h 3550128"/>
                <a:gd name="connsiteX30-2877" fmla="*/ 918268 w 1432618"/>
                <a:gd name="connsiteY30-2878" fmla="*/ 3381562 h 3550128"/>
                <a:gd name="connsiteX31-2879" fmla="*/ 1016693 w 1432618"/>
                <a:gd name="connsiteY31-2880" fmla="*/ 3543487 h 3550128"/>
                <a:gd name="connsiteX0-2881" fmla="*/ 1016693 w 1432618"/>
                <a:gd name="connsiteY0-2882" fmla="*/ 3543487 h 3550128"/>
                <a:gd name="connsiteX1-2883" fmla="*/ 591243 w 1432618"/>
                <a:gd name="connsiteY1-2884" fmla="*/ 3549837 h 3550128"/>
                <a:gd name="connsiteX2-2885" fmla="*/ 394393 w 1432618"/>
                <a:gd name="connsiteY2-2886" fmla="*/ 3038662 h 3550128"/>
                <a:gd name="connsiteX3-2887" fmla="*/ 746818 w 1432618"/>
                <a:gd name="connsiteY3-2888" fmla="*/ 2343337 h 3550128"/>
                <a:gd name="connsiteX4-2889" fmla="*/ 560128 w 1432618"/>
                <a:gd name="connsiteY4-2890" fmla="*/ 1884232 h 3550128"/>
                <a:gd name="connsiteX5-2891" fmla="*/ 58 w 1432618"/>
                <a:gd name="connsiteY5-2892" fmla="*/ 1832797 h 3550128"/>
                <a:gd name="connsiteX6-2893" fmla="*/ 394393 w 1432618"/>
                <a:gd name="connsiteY6-2894" fmla="*/ 1705162 h 3550128"/>
                <a:gd name="connsiteX7-2895" fmla="*/ 642043 w 1432618"/>
                <a:gd name="connsiteY7-2896" fmla="*/ 1838512 h 3550128"/>
                <a:gd name="connsiteX8-2897" fmla="*/ 689668 w 1432618"/>
                <a:gd name="connsiteY8-2898" fmla="*/ 1609912 h 3550128"/>
                <a:gd name="connsiteX9-2899" fmla="*/ 823018 w 1432618"/>
                <a:gd name="connsiteY9-2900" fmla="*/ 1295587 h 3550128"/>
                <a:gd name="connsiteX10-2901" fmla="*/ 765868 w 1432618"/>
                <a:gd name="connsiteY10-2902" fmla="*/ 771712 h 3550128"/>
                <a:gd name="connsiteX11-2903" fmla="*/ 537268 w 1432618"/>
                <a:gd name="connsiteY11-2904" fmla="*/ 628837 h 3550128"/>
                <a:gd name="connsiteX12-2905" fmla="*/ 689668 w 1432618"/>
                <a:gd name="connsiteY12-2906" fmla="*/ 628837 h 3550128"/>
                <a:gd name="connsiteX13-2907" fmla="*/ 765868 w 1432618"/>
                <a:gd name="connsiteY13-2908" fmla="*/ 714562 h 3550128"/>
                <a:gd name="connsiteX14-2909" fmla="*/ 870643 w 1432618"/>
                <a:gd name="connsiteY14-2910" fmla="*/ 187 h 3550128"/>
                <a:gd name="connsiteX15-2911" fmla="*/ 832543 w 1432618"/>
                <a:gd name="connsiteY15-2912" fmla="*/ 647887 h 3550128"/>
                <a:gd name="connsiteX16-2913" fmla="*/ 908743 w 1432618"/>
                <a:gd name="connsiteY16-2914" fmla="*/ 1038412 h 3550128"/>
                <a:gd name="connsiteX17-2915" fmla="*/ 937318 w 1432618"/>
                <a:gd name="connsiteY17-2916" fmla="*/ 1286062 h 3550128"/>
                <a:gd name="connsiteX18-2917" fmla="*/ 1108768 w 1432618"/>
                <a:gd name="connsiteY18-2918" fmla="*/ 1152712 h 3550128"/>
                <a:gd name="connsiteX19-2919" fmla="*/ 1337368 w 1432618"/>
                <a:gd name="connsiteY19-2920" fmla="*/ 1133662 h 3550128"/>
                <a:gd name="connsiteX20-2921" fmla="*/ 1108768 w 1432618"/>
                <a:gd name="connsiteY20-2922" fmla="*/ 1216212 h 3550128"/>
                <a:gd name="connsiteX21-2923" fmla="*/ 889693 w 1432618"/>
                <a:gd name="connsiteY21-2924" fmla="*/ 1489262 h 3550128"/>
                <a:gd name="connsiteX22-2925" fmla="*/ 835718 w 1432618"/>
                <a:gd name="connsiteY22-2926" fmla="*/ 1857562 h 3550128"/>
                <a:gd name="connsiteX23-2927" fmla="*/ 1003993 w 1432618"/>
                <a:gd name="connsiteY23-2928" fmla="*/ 2270312 h 3550128"/>
                <a:gd name="connsiteX24-2929" fmla="*/ 896043 w 1432618"/>
                <a:gd name="connsiteY24-2930" fmla="*/ 2540187 h 3550128"/>
                <a:gd name="connsiteX25-2931" fmla="*/ 1213543 w 1432618"/>
                <a:gd name="connsiteY25-2932" fmla="*/ 2495737 h 3550128"/>
                <a:gd name="connsiteX26-2933" fmla="*/ 1432618 w 1432618"/>
                <a:gd name="connsiteY26-2934" fmla="*/ 2588606 h 3550128"/>
                <a:gd name="connsiteX27-2935" fmla="*/ 1188143 w 1432618"/>
                <a:gd name="connsiteY27-2936" fmla="*/ 2552887 h 3550128"/>
                <a:gd name="connsiteX28-2937" fmla="*/ 832543 w 1432618"/>
                <a:gd name="connsiteY28-2938" fmla="*/ 2695762 h 3550128"/>
                <a:gd name="connsiteX29-2939" fmla="*/ 689668 w 1432618"/>
                <a:gd name="connsiteY29-2940" fmla="*/ 3048187 h 3550128"/>
                <a:gd name="connsiteX30-2941" fmla="*/ 918268 w 1432618"/>
                <a:gd name="connsiteY30-2942" fmla="*/ 3381562 h 3550128"/>
                <a:gd name="connsiteX31-2943" fmla="*/ 1016693 w 1432618"/>
                <a:gd name="connsiteY31-2944" fmla="*/ 3543487 h 3550128"/>
                <a:gd name="connsiteX0-2945" fmla="*/ 1016693 w 1432618"/>
                <a:gd name="connsiteY0-2946" fmla="*/ 3543487 h 3550128"/>
                <a:gd name="connsiteX1-2947" fmla="*/ 591243 w 1432618"/>
                <a:gd name="connsiteY1-2948" fmla="*/ 3549837 h 3550128"/>
                <a:gd name="connsiteX2-2949" fmla="*/ 394393 w 1432618"/>
                <a:gd name="connsiteY2-2950" fmla="*/ 3038662 h 3550128"/>
                <a:gd name="connsiteX3-2951" fmla="*/ 746818 w 1432618"/>
                <a:gd name="connsiteY3-2952" fmla="*/ 2343337 h 3550128"/>
                <a:gd name="connsiteX4-2953" fmla="*/ 560128 w 1432618"/>
                <a:gd name="connsiteY4-2954" fmla="*/ 1884232 h 3550128"/>
                <a:gd name="connsiteX5-2955" fmla="*/ 58 w 1432618"/>
                <a:gd name="connsiteY5-2956" fmla="*/ 1832797 h 3550128"/>
                <a:gd name="connsiteX6-2957" fmla="*/ 394393 w 1432618"/>
                <a:gd name="connsiteY6-2958" fmla="*/ 1705162 h 3550128"/>
                <a:gd name="connsiteX7-2959" fmla="*/ 642043 w 1432618"/>
                <a:gd name="connsiteY7-2960" fmla="*/ 1838512 h 3550128"/>
                <a:gd name="connsiteX8-2961" fmla="*/ 689668 w 1432618"/>
                <a:gd name="connsiteY8-2962" fmla="*/ 1609912 h 3550128"/>
                <a:gd name="connsiteX9-2963" fmla="*/ 823018 w 1432618"/>
                <a:gd name="connsiteY9-2964" fmla="*/ 1295587 h 3550128"/>
                <a:gd name="connsiteX10-2965" fmla="*/ 765868 w 1432618"/>
                <a:gd name="connsiteY10-2966" fmla="*/ 771712 h 3550128"/>
                <a:gd name="connsiteX11-2967" fmla="*/ 537268 w 1432618"/>
                <a:gd name="connsiteY11-2968" fmla="*/ 628837 h 3550128"/>
                <a:gd name="connsiteX12-2969" fmla="*/ 689668 w 1432618"/>
                <a:gd name="connsiteY12-2970" fmla="*/ 628837 h 3550128"/>
                <a:gd name="connsiteX13-2971" fmla="*/ 765868 w 1432618"/>
                <a:gd name="connsiteY13-2972" fmla="*/ 714562 h 3550128"/>
                <a:gd name="connsiteX14-2973" fmla="*/ 870643 w 1432618"/>
                <a:gd name="connsiteY14-2974" fmla="*/ 187 h 3550128"/>
                <a:gd name="connsiteX15-2975" fmla="*/ 832543 w 1432618"/>
                <a:gd name="connsiteY15-2976" fmla="*/ 647887 h 3550128"/>
                <a:gd name="connsiteX16-2977" fmla="*/ 908743 w 1432618"/>
                <a:gd name="connsiteY16-2978" fmla="*/ 1038412 h 3550128"/>
                <a:gd name="connsiteX17-2979" fmla="*/ 937318 w 1432618"/>
                <a:gd name="connsiteY17-2980" fmla="*/ 1286062 h 3550128"/>
                <a:gd name="connsiteX18-2981" fmla="*/ 1108768 w 1432618"/>
                <a:gd name="connsiteY18-2982" fmla="*/ 1152712 h 3550128"/>
                <a:gd name="connsiteX19-2983" fmla="*/ 1375468 w 1432618"/>
                <a:gd name="connsiteY19-2984" fmla="*/ 1133662 h 3550128"/>
                <a:gd name="connsiteX20-2985" fmla="*/ 1108768 w 1432618"/>
                <a:gd name="connsiteY20-2986" fmla="*/ 1216212 h 3550128"/>
                <a:gd name="connsiteX21-2987" fmla="*/ 889693 w 1432618"/>
                <a:gd name="connsiteY21-2988" fmla="*/ 1489262 h 3550128"/>
                <a:gd name="connsiteX22-2989" fmla="*/ 835718 w 1432618"/>
                <a:gd name="connsiteY22-2990" fmla="*/ 1857562 h 3550128"/>
                <a:gd name="connsiteX23-2991" fmla="*/ 1003993 w 1432618"/>
                <a:gd name="connsiteY23-2992" fmla="*/ 2270312 h 3550128"/>
                <a:gd name="connsiteX24-2993" fmla="*/ 896043 w 1432618"/>
                <a:gd name="connsiteY24-2994" fmla="*/ 2540187 h 3550128"/>
                <a:gd name="connsiteX25-2995" fmla="*/ 1213543 w 1432618"/>
                <a:gd name="connsiteY25-2996" fmla="*/ 2495737 h 3550128"/>
                <a:gd name="connsiteX26-2997" fmla="*/ 1432618 w 1432618"/>
                <a:gd name="connsiteY26-2998" fmla="*/ 2588606 h 3550128"/>
                <a:gd name="connsiteX27-2999" fmla="*/ 1188143 w 1432618"/>
                <a:gd name="connsiteY27-3000" fmla="*/ 2552887 h 3550128"/>
                <a:gd name="connsiteX28-3001" fmla="*/ 832543 w 1432618"/>
                <a:gd name="connsiteY28-3002" fmla="*/ 2695762 h 3550128"/>
                <a:gd name="connsiteX29-3003" fmla="*/ 689668 w 1432618"/>
                <a:gd name="connsiteY29-3004" fmla="*/ 3048187 h 3550128"/>
                <a:gd name="connsiteX30-3005" fmla="*/ 918268 w 1432618"/>
                <a:gd name="connsiteY30-3006" fmla="*/ 3381562 h 3550128"/>
                <a:gd name="connsiteX31-3007" fmla="*/ 1016693 w 1432618"/>
                <a:gd name="connsiteY31-3008" fmla="*/ 3543487 h 3550128"/>
                <a:gd name="connsiteX0-3009" fmla="*/ 1016693 w 1432618"/>
                <a:gd name="connsiteY0-3010" fmla="*/ 3543487 h 3550128"/>
                <a:gd name="connsiteX1-3011" fmla="*/ 591243 w 1432618"/>
                <a:gd name="connsiteY1-3012" fmla="*/ 3549837 h 3550128"/>
                <a:gd name="connsiteX2-3013" fmla="*/ 394393 w 1432618"/>
                <a:gd name="connsiteY2-3014" fmla="*/ 3038662 h 3550128"/>
                <a:gd name="connsiteX3-3015" fmla="*/ 746818 w 1432618"/>
                <a:gd name="connsiteY3-3016" fmla="*/ 2343337 h 3550128"/>
                <a:gd name="connsiteX4-3017" fmla="*/ 560128 w 1432618"/>
                <a:gd name="connsiteY4-3018" fmla="*/ 1884232 h 3550128"/>
                <a:gd name="connsiteX5-3019" fmla="*/ 58 w 1432618"/>
                <a:gd name="connsiteY5-3020" fmla="*/ 1832797 h 3550128"/>
                <a:gd name="connsiteX6-3021" fmla="*/ 394393 w 1432618"/>
                <a:gd name="connsiteY6-3022" fmla="*/ 1705162 h 3550128"/>
                <a:gd name="connsiteX7-3023" fmla="*/ 642043 w 1432618"/>
                <a:gd name="connsiteY7-3024" fmla="*/ 1838512 h 3550128"/>
                <a:gd name="connsiteX8-3025" fmla="*/ 689668 w 1432618"/>
                <a:gd name="connsiteY8-3026" fmla="*/ 1609912 h 3550128"/>
                <a:gd name="connsiteX9-3027" fmla="*/ 823018 w 1432618"/>
                <a:gd name="connsiteY9-3028" fmla="*/ 1295587 h 3550128"/>
                <a:gd name="connsiteX10-3029" fmla="*/ 765868 w 1432618"/>
                <a:gd name="connsiteY10-3030" fmla="*/ 771712 h 3550128"/>
                <a:gd name="connsiteX11-3031" fmla="*/ 537268 w 1432618"/>
                <a:gd name="connsiteY11-3032" fmla="*/ 628837 h 3550128"/>
                <a:gd name="connsiteX12-3033" fmla="*/ 689668 w 1432618"/>
                <a:gd name="connsiteY12-3034" fmla="*/ 628837 h 3550128"/>
                <a:gd name="connsiteX13-3035" fmla="*/ 765868 w 1432618"/>
                <a:gd name="connsiteY13-3036" fmla="*/ 714562 h 3550128"/>
                <a:gd name="connsiteX14-3037" fmla="*/ 870643 w 1432618"/>
                <a:gd name="connsiteY14-3038" fmla="*/ 187 h 3550128"/>
                <a:gd name="connsiteX15-3039" fmla="*/ 832543 w 1432618"/>
                <a:gd name="connsiteY15-3040" fmla="*/ 647887 h 3550128"/>
                <a:gd name="connsiteX16-3041" fmla="*/ 908743 w 1432618"/>
                <a:gd name="connsiteY16-3042" fmla="*/ 1038412 h 3550128"/>
                <a:gd name="connsiteX17-3043" fmla="*/ 937318 w 1432618"/>
                <a:gd name="connsiteY17-3044" fmla="*/ 1286062 h 3550128"/>
                <a:gd name="connsiteX18-3045" fmla="*/ 1108768 w 1432618"/>
                <a:gd name="connsiteY18-3046" fmla="*/ 1152712 h 3550128"/>
                <a:gd name="connsiteX19-3047" fmla="*/ 1375468 w 1432618"/>
                <a:gd name="connsiteY19-3048" fmla="*/ 1133662 h 3550128"/>
                <a:gd name="connsiteX20-3049" fmla="*/ 1108768 w 1432618"/>
                <a:gd name="connsiteY20-3050" fmla="*/ 1216212 h 3550128"/>
                <a:gd name="connsiteX21-3051" fmla="*/ 889693 w 1432618"/>
                <a:gd name="connsiteY21-3052" fmla="*/ 1489262 h 3550128"/>
                <a:gd name="connsiteX22-3053" fmla="*/ 835718 w 1432618"/>
                <a:gd name="connsiteY22-3054" fmla="*/ 1857562 h 3550128"/>
                <a:gd name="connsiteX23-3055" fmla="*/ 1003993 w 1432618"/>
                <a:gd name="connsiteY23-3056" fmla="*/ 2270312 h 3550128"/>
                <a:gd name="connsiteX24-3057" fmla="*/ 896043 w 1432618"/>
                <a:gd name="connsiteY24-3058" fmla="*/ 2540187 h 3550128"/>
                <a:gd name="connsiteX25-3059" fmla="*/ 1213543 w 1432618"/>
                <a:gd name="connsiteY25-3060" fmla="*/ 2495737 h 3550128"/>
                <a:gd name="connsiteX26-3061" fmla="*/ 1432618 w 1432618"/>
                <a:gd name="connsiteY26-3062" fmla="*/ 2588606 h 3550128"/>
                <a:gd name="connsiteX27-3063" fmla="*/ 1188143 w 1432618"/>
                <a:gd name="connsiteY27-3064" fmla="*/ 2552887 h 3550128"/>
                <a:gd name="connsiteX28-3065" fmla="*/ 832543 w 1432618"/>
                <a:gd name="connsiteY28-3066" fmla="*/ 2695762 h 3550128"/>
                <a:gd name="connsiteX29-3067" fmla="*/ 689668 w 1432618"/>
                <a:gd name="connsiteY29-3068" fmla="*/ 3048187 h 3550128"/>
                <a:gd name="connsiteX30-3069" fmla="*/ 918268 w 1432618"/>
                <a:gd name="connsiteY30-3070" fmla="*/ 3381562 h 3550128"/>
                <a:gd name="connsiteX31-3071" fmla="*/ 1016693 w 1432618"/>
                <a:gd name="connsiteY31-3072" fmla="*/ 3543487 h 3550128"/>
                <a:gd name="connsiteX0-3073" fmla="*/ 1016693 w 1432618"/>
                <a:gd name="connsiteY0-3074" fmla="*/ 3543487 h 3550128"/>
                <a:gd name="connsiteX1-3075" fmla="*/ 591243 w 1432618"/>
                <a:gd name="connsiteY1-3076" fmla="*/ 3549837 h 3550128"/>
                <a:gd name="connsiteX2-3077" fmla="*/ 394393 w 1432618"/>
                <a:gd name="connsiteY2-3078" fmla="*/ 3038662 h 3550128"/>
                <a:gd name="connsiteX3-3079" fmla="*/ 746818 w 1432618"/>
                <a:gd name="connsiteY3-3080" fmla="*/ 2343337 h 3550128"/>
                <a:gd name="connsiteX4-3081" fmla="*/ 560128 w 1432618"/>
                <a:gd name="connsiteY4-3082" fmla="*/ 1884232 h 3550128"/>
                <a:gd name="connsiteX5-3083" fmla="*/ 58 w 1432618"/>
                <a:gd name="connsiteY5-3084" fmla="*/ 1832797 h 3550128"/>
                <a:gd name="connsiteX6-3085" fmla="*/ 394393 w 1432618"/>
                <a:gd name="connsiteY6-3086" fmla="*/ 1705162 h 3550128"/>
                <a:gd name="connsiteX7-3087" fmla="*/ 642043 w 1432618"/>
                <a:gd name="connsiteY7-3088" fmla="*/ 1838512 h 3550128"/>
                <a:gd name="connsiteX8-3089" fmla="*/ 689668 w 1432618"/>
                <a:gd name="connsiteY8-3090" fmla="*/ 1609912 h 3550128"/>
                <a:gd name="connsiteX9-3091" fmla="*/ 823018 w 1432618"/>
                <a:gd name="connsiteY9-3092" fmla="*/ 1295587 h 3550128"/>
                <a:gd name="connsiteX10-3093" fmla="*/ 765868 w 1432618"/>
                <a:gd name="connsiteY10-3094" fmla="*/ 771712 h 3550128"/>
                <a:gd name="connsiteX11-3095" fmla="*/ 537268 w 1432618"/>
                <a:gd name="connsiteY11-3096" fmla="*/ 628837 h 3550128"/>
                <a:gd name="connsiteX12-3097" fmla="*/ 689668 w 1432618"/>
                <a:gd name="connsiteY12-3098" fmla="*/ 628837 h 3550128"/>
                <a:gd name="connsiteX13-3099" fmla="*/ 765868 w 1432618"/>
                <a:gd name="connsiteY13-3100" fmla="*/ 714562 h 3550128"/>
                <a:gd name="connsiteX14-3101" fmla="*/ 870643 w 1432618"/>
                <a:gd name="connsiteY14-3102" fmla="*/ 187 h 3550128"/>
                <a:gd name="connsiteX15-3103" fmla="*/ 832543 w 1432618"/>
                <a:gd name="connsiteY15-3104" fmla="*/ 647887 h 3550128"/>
                <a:gd name="connsiteX16-3105" fmla="*/ 908743 w 1432618"/>
                <a:gd name="connsiteY16-3106" fmla="*/ 1038412 h 3550128"/>
                <a:gd name="connsiteX17-3107" fmla="*/ 937318 w 1432618"/>
                <a:gd name="connsiteY17-3108" fmla="*/ 1286062 h 3550128"/>
                <a:gd name="connsiteX18-3109" fmla="*/ 1108768 w 1432618"/>
                <a:gd name="connsiteY18-3110" fmla="*/ 1152712 h 3550128"/>
                <a:gd name="connsiteX19-3111" fmla="*/ 1375468 w 1432618"/>
                <a:gd name="connsiteY19-3112" fmla="*/ 1133662 h 3550128"/>
                <a:gd name="connsiteX20-3113" fmla="*/ 1108768 w 1432618"/>
                <a:gd name="connsiteY20-3114" fmla="*/ 1216212 h 3550128"/>
                <a:gd name="connsiteX21-3115" fmla="*/ 889693 w 1432618"/>
                <a:gd name="connsiteY21-3116" fmla="*/ 1489262 h 3550128"/>
                <a:gd name="connsiteX22-3117" fmla="*/ 835718 w 1432618"/>
                <a:gd name="connsiteY22-3118" fmla="*/ 1857562 h 3550128"/>
                <a:gd name="connsiteX23-3119" fmla="*/ 1003993 w 1432618"/>
                <a:gd name="connsiteY23-3120" fmla="*/ 2270312 h 3550128"/>
                <a:gd name="connsiteX24-3121" fmla="*/ 896043 w 1432618"/>
                <a:gd name="connsiteY24-3122" fmla="*/ 2540187 h 3550128"/>
                <a:gd name="connsiteX25-3123" fmla="*/ 1213543 w 1432618"/>
                <a:gd name="connsiteY25-3124" fmla="*/ 2495737 h 3550128"/>
                <a:gd name="connsiteX26-3125" fmla="*/ 1432618 w 1432618"/>
                <a:gd name="connsiteY26-3126" fmla="*/ 2588606 h 3550128"/>
                <a:gd name="connsiteX27-3127" fmla="*/ 1188143 w 1432618"/>
                <a:gd name="connsiteY27-3128" fmla="*/ 2552887 h 3550128"/>
                <a:gd name="connsiteX28-3129" fmla="*/ 832543 w 1432618"/>
                <a:gd name="connsiteY28-3130" fmla="*/ 2695762 h 3550128"/>
                <a:gd name="connsiteX29-3131" fmla="*/ 689668 w 1432618"/>
                <a:gd name="connsiteY29-3132" fmla="*/ 3048187 h 3550128"/>
                <a:gd name="connsiteX30-3133" fmla="*/ 918268 w 1432618"/>
                <a:gd name="connsiteY30-3134" fmla="*/ 3381562 h 3550128"/>
                <a:gd name="connsiteX31-3135" fmla="*/ 1016693 w 1432618"/>
                <a:gd name="connsiteY31-3136" fmla="*/ 3543487 h 3550128"/>
                <a:gd name="connsiteX0-3137" fmla="*/ 1016693 w 1432618"/>
                <a:gd name="connsiteY0-3138" fmla="*/ 3543487 h 3550128"/>
                <a:gd name="connsiteX1-3139" fmla="*/ 591243 w 1432618"/>
                <a:gd name="connsiteY1-3140" fmla="*/ 3549837 h 3550128"/>
                <a:gd name="connsiteX2-3141" fmla="*/ 394393 w 1432618"/>
                <a:gd name="connsiteY2-3142" fmla="*/ 3038662 h 3550128"/>
                <a:gd name="connsiteX3-3143" fmla="*/ 746818 w 1432618"/>
                <a:gd name="connsiteY3-3144" fmla="*/ 2343337 h 3550128"/>
                <a:gd name="connsiteX4-3145" fmla="*/ 560128 w 1432618"/>
                <a:gd name="connsiteY4-3146" fmla="*/ 1884232 h 3550128"/>
                <a:gd name="connsiteX5-3147" fmla="*/ 58 w 1432618"/>
                <a:gd name="connsiteY5-3148" fmla="*/ 1832797 h 3550128"/>
                <a:gd name="connsiteX6-3149" fmla="*/ 394393 w 1432618"/>
                <a:gd name="connsiteY6-3150" fmla="*/ 1705162 h 3550128"/>
                <a:gd name="connsiteX7-3151" fmla="*/ 642043 w 1432618"/>
                <a:gd name="connsiteY7-3152" fmla="*/ 1838512 h 3550128"/>
                <a:gd name="connsiteX8-3153" fmla="*/ 689668 w 1432618"/>
                <a:gd name="connsiteY8-3154" fmla="*/ 1609912 h 3550128"/>
                <a:gd name="connsiteX9-3155" fmla="*/ 823018 w 1432618"/>
                <a:gd name="connsiteY9-3156" fmla="*/ 1295587 h 3550128"/>
                <a:gd name="connsiteX10-3157" fmla="*/ 765868 w 1432618"/>
                <a:gd name="connsiteY10-3158" fmla="*/ 771712 h 3550128"/>
                <a:gd name="connsiteX11-3159" fmla="*/ 537268 w 1432618"/>
                <a:gd name="connsiteY11-3160" fmla="*/ 628837 h 3550128"/>
                <a:gd name="connsiteX12-3161" fmla="*/ 689668 w 1432618"/>
                <a:gd name="connsiteY12-3162" fmla="*/ 628837 h 3550128"/>
                <a:gd name="connsiteX13-3163" fmla="*/ 765868 w 1432618"/>
                <a:gd name="connsiteY13-3164" fmla="*/ 714562 h 3550128"/>
                <a:gd name="connsiteX14-3165" fmla="*/ 870643 w 1432618"/>
                <a:gd name="connsiteY14-3166" fmla="*/ 187 h 3550128"/>
                <a:gd name="connsiteX15-3167" fmla="*/ 832543 w 1432618"/>
                <a:gd name="connsiteY15-3168" fmla="*/ 647887 h 3550128"/>
                <a:gd name="connsiteX16-3169" fmla="*/ 908743 w 1432618"/>
                <a:gd name="connsiteY16-3170" fmla="*/ 1038412 h 3550128"/>
                <a:gd name="connsiteX17-3171" fmla="*/ 937318 w 1432618"/>
                <a:gd name="connsiteY17-3172" fmla="*/ 1286062 h 3550128"/>
                <a:gd name="connsiteX18-3173" fmla="*/ 1108768 w 1432618"/>
                <a:gd name="connsiteY18-3174" fmla="*/ 1152712 h 3550128"/>
                <a:gd name="connsiteX19-3175" fmla="*/ 1375468 w 1432618"/>
                <a:gd name="connsiteY19-3176" fmla="*/ 1133662 h 3550128"/>
                <a:gd name="connsiteX20-3177" fmla="*/ 1108768 w 1432618"/>
                <a:gd name="connsiteY20-3178" fmla="*/ 1216212 h 3550128"/>
                <a:gd name="connsiteX21-3179" fmla="*/ 889693 w 1432618"/>
                <a:gd name="connsiteY21-3180" fmla="*/ 1489262 h 3550128"/>
                <a:gd name="connsiteX22-3181" fmla="*/ 835718 w 1432618"/>
                <a:gd name="connsiteY22-3182" fmla="*/ 1857562 h 3550128"/>
                <a:gd name="connsiteX23-3183" fmla="*/ 1003993 w 1432618"/>
                <a:gd name="connsiteY23-3184" fmla="*/ 2270312 h 3550128"/>
                <a:gd name="connsiteX24-3185" fmla="*/ 896043 w 1432618"/>
                <a:gd name="connsiteY24-3186" fmla="*/ 2540187 h 3550128"/>
                <a:gd name="connsiteX25-3187" fmla="*/ 1213543 w 1432618"/>
                <a:gd name="connsiteY25-3188" fmla="*/ 2495737 h 3550128"/>
                <a:gd name="connsiteX26-3189" fmla="*/ 1432618 w 1432618"/>
                <a:gd name="connsiteY26-3190" fmla="*/ 2588606 h 3550128"/>
                <a:gd name="connsiteX27-3191" fmla="*/ 1188143 w 1432618"/>
                <a:gd name="connsiteY27-3192" fmla="*/ 2552887 h 3550128"/>
                <a:gd name="connsiteX28-3193" fmla="*/ 832543 w 1432618"/>
                <a:gd name="connsiteY28-3194" fmla="*/ 2695762 h 3550128"/>
                <a:gd name="connsiteX29-3195" fmla="*/ 689668 w 1432618"/>
                <a:gd name="connsiteY29-3196" fmla="*/ 3048187 h 3550128"/>
                <a:gd name="connsiteX30-3197" fmla="*/ 918268 w 1432618"/>
                <a:gd name="connsiteY30-3198" fmla="*/ 3381562 h 3550128"/>
                <a:gd name="connsiteX31-3199" fmla="*/ 1016693 w 1432618"/>
                <a:gd name="connsiteY31-3200" fmla="*/ 3543487 h 3550128"/>
                <a:gd name="connsiteX0-3201" fmla="*/ 1016693 w 1432618"/>
                <a:gd name="connsiteY0-3202" fmla="*/ 3543487 h 3550128"/>
                <a:gd name="connsiteX1-3203" fmla="*/ 591243 w 1432618"/>
                <a:gd name="connsiteY1-3204" fmla="*/ 3549837 h 3550128"/>
                <a:gd name="connsiteX2-3205" fmla="*/ 394393 w 1432618"/>
                <a:gd name="connsiteY2-3206" fmla="*/ 3038662 h 3550128"/>
                <a:gd name="connsiteX3-3207" fmla="*/ 746818 w 1432618"/>
                <a:gd name="connsiteY3-3208" fmla="*/ 2343337 h 3550128"/>
                <a:gd name="connsiteX4-3209" fmla="*/ 560128 w 1432618"/>
                <a:gd name="connsiteY4-3210" fmla="*/ 1884232 h 3550128"/>
                <a:gd name="connsiteX5-3211" fmla="*/ 58 w 1432618"/>
                <a:gd name="connsiteY5-3212" fmla="*/ 1832797 h 3550128"/>
                <a:gd name="connsiteX6-3213" fmla="*/ 394393 w 1432618"/>
                <a:gd name="connsiteY6-3214" fmla="*/ 1705162 h 3550128"/>
                <a:gd name="connsiteX7-3215" fmla="*/ 642043 w 1432618"/>
                <a:gd name="connsiteY7-3216" fmla="*/ 1838512 h 3550128"/>
                <a:gd name="connsiteX8-3217" fmla="*/ 689668 w 1432618"/>
                <a:gd name="connsiteY8-3218" fmla="*/ 1609912 h 3550128"/>
                <a:gd name="connsiteX9-3219" fmla="*/ 823018 w 1432618"/>
                <a:gd name="connsiteY9-3220" fmla="*/ 1295587 h 3550128"/>
                <a:gd name="connsiteX10-3221" fmla="*/ 765868 w 1432618"/>
                <a:gd name="connsiteY10-3222" fmla="*/ 771712 h 3550128"/>
                <a:gd name="connsiteX11-3223" fmla="*/ 537268 w 1432618"/>
                <a:gd name="connsiteY11-3224" fmla="*/ 628837 h 3550128"/>
                <a:gd name="connsiteX12-3225" fmla="*/ 689668 w 1432618"/>
                <a:gd name="connsiteY12-3226" fmla="*/ 628837 h 3550128"/>
                <a:gd name="connsiteX13-3227" fmla="*/ 765868 w 1432618"/>
                <a:gd name="connsiteY13-3228" fmla="*/ 714562 h 3550128"/>
                <a:gd name="connsiteX14-3229" fmla="*/ 870643 w 1432618"/>
                <a:gd name="connsiteY14-3230" fmla="*/ 187 h 3550128"/>
                <a:gd name="connsiteX15-3231" fmla="*/ 832543 w 1432618"/>
                <a:gd name="connsiteY15-3232" fmla="*/ 647887 h 3550128"/>
                <a:gd name="connsiteX16-3233" fmla="*/ 908743 w 1432618"/>
                <a:gd name="connsiteY16-3234" fmla="*/ 1038412 h 3550128"/>
                <a:gd name="connsiteX17-3235" fmla="*/ 937318 w 1432618"/>
                <a:gd name="connsiteY17-3236" fmla="*/ 1286062 h 3550128"/>
                <a:gd name="connsiteX18-3237" fmla="*/ 1108768 w 1432618"/>
                <a:gd name="connsiteY18-3238" fmla="*/ 1152712 h 3550128"/>
                <a:gd name="connsiteX19-3239" fmla="*/ 1375468 w 1432618"/>
                <a:gd name="connsiteY19-3240" fmla="*/ 1133662 h 3550128"/>
                <a:gd name="connsiteX20-3241" fmla="*/ 1108768 w 1432618"/>
                <a:gd name="connsiteY20-3242" fmla="*/ 1216212 h 3550128"/>
                <a:gd name="connsiteX21-3243" fmla="*/ 889693 w 1432618"/>
                <a:gd name="connsiteY21-3244" fmla="*/ 1489262 h 3550128"/>
                <a:gd name="connsiteX22-3245" fmla="*/ 835718 w 1432618"/>
                <a:gd name="connsiteY22-3246" fmla="*/ 1857562 h 3550128"/>
                <a:gd name="connsiteX23-3247" fmla="*/ 1003993 w 1432618"/>
                <a:gd name="connsiteY23-3248" fmla="*/ 2270312 h 3550128"/>
                <a:gd name="connsiteX24-3249" fmla="*/ 896043 w 1432618"/>
                <a:gd name="connsiteY24-3250" fmla="*/ 2540187 h 3550128"/>
                <a:gd name="connsiteX25-3251" fmla="*/ 1213543 w 1432618"/>
                <a:gd name="connsiteY25-3252" fmla="*/ 2495737 h 3550128"/>
                <a:gd name="connsiteX26-3253" fmla="*/ 1432618 w 1432618"/>
                <a:gd name="connsiteY26-3254" fmla="*/ 2588606 h 3550128"/>
                <a:gd name="connsiteX27-3255" fmla="*/ 1188143 w 1432618"/>
                <a:gd name="connsiteY27-3256" fmla="*/ 2552887 h 3550128"/>
                <a:gd name="connsiteX28-3257" fmla="*/ 832543 w 1432618"/>
                <a:gd name="connsiteY28-3258" fmla="*/ 2695762 h 3550128"/>
                <a:gd name="connsiteX29-3259" fmla="*/ 689668 w 1432618"/>
                <a:gd name="connsiteY29-3260" fmla="*/ 3048187 h 3550128"/>
                <a:gd name="connsiteX30-3261" fmla="*/ 918268 w 1432618"/>
                <a:gd name="connsiteY30-3262" fmla="*/ 3381562 h 3550128"/>
                <a:gd name="connsiteX31-3263" fmla="*/ 1016693 w 1432618"/>
                <a:gd name="connsiteY31-3264" fmla="*/ 3543487 h 3550128"/>
                <a:gd name="connsiteX0-3265" fmla="*/ 1016693 w 1432618"/>
                <a:gd name="connsiteY0-3266" fmla="*/ 3543487 h 3550128"/>
                <a:gd name="connsiteX1-3267" fmla="*/ 591243 w 1432618"/>
                <a:gd name="connsiteY1-3268" fmla="*/ 3549837 h 3550128"/>
                <a:gd name="connsiteX2-3269" fmla="*/ 394393 w 1432618"/>
                <a:gd name="connsiteY2-3270" fmla="*/ 3038662 h 3550128"/>
                <a:gd name="connsiteX3-3271" fmla="*/ 746818 w 1432618"/>
                <a:gd name="connsiteY3-3272" fmla="*/ 2343337 h 3550128"/>
                <a:gd name="connsiteX4-3273" fmla="*/ 560128 w 1432618"/>
                <a:gd name="connsiteY4-3274" fmla="*/ 1884232 h 3550128"/>
                <a:gd name="connsiteX5-3275" fmla="*/ 58 w 1432618"/>
                <a:gd name="connsiteY5-3276" fmla="*/ 1832797 h 3550128"/>
                <a:gd name="connsiteX6-3277" fmla="*/ 394393 w 1432618"/>
                <a:gd name="connsiteY6-3278" fmla="*/ 1705162 h 3550128"/>
                <a:gd name="connsiteX7-3279" fmla="*/ 642043 w 1432618"/>
                <a:gd name="connsiteY7-3280" fmla="*/ 1838512 h 3550128"/>
                <a:gd name="connsiteX8-3281" fmla="*/ 689668 w 1432618"/>
                <a:gd name="connsiteY8-3282" fmla="*/ 1609912 h 3550128"/>
                <a:gd name="connsiteX9-3283" fmla="*/ 823018 w 1432618"/>
                <a:gd name="connsiteY9-3284" fmla="*/ 1295587 h 3550128"/>
                <a:gd name="connsiteX10-3285" fmla="*/ 765868 w 1432618"/>
                <a:gd name="connsiteY10-3286" fmla="*/ 771712 h 3550128"/>
                <a:gd name="connsiteX11-3287" fmla="*/ 537268 w 1432618"/>
                <a:gd name="connsiteY11-3288" fmla="*/ 628837 h 3550128"/>
                <a:gd name="connsiteX12-3289" fmla="*/ 689668 w 1432618"/>
                <a:gd name="connsiteY12-3290" fmla="*/ 628837 h 3550128"/>
                <a:gd name="connsiteX13-3291" fmla="*/ 765868 w 1432618"/>
                <a:gd name="connsiteY13-3292" fmla="*/ 714562 h 3550128"/>
                <a:gd name="connsiteX14-3293" fmla="*/ 870643 w 1432618"/>
                <a:gd name="connsiteY14-3294" fmla="*/ 187 h 3550128"/>
                <a:gd name="connsiteX15-3295" fmla="*/ 832543 w 1432618"/>
                <a:gd name="connsiteY15-3296" fmla="*/ 647887 h 3550128"/>
                <a:gd name="connsiteX16-3297" fmla="*/ 908743 w 1432618"/>
                <a:gd name="connsiteY16-3298" fmla="*/ 1038412 h 3550128"/>
                <a:gd name="connsiteX17-3299" fmla="*/ 937318 w 1432618"/>
                <a:gd name="connsiteY17-3300" fmla="*/ 1286062 h 3550128"/>
                <a:gd name="connsiteX18-3301" fmla="*/ 1099243 w 1432618"/>
                <a:gd name="connsiteY18-3302" fmla="*/ 1162237 h 3550128"/>
                <a:gd name="connsiteX19-3303" fmla="*/ 1375468 w 1432618"/>
                <a:gd name="connsiteY19-3304" fmla="*/ 1133662 h 3550128"/>
                <a:gd name="connsiteX20-3305" fmla="*/ 1108768 w 1432618"/>
                <a:gd name="connsiteY20-3306" fmla="*/ 1216212 h 3550128"/>
                <a:gd name="connsiteX21-3307" fmla="*/ 889693 w 1432618"/>
                <a:gd name="connsiteY21-3308" fmla="*/ 1489262 h 3550128"/>
                <a:gd name="connsiteX22-3309" fmla="*/ 835718 w 1432618"/>
                <a:gd name="connsiteY22-3310" fmla="*/ 1857562 h 3550128"/>
                <a:gd name="connsiteX23-3311" fmla="*/ 1003993 w 1432618"/>
                <a:gd name="connsiteY23-3312" fmla="*/ 2270312 h 3550128"/>
                <a:gd name="connsiteX24-3313" fmla="*/ 896043 w 1432618"/>
                <a:gd name="connsiteY24-3314" fmla="*/ 2540187 h 3550128"/>
                <a:gd name="connsiteX25-3315" fmla="*/ 1213543 w 1432618"/>
                <a:gd name="connsiteY25-3316" fmla="*/ 2495737 h 3550128"/>
                <a:gd name="connsiteX26-3317" fmla="*/ 1432618 w 1432618"/>
                <a:gd name="connsiteY26-3318" fmla="*/ 2588606 h 3550128"/>
                <a:gd name="connsiteX27-3319" fmla="*/ 1188143 w 1432618"/>
                <a:gd name="connsiteY27-3320" fmla="*/ 2552887 h 3550128"/>
                <a:gd name="connsiteX28-3321" fmla="*/ 832543 w 1432618"/>
                <a:gd name="connsiteY28-3322" fmla="*/ 2695762 h 3550128"/>
                <a:gd name="connsiteX29-3323" fmla="*/ 689668 w 1432618"/>
                <a:gd name="connsiteY29-3324" fmla="*/ 3048187 h 3550128"/>
                <a:gd name="connsiteX30-3325" fmla="*/ 918268 w 1432618"/>
                <a:gd name="connsiteY30-3326" fmla="*/ 3381562 h 3550128"/>
                <a:gd name="connsiteX31-3327" fmla="*/ 1016693 w 1432618"/>
                <a:gd name="connsiteY31-3328" fmla="*/ 3543487 h 3550128"/>
                <a:gd name="connsiteX0-3329" fmla="*/ 1016693 w 1432618"/>
                <a:gd name="connsiteY0-3330" fmla="*/ 3543487 h 3550128"/>
                <a:gd name="connsiteX1-3331" fmla="*/ 591243 w 1432618"/>
                <a:gd name="connsiteY1-3332" fmla="*/ 3549837 h 3550128"/>
                <a:gd name="connsiteX2-3333" fmla="*/ 394393 w 1432618"/>
                <a:gd name="connsiteY2-3334" fmla="*/ 3038662 h 3550128"/>
                <a:gd name="connsiteX3-3335" fmla="*/ 746818 w 1432618"/>
                <a:gd name="connsiteY3-3336" fmla="*/ 2343337 h 3550128"/>
                <a:gd name="connsiteX4-3337" fmla="*/ 560128 w 1432618"/>
                <a:gd name="connsiteY4-3338" fmla="*/ 1884232 h 3550128"/>
                <a:gd name="connsiteX5-3339" fmla="*/ 58 w 1432618"/>
                <a:gd name="connsiteY5-3340" fmla="*/ 1832797 h 3550128"/>
                <a:gd name="connsiteX6-3341" fmla="*/ 394393 w 1432618"/>
                <a:gd name="connsiteY6-3342" fmla="*/ 1705162 h 3550128"/>
                <a:gd name="connsiteX7-3343" fmla="*/ 642043 w 1432618"/>
                <a:gd name="connsiteY7-3344" fmla="*/ 1838512 h 3550128"/>
                <a:gd name="connsiteX8-3345" fmla="*/ 689668 w 1432618"/>
                <a:gd name="connsiteY8-3346" fmla="*/ 1609912 h 3550128"/>
                <a:gd name="connsiteX9-3347" fmla="*/ 823018 w 1432618"/>
                <a:gd name="connsiteY9-3348" fmla="*/ 1295587 h 3550128"/>
                <a:gd name="connsiteX10-3349" fmla="*/ 765868 w 1432618"/>
                <a:gd name="connsiteY10-3350" fmla="*/ 771712 h 3550128"/>
                <a:gd name="connsiteX11-3351" fmla="*/ 537268 w 1432618"/>
                <a:gd name="connsiteY11-3352" fmla="*/ 628837 h 3550128"/>
                <a:gd name="connsiteX12-3353" fmla="*/ 689668 w 1432618"/>
                <a:gd name="connsiteY12-3354" fmla="*/ 628837 h 3550128"/>
                <a:gd name="connsiteX13-3355" fmla="*/ 765868 w 1432618"/>
                <a:gd name="connsiteY13-3356" fmla="*/ 714562 h 3550128"/>
                <a:gd name="connsiteX14-3357" fmla="*/ 870643 w 1432618"/>
                <a:gd name="connsiteY14-3358" fmla="*/ 187 h 3550128"/>
                <a:gd name="connsiteX15-3359" fmla="*/ 832543 w 1432618"/>
                <a:gd name="connsiteY15-3360" fmla="*/ 647887 h 3550128"/>
                <a:gd name="connsiteX16-3361" fmla="*/ 908743 w 1432618"/>
                <a:gd name="connsiteY16-3362" fmla="*/ 1038412 h 3550128"/>
                <a:gd name="connsiteX17-3363" fmla="*/ 937318 w 1432618"/>
                <a:gd name="connsiteY17-3364" fmla="*/ 1286062 h 3550128"/>
                <a:gd name="connsiteX18-3365" fmla="*/ 1086543 w 1432618"/>
                <a:gd name="connsiteY18-3366" fmla="*/ 1149537 h 3550128"/>
                <a:gd name="connsiteX19-3367" fmla="*/ 1375468 w 1432618"/>
                <a:gd name="connsiteY19-3368" fmla="*/ 1133662 h 3550128"/>
                <a:gd name="connsiteX20-3369" fmla="*/ 1108768 w 1432618"/>
                <a:gd name="connsiteY20-3370" fmla="*/ 1216212 h 3550128"/>
                <a:gd name="connsiteX21-3371" fmla="*/ 889693 w 1432618"/>
                <a:gd name="connsiteY21-3372" fmla="*/ 1489262 h 3550128"/>
                <a:gd name="connsiteX22-3373" fmla="*/ 835718 w 1432618"/>
                <a:gd name="connsiteY22-3374" fmla="*/ 1857562 h 3550128"/>
                <a:gd name="connsiteX23-3375" fmla="*/ 1003993 w 1432618"/>
                <a:gd name="connsiteY23-3376" fmla="*/ 2270312 h 3550128"/>
                <a:gd name="connsiteX24-3377" fmla="*/ 896043 w 1432618"/>
                <a:gd name="connsiteY24-3378" fmla="*/ 2540187 h 3550128"/>
                <a:gd name="connsiteX25-3379" fmla="*/ 1213543 w 1432618"/>
                <a:gd name="connsiteY25-3380" fmla="*/ 2495737 h 3550128"/>
                <a:gd name="connsiteX26-3381" fmla="*/ 1432618 w 1432618"/>
                <a:gd name="connsiteY26-3382" fmla="*/ 2588606 h 3550128"/>
                <a:gd name="connsiteX27-3383" fmla="*/ 1188143 w 1432618"/>
                <a:gd name="connsiteY27-3384" fmla="*/ 2552887 h 3550128"/>
                <a:gd name="connsiteX28-3385" fmla="*/ 832543 w 1432618"/>
                <a:gd name="connsiteY28-3386" fmla="*/ 2695762 h 3550128"/>
                <a:gd name="connsiteX29-3387" fmla="*/ 689668 w 1432618"/>
                <a:gd name="connsiteY29-3388" fmla="*/ 3048187 h 3550128"/>
                <a:gd name="connsiteX30-3389" fmla="*/ 918268 w 1432618"/>
                <a:gd name="connsiteY30-3390" fmla="*/ 3381562 h 3550128"/>
                <a:gd name="connsiteX31-3391" fmla="*/ 1016693 w 1432618"/>
                <a:gd name="connsiteY31-3392" fmla="*/ 3543487 h 3550128"/>
                <a:gd name="connsiteX0-3393" fmla="*/ 1016693 w 1432618"/>
                <a:gd name="connsiteY0-3394" fmla="*/ 3543487 h 3550128"/>
                <a:gd name="connsiteX1-3395" fmla="*/ 591243 w 1432618"/>
                <a:gd name="connsiteY1-3396" fmla="*/ 3549837 h 3550128"/>
                <a:gd name="connsiteX2-3397" fmla="*/ 394393 w 1432618"/>
                <a:gd name="connsiteY2-3398" fmla="*/ 3038662 h 3550128"/>
                <a:gd name="connsiteX3-3399" fmla="*/ 746818 w 1432618"/>
                <a:gd name="connsiteY3-3400" fmla="*/ 2343337 h 3550128"/>
                <a:gd name="connsiteX4-3401" fmla="*/ 560128 w 1432618"/>
                <a:gd name="connsiteY4-3402" fmla="*/ 1884232 h 3550128"/>
                <a:gd name="connsiteX5-3403" fmla="*/ 58 w 1432618"/>
                <a:gd name="connsiteY5-3404" fmla="*/ 1832797 h 3550128"/>
                <a:gd name="connsiteX6-3405" fmla="*/ 394393 w 1432618"/>
                <a:gd name="connsiteY6-3406" fmla="*/ 1705162 h 3550128"/>
                <a:gd name="connsiteX7-3407" fmla="*/ 642043 w 1432618"/>
                <a:gd name="connsiteY7-3408" fmla="*/ 1838512 h 3550128"/>
                <a:gd name="connsiteX8-3409" fmla="*/ 689668 w 1432618"/>
                <a:gd name="connsiteY8-3410" fmla="*/ 1609912 h 3550128"/>
                <a:gd name="connsiteX9-3411" fmla="*/ 823018 w 1432618"/>
                <a:gd name="connsiteY9-3412" fmla="*/ 1295587 h 3550128"/>
                <a:gd name="connsiteX10-3413" fmla="*/ 765868 w 1432618"/>
                <a:gd name="connsiteY10-3414" fmla="*/ 771712 h 3550128"/>
                <a:gd name="connsiteX11-3415" fmla="*/ 537268 w 1432618"/>
                <a:gd name="connsiteY11-3416" fmla="*/ 628837 h 3550128"/>
                <a:gd name="connsiteX12-3417" fmla="*/ 689668 w 1432618"/>
                <a:gd name="connsiteY12-3418" fmla="*/ 628837 h 3550128"/>
                <a:gd name="connsiteX13-3419" fmla="*/ 765868 w 1432618"/>
                <a:gd name="connsiteY13-3420" fmla="*/ 714562 h 3550128"/>
                <a:gd name="connsiteX14-3421" fmla="*/ 870643 w 1432618"/>
                <a:gd name="connsiteY14-3422" fmla="*/ 187 h 3550128"/>
                <a:gd name="connsiteX15-3423" fmla="*/ 832543 w 1432618"/>
                <a:gd name="connsiteY15-3424" fmla="*/ 647887 h 3550128"/>
                <a:gd name="connsiteX16-3425" fmla="*/ 908743 w 1432618"/>
                <a:gd name="connsiteY16-3426" fmla="*/ 1038412 h 3550128"/>
                <a:gd name="connsiteX17-3427" fmla="*/ 937318 w 1432618"/>
                <a:gd name="connsiteY17-3428" fmla="*/ 1247962 h 3550128"/>
                <a:gd name="connsiteX18-3429" fmla="*/ 1086543 w 1432618"/>
                <a:gd name="connsiteY18-3430" fmla="*/ 1149537 h 3550128"/>
                <a:gd name="connsiteX19-3431" fmla="*/ 1375468 w 1432618"/>
                <a:gd name="connsiteY19-3432" fmla="*/ 1133662 h 3550128"/>
                <a:gd name="connsiteX20-3433" fmla="*/ 1108768 w 1432618"/>
                <a:gd name="connsiteY20-3434" fmla="*/ 1216212 h 3550128"/>
                <a:gd name="connsiteX21-3435" fmla="*/ 889693 w 1432618"/>
                <a:gd name="connsiteY21-3436" fmla="*/ 1489262 h 3550128"/>
                <a:gd name="connsiteX22-3437" fmla="*/ 835718 w 1432618"/>
                <a:gd name="connsiteY22-3438" fmla="*/ 1857562 h 3550128"/>
                <a:gd name="connsiteX23-3439" fmla="*/ 1003993 w 1432618"/>
                <a:gd name="connsiteY23-3440" fmla="*/ 2270312 h 3550128"/>
                <a:gd name="connsiteX24-3441" fmla="*/ 896043 w 1432618"/>
                <a:gd name="connsiteY24-3442" fmla="*/ 2540187 h 3550128"/>
                <a:gd name="connsiteX25-3443" fmla="*/ 1213543 w 1432618"/>
                <a:gd name="connsiteY25-3444" fmla="*/ 2495737 h 3550128"/>
                <a:gd name="connsiteX26-3445" fmla="*/ 1432618 w 1432618"/>
                <a:gd name="connsiteY26-3446" fmla="*/ 2588606 h 3550128"/>
                <a:gd name="connsiteX27-3447" fmla="*/ 1188143 w 1432618"/>
                <a:gd name="connsiteY27-3448" fmla="*/ 2552887 h 3550128"/>
                <a:gd name="connsiteX28-3449" fmla="*/ 832543 w 1432618"/>
                <a:gd name="connsiteY28-3450" fmla="*/ 2695762 h 3550128"/>
                <a:gd name="connsiteX29-3451" fmla="*/ 689668 w 1432618"/>
                <a:gd name="connsiteY29-3452" fmla="*/ 3048187 h 3550128"/>
                <a:gd name="connsiteX30-3453" fmla="*/ 918268 w 1432618"/>
                <a:gd name="connsiteY30-3454" fmla="*/ 3381562 h 3550128"/>
                <a:gd name="connsiteX31-3455" fmla="*/ 1016693 w 1432618"/>
                <a:gd name="connsiteY31-3456" fmla="*/ 3543487 h 3550128"/>
                <a:gd name="connsiteX0-3457" fmla="*/ 1016693 w 1432618"/>
                <a:gd name="connsiteY0-3458" fmla="*/ 3543487 h 3550128"/>
                <a:gd name="connsiteX1-3459" fmla="*/ 591243 w 1432618"/>
                <a:gd name="connsiteY1-3460" fmla="*/ 3549837 h 3550128"/>
                <a:gd name="connsiteX2-3461" fmla="*/ 394393 w 1432618"/>
                <a:gd name="connsiteY2-3462" fmla="*/ 3038662 h 3550128"/>
                <a:gd name="connsiteX3-3463" fmla="*/ 746818 w 1432618"/>
                <a:gd name="connsiteY3-3464" fmla="*/ 2343337 h 3550128"/>
                <a:gd name="connsiteX4-3465" fmla="*/ 560128 w 1432618"/>
                <a:gd name="connsiteY4-3466" fmla="*/ 1884232 h 3550128"/>
                <a:gd name="connsiteX5-3467" fmla="*/ 58 w 1432618"/>
                <a:gd name="connsiteY5-3468" fmla="*/ 1832797 h 3550128"/>
                <a:gd name="connsiteX6-3469" fmla="*/ 394393 w 1432618"/>
                <a:gd name="connsiteY6-3470" fmla="*/ 1705162 h 3550128"/>
                <a:gd name="connsiteX7-3471" fmla="*/ 642043 w 1432618"/>
                <a:gd name="connsiteY7-3472" fmla="*/ 1838512 h 3550128"/>
                <a:gd name="connsiteX8-3473" fmla="*/ 689668 w 1432618"/>
                <a:gd name="connsiteY8-3474" fmla="*/ 1609912 h 3550128"/>
                <a:gd name="connsiteX9-3475" fmla="*/ 823018 w 1432618"/>
                <a:gd name="connsiteY9-3476" fmla="*/ 1295587 h 3550128"/>
                <a:gd name="connsiteX10-3477" fmla="*/ 765868 w 1432618"/>
                <a:gd name="connsiteY10-3478" fmla="*/ 771712 h 3550128"/>
                <a:gd name="connsiteX11-3479" fmla="*/ 537268 w 1432618"/>
                <a:gd name="connsiteY11-3480" fmla="*/ 628837 h 3550128"/>
                <a:gd name="connsiteX12-3481" fmla="*/ 689668 w 1432618"/>
                <a:gd name="connsiteY12-3482" fmla="*/ 628837 h 3550128"/>
                <a:gd name="connsiteX13-3483" fmla="*/ 765868 w 1432618"/>
                <a:gd name="connsiteY13-3484" fmla="*/ 714562 h 3550128"/>
                <a:gd name="connsiteX14-3485" fmla="*/ 870643 w 1432618"/>
                <a:gd name="connsiteY14-3486" fmla="*/ 187 h 3550128"/>
                <a:gd name="connsiteX15-3487" fmla="*/ 832543 w 1432618"/>
                <a:gd name="connsiteY15-3488" fmla="*/ 647887 h 3550128"/>
                <a:gd name="connsiteX16-3489" fmla="*/ 908743 w 1432618"/>
                <a:gd name="connsiteY16-3490" fmla="*/ 1038412 h 3550128"/>
                <a:gd name="connsiteX17-3491" fmla="*/ 930968 w 1432618"/>
                <a:gd name="connsiteY17-3492" fmla="*/ 1257487 h 3550128"/>
                <a:gd name="connsiteX18-3493" fmla="*/ 1086543 w 1432618"/>
                <a:gd name="connsiteY18-3494" fmla="*/ 1149537 h 3550128"/>
                <a:gd name="connsiteX19-3495" fmla="*/ 1375468 w 1432618"/>
                <a:gd name="connsiteY19-3496" fmla="*/ 1133662 h 3550128"/>
                <a:gd name="connsiteX20-3497" fmla="*/ 1108768 w 1432618"/>
                <a:gd name="connsiteY20-3498" fmla="*/ 1216212 h 3550128"/>
                <a:gd name="connsiteX21-3499" fmla="*/ 889693 w 1432618"/>
                <a:gd name="connsiteY21-3500" fmla="*/ 1489262 h 3550128"/>
                <a:gd name="connsiteX22-3501" fmla="*/ 835718 w 1432618"/>
                <a:gd name="connsiteY22-3502" fmla="*/ 1857562 h 3550128"/>
                <a:gd name="connsiteX23-3503" fmla="*/ 1003993 w 1432618"/>
                <a:gd name="connsiteY23-3504" fmla="*/ 2270312 h 3550128"/>
                <a:gd name="connsiteX24-3505" fmla="*/ 896043 w 1432618"/>
                <a:gd name="connsiteY24-3506" fmla="*/ 2540187 h 3550128"/>
                <a:gd name="connsiteX25-3507" fmla="*/ 1213543 w 1432618"/>
                <a:gd name="connsiteY25-3508" fmla="*/ 2495737 h 3550128"/>
                <a:gd name="connsiteX26-3509" fmla="*/ 1432618 w 1432618"/>
                <a:gd name="connsiteY26-3510" fmla="*/ 2588606 h 3550128"/>
                <a:gd name="connsiteX27-3511" fmla="*/ 1188143 w 1432618"/>
                <a:gd name="connsiteY27-3512" fmla="*/ 2552887 h 3550128"/>
                <a:gd name="connsiteX28-3513" fmla="*/ 832543 w 1432618"/>
                <a:gd name="connsiteY28-3514" fmla="*/ 2695762 h 3550128"/>
                <a:gd name="connsiteX29-3515" fmla="*/ 689668 w 1432618"/>
                <a:gd name="connsiteY29-3516" fmla="*/ 3048187 h 3550128"/>
                <a:gd name="connsiteX30-3517" fmla="*/ 918268 w 1432618"/>
                <a:gd name="connsiteY30-3518" fmla="*/ 3381562 h 3550128"/>
                <a:gd name="connsiteX31-3519" fmla="*/ 1016693 w 1432618"/>
                <a:gd name="connsiteY31-3520" fmla="*/ 3543487 h 3550128"/>
                <a:gd name="connsiteX0-3521" fmla="*/ 1016693 w 1432618"/>
                <a:gd name="connsiteY0-3522" fmla="*/ 3543487 h 3550128"/>
                <a:gd name="connsiteX1-3523" fmla="*/ 591243 w 1432618"/>
                <a:gd name="connsiteY1-3524" fmla="*/ 3549837 h 3550128"/>
                <a:gd name="connsiteX2-3525" fmla="*/ 394393 w 1432618"/>
                <a:gd name="connsiteY2-3526" fmla="*/ 3038662 h 3550128"/>
                <a:gd name="connsiteX3-3527" fmla="*/ 746818 w 1432618"/>
                <a:gd name="connsiteY3-3528" fmla="*/ 2343337 h 3550128"/>
                <a:gd name="connsiteX4-3529" fmla="*/ 560128 w 1432618"/>
                <a:gd name="connsiteY4-3530" fmla="*/ 1884232 h 3550128"/>
                <a:gd name="connsiteX5-3531" fmla="*/ 58 w 1432618"/>
                <a:gd name="connsiteY5-3532" fmla="*/ 1832797 h 3550128"/>
                <a:gd name="connsiteX6-3533" fmla="*/ 394393 w 1432618"/>
                <a:gd name="connsiteY6-3534" fmla="*/ 1705162 h 3550128"/>
                <a:gd name="connsiteX7-3535" fmla="*/ 642043 w 1432618"/>
                <a:gd name="connsiteY7-3536" fmla="*/ 1838512 h 3550128"/>
                <a:gd name="connsiteX8-3537" fmla="*/ 689668 w 1432618"/>
                <a:gd name="connsiteY8-3538" fmla="*/ 1609912 h 3550128"/>
                <a:gd name="connsiteX9-3539" fmla="*/ 823018 w 1432618"/>
                <a:gd name="connsiteY9-3540" fmla="*/ 1295587 h 3550128"/>
                <a:gd name="connsiteX10-3541" fmla="*/ 765868 w 1432618"/>
                <a:gd name="connsiteY10-3542" fmla="*/ 771712 h 3550128"/>
                <a:gd name="connsiteX11-3543" fmla="*/ 537268 w 1432618"/>
                <a:gd name="connsiteY11-3544" fmla="*/ 628837 h 3550128"/>
                <a:gd name="connsiteX12-3545" fmla="*/ 689668 w 1432618"/>
                <a:gd name="connsiteY12-3546" fmla="*/ 628837 h 3550128"/>
                <a:gd name="connsiteX13-3547" fmla="*/ 765868 w 1432618"/>
                <a:gd name="connsiteY13-3548" fmla="*/ 714562 h 3550128"/>
                <a:gd name="connsiteX14-3549" fmla="*/ 870643 w 1432618"/>
                <a:gd name="connsiteY14-3550" fmla="*/ 187 h 3550128"/>
                <a:gd name="connsiteX15-3551" fmla="*/ 832543 w 1432618"/>
                <a:gd name="connsiteY15-3552" fmla="*/ 647887 h 3550128"/>
                <a:gd name="connsiteX16-3553" fmla="*/ 908743 w 1432618"/>
                <a:gd name="connsiteY16-3554" fmla="*/ 1038412 h 3550128"/>
                <a:gd name="connsiteX17-3555" fmla="*/ 930968 w 1432618"/>
                <a:gd name="connsiteY17-3556" fmla="*/ 1257487 h 3550128"/>
                <a:gd name="connsiteX18-3557" fmla="*/ 1086543 w 1432618"/>
                <a:gd name="connsiteY18-3558" fmla="*/ 1149537 h 3550128"/>
                <a:gd name="connsiteX19-3559" fmla="*/ 1375468 w 1432618"/>
                <a:gd name="connsiteY19-3560" fmla="*/ 1133662 h 3550128"/>
                <a:gd name="connsiteX20-3561" fmla="*/ 1108768 w 1432618"/>
                <a:gd name="connsiteY20-3562" fmla="*/ 1216212 h 3550128"/>
                <a:gd name="connsiteX21-3563" fmla="*/ 889693 w 1432618"/>
                <a:gd name="connsiteY21-3564" fmla="*/ 1489262 h 3550128"/>
                <a:gd name="connsiteX22-3565" fmla="*/ 835718 w 1432618"/>
                <a:gd name="connsiteY22-3566" fmla="*/ 1857562 h 3550128"/>
                <a:gd name="connsiteX23-3567" fmla="*/ 1003993 w 1432618"/>
                <a:gd name="connsiteY23-3568" fmla="*/ 2270312 h 3550128"/>
                <a:gd name="connsiteX24-3569" fmla="*/ 896043 w 1432618"/>
                <a:gd name="connsiteY24-3570" fmla="*/ 2540187 h 3550128"/>
                <a:gd name="connsiteX25-3571" fmla="*/ 1213543 w 1432618"/>
                <a:gd name="connsiteY25-3572" fmla="*/ 2495737 h 3550128"/>
                <a:gd name="connsiteX26-3573" fmla="*/ 1432618 w 1432618"/>
                <a:gd name="connsiteY26-3574" fmla="*/ 2588606 h 3550128"/>
                <a:gd name="connsiteX27-3575" fmla="*/ 1188143 w 1432618"/>
                <a:gd name="connsiteY27-3576" fmla="*/ 2552887 h 3550128"/>
                <a:gd name="connsiteX28-3577" fmla="*/ 832543 w 1432618"/>
                <a:gd name="connsiteY28-3578" fmla="*/ 2695762 h 3550128"/>
                <a:gd name="connsiteX29-3579" fmla="*/ 689668 w 1432618"/>
                <a:gd name="connsiteY29-3580" fmla="*/ 3048187 h 3550128"/>
                <a:gd name="connsiteX30-3581" fmla="*/ 918268 w 1432618"/>
                <a:gd name="connsiteY30-3582" fmla="*/ 3381562 h 3550128"/>
                <a:gd name="connsiteX31-3583" fmla="*/ 1016693 w 1432618"/>
                <a:gd name="connsiteY31-3584" fmla="*/ 3543487 h 3550128"/>
                <a:gd name="connsiteX0-3585" fmla="*/ 1016693 w 1432618"/>
                <a:gd name="connsiteY0-3586" fmla="*/ 3543487 h 3550128"/>
                <a:gd name="connsiteX1-3587" fmla="*/ 591243 w 1432618"/>
                <a:gd name="connsiteY1-3588" fmla="*/ 3549837 h 3550128"/>
                <a:gd name="connsiteX2-3589" fmla="*/ 394393 w 1432618"/>
                <a:gd name="connsiteY2-3590" fmla="*/ 3038662 h 3550128"/>
                <a:gd name="connsiteX3-3591" fmla="*/ 746818 w 1432618"/>
                <a:gd name="connsiteY3-3592" fmla="*/ 2343337 h 3550128"/>
                <a:gd name="connsiteX4-3593" fmla="*/ 560128 w 1432618"/>
                <a:gd name="connsiteY4-3594" fmla="*/ 1884232 h 3550128"/>
                <a:gd name="connsiteX5-3595" fmla="*/ 58 w 1432618"/>
                <a:gd name="connsiteY5-3596" fmla="*/ 1832797 h 3550128"/>
                <a:gd name="connsiteX6-3597" fmla="*/ 394393 w 1432618"/>
                <a:gd name="connsiteY6-3598" fmla="*/ 1705162 h 3550128"/>
                <a:gd name="connsiteX7-3599" fmla="*/ 642043 w 1432618"/>
                <a:gd name="connsiteY7-3600" fmla="*/ 1838512 h 3550128"/>
                <a:gd name="connsiteX8-3601" fmla="*/ 689668 w 1432618"/>
                <a:gd name="connsiteY8-3602" fmla="*/ 1609912 h 3550128"/>
                <a:gd name="connsiteX9-3603" fmla="*/ 823018 w 1432618"/>
                <a:gd name="connsiteY9-3604" fmla="*/ 1295587 h 3550128"/>
                <a:gd name="connsiteX10-3605" fmla="*/ 765868 w 1432618"/>
                <a:gd name="connsiteY10-3606" fmla="*/ 771712 h 3550128"/>
                <a:gd name="connsiteX11-3607" fmla="*/ 537268 w 1432618"/>
                <a:gd name="connsiteY11-3608" fmla="*/ 628837 h 3550128"/>
                <a:gd name="connsiteX12-3609" fmla="*/ 689668 w 1432618"/>
                <a:gd name="connsiteY12-3610" fmla="*/ 628837 h 3550128"/>
                <a:gd name="connsiteX13-3611" fmla="*/ 765868 w 1432618"/>
                <a:gd name="connsiteY13-3612" fmla="*/ 714562 h 3550128"/>
                <a:gd name="connsiteX14-3613" fmla="*/ 870643 w 1432618"/>
                <a:gd name="connsiteY14-3614" fmla="*/ 187 h 3550128"/>
                <a:gd name="connsiteX15-3615" fmla="*/ 832543 w 1432618"/>
                <a:gd name="connsiteY15-3616" fmla="*/ 647887 h 3550128"/>
                <a:gd name="connsiteX16-3617" fmla="*/ 908743 w 1432618"/>
                <a:gd name="connsiteY16-3618" fmla="*/ 1038412 h 3550128"/>
                <a:gd name="connsiteX17-3619" fmla="*/ 930968 w 1432618"/>
                <a:gd name="connsiteY17-3620" fmla="*/ 1257487 h 3550128"/>
                <a:gd name="connsiteX18-3621" fmla="*/ 1086543 w 1432618"/>
                <a:gd name="connsiteY18-3622" fmla="*/ 1149537 h 3550128"/>
                <a:gd name="connsiteX19-3623" fmla="*/ 1375468 w 1432618"/>
                <a:gd name="connsiteY19-3624" fmla="*/ 1133662 h 3550128"/>
                <a:gd name="connsiteX20-3625" fmla="*/ 1108768 w 1432618"/>
                <a:gd name="connsiteY20-3626" fmla="*/ 1216212 h 3550128"/>
                <a:gd name="connsiteX21-3627" fmla="*/ 889693 w 1432618"/>
                <a:gd name="connsiteY21-3628" fmla="*/ 1489262 h 3550128"/>
                <a:gd name="connsiteX22-3629" fmla="*/ 835718 w 1432618"/>
                <a:gd name="connsiteY22-3630" fmla="*/ 1857562 h 3550128"/>
                <a:gd name="connsiteX23-3631" fmla="*/ 1003993 w 1432618"/>
                <a:gd name="connsiteY23-3632" fmla="*/ 2270312 h 3550128"/>
                <a:gd name="connsiteX24-3633" fmla="*/ 896043 w 1432618"/>
                <a:gd name="connsiteY24-3634" fmla="*/ 2540187 h 3550128"/>
                <a:gd name="connsiteX25-3635" fmla="*/ 1213543 w 1432618"/>
                <a:gd name="connsiteY25-3636" fmla="*/ 2495737 h 3550128"/>
                <a:gd name="connsiteX26-3637" fmla="*/ 1432618 w 1432618"/>
                <a:gd name="connsiteY26-3638" fmla="*/ 2588606 h 3550128"/>
                <a:gd name="connsiteX27-3639" fmla="*/ 1188143 w 1432618"/>
                <a:gd name="connsiteY27-3640" fmla="*/ 2552887 h 3550128"/>
                <a:gd name="connsiteX28-3641" fmla="*/ 832543 w 1432618"/>
                <a:gd name="connsiteY28-3642" fmla="*/ 2695762 h 3550128"/>
                <a:gd name="connsiteX29-3643" fmla="*/ 689668 w 1432618"/>
                <a:gd name="connsiteY29-3644" fmla="*/ 3048187 h 3550128"/>
                <a:gd name="connsiteX30-3645" fmla="*/ 918268 w 1432618"/>
                <a:gd name="connsiteY30-3646" fmla="*/ 3381562 h 3550128"/>
                <a:gd name="connsiteX31-3647" fmla="*/ 1016693 w 1432618"/>
                <a:gd name="connsiteY31-3648" fmla="*/ 3543487 h 3550128"/>
                <a:gd name="connsiteX0-3649" fmla="*/ 1016693 w 1432618"/>
                <a:gd name="connsiteY0-3650" fmla="*/ 3543486 h 3550127"/>
                <a:gd name="connsiteX1-3651" fmla="*/ 591243 w 1432618"/>
                <a:gd name="connsiteY1-3652" fmla="*/ 3549836 h 3550127"/>
                <a:gd name="connsiteX2-3653" fmla="*/ 394393 w 1432618"/>
                <a:gd name="connsiteY2-3654" fmla="*/ 3038661 h 3550127"/>
                <a:gd name="connsiteX3-3655" fmla="*/ 746818 w 1432618"/>
                <a:gd name="connsiteY3-3656" fmla="*/ 2343336 h 3550127"/>
                <a:gd name="connsiteX4-3657" fmla="*/ 560128 w 1432618"/>
                <a:gd name="connsiteY4-3658" fmla="*/ 1884231 h 3550127"/>
                <a:gd name="connsiteX5-3659" fmla="*/ 58 w 1432618"/>
                <a:gd name="connsiteY5-3660" fmla="*/ 1832796 h 3550127"/>
                <a:gd name="connsiteX6-3661" fmla="*/ 394393 w 1432618"/>
                <a:gd name="connsiteY6-3662" fmla="*/ 1705161 h 3550127"/>
                <a:gd name="connsiteX7-3663" fmla="*/ 642043 w 1432618"/>
                <a:gd name="connsiteY7-3664" fmla="*/ 1838511 h 3550127"/>
                <a:gd name="connsiteX8-3665" fmla="*/ 689668 w 1432618"/>
                <a:gd name="connsiteY8-3666" fmla="*/ 1609911 h 3550127"/>
                <a:gd name="connsiteX9-3667" fmla="*/ 823018 w 1432618"/>
                <a:gd name="connsiteY9-3668" fmla="*/ 1295586 h 3550127"/>
                <a:gd name="connsiteX10-3669" fmla="*/ 765868 w 1432618"/>
                <a:gd name="connsiteY10-3670" fmla="*/ 771711 h 3550127"/>
                <a:gd name="connsiteX11-3671" fmla="*/ 537268 w 1432618"/>
                <a:gd name="connsiteY11-3672" fmla="*/ 628836 h 3550127"/>
                <a:gd name="connsiteX12-3673" fmla="*/ 689668 w 1432618"/>
                <a:gd name="connsiteY12-3674" fmla="*/ 628836 h 3550127"/>
                <a:gd name="connsiteX13-3675" fmla="*/ 765868 w 1432618"/>
                <a:gd name="connsiteY13-3676" fmla="*/ 714561 h 3550127"/>
                <a:gd name="connsiteX14-3677" fmla="*/ 870643 w 1432618"/>
                <a:gd name="connsiteY14-3678" fmla="*/ 186 h 3550127"/>
                <a:gd name="connsiteX15-3679" fmla="*/ 832543 w 1432618"/>
                <a:gd name="connsiteY15-3680" fmla="*/ 647886 h 3550127"/>
                <a:gd name="connsiteX16-3681" fmla="*/ 921443 w 1432618"/>
                <a:gd name="connsiteY16-3682" fmla="*/ 1009836 h 3550127"/>
                <a:gd name="connsiteX17-3683" fmla="*/ 930968 w 1432618"/>
                <a:gd name="connsiteY17-3684" fmla="*/ 1257486 h 3550127"/>
                <a:gd name="connsiteX18-3685" fmla="*/ 1086543 w 1432618"/>
                <a:gd name="connsiteY18-3686" fmla="*/ 1149536 h 3550127"/>
                <a:gd name="connsiteX19-3687" fmla="*/ 1375468 w 1432618"/>
                <a:gd name="connsiteY19-3688" fmla="*/ 1133661 h 3550127"/>
                <a:gd name="connsiteX20-3689" fmla="*/ 1108768 w 1432618"/>
                <a:gd name="connsiteY20-3690" fmla="*/ 1216211 h 3550127"/>
                <a:gd name="connsiteX21-3691" fmla="*/ 889693 w 1432618"/>
                <a:gd name="connsiteY21-3692" fmla="*/ 1489261 h 3550127"/>
                <a:gd name="connsiteX22-3693" fmla="*/ 835718 w 1432618"/>
                <a:gd name="connsiteY22-3694" fmla="*/ 1857561 h 3550127"/>
                <a:gd name="connsiteX23-3695" fmla="*/ 1003993 w 1432618"/>
                <a:gd name="connsiteY23-3696" fmla="*/ 2270311 h 3550127"/>
                <a:gd name="connsiteX24-3697" fmla="*/ 896043 w 1432618"/>
                <a:gd name="connsiteY24-3698" fmla="*/ 2540186 h 3550127"/>
                <a:gd name="connsiteX25-3699" fmla="*/ 1213543 w 1432618"/>
                <a:gd name="connsiteY25-3700" fmla="*/ 2495736 h 3550127"/>
                <a:gd name="connsiteX26-3701" fmla="*/ 1432618 w 1432618"/>
                <a:gd name="connsiteY26-3702" fmla="*/ 2588605 h 3550127"/>
                <a:gd name="connsiteX27-3703" fmla="*/ 1188143 w 1432618"/>
                <a:gd name="connsiteY27-3704" fmla="*/ 2552886 h 3550127"/>
                <a:gd name="connsiteX28-3705" fmla="*/ 832543 w 1432618"/>
                <a:gd name="connsiteY28-3706" fmla="*/ 2695761 h 3550127"/>
                <a:gd name="connsiteX29-3707" fmla="*/ 689668 w 1432618"/>
                <a:gd name="connsiteY29-3708" fmla="*/ 3048186 h 3550127"/>
                <a:gd name="connsiteX30-3709" fmla="*/ 918268 w 1432618"/>
                <a:gd name="connsiteY30-3710" fmla="*/ 3381561 h 3550127"/>
                <a:gd name="connsiteX31-3711" fmla="*/ 1016693 w 1432618"/>
                <a:gd name="connsiteY31-3712" fmla="*/ 3543486 h 3550127"/>
                <a:gd name="connsiteX0-3713" fmla="*/ 1016693 w 1432618"/>
                <a:gd name="connsiteY0-3714" fmla="*/ 3543524 h 3550165"/>
                <a:gd name="connsiteX1-3715" fmla="*/ 591243 w 1432618"/>
                <a:gd name="connsiteY1-3716" fmla="*/ 3549874 h 3550165"/>
                <a:gd name="connsiteX2-3717" fmla="*/ 394393 w 1432618"/>
                <a:gd name="connsiteY2-3718" fmla="*/ 3038699 h 3550165"/>
                <a:gd name="connsiteX3-3719" fmla="*/ 746818 w 1432618"/>
                <a:gd name="connsiteY3-3720" fmla="*/ 2343374 h 3550165"/>
                <a:gd name="connsiteX4-3721" fmla="*/ 560128 w 1432618"/>
                <a:gd name="connsiteY4-3722" fmla="*/ 1884269 h 3550165"/>
                <a:gd name="connsiteX5-3723" fmla="*/ 58 w 1432618"/>
                <a:gd name="connsiteY5-3724" fmla="*/ 1832834 h 3550165"/>
                <a:gd name="connsiteX6-3725" fmla="*/ 394393 w 1432618"/>
                <a:gd name="connsiteY6-3726" fmla="*/ 1705199 h 3550165"/>
                <a:gd name="connsiteX7-3727" fmla="*/ 642043 w 1432618"/>
                <a:gd name="connsiteY7-3728" fmla="*/ 1838549 h 3550165"/>
                <a:gd name="connsiteX8-3729" fmla="*/ 689668 w 1432618"/>
                <a:gd name="connsiteY8-3730" fmla="*/ 1609949 h 3550165"/>
                <a:gd name="connsiteX9-3731" fmla="*/ 823018 w 1432618"/>
                <a:gd name="connsiteY9-3732" fmla="*/ 1295624 h 3550165"/>
                <a:gd name="connsiteX10-3733" fmla="*/ 765868 w 1432618"/>
                <a:gd name="connsiteY10-3734" fmla="*/ 771749 h 3550165"/>
                <a:gd name="connsiteX11-3735" fmla="*/ 537268 w 1432618"/>
                <a:gd name="connsiteY11-3736" fmla="*/ 628874 h 3550165"/>
                <a:gd name="connsiteX12-3737" fmla="*/ 689668 w 1432618"/>
                <a:gd name="connsiteY12-3738" fmla="*/ 628874 h 3550165"/>
                <a:gd name="connsiteX13-3739" fmla="*/ 765868 w 1432618"/>
                <a:gd name="connsiteY13-3740" fmla="*/ 714599 h 3550165"/>
                <a:gd name="connsiteX14-3741" fmla="*/ 870643 w 1432618"/>
                <a:gd name="connsiteY14-3742" fmla="*/ 224 h 3550165"/>
                <a:gd name="connsiteX15-3743" fmla="*/ 857943 w 1432618"/>
                <a:gd name="connsiteY15-3744" fmla="*/ 641574 h 3550165"/>
                <a:gd name="connsiteX16-3745" fmla="*/ 921443 w 1432618"/>
                <a:gd name="connsiteY16-3746" fmla="*/ 1009874 h 3550165"/>
                <a:gd name="connsiteX17-3747" fmla="*/ 930968 w 1432618"/>
                <a:gd name="connsiteY17-3748" fmla="*/ 1257524 h 3550165"/>
                <a:gd name="connsiteX18-3749" fmla="*/ 1086543 w 1432618"/>
                <a:gd name="connsiteY18-3750" fmla="*/ 1149574 h 3550165"/>
                <a:gd name="connsiteX19-3751" fmla="*/ 1375468 w 1432618"/>
                <a:gd name="connsiteY19-3752" fmla="*/ 1133699 h 3550165"/>
                <a:gd name="connsiteX20-3753" fmla="*/ 1108768 w 1432618"/>
                <a:gd name="connsiteY20-3754" fmla="*/ 1216249 h 3550165"/>
                <a:gd name="connsiteX21-3755" fmla="*/ 889693 w 1432618"/>
                <a:gd name="connsiteY21-3756" fmla="*/ 1489299 h 3550165"/>
                <a:gd name="connsiteX22-3757" fmla="*/ 835718 w 1432618"/>
                <a:gd name="connsiteY22-3758" fmla="*/ 1857599 h 3550165"/>
                <a:gd name="connsiteX23-3759" fmla="*/ 1003993 w 1432618"/>
                <a:gd name="connsiteY23-3760" fmla="*/ 2270349 h 3550165"/>
                <a:gd name="connsiteX24-3761" fmla="*/ 896043 w 1432618"/>
                <a:gd name="connsiteY24-3762" fmla="*/ 2540224 h 3550165"/>
                <a:gd name="connsiteX25-3763" fmla="*/ 1213543 w 1432618"/>
                <a:gd name="connsiteY25-3764" fmla="*/ 2495774 h 3550165"/>
                <a:gd name="connsiteX26-3765" fmla="*/ 1432618 w 1432618"/>
                <a:gd name="connsiteY26-3766" fmla="*/ 2588643 h 3550165"/>
                <a:gd name="connsiteX27-3767" fmla="*/ 1188143 w 1432618"/>
                <a:gd name="connsiteY27-3768" fmla="*/ 2552924 h 3550165"/>
                <a:gd name="connsiteX28-3769" fmla="*/ 832543 w 1432618"/>
                <a:gd name="connsiteY28-3770" fmla="*/ 2695799 h 3550165"/>
                <a:gd name="connsiteX29-3771" fmla="*/ 689668 w 1432618"/>
                <a:gd name="connsiteY29-3772" fmla="*/ 3048224 h 3550165"/>
                <a:gd name="connsiteX30-3773" fmla="*/ 918268 w 1432618"/>
                <a:gd name="connsiteY30-3774" fmla="*/ 3381599 h 3550165"/>
                <a:gd name="connsiteX31-3775" fmla="*/ 1016693 w 1432618"/>
                <a:gd name="connsiteY31-3776" fmla="*/ 3543524 h 3550165"/>
                <a:gd name="connsiteX0-3777" fmla="*/ 1016693 w 1432618"/>
                <a:gd name="connsiteY0-3778" fmla="*/ 3543529 h 3550170"/>
                <a:gd name="connsiteX1-3779" fmla="*/ 591243 w 1432618"/>
                <a:gd name="connsiteY1-3780" fmla="*/ 3549879 h 3550170"/>
                <a:gd name="connsiteX2-3781" fmla="*/ 394393 w 1432618"/>
                <a:gd name="connsiteY2-3782" fmla="*/ 3038704 h 3550170"/>
                <a:gd name="connsiteX3-3783" fmla="*/ 746818 w 1432618"/>
                <a:gd name="connsiteY3-3784" fmla="*/ 2343379 h 3550170"/>
                <a:gd name="connsiteX4-3785" fmla="*/ 560128 w 1432618"/>
                <a:gd name="connsiteY4-3786" fmla="*/ 1884274 h 3550170"/>
                <a:gd name="connsiteX5-3787" fmla="*/ 58 w 1432618"/>
                <a:gd name="connsiteY5-3788" fmla="*/ 1832839 h 3550170"/>
                <a:gd name="connsiteX6-3789" fmla="*/ 394393 w 1432618"/>
                <a:gd name="connsiteY6-3790" fmla="*/ 1705204 h 3550170"/>
                <a:gd name="connsiteX7-3791" fmla="*/ 642043 w 1432618"/>
                <a:gd name="connsiteY7-3792" fmla="*/ 1838554 h 3550170"/>
                <a:gd name="connsiteX8-3793" fmla="*/ 689668 w 1432618"/>
                <a:gd name="connsiteY8-3794" fmla="*/ 1609954 h 3550170"/>
                <a:gd name="connsiteX9-3795" fmla="*/ 823018 w 1432618"/>
                <a:gd name="connsiteY9-3796" fmla="*/ 1295629 h 3550170"/>
                <a:gd name="connsiteX10-3797" fmla="*/ 765868 w 1432618"/>
                <a:gd name="connsiteY10-3798" fmla="*/ 771754 h 3550170"/>
                <a:gd name="connsiteX11-3799" fmla="*/ 537268 w 1432618"/>
                <a:gd name="connsiteY11-3800" fmla="*/ 628879 h 3550170"/>
                <a:gd name="connsiteX12-3801" fmla="*/ 689668 w 1432618"/>
                <a:gd name="connsiteY12-3802" fmla="*/ 628879 h 3550170"/>
                <a:gd name="connsiteX13-3803" fmla="*/ 765868 w 1432618"/>
                <a:gd name="connsiteY13-3804" fmla="*/ 714604 h 3550170"/>
                <a:gd name="connsiteX14-3805" fmla="*/ 870643 w 1432618"/>
                <a:gd name="connsiteY14-3806" fmla="*/ 229 h 3550170"/>
                <a:gd name="connsiteX15-3807" fmla="*/ 857943 w 1432618"/>
                <a:gd name="connsiteY15-3808" fmla="*/ 641579 h 3550170"/>
                <a:gd name="connsiteX16-3809" fmla="*/ 921443 w 1432618"/>
                <a:gd name="connsiteY16-3810" fmla="*/ 1009879 h 3550170"/>
                <a:gd name="connsiteX17-3811" fmla="*/ 930968 w 1432618"/>
                <a:gd name="connsiteY17-3812" fmla="*/ 1257529 h 3550170"/>
                <a:gd name="connsiteX18-3813" fmla="*/ 1086543 w 1432618"/>
                <a:gd name="connsiteY18-3814" fmla="*/ 1149579 h 3550170"/>
                <a:gd name="connsiteX19-3815" fmla="*/ 1375468 w 1432618"/>
                <a:gd name="connsiteY19-3816" fmla="*/ 1133704 h 3550170"/>
                <a:gd name="connsiteX20-3817" fmla="*/ 1108768 w 1432618"/>
                <a:gd name="connsiteY20-3818" fmla="*/ 1216254 h 3550170"/>
                <a:gd name="connsiteX21-3819" fmla="*/ 889693 w 1432618"/>
                <a:gd name="connsiteY21-3820" fmla="*/ 1489304 h 3550170"/>
                <a:gd name="connsiteX22-3821" fmla="*/ 835718 w 1432618"/>
                <a:gd name="connsiteY22-3822" fmla="*/ 1857604 h 3550170"/>
                <a:gd name="connsiteX23-3823" fmla="*/ 1003993 w 1432618"/>
                <a:gd name="connsiteY23-3824" fmla="*/ 2270354 h 3550170"/>
                <a:gd name="connsiteX24-3825" fmla="*/ 896043 w 1432618"/>
                <a:gd name="connsiteY24-3826" fmla="*/ 2540229 h 3550170"/>
                <a:gd name="connsiteX25-3827" fmla="*/ 1213543 w 1432618"/>
                <a:gd name="connsiteY25-3828" fmla="*/ 2495779 h 3550170"/>
                <a:gd name="connsiteX26-3829" fmla="*/ 1432618 w 1432618"/>
                <a:gd name="connsiteY26-3830" fmla="*/ 2588648 h 3550170"/>
                <a:gd name="connsiteX27-3831" fmla="*/ 1188143 w 1432618"/>
                <a:gd name="connsiteY27-3832" fmla="*/ 2552929 h 3550170"/>
                <a:gd name="connsiteX28-3833" fmla="*/ 832543 w 1432618"/>
                <a:gd name="connsiteY28-3834" fmla="*/ 2695804 h 3550170"/>
                <a:gd name="connsiteX29-3835" fmla="*/ 689668 w 1432618"/>
                <a:gd name="connsiteY29-3836" fmla="*/ 3048229 h 3550170"/>
                <a:gd name="connsiteX30-3837" fmla="*/ 918268 w 1432618"/>
                <a:gd name="connsiteY30-3838" fmla="*/ 3381604 h 3550170"/>
                <a:gd name="connsiteX31-3839" fmla="*/ 1016693 w 1432618"/>
                <a:gd name="connsiteY31-3840" fmla="*/ 3543529 h 3550170"/>
                <a:gd name="connsiteX0-3841" fmla="*/ 1016693 w 1432618"/>
                <a:gd name="connsiteY0-3842" fmla="*/ 3581611 h 3588252"/>
                <a:gd name="connsiteX1-3843" fmla="*/ 591243 w 1432618"/>
                <a:gd name="connsiteY1-3844" fmla="*/ 3587961 h 3588252"/>
                <a:gd name="connsiteX2-3845" fmla="*/ 394393 w 1432618"/>
                <a:gd name="connsiteY2-3846" fmla="*/ 3076786 h 3588252"/>
                <a:gd name="connsiteX3-3847" fmla="*/ 746818 w 1432618"/>
                <a:gd name="connsiteY3-3848" fmla="*/ 2381461 h 3588252"/>
                <a:gd name="connsiteX4-3849" fmla="*/ 560128 w 1432618"/>
                <a:gd name="connsiteY4-3850" fmla="*/ 1922356 h 3588252"/>
                <a:gd name="connsiteX5-3851" fmla="*/ 58 w 1432618"/>
                <a:gd name="connsiteY5-3852" fmla="*/ 1870921 h 3588252"/>
                <a:gd name="connsiteX6-3853" fmla="*/ 394393 w 1432618"/>
                <a:gd name="connsiteY6-3854" fmla="*/ 1743286 h 3588252"/>
                <a:gd name="connsiteX7-3855" fmla="*/ 642043 w 1432618"/>
                <a:gd name="connsiteY7-3856" fmla="*/ 1876636 h 3588252"/>
                <a:gd name="connsiteX8-3857" fmla="*/ 689668 w 1432618"/>
                <a:gd name="connsiteY8-3858" fmla="*/ 1648036 h 3588252"/>
                <a:gd name="connsiteX9-3859" fmla="*/ 823018 w 1432618"/>
                <a:gd name="connsiteY9-3860" fmla="*/ 1333711 h 3588252"/>
                <a:gd name="connsiteX10-3861" fmla="*/ 765868 w 1432618"/>
                <a:gd name="connsiteY10-3862" fmla="*/ 809836 h 3588252"/>
                <a:gd name="connsiteX11-3863" fmla="*/ 537268 w 1432618"/>
                <a:gd name="connsiteY11-3864" fmla="*/ 666961 h 3588252"/>
                <a:gd name="connsiteX12-3865" fmla="*/ 689668 w 1432618"/>
                <a:gd name="connsiteY12-3866" fmla="*/ 666961 h 3588252"/>
                <a:gd name="connsiteX13-3867" fmla="*/ 765868 w 1432618"/>
                <a:gd name="connsiteY13-3868" fmla="*/ 752686 h 3588252"/>
                <a:gd name="connsiteX14-3869" fmla="*/ 886518 w 1432618"/>
                <a:gd name="connsiteY14-3870" fmla="*/ 211 h 3588252"/>
                <a:gd name="connsiteX15-3871" fmla="*/ 857943 w 1432618"/>
                <a:gd name="connsiteY15-3872" fmla="*/ 679661 h 3588252"/>
                <a:gd name="connsiteX16-3873" fmla="*/ 921443 w 1432618"/>
                <a:gd name="connsiteY16-3874" fmla="*/ 1047961 h 3588252"/>
                <a:gd name="connsiteX17-3875" fmla="*/ 930968 w 1432618"/>
                <a:gd name="connsiteY17-3876" fmla="*/ 1295611 h 3588252"/>
                <a:gd name="connsiteX18-3877" fmla="*/ 1086543 w 1432618"/>
                <a:gd name="connsiteY18-3878" fmla="*/ 1187661 h 3588252"/>
                <a:gd name="connsiteX19-3879" fmla="*/ 1375468 w 1432618"/>
                <a:gd name="connsiteY19-3880" fmla="*/ 1171786 h 3588252"/>
                <a:gd name="connsiteX20-3881" fmla="*/ 1108768 w 1432618"/>
                <a:gd name="connsiteY20-3882" fmla="*/ 1254336 h 3588252"/>
                <a:gd name="connsiteX21-3883" fmla="*/ 889693 w 1432618"/>
                <a:gd name="connsiteY21-3884" fmla="*/ 1527386 h 3588252"/>
                <a:gd name="connsiteX22-3885" fmla="*/ 835718 w 1432618"/>
                <a:gd name="connsiteY22-3886" fmla="*/ 1895686 h 3588252"/>
                <a:gd name="connsiteX23-3887" fmla="*/ 1003993 w 1432618"/>
                <a:gd name="connsiteY23-3888" fmla="*/ 2308436 h 3588252"/>
                <a:gd name="connsiteX24-3889" fmla="*/ 896043 w 1432618"/>
                <a:gd name="connsiteY24-3890" fmla="*/ 2578311 h 3588252"/>
                <a:gd name="connsiteX25-3891" fmla="*/ 1213543 w 1432618"/>
                <a:gd name="connsiteY25-3892" fmla="*/ 2533861 h 3588252"/>
                <a:gd name="connsiteX26-3893" fmla="*/ 1432618 w 1432618"/>
                <a:gd name="connsiteY26-3894" fmla="*/ 2626730 h 3588252"/>
                <a:gd name="connsiteX27-3895" fmla="*/ 1188143 w 1432618"/>
                <a:gd name="connsiteY27-3896" fmla="*/ 2591011 h 3588252"/>
                <a:gd name="connsiteX28-3897" fmla="*/ 832543 w 1432618"/>
                <a:gd name="connsiteY28-3898" fmla="*/ 2733886 h 3588252"/>
                <a:gd name="connsiteX29-3899" fmla="*/ 689668 w 1432618"/>
                <a:gd name="connsiteY29-3900" fmla="*/ 3086311 h 3588252"/>
                <a:gd name="connsiteX30-3901" fmla="*/ 918268 w 1432618"/>
                <a:gd name="connsiteY30-3902" fmla="*/ 3419686 h 3588252"/>
                <a:gd name="connsiteX31-3903" fmla="*/ 1016693 w 1432618"/>
                <a:gd name="connsiteY31-3904" fmla="*/ 3581611 h 3588252"/>
                <a:gd name="connsiteX0-3905" fmla="*/ 1016693 w 1432618"/>
                <a:gd name="connsiteY0-3906" fmla="*/ 3581400 h 3588041"/>
                <a:gd name="connsiteX1-3907" fmla="*/ 591243 w 1432618"/>
                <a:gd name="connsiteY1-3908" fmla="*/ 3587750 h 3588041"/>
                <a:gd name="connsiteX2-3909" fmla="*/ 394393 w 1432618"/>
                <a:gd name="connsiteY2-3910" fmla="*/ 3076575 h 3588041"/>
                <a:gd name="connsiteX3-3911" fmla="*/ 746818 w 1432618"/>
                <a:gd name="connsiteY3-3912" fmla="*/ 2381250 h 3588041"/>
                <a:gd name="connsiteX4-3913" fmla="*/ 560128 w 1432618"/>
                <a:gd name="connsiteY4-3914" fmla="*/ 1922145 h 3588041"/>
                <a:gd name="connsiteX5-3915" fmla="*/ 58 w 1432618"/>
                <a:gd name="connsiteY5-3916" fmla="*/ 1870710 h 3588041"/>
                <a:gd name="connsiteX6-3917" fmla="*/ 394393 w 1432618"/>
                <a:gd name="connsiteY6-3918" fmla="*/ 1743075 h 3588041"/>
                <a:gd name="connsiteX7-3919" fmla="*/ 642043 w 1432618"/>
                <a:gd name="connsiteY7-3920" fmla="*/ 1876425 h 3588041"/>
                <a:gd name="connsiteX8-3921" fmla="*/ 689668 w 1432618"/>
                <a:gd name="connsiteY8-3922" fmla="*/ 1647825 h 3588041"/>
                <a:gd name="connsiteX9-3923" fmla="*/ 823018 w 1432618"/>
                <a:gd name="connsiteY9-3924" fmla="*/ 1333500 h 3588041"/>
                <a:gd name="connsiteX10-3925" fmla="*/ 765868 w 1432618"/>
                <a:gd name="connsiteY10-3926" fmla="*/ 809625 h 3588041"/>
                <a:gd name="connsiteX11-3927" fmla="*/ 537268 w 1432618"/>
                <a:gd name="connsiteY11-3928" fmla="*/ 666750 h 3588041"/>
                <a:gd name="connsiteX12-3929" fmla="*/ 689668 w 1432618"/>
                <a:gd name="connsiteY12-3930" fmla="*/ 666750 h 3588041"/>
                <a:gd name="connsiteX13-3931" fmla="*/ 765868 w 1432618"/>
                <a:gd name="connsiteY13-3932" fmla="*/ 752475 h 3588041"/>
                <a:gd name="connsiteX14-3933" fmla="*/ 886518 w 1432618"/>
                <a:gd name="connsiteY14-3934" fmla="*/ 0 h 3588041"/>
                <a:gd name="connsiteX15-3935" fmla="*/ 857943 w 1432618"/>
                <a:gd name="connsiteY15-3936" fmla="*/ 679450 h 3588041"/>
                <a:gd name="connsiteX16-3937" fmla="*/ 921443 w 1432618"/>
                <a:gd name="connsiteY16-3938" fmla="*/ 1047750 h 3588041"/>
                <a:gd name="connsiteX17-3939" fmla="*/ 930968 w 1432618"/>
                <a:gd name="connsiteY17-3940" fmla="*/ 1295400 h 3588041"/>
                <a:gd name="connsiteX18-3941" fmla="*/ 1086543 w 1432618"/>
                <a:gd name="connsiteY18-3942" fmla="*/ 1187450 h 3588041"/>
                <a:gd name="connsiteX19-3943" fmla="*/ 1375468 w 1432618"/>
                <a:gd name="connsiteY19-3944" fmla="*/ 1171575 h 3588041"/>
                <a:gd name="connsiteX20-3945" fmla="*/ 1108768 w 1432618"/>
                <a:gd name="connsiteY20-3946" fmla="*/ 1254125 h 3588041"/>
                <a:gd name="connsiteX21-3947" fmla="*/ 889693 w 1432618"/>
                <a:gd name="connsiteY21-3948" fmla="*/ 1527175 h 3588041"/>
                <a:gd name="connsiteX22-3949" fmla="*/ 835718 w 1432618"/>
                <a:gd name="connsiteY22-3950" fmla="*/ 1895475 h 3588041"/>
                <a:gd name="connsiteX23-3951" fmla="*/ 1003993 w 1432618"/>
                <a:gd name="connsiteY23-3952" fmla="*/ 2308225 h 3588041"/>
                <a:gd name="connsiteX24-3953" fmla="*/ 896043 w 1432618"/>
                <a:gd name="connsiteY24-3954" fmla="*/ 2578100 h 3588041"/>
                <a:gd name="connsiteX25-3955" fmla="*/ 1213543 w 1432618"/>
                <a:gd name="connsiteY25-3956" fmla="*/ 2533650 h 3588041"/>
                <a:gd name="connsiteX26-3957" fmla="*/ 1432618 w 1432618"/>
                <a:gd name="connsiteY26-3958" fmla="*/ 2626519 h 3588041"/>
                <a:gd name="connsiteX27-3959" fmla="*/ 1188143 w 1432618"/>
                <a:gd name="connsiteY27-3960" fmla="*/ 2590800 h 3588041"/>
                <a:gd name="connsiteX28-3961" fmla="*/ 832543 w 1432618"/>
                <a:gd name="connsiteY28-3962" fmla="*/ 2733675 h 3588041"/>
                <a:gd name="connsiteX29-3963" fmla="*/ 689668 w 1432618"/>
                <a:gd name="connsiteY29-3964" fmla="*/ 3086100 h 3588041"/>
                <a:gd name="connsiteX30-3965" fmla="*/ 918268 w 1432618"/>
                <a:gd name="connsiteY30-3966" fmla="*/ 3419475 h 3588041"/>
                <a:gd name="connsiteX31-3967" fmla="*/ 1016693 w 1432618"/>
                <a:gd name="connsiteY31-3968" fmla="*/ 3581400 h 3588041"/>
                <a:gd name="connsiteX0-3969" fmla="*/ 1016693 w 1432618"/>
                <a:gd name="connsiteY0-3970" fmla="*/ 3581400 h 3588041"/>
                <a:gd name="connsiteX1-3971" fmla="*/ 591243 w 1432618"/>
                <a:gd name="connsiteY1-3972" fmla="*/ 3587750 h 3588041"/>
                <a:gd name="connsiteX2-3973" fmla="*/ 394393 w 1432618"/>
                <a:gd name="connsiteY2-3974" fmla="*/ 3076575 h 3588041"/>
                <a:gd name="connsiteX3-3975" fmla="*/ 746818 w 1432618"/>
                <a:gd name="connsiteY3-3976" fmla="*/ 2381250 h 3588041"/>
                <a:gd name="connsiteX4-3977" fmla="*/ 560128 w 1432618"/>
                <a:gd name="connsiteY4-3978" fmla="*/ 1922145 h 3588041"/>
                <a:gd name="connsiteX5-3979" fmla="*/ 58 w 1432618"/>
                <a:gd name="connsiteY5-3980" fmla="*/ 1870710 h 3588041"/>
                <a:gd name="connsiteX6-3981" fmla="*/ 394393 w 1432618"/>
                <a:gd name="connsiteY6-3982" fmla="*/ 1743075 h 3588041"/>
                <a:gd name="connsiteX7-3983" fmla="*/ 642043 w 1432618"/>
                <a:gd name="connsiteY7-3984" fmla="*/ 1876425 h 3588041"/>
                <a:gd name="connsiteX8-3985" fmla="*/ 689668 w 1432618"/>
                <a:gd name="connsiteY8-3986" fmla="*/ 1647825 h 3588041"/>
                <a:gd name="connsiteX9-3987" fmla="*/ 823018 w 1432618"/>
                <a:gd name="connsiteY9-3988" fmla="*/ 1333500 h 3588041"/>
                <a:gd name="connsiteX10-3989" fmla="*/ 765868 w 1432618"/>
                <a:gd name="connsiteY10-3990" fmla="*/ 809625 h 3588041"/>
                <a:gd name="connsiteX11-3991" fmla="*/ 537268 w 1432618"/>
                <a:gd name="connsiteY11-3992" fmla="*/ 666750 h 3588041"/>
                <a:gd name="connsiteX12-3993" fmla="*/ 689668 w 1432618"/>
                <a:gd name="connsiteY12-3994" fmla="*/ 666750 h 3588041"/>
                <a:gd name="connsiteX13-3995" fmla="*/ 765868 w 1432618"/>
                <a:gd name="connsiteY13-3996" fmla="*/ 752475 h 3588041"/>
                <a:gd name="connsiteX14-3997" fmla="*/ 886518 w 1432618"/>
                <a:gd name="connsiteY14-3998" fmla="*/ 0 h 3588041"/>
                <a:gd name="connsiteX15-3999" fmla="*/ 857943 w 1432618"/>
                <a:gd name="connsiteY15-4000" fmla="*/ 679450 h 3588041"/>
                <a:gd name="connsiteX16-4001" fmla="*/ 921443 w 1432618"/>
                <a:gd name="connsiteY16-4002" fmla="*/ 1047750 h 3588041"/>
                <a:gd name="connsiteX17-4003" fmla="*/ 930968 w 1432618"/>
                <a:gd name="connsiteY17-4004" fmla="*/ 1295400 h 3588041"/>
                <a:gd name="connsiteX18-4005" fmla="*/ 1086543 w 1432618"/>
                <a:gd name="connsiteY18-4006" fmla="*/ 1187450 h 3588041"/>
                <a:gd name="connsiteX19-4007" fmla="*/ 1375468 w 1432618"/>
                <a:gd name="connsiteY19-4008" fmla="*/ 1171575 h 3588041"/>
                <a:gd name="connsiteX20-4009" fmla="*/ 1108768 w 1432618"/>
                <a:gd name="connsiteY20-4010" fmla="*/ 1254125 h 3588041"/>
                <a:gd name="connsiteX21-4011" fmla="*/ 889693 w 1432618"/>
                <a:gd name="connsiteY21-4012" fmla="*/ 1527175 h 3588041"/>
                <a:gd name="connsiteX22-4013" fmla="*/ 835718 w 1432618"/>
                <a:gd name="connsiteY22-4014" fmla="*/ 1895475 h 3588041"/>
                <a:gd name="connsiteX23-4015" fmla="*/ 1003993 w 1432618"/>
                <a:gd name="connsiteY23-4016" fmla="*/ 2308225 h 3588041"/>
                <a:gd name="connsiteX24-4017" fmla="*/ 896043 w 1432618"/>
                <a:gd name="connsiteY24-4018" fmla="*/ 2578100 h 3588041"/>
                <a:gd name="connsiteX25-4019" fmla="*/ 1213543 w 1432618"/>
                <a:gd name="connsiteY25-4020" fmla="*/ 2533650 h 3588041"/>
                <a:gd name="connsiteX26-4021" fmla="*/ 1432618 w 1432618"/>
                <a:gd name="connsiteY26-4022" fmla="*/ 2626519 h 3588041"/>
                <a:gd name="connsiteX27-4023" fmla="*/ 1188143 w 1432618"/>
                <a:gd name="connsiteY27-4024" fmla="*/ 2590800 h 3588041"/>
                <a:gd name="connsiteX28-4025" fmla="*/ 832543 w 1432618"/>
                <a:gd name="connsiteY28-4026" fmla="*/ 2733675 h 3588041"/>
                <a:gd name="connsiteX29-4027" fmla="*/ 689668 w 1432618"/>
                <a:gd name="connsiteY29-4028" fmla="*/ 3086100 h 3588041"/>
                <a:gd name="connsiteX30-4029" fmla="*/ 918268 w 1432618"/>
                <a:gd name="connsiteY30-4030" fmla="*/ 3419475 h 3588041"/>
                <a:gd name="connsiteX31-4031" fmla="*/ 1016693 w 1432618"/>
                <a:gd name="connsiteY31-4032" fmla="*/ 3581400 h 3588041"/>
                <a:gd name="connsiteX0-4033" fmla="*/ 1016693 w 1432618"/>
                <a:gd name="connsiteY0-4034" fmla="*/ 3581400 h 3588041"/>
                <a:gd name="connsiteX1-4035" fmla="*/ 591243 w 1432618"/>
                <a:gd name="connsiteY1-4036" fmla="*/ 3587750 h 3588041"/>
                <a:gd name="connsiteX2-4037" fmla="*/ 394393 w 1432618"/>
                <a:gd name="connsiteY2-4038" fmla="*/ 3076575 h 3588041"/>
                <a:gd name="connsiteX3-4039" fmla="*/ 746818 w 1432618"/>
                <a:gd name="connsiteY3-4040" fmla="*/ 2381250 h 3588041"/>
                <a:gd name="connsiteX4-4041" fmla="*/ 560128 w 1432618"/>
                <a:gd name="connsiteY4-4042" fmla="*/ 1922145 h 3588041"/>
                <a:gd name="connsiteX5-4043" fmla="*/ 58 w 1432618"/>
                <a:gd name="connsiteY5-4044" fmla="*/ 1870710 h 3588041"/>
                <a:gd name="connsiteX6-4045" fmla="*/ 394393 w 1432618"/>
                <a:gd name="connsiteY6-4046" fmla="*/ 1743075 h 3588041"/>
                <a:gd name="connsiteX7-4047" fmla="*/ 642043 w 1432618"/>
                <a:gd name="connsiteY7-4048" fmla="*/ 1876425 h 3588041"/>
                <a:gd name="connsiteX8-4049" fmla="*/ 689668 w 1432618"/>
                <a:gd name="connsiteY8-4050" fmla="*/ 1647825 h 3588041"/>
                <a:gd name="connsiteX9-4051" fmla="*/ 823018 w 1432618"/>
                <a:gd name="connsiteY9-4052" fmla="*/ 1333500 h 3588041"/>
                <a:gd name="connsiteX10-4053" fmla="*/ 765868 w 1432618"/>
                <a:gd name="connsiteY10-4054" fmla="*/ 809625 h 3588041"/>
                <a:gd name="connsiteX11-4055" fmla="*/ 388043 w 1432618"/>
                <a:gd name="connsiteY11-4056" fmla="*/ 695325 h 3588041"/>
                <a:gd name="connsiteX12-4057" fmla="*/ 689668 w 1432618"/>
                <a:gd name="connsiteY12-4058" fmla="*/ 666750 h 3588041"/>
                <a:gd name="connsiteX13-4059" fmla="*/ 765868 w 1432618"/>
                <a:gd name="connsiteY13-4060" fmla="*/ 752475 h 3588041"/>
                <a:gd name="connsiteX14-4061" fmla="*/ 886518 w 1432618"/>
                <a:gd name="connsiteY14-4062" fmla="*/ 0 h 3588041"/>
                <a:gd name="connsiteX15-4063" fmla="*/ 857943 w 1432618"/>
                <a:gd name="connsiteY15-4064" fmla="*/ 679450 h 3588041"/>
                <a:gd name="connsiteX16-4065" fmla="*/ 921443 w 1432618"/>
                <a:gd name="connsiteY16-4066" fmla="*/ 1047750 h 3588041"/>
                <a:gd name="connsiteX17-4067" fmla="*/ 930968 w 1432618"/>
                <a:gd name="connsiteY17-4068" fmla="*/ 1295400 h 3588041"/>
                <a:gd name="connsiteX18-4069" fmla="*/ 1086543 w 1432618"/>
                <a:gd name="connsiteY18-4070" fmla="*/ 1187450 h 3588041"/>
                <a:gd name="connsiteX19-4071" fmla="*/ 1375468 w 1432618"/>
                <a:gd name="connsiteY19-4072" fmla="*/ 1171575 h 3588041"/>
                <a:gd name="connsiteX20-4073" fmla="*/ 1108768 w 1432618"/>
                <a:gd name="connsiteY20-4074" fmla="*/ 1254125 h 3588041"/>
                <a:gd name="connsiteX21-4075" fmla="*/ 889693 w 1432618"/>
                <a:gd name="connsiteY21-4076" fmla="*/ 1527175 h 3588041"/>
                <a:gd name="connsiteX22-4077" fmla="*/ 835718 w 1432618"/>
                <a:gd name="connsiteY22-4078" fmla="*/ 1895475 h 3588041"/>
                <a:gd name="connsiteX23-4079" fmla="*/ 1003993 w 1432618"/>
                <a:gd name="connsiteY23-4080" fmla="*/ 2308225 h 3588041"/>
                <a:gd name="connsiteX24-4081" fmla="*/ 896043 w 1432618"/>
                <a:gd name="connsiteY24-4082" fmla="*/ 2578100 h 3588041"/>
                <a:gd name="connsiteX25-4083" fmla="*/ 1213543 w 1432618"/>
                <a:gd name="connsiteY25-4084" fmla="*/ 2533650 h 3588041"/>
                <a:gd name="connsiteX26-4085" fmla="*/ 1432618 w 1432618"/>
                <a:gd name="connsiteY26-4086" fmla="*/ 2626519 h 3588041"/>
                <a:gd name="connsiteX27-4087" fmla="*/ 1188143 w 1432618"/>
                <a:gd name="connsiteY27-4088" fmla="*/ 2590800 h 3588041"/>
                <a:gd name="connsiteX28-4089" fmla="*/ 832543 w 1432618"/>
                <a:gd name="connsiteY28-4090" fmla="*/ 2733675 h 3588041"/>
                <a:gd name="connsiteX29-4091" fmla="*/ 689668 w 1432618"/>
                <a:gd name="connsiteY29-4092" fmla="*/ 3086100 h 3588041"/>
                <a:gd name="connsiteX30-4093" fmla="*/ 918268 w 1432618"/>
                <a:gd name="connsiteY30-4094" fmla="*/ 3419475 h 3588041"/>
                <a:gd name="connsiteX31-4095" fmla="*/ 1016693 w 1432618"/>
                <a:gd name="connsiteY31-4096" fmla="*/ 3581400 h 3588041"/>
                <a:gd name="connsiteX0-4097" fmla="*/ 1016693 w 1432618"/>
                <a:gd name="connsiteY0-4098" fmla="*/ 3581400 h 3588041"/>
                <a:gd name="connsiteX1-4099" fmla="*/ 591243 w 1432618"/>
                <a:gd name="connsiteY1-4100" fmla="*/ 3587750 h 3588041"/>
                <a:gd name="connsiteX2-4101" fmla="*/ 394393 w 1432618"/>
                <a:gd name="connsiteY2-4102" fmla="*/ 3076575 h 3588041"/>
                <a:gd name="connsiteX3-4103" fmla="*/ 746818 w 1432618"/>
                <a:gd name="connsiteY3-4104" fmla="*/ 2381250 h 3588041"/>
                <a:gd name="connsiteX4-4105" fmla="*/ 560128 w 1432618"/>
                <a:gd name="connsiteY4-4106" fmla="*/ 1922145 h 3588041"/>
                <a:gd name="connsiteX5-4107" fmla="*/ 58 w 1432618"/>
                <a:gd name="connsiteY5-4108" fmla="*/ 1870710 h 3588041"/>
                <a:gd name="connsiteX6-4109" fmla="*/ 394393 w 1432618"/>
                <a:gd name="connsiteY6-4110" fmla="*/ 1743075 h 3588041"/>
                <a:gd name="connsiteX7-4111" fmla="*/ 642043 w 1432618"/>
                <a:gd name="connsiteY7-4112" fmla="*/ 1876425 h 3588041"/>
                <a:gd name="connsiteX8-4113" fmla="*/ 689668 w 1432618"/>
                <a:gd name="connsiteY8-4114" fmla="*/ 1647825 h 3588041"/>
                <a:gd name="connsiteX9-4115" fmla="*/ 823018 w 1432618"/>
                <a:gd name="connsiteY9-4116" fmla="*/ 1333500 h 3588041"/>
                <a:gd name="connsiteX10-4117" fmla="*/ 765868 w 1432618"/>
                <a:gd name="connsiteY10-4118" fmla="*/ 809625 h 3588041"/>
                <a:gd name="connsiteX11-4119" fmla="*/ 388043 w 1432618"/>
                <a:gd name="connsiteY11-4120" fmla="*/ 695325 h 3588041"/>
                <a:gd name="connsiteX12-4121" fmla="*/ 689668 w 1432618"/>
                <a:gd name="connsiteY12-4122" fmla="*/ 666750 h 3588041"/>
                <a:gd name="connsiteX13-4123" fmla="*/ 791268 w 1432618"/>
                <a:gd name="connsiteY13-4124" fmla="*/ 673100 h 3588041"/>
                <a:gd name="connsiteX14-4125" fmla="*/ 886518 w 1432618"/>
                <a:gd name="connsiteY14-4126" fmla="*/ 0 h 3588041"/>
                <a:gd name="connsiteX15-4127" fmla="*/ 857943 w 1432618"/>
                <a:gd name="connsiteY15-4128" fmla="*/ 679450 h 3588041"/>
                <a:gd name="connsiteX16-4129" fmla="*/ 921443 w 1432618"/>
                <a:gd name="connsiteY16-4130" fmla="*/ 1047750 h 3588041"/>
                <a:gd name="connsiteX17-4131" fmla="*/ 930968 w 1432618"/>
                <a:gd name="connsiteY17-4132" fmla="*/ 1295400 h 3588041"/>
                <a:gd name="connsiteX18-4133" fmla="*/ 1086543 w 1432618"/>
                <a:gd name="connsiteY18-4134" fmla="*/ 1187450 h 3588041"/>
                <a:gd name="connsiteX19-4135" fmla="*/ 1375468 w 1432618"/>
                <a:gd name="connsiteY19-4136" fmla="*/ 1171575 h 3588041"/>
                <a:gd name="connsiteX20-4137" fmla="*/ 1108768 w 1432618"/>
                <a:gd name="connsiteY20-4138" fmla="*/ 1254125 h 3588041"/>
                <a:gd name="connsiteX21-4139" fmla="*/ 889693 w 1432618"/>
                <a:gd name="connsiteY21-4140" fmla="*/ 1527175 h 3588041"/>
                <a:gd name="connsiteX22-4141" fmla="*/ 835718 w 1432618"/>
                <a:gd name="connsiteY22-4142" fmla="*/ 1895475 h 3588041"/>
                <a:gd name="connsiteX23-4143" fmla="*/ 1003993 w 1432618"/>
                <a:gd name="connsiteY23-4144" fmla="*/ 2308225 h 3588041"/>
                <a:gd name="connsiteX24-4145" fmla="*/ 896043 w 1432618"/>
                <a:gd name="connsiteY24-4146" fmla="*/ 2578100 h 3588041"/>
                <a:gd name="connsiteX25-4147" fmla="*/ 1213543 w 1432618"/>
                <a:gd name="connsiteY25-4148" fmla="*/ 2533650 h 3588041"/>
                <a:gd name="connsiteX26-4149" fmla="*/ 1432618 w 1432618"/>
                <a:gd name="connsiteY26-4150" fmla="*/ 2626519 h 3588041"/>
                <a:gd name="connsiteX27-4151" fmla="*/ 1188143 w 1432618"/>
                <a:gd name="connsiteY27-4152" fmla="*/ 2590800 h 3588041"/>
                <a:gd name="connsiteX28-4153" fmla="*/ 832543 w 1432618"/>
                <a:gd name="connsiteY28-4154" fmla="*/ 2733675 h 3588041"/>
                <a:gd name="connsiteX29-4155" fmla="*/ 689668 w 1432618"/>
                <a:gd name="connsiteY29-4156" fmla="*/ 3086100 h 3588041"/>
                <a:gd name="connsiteX30-4157" fmla="*/ 918268 w 1432618"/>
                <a:gd name="connsiteY30-4158" fmla="*/ 3419475 h 3588041"/>
                <a:gd name="connsiteX31-4159" fmla="*/ 1016693 w 1432618"/>
                <a:gd name="connsiteY31-4160" fmla="*/ 3581400 h 3588041"/>
                <a:gd name="connsiteX0-4161" fmla="*/ 1016693 w 1432618"/>
                <a:gd name="connsiteY0-4162" fmla="*/ 3581400 h 3588041"/>
                <a:gd name="connsiteX1-4163" fmla="*/ 591243 w 1432618"/>
                <a:gd name="connsiteY1-4164" fmla="*/ 3587750 h 3588041"/>
                <a:gd name="connsiteX2-4165" fmla="*/ 394393 w 1432618"/>
                <a:gd name="connsiteY2-4166" fmla="*/ 3076575 h 3588041"/>
                <a:gd name="connsiteX3-4167" fmla="*/ 746818 w 1432618"/>
                <a:gd name="connsiteY3-4168" fmla="*/ 2381250 h 3588041"/>
                <a:gd name="connsiteX4-4169" fmla="*/ 560128 w 1432618"/>
                <a:gd name="connsiteY4-4170" fmla="*/ 1922145 h 3588041"/>
                <a:gd name="connsiteX5-4171" fmla="*/ 58 w 1432618"/>
                <a:gd name="connsiteY5-4172" fmla="*/ 1870710 h 3588041"/>
                <a:gd name="connsiteX6-4173" fmla="*/ 394393 w 1432618"/>
                <a:gd name="connsiteY6-4174" fmla="*/ 1743075 h 3588041"/>
                <a:gd name="connsiteX7-4175" fmla="*/ 642043 w 1432618"/>
                <a:gd name="connsiteY7-4176" fmla="*/ 1876425 h 3588041"/>
                <a:gd name="connsiteX8-4177" fmla="*/ 689668 w 1432618"/>
                <a:gd name="connsiteY8-4178" fmla="*/ 1647825 h 3588041"/>
                <a:gd name="connsiteX9-4179" fmla="*/ 823018 w 1432618"/>
                <a:gd name="connsiteY9-4180" fmla="*/ 1333500 h 3588041"/>
                <a:gd name="connsiteX10-4181" fmla="*/ 765868 w 1432618"/>
                <a:gd name="connsiteY10-4182" fmla="*/ 809625 h 3588041"/>
                <a:gd name="connsiteX11-4183" fmla="*/ 388043 w 1432618"/>
                <a:gd name="connsiteY11-4184" fmla="*/ 695325 h 3588041"/>
                <a:gd name="connsiteX12-4185" fmla="*/ 689668 w 1432618"/>
                <a:gd name="connsiteY12-4186" fmla="*/ 666750 h 3588041"/>
                <a:gd name="connsiteX13-4187" fmla="*/ 794443 w 1432618"/>
                <a:gd name="connsiteY13-4188" fmla="*/ 565150 h 3588041"/>
                <a:gd name="connsiteX14-4189" fmla="*/ 886518 w 1432618"/>
                <a:gd name="connsiteY14-4190" fmla="*/ 0 h 3588041"/>
                <a:gd name="connsiteX15-4191" fmla="*/ 857943 w 1432618"/>
                <a:gd name="connsiteY15-4192" fmla="*/ 679450 h 3588041"/>
                <a:gd name="connsiteX16-4193" fmla="*/ 921443 w 1432618"/>
                <a:gd name="connsiteY16-4194" fmla="*/ 1047750 h 3588041"/>
                <a:gd name="connsiteX17-4195" fmla="*/ 930968 w 1432618"/>
                <a:gd name="connsiteY17-4196" fmla="*/ 1295400 h 3588041"/>
                <a:gd name="connsiteX18-4197" fmla="*/ 1086543 w 1432618"/>
                <a:gd name="connsiteY18-4198" fmla="*/ 1187450 h 3588041"/>
                <a:gd name="connsiteX19-4199" fmla="*/ 1375468 w 1432618"/>
                <a:gd name="connsiteY19-4200" fmla="*/ 1171575 h 3588041"/>
                <a:gd name="connsiteX20-4201" fmla="*/ 1108768 w 1432618"/>
                <a:gd name="connsiteY20-4202" fmla="*/ 1254125 h 3588041"/>
                <a:gd name="connsiteX21-4203" fmla="*/ 889693 w 1432618"/>
                <a:gd name="connsiteY21-4204" fmla="*/ 1527175 h 3588041"/>
                <a:gd name="connsiteX22-4205" fmla="*/ 835718 w 1432618"/>
                <a:gd name="connsiteY22-4206" fmla="*/ 1895475 h 3588041"/>
                <a:gd name="connsiteX23-4207" fmla="*/ 1003993 w 1432618"/>
                <a:gd name="connsiteY23-4208" fmla="*/ 2308225 h 3588041"/>
                <a:gd name="connsiteX24-4209" fmla="*/ 896043 w 1432618"/>
                <a:gd name="connsiteY24-4210" fmla="*/ 2578100 h 3588041"/>
                <a:gd name="connsiteX25-4211" fmla="*/ 1213543 w 1432618"/>
                <a:gd name="connsiteY25-4212" fmla="*/ 2533650 h 3588041"/>
                <a:gd name="connsiteX26-4213" fmla="*/ 1432618 w 1432618"/>
                <a:gd name="connsiteY26-4214" fmla="*/ 2626519 h 3588041"/>
                <a:gd name="connsiteX27-4215" fmla="*/ 1188143 w 1432618"/>
                <a:gd name="connsiteY27-4216" fmla="*/ 2590800 h 3588041"/>
                <a:gd name="connsiteX28-4217" fmla="*/ 832543 w 1432618"/>
                <a:gd name="connsiteY28-4218" fmla="*/ 2733675 h 3588041"/>
                <a:gd name="connsiteX29-4219" fmla="*/ 689668 w 1432618"/>
                <a:gd name="connsiteY29-4220" fmla="*/ 3086100 h 3588041"/>
                <a:gd name="connsiteX30-4221" fmla="*/ 918268 w 1432618"/>
                <a:gd name="connsiteY30-4222" fmla="*/ 3419475 h 3588041"/>
                <a:gd name="connsiteX31-4223" fmla="*/ 1016693 w 1432618"/>
                <a:gd name="connsiteY31-4224" fmla="*/ 3581400 h 3588041"/>
                <a:gd name="connsiteX0-4225" fmla="*/ 1016693 w 1432618"/>
                <a:gd name="connsiteY0-4226" fmla="*/ 3581400 h 3588041"/>
                <a:gd name="connsiteX1-4227" fmla="*/ 591243 w 1432618"/>
                <a:gd name="connsiteY1-4228" fmla="*/ 3587750 h 3588041"/>
                <a:gd name="connsiteX2-4229" fmla="*/ 394393 w 1432618"/>
                <a:gd name="connsiteY2-4230" fmla="*/ 3076575 h 3588041"/>
                <a:gd name="connsiteX3-4231" fmla="*/ 746818 w 1432618"/>
                <a:gd name="connsiteY3-4232" fmla="*/ 2381250 h 3588041"/>
                <a:gd name="connsiteX4-4233" fmla="*/ 560128 w 1432618"/>
                <a:gd name="connsiteY4-4234" fmla="*/ 1922145 h 3588041"/>
                <a:gd name="connsiteX5-4235" fmla="*/ 58 w 1432618"/>
                <a:gd name="connsiteY5-4236" fmla="*/ 1870710 h 3588041"/>
                <a:gd name="connsiteX6-4237" fmla="*/ 394393 w 1432618"/>
                <a:gd name="connsiteY6-4238" fmla="*/ 1743075 h 3588041"/>
                <a:gd name="connsiteX7-4239" fmla="*/ 642043 w 1432618"/>
                <a:gd name="connsiteY7-4240" fmla="*/ 1876425 h 3588041"/>
                <a:gd name="connsiteX8-4241" fmla="*/ 689668 w 1432618"/>
                <a:gd name="connsiteY8-4242" fmla="*/ 1647825 h 3588041"/>
                <a:gd name="connsiteX9-4243" fmla="*/ 823018 w 1432618"/>
                <a:gd name="connsiteY9-4244" fmla="*/ 1333500 h 3588041"/>
                <a:gd name="connsiteX10-4245" fmla="*/ 765868 w 1432618"/>
                <a:gd name="connsiteY10-4246" fmla="*/ 809625 h 3588041"/>
                <a:gd name="connsiteX11-4247" fmla="*/ 388043 w 1432618"/>
                <a:gd name="connsiteY11-4248" fmla="*/ 695325 h 3588041"/>
                <a:gd name="connsiteX12-4249" fmla="*/ 689668 w 1432618"/>
                <a:gd name="connsiteY12-4250" fmla="*/ 666750 h 3588041"/>
                <a:gd name="connsiteX13-4251" fmla="*/ 794443 w 1432618"/>
                <a:gd name="connsiteY13-4252" fmla="*/ 565150 h 3588041"/>
                <a:gd name="connsiteX14-4253" fmla="*/ 886518 w 1432618"/>
                <a:gd name="connsiteY14-4254" fmla="*/ 0 h 3588041"/>
                <a:gd name="connsiteX15-4255" fmla="*/ 857943 w 1432618"/>
                <a:gd name="connsiteY15-4256" fmla="*/ 679450 h 3588041"/>
                <a:gd name="connsiteX16-4257" fmla="*/ 921443 w 1432618"/>
                <a:gd name="connsiteY16-4258" fmla="*/ 1047750 h 3588041"/>
                <a:gd name="connsiteX17-4259" fmla="*/ 930968 w 1432618"/>
                <a:gd name="connsiteY17-4260" fmla="*/ 1295400 h 3588041"/>
                <a:gd name="connsiteX18-4261" fmla="*/ 1086543 w 1432618"/>
                <a:gd name="connsiteY18-4262" fmla="*/ 1187450 h 3588041"/>
                <a:gd name="connsiteX19-4263" fmla="*/ 1375468 w 1432618"/>
                <a:gd name="connsiteY19-4264" fmla="*/ 1171575 h 3588041"/>
                <a:gd name="connsiteX20-4265" fmla="*/ 1108768 w 1432618"/>
                <a:gd name="connsiteY20-4266" fmla="*/ 1254125 h 3588041"/>
                <a:gd name="connsiteX21-4267" fmla="*/ 889693 w 1432618"/>
                <a:gd name="connsiteY21-4268" fmla="*/ 1527175 h 3588041"/>
                <a:gd name="connsiteX22-4269" fmla="*/ 835718 w 1432618"/>
                <a:gd name="connsiteY22-4270" fmla="*/ 1895475 h 3588041"/>
                <a:gd name="connsiteX23-4271" fmla="*/ 1003993 w 1432618"/>
                <a:gd name="connsiteY23-4272" fmla="*/ 2308225 h 3588041"/>
                <a:gd name="connsiteX24-4273" fmla="*/ 896043 w 1432618"/>
                <a:gd name="connsiteY24-4274" fmla="*/ 2578100 h 3588041"/>
                <a:gd name="connsiteX25-4275" fmla="*/ 1213543 w 1432618"/>
                <a:gd name="connsiteY25-4276" fmla="*/ 2533650 h 3588041"/>
                <a:gd name="connsiteX26-4277" fmla="*/ 1432618 w 1432618"/>
                <a:gd name="connsiteY26-4278" fmla="*/ 2626519 h 3588041"/>
                <a:gd name="connsiteX27-4279" fmla="*/ 1188143 w 1432618"/>
                <a:gd name="connsiteY27-4280" fmla="*/ 2590800 h 3588041"/>
                <a:gd name="connsiteX28-4281" fmla="*/ 832543 w 1432618"/>
                <a:gd name="connsiteY28-4282" fmla="*/ 2733675 h 3588041"/>
                <a:gd name="connsiteX29-4283" fmla="*/ 689668 w 1432618"/>
                <a:gd name="connsiteY29-4284" fmla="*/ 3086100 h 3588041"/>
                <a:gd name="connsiteX30-4285" fmla="*/ 918268 w 1432618"/>
                <a:gd name="connsiteY30-4286" fmla="*/ 3419475 h 3588041"/>
                <a:gd name="connsiteX31-4287" fmla="*/ 1016693 w 1432618"/>
                <a:gd name="connsiteY31-4288" fmla="*/ 3581400 h 3588041"/>
                <a:gd name="connsiteX0-4289" fmla="*/ 1016693 w 1432618"/>
                <a:gd name="connsiteY0-4290" fmla="*/ 3581400 h 3588041"/>
                <a:gd name="connsiteX1-4291" fmla="*/ 591243 w 1432618"/>
                <a:gd name="connsiteY1-4292" fmla="*/ 3587750 h 3588041"/>
                <a:gd name="connsiteX2-4293" fmla="*/ 394393 w 1432618"/>
                <a:gd name="connsiteY2-4294" fmla="*/ 3076575 h 3588041"/>
                <a:gd name="connsiteX3-4295" fmla="*/ 746818 w 1432618"/>
                <a:gd name="connsiteY3-4296" fmla="*/ 2381250 h 3588041"/>
                <a:gd name="connsiteX4-4297" fmla="*/ 560128 w 1432618"/>
                <a:gd name="connsiteY4-4298" fmla="*/ 1922145 h 3588041"/>
                <a:gd name="connsiteX5-4299" fmla="*/ 58 w 1432618"/>
                <a:gd name="connsiteY5-4300" fmla="*/ 1870710 h 3588041"/>
                <a:gd name="connsiteX6-4301" fmla="*/ 394393 w 1432618"/>
                <a:gd name="connsiteY6-4302" fmla="*/ 1743075 h 3588041"/>
                <a:gd name="connsiteX7-4303" fmla="*/ 642043 w 1432618"/>
                <a:gd name="connsiteY7-4304" fmla="*/ 1876425 h 3588041"/>
                <a:gd name="connsiteX8-4305" fmla="*/ 689668 w 1432618"/>
                <a:gd name="connsiteY8-4306" fmla="*/ 1647825 h 3588041"/>
                <a:gd name="connsiteX9-4307" fmla="*/ 823018 w 1432618"/>
                <a:gd name="connsiteY9-4308" fmla="*/ 1333500 h 3588041"/>
                <a:gd name="connsiteX10-4309" fmla="*/ 765868 w 1432618"/>
                <a:gd name="connsiteY10-4310" fmla="*/ 809625 h 3588041"/>
                <a:gd name="connsiteX11-4311" fmla="*/ 388043 w 1432618"/>
                <a:gd name="connsiteY11-4312" fmla="*/ 695325 h 3588041"/>
                <a:gd name="connsiteX12-4313" fmla="*/ 724593 w 1432618"/>
                <a:gd name="connsiteY12-4314" fmla="*/ 688975 h 3588041"/>
                <a:gd name="connsiteX13-4315" fmla="*/ 794443 w 1432618"/>
                <a:gd name="connsiteY13-4316" fmla="*/ 565150 h 3588041"/>
                <a:gd name="connsiteX14-4317" fmla="*/ 886518 w 1432618"/>
                <a:gd name="connsiteY14-4318" fmla="*/ 0 h 3588041"/>
                <a:gd name="connsiteX15-4319" fmla="*/ 857943 w 1432618"/>
                <a:gd name="connsiteY15-4320" fmla="*/ 679450 h 3588041"/>
                <a:gd name="connsiteX16-4321" fmla="*/ 921443 w 1432618"/>
                <a:gd name="connsiteY16-4322" fmla="*/ 1047750 h 3588041"/>
                <a:gd name="connsiteX17-4323" fmla="*/ 930968 w 1432618"/>
                <a:gd name="connsiteY17-4324" fmla="*/ 1295400 h 3588041"/>
                <a:gd name="connsiteX18-4325" fmla="*/ 1086543 w 1432618"/>
                <a:gd name="connsiteY18-4326" fmla="*/ 1187450 h 3588041"/>
                <a:gd name="connsiteX19-4327" fmla="*/ 1375468 w 1432618"/>
                <a:gd name="connsiteY19-4328" fmla="*/ 1171575 h 3588041"/>
                <a:gd name="connsiteX20-4329" fmla="*/ 1108768 w 1432618"/>
                <a:gd name="connsiteY20-4330" fmla="*/ 1254125 h 3588041"/>
                <a:gd name="connsiteX21-4331" fmla="*/ 889693 w 1432618"/>
                <a:gd name="connsiteY21-4332" fmla="*/ 1527175 h 3588041"/>
                <a:gd name="connsiteX22-4333" fmla="*/ 835718 w 1432618"/>
                <a:gd name="connsiteY22-4334" fmla="*/ 1895475 h 3588041"/>
                <a:gd name="connsiteX23-4335" fmla="*/ 1003993 w 1432618"/>
                <a:gd name="connsiteY23-4336" fmla="*/ 2308225 h 3588041"/>
                <a:gd name="connsiteX24-4337" fmla="*/ 896043 w 1432618"/>
                <a:gd name="connsiteY24-4338" fmla="*/ 2578100 h 3588041"/>
                <a:gd name="connsiteX25-4339" fmla="*/ 1213543 w 1432618"/>
                <a:gd name="connsiteY25-4340" fmla="*/ 2533650 h 3588041"/>
                <a:gd name="connsiteX26-4341" fmla="*/ 1432618 w 1432618"/>
                <a:gd name="connsiteY26-4342" fmla="*/ 2626519 h 3588041"/>
                <a:gd name="connsiteX27-4343" fmla="*/ 1188143 w 1432618"/>
                <a:gd name="connsiteY27-4344" fmla="*/ 2590800 h 3588041"/>
                <a:gd name="connsiteX28-4345" fmla="*/ 832543 w 1432618"/>
                <a:gd name="connsiteY28-4346" fmla="*/ 2733675 h 3588041"/>
                <a:gd name="connsiteX29-4347" fmla="*/ 689668 w 1432618"/>
                <a:gd name="connsiteY29-4348" fmla="*/ 3086100 h 3588041"/>
                <a:gd name="connsiteX30-4349" fmla="*/ 918268 w 1432618"/>
                <a:gd name="connsiteY30-4350" fmla="*/ 3419475 h 3588041"/>
                <a:gd name="connsiteX31-4351" fmla="*/ 1016693 w 1432618"/>
                <a:gd name="connsiteY31-4352" fmla="*/ 3581400 h 3588041"/>
                <a:gd name="connsiteX0-4353" fmla="*/ 1016693 w 1432618"/>
                <a:gd name="connsiteY0-4354" fmla="*/ 3581400 h 3588041"/>
                <a:gd name="connsiteX1-4355" fmla="*/ 591243 w 1432618"/>
                <a:gd name="connsiteY1-4356" fmla="*/ 3587750 h 3588041"/>
                <a:gd name="connsiteX2-4357" fmla="*/ 394393 w 1432618"/>
                <a:gd name="connsiteY2-4358" fmla="*/ 3076575 h 3588041"/>
                <a:gd name="connsiteX3-4359" fmla="*/ 746818 w 1432618"/>
                <a:gd name="connsiteY3-4360" fmla="*/ 2381250 h 3588041"/>
                <a:gd name="connsiteX4-4361" fmla="*/ 560128 w 1432618"/>
                <a:gd name="connsiteY4-4362" fmla="*/ 1922145 h 3588041"/>
                <a:gd name="connsiteX5-4363" fmla="*/ 58 w 1432618"/>
                <a:gd name="connsiteY5-4364" fmla="*/ 1870710 h 3588041"/>
                <a:gd name="connsiteX6-4365" fmla="*/ 394393 w 1432618"/>
                <a:gd name="connsiteY6-4366" fmla="*/ 1743075 h 3588041"/>
                <a:gd name="connsiteX7-4367" fmla="*/ 642043 w 1432618"/>
                <a:gd name="connsiteY7-4368" fmla="*/ 1876425 h 3588041"/>
                <a:gd name="connsiteX8-4369" fmla="*/ 689668 w 1432618"/>
                <a:gd name="connsiteY8-4370" fmla="*/ 1647825 h 3588041"/>
                <a:gd name="connsiteX9-4371" fmla="*/ 823018 w 1432618"/>
                <a:gd name="connsiteY9-4372" fmla="*/ 1333500 h 3588041"/>
                <a:gd name="connsiteX10-4373" fmla="*/ 765868 w 1432618"/>
                <a:gd name="connsiteY10-4374" fmla="*/ 809625 h 3588041"/>
                <a:gd name="connsiteX11-4375" fmla="*/ 388043 w 1432618"/>
                <a:gd name="connsiteY11-4376" fmla="*/ 695325 h 3588041"/>
                <a:gd name="connsiteX12-4377" fmla="*/ 741262 w 1432618"/>
                <a:gd name="connsiteY12-4378" fmla="*/ 677068 h 3588041"/>
                <a:gd name="connsiteX13-4379" fmla="*/ 794443 w 1432618"/>
                <a:gd name="connsiteY13-4380" fmla="*/ 565150 h 3588041"/>
                <a:gd name="connsiteX14-4381" fmla="*/ 886518 w 1432618"/>
                <a:gd name="connsiteY14-4382" fmla="*/ 0 h 3588041"/>
                <a:gd name="connsiteX15-4383" fmla="*/ 857943 w 1432618"/>
                <a:gd name="connsiteY15-4384" fmla="*/ 679450 h 3588041"/>
                <a:gd name="connsiteX16-4385" fmla="*/ 921443 w 1432618"/>
                <a:gd name="connsiteY16-4386" fmla="*/ 1047750 h 3588041"/>
                <a:gd name="connsiteX17-4387" fmla="*/ 930968 w 1432618"/>
                <a:gd name="connsiteY17-4388" fmla="*/ 1295400 h 3588041"/>
                <a:gd name="connsiteX18-4389" fmla="*/ 1086543 w 1432618"/>
                <a:gd name="connsiteY18-4390" fmla="*/ 1187450 h 3588041"/>
                <a:gd name="connsiteX19-4391" fmla="*/ 1375468 w 1432618"/>
                <a:gd name="connsiteY19-4392" fmla="*/ 1171575 h 3588041"/>
                <a:gd name="connsiteX20-4393" fmla="*/ 1108768 w 1432618"/>
                <a:gd name="connsiteY20-4394" fmla="*/ 1254125 h 3588041"/>
                <a:gd name="connsiteX21-4395" fmla="*/ 889693 w 1432618"/>
                <a:gd name="connsiteY21-4396" fmla="*/ 1527175 h 3588041"/>
                <a:gd name="connsiteX22-4397" fmla="*/ 835718 w 1432618"/>
                <a:gd name="connsiteY22-4398" fmla="*/ 1895475 h 3588041"/>
                <a:gd name="connsiteX23-4399" fmla="*/ 1003993 w 1432618"/>
                <a:gd name="connsiteY23-4400" fmla="*/ 2308225 h 3588041"/>
                <a:gd name="connsiteX24-4401" fmla="*/ 896043 w 1432618"/>
                <a:gd name="connsiteY24-4402" fmla="*/ 2578100 h 3588041"/>
                <a:gd name="connsiteX25-4403" fmla="*/ 1213543 w 1432618"/>
                <a:gd name="connsiteY25-4404" fmla="*/ 2533650 h 3588041"/>
                <a:gd name="connsiteX26-4405" fmla="*/ 1432618 w 1432618"/>
                <a:gd name="connsiteY26-4406" fmla="*/ 2626519 h 3588041"/>
                <a:gd name="connsiteX27-4407" fmla="*/ 1188143 w 1432618"/>
                <a:gd name="connsiteY27-4408" fmla="*/ 2590800 h 3588041"/>
                <a:gd name="connsiteX28-4409" fmla="*/ 832543 w 1432618"/>
                <a:gd name="connsiteY28-4410" fmla="*/ 2733675 h 3588041"/>
                <a:gd name="connsiteX29-4411" fmla="*/ 689668 w 1432618"/>
                <a:gd name="connsiteY29-4412" fmla="*/ 3086100 h 3588041"/>
                <a:gd name="connsiteX30-4413" fmla="*/ 918268 w 1432618"/>
                <a:gd name="connsiteY30-4414" fmla="*/ 3419475 h 3588041"/>
                <a:gd name="connsiteX31-4415" fmla="*/ 1016693 w 1432618"/>
                <a:gd name="connsiteY31-4416" fmla="*/ 3581400 h 3588041"/>
                <a:gd name="connsiteX0-4417" fmla="*/ 1016693 w 1432618"/>
                <a:gd name="connsiteY0-4418" fmla="*/ 3581400 h 3588041"/>
                <a:gd name="connsiteX1-4419" fmla="*/ 591243 w 1432618"/>
                <a:gd name="connsiteY1-4420" fmla="*/ 3587750 h 3588041"/>
                <a:gd name="connsiteX2-4421" fmla="*/ 394393 w 1432618"/>
                <a:gd name="connsiteY2-4422" fmla="*/ 3076575 h 3588041"/>
                <a:gd name="connsiteX3-4423" fmla="*/ 746818 w 1432618"/>
                <a:gd name="connsiteY3-4424" fmla="*/ 2381250 h 3588041"/>
                <a:gd name="connsiteX4-4425" fmla="*/ 560128 w 1432618"/>
                <a:gd name="connsiteY4-4426" fmla="*/ 1922145 h 3588041"/>
                <a:gd name="connsiteX5-4427" fmla="*/ 58 w 1432618"/>
                <a:gd name="connsiteY5-4428" fmla="*/ 1870710 h 3588041"/>
                <a:gd name="connsiteX6-4429" fmla="*/ 394393 w 1432618"/>
                <a:gd name="connsiteY6-4430" fmla="*/ 1743075 h 3588041"/>
                <a:gd name="connsiteX7-4431" fmla="*/ 642043 w 1432618"/>
                <a:gd name="connsiteY7-4432" fmla="*/ 1876425 h 3588041"/>
                <a:gd name="connsiteX8-4433" fmla="*/ 689668 w 1432618"/>
                <a:gd name="connsiteY8-4434" fmla="*/ 1647825 h 3588041"/>
                <a:gd name="connsiteX9-4435" fmla="*/ 823018 w 1432618"/>
                <a:gd name="connsiteY9-4436" fmla="*/ 1333500 h 3588041"/>
                <a:gd name="connsiteX10-4437" fmla="*/ 765868 w 1432618"/>
                <a:gd name="connsiteY10-4438" fmla="*/ 809625 h 3588041"/>
                <a:gd name="connsiteX11-4439" fmla="*/ 388043 w 1432618"/>
                <a:gd name="connsiteY11-4440" fmla="*/ 695325 h 3588041"/>
                <a:gd name="connsiteX12-4441" fmla="*/ 741262 w 1432618"/>
                <a:gd name="connsiteY12-4442" fmla="*/ 677068 h 3588041"/>
                <a:gd name="connsiteX13-4443" fmla="*/ 794443 w 1432618"/>
                <a:gd name="connsiteY13-4444" fmla="*/ 565150 h 3588041"/>
                <a:gd name="connsiteX14-4445" fmla="*/ 886518 w 1432618"/>
                <a:gd name="connsiteY14-4446" fmla="*/ 0 h 3588041"/>
                <a:gd name="connsiteX15-4447" fmla="*/ 857943 w 1432618"/>
                <a:gd name="connsiteY15-4448" fmla="*/ 679450 h 3588041"/>
                <a:gd name="connsiteX16-4449" fmla="*/ 921443 w 1432618"/>
                <a:gd name="connsiteY16-4450" fmla="*/ 1047750 h 3588041"/>
                <a:gd name="connsiteX17-4451" fmla="*/ 930968 w 1432618"/>
                <a:gd name="connsiteY17-4452" fmla="*/ 1295400 h 3588041"/>
                <a:gd name="connsiteX18-4453" fmla="*/ 1086543 w 1432618"/>
                <a:gd name="connsiteY18-4454" fmla="*/ 1187450 h 3588041"/>
                <a:gd name="connsiteX19-4455" fmla="*/ 1375468 w 1432618"/>
                <a:gd name="connsiteY19-4456" fmla="*/ 1171575 h 3588041"/>
                <a:gd name="connsiteX20-4457" fmla="*/ 1108768 w 1432618"/>
                <a:gd name="connsiteY20-4458" fmla="*/ 1254125 h 3588041"/>
                <a:gd name="connsiteX21-4459" fmla="*/ 889693 w 1432618"/>
                <a:gd name="connsiteY21-4460" fmla="*/ 1527175 h 3588041"/>
                <a:gd name="connsiteX22-4461" fmla="*/ 835718 w 1432618"/>
                <a:gd name="connsiteY22-4462" fmla="*/ 1895475 h 3588041"/>
                <a:gd name="connsiteX23-4463" fmla="*/ 1003993 w 1432618"/>
                <a:gd name="connsiteY23-4464" fmla="*/ 2308225 h 3588041"/>
                <a:gd name="connsiteX24-4465" fmla="*/ 896043 w 1432618"/>
                <a:gd name="connsiteY24-4466" fmla="*/ 2578100 h 3588041"/>
                <a:gd name="connsiteX25-4467" fmla="*/ 1213543 w 1432618"/>
                <a:gd name="connsiteY25-4468" fmla="*/ 2533650 h 3588041"/>
                <a:gd name="connsiteX26-4469" fmla="*/ 1432618 w 1432618"/>
                <a:gd name="connsiteY26-4470" fmla="*/ 2626519 h 3588041"/>
                <a:gd name="connsiteX27-4471" fmla="*/ 1188143 w 1432618"/>
                <a:gd name="connsiteY27-4472" fmla="*/ 2590800 h 3588041"/>
                <a:gd name="connsiteX28-4473" fmla="*/ 832543 w 1432618"/>
                <a:gd name="connsiteY28-4474" fmla="*/ 2733675 h 3588041"/>
                <a:gd name="connsiteX29-4475" fmla="*/ 689668 w 1432618"/>
                <a:gd name="connsiteY29-4476" fmla="*/ 3086100 h 3588041"/>
                <a:gd name="connsiteX30-4477" fmla="*/ 918268 w 1432618"/>
                <a:gd name="connsiteY30-4478" fmla="*/ 3419475 h 3588041"/>
                <a:gd name="connsiteX31-4479" fmla="*/ 1016693 w 1432618"/>
                <a:gd name="connsiteY31-4480" fmla="*/ 3581400 h 3588041"/>
                <a:gd name="connsiteX0-4481" fmla="*/ 1016693 w 1432618"/>
                <a:gd name="connsiteY0-4482" fmla="*/ 3581400 h 3588041"/>
                <a:gd name="connsiteX1-4483" fmla="*/ 591243 w 1432618"/>
                <a:gd name="connsiteY1-4484" fmla="*/ 3587750 h 3588041"/>
                <a:gd name="connsiteX2-4485" fmla="*/ 394393 w 1432618"/>
                <a:gd name="connsiteY2-4486" fmla="*/ 3076575 h 3588041"/>
                <a:gd name="connsiteX3-4487" fmla="*/ 746818 w 1432618"/>
                <a:gd name="connsiteY3-4488" fmla="*/ 2381250 h 3588041"/>
                <a:gd name="connsiteX4-4489" fmla="*/ 560128 w 1432618"/>
                <a:gd name="connsiteY4-4490" fmla="*/ 1922145 h 3588041"/>
                <a:gd name="connsiteX5-4491" fmla="*/ 58 w 1432618"/>
                <a:gd name="connsiteY5-4492" fmla="*/ 1870710 h 3588041"/>
                <a:gd name="connsiteX6-4493" fmla="*/ 394393 w 1432618"/>
                <a:gd name="connsiteY6-4494" fmla="*/ 1743075 h 3588041"/>
                <a:gd name="connsiteX7-4495" fmla="*/ 642043 w 1432618"/>
                <a:gd name="connsiteY7-4496" fmla="*/ 1876425 h 3588041"/>
                <a:gd name="connsiteX8-4497" fmla="*/ 689668 w 1432618"/>
                <a:gd name="connsiteY8-4498" fmla="*/ 1647825 h 3588041"/>
                <a:gd name="connsiteX9-4499" fmla="*/ 823018 w 1432618"/>
                <a:gd name="connsiteY9-4500" fmla="*/ 1333500 h 3588041"/>
                <a:gd name="connsiteX10-4501" fmla="*/ 765868 w 1432618"/>
                <a:gd name="connsiteY10-4502" fmla="*/ 809625 h 3588041"/>
                <a:gd name="connsiteX11-4503" fmla="*/ 388043 w 1432618"/>
                <a:gd name="connsiteY11-4504" fmla="*/ 695325 h 3588041"/>
                <a:gd name="connsiteX12-4505" fmla="*/ 741262 w 1432618"/>
                <a:gd name="connsiteY12-4506" fmla="*/ 677068 h 3588041"/>
                <a:gd name="connsiteX13-4507" fmla="*/ 789681 w 1432618"/>
                <a:gd name="connsiteY13-4508" fmla="*/ 441325 h 3588041"/>
                <a:gd name="connsiteX14-4509" fmla="*/ 886518 w 1432618"/>
                <a:gd name="connsiteY14-4510" fmla="*/ 0 h 3588041"/>
                <a:gd name="connsiteX15-4511" fmla="*/ 857943 w 1432618"/>
                <a:gd name="connsiteY15-4512" fmla="*/ 679450 h 3588041"/>
                <a:gd name="connsiteX16-4513" fmla="*/ 921443 w 1432618"/>
                <a:gd name="connsiteY16-4514" fmla="*/ 1047750 h 3588041"/>
                <a:gd name="connsiteX17-4515" fmla="*/ 930968 w 1432618"/>
                <a:gd name="connsiteY17-4516" fmla="*/ 1295400 h 3588041"/>
                <a:gd name="connsiteX18-4517" fmla="*/ 1086543 w 1432618"/>
                <a:gd name="connsiteY18-4518" fmla="*/ 1187450 h 3588041"/>
                <a:gd name="connsiteX19-4519" fmla="*/ 1375468 w 1432618"/>
                <a:gd name="connsiteY19-4520" fmla="*/ 1171575 h 3588041"/>
                <a:gd name="connsiteX20-4521" fmla="*/ 1108768 w 1432618"/>
                <a:gd name="connsiteY20-4522" fmla="*/ 1254125 h 3588041"/>
                <a:gd name="connsiteX21-4523" fmla="*/ 889693 w 1432618"/>
                <a:gd name="connsiteY21-4524" fmla="*/ 1527175 h 3588041"/>
                <a:gd name="connsiteX22-4525" fmla="*/ 835718 w 1432618"/>
                <a:gd name="connsiteY22-4526" fmla="*/ 1895475 h 3588041"/>
                <a:gd name="connsiteX23-4527" fmla="*/ 1003993 w 1432618"/>
                <a:gd name="connsiteY23-4528" fmla="*/ 2308225 h 3588041"/>
                <a:gd name="connsiteX24-4529" fmla="*/ 896043 w 1432618"/>
                <a:gd name="connsiteY24-4530" fmla="*/ 2578100 h 3588041"/>
                <a:gd name="connsiteX25-4531" fmla="*/ 1213543 w 1432618"/>
                <a:gd name="connsiteY25-4532" fmla="*/ 2533650 h 3588041"/>
                <a:gd name="connsiteX26-4533" fmla="*/ 1432618 w 1432618"/>
                <a:gd name="connsiteY26-4534" fmla="*/ 2626519 h 3588041"/>
                <a:gd name="connsiteX27-4535" fmla="*/ 1188143 w 1432618"/>
                <a:gd name="connsiteY27-4536" fmla="*/ 2590800 h 3588041"/>
                <a:gd name="connsiteX28-4537" fmla="*/ 832543 w 1432618"/>
                <a:gd name="connsiteY28-4538" fmla="*/ 2733675 h 3588041"/>
                <a:gd name="connsiteX29-4539" fmla="*/ 689668 w 1432618"/>
                <a:gd name="connsiteY29-4540" fmla="*/ 3086100 h 3588041"/>
                <a:gd name="connsiteX30-4541" fmla="*/ 918268 w 1432618"/>
                <a:gd name="connsiteY30-4542" fmla="*/ 3419475 h 3588041"/>
                <a:gd name="connsiteX31-4543" fmla="*/ 1016693 w 1432618"/>
                <a:gd name="connsiteY31-4544" fmla="*/ 3581400 h 3588041"/>
                <a:gd name="connsiteX0-4545" fmla="*/ 1016693 w 1432618"/>
                <a:gd name="connsiteY0-4546" fmla="*/ 3581400 h 3588041"/>
                <a:gd name="connsiteX1-4547" fmla="*/ 591243 w 1432618"/>
                <a:gd name="connsiteY1-4548" fmla="*/ 3587750 h 3588041"/>
                <a:gd name="connsiteX2-4549" fmla="*/ 394393 w 1432618"/>
                <a:gd name="connsiteY2-4550" fmla="*/ 3076575 h 3588041"/>
                <a:gd name="connsiteX3-4551" fmla="*/ 746818 w 1432618"/>
                <a:gd name="connsiteY3-4552" fmla="*/ 2381250 h 3588041"/>
                <a:gd name="connsiteX4-4553" fmla="*/ 560128 w 1432618"/>
                <a:gd name="connsiteY4-4554" fmla="*/ 1922145 h 3588041"/>
                <a:gd name="connsiteX5-4555" fmla="*/ 58 w 1432618"/>
                <a:gd name="connsiteY5-4556" fmla="*/ 1870710 h 3588041"/>
                <a:gd name="connsiteX6-4557" fmla="*/ 394393 w 1432618"/>
                <a:gd name="connsiteY6-4558" fmla="*/ 1743075 h 3588041"/>
                <a:gd name="connsiteX7-4559" fmla="*/ 642043 w 1432618"/>
                <a:gd name="connsiteY7-4560" fmla="*/ 1876425 h 3588041"/>
                <a:gd name="connsiteX8-4561" fmla="*/ 689668 w 1432618"/>
                <a:gd name="connsiteY8-4562" fmla="*/ 1647825 h 3588041"/>
                <a:gd name="connsiteX9-4563" fmla="*/ 823018 w 1432618"/>
                <a:gd name="connsiteY9-4564" fmla="*/ 1333500 h 3588041"/>
                <a:gd name="connsiteX10-4565" fmla="*/ 765868 w 1432618"/>
                <a:gd name="connsiteY10-4566" fmla="*/ 809625 h 3588041"/>
                <a:gd name="connsiteX11-4567" fmla="*/ 388043 w 1432618"/>
                <a:gd name="connsiteY11-4568" fmla="*/ 695325 h 3588041"/>
                <a:gd name="connsiteX12-4569" fmla="*/ 762694 w 1432618"/>
                <a:gd name="connsiteY12-4570" fmla="*/ 703262 h 3588041"/>
                <a:gd name="connsiteX13-4571" fmla="*/ 789681 w 1432618"/>
                <a:gd name="connsiteY13-4572" fmla="*/ 441325 h 3588041"/>
                <a:gd name="connsiteX14-4573" fmla="*/ 886518 w 1432618"/>
                <a:gd name="connsiteY14-4574" fmla="*/ 0 h 3588041"/>
                <a:gd name="connsiteX15-4575" fmla="*/ 857943 w 1432618"/>
                <a:gd name="connsiteY15-4576" fmla="*/ 679450 h 3588041"/>
                <a:gd name="connsiteX16-4577" fmla="*/ 921443 w 1432618"/>
                <a:gd name="connsiteY16-4578" fmla="*/ 1047750 h 3588041"/>
                <a:gd name="connsiteX17-4579" fmla="*/ 930968 w 1432618"/>
                <a:gd name="connsiteY17-4580" fmla="*/ 1295400 h 3588041"/>
                <a:gd name="connsiteX18-4581" fmla="*/ 1086543 w 1432618"/>
                <a:gd name="connsiteY18-4582" fmla="*/ 1187450 h 3588041"/>
                <a:gd name="connsiteX19-4583" fmla="*/ 1375468 w 1432618"/>
                <a:gd name="connsiteY19-4584" fmla="*/ 1171575 h 3588041"/>
                <a:gd name="connsiteX20-4585" fmla="*/ 1108768 w 1432618"/>
                <a:gd name="connsiteY20-4586" fmla="*/ 1254125 h 3588041"/>
                <a:gd name="connsiteX21-4587" fmla="*/ 889693 w 1432618"/>
                <a:gd name="connsiteY21-4588" fmla="*/ 1527175 h 3588041"/>
                <a:gd name="connsiteX22-4589" fmla="*/ 835718 w 1432618"/>
                <a:gd name="connsiteY22-4590" fmla="*/ 1895475 h 3588041"/>
                <a:gd name="connsiteX23-4591" fmla="*/ 1003993 w 1432618"/>
                <a:gd name="connsiteY23-4592" fmla="*/ 2308225 h 3588041"/>
                <a:gd name="connsiteX24-4593" fmla="*/ 896043 w 1432618"/>
                <a:gd name="connsiteY24-4594" fmla="*/ 2578100 h 3588041"/>
                <a:gd name="connsiteX25-4595" fmla="*/ 1213543 w 1432618"/>
                <a:gd name="connsiteY25-4596" fmla="*/ 2533650 h 3588041"/>
                <a:gd name="connsiteX26-4597" fmla="*/ 1432618 w 1432618"/>
                <a:gd name="connsiteY26-4598" fmla="*/ 2626519 h 3588041"/>
                <a:gd name="connsiteX27-4599" fmla="*/ 1188143 w 1432618"/>
                <a:gd name="connsiteY27-4600" fmla="*/ 2590800 h 3588041"/>
                <a:gd name="connsiteX28-4601" fmla="*/ 832543 w 1432618"/>
                <a:gd name="connsiteY28-4602" fmla="*/ 2733675 h 3588041"/>
                <a:gd name="connsiteX29-4603" fmla="*/ 689668 w 1432618"/>
                <a:gd name="connsiteY29-4604" fmla="*/ 3086100 h 3588041"/>
                <a:gd name="connsiteX30-4605" fmla="*/ 918268 w 1432618"/>
                <a:gd name="connsiteY30-4606" fmla="*/ 3419475 h 3588041"/>
                <a:gd name="connsiteX31-4607" fmla="*/ 1016693 w 1432618"/>
                <a:gd name="connsiteY31-4608" fmla="*/ 3581400 h 3588041"/>
                <a:gd name="connsiteX0-4609" fmla="*/ 1016693 w 1432618"/>
                <a:gd name="connsiteY0-4610" fmla="*/ 3581400 h 3588041"/>
                <a:gd name="connsiteX1-4611" fmla="*/ 591243 w 1432618"/>
                <a:gd name="connsiteY1-4612" fmla="*/ 3587750 h 3588041"/>
                <a:gd name="connsiteX2-4613" fmla="*/ 394393 w 1432618"/>
                <a:gd name="connsiteY2-4614" fmla="*/ 3076575 h 3588041"/>
                <a:gd name="connsiteX3-4615" fmla="*/ 746818 w 1432618"/>
                <a:gd name="connsiteY3-4616" fmla="*/ 2381250 h 3588041"/>
                <a:gd name="connsiteX4-4617" fmla="*/ 560128 w 1432618"/>
                <a:gd name="connsiteY4-4618" fmla="*/ 1922145 h 3588041"/>
                <a:gd name="connsiteX5-4619" fmla="*/ 58 w 1432618"/>
                <a:gd name="connsiteY5-4620" fmla="*/ 1870710 h 3588041"/>
                <a:gd name="connsiteX6-4621" fmla="*/ 394393 w 1432618"/>
                <a:gd name="connsiteY6-4622" fmla="*/ 1743075 h 3588041"/>
                <a:gd name="connsiteX7-4623" fmla="*/ 642043 w 1432618"/>
                <a:gd name="connsiteY7-4624" fmla="*/ 1876425 h 3588041"/>
                <a:gd name="connsiteX8-4625" fmla="*/ 689668 w 1432618"/>
                <a:gd name="connsiteY8-4626" fmla="*/ 1647825 h 3588041"/>
                <a:gd name="connsiteX9-4627" fmla="*/ 823018 w 1432618"/>
                <a:gd name="connsiteY9-4628" fmla="*/ 1333500 h 3588041"/>
                <a:gd name="connsiteX10-4629" fmla="*/ 765868 w 1432618"/>
                <a:gd name="connsiteY10-4630" fmla="*/ 809625 h 3588041"/>
                <a:gd name="connsiteX11-4631" fmla="*/ 388043 w 1432618"/>
                <a:gd name="connsiteY11-4632" fmla="*/ 695325 h 3588041"/>
                <a:gd name="connsiteX12-4633" fmla="*/ 762694 w 1432618"/>
                <a:gd name="connsiteY12-4634" fmla="*/ 703262 h 3588041"/>
                <a:gd name="connsiteX13-4635" fmla="*/ 789681 w 1432618"/>
                <a:gd name="connsiteY13-4636" fmla="*/ 441325 h 3588041"/>
                <a:gd name="connsiteX14-4637" fmla="*/ 886518 w 1432618"/>
                <a:gd name="connsiteY14-4638" fmla="*/ 0 h 3588041"/>
                <a:gd name="connsiteX15-4639" fmla="*/ 857943 w 1432618"/>
                <a:gd name="connsiteY15-4640" fmla="*/ 679450 h 3588041"/>
                <a:gd name="connsiteX16-4641" fmla="*/ 921443 w 1432618"/>
                <a:gd name="connsiteY16-4642" fmla="*/ 1047750 h 3588041"/>
                <a:gd name="connsiteX17-4643" fmla="*/ 930968 w 1432618"/>
                <a:gd name="connsiteY17-4644" fmla="*/ 1295400 h 3588041"/>
                <a:gd name="connsiteX18-4645" fmla="*/ 1086543 w 1432618"/>
                <a:gd name="connsiteY18-4646" fmla="*/ 1187450 h 3588041"/>
                <a:gd name="connsiteX19-4647" fmla="*/ 1375468 w 1432618"/>
                <a:gd name="connsiteY19-4648" fmla="*/ 1171575 h 3588041"/>
                <a:gd name="connsiteX20-4649" fmla="*/ 1108768 w 1432618"/>
                <a:gd name="connsiteY20-4650" fmla="*/ 1254125 h 3588041"/>
                <a:gd name="connsiteX21-4651" fmla="*/ 889693 w 1432618"/>
                <a:gd name="connsiteY21-4652" fmla="*/ 1527175 h 3588041"/>
                <a:gd name="connsiteX22-4653" fmla="*/ 835718 w 1432618"/>
                <a:gd name="connsiteY22-4654" fmla="*/ 1895475 h 3588041"/>
                <a:gd name="connsiteX23-4655" fmla="*/ 1003993 w 1432618"/>
                <a:gd name="connsiteY23-4656" fmla="*/ 2308225 h 3588041"/>
                <a:gd name="connsiteX24-4657" fmla="*/ 896043 w 1432618"/>
                <a:gd name="connsiteY24-4658" fmla="*/ 2578100 h 3588041"/>
                <a:gd name="connsiteX25-4659" fmla="*/ 1213543 w 1432618"/>
                <a:gd name="connsiteY25-4660" fmla="*/ 2533650 h 3588041"/>
                <a:gd name="connsiteX26-4661" fmla="*/ 1432618 w 1432618"/>
                <a:gd name="connsiteY26-4662" fmla="*/ 2626519 h 3588041"/>
                <a:gd name="connsiteX27-4663" fmla="*/ 1188143 w 1432618"/>
                <a:gd name="connsiteY27-4664" fmla="*/ 2590800 h 3588041"/>
                <a:gd name="connsiteX28-4665" fmla="*/ 832543 w 1432618"/>
                <a:gd name="connsiteY28-4666" fmla="*/ 2733675 h 3588041"/>
                <a:gd name="connsiteX29-4667" fmla="*/ 689668 w 1432618"/>
                <a:gd name="connsiteY29-4668" fmla="*/ 3086100 h 3588041"/>
                <a:gd name="connsiteX30-4669" fmla="*/ 918268 w 1432618"/>
                <a:gd name="connsiteY30-4670" fmla="*/ 3419475 h 3588041"/>
                <a:gd name="connsiteX31-4671" fmla="*/ 1016693 w 1432618"/>
                <a:gd name="connsiteY31-4672" fmla="*/ 3581400 h 3588041"/>
                <a:gd name="connsiteX0-4673" fmla="*/ 1016693 w 1432618"/>
                <a:gd name="connsiteY0-4674" fmla="*/ 3581400 h 3588041"/>
                <a:gd name="connsiteX1-4675" fmla="*/ 591243 w 1432618"/>
                <a:gd name="connsiteY1-4676" fmla="*/ 3587750 h 3588041"/>
                <a:gd name="connsiteX2-4677" fmla="*/ 394393 w 1432618"/>
                <a:gd name="connsiteY2-4678" fmla="*/ 3076575 h 3588041"/>
                <a:gd name="connsiteX3-4679" fmla="*/ 746818 w 1432618"/>
                <a:gd name="connsiteY3-4680" fmla="*/ 2381250 h 3588041"/>
                <a:gd name="connsiteX4-4681" fmla="*/ 560128 w 1432618"/>
                <a:gd name="connsiteY4-4682" fmla="*/ 1922145 h 3588041"/>
                <a:gd name="connsiteX5-4683" fmla="*/ 58 w 1432618"/>
                <a:gd name="connsiteY5-4684" fmla="*/ 1870710 h 3588041"/>
                <a:gd name="connsiteX6-4685" fmla="*/ 394393 w 1432618"/>
                <a:gd name="connsiteY6-4686" fmla="*/ 1743075 h 3588041"/>
                <a:gd name="connsiteX7-4687" fmla="*/ 642043 w 1432618"/>
                <a:gd name="connsiteY7-4688" fmla="*/ 1876425 h 3588041"/>
                <a:gd name="connsiteX8-4689" fmla="*/ 689668 w 1432618"/>
                <a:gd name="connsiteY8-4690" fmla="*/ 1647825 h 3588041"/>
                <a:gd name="connsiteX9-4691" fmla="*/ 823018 w 1432618"/>
                <a:gd name="connsiteY9-4692" fmla="*/ 1333500 h 3588041"/>
                <a:gd name="connsiteX10-4693" fmla="*/ 765868 w 1432618"/>
                <a:gd name="connsiteY10-4694" fmla="*/ 809625 h 3588041"/>
                <a:gd name="connsiteX11-4695" fmla="*/ 388043 w 1432618"/>
                <a:gd name="connsiteY11-4696" fmla="*/ 695325 h 3588041"/>
                <a:gd name="connsiteX12-4697" fmla="*/ 762694 w 1432618"/>
                <a:gd name="connsiteY12-4698" fmla="*/ 703262 h 3588041"/>
                <a:gd name="connsiteX13-4699" fmla="*/ 789681 w 1432618"/>
                <a:gd name="connsiteY13-4700" fmla="*/ 441325 h 3588041"/>
                <a:gd name="connsiteX14-4701" fmla="*/ 886518 w 1432618"/>
                <a:gd name="connsiteY14-4702" fmla="*/ 0 h 3588041"/>
                <a:gd name="connsiteX15-4703" fmla="*/ 857943 w 1432618"/>
                <a:gd name="connsiteY15-4704" fmla="*/ 679450 h 3588041"/>
                <a:gd name="connsiteX16-4705" fmla="*/ 921443 w 1432618"/>
                <a:gd name="connsiteY16-4706" fmla="*/ 1047750 h 3588041"/>
                <a:gd name="connsiteX17-4707" fmla="*/ 930968 w 1432618"/>
                <a:gd name="connsiteY17-4708" fmla="*/ 1295400 h 3588041"/>
                <a:gd name="connsiteX18-4709" fmla="*/ 1086543 w 1432618"/>
                <a:gd name="connsiteY18-4710" fmla="*/ 1187450 h 3588041"/>
                <a:gd name="connsiteX19-4711" fmla="*/ 1375468 w 1432618"/>
                <a:gd name="connsiteY19-4712" fmla="*/ 1171575 h 3588041"/>
                <a:gd name="connsiteX20-4713" fmla="*/ 1108768 w 1432618"/>
                <a:gd name="connsiteY20-4714" fmla="*/ 1254125 h 3588041"/>
                <a:gd name="connsiteX21-4715" fmla="*/ 889693 w 1432618"/>
                <a:gd name="connsiteY21-4716" fmla="*/ 1527175 h 3588041"/>
                <a:gd name="connsiteX22-4717" fmla="*/ 835718 w 1432618"/>
                <a:gd name="connsiteY22-4718" fmla="*/ 1895475 h 3588041"/>
                <a:gd name="connsiteX23-4719" fmla="*/ 1003993 w 1432618"/>
                <a:gd name="connsiteY23-4720" fmla="*/ 2308225 h 3588041"/>
                <a:gd name="connsiteX24-4721" fmla="*/ 896043 w 1432618"/>
                <a:gd name="connsiteY24-4722" fmla="*/ 2578100 h 3588041"/>
                <a:gd name="connsiteX25-4723" fmla="*/ 1213543 w 1432618"/>
                <a:gd name="connsiteY25-4724" fmla="*/ 2533650 h 3588041"/>
                <a:gd name="connsiteX26-4725" fmla="*/ 1432618 w 1432618"/>
                <a:gd name="connsiteY26-4726" fmla="*/ 2626519 h 3588041"/>
                <a:gd name="connsiteX27-4727" fmla="*/ 1188143 w 1432618"/>
                <a:gd name="connsiteY27-4728" fmla="*/ 2590800 h 3588041"/>
                <a:gd name="connsiteX28-4729" fmla="*/ 832543 w 1432618"/>
                <a:gd name="connsiteY28-4730" fmla="*/ 2733675 h 3588041"/>
                <a:gd name="connsiteX29-4731" fmla="*/ 689668 w 1432618"/>
                <a:gd name="connsiteY29-4732" fmla="*/ 3086100 h 3588041"/>
                <a:gd name="connsiteX30-4733" fmla="*/ 918268 w 1432618"/>
                <a:gd name="connsiteY30-4734" fmla="*/ 3419475 h 3588041"/>
                <a:gd name="connsiteX31-4735" fmla="*/ 1016693 w 1432618"/>
                <a:gd name="connsiteY31-4736" fmla="*/ 3581400 h 3588041"/>
                <a:gd name="connsiteX0-4737" fmla="*/ 1016693 w 1432618"/>
                <a:gd name="connsiteY0-4738" fmla="*/ 3581400 h 3588041"/>
                <a:gd name="connsiteX1-4739" fmla="*/ 591243 w 1432618"/>
                <a:gd name="connsiteY1-4740" fmla="*/ 3587750 h 3588041"/>
                <a:gd name="connsiteX2-4741" fmla="*/ 394393 w 1432618"/>
                <a:gd name="connsiteY2-4742" fmla="*/ 3076575 h 3588041"/>
                <a:gd name="connsiteX3-4743" fmla="*/ 746818 w 1432618"/>
                <a:gd name="connsiteY3-4744" fmla="*/ 2381250 h 3588041"/>
                <a:gd name="connsiteX4-4745" fmla="*/ 560128 w 1432618"/>
                <a:gd name="connsiteY4-4746" fmla="*/ 1922145 h 3588041"/>
                <a:gd name="connsiteX5-4747" fmla="*/ 58 w 1432618"/>
                <a:gd name="connsiteY5-4748" fmla="*/ 1870710 h 3588041"/>
                <a:gd name="connsiteX6-4749" fmla="*/ 394393 w 1432618"/>
                <a:gd name="connsiteY6-4750" fmla="*/ 1743075 h 3588041"/>
                <a:gd name="connsiteX7-4751" fmla="*/ 642043 w 1432618"/>
                <a:gd name="connsiteY7-4752" fmla="*/ 1876425 h 3588041"/>
                <a:gd name="connsiteX8-4753" fmla="*/ 689668 w 1432618"/>
                <a:gd name="connsiteY8-4754" fmla="*/ 1647825 h 3588041"/>
                <a:gd name="connsiteX9-4755" fmla="*/ 823018 w 1432618"/>
                <a:gd name="connsiteY9-4756" fmla="*/ 1333500 h 3588041"/>
                <a:gd name="connsiteX10-4757" fmla="*/ 765868 w 1432618"/>
                <a:gd name="connsiteY10-4758" fmla="*/ 809625 h 3588041"/>
                <a:gd name="connsiteX11-4759" fmla="*/ 388043 w 1432618"/>
                <a:gd name="connsiteY11-4760" fmla="*/ 695325 h 3588041"/>
                <a:gd name="connsiteX12-4761" fmla="*/ 781744 w 1432618"/>
                <a:gd name="connsiteY12-4762" fmla="*/ 724693 h 3588041"/>
                <a:gd name="connsiteX13-4763" fmla="*/ 789681 w 1432618"/>
                <a:gd name="connsiteY13-4764" fmla="*/ 441325 h 3588041"/>
                <a:gd name="connsiteX14-4765" fmla="*/ 886518 w 1432618"/>
                <a:gd name="connsiteY14-4766" fmla="*/ 0 h 3588041"/>
                <a:gd name="connsiteX15-4767" fmla="*/ 857943 w 1432618"/>
                <a:gd name="connsiteY15-4768" fmla="*/ 679450 h 3588041"/>
                <a:gd name="connsiteX16-4769" fmla="*/ 921443 w 1432618"/>
                <a:gd name="connsiteY16-4770" fmla="*/ 1047750 h 3588041"/>
                <a:gd name="connsiteX17-4771" fmla="*/ 930968 w 1432618"/>
                <a:gd name="connsiteY17-4772" fmla="*/ 1295400 h 3588041"/>
                <a:gd name="connsiteX18-4773" fmla="*/ 1086543 w 1432618"/>
                <a:gd name="connsiteY18-4774" fmla="*/ 1187450 h 3588041"/>
                <a:gd name="connsiteX19-4775" fmla="*/ 1375468 w 1432618"/>
                <a:gd name="connsiteY19-4776" fmla="*/ 1171575 h 3588041"/>
                <a:gd name="connsiteX20-4777" fmla="*/ 1108768 w 1432618"/>
                <a:gd name="connsiteY20-4778" fmla="*/ 1254125 h 3588041"/>
                <a:gd name="connsiteX21-4779" fmla="*/ 889693 w 1432618"/>
                <a:gd name="connsiteY21-4780" fmla="*/ 1527175 h 3588041"/>
                <a:gd name="connsiteX22-4781" fmla="*/ 835718 w 1432618"/>
                <a:gd name="connsiteY22-4782" fmla="*/ 1895475 h 3588041"/>
                <a:gd name="connsiteX23-4783" fmla="*/ 1003993 w 1432618"/>
                <a:gd name="connsiteY23-4784" fmla="*/ 2308225 h 3588041"/>
                <a:gd name="connsiteX24-4785" fmla="*/ 896043 w 1432618"/>
                <a:gd name="connsiteY24-4786" fmla="*/ 2578100 h 3588041"/>
                <a:gd name="connsiteX25-4787" fmla="*/ 1213543 w 1432618"/>
                <a:gd name="connsiteY25-4788" fmla="*/ 2533650 h 3588041"/>
                <a:gd name="connsiteX26-4789" fmla="*/ 1432618 w 1432618"/>
                <a:gd name="connsiteY26-4790" fmla="*/ 2626519 h 3588041"/>
                <a:gd name="connsiteX27-4791" fmla="*/ 1188143 w 1432618"/>
                <a:gd name="connsiteY27-4792" fmla="*/ 2590800 h 3588041"/>
                <a:gd name="connsiteX28-4793" fmla="*/ 832543 w 1432618"/>
                <a:gd name="connsiteY28-4794" fmla="*/ 2733675 h 3588041"/>
                <a:gd name="connsiteX29-4795" fmla="*/ 689668 w 1432618"/>
                <a:gd name="connsiteY29-4796" fmla="*/ 3086100 h 3588041"/>
                <a:gd name="connsiteX30-4797" fmla="*/ 918268 w 1432618"/>
                <a:gd name="connsiteY30-4798" fmla="*/ 3419475 h 3588041"/>
                <a:gd name="connsiteX31-4799" fmla="*/ 1016693 w 1432618"/>
                <a:gd name="connsiteY31-4800" fmla="*/ 3581400 h 3588041"/>
                <a:gd name="connsiteX0-4801" fmla="*/ 1016693 w 1432618"/>
                <a:gd name="connsiteY0-4802" fmla="*/ 3581400 h 3588041"/>
                <a:gd name="connsiteX1-4803" fmla="*/ 591243 w 1432618"/>
                <a:gd name="connsiteY1-4804" fmla="*/ 3587750 h 3588041"/>
                <a:gd name="connsiteX2-4805" fmla="*/ 394393 w 1432618"/>
                <a:gd name="connsiteY2-4806" fmla="*/ 3076575 h 3588041"/>
                <a:gd name="connsiteX3-4807" fmla="*/ 746818 w 1432618"/>
                <a:gd name="connsiteY3-4808" fmla="*/ 2381250 h 3588041"/>
                <a:gd name="connsiteX4-4809" fmla="*/ 560128 w 1432618"/>
                <a:gd name="connsiteY4-4810" fmla="*/ 1922145 h 3588041"/>
                <a:gd name="connsiteX5-4811" fmla="*/ 58 w 1432618"/>
                <a:gd name="connsiteY5-4812" fmla="*/ 1870710 h 3588041"/>
                <a:gd name="connsiteX6-4813" fmla="*/ 394393 w 1432618"/>
                <a:gd name="connsiteY6-4814" fmla="*/ 1743075 h 3588041"/>
                <a:gd name="connsiteX7-4815" fmla="*/ 642043 w 1432618"/>
                <a:gd name="connsiteY7-4816" fmla="*/ 1876425 h 3588041"/>
                <a:gd name="connsiteX8-4817" fmla="*/ 689668 w 1432618"/>
                <a:gd name="connsiteY8-4818" fmla="*/ 1647825 h 3588041"/>
                <a:gd name="connsiteX9-4819" fmla="*/ 823018 w 1432618"/>
                <a:gd name="connsiteY9-4820" fmla="*/ 1333500 h 3588041"/>
                <a:gd name="connsiteX10-4821" fmla="*/ 765868 w 1432618"/>
                <a:gd name="connsiteY10-4822" fmla="*/ 809625 h 3588041"/>
                <a:gd name="connsiteX11-4823" fmla="*/ 388043 w 1432618"/>
                <a:gd name="connsiteY11-4824" fmla="*/ 695325 h 3588041"/>
                <a:gd name="connsiteX12-4825" fmla="*/ 781744 w 1432618"/>
                <a:gd name="connsiteY12-4826" fmla="*/ 724693 h 3588041"/>
                <a:gd name="connsiteX13-4827" fmla="*/ 789681 w 1432618"/>
                <a:gd name="connsiteY13-4828" fmla="*/ 441325 h 3588041"/>
                <a:gd name="connsiteX14-4829" fmla="*/ 886518 w 1432618"/>
                <a:gd name="connsiteY14-4830" fmla="*/ 0 h 3588041"/>
                <a:gd name="connsiteX15-4831" fmla="*/ 857943 w 1432618"/>
                <a:gd name="connsiteY15-4832" fmla="*/ 679450 h 3588041"/>
                <a:gd name="connsiteX16-4833" fmla="*/ 921443 w 1432618"/>
                <a:gd name="connsiteY16-4834" fmla="*/ 1047750 h 3588041"/>
                <a:gd name="connsiteX17-4835" fmla="*/ 930968 w 1432618"/>
                <a:gd name="connsiteY17-4836" fmla="*/ 1295400 h 3588041"/>
                <a:gd name="connsiteX18-4837" fmla="*/ 1086543 w 1432618"/>
                <a:gd name="connsiteY18-4838" fmla="*/ 1187450 h 3588041"/>
                <a:gd name="connsiteX19-4839" fmla="*/ 1375468 w 1432618"/>
                <a:gd name="connsiteY19-4840" fmla="*/ 1171575 h 3588041"/>
                <a:gd name="connsiteX20-4841" fmla="*/ 1108768 w 1432618"/>
                <a:gd name="connsiteY20-4842" fmla="*/ 1254125 h 3588041"/>
                <a:gd name="connsiteX21-4843" fmla="*/ 889693 w 1432618"/>
                <a:gd name="connsiteY21-4844" fmla="*/ 1527175 h 3588041"/>
                <a:gd name="connsiteX22-4845" fmla="*/ 835718 w 1432618"/>
                <a:gd name="connsiteY22-4846" fmla="*/ 1895475 h 3588041"/>
                <a:gd name="connsiteX23-4847" fmla="*/ 1003993 w 1432618"/>
                <a:gd name="connsiteY23-4848" fmla="*/ 2308225 h 3588041"/>
                <a:gd name="connsiteX24-4849" fmla="*/ 896043 w 1432618"/>
                <a:gd name="connsiteY24-4850" fmla="*/ 2578100 h 3588041"/>
                <a:gd name="connsiteX25-4851" fmla="*/ 1213543 w 1432618"/>
                <a:gd name="connsiteY25-4852" fmla="*/ 2533650 h 3588041"/>
                <a:gd name="connsiteX26-4853" fmla="*/ 1432618 w 1432618"/>
                <a:gd name="connsiteY26-4854" fmla="*/ 2626519 h 3588041"/>
                <a:gd name="connsiteX27-4855" fmla="*/ 1188143 w 1432618"/>
                <a:gd name="connsiteY27-4856" fmla="*/ 2590800 h 3588041"/>
                <a:gd name="connsiteX28-4857" fmla="*/ 832543 w 1432618"/>
                <a:gd name="connsiteY28-4858" fmla="*/ 2733675 h 3588041"/>
                <a:gd name="connsiteX29-4859" fmla="*/ 689668 w 1432618"/>
                <a:gd name="connsiteY29-4860" fmla="*/ 3086100 h 3588041"/>
                <a:gd name="connsiteX30-4861" fmla="*/ 918268 w 1432618"/>
                <a:gd name="connsiteY30-4862" fmla="*/ 3419475 h 3588041"/>
                <a:gd name="connsiteX31-4863" fmla="*/ 1016693 w 1432618"/>
                <a:gd name="connsiteY31-4864" fmla="*/ 3581400 h 3588041"/>
                <a:gd name="connsiteX0-4865" fmla="*/ 1016693 w 1432618"/>
                <a:gd name="connsiteY0-4866" fmla="*/ 3581400 h 3588041"/>
                <a:gd name="connsiteX1-4867" fmla="*/ 591243 w 1432618"/>
                <a:gd name="connsiteY1-4868" fmla="*/ 3587750 h 3588041"/>
                <a:gd name="connsiteX2-4869" fmla="*/ 394393 w 1432618"/>
                <a:gd name="connsiteY2-4870" fmla="*/ 3076575 h 3588041"/>
                <a:gd name="connsiteX3-4871" fmla="*/ 746818 w 1432618"/>
                <a:gd name="connsiteY3-4872" fmla="*/ 2381250 h 3588041"/>
                <a:gd name="connsiteX4-4873" fmla="*/ 560128 w 1432618"/>
                <a:gd name="connsiteY4-4874" fmla="*/ 1922145 h 3588041"/>
                <a:gd name="connsiteX5-4875" fmla="*/ 58 w 1432618"/>
                <a:gd name="connsiteY5-4876" fmla="*/ 1870710 h 3588041"/>
                <a:gd name="connsiteX6-4877" fmla="*/ 394393 w 1432618"/>
                <a:gd name="connsiteY6-4878" fmla="*/ 1743075 h 3588041"/>
                <a:gd name="connsiteX7-4879" fmla="*/ 642043 w 1432618"/>
                <a:gd name="connsiteY7-4880" fmla="*/ 1876425 h 3588041"/>
                <a:gd name="connsiteX8-4881" fmla="*/ 689668 w 1432618"/>
                <a:gd name="connsiteY8-4882" fmla="*/ 1647825 h 3588041"/>
                <a:gd name="connsiteX9-4883" fmla="*/ 823018 w 1432618"/>
                <a:gd name="connsiteY9-4884" fmla="*/ 1333500 h 3588041"/>
                <a:gd name="connsiteX10-4885" fmla="*/ 765868 w 1432618"/>
                <a:gd name="connsiteY10-4886" fmla="*/ 809625 h 3588041"/>
                <a:gd name="connsiteX11-4887" fmla="*/ 388043 w 1432618"/>
                <a:gd name="connsiteY11-4888" fmla="*/ 695325 h 3588041"/>
                <a:gd name="connsiteX12-4889" fmla="*/ 781744 w 1432618"/>
                <a:gd name="connsiteY12-4890" fmla="*/ 724693 h 3588041"/>
                <a:gd name="connsiteX13-4891" fmla="*/ 799206 w 1432618"/>
                <a:gd name="connsiteY13-4892" fmla="*/ 441325 h 3588041"/>
                <a:gd name="connsiteX14-4893" fmla="*/ 886518 w 1432618"/>
                <a:gd name="connsiteY14-4894" fmla="*/ 0 h 3588041"/>
                <a:gd name="connsiteX15-4895" fmla="*/ 857943 w 1432618"/>
                <a:gd name="connsiteY15-4896" fmla="*/ 679450 h 3588041"/>
                <a:gd name="connsiteX16-4897" fmla="*/ 921443 w 1432618"/>
                <a:gd name="connsiteY16-4898" fmla="*/ 1047750 h 3588041"/>
                <a:gd name="connsiteX17-4899" fmla="*/ 930968 w 1432618"/>
                <a:gd name="connsiteY17-4900" fmla="*/ 1295400 h 3588041"/>
                <a:gd name="connsiteX18-4901" fmla="*/ 1086543 w 1432618"/>
                <a:gd name="connsiteY18-4902" fmla="*/ 1187450 h 3588041"/>
                <a:gd name="connsiteX19-4903" fmla="*/ 1375468 w 1432618"/>
                <a:gd name="connsiteY19-4904" fmla="*/ 1171575 h 3588041"/>
                <a:gd name="connsiteX20-4905" fmla="*/ 1108768 w 1432618"/>
                <a:gd name="connsiteY20-4906" fmla="*/ 1254125 h 3588041"/>
                <a:gd name="connsiteX21-4907" fmla="*/ 889693 w 1432618"/>
                <a:gd name="connsiteY21-4908" fmla="*/ 1527175 h 3588041"/>
                <a:gd name="connsiteX22-4909" fmla="*/ 835718 w 1432618"/>
                <a:gd name="connsiteY22-4910" fmla="*/ 1895475 h 3588041"/>
                <a:gd name="connsiteX23-4911" fmla="*/ 1003993 w 1432618"/>
                <a:gd name="connsiteY23-4912" fmla="*/ 2308225 h 3588041"/>
                <a:gd name="connsiteX24-4913" fmla="*/ 896043 w 1432618"/>
                <a:gd name="connsiteY24-4914" fmla="*/ 2578100 h 3588041"/>
                <a:gd name="connsiteX25-4915" fmla="*/ 1213543 w 1432618"/>
                <a:gd name="connsiteY25-4916" fmla="*/ 2533650 h 3588041"/>
                <a:gd name="connsiteX26-4917" fmla="*/ 1432618 w 1432618"/>
                <a:gd name="connsiteY26-4918" fmla="*/ 2626519 h 3588041"/>
                <a:gd name="connsiteX27-4919" fmla="*/ 1188143 w 1432618"/>
                <a:gd name="connsiteY27-4920" fmla="*/ 2590800 h 3588041"/>
                <a:gd name="connsiteX28-4921" fmla="*/ 832543 w 1432618"/>
                <a:gd name="connsiteY28-4922" fmla="*/ 2733675 h 3588041"/>
                <a:gd name="connsiteX29-4923" fmla="*/ 689668 w 1432618"/>
                <a:gd name="connsiteY29-4924" fmla="*/ 3086100 h 3588041"/>
                <a:gd name="connsiteX30-4925" fmla="*/ 918268 w 1432618"/>
                <a:gd name="connsiteY30-4926" fmla="*/ 3419475 h 3588041"/>
                <a:gd name="connsiteX31-4927" fmla="*/ 1016693 w 1432618"/>
                <a:gd name="connsiteY31-4928" fmla="*/ 3581400 h 3588041"/>
                <a:gd name="connsiteX0-4929" fmla="*/ 1016693 w 1432618"/>
                <a:gd name="connsiteY0-4930" fmla="*/ 3581400 h 3588041"/>
                <a:gd name="connsiteX1-4931" fmla="*/ 591243 w 1432618"/>
                <a:gd name="connsiteY1-4932" fmla="*/ 3587750 h 3588041"/>
                <a:gd name="connsiteX2-4933" fmla="*/ 394393 w 1432618"/>
                <a:gd name="connsiteY2-4934" fmla="*/ 3076575 h 3588041"/>
                <a:gd name="connsiteX3-4935" fmla="*/ 746818 w 1432618"/>
                <a:gd name="connsiteY3-4936" fmla="*/ 2381250 h 3588041"/>
                <a:gd name="connsiteX4-4937" fmla="*/ 560128 w 1432618"/>
                <a:gd name="connsiteY4-4938" fmla="*/ 1922145 h 3588041"/>
                <a:gd name="connsiteX5-4939" fmla="*/ 58 w 1432618"/>
                <a:gd name="connsiteY5-4940" fmla="*/ 1870710 h 3588041"/>
                <a:gd name="connsiteX6-4941" fmla="*/ 394393 w 1432618"/>
                <a:gd name="connsiteY6-4942" fmla="*/ 1743075 h 3588041"/>
                <a:gd name="connsiteX7-4943" fmla="*/ 642043 w 1432618"/>
                <a:gd name="connsiteY7-4944" fmla="*/ 1876425 h 3588041"/>
                <a:gd name="connsiteX8-4945" fmla="*/ 689668 w 1432618"/>
                <a:gd name="connsiteY8-4946" fmla="*/ 1647825 h 3588041"/>
                <a:gd name="connsiteX9-4947" fmla="*/ 823018 w 1432618"/>
                <a:gd name="connsiteY9-4948" fmla="*/ 1333500 h 3588041"/>
                <a:gd name="connsiteX10-4949" fmla="*/ 765868 w 1432618"/>
                <a:gd name="connsiteY10-4950" fmla="*/ 809625 h 3588041"/>
                <a:gd name="connsiteX11-4951" fmla="*/ 388043 w 1432618"/>
                <a:gd name="connsiteY11-4952" fmla="*/ 695325 h 3588041"/>
                <a:gd name="connsiteX12-4953" fmla="*/ 781744 w 1432618"/>
                <a:gd name="connsiteY12-4954" fmla="*/ 724693 h 3588041"/>
                <a:gd name="connsiteX13-4955" fmla="*/ 799206 w 1432618"/>
                <a:gd name="connsiteY13-4956" fmla="*/ 441325 h 3588041"/>
                <a:gd name="connsiteX14-4957" fmla="*/ 886518 w 1432618"/>
                <a:gd name="connsiteY14-4958" fmla="*/ 0 h 3588041"/>
                <a:gd name="connsiteX15-4959" fmla="*/ 857943 w 1432618"/>
                <a:gd name="connsiteY15-4960" fmla="*/ 679450 h 3588041"/>
                <a:gd name="connsiteX16-4961" fmla="*/ 921443 w 1432618"/>
                <a:gd name="connsiteY16-4962" fmla="*/ 1047750 h 3588041"/>
                <a:gd name="connsiteX17-4963" fmla="*/ 930968 w 1432618"/>
                <a:gd name="connsiteY17-4964" fmla="*/ 1295400 h 3588041"/>
                <a:gd name="connsiteX18-4965" fmla="*/ 1086543 w 1432618"/>
                <a:gd name="connsiteY18-4966" fmla="*/ 1187450 h 3588041"/>
                <a:gd name="connsiteX19-4967" fmla="*/ 1375468 w 1432618"/>
                <a:gd name="connsiteY19-4968" fmla="*/ 1171575 h 3588041"/>
                <a:gd name="connsiteX20-4969" fmla="*/ 1108768 w 1432618"/>
                <a:gd name="connsiteY20-4970" fmla="*/ 1254125 h 3588041"/>
                <a:gd name="connsiteX21-4971" fmla="*/ 889693 w 1432618"/>
                <a:gd name="connsiteY21-4972" fmla="*/ 1527175 h 3588041"/>
                <a:gd name="connsiteX22-4973" fmla="*/ 835718 w 1432618"/>
                <a:gd name="connsiteY22-4974" fmla="*/ 1895475 h 3588041"/>
                <a:gd name="connsiteX23-4975" fmla="*/ 1003993 w 1432618"/>
                <a:gd name="connsiteY23-4976" fmla="*/ 2308225 h 3588041"/>
                <a:gd name="connsiteX24-4977" fmla="*/ 896043 w 1432618"/>
                <a:gd name="connsiteY24-4978" fmla="*/ 2578100 h 3588041"/>
                <a:gd name="connsiteX25-4979" fmla="*/ 1213543 w 1432618"/>
                <a:gd name="connsiteY25-4980" fmla="*/ 2533650 h 3588041"/>
                <a:gd name="connsiteX26-4981" fmla="*/ 1432618 w 1432618"/>
                <a:gd name="connsiteY26-4982" fmla="*/ 2626519 h 3588041"/>
                <a:gd name="connsiteX27-4983" fmla="*/ 1188143 w 1432618"/>
                <a:gd name="connsiteY27-4984" fmla="*/ 2590800 h 3588041"/>
                <a:gd name="connsiteX28-4985" fmla="*/ 832543 w 1432618"/>
                <a:gd name="connsiteY28-4986" fmla="*/ 2733675 h 3588041"/>
                <a:gd name="connsiteX29-4987" fmla="*/ 689668 w 1432618"/>
                <a:gd name="connsiteY29-4988" fmla="*/ 3086100 h 3588041"/>
                <a:gd name="connsiteX30-4989" fmla="*/ 918268 w 1432618"/>
                <a:gd name="connsiteY30-4990" fmla="*/ 3419475 h 3588041"/>
                <a:gd name="connsiteX31-4991" fmla="*/ 1016693 w 1432618"/>
                <a:gd name="connsiteY31-4992" fmla="*/ 3581400 h 3588041"/>
                <a:gd name="connsiteX0-4993" fmla="*/ 1016693 w 1432618"/>
                <a:gd name="connsiteY0-4994" fmla="*/ 3581400 h 3588041"/>
                <a:gd name="connsiteX1-4995" fmla="*/ 591243 w 1432618"/>
                <a:gd name="connsiteY1-4996" fmla="*/ 3587750 h 3588041"/>
                <a:gd name="connsiteX2-4997" fmla="*/ 394393 w 1432618"/>
                <a:gd name="connsiteY2-4998" fmla="*/ 3076575 h 3588041"/>
                <a:gd name="connsiteX3-4999" fmla="*/ 746818 w 1432618"/>
                <a:gd name="connsiteY3-5000" fmla="*/ 2381250 h 3588041"/>
                <a:gd name="connsiteX4-5001" fmla="*/ 560128 w 1432618"/>
                <a:gd name="connsiteY4-5002" fmla="*/ 1922145 h 3588041"/>
                <a:gd name="connsiteX5-5003" fmla="*/ 58 w 1432618"/>
                <a:gd name="connsiteY5-5004" fmla="*/ 1870710 h 3588041"/>
                <a:gd name="connsiteX6-5005" fmla="*/ 394393 w 1432618"/>
                <a:gd name="connsiteY6-5006" fmla="*/ 1743075 h 3588041"/>
                <a:gd name="connsiteX7-5007" fmla="*/ 642043 w 1432618"/>
                <a:gd name="connsiteY7-5008" fmla="*/ 1876425 h 3588041"/>
                <a:gd name="connsiteX8-5009" fmla="*/ 689668 w 1432618"/>
                <a:gd name="connsiteY8-5010" fmla="*/ 1647825 h 3588041"/>
                <a:gd name="connsiteX9-5011" fmla="*/ 823018 w 1432618"/>
                <a:gd name="connsiteY9-5012" fmla="*/ 1333500 h 3588041"/>
                <a:gd name="connsiteX10-5013" fmla="*/ 765868 w 1432618"/>
                <a:gd name="connsiteY10-5014" fmla="*/ 809625 h 3588041"/>
                <a:gd name="connsiteX11-5015" fmla="*/ 388043 w 1432618"/>
                <a:gd name="connsiteY11-5016" fmla="*/ 695325 h 3588041"/>
                <a:gd name="connsiteX12-5017" fmla="*/ 781744 w 1432618"/>
                <a:gd name="connsiteY12-5018" fmla="*/ 724693 h 3588041"/>
                <a:gd name="connsiteX13-5019" fmla="*/ 799206 w 1432618"/>
                <a:gd name="connsiteY13-5020" fmla="*/ 441325 h 3588041"/>
                <a:gd name="connsiteX14-5021" fmla="*/ 886518 w 1432618"/>
                <a:gd name="connsiteY14-5022" fmla="*/ 0 h 3588041"/>
                <a:gd name="connsiteX15-5023" fmla="*/ 857943 w 1432618"/>
                <a:gd name="connsiteY15-5024" fmla="*/ 679450 h 3588041"/>
                <a:gd name="connsiteX16-5025" fmla="*/ 921443 w 1432618"/>
                <a:gd name="connsiteY16-5026" fmla="*/ 1047750 h 3588041"/>
                <a:gd name="connsiteX17-5027" fmla="*/ 930968 w 1432618"/>
                <a:gd name="connsiteY17-5028" fmla="*/ 1295400 h 3588041"/>
                <a:gd name="connsiteX18-5029" fmla="*/ 1086543 w 1432618"/>
                <a:gd name="connsiteY18-5030" fmla="*/ 1187450 h 3588041"/>
                <a:gd name="connsiteX19-5031" fmla="*/ 1375468 w 1432618"/>
                <a:gd name="connsiteY19-5032" fmla="*/ 1171575 h 3588041"/>
                <a:gd name="connsiteX20-5033" fmla="*/ 1108768 w 1432618"/>
                <a:gd name="connsiteY20-5034" fmla="*/ 1254125 h 3588041"/>
                <a:gd name="connsiteX21-5035" fmla="*/ 889693 w 1432618"/>
                <a:gd name="connsiteY21-5036" fmla="*/ 1527175 h 3588041"/>
                <a:gd name="connsiteX22-5037" fmla="*/ 835718 w 1432618"/>
                <a:gd name="connsiteY22-5038" fmla="*/ 1895475 h 3588041"/>
                <a:gd name="connsiteX23-5039" fmla="*/ 1003993 w 1432618"/>
                <a:gd name="connsiteY23-5040" fmla="*/ 2308225 h 3588041"/>
                <a:gd name="connsiteX24-5041" fmla="*/ 896043 w 1432618"/>
                <a:gd name="connsiteY24-5042" fmla="*/ 2578100 h 3588041"/>
                <a:gd name="connsiteX25-5043" fmla="*/ 1213543 w 1432618"/>
                <a:gd name="connsiteY25-5044" fmla="*/ 2533650 h 3588041"/>
                <a:gd name="connsiteX26-5045" fmla="*/ 1432618 w 1432618"/>
                <a:gd name="connsiteY26-5046" fmla="*/ 2626519 h 3588041"/>
                <a:gd name="connsiteX27-5047" fmla="*/ 1188143 w 1432618"/>
                <a:gd name="connsiteY27-5048" fmla="*/ 2590800 h 3588041"/>
                <a:gd name="connsiteX28-5049" fmla="*/ 832543 w 1432618"/>
                <a:gd name="connsiteY28-5050" fmla="*/ 2733675 h 3588041"/>
                <a:gd name="connsiteX29-5051" fmla="*/ 689668 w 1432618"/>
                <a:gd name="connsiteY29-5052" fmla="*/ 3086100 h 3588041"/>
                <a:gd name="connsiteX30-5053" fmla="*/ 918268 w 1432618"/>
                <a:gd name="connsiteY30-5054" fmla="*/ 3419475 h 3588041"/>
                <a:gd name="connsiteX31-5055" fmla="*/ 1016693 w 1432618"/>
                <a:gd name="connsiteY31-5056" fmla="*/ 3581400 h 3588041"/>
                <a:gd name="connsiteX0-5057" fmla="*/ 1016693 w 1432618"/>
                <a:gd name="connsiteY0-5058" fmla="*/ 3581400 h 3588041"/>
                <a:gd name="connsiteX1-5059" fmla="*/ 591243 w 1432618"/>
                <a:gd name="connsiteY1-5060" fmla="*/ 3587750 h 3588041"/>
                <a:gd name="connsiteX2-5061" fmla="*/ 394393 w 1432618"/>
                <a:gd name="connsiteY2-5062" fmla="*/ 3076575 h 3588041"/>
                <a:gd name="connsiteX3-5063" fmla="*/ 746818 w 1432618"/>
                <a:gd name="connsiteY3-5064" fmla="*/ 2381250 h 3588041"/>
                <a:gd name="connsiteX4-5065" fmla="*/ 560128 w 1432618"/>
                <a:gd name="connsiteY4-5066" fmla="*/ 1922145 h 3588041"/>
                <a:gd name="connsiteX5-5067" fmla="*/ 58 w 1432618"/>
                <a:gd name="connsiteY5-5068" fmla="*/ 1870710 h 3588041"/>
                <a:gd name="connsiteX6-5069" fmla="*/ 394393 w 1432618"/>
                <a:gd name="connsiteY6-5070" fmla="*/ 1743075 h 3588041"/>
                <a:gd name="connsiteX7-5071" fmla="*/ 642043 w 1432618"/>
                <a:gd name="connsiteY7-5072" fmla="*/ 1876425 h 3588041"/>
                <a:gd name="connsiteX8-5073" fmla="*/ 689668 w 1432618"/>
                <a:gd name="connsiteY8-5074" fmla="*/ 1647825 h 3588041"/>
                <a:gd name="connsiteX9-5075" fmla="*/ 823018 w 1432618"/>
                <a:gd name="connsiteY9-5076" fmla="*/ 1333500 h 3588041"/>
                <a:gd name="connsiteX10-5077" fmla="*/ 763487 w 1432618"/>
                <a:gd name="connsiteY10-5078" fmla="*/ 823913 h 3588041"/>
                <a:gd name="connsiteX11-5079" fmla="*/ 388043 w 1432618"/>
                <a:gd name="connsiteY11-5080" fmla="*/ 695325 h 3588041"/>
                <a:gd name="connsiteX12-5081" fmla="*/ 781744 w 1432618"/>
                <a:gd name="connsiteY12-5082" fmla="*/ 724693 h 3588041"/>
                <a:gd name="connsiteX13-5083" fmla="*/ 799206 w 1432618"/>
                <a:gd name="connsiteY13-5084" fmla="*/ 441325 h 3588041"/>
                <a:gd name="connsiteX14-5085" fmla="*/ 886518 w 1432618"/>
                <a:gd name="connsiteY14-5086" fmla="*/ 0 h 3588041"/>
                <a:gd name="connsiteX15-5087" fmla="*/ 857943 w 1432618"/>
                <a:gd name="connsiteY15-5088" fmla="*/ 679450 h 3588041"/>
                <a:gd name="connsiteX16-5089" fmla="*/ 921443 w 1432618"/>
                <a:gd name="connsiteY16-5090" fmla="*/ 1047750 h 3588041"/>
                <a:gd name="connsiteX17-5091" fmla="*/ 930968 w 1432618"/>
                <a:gd name="connsiteY17-5092" fmla="*/ 1295400 h 3588041"/>
                <a:gd name="connsiteX18-5093" fmla="*/ 1086543 w 1432618"/>
                <a:gd name="connsiteY18-5094" fmla="*/ 1187450 h 3588041"/>
                <a:gd name="connsiteX19-5095" fmla="*/ 1375468 w 1432618"/>
                <a:gd name="connsiteY19-5096" fmla="*/ 1171575 h 3588041"/>
                <a:gd name="connsiteX20-5097" fmla="*/ 1108768 w 1432618"/>
                <a:gd name="connsiteY20-5098" fmla="*/ 1254125 h 3588041"/>
                <a:gd name="connsiteX21-5099" fmla="*/ 889693 w 1432618"/>
                <a:gd name="connsiteY21-5100" fmla="*/ 1527175 h 3588041"/>
                <a:gd name="connsiteX22-5101" fmla="*/ 835718 w 1432618"/>
                <a:gd name="connsiteY22-5102" fmla="*/ 1895475 h 3588041"/>
                <a:gd name="connsiteX23-5103" fmla="*/ 1003993 w 1432618"/>
                <a:gd name="connsiteY23-5104" fmla="*/ 2308225 h 3588041"/>
                <a:gd name="connsiteX24-5105" fmla="*/ 896043 w 1432618"/>
                <a:gd name="connsiteY24-5106" fmla="*/ 2578100 h 3588041"/>
                <a:gd name="connsiteX25-5107" fmla="*/ 1213543 w 1432618"/>
                <a:gd name="connsiteY25-5108" fmla="*/ 2533650 h 3588041"/>
                <a:gd name="connsiteX26-5109" fmla="*/ 1432618 w 1432618"/>
                <a:gd name="connsiteY26-5110" fmla="*/ 2626519 h 3588041"/>
                <a:gd name="connsiteX27-5111" fmla="*/ 1188143 w 1432618"/>
                <a:gd name="connsiteY27-5112" fmla="*/ 2590800 h 3588041"/>
                <a:gd name="connsiteX28-5113" fmla="*/ 832543 w 1432618"/>
                <a:gd name="connsiteY28-5114" fmla="*/ 2733675 h 3588041"/>
                <a:gd name="connsiteX29-5115" fmla="*/ 689668 w 1432618"/>
                <a:gd name="connsiteY29-5116" fmla="*/ 3086100 h 3588041"/>
                <a:gd name="connsiteX30-5117" fmla="*/ 918268 w 1432618"/>
                <a:gd name="connsiteY30-5118" fmla="*/ 3419475 h 3588041"/>
                <a:gd name="connsiteX31-5119" fmla="*/ 1016693 w 1432618"/>
                <a:gd name="connsiteY31-5120" fmla="*/ 3581400 h 3588041"/>
                <a:gd name="connsiteX0-5121" fmla="*/ 1016693 w 1432618"/>
                <a:gd name="connsiteY0-5122" fmla="*/ 3581400 h 3588041"/>
                <a:gd name="connsiteX1-5123" fmla="*/ 591243 w 1432618"/>
                <a:gd name="connsiteY1-5124" fmla="*/ 3587750 h 3588041"/>
                <a:gd name="connsiteX2-5125" fmla="*/ 394393 w 1432618"/>
                <a:gd name="connsiteY2-5126" fmla="*/ 3076575 h 3588041"/>
                <a:gd name="connsiteX3-5127" fmla="*/ 746818 w 1432618"/>
                <a:gd name="connsiteY3-5128" fmla="*/ 2381250 h 3588041"/>
                <a:gd name="connsiteX4-5129" fmla="*/ 560128 w 1432618"/>
                <a:gd name="connsiteY4-5130" fmla="*/ 1922145 h 3588041"/>
                <a:gd name="connsiteX5-5131" fmla="*/ 58 w 1432618"/>
                <a:gd name="connsiteY5-5132" fmla="*/ 1870710 h 3588041"/>
                <a:gd name="connsiteX6-5133" fmla="*/ 394393 w 1432618"/>
                <a:gd name="connsiteY6-5134" fmla="*/ 1743075 h 3588041"/>
                <a:gd name="connsiteX7-5135" fmla="*/ 642043 w 1432618"/>
                <a:gd name="connsiteY7-5136" fmla="*/ 1876425 h 3588041"/>
                <a:gd name="connsiteX8-5137" fmla="*/ 689668 w 1432618"/>
                <a:gd name="connsiteY8-5138" fmla="*/ 1647825 h 3588041"/>
                <a:gd name="connsiteX9-5139" fmla="*/ 823018 w 1432618"/>
                <a:gd name="connsiteY9-5140" fmla="*/ 1333500 h 3588041"/>
                <a:gd name="connsiteX10-5141" fmla="*/ 763487 w 1432618"/>
                <a:gd name="connsiteY10-5142" fmla="*/ 823913 h 3588041"/>
                <a:gd name="connsiteX11-5143" fmla="*/ 388043 w 1432618"/>
                <a:gd name="connsiteY11-5144" fmla="*/ 695325 h 3588041"/>
                <a:gd name="connsiteX12-5145" fmla="*/ 781744 w 1432618"/>
                <a:gd name="connsiteY12-5146" fmla="*/ 724693 h 3588041"/>
                <a:gd name="connsiteX13-5147" fmla="*/ 799206 w 1432618"/>
                <a:gd name="connsiteY13-5148" fmla="*/ 441325 h 3588041"/>
                <a:gd name="connsiteX14-5149" fmla="*/ 886518 w 1432618"/>
                <a:gd name="connsiteY14-5150" fmla="*/ 0 h 3588041"/>
                <a:gd name="connsiteX15-5151" fmla="*/ 857943 w 1432618"/>
                <a:gd name="connsiteY15-5152" fmla="*/ 679450 h 3588041"/>
                <a:gd name="connsiteX16-5153" fmla="*/ 921443 w 1432618"/>
                <a:gd name="connsiteY16-5154" fmla="*/ 1047750 h 3588041"/>
                <a:gd name="connsiteX17-5155" fmla="*/ 930968 w 1432618"/>
                <a:gd name="connsiteY17-5156" fmla="*/ 1295400 h 3588041"/>
                <a:gd name="connsiteX18-5157" fmla="*/ 1086543 w 1432618"/>
                <a:gd name="connsiteY18-5158" fmla="*/ 1187450 h 3588041"/>
                <a:gd name="connsiteX19-5159" fmla="*/ 1375468 w 1432618"/>
                <a:gd name="connsiteY19-5160" fmla="*/ 1171575 h 3588041"/>
                <a:gd name="connsiteX20-5161" fmla="*/ 1108768 w 1432618"/>
                <a:gd name="connsiteY20-5162" fmla="*/ 1254125 h 3588041"/>
                <a:gd name="connsiteX21-5163" fmla="*/ 889693 w 1432618"/>
                <a:gd name="connsiteY21-5164" fmla="*/ 1527175 h 3588041"/>
                <a:gd name="connsiteX22-5165" fmla="*/ 835718 w 1432618"/>
                <a:gd name="connsiteY22-5166" fmla="*/ 1895475 h 3588041"/>
                <a:gd name="connsiteX23-5167" fmla="*/ 1003993 w 1432618"/>
                <a:gd name="connsiteY23-5168" fmla="*/ 2308225 h 3588041"/>
                <a:gd name="connsiteX24-5169" fmla="*/ 896043 w 1432618"/>
                <a:gd name="connsiteY24-5170" fmla="*/ 2578100 h 3588041"/>
                <a:gd name="connsiteX25-5171" fmla="*/ 1213543 w 1432618"/>
                <a:gd name="connsiteY25-5172" fmla="*/ 2533650 h 3588041"/>
                <a:gd name="connsiteX26-5173" fmla="*/ 1432618 w 1432618"/>
                <a:gd name="connsiteY26-5174" fmla="*/ 2626519 h 3588041"/>
                <a:gd name="connsiteX27-5175" fmla="*/ 1188143 w 1432618"/>
                <a:gd name="connsiteY27-5176" fmla="*/ 2590800 h 3588041"/>
                <a:gd name="connsiteX28-5177" fmla="*/ 832543 w 1432618"/>
                <a:gd name="connsiteY28-5178" fmla="*/ 2733675 h 3588041"/>
                <a:gd name="connsiteX29-5179" fmla="*/ 689668 w 1432618"/>
                <a:gd name="connsiteY29-5180" fmla="*/ 3086100 h 3588041"/>
                <a:gd name="connsiteX30-5181" fmla="*/ 918268 w 1432618"/>
                <a:gd name="connsiteY30-5182" fmla="*/ 3419475 h 3588041"/>
                <a:gd name="connsiteX31-5183" fmla="*/ 1016693 w 1432618"/>
                <a:gd name="connsiteY31-5184" fmla="*/ 3581400 h 3588041"/>
                <a:gd name="connsiteX0-5185" fmla="*/ 1016693 w 1432618"/>
                <a:gd name="connsiteY0-5186" fmla="*/ 3581400 h 3588041"/>
                <a:gd name="connsiteX1-5187" fmla="*/ 591243 w 1432618"/>
                <a:gd name="connsiteY1-5188" fmla="*/ 3587750 h 3588041"/>
                <a:gd name="connsiteX2-5189" fmla="*/ 394393 w 1432618"/>
                <a:gd name="connsiteY2-5190" fmla="*/ 3076575 h 3588041"/>
                <a:gd name="connsiteX3-5191" fmla="*/ 746818 w 1432618"/>
                <a:gd name="connsiteY3-5192" fmla="*/ 2381250 h 3588041"/>
                <a:gd name="connsiteX4-5193" fmla="*/ 560128 w 1432618"/>
                <a:gd name="connsiteY4-5194" fmla="*/ 1922145 h 3588041"/>
                <a:gd name="connsiteX5-5195" fmla="*/ 58 w 1432618"/>
                <a:gd name="connsiteY5-5196" fmla="*/ 1870710 h 3588041"/>
                <a:gd name="connsiteX6-5197" fmla="*/ 394393 w 1432618"/>
                <a:gd name="connsiteY6-5198" fmla="*/ 1743075 h 3588041"/>
                <a:gd name="connsiteX7-5199" fmla="*/ 642043 w 1432618"/>
                <a:gd name="connsiteY7-5200" fmla="*/ 1876425 h 3588041"/>
                <a:gd name="connsiteX8-5201" fmla="*/ 689668 w 1432618"/>
                <a:gd name="connsiteY8-5202" fmla="*/ 1647825 h 3588041"/>
                <a:gd name="connsiteX9-5203" fmla="*/ 823018 w 1432618"/>
                <a:gd name="connsiteY9-5204" fmla="*/ 1333500 h 3588041"/>
                <a:gd name="connsiteX10-5205" fmla="*/ 763487 w 1432618"/>
                <a:gd name="connsiteY10-5206" fmla="*/ 823913 h 3588041"/>
                <a:gd name="connsiteX11-5207" fmla="*/ 388043 w 1432618"/>
                <a:gd name="connsiteY11-5208" fmla="*/ 695325 h 3588041"/>
                <a:gd name="connsiteX12-5209" fmla="*/ 781744 w 1432618"/>
                <a:gd name="connsiteY12-5210" fmla="*/ 724693 h 3588041"/>
                <a:gd name="connsiteX13-5211" fmla="*/ 799206 w 1432618"/>
                <a:gd name="connsiteY13-5212" fmla="*/ 441325 h 3588041"/>
                <a:gd name="connsiteX14-5213" fmla="*/ 886518 w 1432618"/>
                <a:gd name="connsiteY14-5214" fmla="*/ 0 h 3588041"/>
                <a:gd name="connsiteX15-5215" fmla="*/ 857943 w 1432618"/>
                <a:gd name="connsiteY15-5216" fmla="*/ 679450 h 3588041"/>
                <a:gd name="connsiteX16-5217" fmla="*/ 921443 w 1432618"/>
                <a:gd name="connsiteY16-5218" fmla="*/ 1047750 h 3588041"/>
                <a:gd name="connsiteX17-5219" fmla="*/ 930968 w 1432618"/>
                <a:gd name="connsiteY17-5220" fmla="*/ 1295400 h 3588041"/>
                <a:gd name="connsiteX18-5221" fmla="*/ 1099243 w 1432618"/>
                <a:gd name="connsiteY18-5222" fmla="*/ 1190625 h 3588041"/>
                <a:gd name="connsiteX19-5223" fmla="*/ 1375468 w 1432618"/>
                <a:gd name="connsiteY19-5224" fmla="*/ 1171575 h 3588041"/>
                <a:gd name="connsiteX20-5225" fmla="*/ 1108768 w 1432618"/>
                <a:gd name="connsiteY20-5226" fmla="*/ 1254125 h 3588041"/>
                <a:gd name="connsiteX21-5227" fmla="*/ 889693 w 1432618"/>
                <a:gd name="connsiteY21-5228" fmla="*/ 1527175 h 3588041"/>
                <a:gd name="connsiteX22-5229" fmla="*/ 835718 w 1432618"/>
                <a:gd name="connsiteY22-5230" fmla="*/ 1895475 h 3588041"/>
                <a:gd name="connsiteX23-5231" fmla="*/ 1003993 w 1432618"/>
                <a:gd name="connsiteY23-5232" fmla="*/ 2308225 h 3588041"/>
                <a:gd name="connsiteX24-5233" fmla="*/ 896043 w 1432618"/>
                <a:gd name="connsiteY24-5234" fmla="*/ 2578100 h 3588041"/>
                <a:gd name="connsiteX25-5235" fmla="*/ 1213543 w 1432618"/>
                <a:gd name="connsiteY25-5236" fmla="*/ 2533650 h 3588041"/>
                <a:gd name="connsiteX26-5237" fmla="*/ 1432618 w 1432618"/>
                <a:gd name="connsiteY26-5238" fmla="*/ 2626519 h 3588041"/>
                <a:gd name="connsiteX27-5239" fmla="*/ 1188143 w 1432618"/>
                <a:gd name="connsiteY27-5240" fmla="*/ 2590800 h 3588041"/>
                <a:gd name="connsiteX28-5241" fmla="*/ 832543 w 1432618"/>
                <a:gd name="connsiteY28-5242" fmla="*/ 2733675 h 3588041"/>
                <a:gd name="connsiteX29-5243" fmla="*/ 689668 w 1432618"/>
                <a:gd name="connsiteY29-5244" fmla="*/ 3086100 h 3588041"/>
                <a:gd name="connsiteX30-5245" fmla="*/ 918268 w 1432618"/>
                <a:gd name="connsiteY30-5246" fmla="*/ 3419475 h 3588041"/>
                <a:gd name="connsiteX31-5247" fmla="*/ 1016693 w 1432618"/>
                <a:gd name="connsiteY31-5248" fmla="*/ 3581400 h 3588041"/>
                <a:gd name="connsiteX0-5249" fmla="*/ 1016693 w 1432618"/>
                <a:gd name="connsiteY0-5250" fmla="*/ 3581400 h 3588041"/>
                <a:gd name="connsiteX1-5251" fmla="*/ 591243 w 1432618"/>
                <a:gd name="connsiteY1-5252" fmla="*/ 3587750 h 3588041"/>
                <a:gd name="connsiteX2-5253" fmla="*/ 394393 w 1432618"/>
                <a:gd name="connsiteY2-5254" fmla="*/ 3076575 h 3588041"/>
                <a:gd name="connsiteX3-5255" fmla="*/ 746818 w 1432618"/>
                <a:gd name="connsiteY3-5256" fmla="*/ 2381250 h 3588041"/>
                <a:gd name="connsiteX4-5257" fmla="*/ 560128 w 1432618"/>
                <a:gd name="connsiteY4-5258" fmla="*/ 1922145 h 3588041"/>
                <a:gd name="connsiteX5-5259" fmla="*/ 58 w 1432618"/>
                <a:gd name="connsiteY5-5260" fmla="*/ 1870710 h 3588041"/>
                <a:gd name="connsiteX6-5261" fmla="*/ 394393 w 1432618"/>
                <a:gd name="connsiteY6-5262" fmla="*/ 1743075 h 3588041"/>
                <a:gd name="connsiteX7-5263" fmla="*/ 642043 w 1432618"/>
                <a:gd name="connsiteY7-5264" fmla="*/ 1876425 h 3588041"/>
                <a:gd name="connsiteX8-5265" fmla="*/ 689668 w 1432618"/>
                <a:gd name="connsiteY8-5266" fmla="*/ 1647825 h 3588041"/>
                <a:gd name="connsiteX9-5267" fmla="*/ 823018 w 1432618"/>
                <a:gd name="connsiteY9-5268" fmla="*/ 1333500 h 3588041"/>
                <a:gd name="connsiteX10-5269" fmla="*/ 763487 w 1432618"/>
                <a:gd name="connsiteY10-5270" fmla="*/ 823913 h 3588041"/>
                <a:gd name="connsiteX11-5271" fmla="*/ 388043 w 1432618"/>
                <a:gd name="connsiteY11-5272" fmla="*/ 695325 h 3588041"/>
                <a:gd name="connsiteX12-5273" fmla="*/ 781744 w 1432618"/>
                <a:gd name="connsiteY12-5274" fmla="*/ 724693 h 3588041"/>
                <a:gd name="connsiteX13-5275" fmla="*/ 799206 w 1432618"/>
                <a:gd name="connsiteY13-5276" fmla="*/ 441325 h 3588041"/>
                <a:gd name="connsiteX14-5277" fmla="*/ 886518 w 1432618"/>
                <a:gd name="connsiteY14-5278" fmla="*/ 0 h 3588041"/>
                <a:gd name="connsiteX15-5279" fmla="*/ 857943 w 1432618"/>
                <a:gd name="connsiteY15-5280" fmla="*/ 679450 h 3588041"/>
                <a:gd name="connsiteX16-5281" fmla="*/ 921443 w 1432618"/>
                <a:gd name="connsiteY16-5282" fmla="*/ 1047750 h 3588041"/>
                <a:gd name="connsiteX17-5283" fmla="*/ 930968 w 1432618"/>
                <a:gd name="connsiteY17-5284" fmla="*/ 1295400 h 3588041"/>
                <a:gd name="connsiteX18-5285" fmla="*/ 1099243 w 1432618"/>
                <a:gd name="connsiteY18-5286" fmla="*/ 1190625 h 3588041"/>
                <a:gd name="connsiteX19-5287" fmla="*/ 1375468 w 1432618"/>
                <a:gd name="connsiteY19-5288" fmla="*/ 1171575 h 3588041"/>
                <a:gd name="connsiteX20-5289" fmla="*/ 1108768 w 1432618"/>
                <a:gd name="connsiteY20-5290" fmla="*/ 1254125 h 3588041"/>
                <a:gd name="connsiteX21-5291" fmla="*/ 889693 w 1432618"/>
                <a:gd name="connsiteY21-5292" fmla="*/ 1527175 h 3588041"/>
                <a:gd name="connsiteX22-5293" fmla="*/ 835718 w 1432618"/>
                <a:gd name="connsiteY22-5294" fmla="*/ 1895475 h 3588041"/>
                <a:gd name="connsiteX23-5295" fmla="*/ 1003993 w 1432618"/>
                <a:gd name="connsiteY23-5296" fmla="*/ 2308225 h 3588041"/>
                <a:gd name="connsiteX24-5297" fmla="*/ 896043 w 1432618"/>
                <a:gd name="connsiteY24-5298" fmla="*/ 2578100 h 3588041"/>
                <a:gd name="connsiteX25-5299" fmla="*/ 1213543 w 1432618"/>
                <a:gd name="connsiteY25-5300" fmla="*/ 2533650 h 3588041"/>
                <a:gd name="connsiteX26-5301" fmla="*/ 1432618 w 1432618"/>
                <a:gd name="connsiteY26-5302" fmla="*/ 2626519 h 3588041"/>
                <a:gd name="connsiteX27-5303" fmla="*/ 1188143 w 1432618"/>
                <a:gd name="connsiteY27-5304" fmla="*/ 2590800 h 3588041"/>
                <a:gd name="connsiteX28-5305" fmla="*/ 832543 w 1432618"/>
                <a:gd name="connsiteY28-5306" fmla="*/ 2733675 h 3588041"/>
                <a:gd name="connsiteX29-5307" fmla="*/ 689668 w 1432618"/>
                <a:gd name="connsiteY29-5308" fmla="*/ 3086100 h 3588041"/>
                <a:gd name="connsiteX30-5309" fmla="*/ 918268 w 1432618"/>
                <a:gd name="connsiteY30-5310" fmla="*/ 3419475 h 3588041"/>
                <a:gd name="connsiteX31-5311" fmla="*/ 1016693 w 1432618"/>
                <a:gd name="connsiteY31-5312" fmla="*/ 3581400 h 3588041"/>
                <a:gd name="connsiteX0-5313" fmla="*/ 1016693 w 1432618"/>
                <a:gd name="connsiteY0-5314" fmla="*/ 3581400 h 3588041"/>
                <a:gd name="connsiteX1-5315" fmla="*/ 591243 w 1432618"/>
                <a:gd name="connsiteY1-5316" fmla="*/ 3587750 h 3588041"/>
                <a:gd name="connsiteX2-5317" fmla="*/ 394393 w 1432618"/>
                <a:gd name="connsiteY2-5318" fmla="*/ 3076575 h 3588041"/>
                <a:gd name="connsiteX3-5319" fmla="*/ 746818 w 1432618"/>
                <a:gd name="connsiteY3-5320" fmla="*/ 2381250 h 3588041"/>
                <a:gd name="connsiteX4-5321" fmla="*/ 560128 w 1432618"/>
                <a:gd name="connsiteY4-5322" fmla="*/ 1922145 h 3588041"/>
                <a:gd name="connsiteX5-5323" fmla="*/ 58 w 1432618"/>
                <a:gd name="connsiteY5-5324" fmla="*/ 1870710 h 3588041"/>
                <a:gd name="connsiteX6-5325" fmla="*/ 394393 w 1432618"/>
                <a:gd name="connsiteY6-5326" fmla="*/ 1743075 h 3588041"/>
                <a:gd name="connsiteX7-5327" fmla="*/ 642043 w 1432618"/>
                <a:gd name="connsiteY7-5328" fmla="*/ 1876425 h 3588041"/>
                <a:gd name="connsiteX8-5329" fmla="*/ 689668 w 1432618"/>
                <a:gd name="connsiteY8-5330" fmla="*/ 1647825 h 3588041"/>
                <a:gd name="connsiteX9-5331" fmla="*/ 823018 w 1432618"/>
                <a:gd name="connsiteY9-5332" fmla="*/ 1333500 h 3588041"/>
                <a:gd name="connsiteX10-5333" fmla="*/ 763487 w 1432618"/>
                <a:gd name="connsiteY10-5334" fmla="*/ 823913 h 3588041"/>
                <a:gd name="connsiteX11-5335" fmla="*/ 388043 w 1432618"/>
                <a:gd name="connsiteY11-5336" fmla="*/ 695325 h 3588041"/>
                <a:gd name="connsiteX12-5337" fmla="*/ 781744 w 1432618"/>
                <a:gd name="connsiteY12-5338" fmla="*/ 724693 h 3588041"/>
                <a:gd name="connsiteX13-5339" fmla="*/ 799206 w 1432618"/>
                <a:gd name="connsiteY13-5340" fmla="*/ 441325 h 3588041"/>
                <a:gd name="connsiteX14-5341" fmla="*/ 886518 w 1432618"/>
                <a:gd name="connsiteY14-5342" fmla="*/ 0 h 3588041"/>
                <a:gd name="connsiteX15-5343" fmla="*/ 857943 w 1432618"/>
                <a:gd name="connsiteY15-5344" fmla="*/ 679450 h 3588041"/>
                <a:gd name="connsiteX16-5345" fmla="*/ 921443 w 1432618"/>
                <a:gd name="connsiteY16-5346" fmla="*/ 1047750 h 3588041"/>
                <a:gd name="connsiteX17-5347" fmla="*/ 930968 w 1432618"/>
                <a:gd name="connsiteY17-5348" fmla="*/ 1295400 h 3588041"/>
                <a:gd name="connsiteX18-5349" fmla="*/ 1099243 w 1432618"/>
                <a:gd name="connsiteY18-5350" fmla="*/ 1190625 h 3588041"/>
                <a:gd name="connsiteX19-5351" fmla="*/ 1375468 w 1432618"/>
                <a:gd name="connsiteY19-5352" fmla="*/ 1171575 h 3588041"/>
                <a:gd name="connsiteX20-5353" fmla="*/ 1108768 w 1432618"/>
                <a:gd name="connsiteY20-5354" fmla="*/ 1254125 h 3588041"/>
                <a:gd name="connsiteX21-5355" fmla="*/ 889693 w 1432618"/>
                <a:gd name="connsiteY21-5356" fmla="*/ 1527175 h 3588041"/>
                <a:gd name="connsiteX22-5357" fmla="*/ 835718 w 1432618"/>
                <a:gd name="connsiteY22-5358" fmla="*/ 1895475 h 3588041"/>
                <a:gd name="connsiteX23-5359" fmla="*/ 1003993 w 1432618"/>
                <a:gd name="connsiteY23-5360" fmla="*/ 2308225 h 3588041"/>
                <a:gd name="connsiteX24-5361" fmla="*/ 896043 w 1432618"/>
                <a:gd name="connsiteY24-5362" fmla="*/ 2578100 h 3588041"/>
                <a:gd name="connsiteX25-5363" fmla="*/ 1213543 w 1432618"/>
                <a:gd name="connsiteY25-5364" fmla="*/ 2533650 h 3588041"/>
                <a:gd name="connsiteX26-5365" fmla="*/ 1432618 w 1432618"/>
                <a:gd name="connsiteY26-5366" fmla="*/ 2626519 h 3588041"/>
                <a:gd name="connsiteX27-5367" fmla="*/ 1188143 w 1432618"/>
                <a:gd name="connsiteY27-5368" fmla="*/ 2590800 h 3588041"/>
                <a:gd name="connsiteX28-5369" fmla="*/ 832543 w 1432618"/>
                <a:gd name="connsiteY28-5370" fmla="*/ 2733675 h 3588041"/>
                <a:gd name="connsiteX29-5371" fmla="*/ 689668 w 1432618"/>
                <a:gd name="connsiteY29-5372" fmla="*/ 3086100 h 3588041"/>
                <a:gd name="connsiteX30-5373" fmla="*/ 918268 w 1432618"/>
                <a:gd name="connsiteY30-5374" fmla="*/ 3419475 h 3588041"/>
                <a:gd name="connsiteX31-5375" fmla="*/ 1016693 w 1432618"/>
                <a:gd name="connsiteY31-5376" fmla="*/ 3581400 h 3588041"/>
                <a:gd name="connsiteX0-5377" fmla="*/ 1016693 w 1432618"/>
                <a:gd name="connsiteY0-5378" fmla="*/ 3581400 h 3588041"/>
                <a:gd name="connsiteX1-5379" fmla="*/ 591243 w 1432618"/>
                <a:gd name="connsiteY1-5380" fmla="*/ 3587750 h 3588041"/>
                <a:gd name="connsiteX2-5381" fmla="*/ 394393 w 1432618"/>
                <a:gd name="connsiteY2-5382" fmla="*/ 3076575 h 3588041"/>
                <a:gd name="connsiteX3-5383" fmla="*/ 746818 w 1432618"/>
                <a:gd name="connsiteY3-5384" fmla="*/ 2381250 h 3588041"/>
                <a:gd name="connsiteX4-5385" fmla="*/ 560128 w 1432618"/>
                <a:gd name="connsiteY4-5386" fmla="*/ 1922145 h 3588041"/>
                <a:gd name="connsiteX5-5387" fmla="*/ 58 w 1432618"/>
                <a:gd name="connsiteY5-5388" fmla="*/ 1870710 h 3588041"/>
                <a:gd name="connsiteX6-5389" fmla="*/ 394393 w 1432618"/>
                <a:gd name="connsiteY6-5390" fmla="*/ 1743075 h 3588041"/>
                <a:gd name="connsiteX7-5391" fmla="*/ 642043 w 1432618"/>
                <a:gd name="connsiteY7-5392" fmla="*/ 1876425 h 3588041"/>
                <a:gd name="connsiteX8-5393" fmla="*/ 689668 w 1432618"/>
                <a:gd name="connsiteY8-5394" fmla="*/ 1647825 h 3588041"/>
                <a:gd name="connsiteX9-5395" fmla="*/ 823018 w 1432618"/>
                <a:gd name="connsiteY9-5396" fmla="*/ 1333500 h 3588041"/>
                <a:gd name="connsiteX10-5397" fmla="*/ 763487 w 1432618"/>
                <a:gd name="connsiteY10-5398" fmla="*/ 823913 h 3588041"/>
                <a:gd name="connsiteX11-5399" fmla="*/ 388043 w 1432618"/>
                <a:gd name="connsiteY11-5400" fmla="*/ 695325 h 3588041"/>
                <a:gd name="connsiteX12-5401" fmla="*/ 781744 w 1432618"/>
                <a:gd name="connsiteY12-5402" fmla="*/ 724693 h 3588041"/>
                <a:gd name="connsiteX13-5403" fmla="*/ 799206 w 1432618"/>
                <a:gd name="connsiteY13-5404" fmla="*/ 441325 h 3588041"/>
                <a:gd name="connsiteX14-5405" fmla="*/ 886518 w 1432618"/>
                <a:gd name="connsiteY14-5406" fmla="*/ 0 h 3588041"/>
                <a:gd name="connsiteX15-5407" fmla="*/ 857943 w 1432618"/>
                <a:gd name="connsiteY15-5408" fmla="*/ 679450 h 3588041"/>
                <a:gd name="connsiteX16-5409" fmla="*/ 921443 w 1432618"/>
                <a:gd name="connsiteY16-5410" fmla="*/ 1047750 h 3588041"/>
                <a:gd name="connsiteX17-5411" fmla="*/ 930968 w 1432618"/>
                <a:gd name="connsiteY17-5412" fmla="*/ 1295400 h 3588041"/>
                <a:gd name="connsiteX18-5413" fmla="*/ 1102418 w 1432618"/>
                <a:gd name="connsiteY18-5414" fmla="*/ 1187450 h 3588041"/>
                <a:gd name="connsiteX19-5415" fmla="*/ 1375468 w 1432618"/>
                <a:gd name="connsiteY19-5416" fmla="*/ 1171575 h 3588041"/>
                <a:gd name="connsiteX20-5417" fmla="*/ 1108768 w 1432618"/>
                <a:gd name="connsiteY20-5418" fmla="*/ 1254125 h 3588041"/>
                <a:gd name="connsiteX21-5419" fmla="*/ 889693 w 1432618"/>
                <a:gd name="connsiteY21-5420" fmla="*/ 1527175 h 3588041"/>
                <a:gd name="connsiteX22-5421" fmla="*/ 835718 w 1432618"/>
                <a:gd name="connsiteY22-5422" fmla="*/ 1895475 h 3588041"/>
                <a:gd name="connsiteX23-5423" fmla="*/ 1003993 w 1432618"/>
                <a:gd name="connsiteY23-5424" fmla="*/ 2308225 h 3588041"/>
                <a:gd name="connsiteX24-5425" fmla="*/ 896043 w 1432618"/>
                <a:gd name="connsiteY24-5426" fmla="*/ 2578100 h 3588041"/>
                <a:gd name="connsiteX25-5427" fmla="*/ 1213543 w 1432618"/>
                <a:gd name="connsiteY25-5428" fmla="*/ 2533650 h 3588041"/>
                <a:gd name="connsiteX26-5429" fmla="*/ 1432618 w 1432618"/>
                <a:gd name="connsiteY26-5430" fmla="*/ 2626519 h 3588041"/>
                <a:gd name="connsiteX27-5431" fmla="*/ 1188143 w 1432618"/>
                <a:gd name="connsiteY27-5432" fmla="*/ 2590800 h 3588041"/>
                <a:gd name="connsiteX28-5433" fmla="*/ 832543 w 1432618"/>
                <a:gd name="connsiteY28-5434" fmla="*/ 2733675 h 3588041"/>
                <a:gd name="connsiteX29-5435" fmla="*/ 689668 w 1432618"/>
                <a:gd name="connsiteY29-5436" fmla="*/ 3086100 h 3588041"/>
                <a:gd name="connsiteX30-5437" fmla="*/ 918268 w 1432618"/>
                <a:gd name="connsiteY30-5438" fmla="*/ 3419475 h 3588041"/>
                <a:gd name="connsiteX31-5439" fmla="*/ 1016693 w 1432618"/>
                <a:gd name="connsiteY31-5440" fmla="*/ 3581400 h 3588041"/>
                <a:gd name="connsiteX0-5441" fmla="*/ 1016693 w 1432618"/>
                <a:gd name="connsiteY0-5442" fmla="*/ 3581400 h 3588041"/>
                <a:gd name="connsiteX1-5443" fmla="*/ 591243 w 1432618"/>
                <a:gd name="connsiteY1-5444" fmla="*/ 3587750 h 3588041"/>
                <a:gd name="connsiteX2-5445" fmla="*/ 394393 w 1432618"/>
                <a:gd name="connsiteY2-5446" fmla="*/ 3076575 h 3588041"/>
                <a:gd name="connsiteX3-5447" fmla="*/ 746818 w 1432618"/>
                <a:gd name="connsiteY3-5448" fmla="*/ 2381250 h 3588041"/>
                <a:gd name="connsiteX4-5449" fmla="*/ 560128 w 1432618"/>
                <a:gd name="connsiteY4-5450" fmla="*/ 1922145 h 3588041"/>
                <a:gd name="connsiteX5-5451" fmla="*/ 58 w 1432618"/>
                <a:gd name="connsiteY5-5452" fmla="*/ 1870710 h 3588041"/>
                <a:gd name="connsiteX6-5453" fmla="*/ 394393 w 1432618"/>
                <a:gd name="connsiteY6-5454" fmla="*/ 1743075 h 3588041"/>
                <a:gd name="connsiteX7-5455" fmla="*/ 642043 w 1432618"/>
                <a:gd name="connsiteY7-5456" fmla="*/ 1876425 h 3588041"/>
                <a:gd name="connsiteX8-5457" fmla="*/ 689668 w 1432618"/>
                <a:gd name="connsiteY8-5458" fmla="*/ 1647825 h 3588041"/>
                <a:gd name="connsiteX9-5459" fmla="*/ 823018 w 1432618"/>
                <a:gd name="connsiteY9-5460" fmla="*/ 1333500 h 3588041"/>
                <a:gd name="connsiteX10-5461" fmla="*/ 763487 w 1432618"/>
                <a:gd name="connsiteY10-5462" fmla="*/ 823913 h 3588041"/>
                <a:gd name="connsiteX11-5463" fmla="*/ 388043 w 1432618"/>
                <a:gd name="connsiteY11-5464" fmla="*/ 695325 h 3588041"/>
                <a:gd name="connsiteX12-5465" fmla="*/ 781744 w 1432618"/>
                <a:gd name="connsiteY12-5466" fmla="*/ 724693 h 3588041"/>
                <a:gd name="connsiteX13-5467" fmla="*/ 799206 w 1432618"/>
                <a:gd name="connsiteY13-5468" fmla="*/ 441325 h 3588041"/>
                <a:gd name="connsiteX14-5469" fmla="*/ 886518 w 1432618"/>
                <a:gd name="connsiteY14-5470" fmla="*/ 0 h 3588041"/>
                <a:gd name="connsiteX15-5471" fmla="*/ 857943 w 1432618"/>
                <a:gd name="connsiteY15-5472" fmla="*/ 679450 h 3588041"/>
                <a:gd name="connsiteX16-5473" fmla="*/ 921443 w 1432618"/>
                <a:gd name="connsiteY16-5474" fmla="*/ 1047750 h 3588041"/>
                <a:gd name="connsiteX17-5475" fmla="*/ 930968 w 1432618"/>
                <a:gd name="connsiteY17-5476" fmla="*/ 1295400 h 3588041"/>
                <a:gd name="connsiteX18-5477" fmla="*/ 1102418 w 1432618"/>
                <a:gd name="connsiteY18-5478" fmla="*/ 1187450 h 3588041"/>
                <a:gd name="connsiteX19-5479" fmla="*/ 1375468 w 1432618"/>
                <a:gd name="connsiteY19-5480" fmla="*/ 1171575 h 3588041"/>
                <a:gd name="connsiteX20-5481" fmla="*/ 1108768 w 1432618"/>
                <a:gd name="connsiteY20-5482" fmla="*/ 1254125 h 3588041"/>
                <a:gd name="connsiteX21-5483" fmla="*/ 889693 w 1432618"/>
                <a:gd name="connsiteY21-5484" fmla="*/ 1527175 h 3588041"/>
                <a:gd name="connsiteX22-5485" fmla="*/ 835718 w 1432618"/>
                <a:gd name="connsiteY22-5486" fmla="*/ 1895475 h 3588041"/>
                <a:gd name="connsiteX23-5487" fmla="*/ 1003993 w 1432618"/>
                <a:gd name="connsiteY23-5488" fmla="*/ 2308225 h 3588041"/>
                <a:gd name="connsiteX24-5489" fmla="*/ 896043 w 1432618"/>
                <a:gd name="connsiteY24-5490" fmla="*/ 2578100 h 3588041"/>
                <a:gd name="connsiteX25-5491" fmla="*/ 1213543 w 1432618"/>
                <a:gd name="connsiteY25-5492" fmla="*/ 2533650 h 3588041"/>
                <a:gd name="connsiteX26-5493" fmla="*/ 1432618 w 1432618"/>
                <a:gd name="connsiteY26-5494" fmla="*/ 2626519 h 3588041"/>
                <a:gd name="connsiteX27-5495" fmla="*/ 1188143 w 1432618"/>
                <a:gd name="connsiteY27-5496" fmla="*/ 2590800 h 3588041"/>
                <a:gd name="connsiteX28-5497" fmla="*/ 832543 w 1432618"/>
                <a:gd name="connsiteY28-5498" fmla="*/ 2733675 h 3588041"/>
                <a:gd name="connsiteX29-5499" fmla="*/ 689668 w 1432618"/>
                <a:gd name="connsiteY29-5500" fmla="*/ 3086100 h 3588041"/>
                <a:gd name="connsiteX30-5501" fmla="*/ 918268 w 1432618"/>
                <a:gd name="connsiteY30-5502" fmla="*/ 3419475 h 3588041"/>
                <a:gd name="connsiteX31-5503" fmla="*/ 1016693 w 1432618"/>
                <a:gd name="connsiteY31-5504" fmla="*/ 3581400 h 3588041"/>
                <a:gd name="connsiteX0-5505" fmla="*/ 1016693 w 1432618"/>
                <a:gd name="connsiteY0-5506" fmla="*/ 3581400 h 3588041"/>
                <a:gd name="connsiteX1-5507" fmla="*/ 591243 w 1432618"/>
                <a:gd name="connsiteY1-5508" fmla="*/ 3587750 h 3588041"/>
                <a:gd name="connsiteX2-5509" fmla="*/ 394393 w 1432618"/>
                <a:gd name="connsiteY2-5510" fmla="*/ 3076575 h 3588041"/>
                <a:gd name="connsiteX3-5511" fmla="*/ 746818 w 1432618"/>
                <a:gd name="connsiteY3-5512" fmla="*/ 2381250 h 3588041"/>
                <a:gd name="connsiteX4-5513" fmla="*/ 560128 w 1432618"/>
                <a:gd name="connsiteY4-5514" fmla="*/ 1922145 h 3588041"/>
                <a:gd name="connsiteX5-5515" fmla="*/ 58 w 1432618"/>
                <a:gd name="connsiteY5-5516" fmla="*/ 1870710 h 3588041"/>
                <a:gd name="connsiteX6-5517" fmla="*/ 394393 w 1432618"/>
                <a:gd name="connsiteY6-5518" fmla="*/ 1743075 h 3588041"/>
                <a:gd name="connsiteX7-5519" fmla="*/ 642043 w 1432618"/>
                <a:gd name="connsiteY7-5520" fmla="*/ 1876425 h 3588041"/>
                <a:gd name="connsiteX8-5521" fmla="*/ 705543 w 1432618"/>
                <a:gd name="connsiteY8-5522" fmla="*/ 1647825 h 3588041"/>
                <a:gd name="connsiteX9-5523" fmla="*/ 823018 w 1432618"/>
                <a:gd name="connsiteY9-5524" fmla="*/ 1333500 h 3588041"/>
                <a:gd name="connsiteX10-5525" fmla="*/ 763487 w 1432618"/>
                <a:gd name="connsiteY10-5526" fmla="*/ 823913 h 3588041"/>
                <a:gd name="connsiteX11-5527" fmla="*/ 388043 w 1432618"/>
                <a:gd name="connsiteY11-5528" fmla="*/ 695325 h 3588041"/>
                <a:gd name="connsiteX12-5529" fmla="*/ 781744 w 1432618"/>
                <a:gd name="connsiteY12-5530" fmla="*/ 724693 h 3588041"/>
                <a:gd name="connsiteX13-5531" fmla="*/ 799206 w 1432618"/>
                <a:gd name="connsiteY13-5532" fmla="*/ 441325 h 3588041"/>
                <a:gd name="connsiteX14-5533" fmla="*/ 886518 w 1432618"/>
                <a:gd name="connsiteY14-5534" fmla="*/ 0 h 3588041"/>
                <a:gd name="connsiteX15-5535" fmla="*/ 857943 w 1432618"/>
                <a:gd name="connsiteY15-5536" fmla="*/ 679450 h 3588041"/>
                <a:gd name="connsiteX16-5537" fmla="*/ 921443 w 1432618"/>
                <a:gd name="connsiteY16-5538" fmla="*/ 1047750 h 3588041"/>
                <a:gd name="connsiteX17-5539" fmla="*/ 930968 w 1432618"/>
                <a:gd name="connsiteY17-5540" fmla="*/ 1295400 h 3588041"/>
                <a:gd name="connsiteX18-5541" fmla="*/ 1102418 w 1432618"/>
                <a:gd name="connsiteY18-5542" fmla="*/ 1187450 h 3588041"/>
                <a:gd name="connsiteX19-5543" fmla="*/ 1375468 w 1432618"/>
                <a:gd name="connsiteY19-5544" fmla="*/ 1171575 h 3588041"/>
                <a:gd name="connsiteX20-5545" fmla="*/ 1108768 w 1432618"/>
                <a:gd name="connsiteY20-5546" fmla="*/ 1254125 h 3588041"/>
                <a:gd name="connsiteX21-5547" fmla="*/ 889693 w 1432618"/>
                <a:gd name="connsiteY21-5548" fmla="*/ 1527175 h 3588041"/>
                <a:gd name="connsiteX22-5549" fmla="*/ 835718 w 1432618"/>
                <a:gd name="connsiteY22-5550" fmla="*/ 1895475 h 3588041"/>
                <a:gd name="connsiteX23-5551" fmla="*/ 1003993 w 1432618"/>
                <a:gd name="connsiteY23-5552" fmla="*/ 2308225 h 3588041"/>
                <a:gd name="connsiteX24-5553" fmla="*/ 896043 w 1432618"/>
                <a:gd name="connsiteY24-5554" fmla="*/ 2578100 h 3588041"/>
                <a:gd name="connsiteX25-5555" fmla="*/ 1213543 w 1432618"/>
                <a:gd name="connsiteY25-5556" fmla="*/ 2533650 h 3588041"/>
                <a:gd name="connsiteX26-5557" fmla="*/ 1432618 w 1432618"/>
                <a:gd name="connsiteY26-5558" fmla="*/ 2626519 h 3588041"/>
                <a:gd name="connsiteX27-5559" fmla="*/ 1188143 w 1432618"/>
                <a:gd name="connsiteY27-5560" fmla="*/ 2590800 h 3588041"/>
                <a:gd name="connsiteX28-5561" fmla="*/ 832543 w 1432618"/>
                <a:gd name="connsiteY28-5562" fmla="*/ 2733675 h 3588041"/>
                <a:gd name="connsiteX29-5563" fmla="*/ 689668 w 1432618"/>
                <a:gd name="connsiteY29-5564" fmla="*/ 3086100 h 3588041"/>
                <a:gd name="connsiteX30-5565" fmla="*/ 918268 w 1432618"/>
                <a:gd name="connsiteY30-5566" fmla="*/ 3419475 h 3588041"/>
                <a:gd name="connsiteX31-5567" fmla="*/ 1016693 w 1432618"/>
                <a:gd name="connsiteY31-5568" fmla="*/ 3581400 h 3588041"/>
                <a:gd name="connsiteX0-5569" fmla="*/ 1016693 w 1432618"/>
                <a:gd name="connsiteY0-5570" fmla="*/ 3581400 h 3588041"/>
                <a:gd name="connsiteX1-5571" fmla="*/ 591243 w 1432618"/>
                <a:gd name="connsiteY1-5572" fmla="*/ 3587750 h 3588041"/>
                <a:gd name="connsiteX2-5573" fmla="*/ 394393 w 1432618"/>
                <a:gd name="connsiteY2-5574" fmla="*/ 3076575 h 3588041"/>
                <a:gd name="connsiteX3-5575" fmla="*/ 746818 w 1432618"/>
                <a:gd name="connsiteY3-5576" fmla="*/ 2381250 h 3588041"/>
                <a:gd name="connsiteX4-5577" fmla="*/ 560128 w 1432618"/>
                <a:gd name="connsiteY4-5578" fmla="*/ 1922145 h 3588041"/>
                <a:gd name="connsiteX5-5579" fmla="*/ 58 w 1432618"/>
                <a:gd name="connsiteY5-5580" fmla="*/ 1870710 h 3588041"/>
                <a:gd name="connsiteX6-5581" fmla="*/ 394393 w 1432618"/>
                <a:gd name="connsiteY6-5582" fmla="*/ 1743075 h 3588041"/>
                <a:gd name="connsiteX7-5583" fmla="*/ 642043 w 1432618"/>
                <a:gd name="connsiteY7-5584" fmla="*/ 1876425 h 3588041"/>
                <a:gd name="connsiteX8-5585" fmla="*/ 705543 w 1432618"/>
                <a:gd name="connsiteY8-5586" fmla="*/ 1647825 h 3588041"/>
                <a:gd name="connsiteX9-5587" fmla="*/ 823018 w 1432618"/>
                <a:gd name="connsiteY9-5588" fmla="*/ 1333500 h 3588041"/>
                <a:gd name="connsiteX10-5589" fmla="*/ 763487 w 1432618"/>
                <a:gd name="connsiteY10-5590" fmla="*/ 823913 h 3588041"/>
                <a:gd name="connsiteX11-5591" fmla="*/ 388043 w 1432618"/>
                <a:gd name="connsiteY11-5592" fmla="*/ 695325 h 3588041"/>
                <a:gd name="connsiteX12-5593" fmla="*/ 781744 w 1432618"/>
                <a:gd name="connsiteY12-5594" fmla="*/ 724693 h 3588041"/>
                <a:gd name="connsiteX13-5595" fmla="*/ 799206 w 1432618"/>
                <a:gd name="connsiteY13-5596" fmla="*/ 441325 h 3588041"/>
                <a:gd name="connsiteX14-5597" fmla="*/ 886518 w 1432618"/>
                <a:gd name="connsiteY14-5598" fmla="*/ 0 h 3588041"/>
                <a:gd name="connsiteX15-5599" fmla="*/ 857943 w 1432618"/>
                <a:gd name="connsiteY15-5600" fmla="*/ 679450 h 3588041"/>
                <a:gd name="connsiteX16-5601" fmla="*/ 921443 w 1432618"/>
                <a:gd name="connsiteY16-5602" fmla="*/ 1047750 h 3588041"/>
                <a:gd name="connsiteX17-5603" fmla="*/ 930968 w 1432618"/>
                <a:gd name="connsiteY17-5604" fmla="*/ 1295400 h 3588041"/>
                <a:gd name="connsiteX18-5605" fmla="*/ 1102418 w 1432618"/>
                <a:gd name="connsiteY18-5606" fmla="*/ 1187450 h 3588041"/>
                <a:gd name="connsiteX19-5607" fmla="*/ 1375468 w 1432618"/>
                <a:gd name="connsiteY19-5608" fmla="*/ 1171575 h 3588041"/>
                <a:gd name="connsiteX20-5609" fmla="*/ 1108768 w 1432618"/>
                <a:gd name="connsiteY20-5610" fmla="*/ 1254125 h 3588041"/>
                <a:gd name="connsiteX21-5611" fmla="*/ 889693 w 1432618"/>
                <a:gd name="connsiteY21-5612" fmla="*/ 1527175 h 3588041"/>
                <a:gd name="connsiteX22-5613" fmla="*/ 835718 w 1432618"/>
                <a:gd name="connsiteY22-5614" fmla="*/ 1895475 h 3588041"/>
                <a:gd name="connsiteX23-5615" fmla="*/ 1003993 w 1432618"/>
                <a:gd name="connsiteY23-5616" fmla="*/ 2308225 h 3588041"/>
                <a:gd name="connsiteX24-5617" fmla="*/ 896043 w 1432618"/>
                <a:gd name="connsiteY24-5618" fmla="*/ 2578100 h 3588041"/>
                <a:gd name="connsiteX25-5619" fmla="*/ 1213543 w 1432618"/>
                <a:gd name="connsiteY25-5620" fmla="*/ 2533650 h 3588041"/>
                <a:gd name="connsiteX26-5621" fmla="*/ 1432618 w 1432618"/>
                <a:gd name="connsiteY26-5622" fmla="*/ 2626519 h 3588041"/>
                <a:gd name="connsiteX27-5623" fmla="*/ 1188143 w 1432618"/>
                <a:gd name="connsiteY27-5624" fmla="*/ 2590800 h 3588041"/>
                <a:gd name="connsiteX28-5625" fmla="*/ 832543 w 1432618"/>
                <a:gd name="connsiteY28-5626" fmla="*/ 2733675 h 3588041"/>
                <a:gd name="connsiteX29-5627" fmla="*/ 689668 w 1432618"/>
                <a:gd name="connsiteY29-5628" fmla="*/ 3086100 h 3588041"/>
                <a:gd name="connsiteX30-5629" fmla="*/ 918268 w 1432618"/>
                <a:gd name="connsiteY30-5630" fmla="*/ 3419475 h 3588041"/>
                <a:gd name="connsiteX31-5631" fmla="*/ 1016693 w 1432618"/>
                <a:gd name="connsiteY31-5632" fmla="*/ 3581400 h 3588041"/>
                <a:gd name="connsiteX0-5633" fmla="*/ 1016693 w 1432618"/>
                <a:gd name="connsiteY0-5634" fmla="*/ 3581400 h 3588041"/>
                <a:gd name="connsiteX1-5635" fmla="*/ 591243 w 1432618"/>
                <a:gd name="connsiteY1-5636" fmla="*/ 3587750 h 3588041"/>
                <a:gd name="connsiteX2-5637" fmla="*/ 394393 w 1432618"/>
                <a:gd name="connsiteY2-5638" fmla="*/ 3076575 h 3588041"/>
                <a:gd name="connsiteX3-5639" fmla="*/ 746818 w 1432618"/>
                <a:gd name="connsiteY3-5640" fmla="*/ 2381250 h 3588041"/>
                <a:gd name="connsiteX4-5641" fmla="*/ 560128 w 1432618"/>
                <a:gd name="connsiteY4-5642" fmla="*/ 1922145 h 3588041"/>
                <a:gd name="connsiteX5-5643" fmla="*/ 58 w 1432618"/>
                <a:gd name="connsiteY5-5644" fmla="*/ 1870710 h 3588041"/>
                <a:gd name="connsiteX6-5645" fmla="*/ 394393 w 1432618"/>
                <a:gd name="connsiteY6-5646" fmla="*/ 1743075 h 3588041"/>
                <a:gd name="connsiteX7-5647" fmla="*/ 642043 w 1432618"/>
                <a:gd name="connsiteY7-5648" fmla="*/ 1876425 h 3588041"/>
                <a:gd name="connsiteX8-5649" fmla="*/ 705543 w 1432618"/>
                <a:gd name="connsiteY8-5650" fmla="*/ 1647825 h 3588041"/>
                <a:gd name="connsiteX9-5651" fmla="*/ 823018 w 1432618"/>
                <a:gd name="connsiteY9-5652" fmla="*/ 1333500 h 3588041"/>
                <a:gd name="connsiteX10-5653" fmla="*/ 763487 w 1432618"/>
                <a:gd name="connsiteY10-5654" fmla="*/ 823913 h 3588041"/>
                <a:gd name="connsiteX11-5655" fmla="*/ 388043 w 1432618"/>
                <a:gd name="connsiteY11-5656" fmla="*/ 695325 h 3588041"/>
                <a:gd name="connsiteX12-5657" fmla="*/ 781744 w 1432618"/>
                <a:gd name="connsiteY12-5658" fmla="*/ 724693 h 3588041"/>
                <a:gd name="connsiteX13-5659" fmla="*/ 799206 w 1432618"/>
                <a:gd name="connsiteY13-5660" fmla="*/ 441325 h 3588041"/>
                <a:gd name="connsiteX14-5661" fmla="*/ 886518 w 1432618"/>
                <a:gd name="connsiteY14-5662" fmla="*/ 0 h 3588041"/>
                <a:gd name="connsiteX15-5663" fmla="*/ 857943 w 1432618"/>
                <a:gd name="connsiteY15-5664" fmla="*/ 679450 h 3588041"/>
                <a:gd name="connsiteX16-5665" fmla="*/ 921443 w 1432618"/>
                <a:gd name="connsiteY16-5666" fmla="*/ 1047750 h 3588041"/>
                <a:gd name="connsiteX17-5667" fmla="*/ 930968 w 1432618"/>
                <a:gd name="connsiteY17-5668" fmla="*/ 1295400 h 3588041"/>
                <a:gd name="connsiteX18-5669" fmla="*/ 1102418 w 1432618"/>
                <a:gd name="connsiteY18-5670" fmla="*/ 1187450 h 3588041"/>
                <a:gd name="connsiteX19-5671" fmla="*/ 1375468 w 1432618"/>
                <a:gd name="connsiteY19-5672" fmla="*/ 1171575 h 3588041"/>
                <a:gd name="connsiteX20-5673" fmla="*/ 1108768 w 1432618"/>
                <a:gd name="connsiteY20-5674" fmla="*/ 1254125 h 3588041"/>
                <a:gd name="connsiteX21-5675" fmla="*/ 889693 w 1432618"/>
                <a:gd name="connsiteY21-5676" fmla="*/ 1527175 h 3588041"/>
                <a:gd name="connsiteX22-5677" fmla="*/ 835718 w 1432618"/>
                <a:gd name="connsiteY22-5678" fmla="*/ 1895475 h 3588041"/>
                <a:gd name="connsiteX23-5679" fmla="*/ 1003993 w 1432618"/>
                <a:gd name="connsiteY23-5680" fmla="*/ 2308225 h 3588041"/>
                <a:gd name="connsiteX24-5681" fmla="*/ 896043 w 1432618"/>
                <a:gd name="connsiteY24-5682" fmla="*/ 2578100 h 3588041"/>
                <a:gd name="connsiteX25-5683" fmla="*/ 1213543 w 1432618"/>
                <a:gd name="connsiteY25-5684" fmla="*/ 2533650 h 3588041"/>
                <a:gd name="connsiteX26-5685" fmla="*/ 1432618 w 1432618"/>
                <a:gd name="connsiteY26-5686" fmla="*/ 2626519 h 3588041"/>
                <a:gd name="connsiteX27-5687" fmla="*/ 1188143 w 1432618"/>
                <a:gd name="connsiteY27-5688" fmla="*/ 2590800 h 3588041"/>
                <a:gd name="connsiteX28-5689" fmla="*/ 832543 w 1432618"/>
                <a:gd name="connsiteY28-5690" fmla="*/ 2733675 h 3588041"/>
                <a:gd name="connsiteX29-5691" fmla="*/ 689668 w 1432618"/>
                <a:gd name="connsiteY29-5692" fmla="*/ 3086100 h 3588041"/>
                <a:gd name="connsiteX30-5693" fmla="*/ 918268 w 1432618"/>
                <a:gd name="connsiteY30-5694" fmla="*/ 3419475 h 3588041"/>
                <a:gd name="connsiteX31-5695" fmla="*/ 1016693 w 1432618"/>
                <a:gd name="connsiteY31-5696" fmla="*/ 3581400 h 3588041"/>
                <a:gd name="connsiteX0-5697" fmla="*/ 1016693 w 1432618"/>
                <a:gd name="connsiteY0-5698" fmla="*/ 3581400 h 3588041"/>
                <a:gd name="connsiteX1-5699" fmla="*/ 591243 w 1432618"/>
                <a:gd name="connsiteY1-5700" fmla="*/ 3587750 h 3588041"/>
                <a:gd name="connsiteX2-5701" fmla="*/ 394393 w 1432618"/>
                <a:gd name="connsiteY2-5702" fmla="*/ 3076575 h 3588041"/>
                <a:gd name="connsiteX3-5703" fmla="*/ 746818 w 1432618"/>
                <a:gd name="connsiteY3-5704" fmla="*/ 2381250 h 3588041"/>
                <a:gd name="connsiteX4-5705" fmla="*/ 560128 w 1432618"/>
                <a:gd name="connsiteY4-5706" fmla="*/ 1922145 h 3588041"/>
                <a:gd name="connsiteX5-5707" fmla="*/ 58 w 1432618"/>
                <a:gd name="connsiteY5-5708" fmla="*/ 1870710 h 3588041"/>
                <a:gd name="connsiteX6-5709" fmla="*/ 394393 w 1432618"/>
                <a:gd name="connsiteY6-5710" fmla="*/ 1743075 h 3588041"/>
                <a:gd name="connsiteX7-5711" fmla="*/ 642043 w 1432618"/>
                <a:gd name="connsiteY7-5712" fmla="*/ 1876425 h 3588041"/>
                <a:gd name="connsiteX8-5713" fmla="*/ 823018 w 1432618"/>
                <a:gd name="connsiteY8-5714" fmla="*/ 1333500 h 3588041"/>
                <a:gd name="connsiteX9-5715" fmla="*/ 763487 w 1432618"/>
                <a:gd name="connsiteY9-5716" fmla="*/ 823913 h 3588041"/>
                <a:gd name="connsiteX10-5717" fmla="*/ 388043 w 1432618"/>
                <a:gd name="connsiteY10-5718" fmla="*/ 695325 h 3588041"/>
                <a:gd name="connsiteX11-5719" fmla="*/ 781744 w 1432618"/>
                <a:gd name="connsiteY11-5720" fmla="*/ 724693 h 3588041"/>
                <a:gd name="connsiteX12-5721" fmla="*/ 799206 w 1432618"/>
                <a:gd name="connsiteY12-5722" fmla="*/ 441325 h 3588041"/>
                <a:gd name="connsiteX13-5723" fmla="*/ 886518 w 1432618"/>
                <a:gd name="connsiteY13-5724" fmla="*/ 0 h 3588041"/>
                <a:gd name="connsiteX14-5725" fmla="*/ 857943 w 1432618"/>
                <a:gd name="connsiteY14-5726" fmla="*/ 679450 h 3588041"/>
                <a:gd name="connsiteX15-5727" fmla="*/ 921443 w 1432618"/>
                <a:gd name="connsiteY15-5728" fmla="*/ 1047750 h 3588041"/>
                <a:gd name="connsiteX16-5729" fmla="*/ 930968 w 1432618"/>
                <a:gd name="connsiteY16-5730" fmla="*/ 1295400 h 3588041"/>
                <a:gd name="connsiteX17-5731" fmla="*/ 1102418 w 1432618"/>
                <a:gd name="connsiteY17-5732" fmla="*/ 1187450 h 3588041"/>
                <a:gd name="connsiteX18-5733" fmla="*/ 1375468 w 1432618"/>
                <a:gd name="connsiteY18-5734" fmla="*/ 1171575 h 3588041"/>
                <a:gd name="connsiteX19-5735" fmla="*/ 1108768 w 1432618"/>
                <a:gd name="connsiteY19-5736" fmla="*/ 1254125 h 3588041"/>
                <a:gd name="connsiteX20-5737" fmla="*/ 889693 w 1432618"/>
                <a:gd name="connsiteY20-5738" fmla="*/ 1527175 h 3588041"/>
                <a:gd name="connsiteX21-5739" fmla="*/ 835718 w 1432618"/>
                <a:gd name="connsiteY21-5740" fmla="*/ 1895475 h 3588041"/>
                <a:gd name="connsiteX22-5741" fmla="*/ 1003993 w 1432618"/>
                <a:gd name="connsiteY22-5742" fmla="*/ 2308225 h 3588041"/>
                <a:gd name="connsiteX23-5743" fmla="*/ 896043 w 1432618"/>
                <a:gd name="connsiteY23-5744" fmla="*/ 2578100 h 3588041"/>
                <a:gd name="connsiteX24-5745" fmla="*/ 1213543 w 1432618"/>
                <a:gd name="connsiteY24-5746" fmla="*/ 2533650 h 3588041"/>
                <a:gd name="connsiteX25-5747" fmla="*/ 1432618 w 1432618"/>
                <a:gd name="connsiteY25-5748" fmla="*/ 2626519 h 3588041"/>
                <a:gd name="connsiteX26-5749" fmla="*/ 1188143 w 1432618"/>
                <a:gd name="connsiteY26-5750" fmla="*/ 2590800 h 3588041"/>
                <a:gd name="connsiteX27-5751" fmla="*/ 832543 w 1432618"/>
                <a:gd name="connsiteY27-5752" fmla="*/ 2733675 h 3588041"/>
                <a:gd name="connsiteX28-5753" fmla="*/ 689668 w 1432618"/>
                <a:gd name="connsiteY28-5754" fmla="*/ 3086100 h 3588041"/>
                <a:gd name="connsiteX29-5755" fmla="*/ 918268 w 1432618"/>
                <a:gd name="connsiteY29-5756" fmla="*/ 3419475 h 3588041"/>
                <a:gd name="connsiteX30-5757" fmla="*/ 1016693 w 1432618"/>
                <a:gd name="connsiteY30-5758" fmla="*/ 3581400 h 3588041"/>
                <a:gd name="connsiteX0-5759" fmla="*/ 1016693 w 1432618"/>
                <a:gd name="connsiteY0-5760" fmla="*/ 3581400 h 3588041"/>
                <a:gd name="connsiteX1-5761" fmla="*/ 591243 w 1432618"/>
                <a:gd name="connsiteY1-5762" fmla="*/ 3587750 h 3588041"/>
                <a:gd name="connsiteX2-5763" fmla="*/ 394393 w 1432618"/>
                <a:gd name="connsiteY2-5764" fmla="*/ 3076575 h 3588041"/>
                <a:gd name="connsiteX3-5765" fmla="*/ 746818 w 1432618"/>
                <a:gd name="connsiteY3-5766" fmla="*/ 2381250 h 3588041"/>
                <a:gd name="connsiteX4-5767" fmla="*/ 560128 w 1432618"/>
                <a:gd name="connsiteY4-5768" fmla="*/ 1922145 h 3588041"/>
                <a:gd name="connsiteX5-5769" fmla="*/ 58 w 1432618"/>
                <a:gd name="connsiteY5-5770" fmla="*/ 1870710 h 3588041"/>
                <a:gd name="connsiteX6-5771" fmla="*/ 394393 w 1432618"/>
                <a:gd name="connsiteY6-5772" fmla="*/ 1743075 h 3588041"/>
                <a:gd name="connsiteX7-5773" fmla="*/ 642043 w 1432618"/>
                <a:gd name="connsiteY7-5774" fmla="*/ 1876425 h 3588041"/>
                <a:gd name="connsiteX8-5775" fmla="*/ 823018 w 1432618"/>
                <a:gd name="connsiteY8-5776" fmla="*/ 1333500 h 3588041"/>
                <a:gd name="connsiteX9-5777" fmla="*/ 763487 w 1432618"/>
                <a:gd name="connsiteY9-5778" fmla="*/ 823913 h 3588041"/>
                <a:gd name="connsiteX10-5779" fmla="*/ 388043 w 1432618"/>
                <a:gd name="connsiteY10-5780" fmla="*/ 695325 h 3588041"/>
                <a:gd name="connsiteX11-5781" fmla="*/ 781744 w 1432618"/>
                <a:gd name="connsiteY11-5782" fmla="*/ 724693 h 3588041"/>
                <a:gd name="connsiteX12-5783" fmla="*/ 799206 w 1432618"/>
                <a:gd name="connsiteY12-5784" fmla="*/ 441325 h 3588041"/>
                <a:gd name="connsiteX13-5785" fmla="*/ 886518 w 1432618"/>
                <a:gd name="connsiteY13-5786" fmla="*/ 0 h 3588041"/>
                <a:gd name="connsiteX14-5787" fmla="*/ 857943 w 1432618"/>
                <a:gd name="connsiteY14-5788" fmla="*/ 679450 h 3588041"/>
                <a:gd name="connsiteX15-5789" fmla="*/ 921443 w 1432618"/>
                <a:gd name="connsiteY15-5790" fmla="*/ 1047750 h 3588041"/>
                <a:gd name="connsiteX16-5791" fmla="*/ 930968 w 1432618"/>
                <a:gd name="connsiteY16-5792" fmla="*/ 1295400 h 3588041"/>
                <a:gd name="connsiteX17-5793" fmla="*/ 1102418 w 1432618"/>
                <a:gd name="connsiteY17-5794" fmla="*/ 1187450 h 3588041"/>
                <a:gd name="connsiteX18-5795" fmla="*/ 1375468 w 1432618"/>
                <a:gd name="connsiteY18-5796" fmla="*/ 1171575 h 3588041"/>
                <a:gd name="connsiteX19-5797" fmla="*/ 1108768 w 1432618"/>
                <a:gd name="connsiteY19-5798" fmla="*/ 1254125 h 3588041"/>
                <a:gd name="connsiteX20-5799" fmla="*/ 889693 w 1432618"/>
                <a:gd name="connsiteY20-5800" fmla="*/ 1527175 h 3588041"/>
                <a:gd name="connsiteX21-5801" fmla="*/ 835718 w 1432618"/>
                <a:gd name="connsiteY21-5802" fmla="*/ 1895475 h 3588041"/>
                <a:gd name="connsiteX22-5803" fmla="*/ 1003993 w 1432618"/>
                <a:gd name="connsiteY22-5804" fmla="*/ 2308225 h 3588041"/>
                <a:gd name="connsiteX23-5805" fmla="*/ 896043 w 1432618"/>
                <a:gd name="connsiteY23-5806" fmla="*/ 2578100 h 3588041"/>
                <a:gd name="connsiteX24-5807" fmla="*/ 1213543 w 1432618"/>
                <a:gd name="connsiteY24-5808" fmla="*/ 2533650 h 3588041"/>
                <a:gd name="connsiteX25-5809" fmla="*/ 1432618 w 1432618"/>
                <a:gd name="connsiteY25-5810" fmla="*/ 2626519 h 3588041"/>
                <a:gd name="connsiteX26-5811" fmla="*/ 1188143 w 1432618"/>
                <a:gd name="connsiteY26-5812" fmla="*/ 2590800 h 3588041"/>
                <a:gd name="connsiteX27-5813" fmla="*/ 832543 w 1432618"/>
                <a:gd name="connsiteY27-5814" fmla="*/ 2733675 h 3588041"/>
                <a:gd name="connsiteX28-5815" fmla="*/ 689668 w 1432618"/>
                <a:gd name="connsiteY28-5816" fmla="*/ 3086100 h 3588041"/>
                <a:gd name="connsiteX29-5817" fmla="*/ 918268 w 1432618"/>
                <a:gd name="connsiteY29-5818" fmla="*/ 3419475 h 3588041"/>
                <a:gd name="connsiteX30-5819" fmla="*/ 1016693 w 1432618"/>
                <a:gd name="connsiteY30-5820" fmla="*/ 3581400 h 3588041"/>
                <a:gd name="connsiteX0-5821" fmla="*/ 1016693 w 1432618"/>
                <a:gd name="connsiteY0-5822" fmla="*/ 3581400 h 3588041"/>
                <a:gd name="connsiteX1-5823" fmla="*/ 591243 w 1432618"/>
                <a:gd name="connsiteY1-5824" fmla="*/ 3587750 h 3588041"/>
                <a:gd name="connsiteX2-5825" fmla="*/ 394393 w 1432618"/>
                <a:gd name="connsiteY2-5826" fmla="*/ 3076575 h 3588041"/>
                <a:gd name="connsiteX3-5827" fmla="*/ 746818 w 1432618"/>
                <a:gd name="connsiteY3-5828" fmla="*/ 2381250 h 3588041"/>
                <a:gd name="connsiteX4-5829" fmla="*/ 560128 w 1432618"/>
                <a:gd name="connsiteY4-5830" fmla="*/ 1922145 h 3588041"/>
                <a:gd name="connsiteX5-5831" fmla="*/ 58 w 1432618"/>
                <a:gd name="connsiteY5-5832" fmla="*/ 1870710 h 3588041"/>
                <a:gd name="connsiteX6-5833" fmla="*/ 394393 w 1432618"/>
                <a:gd name="connsiteY6-5834" fmla="*/ 1743075 h 3588041"/>
                <a:gd name="connsiteX7-5835" fmla="*/ 642043 w 1432618"/>
                <a:gd name="connsiteY7-5836" fmla="*/ 1876425 h 3588041"/>
                <a:gd name="connsiteX8-5837" fmla="*/ 823018 w 1432618"/>
                <a:gd name="connsiteY8-5838" fmla="*/ 1333500 h 3588041"/>
                <a:gd name="connsiteX9-5839" fmla="*/ 763487 w 1432618"/>
                <a:gd name="connsiteY9-5840" fmla="*/ 823913 h 3588041"/>
                <a:gd name="connsiteX10-5841" fmla="*/ 388043 w 1432618"/>
                <a:gd name="connsiteY10-5842" fmla="*/ 695325 h 3588041"/>
                <a:gd name="connsiteX11-5843" fmla="*/ 781744 w 1432618"/>
                <a:gd name="connsiteY11-5844" fmla="*/ 724693 h 3588041"/>
                <a:gd name="connsiteX12-5845" fmla="*/ 799206 w 1432618"/>
                <a:gd name="connsiteY12-5846" fmla="*/ 441325 h 3588041"/>
                <a:gd name="connsiteX13-5847" fmla="*/ 886518 w 1432618"/>
                <a:gd name="connsiteY13-5848" fmla="*/ 0 h 3588041"/>
                <a:gd name="connsiteX14-5849" fmla="*/ 857943 w 1432618"/>
                <a:gd name="connsiteY14-5850" fmla="*/ 679450 h 3588041"/>
                <a:gd name="connsiteX15-5851" fmla="*/ 921443 w 1432618"/>
                <a:gd name="connsiteY15-5852" fmla="*/ 1047750 h 3588041"/>
                <a:gd name="connsiteX16-5853" fmla="*/ 930968 w 1432618"/>
                <a:gd name="connsiteY16-5854" fmla="*/ 1295400 h 3588041"/>
                <a:gd name="connsiteX17-5855" fmla="*/ 1102418 w 1432618"/>
                <a:gd name="connsiteY17-5856" fmla="*/ 1187450 h 3588041"/>
                <a:gd name="connsiteX18-5857" fmla="*/ 1375468 w 1432618"/>
                <a:gd name="connsiteY18-5858" fmla="*/ 1171575 h 3588041"/>
                <a:gd name="connsiteX19-5859" fmla="*/ 1108768 w 1432618"/>
                <a:gd name="connsiteY19-5860" fmla="*/ 1254125 h 3588041"/>
                <a:gd name="connsiteX20-5861" fmla="*/ 889693 w 1432618"/>
                <a:gd name="connsiteY20-5862" fmla="*/ 1527175 h 3588041"/>
                <a:gd name="connsiteX21-5863" fmla="*/ 835718 w 1432618"/>
                <a:gd name="connsiteY21-5864" fmla="*/ 1895475 h 3588041"/>
                <a:gd name="connsiteX22-5865" fmla="*/ 1003993 w 1432618"/>
                <a:gd name="connsiteY22-5866" fmla="*/ 2308225 h 3588041"/>
                <a:gd name="connsiteX23-5867" fmla="*/ 896043 w 1432618"/>
                <a:gd name="connsiteY23-5868" fmla="*/ 2578100 h 3588041"/>
                <a:gd name="connsiteX24-5869" fmla="*/ 1213543 w 1432618"/>
                <a:gd name="connsiteY24-5870" fmla="*/ 2533650 h 3588041"/>
                <a:gd name="connsiteX25-5871" fmla="*/ 1432618 w 1432618"/>
                <a:gd name="connsiteY25-5872" fmla="*/ 2626519 h 3588041"/>
                <a:gd name="connsiteX26-5873" fmla="*/ 1188143 w 1432618"/>
                <a:gd name="connsiteY26-5874" fmla="*/ 2590800 h 3588041"/>
                <a:gd name="connsiteX27-5875" fmla="*/ 832543 w 1432618"/>
                <a:gd name="connsiteY27-5876" fmla="*/ 2733675 h 3588041"/>
                <a:gd name="connsiteX28-5877" fmla="*/ 689668 w 1432618"/>
                <a:gd name="connsiteY28-5878" fmla="*/ 3086100 h 3588041"/>
                <a:gd name="connsiteX29-5879" fmla="*/ 918268 w 1432618"/>
                <a:gd name="connsiteY29-5880" fmla="*/ 3419475 h 3588041"/>
                <a:gd name="connsiteX30-5881" fmla="*/ 1016693 w 1432618"/>
                <a:gd name="connsiteY30-5882" fmla="*/ 3581400 h 3588041"/>
                <a:gd name="connsiteX0-5883" fmla="*/ 1016693 w 1432618"/>
                <a:gd name="connsiteY0-5884" fmla="*/ 3581400 h 3588041"/>
                <a:gd name="connsiteX1-5885" fmla="*/ 591243 w 1432618"/>
                <a:gd name="connsiteY1-5886" fmla="*/ 3587750 h 3588041"/>
                <a:gd name="connsiteX2-5887" fmla="*/ 394393 w 1432618"/>
                <a:gd name="connsiteY2-5888" fmla="*/ 3076575 h 3588041"/>
                <a:gd name="connsiteX3-5889" fmla="*/ 746818 w 1432618"/>
                <a:gd name="connsiteY3-5890" fmla="*/ 2381250 h 3588041"/>
                <a:gd name="connsiteX4-5891" fmla="*/ 560128 w 1432618"/>
                <a:gd name="connsiteY4-5892" fmla="*/ 1922145 h 3588041"/>
                <a:gd name="connsiteX5-5893" fmla="*/ 58 w 1432618"/>
                <a:gd name="connsiteY5-5894" fmla="*/ 1870710 h 3588041"/>
                <a:gd name="connsiteX6-5895" fmla="*/ 394393 w 1432618"/>
                <a:gd name="connsiteY6-5896" fmla="*/ 1743075 h 3588041"/>
                <a:gd name="connsiteX7-5897" fmla="*/ 642043 w 1432618"/>
                <a:gd name="connsiteY7-5898" fmla="*/ 1876425 h 3588041"/>
                <a:gd name="connsiteX8-5899" fmla="*/ 823018 w 1432618"/>
                <a:gd name="connsiteY8-5900" fmla="*/ 1333500 h 3588041"/>
                <a:gd name="connsiteX9-5901" fmla="*/ 763487 w 1432618"/>
                <a:gd name="connsiteY9-5902" fmla="*/ 823913 h 3588041"/>
                <a:gd name="connsiteX10-5903" fmla="*/ 388043 w 1432618"/>
                <a:gd name="connsiteY10-5904" fmla="*/ 695325 h 3588041"/>
                <a:gd name="connsiteX11-5905" fmla="*/ 781744 w 1432618"/>
                <a:gd name="connsiteY11-5906" fmla="*/ 724693 h 3588041"/>
                <a:gd name="connsiteX12-5907" fmla="*/ 799206 w 1432618"/>
                <a:gd name="connsiteY12-5908" fmla="*/ 441325 h 3588041"/>
                <a:gd name="connsiteX13-5909" fmla="*/ 886518 w 1432618"/>
                <a:gd name="connsiteY13-5910" fmla="*/ 0 h 3588041"/>
                <a:gd name="connsiteX14-5911" fmla="*/ 857943 w 1432618"/>
                <a:gd name="connsiteY14-5912" fmla="*/ 679450 h 3588041"/>
                <a:gd name="connsiteX15-5913" fmla="*/ 921443 w 1432618"/>
                <a:gd name="connsiteY15-5914" fmla="*/ 1047750 h 3588041"/>
                <a:gd name="connsiteX16-5915" fmla="*/ 930968 w 1432618"/>
                <a:gd name="connsiteY16-5916" fmla="*/ 1295400 h 3588041"/>
                <a:gd name="connsiteX17-5917" fmla="*/ 1102418 w 1432618"/>
                <a:gd name="connsiteY17-5918" fmla="*/ 1187450 h 3588041"/>
                <a:gd name="connsiteX18-5919" fmla="*/ 1375468 w 1432618"/>
                <a:gd name="connsiteY18-5920" fmla="*/ 1171575 h 3588041"/>
                <a:gd name="connsiteX19-5921" fmla="*/ 1108768 w 1432618"/>
                <a:gd name="connsiteY19-5922" fmla="*/ 1254125 h 3588041"/>
                <a:gd name="connsiteX20-5923" fmla="*/ 889693 w 1432618"/>
                <a:gd name="connsiteY20-5924" fmla="*/ 1527175 h 3588041"/>
                <a:gd name="connsiteX21-5925" fmla="*/ 835718 w 1432618"/>
                <a:gd name="connsiteY21-5926" fmla="*/ 1895475 h 3588041"/>
                <a:gd name="connsiteX22-5927" fmla="*/ 1003993 w 1432618"/>
                <a:gd name="connsiteY22-5928" fmla="*/ 2308225 h 3588041"/>
                <a:gd name="connsiteX23-5929" fmla="*/ 896043 w 1432618"/>
                <a:gd name="connsiteY23-5930" fmla="*/ 2578100 h 3588041"/>
                <a:gd name="connsiteX24-5931" fmla="*/ 1213543 w 1432618"/>
                <a:gd name="connsiteY24-5932" fmla="*/ 2533650 h 3588041"/>
                <a:gd name="connsiteX25-5933" fmla="*/ 1432618 w 1432618"/>
                <a:gd name="connsiteY25-5934" fmla="*/ 2626519 h 3588041"/>
                <a:gd name="connsiteX26-5935" fmla="*/ 1188143 w 1432618"/>
                <a:gd name="connsiteY26-5936" fmla="*/ 2590800 h 3588041"/>
                <a:gd name="connsiteX27-5937" fmla="*/ 832543 w 1432618"/>
                <a:gd name="connsiteY27-5938" fmla="*/ 2733675 h 3588041"/>
                <a:gd name="connsiteX28-5939" fmla="*/ 689668 w 1432618"/>
                <a:gd name="connsiteY28-5940" fmla="*/ 3086100 h 3588041"/>
                <a:gd name="connsiteX29-5941" fmla="*/ 918268 w 1432618"/>
                <a:gd name="connsiteY29-5942" fmla="*/ 3419475 h 3588041"/>
                <a:gd name="connsiteX30-5943" fmla="*/ 1016693 w 1432618"/>
                <a:gd name="connsiteY30-5944" fmla="*/ 3581400 h 3588041"/>
                <a:gd name="connsiteX0-5945" fmla="*/ 1016635 w 1432560"/>
                <a:gd name="connsiteY0-5946" fmla="*/ 3581400 h 3588041"/>
                <a:gd name="connsiteX1-5947" fmla="*/ 591185 w 1432560"/>
                <a:gd name="connsiteY1-5948" fmla="*/ 3587750 h 3588041"/>
                <a:gd name="connsiteX2-5949" fmla="*/ 394335 w 1432560"/>
                <a:gd name="connsiteY2-5950" fmla="*/ 3076575 h 3588041"/>
                <a:gd name="connsiteX3-5951" fmla="*/ 746760 w 1432560"/>
                <a:gd name="connsiteY3-5952" fmla="*/ 2381250 h 3588041"/>
                <a:gd name="connsiteX4-5953" fmla="*/ 560070 w 1432560"/>
                <a:gd name="connsiteY4-5954" fmla="*/ 1922145 h 3588041"/>
                <a:gd name="connsiteX5-5955" fmla="*/ 0 w 1432560"/>
                <a:gd name="connsiteY5-5956" fmla="*/ 1870710 h 3588041"/>
                <a:gd name="connsiteX6-5957" fmla="*/ 394335 w 1432560"/>
                <a:gd name="connsiteY6-5958" fmla="*/ 1743075 h 3588041"/>
                <a:gd name="connsiteX7-5959" fmla="*/ 641985 w 1432560"/>
                <a:gd name="connsiteY7-5960" fmla="*/ 1876425 h 3588041"/>
                <a:gd name="connsiteX8-5961" fmla="*/ 822960 w 1432560"/>
                <a:gd name="connsiteY8-5962" fmla="*/ 1333500 h 3588041"/>
                <a:gd name="connsiteX9-5963" fmla="*/ 763429 w 1432560"/>
                <a:gd name="connsiteY9-5964" fmla="*/ 823913 h 3588041"/>
                <a:gd name="connsiteX10-5965" fmla="*/ 387985 w 1432560"/>
                <a:gd name="connsiteY10-5966" fmla="*/ 695325 h 3588041"/>
                <a:gd name="connsiteX11-5967" fmla="*/ 781686 w 1432560"/>
                <a:gd name="connsiteY11-5968" fmla="*/ 724693 h 3588041"/>
                <a:gd name="connsiteX12-5969" fmla="*/ 799148 w 1432560"/>
                <a:gd name="connsiteY12-5970" fmla="*/ 441325 h 3588041"/>
                <a:gd name="connsiteX13-5971" fmla="*/ 886460 w 1432560"/>
                <a:gd name="connsiteY13-5972" fmla="*/ 0 h 3588041"/>
                <a:gd name="connsiteX14-5973" fmla="*/ 857885 w 1432560"/>
                <a:gd name="connsiteY14-5974" fmla="*/ 679450 h 3588041"/>
                <a:gd name="connsiteX15-5975" fmla="*/ 921385 w 1432560"/>
                <a:gd name="connsiteY15-5976" fmla="*/ 1047750 h 3588041"/>
                <a:gd name="connsiteX16-5977" fmla="*/ 930910 w 1432560"/>
                <a:gd name="connsiteY16-5978" fmla="*/ 1295400 h 3588041"/>
                <a:gd name="connsiteX17-5979" fmla="*/ 1102360 w 1432560"/>
                <a:gd name="connsiteY17-5980" fmla="*/ 1187450 h 3588041"/>
                <a:gd name="connsiteX18-5981" fmla="*/ 1375410 w 1432560"/>
                <a:gd name="connsiteY18-5982" fmla="*/ 1171575 h 3588041"/>
                <a:gd name="connsiteX19-5983" fmla="*/ 1108710 w 1432560"/>
                <a:gd name="connsiteY19-5984" fmla="*/ 1254125 h 3588041"/>
                <a:gd name="connsiteX20-5985" fmla="*/ 889635 w 1432560"/>
                <a:gd name="connsiteY20-5986" fmla="*/ 1527175 h 3588041"/>
                <a:gd name="connsiteX21-5987" fmla="*/ 835660 w 1432560"/>
                <a:gd name="connsiteY21-5988" fmla="*/ 1895475 h 3588041"/>
                <a:gd name="connsiteX22-5989" fmla="*/ 1003935 w 1432560"/>
                <a:gd name="connsiteY22-5990" fmla="*/ 2308225 h 3588041"/>
                <a:gd name="connsiteX23-5991" fmla="*/ 895985 w 1432560"/>
                <a:gd name="connsiteY23-5992" fmla="*/ 2578100 h 3588041"/>
                <a:gd name="connsiteX24-5993" fmla="*/ 1213485 w 1432560"/>
                <a:gd name="connsiteY24-5994" fmla="*/ 2533650 h 3588041"/>
                <a:gd name="connsiteX25-5995" fmla="*/ 1432560 w 1432560"/>
                <a:gd name="connsiteY25-5996" fmla="*/ 2626519 h 3588041"/>
                <a:gd name="connsiteX26-5997" fmla="*/ 1188085 w 1432560"/>
                <a:gd name="connsiteY26-5998" fmla="*/ 2590800 h 3588041"/>
                <a:gd name="connsiteX27-5999" fmla="*/ 832485 w 1432560"/>
                <a:gd name="connsiteY27-6000" fmla="*/ 2733675 h 3588041"/>
                <a:gd name="connsiteX28-6001" fmla="*/ 689610 w 1432560"/>
                <a:gd name="connsiteY28-6002" fmla="*/ 3086100 h 3588041"/>
                <a:gd name="connsiteX29-6003" fmla="*/ 918210 w 1432560"/>
                <a:gd name="connsiteY29-6004" fmla="*/ 3419475 h 3588041"/>
                <a:gd name="connsiteX30-6005" fmla="*/ 1016635 w 1432560"/>
                <a:gd name="connsiteY30-6006" fmla="*/ 3581400 h 3588041"/>
                <a:gd name="connsiteX0-6007" fmla="*/ 1016635 w 1432560"/>
                <a:gd name="connsiteY0-6008" fmla="*/ 3581400 h 3588041"/>
                <a:gd name="connsiteX1-6009" fmla="*/ 591185 w 1432560"/>
                <a:gd name="connsiteY1-6010" fmla="*/ 3587750 h 3588041"/>
                <a:gd name="connsiteX2-6011" fmla="*/ 394335 w 1432560"/>
                <a:gd name="connsiteY2-6012" fmla="*/ 3076575 h 3588041"/>
                <a:gd name="connsiteX3-6013" fmla="*/ 746760 w 1432560"/>
                <a:gd name="connsiteY3-6014" fmla="*/ 2381250 h 3588041"/>
                <a:gd name="connsiteX4-6015" fmla="*/ 560070 w 1432560"/>
                <a:gd name="connsiteY4-6016" fmla="*/ 1922145 h 3588041"/>
                <a:gd name="connsiteX5-6017" fmla="*/ 0 w 1432560"/>
                <a:gd name="connsiteY5-6018" fmla="*/ 1870710 h 3588041"/>
                <a:gd name="connsiteX6-6019" fmla="*/ 394335 w 1432560"/>
                <a:gd name="connsiteY6-6020" fmla="*/ 1743075 h 3588041"/>
                <a:gd name="connsiteX7-6021" fmla="*/ 641985 w 1432560"/>
                <a:gd name="connsiteY7-6022" fmla="*/ 1876425 h 3588041"/>
                <a:gd name="connsiteX8-6023" fmla="*/ 822960 w 1432560"/>
                <a:gd name="connsiteY8-6024" fmla="*/ 1333500 h 3588041"/>
                <a:gd name="connsiteX9-6025" fmla="*/ 763429 w 1432560"/>
                <a:gd name="connsiteY9-6026" fmla="*/ 823913 h 3588041"/>
                <a:gd name="connsiteX10-6027" fmla="*/ 387985 w 1432560"/>
                <a:gd name="connsiteY10-6028" fmla="*/ 695325 h 3588041"/>
                <a:gd name="connsiteX11-6029" fmla="*/ 781686 w 1432560"/>
                <a:gd name="connsiteY11-6030" fmla="*/ 724693 h 3588041"/>
                <a:gd name="connsiteX12-6031" fmla="*/ 799148 w 1432560"/>
                <a:gd name="connsiteY12-6032" fmla="*/ 441325 h 3588041"/>
                <a:gd name="connsiteX13-6033" fmla="*/ 886460 w 1432560"/>
                <a:gd name="connsiteY13-6034" fmla="*/ 0 h 3588041"/>
                <a:gd name="connsiteX14-6035" fmla="*/ 857885 w 1432560"/>
                <a:gd name="connsiteY14-6036" fmla="*/ 679450 h 3588041"/>
                <a:gd name="connsiteX15-6037" fmla="*/ 921385 w 1432560"/>
                <a:gd name="connsiteY15-6038" fmla="*/ 1047750 h 3588041"/>
                <a:gd name="connsiteX16-6039" fmla="*/ 930910 w 1432560"/>
                <a:gd name="connsiteY16-6040" fmla="*/ 1295400 h 3588041"/>
                <a:gd name="connsiteX17-6041" fmla="*/ 1102360 w 1432560"/>
                <a:gd name="connsiteY17-6042" fmla="*/ 1187450 h 3588041"/>
                <a:gd name="connsiteX18-6043" fmla="*/ 1375410 w 1432560"/>
                <a:gd name="connsiteY18-6044" fmla="*/ 1171575 h 3588041"/>
                <a:gd name="connsiteX19-6045" fmla="*/ 1108710 w 1432560"/>
                <a:gd name="connsiteY19-6046" fmla="*/ 1254125 h 3588041"/>
                <a:gd name="connsiteX20-6047" fmla="*/ 889635 w 1432560"/>
                <a:gd name="connsiteY20-6048" fmla="*/ 1527175 h 3588041"/>
                <a:gd name="connsiteX21-6049" fmla="*/ 835660 w 1432560"/>
                <a:gd name="connsiteY21-6050" fmla="*/ 1895475 h 3588041"/>
                <a:gd name="connsiteX22-6051" fmla="*/ 1003935 w 1432560"/>
                <a:gd name="connsiteY22-6052" fmla="*/ 2308225 h 3588041"/>
                <a:gd name="connsiteX23-6053" fmla="*/ 895985 w 1432560"/>
                <a:gd name="connsiteY23-6054" fmla="*/ 2578100 h 3588041"/>
                <a:gd name="connsiteX24-6055" fmla="*/ 1213485 w 1432560"/>
                <a:gd name="connsiteY24-6056" fmla="*/ 2533650 h 3588041"/>
                <a:gd name="connsiteX25-6057" fmla="*/ 1432560 w 1432560"/>
                <a:gd name="connsiteY25-6058" fmla="*/ 2626519 h 3588041"/>
                <a:gd name="connsiteX26-6059" fmla="*/ 1188085 w 1432560"/>
                <a:gd name="connsiteY26-6060" fmla="*/ 2590800 h 3588041"/>
                <a:gd name="connsiteX27-6061" fmla="*/ 832485 w 1432560"/>
                <a:gd name="connsiteY27-6062" fmla="*/ 2733675 h 3588041"/>
                <a:gd name="connsiteX28-6063" fmla="*/ 689610 w 1432560"/>
                <a:gd name="connsiteY28-6064" fmla="*/ 3086100 h 3588041"/>
                <a:gd name="connsiteX29-6065" fmla="*/ 918210 w 1432560"/>
                <a:gd name="connsiteY29-6066" fmla="*/ 3419475 h 3588041"/>
                <a:gd name="connsiteX30-6067" fmla="*/ 1016635 w 1432560"/>
                <a:gd name="connsiteY30-6068" fmla="*/ 3581400 h 3588041"/>
                <a:gd name="connsiteX0-6069" fmla="*/ 1016635 w 1432560"/>
                <a:gd name="connsiteY0-6070" fmla="*/ 3581400 h 3588041"/>
                <a:gd name="connsiteX1-6071" fmla="*/ 591185 w 1432560"/>
                <a:gd name="connsiteY1-6072" fmla="*/ 3587750 h 3588041"/>
                <a:gd name="connsiteX2-6073" fmla="*/ 394335 w 1432560"/>
                <a:gd name="connsiteY2-6074" fmla="*/ 3076575 h 3588041"/>
                <a:gd name="connsiteX3-6075" fmla="*/ 746760 w 1432560"/>
                <a:gd name="connsiteY3-6076" fmla="*/ 2381250 h 3588041"/>
                <a:gd name="connsiteX4-6077" fmla="*/ 560070 w 1432560"/>
                <a:gd name="connsiteY4-6078" fmla="*/ 1922145 h 3588041"/>
                <a:gd name="connsiteX5-6079" fmla="*/ 0 w 1432560"/>
                <a:gd name="connsiteY5-6080" fmla="*/ 1870710 h 3588041"/>
                <a:gd name="connsiteX6-6081" fmla="*/ 394335 w 1432560"/>
                <a:gd name="connsiteY6-6082" fmla="*/ 1743075 h 3588041"/>
                <a:gd name="connsiteX7-6083" fmla="*/ 641985 w 1432560"/>
                <a:gd name="connsiteY7-6084" fmla="*/ 1876425 h 3588041"/>
                <a:gd name="connsiteX8-6085" fmla="*/ 822960 w 1432560"/>
                <a:gd name="connsiteY8-6086" fmla="*/ 1333500 h 3588041"/>
                <a:gd name="connsiteX9-6087" fmla="*/ 763429 w 1432560"/>
                <a:gd name="connsiteY9-6088" fmla="*/ 823913 h 3588041"/>
                <a:gd name="connsiteX10-6089" fmla="*/ 387985 w 1432560"/>
                <a:gd name="connsiteY10-6090" fmla="*/ 695325 h 3588041"/>
                <a:gd name="connsiteX11-6091" fmla="*/ 781686 w 1432560"/>
                <a:gd name="connsiteY11-6092" fmla="*/ 724693 h 3588041"/>
                <a:gd name="connsiteX12-6093" fmla="*/ 799148 w 1432560"/>
                <a:gd name="connsiteY12-6094" fmla="*/ 441325 h 3588041"/>
                <a:gd name="connsiteX13-6095" fmla="*/ 886460 w 1432560"/>
                <a:gd name="connsiteY13-6096" fmla="*/ 0 h 3588041"/>
                <a:gd name="connsiteX14-6097" fmla="*/ 857885 w 1432560"/>
                <a:gd name="connsiteY14-6098" fmla="*/ 679450 h 3588041"/>
                <a:gd name="connsiteX15-6099" fmla="*/ 921385 w 1432560"/>
                <a:gd name="connsiteY15-6100" fmla="*/ 1047750 h 3588041"/>
                <a:gd name="connsiteX16-6101" fmla="*/ 930910 w 1432560"/>
                <a:gd name="connsiteY16-6102" fmla="*/ 1295400 h 3588041"/>
                <a:gd name="connsiteX17-6103" fmla="*/ 1102360 w 1432560"/>
                <a:gd name="connsiteY17-6104" fmla="*/ 1187450 h 3588041"/>
                <a:gd name="connsiteX18-6105" fmla="*/ 1375410 w 1432560"/>
                <a:gd name="connsiteY18-6106" fmla="*/ 1171575 h 3588041"/>
                <a:gd name="connsiteX19-6107" fmla="*/ 1108710 w 1432560"/>
                <a:gd name="connsiteY19-6108" fmla="*/ 1254125 h 3588041"/>
                <a:gd name="connsiteX20-6109" fmla="*/ 889635 w 1432560"/>
                <a:gd name="connsiteY20-6110" fmla="*/ 1527175 h 3588041"/>
                <a:gd name="connsiteX21-6111" fmla="*/ 835660 w 1432560"/>
                <a:gd name="connsiteY21-6112" fmla="*/ 1895475 h 3588041"/>
                <a:gd name="connsiteX22-6113" fmla="*/ 1003935 w 1432560"/>
                <a:gd name="connsiteY22-6114" fmla="*/ 2308225 h 3588041"/>
                <a:gd name="connsiteX23-6115" fmla="*/ 895985 w 1432560"/>
                <a:gd name="connsiteY23-6116" fmla="*/ 2578100 h 3588041"/>
                <a:gd name="connsiteX24-6117" fmla="*/ 1213485 w 1432560"/>
                <a:gd name="connsiteY24-6118" fmla="*/ 2533650 h 3588041"/>
                <a:gd name="connsiteX25-6119" fmla="*/ 1432560 w 1432560"/>
                <a:gd name="connsiteY25-6120" fmla="*/ 2626519 h 3588041"/>
                <a:gd name="connsiteX26-6121" fmla="*/ 1188085 w 1432560"/>
                <a:gd name="connsiteY26-6122" fmla="*/ 2590800 h 3588041"/>
                <a:gd name="connsiteX27-6123" fmla="*/ 832485 w 1432560"/>
                <a:gd name="connsiteY27-6124" fmla="*/ 2733675 h 3588041"/>
                <a:gd name="connsiteX28-6125" fmla="*/ 689610 w 1432560"/>
                <a:gd name="connsiteY28-6126" fmla="*/ 3086100 h 3588041"/>
                <a:gd name="connsiteX29-6127" fmla="*/ 918210 w 1432560"/>
                <a:gd name="connsiteY29-6128" fmla="*/ 3419475 h 3588041"/>
                <a:gd name="connsiteX30-6129" fmla="*/ 1016635 w 1432560"/>
                <a:gd name="connsiteY30-6130" fmla="*/ 3581400 h 3588041"/>
                <a:gd name="connsiteX0-6131" fmla="*/ 1016635 w 1432560"/>
                <a:gd name="connsiteY0-6132" fmla="*/ 3581400 h 3588041"/>
                <a:gd name="connsiteX1-6133" fmla="*/ 591185 w 1432560"/>
                <a:gd name="connsiteY1-6134" fmla="*/ 3587750 h 3588041"/>
                <a:gd name="connsiteX2-6135" fmla="*/ 394335 w 1432560"/>
                <a:gd name="connsiteY2-6136" fmla="*/ 3076575 h 3588041"/>
                <a:gd name="connsiteX3-6137" fmla="*/ 746760 w 1432560"/>
                <a:gd name="connsiteY3-6138" fmla="*/ 2381250 h 3588041"/>
                <a:gd name="connsiteX4-6139" fmla="*/ 560070 w 1432560"/>
                <a:gd name="connsiteY4-6140" fmla="*/ 1922145 h 3588041"/>
                <a:gd name="connsiteX5-6141" fmla="*/ 0 w 1432560"/>
                <a:gd name="connsiteY5-6142" fmla="*/ 1870710 h 3588041"/>
                <a:gd name="connsiteX6-6143" fmla="*/ 394335 w 1432560"/>
                <a:gd name="connsiteY6-6144" fmla="*/ 1743075 h 3588041"/>
                <a:gd name="connsiteX7-6145" fmla="*/ 641985 w 1432560"/>
                <a:gd name="connsiteY7-6146" fmla="*/ 1876425 h 3588041"/>
                <a:gd name="connsiteX8-6147" fmla="*/ 822960 w 1432560"/>
                <a:gd name="connsiteY8-6148" fmla="*/ 1333500 h 3588041"/>
                <a:gd name="connsiteX9-6149" fmla="*/ 763429 w 1432560"/>
                <a:gd name="connsiteY9-6150" fmla="*/ 823913 h 3588041"/>
                <a:gd name="connsiteX10-6151" fmla="*/ 387985 w 1432560"/>
                <a:gd name="connsiteY10-6152" fmla="*/ 695325 h 3588041"/>
                <a:gd name="connsiteX11-6153" fmla="*/ 781686 w 1432560"/>
                <a:gd name="connsiteY11-6154" fmla="*/ 724693 h 3588041"/>
                <a:gd name="connsiteX12-6155" fmla="*/ 799148 w 1432560"/>
                <a:gd name="connsiteY12-6156" fmla="*/ 441325 h 3588041"/>
                <a:gd name="connsiteX13-6157" fmla="*/ 886460 w 1432560"/>
                <a:gd name="connsiteY13-6158" fmla="*/ 0 h 3588041"/>
                <a:gd name="connsiteX14-6159" fmla="*/ 857885 w 1432560"/>
                <a:gd name="connsiteY14-6160" fmla="*/ 679450 h 3588041"/>
                <a:gd name="connsiteX15-6161" fmla="*/ 921385 w 1432560"/>
                <a:gd name="connsiteY15-6162" fmla="*/ 1047750 h 3588041"/>
                <a:gd name="connsiteX16-6163" fmla="*/ 930910 w 1432560"/>
                <a:gd name="connsiteY16-6164" fmla="*/ 1295400 h 3588041"/>
                <a:gd name="connsiteX17-6165" fmla="*/ 1102360 w 1432560"/>
                <a:gd name="connsiteY17-6166" fmla="*/ 1187450 h 3588041"/>
                <a:gd name="connsiteX18-6167" fmla="*/ 1375410 w 1432560"/>
                <a:gd name="connsiteY18-6168" fmla="*/ 1171575 h 3588041"/>
                <a:gd name="connsiteX19-6169" fmla="*/ 1108710 w 1432560"/>
                <a:gd name="connsiteY19-6170" fmla="*/ 1254125 h 3588041"/>
                <a:gd name="connsiteX20-6171" fmla="*/ 889635 w 1432560"/>
                <a:gd name="connsiteY20-6172" fmla="*/ 1527175 h 3588041"/>
                <a:gd name="connsiteX21-6173" fmla="*/ 835660 w 1432560"/>
                <a:gd name="connsiteY21-6174" fmla="*/ 1895475 h 3588041"/>
                <a:gd name="connsiteX22-6175" fmla="*/ 1003935 w 1432560"/>
                <a:gd name="connsiteY22-6176" fmla="*/ 2308225 h 3588041"/>
                <a:gd name="connsiteX23-6177" fmla="*/ 895985 w 1432560"/>
                <a:gd name="connsiteY23-6178" fmla="*/ 2578100 h 3588041"/>
                <a:gd name="connsiteX24-6179" fmla="*/ 1213485 w 1432560"/>
                <a:gd name="connsiteY24-6180" fmla="*/ 2533650 h 3588041"/>
                <a:gd name="connsiteX25-6181" fmla="*/ 1432560 w 1432560"/>
                <a:gd name="connsiteY25-6182" fmla="*/ 2626519 h 3588041"/>
                <a:gd name="connsiteX26-6183" fmla="*/ 1188085 w 1432560"/>
                <a:gd name="connsiteY26-6184" fmla="*/ 2590800 h 3588041"/>
                <a:gd name="connsiteX27-6185" fmla="*/ 832485 w 1432560"/>
                <a:gd name="connsiteY27-6186" fmla="*/ 2733675 h 3588041"/>
                <a:gd name="connsiteX28-6187" fmla="*/ 689610 w 1432560"/>
                <a:gd name="connsiteY28-6188" fmla="*/ 3086100 h 3588041"/>
                <a:gd name="connsiteX29-6189" fmla="*/ 918210 w 1432560"/>
                <a:gd name="connsiteY29-6190" fmla="*/ 3419475 h 3588041"/>
                <a:gd name="connsiteX30-6191" fmla="*/ 1016635 w 1432560"/>
                <a:gd name="connsiteY30-6192" fmla="*/ 3581400 h 3588041"/>
                <a:gd name="connsiteX0-6193" fmla="*/ 1016635 w 1432560"/>
                <a:gd name="connsiteY0-6194" fmla="*/ 3581400 h 3588041"/>
                <a:gd name="connsiteX1-6195" fmla="*/ 591185 w 1432560"/>
                <a:gd name="connsiteY1-6196" fmla="*/ 3587750 h 3588041"/>
                <a:gd name="connsiteX2-6197" fmla="*/ 394335 w 1432560"/>
                <a:gd name="connsiteY2-6198" fmla="*/ 3076575 h 3588041"/>
                <a:gd name="connsiteX3-6199" fmla="*/ 746760 w 1432560"/>
                <a:gd name="connsiteY3-6200" fmla="*/ 2381250 h 3588041"/>
                <a:gd name="connsiteX4-6201" fmla="*/ 560070 w 1432560"/>
                <a:gd name="connsiteY4-6202" fmla="*/ 1922145 h 3588041"/>
                <a:gd name="connsiteX5-6203" fmla="*/ 0 w 1432560"/>
                <a:gd name="connsiteY5-6204" fmla="*/ 1870710 h 3588041"/>
                <a:gd name="connsiteX6-6205" fmla="*/ 394335 w 1432560"/>
                <a:gd name="connsiteY6-6206" fmla="*/ 1743075 h 3588041"/>
                <a:gd name="connsiteX7-6207" fmla="*/ 641985 w 1432560"/>
                <a:gd name="connsiteY7-6208" fmla="*/ 1876425 h 3588041"/>
                <a:gd name="connsiteX8-6209" fmla="*/ 822960 w 1432560"/>
                <a:gd name="connsiteY8-6210" fmla="*/ 1333500 h 3588041"/>
                <a:gd name="connsiteX9-6211" fmla="*/ 763429 w 1432560"/>
                <a:gd name="connsiteY9-6212" fmla="*/ 823913 h 3588041"/>
                <a:gd name="connsiteX10-6213" fmla="*/ 387985 w 1432560"/>
                <a:gd name="connsiteY10-6214" fmla="*/ 695325 h 3588041"/>
                <a:gd name="connsiteX11-6215" fmla="*/ 781686 w 1432560"/>
                <a:gd name="connsiteY11-6216" fmla="*/ 724693 h 3588041"/>
                <a:gd name="connsiteX12-6217" fmla="*/ 799148 w 1432560"/>
                <a:gd name="connsiteY12-6218" fmla="*/ 441325 h 3588041"/>
                <a:gd name="connsiteX13-6219" fmla="*/ 886460 w 1432560"/>
                <a:gd name="connsiteY13-6220" fmla="*/ 0 h 3588041"/>
                <a:gd name="connsiteX14-6221" fmla="*/ 857885 w 1432560"/>
                <a:gd name="connsiteY14-6222" fmla="*/ 679450 h 3588041"/>
                <a:gd name="connsiteX15-6223" fmla="*/ 921385 w 1432560"/>
                <a:gd name="connsiteY15-6224" fmla="*/ 1047750 h 3588041"/>
                <a:gd name="connsiteX16-6225" fmla="*/ 930910 w 1432560"/>
                <a:gd name="connsiteY16-6226" fmla="*/ 1295400 h 3588041"/>
                <a:gd name="connsiteX17-6227" fmla="*/ 1102360 w 1432560"/>
                <a:gd name="connsiteY17-6228" fmla="*/ 1187450 h 3588041"/>
                <a:gd name="connsiteX18-6229" fmla="*/ 1375410 w 1432560"/>
                <a:gd name="connsiteY18-6230" fmla="*/ 1171575 h 3588041"/>
                <a:gd name="connsiteX19-6231" fmla="*/ 1108710 w 1432560"/>
                <a:gd name="connsiteY19-6232" fmla="*/ 1254125 h 3588041"/>
                <a:gd name="connsiteX20-6233" fmla="*/ 889635 w 1432560"/>
                <a:gd name="connsiteY20-6234" fmla="*/ 1527175 h 3588041"/>
                <a:gd name="connsiteX21-6235" fmla="*/ 835660 w 1432560"/>
                <a:gd name="connsiteY21-6236" fmla="*/ 1895475 h 3588041"/>
                <a:gd name="connsiteX22-6237" fmla="*/ 1003935 w 1432560"/>
                <a:gd name="connsiteY22-6238" fmla="*/ 2308225 h 3588041"/>
                <a:gd name="connsiteX23-6239" fmla="*/ 895985 w 1432560"/>
                <a:gd name="connsiteY23-6240" fmla="*/ 2578100 h 3588041"/>
                <a:gd name="connsiteX24-6241" fmla="*/ 1213485 w 1432560"/>
                <a:gd name="connsiteY24-6242" fmla="*/ 2533650 h 3588041"/>
                <a:gd name="connsiteX25-6243" fmla="*/ 1432560 w 1432560"/>
                <a:gd name="connsiteY25-6244" fmla="*/ 2626519 h 3588041"/>
                <a:gd name="connsiteX26-6245" fmla="*/ 1188085 w 1432560"/>
                <a:gd name="connsiteY26-6246" fmla="*/ 2590800 h 3588041"/>
                <a:gd name="connsiteX27-6247" fmla="*/ 832485 w 1432560"/>
                <a:gd name="connsiteY27-6248" fmla="*/ 2733675 h 3588041"/>
                <a:gd name="connsiteX28-6249" fmla="*/ 689610 w 1432560"/>
                <a:gd name="connsiteY28-6250" fmla="*/ 3086100 h 3588041"/>
                <a:gd name="connsiteX29-6251" fmla="*/ 918210 w 1432560"/>
                <a:gd name="connsiteY29-6252" fmla="*/ 3419475 h 3588041"/>
                <a:gd name="connsiteX30-6253" fmla="*/ 1016635 w 1432560"/>
                <a:gd name="connsiteY30-6254" fmla="*/ 3581400 h 3588041"/>
                <a:gd name="connsiteX0-6255" fmla="*/ 1016635 w 1432560"/>
                <a:gd name="connsiteY0-6256" fmla="*/ 3581400 h 3588041"/>
                <a:gd name="connsiteX1-6257" fmla="*/ 591185 w 1432560"/>
                <a:gd name="connsiteY1-6258" fmla="*/ 3587750 h 3588041"/>
                <a:gd name="connsiteX2-6259" fmla="*/ 394335 w 1432560"/>
                <a:gd name="connsiteY2-6260" fmla="*/ 3076575 h 3588041"/>
                <a:gd name="connsiteX3-6261" fmla="*/ 746760 w 1432560"/>
                <a:gd name="connsiteY3-6262" fmla="*/ 2381250 h 3588041"/>
                <a:gd name="connsiteX4-6263" fmla="*/ 560070 w 1432560"/>
                <a:gd name="connsiteY4-6264" fmla="*/ 1922145 h 3588041"/>
                <a:gd name="connsiteX5-6265" fmla="*/ 0 w 1432560"/>
                <a:gd name="connsiteY5-6266" fmla="*/ 1870710 h 3588041"/>
                <a:gd name="connsiteX6-6267" fmla="*/ 400685 w 1432560"/>
                <a:gd name="connsiteY6-6268" fmla="*/ 1771650 h 3588041"/>
                <a:gd name="connsiteX7-6269" fmla="*/ 641985 w 1432560"/>
                <a:gd name="connsiteY7-6270" fmla="*/ 1876425 h 3588041"/>
                <a:gd name="connsiteX8-6271" fmla="*/ 822960 w 1432560"/>
                <a:gd name="connsiteY8-6272" fmla="*/ 1333500 h 3588041"/>
                <a:gd name="connsiteX9-6273" fmla="*/ 763429 w 1432560"/>
                <a:gd name="connsiteY9-6274" fmla="*/ 823913 h 3588041"/>
                <a:gd name="connsiteX10-6275" fmla="*/ 387985 w 1432560"/>
                <a:gd name="connsiteY10-6276" fmla="*/ 695325 h 3588041"/>
                <a:gd name="connsiteX11-6277" fmla="*/ 781686 w 1432560"/>
                <a:gd name="connsiteY11-6278" fmla="*/ 724693 h 3588041"/>
                <a:gd name="connsiteX12-6279" fmla="*/ 799148 w 1432560"/>
                <a:gd name="connsiteY12-6280" fmla="*/ 441325 h 3588041"/>
                <a:gd name="connsiteX13-6281" fmla="*/ 886460 w 1432560"/>
                <a:gd name="connsiteY13-6282" fmla="*/ 0 h 3588041"/>
                <a:gd name="connsiteX14-6283" fmla="*/ 857885 w 1432560"/>
                <a:gd name="connsiteY14-6284" fmla="*/ 679450 h 3588041"/>
                <a:gd name="connsiteX15-6285" fmla="*/ 921385 w 1432560"/>
                <a:gd name="connsiteY15-6286" fmla="*/ 1047750 h 3588041"/>
                <a:gd name="connsiteX16-6287" fmla="*/ 930910 w 1432560"/>
                <a:gd name="connsiteY16-6288" fmla="*/ 1295400 h 3588041"/>
                <a:gd name="connsiteX17-6289" fmla="*/ 1102360 w 1432560"/>
                <a:gd name="connsiteY17-6290" fmla="*/ 1187450 h 3588041"/>
                <a:gd name="connsiteX18-6291" fmla="*/ 1375410 w 1432560"/>
                <a:gd name="connsiteY18-6292" fmla="*/ 1171575 h 3588041"/>
                <a:gd name="connsiteX19-6293" fmla="*/ 1108710 w 1432560"/>
                <a:gd name="connsiteY19-6294" fmla="*/ 1254125 h 3588041"/>
                <a:gd name="connsiteX20-6295" fmla="*/ 889635 w 1432560"/>
                <a:gd name="connsiteY20-6296" fmla="*/ 1527175 h 3588041"/>
                <a:gd name="connsiteX21-6297" fmla="*/ 835660 w 1432560"/>
                <a:gd name="connsiteY21-6298" fmla="*/ 1895475 h 3588041"/>
                <a:gd name="connsiteX22-6299" fmla="*/ 1003935 w 1432560"/>
                <a:gd name="connsiteY22-6300" fmla="*/ 2308225 h 3588041"/>
                <a:gd name="connsiteX23-6301" fmla="*/ 895985 w 1432560"/>
                <a:gd name="connsiteY23-6302" fmla="*/ 2578100 h 3588041"/>
                <a:gd name="connsiteX24-6303" fmla="*/ 1213485 w 1432560"/>
                <a:gd name="connsiteY24-6304" fmla="*/ 2533650 h 3588041"/>
                <a:gd name="connsiteX25-6305" fmla="*/ 1432560 w 1432560"/>
                <a:gd name="connsiteY25-6306" fmla="*/ 2626519 h 3588041"/>
                <a:gd name="connsiteX26-6307" fmla="*/ 1188085 w 1432560"/>
                <a:gd name="connsiteY26-6308" fmla="*/ 2590800 h 3588041"/>
                <a:gd name="connsiteX27-6309" fmla="*/ 832485 w 1432560"/>
                <a:gd name="connsiteY27-6310" fmla="*/ 2733675 h 3588041"/>
                <a:gd name="connsiteX28-6311" fmla="*/ 689610 w 1432560"/>
                <a:gd name="connsiteY28-6312" fmla="*/ 3086100 h 3588041"/>
                <a:gd name="connsiteX29-6313" fmla="*/ 918210 w 1432560"/>
                <a:gd name="connsiteY29-6314" fmla="*/ 3419475 h 3588041"/>
                <a:gd name="connsiteX30-6315" fmla="*/ 1016635 w 1432560"/>
                <a:gd name="connsiteY30-6316" fmla="*/ 3581400 h 3588041"/>
                <a:gd name="connsiteX0-6317" fmla="*/ 1016635 w 1432560"/>
                <a:gd name="connsiteY0-6318" fmla="*/ 3581400 h 3588041"/>
                <a:gd name="connsiteX1-6319" fmla="*/ 591185 w 1432560"/>
                <a:gd name="connsiteY1-6320" fmla="*/ 3587750 h 3588041"/>
                <a:gd name="connsiteX2-6321" fmla="*/ 394335 w 1432560"/>
                <a:gd name="connsiteY2-6322" fmla="*/ 3076575 h 3588041"/>
                <a:gd name="connsiteX3-6323" fmla="*/ 746760 w 1432560"/>
                <a:gd name="connsiteY3-6324" fmla="*/ 2381250 h 3588041"/>
                <a:gd name="connsiteX4-6325" fmla="*/ 560070 w 1432560"/>
                <a:gd name="connsiteY4-6326" fmla="*/ 1922145 h 3588041"/>
                <a:gd name="connsiteX5-6327" fmla="*/ 0 w 1432560"/>
                <a:gd name="connsiteY5-6328" fmla="*/ 1870710 h 3588041"/>
                <a:gd name="connsiteX6-6329" fmla="*/ 400685 w 1432560"/>
                <a:gd name="connsiteY6-6330" fmla="*/ 1771650 h 3588041"/>
                <a:gd name="connsiteX7-6331" fmla="*/ 641985 w 1432560"/>
                <a:gd name="connsiteY7-6332" fmla="*/ 1876425 h 3588041"/>
                <a:gd name="connsiteX8-6333" fmla="*/ 822960 w 1432560"/>
                <a:gd name="connsiteY8-6334" fmla="*/ 1333500 h 3588041"/>
                <a:gd name="connsiteX9-6335" fmla="*/ 763429 w 1432560"/>
                <a:gd name="connsiteY9-6336" fmla="*/ 823913 h 3588041"/>
                <a:gd name="connsiteX10-6337" fmla="*/ 387985 w 1432560"/>
                <a:gd name="connsiteY10-6338" fmla="*/ 695325 h 3588041"/>
                <a:gd name="connsiteX11-6339" fmla="*/ 781686 w 1432560"/>
                <a:gd name="connsiteY11-6340" fmla="*/ 724693 h 3588041"/>
                <a:gd name="connsiteX12-6341" fmla="*/ 799148 w 1432560"/>
                <a:gd name="connsiteY12-6342" fmla="*/ 441325 h 3588041"/>
                <a:gd name="connsiteX13-6343" fmla="*/ 886460 w 1432560"/>
                <a:gd name="connsiteY13-6344" fmla="*/ 0 h 3588041"/>
                <a:gd name="connsiteX14-6345" fmla="*/ 857885 w 1432560"/>
                <a:gd name="connsiteY14-6346" fmla="*/ 679450 h 3588041"/>
                <a:gd name="connsiteX15-6347" fmla="*/ 921385 w 1432560"/>
                <a:gd name="connsiteY15-6348" fmla="*/ 1047750 h 3588041"/>
                <a:gd name="connsiteX16-6349" fmla="*/ 930910 w 1432560"/>
                <a:gd name="connsiteY16-6350" fmla="*/ 1295400 h 3588041"/>
                <a:gd name="connsiteX17-6351" fmla="*/ 1102360 w 1432560"/>
                <a:gd name="connsiteY17-6352" fmla="*/ 1187450 h 3588041"/>
                <a:gd name="connsiteX18-6353" fmla="*/ 1375410 w 1432560"/>
                <a:gd name="connsiteY18-6354" fmla="*/ 1171575 h 3588041"/>
                <a:gd name="connsiteX19-6355" fmla="*/ 1108710 w 1432560"/>
                <a:gd name="connsiteY19-6356" fmla="*/ 1254125 h 3588041"/>
                <a:gd name="connsiteX20-6357" fmla="*/ 889635 w 1432560"/>
                <a:gd name="connsiteY20-6358" fmla="*/ 1527175 h 3588041"/>
                <a:gd name="connsiteX21-6359" fmla="*/ 835660 w 1432560"/>
                <a:gd name="connsiteY21-6360" fmla="*/ 1895475 h 3588041"/>
                <a:gd name="connsiteX22-6361" fmla="*/ 1003935 w 1432560"/>
                <a:gd name="connsiteY22-6362" fmla="*/ 2308225 h 3588041"/>
                <a:gd name="connsiteX23-6363" fmla="*/ 895985 w 1432560"/>
                <a:gd name="connsiteY23-6364" fmla="*/ 2578100 h 3588041"/>
                <a:gd name="connsiteX24-6365" fmla="*/ 1213485 w 1432560"/>
                <a:gd name="connsiteY24-6366" fmla="*/ 2533650 h 3588041"/>
                <a:gd name="connsiteX25-6367" fmla="*/ 1432560 w 1432560"/>
                <a:gd name="connsiteY25-6368" fmla="*/ 2626519 h 3588041"/>
                <a:gd name="connsiteX26-6369" fmla="*/ 1188085 w 1432560"/>
                <a:gd name="connsiteY26-6370" fmla="*/ 2590800 h 3588041"/>
                <a:gd name="connsiteX27-6371" fmla="*/ 832485 w 1432560"/>
                <a:gd name="connsiteY27-6372" fmla="*/ 2733675 h 3588041"/>
                <a:gd name="connsiteX28-6373" fmla="*/ 689610 w 1432560"/>
                <a:gd name="connsiteY28-6374" fmla="*/ 3086100 h 3588041"/>
                <a:gd name="connsiteX29-6375" fmla="*/ 918210 w 1432560"/>
                <a:gd name="connsiteY29-6376" fmla="*/ 3419475 h 3588041"/>
                <a:gd name="connsiteX30-6377" fmla="*/ 1016635 w 1432560"/>
                <a:gd name="connsiteY30-6378" fmla="*/ 3581400 h 3588041"/>
                <a:gd name="connsiteX0-6379" fmla="*/ 1016635 w 1432560"/>
                <a:gd name="connsiteY0-6380" fmla="*/ 3581400 h 3588041"/>
                <a:gd name="connsiteX1-6381" fmla="*/ 591185 w 1432560"/>
                <a:gd name="connsiteY1-6382" fmla="*/ 3587750 h 3588041"/>
                <a:gd name="connsiteX2-6383" fmla="*/ 394335 w 1432560"/>
                <a:gd name="connsiteY2-6384" fmla="*/ 3076575 h 3588041"/>
                <a:gd name="connsiteX3-6385" fmla="*/ 746760 w 1432560"/>
                <a:gd name="connsiteY3-6386" fmla="*/ 2381250 h 3588041"/>
                <a:gd name="connsiteX4-6387" fmla="*/ 560070 w 1432560"/>
                <a:gd name="connsiteY4-6388" fmla="*/ 1922145 h 3588041"/>
                <a:gd name="connsiteX5-6389" fmla="*/ 0 w 1432560"/>
                <a:gd name="connsiteY5-6390" fmla="*/ 1870710 h 3588041"/>
                <a:gd name="connsiteX6-6391" fmla="*/ 422910 w 1432560"/>
                <a:gd name="connsiteY6-6392" fmla="*/ 1787525 h 3588041"/>
                <a:gd name="connsiteX7-6393" fmla="*/ 641985 w 1432560"/>
                <a:gd name="connsiteY7-6394" fmla="*/ 1876425 h 3588041"/>
                <a:gd name="connsiteX8-6395" fmla="*/ 822960 w 1432560"/>
                <a:gd name="connsiteY8-6396" fmla="*/ 1333500 h 3588041"/>
                <a:gd name="connsiteX9-6397" fmla="*/ 763429 w 1432560"/>
                <a:gd name="connsiteY9-6398" fmla="*/ 823913 h 3588041"/>
                <a:gd name="connsiteX10-6399" fmla="*/ 387985 w 1432560"/>
                <a:gd name="connsiteY10-6400" fmla="*/ 695325 h 3588041"/>
                <a:gd name="connsiteX11-6401" fmla="*/ 781686 w 1432560"/>
                <a:gd name="connsiteY11-6402" fmla="*/ 724693 h 3588041"/>
                <a:gd name="connsiteX12-6403" fmla="*/ 799148 w 1432560"/>
                <a:gd name="connsiteY12-6404" fmla="*/ 441325 h 3588041"/>
                <a:gd name="connsiteX13-6405" fmla="*/ 886460 w 1432560"/>
                <a:gd name="connsiteY13-6406" fmla="*/ 0 h 3588041"/>
                <a:gd name="connsiteX14-6407" fmla="*/ 857885 w 1432560"/>
                <a:gd name="connsiteY14-6408" fmla="*/ 679450 h 3588041"/>
                <a:gd name="connsiteX15-6409" fmla="*/ 921385 w 1432560"/>
                <a:gd name="connsiteY15-6410" fmla="*/ 1047750 h 3588041"/>
                <a:gd name="connsiteX16-6411" fmla="*/ 930910 w 1432560"/>
                <a:gd name="connsiteY16-6412" fmla="*/ 1295400 h 3588041"/>
                <a:gd name="connsiteX17-6413" fmla="*/ 1102360 w 1432560"/>
                <a:gd name="connsiteY17-6414" fmla="*/ 1187450 h 3588041"/>
                <a:gd name="connsiteX18-6415" fmla="*/ 1375410 w 1432560"/>
                <a:gd name="connsiteY18-6416" fmla="*/ 1171575 h 3588041"/>
                <a:gd name="connsiteX19-6417" fmla="*/ 1108710 w 1432560"/>
                <a:gd name="connsiteY19-6418" fmla="*/ 1254125 h 3588041"/>
                <a:gd name="connsiteX20-6419" fmla="*/ 889635 w 1432560"/>
                <a:gd name="connsiteY20-6420" fmla="*/ 1527175 h 3588041"/>
                <a:gd name="connsiteX21-6421" fmla="*/ 835660 w 1432560"/>
                <a:gd name="connsiteY21-6422" fmla="*/ 1895475 h 3588041"/>
                <a:gd name="connsiteX22-6423" fmla="*/ 1003935 w 1432560"/>
                <a:gd name="connsiteY22-6424" fmla="*/ 2308225 h 3588041"/>
                <a:gd name="connsiteX23-6425" fmla="*/ 895985 w 1432560"/>
                <a:gd name="connsiteY23-6426" fmla="*/ 2578100 h 3588041"/>
                <a:gd name="connsiteX24-6427" fmla="*/ 1213485 w 1432560"/>
                <a:gd name="connsiteY24-6428" fmla="*/ 2533650 h 3588041"/>
                <a:gd name="connsiteX25-6429" fmla="*/ 1432560 w 1432560"/>
                <a:gd name="connsiteY25-6430" fmla="*/ 2626519 h 3588041"/>
                <a:gd name="connsiteX26-6431" fmla="*/ 1188085 w 1432560"/>
                <a:gd name="connsiteY26-6432" fmla="*/ 2590800 h 3588041"/>
                <a:gd name="connsiteX27-6433" fmla="*/ 832485 w 1432560"/>
                <a:gd name="connsiteY27-6434" fmla="*/ 2733675 h 3588041"/>
                <a:gd name="connsiteX28-6435" fmla="*/ 689610 w 1432560"/>
                <a:gd name="connsiteY28-6436" fmla="*/ 3086100 h 3588041"/>
                <a:gd name="connsiteX29-6437" fmla="*/ 918210 w 1432560"/>
                <a:gd name="connsiteY29-6438" fmla="*/ 3419475 h 3588041"/>
                <a:gd name="connsiteX30-6439" fmla="*/ 1016635 w 1432560"/>
                <a:gd name="connsiteY30-6440" fmla="*/ 3581400 h 3588041"/>
                <a:gd name="connsiteX0-6441" fmla="*/ 1016635 w 1432560"/>
                <a:gd name="connsiteY0-6442" fmla="*/ 3581400 h 3588041"/>
                <a:gd name="connsiteX1-6443" fmla="*/ 591185 w 1432560"/>
                <a:gd name="connsiteY1-6444" fmla="*/ 3587750 h 3588041"/>
                <a:gd name="connsiteX2-6445" fmla="*/ 394335 w 1432560"/>
                <a:gd name="connsiteY2-6446" fmla="*/ 3076575 h 3588041"/>
                <a:gd name="connsiteX3-6447" fmla="*/ 746760 w 1432560"/>
                <a:gd name="connsiteY3-6448" fmla="*/ 2381250 h 3588041"/>
                <a:gd name="connsiteX4-6449" fmla="*/ 569595 w 1432560"/>
                <a:gd name="connsiteY4-6450" fmla="*/ 1925320 h 3588041"/>
                <a:gd name="connsiteX5-6451" fmla="*/ 0 w 1432560"/>
                <a:gd name="connsiteY5-6452" fmla="*/ 1870710 h 3588041"/>
                <a:gd name="connsiteX6-6453" fmla="*/ 422910 w 1432560"/>
                <a:gd name="connsiteY6-6454" fmla="*/ 1787525 h 3588041"/>
                <a:gd name="connsiteX7-6455" fmla="*/ 641985 w 1432560"/>
                <a:gd name="connsiteY7-6456" fmla="*/ 1876425 h 3588041"/>
                <a:gd name="connsiteX8-6457" fmla="*/ 822960 w 1432560"/>
                <a:gd name="connsiteY8-6458" fmla="*/ 1333500 h 3588041"/>
                <a:gd name="connsiteX9-6459" fmla="*/ 763429 w 1432560"/>
                <a:gd name="connsiteY9-6460" fmla="*/ 823913 h 3588041"/>
                <a:gd name="connsiteX10-6461" fmla="*/ 387985 w 1432560"/>
                <a:gd name="connsiteY10-6462" fmla="*/ 695325 h 3588041"/>
                <a:gd name="connsiteX11-6463" fmla="*/ 781686 w 1432560"/>
                <a:gd name="connsiteY11-6464" fmla="*/ 724693 h 3588041"/>
                <a:gd name="connsiteX12-6465" fmla="*/ 799148 w 1432560"/>
                <a:gd name="connsiteY12-6466" fmla="*/ 441325 h 3588041"/>
                <a:gd name="connsiteX13-6467" fmla="*/ 886460 w 1432560"/>
                <a:gd name="connsiteY13-6468" fmla="*/ 0 h 3588041"/>
                <a:gd name="connsiteX14-6469" fmla="*/ 857885 w 1432560"/>
                <a:gd name="connsiteY14-6470" fmla="*/ 679450 h 3588041"/>
                <a:gd name="connsiteX15-6471" fmla="*/ 921385 w 1432560"/>
                <a:gd name="connsiteY15-6472" fmla="*/ 1047750 h 3588041"/>
                <a:gd name="connsiteX16-6473" fmla="*/ 930910 w 1432560"/>
                <a:gd name="connsiteY16-6474" fmla="*/ 1295400 h 3588041"/>
                <a:gd name="connsiteX17-6475" fmla="*/ 1102360 w 1432560"/>
                <a:gd name="connsiteY17-6476" fmla="*/ 1187450 h 3588041"/>
                <a:gd name="connsiteX18-6477" fmla="*/ 1375410 w 1432560"/>
                <a:gd name="connsiteY18-6478" fmla="*/ 1171575 h 3588041"/>
                <a:gd name="connsiteX19-6479" fmla="*/ 1108710 w 1432560"/>
                <a:gd name="connsiteY19-6480" fmla="*/ 1254125 h 3588041"/>
                <a:gd name="connsiteX20-6481" fmla="*/ 889635 w 1432560"/>
                <a:gd name="connsiteY20-6482" fmla="*/ 1527175 h 3588041"/>
                <a:gd name="connsiteX21-6483" fmla="*/ 835660 w 1432560"/>
                <a:gd name="connsiteY21-6484" fmla="*/ 1895475 h 3588041"/>
                <a:gd name="connsiteX22-6485" fmla="*/ 1003935 w 1432560"/>
                <a:gd name="connsiteY22-6486" fmla="*/ 2308225 h 3588041"/>
                <a:gd name="connsiteX23-6487" fmla="*/ 895985 w 1432560"/>
                <a:gd name="connsiteY23-6488" fmla="*/ 2578100 h 3588041"/>
                <a:gd name="connsiteX24-6489" fmla="*/ 1213485 w 1432560"/>
                <a:gd name="connsiteY24-6490" fmla="*/ 2533650 h 3588041"/>
                <a:gd name="connsiteX25-6491" fmla="*/ 1432560 w 1432560"/>
                <a:gd name="connsiteY25-6492" fmla="*/ 2626519 h 3588041"/>
                <a:gd name="connsiteX26-6493" fmla="*/ 1188085 w 1432560"/>
                <a:gd name="connsiteY26-6494" fmla="*/ 2590800 h 3588041"/>
                <a:gd name="connsiteX27-6495" fmla="*/ 832485 w 1432560"/>
                <a:gd name="connsiteY27-6496" fmla="*/ 2733675 h 3588041"/>
                <a:gd name="connsiteX28-6497" fmla="*/ 689610 w 1432560"/>
                <a:gd name="connsiteY28-6498" fmla="*/ 3086100 h 3588041"/>
                <a:gd name="connsiteX29-6499" fmla="*/ 918210 w 1432560"/>
                <a:gd name="connsiteY29-6500" fmla="*/ 3419475 h 3588041"/>
                <a:gd name="connsiteX30-6501" fmla="*/ 1016635 w 1432560"/>
                <a:gd name="connsiteY30-6502" fmla="*/ 3581400 h 3588041"/>
                <a:gd name="connsiteX0-6503" fmla="*/ 1016635 w 1432560"/>
                <a:gd name="connsiteY0-6504" fmla="*/ 3581400 h 3588041"/>
                <a:gd name="connsiteX1-6505" fmla="*/ 591185 w 1432560"/>
                <a:gd name="connsiteY1-6506" fmla="*/ 3587750 h 3588041"/>
                <a:gd name="connsiteX2-6507" fmla="*/ 394335 w 1432560"/>
                <a:gd name="connsiteY2-6508" fmla="*/ 3076575 h 3588041"/>
                <a:gd name="connsiteX3-6509" fmla="*/ 746760 w 1432560"/>
                <a:gd name="connsiteY3-6510" fmla="*/ 2381250 h 3588041"/>
                <a:gd name="connsiteX4-6511" fmla="*/ 582295 w 1432560"/>
                <a:gd name="connsiteY4-6512" fmla="*/ 1953895 h 3588041"/>
                <a:gd name="connsiteX5-6513" fmla="*/ 0 w 1432560"/>
                <a:gd name="connsiteY5-6514" fmla="*/ 1870710 h 3588041"/>
                <a:gd name="connsiteX6-6515" fmla="*/ 422910 w 1432560"/>
                <a:gd name="connsiteY6-6516" fmla="*/ 1787525 h 3588041"/>
                <a:gd name="connsiteX7-6517" fmla="*/ 641985 w 1432560"/>
                <a:gd name="connsiteY7-6518" fmla="*/ 1876425 h 3588041"/>
                <a:gd name="connsiteX8-6519" fmla="*/ 822960 w 1432560"/>
                <a:gd name="connsiteY8-6520" fmla="*/ 1333500 h 3588041"/>
                <a:gd name="connsiteX9-6521" fmla="*/ 763429 w 1432560"/>
                <a:gd name="connsiteY9-6522" fmla="*/ 823913 h 3588041"/>
                <a:gd name="connsiteX10-6523" fmla="*/ 387985 w 1432560"/>
                <a:gd name="connsiteY10-6524" fmla="*/ 695325 h 3588041"/>
                <a:gd name="connsiteX11-6525" fmla="*/ 781686 w 1432560"/>
                <a:gd name="connsiteY11-6526" fmla="*/ 724693 h 3588041"/>
                <a:gd name="connsiteX12-6527" fmla="*/ 799148 w 1432560"/>
                <a:gd name="connsiteY12-6528" fmla="*/ 441325 h 3588041"/>
                <a:gd name="connsiteX13-6529" fmla="*/ 886460 w 1432560"/>
                <a:gd name="connsiteY13-6530" fmla="*/ 0 h 3588041"/>
                <a:gd name="connsiteX14-6531" fmla="*/ 857885 w 1432560"/>
                <a:gd name="connsiteY14-6532" fmla="*/ 679450 h 3588041"/>
                <a:gd name="connsiteX15-6533" fmla="*/ 921385 w 1432560"/>
                <a:gd name="connsiteY15-6534" fmla="*/ 1047750 h 3588041"/>
                <a:gd name="connsiteX16-6535" fmla="*/ 930910 w 1432560"/>
                <a:gd name="connsiteY16-6536" fmla="*/ 1295400 h 3588041"/>
                <a:gd name="connsiteX17-6537" fmla="*/ 1102360 w 1432560"/>
                <a:gd name="connsiteY17-6538" fmla="*/ 1187450 h 3588041"/>
                <a:gd name="connsiteX18-6539" fmla="*/ 1375410 w 1432560"/>
                <a:gd name="connsiteY18-6540" fmla="*/ 1171575 h 3588041"/>
                <a:gd name="connsiteX19-6541" fmla="*/ 1108710 w 1432560"/>
                <a:gd name="connsiteY19-6542" fmla="*/ 1254125 h 3588041"/>
                <a:gd name="connsiteX20-6543" fmla="*/ 889635 w 1432560"/>
                <a:gd name="connsiteY20-6544" fmla="*/ 1527175 h 3588041"/>
                <a:gd name="connsiteX21-6545" fmla="*/ 835660 w 1432560"/>
                <a:gd name="connsiteY21-6546" fmla="*/ 1895475 h 3588041"/>
                <a:gd name="connsiteX22-6547" fmla="*/ 1003935 w 1432560"/>
                <a:gd name="connsiteY22-6548" fmla="*/ 2308225 h 3588041"/>
                <a:gd name="connsiteX23-6549" fmla="*/ 895985 w 1432560"/>
                <a:gd name="connsiteY23-6550" fmla="*/ 2578100 h 3588041"/>
                <a:gd name="connsiteX24-6551" fmla="*/ 1213485 w 1432560"/>
                <a:gd name="connsiteY24-6552" fmla="*/ 2533650 h 3588041"/>
                <a:gd name="connsiteX25-6553" fmla="*/ 1432560 w 1432560"/>
                <a:gd name="connsiteY25-6554" fmla="*/ 2626519 h 3588041"/>
                <a:gd name="connsiteX26-6555" fmla="*/ 1188085 w 1432560"/>
                <a:gd name="connsiteY26-6556" fmla="*/ 2590800 h 3588041"/>
                <a:gd name="connsiteX27-6557" fmla="*/ 832485 w 1432560"/>
                <a:gd name="connsiteY27-6558" fmla="*/ 2733675 h 3588041"/>
                <a:gd name="connsiteX28-6559" fmla="*/ 689610 w 1432560"/>
                <a:gd name="connsiteY28-6560" fmla="*/ 3086100 h 3588041"/>
                <a:gd name="connsiteX29-6561" fmla="*/ 918210 w 1432560"/>
                <a:gd name="connsiteY29-6562" fmla="*/ 3419475 h 3588041"/>
                <a:gd name="connsiteX30-6563" fmla="*/ 1016635 w 1432560"/>
                <a:gd name="connsiteY30-6564" fmla="*/ 3581400 h 3588041"/>
                <a:gd name="connsiteX0-6565" fmla="*/ 1016635 w 1432560"/>
                <a:gd name="connsiteY0-6566" fmla="*/ 3581400 h 3588041"/>
                <a:gd name="connsiteX1-6567" fmla="*/ 591185 w 1432560"/>
                <a:gd name="connsiteY1-6568" fmla="*/ 3587750 h 3588041"/>
                <a:gd name="connsiteX2-6569" fmla="*/ 394335 w 1432560"/>
                <a:gd name="connsiteY2-6570" fmla="*/ 3076575 h 3588041"/>
                <a:gd name="connsiteX3-6571" fmla="*/ 746760 w 1432560"/>
                <a:gd name="connsiteY3-6572" fmla="*/ 2381250 h 3588041"/>
                <a:gd name="connsiteX4-6573" fmla="*/ 582295 w 1432560"/>
                <a:gd name="connsiteY4-6574" fmla="*/ 1953895 h 3588041"/>
                <a:gd name="connsiteX5-6575" fmla="*/ 0 w 1432560"/>
                <a:gd name="connsiteY5-6576" fmla="*/ 1870710 h 3588041"/>
                <a:gd name="connsiteX6-6577" fmla="*/ 422910 w 1432560"/>
                <a:gd name="connsiteY6-6578" fmla="*/ 1787525 h 3588041"/>
                <a:gd name="connsiteX7-6579" fmla="*/ 641985 w 1432560"/>
                <a:gd name="connsiteY7-6580" fmla="*/ 1876425 h 3588041"/>
                <a:gd name="connsiteX8-6581" fmla="*/ 822960 w 1432560"/>
                <a:gd name="connsiteY8-6582" fmla="*/ 1333500 h 3588041"/>
                <a:gd name="connsiteX9-6583" fmla="*/ 763429 w 1432560"/>
                <a:gd name="connsiteY9-6584" fmla="*/ 823913 h 3588041"/>
                <a:gd name="connsiteX10-6585" fmla="*/ 387985 w 1432560"/>
                <a:gd name="connsiteY10-6586" fmla="*/ 695325 h 3588041"/>
                <a:gd name="connsiteX11-6587" fmla="*/ 781686 w 1432560"/>
                <a:gd name="connsiteY11-6588" fmla="*/ 724693 h 3588041"/>
                <a:gd name="connsiteX12-6589" fmla="*/ 799148 w 1432560"/>
                <a:gd name="connsiteY12-6590" fmla="*/ 441325 h 3588041"/>
                <a:gd name="connsiteX13-6591" fmla="*/ 886460 w 1432560"/>
                <a:gd name="connsiteY13-6592" fmla="*/ 0 h 3588041"/>
                <a:gd name="connsiteX14-6593" fmla="*/ 857885 w 1432560"/>
                <a:gd name="connsiteY14-6594" fmla="*/ 679450 h 3588041"/>
                <a:gd name="connsiteX15-6595" fmla="*/ 921385 w 1432560"/>
                <a:gd name="connsiteY15-6596" fmla="*/ 1047750 h 3588041"/>
                <a:gd name="connsiteX16-6597" fmla="*/ 930910 w 1432560"/>
                <a:gd name="connsiteY16-6598" fmla="*/ 1295400 h 3588041"/>
                <a:gd name="connsiteX17-6599" fmla="*/ 1102360 w 1432560"/>
                <a:gd name="connsiteY17-6600" fmla="*/ 1187450 h 3588041"/>
                <a:gd name="connsiteX18-6601" fmla="*/ 1375410 w 1432560"/>
                <a:gd name="connsiteY18-6602" fmla="*/ 1171575 h 3588041"/>
                <a:gd name="connsiteX19-6603" fmla="*/ 1108710 w 1432560"/>
                <a:gd name="connsiteY19-6604" fmla="*/ 1254125 h 3588041"/>
                <a:gd name="connsiteX20-6605" fmla="*/ 889635 w 1432560"/>
                <a:gd name="connsiteY20-6606" fmla="*/ 1527175 h 3588041"/>
                <a:gd name="connsiteX21-6607" fmla="*/ 835660 w 1432560"/>
                <a:gd name="connsiteY21-6608" fmla="*/ 1895475 h 3588041"/>
                <a:gd name="connsiteX22-6609" fmla="*/ 1003935 w 1432560"/>
                <a:gd name="connsiteY22-6610" fmla="*/ 2308225 h 3588041"/>
                <a:gd name="connsiteX23-6611" fmla="*/ 895985 w 1432560"/>
                <a:gd name="connsiteY23-6612" fmla="*/ 2578100 h 3588041"/>
                <a:gd name="connsiteX24-6613" fmla="*/ 1165860 w 1432560"/>
                <a:gd name="connsiteY24-6614" fmla="*/ 2524125 h 3588041"/>
                <a:gd name="connsiteX25-6615" fmla="*/ 1432560 w 1432560"/>
                <a:gd name="connsiteY25-6616" fmla="*/ 2626519 h 3588041"/>
                <a:gd name="connsiteX26-6617" fmla="*/ 1188085 w 1432560"/>
                <a:gd name="connsiteY26-6618" fmla="*/ 2590800 h 3588041"/>
                <a:gd name="connsiteX27-6619" fmla="*/ 832485 w 1432560"/>
                <a:gd name="connsiteY27-6620" fmla="*/ 2733675 h 3588041"/>
                <a:gd name="connsiteX28-6621" fmla="*/ 689610 w 1432560"/>
                <a:gd name="connsiteY28-6622" fmla="*/ 3086100 h 3588041"/>
                <a:gd name="connsiteX29-6623" fmla="*/ 918210 w 1432560"/>
                <a:gd name="connsiteY29-6624" fmla="*/ 3419475 h 3588041"/>
                <a:gd name="connsiteX30-6625" fmla="*/ 1016635 w 1432560"/>
                <a:gd name="connsiteY30-6626" fmla="*/ 3581400 h 3588041"/>
                <a:gd name="connsiteX0-6627" fmla="*/ 1016635 w 1432560"/>
                <a:gd name="connsiteY0-6628" fmla="*/ 3581400 h 3588041"/>
                <a:gd name="connsiteX1-6629" fmla="*/ 591185 w 1432560"/>
                <a:gd name="connsiteY1-6630" fmla="*/ 3587750 h 3588041"/>
                <a:gd name="connsiteX2-6631" fmla="*/ 394335 w 1432560"/>
                <a:gd name="connsiteY2-6632" fmla="*/ 3076575 h 3588041"/>
                <a:gd name="connsiteX3-6633" fmla="*/ 746760 w 1432560"/>
                <a:gd name="connsiteY3-6634" fmla="*/ 2381250 h 3588041"/>
                <a:gd name="connsiteX4-6635" fmla="*/ 582295 w 1432560"/>
                <a:gd name="connsiteY4-6636" fmla="*/ 1953895 h 3588041"/>
                <a:gd name="connsiteX5-6637" fmla="*/ 0 w 1432560"/>
                <a:gd name="connsiteY5-6638" fmla="*/ 1870710 h 3588041"/>
                <a:gd name="connsiteX6-6639" fmla="*/ 422910 w 1432560"/>
                <a:gd name="connsiteY6-6640" fmla="*/ 1787525 h 3588041"/>
                <a:gd name="connsiteX7-6641" fmla="*/ 641985 w 1432560"/>
                <a:gd name="connsiteY7-6642" fmla="*/ 1876425 h 3588041"/>
                <a:gd name="connsiteX8-6643" fmla="*/ 822960 w 1432560"/>
                <a:gd name="connsiteY8-6644" fmla="*/ 1333500 h 3588041"/>
                <a:gd name="connsiteX9-6645" fmla="*/ 763429 w 1432560"/>
                <a:gd name="connsiteY9-6646" fmla="*/ 823913 h 3588041"/>
                <a:gd name="connsiteX10-6647" fmla="*/ 387985 w 1432560"/>
                <a:gd name="connsiteY10-6648" fmla="*/ 695325 h 3588041"/>
                <a:gd name="connsiteX11-6649" fmla="*/ 781686 w 1432560"/>
                <a:gd name="connsiteY11-6650" fmla="*/ 724693 h 3588041"/>
                <a:gd name="connsiteX12-6651" fmla="*/ 799148 w 1432560"/>
                <a:gd name="connsiteY12-6652" fmla="*/ 441325 h 3588041"/>
                <a:gd name="connsiteX13-6653" fmla="*/ 886460 w 1432560"/>
                <a:gd name="connsiteY13-6654" fmla="*/ 0 h 3588041"/>
                <a:gd name="connsiteX14-6655" fmla="*/ 857885 w 1432560"/>
                <a:gd name="connsiteY14-6656" fmla="*/ 679450 h 3588041"/>
                <a:gd name="connsiteX15-6657" fmla="*/ 921385 w 1432560"/>
                <a:gd name="connsiteY15-6658" fmla="*/ 1047750 h 3588041"/>
                <a:gd name="connsiteX16-6659" fmla="*/ 930910 w 1432560"/>
                <a:gd name="connsiteY16-6660" fmla="*/ 1295400 h 3588041"/>
                <a:gd name="connsiteX17-6661" fmla="*/ 1102360 w 1432560"/>
                <a:gd name="connsiteY17-6662" fmla="*/ 1187450 h 3588041"/>
                <a:gd name="connsiteX18-6663" fmla="*/ 1375410 w 1432560"/>
                <a:gd name="connsiteY18-6664" fmla="*/ 1171575 h 3588041"/>
                <a:gd name="connsiteX19-6665" fmla="*/ 1108710 w 1432560"/>
                <a:gd name="connsiteY19-6666" fmla="*/ 1254125 h 3588041"/>
                <a:gd name="connsiteX20-6667" fmla="*/ 889635 w 1432560"/>
                <a:gd name="connsiteY20-6668" fmla="*/ 1527175 h 3588041"/>
                <a:gd name="connsiteX21-6669" fmla="*/ 835660 w 1432560"/>
                <a:gd name="connsiteY21-6670" fmla="*/ 1895475 h 3588041"/>
                <a:gd name="connsiteX22-6671" fmla="*/ 1003935 w 1432560"/>
                <a:gd name="connsiteY22-6672" fmla="*/ 2308225 h 3588041"/>
                <a:gd name="connsiteX23-6673" fmla="*/ 895985 w 1432560"/>
                <a:gd name="connsiteY23-6674" fmla="*/ 2578100 h 3588041"/>
                <a:gd name="connsiteX24-6675" fmla="*/ 1165860 w 1432560"/>
                <a:gd name="connsiteY24-6676" fmla="*/ 2524125 h 3588041"/>
                <a:gd name="connsiteX25-6677" fmla="*/ 1432560 w 1432560"/>
                <a:gd name="connsiteY25-6678" fmla="*/ 2626519 h 3588041"/>
                <a:gd name="connsiteX26-6679" fmla="*/ 1188085 w 1432560"/>
                <a:gd name="connsiteY26-6680" fmla="*/ 2590800 h 3588041"/>
                <a:gd name="connsiteX27-6681" fmla="*/ 832485 w 1432560"/>
                <a:gd name="connsiteY27-6682" fmla="*/ 2733675 h 3588041"/>
                <a:gd name="connsiteX28-6683" fmla="*/ 689610 w 1432560"/>
                <a:gd name="connsiteY28-6684" fmla="*/ 3086100 h 3588041"/>
                <a:gd name="connsiteX29-6685" fmla="*/ 918210 w 1432560"/>
                <a:gd name="connsiteY29-6686" fmla="*/ 3419475 h 3588041"/>
                <a:gd name="connsiteX30-6687" fmla="*/ 1016635 w 1432560"/>
                <a:gd name="connsiteY30-6688" fmla="*/ 3581400 h 3588041"/>
                <a:gd name="connsiteX0-6689" fmla="*/ 1016635 w 1432560"/>
                <a:gd name="connsiteY0-6690" fmla="*/ 3581400 h 3588041"/>
                <a:gd name="connsiteX1-6691" fmla="*/ 591185 w 1432560"/>
                <a:gd name="connsiteY1-6692" fmla="*/ 3587750 h 3588041"/>
                <a:gd name="connsiteX2-6693" fmla="*/ 394335 w 1432560"/>
                <a:gd name="connsiteY2-6694" fmla="*/ 3076575 h 3588041"/>
                <a:gd name="connsiteX3-6695" fmla="*/ 746760 w 1432560"/>
                <a:gd name="connsiteY3-6696" fmla="*/ 2381250 h 3588041"/>
                <a:gd name="connsiteX4-6697" fmla="*/ 582295 w 1432560"/>
                <a:gd name="connsiteY4-6698" fmla="*/ 1953895 h 3588041"/>
                <a:gd name="connsiteX5-6699" fmla="*/ 0 w 1432560"/>
                <a:gd name="connsiteY5-6700" fmla="*/ 1870710 h 3588041"/>
                <a:gd name="connsiteX6-6701" fmla="*/ 422910 w 1432560"/>
                <a:gd name="connsiteY6-6702" fmla="*/ 1787525 h 3588041"/>
                <a:gd name="connsiteX7-6703" fmla="*/ 641985 w 1432560"/>
                <a:gd name="connsiteY7-6704" fmla="*/ 1876425 h 3588041"/>
                <a:gd name="connsiteX8-6705" fmla="*/ 822960 w 1432560"/>
                <a:gd name="connsiteY8-6706" fmla="*/ 1333500 h 3588041"/>
                <a:gd name="connsiteX9-6707" fmla="*/ 763429 w 1432560"/>
                <a:gd name="connsiteY9-6708" fmla="*/ 823913 h 3588041"/>
                <a:gd name="connsiteX10-6709" fmla="*/ 387985 w 1432560"/>
                <a:gd name="connsiteY10-6710" fmla="*/ 695325 h 3588041"/>
                <a:gd name="connsiteX11-6711" fmla="*/ 781686 w 1432560"/>
                <a:gd name="connsiteY11-6712" fmla="*/ 724693 h 3588041"/>
                <a:gd name="connsiteX12-6713" fmla="*/ 799148 w 1432560"/>
                <a:gd name="connsiteY12-6714" fmla="*/ 441325 h 3588041"/>
                <a:gd name="connsiteX13-6715" fmla="*/ 886460 w 1432560"/>
                <a:gd name="connsiteY13-6716" fmla="*/ 0 h 3588041"/>
                <a:gd name="connsiteX14-6717" fmla="*/ 857885 w 1432560"/>
                <a:gd name="connsiteY14-6718" fmla="*/ 679450 h 3588041"/>
                <a:gd name="connsiteX15-6719" fmla="*/ 921385 w 1432560"/>
                <a:gd name="connsiteY15-6720" fmla="*/ 1047750 h 3588041"/>
                <a:gd name="connsiteX16-6721" fmla="*/ 930910 w 1432560"/>
                <a:gd name="connsiteY16-6722" fmla="*/ 1295400 h 3588041"/>
                <a:gd name="connsiteX17-6723" fmla="*/ 1102360 w 1432560"/>
                <a:gd name="connsiteY17-6724" fmla="*/ 1187450 h 3588041"/>
                <a:gd name="connsiteX18-6725" fmla="*/ 1375410 w 1432560"/>
                <a:gd name="connsiteY18-6726" fmla="*/ 1171575 h 3588041"/>
                <a:gd name="connsiteX19-6727" fmla="*/ 1108710 w 1432560"/>
                <a:gd name="connsiteY19-6728" fmla="*/ 1254125 h 3588041"/>
                <a:gd name="connsiteX20-6729" fmla="*/ 889635 w 1432560"/>
                <a:gd name="connsiteY20-6730" fmla="*/ 1527175 h 3588041"/>
                <a:gd name="connsiteX21-6731" fmla="*/ 835660 w 1432560"/>
                <a:gd name="connsiteY21-6732" fmla="*/ 1895475 h 3588041"/>
                <a:gd name="connsiteX22-6733" fmla="*/ 1003935 w 1432560"/>
                <a:gd name="connsiteY22-6734" fmla="*/ 2308225 h 3588041"/>
                <a:gd name="connsiteX23-6735" fmla="*/ 895985 w 1432560"/>
                <a:gd name="connsiteY23-6736" fmla="*/ 2578100 h 3588041"/>
                <a:gd name="connsiteX24-6737" fmla="*/ 1165860 w 1432560"/>
                <a:gd name="connsiteY24-6738" fmla="*/ 2524125 h 3588041"/>
                <a:gd name="connsiteX25-6739" fmla="*/ 1432560 w 1432560"/>
                <a:gd name="connsiteY25-6740" fmla="*/ 2626519 h 3588041"/>
                <a:gd name="connsiteX26-6741" fmla="*/ 1188085 w 1432560"/>
                <a:gd name="connsiteY26-6742" fmla="*/ 2590800 h 3588041"/>
                <a:gd name="connsiteX27-6743" fmla="*/ 832485 w 1432560"/>
                <a:gd name="connsiteY27-6744" fmla="*/ 2733675 h 3588041"/>
                <a:gd name="connsiteX28-6745" fmla="*/ 689610 w 1432560"/>
                <a:gd name="connsiteY28-6746" fmla="*/ 3086100 h 3588041"/>
                <a:gd name="connsiteX29-6747" fmla="*/ 918210 w 1432560"/>
                <a:gd name="connsiteY29-6748" fmla="*/ 3419475 h 3588041"/>
                <a:gd name="connsiteX30-6749" fmla="*/ 1016635 w 1432560"/>
                <a:gd name="connsiteY30-6750" fmla="*/ 3581400 h 3588041"/>
                <a:gd name="connsiteX0-6751" fmla="*/ 1016635 w 1432560"/>
                <a:gd name="connsiteY0-6752" fmla="*/ 3581400 h 3588041"/>
                <a:gd name="connsiteX1-6753" fmla="*/ 591185 w 1432560"/>
                <a:gd name="connsiteY1-6754" fmla="*/ 3587750 h 3588041"/>
                <a:gd name="connsiteX2-6755" fmla="*/ 394335 w 1432560"/>
                <a:gd name="connsiteY2-6756" fmla="*/ 3076575 h 3588041"/>
                <a:gd name="connsiteX3-6757" fmla="*/ 746760 w 1432560"/>
                <a:gd name="connsiteY3-6758" fmla="*/ 2381250 h 3588041"/>
                <a:gd name="connsiteX4-6759" fmla="*/ 582295 w 1432560"/>
                <a:gd name="connsiteY4-6760" fmla="*/ 1953895 h 3588041"/>
                <a:gd name="connsiteX5-6761" fmla="*/ 0 w 1432560"/>
                <a:gd name="connsiteY5-6762" fmla="*/ 1870710 h 3588041"/>
                <a:gd name="connsiteX6-6763" fmla="*/ 422910 w 1432560"/>
                <a:gd name="connsiteY6-6764" fmla="*/ 1787525 h 3588041"/>
                <a:gd name="connsiteX7-6765" fmla="*/ 641985 w 1432560"/>
                <a:gd name="connsiteY7-6766" fmla="*/ 1876425 h 3588041"/>
                <a:gd name="connsiteX8-6767" fmla="*/ 822960 w 1432560"/>
                <a:gd name="connsiteY8-6768" fmla="*/ 1333500 h 3588041"/>
                <a:gd name="connsiteX9-6769" fmla="*/ 763429 w 1432560"/>
                <a:gd name="connsiteY9-6770" fmla="*/ 823913 h 3588041"/>
                <a:gd name="connsiteX10-6771" fmla="*/ 387985 w 1432560"/>
                <a:gd name="connsiteY10-6772" fmla="*/ 695325 h 3588041"/>
                <a:gd name="connsiteX11-6773" fmla="*/ 781686 w 1432560"/>
                <a:gd name="connsiteY11-6774" fmla="*/ 724693 h 3588041"/>
                <a:gd name="connsiteX12-6775" fmla="*/ 799148 w 1432560"/>
                <a:gd name="connsiteY12-6776" fmla="*/ 441325 h 3588041"/>
                <a:gd name="connsiteX13-6777" fmla="*/ 886460 w 1432560"/>
                <a:gd name="connsiteY13-6778" fmla="*/ 0 h 3588041"/>
                <a:gd name="connsiteX14-6779" fmla="*/ 857885 w 1432560"/>
                <a:gd name="connsiteY14-6780" fmla="*/ 679450 h 3588041"/>
                <a:gd name="connsiteX15-6781" fmla="*/ 921385 w 1432560"/>
                <a:gd name="connsiteY15-6782" fmla="*/ 1047750 h 3588041"/>
                <a:gd name="connsiteX16-6783" fmla="*/ 930910 w 1432560"/>
                <a:gd name="connsiteY16-6784" fmla="*/ 1295400 h 3588041"/>
                <a:gd name="connsiteX17-6785" fmla="*/ 1102360 w 1432560"/>
                <a:gd name="connsiteY17-6786" fmla="*/ 1187450 h 3588041"/>
                <a:gd name="connsiteX18-6787" fmla="*/ 1375410 w 1432560"/>
                <a:gd name="connsiteY18-6788" fmla="*/ 1171575 h 3588041"/>
                <a:gd name="connsiteX19-6789" fmla="*/ 1108710 w 1432560"/>
                <a:gd name="connsiteY19-6790" fmla="*/ 1254125 h 3588041"/>
                <a:gd name="connsiteX20-6791" fmla="*/ 889635 w 1432560"/>
                <a:gd name="connsiteY20-6792" fmla="*/ 1527175 h 3588041"/>
                <a:gd name="connsiteX21-6793" fmla="*/ 835660 w 1432560"/>
                <a:gd name="connsiteY21-6794" fmla="*/ 1895475 h 3588041"/>
                <a:gd name="connsiteX22-6795" fmla="*/ 1003935 w 1432560"/>
                <a:gd name="connsiteY22-6796" fmla="*/ 2308225 h 3588041"/>
                <a:gd name="connsiteX23-6797" fmla="*/ 895985 w 1432560"/>
                <a:gd name="connsiteY23-6798" fmla="*/ 2578100 h 3588041"/>
                <a:gd name="connsiteX24-6799" fmla="*/ 1165860 w 1432560"/>
                <a:gd name="connsiteY24-6800" fmla="*/ 2524125 h 3588041"/>
                <a:gd name="connsiteX25-6801" fmla="*/ 1432560 w 1432560"/>
                <a:gd name="connsiteY25-6802" fmla="*/ 2626519 h 3588041"/>
                <a:gd name="connsiteX26-6803" fmla="*/ 1188085 w 1432560"/>
                <a:gd name="connsiteY26-6804" fmla="*/ 2590800 h 3588041"/>
                <a:gd name="connsiteX27-6805" fmla="*/ 832485 w 1432560"/>
                <a:gd name="connsiteY27-6806" fmla="*/ 2733675 h 3588041"/>
                <a:gd name="connsiteX28-6807" fmla="*/ 689610 w 1432560"/>
                <a:gd name="connsiteY28-6808" fmla="*/ 3086100 h 3588041"/>
                <a:gd name="connsiteX29-6809" fmla="*/ 918210 w 1432560"/>
                <a:gd name="connsiteY29-6810" fmla="*/ 3419475 h 3588041"/>
                <a:gd name="connsiteX30-6811" fmla="*/ 1016635 w 1432560"/>
                <a:gd name="connsiteY30-6812" fmla="*/ 3581400 h 3588041"/>
                <a:gd name="connsiteX0-6813" fmla="*/ 1016635 w 1432560"/>
                <a:gd name="connsiteY0-6814" fmla="*/ 3581400 h 3588041"/>
                <a:gd name="connsiteX1-6815" fmla="*/ 591185 w 1432560"/>
                <a:gd name="connsiteY1-6816" fmla="*/ 3587750 h 3588041"/>
                <a:gd name="connsiteX2-6817" fmla="*/ 394335 w 1432560"/>
                <a:gd name="connsiteY2-6818" fmla="*/ 3076575 h 3588041"/>
                <a:gd name="connsiteX3-6819" fmla="*/ 746760 w 1432560"/>
                <a:gd name="connsiteY3-6820" fmla="*/ 2381250 h 3588041"/>
                <a:gd name="connsiteX4-6821" fmla="*/ 582295 w 1432560"/>
                <a:gd name="connsiteY4-6822" fmla="*/ 1953895 h 3588041"/>
                <a:gd name="connsiteX5-6823" fmla="*/ 0 w 1432560"/>
                <a:gd name="connsiteY5-6824" fmla="*/ 1870710 h 3588041"/>
                <a:gd name="connsiteX6-6825" fmla="*/ 422910 w 1432560"/>
                <a:gd name="connsiteY6-6826" fmla="*/ 1787525 h 3588041"/>
                <a:gd name="connsiteX7-6827" fmla="*/ 641985 w 1432560"/>
                <a:gd name="connsiteY7-6828" fmla="*/ 1876425 h 3588041"/>
                <a:gd name="connsiteX8-6829" fmla="*/ 822960 w 1432560"/>
                <a:gd name="connsiteY8-6830" fmla="*/ 1333500 h 3588041"/>
                <a:gd name="connsiteX9-6831" fmla="*/ 763429 w 1432560"/>
                <a:gd name="connsiteY9-6832" fmla="*/ 823913 h 3588041"/>
                <a:gd name="connsiteX10-6833" fmla="*/ 387985 w 1432560"/>
                <a:gd name="connsiteY10-6834" fmla="*/ 695325 h 3588041"/>
                <a:gd name="connsiteX11-6835" fmla="*/ 781686 w 1432560"/>
                <a:gd name="connsiteY11-6836" fmla="*/ 724693 h 3588041"/>
                <a:gd name="connsiteX12-6837" fmla="*/ 799148 w 1432560"/>
                <a:gd name="connsiteY12-6838" fmla="*/ 441325 h 3588041"/>
                <a:gd name="connsiteX13-6839" fmla="*/ 886460 w 1432560"/>
                <a:gd name="connsiteY13-6840" fmla="*/ 0 h 3588041"/>
                <a:gd name="connsiteX14-6841" fmla="*/ 857885 w 1432560"/>
                <a:gd name="connsiteY14-6842" fmla="*/ 679450 h 3588041"/>
                <a:gd name="connsiteX15-6843" fmla="*/ 921385 w 1432560"/>
                <a:gd name="connsiteY15-6844" fmla="*/ 1047750 h 3588041"/>
                <a:gd name="connsiteX16-6845" fmla="*/ 930910 w 1432560"/>
                <a:gd name="connsiteY16-6846" fmla="*/ 1295400 h 3588041"/>
                <a:gd name="connsiteX17-6847" fmla="*/ 1102360 w 1432560"/>
                <a:gd name="connsiteY17-6848" fmla="*/ 1187450 h 3588041"/>
                <a:gd name="connsiteX18-6849" fmla="*/ 1375410 w 1432560"/>
                <a:gd name="connsiteY18-6850" fmla="*/ 1171575 h 3588041"/>
                <a:gd name="connsiteX19-6851" fmla="*/ 1108710 w 1432560"/>
                <a:gd name="connsiteY19-6852" fmla="*/ 1254125 h 3588041"/>
                <a:gd name="connsiteX20-6853" fmla="*/ 889635 w 1432560"/>
                <a:gd name="connsiteY20-6854" fmla="*/ 1527175 h 3588041"/>
                <a:gd name="connsiteX21-6855" fmla="*/ 835660 w 1432560"/>
                <a:gd name="connsiteY21-6856" fmla="*/ 1895475 h 3588041"/>
                <a:gd name="connsiteX22-6857" fmla="*/ 1003935 w 1432560"/>
                <a:gd name="connsiteY22-6858" fmla="*/ 2308225 h 3588041"/>
                <a:gd name="connsiteX23-6859" fmla="*/ 895985 w 1432560"/>
                <a:gd name="connsiteY23-6860" fmla="*/ 2578100 h 3588041"/>
                <a:gd name="connsiteX24-6861" fmla="*/ 1165860 w 1432560"/>
                <a:gd name="connsiteY24-6862" fmla="*/ 2524125 h 3588041"/>
                <a:gd name="connsiteX25-6863" fmla="*/ 1432560 w 1432560"/>
                <a:gd name="connsiteY25-6864" fmla="*/ 2626519 h 3588041"/>
                <a:gd name="connsiteX26-6865" fmla="*/ 1188085 w 1432560"/>
                <a:gd name="connsiteY26-6866" fmla="*/ 2590800 h 3588041"/>
                <a:gd name="connsiteX27-6867" fmla="*/ 832485 w 1432560"/>
                <a:gd name="connsiteY27-6868" fmla="*/ 2733675 h 3588041"/>
                <a:gd name="connsiteX28-6869" fmla="*/ 689610 w 1432560"/>
                <a:gd name="connsiteY28-6870" fmla="*/ 3086100 h 3588041"/>
                <a:gd name="connsiteX29-6871" fmla="*/ 918210 w 1432560"/>
                <a:gd name="connsiteY29-6872" fmla="*/ 3419475 h 3588041"/>
                <a:gd name="connsiteX30-6873" fmla="*/ 1016635 w 1432560"/>
                <a:gd name="connsiteY30-6874" fmla="*/ 3581400 h 3588041"/>
                <a:gd name="connsiteX0-6875" fmla="*/ 1016635 w 1432560"/>
                <a:gd name="connsiteY0-6876" fmla="*/ 3581400 h 3588041"/>
                <a:gd name="connsiteX1-6877" fmla="*/ 591185 w 1432560"/>
                <a:gd name="connsiteY1-6878" fmla="*/ 3587750 h 3588041"/>
                <a:gd name="connsiteX2-6879" fmla="*/ 394335 w 1432560"/>
                <a:gd name="connsiteY2-6880" fmla="*/ 3076575 h 3588041"/>
                <a:gd name="connsiteX3-6881" fmla="*/ 746760 w 1432560"/>
                <a:gd name="connsiteY3-6882" fmla="*/ 2381250 h 3588041"/>
                <a:gd name="connsiteX4-6883" fmla="*/ 582295 w 1432560"/>
                <a:gd name="connsiteY4-6884" fmla="*/ 1953895 h 3588041"/>
                <a:gd name="connsiteX5-6885" fmla="*/ 0 w 1432560"/>
                <a:gd name="connsiteY5-6886" fmla="*/ 1870710 h 3588041"/>
                <a:gd name="connsiteX6-6887" fmla="*/ 422910 w 1432560"/>
                <a:gd name="connsiteY6-6888" fmla="*/ 1787525 h 3588041"/>
                <a:gd name="connsiteX7-6889" fmla="*/ 641985 w 1432560"/>
                <a:gd name="connsiteY7-6890" fmla="*/ 1876425 h 3588041"/>
                <a:gd name="connsiteX8-6891" fmla="*/ 822960 w 1432560"/>
                <a:gd name="connsiteY8-6892" fmla="*/ 1333500 h 3588041"/>
                <a:gd name="connsiteX9-6893" fmla="*/ 763429 w 1432560"/>
                <a:gd name="connsiteY9-6894" fmla="*/ 823913 h 3588041"/>
                <a:gd name="connsiteX10-6895" fmla="*/ 387985 w 1432560"/>
                <a:gd name="connsiteY10-6896" fmla="*/ 695325 h 3588041"/>
                <a:gd name="connsiteX11-6897" fmla="*/ 781686 w 1432560"/>
                <a:gd name="connsiteY11-6898" fmla="*/ 724693 h 3588041"/>
                <a:gd name="connsiteX12-6899" fmla="*/ 799148 w 1432560"/>
                <a:gd name="connsiteY12-6900" fmla="*/ 441325 h 3588041"/>
                <a:gd name="connsiteX13-6901" fmla="*/ 886460 w 1432560"/>
                <a:gd name="connsiteY13-6902" fmla="*/ 0 h 3588041"/>
                <a:gd name="connsiteX14-6903" fmla="*/ 857885 w 1432560"/>
                <a:gd name="connsiteY14-6904" fmla="*/ 679450 h 3588041"/>
                <a:gd name="connsiteX15-6905" fmla="*/ 921385 w 1432560"/>
                <a:gd name="connsiteY15-6906" fmla="*/ 1047750 h 3588041"/>
                <a:gd name="connsiteX16-6907" fmla="*/ 930910 w 1432560"/>
                <a:gd name="connsiteY16-6908" fmla="*/ 1295400 h 3588041"/>
                <a:gd name="connsiteX17-6909" fmla="*/ 1102360 w 1432560"/>
                <a:gd name="connsiteY17-6910" fmla="*/ 1187450 h 3588041"/>
                <a:gd name="connsiteX18-6911" fmla="*/ 1375410 w 1432560"/>
                <a:gd name="connsiteY18-6912" fmla="*/ 1171575 h 3588041"/>
                <a:gd name="connsiteX19-6913" fmla="*/ 1108710 w 1432560"/>
                <a:gd name="connsiteY19-6914" fmla="*/ 1254125 h 3588041"/>
                <a:gd name="connsiteX20-6915" fmla="*/ 889635 w 1432560"/>
                <a:gd name="connsiteY20-6916" fmla="*/ 1527175 h 3588041"/>
                <a:gd name="connsiteX21-6917" fmla="*/ 835660 w 1432560"/>
                <a:gd name="connsiteY21-6918" fmla="*/ 1895475 h 3588041"/>
                <a:gd name="connsiteX22-6919" fmla="*/ 1003935 w 1432560"/>
                <a:gd name="connsiteY22-6920" fmla="*/ 2308225 h 3588041"/>
                <a:gd name="connsiteX23-6921" fmla="*/ 895985 w 1432560"/>
                <a:gd name="connsiteY23-6922" fmla="*/ 2578100 h 3588041"/>
                <a:gd name="connsiteX24-6923" fmla="*/ 1165860 w 1432560"/>
                <a:gd name="connsiteY24-6924" fmla="*/ 2524125 h 3588041"/>
                <a:gd name="connsiteX25-6925" fmla="*/ 1432560 w 1432560"/>
                <a:gd name="connsiteY25-6926" fmla="*/ 2626519 h 3588041"/>
                <a:gd name="connsiteX26-6927" fmla="*/ 1188085 w 1432560"/>
                <a:gd name="connsiteY26-6928" fmla="*/ 2590800 h 3588041"/>
                <a:gd name="connsiteX27-6929" fmla="*/ 832485 w 1432560"/>
                <a:gd name="connsiteY27-6930" fmla="*/ 2733675 h 3588041"/>
                <a:gd name="connsiteX28-6931" fmla="*/ 689610 w 1432560"/>
                <a:gd name="connsiteY28-6932" fmla="*/ 3086100 h 3588041"/>
                <a:gd name="connsiteX29-6933" fmla="*/ 918210 w 1432560"/>
                <a:gd name="connsiteY29-6934" fmla="*/ 3419475 h 3588041"/>
                <a:gd name="connsiteX30-6935" fmla="*/ 1016635 w 1432560"/>
                <a:gd name="connsiteY30-6936" fmla="*/ 3581400 h 3588041"/>
                <a:gd name="connsiteX0-6937" fmla="*/ 1016635 w 1432560"/>
                <a:gd name="connsiteY0-6938" fmla="*/ 3581400 h 3588041"/>
                <a:gd name="connsiteX1-6939" fmla="*/ 591185 w 1432560"/>
                <a:gd name="connsiteY1-6940" fmla="*/ 3587750 h 3588041"/>
                <a:gd name="connsiteX2-6941" fmla="*/ 394335 w 1432560"/>
                <a:gd name="connsiteY2-6942" fmla="*/ 3076575 h 3588041"/>
                <a:gd name="connsiteX3-6943" fmla="*/ 746760 w 1432560"/>
                <a:gd name="connsiteY3-6944" fmla="*/ 2381250 h 3588041"/>
                <a:gd name="connsiteX4-6945" fmla="*/ 582295 w 1432560"/>
                <a:gd name="connsiteY4-6946" fmla="*/ 1953895 h 3588041"/>
                <a:gd name="connsiteX5-6947" fmla="*/ 0 w 1432560"/>
                <a:gd name="connsiteY5-6948" fmla="*/ 1870710 h 3588041"/>
                <a:gd name="connsiteX6-6949" fmla="*/ 422910 w 1432560"/>
                <a:gd name="connsiteY6-6950" fmla="*/ 1787525 h 3588041"/>
                <a:gd name="connsiteX7-6951" fmla="*/ 641985 w 1432560"/>
                <a:gd name="connsiteY7-6952" fmla="*/ 1876425 h 3588041"/>
                <a:gd name="connsiteX8-6953" fmla="*/ 822960 w 1432560"/>
                <a:gd name="connsiteY8-6954" fmla="*/ 1333500 h 3588041"/>
                <a:gd name="connsiteX9-6955" fmla="*/ 763429 w 1432560"/>
                <a:gd name="connsiteY9-6956" fmla="*/ 823913 h 3588041"/>
                <a:gd name="connsiteX10-6957" fmla="*/ 387985 w 1432560"/>
                <a:gd name="connsiteY10-6958" fmla="*/ 695325 h 3588041"/>
                <a:gd name="connsiteX11-6959" fmla="*/ 784067 w 1432560"/>
                <a:gd name="connsiteY11-6960" fmla="*/ 734218 h 3588041"/>
                <a:gd name="connsiteX12-6961" fmla="*/ 799148 w 1432560"/>
                <a:gd name="connsiteY12-6962" fmla="*/ 441325 h 3588041"/>
                <a:gd name="connsiteX13-6963" fmla="*/ 886460 w 1432560"/>
                <a:gd name="connsiteY13-6964" fmla="*/ 0 h 3588041"/>
                <a:gd name="connsiteX14-6965" fmla="*/ 857885 w 1432560"/>
                <a:gd name="connsiteY14-6966" fmla="*/ 679450 h 3588041"/>
                <a:gd name="connsiteX15-6967" fmla="*/ 921385 w 1432560"/>
                <a:gd name="connsiteY15-6968" fmla="*/ 1047750 h 3588041"/>
                <a:gd name="connsiteX16-6969" fmla="*/ 930910 w 1432560"/>
                <a:gd name="connsiteY16-6970" fmla="*/ 1295400 h 3588041"/>
                <a:gd name="connsiteX17-6971" fmla="*/ 1102360 w 1432560"/>
                <a:gd name="connsiteY17-6972" fmla="*/ 1187450 h 3588041"/>
                <a:gd name="connsiteX18-6973" fmla="*/ 1375410 w 1432560"/>
                <a:gd name="connsiteY18-6974" fmla="*/ 1171575 h 3588041"/>
                <a:gd name="connsiteX19-6975" fmla="*/ 1108710 w 1432560"/>
                <a:gd name="connsiteY19-6976" fmla="*/ 1254125 h 3588041"/>
                <a:gd name="connsiteX20-6977" fmla="*/ 889635 w 1432560"/>
                <a:gd name="connsiteY20-6978" fmla="*/ 1527175 h 3588041"/>
                <a:gd name="connsiteX21-6979" fmla="*/ 835660 w 1432560"/>
                <a:gd name="connsiteY21-6980" fmla="*/ 1895475 h 3588041"/>
                <a:gd name="connsiteX22-6981" fmla="*/ 1003935 w 1432560"/>
                <a:gd name="connsiteY22-6982" fmla="*/ 2308225 h 3588041"/>
                <a:gd name="connsiteX23-6983" fmla="*/ 895985 w 1432560"/>
                <a:gd name="connsiteY23-6984" fmla="*/ 2578100 h 3588041"/>
                <a:gd name="connsiteX24-6985" fmla="*/ 1165860 w 1432560"/>
                <a:gd name="connsiteY24-6986" fmla="*/ 2524125 h 3588041"/>
                <a:gd name="connsiteX25-6987" fmla="*/ 1432560 w 1432560"/>
                <a:gd name="connsiteY25-6988" fmla="*/ 2626519 h 3588041"/>
                <a:gd name="connsiteX26-6989" fmla="*/ 1188085 w 1432560"/>
                <a:gd name="connsiteY26-6990" fmla="*/ 2590800 h 3588041"/>
                <a:gd name="connsiteX27-6991" fmla="*/ 832485 w 1432560"/>
                <a:gd name="connsiteY27-6992" fmla="*/ 2733675 h 3588041"/>
                <a:gd name="connsiteX28-6993" fmla="*/ 689610 w 1432560"/>
                <a:gd name="connsiteY28-6994" fmla="*/ 3086100 h 3588041"/>
                <a:gd name="connsiteX29-6995" fmla="*/ 918210 w 1432560"/>
                <a:gd name="connsiteY29-6996" fmla="*/ 3419475 h 3588041"/>
                <a:gd name="connsiteX30-6997" fmla="*/ 1016635 w 1432560"/>
                <a:gd name="connsiteY30-6998" fmla="*/ 3581400 h 3588041"/>
                <a:gd name="connsiteX0-6999" fmla="*/ 1016635 w 1432560"/>
                <a:gd name="connsiteY0-7000" fmla="*/ 3581400 h 3588041"/>
                <a:gd name="connsiteX1-7001" fmla="*/ 591185 w 1432560"/>
                <a:gd name="connsiteY1-7002" fmla="*/ 3587750 h 3588041"/>
                <a:gd name="connsiteX2-7003" fmla="*/ 394335 w 1432560"/>
                <a:gd name="connsiteY2-7004" fmla="*/ 3076575 h 3588041"/>
                <a:gd name="connsiteX3-7005" fmla="*/ 746760 w 1432560"/>
                <a:gd name="connsiteY3-7006" fmla="*/ 2381250 h 3588041"/>
                <a:gd name="connsiteX4-7007" fmla="*/ 582295 w 1432560"/>
                <a:gd name="connsiteY4-7008" fmla="*/ 1953895 h 3588041"/>
                <a:gd name="connsiteX5-7009" fmla="*/ 0 w 1432560"/>
                <a:gd name="connsiteY5-7010" fmla="*/ 1870710 h 3588041"/>
                <a:gd name="connsiteX6-7011" fmla="*/ 422910 w 1432560"/>
                <a:gd name="connsiteY6-7012" fmla="*/ 1787525 h 3588041"/>
                <a:gd name="connsiteX7-7013" fmla="*/ 641985 w 1432560"/>
                <a:gd name="connsiteY7-7014" fmla="*/ 1876425 h 3588041"/>
                <a:gd name="connsiteX8-7015" fmla="*/ 822960 w 1432560"/>
                <a:gd name="connsiteY8-7016" fmla="*/ 1333500 h 3588041"/>
                <a:gd name="connsiteX9-7017" fmla="*/ 763429 w 1432560"/>
                <a:gd name="connsiteY9-7018" fmla="*/ 823913 h 3588041"/>
                <a:gd name="connsiteX10-7019" fmla="*/ 387985 w 1432560"/>
                <a:gd name="connsiteY10-7020" fmla="*/ 695325 h 3588041"/>
                <a:gd name="connsiteX11-7021" fmla="*/ 784067 w 1432560"/>
                <a:gd name="connsiteY11-7022" fmla="*/ 734218 h 3588041"/>
                <a:gd name="connsiteX12-7023" fmla="*/ 799148 w 1432560"/>
                <a:gd name="connsiteY12-7024" fmla="*/ 441325 h 3588041"/>
                <a:gd name="connsiteX13-7025" fmla="*/ 886460 w 1432560"/>
                <a:gd name="connsiteY13-7026" fmla="*/ 0 h 3588041"/>
                <a:gd name="connsiteX14-7027" fmla="*/ 857885 w 1432560"/>
                <a:gd name="connsiteY14-7028" fmla="*/ 679450 h 3588041"/>
                <a:gd name="connsiteX15-7029" fmla="*/ 921385 w 1432560"/>
                <a:gd name="connsiteY15-7030" fmla="*/ 1047750 h 3588041"/>
                <a:gd name="connsiteX16-7031" fmla="*/ 930910 w 1432560"/>
                <a:gd name="connsiteY16-7032" fmla="*/ 1295400 h 3588041"/>
                <a:gd name="connsiteX17-7033" fmla="*/ 1102360 w 1432560"/>
                <a:gd name="connsiteY17-7034" fmla="*/ 1187450 h 3588041"/>
                <a:gd name="connsiteX18-7035" fmla="*/ 1375410 w 1432560"/>
                <a:gd name="connsiteY18-7036" fmla="*/ 1171575 h 3588041"/>
                <a:gd name="connsiteX19-7037" fmla="*/ 1108710 w 1432560"/>
                <a:gd name="connsiteY19-7038" fmla="*/ 1254125 h 3588041"/>
                <a:gd name="connsiteX20-7039" fmla="*/ 889635 w 1432560"/>
                <a:gd name="connsiteY20-7040" fmla="*/ 1527175 h 3588041"/>
                <a:gd name="connsiteX21-7041" fmla="*/ 835660 w 1432560"/>
                <a:gd name="connsiteY21-7042" fmla="*/ 1895475 h 3588041"/>
                <a:gd name="connsiteX22-7043" fmla="*/ 1003935 w 1432560"/>
                <a:gd name="connsiteY22-7044" fmla="*/ 2308225 h 3588041"/>
                <a:gd name="connsiteX23-7045" fmla="*/ 895985 w 1432560"/>
                <a:gd name="connsiteY23-7046" fmla="*/ 2578100 h 3588041"/>
                <a:gd name="connsiteX24-7047" fmla="*/ 1165860 w 1432560"/>
                <a:gd name="connsiteY24-7048" fmla="*/ 2524125 h 3588041"/>
                <a:gd name="connsiteX25-7049" fmla="*/ 1432560 w 1432560"/>
                <a:gd name="connsiteY25-7050" fmla="*/ 2626519 h 3588041"/>
                <a:gd name="connsiteX26-7051" fmla="*/ 1188085 w 1432560"/>
                <a:gd name="connsiteY26-7052" fmla="*/ 2590800 h 3588041"/>
                <a:gd name="connsiteX27-7053" fmla="*/ 832485 w 1432560"/>
                <a:gd name="connsiteY27-7054" fmla="*/ 2733675 h 3588041"/>
                <a:gd name="connsiteX28-7055" fmla="*/ 689610 w 1432560"/>
                <a:gd name="connsiteY28-7056" fmla="*/ 3086100 h 3588041"/>
                <a:gd name="connsiteX29-7057" fmla="*/ 918210 w 1432560"/>
                <a:gd name="connsiteY29-7058" fmla="*/ 3419475 h 3588041"/>
                <a:gd name="connsiteX30-7059" fmla="*/ 1016635 w 1432560"/>
                <a:gd name="connsiteY30-7060" fmla="*/ 3581400 h 3588041"/>
                <a:gd name="connsiteX0-7061" fmla="*/ 1016635 w 1432560"/>
                <a:gd name="connsiteY0-7062" fmla="*/ 3581400 h 3588041"/>
                <a:gd name="connsiteX1-7063" fmla="*/ 591185 w 1432560"/>
                <a:gd name="connsiteY1-7064" fmla="*/ 3587750 h 3588041"/>
                <a:gd name="connsiteX2-7065" fmla="*/ 394335 w 1432560"/>
                <a:gd name="connsiteY2-7066" fmla="*/ 3076575 h 3588041"/>
                <a:gd name="connsiteX3-7067" fmla="*/ 746760 w 1432560"/>
                <a:gd name="connsiteY3-7068" fmla="*/ 2381250 h 3588041"/>
                <a:gd name="connsiteX4-7069" fmla="*/ 582295 w 1432560"/>
                <a:gd name="connsiteY4-7070" fmla="*/ 1953895 h 3588041"/>
                <a:gd name="connsiteX5-7071" fmla="*/ 0 w 1432560"/>
                <a:gd name="connsiteY5-7072" fmla="*/ 1870710 h 3588041"/>
                <a:gd name="connsiteX6-7073" fmla="*/ 422910 w 1432560"/>
                <a:gd name="connsiteY6-7074" fmla="*/ 1787525 h 3588041"/>
                <a:gd name="connsiteX7-7075" fmla="*/ 641985 w 1432560"/>
                <a:gd name="connsiteY7-7076" fmla="*/ 1876425 h 3588041"/>
                <a:gd name="connsiteX8-7077" fmla="*/ 822960 w 1432560"/>
                <a:gd name="connsiteY8-7078" fmla="*/ 1333500 h 3588041"/>
                <a:gd name="connsiteX9-7079" fmla="*/ 763429 w 1432560"/>
                <a:gd name="connsiteY9-7080" fmla="*/ 823913 h 3588041"/>
                <a:gd name="connsiteX10-7081" fmla="*/ 387985 w 1432560"/>
                <a:gd name="connsiteY10-7082" fmla="*/ 695325 h 3588041"/>
                <a:gd name="connsiteX11-7083" fmla="*/ 784067 w 1432560"/>
                <a:gd name="connsiteY11-7084" fmla="*/ 734218 h 3588041"/>
                <a:gd name="connsiteX12-7085" fmla="*/ 799148 w 1432560"/>
                <a:gd name="connsiteY12-7086" fmla="*/ 441325 h 3588041"/>
                <a:gd name="connsiteX13-7087" fmla="*/ 886460 w 1432560"/>
                <a:gd name="connsiteY13-7088" fmla="*/ 0 h 3588041"/>
                <a:gd name="connsiteX14-7089" fmla="*/ 857885 w 1432560"/>
                <a:gd name="connsiteY14-7090" fmla="*/ 679450 h 3588041"/>
                <a:gd name="connsiteX15-7091" fmla="*/ 921385 w 1432560"/>
                <a:gd name="connsiteY15-7092" fmla="*/ 1047750 h 3588041"/>
                <a:gd name="connsiteX16-7093" fmla="*/ 930910 w 1432560"/>
                <a:gd name="connsiteY16-7094" fmla="*/ 1295400 h 3588041"/>
                <a:gd name="connsiteX17-7095" fmla="*/ 1102360 w 1432560"/>
                <a:gd name="connsiteY17-7096" fmla="*/ 1187450 h 3588041"/>
                <a:gd name="connsiteX18-7097" fmla="*/ 1375410 w 1432560"/>
                <a:gd name="connsiteY18-7098" fmla="*/ 1171575 h 3588041"/>
                <a:gd name="connsiteX19-7099" fmla="*/ 1108710 w 1432560"/>
                <a:gd name="connsiteY19-7100" fmla="*/ 1254125 h 3588041"/>
                <a:gd name="connsiteX20-7101" fmla="*/ 889635 w 1432560"/>
                <a:gd name="connsiteY20-7102" fmla="*/ 1527175 h 3588041"/>
                <a:gd name="connsiteX21-7103" fmla="*/ 835660 w 1432560"/>
                <a:gd name="connsiteY21-7104" fmla="*/ 1895475 h 3588041"/>
                <a:gd name="connsiteX22-7105" fmla="*/ 1003935 w 1432560"/>
                <a:gd name="connsiteY22-7106" fmla="*/ 2308225 h 3588041"/>
                <a:gd name="connsiteX23-7107" fmla="*/ 895985 w 1432560"/>
                <a:gd name="connsiteY23-7108" fmla="*/ 2578100 h 3588041"/>
                <a:gd name="connsiteX24-7109" fmla="*/ 1165860 w 1432560"/>
                <a:gd name="connsiteY24-7110" fmla="*/ 2524125 h 3588041"/>
                <a:gd name="connsiteX25-7111" fmla="*/ 1432560 w 1432560"/>
                <a:gd name="connsiteY25-7112" fmla="*/ 2626519 h 3588041"/>
                <a:gd name="connsiteX26-7113" fmla="*/ 1188085 w 1432560"/>
                <a:gd name="connsiteY26-7114" fmla="*/ 2590800 h 3588041"/>
                <a:gd name="connsiteX27-7115" fmla="*/ 832485 w 1432560"/>
                <a:gd name="connsiteY27-7116" fmla="*/ 2733675 h 3588041"/>
                <a:gd name="connsiteX28-7117" fmla="*/ 689610 w 1432560"/>
                <a:gd name="connsiteY28-7118" fmla="*/ 3086100 h 3588041"/>
                <a:gd name="connsiteX29-7119" fmla="*/ 918210 w 1432560"/>
                <a:gd name="connsiteY29-7120" fmla="*/ 3419475 h 3588041"/>
                <a:gd name="connsiteX30-7121" fmla="*/ 1016635 w 1432560"/>
                <a:gd name="connsiteY30-7122" fmla="*/ 3581400 h 3588041"/>
                <a:gd name="connsiteX0-7123" fmla="*/ 1003935 w 1419860"/>
                <a:gd name="connsiteY0-7124" fmla="*/ 3581400 h 3588041"/>
                <a:gd name="connsiteX1-7125" fmla="*/ 578485 w 1419860"/>
                <a:gd name="connsiteY1-7126" fmla="*/ 3587750 h 3588041"/>
                <a:gd name="connsiteX2-7127" fmla="*/ 381635 w 1419860"/>
                <a:gd name="connsiteY2-7128" fmla="*/ 3076575 h 3588041"/>
                <a:gd name="connsiteX3-7129" fmla="*/ 734060 w 1419860"/>
                <a:gd name="connsiteY3-7130" fmla="*/ 2381250 h 3588041"/>
                <a:gd name="connsiteX4-7131" fmla="*/ 569595 w 1419860"/>
                <a:gd name="connsiteY4-7132" fmla="*/ 1953895 h 3588041"/>
                <a:gd name="connsiteX5-7133" fmla="*/ 0 w 1419860"/>
                <a:gd name="connsiteY5-7134" fmla="*/ 1902460 h 3588041"/>
                <a:gd name="connsiteX6-7135" fmla="*/ 410210 w 1419860"/>
                <a:gd name="connsiteY6-7136" fmla="*/ 1787525 h 3588041"/>
                <a:gd name="connsiteX7-7137" fmla="*/ 629285 w 1419860"/>
                <a:gd name="connsiteY7-7138" fmla="*/ 1876425 h 3588041"/>
                <a:gd name="connsiteX8-7139" fmla="*/ 810260 w 1419860"/>
                <a:gd name="connsiteY8-7140" fmla="*/ 1333500 h 3588041"/>
                <a:gd name="connsiteX9-7141" fmla="*/ 750729 w 1419860"/>
                <a:gd name="connsiteY9-7142" fmla="*/ 823913 h 3588041"/>
                <a:gd name="connsiteX10-7143" fmla="*/ 375285 w 1419860"/>
                <a:gd name="connsiteY10-7144" fmla="*/ 695325 h 3588041"/>
                <a:gd name="connsiteX11-7145" fmla="*/ 771367 w 1419860"/>
                <a:gd name="connsiteY11-7146" fmla="*/ 734218 h 3588041"/>
                <a:gd name="connsiteX12-7147" fmla="*/ 786448 w 1419860"/>
                <a:gd name="connsiteY12-7148" fmla="*/ 441325 h 3588041"/>
                <a:gd name="connsiteX13-7149" fmla="*/ 873760 w 1419860"/>
                <a:gd name="connsiteY13-7150" fmla="*/ 0 h 3588041"/>
                <a:gd name="connsiteX14-7151" fmla="*/ 845185 w 1419860"/>
                <a:gd name="connsiteY14-7152" fmla="*/ 679450 h 3588041"/>
                <a:gd name="connsiteX15-7153" fmla="*/ 908685 w 1419860"/>
                <a:gd name="connsiteY15-7154" fmla="*/ 1047750 h 3588041"/>
                <a:gd name="connsiteX16-7155" fmla="*/ 918210 w 1419860"/>
                <a:gd name="connsiteY16-7156" fmla="*/ 1295400 h 3588041"/>
                <a:gd name="connsiteX17-7157" fmla="*/ 1089660 w 1419860"/>
                <a:gd name="connsiteY17-7158" fmla="*/ 1187450 h 3588041"/>
                <a:gd name="connsiteX18-7159" fmla="*/ 1362710 w 1419860"/>
                <a:gd name="connsiteY18-7160" fmla="*/ 1171575 h 3588041"/>
                <a:gd name="connsiteX19-7161" fmla="*/ 1096010 w 1419860"/>
                <a:gd name="connsiteY19-7162" fmla="*/ 1254125 h 3588041"/>
                <a:gd name="connsiteX20-7163" fmla="*/ 876935 w 1419860"/>
                <a:gd name="connsiteY20-7164" fmla="*/ 1527175 h 3588041"/>
                <a:gd name="connsiteX21-7165" fmla="*/ 822960 w 1419860"/>
                <a:gd name="connsiteY21-7166" fmla="*/ 1895475 h 3588041"/>
                <a:gd name="connsiteX22-7167" fmla="*/ 991235 w 1419860"/>
                <a:gd name="connsiteY22-7168" fmla="*/ 2308225 h 3588041"/>
                <a:gd name="connsiteX23-7169" fmla="*/ 883285 w 1419860"/>
                <a:gd name="connsiteY23-7170" fmla="*/ 2578100 h 3588041"/>
                <a:gd name="connsiteX24-7171" fmla="*/ 1153160 w 1419860"/>
                <a:gd name="connsiteY24-7172" fmla="*/ 2524125 h 3588041"/>
                <a:gd name="connsiteX25-7173" fmla="*/ 1419860 w 1419860"/>
                <a:gd name="connsiteY25-7174" fmla="*/ 2626519 h 3588041"/>
                <a:gd name="connsiteX26-7175" fmla="*/ 1175385 w 1419860"/>
                <a:gd name="connsiteY26-7176" fmla="*/ 2590800 h 3588041"/>
                <a:gd name="connsiteX27-7177" fmla="*/ 819785 w 1419860"/>
                <a:gd name="connsiteY27-7178" fmla="*/ 2733675 h 3588041"/>
                <a:gd name="connsiteX28-7179" fmla="*/ 676910 w 1419860"/>
                <a:gd name="connsiteY28-7180" fmla="*/ 3086100 h 3588041"/>
                <a:gd name="connsiteX29-7181" fmla="*/ 905510 w 1419860"/>
                <a:gd name="connsiteY29-7182" fmla="*/ 3419475 h 3588041"/>
                <a:gd name="connsiteX30-7183" fmla="*/ 1003935 w 1419860"/>
                <a:gd name="connsiteY30-7184" fmla="*/ 3581400 h 3588041"/>
                <a:gd name="connsiteX0-7185" fmla="*/ 1003935 w 1419860"/>
                <a:gd name="connsiteY0-7186" fmla="*/ 3581400 h 3588041"/>
                <a:gd name="connsiteX1-7187" fmla="*/ 578485 w 1419860"/>
                <a:gd name="connsiteY1-7188" fmla="*/ 3587750 h 3588041"/>
                <a:gd name="connsiteX2-7189" fmla="*/ 381635 w 1419860"/>
                <a:gd name="connsiteY2-7190" fmla="*/ 3076575 h 3588041"/>
                <a:gd name="connsiteX3-7191" fmla="*/ 734060 w 1419860"/>
                <a:gd name="connsiteY3-7192" fmla="*/ 2381250 h 3588041"/>
                <a:gd name="connsiteX4-7193" fmla="*/ 569595 w 1419860"/>
                <a:gd name="connsiteY4-7194" fmla="*/ 1953895 h 3588041"/>
                <a:gd name="connsiteX5-7195" fmla="*/ 0 w 1419860"/>
                <a:gd name="connsiteY5-7196" fmla="*/ 1902460 h 3588041"/>
                <a:gd name="connsiteX6-7197" fmla="*/ 410210 w 1419860"/>
                <a:gd name="connsiteY6-7198" fmla="*/ 1787525 h 3588041"/>
                <a:gd name="connsiteX7-7199" fmla="*/ 629285 w 1419860"/>
                <a:gd name="connsiteY7-7200" fmla="*/ 1876425 h 3588041"/>
                <a:gd name="connsiteX8-7201" fmla="*/ 810260 w 1419860"/>
                <a:gd name="connsiteY8-7202" fmla="*/ 1333500 h 3588041"/>
                <a:gd name="connsiteX9-7203" fmla="*/ 750729 w 1419860"/>
                <a:gd name="connsiteY9-7204" fmla="*/ 823913 h 3588041"/>
                <a:gd name="connsiteX10-7205" fmla="*/ 375285 w 1419860"/>
                <a:gd name="connsiteY10-7206" fmla="*/ 695325 h 3588041"/>
                <a:gd name="connsiteX11-7207" fmla="*/ 771367 w 1419860"/>
                <a:gd name="connsiteY11-7208" fmla="*/ 734218 h 3588041"/>
                <a:gd name="connsiteX12-7209" fmla="*/ 786448 w 1419860"/>
                <a:gd name="connsiteY12-7210" fmla="*/ 441325 h 3588041"/>
                <a:gd name="connsiteX13-7211" fmla="*/ 873760 w 1419860"/>
                <a:gd name="connsiteY13-7212" fmla="*/ 0 h 3588041"/>
                <a:gd name="connsiteX14-7213" fmla="*/ 845185 w 1419860"/>
                <a:gd name="connsiteY14-7214" fmla="*/ 679450 h 3588041"/>
                <a:gd name="connsiteX15-7215" fmla="*/ 908685 w 1419860"/>
                <a:gd name="connsiteY15-7216" fmla="*/ 1047750 h 3588041"/>
                <a:gd name="connsiteX16-7217" fmla="*/ 918210 w 1419860"/>
                <a:gd name="connsiteY16-7218" fmla="*/ 1295400 h 3588041"/>
                <a:gd name="connsiteX17-7219" fmla="*/ 1089660 w 1419860"/>
                <a:gd name="connsiteY17-7220" fmla="*/ 1187450 h 3588041"/>
                <a:gd name="connsiteX18-7221" fmla="*/ 1362710 w 1419860"/>
                <a:gd name="connsiteY18-7222" fmla="*/ 1171575 h 3588041"/>
                <a:gd name="connsiteX19-7223" fmla="*/ 1096010 w 1419860"/>
                <a:gd name="connsiteY19-7224" fmla="*/ 1254125 h 3588041"/>
                <a:gd name="connsiteX20-7225" fmla="*/ 876935 w 1419860"/>
                <a:gd name="connsiteY20-7226" fmla="*/ 1527175 h 3588041"/>
                <a:gd name="connsiteX21-7227" fmla="*/ 822960 w 1419860"/>
                <a:gd name="connsiteY21-7228" fmla="*/ 1895475 h 3588041"/>
                <a:gd name="connsiteX22-7229" fmla="*/ 991235 w 1419860"/>
                <a:gd name="connsiteY22-7230" fmla="*/ 2308225 h 3588041"/>
                <a:gd name="connsiteX23-7231" fmla="*/ 883285 w 1419860"/>
                <a:gd name="connsiteY23-7232" fmla="*/ 2578100 h 3588041"/>
                <a:gd name="connsiteX24-7233" fmla="*/ 1153160 w 1419860"/>
                <a:gd name="connsiteY24-7234" fmla="*/ 2524125 h 3588041"/>
                <a:gd name="connsiteX25-7235" fmla="*/ 1419860 w 1419860"/>
                <a:gd name="connsiteY25-7236" fmla="*/ 2626519 h 3588041"/>
                <a:gd name="connsiteX26-7237" fmla="*/ 1175385 w 1419860"/>
                <a:gd name="connsiteY26-7238" fmla="*/ 2590800 h 3588041"/>
                <a:gd name="connsiteX27-7239" fmla="*/ 819785 w 1419860"/>
                <a:gd name="connsiteY27-7240" fmla="*/ 2733675 h 3588041"/>
                <a:gd name="connsiteX28-7241" fmla="*/ 676910 w 1419860"/>
                <a:gd name="connsiteY28-7242" fmla="*/ 3086100 h 3588041"/>
                <a:gd name="connsiteX29-7243" fmla="*/ 905510 w 1419860"/>
                <a:gd name="connsiteY29-7244" fmla="*/ 3419475 h 3588041"/>
                <a:gd name="connsiteX30-7245" fmla="*/ 1003935 w 1419860"/>
                <a:gd name="connsiteY30-7246" fmla="*/ 3581400 h 3588041"/>
                <a:gd name="connsiteX0-7247" fmla="*/ 1003935 w 1419860"/>
                <a:gd name="connsiteY0-7248" fmla="*/ 3581400 h 3588041"/>
                <a:gd name="connsiteX1-7249" fmla="*/ 578485 w 1419860"/>
                <a:gd name="connsiteY1-7250" fmla="*/ 3587750 h 3588041"/>
                <a:gd name="connsiteX2-7251" fmla="*/ 381635 w 1419860"/>
                <a:gd name="connsiteY2-7252" fmla="*/ 3076575 h 3588041"/>
                <a:gd name="connsiteX3-7253" fmla="*/ 734060 w 1419860"/>
                <a:gd name="connsiteY3-7254" fmla="*/ 2381250 h 3588041"/>
                <a:gd name="connsiteX4-7255" fmla="*/ 569595 w 1419860"/>
                <a:gd name="connsiteY4-7256" fmla="*/ 1953895 h 3588041"/>
                <a:gd name="connsiteX5-7257" fmla="*/ 0 w 1419860"/>
                <a:gd name="connsiteY5-7258" fmla="*/ 1902460 h 3588041"/>
                <a:gd name="connsiteX6-7259" fmla="*/ 410210 w 1419860"/>
                <a:gd name="connsiteY6-7260" fmla="*/ 1787525 h 3588041"/>
                <a:gd name="connsiteX7-7261" fmla="*/ 629285 w 1419860"/>
                <a:gd name="connsiteY7-7262" fmla="*/ 1876425 h 3588041"/>
                <a:gd name="connsiteX8-7263" fmla="*/ 810260 w 1419860"/>
                <a:gd name="connsiteY8-7264" fmla="*/ 1333500 h 3588041"/>
                <a:gd name="connsiteX9-7265" fmla="*/ 750729 w 1419860"/>
                <a:gd name="connsiteY9-7266" fmla="*/ 823913 h 3588041"/>
                <a:gd name="connsiteX10-7267" fmla="*/ 375285 w 1419860"/>
                <a:gd name="connsiteY10-7268" fmla="*/ 695325 h 3588041"/>
                <a:gd name="connsiteX11-7269" fmla="*/ 771367 w 1419860"/>
                <a:gd name="connsiteY11-7270" fmla="*/ 734218 h 3588041"/>
                <a:gd name="connsiteX12-7271" fmla="*/ 786448 w 1419860"/>
                <a:gd name="connsiteY12-7272" fmla="*/ 441325 h 3588041"/>
                <a:gd name="connsiteX13-7273" fmla="*/ 873760 w 1419860"/>
                <a:gd name="connsiteY13-7274" fmla="*/ 0 h 3588041"/>
                <a:gd name="connsiteX14-7275" fmla="*/ 845185 w 1419860"/>
                <a:gd name="connsiteY14-7276" fmla="*/ 679450 h 3588041"/>
                <a:gd name="connsiteX15-7277" fmla="*/ 908685 w 1419860"/>
                <a:gd name="connsiteY15-7278" fmla="*/ 1047750 h 3588041"/>
                <a:gd name="connsiteX16-7279" fmla="*/ 918210 w 1419860"/>
                <a:gd name="connsiteY16-7280" fmla="*/ 1295400 h 3588041"/>
                <a:gd name="connsiteX17-7281" fmla="*/ 1089660 w 1419860"/>
                <a:gd name="connsiteY17-7282" fmla="*/ 1187450 h 3588041"/>
                <a:gd name="connsiteX18-7283" fmla="*/ 1362710 w 1419860"/>
                <a:gd name="connsiteY18-7284" fmla="*/ 1171575 h 3588041"/>
                <a:gd name="connsiteX19-7285" fmla="*/ 1096010 w 1419860"/>
                <a:gd name="connsiteY19-7286" fmla="*/ 1254125 h 3588041"/>
                <a:gd name="connsiteX20-7287" fmla="*/ 876935 w 1419860"/>
                <a:gd name="connsiteY20-7288" fmla="*/ 1527175 h 3588041"/>
                <a:gd name="connsiteX21-7289" fmla="*/ 822960 w 1419860"/>
                <a:gd name="connsiteY21-7290" fmla="*/ 1895475 h 3588041"/>
                <a:gd name="connsiteX22-7291" fmla="*/ 991235 w 1419860"/>
                <a:gd name="connsiteY22-7292" fmla="*/ 2308225 h 3588041"/>
                <a:gd name="connsiteX23-7293" fmla="*/ 883285 w 1419860"/>
                <a:gd name="connsiteY23-7294" fmla="*/ 2578100 h 3588041"/>
                <a:gd name="connsiteX24-7295" fmla="*/ 1153160 w 1419860"/>
                <a:gd name="connsiteY24-7296" fmla="*/ 2524125 h 3588041"/>
                <a:gd name="connsiteX25-7297" fmla="*/ 1419860 w 1419860"/>
                <a:gd name="connsiteY25-7298" fmla="*/ 2626519 h 3588041"/>
                <a:gd name="connsiteX26-7299" fmla="*/ 1175385 w 1419860"/>
                <a:gd name="connsiteY26-7300" fmla="*/ 2590800 h 3588041"/>
                <a:gd name="connsiteX27-7301" fmla="*/ 819785 w 1419860"/>
                <a:gd name="connsiteY27-7302" fmla="*/ 2733675 h 3588041"/>
                <a:gd name="connsiteX28-7303" fmla="*/ 676910 w 1419860"/>
                <a:gd name="connsiteY28-7304" fmla="*/ 3086100 h 3588041"/>
                <a:gd name="connsiteX29-7305" fmla="*/ 905510 w 1419860"/>
                <a:gd name="connsiteY29-7306" fmla="*/ 3419475 h 3588041"/>
                <a:gd name="connsiteX30-7307" fmla="*/ 1003935 w 1419860"/>
                <a:gd name="connsiteY30-7308" fmla="*/ 3581400 h 3588041"/>
                <a:gd name="connsiteX0-7309" fmla="*/ 1003935 w 1419860"/>
                <a:gd name="connsiteY0-7310" fmla="*/ 3581400 h 3588041"/>
                <a:gd name="connsiteX1-7311" fmla="*/ 578485 w 1419860"/>
                <a:gd name="connsiteY1-7312" fmla="*/ 3587750 h 3588041"/>
                <a:gd name="connsiteX2-7313" fmla="*/ 381635 w 1419860"/>
                <a:gd name="connsiteY2-7314" fmla="*/ 3076575 h 3588041"/>
                <a:gd name="connsiteX3-7315" fmla="*/ 734060 w 1419860"/>
                <a:gd name="connsiteY3-7316" fmla="*/ 2381250 h 3588041"/>
                <a:gd name="connsiteX4-7317" fmla="*/ 569595 w 1419860"/>
                <a:gd name="connsiteY4-7318" fmla="*/ 1953895 h 3588041"/>
                <a:gd name="connsiteX5-7319" fmla="*/ 0 w 1419860"/>
                <a:gd name="connsiteY5-7320" fmla="*/ 1902460 h 3588041"/>
                <a:gd name="connsiteX6-7321" fmla="*/ 381635 w 1419860"/>
                <a:gd name="connsiteY6-7322" fmla="*/ 1784350 h 3588041"/>
                <a:gd name="connsiteX7-7323" fmla="*/ 629285 w 1419860"/>
                <a:gd name="connsiteY7-7324" fmla="*/ 1876425 h 3588041"/>
                <a:gd name="connsiteX8-7325" fmla="*/ 810260 w 1419860"/>
                <a:gd name="connsiteY8-7326" fmla="*/ 1333500 h 3588041"/>
                <a:gd name="connsiteX9-7327" fmla="*/ 750729 w 1419860"/>
                <a:gd name="connsiteY9-7328" fmla="*/ 823913 h 3588041"/>
                <a:gd name="connsiteX10-7329" fmla="*/ 375285 w 1419860"/>
                <a:gd name="connsiteY10-7330" fmla="*/ 695325 h 3588041"/>
                <a:gd name="connsiteX11-7331" fmla="*/ 771367 w 1419860"/>
                <a:gd name="connsiteY11-7332" fmla="*/ 734218 h 3588041"/>
                <a:gd name="connsiteX12-7333" fmla="*/ 786448 w 1419860"/>
                <a:gd name="connsiteY12-7334" fmla="*/ 441325 h 3588041"/>
                <a:gd name="connsiteX13-7335" fmla="*/ 873760 w 1419860"/>
                <a:gd name="connsiteY13-7336" fmla="*/ 0 h 3588041"/>
                <a:gd name="connsiteX14-7337" fmla="*/ 845185 w 1419860"/>
                <a:gd name="connsiteY14-7338" fmla="*/ 679450 h 3588041"/>
                <a:gd name="connsiteX15-7339" fmla="*/ 908685 w 1419860"/>
                <a:gd name="connsiteY15-7340" fmla="*/ 1047750 h 3588041"/>
                <a:gd name="connsiteX16-7341" fmla="*/ 918210 w 1419860"/>
                <a:gd name="connsiteY16-7342" fmla="*/ 1295400 h 3588041"/>
                <a:gd name="connsiteX17-7343" fmla="*/ 1089660 w 1419860"/>
                <a:gd name="connsiteY17-7344" fmla="*/ 1187450 h 3588041"/>
                <a:gd name="connsiteX18-7345" fmla="*/ 1362710 w 1419860"/>
                <a:gd name="connsiteY18-7346" fmla="*/ 1171575 h 3588041"/>
                <a:gd name="connsiteX19-7347" fmla="*/ 1096010 w 1419860"/>
                <a:gd name="connsiteY19-7348" fmla="*/ 1254125 h 3588041"/>
                <a:gd name="connsiteX20-7349" fmla="*/ 876935 w 1419860"/>
                <a:gd name="connsiteY20-7350" fmla="*/ 1527175 h 3588041"/>
                <a:gd name="connsiteX21-7351" fmla="*/ 822960 w 1419860"/>
                <a:gd name="connsiteY21-7352" fmla="*/ 1895475 h 3588041"/>
                <a:gd name="connsiteX22-7353" fmla="*/ 991235 w 1419860"/>
                <a:gd name="connsiteY22-7354" fmla="*/ 2308225 h 3588041"/>
                <a:gd name="connsiteX23-7355" fmla="*/ 883285 w 1419860"/>
                <a:gd name="connsiteY23-7356" fmla="*/ 2578100 h 3588041"/>
                <a:gd name="connsiteX24-7357" fmla="*/ 1153160 w 1419860"/>
                <a:gd name="connsiteY24-7358" fmla="*/ 2524125 h 3588041"/>
                <a:gd name="connsiteX25-7359" fmla="*/ 1419860 w 1419860"/>
                <a:gd name="connsiteY25-7360" fmla="*/ 2626519 h 3588041"/>
                <a:gd name="connsiteX26-7361" fmla="*/ 1175385 w 1419860"/>
                <a:gd name="connsiteY26-7362" fmla="*/ 2590800 h 3588041"/>
                <a:gd name="connsiteX27-7363" fmla="*/ 819785 w 1419860"/>
                <a:gd name="connsiteY27-7364" fmla="*/ 2733675 h 3588041"/>
                <a:gd name="connsiteX28-7365" fmla="*/ 676910 w 1419860"/>
                <a:gd name="connsiteY28-7366" fmla="*/ 3086100 h 3588041"/>
                <a:gd name="connsiteX29-7367" fmla="*/ 905510 w 1419860"/>
                <a:gd name="connsiteY29-7368" fmla="*/ 3419475 h 3588041"/>
                <a:gd name="connsiteX30-7369" fmla="*/ 1003935 w 1419860"/>
                <a:gd name="connsiteY30-7370" fmla="*/ 3581400 h 3588041"/>
                <a:gd name="connsiteX0-7371" fmla="*/ 1003935 w 1419860"/>
                <a:gd name="connsiteY0-7372" fmla="*/ 3581400 h 3588041"/>
                <a:gd name="connsiteX1-7373" fmla="*/ 578485 w 1419860"/>
                <a:gd name="connsiteY1-7374" fmla="*/ 3587750 h 3588041"/>
                <a:gd name="connsiteX2-7375" fmla="*/ 381635 w 1419860"/>
                <a:gd name="connsiteY2-7376" fmla="*/ 3076575 h 3588041"/>
                <a:gd name="connsiteX3-7377" fmla="*/ 734060 w 1419860"/>
                <a:gd name="connsiteY3-7378" fmla="*/ 2381250 h 3588041"/>
                <a:gd name="connsiteX4-7379" fmla="*/ 569595 w 1419860"/>
                <a:gd name="connsiteY4-7380" fmla="*/ 1953895 h 3588041"/>
                <a:gd name="connsiteX5-7381" fmla="*/ 0 w 1419860"/>
                <a:gd name="connsiteY5-7382" fmla="*/ 1902460 h 3588041"/>
                <a:gd name="connsiteX6-7383" fmla="*/ 381635 w 1419860"/>
                <a:gd name="connsiteY6-7384" fmla="*/ 1784350 h 3588041"/>
                <a:gd name="connsiteX7-7385" fmla="*/ 629285 w 1419860"/>
                <a:gd name="connsiteY7-7386" fmla="*/ 1876425 h 3588041"/>
                <a:gd name="connsiteX8-7387" fmla="*/ 810260 w 1419860"/>
                <a:gd name="connsiteY8-7388" fmla="*/ 1333500 h 3588041"/>
                <a:gd name="connsiteX9-7389" fmla="*/ 750729 w 1419860"/>
                <a:gd name="connsiteY9-7390" fmla="*/ 823913 h 3588041"/>
                <a:gd name="connsiteX10-7391" fmla="*/ 375285 w 1419860"/>
                <a:gd name="connsiteY10-7392" fmla="*/ 695325 h 3588041"/>
                <a:gd name="connsiteX11-7393" fmla="*/ 771367 w 1419860"/>
                <a:gd name="connsiteY11-7394" fmla="*/ 734218 h 3588041"/>
                <a:gd name="connsiteX12-7395" fmla="*/ 786448 w 1419860"/>
                <a:gd name="connsiteY12-7396" fmla="*/ 441325 h 3588041"/>
                <a:gd name="connsiteX13-7397" fmla="*/ 873760 w 1419860"/>
                <a:gd name="connsiteY13-7398" fmla="*/ 0 h 3588041"/>
                <a:gd name="connsiteX14-7399" fmla="*/ 845185 w 1419860"/>
                <a:gd name="connsiteY14-7400" fmla="*/ 679450 h 3588041"/>
                <a:gd name="connsiteX15-7401" fmla="*/ 908685 w 1419860"/>
                <a:gd name="connsiteY15-7402" fmla="*/ 1047750 h 3588041"/>
                <a:gd name="connsiteX16-7403" fmla="*/ 918210 w 1419860"/>
                <a:gd name="connsiteY16-7404" fmla="*/ 1295400 h 3588041"/>
                <a:gd name="connsiteX17-7405" fmla="*/ 1089660 w 1419860"/>
                <a:gd name="connsiteY17-7406" fmla="*/ 1187450 h 3588041"/>
                <a:gd name="connsiteX18-7407" fmla="*/ 1362710 w 1419860"/>
                <a:gd name="connsiteY18-7408" fmla="*/ 1171575 h 3588041"/>
                <a:gd name="connsiteX19-7409" fmla="*/ 1096010 w 1419860"/>
                <a:gd name="connsiteY19-7410" fmla="*/ 1254125 h 3588041"/>
                <a:gd name="connsiteX20-7411" fmla="*/ 876935 w 1419860"/>
                <a:gd name="connsiteY20-7412" fmla="*/ 1527175 h 3588041"/>
                <a:gd name="connsiteX21-7413" fmla="*/ 822960 w 1419860"/>
                <a:gd name="connsiteY21-7414" fmla="*/ 1895475 h 3588041"/>
                <a:gd name="connsiteX22-7415" fmla="*/ 991235 w 1419860"/>
                <a:gd name="connsiteY22-7416" fmla="*/ 2308225 h 3588041"/>
                <a:gd name="connsiteX23-7417" fmla="*/ 883285 w 1419860"/>
                <a:gd name="connsiteY23-7418" fmla="*/ 2578100 h 3588041"/>
                <a:gd name="connsiteX24-7419" fmla="*/ 1153160 w 1419860"/>
                <a:gd name="connsiteY24-7420" fmla="*/ 2524125 h 3588041"/>
                <a:gd name="connsiteX25-7421" fmla="*/ 1419860 w 1419860"/>
                <a:gd name="connsiteY25-7422" fmla="*/ 2626519 h 3588041"/>
                <a:gd name="connsiteX26-7423" fmla="*/ 1175385 w 1419860"/>
                <a:gd name="connsiteY26-7424" fmla="*/ 2590800 h 3588041"/>
                <a:gd name="connsiteX27-7425" fmla="*/ 819785 w 1419860"/>
                <a:gd name="connsiteY27-7426" fmla="*/ 2733675 h 3588041"/>
                <a:gd name="connsiteX28-7427" fmla="*/ 676910 w 1419860"/>
                <a:gd name="connsiteY28-7428" fmla="*/ 3086100 h 3588041"/>
                <a:gd name="connsiteX29-7429" fmla="*/ 905510 w 1419860"/>
                <a:gd name="connsiteY29-7430" fmla="*/ 3419475 h 3588041"/>
                <a:gd name="connsiteX30-7431" fmla="*/ 1003935 w 1419860"/>
                <a:gd name="connsiteY30-7432" fmla="*/ 3581400 h 3588041"/>
                <a:gd name="connsiteX0-7433" fmla="*/ 1003935 w 1419860"/>
                <a:gd name="connsiteY0-7434" fmla="*/ 3581400 h 3588041"/>
                <a:gd name="connsiteX1-7435" fmla="*/ 578485 w 1419860"/>
                <a:gd name="connsiteY1-7436" fmla="*/ 3587750 h 3588041"/>
                <a:gd name="connsiteX2-7437" fmla="*/ 381635 w 1419860"/>
                <a:gd name="connsiteY2-7438" fmla="*/ 3076575 h 3588041"/>
                <a:gd name="connsiteX3-7439" fmla="*/ 734060 w 1419860"/>
                <a:gd name="connsiteY3-7440" fmla="*/ 2381250 h 3588041"/>
                <a:gd name="connsiteX4-7441" fmla="*/ 569595 w 1419860"/>
                <a:gd name="connsiteY4-7442" fmla="*/ 1953895 h 3588041"/>
                <a:gd name="connsiteX5-7443" fmla="*/ 0 w 1419860"/>
                <a:gd name="connsiteY5-7444" fmla="*/ 1902460 h 3588041"/>
                <a:gd name="connsiteX6-7445" fmla="*/ 359410 w 1419860"/>
                <a:gd name="connsiteY6-7446" fmla="*/ 1806575 h 3588041"/>
                <a:gd name="connsiteX7-7447" fmla="*/ 629285 w 1419860"/>
                <a:gd name="connsiteY7-7448" fmla="*/ 1876425 h 3588041"/>
                <a:gd name="connsiteX8-7449" fmla="*/ 810260 w 1419860"/>
                <a:gd name="connsiteY8-7450" fmla="*/ 1333500 h 3588041"/>
                <a:gd name="connsiteX9-7451" fmla="*/ 750729 w 1419860"/>
                <a:gd name="connsiteY9-7452" fmla="*/ 823913 h 3588041"/>
                <a:gd name="connsiteX10-7453" fmla="*/ 375285 w 1419860"/>
                <a:gd name="connsiteY10-7454" fmla="*/ 695325 h 3588041"/>
                <a:gd name="connsiteX11-7455" fmla="*/ 771367 w 1419860"/>
                <a:gd name="connsiteY11-7456" fmla="*/ 734218 h 3588041"/>
                <a:gd name="connsiteX12-7457" fmla="*/ 786448 w 1419860"/>
                <a:gd name="connsiteY12-7458" fmla="*/ 441325 h 3588041"/>
                <a:gd name="connsiteX13-7459" fmla="*/ 873760 w 1419860"/>
                <a:gd name="connsiteY13-7460" fmla="*/ 0 h 3588041"/>
                <a:gd name="connsiteX14-7461" fmla="*/ 845185 w 1419860"/>
                <a:gd name="connsiteY14-7462" fmla="*/ 679450 h 3588041"/>
                <a:gd name="connsiteX15-7463" fmla="*/ 908685 w 1419860"/>
                <a:gd name="connsiteY15-7464" fmla="*/ 1047750 h 3588041"/>
                <a:gd name="connsiteX16-7465" fmla="*/ 918210 w 1419860"/>
                <a:gd name="connsiteY16-7466" fmla="*/ 1295400 h 3588041"/>
                <a:gd name="connsiteX17-7467" fmla="*/ 1089660 w 1419860"/>
                <a:gd name="connsiteY17-7468" fmla="*/ 1187450 h 3588041"/>
                <a:gd name="connsiteX18-7469" fmla="*/ 1362710 w 1419860"/>
                <a:gd name="connsiteY18-7470" fmla="*/ 1171575 h 3588041"/>
                <a:gd name="connsiteX19-7471" fmla="*/ 1096010 w 1419860"/>
                <a:gd name="connsiteY19-7472" fmla="*/ 1254125 h 3588041"/>
                <a:gd name="connsiteX20-7473" fmla="*/ 876935 w 1419860"/>
                <a:gd name="connsiteY20-7474" fmla="*/ 1527175 h 3588041"/>
                <a:gd name="connsiteX21-7475" fmla="*/ 822960 w 1419860"/>
                <a:gd name="connsiteY21-7476" fmla="*/ 1895475 h 3588041"/>
                <a:gd name="connsiteX22-7477" fmla="*/ 991235 w 1419860"/>
                <a:gd name="connsiteY22-7478" fmla="*/ 2308225 h 3588041"/>
                <a:gd name="connsiteX23-7479" fmla="*/ 883285 w 1419860"/>
                <a:gd name="connsiteY23-7480" fmla="*/ 2578100 h 3588041"/>
                <a:gd name="connsiteX24-7481" fmla="*/ 1153160 w 1419860"/>
                <a:gd name="connsiteY24-7482" fmla="*/ 2524125 h 3588041"/>
                <a:gd name="connsiteX25-7483" fmla="*/ 1419860 w 1419860"/>
                <a:gd name="connsiteY25-7484" fmla="*/ 2626519 h 3588041"/>
                <a:gd name="connsiteX26-7485" fmla="*/ 1175385 w 1419860"/>
                <a:gd name="connsiteY26-7486" fmla="*/ 2590800 h 3588041"/>
                <a:gd name="connsiteX27-7487" fmla="*/ 819785 w 1419860"/>
                <a:gd name="connsiteY27-7488" fmla="*/ 2733675 h 3588041"/>
                <a:gd name="connsiteX28-7489" fmla="*/ 676910 w 1419860"/>
                <a:gd name="connsiteY28-7490" fmla="*/ 3086100 h 3588041"/>
                <a:gd name="connsiteX29-7491" fmla="*/ 905510 w 1419860"/>
                <a:gd name="connsiteY29-7492" fmla="*/ 3419475 h 3588041"/>
                <a:gd name="connsiteX30-7493" fmla="*/ 1003935 w 1419860"/>
                <a:gd name="connsiteY30-7494" fmla="*/ 3581400 h 3588041"/>
                <a:gd name="connsiteX0-7495" fmla="*/ 1003935 w 1419860"/>
                <a:gd name="connsiteY0-7496" fmla="*/ 3581400 h 3588041"/>
                <a:gd name="connsiteX1-7497" fmla="*/ 578485 w 1419860"/>
                <a:gd name="connsiteY1-7498" fmla="*/ 3587750 h 3588041"/>
                <a:gd name="connsiteX2-7499" fmla="*/ 381635 w 1419860"/>
                <a:gd name="connsiteY2-7500" fmla="*/ 3076575 h 3588041"/>
                <a:gd name="connsiteX3-7501" fmla="*/ 734060 w 1419860"/>
                <a:gd name="connsiteY3-7502" fmla="*/ 2381250 h 3588041"/>
                <a:gd name="connsiteX4-7503" fmla="*/ 569595 w 1419860"/>
                <a:gd name="connsiteY4-7504" fmla="*/ 1953895 h 3588041"/>
                <a:gd name="connsiteX5-7505" fmla="*/ 0 w 1419860"/>
                <a:gd name="connsiteY5-7506" fmla="*/ 1902460 h 3588041"/>
                <a:gd name="connsiteX6-7507" fmla="*/ 359410 w 1419860"/>
                <a:gd name="connsiteY6-7508" fmla="*/ 1806575 h 3588041"/>
                <a:gd name="connsiteX7-7509" fmla="*/ 629285 w 1419860"/>
                <a:gd name="connsiteY7-7510" fmla="*/ 1876425 h 3588041"/>
                <a:gd name="connsiteX8-7511" fmla="*/ 810260 w 1419860"/>
                <a:gd name="connsiteY8-7512" fmla="*/ 1333500 h 3588041"/>
                <a:gd name="connsiteX9-7513" fmla="*/ 750729 w 1419860"/>
                <a:gd name="connsiteY9-7514" fmla="*/ 823913 h 3588041"/>
                <a:gd name="connsiteX10-7515" fmla="*/ 375285 w 1419860"/>
                <a:gd name="connsiteY10-7516" fmla="*/ 695325 h 3588041"/>
                <a:gd name="connsiteX11-7517" fmla="*/ 771367 w 1419860"/>
                <a:gd name="connsiteY11-7518" fmla="*/ 734218 h 3588041"/>
                <a:gd name="connsiteX12-7519" fmla="*/ 786448 w 1419860"/>
                <a:gd name="connsiteY12-7520" fmla="*/ 441325 h 3588041"/>
                <a:gd name="connsiteX13-7521" fmla="*/ 873760 w 1419860"/>
                <a:gd name="connsiteY13-7522" fmla="*/ 0 h 3588041"/>
                <a:gd name="connsiteX14-7523" fmla="*/ 845185 w 1419860"/>
                <a:gd name="connsiteY14-7524" fmla="*/ 679450 h 3588041"/>
                <a:gd name="connsiteX15-7525" fmla="*/ 908685 w 1419860"/>
                <a:gd name="connsiteY15-7526" fmla="*/ 1047750 h 3588041"/>
                <a:gd name="connsiteX16-7527" fmla="*/ 918210 w 1419860"/>
                <a:gd name="connsiteY16-7528" fmla="*/ 1295400 h 3588041"/>
                <a:gd name="connsiteX17-7529" fmla="*/ 1089660 w 1419860"/>
                <a:gd name="connsiteY17-7530" fmla="*/ 1187450 h 3588041"/>
                <a:gd name="connsiteX18-7531" fmla="*/ 1362710 w 1419860"/>
                <a:gd name="connsiteY18-7532" fmla="*/ 1171575 h 3588041"/>
                <a:gd name="connsiteX19-7533" fmla="*/ 1096010 w 1419860"/>
                <a:gd name="connsiteY19-7534" fmla="*/ 1254125 h 3588041"/>
                <a:gd name="connsiteX20-7535" fmla="*/ 876935 w 1419860"/>
                <a:gd name="connsiteY20-7536" fmla="*/ 1527175 h 3588041"/>
                <a:gd name="connsiteX21-7537" fmla="*/ 822960 w 1419860"/>
                <a:gd name="connsiteY21-7538" fmla="*/ 1895475 h 3588041"/>
                <a:gd name="connsiteX22-7539" fmla="*/ 991235 w 1419860"/>
                <a:gd name="connsiteY22-7540" fmla="*/ 2308225 h 3588041"/>
                <a:gd name="connsiteX23-7541" fmla="*/ 883285 w 1419860"/>
                <a:gd name="connsiteY23-7542" fmla="*/ 2578100 h 3588041"/>
                <a:gd name="connsiteX24-7543" fmla="*/ 1153160 w 1419860"/>
                <a:gd name="connsiteY24-7544" fmla="*/ 2524125 h 3588041"/>
                <a:gd name="connsiteX25-7545" fmla="*/ 1419860 w 1419860"/>
                <a:gd name="connsiteY25-7546" fmla="*/ 2626519 h 3588041"/>
                <a:gd name="connsiteX26-7547" fmla="*/ 1175385 w 1419860"/>
                <a:gd name="connsiteY26-7548" fmla="*/ 2590800 h 3588041"/>
                <a:gd name="connsiteX27-7549" fmla="*/ 819785 w 1419860"/>
                <a:gd name="connsiteY27-7550" fmla="*/ 2733675 h 3588041"/>
                <a:gd name="connsiteX28-7551" fmla="*/ 676910 w 1419860"/>
                <a:gd name="connsiteY28-7552" fmla="*/ 3086100 h 3588041"/>
                <a:gd name="connsiteX29-7553" fmla="*/ 905510 w 1419860"/>
                <a:gd name="connsiteY29-7554" fmla="*/ 3419475 h 3588041"/>
                <a:gd name="connsiteX30-7555" fmla="*/ 1003935 w 1419860"/>
                <a:gd name="connsiteY30-7556" fmla="*/ 3581400 h 3588041"/>
                <a:gd name="connsiteX0-7557" fmla="*/ 1003935 w 1419860"/>
                <a:gd name="connsiteY0-7558" fmla="*/ 3581400 h 3588041"/>
                <a:gd name="connsiteX1-7559" fmla="*/ 578485 w 1419860"/>
                <a:gd name="connsiteY1-7560" fmla="*/ 3587750 h 3588041"/>
                <a:gd name="connsiteX2-7561" fmla="*/ 381635 w 1419860"/>
                <a:gd name="connsiteY2-7562" fmla="*/ 3076575 h 3588041"/>
                <a:gd name="connsiteX3-7563" fmla="*/ 734060 w 1419860"/>
                <a:gd name="connsiteY3-7564" fmla="*/ 2381250 h 3588041"/>
                <a:gd name="connsiteX4-7565" fmla="*/ 569595 w 1419860"/>
                <a:gd name="connsiteY4-7566" fmla="*/ 1953895 h 3588041"/>
                <a:gd name="connsiteX5-7567" fmla="*/ 0 w 1419860"/>
                <a:gd name="connsiteY5-7568" fmla="*/ 1902460 h 3588041"/>
                <a:gd name="connsiteX6-7569" fmla="*/ 359410 w 1419860"/>
                <a:gd name="connsiteY6-7570" fmla="*/ 1806575 h 3588041"/>
                <a:gd name="connsiteX7-7571" fmla="*/ 622935 w 1419860"/>
                <a:gd name="connsiteY7-7572" fmla="*/ 1879600 h 3588041"/>
                <a:gd name="connsiteX8-7573" fmla="*/ 810260 w 1419860"/>
                <a:gd name="connsiteY8-7574" fmla="*/ 1333500 h 3588041"/>
                <a:gd name="connsiteX9-7575" fmla="*/ 750729 w 1419860"/>
                <a:gd name="connsiteY9-7576" fmla="*/ 823913 h 3588041"/>
                <a:gd name="connsiteX10-7577" fmla="*/ 375285 w 1419860"/>
                <a:gd name="connsiteY10-7578" fmla="*/ 695325 h 3588041"/>
                <a:gd name="connsiteX11-7579" fmla="*/ 771367 w 1419860"/>
                <a:gd name="connsiteY11-7580" fmla="*/ 734218 h 3588041"/>
                <a:gd name="connsiteX12-7581" fmla="*/ 786448 w 1419860"/>
                <a:gd name="connsiteY12-7582" fmla="*/ 441325 h 3588041"/>
                <a:gd name="connsiteX13-7583" fmla="*/ 873760 w 1419860"/>
                <a:gd name="connsiteY13-7584" fmla="*/ 0 h 3588041"/>
                <a:gd name="connsiteX14-7585" fmla="*/ 845185 w 1419860"/>
                <a:gd name="connsiteY14-7586" fmla="*/ 679450 h 3588041"/>
                <a:gd name="connsiteX15-7587" fmla="*/ 908685 w 1419860"/>
                <a:gd name="connsiteY15-7588" fmla="*/ 1047750 h 3588041"/>
                <a:gd name="connsiteX16-7589" fmla="*/ 918210 w 1419860"/>
                <a:gd name="connsiteY16-7590" fmla="*/ 1295400 h 3588041"/>
                <a:gd name="connsiteX17-7591" fmla="*/ 1089660 w 1419860"/>
                <a:gd name="connsiteY17-7592" fmla="*/ 1187450 h 3588041"/>
                <a:gd name="connsiteX18-7593" fmla="*/ 1362710 w 1419860"/>
                <a:gd name="connsiteY18-7594" fmla="*/ 1171575 h 3588041"/>
                <a:gd name="connsiteX19-7595" fmla="*/ 1096010 w 1419860"/>
                <a:gd name="connsiteY19-7596" fmla="*/ 1254125 h 3588041"/>
                <a:gd name="connsiteX20-7597" fmla="*/ 876935 w 1419860"/>
                <a:gd name="connsiteY20-7598" fmla="*/ 1527175 h 3588041"/>
                <a:gd name="connsiteX21-7599" fmla="*/ 822960 w 1419860"/>
                <a:gd name="connsiteY21-7600" fmla="*/ 1895475 h 3588041"/>
                <a:gd name="connsiteX22-7601" fmla="*/ 991235 w 1419860"/>
                <a:gd name="connsiteY22-7602" fmla="*/ 2308225 h 3588041"/>
                <a:gd name="connsiteX23-7603" fmla="*/ 883285 w 1419860"/>
                <a:gd name="connsiteY23-7604" fmla="*/ 2578100 h 3588041"/>
                <a:gd name="connsiteX24-7605" fmla="*/ 1153160 w 1419860"/>
                <a:gd name="connsiteY24-7606" fmla="*/ 2524125 h 3588041"/>
                <a:gd name="connsiteX25-7607" fmla="*/ 1419860 w 1419860"/>
                <a:gd name="connsiteY25-7608" fmla="*/ 2626519 h 3588041"/>
                <a:gd name="connsiteX26-7609" fmla="*/ 1175385 w 1419860"/>
                <a:gd name="connsiteY26-7610" fmla="*/ 2590800 h 3588041"/>
                <a:gd name="connsiteX27-7611" fmla="*/ 819785 w 1419860"/>
                <a:gd name="connsiteY27-7612" fmla="*/ 2733675 h 3588041"/>
                <a:gd name="connsiteX28-7613" fmla="*/ 676910 w 1419860"/>
                <a:gd name="connsiteY28-7614" fmla="*/ 3086100 h 3588041"/>
                <a:gd name="connsiteX29-7615" fmla="*/ 905510 w 1419860"/>
                <a:gd name="connsiteY29-7616" fmla="*/ 3419475 h 3588041"/>
                <a:gd name="connsiteX30-7617" fmla="*/ 1003935 w 1419860"/>
                <a:gd name="connsiteY30-7618" fmla="*/ 3581400 h 3588041"/>
                <a:gd name="connsiteX0-7619" fmla="*/ 1003935 w 1419860"/>
                <a:gd name="connsiteY0-7620" fmla="*/ 3581400 h 3588041"/>
                <a:gd name="connsiteX1-7621" fmla="*/ 578485 w 1419860"/>
                <a:gd name="connsiteY1-7622" fmla="*/ 3587750 h 3588041"/>
                <a:gd name="connsiteX2-7623" fmla="*/ 381635 w 1419860"/>
                <a:gd name="connsiteY2-7624" fmla="*/ 3076575 h 3588041"/>
                <a:gd name="connsiteX3-7625" fmla="*/ 734060 w 1419860"/>
                <a:gd name="connsiteY3-7626" fmla="*/ 2381250 h 3588041"/>
                <a:gd name="connsiteX4-7627" fmla="*/ 569595 w 1419860"/>
                <a:gd name="connsiteY4-7628" fmla="*/ 1953895 h 3588041"/>
                <a:gd name="connsiteX5-7629" fmla="*/ 0 w 1419860"/>
                <a:gd name="connsiteY5-7630" fmla="*/ 1902460 h 3588041"/>
                <a:gd name="connsiteX6-7631" fmla="*/ 318135 w 1419860"/>
                <a:gd name="connsiteY6-7632" fmla="*/ 1812925 h 3588041"/>
                <a:gd name="connsiteX7-7633" fmla="*/ 622935 w 1419860"/>
                <a:gd name="connsiteY7-7634" fmla="*/ 1879600 h 3588041"/>
                <a:gd name="connsiteX8-7635" fmla="*/ 810260 w 1419860"/>
                <a:gd name="connsiteY8-7636" fmla="*/ 1333500 h 3588041"/>
                <a:gd name="connsiteX9-7637" fmla="*/ 750729 w 1419860"/>
                <a:gd name="connsiteY9-7638" fmla="*/ 823913 h 3588041"/>
                <a:gd name="connsiteX10-7639" fmla="*/ 375285 w 1419860"/>
                <a:gd name="connsiteY10-7640" fmla="*/ 695325 h 3588041"/>
                <a:gd name="connsiteX11-7641" fmla="*/ 771367 w 1419860"/>
                <a:gd name="connsiteY11-7642" fmla="*/ 734218 h 3588041"/>
                <a:gd name="connsiteX12-7643" fmla="*/ 786448 w 1419860"/>
                <a:gd name="connsiteY12-7644" fmla="*/ 441325 h 3588041"/>
                <a:gd name="connsiteX13-7645" fmla="*/ 873760 w 1419860"/>
                <a:gd name="connsiteY13-7646" fmla="*/ 0 h 3588041"/>
                <a:gd name="connsiteX14-7647" fmla="*/ 845185 w 1419860"/>
                <a:gd name="connsiteY14-7648" fmla="*/ 679450 h 3588041"/>
                <a:gd name="connsiteX15-7649" fmla="*/ 908685 w 1419860"/>
                <a:gd name="connsiteY15-7650" fmla="*/ 1047750 h 3588041"/>
                <a:gd name="connsiteX16-7651" fmla="*/ 918210 w 1419860"/>
                <a:gd name="connsiteY16-7652" fmla="*/ 1295400 h 3588041"/>
                <a:gd name="connsiteX17-7653" fmla="*/ 1089660 w 1419860"/>
                <a:gd name="connsiteY17-7654" fmla="*/ 1187450 h 3588041"/>
                <a:gd name="connsiteX18-7655" fmla="*/ 1362710 w 1419860"/>
                <a:gd name="connsiteY18-7656" fmla="*/ 1171575 h 3588041"/>
                <a:gd name="connsiteX19-7657" fmla="*/ 1096010 w 1419860"/>
                <a:gd name="connsiteY19-7658" fmla="*/ 1254125 h 3588041"/>
                <a:gd name="connsiteX20-7659" fmla="*/ 876935 w 1419860"/>
                <a:gd name="connsiteY20-7660" fmla="*/ 1527175 h 3588041"/>
                <a:gd name="connsiteX21-7661" fmla="*/ 822960 w 1419860"/>
                <a:gd name="connsiteY21-7662" fmla="*/ 1895475 h 3588041"/>
                <a:gd name="connsiteX22-7663" fmla="*/ 991235 w 1419860"/>
                <a:gd name="connsiteY22-7664" fmla="*/ 2308225 h 3588041"/>
                <a:gd name="connsiteX23-7665" fmla="*/ 883285 w 1419860"/>
                <a:gd name="connsiteY23-7666" fmla="*/ 2578100 h 3588041"/>
                <a:gd name="connsiteX24-7667" fmla="*/ 1153160 w 1419860"/>
                <a:gd name="connsiteY24-7668" fmla="*/ 2524125 h 3588041"/>
                <a:gd name="connsiteX25-7669" fmla="*/ 1419860 w 1419860"/>
                <a:gd name="connsiteY25-7670" fmla="*/ 2626519 h 3588041"/>
                <a:gd name="connsiteX26-7671" fmla="*/ 1175385 w 1419860"/>
                <a:gd name="connsiteY26-7672" fmla="*/ 2590800 h 3588041"/>
                <a:gd name="connsiteX27-7673" fmla="*/ 819785 w 1419860"/>
                <a:gd name="connsiteY27-7674" fmla="*/ 2733675 h 3588041"/>
                <a:gd name="connsiteX28-7675" fmla="*/ 676910 w 1419860"/>
                <a:gd name="connsiteY28-7676" fmla="*/ 3086100 h 3588041"/>
                <a:gd name="connsiteX29-7677" fmla="*/ 905510 w 1419860"/>
                <a:gd name="connsiteY29-7678" fmla="*/ 3419475 h 3588041"/>
                <a:gd name="connsiteX30-7679" fmla="*/ 1003935 w 1419860"/>
                <a:gd name="connsiteY30-7680" fmla="*/ 3581400 h 3588041"/>
                <a:gd name="connsiteX0-7681" fmla="*/ 1003935 w 1419860"/>
                <a:gd name="connsiteY0-7682" fmla="*/ 3581400 h 3588041"/>
                <a:gd name="connsiteX1-7683" fmla="*/ 578485 w 1419860"/>
                <a:gd name="connsiteY1-7684" fmla="*/ 3587750 h 3588041"/>
                <a:gd name="connsiteX2-7685" fmla="*/ 381635 w 1419860"/>
                <a:gd name="connsiteY2-7686" fmla="*/ 3076575 h 3588041"/>
                <a:gd name="connsiteX3-7687" fmla="*/ 734060 w 1419860"/>
                <a:gd name="connsiteY3-7688" fmla="*/ 2381250 h 3588041"/>
                <a:gd name="connsiteX4-7689" fmla="*/ 569595 w 1419860"/>
                <a:gd name="connsiteY4-7690" fmla="*/ 1953895 h 3588041"/>
                <a:gd name="connsiteX5-7691" fmla="*/ 0 w 1419860"/>
                <a:gd name="connsiteY5-7692" fmla="*/ 1902460 h 3588041"/>
                <a:gd name="connsiteX6-7693" fmla="*/ 318135 w 1419860"/>
                <a:gd name="connsiteY6-7694" fmla="*/ 1812925 h 3588041"/>
                <a:gd name="connsiteX7-7695" fmla="*/ 622935 w 1419860"/>
                <a:gd name="connsiteY7-7696" fmla="*/ 1879600 h 3588041"/>
                <a:gd name="connsiteX8-7697" fmla="*/ 810260 w 1419860"/>
                <a:gd name="connsiteY8-7698" fmla="*/ 1333500 h 3588041"/>
                <a:gd name="connsiteX9-7699" fmla="*/ 750729 w 1419860"/>
                <a:gd name="connsiteY9-7700" fmla="*/ 823913 h 3588041"/>
                <a:gd name="connsiteX10-7701" fmla="*/ 375285 w 1419860"/>
                <a:gd name="connsiteY10-7702" fmla="*/ 695325 h 3588041"/>
                <a:gd name="connsiteX11-7703" fmla="*/ 771367 w 1419860"/>
                <a:gd name="connsiteY11-7704" fmla="*/ 734218 h 3588041"/>
                <a:gd name="connsiteX12-7705" fmla="*/ 786448 w 1419860"/>
                <a:gd name="connsiteY12-7706" fmla="*/ 441325 h 3588041"/>
                <a:gd name="connsiteX13-7707" fmla="*/ 873760 w 1419860"/>
                <a:gd name="connsiteY13-7708" fmla="*/ 0 h 3588041"/>
                <a:gd name="connsiteX14-7709" fmla="*/ 845185 w 1419860"/>
                <a:gd name="connsiteY14-7710" fmla="*/ 679450 h 3588041"/>
                <a:gd name="connsiteX15-7711" fmla="*/ 908685 w 1419860"/>
                <a:gd name="connsiteY15-7712" fmla="*/ 1047750 h 3588041"/>
                <a:gd name="connsiteX16-7713" fmla="*/ 918210 w 1419860"/>
                <a:gd name="connsiteY16-7714" fmla="*/ 1295400 h 3588041"/>
                <a:gd name="connsiteX17-7715" fmla="*/ 1089660 w 1419860"/>
                <a:gd name="connsiteY17-7716" fmla="*/ 1187450 h 3588041"/>
                <a:gd name="connsiteX18-7717" fmla="*/ 1362710 w 1419860"/>
                <a:gd name="connsiteY18-7718" fmla="*/ 1171575 h 3588041"/>
                <a:gd name="connsiteX19-7719" fmla="*/ 1096010 w 1419860"/>
                <a:gd name="connsiteY19-7720" fmla="*/ 1254125 h 3588041"/>
                <a:gd name="connsiteX20-7721" fmla="*/ 876935 w 1419860"/>
                <a:gd name="connsiteY20-7722" fmla="*/ 1527175 h 3588041"/>
                <a:gd name="connsiteX21-7723" fmla="*/ 822960 w 1419860"/>
                <a:gd name="connsiteY21-7724" fmla="*/ 1895475 h 3588041"/>
                <a:gd name="connsiteX22-7725" fmla="*/ 991235 w 1419860"/>
                <a:gd name="connsiteY22-7726" fmla="*/ 2308225 h 3588041"/>
                <a:gd name="connsiteX23-7727" fmla="*/ 883285 w 1419860"/>
                <a:gd name="connsiteY23-7728" fmla="*/ 2578100 h 3588041"/>
                <a:gd name="connsiteX24-7729" fmla="*/ 1153160 w 1419860"/>
                <a:gd name="connsiteY24-7730" fmla="*/ 2524125 h 3588041"/>
                <a:gd name="connsiteX25-7731" fmla="*/ 1419860 w 1419860"/>
                <a:gd name="connsiteY25-7732" fmla="*/ 2626519 h 3588041"/>
                <a:gd name="connsiteX26-7733" fmla="*/ 1175385 w 1419860"/>
                <a:gd name="connsiteY26-7734" fmla="*/ 2590800 h 3588041"/>
                <a:gd name="connsiteX27-7735" fmla="*/ 819785 w 1419860"/>
                <a:gd name="connsiteY27-7736" fmla="*/ 2733675 h 3588041"/>
                <a:gd name="connsiteX28-7737" fmla="*/ 676910 w 1419860"/>
                <a:gd name="connsiteY28-7738" fmla="*/ 3086100 h 3588041"/>
                <a:gd name="connsiteX29-7739" fmla="*/ 905510 w 1419860"/>
                <a:gd name="connsiteY29-7740" fmla="*/ 3419475 h 3588041"/>
                <a:gd name="connsiteX30-7741" fmla="*/ 1003935 w 1419860"/>
                <a:gd name="connsiteY30-7742" fmla="*/ 3581400 h 3588041"/>
                <a:gd name="connsiteX0-7743" fmla="*/ 1003935 w 1419860"/>
                <a:gd name="connsiteY0-7744" fmla="*/ 3581400 h 3588041"/>
                <a:gd name="connsiteX1-7745" fmla="*/ 578485 w 1419860"/>
                <a:gd name="connsiteY1-7746" fmla="*/ 3587750 h 3588041"/>
                <a:gd name="connsiteX2-7747" fmla="*/ 381635 w 1419860"/>
                <a:gd name="connsiteY2-7748" fmla="*/ 3076575 h 3588041"/>
                <a:gd name="connsiteX3-7749" fmla="*/ 734060 w 1419860"/>
                <a:gd name="connsiteY3-7750" fmla="*/ 2381250 h 3588041"/>
                <a:gd name="connsiteX4-7751" fmla="*/ 569595 w 1419860"/>
                <a:gd name="connsiteY4-7752" fmla="*/ 1953895 h 3588041"/>
                <a:gd name="connsiteX5-7753" fmla="*/ 0 w 1419860"/>
                <a:gd name="connsiteY5-7754" fmla="*/ 1902460 h 3588041"/>
                <a:gd name="connsiteX6-7755" fmla="*/ 318135 w 1419860"/>
                <a:gd name="connsiteY6-7756" fmla="*/ 1812925 h 3588041"/>
                <a:gd name="connsiteX7-7757" fmla="*/ 622935 w 1419860"/>
                <a:gd name="connsiteY7-7758" fmla="*/ 1879600 h 3588041"/>
                <a:gd name="connsiteX8-7759" fmla="*/ 810260 w 1419860"/>
                <a:gd name="connsiteY8-7760" fmla="*/ 1333500 h 3588041"/>
                <a:gd name="connsiteX9-7761" fmla="*/ 750729 w 1419860"/>
                <a:gd name="connsiteY9-7762" fmla="*/ 823913 h 3588041"/>
                <a:gd name="connsiteX10-7763" fmla="*/ 375285 w 1419860"/>
                <a:gd name="connsiteY10-7764" fmla="*/ 695325 h 3588041"/>
                <a:gd name="connsiteX11-7765" fmla="*/ 771367 w 1419860"/>
                <a:gd name="connsiteY11-7766" fmla="*/ 734218 h 3588041"/>
                <a:gd name="connsiteX12-7767" fmla="*/ 786448 w 1419860"/>
                <a:gd name="connsiteY12-7768" fmla="*/ 441325 h 3588041"/>
                <a:gd name="connsiteX13-7769" fmla="*/ 873760 w 1419860"/>
                <a:gd name="connsiteY13-7770" fmla="*/ 0 h 3588041"/>
                <a:gd name="connsiteX14-7771" fmla="*/ 845185 w 1419860"/>
                <a:gd name="connsiteY14-7772" fmla="*/ 679450 h 3588041"/>
                <a:gd name="connsiteX15-7773" fmla="*/ 908685 w 1419860"/>
                <a:gd name="connsiteY15-7774" fmla="*/ 1047750 h 3588041"/>
                <a:gd name="connsiteX16-7775" fmla="*/ 918210 w 1419860"/>
                <a:gd name="connsiteY16-7776" fmla="*/ 1295400 h 3588041"/>
                <a:gd name="connsiteX17-7777" fmla="*/ 1089660 w 1419860"/>
                <a:gd name="connsiteY17-7778" fmla="*/ 1187450 h 3588041"/>
                <a:gd name="connsiteX18-7779" fmla="*/ 1362710 w 1419860"/>
                <a:gd name="connsiteY18-7780" fmla="*/ 1171575 h 3588041"/>
                <a:gd name="connsiteX19-7781" fmla="*/ 1096010 w 1419860"/>
                <a:gd name="connsiteY19-7782" fmla="*/ 1254125 h 3588041"/>
                <a:gd name="connsiteX20-7783" fmla="*/ 876935 w 1419860"/>
                <a:gd name="connsiteY20-7784" fmla="*/ 1527175 h 3588041"/>
                <a:gd name="connsiteX21-7785" fmla="*/ 822960 w 1419860"/>
                <a:gd name="connsiteY21-7786" fmla="*/ 1895475 h 3588041"/>
                <a:gd name="connsiteX22-7787" fmla="*/ 991235 w 1419860"/>
                <a:gd name="connsiteY22-7788" fmla="*/ 2308225 h 3588041"/>
                <a:gd name="connsiteX23-7789" fmla="*/ 883285 w 1419860"/>
                <a:gd name="connsiteY23-7790" fmla="*/ 2578100 h 3588041"/>
                <a:gd name="connsiteX24-7791" fmla="*/ 1153160 w 1419860"/>
                <a:gd name="connsiteY24-7792" fmla="*/ 2524125 h 3588041"/>
                <a:gd name="connsiteX25-7793" fmla="*/ 1419860 w 1419860"/>
                <a:gd name="connsiteY25-7794" fmla="*/ 2626519 h 3588041"/>
                <a:gd name="connsiteX26-7795" fmla="*/ 1175385 w 1419860"/>
                <a:gd name="connsiteY26-7796" fmla="*/ 2590800 h 3588041"/>
                <a:gd name="connsiteX27-7797" fmla="*/ 819785 w 1419860"/>
                <a:gd name="connsiteY27-7798" fmla="*/ 2733675 h 3588041"/>
                <a:gd name="connsiteX28-7799" fmla="*/ 676910 w 1419860"/>
                <a:gd name="connsiteY28-7800" fmla="*/ 3086100 h 3588041"/>
                <a:gd name="connsiteX29-7801" fmla="*/ 905510 w 1419860"/>
                <a:gd name="connsiteY29-7802" fmla="*/ 3419475 h 3588041"/>
                <a:gd name="connsiteX30-7803" fmla="*/ 1003935 w 1419860"/>
                <a:gd name="connsiteY30-7804" fmla="*/ 3581400 h 3588041"/>
                <a:gd name="connsiteX0-7805" fmla="*/ 1003935 w 1419860"/>
                <a:gd name="connsiteY0-7806" fmla="*/ 3581400 h 3588041"/>
                <a:gd name="connsiteX1-7807" fmla="*/ 578485 w 1419860"/>
                <a:gd name="connsiteY1-7808" fmla="*/ 3587750 h 3588041"/>
                <a:gd name="connsiteX2-7809" fmla="*/ 381635 w 1419860"/>
                <a:gd name="connsiteY2-7810" fmla="*/ 3076575 h 3588041"/>
                <a:gd name="connsiteX3-7811" fmla="*/ 734060 w 1419860"/>
                <a:gd name="connsiteY3-7812" fmla="*/ 2381250 h 3588041"/>
                <a:gd name="connsiteX4-7813" fmla="*/ 569595 w 1419860"/>
                <a:gd name="connsiteY4-7814" fmla="*/ 1953895 h 3588041"/>
                <a:gd name="connsiteX5-7815" fmla="*/ 0 w 1419860"/>
                <a:gd name="connsiteY5-7816" fmla="*/ 1902460 h 3588041"/>
                <a:gd name="connsiteX6-7817" fmla="*/ 318135 w 1419860"/>
                <a:gd name="connsiteY6-7818" fmla="*/ 1812925 h 3588041"/>
                <a:gd name="connsiteX7-7819" fmla="*/ 622935 w 1419860"/>
                <a:gd name="connsiteY7-7820" fmla="*/ 1879600 h 3588041"/>
                <a:gd name="connsiteX8-7821" fmla="*/ 810260 w 1419860"/>
                <a:gd name="connsiteY8-7822" fmla="*/ 1333500 h 3588041"/>
                <a:gd name="connsiteX9-7823" fmla="*/ 750729 w 1419860"/>
                <a:gd name="connsiteY9-7824" fmla="*/ 823913 h 3588041"/>
                <a:gd name="connsiteX10-7825" fmla="*/ 375285 w 1419860"/>
                <a:gd name="connsiteY10-7826" fmla="*/ 695325 h 3588041"/>
                <a:gd name="connsiteX11-7827" fmla="*/ 771367 w 1419860"/>
                <a:gd name="connsiteY11-7828" fmla="*/ 734218 h 3588041"/>
                <a:gd name="connsiteX12-7829" fmla="*/ 786448 w 1419860"/>
                <a:gd name="connsiteY12-7830" fmla="*/ 441325 h 3588041"/>
                <a:gd name="connsiteX13-7831" fmla="*/ 873760 w 1419860"/>
                <a:gd name="connsiteY13-7832" fmla="*/ 0 h 3588041"/>
                <a:gd name="connsiteX14-7833" fmla="*/ 845185 w 1419860"/>
                <a:gd name="connsiteY14-7834" fmla="*/ 679450 h 3588041"/>
                <a:gd name="connsiteX15-7835" fmla="*/ 908685 w 1419860"/>
                <a:gd name="connsiteY15-7836" fmla="*/ 1047750 h 3588041"/>
                <a:gd name="connsiteX16-7837" fmla="*/ 918210 w 1419860"/>
                <a:gd name="connsiteY16-7838" fmla="*/ 1295400 h 3588041"/>
                <a:gd name="connsiteX17-7839" fmla="*/ 1089660 w 1419860"/>
                <a:gd name="connsiteY17-7840" fmla="*/ 1187450 h 3588041"/>
                <a:gd name="connsiteX18-7841" fmla="*/ 1362710 w 1419860"/>
                <a:gd name="connsiteY18-7842" fmla="*/ 1171575 h 3588041"/>
                <a:gd name="connsiteX19-7843" fmla="*/ 1096010 w 1419860"/>
                <a:gd name="connsiteY19-7844" fmla="*/ 1254125 h 3588041"/>
                <a:gd name="connsiteX20-7845" fmla="*/ 876935 w 1419860"/>
                <a:gd name="connsiteY20-7846" fmla="*/ 1527175 h 3588041"/>
                <a:gd name="connsiteX21-7847" fmla="*/ 822960 w 1419860"/>
                <a:gd name="connsiteY21-7848" fmla="*/ 1895475 h 3588041"/>
                <a:gd name="connsiteX22-7849" fmla="*/ 991235 w 1419860"/>
                <a:gd name="connsiteY22-7850" fmla="*/ 2308225 h 3588041"/>
                <a:gd name="connsiteX23-7851" fmla="*/ 883285 w 1419860"/>
                <a:gd name="connsiteY23-7852" fmla="*/ 2578100 h 3588041"/>
                <a:gd name="connsiteX24-7853" fmla="*/ 1153160 w 1419860"/>
                <a:gd name="connsiteY24-7854" fmla="*/ 2524125 h 3588041"/>
                <a:gd name="connsiteX25-7855" fmla="*/ 1419860 w 1419860"/>
                <a:gd name="connsiteY25-7856" fmla="*/ 2626519 h 3588041"/>
                <a:gd name="connsiteX26-7857" fmla="*/ 1175385 w 1419860"/>
                <a:gd name="connsiteY26-7858" fmla="*/ 2590800 h 3588041"/>
                <a:gd name="connsiteX27-7859" fmla="*/ 819785 w 1419860"/>
                <a:gd name="connsiteY27-7860" fmla="*/ 2733675 h 3588041"/>
                <a:gd name="connsiteX28-7861" fmla="*/ 676910 w 1419860"/>
                <a:gd name="connsiteY28-7862" fmla="*/ 3086100 h 3588041"/>
                <a:gd name="connsiteX29-7863" fmla="*/ 905510 w 1419860"/>
                <a:gd name="connsiteY29-7864" fmla="*/ 3419475 h 3588041"/>
                <a:gd name="connsiteX30-7865" fmla="*/ 1003935 w 1419860"/>
                <a:gd name="connsiteY30-7866" fmla="*/ 3581400 h 3588041"/>
                <a:gd name="connsiteX0-7867" fmla="*/ 1003935 w 1419860"/>
                <a:gd name="connsiteY0-7868" fmla="*/ 3581400 h 3588041"/>
                <a:gd name="connsiteX1-7869" fmla="*/ 578485 w 1419860"/>
                <a:gd name="connsiteY1-7870" fmla="*/ 3587750 h 3588041"/>
                <a:gd name="connsiteX2-7871" fmla="*/ 381635 w 1419860"/>
                <a:gd name="connsiteY2-7872" fmla="*/ 3076575 h 3588041"/>
                <a:gd name="connsiteX3-7873" fmla="*/ 734060 w 1419860"/>
                <a:gd name="connsiteY3-7874" fmla="*/ 2381250 h 3588041"/>
                <a:gd name="connsiteX4-7875" fmla="*/ 569595 w 1419860"/>
                <a:gd name="connsiteY4-7876" fmla="*/ 1953895 h 3588041"/>
                <a:gd name="connsiteX5-7877" fmla="*/ 0 w 1419860"/>
                <a:gd name="connsiteY5-7878" fmla="*/ 1902460 h 3588041"/>
                <a:gd name="connsiteX6-7879" fmla="*/ 318135 w 1419860"/>
                <a:gd name="connsiteY6-7880" fmla="*/ 1812925 h 3588041"/>
                <a:gd name="connsiteX7-7881" fmla="*/ 622935 w 1419860"/>
                <a:gd name="connsiteY7-7882" fmla="*/ 1879600 h 3588041"/>
                <a:gd name="connsiteX8-7883" fmla="*/ 810260 w 1419860"/>
                <a:gd name="connsiteY8-7884" fmla="*/ 1333500 h 3588041"/>
                <a:gd name="connsiteX9-7885" fmla="*/ 750729 w 1419860"/>
                <a:gd name="connsiteY9-7886" fmla="*/ 823913 h 3588041"/>
                <a:gd name="connsiteX10-7887" fmla="*/ 375285 w 1419860"/>
                <a:gd name="connsiteY10-7888" fmla="*/ 695325 h 3588041"/>
                <a:gd name="connsiteX11-7889" fmla="*/ 771367 w 1419860"/>
                <a:gd name="connsiteY11-7890" fmla="*/ 734218 h 3588041"/>
                <a:gd name="connsiteX12-7891" fmla="*/ 786448 w 1419860"/>
                <a:gd name="connsiteY12-7892" fmla="*/ 441325 h 3588041"/>
                <a:gd name="connsiteX13-7893" fmla="*/ 873760 w 1419860"/>
                <a:gd name="connsiteY13-7894" fmla="*/ 0 h 3588041"/>
                <a:gd name="connsiteX14-7895" fmla="*/ 845185 w 1419860"/>
                <a:gd name="connsiteY14-7896" fmla="*/ 679450 h 3588041"/>
                <a:gd name="connsiteX15-7897" fmla="*/ 908685 w 1419860"/>
                <a:gd name="connsiteY15-7898" fmla="*/ 1047750 h 3588041"/>
                <a:gd name="connsiteX16-7899" fmla="*/ 918210 w 1419860"/>
                <a:gd name="connsiteY16-7900" fmla="*/ 1295400 h 3588041"/>
                <a:gd name="connsiteX17-7901" fmla="*/ 1089660 w 1419860"/>
                <a:gd name="connsiteY17-7902" fmla="*/ 1187450 h 3588041"/>
                <a:gd name="connsiteX18-7903" fmla="*/ 1362710 w 1419860"/>
                <a:gd name="connsiteY18-7904" fmla="*/ 1171575 h 3588041"/>
                <a:gd name="connsiteX19-7905" fmla="*/ 1096010 w 1419860"/>
                <a:gd name="connsiteY19-7906" fmla="*/ 1254125 h 3588041"/>
                <a:gd name="connsiteX20-7907" fmla="*/ 876935 w 1419860"/>
                <a:gd name="connsiteY20-7908" fmla="*/ 1527175 h 3588041"/>
                <a:gd name="connsiteX21-7909" fmla="*/ 822960 w 1419860"/>
                <a:gd name="connsiteY21-7910" fmla="*/ 1895475 h 3588041"/>
                <a:gd name="connsiteX22-7911" fmla="*/ 991235 w 1419860"/>
                <a:gd name="connsiteY22-7912" fmla="*/ 2308225 h 3588041"/>
                <a:gd name="connsiteX23-7913" fmla="*/ 883285 w 1419860"/>
                <a:gd name="connsiteY23-7914" fmla="*/ 2578100 h 3588041"/>
                <a:gd name="connsiteX24-7915" fmla="*/ 1153160 w 1419860"/>
                <a:gd name="connsiteY24-7916" fmla="*/ 2524125 h 3588041"/>
                <a:gd name="connsiteX25-7917" fmla="*/ 1419860 w 1419860"/>
                <a:gd name="connsiteY25-7918" fmla="*/ 2626519 h 3588041"/>
                <a:gd name="connsiteX26-7919" fmla="*/ 1175385 w 1419860"/>
                <a:gd name="connsiteY26-7920" fmla="*/ 2590800 h 3588041"/>
                <a:gd name="connsiteX27-7921" fmla="*/ 819785 w 1419860"/>
                <a:gd name="connsiteY27-7922" fmla="*/ 2733675 h 3588041"/>
                <a:gd name="connsiteX28-7923" fmla="*/ 676910 w 1419860"/>
                <a:gd name="connsiteY28-7924" fmla="*/ 3086100 h 3588041"/>
                <a:gd name="connsiteX29-7925" fmla="*/ 905510 w 1419860"/>
                <a:gd name="connsiteY29-7926" fmla="*/ 3419475 h 3588041"/>
                <a:gd name="connsiteX30-7927" fmla="*/ 1003935 w 1419860"/>
                <a:gd name="connsiteY30-7928" fmla="*/ 3581400 h 3588041"/>
                <a:gd name="connsiteX0-7929" fmla="*/ 1010285 w 1426210"/>
                <a:gd name="connsiteY0-7930" fmla="*/ 3581400 h 3588041"/>
                <a:gd name="connsiteX1-7931" fmla="*/ 584835 w 1426210"/>
                <a:gd name="connsiteY1-7932" fmla="*/ 3587750 h 3588041"/>
                <a:gd name="connsiteX2-7933" fmla="*/ 387985 w 1426210"/>
                <a:gd name="connsiteY2-7934" fmla="*/ 3076575 h 3588041"/>
                <a:gd name="connsiteX3-7935" fmla="*/ 740410 w 1426210"/>
                <a:gd name="connsiteY3-7936" fmla="*/ 2381250 h 3588041"/>
                <a:gd name="connsiteX4-7937" fmla="*/ 575945 w 1426210"/>
                <a:gd name="connsiteY4-7938" fmla="*/ 1953895 h 3588041"/>
                <a:gd name="connsiteX5-7939" fmla="*/ 0 w 1426210"/>
                <a:gd name="connsiteY5-7940" fmla="*/ 1937385 h 3588041"/>
                <a:gd name="connsiteX6-7941" fmla="*/ 324485 w 1426210"/>
                <a:gd name="connsiteY6-7942" fmla="*/ 1812925 h 3588041"/>
                <a:gd name="connsiteX7-7943" fmla="*/ 629285 w 1426210"/>
                <a:gd name="connsiteY7-7944" fmla="*/ 1879600 h 3588041"/>
                <a:gd name="connsiteX8-7945" fmla="*/ 816610 w 1426210"/>
                <a:gd name="connsiteY8-7946" fmla="*/ 1333500 h 3588041"/>
                <a:gd name="connsiteX9-7947" fmla="*/ 757079 w 1426210"/>
                <a:gd name="connsiteY9-7948" fmla="*/ 823913 h 3588041"/>
                <a:gd name="connsiteX10-7949" fmla="*/ 381635 w 1426210"/>
                <a:gd name="connsiteY10-7950" fmla="*/ 695325 h 3588041"/>
                <a:gd name="connsiteX11-7951" fmla="*/ 777717 w 1426210"/>
                <a:gd name="connsiteY11-7952" fmla="*/ 734218 h 3588041"/>
                <a:gd name="connsiteX12-7953" fmla="*/ 792798 w 1426210"/>
                <a:gd name="connsiteY12-7954" fmla="*/ 441325 h 3588041"/>
                <a:gd name="connsiteX13-7955" fmla="*/ 880110 w 1426210"/>
                <a:gd name="connsiteY13-7956" fmla="*/ 0 h 3588041"/>
                <a:gd name="connsiteX14-7957" fmla="*/ 851535 w 1426210"/>
                <a:gd name="connsiteY14-7958" fmla="*/ 679450 h 3588041"/>
                <a:gd name="connsiteX15-7959" fmla="*/ 915035 w 1426210"/>
                <a:gd name="connsiteY15-7960" fmla="*/ 1047750 h 3588041"/>
                <a:gd name="connsiteX16-7961" fmla="*/ 924560 w 1426210"/>
                <a:gd name="connsiteY16-7962" fmla="*/ 1295400 h 3588041"/>
                <a:gd name="connsiteX17-7963" fmla="*/ 1096010 w 1426210"/>
                <a:gd name="connsiteY17-7964" fmla="*/ 1187450 h 3588041"/>
                <a:gd name="connsiteX18-7965" fmla="*/ 1369060 w 1426210"/>
                <a:gd name="connsiteY18-7966" fmla="*/ 1171575 h 3588041"/>
                <a:gd name="connsiteX19-7967" fmla="*/ 1102360 w 1426210"/>
                <a:gd name="connsiteY19-7968" fmla="*/ 1254125 h 3588041"/>
                <a:gd name="connsiteX20-7969" fmla="*/ 883285 w 1426210"/>
                <a:gd name="connsiteY20-7970" fmla="*/ 1527175 h 3588041"/>
                <a:gd name="connsiteX21-7971" fmla="*/ 829310 w 1426210"/>
                <a:gd name="connsiteY21-7972" fmla="*/ 1895475 h 3588041"/>
                <a:gd name="connsiteX22-7973" fmla="*/ 997585 w 1426210"/>
                <a:gd name="connsiteY22-7974" fmla="*/ 2308225 h 3588041"/>
                <a:gd name="connsiteX23-7975" fmla="*/ 889635 w 1426210"/>
                <a:gd name="connsiteY23-7976" fmla="*/ 2578100 h 3588041"/>
                <a:gd name="connsiteX24-7977" fmla="*/ 1159510 w 1426210"/>
                <a:gd name="connsiteY24-7978" fmla="*/ 2524125 h 3588041"/>
                <a:gd name="connsiteX25-7979" fmla="*/ 1426210 w 1426210"/>
                <a:gd name="connsiteY25-7980" fmla="*/ 2626519 h 3588041"/>
                <a:gd name="connsiteX26-7981" fmla="*/ 1181735 w 1426210"/>
                <a:gd name="connsiteY26-7982" fmla="*/ 2590800 h 3588041"/>
                <a:gd name="connsiteX27-7983" fmla="*/ 826135 w 1426210"/>
                <a:gd name="connsiteY27-7984" fmla="*/ 2733675 h 3588041"/>
                <a:gd name="connsiteX28-7985" fmla="*/ 683260 w 1426210"/>
                <a:gd name="connsiteY28-7986" fmla="*/ 3086100 h 3588041"/>
                <a:gd name="connsiteX29-7987" fmla="*/ 911860 w 1426210"/>
                <a:gd name="connsiteY29-7988" fmla="*/ 3419475 h 3588041"/>
                <a:gd name="connsiteX30-7989" fmla="*/ 1010285 w 1426210"/>
                <a:gd name="connsiteY30-7990" fmla="*/ 3581400 h 3588041"/>
                <a:gd name="connsiteX0-7991" fmla="*/ 1010285 w 1426210"/>
                <a:gd name="connsiteY0-7992" fmla="*/ 3581400 h 3588041"/>
                <a:gd name="connsiteX1-7993" fmla="*/ 584835 w 1426210"/>
                <a:gd name="connsiteY1-7994" fmla="*/ 3587750 h 3588041"/>
                <a:gd name="connsiteX2-7995" fmla="*/ 387985 w 1426210"/>
                <a:gd name="connsiteY2-7996" fmla="*/ 3076575 h 3588041"/>
                <a:gd name="connsiteX3-7997" fmla="*/ 740410 w 1426210"/>
                <a:gd name="connsiteY3-7998" fmla="*/ 2381250 h 3588041"/>
                <a:gd name="connsiteX4-7999" fmla="*/ 575945 w 1426210"/>
                <a:gd name="connsiteY4-8000" fmla="*/ 1953895 h 3588041"/>
                <a:gd name="connsiteX5-8001" fmla="*/ 0 w 1426210"/>
                <a:gd name="connsiteY5-8002" fmla="*/ 1937385 h 3588041"/>
                <a:gd name="connsiteX6-8003" fmla="*/ 324485 w 1426210"/>
                <a:gd name="connsiteY6-8004" fmla="*/ 1812925 h 3588041"/>
                <a:gd name="connsiteX7-8005" fmla="*/ 629285 w 1426210"/>
                <a:gd name="connsiteY7-8006" fmla="*/ 1879600 h 3588041"/>
                <a:gd name="connsiteX8-8007" fmla="*/ 816610 w 1426210"/>
                <a:gd name="connsiteY8-8008" fmla="*/ 1333500 h 3588041"/>
                <a:gd name="connsiteX9-8009" fmla="*/ 757079 w 1426210"/>
                <a:gd name="connsiteY9-8010" fmla="*/ 823913 h 3588041"/>
                <a:gd name="connsiteX10-8011" fmla="*/ 381635 w 1426210"/>
                <a:gd name="connsiteY10-8012" fmla="*/ 695325 h 3588041"/>
                <a:gd name="connsiteX11-8013" fmla="*/ 777717 w 1426210"/>
                <a:gd name="connsiteY11-8014" fmla="*/ 734218 h 3588041"/>
                <a:gd name="connsiteX12-8015" fmla="*/ 792798 w 1426210"/>
                <a:gd name="connsiteY12-8016" fmla="*/ 441325 h 3588041"/>
                <a:gd name="connsiteX13-8017" fmla="*/ 880110 w 1426210"/>
                <a:gd name="connsiteY13-8018" fmla="*/ 0 h 3588041"/>
                <a:gd name="connsiteX14-8019" fmla="*/ 851535 w 1426210"/>
                <a:gd name="connsiteY14-8020" fmla="*/ 679450 h 3588041"/>
                <a:gd name="connsiteX15-8021" fmla="*/ 915035 w 1426210"/>
                <a:gd name="connsiteY15-8022" fmla="*/ 1047750 h 3588041"/>
                <a:gd name="connsiteX16-8023" fmla="*/ 924560 w 1426210"/>
                <a:gd name="connsiteY16-8024" fmla="*/ 1295400 h 3588041"/>
                <a:gd name="connsiteX17-8025" fmla="*/ 1096010 w 1426210"/>
                <a:gd name="connsiteY17-8026" fmla="*/ 1187450 h 3588041"/>
                <a:gd name="connsiteX18-8027" fmla="*/ 1369060 w 1426210"/>
                <a:gd name="connsiteY18-8028" fmla="*/ 1171575 h 3588041"/>
                <a:gd name="connsiteX19-8029" fmla="*/ 1102360 w 1426210"/>
                <a:gd name="connsiteY19-8030" fmla="*/ 1254125 h 3588041"/>
                <a:gd name="connsiteX20-8031" fmla="*/ 883285 w 1426210"/>
                <a:gd name="connsiteY20-8032" fmla="*/ 1527175 h 3588041"/>
                <a:gd name="connsiteX21-8033" fmla="*/ 829310 w 1426210"/>
                <a:gd name="connsiteY21-8034" fmla="*/ 1895475 h 3588041"/>
                <a:gd name="connsiteX22-8035" fmla="*/ 997585 w 1426210"/>
                <a:gd name="connsiteY22-8036" fmla="*/ 2308225 h 3588041"/>
                <a:gd name="connsiteX23-8037" fmla="*/ 889635 w 1426210"/>
                <a:gd name="connsiteY23-8038" fmla="*/ 2578100 h 3588041"/>
                <a:gd name="connsiteX24-8039" fmla="*/ 1159510 w 1426210"/>
                <a:gd name="connsiteY24-8040" fmla="*/ 2524125 h 3588041"/>
                <a:gd name="connsiteX25-8041" fmla="*/ 1426210 w 1426210"/>
                <a:gd name="connsiteY25-8042" fmla="*/ 2626519 h 3588041"/>
                <a:gd name="connsiteX26-8043" fmla="*/ 1181735 w 1426210"/>
                <a:gd name="connsiteY26-8044" fmla="*/ 2590800 h 3588041"/>
                <a:gd name="connsiteX27-8045" fmla="*/ 826135 w 1426210"/>
                <a:gd name="connsiteY27-8046" fmla="*/ 2733675 h 3588041"/>
                <a:gd name="connsiteX28-8047" fmla="*/ 683260 w 1426210"/>
                <a:gd name="connsiteY28-8048" fmla="*/ 3086100 h 3588041"/>
                <a:gd name="connsiteX29-8049" fmla="*/ 911860 w 1426210"/>
                <a:gd name="connsiteY29-8050" fmla="*/ 3419475 h 3588041"/>
                <a:gd name="connsiteX30-8051" fmla="*/ 1010285 w 1426210"/>
                <a:gd name="connsiteY30-8052" fmla="*/ 3581400 h 3588041"/>
                <a:gd name="connsiteX0-8053" fmla="*/ 1010285 w 1426210"/>
                <a:gd name="connsiteY0-8054" fmla="*/ 3581400 h 3588041"/>
                <a:gd name="connsiteX1-8055" fmla="*/ 584835 w 1426210"/>
                <a:gd name="connsiteY1-8056" fmla="*/ 3587750 h 3588041"/>
                <a:gd name="connsiteX2-8057" fmla="*/ 387985 w 1426210"/>
                <a:gd name="connsiteY2-8058" fmla="*/ 3076575 h 3588041"/>
                <a:gd name="connsiteX3-8059" fmla="*/ 740410 w 1426210"/>
                <a:gd name="connsiteY3-8060" fmla="*/ 2381250 h 3588041"/>
                <a:gd name="connsiteX4-8061" fmla="*/ 575945 w 1426210"/>
                <a:gd name="connsiteY4-8062" fmla="*/ 1953895 h 3588041"/>
                <a:gd name="connsiteX5-8063" fmla="*/ 0 w 1426210"/>
                <a:gd name="connsiteY5-8064" fmla="*/ 1937385 h 3588041"/>
                <a:gd name="connsiteX6-8065" fmla="*/ 280035 w 1426210"/>
                <a:gd name="connsiteY6-8066" fmla="*/ 1822450 h 3588041"/>
                <a:gd name="connsiteX7-8067" fmla="*/ 629285 w 1426210"/>
                <a:gd name="connsiteY7-8068" fmla="*/ 1879600 h 3588041"/>
                <a:gd name="connsiteX8-8069" fmla="*/ 816610 w 1426210"/>
                <a:gd name="connsiteY8-8070" fmla="*/ 1333500 h 3588041"/>
                <a:gd name="connsiteX9-8071" fmla="*/ 757079 w 1426210"/>
                <a:gd name="connsiteY9-8072" fmla="*/ 823913 h 3588041"/>
                <a:gd name="connsiteX10-8073" fmla="*/ 381635 w 1426210"/>
                <a:gd name="connsiteY10-8074" fmla="*/ 695325 h 3588041"/>
                <a:gd name="connsiteX11-8075" fmla="*/ 777717 w 1426210"/>
                <a:gd name="connsiteY11-8076" fmla="*/ 734218 h 3588041"/>
                <a:gd name="connsiteX12-8077" fmla="*/ 792798 w 1426210"/>
                <a:gd name="connsiteY12-8078" fmla="*/ 441325 h 3588041"/>
                <a:gd name="connsiteX13-8079" fmla="*/ 880110 w 1426210"/>
                <a:gd name="connsiteY13-8080" fmla="*/ 0 h 3588041"/>
                <a:gd name="connsiteX14-8081" fmla="*/ 851535 w 1426210"/>
                <a:gd name="connsiteY14-8082" fmla="*/ 679450 h 3588041"/>
                <a:gd name="connsiteX15-8083" fmla="*/ 915035 w 1426210"/>
                <a:gd name="connsiteY15-8084" fmla="*/ 1047750 h 3588041"/>
                <a:gd name="connsiteX16-8085" fmla="*/ 924560 w 1426210"/>
                <a:gd name="connsiteY16-8086" fmla="*/ 1295400 h 3588041"/>
                <a:gd name="connsiteX17-8087" fmla="*/ 1096010 w 1426210"/>
                <a:gd name="connsiteY17-8088" fmla="*/ 1187450 h 3588041"/>
                <a:gd name="connsiteX18-8089" fmla="*/ 1369060 w 1426210"/>
                <a:gd name="connsiteY18-8090" fmla="*/ 1171575 h 3588041"/>
                <a:gd name="connsiteX19-8091" fmla="*/ 1102360 w 1426210"/>
                <a:gd name="connsiteY19-8092" fmla="*/ 1254125 h 3588041"/>
                <a:gd name="connsiteX20-8093" fmla="*/ 883285 w 1426210"/>
                <a:gd name="connsiteY20-8094" fmla="*/ 1527175 h 3588041"/>
                <a:gd name="connsiteX21-8095" fmla="*/ 829310 w 1426210"/>
                <a:gd name="connsiteY21-8096" fmla="*/ 1895475 h 3588041"/>
                <a:gd name="connsiteX22-8097" fmla="*/ 997585 w 1426210"/>
                <a:gd name="connsiteY22-8098" fmla="*/ 2308225 h 3588041"/>
                <a:gd name="connsiteX23-8099" fmla="*/ 889635 w 1426210"/>
                <a:gd name="connsiteY23-8100" fmla="*/ 2578100 h 3588041"/>
                <a:gd name="connsiteX24-8101" fmla="*/ 1159510 w 1426210"/>
                <a:gd name="connsiteY24-8102" fmla="*/ 2524125 h 3588041"/>
                <a:gd name="connsiteX25-8103" fmla="*/ 1426210 w 1426210"/>
                <a:gd name="connsiteY25-8104" fmla="*/ 2626519 h 3588041"/>
                <a:gd name="connsiteX26-8105" fmla="*/ 1181735 w 1426210"/>
                <a:gd name="connsiteY26-8106" fmla="*/ 2590800 h 3588041"/>
                <a:gd name="connsiteX27-8107" fmla="*/ 826135 w 1426210"/>
                <a:gd name="connsiteY27-8108" fmla="*/ 2733675 h 3588041"/>
                <a:gd name="connsiteX28-8109" fmla="*/ 683260 w 1426210"/>
                <a:gd name="connsiteY28-8110" fmla="*/ 3086100 h 3588041"/>
                <a:gd name="connsiteX29-8111" fmla="*/ 911860 w 1426210"/>
                <a:gd name="connsiteY29-8112" fmla="*/ 3419475 h 3588041"/>
                <a:gd name="connsiteX30-8113" fmla="*/ 1010285 w 1426210"/>
                <a:gd name="connsiteY30-8114" fmla="*/ 3581400 h 3588041"/>
                <a:gd name="connsiteX0-8115" fmla="*/ 1010285 w 1426210"/>
                <a:gd name="connsiteY0-8116" fmla="*/ 3581400 h 3588041"/>
                <a:gd name="connsiteX1-8117" fmla="*/ 584835 w 1426210"/>
                <a:gd name="connsiteY1-8118" fmla="*/ 3587750 h 3588041"/>
                <a:gd name="connsiteX2-8119" fmla="*/ 387985 w 1426210"/>
                <a:gd name="connsiteY2-8120" fmla="*/ 3076575 h 3588041"/>
                <a:gd name="connsiteX3-8121" fmla="*/ 740410 w 1426210"/>
                <a:gd name="connsiteY3-8122" fmla="*/ 2381250 h 3588041"/>
                <a:gd name="connsiteX4-8123" fmla="*/ 575945 w 1426210"/>
                <a:gd name="connsiteY4-8124" fmla="*/ 1953895 h 3588041"/>
                <a:gd name="connsiteX5-8125" fmla="*/ 0 w 1426210"/>
                <a:gd name="connsiteY5-8126" fmla="*/ 1937385 h 3588041"/>
                <a:gd name="connsiteX6-8127" fmla="*/ 308610 w 1426210"/>
                <a:gd name="connsiteY6-8128" fmla="*/ 1828800 h 3588041"/>
                <a:gd name="connsiteX7-8129" fmla="*/ 629285 w 1426210"/>
                <a:gd name="connsiteY7-8130" fmla="*/ 1879600 h 3588041"/>
                <a:gd name="connsiteX8-8131" fmla="*/ 816610 w 1426210"/>
                <a:gd name="connsiteY8-8132" fmla="*/ 1333500 h 3588041"/>
                <a:gd name="connsiteX9-8133" fmla="*/ 757079 w 1426210"/>
                <a:gd name="connsiteY9-8134" fmla="*/ 823913 h 3588041"/>
                <a:gd name="connsiteX10-8135" fmla="*/ 381635 w 1426210"/>
                <a:gd name="connsiteY10-8136" fmla="*/ 695325 h 3588041"/>
                <a:gd name="connsiteX11-8137" fmla="*/ 777717 w 1426210"/>
                <a:gd name="connsiteY11-8138" fmla="*/ 734218 h 3588041"/>
                <a:gd name="connsiteX12-8139" fmla="*/ 792798 w 1426210"/>
                <a:gd name="connsiteY12-8140" fmla="*/ 441325 h 3588041"/>
                <a:gd name="connsiteX13-8141" fmla="*/ 880110 w 1426210"/>
                <a:gd name="connsiteY13-8142" fmla="*/ 0 h 3588041"/>
                <a:gd name="connsiteX14-8143" fmla="*/ 851535 w 1426210"/>
                <a:gd name="connsiteY14-8144" fmla="*/ 679450 h 3588041"/>
                <a:gd name="connsiteX15-8145" fmla="*/ 915035 w 1426210"/>
                <a:gd name="connsiteY15-8146" fmla="*/ 1047750 h 3588041"/>
                <a:gd name="connsiteX16-8147" fmla="*/ 924560 w 1426210"/>
                <a:gd name="connsiteY16-8148" fmla="*/ 1295400 h 3588041"/>
                <a:gd name="connsiteX17-8149" fmla="*/ 1096010 w 1426210"/>
                <a:gd name="connsiteY17-8150" fmla="*/ 1187450 h 3588041"/>
                <a:gd name="connsiteX18-8151" fmla="*/ 1369060 w 1426210"/>
                <a:gd name="connsiteY18-8152" fmla="*/ 1171575 h 3588041"/>
                <a:gd name="connsiteX19-8153" fmla="*/ 1102360 w 1426210"/>
                <a:gd name="connsiteY19-8154" fmla="*/ 1254125 h 3588041"/>
                <a:gd name="connsiteX20-8155" fmla="*/ 883285 w 1426210"/>
                <a:gd name="connsiteY20-8156" fmla="*/ 1527175 h 3588041"/>
                <a:gd name="connsiteX21-8157" fmla="*/ 829310 w 1426210"/>
                <a:gd name="connsiteY21-8158" fmla="*/ 1895475 h 3588041"/>
                <a:gd name="connsiteX22-8159" fmla="*/ 997585 w 1426210"/>
                <a:gd name="connsiteY22-8160" fmla="*/ 2308225 h 3588041"/>
                <a:gd name="connsiteX23-8161" fmla="*/ 889635 w 1426210"/>
                <a:gd name="connsiteY23-8162" fmla="*/ 2578100 h 3588041"/>
                <a:gd name="connsiteX24-8163" fmla="*/ 1159510 w 1426210"/>
                <a:gd name="connsiteY24-8164" fmla="*/ 2524125 h 3588041"/>
                <a:gd name="connsiteX25-8165" fmla="*/ 1426210 w 1426210"/>
                <a:gd name="connsiteY25-8166" fmla="*/ 2626519 h 3588041"/>
                <a:gd name="connsiteX26-8167" fmla="*/ 1181735 w 1426210"/>
                <a:gd name="connsiteY26-8168" fmla="*/ 2590800 h 3588041"/>
                <a:gd name="connsiteX27-8169" fmla="*/ 826135 w 1426210"/>
                <a:gd name="connsiteY27-8170" fmla="*/ 2733675 h 3588041"/>
                <a:gd name="connsiteX28-8171" fmla="*/ 683260 w 1426210"/>
                <a:gd name="connsiteY28-8172" fmla="*/ 3086100 h 3588041"/>
                <a:gd name="connsiteX29-8173" fmla="*/ 911860 w 1426210"/>
                <a:gd name="connsiteY29-8174" fmla="*/ 3419475 h 3588041"/>
                <a:gd name="connsiteX30-8175" fmla="*/ 1010285 w 1426210"/>
                <a:gd name="connsiteY30-8176" fmla="*/ 3581400 h 3588041"/>
                <a:gd name="connsiteX0-8177" fmla="*/ 1010285 w 1426210"/>
                <a:gd name="connsiteY0-8178" fmla="*/ 3581400 h 3588041"/>
                <a:gd name="connsiteX1-8179" fmla="*/ 584835 w 1426210"/>
                <a:gd name="connsiteY1-8180" fmla="*/ 3587750 h 3588041"/>
                <a:gd name="connsiteX2-8181" fmla="*/ 387985 w 1426210"/>
                <a:gd name="connsiteY2-8182" fmla="*/ 3076575 h 3588041"/>
                <a:gd name="connsiteX3-8183" fmla="*/ 740410 w 1426210"/>
                <a:gd name="connsiteY3-8184" fmla="*/ 2381250 h 3588041"/>
                <a:gd name="connsiteX4-8185" fmla="*/ 575945 w 1426210"/>
                <a:gd name="connsiteY4-8186" fmla="*/ 1953895 h 3588041"/>
                <a:gd name="connsiteX5-8187" fmla="*/ 0 w 1426210"/>
                <a:gd name="connsiteY5-8188" fmla="*/ 1937385 h 3588041"/>
                <a:gd name="connsiteX6-8189" fmla="*/ 308610 w 1426210"/>
                <a:gd name="connsiteY6-8190" fmla="*/ 1828800 h 3588041"/>
                <a:gd name="connsiteX7-8191" fmla="*/ 629285 w 1426210"/>
                <a:gd name="connsiteY7-8192" fmla="*/ 1879600 h 3588041"/>
                <a:gd name="connsiteX8-8193" fmla="*/ 816610 w 1426210"/>
                <a:gd name="connsiteY8-8194" fmla="*/ 1333500 h 3588041"/>
                <a:gd name="connsiteX9-8195" fmla="*/ 757079 w 1426210"/>
                <a:gd name="connsiteY9-8196" fmla="*/ 823913 h 3588041"/>
                <a:gd name="connsiteX10-8197" fmla="*/ 381635 w 1426210"/>
                <a:gd name="connsiteY10-8198" fmla="*/ 695325 h 3588041"/>
                <a:gd name="connsiteX11-8199" fmla="*/ 777717 w 1426210"/>
                <a:gd name="connsiteY11-8200" fmla="*/ 734218 h 3588041"/>
                <a:gd name="connsiteX12-8201" fmla="*/ 792798 w 1426210"/>
                <a:gd name="connsiteY12-8202" fmla="*/ 441325 h 3588041"/>
                <a:gd name="connsiteX13-8203" fmla="*/ 880110 w 1426210"/>
                <a:gd name="connsiteY13-8204" fmla="*/ 0 h 3588041"/>
                <a:gd name="connsiteX14-8205" fmla="*/ 851535 w 1426210"/>
                <a:gd name="connsiteY14-8206" fmla="*/ 679450 h 3588041"/>
                <a:gd name="connsiteX15-8207" fmla="*/ 915035 w 1426210"/>
                <a:gd name="connsiteY15-8208" fmla="*/ 1047750 h 3588041"/>
                <a:gd name="connsiteX16-8209" fmla="*/ 924560 w 1426210"/>
                <a:gd name="connsiteY16-8210" fmla="*/ 1295400 h 3588041"/>
                <a:gd name="connsiteX17-8211" fmla="*/ 1096010 w 1426210"/>
                <a:gd name="connsiteY17-8212" fmla="*/ 1187450 h 3588041"/>
                <a:gd name="connsiteX18-8213" fmla="*/ 1369060 w 1426210"/>
                <a:gd name="connsiteY18-8214" fmla="*/ 1171575 h 3588041"/>
                <a:gd name="connsiteX19-8215" fmla="*/ 1102360 w 1426210"/>
                <a:gd name="connsiteY19-8216" fmla="*/ 1254125 h 3588041"/>
                <a:gd name="connsiteX20-8217" fmla="*/ 883285 w 1426210"/>
                <a:gd name="connsiteY20-8218" fmla="*/ 1527175 h 3588041"/>
                <a:gd name="connsiteX21-8219" fmla="*/ 829310 w 1426210"/>
                <a:gd name="connsiteY21-8220" fmla="*/ 1895475 h 3588041"/>
                <a:gd name="connsiteX22-8221" fmla="*/ 997585 w 1426210"/>
                <a:gd name="connsiteY22-8222" fmla="*/ 2308225 h 3588041"/>
                <a:gd name="connsiteX23-8223" fmla="*/ 889635 w 1426210"/>
                <a:gd name="connsiteY23-8224" fmla="*/ 2578100 h 3588041"/>
                <a:gd name="connsiteX24-8225" fmla="*/ 1159510 w 1426210"/>
                <a:gd name="connsiteY24-8226" fmla="*/ 2524125 h 3588041"/>
                <a:gd name="connsiteX25-8227" fmla="*/ 1426210 w 1426210"/>
                <a:gd name="connsiteY25-8228" fmla="*/ 2626519 h 3588041"/>
                <a:gd name="connsiteX26-8229" fmla="*/ 1181735 w 1426210"/>
                <a:gd name="connsiteY26-8230" fmla="*/ 2590800 h 3588041"/>
                <a:gd name="connsiteX27-8231" fmla="*/ 826135 w 1426210"/>
                <a:gd name="connsiteY27-8232" fmla="*/ 2733675 h 3588041"/>
                <a:gd name="connsiteX28-8233" fmla="*/ 683260 w 1426210"/>
                <a:gd name="connsiteY28-8234" fmla="*/ 3086100 h 3588041"/>
                <a:gd name="connsiteX29-8235" fmla="*/ 911860 w 1426210"/>
                <a:gd name="connsiteY29-8236" fmla="*/ 3419475 h 3588041"/>
                <a:gd name="connsiteX30-8237" fmla="*/ 1010285 w 1426210"/>
                <a:gd name="connsiteY30-8238" fmla="*/ 3581400 h 3588041"/>
                <a:gd name="connsiteX0-8239" fmla="*/ 1010285 w 1426210"/>
                <a:gd name="connsiteY0-8240" fmla="*/ 3581400 h 3588041"/>
                <a:gd name="connsiteX1-8241" fmla="*/ 584835 w 1426210"/>
                <a:gd name="connsiteY1-8242" fmla="*/ 3587750 h 3588041"/>
                <a:gd name="connsiteX2-8243" fmla="*/ 387985 w 1426210"/>
                <a:gd name="connsiteY2-8244" fmla="*/ 3076575 h 3588041"/>
                <a:gd name="connsiteX3-8245" fmla="*/ 740410 w 1426210"/>
                <a:gd name="connsiteY3-8246" fmla="*/ 2381250 h 3588041"/>
                <a:gd name="connsiteX4-8247" fmla="*/ 575945 w 1426210"/>
                <a:gd name="connsiteY4-8248" fmla="*/ 1953895 h 3588041"/>
                <a:gd name="connsiteX5-8249" fmla="*/ 0 w 1426210"/>
                <a:gd name="connsiteY5-8250" fmla="*/ 1937385 h 3588041"/>
                <a:gd name="connsiteX6-8251" fmla="*/ 308610 w 1426210"/>
                <a:gd name="connsiteY6-8252" fmla="*/ 1828800 h 3588041"/>
                <a:gd name="connsiteX7-8253" fmla="*/ 629285 w 1426210"/>
                <a:gd name="connsiteY7-8254" fmla="*/ 1879600 h 3588041"/>
                <a:gd name="connsiteX8-8255" fmla="*/ 816610 w 1426210"/>
                <a:gd name="connsiteY8-8256" fmla="*/ 1333500 h 3588041"/>
                <a:gd name="connsiteX9-8257" fmla="*/ 757079 w 1426210"/>
                <a:gd name="connsiteY9-8258" fmla="*/ 823913 h 3588041"/>
                <a:gd name="connsiteX10-8259" fmla="*/ 381635 w 1426210"/>
                <a:gd name="connsiteY10-8260" fmla="*/ 695325 h 3588041"/>
                <a:gd name="connsiteX11-8261" fmla="*/ 777717 w 1426210"/>
                <a:gd name="connsiteY11-8262" fmla="*/ 734218 h 3588041"/>
                <a:gd name="connsiteX12-8263" fmla="*/ 792798 w 1426210"/>
                <a:gd name="connsiteY12-8264" fmla="*/ 441325 h 3588041"/>
                <a:gd name="connsiteX13-8265" fmla="*/ 880110 w 1426210"/>
                <a:gd name="connsiteY13-8266" fmla="*/ 0 h 3588041"/>
                <a:gd name="connsiteX14-8267" fmla="*/ 851535 w 1426210"/>
                <a:gd name="connsiteY14-8268" fmla="*/ 679450 h 3588041"/>
                <a:gd name="connsiteX15-8269" fmla="*/ 915035 w 1426210"/>
                <a:gd name="connsiteY15-8270" fmla="*/ 1047750 h 3588041"/>
                <a:gd name="connsiteX16-8271" fmla="*/ 924560 w 1426210"/>
                <a:gd name="connsiteY16-8272" fmla="*/ 1295400 h 3588041"/>
                <a:gd name="connsiteX17-8273" fmla="*/ 1096010 w 1426210"/>
                <a:gd name="connsiteY17-8274" fmla="*/ 1187450 h 3588041"/>
                <a:gd name="connsiteX18-8275" fmla="*/ 1369060 w 1426210"/>
                <a:gd name="connsiteY18-8276" fmla="*/ 1171575 h 3588041"/>
                <a:gd name="connsiteX19-8277" fmla="*/ 1102360 w 1426210"/>
                <a:gd name="connsiteY19-8278" fmla="*/ 1254125 h 3588041"/>
                <a:gd name="connsiteX20-8279" fmla="*/ 883285 w 1426210"/>
                <a:gd name="connsiteY20-8280" fmla="*/ 1527175 h 3588041"/>
                <a:gd name="connsiteX21-8281" fmla="*/ 829310 w 1426210"/>
                <a:gd name="connsiteY21-8282" fmla="*/ 1895475 h 3588041"/>
                <a:gd name="connsiteX22-8283" fmla="*/ 997585 w 1426210"/>
                <a:gd name="connsiteY22-8284" fmla="*/ 2308225 h 3588041"/>
                <a:gd name="connsiteX23-8285" fmla="*/ 889635 w 1426210"/>
                <a:gd name="connsiteY23-8286" fmla="*/ 2578100 h 3588041"/>
                <a:gd name="connsiteX24-8287" fmla="*/ 1159510 w 1426210"/>
                <a:gd name="connsiteY24-8288" fmla="*/ 2524125 h 3588041"/>
                <a:gd name="connsiteX25-8289" fmla="*/ 1426210 w 1426210"/>
                <a:gd name="connsiteY25-8290" fmla="*/ 2626519 h 3588041"/>
                <a:gd name="connsiteX26-8291" fmla="*/ 1181735 w 1426210"/>
                <a:gd name="connsiteY26-8292" fmla="*/ 2590800 h 3588041"/>
                <a:gd name="connsiteX27-8293" fmla="*/ 826135 w 1426210"/>
                <a:gd name="connsiteY27-8294" fmla="*/ 2733675 h 3588041"/>
                <a:gd name="connsiteX28-8295" fmla="*/ 683260 w 1426210"/>
                <a:gd name="connsiteY28-8296" fmla="*/ 3086100 h 3588041"/>
                <a:gd name="connsiteX29-8297" fmla="*/ 911860 w 1426210"/>
                <a:gd name="connsiteY29-8298" fmla="*/ 3419475 h 3588041"/>
                <a:gd name="connsiteX30-8299" fmla="*/ 1010285 w 1426210"/>
                <a:gd name="connsiteY30-8300" fmla="*/ 3581400 h 35880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Lst>
              <a:rect l="l" t="t" r="r" b="b"/>
              <a:pathLst>
                <a:path w="1426210" h="3588041">
                  <a:moveTo>
                    <a:pt x="1010285" y="3581400"/>
                  </a:moveTo>
                  <a:cubicBezTo>
                    <a:pt x="949431" y="3584046"/>
                    <a:pt x="774277" y="3589337"/>
                    <a:pt x="584835" y="3587750"/>
                  </a:cubicBezTo>
                  <a:cubicBezTo>
                    <a:pt x="395393" y="3586163"/>
                    <a:pt x="346181" y="3245908"/>
                    <a:pt x="387985" y="3076575"/>
                  </a:cubicBezTo>
                  <a:cubicBezTo>
                    <a:pt x="429789" y="2907242"/>
                    <a:pt x="709083" y="2568363"/>
                    <a:pt x="740410" y="2381250"/>
                  </a:cubicBezTo>
                  <a:cubicBezTo>
                    <a:pt x="771737" y="2194137"/>
                    <a:pt x="699347" y="2027873"/>
                    <a:pt x="575945" y="1953895"/>
                  </a:cubicBezTo>
                  <a:cubicBezTo>
                    <a:pt x="452543" y="1879918"/>
                    <a:pt x="246062" y="1906270"/>
                    <a:pt x="0" y="1937385"/>
                  </a:cubicBezTo>
                  <a:cubicBezTo>
                    <a:pt x="176213" y="1860550"/>
                    <a:pt x="191029" y="1847956"/>
                    <a:pt x="308610" y="1828800"/>
                  </a:cubicBezTo>
                  <a:cubicBezTo>
                    <a:pt x="426191" y="1809644"/>
                    <a:pt x="531390" y="1839912"/>
                    <a:pt x="629285" y="1879600"/>
                  </a:cubicBezTo>
                  <a:cubicBezTo>
                    <a:pt x="628492" y="1689101"/>
                    <a:pt x="795311" y="1509448"/>
                    <a:pt x="816610" y="1333500"/>
                  </a:cubicBezTo>
                  <a:cubicBezTo>
                    <a:pt x="837909" y="1157552"/>
                    <a:pt x="829575" y="930275"/>
                    <a:pt x="757079" y="823913"/>
                  </a:cubicBezTo>
                  <a:cubicBezTo>
                    <a:pt x="684583" y="717551"/>
                    <a:pt x="502814" y="711861"/>
                    <a:pt x="381635" y="695325"/>
                  </a:cubicBezTo>
                  <a:cubicBezTo>
                    <a:pt x="496200" y="695457"/>
                    <a:pt x="688553" y="665427"/>
                    <a:pt x="777717" y="734218"/>
                  </a:cubicBezTo>
                  <a:cubicBezTo>
                    <a:pt x="771631" y="617272"/>
                    <a:pt x="775733" y="563695"/>
                    <a:pt x="792798" y="441325"/>
                  </a:cubicBezTo>
                  <a:cubicBezTo>
                    <a:pt x="809864" y="318955"/>
                    <a:pt x="839364" y="250296"/>
                    <a:pt x="880110" y="0"/>
                  </a:cubicBezTo>
                  <a:cubicBezTo>
                    <a:pt x="876406" y="171979"/>
                    <a:pt x="845714" y="504825"/>
                    <a:pt x="851535" y="679450"/>
                  </a:cubicBezTo>
                  <a:cubicBezTo>
                    <a:pt x="857356" y="854075"/>
                    <a:pt x="902864" y="945092"/>
                    <a:pt x="915035" y="1047750"/>
                  </a:cubicBezTo>
                  <a:cubicBezTo>
                    <a:pt x="927206" y="1150408"/>
                    <a:pt x="929852" y="1162579"/>
                    <a:pt x="924560" y="1295400"/>
                  </a:cubicBezTo>
                  <a:cubicBezTo>
                    <a:pt x="989118" y="1225021"/>
                    <a:pt x="1040977" y="1204912"/>
                    <a:pt x="1096010" y="1187450"/>
                  </a:cubicBezTo>
                  <a:cubicBezTo>
                    <a:pt x="1151043" y="1169988"/>
                    <a:pt x="1235710" y="1164167"/>
                    <a:pt x="1369060" y="1171575"/>
                  </a:cubicBezTo>
                  <a:cubicBezTo>
                    <a:pt x="1276985" y="1188508"/>
                    <a:pt x="1183322" y="1194858"/>
                    <a:pt x="1102360" y="1254125"/>
                  </a:cubicBezTo>
                  <a:cubicBezTo>
                    <a:pt x="1021398" y="1313392"/>
                    <a:pt x="928793" y="1420283"/>
                    <a:pt x="883285" y="1527175"/>
                  </a:cubicBezTo>
                  <a:cubicBezTo>
                    <a:pt x="837777" y="1634067"/>
                    <a:pt x="810260" y="1765300"/>
                    <a:pt x="829310" y="1895475"/>
                  </a:cubicBezTo>
                  <a:cubicBezTo>
                    <a:pt x="848360" y="2025650"/>
                    <a:pt x="987531" y="2194454"/>
                    <a:pt x="997585" y="2308225"/>
                  </a:cubicBezTo>
                  <a:cubicBezTo>
                    <a:pt x="1007639" y="2421996"/>
                    <a:pt x="957898" y="2484438"/>
                    <a:pt x="889635" y="2578100"/>
                  </a:cubicBezTo>
                  <a:cubicBezTo>
                    <a:pt x="997584" y="2532062"/>
                    <a:pt x="1072462" y="2520817"/>
                    <a:pt x="1159510" y="2524125"/>
                  </a:cubicBezTo>
                  <a:cubicBezTo>
                    <a:pt x="1246558" y="2527433"/>
                    <a:pt x="1354242" y="2576512"/>
                    <a:pt x="1426210" y="2626519"/>
                  </a:cubicBezTo>
                  <a:cubicBezTo>
                    <a:pt x="1360066" y="2600325"/>
                    <a:pt x="1281747" y="2572941"/>
                    <a:pt x="1181735" y="2590800"/>
                  </a:cubicBezTo>
                  <a:cubicBezTo>
                    <a:pt x="1081723" y="2608659"/>
                    <a:pt x="909214" y="2651125"/>
                    <a:pt x="826135" y="2733675"/>
                  </a:cubicBezTo>
                  <a:cubicBezTo>
                    <a:pt x="743056" y="2816225"/>
                    <a:pt x="688022" y="2917825"/>
                    <a:pt x="683260" y="3086100"/>
                  </a:cubicBezTo>
                  <a:cubicBezTo>
                    <a:pt x="684848" y="3232150"/>
                    <a:pt x="851006" y="3349625"/>
                    <a:pt x="911860" y="3419475"/>
                  </a:cubicBezTo>
                  <a:cubicBezTo>
                    <a:pt x="972714" y="3489325"/>
                    <a:pt x="1071139" y="3578754"/>
                    <a:pt x="1010285" y="3581400"/>
                  </a:cubicBezTo>
                  <a:close/>
                </a:path>
              </a:pathLst>
            </a:custGeom>
            <a:solidFill>
              <a:schemeClr val="accent2"/>
            </a:solidFill>
            <a:ln>
              <a:noFill/>
            </a:ln>
            <a:effectLst>
              <a:outerShdw blurRad="203200" dist="381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prstClr val="white"/>
                </a:solidFill>
                <a:latin typeface="Times New Roman"/>
                <a:ea typeface="黑体"/>
              </a:endParaRPr>
            </a:p>
          </p:txBody>
        </p:sp>
        <p:grpSp>
          <p:nvGrpSpPr>
            <p:cNvPr id="13" name="组合 12"/>
            <p:cNvGrpSpPr/>
            <p:nvPr/>
          </p:nvGrpSpPr>
          <p:grpSpPr>
            <a:xfrm>
              <a:off x="4687714" y="4114800"/>
              <a:ext cx="698500" cy="698500"/>
              <a:chOff x="4687714" y="4114800"/>
              <a:chExt cx="698500" cy="698500"/>
            </a:xfrm>
          </p:grpSpPr>
          <p:sp>
            <p:nvSpPr>
              <p:cNvPr id="32" name="椭圆 31"/>
              <p:cNvSpPr/>
              <p:nvPr/>
            </p:nvSpPr>
            <p:spPr>
              <a:xfrm>
                <a:off x="4687714" y="4114800"/>
                <a:ext cx="698500" cy="698500"/>
              </a:xfrm>
              <a:prstGeom prst="ellipse">
                <a:avLst/>
              </a:prstGeom>
              <a:solidFill>
                <a:schemeClr val="accent1"/>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sp>
            <p:nvSpPr>
              <p:cNvPr id="33" name="Freeform 172"/>
              <p:cNvSpPr>
                <a:spLocks noChangeAspect="1" noEditPoints="1"/>
              </p:cNvSpPr>
              <p:nvPr/>
            </p:nvSpPr>
            <p:spPr bwMode="auto">
              <a:xfrm>
                <a:off x="4916679" y="4322993"/>
                <a:ext cx="240570" cy="255605"/>
              </a:xfrm>
              <a:custGeom>
                <a:avLst/>
                <a:gdLst>
                  <a:gd name="T0" fmla="*/ 75 w 89"/>
                  <a:gd name="T1" fmla="*/ 22 h 95"/>
                  <a:gd name="T2" fmla="*/ 89 w 89"/>
                  <a:gd name="T3" fmla="*/ 53 h 95"/>
                  <a:gd name="T4" fmla="*/ 78 w 89"/>
                  <a:gd name="T5" fmla="*/ 80 h 95"/>
                  <a:gd name="T6" fmla="*/ 47 w 89"/>
                  <a:gd name="T7" fmla="*/ 53 h 95"/>
                  <a:gd name="T8" fmla="*/ 75 w 89"/>
                  <a:gd name="T9" fmla="*/ 22 h 95"/>
                  <a:gd name="T10" fmla="*/ 76 w 89"/>
                  <a:gd name="T11" fmla="*/ 83 h 95"/>
                  <a:gd name="T12" fmla="*/ 69 w 89"/>
                  <a:gd name="T13" fmla="*/ 88 h 95"/>
                  <a:gd name="T14" fmla="*/ 74 w 89"/>
                  <a:gd name="T15" fmla="*/ 81 h 95"/>
                  <a:gd name="T16" fmla="*/ 76 w 89"/>
                  <a:gd name="T17" fmla="*/ 83 h 95"/>
                  <a:gd name="T18" fmla="*/ 64 w 89"/>
                  <a:gd name="T19" fmla="*/ 92 h 95"/>
                  <a:gd name="T20" fmla="*/ 72 w 89"/>
                  <a:gd name="T21" fmla="*/ 79 h 95"/>
                  <a:gd name="T22" fmla="*/ 70 w 89"/>
                  <a:gd name="T23" fmla="*/ 77 h 95"/>
                  <a:gd name="T24" fmla="*/ 60 w 89"/>
                  <a:gd name="T25" fmla="*/ 94 h 95"/>
                  <a:gd name="T26" fmla="*/ 64 w 89"/>
                  <a:gd name="T27" fmla="*/ 92 h 95"/>
                  <a:gd name="T28" fmla="*/ 58 w 89"/>
                  <a:gd name="T29" fmla="*/ 91 h 95"/>
                  <a:gd name="T30" fmla="*/ 67 w 89"/>
                  <a:gd name="T31" fmla="*/ 75 h 95"/>
                  <a:gd name="T32" fmla="*/ 65 w 89"/>
                  <a:gd name="T33" fmla="*/ 74 h 95"/>
                  <a:gd name="T34" fmla="*/ 57 w 89"/>
                  <a:gd name="T35" fmla="*/ 88 h 95"/>
                  <a:gd name="T36" fmla="*/ 58 w 89"/>
                  <a:gd name="T37" fmla="*/ 91 h 95"/>
                  <a:gd name="T38" fmla="*/ 56 w 89"/>
                  <a:gd name="T39" fmla="*/ 84 h 95"/>
                  <a:gd name="T40" fmla="*/ 63 w 89"/>
                  <a:gd name="T41" fmla="*/ 72 h 95"/>
                  <a:gd name="T42" fmla="*/ 61 w 89"/>
                  <a:gd name="T43" fmla="*/ 70 h 95"/>
                  <a:gd name="T44" fmla="*/ 55 w 89"/>
                  <a:gd name="T45" fmla="*/ 81 h 95"/>
                  <a:gd name="T46" fmla="*/ 56 w 89"/>
                  <a:gd name="T47" fmla="*/ 84 h 95"/>
                  <a:gd name="T48" fmla="*/ 53 w 89"/>
                  <a:gd name="T49" fmla="*/ 78 h 95"/>
                  <a:gd name="T50" fmla="*/ 59 w 89"/>
                  <a:gd name="T51" fmla="*/ 68 h 95"/>
                  <a:gd name="T52" fmla="*/ 57 w 89"/>
                  <a:gd name="T53" fmla="*/ 66 h 95"/>
                  <a:gd name="T54" fmla="*/ 52 w 89"/>
                  <a:gd name="T55" fmla="*/ 75 h 95"/>
                  <a:gd name="T56" fmla="*/ 53 w 89"/>
                  <a:gd name="T57" fmla="*/ 78 h 95"/>
                  <a:gd name="T58" fmla="*/ 51 w 89"/>
                  <a:gd name="T59" fmla="*/ 71 h 95"/>
                  <a:gd name="T60" fmla="*/ 55 w 89"/>
                  <a:gd name="T61" fmla="*/ 64 h 95"/>
                  <a:gd name="T62" fmla="*/ 53 w 89"/>
                  <a:gd name="T63" fmla="*/ 62 h 95"/>
                  <a:gd name="T64" fmla="*/ 50 w 89"/>
                  <a:gd name="T65" fmla="*/ 68 h 95"/>
                  <a:gd name="T66" fmla="*/ 51 w 89"/>
                  <a:gd name="T67" fmla="*/ 71 h 95"/>
                  <a:gd name="T68" fmla="*/ 48 w 89"/>
                  <a:gd name="T69" fmla="*/ 65 h 95"/>
                  <a:gd name="T70" fmla="*/ 51 w 89"/>
                  <a:gd name="T71" fmla="*/ 61 h 95"/>
                  <a:gd name="T72" fmla="*/ 49 w 89"/>
                  <a:gd name="T73" fmla="*/ 59 h 95"/>
                  <a:gd name="T74" fmla="*/ 47 w 89"/>
                  <a:gd name="T75" fmla="*/ 61 h 95"/>
                  <a:gd name="T76" fmla="*/ 48 w 89"/>
                  <a:gd name="T77" fmla="*/ 65 h 95"/>
                  <a:gd name="T78" fmla="*/ 46 w 89"/>
                  <a:gd name="T79" fmla="*/ 58 h 95"/>
                  <a:gd name="T80" fmla="*/ 45 w 89"/>
                  <a:gd name="T81" fmla="*/ 55 h 95"/>
                  <a:gd name="T82" fmla="*/ 47 w 89"/>
                  <a:gd name="T83" fmla="*/ 57 h 95"/>
                  <a:gd name="T84" fmla="*/ 46 w 89"/>
                  <a:gd name="T85" fmla="*/ 58 h 95"/>
                  <a:gd name="T86" fmla="*/ 59 w 89"/>
                  <a:gd name="T87" fmla="*/ 17 h 95"/>
                  <a:gd name="T88" fmla="*/ 41 w 89"/>
                  <a:gd name="T89" fmla="*/ 54 h 95"/>
                  <a:gd name="T90" fmla="*/ 36 w 89"/>
                  <a:gd name="T91" fmla="*/ 13 h 95"/>
                  <a:gd name="T92" fmla="*/ 0 w 89"/>
                  <a:gd name="T93" fmla="*/ 54 h 95"/>
                  <a:gd name="T94" fmla="*/ 41 w 89"/>
                  <a:gd name="T95" fmla="*/ 95 h 95"/>
                  <a:gd name="T96" fmla="*/ 55 w 89"/>
                  <a:gd name="T97" fmla="*/ 93 h 95"/>
                  <a:gd name="T98" fmla="*/ 41 w 89"/>
                  <a:gd name="T99" fmla="*/ 54 h 95"/>
                  <a:gd name="T100" fmla="*/ 68 w 89"/>
                  <a:gd name="T101" fmla="*/ 23 h 95"/>
                  <a:gd name="T102" fmla="*/ 59 w 89"/>
                  <a:gd name="T103" fmla="*/ 17 h 95"/>
                  <a:gd name="T104" fmla="*/ 43 w 89"/>
                  <a:gd name="T105" fmla="*/ 0 h 95"/>
                  <a:gd name="T106" fmla="*/ 38 w 89"/>
                  <a:gd name="T107" fmla="*/ 0 h 95"/>
                  <a:gd name="T108" fmla="*/ 43 w 89"/>
                  <a:gd name="T109" fmla="*/ 41 h 95"/>
                  <a:gd name="T110" fmla="*/ 61 w 89"/>
                  <a:gd name="T111" fmla="*/ 4 h 95"/>
                  <a:gd name="T112" fmla="*/ 43 w 89"/>
                  <a:gd name="T11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95">
                    <a:moveTo>
                      <a:pt x="75" y="22"/>
                    </a:moveTo>
                    <a:cubicBezTo>
                      <a:pt x="83" y="29"/>
                      <a:pt x="89" y="40"/>
                      <a:pt x="89" y="53"/>
                    </a:cubicBezTo>
                    <a:cubicBezTo>
                      <a:pt x="89" y="63"/>
                      <a:pt x="85" y="73"/>
                      <a:pt x="78" y="80"/>
                    </a:cubicBezTo>
                    <a:cubicBezTo>
                      <a:pt x="47" y="53"/>
                      <a:pt x="47" y="53"/>
                      <a:pt x="47" y="53"/>
                    </a:cubicBezTo>
                    <a:cubicBezTo>
                      <a:pt x="75" y="22"/>
                      <a:pt x="75" y="22"/>
                      <a:pt x="75" y="22"/>
                    </a:cubicBezTo>
                    <a:close/>
                    <a:moveTo>
                      <a:pt x="76" y="83"/>
                    </a:moveTo>
                    <a:cubicBezTo>
                      <a:pt x="74" y="85"/>
                      <a:pt x="72" y="87"/>
                      <a:pt x="69" y="88"/>
                    </a:cubicBezTo>
                    <a:cubicBezTo>
                      <a:pt x="74" y="81"/>
                      <a:pt x="74" y="81"/>
                      <a:pt x="74" y="81"/>
                    </a:cubicBezTo>
                    <a:cubicBezTo>
                      <a:pt x="76" y="83"/>
                      <a:pt x="76" y="83"/>
                      <a:pt x="76" y="83"/>
                    </a:cubicBezTo>
                    <a:close/>
                    <a:moveTo>
                      <a:pt x="64" y="92"/>
                    </a:moveTo>
                    <a:cubicBezTo>
                      <a:pt x="72" y="79"/>
                      <a:pt x="72" y="79"/>
                      <a:pt x="72" y="79"/>
                    </a:cubicBezTo>
                    <a:cubicBezTo>
                      <a:pt x="70" y="77"/>
                      <a:pt x="70" y="77"/>
                      <a:pt x="70" y="77"/>
                    </a:cubicBezTo>
                    <a:cubicBezTo>
                      <a:pt x="60" y="94"/>
                      <a:pt x="60" y="94"/>
                      <a:pt x="60" y="94"/>
                    </a:cubicBezTo>
                    <a:cubicBezTo>
                      <a:pt x="61" y="93"/>
                      <a:pt x="63" y="92"/>
                      <a:pt x="64" y="92"/>
                    </a:cubicBezTo>
                    <a:close/>
                    <a:moveTo>
                      <a:pt x="58" y="91"/>
                    </a:moveTo>
                    <a:cubicBezTo>
                      <a:pt x="67" y="75"/>
                      <a:pt x="67" y="75"/>
                      <a:pt x="67" y="75"/>
                    </a:cubicBezTo>
                    <a:cubicBezTo>
                      <a:pt x="65" y="74"/>
                      <a:pt x="65" y="74"/>
                      <a:pt x="65" y="74"/>
                    </a:cubicBezTo>
                    <a:cubicBezTo>
                      <a:pt x="57" y="88"/>
                      <a:pt x="57" y="88"/>
                      <a:pt x="57" y="88"/>
                    </a:cubicBezTo>
                    <a:cubicBezTo>
                      <a:pt x="58" y="91"/>
                      <a:pt x="58" y="91"/>
                      <a:pt x="58" y="91"/>
                    </a:cubicBezTo>
                    <a:close/>
                    <a:moveTo>
                      <a:pt x="56" y="84"/>
                    </a:moveTo>
                    <a:cubicBezTo>
                      <a:pt x="63" y="72"/>
                      <a:pt x="63" y="72"/>
                      <a:pt x="63" y="72"/>
                    </a:cubicBezTo>
                    <a:cubicBezTo>
                      <a:pt x="61" y="70"/>
                      <a:pt x="61" y="70"/>
                      <a:pt x="61" y="70"/>
                    </a:cubicBezTo>
                    <a:cubicBezTo>
                      <a:pt x="55" y="81"/>
                      <a:pt x="55" y="81"/>
                      <a:pt x="55" y="81"/>
                    </a:cubicBezTo>
                    <a:cubicBezTo>
                      <a:pt x="56" y="84"/>
                      <a:pt x="56" y="84"/>
                      <a:pt x="56" y="84"/>
                    </a:cubicBezTo>
                    <a:close/>
                    <a:moveTo>
                      <a:pt x="53" y="78"/>
                    </a:moveTo>
                    <a:cubicBezTo>
                      <a:pt x="59" y="68"/>
                      <a:pt x="59" y="68"/>
                      <a:pt x="59" y="68"/>
                    </a:cubicBezTo>
                    <a:cubicBezTo>
                      <a:pt x="57" y="66"/>
                      <a:pt x="57" y="66"/>
                      <a:pt x="57" y="66"/>
                    </a:cubicBezTo>
                    <a:cubicBezTo>
                      <a:pt x="52" y="75"/>
                      <a:pt x="52" y="75"/>
                      <a:pt x="52" y="75"/>
                    </a:cubicBezTo>
                    <a:cubicBezTo>
                      <a:pt x="53" y="78"/>
                      <a:pt x="53" y="78"/>
                      <a:pt x="53" y="78"/>
                    </a:cubicBezTo>
                    <a:close/>
                    <a:moveTo>
                      <a:pt x="51" y="71"/>
                    </a:moveTo>
                    <a:cubicBezTo>
                      <a:pt x="55" y="64"/>
                      <a:pt x="55" y="64"/>
                      <a:pt x="55" y="64"/>
                    </a:cubicBezTo>
                    <a:cubicBezTo>
                      <a:pt x="53" y="62"/>
                      <a:pt x="53" y="62"/>
                      <a:pt x="53" y="62"/>
                    </a:cubicBezTo>
                    <a:cubicBezTo>
                      <a:pt x="50" y="68"/>
                      <a:pt x="50" y="68"/>
                      <a:pt x="50" y="68"/>
                    </a:cubicBezTo>
                    <a:cubicBezTo>
                      <a:pt x="51" y="71"/>
                      <a:pt x="51" y="71"/>
                      <a:pt x="51" y="71"/>
                    </a:cubicBezTo>
                    <a:close/>
                    <a:moveTo>
                      <a:pt x="48" y="65"/>
                    </a:moveTo>
                    <a:cubicBezTo>
                      <a:pt x="51" y="61"/>
                      <a:pt x="51" y="61"/>
                      <a:pt x="51" y="61"/>
                    </a:cubicBezTo>
                    <a:cubicBezTo>
                      <a:pt x="49" y="59"/>
                      <a:pt x="49" y="59"/>
                      <a:pt x="49" y="59"/>
                    </a:cubicBezTo>
                    <a:cubicBezTo>
                      <a:pt x="47" y="61"/>
                      <a:pt x="47" y="61"/>
                      <a:pt x="47" y="61"/>
                    </a:cubicBezTo>
                    <a:cubicBezTo>
                      <a:pt x="48" y="65"/>
                      <a:pt x="48" y="65"/>
                      <a:pt x="48" y="65"/>
                    </a:cubicBezTo>
                    <a:close/>
                    <a:moveTo>
                      <a:pt x="46" y="58"/>
                    </a:moveTo>
                    <a:cubicBezTo>
                      <a:pt x="45" y="55"/>
                      <a:pt x="45" y="55"/>
                      <a:pt x="45" y="55"/>
                    </a:cubicBezTo>
                    <a:cubicBezTo>
                      <a:pt x="47" y="57"/>
                      <a:pt x="47" y="57"/>
                      <a:pt x="47" y="57"/>
                    </a:cubicBezTo>
                    <a:cubicBezTo>
                      <a:pt x="46" y="58"/>
                      <a:pt x="46" y="58"/>
                      <a:pt x="46" y="58"/>
                    </a:cubicBezTo>
                    <a:close/>
                    <a:moveTo>
                      <a:pt x="59" y="17"/>
                    </a:moveTo>
                    <a:cubicBezTo>
                      <a:pt x="41" y="54"/>
                      <a:pt x="41" y="54"/>
                      <a:pt x="41" y="54"/>
                    </a:cubicBezTo>
                    <a:cubicBezTo>
                      <a:pt x="41" y="54"/>
                      <a:pt x="38" y="28"/>
                      <a:pt x="36" y="13"/>
                    </a:cubicBezTo>
                    <a:cubicBezTo>
                      <a:pt x="16" y="15"/>
                      <a:pt x="0" y="33"/>
                      <a:pt x="0" y="54"/>
                    </a:cubicBezTo>
                    <a:cubicBezTo>
                      <a:pt x="0" y="77"/>
                      <a:pt x="18" y="95"/>
                      <a:pt x="41" y="95"/>
                    </a:cubicBezTo>
                    <a:cubicBezTo>
                      <a:pt x="46" y="95"/>
                      <a:pt x="51" y="94"/>
                      <a:pt x="55" y="93"/>
                    </a:cubicBezTo>
                    <a:cubicBezTo>
                      <a:pt x="41" y="54"/>
                      <a:pt x="41" y="54"/>
                      <a:pt x="41" y="54"/>
                    </a:cubicBezTo>
                    <a:cubicBezTo>
                      <a:pt x="68" y="23"/>
                      <a:pt x="68" y="23"/>
                      <a:pt x="68" y="23"/>
                    </a:cubicBezTo>
                    <a:cubicBezTo>
                      <a:pt x="66" y="20"/>
                      <a:pt x="63" y="18"/>
                      <a:pt x="59" y="17"/>
                    </a:cubicBezTo>
                    <a:close/>
                    <a:moveTo>
                      <a:pt x="43" y="0"/>
                    </a:moveTo>
                    <a:cubicBezTo>
                      <a:pt x="41" y="0"/>
                      <a:pt x="40" y="0"/>
                      <a:pt x="38" y="0"/>
                    </a:cubicBezTo>
                    <a:cubicBezTo>
                      <a:pt x="40" y="15"/>
                      <a:pt x="43" y="41"/>
                      <a:pt x="43" y="41"/>
                    </a:cubicBezTo>
                    <a:cubicBezTo>
                      <a:pt x="61" y="4"/>
                      <a:pt x="61" y="4"/>
                      <a:pt x="61" y="4"/>
                    </a:cubicBezTo>
                    <a:cubicBezTo>
                      <a:pt x="56" y="1"/>
                      <a:pt x="49" y="0"/>
                      <a:pt x="43" y="0"/>
                    </a:cubicBezTo>
                    <a:close/>
                  </a:path>
                </a:pathLst>
              </a:custGeom>
              <a:solidFill>
                <a:schemeClr val="bg1"/>
              </a:solidFill>
              <a:ln>
                <a:noFill/>
              </a:ln>
              <a:effectLst/>
            </p:spPr>
            <p:txBody>
              <a:bodyPr vert="horz" wrap="square" lIns="91440" tIns="45720" rIns="91440" bIns="45720" numCol="1" anchor="t" anchorCtr="0" compatLnSpc="1"/>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grpSp>
        <p:grpSp>
          <p:nvGrpSpPr>
            <p:cNvPr id="14" name="组合 13"/>
            <p:cNvGrpSpPr/>
            <p:nvPr/>
          </p:nvGrpSpPr>
          <p:grpSpPr>
            <a:xfrm>
              <a:off x="6854334" y="5018405"/>
              <a:ext cx="698500" cy="698500"/>
              <a:chOff x="6854334" y="5018405"/>
              <a:chExt cx="698500" cy="698500"/>
            </a:xfrm>
          </p:grpSpPr>
          <p:sp>
            <p:nvSpPr>
              <p:cNvPr id="27" name="椭圆 26"/>
              <p:cNvSpPr/>
              <p:nvPr/>
            </p:nvSpPr>
            <p:spPr>
              <a:xfrm>
                <a:off x="6854334" y="5018405"/>
                <a:ext cx="698500" cy="698500"/>
              </a:xfrm>
              <a:prstGeom prst="ellipse">
                <a:avLst/>
              </a:prstGeom>
              <a:solidFill>
                <a:schemeClr val="accent1"/>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nvGrpSpPr>
              <p:cNvPr id="28" name="组合 27"/>
              <p:cNvGrpSpPr>
                <a:grpSpLocks noChangeAspect="1"/>
              </p:cNvGrpSpPr>
              <p:nvPr/>
            </p:nvGrpSpPr>
            <p:grpSpPr>
              <a:xfrm>
                <a:off x="7054558" y="5245034"/>
                <a:ext cx="312886" cy="311751"/>
                <a:chOff x="3618897" y="2279040"/>
                <a:chExt cx="706229" cy="703668"/>
              </a:xfrm>
              <a:solidFill>
                <a:schemeClr val="bg1"/>
              </a:solidFill>
            </p:grpSpPr>
            <p:sp>
              <p:nvSpPr>
                <p:cNvPr id="29" name="Freeform 9"/>
                <p:cNvSpPr>
                  <a:spLocks noEditPoints="1"/>
                </p:cNvSpPr>
                <p:nvPr/>
              </p:nvSpPr>
              <p:spPr bwMode="auto">
                <a:xfrm>
                  <a:off x="3713987" y="2279040"/>
                  <a:ext cx="516048" cy="703668"/>
                </a:xfrm>
                <a:custGeom>
                  <a:avLst/>
                  <a:gdLst>
                    <a:gd name="T0" fmla="*/ 222 w 597"/>
                    <a:gd name="T1" fmla="*/ 575 h 814"/>
                    <a:gd name="T2" fmla="*/ 253 w 597"/>
                    <a:gd name="T3" fmla="*/ 598 h 814"/>
                    <a:gd name="T4" fmla="*/ 344 w 597"/>
                    <a:gd name="T5" fmla="*/ 598 h 814"/>
                    <a:gd name="T6" fmla="*/ 375 w 597"/>
                    <a:gd name="T7" fmla="*/ 575 h 814"/>
                    <a:gd name="T8" fmla="*/ 414 w 597"/>
                    <a:gd name="T9" fmla="*/ 509 h 814"/>
                    <a:gd name="T10" fmla="*/ 539 w 597"/>
                    <a:gd name="T11" fmla="*/ 298 h 814"/>
                    <a:gd name="T12" fmla="*/ 298 w 597"/>
                    <a:gd name="T13" fmla="*/ 57 h 814"/>
                    <a:gd name="T14" fmla="*/ 57 w 597"/>
                    <a:gd name="T15" fmla="*/ 298 h 814"/>
                    <a:gd name="T16" fmla="*/ 183 w 597"/>
                    <a:gd name="T17" fmla="*/ 509 h 814"/>
                    <a:gd name="T18" fmla="*/ 222 w 597"/>
                    <a:gd name="T19" fmla="*/ 575 h 814"/>
                    <a:gd name="T20" fmla="*/ 354 w 597"/>
                    <a:gd name="T21" fmla="*/ 782 h 814"/>
                    <a:gd name="T22" fmla="*/ 314 w 597"/>
                    <a:gd name="T23" fmla="*/ 814 h 814"/>
                    <a:gd name="T24" fmla="*/ 282 w 597"/>
                    <a:gd name="T25" fmla="*/ 814 h 814"/>
                    <a:gd name="T26" fmla="*/ 242 w 597"/>
                    <a:gd name="T27" fmla="*/ 782 h 814"/>
                    <a:gd name="T28" fmla="*/ 226 w 597"/>
                    <a:gd name="T29" fmla="*/ 782 h 814"/>
                    <a:gd name="T30" fmla="*/ 165 w 597"/>
                    <a:gd name="T31" fmla="*/ 722 h 814"/>
                    <a:gd name="T32" fmla="*/ 165 w 597"/>
                    <a:gd name="T33" fmla="*/ 576 h 814"/>
                    <a:gd name="T34" fmla="*/ 155 w 597"/>
                    <a:gd name="T35" fmla="*/ 559 h 814"/>
                    <a:gd name="T36" fmla="*/ 0 w 597"/>
                    <a:gd name="T37" fmla="*/ 298 h 814"/>
                    <a:gd name="T38" fmla="*/ 298 w 597"/>
                    <a:gd name="T39" fmla="*/ 0 h 814"/>
                    <a:gd name="T40" fmla="*/ 597 w 597"/>
                    <a:gd name="T41" fmla="*/ 298 h 814"/>
                    <a:gd name="T42" fmla="*/ 441 w 597"/>
                    <a:gd name="T43" fmla="*/ 559 h 814"/>
                    <a:gd name="T44" fmla="*/ 431 w 597"/>
                    <a:gd name="T45" fmla="*/ 576 h 814"/>
                    <a:gd name="T46" fmla="*/ 432 w 597"/>
                    <a:gd name="T47" fmla="*/ 722 h 814"/>
                    <a:gd name="T48" fmla="*/ 371 w 597"/>
                    <a:gd name="T49" fmla="*/ 782 h 814"/>
                    <a:gd name="T50" fmla="*/ 354 w 597"/>
                    <a:gd name="T51" fmla="*/ 782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97" h="814">
                      <a:moveTo>
                        <a:pt x="222" y="575"/>
                      </a:moveTo>
                      <a:cubicBezTo>
                        <a:pt x="224" y="589"/>
                        <a:pt x="238" y="598"/>
                        <a:pt x="253" y="598"/>
                      </a:cubicBezTo>
                      <a:cubicBezTo>
                        <a:pt x="344" y="598"/>
                        <a:pt x="344" y="598"/>
                        <a:pt x="344" y="598"/>
                      </a:cubicBezTo>
                      <a:cubicBezTo>
                        <a:pt x="358" y="598"/>
                        <a:pt x="373" y="589"/>
                        <a:pt x="375" y="575"/>
                      </a:cubicBezTo>
                      <a:cubicBezTo>
                        <a:pt x="377" y="547"/>
                        <a:pt x="390" y="523"/>
                        <a:pt x="414" y="509"/>
                      </a:cubicBezTo>
                      <a:cubicBezTo>
                        <a:pt x="491" y="467"/>
                        <a:pt x="539" y="386"/>
                        <a:pt x="539" y="298"/>
                      </a:cubicBezTo>
                      <a:cubicBezTo>
                        <a:pt x="539" y="165"/>
                        <a:pt x="431" y="57"/>
                        <a:pt x="298" y="57"/>
                      </a:cubicBezTo>
                      <a:cubicBezTo>
                        <a:pt x="165" y="57"/>
                        <a:pt x="57" y="165"/>
                        <a:pt x="57" y="298"/>
                      </a:cubicBezTo>
                      <a:cubicBezTo>
                        <a:pt x="57" y="386"/>
                        <a:pt x="105" y="467"/>
                        <a:pt x="183" y="509"/>
                      </a:cubicBezTo>
                      <a:cubicBezTo>
                        <a:pt x="207" y="523"/>
                        <a:pt x="219" y="547"/>
                        <a:pt x="222" y="575"/>
                      </a:cubicBezTo>
                      <a:close/>
                      <a:moveTo>
                        <a:pt x="354" y="782"/>
                      </a:moveTo>
                      <a:cubicBezTo>
                        <a:pt x="350" y="800"/>
                        <a:pt x="334" y="814"/>
                        <a:pt x="314" y="814"/>
                      </a:cubicBezTo>
                      <a:cubicBezTo>
                        <a:pt x="282" y="814"/>
                        <a:pt x="282" y="814"/>
                        <a:pt x="282" y="814"/>
                      </a:cubicBezTo>
                      <a:cubicBezTo>
                        <a:pt x="263" y="814"/>
                        <a:pt x="247" y="800"/>
                        <a:pt x="242" y="782"/>
                      </a:cubicBezTo>
                      <a:cubicBezTo>
                        <a:pt x="226" y="782"/>
                        <a:pt x="226" y="782"/>
                        <a:pt x="226" y="782"/>
                      </a:cubicBezTo>
                      <a:cubicBezTo>
                        <a:pt x="193" y="782"/>
                        <a:pt x="165" y="755"/>
                        <a:pt x="165" y="722"/>
                      </a:cubicBezTo>
                      <a:cubicBezTo>
                        <a:pt x="165" y="576"/>
                        <a:pt x="165" y="576"/>
                        <a:pt x="165" y="576"/>
                      </a:cubicBezTo>
                      <a:cubicBezTo>
                        <a:pt x="165" y="569"/>
                        <a:pt x="162" y="563"/>
                        <a:pt x="155" y="559"/>
                      </a:cubicBezTo>
                      <a:cubicBezTo>
                        <a:pt x="60" y="507"/>
                        <a:pt x="0" y="407"/>
                        <a:pt x="0" y="298"/>
                      </a:cubicBezTo>
                      <a:cubicBezTo>
                        <a:pt x="0" y="133"/>
                        <a:pt x="134" y="0"/>
                        <a:pt x="298" y="0"/>
                      </a:cubicBezTo>
                      <a:cubicBezTo>
                        <a:pt x="463" y="0"/>
                        <a:pt x="597" y="133"/>
                        <a:pt x="597" y="298"/>
                      </a:cubicBezTo>
                      <a:cubicBezTo>
                        <a:pt x="597" y="407"/>
                        <a:pt x="537" y="507"/>
                        <a:pt x="441" y="559"/>
                      </a:cubicBezTo>
                      <a:cubicBezTo>
                        <a:pt x="435" y="563"/>
                        <a:pt x="431" y="569"/>
                        <a:pt x="431" y="576"/>
                      </a:cubicBezTo>
                      <a:cubicBezTo>
                        <a:pt x="432" y="722"/>
                        <a:pt x="432" y="722"/>
                        <a:pt x="432" y="722"/>
                      </a:cubicBezTo>
                      <a:cubicBezTo>
                        <a:pt x="432" y="755"/>
                        <a:pt x="404" y="782"/>
                        <a:pt x="371" y="782"/>
                      </a:cubicBezTo>
                      <a:cubicBezTo>
                        <a:pt x="354" y="782"/>
                        <a:pt x="354" y="782"/>
                        <a:pt x="354" y="7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30" name="Freeform 10"/>
                <p:cNvSpPr>
                  <a:spLocks noEditPoints="1"/>
                </p:cNvSpPr>
                <p:nvPr/>
              </p:nvSpPr>
              <p:spPr bwMode="auto">
                <a:xfrm>
                  <a:off x="3618897" y="2347432"/>
                  <a:ext cx="706229" cy="373412"/>
                </a:xfrm>
                <a:custGeom>
                  <a:avLst/>
                  <a:gdLst>
                    <a:gd name="T0" fmla="*/ 699 w 817"/>
                    <a:gd name="T1" fmla="*/ 406 h 432"/>
                    <a:gd name="T2" fmla="*/ 692 w 817"/>
                    <a:gd name="T3" fmla="*/ 380 h 432"/>
                    <a:gd name="T4" fmla="*/ 718 w 817"/>
                    <a:gd name="T5" fmla="*/ 373 h 432"/>
                    <a:gd name="T6" fmla="*/ 755 w 817"/>
                    <a:gd name="T7" fmla="*/ 394 h 432"/>
                    <a:gd name="T8" fmla="*/ 762 w 817"/>
                    <a:gd name="T9" fmla="*/ 420 h 432"/>
                    <a:gd name="T10" fmla="*/ 736 w 817"/>
                    <a:gd name="T11" fmla="*/ 427 h 432"/>
                    <a:gd name="T12" fmla="*/ 699 w 817"/>
                    <a:gd name="T13" fmla="*/ 406 h 432"/>
                    <a:gd name="T14" fmla="*/ 718 w 817"/>
                    <a:gd name="T15" fmla="*/ 59 h 432"/>
                    <a:gd name="T16" fmla="*/ 692 w 817"/>
                    <a:gd name="T17" fmla="*/ 52 h 432"/>
                    <a:gd name="T18" fmla="*/ 699 w 817"/>
                    <a:gd name="T19" fmla="*/ 26 h 432"/>
                    <a:gd name="T20" fmla="*/ 736 w 817"/>
                    <a:gd name="T21" fmla="*/ 5 h 432"/>
                    <a:gd name="T22" fmla="*/ 762 w 817"/>
                    <a:gd name="T23" fmla="*/ 12 h 432"/>
                    <a:gd name="T24" fmla="*/ 755 w 817"/>
                    <a:gd name="T25" fmla="*/ 38 h 432"/>
                    <a:gd name="T26" fmla="*/ 718 w 817"/>
                    <a:gd name="T27" fmla="*/ 59 h 432"/>
                    <a:gd name="T28" fmla="*/ 755 w 817"/>
                    <a:gd name="T29" fmla="*/ 235 h 432"/>
                    <a:gd name="T30" fmla="*/ 736 w 817"/>
                    <a:gd name="T31" fmla="*/ 216 h 432"/>
                    <a:gd name="T32" fmla="*/ 755 w 817"/>
                    <a:gd name="T33" fmla="*/ 197 h 432"/>
                    <a:gd name="T34" fmla="*/ 798 w 817"/>
                    <a:gd name="T35" fmla="*/ 197 h 432"/>
                    <a:gd name="T36" fmla="*/ 817 w 817"/>
                    <a:gd name="T37" fmla="*/ 216 h 432"/>
                    <a:gd name="T38" fmla="*/ 798 w 817"/>
                    <a:gd name="T39" fmla="*/ 235 h 432"/>
                    <a:gd name="T40" fmla="*/ 755 w 817"/>
                    <a:gd name="T41" fmla="*/ 235 h 432"/>
                    <a:gd name="T42" fmla="*/ 118 w 817"/>
                    <a:gd name="T43" fmla="*/ 26 h 432"/>
                    <a:gd name="T44" fmla="*/ 124 w 817"/>
                    <a:gd name="T45" fmla="*/ 52 h 432"/>
                    <a:gd name="T46" fmla="*/ 98 w 817"/>
                    <a:gd name="T47" fmla="*/ 59 h 432"/>
                    <a:gd name="T48" fmla="*/ 62 w 817"/>
                    <a:gd name="T49" fmla="*/ 38 h 432"/>
                    <a:gd name="T50" fmla="*/ 55 w 817"/>
                    <a:gd name="T51" fmla="*/ 12 h 432"/>
                    <a:gd name="T52" fmla="*/ 81 w 817"/>
                    <a:gd name="T53" fmla="*/ 5 h 432"/>
                    <a:gd name="T54" fmla="*/ 118 w 817"/>
                    <a:gd name="T55" fmla="*/ 26 h 432"/>
                    <a:gd name="T56" fmla="*/ 98 w 817"/>
                    <a:gd name="T57" fmla="*/ 373 h 432"/>
                    <a:gd name="T58" fmla="*/ 124 w 817"/>
                    <a:gd name="T59" fmla="*/ 380 h 432"/>
                    <a:gd name="T60" fmla="*/ 118 w 817"/>
                    <a:gd name="T61" fmla="*/ 406 h 432"/>
                    <a:gd name="T62" fmla="*/ 81 w 817"/>
                    <a:gd name="T63" fmla="*/ 427 h 432"/>
                    <a:gd name="T64" fmla="*/ 55 w 817"/>
                    <a:gd name="T65" fmla="*/ 420 h 432"/>
                    <a:gd name="T66" fmla="*/ 62 w 817"/>
                    <a:gd name="T67" fmla="*/ 394 h 432"/>
                    <a:gd name="T68" fmla="*/ 98 w 817"/>
                    <a:gd name="T69" fmla="*/ 373 h 432"/>
                    <a:gd name="T70" fmla="*/ 62 w 817"/>
                    <a:gd name="T71" fmla="*/ 197 h 432"/>
                    <a:gd name="T72" fmla="*/ 81 w 817"/>
                    <a:gd name="T73" fmla="*/ 216 h 432"/>
                    <a:gd name="T74" fmla="*/ 62 w 817"/>
                    <a:gd name="T75" fmla="*/ 235 h 432"/>
                    <a:gd name="T76" fmla="*/ 19 w 817"/>
                    <a:gd name="T77" fmla="*/ 235 h 432"/>
                    <a:gd name="T78" fmla="*/ 0 w 817"/>
                    <a:gd name="T79" fmla="*/ 216 h 432"/>
                    <a:gd name="T80" fmla="*/ 19 w 817"/>
                    <a:gd name="T81" fmla="*/ 197 h 432"/>
                    <a:gd name="T82" fmla="*/ 62 w 817"/>
                    <a:gd name="T83" fmla="*/ 197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7" h="432">
                      <a:moveTo>
                        <a:pt x="699" y="406"/>
                      </a:moveTo>
                      <a:cubicBezTo>
                        <a:pt x="690" y="401"/>
                        <a:pt x="687" y="389"/>
                        <a:pt x="692" y="380"/>
                      </a:cubicBezTo>
                      <a:cubicBezTo>
                        <a:pt x="698" y="371"/>
                        <a:pt x="709" y="368"/>
                        <a:pt x="718" y="373"/>
                      </a:cubicBezTo>
                      <a:cubicBezTo>
                        <a:pt x="755" y="394"/>
                        <a:pt x="755" y="394"/>
                        <a:pt x="755" y="394"/>
                      </a:cubicBezTo>
                      <a:cubicBezTo>
                        <a:pt x="764" y="399"/>
                        <a:pt x="767" y="411"/>
                        <a:pt x="762" y="420"/>
                      </a:cubicBezTo>
                      <a:cubicBezTo>
                        <a:pt x="757" y="429"/>
                        <a:pt x="745" y="432"/>
                        <a:pt x="736" y="427"/>
                      </a:cubicBezTo>
                      <a:cubicBezTo>
                        <a:pt x="699" y="406"/>
                        <a:pt x="699" y="406"/>
                        <a:pt x="699" y="406"/>
                      </a:cubicBezTo>
                      <a:close/>
                      <a:moveTo>
                        <a:pt x="718" y="59"/>
                      </a:moveTo>
                      <a:cubicBezTo>
                        <a:pt x="709" y="64"/>
                        <a:pt x="698" y="61"/>
                        <a:pt x="692" y="52"/>
                      </a:cubicBezTo>
                      <a:cubicBezTo>
                        <a:pt x="687" y="43"/>
                        <a:pt x="690" y="31"/>
                        <a:pt x="699" y="26"/>
                      </a:cubicBezTo>
                      <a:cubicBezTo>
                        <a:pt x="736" y="5"/>
                        <a:pt x="736" y="5"/>
                        <a:pt x="736" y="5"/>
                      </a:cubicBezTo>
                      <a:cubicBezTo>
                        <a:pt x="745" y="0"/>
                        <a:pt x="757" y="3"/>
                        <a:pt x="762" y="12"/>
                      </a:cubicBezTo>
                      <a:cubicBezTo>
                        <a:pt x="767" y="21"/>
                        <a:pt x="764" y="32"/>
                        <a:pt x="755" y="38"/>
                      </a:cubicBezTo>
                      <a:cubicBezTo>
                        <a:pt x="718" y="59"/>
                        <a:pt x="718" y="59"/>
                        <a:pt x="718" y="59"/>
                      </a:cubicBezTo>
                      <a:close/>
                      <a:moveTo>
                        <a:pt x="755" y="235"/>
                      </a:moveTo>
                      <a:cubicBezTo>
                        <a:pt x="745" y="235"/>
                        <a:pt x="736" y="226"/>
                        <a:pt x="736" y="216"/>
                      </a:cubicBezTo>
                      <a:cubicBezTo>
                        <a:pt x="736" y="205"/>
                        <a:pt x="745" y="197"/>
                        <a:pt x="755" y="197"/>
                      </a:cubicBezTo>
                      <a:cubicBezTo>
                        <a:pt x="798" y="197"/>
                        <a:pt x="798" y="197"/>
                        <a:pt x="798" y="197"/>
                      </a:cubicBezTo>
                      <a:cubicBezTo>
                        <a:pt x="808" y="197"/>
                        <a:pt x="817" y="205"/>
                        <a:pt x="817" y="216"/>
                      </a:cubicBezTo>
                      <a:cubicBezTo>
                        <a:pt x="817" y="226"/>
                        <a:pt x="808" y="235"/>
                        <a:pt x="798" y="235"/>
                      </a:cubicBezTo>
                      <a:cubicBezTo>
                        <a:pt x="755" y="235"/>
                        <a:pt x="755" y="235"/>
                        <a:pt x="755" y="235"/>
                      </a:cubicBezTo>
                      <a:close/>
                      <a:moveTo>
                        <a:pt x="118" y="26"/>
                      </a:moveTo>
                      <a:cubicBezTo>
                        <a:pt x="127" y="31"/>
                        <a:pt x="130" y="43"/>
                        <a:pt x="124" y="52"/>
                      </a:cubicBezTo>
                      <a:cubicBezTo>
                        <a:pt x="119" y="61"/>
                        <a:pt x="108" y="64"/>
                        <a:pt x="98" y="59"/>
                      </a:cubicBezTo>
                      <a:cubicBezTo>
                        <a:pt x="62" y="38"/>
                        <a:pt x="62" y="38"/>
                        <a:pt x="62" y="38"/>
                      </a:cubicBezTo>
                      <a:cubicBezTo>
                        <a:pt x="53" y="32"/>
                        <a:pt x="49" y="21"/>
                        <a:pt x="55" y="12"/>
                      </a:cubicBezTo>
                      <a:cubicBezTo>
                        <a:pt x="60" y="3"/>
                        <a:pt x="72" y="0"/>
                        <a:pt x="81" y="5"/>
                      </a:cubicBezTo>
                      <a:cubicBezTo>
                        <a:pt x="118" y="26"/>
                        <a:pt x="118" y="26"/>
                        <a:pt x="118" y="26"/>
                      </a:cubicBezTo>
                      <a:close/>
                      <a:moveTo>
                        <a:pt x="98" y="373"/>
                      </a:moveTo>
                      <a:cubicBezTo>
                        <a:pt x="108" y="368"/>
                        <a:pt x="119" y="371"/>
                        <a:pt x="124" y="380"/>
                      </a:cubicBezTo>
                      <a:cubicBezTo>
                        <a:pt x="130" y="389"/>
                        <a:pt x="127" y="401"/>
                        <a:pt x="118" y="406"/>
                      </a:cubicBezTo>
                      <a:cubicBezTo>
                        <a:pt x="81" y="427"/>
                        <a:pt x="81" y="427"/>
                        <a:pt x="81" y="427"/>
                      </a:cubicBezTo>
                      <a:cubicBezTo>
                        <a:pt x="72" y="432"/>
                        <a:pt x="60" y="429"/>
                        <a:pt x="55" y="420"/>
                      </a:cubicBezTo>
                      <a:cubicBezTo>
                        <a:pt x="49" y="411"/>
                        <a:pt x="53" y="399"/>
                        <a:pt x="62" y="394"/>
                      </a:cubicBezTo>
                      <a:cubicBezTo>
                        <a:pt x="98" y="373"/>
                        <a:pt x="98" y="373"/>
                        <a:pt x="98" y="373"/>
                      </a:cubicBezTo>
                      <a:close/>
                      <a:moveTo>
                        <a:pt x="62" y="197"/>
                      </a:moveTo>
                      <a:cubicBezTo>
                        <a:pt x="72" y="197"/>
                        <a:pt x="81" y="205"/>
                        <a:pt x="81" y="216"/>
                      </a:cubicBezTo>
                      <a:cubicBezTo>
                        <a:pt x="81" y="226"/>
                        <a:pt x="72" y="235"/>
                        <a:pt x="62" y="235"/>
                      </a:cubicBezTo>
                      <a:cubicBezTo>
                        <a:pt x="19" y="235"/>
                        <a:pt x="19" y="235"/>
                        <a:pt x="19" y="235"/>
                      </a:cubicBezTo>
                      <a:cubicBezTo>
                        <a:pt x="9" y="235"/>
                        <a:pt x="0" y="226"/>
                        <a:pt x="0" y="216"/>
                      </a:cubicBezTo>
                      <a:cubicBezTo>
                        <a:pt x="0" y="205"/>
                        <a:pt x="9" y="197"/>
                        <a:pt x="19" y="197"/>
                      </a:cubicBezTo>
                      <a:cubicBezTo>
                        <a:pt x="62" y="197"/>
                        <a:pt x="62" y="197"/>
                        <a:pt x="62"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31" name="Freeform 11"/>
                <p:cNvSpPr/>
                <p:nvPr/>
              </p:nvSpPr>
              <p:spPr bwMode="auto">
                <a:xfrm>
                  <a:off x="3845651" y="2427528"/>
                  <a:ext cx="253087" cy="253452"/>
                </a:xfrm>
                <a:custGeom>
                  <a:avLst/>
                  <a:gdLst>
                    <a:gd name="T0" fmla="*/ 3 w 293"/>
                    <a:gd name="T1" fmla="*/ 38 h 293"/>
                    <a:gd name="T2" fmla="*/ 16 w 293"/>
                    <a:gd name="T3" fmla="*/ 15 h 293"/>
                    <a:gd name="T4" fmla="*/ 39 w 293"/>
                    <a:gd name="T5" fmla="*/ 28 h 293"/>
                    <a:gd name="T6" fmla="*/ 50 w 293"/>
                    <a:gd name="T7" fmla="*/ 65 h 293"/>
                    <a:gd name="T8" fmla="*/ 91 w 293"/>
                    <a:gd name="T9" fmla="*/ 53 h 293"/>
                    <a:gd name="T10" fmla="*/ 91 w 293"/>
                    <a:gd name="T11" fmla="*/ 53 h 293"/>
                    <a:gd name="T12" fmla="*/ 127 w 293"/>
                    <a:gd name="T13" fmla="*/ 48 h 293"/>
                    <a:gd name="T14" fmla="*/ 127 w 293"/>
                    <a:gd name="T15" fmla="*/ 19 h 293"/>
                    <a:gd name="T16" fmla="*/ 146 w 293"/>
                    <a:gd name="T17" fmla="*/ 0 h 293"/>
                    <a:gd name="T18" fmla="*/ 165 w 293"/>
                    <a:gd name="T19" fmla="*/ 19 h 293"/>
                    <a:gd name="T20" fmla="*/ 165 w 293"/>
                    <a:gd name="T21" fmla="*/ 48 h 293"/>
                    <a:gd name="T22" fmla="*/ 202 w 293"/>
                    <a:gd name="T23" fmla="*/ 53 h 293"/>
                    <a:gd name="T24" fmla="*/ 202 w 293"/>
                    <a:gd name="T25" fmla="*/ 53 h 293"/>
                    <a:gd name="T26" fmla="*/ 202 w 293"/>
                    <a:gd name="T27" fmla="*/ 53 h 293"/>
                    <a:gd name="T28" fmla="*/ 242 w 293"/>
                    <a:gd name="T29" fmla="*/ 65 h 293"/>
                    <a:gd name="T30" fmla="*/ 253 w 293"/>
                    <a:gd name="T31" fmla="*/ 28 h 293"/>
                    <a:gd name="T32" fmla="*/ 277 w 293"/>
                    <a:gd name="T33" fmla="*/ 15 h 293"/>
                    <a:gd name="T34" fmla="*/ 290 w 293"/>
                    <a:gd name="T35" fmla="*/ 38 h 293"/>
                    <a:gd name="T36" fmla="*/ 220 w 293"/>
                    <a:gd name="T37" fmla="*/ 278 h 293"/>
                    <a:gd name="T38" fmla="*/ 196 w 293"/>
                    <a:gd name="T39" fmla="*/ 290 h 293"/>
                    <a:gd name="T40" fmla="*/ 183 w 293"/>
                    <a:gd name="T41" fmla="*/ 267 h 293"/>
                    <a:gd name="T42" fmla="*/ 232 w 293"/>
                    <a:gd name="T43" fmla="*/ 102 h 293"/>
                    <a:gd name="T44" fmla="*/ 194 w 293"/>
                    <a:gd name="T45" fmla="*/ 90 h 293"/>
                    <a:gd name="T46" fmla="*/ 194 w 293"/>
                    <a:gd name="T47" fmla="*/ 90 h 293"/>
                    <a:gd name="T48" fmla="*/ 165 w 293"/>
                    <a:gd name="T49" fmla="*/ 86 h 293"/>
                    <a:gd name="T50" fmla="*/ 165 w 293"/>
                    <a:gd name="T51" fmla="*/ 132 h 293"/>
                    <a:gd name="T52" fmla="*/ 146 w 293"/>
                    <a:gd name="T53" fmla="*/ 151 h 293"/>
                    <a:gd name="T54" fmla="*/ 127 w 293"/>
                    <a:gd name="T55" fmla="*/ 132 h 293"/>
                    <a:gd name="T56" fmla="*/ 127 w 293"/>
                    <a:gd name="T57" fmla="*/ 86 h 293"/>
                    <a:gd name="T58" fmla="*/ 99 w 293"/>
                    <a:gd name="T59" fmla="*/ 90 h 293"/>
                    <a:gd name="T60" fmla="*/ 99 w 293"/>
                    <a:gd name="T61" fmla="*/ 90 h 293"/>
                    <a:gd name="T62" fmla="*/ 61 w 293"/>
                    <a:gd name="T63" fmla="*/ 102 h 293"/>
                    <a:gd name="T64" fmla="*/ 109 w 293"/>
                    <a:gd name="T65" fmla="*/ 267 h 293"/>
                    <a:gd name="T66" fmla="*/ 96 w 293"/>
                    <a:gd name="T67" fmla="*/ 290 h 293"/>
                    <a:gd name="T68" fmla="*/ 73 w 293"/>
                    <a:gd name="T69" fmla="*/ 278 h 293"/>
                    <a:gd name="T70" fmla="*/ 3 w 293"/>
                    <a:gd name="T71" fmla="*/ 38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3" h="293">
                      <a:moveTo>
                        <a:pt x="3" y="38"/>
                      </a:moveTo>
                      <a:cubicBezTo>
                        <a:pt x="0" y="28"/>
                        <a:pt x="6" y="18"/>
                        <a:pt x="16" y="15"/>
                      </a:cubicBezTo>
                      <a:cubicBezTo>
                        <a:pt x="26" y="12"/>
                        <a:pt x="37" y="18"/>
                        <a:pt x="39" y="28"/>
                      </a:cubicBezTo>
                      <a:cubicBezTo>
                        <a:pt x="50" y="65"/>
                        <a:pt x="50" y="65"/>
                        <a:pt x="50" y="65"/>
                      </a:cubicBezTo>
                      <a:cubicBezTo>
                        <a:pt x="63" y="60"/>
                        <a:pt x="77" y="56"/>
                        <a:pt x="91" y="53"/>
                      </a:cubicBezTo>
                      <a:cubicBezTo>
                        <a:pt x="91" y="53"/>
                        <a:pt x="91" y="53"/>
                        <a:pt x="91" y="53"/>
                      </a:cubicBezTo>
                      <a:cubicBezTo>
                        <a:pt x="103" y="50"/>
                        <a:pt x="115" y="49"/>
                        <a:pt x="127" y="48"/>
                      </a:cubicBezTo>
                      <a:cubicBezTo>
                        <a:pt x="127" y="19"/>
                        <a:pt x="127" y="19"/>
                        <a:pt x="127" y="19"/>
                      </a:cubicBezTo>
                      <a:cubicBezTo>
                        <a:pt x="127" y="8"/>
                        <a:pt x="136" y="0"/>
                        <a:pt x="146" y="0"/>
                      </a:cubicBezTo>
                      <a:cubicBezTo>
                        <a:pt x="157" y="0"/>
                        <a:pt x="165" y="8"/>
                        <a:pt x="165" y="19"/>
                      </a:cubicBezTo>
                      <a:cubicBezTo>
                        <a:pt x="165" y="48"/>
                        <a:pt x="165" y="48"/>
                        <a:pt x="165" y="48"/>
                      </a:cubicBezTo>
                      <a:cubicBezTo>
                        <a:pt x="178" y="49"/>
                        <a:pt x="190" y="50"/>
                        <a:pt x="202" y="53"/>
                      </a:cubicBezTo>
                      <a:cubicBezTo>
                        <a:pt x="202" y="53"/>
                        <a:pt x="202" y="53"/>
                        <a:pt x="202" y="53"/>
                      </a:cubicBezTo>
                      <a:cubicBezTo>
                        <a:pt x="202" y="53"/>
                        <a:pt x="202" y="53"/>
                        <a:pt x="202" y="53"/>
                      </a:cubicBezTo>
                      <a:cubicBezTo>
                        <a:pt x="216" y="56"/>
                        <a:pt x="229" y="60"/>
                        <a:pt x="242" y="65"/>
                      </a:cubicBezTo>
                      <a:cubicBezTo>
                        <a:pt x="253" y="28"/>
                        <a:pt x="253" y="28"/>
                        <a:pt x="253" y="28"/>
                      </a:cubicBezTo>
                      <a:cubicBezTo>
                        <a:pt x="256" y="18"/>
                        <a:pt x="267" y="12"/>
                        <a:pt x="277" y="15"/>
                      </a:cubicBezTo>
                      <a:cubicBezTo>
                        <a:pt x="287" y="18"/>
                        <a:pt x="293" y="28"/>
                        <a:pt x="290" y="38"/>
                      </a:cubicBezTo>
                      <a:cubicBezTo>
                        <a:pt x="220" y="278"/>
                        <a:pt x="220" y="278"/>
                        <a:pt x="220" y="278"/>
                      </a:cubicBezTo>
                      <a:cubicBezTo>
                        <a:pt x="217" y="288"/>
                        <a:pt x="206" y="293"/>
                        <a:pt x="196" y="290"/>
                      </a:cubicBezTo>
                      <a:cubicBezTo>
                        <a:pt x="186" y="288"/>
                        <a:pt x="180" y="277"/>
                        <a:pt x="183" y="267"/>
                      </a:cubicBezTo>
                      <a:cubicBezTo>
                        <a:pt x="232" y="102"/>
                        <a:pt x="232" y="102"/>
                        <a:pt x="232" y="102"/>
                      </a:cubicBezTo>
                      <a:cubicBezTo>
                        <a:pt x="220" y="97"/>
                        <a:pt x="207" y="93"/>
                        <a:pt x="194" y="90"/>
                      </a:cubicBezTo>
                      <a:cubicBezTo>
                        <a:pt x="194" y="90"/>
                        <a:pt x="194" y="90"/>
                        <a:pt x="194" y="90"/>
                      </a:cubicBezTo>
                      <a:cubicBezTo>
                        <a:pt x="185" y="88"/>
                        <a:pt x="175" y="87"/>
                        <a:pt x="165" y="86"/>
                      </a:cubicBezTo>
                      <a:cubicBezTo>
                        <a:pt x="165" y="132"/>
                        <a:pt x="165" y="132"/>
                        <a:pt x="165" y="132"/>
                      </a:cubicBezTo>
                      <a:cubicBezTo>
                        <a:pt x="165" y="143"/>
                        <a:pt x="157" y="151"/>
                        <a:pt x="146" y="151"/>
                      </a:cubicBezTo>
                      <a:cubicBezTo>
                        <a:pt x="136" y="151"/>
                        <a:pt x="127" y="143"/>
                        <a:pt x="127" y="132"/>
                      </a:cubicBezTo>
                      <a:cubicBezTo>
                        <a:pt x="127" y="86"/>
                        <a:pt x="127" y="86"/>
                        <a:pt x="127" y="86"/>
                      </a:cubicBezTo>
                      <a:cubicBezTo>
                        <a:pt x="118" y="87"/>
                        <a:pt x="108" y="88"/>
                        <a:pt x="99" y="90"/>
                      </a:cubicBezTo>
                      <a:cubicBezTo>
                        <a:pt x="99" y="90"/>
                        <a:pt x="99" y="90"/>
                        <a:pt x="99" y="90"/>
                      </a:cubicBezTo>
                      <a:cubicBezTo>
                        <a:pt x="85" y="93"/>
                        <a:pt x="73" y="97"/>
                        <a:pt x="61" y="102"/>
                      </a:cubicBezTo>
                      <a:cubicBezTo>
                        <a:pt x="109" y="267"/>
                        <a:pt x="109" y="267"/>
                        <a:pt x="109" y="267"/>
                      </a:cubicBezTo>
                      <a:cubicBezTo>
                        <a:pt x="112" y="277"/>
                        <a:pt x="106" y="288"/>
                        <a:pt x="96" y="290"/>
                      </a:cubicBezTo>
                      <a:cubicBezTo>
                        <a:pt x="86" y="293"/>
                        <a:pt x="76" y="288"/>
                        <a:pt x="73" y="278"/>
                      </a:cubicBezTo>
                      <a:cubicBezTo>
                        <a:pt x="3" y="38"/>
                        <a:pt x="3" y="38"/>
                        <a:pt x="3"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grpSp>
        </p:grpSp>
        <p:grpSp>
          <p:nvGrpSpPr>
            <p:cNvPr id="15" name="组合 14"/>
            <p:cNvGrpSpPr/>
            <p:nvPr/>
          </p:nvGrpSpPr>
          <p:grpSpPr>
            <a:xfrm>
              <a:off x="6865573" y="3028204"/>
              <a:ext cx="698500" cy="698500"/>
              <a:chOff x="6865573" y="3028204"/>
              <a:chExt cx="698500" cy="698500"/>
            </a:xfrm>
          </p:grpSpPr>
          <p:sp>
            <p:nvSpPr>
              <p:cNvPr id="23" name="椭圆 22"/>
              <p:cNvSpPr/>
              <p:nvPr/>
            </p:nvSpPr>
            <p:spPr>
              <a:xfrm>
                <a:off x="6865573" y="3028204"/>
                <a:ext cx="698500" cy="698500"/>
              </a:xfrm>
              <a:prstGeom prst="ellipse">
                <a:avLst/>
              </a:prstGeom>
              <a:solidFill>
                <a:schemeClr val="accent1"/>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nvGrpSpPr>
              <p:cNvPr id="24" name="组合 23"/>
              <p:cNvGrpSpPr>
                <a:grpSpLocks noChangeAspect="1"/>
              </p:cNvGrpSpPr>
              <p:nvPr/>
            </p:nvGrpSpPr>
            <p:grpSpPr>
              <a:xfrm>
                <a:off x="7057703" y="3257268"/>
                <a:ext cx="312886" cy="266228"/>
                <a:chOff x="7909299" y="3772690"/>
                <a:chExt cx="667095" cy="567616"/>
              </a:xfrm>
              <a:solidFill>
                <a:schemeClr val="bg1"/>
              </a:solidFill>
            </p:grpSpPr>
            <p:sp>
              <p:nvSpPr>
                <p:cNvPr id="25" name="Freeform 16"/>
                <p:cNvSpPr>
                  <a:spLocks noEditPoints="1"/>
                </p:cNvSpPr>
                <p:nvPr/>
              </p:nvSpPr>
              <p:spPr bwMode="auto">
                <a:xfrm>
                  <a:off x="7909299" y="3772690"/>
                  <a:ext cx="623207" cy="567616"/>
                </a:xfrm>
                <a:custGeom>
                  <a:avLst/>
                  <a:gdLst>
                    <a:gd name="T0" fmla="*/ 499 w 721"/>
                    <a:gd name="T1" fmla="*/ 196 h 657"/>
                    <a:gd name="T2" fmla="*/ 637 w 721"/>
                    <a:gd name="T3" fmla="*/ 322 h 657"/>
                    <a:gd name="T4" fmla="*/ 646 w 721"/>
                    <a:gd name="T5" fmla="*/ 329 h 657"/>
                    <a:gd name="T6" fmla="*/ 672 w 721"/>
                    <a:gd name="T7" fmla="*/ 353 h 657"/>
                    <a:gd name="T8" fmla="*/ 686 w 721"/>
                    <a:gd name="T9" fmla="*/ 367 h 657"/>
                    <a:gd name="T10" fmla="*/ 669 w 721"/>
                    <a:gd name="T11" fmla="*/ 472 h 657"/>
                    <a:gd name="T12" fmla="*/ 611 w 721"/>
                    <a:gd name="T13" fmla="*/ 550 h 657"/>
                    <a:gd name="T14" fmla="*/ 539 w 721"/>
                    <a:gd name="T15" fmla="*/ 598 h 657"/>
                    <a:gd name="T16" fmla="*/ 439 w 721"/>
                    <a:gd name="T17" fmla="*/ 633 h 657"/>
                    <a:gd name="T18" fmla="*/ 433 w 721"/>
                    <a:gd name="T19" fmla="*/ 629 h 657"/>
                    <a:gd name="T20" fmla="*/ 449 w 721"/>
                    <a:gd name="T21" fmla="*/ 594 h 657"/>
                    <a:gd name="T22" fmla="*/ 481 w 721"/>
                    <a:gd name="T23" fmla="*/ 606 h 657"/>
                    <a:gd name="T24" fmla="*/ 501 w 721"/>
                    <a:gd name="T25" fmla="*/ 591 h 657"/>
                    <a:gd name="T26" fmla="*/ 501 w 721"/>
                    <a:gd name="T27" fmla="*/ 577 h 657"/>
                    <a:gd name="T28" fmla="*/ 452 w 721"/>
                    <a:gd name="T29" fmla="*/ 538 h 657"/>
                    <a:gd name="T30" fmla="*/ 449 w 721"/>
                    <a:gd name="T31" fmla="*/ 511 h 657"/>
                    <a:gd name="T32" fmla="*/ 475 w 721"/>
                    <a:gd name="T33" fmla="*/ 508 h 657"/>
                    <a:gd name="T34" fmla="*/ 530 w 721"/>
                    <a:gd name="T35" fmla="*/ 551 h 657"/>
                    <a:gd name="T36" fmla="*/ 567 w 721"/>
                    <a:gd name="T37" fmla="*/ 557 h 657"/>
                    <a:gd name="T38" fmla="*/ 572 w 721"/>
                    <a:gd name="T39" fmla="*/ 549 h 657"/>
                    <a:gd name="T40" fmla="*/ 570 w 721"/>
                    <a:gd name="T41" fmla="*/ 532 h 657"/>
                    <a:gd name="T42" fmla="*/ 506 w 721"/>
                    <a:gd name="T43" fmla="*/ 481 h 657"/>
                    <a:gd name="T44" fmla="*/ 503 w 721"/>
                    <a:gd name="T45" fmla="*/ 455 h 657"/>
                    <a:gd name="T46" fmla="*/ 529 w 721"/>
                    <a:gd name="T47" fmla="*/ 451 h 657"/>
                    <a:gd name="T48" fmla="*/ 596 w 721"/>
                    <a:gd name="T49" fmla="*/ 504 h 657"/>
                    <a:gd name="T50" fmla="*/ 598 w 721"/>
                    <a:gd name="T51" fmla="*/ 505 h 657"/>
                    <a:gd name="T52" fmla="*/ 620 w 721"/>
                    <a:gd name="T53" fmla="*/ 467 h 657"/>
                    <a:gd name="T54" fmla="*/ 549 w 721"/>
                    <a:gd name="T55" fmla="*/ 414 h 657"/>
                    <a:gd name="T56" fmla="*/ 546 w 721"/>
                    <a:gd name="T57" fmla="*/ 388 h 657"/>
                    <a:gd name="T58" fmla="*/ 572 w 721"/>
                    <a:gd name="T59" fmla="*/ 384 h 657"/>
                    <a:gd name="T60" fmla="*/ 642 w 721"/>
                    <a:gd name="T61" fmla="*/ 437 h 657"/>
                    <a:gd name="T62" fmla="*/ 663 w 721"/>
                    <a:gd name="T63" fmla="*/ 429 h 657"/>
                    <a:gd name="T64" fmla="*/ 659 w 721"/>
                    <a:gd name="T65" fmla="*/ 394 h 657"/>
                    <a:gd name="T66" fmla="*/ 645 w 721"/>
                    <a:gd name="T67" fmla="*/ 379 h 657"/>
                    <a:gd name="T68" fmla="*/ 457 w 721"/>
                    <a:gd name="T69" fmla="*/ 209 h 657"/>
                    <a:gd name="T70" fmla="*/ 462 w 721"/>
                    <a:gd name="T71" fmla="*/ 198 h 657"/>
                    <a:gd name="T72" fmla="*/ 496 w 721"/>
                    <a:gd name="T73" fmla="*/ 196 h 657"/>
                    <a:gd name="T74" fmla="*/ 499 w 721"/>
                    <a:gd name="T75" fmla="*/ 196 h 657"/>
                    <a:gd name="T76" fmla="*/ 86 w 721"/>
                    <a:gd name="T77" fmla="*/ 355 h 657"/>
                    <a:gd name="T78" fmla="*/ 59 w 721"/>
                    <a:gd name="T79" fmla="*/ 262 h 657"/>
                    <a:gd name="T80" fmla="*/ 35 w 721"/>
                    <a:gd name="T81" fmla="*/ 239 h 657"/>
                    <a:gd name="T82" fmla="*/ 0 w 721"/>
                    <a:gd name="T83" fmla="*/ 176 h 657"/>
                    <a:gd name="T84" fmla="*/ 16 w 721"/>
                    <a:gd name="T85" fmla="*/ 135 h 657"/>
                    <a:gd name="T86" fmla="*/ 116 w 721"/>
                    <a:gd name="T87" fmla="*/ 27 h 657"/>
                    <a:gd name="T88" fmla="*/ 199 w 721"/>
                    <a:gd name="T89" fmla="*/ 20 h 657"/>
                    <a:gd name="T90" fmla="*/ 242 w 721"/>
                    <a:gd name="T91" fmla="*/ 46 h 657"/>
                    <a:gd name="T92" fmla="*/ 254 w 721"/>
                    <a:gd name="T93" fmla="*/ 50 h 657"/>
                    <a:gd name="T94" fmla="*/ 350 w 721"/>
                    <a:gd name="T95" fmla="*/ 33 h 657"/>
                    <a:gd name="T96" fmla="*/ 284 w 721"/>
                    <a:gd name="T97" fmla="*/ 82 h 657"/>
                    <a:gd name="T98" fmla="*/ 260 w 721"/>
                    <a:gd name="T99" fmla="*/ 87 h 657"/>
                    <a:gd name="T100" fmla="*/ 195 w 721"/>
                    <a:gd name="T101" fmla="*/ 64 h 657"/>
                    <a:gd name="T102" fmla="*/ 176 w 721"/>
                    <a:gd name="T103" fmla="*/ 50 h 657"/>
                    <a:gd name="T104" fmla="*/ 144 w 721"/>
                    <a:gd name="T105" fmla="*/ 53 h 657"/>
                    <a:gd name="T106" fmla="*/ 44 w 721"/>
                    <a:gd name="T107" fmla="*/ 161 h 657"/>
                    <a:gd name="T108" fmla="*/ 44 w 721"/>
                    <a:gd name="T109" fmla="*/ 193 h 657"/>
                    <a:gd name="T110" fmla="*/ 69 w 721"/>
                    <a:gd name="T111" fmla="*/ 220 h 657"/>
                    <a:gd name="T112" fmla="*/ 97 w 721"/>
                    <a:gd name="T113" fmla="*/ 257 h 657"/>
                    <a:gd name="T114" fmla="*/ 115 w 721"/>
                    <a:gd name="T115" fmla="*/ 330 h 657"/>
                    <a:gd name="T116" fmla="*/ 86 w 721"/>
                    <a:gd name="T117" fmla="*/ 355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1" h="657">
                      <a:moveTo>
                        <a:pt x="499" y="196"/>
                      </a:moveTo>
                      <a:cubicBezTo>
                        <a:pt x="545" y="237"/>
                        <a:pt x="592" y="279"/>
                        <a:pt x="637" y="322"/>
                      </a:cubicBezTo>
                      <a:cubicBezTo>
                        <a:pt x="640" y="325"/>
                        <a:pt x="643" y="327"/>
                        <a:pt x="646" y="329"/>
                      </a:cubicBezTo>
                      <a:cubicBezTo>
                        <a:pt x="672" y="353"/>
                        <a:pt x="672" y="353"/>
                        <a:pt x="672" y="353"/>
                      </a:cubicBezTo>
                      <a:cubicBezTo>
                        <a:pt x="686" y="367"/>
                        <a:pt x="686" y="367"/>
                        <a:pt x="686" y="367"/>
                      </a:cubicBezTo>
                      <a:cubicBezTo>
                        <a:pt x="721" y="403"/>
                        <a:pt x="707" y="456"/>
                        <a:pt x="669" y="472"/>
                      </a:cubicBezTo>
                      <a:cubicBezTo>
                        <a:pt x="685" y="513"/>
                        <a:pt x="652" y="552"/>
                        <a:pt x="611" y="550"/>
                      </a:cubicBezTo>
                      <a:cubicBezTo>
                        <a:pt x="606" y="584"/>
                        <a:pt x="574" y="607"/>
                        <a:pt x="539" y="598"/>
                      </a:cubicBezTo>
                      <a:cubicBezTo>
                        <a:pt x="529" y="641"/>
                        <a:pt x="479" y="657"/>
                        <a:pt x="439" y="633"/>
                      </a:cubicBezTo>
                      <a:cubicBezTo>
                        <a:pt x="433" y="629"/>
                        <a:pt x="433" y="629"/>
                        <a:pt x="433" y="629"/>
                      </a:cubicBezTo>
                      <a:cubicBezTo>
                        <a:pt x="441" y="619"/>
                        <a:pt x="446" y="607"/>
                        <a:pt x="449" y="594"/>
                      </a:cubicBezTo>
                      <a:cubicBezTo>
                        <a:pt x="460" y="601"/>
                        <a:pt x="468" y="607"/>
                        <a:pt x="481" y="606"/>
                      </a:cubicBezTo>
                      <a:cubicBezTo>
                        <a:pt x="490" y="605"/>
                        <a:pt x="499" y="600"/>
                        <a:pt x="501" y="591"/>
                      </a:cubicBezTo>
                      <a:cubicBezTo>
                        <a:pt x="502" y="587"/>
                        <a:pt x="502" y="583"/>
                        <a:pt x="501" y="577"/>
                      </a:cubicBezTo>
                      <a:cubicBezTo>
                        <a:pt x="452" y="538"/>
                        <a:pt x="452" y="538"/>
                        <a:pt x="452" y="538"/>
                      </a:cubicBezTo>
                      <a:cubicBezTo>
                        <a:pt x="444" y="531"/>
                        <a:pt x="442" y="519"/>
                        <a:pt x="449" y="511"/>
                      </a:cubicBezTo>
                      <a:cubicBezTo>
                        <a:pt x="455" y="503"/>
                        <a:pt x="467" y="502"/>
                        <a:pt x="475" y="508"/>
                      </a:cubicBezTo>
                      <a:cubicBezTo>
                        <a:pt x="530" y="551"/>
                        <a:pt x="530" y="551"/>
                        <a:pt x="530" y="551"/>
                      </a:cubicBezTo>
                      <a:cubicBezTo>
                        <a:pt x="543" y="562"/>
                        <a:pt x="556" y="566"/>
                        <a:pt x="567" y="557"/>
                      </a:cubicBezTo>
                      <a:cubicBezTo>
                        <a:pt x="569" y="555"/>
                        <a:pt x="571" y="552"/>
                        <a:pt x="572" y="549"/>
                      </a:cubicBezTo>
                      <a:cubicBezTo>
                        <a:pt x="574" y="544"/>
                        <a:pt x="576" y="536"/>
                        <a:pt x="570" y="532"/>
                      </a:cubicBezTo>
                      <a:cubicBezTo>
                        <a:pt x="506" y="481"/>
                        <a:pt x="506" y="481"/>
                        <a:pt x="506" y="481"/>
                      </a:cubicBezTo>
                      <a:cubicBezTo>
                        <a:pt x="498" y="475"/>
                        <a:pt x="496" y="463"/>
                        <a:pt x="503" y="455"/>
                      </a:cubicBezTo>
                      <a:cubicBezTo>
                        <a:pt x="509" y="446"/>
                        <a:pt x="521" y="445"/>
                        <a:pt x="529" y="451"/>
                      </a:cubicBezTo>
                      <a:cubicBezTo>
                        <a:pt x="596" y="504"/>
                        <a:pt x="596" y="504"/>
                        <a:pt x="596" y="504"/>
                      </a:cubicBezTo>
                      <a:cubicBezTo>
                        <a:pt x="597" y="504"/>
                        <a:pt x="597" y="505"/>
                        <a:pt x="598" y="505"/>
                      </a:cubicBezTo>
                      <a:cubicBezTo>
                        <a:pt x="620" y="525"/>
                        <a:pt x="656" y="496"/>
                        <a:pt x="620" y="467"/>
                      </a:cubicBezTo>
                      <a:cubicBezTo>
                        <a:pt x="549" y="414"/>
                        <a:pt x="549" y="414"/>
                        <a:pt x="549" y="414"/>
                      </a:cubicBezTo>
                      <a:cubicBezTo>
                        <a:pt x="541" y="408"/>
                        <a:pt x="539" y="396"/>
                        <a:pt x="546" y="388"/>
                      </a:cubicBezTo>
                      <a:cubicBezTo>
                        <a:pt x="552" y="379"/>
                        <a:pt x="564" y="378"/>
                        <a:pt x="572" y="384"/>
                      </a:cubicBezTo>
                      <a:cubicBezTo>
                        <a:pt x="642" y="437"/>
                        <a:pt x="642" y="437"/>
                        <a:pt x="642" y="437"/>
                      </a:cubicBezTo>
                      <a:cubicBezTo>
                        <a:pt x="649" y="441"/>
                        <a:pt x="659" y="436"/>
                        <a:pt x="663" y="429"/>
                      </a:cubicBezTo>
                      <a:cubicBezTo>
                        <a:pt x="671" y="419"/>
                        <a:pt x="670" y="405"/>
                        <a:pt x="659" y="394"/>
                      </a:cubicBezTo>
                      <a:cubicBezTo>
                        <a:pt x="645" y="379"/>
                        <a:pt x="645" y="379"/>
                        <a:pt x="645" y="379"/>
                      </a:cubicBezTo>
                      <a:cubicBezTo>
                        <a:pt x="457" y="209"/>
                        <a:pt x="457" y="209"/>
                        <a:pt x="457" y="209"/>
                      </a:cubicBezTo>
                      <a:cubicBezTo>
                        <a:pt x="453" y="205"/>
                        <a:pt x="456" y="198"/>
                        <a:pt x="462" y="198"/>
                      </a:cubicBezTo>
                      <a:cubicBezTo>
                        <a:pt x="473" y="198"/>
                        <a:pt x="485" y="198"/>
                        <a:pt x="496" y="196"/>
                      </a:cubicBezTo>
                      <a:cubicBezTo>
                        <a:pt x="497" y="196"/>
                        <a:pt x="498" y="196"/>
                        <a:pt x="499" y="196"/>
                      </a:cubicBezTo>
                      <a:close/>
                      <a:moveTo>
                        <a:pt x="86" y="355"/>
                      </a:moveTo>
                      <a:cubicBezTo>
                        <a:pt x="66" y="330"/>
                        <a:pt x="64" y="295"/>
                        <a:pt x="59" y="262"/>
                      </a:cubicBezTo>
                      <a:cubicBezTo>
                        <a:pt x="35" y="239"/>
                        <a:pt x="35" y="239"/>
                        <a:pt x="35" y="239"/>
                      </a:cubicBezTo>
                      <a:cubicBezTo>
                        <a:pt x="17" y="219"/>
                        <a:pt x="0" y="205"/>
                        <a:pt x="0" y="176"/>
                      </a:cubicBezTo>
                      <a:cubicBezTo>
                        <a:pt x="0" y="161"/>
                        <a:pt x="6" y="147"/>
                        <a:pt x="16" y="135"/>
                      </a:cubicBezTo>
                      <a:cubicBezTo>
                        <a:pt x="116" y="27"/>
                        <a:pt x="116" y="27"/>
                        <a:pt x="116" y="27"/>
                      </a:cubicBezTo>
                      <a:cubicBezTo>
                        <a:pt x="138" y="3"/>
                        <a:pt x="174" y="0"/>
                        <a:pt x="199" y="20"/>
                      </a:cubicBezTo>
                      <a:cubicBezTo>
                        <a:pt x="215" y="31"/>
                        <a:pt x="221" y="38"/>
                        <a:pt x="242" y="46"/>
                      </a:cubicBezTo>
                      <a:cubicBezTo>
                        <a:pt x="248" y="48"/>
                        <a:pt x="253" y="50"/>
                        <a:pt x="254" y="50"/>
                      </a:cubicBezTo>
                      <a:cubicBezTo>
                        <a:pt x="284" y="46"/>
                        <a:pt x="316" y="32"/>
                        <a:pt x="350" y="33"/>
                      </a:cubicBezTo>
                      <a:cubicBezTo>
                        <a:pt x="337" y="42"/>
                        <a:pt x="286" y="82"/>
                        <a:pt x="284" y="82"/>
                      </a:cubicBezTo>
                      <a:cubicBezTo>
                        <a:pt x="276" y="84"/>
                        <a:pt x="268" y="86"/>
                        <a:pt x="260" y="87"/>
                      </a:cubicBezTo>
                      <a:cubicBezTo>
                        <a:pt x="241" y="90"/>
                        <a:pt x="208" y="74"/>
                        <a:pt x="195" y="64"/>
                      </a:cubicBezTo>
                      <a:cubicBezTo>
                        <a:pt x="176" y="50"/>
                        <a:pt x="176" y="50"/>
                        <a:pt x="176" y="50"/>
                      </a:cubicBezTo>
                      <a:cubicBezTo>
                        <a:pt x="166" y="42"/>
                        <a:pt x="152" y="44"/>
                        <a:pt x="144" y="53"/>
                      </a:cubicBezTo>
                      <a:cubicBezTo>
                        <a:pt x="44" y="161"/>
                        <a:pt x="44" y="161"/>
                        <a:pt x="44" y="161"/>
                      </a:cubicBezTo>
                      <a:cubicBezTo>
                        <a:pt x="36" y="170"/>
                        <a:pt x="36" y="184"/>
                        <a:pt x="44" y="193"/>
                      </a:cubicBezTo>
                      <a:cubicBezTo>
                        <a:pt x="53" y="203"/>
                        <a:pt x="59" y="210"/>
                        <a:pt x="69" y="220"/>
                      </a:cubicBezTo>
                      <a:cubicBezTo>
                        <a:pt x="80" y="230"/>
                        <a:pt x="95" y="244"/>
                        <a:pt x="97" y="257"/>
                      </a:cubicBezTo>
                      <a:cubicBezTo>
                        <a:pt x="100" y="280"/>
                        <a:pt x="102" y="313"/>
                        <a:pt x="115" y="330"/>
                      </a:cubicBezTo>
                      <a:cubicBezTo>
                        <a:pt x="102" y="337"/>
                        <a:pt x="95" y="344"/>
                        <a:pt x="86" y="3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6" name="Freeform 17"/>
                <p:cNvSpPr>
                  <a:spLocks noEditPoints="1"/>
                </p:cNvSpPr>
                <p:nvPr/>
              </p:nvSpPr>
              <p:spPr bwMode="auto">
                <a:xfrm>
                  <a:off x="7980982" y="3772690"/>
                  <a:ext cx="595412" cy="551158"/>
                </a:xfrm>
                <a:custGeom>
                  <a:avLst/>
                  <a:gdLst>
                    <a:gd name="T0" fmla="*/ 319 w 689"/>
                    <a:gd name="T1" fmla="*/ 543 h 638"/>
                    <a:gd name="T2" fmla="*/ 262 w 689"/>
                    <a:gd name="T3" fmla="*/ 538 h 638"/>
                    <a:gd name="T4" fmla="*/ 258 w 689"/>
                    <a:gd name="T5" fmla="*/ 538 h 638"/>
                    <a:gd name="T6" fmla="*/ 257 w 689"/>
                    <a:gd name="T7" fmla="*/ 535 h 638"/>
                    <a:gd name="T8" fmla="*/ 241 w 689"/>
                    <a:gd name="T9" fmla="*/ 489 h 638"/>
                    <a:gd name="T10" fmla="*/ 241 w 689"/>
                    <a:gd name="T11" fmla="*/ 489 h 638"/>
                    <a:gd name="T12" fmla="*/ 185 w 689"/>
                    <a:gd name="T13" fmla="*/ 484 h 638"/>
                    <a:gd name="T14" fmla="*/ 181 w 689"/>
                    <a:gd name="T15" fmla="*/ 484 h 638"/>
                    <a:gd name="T16" fmla="*/ 180 w 689"/>
                    <a:gd name="T17" fmla="*/ 481 h 638"/>
                    <a:gd name="T18" fmla="*/ 164 w 689"/>
                    <a:gd name="T19" fmla="*/ 435 h 638"/>
                    <a:gd name="T20" fmla="*/ 164 w 689"/>
                    <a:gd name="T21" fmla="*/ 435 h 638"/>
                    <a:gd name="T22" fmla="*/ 117 w 689"/>
                    <a:gd name="T23" fmla="*/ 425 h 638"/>
                    <a:gd name="T24" fmla="*/ 113 w 689"/>
                    <a:gd name="T25" fmla="*/ 425 h 638"/>
                    <a:gd name="T26" fmla="*/ 113 w 689"/>
                    <a:gd name="T27" fmla="*/ 421 h 638"/>
                    <a:gd name="T28" fmla="*/ 100 w 689"/>
                    <a:gd name="T29" fmla="*/ 365 h 638"/>
                    <a:gd name="T30" fmla="*/ 100 w 689"/>
                    <a:gd name="T31" fmla="*/ 365 h 638"/>
                    <a:gd name="T32" fmla="*/ 32 w 689"/>
                    <a:gd name="T33" fmla="*/ 370 h 638"/>
                    <a:gd name="T34" fmla="*/ 18 w 689"/>
                    <a:gd name="T35" fmla="*/ 386 h 638"/>
                    <a:gd name="T36" fmla="*/ 23 w 689"/>
                    <a:gd name="T37" fmla="*/ 455 h 638"/>
                    <a:gd name="T38" fmla="*/ 23 w 689"/>
                    <a:gd name="T39" fmla="*/ 455 h 638"/>
                    <a:gd name="T40" fmla="*/ 66 w 689"/>
                    <a:gd name="T41" fmla="*/ 465 h 638"/>
                    <a:gd name="T42" fmla="*/ 70 w 689"/>
                    <a:gd name="T43" fmla="*/ 466 h 638"/>
                    <a:gd name="T44" fmla="*/ 69 w 689"/>
                    <a:gd name="T45" fmla="*/ 470 h 638"/>
                    <a:gd name="T46" fmla="*/ 76 w 689"/>
                    <a:gd name="T47" fmla="*/ 536 h 638"/>
                    <a:gd name="T48" fmla="*/ 76 w 689"/>
                    <a:gd name="T49" fmla="*/ 536 h 638"/>
                    <a:gd name="T50" fmla="*/ 142 w 689"/>
                    <a:gd name="T51" fmla="*/ 534 h 638"/>
                    <a:gd name="T52" fmla="*/ 145 w 689"/>
                    <a:gd name="T53" fmla="*/ 534 h 638"/>
                    <a:gd name="T54" fmla="*/ 147 w 689"/>
                    <a:gd name="T55" fmla="*/ 537 h 638"/>
                    <a:gd name="T56" fmla="*/ 164 w 689"/>
                    <a:gd name="T57" fmla="*/ 578 h 638"/>
                    <a:gd name="T58" fmla="*/ 164 w 689"/>
                    <a:gd name="T59" fmla="*/ 578 h 638"/>
                    <a:gd name="T60" fmla="*/ 230 w 689"/>
                    <a:gd name="T61" fmla="*/ 576 h 638"/>
                    <a:gd name="T62" fmla="*/ 233 w 689"/>
                    <a:gd name="T63" fmla="*/ 576 h 638"/>
                    <a:gd name="T64" fmla="*/ 235 w 689"/>
                    <a:gd name="T65" fmla="*/ 579 h 638"/>
                    <a:gd name="T66" fmla="*/ 252 w 689"/>
                    <a:gd name="T67" fmla="*/ 621 h 638"/>
                    <a:gd name="T68" fmla="*/ 320 w 689"/>
                    <a:gd name="T69" fmla="*/ 615 h 638"/>
                    <a:gd name="T70" fmla="*/ 324 w 689"/>
                    <a:gd name="T71" fmla="*/ 611 h 638"/>
                    <a:gd name="T72" fmla="*/ 319 w 689"/>
                    <a:gd name="T73" fmla="*/ 543 h 638"/>
                    <a:gd name="T74" fmla="*/ 449 w 689"/>
                    <a:gd name="T75" fmla="*/ 177 h 638"/>
                    <a:gd name="T76" fmla="*/ 576 w 689"/>
                    <a:gd name="T77" fmla="*/ 299 h 638"/>
                    <a:gd name="T78" fmla="*/ 597 w 689"/>
                    <a:gd name="T79" fmla="*/ 306 h 638"/>
                    <a:gd name="T80" fmla="*/ 616 w 689"/>
                    <a:gd name="T81" fmla="*/ 293 h 638"/>
                    <a:gd name="T82" fmla="*/ 636 w 689"/>
                    <a:gd name="T83" fmla="*/ 234 h 638"/>
                    <a:gd name="T84" fmla="*/ 649 w 689"/>
                    <a:gd name="T85" fmla="*/ 209 h 638"/>
                    <a:gd name="T86" fmla="*/ 671 w 689"/>
                    <a:gd name="T87" fmla="*/ 186 h 638"/>
                    <a:gd name="T88" fmla="*/ 672 w 689"/>
                    <a:gd name="T89" fmla="*/ 121 h 638"/>
                    <a:gd name="T90" fmla="*/ 580 w 689"/>
                    <a:gd name="T91" fmla="*/ 21 h 638"/>
                    <a:gd name="T92" fmla="*/ 515 w 689"/>
                    <a:gd name="T93" fmla="*/ 16 h 638"/>
                    <a:gd name="T94" fmla="*/ 493 w 689"/>
                    <a:gd name="T95" fmla="*/ 34 h 638"/>
                    <a:gd name="T96" fmla="*/ 457 w 689"/>
                    <a:gd name="T97" fmla="*/ 44 h 638"/>
                    <a:gd name="T98" fmla="*/ 390 w 689"/>
                    <a:gd name="T99" fmla="*/ 36 h 638"/>
                    <a:gd name="T100" fmla="*/ 274 w 689"/>
                    <a:gd name="T101" fmla="*/ 67 h 638"/>
                    <a:gd name="T102" fmla="*/ 139 w 689"/>
                    <a:gd name="T103" fmla="*/ 171 h 638"/>
                    <a:gd name="T104" fmla="*/ 203 w 689"/>
                    <a:gd name="T105" fmla="*/ 222 h 638"/>
                    <a:gd name="T106" fmla="*/ 301 w 689"/>
                    <a:gd name="T107" fmla="*/ 161 h 638"/>
                    <a:gd name="T108" fmla="*/ 346 w 689"/>
                    <a:gd name="T109" fmla="*/ 158 h 638"/>
                    <a:gd name="T110" fmla="*/ 408 w 689"/>
                    <a:gd name="T111" fmla="*/ 165 h 638"/>
                    <a:gd name="T112" fmla="*/ 449 w 689"/>
                    <a:gd name="T113" fmla="*/ 177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9" h="638">
                      <a:moveTo>
                        <a:pt x="319" y="543"/>
                      </a:moveTo>
                      <a:cubicBezTo>
                        <a:pt x="302" y="529"/>
                        <a:pt x="279" y="528"/>
                        <a:pt x="262" y="538"/>
                      </a:cubicBezTo>
                      <a:cubicBezTo>
                        <a:pt x="261" y="539"/>
                        <a:pt x="259" y="539"/>
                        <a:pt x="258" y="538"/>
                      </a:cubicBezTo>
                      <a:cubicBezTo>
                        <a:pt x="257" y="537"/>
                        <a:pt x="257" y="536"/>
                        <a:pt x="257" y="535"/>
                      </a:cubicBezTo>
                      <a:cubicBezTo>
                        <a:pt x="260" y="518"/>
                        <a:pt x="255" y="500"/>
                        <a:pt x="241" y="489"/>
                      </a:cubicBezTo>
                      <a:cubicBezTo>
                        <a:pt x="241" y="489"/>
                        <a:pt x="241" y="489"/>
                        <a:pt x="241" y="489"/>
                      </a:cubicBezTo>
                      <a:cubicBezTo>
                        <a:pt x="225" y="475"/>
                        <a:pt x="202" y="473"/>
                        <a:pt x="185" y="484"/>
                      </a:cubicBezTo>
                      <a:cubicBezTo>
                        <a:pt x="183" y="485"/>
                        <a:pt x="182" y="484"/>
                        <a:pt x="181" y="484"/>
                      </a:cubicBezTo>
                      <a:cubicBezTo>
                        <a:pt x="180" y="483"/>
                        <a:pt x="180" y="482"/>
                        <a:pt x="180" y="481"/>
                      </a:cubicBezTo>
                      <a:cubicBezTo>
                        <a:pt x="183" y="464"/>
                        <a:pt x="177" y="446"/>
                        <a:pt x="164" y="435"/>
                      </a:cubicBezTo>
                      <a:cubicBezTo>
                        <a:pt x="164" y="435"/>
                        <a:pt x="164" y="435"/>
                        <a:pt x="164" y="435"/>
                      </a:cubicBezTo>
                      <a:cubicBezTo>
                        <a:pt x="150" y="423"/>
                        <a:pt x="132" y="420"/>
                        <a:pt x="117" y="425"/>
                      </a:cubicBezTo>
                      <a:cubicBezTo>
                        <a:pt x="115" y="426"/>
                        <a:pt x="114" y="425"/>
                        <a:pt x="113" y="425"/>
                      </a:cubicBezTo>
                      <a:cubicBezTo>
                        <a:pt x="112" y="424"/>
                        <a:pt x="112" y="422"/>
                        <a:pt x="113" y="421"/>
                      </a:cubicBezTo>
                      <a:cubicBezTo>
                        <a:pt x="121" y="402"/>
                        <a:pt x="116" y="379"/>
                        <a:pt x="100" y="365"/>
                      </a:cubicBezTo>
                      <a:cubicBezTo>
                        <a:pt x="100" y="365"/>
                        <a:pt x="100" y="365"/>
                        <a:pt x="100" y="365"/>
                      </a:cubicBezTo>
                      <a:cubicBezTo>
                        <a:pt x="80" y="347"/>
                        <a:pt x="49" y="350"/>
                        <a:pt x="32" y="370"/>
                      </a:cubicBezTo>
                      <a:cubicBezTo>
                        <a:pt x="18" y="386"/>
                        <a:pt x="18" y="386"/>
                        <a:pt x="18" y="386"/>
                      </a:cubicBezTo>
                      <a:cubicBezTo>
                        <a:pt x="0" y="406"/>
                        <a:pt x="2" y="437"/>
                        <a:pt x="23" y="455"/>
                      </a:cubicBezTo>
                      <a:cubicBezTo>
                        <a:pt x="23" y="455"/>
                        <a:pt x="23" y="455"/>
                        <a:pt x="23" y="455"/>
                      </a:cubicBezTo>
                      <a:cubicBezTo>
                        <a:pt x="35" y="465"/>
                        <a:pt x="51" y="469"/>
                        <a:pt x="66" y="465"/>
                      </a:cubicBezTo>
                      <a:cubicBezTo>
                        <a:pt x="68" y="465"/>
                        <a:pt x="69" y="465"/>
                        <a:pt x="70" y="466"/>
                      </a:cubicBezTo>
                      <a:cubicBezTo>
                        <a:pt x="70" y="467"/>
                        <a:pt x="70" y="469"/>
                        <a:pt x="69" y="470"/>
                      </a:cubicBezTo>
                      <a:cubicBezTo>
                        <a:pt x="54" y="490"/>
                        <a:pt x="57" y="519"/>
                        <a:pt x="76" y="536"/>
                      </a:cubicBezTo>
                      <a:cubicBezTo>
                        <a:pt x="76" y="536"/>
                        <a:pt x="76" y="536"/>
                        <a:pt x="76" y="536"/>
                      </a:cubicBezTo>
                      <a:cubicBezTo>
                        <a:pt x="95" y="553"/>
                        <a:pt x="124" y="552"/>
                        <a:pt x="142" y="534"/>
                      </a:cubicBezTo>
                      <a:cubicBezTo>
                        <a:pt x="143" y="533"/>
                        <a:pt x="144" y="533"/>
                        <a:pt x="145" y="534"/>
                      </a:cubicBezTo>
                      <a:cubicBezTo>
                        <a:pt x="147" y="534"/>
                        <a:pt x="147" y="535"/>
                        <a:pt x="147" y="537"/>
                      </a:cubicBezTo>
                      <a:cubicBezTo>
                        <a:pt x="146" y="552"/>
                        <a:pt x="151" y="568"/>
                        <a:pt x="164" y="578"/>
                      </a:cubicBezTo>
                      <a:cubicBezTo>
                        <a:pt x="164" y="578"/>
                        <a:pt x="164" y="578"/>
                        <a:pt x="164" y="578"/>
                      </a:cubicBezTo>
                      <a:cubicBezTo>
                        <a:pt x="183" y="595"/>
                        <a:pt x="212" y="594"/>
                        <a:pt x="230" y="576"/>
                      </a:cubicBezTo>
                      <a:cubicBezTo>
                        <a:pt x="231" y="575"/>
                        <a:pt x="232" y="575"/>
                        <a:pt x="233" y="576"/>
                      </a:cubicBezTo>
                      <a:cubicBezTo>
                        <a:pt x="234" y="576"/>
                        <a:pt x="235" y="577"/>
                        <a:pt x="235" y="579"/>
                      </a:cubicBezTo>
                      <a:cubicBezTo>
                        <a:pt x="233" y="594"/>
                        <a:pt x="239" y="610"/>
                        <a:pt x="252" y="621"/>
                      </a:cubicBezTo>
                      <a:cubicBezTo>
                        <a:pt x="272" y="638"/>
                        <a:pt x="303" y="636"/>
                        <a:pt x="320" y="615"/>
                      </a:cubicBezTo>
                      <a:cubicBezTo>
                        <a:pt x="324" y="611"/>
                        <a:pt x="324" y="611"/>
                        <a:pt x="324" y="611"/>
                      </a:cubicBezTo>
                      <a:cubicBezTo>
                        <a:pt x="341" y="591"/>
                        <a:pt x="339" y="560"/>
                        <a:pt x="319" y="543"/>
                      </a:cubicBezTo>
                      <a:close/>
                      <a:moveTo>
                        <a:pt x="449" y="177"/>
                      </a:moveTo>
                      <a:cubicBezTo>
                        <a:pt x="489" y="216"/>
                        <a:pt x="535" y="260"/>
                        <a:pt x="576" y="299"/>
                      </a:cubicBezTo>
                      <a:cubicBezTo>
                        <a:pt x="582" y="305"/>
                        <a:pt x="589" y="307"/>
                        <a:pt x="597" y="306"/>
                      </a:cubicBezTo>
                      <a:cubicBezTo>
                        <a:pt x="605" y="305"/>
                        <a:pt x="612" y="300"/>
                        <a:pt x="616" y="293"/>
                      </a:cubicBezTo>
                      <a:cubicBezTo>
                        <a:pt x="626" y="275"/>
                        <a:pt x="632" y="256"/>
                        <a:pt x="636" y="234"/>
                      </a:cubicBezTo>
                      <a:cubicBezTo>
                        <a:pt x="638" y="224"/>
                        <a:pt x="642" y="216"/>
                        <a:pt x="649" y="209"/>
                      </a:cubicBezTo>
                      <a:cubicBezTo>
                        <a:pt x="671" y="186"/>
                        <a:pt x="671" y="186"/>
                        <a:pt x="671" y="186"/>
                      </a:cubicBezTo>
                      <a:cubicBezTo>
                        <a:pt x="688" y="168"/>
                        <a:pt x="689" y="139"/>
                        <a:pt x="672" y="121"/>
                      </a:cubicBezTo>
                      <a:cubicBezTo>
                        <a:pt x="580" y="21"/>
                        <a:pt x="580" y="21"/>
                        <a:pt x="580" y="21"/>
                      </a:cubicBezTo>
                      <a:cubicBezTo>
                        <a:pt x="563" y="3"/>
                        <a:pt x="534" y="0"/>
                        <a:pt x="515" y="16"/>
                      </a:cubicBezTo>
                      <a:cubicBezTo>
                        <a:pt x="493" y="34"/>
                        <a:pt x="493" y="34"/>
                        <a:pt x="493" y="34"/>
                      </a:cubicBezTo>
                      <a:cubicBezTo>
                        <a:pt x="483" y="42"/>
                        <a:pt x="471" y="45"/>
                        <a:pt x="457" y="44"/>
                      </a:cubicBezTo>
                      <a:cubicBezTo>
                        <a:pt x="435" y="41"/>
                        <a:pt x="412" y="38"/>
                        <a:pt x="390" y="36"/>
                      </a:cubicBezTo>
                      <a:cubicBezTo>
                        <a:pt x="347" y="30"/>
                        <a:pt x="308" y="41"/>
                        <a:pt x="274" y="67"/>
                      </a:cubicBezTo>
                      <a:cubicBezTo>
                        <a:pt x="229" y="101"/>
                        <a:pt x="184" y="136"/>
                        <a:pt x="139" y="171"/>
                      </a:cubicBezTo>
                      <a:cubicBezTo>
                        <a:pt x="95" y="207"/>
                        <a:pt x="151" y="255"/>
                        <a:pt x="203" y="222"/>
                      </a:cubicBezTo>
                      <a:cubicBezTo>
                        <a:pt x="301" y="161"/>
                        <a:pt x="301" y="161"/>
                        <a:pt x="301" y="161"/>
                      </a:cubicBezTo>
                      <a:cubicBezTo>
                        <a:pt x="315" y="153"/>
                        <a:pt x="331" y="152"/>
                        <a:pt x="346" y="158"/>
                      </a:cubicBezTo>
                      <a:cubicBezTo>
                        <a:pt x="364" y="167"/>
                        <a:pt x="388" y="168"/>
                        <a:pt x="408" y="165"/>
                      </a:cubicBezTo>
                      <a:cubicBezTo>
                        <a:pt x="423" y="162"/>
                        <a:pt x="437" y="166"/>
                        <a:pt x="449" y="1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grpSp>
        </p:grpSp>
        <p:grpSp>
          <p:nvGrpSpPr>
            <p:cNvPr id="16" name="组合 15"/>
            <p:cNvGrpSpPr/>
            <p:nvPr/>
          </p:nvGrpSpPr>
          <p:grpSpPr>
            <a:xfrm>
              <a:off x="5309728" y="2329704"/>
              <a:ext cx="698500" cy="698500"/>
              <a:chOff x="5309728" y="2329704"/>
              <a:chExt cx="698500" cy="698500"/>
            </a:xfrm>
          </p:grpSpPr>
          <p:sp>
            <p:nvSpPr>
              <p:cNvPr id="17" name="椭圆 16"/>
              <p:cNvSpPr/>
              <p:nvPr/>
            </p:nvSpPr>
            <p:spPr>
              <a:xfrm>
                <a:off x="5309728" y="2329704"/>
                <a:ext cx="698500" cy="698500"/>
              </a:xfrm>
              <a:prstGeom prst="ellipse">
                <a:avLst/>
              </a:prstGeom>
              <a:solidFill>
                <a:schemeClr val="accent1"/>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nvGrpSpPr>
              <p:cNvPr id="18" name="组合 17"/>
              <p:cNvGrpSpPr/>
              <p:nvPr/>
            </p:nvGrpSpPr>
            <p:grpSpPr>
              <a:xfrm>
                <a:off x="5510169" y="2533542"/>
                <a:ext cx="295624" cy="295912"/>
                <a:chOff x="5240338" y="2657475"/>
                <a:chExt cx="1630363" cy="1631951"/>
              </a:xfrm>
              <a:solidFill>
                <a:schemeClr val="bg1"/>
              </a:solidFill>
            </p:grpSpPr>
            <p:sp>
              <p:nvSpPr>
                <p:cNvPr id="19" name="Freeform 5"/>
                <p:cNvSpPr/>
                <p:nvPr/>
              </p:nvSpPr>
              <p:spPr bwMode="auto">
                <a:xfrm>
                  <a:off x="5240338" y="2735263"/>
                  <a:ext cx="1552575" cy="1554163"/>
                </a:xfrm>
                <a:custGeom>
                  <a:avLst/>
                  <a:gdLst>
                    <a:gd name="T0" fmla="*/ 391 w 517"/>
                    <a:gd name="T1" fmla="*/ 73 h 519"/>
                    <a:gd name="T2" fmla="*/ 346 w 517"/>
                    <a:gd name="T3" fmla="*/ 101 h 519"/>
                    <a:gd name="T4" fmla="*/ 325 w 517"/>
                    <a:gd name="T5" fmla="*/ 98 h 519"/>
                    <a:gd name="T6" fmla="*/ 122 w 517"/>
                    <a:gd name="T7" fmla="*/ 151 h 519"/>
                    <a:gd name="T8" fmla="*/ 125 w 517"/>
                    <a:gd name="T9" fmla="*/ 369 h 519"/>
                    <a:gd name="T10" fmla="*/ 332 w 517"/>
                    <a:gd name="T11" fmla="*/ 416 h 519"/>
                    <a:gd name="T12" fmla="*/ 421 w 517"/>
                    <a:gd name="T13" fmla="*/ 197 h 519"/>
                    <a:gd name="T14" fmla="*/ 425 w 517"/>
                    <a:gd name="T15" fmla="*/ 155 h 519"/>
                    <a:gd name="T16" fmla="*/ 443 w 517"/>
                    <a:gd name="T17" fmla="*/ 127 h 519"/>
                    <a:gd name="T18" fmla="*/ 444 w 517"/>
                    <a:gd name="T19" fmla="*/ 398 h 519"/>
                    <a:gd name="T20" fmla="*/ 113 w 517"/>
                    <a:gd name="T21" fmla="*/ 438 h 519"/>
                    <a:gd name="T22" fmla="*/ 88 w 517"/>
                    <a:gd name="T23" fmla="*/ 101 h 519"/>
                    <a:gd name="T24" fmla="*/ 391 w 517"/>
                    <a:gd name="T25" fmla="*/ 73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7" h="519">
                      <a:moveTo>
                        <a:pt x="391" y="73"/>
                      </a:moveTo>
                      <a:cubicBezTo>
                        <a:pt x="376" y="83"/>
                        <a:pt x="361" y="93"/>
                        <a:pt x="346" y="101"/>
                      </a:cubicBezTo>
                      <a:cubicBezTo>
                        <a:pt x="340" y="103"/>
                        <a:pt x="331" y="100"/>
                        <a:pt x="325" y="98"/>
                      </a:cubicBezTo>
                      <a:cubicBezTo>
                        <a:pt x="252" y="68"/>
                        <a:pt x="166" y="91"/>
                        <a:pt x="122" y="151"/>
                      </a:cubicBezTo>
                      <a:cubicBezTo>
                        <a:pt x="72" y="219"/>
                        <a:pt x="73" y="305"/>
                        <a:pt x="125" y="369"/>
                      </a:cubicBezTo>
                      <a:cubicBezTo>
                        <a:pt x="174" y="429"/>
                        <a:pt x="261" y="449"/>
                        <a:pt x="332" y="416"/>
                      </a:cubicBezTo>
                      <a:cubicBezTo>
                        <a:pt x="413" y="379"/>
                        <a:pt x="454" y="279"/>
                        <a:pt x="421" y="197"/>
                      </a:cubicBezTo>
                      <a:cubicBezTo>
                        <a:pt x="414" y="181"/>
                        <a:pt x="415" y="169"/>
                        <a:pt x="425" y="155"/>
                      </a:cubicBezTo>
                      <a:cubicBezTo>
                        <a:pt x="432" y="146"/>
                        <a:pt x="437" y="136"/>
                        <a:pt x="443" y="127"/>
                      </a:cubicBezTo>
                      <a:cubicBezTo>
                        <a:pt x="491" y="165"/>
                        <a:pt x="517" y="302"/>
                        <a:pt x="444" y="398"/>
                      </a:cubicBezTo>
                      <a:cubicBezTo>
                        <a:pt x="366" y="501"/>
                        <a:pt x="209" y="519"/>
                        <a:pt x="113" y="438"/>
                      </a:cubicBezTo>
                      <a:cubicBezTo>
                        <a:pt x="0" y="343"/>
                        <a:pt x="9" y="187"/>
                        <a:pt x="88" y="101"/>
                      </a:cubicBezTo>
                      <a:cubicBezTo>
                        <a:pt x="181" y="0"/>
                        <a:pt x="336" y="17"/>
                        <a:pt x="391"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0" name="Freeform 6"/>
                <p:cNvSpPr/>
                <p:nvPr/>
              </p:nvSpPr>
              <p:spPr bwMode="auto">
                <a:xfrm>
                  <a:off x="5618163" y="3103563"/>
                  <a:ext cx="793750" cy="793750"/>
                </a:xfrm>
                <a:custGeom>
                  <a:avLst/>
                  <a:gdLst>
                    <a:gd name="T0" fmla="*/ 132 w 264"/>
                    <a:gd name="T1" fmla="*/ 265 h 265"/>
                    <a:gd name="T2" fmla="*/ 3 w 264"/>
                    <a:gd name="T3" fmla="*/ 128 h 265"/>
                    <a:gd name="T4" fmla="*/ 141 w 264"/>
                    <a:gd name="T5" fmla="*/ 5 h 265"/>
                    <a:gd name="T6" fmla="*/ 161 w 264"/>
                    <a:gd name="T7" fmla="*/ 8 h 265"/>
                    <a:gd name="T8" fmla="*/ 168 w 264"/>
                    <a:gd name="T9" fmla="*/ 27 h 265"/>
                    <a:gd name="T10" fmla="*/ 156 w 264"/>
                    <a:gd name="T11" fmla="*/ 50 h 265"/>
                    <a:gd name="T12" fmla="*/ 135 w 264"/>
                    <a:gd name="T13" fmla="*/ 63 h 265"/>
                    <a:gd name="T14" fmla="*/ 60 w 264"/>
                    <a:gd name="T15" fmla="*/ 131 h 265"/>
                    <a:gd name="T16" fmla="*/ 124 w 264"/>
                    <a:gd name="T17" fmla="*/ 207 h 265"/>
                    <a:gd name="T18" fmla="*/ 205 w 264"/>
                    <a:gd name="T19" fmla="*/ 136 h 265"/>
                    <a:gd name="T20" fmla="*/ 224 w 264"/>
                    <a:gd name="T21" fmla="*/ 110 h 265"/>
                    <a:gd name="T22" fmla="*/ 226 w 264"/>
                    <a:gd name="T23" fmla="*/ 109 h 265"/>
                    <a:gd name="T24" fmla="*/ 254 w 264"/>
                    <a:gd name="T25" fmla="*/ 97 h 265"/>
                    <a:gd name="T26" fmla="*/ 263 w 264"/>
                    <a:gd name="T27" fmla="*/ 135 h 265"/>
                    <a:gd name="T28" fmla="*/ 132 w 264"/>
                    <a:gd name="T29" fmla="*/ 26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4" h="265">
                      <a:moveTo>
                        <a:pt x="132" y="265"/>
                      </a:moveTo>
                      <a:cubicBezTo>
                        <a:pt x="57" y="265"/>
                        <a:pt x="0" y="205"/>
                        <a:pt x="3" y="128"/>
                      </a:cubicBezTo>
                      <a:cubicBezTo>
                        <a:pt x="5" y="58"/>
                        <a:pt x="70" y="0"/>
                        <a:pt x="141" y="5"/>
                      </a:cubicBezTo>
                      <a:cubicBezTo>
                        <a:pt x="148" y="6"/>
                        <a:pt x="155" y="7"/>
                        <a:pt x="161" y="8"/>
                      </a:cubicBezTo>
                      <a:cubicBezTo>
                        <a:pt x="173" y="11"/>
                        <a:pt x="175" y="17"/>
                        <a:pt x="168" y="27"/>
                      </a:cubicBezTo>
                      <a:cubicBezTo>
                        <a:pt x="164" y="34"/>
                        <a:pt x="159" y="42"/>
                        <a:pt x="156" y="50"/>
                      </a:cubicBezTo>
                      <a:cubicBezTo>
                        <a:pt x="152" y="60"/>
                        <a:pt x="147" y="63"/>
                        <a:pt x="135" y="63"/>
                      </a:cubicBezTo>
                      <a:cubicBezTo>
                        <a:pt x="94" y="63"/>
                        <a:pt x="63" y="92"/>
                        <a:pt x="60" y="131"/>
                      </a:cubicBezTo>
                      <a:cubicBezTo>
                        <a:pt x="57" y="167"/>
                        <a:pt x="85" y="200"/>
                        <a:pt x="124" y="207"/>
                      </a:cubicBezTo>
                      <a:cubicBezTo>
                        <a:pt x="164" y="214"/>
                        <a:pt x="204" y="180"/>
                        <a:pt x="205" y="136"/>
                      </a:cubicBezTo>
                      <a:cubicBezTo>
                        <a:pt x="205" y="120"/>
                        <a:pt x="209" y="113"/>
                        <a:pt x="224" y="110"/>
                      </a:cubicBezTo>
                      <a:cubicBezTo>
                        <a:pt x="225" y="110"/>
                        <a:pt x="225" y="109"/>
                        <a:pt x="226" y="109"/>
                      </a:cubicBezTo>
                      <a:cubicBezTo>
                        <a:pt x="235" y="105"/>
                        <a:pt x="244" y="101"/>
                        <a:pt x="254" y="97"/>
                      </a:cubicBezTo>
                      <a:cubicBezTo>
                        <a:pt x="257" y="109"/>
                        <a:pt x="263" y="122"/>
                        <a:pt x="263" y="135"/>
                      </a:cubicBezTo>
                      <a:cubicBezTo>
                        <a:pt x="264" y="207"/>
                        <a:pt x="205" y="265"/>
                        <a:pt x="132" y="2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1" name="Freeform 7"/>
                <p:cNvSpPr/>
                <p:nvPr/>
              </p:nvSpPr>
              <p:spPr bwMode="auto">
                <a:xfrm>
                  <a:off x="6018213" y="2657475"/>
                  <a:ext cx="852488" cy="850900"/>
                </a:xfrm>
                <a:custGeom>
                  <a:avLst/>
                  <a:gdLst>
                    <a:gd name="T0" fmla="*/ 0 w 284"/>
                    <a:gd name="T1" fmla="*/ 280 h 284"/>
                    <a:gd name="T2" fmla="*/ 10 w 284"/>
                    <a:gd name="T3" fmla="*/ 266 h 284"/>
                    <a:gd name="T4" fmla="*/ 31 w 284"/>
                    <a:gd name="T5" fmla="*/ 214 h 284"/>
                    <a:gd name="T6" fmla="*/ 68 w 284"/>
                    <a:gd name="T7" fmla="*/ 156 h 284"/>
                    <a:gd name="T8" fmla="*/ 165 w 284"/>
                    <a:gd name="T9" fmla="*/ 97 h 284"/>
                    <a:gd name="T10" fmla="*/ 186 w 284"/>
                    <a:gd name="T11" fmla="*/ 62 h 284"/>
                    <a:gd name="T12" fmla="*/ 186 w 284"/>
                    <a:gd name="T13" fmla="*/ 41 h 284"/>
                    <a:gd name="T14" fmla="*/ 216 w 284"/>
                    <a:gd name="T15" fmla="*/ 2 h 284"/>
                    <a:gd name="T16" fmla="*/ 249 w 284"/>
                    <a:gd name="T17" fmla="*/ 34 h 284"/>
                    <a:gd name="T18" fmla="*/ 282 w 284"/>
                    <a:gd name="T19" fmla="*/ 68 h 284"/>
                    <a:gd name="T20" fmla="*/ 243 w 284"/>
                    <a:gd name="T21" fmla="*/ 97 h 284"/>
                    <a:gd name="T22" fmla="*/ 175 w 284"/>
                    <a:gd name="T23" fmla="*/ 142 h 284"/>
                    <a:gd name="T24" fmla="*/ 102 w 284"/>
                    <a:gd name="T25" fmla="*/ 240 h 284"/>
                    <a:gd name="T26" fmla="*/ 69 w 284"/>
                    <a:gd name="T27" fmla="*/ 253 h 284"/>
                    <a:gd name="T28" fmla="*/ 19 w 284"/>
                    <a:gd name="T29" fmla="*/ 273 h 284"/>
                    <a:gd name="T30" fmla="*/ 4 w 284"/>
                    <a:gd name="T31" fmla="*/ 284 h 284"/>
                    <a:gd name="T32" fmla="*/ 0 w 284"/>
                    <a:gd name="T33" fmla="*/ 28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4" h="284">
                      <a:moveTo>
                        <a:pt x="0" y="280"/>
                      </a:moveTo>
                      <a:cubicBezTo>
                        <a:pt x="4" y="275"/>
                        <a:pt x="6" y="270"/>
                        <a:pt x="10" y="266"/>
                      </a:cubicBezTo>
                      <a:cubicBezTo>
                        <a:pt x="23" y="251"/>
                        <a:pt x="31" y="236"/>
                        <a:pt x="31" y="214"/>
                      </a:cubicBezTo>
                      <a:cubicBezTo>
                        <a:pt x="31" y="189"/>
                        <a:pt x="48" y="169"/>
                        <a:pt x="68" y="156"/>
                      </a:cubicBezTo>
                      <a:cubicBezTo>
                        <a:pt x="100" y="134"/>
                        <a:pt x="132" y="115"/>
                        <a:pt x="165" y="97"/>
                      </a:cubicBezTo>
                      <a:cubicBezTo>
                        <a:pt x="180" y="89"/>
                        <a:pt x="188" y="79"/>
                        <a:pt x="186" y="62"/>
                      </a:cubicBezTo>
                      <a:cubicBezTo>
                        <a:pt x="185" y="55"/>
                        <a:pt x="185" y="48"/>
                        <a:pt x="186" y="41"/>
                      </a:cubicBezTo>
                      <a:cubicBezTo>
                        <a:pt x="187" y="17"/>
                        <a:pt x="198" y="4"/>
                        <a:pt x="216" y="2"/>
                      </a:cubicBezTo>
                      <a:cubicBezTo>
                        <a:pt x="234" y="0"/>
                        <a:pt x="243" y="9"/>
                        <a:pt x="249" y="34"/>
                      </a:cubicBezTo>
                      <a:cubicBezTo>
                        <a:pt x="274" y="40"/>
                        <a:pt x="284" y="50"/>
                        <a:pt x="282" y="68"/>
                      </a:cubicBezTo>
                      <a:cubicBezTo>
                        <a:pt x="280" y="86"/>
                        <a:pt x="266" y="100"/>
                        <a:pt x="243" y="97"/>
                      </a:cubicBezTo>
                      <a:cubicBezTo>
                        <a:pt x="205" y="92"/>
                        <a:pt x="189" y="111"/>
                        <a:pt x="175" y="142"/>
                      </a:cubicBezTo>
                      <a:cubicBezTo>
                        <a:pt x="159" y="181"/>
                        <a:pt x="137" y="215"/>
                        <a:pt x="102" y="240"/>
                      </a:cubicBezTo>
                      <a:cubicBezTo>
                        <a:pt x="92" y="246"/>
                        <a:pt x="80" y="253"/>
                        <a:pt x="69" y="253"/>
                      </a:cubicBezTo>
                      <a:cubicBezTo>
                        <a:pt x="49" y="252"/>
                        <a:pt x="33" y="259"/>
                        <a:pt x="19" y="273"/>
                      </a:cubicBezTo>
                      <a:cubicBezTo>
                        <a:pt x="15" y="277"/>
                        <a:pt x="9" y="280"/>
                        <a:pt x="4" y="284"/>
                      </a:cubicBezTo>
                      <a:cubicBezTo>
                        <a:pt x="3" y="283"/>
                        <a:pt x="1" y="281"/>
                        <a:pt x="0" y="2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2" name="Freeform 8"/>
                <p:cNvSpPr/>
                <p:nvPr/>
              </p:nvSpPr>
              <p:spPr bwMode="auto">
                <a:xfrm>
                  <a:off x="5907088" y="3403600"/>
                  <a:ext cx="222250" cy="219075"/>
                </a:xfrm>
                <a:custGeom>
                  <a:avLst/>
                  <a:gdLst>
                    <a:gd name="T0" fmla="*/ 39 w 74"/>
                    <a:gd name="T1" fmla="*/ 3 h 73"/>
                    <a:gd name="T2" fmla="*/ 30 w 74"/>
                    <a:gd name="T3" fmla="*/ 43 h 73"/>
                    <a:gd name="T4" fmla="*/ 69 w 74"/>
                    <a:gd name="T5" fmla="*/ 35 h 73"/>
                    <a:gd name="T6" fmla="*/ 58 w 74"/>
                    <a:gd name="T7" fmla="*/ 62 h 73"/>
                    <a:gd name="T8" fmla="*/ 15 w 74"/>
                    <a:gd name="T9" fmla="*/ 63 h 73"/>
                    <a:gd name="T10" fmla="*/ 6 w 74"/>
                    <a:gd name="T11" fmla="*/ 21 h 73"/>
                    <a:gd name="T12" fmla="*/ 39 w 74"/>
                    <a:gd name="T13" fmla="*/ 3 h 73"/>
                  </a:gdLst>
                  <a:ahLst/>
                  <a:cxnLst>
                    <a:cxn ang="0">
                      <a:pos x="T0" y="T1"/>
                    </a:cxn>
                    <a:cxn ang="0">
                      <a:pos x="T2" y="T3"/>
                    </a:cxn>
                    <a:cxn ang="0">
                      <a:pos x="T4" y="T5"/>
                    </a:cxn>
                    <a:cxn ang="0">
                      <a:pos x="T6" y="T7"/>
                    </a:cxn>
                    <a:cxn ang="0">
                      <a:pos x="T8" y="T9"/>
                    </a:cxn>
                    <a:cxn ang="0">
                      <a:pos x="T10" y="T11"/>
                    </a:cxn>
                    <a:cxn ang="0">
                      <a:pos x="T12" y="T13"/>
                    </a:cxn>
                  </a:cxnLst>
                  <a:rect l="0" t="0" r="r" b="b"/>
                  <a:pathLst>
                    <a:path w="74" h="73">
                      <a:moveTo>
                        <a:pt x="39" y="3"/>
                      </a:moveTo>
                      <a:cubicBezTo>
                        <a:pt x="40" y="19"/>
                        <a:pt x="14" y="29"/>
                        <a:pt x="30" y="43"/>
                      </a:cubicBezTo>
                      <a:cubicBezTo>
                        <a:pt x="37" y="48"/>
                        <a:pt x="54" y="38"/>
                        <a:pt x="69" y="35"/>
                      </a:cubicBezTo>
                      <a:cubicBezTo>
                        <a:pt x="74" y="46"/>
                        <a:pt x="68" y="56"/>
                        <a:pt x="58" y="62"/>
                      </a:cubicBezTo>
                      <a:cubicBezTo>
                        <a:pt x="44" y="72"/>
                        <a:pt x="29" y="73"/>
                        <a:pt x="15" y="63"/>
                      </a:cubicBezTo>
                      <a:cubicBezTo>
                        <a:pt x="1" y="52"/>
                        <a:pt x="0" y="36"/>
                        <a:pt x="6" y="21"/>
                      </a:cubicBezTo>
                      <a:cubicBezTo>
                        <a:pt x="11" y="7"/>
                        <a:pt x="22" y="0"/>
                        <a:pt x="3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grpSp>
        </p:grpSp>
      </p:grpSp>
      <p:sp>
        <p:nvSpPr>
          <p:cNvPr id="42" name="文本框 41"/>
          <p:cNvSpPr txBox="1"/>
          <p:nvPr/>
        </p:nvSpPr>
        <p:spPr>
          <a:xfrm>
            <a:off x="1749819" y="1665682"/>
            <a:ext cx="3425834" cy="134267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sz="1800" dirty="0">
                <a:solidFill>
                  <a:srgbClr val="000000"/>
                </a:solidFill>
                <a:latin typeface="Times New Roman"/>
              </a:rPr>
              <a:t>         Raptor</a:t>
            </a:r>
            <a:r>
              <a:rPr lang="zh-CN" altLang="en-US" sz="1800" dirty="0">
                <a:solidFill>
                  <a:srgbClr val="000000"/>
                </a:solidFill>
                <a:latin typeface="Times New Roman"/>
              </a:rPr>
              <a:t>码的</a:t>
            </a:r>
            <a:r>
              <a:rPr lang="zh-CN" altLang="en-US" sz="1800" dirty="0">
                <a:solidFill>
                  <a:srgbClr val="FF0000"/>
                </a:solidFill>
                <a:latin typeface="Times New Roman"/>
              </a:rPr>
              <a:t>编码和译码均需</a:t>
            </a:r>
            <a:r>
              <a:rPr lang="en-US" altLang="zh-CN" sz="1800" dirty="0">
                <a:solidFill>
                  <a:srgbClr val="FF0000"/>
                </a:solidFill>
                <a:latin typeface="Times New Roman"/>
              </a:rPr>
              <a:t>O(</a:t>
            </a:r>
            <a:r>
              <a:rPr lang="en-US" altLang="zh-CN" sz="1800" i="1" dirty="0" err="1">
                <a:solidFill>
                  <a:srgbClr val="FF0000"/>
                </a:solidFill>
                <a:latin typeface="Times New Roman"/>
              </a:rPr>
              <a:t>kln</a:t>
            </a:r>
            <a:r>
              <a:rPr lang="en-US" altLang="zh-CN" sz="1800" dirty="0">
                <a:solidFill>
                  <a:srgbClr val="FF0000"/>
                </a:solidFill>
                <a:latin typeface="Times New Roman"/>
              </a:rPr>
              <a:t>(1/</a:t>
            </a:r>
            <a:r>
              <a:rPr lang="en-US" altLang="zh-CN" sz="1800" i="1" dirty="0">
                <a:solidFill>
                  <a:srgbClr val="FF0000"/>
                </a:solidFill>
                <a:latin typeface="Times New Roman"/>
              </a:rPr>
              <a:t>ε</a:t>
            </a:r>
            <a:r>
              <a:rPr lang="en-US" altLang="zh-CN" sz="1800" dirty="0">
                <a:solidFill>
                  <a:srgbClr val="FF0000"/>
                </a:solidFill>
                <a:latin typeface="Times New Roman"/>
              </a:rPr>
              <a:t>))</a:t>
            </a:r>
            <a:r>
              <a:rPr lang="zh-CN" altLang="en-US" sz="1800" dirty="0">
                <a:solidFill>
                  <a:srgbClr val="FF0000"/>
                </a:solidFill>
                <a:latin typeface="Times New Roman"/>
              </a:rPr>
              <a:t>次包“异或操作”</a:t>
            </a:r>
            <a:r>
              <a:rPr lang="zh-CN" altLang="en-US" sz="1800" dirty="0">
                <a:solidFill>
                  <a:srgbClr val="000000"/>
                </a:solidFill>
                <a:latin typeface="Times New Roman"/>
              </a:rPr>
              <a:t>，其中</a:t>
            </a:r>
            <a:r>
              <a:rPr lang="en-US" altLang="zh-CN" sz="1800" i="1" dirty="0">
                <a:solidFill>
                  <a:srgbClr val="000000"/>
                </a:solidFill>
                <a:latin typeface="Times New Roman"/>
              </a:rPr>
              <a:t>ε</a:t>
            </a:r>
            <a:r>
              <a:rPr lang="zh-CN" altLang="en-US" sz="1800" dirty="0">
                <a:solidFill>
                  <a:srgbClr val="000000"/>
                </a:solidFill>
                <a:latin typeface="Times New Roman"/>
              </a:rPr>
              <a:t>是译码开销。</a:t>
            </a:r>
            <a:endParaRPr lang="en-US" altLang="zh-CN" sz="1800" dirty="0">
              <a:solidFill>
                <a:srgbClr val="000000"/>
              </a:solidFill>
              <a:latin typeface="Times New Roman"/>
            </a:endParaRPr>
          </a:p>
        </p:txBody>
      </p:sp>
      <p:sp>
        <p:nvSpPr>
          <p:cNvPr id="43" name="文本框 42"/>
          <p:cNvSpPr txBox="1"/>
          <p:nvPr/>
        </p:nvSpPr>
        <p:spPr>
          <a:xfrm>
            <a:off x="1749819" y="4559101"/>
            <a:ext cx="3425834" cy="134267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sz="1800" dirty="0">
                <a:solidFill>
                  <a:srgbClr val="000000"/>
                </a:solidFill>
                <a:latin typeface="Times New Roman"/>
              </a:rPr>
              <a:t>         Raptor</a:t>
            </a:r>
            <a:r>
              <a:rPr lang="zh-CN" altLang="en-US" sz="1800" dirty="0">
                <a:solidFill>
                  <a:srgbClr val="000000"/>
                </a:solidFill>
                <a:latin typeface="Times New Roman"/>
              </a:rPr>
              <a:t>码的</a:t>
            </a:r>
            <a:r>
              <a:rPr lang="zh-CN" altLang="en-US" sz="1800" dirty="0">
                <a:solidFill>
                  <a:srgbClr val="FF0000"/>
                </a:solidFill>
                <a:latin typeface="Times New Roman"/>
              </a:rPr>
              <a:t>编译码复杂度与码长成线性关系</a:t>
            </a:r>
            <a:r>
              <a:rPr lang="zh-CN" altLang="en-US" sz="1800" dirty="0">
                <a:solidFill>
                  <a:srgbClr val="000000"/>
                </a:solidFill>
                <a:latin typeface="Times New Roman"/>
              </a:rPr>
              <a:t>，优于</a:t>
            </a:r>
            <a:r>
              <a:rPr lang="en-US" altLang="zh-CN" sz="1800" dirty="0">
                <a:solidFill>
                  <a:srgbClr val="000000"/>
                </a:solidFill>
                <a:latin typeface="Times New Roman"/>
              </a:rPr>
              <a:t>LT</a:t>
            </a:r>
            <a:r>
              <a:rPr lang="zh-CN" altLang="en-US" sz="1800" dirty="0">
                <a:solidFill>
                  <a:srgbClr val="000000"/>
                </a:solidFill>
                <a:latin typeface="Times New Roman"/>
              </a:rPr>
              <a:t>码的对数关系。</a:t>
            </a:r>
            <a:endParaRPr lang="en-US" altLang="zh-CN" sz="1800" dirty="0">
              <a:solidFill>
                <a:srgbClr val="000000"/>
              </a:solidFill>
              <a:latin typeface="Times New Roman"/>
            </a:endParaRPr>
          </a:p>
        </p:txBody>
      </p:sp>
      <p:sp>
        <p:nvSpPr>
          <p:cNvPr id="44" name="文本框 43"/>
          <p:cNvSpPr txBox="1"/>
          <p:nvPr/>
        </p:nvSpPr>
        <p:spPr>
          <a:xfrm>
            <a:off x="7264325" y="1252469"/>
            <a:ext cx="3238357" cy="134267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sz="1800" dirty="0">
                <a:solidFill>
                  <a:srgbClr val="000000"/>
                </a:solidFill>
                <a:latin typeface="Times New Roman"/>
              </a:rPr>
              <a:t>        Raptor </a:t>
            </a:r>
            <a:r>
              <a:rPr lang="zh-CN" altLang="en-US" sz="1800" dirty="0">
                <a:solidFill>
                  <a:srgbClr val="000000"/>
                </a:solidFill>
                <a:latin typeface="Times New Roman"/>
              </a:rPr>
              <a:t>使用联合优化弱化</a:t>
            </a:r>
            <a:r>
              <a:rPr lang="en-US" altLang="zh-CN" sz="1800" dirty="0">
                <a:solidFill>
                  <a:srgbClr val="000000"/>
                </a:solidFill>
                <a:latin typeface="Times New Roman"/>
              </a:rPr>
              <a:t>LT</a:t>
            </a:r>
            <a:r>
              <a:rPr lang="zh-CN" altLang="en-US" sz="1800" dirty="0">
                <a:solidFill>
                  <a:srgbClr val="000000"/>
                </a:solidFill>
                <a:latin typeface="Times New Roman"/>
              </a:rPr>
              <a:t>码和预编码的码率和参数可以获得</a:t>
            </a:r>
            <a:r>
              <a:rPr lang="zh-CN" altLang="en-US" sz="1800" dirty="0">
                <a:solidFill>
                  <a:srgbClr val="FF0000"/>
                </a:solidFill>
                <a:latin typeface="Times New Roman"/>
              </a:rPr>
              <a:t>更低的编译码复杂度</a:t>
            </a:r>
            <a:r>
              <a:rPr lang="zh-CN" altLang="en-US" sz="1800" dirty="0">
                <a:solidFill>
                  <a:srgbClr val="000000"/>
                </a:solidFill>
                <a:latin typeface="Times New Roman"/>
              </a:rPr>
              <a:t>。</a:t>
            </a:r>
            <a:endParaRPr lang="en-US" altLang="zh-CN" sz="1800" dirty="0">
              <a:solidFill>
                <a:srgbClr val="000000"/>
              </a:solidFill>
              <a:latin typeface="Times New Roman"/>
            </a:endParaRPr>
          </a:p>
        </p:txBody>
      </p:sp>
      <p:sp>
        <p:nvSpPr>
          <p:cNvPr id="45" name="文本框 44"/>
          <p:cNvSpPr txBox="1"/>
          <p:nvPr/>
        </p:nvSpPr>
        <p:spPr>
          <a:xfrm>
            <a:off x="7359414" y="3162664"/>
            <a:ext cx="3238357" cy="177869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sz="1800" dirty="0">
                <a:solidFill>
                  <a:srgbClr val="000000"/>
                </a:solidFill>
                <a:latin typeface="Times New Roman"/>
              </a:rPr>
              <a:t>        Raptor </a:t>
            </a:r>
            <a:r>
              <a:rPr lang="zh-CN" altLang="en-US" sz="1800" dirty="0">
                <a:solidFill>
                  <a:srgbClr val="000000"/>
                </a:solidFill>
                <a:latin typeface="Times New Roman"/>
              </a:rPr>
              <a:t>使用联合优化弱化</a:t>
            </a:r>
            <a:r>
              <a:rPr lang="en-US" altLang="zh-CN" sz="1800" dirty="0">
                <a:solidFill>
                  <a:srgbClr val="000000"/>
                </a:solidFill>
                <a:latin typeface="Times New Roman"/>
              </a:rPr>
              <a:t>LT</a:t>
            </a:r>
            <a:r>
              <a:rPr lang="zh-CN" altLang="en-US" sz="1800" dirty="0">
                <a:solidFill>
                  <a:srgbClr val="000000"/>
                </a:solidFill>
                <a:latin typeface="Times New Roman"/>
              </a:rPr>
              <a:t>码和预编码的码率和参数可以</a:t>
            </a:r>
            <a:r>
              <a:rPr lang="zh-CN" altLang="en-US" sz="1800" dirty="0">
                <a:solidFill>
                  <a:srgbClr val="FF0000"/>
                </a:solidFill>
                <a:latin typeface="Times New Roman"/>
              </a:rPr>
              <a:t>在相同译码开销下获得更高的译码成功率</a:t>
            </a:r>
            <a:r>
              <a:rPr lang="zh-CN" altLang="en-US" sz="1800" dirty="0">
                <a:solidFill>
                  <a:srgbClr val="000000"/>
                </a:solidFill>
                <a:latin typeface="Times New Roman"/>
              </a:rPr>
              <a:t>。</a:t>
            </a:r>
            <a:endParaRPr lang="en-US" altLang="zh-CN" sz="1800" dirty="0">
              <a:solidFill>
                <a:srgbClr val="000000"/>
              </a:solidFill>
              <a:latin typeface="Times New Roman"/>
            </a:endParaRPr>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en-US" altLang="zh-CN" sz="2400" dirty="0">
                <a:sym typeface="+mn-ea"/>
              </a:rPr>
              <a:t>EC</a:t>
            </a:r>
            <a:r>
              <a:rPr lang="zh-CN" altLang="en-US" sz="2400" dirty="0">
                <a:sym typeface="+mn-ea"/>
              </a:rPr>
              <a:t>码的应用</a:t>
            </a:r>
          </a:p>
        </p:txBody>
      </p:sp>
      <p:grpSp>
        <p:nvGrpSpPr>
          <p:cNvPr id="15" name="组合 14"/>
          <p:cNvGrpSpPr/>
          <p:nvPr/>
        </p:nvGrpSpPr>
        <p:grpSpPr>
          <a:xfrm>
            <a:off x="6334930" y="935251"/>
            <a:ext cx="4333069" cy="571018"/>
            <a:chOff x="4804945" y="1360397"/>
            <a:chExt cx="4333069" cy="691283"/>
          </a:xfrm>
        </p:grpSpPr>
        <p:sp>
          <p:nvSpPr>
            <p:cNvPr id="4" name="Pentagon 25"/>
            <p:cNvSpPr/>
            <p:nvPr/>
          </p:nvSpPr>
          <p:spPr>
            <a:xfrm flipH="1">
              <a:off x="4804945" y="1360397"/>
              <a:ext cx="4333069" cy="691283"/>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3555" dirty="0">
                <a:solidFill>
                  <a:srgbClr val="FFFFFF"/>
                </a:solidFill>
                <a:latin typeface="Times New Roman"/>
                <a:ea typeface="黑体"/>
                <a:cs typeface="+mn-ea"/>
                <a:sym typeface="+mn-lt"/>
              </a:endParaRPr>
            </a:p>
          </p:txBody>
        </p:sp>
        <p:sp>
          <p:nvSpPr>
            <p:cNvPr id="5" name="TextBox 26"/>
            <p:cNvSpPr txBox="1"/>
            <p:nvPr/>
          </p:nvSpPr>
          <p:spPr>
            <a:xfrm flipH="1">
              <a:off x="5059656" y="1410268"/>
              <a:ext cx="1716102" cy="558889"/>
            </a:xfrm>
            <a:prstGeom prst="rect">
              <a:avLst/>
            </a:prstGeom>
          </p:spPr>
          <p:txBody>
            <a:bodyPr wrap="square" lIns="91431" tIns="45716" rIns="91431" bIns="45716">
              <a:spAutoFit/>
            </a:bodyPr>
            <a:lstStyle>
              <a:defPPr>
                <a:defRPr lang="zh-CN"/>
              </a:defPPr>
              <a:lvl1pPr>
                <a:defRPr sz="2200" b="1">
                  <a:solidFill>
                    <a:schemeClr val="tx1">
                      <a:lumMod val="65000"/>
                      <a:lumOff val="35000"/>
                    </a:schemeClr>
                  </a:solidFill>
                  <a:latin typeface="微软雅黑" panose="020B0503020204020204" charset="-122"/>
                  <a:ea typeface="微软雅黑" panose="020B0503020204020204" charset="-122"/>
                </a:defRPr>
              </a:lvl1pPr>
            </a:lstStyle>
            <a:p>
              <a:pPr algn="ctr" eaLnBrk="0" fontAlgn="base" hangingPunct="0">
                <a:spcBef>
                  <a:spcPct val="0"/>
                </a:spcBef>
                <a:spcAft>
                  <a:spcPct val="0"/>
                </a:spcAft>
              </a:pPr>
              <a:r>
                <a:rPr lang="zh-CN" altLang="en-US" sz="2400" b="0" dirty="0">
                  <a:solidFill>
                    <a:srgbClr val="FFFFFF"/>
                  </a:solidFill>
                  <a:latin typeface="Times New Roman"/>
                  <a:ea typeface="黑体" panose="02010609060101010101" pitchFamily="49" charset="-122"/>
                </a:rPr>
                <a:t>替代</a:t>
              </a:r>
              <a:r>
                <a:rPr lang="en-US" altLang="zh-CN" sz="2400" b="0" dirty="0">
                  <a:solidFill>
                    <a:srgbClr val="FFFFFF"/>
                  </a:solidFill>
                  <a:latin typeface="Times New Roman"/>
                  <a:ea typeface="黑体" panose="02010609060101010101" pitchFamily="49" charset="-122"/>
                </a:rPr>
                <a:t>RAID</a:t>
              </a:r>
              <a:endParaRPr lang="zh-CN" altLang="en-US" sz="2400" b="0" dirty="0">
                <a:solidFill>
                  <a:srgbClr val="FFFFFF"/>
                </a:solidFill>
                <a:latin typeface="Times New Roman"/>
                <a:ea typeface="黑体" panose="02010609060101010101" pitchFamily="49" charset="-122"/>
              </a:endParaRPr>
            </a:p>
          </p:txBody>
        </p:sp>
      </p:grpSp>
      <p:grpSp>
        <p:nvGrpSpPr>
          <p:cNvPr id="14" name="组合 13"/>
          <p:cNvGrpSpPr/>
          <p:nvPr/>
        </p:nvGrpSpPr>
        <p:grpSpPr>
          <a:xfrm>
            <a:off x="6334930" y="3454760"/>
            <a:ext cx="4333070" cy="571019"/>
            <a:chOff x="4810930" y="3454759"/>
            <a:chExt cx="4333070" cy="691284"/>
          </a:xfrm>
        </p:grpSpPr>
        <p:sp>
          <p:nvSpPr>
            <p:cNvPr id="6" name="Pentagon 28"/>
            <p:cNvSpPr/>
            <p:nvPr/>
          </p:nvSpPr>
          <p:spPr>
            <a:xfrm flipH="1">
              <a:off x="4810930" y="3454759"/>
              <a:ext cx="4333070" cy="691284"/>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3555" dirty="0">
                <a:solidFill>
                  <a:srgbClr val="FFFFFF"/>
                </a:solidFill>
                <a:latin typeface="Times New Roman"/>
                <a:ea typeface="黑体"/>
                <a:cs typeface="+mn-ea"/>
                <a:sym typeface="+mn-lt"/>
              </a:endParaRPr>
            </a:p>
          </p:txBody>
        </p:sp>
        <p:sp>
          <p:nvSpPr>
            <p:cNvPr id="7" name="TextBox 29"/>
            <p:cNvSpPr txBox="1"/>
            <p:nvPr/>
          </p:nvSpPr>
          <p:spPr>
            <a:xfrm flipH="1">
              <a:off x="5026943" y="3511565"/>
              <a:ext cx="3925922" cy="558889"/>
            </a:xfrm>
            <a:prstGeom prst="rect">
              <a:avLst/>
            </a:prstGeom>
          </p:spPr>
          <p:txBody>
            <a:bodyPr wrap="square" lIns="91431" tIns="45716" rIns="91431" bIns="45716">
              <a:spAutoFit/>
            </a:bodyPr>
            <a:lstStyle>
              <a:defPPr>
                <a:defRPr lang="zh-CN"/>
              </a:defPPr>
              <a:lvl1pPr>
                <a:defRPr sz="2000" b="1">
                  <a:solidFill>
                    <a:schemeClr val="bg1">
                      <a:lumMod val="95000"/>
                    </a:schemeClr>
                  </a:solidFill>
                  <a:latin typeface="微软雅黑" panose="020B0503020204020204" charset="-122"/>
                  <a:ea typeface="微软雅黑" panose="020B0503020204020204" charset="-122"/>
                </a:defRPr>
              </a:lvl1pPr>
            </a:lstStyle>
            <a:p>
              <a:pPr algn="ctr" eaLnBrk="0" fontAlgn="base" hangingPunct="0">
                <a:spcBef>
                  <a:spcPct val="0"/>
                </a:spcBef>
                <a:spcAft>
                  <a:spcPct val="0"/>
                </a:spcAft>
              </a:pPr>
              <a:r>
                <a:rPr lang="zh-CN" altLang="en-US" sz="2400" b="0" dirty="0">
                  <a:solidFill>
                    <a:srgbClr val="FFFFFF"/>
                  </a:solidFill>
                  <a:latin typeface="黑体" panose="02010609060101010101" pitchFamily="49" charset="-122"/>
                  <a:ea typeface="黑体" panose="02010609060101010101" pitchFamily="49" charset="-122"/>
                </a:rPr>
                <a:t>各大互联网公司的存储服务</a:t>
              </a:r>
            </a:p>
          </p:txBody>
        </p:sp>
      </p:grpSp>
      <p:grpSp>
        <p:nvGrpSpPr>
          <p:cNvPr id="3" name="组合 2"/>
          <p:cNvGrpSpPr/>
          <p:nvPr/>
        </p:nvGrpSpPr>
        <p:grpSpPr>
          <a:xfrm>
            <a:off x="6334930" y="5283607"/>
            <a:ext cx="4333071" cy="571018"/>
            <a:chOff x="4810929" y="3978248"/>
            <a:chExt cx="4333071" cy="691284"/>
          </a:xfrm>
        </p:grpSpPr>
        <p:sp>
          <p:nvSpPr>
            <p:cNvPr id="8" name="Pentagon 31"/>
            <p:cNvSpPr/>
            <p:nvPr/>
          </p:nvSpPr>
          <p:spPr>
            <a:xfrm flipH="1">
              <a:off x="4810929" y="3978248"/>
              <a:ext cx="4333071" cy="691284"/>
            </a:xfrm>
            <a:prstGeom prst="homePlate">
              <a:avLst/>
            </a:prstGeom>
            <a:solidFill>
              <a:srgbClr val="F3A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3555" dirty="0">
                <a:solidFill>
                  <a:srgbClr val="FFFFFF"/>
                </a:solidFill>
                <a:latin typeface="Times New Roman"/>
                <a:ea typeface="黑体"/>
                <a:cs typeface="+mn-ea"/>
                <a:sym typeface="+mn-lt"/>
              </a:endParaRPr>
            </a:p>
          </p:txBody>
        </p:sp>
        <p:sp>
          <p:nvSpPr>
            <p:cNvPr id="10" name="TextBox 32"/>
            <p:cNvSpPr txBox="1"/>
            <p:nvPr/>
          </p:nvSpPr>
          <p:spPr>
            <a:xfrm flipH="1">
              <a:off x="5172372" y="4039194"/>
              <a:ext cx="2752340" cy="558890"/>
            </a:xfrm>
            <a:prstGeom prst="rect">
              <a:avLst/>
            </a:prstGeom>
          </p:spPr>
          <p:txBody>
            <a:bodyPr wrap="square" lIns="91431" tIns="45716" rIns="91431" bIns="45716">
              <a:spAutoFit/>
            </a:bodyPr>
            <a:lstStyle>
              <a:defPPr>
                <a:defRPr lang="zh-CN"/>
              </a:defPPr>
              <a:lvl1pPr>
                <a:defRPr sz="2000" b="1">
                  <a:solidFill>
                    <a:schemeClr val="bg1">
                      <a:lumMod val="95000"/>
                    </a:schemeClr>
                  </a:solidFill>
                  <a:latin typeface="微软雅黑" panose="020B0503020204020204" charset="-122"/>
                  <a:ea typeface="微软雅黑" panose="020B0503020204020204" charset="-122"/>
                </a:defRPr>
              </a:lvl1pPr>
            </a:lstStyle>
            <a:p>
              <a:pPr eaLnBrk="0" fontAlgn="base" hangingPunct="0">
                <a:spcBef>
                  <a:spcPct val="0"/>
                </a:spcBef>
                <a:spcAft>
                  <a:spcPct val="0"/>
                </a:spcAft>
              </a:pPr>
              <a:r>
                <a:rPr lang="zh-CN" altLang="en-US" sz="2400" b="0" dirty="0">
                  <a:solidFill>
                    <a:srgbClr val="FFFFFF"/>
                  </a:solidFill>
                  <a:latin typeface="Times New Roman"/>
                  <a:ea typeface="黑体" panose="02010609060101010101" pitchFamily="49" charset="-122"/>
                </a:rPr>
                <a:t>应用在</a:t>
              </a:r>
              <a:r>
                <a:rPr lang="en-US" altLang="zh-CN" sz="2400" b="0" dirty="0" err="1">
                  <a:solidFill>
                    <a:srgbClr val="FFFFFF"/>
                  </a:solidFill>
                  <a:latin typeface="Times New Roman"/>
                  <a:ea typeface="黑体" panose="02010609060101010101" pitchFamily="49" charset="-122"/>
                </a:rPr>
                <a:t>AWCloud</a:t>
              </a:r>
              <a:r>
                <a:rPr lang="zh-CN" altLang="en-US" sz="2400" b="0" dirty="0">
                  <a:solidFill>
                    <a:srgbClr val="FFFFFF"/>
                  </a:solidFill>
                  <a:latin typeface="Times New Roman"/>
                  <a:ea typeface="黑体" panose="02010609060101010101" pitchFamily="49" charset="-122"/>
                </a:rPr>
                <a:t>中</a:t>
              </a:r>
            </a:p>
          </p:txBody>
        </p:sp>
      </p:grpSp>
      <p:sp>
        <p:nvSpPr>
          <p:cNvPr id="13" name="文本框 12"/>
          <p:cNvSpPr txBox="1"/>
          <p:nvPr/>
        </p:nvSpPr>
        <p:spPr>
          <a:xfrm>
            <a:off x="1948921" y="1519852"/>
            <a:ext cx="8294158" cy="222041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en-US" altLang="zh-CN" dirty="0">
                <a:solidFill>
                  <a:srgbClr val="000000"/>
                </a:solidFill>
                <a:latin typeface="Times New Roman"/>
              </a:rPr>
              <a:t>         RAID</a:t>
            </a:r>
            <a:r>
              <a:rPr lang="zh-CN" altLang="en-US" dirty="0">
                <a:solidFill>
                  <a:srgbClr val="000000"/>
                </a:solidFill>
                <a:latin typeface="Times New Roman"/>
              </a:rPr>
              <a:t>的目的是在硬盘驱动器</a:t>
            </a:r>
            <a:r>
              <a:rPr lang="en-US" altLang="zh-CN" dirty="0">
                <a:solidFill>
                  <a:srgbClr val="000000"/>
                </a:solidFill>
                <a:latin typeface="Times New Roman"/>
              </a:rPr>
              <a:t>(HDD)</a:t>
            </a:r>
            <a:r>
              <a:rPr lang="zh-CN" altLang="en-US" dirty="0">
                <a:solidFill>
                  <a:srgbClr val="000000"/>
                </a:solidFill>
                <a:latin typeface="Times New Roman"/>
              </a:rPr>
              <a:t>失效时保护数据，它里面的数据可通过奇偶校验或镜像副本重新创建，但电子机械式硬盘发生故障的几率很高。</a:t>
            </a:r>
            <a:r>
              <a:rPr lang="en-US" altLang="zh-CN" dirty="0">
                <a:solidFill>
                  <a:srgbClr val="000000"/>
                </a:solidFill>
                <a:latin typeface="Times New Roman"/>
              </a:rPr>
              <a:t>Erasure code </a:t>
            </a:r>
            <a:r>
              <a:rPr lang="zh-CN" altLang="en-US" dirty="0">
                <a:solidFill>
                  <a:srgbClr val="000000"/>
                </a:solidFill>
                <a:latin typeface="Times New Roman"/>
              </a:rPr>
              <a:t>存储消除了所有</a:t>
            </a:r>
            <a:r>
              <a:rPr lang="en-US" altLang="zh-CN" dirty="0">
                <a:solidFill>
                  <a:srgbClr val="000000"/>
                </a:solidFill>
                <a:latin typeface="Times New Roman"/>
              </a:rPr>
              <a:t>RAID</a:t>
            </a:r>
            <a:r>
              <a:rPr lang="zh-CN" altLang="en-US" dirty="0">
                <a:solidFill>
                  <a:srgbClr val="000000"/>
                </a:solidFill>
                <a:latin typeface="Times New Roman"/>
              </a:rPr>
              <a:t>问题。</a:t>
            </a:r>
            <a:r>
              <a:rPr lang="en-US" altLang="zh-CN" dirty="0">
                <a:solidFill>
                  <a:srgbClr val="000000"/>
                </a:solidFill>
                <a:latin typeface="Times New Roman"/>
              </a:rPr>
              <a:t>2009</a:t>
            </a:r>
            <a:r>
              <a:rPr lang="zh-CN" altLang="en-US" dirty="0">
                <a:solidFill>
                  <a:srgbClr val="000000"/>
                </a:solidFill>
                <a:latin typeface="Times New Roman"/>
              </a:rPr>
              <a:t>年</a:t>
            </a:r>
            <a:r>
              <a:rPr lang="en-US" altLang="zh-CN" dirty="0">
                <a:solidFill>
                  <a:srgbClr val="000000"/>
                </a:solidFill>
                <a:latin typeface="Times New Roman"/>
              </a:rPr>
              <a:t>Google</a:t>
            </a:r>
            <a:r>
              <a:rPr lang="zh-CN" altLang="en-US" dirty="0">
                <a:solidFill>
                  <a:srgbClr val="000000"/>
                </a:solidFill>
                <a:latin typeface="Times New Roman"/>
              </a:rPr>
              <a:t>在第二代</a:t>
            </a:r>
            <a:r>
              <a:rPr lang="en-US" altLang="zh-CN" dirty="0">
                <a:solidFill>
                  <a:srgbClr val="000000"/>
                </a:solidFill>
                <a:latin typeface="Times New Roman"/>
              </a:rPr>
              <a:t>GFS</a:t>
            </a:r>
            <a:r>
              <a:rPr lang="zh-CN" altLang="en-US" dirty="0">
                <a:solidFill>
                  <a:srgbClr val="000000"/>
                </a:solidFill>
                <a:latin typeface="Times New Roman"/>
              </a:rPr>
              <a:t>中使用了</a:t>
            </a:r>
            <a:r>
              <a:rPr lang="en-US" altLang="zh-CN" dirty="0">
                <a:solidFill>
                  <a:srgbClr val="000000"/>
                </a:solidFill>
                <a:latin typeface="Times New Roman"/>
              </a:rPr>
              <a:t>RS(6,3)</a:t>
            </a:r>
            <a:r>
              <a:rPr lang="zh-CN" altLang="en-US" dirty="0">
                <a:solidFill>
                  <a:srgbClr val="000000"/>
                </a:solidFill>
                <a:latin typeface="Times New Roman"/>
              </a:rPr>
              <a:t>编码，</a:t>
            </a:r>
            <a:r>
              <a:rPr lang="en-US" altLang="zh-CN" dirty="0">
                <a:solidFill>
                  <a:srgbClr val="000000"/>
                </a:solidFill>
                <a:latin typeface="Times New Roman"/>
              </a:rPr>
              <a:t>Facebook</a:t>
            </a:r>
            <a:r>
              <a:rPr lang="zh-CN" altLang="en-US" dirty="0">
                <a:solidFill>
                  <a:srgbClr val="000000"/>
                </a:solidFill>
                <a:latin typeface="Times New Roman"/>
              </a:rPr>
              <a:t>早期也在</a:t>
            </a:r>
            <a:r>
              <a:rPr lang="en-US" altLang="zh-CN" dirty="0">
                <a:solidFill>
                  <a:srgbClr val="000000"/>
                </a:solidFill>
                <a:latin typeface="Times New Roman"/>
              </a:rPr>
              <a:t>HDFS</a:t>
            </a:r>
            <a:r>
              <a:rPr lang="zh-CN" altLang="en-US" dirty="0">
                <a:solidFill>
                  <a:srgbClr val="000000"/>
                </a:solidFill>
                <a:latin typeface="Times New Roman"/>
              </a:rPr>
              <a:t>中使用了</a:t>
            </a:r>
            <a:r>
              <a:rPr lang="en-US" altLang="zh-CN" dirty="0">
                <a:solidFill>
                  <a:srgbClr val="000000"/>
                </a:solidFill>
                <a:latin typeface="Times New Roman"/>
              </a:rPr>
              <a:t>RS(10,4)</a:t>
            </a:r>
            <a:r>
              <a:rPr lang="zh-CN" altLang="en-US" dirty="0">
                <a:solidFill>
                  <a:srgbClr val="000000"/>
                </a:solidFill>
                <a:latin typeface="Times New Roman"/>
              </a:rPr>
              <a:t>编码。</a:t>
            </a:r>
            <a:endParaRPr lang="en-US" altLang="zh-CN" dirty="0">
              <a:solidFill>
                <a:srgbClr val="000000"/>
              </a:solidFill>
              <a:latin typeface="Times New Roman"/>
              <a:sym typeface="+mn-ea"/>
            </a:endParaRPr>
          </a:p>
        </p:txBody>
      </p:sp>
      <p:sp>
        <p:nvSpPr>
          <p:cNvPr id="16" name="文本框 15"/>
          <p:cNvSpPr txBox="1"/>
          <p:nvPr/>
        </p:nvSpPr>
        <p:spPr>
          <a:xfrm>
            <a:off x="2147489" y="3985568"/>
            <a:ext cx="8294158" cy="134838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000000"/>
                </a:solidFill>
                <a:latin typeface="Times New Roman"/>
              </a:rPr>
              <a:t>       例如</a:t>
            </a:r>
            <a:r>
              <a:rPr lang="en-US" altLang="zh-CN" dirty="0">
                <a:solidFill>
                  <a:srgbClr val="000000"/>
                </a:solidFill>
                <a:latin typeface="Times New Roman"/>
              </a:rPr>
              <a:t>Google</a:t>
            </a:r>
            <a:r>
              <a:rPr lang="zh-CN" altLang="en-US" dirty="0">
                <a:solidFill>
                  <a:srgbClr val="000000"/>
                </a:solidFill>
                <a:latin typeface="Times New Roman"/>
              </a:rPr>
              <a:t>在</a:t>
            </a:r>
            <a:r>
              <a:rPr lang="en-US" altLang="zh-CN" dirty="0">
                <a:solidFill>
                  <a:srgbClr val="000000"/>
                </a:solidFill>
                <a:latin typeface="Times New Roman"/>
              </a:rPr>
              <a:t>GFS</a:t>
            </a:r>
            <a:r>
              <a:rPr lang="zh-CN" altLang="en-US" dirty="0">
                <a:solidFill>
                  <a:srgbClr val="000000"/>
                </a:solidFill>
                <a:latin typeface="Times New Roman"/>
              </a:rPr>
              <a:t>中使用了</a:t>
            </a:r>
            <a:r>
              <a:rPr lang="en-US" altLang="zh-CN" dirty="0">
                <a:solidFill>
                  <a:srgbClr val="000000"/>
                </a:solidFill>
                <a:latin typeface="Times New Roman"/>
              </a:rPr>
              <a:t>RS(6,3)</a:t>
            </a:r>
            <a:r>
              <a:rPr lang="zh-CN" altLang="en-US" dirty="0">
                <a:solidFill>
                  <a:srgbClr val="000000"/>
                </a:solidFill>
                <a:latin typeface="Times New Roman"/>
              </a:rPr>
              <a:t>编码，</a:t>
            </a:r>
            <a:r>
              <a:rPr lang="en-US" altLang="zh-CN" dirty="0">
                <a:solidFill>
                  <a:srgbClr val="000000"/>
                </a:solidFill>
                <a:latin typeface="Times New Roman"/>
              </a:rPr>
              <a:t>Facebook</a:t>
            </a:r>
            <a:r>
              <a:rPr lang="zh-CN" altLang="en-US" dirty="0">
                <a:solidFill>
                  <a:srgbClr val="000000"/>
                </a:solidFill>
                <a:latin typeface="Times New Roman"/>
              </a:rPr>
              <a:t>在</a:t>
            </a:r>
            <a:r>
              <a:rPr lang="en-US" altLang="zh-CN" dirty="0">
                <a:solidFill>
                  <a:srgbClr val="000000"/>
                </a:solidFill>
                <a:latin typeface="Times New Roman"/>
              </a:rPr>
              <a:t>HDFS</a:t>
            </a:r>
            <a:r>
              <a:rPr lang="zh-CN" altLang="en-US" dirty="0">
                <a:solidFill>
                  <a:srgbClr val="000000"/>
                </a:solidFill>
                <a:latin typeface="Times New Roman"/>
              </a:rPr>
              <a:t>中使用了</a:t>
            </a:r>
            <a:r>
              <a:rPr lang="en-US" altLang="zh-CN" dirty="0">
                <a:solidFill>
                  <a:srgbClr val="000000"/>
                </a:solidFill>
                <a:latin typeface="Times New Roman"/>
              </a:rPr>
              <a:t>RS(10,4)</a:t>
            </a:r>
            <a:r>
              <a:rPr lang="zh-CN" altLang="en-US" dirty="0">
                <a:solidFill>
                  <a:srgbClr val="000000"/>
                </a:solidFill>
                <a:latin typeface="Times New Roman"/>
              </a:rPr>
              <a:t>编码，</a:t>
            </a:r>
            <a:r>
              <a:rPr lang="en-US" altLang="zh-CN" dirty="0">
                <a:solidFill>
                  <a:srgbClr val="000000"/>
                </a:solidFill>
                <a:latin typeface="Times New Roman"/>
              </a:rPr>
              <a:t>Microsoft</a:t>
            </a:r>
            <a:r>
              <a:rPr lang="zh-CN" altLang="en-US" dirty="0">
                <a:solidFill>
                  <a:srgbClr val="000000"/>
                </a:solidFill>
                <a:latin typeface="Times New Roman"/>
              </a:rPr>
              <a:t>在</a:t>
            </a:r>
            <a:r>
              <a:rPr lang="en-US" altLang="zh-CN" dirty="0">
                <a:solidFill>
                  <a:srgbClr val="000000"/>
                </a:solidFill>
                <a:latin typeface="Times New Roman"/>
              </a:rPr>
              <a:t>Azure</a:t>
            </a:r>
            <a:r>
              <a:rPr lang="zh-CN" altLang="en-US" dirty="0">
                <a:solidFill>
                  <a:srgbClr val="000000"/>
                </a:solidFill>
                <a:latin typeface="Times New Roman"/>
              </a:rPr>
              <a:t>中使用了</a:t>
            </a:r>
            <a:r>
              <a:rPr lang="en-US" altLang="zh-CN" dirty="0">
                <a:solidFill>
                  <a:srgbClr val="000000"/>
                </a:solidFill>
                <a:latin typeface="Times New Roman"/>
              </a:rPr>
              <a:t>LRC(12,2,2)</a:t>
            </a:r>
            <a:r>
              <a:rPr lang="zh-CN" altLang="en-US" dirty="0">
                <a:solidFill>
                  <a:srgbClr val="000000"/>
                </a:solidFill>
                <a:latin typeface="Times New Roman"/>
              </a:rPr>
              <a:t>编码，阿里云在盘古中使用了</a:t>
            </a:r>
            <a:r>
              <a:rPr lang="en-US" altLang="zh-CN" dirty="0">
                <a:solidFill>
                  <a:srgbClr val="000000"/>
                </a:solidFill>
                <a:latin typeface="Times New Roman"/>
              </a:rPr>
              <a:t>RS(8,3)</a:t>
            </a:r>
            <a:r>
              <a:rPr lang="zh-CN" altLang="en-US" dirty="0">
                <a:solidFill>
                  <a:srgbClr val="000000"/>
                </a:solidFill>
                <a:latin typeface="Times New Roman"/>
              </a:rPr>
              <a:t>编码。</a:t>
            </a:r>
            <a:endParaRPr lang="en-US" altLang="zh-CN" dirty="0">
              <a:solidFill>
                <a:srgbClr val="000000"/>
              </a:solidFill>
              <a:latin typeface="Times New Roman"/>
              <a:sym typeface="+mn-ea"/>
            </a:endParaRPr>
          </a:p>
        </p:txBody>
      </p:sp>
      <p:sp>
        <p:nvSpPr>
          <p:cNvPr id="17" name="文本框 16"/>
          <p:cNvSpPr txBox="1"/>
          <p:nvPr/>
        </p:nvSpPr>
        <p:spPr>
          <a:xfrm>
            <a:off x="2134096" y="5940248"/>
            <a:ext cx="8294158" cy="47942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400"/>
              </a:lnSpc>
              <a:spcBef>
                <a:spcPct val="0"/>
              </a:spcBef>
              <a:spcAft>
                <a:spcPct val="0"/>
              </a:spcAft>
            </a:pPr>
            <a:r>
              <a:rPr lang="zh-CN" altLang="en-US" dirty="0">
                <a:solidFill>
                  <a:srgbClr val="000000"/>
                </a:solidFill>
                <a:latin typeface="Times New Roman"/>
              </a:rPr>
              <a:t>       </a:t>
            </a:r>
            <a:r>
              <a:rPr lang="en-US" altLang="zh-CN" dirty="0" err="1">
                <a:solidFill>
                  <a:srgbClr val="000000"/>
                </a:solidFill>
                <a:latin typeface="Times New Roman"/>
              </a:rPr>
              <a:t>AWCloud</a:t>
            </a:r>
            <a:r>
              <a:rPr lang="zh-CN" altLang="en-US" dirty="0">
                <a:solidFill>
                  <a:srgbClr val="000000"/>
                </a:solidFill>
                <a:latin typeface="Times New Roman"/>
              </a:rPr>
              <a:t>中利用</a:t>
            </a:r>
            <a:r>
              <a:rPr lang="en-US" altLang="zh-CN" dirty="0">
                <a:solidFill>
                  <a:srgbClr val="000000"/>
                </a:solidFill>
                <a:latin typeface="Times New Roman"/>
              </a:rPr>
              <a:t>FPGA</a:t>
            </a:r>
            <a:r>
              <a:rPr lang="zh-CN" altLang="en-US" dirty="0">
                <a:solidFill>
                  <a:srgbClr val="000000"/>
                </a:solidFill>
                <a:latin typeface="Times New Roman"/>
              </a:rPr>
              <a:t>技术提高了纠删码的性能。</a:t>
            </a:r>
            <a:endParaRPr lang="en-US" altLang="zh-CN" dirty="0">
              <a:solidFill>
                <a:srgbClr val="000000"/>
              </a:solidFill>
              <a:latin typeface="Times New Roman"/>
              <a:sym typeface="+mn-ea"/>
            </a:endParaRPr>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什么适合使用纠删码</a:t>
            </a:r>
          </a:p>
        </p:txBody>
      </p:sp>
      <p:sp>
        <p:nvSpPr>
          <p:cNvPr id="9" name="文本框 8"/>
          <p:cNvSpPr txBox="1"/>
          <p:nvPr/>
        </p:nvSpPr>
        <p:spPr>
          <a:xfrm>
            <a:off x="1848222" y="1524050"/>
            <a:ext cx="8495557" cy="414472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marL="285750" indent="-285750" algn="l" eaLnBrk="0" fontAlgn="base" hangingPunct="0">
              <a:lnSpc>
                <a:spcPts val="3200"/>
              </a:lnSpc>
              <a:spcBef>
                <a:spcPct val="0"/>
              </a:spcBef>
              <a:spcAft>
                <a:spcPct val="0"/>
              </a:spcAft>
              <a:buFont typeface="Wingdings" panose="05000000000000000000" pitchFamily="2" charset="2"/>
              <a:buChar char="l"/>
            </a:pPr>
            <a:r>
              <a:rPr lang="en-US" altLang="zh-CN" sz="1800" dirty="0">
                <a:solidFill>
                  <a:srgbClr val="000000"/>
                </a:solidFill>
                <a:latin typeface="Times New Roman"/>
              </a:rPr>
              <a:t>        </a:t>
            </a:r>
            <a:r>
              <a:rPr lang="zh-CN" altLang="en-US" sz="1800" dirty="0">
                <a:solidFill>
                  <a:srgbClr val="000000"/>
                </a:solidFill>
                <a:latin typeface="Times New Roman"/>
              </a:rPr>
              <a:t>从数据类型的角度而言，</a:t>
            </a:r>
            <a:r>
              <a:rPr lang="zh-CN" altLang="en-US" sz="1800" dirty="0">
                <a:solidFill>
                  <a:srgbClr val="FF0000"/>
                </a:solidFill>
                <a:latin typeface="Times New Roman"/>
              </a:rPr>
              <a:t>归档数据适合使用纠删码</a:t>
            </a:r>
            <a:r>
              <a:rPr lang="zh-CN" altLang="en-US" sz="1800" dirty="0">
                <a:solidFill>
                  <a:srgbClr val="000000"/>
                </a:solidFill>
                <a:latin typeface="Times New Roman"/>
              </a:rPr>
              <a:t>。首先，归档数据需要保存相当长的一段时间，一份、两份或多份数据出现问题的可能性会急剧上升；其次，归档数据的写入操作很少，使得纠删码可以很轻易的恢复数据，并且纠删码的额外开销很少，如果没有故障发生，纠删码对读取操作通常不会有任何影响。</a:t>
            </a:r>
            <a:endParaRPr lang="en-US" altLang="zh-CN" sz="1800" dirty="0">
              <a:solidFill>
                <a:srgbClr val="000000"/>
              </a:solidFill>
              <a:latin typeface="Times New Roman"/>
            </a:endParaRPr>
          </a:p>
          <a:p>
            <a:pPr marL="285750" indent="-285750" algn="l" eaLnBrk="0" fontAlgn="base" hangingPunct="0">
              <a:lnSpc>
                <a:spcPts val="3200"/>
              </a:lnSpc>
              <a:spcBef>
                <a:spcPct val="0"/>
              </a:spcBef>
              <a:spcAft>
                <a:spcPct val="0"/>
              </a:spcAft>
              <a:buFont typeface="Wingdings" panose="05000000000000000000" pitchFamily="2" charset="2"/>
              <a:buChar char="l"/>
            </a:pPr>
            <a:r>
              <a:rPr lang="en-US" altLang="zh-CN" sz="1800" dirty="0">
                <a:solidFill>
                  <a:srgbClr val="000000"/>
                </a:solidFill>
                <a:latin typeface="Times New Roman"/>
              </a:rPr>
              <a:t>        </a:t>
            </a:r>
            <a:r>
              <a:rPr lang="zh-CN" altLang="en-US" sz="1800" dirty="0">
                <a:solidFill>
                  <a:srgbClr val="000000"/>
                </a:solidFill>
                <a:latin typeface="Times New Roman"/>
              </a:rPr>
              <a:t>从应用的角度来看，对于读写都很繁忙的应用，使用纠删码并不是一个很好的选择。但对于</a:t>
            </a:r>
            <a:r>
              <a:rPr lang="zh-CN" altLang="en-US" sz="1800" dirty="0">
                <a:solidFill>
                  <a:srgbClr val="FF0000"/>
                </a:solidFill>
                <a:latin typeface="Times New Roman"/>
              </a:rPr>
              <a:t>只有大量读取的应用</a:t>
            </a:r>
            <a:r>
              <a:rPr lang="zh-CN" altLang="en-US" sz="1800" dirty="0">
                <a:solidFill>
                  <a:srgbClr val="000000"/>
                </a:solidFill>
                <a:latin typeface="Times New Roman"/>
              </a:rPr>
              <a:t>，纠删码可以提供强大的可靠性，并且在恢复数据的时候只产生很小的额外开销，因为纠删码的额外开销主要来自写操作。</a:t>
            </a:r>
            <a:endParaRPr lang="en-US" altLang="zh-CN" sz="1800" dirty="0">
              <a:solidFill>
                <a:srgbClr val="000000"/>
              </a:solidFill>
              <a:latin typeface="Times New Roman"/>
            </a:endParaRPr>
          </a:p>
          <a:p>
            <a:pPr algn="r" eaLnBrk="0" fontAlgn="base" hangingPunct="0">
              <a:lnSpc>
                <a:spcPts val="3200"/>
              </a:lnSpc>
              <a:spcBef>
                <a:spcPct val="0"/>
              </a:spcBef>
              <a:spcAft>
                <a:spcPct val="0"/>
              </a:spcAft>
            </a:pPr>
            <a:endParaRPr lang="en-US" altLang="zh-CN" sz="1800" dirty="0">
              <a:solidFill>
                <a:srgbClr val="000000"/>
              </a:solidFill>
              <a:latin typeface="Times New Roman"/>
            </a:endParaRPr>
          </a:p>
          <a:p>
            <a:pPr algn="r" eaLnBrk="0" fontAlgn="base" hangingPunct="0">
              <a:lnSpc>
                <a:spcPts val="3200"/>
              </a:lnSpc>
              <a:spcBef>
                <a:spcPct val="0"/>
              </a:spcBef>
              <a:spcAft>
                <a:spcPct val="0"/>
              </a:spcAft>
            </a:pPr>
            <a:endParaRPr lang="en-US" altLang="zh-CN" sz="1800" dirty="0">
              <a:solidFill>
                <a:srgbClr val="000000"/>
              </a:solidFill>
              <a:latin typeface="Times New Roman"/>
            </a:endParaRPr>
          </a:p>
          <a:p>
            <a:pPr algn="r" eaLnBrk="0" fontAlgn="base" hangingPunct="0">
              <a:lnSpc>
                <a:spcPts val="3200"/>
              </a:lnSpc>
              <a:spcBef>
                <a:spcPct val="0"/>
              </a:spcBef>
              <a:spcAft>
                <a:spcPct val="0"/>
              </a:spcAft>
            </a:pPr>
            <a:r>
              <a:rPr lang="en-US" altLang="zh-CN" sz="1800" dirty="0">
                <a:solidFill>
                  <a:srgbClr val="000000"/>
                </a:solidFill>
                <a:latin typeface="Times New Roman"/>
              </a:rPr>
              <a:t>——</a:t>
            </a:r>
            <a:r>
              <a:rPr lang="zh-CN" altLang="en-US" sz="1800" dirty="0">
                <a:solidFill>
                  <a:srgbClr val="000000"/>
                </a:solidFill>
                <a:latin typeface="Times New Roman"/>
              </a:rPr>
              <a:t>来自</a:t>
            </a:r>
            <a:r>
              <a:rPr lang="en-US" altLang="zh-CN" sz="1800" dirty="0">
                <a:solidFill>
                  <a:srgbClr val="000000"/>
                </a:solidFill>
                <a:latin typeface="Times New Roman"/>
              </a:rPr>
              <a:t>TechTarget</a:t>
            </a:r>
            <a:r>
              <a:rPr lang="zh-CN" altLang="en-US" sz="1800" dirty="0">
                <a:solidFill>
                  <a:srgbClr val="000000"/>
                </a:solidFill>
                <a:latin typeface="Times New Roman"/>
              </a:rPr>
              <a:t>中国原创内容中</a:t>
            </a:r>
            <a:r>
              <a:rPr lang="en-US" altLang="zh-CN" sz="1800" dirty="0">
                <a:solidFill>
                  <a:srgbClr val="000000"/>
                </a:solidFill>
                <a:latin typeface="Times New Roman"/>
              </a:rPr>
              <a:t>Miller</a:t>
            </a:r>
            <a:r>
              <a:rPr lang="zh-CN" altLang="en-US" sz="1800" dirty="0">
                <a:solidFill>
                  <a:srgbClr val="000000"/>
                </a:solidFill>
                <a:latin typeface="Times New Roman"/>
              </a:rPr>
              <a:t>的回答</a:t>
            </a:r>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如何评判不同产品的纠删码</a:t>
            </a:r>
          </a:p>
        </p:txBody>
      </p:sp>
      <p:sp>
        <p:nvSpPr>
          <p:cNvPr id="9" name="文本框 8"/>
          <p:cNvSpPr txBox="1"/>
          <p:nvPr/>
        </p:nvSpPr>
        <p:spPr>
          <a:xfrm>
            <a:off x="1826949" y="1219258"/>
            <a:ext cx="8538102" cy="483081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marL="285750" indent="-285750" eaLnBrk="0" fontAlgn="base" hangingPunct="0">
              <a:lnSpc>
                <a:spcPts val="3400"/>
              </a:lnSpc>
              <a:spcBef>
                <a:spcPct val="0"/>
              </a:spcBef>
              <a:spcAft>
                <a:spcPct val="0"/>
              </a:spcAft>
              <a:buFont typeface="Wingdings" panose="05000000000000000000" pitchFamily="2" charset="2"/>
              <a:buChar char="l"/>
            </a:pPr>
            <a:r>
              <a:rPr lang="zh-CN" altLang="en-US" sz="1800" dirty="0">
                <a:solidFill>
                  <a:srgbClr val="000000"/>
                </a:solidFill>
                <a:latin typeface="Times New Roman"/>
              </a:rPr>
              <a:t>        评判纠删码的</a:t>
            </a:r>
            <a:r>
              <a:rPr lang="zh-CN" altLang="en-US" sz="1800" dirty="0">
                <a:solidFill>
                  <a:srgbClr val="FF0000"/>
                </a:solidFill>
                <a:latin typeface="Times New Roman"/>
              </a:rPr>
              <a:t>第一条标准是性能</a:t>
            </a:r>
            <a:r>
              <a:rPr lang="zh-CN" altLang="en-US" sz="1800" dirty="0">
                <a:solidFill>
                  <a:srgbClr val="000000"/>
                </a:solidFill>
                <a:latin typeface="Times New Roman"/>
              </a:rPr>
              <a:t>：即部署了一种纠删码后写入速度有多快，进行数据恢复时的读取速度有多快。 </a:t>
            </a:r>
            <a:endParaRPr lang="en-US" altLang="zh-CN" sz="1800" dirty="0">
              <a:solidFill>
                <a:srgbClr val="000000"/>
              </a:solidFill>
              <a:latin typeface="Times New Roman"/>
            </a:endParaRPr>
          </a:p>
          <a:p>
            <a:pPr marL="285750" indent="-285750" eaLnBrk="0" fontAlgn="base" hangingPunct="0">
              <a:lnSpc>
                <a:spcPts val="3400"/>
              </a:lnSpc>
              <a:spcBef>
                <a:spcPct val="0"/>
              </a:spcBef>
              <a:spcAft>
                <a:spcPct val="0"/>
              </a:spcAft>
              <a:buFont typeface="Wingdings" panose="05000000000000000000" pitchFamily="2" charset="2"/>
              <a:buChar char="l"/>
            </a:pPr>
            <a:r>
              <a:rPr lang="zh-CN" altLang="en-US" sz="1800" dirty="0">
                <a:solidFill>
                  <a:srgbClr val="000000"/>
                </a:solidFill>
                <a:latin typeface="Times New Roman"/>
              </a:rPr>
              <a:t>        另一个标准是</a:t>
            </a:r>
            <a:r>
              <a:rPr lang="zh-CN" altLang="en-US" sz="1800" dirty="0">
                <a:solidFill>
                  <a:srgbClr val="FF0000"/>
                </a:solidFill>
                <a:latin typeface="Times New Roman"/>
              </a:rPr>
              <a:t>纠删码如何将数据单元分割</a:t>
            </a:r>
            <a:r>
              <a:rPr lang="zh-CN" altLang="en-US" sz="1800" dirty="0">
                <a:solidFill>
                  <a:srgbClr val="000000"/>
                </a:solidFill>
                <a:latin typeface="Times New Roman"/>
              </a:rPr>
              <a:t>：可以是整盘的分割，可以是卷级的分割，也可以是部分盘或部分卷的分割等等。</a:t>
            </a:r>
            <a:r>
              <a:rPr lang="zh-CN" altLang="en-US" sz="1800" dirty="0">
                <a:solidFill>
                  <a:srgbClr val="FF0000"/>
                </a:solidFill>
                <a:latin typeface="Times New Roman"/>
              </a:rPr>
              <a:t>分割时还会遇到的一个问题是纠删码单元的数量有多少</a:t>
            </a:r>
            <a:r>
              <a:rPr lang="zh-CN" altLang="en-US" sz="1800" dirty="0">
                <a:solidFill>
                  <a:srgbClr val="000000"/>
                </a:solidFill>
                <a:latin typeface="Times New Roman"/>
              </a:rPr>
              <a:t>，有</a:t>
            </a:r>
            <a:r>
              <a:rPr lang="en-US" altLang="zh-CN" sz="1800" dirty="0">
                <a:solidFill>
                  <a:srgbClr val="000000"/>
                </a:solidFill>
                <a:latin typeface="Times New Roman"/>
              </a:rPr>
              <a:t>10</a:t>
            </a:r>
            <a:r>
              <a:rPr lang="zh-CN" altLang="en-US" sz="1800" dirty="0">
                <a:solidFill>
                  <a:srgbClr val="000000"/>
                </a:solidFill>
                <a:latin typeface="Times New Roman"/>
              </a:rPr>
              <a:t>个数据单元和</a:t>
            </a:r>
            <a:r>
              <a:rPr lang="en-US" altLang="zh-CN" sz="1800" dirty="0">
                <a:solidFill>
                  <a:srgbClr val="000000"/>
                </a:solidFill>
                <a:latin typeface="Times New Roman"/>
              </a:rPr>
              <a:t>5</a:t>
            </a:r>
            <a:r>
              <a:rPr lang="zh-CN" altLang="en-US" sz="1800" dirty="0">
                <a:solidFill>
                  <a:srgbClr val="000000"/>
                </a:solidFill>
                <a:latin typeface="Times New Roman"/>
              </a:rPr>
              <a:t>个纠删码单元组成的纠删码系统，也有</a:t>
            </a:r>
            <a:r>
              <a:rPr lang="en-US" altLang="zh-CN" sz="1800" dirty="0">
                <a:solidFill>
                  <a:srgbClr val="000000"/>
                </a:solidFill>
                <a:latin typeface="Times New Roman"/>
              </a:rPr>
              <a:t>12</a:t>
            </a:r>
            <a:r>
              <a:rPr lang="zh-CN" altLang="en-US" sz="1800" dirty="0">
                <a:solidFill>
                  <a:srgbClr val="000000"/>
                </a:solidFill>
                <a:latin typeface="Times New Roman"/>
              </a:rPr>
              <a:t>个数据单元和</a:t>
            </a:r>
            <a:r>
              <a:rPr lang="en-US" altLang="zh-CN" sz="1800" dirty="0">
                <a:solidFill>
                  <a:srgbClr val="000000"/>
                </a:solidFill>
                <a:latin typeface="Times New Roman"/>
              </a:rPr>
              <a:t>4</a:t>
            </a:r>
            <a:r>
              <a:rPr lang="zh-CN" altLang="en-US" sz="1800" dirty="0">
                <a:solidFill>
                  <a:srgbClr val="000000"/>
                </a:solidFill>
                <a:latin typeface="Times New Roman"/>
              </a:rPr>
              <a:t>个纠删码单元组成的纠删码系统。但大部分纠删码产品都能配置数据单元和纠删码单元的个数。 </a:t>
            </a:r>
            <a:endParaRPr lang="en-US" altLang="zh-CN" sz="1800" dirty="0">
              <a:solidFill>
                <a:srgbClr val="000000"/>
              </a:solidFill>
              <a:latin typeface="Times New Roman"/>
            </a:endParaRPr>
          </a:p>
          <a:p>
            <a:pPr marL="342900" indent="-342900" eaLnBrk="0" fontAlgn="base" hangingPunct="0">
              <a:lnSpc>
                <a:spcPts val="3400"/>
              </a:lnSpc>
              <a:spcBef>
                <a:spcPct val="0"/>
              </a:spcBef>
              <a:spcAft>
                <a:spcPct val="0"/>
              </a:spcAft>
              <a:buFont typeface="Wingdings" panose="05000000000000000000" pitchFamily="2" charset="2"/>
              <a:buChar char="l"/>
            </a:pPr>
            <a:r>
              <a:rPr lang="zh-CN" altLang="en-US" sz="1800" dirty="0">
                <a:solidFill>
                  <a:srgbClr val="000000"/>
                </a:solidFill>
                <a:latin typeface="Times New Roman"/>
              </a:rPr>
              <a:t>       最后需要考虑的是</a:t>
            </a:r>
            <a:r>
              <a:rPr lang="zh-CN" altLang="en-US" sz="1800" dirty="0">
                <a:solidFill>
                  <a:srgbClr val="FF0000"/>
                </a:solidFill>
                <a:latin typeface="Times New Roman"/>
              </a:rPr>
              <a:t>某些纠删码类型会带来一些问题</a:t>
            </a:r>
            <a:r>
              <a:rPr lang="zh-CN" altLang="en-US" sz="1800" dirty="0">
                <a:solidFill>
                  <a:srgbClr val="000000"/>
                </a:solidFill>
                <a:latin typeface="Times New Roman"/>
              </a:rPr>
              <a:t>：比如在部署之前需要了解每个厂商的纠删码是如何工作的，它们能在什么样的场景恢复数据故障。</a:t>
            </a:r>
            <a:endParaRPr lang="en-US" altLang="zh-CN" sz="1800" dirty="0">
              <a:solidFill>
                <a:srgbClr val="000000"/>
              </a:solidFill>
              <a:latin typeface="Times New Roman"/>
            </a:endParaRPr>
          </a:p>
          <a:p>
            <a:pPr algn="r" eaLnBrk="0" fontAlgn="base" hangingPunct="0">
              <a:lnSpc>
                <a:spcPts val="3400"/>
              </a:lnSpc>
              <a:spcBef>
                <a:spcPct val="0"/>
              </a:spcBef>
              <a:spcAft>
                <a:spcPct val="0"/>
              </a:spcAft>
            </a:pPr>
            <a:endParaRPr lang="en-US" altLang="zh-CN" sz="1800" dirty="0">
              <a:solidFill>
                <a:srgbClr val="000000"/>
              </a:solidFill>
              <a:latin typeface="Times New Roman"/>
            </a:endParaRPr>
          </a:p>
          <a:p>
            <a:pPr algn="r" eaLnBrk="0" fontAlgn="base" hangingPunct="0">
              <a:lnSpc>
                <a:spcPts val="3400"/>
              </a:lnSpc>
              <a:spcBef>
                <a:spcPct val="0"/>
              </a:spcBef>
              <a:spcAft>
                <a:spcPct val="0"/>
              </a:spcAft>
            </a:pPr>
            <a:r>
              <a:rPr lang="en-US" altLang="zh-CN" sz="1800" dirty="0">
                <a:solidFill>
                  <a:srgbClr val="000000"/>
                </a:solidFill>
                <a:latin typeface="Times New Roman"/>
              </a:rPr>
              <a:t>——</a:t>
            </a:r>
            <a:r>
              <a:rPr lang="zh-CN" altLang="en-US" sz="1800" dirty="0">
                <a:solidFill>
                  <a:srgbClr val="000000"/>
                </a:solidFill>
                <a:latin typeface="Times New Roman"/>
              </a:rPr>
              <a:t>来自</a:t>
            </a:r>
            <a:r>
              <a:rPr lang="en-US" altLang="zh-CN" sz="1800" dirty="0">
                <a:solidFill>
                  <a:srgbClr val="000000"/>
                </a:solidFill>
                <a:latin typeface="Times New Roman"/>
              </a:rPr>
              <a:t>TechTarget</a:t>
            </a:r>
            <a:r>
              <a:rPr lang="zh-CN" altLang="en-US" sz="1800" dirty="0">
                <a:solidFill>
                  <a:srgbClr val="000000"/>
                </a:solidFill>
                <a:latin typeface="Times New Roman"/>
              </a:rPr>
              <a:t>中国原创内容中</a:t>
            </a:r>
            <a:r>
              <a:rPr lang="en-US" altLang="zh-CN" sz="1800" dirty="0">
                <a:solidFill>
                  <a:srgbClr val="000000"/>
                </a:solidFill>
                <a:latin typeface="Times New Roman"/>
              </a:rPr>
              <a:t>Miller</a:t>
            </a:r>
            <a:r>
              <a:rPr lang="zh-CN" altLang="en-US" sz="1800" dirty="0">
                <a:solidFill>
                  <a:srgbClr val="000000"/>
                </a:solidFill>
                <a:latin typeface="Times New Roman"/>
              </a:rPr>
              <a:t>的回答 </a:t>
            </a:r>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zh-CN" altLang="en-US" sz="2400" dirty="0">
                <a:sym typeface="+mn-ea"/>
              </a:rPr>
              <a:t>纠删码会在未来掀起浪潮吗</a:t>
            </a:r>
          </a:p>
        </p:txBody>
      </p:sp>
      <p:sp>
        <p:nvSpPr>
          <p:cNvPr id="9" name="文本框 8"/>
          <p:cNvSpPr txBox="1"/>
          <p:nvPr/>
        </p:nvSpPr>
        <p:spPr>
          <a:xfrm>
            <a:off x="1978159" y="1371655"/>
            <a:ext cx="7971523" cy="439479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marL="285750" indent="-285750" eaLnBrk="0" fontAlgn="base" hangingPunct="0">
              <a:lnSpc>
                <a:spcPts val="3400"/>
              </a:lnSpc>
              <a:spcBef>
                <a:spcPct val="0"/>
              </a:spcBef>
              <a:spcAft>
                <a:spcPct val="0"/>
              </a:spcAft>
              <a:buFont typeface="Wingdings" panose="05000000000000000000" pitchFamily="2" charset="2"/>
              <a:buChar char="l"/>
            </a:pPr>
            <a:r>
              <a:rPr lang="zh-CN" altLang="en-US" sz="1800" dirty="0">
                <a:solidFill>
                  <a:srgbClr val="000000"/>
                </a:solidFill>
                <a:latin typeface="Times New Roman"/>
              </a:rPr>
              <a:t>        在某些领域，纠删码会在未来掀起一波浪潮，特别是在</a:t>
            </a:r>
            <a:r>
              <a:rPr lang="zh-CN" altLang="en-US" sz="1800" dirty="0">
                <a:solidFill>
                  <a:srgbClr val="FF0000"/>
                </a:solidFill>
                <a:latin typeface="Times New Roman"/>
              </a:rPr>
              <a:t>存储归档领域纠删码是必备的</a:t>
            </a:r>
            <a:r>
              <a:rPr lang="zh-CN" altLang="en-US" sz="1800" dirty="0">
                <a:solidFill>
                  <a:srgbClr val="000000"/>
                </a:solidFill>
                <a:latin typeface="Times New Roman"/>
              </a:rPr>
              <a:t>。因为当把数据保存</a:t>
            </a:r>
            <a:r>
              <a:rPr lang="en-US" altLang="zh-CN" sz="1800" dirty="0">
                <a:solidFill>
                  <a:srgbClr val="000000"/>
                </a:solidFill>
                <a:latin typeface="Times New Roman"/>
              </a:rPr>
              <a:t>10</a:t>
            </a:r>
            <a:r>
              <a:rPr lang="zh-CN" altLang="en-US" sz="1800" dirty="0">
                <a:solidFill>
                  <a:srgbClr val="000000"/>
                </a:solidFill>
                <a:latin typeface="Times New Roman"/>
              </a:rPr>
              <a:t>年甚至</a:t>
            </a:r>
            <a:r>
              <a:rPr lang="en-US" altLang="zh-CN" sz="1800" dirty="0">
                <a:solidFill>
                  <a:srgbClr val="000000"/>
                </a:solidFill>
                <a:latin typeface="Times New Roman"/>
              </a:rPr>
              <a:t>20</a:t>
            </a:r>
            <a:r>
              <a:rPr lang="zh-CN" altLang="en-US" sz="1800" dirty="0">
                <a:solidFill>
                  <a:srgbClr val="000000"/>
                </a:solidFill>
                <a:latin typeface="Times New Roman"/>
              </a:rPr>
              <a:t>年时会经历各种故障并将它们恢复，并且在数据归档中，需要经常读取数据，但不会产生额外的性能开销。</a:t>
            </a:r>
            <a:endParaRPr lang="en-US" altLang="zh-CN" sz="1800" dirty="0">
              <a:solidFill>
                <a:srgbClr val="000000"/>
              </a:solidFill>
              <a:latin typeface="Times New Roman"/>
            </a:endParaRPr>
          </a:p>
          <a:p>
            <a:pPr marL="285750" indent="-285750" eaLnBrk="0" fontAlgn="base" hangingPunct="0">
              <a:lnSpc>
                <a:spcPts val="3400"/>
              </a:lnSpc>
              <a:spcBef>
                <a:spcPct val="0"/>
              </a:spcBef>
              <a:spcAft>
                <a:spcPct val="0"/>
              </a:spcAft>
              <a:buFont typeface="Wingdings" panose="05000000000000000000" pitchFamily="2" charset="2"/>
              <a:buChar char="l"/>
            </a:pPr>
            <a:r>
              <a:rPr lang="zh-CN" altLang="en-US" sz="1800" dirty="0">
                <a:solidFill>
                  <a:srgbClr val="000000"/>
                </a:solidFill>
                <a:latin typeface="Times New Roman"/>
              </a:rPr>
              <a:t>        此外，未来纠删码是否会成为潮流</a:t>
            </a:r>
            <a:r>
              <a:rPr lang="zh-CN" altLang="en-US" sz="1800" dirty="0">
                <a:solidFill>
                  <a:srgbClr val="FF0000"/>
                </a:solidFill>
                <a:latin typeface="Times New Roman"/>
              </a:rPr>
              <a:t>取决于设备容量大小和读写速率的相对速度提升差异</a:t>
            </a:r>
            <a:r>
              <a:rPr lang="zh-CN" altLang="en-US" sz="1800" dirty="0">
                <a:solidFill>
                  <a:srgbClr val="000000"/>
                </a:solidFill>
                <a:latin typeface="Times New Roman"/>
              </a:rPr>
              <a:t>。当存储容量的增速大于读写速率的增速时，纠删码的作用就更能够体现，这就是为什么从</a:t>
            </a:r>
            <a:r>
              <a:rPr lang="en-US" altLang="zh-CN" sz="1800" dirty="0">
                <a:solidFill>
                  <a:srgbClr val="000000"/>
                </a:solidFill>
                <a:latin typeface="Times New Roman"/>
              </a:rPr>
              <a:t>90</a:t>
            </a:r>
            <a:r>
              <a:rPr lang="zh-CN" altLang="en-US" sz="1800" dirty="0">
                <a:solidFill>
                  <a:srgbClr val="000000"/>
                </a:solidFill>
                <a:latin typeface="Times New Roman"/>
              </a:rPr>
              <a:t>年代中期的</a:t>
            </a:r>
            <a:r>
              <a:rPr lang="en-US" altLang="zh-CN" sz="1800" dirty="0">
                <a:solidFill>
                  <a:srgbClr val="000000"/>
                </a:solidFill>
                <a:latin typeface="Times New Roman"/>
              </a:rPr>
              <a:t>RAID5</a:t>
            </a:r>
            <a:r>
              <a:rPr lang="zh-CN" altLang="en-US" sz="1800" dirty="0">
                <a:solidFill>
                  <a:srgbClr val="000000"/>
                </a:solidFill>
                <a:latin typeface="Times New Roman"/>
              </a:rPr>
              <a:t>走到了今天的</a:t>
            </a:r>
            <a:r>
              <a:rPr lang="en-US" altLang="zh-CN" sz="1800" dirty="0">
                <a:solidFill>
                  <a:srgbClr val="000000"/>
                </a:solidFill>
                <a:latin typeface="Times New Roman"/>
              </a:rPr>
              <a:t>RAID6</a:t>
            </a:r>
            <a:r>
              <a:rPr lang="zh-CN" altLang="en-US" sz="1800" dirty="0">
                <a:solidFill>
                  <a:srgbClr val="000000"/>
                </a:solidFill>
                <a:latin typeface="Times New Roman"/>
              </a:rPr>
              <a:t>。</a:t>
            </a:r>
            <a:endParaRPr lang="en-US" altLang="zh-CN" sz="1800" dirty="0">
              <a:solidFill>
                <a:srgbClr val="000000"/>
              </a:solidFill>
              <a:latin typeface="Times New Roman"/>
            </a:endParaRPr>
          </a:p>
          <a:p>
            <a:pPr algn="r" eaLnBrk="0" fontAlgn="base" hangingPunct="0">
              <a:lnSpc>
                <a:spcPts val="3400"/>
              </a:lnSpc>
              <a:spcBef>
                <a:spcPct val="0"/>
              </a:spcBef>
              <a:spcAft>
                <a:spcPct val="0"/>
              </a:spcAft>
            </a:pPr>
            <a:endParaRPr lang="en-US" altLang="zh-CN" sz="1800" dirty="0">
              <a:solidFill>
                <a:srgbClr val="000000"/>
              </a:solidFill>
              <a:latin typeface="Times New Roman"/>
            </a:endParaRPr>
          </a:p>
          <a:p>
            <a:pPr algn="r" eaLnBrk="0" fontAlgn="base" hangingPunct="0">
              <a:lnSpc>
                <a:spcPts val="3400"/>
              </a:lnSpc>
              <a:spcBef>
                <a:spcPct val="0"/>
              </a:spcBef>
              <a:spcAft>
                <a:spcPct val="0"/>
              </a:spcAft>
            </a:pPr>
            <a:r>
              <a:rPr lang="en-US" altLang="zh-CN" sz="1800" dirty="0">
                <a:solidFill>
                  <a:srgbClr val="000000"/>
                </a:solidFill>
                <a:latin typeface="Times New Roman"/>
              </a:rPr>
              <a:t>——</a:t>
            </a:r>
            <a:r>
              <a:rPr lang="zh-CN" altLang="en-US" sz="1800" dirty="0">
                <a:solidFill>
                  <a:srgbClr val="000000"/>
                </a:solidFill>
                <a:latin typeface="Times New Roman"/>
              </a:rPr>
              <a:t>来自</a:t>
            </a:r>
            <a:r>
              <a:rPr lang="en-US" altLang="zh-CN" sz="1800" dirty="0">
                <a:solidFill>
                  <a:srgbClr val="000000"/>
                </a:solidFill>
                <a:latin typeface="Times New Roman"/>
              </a:rPr>
              <a:t>TechTarget</a:t>
            </a:r>
            <a:r>
              <a:rPr lang="zh-CN" altLang="en-US" sz="1800" dirty="0">
                <a:solidFill>
                  <a:srgbClr val="000000"/>
                </a:solidFill>
                <a:latin typeface="Times New Roman"/>
              </a:rPr>
              <a:t>中国原创内容中</a:t>
            </a:r>
            <a:r>
              <a:rPr lang="en-US" altLang="zh-CN" sz="1800" dirty="0">
                <a:solidFill>
                  <a:srgbClr val="000000"/>
                </a:solidFill>
                <a:latin typeface="Times New Roman"/>
              </a:rPr>
              <a:t>Miller</a:t>
            </a:r>
            <a:r>
              <a:rPr lang="zh-CN" altLang="en-US" sz="1800" dirty="0">
                <a:solidFill>
                  <a:srgbClr val="000000"/>
                </a:solidFill>
                <a:latin typeface="Times New Roman"/>
              </a:rPr>
              <a:t>的回答 </a:t>
            </a:r>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en-US" altLang="zh-CN" sz="2400" dirty="0">
                <a:sym typeface="+mn-ea"/>
              </a:rPr>
              <a:t>EC</a:t>
            </a:r>
            <a:r>
              <a:rPr lang="zh-CN" altLang="en-US" sz="2400" dirty="0">
                <a:sym typeface="+mn-ea"/>
              </a:rPr>
              <a:t>码的优点</a:t>
            </a:r>
          </a:p>
        </p:txBody>
      </p:sp>
      <p:sp>
        <p:nvSpPr>
          <p:cNvPr id="9" name="文本框 8"/>
          <p:cNvSpPr txBox="1"/>
          <p:nvPr/>
        </p:nvSpPr>
        <p:spPr>
          <a:xfrm>
            <a:off x="1727291" y="922510"/>
            <a:ext cx="3987715" cy="2092881"/>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sz="1800" dirty="0">
                <a:solidFill>
                  <a:srgbClr val="FF0000"/>
                </a:solidFill>
                <a:latin typeface="Times New Roman"/>
              </a:rPr>
              <a:t>         灵活的设定副本数量</a:t>
            </a:r>
            <a:r>
              <a:rPr lang="zh-CN" altLang="en-US" sz="1800" dirty="0">
                <a:solidFill>
                  <a:srgbClr val="000000"/>
                </a:solidFill>
                <a:latin typeface="Times New Roman"/>
              </a:rPr>
              <a:t>，从而在数据持久性和成本间做出权衡，满足不同的应用场景。比如储存冷数据时，可将副本数缩小至</a:t>
            </a:r>
            <a:r>
              <a:rPr lang="en-US" altLang="zh-CN" sz="1800" dirty="0">
                <a:solidFill>
                  <a:srgbClr val="000000"/>
                </a:solidFill>
                <a:latin typeface="Times New Roman"/>
              </a:rPr>
              <a:t>1.2</a:t>
            </a:r>
            <a:r>
              <a:rPr lang="zh-CN" altLang="en-US" sz="1800" dirty="0">
                <a:solidFill>
                  <a:srgbClr val="000000"/>
                </a:solidFill>
                <a:latin typeface="Times New Roman"/>
              </a:rPr>
              <a:t>，即冗余数据是有</a:t>
            </a:r>
            <a:r>
              <a:rPr lang="en-US" altLang="zh-CN" sz="1800" dirty="0">
                <a:solidFill>
                  <a:srgbClr val="000000"/>
                </a:solidFill>
                <a:latin typeface="Times New Roman"/>
              </a:rPr>
              <a:t>0.2</a:t>
            </a:r>
            <a:r>
              <a:rPr lang="zh-CN" altLang="en-US" sz="1800" dirty="0">
                <a:solidFill>
                  <a:srgbClr val="000000"/>
                </a:solidFill>
                <a:latin typeface="Times New Roman"/>
              </a:rPr>
              <a:t>。</a:t>
            </a:r>
            <a:endParaRPr lang="en-US" altLang="zh-CN" sz="1800" dirty="0">
              <a:solidFill>
                <a:srgbClr val="000000"/>
              </a:solidFill>
              <a:latin typeface="Times New Roman"/>
            </a:endParaRPr>
          </a:p>
        </p:txBody>
      </p:sp>
      <p:pic>
        <p:nvPicPr>
          <p:cNvPr id="4" name="图片 3"/>
          <p:cNvPicPr>
            <a:picLocks noChangeAspect="1"/>
          </p:cNvPicPr>
          <p:nvPr/>
        </p:nvPicPr>
        <p:blipFill>
          <a:blip r:embed="rId3" cstate="screen"/>
          <a:stretch>
            <a:fillRect/>
          </a:stretch>
        </p:blipFill>
        <p:spPr>
          <a:xfrm>
            <a:off x="4673589" y="2514624"/>
            <a:ext cx="2844822" cy="2844822"/>
          </a:xfrm>
          <a:prstGeom prst="rect">
            <a:avLst/>
          </a:prstGeom>
        </p:spPr>
      </p:pic>
      <p:grpSp>
        <p:nvGrpSpPr>
          <p:cNvPr id="17" name="组合 16"/>
          <p:cNvGrpSpPr/>
          <p:nvPr/>
        </p:nvGrpSpPr>
        <p:grpSpPr>
          <a:xfrm>
            <a:off x="5922208" y="1592250"/>
            <a:ext cx="647666" cy="1423140"/>
            <a:chOff x="3924334" y="1409771"/>
            <a:chExt cx="647666" cy="1423140"/>
          </a:xfrm>
        </p:grpSpPr>
        <p:grpSp>
          <p:nvGrpSpPr>
            <p:cNvPr id="14" name="组合 13"/>
            <p:cNvGrpSpPr/>
            <p:nvPr/>
          </p:nvGrpSpPr>
          <p:grpSpPr>
            <a:xfrm>
              <a:off x="4038614" y="1524050"/>
              <a:ext cx="533386" cy="1308861"/>
              <a:chOff x="4038614" y="1524050"/>
              <a:chExt cx="533386" cy="1308861"/>
            </a:xfrm>
          </p:grpSpPr>
          <p:cxnSp>
            <p:nvCxnSpPr>
              <p:cNvPr id="5" name="直接连接符 4"/>
              <p:cNvCxnSpPr/>
              <p:nvPr/>
            </p:nvCxnSpPr>
            <p:spPr bwMode="auto">
              <a:xfrm>
                <a:off x="4038614" y="1524050"/>
                <a:ext cx="533386" cy="716152"/>
              </a:xfrm>
              <a:prstGeom prst="line">
                <a:avLst/>
              </a:prstGeom>
              <a:ln w="28575">
                <a:solidFill>
                  <a:srgbClr val="A0D2D7"/>
                </a:solidFill>
              </a:ln>
            </p:spPr>
            <p:style>
              <a:lnRef idx="1">
                <a:schemeClr val="dk1"/>
              </a:lnRef>
              <a:fillRef idx="0">
                <a:schemeClr val="dk1"/>
              </a:fillRef>
              <a:effectRef idx="0">
                <a:schemeClr val="dk1"/>
              </a:effectRef>
              <a:fontRef idx="minor">
                <a:schemeClr val="tx1"/>
              </a:fontRef>
            </p:style>
          </p:cxnSp>
          <p:cxnSp>
            <p:nvCxnSpPr>
              <p:cNvPr id="7" name="直接连接符 6"/>
              <p:cNvCxnSpPr/>
              <p:nvPr/>
            </p:nvCxnSpPr>
            <p:spPr bwMode="auto">
              <a:xfrm flipH="1">
                <a:off x="4152892" y="2240202"/>
                <a:ext cx="419108" cy="592709"/>
              </a:xfrm>
              <a:prstGeom prst="line">
                <a:avLst/>
              </a:prstGeom>
              <a:ln w="28575">
                <a:solidFill>
                  <a:srgbClr val="A0D2D7"/>
                </a:solidFill>
              </a:ln>
            </p:spPr>
            <p:style>
              <a:lnRef idx="1">
                <a:schemeClr val="dk1"/>
              </a:lnRef>
              <a:fillRef idx="0">
                <a:schemeClr val="dk1"/>
              </a:fillRef>
              <a:effectRef idx="0">
                <a:schemeClr val="dk1"/>
              </a:effectRef>
              <a:fontRef idx="minor">
                <a:schemeClr val="tx1"/>
              </a:fontRef>
            </p:style>
          </p:cxnSp>
        </p:grpSp>
        <p:sp>
          <p:nvSpPr>
            <p:cNvPr id="16" name="椭圆 15"/>
            <p:cNvSpPr/>
            <p:nvPr/>
          </p:nvSpPr>
          <p:spPr>
            <a:xfrm>
              <a:off x="3924334" y="1409771"/>
              <a:ext cx="228558" cy="228558"/>
            </a:xfrm>
            <a:prstGeom prst="ellipse">
              <a:avLst/>
            </a:prstGeom>
            <a:solidFill>
              <a:srgbClr val="A0D2D7"/>
            </a:solidFill>
            <a:ln>
              <a:solidFill>
                <a:srgbClr val="A0D2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grpSp>
        <p:nvGrpSpPr>
          <p:cNvPr id="18" name="组合 17"/>
          <p:cNvGrpSpPr/>
          <p:nvPr/>
        </p:nvGrpSpPr>
        <p:grpSpPr>
          <a:xfrm rot="15919017">
            <a:off x="4207919" y="3133102"/>
            <a:ext cx="647666" cy="1607868"/>
            <a:chOff x="3924334" y="1409771"/>
            <a:chExt cx="647666" cy="1607868"/>
          </a:xfrm>
          <a:solidFill>
            <a:srgbClr val="FCB2BC"/>
          </a:solidFill>
        </p:grpSpPr>
        <p:grpSp>
          <p:nvGrpSpPr>
            <p:cNvPr id="19" name="组合 18"/>
            <p:cNvGrpSpPr/>
            <p:nvPr/>
          </p:nvGrpSpPr>
          <p:grpSpPr>
            <a:xfrm>
              <a:off x="4038614" y="1524050"/>
              <a:ext cx="533386" cy="1493589"/>
              <a:chOff x="4038614" y="1524050"/>
              <a:chExt cx="533386" cy="1493589"/>
            </a:xfrm>
            <a:grpFill/>
          </p:grpSpPr>
          <p:cxnSp>
            <p:nvCxnSpPr>
              <p:cNvPr id="21" name="直接连接符 20"/>
              <p:cNvCxnSpPr/>
              <p:nvPr/>
            </p:nvCxnSpPr>
            <p:spPr bwMode="auto">
              <a:xfrm>
                <a:off x="4038614" y="1524050"/>
                <a:ext cx="533386" cy="716152"/>
              </a:xfrm>
              <a:prstGeom prst="line">
                <a:avLst/>
              </a:prstGeom>
              <a:grpFill/>
              <a:ln w="28575">
                <a:solidFill>
                  <a:srgbClr val="FCB2BC"/>
                </a:solidFill>
              </a:ln>
            </p:spPr>
            <p:style>
              <a:lnRef idx="1">
                <a:schemeClr val="dk1"/>
              </a:lnRef>
              <a:fillRef idx="0">
                <a:schemeClr val="dk1"/>
              </a:fillRef>
              <a:effectRef idx="0">
                <a:schemeClr val="dk1"/>
              </a:effectRef>
              <a:fontRef idx="minor">
                <a:schemeClr val="tx1"/>
              </a:fontRef>
            </p:style>
          </p:cxnSp>
          <p:cxnSp>
            <p:nvCxnSpPr>
              <p:cNvPr id="22" name="直接连接符 21"/>
              <p:cNvCxnSpPr/>
              <p:nvPr/>
            </p:nvCxnSpPr>
            <p:spPr bwMode="auto">
              <a:xfrm>
                <a:off x="4572000" y="2240202"/>
                <a:ext cx="0" cy="777437"/>
              </a:xfrm>
              <a:prstGeom prst="line">
                <a:avLst/>
              </a:prstGeom>
              <a:grpFill/>
              <a:ln w="28575">
                <a:solidFill>
                  <a:srgbClr val="FCB2BC"/>
                </a:solidFill>
              </a:ln>
            </p:spPr>
            <p:style>
              <a:lnRef idx="1">
                <a:schemeClr val="dk1"/>
              </a:lnRef>
              <a:fillRef idx="0">
                <a:schemeClr val="dk1"/>
              </a:fillRef>
              <a:effectRef idx="0">
                <a:schemeClr val="dk1"/>
              </a:effectRef>
              <a:fontRef idx="minor">
                <a:schemeClr val="tx1"/>
              </a:fontRef>
            </p:style>
          </p:cxnSp>
        </p:grpSp>
        <p:sp>
          <p:nvSpPr>
            <p:cNvPr id="20" name="椭圆 19"/>
            <p:cNvSpPr/>
            <p:nvPr/>
          </p:nvSpPr>
          <p:spPr>
            <a:xfrm>
              <a:off x="3924334" y="1409771"/>
              <a:ext cx="228558" cy="228558"/>
            </a:xfrm>
            <a:prstGeom prst="ellipse">
              <a:avLst/>
            </a:prstGeom>
            <a:grpFill/>
            <a:ln>
              <a:solidFill>
                <a:srgbClr val="FCB2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sp>
        <p:nvSpPr>
          <p:cNvPr id="23" name="文本框 22"/>
          <p:cNvSpPr txBox="1"/>
          <p:nvPr/>
        </p:nvSpPr>
        <p:spPr>
          <a:xfrm>
            <a:off x="1649060" y="4325425"/>
            <a:ext cx="3227772" cy="2092881"/>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sz="1800" dirty="0">
                <a:solidFill>
                  <a:srgbClr val="FF0000"/>
                </a:solidFill>
                <a:latin typeface="Times New Roman"/>
              </a:rPr>
              <a:t>        </a:t>
            </a:r>
            <a:r>
              <a:rPr lang="en-US" altLang="zh-CN" sz="1800" dirty="0">
                <a:solidFill>
                  <a:srgbClr val="000000"/>
                </a:solidFill>
                <a:latin typeface="Times New Roman"/>
              </a:rPr>
              <a:t>Erasure code</a:t>
            </a:r>
            <a:r>
              <a:rPr lang="zh-CN" altLang="en-US" sz="1800" dirty="0">
                <a:solidFill>
                  <a:srgbClr val="FF0000"/>
                </a:solidFill>
                <a:latin typeface="Times New Roman"/>
              </a:rPr>
              <a:t>有内置的数据安全性</a:t>
            </a:r>
            <a:r>
              <a:rPr lang="zh-CN" altLang="en-US" sz="1800" dirty="0">
                <a:solidFill>
                  <a:srgbClr val="000000"/>
                </a:solidFill>
                <a:latin typeface="Times New Roman"/>
              </a:rPr>
              <a:t>。</a:t>
            </a:r>
            <a:r>
              <a:rPr lang="en-US" altLang="zh-CN" sz="1800" dirty="0">
                <a:solidFill>
                  <a:srgbClr val="000000"/>
                </a:solidFill>
                <a:latin typeface="Times New Roman"/>
              </a:rPr>
              <a:t>Erasure code</a:t>
            </a:r>
            <a:r>
              <a:rPr lang="zh-CN" altLang="en-US" sz="1800" dirty="0">
                <a:solidFill>
                  <a:srgbClr val="000000"/>
                </a:solidFill>
                <a:latin typeface="Times New Roman"/>
              </a:rPr>
              <a:t>使用的</a:t>
            </a:r>
            <a:r>
              <a:rPr lang="zh-CN" altLang="en-US" sz="1800" dirty="0">
                <a:solidFill>
                  <a:srgbClr val="FF0000"/>
                </a:solidFill>
                <a:latin typeface="Times New Roman"/>
              </a:rPr>
              <a:t>数据块可以分布在</a:t>
            </a:r>
            <a:r>
              <a:rPr lang="zh-CN" altLang="en-US" sz="1800" dirty="0">
                <a:solidFill>
                  <a:srgbClr val="000000"/>
                </a:solidFill>
                <a:latin typeface="Times New Roman"/>
              </a:rPr>
              <a:t>城市、地区、一个数据中心或全球</a:t>
            </a:r>
            <a:r>
              <a:rPr lang="zh-CN" altLang="en-US" sz="1800" dirty="0">
                <a:solidFill>
                  <a:srgbClr val="FF0000"/>
                </a:solidFill>
                <a:latin typeface="Times New Roman"/>
              </a:rPr>
              <a:t>任何地方的不同存储位置</a:t>
            </a:r>
            <a:r>
              <a:rPr lang="zh-CN" altLang="en-US" sz="1800" dirty="0">
                <a:solidFill>
                  <a:srgbClr val="000000"/>
                </a:solidFill>
                <a:latin typeface="Times New Roman"/>
              </a:rPr>
              <a:t>。</a:t>
            </a:r>
            <a:endParaRPr lang="en-US" altLang="zh-CN" sz="1800" dirty="0">
              <a:solidFill>
                <a:srgbClr val="000000"/>
              </a:solidFill>
              <a:latin typeface="Times New Roman"/>
            </a:endParaRPr>
          </a:p>
        </p:txBody>
      </p:sp>
      <p:grpSp>
        <p:nvGrpSpPr>
          <p:cNvPr id="24" name="组合 23"/>
          <p:cNvGrpSpPr/>
          <p:nvPr/>
        </p:nvGrpSpPr>
        <p:grpSpPr>
          <a:xfrm rot="5400000">
            <a:off x="7292897" y="3845323"/>
            <a:ext cx="647666" cy="1607868"/>
            <a:chOff x="3924334" y="1409771"/>
            <a:chExt cx="647666" cy="1607868"/>
          </a:xfrm>
          <a:solidFill>
            <a:srgbClr val="FFD6BB"/>
          </a:solidFill>
        </p:grpSpPr>
        <p:grpSp>
          <p:nvGrpSpPr>
            <p:cNvPr id="25" name="组合 24"/>
            <p:cNvGrpSpPr/>
            <p:nvPr/>
          </p:nvGrpSpPr>
          <p:grpSpPr>
            <a:xfrm>
              <a:off x="4038614" y="1524050"/>
              <a:ext cx="533386" cy="1493589"/>
              <a:chOff x="4038614" y="1524050"/>
              <a:chExt cx="533386" cy="1493589"/>
            </a:xfrm>
            <a:grpFill/>
          </p:grpSpPr>
          <p:cxnSp>
            <p:nvCxnSpPr>
              <p:cNvPr id="27" name="直接连接符 26"/>
              <p:cNvCxnSpPr/>
              <p:nvPr/>
            </p:nvCxnSpPr>
            <p:spPr bwMode="auto">
              <a:xfrm>
                <a:off x="4038614" y="1524050"/>
                <a:ext cx="533386" cy="716152"/>
              </a:xfrm>
              <a:prstGeom prst="line">
                <a:avLst/>
              </a:prstGeom>
              <a:grpFill/>
              <a:ln w="28575">
                <a:solidFill>
                  <a:srgbClr val="FFD9C0"/>
                </a:solidFill>
              </a:ln>
            </p:spPr>
            <p:style>
              <a:lnRef idx="1">
                <a:schemeClr val="dk1"/>
              </a:lnRef>
              <a:fillRef idx="0">
                <a:schemeClr val="dk1"/>
              </a:fillRef>
              <a:effectRef idx="0">
                <a:schemeClr val="dk1"/>
              </a:effectRef>
              <a:fontRef idx="minor">
                <a:schemeClr val="tx1"/>
              </a:fontRef>
            </p:style>
          </p:cxnSp>
          <p:cxnSp>
            <p:nvCxnSpPr>
              <p:cNvPr id="28" name="直接连接符 27"/>
              <p:cNvCxnSpPr/>
              <p:nvPr/>
            </p:nvCxnSpPr>
            <p:spPr bwMode="auto">
              <a:xfrm>
                <a:off x="4572000" y="2240202"/>
                <a:ext cx="0" cy="777437"/>
              </a:xfrm>
              <a:prstGeom prst="line">
                <a:avLst/>
              </a:prstGeom>
              <a:grpFill/>
              <a:ln w="28575">
                <a:solidFill>
                  <a:srgbClr val="FFD9C0"/>
                </a:solidFill>
              </a:ln>
            </p:spPr>
            <p:style>
              <a:lnRef idx="1">
                <a:schemeClr val="dk1"/>
              </a:lnRef>
              <a:fillRef idx="0">
                <a:schemeClr val="dk1"/>
              </a:fillRef>
              <a:effectRef idx="0">
                <a:schemeClr val="dk1"/>
              </a:effectRef>
              <a:fontRef idx="minor">
                <a:schemeClr val="tx1"/>
              </a:fontRef>
            </p:style>
          </p:cxnSp>
        </p:grpSp>
        <p:sp>
          <p:nvSpPr>
            <p:cNvPr id="26" name="椭圆 25"/>
            <p:cNvSpPr/>
            <p:nvPr/>
          </p:nvSpPr>
          <p:spPr>
            <a:xfrm>
              <a:off x="3924334" y="1409771"/>
              <a:ext cx="228558" cy="228558"/>
            </a:xfrm>
            <a:prstGeom prst="ellipse">
              <a:avLst/>
            </a:prstGeom>
            <a:grpFill/>
            <a:ln>
              <a:solidFill>
                <a:srgbClr val="FFD9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a:solidFill>
                  <a:srgbClr val="FFFFFF"/>
                </a:solidFill>
                <a:latin typeface="Times New Roman"/>
                <a:ea typeface="黑体"/>
              </a:endParaRPr>
            </a:p>
          </p:txBody>
        </p:sp>
      </p:grpSp>
      <p:sp>
        <p:nvSpPr>
          <p:cNvPr id="29" name="文本框 28"/>
          <p:cNvSpPr txBox="1"/>
          <p:nvPr/>
        </p:nvSpPr>
        <p:spPr>
          <a:xfrm>
            <a:off x="7326936" y="2277743"/>
            <a:ext cx="3227772" cy="168251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eaLnBrk="0" fontAlgn="base" hangingPunct="0">
              <a:lnSpc>
                <a:spcPts val="3200"/>
              </a:lnSpc>
              <a:spcBef>
                <a:spcPct val="0"/>
              </a:spcBef>
              <a:spcAft>
                <a:spcPct val="0"/>
              </a:spcAft>
            </a:pPr>
            <a:r>
              <a:rPr lang="zh-CN" altLang="en-US" sz="1800" dirty="0">
                <a:solidFill>
                  <a:srgbClr val="FF0000"/>
                </a:solidFill>
                <a:latin typeface="Times New Roman"/>
              </a:rPr>
              <a:t>        </a:t>
            </a:r>
            <a:r>
              <a:rPr lang="en-US" altLang="zh-CN" sz="1800" dirty="0">
                <a:solidFill>
                  <a:srgbClr val="000000"/>
                </a:solidFill>
                <a:latin typeface="Times New Roman"/>
              </a:rPr>
              <a:t>Erasure code</a:t>
            </a:r>
            <a:r>
              <a:rPr lang="zh-CN" altLang="en-US" sz="1800" dirty="0">
                <a:solidFill>
                  <a:srgbClr val="FF0000"/>
                </a:solidFill>
                <a:latin typeface="Times New Roman"/>
              </a:rPr>
              <a:t>在面对自然灾难或技术故障时具有很好的恢复能力</a:t>
            </a:r>
            <a:r>
              <a:rPr lang="zh-CN" altLang="en-US" sz="1800" dirty="0">
                <a:solidFill>
                  <a:srgbClr val="000000"/>
                </a:solidFill>
                <a:latin typeface="Times New Roman"/>
              </a:rPr>
              <a:t>。另外，</a:t>
            </a:r>
            <a:r>
              <a:rPr lang="en-US" altLang="zh-CN" sz="1800" dirty="0">
                <a:solidFill>
                  <a:srgbClr val="000000"/>
                </a:solidFill>
                <a:latin typeface="Times New Roman"/>
              </a:rPr>
              <a:t>Erasure code</a:t>
            </a:r>
            <a:r>
              <a:rPr lang="zh-CN" altLang="en-US" sz="1800" dirty="0">
                <a:solidFill>
                  <a:srgbClr val="000000"/>
                </a:solidFill>
                <a:latin typeface="Times New Roman"/>
              </a:rPr>
              <a:t>允许同时发生多种故障。</a:t>
            </a:r>
            <a:endParaRPr lang="en-US" altLang="zh-CN" sz="1800" dirty="0">
              <a:solidFill>
                <a:srgbClr val="000000"/>
              </a:solidFill>
              <a:latin typeface="Times New Roman"/>
            </a:endParaRPr>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63921" y="60813"/>
            <a:ext cx="4512945" cy="685800"/>
          </a:xfrm>
        </p:spPr>
        <p:txBody>
          <a:bodyPr/>
          <a:lstStyle/>
          <a:p>
            <a:r>
              <a:rPr lang="en-US" altLang="zh-CN" sz="2400" dirty="0">
                <a:sym typeface="+mn-ea"/>
              </a:rPr>
              <a:t>EC</a:t>
            </a:r>
            <a:r>
              <a:rPr lang="zh-CN" altLang="en-US" sz="2400" dirty="0">
                <a:sym typeface="+mn-ea"/>
              </a:rPr>
              <a:t>码的代价</a:t>
            </a:r>
          </a:p>
        </p:txBody>
      </p:sp>
      <p:grpSp>
        <p:nvGrpSpPr>
          <p:cNvPr id="27" name="组合 26"/>
          <p:cNvGrpSpPr/>
          <p:nvPr/>
        </p:nvGrpSpPr>
        <p:grpSpPr>
          <a:xfrm>
            <a:off x="4372164" y="1981238"/>
            <a:ext cx="3447672" cy="3447672"/>
            <a:chOff x="2724486" y="1828842"/>
            <a:chExt cx="3695028" cy="3695028"/>
          </a:xfrm>
        </p:grpSpPr>
        <p:grpSp>
          <p:nvGrpSpPr>
            <p:cNvPr id="4" name="Group 11"/>
            <p:cNvGrpSpPr/>
            <p:nvPr/>
          </p:nvGrpSpPr>
          <p:grpSpPr>
            <a:xfrm>
              <a:off x="2724486" y="1828842"/>
              <a:ext cx="3695028" cy="3695028"/>
              <a:chOff x="6240781" y="1363135"/>
              <a:chExt cx="4963584" cy="4963584"/>
            </a:xfrm>
          </p:grpSpPr>
          <p:grpSp>
            <p:nvGrpSpPr>
              <p:cNvPr id="5" name="Group 12"/>
              <p:cNvGrpSpPr/>
              <p:nvPr userDrawn="1"/>
            </p:nvGrpSpPr>
            <p:grpSpPr>
              <a:xfrm>
                <a:off x="6240781" y="1363135"/>
                <a:ext cx="3255433" cy="2434167"/>
                <a:chOff x="4657725" y="946151"/>
                <a:chExt cx="2441575" cy="1825625"/>
              </a:xfrm>
            </p:grpSpPr>
            <p:sp>
              <p:nvSpPr>
                <p:cNvPr id="20" name="Freeform 26"/>
                <p:cNvSpPr/>
                <p:nvPr/>
              </p:nvSpPr>
              <p:spPr bwMode="auto">
                <a:xfrm>
                  <a:off x="5953125" y="2046288"/>
                  <a:ext cx="1146175" cy="593725"/>
                </a:xfrm>
                <a:custGeom>
                  <a:avLst/>
                  <a:gdLst>
                    <a:gd name="T0" fmla="*/ 849 w 904"/>
                    <a:gd name="T1" fmla="*/ 0 h 468"/>
                    <a:gd name="T2" fmla="*/ 873 w 904"/>
                    <a:gd name="T3" fmla="*/ 58 h 468"/>
                    <a:gd name="T4" fmla="*/ 507 w 904"/>
                    <a:gd name="T5" fmla="*/ 436 h 468"/>
                    <a:gd name="T6" fmla="*/ 396 w 904"/>
                    <a:gd name="T7" fmla="*/ 436 h 468"/>
                    <a:gd name="T8" fmla="*/ 30 w 904"/>
                    <a:gd name="T9" fmla="*/ 58 h 468"/>
                    <a:gd name="T10" fmla="*/ 55 w 904"/>
                    <a:gd name="T11" fmla="*/ 0 h 468"/>
                    <a:gd name="T12" fmla="*/ 849 w 90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904" h="468">
                      <a:moveTo>
                        <a:pt x="849" y="0"/>
                      </a:moveTo>
                      <a:cubicBezTo>
                        <a:pt x="893" y="0"/>
                        <a:pt x="904" y="26"/>
                        <a:pt x="873" y="58"/>
                      </a:cubicBezTo>
                      <a:cubicBezTo>
                        <a:pt x="507" y="436"/>
                        <a:pt x="507" y="436"/>
                        <a:pt x="507" y="436"/>
                      </a:cubicBezTo>
                      <a:cubicBezTo>
                        <a:pt x="477" y="468"/>
                        <a:pt x="427" y="468"/>
                        <a:pt x="396" y="436"/>
                      </a:cubicBezTo>
                      <a:cubicBezTo>
                        <a:pt x="30" y="58"/>
                        <a:pt x="30" y="58"/>
                        <a:pt x="30" y="58"/>
                      </a:cubicBezTo>
                      <a:cubicBezTo>
                        <a:pt x="0" y="26"/>
                        <a:pt x="11" y="0"/>
                        <a:pt x="55" y="0"/>
                      </a:cubicBezTo>
                      <a:lnTo>
                        <a:pt x="849" y="0"/>
                      </a:lnTo>
                      <a:close/>
                    </a:path>
                  </a:pathLst>
                </a:custGeom>
                <a:solidFill>
                  <a:schemeClr val="accent1"/>
                </a:solidFill>
                <a:ln>
                  <a:noFill/>
                </a:ln>
              </p:spPr>
              <p:txBody>
                <a:bodyPr vert="horz" wrap="square" lIns="55827" tIns="27914" rIns="55827" bIns="27914" numCol="1" anchor="t" anchorCtr="0" compatLnSpc="1"/>
                <a:lstStyle/>
                <a:p>
                  <a:pPr algn="just" eaLnBrk="0" fontAlgn="base" hangingPunct="0">
                    <a:lnSpc>
                      <a:spcPct val="120000"/>
                    </a:lnSpc>
                    <a:spcBef>
                      <a:spcPct val="0"/>
                    </a:spcBef>
                    <a:spcAft>
                      <a:spcPct val="0"/>
                    </a:spcAft>
                  </a:pPr>
                  <a:endParaRPr lang="en-US" sz="1735" dirty="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1" name="Freeform 27"/>
                <p:cNvSpPr/>
                <p:nvPr/>
              </p:nvSpPr>
              <p:spPr bwMode="auto">
                <a:xfrm>
                  <a:off x="4657725" y="946151"/>
                  <a:ext cx="2151063" cy="1825625"/>
                </a:xfrm>
                <a:custGeom>
                  <a:avLst/>
                  <a:gdLst>
                    <a:gd name="T0" fmla="*/ 848 w 1696"/>
                    <a:gd name="T1" fmla="*/ 0 h 1440"/>
                    <a:gd name="T2" fmla="*/ 0 w 1696"/>
                    <a:gd name="T3" fmla="*/ 848 h 1440"/>
                    <a:gd name="T4" fmla="*/ 241 w 1696"/>
                    <a:gd name="T5" fmla="*/ 1440 h 1440"/>
                    <a:gd name="T6" fmla="*/ 718 w 1696"/>
                    <a:gd name="T7" fmla="*/ 1209 h 1440"/>
                    <a:gd name="T8" fmla="*/ 464 w 1696"/>
                    <a:gd name="T9" fmla="*/ 848 h 1440"/>
                    <a:gd name="T10" fmla="*/ 848 w 1696"/>
                    <a:gd name="T11" fmla="*/ 464 h 1440"/>
                    <a:gd name="T12" fmla="*/ 1232 w 1696"/>
                    <a:gd name="T13" fmla="*/ 848 h 1440"/>
                    <a:gd name="T14" fmla="*/ 1213 w 1696"/>
                    <a:gd name="T15" fmla="*/ 966 h 1440"/>
                    <a:gd name="T16" fmla="*/ 1293 w 1696"/>
                    <a:gd name="T17" fmla="*/ 966 h 1440"/>
                    <a:gd name="T18" fmla="*/ 1293 w 1696"/>
                    <a:gd name="T19" fmla="*/ 1062 h 1440"/>
                    <a:gd name="T20" fmla="*/ 1669 w 1696"/>
                    <a:gd name="T21" fmla="*/ 1062 h 1440"/>
                    <a:gd name="T22" fmla="*/ 1696 w 1696"/>
                    <a:gd name="T23" fmla="*/ 848 h 1440"/>
                    <a:gd name="T24" fmla="*/ 848 w 1696"/>
                    <a:gd name="T25" fmla="*/ 0 h 1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6" h="1440">
                      <a:moveTo>
                        <a:pt x="848" y="0"/>
                      </a:moveTo>
                      <a:cubicBezTo>
                        <a:pt x="380" y="0"/>
                        <a:pt x="0" y="380"/>
                        <a:pt x="0" y="848"/>
                      </a:cubicBezTo>
                      <a:cubicBezTo>
                        <a:pt x="0" y="1078"/>
                        <a:pt x="92" y="1287"/>
                        <a:pt x="241" y="1440"/>
                      </a:cubicBezTo>
                      <a:cubicBezTo>
                        <a:pt x="374" y="1315"/>
                        <a:pt x="540" y="1235"/>
                        <a:pt x="718" y="1209"/>
                      </a:cubicBezTo>
                      <a:cubicBezTo>
                        <a:pt x="570" y="1156"/>
                        <a:pt x="464" y="1014"/>
                        <a:pt x="464" y="848"/>
                      </a:cubicBezTo>
                      <a:cubicBezTo>
                        <a:pt x="464" y="636"/>
                        <a:pt x="636" y="464"/>
                        <a:pt x="848" y="464"/>
                      </a:cubicBezTo>
                      <a:cubicBezTo>
                        <a:pt x="1060" y="464"/>
                        <a:pt x="1232" y="636"/>
                        <a:pt x="1232" y="848"/>
                      </a:cubicBezTo>
                      <a:cubicBezTo>
                        <a:pt x="1232" y="889"/>
                        <a:pt x="1225" y="929"/>
                        <a:pt x="1213" y="966"/>
                      </a:cubicBezTo>
                      <a:cubicBezTo>
                        <a:pt x="1293" y="966"/>
                        <a:pt x="1293" y="966"/>
                        <a:pt x="1293" y="966"/>
                      </a:cubicBezTo>
                      <a:cubicBezTo>
                        <a:pt x="1293" y="1062"/>
                        <a:pt x="1293" y="1062"/>
                        <a:pt x="1293" y="1062"/>
                      </a:cubicBezTo>
                      <a:cubicBezTo>
                        <a:pt x="1669" y="1062"/>
                        <a:pt x="1669" y="1062"/>
                        <a:pt x="1669" y="1062"/>
                      </a:cubicBezTo>
                      <a:cubicBezTo>
                        <a:pt x="1687" y="994"/>
                        <a:pt x="1696" y="922"/>
                        <a:pt x="1696" y="848"/>
                      </a:cubicBezTo>
                      <a:cubicBezTo>
                        <a:pt x="1696" y="380"/>
                        <a:pt x="1316" y="0"/>
                        <a:pt x="848" y="0"/>
                      </a:cubicBezTo>
                      <a:close/>
                    </a:path>
                  </a:pathLst>
                </a:custGeom>
                <a:solidFill>
                  <a:schemeClr val="accent1"/>
                </a:solidFill>
                <a:ln>
                  <a:noFill/>
                </a:ln>
              </p:spPr>
              <p:txBody>
                <a:bodyPr vert="horz" wrap="square" lIns="55827" tIns="27914" rIns="55827" bIns="27914" numCol="1" anchor="t" anchorCtr="0" compatLnSpc="1"/>
                <a:lstStyle/>
                <a:p>
                  <a:pPr algn="just" eaLnBrk="0" fontAlgn="base" hangingPunct="0">
                    <a:lnSpc>
                      <a:spcPct val="120000"/>
                    </a:lnSpc>
                    <a:spcBef>
                      <a:spcPct val="0"/>
                    </a:spcBef>
                    <a:spcAft>
                      <a:spcPct val="0"/>
                    </a:spcAft>
                  </a:pPr>
                  <a:endParaRPr lang="en-US" sz="1735" dirty="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6" name="Group 13"/>
              <p:cNvGrpSpPr/>
              <p:nvPr userDrawn="1"/>
            </p:nvGrpSpPr>
            <p:grpSpPr>
              <a:xfrm>
                <a:off x="6240781" y="3111502"/>
                <a:ext cx="2434167" cy="3215217"/>
                <a:chOff x="4657725" y="2257426"/>
                <a:chExt cx="1825625" cy="2411413"/>
              </a:xfrm>
            </p:grpSpPr>
            <p:sp>
              <p:nvSpPr>
                <p:cNvPr id="18" name="Freeform 24"/>
                <p:cNvSpPr/>
                <p:nvPr/>
              </p:nvSpPr>
              <p:spPr bwMode="auto">
                <a:xfrm>
                  <a:off x="5753100" y="2257426"/>
                  <a:ext cx="593725" cy="1146175"/>
                </a:xfrm>
                <a:custGeom>
                  <a:avLst/>
                  <a:gdLst>
                    <a:gd name="T0" fmla="*/ 0 w 468"/>
                    <a:gd name="T1" fmla="*/ 55 h 904"/>
                    <a:gd name="T2" fmla="*/ 57 w 468"/>
                    <a:gd name="T3" fmla="*/ 30 h 904"/>
                    <a:gd name="T4" fmla="*/ 436 w 468"/>
                    <a:gd name="T5" fmla="*/ 397 h 904"/>
                    <a:gd name="T6" fmla="*/ 436 w 468"/>
                    <a:gd name="T7" fmla="*/ 508 h 904"/>
                    <a:gd name="T8" fmla="*/ 57 w 468"/>
                    <a:gd name="T9" fmla="*/ 874 h 904"/>
                    <a:gd name="T10" fmla="*/ 0 w 468"/>
                    <a:gd name="T11" fmla="*/ 849 h 904"/>
                    <a:gd name="T12" fmla="*/ 0 w 468"/>
                    <a:gd name="T13" fmla="*/ 55 h 904"/>
                  </a:gdLst>
                  <a:ahLst/>
                  <a:cxnLst>
                    <a:cxn ang="0">
                      <a:pos x="T0" y="T1"/>
                    </a:cxn>
                    <a:cxn ang="0">
                      <a:pos x="T2" y="T3"/>
                    </a:cxn>
                    <a:cxn ang="0">
                      <a:pos x="T4" y="T5"/>
                    </a:cxn>
                    <a:cxn ang="0">
                      <a:pos x="T6" y="T7"/>
                    </a:cxn>
                    <a:cxn ang="0">
                      <a:pos x="T8" y="T9"/>
                    </a:cxn>
                    <a:cxn ang="0">
                      <a:pos x="T10" y="T11"/>
                    </a:cxn>
                    <a:cxn ang="0">
                      <a:pos x="T12" y="T13"/>
                    </a:cxn>
                  </a:cxnLst>
                  <a:rect l="0" t="0" r="r" b="b"/>
                  <a:pathLst>
                    <a:path w="468" h="904">
                      <a:moveTo>
                        <a:pt x="0" y="55"/>
                      </a:moveTo>
                      <a:cubicBezTo>
                        <a:pt x="0" y="11"/>
                        <a:pt x="26" y="0"/>
                        <a:pt x="57" y="30"/>
                      </a:cubicBezTo>
                      <a:cubicBezTo>
                        <a:pt x="436" y="397"/>
                        <a:pt x="436" y="397"/>
                        <a:pt x="436" y="397"/>
                      </a:cubicBezTo>
                      <a:cubicBezTo>
                        <a:pt x="468" y="427"/>
                        <a:pt x="468" y="477"/>
                        <a:pt x="436" y="508"/>
                      </a:cubicBezTo>
                      <a:cubicBezTo>
                        <a:pt x="57" y="874"/>
                        <a:pt x="57" y="874"/>
                        <a:pt x="57" y="874"/>
                      </a:cubicBezTo>
                      <a:cubicBezTo>
                        <a:pt x="26" y="904"/>
                        <a:pt x="0" y="893"/>
                        <a:pt x="0" y="849"/>
                      </a:cubicBezTo>
                      <a:lnTo>
                        <a:pt x="0" y="55"/>
                      </a:lnTo>
                      <a:close/>
                    </a:path>
                  </a:pathLst>
                </a:custGeom>
                <a:solidFill>
                  <a:srgbClr val="F3A5FA"/>
                </a:solidFill>
                <a:ln>
                  <a:solidFill>
                    <a:srgbClr val="F3A5FA"/>
                  </a:solidFill>
                </a:ln>
              </p:spPr>
              <p:txBody>
                <a:bodyPr vert="horz" wrap="square" lIns="55827" tIns="27914" rIns="55827" bIns="27914" numCol="1" anchor="t" anchorCtr="0" compatLnSpc="1"/>
                <a:lstStyle/>
                <a:p>
                  <a:pPr algn="just" eaLnBrk="0" fontAlgn="base" hangingPunct="0">
                    <a:lnSpc>
                      <a:spcPct val="120000"/>
                    </a:lnSpc>
                    <a:spcBef>
                      <a:spcPct val="0"/>
                    </a:spcBef>
                    <a:spcAft>
                      <a:spcPct val="0"/>
                    </a:spcAft>
                  </a:pPr>
                  <a:endParaRPr lang="en-US" sz="1735" dirty="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9" name="Freeform 25"/>
                <p:cNvSpPr/>
                <p:nvPr/>
              </p:nvSpPr>
              <p:spPr bwMode="auto">
                <a:xfrm>
                  <a:off x="4657725" y="2517776"/>
                  <a:ext cx="1825625" cy="2151063"/>
                </a:xfrm>
                <a:custGeom>
                  <a:avLst/>
                  <a:gdLst>
                    <a:gd name="T0" fmla="*/ 1209 w 1440"/>
                    <a:gd name="T1" fmla="*/ 978 h 1696"/>
                    <a:gd name="T2" fmla="*/ 848 w 1440"/>
                    <a:gd name="T3" fmla="*/ 1232 h 1696"/>
                    <a:gd name="T4" fmla="*/ 464 w 1440"/>
                    <a:gd name="T5" fmla="*/ 848 h 1696"/>
                    <a:gd name="T6" fmla="*/ 848 w 1440"/>
                    <a:gd name="T7" fmla="*/ 464 h 1696"/>
                    <a:gd name="T8" fmla="*/ 969 w 1440"/>
                    <a:gd name="T9" fmla="*/ 483 h 1696"/>
                    <a:gd name="T10" fmla="*/ 969 w 1440"/>
                    <a:gd name="T11" fmla="*/ 9 h 1696"/>
                    <a:gd name="T12" fmla="*/ 848 w 1440"/>
                    <a:gd name="T13" fmla="*/ 0 h 1696"/>
                    <a:gd name="T14" fmla="*/ 0 w 1440"/>
                    <a:gd name="T15" fmla="*/ 848 h 1696"/>
                    <a:gd name="T16" fmla="*/ 848 w 1440"/>
                    <a:gd name="T17" fmla="*/ 1696 h 1696"/>
                    <a:gd name="T18" fmla="*/ 1440 w 1440"/>
                    <a:gd name="T19" fmla="*/ 1455 h 1696"/>
                    <a:gd name="T20" fmla="*/ 1209 w 1440"/>
                    <a:gd name="T21" fmla="*/ 978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0" h="1696">
                      <a:moveTo>
                        <a:pt x="1209" y="978"/>
                      </a:moveTo>
                      <a:cubicBezTo>
                        <a:pt x="1156" y="1126"/>
                        <a:pt x="1014" y="1232"/>
                        <a:pt x="848" y="1232"/>
                      </a:cubicBezTo>
                      <a:cubicBezTo>
                        <a:pt x="636" y="1232"/>
                        <a:pt x="464" y="1060"/>
                        <a:pt x="464" y="848"/>
                      </a:cubicBezTo>
                      <a:cubicBezTo>
                        <a:pt x="464" y="636"/>
                        <a:pt x="636" y="464"/>
                        <a:pt x="848" y="464"/>
                      </a:cubicBezTo>
                      <a:cubicBezTo>
                        <a:pt x="890" y="464"/>
                        <a:pt x="931" y="471"/>
                        <a:pt x="969" y="483"/>
                      </a:cubicBezTo>
                      <a:cubicBezTo>
                        <a:pt x="969" y="9"/>
                        <a:pt x="969" y="9"/>
                        <a:pt x="969" y="9"/>
                      </a:cubicBezTo>
                      <a:cubicBezTo>
                        <a:pt x="929" y="3"/>
                        <a:pt x="889" y="0"/>
                        <a:pt x="848" y="0"/>
                      </a:cubicBezTo>
                      <a:cubicBezTo>
                        <a:pt x="380" y="0"/>
                        <a:pt x="0" y="380"/>
                        <a:pt x="0" y="848"/>
                      </a:cubicBezTo>
                      <a:cubicBezTo>
                        <a:pt x="0" y="1316"/>
                        <a:pt x="380" y="1696"/>
                        <a:pt x="848" y="1696"/>
                      </a:cubicBezTo>
                      <a:cubicBezTo>
                        <a:pt x="1078" y="1696"/>
                        <a:pt x="1287" y="1604"/>
                        <a:pt x="1440" y="1455"/>
                      </a:cubicBezTo>
                      <a:cubicBezTo>
                        <a:pt x="1315" y="1322"/>
                        <a:pt x="1235" y="1156"/>
                        <a:pt x="1209" y="978"/>
                      </a:cubicBezTo>
                      <a:close/>
                    </a:path>
                  </a:pathLst>
                </a:custGeom>
                <a:solidFill>
                  <a:srgbClr val="F3A5FA"/>
                </a:solidFill>
                <a:ln>
                  <a:solidFill>
                    <a:srgbClr val="F3A5FA"/>
                  </a:solidFill>
                </a:ln>
              </p:spPr>
              <p:txBody>
                <a:bodyPr vert="horz" wrap="square" lIns="55827" tIns="27914" rIns="55827" bIns="27914" numCol="1" anchor="t" anchorCtr="0" compatLnSpc="1"/>
                <a:lstStyle/>
                <a:p>
                  <a:pPr algn="just" eaLnBrk="0" fontAlgn="base" hangingPunct="0">
                    <a:lnSpc>
                      <a:spcPct val="120000"/>
                    </a:lnSpc>
                    <a:spcBef>
                      <a:spcPct val="0"/>
                    </a:spcBef>
                    <a:spcAft>
                      <a:spcPct val="0"/>
                    </a:spcAft>
                  </a:pPr>
                  <a:endParaRPr lang="en-US" sz="1735" dirty="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7" name="Group 14"/>
              <p:cNvGrpSpPr/>
              <p:nvPr userDrawn="1"/>
            </p:nvGrpSpPr>
            <p:grpSpPr>
              <a:xfrm>
                <a:off x="7967980" y="3892551"/>
                <a:ext cx="3236384" cy="2434167"/>
                <a:chOff x="5953125" y="2843213"/>
                <a:chExt cx="2427288" cy="1825625"/>
              </a:xfrm>
            </p:grpSpPr>
            <p:sp>
              <p:nvSpPr>
                <p:cNvPr id="16" name="Freeform 22"/>
                <p:cNvSpPr/>
                <p:nvPr/>
              </p:nvSpPr>
              <p:spPr bwMode="auto">
                <a:xfrm>
                  <a:off x="5953125" y="2989263"/>
                  <a:ext cx="1146175" cy="593725"/>
                </a:xfrm>
                <a:custGeom>
                  <a:avLst/>
                  <a:gdLst>
                    <a:gd name="T0" fmla="*/ 55 w 904"/>
                    <a:gd name="T1" fmla="*/ 468 h 468"/>
                    <a:gd name="T2" fmla="*/ 30 w 904"/>
                    <a:gd name="T3" fmla="*/ 411 h 468"/>
                    <a:gd name="T4" fmla="*/ 396 w 904"/>
                    <a:gd name="T5" fmla="*/ 32 h 468"/>
                    <a:gd name="T6" fmla="*/ 507 w 904"/>
                    <a:gd name="T7" fmla="*/ 32 h 468"/>
                    <a:gd name="T8" fmla="*/ 873 w 904"/>
                    <a:gd name="T9" fmla="*/ 411 h 468"/>
                    <a:gd name="T10" fmla="*/ 849 w 904"/>
                    <a:gd name="T11" fmla="*/ 468 h 468"/>
                    <a:gd name="T12" fmla="*/ 55 w 904"/>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904" h="468">
                      <a:moveTo>
                        <a:pt x="55" y="468"/>
                      </a:moveTo>
                      <a:cubicBezTo>
                        <a:pt x="11" y="468"/>
                        <a:pt x="0" y="442"/>
                        <a:pt x="30" y="411"/>
                      </a:cubicBezTo>
                      <a:cubicBezTo>
                        <a:pt x="396" y="32"/>
                        <a:pt x="396" y="32"/>
                        <a:pt x="396" y="32"/>
                      </a:cubicBezTo>
                      <a:cubicBezTo>
                        <a:pt x="427" y="0"/>
                        <a:pt x="477" y="0"/>
                        <a:pt x="507" y="32"/>
                      </a:cubicBezTo>
                      <a:cubicBezTo>
                        <a:pt x="873" y="411"/>
                        <a:pt x="873" y="411"/>
                        <a:pt x="873" y="411"/>
                      </a:cubicBezTo>
                      <a:cubicBezTo>
                        <a:pt x="904" y="442"/>
                        <a:pt x="893" y="468"/>
                        <a:pt x="849" y="468"/>
                      </a:cubicBezTo>
                      <a:lnTo>
                        <a:pt x="55" y="468"/>
                      </a:lnTo>
                      <a:close/>
                    </a:path>
                  </a:pathLst>
                </a:custGeom>
                <a:solidFill>
                  <a:schemeClr val="accent4"/>
                </a:solidFill>
                <a:ln>
                  <a:noFill/>
                </a:ln>
              </p:spPr>
              <p:txBody>
                <a:bodyPr vert="horz" wrap="square" lIns="55827" tIns="27914" rIns="55827" bIns="27914" numCol="1" anchor="t" anchorCtr="0" compatLnSpc="1"/>
                <a:lstStyle/>
                <a:p>
                  <a:pPr algn="just" eaLnBrk="0" fontAlgn="base" hangingPunct="0">
                    <a:lnSpc>
                      <a:spcPct val="120000"/>
                    </a:lnSpc>
                    <a:spcBef>
                      <a:spcPct val="0"/>
                    </a:spcBef>
                    <a:spcAft>
                      <a:spcPct val="0"/>
                    </a:spcAft>
                  </a:pPr>
                  <a:endParaRPr lang="en-US" sz="1735" dirty="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7" name="Freeform 23"/>
                <p:cNvSpPr/>
                <p:nvPr/>
              </p:nvSpPr>
              <p:spPr bwMode="auto">
                <a:xfrm>
                  <a:off x="6230938" y="2843213"/>
                  <a:ext cx="2149475" cy="1825625"/>
                </a:xfrm>
                <a:custGeom>
                  <a:avLst/>
                  <a:gdLst>
                    <a:gd name="T0" fmla="*/ 978 w 1696"/>
                    <a:gd name="T1" fmla="*/ 231 h 1440"/>
                    <a:gd name="T2" fmla="*/ 1232 w 1696"/>
                    <a:gd name="T3" fmla="*/ 592 h 1440"/>
                    <a:gd name="T4" fmla="*/ 848 w 1696"/>
                    <a:gd name="T5" fmla="*/ 976 h 1440"/>
                    <a:gd name="T6" fmla="*/ 464 w 1696"/>
                    <a:gd name="T7" fmla="*/ 592 h 1440"/>
                    <a:gd name="T8" fmla="*/ 487 w 1696"/>
                    <a:gd name="T9" fmla="*/ 462 h 1440"/>
                    <a:gd name="T10" fmla="*/ 10 w 1696"/>
                    <a:gd name="T11" fmla="*/ 462 h 1440"/>
                    <a:gd name="T12" fmla="*/ 0 w 1696"/>
                    <a:gd name="T13" fmla="*/ 592 h 1440"/>
                    <a:gd name="T14" fmla="*/ 848 w 1696"/>
                    <a:gd name="T15" fmla="*/ 1440 h 1440"/>
                    <a:gd name="T16" fmla="*/ 1696 w 1696"/>
                    <a:gd name="T17" fmla="*/ 592 h 1440"/>
                    <a:gd name="T18" fmla="*/ 1455 w 1696"/>
                    <a:gd name="T19" fmla="*/ 0 h 1440"/>
                    <a:gd name="T20" fmla="*/ 978 w 1696"/>
                    <a:gd name="T21" fmla="*/ 231 h 1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96" h="1440">
                      <a:moveTo>
                        <a:pt x="978" y="231"/>
                      </a:moveTo>
                      <a:cubicBezTo>
                        <a:pt x="1126" y="284"/>
                        <a:pt x="1232" y="426"/>
                        <a:pt x="1232" y="592"/>
                      </a:cubicBezTo>
                      <a:cubicBezTo>
                        <a:pt x="1232" y="804"/>
                        <a:pt x="1060" y="976"/>
                        <a:pt x="848" y="976"/>
                      </a:cubicBezTo>
                      <a:cubicBezTo>
                        <a:pt x="636" y="976"/>
                        <a:pt x="464" y="804"/>
                        <a:pt x="464" y="592"/>
                      </a:cubicBezTo>
                      <a:cubicBezTo>
                        <a:pt x="464" y="546"/>
                        <a:pt x="472" y="503"/>
                        <a:pt x="487" y="462"/>
                      </a:cubicBezTo>
                      <a:cubicBezTo>
                        <a:pt x="10" y="462"/>
                        <a:pt x="10" y="462"/>
                        <a:pt x="10" y="462"/>
                      </a:cubicBezTo>
                      <a:cubicBezTo>
                        <a:pt x="3" y="504"/>
                        <a:pt x="0" y="548"/>
                        <a:pt x="0" y="592"/>
                      </a:cubicBezTo>
                      <a:cubicBezTo>
                        <a:pt x="0" y="1060"/>
                        <a:pt x="380" y="1440"/>
                        <a:pt x="848" y="1440"/>
                      </a:cubicBezTo>
                      <a:cubicBezTo>
                        <a:pt x="1316" y="1440"/>
                        <a:pt x="1696" y="1060"/>
                        <a:pt x="1696" y="592"/>
                      </a:cubicBezTo>
                      <a:cubicBezTo>
                        <a:pt x="1696" y="362"/>
                        <a:pt x="1604" y="153"/>
                        <a:pt x="1455" y="0"/>
                      </a:cubicBezTo>
                      <a:cubicBezTo>
                        <a:pt x="1322" y="125"/>
                        <a:pt x="1156" y="205"/>
                        <a:pt x="978" y="231"/>
                      </a:cubicBezTo>
                      <a:close/>
                    </a:path>
                  </a:pathLst>
                </a:custGeom>
                <a:solidFill>
                  <a:schemeClr val="accent4"/>
                </a:solidFill>
                <a:ln>
                  <a:noFill/>
                </a:ln>
              </p:spPr>
              <p:txBody>
                <a:bodyPr vert="horz" wrap="square" lIns="55827" tIns="27914" rIns="55827" bIns="27914" numCol="1" anchor="t" anchorCtr="0" compatLnSpc="1"/>
                <a:lstStyle/>
                <a:p>
                  <a:pPr algn="just" eaLnBrk="0" fontAlgn="base" hangingPunct="0">
                    <a:lnSpc>
                      <a:spcPct val="120000"/>
                    </a:lnSpc>
                    <a:spcBef>
                      <a:spcPct val="0"/>
                    </a:spcBef>
                    <a:spcAft>
                      <a:spcPct val="0"/>
                    </a:spcAft>
                  </a:pPr>
                  <a:endParaRPr lang="en-US" sz="1735" dirty="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8" name="Group 15"/>
              <p:cNvGrpSpPr/>
              <p:nvPr userDrawn="1"/>
            </p:nvGrpSpPr>
            <p:grpSpPr>
              <a:xfrm>
                <a:off x="8770198" y="1363135"/>
                <a:ext cx="2434167" cy="3276600"/>
                <a:chOff x="6554788" y="946151"/>
                <a:chExt cx="1825625" cy="2457450"/>
              </a:xfrm>
            </p:grpSpPr>
            <p:sp>
              <p:nvSpPr>
                <p:cNvPr id="14" name="Freeform 20"/>
                <p:cNvSpPr/>
                <p:nvPr/>
              </p:nvSpPr>
              <p:spPr bwMode="auto">
                <a:xfrm>
                  <a:off x="6691313" y="2257426"/>
                  <a:ext cx="593725" cy="1146175"/>
                </a:xfrm>
                <a:custGeom>
                  <a:avLst/>
                  <a:gdLst>
                    <a:gd name="T0" fmla="*/ 468 w 468"/>
                    <a:gd name="T1" fmla="*/ 849 h 904"/>
                    <a:gd name="T2" fmla="*/ 410 w 468"/>
                    <a:gd name="T3" fmla="*/ 874 h 904"/>
                    <a:gd name="T4" fmla="*/ 32 w 468"/>
                    <a:gd name="T5" fmla="*/ 508 h 904"/>
                    <a:gd name="T6" fmla="*/ 32 w 468"/>
                    <a:gd name="T7" fmla="*/ 397 h 904"/>
                    <a:gd name="T8" fmla="*/ 410 w 468"/>
                    <a:gd name="T9" fmla="*/ 30 h 904"/>
                    <a:gd name="T10" fmla="*/ 468 w 468"/>
                    <a:gd name="T11" fmla="*/ 55 h 904"/>
                    <a:gd name="T12" fmla="*/ 468 w 468"/>
                    <a:gd name="T13" fmla="*/ 849 h 904"/>
                  </a:gdLst>
                  <a:ahLst/>
                  <a:cxnLst>
                    <a:cxn ang="0">
                      <a:pos x="T0" y="T1"/>
                    </a:cxn>
                    <a:cxn ang="0">
                      <a:pos x="T2" y="T3"/>
                    </a:cxn>
                    <a:cxn ang="0">
                      <a:pos x="T4" y="T5"/>
                    </a:cxn>
                    <a:cxn ang="0">
                      <a:pos x="T6" y="T7"/>
                    </a:cxn>
                    <a:cxn ang="0">
                      <a:pos x="T8" y="T9"/>
                    </a:cxn>
                    <a:cxn ang="0">
                      <a:pos x="T10" y="T11"/>
                    </a:cxn>
                    <a:cxn ang="0">
                      <a:pos x="T12" y="T13"/>
                    </a:cxn>
                  </a:cxnLst>
                  <a:rect l="0" t="0" r="r" b="b"/>
                  <a:pathLst>
                    <a:path w="468" h="904">
                      <a:moveTo>
                        <a:pt x="468" y="849"/>
                      </a:moveTo>
                      <a:cubicBezTo>
                        <a:pt x="468" y="893"/>
                        <a:pt x="442" y="904"/>
                        <a:pt x="410" y="874"/>
                      </a:cubicBezTo>
                      <a:cubicBezTo>
                        <a:pt x="32" y="508"/>
                        <a:pt x="32" y="508"/>
                        <a:pt x="32" y="508"/>
                      </a:cubicBezTo>
                      <a:cubicBezTo>
                        <a:pt x="0" y="477"/>
                        <a:pt x="0" y="427"/>
                        <a:pt x="32" y="397"/>
                      </a:cubicBezTo>
                      <a:cubicBezTo>
                        <a:pt x="410" y="30"/>
                        <a:pt x="410" y="30"/>
                        <a:pt x="410" y="30"/>
                      </a:cubicBezTo>
                      <a:cubicBezTo>
                        <a:pt x="442" y="0"/>
                        <a:pt x="468" y="11"/>
                        <a:pt x="468" y="55"/>
                      </a:cubicBezTo>
                      <a:lnTo>
                        <a:pt x="468" y="849"/>
                      </a:lnTo>
                      <a:close/>
                    </a:path>
                  </a:pathLst>
                </a:custGeom>
                <a:solidFill>
                  <a:schemeClr val="accent2"/>
                </a:solidFill>
                <a:ln>
                  <a:noFill/>
                </a:ln>
              </p:spPr>
              <p:txBody>
                <a:bodyPr vert="horz" wrap="square" lIns="55827" tIns="27914" rIns="55827" bIns="27914" numCol="1" anchor="t" anchorCtr="0" compatLnSpc="1"/>
                <a:lstStyle/>
                <a:p>
                  <a:pPr algn="just" eaLnBrk="0" fontAlgn="base" hangingPunct="0">
                    <a:lnSpc>
                      <a:spcPct val="120000"/>
                    </a:lnSpc>
                    <a:spcBef>
                      <a:spcPct val="0"/>
                    </a:spcBef>
                    <a:spcAft>
                      <a:spcPct val="0"/>
                    </a:spcAft>
                  </a:pPr>
                  <a:endParaRPr lang="en-US" sz="1735" dirty="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5" name="Freeform 21"/>
                <p:cNvSpPr/>
                <p:nvPr/>
              </p:nvSpPr>
              <p:spPr bwMode="auto">
                <a:xfrm>
                  <a:off x="6554788" y="946151"/>
                  <a:ext cx="1825625" cy="2151063"/>
                </a:xfrm>
                <a:custGeom>
                  <a:avLst/>
                  <a:gdLst>
                    <a:gd name="T0" fmla="*/ 592 w 1440"/>
                    <a:gd name="T1" fmla="*/ 0 h 1696"/>
                    <a:gd name="T2" fmla="*/ 0 w 1440"/>
                    <a:gd name="T3" fmla="*/ 241 h 1696"/>
                    <a:gd name="T4" fmla="*/ 231 w 1440"/>
                    <a:gd name="T5" fmla="*/ 718 h 1696"/>
                    <a:gd name="T6" fmla="*/ 592 w 1440"/>
                    <a:gd name="T7" fmla="*/ 464 h 1696"/>
                    <a:gd name="T8" fmla="*/ 976 w 1440"/>
                    <a:gd name="T9" fmla="*/ 848 h 1696"/>
                    <a:gd name="T10" fmla="*/ 592 w 1440"/>
                    <a:gd name="T11" fmla="*/ 1232 h 1696"/>
                    <a:gd name="T12" fmla="*/ 452 w 1440"/>
                    <a:gd name="T13" fmla="*/ 1206 h 1696"/>
                    <a:gd name="T14" fmla="*/ 452 w 1440"/>
                    <a:gd name="T15" fmla="*/ 1300 h 1696"/>
                    <a:gd name="T16" fmla="*/ 389 w 1440"/>
                    <a:gd name="T17" fmla="*/ 1300 h 1696"/>
                    <a:gd name="T18" fmla="*/ 389 w 1440"/>
                    <a:gd name="T19" fmla="*/ 1671 h 1696"/>
                    <a:gd name="T20" fmla="*/ 592 w 1440"/>
                    <a:gd name="T21" fmla="*/ 1696 h 1696"/>
                    <a:gd name="T22" fmla="*/ 1440 w 1440"/>
                    <a:gd name="T23" fmla="*/ 848 h 1696"/>
                    <a:gd name="T24" fmla="*/ 592 w 1440"/>
                    <a:gd name="T25" fmla="*/ 0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0" h="1696">
                      <a:moveTo>
                        <a:pt x="592" y="0"/>
                      </a:moveTo>
                      <a:cubicBezTo>
                        <a:pt x="362" y="0"/>
                        <a:pt x="153" y="92"/>
                        <a:pt x="0" y="241"/>
                      </a:cubicBezTo>
                      <a:cubicBezTo>
                        <a:pt x="125" y="374"/>
                        <a:pt x="205" y="540"/>
                        <a:pt x="231" y="718"/>
                      </a:cubicBezTo>
                      <a:cubicBezTo>
                        <a:pt x="284" y="570"/>
                        <a:pt x="426" y="464"/>
                        <a:pt x="592" y="464"/>
                      </a:cubicBezTo>
                      <a:cubicBezTo>
                        <a:pt x="804" y="464"/>
                        <a:pt x="976" y="636"/>
                        <a:pt x="976" y="848"/>
                      </a:cubicBezTo>
                      <a:cubicBezTo>
                        <a:pt x="976" y="1060"/>
                        <a:pt x="804" y="1232"/>
                        <a:pt x="592" y="1232"/>
                      </a:cubicBezTo>
                      <a:cubicBezTo>
                        <a:pt x="543" y="1232"/>
                        <a:pt x="495" y="1223"/>
                        <a:pt x="452" y="1206"/>
                      </a:cubicBezTo>
                      <a:cubicBezTo>
                        <a:pt x="452" y="1300"/>
                        <a:pt x="452" y="1300"/>
                        <a:pt x="452" y="1300"/>
                      </a:cubicBezTo>
                      <a:cubicBezTo>
                        <a:pt x="389" y="1300"/>
                        <a:pt x="389" y="1300"/>
                        <a:pt x="389" y="1300"/>
                      </a:cubicBezTo>
                      <a:cubicBezTo>
                        <a:pt x="389" y="1671"/>
                        <a:pt x="389" y="1671"/>
                        <a:pt x="389" y="1671"/>
                      </a:cubicBezTo>
                      <a:cubicBezTo>
                        <a:pt x="454" y="1687"/>
                        <a:pt x="522" y="1696"/>
                        <a:pt x="592" y="1696"/>
                      </a:cubicBezTo>
                      <a:cubicBezTo>
                        <a:pt x="1060" y="1696"/>
                        <a:pt x="1440" y="1316"/>
                        <a:pt x="1440" y="848"/>
                      </a:cubicBezTo>
                      <a:cubicBezTo>
                        <a:pt x="1440" y="380"/>
                        <a:pt x="1060" y="0"/>
                        <a:pt x="592" y="0"/>
                      </a:cubicBezTo>
                      <a:close/>
                    </a:path>
                  </a:pathLst>
                </a:custGeom>
                <a:solidFill>
                  <a:schemeClr val="accent2"/>
                </a:solidFill>
                <a:ln>
                  <a:noFill/>
                </a:ln>
              </p:spPr>
              <p:txBody>
                <a:bodyPr vert="horz" wrap="square" lIns="55827" tIns="27914" rIns="55827" bIns="27914" numCol="1" anchor="t" anchorCtr="0" compatLnSpc="1"/>
                <a:lstStyle/>
                <a:p>
                  <a:pPr algn="just" eaLnBrk="0" fontAlgn="base" hangingPunct="0">
                    <a:lnSpc>
                      <a:spcPct val="120000"/>
                    </a:lnSpc>
                    <a:spcBef>
                      <a:spcPct val="0"/>
                    </a:spcBef>
                    <a:spcAft>
                      <a:spcPct val="0"/>
                    </a:spcAft>
                  </a:pPr>
                  <a:endParaRPr lang="en-US" sz="1735" dirty="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grpSp>
          <p:sp>
            <p:nvSpPr>
              <p:cNvPr id="10" name="TextBox 16"/>
              <p:cNvSpPr txBox="1"/>
              <p:nvPr userDrawn="1"/>
            </p:nvSpPr>
            <p:spPr>
              <a:xfrm rot="18920653">
                <a:off x="6614389" y="1959675"/>
                <a:ext cx="1084827" cy="451405"/>
              </a:xfrm>
              <a:prstGeom prst="rect">
                <a:avLst/>
              </a:prstGeom>
              <a:noFill/>
            </p:spPr>
            <p:txBody>
              <a:bodyPr wrap="none" rtlCol="0" anchor="ctr">
                <a:prstTxWarp prst="textArchUp">
                  <a:avLst/>
                </a:prstTxWarp>
                <a:spAutoFit/>
              </a:bodyPr>
              <a:lstStyle/>
              <a:p>
                <a:pPr algn="just" eaLnBrk="0" fontAlgn="base" hangingPunct="0">
                  <a:lnSpc>
                    <a:spcPct val="120000"/>
                  </a:lnSpc>
                  <a:spcBef>
                    <a:spcPct val="0"/>
                  </a:spcBef>
                  <a:spcAft>
                    <a:spcPct val="0"/>
                  </a:spcAft>
                </a:pPr>
                <a:endParaRPr lang="id-ID" sz="2400" b="1" dirty="0">
                  <a:solidFill>
                    <a:srgbClr val="FFFFFF"/>
                  </a:solidFill>
                  <a:latin typeface="黑体" panose="02010609060101010101" pitchFamily="49" charset="-122"/>
                  <a:ea typeface="黑体" panose="02010609060101010101" pitchFamily="49" charset="-122"/>
                  <a:cs typeface="+mn-ea"/>
                  <a:sym typeface="Arial" panose="020B0604020202020204" pitchFamily="34" charset="0"/>
                </a:endParaRPr>
              </a:p>
            </p:txBody>
          </p:sp>
          <p:sp>
            <p:nvSpPr>
              <p:cNvPr id="11" name="TextBox 17"/>
              <p:cNvSpPr txBox="1"/>
              <p:nvPr userDrawn="1"/>
            </p:nvSpPr>
            <p:spPr>
              <a:xfrm rot="2904439">
                <a:off x="9713530" y="2071950"/>
                <a:ext cx="1348425" cy="451405"/>
              </a:xfrm>
              <a:prstGeom prst="rect">
                <a:avLst/>
              </a:prstGeom>
              <a:noFill/>
            </p:spPr>
            <p:txBody>
              <a:bodyPr wrap="none" rtlCol="0" anchor="ctr">
                <a:prstTxWarp prst="textArchUp">
                  <a:avLst/>
                </a:prstTxWarp>
                <a:spAutoFit/>
              </a:bodyPr>
              <a:lstStyle/>
              <a:p>
                <a:pPr algn="just" eaLnBrk="0" fontAlgn="base" hangingPunct="0">
                  <a:lnSpc>
                    <a:spcPct val="120000"/>
                  </a:lnSpc>
                  <a:spcBef>
                    <a:spcPct val="0"/>
                  </a:spcBef>
                  <a:spcAft>
                    <a:spcPct val="0"/>
                  </a:spcAft>
                </a:pPr>
                <a:endParaRPr lang="id-ID" sz="1735" b="1" dirty="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2" name="TextBox 18"/>
              <p:cNvSpPr txBox="1"/>
              <p:nvPr userDrawn="1"/>
            </p:nvSpPr>
            <p:spPr>
              <a:xfrm rot="3328205">
                <a:off x="6381839" y="5171931"/>
                <a:ext cx="1276620" cy="451405"/>
              </a:xfrm>
              <a:prstGeom prst="rect">
                <a:avLst/>
              </a:prstGeom>
              <a:noFill/>
            </p:spPr>
            <p:txBody>
              <a:bodyPr wrap="none" rtlCol="0" anchor="ctr">
                <a:prstTxWarp prst="textArchDown">
                  <a:avLst/>
                </a:prstTxWarp>
                <a:spAutoFit/>
              </a:bodyPr>
              <a:lstStyle/>
              <a:p>
                <a:pPr algn="just" eaLnBrk="0" fontAlgn="base" hangingPunct="0">
                  <a:lnSpc>
                    <a:spcPct val="120000"/>
                  </a:lnSpc>
                  <a:spcBef>
                    <a:spcPct val="0"/>
                  </a:spcBef>
                  <a:spcAft>
                    <a:spcPct val="0"/>
                  </a:spcAft>
                </a:pPr>
                <a:endParaRPr lang="id-ID" sz="1735" b="1" dirty="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3" name="TextBox 19"/>
              <p:cNvSpPr txBox="1"/>
              <p:nvPr userDrawn="1"/>
            </p:nvSpPr>
            <p:spPr>
              <a:xfrm rot="18872992">
                <a:off x="9524091" y="5259067"/>
                <a:ext cx="1436559" cy="451405"/>
              </a:xfrm>
              <a:prstGeom prst="rect">
                <a:avLst/>
              </a:prstGeom>
              <a:noFill/>
            </p:spPr>
            <p:txBody>
              <a:bodyPr wrap="none" rtlCol="0" anchor="ctr">
                <a:prstTxWarp prst="textArchDown">
                  <a:avLst/>
                </a:prstTxWarp>
                <a:spAutoFit/>
              </a:bodyPr>
              <a:lstStyle/>
              <a:p>
                <a:pPr algn="just" eaLnBrk="0" fontAlgn="base" hangingPunct="0">
                  <a:lnSpc>
                    <a:spcPct val="120000"/>
                  </a:lnSpc>
                  <a:spcBef>
                    <a:spcPct val="0"/>
                  </a:spcBef>
                  <a:spcAft>
                    <a:spcPct val="0"/>
                  </a:spcAft>
                </a:pPr>
                <a:endParaRPr lang="id-ID" sz="1735" b="1" dirty="0">
                  <a:solidFill>
                    <a:srgbClr val="FFFFFF"/>
                  </a:solidFill>
                  <a:latin typeface="Arial" panose="020B0604020202020204" pitchFamily="34" charset="0"/>
                  <a:ea typeface="微软雅黑" panose="020B0503020204020204" charset="-122"/>
                  <a:cs typeface="+mn-ea"/>
                  <a:sym typeface="Arial" panose="020B0604020202020204" pitchFamily="34" charset="0"/>
                </a:endParaRPr>
              </a:p>
            </p:txBody>
          </p:sp>
        </p:grpSp>
        <p:sp>
          <p:nvSpPr>
            <p:cNvPr id="3" name="文本框 2"/>
            <p:cNvSpPr txBox="1"/>
            <p:nvPr/>
          </p:nvSpPr>
          <p:spPr>
            <a:xfrm>
              <a:off x="3493191" y="1892216"/>
              <a:ext cx="692660" cy="494788"/>
            </a:xfrm>
            <a:prstGeom prst="rect">
              <a:avLst/>
            </a:prstGeom>
            <a:noFill/>
          </p:spPr>
          <p:txBody>
            <a:bodyPr wrap="square" rtlCol="0" anchor="t">
              <a:spAutoFit/>
            </a:bodyPr>
            <a:lstStyle/>
            <a:p>
              <a:pPr eaLnBrk="0" fontAlgn="base" hangingPunct="0">
                <a:spcBef>
                  <a:spcPct val="0"/>
                </a:spcBef>
                <a:spcAft>
                  <a:spcPct val="0"/>
                </a:spcAft>
              </a:pPr>
              <a:r>
                <a:rPr lang="en-US" altLang="zh-CN" sz="2400" b="1" dirty="0">
                  <a:solidFill>
                    <a:srgbClr val="000000"/>
                  </a:solidFill>
                  <a:latin typeface="Times New Roman"/>
                  <a:ea typeface="黑体" panose="02010609060101010101" pitchFamily="49" charset="-122"/>
                  <a:sym typeface="+mn-ea"/>
                </a:rPr>
                <a:t>01</a:t>
              </a:r>
              <a:endParaRPr lang="zh-CN" altLang="en-US" b="1" dirty="0">
                <a:solidFill>
                  <a:srgbClr val="000000"/>
                </a:solidFill>
                <a:latin typeface="Times New Roman"/>
                <a:ea typeface="黑体" panose="02010609060101010101" pitchFamily="49" charset="-122"/>
                <a:sym typeface="+mn-ea"/>
              </a:endParaRPr>
            </a:p>
          </p:txBody>
        </p:sp>
        <p:sp>
          <p:nvSpPr>
            <p:cNvPr id="22" name="文本框 21"/>
            <p:cNvSpPr txBox="1"/>
            <p:nvPr/>
          </p:nvSpPr>
          <p:spPr>
            <a:xfrm>
              <a:off x="3495785" y="4936191"/>
              <a:ext cx="690065" cy="494788"/>
            </a:xfrm>
            <a:prstGeom prst="rect">
              <a:avLst/>
            </a:prstGeom>
            <a:noFill/>
          </p:spPr>
          <p:txBody>
            <a:bodyPr wrap="square" rtlCol="0" anchor="t">
              <a:spAutoFit/>
            </a:bodyPr>
            <a:lstStyle/>
            <a:p>
              <a:pPr eaLnBrk="0" fontAlgn="base" hangingPunct="0">
                <a:spcBef>
                  <a:spcPct val="0"/>
                </a:spcBef>
                <a:spcAft>
                  <a:spcPct val="0"/>
                </a:spcAft>
              </a:pPr>
              <a:r>
                <a:rPr lang="en-US" altLang="zh-CN" sz="2400" b="1" dirty="0">
                  <a:solidFill>
                    <a:srgbClr val="000000"/>
                  </a:solidFill>
                  <a:latin typeface="Times New Roman"/>
                  <a:ea typeface="黑体" panose="02010609060101010101" pitchFamily="49" charset="-122"/>
                  <a:sym typeface="+mn-ea"/>
                </a:rPr>
                <a:t>03</a:t>
              </a:r>
              <a:endParaRPr lang="zh-CN" altLang="en-US" b="1" dirty="0">
                <a:solidFill>
                  <a:srgbClr val="000000"/>
                </a:solidFill>
                <a:latin typeface="Times New Roman"/>
                <a:ea typeface="黑体" panose="02010609060101010101" pitchFamily="49" charset="-122"/>
                <a:sym typeface="+mn-ea"/>
              </a:endParaRPr>
            </a:p>
          </p:txBody>
        </p:sp>
        <p:sp>
          <p:nvSpPr>
            <p:cNvPr id="23" name="文本框 22"/>
            <p:cNvSpPr txBox="1"/>
            <p:nvPr/>
          </p:nvSpPr>
          <p:spPr>
            <a:xfrm>
              <a:off x="5329371" y="1921029"/>
              <a:ext cx="739447" cy="494788"/>
            </a:xfrm>
            <a:prstGeom prst="rect">
              <a:avLst/>
            </a:prstGeom>
            <a:noFill/>
          </p:spPr>
          <p:txBody>
            <a:bodyPr wrap="square" rtlCol="0" anchor="t">
              <a:spAutoFit/>
            </a:bodyPr>
            <a:lstStyle/>
            <a:p>
              <a:pPr eaLnBrk="0" fontAlgn="base" hangingPunct="0">
                <a:spcBef>
                  <a:spcPct val="0"/>
                </a:spcBef>
                <a:spcAft>
                  <a:spcPct val="0"/>
                </a:spcAft>
              </a:pPr>
              <a:r>
                <a:rPr lang="en-US" altLang="zh-CN" sz="2400" b="1" dirty="0">
                  <a:solidFill>
                    <a:srgbClr val="000000"/>
                  </a:solidFill>
                  <a:latin typeface="Times New Roman"/>
                  <a:ea typeface="黑体" panose="02010609060101010101" pitchFamily="49" charset="-122"/>
                  <a:sym typeface="+mn-ea"/>
                </a:rPr>
                <a:t>02</a:t>
              </a:r>
              <a:endParaRPr lang="zh-CN" altLang="en-US" b="1" dirty="0">
                <a:solidFill>
                  <a:srgbClr val="000000"/>
                </a:solidFill>
                <a:latin typeface="Times New Roman"/>
                <a:ea typeface="黑体" panose="02010609060101010101" pitchFamily="49" charset="-122"/>
                <a:sym typeface="+mn-ea"/>
              </a:endParaRPr>
            </a:p>
          </p:txBody>
        </p:sp>
        <p:sp>
          <p:nvSpPr>
            <p:cNvPr id="24" name="文本框 23"/>
            <p:cNvSpPr txBox="1"/>
            <p:nvPr/>
          </p:nvSpPr>
          <p:spPr>
            <a:xfrm>
              <a:off x="5352763" y="4934361"/>
              <a:ext cx="745309" cy="494788"/>
            </a:xfrm>
            <a:prstGeom prst="rect">
              <a:avLst/>
            </a:prstGeom>
            <a:noFill/>
          </p:spPr>
          <p:txBody>
            <a:bodyPr wrap="square" rtlCol="0" anchor="t">
              <a:spAutoFit/>
            </a:bodyPr>
            <a:lstStyle/>
            <a:p>
              <a:pPr eaLnBrk="0" fontAlgn="base" hangingPunct="0">
                <a:spcBef>
                  <a:spcPct val="0"/>
                </a:spcBef>
                <a:spcAft>
                  <a:spcPct val="0"/>
                </a:spcAft>
              </a:pPr>
              <a:r>
                <a:rPr lang="en-US" altLang="zh-CN" sz="2400" b="1" dirty="0">
                  <a:solidFill>
                    <a:srgbClr val="FFFFFF"/>
                  </a:solidFill>
                  <a:latin typeface="Times New Roman"/>
                  <a:ea typeface="黑体" panose="02010609060101010101" pitchFamily="49" charset="-122"/>
                  <a:sym typeface="+mn-ea"/>
                </a:rPr>
                <a:t>04</a:t>
              </a:r>
              <a:endParaRPr lang="zh-CN" altLang="en-US" b="1" dirty="0">
                <a:solidFill>
                  <a:srgbClr val="FFFFFF"/>
                </a:solidFill>
                <a:latin typeface="Times New Roman"/>
                <a:ea typeface="黑体" panose="02010609060101010101" pitchFamily="49" charset="-122"/>
                <a:sym typeface="+mn-ea"/>
              </a:endParaRPr>
            </a:p>
          </p:txBody>
        </p:sp>
      </p:grpSp>
      <p:sp>
        <p:nvSpPr>
          <p:cNvPr id="25" name="文本框 24"/>
          <p:cNvSpPr txBox="1"/>
          <p:nvPr/>
        </p:nvSpPr>
        <p:spPr>
          <a:xfrm>
            <a:off x="1823731" y="1139120"/>
            <a:ext cx="2805502" cy="135408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eaLnBrk="0" fontAlgn="base" hangingPunct="0">
              <a:lnSpc>
                <a:spcPts val="3400"/>
              </a:lnSpc>
              <a:spcBef>
                <a:spcPct val="0"/>
              </a:spcBef>
              <a:spcAft>
                <a:spcPct val="0"/>
              </a:spcAft>
            </a:pPr>
            <a:r>
              <a:rPr lang="zh-CN" altLang="en-US" dirty="0">
                <a:solidFill>
                  <a:srgbClr val="121212"/>
                </a:solidFill>
                <a:latin typeface="Marlett" charset="0"/>
              </a:rPr>
              <a:t>纠删码技术提高存储资源利用率的表现</a:t>
            </a:r>
            <a:r>
              <a:rPr lang="en-US" altLang="zh-CN" dirty="0">
                <a:solidFill>
                  <a:srgbClr val="121212"/>
                </a:solidFill>
                <a:latin typeface="Marlett" charset="0"/>
              </a:rPr>
              <a:t>1</a:t>
            </a:r>
            <a:r>
              <a:rPr lang="zh-CN" altLang="en-US" dirty="0">
                <a:solidFill>
                  <a:srgbClr val="121212"/>
                </a:solidFill>
                <a:latin typeface="Marlett" charset="0"/>
              </a:rPr>
              <a:t>：提供近似三副本的可靠性</a:t>
            </a:r>
          </a:p>
        </p:txBody>
      </p:sp>
      <p:sp>
        <p:nvSpPr>
          <p:cNvPr id="26" name="文本框 25"/>
          <p:cNvSpPr txBox="1"/>
          <p:nvPr/>
        </p:nvSpPr>
        <p:spPr>
          <a:xfrm>
            <a:off x="7920844" y="1139119"/>
            <a:ext cx="2693014" cy="135408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eaLnBrk="0" fontAlgn="base" hangingPunct="0">
              <a:lnSpc>
                <a:spcPts val="3400"/>
              </a:lnSpc>
              <a:spcBef>
                <a:spcPct val="0"/>
              </a:spcBef>
              <a:spcAft>
                <a:spcPct val="0"/>
              </a:spcAft>
            </a:pPr>
            <a:r>
              <a:rPr lang="zh-CN" altLang="en-US" dirty="0">
                <a:solidFill>
                  <a:srgbClr val="121212"/>
                </a:solidFill>
                <a:latin typeface="Marlett" charset="0"/>
              </a:rPr>
              <a:t>纠删码技术提高存储资源利用率的表现</a:t>
            </a:r>
            <a:r>
              <a:rPr lang="en-US" altLang="zh-CN" dirty="0">
                <a:solidFill>
                  <a:srgbClr val="121212"/>
                </a:solidFill>
                <a:latin typeface="Marlett" charset="0"/>
              </a:rPr>
              <a:t>2</a:t>
            </a:r>
            <a:r>
              <a:rPr lang="zh-CN" altLang="en-US" dirty="0">
                <a:solidFill>
                  <a:srgbClr val="121212"/>
                </a:solidFill>
                <a:latin typeface="Marlett" charset="0"/>
              </a:rPr>
              <a:t>：减小冗余存储</a:t>
            </a:r>
          </a:p>
        </p:txBody>
      </p:sp>
      <p:sp>
        <p:nvSpPr>
          <p:cNvPr id="28" name="文本框 27"/>
          <p:cNvSpPr txBox="1"/>
          <p:nvPr/>
        </p:nvSpPr>
        <p:spPr>
          <a:xfrm>
            <a:off x="1817104" y="5041837"/>
            <a:ext cx="2866257" cy="92307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eaLnBrk="0" fontAlgn="base" hangingPunct="0">
              <a:lnSpc>
                <a:spcPts val="3400"/>
              </a:lnSpc>
              <a:spcBef>
                <a:spcPct val="0"/>
              </a:spcBef>
              <a:spcAft>
                <a:spcPct val="0"/>
              </a:spcAft>
            </a:pPr>
            <a:r>
              <a:rPr lang="zh-CN" altLang="en-US" dirty="0">
                <a:solidFill>
                  <a:srgbClr val="121212"/>
                </a:solidFill>
                <a:latin typeface="Marlett" charset="0"/>
              </a:rPr>
              <a:t>纠删码技术的代价</a:t>
            </a:r>
            <a:r>
              <a:rPr lang="en-US" altLang="zh-CN" dirty="0">
                <a:solidFill>
                  <a:srgbClr val="121212"/>
                </a:solidFill>
                <a:latin typeface="Times New Roman"/>
              </a:rPr>
              <a:t>1</a:t>
            </a:r>
            <a:r>
              <a:rPr lang="zh-CN" altLang="en-US" dirty="0">
                <a:solidFill>
                  <a:srgbClr val="121212"/>
                </a:solidFill>
                <a:latin typeface="Marlett" charset="0"/>
              </a:rPr>
              <a:t>：</a:t>
            </a:r>
            <a:r>
              <a:rPr lang="en-US" altLang="zh-CN" dirty="0">
                <a:solidFill>
                  <a:srgbClr val="121212"/>
                </a:solidFill>
                <a:latin typeface="Marlett" charset="0"/>
              </a:rPr>
              <a:t>CPU</a:t>
            </a:r>
            <a:r>
              <a:rPr lang="zh-CN" altLang="en-US" dirty="0">
                <a:solidFill>
                  <a:srgbClr val="121212"/>
                </a:solidFill>
                <a:latin typeface="Marlett" charset="0"/>
              </a:rPr>
              <a:t>计算量</a:t>
            </a:r>
          </a:p>
        </p:txBody>
      </p:sp>
      <p:sp>
        <p:nvSpPr>
          <p:cNvPr id="29" name="文本框 28"/>
          <p:cNvSpPr txBox="1"/>
          <p:nvPr/>
        </p:nvSpPr>
        <p:spPr>
          <a:xfrm>
            <a:off x="7974987" y="4861611"/>
            <a:ext cx="2693014" cy="92307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eaLnBrk="0" fontAlgn="base" hangingPunct="0">
              <a:lnSpc>
                <a:spcPts val="3400"/>
              </a:lnSpc>
              <a:spcBef>
                <a:spcPct val="0"/>
              </a:spcBef>
              <a:spcAft>
                <a:spcPct val="0"/>
              </a:spcAft>
            </a:pPr>
            <a:r>
              <a:rPr lang="zh-CN" altLang="en-US" dirty="0">
                <a:solidFill>
                  <a:srgbClr val="121212"/>
                </a:solidFill>
                <a:latin typeface="Marlett" charset="0"/>
              </a:rPr>
              <a:t>纠删码技术的代价</a:t>
            </a:r>
            <a:r>
              <a:rPr lang="en-US" altLang="zh-CN" dirty="0">
                <a:solidFill>
                  <a:srgbClr val="121212"/>
                </a:solidFill>
                <a:latin typeface="Marlett" charset="0"/>
              </a:rPr>
              <a:t>2</a:t>
            </a:r>
            <a:r>
              <a:rPr lang="zh-CN" altLang="en-US" dirty="0">
                <a:solidFill>
                  <a:srgbClr val="121212"/>
                </a:solidFill>
                <a:latin typeface="Marlett" charset="0"/>
              </a:rPr>
              <a:t>：网络负载</a:t>
            </a:r>
          </a:p>
        </p:txBody>
      </p:sp>
      <p:sp>
        <p:nvSpPr>
          <p:cNvPr id="30" name="文本框 29">
            <a:extLst>
              <a:ext uri="{FF2B5EF4-FFF2-40B4-BE49-F238E27FC236}">
                <a16:creationId xmlns:a16="http://schemas.microsoft.com/office/drawing/2014/main" id="{47EF5BCB-1FFA-8B51-A028-1B496397931D}"/>
              </a:ext>
            </a:extLst>
          </p:cNvPr>
          <p:cNvSpPr txBox="1"/>
          <p:nvPr/>
        </p:nvSpPr>
        <p:spPr>
          <a:xfrm>
            <a:off x="3250232" y="6097884"/>
            <a:ext cx="6096000" cy="707886"/>
          </a:xfrm>
          <a:prstGeom prst="rect">
            <a:avLst/>
          </a:prstGeom>
          <a:noFill/>
        </p:spPr>
        <p:txBody>
          <a:bodyPr wrap="square">
            <a:spAutoFit/>
          </a:bodyPr>
          <a:lstStyle/>
          <a:p>
            <a:r>
              <a:rPr lang="en-US" altLang="zh-CN" sz="4000" dirty="0">
                <a:sym typeface="+mn-ea"/>
              </a:rPr>
              <a:t>EC</a:t>
            </a:r>
            <a:r>
              <a:rPr lang="zh-CN" altLang="en-US" sz="4000" dirty="0">
                <a:sym typeface="+mn-ea"/>
              </a:rPr>
              <a:t>码的优化</a:t>
            </a:r>
            <a:r>
              <a:rPr lang="en-US" altLang="zh-CN" sz="4000" dirty="0">
                <a:sym typeface="+mn-ea"/>
              </a:rPr>
              <a:t>——LRC</a:t>
            </a:r>
            <a:endParaRPr lang="zh-CN" altLang="en-US" sz="40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2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8.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4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59.xml><?xml version="1.0" encoding="utf-8"?>
<p:tagLst xmlns:a="http://schemas.openxmlformats.org/drawingml/2006/main" xmlns:r="http://schemas.openxmlformats.org/officeDocument/2006/relationships" xmlns:p="http://schemas.openxmlformats.org/presentationml/2006/main">
  <p:tag name="KSO_WM_UNIT_TABLE_BEAUTIFY" val="smartTable{c9b933e4-f957-4c16-ac7a-31c28a31c11f}"/>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132.499212598425,&quot;width&quot;:7200}"/>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0.xml><?xml version="1.0" encoding="utf-8"?>
<p:tagLst xmlns:a="http://schemas.openxmlformats.org/drawingml/2006/main" xmlns:r="http://schemas.openxmlformats.org/officeDocument/2006/relationships" xmlns:p="http://schemas.openxmlformats.org/presentationml/2006/main">
  <p:tag name="TABLE_ENDDRAG_ORIGIN_RECT" val="285*335"/>
  <p:tag name="TABLE_ENDDRAG_RECT" val="386*163*285*335"/>
</p:tagLst>
</file>

<file path=ppt/tags/tag171.xml><?xml version="1.0" encoding="utf-8"?>
<p:tagLst xmlns:a="http://schemas.openxmlformats.org/drawingml/2006/main" xmlns:r="http://schemas.openxmlformats.org/officeDocument/2006/relationships" xmlns:p="http://schemas.openxmlformats.org/presentationml/2006/main">
  <p:tag name="KSO_WM_UNIT_TABLE_BEAUTIFY" val="smartTable{04374be0-1721-43b2-92c3-526662f8235b}"/>
  <p:tag name="TABLE_ENDDRAG_ORIGIN_RECT" val="363*100"/>
  <p:tag name="TABLE_ENDDRAG_RECT" val="102*347*363*100"/>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7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95.71708661417324,&quot;left&quot;:44.97370078740157,&quot;top&quot;:84.02133858267716,&quot;width&quot;:636.0204724409448}"/>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95.71708661417324,&quot;left&quot;:44.97370078740157,&quot;top&quot;:84.02133858267716,&quot;width&quot;:636.0204724409448}"/>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95.71708661417324,&quot;left&quot;:44.97370078740157,&quot;top&quot;:84.02133858267716,&quot;width&quot;:636.0204724409448}"/>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95.71708661417324,&quot;left&quot;:44.97370078740157,&quot;top&quot;:84.02133858267716,&quot;width&quot;:636.0204724409448}"/>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395.71708661417324,&quot;left&quot;:44.97370078740157,&quot;top&quot;:84.02133858267716,&quot;width&quot;:636.0204724409448}"/>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395.71708661417324,&quot;left&quot;:44.97370078740157,&quot;top&quot;:84.02133858267716,&quot;width&quot;:636.0204724409448}"/>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395.71708661417324,&quot;left&quot;:44.97370078740157,&quot;top&quot;:84.02133858267716,&quot;width&quot;:636.0204724409448}"/>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95.71708661417324,&quot;left&quot;:44.97370078740157,&quot;top&quot;:84.02133858267716,&quot;width&quot;:636.0204724409448}"/>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95.71708661417324,&quot;left&quot;:44.97370078740157,&quot;top&quot;:84.02133858267716,&quot;width&quot;:636.0204724409448}"/>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95.71708661417324,&quot;left&quot;:44.97370078740157,&quot;top&quot;:84.02133858267716,&quot;width&quot;:636.0204724409448}"/>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95.71708661417324,&quot;left&quot;:44.97370078740157,&quot;top&quot;:84.02133858267716,&quot;width&quot;:636.0204724409448}"/>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395.71708661417324,&quot;left&quot;:44.97370078740157,&quot;top&quot;:84.02133858267716,&quot;width&quot;:636.020472440944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orronto 0110">
  <a:themeElements>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orronto 0110">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a:solidFill>
            <a:srgbClr val="0070C0"/>
          </a:solid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defRPr kumimoji="1" lang="en-US" sz="2800" b="0" i="0" u="none" strike="noStrike" cap="none" normalizeH="0" baseline="0" smtClean="0">
            <a:ln>
              <a:noFill/>
            </a:ln>
            <a:solidFill>
              <a:srgbClr val="336699"/>
            </a:solidFill>
            <a:effectLst/>
            <a:latin typeface="黑体" panose="02010609060101010101" pitchFamily="49" charset="-122"/>
            <a:ea typeface="黑体" panose="02010609060101010101" pitchFamily="49" charset="-122"/>
          </a:defRPr>
        </a:defPPr>
      </a:lstStyle>
    </a:lnDef>
    <a:txDef>
      <a:spPr>
        <a:noFill/>
      </a:spPr>
      <a:bodyPr wrap="square" rtlCol="0" anchor="t">
        <a:spAutoFit/>
      </a:bodyPr>
      <a:lstStyle>
        <a:defPPr>
          <a:defRPr lang="zh-CN" altLang="en-US" b="1" dirty="0">
            <a:solidFill>
              <a:schemeClr val="accent2"/>
            </a:solidFill>
            <a:latin typeface="黑体" panose="02010609060101010101" pitchFamily="49" charset="-122"/>
            <a:ea typeface="黑体" panose="02010609060101010101" pitchFamily="49" charset="-122"/>
            <a:sym typeface="+mn-ea"/>
          </a:defRPr>
        </a:defPPr>
      </a:lstStyle>
    </a:txDef>
  </a:objectDefaults>
  <a:extraClrSchemeLst>
    <a:extraClrScheme>
      <a:clrScheme name="Sorronto 0110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orronto 0110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orronto 0110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orronto 0110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orronto 0110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orronto 0110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3.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5.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6.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7.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8.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9.xml><?xml version="1.0" encoding="utf-8"?>
<a:themeOverride xmlns:a="http://schemas.openxmlformats.org/drawingml/2006/main">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otalTime>160</TotalTime>
  <Words>40775</Words>
  <Application>Microsoft Office PowerPoint</Application>
  <PresentationFormat>宽屏</PresentationFormat>
  <Paragraphs>2769</Paragraphs>
  <Slides>388</Slides>
  <Notes>71</Notes>
  <HiddenSlides>0</HiddenSlides>
  <MMClips>0</MMClips>
  <ScaleCrop>false</ScaleCrop>
  <HeadingPairs>
    <vt:vector size="8" baseType="variant">
      <vt:variant>
        <vt:lpstr>已用的字体</vt:lpstr>
      </vt:variant>
      <vt:variant>
        <vt:i4>17</vt:i4>
      </vt:variant>
      <vt:variant>
        <vt:lpstr>主题</vt:lpstr>
      </vt:variant>
      <vt:variant>
        <vt:i4>6</vt:i4>
      </vt:variant>
      <vt:variant>
        <vt:lpstr>嵌入 OLE 服务器</vt:lpstr>
      </vt:variant>
      <vt:variant>
        <vt:i4>3</vt:i4>
      </vt:variant>
      <vt:variant>
        <vt:lpstr>幻灯片标题</vt:lpstr>
      </vt:variant>
      <vt:variant>
        <vt:i4>388</vt:i4>
      </vt:variant>
    </vt:vector>
  </HeadingPairs>
  <TitlesOfParts>
    <vt:vector size="414" baseType="lpstr">
      <vt:lpstr>FuturaA Md BT</vt:lpstr>
      <vt:lpstr>Helvetica Neue</vt:lpstr>
      <vt:lpstr>等线</vt:lpstr>
      <vt:lpstr>等线 Light</vt:lpstr>
      <vt:lpstr>黑体</vt:lpstr>
      <vt:lpstr>华文行楷</vt:lpstr>
      <vt:lpstr>华文中宋</vt:lpstr>
      <vt:lpstr>楷体</vt:lpstr>
      <vt:lpstr>隶书</vt:lpstr>
      <vt:lpstr>宋体</vt:lpstr>
      <vt:lpstr>微软雅黑</vt:lpstr>
      <vt:lpstr>Arial</vt:lpstr>
      <vt:lpstr>Cambria Math</vt:lpstr>
      <vt:lpstr>Marlett</vt:lpstr>
      <vt:lpstr>Symbol</vt:lpstr>
      <vt:lpstr>Times New Roman</vt:lpstr>
      <vt:lpstr>Wingdings</vt:lpstr>
      <vt:lpstr>Office 主题​​</vt:lpstr>
      <vt:lpstr>1_Office 主题​​</vt:lpstr>
      <vt:lpstr>1_默认设计模板</vt:lpstr>
      <vt:lpstr>Sorronto 0110</vt:lpstr>
      <vt:lpstr>2_Office 主题​​</vt:lpstr>
      <vt:lpstr>2_默认设计模板</vt:lpstr>
      <vt:lpstr>Equation.KSEE3</vt:lpstr>
      <vt:lpstr>Paintbrush Picture</vt:lpstr>
      <vt:lpstr>Equation.3</vt:lpstr>
      <vt:lpstr>第一章 信息论与编码理论概述</vt:lpstr>
      <vt:lpstr>编码机制</vt:lpstr>
      <vt:lpstr>信源编码</vt:lpstr>
      <vt:lpstr>随机错误</vt:lpstr>
      <vt:lpstr>突发错误</vt:lpstr>
      <vt:lpstr>纠错码</vt:lpstr>
      <vt:lpstr>纠错码的分类</vt:lpstr>
      <vt:lpstr>数字通信系统模型</vt:lpstr>
      <vt:lpstr>数字通信系统的简化模型</vt:lpstr>
      <vt:lpstr>信道模型</vt:lpstr>
      <vt:lpstr>无记忆信道和有记忆信道</vt:lpstr>
      <vt:lpstr>离散无记忆(DMC)信道</vt:lpstr>
      <vt:lpstr>二元对称(BSC)信道</vt:lpstr>
      <vt:lpstr>信道矩阵</vt:lpstr>
      <vt:lpstr>加性高斯白噪声(AWGN)信道</vt:lpstr>
      <vt:lpstr>信息传输率</vt:lpstr>
      <vt:lpstr>AWGN信道的分组编码系统</vt:lpstr>
      <vt:lpstr>最佳译码规则和最大后验概率译码</vt:lpstr>
      <vt:lpstr>似然函数</vt:lpstr>
      <vt:lpstr>最大似然译码</vt:lpstr>
      <vt:lpstr>BSC信道的最大似然译码</vt:lpstr>
      <vt:lpstr>第二章 信息论基础与信源编码理论</vt:lpstr>
      <vt:lpstr>信息的概念</vt:lpstr>
      <vt:lpstr>自信息</vt:lpstr>
      <vt:lpstr>条件自信息</vt:lpstr>
      <vt:lpstr>互信息</vt:lpstr>
      <vt:lpstr>平均自信息量(信息熵)</vt:lpstr>
      <vt:lpstr>平均条件自信息量(条件熵)</vt:lpstr>
      <vt:lpstr>等长信源编码定理</vt:lpstr>
      <vt:lpstr>变长码</vt:lpstr>
      <vt:lpstr>变长信源编码定理</vt:lpstr>
      <vt:lpstr>信道的信息传输率</vt:lpstr>
      <vt:lpstr>信源编码—霍夫曼(Huffman)编码</vt:lpstr>
      <vt:lpstr>游程编码</vt:lpstr>
      <vt:lpstr>LZ(Lemple-Ziv)编码</vt:lpstr>
      <vt:lpstr>信道容量</vt:lpstr>
      <vt:lpstr>纠错编码的理论基础</vt:lpstr>
      <vt:lpstr>科学哲学：过程比结果更重要(课堂思政)</vt:lpstr>
      <vt:lpstr>信道编码定理</vt:lpstr>
      <vt:lpstr>第三章 线性分组码</vt:lpstr>
      <vt:lpstr>课堂思政</vt:lpstr>
      <vt:lpstr>分组码</vt:lpstr>
      <vt:lpstr>线性分组码</vt:lpstr>
      <vt:lpstr>生成矩阵</vt:lpstr>
      <vt:lpstr>一致校验(监督)矩阵</vt:lpstr>
      <vt:lpstr>线性系统分组码</vt:lpstr>
      <vt:lpstr>一致校验方程</vt:lpstr>
      <vt:lpstr>对偶码</vt:lpstr>
      <vt:lpstr>系统码的一致校验矩阵</vt:lpstr>
      <vt:lpstr>伴随式</vt:lpstr>
      <vt:lpstr>伴随式纠错</vt:lpstr>
      <vt:lpstr>伴随式纠错</vt:lpstr>
      <vt:lpstr>伴随式纠错</vt:lpstr>
      <vt:lpstr>汉明重量</vt:lpstr>
      <vt:lpstr>汉明距离</vt:lpstr>
      <vt:lpstr>距离分布</vt:lpstr>
      <vt:lpstr>纠错和检错能力</vt:lpstr>
      <vt:lpstr>最大距离可分码</vt:lpstr>
      <vt:lpstr>标准阵</vt:lpstr>
      <vt:lpstr>标准阵的性质</vt:lpstr>
      <vt:lpstr>陪集</vt:lpstr>
      <vt:lpstr>基于标准阵的译码方法</vt:lpstr>
      <vt:lpstr>最小距离译码方法</vt:lpstr>
      <vt:lpstr>基于标准阵的译码方法的缺点</vt:lpstr>
      <vt:lpstr>伴随式译码</vt:lpstr>
      <vt:lpstr>伴随式译码举例</vt:lpstr>
      <vt:lpstr>完备码</vt:lpstr>
      <vt:lpstr>汉明码</vt:lpstr>
      <vt:lpstr>汉明码</vt:lpstr>
      <vt:lpstr>根据生成矩阵计算码字</vt:lpstr>
      <vt:lpstr>Macwilliam恒等式</vt:lpstr>
      <vt:lpstr>一致校验矩阵</vt:lpstr>
      <vt:lpstr>一致校验矩阵与汉明重量</vt:lpstr>
      <vt:lpstr>举例</vt:lpstr>
      <vt:lpstr>纠错和检错能力举例</vt:lpstr>
      <vt:lpstr>一致校验矩阵与码间最小距离</vt:lpstr>
      <vt:lpstr>构造标准阵的步骤</vt:lpstr>
      <vt:lpstr>陪集首</vt:lpstr>
      <vt:lpstr>陪集的性质</vt:lpstr>
      <vt:lpstr>陪集的性质定理的证明</vt:lpstr>
      <vt:lpstr>陪集的性质定理的证明</vt:lpstr>
      <vt:lpstr>陪集的性质定理的证明</vt:lpstr>
      <vt:lpstr>伴随式译码方法的步骤</vt:lpstr>
      <vt:lpstr>线性码在BSC的不可检错误概率</vt:lpstr>
      <vt:lpstr>扩张码</vt:lpstr>
      <vt:lpstr>扩展码</vt:lpstr>
      <vt:lpstr>删余码</vt:lpstr>
      <vt:lpstr>增广码</vt:lpstr>
      <vt:lpstr>缩短码</vt:lpstr>
      <vt:lpstr>延长码</vt:lpstr>
      <vt:lpstr>各类码之间的关系</vt:lpstr>
      <vt:lpstr>直和码</vt:lpstr>
      <vt:lpstr>笛卡尔积码</vt:lpstr>
      <vt:lpstr>链接码</vt:lpstr>
      <vt:lpstr>直积码</vt:lpstr>
      <vt:lpstr>交织码</vt:lpstr>
      <vt:lpstr>交织码</vt:lpstr>
      <vt:lpstr>Hadamard码</vt:lpstr>
      <vt:lpstr>第四章  循环码</vt:lpstr>
      <vt:lpstr>循环码</vt:lpstr>
      <vt:lpstr>循环码的定义和优势</vt:lpstr>
      <vt:lpstr>码字多项式</vt:lpstr>
      <vt:lpstr>循环码的代数性质</vt:lpstr>
      <vt:lpstr>循环码的代数性质</vt:lpstr>
      <vt:lpstr>循环码的代数性质</vt:lpstr>
      <vt:lpstr>循环码的代数性质</vt:lpstr>
      <vt:lpstr>生成多项式</vt:lpstr>
      <vt:lpstr>生成多项式</vt:lpstr>
      <vt:lpstr>生成多项式</vt:lpstr>
      <vt:lpstr>循环码的生成矩阵</vt:lpstr>
      <vt:lpstr>举例：求生成矩阵</vt:lpstr>
      <vt:lpstr>一致校验矩阵</vt:lpstr>
      <vt:lpstr>系统形式的生成矩阵和一致校验矩阵</vt:lpstr>
      <vt:lpstr>系统循环码的编码方法</vt:lpstr>
      <vt:lpstr>复习：多项式的除法</vt:lpstr>
      <vt:lpstr>g(x)除法电路编码器</vt:lpstr>
      <vt:lpstr>除法器举例</vt:lpstr>
      <vt:lpstr>伴随式计算和错误检测</vt:lpstr>
      <vt:lpstr>伴随式的性质</vt:lpstr>
      <vt:lpstr>举例：求伴随式</vt:lpstr>
      <vt:lpstr>举例：画出求伴随式的电路</vt:lpstr>
      <vt:lpstr>循环码的译码</vt:lpstr>
      <vt:lpstr>通用的循环码译码器</vt:lpstr>
      <vt:lpstr>通用循环码译码器的译码算法</vt:lpstr>
      <vt:lpstr>码字多项式</vt:lpstr>
      <vt:lpstr>对偶码的生成矩阵</vt:lpstr>
      <vt:lpstr>第五章  卷积码</vt:lpstr>
      <vt:lpstr>卷积码的发展历史</vt:lpstr>
      <vt:lpstr>卷积码与分组码的区别</vt:lpstr>
      <vt:lpstr>离散序列的非循环卷积运算</vt:lpstr>
      <vt:lpstr>二元(2,1,2)卷积码的编码器</vt:lpstr>
      <vt:lpstr>(2,1,2)卷积码的冲激响应</vt:lpstr>
      <vt:lpstr>(2,1,2)卷积码的输出序列</vt:lpstr>
      <vt:lpstr>(2,1,2)卷积码的码字</vt:lpstr>
      <vt:lpstr>(2,1,2)卷积码的码字</vt:lpstr>
      <vt:lpstr>(2,1,2)卷积码的生成矩阵</vt:lpstr>
      <vt:lpstr>计算题举例：(2,1,2)卷积码的码字</vt:lpstr>
      <vt:lpstr>二元(3,2,1)卷积码的编码器</vt:lpstr>
      <vt:lpstr>二元(3,2,m)卷积码的输入序列</vt:lpstr>
      <vt:lpstr>二元(3,2,m)卷积码的冲激响应</vt:lpstr>
      <vt:lpstr>二元(3, 2, 1)卷积码的冲激响应</vt:lpstr>
      <vt:lpstr>(3, 2, 1)卷积码的码字</vt:lpstr>
      <vt:lpstr>二元(3, 2, 1)卷积码的编码方程</vt:lpstr>
      <vt:lpstr>(3, 2, m)卷积码的生成矩阵</vt:lpstr>
      <vt:lpstr>计算题举例：(3,2,m)卷积码的码字</vt:lpstr>
      <vt:lpstr>(n, k, m)卷积码的生成矩阵</vt:lpstr>
      <vt:lpstr>卷积码编码器的存储级数</vt:lpstr>
      <vt:lpstr>卷积码编码器的约束长度和码速率</vt:lpstr>
      <vt:lpstr>(2, 1, m)卷积码的多项式描述</vt:lpstr>
      <vt:lpstr>(n, k, m)卷积码的转移函数矩阵</vt:lpstr>
      <vt:lpstr>举例：(3, 2, 1)卷积码的转移函数矩阵</vt:lpstr>
      <vt:lpstr>卷积码的树图表示法(码树)</vt:lpstr>
      <vt:lpstr>卷积码的状态图表示法</vt:lpstr>
      <vt:lpstr>卷积码的Trellis图表示法</vt:lpstr>
      <vt:lpstr>维特比(Viterbi)译码系统</vt:lpstr>
      <vt:lpstr>维特比(Viterbi)译码算法</vt:lpstr>
      <vt:lpstr>维特比译码算法的原则</vt:lpstr>
      <vt:lpstr>维特比译码算法举例</vt:lpstr>
      <vt:lpstr>维特比译码算法举例</vt:lpstr>
      <vt:lpstr>维特比译码算法举例</vt:lpstr>
      <vt:lpstr>维特比译码算法举例</vt:lpstr>
      <vt:lpstr>维特比译码算法举例</vt:lpstr>
      <vt:lpstr>维特比译码算法举例</vt:lpstr>
      <vt:lpstr>维特比译码算法举例</vt:lpstr>
      <vt:lpstr>维特比译码算法举例</vt:lpstr>
      <vt:lpstr>维特比译码算法举例</vt:lpstr>
      <vt:lpstr>序列译码算法</vt:lpstr>
      <vt:lpstr>序列译码算法举例</vt:lpstr>
      <vt:lpstr>序列译码算法举例</vt:lpstr>
      <vt:lpstr>序列译码算法举例</vt:lpstr>
      <vt:lpstr>序列译码算法举例</vt:lpstr>
      <vt:lpstr>序列译码算法举例</vt:lpstr>
      <vt:lpstr>序列译码算法举例</vt:lpstr>
      <vt:lpstr>序列译码算法举例</vt:lpstr>
      <vt:lpstr>第六章 Turbo码</vt:lpstr>
      <vt:lpstr>Turbo码的研究背景</vt:lpstr>
      <vt:lpstr>Turbo码的研究背景</vt:lpstr>
      <vt:lpstr>Turbo码的研究背景</vt:lpstr>
      <vt:lpstr>课程思政</vt:lpstr>
      <vt:lpstr>Turbo码的优点</vt:lpstr>
      <vt:lpstr>Turbo码的缺点</vt:lpstr>
      <vt:lpstr>Turbo码的应用</vt:lpstr>
      <vt:lpstr>分量码</vt:lpstr>
      <vt:lpstr>交织器</vt:lpstr>
      <vt:lpstr>交织器</vt:lpstr>
      <vt:lpstr>分组交织器</vt:lpstr>
      <vt:lpstr>伪随机交织器</vt:lpstr>
      <vt:lpstr>删余处理</vt:lpstr>
      <vt:lpstr>Turbo码编码器的结构</vt:lpstr>
      <vt:lpstr>并行级联卷积码(PCCC)</vt:lpstr>
      <vt:lpstr>并行级联卷积码(PCCC)</vt:lpstr>
      <vt:lpstr>Turbo码的码率</vt:lpstr>
      <vt:lpstr>Turbo码的编码过程举例</vt:lpstr>
      <vt:lpstr>Turbo码的编码过程举例</vt:lpstr>
      <vt:lpstr>注意事项</vt:lpstr>
      <vt:lpstr>注意事项</vt:lpstr>
      <vt:lpstr>Turbo码的译码</vt:lpstr>
      <vt:lpstr>译码算法</vt:lpstr>
      <vt:lpstr>译码算法</vt:lpstr>
      <vt:lpstr>MAP译码算法</vt:lpstr>
      <vt:lpstr>MAP译码算法</vt:lpstr>
      <vt:lpstr>迭代译码器</vt:lpstr>
      <vt:lpstr>MAP译码算法</vt:lpstr>
      <vt:lpstr>MAP译码算法</vt:lpstr>
      <vt:lpstr>MAP译码算法</vt:lpstr>
      <vt:lpstr>MAP译码算法</vt:lpstr>
      <vt:lpstr>MAP译码算法</vt:lpstr>
      <vt:lpstr>MAP译码算法</vt:lpstr>
      <vt:lpstr>MAP译码算法</vt:lpstr>
      <vt:lpstr>不同译码算法对Turbo码性能的影响</vt:lpstr>
      <vt:lpstr>不同迭代次数对Turbo码性能的影响</vt:lpstr>
      <vt:lpstr>未来展望</vt:lpstr>
      <vt:lpstr>第七章 二维码</vt:lpstr>
      <vt:lpstr>条形码简史</vt:lpstr>
      <vt:lpstr>二维码概念</vt:lpstr>
      <vt:lpstr>二维码的分类与原理</vt:lpstr>
      <vt:lpstr>行排式二维码</vt:lpstr>
      <vt:lpstr>矩阵式二维码</vt:lpstr>
      <vt:lpstr>二维码的特点</vt:lpstr>
      <vt:lpstr>二维码的特点</vt:lpstr>
      <vt:lpstr>二维码的特点</vt:lpstr>
      <vt:lpstr>QR Code</vt:lpstr>
      <vt:lpstr>QR Code结构图</vt:lpstr>
      <vt:lpstr>QR Code的基本结构</vt:lpstr>
      <vt:lpstr>QR Code版本7基本结构</vt:lpstr>
      <vt:lpstr>QR Code版本7基本结构</vt:lpstr>
      <vt:lpstr>QR Code版本7基本结构</vt:lpstr>
      <vt:lpstr>QR Code版本7基本结构</vt:lpstr>
      <vt:lpstr>QR Code版本7基本结构</vt:lpstr>
      <vt:lpstr>QR Code的基本结构</vt:lpstr>
      <vt:lpstr>QR Code的编码</vt:lpstr>
      <vt:lpstr>QR Code的编码</vt:lpstr>
      <vt:lpstr>数据分析</vt:lpstr>
      <vt:lpstr>数据编码-数据字符转换为位流</vt:lpstr>
      <vt:lpstr>数据编码-数据字符转换为位流</vt:lpstr>
      <vt:lpstr>数据编码-数据字符转换为位流</vt:lpstr>
      <vt:lpstr>数据编码-加必要符号</vt:lpstr>
      <vt:lpstr>数据编码-位流转换为码字</vt:lpstr>
      <vt:lpstr>纠错编码</vt:lpstr>
      <vt:lpstr>纠错编码</vt:lpstr>
      <vt:lpstr>纠错编码</vt:lpstr>
      <vt:lpstr>构造最终信息</vt:lpstr>
      <vt:lpstr>在矩阵中布置模块</vt:lpstr>
      <vt:lpstr>在矩阵中布置模块</vt:lpstr>
      <vt:lpstr>掩模</vt:lpstr>
      <vt:lpstr>掩模</vt:lpstr>
      <vt:lpstr>掩模</vt:lpstr>
      <vt:lpstr>掩模</vt:lpstr>
      <vt:lpstr>掩模</vt:lpstr>
      <vt:lpstr>格式和版本信息-格式信息</vt:lpstr>
      <vt:lpstr>格式和版本信息-格式信息</vt:lpstr>
      <vt:lpstr>格式和版本信息-格式信息</vt:lpstr>
      <vt:lpstr>格式和版本信息-版本信息</vt:lpstr>
      <vt:lpstr>格式和版本信息-版本信息</vt:lpstr>
      <vt:lpstr>QR Code的编码</vt:lpstr>
      <vt:lpstr>QR Code的识别</vt:lpstr>
      <vt:lpstr>QR Code的识别-条码定位</vt:lpstr>
      <vt:lpstr>QR Code的识别-条码定位</vt:lpstr>
      <vt:lpstr>QR Code的识别-条码定位</vt:lpstr>
      <vt:lpstr>QR Code的识别-条码分割</vt:lpstr>
      <vt:lpstr>QR Code的识别-解码</vt:lpstr>
      <vt:lpstr>二维码的应用</vt:lpstr>
      <vt:lpstr>二维码的应用</vt:lpstr>
      <vt:lpstr>二维码的应用</vt:lpstr>
      <vt:lpstr>二维码的应用</vt:lpstr>
      <vt:lpstr>课堂思政</vt:lpstr>
      <vt:lpstr>二维码生成</vt:lpstr>
      <vt:lpstr>二维码生成</vt:lpstr>
      <vt:lpstr>二维码生成</vt:lpstr>
      <vt:lpstr>第八章 极化码</vt:lpstr>
      <vt:lpstr>极化（Polar）码起源</vt:lpstr>
      <vt:lpstr>极化码优缺点</vt:lpstr>
      <vt:lpstr>国外研究现状</vt:lpstr>
      <vt:lpstr>国内研究现状</vt:lpstr>
      <vt:lpstr>极化（Polar）码起源</vt:lpstr>
      <vt:lpstr>极化（Polar）码起源</vt:lpstr>
      <vt:lpstr>极化码基本原理</vt:lpstr>
      <vt:lpstr>极化码基本原理</vt:lpstr>
      <vt:lpstr>极化码基本原理</vt:lpstr>
      <vt:lpstr>极化码基本原理</vt:lpstr>
      <vt:lpstr>极化码基本原理</vt:lpstr>
      <vt:lpstr>极化码基本原理</vt:lpstr>
      <vt:lpstr>极化码基本原理</vt:lpstr>
      <vt:lpstr>极化码基本原理</vt:lpstr>
      <vt:lpstr>极化码基本原理</vt:lpstr>
      <vt:lpstr>极化码基本原理</vt:lpstr>
      <vt:lpstr>极化码基本原理</vt:lpstr>
      <vt:lpstr>极化码基本原理</vt:lpstr>
      <vt:lpstr>Polar码的构造</vt:lpstr>
      <vt:lpstr>Polar码的构造—编码矩阵生成</vt:lpstr>
      <vt:lpstr>Polar码的构造—码序列</vt:lpstr>
      <vt:lpstr>Polar码的构造—码序列</vt:lpstr>
      <vt:lpstr>Polar码的构造—码序列特性</vt:lpstr>
      <vt:lpstr>编码方法</vt:lpstr>
      <vt:lpstr>编码方法</vt:lpstr>
      <vt:lpstr>编码方法</vt:lpstr>
      <vt:lpstr>编码方法</vt:lpstr>
      <vt:lpstr>编码方法</vt:lpstr>
      <vt:lpstr>编码方法</vt:lpstr>
      <vt:lpstr>编码方法</vt:lpstr>
      <vt:lpstr>编码方法</vt:lpstr>
      <vt:lpstr>编码方法</vt:lpstr>
      <vt:lpstr>Polar码的构造—速率匹配</vt:lpstr>
      <vt:lpstr>Polar码的构造—速率匹配</vt:lpstr>
      <vt:lpstr>Polar码的构造—后交织</vt:lpstr>
      <vt:lpstr>Polar码的构造—后交织</vt:lpstr>
      <vt:lpstr>Polar码的构造—后交织</vt:lpstr>
      <vt:lpstr>解码过程</vt:lpstr>
      <vt:lpstr>解码方法</vt:lpstr>
      <vt:lpstr>解码方法</vt:lpstr>
      <vt:lpstr>解码方法</vt:lpstr>
      <vt:lpstr>解码步骤</vt:lpstr>
      <vt:lpstr>解码步骤</vt:lpstr>
      <vt:lpstr>解码步骤</vt:lpstr>
      <vt:lpstr>解码步骤</vt:lpstr>
      <vt:lpstr>解码示例</vt:lpstr>
      <vt:lpstr>解码示例</vt:lpstr>
      <vt:lpstr>解码示例</vt:lpstr>
      <vt:lpstr>解码示例</vt:lpstr>
      <vt:lpstr>解码示例</vt:lpstr>
      <vt:lpstr>解码示例</vt:lpstr>
      <vt:lpstr>解码算法</vt:lpstr>
      <vt:lpstr>解码算法</vt:lpstr>
      <vt:lpstr>解码算法</vt:lpstr>
      <vt:lpstr>解码算法</vt:lpstr>
      <vt:lpstr>复杂度</vt:lpstr>
      <vt:lpstr>Polar码应用</vt:lpstr>
      <vt:lpstr>Polar码应用</vt:lpstr>
      <vt:lpstr>未来发展趋势</vt:lpstr>
      <vt:lpstr>第九章 纠删码</vt:lpstr>
      <vt:lpstr>纠删码技术的概述</vt:lpstr>
      <vt:lpstr>纠删码技术的由来</vt:lpstr>
      <vt:lpstr>纠删码技术产生的背景 </vt:lpstr>
      <vt:lpstr>纠删码技术的引入 </vt:lpstr>
      <vt:lpstr>纠删码的定义</vt:lpstr>
      <vt:lpstr>纠删码的基本思想</vt:lpstr>
      <vt:lpstr>基本名词术语</vt:lpstr>
      <vt:lpstr>柯西矩阵、范德蒙矩阵、二部图</vt:lpstr>
      <vt:lpstr>迦罗华域</vt:lpstr>
      <vt:lpstr>简单的纠删码——重复码</vt:lpstr>
      <vt:lpstr>简单的纠删码——奇偶校验码</vt:lpstr>
      <vt:lpstr>两种简单纠删码的性能比较</vt:lpstr>
      <vt:lpstr>纠删码的分类</vt:lpstr>
      <vt:lpstr>阵列码</vt:lpstr>
      <vt:lpstr>水平、垂直阵列码</vt:lpstr>
      <vt:lpstr>水平垂直阵列码</vt:lpstr>
      <vt:lpstr>EVENODD码</vt:lpstr>
      <vt:lpstr>EVENODD码编码过程</vt:lpstr>
      <vt:lpstr>EVENODD码编码过程</vt:lpstr>
      <vt:lpstr>EVENODD码解码过程</vt:lpstr>
      <vt:lpstr>EVENODD码解码过程</vt:lpstr>
      <vt:lpstr>EVENODD码解码过程</vt:lpstr>
      <vt:lpstr>EVENODD码解码过程</vt:lpstr>
      <vt:lpstr>EVENODD码解码过程</vt:lpstr>
      <vt:lpstr>EVENODD码解码正确性证明</vt:lpstr>
      <vt:lpstr>EVENODD码解码正确性证明</vt:lpstr>
      <vt:lpstr>EVENODD码解码正确性证明</vt:lpstr>
      <vt:lpstr>EVENODD码解码正确性证明</vt:lpstr>
      <vt:lpstr>奇偶校验码</vt:lpstr>
      <vt:lpstr>水平垂直奇偶校验码</vt:lpstr>
      <vt:lpstr>低密度奇偶校验码</vt:lpstr>
      <vt:lpstr>龙卷风码的编码</vt:lpstr>
      <vt:lpstr>龙卷风码的编码</vt:lpstr>
      <vt:lpstr>龙卷风码的编码</vt:lpstr>
      <vt:lpstr>龙卷风码的解码</vt:lpstr>
      <vt:lpstr>龙卷风码的容错性和数据恢复</vt:lpstr>
      <vt:lpstr>龙卷风码的数据恢复</vt:lpstr>
      <vt:lpstr>龙卷风码的优缺点</vt:lpstr>
      <vt:lpstr>数字喷泉码</vt:lpstr>
      <vt:lpstr>数字喷泉码的发展</vt:lpstr>
      <vt:lpstr>数字喷泉码的研究现状及方案</vt:lpstr>
      <vt:lpstr>随机线性喷泉码的编码</vt:lpstr>
      <vt:lpstr>随机线性喷泉码的编码</vt:lpstr>
      <vt:lpstr>随机线性喷泉码的解码</vt:lpstr>
      <vt:lpstr>LT码的编码</vt:lpstr>
      <vt:lpstr>随机度d、Sk的确定</vt:lpstr>
      <vt:lpstr>LT码的解码</vt:lpstr>
      <vt:lpstr>LT码的解码</vt:lpstr>
      <vt:lpstr>LT码的特点</vt:lpstr>
      <vt:lpstr>Raptor码</vt:lpstr>
      <vt:lpstr>Raptor码的编解码</vt:lpstr>
      <vt:lpstr>Raptor码的特点</vt:lpstr>
      <vt:lpstr>EC码的应用</vt:lpstr>
      <vt:lpstr>什么适合使用纠删码</vt:lpstr>
      <vt:lpstr>如何评判不同产品的纠删码</vt:lpstr>
      <vt:lpstr>纠删码会在未来掀起浪潮吗</vt:lpstr>
      <vt:lpstr>EC码的优点</vt:lpstr>
      <vt:lpstr>EC码的代价</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枫 项</dc:creator>
  <cp:lastModifiedBy>枫 项</cp:lastModifiedBy>
  <cp:revision>19</cp:revision>
  <dcterms:created xsi:type="dcterms:W3CDTF">2024-12-03T08:55:00Z</dcterms:created>
  <dcterms:modified xsi:type="dcterms:W3CDTF">2024-12-10T04:09:08Z</dcterms:modified>
</cp:coreProperties>
</file>