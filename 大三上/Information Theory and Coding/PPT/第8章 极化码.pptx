
<file path=[Content_Types].xml><?xml version="1.0" encoding="utf-8"?>
<Types xmlns="http://schemas.openxmlformats.org/package/2006/content-types">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7"/>
  </p:notesMasterIdLst>
  <p:handoutMasterIdLst>
    <p:handoutMasterId r:id="rId88"/>
  </p:handoutMasterIdLst>
  <p:sldIdLst>
    <p:sldId id="1940" r:id="rId6"/>
    <p:sldId id="1941" r:id="rId8"/>
    <p:sldId id="1942" r:id="rId9"/>
    <p:sldId id="1728" r:id="rId10"/>
    <p:sldId id="1886" r:id="rId11"/>
    <p:sldId id="1943" r:id="rId12"/>
    <p:sldId id="1944" r:id="rId13"/>
    <p:sldId id="1947" r:id="rId14"/>
    <p:sldId id="1862" r:id="rId15"/>
    <p:sldId id="1867" r:id="rId16"/>
    <p:sldId id="1868" r:id="rId17"/>
    <p:sldId id="1948" r:id="rId18"/>
    <p:sldId id="1863" r:id="rId19"/>
    <p:sldId id="1869" r:id="rId20"/>
    <p:sldId id="1889" r:id="rId21"/>
    <p:sldId id="1890" r:id="rId22"/>
    <p:sldId id="1951" r:id="rId23"/>
    <p:sldId id="1891" r:id="rId24"/>
    <p:sldId id="1952" r:id="rId25"/>
    <p:sldId id="1961" r:id="rId26"/>
    <p:sldId id="1864" r:id="rId27"/>
    <p:sldId id="1870" r:id="rId28"/>
    <p:sldId id="1966" r:id="rId29"/>
    <p:sldId id="1967" r:id="rId30"/>
    <p:sldId id="1871" r:id="rId31"/>
    <p:sldId id="1895" r:id="rId32"/>
    <p:sldId id="1949" r:id="rId33"/>
    <p:sldId id="1866" r:id="rId34"/>
    <p:sldId id="1876" r:id="rId35"/>
    <p:sldId id="1905" r:id="rId36"/>
    <p:sldId id="1953" r:id="rId37"/>
    <p:sldId id="1906" r:id="rId38"/>
    <p:sldId id="1872" r:id="rId39"/>
    <p:sldId id="1954" r:id="rId40"/>
    <p:sldId id="1931" r:id="rId41"/>
    <p:sldId id="1955" r:id="rId42"/>
    <p:sldId id="1934" r:id="rId43"/>
    <p:sldId id="1933" r:id="rId44"/>
    <p:sldId id="1935" r:id="rId45"/>
    <p:sldId id="1936" r:id="rId46"/>
    <p:sldId id="1937" r:id="rId47"/>
    <p:sldId id="1907" r:id="rId48"/>
    <p:sldId id="1957" r:id="rId49"/>
    <p:sldId id="1917" r:id="rId50"/>
    <p:sldId id="1962" r:id="rId51"/>
    <p:sldId id="1908" r:id="rId52"/>
    <p:sldId id="1921" r:id="rId53"/>
    <p:sldId id="1922" r:id="rId54"/>
    <p:sldId id="1865" r:id="rId55"/>
    <p:sldId id="1873" r:id="rId56"/>
    <p:sldId id="1874" r:id="rId57"/>
    <p:sldId id="1965" r:id="rId58"/>
    <p:sldId id="1897" r:id="rId59"/>
    <p:sldId id="1898" r:id="rId60"/>
    <p:sldId id="1899" r:id="rId61"/>
    <p:sldId id="1900" r:id="rId62"/>
    <p:sldId id="1902" r:id="rId63"/>
    <p:sldId id="1963" r:id="rId64"/>
    <p:sldId id="1958" r:id="rId65"/>
    <p:sldId id="1903" r:id="rId66"/>
    <p:sldId id="1904" r:id="rId67"/>
    <p:sldId id="1959" r:id="rId68"/>
    <p:sldId id="1877" r:id="rId69"/>
    <p:sldId id="1924" r:id="rId70"/>
    <p:sldId id="1925" r:id="rId71"/>
    <p:sldId id="1926" r:id="rId72"/>
    <p:sldId id="1964" r:id="rId73"/>
    <p:sldId id="1881" r:id="rId74"/>
    <p:sldId id="1882" r:id="rId75"/>
    <p:sldId id="1950" r:id="rId76"/>
    <p:sldId id="1883" r:id="rId77"/>
    <p:sldId id="1884" r:id="rId78"/>
    <p:sldId id="1946" r:id="rId79"/>
    <p:sldId id="1938" r:id="rId80"/>
    <p:sldId id="1939" r:id="rId81"/>
    <p:sldId id="1885" r:id="rId82"/>
    <p:sldId id="1960" r:id="rId83"/>
    <p:sldId id="1887" r:id="rId84"/>
    <p:sldId id="1956" r:id="rId85"/>
    <p:sldId id="1968" r:id="rId86"/>
    <p:sldId id="1220" r:id="rId87"/>
  </p:sldIdLst>
  <p:sldSz cx="9144000" cy="6858000" type="screen4x3"/>
  <p:notesSz cx="9942195" cy="6760845"/>
  <p:custDataLst>
    <p:tags r:id="rId92"/>
  </p:custDataLst>
  <p:defaultTextStyle>
    <a:defPPr>
      <a:defRPr lang="zh-CN"/>
    </a:defPPr>
    <a:lvl1pPr marL="0" lvl="0"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9pPr>
  </p:defaultTextStyle>
  <p:extLst>
    <p:ext uri="{521415D9-36F7-43E2-AB2F-B90AF26B5E84}">
      <p14:sectionLst xmlns:p14="http://schemas.microsoft.com/office/powerpoint/2010/main">
        <p14:section name="默认节" id="{FC170CCB-DBF9-43BF-A51D-581246692BB4}">
          <p14:sldIdLst>
            <p14:sldId id="1940"/>
            <p14:sldId id="1941"/>
            <p14:sldId id="1942"/>
            <p14:sldId id="1728"/>
            <p14:sldId id="1886"/>
            <p14:sldId id="1943"/>
            <p14:sldId id="1944"/>
            <p14:sldId id="1947"/>
            <p14:sldId id="1862"/>
            <p14:sldId id="1867"/>
            <p14:sldId id="1868"/>
            <p14:sldId id="1948"/>
            <p14:sldId id="1863"/>
            <p14:sldId id="1869"/>
            <p14:sldId id="1889"/>
            <p14:sldId id="1890"/>
            <p14:sldId id="1951"/>
            <p14:sldId id="1891"/>
            <p14:sldId id="1952"/>
            <p14:sldId id="1961"/>
            <p14:sldId id="1864"/>
            <p14:sldId id="1870"/>
            <p14:sldId id="1966"/>
            <p14:sldId id="1967"/>
            <p14:sldId id="1871"/>
            <p14:sldId id="1895"/>
            <p14:sldId id="1949"/>
            <p14:sldId id="1866"/>
            <p14:sldId id="1876"/>
            <p14:sldId id="1905"/>
            <p14:sldId id="1953"/>
            <p14:sldId id="1906"/>
            <p14:sldId id="1872"/>
            <p14:sldId id="1954"/>
            <p14:sldId id="1931"/>
            <p14:sldId id="1955"/>
            <p14:sldId id="1934"/>
            <p14:sldId id="1933"/>
            <p14:sldId id="1935"/>
            <p14:sldId id="1936"/>
            <p14:sldId id="1937"/>
            <p14:sldId id="1907"/>
            <p14:sldId id="1957"/>
            <p14:sldId id="1917"/>
            <p14:sldId id="1962"/>
            <p14:sldId id="1908"/>
            <p14:sldId id="1921"/>
            <p14:sldId id="1922"/>
            <p14:sldId id="1865"/>
            <p14:sldId id="1873"/>
            <p14:sldId id="1874"/>
            <p14:sldId id="1965"/>
            <p14:sldId id="1897"/>
            <p14:sldId id="1898"/>
            <p14:sldId id="1899"/>
            <p14:sldId id="1900"/>
            <p14:sldId id="1902"/>
            <p14:sldId id="1963"/>
            <p14:sldId id="1958"/>
            <p14:sldId id="1903"/>
            <p14:sldId id="1904"/>
            <p14:sldId id="1959"/>
            <p14:sldId id="1877"/>
            <p14:sldId id="1924"/>
            <p14:sldId id="1925"/>
            <p14:sldId id="1926"/>
            <p14:sldId id="1964"/>
            <p14:sldId id="1881"/>
            <p14:sldId id="1882"/>
            <p14:sldId id="1950"/>
            <p14:sldId id="1883"/>
            <p14:sldId id="1884"/>
            <p14:sldId id="1946"/>
            <p14:sldId id="1938"/>
            <p14:sldId id="1939"/>
            <p14:sldId id="1885"/>
            <p14:sldId id="1960"/>
            <p14:sldId id="1887"/>
            <p14:sldId id="1956"/>
            <p14:sldId id="1968"/>
            <p14:sldId id="1220"/>
          </p14:sldIdLst>
        </p14:section>
      </p14:sectionLst>
    </p:ext>
    <p:ext uri="{EFAFB233-063F-42B5-8137-9DF3F51BA10A}">
      <p15:sldGuideLst xmlns:p15="http://schemas.microsoft.com/office/powerpoint/2012/main">
        <p15:guide id="1" orient="horz" pos="2167" userDrawn="1">
          <p15:clr>
            <a:srgbClr val="A4A3A4"/>
          </p15:clr>
        </p15:guide>
        <p15:guide id="2" pos="2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A5FA"/>
    <a:srgbClr val="F6B9EB"/>
    <a:srgbClr val="A70A03"/>
    <a:srgbClr val="D508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36" autoAdjust="0"/>
    <p:restoredTop sz="87324" autoAdjust="0"/>
  </p:normalViewPr>
  <p:slideViewPr>
    <p:cSldViewPr showGuides="1">
      <p:cViewPr varScale="1">
        <p:scale>
          <a:sx n="84" d="100"/>
          <a:sy n="84" d="100"/>
        </p:scale>
        <p:origin x="200" y="60"/>
      </p:cViewPr>
      <p:guideLst>
        <p:guide orient="horz" pos="2167"/>
        <p:guide pos="2884"/>
      </p:guideLst>
    </p:cSldViewPr>
  </p:slideViewPr>
  <p:outlineViewPr>
    <p:cViewPr>
      <p:scale>
        <a:sx n="33" d="100"/>
        <a:sy n="33" d="100"/>
      </p:scale>
      <p:origin x="0" y="-17244"/>
    </p:cViewPr>
  </p:outlineViewPr>
  <p:notesTextViewPr>
    <p:cViewPr>
      <p:scale>
        <a:sx n="1" d="1"/>
        <a:sy n="1" d="1"/>
      </p:scale>
      <p:origin x="0" y="0"/>
    </p:cViewPr>
  </p:notesTextViewPr>
  <p:sorterViewPr>
    <p:cViewPr>
      <p:scale>
        <a:sx n="100" d="100"/>
        <a:sy n="100" d="100"/>
      </p:scale>
      <p:origin x="0" y="-13956"/>
    </p:cViewPr>
  </p:sorterViewPr>
  <p:gridSpacing cx="76198" cy="76198"/>
</p:viewPr>
</file>

<file path=ppt/_rels/presentation.xml.rels><?xml version="1.0" encoding="UTF-8" standalone="yes"?>
<Relationships xmlns="http://schemas.openxmlformats.org/package/2006/relationships"><Relationship Id="rId92" Type="http://schemas.openxmlformats.org/officeDocument/2006/relationships/tags" Target="tags/tag1.xml"/><Relationship Id="rId91" Type="http://schemas.openxmlformats.org/officeDocument/2006/relationships/tableStyles" Target="tableStyles.xml"/><Relationship Id="rId90" Type="http://schemas.openxmlformats.org/officeDocument/2006/relationships/viewProps" Target="viewProps.xml"/><Relationship Id="rId9" Type="http://schemas.openxmlformats.org/officeDocument/2006/relationships/slide" Target="slides/slide3.xml"/><Relationship Id="rId89" Type="http://schemas.openxmlformats.org/officeDocument/2006/relationships/presProps" Target="presProps.xml"/><Relationship Id="rId88" Type="http://schemas.openxmlformats.org/officeDocument/2006/relationships/handoutMaster" Target="handoutMasters/handoutMaster1.xml"/><Relationship Id="rId87" Type="http://schemas.openxmlformats.org/officeDocument/2006/relationships/slide" Target="slides/slide81.xml"/><Relationship Id="rId86" Type="http://schemas.openxmlformats.org/officeDocument/2006/relationships/slide" Target="slides/slide80.xml"/><Relationship Id="rId85" Type="http://schemas.openxmlformats.org/officeDocument/2006/relationships/slide" Target="slides/slide79.xml"/><Relationship Id="rId84" Type="http://schemas.openxmlformats.org/officeDocument/2006/relationships/slide" Target="slides/slide78.xml"/><Relationship Id="rId83" Type="http://schemas.openxmlformats.org/officeDocument/2006/relationships/slide" Target="slides/slide77.xml"/><Relationship Id="rId82" Type="http://schemas.openxmlformats.org/officeDocument/2006/relationships/slide" Target="slides/slide76.xml"/><Relationship Id="rId81" Type="http://schemas.openxmlformats.org/officeDocument/2006/relationships/slide" Target="slides/slide75.xml"/><Relationship Id="rId80" Type="http://schemas.openxmlformats.org/officeDocument/2006/relationships/slide" Target="slides/slide74.xml"/><Relationship Id="rId8" Type="http://schemas.openxmlformats.org/officeDocument/2006/relationships/slide" Target="slides/slide2.xml"/><Relationship Id="rId79" Type="http://schemas.openxmlformats.org/officeDocument/2006/relationships/slide" Target="slides/slide73.xml"/><Relationship Id="rId78" Type="http://schemas.openxmlformats.org/officeDocument/2006/relationships/slide" Target="slides/slide72.xml"/><Relationship Id="rId77" Type="http://schemas.openxmlformats.org/officeDocument/2006/relationships/slide" Target="slides/slide71.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notesMaster" Target="notesMasters/notesMaster1.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E8BE594-600A-4554-8EE5-C5827E507654}" type="doc">
      <dgm:prSet loTypeId="urn:microsoft.com/office/officeart/2005/8/layout/hProcess9" loCatId="process" qsTypeId="urn:microsoft.com/office/officeart/2005/8/quickstyle/simple1" qsCatId="simple" csTypeId="urn:microsoft.com/office/officeart/2005/8/colors/accent2_1" csCatId="accent2" phldr="1"/>
      <dgm:spPr/>
    </dgm:pt>
    <dgm:pt modelId="{44EBD383-30BF-4681-AF7F-76D9B8DFC80C}">
      <dgm:prSet phldrT="[文本]"/>
      <dgm:spPr/>
      <dgm:t>
        <a:bodyPr/>
        <a:lstStyle/>
        <a:p>
          <a:r>
            <a:rPr lang="en-US" altLang="zh-CN" b="1" dirty="0">
              <a:latin typeface="+mn-lt"/>
            </a:rPr>
            <a:t>2009</a:t>
          </a:r>
          <a:r>
            <a:rPr lang="zh-CN" altLang="en-US" b="1" dirty="0">
              <a:latin typeface="+mj-ea"/>
              <a:ea typeface="+mj-ea"/>
            </a:rPr>
            <a:t>年</a:t>
          </a:r>
          <a:endParaRPr lang="en-US" altLang="zh-CN" b="1" dirty="0">
            <a:latin typeface="+mj-ea"/>
            <a:ea typeface="+mj-ea"/>
          </a:endParaRPr>
        </a:p>
        <a:p>
          <a:r>
            <a:rPr lang="zh-CN" altLang="en-US" dirty="0">
              <a:latin typeface="+mn-ea"/>
            </a:rPr>
            <a:t>日本京都大学的教授使用密度演进的方法研究了</a:t>
          </a:r>
          <a:r>
            <a:rPr lang="en-US" altLang="zh-CN" dirty="0">
              <a:latin typeface="+mn-lt"/>
            </a:rPr>
            <a:t>Polar</a:t>
          </a:r>
          <a:r>
            <a:rPr lang="zh-CN" altLang="en-US" dirty="0">
              <a:latin typeface="+mn-ea"/>
            </a:rPr>
            <a:t>码的性能。</a:t>
          </a:r>
          <a:endParaRPr lang="zh-CN" altLang="en-US" dirty="0"/>
        </a:p>
      </dgm:t>
    </dgm:pt>
    <dgm:pt modelId="{ED72DCA6-5989-47C6-B96B-6FF5EFD2F919}" cxnId="{B99E500A-7247-4BA6-B4CE-9CCA738FCBDB}" type="parTrans">
      <dgm:prSet/>
      <dgm:spPr/>
      <dgm:t>
        <a:bodyPr/>
        <a:lstStyle/>
        <a:p>
          <a:endParaRPr lang="zh-CN" altLang="en-US"/>
        </a:p>
      </dgm:t>
    </dgm:pt>
    <dgm:pt modelId="{FE4C6828-97A8-4EDC-9828-62DDBF9DBD4F}" cxnId="{B99E500A-7247-4BA6-B4CE-9CCA738FCBDB}" type="sibTrans">
      <dgm:prSet/>
      <dgm:spPr/>
      <dgm:t>
        <a:bodyPr/>
        <a:lstStyle/>
        <a:p>
          <a:endParaRPr lang="zh-CN" altLang="en-US"/>
        </a:p>
      </dgm:t>
    </dgm:pt>
    <dgm:pt modelId="{FDFE2F93-F426-42ED-A060-CBFD6F28F536}">
      <dgm:prSet phldrT="[文本]"/>
      <dgm:spPr/>
      <dgm:t>
        <a:bodyPr/>
        <a:lstStyle/>
        <a:p>
          <a:r>
            <a:rPr lang="en-US" altLang="zh-CN" b="1" dirty="0">
              <a:latin typeface="+mn-lt"/>
            </a:rPr>
            <a:t>2013</a:t>
          </a:r>
          <a:r>
            <a:rPr lang="zh-CN" altLang="en-US" b="1" dirty="0">
              <a:latin typeface="+mn-lt"/>
            </a:rPr>
            <a:t>年</a:t>
          </a:r>
          <a:endParaRPr lang="en-US" altLang="zh-CN" b="1" dirty="0">
            <a:latin typeface="+mn-lt"/>
          </a:endParaRPr>
        </a:p>
        <a:p>
          <a:r>
            <a:rPr lang="zh-CN" altLang="en-US" dirty="0">
              <a:latin typeface="+mn-ea"/>
            </a:rPr>
            <a:t>美国德州大学的</a:t>
          </a:r>
          <a:r>
            <a:rPr lang="en-US" altLang="zh-CN" dirty="0">
              <a:latin typeface="+mn-lt"/>
            </a:rPr>
            <a:t>H. Si</a:t>
          </a:r>
          <a:r>
            <a:rPr lang="zh-CN" altLang="en-US" dirty="0">
              <a:latin typeface="+mn-ea"/>
            </a:rPr>
            <a:t>研究了在衰落信道下的分层</a:t>
          </a:r>
          <a:r>
            <a:rPr lang="en-US" altLang="zh-CN" dirty="0">
              <a:latin typeface="+mn-lt"/>
            </a:rPr>
            <a:t>Polar</a:t>
          </a:r>
          <a:r>
            <a:rPr lang="zh-CN" altLang="en-US" dirty="0">
              <a:latin typeface="+mn-ea"/>
            </a:rPr>
            <a:t>码，其编码方案达到了衰落</a:t>
          </a:r>
          <a:r>
            <a:rPr lang="en-US" altLang="zh-CN" dirty="0">
              <a:latin typeface="+mn-lt"/>
            </a:rPr>
            <a:t>DMC</a:t>
          </a:r>
          <a:r>
            <a:rPr lang="zh-CN" altLang="en-US" dirty="0">
              <a:latin typeface="+mn-ea"/>
            </a:rPr>
            <a:t>下的性能。</a:t>
          </a:r>
          <a:endParaRPr lang="zh-CN" altLang="en-US" dirty="0"/>
        </a:p>
      </dgm:t>
    </dgm:pt>
    <dgm:pt modelId="{5DC8193E-DF6F-42F4-B3B3-2623EDEA7458}" cxnId="{058AE7AC-9739-4A1B-8736-02CBA7E5723E}" type="parTrans">
      <dgm:prSet/>
      <dgm:spPr/>
      <dgm:t>
        <a:bodyPr/>
        <a:lstStyle/>
        <a:p>
          <a:endParaRPr lang="zh-CN" altLang="en-US"/>
        </a:p>
      </dgm:t>
    </dgm:pt>
    <dgm:pt modelId="{D38B3480-E9E8-4548-BC38-A4734EC95C47}" cxnId="{058AE7AC-9739-4A1B-8736-02CBA7E5723E}" type="sibTrans">
      <dgm:prSet/>
      <dgm:spPr/>
      <dgm:t>
        <a:bodyPr/>
        <a:lstStyle/>
        <a:p>
          <a:endParaRPr lang="zh-CN" altLang="en-US"/>
        </a:p>
      </dgm:t>
    </dgm:pt>
    <dgm:pt modelId="{512ACC93-0928-4AA7-AAEF-B48734587219}">
      <dgm:prSet phldrT="[文本]"/>
      <dgm:spPr/>
      <dgm:t>
        <a:bodyPr/>
        <a:lstStyle/>
        <a:p>
          <a:r>
            <a:rPr lang="en-US" altLang="zh-CN" b="1" dirty="0">
              <a:latin typeface="+mn-lt"/>
            </a:rPr>
            <a:t>2014</a:t>
          </a:r>
          <a:r>
            <a:rPr lang="zh-CN" altLang="en-US" b="1" dirty="0">
              <a:latin typeface="+mn-lt"/>
            </a:rPr>
            <a:t>年</a:t>
          </a:r>
          <a:endParaRPr lang="en-US" altLang="zh-CN" b="1" dirty="0">
            <a:latin typeface="+mn-lt"/>
          </a:endParaRPr>
        </a:p>
        <a:p>
          <a:r>
            <a:rPr lang="zh-CN" altLang="en-US" dirty="0">
              <a:latin typeface="+mn-ea"/>
            </a:rPr>
            <a:t>加拿大的</a:t>
          </a:r>
          <a:r>
            <a:rPr lang="en-US" altLang="zh-CN" dirty="0" err="1">
              <a:latin typeface="+mn-lt"/>
            </a:rPr>
            <a:t>P.Giard</a:t>
          </a:r>
          <a:r>
            <a:rPr lang="zh-CN" altLang="en-US" dirty="0">
              <a:latin typeface="+mn-ea"/>
            </a:rPr>
            <a:t>研究了在普通</a:t>
          </a:r>
          <a:r>
            <a:rPr lang="en-US" altLang="zh-CN" dirty="0">
              <a:latin typeface="+mn-lt"/>
            </a:rPr>
            <a:t>CPU</a:t>
          </a:r>
          <a:r>
            <a:rPr lang="zh-CN" altLang="en-US" dirty="0">
              <a:latin typeface="+mn-ea"/>
            </a:rPr>
            <a:t>上实现的</a:t>
          </a:r>
          <a:r>
            <a:rPr lang="en-US" altLang="zh-CN" dirty="0">
              <a:latin typeface="+mn-lt"/>
            </a:rPr>
            <a:t>Polar</a:t>
          </a:r>
          <a:r>
            <a:rPr lang="zh-CN" altLang="en-US" dirty="0">
              <a:latin typeface="+mn-ea"/>
            </a:rPr>
            <a:t>码软件解码算法</a:t>
          </a:r>
          <a:r>
            <a:rPr lang="en-US" altLang="zh-CN" dirty="0">
              <a:latin typeface="+mn-lt"/>
            </a:rPr>
            <a:t>7</a:t>
          </a:r>
          <a:r>
            <a:rPr lang="zh-CN" altLang="en-US" dirty="0">
              <a:latin typeface="+mn-ea"/>
            </a:rPr>
            <a:t>，其吞吐率超过了</a:t>
          </a:r>
          <a:r>
            <a:rPr lang="en-US" altLang="zh-CN" dirty="0">
              <a:latin typeface="+mn-lt"/>
            </a:rPr>
            <a:t>200Mbit/s</a:t>
          </a:r>
          <a:r>
            <a:rPr lang="zh-CN" altLang="en-US" dirty="0">
              <a:latin typeface="+mn-ea"/>
            </a:rPr>
            <a:t>。</a:t>
          </a:r>
          <a:endParaRPr lang="zh-CN" altLang="en-US" dirty="0"/>
        </a:p>
      </dgm:t>
    </dgm:pt>
    <dgm:pt modelId="{C4890183-E8E6-4BA8-8D86-B026683BF787}" cxnId="{39446BF5-800E-4588-9DD7-C92FD3CB5791}" type="parTrans">
      <dgm:prSet/>
      <dgm:spPr/>
      <dgm:t>
        <a:bodyPr/>
        <a:lstStyle/>
        <a:p>
          <a:endParaRPr lang="zh-CN" altLang="en-US"/>
        </a:p>
      </dgm:t>
    </dgm:pt>
    <dgm:pt modelId="{B2028236-6DC9-44FF-A6F5-48CA774B0BE6}" cxnId="{39446BF5-800E-4588-9DD7-C92FD3CB5791}" type="sibTrans">
      <dgm:prSet/>
      <dgm:spPr/>
      <dgm:t>
        <a:bodyPr/>
        <a:lstStyle/>
        <a:p>
          <a:endParaRPr lang="zh-CN" altLang="en-US"/>
        </a:p>
      </dgm:t>
    </dgm:pt>
    <dgm:pt modelId="{1F3F4905-02ED-4672-BC85-D57462E3C2E6}" type="pres">
      <dgm:prSet presAssocID="{DE8BE594-600A-4554-8EE5-C5827E507654}" presName="CompostProcess" presStyleCnt="0">
        <dgm:presLayoutVars>
          <dgm:dir/>
          <dgm:resizeHandles val="exact"/>
        </dgm:presLayoutVars>
      </dgm:prSet>
      <dgm:spPr/>
    </dgm:pt>
    <dgm:pt modelId="{6DA8EE2C-E286-453B-9C02-49B0E16D6B37}" type="pres">
      <dgm:prSet presAssocID="{DE8BE594-600A-4554-8EE5-C5827E507654}" presName="arrow" presStyleLbl="bgShp" presStyleIdx="0" presStyleCnt="1" custScaleX="99409" custScaleY="99389"/>
      <dgm:spPr/>
    </dgm:pt>
    <dgm:pt modelId="{A4F0F028-0802-4B58-8642-3B9F14754CE2}" type="pres">
      <dgm:prSet presAssocID="{DE8BE594-600A-4554-8EE5-C5827E507654}" presName="linearProcess" presStyleCnt="0"/>
      <dgm:spPr/>
    </dgm:pt>
    <dgm:pt modelId="{EA650095-E87E-405B-8B37-70FAD3A21BCC}" type="pres">
      <dgm:prSet presAssocID="{44EBD383-30BF-4681-AF7F-76D9B8DFC80C}" presName="textNode" presStyleLbl="node1" presStyleIdx="0" presStyleCnt="3">
        <dgm:presLayoutVars>
          <dgm:bulletEnabled val="1"/>
        </dgm:presLayoutVars>
      </dgm:prSet>
      <dgm:spPr/>
    </dgm:pt>
    <dgm:pt modelId="{7AD5A472-3D16-491F-95A1-ACF544D10157}" type="pres">
      <dgm:prSet presAssocID="{FE4C6828-97A8-4EDC-9828-62DDBF9DBD4F}" presName="sibTrans" presStyleCnt="0"/>
      <dgm:spPr/>
    </dgm:pt>
    <dgm:pt modelId="{CA4A91EB-0985-4BBE-A62E-4042DF0ED60B}" type="pres">
      <dgm:prSet presAssocID="{FDFE2F93-F426-42ED-A060-CBFD6F28F536}" presName="textNode" presStyleLbl="node1" presStyleIdx="1" presStyleCnt="3">
        <dgm:presLayoutVars>
          <dgm:bulletEnabled val="1"/>
        </dgm:presLayoutVars>
      </dgm:prSet>
      <dgm:spPr/>
    </dgm:pt>
    <dgm:pt modelId="{AEEE943C-E5CE-446B-8E2F-FA5E86D3BC03}" type="pres">
      <dgm:prSet presAssocID="{D38B3480-E9E8-4548-BC38-A4734EC95C47}" presName="sibTrans" presStyleCnt="0"/>
      <dgm:spPr/>
    </dgm:pt>
    <dgm:pt modelId="{C8FDAEEE-B6C8-4782-916D-28AD0DC1B16F}" type="pres">
      <dgm:prSet presAssocID="{512ACC93-0928-4AA7-AAEF-B48734587219}" presName="textNode" presStyleLbl="node1" presStyleIdx="2" presStyleCnt="3">
        <dgm:presLayoutVars>
          <dgm:bulletEnabled val="1"/>
        </dgm:presLayoutVars>
      </dgm:prSet>
      <dgm:spPr/>
    </dgm:pt>
  </dgm:ptLst>
  <dgm:cxnLst>
    <dgm:cxn modelId="{B99E500A-7247-4BA6-B4CE-9CCA738FCBDB}" srcId="{DE8BE594-600A-4554-8EE5-C5827E507654}" destId="{44EBD383-30BF-4681-AF7F-76D9B8DFC80C}" srcOrd="0" destOrd="0" parTransId="{ED72DCA6-5989-47C6-B96B-6FF5EFD2F919}" sibTransId="{FE4C6828-97A8-4EDC-9828-62DDBF9DBD4F}"/>
    <dgm:cxn modelId="{31F71D70-32D1-48F8-ABD8-C0A59D875DBF}" type="presOf" srcId="{DE8BE594-600A-4554-8EE5-C5827E507654}" destId="{1F3F4905-02ED-4672-BC85-D57462E3C2E6}" srcOrd="0" destOrd="0" presId="urn:microsoft.com/office/officeart/2005/8/layout/hProcess9"/>
    <dgm:cxn modelId="{40F6B580-CA22-43A5-951D-8F818A5621AC}" type="presOf" srcId="{FDFE2F93-F426-42ED-A060-CBFD6F28F536}" destId="{CA4A91EB-0985-4BBE-A62E-4042DF0ED60B}" srcOrd="0" destOrd="0" presId="urn:microsoft.com/office/officeart/2005/8/layout/hProcess9"/>
    <dgm:cxn modelId="{08AB248C-F3E7-4FF0-ADE6-CF0AFB1DE400}" type="presOf" srcId="{44EBD383-30BF-4681-AF7F-76D9B8DFC80C}" destId="{EA650095-E87E-405B-8B37-70FAD3A21BCC}" srcOrd="0" destOrd="0" presId="urn:microsoft.com/office/officeart/2005/8/layout/hProcess9"/>
    <dgm:cxn modelId="{8DE8A998-4D8C-4215-851C-350139CCE3AF}" type="presOf" srcId="{512ACC93-0928-4AA7-AAEF-B48734587219}" destId="{C8FDAEEE-B6C8-4782-916D-28AD0DC1B16F}" srcOrd="0" destOrd="0" presId="urn:microsoft.com/office/officeart/2005/8/layout/hProcess9"/>
    <dgm:cxn modelId="{058AE7AC-9739-4A1B-8736-02CBA7E5723E}" srcId="{DE8BE594-600A-4554-8EE5-C5827E507654}" destId="{FDFE2F93-F426-42ED-A060-CBFD6F28F536}" srcOrd="1" destOrd="0" parTransId="{5DC8193E-DF6F-42F4-B3B3-2623EDEA7458}" sibTransId="{D38B3480-E9E8-4548-BC38-A4734EC95C47}"/>
    <dgm:cxn modelId="{39446BF5-800E-4588-9DD7-C92FD3CB5791}" srcId="{DE8BE594-600A-4554-8EE5-C5827E507654}" destId="{512ACC93-0928-4AA7-AAEF-B48734587219}" srcOrd="2" destOrd="0" parTransId="{C4890183-E8E6-4BA8-8D86-B026683BF787}" sibTransId="{B2028236-6DC9-44FF-A6F5-48CA774B0BE6}"/>
    <dgm:cxn modelId="{3E0C4D7A-BD54-4B38-8E13-5303529CC0C9}" type="presParOf" srcId="{1F3F4905-02ED-4672-BC85-D57462E3C2E6}" destId="{6DA8EE2C-E286-453B-9C02-49B0E16D6B37}" srcOrd="0" destOrd="0" presId="urn:microsoft.com/office/officeart/2005/8/layout/hProcess9"/>
    <dgm:cxn modelId="{07795F15-1A39-40EE-88E2-EFD35D203207}" type="presParOf" srcId="{1F3F4905-02ED-4672-BC85-D57462E3C2E6}" destId="{A4F0F028-0802-4B58-8642-3B9F14754CE2}" srcOrd="1" destOrd="0" presId="urn:microsoft.com/office/officeart/2005/8/layout/hProcess9"/>
    <dgm:cxn modelId="{8C8E1469-76CA-43EB-B897-4DB84790C9E5}" type="presParOf" srcId="{A4F0F028-0802-4B58-8642-3B9F14754CE2}" destId="{EA650095-E87E-405B-8B37-70FAD3A21BCC}" srcOrd="0" destOrd="0" presId="urn:microsoft.com/office/officeart/2005/8/layout/hProcess9"/>
    <dgm:cxn modelId="{049926C1-8916-403B-9D24-578ED18EC479}" type="presParOf" srcId="{A4F0F028-0802-4B58-8642-3B9F14754CE2}" destId="{7AD5A472-3D16-491F-95A1-ACF544D10157}" srcOrd="1" destOrd="0" presId="urn:microsoft.com/office/officeart/2005/8/layout/hProcess9"/>
    <dgm:cxn modelId="{50996CEE-6AC2-40A4-98D8-E9667E55FA6D}" type="presParOf" srcId="{A4F0F028-0802-4B58-8642-3B9F14754CE2}" destId="{CA4A91EB-0985-4BBE-A62E-4042DF0ED60B}" srcOrd="2" destOrd="0" presId="urn:microsoft.com/office/officeart/2005/8/layout/hProcess9"/>
    <dgm:cxn modelId="{39F04FC7-20B1-4B15-BCCC-19786362CACB}" type="presParOf" srcId="{A4F0F028-0802-4B58-8642-3B9F14754CE2}" destId="{AEEE943C-E5CE-446B-8E2F-FA5E86D3BC03}" srcOrd="3" destOrd="0" presId="urn:microsoft.com/office/officeart/2005/8/layout/hProcess9"/>
    <dgm:cxn modelId="{CCE506B6-AECA-483D-AE5B-240CAC95879C}" type="presParOf" srcId="{A4F0F028-0802-4B58-8642-3B9F14754CE2}" destId="{C8FDAEEE-B6C8-4782-916D-28AD0DC1B16F}" srcOrd="4" destOrd="0" presId="urn:microsoft.com/office/officeart/2005/8/layout/hProcess9"/>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8BE594-600A-4554-8EE5-C5827E507654}" type="doc">
      <dgm:prSet loTypeId="urn:microsoft.com/office/officeart/2005/8/layout/hProcess9" loCatId="process" qsTypeId="urn:microsoft.com/office/officeart/2005/8/quickstyle/simple1" qsCatId="simple" csTypeId="urn:microsoft.com/office/officeart/2005/8/colors/accent2_1" csCatId="accent2" phldr="1"/>
      <dgm:spPr/>
    </dgm:pt>
    <dgm:pt modelId="{44EBD383-30BF-4681-AF7F-76D9B8DFC80C}">
      <dgm:prSet phldrT="[文本]" custT="1"/>
      <dgm:spPr/>
      <dgm:t>
        <a:bodyPr/>
        <a:lstStyle/>
        <a:p>
          <a:r>
            <a:rPr lang="en-US" altLang="zh-CN" sz="1200" b="1" dirty="0">
              <a:latin typeface="+mn-lt"/>
            </a:rPr>
            <a:t>2017</a:t>
          </a:r>
          <a:r>
            <a:rPr lang="zh-CN" altLang="en-US" sz="1200" b="1" dirty="0">
              <a:latin typeface="+mn-lt"/>
            </a:rPr>
            <a:t>年</a:t>
          </a:r>
          <a:endParaRPr lang="en-US" altLang="zh-CN" sz="1200" b="1" dirty="0">
            <a:latin typeface="+mn-lt"/>
          </a:endParaRPr>
        </a:p>
        <a:p>
          <a:r>
            <a:rPr lang="zh-CN" altLang="en-US" sz="1300" dirty="0">
              <a:latin typeface="+mn-lt"/>
            </a:rPr>
            <a:t>在美国</a:t>
          </a:r>
          <a:r>
            <a:rPr lang="en-US" altLang="zh-CN" sz="1300" dirty="0">
              <a:latin typeface="+mn-lt"/>
            </a:rPr>
            <a:t>Spokane</a:t>
          </a:r>
          <a:r>
            <a:rPr lang="zh-CN" altLang="en-US" sz="1300" dirty="0">
              <a:latin typeface="+mn-lt"/>
            </a:rPr>
            <a:t>的</a:t>
          </a:r>
          <a:r>
            <a:rPr lang="en-US" altLang="zh-CN" sz="1300" dirty="0">
              <a:latin typeface="+mn-lt"/>
            </a:rPr>
            <a:t>3GPP RAN WG1#AH1_ NR</a:t>
          </a:r>
          <a:r>
            <a:rPr lang="zh-CN" altLang="en-US" sz="1300" dirty="0">
              <a:latin typeface="+mn-lt"/>
            </a:rPr>
            <a:t>会议上，不具有比特翻转模块的</a:t>
          </a:r>
          <a:r>
            <a:rPr lang="en-US" altLang="zh-CN" sz="1300" dirty="0">
              <a:latin typeface="+mn-lt"/>
            </a:rPr>
            <a:t>Polar</a:t>
          </a:r>
          <a:r>
            <a:rPr lang="zh-CN" altLang="en-US" sz="1300" dirty="0">
              <a:latin typeface="+mn-lt"/>
            </a:rPr>
            <a:t>码得以确定在</a:t>
          </a:r>
          <a:r>
            <a:rPr lang="en-US" altLang="zh-CN" sz="1300" dirty="0">
              <a:latin typeface="+mn-lt"/>
            </a:rPr>
            <a:t>5G</a:t>
          </a:r>
          <a:r>
            <a:rPr lang="zh-CN" altLang="en-US" sz="1300" dirty="0">
              <a:latin typeface="+mn-lt"/>
            </a:rPr>
            <a:t>中使用</a:t>
          </a:r>
        </a:p>
      </dgm:t>
    </dgm:pt>
    <dgm:pt modelId="{ED72DCA6-5989-47C6-B96B-6FF5EFD2F919}" cxnId="{B99E500A-7247-4BA6-B4CE-9CCA738FCBDB}" type="parTrans">
      <dgm:prSet/>
      <dgm:spPr/>
      <dgm:t>
        <a:bodyPr/>
        <a:lstStyle/>
        <a:p>
          <a:endParaRPr lang="zh-CN" altLang="en-US"/>
        </a:p>
      </dgm:t>
    </dgm:pt>
    <dgm:pt modelId="{FE4C6828-97A8-4EDC-9828-62DDBF9DBD4F}" cxnId="{B99E500A-7247-4BA6-B4CE-9CCA738FCBDB}" type="sibTrans">
      <dgm:prSet/>
      <dgm:spPr/>
      <dgm:t>
        <a:bodyPr/>
        <a:lstStyle/>
        <a:p>
          <a:endParaRPr lang="zh-CN" altLang="en-US"/>
        </a:p>
      </dgm:t>
    </dgm:pt>
    <dgm:pt modelId="{FDFE2F93-F426-42ED-A060-CBFD6F28F536}">
      <dgm:prSet phldrT="[文本]" custT="1"/>
      <dgm:spPr/>
      <dgm:t>
        <a:bodyPr/>
        <a:lstStyle/>
        <a:p>
          <a:r>
            <a:rPr lang="en-US" altLang="zh-CN" sz="1300" b="1" dirty="0">
              <a:latin typeface="+mn-lt"/>
            </a:rPr>
            <a:t>2016</a:t>
          </a:r>
          <a:r>
            <a:rPr lang="zh-CN" altLang="en-US" sz="1300" b="1" dirty="0">
              <a:latin typeface="+mn-ea"/>
              <a:ea typeface="+mn-ea"/>
            </a:rPr>
            <a:t>年</a:t>
          </a:r>
          <a:endParaRPr lang="en-US" altLang="zh-CN" sz="1300" b="1" dirty="0">
            <a:latin typeface="+mn-ea"/>
            <a:ea typeface="+mn-ea"/>
          </a:endParaRPr>
        </a:p>
        <a:p>
          <a:r>
            <a:rPr lang="zh-CN" altLang="en-US" sz="1300" dirty="0">
              <a:latin typeface="+mn-lt"/>
            </a:rPr>
            <a:t>美国</a:t>
          </a:r>
          <a:r>
            <a:rPr lang="en-US" altLang="zh-CN" sz="1300" dirty="0">
              <a:latin typeface="+mn-lt"/>
            </a:rPr>
            <a:t>Reno</a:t>
          </a:r>
          <a:r>
            <a:rPr lang="zh-CN" altLang="en-US" sz="1300" dirty="0">
              <a:latin typeface="+mn-lt"/>
            </a:rPr>
            <a:t>的</a:t>
          </a:r>
          <a:r>
            <a:rPr lang="en-US" altLang="zh-CN" sz="1300" dirty="0">
              <a:latin typeface="+mn-lt"/>
            </a:rPr>
            <a:t>3GPP TSG RAN WG1#87</a:t>
          </a:r>
          <a:r>
            <a:rPr lang="zh-CN" altLang="en-US" sz="1300" dirty="0">
              <a:latin typeface="+mn-lt"/>
            </a:rPr>
            <a:t>会议上</a:t>
          </a:r>
          <a:r>
            <a:rPr lang="en-US" altLang="zh-CN" sz="1300" dirty="0">
              <a:latin typeface="+mn-lt"/>
            </a:rPr>
            <a:t>, Polar</a:t>
          </a:r>
          <a:r>
            <a:rPr lang="zh-CN" altLang="en-US" sz="1300" dirty="0">
              <a:latin typeface="+mn-lt"/>
            </a:rPr>
            <a:t>码被确定为第五代移动通信</a:t>
          </a:r>
          <a:r>
            <a:rPr lang="en-US" altLang="zh-CN" sz="1300" dirty="0">
              <a:latin typeface="+mn-lt"/>
            </a:rPr>
            <a:t>(5G)</a:t>
          </a:r>
          <a:r>
            <a:rPr lang="zh-CN" altLang="en-US" sz="1300" dirty="0">
              <a:latin typeface="+mn-lt"/>
            </a:rPr>
            <a:t>的增强移动宽带</a:t>
          </a:r>
          <a:r>
            <a:rPr lang="en-US" altLang="zh-CN" sz="1300" dirty="0">
              <a:latin typeface="+mn-lt"/>
            </a:rPr>
            <a:t>(</a:t>
          </a:r>
          <a:r>
            <a:rPr lang="en-US" altLang="zh-CN" sz="1300" dirty="0" err="1">
              <a:latin typeface="+mn-lt"/>
            </a:rPr>
            <a:t>eMBB</a:t>
          </a:r>
          <a:r>
            <a:rPr lang="en-US" altLang="zh-CN" sz="1300" dirty="0">
              <a:latin typeface="+mn-lt"/>
            </a:rPr>
            <a:t>)</a:t>
          </a:r>
          <a:r>
            <a:rPr lang="zh-CN" altLang="en-US" sz="1300" dirty="0">
              <a:latin typeface="+mn-lt"/>
            </a:rPr>
            <a:t>物理控制信道的编码方案。 </a:t>
          </a:r>
        </a:p>
      </dgm:t>
    </dgm:pt>
    <dgm:pt modelId="{5DC8193E-DF6F-42F4-B3B3-2623EDEA7458}" cxnId="{058AE7AC-9739-4A1B-8736-02CBA7E5723E}" type="parTrans">
      <dgm:prSet/>
      <dgm:spPr/>
      <dgm:t>
        <a:bodyPr/>
        <a:lstStyle/>
        <a:p>
          <a:endParaRPr lang="zh-CN" altLang="en-US"/>
        </a:p>
      </dgm:t>
    </dgm:pt>
    <dgm:pt modelId="{D38B3480-E9E8-4548-BC38-A4734EC95C47}" cxnId="{058AE7AC-9739-4A1B-8736-02CBA7E5723E}" type="sibTrans">
      <dgm:prSet/>
      <dgm:spPr/>
      <dgm:t>
        <a:bodyPr/>
        <a:lstStyle/>
        <a:p>
          <a:endParaRPr lang="zh-CN" altLang="en-US"/>
        </a:p>
      </dgm:t>
    </dgm:pt>
    <dgm:pt modelId="{512ACC93-0928-4AA7-AAEF-B48734587219}">
      <dgm:prSet phldrT="[文本]" custT="1"/>
      <dgm:spPr/>
      <dgm:t>
        <a:bodyPr/>
        <a:lstStyle/>
        <a:p>
          <a:r>
            <a:rPr lang="en-US" altLang="zh-CN" sz="1300" b="1" dirty="0">
              <a:latin typeface="+mn-lt"/>
            </a:rPr>
            <a:t>2016</a:t>
          </a:r>
          <a:r>
            <a:rPr lang="zh-CN" altLang="en-US" sz="1300" b="1" dirty="0">
              <a:latin typeface="+mn-lt"/>
            </a:rPr>
            <a:t>年</a:t>
          </a:r>
          <a:endParaRPr lang="en-US" altLang="zh-CN" sz="1300" b="1" dirty="0">
            <a:latin typeface="+mn-lt"/>
          </a:endParaRPr>
        </a:p>
        <a:p>
          <a:r>
            <a:rPr lang="zh-CN" altLang="en-US" sz="1300" dirty="0">
              <a:latin typeface="+mn-lt"/>
            </a:rPr>
            <a:t>在</a:t>
          </a:r>
          <a:r>
            <a:rPr lang="en-US" altLang="zh-CN" sz="1300" dirty="0">
              <a:latin typeface="+mn-lt"/>
            </a:rPr>
            <a:t>3GPP</a:t>
          </a:r>
          <a:r>
            <a:rPr lang="zh-CN" altLang="en-US" sz="1300" dirty="0">
              <a:latin typeface="+mn-lt"/>
            </a:rPr>
            <a:t>第</a:t>
          </a:r>
          <a:r>
            <a:rPr lang="en-US" altLang="zh-CN" sz="1300" dirty="0">
              <a:latin typeface="+mn-lt"/>
            </a:rPr>
            <a:t>71</a:t>
          </a:r>
          <a:r>
            <a:rPr lang="zh-CN" altLang="en-US" sz="1300" dirty="0">
              <a:latin typeface="+mn-lt"/>
            </a:rPr>
            <a:t>次</a:t>
          </a:r>
          <a:r>
            <a:rPr lang="en-US" altLang="zh-CN" sz="1300" dirty="0">
              <a:latin typeface="+mn-lt"/>
            </a:rPr>
            <a:t>RAN</a:t>
          </a:r>
          <a:r>
            <a:rPr lang="zh-CN" altLang="en-US" sz="1300" dirty="0">
              <a:latin typeface="+mn-lt"/>
            </a:rPr>
            <a:t>全会上，下一代新的无线接入网</a:t>
          </a:r>
          <a:r>
            <a:rPr lang="en-US" altLang="zh-CN" sz="1300" dirty="0">
              <a:latin typeface="+mn-lt"/>
            </a:rPr>
            <a:t>(NR</a:t>
          </a:r>
          <a:r>
            <a:rPr lang="zh-CN" altLang="en-US" sz="1300" dirty="0">
              <a:latin typeface="+mn-lt"/>
            </a:rPr>
            <a:t>、</a:t>
          </a:r>
          <a:r>
            <a:rPr lang="en-US" altLang="zh-CN" sz="1300" dirty="0">
              <a:latin typeface="+mn-lt"/>
            </a:rPr>
            <a:t>5G</a:t>
          </a:r>
          <a:r>
            <a:rPr lang="zh-CN" altLang="en-US" sz="1300" dirty="0">
              <a:latin typeface="+mn-lt"/>
            </a:rPr>
            <a:t>、</a:t>
          </a:r>
          <a:r>
            <a:rPr lang="en-US" altLang="zh-CN" sz="1300" dirty="0">
              <a:latin typeface="+mn-lt"/>
            </a:rPr>
            <a:t>5G-NR)</a:t>
          </a:r>
          <a:r>
            <a:rPr lang="zh-CN" altLang="en-US" sz="1300" dirty="0">
              <a:latin typeface="+mn-lt"/>
            </a:rPr>
            <a:t>的研究项目的立项通过。</a:t>
          </a:r>
          <a:r>
            <a:rPr lang="en-US" altLang="zh-CN" sz="1300" dirty="0">
              <a:latin typeface="+mn-lt"/>
            </a:rPr>
            <a:t>Polar</a:t>
          </a:r>
          <a:r>
            <a:rPr lang="zh-CN" altLang="en-US" sz="1300" dirty="0">
              <a:latin typeface="+mn-lt"/>
            </a:rPr>
            <a:t>码在短码长、低码率上的性能和实现复杂度优势。</a:t>
          </a:r>
        </a:p>
      </dgm:t>
    </dgm:pt>
    <dgm:pt modelId="{C4890183-E8E6-4BA8-8D86-B026683BF787}" cxnId="{39446BF5-800E-4588-9DD7-C92FD3CB5791}" type="parTrans">
      <dgm:prSet/>
      <dgm:spPr/>
      <dgm:t>
        <a:bodyPr/>
        <a:lstStyle/>
        <a:p>
          <a:endParaRPr lang="zh-CN" altLang="en-US"/>
        </a:p>
      </dgm:t>
    </dgm:pt>
    <dgm:pt modelId="{B2028236-6DC9-44FF-A6F5-48CA774B0BE6}" cxnId="{39446BF5-800E-4588-9DD7-C92FD3CB5791}" type="sibTrans">
      <dgm:prSet/>
      <dgm:spPr/>
      <dgm:t>
        <a:bodyPr/>
        <a:lstStyle/>
        <a:p>
          <a:endParaRPr lang="zh-CN" altLang="en-US"/>
        </a:p>
      </dgm:t>
    </dgm:pt>
    <dgm:pt modelId="{1F3F4905-02ED-4672-BC85-D57462E3C2E6}" type="pres">
      <dgm:prSet presAssocID="{DE8BE594-600A-4554-8EE5-C5827E507654}" presName="CompostProcess" presStyleCnt="0">
        <dgm:presLayoutVars>
          <dgm:dir/>
          <dgm:resizeHandles val="exact"/>
        </dgm:presLayoutVars>
      </dgm:prSet>
      <dgm:spPr/>
    </dgm:pt>
    <dgm:pt modelId="{6DA8EE2C-E286-453B-9C02-49B0E16D6B37}" type="pres">
      <dgm:prSet presAssocID="{DE8BE594-600A-4554-8EE5-C5827E507654}" presName="arrow" presStyleLbl="bgShp" presStyleIdx="0" presStyleCnt="1" custAng="10800000" custLinFactNeighborX="0">
        <dgm:style>
          <a:lnRef idx="0">
            <a:scrgbClr r="0" g="0" b="0"/>
          </a:lnRef>
          <a:fillRef idx="0">
            <a:scrgbClr r="0" g="0" b="0"/>
          </a:fillRef>
          <a:effectRef idx="0">
            <a:scrgbClr r="0" g="0" b="0"/>
          </a:effectRef>
          <a:fontRef idx="minor">
            <a:schemeClr val="lt1"/>
          </a:fontRef>
        </dgm:style>
      </dgm:prSet>
      <dgm:spPr>
        <a:solidFill>
          <a:schemeClr val="accent2">
            <a:alpha val="50000"/>
          </a:schemeClr>
        </a:solidFill>
        <a:ln>
          <a:noFill/>
        </a:ln>
      </dgm:spPr>
    </dgm:pt>
    <dgm:pt modelId="{A4F0F028-0802-4B58-8642-3B9F14754CE2}" type="pres">
      <dgm:prSet presAssocID="{DE8BE594-600A-4554-8EE5-C5827E507654}" presName="linearProcess" presStyleCnt="0"/>
      <dgm:spPr/>
    </dgm:pt>
    <dgm:pt modelId="{EA650095-E87E-405B-8B37-70FAD3A21BCC}" type="pres">
      <dgm:prSet presAssocID="{44EBD383-30BF-4681-AF7F-76D9B8DFC80C}" presName="textNode" presStyleLbl="node1" presStyleIdx="0" presStyleCnt="3" custLinFactNeighborX="-3434" custLinFactNeighborY="758">
        <dgm:presLayoutVars>
          <dgm:bulletEnabled val="1"/>
        </dgm:presLayoutVars>
      </dgm:prSet>
      <dgm:spPr/>
    </dgm:pt>
    <dgm:pt modelId="{7AD5A472-3D16-491F-95A1-ACF544D10157}" type="pres">
      <dgm:prSet presAssocID="{FE4C6828-97A8-4EDC-9828-62DDBF9DBD4F}" presName="sibTrans" presStyleCnt="0"/>
      <dgm:spPr/>
    </dgm:pt>
    <dgm:pt modelId="{CA4A91EB-0985-4BBE-A62E-4042DF0ED60B}" type="pres">
      <dgm:prSet presAssocID="{FDFE2F93-F426-42ED-A060-CBFD6F28F536}" presName="textNode" presStyleLbl="node1" presStyleIdx="1" presStyleCnt="3">
        <dgm:presLayoutVars>
          <dgm:bulletEnabled val="1"/>
        </dgm:presLayoutVars>
      </dgm:prSet>
      <dgm:spPr/>
    </dgm:pt>
    <dgm:pt modelId="{AEEE943C-E5CE-446B-8E2F-FA5E86D3BC03}" type="pres">
      <dgm:prSet presAssocID="{D38B3480-E9E8-4548-BC38-A4734EC95C47}" presName="sibTrans" presStyleCnt="0"/>
      <dgm:spPr/>
    </dgm:pt>
    <dgm:pt modelId="{C8FDAEEE-B6C8-4782-916D-28AD0DC1B16F}" type="pres">
      <dgm:prSet presAssocID="{512ACC93-0928-4AA7-AAEF-B48734587219}" presName="textNode" presStyleLbl="node1" presStyleIdx="2" presStyleCnt="3" custScaleX="104028" custScaleY="105263">
        <dgm:presLayoutVars>
          <dgm:bulletEnabled val="1"/>
        </dgm:presLayoutVars>
      </dgm:prSet>
      <dgm:spPr/>
    </dgm:pt>
  </dgm:ptLst>
  <dgm:cxnLst>
    <dgm:cxn modelId="{B99E500A-7247-4BA6-B4CE-9CCA738FCBDB}" srcId="{DE8BE594-600A-4554-8EE5-C5827E507654}" destId="{44EBD383-30BF-4681-AF7F-76D9B8DFC80C}" srcOrd="0" destOrd="0" parTransId="{ED72DCA6-5989-47C6-B96B-6FF5EFD2F919}" sibTransId="{FE4C6828-97A8-4EDC-9828-62DDBF9DBD4F}"/>
    <dgm:cxn modelId="{31F71D70-32D1-48F8-ABD8-C0A59D875DBF}" type="presOf" srcId="{DE8BE594-600A-4554-8EE5-C5827E507654}" destId="{1F3F4905-02ED-4672-BC85-D57462E3C2E6}" srcOrd="0" destOrd="0" presId="urn:microsoft.com/office/officeart/2005/8/layout/hProcess9"/>
    <dgm:cxn modelId="{40F6B580-CA22-43A5-951D-8F818A5621AC}" type="presOf" srcId="{FDFE2F93-F426-42ED-A060-CBFD6F28F536}" destId="{CA4A91EB-0985-4BBE-A62E-4042DF0ED60B}" srcOrd="0" destOrd="0" presId="urn:microsoft.com/office/officeart/2005/8/layout/hProcess9"/>
    <dgm:cxn modelId="{08AB248C-F3E7-4FF0-ADE6-CF0AFB1DE400}" type="presOf" srcId="{44EBD383-30BF-4681-AF7F-76D9B8DFC80C}" destId="{EA650095-E87E-405B-8B37-70FAD3A21BCC}" srcOrd="0" destOrd="0" presId="urn:microsoft.com/office/officeart/2005/8/layout/hProcess9"/>
    <dgm:cxn modelId="{8DE8A998-4D8C-4215-851C-350139CCE3AF}" type="presOf" srcId="{512ACC93-0928-4AA7-AAEF-B48734587219}" destId="{C8FDAEEE-B6C8-4782-916D-28AD0DC1B16F}" srcOrd="0" destOrd="0" presId="urn:microsoft.com/office/officeart/2005/8/layout/hProcess9"/>
    <dgm:cxn modelId="{058AE7AC-9739-4A1B-8736-02CBA7E5723E}" srcId="{DE8BE594-600A-4554-8EE5-C5827E507654}" destId="{FDFE2F93-F426-42ED-A060-CBFD6F28F536}" srcOrd="1" destOrd="0" parTransId="{5DC8193E-DF6F-42F4-B3B3-2623EDEA7458}" sibTransId="{D38B3480-E9E8-4548-BC38-A4734EC95C47}"/>
    <dgm:cxn modelId="{39446BF5-800E-4588-9DD7-C92FD3CB5791}" srcId="{DE8BE594-600A-4554-8EE5-C5827E507654}" destId="{512ACC93-0928-4AA7-AAEF-B48734587219}" srcOrd="2" destOrd="0" parTransId="{C4890183-E8E6-4BA8-8D86-B026683BF787}" sibTransId="{B2028236-6DC9-44FF-A6F5-48CA774B0BE6}"/>
    <dgm:cxn modelId="{3E0C4D7A-BD54-4B38-8E13-5303529CC0C9}" type="presParOf" srcId="{1F3F4905-02ED-4672-BC85-D57462E3C2E6}" destId="{6DA8EE2C-E286-453B-9C02-49B0E16D6B37}" srcOrd="0" destOrd="0" presId="urn:microsoft.com/office/officeart/2005/8/layout/hProcess9"/>
    <dgm:cxn modelId="{07795F15-1A39-40EE-88E2-EFD35D203207}" type="presParOf" srcId="{1F3F4905-02ED-4672-BC85-D57462E3C2E6}" destId="{A4F0F028-0802-4B58-8642-3B9F14754CE2}" srcOrd="1" destOrd="0" presId="urn:microsoft.com/office/officeart/2005/8/layout/hProcess9"/>
    <dgm:cxn modelId="{8C8E1469-76CA-43EB-B897-4DB84790C9E5}" type="presParOf" srcId="{A4F0F028-0802-4B58-8642-3B9F14754CE2}" destId="{EA650095-E87E-405B-8B37-70FAD3A21BCC}" srcOrd="0" destOrd="0" presId="urn:microsoft.com/office/officeart/2005/8/layout/hProcess9"/>
    <dgm:cxn modelId="{049926C1-8916-403B-9D24-578ED18EC479}" type="presParOf" srcId="{A4F0F028-0802-4B58-8642-3B9F14754CE2}" destId="{7AD5A472-3D16-491F-95A1-ACF544D10157}" srcOrd="1" destOrd="0" presId="urn:microsoft.com/office/officeart/2005/8/layout/hProcess9"/>
    <dgm:cxn modelId="{50996CEE-6AC2-40A4-98D8-E9667E55FA6D}" type="presParOf" srcId="{A4F0F028-0802-4B58-8642-3B9F14754CE2}" destId="{CA4A91EB-0985-4BBE-A62E-4042DF0ED60B}" srcOrd="2" destOrd="0" presId="urn:microsoft.com/office/officeart/2005/8/layout/hProcess9"/>
    <dgm:cxn modelId="{39F04FC7-20B1-4B15-BCCC-19786362CACB}" type="presParOf" srcId="{A4F0F028-0802-4B58-8642-3B9F14754CE2}" destId="{AEEE943C-E5CE-446B-8E2F-FA5E86D3BC03}" srcOrd="3" destOrd="0" presId="urn:microsoft.com/office/officeart/2005/8/layout/hProcess9"/>
    <dgm:cxn modelId="{CCE506B6-AECA-483D-AE5B-240CAC95879C}" type="presParOf" srcId="{A4F0F028-0802-4B58-8642-3B9F14754CE2}" destId="{C8FDAEEE-B6C8-4782-916D-28AD0DC1B16F}" srcOrd="4" destOrd="0" presId="urn:microsoft.com/office/officeart/2005/8/layout/hProcess9"/>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A8EE2C-E286-453B-9C02-49B0E16D6B37}">
      <dsp:nvSpPr>
        <dsp:cNvPr id="0" name=""/>
        <dsp:cNvSpPr/>
      </dsp:nvSpPr>
      <dsp:spPr>
        <a:xfrm>
          <a:off x="724686" y="8589"/>
          <a:ext cx="7900001" cy="2794464"/>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650095-E87E-405B-8B37-70FAD3A21BCC}">
      <dsp:nvSpPr>
        <dsp:cNvPr id="0" name=""/>
        <dsp:cNvSpPr/>
      </dsp:nvSpPr>
      <dsp:spPr>
        <a:xfrm>
          <a:off x="316819" y="843493"/>
          <a:ext cx="2804812" cy="1124657"/>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b="1" kern="1200" dirty="0">
              <a:latin typeface="+mn-lt"/>
            </a:rPr>
            <a:t>2009</a:t>
          </a:r>
          <a:r>
            <a:rPr lang="zh-CN" altLang="en-US" sz="1300" b="1" kern="1200" dirty="0">
              <a:latin typeface="+mj-ea"/>
              <a:ea typeface="+mj-ea"/>
            </a:rPr>
            <a:t>年</a:t>
          </a:r>
          <a:endParaRPr lang="en-US" altLang="zh-CN" sz="1300" b="1" kern="1200" dirty="0">
            <a:latin typeface="+mj-ea"/>
            <a:ea typeface="+mj-ea"/>
          </a:endParaRPr>
        </a:p>
        <a:p>
          <a:pPr marL="0" lvl="0" indent="0" algn="ctr" defTabSz="577850">
            <a:lnSpc>
              <a:spcPct val="90000"/>
            </a:lnSpc>
            <a:spcBef>
              <a:spcPct val="0"/>
            </a:spcBef>
            <a:spcAft>
              <a:spcPct val="35000"/>
            </a:spcAft>
            <a:buNone/>
          </a:pPr>
          <a:r>
            <a:rPr lang="zh-CN" altLang="en-US" sz="1300" kern="1200" dirty="0">
              <a:latin typeface="+mn-ea"/>
            </a:rPr>
            <a:t>日本京都大学的教授使用密度演进的方法研究了</a:t>
          </a:r>
          <a:r>
            <a:rPr lang="en-US" altLang="zh-CN" sz="1300" kern="1200" dirty="0">
              <a:latin typeface="+mn-lt"/>
            </a:rPr>
            <a:t>Polar</a:t>
          </a:r>
          <a:r>
            <a:rPr lang="zh-CN" altLang="en-US" sz="1300" kern="1200" dirty="0">
              <a:latin typeface="+mn-ea"/>
            </a:rPr>
            <a:t>码的性能。</a:t>
          </a:r>
          <a:endParaRPr lang="zh-CN" altLang="en-US" sz="1300" kern="1200" dirty="0"/>
        </a:p>
      </dsp:txBody>
      <dsp:txXfrm>
        <a:off x="371720" y="898394"/>
        <a:ext cx="2695010" cy="1014855"/>
      </dsp:txXfrm>
    </dsp:sp>
    <dsp:sp modelId="{CA4A91EB-0985-4BBE-A62E-4042DF0ED60B}">
      <dsp:nvSpPr>
        <dsp:cNvPr id="0" name=""/>
        <dsp:cNvSpPr/>
      </dsp:nvSpPr>
      <dsp:spPr>
        <a:xfrm>
          <a:off x="3272280" y="843493"/>
          <a:ext cx="2804812" cy="1124657"/>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b="1" kern="1200" dirty="0">
              <a:latin typeface="+mn-lt"/>
            </a:rPr>
            <a:t>2013</a:t>
          </a:r>
          <a:r>
            <a:rPr lang="zh-CN" altLang="en-US" sz="1300" b="1" kern="1200" dirty="0">
              <a:latin typeface="+mn-lt"/>
            </a:rPr>
            <a:t>年</a:t>
          </a:r>
          <a:endParaRPr lang="en-US" altLang="zh-CN" sz="1300" b="1" kern="1200" dirty="0">
            <a:latin typeface="+mn-lt"/>
          </a:endParaRPr>
        </a:p>
        <a:p>
          <a:pPr marL="0" lvl="0" indent="0" algn="ctr" defTabSz="577850">
            <a:lnSpc>
              <a:spcPct val="90000"/>
            </a:lnSpc>
            <a:spcBef>
              <a:spcPct val="0"/>
            </a:spcBef>
            <a:spcAft>
              <a:spcPct val="35000"/>
            </a:spcAft>
            <a:buNone/>
          </a:pPr>
          <a:r>
            <a:rPr lang="zh-CN" altLang="en-US" sz="1300" kern="1200" dirty="0">
              <a:latin typeface="+mn-ea"/>
            </a:rPr>
            <a:t>美国德州大学的</a:t>
          </a:r>
          <a:r>
            <a:rPr lang="en-US" altLang="zh-CN" sz="1300" kern="1200" dirty="0">
              <a:latin typeface="+mn-lt"/>
            </a:rPr>
            <a:t>H. Si</a:t>
          </a:r>
          <a:r>
            <a:rPr lang="zh-CN" altLang="en-US" sz="1300" kern="1200" dirty="0">
              <a:latin typeface="+mn-ea"/>
            </a:rPr>
            <a:t>研究了在衰落信道下的分层</a:t>
          </a:r>
          <a:r>
            <a:rPr lang="en-US" altLang="zh-CN" sz="1300" kern="1200" dirty="0">
              <a:latin typeface="+mn-lt"/>
            </a:rPr>
            <a:t>Polar</a:t>
          </a:r>
          <a:r>
            <a:rPr lang="zh-CN" altLang="en-US" sz="1300" kern="1200" dirty="0">
              <a:latin typeface="+mn-ea"/>
            </a:rPr>
            <a:t>码，其编码方案达到了衰落</a:t>
          </a:r>
          <a:r>
            <a:rPr lang="en-US" altLang="zh-CN" sz="1300" kern="1200" dirty="0">
              <a:latin typeface="+mn-lt"/>
            </a:rPr>
            <a:t>DMC</a:t>
          </a:r>
          <a:r>
            <a:rPr lang="zh-CN" altLang="en-US" sz="1300" kern="1200" dirty="0">
              <a:latin typeface="+mn-ea"/>
            </a:rPr>
            <a:t>下的性能。</a:t>
          </a:r>
          <a:endParaRPr lang="zh-CN" altLang="en-US" sz="1300" kern="1200" dirty="0"/>
        </a:p>
      </dsp:txBody>
      <dsp:txXfrm>
        <a:off x="3327181" y="898394"/>
        <a:ext cx="2695010" cy="1014855"/>
      </dsp:txXfrm>
    </dsp:sp>
    <dsp:sp modelId="{C8FDAEEE-B6C8-4782-916D-28AD0DC1B16F}">
      <dsp:nvSpPr>
        <dsp:cNvPr id="0" name=""/>
        <dsp:cNvSpPr/>
      </dsp:nvSpPr>
      <dsp:spPr>
        <a:xfrm>
          <a:off x="6227742" y="843493"/>
          <a:ext cx="2804812" cy="1124657"/>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b="1" kern="1200" dirty="0">
              <a:latin typeface="+mn-lt"/>
            </a:rPr>
            <a:t>2014</a:t>
          </a:r>
          <a:r>
            <a:rPr lang="zh-CN" altLang="en-US" sz="1300" b="1" kern="1200" dirty="0">
              <a:latin typeface="+mn-lt"/>
            </a:rPr>
            <a:t>年</a:t>
          </a:r>
          <a:endParaRPr lang="en-US" altLang="zh-CN" sz="1300" b="1" kern="1200" dirty="0">
            <a:latin typeface="+mn-lt"/>
          </a:endParaRPr>
        </a:p>
        <a:p>
          <a:pPr marL="0" lvl="0" indent="0" algn="ctr" defTabSz="577850">
            <a:lnSpc>
              <a:spcPct val="90000"/>
            </a:lnSpc>
            <a:spcBef>
              <a:spcPct val="0"/>
            </a:spcBef>
            <a:spcAft>
              <a:spcPct val="35000"/>
            </a:spcAft>
            <a:buNone/>
          </a:pPr>
          <a:r>
            <a:rPr lang="zh-CN" altLang="en-US" sz="1300" kern="1200" dirty="0">
              <a:latin typeface="+mn-ea"/>
            </a:rPr>
            <a:t>加拿大的</a:t>
          </a:r>
          <a:r>
            <a:rPr lang="en-US" altLang="zh-CN" sz="1300" kern="1200" dirty="0" err="1">
              <a:latin typeface="+mn-lt"/>
            </a:rPr>
            <a:t>P.Giard</a:t>
          </a:r>
          <a:r>
            <a:rPr lang="zh-CN" altLang="en-US" sz="1300" kern="1200" dirty="0">
              <a:latin typeface="+mn-ea"/>
            </a:rPr>
            <a:t>研究了在普通</a:t>
          </a:r>
          <a:r>
            <a:rPr lang="en-US" altLang="zh-CN" sz="1300" kern="1200" dirty="0">
              <a:latin typeface="+mn-lt"/>
            </a:rPr>
            <a:t>CPU</a:t>
          </a:r>
          <a:r>
            <a:rPr lang="zh-CN" altLang="en-US" sz="1300" kern="1200" dirty="0">
              <a:latin typeface="+mn-ea"/>
            </a:rPr>
            <a:t>上实现的</a:t>
          </a:r>
          <a:r>
            <a:rPr lang="en-US" altLang="zh-CN" sz="1300" kern="1200" dirty="0">
              <a:latin typeface="+mn-lt"/>
            </a:rPr>
            <a:t>Polar</a:t>
          </a:r>
          <a:r>
            <a:rPr lang="zh-CN" altLang="en-US" sz="1300" kern="1200" dirty="0">
              <a:latin typeface="+mn-ea"/>
            </a:rPr>
            <a:t>码软件解码算法</a:t>
          </a:r>
          <a:r>
            <a:rPr lang="en-US" altLang="zh-CN" sz="1300" kern="1200" dirty="0">
              <a:latin typeface="+mn-lt"/>
            </a:rPr>
            <a:t>7</a:t>
          </a:r>
          <a:r>
            <a:rPr lang="zh-CN" altLang="en-US" sz="1300" kern="1200" dirty="0">
              <a:latin typeface="+mn-ea"/>
            </a:rPr>
            <a:t>，其吞吐率超过了</a:t>
          </a:r>
          <a:r>
            <a:rPr lang="en-US" altLang="zh-CN" sz="1300" kern="1200" dirty="0">
              <a:latin typeface="+mn-lt"/>
            </a:rPr>
            <a:t>200Mbit/s</a:t>
          </a:r>
          <a:r>
            <a:rPr lang="zh-CN" altLang="en-US" sz="1300" kern="1200" dirty="0">
              <a:latin typeface="+mn-ea"/>
            </a:rPr>
            <a:t>。</a:t>
          </a:r>
          <a:endParaRPr lang="zh-CN" altLang="en-US" sz="1300" kern="1200" dirty="0"/>
        </a:p>
      </dsp:txBody>
      <dsp:txXfrm>
        <a:off x="6282643" y="898394"/>
        <a:ext cx="2695010" cy="10148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A8EE2C-E286-453B-9C02-49B0E16D6B37}">
      <dsp:nvSpPr>
        <dsp:cNvPr id="0" name=""/>
        <dsp:cNvSpPr/>
      </dsp:nvSpPr>
      <dsp:spPr>
        <a:xfrm rot="10800000">
          <a:off x="671494" y="0"/>
          <a:ext cx="7610275" cy="3047920"/>
        </a:xfrm>
        <a:prstGeom prst="rightArrow">
          <a:avLst/>
        </a:prstGeom>
        <a:solidFill>
          <a:schemeClr val="accent2">
            <a:alpha val="50000"/>
          </a:schemeClr>
        </a:solidFill>
        <a:ln>
          <a:noFill/>
        </a:ln>
        <a:effectLst/>
      </dsp:spPr>
      <dsp:style>
        <a:lnRef idx="0">
          <a:scrgbClr r="0" g="0" b="0"/>
        </a:lnRef>
        <a:fillRef idx="0">
          <a:scrgbClr r="0" g="0" b="0"/>
        </a:fillRef>
        <a:effectRef idx="0">
          <a:scrgbClr r="0" g="0" b="0"/>
        </a:effectRef>
        <a:fontRef idx="minor">
          <a:schemeClr val="lt1"/>
        </a:fontRef>
      </dsp:style>
    </dsp:sp>
    <dsp:sp modelId="{EA650095-E87E-405B-8B37-70FAD3A21BCC}">
      <dsp:nvSpPr>
        <dsp:cNvPr id="0" name=""/>
        <dsp:cNvSpPr/>
      </dsp:nvSpPr>
      <dsp:spPr>
        <a:xfrm>
          <a:off x="0" y="923617"/>
          <a:ext cx="2719848" cy="1219168"/>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zh-CN" sz="1200" b="1" kern="1200" dirty="0">
              <a:latin typeface="+mn-lt"/>
            </a:rPr>
            <a:t>2017</a:t>
          </a:r>
          <a:r>
            <a:rPr lang="zh-CN" altLang="en-US" sz="1200" b="1" kern="1200" dirty="0">
              <a:latin typeface="+mn-lt"/>
            </a:rPr>
            <a:t>年</a:t>
          </a:r>
          <a:endParaRPr lang="en-US" altLang="zh-CN" sz="1200" b="1" kern="1200" dirty="0">
            <a:latin typeface="+mn-lt"/>
          </a:endParaRPr>
        </a:p>
        <a:p>
          <a:pPr marL="0" lvl="0" indent="0" algn="ctr" defTabSz="533400">
            <a:lnSpc>
              <a:spcPct val="90000"/>
            </a:lnSpc>
            <a:spcBef>
              <a:spcPct val="0"/>
            </a:spcBef>
            <a:spcAft>
              <a:spcPct val="35000"/>
            </a:spcAft>
            <a:buNone/>
          </a:pPr>
          <a:r>
            <a:rPr lang="zh-CN" altLang="en-US" sz="1300" kern="1200" dirty="0">
              <a:latin typeface="+mn-lt"/>
            </a:rPr>
            <a:t>在美国</a:t>
          </a:r>
          <a:r>
            <a:rPr lang="en-US" altLang="zh-CN" sz="1300" kern="1200" dirty="0">
              <a:latin typeface="+mn-lt"/>
            </a:rPr>
            <a:t>Spokane</a:t>
          </a:r>
          <a:r>
            <a:rPr lang="zh-CN" altLang="en-US" sz="1300" kern="1200" dirty="0">
              <a:latin typeface="+mn-lt"/>
            </a:rPr>
            <a:t>的</a:t>
          </a:r>
          <a:r>
            <a:rPr lang="en-US" altLang="zh-CN" sz="1300" kern="1200" dirty="0">
              <a:latin typeface="+mn-lt"/>
            </a:rPr>
            <a:t>3GPP RAN WG1#AH1_ NR</a:t>
          </a:r>
          <a:r>
            <a:rPr lang="zh-CN" altLang="en-US" sz="1300" kern="1200" dirty="0">
              <a:latin typeface="+mn-lt"/>
            </a:rPr>
            <a:t>会议上，不具有比特翻转模块的</a:t>
          </a:r>
          <a:r>
            <a:rPr lang="en-US" altLang="zh-CN" sz="1300" kern="1200" dirty="0">
              <a:latin typeface="+mn-lt"/>
            </a:rPr>
            <a:t>Polar</a:t>
          </a:r>
          <a:r>
            <a:rPr lang="zh-CN" altLang="en-US" sz="1300" kern="1200" dirty="0">
              <a:latin typeface="+mn-lt"/>
            </a:rPr>
            <a:t>码得以确定在</a:t>
          </a:r>
          <a:r>
            <a:rPr lang="en-US" altLang="zh-CN" sz="1300" kern="1200" dirty="0">
              <a:latin typeface="+mn-lt"/>
            </a:rPr>
            <a:t>5G</a:t>
          </a:r>
          <a:r>
            <a:rPr lang="zh-CN" altLang="en-US" sz="1300" kern="1200" dirty="0">
              <a:latin typeface="+mn-lt"/>
            </a:rPr>
            <a:t>中使用</a:t>
          </a:r>
        </a:p>
      </dsp:txBody>
      <dsp:txXfrm>
        <a:off x="59515" y="983132"/>
        <a:ext cx="2600818" cy="1100138"/>
      </dsp:txXfrm>
    </dsp:sp>
    <dsp:sp modelId="{CA4A91EB-0985-4BBE-A62E-4042DF0ED60B}">
      <dsp:nvSpPr>
        <dsp:cNvPr id="0" name=""/>
        <dsp:cNvSpPr/>
      </dsp:nvSpPr>
      <dsp:spPr>
        <a:xfrm>
          <a:off x="3061930" y="914376"/>
          <a:ext cx="2719848" cy="1219168"/>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b="1" kern="1200" dirty="0">
              <a:latin typeface="+mn-lt"/>
            </a:rPr>
            <a:t>2016</a:t>
          </a:r>
          <a:r>
            <a:rPr lang="zh-CN" altLang="en-US" sz="1300" b="1" kern="1200" dirty="0">
              <a:latin typeface="+mn-ea"/>
              <a:ea typeface="+mn-ea"/>
            </a:rPr>
            <a:t>年</a:t>
          </a:r>
          <a:endParaRPr lang="en-US" altLang="zh-CN" sz="1300" b="1" kern="1200" dirty="0">
            <a:latin typeface="+mn-ea"/>
            <a:ea typeface="+mn-ea"/>
          </a:endParaRPr>
        </a:p>
        <a:p>
          <a:pPr marL="0" lvl="0" indent="0" algn="ctr" defTabSz="577850">
            <a:lnSpc>
              <a:spcPct val="90000"/>
            </a:lnSpc>
            <a:spcBef>
              <a:spcPct val="0"/>
            </a:spcBef>
            <a:spcAft>
              <a:spcPct val="35000"/>
            </a:spcAft>
            <a:buNone/>
          </a:pPr>
          <a:r>
            <a:rPr lang="zh-CN" altLang="en-US" sz="1300" kern="1200" dirty="0">
              <a:latin typeface="+mn-lt"/>
            </a:rPr>
            <a:t>美国</a:t>
          </a:r>
          <a:r>
            <a:rPr lang="en-US" altLang="zh-CN" sz="1300" kern="1200" dirty="0">
              <a:latin typeface="+mn-lt"/>
            </a:rPr>
            <a:t>Reno</a:t>
          </a:r>
          <a:r>
            <a:rPr lang="zh-CN" altLang="en-US" sz="1300" kern="1200" dirty="0">
              <a:latin typeface="+mn-lt"/>
            </a:rPr>
            <a:t>的</a:t>
          </a:r>
          <a:r>
            <a:rPr lang="en-US" altLang="zh-CN" sz="1300" kern="1200" dirty="0">
              <a:latin typeface="+mn-lt"/>
            </a:rPr>
            <a:t>3GPP TSG RAN WG1#87</a:t>
          </a:r>
          <a:r>
            <a:rPr lang="zh-CN" altLang="en-US" sz="1300" kern="1200" dirty="0">
              <a:latin typeface="+mn-lt"/>
            </a:rPr>
            <a:t>会议上</a:t>
          </a:r>
          <a:r>
            <a:rPr lang="en-US" altLang="zh-CN" sz="1300" kern="1200" dirty="0">
              <a:latin typeface="+mn-lt"/>
            </a:rPr>
            <a:t>, Polar</a:t>
          </a:r>
          <a:r>
            <a:rPr lang="zh-CN" altLang="en-US" sz="1300" kern="1200" dirty="0">
              <a:latin typeface="+mn-lt"/>
            </a:rPr>
            <a:t>码被确定为第五代移动通信</a:t>
          </a:r>
          <a:r>
            <a:rPr lang="en-US" altLang="zh-CN" sz="1300" kern="1200" dirty="0">
              <a:latin typeface="+mn-lt"/>
            </a:rPr>
            <a:t>(5G)</a:t>
          </a:r>
          <a:r>
            <a:rPr lang="zh-CN" altLang="en-US" sz="1300" kern="1200" dirty="0">
              <a:latin typeface="+mn-lt"/>
            </a:rPr>
            <a:t>的增强移动宽带</a:t>
          </a:r>
          <a:r>
            <a:rPr lang="en-US" altLang="zh-CN" sz="1300" kern="1200" dirty="0">
              <a:latin typeface="+mn-lt"/>
            </a:rPr>
            <a:t>(</a:t>
          </a:r>
          <a:r>
            <a:rPr lang="en-US" altLang="zh-CN" sz="1300" kern="1200" dirty="0" err="1">
              <a:latin typeface="+mn-lt"/>
            </a:rPr>
            <a:t>eMBB</a:t>
          </a:r>
          <a:r>
            <a:rPr lang="en-US" altLang="zh-CN" sz="1300" kern="1200" dirty="0">
              <a:latin typeface="+mn-lt"/>
            </a:rPr>
            <a:t>)</a:t>
          </a:r>
          <a:r>
            <a:rPr lang="zh-CN" altLang="en-US" sz="1300" kern="1200" dirty="0">
              <a:latin typeface="+mn-lt"/>
            </a:rPr>
            <a:t>物理控制信道的编码方案。 </a:t>
          </a:r>
        </a:p>
      </dsp:txBody>
      <dsp:txXfrm>
        <a:off x="3121445" y="973891"/>
        <a:ext cx="2600818" cy="1100138"/>
      </dsp:txXfrm>
    </dsp:sp>
    <dsp:sp modelId="{C8FDAEEE-B6C8-4782-916D-28AD0DC1B16F}">
      <dsp:nvSpPr>
        <dsp:cNvPr id="0" name=""/>
        <dsp:cNvSpPr/>
      </dsp:nvSpPr>
      <dsp:spPr>
        <a:xfrm>
          <a:off x="6118400" y="882293"/>
          <a:ext cx="2829403" cy="1283332"/>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b="1" kern="1200" dirty="0">
              <a:latin typeface="+mn-lt"/>
            </a:rPr>
            <a:t>2016</a:t>
          </a:r>
          <a:r>
            <a:rPr lang="zh-CN" altLang="en-US" sz="1300" b="1" kern="1200" dirty="0">
              <a:latin typeface="+mn-lt"/>
            </a:rPr>
            <a:t>年</a:t>
          </a:r>
          <a:endParaRPr lang="en-US" altLang="zh-CN" sz="1300" b="1" kern="1200" dirty="0">
            <a:latin typeface="+mn-lt"/>
          </a:endParaRPr>
        </a:p>
        <a:p>
          <a:pPr marL="0" lvl="0" indent="0" algn="ctr" defTabSz="577850">
            <a:lnSpc>
              <a:spcPct val="90000"/>
            </a:lnSpc>
            <a:spcBef>
              <a:spcPct val="0"/>
            </a:spcBef>
            <a:spcAft>
              <a:spcPct val="35000"/>
            </a:spcAft>
            <a:buNone/>
          </a:pPr>
          <a:r>
            <a:rPr lang="zh-CN" altLang="en-US" sz="1300" kern="1200" dirty="0">
              <a:latin typeface="+mn-lt"/>
            </a:rPr>
            <a:t>在</a:t>
          </a:r>
          <a:r>
            <a:rPr lang="en-US" altLang="zh-CN" sz="1300" kern="1200" dirty="0">
              <a:latin typeface="+mn-lt"/>
            </a:rPr>
            <a:t>3GPP</a:t>
          </a:r>
          <a:r>
            <a:rPr lang="zh-CN" altLang="en-US" sz="1300" kern="1200" dirty="0">
              <a:latin typeface="+mn-lt"/>
            </a:rPr>
            <a:t>第</a:t>
          </a:r>
          <a:r>
            <a:rPr lang="en-US" altLang="zh-CN" sz="1300" kern="1200" dirty="0">
              <a:latin typeface="+mn-lt"/>
            </a:rPr>
            <a:t>71</a:t>
          </a:r>
          <a:r>
            <a:rPr lang="zh-CN" altLang="en-US" sz="1300" kern="1200" dirty="0">
              <a:latin typeface="+mn-lt"/>
            </a:rPr>
            <a:t>次</a:t>
          </a:r>
          <a:r>
            <a:rPr lang="en-US" altLang="zh-CN" sz="1300" kern="1200" dirty="0">
              <a:latin typeface="+mn-lt"/>
            </a:rPr>
            <a:t>RAN</a:t>
          </a:r>
          <a:r>
            <a:rPr lang="zh-CN" altLang="en-US" sz="1300" kern="1200" dirty="0">
              <a:latin typeface="+mn-lt"/>
            </a:rPr>
            <a:t>全会上，下一代新的无线接入网</a:t>
          </a:r>
          <a:r>
            <a:rPr lang="en-US" altLang="zh-CN" sz="1300" kern="1200" dirty="0">
              <a:latin typeface="+mn-lt"/>
            </a:rPr>
            <a:t>(NR</a:t>
          </a:r>
          <a:r>
            <a:rPr lang="zh-CN" altLang="en-US" sz="1300" kern="1200" dirty="0">
              <a:latin typeface="+mn-lt"/>
            </a:rPr>
            <a:t>、</a:t>
          </a:r>
          <a:r>
            <a:rPr lang="en-US" altLang="zh-CN" sz="1300" kern="1200" dirty="0">
              <a:latin typeface="+mn-lt"/>
            </a:rPr>
            <a:t>5G</a:t>
          </a:r>
          <a:r>
            <a:rPr lang="zh-CN" altLang="en-US" sz="1300" kern="1200" dirty="0">
              <a:latin typeface="+mn-lt"/>
            </a:rPr>
            <a:t>、</a:t>
          </a:r>
          <a:r>
            <a:rPr lang="en-US" altLang="zh-CN" sz="1300" kern="1200" dirty="0">
              <a:latin typeface="+mn-lt"/>
            </a:rPr>
            <a:t>5G-NR)</a:t>
          </a:r>
          <a:r>
            <a:rPr lang="zh-CN" altLang="en-US" sz="1300" kern="1200" dirty="0">
              <a:latin typeface="+mn-lt"/>
            </a:rPr>
            <a:t>的研究项目的立项通过。</a:t>
          </a:r>
          <a:r>
            <a:rPr lang="en-US" altLang="zh-CN" sz="1300" kern="1200" dirty="0">
              <a:latin typeface="+mn-lt"/>
            </a:rPr>
            <a:t>Polar</a:t>
          </a:r>
          <a:r>
            <a:rPr lang="zh-CN" altLang="en-US" sz="1300" kern="1200" dirty="0">
              <a:latin typeface="+mn-lt"/>
            </a:rPr>
            <a:t>码在短码长、低码率上的性能和实现复杂度优势。</a:t>
          </a:r>
        </a:p>
      </dsp:txBody>
      <dsp:txXfrm>
        <a:off x="6181047" y="944940"/>
        <a:ext cx="2704109" cy="115803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8475" cy="338138"/>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5632450" y="0"/>
            <a:ext cx="4308475" cy="338138"/>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6421438"/>
            <a:ext cx="4308475" cy="338138"/>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5632450" y="6421438"/>
            <a:ext cx="4308475" cy="338138"/>
          </a:xfrm>
          <a:prstGeom prst="rect">
            <a:avLst/>
          </a:prstGeom>
        </p:spPr>
        <p:txBody>
          <a:bodyPr vert="horz" wrap="square" lIns="91440" tIns="45720" rIns="91440" bIns="45720" numCol="1" anchor="b" anchorCtr="0" compatLnSpc="1"/>
          <a:lstStyle/>
          <a:p>
            <a:pPr lvl="0" algn="r" eaLnBrk="1" hangingPunct="1">
              <a:buChar char="•"/>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8475" cy="338138"/>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5632450" y="0"/>
            <a:ext cx="4308475" cy="338138"/>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3279775" y="506413"/>
            <a:ext cx="3382963" cy="2536825"/>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993775" y="3211513"/>
            <a:ext cx="7954963" cy="3043238"/>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6421438"/>
            <a:ext cx="4308475" cy="338138"/>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5632450" y="6421438"/>
            <a:ext cx="4308475" cy="338138"/>
          </a:xfrm>
          <a:prstGeom prst="rect">
            <a:avLst/>
          </a:prstGeom>
        </p:spPr>
        <p:txBody>
          <a:bodyPr vert="horz" wrap="square" lIns="91440" tIns="45720" rIns="91440" bIns="45720" numCol="1" anchor="b" anchorCtr="0" compatLnSpc="1"/>
          <a:lstStyle/>
          <a:p>
            <a:pPr lvl="0" algn="r" eaLnBrk="1" hangingPunct="1">
              <a:buChar char="•"/>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7" Type="http://schemas.openxmlformats.org/officeDocument/2006/relationships/image" Target="../media/image17.jpeg"/><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jpe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46685" y="123825"/>
            <a:ext cx="8540115" cy="678815"/>
          </a:xfrm>
          <a:ln w="12700" cmpd="sng">
            <a:noFill/>
            <a:prstDash val="solid"/>
          </a:ln>
        </p:spPr>
        <p:txBody>
          <a:bodyPr/>
          <a:lstStyle>
            <a:lvl1pPr algn="l">
              <a:defRPr/>
            </a:lvl1pPr>
          </a:lstStyle>
          <a:p>
            <a:r>
              <a:rPr lang="zh-CN" altLang="en-US"/>
              <a:t>       </a:t>
            </a:r>
            <a:endParaRPr lang="zh-CN" altLang="en-US"/>
          </a:p>
        </p:txBody>
      </p:sp>
      <p:sp>
        <p:nvSpPr>
          <p:cNvPr id="3" name="内容占位符 2"/>
          <p:cNvSpPr>
            <a:spLocks noGrp="1"/>
          </p:cNvSpPr>
          <p:nvPr>
            <p:ph idx="1"/>
          </p:nvPr>
        </p:nvSpPr>
        <p:spPr>
          <a:xfrm>
            <a:off x="365760" y="920115"/>
            <a:ext cx="8321040" cy="520636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pic>
        <p:nvPicPr>
          <p:cNvPr id="7" name="图片 6"/>
          <p:cNvPicPr>
            <a:picLocks noChangeAspect="1"/>
          </p:cNvPicPr>
          <p:nvPr userDrawn="1"/>
        </p:nvPicPr>
        <p:blipFill>
          <a:blip r:embed="rId2"/>
          <a:stretch>
            <a:fillRect/>
          </a:stretch>
        </p:blipFill>
        <p:spPr>
          <a:xfrm>
            <a:off x="146685" y="123825"/>
            <a:ext cx="657225" cy="66675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pic>
        <p:nvPicPr>
          <p:cNvPr id="5137" name="Picture 2"/>
          <p:cNvPicPr>
            <a:picLocks noChangeAspect="1"/>
          </p:cNvPicPr>
          <p:nvPr userDrawn="1"/>
        </p:nvPicPr>
        <p:blipFill>
          <a:blip r:embed="rId2"/>
          <a:stretch>
            <a:fillRect/>
          </a:stretch>
        </p:blipFill>
        <p:spPr>
          <a:xfrm>
            <a:off x="8229600" y="3175"/>
            <a:ext cx="914400" cy="914400"/>
          </a:xfrm>
          <a:prstGeom prst="rect">
            <a:avLst/>
          </a:prstGeom>
          <a:noFill/>
          <a:ln w="9525">
            <a:noFill/>
          </a:ln>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3" name="Rectangle 4"/>
          <p:cNvSpPr>
            <a:spLocks noGrp="1" noChangeArrowheads="1"/>
          </p:cNvSpPr>
          <p:nvPr>
            <p:ph type="dt" sz="half" idx="2"/>
          </p:nvPr>
        </p:nvSpPr>
        <p:spPr bwMode="auto">
          <a:xfrm>
            <a:off x="457200" y="6245225"/>
            <a:ext cx="21336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indent="0" algn="l" defTabSz="914400" rtl="0" fontAlgn="base" latinLnBrk="0">
              <a:lnSpc>
                <a:spcPct val="100000"/>
              </a:lnSpc>
              <a:spcBef>
                <a:spcPct val="0"/>
              </a:spcBef>
              <a:spcAft>
                <a:spcPct val="0"/>
              </a:spcAft>
              <a:buClrTx/>
              <a:buSzTx/>
              <a:buFont typeface="Arial" panose="020B0604020202020204" pitchFamily="34" charset="0"/>
              <a:buNone/>
              <a:defRPr/>
            </a:pPr>
            <a:endParaRPr kumimoji="0" lang="en-US" altLang="zh-CN" b="0" i="0" kern="1200" cap="none" spc="0" normalizeH="0" baseline="0" noProof="0" dirty="0">
              <a:solidFill>
                <a:schemeClr val="tx1"/>
              </a:solidFill>
              <a:latin typeface="Arial" panose="020B0604020202020204" pitchFamily="34" charset="0"/>
              <a:ea typeface="宋体" panose="02010600030101010101" pitchFamily="2" charset="-122"/>
              <a:cs typeface="+mn-cs"/>
            </a:endParaRPr>
          </a:p>
        </p:txBody>
      </p:sp>
      <p:sp>
        <p:nvSpPr>
          <p:cNvPr id="24" name="Rectangle 5"/>
          <p:cNvSpPr>
            <a:spLocks noGrp="1" noChangeArrowheads="1"/>
          </p:cNvSpPr>
          <p:nvPr>
            <p:ph type="ftr" sz="quarter" idx="3"/>
          </p:nvPr>
        </p:nvSpPr>
        <p:spPr bwMode="auto">
          <a:xfrm>
            <a:off x="3124200" y="6245225"/>
            <a:ext cx="28956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indent="0" defTabSz="914400" rtl="0" fontAlgn="base" latinLnBrk="0">
              <a:lnSpc>
                <a:spcPct val="100000"/>
              </a:lnSpc>
              <a:spcBef>
                <a:spcPct val="0"/>
              </a:spcBef>
              <a:spcAft>
                <a:spcPct val="0"/>
              </a:spcAft>
              <a:buClrTx/>
              <a:buSzTx/>
              <a:buFont typeface="Arial" panose="020B0604020202020204" pitchFamily="34" charset="0"/>
              <a:buNone/>
              <a:defRPr/>
            </a:pPr>
            <a:endParaRPr kumimoji="0" lang="en-US" altLang="zh-CN" b="0" i="0" kern="1200" cap="none" spc="0" normalizeH="0" baseline="0" noProof="0" dirty="0">
              <a:solidFill>
                <a:schemeClr val="tx1"/>
              </a:solidFill>
              <a:latin typeface="Arial" panose="020B0604020202020204" pitchFamily="34" charset="0"/>
              <a:ea typeface="宋体" panose="02010600030101010101" pitchFamily="2" charset="-122"/>
              <a:cs typeface="+mn-cs"/>
            </a:endParaRPr>
          </a:p>
        </p:txBody>
      </p:sp>
      <p:sp>
        <p:nvSpPr>
          <p:cNvPr id="25" name="Rectangle 6"/>
          <p:cNvSpPr>
            <a:spLocks noGrp="1" noChangeArrowheads="1"/>
          </p:cNvSpPr>
          <p:nvPr>
            <p:ph type="sldNum" sz="quarter" idx="4"/>
          </p:nvPr>
        </p:nvSpPr>
        <p:spPr bwMode="auto">
          <a:xfrm>
            <a:off x="6553200" y="6245225"/>
            <a:ext cx="2133600" cy="47625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906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0673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91350" y="152400"/>
            <a:ext cx="2000250" cy="5867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90600" y="152400"/>
            <a:ext cx="5848350" cy="58674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hangingPunct="1">
              <a:buChar char="•"/>
            </a:pPr>
            <a:fld id="{9A0DB2DC-4C9A-4742-B13C-FB6460FD3503}" type="slidenum">
              <a:rPr lang="en-US" altLang="zh-CN" sz="1400" dirty="0"/>
            </a:fld>
            <a:endParaRPr lang="en-US" altLang="zh-CN" sz="1400"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6146" name="Picture 4"/>
          <p:cNvPicPr>
            <a:picLocks noChangeAspect="1"/>
          </p:cNvPicPr>
          <p:nvPr/>
        </p:nvPicPr>
        <p:blipFill>
          <a:blip r:embed="rId2"/>
          <a:stretch>
            <a:fillRect/>
          </a:stretch>
        </p:blipFill>
        <p:spPr>
          <a:xfrm>
            <a:off x="6365875" y="5973763"/>
            <a:ext cx="2435225" cy="601662"/>
          </a:xfrm>
          <a:prstGeom prst="rect">
            <a:avLst/>
          </a:prstGeom>
          <a:noFill/>
          <a:ln w="9525">
            <a:noFill/>
          </a:ln>
        </p:spPr>
      </p:pic>
      <p:sp>
        <p:nvSpPr>
          <p:cNvPr id="6147" name="Line 2"/>
          <p:cNvSpPr/>
          <p:nvPr userDrawn="1"/>
        </p:nvSpPr>
        <p:spPr>
          <a:xfrm flipV="1">
            <a:off x="323850" y="1268413"/>
            <a:ext cx="8496300" cy="0"/>
          </a:xfrm>
          <a:prstGeom prst="line">
            <a:avLst/>
          </a:prstGeom>
          <a:ln w="25400" cap="flat" cmpd="sng">
            <a:solidFill>
              <a:schemeClr val="tx2"/>
            </a:solidFill>
            <a:prstDash val="solid"/>
            <a:headEnd type="none" w="sm" len="sm"/>
            <a:tailEnd type="none" w="sm" len="sm"/>
          </a:ln>
        </p:spPr>
      </p:sp>
      <p:sp>
        <p:nvSpPr>
          <p:cNvPr id="6148" name="Rectangle 6"/>
          <p:cNvSpPr/>
          <p:nvPr userDrawn="1"/>
        </p:nvSpPr>
        <p:spPr>
          <a:xfrm>
            <a:off x="8374063" y="6453188"/>
            <a:ext cx="769937" cy="241300"/>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rPr>
              <a:t>   </a:t>
            </a:r>
            <a:r>
              <a:rPr lang="en-US" altLang="zh-CN" sz="1000" dirty="0">
                <a:solidFill>
                  <a:srgbClr val="000000"/>
                </a:solidFill>
                <a:latin typeface="FuturaA Md BT" charset="0"/>
              </a:rPr>
              <a:t>Page </a:t>
            </a:r>
            <a:fld id="{9A0DB2DC-4C9A-4742-B13C-FB6460FD3503}" type="slidenum">
              <a:rPr lang="en-US" altLang="zh-CN" sz="1000" dirty="0">
                <a:solidFill>
                  <a:srgbClr val="000000"/>
                </a:solidFill>
                <a:latin typeface="FuturaA Md BT" charset="0"/>
              </a:rPr>
            </a:fld>
            <a:endParaRPr lang="en-US" altLang="zh-CN" sz="1000" dirty="0">
              <a:solidFill>
                <a:srgbClr val="000000"/>
              </a:solidFill>
              <a:latin typeface="FuturaA Md BT" charset="0"/>
            </a:endParaRPr>
          </a:p>
        </p:txBody>
      </p:sp>
      <p:grpSp>
        <p:nvGrpSpPr>
          <p:cNvPr id="6149" name="Group 10"/>
          <p:cNvGrpSpPr/>
          <p:nvPr userDrawn="1"/>
        </p:nvGrpSpPr>
        <p:grpSpPr>
          <a:xfrm>
            <a:off x="827088" y="5516563"/>
            <a:ext cx="8315325" cy="1360487"/>
            <a:chOff x="249" y="2341"/>
            <a:chExt cx="5178" cy="1613"/>
          </a:xfrm>
        </p:grpSpPr>
        <p:pic>
          <p:nvPicPr>
            <p:cNvPr id="6157" name="Picture 11" descr="未命名-1"/>
            <p:cNvPicPr>
              <a:picLocks noChangeAspect="1"/>
            </p:cNvPicPr>
            <p:nvPr/>
          </p:nvPicPr>
          <p:blipFill>
            <a:blip r:embed="rId3"/>
            <a:stretch>
              <a:fillRect/>
            </a:stretch>
          </p:blipFill>
          <p:spPr>
            <a:xfrm>
              <a:off x="249" y="2341"/>
              <a:ext cx="5178" cy="1434"/>
            </a:xfrm>
            <a:prstGeom prst="rect">
              <a:avLst/>
            </a:prstGeom>
            <a:noFill/>
            <a:ln w="9525">
              <a:noFill/>
            </a:ln>
          </p:spPr>
        </p:pic>
        <p:sp>
          <p:nvSpPr>
            <p:cNvPr id="15" name="Rectangle 12"/>
            <p:cNvSpPr>
              <a:spLocks noChangeArrowheads="1"/>
            </p:cNvSpPr>
            <p:nvPr/>
          </p:nvSpPr>
          <p:spPr bwMode="gray">
            <a:xfrm>
              <a:off x="1877" y="3593"/>
              <a:ext cx="115" cy="361"/>
            </a:xfrm>
            <a:prstGeom prst="rect">
              <a:avLst/>
            </a:prstGeom>
            <a:noFill/>
            <a:ln w="9525" algn="ctr">
              <a:noFill/>
              <a:miter lim="800000"/>
            </a:ln>
            <a:effec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1"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pic>
        <p:nvPicPr>
          <p:cNvPr id="6150" name="Picture 16" descr="logo"/>
          <p:cNvPicPr>
            <a:picLocks noChangeAspect="1"/>
          </p:cNvPicPr>
          <p:nvPr userDrawn="1"/>
        </p:nvPicPr>
        <p:blipFill>
          <a:blip r:embed="rId4"/>
          <a:stretch>
            <a:fillRect/>
          </a:stretch>
        </p:blipFill>
        <p:spPr>
          <a:xfrm>
            <a:off x="144463" y="333375"/>
            <a:ext cx="3348037" cy="719138"/>
          </a:xfrm>
          <a:prstGeom prst="rect">
            <a:avLst/>
          </a:prstGeom>
          <a:noFill/>
          <a:ln w="9525">
            <a:noFill/>
          </a:ln>
        </p:spPr>
      </p:pic>
      <p:pic>
        <p:nvPicPr>
          <p:cNvPr id="6151" name="Picture 17"/>
          <p:cNvPicPr>
            <a:picLocks noChangeAspect="1"/>
          </p:cNvPicPr>
          <p:nvPr userDrawn="1"/>
        </p:nvPicPr>
        <p:blipFill>
          <a:blip r:embed="rId5"/>
          <a:stretch>
            <a:fillRect/>
          </a:stretch>
        </p:blipFill>
        <p:spPr>
          <a:xfrm>
            <a:off x="179388" y="5734050"/>
            <a:ext cx="1079500" cy="1057275"/>
          </a:xfrm>
          <a:prstGeom prst="rect">
            <a:avLst/>
          </a:prstGeom>
          <a:noFill/>
          <a:ln w="9525">
            <a:noFill/>
          </a:ln>
        </p:spPr>
      </p:pic>
      <p:sp>
        <p:nvSpPr>
          <p:cNvPr id="6152" name="Rectangle 13"/>
          <p:cNvSpPr/>
          <p:nvPr userDrawn="1"/>
        </p:nvSpPr>
        <p:spPr>
          <a:xfrm>
            <a:off x="8374063" y="6453188"/>
            <a:ext cx="769937" cy="241300"/>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rPr>
              <a:t>   </a:t>
            </a:r>
            <a:r>
              <a:rPr lang="en-US" altLang="zh-CN" sz="1000" dirty="0">
                <a:solidFill>
                  <a:srgbClr val="000000"/>
                </a:solidFill>
                <a:latin typeface="FuturaA Md BT" charset="0"/>
              </a:rPr>
              <a:t>Page </a:t>
            </a:r>
            <a:fld id="{9A0DB2DC-4C9A-4742-B13C-FB6460FD3503}" type="slidenum">
              <a:rPr lang="en-US" altLang="zh-CN" sz="1000" dirty="0">
                <a:solidFill>
                  <a:srgbClr val="000000"/>
                </a:solidFill>
                <a:latin typeface="FuturaA Md BT" charset="0"/>
              </a:rPr>
            </a:fld>
            <a:endParaRPr lang="en-US" altLang="zh-CN" sz="1000" dirty="0">
              <a:solidFill>
                <a:srgbClr val="000000"/>
              </a:solidFill>
              <a:latin typeface="FuturaA Md BT" charset="0"/>
            </a:endParaRPr>
          </a:p>
        </p:txBody>
      </p:sp>
      <p:pic>
        <p:nvPicPr>
          <p:cNvPr id="6153" name="Picture 14" descr="蓝色LOGO"/>
          <p:cNvPicPr>
            <a:picLocks noChangeAspect="1"/>
          </p:cNvPicPr>
          <p:nvPr userDrawn="1"/>
        </p:nvPicPr>
        <p:blipFill>
          <a:blip r:embed="rId6"/>
          <a:stretch>
            <a:fillRect/>
          </a:stretch>
        </p:blipFill>
        <p:spPr>
          <a:xfrm>
            <a:off x="34925" y="188913"/>
            <a:ext cx="3673475" cy="863600"/>
          </a:xfrm>
          <a:prstGeom prst="rect">
            <a:avLst/>
          </a:prstGeom>
          <a:noFill/>
          <a:ln w="9525">
            <a:noFill/>
          </a:ln>
        </p:spPr>
      </p:pic>
      <p:pic>
        <p:nvPicPr>
          <p:cNvPr id="6154" name="Picture 15" descr="教3楼"/>
          <p:cNvPicPr>
            <a:picLocks noChangeAspect="1"/>
          </p:cNvPicPr>
          <p:nvPr userDrawn="1"/>
        </p:nvPicPr>
        <p:blipFill>
          <a:blip r:embed="rId7"/>
          <a:stretch>
            <a:fillRect/>
          </a:stretch>
        </p:blipFill>
        <p:spPr>
          <a:xfrm>
            <a:off x="0" y="3789363"/>
            <a:ext cx="9144000" cy="3095625"/>
          </a:xfrm>
          <a:prstGeom prst="rect">
            <a:avLst/>
          </a:prstGeom>
          <a:noFill/>
          <a:ln w="9525">
            <a:noFill/>
          </a:ln>
        </p:spPr>
      </p:pic>
      <p:sp>
        <p:nvSpPr>
          <p:cNvPr id="2999298" name="Rectangle 2"/>
          <p:cNvSpPr>
            <a:spLocks noGrp="1" noChangeArrowheads="1"/>
          </p:cNvSpPr>
          <p:nvPr>
            <p:ph type="ctrTitle"/>
          </p:nvPr>
        </p:nvSpPr>
        <p:spPr>
          <a:xfrm>
            <a:off x="685800" y="1273175"/>
            <a:ext cx="7772400" cy="1470025"/>
          </a:xfrm>
        </p:spPr>
        <p:txBody>
          <a:bodyPr/>
          <a:lstStyle>
            <a:lvl1pPr algn="ctr">
              <a:defRPr sz="4400">
                <a:solidFill>
                  <a:srgbClr val="FF3300"/>
                </a:solidFill>
                <a:ea typeface="华文中宋" panose="02010600040101010101" pitchFamily="2" charset="-122"/>
              </a:defRPr>
            </a:lvl1pPr>
          </a:lstStyle>
          <a:p>
            <a:pPr lvl="0"/>
            <a:r>
              <a:rPr lang="zh-CN" altLang="en-US" noProof="0"/>
              <a:t>单击此处编辑母版标题样式</a:t>
            </a:r>
            <a:endParaRPr lang="zh-CN" altLang="en-US" noProof="0"/>
          </a:p>
        </p:txBody>
      </p:sp>
      <p:sp>
        <p:nvSpPr>
          <p:cNvPr id="2999299" name="Rectangle 3"/>
          <p:cNvSpPr>
            <a:spLocks noGrp="1" noChangeArrowheads="1"/>
          </p:cNvSpPr>
          <p:nvPr>
            <p:ph type="subTitle" idx="1"/>
          </p:nvPr>
        </p:nvSpPr>
        <p:spPr>
          <a:xfrm>
            <a:off x="1371600" y="3028950"/>
            <a:ext cx="6400800" cy="1752600"/>
          </a:xfrm>
        </p:spPr>
        <p:txBody>
          <a:bodyPr/>
          <a:lstStyle>
            <a:lvl1pPr marL="0" indent="0" algn="ctr">
              <a:buFont typeface="Wingdings" panose="05000000000000000000" pitchFamily="2" charset="2"/>
              <a:buNone/>
              <a:defRPr>
                <a:solidFill>
                  <a:srgbClr val="0000FF"/>
                </a:solidFill>
                <a:ea typeface="隶书" panose="02010509060101010101" pitchFamily="49" charset="-122"/>
              </a:defRPr>
            </a:lvl1pPr>
          </a:lstStyle>
          <a:p>
            <a:pPr lvl="0"/>
            <a:r>
              <a:rPr lang="zh-CN" altLang="en-US" noProof="0"/>
              <a:t>单击此处编辑母版副标题样式</a:t>
            </a:r>
            <a:endParaRPr lang="zh-CN" altLang="en-US" noProof="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90575" y="1219200"/>
            <a:ext cx="3810000" cy="487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52975" y="1219200"/>
            <a:ext cx="3810000" cy="487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10000"/>
              </a:lnSpc>
              <a:spcBef>
                <a:spcPct val="40000"/>
              </a:spcBef>
              <a:spcAft>
                <a:spcPct val="1000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66"/>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6413" y="104775"/>
            <a:ext cx="2020887" cy="59912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90575" y="104775"/>
            <a:ext cx="5913438" cy="59912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1" Type="http://schemas.openxmlformats.org/officeDocument/2006/relationships/theme" Target="../theme/theme3.xml"/><Relationship Id="rId20" Type="http://schemas.openxmlformats.org/officeDocument/2006/relationships/image" Target="../media/image11.png"/><Relationship Id="rId2" Type="http://schemas.openxmlformats.org/officeDocument/2006/relationships/slideLayout" Target="../slideLayouts/slideLayout24.xml"/><Relationship Id="rId19" Type="http://schemas.openxmlformats.org/officeDocument/2006/relationships/image" Target="../media/image10.jpeg"/><Relationship Id="rId18" Type="http://schemas.openxmlformats.org/officeDocument/2006/relationships/image" Target="../media/image9.jpeg"/><Relationship Id="rId17" Type="http://schemas.openxmlformats.org/officeDocument/2006/relationships/image" Target="../media/image8.jpeg"/><Relationship Id="rId16" Type="http://schemas.openxmlformats.org/officeDocument/2006/relationships/image" Target="../media/image7.jpeg"/><Relationship Id="rId15" Type="http://schemas.openxmlformats.org/officeDocument/2006/relationships/image" Target="../media/image6.jpeg"/><Relationship Id="rId14" Type="http://schemas.openxmlformats.org/officeDocument/2006/relationships/image" Target="../media/image5.jpeg"/><Relationship Id="rId13" Type="http://schemas.openxmlformats.org/officeDocument/2006/relationships/image" Target="../media/image4.png"/><Relationship Id="rId12" Type="http://schemas.openxmlformats.org/officeDocument/2006/relationships/image" Target="../media/image3.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14.jpe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1027" name="文本占位符 2"/>
          <p:cNvSpPr>
            <a:spLocks noGrp="1"/>
          </p:cNvSpPr>
          <p:nvPr>
            <p:ph type="body" idx="1"/>
          </p:nvPr>
        </p:nvSpPr>
        <p:spPr>
          <a:xfrm>
            <a:off x="457200" y="1600200"/>
            <a:ext cx="8229600" cy="4525963"/>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2051" name="文本占位符 2"/>
          <p:cNvSpPr>
            <a:spLocks noGrp="1"/>
          </p:cNvSpPr>
          <p:nvPr>
            <p:ph type="body" idx="1"/>
          </p:nvPr>
        </p:nvSpPr>
        <p:spPr>
          <a:xfrm>
            <a:off x="457200" y="1600200"/>
            <a:ext cx="8229600" cy="4525963"/>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buFont typeface="Arial" panose="020B0604020202020204" pitchFamily="34" charset="0"/>
              <a:buNone/>
              <a:defRPr sz="1200">
                <a:solidFill>
                  <a:schemeClr val="tx1">
                    <a:tint val="75000"/>
                  </a:schemeClr>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p>
            <a:pPr lvl="0" algn="r" eaLnBrk="1" hangingPunct="1">
              <a:buChar char="•"/>
            </a:pPr>
            <a:fld id="{9A0DB2DC-4C9A-4742-B13C-FB6460FD3503}" type="slidenum">
              <a:rPr lang="zh-CN" altLang="en-US" sz="1200" dirty="0">
                <a:solidFill>
                  <a:srgbClr val="898989"/>
                </a:solidFill>
              </a:rPr>
            </a:fld>
            <a:endParaRPr lang="zh-CN" altLang="en-US" sz="1200" dirty="0">
              <a:solidFill>
                <a:srgbClr val="898989"/>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10"/>
          <p:cNvPicPr>
            <a:picLocks noChangeAspect="1"/>
          </p:cNvPicPr>
          <p:nvPr userDrawn="1"/>
        </p:nvPicPr>
        <p:blipFill>
          <a:blip r:embed="rId12"/>
          <a:stretch>
            <a:fillRect/>
          </a:stretch>
        </p:blipFill>
        <p:spPr>
          <a:xfrm>
            <a:off x="0" y="0"/>
            <a:ext cx="9144000" cy="6858000"/>
          </a:xfrm>
          <a:prstGeom prst="rect">
            <a:avLst/>
          </a:prstGeom>
          <a:noFill/>
          <a:ln w="9525">
            <a:noFill/>
          </a:ln>
        </p:spPr>
      </p:pic>
      <p:pic>
        <p:nvPicPr>
          <p:cNvPr id="2051" name="Picture 12" descr="a_1"/>
          <p:cNvPicPr>
            <a:picLocks noChangeAspect="1"/>
          </p:cNvPicPr>
          <p:nvPr userDrawn="1"/>
        </p:nvPicPr>
        <p:blipFill>
          <a:blip r:embed="rId13"/>
          <a:srcRect l="2174"/>
          <a:stretch>
            <a:fillRect/>
          </a:stretch>
        </p:blipFill>
        <p:spPr>
          <a:xfrm>
            <a:off x="0" y="0"/>
            <a:ext cx="9144000" cy="5308600"/>
          </a:xfrm>
          <a:prstGeom prst="rect">
            <a:avLst/>
          </a:prstGeom>
          <a:noFill/>
          <a:ln w="9525">
            <a:noFill/>
          </a:ln>
        </p:spPr>
      </p:pic>
      <p:sp>
        <p:nvSpPr>
          <p:cNvPr id="2052" name="Rectangle 22"/>
          <p:cNvSpPr>
            <a:spLocks noChangeArrowheads="1"/>
          </p:cNvSpPr>
          <p:nvPr/>
        </p:nvSpPr>
        <p:spPr bwMode="auto">
          <a:xfrm>
            <a:off x="0" y="2590800"/>
            <a:ext cx="9144000" cy="1066800"/>
          </a:xfrm>
          <a:prstGeom prst="rect">
            <a:avLst/>
          </a:prstGeom>
          <a:gradFill rotWithShape="1">
            <a:gsLst>
              <a:gs pos="0">
                <a:srgbClr val="3191D3"/>
              </a:gs>
              <a:gs pos="100000">
                <a:srgbClr val="17436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3" name="Rectangle 14" descr="mao1-1"/>
          <p:cNvSpPr>
            <a:spLocks noChangeAspect="1" noChangeArrowheads="1"/>
          </p:cNvSpPr>
          <p:nvPr/>
        </p:nvSpPr>
        <p:spPr bwMode="auto">
          <a:xfrm>
            <a:off x="8153400" y="4967288"/>
            <a:ext cx="969963" cy="900113"/>
          </a:xfrm>
          <a:prstGeom prst="rect">
            <a:avLst/>
          </a:prstGeom>
          <a:blipFill dpi="0" rotWithShape="1">
            <a:blip r:embed="rId14"/>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4" name="Rectangle 15" descr="xmy2-1"/>
          <p:cNvSpPr>
            <a:spLocks noChangeAspect="1" noChangeArrowheads="1"/>
          </p:cNvSpPr>
          <p:nvPr/>
        </p:nvSpPr>
        <p:spPr bwMode="auto">
          <a:xfrm>
            <a:off x="8153400" y="3976688"/>
            <a:ext cx="969963" cy="900113"/>
          </a:xfrm>
          <a:prstGeom prst="rect">
            <a:avLst/>
          </a:prstGeom>
          <a:blipFill dpi="0" rotWithShape="1">
            <a:blip r:embed="rId15"/>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16" descr="xm-1"/>
          <p:cNvSpPr>
            <a:spLocks noChangeArrowheads="1"/>
          </p:cNvSpPr>
          <p:nvPr/>
        </p:nvSpPr>
        <p:spPr bwMode="auto">
          <a:xfrm>
            <a:off x="6019800" y="5957888"/>
            <a:ext cx="1066800" cy="900113"/>
          </a:xfrm>
          <a:prstGeom prst="rect">
            <a:avLst/>
          </a:prstGeom>
          <a:blipFill dpi="0" rotWithShape="1">
            <a:blip r:embed="rId16"/>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6" name="Rectangle 17" descr="xue2-1"/>
          <p:cNvSpPr>
            <a:spLocks noChangeAspect="1" noChangeArrowheads="1"/>
          </p:cNvSpPr>
          <p:nvPr/>
        </p:nvSpPr>
        <p:spPr bwMode="auto">
          <a:xfrm>
            <a:off x="7134225" y="5943600"/>
            <a:ext cx="969963" cy="900113"/>
          </a:xfrm>
          <a:prstGeom prst="rect">
            <a:avLst/>
          </a:prstGeom>
          <a:blipFill dpi="0" rotWithShape="1">
            <a:blip r:embed="rId17"/>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7" name="Rectangle 18" descr="mao-1"/>
          <p:cNvSpPr>
            <a:spLocks noChangeAspect="1" noChangeArrowheads="1"/>
          </p:cNvSpPr>
          <p:nvPr/>
        </p:nvSpPr>
        <p:spPr bwMode="auto">
          <a:xfrm>
            <a:off x="7107238" y="4967288"/>
            <a:ext cx="969963" cy="900113"/>
          </a:xfrm>
          <a:prstGeom prst="rect">
            <a:avLst/>
          </a:prstGeom>
          <a:blipFill dpi="0" rotWithShape="1">
            <a:blip r:embed="rId18"/>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8" name="Rectangle 19" descr="xiaoxun-1"/>
          <p:cNvSpPr>
            <a:spLocks noChangeAspect="1" noChangeArrowheads="1"/>
          </p:cNvSpPr>
          <p:nvPr/>
        </p:nvSpPr>
        <p:spPr bwMode="auto">
          <a:xfrm>
            <a:off x="8153400" y="5943600"/>
            <a:ext cx="969963" cy="900113"/>
          </a:xfrm>
          <a:prstGeom prst="rect">
            <a:avLst/>
          </a:prstGeom>
          <a:blipFill dpi="0" rotWithShape="1">
            <a:blip r:embed="rId19"/>
            <a:srcRect/>
            <a:stretch>
              <a:fillRect/>
            </a:stretch>
          </a:blipFill>
          <a:ln w="22225" cmpd="sng">
            <a:solidFill>
              <a:schemeClr val="bg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83" name="Line 26"/>
          <p:cNvSpPr/>
          <p:nvPr userDrawn="1"/>
        </p:nvSpPr>
        <p:spPr>
          <a:xfrm>
            <a:off x="0" y="3657600"/>
            <a:ext cx="9144000" cy="0"/>
          </a:xfrm>
          <a:prstGeom prst="line">
            <a:avLst/>
          </a:prstGeom>
          <a:ln w="38100" cap="flat" cmpd="sng">
            <a:solidFill>
              <a:srgbClr val="FFFFFF"/>
            </a:solidFill>
            <a:prstDash val="solid"/>
            <a:headEnd type="none" w="med" len="med"/>
            <a:tailEnd type="none" w="med" len="med"/>
          </a:ln>
        </p:spPr>
      </p:sp>
      <p:sp>
        <p:nvSpPr>
          <p:cNvPr id="3084" name="Line 27"/>
          <p:cNvSpPr/>
          <p:nvPr userDrawn="1"/>
        </p:nvSpPr>
        <p:spPr>
          <a:xfrm>
            <a:off x="0" y="2590800"/>
            <a:ext cx="9144000" cy="0"/>
          </a:xfrm>
          <a:prstGeom prst="line">
            <a:avLst/>
          </a:prstGeom>
          <a:ln w="38100" cap="flat" cmpd="sng">
            <a:solidFill>
              <a:srgbClr val="FFFFFF"/>
            </a:solidFill>
            <a:prstDash val="solid"/>
            <a:headEnd type="none" w="med" len="med"/>
            <a:tailEnd type="none" w="med" len="med"/>
          </a:ln>
        </p:spPr>
      </p:sp>
      <p:sp>
        <p:nvSpPr>
          <p:cNvPr id="2061" name="Rectangle 29"/>
          <p:cNvSpPr>
            <a:spLocks noChangeArrowheads="1"/>
          </p:cNvSpPr>
          <p:nvPr/>
        </p:nvSpPr>
        <p:spPr bwMode="auto">
          <a:xfrm>
            <a:off x="0"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2" name="Rectangle 33"/>
          <p:cNvSpPr>
            <a:spLocks noChangeArrowheads="1"/>
          </p:cNvSpPr>
          <p:nvPr/>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087" name="Picture 31"/>
          <p:cNvPicPr>
            <a:picLocks noChangeAspect="1"/>
          </p:cNvPicPr>
          <p:nvPr userDrawn="1"/>
        </p:nvPicPr>
        <p:blipFill>
          <a:blip r:embed="rId20"/>
          <a:stretch>
            <a:fillRect/>
          </a:stretch>
        </p:blipFill>
        <p:spPr>
          <a:xfrm>
            <a:off x="1905000" y="1219200"/>
            <a:ext cx="5562600" cy="992188"/>
          </a:xfrm>
          <a:prstGeom prst="rect">
            <a:avLst/>
          </a:prstGeom>
          <a:noFill/>
          <a:ln w="9525">
            <a:noFill/>
          </a:ln>
        </p:spPr>
      </p:pic>
      <p:sp>
        <p:nvSpPr>
          <p:cNvPr id="3088" name="Line 34"/>
          <p:cNvSpPr/>
          <p:nvPr userDrawn="1"/>
        </p:nvSpPr>
        <p:spPr>
          <a:xfrm>
            <a:off x="0" y="2590800"/>
            <a:ext cx="9144000" cy="0"/>
          </a:xfrm>
          <a:prstGeom prst="line">
            <a:avLst/>
          </a:prstGeom>
          <a:ln w="38100" cap="flat" cmpd="sng">
            <a:solidFill>
              <a:srgbClr val="FFFFFF"/>
            </a:solidFill>
            <a:prstDash val="solid"/>
            <a:headEnd type="none" w="med" len="med"/>
            <a:tailEnd type="none" w="med" len="med"/>
          </a:ln>
        </p:spPr>
      </p:sp>
      <p:sp>
        <p:nvSpPr>
          <p:cNvPr id="3089" name="Rectangle 3"/>
          <p:cNvSpPr>
            <a:spLocks noGrp="1"/>
          </p:cNvSpPr>
          <p:nvPr>
            <p:ph type="body" idx="1"/>
          </p:nvPr>
        </p:nvSpPr>
        <p:spPr>
          <a:xfrm>
            <a:off x="990600" y="838200"/>
            <a:ext cx="8001000" cy="5181600"/>
          </a:xfrm>
          <a:prstGeom prst="rect">
            <a:avLst/>
          </a:prstGeom>
          <a:noFill/>
          <a:ln w="9525">
            <a:noFill/>
          </a:ln>
        </p:spPr>
        <p:txBody>
          <a:bodyPr/>
          <a:lstStyle/>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3090" name="Rectangle 2"/>
          <p:cNvSpPr>
            <a:spLocks noGrp="1"/>
          </p:cNvSpPr>
          <p:nvPr>
            <p:ph type="title"/>
          </p:nvPr>
        </p:nvSpPr>
        <p:spPr>
          <a:xfrm>
            <a:off x="1066800" y="152400"/>
            <a:ext cx="6096000" cy="381000"/>
          </a:xfrm>
          <a:prstGeom prst="rect">
            <a:avLst/>
          </a:prstGeom>
          <a:noFill/>
          <a:ln w="9525">
            <a:noFill/>
          </a:ln>
        </p:spPr>
        <p:txBody>
          <a:bodyPr anchor="ctr"/>
          <a:lstStyle/>
          <a:p>
            <a:pPr lvl="0"/>
            <a:r>
              <a:rPr lang="zh-CN" altLang="zh-CN" dirty="0"/>
              <a:t>单击此处编辑母版标题样式</a:t>
            </a:r>
            <a:endParaRPr lang="zh-CN" altLang="zh-CN" dirty="0"/>
          </a:p>
        </p:txBody>
      </p:sp>
      <p:sp>
        <p:nvSpPr>
          <p:cNvPr id="2067" name="Rectangle 4"/>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8" name="Rectangle 5"/>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9" name="Rectangle 6"/>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lgn="r" eaLnBrk="1" hangingPunct="1">
              <a:buChar char="•"/>
            </a:pPr>
            <a:fld id="{9A0DB2DC-4C9A-4742-B13C-FB6460FD3503}" type="slidenum">
              <a:rPr lang="en-US" altLang="zh-CN" sz="1400" dirty="0"/>
            </a:fld>
            <a:endParaRPr lang="en-US" altLang="zh-CN" sz="1400"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wipe(up)">
                                      <p:cBhvr>
                                        <p:cTn id="7"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2pPr>
      <a:lvl3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3pPr>
      <a:lvl4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4pPr>
      <a:lvl5pPr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5pPr>
      <a:lvl6pPr marL="4572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6pPr>
      <a:lvl7pPr marL="9144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7pPr>
      <a:lvl8pPr marL="13716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8pPr>
      <a:lvl9pPr marL="1828800" algn="l" rtl="0" eaLnBrk="0" fontAlgn="base" hangingPunct="0">
        <a:spcBef>
          <a:spcPct val="0"/>
        </a:spcBef>
        <a:spcAft>
          <a:spcPct val="0"/>
        </a:spcAft>
        <a:defRPr sz="3200" b="1">
          <a:solidFill>
            <a:schemeClr val="tx2"/>
          </a:solidFill>
          <a:latin typeface="Arial" panose="020B0604020202020204" pitchFamily="34" charset="0"/>
          <a:ea typeface="华文中宋" panose="0201060004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4"/>
          <p:cNvSpPr>
            <a:spLocks noGrp="1"/>
          </p:cNvSpPr>
          <p:nvPr>
            <p:ph type="title"/>
          </p:nvPr>
        </p:nvSpPr>
        <p:spPr>
          <a:xfrm>
            <a:off x="6577013" y="104775"/>
            <a:ext cx="2300287" cy="685800"/>
          </a:xfrm>
          <a:prstGeom prst="rect">
            <a:avLst/>
          </a:prstGeom>
          <a:noFill/>
          <a:ln w="9525">
            <a:noFill/>
          </a:ln>
        </p:spPr>
        <p:txBody>
          <a:bodyPr anchor="ctr"/>
          <a:lstStyle/>
          <a:p>
            <a:pPr lvl="0"/>
            <a:r>
              <a:rPr lang="zh-CN" altLang="en-US" dirty="0"/>
              <a:t>母版标题</a:t>
            </a:r>
            <a:endParaRPr lang="zh-CN" altLang="en-US" dirty="0"/>
          </a:p>
        </p:txBody>
      </p:sp>
      <p:sp>
        <p:nvSpPr>
          <p:cNvPr id="4099" name="Rectangle 5"/>
          <p:cNvSpPr>
            <a:spLocks noGrp="1"/>
          </p:cNvSpPr>
          <p:nvPr>
            <p:ph type="body" idx="1"/>
          </p:nvPr>
        </p:nvSpPr>
        <p:spPr>
          <a:xfrm>
            <a:off x="450850" y="931545"/>
            <a:ext cx="8112125" cy="516445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01" name="Rectangle 2"/>
          <p:cNvSpPr/>
          <p:nvPr userDrawn="1"/>
        </p:nvSpPr>
        <p:spPr>
          <a:xfrm>
            <a:off x="8408988" y="6453188"/>
            <a:ext cx="735012" cy="241300"/>
          </a:xfrm>
          <a:prstGeom prst="rect">
            <a:avLst/>
          </a:prstGeom>
          <a:noFill/>
          <a:ln w="9525">
            <a:noFill/>
          </a:ln>
        </p:spPr>
        <p:txBody>
          <a:bodyPr wrap="none" lIns="90488" tIns="44450" rIns="90488" bIns="44450">
            <a:spAutoFit/>
          </a:bodyPr>
          <a:lstStyle/>
          <a:p>
            <a:pPr lvl="0" algn="r"/>
            <a:r>
              <a:rPr lang="zh-CN" altLang="en-US" sz="1000" dirty="0">
                <a:solidFill>
                  <a:srgbClr val="000000"/>
                </a:solidFill>
                <a:latin typeface="FuturaA Md BT" charset="0"/>
                <a:ea typeface="宋体" panose="02010600030101010101" pitchFamily="2" charset="-122"/>
              </a:rPr>
              <a:t>  </a:t>
            </a:r>
            <a:r>
              <a:rPr lang="en-US" altLang="zh-CN" sz="1000" dirty="0">
                <a:solidFill>
                  <a:srgbClr val="000000"/>
                </a:solidFill>
                <a:latin typeface="FuturaA Md BT" charset="0"/>
                <a:ea typeface="宋体" panose="02010600030101010101" pitchFamily="2" charset="-122"/>
              </a:rPr>
              <a:t>Page </a:t>
            </a:r>
            <a:fld id="{9A0DB2DC-4C9A-4742-B13C-FB6460FD3503}" type="slidenum">
              <a:rPr lang="en-US" altLang="zh-CN" sz="1000" dirty="0">
                <a:solidFill>
                  <a:srgbClr val="000000"/>
                </a:solidFill>
                <a:latin typeface="FuturaA Md BT" charset="0"/>
                <a:ea typeface="宋体" panose="02010600030101010101" pitchFamily="2" charset="-122"/>
              </a:rPr>
            </a:fld>
            <a:endParaRPr lang="en-US" altLang="zh-CN" sz="1000" dirty="0">
              <a:solidFill>
                <a:srgbClr val="000000"/>
              </a:solidFill>
              <a:latin typeface="FuturaA Md BT" charset="0"/>
              <a:ea typeface="宋体" panose="02010600030101010101" pitchFamily="2" charset="-122"/>
            </a:endParaRPr>
          </a:p>
        </p:txBody>
      </p:sp>
      <p:sp>
        <p:nvSpPr>
          <p:cNvPr id="4102" name="Line 4"/>
          <p:cNvSpPr/>
          <p:nvPr userDrawn="1"/>
        </p:nvSpPr>
        <p:spPr>
          <a:xfrm>
            <a:off x="179388" y="765175"/>
            <a:ext cx="8713787" cy="0"/>
          </a:xfrm>
          <a:prstGeom prst="line">
            <a:avLst/>
          </a:prstGeom>
          <a:ln w="25400" cap="flat" cmpd="sng">
            <a:solidFill>
              <a:schemeClr val="tx2"/>
            </a:solidFill>
            <a:prstDash val="solid"/>
            <a:headEnd type="none" w="sm" len="sm"/>
            <a:tailEnd type="none" w="sm" len="sm"/>
          </a:ln>
        </p:spPr>
      </p:sp>
      <p:sp>
        <p:nvSpPr>
          <p:cNvPr id="1031" name="Rectangle 5"/>
          <p:cNvSpPr>
            <a:spLocks noChangeArrowheads="1"/>
          </p:cNvSpPr>
          <p:nvPr/>
        </p:nvSpPr>
        <p:spPr bwMode="auto">
          <a:xfrm>
            <a:off x="0" y="6237288"/>
            <a:ext cx="91440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1pPr>
            <a:lvl2pPr marL="742950" indent="-28575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2pPr>
            <a:lvl3pPr marL="11430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3pPr>
            <a:lvl4pPr marL="16002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4pPr>
            <a:lvl5pPr marL="2057400" indent="-228600">
              <a:spcBef>
                <a:spcPct val="20000"/>
              </a:spcBef>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Font typeface="Wingdings" panose="05000000000000000000" pitchFamily="2" charset="2"/>
              <a:buChar char="v"/>
              <a:defRPr kumimoji="1" sz="2800">
                <a:solidFill>
                  <a:srgbClr val="336699"/>
                </a:solidFill>
                <a:latin typeface="黑体" panose="02010609060101010101" pitchFamily="49" charset="-122"/>
                <a:ea typeface="黑体" panose="020106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436ACB"/>
                </a:solidFill>
                <a:effectLst/>
                <a:uLnTx/>
                <a:uFillTx/>
                <a:latin typeface="Arial" panose="020B0604020202020204" pitchFamily="34" charset="0"/>
                <a:ea typeface="隶书" panose="02010509060101010101" pitchFamily="49" charset="-122"/>
                <a:cs typeface="+mn-cs"/>
              </a:rPr>
              <a:t>      </a:t>
            </a:r>
            <a:endParaRPr kumimoji="0" lang="zh-CN" altLang="en-US" sz="2400" b="1" i="0" u="none" strike="noStrike" kern="1200" cap="none" spc="0" normalizeH="0" baseline="0" noProof="0">
              <a:ln>
                <a:noFill/>
              </a:ln>
              <a:solidFill>
                <a:srgbClr val="000000"/>
              </a:solidFill>
              <a:effectLst/>
              <a:uLnTx/>
              <a:uFillTx/>
              <a:latin typeface="FuturaA Md BT" charset="0"/>
              <a:ea typeface="隶书" panose="02010509060101010101" pitchFamily="49" charset="-122"/>
              <a:cs typeface="+mn-cs"/>
            </a:endParaRPr>
          </a:p>
        </p:txBody>
      </p:sp>
      <p:pic>
        <p:nvPicPr>
          <p:cNvPr id="4104" name="Picture 10" descr="logo"/>
          <p:cNvPicPr>
            <a:picLocks noChangeAspect="1"/>
          </p:cNvPicPr>
          <p:nvPr userDrawn="1"/>
        </p:nvPicPr>
        <p:blipFill>
          <a:blip r:embed="rId12"/>
          <a:stretch>
            <a:fillRect/>
          </a:stretch>
        </p:blipFill>
        <p:spPr>
          <a:xfrm>
            <a:off x="144463" y="115888"/>
            <a:ext cx="2698750" cy="5048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r" rtl="0" eaLnBrk="0" fontAlgn="base" hangingPunct="0">
        <a:spcBef>
          <a:spcPct val="0"/>
        </a:spcBef>
        <a:spcAft>
          <a:spcPct val="0"/>
        </a:spcAft>
        <a:defRPr kumimoji="1" sz="3600" kern="1200">
          <a:solidFill>
            <a:schemeClr val="tx1"/>
          </a:solidFill>
          <a:latin typeface="+mj-lt"/>
          <a:ea typeface="+mj-ea"/>
          <a:cs typeface="+mj-cs"/>
        </a:defRPr>
      </a:lvl1pPr>
      <a:lvl2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2pPr>
      <a:lvl3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3pPr>
      <a:lvl4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4pPr>
      <a:lvl5pPr algn="r" rtl="0" eaLnBrk="0" fontAlgn="base" hangingPunct="0">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5pPr>
      <a:lvl6pPr marL="4572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6pPr>
      <a:lvl7pPr marL="9144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7pPr>
      <a:lvl8pPr marL="13716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8pPr>
      <a:lvl9pPr marL="1828800" algn="r" rtl="0" fontAlgn="base">
        <a:spcBef>
          <a:spcPct val="0"/>
        </a:spcBef>
        <a:spcAft>
          <a:spcPct val="0"/>
        </a:spcAft>
        <a:defRPr kumimoji="1" sz="3600">
          <a:solidFill>
            <a:schemeClr val="tx1"/>
          </a:solidFill>
          <a:latin typeface="Times New Roman" panose="02020603050405020304" pitchFamily="18" charset="0"/>
          <a:ea typeface="黑体" panose="02010609060101010101" pitchFamily="49" charset="-122"/>
        </a:defRPr>
      </a:lvl9pPr>
    </p:titleStyle>
    <p:body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rgbClr val="000066"/>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rgbClr val="336699"/>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rgbClr val="000066"/>
          </a:solidFill>
          <a:latin typeface="+mn-lt"/>
          <a:ea typeface="+mn-ea"/>
          <a:cs typeface="+mn-cs"/>
        </a:defRPr>
      </a:lvl4pPr>
      <a:lvl5pPr marL="2057400" indent="-228600" algn="l" rtl="0" eaLnBrk="0" fontAlgn="base" hangingPunct="0">
        <a:spcBef>
          <a:spcPct val="20000"/>
        </a:spcBef>
        <a:spcAft>
          <a:spcPct val="0"/>
        </a:spcAft>
        <a:defRPr kumimoji="1" sz="1400"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9.png"/></Relationships>
</file>

<file path=ppt/slides/_rels/slide8.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1" Type="http://schemas.openxmlformats.org/officeDocument/2006/relationships/slideLayout" Target="../slideLayouts/slideLayout35.xml"/><Relationship Id="rId10" Type="http://schemas.microsoft.com/office/2007/relationships/diagramDrawing" Target="../diagrams/drawing2.xml"/><Relationship Id="rId1"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5.xml"/><Relationship Id="rId1"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27.png"/><Relationship Id="rId1" Type="http://schemas.openxmlformats.org/officeDocument/2006/relationships/image" Target="../media/image2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34.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39.png"/><Relationship Id="rId1"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41.png"/><Relationship Id="rId1" Type="http://schemas.openxmlformats.org/officeDocument/2006/relationships/image" Target="../media/image4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4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47.png"/><Relationship Id="rId1" Type="http://schemas.openxmlformats.org/officeDocument/2006/relationships/image" Target="../media/image46.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48.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50.png"/><Relationship Id="rId1" Type="http://schemas.openxmlformats.org/officeDocument/2006/relationships/image" Target="../media/image49.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52.png"/><Relationship Id="rId1" Type="http://schemas.openxmlformats.org/officeDocument/2006/relationships/image" Target="../media/image51.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54.png"/><Relationship Id="rId1" Type="http://schemas.openxmlformats.org/officeDocument/2006/relationships/image" Target="../media/image53.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61.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4.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5.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6.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6.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7.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68.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70.png"/><Relationship Id="rId1" Type="http://schemas.openxmlformats.org/officeDocument/2006/relationships/image" Target="../media/image69.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7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72.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73.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image" Target="../media/image74.png"/></Relationships>
</file>

<file path=ppt/slides/_rels/slide54.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image" Target="../media/image81.png"/><Relationship Id="rId4" Type="http://schemas.openxmlformats.org/officeDocument/2006/relationships/image" Target="../media/image80.png"/><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image" Target="../media/image77.png"/></Relationships>
</file>

<file path=ppt/slides/_rels/slide55.xml.rels><?xml version="1.0" encoding="UTF-8" standalone="yes"?>
<Relationships xmlns="http://schemas.openxmlformats.org/package/2006/relationships"><Relationship Id="rId5" Type="http://schemas.openxmlformats.org/officeDocument/2006/relationships/slideLayout" Target="../slideLayouts/slideLayout35.xml"/><Relationship Id="rId4" Type="http://schemas.openxmlformats.org/officeDocument/2006/relationships/image" Target="../media/image85.png"/><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82.png"/></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35.xml"/><Relationship Id="rId4" Type="http://schemas.openxmlformats.org/officeDocument/2006/relationships/image" Target="../media/image89.png"/><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image" Target="../media/image86.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91.png"/><Relationship Id="rId1" Type="http://schemas.openxmlformats.org/officeDocument/2006/relationships/image" Target="../media/image90.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92.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93.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94.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95.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96.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97.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98.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9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00.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5.xml"/><Relationship Id="rId1" Type="http://schemas.openxmlformats.org/officeDocument/2006/relationships/image" Target="../media/image101.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02.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03.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0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0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177165" y="2819400"/>
            <a:ext cx="8738235" cy="685800"/>
          </a:xfrm>
        </p:spPr>
        <p:txBody>
          <a:bodyPr vert="horz" wrap="square" lIns="91440" tIns="45720" rIns="91440" bIns="45720" anchor="ctr"/>
          <a:lstStyle>
            <a:lvl1pPr lvl="0">
              <a:defRPr kern="1200"/>
            </a:lvl1pPr>
          </a:lstStyle>
          <a:p>
            <a:pPr lvl="0" algn="ctr" eaLnBrk="1" hangingPunct="1"/>
            <a:r>
              <a:rPr lang="zh-CN" altLang="en-US" sz="3600" dirty="0">
                <a:solidFill>
                  <a:schemeClr val="bg1"/>
                </a:solidFill>
                <a:latin typeface="黑体" panose="02010609060101010101" pitchFamily="49" charset="-122"/>
                <a:ea typeface="黑体" panose="02010609060101010101" pitchFamily="49" charset="-122"/>
                <a:sym typeface="+mn-ea"/>
              </a:rPr>
              <a:t>第</a:t>
            </a:r>
            <a:r>
              <a:rPr lang="zh-CN" altLang="en-US" sz="3600" dirty="0">
                <a:solidFill>
                  <a:schemeClr val="bg1"/>
                </a:solidFill>
                <a:latin typeface="黑体" panose="02010609060101010101" pitchFamily="49" charset="-122"/>
                <a:ea typeface="黑体" panose="02010609060101010101" pitchFamily="49" charset="-122"/>
                <a:sym typeface="+mn-ea"/>
              </a:rPr>
              <a:t>八章 极化码</a:t>
            </a:r>
            <a:endParaRPr lang="zh-CN" altLang="en-US" sz="3600" dirty="0">
              <a:solidFill>
                <a:schemeClr val="bg1"/>
              </a:solidFill>
              <a:latin typeface="黑体" panose="02010609060101010101" pitchFamily="49" charset="-122"/>
              <a:ea typeface="黑体" panose="02010609060101010101" pitchFamily="49" charset="-122"/>
              <a:sym typeface="+mn-ea"/>
            </a:endParaRPr>
          </a:p>
        </p:txBody>
      </p:sp>
      <p:sp>
        <p:nvSpPr>
          <p:cNvPr id="2" name="文本框 1"/>
          <p:cNvSpPr txBox="1"/>
          <p:nvPr/>
        </p:nvSpPr>
        <p:spPr>
          <a:xfrm>
            <a:off x="2305685" y="3879850"/>
            <a:ext cx="4815205" cy="1822450"/>
          </a:xfrm>
          <a:prstGeom prst="rect">
            <a:avLst/>
          </a:prstGeom>
          <a:noFill/>
        </p:spPr>
        <p:txBody>
          <a:bodyPr wrap="square" rtlCol="0">
            <a:spAutoFit/>
          </a:bodyPr>
          <a:lstStyle/>
          <a:p>
            <a:pPr marL="0" marR="0" lvl="0" indent="0" algn="l" defTabSz="914400" eaLnBrk="0" fontAlgn="base" latinLnBrk="0" hangingPunct="0">
              <a:lnSpc>
                <a:spcPts val="45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000000"/>
                </a:solidFill>
                <a:effectLst>
                  <a:outerShdw blurRad="38100" dist="19050" dir="2700000" algn="tl" rotWithShape="0">
                    <a:srgbClr val="000000">
                      <a:alpha val="40000"/>
                    </a:srgbClr>
                  </a:outerShdw>
                </a:effectLst>
                <a:uLnTx/>
                <a:uFillTx/>
                <a:latin typeface="黑体" panose="02010609060101010101" pitchFamily="49" charset="-122"/>
                <a:ea typeface="黑体" panose="02010609060101010101" pitchFamily="49" charset="-122"/>
                <a:sym typeface="+mn-ea"/>
              </a:rPr>
              <a:t>李丽香，彭海朋</a:t>
            </a:r>
            <a:endParaRPr kumimoji="0" lang="zh-CN" altLang="en-US" sz="2400" b="1" i="0" u="none" strike="noStrike" kern="1200" cap="none" spc="0" normalizeH="0" baseline="0" noProof="0">
              <a:ln>
                <a:noFill/>
              </a:ln>
              <a:solidFill>
                <a:srgbClr val="000000"/>
              </a:solidFill>
              <a:effectLst>
                <a:outerShdw blurRad="38100" dist="19050" dir="2700000" algn="tl" rotWithShape="0">
                  <a:srgbClr val="000000">
                    <a:alpha val="40000"/>
                  </a:srgbClr>
                </a:outerShdw>
              </a:effectLst>
              <a:uLnTx/>
              <a:uFillTx/>
              <a:latin typeface="黑体" panose="02010609060101010101" pitchFamily="49" charset="-122"/>
              <a:ea typeface="黑体" panose="02010609060101010101" pitchFamily="49" charset="-122"/>
              <a:sym typeface="+mn-ea"/>
            </a:endParaRPr>
          </a:p>
          <a:p>
            <a:pPr marL="0" marR="0" lvl="0" indent="0" algn="l" defTabSz="914400" eaLnBrk="0" fontAlgn="base" latinLnBrk="0" hangingPunct="0">
              <a:lnSpc>
                <a:spcPts val="45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000000"/>
                </a:solidFill>
                <a:effectLst>
                  <a:outerShdw blurRad="38100" dist="19050" dir="2700000" algn="tl" rotWithShape="0">
                    <a:srgbClr val="000000">
                      <a:alpha val="40000"/>
                    </a:srgbClr>
                  </a:outerShdw>
                </a:effectLst>
                <a:uLnTx/>
                <a:uFillTx/>
                <a:latin typeface="黑体" panose="02010609060101010101" pitchFamily="49" charset="-122"/>
                <a:ea typeface="黑体" panose="02010609060101010101" pitchFamily="49" charset="-122"/>
                <a:sym typeface="+mn-ea"/>
              </a:rPr>
              <a:t>北京邮电大学网络空间安全学院</a:t>
            </a:r>
            <a:endParaRPr kumimoji="0" lang="zh-CN" altLang="en-US" sz="2400" b="1" i="0" u="none" strike="noStrike" kern="1200" cap="none" spc="0" normalizeH="0" baseline="0" noProof="0">
              <a:ln>
                <a:noFill/>
              </a:ln>
              <a:solidFill>
                <a:srgbClr val="000000"/>
              </a:solidFill>
              <a:effectLst>
                <a:outerShdw blurRad="38100" dist="19050" dir="2700000" algn="tl" rotWithShape="0">
                  <a:srgbClr val="000000">
                    <a:alpha val="40000"/>
                  </a:srgbClr>
                </a:outerShdw>
              </a:effectLst>
              <a:uLnTx/>
              <a:uFillTx/>
              <a:latin typeface="黑体" panose="02010609060101010101" pitchFamily="49" charset="-122"/>
              <a:ea typeface="黑体" panose="02010609060101010101" pitchFamily="49" charset="-122"/>
              <a:sym typeface="+mn-ea"/>
            </a:endParaRPr>
          </a:p>
          <a:p>
            <a:pPr marL="0" marR="0" lvl="0" indent="0" algn="l" defTabSz="914400" eaLnBrk="0" fontAlgn="base" latinLnBrk="0" hangingPunct="0">
              <a:lnSpc>
                <a:spcPts val="45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000000"/>
                </a:solidFill>
                <a:effectLst>
                  <a:outerShdw blurRad="38100" dist="19050" dir="2700000" algn="tl" rotWithShape="0">
                    <a:srgbClr val="000000">
                      <a:alpha val="40000"/>
                    </a:srgbClr>
                  </a:outerShdw>
                </a:effectLst>
                <a:uLnTx/>
                <a:uFillTx/>
                <a:latin typeface="黑体" panose="02010609060101010101" pitchFamily="49" charset="-122"/>
                <a:ea typeface="黑体" panose="02010609060101010101" pitchFamily="49" charset="-122"/>
                <a:sym typeface="+mn-ea"/>
              </a:rPr>
              <a:t>网络与交换技术国家重点实验室</a:t>
            </a:r>
            <a:endParaRPr kumimoji="0" lang="zh-CN" altLang="en-US" sz="2400" b="1" i="0" u="none" strike="noStrike" kern="1200" cap="none" spc="0" normalizeH="0" baseline="0" noProof="0">
              <a:ln>
                <a:noFill/>
              </a:ln>
              <a:solidFill>
                <a:srgbClr val="000000"/>
              </a:solidFill>
              <a:effectLst>
                <a:outerShdw blurRad="38100" dist="19050" dir="2700000" algn="tl" rotWithShape="0">
                  <a:srgbClr val="000000">
                    <a:alpha val="40000"/>
                  </a:srgbClr>
                </a:outerShdw>
              </a:effectLst>
              <a:uLnTx/>
              <a:uFillTx/>
              <a:latin typeface="黑体" panose="02010609060101010101" pitchFamily="49" charset="-122"/>
              <a:ea typeface="黑体" panose="02010609060101010101" pitchFamily="49"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652578" y="104775"/>
            <a:ext cx="2300287" cy="685800"/>
          </a:xfrm>
        </p:spPr>
        <p:txBody>
          <a:bodyPr vert="horz" wrap="square" lIns="91440" tIns="45720" rIns="91440" bIns="45720" anchor="ctr"/>
          <a:lstStyle/>
          <a:p>
            <a:r>
              <a:rPr lang="zh-CN" altLang="en-US" sz="2400" dirty="0"/>
              <a:t>内容提要</a:t>
            </a:r>
            <a:endParaRPr lang="zh-CN" altLang="en-US" sz="24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8198" name="AutoShape 49"/>
          <p:cNvSpPr/>
          <p:nvPr/>
        </p:nvSpPr>
        <p:spPr>
          <a:xfrm>
            <a:off x="2242185" y="4801235"/>
            <a:ext cx="5530850" cy="647065"/>
          </a:xfrm>
          <a:prstGeom prst="roundRect">
            <a:avLst>
              <a:gd name="adj" fmla="val 50000"/>
            </a:avLst>
          </a:prstGeom>
          <a:noFill/>
          <a:ln w="28575" cap="flat" cmpd="sng">
            <a:solidFill>
              <a:srgbClr val="C0C0C0"/>
            </a:solidFill>
            <a:prstDash val="solid"/>
            <a:headEnd type="none" w="med" len="med"/>
            <a:tailEnd type="none" w="med" len="med"/>
          </a:ln>
        </p:spPr>
        <p:txBody>
          <a:bodyPr wrap="none"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lang="zh-CN" altLang="en-US" sz="2800" b="1" kern="0" dirty="0">
                <a:latin typeface="+mn-lt"/>
                <a:cs typeface="+mn-cs"/>
              </a:rPr>
              <a:t>极化码</a:t>
            </a:r>
            <a:r>
              <a:rPr lang="zh-CN" altLang="en-US" sz="2800" b="1" kern="0" dirty="0">
                <a:cs typeface="+mn-cs"/>
              </a:rPr>
              <a:t>应用</a:t>
            </a:r>
            <a:r>
              <a:rPr lang="zh-CN" altLang="en-US" sz="2800" b="1" kern="0" dirty="0">
                <a:cs typeface="+mn-cs"/>
                <a:sym typeface="+mn-ea"/>
              </a:rPr>
              <a:t>及</a:t>
            </a:r>
            <a:r>
              <a:rPr lang="zh-CN" altLang="en-US" sz="2800" b="1" kern="0" noProof="0" dirty="0">
                <a:ln>
                  <a:noFill/>
                </a:ln>
                <a:effectLst/>
                <a:uLnTx/>
                <a:uFillTx/>
                <a:cs typeface="+mn-cs"/>
                <a:sym typeface="+mn-ea"/>
              </a:rPr>
              <a:t>发展趋势</a:t>
            </a:r>
            <a:endParaRPr kumimoji="0" lang="zh-CN" altLang="en-US" sz="28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AutoShape 50"/>
          <p:cNvSpPr>
            <a:spLocks noChangeArrowheads="1"/>
          </p:cNvSpPr>
          <p:nvPr/>
        </p:nvSpPr>
        <p:spPr bwMode="gray">
          <a:xfrm>
            <a:off x="2438400" y="3837305"/>
            <a:ext cx="6172200" cy="647065"/>
          </a:xfrm>
          <a:prstGeom prst="roundRect">
            <a:avLst>
              <a:gd name="adj" fmla="val 50000"/>
            </a:avLst>
          </a:prstGeom>
          <a:noFill/>
          <a:ln w="28575" algn="ctr">
            <a:solidFill>
              <a:srgbClr val="C0C0C0"/>
            </a:solidFill>
            <a:round/>
          </a:ln>
          <a:effectLst/>
        </p:spPr>
        <p:txBody>
          <a:bodyPr wrap="none" anchor="ctr"/>
          <a:lstStyle/>
          <a:p>
            <a:pPr lvl="0" algn="ctr" eaLnBrk="1" hangingPunct="1">
              <a:buNone/>
            </a:pPr>
            <a:r>
              <a:rPr lang="zh-CN" altLang="en-US" sz="2800" b="1" kern="0" dirty="0">
                <a:cs typeface="+mn-cs"/>
                <a:sym typeface="+mn-ea"/>
              </a:rPr>
              <a:t>极化码的构造（编译码）</a:t>
            </a:r>
            <a:endParaRPr lang="zh-CN" altLang="en-US" sz="2800" b="1" kern="0" noProof="0" dirty="0">
              <a:ln>
                <a:noFill/>
              </a:ln>
              <a:effectLst/>
              <a:uLnTx/>
              <a:uFillTx/>
              <a:cs typeface="+mn-cs"/>
              <a:sym typeface="+mn-ea"/>
            </a:endParaRPr>
          </a:p>
        </p:txBody>
      </p:sp>
      <p:sp>
        <p:nvSpPr>
          <p:cNvPr id="10" name="AutoShape 51"/>
          <p:cNvSpPr>
            <a:spLocks noChangeArrowheads="1"/>
          </p:cNvSpPr>
          <p:nvPr/>
        </p:nvSpPr>
        <p:spPr bwMode="gray">
          <a:xfrm>
            <a:off x="2437130" y="2893060"/>
            <a:ext cx="5486400" cy="698500"/>
          </a:xfrm>
          <a:prstGeom prst="roundRect">
            <a:avLst>
              <a:gd name="adj" fmla="val 50000"/>
            </a:avLst>
          </a:prstGeom>
          <a:noFill/>
          <a:ln w="28575" algn="ctr">
            <a:solidFill>
              <a:srgbClr val="C0C0C0"/>
            </a:solidFill>
            <a:round/>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极化码的基本原理</a:t>
            </a:r>
            <a:endParaRPr kumimoji="0" lang="zh-CN" altLang="en-US" sz="28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 name="AutoShape 52"/>
          <p:cNvSpPr>
            <a:spLocks noChangeArrowheads="1"/>
          </p:cNvSpPr>
          <p:nvPr/>
        </p:nvSpPr>
        <p:spPr bwMode="gray">
          <a:xfrm>
            <a:off x="1840865" y="1821180"/>
            <a:ext cx="5426710" cy="675005"/>
          </a:xfrm>
          <a:prstGeom prst="roundRect">
            <a:avLst>
              <a:gd name="adj" fmla="val 50000"/>
            </a:avLst>
          </a:prstGeom>
          <a:noFill/>
          <a:ln w="28575" algn="ctr">
            <a:solidFill>
              <a:srgbClr val="C0C0C0"/>
            </a:solidFill>
            <a:round/>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极化码概述与研究现状</a:t>
            </a:r>
            <a:endParaRPr kumimoji="0" lang="zh-CN" altLang="en-US" sz="40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8202" name="Group 53"/>
          <p:cNvGrpSpPr/>
          <p:nvPr/>
        </p:nvGrpSpPr>
        <p:grpSpPr>
          <a:xfrm>
            <a:off x="1523365" y="1985328"/>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3" name="Group 60"/>
          <p:cNvGrpSpPr/>
          <p:nvPr/>
        </p:nvGrpSpPr>
        <p:grpSpPr>
          <a:xfrm>
            <a:off x="2056765" y="3074988"/>
            <a:ext cx="381000" cy="381000"/>
            <a:chOff x="2078" y="1680"/>
            <a:chExt cx="1615" cy="1615"/>
          </a:xfrm>
        </p:grpSpPr>
        <p:sp>
          <p:nvSpPr>
            <p:cNvPr id="2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2133600" y="3913188"/>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5" name="Group 74"/>
          <p:cNvGrpSpPr/>
          <p:nvPr/>
        </p:nvGrpSpPr>
        <p:grpSpPr>
          <a:xfrm>
            <a:off x="1905635" y="4826953"/>
            <a:ext cx="381000" cy="381000"/>
            <a:chOff x="2078" y="1680"/>
            <a:chExt cx="1615" cy="1615"/>
          </a:xfrm>
        </p:grpSpPr>
        <p:sp>
          <p:nvSpPr>
            <p:cNvPr id="34" name="Oval 75"/>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5" name="Oval 76"/>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6" name="Oval 77"/>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7" name="Oval 78"/>
            <p:cNvSpPr>
              <a:spLocks noChangeArrowheads="1"/>
            </p:cNvSpPr>
            <p:nvPr/>
          </p:nvSpPr>
          <p:spPr bwMode="gray">
            <a:xfrm>
              <a:off x="2253" y="1855"/>
              <a:ext cx="1265" cy="1265"/>
            </a:xfrm>
            <a:prstGeom prst="ellipse">
              <a:avLst/>
            </a:prstGeom>
            <a:gradFill rotWithShape="1">
              <a:gsLst>
                <a:gs pos="0">
                  <a:srgbClr val="8D67E1">
                    <a:gamma/>
                    <a:shade val="0"/>
                    <a:invGamma/>
                  </a:srgbClr>
                </a:gs>
                <a:gs pos="100000">
                  <a:srgbClr val="8D67E1"/>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8" name="Oval 79"/>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9" name="Oval 80"/>
            <p:cNvSpPr>
              <a:spLocks noChangeArrowheads="1"/>
            </p:cNvSpPr>
            <p:nvPr/>
          </p:nvSpPr>
          <p:spPr bwMode="gray">
            <a:xfrm>
              <a:off x="2334" y="1936"/>
              <a:ext cx="1097" cy="1104"/>
            </a:xfrm>
            <a:prstGeom prst="ellipse">
              <a:avLst/>
            </a:prstGeom>
            <a:gradFill rotWithShape="1">
              <a:gsLst>
                <a:gs pos="0">
                  <a:srgbClr val="8D67E1"/>
                </a:gs>
                <a:gs pos="100000">
                  <a:srgbClr val="8D67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652578" y="104775"/>
            <a:ext cx="2300287" cy="685800"/>
          </a:xfrm>
        </p:spPr>
        <p:txBody>
          <a:bodyPr vert="horz" wrap="square" lIns="91440" tIns="45720" rIns="91440" bIns="45720" anchor="ctr"/>
          <a:lstStyle/>
          <a:p>
            <a:r>
              <a:rPr lang="zh-CN" altLang="en-US" sz="2400" dirty="0"/>
              <a:t>内容提要</a:t>
            </a:r>
            <a:endParaRPr lang="zh-CN" altLang="en-US" sz="24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8198" name="AutoShape 49"/>
          <p:cNvSpPr/>
          <p:nvPr/>
        </p:nvSpPr>
        <p:spPr>
          <a:xfrm>
            <a:off x="2242185" y="4801235"/>
            <a:ext cx="5530850" cy="647065"/>
          </a:xfrm>
          <a:prstGeom prst="roundRect">
            <a:avLst>
              <a:gd name="adj" fmla="val 50000"/>
            </a:avLst>
          </a:prstGeom>
          <a:noFill/>
          <a:ln w="28575" cap="flat" cmpd="sng">
            <a:solidFill>
              <a:srgbClr val="C0C0C0"/>
            </a:solidFill>
            <a:prstDash val="solid"/>
            <a:headEnd type="none" w="med" len="med"/>
            <a:tailEnd type="none" w="med" len="med"/>
          </a:ln>
        </p:spPr>
        <p:txBody>
          <a:bodyPr wrap="none"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1" i="0" u="none" strike="noStrike" kern="0" cap="none" spc="0" normalizeH="0" baseline="0" noProof="0" dirty="0">
                <a:ln>
                  <a:noFill/>
                </a:ln>
                <a:solidFill>
                  <a:schemeClr val="bg1">
                    <a:lumMod val="75000"/>
                  </a:schemeClr>
                </a:solidFill>
                <a:effectLst/>
                <a:uLnTx/>
                <a:uFillTx/>
                <a:latin typeface="+mn-lt"/>
                <a:ea typeface="宋体" panose="02010600030101010101" pitchFamily="2" charset="-122"/>
                <a:cs typeface="+mn-cs"/>
              </a:rPr>
              <a:t>Polar</a:t>
            </a:r>
            <a:r>
              <a:rPr lang="zh-CN" altLang="en-US" sz="2800" b="1" kern="0" dirty="0">
                <a:solidFill>
                  <a:schemeClr val="bg1">
                    <a:lumMod val="75000"/>
                  </a:schemeClr>
                </a:solidFill>
                <a:latin typeface="+mn-lt"/>
                <a:cs typeface="+mn-cs"/>
              </a:rPr>
              <a:t>码</a:t>
            </a:r>
            <a:r>
              <a:rPr lang="zh-CN" altLang="en-US" sz="2800" b="1" kern="0" dirty="0">
                <a:solidFill>
                  <a:schemeClr val="bg1">
                    <a:lumMod val="75000"/>
                  </a:schemeClr>
                </a:solidFill>
                <a:cs typeface="+mn-cs"/>
              </a:rPr>
              <a:t>应用</a:t>
            </a:r>
            <a:r>
              <a:rPr lang="zh-CN" altLang="en-US" sz="2800" b="1" kern="0" dirty="0">
                <a:solidFill>
                  <a:schemeClr val="bg1">
                    <a:lumMod val="75000"/>
                  </a:schemeClr>
                </a:solidFill>
                <a:cs typeface="+mn-cs"/>
                <a:sym typeface="+mn-ea"/>
              </a:rPr>
              <a:t>及</a:t>
            </a:r>
            <a:r>
              <a:rPr lang="zh-CN" altLang="en-US" sz="2800" b="1" kern="0" noProof="0" dirty="0">
                <a:ln>
                  <a:noFill/>
                </a:ln>
                <a:solidFill>
                  <a:schemeClr val="bg1">
                    <a:lumMod val="75000"/>
                  </a:schemeClr>
                </a:solidFill>
                <a:effectLst/>
                <a:uLnTx/>
                <a:uFillTx/>
                <a:cs typeface="+mn-cs"/>
                <a:sym typeface="+mn-ea"/>
              </a:rPr>
              <a:t>发展趋势</a:t>
            </a:r>
            <a:endParaRPr kumimoji="0" lang="zh-CN" altLang="en-US" sz="2800" b="1" i="0" u="none" strike="noStrike" kern="0" cap="none" spc="0" normalizeH="0" baseline="0" noProof="0" dirty="0">
              <a:ln>
                <a:noFill/>
              </a:ln>
              <a:solidFill>
                <a:schemeClr val="bg1">
                  <a:lumMod val="75000"/>
                </a:schemeClr>
              </a:solidFill>
              <a:effectLst/>
              <a:uLnTx/>
              <a:uFillTx/>
              <a:latin typeface="Arial" panose="020B0604020202020204" pitchFamily="34" charset="0"/>
              <a:ea typeface="宋体" panose="02010600030101010101" pitchFamily="2" charset="-122"/>
              <a:cs typeface="+mn-cs"/>
            </a:endParaRPr>
          </a:p>
        </p:txBody>
      </p:sp>
      <p:sp>
        <p:nvSpPr>
          <p:cNvPr id="9" name="AutoShape 50"/>
          <p:cNvSpPr>
            <a:spLocks noChangeArrowheads="1"/>
          </p:cNvSpPr>
          <p:nvPr/>
        </p:nvSpPr>
        <p:spPr bwMode="gray">
          <a:xfrm>
            <a:off x="2438400" y="3837305"/>
            <a:ext cx="6172200" cy="647065"/>
          </a:xfrm>
          <a:prstGeom prst="roundRect">
            <a:avLst>
              <a:gd name="adj" fmla="val 50000"/>
            </a:avLst>
          </a:prstGeom>
          <a:noFill/>
          <a:ln w="28575" algn="ctr">
            <a:solidFill>
              <a:srgbClr val="C0C0C0"/>
            </a:solidFill>
            <a:round/>
          </a:ln>
          <a:effectLst/>
        </p:spPr>
        <p:txBody>
          <a:bodyPr wrap="none" anchor="ctr"/>
          <a:lstStyle/>
          <a:p>
            <a:pPr lvl="0" algn="ctr" eaLnBrk="1" hangingPunct="1">
              <a:buNone/>
            </a:pPr>
            <a:r>
              <a:rPr lang="zh-CN" altLang="en-US" sz="2800" b="1" kern="0" dirty="0">
                <a:solidFill>
                  <a:schemeClr val="bg1">
                    <a:lumMod val="75000"/>
                  </a:schemeClr>
                </a:solidFill>
                <a:cs typeface="+mn-cs"/>
                <a:sym typeface="+mn-ea"/>
              </a:rPr>
              <a:t>极化码的构造（编译码）</a:t>
            </a:r>
            <a:endParaRPr lang="zh-CN" altLang="en-US" sz="2800" b="1" kern="0" noProof="0" dirty="0">
              <a:ln>
                <a:noFill/>
              </a:ln>
              <a:solidFill>
                <a:schemeClr val="bg1">
                  <a:lumMod val="75000"/>
                </a:schemeClr>
              </a:solidFill>
              <a:effectLst/>
              <a:uLnTx/>
              <a:uFillTx/>
              <a:cs typeface="+mn-cs"/>
              <a:sym typeface="+mn-ea"/>
            </a:endParaRPr>
          </a:p>
        </p:txBody>
      </p:sp>
      <p:sp>
        <p:nvSpPr>
          <p:cNvPr id="10" name="AutoShape 51"/>
          <p:cNvSpPr>
            <a:spLocks noChangeArrowheads="1"/>
          </p:cNvSpPr>
          <p:nvPr/>
        </p:nvSpPr>
        <p:spPr bwMode="gray">
          <a:xfrm>
            <a:off x="2437130" y="2893060"/>
            <a:ext cx="5486400" cy="698500"/>
          </a:xfrm>
          <a:prstGeom prst="roundRect">
            <a:avLst>
              <a:gd name="adj" fmla="val 50000"/>
            </a:avLst>
          </a:prstGeom>
          <a:noFill/>
          <a:ln w="28575" algn="ctr">
            <a:solidFill>
              <a:srgbClr val="C0C0C0"/>
            </a:solidFill>
            <a:round/>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0" cap="none" spc="0" normalizeH="0" baseline="0" noProof="0" dirty="0">
                <a:ln>
                  <a:noFill/>
                </a:ln>
                <a:solidFill>
                  <a:schemeClr val="bg1">
                    <a:lumMod val="75000"/>
                  </a:schemeClr>
                </a:solidFill>
                <a:effectLst/>
                <a:uLnTx/>
                <a:uFillTx/>
                <a:latin typeface="Arial" panose="020B0604020202020204" pitchFamily="34" charset="0"/>
                <a:ea typeface="宋体" panose="02010600030101010101" pitchFamily="2" charset="-122"/>
                <a:cs typeface="+mn-cs"/>
              </a:rPr>
              <a:t>极化码的基本原理</a:t>
            </a:r>
            <a:endParaRPr kumimoji="0" lang="zh-CN" altLang="en-US" sz="2800" b="1" i="0" u="none" strike="noStrike" kern="0" cap="none" spc="0" normalizeH="0" baseline="0" noProof="0" dirty="0">
              <a:ln>
                <a:noFill/>
              </a:ln>
              <a:solidFill>
                <a:schemeClr val="bg1">
                  <a:lumMod val="75000"/>
                </a:schemeClr>
              </a:solidFill>
              <a:effectLst/>
              <a:uLnTx/>
              <a:uFillTx/>
              <a:latin typeface="Arial" panose="020B0604020202020204" pitchFamily="34" charset="0"/>
              <a:ea typeface="宋体" panose="02010600030101010101" pitchFamily="2" charset="-122"/>
              <a:cs typeface="+mn-cs"/>
            </a:endParaRPr>
          </a:p>
        </p:txBody>
      </p:sp>
      <p:sp>
        <p:nvSpPr>
          <p:cNvPr id="11" name="AutoShape 52"/>
          <p:cNvSpPr>
            <a:spLocks noChangeArrowheads="1"/>
          </p:cNvSpPr>
          <p:nvPr/>
        </p:nvSpPr>
        <p:spPr bwMode="gray">
          <a:xfrm>
            <a:off x="1840865" y="1821180"/>
            <a:ext cx="5426710" cy="675005"/>
          </a:xfrm>
          <a:prstGeom prst="roundRect">
            <a:avLst>
              <a:gd name="adj" fmla="val 50000"/>
            </a:avLst>
          </a:prstGeom>
          <a:noFill/>
          <a:ln w="28575" algn="ctr">
            <a:solidFill>
              <a:srgbClr val="C0C0C0"/>
            </a:solidFill>
            <a:round/>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极化码概述与研究现状</a:t>
            </a:r>
            <a:endParaRPr kumimoji="0" lang="zh-CN" altLang="en-US" sz="40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8202" name="Group 53"/>
          <p:cNvGrpSpPr/>
          <p:nvPr/>
        </p:nvGrpSpPr>
        <p:grpSpPr>
          <a:xfrm>
            <a:off x="1523365" y="1985328"/>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3" name="Group 60"/>
          <p:cNvGrpSpPr/>
          <p:nvPr/>
        </p:nvGrpSpPr>
        <p:grpSpPr>
          <a:xfrm>
            <a:off x="2056765" y="3074988"/>
            <a:ext cx="381000" cy="381000"/>
            <a:chOff x="2078" y="1680"/>
            <a:chExt cx="1615" cy="1615"/>
          </a:xfrm>
        </p:grpSpPr>
        <p:sp>
          <p:nvSpPr>
            <p:cNvPr id="2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2133600" y="3913188"/>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5" name="Group 74"/>
          <p:cNvGrpSpPr/>
          <p:nvPr/>
        </p:nvGrpSpPr>
        <p:grpSpPr>
          <a:xfrm>
            <a:off x="1905635" y="4826953"/>
            <a:ext cx="381000" cy="381000"/>
            <a:chOff x="2078" y="1680"/>
            <a:chExt cx="1615" cy="1615"/>
          </a:xfrm>
        </p:grpSpPr>
        <p:sp>
          <p:nvSpPr>
            <p:cNvPr id="34" name="Oval 75"/>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5" name="Oval 76"/>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6" name="Oval 77"/>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7" name="Oval 78"/>
            <p:cNvSpPr>
              <a:spLocks noChangeArrowheads="1"/>
            </p:cNvSpPr>
            <p:nvPr/>
          </p:nvSpPr>
          <p:spPr bwMode="gray">
            <a:xfrm>
              <a:off x="2253" y="1855"/>
              <a:ext cx="1265" cy="1265"/>
            </a:xfrm>
            <a:prstGeom prst="ellipse">
              <a:avLst/>
            </a:prstGeom>
            <a:gradFill rotWithShape="1">
              <a:gsLst>
                <a:gs pos="0">
                  <a:srgbClr val="8D67E1">
                    <a:gamma/>
                    <a:shade val="0"/>
                    <a:invGamma/>
                  </a:srgbClr>
                </a:gs>
                <a:gs pos="100000">
                  <a:srgbClr val="8D67E1"/>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8" name="Oval 79"/>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9" name="Oval 80"/>
            <p:cNvSpPr>
              <a:spLocks noChangeArrowheads="1"/>
            </p:cNvSpPr>
            <p:nvPr/>
          </p:nvSpPr>
          <p:spPr bwMode="gray">
            <a:xfrm>
              <a:off x="2334" y="1936"/>
              <a:ext cx="1097" cy="1104"/>
            </a:xfrm>
            <a:prstGeom prst="ellipse">
              <a:avLst/>
            </a:prstGeom>
            <a:gradFill rotWithShape="1">
              <a:gsLst>
                <a:gs pos="0">
                  <a:srgbClr val="8D67E1"/>
                </a:gs>
                <a:gs pos="100000">
                  <a:srgbClr val="8D67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638772" y="152486"/>
            <a:ext cx="3371501"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a:t>
            </a:r>
            <a:r>
              <a:rPr kumimoji="0" lang="en-US" altLang="zh-CN" sz="2000" b="1" dirty="0">
                <a:solidFill>
                  <a:srgbClr val="000000"/>
                </a:solidFill>
                <a:latin typeface="+mn-lt"/>
                <a:ea typeface="黑体" panose="02010609060101010101" pitchFamily="49" charset="-122"/>
                <a:cs typeface="+mn-cs"/>
              </a:rPr>
              <a:t>Polar</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）码起源</a:t>
            </a:r>
            <a:endParaRPr lang="zh-CN" altLang="en-US" sz="2400" dirty="0">
              <a:sym typeface="+mn-ea"/>
            </a:endParaRPr>
          </a:p>
        </p:txBody>
      </p:sp>
      <p:sp>
        <p:nvSpPr>
          <p:cNvPr id="20" name="文本框 19"/>
          <p:cNvSpPr txBox="1"/>
          <p:nvPr/>
        </p:nvSpPr>
        <p:spPr>
          <a:xfrm>
            <a:off x="296684" y="1196440"/>
            <a:ext cx="8877698" cy="1866858"/>
          </a:xfrm>
          <a:prstGeom prst="rect">
            <a:avLst/>
          </a:prstGeom>
          <a:noFill/>
        </p:spPr>
        <p:txBody>
          <a:bodyPr wrap="square">
            <a:spAutoFit/>
          </a:bodyPr>
          <a:lstStyle/>
          <a:p>
            <a:pPr marL="0" marR="0" lvl="0" indent="0" algn="l" defTabSz="914400" eaLnBrk="0" fontAlgn="base" latinLnBrk="0" hangingPunct="0">
              <a:lnSpc>
                <a:spcPct val="15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极化码（</a:t>
            </a:r>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Polar Code</a:t>
            </a:r>
            <a:r>
              <a:rPr lang="zh-CN" altLang="en-US" sz="2000" dirty="0">
                <a:solidFill>
                  <a:srgbClr val="000000"/>
                </a:solidFill>
                <a:latin typeface="黑体" panose="02010609060101010101" pitchFamily="49" charset="-122"/>
                <a:ea typeface="黑体" panose="02010609060101010101" pitchFamily="49" charset="-122"/>
                <a:cs typeface="+mn-cs"/>
              </a:rPr>
              <a:t>）</a:t>
            </a:r>
            <a:r>
              <a:rPr kumimoji="0" lang="zh-CN" altLang="en-US" sz="20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是由土耳其 </a:t>
            </a:r>
            <a:r>
              <a:rPr lang="en-US" altLang="zh-CN" sz="2000" dirty="0" err="1">
                <a:solidFill>
                  <a:srgbClr val="000000"/>
                </a:solidFill>
                <a:latin typeface="+mn-lt"/>
                <a:ea typeface="黑体" panose="02010609060101010101" pitchFamily="49" charset="-122"/>
                <a:cs typeface="+mn-cs"/>
              </a:rPr>
              <a:t>Bilkent</a:t>
            </a:r>
            <a:r>
              <a:rPr kumimoji="0" lang="en-US" altLang="zh-CN" sz="20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a:t>
            </a:r>
            <a:r>
              <a:rPr kumimoji="0" lang="zh-CN" altLang="en-US" sz="20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大学的 </a:t>
            </a:r>
            <a:r>
              <a:rPr lang="en-US" altLang="zh-CN" sz="2000" dirty="0" err="1">
                <a:solidFill>
                  <a:srgbClr val="000000"/>
                </a:solidFill>
                <a:latin typeface="+mn-lt"/>
                <a:ea typeface="黑体" panose="02010609060101010101" pitchFamily="49" charset="-122"/>
                <a:cs typeface="+mn-cs"/>
              </a:rPr>
              <a:t>Erdal</a:t>
            </a:r>
            <a:r>
              <a:rPr lang="en-US" altLang="zh-CN" sz="2000" dirty="0">
                <a:solidFill>
                  <a:srgbClr val="000000"/>
                </a:solidFill>
                <a:latin typeface="+mn-lt"/>
                <a:ea typeface="黑体" panose="02010609060101010101" pitchFamily="49" charset="-122"/>
                <a:cs typeface="+mn-cs"/>
              </a:rPr>
              <a:t> </a:t>
            </a:r>
            <a:r>
              <a:rPr lang="en-US" altLang="zh-CN" sz="2000" dirty="0" err="1">
                <a:solidFill>
                  <a:srgbClr val="000000"/>
                </a:solidFill>
                <a:latin typeface="+mn-lt"/>
                <a:ea typeface="黑体" panose="02010609060101010101" pitchFamily="49" charset="-122"/>
                <a:cs typeface="+mn-cs"/>
              </a:rPr>
              <a:t>Arikan</a:t>
            </a:r>
            <a:r>
              <a:rPr lang="en-US" altLang="zh-CN" sz="2000" dirty="0">
                <a:solidFill>
                  <a:srgbClr val="000000"/>
                </a:solidFill>
                <a:latin typeface="+mn-lt"/>
                <a:ea typeface="黑体" panose="02010609060101010101" pitchFamily="49" charset="-122"/>
                <a:cs typeface="+mn-cs"/>
              </a:rPr>
              <a:t> </a:t>
            </a:r>
            <a:r>
              <a:rPr kumimoji="0" lang="zh-CN" altLang="en-US" sz="20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教授于</a:t>
            </a:r>
            <a:r>
              <a:rPr lang="en-US" altLang="zh-CN" sz="2000" dirty="0">
                <a:solidFill>
                  <a:srgbClr val="000000"/>
                </a:solidFill>
                <a:latin typeface="+mn-lt"/>
                <a:ea typeface="黑体" panose="02010609060101010101" pitchFamily="49" charset="-122"/>
                <a:cs typeface="+mn-cs"/>
              </a:rPr>
              <a:t>2008</a:t>
            </a:r>
            <a:r>
              <a:rPr kumimoji="0" lang="zh-CN" altLang="en-US" sz="20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年发明的一种信道编码方法。</a:t>
            </a:r>
            <a:r>
              <a:rPr lang="en-US" altLang="zh-CN" sz="2000" dirty="0">
                <a:solidFill>
                  <a:srgbClr val="000000"/>
                </a:solidFill>
                <a:latin typeface="+mn-lt"/>
                <a:ea typeface="黑体" panose="02010609060101010101" pitchFamily="49" charset="-122"/>
                <a:cs typeface="+mn-cs"/>
              </a:rPr>
              <a:t>Polar</a:t>
            </a:r>
            <a:r>
              <a:rPr kumimoji="0" lang="zh-CN" altLang="en-US" sz="20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码是目前唯一的一种能够达到香农极限（</a:t>
            </a:r>
            <a:r>
              <a:rPr lang="en-US" altLang="zh-CN" sz="2000" dirty="0">
                <a:solidFill>
                  <a:srgbClr val="000000"/>
                </a:solidFill>
                <a:latin typeface="+mn-lt"/>
                <a:ea typeface="黑体" panose="02010609060101010101" pitchFamily="49" charset="-122"/>
                <a:cs typeface="+mn-cs"/>
              </a:rPr>
              <a:t>Shannon Limit</a:t>
            </a:r>
            <a:r>
              <a:rPr kumimoji="0" lang="zh-CN" altLang="en-US" sz="20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）的编码方法，而比较其他编码方法只是接近香农极限。也是目前</a:t>
            </a:r>
            <a:r>
              <a:rPr lang="zh-CN" altLang="en-US" sz="2000" dirty="0">
                <a:solidFill>
                  <a:srgbClr val="000000"/>
                </a:solidFill>
                <a:latin typeface="黑体" panose="02010609060101010101" pitchFamily="49" charset="-122"/>
                <a:ea typeface="黑体" panose="02010609060101010101" pitchFamily="49" charset="-122"/>
                <a:cs typeface="+mn-cs"/>
              </a:rPr>
              <a:t>国际移动通信标准化组织认定的</a:t>
            </a:r>
            <a:r>
              <a:rPr lang="en-US" altLang="zh-CN" sz="2000" dirty="0">
                <a:solidFill>
                  <a:srgbClr val="FF0000"/>
                </a:solidFill>
                <a:latin typeface="+mn-lt"/>
                <a:ea typeface="黑体" panose="02010609060101010101" pitchFamily="49" charset="-122"/>
                <a:cs typeface="+mn-cs"/>
              </a:rPr>
              <a:t>5G</a:t>
            </a:r>
            <a:r>
              <a:rPr lang="zh-CN" altLang="en-US" sz="2000" dirty="0">
                <a:solidFill>
                  <a:srgbClr val="FF0000"/>
                </a:solidFill>
                <a:latin typeface="黑体" panose="02010609060101010101" pitchFamily="49" charset="-122"/>
                <a:ea typeface="黑体" panose="02010609060101010101" pitchFamily="49" charset="-122"/>
                <a:cs typeface="+mn-cs"/>
              </a:rPr>
              <a:t>场景</a:t>
            </a:r>
            <a:r>
              <a:rPr lang="zh-CN" altLang="en-US" sz="2000" dirty="0">
                <a:solidFill>
                  <a:srgbClr val="000000"/>
                </a:solidFill>
                <a:latin typeface="黑体" panose="02010609060101010101" pitchFamily="49" charset="-122"/>
                <a:ea typeface="黑体" panose="02010609060101010101" pitchFamily="49" charset="-122"/>
                <a:cs typeface="+mn-cs"/>
              </a:rPr>
              <a:t>控制信道的编码方案。</a:t>
            </a:r>
            <a:endParaRPr lang="zh-CN" altLang="en-US" sz="2000" dirty="0">
              <a:solidFill>
                <a:srgbClr val="000000"/>
              </a:solidFill>
              <a:latin typeface="黑体" panose="02010609060101010101" pitchFamily="49" charset="-122"/>
              <a:ea typeface="黑体" panose="02010609060101010101" pitchFamily="49" charset="-122"/>
              <a:cs typeface="+mn-cs"/>
            </a:endParaRPr>
          </a:p>
        </p:txBody>
      </p:sp>
      <p:pic>
        <p:nvPicPr>
          <p:cNvPr id="5" name="图片 4"/>
          <p:cNvPicPr>
            <a:picLocks noChangeAspect="1"/>
          </p:cNvPicPr>
          <p:nvPr/>
        </p:nvPicPr>
        <p:blipFill>
          <a:blip r:embed="rId1"/>
          <a:stretch>
            <a:fillRect/>
          </a:stretch>
        </p:blipFill>
        <p:spPr>
          <a:xfrm>
            <a:off x="1788152" y="3398564"/>
            <a:ext cx="5567696" cy="315916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902" y="1295456"/>
            <a:ext cx="8112125" cy="4419484"/>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150000"/>
              </a:lnSpc>
              <a:spcBef>
                <a:spcPts val="0"/>
              </a:spcBef>
              <a:spcAft>
                <a:spcPts val="0"/>
              </a:spcAft>
              <a:buNone/>
            </a:pPr>
            <a:r>
              <a:rPr lang="zh-CN" altLang="en-US" sz="2400" dirty="0">
                <a:solidFill>
                  <a:srgbClr val="000000"/>
                </a:solidFill>
                <a:latin typeface="黑体" panose="02010609060101010101" pitchFamily="49" charset="-122"/>
                <a:ea typeface="黑体" panose="02010609060101010101" pitchFamily="49" charset="-122"/>
              </a:rPr>
              <a:t>极化码优点：</a:t>
            </a:r>
            <a:endParaRPr lang="en-US" altLang="zh-CN" sz="2400" dirty="0">
              <a:solidFill>
                <a:srgbClr val="000000"/>
              </a:solidFill>
              <a:latin typeface="黑体" panose="02010609060101010101" pitchFamily="49" charset="-122"/>
              <a:ea typeface="黑体" panose="02010609060101010101" pitchFamily="49" charset="-122"/>
            </a:endParaRPr>
          </a:p>
          <a:p>
            <a:pPr marL="0" indent="0">
              <a:lnSpc>
                <a:spcPct val="200000"/>
              </a:lnSpc>
              <a:spcBef>
                <a:spcPts val="0"/>
              </a:spcBef>
              <a:spcAft>
                <a:spcPts val="0"/>
              </a:spcAft>
              <a:buNone/>
            </a:pPr>
            <a:r>
              <a:rPr lang="en-US" altLang="zh-CN" sz="2000" dirty="0">
                <a:solidFill>
                  <a:srgbClr val="000000"/>
                </a:solidFill>
                <a:latin typeface="黑体" panose="02010609060101010101" pitchFamily="49" charset="-122"/>
                <a:ea typeface="黑体" panose="02010609060101010101" pitchFamily="49" charset="-122"/>
              </a:rPr>
              <a:t>1</a:t>
            </a:r>
            <a:r>
              <a:rPr lang="zh-CN" altLang="en-US" sz="2000" dirty="0">
                <a:solidFill>
                  <a:srgbClr val="000000"/>
                </a:solidFill>
                <a:latin typeface="黑体" panose="02010609060101010101" pitchFamily="49" charset="-122"/>
                <a:ea typeface="黑体" panose="02010609060101010101" pitchFamily="49" charset="-122"/>
              </a:rPr>
              <a:t>、是目前唯一的香农信道容量可达的编码方式</a:t>
            </a:r>
            <a:endParaRPr lang="en-US" altLang="zh-CN" sz="2000" dirty="0">
              <a:solidFill>
                <a:srgbClr val="000000"/>
              </a:solidFill>
              <a:latin typeface="黑体" panose="02010609060101010101" pitchFamily="49" charset="-122"/>
              <a:ea typeface="黑体" panose="02010609060101010101" pitchFamily="49" charset="-122"/>
            </a:endParaRPr>
          </a:p>
          <a:p>
            <a:pPr marL="0" indent="0">
              <a:lnSpc>
                <a:spcPct val="200000"/>
              </a:lnSpc>
              <a:spcBef>
                <a:spcPts val="0"/>
              </a:spcBef>
              <a:spcAft>
                <a:spcPts val="0"/>
              </a:spcAft>
              <a:buNone/>
            </a:pPr>
            <a:r>
              <a:rPr lang="en-US" altLang="zh-CN" sz="2000" dirty="0">
                <a:solidFill>
                  <a:srgbClr val="000000"/>
                </a:solidFill>
                <a:latin typeface="黑体" panose="02010609060101010101" pitchFamily="49" charset="-122"/>
                <a:ea typeface="黑体" panose="02010609060101010101" pitchFamily="49" charset="-122"/>
              </a:rPr>
              <a:t>2</a:t>
            </a:r>
            <a:r>
              <a:rPr lang="zh-CN" altLang="en-US" sz="2000" dirty="0">
                <a:solidFill>
                  <a:srgbClr val="000000"/>
                </a:solidFill>
                <a:latin typeface="黑体" panose="02010609060101010101" pitchFamily="49" charset="-122"/>
                <a:ea typeface="黑体" panose="02010609060101010101" pitchFamily="49" charset="-122"/>
              </a:rPr>
              <a:t>、有坚实的理论基础</a:t>
            </a:r>
            <a:endParaRPr lang="en-US" altLang="zh-CN" sz="2000" dirty="0">
              <a:solidFill>
                <a:srgbClr val="000000"/>
              </a:solidFill>
              <a:latin typeface="黑体" panose="02010609060101010101" pitchFamily="49" charset="-122"/>
              <a:ea typeface="黑体" panose="02010609060101010101" pitchFamily="49" charset="-122"/>
            </a:endParaRPr>
          </a:p>
          <a:p>
            <a:pPr marL="0" indent="0">
              <a:lnSpc>
                <a:spcPct val="200000"/>
              </a:lnSpc>
              <a:spcBef>
                <a:spcPts val="0"/>
              </a:spcBef>
              <a:spcAft>
                <a:spcPts val="0"/>
              </a:spcAft>
              <a:buNone/>
            </a:pPr>
            <a:r>
              <a:rPr lang="en-US" altLang="zh-CN" sz="2000" dirty="0">
                <a:solidFill>
                  <a:srgbClr val="000000"/>
                </a:solidFill>
                <a:latin typeface="黑体" panose="02010609060101010101" pitchFamily="49" charset="-122"/>
                <a:ea typeface="黑体" panose="02010609060101010101" pitchFamily="49" charset="-122"/>
              </a:rPr>
              <a:t>3</a:t>
            </a:r>
            <a:r>
              <a:rPr lang="zh-CN" altLang="en-US" sz="2000" dirty="0">
                <a:solidFill>
                  <a:srgbClr val="000000"/>
                </a:solidFill>
                <a:latin typeface="黑体" panose="02010609060101010101" pitchFamily="49" charset="-122"/>
                <a:ea typeface="黑体" panose="02010609060101010101" pitchFamily="49" charset="-122"/>
              </a:rPr>
              <a:t>、编解码复杂度低</a:t>
            </a:r>
            <a:endParaRPr lang="en-US" altLang="zh-CN" sz="2000" dirty="0">
              <a:solidFill>
                <a:srgbClr val="000000"/>
              </a:solidFill>
              <a:latin typeface="黑体" panose="02010609060101010101" pitchFamily="49" charset="-122"/>
              <a:ea typeface="黑体" panose="02010609060101010101" pitchFamily="49" charset="-122"/>
            </a:endParaRPr>
          </a:p>
          <a:p>
            <a:pPr marL="0" indent="0">
              <a:lnSpc>
                <a:spcPct val="200000"/>
              </a:lnSpc>
              <a:spcBef>
                <a:spcPts val="0"/>
              </a:spcBef>
              <a:spcAft>
                <a:spcPts val="0"/>
              </a:spcAft>
              <a:buNone/>
            </a:pPr>
            <a:r>
              <a:rPr lang="en-US" altLang="zh-CN" sz="2000" dirty="0">
                <a:solidFill>
                  <a:srgbClr val="000000"/>
                </a:solidFill>
                <a:latin typeface="黑体" panose="02010609060101010101" pitchFamily="49" charset="-122"/>
                <a:ea typeface="黑体" panose="02010609060101010101" pitchFamily="49" charset="-122"/>
              </a:rPr>
              <a:t>4</a:t>
            </a:r>
            <a:r>
              <a:rPr lang="zh-CN" altLang="en-US" sz="2000" dirty="0">
                <a:solidFill>
                  <a:srgbClr val="000000"/>
                </a:solidFill>
                <a:latin typeface="黑体" panose="02010609060101010101" pitchFamily="49" charset="-122"/>
                <a:ea typeface="黑体" panose="02010609060101010101" pitchFamily="49" charset="-122"/>
              </a:rPr>
              <a:t>、精细的码率调整机制（信息块长度可以一比特一比特的递减）</a:t>
            </a:r>
            <a:endParaRPr lang="en-US" altLang="zh-CN" sz="2000" dirty="0">
              <a:solidFill>
                <a:srgbClr val="000000"/>
              </a:solidFill>
              <a:latin typeface="黑体" panose="02010609060101010101" pitchFamily="49" charset="-122"/>
              <a:ea typeface="黑体" panose="02010609060101010101" pitchFamily="49" charset="-122"/>
            </a:endParaRPr>
          </a:p>
          <a:p>
            <a:pPr marL="0" indent="0">
              <a:lnSpc>
                <a:spcPct val="200000"/>
              </a:lnSpc>
              <a:spcBef>
                <a:spcPts val="0"/>
              </a:spcBef>
              <a:spcAft>
                <a:spcPts val="0"/>
              </a:spcAft>
              <a:buNone/>
            </a:pPr>
            <a:r>
              <a:rPr lang="en-US" altLang="zh-CN" sz="2000" dirty="0">
                <a:solidFill>
                  <a:srgbClr val="000000"/>
                </a:solidFill>
                <a:latin typeface="黑体" panose="02010609060101010101" pitchFamily="49" charset="-122"/>
                <a:ea typeface="黑体" panose="02010609060101010101" pitchFamily="49" charset="-122"/>
              </a:rPr>
              <a:t>5</a:t>
            </a:r>
            <a:r>
              <a:rPr lang="zh-CN" altLang="en-US" sz="2000" dirty="0">
                <a:solidFill>
                  <a:srgbClr val="000000"/>
                </a:solidFill>
                <a:latin typeface="黑体" panose="02010609060101010101" pitchFamily="49" charset="-122"/>
                <a:ea typeface="黑体" panose="02010609060101010101" pitchFamily="49" charset="-122"/>
              </a:rPr>
              <a:t>、极化码的递归特性易于通过硬件实现（母码长度为</a:t>
            </a:r>
            <a:r>
              <a:rPr lang="en-US" altLang="zh-CN" sz="2000" dirty="0">
                <a:solidFill>
                  <a:srgbClr val="000000"/>
                </a:solidFill>
                <a:ea typeface="黑体" panose="02010609060101010101" pitchFamily="49" charset="-122"/>
              </a:rPr>
              <a:t>N</a:t>
            </a:r>
            <a:r>
              <a:rPr lang="zh-CN" altLang="en-US" sz="2000" dirty="0">
                <a:solidFill>
                  <a:srgbClr val="000000"/>
                </a:solidFill>
                <a:latin typeface="黑体" panose="02010609060101010101" pitchFamily="49" charset="-122"/>
                <a:ea typeface="黑体" panose="02010609060101010101" pitchFamily="49" charset="-122"/>
              </a:rPr>
              <a:t>的</a:t>
            </a:r>
            <a:r>
              <a:rPr lang="en-US" altLang="zh-CN" sz="2000" dirty="0">
                <a:solidFill>
                  <a:srgbClr val="000000"/>
                </a:solidFill>
                <a:ea typeface="黑体" panose="02010609060101010101" pitchFamily="49" charset="-122"/>
              </a:rPr>
              <a:t>Polar</a:t>
            </a:r>
            <a:r>
              <a:rPr lang="zh-CN" altLang="en-US" sz="2000" dirty="0">
                <a:solidFill>
                  <a:srgbClr val="000000"/>
                </a:solidFill>
                <a:latin typeface="黑体" panose="02010609060101010101" pitchFamily="49" charset="-122"/>
                <a:ea typeface="黑体" panose="02010609060101010101" pitchFamily="49" charset="-122"/>
              </a:rPr>
              <a:t>码可以用两个母码长度为</a:t>
            </a:r>
            <a:r>
              <a:rPr lang="en-US" altLang="zh-CN" sz="2000" dirty="0">
                <a:solidFill>
                  <a:srgbClr val="000000"/>
                </a:solidFill>
                <a:ea typeface="黑体" panose="02010609060101010101" pitchFamily="49" charset="-122"/>
              </a:rPr>
              <a:t>N/2</a:t>
            </a:r>
            <a:r>
              <a:rPr lang="zh-CN" altLang="en-US" sz="2000" dirty="0">
                <a:solidFill>
                  <a:srgbClr val="000000"/>
                </a:solidFill>
                <a:latin typeface="黑体" panose="02010609060101010101" pitchFamily="49" charset="-122"/>
                <a:ea typeface="黑体" panose="02010609060101010101" pitchFamily="49" charset="-122"/>
              </a:rPr>
              <a:t>的</a:t>
            </a:r>
            <a:r>
              <a:rPr lang="en-US" altLang="zh-CN" sz="2000" dirty="0">
                <a:solidFill>
                  <a:srgbClr val="000000"/>
                </a:solidFill>
                <a:ea typeface="黑体" panose="02010609060101010101" pitchFamily="49" charset="-122"/>
              </a:rPr>
              <a:t>Polar</a:t>
            </a:r>
            <a:r>
              <a:rPr lang="zh-CN" altLang="en-US" sz="2000" dirty="0">
                <a:solidFill>
                  <a:srgbClr val="000000"/>
                </a:solidFill>
                <a:latin typeface="黑体" panose="02010609060101010101" pitchFamily="49" charset="-122"/>
                <a:ea typeface="黑体" panose="02010609060101010101" pitchFamily="49" charset="-122"/>
              </a:rPr>
              <a:t>码实现）</a:t>
            </a:r>
            <a:endParaRPr lang="en-US" altLang="zh-CN" sz="2000" dirty="0">
              <a:solidFill>
                <a:srgbClr val="000000"/>
              </a:solidFill>
              <a:latin typeface="黑体" panose="02010609060101010101" pitchFamily="49" charset="-122"/>
              <a:ea typeface="黑体" panose="02010609060101010101" pitchFamily="49" charset="-122"/>
            </a:endParaRPr>
          </a:p>
          <a:p>
            <a:pPr marL="0" indent="0">
              <a:lnSpc>
                <a:spcPct val="150000"/>
              </a:lnSpc>
              <a:spcBef>
                <a:spcPts val="0"/>
              </a:spcBef>
              <a:spcAft>
                <a:spcPts val="0"/>
              </a:spcAft>
              <a:buNone/>
            </a:pPr>
            <a:endParaRPr lang="zh-CN" altLang="en-US" sz="2000" dirty="0">
              <a:solidFill>
                <a:srgbClr val="000000"/>
              </a:solidFill>
              <a:latin typeface="黑体" panose="02010609060101010101" pitchFamily="49" charset="-122"/>
              <a:ea typeface="黑体" panose="02010609060101010101" pitchFamily="49" charset="-122"/>
            </a:endParaRPr>
          </a:p>
        </p:txBody>
      </p:sp>
      <p:sp>
        <p:nvSpPr>
          <p:cNvPr id="4" name="标题 1"/>
          <p:cNvSpPr>
            <a:spLocks noGrp="1"/>
          </p:cNvSpPr>
          <p:nvPr>
            <p:ph type="title"/>
          </p:nvPr>
        </p:nvSpPr>
        <p:spPr>
          <a:xfrm>
            <a:off x="6934138" y="76200"/>
            <a:ext cx="2057346" cy="685800"/>
          </a:xfrm>
        </p:spPr>
        <p: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极化码优缺点</a:t>
            </a:r>
            <a:endPar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934138" y="76200"/>
            <a:ext cx="2057346" cy="685800"/>
          </a:xfrm>
        </p:spPr>
        <p: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极化码优缺点</a:t>
            </a:r>
            <a:endPar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内容占位符 2"/>
          <p:cNvSpPr txBox="1"/>
          <p:nvPr/>
        </p:nvSpPr>
        <p:spPr>
          <a:xfrm>
            <a:off x="609704" y="2019337"/>
            <a:ext cx="8112125" cy="2819326"/>
          </a:xfrm>
          <a:prstGeom prst="rect">
            <a:avLst/>
          </a:prstGeom>
          <a:noFill/>
          <a:ln>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rgbClr val="000066"/>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rgbClr val="336699"/>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rgbClr val="000066"/>
                </a:solidFill>
                <a:latin typeface="+mn-lt"/>
                <a:ea typeface="+mn-ea"/>
                <a:cs typeface="+mn-cs"/>
              </a:defRPr>
            </a:lvl4pPr>
            <a:lvl5pPr marL="2057400" indent="-228600" algn="l" rtl="0" eaLnBrk="0" fontAlgn="base" hangingPunct="0">
              <a:spcBef>
                <a:spcPct val="20000"/>
              </a:spcBef>
              <a:spcAft>
                <a:spcPct val="0"/>
              </a:spcAft>
              <a:defRPr kumimoji="1" sz="1400"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spcAft>
                <a:spcPts val="0"/>
              </a:spcAft>
              <a:buFont typeface="Wingdings" panose="05000000000000000000" pitchFamily="2" charset="2"/>
              <a:buNone/>
            </a:pPr>
            <a:r>
              <a:rPr lang="zh-CN" altLang="en-US" sz="2400" dirty="0">
                <a:solidFill>
                  <a:srgbClr val="000000"/>
                </a:solidFill>
                <a:latin typeface="黑体" panose="02010609060101010101" pitchFamily="49" charset="-122"/>
                <a:ea typeface="黑体" panose="02010609060101010101" pitchFamily="49" charset="-122"/>
              </a:rPr>
              <a:t>极化码缺点：</a:t>
            </a:r>
            <a:endParaRPr lang="en-US" altLang="zh-CN" sz="2400" dirty="0">
              <a:solidFill>
                <a:srgbClr val="000000"/>
              </a:solidFill>
              <a:latin typeface="黑体" panose="02010609060101010101" pitchFamily="49" charset="-122"/>
              <a:ea typeface="黑体" panose="02010609060101010101" pitchFamily="49" charset="-122"/>
            </a:endParaRPr>
          </a:p>
          <a:p>
            <a:pPr marL="0" indent="0">
              <a:lnSpc>
                <a:spcPct val="200000"/>
              </a:lnSpc>
              <a:spcBef>
                <a:spcPts val="0"/>
              </a:spcBef>
              <a:spcAft>
                <a:spcPts val="0"/>
              </a:spcAft>
              <a:buFont typeface="Wingdings" panose="05000000000000000000" pitchFamily="2" charset="2"/>
              <a:buNone/>
            </a:pPr>
            <a:r>
              <a:rPr lang="en-US" altLang="zh-CN" sz="2000" dirty="0">
                <a:solidFill>
                  <a:srgbClr val="000000"/>
                </a:solidFill>
                <a:latin typeface="黑体" panose="02010609060101010101" pitchFamily="49" charset="-122"/>
                <a:ea typeface="黑体" panose="02010609060101010101" pitchFamily="49" charset="-122"/>
              </a:rPr>
              <a:t>1</a:t>
            </a:r>
            <a:r>
              <a:rPr lang="zh-CN" altLang="en-US" sz="2000" dirty="0">
                <a:solidFill>
                  <a:srgbClr val="000000"/>
                </a:solidFill>
                <a:latin typeface="黑体" panose="02010609060101010101" pitchFamily="49" charset="-122"/>
                <a:ea typeface="黑体" panose="02010609060101010101" pitchFamily="49" charset="-122"/>
              </a:rPr>
              <a:t>、汉明距离较小，在短码情况下影响解码性能，一定程度上可以通过选择合适的冻结比特位置进行规避。适合长码编码。</a:t>
            </a:r>
            <a:endParaRPr lang="en-US" altLang="zh-CN" sz="2000" dirty="0">
              <a:solidFill>
                <a:srgbClr val="000000"/>
              </a:solidFill>
              <a:latin typeface="黑体" panose="02010609060101010101" pitchFamily="49" charset="-122"/>
              <a:ea typeface="黑体" panose="02010609060101010101" pitchFamily="49" charset="-122"/>
            </a:endParaRPr>
          </a:p>
          <a:p>
            <a:pPr marL="0" indent="0">
              <a:lnSpc>
                <a:spcPct val="200000"/>
              </a:lnSpc>
              <a:spcBef>
                <a:spcPts val="0"/>
              </a:spcBef>
              <a:spcAft>
                <a:spcPts val="0"/>
              </a:spcAft>
              <a:buFont typeface="Wingdings" panose="05000000000000000000" pitchFamily="2" charset="2"/>
              <a:buNone/>
            </a:pPr>
            <a:r>
              <a:rPr lang="en-US" altLang="zh-CN" sz="2000" dirty="0">
                <a:solidFill>
                  <a:srgbClr val="000000"/>
                </a:solidFill>
                <a:latin typeface="黑体" panose="02010609060101010101" pitchFamily="49" charset="-122"/>
                <a:ea typeface="黑体" panose="02010609060101010101" pitchFamily="49" charset="-122"/>
              </a:rPr>
              <a:t>2</a:t>
            </a:r>
            <a:r>
              <a:rPr lang="zh-CN" altLang="en-US" sz="2000" dirty="0">
                <a:solidFill>
                  <a:srgbClr val="000000"/>
                </a:solidFill>
                <a:latin typeface="黑体" panose="02010609060101010101" pitchFamily="49" charset="-122"/>
                <a:ea typeface="黑体" panose="02010609060101010101" pitchFamily="49" charset="-122"/>
              </a:rPr>
              <a:t>、</a:t>
            </a:r>
            <a:r>
              <a:rPr lang="en-US" altLang="zh-CN" sz="2000" dirty="0">
                <a:solidFill>
                  <a:srgbClr val="000000"/>
                </a:solidFill>
                <a:ea typeface="黑体" panose="02010609060101010101" pitchFamily="49" charset="-122"/>
              </a:rPr>
              <a:t>SC</a:t>
            </a:r>
            <a:r>
              <a:rPr lang="zh-CN" altLang="en-US" sz="2000" dirty="0">
                <a:solidFill>
                  <a:srgbClr val="000000"/>
                </a:solidFill>
                <a:latin typeface="黑体" panose="02010609060101010101" pitchFamily="49" charset="-122"/>
                <a:ea typeface="黑体" panose="02010609060101010101" pitchFamily="49" charset="-122"/>
              </a:rPr>
              <a:t>译码延时较大。</a:t>
            </a:r>
            <a:endParaRPr lang="zh-CN" altLang="en-US" sz="2000" dirty="0">
              <a:solidFill>
                <a:srgbClr val="000000"/>
              </a:solidFill>
              <a:latin typeface="黑体" panose="02010609060101010101" pitchFamily="49" charset="-122"/>
              <a:ea typeface="黑体"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077108" y="152486"/>
            <a:ext cx="914376" cy="685800"/>
          </a:xfrm>
        </p:spPr>
        <p: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思考</a:t>
            </a:r>
            <a:endPar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内容占位符 2"/>
          <p:cNvSpPr txBox="1"/>
          <p:nvPr/>
        </p:nvSpPr>
        <p:spPr>
          <a:xfrm>
            <a:off x="1219288" y="1287898"/>
            <a:ext cx="7197623" cy="1828752"/>
          </a:xfrm>
          <a:prstGeom prst="rect">
            <a:avLst/>
          </a:prstGeom>
          <a:noFill/>
          <a:ln>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rgbClr val="000066"/>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rgbClr val="336699"/>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rgbClr val="000066"/>
                </a:solidFill>
                <a:latin typeface="+mn-lt"/>
                <a:ea typeface="+mn-ea"/>
                <a:cs typeface="+mn-cs"/>
              </a:defRPr>
            </a:lvl4pPr>
            <a:lvl5pPr marL="2057400" indent="-228600" algn="l" rtl="0" eaLnBrk="0" fontAlgn="base" hangingPunct="0">
              <a:spcBef>
                <a:spcPct val="20000"/>
              </a:spcBef>
              <a:spcAft>
                <a:spcPct val="0"/>
              </a:spcAft>
              <a:defRPr kumimoji="1" sz="1400"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spcAft>
                <a:spcPts val="0"/>
              </a:spcAft>
              <a:buFont typeface="Wingdings" panose="05000000000000000000" pitchFamily="2" charset="2"/>
              <a:buNone/>
            </a:pPr>
            <a:r>
              <a:rPr lang="zh-CN" altLang="en-US" dirty="0">
                <a:solidFill>
                  <a:srgbClr val="FF0000"/>
                </a:solidFill>
                <a:latin typeface="黑体" panose="02010609060101010101" pitchFamily="49" charset="-122"/>
                <a:ea typeface="黑体" panose="02010609060101010101" pitchFamily="49" charset="-122"/>
              </a:rPr>
              <a:t>根据极化码的优缺点思考？</a:t>
            </a:r>
            <a:endParaRPr lang="en-US" altLang="zh-CN" dirty="0">
              <a:solidFill>
                <a:srgbClr val="FF0000"/>
              </a:solidFill>
              <a:latin typeface="黑体" panose="02010609060101010101" pitchFamily="49" charset="-122"/>
              <a:ea typeface="黑体" panose="02010609060101010101" pitchFamily="49" charset="-122"/>
            </a:endParaRPr>
          </a:p>
          <a:p>
            <a:pPr marL="0" indent="0">
              <a:lnSpc>
                <a:spcPct val="150000"/>
              </a:lnSpc>
              <a:spcBef>
                <a:spcPts val="0"/>
              </a:spcBef>
              <a:spcAft>
                <a:spcPts val="0"/>
              </a:spcAft>
              <a:buNone/>
            </a:pPr>
            <a:endParaRPr lang="en-US" altLang="zh-CN" sz="2000" dirty="0">
              <a:solidFill>
                <a:srgbClr val="000000"/>
              </a:solidFill>
              <a:latin typeface="黑体" panose="02010609060101010101" pitchFamily="49" charset="-122"/>
              <a:ea typeface="黑体" panose="02010609060101010101" pitchFamily="49" charset="-122"/>
            </a:endParaRPr>
          </a:p>
          <a:p>
            <a:pPr>
              <a:lnSpc>
                <a:spcPct val="150000"/>
              </a:lnSpc>
              <a:spcBef>
                <a:spcPts val="0"/>
              </a:spcBef>
              <a:spcAft>
                <a:spcPts val="0"/>
              </a:spcAft>
            </a:pPr>
            <a:r>
              <a:rPr lang="zh-CN" altLang="en-US" sz="2000" dirty="0">
                <a:solidFill>
                  <a:srgbClr val="000000"/>
                </a:solidFill>
                <a:latin typeface="黑体" panose="02010609060101010101" pitchFamily="49" charset="-122"/>
                <a:ea typeface="黑体" panose="02010609060101010101" pitchFamily="49" charset="-122"/>
              </a:rPr>
              <a:t>为什么目前我国</a:t>
            </a:r>
            <a:r>
              <a:rPr lang="en-US" altLang="zh-CN" sz="2000" dirty="0">
                <a:solidFill>
                  <a:srgbClr val="000000"/>
                </a:solidFill>
                <a:ea typeface="黑体" panose="02010609060101010101" pitchFamily="49" charset="-122"/>
              </a:rPr>
              <a:t>5G</a:t>
            </a:r>
            <a:r>
              <a:rPr lang="zh-CN" altLang="en-US" sz="2000" dirty="0">
                <a:solidFill>
                  <a:srgbClr val="000000"/>
                </a:solidFill>
                <a:latin typeface="黑体" panose="02010609060101010101" pitchFamily="49" charset="-122"/>
                <a:ea typeface="黑体" panose="02010609060101010101" pitchFamily="49" charset="-122"/>
              </a:rPr>
              <a:t>基站的信道编码方式选用极化码？</a:t>
            </a:r>
            <a:endParaRPr lang="en-US" altLang="zh-CN" sz="2000" dirty="0">
              <a:solidFill>
                <a:srgbClr val="00000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stretch>
            <a:fillRect/>
          </a:stretch>
        </p:blipFill>
        <p:spPr>
          <a:xfrm>
            <a:off x="3063279" y="3733792"/>
            <a:ext cx="3017442" cy="25145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示 3"/>
          <p:cNvGraphicFramePr/>
          <p:nvPr/>
        </p:nvGraphicFramePr>
        <p:xfrm>
          <a:off x="-228474" y="922148"/>
          <a:ext cx="9349374" cy="281164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6" name="图示 5"/>
          <p:cNvGraphicFramePr/>
          <p:nvPr/>
        </p:nvGraphicFramePr>
        <p:xfrm>
          <a:off x="114417" y="3200406"/>
          <a:ext cx="8953265" cy="304792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7" name="标题 1"/>
          <p:cNvSpPr>
            <a:spLocks noGrp="1"/>
          </p:cNvSpPr>
          <p:nvPr>
            <p:ph type="title"/>
          </p:nvPr>
        </p:nvSpPr>
        <p:spPr>
          <a:xfrm>
            <a:off x="6577013" y="104775"/>
            <a:ext cx="2300287"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国外研究现状</a:t>
            </a:r>
            <a:endParaRPr lang="zh-CN" altLang="en-US" sz="2400" dirty="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019762" y="152486"/>
            <a:ext cx="2933737"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国内研究现状</a:t>
            </a:r>
            <a:endParaRPr lang="zh-CN" altLang="en-US" sz="2400" dirty="0">
              <a:sym typeface="+mn-ea"/>
            </a:endParaRPr>
          </a:p>
        </p:txBody>
      </p:sp>
      <p:sp>
        <p:nvSpPr>
          <p:cNvPr id="5" name="矩形 4"/>
          <p:cNvSpPr/>
          <p:nvPr/>
        </p:nvSpPr>
        <p:spPr>
          <a:xfrm>
            <a:off x="512523" y="2057436"/>
            <a:ext cx="8118953" cy="259073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285750" indent="-285750">
              <a:lnSpc>
                <a:spcPct val="150000"/>
              </a:lnSpc>
              <a:spcBef>
                <a:spcPts val="600"/>
              </a:spcBef>
              <a:spcAft>
                <a:spcPts val="600"/>
              </a:spcAft>
              <a:buFont typeface="Arial" panose="020B0604020202020204" pitchFamily="34" charset="0"/>
              <a:buChar char="•"/>
            </a:pPr>
            <a:r>
              <a:rPr lang="zh-CN" altLang="en-US" dirty="0"/>
              <a:t>在国内，北京邮电大学是最早研究</a:t>
            </a:r>
            <a:r>
              <a:rPr lang="en-US" altLang="zh-CN" dirty="0"/>
              <a:t>Polar</a:t>
            </a:r>
            <a:r>
              <a:rPr lang="zh-CN" altLang="en-US" dirty="0"/>
              <a:t>码的机构之一。牛凯教授的团队研究了</a:t>
            </a:r>
            <a:r>
              <a:rPr lang="en-US" altLang="zh-CN" dirty="0"/>
              <a:t>Polar</a:t>
            </a:r>
            <a:r>
              <a:rPr lang="zh-CN" altLang="en-US" dirty="0"/>
              <a:t>码的编码和解码算法等。</a:t>
            </a:r>
            <a:endParaRPr lang="zh-CN" altLang="en-US" dirty="0"/>
          </a:p>
          <a:p>
            <a:pPr marL="285750" indent="-285750">
              <a:lnSpc>
                <a:spcPct val="150000"/>
              </a:lnSpc>
              <a:spcBef>
                <a:spcPts val="600"/>
              </a:spcBef>
              <a:spcAft>
                <a:spcPts val="600"/>
              </a:spcAft>
              <a:buFont typeface="Arial" panose="020B0604020202020204" pitchFamily="34" charset="0"/>
              <a:buChar char="•"/>
            </a:pPr>
            <a:r>
              <a:rPr lang="zh-CN" altLang="en-US" dirty="0"/>
              <a:t>西安电子科技大学李颖教授的团队研究了</a:t>
            </a:r>
            <a:r>
              <a:rPr lang="en-US" altLang="zh-CN" dirty="0"/>
              <a:t>Polar</a:t>
            </a:r>
            <a:r>
              <a:rPr lang="zh-CN" altLang="en-US" dirty="0"/>
              <a:t>码的高斯近似的码构造方法和解码算法。</a:t>
            </a:r>
            <a:endParaRPr lang="zh-CN" altLang="en-US" dirty="0"/>
          </a:p>
          <a:p>
            <a:pPr marL="285750" indent="-285750">
              <a:lnSpc>
                <a:spcPct val="150000"/>
              </a:lnSpc>
              <a:spcBef>
                <a:spcPts val="600"/>
              </a:spcBef>
              <a:spcAft>
                <a:spcPts val="600"/>
              </a:spcAft>
              <a:buFont typeface="Arial" panose="020B0604020202020204" pitchFamily="34" charset="0"/>
              <a:buChar char="•"/>
            </a:pPr>
            <a:r>
              <a:rPr lang="zh-CN" altLang="en-US" dirty="0"/>
              <a:t>哈尔滨工业大学王学东教授的团队研究了</a:t>
            </a:r>
            <a:r>
              <a:rPr lang="en-US" altLang="zh-CN" dirty="0"/>
              <a:t>Polar </a:t>
            </a:r>
            <a:r>
              <a:rPr lang="zh-CN" altLang="en-US" dirty="0"/>
              <a:t>码的编码与译码算法。</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62574" y="152486"/>
            <a:ext cx="3371501"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a:t>
            </a:r>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起源</a:t>
            </a:r>
            <a:endParaRPr lang="zh-CN" altLang="en-US" sz="2400" dirty="0">
              <a:sym typeface="+mn-ea"/>
            </a:endParaRPr>
          </a:p>
        </p:txBody>
      </p:sp>
      <mc:AlternateContent xmlns:mc="http://schemas.openxmlformats.org/markup-compatibility/2006">
        <mc:Choice xmlns:a14="http://schemas.microsoft.com/office/drawing/2010/main" Requires="a14">
          <p:sp>
            <p:nvSpPr>
              <p:cNvPr id="4" name="矩形 3"/>
              <p:cNvSpPr/>
              <p:nvPr/>
            </p:nvSpPr>
            <p:spPr>
              <a:xfrm>
                <a:off x="419209" y="2514624"/>
                <a:ext cx="8305582" cy="36575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nSpc>
                    <a:spcPct val="150000"/>
                  </a:lnSpc>
                </a:pPr>
                <a:r>
                  <a:rPr lang="zh-CN" altLang="en-US" sz="2000" dirty="0">
                    <a:latin typeface="+mn-ea"/>
                  </a:rPr>
                  <a:t>    </a:t>
                </a:r>
                <a:r>
                  <a:rPr lang="zh-CN" altLang="en-US" sz="2000" dirty="0"/>
                  <a:t>在随机编码和最大似然条件下，信道</a:t>
                </a:r>
                <a:r>
                  <a:rPr lang="zh-CN" altLang="en-US" sz="2000" dirty="0">
                    <a:solidFill>
                      <a:srgbClr val="FF0000"/>
                    </a:solidFill>
                  </a:rPr>
                  <a:t>截止速率</a:t>
                </a:r>
                <a:r>
                  <a:rPr lang="en-US" altLang="zh-CN" sz="2000" dirty="0">
                    <a:solidFill>
                      <a:srgbClr val="FF0000"/>
                    </a:solidFill>
                  </a:rPr>
                  <a:t>R</a:t>
                </a:r>
                <a:r>
                  <a:rPr lang="en-US" altLang="zh-CN" sz="1400" dirty="0">
                    <a:solidFill>
                      <a:srgbClr val="FF0000"/>
                    </a:solidFill>
                  </a:rPr>
                  <a:t>0</a:t>
                </a:r>
                <a:r>
                  <a:rPr lang="zh-CN" altLang="en-US" sz="2000" dirty="0"/>
                  <a:t>决定了相应的码块的错误概率：</a:t>
                </a:r>
                <a:endParaRPr lang="en-US" altLang="zh-CN" sz="2000" dirty="0"/>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2000" i="1" dirty="0" smtClean="0">
                              <a:solidFill>
                                <a:schemeClr val="tx1"/>
                              </a:solidFill>
                              <a:latin typeface="Cambria Math" panose="02040503050406030204" pitchFamily="18" charset="0"/>
                            </a:rPr>
                          </m:ctrlPr>
                        </m:sSubPr>
                        <m:e>
                          <m:r>
                            <a:rPr lang="en-US" altLang="zh-CN" sz="2000" i="1" dirty="0">
                              <a:solidFill>
                                <a:schemeClr val="tx1"/>
                              </a:solidFill>
                              <a:latin typeface="Cambria Math" panose="02040503050406030204" pitchFamily="18" charset="0"/>
                            </a:rPr>
                            <m:t>𝑃</m:t>
                          </m:r>
                        </m:e>
                        <m:sub>
                          <m:r>
                            <m:rPr>
                              <m:sty m:val="p"/>
                            </m:rPr>
                            <a:rPr lang="en-US" altLang="zh-CN" sz="2000" i="1" dirty="0">
                              <a:solidFill>
                                <a:schemeClr val="tx1"/>
                              </a:solidFill>
                              <a:latin typeface="Cambria Math" panose="02040503050406030204" pitchFamily="18" charset="0"/>
                            </a:rPr>
                            <m:t>e</m:t>
                          </m:r>
                        </m:sub>
                      </m:sSub>
                      <m:r>
                        <a:rPr lang="en-US" altLang="zh-CN" sz="2000" i="1" smtClean="0">
                          <a:solidFill>
                            <a:srgbClr val="836967"/>
                          </a:solidFill>
                          <a:latin typeface="Cambria Math" panose="02040503050406030204" pitchFamily="18" charset="0"/>
                        </a:rPr>
                        <m:t>=</m:t>
                      </m:r>
                      <m:sSup>
                        <m:sSupPr>
                          <m:ctrlPr>
                            <a:rPr lang="en-US" altLang="zh-CN" sz="2000" b="0" i="1" smtClean="0">
                              <a:solidFill>
                                <a:schemeClr val="tx1"/>
                              </a:solidFill>
                              <a:latin typeface="Cambria Math" panose="02040503050406030204" pitchFamily="18" charset="0"/>
                            </a:rPr>
                          </m:ctrlPr>
                        </m:sSupPr>
                        <m:e>
                          <m:r>
                            <a:rPr lang="en-US" altLang="zh-CN" sz="2000" b="0" i="1" smtClean="0">
                              <a:solidFill>
                                <a:schemeClr val="tx1"/>
                              </a:solidFill>
                              <a:latin typeface="Cambria Math" panose="02040503050406030204" pitchFamily="18" charset="0"/>
                            </a:rPr>
                            <m:t>2</m:t>
                          </m:r>
                        </m:e>
                        <m:sup>
                          <m:r>
                            <a:rPr lang="en-US" altLang="zh-CN" sz="200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𝑁</m:t>
                          </m:r>
                          <m:r>
                            <a:rPr lang="zh-CN" altLang="en-US" sz="2000" i="1">
                              <a:solidFill>
                                <a:schemeClr val="tx1"/>
                              </a:solidFill>
                              <a:latin typeface="Cambria Math" panose="02040503050406030204" pitchFamily="18" charset="0"/>
                            </a:rPr>
                            <m:t>∙</m:t>
                          </m:r>
                          <m:sSub>
                            <m:sSubPr>
                              <m:ctrlPr>
                                <a:rPr lang="en-US" altLang="zh-CN" sz="2000" i="1" smtClean="0">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𝑅</m:t>
                              </m:r>
                            </m:e>
                            <m:sub>
                              <m:r>
                                <a:rPr lang="en-US" altLang="zh-CN" sz="2000" b="0" i="1" smtClean="0">
                                  <a:solidFill>
                                    <a:schemeClr val="tx1"/>
                                  </a:solidFill>
                                  <a:latin typeface="Cambria Math" panose="02040503050406030204" pitchFamily="18" charset="0"/>
                                </a:rPr>
                                <m:t>0</m:t>
                              </m:r>
                            </m:sub>
                          </m:sSub>
                        </m:sup>
                      </m:sSup>
                    </m:oMath>
                  </m:oMathPara>
                </a14:m>
                <a:endParaRPr lang="en-US" altLang="zh-CN" sz="2000" b="0" dirty="0">
                  <a:solidFill>
                    <a:schemeClr val="tx1"/>
                  </a:solidFill>
                </a:endParaRPr>
              </a:p>
              <a:p>
                <a:pPr>
                  <a:lnSpc>
                    <a:spcPct val="150000"/>
                  </a:lnSpc>
                </a:pPr>
                <a:r>
                  <a:rPr lang="zh-CN" altLang="en-US" sz="2000" dirty="0">
                    <a:solidFill>
                      <a:schemeClr val="tx1"/>
                    </a:solidFill>
                  </a:rPr>
                  <a:t>        其中，</a:t>
                </a:r>
                <a:r>
                  <a:rPr lang="en-US" altLang="zh-CN" sz="2000" dirty="0">
                    <a:solidFill>
                      <a:schemeClr val="tx1"/>
                    </a:solidFill>
                  </a:rPr>
                  <a:t>N</a:t>
                </a:r>
                <a:r>
                  <a:rPr lang="zh-CN" altLang="en-US" sz="2000" dirty="0">
                    <a:solidFill>
                      <a:schemeClr val="tx1"/>
                    </a:solidFill>
                  </a:rPr>
                  <a:t>为码块长度。实际信道的传输速率</a:t>
                </a:r>
                <a:r>
                  <a:rPr lang="en-US" altLang="zh-CN" sz="2000" dirty="0">
                    <a:solidFill>
                      <a:schemeClr val="tx1"/>
                    </a:solidFill>
                  </a:rPr>
                  <a:t>R</a:t>
                </a:r>
                <a:r>
                  <a:rPr lang="zh-CN" altLang="en-US" sz="2000" dirty="0">
                    <a:solidFill>
                      <a:schemeClr val="tx1"/>
                    </a:solidFill>
                  </a:rPr>
                  <a:t>小于</a:t>
                </a:r>
                <a14:m>
                  <m:oMath xmlns:m="http://schemas.openxmlformats.org/officeDocument/2006/math">
                    <m:sSub>
                      <m:sSubPr>
                        <m:ctrlPr>
                          <a:rPr lang="en-US" altLang="zh-CN" sz="2000" i="1">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𝑅</m:t>
                        </m:r>
                      </m:e>
                      <m:sub>
                        <m:r>
                          <a:rPr lang="en-US" altLang="zh-CN" sz="2000" i="1">
                            <a:solidFill>
                              <a:schemeClr val="tx1"/>
                            </a:solidFill>
                            <a:latin typeface="Cambria Math" panose="02040503050406030204" pitchFamily="18" charset="0"/>
                          </a:rPr>
                          <m:t>0</m:t>
                        </m:r>
                      </m:sub>
                    </m:sSub>
                  </m:oMath>
                </a14:m>
                <a:r>
                  <a:rPr lang="zh-CN" altLang="en-US" sz="2000" dirty="0">
                    <a:solidFill>
                      <a:schemeClr val="tx1"/>
                    </a:solidFill>
                  </a:rPr>
                  <a:t>、使用随机编码和</a:t>
                </a:r>
                <a:r>
                  <a:rPr lang="en-US" altLang="zh-CN" sz="2000" dirty="0">
                    <a:solidFill>
                      <a:schemeClr val="tx1"/>
                    </a:solidFill>
                  </a:rPr>
                  <a:t>ML</a:t>
                </a:r>
                <a:r>
                  <a:rPr lang="zh-CN" altLang="en-US" sz="2000" dirty="0">
                    <a:solidFill>
                      <a:schemeClr val="tx1"/>
                    </a:solidFill>
                  </a:rPr>
                  <a:t>编码时，信道平均错误概率：</a:t>
                </a:r>
                <a:endParaRPr lang="en-US" altLang="zh-CN" sz="2000" dirty="0">
                  <a:solidFill>
                    <a:schemeClr val="tx1"/>
                  </a:solidFill>
                </a:endParaRPr>
              </a:p>
              <a:p>
                <a:pPr algn="ctr">
                  <a:lnSpc>
                    <a:spcPct val="150000"/>
                  </a:lnSpc>
                </a:pPr>
                <a:r>
                  <a:rPr lang="en-US" altLang="zh-CN" sz="2000" dirty="0">
                    <a:solidFill>
                      <a:schemeClr val="tx1"/>
                    </a:solidFill>
                  </a:rPr>
                  <a:t> </a:t>
                </a:r>
                <a14:m>
                  <m:oMath xmlns:m="http://schemas.openxmlformats.org/officeDocument/2006/math">
                    <m:sSub>
                      <m:sSubPr>
                        <m:ctrlPr>
                          <a:rPr lang="en-US" altLang="zh-CN" sz="2000" i="1">
                            <a:solidFill>
                              <a:schemeClr val="tx1"/>
                            </a:solidFill>
                            <a:latin typeface="Cambria Math" panose="02040503050406030204" pitchFamily="18" charset="0"/>
                          </a:rPr>
                        </m:ctrlPr>
                      </m:sSubPr>
                      <m:e>
                        <m:acc>
                          <m:accPr>
                            <m:chr m:val="̅"/>
                            <m:ctrlPr>
                              <a:rPr lang="en-US" altLang="zh-CN" sz="2000" i="1">
                                <a:solidFill>
                                  <a:schemeClr val="tx1"/>
                                </a:solidFill>
                                <a:latin typeface="Cambria Math" panose="02040503050406030204" pitchFamily="18" charset="0"/>
                              </a:rPr>
                            </m:ctrlPr>
                          </m:accPr>
                          <m:e>
                            <m:r>
                              <a:rPr lang="en-US" altLang="zh-CN" sz="2000" i="1">
                                <a:solidFill>
                                  <a:schemeClr val="tx1"/>
                                </a:solidFill>
                                <a:latin typeface="Cambria Math" panose="02040503050406030204" pitchFamily="18" charset="0"/>
                              </a:rPr>
                              <m:t>𝑃</m:t>
                            </m:r>
                          </m:e>
                        </m:acc>
                      </m:e>
                      <m:sub>
                        <m:r>
                          <m:rPr>
                            <m:sty m:val="p"/>
                          </m:rPr>
                          <a:rPr lang="en-US" altLang="zh-CN" sz="2000" i="1">
                            <a:solidFill>
                              <a:schemeClr val="tx1"/>
                            </a:solidFill>
                            <a:latin typeface="Cambria Math" panose="02040503050406030204" pitchFamily="18" charset="0"/>
                          </a:rPr>
                          <m:t>e</m:t>
                        </m:r>
                      </m:sub>
                    </m:sSub>
                    <m:r>
                      <a:rPr lang="en-US" altLang="zh-CN" sz="2000" i="1">
                        <a:solidFill>
                          <a:srgbClr val="836967"/>
                        </a:solidFill>
                        <a:latin typeface="Cambria Math" panose="02040503050406030204" pitchFamily="18" charset="0"/>
                      </a:rPr>
                      <m:t>=</m:t>
                    </m:r>
                    <m:sSup>
                      <m:sSupPr>
                        <m:ctrlPr>
                          <a:rPr lang="en-US" altLang="zh-CN" sz="2000" i="1">
                            <a:solidFill>
                              <a:schemeClr val="tx1"/>
                            </a:solidFill>
                            <a:latin typeface="Cambria Math" panose="02040503050406030204" pitchFamily="18" charset="0"/>
                          </a:rPr>
                        </m:ctrlPr>
                      </m:sSupPr>
                      <m:e>
                        <m:r>
                          <a:rPr lang="en-US" altLang="zh-CN" sz="2000" i="1">
                            <a:solidFill>
                              <a:schemeClr val="tx1"/>
                            </a:solidFill>
                            <a:latin typeface="Cambria Math" panose="02040503050406030204" pitchFamily="18" charset="0"/>
                          </a:rPr>
                          <m:t>2</m:t>
                        </m:r>
                      </m:e>
                      <m:sup>
                        <m:r>
                          <a:rPr lang="en-US" altLang="zh-CN" sz="2000" i="1">
                            <a:solidFill>
                              <a:schemeClr val="tx1"/>
                            </a:solidFill>
                            <a:latin typeface="Cambria Math" panose="02040503050406030204" pitchFamily="18" charset="0"/>
                          </a:rPr>
                          <m:t>−</m:t>
                        </m:r>
                        <m:r>
                          <a:rPr lang="en-US" altLang="zh-CN" sz="2000" i="1">
                            <a:solidFill>
                              <a:schemeClr val="tx1"/>
                            </a:solidFill>
                            <a:latin typeface="Cambria Math" panose="02040503050406030204" pitchFamily="18" charset="0"/>
                          </a:rPr>
                          <m:t>𝑁</m:t>
                        </m:r>
                        <m:r>
                          <a:rPr lang="zh-CN" altLang="en-US" sz="2000" i="1">
                            <a:solidFill>
                              <a:schemeClr val="tx1"/>
                            </a:solidFill>
                            <a:latin typeface="Cambria Math" panose="02040503050406030204" pitchFamily="18" charset="0"/>
                          </a:rPr>
                          <m:t>（</m:t>
                        </m:r>
                        <m:sSub>
                          <m:sSubPr>
                            <m:ctrlPr>
                              <a:rPr lang="en-US" altLang="zh-CN" sz="2000" i="1">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𝑅</m:t>
                            </m:r>
                          </m:e>
                          <m:sub>
                            <m:r>
                              <a:rPr lang="en-US" altLang="zh-CN" sz="2000" i="1">
                                <a:solidFill>
                                  <a:schemeClr val="tx1"/>
                                </a:solidFill>
                                <a:latin typeface="Cambria Math" panose="02040503050406030204" pitchFamily="18" charset="0"/>
                              </a:rPr>
                              <m:t>0</m:t>
                            </m:r>
                          </m:sub>
                        </m:sSub>
                        <m:r>
                          <a:rPr lang="en-US" altLang="zh-CN" sz="2000" i="1">
                            <a:solidFill>
                              <a:schemeClr val="tx1"/>
                            </a:solidFill>
                            <a:latin typeface="Cambria Math" panose="02040503050406030204" pitchFamily="18" charset="0"/>
                          </a:rPr>
                          <m:t>−</m:t>
                        </m:r>
                        <m:r>
                          <a:rPr lang="en-US" altLang="zh-CN" sz="2000" i="1">
                            <a:solidFill>
                              <a:schemeClr val="tx1"/>
                            </a:solidFill>
                            <a:latin typeface="Cambria Math" panose="02040503050406030204" pitchFamily="18" charset="0"/>
                          </a:rPr>
                          <m:t>𝑅</m:t>
                        </m:r>
                        <m:r>
                          <a:rPr lang="zh-CN" altLang="en-US" sz="2000" i="1">
                            <a:solidFill>
                              <a:schemeClr val="tx1"/>
                            </a:solidFill>
                            <a:latin typeface="Cambria Math" panose="02040503050406030204" pitchFamily="18" charset="0"/>
                          </a:rPr>
                          <m:t>）</m:t>
                        </m:r>
                      </m:sup>
                    </m:sSup>
                  </m:oMath>
                </a14:m>
                <a:r>
                  <a:rPr lang="zh-CN" altLang="en-US" sz="2000" dirty="0"/>
                  <a:t>    </a:t>
                </a:r>
                <a:endParaRPr lang="en-US" altLang="zh-CN" sz="2000" dirty="0"/>
              </a:p>
            </p:txBody>
          </p:sp>
        </mc:Choice>
        <mc:Fallback>
          <p:sp>
            <p:nvSpPr>
              <p:cNvPr id="4" name="矩形 3"/>
              <p:cNvSpPr>
                <a:spLocks noRot="1" noChangeAspect="1" noMove="1" noResize="1" noEditPoints="1" noAdjustHandles="1" noChangeArrowheads="1" noChangeShapeType="1" noTextEdit="1"/>
              </p:cNvSpPr>
              <p:nvPr/>
            </p:nvSpPr>
            <p:spPr>
              <a:xfrm>
                <a:off x="419209" y="2514624"/>
                <a:ext cx="8305582" cy="3657504"/>
              </a:xfrm>
              <a:prstGeom prst="rect">
                <a:avLst/>
              </a:prstGeom>
              <a:blipFill rotWithShape="1">
                <a:blip r:embed="rId1"/>
                <a:stretch>
                  <a:fillRect l="-78" t="-174" r="-70" b="-158"/>
                </a:stretch>
              </a:blipFill>
            </p:spPr>
            <p:style>
              <a:lnRef idx="2">
                <a:schemeClr val="dk1"/>
              </a:lnRef>
              <a:fillRef idx="1">
                <a:schemeClr val="lt1"/>
              </a:fillRef>
              <a:effectRef idx="0">
                <a:schemeClr val="dk1"/>
              </a:effectRef>
              <a:fontRef idx="minor">
                <a:schemeClr val="dk1"/>
              </a:fontRef>
            </p:style>
            <p:txBody>
              <a:bodyPr/>
              <a:lstStyle/>
              <a:p>
                <a:r>
                  <a:rPr lang="zh-CN" altLang="en-US">
                    <a:noFill/>
                  </a:rPr>
                  <a:t> </a:t>
                </a:r>
              </a:p>
            </p:txBody>
          </p:sp>
        </mc:Fallback>
      </mc:AlternateContent>
      <p:sp>
        <p:nvSpPr>
          <p:cNvPr id="5" name="文本框 4"/>
          <p:cNvSpPr txBox="1"/>
          <p:nvPr/>
        </p:nvSpPr>
        <p:spPr>
          <a:xfrm>
            <a:off x="1295486" y="1143060"/>
            <a:ext cx="6553028" cy="957250"/>
          </a:xfrm>
          <a:prstGeom prst="rect">
            <a:avLst/>
          </a:prstGeom>
          <a:noFill/>
        </p:spPr>
        <p:txBody>
          <a:bodyPr wrap="square">
            <a:spAutoFit/>
          </a:bodyPr>
          <a:lstStyle/>
          <a:p>
            <a:pPr algn="ctr">
              <a:lnSpc>
                <a:spcPct val="150000"/>
              </a:lnSpc>
            </a:pPr>
            <a:r>
              <a:rPr lang="zh-CN" altLang="en-US" sz="2000" dirty="0">
                <a:solidFill>
                  <a:schemeClr val="dk1"/>
                </a:solidFill>
                <a:latin typeface="+mn-ea"/>
                <a:ea typeface="+mn-ea"/>
                <a:cs typeface="+mn-cs"/>
              </a:rPr>
              <a:t>截止频率越高，系统响应越快</a:t>
            </a:r>
            <a:endParaRPr lang="en-US" altLang="zh-CN" sz="2000" dirty="0">
              <a:solidFill>
                <a:schemeClr val="dk1"/>
              </a:solidFill>
              <a:latin typeface="+mn-ea"/>
              <a:ea typeface="+mn-ea"/>
              <a:cs typeface="+mn-cs"/>
            </a:endParaRPr>
          </a:p>
          <a:p>
            <a:pPr algn="ctr">
              <a:lnSpc>
                <a:spcPct val="150000"/>
              </a:lnSpc>
            </a:pPr>
            <a:r>
              <a:rPr lang="zh-CN" altLang="en-US" sz="2000" dirty="0">
                <a:solidFill>
                  <a:schemeClr val="dk1"/>
                </a:solidFill>
                <a:latin typeface="+mn-lt"/>
                <a:ea typeface="+mn-ea"/>
                <a:cs typeface="+mn-cs"/>
              </a:rPr>
              <a:t>因此</a:t>
            </a:r>
            <a:r>
              <a:rPr lang="en-US" altLang="zh-CN" sz="2000" dirty="0">
                <a:solidFill>
                  <a:schemeClr val="dk1"/>
                </a:solidFill>
                <a:latin typeface="+mn-lt"/>
                <a:ea typeface="+mn-ea"/>
                <a:cs typeface="+mn-cs"/>
              </a:rPr>
              <a:t>Polar</a:t>
            </a:r>
            <a:r>
              <a:rPr lang="zh-CN" altLang="en-US" sz="2000" dirty="0">
                <a:solidFill>
                  <a:schemeClr val="dk1"/>
                </a:solidFill>
                <a:latin typeface="+mn-lt"/>
                <a:ea typeface="+mn-ea"/>
                <a:cs typeface="+mn-cs"/>
              </a:rPr>
              <a:t>码的最初</a:t>
            </a:r>
            <a:r>
              <a:rPr lang="zh-CN" altLang="en-US" sz="2000" dirty="0">
                <a:solidFill>
                  <a:schemeClr val="dk1"/>
                </a:solidFill>
                <a:latin typeface="+mn-ea"/>
                <a:ea typeface="+mn-ea"/>
                <a:cs typeface="+mn-cs"/>
              </a:rPr>
              <a:t>设计的出发点是为了提升截止频率</a:t>
            </a:r>
            <a:endParaRPr lang="en-US" altLang="zh-CN" sz="1800" dirty="0">
              <a:latin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62574" y="148100"/>
            <a:ext cx="3371501"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a:t>
            </a:r>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）码起源</a:t>
            </a:r>
            <a:endParaRPr lang="zh-CN" altLang="en-US" sz="2400" dirty="0">
              <a:sym typeface="+mn-ea"/>
            </a:endParaRPr>
          </a:p>
        </p:txBody>
      </p:sp>
      <mc:AlternateContent xmlns:mc="http://schemas.openxmlformats.org/markup-compatibility/2006">
        <mc:Choice xmlns:a14="http://schemas.microsoft.com/office/drawing/2010/main" Requires="a14">
          <p:sp>
            <p:nvSpPr>
              <p:cNvPr id="5" name="矩形 4"/>
              <p:cNvSpPr/>
              <p:nvPr/>
            </p:nvSpPr>
            <p:spPr>
              <a:xfrm>
                <a:off x="419209" y="914988"/>
                <a:ext cx="8305582" cy="281932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nSpc>
                    <a:spcPct val="150000"/>
                  </a:lnSpc>
                </a:pPr>
                <a:r>
                  <a:rPr lang="zh-CN" altLang="en-US" sz="2000" dirty="0"/>
                  <a:t>        因此，在</a:t>
                </a:r>
                <a:r>
                  <a:rPr lang="en-US" altLang="zh-CN" sz="2000" dirty="0"/>
                  <a:t>2004-2006</a:t>
                </a:r>
                <a:r>
                  <a:rPr lang="zh-CN" altLang="en-US" sz="2000" dirty="0"/>
                  <a:t>年，</a:t>
                </a:r>
                <a:r>
                  <a:rPr lang="en-US" altLang="zh-CN" sz="2000" dirty="0"/>
                  <a:t> </a:t>
                </a:r>
                <a:r>
                  <a:rPr lang="en-US" altLang="zh-CN" sz="2000" dirty="0" err="1"/>
                  <a:t>Arikan</a:t>
                </a:r>
                <a:r>
                  <a:rPr lang="en-US" altLang="zh-CN" sz="2000" dirty="0"/>
                  <a:t> </a:t>
                </a:r>
                <a:r>
                  <a:rPr lang="zh-CN" altLang="en-US" sz="2000" dirty="0"/>
                  <a:t>教授尝试使用信道合并与分离的方法来提升信道截止速率。</a:t>
                </a:r>
                <a:endParaRPr lang="en-US" altLang="zh-CN" sz="2000" dirty="0"/>
              </a:p>
              <a:p>
                <a:pPr>
                  <a:lnSpc>
                    <a:spcPct val="150000"/>
                  </a:lnSpc>
                </a:pPr>
                <a:r>
                  <a:rPr lang="en-US" altLang="zh-CN" sz="2000" dirty="0"/>
                  <a:t>        </a:t>
                </a:r>
                <a:r>
                  <a:rPr lang="zh-CN" altLang="en-US" sz="2000" dirty="0"/>
                  <a:t>对于一个离散无记忆的信道</a:t>
                </a:r>
                <a:r>
                  <a:rPr lang="en-US" altLang="zh-CN" sz="2000" dirty="0"/>
                  <a:t>W</a:t>
                </a:r>
                <a:r>
                  <a:rPr lang="zh-CN" altLang="en-US" sz="2000" dirty="0"/>
                  <a:t>，分离出两个相关的子信道</a:t>
                </a:r>
                <a14:m>
                  <m:oMath xmlns:m="http://schemas.openxmlformats.org/officeDocument/2006/math">
                    <m:sSub>
                      <m:sSubPr>
                        <m:ctrlPr>
                          <a:rPr lang="en-US" altLang="zh-CN" sz="2000" i="1" dirty="0" smtClean="0">
                            <a:solidFill>
                              <a:schemeClr val="tx1"/>
                            </a:solidFill>
                            <a:latin typeface="Cambria Math" panose="02040503050406030204" pitchFamily="18" charset="0"/>
                          </a:rPr>
                        </m:ctrlPr>
                      </m:sSubPr>
                      <m:e>
                        <m:r>
                          <a:rPr lang="en-US" altLang="zh-CN" sz="2000" b="0" i="1" dirty="0" smtClean="0">
                            <a:solidFill>
                              <a:schemeClr val="tx1"/>
                            </a:solidFill>
                            <a:latin typeface="Cambria Math" panose="02040503050406030204" pitchFamily="18" charset="0"/>
                          </a:rPr>
                          <m:t>𝑊</m:t>
                        </m:r>
                      </m:e>
                      <m:sub>
                        <m:r>
                          <a:rPr lang="en-US" altLang="zh-CN" sz="2000" b="0" i="1" dirty="0" smtClean="0">
                            <a:solidFill>
                              <a:schemeClr val="tx1"/>
                            </a:solidFill>
                            <a:latin typeface="Cambria Math" panose="02040503050406030204" pitchFamily="18" charset="0"/>
                          </a:rPr>
                          <m:t>1</m:t>
                        </m:r>
                      </m:sub>
                    </m:sSub>
                    <m:r>
                      <a:rPr lang="zh-CN" altLang="en-US" sz="2000" i="1" dirty="0">
                        <a:solidFill>
                          <a:schemeClr val="tx1"/>
                        </a:solidFill>
                        <a:latin typeface="Cambria Math" panose="02040503050406030204" pitchFamily="18" charset="0"/>
                      </a:rPr>
                      <m:t>和</m:t>
                    </m:r>
                    <m:sSub>
                      <m:sSubPr>
                        <m:ctrlPr>
                          <a:rPr lang="en-US" altLang="zh-CN" sz="2000" i="1" dirty="0">
                            <a:solidFill>
                              <a:schemeClr val="tx1"/>
                            </a:solidFill>
                            <a:latin typeface="Cambria Math" panose="02040503050406030204" pitchFamily="18" charset="0"/>
                          </a:rPr>
                        </m:ctrlPr>
                      </m:sSubPr>
                      <m:e>
                        <m:r>
                          <a:rPr lang="en-US" altLang="zh-CN" sz="2000" b="0" i="1" dirty="0" smtClean="0">
                            <a:solidFill>
                              <a:schemeClr val="tx1"/>
                            </a:solidFill>
                            <a:latin typeface="Cambria Math" panose="02040503050406030204" pitchFamily="18" charset="0"/>
                          </a:rPr>
                          <m:t>𝑊</m:t>
                        </m:r>
                      </m:e>
                      <m:sub>
                        <m:r>
                          <a:rPr lang="en-US" altLang="zh-CN" sz="2000" b="0" i="1" dirty="0" smtClean="0">
                            <a:solidFill>
                              <a:schemeClr val="tx1"/>
                            </a:solidFill>
                            <a:latin typeface="Cambria Math" panose="02040503050406030204" pitchFamily="18" charset="0"/>
                          </a:rPr>
                          <m:t>2</m:t>
                        </m:r>
                      </m:sub>
                    </m:sSub>
                    <m:r>
                      <a:rPr lang="zh-CN" altLang="en-US" sz="2000" i="1" dirty="0">
                        <a:solidFill>
                          <a:schemeClr val="tx1"/>
                        </a:solidFill>
                        <a:latin typeface="Cambria Math" panose="02040503050406030204" pitchFamily="18" charset="0"/>
                      </a:rPr>
                      <m:t>，</m:t>
                    </m:r>
                  </m:oMath>
                </a14:m>
                <a:r>
                  <a:rPr lang="zh-CN" altLang="en-US" sz="2000" dirty="0"/>
                  <a:t>有</a:t>
                </a:r>
                <a:r>
                  <a:rPr lang="en-US" altLang="zh-CN" sz="2000" dirty="0"/>
                  <a:t>C(</a:t>
                </a:r>
                <a14:m>
                  <m:oMath xmlns:m="http://schemas.openxmlformats.org/officeDocument/2006/math">
                    <m:sSub>
                      <m:sSubPr>
                        <m:ctrlPr>
                          <a:rPr lang="en-US" altLang="zh-CN" sz="2000" i="1" dirty="0">
                            <a:solidFill>
                              <a:schemeClr val="tx1"/>
                            </a:solidFill>
                            <a:latin typeface="Cambria Math" panose="02040503050406030204" pitchFamily="18" charset="0"/>
                          </a:rPr>
                        </m:ctrlPr>
                      </m:sSubPr>
                      <m:e>
                        <m:r>
                          <a:rPr lang="en-US" altLang="zh-CN" sz="2000" i="1" dirty="0">
                            <a:solidFill>
                              <a:schemeClr val="tx1"/>
                            </a:solidFill>
                            <a:latin typeface="Cambria Math" panose="02040503050406030204" pitchFamily="18" charset="0"/>
                          </a:rPr>
                          <m:t>𝑊</m:t>
                        </m:r>
                      </m:e>
                      <m:sub>
                        <m:r>
                          <a:rPr lang="en-US" altLang="zh-CN" sz="2000" i="1" dirty="0">
                            <a:solidFill>
                              <a:schemeClr val="tx1"/>
                            </a:solidFill>
                            <a:latin typeface="Cambria Math" panose="02040503050406030204" pitchFamily="18" charset="0"/>
                          </a:rPr>
                          <m:t>1</m:t>
                        </m:r>
                      </m:sub>
                    </m:sSub>
                  </m:oMath>
                </a14:m>
                <a:r>
                  <a:rPr lang="en-US" altLang="zh-CN" sz="2000" dirty="0"/>
                  <a:t>)+ C(</a:t>
                </a:r>
                <a14:m>
                  <m:oMath xmlns:m="http://schemas.openxmlformats.org/officeDocument/2006/math">
                    <m:sSub>
                      <m:sSubPr>
                        <m:ctrlPr>
                          <a:rPr lang="en-US" altLang="zh-CN" sz="2000" i="1" dirty="0">
                            <a:solidFill>
                              <a:schemeClr val="tx1"/>
                            </a:solidFill>
                            <a:latin typeface="Cambria Math" panose="02040503050406030204" pitchFamily="18" charset="0"/>
                          </a:rPr>
                        </m:ctrlPr>
                      </m:sSubPr>
                      <m:e>
                        <m:r>
                          <a:rPr lang="en-US" altLang="zh-CN" sz="2000" i="1" dirty="0">
                            <a:solidFill>
                              <a:schemeClr val="tx1"/>
                            </a:solidFill>
                            <a:latin typeface="Cambria Math" panose="02040503050406030204" pitchFamily="18" charset="0"/>
                          </a:rPr>
                          <m:t>𝑊</m:t>
                        </m:r>
                      </m:e>
                      <m:sub>
                        <m:r>
                          <a:rPr lang="en-US" altLang="zh-CN" sz="2000" b="0" i="1" dirty="0" smtClean="0">
                            <a:solidFill>
                              <a:schemeClr val="tx1"/>
                            </a:solidFill>
                            <a:latin typeface="Cambria Math" panose="02040503050406030204" pitchFamily="18" charset="0"/>
                          </a:rPr>
                          <m:t>2</m:t>
                        </m:r>
                      </m:sub>
                    </m:sSub>
                  </m:oMath>
                </a14:m>
                <a:r>
                  <a:rPr lang="en-US" altLang="zh-CN" sz="2000" dirty="0"/>
                  <a:t>)</a:t>
                </a:r>
                <a:r>
                  <a:rPr lang="zh-CN" altLang="en-US" sz="2000" dirty="0"/>
                  <a:t>≤</a:t>
                </a:r>
                <a:r>
                  <a:rPr lang="en-US" altLang="zh-CN" sz="2000" dirty="0"/>
                  <a:t>C(</a:t>
                </a:r>
                <a:r>
                  <a:rPr lang="en-US" altLang="zh-CN" sz="2000" dirty="0">
                    <a:solidFill>
                      <a:schemeClr val="tx1"/>
                    </a:solidFill>
                  </a:rPr>
                  <a:t>W</a:t>
                </a:r>
                <a:r>
                  <a:rPr lang="en-US" altLang="zh-CN" sz="2000" dirty="0"/>
                  <a:t>)</a:t>
                </a:r>
                <a:r>
                  <a:rPr lang="zh-CN" altLang="en-US" sz="2000" dirty="0"/>
                  <a:t>，同时有</a:t>
                </a:r>
                <a14:m>
                  <m:oMath xmlns:m="http://schemas.openxmlformats.org/officeDocument/2006/math">
                    <m:sSub>
                      <m:sSubPr>
                        <m:ctrlPr>
                          <a:rPr lang="en-US" altLang="zh-CN" sz="2000" i="1">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𝑅</m:t>
                        </m:r>
                      </m:e>
                      <m:sub>
                        <m:r>
                          <a:rPr lang="en-US" altLang="zh-CN" sz="2000" i="1">
                            <a:solidFill>
                              <a:schemeClr val="tx1"/>
                            </a:solidFill>
                            <a:latin typeface="Cambria Math" panose="02040503050406030204" pitchFamily="18" charset="0"/>
                          </a:rPr>
                          <m:t>0</m:t>
                        </m:r>
                      </m:sub>
                    </m:sSub>
                  </m:oMath>
                </a14:m>
                <a:r>
                  <a:rPr lang="en-US" altLang="zh-CN" sz="2000" dirty="0"/>
                  <a:t>(</a:t>
                </a:r>
                <a14:m>
                  <m:oMath xmlns:m="http://schemas.openxmlformats.org/officeDocument/2006/math">
                    <m:sSub>
                      <m:sSubPr>
                        <m:ctrlPr>
                          <a:rPr lang="en-US" altLang="zh-CN" sz="2000" i="1" dirty="0">
                            <a:solidFill>
                              <a:schemeClr val="tx1"/>
                            </a:solidFill>
                            <a:latin typeface="Cambria Math" panose="02040503050406030204" pitchFamily="18" charset="0"/>
                          </a:rPr>
                        </m:ctrlPr>
                      </m:sSubPr>
                      <m:e>
                        <m:r>
                          <a:rPr lang="en-US" altLang="zh-CN" sz="2000" i="1" dirty="0">
                            <a:solidFill>
                              <a:schemeClr val="tx1"/>
                            </a:solidFill>
                            <a:latin typeface="Cambria Math" panose="02040503050406030204" pitchFamily="18" charset="0"/>
                          </a:rPr>
                          <m:t>𝑊</m:t>
                        </m:r>
                      </m:e>
                      <m:sub>
                        <m:r>
                          <a:rPr lang="en-US" altLang="zh-CN" sz="2000" i="1" dirty="0">
                            <a:solidFill>
                              <a:schemeClr val="tx1"/>
                            </a:solidFill>
                            <a:latin typeface="Cambria Math" panose="02040503050406030204" pitchFamily="18" charset="0"/>
                          </a:rPr>
                          <m:t>1</m:t>
                        </m:r>
                      </m:sub>
                    </m:sSub>
                  </m:oMath>
                </a14:m>
                <a:r>
                  <a:rPr lang="en-US" altLang="zh-CN" sz="2000" dirty="0"/>
                  <a:t>)+ </a:t>
                </a:r>
                <a14:m>
                  <m:oMath xmlns:m="http://schemas.openxmlformats.org/officeDocument/2006/math">
                    <m:sSub>
                      <m:sSubPr>
                        <m:ctrlPr>
                          <a:rPr lang="en-US" altLang="zh-CN" sz="2000" i="1">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𝑅</m:t>
                        </m:r>
                      </m:e>
                      <m:sub>
                        <m:r>
                          <a:rPr lang="en-US" altLang="zh-CN" sz="2000" i="1">
                            <a:solidFill>
                              <a:schemeClr val="tx1"/>
                            </a:solidFill>
                            <a:latin typeface="Cambria Math" panose="02040503050406030204" pitchFamily="18" charset="0"/>
                          </a:rPr>
                          <m:t>0</m:t>
                        </m:r>
                      </m:sub>
                    </m:sSub>
                  </m:oMath>
                </a14:m>
                <a:r>
                  <a:rPr lang="en-US" altLang="zh-CN" sz="2000" dirty="0"/>
                  <a:t>(</a:t>
                </a:r>
                <a14:m>
                  <m:oMath xmlns:m="http://schemas.openxmlformats.org/officeDocument/2006/math">
                    <m:sSub>
                      <m:sSubPr>
                        <m:ctrlPr>
                          <a:rPr lang="en-US" altLang="zh-CN" sz="2000" i="1" dirty="0">
                            <a:solidFill>
                              <a:schemeClr val="tx1"/>
                            </a:solidFill>
                            <a:latin typeface="Cambria Math" panose="02040503050406030204" pitchFamily="18" charset="0"/>
                          </a:rPr>
                        </m:ctrlPr>
                      </m:sSubPr>
                      <m:e>
                        <m:r>
                          <a:rPr lang="en-US" altLang="zh-CN" sz="2000" i="1" dirty="0">
                            <a:solidFill>
                              <a:schemeClr val="tx1"/>
                            </a:solidFill>
                            <a:latin typeface="Cambria Math" panose="02040503050406030204" pitchFamily="18" charset="0"/>
                          </a:rPr>
                          <m:t>𝑊</m:t>
                        </m:r>
                      </m:e>
                      <m:sub>
                        <m:r>
                          <a:rPr lang="en-US" altLang="zh-CN" sz="2000" b="0" i="1" dirty="0" smtClean="0">
                            <a:solidFill>
                              <a:schemeClr val="tx1"/>
                            </a:solidFill>
                            <a:latin typeface="Cambria Math" panose="02040503050406030204" pitchFamily="18" charset="0"/>
                          </a:rPr>
                          <m:t>2</m:t>
                        </m:r>
                      </m:sub>
                    </m:sSub>
                  </m:oMath>
                </a14:m>
                <a:r>
                  <a:rPr lang="en-US" altLang="zh-CN" sz="2000" dirty="0"/>
                  <a:t>)</a:t>
                </a:r>
                <a:r>
                  <a:rPr lang="zh-CN" altLang="en-US" sz="2000" dirty="0"/>
                  <a:t>＞</a:t>
                </a:r>
                <a:r>
                  <a:rPr lang="en-US" altLang="zh-CN" sz="2000" dirty="0">
                    <a:solidFill>
                      <a:schemeClr val="tx1"/>
                    </a:solidFill>
                  </a:rPr>
                  <a:t> </a:t>
                </a:r>
                <a14:m>
                  <m:oMath xmlns:m="http://schemas.openxmlformats.org/officeDocument/2006/math">
                    <m:sSub>
                      <m:sSubPr>
                        <m:ctrlPr>
                          <a:rPr lang="en-US" altLang="zh-CN" sz="2000" i="1">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𝑅</m:t>
                        </m:r>
                      </m:e>
                      <m:sub>
                        <m:r>
                          <a:rPr lang="en-US" altLang="zh-CN" sz="2000" i="1">
                            <a:solidFill>
                              <a:schemeClr val="tx1"/>
                            </a:solidFill>
                            <a:latin typeface="Cambria Math" panose="02040503050406030204" pitchFamily="18" charset="0"/>
                          </a:rPr>
                          <m:t>0</m:t>
                        </m:r>
                      </m:sub>
                    </m:sSub>
                  </m:oMath>
                </a14:m>
                <a:r>
                  <a:rPr lang="en-US" altLang="zh-CN" sz="2000" dirty="0"/>
                  <a:t> (</a:t>
                </a:r>
                <a:r>
                  <a:rPr lang="en-US" altLang="zh-CN" sz="2000" dirty="0">
                    <a:solidFill>
                      <a:schemeClr val="tx1"/>
                    </a:solidFill>
                  </a:rPr>
                  <a:t>W</a:t>
                </a:r>
                <a:r>
                  <a:rPr lang="en-US" altLang="zh-CN" sz="2000" dirty="0"/>
                  <a:t>)</a:t>
                </a:r>
                <a:r>
                  <a:rPr lang="zh-CN" altLang="en-US" sz="2000" dirty="0"/>
                  <a:t>。其中</a:t>
                </a:r>
                <a:r>
                  <a:rPr lang="en-US" altLang="zh-CN" sz="2000" dirty="0"/>
                  <a:t>C</a:t>
                </a:r>
                <a:r>
                  <a:rPr lang="zh-CN" altLang="en-US" sz="2000" dirty="0"/>
                  <a:t>是信道容量，</a:t>
                </a:r>
                <a:r>
                  <a:rPr lang="en-US" altLang="zh-CN" sz="2000" dirty="0">
                    <a:solidFill>
                      <a:schemeClr val="tx1"/>
                    </a:solidFill>
                  </a:rPr>
                  <a:t> </a:t>
                </a:r>
                <a14:m>
                  <m:oMath xmlns:m="http://schemas.openxmlformats.org/officeDocument/2006/math">
                    <m:sSub>
                      <m:sSubPr>
                        <m:ctrlPr>
                          <a:rPr lang="en-US" altLang="zh-CN" sz="2000" i="1">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𝑅</m:t>
                        </m:r>
                      </m:e>
                      <m:sub>
                        <m:r>
                          <a:rPr lang="en-US" altLang="zh-CN" sz="2000" i="1">
                            <a:solidFill>
                              <a:schemeClr val="tx1"/>
                            </a:solidFill>
                            <a:latin typeface="Cambria Math" panose="02040503050406030204" pitchFamily="18" charset="0"/>
                          </a:rPr>
                          <m:t>0</m:t>
                        </m:r>
                      </m:sub>
                    </m:sSub>
                  </m:oMath>
                </a14:m>
                <a:r>
                  <a:rPr lang="zh-CN" altLang="en-US" sz="2000" dirty="0"/>
                  <a:t>是信道截止速率，即两个子信道信道容量不超过原本的总信道容量，但分离后总信道截止速率提高了。</a:t>
                </a:r>
                <a:endParaRPr lang="zh-CN" altLang="en-US" sz="2000" dirty="0"/>
              </a:p>
            </p:txBody>
          </p:sp>
        </mc:Choice>
        <mc:Fallback>
          <p:sp>
            <p:nvSpPr>
              <p:cNvPr id="5" name="矩形 4"/>
              <p:cNvSpPr>
                <a:spLocks noRot="1" noChangeAspect="1" noMove="1" noResize="1" noEditPoints="1" noAdjustHandles="1" noChangeArrowheads="1" noChangeShapeType="1" noTextEdit="1"/>
              </p:cNvSpPr>
              <p:nvPr/>
            </p:nvSpPr>
            <p:spPr>
              <a:xfrm>
                <a:off x="419209" y="914988"/>
                <a:ext cx="8305582" cy="2819326"/>
              </a:xfrm>
              <a:prstGeom prst="rect">
                <a:avLst/>
              </a:prstGeom>
              <a:blipFill rotWithShape="1">
                <a:blip r:embed="rId1"/>
                <a:stretch>
                  <a:fillRect l="-78" t="-246" r="-70" b="-207"/>
                </a:stretch>
              </a:blipFill>
            </p:spPr>
            <p:style>
              <a:lnRef idx="2">
                <a:schemeClr val="dk1"/>
              </a:lnRef>
              <a:fillRef idx="1">
                <a:schemeClr val="lt1"/>
              </a:fillRef>
              <a:effectRef idx="0">
                <a:schemeClr val="dk1"/>
              </a:effectRef>
              <a:fontRef idx="minor">
                <a:schemeClr val="dk1"/>
              </a:fontRef>
            </p:style>
            <p:txBody>
              <a:bodyPr/>
              <a:lstStyle/>
              <a:p>
                <a:r>
                  <a:rPr lang="zh-CN" altLang="en-US">
                    <a:noFill/>
                  </a:rPr>
                  <a:t> </a:t>
                </a:r>
              </a:p>
            </p:txBody>
          </p:sp>
        </mc:Fallback>
      </mc:AlternateContent>
      <p:pic>
        <p:nvPicPr>
          <p:cNvPr id="6" name="图片 5"/>
          <p:cNvPicPr>
            <a:picLocks noChangeAspect="1"/>
          </p:cNvPicPr>
          <p:nvPr/>
        </p:nvPicPr>
        <p:blipFill>
          <a:blip r:embed="rId2"/>
          <a:stretch>
            <a:fillRect/>
          </a:stretch>
        </p:blipFill>
        <p:spPr>
          <a:xfrm>
            <a:off x="106826" y="4013701"/>
            <a:ext cx="4571999" cy="1943784"/>
          </a:xfrm>
          <a:prstGeom prst="rect">
            <a:avLst/>
          </a:prstGeom>
        </p:spPr>
      </p:pic>
      <p:sp>
        <p:nvSpPr>
          <p:cNvPr id="7" name="文本框 6"/>
          <p:cNvSpPr txBox="1"/>
          <p:nvPr/>
        </p:nvSpPr>
        <p:spPr>
          <a:xfrm>
            <a:off x="1524080" y="6248326"/>
            <a:ext cx="1981148" cy="380990"/>
          </a:xfrm>
          <a:prstGeom prst="rect">
            <a:avLst/>
          </a:prstGeom>
          <a:noFill/>
        </p:spPr>
        <p:txBody>
          <a:bodyPr wrap="square" rtlCol="0" anchor="t">
            <a:spAutoFit/>
          </a:bodyPr>
          <a:lstStyle/>
          <a:p>
            <a:r>
              <a:rPr lang="zh-CN" altLang="en-US" b="1" dirty="0">
                <a:solidFill>
                  <a:schemeClr val="accent2"/>
                </a:solidFill>
                <a:latin typeface="黑体" panose="02010609060101010101" pitchFamily="49" charset="-122"/>
                <a:ea typeface="黑体" panose="02010609060101010101" pitchFamily="49" charset="-122"/>
                <a:sym typeface="+mn-ea"/>
              </a:rPr>
              <a:t>信道分离示意图</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pic>
        <p:nvPicPr>
          <p:cNvPr id="9" name="图片 8"/>
          <p:cNvPicPr>
            <a:picLocks noChangeAspect="1"/>
          </p:cNvPicPr>
          <p:nvPr/>
        </p:nvPicPr>
        <p:blipFill>
          <a:blip r:embed="rId3"/>
          <a:stretch>
            <a:fillRect/>
          </a:stretch>
        </p:blipFill>
        <p:spPr>
          <a:xfrm>
            <a:off x="4952618" y="4021261"/>
            <a:ext cx="4084556" cy="2002839"/>
          </a:xfrm>
          <a:prstGeom prst="rect">
            <a:avLst/>
          </a:prstGeom>
        </p:spPr>
      </p:pic>
      <p:sp>
        <p:nvSpPr>
          <p:cNvPr id="10" name="文本框 9"/>
          <p:cNvSpPr txBox="1"/>
          <p:nvPr/>
        </p:nvSpPr>
        <p:spPr>
          <a:xfrm>
            <a:off x="6190947" y="6247738"/>
            <a:ext cx="1981148" cy="380990"/>
          </a:xfrm>
          <a:prstGeom prst="rect">
            <a:avLst/>
          </a:prstGeom>
          <a:noFill/>
        </p:spPr>
        <p:txBody>
          <a:bodyPr wrap="square" rtlCol="0" anchor="t">
            <a:spAutoFit/>
          </a:bodyPr>
          <a:lstStyle/>
          <a:p>
            <a:r>
              <a:rPr lang="zh-CN" altLang="en-US" b="1" dirty="0">
                <a:solidFill>
                  <a:schemeClr val="accent2"/>
                </a:solidFill>
                <a:latin typeface="黑体" panose="02010609060101010101" pitchFamily="49" charset="-122"/>
                <a:ea typeface="黑体" panose="02010609060101010101" pitchFamily="49" charset="-122"/>
                <a:sym typeface="+mn-ea"/>
              </a:rPr>
              <a:t>信道合并示意图</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652578" y="104775"/>
            <a:ext cx="2300287" cy="685800"/>
          </a:xfrm>
        </p:spPr>
        <p:txBody>
          <a:bodyPr vert="horz" wrap="square" lIns="91440" tIns="45720" rIns="91440" bIns="45720" anchor="ctr"/>
          <a:lstStyle/>
          <a:p>
            <a:r>
              <a:rPr lang="zh-CN" altLang="en-US" sz="2400" dirty="0"/>
              <a:t>内容提要</a:t>
            </a:r>
            <a:endParaRPr lang="zh-CN" altLang="en-US" sz="24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8198" name="AutoShape 49"/>
          <p:cNvSpPr/>
          <p:nvPr/>
        </p:nvSpPr>
        <p:spPr>
          <a:xfrm>
            <a:off x="2242185" y="4801235"/>
            <a:ext cx="5530850" cy="647065"/>
          </a:xfrm>
          <a:prstGeom prst="roundRect">
            <a:avLst>
              <a:gd name="adj" fmla="val 50000"/>
            </a:avLst>
          </a:prstGeom>
          <a:noFill/>
          <a:ln w="28575" cap="flat" cmpd="sng">
            <a:solidFill>
              <a:srgbClr val="C0C0C0"/>
            </a:solidFill>
            <a:prstDash val="solid"/>
            <a:headEnd type="none" w="med" len="med"/>
            <a:tailEnd type="none" w="med" len="med"/>
          </a:ln>
        </p:spPr>
        <p:txBody>
          <a:bodyPr wrap="none"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1" i="0" u="none" strike="noStrike" kern="0" cap="none" spc="0" normalizeH="0" baseline="0" noProof="0" dirty="0">
                <a:ln>
                  <a:noFill/>
                </a:ln>
                <a:solidFill>
                  <a:srgbClr val="FFFFFF">
                    <a:lumMod val="75000"/>
                  </a:srgbClr>
                </a:solidFill>
                <a:effectLst/>
                <a:uLnTx/>
                <a:uFillTx/>
                <a:latin typeface="+mn-lt"/>
                <a:ea typeface="宋体" panose="02010600030101010101" pitchFamily="2" charset="-122"/>
                <a:cs typeface="+mn-cs"/>
              </a:rPr>
              <a:t>Polar</a:t>
            </a:r>
            <a:r>
              <a:rPr kumimoji="0" lang="zh-CN" altLang="en-US" sz="2800" b="1" i="0" u="none" strike="noStrike" kern="0" cap="none" spc="0" normalizeH="0" baseline="0" noProof="0" dirty="0">
                <a:ln>
                  <a:noFill/>
                </a:ln>
                <a:solidFill>
                  <a:srgbClr val="FFFFFF">
                    <a:lumMod val="75000"/>
                  </a:srgbClr>
                </a:solidFill>
                <a:effectLst/>
                <a:uLnTx/>
                <a:uFillTx/>
                <a:latin typeface="+mn-lt"/>
                <a:ea typeface="宋体" panose="02010600030101010101" pitchFamily="2" charset="-122"/>
                <a:cs typeface="+mn-cs"/>
              </a:rPr>
              <a:t>码应</a:t>
            </a:r>
            <a:r>
              <a:rPr kumimoji="0" lang="zh-CN" altLang="en-US" sz="2800" b="1" i="0" u="none" strike="noStrike" kern="0" cap="none" spc="0" normalizeH="0" baseline="0" noProof="0" dirty="0">
                <a:ln>
                  <a:noFill/>
                </a:ln>
                <a:solidFill>
                  <a:srgbClr val="FFFFFF">
                    <a:lumMod val="75000"/>
                  </a:srgbClr>
                </a:solidFill>
                <a:effectLst/>
                <a:uLnTx/>
                <a:uFillTx/>
                <a:latin typeface="Arial" panose="020B0604020202020204" pitchFamily="34" charset="0"/>
                <a:ea typeface="宋体" panose="02010600030101010101" pitchFamily="2" charset="-122"/>
                <a:cs typeface="+mn-cs"/>
              </a:rPr>
              <a:t>用</a:t>
            </a:r>
            <a:r>
              <a:rPr kumimoji="0" lang="zh-CN" altLang="en-US" sz="2800" b="1" i="0" u="none" strike="noStrike" kern="0" cap="none" spc="0" normalizeH="0" baseline="0" noProof="0" dirty="0">
                <a:ln>
                  <a:noFill/>
                </a:ln>
                <a:solidFill>
                  <a:srgbClr val="FFFFFF">
                    <a:lumMod val="75000"/>
                  </a:srgbClr>
                </a:solidFill>
                <a:effectLst/>
                <a:uLnTx/>
                <a:uFillTx/>
                <a:latin typeface="Arial" panose="020B0604020202020204" pitchFamily="34" charset="0"/>
                <a:ea typeface="宋体" panose="02010600030101010101" pitchFamily="2" charset="-122"/>
                <a:cs typeface="+mn-cs"/>
                <a:sym typeface="+mn-ea"/>
              </a:rPr>
              <a:t>及发展趋势</a:t>
            </a:r>
            <a:endParaRPr kumimoji="0" lang="zh-CN" altLang="en-US" sz="2800" b="1" i="0" u="none" strike="noStrike" kern="0" cap="none" spc="0" normalizeH="0" baseline="0" noProof="0" dirty="0">
              <a:ln>
                <a:noFill/>
              </a:ln>
              <a:solidFill>
                <a:srgbClr val="FFFFFF">
                  <a:lumMod val="75000"/>
                </a:srgbClr>
              </a:solidFill>
              <a:effectLst/>
              <a:uLnTx/>
              <a:uFillTx/>
              <a:latin typeface="Arial" panose="020B0604020202020204" pitchFamily="34" charset="0"/>
              <a:ea typeface="宋体" panose="02010600030101010101" pitchFamily="2" charset="-122"/>
              <a:cs typeface="+mn-cs"/>
            </a:endParaRPr>
          </a:p>
        </p:txBody>
      </p:sp>
      <p:sp>
        <p:nvSpPr>
          <p:cNvPr id="9" name="AutoShape 50"/>
          <p:cNvSpPr>
            <a:spLocks noChangeArrowheads="1"/>
          </p:cNvSpPr>
          <p:nvPr/>
        </p:nvSpPr>
        <p:spPr bwMode="gray">
          <a:xfrm>
            <a:off x="2438400" y="3837305"/>
            <a:ext cx="6172200" cy="647065"/>
          </a:xfrm>
          <a:prstGeom prst="roundRect">
            <a:avLst>
              <a:gd name="adj" fmla="val 50000"/>
            </a:avLst>
          </a:prstGeom>
          <a:noFill/>
          <a:ln w="28575" algn="ctr">
            <a:solidFill>
              <a:srgbClr val="C0C0C0"/>
            </a:solidFill>
            <a:rou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rgbClr val="FFFFFF">
                    <a:lumMod val="75000"/>
                  </a:srgbClr>
                </a:solidFill>
                <a:effectLst/>
                <a:uLnTx/>
                <a:uFillTx/>
                <a:latin typeface="Arial" panose="020B0604020202020204" pitchFamily="34" charset="0"/>
                <a:ea typeface="宋体" panose="02010600030101010101" pitchFamily="2" charset="-122"/>
                <a:cs typeface="+mn-cs"/>
                <a:sym typeface="+mn-ea"/>
              </a:rPr>
              <a:t>极化码的构造（编译码）</a:t>
            </a:r>
            <a:endParaRPr kumimoji="0" lang="zh-CN" altLang="en-US" sz="2800" b="1" i="0" u="none" strike="noStrike" kern="0" cap="none" spc="0" normalizeH="0" baseline="0" noProof="0" dirty="0">
              <a:ln>
                <a:noFill/>
              </a:ln>
              <a:solidFill>
                <a:srgbClr val="FFFFFF">
                  <a:lumMod val="75000"/>
                </a:srgbClr>
              </a:solidFill>
              <a:effectLst/>
              <a:uLnTx/>
              <a:uFillTx/>
              <a:latin typeface="Arial" panose="020B0604020202020204" pitchFamily="34" charset="0"/>
              <a:ea typeface="宋体" panose="02010600030101010101" pitchFamily="2" charset="-122"/>
              <a:cs typeface="+mn-cs"/>
              <a:sym typeface="+mn-ea"/>
            </a:endParaRPr>
          </a:p>
        </p:txBody>
      </p:sp>
      <p:sp>
        <p:nvSpPr>
          <p:cNvPr id="10" name="AutoShape 51"/>
          <p:cNvSpPr>
            <a:spLocks noChangeArrowheads="1"/>
          </p:cNvSpPr>
          <p:nvPr/>
        </p:nvSpPr>
        <p:spPr bwMode="gray">
          <a:xfrm>
            <a:off x="2437130" y="2893060"/>
            <a:ext cx="5486400" cy="698500"/>
          </a:xfrm>
          <a:prstGeom prst="roundRect">
            <a:avLst>
              <a:gd name="adj" fmla="val 50000"/>
            </a:avLst>
          </a:prstGeom>
          <a:noFill/>
          <a:ln w="28575" algn="ctr">
            <a:solidFill>
              <a:srgbClr val="C0C0C0"/>
            </a:solidFill>
            <a:round/>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0" cap="none" spc="0" normalizeH="0" baseline="0" noProof="0" dirty="0">
                <a:ln>
                  <a:noFill/>
                </a:ln>
                <a:effectLst/>
                <a:uLnTx/>
                <a:uFillTx/>
                <a:latin typeface="Arial" panose="020B0604020202020204" pitchFamily="34" charset="0"/>
                <a:ea typeface="宋体" panose="02010600030101010101" pitchFamily="2" charset="-122"/>
                <a:cs typeface="+mn-cs"/>
              </a:rPr>
              <a:t>极化码的基本原理</a:t>
            </a:r>
            <a:endParaRPr kumimoji="0" lang="zh-CN" altLang="en-US" sz="2800" b="1" i="0" u="none" strike="noStrike" kern="0" cap="none" spc="0" normalizeH="0" baseline="0" noProof="0" dirty="0">
              <a:ln>
                <a:noFill/>
              </a:ln>
              <a:effectLst/>
              <a:uLnTx/>
              <a:uFillTx/>
              <a:latin typeface="Arial" panose="020B0604020202020204" pitchFamily="34" charset="0"/>
              <a:ea typeface="宋体" panose="02010600030101010101" pitchFamily="2" charset="-122"/>
              <a:cs typeface="+mn-cs"/>
            </a:endParaRPr>
          </a:p>
        </p:txBody>
      </p:sp>
      <p:sp>
        <p:nvSpPr>
          <p:cNvPr id="11" name="AutoShape 52"/>
          <p:cNvSpPr>
            <a:spLocks noChangeArrowheads="1"/>
          </p:cNvSpPr>
          <p:nvPr/>
        </p:nvSpPr>
        <p:spPr bwMode="gray">
          <a:xfrm>
            <a:off x="1840865" y="1821180"/>
            <a:ext cx="5426710" cy="675005"/>
          </a:xfrm>
          <a:prstGeom prst="roundRect">
            <a:avLst>
              <a:gd name="adj" fmla="val 50000"/>
            </a:avLst>
          </a:prstGeom>
          <a:noFill/>
          <a:ln w="28575" algn="ctr">
            <a:solidFill>
              <a:srgbClr val="C0C0C0"/>
            </a:solidFill>
            <a:round/>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0" cap="none" spc="0" normalizeH="0" baseline="0" noProof="0" dirty="0">
                <a:ln>
                  <a:noFill/>
                </a:ln>
                <a:solidFill>
                  <a:schemeClr val="bg1">
                    <a:lumMod val="75000"/>
                  </a:schemeClr>
                </a:solidFill>
                <a:effectLst/>
                <a:uLnTx/>
                <a:uFillTx/>
                <a:latin typeface="Arial" panose="020B0604020202020204" pitchFamily="34" charset="0"/>
                <a:ea typeface="宋体" panose="02010600030101010101" pitchFamily="2" charset="-122"/>
                <a:cs typeface="+mn-cs"/>
              </a:rPr>
              <a:t>极化码概述与研究现状</a:t>
            </a:r>
            <a:endParaRPr kumimoji="0" lang="zh-CN" altLang="en-US" sz="4000" b="1" i="0" u="none" strike="noStrike" kern="0" cap="none" spc="0" normalizeH="0" baseline="0" noProof="0" dirty="0">
              <a:ln>
                <a:noFill/>
              </a:ln>
              <a:solidFill>
                <a:schemeClr val="bg1">
                  <a:lumMod val="75000"/>
                </a:schemeClr>
              </a:solidFill>
              <a:effectLst/>
              <a:uLnTx/>
              <a:uFillTx/>
              <a:latin typeface="Arial" panose="020B0604020202020204" pitchFamily="34" charset="0"/>
              <a:ea typeface="宋体" panose="02010600030101010101" pitchFamily="2" charset="-122"/>
              <a:cs typeface="+mn-cs"/>
            </a:endParaRPr>
          </a:p>
        </p:txBody>
      </p:sp>
      <p:grpSp>
        <p:nvGrpSpPr>
          <p:cNvPr id="8202" name="Group 53"/>
          <p:cNvGrpSpPr/>
          <p:nvPr/>
        </p:nvGrpSpPr>
        <p:grpSpPr>
          <a:xfrm>
            <a:off x="1523365" y="1985328"/>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3" name="Group 60"/>
          <p:cNvGrpSpPr/>
          <p:nvPr/>
        </p:nvGrpSpPr>
        <p:grpSpPr>
          <a:xfrm>
            <a:off x="2056765" y="3074988"/>
            <a:ext cx="381000" cy="381000"/>
            <a:chOff x="2078" y="1680"/>
            <a:chExt cx="1615" cy="1615"/>
          </a:xfrm>
        </p:grpSpPr>
        <p:sp>
          <p:nvSpPr>
            <p:cNvPr id="2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2133600" y="3913188"/>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5" name="Group 74"/>
          <p:cNvGrpSpPr/>
          <p:nvPr/>
        </p:nvGrpSpPr>
        <p:grpSpPr>
          <a:xfrm>
            <a:off x="1905635" y="4826953"/>
            <a:ext cx="381000" cy="381000"/>
            <a:chOff x="2078" y="1680"/>
            <a:chExt cx="1615" cy="1615"/>
          </a:xfrm>
        </p:grpSpPr>
        <p:sp>
          <p:nvSpPr>
            <p:cNvPr id="34" name="Oval 75"/>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5" name="Oval 76"/>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6" name="Oval 77"/>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7" name="Oval 78"/>
            <p:cNvSpPr>
              <a:spLocks noChangeArrowheads="1"/>
            </p:cNvSpPr>
            <p:nvPr/>
          </p:nvSpPr>
          <p:spPr bwMode="gray">
            <a:xfrm>
              <a:off x="2253" y="1855"/>
              <a:ext cx="1265" cy="1265"/>
            </a:xfrm>
            <a:prstGeom prst="ellipse">
              <a:avLst/>
            </a:prstGeom>
            <a:gradFill rotWithShape="1">
              <a:gsLst>
                <a:gs pos="0">
                  <a:srgbClr val="8D67E1">
                    <a:gamma/>
                    <a:shade val="0"/>
                    <a:invGamma/>
                  </a:srgbClr>
                </a:gs>
                <a:gs pos="100000">
                  <a:srgbClr val="8D67E1"/>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8" name="Oval 79"/>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9" name="Oval 80"/>
            <p:cNvSpPr>
              <a:spLocks noChangeArrowheads="1"/>
            </p:cNvSpPr>
            <p:nvPr/>
          </p:nvSpPr>
          <p:spPr bwMode="gray">
            <a:xfrm>
              <a:off x="2334" y="1936"/>
              <a:ext cx="1097" cy="1104"/>
            </a:xfrm>
            <a:prstGeom prst="ellipse">
              <a:avLst/>
            </a:prstGeom>
            <a:gradFill rotWithShape="1">
              <a:gsLst>
                <a:gs pos="0">
                  <a:srgbClr val="8D67E1"/>
                </a:gs>
                <a:gs pos="100000">
                  <a:srgbClr val="8D67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2673" y="1066862"/>
            <a:ext cx="7778654" cy="1523960"/>
          </a:xfrm>
        </p:spPr>
        <p:style>
          <a:lnRef idx="2">
            <a:schemeClr val="dk1"/>
          </a:lnRef>
          <a:fillRef idx="1">
            <a:schemeClr val="lt1"/>
          </a:fillRef>
          <a:effectRef idx="0">
            <a:schemeClr val="dk1"/>
          </a:effectRef>
          <a:fontRef idx="minor">
            <a:schemeClr val="dk1"/>
          </a:fontRef>
        </p:style>
        <p:txBody>
          <a:bodyPr/>
          <a:lstStyle/>
          <a:p>
            <a:pPr marL="0" indent="0">
              <a:lnSpc>
                <a:spcPct val="150000"/>
              </a:lnSpc>
              <a:spcBef>
                <a:spcPts val="0"/>
              </a:spcBef>
              <a:spcAft>
                <a:spcPts val="0"/>
              </a:spcAft>
              <a:buNone/>
            </a:pPr>
            <a:r>
              <a:rPr lang="zh-CN" altLang="en-US" sz="2000" dirty="0">
                <a:solidFill>
                  <a:schemeClr val="dk1"/>
                </a:solidFill>
              </a:rPr>
              <a:t>       对于</a:t>
            </a:r>
            <a:r>
              <a:rPr lang="en-US" altLang="zh-CN" sz="2000" dirty="0">
                <a:solidFill>
                  <a:schemeClr val="dk1"/>
                </a:solidFill>
              </a:rPr>
              <a:t>Polar</a:t>
            </a:r>
            <a:r>
              <a:rPr lang="zh-CN" altLang="en-US" sz="2000" dirty="0">
                <a:solidFill>
                  <a:schemeClr val="dk1"/>
                </a:solidFill>
              </a:rPr>
              <a:t>码基本原理可以归结为三点：</a:t>
            </a:r>
            <a:r>
              <a:rPr lang="zh-CN" altLang="en-US" sz="2000" u="sng" dirty="0">
                <a:solidFill>
                  <a:schemeClr val="dk1"/>
                </a:solidFill>
              </a:rPr>
              <a:t>信道合并</a:t>
            </a:r>
            <a:r>
              <a:rPr lang="zh-CN" altLang="en-US" sz="2000" dirty="0">
                <a:solidFill>
                  <a:schemeClr val="dk1"/>
                </a:solidFill>
              </a:rPr>
              <a:t>、</a:t>
            </a:r>
            <a:r>
              <a:rPr lang="zh-CN" altLang="en-US" sz="2000" u="sng" dirty="0">
                <a:solidFill>
                  <a:schemeClr val="dk1"/>
                </a:solidFill>
              </a:rPr>
              <a:t>信道分离</a:t>
            </a:r>
            <a:r>
              <a:rPr lang="zh-CN" altLang="en-US" sz="2000" dirty="0">
                <a:solidFill>
                  <a:schemeClr val="dk1"/>
                </a:solidFill>
              </a:rPr>
              <a:t>、</a:t>
            </a:r>
            <a:r>
              <a:rPr lang="zh-CN" altLang="en-US" sz="2000" u="sng" dirty="0">
                <a:solidFill>
                  <a:schemeClr val="dk1"/>
                </a:solidFill>
              </a:rPr>
              <a:t>信道极化</a:t>
            </a:r>
            <a:r>
              <a:rPr lang="zh-CN" altLang="en-US" sz="2000" dirty="0">
                <a:solidFill>
                  <a:schemeClr val="dk1"/>
                </a:solidFill>
              </a:rPr>
              <a:t>。其中信道合并和信道极化是在编码时完成的；信道分离是在解码时完成。</a:t>
            </a:r>
            <a:endParaRPr lang="zh-CN" altLang="en-US" sz="2000" dirty="0">
              <a:solidFill>
                <a:schemeClr val="dk1"/>
              </a:solidFill>
            </a:endParaRPr>
          </a:p>
        </p:txBody>
      </p:sp>
      <p:sp>
        <p:nvSpPr>
          <p:cNvPr id="4" name="标题 1"/>
          <p:cNvSpPr>
            <a:spLocks noGrp="1"/>
          </p:cNvSpPr>
          <p:nvPr>
            <p:ph type="title"/>
          </p:nvPr>
        </p:nvSpPr>
        <p:spPr>
          <a:xfrm>
            <a:off x="6095960" y="152486"/>
            <a:ext cx="2933737"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p:sp>
        <p:nvSpPr>
          <p:cNvPr id="5" name="内容占位符 2"/>
          <p:cNvSpPr txBox="1"/>
          <p:nvPr/>
        </p:nvSpPr>
        <p:spPr>
          <a:xfrm>
            <a:off x="533506" y="2880356"/>
            <a:ext cx="7778654" cy="3047920"/>
          </a:xfrm>
          <a:prstGeom prst="rect">
            <a:avLst/>
          </a:prstGeom>
          <a:noFill/>
          <a:ln>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Font typeface="Wingdings" panose="05000000000000000000" pitchFamily="2" charset="2"/>
              <a:buNone/>
            </a:pPr>
            <a:r>
              <a:rPr lang="zh-CN" altLang="en-US" sz="2400" dirty="0">
                <a:solidFill>
                  <a:srgbClr val="FF0000"/>
                </a:solidFill>
                <a:latin typeface="+mn-ea"/>
              </a:rPr>
              <a:t> 信道选择：</a:t>
            </a:r>
            <a:endParaRPr lang="en-US" altLang="zh-CN" sz="2400" dirty="0">
              <a:solidFill>
                <a:srgbClr val="FF0000"/>
              </a:solidFill>
              <a:latin typeface="+mn-ea"/>
            </a:endParaRPr>
          </a:p>
          <a:p>
            <a:pPr marL="0" indent="0">
              <a:lnSpc>
                <a:spcPct val="150000"/>
              </a:lnSpc>
              <a:spcBef>
                <a:spcPts val="0"/>
              </a:spcBef>
              <a:spcAft>
                <a:spcPts val="0"/>
              </a:spcAft>
              <a:buFont typeface="Wingdings" panose="05000000000000000000" pitchFamily="2" charset="2"/>
              <a:buNone/>
            </a:pPr>
            <a:r>
              <a:rPr lang="en-US" altLang="zh-CN" sz="2000" dirty="0">
                <a:solidFill>
                  <a:srgbClr val="FF0000"/>
                </a:solidFill>
                <a:latin typeface="+mn-ea"/>
              </a:rPr>
              <a:t>    </a:t>
            </a:r>
            <a:r>
              <a:rPr lang="zh-CN" altLang="en-US" sz="2000" dirty="0">
                <a:solidFill>
                  <a:schemeClr val="tx1"/>
                </a:solidFill>
                <a:latin typeface="+mn-ea"/>
              </a:rPr>
              <a:t>对于编码方案通常根据某种信道设计</a:t>
            </a:r>
            <a:r>
              <a:rPr lang="zh-CN" altLang="en-US" sz="2000" dirty="0">
                <a:solidFill>
                  <a:schemeClr val="tx1"/>
                </a:solidFill>
              </a:rPr>
              <a:t>，</a:t>
            </a:r>
            <a:r>
              <a:rPr lang="en-US" altLang="zh-CN" sz="2000" dirty="0">
                <a:solidFill>
                  <a:schemeClr val="tx1"/>
                </a:solidFill>
              </a:rPr>
              <a:t>Polar</a:t>
            </a:r>
            <a:r>
              <a:rPr lang="zh-CN" altLang="en-US" sz="2000" dirty="0">
                <a:solidFill>
                  <a:schemeClr val="tx1"/>
                </a:solidFill>
              </a:rPr>
              <a:t>码</a:t>
            </a:r>
            <a:r>
              <a:rPr lang="zh-CN" altLang="en-US" sz="2000" dirty="0">
                <a:solidFill>
                  <a:schemeClr val="tx1"/>
                </a:solidFill>
                <a:latin typeface="+mn-ea"/>
              </a:rPr>
              <a:t>主要考虑以下信道进行分析：</a:t>
            </a:r>
            <a:endParaRPr lang="en-US" altLang="zh-CN" sz="2000" dirty="0">
              <a:solidFill>
                <a:schemeClr val="tx1"/>
              </a:solidFill>
              <a:latin typeface="+mn-ea"/>
            </a:endParaRPr>
          </a:p>
          <a:p>
            <a:pPr marL="0" indent="0">
              <a:lnSpc>
                <a:spcPct val="150000"/>
              </a:lnSpc>
              <a:spcBef>
                <a:spcPts val="0"/>
              </a:spcBef>
              <a:spcAft>
                <a:spcPts val="0"/>
              </a:spcAft>
              <a:buNone/>
            </a:pPr>
            <a:r>
              <a:rPr lang="zh-CN" altLang="en-US" sz="2000" dirty="0">
                <a:solidFill>
                  <a:schemeClr val="tx1"/>
                </a:solidFill>
              </a:rPr>
              <a:t>                                                                      二进制删除信道（</a:t>
            </a:r>
            <a:r>
              <a:rPr lang="en-US" altLang="zh-CN" sz="2000" dirty="0">
                <a:solidFill>
                  <a:schemeClr val="tx1"/>
                </a:solidFill>
              </a:rPr>
              <a:t>BEC</a:t>
            </a:r>
            <a:r>
              <a:rPr lang="zh-CN" altLang="en-US" sz="2000" dirty="0">
                <a:solidFill>
                  <a:schemeClr val="tx1"/>
                </a:solidFill>
              </a:rPr>
              <a:t>）</a:t>
            </a:r>
            <a:endParaRPr lang="en-US" altLang="zh-CN" sz="2000" dirty="0">
              <a:solidFill>
                <a:schemeClr val="tx1"/>
              </a:solidFill>
            </a:endParaRPr>
          </a:p>
          <a:p>
            <a:pPr marL="0" indent="0">
              <a:lnSpc>
                <a:spcPct val="150000"/>
              </a:lnSpc>
              <a:spcBef>
                <a:spcPts val="0"/>
              </a:spcBef>
              <a:spcAft>
                <a:spcPts val="0"/>
              </a:spcAft>
              <a:buNone/>
            </a:pPr>
            <a:r>
              <a:rPr lang="zh-CN" altLang="en-US" sz="2000" b="1" dirty="0">
                <a:solidFill>
                  <a:srgbClr val="0070C0"/>
                </a:solidFill>
              </a:rPr>
              <a:t>   二进制离散无记忆信道（</a:t>
            </a:r>
            <a:r>
              <a:rPr lang="en-US" altLang="zh-CN" sz="2000" b="1" dirty="0">
                <a:solidFill>
                  <a:srgbClr val="0070C0"/>
                </a:solidFill>
              </a:rPr>
              <a:t>B-DMC</a:t>
            </a:r>
            <a:r>
              <a:rPr lang="zh-CN" altLang="en-US" sz="2000" b="1" dirty="0">
                <a:solidFill>
                  <a:srgbClr val="0070C0"/>
                </a:solidFill>
              </a:rPr>
              <a:t>）</a:t>
            </a:r>
            <a:r>
              <a:rPr lang="en-US" altLang="zh-CN" sz="2000" dirty="0">
                <a:solidFill>
                  <a:schemeClr val="tx1"/>
                </a:solidFill>
              </a:rPr>
              <a:t>    </a:t>
            </a:r>
            <a:endParaRPr lang="en-US" altLang="zh-CN" sz="2000" dirty="0">
              <a:solidFill>
                <a:schemeClr val="tx1"/>
              </a:solidFill>
            </a:endParaRPr>
          </a:p>
          <a:p>
            <a:pPr marL="0" indent="0">
              <a:lnSpc>
                <a:spcPct val="150000"/>
              </a:lnSpc>
              <a:spcBef>
                <a:spcPts val="0"/>
              </a:spcBef>
              <a:spcAft>
                <a:spcPts val="0"/>
              </a:spcAft>
              <a:buNone/>
            </a:pPr>
            <a:r>
              <a:rPr lang="en-US" altLang="zh-CN" sz="2000" dirty="0">
                <a:solidFill>
                  <a:schemeClr val="tx1"/>
                </a:solidFill>
              </a:rPr>
              <a:t>                                                                      </a:t>
            </a:r>
            <a:r>
              <a:rPr lang="zh-CN" altLang="en-US" sz="2000" dirty="0">
                <a:solidFill>
                  <a:schemeClr val="tx1"/>
                </a:solidFill>
              </a:rPr>
              <a:t>二进制对称信道（</a:t>
            </a:r>
            <a:r>
              <a:rPr lang="en-US" altLang="zh-CN" sz="2000" dirty="0">
                <a:solidFill>
                  <a:schemeClr val="tx1"/>
                </a:solidFill>
              </a:rPr>
              <a:t>BSC</a:t>
            </a:r>
            <a:r>
              <a:rPr lang="zh-CN" altLang="en-US" sz="2000" dirty="0">
                <a:solidFill>
                  <a:schemeClr val="tx1"/>
                </a:solidFill>
              </a:rPr>
              <a:t>）</a:t>
            </a:r>
            <a:endParaRPr lang="en-US" altLang="zh-CN" sz="2000" b="1" dirty="0">
              <a:solidFill>
                <a:srgbClr val="0070C0"/>
              </a:solidFill>
            </a:endParaRPr>
          </a:p>
        </p:txBody>
      </p:sp>
      <p:sp>
        <p:nvSpPr>
          <p:cNvPr id="2" name="左大括号 1"/>
          <p:cNvSpPr/>
          <p:nvPr/>
        </p:nvSpPr>
        <p:spPr bwMode="auto">
          <a:xfrm>
            <a:off x="4724396" y="4648168"/>
            <a:ext cx="298332" cy="914376"/>
          </a:xfrm>
          <a:prstGeom prst="leftBrace">
            <a:avLst>
              <a:gd name="adj1" fmla="val 8333"/>
              <a:gd name="adj2" fmla="val 47777"/>
            </a:avLst>
          </a:prstGeom>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v"/>
            </a:pPr>
            <a:endParaRPr kumimoji="1" lang="zh-CN" altLang="en-US" sz="2800" b="0" i="0" u="none" strike="noStrike" cap="none" normalizeH="0" baseline="0" dirty="0">
              <a:ln>
                <a:noFill/>
              </a:ln>
              <a:solidFill>
                <a:srgbClr val="336699"/>
              </a:solidFill>
              <a:effectLst/>
              <a:latin typeface="黑体" panose="02010609060101010101" pitchFamily="49" charset="-122"/>
              <a:ea typeface="黑体"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019762" y="152465"/>
            <a:ext cx="2933737"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p:sp>
        <p:nvSpPr>
          <p:cNvPr id="5" name="内容占位符 2"/>
          <p:cNvSpPr>
            <a:spLocks noGrp="1"/>
          </p:cNvSpPr>
          <p:nvPr>
            <p:ph idx="1"/>
          </p:nvPr>
        </p:nvSpPr>
        <p:spPr>
          <a:xfrm>
            <a:off x="762100" y="1143060"/>
            <a:ext cx="7778654" cy="1066772"/>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150000"/>
              </a:lnSpc>
              <a:spcBef>
                <a:spcPts val="0"/>
              </a:spcBef>
              <a:spcAft>
                <a:spcPts val="0"/>
              </a:spcAft>
              <a:buNone/>
            </a:pPr>
            <a:r>
              <a:rPr lang="zh-CN" altLang="en-US" sz="2000" dirty="0">
                <a:solidFill>
                  <a:schemeClr val="dk1"/>
                </a:solidFill>
                <a:latin typeface="+mn-ea"/>
              </a:rPr>
              <a:t>   </a:t>
            </a:r>
            <a:r>
              <a:rPr lang="zh-CN" altLang="en-US" sz="2000" dirty="0">
                <a:solidFill>
                  <a:schemeClr val="dk1"/>
                </a:solidFill>
              </a:rPr>
              <a:t>信道</a:t>
            </a:r>
            <a:r>
              <a:rPr lang="en-US" altLang="zh-CN" sz="2000" dirty="0">
                <a:solidFill>
                  <a:schemeClr val="dk1"/>
                </a:solidFill>
              </a:rPr>
              <a:t>W</a:t>
            </a:r>
            <a:r>
              <a:rPr lang="zh-CN" altLang="en-US" sz="2000" dirty="0">
                <a:solidFill>
                  <a:schemeClr val="dk1"/>
                </a:solidFill>
              </a:rPr>
              <a:t>：</a:t>
            </a:r>
            <a:r>
              <a:rPr lang="en-US" altLang="zh-CN" sz="2000" dirty="0">
                <a:solidFill>
                  <a:schemeClr val="dk1"/>
                </a:solidFill>
              </a:rPr>
              <a:t>X</a:t>
            </a:r>
            <a:r>
              <a:rPr lang="en-US" altLang="zh-CN" sz="2000" dirty="0">
                <a:solidFill>
                  <a:schemeClr val="dk1"/>
                </a:solidFill>
                <a:sym typeface="Symbol" panose="05050102010706020507" pitchFamily="18" charset="2"/>
              </a:rPr>
              <a:t>Y</a:t>
            </a:r>
            <a:r>
              <a:rPr lang="zh-CN" altLang="en-US" sz="2000" dirty="0">
                <a:solidFill>
                  <a:schemeClr val="dk1"/>
                </a:solidFill>
                <a:sym typeface="Symbol" panose="05050102010706020507" pitchFamily="18" charset="2"/>
              </a:rPr>
              <a:t>。输入变量</a:t>
            </a:r>
            <a:r>
              <a:rPr lang="en-US" altLang="zh-CN" sz="2000" dirty="0">
                <a:solidFill>
                  <a:schemeClr val="dk1"/>
                </a:solidFill>
                <a:sym typeface="Symbol" panose="05050102010706020507" pitchFamily="18" charset="2"/>
              </a:rPr>
              <a:t>X</a:t>
            </a:r>
            <a:r>
              <a:rPr lang="zh-CN" altLang="en-US" sz="2000" dirty="0">
                <a:solidFill>
                  <a:schemeClr val="dk1"/>
                </a:solidFill>
                <a:sym typeface="Symbol" panose="05050102010706020507" pitchFamily="18" charset="2"/>
              </a:rPr>
              <a:t>只能取</a:t>
            </a:r>
            <a:r>
              <a:rPr lang="en-US" altLang="zh-CN" sz="2000" dirty="0">
                <a:sym typeface="Symbol" panose="05050102010706020507" pitchFamily="18" charset="2"/>
              </a:rPr>
              <a:t>{0,1}</a:t>
            </a:r>
            <a:r>
              <a:rPr lang="zh-CN" altLang="en-US" sz="2000" dirty="0">
                <a:sym typeface="Symbol" panose="05050102010706020507" pitchFamily="18" charset="2"/>
              </a:rPr>
              <a:t>中的值，输出变量</a:t>
            </a:r>
            <a:r>
              <a:rPr lang="en-US" altLang="zh-CN" sz="2000" dirty="0">
                <a:sym typeface="Symbol" panose="05050102010706020507" pitchFamily="18" charset="2"/>
              </a:rPr>
              <a:t>Y</a:t>
            </a:r>
            <a:r>
              <a:rPr lang="zh-CN" altLang="en-US" sz="2000" dirty="0">
                <a:sym typeface="Symbol" panose="05050102010706020507" pitchFamily="18" charset="2"/>
              </a:rPr>
              <a:t>取任意值，信道迁移概率为</a:t>
            </a:r>
            <a:r>
              <a:rPr lang="en-US" altLang="zh-CN" sz="2000" dirty="0">
                <a:sym typeface="Symbol" panose="05050102010706020507" pitchFamily="18" charset="2"/>
              </a:rPr>
              <a:t>P=W(</a:t>
            </a:r>
            <a:r>
              <a:rPr lang="en-US" altLang="zh-CN" sz="2000" dirty="0" err="1">
                <a:sym typeface="Symbol" panose="05050102010706020507" pitchFamily="18" charset="2"/>
              </a:rPr>
              <a:t>y|x</a:t>
            </a:r>
            <a:r>
              <a:rPr lang="en-US" altLang="zh-CN" sz="2000" dirty="0">
                <a:sym typeface="Symbol" panose="05050102010706020507" pitchFamily="18" charset="2"/>
              </a:rPr>
              <a:t>)</a:t>
            </a:r>
            <a:r>
              <a:rPr lang="zh-CN" altLang="en-US" sz="2000" dirty="0">
                <a:sym typeface="Symbol" panose="05050102010706020507" pitchFamily="18" charset="2"/>
              </a:rPr>
              <a:t>，</a:t>
            </a:r>
            <a:r>
              <a:rPr lang="en-US" altLang="zh-CN" sz="2000" dirty="0">
                <a:sym typeface="Symbol" panose="05050102010706020507" pitchFamily="18" charset="2"/>
              </a:rPr>
              <a:t>x</a:t>
            </a:r>
            <a:r>
              <a:rPr lang="zh-CN" altLang="en-US" sz="2000" dirty="0">
                <a:sym typeface="Symbol" panose="05050102010706020507" pitchFamily="18" charset="2"/>
              </a:rPr>
              <a:t>∈</a:t>
            </a:r>
            <a:r>
              <a:rPr lang="en-US" altLang="zh-CN" sz="2000" dirty="0">
                <a:sym typeface="Symbol" panose="05050102010706020507" pitchFamily="18" charset="2"/>
              </a:rPr>
              <a:t>X</a:t>
            </a:r>
            <a:r>
              <a:rPr lang="zh-CN" altLang="en-US" sz="2000" dirty="0">
                <a:sym typeface="Symbol" panose="05050102010706020507" pitchFamily="18" charset="2"/>
              </a:rPr>
              <a:t>，</a:t>
            </a:r>
            <a:r>
              <a:rPr lang="en-US" altLang="zh-CN" sz="2000" dirty="0">
                <a:sym typeface="Symbol" panose="05050102010706020507" pitchFamily="18" charset="2"/>
              </a:rPr>
              <a:t>y</a:t>
            </a:r>
            <a:r>
              <a:rPr lang="zh-CN" altLang="en-US" sz="2000" dirty="0">
                <a:sym typeface="Symbol" panose="05050102010706020507" pitchFamily="18" charset="2"/>
              </a:rPr>
              <a:t>∈</a:t>
            </a:r>
            <a:r>
              <a:rPr lang="en-US" altLang="zh-CN" sz="2000" dirty="0">
                <a:sym typeface="Symbol" panose="05050102010706020507" pitchFamily="18" charset="2"/>
              </a:rPr>
              <a:t>Y</a:t>
            </a:r>
            <a:r>
              <a:rPr lang="zh-CN" altLang="en-US" sz="2000" dirty="0">
                <a:sym typeface="Symbol" panose="05050102010706020507" pitchFamily="18" charset="2"/>
              </a:rPr>
              <a:t>。</a:t>
            </a:r>
            <a:endParaRPr lang="zh-CN" altLang="en-US" sz="2000" dirty="0">
              <a:solidFill>
                <a:schemeClr val="dk1"/>
              </a:solidFill>
            </a:endParaRPr>
          </a:p>
        </p:txBody>
      </p:sp>
      <p:sp>
        <p:nvSpPr>
          <p:cNvPr id="2" name="矩形 1"/>
          <p:cNvSpPr/>
          <p:nvPr/>
        </p:nvSpPr>
        <p:spPr>
          <a:xfrm>
            <a:off x="3657624" y="2362224"/>
            <a:ext cx="1828752" cy="6095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W</a:t>
            </a:r>
            <a:endParaRPr lang="zh-CN" altLang="en-US" dirty="0"/>
          </a:p>
        </p:txBody>
      </p:sp>
      <p:cxnSp>
        <p:nvCxnSpPr>
          <p:cNvPr id="7" name="直接箭头连接符 6"/>
          <p:cNvCxnSpPr>
            <a:endCxn id="2" idx="1"/>
          </p:cNvCxnSpPr>
          <p:nvPr/>
        </p:nvCxnSpPr>
        <p:spPr bwMode="auto">
          <a:xfrm>
            <a:off x="2819446" y="2667016"/>
            <a:ext cx="83817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直接箭头连接符 8"/>
          <p:cNvCxnSpPr/>
          <p:nvPr/>
        </p:nvCxnSpPr>
        <p:spPr bwMode="auto">
          <a:xfrm>
            <a:off x="5486376" y="2667016"/>
            <a:ext cx="83817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文本框 9"/>
          <p:cNvSpPr txBox="1"/>
          <p:nvPr/>
        </p:nvSpPr>
        <p:spPr>
          <a:xfrm>
            <a:off x="2781347" y="2305331"/>
            <a:ext cx="457188" cy="369332"/>
          </a:xfrm>
          <a:prstGeom prst="rect">
            <a:avLst/>
          </a:prstGeom>
          <a:noFill/>
        </p:spPr>
        <p:txBody>
          <a:bodyPr wrap="square" rtlCol="0" anchor="t">
            <a:spAutoFit/>
          </a:bodyPr>
          <a:lstStyle/>
          <a:p>
            <a:r>
              <a:rPr lang="en-US" altLang="zh-CN" b="1" dirty="0">
                <a:latin typeface="+mn-lt"/>
                <a:ea typeface="黑体" panose="02010609060101010101" pitchFamily="49" charset="-122"/>
                <a:sym typeface="+mn-ea"/>
              </a:rPr>
              <a:t>X</a:t>
            </a:r>
            <a:endParaRPr lang="zh-CN" altLang="en-US" b="1" dirty="0">
              <a:latin typeface="+mn-lt"/>
              <a:ea typeface="黑体" panose="02010609060101010101" pitchFamily="49" charset="-122"/>
              <a:sym typeface="+mn-ea"/>
            </a:endParaRPr>
          </a:p>
        </p:txBody>
      </p:sp>
      <p:sp>
        <p:nvSpPr>
          <p:cNvPr id="11" name="文本框 10"/>
          <p:cNvSpPr txBox="1"/>
          <p:nvPr/>
        </p:nvSpPr>
        <p:spPr>
          <a:xfrm>
            <a:off x="5943497" y="2297684"/>
            <a:ext cx="457188" cy="369332"/>
          </a:xfrm>
          <a:prstGeom prst="rect">
            <a:avLst/>
          </a:prstGeom>
          <a:noFill/>
        </p:spPr>
        <p:txBody>
          <a:bodyPr wrap="square" rtlCol="0" anchor="t">
            <a:spAutoFit/>
          </a:bodyPr>
          <a:lstStyle/>
          <a:p>
            <a:r>
              <a:rPr lang="en-US" altLang="zh-CN" b="1" dirty="0">
                <a:latin typeface="+mn-lt"/>
                <a:ea typeface="黑体" panose="02010609060101010101" pitchFamily="49" charset="-122"/>
                <a:sym typeface="+mn-ea"/>
              </a:rPr>
              <a:t>Y</a:t>
            </a:r>
            <a:endParaRPr lang="zh-CN" altLang="en-US" b="1" dirty="0">
              <a:latin typeface="+mn-lt"/>
              <a:ea typeface="黑体" panose="02010609060101010101" pitchFamily="49" charset="-122"/>
              <a:sym typeface="+mn-ea"/>
            </a:endParaRPr>
          </a:p>
        </p:txBody>
      </p:sp>
      <p:sp>
        <p:nvSpPr>
          <p:cNvPr id="12" name="文本框 11"/>
          <p:cNvSpPr txBox="1"/>
          <p:nvPr/>
        </p:nvSpPr>
        <p:spPr>
          <a:xfrm>
            <a:off x="4038614" y="3227298"/>
            <a:ext cx="1219168" cy="369332"/>
          </a:xfrm>
          <a:prstGeom prst="rect">
            <a:avLst/>
          </a:prstGeom>
          <a:noFill/>
        </p:spPr>
        <p:txBody>
          <a:bodyPr wrap="square" rtlCol="0" anchor="t">
            <a:spAutoFit/>
          </a:bodyPr>
          <a:lstStyle/>
          <a:p>
            <a:r>
              <a:rPr lang="zh-CN" altLang="en-US" b="1" dirty="0">
                <a:solidFill>
                  <a:schemeClr val="accent2"/>
                </a:solidFill>
                <a:latin typeface="黑体" panose="02010609060101010101" pitchFamily="49" charset="-122"/>
                <a:ea typeface="黑体" panose="02010609060101010101" pitchFamily="49" charset="-122"/>
                <a:sym typeface="+mn-ea"/>
              </a:rPr>
              <a:t>信道示意</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mc:AlternateContent xmlns:mc="http://schemas.openxmlformats.org/markup-compatibility/2006">
        <mc:Choice xmlns:a14="http://schemas.microsoft.com/office/drawing/2010/main" Requires="a14">
          <p:sp>
            <p:nvSpPr>
              <p:cNvPr id="13" name="内容占位符 2"/>
              <p:cNvSpPr txBox="1"/>
              <p:nvPr/>
            </p:nvSpPr>
            <p:spPr>
              <a:xfrm>
                <a:off x="457308" y="3657596"/>
                <a:ext cx="8381780" cy="2743128"/>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Font typeface="Wingdings" panose="05000000000000000000" pitchFamily="2" charset="2"/>
                  <a:buNone/>
                </a:pPr>
                <a:r>
                  <a:rPr lang="zh-CN" altLang="en-US" sz="2000" dirty="0">
                    <a:latin typeface="+mn-ea"/>
                  </a:rPr>
                  <a:t>     </a:t>
                </a:r>
                <a:r>
                  <a:rPr lang="zh-CN" altLang="en-US" sz="2000" dirty="0"/>
                  <a:t>对于对称信道（</a:t>
                </a:r>
                <a:r>
                  <a:rPr lang="en-US" altLang="zh-CN" sz="2000" dirty="0"/>
                  <a:t>BEC\BSC</a:t>
                </a:r>
                <a:r>
                  <a:rPr lang="zh-CN" altLang="en-US" sz="2000" dirty="0"/>
                  <a:t>），当输入在</a:t>
                </a:r>
                <a:r>
                  <a:rPr lang="en-US" altLang="zh-CN" sz="2000" dirty="0"/>
                  <a:t>{0,1}</a:t>
                </a:r>
                <a:r>
                  <a:rPr lang="zh-CN" altLang="en-US" sz="2000" dirty="0"/>
                  <a:t>概率时，其信道容量定义为输入输出的相互信息。</a:t>
                </a:r>
                <a:endParaRPr lang="en-US" altLang="zh-CN" sz="2000" dirty="0"/>
              </a:p>
              <a:p>
                <a:pPr marL="0" indent="0">
                  <a:lnSpc>
                    <a:spcPct val="150000"/>
                  </a:lnSpc>
                  <a:spcBef>
                    <a:spcPts val="0"/>
                  </a:spcBef>
                  <a:spcAft>
                    <a:spcPts val="0"/>
                  </a:spcAft>
                  <a:buFont typeface="Wingdings" panose="05000000000000000000" pitchFamily="2" charset="2"/>
                  <a:buNone/>
                </a:pPr>
                <a14:m>
                  <m:oMathPara xmlns:m="http://schemas.openxmlformats.org/officeDocument/2006/math">
                    <m:oMathParaPr>
                      <m:jc m:val="centerGroup"/>
                    </m:oMathParaPr>
                    <m:oMath xmlns:m="http://schemas.openxmlformats.org/officeDocument/2006/math">
                      <m:r>
                        <m:rPr>
                          <m:nor/>
                        </m:rPr>
                        <a:rPr lang="en-US" altLang="zh-CN" sz="2000" b="0" i="0" smtClean="0">
                          <a:latin typeface="Cambria Math" panose="02040503050406030204" pitchFamily="18" charset="0"/>
                        </a:rPr>
                        <m:t>C</m:t>
                      </m:r>
                      <m:d>
                        <m:dPr>
                          <m:ctrlPr>
                            <a:rPr lang="en-US" altLang="zh-CN" sz="2000" b="0" i="1" smtClean="0">
                              <a:latin typeface="Cambria Math" panose="02040503050406030204" pitchFamily="18" charset="0"/>
                            </a:rPr>
                          </m:ctrlPr>
                        </m:dPr>
                        <m:e>
                          <m:r>
                            <m:rPr>
                              <m:nor/>
                            </m:rPr>
                            <a:rPr lang="en-US" altLang="zh-CN" sz="2000" b="0" i="0" smtClean="0">
                              <a:latin typeface="Cambria Math" panose="02040503050406030204" pitchFamily="18" charset="0"/>
                            </a:rPr>
                            <m:t>W</m:t>
                          </m:r>
                        </m:e>
                      </m:d>
                      <m:r>
                        <m:rPr>
                          <m:nor/>
                        </m:rPr>
                        <a:rPr lang="en-US" altLang="zh-CN" sz="2000" b="0" i="0" smtClean="0">
                          <a:latin typeface="Cambria Math" panose="02040503050406030204" pitchFamily="18" charset="0"/>
                        </a:rPr>
                        <m:t>=</m:t>
                      </m:r>
                      <m:r>
                        <m:rPr>
                          <m:nor/>
                        </m:rPr>
                        <a:rPr lang="en-US" altLang="zh-CN" sz="2000" b="0" i="0" smtClean="0">
                          <a:latin typeface="Cambria Math" panose="02040503050406030204" pitchFamily="18" charset="0"/>
                        </a:rPr>
                        <m:t>I</m:t>
                      </m:r>
                      <m:d>
                        <m:dPr>
                          <m:ctrlPr>
                            <a:rPr lang="pt-BR" altLang="zh-CN" sz="2000" i="1" smtClean="0">
                              <a:latin typeface="Cambria Math" panose="02040503050406030204" pitchFamily="18" charset="0"/>
                            </a:rPr>
                          </m:ctrlPr>
                        </m:dPr>
                        <m:e>
                          <m:r>
                            <m:rPr>
                              <m:nor/>
                            </m:rPr>
                            <a:rPr lang="en-US" altLang="zh-CN" sz="2000" b="0" i="0" smtClean="0">
                              <a:latin typeface="Cambria Math" panose="02040503050406030204" pitchFamily="18" charset="0"/>
                            </a:rPr>
                            <m:t>X</m:t>
                          </m:r>
                          <m:r>
                            <m:rPr>
                              <m:nor/>
                            </m:rPr>
                            <a:rPr lang="en-US" altLang="zh-CN" sz="2000" b="0" i="0" smtClean="0">
                              <a:latin typeface="Cambria Math" panose="02040503050406030204" pitchFamily="18" charset="0"/>
                            </a:rPr>
                            <m:t>;</m:t>
                          </m:r>
                          <m:r>
                            <m:rPr>
                              <m:nor/>
                            </m:rPr>
                            <a:rPr lang="en-US" altLang="zh-CN" sz="2000" b="0" i="0" smtClean="0">
                              <a:latin typeface="Cambria Math" panose="02040503050406030204" pitchFamily="18" charset="0"/>
                            </a:rPr>
                            <m:t>Y</m:t>
                          </m:r>
                        </m:e>
                      </m:d>
                      <m:r>
                        <m:rPr>
                          <m:nor/>
                        </m:rPr>
                        <a:rPr lang="en-US" altLang="zh-CN" sz="2000" i="0" smtClean="0">
                          <a:latin typeface="Cambria Math" panose="02040503050406030204" pitchFamily="18" charset="0"/>
                        </a:rPr>
                        <m:t>=</m:t>
                      </m:r>
                      <m:nary>
                        <m:naryPr>
                          <m:chr m:val="∑"/>
                          <m:ctrlPr>
                            <a:rPr lang="pt-BR" altLang="zh-CN" sz="2000" i="1" smtClean="0">
                              <a:latin typeface="Cambria Math" panose="02040503050406030204" pitchFamily="18" charset="0"/>
                            </a:rPr>
                          </m:ctrlPr>
                        </m:naryPr>
                        <m:sub>
                          <m:r>
                            <m:rPr>
                              <m:nor/>
                              <m:brk m:alnAt="23"/>
                            </m:rPr>
                            <a:rPr lang="en-US" altLang="zh-CN" sz="2000" i="0">
                              <a:latin typeface="Cambria Math" panose="02040503050406030204" pitchFamily="18" charset="0"/>
                            </a:rPr>
                            <m:t>y</m:t>
                          </m:r>
                          <m:r>
                            <m:rPr>
                              <m:nor/>
                            </m:rPr>
                            <a:rPr lang="zh-CN" altLang="en-US" sz="2000" i="0" smtClean="0">
                              <a:latin typeface="Cambria Math" panose="02040503050406030204" pitchFamily="18" charset="0"/>
                            </a:rPr>
                            <m:t>∈</m:t>
                          </m:r>
                          <m:r>
                            <m:rPr>
                              <m:nor/>
                            </m:rPr>
                            <a:rPr lang="en-US" altLang="zh-CN" sz="2000" b="0" i="0" smtClean="0">
                              <a:latin typeface="Cambria Math" panose="02040503050406030204" pitchFamily="18" charset="0"/>
                            </a:rPr>
                            <m:t>Y</m:t>
                          </m:r>
                        </m:sub>
                        <m:sup/>
                        <m:e>
                          <m:nary>
                            <m:naryPr>
                              <m:chr m:val="∑"/>
                              <m:supHide m:val="on"/>
                              <m:ctrlPr>
                                <a:rPr lang="pt-BR" altLang="zh-CN" sz="2000" i="1" smtClean="0">
                                  <a:latin typeface="Cambria Math" panose="02040503050406030204" pitchFamily="18" charset="0"/>
                                </a:rPr>
                              </m:ctrlPr>
                            </m:naryPr>
                            <m:sub>
                              <m:r>
                                <m:rPr>
                                  <m:nor/>
                                </m:rPr>
                                <a:rPr lang="en-US" altLang="zh-CN" sz="2000" i="0" smtClean="0">
                                  <a:latin typeface="Cambria Math" panose="02040503050406030204" pitchFamily="18" charset="0"/>
                                </a:rPr>
                                <m:t>x</m:t>
                              </m:r>
                              <m:r>
                                <m:rPr>
                                  <m:nor/>
                                </m:rPr>
                                <a:rPr lang="zh-CN" altLang="en-US" sz="2000" i="0">
                                  <a:latin typeface="Cambria Math" panose="02040503050406030204" pitchFamily="18" charset="0"/>
                                </a:rPr>
                                <m:t>∈</m:t>
                              </m:r>
                              <m:r>
                                <m:rPr>
                                  <m:nor/>
                                </m:rPr>
                                <a:rPr lang="en-US" altLang="zh-CN" sz="2000" b="0" i="0" smtClean="0">
                                  <a:latin typeface="Cambria Math" panose="02040503050406030204" pitchFamily="18" charset="0"/>
                                </a:rPr>
                                <m:t>X</m:t>
                              </m:r>
                            </m:sub>
                            <m:sup/>
                            <m:e>
                              <m:f>
                                <m:fPr>
                                  <m:ctrlPr>
                                    <a:rPr lang="pt-BR" altLang="zh-CN" sz="2000" i="1" smtClean="0">
                                      <a:latin typeface="Cambria Math" panose="02040503050406030204" pitchFamily="18" charset="0"/>
                                    </a:rPr>
                                  </m:ctrlPr>
                                </m:fPr>
                                <m:num>
                                  <m:r>
                                    <m:rPr>
                                      <m:nor/>
                                    </m:rPr>
                                    <a:rPr lang="en-US" altLang="zh-CN" sz="2000" b="0" i="0" smtClean="0">
                                      <a:latin typeface="Cambria Math" panose="02040503050406030204" pitchFamily="18" charset="0"/>
                                    </a:rPr>
                                    <m:t>1</m:t>
                                  </m:r>
                                </m:num>
                                <m:den>
                                  <m:r>
                                    <m:rPr>
                                      <m:nor/>
                                    </m:rPr>
                                    <a:rPr lang="en-US" altLang="zh-CN" sz="2000" b="0" i="0" smtClean="0">
                                      <a:latin typeface="Cambria Math" panose="02040503050406030204" pitchFamily="18" charset="0"/>
                                    </a:rPr>
                                    <m:t>2</m:t>
                                  </m:r>
                                </m:den>
                              </m:f>
                              <m:r>
                                <m:rPr>
                                  <m:nor/>
                                </m:rPr>
                                <a:rPr lang="en-US" altLang="zh-CN" sz="2000" b="0" i="0" smtClean="0">
                                  <a:latin typeface="Cambria Math" panose="02040503050406030204" pitchFamily="18" charset="0"/>
                                </a:rPr>
                                <m:t>W</m:t>
                              </m:r>
                              <m:r>
                                <m:rPr>
                                  <m:nor/>
                                </m:rPr>
                                <a:rPr lang="en-US" altLang="zh-CN" sz="2000" b="0" i="0" smtClean="0">
                                  <a:latin typeface="Cambria Math" panose="02040503050406030204" pitchFamily="18" charset="0"/>
                                </a:rPr>
                                <m:t>(</m:t>
                              </m:r>
                              <m:r>
                                <m:rPr>
                                  <m:nor/>
                                </m:rPr>
                                <a:rPr lang="en-US" altLang="zh-CN" sz="2000" i="0">
                                  <a:latin typeface="Cambria Math" panose="02040503050406030204" pitchFamily="18" charset="0"/>
                                </a:rPr>
                                <m:t>y</m:t>
                              </m:r>
                              <m:r>
                                <m:rPr>
                                  <m:nor/>
                                </m:rPr>
                                <a:rPr lang="en-US" altLang="zh-CN" sz="2000" i="0" smtClean="0">
                                  <a:latin typeface="Cambria Math" panose="02040503050406030204" pitchFamily="18" charset="0"/>
                                </a:rPr>
                                <m:t>|</m:t>
                              </m:r>
                              <m:r>
                                <m:rPr>
                                  <m:nor/>
                                </m:rPr>
                                <a:rPr lang="en-US" altLang="zh-CN" sz="2000" i="0">
                                  <a:latin typeface="Cambria Math" panose="02040503050406030204" pitchFamily="18" charset="0"/>
                                </a:rPr>
                                <m:t>x</m:t>
                              </m:r>
                              <m:r>
                                <m:rPr>
                                  <m:nor/>
                                </m:rPr>
                                <a:rPr lang="en-US" altLang="zh-CN" sz="2000" b="0" i="0" smtClean="0">
                                  <a:latin typeface="Cambria Math" panose="02040503050406030204" pitchFamily="18" charset="0"/>
                                </a:rPr>
                                <m:t>)</m:t>
                              </m:r>
                            </m:e>
                          </m:nary>
                          <m:r>
                            <m:rPr>
                              <m:nor/>
                            </m:rPr>
                            <a:rPr lang="en-US" altLang="zh-CN" sz="2000" i="0">
                              <a:latin typeface="Cambria Math" panose="02040503050406030204" pitchFamily="18" charset="0"/>
                            </a:rPr>
                            <m:t>log</m:t>
                          </m:r>
                          <m:d>
                            <m:dPr>
                              <m:ctrlPr>
                                <a:rPr lang="pt-BR" altLang="zh-CN" sz="2000" i="1" smtClean="0">
                                  <a:latin typeface="Cambria Math" panose="02040503050406030204" pitchFamily="18" charset="0"/>
                                </a:rPr>
                              </m:ctrlPr>
                            </m:dPr>
                            <m:e>
                              <m:sSub>
                                <m:sSubPr>
                                  <m:ctrlPr>
                                    <a:rPr lang="pt-BR" altLang="zh-CN" sz="2000" i="1" smtClean="0">
                                      <a:latin typeface="Cambria Math" panose="02040503050406030204" pitchFamily="18" charset="0"/>
                                    </a:rPr>
                                  </m:ctrlPr>
                                </m:sSubPr>
                                <m:e>
                                  <m:f>
                                    <m:fPr>
                                      <m:ctrlPr>
                                        <a:rPr lang="en-US" altLang="zh-CN" sz="2000" i="1" smtClean="0">
                                          <a:latin typeface="Cambria Math" panose="02040503050406030204" pitchFamily="18" charset="0"/>
                                        </a:rPr>
                                      </m:ctrlPr>
                                    </m:fPr>
                                    <m:num>
                                      <m:r>
                                        <m:rPr>
                                          <m:nor/>
                                        </m:rPr>
                                        <a:rPr lang="en-US" altLang="zh-CN" sz="2000" b="0" i="0" smtClean="0">
                                          <a:latin typeface="Cambria Math" panose="02040503050406030204" pitchFamily="18" charset="0"/>
                                        </a:rPr>
                                        <m:t>W</m:t>
                                      </m:r>
                                      <m:r>
                                        <m:rPr>
                                          <m:nor/>
                                        </m:rPr>
                                        <a:rPr lang="en-US" altLang="zh-CN" sz="2000" b="0" i="0" smtClean="0">
                                          <a:latin typeface="Cambria Math" panose="02040503050406030204" pitchFamily="18" charset="0"/>
                                        </a:rPr>
                                        <m:t>(</m:t>
                                      </m:r>
                                      <m:r>
                                        <m:rPr>
                                          <m:nor/>
                                        </m:rPr>
                                        <a:rPr lang="en-US" altLang="zh-CN" sz="2000" b="0" i="0" smtClean="0">
                                          <a:latin typeface="Cambria Math" panose="02040503050406030204" pitchFamily="18" charset="0"/>
                                        </a:rPr>
                                        <m:t>y</m:t>
                                      </m:r>
                                      <m:r>
                                        <m:rPr>
                                          <m:nor/>
                                        </m:rPr>
                                        <a:rPr lang="en-US" altLang="zh-CN" sz="2000" b="0" i="0" smtClean="0">
                                          <a:latin typeface="Cambria Math" panose="02040503050406030204" pitchFamily="18" charset="0"/>
                                        </a:rPr>
                                        <m:t>|</m:t>
                                      </m:r>
                                      <m:r>
                                        <m:rPr>
                                          <m:nor/>
                                        </m:rPr>
                                        <a:rPr lang="en-US" altLang="zh-CN" sz="2000" b="0" i="0" smtClean="0">
                                          <a:latin typeface="Cambria Math" panose="02040503050406030204" pitchFamily="18" charset="0"/>
                                        </a:rPr>
                                        <m:t>x</m:t>
                                      </m:r>
                                      <m:r>
                                        <m:rPr>
                                          <m:nor/>
                                        </m:rPr>
                                        <a:rPr lang="en-US" altLang="zh-CN" sz="2000" b="0" i="0" smtClean="0">
                                          <a:latin typeface="Cambria Math" panose="02040503050406030204" pitchFamily="18" charset="0"/>
                                        </a:rPr>
                                        <m:t>)</m:t>
                                      </m:r>
                                    </m:num>
                                    <m:den>
                                      <m:f>
                                        <m:fPr>
                                          <m:ctrlPr>
                                            <a:rPr lang="en-US" altLang="zh-CN" sz="2000" i="1" smtClean="0">
                                              <a:latin typeface="Cambria Math" panose="02040503050406030204" pitchFamily="18" charset="0"/>
                                            </a:rPr>
                                          </m:ctrlPr>
                                        </m:fPr>
                                        <m:num>
                                          <m:r>
                                            <m:rPr>
                                              <m:nor/>
                                            </m:rPr>
                                            <a:rPr lang="en-US" altLang="zh-CN" sz="2000" b="0" i="0" smtClean="0">
                                              <a:latin typeface="Cambria Math" panose="02040503050406030204" pitchFamily="18" charset="0"/>
                                            </a:rPr>
                                            <m:t>1</m:t>
                                          </m:r>
                                        </m:num>
                                        <m:den>
                                          <m:r>
                                            <m:rPr>
                                              <m:nor/>
                                            </m:rPr>
                                            <a:rPr lang="en-US" altLang="zh-CN" sz="2000" b="0" i="0" smtClean="0">
                                              <a:latin typeface="Cambria Math" panose="02040503050406030204" pitchFamily="18" charset="0"/>
                                            </a:rPr>
                                            <m:t>2</m:t>
                                          </m:r>
                                        </m:den>
                                      </m:f>
                                      <m:r>
                                        <m:rPr>
                                          <m:nor/>
                                        </m:rPr>
                                        <a:rPr lang="en-US" altLang="zh-CN" sz="2000" b="0" i="0" smtClean="0">
                                          <a:latin typeface="Cambria Math" panose="02040503050406030204" pitchFamily="18" charset="0"/>
                                        </a:rPr>
                                        <m:t>W</m:t>
                                      </m:r>
                                      <m:r>
                                        <m:rPr>
                                          <m:nor/>
                                        </m:rPr>
                                        <a:rPr lang="zh-CN" altLang="en-US" sz="2000" i="0">
                                          <a:latin typeface="Cambria Math" panose="02040503050406030204" pitchFamily="18" charset="0"/>
                                        </a:rPr>
                                        <m:t>（</m:t>
                                      </m:r>
                                      <m:r>
                                        <m:rPr>
                                          <m:nor/>
                                        </m:rPr>
                                        <a:rPr lang="en-US" altLang="zh-CN" sz="2000" i="0" smtClean="0">
                                          <a:latin typeface="Cambria Math" panose="02040503050406030204" pitchFamily="18" charset="0"/>
                                        </a:rPr>
                                        <m:t>y</m:t>
                                      </m:r>
                                      <m:r>
                                        <m:rPr>
                                          <m:nor/>
                                        </m:rPr>
                                        <a:rPr lang="en-US" altLang="zh-CN" sz="2000" i="0">
                                          <a:latin typeface="Cambria Math" panose="02040503050406030204" pitchFamily="18" charset="0"/>
                                        </a:rPr>
                                        <m:t>|</m:t>
                                      </m:r>
                                      <m:r>
                                        <m:rPr>
                                          <m:nor/>
                                        </m:rPr>
                                        <a:rPr lang="en-US" altLang="zh-CN" sz="2000" b="0" i="0" smtClean="0">
                                          <a:latin typeface="Cambria Math" panose="02040503050406030204" pitchFamily="18" charset="0"/>
                                        </a:rPr>
                                        <m:t>0</m:t>
                                      </m:r>
                                      <m:r>
                                        <m:rPr>
                                          <m:nor/>
                                        </m:rPr>
                                        <a:rPr lang="zh-CN" altLang="en-US" sz="2000" i="0">
                                          <a:latin typeface="Cambria Math" panose="02040503050406030204" pitchFamily="18" charset="0"/>
                                        </a:rPr>
                                        <m:t>）</m:t>
                                      </m:r>
                                      <m:r>
                                        <m:rPr>
                                          <m:nor/>
                                        </m:rPr>
                                        <a:rPr lang="en-US" altLang="zh-CN" sz="2000" i="0" smtClean="0">
                                          <a:latin typeface="Cambria Math" panose="02040503050406030204" pitchFamily="18" charset="0"/>
                                        </a:rPr>
                                        <m:t>+</m:t>
                                      </m:r>
                                      <m:f>
                                        <m:fPr>
                                          <m:ctrlPr>
                                            <a:rPr lang="en-US" altLang="zh-CN" sz="2000" i="1">
                                              <a:latin typeface="Cambria Math" panose="02040503050406030204" pitchFamily="18" charset="0"/>
                                            </a:rPr>
                                          </m:ctrlPr>
                                        </m:fPr>
                                        <m:num>
                                          <m:r>
                                            <m:rPr>
                                              <m:nor/>
                                            </m:rPr>
                                            <a:rPr lang="en-US" altLang="zh-CN" sz="2000" i="0">
                                              <a:latin typeface="Cambria Math" panose="02040503050406030204" pitchFamily="18" charset="0"/>
                                            </a:rPr>
                                            <m:t>1</m:t>
                                          </m:r>
                                        </m:num>
                                        <m:den>
                                          <m:r>
                                            <m:rPr>
                                              <m:nor/>
                                            </m:rPr>
                                            <a:rPr lang="en-US" altLang="zh-CN" sz="2000" i="0">
                                              <a:latin typeface="Cambria Math" panose="02040503050406030204" pitchFamily="18" charset="0"/>
                                            </a:rPr>
                                            <m:t>2</m:t>
                                          </m:r>
                                        </m:den>
                                      </m:f>
                                      <m:r>
                                        <m:rPr>
                                          <m:nor/>
                                        </m:rPr>
                                        <a:rPr lang="en-US" altLang="zh-CN" sz="2000" i="0">
                                          <a:latin typeface="Cambria Math" panose="02040503050406030204" pitchFamily="18" charset="0"/>
                                        </a:rPr>
                                        <m:t>W</m:t>
                                      </m:r>
                                      <m:r>
                                        <m:rPr>
                                          <m:nor/>
                                        </m:rPr>
                                        <a:rPr lang="zh-CN" altLang="en-US" sz="2000" i="0">
                                          <a:latin typeface="Cambria Math" panose="02040503050406030204" pitchFamily="18" charset="0"/>
                                        </a:rPr>
                                        <m:t>（</m:t>
                                      </m:r>
                                      <m:r>
                                        <m:rPr>
                                          <m:nor/>
                                        </m:rPr>
                                        <a:rPr lang="en-US" altLang="zh-CN" sz="2000" i="0">
                                          <a:latin typeface="Cambria Math" panose="02040503050406030204" pitchFamily="18" charset="0"/>
                                        </a:rPr>
                                        <m:t>y</m:t>
                                      </m:r>
                                      <m:r>
                                        <m:rPr>
                                          <m:nor/>
                                        </m:rPr>
                                        <a:rPr lang="en-US" altLang="zh-CN" sz="2000" i="0">
                                          <a:latin typeface="Cambria Math" panose="02040503050406030204" pitchFamily="18" charset="0"/>
                                        </a:rPr>
                                        <m:t>|</m:t>
                                      </m:r>
                                      <m:r>
                                        <m:rPr>
                                          <m:nor/>
                                        </m:rPr>
                                        <a:rPr lang="en-US" altLang="zh-CN" sz="2000" i="0">
                                          <a:latin typeface="Cambria Math" panose="02040503050406030204" pitchFamily="18" charset="0"/>
                                        </a:rPr>
                                        <m:t>1</m:t>
                                      </m:r>
                                      <m:r>
                                        <m:rPr>
                                          <m:nor/>
                                        </m:rPr>
                                        <a:rPr lang="zh-CN" altLang="en-US" sz="2000" i="0">
                                          <a:latin typeface="Cambria Math" panose="02040503050406030204" pitchFamily="18" charset="0"/>
                                        </a:rPr>
                                        <m:t>）</m:t>
                                      </m:r>
                                    </m:den>
                                  </m:f>
                                </m:e>
                                <m:sub/>
                              </m:sSub>
                            </m:e>
                          </m:d>
                        </m:e>
                      </m:nary>
                    </m:oMath>
                  </m:oMathPara>
                </a14:m>
                <a:endParaRPr lang="zh-CN" altLang="en-US" sz="2000" dirty="0"/>
              </a:p>
            </p:txBody>
          </p:sp>
        </mc:Choice>
        <mc:Fallback>
          <p:sp>
            <p:nvSpPr>
              <p:cNvPr id="13" name="内容占位符 2"/>
              <p:cNvSpPr txBox="1">
                <a:spLocks noRot="1" noChangeAspect="1" noMove="1" noResize="1" noEditPoints="1" noAdjustHandles="1" noChangeArrowheads="1" noChangeShapeType="1" noTextEdit="1"/>
              </p:cNvSpPr>
              <p:nvPr/>
            </p:nvSpPr>
            <p:spPr>
              <a:xfrm>
                <a:off x="457308" y="3657596"/>
                <a:ext cx="8381780" cy="2743128"/>
              </a:xfrm>
              <a:prstGeom prst="rect">
                <a:avLst/>
              </a:prstGeom>
              <a:blipFill rotWithShape="1">
                <a:blip r:embed="rId1"/>
                <a:stretch>
                  <a:fillRect l="-1" t="-23" r="6" b="20"/>
                </a:stretch>
              </a:blipFill>
              <a:ln w="9525">
                <a:noFill/>
              </a:ln>
            </p:spPr>
            <p:style>
              <a:lnRef idx="0">
                <a:scrgbClr r="0" g="0" b="0"/>
              </a:lnRef>
              <a:fillRef idx="0">
                <a:scrgbClr r="0" g="0" b="0"/>
              </a:fillRef>
              <a:effectRef idx="0">
                <a:scrgbClr r="0" g="0" b="0"/>
              </a:effectRef>
              <a:fontRef idx="minor">
                <a:schemeClr val="dk1"/>
              </a:fontRef>
            </p:style>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019762" y="152486"/>
            <a:ext cx="2933737"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mc:AlternateContent xmlns:mc="http://schemas.openxmlformats.org/markup-compatibility/2006">
        <mc:Choice xmlns:a14="http://schemas.microsoft.com/office/drawing/2010/main" Requires="a14">
          <p:sp>
            <p:nvSpPr>
              <p:cNvPr id="9" name="文本框 8"/>
              <p:cNvSpPr txBox="1"/>
              <p:nvPr/>
            </p:nvSpPr>
            <p:spPr>
              <a:xfrm>
                <a:off x="266813" y="762000"/>
                <a:ext cx="8610374" cy="5844549"/>
              </a:xfrm>
              <a:prstGeom prst="rect">
                <a:avLst/>
              </a:prstGeom>
              <a:noFill/>
            </p:spPr>
            <p:txBody>
              <a:bodyPr wrap="square">
                <a:spAutoFit/>
              </a:bodyPr>
              <a:lstStyle/>
              <a:p>
                <a:pPr marL="0" marR="0" lvl="0" indent="0" algn="l" defTabSz="914400" eaLnBrk="0" fontAlgn="base" latinLnBrk="0" hangingPunct="0">
                  <a:lnSpc>
                    <a:spcPct val="150000"/>
                  </a:lnSpc>
                  <a:spcBef>
                    <a:spcPts val="0"/>
                  </a:spcBef>
                  <a:spcAft>
                    <a:spcPts val="0"/>
                  </a:spcAft>
                  <a:buClrTx/>
                  <a:buSzTx/>
                  <a:buFont typeface="Wingdings" panose="05000000000000000000" pitchFamily="2" charset="2"/>
                  <a:buNone/>
                  <a:defRPr/>
                </a:pPr>
                <a:r>
                  <a:rPr kumimoji="1" lang="zh-CN" altLang="en-US" sz="2400" dirty="0">
                    <a:solidFill>
                      <a:srgbClr val="FF0000"/>
                    </a:solidFill>
                    <a:latin typeface="+mn-ea"/>
                    <a:ea typeface="+mn-ea"/>
                    <a:cs typeface="+mn-cs"/>
                  </a:rPr>
                  <a:t>信道合并（编码时）：</a:t>
                </a:r>
                <a:endParaRPr kumimoji="1" lang="en-US" altLang="zh-CN" sz="2400" dirty="0">
                  <a:solidFill>
                    <a:srgbClr val="FF0000"/>
                  </a:solidFill>
                  <a:latin typeface="+mn-ea"/>
                  <a:ea typeface="+mn-ea"/>
                  <a:cs typeface="+mn-cs"/>
                </a:endParaRPr>
              </a:p>
              <a:p>
                <a:pPr lvl="0">
                  <a:lnSpc>
                    <a:spcPct val="150000"/>
                  </a:lnSpc>
                  <a:spcBef>
                    <a:spcPts val="0"/>
                  </a:spcBef>
                  <a:spcAft>
                    <a:spcPts val="0"/>
                  </a:spcAft>
                  <a:defRPr/>
                </a:pPr>
                <a:r>
                  <a:rPr lang="zh-CN" altLang="en-US" sz="2000" dirty="0">
                    <a:latin typeface="+mn-lt"/>
                    <a:ea typeface="黑体" panose="02010609060101010101" pitchFamily="49" charset="-122"/>
                    <a:cs typeface="+mn-cs"/>
                  </a:rPr>
                  <a:t>       将两个</a:t>
                </a:r>
                <a:r>
                  <a:rPr lang="en-US" altLang="zh-CN" sz="2000" dirty="0">
                    <a:latin typeface="+mn-lt"/>
                    <a:ea typeface="黑体" panose="02010609060101010101" pitchFamily="49" charset="-122"/>
                    <a:cs typeface="+mn-cs"/>
                  </a:rPr>
                  <a:t>BEC</a:t>
                </a:r>
                <a:r>
                  <a:rPr lang="zh-CN" altLang="en-US" sz="2000" dirty="0">
                    <a:latin typeface="+mn-lt"/>
                    <a:ea typeface="黑体" panose="02010609060101010101" pitchFamily="49" charset="-122"/>
                    <a:cs typeface="+mn-cs"/>
                  </a:rPr>
                  <a:t>信道</a:t>
                </a:r>
                <a14:m>
                  <m:oMath xmlns:m="http://schemas.openxmlformats.org/officeDocument/2006/math">
                    <m:sSub>
                      <m:sSubPr>
                        <m:ctrlPr>
                          <a:rPr lang="en-US" altLang="zh-CN" sz="2000" i="1" dirty="0" smtClean="0">
                            <a:solidFill>
                              <a:schemeClr val="tx1"/>
                            </a:solidFill>
                            <a:latin typeface="Cambria Math" panose="02040503050406030204" pitchFamily="18" charset="0"/>
                          </a:rPr>
                        </m:ctrlPr>
                      </m:sSubPr>
                      <m:e>
                        <m:r>
                          <a:rPr lang="en-US" altLang="zh-CN" sz="2000" i="1" dirty="0">
                            <a:solidFill>
                              <a:schemeClr val="tx1"/>
                            </a:solidFill>
                            <a:latin typeface="Cambria Math" panose="02040503050406030204" pitchFamily="18" charset="0"/>
                          </a:rPr>
                          <m:t>𝑊</m:t>
                        </m:r>
                      </m:e>
                      <m:sub>
                        <m:r>
                          <a:rPr lang="en-US" altLang="zh-CN" sz="2000" i="1" dirty="0">
                            <a:solidFill>
                              <a:schemeClr val="tx1"/>
                            </a:solidFill>
                            <a:latin typeface="Cambria Math" panose="02040503050406030204" pitchFamily="18" charset="0"/>
                          </a:rPr>
                          <m:t>1</m:t>
                        </m:r>
                      </m:sub>
                    </m:sSub>
                  </m:oMath>
                </a14:m>
                <a:r>
                  <a:rPr lang="zh-CN" altLang="en-US" sz="2000" dirty="0">
                    <a:latin typeface="+mn-lt"/>
                    <a:ea typeface="黑体" panose="02010609060101010101" pitchFamily="49" charset="-122"/>
                    <a:cs typeface="+mn-cs"/>
                  </a:rPr>
                  <a:t>和</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𝑊</m:t>
                        </m:r>
                      </m:e>
                      <m:sub>
                        <m:r>
                          <a:rPr lang="en-US" altLang="zh-CN" sz="2000" b="0" i="1" dirty="0" smtClean="0">
                            <a:latin typeface="Cambria Math" panose="02040503050406030204" pitchFamily="18" charset="0"/>
                          </a:rPr>
                          <m:t>2</m:t>
                        </m:r>
                      </m:sub>
                    </m:sSub>
                  </m:oMath>
                </a14:m>
                <a:r>
                  <a:rPr lang="zh-CN" altLang="en-US" sz="2000" dirty="0">
                    <a:latin typeface="+mn-lt"/>
                    <a:ea typeface="黑体" panose="02010609060101010101" pitchFamily="49" charset="-122"/>
                    <a:cs typeface="+mn-cs"/>
                  </a:rPr>
                  <a:t>合并成一个信道</a:t>
                </a:r>
                <a:r>
                  <a:rPr lang="en-US" altLang="zh-CN" sz="2000" dirty="0">
                    <a:latin typeface="+mn-lt"/>
                  </a:rPr>
                  <a:t>W</a:t>
                </a:r>
                <a:r>
                  <a:rPr lang="zh-CN" altLang="en-US" sz="2000" dirty="0">
                    <a:latin typeface="+mn-lt"/>
                    <a:ea typeface="黑体" panose="02010609060101010101" pitchFamily="49" charset="-122"/>
                    <a:cs typeface="+mn-cs"/>
                  </a:rPr>
                  <a:t>。其中，“</a:t>
                </a:r>
                <a:r>
                  <a:rPr lang="en-US" altLang="zh-CN" sz="2000" dirty="0">
                    <a:latin typeface="+mn-lt"/>
                    <a:ea typeface="黑体" panose="02010609060101010101" pitchFamily="49" charset="-122"/>
                    <a:cs typeface="+mn-cs"/>
                  </a:rPr>
                  <a:t>+</a:t>
                </a:r>
                <a:r>
                  <a:rPr lang="zh-CN" altLang="en-US" sz="2000" dirty="0">
                    <a:latin typeface="+mn-lt"/>
                    <a:ea typeface="黑体" panose="02010609060101010101" pitchFamily="49" charset="-122"/>
                    <a:cs typeface="+mn-cs"/>
                  </a:rPr>
                  <a:t>”为模</a:t>
                </a:r>
                <a:r>
                  <a:rPr lang="en-US" altLang="zh-CN" sz="2000" dirty="0">
                    <a:latin typeface="+mn-lt"/>
                    <a:ea typeface="黑体" panose="02010609060101010101" pitchFamily="49" charset="-122"/>
                    <a:cs typeface="+mn-cs"/>
                  </a:rPr>
                  <a:t>2</a:t>
                </a:r>
                <a:r>
                  <a:rPr lang="zh-CN" altLang="en-US" sz="2000" dirty="0">
                    <a:latin typeface="+mn-lt"/>
                    <a:ea typeface="黑体" panose="02010609060101010101" pitchFamily="49" charset="-122"/>
                    <a:cs typeface="+mn-cs"/>
                  </a:rPr>
                  <a:t>加。由于</a:t>
                </a:r>
                <a14:m>
                  <m:oMath xmlns:m="http://schemas.openxmlformats.org/officeDocument/2006/math">
                    <m:sSub>
                      <m:sSubPr>
                        <m:ctrlPr>
                          <a:rPr lang="en-US" altLang="zh-CN" sz="2000" i="1" dirty="0">
                            <a:latin typeface="Cambria Math" panose="02040503050406030204" pitchFamily="18" charset="0"/>
                          </a:rPr>
                        </m:ctrlPr>
                      </m:sSubPr>
                      <m:e>
                        <m:r>
                          <m:rPr>
                            <m:sty m:val="p"/>
                          </m:rPr>
                          <a:rPr lang="en-US" altLang="zh-CN" sz="2000" i="1" dirty="0" smtClean="0">
                            <a:latin typeface="Cambria Math" panose="02040503050406030204" pitchFamily="18" charset="0"/>
                          </a:rPr>
                          <m:t>u</m:t>
                        </m:r>
                      </m:e>
                      <m:sub>
                        <m:r>
                          <a:rPr lang="en-US" altLang="zh-CN" sz="2000" i="1" dirty="0">
                            <a:latin typeface="Cambria Math" panose="02040503050406030204" pitchFamily="18" charset="0"/>
                          </a:rPr>
                          <m:t>1</m:t>
                        </m:r>
                      </m:sub>
                    </m:sSub>
                    <m:r>
                      <a:rPr lang="zh-CN" altLang="en-US" sz="2000" i="1" dirty="0">
                        <a:latin typeface="Cambria Math" panose="02040503050406030204" pitchFamily="18" charset="0"/>
                        <a:ea typeface="+mn-ea"/>
                      </a:rPr>
                      <m:t>和</m:t>
                    </m:r>
                    <m:sSub>
                      <m:sSubPr>
                        <m:ctrlPr>
                          <a:rPr lang="en-US" altLang="zh-CN" sz="2000" i="1" dirty="0">
                            <a:latin typeface="Cambria Math" panose="02040503050406030204" pitchFamily="18" charset="0"/>
                          </a:rPr>
                        </m:ctrlPr>
                      </m:sSubPr>
                      <m:e>
                        <m:r>
                          <m:rPr>
                            <m:sty m:val="p"/>
                          </m:rPr>
                          <a:rPr lang="en-US" altLang="zh-CN" sz="2000" i="1" dirty="0">
                            <a:latin typeface="Cambria Math" panose="02040503050406030204" pitchFamily="18" charset="0"/>
                          </a:rPr>
                          <m:t>u</m:t>
                        </m:r>
                      </m:e>
                      <m:sub>
                        <m:r>
                          <a:rPr lang="en-US" altLang="zh-CN" sz="2000" b="0" i="1" dirty="0" smtClean="0">
                            <a:latin typeface="Cambria Math" panose="02040503050406030204" pitchFamily="18" charset="0"/>
                          </a:rPr>
                          <m:t>2</m:t>
                        </m:r>
                      </m:sub>
                    </m:sSub>
                  </m:oMath>
                </a14:m>
                <a:r>
                  <a:rPr lang="zh-CN" altLang="en-US" sz="2000" dirty="0">
                    <a:latin typeface="+mn-lt"/>
                    <a:ea typeface="黑体" panose="02010609060101010101" pitchFamily="49" charset="-122"/>
                    <a:cs typeface="+mn-cs"/>
                  </a:rPr>
                  <a:t>都取自</a:t>
                </a:r>
                <a:r>
                  <a:rPr lang="en-US" altLang="zh-CN" sz="2000" dirty="0">
                    <a:latin typeface="+mn-lt"/>
                    <a:ea typeface="黑体" panose="02010609060101010101" pitchFamily="49" charset="-122"/>
                    <a:cs typeface="+mn-cs"/>
                  </a:rPr>
                  <a:t>{0,1}</a:t>
                </a:r>
                <a:r>
                  <a:rPr lang="zh-CN" altLang="en-US" sz="2000" dirty="0">
                    <a:latin typeface="+mn-lt"/>
                    <a:ea typeface="黑体" panose="02010609060101010101" pitchFamily="49" charset="-122"/>
                    <a:cs typeface="+mn-cs"/>
                  </a:rPr>
                  <a:t>且独立同分布，那么信道容量为：</a:t>
                </a:r>
                <a:endParaRPr lang="en-US" altLang="zh-CN" sz="2000" dirty="0">
                  <a:latin typeface="+mn-lt"/>
                  <a:ea typeface="黑体" panose="02010609060101010101" pitchFamily="49" charset="-122"/>
                  <a:cs typeface="+mn-cs"/>
                </a:endParaRPr>
              </a:p>
              <a:p>
                <a:pPr lvl="0">
                  <a:lnSpc>
                    <a:spcPct val="150000"/>
                  </a:lnSpc>
                  <a:spcBef>
                    <a:spcPts val="0"/>
                  </a:spcBef>
                  <a:spcAft>
                    <a:spcPts val="0"/>
                  </a:spcAft>
                  <a:defRPr/>
                </a:pPr>
                <a14:m>
                  <m:oMathPara xmlns:m="http://schemas.openxmlformats.org/officeDocument/2006/math">
                    <m:oMathParaPr>
                      <m:jc m:val="centerGroup"/>
                    </m:oMathParaPr>
                    <m:oMath xmlns:m="http://schemas.openxmlformats.org/officeDocument/2006/math">
                      <m:r>
                        <m:rPr>
                          <m:nor/>
                        </m:rPr>
                        <a:rPr lang="en-US" altLang="zh-CN" sz="2000" i="0" dirty="0" smtClean="0">
                          <a:solidFill>
                            <a:schemeClr val="tx1"/>
                          </a:solidFill>
                          <a:latin typeface="+mn-lt"/>
                          <a:cs typeface="+mn-cs"/>
                        </a:rPr>
                        <m:t>C</m:t>
                      </m:r>
                      <m:r>
                        <m:rPr>
                          <m:nor/>
                        </m:rPr>
                        <a:rPr lang="en-US" altLang="zh-CN" sz="2000" i="0" dirty="0" smtClean="0">
                          <a:solidFill>
                            <a:schemeClr val="tx1"/>
                          </a:solidFill>
                          <a:latin typeface="+mn-lt"/>
                          <a:cs typeface="+mn-cs"/>
                        </a:rPr>
                        <m:t>(</m:t>
                      </m:r>
                      <m:r>
                        <m:rPr>
                          <m:nor/>
                        </m:rPr>
                        <a:rPr lang="en-US" altLang="zh-CN" sz="2000" b="0" i="0" dirty="0" smtClean="0">
                          <a:solidFill>
                            <a:schemeClr val="tx1"/>
                          </a:solidFill>
                          <a:latin typeface="+mn-lt"/>
                          <a:cs typeface="+mn-cs"/>
                        </a:rPr>
                        <m:t>W</m:t>
                      </m:r>
                      <m:r>
                        <m:rPr>
                          <m:nor/>
                        </m:rPr>
                        <a:rPr lang="en-US" altLang="zh-CN" sz="2000" b="0" i="0" dirty="0" smtClean="0">
                          <a:solidFill>
                            <a:schemeClr val="tx1"/>
                          </a:solidFill>
                          <a:latin typeface="+mn-lt"/>
                          <a:cs typeface="+mn-cs"/>
                        </a:rPr>
                        <m:t>)=</m:t>
                      </m:r>
                      <m:r>
                        <m:rPr>
                          <m:nor/>
                        </m:rPr>
                        <a:rPr lang="en-US" altLang="zh-CN" sz="2000" i="0" dirty="0" smtClean="0">
                          <a:solidFill>
                            <a:schemeClr val="tx1"/>
                          </a:solidFill>
                          <a:latin typeface="+mn-lt"/>
                          <a:cs typeface="+mn-cs"/>
                        </a:rPr>
                        <m:t>I</m:t>
                      </m:r>
                      <m:r>
                        <m:rPr>
                          <m:nor/>
                        </m:rPr>
                        <a:rPr lang="en-US" altLang="zh-CN" sz="2000" i="0" dirty="0" smtClean="0">
                          <a:solidFill>
                            <a:schemeClr val="tx1"/>
                          </a:solidFill>
                          <a:latin typeface="+mn-lt"/>
                          <a:cs typeface="+mn-cs"/>
                        </a:rPr>
                        <m:t>(</m:t>
                      </m:r>
                      <m:r>
                        <m:rPr>
                          <m:nor/>
                        </m:rPr>
                        <a:rPr lang="en-US" altLang="zh-CN" sz="2000" b="0" i="0" dirty="0" smtClean="0">
                          <a:solidFill>
                            <a:schemeClr val="tx1"/>
                          </a:solidFill>
                          <a:latin typeface="+mn-lt"/>
                          <a:cs typeface="+mn-cs"/>
                        </a:rPr>
                        <m:t>U</m:t>
                      </m:r>
                      <m:r>
                        <m:rPr>
                          <m:nor/>
                        </m:rPr>
                        <a:rPr lang="en-US" altLang="zh-CN" sz="2000" b="0" i="0" dirty="0" smtClean="0">
                          <a:solidFill>
                            <a:schemeClr val="tx1"/>
                          </a:solidFill>
                          <a:latin typeface="+mn-lt"/>
                          <a:cs typeface="+mn-cs"/>
                        </a:rPr>
                        <m:t>;</m:t>
                      </m:r>
                      <m:r>
                        <m:rPr>
                          <m:nor/>
                        </m:rPr>
                        <a:rPr lang="en-US" altLang="zh-CN" sz="2000" i="0" dirty="0" smtClean="0">
                          <a:solidFill>
                            <a:schemeClr val="tx1"/>
                          </a:solidFill>
                          <a:latin typeface="+mn-lt"/>
                          <a:cs typeface="+mn-cs"/>
                        </a:rPr>
                        <m:t>Y</m:t>
                      </m:r>
                      <m:r>
                        <m:rPr>
                          <m:nor/>
                        </m:rPr>
                        <a:rPr lang="en-US" altLang="zh-CN" sz="2000" i="0" dirty="0" smtClean="0">
                          <a:solidFill>
                            <a:schemeClr val="tx1"/>
                          </a:solidFill>
                          <a:latin typeface="+mn-lt"/>
                          <a:cs typeface="+mn-cs"/>
                        </a:rPr>
                        <m:t>)</m:t>
                      </m:r>
                    </m:oMath>
                  </m:oMathPara>
                </a14:m>
                <a:endParaRPr lang="en-US" altLang="zh-CN" sz="2000" dirty="0">
                  <a:latin typeface="+mn-lt"/>
                  <a:ea typeface="黑体" panose="02010609060101010101" pitchFamily="49" charset="-122"/>
                  <a:cs typeface="+mn-cs"/>
                </a:endParaRPr>
              </a:p>
              <a:p>
                <a:pPr>
                  <a:lnSpc>
                    <a:spcPct val="150000"/>
                  </a:lnSpc>
                  <a:spcBef>
                    <a:spcPts val="0"/>
                  </a:spcBef>
                  <a:spcAft>
                    <a:spcPts val="0"/>
                  </a:spcAft>
                  <a:defRPr/>
                </a:pPr>
                <a:r>
                  <a:rPr lang="en-US" altLang="zh-CN" sz="2000" dirty="0">
                    <a:latin typeface="+mn-lt"/>
                    <a:ea typeface="黑体" panose="02010609060101010101" pitchFamily="49" charset="-122"/>
                    <a:cs typeface="+mn-cs"/>
                  </a:rPr>
                  <a:t>       </a:t>
                </a:r>
                <a:r>
                  <a:rPr lang="zh-CN" altLang="en-US" sz="2000" dirty="0">
                    <a:latin typeface="+mn-lt"/>
                    <a:ea typeface="黑体" panose="02010609060101010101" pitchFamily="49" charset="-122"/>
                    <a:cs typeface="+mn-cs"/>
                  </a:rPr>
                  <a:t>其中，</a:t>
                </a:r>
                <a:r>
                  <a:rPr lang="en-US" altLang="zh-CN" sz="2000" dirty="0">
                    <a:latin typeface="+mn-lt"/>
                    <a:ea typeface="黑体" panose="02010609060101010101" pitchFamily="49" charset="-122"/>
                    <a:cs typeface="+mn-cs"/>
                  </a:rPr>
                  <a:t>U=[</a:t>
                </a:r>
                <a14:m>
                  <m:oMath xmlns:m="http://schemas.openxmlformats.org/officeDocument/2006/math">
                    <m:sSub>
                      <m:sSubPr>
                        <m:ctrlPr>
                          <a:rPr lang="en-US" altLang="zh-CN" sz="2000" i="1" dirty="0" smtClean="0">
                            <a:latin typeface="Cambria Math" panose="02040503050406030204" pitchFamily="18" charset="0"/>
                          </a:rPr>
                        </m:ctrlPr>
                      </m:sSubPr>
                      <m:e>
                        <m:r>
                          <m:rPr>
                            <m:nor/>
                          </m:rPr>
                          <a:rPr lang="en-US" altLang="zh-CN" sz="2000" i="0" dirty="0" smtClean="0">
                            <a:latin typeface="+mn-lt"/>
                          </a:rPr>
                          <m:t>u</m:t>
                        </m:r>
                      </m:e>
                      <m:sub>
                        <m:r>
                          <m:rPr>
                            <m:nor/>
                          </m:rPr>
                          <a:rPr lang="en-US" altLang="zh-CN" sz="2000" i="0" dirty="0">
                            <a:latin typeface="+mn-lt"/>
                          </a:rPr>
                          <m:t>1</m:t>
                        </m:r>
                      </m:sub>
                    </m:sSub>
                    <m:r>
                      <m:rPr>
                        <m:nor/>
                      </m:rPr>
                      <a:rPr lang="en-US" altLang="zh-CN" sz="2000" b="0" i="0" dirty="0" smtClean="0">
                        <a:latin typeface="+mn-lt"/>
                      </a:rPr>
                      <m:t>,</m:t>
                    </m:r>
                    <m:sSub>
                      <m:sSubPr>
                        <m:ctrlPr>
                          <a:rPr lang="en-US" altLang="zh-CN" sz="2000" i="1" dirty="0">
                            <a:latin typeface="Cambria Math" panose="02040503050406030204" pitchFamily="18" charset="0"/>
                          </a:rPr>
                        </m:ctrlPr>
                      </m:sSubPr>
                      <m:e>
                        <m:r>
                          <m:rPr>
                            <m:nor/>
                          </m:rPr>
                          <a:rPr lang="en-US" altLang="zh-CN" sz="2000" i="0" dirty="0">
                            <a:latin typeface="+mn-lt"/>
                          </a:rPr>
                          <m:t>u</m:t>
                        </m:r>
                      </m:e>
                      <m:sub>
                        <m:r>
                          <m:rPr>
                            <m:nor/>
                          </m:rPr>
                          <a:rPr lang="en-US" altLang="zh-CN" sz="2000" b="0" i="0" dirty="0" smtClean="0">
                            <a:latin typeface="+mn-lt"/>
                          </a:rPr>
                          <m:t>2</m:t>
                        </m:r>
                      </m:sub>
                    </m:sSub>
                  </m:oMath>
                </a14:m>
                <a:r>
                  <a:rPr lang="en-US" altLang="zh-CN" sz="2000" dirty="0">
                    <a:latin typeface="+mn-lt"/>
                    <a:ea typeface="黑体" panose="02010609060101010101" pitchFamily="49" charset="-122"/>
                    <a:cs typeface="+mn-cs"/>
                  </a:rPr>
                  <a:t>],</a:t>
                </a:r>
                <a:r>
                  <a:rPr lang="en-US" altLang="zh-CN" sz="2000" dirty="0">
                    <a:latin typeface="+mn-lt"/>
                    <a:ea typeface="黑体" panose="02010609060101010101" pitchFamily="49" charset="-122"/>
                  </a:rPr>
                  <a:t> Y=[</a:t>
                </a:r>
                <a14:m>
                  <m:oMath xmlns:m="http://schemas.openxmlformats.org/officeDocument/2006/math">
                    <m:sSub>
                      <m:sSubPr>
                        <m:ctrlPr>
                          <a:rPr lang="en-US" altLang="zh-CN" sz="2000" i="1" dirty="0">
                            <a:latin typeface="Cambria Math" panose="02040503050406030204" pitchFamily="18" charset="0"/>
                          </a:rPr>
                        </m:ctrlPr>
                      </m:sSubPr>
                      <m:e>
                        <m:r>
                          <m:rPr>
                            <m:nor/>
                          </m:rPr>
                          <a:rPr lang="en-US" altLang="zh-CN" sz="2000" b="0" i="0" dirty="0" smtClean="0">
                            <a:latin typeface="+mn-lt"/>
                          </a:rPr>
                          <m:t>y</m:t>
                        </m:r>
                      </m:e>
                      <m:sub>
                        <m:r>
                          <m:rPr>
                            <m:nor/>
                          </m:rPr>
                          <a:rPr lang="en-US" altLang="zh-CN" sz="2000" i="0" dirty="0">
                            <a:latin typeface="+mn-lt"/>
                          </a:rPr>
                          <m:t>1</m:t>
                        </m:r>
                      </m:sub>
                    </m:sSub>
                    <m:r>
                      <m:rPr>
                        <m:nor/>
                      </m:rPr>
                      <a:rPr lang="en-US" altLang="zh-CN" sz="2000" i="0" dirty="0">
                        <a:latin typeface="+mn-lt"/>
                      </a:rPr>
                      <m:t>,</m:t>
                    </m:r>
                    <m:sSub>
                      <m:sSubPr>
                        <m:ctrlPr>
                          <a:rPr lang="en-US" altLang="zh-CN" sz="2000" i="1" dirty="0">
                            <a:latin typeface="Cambria Math" panose="02040503050406030204" pitchFamily="18" charset="0"/>
                          </a:rPr>
                        </m:ctrlPr>
                      </m:sSubPr>
                      <m:e>
                        <m:r>
                          <m:rPr>
                            <m:nor/>
                          </m:rPr>
                          <a:rPr lang="en-US" altLang="zh-CN" sz="2000" b="0" i="0" dirty="0" smtClean="0">
                            <a:latin typeface="+mn-lt"/>
                          </a:rPr>
                          <m:t>y</m:t>
                        </m:r>
                      </m:e>
                      <m:sub>
                        <m:r>
                          <m:rPr>
                            <m:nor/>
                          </m:rPr>
                          <a:rPr lang="en-US" altLang="zh-CN" sz="2000" i="0" dirty="0">
                            <a:latin typeface="+mn-lt"/>
                          </a:rPr>
                          <m:t>2</m:t>
                        </m:r>
                      </m:sub>
                    </m:sSub>
                  </m:oMath>
                </a14:m>
                <a:r>
                  <a:rPr lang="en-US" altLang="zh-CN" sz="2000" dirty="0">
                    <a:latin typeface="+mn-lt"/>
                    <a:ea typeface="黑体" panose="02010609060101010101" pitchFamily="49" charset="-122"/>
                  </a:rPr>
                  <a:t>]</a:t>
                </a:r>
                <a:r>
                  <a:rPr lang="zh-CN" altLang="en-US" sz="2000" dirty="0">
                    <a:latin typeface="+mn-lt"/>
                    <a:ea typeface="黑体" panose="02010609060101010101" pitchFamily="49" charset="-122"/>
                  </a:rPr>
                  <a:t>。</a:t>
                </a:r>
                <a:endParaRPr lang="en-US" altLang="zh-CN" sz="2000" dirty="0">
                  <a:latin typeface="+mn-lt"/>
                  <a:ea typeface="黑体" panose="02010609060101010101" pitchFamily="49" charset="-122"/>
                </a:endParaRPr>
              </a:p>
              <a:p>
                <a:pPr lvl="0">
                  <a:lnSpc>
                    <a:spcPct val="150000"/>
                  </a:lnSpc>
                  <a:spcBef>
                    <a:spcPts val="0"/>
                  </a:spcBef>
                  <a:spcAft>
                    <a:spcPts val="0"/>
                  </a:spcAft>
                  <a:defRPr/>
                </a:pPr>
                <a14:m>
                  <m:oMathPara xmlns:m="http://schemas.openxmlformats.org/officeDocument/2006/math">
                    <m:oMathParaPr>
                      <m:jc m:val="centerGroup"/>
                    </m:oMathParaPr>
                    <m:oMath xmlns:m="http://schemas.openxmlformats.org/officeDocument/2006/math">
                      <m:r>
                        <m:rPr>
                          <m:nor/>
                        </m:rPr>
                        <a:rPr lang="en-US" altLang="zh-CN" sz="2000" i="0" dirty="0" smtClean="0">
                          <a:solidFill>
                            <a:schemeClr val="tx1"/>
                          </a:solidFill>
                          <a:latin typeface="+mn-lt"/>
                          <a:cs typeface="+mn-cs"/>
                        </a:rPr>
                        <m:t>C</m:t>
                      </m:r>
                      <m:r>
                        <m:rPr>
                          <m:nor/>
                        </m:rPr>
                        <a:rPr lang="en-US" altLang="zh-CN" sz="2000" i="0" dirty="0" smtClean="0">
                          <a:solidFill>
                            <a:schemeClr val="tx1"/>
                          </a:solidFill>
                          <a:latin typeface="+mn-lt"/>
                          <a:cs typeface="+mn-cs"/>
                        </a:rPr>
                        <m:t>(</m:t>
                      </m:r>
                      <m:r>
                        <m:rPr>
                          <m:nor/>
                        </m:rPr>
                        <a:rPr lang="en-US" altLang="zh-CN" sz="2000" b="0" i="0" dirty="0" smtClean="0">
                          <a:solidFill>
                            <a:schemeClr val="tx1"/>
                          </a:solidFill>
                          <a:latin typeface="+mn-lt"/>
                          <a:cs typeface="+mn-cs"/>
                        </a:rPr>
                        <m:t>W</m:t>
                      </m:r>
                      <m:r>
                        <m:rPr>
                          <m:nor/>
                        </m:rPr>
                        <a:rPr lang="en-US" altLang="zh-CN" sz="2000" b="0" i="0" dirty="0" smtClean="0">
                          <a:solidFill>
                            <a:schemeClr val="tx1"/>
                          </a:solidFill>
                          <a:latin typeface="+mn-lt"/>
                          <a:cs typeface="+mn-cs"/>
                        </a:rPr>
                        <m:t>)=</m:t>
                      </m:r>
                      <m:r>
                        <m:rPr>
                          <m:nor/>
                        </m:rPr>
                        <a:rPr lang="en-US" altLang="zh-CN" sz="2000" i="0" dirty="0" smtClean="0">
                          <a:solidFill>
                            <a:schemeClr val="tx1"/>
                          </a:solidFill>
                          <a:latin typeface="+mn-lt"/>
                          <a:cs typeface="+mn-cs"/>
                        </a:rPr>
                        <m:t>I</m:t>
                      </m:r>
                      <m:r>
                        <m:rPr>
                          <m:nor/>
                        </m:rPr>
                        <a:rPr lang="en-US" altLang="zh-CN" sz="2000" i="0" dirty="0" smtClean="0">
                          <a:solidFill>
                            <a:schemeClr val="tx1"/>
                          </a:solidFill>
                          <a:latin typeface="+mn-lt"/>
                          <a:cs typeface="+mn-cs"/>
                        </a:rPr>
                        <m:t>(</m:t>
                      </m:r>
                      <m:r>
                        <m:rPr>
                          <m:nor/>
                        </m:rPr>
                        <a:rPr lang="en-US" altLang="zh-CN" sz="2000" b="0" i="0" dirty="0" smtClean="0">
                          <a:solidFill>
                            <a:schemeClr val="tx1"/>
                          </a:solidFill>
                          <a:latin typeface="+mn-lt"/>
                          <a:cs typeface="+mn-cs"/>
                        </a:rPr>
                        <m:t>X</m:t>
                      </m:r>
                      <m:r>
                        <m:rPr>
                          <m:nor/>
                        </m:rPr>
                        <a:rPr lang="en-US" altLang="zh-CN" sz="2000" b="0" i="0" dirty="0" smtClean="0">
                          <a:solidFill>
                            <a:schemeClr val="tx1"/>
                          </a:solidFill>
                          <a:latin typeface="+mn-lt"/>
                          <a:cs typeface="+mn-cs"/>
                        </a:rPr>
                        <m:t>;</m:t>
                      </m:r>
                      <m:r>
                        <m:rPr>
                          <m:nor/>
                        </m:rPr>
                        <a:rPr lang="en-US" altLang="zh-CN" sz="2000" i="0" dirty="0" smtClean="0">
                          <a:solidFill>
                            <a:schemeClr val="tx1"/>
                          </a:solidFill>
                          <a:latin typeface="+mn-lt"/>
                          <a:cs typeface="+mn-cs"/>
                        </a:rPr>
                        <m:t>Y</m:t>
                      </m:r>
                      <m:r>
                        <m:rPr>
                          <m:nor/>
                        </m:rPr>
                        <a:rPr lang="en-US" altLang="zh-CN" sz="2000" i="0" dirty="0" smtClean="0">
                          <a:solidFill>
                            <a:schemeClr val="tx1"/>
                          </a:solidFill>
                          <a:latin typeface="+mn-lt"/>
                          <a:cs typeface="+mn-cs"/>
                        </a:rPr>
                        <m:t>)</m:t>
                      </m:r>
                    </m:oMath>
                  </m:oMathPara>
                </a14:m>
                <a:endParaRPr lang="en-US" altLang="zh-CN" sz="2000" dirty="0">
                  <a:latin typeface="+mn-lt"/>
                  <a:ea typeface="黑体" panose="02010609060101010101" pitchFamily="49" charset="-122"/>
                  <a:cs typeface="+mn-cs"/>
                </a:endParaRPr>
              </a:p>
              <a:p>
                <a:pPr>
                  <a:lnSpc>
                    <a:spcPct val="150000"/>
                  </a:lnSpc>
                  <a:spcBef>
                    <a:spcPts val="0"/>
                  </a:spcBef>
                  <a:spcAft>
                    <a:spcPts val="0"/>
                  </a:spcAft>
                  <a:defRPr/>
                </a:pPr>
                <a:r>
                  <a:rPr lang="zh-CN" altLang="en-US" sz="2000" dirty="0">
                    <a:latin typeface="+mn-lt"/>
                    <a:ea typeface="黑体" panose="02010609060101010101" pitchFamily="49" charset="-122"/>
                    <a:cs typeface="+mn-cs"/>
                  </a:rPr>
                  <a:t>       其中，</a:t>
                </a:r>
                <a:r>
                  <a:rPr lang="en-US" altLang="zh-CN" sz="2000" dirty="0">
                    <a:latin typeface="+mn-lt"/>
                    <a:ea typeface="黑体" panose="02010609060101010101" pitchFamily="49" charset="-122"/>
                    <a:cs typeface="+mn-cs"/>
                  </a:rPr>
                  <a:t>X</a:t>
                </a:r>
                <a:r>
                  <a:rPr lang="en-US" altLang="zh-CN" sz="2000" dirty="0">
                    <a:latin typeface="+mn-lt"/>
                    <a:ea typeface="黑体" panose="02010609060101010101" pitchFamily="49" charset="-122"/>
                  </a:rPr>
                  <a:t>=[</a:t>
                </a:r>
                <a14:m>
                  <m:oMath xmlns:m="http://schemas.openxmlformats.org/officeDocument/2006/math">
                    <m:sSub>
                      <m:sSubPr>
                        <m:ctrlPr>
                          <a:rPr lang="en-US" altLang="zh-CN" sz="2000" i="1" dirty="0">
                            <a:latin typeface="Cambria Math" panose="02040503050406030204" pitchFamily="18" charset="0"/>
                          </a:rPr>
                        </m:ctrlPr>
                      </m:sSubPr>
                      <m:e>
                        <m:r>
                          <m:rPr>
                            <m:nor/>
                          </m:rPr>
                          <a:rPr lang="en-US" altLang="zh-CN" sz="2000" i="0" dirty="0">
                            <a:latin typeface="+mn-lt"/>
                          </a:rPr>
                          <m:t>x</m:t>
                        </m:r>
                      </m:e>
                      <m:sub>
                        <m:r>
                          <m:rPr>
                            <m:nor/>
                          </m:rPr>
                          <a:rPr lang="en-US" altLang="zh-CN" sz="2000" i="0" dirty="0">
                            <a:latin typeface="+mn-lt"/>
                          </a:rPr>
                          <m:t>1</m:t>
                        </m:r>
                      </m:sub>
                    </m:sSub>
                    <m:r>
                      <m:rPr>
                        <m:nor/>
                      </m:rPr>
                      <a:rPr lang="en-US" altLang="zh-CN" sz="2000" i="0" dirty="0">
                        <a:latin typeface="+mn-lt"/>
                      </a:rPr>
                      <m:t>,</m:t>
                    </m:r>
                    <m:sSub>
                      <m:sSubPr>
                        <m:ctrlPr>
                          <a:rPr lang="en-US" altLang="zh-CN" sz="2000" i="1" dirty="0" smtClean="0">
                            <a:latin typeface="Cambria Math" panose="02040503050406030204" pitchFamily="18" charset="0"/>
                          </a:rPr>
                        </m:ctrlPr>
                      </m:sSubPr>
                      <m:e>
                        <m:r>
                          <m:rPr>
                            <m:nor/>
                          </m:rPr>
                          <a:rPr lang="en-US" altLang="zh-CN" sz="2000" b="0" i="0" dirty="0" smtClean="0">
                            <a:latin typeface="+mn-lt"/>
                          </a:rPr>
                          <m:t>x</m:t>
                        </m:r>
                      </m:e>
                      <m:sub>
                        <m:r>
                          <m:rPr>
                            <m:nor/>
                          </m:rPr>
                          <a:rPr lang="en-US" altLang="zh-CN" sz="2000" i="0" dirty="0">
                            <a:latin typeface="+mn-lt"/>
                          </a:rPr>
                          <m:t>2</m:t>
                        </m:r>
                      </m:sub>
                    </m:sSub>
                  </m:oMath>
                </a14:m>
                <a:r>
                  <a:rPr lang="en-US" altLang="zh-CN" sz="2000" dirty="0">
                    <a:latin typeface="+mn-lt"/>
                    <a:ea typeface="黑体" panose="02010609060101010101" pitchFamily="49" charset="-122"/>
                  </a:rPr>
                  <a:t>]</a:t>
                </a:r>
                <a:r>
                  <a:rPr lang="zh-CN" altLang="en-US" sz="2000" dirty="0">
                    <a:latin typeface="+mn-lt"/>
                    <a:ea typeface="黑体" panose="02010609060101010101" pitchFamily="49" charset="-122"/>
                  </a:rPr>
                  <a:t>。</a:t>
                </a:r>
                <a:endParaRPr lang="en-US" altLang="zh-CN" sz="2000" dirty="0">
                  <a:latin typeface="+mn-lt"/>
                  <a:ea typeface="黑体" panose="02010609060101010101" pitchFamily="49" charset="-122"/>
                </a:endParaRPr>
              </a:p>
              <a:p>
                <a:pPr lvl="0">
                  <a:lnSpc>
                    <a:spcPct val="150000"/>
                  </a:lnSpc>
                  <a:spcBef>
                    <a:spcPts val="0"/>
                  </a:spcBef>
                  <a:spcAft>
                    <a:spcPts val="0"/>
                  </a:spcAft>
                  <a:defRPr/>
                </a:pPr>
                <a14:m>
                  <m:oMathPara xmlns:m="http://schemas.openxmlformats.org/officeDocument/2006/math">
                    <m:oMathParaPr>
                      <m:jc m:val="centerGroup"/>
                    </m:oMathParaPr>
                    <m:oMath xmlns:m="http://schemas.openxmlformats.org/officeDocument/2006/math">
                      <m:r>
                        <m:rPr>
                          <m:nor/>
                        </m:rPr>
                        <a:rPr lang="en-US" altLang="zh-CN" sz="2000" i="0" smtClean="0">
                          <a:solidFill>
                            <a:schemeClr val="tx1"/>
                          </a:solidFill>
                          <a:latin typeface="+mn-lt"/>
                          <a:cs typeface="+mn-cs"/>
                        </a:rPr>
                        <m:t>C</m:t>
                      </m:r>
                      <m:d>
                        <m:dPr>
                          <m:ctrlPr>
                            <a:rPr lang="en-US" altLang="zh-CN" sz="2000" i="1" smtClean="0">
                              <a:solidFill>
                                <a:schemeClr val="tx1"/>
                              </a:solidFill>
                              <a:latin typeface="Cambria Math" panose="02040503050406030204" pitchFamily="18" charset="0"/>
                              <a:cs typeface="+mn-cs"/>
                            </a:rPr>
                          </m:ctrlPr>
                        </m:dPr>
                        <m:e>
                          <m:r>
                            <m:rPr>
                              <m:nor/>
                            </m:rPr>
                            <a:rPr lang="en-US" altLang="zh-CN" sz="2000" b="0" i="0" smtClean="0">
                              <a:solidFill>
                                <a:schemeClr val="tx1"/>
                              </a:solidFill>
                              <a:latin typeface="+mn-lt"/>
                              <a:cs typeface="+mn-cs"/>
                            </a:rPr>
                            <m:t>W</m:t>
                          </m:r>
                        </m:e>
                      </m:d>
                      <m:r>
                        <m:rPr>
                          <m:nor/>
                        </m:rPr>
                        <a:rPr lang="en-US" altLang="zh-CN" sz="2000" i="0" smtClean="0">
                          <a:solidFill>
                            <a:schemeClr val="tx1"/>
                          </a:solidFill>
                          <a:latin typeface="+mn-lt"/>
                          <a:cs typeface="+mn-cs"/>
                        </a:rPr>
                        <m:t>=</m:t>
                      </m:r>
                      <m:r>
                        <m:rPr>
                          <m:nor/>
                        </m:rPr>
                        <a:rPr lang="en-US" altLang="zh-CN" sz="2000" i="0" smtClean="0">
                          <a:solidFill>
                            <a:schemeClr val="tx1"/>
                          </a:solidFill>
                          <a:latin typeface="+mn-lt"/>
                          <a:cs typeface="+mn-cs"/>
                        </a:rPr>
                        <m:t>I</m:t>
                      </m:r>
                      <m:d>
                        <m:dPr>
                          <m:ctrlPr>
                            <a:rPr lang="en-US" altLang="zh-CN" sz="2000" i="1" smtClean="0">
                              <a:solidFill>
                                <a:schemeClr val="tx1"/>
                              </a:solidFill>
                              <a:latin typeface="Cambria Math" panose="02040503050406030204" pitchFamily="18" charset="0"/>
                              <a:cs typeface="+mn-cs"/>
                            </a:rPr>
                          </m:ctrlPr>
                        </m:dPr>
                        <m:e>
                          <m:sSub>
                            <m:sSubPr>
                              <m:ctrlPr>
                                <a:rPr lang="en-US" altLang="zh-CN" sz="2000" i="1" smtClean="0">
                                  <a:solidFill>
                                    <a:schemeClr val="tx1"/>
                                  </a:solidFill>
                                  <a:latin typeface="Cambria Math" panose="02040503050406030204" pitchFamily="18" charset="0"/>
                                  <a:cs typeface="+mn-cs"/>
                                </a:rPr>
                              </m:ctrlPr>
                            </m:sSubPr>
                            <m:e>
                              <m:r>
                                <m:rPr>
                                  <m:nor/>
                                </m:rPr>
                                <a:rPr lang="en-US" altLang="zh-CN" sz="2000" i="0" smtClean="0">
                                  <a:solidFill>
                                    <a:schemeClr val="tx1"/>
                                  </a:solidFill>
                                  <a:latin typeface="+mn-lt"/>
                                  <a:cs typeface="+mn-cs"/>
                                </a:rPr>
                                <m:t>x</m:t>
                              </m:r>
                            </m:e>
                            <m:sub>
                              <m:r>
                                <m:rPr>
                                  <m:nor/>
                                </m:rPr>
                                <a:rPr lang="en-US" altLang="zh-CN" sz="2000" i="0" smtClean="0">
                                  <a:solidFill>
                                    <a:schemeClr val="tx1"/>
                                  </a:solidFill>
                                  <a:latin typeface="+mn-lt"/>
                                  <a:cs typeface="+mn-cs"/>
                                </a:rPr>
                                <m:t>1</m:t>
                              </m:r>
                            </m:sub>
                          </m:sSub>
                          <m:sSub>
                            <m:sSubPr>
                              <m:ctrlPr>
                                <a:rPr lang="en-US" altLang="zh-CN" sz="2000" i="1" smtClean="0">
                                  <a:solidFill>
                                    <a:schemeClr val="tx1"/>
                                  </a:solidFill>
                                  <a:latin typeface="Cambria Math" panose="02040503050406030204" pitchFamily="18" charset="0"/>
                                  <a:cs typeface="+mn-cs"/>
                                </a:rPr>
                              </m:ctrlPr>
                            </m:sSubPr>
                            <m:e>
                              <m:r>
                                <m:rPr>
                                  <m:nor/>
                                </m:rPr>
                                <a:rPr lang="en-US" altLang="zh-CN" sz="2000" b="0" i="0" smtClean="0">
                                  <a:solidFill>
                                    <a:schemeClr val="tx1"/>
                                  </a:solidFill>
                                  <a:latin typeface="+mn-lt"/>
                                  <a:cs typeface="+mn-cs"/>
                                </a:rPr>
                                <m:t>;</m:t>
                              </m:r>
                              <m:r>
                                <m:rPr>
                                  <m:nor/>
                                </m:rPr>
                                <a:rPr lang="en-US" altLang="zh-CN" sz="2000" i="0" smtClean="0">
                                  <a:solidFill>
                                    <a:schemeClr val="tx1"/>
                                  </a:solidFill>
                                  <a:latin typeface="+mn-lt"/>
                                  <a:cs typeface="+mn-cs"/>
                                </a:rPr>
                                <m:t>y</m:t>
                              </m:r>
                            </m:e>
                            <m:sub>
                              <m:r>
                                <m:rPr>
                                  <m:nor/>
                                </m:rPr>
                                <a:rPr lang="en-US" altLang="zh-CN" sz="2000" i="0" smtClean="0">
                                  <a:solidFill>
                                    <a:schemeClr val="tx1"/>
                                  </a:solidFill>
                                  <a:latin typeface="+mn-lt"/>
                                  <a:cs typeface="+mn-cs"/>
                                </a:rPr>
                                <m:t>1</m:t>
                              </m:r>
                            </m:sub>
                          </m:sSub>
                        </m:e>
                      </m:d>
                      <m:r>
                        <m:rPr>
                          <m:nor/>
                        </m:rPr>
                        <a:rPr lang="en-US" altLang="zh-CN" sz="2000" i="0" smtClean="0">
                          <a:solidFill>
                            <a:schemeClr val="tx1"/>
                          </a:solidFill>
                          <a:latin typeface="+mn-lt"/>
                          <a:cs typeface="+mn-cs"/>
                        </a:rPr>
                        <m:t>+</m:t>
                      </m:r>
                      <m:r>
                        <m:rPr>
                          <m:nor/>
                        </m:rPr>
                        <a:rPr lang="en-US" altLang="zh-CN" sz="2000" i="0" smtClean="0">
                          <a:solidFill>
                            <a:schemeClr val="tx1"/>
                          </a:solidFill>
                          <a:latin typeface="+mn-lt"/>
                          <a:cs typeface="+mn-cs"/>
                        </a:rPr>
                        <m:t>I</m:t>
                      </m:r>
                      <m:d>
                        <m:dPr>
                          <m:ctrlPr>
                            <a:rPr lang="en-US" altLang="zh-CN" sz="2000" i="1" smtClean="0">
                              <a:solidFill>
                                <a:schemeClr val="tx1"/>
                              </a:solidFill>
                              <a:latin typeface="Cambria Math" panose="02040503050406030204" pitchFamily="18" charset="0"/>
                              <a:cs typeface="+mn-cs"/>
                            </a:rPr>
                          </m:ctrlPr>
                        </m:dPr>
                        <m:e>
                          <m:sSub>
                            <m:sSubPr>
                              <m:ctrlPr>
                                <a:rPr lang="en-US" altLang="zh-CN" sz="2000" i="1" smtClean="0">
                                  <a:solidFill>
                                    <a:schemeClr val="tx1"/>
                                  </a:solidFill>
                                  <a:latin typeface="Cambria Math" panose="02040503050406030204" pitchFamily="18" charset="0"/>
                                  <a:cs typeface="+mn-cs"/>
                                </a:rPr>
                              </m:ctrlPr>
                            </m:sSubPr>
                            <m:e>
                              <m:r>
                                <m:rPr>
                                  <m:nor/>
                                </m:rPr>
                                <a:rPr lang="en-US" altLang="zh-CN" sz="2000" i="0" smtClean="0">
                                  <a:solidFill>
                                    <a:schemeClr val="tx1"/>
                                  </a:solidFill>
                                  <a:latin typeface="+mn-lt"/>
                                  <a:cs typeface="+mn-cs"/>
                                </a:rPr>
                                <m:t>x</m:t>
                              </m:r>
                            </m:e>
                            <m:sub>
                              <m:r>
                                <m:rPr>
                                  <m:nor/>
                                </m:rPr>
                                <a:rPr lang="en-US" altLang="zh-CN" sz="2000" i="0" smtClean="0">
                                  <a:solidFill>
                                    <a:schemeClr val="tx1"/>
                                  </a:solidFill>
                                  <a:latin typeface="+mn-lt"/>
                                  <a:cs typeface="+mn-cs"/>
                                </a:rPr>
                                <m:t>2</m:t>
                              </m:r>
                            </m:sub>
                          </m:sSub>
                          <m:r>
                            <m:rPr>
                              <m:nor/>
                            </m:rPr>
                            <a:rPr lang="en-US" altLang="zh-CN" sz="2000" b="0" i="0" smtClean="0">
                              <a:solidFill>
                                <a:schemeClr val="tx1"/>
                              </a:solidFill>
                              <a:latin typeface="+mn-lt"/>
                              <a:cs typeface="+mn-cs"/>
                            </a:rPr>
                            <m:t>;</m:t>
                          </m:r>
                          <m:sSub>
                            <m:sSubPr>
                              <m:ctrlPr>
                                <a:rPr lang="en-US" altLang="zh-CN" sz="2000" i="1" smtClean="0">
                                  <a:solidFill>
                                    <a:schemeClr val="tx1"/>
                                  </a:solidFill>
                                  <a:latin typeface="Cambria Math" panose="02040503050406030204" pitchFamily="18" charset="0"/>
                                  <a:cs typeface="+mn-cs"/>
                                </a:rPr>
                              </m:ctrlPr>
                            </m:sSubPr>
                            <m:e>
                              <m:r>
                                <m:rPr>
                                  <m:nor/>
                                </m:rPr>
                                <a:rPr lang="en-US" altLang="zh-CN" sz="2000" i="0" smtClean="0">
                                  <a:solidFill>
                                    <a:schemeClr val="tx1"/>
                                  </a:solidFill>
                                  <a:latin typeface="+mn-lt"/>
                                  <a:cs typeface="+mn-cs"/>
                                </a:rPr>
                                <m:t>y</m:t>
                              </m:r>
                            </m:e>
                            <m:sub>
                              <m:r>
                                <m:rPr>
                                  <m:nor/>
                                </m:rPr>
                                <a:rPr lang="en-US" altLang="zh-CN" sz="2000" i="0" smtClean="0">
                                  <a:solidFill>
                                    <a:schemeClr val="tx1"/>
                                  </a:solidFill>
                                  <a:latin typeface="+mn-lt"/>
                                  <a:cs typeface="+mn-cs"/>
                                </a:rPr>
                                <m:t>2</m:t>
                              </m:r>
                            </m:sub>
                          </m:sSub>
                        </m:e>
                      </m:d>
                      <m:r>
                        <m:rPr>
                          <m:nor/>
                        </m:rPr>
                        <a:rPr lang="en-US" altLang="zh-CN" sz="2000" i="0" smtClean="0">
                          <a:solidFill>
                            <a:schemeClr val="tx1"/>
                          </a:solidFill>
                          <a:latin typeface="+mn-lt"/>
                          <a:cs typeface="+mn-cs"/>
                        </a:rPr>
                        <m:t>=</m:t>
                      </m:r>
                      <m:r>
                        <m:rPr>
                          <m:nor/>
                        </m:rPr>
                        <a:rPr lang="en-US" altLang="zh-CN" sz="2000" i="0" dirty="0" smtClean="0">
                          <a:solidFill>
                            <a:schemeClr val="tx1"/>
                          </a:solidFill>
                          <a:latin typeface="+mn-lt"/>
                          <a:cs typeface="+mn-cs"/>
                        </a:rPr>
                        <m:t>C</m:t>
                      </m:r>
                      <m:d>
                        <m:dPr>
                          <m:ctrlPr>
                            <a:rPr lang="en-US" altLang="zh-CN" sz="2000" i="1" dirty="0" smtClean="0">
                              <a:solidFill>
                                <a:schemeClr val="tx1"/>
                              </a:solidFill>
                              <a:latin typeface="Cambria Math" panose="02040503050406030204" pitchFamily="18" charset="0"/>
                              <a:cs typeface="+mn-cs"/>
                            </a:rPr>
                          </m:ctrlPr>
                        </m:dPr>
                        <m:e>
                          <m:sSub>
                            <m:sSubPr>
                              <m:ctrlPr>
                                <a:rPr lang="en-US" altLang="zh-CN" sz="2000" i="1" dirty="0">
                                  <a:solidFill>
                                    <a:schemeClr val="tx1"/>
                                  </a:solidFill>
                                  <a:latin typeface="Cambria Math" panose="02040503050406030204" pitchFamily="18" charset="0"/>
                                  <a:cs typeface="+mn-cs"/>
                                </a:rPr>
                              </m:ctrlPr>
                            </m:sSubPr>
                            <m:e>
                              <m:r>
                                <m:rPr>
                                  <m:nor/>
                                </m:rPr>
                                <a:rPr lang="en-US" altLang="zh-CN" sz="2000" b="0" i="0" dirty="0" smtClean="0">
                                  <a:solidFill>
                                    <a:schemeClr val="tx1"/>
                                  </a:solidFill>
                                  <a:latin typeface="+mn-lt"/>
                                  <a:cs typeface="+mn-cs"/>
                                </a:rPr>
                                <m:t>W</m:t>
                              </m:r>
                            </m:e>
                            <m:sub>
                              <m:r>
                                <m:rPr>
                                  <m:nor/>
                                </m:rPr>
                                <a:rPr lang="en-US" altLang="zh-CN" sz="2000" i="0" dirty="0">
                                  <a:solidFill>
                                    <a:schemeClr val="tx1"/>
                                  </a:solidFill>
                                  <a:latin typeface="+mn-lt"/>
                                  <a:cs typeface="+mn-cs"/>
                                </a:rPr>
                                <m:t>1</m:t>
                              </m:r>
                            </m:sub>
                          </m:sSub>
                        </m:e>
                      </m:d>
                      <m:r>
                        <m:rPr>
                          <m:nor/>
                        </m:rPr>
                        <a:rPr lang="en-US" altLang="zh-CN" sz="2000" i="0" dirty="0" smtClean="0">
                          <a:solidFill>
                            <a:schemeClr val="tx1"/>
                          </a:solidFill>
                          <a:latin typeface="+mn-lt"/>
                          <a:cs typeface="+mn-cs"/>
                        </a:rPr>
                        <m:t>+</m:t>
                      </m:r>
                      <m:r>
                        <m:rPr>
                          <m:nor/>
                        </m:rPr>
                        <a:rPr lang="en-US" altLang="zh-CN" sz="2000" i="0" dirty="0" smtClean="0">
                          <a:solidFill>
                            <a:schemeClr val="tx1"/>
                          </a:solidFill>
                          <a:latin typeface="+mn-lt"/>
                          <a:cs typeface="+mn-cs"/>
                        </a:rPr>
                        <m:t>C</m:t>
                      </m:r>
                      <m:d>
                        <m:dPr>
                          <m:ctrlPr>
                            <a:rPr lang="en-US" altLang="zh-CN" sz="2000" i="1" dirty="0" smtClean="0">
                              <a:solidFill>
                                <a:schemeClr val="tx1"/>
                              </a:solidFill>
                              <a:latin typeface="Cambria Math" panose="02040503050406030204" pitchFamily="18" charset="0"/>
                              <a:cs typeface="+mn-cs"/>
                            </a:rPr>
                          </m:ctrlPr>
                        </m:dPr>
                        <m:e>
                          <m:sSub>
                            <m:sSubPr>
                              <m:ctrlPr>
                                <a:rPr lang="en-US" altLang="zh-CN" sz="2000" i="1" dirty="0">
                                  <a:solidFill>
                                    <a:schemeClr val="tx1"/>
                                  </a:solidFill>
                                  <a:latin typeface="Cambria Math" panose="02040503050406030204" pitchFamily="18" charset="0"/>
                                  <a:cs typeface="+mn-cs"/>
                                </a:rPr>
                              </m:ctrlPr>
                            </m:sSubPr>
                            <m:e>
                              <m:r>
                                <m:rPr>
                                  <m:nor/>
                                </m:rPr>
                                <a:rPr lang="en-US" altLang="zh-CN" sz="2000" b="0" i="0" dirty="0" smtClean="0">
                                  <a:solidFill>
                                    <a:schemeClr val="tx1"/>
                                  </a:solidFill>
                                  <a:latin typeface="+mn-lt"/>
                                  <a:cs typeface="+mn-cs"/>
                                </a:rPr>
                                <m:t>W</m:t>
                              </m:r>
                            </m:e>
                            <m:sub>
                              <m:r>
                                <m:rPr>
                                  <m:nor/>
                                </m:rPr>
                                <a:rPr lang="en-US" altLang="zh-CN" sz="2000" i="0" dirty="0">
                                  <a:solidFill>
                                    <a:schemeClr val="tx1"/>
                                  </a:solidFill>
                                  <a:latin typeface="+mn-lt"/>
                                  <a:cs typeface="+mn-cs"/>
                                </a:rPr>
                                <m:t>2</m:t>
                              </m:r>
                            </m:sub>
                          </m:sSub>
                        </m:e>
                      </m:d>
                    </m:oMath>
                  </m:oMathPara>
                </a14:m>
                <a:endParaRPr lang="en-US" altLang="zh-CN" sz="2000" i="1" dirty="0">
                  <a:solidFill>
                    <a:schemeClr val="tx1"/>
                  </a:solidFill>
                  <a:latin typeface="+mn-lt"/>
                  <a:cs typeface="+mn-cs"/>
                </a:endParaRPr>
              </a:p>
              <a:p>
                <a:pPr lvl="0">
                  <a:lnSpc>
                    <a:spcPct val="150000"/>
                  </a:lnSpc>
                  <a:spcBef>
                    <a:spcPts val="0"/>
                  </a:spcBef>
                  <a:spcAft>
                    <a:spcPts val="0"/>
                  </a:spcAft>
                  <a:defRPr/>
                </a:pPr>
                <a14:m>
                  <m:oMathPara xmlns:m="http://schemas.openxmlformats.org/officeDocument/2006/math">
                    <m:oMathParaPr>
                      <m:jc m:val="centerGroup"/>
                    </m:oMathParaPr>
                    <m:oMath xmlns:m="http://schemas.openxmlformats.org/officeDocument/2006/math">
                      <m:r>
                        <m:rPr>
                          <m:nor/>
                        </m:rPr>
                        <a:rPr lang="en-US" altLang="zh-CN" sz="2000" i="0" dirty="0" smtClean="0">
                          <a:solidFill>
                            <a:schemeClr val="tx1"/>
                          </a:solidFill>
                          <a:latin typeface="+mn-lt"/>
                          <a:cs typeface="+mn-cs"/>
                        </a:rPr>
                        <m:t>=</m:t>
                      </m:r>
                      <m:r>
                        <m:rPr>
                          <m:nor/>
                        </m:rPr>
                        <a:rPr lang="en-US" altLang="zh-CN" sz="2000" b="0" i="0" dirty="0" smtClean="0">
                          <a:solidFill>
                            <a:schemeClr val="tx1"/>
                          </a:solidFill>
                          <a:latin typeface="+mn-lt"/>
                          <a:cs typeface="+mn-cs"/>
                        </a:rPr>
                        <m:t>2</m:t>
                      </m:r>
                      <m:r>
                        <m:rPr>
                          <m:nor/>
                        </m:rPr>
                        <a:rPr lang="en-US" altLang="zh-CN" sz="2000" i="0" dirty="0" smtClean="0">
                          <a:solidFill>
                            <a:schemeClr val="tx1"/>
                          </a:solidFill>
                          <a:latin typeface="+mn-lt"/>
                          <a:cs typeface="+mn-cs"/>
                        </a:rPr>
                        <m:t>×</m:t>
                      </m:r>
                      <m:r>
                        <m:rPr>
                          <m:nor/>
                        </m:rPr>
                        <a:rPr lang="en-US" altLang="zh-CN" sz="2000" b="0" i="0" dirty="0" smtClean="0">
                          <a:solidFill>
                            <a:schemeClr val="tx1"/>
                          </a:solidFill>
                          <a:latin typeface="+mn-lt"/>
                          <a:cs typeface="+mn-cs"/>
                        </a:rPr>
                        <m:t>C</m:t>
                      </m:r>
                      <m:d>
                        <m:dPr>
                          <m:ctrlPr>
                            <a:rPr lang="en-US" altLang="zh-CN" sz="2000" i="1" dirty="0" smtClean="0">
                              <a:solidFill>
                                <a:schemeClr val="tx1"/>
                              </a:solidFill>
                              <a:latin typeface="Cambria Math" panose="02040503050406030204" pitchFamily="18" charset="0"/>
                              <a:cs typeface="+mn-cs"/>
                            </a:rPr>
                          </m:ctrlPr>
                        </m:dPr>
                        <m:e>
                          <m:sSub>
                            <m:sSubPr>
                              <m:ctrlPr>
                                <a:rPr lang="en-US" altLang="zh-CN" sz="2000" i="1" dirty="0" smtClean="0">
                                  <a:solidFill>
                                    <a:schemeClr val="tx1"/>
                                  </a:solidFill>
                                  <a:latin typeface="Cambria Math" panose="02040503050406030204" pitchFamily="18" charset="0"/>
                                  <a:cs typeface="+mn-cs"/>
                                </a:rPr>
                              </m:ctrlPr>
                            </m:sSubPr>
                            <m:e>
                              <m:r>
                                <m:rPr>
                                  <m:nor/>
                                </m:rPr>
                                <a:rPr lang="en-US" altLang="zh-CN" sz="2000" b="0" i="0" dirty="0" smtClean="0">
                                  <a:solidFill>
                                    <a:schemeClr val="tx1"/>
                                  </a:solidFill>
                                  <a:latin typeface="+mn-lt"/>
                                  <a:cs typeface="+mn-cs"/>
                                </a:rPr>
                                <m:t>W</m:t>
                              </m:r>
                            </m:e>
                            <m:sub>
                              <m:r>
                                <m:rPr>
                                  <m:nor/>
                                </m:rPr>
                                <a:rPr lang="en-US" altLang="zh-CN" sz="2000" i="0" dirty="0">
                                  <a:solidFill>
                                    <a:schemeClr val="tx1"/>
                                  </a:solidFill>
                                  <a:latin typeface="+mn-lt"/>
                                  <a:cs typeface="+mn-cs"/>
                                </a:rPr>
                                <m:t>1</m:t>
                              </m:r>
                            </m:sub>
                          </m:sSub>
                        </m:e>
                      </m:d>
                      <m:r>
                        <m:rPr>
                          <m:nor/>
                        </m:rPr>
                        <a:rPr lang="en-US" altLang="zh-CN" sz="2000" i="0" dirty="0" smtClean="0">
                          <a:solidFill>
                            <a:schemeClr val="tx1"/>
                          </a:solidFill>
                          <a:latin typeface="+mn-lt"/>
                          <a:cs typeface="+mn-cs"/>
                        </a:rPr>
                        <m:t>=</m:t>
                      </m:r>
                      <m:r>
                        <m:rPr>
                          <m:nor/>
                        </m:rPr>
                        <a:rPr lang="en-US" altLang="zh-CN" sz="2000" i="0" dirty="0" smtClean="0">
                          <a:solidFill>
                            <a:schemeClr val="tx1"/>
                          </a:solidFill>
                          <a:latin typeface="+mn-lt"/>
                          <a:cs typeface="+mn-cs"/>
                        </a:rPr>
                        <m:t>2</m:t>
                      </m:r>
                      <m:r>
                        <m:rPr>
                          <m:nor/>
                        </m:rPr>
                        <a:rPr lang="en-US" altLang="zh-CN" sz="2000" i="0" dirty="0" smtClean="0">
                          <a:solidFill>
                            <a:schemeClr val="tx1"/>
                          </a:solidFill>
                          <a:latin typeface="+mn-lt"/>
                          <a:cs typeface="+mn-cs"/>
                        </a:rPr>
                        <m:t>×</m:t>
                      </m:r>
                      <m:r>
                        <m:rPr>
                          <m:nor/>
                        </m:rPr>
                        <a:rPr lang="en-US" altLang="zh-CN" sz="2000" b="0" i="0" dirty="0" smtClean="0">
                          <a:solidFill>
                            <a:schemeClr val="tx1"/>
                          </a:solidFill>
                          <a:latin typeface="+mn-lt"/>
                          <a:cs typeface="+mn-cs"/>
                        </a:rPr>
                        <m:t>C</m:t>
                      </m:r>
                      <m:d>
                        <m:dPr>
                          <m:ctrlPr>
                            <a:rPr lang="en-US" altLang="zh-CN" sz="2000" i="1" dirty="0" smtClean="0">
                              <a:solidFill>
                                <a:schemeClr val="tx1"/>
                              </a:solidFill>
                              <a:latin typeface="Cambria Math" panose="02040503050406030204" pitchFamily="18" charset="0"/>
                              <a:cs typeface="+mn-cs"/>
                            </a:rPr>
                          </m:ctrlPr>
                        </m:dPr>
                        <m:e>
                          <m:sSub>
                            <m:sSubPr>
                              <m:ctrlPr>
                                <a:rPr lang="en-US" altLang="zh-CN" sz="2000" i="1" dirty="0">
                                  <a:solidFill>
                                    <a:schemeClr val="tx1"/>
                                  </a:solidFill>
                                  <a:latin typeface="Cambria Math" panose="02040503050406030204" pitchFamily="18" charset="0"/>
                                  <a:cs typeface="+mn-cs"/>
                                </a:rPr>
                              </m:ctrlPr>
                            </m:sSubPr>
                            <m:e>
                              <m:r>
                                <m:rPr>
                                  <m:nor/>
                                </m:rPr>
                                <a:rPr lang="en-US" altLang="zh-CN" sz="2000" b="0" i="0" dirty="0" smtClean="0">
                                  <a:solidFill>
                                    <a:schemeClr val="tx1"/>
                                  </a:solidFill>
                                  <a:latin typeface="+mn-lt"/>
                                  <a:cs typeface="+mn-cs"/>
                                </a:rPr>
                                <m:t>W</m:t>
                              </m:r>
                            </m:e>
                            <m:sub>
                              <m:r>
                                <m:rPr>
                                  <m:nor/>
                                </m:rPr>
                                <a:rPr lang="en-US" altLang="zh-CN" sz="2000" i="0" dirty="0">
                                  <a:solidFill>
                                    <a:schemeClr val="tx1"/>
                                  </a:solidFill>
                                  <a:latin typeface="+mn-lt"/>
                                  <a:cs typeface="+mn-cs"/>
                                </a:rPr>
                                <m:t>2</m:t>
                              </m:r>
                            </m:sub>
                          </m:sSub>
                        </m:e>
                      </m:d>
                    </m:oMath>
                  </m:oMathPara>
                </a14:m>
                <a:endParaRPr lang="en-US" altLang="zh-CN" sz="2000" dirty="0">
                  <a:solidFill>
                    <a:schemeClr val="tx1"/>
                  </a:solidFill>
                  <a:latin typeface="+mn-lt"/>
                  <a:cs typeface="+mn-cs"/>
                </a:endParaRPr>
              </a:p>
              <a:p>
                <a:pPr lvl="0">
                  <a:lnSpc>
                    <a:spcPct val="150000"/>
                  </a:lnSpc>
                  <a:spcBef>
                    <a:spcPts val="0"/>
                  </a:spcBef>
                  <a:spcAft>
                    <a:spcPts val="0"/>
                  </a:spcAft>
                  <a:defRPr/>
                </a:pPr>
                <a:r>
                  <a:rPr lang="en-US" altLang="zh-CN" sz="2000" dirty="0">
                    <a:latin typeface="+mn-lt"/>
                    <a:ea typeface="黑体" panose="02010609060101010101" pitchFamily="49" charset="-122"/>
                    <a:cs typeface="+mn-cs"/>
                  </a:rPr>
                  <a:t>       </a:t>
                </a:r>
                <a:r>
                  <a:rPr lang="zh-CN" altLang="en-US" sz="2000" dirty="0">
                    <a:latin typeface="+mn-lt"/>
                    <a:ea typeface="黑体" panose="02010609060101010101" pitchFamily="49" charset="-122"/>
                    <a:cs typeface="+mn-cs"/>
                  </a:rPr>
                  <a:t>也就是说，信道合并保持总信道容量守恒。若</a:t>
                </a:r>
                <a:r>
                  <a:rPr lang="en-US" altLang="zh-CN" sz="2000" dirty="0">
                    <a:latin typeface="+mn-lt"/>
                    <a:ea typeface="黑体" panose="02010609060101010101" pitchFamily="49" charset="-122"/>
                    <a:cs typeface="+mn-cs"/>
                  </a:rPr>
                  <a:t>N</a:t>
                </a:r>
                <a:r>
                  <a:rPr lang="zh-CN" altLang="en-US" sz="2000" dirty="0">
                    <a:latin typeface="+mn-lt"/>
                    <a:ea typeface="黑体" panose="02010609060101010101" pitchFamily="49" charset="-122"/>
                    <a:cs typeface="+mn-cs"/>
                  </a:rPr>
                  <a:t>个信道合并，则</a:t>
                </a:r>
                <a:endParaRPr lang="en-US" altLang="zh-CN" sz="2000" dirty="0">
                  <a:latin typeface="+mn-lt"/>
                  <a:ea typeface="黑体" panose="02010609060101010101" pitchFamily="49" charset="-122"/>
                  <a:cs typeface="+mn-cs"/>
                </a:endParaRPr>
              </a:p>
              <a:p>
                <a:pPr lvl="0">
                  <a:lnSpc>
                    <a:spcPct val="150000"/>
                  </a:lnSpc>
                  <a:spcBef>
                    <a:spcPts val="0"/>
                  </a:spcBef>
                  <a:spcAft>
                    <a:spcPts val="0"/>
                  </a:spcAft>
                  <a:defRPr/>
                </a:pPr>
                <a14:m>
                  <m:oMathPara xmlns:m="http://schemas.openxmlformats.org/officeDocument/2006/math">
                    <m:oMathParaPr>
                      <m:jc m:val="centerGroup"/>
                    </m:oMathParaPr>
                    <m:oMath xmlns:m="http://schemas.openxmlformats.org/officeDocument/2006/math">
                      <m:r>
                        <m:rPr>
                          <m:nor/>
                        </m:rPr>
                        <a:rPr lang="en-US" altLang="zh-CN" sz="2000" i="0" smtClean="0">
                          <a:solidFill>
                            <a:schemeClr val="tx1"/>
                          </a:solidFill>
                          <a:latin typeface="+mn-lt"/>
                          <a:cs typeface="+mn-cs"/>
                        </a:rPr>
                        <m:t>C</m:t>
                      </m:r>
                      <m:d>
                        <m:dPr>
                          <m:ctrlPr>
                            <a:rPr lang="en-US" altLang="zh-CN" sz="2000" i="1" smtClean="0">
                              <a:solidFill>
                                <a:schemeClr val="tx1"/>
                              </a:solidFill>
                              <a:latin typeface="Cambria Math" panose="02040503050406030204" pitchFamily="18" charset="0"/>
                              <a:cs typeface="+mn-cs"/>
                            </a:rPr>
                          </m:ctrlPr>
                        </m:dPr>
                        <m:e>
                          <m:r>
                            <m:rPr>
                              <m:nor/>
                            </m:rPr>
                            <a:rPr lang="en-US" altLang="zh-CN" sz="2000" b="0" i="0" smtClean="0">
                              <a:solidFill>
                                <a:schemeClr val="tx1"/>
                              </a:solidFill>
                              <a:latin typeface="+mn-lt"/>
                              <a:cs typeface="+mn-cs"/>
                            </a:rPr>
                            <m:t>W</m:t>
                          </m:r>
                        </m:e>
                      </m:d>
                      <m:r>
                        <m:rPr>
                          <m:nor/>
                        </m:rPr>
                        <a:rPr lang="en-US" altLang="zh-CN" sz="2000" i="0" smtClean="0">
                          <a:solidFill>
                            <a:schemeClr val="tx1"/>
                          </a:solidFill>
                          <a:latin typeface="+mn-lt"/>
                          <a:cs typeface="+mn-cs"/>
                        </a:rPr>
                        <m:t>=</m:t>
                      </m:r>
                      <m:r>
                        <m:rPr>
                          <m:nor/>
                        </m:rPr>
                        <a:rPr lang="en-US" altLang="zh-CN" sz="2000" i="0" smtClean="0">
                          <a:solidFill>
                            <a:schemeClr val="tx1"/>
                          </a:solidFill>
                          <a:latin typeface="+mn-lt"/>
                          <a:cs typeface="+mn-cs"/>
                        </a:rPr>
                        <m:t>N</m:t>
                      </m:r>
                      <m:r>
                        <m:rPr>
                          <m:nor/>
                        </m:rPr>
                        <a:rPr lang="en-US" altLang="zh-CN" sz="2000" i="0" smtClean="0">
                          <a:solidFill>
                            <a:schemeClr val="tx1"/>
                          </a:solidFill>
                          <a:latin typeface="+mn-lt"/>
                          <a:cs typeface="+mn-cs"/>
                        </a:rPr>
                        <m:t>⋅</m:t>
                      </m:r>
                      <m:r>
                        <m:rPr>
                          <m:nor/>
                        </m:rPr>
                        <a:rPr lang="en-US" altLang="zh-CN" sz="2000" i="0" smtClean="0">
                          <a:solidFill>
                            <a:schemeClr val="tx1"/>
                          </a:solidFill>
                          <a:latin typeface="+mn-lt"/>
                          <a:cs typeface="+mn-cs"/>
                        </a:rPr>
                        <m:t>C</m:t>
                      </m:r>
                      <m:d>
                        <m:dPr>
                          <m:ctrlPr>
                            <a:rPr lang="en-US" altLang="zh-CN" sz="2000" i="1" smtClean="0">
                              <a:solidFill>
                                <a:schemeClr val="tx1"/>
                              </a:solidFill>
                              <a:latin typeface="Cambria Math" panose="02040503050406030204" pitchFamily="18" charset="0"/>
                              <a:cs typeface="+mn-cs"/>
                            </a:rPr>
                          </m:ctrlPr>
                        </m:dPr>
                        <m:e>
                          <m:sSub>
                            <m:sSubPr>
                              <m:ctrlPr>
                                <a:rPr lang="en-US" altLang="zh-CN" sz="2000" i="1" smtClean="0">
                                  <a:solidFill>
                                    <a:schemeClr val="tx1"/>
                                  </a:solidFill>
                                  <a:latin typeface="Cambria Math" panose="02040503050406030204" pitchFamily="18" charset="0"/>
                                  <a:cs typeface="+mn-cs"/>
                                </a:rPr>
                              </m:ctrlPr>
                            </m:sSubPr>
                            <m:e>
                              <m:r>
                                <m:rPr>
                                  <m:nor/>
                                </m:rPr>
                                <a:rPr lang="en-US" altLang="zh-CN" sz="2000" b="0" i="0" smtClean="0">
                                  <a:solidFill>
                                    <a:schemeClr val="tx1"/>
                                  </a:solidFill>
                                  <a:latin typeface="+mn-lt"/>
                                  <a:cs typeface="+mn-cs"/>
                                </a:rPr>
                                <m:t>W</m:t>
                              </m:r>
                            </m:e>
                            <m:sub>
                              <m:r>
                                <m:rPr>
                                  <m:nor/>
                                </m:rPr>
                                <a:rPr lang="en-US" altLang="zh-CN" sz="2000" i="0" smtClean="0">
                                  <a:solidFill>
                                    <a:schemeClr val="tx1"/>
                                  </a:solidFill>
                                  <a:latin typeface="+mn-lt"/>
                                  <a:cs typeface="+mn-cs"/>
                                </a:rPr>
                                <m:t>1</m:t>
                              </m:r>
                            </m:sub>
                          </m:sSub>
                        </m:e>
                      </m:d>
                    </m:oMath>
                  </m:oMathPara>
                </a14:m>
                <a:endParaRPr lang="en-US" altLang="zh-CN" sz="2000" dirty="0">
                  <a:latin typeface="+mn-lt"/>
                  <a:ea typeface="黑体" panose="02010609060101010101" pitchFamily="49" charset="-122"/>
                  <a:cs typeface="+mn-cs"/>
                </a:endParaRPr>
              </a:p>
              <a:p>
                <a:pPr marL="0" marR="0" lvl="0" indent="0" algn="l" defTabSz="914400" eaLnBrk="0" fontAlgn="base" latinLnBrk="0" hangingPunct="0">
                  <a:lnSpc>
                    <a:spcPct val="150000"/>
                  </a:lnSpc>
                  <a:spcBef>
                    <a:spcPts val="0"/>
                  </a:spcBef>
                  <a:spcAft>
                    <a:spcPts val="0"/>
                  </a:spcAft>
                  <a:buClrTx/>
                  <a:buSzTx/>
                  <a:buFont typeface="Wingdings" panose="05000000000000000000" pitchFamily="2" charset="2"/>
                  <a:buNone/>
                  <a:defRPr/>
                </a:pPr>
                <a:r>
                  <a:rPr lang="zh-CN" altLang="en-US" sz="2000" dirty="0">
                    <a:latin typeface="+mn-lt"/>
                    <a:ea typeface="黑体" panose="02010609060101010101" pitchFamily="49" charset="-122"/>
                    <a:cs typeface="+mn-cs"/>
                  </a:rPr>
                  <a:t>       即，合成信道的总容量是各个子信道容量之和，容量守恒。</a:t>
                </a:r>
                <a:endParaRPr lang="en-US" altLang="zh-CN" sz="2000" dirty="0">
                  <a:latin typeface="+mn-lt"/>
                  <a:ea typeface="黑体" panose="02010609060101010101" pitchFamily="49" charset="-122"/>
                  <a:cs typeface="+mn-cs"/>
                </a:endParaRPr>
              </a:p>
            </p:txBody>
          </p:sp>
        </mc:Choice>
        <mc:Fallback>
          <p:sp>
            <p:nvSpPr>
              <p:cNvPr id="9" name="文本框 8"/>
              <p:cNvSpPr txBox="1">
                <a:spLocks noRot="1" noChangeAspect="1" noMove="1" noResize="1" noEditPoints="1" noAdjustHandles="1" noChangeArrowheads="1" noChangeShapeType="1" noTextEdit="1"/>
              </p:cNvSpPr>
              <p:nvPr/>
            </p:nvSpPr>
            <p:spPr>
              <a:xfrm>
                <a:off x="266813" y="762000"/>
                <a:ext cx="8610374" cy="5844549"/>
              </a:xfrm>
              <a:prstGeom prst="rect">
                <a:avLst/>
              </a:prstGeom>
              <a:blipFill rotWithShape="1">
                <a:blip r:embed="rId1"/>
                <a:stretch>
                  <a:fillRect l="-1" r="6" b="-1814"/>
                </a:stretch>
              </a:blipFill>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057747" y="106732"/>
            <a:ext cx="2933737"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p:sp>
        <p:nvSpPr>
          <p:cNvPr id="10" name="文本框 9"/>
          <p:cNvSpPr txBox="1"/>
          <p:nvPr/>
        </p:nvSpPr>
        <p:spPr>
          <a:xfrm>
            <a:off x="5853858" y="2282775"/>
            <a:ext cx="2209742" cy="369332"/>
          </a:xfrm>
          <a:prstGeom prst="rect">
            <a:avLst/>
          </a:prstGeom>
          <a:noFill/>
        </p:spPr>
        <p:txBody>
          <a:bodyPr wrap="square" rtlCol="0" anchor="t">
            <a:spAutoFit/>
          </a:bodyPr>
          <a:lstStyle/>
          <a:p>
            <a:r>
              <a:rPr lang="zh-CN" altLang="en-US" b="1" dirty="0">
                <a:solidFill>
                  <a:schemeClr val="accent2"/>
                </a:solidFill>
                <a:latin typeface="黑体" panose="02010609060101010101" pitchFamily="49" charset="-122"/>
                <a:ea typeface="黑体" panose="02010609060101010101" pitchFamily="49" charset="-122"/>
                <a:sym typeface="+mn-ea"/>
              </a:rPr>
              <a:t>双信道合并示意</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pic>
        <p:nvPicPr>
          <p:cNvPr id="14" name="图片 13"/>
          <p:cNvPicPr>
            <a:picLocks noChangeAspect="1"/>
          </p:cNvPicPr>
          <p:nvPr/>
        </p:nvPicPr>
        <p:blipFill>
          <a:blip r:embed="rId1"/>
          <a:stretch>
            <a:fillRect/>
          </a:stretch>
        </p:blipFill>
        <p:spPr>
          <a:xfrm>
            <a:off x="500923" y="3886188"/>
            <a:ext cx="4777869" cy="2730210"/>
          </a:xfrm>
          <a:prstGeom prst="rect">
            <a:avLst/>
          </a:prstGeom>
        </p:spPr>
      </p:pic>
      <p:pic>
        <p:nvPicPr>
          <p:cNvPr id="16" name="图片 15"/>
          <p:cNvPicPr>
            <a:picLocks noChangeAspect="1"/>
          </p:cNvPicPr>
          <p:nvPr/>
        </p:nvPicPr>
        <p:blipFill>
          <a:blip r:embed="rId2"/>
          <a:stretch>
            <a:fillRect/>
          </a:stretch>
        </p:blipFill>
        <p:spPr>
          <a:xfrm>
            <a:off x="369538" y="990260"/>
            <a:ext cx="5040640" cy="2680252"/>
          </a:xfrm>
          <a:prstGeom prst="rect">
            <a:avLst/>
          </a:prstGeom>
        </p:spPr>
      </p:pic>
      <p:sp>
        <p:nvSpPr>
          <p:cNvPr id="5" name="文本框 4"/>
          <p:cNvSpPr txBox="1"/>
          <p:nvPr/>
        </p:nvSpPr>
        <p:spPr>
          <a:xfrm>
            <a:off x="5701519" y="4904623"/>
            <a:ext cx="2514420" cy="369332"/>
          </a:xfrm>
          <a:prstGeom prst="rect">
            <a:avLst/>
          </a:prstGeom>
          <a:noFill/>
        </p:spPr>
        <p:txBody>
          <a:bodyPr wrap="square" rtlCol="0" anchor="t">
            <a:spAutoFit/>
          </a:bodyPr>
          <a:lstStyle/>
          <a:p>
            <a:r>
              <a:rPr lang="en-US" altLang="zh-CN" b="1" dirty="0">
                <a:solidFill>
                  <a:schemeClr val="accent2"/>
                </a:solidFill>
                <a:latin typeface="黑体" panose="02010609060101010101" pitchFamily="49" charset="-122"/>
                <a:ea typeface="黑体" panose="02010609060101010101" pitchFamily="49" charset="-122"/>
                <a:sym typeface="+mn-ea"/>
              </a:rPr>
              <a:t>4</a:t>
            </a:r>
            <a:r>
              <a:rPr lang="zh-CN" altLang="en-US" b="1" dirty="0">
                <a:solidFill>
                  <a:schemeClr val="accent2"/>
                </a:solidFill>
                <a:latin typeface="黑体" panose="02010609060101010101" pitchFamily="49" charset="-122"/>
                <a:ea typeface="黑体" panose="02010609060101010101" pitchFamily="49" charset="-122"/>
                <a:sym typeface="+mn-ea"/>
              </a:rPr>
              <a:t>个</a:t>
            </a:r>
            <a:r>
              <a:rPr lang="en-US" altLang="zh-CN" b="1" dirty="0">
                <a:solidFill>
                  <a:schemeClr val="accent2"/>
                </a:solidFill>
                <a:latin typeface="黑体" panose="02010609060101010101" pitchFamily="49" charset="-122"/>
                <a:ea typeface="黑体" panose="02010609060101010101" pitchFamily="49" charset="-122"/>
                <a:sym typeface="+mn-ea"/>
              </a:rPr>
              <a:t>BEC</a:t>
            </a:r>
            <a:r>
              <a:rPr lang="zh-CN" altLang="en-US" b="1" dirty="0">
                <a:solidFill>
                  <a:schemeClr val="accent2"/>
                </a:solidFill>
                <a:latin typeface="黑体" panose="02010609060101010101" pitchFamily="49" charset="-122"/>
                <a:ea typeface="黑体" panose="02010609060101010101" pitchFamily="49" charset="-122"/>
                <a:sym typeface="+mn-ea"/>
              </a:rPr>
              <a:t>信道合并示意</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cxnSp>
        <p:nvCxnSpPr>
          <p:cNvPr id="13" name="直接连接符 12"/>
          <p:cNvCxnSpPr/>
          <p:nvPr/>
        </p:nvCxnSpPr>
        <p:spPr bwMode="auto">
          <a:xfrm flipV="1">
            <a:off x="157570" y="3771891"/>
            <a:ext cx="8838968" cy="12918"/>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a:stretch>
            <a:fillRect/>
          </a:stretch>
        </p:blipFill>
        <p:spPr>
          <a:xfrm>
            <a:off x="914496" y="885971"/>
            <a:ext cx="7599797" cy="5195527"/>
          </a:xfrm>
          <a:prstGeom prst="rect">
            <a:avLst/>
          </a:prstGeom>
        </p:spPr>
      </p:pic>
      <p:sp>
        <p:nvSpPr>
          <p:cNvPr id="4" name="标题 1"/>
          <p:cNvSpPr>
            <a:spLocks noGrp="1"/>
          </p:cNvSpPr>
          <p:nvPr>
            <p:ph type="title"/>
          </p:nvPr>
        </p:nvSpPr>
        <p:spPr>
          <a:xfrm>
            <a:off x="6057747" y="106732"/>
            <a:ext cx="2933737"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p:sp>
        <p:nvSpPr>
          <p:cNvPr id="12" name="文本框 11"/>
          <p:cNvSpPr txBox="1"/>
          <p:nvPr/>
        </p:nvSpPr>
        <p:spPr>
          <a:xfrm>
            <a:off x="3542316" y="6095930"/>
            <a:ext cx="2059367" cy="369332"/>
          </a:xfrm>
          <a:prstGeom prst="rect">
            <a:avLst/>
          </a:prstGeom>
          <a:noFill/>
        </p:spPr>
        <p:txBody>
          <a:bodyPr wrap="square" rtlCol="0" anchor="t">
            <a:spAutoFit/>
          </a:bodyPr>
          <a:lstStyle/>
          <a:p>
            <a:r>
              <a:rPr lang="zh-CN" altLang="en-US" b="1" dirty="0">
                <a:solidFill>
                  <a:schemeClr val="accent2"/>
                </a:solidFill>
                <a:latin typeface="黑体" panose="02010609060101010101" pitchFamily="49" charset="-122"/>
                <a:ea typeface="黑体" panose="02010609060101010101" pitchFamily="49" charset="-122"/>
                <a:sym typeface="+mn-ea"/>
              </a:rPr>
              <a:t>多信道合并示意</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054553" y="152468"/>
            <a:ext cx="2933737"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mc:AlternateContent xmlns:mc="http://schemas.openxmlformats.org/markup-compatibility/2006">
        <mc:Choice xmlns:a14="http://schemas.microsoft.com/office/drawing/2010/main" Requires="a14">
          <p:sp>
            <p:nvSpPr>
              <p:cNvPr id="7" name="文本框 6"/>
              <p:cNvSpPr txBox="1"/>
              <p:nvPr/>
            </p:nvSpPr>
            <p:spPr>
              <a:xfrm>
                <a:off x="304912" y="1371654"/>
                <a:ext cx="8762770" cy="3854838"/>
              </a:xfrm>
              <a:prstGeom prst="rect">
                <a:avLst/>
              </a:prstGeom>
              <a:noFill/>
            </p:spPr>
            <p:txBody>
              <a:bodyPr wrap="square">
                <a:spAutoFit/>
              </a:bodyPr>
              <a:lstStyle/>
              <a:p>
                <a:pPr marL="0" marR="0" lvl="0" indent="0" algn="l" defTabSz="914400" eaLnBrk="0" fontAlgn="base" latinLnBrk="0" hangingPunct="0">
                  <a:lnSpc>
                    <a:spcPct val="150000"/>
                  </a:lnSpc>
                  <a:spcBef>
                    <a:spcPts val="0"/>
                  </a:spcBef>
                  <a:spcAft>
                    <a:spcPts val="0"/>
                  </a:spcAft>
                  <a:buClrTx/>
                  <a:buSzTx/>
                  <a:buFont typeface="Wingdings" panose="05000000000000000000" pitchFamily="2" charset="2"/>
                  <a:buNone/>
                  <a:defRPr/>
                </a:pPr>
                <a:r>
                  <a:rPr kumimoji="1" lang="zh-CN" altLang="en-US" sz="24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信道</a:t>
                </a:r>
                <a:r>
                  <a:rPr kumimoji="1" lang="zh-CN" altLang="en-US" sz="2400" dirty="0">
                    <a:solidFill>
                      <a:srgbClr val="FF0000"/>
                    </a:solidFill>
                    <a:latin typeface="黑体" panose="02010609060101010101" pitchFamily="49" charset="-122"/>
                    <a:ea typeface="黑体" panose="02010609060101010101" pitchFamily="49" charset="-122"/>
                    <a:cs typeface="+mn-cs"/>
                  </a:rPr>
                  <a:t>分离（解码时）</a:t>
                </a:r>
                <a:r>
                  <a:rPr kumimoji="1" lang="zh-CN" altLang="en-US" sz="24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a:t>
                </a:r>
                <a:endParaRPr kumimoji="1" lang="en-US" altLang="zh-CN" sz="24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endParaRPr>
              </a:p>
              <a:p>
                <a:pPr lvl="0">
                  <a:lnSpc>
                    <a:spcPct val="200000"/>
                  </a:lnSpc>
                  <a:spcBef>
                    <a:spcPts val="0"/>
                  </a:spcBef>
                  <a:spcAft>
                    <a:spcPts val="0"/>
                  </a:spcAft>
                  <a:defRPr/>
                </a:pP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         信道分离是将混有多个输入比特信息的接收信息</a:t>
                </a:r>
                <a14:m>
                  <m:oMath xmlns:m="http://schemas.openxmlformats.org/officeDocument/2006/math">
                    <m:sSubSup>
                      <m:sSubSupPr>
                        <m:ctrlPr>
                          <a:rPr lang="zh-CN" altLang="en-US" sz="2000" i="1">
                            <a:solidFill>
                              <a:srgbClr val="000000"/>
                            </a:solidFill>
                            <a:latin typeface="Cambria Math" panose="02040503050406030204" pitchFamily="18" charset="0"/>
                            <a:ea typeface="黑体" panose="02010609060101010101" pitchFamily="49" charset="-122"/>
                            <a:cs typeface="+mn-cs"/>
                          </a:rPr>
                        </m:ctrlPr>
                      </m:sSubSupPr>
                      <m:e>
                        <m:r>
                          <a:rPr lang="zh-CN" altLang="en-US" sz="2000" smtClean="0">
                            <a:solidFill>
                              <a:srgbClr val="000000"/>
                            </a:solidFill>
                            <a:latin typeface="Cambria Math" panose="02040503050406030204" pitchFamily="18" charset="0"/>
                            <a:ea typeface="黑体" panose="02010609060101010101" pitchFamily="49" charset="-122"/>
                            <a:cs typeface="+mn-cs"/>
                          </a:rPr>
                          <m:t>𝑦</m:t>
                        </m:r>
                      </m:e>
                      <m:sub>
                        <m:r>
                          <a:rPr lang="zh-CN" altLang="en-US" sz="2000" smtClean="0">
                            <a:solidFill>
                              <a:srgbClr val="000000"/>
                            </a:solidFill>
                            <a:latin typeface="Cambria Math" panose="02040503050406030204" pitchFamily="18" charset="0"/>
                            <a:ea typeface="黑体" panose="02010609060101010101" pitchFamily="49" charset="-122"/>
                            <a:cs typeface="+mn-cs"/>
                          </a:rPr>
                          <m:t>1</m:t>
                        </m:r>
                      </m:sub>
                      <m:sup>
                        <m:r>
                          <a:rPr lang="zh-CN" altLang="en-US" sz="2000" smtClean="0">
                            <a:solidFill>
                              <a:srgbClr val="000000"/>
                            </a:solidFill>
                            <a:latin typeface="Cambria Math" panose="02040503050406030204" pitchFamily="18" charset="0"/>
                            <a:ea typeface="黑体" panose="02010609060101010101" pitchFamily="49" charset="-122"/>
                            <a:cs typeface="+mn-cs"/>
                          </a:rPr>
                          <m:t>𝑁</m:t>
                        </m:r>
                      </m:sup>
                    </m:sSubSup>
                    <m:r>
                      <a:rPr lang="zh-CN" altLang="en-US" sz="2000" smtClean="0">
                        <a:solidFill>
                          <a:srgbClr val="000000"/>
                        </a:solidFill>
                        <a:latin typeface="Cambria Math" panose="02040503050406030204" pitchFamily="18" charset="0"/>
                        <a:ea typeface="黑体" panose="02010609060101010101" pitchFamily="49" charset="-122"/>
                        <a:cs typeface="+mn-cs"/>
                      </a:rPr>
                      <m:t>=</m:t>
                    </m:r>
                    <m:d>
                      <m:dPr>
                        <m:ctrlPr>
                          <a:rPr lang="zh-CN" altLang="en-US" sz="2000" i="1">
                            <a:solidFill>
                              <a:srgbClr val="000000"/>
                            </a:solidFill>
                            <a:latin typeface="Cambria Math" panose="02040503050406030204" pitchFamily="18" charset="0"/>
                            <a:ea typeface="黑体" panose="02010609060101010101" pitchFamily="49" charset="-122"/>
                            <a:cs typeface="+mn-cs"/>
                          </a:rPr>
                        </m:ctrlPr>
                      </m:dPr>
                      <m:e>
                        <m:sSub>
                          <m:sSubPr>
                            <m:ctrlPr>
                              <a:rPr lang="zh-CN" altLang="en-US" sz="2000" i="1">
                                <a:solidFill>
                                  <a:srgbClr val="000000"/>
                                </a:solidFill>
                                <a:latin typeface="Cambria Math" panose="02040503050406030204" pitchFamily="18" charset="0"/>
                                <a:ea typeface="黑体" panose="02010609060101010101" pitchFamily="49" charset="-122"/>
                                <a:cs typeface="+mn-cs"/>
                              </a:rPr>
                            </m:ctrlPr>
                          </m:sSubPr>
                          <m:e>
                            <m:r>
                              <a:rPr lang="zh-CN" altLang="en-US" sz="2000" smtClean="0">
                                <a:solidFill>
                                  <a:srgbClr val="000000"/>
                                </a:solidFill>
                                <a:latin typeface="Cambria Math" panose="02040503050406030204" pitchFamily="18" charset="0"/>
                                <a:ea typeface="黑体" panose="02010609060101010101" pitchFamily="49" charset="-122"/>
                                <a:cs typeface="+mn-cs"/>
                              </a:rPr>
                              <m:t>𝑦</m:t>
                            </m:r>
                          </m:e>
                          <m:sub>
                            <m:r>
                              <a:rPr lang="zh-CN" altLang="en-US" sz="2000" smtClean="0">
                                <a:solidFill>
                                  <a:srgbClr val="000000"/>
                                </a:solidFill>
                                <a:latin typeface="Cambria Math" panose="02040503050406030204" pitchFamily="18" charset="0"/>
                                <a:ea typeface="黑体" panose="02010609060101010101" pitchFamily="49" charset="-122"/>
                                <a:cs typeface="+mn-cs"/>
                              </a:rPr>
                              <m:t>1</m:t>
                            </m:r>
                          </m:sub>
                        </m:sSub>
                        <m:sSub>
                          <m:sSubPr>
                            <m:ctrlPr>
                              <a:rPr lang="zh-CN" altLang="en-US" sz="2000" i="1">
                                <a:solidFill>
                                  <a:srgbClr val="000000"/>
                                </a:solidFill>
                                <a:latin typeface="Cambria Math" panose="02040503050406030204" pitchFamily="18" charset="0"/>
                                <a:ea typeface="黑体" panose="02010609060101010101" pitchFamily="49" charset="-122"/>
                                <a:cs typeface="+mn-cs"/>
                              </a:rPr>
                            </m:ctrlPr>
                          </m:sSubPr>
                          <m:e>
                            <m:r>
                              <a:rPr lang="en-US" altLang="zh-CN" sz="2000" smtClean="0">
                                <a:solidFill>
                                  <a:srgbClr val="000000"/>
                                </a:solidFill>
                                <a:latin typeface="Cambria Math" panose="02040503050406030204" pitchFamily="18" charset="0"/>
                                <a:ea typeface="黑体" panose="02010609060101010101" pitchFamily="49" charset="-122"/>
                                <a:cs typeface="+mn-cs"/>
                              </a:rPr>
                              <m:t>,</m:t>
                            </m:r>
                            <m:r>
                              <a:rPr lang="zh-CN" altLang="en-US" sz="2000" smtClean="0">
                                <a:solidFill>
                                  <a:srgbClr val="000000"/>
                                </a:solidFill>
                                <a:latin typeface="Cambria Math" panose="02040503050406030204" pitchFamily="18" charset="0"/>
                                <a:ea typeface="黑体" panose="02010609060101010101" pitchFamily="49" charset="-122"/>
                                <a:cs typeface="+mn-cs"/>
                              </a:rPr>
                              <m:t>𝑦</m:t>
                            </m:r>
                          </m:e>
                          <m:sub>
                            <m:r>
                              <a:rPr lang="zh-CN" altLang="en-US" sz="2000" smtClean="0">
                                <a:solidFill>
                                  <a:srgbClr val="000000"/>
                                </a:solidFill>
                                <a:latin typeface="Cambria Math" panose="02040503050406030204" pitchFamily="18" charset="0"/>
                                <a:ea typeface="黑体" panose="02010609060101010101" pitchFamily="49" charset="-122"/>
                                <a:cs typeface="+mn-cs"/>
                              </a:rPr>
                              <m:t>2</m:t>
                            </m:r>
                          </m:sub>
                        </m:sSub>
                        <m:sSub>
                          <m:sSubPr>
                            <m:ctrlPr>
                              <a:rPr lang="zh-CN" altLang="en-US" sz="2000" i="1">
                                <a:solidFill>
                                  <a:srgbClr val="000000"/>
                                </a:solidFill>
                                <a:latin typeface="Cambria Math" panose="02040503050406030204" pitchFamily="18" charset="0"/>
                                <a:ea typeface="黑体" panose="02010609060101010101" pitchFamily="49" charset="-122"/>
                                <a:cs typeface="+mn-cs"/>
                              </a:rPr>
                            </m:ctrlPr>
                          </m:sSubPr>
                          <m:e>
                            <m:r>
                              <a:rPr lang="en-US" altLang="zh-CN" sz="2000" smtClean="0">
                                <a:solidFill>
                                  <a:srgbClr val="000000"/>
                                </a:solidFill>
                                <a:latin typeface="Cambria Math" panose="02040503050406030204" pitchFamily="18" charset="0"/>
                                <a:ea typeface="黑体" panose="02010609060101010101" pitchFamily="49" charset="-122"/>
                                <a:cs typeface="+mn-cs"/>
                              </a:rPr>
                              <m:t>,</m:t>
                            </m:r>
                            <m:r>
                              <a:rPr lang="zh-CN" altLang="en-US" sz="2000" smtClean="0">
                                <a:solidFill>
                                  <a:srgbClr val="000000"/>
                                </a:solidFill>
                                <a:latin typeface="Cambria Math" panose="02040503050406030204" pitchFamily="18" charset="0"/>
                                <a:ea typeface="黑体" panose="02010609060101010101" pitchFamily="49" charset="-122"/>
                                <a:cs typeface="+mn-cs"/>
                              </a:rPr>
                              <m:t>𝑦</m:t>
                            </m:r>
                          </m:e>
                          <m:sub>
                            <m:r>
                              <a:rPr lang="zh-CN" altLang="en-US" sz="2000" smtClean="0">
                                <a:solidFill>
                                  <a:srgbClr val="000000"/>
                                </a:solidFill>
                                <a:latin typeface="Cambria Math" panose="02040503050406030204" pitchFamily="18" charset="0"/>
                                <a:ea typeface="黑体" panose="02010609060101010101" pitchFamily="49" charset="-122"/>
                                <a:cs typeface="+mn-cs"/>
                              </a:rPr>
                              <m:t>3</m:t>
                            </m:r>
                          </m:sub>
                        </m:sSub>
                        <m:r>
                          <a:rPr lang="en-US" altLang="zh-CN" sz="2000" smtClean="0">
                            <a:solidFill>
                              <a:srgbClr val="000000"/>
                            </a:solidFill>
                            <a:latin typeface="Cambria Math" panose="02040503050406030204" pitchFamily="18" charset="0"/>
                            <a:ea typeface="黑体" panose="02010609060101010101" pitchFamily="49" charset="-122"/>
                            <a:cs typeface="+mn-cs"/>
                          </a:rPr>
                          <m:t>,</m:t>
                        </m:r>
                        <m:r>
                          <a:rPr lang="zh-CN" altLang="en-US" sz="2000" smtClean="0">
                            <a:solidFill>
                              <a:srgbClr val="000000"/>
                            </a:solidFill>
                            <a:latin typeface="Cambria Math" panose="02040503050406030204" pitchFamily="18" charset="0"/>
                            <a:ea typeface="黑体" panose="02010609060101010101" pitchFamily="49" charset="-122"/>
                            <a:cs typeface="+mn-cs"/>
                          </a:rPr>
                          <m:t>⋯</m:t>
                        </m:r>
                        <m:sSub>
                          <m:sSubPr>
                            <m:ctrlPr>
                              <a:rPr lang="zh-CN" altLang="en-US" sz="2000" i="1">
                                <a:solidFill>
                                  <a:srgbClr val="000000"/>
                                </a:solidFill>
                                <a:latin typeface="Cambria Math" panose="02040503050406030204" pitchFamily="18" charset="0"/>
                                <a:ea typeface="黑体" panose="02010609060101010101" pitchFamily="49" charset="-122"/>
                                <a:cs typeface="+mn-cs"/>
                              </a:rPr>
                            </m:ctrlPr>
                          </m:sSubPr>
                          <m:e>
                            <m:r>
                              <a:rPr lang="en-US" altLang="zh-CN" sz="2000" smtClean="0">
                                <a:solidFill>
                                  <a:srgbClr val="000000"/>
                                </a:solidFill>
                                <a:latin typeface="Cambria Math" panose="02040503050406030204" pitchFamily="18" charset="0"/>
                                <a:ea typeface="黑体" panose="02010609060101010101" pitchFamily="49" charset="-122"/>
                                <a:cs typeface="+mn-cs"/>
                              </a:rPr>
                              <m:t>,</m:t>
                            </m:r>
                            <m:r>
                              <a:rPr lang="zh-CN" altLang="en-US" sz="2000" smtClean="0">
                                <a:solidFill>
                                  <a:srgbClr val="000000"/>
                                </a:solidFill>
                                <a:latin typeface="Cambria Math" panose="02040503050406030204" pitchFamily="18" charset="0"/>
                                <a:ea typeface="黑体" panose="02010609060101010101" pitchFamily="49" charset="-122"/>
                                <a:cs typeface="+mn-cs"/>
                              </a:rPr>
                              <m:t>𝑦</m:t>
                            </m:r>
                          </m:e>
                          <m:sub>
                            <m:r>
                              <a:rPr lang="zh-CN" altLang="en-US" sz="2000" smtClean="0">
                                <a:solidFill>
                                  <a:srgbClr val="000000"/>
                                </a:solidFill>
                                <a:latin typeface="Cambria Math" panose="02040503050406030204" pitchFamily="18" charset="0"/>
                                <a:ea typeface="黑体" panose="02010609060101010101" pitchFamily="49" charset="-122"/>
                                <a:cs typeface="+mn-cs"/>
                              </a:rPr>
                              <m:t>𝑁</m:t>
                            </m:r>
                          </m:sub>
                        </m:sSub>
                      </m:e>
                    </m:d>
                    <m:r>
                      <a:rPr lang="zh-CN" altLang="en-US" sz="2000">
                        <a:solidFill>
                          <a:srgbClr val="000000"/>
                        </a:solidFill>
                        <a:latin typeface="Cambria Math" panose="02040503050406030204" pitchFamily="18" charset="0"/>
                        <a:ea typeface="黑体" panose="02010609060101010101" pitchFamily="49" charset="-122"/>
                        <a:cs typeface="+mn-cs"/>
                      </a:rPr>
                      <m:t>分解</m:t>
                    </m:r>
                  </m:oMath>
                </a14:m>
                <a:r>
                  <a:rPr lang="zh-CN" altLang="en-US" sz="2000" dirty="0">
                    <a:solidFill>
                      <a:srgbClr val="000000"/>
                    </a:solidFill>
                    <a:latin typeface="+mn-lt"/>
                    <a:ea typeface="黑体" panose="02010609060101010101" pitchFamily="49" charset="-122"/>
                    <a:cs typeface="+mn-cs"/>
                  </a:rPr>
                  <a:t>成独立的多个输入比特信息</a:t>
                </a:r>
                <a14:m>
                  <m:oMath xmlns:m="http://schemas.openxmlformats.org/officeDocument/2006/math">
                    <m:sSubSup>
                      <m:sSubSupPr>
                        <m:ctrlPr>
                          <a:rPr lang="zh-CN" altLang="en-US" sz="2000" i="1">
                            <a:solidFill>
                              <a:srgbClr val="000000"/>
                            </a:solidFill>
                            <a:latin typeface="Cambria Math" panose="02040503050406030204" pitchFamily="18" charset="0"/>
                            <a:ea typeface="黑体" panose="02010609060101010101" pitchFamily="49" charset="-122"/>
                          </a:rPr>
                        </m:ctrlPr>
                      </m:sSubSupPr>
                      <m:e>
                        <m:r>
                          <m:rPr>
                            <m:sty m:val="p"/>
                          </m:rPr>
                          <a:rPr lang="en-US" altLang="zh-CN" sz="2000" i="1">
                            <a:solidFill>
                              <a:srgbClr val="000000"/>
                            </a:solidFill>
                            <a:latin typeface="Cambria Math" panose="02040503050406030204" pitchFamily="18" charset="0"/>
                            <a:ea typeface="黑体" panose="02010609060101010101" pitchFamily="49" charset="-122"/>
                          </a:rPr>
                          <m:t>u</m:t>
                        </m:r>
                      </m:e>
                      <m:sub>
                        <m:r>
                          <a:rPr lang="zh-CN" altLang="en-US" sz="2000">
                            <a:solidFill>
                              <a:srgbClr val="000000"/>
                            </a:solidFill>
                            <a:latin typeface="Cambria Math" panose="02040503050406030204" pitchFamily="18" charset="0"/>
                            <a:ea typeface="黑体" panose="02010609060101010101" pitchFamily="49" charset="-122"/>
                          </a:rPr>
                          <m:t>1</m:t>
                        </m:r>
                      </m:sub>
                      <m:sup>
                        <m:r>
                          <a:rPr lang="zh-CN" altLang="en-US" sz="2000">
                            <a:solidFill>
                              <a:srgbClr val="000000"/>
                            </a:solidFill>
                            <a:latin typeface="Cambria Math" panose="02040503050406030204" pitchFamily="18" charset="0"/>
                            <a:ea typeface="黑体" panose="02010609060101010101" pitchFamily="49" charset="-122"/>
                          </a:rPr>
                          <m:t>𝑁</m:t>
                        </m:r>
                      </m:sup>
                    </m:sSubSup>
                    <m:r>
                      <a:rPr lang="zh-CN" altLang="en-US" sz="2000">
                        <a:solidFill>
                          <a:srgbClr val="000000"/>
                        </a:solidFill>
                        <a:latin typeface="Cambria Math" panose="02040503050406030204" pitchFamily="18" charset="0"/>
                        <a:ea typeface="黑体" panose="02010609060101010101" pitchFamily="49" charset="-122"/>
                      </a:rPr>
                      <m:t>=</m:t>
                    </m:r>
                    <m:d>
                      <m:dPr>
                        <m:ctrlPr>
                          <a:rPr lang="zh-CN" altLang="en-US" sz="2000" i="1">
                            <a:solidFill>
                              <a:srgbClr val="000000"/>
                            </a:solidFill>
                            <a:latin typeface="Cambria Math" panose="02040503050406030204" pitchFamily="18" charset="0"/>
                            <a:ea typeface="黑体" panose="02010609060101010101" pitchFamily="49" charset="-122"/>
                          </a:rPr>
                        </m:ctrlPr>
                      </m:dPr>
                      <m:e>
                        <m:sSub>
                          <m:sSubPr>
                            <m:ctrlPr>
                              <a:rPr lang="zh-CN" altLang="en-US" sz="2000" i="1">
                                <a:solidFill>
                                  <a:srgbClr val="000000"/>
                                </a:solidFill>
                                <a:latin typeface="Cambria Math" panose="02040503050406030204" pitchFamily="18" charset="0"/>
                                <a:ea typeface="黑体" panose="02010609060101010101" pitchFamily="49" charset="-122"/>
                              </a:rPr>
                            </m:ctrlPr>
                          </m:sSubPr>
                          <m:e>
                            <m:r>
                              <m:rPr>
                                <m:sty m:val="p"/>
                              </m:rPr>
                              <a:rPr lang="en-US" altLang="zh-CN" sz="2000" i="1">
                                <a:solidFill>
                                  <a:srgbClr val="000000"/>
                                </a:solidFill>
                                <a:latin typeface="Cambria Math" panose="02040503050406030204" pitchFamily="18" charset="0"/>
                                <a:ea typeface="黑体" panose="02010609060101010101" pitchFamily="49" charset="-122"/>
                              </a:rPr>
                              <m:t>u</m:t>
                            </m:r>
                          </m:e>
                          <m:sub>
                            <m:r>
                              <a:rPr lang="zh-CN" altLang="en-US" sz="2000">
                                <a:solidFill>
                                  <a:srgbClr val="000000"/>
                                </a:solidFill>
                                <a:latin typeface="Cambria Math" panose="02040503050406030204" pitchFamily="18" charset="0"/>
                                <a:ea typeface="黑体" panose="02010609060101010101" pitchFamily="49" charset="-122"/>
                              </a:rPr>
                              <m:t>1</m:t>
                            </m:r>
                          </m:sub>
                        </m:sSub>
                        <m:sSub>
                          <m:sSubPr>
                            <m:ctrlPr>
                              <a:rPr lang="zh-CN" altLang="en-US" sz="2000" i="1" smtClean="0">
                                <a:solidFill>
                                  <a:srgbClr val="000000"/>
                                </a:solidFill>
                                <a:latin typeface="Cambria Math" panose="02040503050406030204" pitchFamily="18" charset="0"/>
                                <a:ea typeface="黑体" panose="02010609060101010101" pitchFamily="49" charset="-122"/>
                              </a:rPr>
                            </m:ctrlPr>
                          </m:sSubPr>
                          <m:e>
                            <m:r>
                              <a:rPr lang="en-US" altLang="zh-CN" sz="2000">
                                <a:solidFill>
                                  <a:srgbClr val="000000"/>
                                </a:solidFill>
                                <a:latin typeface="Cambria Math" panose="02040503050406030204" pitchFamily="18" charset="0"/>
                                <a:ea typeface="黑体" panose="02010609060101010101" pitchFamily="49" charset="-122"/>
                              </a:rPr>
                              <m:t>,</m:t>
                            </m:r>
                            <m:r>
                              <m:rPr>
                                <m:sty m:val="p"/>
                              </m:rPr>
                              <a:rPr lang="en-US" altLang="zh-CN" sz="2000" i="1">
                                <a:solidFill>
                                  <a:srgbClr val="000000"/>
                                </a:solidFill>
                                <a:latin typeface="Cambria Math" panose="02040503050406030204" pitchFamily="18" charset="0"/>
                                <a:ea typeface="黑体" panose="02010609060101010101" pitchFamily="49" charset="-122"/>
                              </a:rPr>
                              <m:t>u</m:t>
                            </m:r>
                          </m:e>
                          <m:sub>
                            <m:r>
                              <a:rPr lang="zh-CN" altLang="en-US" sz="2000">
                                <a:solidFill>
                                  <a:srgbClr val="000000"/>
                                </a:solidFill>
                                <a:latin typeface="Cambria Math" panose="02040503050406030204" pitchFamily="18" charset="0"/>
                                <a:ea typeface="黑体" panose="02010609060101010101" pitchFamily="49" charset="-122"/>
                              </a:rPr>
                              <m:t>2</m:t>
                            </m:r>
                          </m:sub>
                        </m:sSub>
                        <m:sSub>
                          <m:sSubPr>
                            <m:ctrlPr>
                              <a:rPr lang="zh-CN" altLang="en-US" sz="2000" i="1">
                                <a:solidFill>
                                  <a:srgbClr val="000000"/>
                                </a:solidFill>
                                <a:latin typeface="Cambria Math" panose="02040503050406030204" pitchFamily="18" charset="0"/>
                                <a:ea typeface="黑体" panose="02010609060101010101" pitchFamily="49" charset="-122"/>
                              </a:rPr>
                            </m:ctrlPr>
                          </m:sSubPr>
                          <m:e>
                            <m:r>
                              <a:rPr lang="en-US" altLang="zh-CN" sz="2000">
                                <a:solidFill>
                                  <a:srgbClr val="000000"/>
                                </a:solidFill>
                                <a:latin typeface="Cambria Math" panose="02040503050406030204" pitchFamily="18" charset="0"/>
                                <a:ea typeface="黑体" panose="02010609060101010101" pitchFamily="49" charset="-122"/>
                              </a:rPr>
                              <m:t>,</m:t>
                            </m:r>
                            <m:r>
                              <m:rPr>
                                <m:sty m:val="p"/>
                              </m:rPr>
                              <a:rPr lang="en-US" altLang="zh-CN" sz="2000" i="1">
                                <a:solidFill>
                                  <a:srgbClr val="000000"/>
                                </a:solidFill>
                                <a:latin typeface="Cambria Math" panose="02040503050406030204" pitchFamily="18" charset="0"/>
                                <a:ea typeface="黑体" panose="02010609060101010101" pitchFamily="49" charset="-122"/>
                              </a:rPr>
                              <m:t>u</m:t>
                            </m:r>
                          </m:e>
                          <m:sub>
                            <m:r>
                              <a:rPr lang="zh-CN" altLang="en-US" sz="2000">
                                <a:solidFill>
                                  <a:srgbClr val="000000"/>
                                </a:solidFill>
                                <a:latin typeface="Cambria Math" panose="02040503050406030204" pitchFamily="18" charset="0"/>
                                <a:ea typeface="黑体" panose="02010609060101010101" pitchFamily="49" charset="-122"/>
                              </a:rPr>
                              <m:t>3</m:t>
                            </m:r>
                          </m:sub>
                        </m:sSub>
                        <m:r>
                          <a:rPr lang="en-US" altLang="zh-CN" sz="2000">
                            <a:solidFill>
                              <a:srgbClr val="000000"/>
                            </a:solidFill>
                            <a:latin typeface="Cambria Math" panose="02040503050406030204" pitchFamily="18" charset="0"/>
                            <a:ea typeface="黑体" panose="02010609060101010101" pitchFamily="49" charset="-122"/>
                          </a:rPr>
                          <m:t>,</m:t>
                        </m:r>
                        <m:r>
                          <a:rPr lang="zh-CN" altLang="en-US" sz="2000">
                            <a:solidFill>
                              <a:srgbClr val="000000"/>
                            </a:solidFill>
                            <a:latin typeface="Cambria Math" panose="02040503050406030204" pitchFamily="18" charset="0"/>
                            <a:ea typeface="黑体" panose="02010609060101010101" pitchFamily="49" charset="-122"/>
                          </a:rPr>
                          <m:t>⋯</m:t>
                        </m:r>
                        <m:sSub>
                          <m:sSubPr>
                            <m:ctrlPr>
                              <a:rPr lang="zh-CN" altLang="en-US" sz="2000" i="1">
                                <a:solidFill>
                                  <a:srgbClr val="000000"/>
                                </a:solidFill>
                                <a:latin typeface="Cambria Math" panose="02040503050406030204" pitchFamily="18" charset="0"/>
                                <a:ea typeface="黑体" panose="02010609060101010101" pitchFamily="49" charset="-122"/>
                              </a:rPr>
                            </m:ctrlPr>
                          </m:sSubPr>
                          <m:e>
                            <m:r>
                              <a:rPr lang="en-US" altLang="zh-CN" sz="2000">
                                <a:solidFill>
                                  <a:srgbClr val="000000"/>
                                </a:solidFill>
                                <a:latin typeface="Cambria Math" panose="02040503050406030204" pitchFamily="18" charset="0"/>
                                <a:ea typeface="黑体" panose="02010609060101010101" pitchFamily="49" charset="-122"/>
                              </a:rPr>
                              <m:t>,</m:t>
                            </m:r>
                            <m:r>
                              <m:rPr>
                                <m:sty m:val="p"/>
                              </m:rPr>
                              <a:rPr lang="en-US" altLang="zh-CN" sz="2000" i="1">
                                <a:solidFill>
                                  <a:srgbClr val="000000"/>
                                </a:solidFill>
                                <a:latin typeface="Cambria Math" panose="02040503050406030204" pitchFamily="18" charset="0"/>
                                <a:ea typeface="黑体" panose="02010609060101010101" pitchFamily="49" charset="-122"/>
                              </a:rPr>
                              <m:t>u</m:t>
                            </m:r>
                          </m:e>
                          <m:sub>
                            <m:r>
                              <a:rPr lang="zh-CN" altLang="en-US" sz="2000">
                                <a:solidFill>
                                  <a:srgbClr val="000000"/>
                                </a:solidFill>
                                <a:latin typeface="Cambria Math" panose="02040503050406030204" pitchFamily="18" charset="0"/>
                                <a:ea typeface="黑体" panose="02010609060101010101" pitchFamily="49" charset="-122"/>
                              </a:rPr>
                              <m:t>𝑁</m:t>
                            </m:r>
                          </m:sub>
                        </m:sSub>
                      </m:e>
                    </m:d>
                  </m:oMath>
                </a14:m>
                <a:r>
                  <a:rPr lang="zh-CN" altLang="en-US" sz="2000" dirty="0">
                    <a:solidFill>
                      <a:srgbClr val="000000"/>
                    </a:solidFill>
                    <a:latin typeface="+mn-lt"/>
                    <a:ea typeface="黑体" panose="02010609060101010101" pitchFamily="49" charset="-122"/>
                    <a:cs typeface="+mn-cs"/>
                  </a:rPr>
                  <a:t>。考虑针对</a:t>
                </a:r>
                <a:r>
                  <a:rPr lang="en-US" altLang="zh-CN" sz="2000" dirty="0">
                    <a:solidFill>
                      <a:srgbClr val="000000"/>
                    </a:solidFill>
                    <a:latin typeface="+mn-lt"/>
                    <a:ea typeface="黑体" panose="02010609060101010101" pitchFamily="49" charset="-122"/>
                    <a:cs typeface="+mn-cs"/>
                  </a:rPr>
                  <a:t>G2 Polar</a:t>
                </a:r>
                <a:r>
                  <a:rPr lang="zh-CN" altLang="en-US" sz="2000" dirty="0">
                    <a:solidFill>
                      <a:srgbClr val="000000"/>
                    </a:solidFill>
                    <a:latin typeface="+mn-lt"/>
                    <a:ea typeface="黑体" panose="02010609060101010101" pitchFamily="49" charset="-122"/>
                    <a:cs typeface="+mn-cs"/>
                  </a:rPr>
                  <a:t>码编码而成的信道解码过程。首先解码器从</a:t>
                </a:r>
                <a14:m>
                  <m:oMath xmlns:m="http://schemas.openxmlformats.org/officeDocument/2006/math">
                    <m:sSubSup>
                      <m:sSubSupPr>
                        <m:ctrlPr>
                          <a:rPr lang="zh-CN" altLang="en-US" sz="2000" i="1">
                            <a:solidFill>
                              <a:srgbClr val="000000"/>
                            </a:solidFill>
                            <a:latin typeface="Cambria Math" panose="02040503050406030204" pitchFamily="18" charset="0"/>
                            <a:ea typeface="黑体" panose="02010609060101010101" pitchFamily="49" charset="-122"/>
                          </a:rPr>
                        </m:ctrlPr>
                      </m:sSubSupPr>
                      <m:e>
                        <m:r>
                          <a:rPr lang="zh-CN" altLang="en-US" sz="2000">
                            <a:solidFill>
                              <a:srgbClr val="000000"/>
                            </a:solidFill>
                            <a:latin typeface="Cambria Math" panose="02040503050406030204" pitchFamily="18" charset="0"/>
                            <a:ea typeface="黑体" panose="02010609060101010101" pitchFamily="49" charset="-122"/>
                          </a:rPr>
                          <m:t>𝑦</m:t>
                        </m:r>
                      </m:e>
                      <m:sub/>
                      <m:sup>
                        <m:r>
                          <a:rPr lang="zh-CN" altLang="en-US" sz="2000">
                            <a:solidFill>
                              <a:srgbClr val="000000"/>
                            </a:solidFill>
                            <a:latin typeface="Cambria Math" panose="02040503050406030204" pitchFamily="18" charset="0"/>
                            <a:ea typeface="黑体" panose="02010609060101010101" pitchFamily="49" charset="-122"/>
                          </a:rPr>
                          <m:t>𝑁</m:t>
                        </m:r>
                      </m:sup>
                    </m:sSubSup>
                  </m:oMath>
                </a14:m>
                <a:r>
                  <a:rPr lang="en-US" altLang="zh-CN" sz="2000" dirty="0">
                    <a:solidFill>
                      <a:srgbClr val="000000"/>
                    </a:solidFill>
                    <a:latin typeface="+mn-lt"/>
                    <a:ea typeface="黑体" panose="02010609060101010101" pitchFamily="49" charset="-122"/>
                    <a:cs typeface="+mn-cs"/>
                  </a:rPr>
                  <a:t>=</a:t>
                </a:r>
                <a:r>
                  <a:rPr lang="zh-CN" altLang="en-US" sz="2000" dirty="0">
                    <a:solidFill>
                      <a:srgbClr val="000000"/>
                    </a:solidFill>
                    <a:latin typeface="+mn-lt"/>
                    <a:ea typeface="黑体" panose="02010609060101010101" pitchFamily="49" charset="-122"/>
                  </a:rPr>
                  <a:t> </a:t>
                </a:r>
                <a14:m>
                  <m:oMath xmlns:m="http://schemas.openxmlformats.org/officeDocument/2006/math">
                    <m:sSubSup>
                      <m:sSubSupPr>
                        <m:ctrlPr>
                          <a:rPr lang="zh-CN" altLang="en-US" sz="2000" i="1">
                            <a:solidFill>
                              <a:srgbClr val="000000"/>
                            </a:solidFill>
                            <a:latin typeface="Cambria Math" panose="02040503050406030204" pitchFamily="18" charset="0"/>
                            <a:ea typeface="黑体" panose="02010609060101010101" pitchFamily="49" charset="-122"/>
                          </a:rPr>
                        </m:ctrlPr>
                      </m:sSubSupPr>
                      <m:e>
                        <m:r>
                          <a:rPr lang="zh-CN" altLang="en-US" sz="2000">
                            <a:solidFill>
                              <a:srgbClr val="000000"/>
                            </a:solidFill>
                            <a:latin typeface="Cambria Math" panose="02040503050406030204" pitchFamily="18" charset="0"/>
                            <a:ea typeface="黑体" panose="02010609060101010101" pitchFamily="49" charset="-122"/>
                          </a:rPr>
                          <m:t>𝑦</m:t>
                        </m:r>
                      </m:e>
                      <m:sub/>
                      <m:sup>
                        <m:r>
                          <a:rPr lang="en-US" altLang="zh-CN" sz="2000" b="0" i="1" smtClean="0">
                            <a:solidFill>
                              <a:srgbClr val="000000"/>
                            </a:solidFill>
                            <a:latin typeface="Cambria Math" panose="02040503050406030204" pitchFamily="18" charset="0"/>
                            <a:ea typeface="黑体" panose="02010609060101010101" pitchFamily="49" charset="-122"/>
                          </a:rPr>
                          <m:t>2</m:t>
                        </m:r>
                      </m:sup>
                    </m:sSubSup>
                  </m:oMath>
                </a14:m>
                <a:r>
                  <a:rPr lang="en-US" altLang="zh-CN" sz="2000" dirty="0">
                    <a:solidFill>
                      <a:srgbClr val="000000"/>
                    </a:solidFill>
                    <a:latin typeface="+mn-lt"/>
                    <a:ea typeface="黑体" panose="02010609060101010101" pitchFamily="49" charset="-122"/>
                    <a:cs typeface="+mn-cs"/>
                  </a:rPr>
                  <a:t>=</a:t>
                </a:r>
                <a:r>
                  <a:rPr lang="zh-CN" altLang="en-US" sz="2000" dirty="0">
                    <a:solidFill>
                      <a:srgbClr val="000000"/>
                    </a:solidFill>
                    <a:latin typeface="+mn-lt"/>
                    <a:ea typeface="黑体" panose="02010609060101010101" pitchFamily="49" charset="-122"/>
                  </a:rPr>
                  <a:t> </a:t>
                </a:r>
                <a14:m>
                  <m:oMath xmlns:m="http://schemas.openxmlformats.org/officeDocument/2006/math">
                    <m:d>
                      <m:dPr>
                        <m:ctrlPr>
                          <a:rPr lang="zh-CN" altLang="en-US" sz="2000" i="1">
                            <a:solidFill>
                              <a:srgbClr val="000000"/>
                            </a:solidFill>
                            <a:latin typeface="Cambria Math" panose="02040503050406030204" pitchFamily="18" charset="0"/>
                            <a:ea typeface="黑体" panose="02010609060101010101" pitchFamily="49" charset="-122"/>
                          </a:rPr>
                        </m:ctrlPr>
                      </m:dPr>
                      <m:e>
                        <m:sSub>
                          <m:sSubPr>
                            <m:ctrlPr>
                              <a:rPr lang="zh-CN" altLang="en-US" sz="2000" i="1">
                                <a:solidFill>
                                  <a:srgbClr val="000000"/>
                                </a:solidFill>
                                <a:latin typeface="Cambria Math" panose="02040503050406030204" pitchFamily="18" charset="0"/>
                                <a:ea typeface="黑体" panose="02010609060101010101" pitchFamily="49" charset="-122"/>
                              </a:rPr>
                            </m:ctrlPr>
                          </m:sSubPr>
                          <m:e>
                            <m:r>
                              <a:rPr lang="zh-CN" altLang="en-US" sz="2000">
                                <a:solidFill>
                                  <a:srgbClr val="000000"/>
                                </a:solidFill>
                                <a:latin typeface="Cambria Math" panose="02040503050406030204" pitchFamily="18" charset="0"/>
                                <a:ea typeface="黑体" panose="02010609060101010101" pitchFamily="49" charset="-122"/>
                              </a:rPr>
                              <m:t>𝑦</m:t>
                            </m:r>
                          </m:e>
                          <m:sub>
                            <m:r>
                              <a:rPr lang="zh-CN" altLang="en-US" sz="2000">
                                <a:solidFill>
                                  <a:srgbClr val="000000"/>
                                </a:solidFill>
                                <a:latin typeface="Cambria Math" panose="02040503050406030204" pitchFamily="18" charset="0"/>
                                <a:ea typeface="黑体" panose="02010609060101010101" pitchFamily="49" charset="-122"/>
                              </a:rPr>
                              <m:t>1</m:t>
                            </m:r>
                          </m:sub>
                        </m:sSub>
                        <m:sSub>
                          <m:sSubPr>
                            <m:ctrlPr>
                              <a:rPr lang="zh-CN" altLang="en-US" sz="2000" i="1">
                                <a:solidFill>
                                  <a:srgbClr val="000000"/>
                                </a:solidFill>
                                <a:latin typeface="Cambria Math" panose="02040503050406030204" pitchFamily="18" charset="0"/>
                                <a:ea typeface="黑体" panose="02010609060101010101" pitchFamily="49" charset="-122"/>
                              </a:rPr>
                            </m:ctrlPr>
                          </m:sSubPr>
                          <m:e>
                            <m:r>
                              <a:rPr lang="en-US" altLang="zh-CN" sz="2000">
                                <a:solidFill>
                                  <a:srgbClr val="000000"/>
                                </a:solidFill>
                                <a:latin typeface="Cambria Math" panose="02040503050406030204" pitchFamily="18" charset="0"/>
                                <a:ea typeface="黑体" panose="02010609060101010101" pitchFamily="49" charset="-122"/>
                              </a:rPr>
                              <m:t>,</m:t>
                            </m:r>
                            <m:r>
                              <a:rPr lang="zh-CN" altLang="en-US" sz="2000">
                                <a:solidFill>
                                  <a:srgbClr val="000000"/>
                                </a:solidFill>
                                <a:latin typeface="Cambria Math" panose="02040503050406030204" pitchFamily="18" charset="0"/>
                                <a:ea typeface="黑体" panose="02010609060101010101" pitchFamily="49" charset="-122"/>
                              </a:rPr>
                              <m:t>𝑦</m:t>
                            </m:r>
                          </m:e>
                          <m:sub>
                            <m:r>
                              <a:rPr lang="zh-CN" altLang="en-US" sz="2000">
                                <a:solidFill>
                                  <a:srgbClr val="000000"/>
                                </a:solidFill>
                                <a:latin typeface="Cambria Math" panose="02040503050406030204" pitchFamily="18" charset="0"/>
                                <a:ea typeface="黑体" panose="02010609060101010101" pitchFamily="49" charset="-122"/>
                              </a:rPr>
                              <m:t>2</m:t>
                            </m:r>
                          </m:sub>
                        </m:sSub>
                      </m:e>
                    </m:d>
                  </m:oMath>
                </a14:m>
                <a:r>
                  <a:rPr lang="zh-CN" altLang="en-US" sz="2000" dirty="0">
                    <a:solidFill>
                      <a:srgbClr val="000000"/>
                    </a:solidFill>
                    <a:latin typeface="+mn-lt"/>
                    <a:ea typeface="黑体" panose="02010609060101010101" pitchFamily="49" charset="-122"/>
                    <a:cs typeface="+mn-cs"/>
                  </a:rPr>
                  <a:t>分解出第一个子信道</a:t>
                </a:r>
                <a14:m>
                  <m:oMath xmlns:m="http://schemas.openxmlformats.org/officeDocument/2006/math">
                    <m:sSub>
                      <m:sSubPr>
                        <m:ctrlPr>
                          <a:rPr lang="zh-CN" altLang="en-US" sz="2000" i="1">
                            <a:solidFill>
                              <a:srgbClr val="000000"/>
                            </a:solidFill>
                            <a:latin typeface="Cambria Math" panose="02040503050406030204" pitchFamily="18" charset="0"/>
                            <a:ea typeface="黑体" panose="02010609060101010101" pitchFamily="49" charset="-122"/>
                          </a:rPr>
                        </m:ctrlPr>
                      </m:sSubPr>
                      <m:e>
                        <m:r>
                          <m:rPr>
                            <m:sty m:val="p"/>
                          </m:rPr>
                          <a:rPr lang="en-US" altLang="zh-CN" sz="2000" i="1">
                            <a:solidFill>
                              <a:srgbClr val="000000"/>
                            </a:solidFill>
                            <a:latin typeface="Cambria Math" panose="02040503050406030204" pitchFamily="18" charset="0"/>
                            <a:ea typeface="黑体" panose="02010609060101010101" pitchFamily="49" charset="-122"/>
                          </a:rPr>
                          <m:t>u</m:t>
                        </m:r>
                      </m:e>
                      <m:sub>
                        <m:r>
                          <a:rPr lang="zh-CN" altLang="en-US" sz="2000">
                            <a:solidFill>
                              <a:srgbClr val="000000"/>
                            </a:solidFill>
                            <a:latin typeface="Cambria Math" panose="02040503050406030204" pitchFamily="18" charset="0"/>
                            <a:ea typeface="黑体" panose="02010609060101010101" pitchFamily="49" charset="-122"/>
                          </a:rPr>
                          <m:t>1</m:t>
                        </m:r>
                      </m:sub>
                    </m:sSub>
                  </m:oMath>
                </a14:m>
                <a:r>
                  <a:rPr lang="zh-CN" altLang="en-US" sz="2000" dirty="0">
                    <a:solidFill>
                      <a:srgbClr val="000000"/>
                    </a:solidFill>
                    <a:latin typeface="+mn-lt"/>
                    <a:ea typeface="黑体" panose="02010609060101010101" pitchFamily="49" charset="-122"/>
                    <a:cs typeface="+mn-cs"/>
                  </a:rPr>
                  <a:t>。之后再从</a:t>
                </a:r>
                <a14:m>
                  <m:oMath xmlns:m="http://schemas.openxmlformats.org/officeDocument/2006/math">
                    <m:d>
                      <m:dPr>
                        <m:ctrlPr>
                          <a:rPr lang="zh-CN" altLang="en-US" sz="2000" i="1">
                            <a:solidFill>
                              <a:srgbClr val="000000"/>
                            </a:solidFill>
                            <a:latin typeface="Cambria Math" panose="02040503050406030204" pitchFamily="18" charset="0"/>
                            <a:ea typeface="黑体" panose="02010609060101010101" pitchFamily="49" charset="-122"/>
                          </a:rPr>
                        </m:ctrlPr>
                      </m:dPr>
                      <m:e>
                        <m:sSub>
                          <m:sSubPr>
                            <m:ctrlPr>
                              <a:rPr lang="zh-CN" altLang="en-US" sz="2000" i="1">
                                <a:solidFill>
                                  <a:srgbClr val="000000"/>
                                </a:solidFill>
                                <a:latin typeface="Cambria Math" panose="02040503050406030204" pitchFamily="18" charset="0"/>
                                <a:ea typeface="黑体" panose="02010609060101010101" pitchFamily="49" charset="-122"/>
                              </a:rPr>
                            </m:ctrlPr>
                          </m:sSubPr>
                          <m:e>
                            <m:sSub>
                              <m:sSubPr>
                                <m:ctrlPr>
                                  <a:rPr lang="zh-CN" altLang="en-US" sz="2000" i="1">
                                    <a:solidFill>
                                      <a:srgbClr val="000000"/>
                                    </a:solidFill>
                                    <a:latin typeface="Cambria Math" panose="02040503050406030204" pitchFamily="18" charset="0"/>
                                    <a:ea typeface="黑体" panose="02010609060101010101" pitchFamily="49" charset="-122"/>
                                  </a:rPr>
                                </m:ctrlPr>
                              </m:sSubPr>
                              <m:e>
                                <m:r>
                                  <m:rPr>
                                    <m:sty m:val="p"/>
                                  </m:rPr>
                                  <a:rPr lang="en-US" altLang="zh-CN" sz="2000" i="1">
                                    <a:solidFill>
                                      <a:srgbClr val="000000"/>
                                    </a:solidFill>
                                    <a:latin typeface="Cambria Math" panose="02040503050406030204" pitchFamily="18" charset="0"/>
                                    <a:ea typeface="黑体" panose="02010609060101010101" pitchFamily="49" charset="-122"/>
                                  </a:rPr>
                                  <m:t>u</m:t>
                                </m:r>
                              </m:e>
                              <m:sub>
                                <m:r>
                                  <a:rPr lang="zh-CN" altLang="en-US" sz="2000">
                                    <a:solidFill>
                                      <a:srgbClr val="000000"/>
                                    </a:solidFill>
                                    <a:latin typeface="Cambria Math" panose="02040503050406030204" pitchFamily="18" charset="0"/>
                                    <a:ea typeface="黑体" panose="02010609060101010101" pitchFamily="49" charset="-122"/>
                                  </a:rPr>
                                  <m:t>1</m:t>
                                </m:r>
                              </m:sub>
                            </m:sSub>
                            <m:r>
                              <a:rPr lang="en-US" altLang="zh-CN" sz="2000" b="0" i="1" smtClean="0">
                                <a:solidFill>
                                  <a:srgbClr val="000000"/>
                                </a:solidFill>
                                <a:latin typeface="Cambria Math" panose="02040503050406030204" pitchFamily="18" charset="0"/>
                                <a:ea typeface="黑体" panose="02010609060101010101" pitchFamily="49" charset="-122"/>
                              </a:rPr>
                              <m:t>,</m:t>
                            </m:r>
                            <m:r>
                              <a:rPr lang="zh-CN" altLang="en-US" sz="2000">
                                <a:solidFill>
                                  <a:srgbClr val="000000"/>
                                </a:solidFill>
                                <a:latin typeface="Cambria Math" panose="02040503050406030204" pitchFamily="18" charset="0"/>
                                <a:ea typeface="黑体" panose="02010609060101010101" pitchFamily="49" charset="-122"/>
                              </a:rPr>
                              <m:t>𝑦</m:t>
                            </m:r>
                          </m:e>
                          <m:sub>
                            <m:r>
                              <a:rPr lang="zh-CN" altLang="en-US" sz="2000">
                                <a:solidFill>
                                  <a:srgbClr val="000000"/>
                                </a:solidFill>
                                <a:latin typeface="Cambria Math" panose="02040503050406030204" pitchFamily="18" charset="0"/>
                                <a:ea typeface="黑体" panose="02010609060101010101" pitchFamily="49" charset="-122"/>
                              </a:rPr>
                              <m:t>1</m:t>
                            </m:r>
                          </m:sub>
                        </m:sSub>
                        <m:sSub>
                          <m:sSubPr>
                            <m:ctrlPr>
                              <a:rPr lang="zh-CN" altLang="en-US" sz="2000" i="1">
                                <a:solidFill>
                                  <a:srgbClr val="000000"/>
                                </a:solidFill>
                                <a:latin typeface="Cambria Math" panose="02040503050406030204" pitchFamily="18" charset="0"/>
                                <a:ea typeface="黑体" panose="02010609060101010101" pitchFamily="49" charset="-122"/>
                              </a:rPr>
                            </m:ctrlPr>
                          </m:sSubPr>
                          <m:e>
                            <m:r>
                              <a:rPr lang="en-US" altLang="zh-CN" sz="2000">
                                <a:solidFill>
                                  <a:srgbClr val="000000"/>
                                </a:solidFill>
                                <a:latin typeface="Cambria Math" panose="02040503050406030204" pitchFamily="18" charset="0"/>
                                <a:ea typeface="黑体" panose="02010609060101010101" pitchFamily="49" charset="-122"/>
                              </a:rPr>
                              <m:t>,</m:t>
                            </m:r>
                            <m:r>
                              <a:rPr lang="zh-CN" altLang="en-US" sz="2000">
                                <a:solidFill>
                                  <a:srgbClr val="000000"/>
                                </a:solidFill>
                                <a:latin typeface="Cambria Math" panose="02040503050406030204" pitchFamily="18" charset="0"/>
                                <a:ea typeface="黑体" panose="02010609060101010101" pitchFamily="49" charset="-122"/>
                              </a:rPr>
                              <m:t>𝑦</m:t>
                            </m:r>
                          </m:e>
                          <m:sub>
                            <m:r>
                              <a:rPr lang="zh-CN" altLang="en-US" sz="2000">
                                <a:solidFill>
                                  <a:srgbClr val="000000"/>
                                </a:solidFill>
                                <a:latin typeface="Cambria Math" panose="02040503050406030204" pitchFamily="18" charset="0"/>
                                <a:ea typeface="黑体" panose="02010609060101010101" pitchFamily="49" charset="-122"/>
                              </a:rPr>
                              <m:t>2</m:t>
                            </m:r>
                          </m:sub>
                        </m:sSub>
                      </m:e>
                    </m:d>
                  </m:oMath>
                </a14:m>
                <a:r>
                  <a:rPr lang="zh-CN" altLang="en-US" sz="2000" dirty="0">
                    <a:solidFill>
                      <a:srgbClr val="000000"/>
                    </a:solidFill>
                    <a:latin typeface="+mn-lt"/>
                    <a:ea typeface="黑体" panose="02010609060101010101" pitchFamily="49" charset="-122"/>
                    <a:cs typeface="+mn-cs"/>
                  </a:rPr>
                  <a:t>中分解出第二个子信道</a:t>
                </a:r>
                <a14:m>
                  <m:oMath xmlns:m="http://schemas.openxmlformats.org/officeDocument/2006/math">
                    <m:sSub>
                      <m:sSubPr>
                        <m:ctrlPr>
                          <a:rPr lang="zh-CN" altLang="en-US" sz="2000" i="1">
                            <a:solidFill>
                              <a:srgbClr val="000000"/>
                            </a:solidFill>
                            <a:latin typeface="Cambria Math" panose="02040503050406030204" pitchFamily="18" charset="0"/>
                            <a:ea typeface="黑体" panose="02010609060101010101" pitchFamily="49" charset="-122"/>
                          </a:rPr>
                        </m:ctrlPr>
                      </m:sSubPr>
                      <m:e>
                        <m:r>
                          <m:rPr>
                            <m:sty m:val="p"/>
                          </m:rPr>
                          <a:rPr lang="en-US" altLang="zh-CN" sz="2000" i="1">
                            <a:solidFill>
                              <a:srgbClr val="000000"/>
                            </a:solidFill>
                            <a:latin typeface="Cambria Math" panose="02040503050406030204" pitchFamily="18" charset="0"/>
                            <a:ea typeface="黑体" panose="02010609060101010101" pitchFamily="49" charset="-122"/>
                          </a:rPr>
                          <m:t>u</m:t>
                        </m:r>
                      </m:e>
                      <m:sub>
                        <m:r>
                          <a:rPr lang="en-US" altLang="zh-CN" sz="2000" b="0" i="0" smtClean="0">
                            <a:solidFill>
                              <a:srgbClr val="000000"/>
                            </a:solidFill>
                            <a:latin typeface="Cambria Math" panose="02040503050406030204" pitchFamily="18" charset="0"/>
                            <a:ea typeface="黑体" panose="02010609060101010101" pitchFamily="49" charset="-122"/>
                          </a:rPr>
                          <m:t>2</m:t>
                        </m:r>
                      </m:sub>
                    </m:sSub>
                  </m:oMath>
                </a14:m>
                <a:r>
                  <a:rPr lang="zh-CN" altLang="en-US" sz="2000" dirty="0">
                    <a:solidFill>
                      <a:srgbClr val="000000"/>
                    </a:solidFill>
                    <a:latin typeface="+mn-lt"/>
                    <a:ea typeface="黑体" panose="02010609060101010101" pitchFamily="49" charset="-122"/>
                    <a:cs typeface="+mn-cs"/>
                  </a:rPr>
                  <a:t>，从而完成了</a:t>
                </a:r>
                <a14:m>
                  <m:oMath xmlns:m="http://schemas.openxmlformats.org/officeDocument/2006/math">
                    <m:sSubSup>
                      <m:sSubSupPr>
                        <m:ctrlPr>
                          <a:rPr lang="zh-CN" altLang="en-US" sz="2000" i="1">
                            <a:solidFill>
                              <a:srgbClr val="000000"/>
                            </a:solidFill>
                            <a:latin typeface="Cambria Math" panose="02040503050406030204" pitchFamily="18" charset="0"/>
                            <a:ea typeface="黑体" panose="02010609060101010101" pitchFamily="49" charset="-122"/>
                          </a:rPr>
                        </m:ctrlPr>
                      </m:sSubSupPr>
                      <m:e>
                        <m:r>
                          <m:rPr>
                            <m:sty m:val="p"/>
                          </m:rPr>
                          <a:rPr lang="en-US" altLang="zh-CN" sz="2000" b="0" i="0" smtClean="0">
                            <a:solidFill>
                              <a:srgbClr val="000000"/>
                            </a:solidFill>
                            <a:latin typeface="Cambria Math" panose="02040503050406030204" pitchFamily="18" charset="0"/>
                            <a:ea typeface="黑体" panose="02010609060101010101" pitchFamily="49" charset="-122"/>
                          </a:rPr>
                          <m:t>Y</m:t>
                        </m:r>
                      </m:e>
                      <m:sub/>
                      <m:sup>
                        <m:r>
                          <a:rPr lang="zh-CN" altLang="en-US" sz="2000">
                            <a:solidFill>
                              <a:srgbClr val="000000"/>
                            </a:solidFill>
                            <a:latin typeface="Cambria Math" panose="02040503050406030204" pitchFamily="18" charset="0"/>
                            <a:ea typeface="黑体" panose="02010609060101010101" pitchFamily="49" charset="-122"/>
                          </a:rPr>
                          <m:t>𝑁</m:t>
                        </m:r>
                      </m:sup>
                    </m:sSubSup>
                  </m:oMath>
                </a14:m>
                <a:r>
                  <a:rPr lang="zh-CN" altLang="en-US" sz="2000" dirty="0">
                    <a:solidFill>
                      <a:srgbClr val="000000"/>
                    </a:solidFill>
                    <a:latin typeface="+mn-lt"/>
                    <a:ea typeface="黑体" panose="02010609060101010101" pitchFamily="49" charset="-122"/>
                    <a:cs typeface="+mn-cs"/>
                    <a:sym typeface="Symbol" panose="05050102010706020507" pitchFamily="18" charset="2"/>
                  </a:rPr>
                  <a:t></a:t>
                </a:r>
                <a:r>
                  <a:rPr lang="zh-CN" altLang="en-US" sz="2000" dirty="0">
                    <a:solidFill>
                      <a:srgbClr val="000000"/>
                    </a:solidFill>
                    <a:latin typeface="+mn-lt"/>
                    <a:ea typeface="黑体" panose="02010609060101010101" pitchFamily="49" charset="-122"/>
                  </a:rPr>
                  <a:t> </a:t>
                </a:r>
                <a14:m>
                  <m:oMath xmlns:m="http://schemas.openxmlformats.org/officeDocument/2006/math">
                    <m:sSubSup>
                      <m:sSubSupPr>
                        <m:ctrlPr>
                          <a:rPr lang="zh-CN" altLang="en-US" sz="2000" i="1">
                            <a:solidFill>
                              <a:srgbClr val="000000"/>
                            </a:solidFill>
                            <a:latin typeface="Cambria Math" panose="02040503050406030204" pitchFamily="18" charset="0"/>
                            <a:ea typeface="黑体" panose="02010609060101010101" pitchFamily="49" charset="-122"/>
                          </a:rPr>
                        </m:ctrlPr>
                      </m:sSubSupPr>
                      <m:e>
                        <m:r>
                          <a:rPr lang="en-US" altLang="zh-CN" sz="2000" b="0" i="1" smtClean="0">
                            <a:solidFill>
                              <a:srgbClr val="000000"/>
                            </a:solidFill>
                            <a:latin typeface="Cambria Math" panose="02040503050406030204" pitchFamily="18" charset="0"/>
                            <a:ea typeface="黑体" panose="02010609060101010101" pitchFamily="49" charset="-122"/>
                          </a:rPr>
                          <m:t>𝑈</m:t>
                        </m:r>
                      </m:e>
                      <m:sub/>
                      <m:sup>
                        <m:r>
                          <a:rPr lang="zh-CN" altLang="en-US" sz="2000">
                            <a:solidFill>
                              <a:srgbClr val="000000"/>
                            </a:solidFill>
                            <a:latin typeface="Cambria Math" panose="02040503050406030204" pitchFamily="18" charset="0"/>
                            <a:ea typeface="黑体" panose="02010609060101010101" pitchFamily="49" charset="-122"/>
                          </a:rPr>
                          <m:t>𝑁</m:t>
                        </m:r>
                      </m:sup>
                    </m:sSubSup>
                  </m:oMath>
                </a14:m>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N=2</a:t>
                </a:r>
                <a:r>
                  <a:rPr lang="zh-CN" altLang="en-US" sz="2000" dirty="0">
                    <a:solidFill>
                      <a:srgbClr val="000000"/>
                    </a:solidFill>
                    <a:latin typeface="+mn-lt"/>
                    <a:ea typeface="黑体" panose="02010609060101010101" pitchFamily="49" charset="-122"/>
                    <a:cs typeface="+mn-cs"/>
                  </a:rPr>
                  <a:t>的信道分解过程。信道分离过程也是容量守恒的。</a:t>
                </a:r>
                <a:endParaRPr lang="en-US" altLang="zh-CN" sz="2000" dirty="0">
                  <a:solidFill>
                    <a:srgbClr val="000000"/>
                  </a:solidFill>
                  <a:latin typeface="+mn-lt"/>
                  <a:ea typeface="黑体" panose="02010609060101010101" pitchFamily="49" charset="-122"/>
                  <a:cs typeface="+mn-cs"/>
                </a:endParaRPr>
              </a:p>
            </p:txBody>
          </p:sp>
        </mc:Choice>
        <mc:Fallback>
          <p:sp>
            <p:nvSpPr>
              <p:cNvPr id="7" name="文本框 6"/>
              <p:cNvSpPr txBox="1">
                <a:spLocks noRot="1" noChangeAspect="1" noMove="1" noResize="1" noEditPoints="1" noAdjustHandles="1" noChangeArrowheads="1" noChangeShapeType="1" noTextEdit="1"/>
              </p:cNvSpPr>
              <p:nvPr/>
            </p:nvSpPr>
            <p:spPr>
              <a:xfrm>
                <a:off x="304912" y="1371654"/>
                <a:ext cx="8762770" cy="3854838"/>
              </a:xfrm>
              <a:prstGeom prst="rect">
                <a:avLst/>
              </a:prstGeom>
              <a:blipFill rotWithShape="1">
                <a:blip r:embed="rId1"/>
                <a:stretch>
                  <a:fillRect l="-1" t="-1" r="6" b="-615"/>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1828872" y="827744"/>
            <a:ext cx="6023180" cy="5068288"/>
          </a:xfrm>
          <a:prstGeom prst="rect">
            <a:avLst/>
          </a:prstGeom>
        </p:spPr>
      </p:pic>
      <p:sp>
        <p:nvSpPr>
          <p:cNvPr id="4" name="标题 1"/>
          <p:cNvSpPr>
            <a:spLocks noGrp="1"/>
          </p:cNvSpPr>
          <p:nvPr>
            <p:ph type="title"/>
          </p:nvPr>
        </p:nvSpPr>
        <p:spPr>
          <a:xfrm>
            <a:off x="6077274" y="141944"/>
            <a:ext cx="2933737"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p:sp>
        <p:nvSpPr>
          <p:cNvPr id="10" name="文本框 9"/>
          <p:cNvSpPr txBox="1"/>
          <p:nvPr/>
        </p:nvSpPr>
        <p:spPr>
          <a:xfrm>
            <a:off x="4048829" y="6172128"/>
            <a:ext cx="2059367" cy="369332"/>
          </a:xfrm>
          <a:prstGeom prst="rect">
            <a:avLst/>
          </a:prstGeom>
          <a:noFill/>
        </p:spPr>
        <p:txBody>
          <a:bodyPr wrap="square" rtlCol="0" anchor="t">
            <a:spAutoFit/>
          </a:bodyPr>
          <a:lstStyle/>
          <a:p>
            <a:r>
              <a:rPr lang="zh-CN" altLang="en-US" b="1" dirty="0">
                <a:solidFill>
                  <a:schemeClr val="accent2"/>
                </a:solidFill>
                <a:latin typeface="黑体" panose="02010609060101010101" pitchFamily="49" charset="-122"/>
                <a:ea typeface="黑体" panose="02010609060101010101" pitchFamily="49" charset="-122"/>
                <a:sym typeface="+mn-ea"/>
              </a:rPr>
              <a:t>信道分离示意</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248356" y="184544"/>
            <a:ext cx="2743128"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mc:AlternateContent xmlns:mc="http://schemas.openxmlformats.org/markup-compatibility/2006">
        <mc:Choice xmlns:a14="http://schemas.microsoft.com/office/drawing/2010/main" Requires="a14">
          <p:sp>
            <p:nvSpPr>
              <p:cNvPr id="7" name="文本框 6"/>
              <p:cNvSpPr txBox="1"/>
              <p:nvPr/>
            </p:nvSpPr>
            <p:spPr>
              <a:xfrm>
                <a:off x="304912" y="1371654"/>
                <a:ext cx="8534176" cy="3613490"/>
              </a:xfrm>
              <a:prstGeom prst="rect">
                <a:avLst/>
              </a:prstGeom>
              <a:noFill/>
            </p:spPr>
            <p:txBody>
              <a:bodyPr wrap="square">
                <a:spAutoFit/>
              </a:bodyPr>
              <a:lstStyle/>
              <a:p>
                <a:pPr marL="0" marR="0" lvl="0" indent="0" algn="l" defTabSz="914400" eaLnBrk="0" fontAlgn="base" latinLnBrk="0" hangingPunct="0">
                  <a:lnSpc>
                    <a:spcPct val="150000"/>
                  </a:lnSpc>
                  <a:spcBef>
                    <a:spcPts val="0"/>
                  </a:spcBef>
                  <a:spcAft>
                    <a:spcPts val="0"/>
                  </a:spcAft>
                  <a:buClrTx/>
                  <a:buSzTx/>
                  <a:buFont typeface="Wingdings" panose="05000000000000000000" pitchFamily="2" charset="2"/>
                  <a:buNone/>
                  <a:defRPr/>
                </a:pPr>
                <a:r>
                  <a:rPr kumimoji="1" lang="zh-CN" altLang="en-US" sz="24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信道</a:t>
                </a:r>
                <a:r>
                  <a:rPr kumimoji="1" lang="zh-CN" altLang="en-US" sz="2400" dirty="0">
                    <a:solidFill>
                      <a:srgbClr val="FF0000"/>
                    </a:solidFill>
                    <a:latin typeface="黑体" panose="02010609060101010101" pitchFamily="49" charset="-122"/>
                    <a:ea typeface="黑体" panose="02010609060101010101" pitchFamily="49" charset="-122"/>
                    <a:cs typeface="+mn-cs"/>
                  </a:rPr>
                  <a:t>极化</a:t>
                </a:r>
                <a:r>
                  <a:rPr kumimoji="1" lang="zh-CN" altLang="en-US" sz="24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a:t>
                </a:r>
                <a:r>
                  <a:rPr kumimoji="1" lang="zh-CN" altLang="en-US" sz="2400" dirty="0">
                    <a:solidFill>
                      <a:srgbClr val="FF0000"/>
                    </a:solidFill>
                    <a:latin typeface="黑体" panose="02010609060101010101" pitchFamily="49" charset="-122"/>
                    <a:ea typeface="黑体" panose="02010609060101010101" pitchFamily="49" charset="-122"/>
                    <a:cs typeface="+mn-cs"/>
                  </a:rPr>
                  <a:t>编码</a:t>
                </a:r>
                <a:r>
                  <a:rPr kumimoji="1" lang="zh-CN" altLang="en-US" sz="24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时）：</a:t>
                </a:r>
                <a:endParaRPr kumimoji="1" lang="en-US" altLang="zh-CN" sz="24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endParaRPr>
              </a:p>
              <a:p>
                <a:pPr lvl="0">
                  <a:lnSpc>
                    <a:spcPct val="200000"/>
                  </a:lnSpc>
                  <a:spcBef>
                    <a:spcPts val="0"/>
                  </a:spcBef>
                  <a:spcAft>
                    <a:spcPts val="0"/>
                  </a:spcAft>
                  <a:defRPr/>
                </a:pPr>
                <a:r>
                  <a:rPr kumimoji="0" lang="zh-CN" altLang="en-US" sz="20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a:t>
                </a:r>
                <a:endPar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endParaRPr>
              </a:p>
              <a:p>
                <a:pPr lvl="0">
                  <a:lnSpc>
                    <a:spcPct val="200000"/>
                  </a:lnSpc>
                  <a:spcBef>
                    <a:spcPts val="0"/>
                  </a:spcBef>
                  <a:spcAft>
                    <a:spcPts val="0"/>
                  </a:spcAft>
                  <a:defRPr/>
                </a:pPr>
                <a:r>
                  <a:rPr lang="en-US" altLang="zh-CN" sz="2000" dirty="0">
                    <a:solidFill>
                      <a:srgbClr val="000000"/>
                    </a:solidFill>
                    <a:latin typeface="+mn-lt"/>
                    <a:ea typeface="黑体" panose="02010609060101010101" pitchFamily="49" charset="-122"/>
                    <a:cs typeface="+mn-cs"/>
                  </a:rPr>
                  <a:t>        </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信道</a:t>
                </a:r>
                <a:r>
                  <a:rPr lang="zh-CN" altLang="en-US" sz="2000" dirty="0">
                    <a:solidFill>
                      <a:srgbClr val="000000"/>
                    </a:solidFill>
                    <a:latin typeface="+mn-lt"/>
                    <a:ea typeface="黑体" panose="02010609060101010101" pitchFamily="49" charset="-122"/>
                    <a:cs typeface="+mn-cs"/>
                  </a:rPr>
                  <a:t>极化</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是指随着</a:t>
                </a:r>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Polar</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码母码长度</a:t>
                </a:r>
                <a14:m>
                  <m:oMath xmlns:m="http://schemas.openxmlformats.org/officeDocument/2006/math">
                    <m:r>
                      <m:rPr>
                        <m:nor/>
                      </m:rPr>
                      <a:rPr lang="zh-CN" altLang="en-US" sz="2000" i="0" smtClean="0">
                        <a:solidFill>
                          <a:srgbClr val="000000"/>
                        </a:solidFill>
                        <a:latin typeface="+mn-lt"/>
                        <a:ea typeface="黑体" panose="02010609060101010101" pitchFamily="49" charset="-122"/>
                        <a:cs typeface="+mn-cs"/>
                      </a:rPr>
                      <m:t>N</m:t>
                    </m:r>
                    <m:r>
                      <m:rPr>
                        <m:nor/>
                      </m:rPr>
                      <a:rPr lang="zh-CN" altLang="en-US" sz="2000" i="0">
                        <a:solidFill>
                          <a:srgbClr val="000000"/>
                        </a:solidFill>
                        <a:latin typeface="+mn-lt"/>
                        <a:ea typeface="黑体" panose="02010609060101010101" pitchFamily="49" charset="-122"/>
                        <a:cs typeface="+mn-cs"/>
                      </a:rPr>
                      <m:t>=</m:t>
                    </m:r>
                    <m:sSup>
                      <m:sSupPr>
                        <m:ctrlPr>
                          <a:rPr lang="zh-CN" altLang="en-US" sz="2000" i="1">
                            <a:solidFill>
                              <a:srgbClr val="000000"/>
                            </a:solidFill>
                            <a:latin typeface="Cambria Math" panose="02040503050406030204" pitchFamily="18" charset="0"/>
                            <a:ea typeface="黑体" panose="02010609060101010101" pitchFamily="49" charset="-122"/>
                            <a:cs typeface="+mn-cs"/>
                          </a:rPr>
                        </m:ctrlPr>
                      </m:sSupPr>
                      <m:e>
                        <m:r>
                          <m:rPr>
                            <m:nor/>
                          </m:rPr>
                          <a:rPr lang="zh-CN" altLang="en-US" sz="2000" i="0">
                            <a:solidFill>
                              <a:srgbClr val="000000"/>
                            </a:solidFill>
                            <a:latin typeface="+mn-lt"/>
                            <a:ea typeface="黑体" panose="02010609060101010101" pitchFamily="49" charset="-122"/>
                            <a:cs typeface="+mn-cs"/>
                          </a:rPr>
                          <m:t>2</m:t>
                        </m:r>
                      </m:e>
                      <m:sup>
                        <m:r>
                          <m:rPr>
                            <m:nor/>
                          </m:rPr>
                          <a:rPr lang="zh-CN" altLang="en-US" sz="2000" i="0">
                            <a:solidFill>
                              <a:srgbClr val="000000"/>
                            </a:solidFill>
                            <a:latin typeface="+mn-lt"/>
                            <a:ea typeface="黑体" panose="02010609060101010101" pitchFamily="49" charset="-122"/>
                            <a:cs typeface="+mn-cs"/>
                          </a:rPr>
                          <m:t>n</m:t>
                        </m:r>
                      </m:sup>
                    </m:sSup>
                    <m:r>
                      <a:rPr lang="zh-CN" altLang="en-US" sz="2000">
                        <a:solidFill>
                          <a:srgbClr val="000000"/>
                        </a:solidFill>
                        <a:latin typeface="Cambria Math" panose="02040503050406030204" pitchFamily="18" charset="0"/>
                        <a:ea typeface="黑体" panose="02010609060101010101" pitchFamily="49" charset="-122"/>
                        <a:cs typeface="+mn-cs"/>
                      </a:rPr>
                      <m:t>的</m:t>
                    </m:r>
                  </m:oMath>
                </a14:m>
                <a:r>
                  <a:rPr lang="zh-CN" altLang="en-US" sz="2000" dirty="0">
                    <a:solidFill>
                      <a:srgbClr val="000000"/>
                    </a:solidFill>
                    <a:latin typeface="+mn-lt"/>
                    <a:ea typeface="黑体" panose="02010609060101010101" pitchFamily="49" charset="-122"/>
                    <a:cs typeface="+mn-cs"/>
                  </a:rPr>
                  <a:t>增大，子信道（</a:t>
                </a:r>
                <a:r>
                  <a:rPr lang="en-US" altLang="zh-CN" sz="2000" dirty="0">
                    <a:solidFill>
                      <a:srgbClr val="000000"/>
                    </a:solidFill>
                    <a:latin typeface="+mn-lt"/>
                    <a:ea typeface="黑体" panose="02010609060101010101" pitchFamily="49" charset="-122"/>
                    <a:cs typeface="+mn-cs"/>
                  </a:rPr>
                  <a:t>Polar</a:t>
                </a:r>
                <a:r>
                  <a:rPr lang="zh-CN" altLang="en-US" sz="2000" dirty="0">
                    <a:solidFill>
                      <a:srgbClr val="000000"/>
                    </a:solidFill>
                    <a:latin typeface="+mn-lt"/>
                    <a:ea typeface="黑体" panose="02010609060101010101" pitchFamily="49" charset="-122"/>
                    <a:cs typeface="+mn-cs"/>
                  </a:rPr>
                  <a:t>码输入比特序号）的信道容量会越来越明显的趋向两个极端：</a:t>
                </a:r>
                <a:r>
                  <a:rPr lang="zh-CN" altLang="en-US" sz="2000" u="sng" dirty="0">
                    <a:solidFill>
                      <a:srgbClr val="000000"/>
                    </a:solidFill>
                    <a:latin typeface="+mn-lt"/>
                    <a:ea typeface="黑体" panose="02010609060101010101" pitchFamily="49" charset="-122"/>
                    <a:cs typeface="+mn-cs"/>
                  </a:rPr>
                  <a:t>无噪信道</a:t>
                </a:r>
                <a:r>
                  <a:rPr lang="zh-CN" altLang="en-US" sz="2000" dirty="0">
                    <a:solidFill>
                      <a:srgbClr val="000000"/>
                    </a:solidFill>
                    <a:latin typeface="+mn-lt"/>
                    <a:ea typeface="黑体" panose="02010609060101010101" pitchFamily="49" charset="-122"/>
                    <a:cs typeface="+mn-cs"/>
                  </a:rPr>
                  <a:t>（信道容量为</a:t>
                </a:r>
                <a:r>
                  <a:rPr lang="en-US" altLang="zh-CN" sz="2000" dirty="0">
                    <a:solidFill>
                      <a:srgbClr val="000000"/>
                    </a:solidFill>
                    <a:latin typeface="+mn-lt"/>
                    <a:ea typeface="黑体" panose="02010609060101010101" pitchFamily="49" charset="-122"/>
                    <a:cs typeface="+mn-cs"/>
                  </a:rPr>
                  <a:t>1</a:t>
                </a:r>
                <a:r>
                  <a:rPr lang="zh-CN" altLang="en-US" sz="2000" dirty="0">
                    <a:solidFill>
                      <a:srgbClr val="000000"/>
                    </a:solidFill>
                    <a:latin typeface="+mn-lt"/>
                    <a:ea typeface="黑体" panose="02010609060101010101" pitchFamily="49" charset="-122"/>
                    <a:cs typeface="+mn-cs"/>
                  </a:rPr>
                  <a:t>）和</a:t>
                </a:r>
                <a:r>
                  <a:rPr lang="zh-CN" altLang="en-US" sz="2000" u="sng" dirty="0">
                    <a:solidFill>
                      <a:srgbClr val="000000"/>
                    </a:solidFill>
                    <a:latin typeface="+mn-lt"/>
                    <a:ea typeface="黑体" panose="02010609060101010101" pitchFamily="49" charset="-122"/>
                    <a:cs typeface="+mn-cs"/>
                  </a:rPr>
                  <a:t>纯噪信道</a:t>
                </a:r>
                <a:r>
                  <a:rPr lang="zh-CN" altLang="en-US" sz="2000" dirty="0">
                    <a:solidFill>
                      <a:srgbClr val="000000"/>
                    </a:solidFill>
                    <a:latin typeface="+mn-lt"/>
                    <a:ea typeface="黑体" panose="02010609060101010101" pitchFamily="49" charset="-122"/>
                    <a:cs typeface="+mn-cs"/>
                  </a:rPr>
                  <a:t>（信道容量为</a:t>
                </a:r>
                <a:r>
                  <a:rPr lang="en-US" altLang="zh-CN" sz="2000" dirty="0">
                    <a:solidFill>
                      <a:srgbClr val="000000"/>
                    </a:solidFill>
                    <a:latin typeface="+mn-lt"/>
                    <a:ea typeface="黑体" panose="02010609060101010101" pitchFamily="49" charset="-122"/>
                    <a:cs typeface="+mn-cs"/>
                  </a:rPr>
                  <a:t>0</a:t>
                </a:r>
                <a:r>
                  <a:rPr lang="zh-CN" altLang="en-US" sz="2000" dirty="0">
                    <a:solidFill>
                      <a:srgbClr val="000000"/>
                    </a:solidFill>
                    <a:latin typeface="+mn-lt"/>
                    <a:ea typeface="黑体" panose="02010609060101010101" pitchFamily="49" charset="-122"/>
                    <a:cs typeface="+mn-cs"/>
                  </a:rPr>
                  <a:t>）。</a:t>
                </a:r>
                <a:endParaRPr lang="en-US" altLang="zh-CN" sz="2000" dirty="0">
                  <a:solidFill>
                    <a:srgbClr val="000000"/>
                  </a:solidFill>
                  <a:latin typeface="+mn-lt"/>
                  <a:ea typeface="黑体" panose="02010609060101010101" pitchFamily="49" charset="-122"/>
                  <a:cs typeface="+mn-cs"/>
                </a:endParaRPr>
              </a:p>
              <a:p>
                <a:pPr lvl="0">
                  <a:lnSpc>
                    <a:spcPct val="200000"/>
                  </a:lnSpc>
                  <a:spcBef>
                    <a:spcPts val="0"/>
                  </a:spcBef>
                  <a:spcAft>
                    <a:spcPts val="0"/>
                  </a:spcAft>
                  <a:defRPr/>
                </a:pPr>
                <a:r>
                  <a:rPr lang="en-US" altLang="zh-CN" sz="2000" dirty="0">
                    <a:solidFill>
                      <a:srgbClr val="000000"/>
                    </a:solidFill>
                    <a:latin typeface="黑体" panose="02010609060101010101" pitchFamily="49" charset="-122"/>
                    <a:ea typeface="黑体" panose="02010609060101010101" pitchFamily="49" charset="-122"/>
                    <a:cs typeface="+mn-cs"/>
                  </a:rPr>
                  <a:t>    </a:t>
                </a:r>
                <a:endParaRPr lang="zh-CN" altLang="en-US" sz="2000" dirty="0">
                  <a:solidFill>
                    <a:srgbClr val="000000"/>
                  </a:solidFill>
                  <a:latin typeface="黑体" panose="02010609060101010101" pitchFamily="49" charset="-122"/>
                  <a:ea typeface="黑体" panose="02010609060101010101" pitchFamily="49" charset="-122"/>
                  <a:cs typeface="+mn-cs"/>
                </a:endParaRPr>
              </a:p>
            </p:txBody>
          </p:sp>
        </mc:Choice>
        <mc:Fallback>
          <p:sp>
            <p:nvSpPr>
              <p:cNvPr id="7" name="文本框 6"/>
              <p:cNvSpPr txBox="1">
                <a:spLocks noRot="1" noChangeAspect="1" noMove="1" noResize="1" noEditPoints="1" noAdjustHandles="1" noChangeArrowheads="1" noChangeShapeType="1" noTextEdit="1"/>
              </p:cNvSpPr>
              <p:nvPr/>
            </p:nvSpPr>
            <p:spPr>
              <a:xfrm>
                <a:off x="304912" y="1371654"/>
                <a:ext cx="8534176" cy="3613490"/>
              </a:xfrm>
              <a:prstGeom prst="rect">
                <a:avLst/>
              </a:prstGeom>
              <a:blipFill rotWithShape="1">
                <a:blip r:embed="rId1"/>
                <a:stretch>
                  <a:fillRect l="-1" t="-1" r="6" b="-2607"/>
                </a:stretch>
              </a:blipFill>
            </p:spPr>
            <p:txBody>
              <a:bodyPr/>
              <a:lstStyle/>
              <a:p>
                <a:r>
                  <a:rPr lang="zh-CN"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248356" y="184544"/>
            <a:ext cx="2743128"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mc:AlternateContent xmlns:mc="http://schemas.openxmlformats.org/markup-compatibility/2006">
        <mc:Choice xmlns:a14="http://schemas.microsoft.com/office/drawing/2010/main" Requires="a14">
          <p:sp>
            <p:nvSpPr>
              <p:cNvPr id="7" name="文本框 6"/>
              <p:cNvSpPr txBox="1"/>
              <p:nvPr/>
            </p:nvSpPr>
            <p:spPr>
              <a:xfrm>
                <a:off x="457308" y="1143060"/>
                <a:ext cx="8534176" cy="3473323"/>
              </a:xfrm>
              <a:prstGeom prst="rect">
                <a:avLst/>
              </a:prstGeom>
              <a:noFill/>
            </p:spPr>
            <p:txBody>
              <a:bodyPr wrap="square">
                <a:spAutoFit/>
              </a:bodyPr>
              <a:lstStyle/>
              <a:p>
                <a:pPr marL="0" marR="0" lvl="0" indent="0" algn="l" defTabSz="914400" eaLnBrk="0" fontAlgn="base" latinLnBrk="0" hangingPunct="0">
                  <a:lnSpc>
                    <a:spcPct val="150000"/>
                  </a:lnSpc>
                  <a:spcBef>
                    <a:spcPts val="0"/>
                  </a:spcBef>
                  <a:spcAft>
                    <a:spcPts val="0"/>
                  </a:spcAft>
                  <a:buClrTx/>
                  <a:buSzTx/>
                  <a:buFont typeface="Wingdings" panose="05000000000000000000" pitchFamily="2" charset="2"/>
                  <a:buNone/>
                  <a:defRPr/>
                </a:pPr>
                <a:r>
                  <a:rPr kumimoji="1" lang="zh-CN" altLang="en-US" sz="24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信道</a:t>
                </a:r>
                <a:r>
                  <a:rPr kumimoji="1" lang="zh-CN" altLang="en-US" sz="2400" dirty="0">
                    <a:solidFill>
                      <a:srgbClr val="FF0000"/>
                    </a:solidFill>
                    <a:latin typeface="黑体" panose="02010609060101010101" pitchFamily="49" charset="-122"/>
                    <a:ea typeface="黑体" panose="02010609060101010101" pitchFamily="49" charset="-122"/>
                    <a:cs typeface="+mn-cs"/>
                  </a:rPr>
                  <a:t>极化</a:t>
                </a:r>
                <a:r>
                  <a:rPr kumimoji="1" lang="zh-CN" altLang="en-US" sz="24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a:t>
                </a:r>
                <a:r>
                  <a:rPr kumimoji="1" lang="zh-CN" altLang="en-US" sz="2400" dirty="0">
                    <a:solidFill>
                      <a:srgbClr val="FF0000"/>
                    </a:solidFill>
                    <a:latin typeface="黑体" panose="02010609060101010101" pitchFamily="49" charset="-122"/>
                    <a:ea typeface="黑体" panose="02010609060101010101" pitchFamily="49" charset="-122"/>
                    <a:cs typeface="+mn-cs"/>
                  </a:rPr>
                  <a:t>编码</a:t>
                </a:r>
                <a:r>
                  <a:rPr kumimoji="1" lang="zh-CN" altLang="en-US" sz="24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时）：</a:t>
                </a:r>
                <a:endParaRPr kumimoji="1" lang="en-US" altLang="zh-CN" sz="24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endParaRPr>
              </a:p>
              <a:p>
                <a:pPr marL="0" marR="0" lvl="0" indent="0" algn="l" defTabSz="914400" eaLnBrk="0" fontAlgn="base" latinLnBrk="0" hangingPunct="0">
                  <a:lnSpc>
                    <a:spcPct val="150000"/>
                  </a:lnSpc>
                  <a:spcBef>
                    <a:spcPts val="0"/>
                  </a:spcBef>
                  <a:spcAft>
                    <a:spcPts val="0"/>
                  </a:spcAft>
                  <a:buClrTx/>
                  <a:buSzTx/>
                  <a:buFont typeface="Wingdings" panose="05000000000000000000" pitchFamily="2" charset="2"/>
                  <a:buNone/>
                  <a:defRPr/>
                </a:pPr>
                <a:endParaRPr lang="en-US" altLang="zh-CN" sz="2000" dirty="0">
                  <a:solidFill>
                    <a:srgbClr val="000000"/>
                  </a:solidFill>
                  <a:latin typeface="黑体" panose="02010609060101010101" pitchFamily="49" charset="-122"/>
                  <a:ea typeface="黑体" panose="02010609060101010101" pitchFamily="49" charset="-122"/>
                  <a:cs typeface="+mn-cs"/>
                </a:endParaRPr>
              </a:p>
              <a:p>
                <a:pPr lvl="0">
                  <a:lnSpc>
                    <a:spcPct val="200000"/>
                  </a:lnSpc>
                  <a:spcBef>
                    <a:spcPts val="0"/>
                  </a:spcBef>
                  <a:spcAft>
                    <a:spcPts val="0"/>
                  </a:spcAft>
                  <a:defRPr/>
                </a:pPr>
                <a:r>
                  <a:rPr lang="en-US" altLang="zh-CN" sz="2000" dirty="0">
                    <a:solidFill>
                      <a:srgbClr val="000000"/>
                    </a:solidFill>
                    <a:latin typeface="+mn-lt"/>
                    <a:ea typeface="黑体" panose="02010609060101010101" pitchFamily="49" charset="-122"/>
                    <a:cs typeface="+mn-cs"/>
                  </a:rPr>
                  <a:t>         </a:t>
                </a:r>
                <a:r>
                  <a:rPr lang="zh-CN" altLang="en-US" sz="2000" dirty="0">
                    <a:solidFill>
                      <a:srgbClr val="000000"/>
                    </a:solidFill>
                    <a:latin typeface="+mn-lt"/>
                    <a:ea typeface="黑体" panose="02010609060101010101" pitchFamily="49" charset="-122"/>
                    <a:cs typeface="+mn-cs"/>
                  </a:rPr>
                  <a:t>假设使用</a:t>
                </a:r>
                <a:r>
                  <a:rPr lang="en-US" altLang="zh-CN" sz="2000" dirty="0">
                    <a:solidFill>
                      <a:srgbClr val="000000"/>
                    </a:solidFill>
                    <a:latin typeface="+mn-lt"/>
                    <a:ea typeface="黑体" panose="02010609060101010101" pitchFamily="49" charset="-122"/>
                    <a:cs typeface="+mn-cs"/>
                  </a:rPr>
                  <a:t>BEC</a:t>
                </a:r>
                <a:r>
                  <a:rPr lang="zh-CN" altLang="en-US" sz="2000" dirty="0">
                    <a:solidFill>
                      <a:srgbClr val="000000"/>
                    </a:solidFill>
                    <a:latin typeface="+mn-lt"/>
                    <a:ea typeface="黑体" panose="02010609060101010101" pitchFamily="49" charset="-122"/>
                    <a:cs typeface="+mn-cs"/>
                  </a:rPr>
                  <a:t>信道，且删除概率为</a:t>
                </a:r>
                <a14:m>
                  <m:oMath xmlns:m="http://schemas.openxmlformats.org/officeDocument/2006/math">
                    <m:r>
                      <a:rPr lang="zh-CN" altLang="en-US" sz="2000" i="1" smtClean="0">
                        <a:solidFill>
                          <a:srgbClr val="000000"/>
                        </a:solidFill>
                        <a:latin typeface="Cambria Math" panose="02040503050406030204" pitchFamily="18" charset="0"/>
                        <a:cs typeface="+mn-cs"/>
                      </a:rPr>
                      <m:t>𝑃</m:t>
                    </m:r>
                    <m:r>
                      <a:rPr lang="zh-CN" altLang="en-US" sz="2000" i="1" smtClean="0">
                        <a:solidFill>
                          <a:srgbClr val="000000"/>
                        </a:solidFill>
                        <a:latin typeface="Cambria Math" panose="02040503050406030204" pitchFamily="18" charset="0"/>
                        <a:cs typeface="+mn-cs"/>
                      </a:rPr>
                      <m:t>=</m:t>
                    </m:r>
                    <m:f>
                      <m:fPr>
                        <m:type m:val="lin"/>
                        <m:ctrlPr>
                          <a:rPr lang="zh-CN" altLang="en-US" sz="2000" i="1" smtClean="0">
                            <a:solidFill>
                              <a:srgbClr val="000000"/>
                            </a:solidFill>
                            <a:latin typeface="Cambria Math" panose="02040503050406030204" pitchFamily="18" charset="0"/>
                            <a:cs typeface="+mn-cs"/>
                          </a:rPr>
                        </m:ctrlPr>
                      </m:fPr>
                      <m:num>
                        <m:r>
                          <a:rPr lang="zh-CN" altLang="en-US" sz="2000" i="1" smtClean="0">
                            <a:solidFill>
                              <a:srgbClr val="000000"/>
                            </a:solidFill>
                            <a:latin typeface="Cambria Math" panose="02040503050406030204" pitchFamily="18" charset="0"/>
                            <a:cs typeface="+mn-cs"/>
                          </a:rPr>
                          <m:t>1</m:t>
                        </m:r>
                      </m:num>
                      <m:den>
                        <m:r>
                          <a:rPr lang="zh-CN" altLang="en-US" sz="2000" i="1" smtClean="0">
                            <a:solidFill>
                              <a:srgbClr val="000000"/>
                            </a:solidFill>
                            <a:latin typeface="Cambria Math" panose="02040503050406030204" pitchFamily="18" charset="0"/>
                            <a:cs typeface="+mn-cs"/>
                          </a:rPr>
                          <m:t>2</m:t>
                        </m:r>
                      </m:den>
                    </m:f>
                  </m:oMath>
                </a14:m>
                <a:r>
                  <a:rPr lang="zh-CN" altLang="en-US" sz="2000" dirty="0">
                    <a:solidFill>
                      <a:srgbClr val="000000"/>
                    </a:solidFill>
                    <a:latin typeface="+mn-lt"/>
                    <a:ea typeface="黑体" panose="02010609060101010101" pitchFamily="49" charset="-122"/>
                    <a:cs typeface="+mn-cs"/>
                  </a:rPr>
                  <a:t>，那么随着</a:t>
                </a:r>
                <a:r>
                  <a:rPr lang="en-US" altLang="zh-CN" sz="2000" dirty="0">
                    <a:solidFill>
                      <a:srgbClr val="000000"/>
                    </a:solidFill>
                    <a:latin typeface="+mn-lt"/>
                    <a:ea typeface="黑体" panose="02010609060101010101" pitchFamily="49" charset="-122"/>
                  </a:rPr>
                  <a:t>Polar</a:t>
                </a:r>
                <a:r>
                  <a:rPr lang="zh-CN" altLang="en-US" sz="2000" dirty="0">
                    <a:solidFill>
                      <a:srgbClr val="000000"/>
                    </a:solidFill>
                    <a:latin typeface="+mn-lt"/>
                    <a:ea typeface="黑体" panose="02010609060101010101" pitchFamily="49" charset="-122"/>
                  </a:rPr>
                  <a:t>码母码长增大，子信道趋近于两个极端，当母码长度 </a:t>
                </a:r>
                <a:r>
                  <a:rPr lang="en-US" altLang="zh-CN" sz="2000" dirty="0">
                    <a:solidFill>
                      <a:srgbClr val="000000"/>
                    </a:solidFill>
                    <a:latin typeface="+mn-lt"/>
                    <a:ea typeface="黑体" panose="02010609060101010101" pitchFamily="49" charset="-122"/>
                  </a:rPr>
                  <a:t>N</a:t>
                </a:r>
                <a:r>
                  <a:rPr lang="zh-CN" altLang="en-US" sz="2000" dirty="0">
                    <a:solidFill>
                      <a:srgbClr val="000000"/>
                    </a:solidFill>
                    <a:latin typeface="+mn-lt"/>
                    <a:ea typeface="黑体" panose="02010609060101010101" pitchFamily="49" charset="-122"/>
                  </a:rPr>
                  <a:t>≥</a:t>
                </a:r>
                <a:r>
                  <a:rPr lang="en-US" altLang="zh-CN" sz="2000" dirty="0">
                    <a:solidFill>
                      <a:srgbClr val="000000"/>
                    </a:solidFill>
                    <a:latin typeface="+mn-lt"/>
                    <a:ea typeface="黑体" panose="02010609060101010101" pitchFamily="49" charset="-122"/>
                  </a:rPr>
                  <a:t>512</a:t>
                </a:r>
                <a:r>
                  <a:rPr lang="zh-CN" altLang="en-US" sz="2000" dirty="0">
                    <a:solidFill>
                      <a:srgbClr val="000000"/>
                    </a:solidFill>
                    <a:latin typeface="+mn-lt"/>
                    <a:ea typeface="黑体" panose="02010609060101010101" pitchFamily="49" charset="-122"/>
                  </a:rPr>
                  <a:t>时，极化现象体现较为充分（大于</a:t>
                </a:r>
                <a:r>
                  <a:rPr lang="en-US" altLang="zh-CN" sz="2000" dirty="0">
                    <a:solidFill>
                      <a:srgbClr val="000000"/>
                    </a:solidFill>
                    <a:latin typeface="+mn-lt"/>
                    <a:ea typeface="黑体" panose="02010609060101010101" pitchFamily="49" charset="-122"/>
                  </a:rPr>
                  <a:t>80%</a:t>
                </a:r>
                <a:r>
                  <a:rPr lang="zh-CN" altLang="en-US" sz="2000" dirty="0">
                    <a:solidFill>
                      <a:srgbClr val="000000"/>
                    </a:solidFill>
                    <a:latin typeface="+mn-lt"/>
                    <a:ea typeface="黑体" panose="02010609060101010101" pitchFamily="49" charset="-122"/>
                  </a:rPr>
                  <a:t>的子信道得到极化），利用这个极化现象，可以选择高容量子信道去传输数据，而把其他子信道设置为已知比特（</a:t>
                </a:r>
                <a:r>
                  <a:rPr lang="zh-CN" altLang="en-US" sz="2000" u="sng" dirty="0">
                    <a:solidFill>
                      <a:srgbClr val="000000"/>
                    </a:solidFill>
                    <a:latin typeface="+mn-lt"/>
                    <a:ea typeface="黑体" panose="02010609060101010101" pitchFamily="49" charset="-122"/>
                  </a:rPr>
                  <a:t>冻结比特</a:t>
                </a:r>
                <a:r>
                  <a:rPr lang="zh-CN" altLang="en-US" sz="2000" dirty="0">
                    <a:solidFill>
                      <a:srgbClr val="000000"/>
                    </a:solidFill>
                    <a:latin typeface="+mn-lt"/>
                    <a:ea typeface="黑体" panose="02010609060101010101" pitchFamily="49" charset="-122"/>
                  </a:rPr>
                  <a:t>，如</a:t>
                </a:r>
                <a:r>
                  <a:rPr lang="en-US" altLang="zh-CN" sz="2000" dirty="0">
                    <a:solidFill>
                      <a:srgbClr val="000000"/>
                    </a:solidFill>
                    <a:latin typeface="+mn-lt"/>
                    <a:ea typeface="黑体" panose="02010609060101010101" pitchFamily="49" charset="-122"/>
                  </a:rPr>
                  <a:t>0</a:t>
                </a:r>
                <a:r>
                  <a:rPr lang="zh-CN" altLang="en-US" sz="2000" dirty="0">
                    <a:solidFill>
                      <a:srgbClr val="000000"/>
                    </a:solidFill>
                    <a:latin typeface="+mn-lt"/>
                    <a:ea typeface="黑体" panose="02010609060101010101" pitchFamily="49" charset="-122"/>
                  </a:rPr>
                  <a:t>）</a:t>
                </a:r>
                <a:r>
                  <a:rPr lang="zh-CN" altLang="en-US" sz="2000" dirty="0">
                    <a:solidFill>
                      <a:srgbClr val="000000"/>
                    </a:solidFill>
                    <a:latin typeface="黑体" panose="02010609060101010101" pitchFamily="49" charset="-122"/>
                    <a:ea typeface="黑体" panose="02010609060101010101" pitchFamily="49" charset="-122"/>
                  </a:rPr>
                  <a:t>。</a:t>
                </a:r>
                <a:endParaRPr lang="zh-CN" altLang="en-US" sz="2000" dirty="0">
                  <a:solidFill>
                    <a:srgbClr val="000000"/>
                  </a:solidFill>
                  <a:latin typeface="黑体" panose="02010609060101010101" pitchFamily="49" charset="-122"/>
                  <a:ea typeface="黑体" panose="02010609060101010101" pitchFamily="49" charset="-122"/>
                  <a:cs typeface="+mn-cs"/>
                </a:endParaRPr>
              </a:p>
            </p:txBody>
          </p:sp>
        </mc:Choice>
        <mc:Fallback>
          <p:sp>
            <p:nvSpPr>
              <p:cNvPr id="7" name="文本框 6"/>
              <p:cNvSpPr txBox="1">
                <a:spLocks noRot="1" noChangeAspect="1" noMove="1" noResize="1" noEditPoints="1" noAdjustHandles="1" noChangeArrowheads="1" noChangeShapeType="1" noTextEdit="1"/>
              </p:cNvSpPr>
              <p:nvPr/>
            </p:nvSpPr>
            <p:spPr>
              <a:xfrm>
                <a:off x="457308" y="1143060"/>
                <a:ext cx="8534176" cy="3473323"/>
              </a:xfrm>
              <a:prstGeom prst="rect">
                <a:avLst/>
              </a:prstGeom>
              <a:blipFill rotWithShape="1">
                <a:blip r:embed="rId1"/>
                <a:stretch>
                  <a:fillRect l="-1" t="-2" r="6" b="-477"/>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019762" y="154525"/>
            <a:ext cx="2933737"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mc:AlternateContent xmlns:mc="http://schemas.openxmlformats.org/markup-compatibility/2006">
        <mc:Choice xmlns:a14="http://schemas.microsoft.com/office/drawing/2010/main" Requires="a14">
          <p:sp>
            <p:nvSpPr>
              <p:cNvPr id="9" name="文本框 8"/>
              <p:cNvSpPr txBox="1"/>
              <p:nvPr/>
            </p:nvSpPr>
            <p:spPr>
              <a:xfrm>
                <a:off x="362060" y="914466"/>
                <a:ext cx="8419879" cy="5602752"/>
              </a:xfrm>
              <a:prstGeom prst="rect">
                <a:avLst/>
              </a:prstGeom>
              <a:noFill/>
            </p:spPr>
            <p:txBody>
              <a:bodyPr wrap="square">
                <a:spAutoFit/>
              </a:bodyPr>
              <a:lstStyle/>
              <a:p>
                <a:pPr marL="0" marR="0" lvl="0" indent="0" algn="l" defTabSz="914400" eaLnBrk="0" fontAlgn="base" latinLnBrk="0" hangingPunct="0">
                  <a:lnSpc>
                    <a:spcPct val="150000"/>
                  </a:lnSpc>
                  <a:spcBef>
                    <a:spcPts val="0"/>
                  </a:spcBef>
                  <a:spcAft>
                    <a:spcPts val="0"/>
                  </a:spcAft>
                  <a:buClrTx/>
                  <a:buSzTx/>
                  <a:buFont typeface="Wingdings" panose="05000000000000000000" pitchFamily="2" charset="2"/>
                  <a:buNone/>
                  <a:defRPr/>
                </a:pP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        若使用以</a:t>
                </a:r>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2</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为底的对数，则</a:t>
                </a:r>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0</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a:t>
                </a:r>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C(W)</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a:t>
                </a:r>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1</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。当</a:t>
                </a:r>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C(W)=1</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时，称</a:t>
                </a:r>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W</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为无噪信道（极好）；当</a:t>
                </a:r>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C(W)=0</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时，称</a:t>
                </a:r>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W</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为纯噪信道（无用）。信道极化的目的就是将大多数常规信道转化为这两种极端情况的信道，上述信道容量计算复杂，可采用</a:t>
                </a:r>
                <a:r>
                  <a:rPr kumimoji="0" lang="zh-CN" altLang="en-US" sz="2000" b="0" i="0" u="sng" strike="noStrike" kern="1200" cap="none" spc="0" normalizeH="0" baseline="0" noProof="0" dirty="0">
                    <a:ln>
                      <a:noFill/>
                    </a:ln>
                    <a:solidFill>
                      <a:srgbClr val="000000"/>
                    </a:solidFill>
                    <a:effectLst/>
                    <a:uLnTx/>
                    <a:uFillTx/>
                    <a:latin typeface="+mn-lt"/>
                    <a:ea typeface="黑体" panose="02010609060101010101" pitchFamily="49" charset="-122"/>
                    <a:cs typeface="+mn-cs"/>
                  </a:rPr>
                  <a:t>巴氏参数</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的最大后验概率（</a:t>
                </a:r>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MAP</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）判决错误概率的上界，进而进行信道容量的范围考察。巴氏参数定义为</a:t>
                </a:r>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Z(W):</a:t>
                </a:r>
                <a:endPar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endParaRPr>
              </a:p>
              <a:p>
                <a:pPr marL="0" marR="0" lvl="0" indent="0" algn="l" defTabSz="914400" eaLnBrk="0" fontAlgn="base" latinLnBrk="0" hangingPunct="0">
                  <a:lnSpc>
                    <a:spcPct val="150000"/>
                  </a:lnSpc>
                  <a:spcBef>
                    <a:spcPts val="0"/>
                  </a:spcBef>
                  <a:spcAft>
                    <a:spcPts val="0"/>
                  </a:spcAft>
                  <a:buClrTx/>
                  <a:buSzTx/>
                  <a:buFont typeface="Wingdings" panose="05000000000000000000" pitchFamily="2" charset="2"/>
                  <a:buNone/>
                  <a:defRPr/>
                </a:pPr>
                <a14:m>
                  <m:oMathPara xmlns:m="http://schemas.openxmlformats.org/officeDocument/2006/math">
                    <m:oMathParaPr>
                      <m:jc m:val="centerGroup"/>
                    </m:oMathParaPr>
                    <m:oMath xmlns:m="http://schemas.openxmlformats.org/officeDocument/2006/math">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Z</m:t>
                      </m:r>
                      <m:d>
                        <m:d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W</m:t>
                          </m:r>
                        </m:e>
                      </m:d>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m:t>
                      </m:r>
                      <m:nary>
                        <m:naryPr>
                          <m:chr m:val="∑"/>
                          <m:grow m:val="on"/>
                          <m:limLoc m:val="undOvr"/>
                          <m:supHide m:val="on"/>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naryPr>
                        <m:sub>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y</m:t>
                          </m:r>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m:t>
                          </m:r>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Y</m:t>
                          </m:r>
                        </m:sub>
                        <m:sup/>
                        <m:e>
                          <m:rad>
                            <m:radPr>
                              <m:degHide m:val="on"/>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radPr>
                            <m:deg/>
                            <m:e>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W</m:t>
                              </m:r>
                              <m:d>
                                <m:d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d>
                                    <m:dPr>
                                      <m:begChr m:val=""/>
                                      <m:endChr m:val="|"/>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y</m:t>
                                      </m:r>
                                    </m:e>
                                  </m:d>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0</m:t>
                                  </m:r>
                                </m:e>
                              </m:d>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W</m:t>
                              </m:r>
                              <m:d>
                                <m:d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d>
                                    <m:dPr>
                                      <m:begChr m:val=""/>
                                      <m:endChr m:val="|"/>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y</m:t>
                                      </m:r>
                                    </m:e>
                                  </m:d>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1</m:t>
                                  </m:r>
                                </m:e>
                              </m:d>
                            </m:e>
                          </m:rad>
                        </m:e>
                      </m:nary>
                    </m:oMath>
                  </m:oMathPara>
                </a14:m>
                <a:endPar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endParaRPr>
              </a:p>
              <a:p>
                <a:pPr marL="0" marR="0" lvl="0" indent="0" algn="l" defTabSz="914400" eaLnBrk="0" fontAlgn="base" latinLnBrk="0" hangingPunct="0">
                  <a:lnSpc>
                    <a:spcPct val="150000"/>
                  </a:lnSpc>
                  <a:spcBef>
                    <a:spcPts val="0"/>
                  </a:spcBef>
                  <a:spcAft>
                    <a:spcPts val="0"/>
                  </a:spcAft>
                  <a:buClrTx/>
                  <a:buSzTx/>
                  <a:buFont typeface="Wingdings" panose="05000000000000000000" pitchFamily="2" charset="2"/>
                  <a:buNone/>
                  <a:defRPr/>
                </a:pP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        主要通过信道容量分析极化码。</a:t>
                </a:r>
                <a:endPar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endParaRPr>
              </a:p>
              <a:p>
                <a:pPr marL="0" marR="0" lvl="0" indent="0" algn="l" defTabSz="914400" eaLnBrk="0" fontAlgn="base" latinLnBrk="0" hangingPunct="0">
                  <a:lnSpc>
                    <a:spcPct val="150000"/>
                  </a:lnSpc>
                  <a:spcBef>
                    <a:spcPts val="0"/>
                  </a:spcBef>
                  <a:spcAft>
                    <a:spcPts val="0"/>
                  </a:spcAft>
                  <a:buClrTx/>
                  <a:buSzTx/>
                  <a:buFont typeface="Wingdings" panose="05000000000000000000" pitchFamily="2" charset="2"/>
                  <a:buNone/>
                  <a:defRPr/>
                </a:pPr>
                <a14:m>
                  <m:oMathPara xmlns:m="http://schemas.openxmlformats.org/officeDocument/2006/math">
                    <m:oMathParaPr>
                      <m:jc m:val="centerGroup"/>
                    </m:oMathParaPr>
                    <m:oMath xmlns:m="http://schemas.openxmlformats.org/officeDocument/2006/math">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C</m:t>
                      </m:r>
                      <m:d>
                        <m:d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W</m:t>
                          </m:r>
                        </m:e>
                      </m:d>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m:t>
                      </m:r>
                      <m:func>
                        <m:func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uncPr>
                        <m:fName>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log</m:t>
                          </m:r>
                        </m:fName>
                        <m:e>
                          <m:f>
                            <m:f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2</m:t>
                              </m:r>
                            </m:num>
                            <m:den>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1</m:t>
                              </m:r>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m:t>
                              </m:r>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Z</m:t>
                              </m:r>
                              <m:d>
                                <m:d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W</m:t>
                                  </m:r>
                                </m:e>
                              </m:d>
                            </m:den>
                          </m:f>
                        </m:e>
                      </m:func>
                    </m:oMath>
                  </m:oMathPara>
                </a14:m>
                <a:endParaRPr kumimoji="0" lang="en-US" altLang="zh-CN" sz="2000" b="0" i="0" u="none" strike="noStrike" kern="1200" cap="none" spc="0" normalizeH="0" baseline="0" noProof="0" dirty="0">
                  <a:ln>
                    <a:noFill/>
                  </a:ln>
                  <a:solidFill>
                    <a:srgbClr val="000000"/>
                  </a:solidFill>
                  <a:effectLst/>
                  <a:uLnTx/>
                  <a:uFillTx/>
                  <a:latin typeface="+mn-lt"/>
                  <a:cs typeface="+mn-cs"/>
                </a:endParaRPr>
              </a:p>
              <a:p>
                <a:pPr marL="0" marR="0" lvl="0" indent="0" algn="l" defTabSz="914400" eaLnBrk="0" fontAlgn="base" latinLnBrk="0" hangingPunct="0">
                  <a:lnSpc>
                    <a:spcPct val="150000"/>
                  </a:lnSpc>
                  <a:spcBef>
                    <a:spcPts val="0"/>
                  </a:spcBef>
                  <a:spcAft>
                    <a:spcPts val="0"/>
                  </a:spcAft>
                  <a:buClrTx/>
                  <a:buSzTx/>
                  <a:buFont typeface="Wingdings" panose="05000000000000000000" pitchFamily="2" charset="2"/>
                  <a:buNone/>
                  <a:defRPr/>
                </a:pPr>
                <a14:m>
                  <m:oMathPara xmlns:m="http://schemas.openxmlformats.org/officeDocument/2006/math">
                    <m:oMathParaPr>
                      <m:jc m:val="centerGroup"/>
                    </m:oMathParaPr>
                    <m:oMath xmlns:m="http://schemas.openxmlformats.org/officeDocument/2006/math">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C</m:t>
                      </m:r>
                      <m:d>
                        <m:d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W</m:t>
                          </m:r>
                        </m:e>
                      </m:d>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m:t>
                      </m:r>
                      <m:rad>
                        <m:radPr>
                          <m:degHide m:val="on"/>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radPr>
                        <m:deg/>
                        <m:e>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1</m:t>
                          </m:r>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m:t>
                          </m:r>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Z</m:t>
                          </m:r>
                          <m:d>
                            <m:d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W</m:t>
                              </m:r>
                            </m:e>
                          </m:d>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m:t>
                          </m:r>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Z</m:t>
                          </m:r>
                          <m:d>
                            <m:d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W</m:t>
                              </m:r>
                            </m:e>
                          </m:d>
                        </m:e>
                      </m:rad>
                    </m:oMath>
                  </m:oMathPara>
                </a14:m>
                <a:endPar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endParaRPr>
              </a:p>
            </p:txBody>
          </p:sp>
        </mc:Choice>
        <mc:Fallback>
          <p:sp>
            <p:nvSpPr>
              <p:cNvPr id="9" name="文本框 8"/>
              <p:cNvSpPr txBox="1">
                <a:spLocks noRot="1" noChangeAspect="1" noMove="1" noResize="1" noEditPoints="1" noAdjustHandles="1" noChangeArrowheads="1" noChangeShapeType="1" noTextEdit="1"/>
              </p:cNvSpPr>
              <p:nvPr/>
            </p:nvSpPr>
            <p:spPr>
              <a:xfrm>
                <a:off x="362060" y="914466"/>
                <a:ext cx="8419879" cy="5602752"/>
              </a:xfrm>
              <a:prstGeom prst="rect">
                <a:avLst/>
              </a:prstGeom>
              <a:blipFill rotWithShape="1">
                <a:blip r:embed="rId1"/>
                <a:stretch>
                  <a:fillRect l="-1" t="-1" r="6" b="4"/>
                </a:stretch>
              </a:blipFill>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019762" y="154525"/>
            <a:ext cx="2933737"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mc:AlternateContent xmlns:mc="http://schemas.openxmlformats.org/markup-compatibility/2006">
        <mc:Choice xmlns:a14="http://schemas.microsoft.com/office/drawing/2010/main" Requires="a14">
          <p:sp>
            <p:nvSpPr>
              <p:cNvPr id="9" name="文本框 8"/>
              <p:cNvSpPr txBox="1"/>
              <p:nvPr/>
            </p:nvSpPr>
            <p:spPr>
              <a:xfrm>
                <a:off x="247877" y="1219258"/>
                <a:ext cx="8705622" cy="4135491"/>
              </a:xfrm>
              <a:prstGeom prst="rect">
                <a:avLst/>
              </a:prstGeom>
              <a:noFill/>
            </p:spPr>
            <p:txBody>
              <a:bodyPr wrap="square">
                <a:spAutoFit/>
              </a:bodyPr>
              <a:lstStyle/>
              <a:p>
                <a:pPr marL="0" marR="0" lvl="0" indent="0" algn="l" defTabSz="914400" eaLnBrk="0" fontAlgn="base" latinLnBrk="0" hangingPunct="0">
                  <a:lnSpc>
                    <a:spcPct val="150000"/>
                  </a:lnSpc>
                  <a:spcBef>
                    <a:spcPts val="0"/>
                  </a:spcBef>
                  <a:spcAft>
                    <a:spcPts val="0"/>
                  </a:spcAft>
                  <a:buClrTx/>
                  <a:buSzTx/>
                  <a:buFont typeface="Wingdings" panose="05000000000000000000" pitchFamily="2" charset="2"/>
                  <a:buNone/>
                  <a:defRPr/>
                </a:pP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        因此，针对二进制删除信道（</a:t>
                </a:r>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BEC</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），信道容量</a:t>
                </a:r>
                <a14:m>
                  <m:oMath xmlns:m="http://schemas.openxmlformats.org/officeDocument/2006/math">
                    <m:d>
                      <m:dPr>
                        <m:begChr m:val="{"/>
                        <m:endChr m:val="}"/>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I</m:t>
                        </m:r>
                        <m:d>
                          <m:d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sSubSup>
                              <m:sSubSup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SupPr>
                              <m:e>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W</m:t>
                                </m:r>
                              </m:e>
                              <m:sub>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N</m:t>
                                </m:r>
                              </m:sub>
                              <m:sup>
                                <m:d>
                                  <m:d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i</m:t>
                                    </m:r>
                                  </m:e>
                                </m:d>
                              </m:sup>
                            </m:sSubSup>
                          </m:e>
                        </m:d>
                      </m:e>
                    </m:d>
                  </m:oMath>
                </a14:m>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数据可以通过递归关系计算出来。</a:t>
                </a:r>
                <a:endPar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endParaRPr>
              </a:p>
              <a:p>
                <a:pPr lvl="0" algn="ctr">
                  <a:lnSpc>
                    <a:spcPct val="150000"/>
                  </a:lnSpc>
                  <a:spcBef>
                    <a:spcPts val="0"/>
                  </a:spcBef>
                  <a:spcAft>
                    <a:spcPts val="0"/>
                  </a:spcAft>
                  <a:defRPr/>
                </a:pPr>
                <a14:m>
                  <m:oMath xmlns:m="http://schemas.openxmlformats.org/officeDocument/2006/math">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I</m:t>
                    </m:r>
                    <m:d>
                      <m:d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sSubSup>
                          <m:sSubSup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SupPr>
                          <m:e>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W</m:t>
                            </m:r>
                          </m:e>
                          <m:sub>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N</m:t>
                            </m:r>
                          </m:sub>
                          <m:sup>
                            <m:d>
                              <m:d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2</m:t>
                                </m:r>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i</m:t>
                                </m:r>
                                <m:r>
                                  <m:rPr>
                                    <m:nor/>
                                  </m:rPr>
                                  <a:rPr lang="en-US" altLang="zh-CN" sz="2000" i="0">
                                    <a:solidFill>
                                      <a:srgbClr val="000000"/>
                                    </a:solidFill>
                                    <a:latin typeface="+mn-lt"/>
                                    <a:cs typeface="+mn-cs"/>
                                  </a:rPr>
                                  <m:t>−</m:t>
                                </m:r>
                                <m:r>
                                  <m:rPr>
                                    <m:nor/>
                                  </m:rPr>
                                  <a:rPr lang="en-US" altLang="zh-CN" sz="2000" b="0" i="0" smtClean="0">
                                    <a:solidFill>
                                      <a:srgbClr val="000000"/>
                                    </a:solidFill>
                                    <a:latin typeface="+mn-lt"/>
                                    <a:cs typeface="+mn-cs"/>
                                  </a:rPr>
                                  <m:t>1</m:t>
                                </m:r>
                              </m:e>
                            </m:d>
                          </m:sup>
                        </m:sSubSup>
                      </m:e>
                    </m:d>
                  </m:oMath>
                </a14:m>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a:t>
                </a:r>
                <a:r>
                  <a:rPr lang="zh-CN" altLang="en-US" sz="2000" dirty="0">
                    <a:solidFill>
                      <a:srgbClr val="000000"/>
                    </a:solidFill>
                    <a:latin typeface="+mn-lt"/>
                    <a:cs typeface="+mn-cs"/>
                  </a:rPr>
                  <a:t> </a:t>
                </a:r>
                <a14:m>
                  <m:oMath xmlns:m="http://schemas.openxmlformats.org/officeDocument/2006/math">
                    <m:sSup>
                      <m:sSupPr>
                        <m:ctrlPr>
                          <a:rPr lang="en-US" altLang="zh-CN" sz="2000" i="1" smtClean="0">
                            <a:solidFill>
                              <a:srgbClr val="000000"/>
                            </a:solidFill>
                            <a:latin typeface="Cambria Math" panose="02040503050406030204" pitchFamily="18" charset="0"/>
                            <a:cs typeface="+mn-cs"/>
                          </a:rPr>
                        </m:ctrlPr>
                      </m:sSupPr>
                      <m:e>
                        <m:r>
                          <m:rPr>
                            <m:nor/>
                          </m:rPr>
                          <a:rPr lang="zh-CN" altLang="en-US" sz="2000" i="0">
                            <a:solidFill>
                              <a:srgbClr val="000000"/>
                            </a:solidFill>
                            <a:latin typeface="+mn-lt"/>
                          </a:rPr>
                          <m:t>I</m:t>
                        </m:r>
                        <m:d>
                          <m:dPr>
                            <m:ctrlPr>
                              <a:rPr lang="zh-CN" altLang="en-US" sz="2000" i="1">
                                <a:solidFill>
                                  <a:srgbClr val="000000"/>
                                </a:solidFill>
                                <a:latin typeface="Cambria Math" panose="02040503050406030204" pitchFamily="18" charset="0"/>
                              </a:rPr>
                            </m:ctrlPr>
                          </m:dPr>
                          <m:e>
                            <m:sSubSup>
                              <m:sSubSupPr>
                                <m:ctrlPr>
                                  <a:rPr lang="zh-CN" altLang="en-US" sz="2000" i="1" smtClean="0">
                                    <a:solidFill>
                                      <a:srgbClr val="000000"/>
                                    </a:solidFill>
                                    <a:latin typeface="Cambria Math" panose="02040503050406030204" pitchFamily="18" charset="0"/>
                                  </a:rPr>
                                </m:ctrlPr>
                              </m:sSubSupPr>
                              <m:e>
                                <m:r>
                                  <m:rPr>
                                    <m:nor/>
                                  </m:rPr>
                                  <a:rPr lang="zh-CN" altLang="en-US" sz="2000" i="0">
                                    <a:solidFill>
                                      <a:srgbClr val="000000"/>
                                    </a:solidFill>
                                    <a:latin typeface="+mn-lt"/>
                                  </a:rPr>
                                  <m:t>W</m:t>
                                </m:r>
                              </m:e>
                              <m:sub>
                                <m:r>
                                  <m:rPr>
                                    <m:nor/>
                                  </m:rPr>
                                  <a:rPr lang="zh-CN" altLang="en-US" sz="2000" i="0">
                                    <a:solidFill>
                                      <a:srgbClr val="000000"/>
                                    </a:solidFill>
                                    <a:latin typeface="+mn-lt"/>
                                  </a:rPr>
                                  <m:t>N</m:t>
                                </m:r>
                                <m:r>
                                  <m:rPr>
                                    <m:nor/>
                                  </m:rPr>
                                  <a:rPr lang="en-US" altLang="zh-CN" sz="2000" i="0">
                                    <a:solidFill>
                                      <a:srgbClr val="000000"/>
                                    </a:solidFill>
                                    <a:latin typeface="+mn-lt"/>
                                  </a:rPr>
                                  <m:t>/</m:t>
                                </m:r>
                                <m:r>
                                  <m:rPr>
                                    <m:nor/>
                                  </m:rPr>
                                  <a:rPr lang="en-US" altLang="zh-CN" sz="2000" i="0">
                                    <a:solidFill>
                                      <a:srgbClr val="000000"/>
                                    </a:solidFill>
                                    <a:latin typeface="+mn-lt"/>
                                  </a:rPr>
                                  <m:t>2</m:t>
                                </m:r>
                              </m:sub>
                              <m:sup>
                                <m:d>
                                  <m:dPr>
                                    <m:ctrlPr>
                                      <a:rPr lang="zh-CN" altLang="en-US" sz="2000" i="1">
                                        <a:solidFill>
                                          <a:srgbClr val="000000"/>
                                        </a:solidFill>
                                        <a:latin typeface="Cambria Math" panose="02040503050406030204" pitchFamily="18" charset="0"/>
                                      </a:rPr>
                                    </m:ctrlPr>
                                  </m:dPr>
                                  <m:e>
                                    <m:r>
                                      <m:rPr>
                                        <m:nor/>
                                      </m:rPr>
                                      <a:rPr lang="zh-CN" altLang="en-US" sz="2000" i="0">
                                        <a:solidFill>
                                          <a:srgbClr val="000000"/>
                                        </a:solidFill>
                                        <a:latin typeface="+mn-lt"/>
                                      </a:rPr>
                                      <m:t>i</m:t>
                                    </m:r>
                                  </m:e>
                                </m:d>
                              </m:sup>
                            </m:sSubSup>
                          </m:e>
                        </m:d>
                      </m:e>
                      <m:sup>
                        <m:r>
                          <m:rPr>
                            <m:nor/>
                          </m:rPr>
                          <a:rPr lang="en-US" altLang="zh-CN" sz="2000" b="0" i="0" smtClean="0">
                            <a:solidFill>
                              <a:srgbClr val="000000"/>
                            </a:solidFill>
                            <a:latin typeface="+mn-lt"/>
                            <a:cs typeface="+mn-cs"/>
                          </a:rPr>
                          <m:t>2</m:t>
                        </m:r>
                      </m:sup>
                    </m:sSup>
                  </m:oMath>
                </a14:m>
                <a:endPar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endParaRPr>
              </a:p>
              <a:p>
                <a:pPr lvl="0" algn="ctr">
                  <a:lnSpc>
                    <a:spcPct val="150000"/>
                  </a:lnSpc>
                  <a:spcBef>
                    <a:spcPts val="0"/>
                  </a:spcBef>
                  <a:spcAft>
                    <a:spcPts val="0"/>
                  </a:spcAft>
                  <a:defRPr/>
                </a:pPr>
                <a14:m>
                  <m:oMath xmlns:m="http://schemas.openxmlformats.org/officeDocument/2006/math">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I</m:t>
                    </m:r>
                    <m:d>
                      <m:d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sSubSup>
                          <m:sSubSup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SupPr>
                          <m:e>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W</m:t>
                            </m:r>
                          </m:e>
                          <m:sub>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N</m:t>
                            </m:r>
                          </m:sub>
                          <m:sup>
                            <m:d>
                              <m:d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2</m:t>
                                </m:r>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i</m:t>
                                </m:r>
                              </m:e>
                            </m:d>
                          </m:sup>
                        </m:sSubSup>
                      </m:e>
                    </m:d>
                  </m:oMath>
                </a14:m>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=2</a:t>
                </a:r>
                <a14:m>
                  <m:oMath xmlns:m="http://schemas.openxmlformats.org/officeDocument/2006/math">
                    <m:r>
                      <m:rPr>
                        <m:nor/>
                      </m:rPr>
                      <a:rPr lang="zh-CN" altLang="en-US" sz="2000" i="0">
                        <a:solidFill>
                          <a:srgbClr val="000000"/>
                        </a:solidFill>
                        <a:latin typeface="+mn-lt"/>
                        <a:cs typeface="+mn-cs"/>
                      </a:rPr>
                      <m:t>I</m:t>
                    </m:r>
                    <m:d>
                      <m:dPr>
                        <m:ctrlPr>
                          <a:rPr lang="zh-CN" altLang="en-US" sz="2000" i="1">
                            <a:solidFill>
                              <a:srgbClr val="000000"/>
                            </a:solidFill>
                            <a:latin typeface="Cambria Math" panose="02040503050406030204" pitchFamily="18" charset="0"/>
                            <a:cs typeface="+mn-cs"/>
                          </a:rPr>
                        </m:ctrlPr>
                      </m:dPr>
                      <m:e>
                        <m:sSubSup>
                          <m:sSubSupPr>
                            <m:ctrlPr>
                              <a:rPr lang="zh-CN" altLang="en-US" sz="2000" i="1">
                                <a:solidFill>
                                  <a:srgbClr val="000000"/>
                                </a:solidFill>
                                <a:latin typeface="Cambria Math" panose="02040503050406030204" pitchFamily="18" charset="0"/>
                                <a:cs typeface="+mn-cs"/>
                              </a:rPr>
                            </m:ctrlPr>
                          </m:sSubSupPr>
                          <m:e>
                            <m:r>
                              <m:rPr>
                                <m:nor/>
                              </m:rPr>
                              <a:rPr lang="zh-CN" altLang="en-US" sz="2000" i="0">
                                <a:solidFill>
                                  <a:srgbClr val="000000"/>
                                </a:solidFill>
                                <a:latin typeface="+mn-lt"/>
                                <a:cs typeface="+mn-cs"/>
                              </a:rPr>
                              <m:t>W</m:t>
                            </m:r>
                          </m:e>
                          <m:sub>
                            <m:r>
                              <m:rPr>
                                <m:nor/>
                              </m:rPr>
                              <a:rPr lang="zh-CN" altLang="en-US" sz="2000" i="0">
                                <a:solidFill>
                                  <a:srgbClr val="000000"/>
                                </a:solidFill>
                                <a:latin typeface="+mn-lt"/>
                                <a:cs typeface="+mn-cs"/>
                              </a:rPr>
                              <m:t>N</m:t>
                            </m:r>
                            <m:r>
                              <m:rPr>
                                <m:nor/>
                              </m:rPr>
                              <a:rPr lang="en-US" altLang="zh-CN" sz="2000" b="0" i="0" smtClean="0">
                                <a:solidFill>
                                  <a:srgbClr val="000000"/>
                                </a:solidFill>
                                <a:latin typeface="+mn-lt"/>
                                <a:cs typeface="+mn-cs"/>
                              </a:rPr>
                              <m:t>/</m:t>
                            </m:r>
                            <m:r>
                              <m:rPr>
                                <m:nor/>
                              </m:rPr>
                              <a:rPr lang="en-US" altLang="zh-CN" sz="2000" b="0" i="0" smtClean="0">
                                <a:solidFill>
                                  <a:srgbClr val="000000"/>
                                </a:solidFill>
                                <a:latin typeface="+mn-lt"/>
                                <a:cs typeface="+mn-cs"/>
                              </a:rPr>
                              <m:t>2</m:t>
                            </m:r>
                          </m:sub>
                          <m:sup>
                            <m:d>
                              <m:dPr>
                                <m:ctrlPr>
                                  <a:rPr lang="zh-CN" altLang="en-US" sz="2000" i="1">
                                    <a:solidFill>
                                      <a:srgbClr val="000000"/>
                                    </a:solidFill>
                                    <a:latin typeface="Cambria Math" panose="02040503050406030204" pitchFamily="18" charset="0"/>
                                    <a:cs typeface="+mn-cs"/>
                                  </a:rPr>
                                </m:ctrlPr>
                              </m:dPr>
                              <m:e>
                                <m:r>
                                  <m:rPr>
                                    <m:nor/>
                                  </m:rPr>
                                  <a:rPr lang="en-US" altLang="zh-CN" sz="2000" i="0">
                                    <a:solidFill>
                                      <a:srgbClr val="000000"/>
                                    </a:solidFill>
                                    <a:latin typeface="+mn-lt"/>
                                    <a:cs typeface="+mn-cs"/>
                                  </a:rPr>
                                  <m:t>2</m:t>
                                </m:r>
                                <m:r>
                                  <m:rPr>
                                    <m:nor/>
                                  </m:rPr>
                                  <a:rPr lang="zh-CN" altLang="en-US" sz="2000" i="0">
                                    <a:solidFill>
                                      <a:srgbClr val="000000"/>
                                    </a:solidFill>
                                    <a:latin typeface="+mn-lt"/>
                                    <a:cs typeface="+mn-cs"/>
                                  </a:rPr>
                                  <m:t>i</m:t>
                                </m:r>
                              </m:e>
                            </m:d>
                          </m:sup>
                        </m:sSubSup>
                      </m:e>
                    </m:d>
                  </m:oMath>
                </a14:m>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a:t>
                </a:r>
                <a14:m>
                  <m:oMath xmlns:m="http://schemas.openxmlformats.org/officeDocument/2006/math">
                    <m:sSup>
                      <m:sSupPr>
                        <m:ctrlPr>
                          <a:rPr lang="en-US" altLang="zh-CN" sz="2000" i="1">
                            <a:solidFill>
                              <a:srgbClr val="000000"/>
                            </a:solidFill>
                            <a:latin typeface="Cambria Math" panose="02040503050406030204" pitchFamily="18" charset="0"/>
                            <a:cs typeface="+mn-cs"/>
                          </a:rPr>
                        </m:ctrlPr>
                      </m:sSupPr>
                      <m:e>
                        <m:r>
                          <m:rPr>
                            <m:nor/>
                          </m:rPr>
                          <a:rPr lang="zh-CN" altLang="en-US" sz="2000" i="0">
                            <a:solidFill>
                              <a:srgbClr val="000000"/>
                            </a:solidFill>
                            <a:latin typeface="+mn-lt"/>
                          </a:rPr>
                          <m:t>I</m:t>
                        </m:r>
                        <m:d>
                          <m:dPr>
                            <m:ctrlPr>
                              <a:rPr lang="zh-CN" altLang="en-US" sz="2000" i="1">
                                <a:solidFill>
                                  <a:srgbClr val="000000"/>
                                </a:solidFill>
                                <a:latin typeface="Cambria Math" panose="02040503050406030204" pitchFamily="18" charset="0"/>
                              </a:rPr>
                            </m:ctrlPr>
                          </m:dPr>
                          <m:e>
                            <m:sSubSup>
                              <m:sSubSupPr>
                                <m:ctrlPr>
                                  <a:rPr lang="zh-CN" altLang="en-US" sz="2000" i="1">
                                    <a:solidFill>
                                      <a:srgbClr val="000000"/>
                                    </a:solidFill>
                                    <a:latin typeface="Cambria Math" panose="02040503050406030204" pitchFamily="18" charset="0"/>
                                  </a:rPr>
                                </m:ctrlPr>
                              </m:sSubSupPr>
                              <m:e>
                                <m:r>
                                  <m:rPr>
                                    <m:nor/>
                                  </m:rPr>
                                  <a:rPr lang="zh-CN" altLang="en-US" sz="2000" i="0">
                                    <a:solidFill>
                                      <a:srgbClr val="000000"/>
                                    </a:solidFill>
                                    <a:latin typeface="+mn-lt"/>
                                  </a:rPr>
                                  <m:t>W</m:t>
                                </m:r>
                              </m:e>
                              <m:sub>
                                <m:r>
                                  <m:rPr>
                                    <m:nor/>
                                  </m:rPr>
                                  <a:rPr lang="zh-CN" altLang="en-US" sz="2000" i="0">
                                    <a:solidFill>
                                      <a:srgbClr val="000000"/>
                                    </a:solidFill>
                                    <a:latin typeface="+mn-lt"/>
                                  </a:rPr>
                                  <m:t>N</m:t>
                                </m:r>
                                <m:r>
                                  <m:rPr>
                                    <m:nor/>
                                  </m:rPr>
                                  <a:rPr lang="en-US" altLang="zh-CN" sz="2000" i="0">
                                    <a:solidFill>
                                      <a:srgbClr val="000000"/>
                                    </a:solidFill>
                                    <a:latin typeface="+mn-lt"/>
                                  </a:rPr>
                                  <m:t>/</m:t>
                                </m:r>
                                <m:r>
                                  <m:rPr>
                                    <m:nor/>
                                  </m:rPr>
                                  <a:rPr lang="en-US" altLang="zh-CN" sz="2000" i="0">
                                    <a:solidFill>
                                      <a:srgbClr val="000000"/>
                                    </a:solidFill>
                                    <a:latin typeface="+mn-lt"/>
                                  </a:rPr>
                                  <m:t>2</m:t>
                                </m:r>
                              </m:sub>
                              <m:sup>
                                <m:d>
                                  <m:dPr>
                                    <m:ctrlPr>
                                      <a:rPr lang="zh-CN" altLang="en-US" sz="2000" i="1">
                                        <a:solidFill>
                                          <a:srgbClr val="000000"/>
                                        </a:solidFill>
                                        <a:latin typeface="Cambria Math" panose="02040503050406030204" pitchFamily="18" charset="0"/>
                                      </a:rPr>
                                    </m:ctrlPr>
                                  </m:dPr>
                                  <m:e>
                                    <m:r>
                                      <m:rPr>
                                        <m:nor/>
                                      </m:rPr>
                                      <a:rPr lang="zh-CN" altLang="en-US" sz="2000" i="0">
                                        <a:solidFill>
                                          <a:srgbClr val="000000"/>
                                        </a:solidFill>
                                        <a:latin typeface="+mn-lt"/>
                                      </a:rPr>
                                      <m:t>i</m:t>
                                    </m:r>
                                  </m:e>
                                </m:d>
                              </m:sup>
                            </m:sSubSup>
                          </m:e>
                        </m:d>
                      </m:e>
                      <m:sup>
                        <m:r>
                          <m:rPr>
                            <m:nor/>
                          </m:rPr>
                          <a:rPr lang="en-US" altLang="zh-CN" sz="2000" i="0">
                            <a:solidFill>
                              <a:srgbClr val="000000"/>
                            </a:solidFill>
                            <a:latin typeface="+mn-lt"/>
                            <a:cs typeface="+mn-cs"/>
                          </a:rPr>
                          <m:t>2</m:t>
                        </m:r>
                      </m:sup>
                    </m:sSup>
                  </m:oMath>
                </a14:m>
                <a:endPar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endParaRPr>
              </a:p>
              <a:p>
                <a:pPr lvl="0">
                  <a:lnSpc>
                    <a:spcPct val="150000"/>
                  </a:lnSpc>
                  <a:spcBef>
                    <a:spcPts val="0"/>
                  </a:spcBef>
                  <a:spcAft>
                    <a:spcPts val="0"/>
                  </a:spcAft>
                  <a:defRPr/>
                </a:pP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        其中</a:t>
                </a:r>
                <a14:m>
                  <m:oMath xmlns:m="http://schemas.openxmlformats.org/officeDocument/2006/math">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I</m:t>
                    </m:r>
                    <m:d>
                      <m:d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sSubSup>
                          <m:sSubSup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SupPr>
                          <m:e>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W</m:t>
                            </m:r>
                          </m:e>
                          <m:sub>
                            <m:r>
                              <m:rPr>
                                <m:nor/>
                              </m:rPr>
                              <a:rPr kumimoji="0" lang="en-US" altLang="zh-CN" sz="2000" b="0" i="0" u="none" strike="noStrike" kern="1200" cap="none" spc="0" normalizeH="0" baseline="0" noProof="0" smtClean="0">
                                <a:ln>
                                  <a:noFill/>
                                </a:ln>
                                <a:solidFill>
                                  <a:srgbClr val="000000"/>
                                </a:solidFill>
                                <a:effectLst/>
                                <a:uLnTx/>
                                <a:uFillTx/>
                                <a:latin typeface="Cambria Math" panose="02040503050406030204" pitchFamily="18" charset="0"/>
                                <a:cs typeface="+mn-cs"/>
                              </a:rPr>
                              <m:t>1</m:t>
                            </m:r>
                          </m:sub>
                          <m:sup>
                            <m:d>
                              <m:d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m:rPr>
                                    <m:nor/>
                                  </m:rPr>
                                  <a:rPr kumimoji="0" lang="en-US" altLang="zh-CN" sz="2000" b="0" i="0" u="none" strike="noStrike" kern="1200" cap="none" spc="0" normalizeH="0" baseline="0" noProof="0" smtClean="0">
                                    <a:ln>
                                      <a:noFill/>
                                    </a:ln>
                                    <a:solidFill>
                                      <a:srgbClr val="000000"/>
                                    </a:solidFill>
                                    <a:effectLst/>
                                    <a:uLnTx/>
                                    <a:uFillTx/>
                                    <a:latin typeface="Cambria Math" panose="02040503050406030204" pitchFamily="18" charset="0"/>
                                    <a:cs typeface="+mn-cs"/>
                                  </a:rPr>
                                  <m:t>1</m:t>
                                </m:r>
                              </m:e>
                            </m:d>
                          </m:sup>
                        </m:sSubSup>
                      </m:e>
                    </m:d>
                  </m:oMath>
                </a14:m>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=1-</a:t>
                </a:r>
                <a14:m>
                  <m:oMath xmlns:m="http://schemas.openxmlformats.org/officeDocument/2006/math">
                    <m: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黑体" panose="02010609060101010101" pitchFamily="49" charset="-122"/>
                        <a:cs typeface="+mn-cs"/>
                      </a:rPr>
                      <m:t>𝜀</m:t>
                    </m:r>
                  </m:oMath>
                </a14:m>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，删除概率</a:t>
                </a:r>
                <a14:m>
                  <m:oMath xmlns:m="http://schemas.openxmlformats.org/officeDocument/2006/math">
                    <m:r>
                      <a:rPr lang="zh-CN" altLang="en-US" sz="2000" i="1">
                        <a:solidFill>
                          <a:srgbClr val="000000"/>
                        </a:solidFill>
                        <a:latin typeface="Cambria Math" panose="02040503050406030204" pitchFamily="18" charset="0"/>
                        <a:ea typeface="黑体" panose="02010609060101010101" pitchFamily="49" charset="-122"/>
                      </a:rPr>
                      <m:t>𝜀</m:t>
                    </m:r>
                  </m:oMath>
                </a14:m>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=0.5</a:t>
                </a:r>
                <a:r>
                  <a:rPr kumimoji="0" lang="en-US" altLang="zh-CN" sz="2000" b="0" i="0" u="none" strike="noStrike" kern="1200" cap="none" spc="0" normalizeH="0" noProof="0" dirty="0">
                    <a:ln>
                      <a:noFill/>
                    </a:ln>
                    <a:solidFill>
                      <a:srgbClr val="000000"/>
                    </a:solidFill>
                    <a:effectLst/>
                    <a:uLnTx/>
                    <a:uFillTx/>
                    <a:latin typeface="+mn-lt"/>
                    <a:ea typeface="黑体" panose="02010609060101010101" pitchFamily="49" charset="-122"/>
                    <a:cs typeface="+mn-cs"/>
                  </a:rPr>
                  <a:t> </a:t>
                </a:r>
                <a:r>
                  <a:rPr kumimoji="0" lang="zh-CN" altLang="en-US" sz="2000" b="0" i="0" u="none" strike="noStrike" kern="1200" cap="none" spc="0" normalizeH="0" noProof="0" dirty="0">
                    <a:ln>
                      <a:noFill/>
                    </a:ln>
                    <a:solidFill>
                      <a:srgbClr val="000000"/>
                    </a:solidFill>
                    <a:effectLst/>
                    <a:uLnTx/>
                    <a:uFillTx/>
                    <a:latin typeface="+mn-lt"/>
                    <a:ea typeface="黑体" panose="02010609060101010101" pitchFamily="49" charset="-122"/>
                    <a:cs typeface="+mn-cs"/>
                  </a:rPr>
                  <a:t>。</a:t>
                </a:r>
                <a:endParaRPr kumimoji="0" lang="en-US" altLang="zh-CN" sz="2000" b="0" i="0" u="none" strike="noStrike" kern="1200" cap="none" spc="0" normalizeH="0" noProof="0" dirty="0">
                  <a:ln>
                    <a:noFill/>
                  </a:ln>
                  <a:solidFill>
                    <a:srgbClr val="000000"/>
                  </a:solidFill>
                  <a:effectLst/>
                  <a:uLnTx/>
                  <a:uFillTx/>
                  <a:latin typeface="+mn-lt"/>
                  <a:ea typeface="黑体" panose="02010609060101010101" pitchFamily="49" charset="-122"/>
                  <a:cs typeface="+mn-cs"/>
                </a:endParaRPr>
              </a:p>
            </p:txBody>
          </p:sp>
        </mc:Choice>
        <mc:Fallback>
          <p:sp>
            <p:nvSpPr>
              <p:cNvPr id="9" name="文本框 8"/>
              <p:cNvSpPr txBox="1">
                <a:spLocks noRot="1" noChangeAspect="1" noMove="1" noResize="1" noEditPoints="1" noAdjustHandles="1" noChangeArrowheads="1" noChangeShapeType="1" noTextEdit="1"/>
              </p:cNvSpPr>
              <p:nvPr/>
            </p:nvSpPr>
            <p:spPr>
              <a:xfrm>
                <a:off x="247877" y="1219258"/>
                <a:ext cx="8705622" cy="4135491"/>
              </a:xfrm>
              <a:prstGeom prst="rect">
                <a:avLst/>
              </a:prstGeom>
              <a:blipFill rotWithShape="1">
                <a:blip r:embed="rId1"/>
                <a:stretch>
                  <a:fillRect l="-3" t="-1" r="7" b="10"/>
                </a:stretch>
              </a:blipFill>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019762" y="154525"/>
            <a:ext cx="2933737"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mc:AlternateContent xmlns:mc="http://schemas.openxmlformats.org/markup-compatibility/2006">
        <mc:Choice xmlns:a14="http://schemas.microsoft.com/office/drawing/2010/main" Requires="a14">
          <p:sp>
            <p:nvSpPr>
              <p:cNvPr id="9" name="文本框 8"/>
              <p:cNvSpPr txBox="1"/>
              <p:nvPr/>
            </p:nvSpPr>
            <p:spPr>
              <a:xfrm>
                <a:off x="442151" y="832767"/>
                <a:ext cx="8259696" cy="2072940"/>
              </a:xfrm>
              <a:prstGeom prst="rect">
                <a:avLst/>
              </a:prstGeom>
              <a:noFill/>
            </p:spPr>
            <p:txBody>
              <a:bodyPr wrap="square">
                <a:spAutoFit/>
              </a:bodyPr>
              <a:lstStyle/>
              <a:p>
                <a:pPr lvl="0">
                  <a:lnSpc>
                    <a:spcPts val="4000"/>
                  </a:lnSpc>
                  <a:spcBef>
                    <a:spcPts val="0"/>
                  </a:spcBef>
                  <a:spcAft>
                    <a:spcPts val="0"/>
                  </a:spcAft>
                  <a:defRPr/>
                </a:pP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       信道极化的统计图显示了</a:t>
                </a:r>
                <a14:m>
                  <m:oMath xmlns:m="http://schemas.openxmlformats.org/officeDocument/2006/math">
                    <m:r>
                      <m:rPr>
                        <m:nor/>
                      </m:rPr>
                      <a:rPr kumimoji="0" lang="zh-CN" altLang="en-US" sz="2000" b="0" i="0" u="none" strike="noStrike" kern="1200" cap="none" spc="0" normalizeH="0" baseline="0" noProof="0" smtClean="0">
                        <a:ln>
                          <a:noFill/>
                        </a:ln>
                        <a:solidFill>
                          <a:srgbClr val="000000"/>
                        </a:solidFill>
                        <a:effectLst/>
                        <a:uLnTx/>
                        <a:uFillTx/>
                        <a:latin typeface="+mn-lt"/>
                        <a:cs typeface="+mn-cs"/>
                      </a:rPr>
                      <m:t>I</m:t>
                    </m:r>
                    <m:d>
                      <m:d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sSup>
                          <m:sSup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pPr>
                          <m:e>
                            <m:r>
                              <m:rPr>
                                <m:nor/>
                              </m:rPr>
                              <a:rPr kumimoji="0" lang="en-US" altLang="zh-CN" sz="2000" b="0" i="0" u="none" strike="noStrike" kern="1200" cap="none" spc="0" normalizeH="0" baseline="0" noProof="0" smtClean="0">
                                <a:ln>
                                  <a:noFill/>
                                </a:ln>
                                <a:solidFill>
                                  <a:srgbClr val="000000"/>
                                </a:solidFill>
                                <a:effectLst/>
                                <a:uLnTx/>
                                <a:uFillTx/>
                                <a:latin typeface="+mn-lt"/>
                                <a:cs typeface="+mn-cs"/>
                              </a:rPr>
                              <m:t>W</m:t>
                            </m:r>
                          </m:e>
                          <m:sup>
                            <m:d>
                              <m:d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m:rPr>
                                    <m:sty m:val="p"/>
                                  </m:rPr>
                                  <a:rPr lang="en-US" altLang="zh-CN" sz="2000" i="1">
                                    <a:solidFill>
                                      <a:srgbClr val="000000"/>
                                    </a:solidFill>
                                    <a:latin typeface="Cambria Math" panose="02040503050406030204" pitchFamily="18" charset="0"/>
                                    <a:cs typeface="+mn-cs"/>
                                  </a:rPr>
                                  <m:t>i</m:t>
                                </m:r>
                              </m:e>
                            </m:d>
                          </m:sup>
                        </m:sSup>
                      </m:e>
                    </m:d>
                  </m:oMath>
                </a14:m>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对于小的指数 </a:t>
                </a:r>
                <a:r>
                  <a:rPr kumimoji="0" lang="en-US" altLang="zh-CN" sz="2000" b="0" i="0" u="none" strike="noStrike" kern="1200" cap="none" spc="0" normalizeH="0" baseline="0" noProof="0" dirty="0" err="1">
                    <a:ln>
                      <a:noFill/>
                    </a:ln>
                    <a:solidFill>
                      <a:srgbClr val="000000"/>
                    </a:solidFill>
                    <a:effectLst/>
                    <a:uLnTx/>
                    <a:uFillTx/>
                    <a:latin typeface="+mn-lt"/>
                    <a:ea typeface="黑体" panose="02010609060101010101" pitchFamily="49" charset="-122"/>
                    <a:cs typeface="+mn-cs"/>
                  </a:rPr>
                  <a:t>i</a:t>
                </a:r>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 </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趋向接近于“</a:t>
                </a:r>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0</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”，对于大的指数 </a:t>
                </a:r>
                <a:r>
                  <a:rPr lang="en-US" altLang="zh-CN" sz="2000" dirty="0" err="1">
                    <a:solidFill>
                      <a:srgbClr val="000000"/>
                    </a:solidFill>
                    <a:latin typeface="+mn-lt"/>
                    <a:ea typeface="黑体" panose="02010609060101010101" pitchFamily="49" charset="-122"/>
                    <a:cs typeface="+mn-cs"/>
                  </a:rPr>
                  <a:t>i</a:t>
                </a:r>
                <a:r>
                  <a:rPr lang="en-US" altLang="zh-CN" sz="2000" dirty="0">
                    <a:solidFill>
                      <a:srgbClr val="000000"/>
                    </a:solidFill>
                    <a:latin typeface="+mn-lt"/>
                    <a:ea typeface="黑体" panose="02010609060101010101" pitchFamily="49" charset="-122"/>
                    <a:cs typeface="+mn-cs"/>
                  </a:rPr>
                  <a:t> </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趋向接近于“</a:t>
                </a:r>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1</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”。然而，对于中间范围的指数 </a:t>
                </a:r>
                <a:r>
                  <a:rPr kumimoji="0" lang="en-US" altLang="zh-CN" sz="2000" b="0" i="0" u="none" strike="noStrike" kern="1200" cap="none" spc="0" normalizeH="0" baseline="0" noProof="0" dirty="0" err="1">
                    <a:ln>
                      <a:noFill/>
                    </a:ln>
                    <a:solidFill>
                      <a:srgbClr val="000000"/>
                    </a:solidFill>
                    <a:effectLst/>
                    <a:uLnTx/>
                    <a:uFillTx/>
                    <a:latin typeface="+mn-lt"/>
                    <a:ea typeface="黑体" panose="02010609060101010101" pitchFamily="49" charset="-122"/>
                    <a:cs typeface="+mn-cs"/>
                  </a:rPr>
                  <a:t>i</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a:t>
                </a:r>
                <a:r>
                  <a:rPr kumimoji="0" lang="zh-CN" altLang="en-US" sz="2000" b="0" u="none" strike="noStrike" kern="1200" cap="none" spc="0" normalizeH="0" baseline="0" noProof="0" dirty="0">
                    <a:ln>
                      <a:noFill/>
                    </a:ln>
                    <a:solidFill>
                      <a:srgbClr val="000000"/>
                    </a:solidFill>
                    <a:effectLst/>
                    <a:uLnTx/>
                    <a:uFillTx/>
                    <a:cs typeface="+mn-cs"/>
                  </a:rPr>
                  <a:t> </a:t>
                </a:r>
                <a14:m>
                  <m:oMath xmlns:m="http://schemas.openxmlformats.org/officeDocument/2006/math">
                    <m:r>
                      <m:rPr>
                        <m:nor/>
                      </m:rPr>
                      <a:rPr kumimoji="0" lang="zh-CN" altLang="en-US" sz="2000" b="0" i="0" u="none" strike="noStrike" kern="1200" cap="none" spc="0" normalizeH="0" baseline="0" noProof="0" smtClean="0">
                        <a:ln>
                          <a:noFill/>
                        </a:ln>
                        <a:solidFill>
                          <a:srgbClr val="000000"/>
                        </a:solidFill>
                        <a:effectLst/>
                        <a:uLnTx/>
                        <a:uFillTx/>
                        <a:latin typeface="+mj-lt"/>
                        <a:cs typeface="+mn-cs"/>
                      </a:rPr>
                      <m:t>I</m:t>
                    </m:r>
                    <m:d>
                      <m:d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sSubSup>
                          <m:sSubSup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SupPr>
                          <m:e>
                            <m:r>
                              <m:rPr>
                                <m:nor/>
                              </m:rPr>
                              <a:rPr kumimoji="0" lang="zh-CN" altLang="en-US" sz="2000" b="0" i="0" u="none" strike="noStrike" kern="1200" cap="none" spc="0" normalizeH="0" baseline="0" noProof="0" smtClean="0">
                                <a:ln>
                                  <a:noFill/>
                                </a:ln>
                                <a:solidFill>
                                  <a:srgbClr val="000000"/>
                                </a:solidFill>
                                <a:effectLst/>
                                <a:uLnTx/>
                                <a:uFillTx/>
                                <a:latin typeface="+mj-lt"/>
                                <a:cs typeface="+mn-cs"/>
                              </a:rPr>
                              <m:t>W</m:t>
                            </m:r>
                          </m:e>
                          <m:sub>
                            <m:r>
                              <m:rPr>
                                <m:nor/>
                              </m:rPr>
                              <a:rPr kumimoji="0" lang="zh-CN" altLang="en-US" sz="2000" b="0" i="0" u="none" strike="noStrike" kern="1200" cap="none" spc="0" normalizeH="0" baseline="0" noProof="0" smtClean="0">
                                <a:ln>
                                  <a:noFill/>
                                </a:ln>
                                <a:solidFill>
                                  <a:srgbClr val="000000"/>
                                </a:solidFill>
                                <a:effectLst/>
                                <a:uLnTx/>
                                <a:uFillTx/>
                                <a:latin typeface="+mj-lt"/>
                                <a:cs typeface="+mn-cs"/>
                              </a:rPr>
                              <m:t>N</m:t>
                            </m:r>
                          </m:sub>
                          <m:sup>
                            <m:d>
                              <m:dPr>
                                <m:ctrlP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m:rPr>
                                    <m:nor/>
                                  </m:rPr>
                                  <a:rPr kumimoji="0" lang="zh-CN" altLang="en-US" sz="2000" b="0" i="0" u="none" strike="noStrike" kern="1200" cap="none" spc="0" normalizeH="0" baseline="0" noProof="0" smtClean="0">
                                    <a:ln>
                                      <a:noFill/>
                                    </a:ln>
                                    <a:solidFill>
                                      <a:srgbClr val="000000"/>
                                    </a:solidFill>
                                    <a:effectLst/>
                                    <a:uLnTx/>
                                    <a:uFillTx/>
                                    <a:latin typeface="+mj-lt"/>
                                    <a:cs typeface="+mn-cs"/>
                                  </a:rPr>
                                  <m:t>i</m:t>
                                </m:r>
                              </m:e>
                            </m:d>
                          </m:sup>
                        </m:sSubSup>
                      </m:e>
                    </m:d>
                  </m:oMath>
                </a14:m>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显示了不规则的特性。图中的所有点是呈现中心对称的，这也是极化码的信道极化现象所具有的特性。</a:t>
                </a:r>
                <a:endPar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endParaRPr>
              </a:p>
            </p:txBody>
          </p:sp>
        </mc:Choice>
        <mc:Fallback>
          <p:sp>
            <p:nvSpPr>
              <p:cNvPr id="9" name="文本框 8"/>
              <p:cNvSpPr txBox="1">
                <a:spLocks noRot="1" noChangeAspect="1" noMove="1" noResize="1" noEditPoints="1" noAdjustHandles="1" noChangeArrowheads="1" noChangeShapeType="1" noTextEdit="1"/>
              </p:cNvSpPr>
              <p:nvPr/>
            </p:nvSpPr>
            <p:spPr>
              <a:xfrm>
                <a:off x="442151" y="832767"/>
                <a:ext cx="8259696" cy="2072940"/>
              </a:xfrm>
              <a:prstGeom prst="rect">
                <a:avLst/>
              </a:prstGeom>
              <a:blipFill rotWithShape="1">
                <a:blip r:embed="rId1"/>
                <a:stretch>
                  <a:fillRect l="-2" t="-14" r="5" b="-217"/>
                </a:stretch>
              </a:blipFill>
            </p:spPr>
            <p:txBody>
              <a:bodyPr/>
              <a:lstStyle/>
              <a:p>
                <a:r>
                  <a:rPr lang="zh-CN" altLang="en-US">
                    <a:noFill/>
                  </a:rPr>
                  <a:t> </a:t>
                </a:r>
              </a:p>
            </p:txBody>
          </p:sp>
        </mc:Fallback>
      </mc:AlternateContent>
      <p:pic>
        <p:nvPicPr>
          <p:cNvPr id="5" name="图片 4"/>
          <p:cNvPicPr>
            <a:picLocks noChangeAspect="1"/>
          </p:cNvPicPr>
          <p:nvPr/>
        </p:nvPicPr>
        <p:blipFill>
          <a:blip r:embed="rId2"/>
          <a:stretch>
            <a:fillRect/>
          </a:stretch>
        </p:blipFill>
        <p:spPr>
          <a:xfrm>
            <a:off x="1443375" y="2928537"/>
            <a:ext cx="4576387" cy="3657504"/>
          </a:xfrm>
          <a:prstGeom prst="rect">
            <a:avLst/>
          </a:prstGeom>
        </p:spPr>
      </p:pic>
      <p:sp>
        <p:nvSpPr>
          <p:cNvPr id="6" name="文本框 5"/>
          <p:cNvSpPr txBox="1"/>
          <p:nvPr/>
        </p:nvSpPr>
        <p:spPr>
          <a:xfrm>
            <a:off x="5981696" y="4114782"/>
            <a:ext cx="2971722" cy="369332"/>
          </a:xfrm>
          <a:prstGeom prst="rect">
            <a:avLst/>
          </a:prstGeom>
          <a:noFill/>
        </p:spPr>
        <p:txBody>
          <a:bodyPr wrap="square" rtlCol="0" anchor="t">
            <a:spAutoFit/>
          </a:bodyPr>
          <a:lstStyle/>
          <a:p>
            <a:r>
              <a:rPr lang="en-US" altLang="zh-CN" b="1" dirty="0">
                <a:solidFill>
                  <a:schemeClr val="accent2"/>
                </a:solidFill>
                <a:latin typeface="黑体" panose="02010609060101010101" pitchFamily="49" charset="-122"/>
                <a:ea typeface="黑体" panose="02010609060101010101" pitchFamily="49" charset="-122"/>
                <a:sym typeface="+mn-ea"/>
              </a:rPr>
              <a:t>Polar</a:t>
            </a:r>
            <a:r>
              <a:rPr lang="zh-CN" altLang="en-US" b="1" dirty="0">
                <a:solidFill>
                  <a:schemeClr val="accent2"/>
                </a:solidFill>
                <a:latin typeface="黑体" panose="02010609060101010101" pitchFamily="49" charset="-122"/>
                <a:ea typeface="黑体" panose="02010609060101010101" pitchFamily="49" charset="-122"/>
                <a:sym typeface="+mn-ea"/>
              </a:rPr>
              <a:t>码信道容量</a:t>
            </a:r>
            <a:r>
              <a:rPr lang="zh-CN" altLang="en-US" b="1" dirty="0">
                <a:solidFill>
                  <a:schemeClr val="accent2"/>
                </a:solidFill>
                <a:latin typeface="+mn-lt"/>
                <a:ea typeface="黑体" panose="02010609060101010101" pitchFamily="49" charset="-122"/>
                <a:sym typeface="+mn-ea"/>
              </a:rPr>
              <a:t>（</a:t>
            </a:r>
            <a:r>
              <a:rPr lang="en-US" altLang="zh-CN" b="1" dirty="0">
                <a:solidFill>
                  <a:schemeClr val="accent2"/>
                </a:solidFill>
                <a:latin typeface="+mn-lt"/>
                <a:ea typeface="黑体" panose="02010609060101010101" pitchFamily="49" charset="-122"/>
                <a:sym typeface="+mn-ea"/>
              </a:rPr>
              <a:t>N=32</a:t>
            </a:r>
            <a:r>
              <a:rPr lang="zh-CN" altLang="en-US" b="1" dirty="0">
                <a:solidFill>
                  <a:schemeClr val="accent2"/>
                </a:solidFill>
                <a:latin typeface="黑体" panose="02010609060101010101" pitchFamily="49" charset="-122"/>
                <a:ea typeface="黑体" panose="02010609060101010101" pitchFamily="49" charset="-122"/>
                <a:sym typeface="+mn-ea"/>
              </a:rPr>
              <a:t>）</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mc:AlternateContent xmlns:mc="http://schemas.openxmlformats.org/markup-compatibility/2006">
        <mc:Choice xmlns:a14="http://schemas.microsoft.com/office/drawing/2010/main" Requires="a14">
          <p:sp>
            <p:nvSpPr>
              <p:cNvPr id="7" name="文本框 6"/>
              <p:cNvSpPr txBox="1"/>
              <p:nvPr/>
            </p:nvSpPr>
            <p:spPr>
              <a:xfrm>
                <a:off x="5981720" y="4876762"/>
                <a:ext cx="3505108" cy="379656"/>
              </a:xfrm>
              <a:prstGeom prst="rect">
                <a:avLst/>
              </a:prstGeom>
              <a:noFill/>
            </p:spPr>
            <p:txBody>
              <a:bodyPr wrap="square">
                <a:spAutoFit/>
              </a:bodyPr>
              <a:lstStyle/>
              <a:p>
                <a:r>
                  <a:rPr lang="zh-CN" altLang="en-US" dirty="0">
                    <a:latin typeface="+mj-ea"/>
                    <a:ea typeface="+mj-ea"/>
                  </a:rPr>
                  <a:t>码长</a:t>
                </a:r>
                <a:r>
                  <a:rPr lang="en-US" altLang="zh-CN" dirty="0">
                    <a:latin typeface="+mn-lt"/>
                    <a:ea typeface="+mj-ea"/>
                  </a:rPr>
                  <a:t>N=</a:t>
                </a:r>
                <a14:m>
                  <m:oMath xmlns:m="http://schemas.openxmlformats.org/officeDocument/2006/math">
                    <m:sSup>
                      <m:sSupPr>
                        <m:ctrlPr>
                          <a:rPr lang="en-US" altLang="zh-CN" i="1" dirty="0" smtClean="0">
                            <a:solidFill>
                              <a:srgbClr val="836967"/>
                            </a:solidFill>
                            <a:latin typeface="Cambria Math" panose="02040503050406030204" pitchFamily="18" charset="0"/>
                            <a:ea typeface="+mj-ea"/>
                          </a:rPr>
                        </m:ctrlPr>
                      </m:sSupPr>
                      <m:e>
                        <m:r>
                          <a:rPr lang="en-US" altLang="zh-CN" i="1" dirty="0" smtClean="0">
                            <a:latin typeface="Cambria Math" panose="02040503050406030204" pitchFamily="18" charset="0"/>
                            <a:ea typeface="+mj-ea"/>
                          </a:rPr>
                          <m:t>2</m:t>
                        </m:r>
                      </m:e>
                      <m:sup>
                        <m:r>
                          <a:rPr lang="en-US" altLang="zh-CN" b="0" i="1" dirty="0" smtClean="0">
                            <a:latin typeface="Cambria Math" panose="02040503050406030204" pitchFamily="18" charset="0"/>
                            <a:ea typeface="+mj-ea"/>
                          </a:rPr>
                          <m:t>5</m:t>
                        </m:r>
                      </m:sup>
                    </m:sSup>
                  </m:oMath>
                </a14:m>
                <a:r>
                  <a:rPr lang="zh-CN" altLang="en-US" dirty="0">
                    <a:latin typeface="+mn-lt"/>
                    <a:ea typeface="+mj-ea"/>
                  </a:rPr>
                  <a:t>的信</a:t>
                </a:r>
                <a:r>
                  <a:rPr lang="zh-CN" altLang="en-US" dirty="0">
                    <a:latin typeface="+mj-ea"/>
                    <a:ea typeface="+mj-ea"/>
                  </a:rPr>
                  <a:t>道极化现象 </a:t>
                </a:r>
                <a:endParaRPr lang="zh-CN" altLang="en-US" dirty="0">
                  <a:latin typeface="+mj-ea"/>
                  <a:ea typeface="+mj-ea"/>
                </a:endParaRPr>
              </a:p>
            </p:txBody>
          </p:sp>
        </mc:Choice>
        <mc:Fallback>
          <p:sp>
            <p:nvSpPr>
              <p:cNvPr id="7" name="文本框 6"/>
              <p:cNvSpPr txBox="1">
                <a:spLocks noRot="1" noChangeAspect="1" noMove="1" noResize="1" noEditPoints="1" noAdjustHandles="1" noChangeArrowheads="1" noChangeShapeType="1" noTextEdit="1"/>
              </p:cNvSpPr>
              <p:nvPr/>
            </p:nvSpPr>
            <p:spPr>
              <a:xfrm>
                <a:off x="5981720" y="4876762"/>
                <a:ext cx="3505108" cy="379656"/>
              </a:xfrm>
              <a:prstGeom prst="rect">
                <a:avLst/>
              </a:prstGeom>
              <a:blipFill rotWithShape="1">
                <a:blip r:embed="rId3"/>
                <a:stretch>
                  <a:fillRect l="-1" t="-157" r="16" b="138"/>
                </a:stretch>
              </a:blipFill>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604295" y="146454"/>
            <a:ext cx="2438336"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p:sp>
        <p:nvSpPr>
          <p:cNvPr id="10" name="文本框 9"/>
          <p:cNvSpPr txBox="1"/>
          <p:nvPr/>
        </p:nvSpPr>
        <p:spPr>
          <a:xfrm>
            <a:off x="3189220" y="6024427"/>
            <a:ext cx="2971722" cy="369332"/>
          </a:xfrm>
          <a:prstGeom prst="rect">
            <a:avLst/>
          </a:prstGeom>
          <a:noFill/>
        </p:spPr>
        <p:txBody>
          <a:bodyPr wrap="square" rtlCol="0" anchor="t">
            <a:spAutoFit/>
          </a:bodyPr>
          <a:lstStyle/>
          <a:p>
            <a:r>
              <a:rPr lang="en-US" altLang="zh-CN" b="1" dirty="0">
                <a:solidFill>
                  <a:schemeClr val="accent2"/>
                </a:solidFill>
                <a:latin typeface="黑体" panose="02010609060101010101" pitchFamily="49" charset="-122"/>
                <a:ea typeface="黑体" panose="02010609060101010101" pitchFamily="49" charset="-122"/>
                <a:sym typeface="+mn-ea"/>
              </a:rPr>
              <a:t>Polar</a:t>
            </a:r>
            <a:r>
              <a:rPr lang="zh-CN" altLang="en-US" b="1" dirty="0">
                <a:solidFill>
                  <a:schemeClr val="accent2"/>
                </a:solidFill>
                <a:latin typeface="黑体" panose="02010609060101010101" pitchFamily="49" charset="-122"/>
                <a:ea typeface="黑体" panose="02010609060101010101" pitchFamily="49" charset="-122"/>
                <a:sym typeface="+mn-ea"/>
              </a:rPr>
              <a:t>码信道容</a:t>
            </a:r>
            <a:r>
              <a:rPr lang="zh-CN" altLang="en-US" b="1" dirty="0">
                <a:solidFill>
                  <a:schemeClr val="accent2"/>
                </a:solidFill>
                <a:latin typeface="+mn-lt"/>
                <a:ea typeface="黑体" panose="02010609060101010101" pitchFamily="49" charset="-122"/>
                <a:sym typeface="+mn-ea"/>
              </a:rPr>
              <a:t>量（</a:t>
            </a:r>
            <a:r>
              <a:rPr lang="en-US" altLang="zh-CN" b="1" dirty="0">
                <a:solidFill>
                  <a:schemeClr val="accent2"/>
                </a:solidFill>
                <a:latin typeface="+mn-lt"/>
                <a:ea typeface="黑体" panose="02010609060101010101" pitchFamily="49" charset="-122"/>
                <a:sym typeface="+mn-ea"/>
              </a:rPr>
              <a:t>N=64</a:t>
            </a:r>
            <a:r>
              <a:rPr lang="zh-CN" altLang="en-US" b="1" dirty="0">
                <a:solidFill>
                  <a:schemeClr val="accent2"/>
                </a:solidFill>
                <a:latin typeface="+mn-lt"/>
                <a:ea typeface="黑体" panose="02010609060101010101" pitchFamily="49" charset="-122"/>
                <a:sym typeface="+mn-ea"/>
              </a:rPr>
              <a:t>）</a:t>
            </a:r>
            <a:endParaRPr lang="zh-CN" altLang="en-US" b="1" dirty="0">
              <a:solidFill>
                <a:schemeClr val="accent2"/>
              </a:solidFill>
              <a:latin typeface="+mn-lt"/>
              <a:ea typeface="黑体" panose="02010609060101010101" pitchFamily="49" charset="-122"/>
              <a:sym typeface="+mn-ea"/>
            </a:endParaRPr>
          </a:p>
        </p:txBody>
      </p:sp>
      <mc:AlternateContent xmlns:mc="http://schemas.openxmlformats.org/markup-compatibility/2006">
        <mc:Choice xmlns:a14="http://schemas.microsoft.com/office/drawing/2010/main" Requires="a14">
          <p:sp>
            <p:nvSpPr>
              <p:cNvPr id="12" name="文本框 11"/>
              <p:cNvSpPr txBox="1"/>
              <p:nvPr/>
            </p:nvSpPr>
            <p:spPr>
              <a:xfrm>
                <a:off x="3225262" y="6424606"/>
                <a:ext cx="3047980" cy="375552"/>
              </a:xfrm>
              <a:prstGeom prst="rect">
                <a:avLst/>
              </a:prstGeom>
              <a:noFill/>
            </p:spPr>
            <p:txBody>
              <a:bodyPr wrap="square">
                <a:spAutoFit/>
              </a:bodyPr>
              <a:lstStyle/>
              <a:p>
                <a:r>
                  <a:rPr lang="zh-CN" altLang="en-US" dirty="0">
                    <a:latin typeface="+mn-lt"/>
                    <a:ea typeface="+mj-ea"/>
                  </a:rPr>
                  <a:t>码长</a:t>
                </a:r>
                <a:r>
                  <a:rPr lang="en-US" altLang="zh-CN" dirty="0">
                    <a:latin typeface="+mn-lt"/>
                    <a:ea typeface="+mj-ea"/>
                  </a:rPr>
                  <a:t>N=</a:t>
                </a:r>
                <a14:m>
                  <m:oMath xmlns:m="http://schemas.openxmlformats.org/officeDocument/2006/math">
                    <m:sSup>
                      <m:sSupPr>
                        <m:ctrlPr>
                          <a:rPr lang="en-US" altLang="zh-CN" i="1" dirty="0" smtClean="0">
                            <a:solidFill>
                              <a:srgbClr val="836967"/>
                            </a:solidFill>
                            <a:latin typeface="Cambria Math" panose="02040503050406030204" pitchFamily="18" charset="0"/>
                            <a:ea typeface="+mj-ea"/>
                          </a:rPr>
                        </m:ctrlPr>
                      </m:sSupPr>
                      <m:e>
                        <m:r>
                          <a:rPr lang="en-US" altLang="zh-CN" i="1" dirty="0" smtClean="0">
                            <a:latin typeface="Cambria Math" panose="02040503050406030204" pitchFamily="18" charset="0"/>
                            <a:ea typeface="+mj-ea"/>
                          </a:rPr>
                          <m:t>2</m:t>
                        </m:r>
                      </m:e>
                      <m:sup>
                        <m:r>
                          <a:rPr lang="en-US" altLang="zh-CN" b="0" i="1" dirty="0" smtClean="0">
                            <a:latin typeface="Cambria Math" panose="02040503050406030204" pitchFamily="18" charset="0"/>
                            <a:ea typeface="+mj-ea"/>
                          </a:rPr>
                          <m:t>6</m:t>
                        </m:r>
                      </m:sup>
                    </m:sSup>
                  </m:oMath>
                </a14:m>
                <a:r>
                  <a:rPr lang="zh-CN" altLang="en-US" dirty="0">
                    <a:latin typeface="+mn-lt"/>
                    <a:ea typeface="+mj-ea"/>
                  </a:rPr>
                  <a:t>的</a:t>
                </a:r>
                <a:r>
                  <a:rPr lang="zh-CN" altLang="en-US" dirty="0">
                    <a:latin typeface="+mj-ea"/>
                    <a:ea typeface="+mj-ea"/>
                  </a:rPr>
                  <a:t>信道极化现象 </a:t>
                </a:r>
                <a:endParaRPr lang="zh-CN" altLang="en-US" dirty="0">
                  <a:latin typeface="+mj-ea"/>
                  <a:ea typeface="+mj-ea"/>
                </a:endParaRPr>
              </a:p>
            </p:txBody>
          </p:sp>
        </mc:Choice>
        <mc:Fallback>
          <p:sp>
            <p:nvSpPr>
              <p:cNvPr id="12" name="文本框 11"/>
              <p:cNvSpPr txBox="1">
                <a:spLocks noRot="1" noChangeAspect="1" noMove="1" noResize="1" noEditPoints="1" noAdjustHandles="1" noChangeArrowheads="1" noChangeShapeType="1" noTextEdit="1"/>
              </p:cNvSpPr>
              <p:nvPr/>
            </p:nvSpPr>
            <p:spPr>
              <a:xfrm>
                <a:off x="3225262" y="6424606"/>
                <a:ext cx="3047980" cy="375552"/>
              </a:xfrm>
              <a:prstGeom prst="rect">
                <a:avLst/>
              </a:prstGeom>
              <a:blipFill rotWithShape="1">
                <a:blip r:embed="rId1"/>
                <a:stretch>
                  <a:fillRect l="-3" t="-83" r="3" b="154"/>
                </a:stretch>
              </a:blipFill>
            </p:spPr>
            <p:txBody>
              <a:bodyPr/>
              <a:lstStyle/>
              <a:p>
                <a:r>
                  <a:rPr lang="zh-CN" altLang="en-US">
                    <a:noFill/>
                  </a:rPr>
                  <a:t> </a:t>
                </a:r>
              </a:p>
            </p:txBody>
          </p:sp>
        </mc:Fallback>
      </mc:AlternateContent>
      <p:sp>
        <p:nvSpPr>
          <p:cNvPr id="2" name="文本框 1"/>
          <p:cNvSpPr txBox="1"/>
          <p:nvPr/>
        </p:nvSpPr>
        <p:spPr>
          <a:xfrm>
            <a:off x="1704622" y="1216607"/>
            <a:ext cx="6134029" cy="379656"/>
          </a:xfrm>
          <a:prstGeom prst="rect">
            <a:avLst/>
          </a:prstGeom>
          <a:noFill/>
        </p:spPr>
        <p:txBody>
          <a:bodyPr wrap="square" rtlCol="0" anchor="t">
            <a:spAutoFit/>
          </a:bodyPr>
          <a:lstStyle/>
          <a:p>
            <a:r>
              <a:rPr lang="zh-CN" altLang="en-US" b="1" dirty="0">
                <a:solidFill>
                  <a:schemeClr val="accent2"/>
                </a:solidFill>
                <a:latin typeface="黑体" panose="02010609060101010101" pitchFamily="49" charset="-122"/>
                <a:ea typeface="黑体" panose="02010609060101010101" pitchFamily="49" charset="-122"/>
                <a:sym typeface="+mn-ea"/>
              </a:rPr>
              <a:t>随着子信道越来越多，信道容量就会越来越趋近于两端。</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pic>
        <p:nvPicPr>
          <p:cNvPr id="8" name="图片 7"/>
          <p:cNvPicPr>
            <a:picLocks noChangeAspect="1"/>
          </p:cNvPicPr>
          <p:nvPr/>
        </p:nvPicPr>
        <p:blipFill>
          <a:blip r:embed="rId2"/>
          <a:stretch>
            <a:fillRect/>
          </a:stretch>
        </p:blipFill>
        <p:spPr>
          <a:xfrm>
            <a:off x="1689278" y="1557083"/>
            <a:ext cx="5765444" cy="4444500"/>
          </a:xfrm>
          <a:prstGeom prst="rect">
            <a:avLst/>
          </a:prstGeom>
        </p:spPr>
      </p:pic>
      <p:sp>
        <p:nvSpPr>
          <p:cNvPr id="13" name="文本框 12"/>
          <p:cNvSpPr txBox="1"/>
          <p:nvPr/>
        </p:nvSpPr>
        <p:spPr>
          <a:xfrm>
            <a:off x="3505228" y="841548"/>
            <a:ext cx="4572000" cy="400110"/>
          </a:xfrm>
          <a:prstGeom prst="rect">
            <a:avLst/>
          </a:prstGeom>
          <a:noFill/>
        </p:spPr>
        <p:txBody>
          <a:bodyPr wrap="square">
            <a:spAutoFit/>
          </a:bodyPr>
          <a:lstStyle/>
          <a:p>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信道极化的统计图</a:t>
            </a:r>
            <a:endParaRPr lang="zh-CN" alt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553148" y="158423"/>
            <a:ext cx="2438336"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极化码基本原理</a:t>
            </a:r>
            <a:endParaRPr lang="zh-CN" altLang="en-US" sz="2400" dirty="0">
              <a:sym typeface="+mn-ea"/>
            </a:endParaRPr>
          </a:p>
        </p:txBody>
      </p:sp>
      <mc:AlternateContent xmlns:mc="http://schemas.openxmlformats.org/markup-compatibility/2006">
        <mc:Choice xmlns:a14="http://schemas.microsoft.com/office/drawing/2010/main" Requires="a14">
          <p:sp>
            <p:nvSpPr>
              <p:cNvPr id="7" name="文本框 6"/>
              <p:cNvSpPr txBox="1"/>
              <p:nvPr/>
            </p:nvSpPr>
            <p:spPr>
              <a:xfrm>
                <a:off x="3352832" y="5838834"/>
                <a:ext cx="3505108" cy="375552"/>
              </a:xfrm>
              <a:prstGeom prst="rect">
                <a:avLst/>
              </a:prstGeom>
              <a:noFill/>
            </p:spPr>
            <p:txBody>
              <a:bodyPr wrap="square">
                <a:spAutoFit/>
              </a:bodyPr>
              <a:lstStyle/>
              <a:p>
                <a:r>
                  <a:rPr lang="zh-CN" altLang="en-US" dirty="0">
                    <a:latin typeface="+mn-lt"/>
                    <a:ea typeface="+mj-ea"/>
                  </a:rPr>
                  <a:t>码长</a:t>
                </a:r>
                <a:r>
                  <a:rPr lang="en-US" altLang="zh-CN" dirty="0">
                    <a:latin typeface="+mn-lt"/>
                    <a:ea typeface="+mj-ea"/>
                  </a:rPr>
                  <a:t>N=</a:t>
                </a:r>
                <a14:m>
                  <m:oMath xmlns:m="http://schemas.openxmlformats.org/officeDocument/2006/math">
                    <m:sSup>
                      <m:sSupPr>
                        <m:ctrlPr>
                          <a:rPr lang="en-US" altLang="zh-CN" i="1" dirty="0" smtClean="0">
                            <a:solidFill>
                              <a:srgbClr val="836967"/>
                            </a:solidFill>
                            <a:latin typeface="Cambria Math" panose="02040503050406030204" pitchFamily="18" charset="0"/>
                            <a:ea typeface="+mj-ea"/>
                          </a:rPr>
                        </m:ctrlPr>
                      </m:sSupPr>
                      <m:e>
                        <m:r>
                          <a:rPr lang="en-US" altLang="zh-CN" i="1" dirty="0" smtClean="0">
                            <a:latin typeface="Cambria Math" panose="02040503050406030204" pitchFamily="18" charset="0"/>
                            <a:ea typeface="+mj-ea"/>
                          </a:rPr>
                          <m:t>2</m:t>
                        </m:r>
                      </m:e>
                      <m:sup>
                        <m:r>
                          <a:rPr lang="en-US" altLang="zh-CN" b="0" i="1" dirty="0" smtClean="0">
                            <a:latin typeface="Cambria Math" panose="02040503050406030204" pitchFamily="18" charset="0"/>
                            <a:ea typeface="+mj-ea"/>
                          </a:rPr>
                          <m:t>10</m:t>
                        </m:r>
                      </m:sup>
                    </m:sSup>
                  </m:oMath>
                </a14:m>
                <a:r>
                  <a:rPr lang="zh-CN" altLang="en-US" dirty="0">
                    <a:latin typeface="+mn-lt"/>
                    <a:ea typeface="+mj-ea"/>
                  </a:rPr>
                  <a:t>的</a:t>
                </a:r>
                <a:r>
                  <a:rPr lang="zh-CN" altLang="en-US" dirty="0">
                    <a:latin typeface="+mj-ea"/>
                    <a:ea typeface="+mj-ea"/>
                  </a:rPr>
                  <a:t>信道极化现象 </a:t>
                </a:r>
                <a:endParaRPr lang="zh-CN" altLang="en-US" dirty="0">
                  <a:latin typeface="+mj-ea"/>
                  <a:ea typeface="+mj-ea"/>
                </a:endParaRPr>
              </a:p>
            </p:txBody>
          </p:sp>
        </mc:Choice>
        <mc:Fallback>
          <p:sp>
            <p:nvSpPr>
              <p:cNvPr id="7" name="文本框 6"/>
              <p:cNvSpPr txBox="1">
                <a:spLocks noRot="1" noChangeAspect="1" noMove="1" noResize="1" noEditPoints="1" noAdjustHandles="1" noChangeArrowheads="1" noChangeShapeType="1" noTextEdit="1"/>
              </p:cNvSpPr>
              <p:nvPr/>
            </p:nvSpPr>
            <p:spPr>
              <a:xfrm>
                <a:off x="3352832" y="5838834"/>
                <a:ext cx="3505108" cy="375552"/>
              </a:xfrm>
              <a:prstGeom prst="rect">
                <a:avLst/>
              </a:prstGeom>
              <a:blipFill rotWithShape="1">
                <a:blip r:embed="rId1"/>
                <a:stretch>
                  <a:fillRect l="-1" t="-2" r="16" b="73"/>
                </a:stretch>
              </a:blipFill>
            </p:spPr>
            <p:txBody>
              <a:bodyPr/>
              <a:lstStyle/>
              <a:p>
                <a:r>
                  <a:rPr lang="zh-CN" altLang="en-US">
                    <a:noFill/>
                  </a:rPr>
                  <a:t> </a:t>
                </a:r>
              </a:p>
            </p:txBody>
          </p:sp>
        </mc:Fallback>
      </mc:AlternateContent>
      <p:pic>
        <p:nvPicPr>
          <p:cNvPr id="9" name="图片 8"/>
          <p:cNvPicPr>
            <a:picLocks noChangeAspect="1"/>
          </p:cNvPicPr>
          <p:nvPr/>
        </p:nvPicPr>
        <p:blipFill>
          <a:blip r:embed="rId2"/>
          <a:stretch>
            <a:fillRect/>
          </a:stretch>
        </p:blipFill>
        <p:spPr>
          <a:xfrm>
            <a:off x="1709720" y="961082"/>
            <a:ext cx="5724559" cy="4690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652578" y="104775"/>
            <a:ext cx="2300287" cy="685800"/>
          </a:xfrm>
        </p:spPr>
        <p:txBody>
          <a:bodyPr vert="horz" wrap="square" lIns="91440" tIns="45720" rIns="91440" bIns="45720" anchor="ctr"/>
          <a:lstStyle/>
          <a:p>
            <a:r>
              <a:rPr lang="zh-CN" altLang="en-US" sz="2400" dirty="0"/>
              <a:t>内容提要</a:t>
            </a:r>
            <a:endParaRPr lang="zh-CN" altLang="en-US" sz="24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8198" name="AutoShape 49"/>
          <p:cNvSpPr/>
          <p:nvPr/>
        </p:nvSpPr>
        <p:spPr>
          <a:xfrm>
            <a:off x="2242185" y="4801235"/>
            <a:ext cx="5530850" cy="647065"/>
          </a:xfrm>
          <a:prstGeom prst="roundRect">
            <a:avLst>
              <a:gd name="adj" fmla="val 50000"/>
            </a:avLst>
          </a:prstGeom>
          <a:noFill/>
          <a:ln w="28575" cap="flat" cmpd="sng">
            <a:solidFill>
              <a:srgbClr val="C0C0C0"/>
            </a:solidFill>
            <a:prstDash val="solid"/>
            <a:headEnd type="none" w="med" len="med"/>
            <a:tailEnd type="none" w="med" len="med"/>
          </a:ln>
        </p:spPr>
        <p:txBody>
          <a:bodyPr wrap="none"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1" i="0" u="none" strike="noStrike" kern="0" cap="none" spc="0" normalizeH="0" baseline="0" noProof="0" dirty="0">
                <a:ln>
                  <a:noFill/>
                </a:ln>
                <a:solidFill>
                  <a:srgbClr val="FFFFFF">
                    <a:lumMod val="75000"/>
                  </a:srgbClr>
                </a:solidFill>
                <a:effectLst/>
                <a:uLnTx/>
                <a:uFillTx/>
                <a:latin typeface="+mn-lt"/>
                <a:ea typeface="宋体" panose="02010600030101010101" pitchFamily="2" charset="-122"/>
                <a:cs typeface="+mn-cs"/>
              </a:rPr>
              <a:t>Polar</a:t>
            </a:r>
            <a:r>
              <a:rPr kumimoji="0" lang="zh-CN" altLang="en-US" sz="2800" b="1" i="0" u="none" strike="noStrike" kern="0" cap="none" spc="0" normalizeH="0" baseline="0" noProof="0" dirty="0">
                <a:ln>
                  <a:noFill/>
                </a:ln>
                <a:solidFill>
                  <a:srgbClr val="FFFFFF">
                    <a:lumMod val="75000"/>
                  </a:srgbClr>
                </a:solidFill>
                <a:effectLst/>
                <a:uLnTx/>
                <a:uFillTx/>
                <a:latin typeface="+mn-lt"/>
                <a:ea typeface="宋体" panose="02010600030101010101" pitchFamily="2" charset="-122"/>
                <a:cs typeface="+mn-cs"/>
              </a:rPr>
              <a:t>码应用</a:t>
            </a:r>
            <a:r>
              <a:rPr kumimoji="0" lang="zh-CN" altLang="en-US" sz="2800" b="1" i="0" u="none" strike="noStrike" kern="0" cap="none" spc="0" normalizeH="0" baseline="0" noProof="0" dirty="0">
                <a:ln>
                  <a:noFill/>
                </a:ln>
                <a:solidFill>
                  <a:srgbClr val="FFFFFF">
                    <a:lumMod val="75000"/>
                  </a:srgbClr>
                </a:solidFill>
                <a:effectLst/>
                <a:uLnTx/>
                <a:uFillTx/>
                <a:latin typeface="Arial" panose="020B0604020202020204" pitchFamily="34" charset="0"/>
                <a:ea typeface="宋体" panose="02010600030101010101" pitchFamily="2" charset="-122"/>
                <a:cs typeface="+mn-cs"/>
                <a:sym typeface="+mn-ea"/>
              </a:rPr>
              <a:t>及发展趋势</a:t>
            </a:r>
            <a:endParaRPr kumimoji="0" lang="zh-CN" altLang="en-US" sz="2800" b="1" i="0" u="none" strike="noStrike" kern="0" cap="none" spc="0" normalizeH="0" baseline="0" noProof="0" dirty="0">
              <a:ln>
                <a:noFill/>
              </a:ln>
              <a:solidFill>
                <a:srgbClr val="FFFFFF">
                  <a:lumMod val="75000"/>
                </a:srgbClr>
              </a:solidFill>
              <a:effectLst/>
              <a:uLnTx/>
              <a:uFillTx/>
              <a:latin typeface="Arial" panose="020B0604020202020204" pitchFamily="34" charset="0"/>
              <a:ea typeface="宋体" panose="02010600030101010101" pitchFamily="2" charset="-122"/>
              <a:cs typeface="+mn-cs"/>
            </a:endParaRPr>
          </a:p>
        </p:txBody>
      </p:sp>
      <p:sp>
        <p:nvSpPr>
          <p:cNvPr id="9" name="AutoShape 50"/>
          <p:cNvSpPr>
            <a:spLocks noChangeArrowheads="1"/>
          </p:cNvSpPr>
          <p:nvPr/>
        </p:nvSpPr>
        <p:spPr bwMode="gray">
          <a:xfrm>
            <a:off x="2438400" y="3837305"/>
            <a:ext cx="6172200" cy="647065"/>
          </a:xfrm>
          <a:prstGeom prst="roundRect">
            <a:avLst>
              <a:gd name="adj" fmla="val 50000"/>
            </a:avLst>
          </a:prstGeom>
          <a:noFill/>
          <a:ln w="28575" algn="ctr">
            <a:solidFill>
              <a:srgbClr val="C0C0C0"/>
            </a:solidFill>
            <a:rou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effectLst/>
                <a:uLnTx/>
                <a:uFillTx/>
                <a:latin typeface="Arial" panose="020B0604020202020204" pitchFamily="34" charset="0"/>
                <a:ea typeface="宋体" panose="02010600030101010101" pitchFamily="2" charset="-122"/>
                <a:cs typeface="+mn-cs"/>
                <a:sym typeface="+mn-ea"/>
              </a:rPr>
              <a:t>极化码的构造（编译码）</a:t>
            </a:r>
            <a:endParaRPr kumimoji="0" lang="zh-CN" altLang="en-US" sz="2800" b="1" i="0" u="none" strike="noStrike" kern="0" cap="none" spc="0" normalizeH="0" baseline="0" noProof="0" dirty="0">
              <a:ln>
                <a:noFill/>
              </a:ln>
              <a:effectLst/>
              <a:uLnTx/>
              <a:uFillTx/>
              <a:latin typeface="Arial" panose="020B0604020202020204" pitchFamily="34" charset="0"/>
              <a:ea typeface="宋体" panose="02010600030101010101" pitchFamily="2" charset="-122"/>
              <a:cs typeface="+mn-cs"/>
              <a:sym typeface="+mn-ea"/>
            </a:endParaRPr>
          </a:p>
        </p:txBody>
      </p:sp>
      <p:sp>
        <p:nvSpPr>
          <p:cNvPr id="10" name="AutoShape 51"/>
          <p:cNvSpPr>
            <a:spLocks noChangeArrowheads="1"/>
          </p:cNvSpPr>
          <p:nvPr/>
        </p:nvSpPr>
        <p:spPr bwMode="gray">
          <a:xfrm>
            <a:off x="2437130" y="2893060"/>
            <a:ext cx="5486400" cy="698500"/>
          </a:xfrm>
          <a:prstGeom prst="roundRect">
            <a:avLst>
              <a:gd name="adj" fmla="val 50000"/>
            </a:avLst>
          </a:prstGeom>
          <a:noFill/>
          <a:ln w="28575" algn="ctr">
            <a:solidFill>
              <a:srgbClr val="C0C0C0"/>
            </a:solidFill>
            <a:round/>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0" cap="none" spc="0" normalizeH="0" baseline="0" noProof="0" dirty="0">
                <a:ln>
                  <a:noFill/>
                </a:ln>
                <a:solidFill>
                  <a:schemeClr val="bg1">
                    <a:lumMod val="75000"/>
                  </a:schemeClr>
                </a:solidFill>
                <a:effectLst/>
                <a:uLnTx/>
                <a:uFillTx/>
                <a:latin typeface="Arial" panose="020B0604020202020204" pitchFamily="34" charset="0"/>
                <a:ea typeface="宋体" panose="02010600030101010101" pitchFamily="2" charset="-122"/>
                <a:cs typeface="+mn-cs"/>
              </a:rPr>
              <a:t>极化码的基本原理</a:t>
            </a:r>
            <a:endParaRPr kumimoji="0" lang="zh-CN" altLang="en-US" sz="2800" b="1" i="0" u="none" strike="noStrike" kern="0" cap="none" spc="0" normalizeH="0" baseline="0" noProof="0" dirty="0">
              <a:ln>
                <a:noFill/>
              </a:ln>
              <a:solidFill>
                <a:schemeClr val="bg1">
                  <a:lumMod val="75000"/>
                </a:schemeClr>
              </a:solidFill>
              <a:effectLst/>
              <a:uLnTx/>
              <a:uFillTx/>
              <a:latin typeface="Arial" panose="020B0604020202020204" pitchFamily="34" charset="0"/>
              <a:ea typeface="宋体" panose="02010600030101010101" pitchFamily="2" charset="-122"/>
              <a:cs typeface="+mn-cs"/>
            </a:endParaRPr>
          </a:p>
        </p:txBody>
      </p:sp>
      <p:sp>
        <p:nvSpPr>
          <p:cNvPr id="11" name="AutoShape 52"/>
          <p:cNvSpPr>
            <a:spLocks noChangeArrowheads="1"/>
          </p:cNvSpPr>
          <p:nvPr/>
        </p:nvSpPr>
        <p:spPr bwMode="gray">
          <a:xfrm>
            <a:off x="1840865" y="1821180"/>
            <a:ext cx="5426710" cy="675005"/>
          </a:xfrm>
          <a:prstGeom prst="roundRect">
            <a:avLst>
              <a:gd name="adj" fmla="val 50000"/>
            </a:avLst>
          </a:prstGeom>
          <a:noFill/>
          <a:ln w="28575" algn="ctr">
            <a:solidFill>
              <a:srgbClr val="C0C0C0"/>
            </a:solidFill>
            <a:round/>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0" cap="none" spc="0" normalizeH="0" baseline="0" noProof="0" dirty="0">
                <a:ln>
                  <a:noFill/>
                </a:ln>
                <a:solidFill>
                  <a:srgbClr val="FFFFFF">
                    <a:lumMod val="75000"/>
                  </a:srgbClr>
                </a:solidFill>
                <a:effectLst/>
                <a:uLnTx/>
                <a:uFillTx/>
                <a:latin typeface="Arial" panose="020B0604020202020204" pitchFamily="34" charset="0"/>
                <a:ea typeface="宋体" panose="02010600030101010101" pitchFamily="2" charset="-122"/>
                <a:cs typeface="+mn-cs"/>
              </a:rPr>
              <a:t>极化码概述与研究现状</a:t>
            </a:r>
            <a:endParaRPr kumimoji="0" lang="zh-CN" altLang="en-US" sz="4000" b="1" i="0" u="none" strike="noStrike" kern="0" cap="none" spc="0" normalizeH="0" baseline="0" noProof="0" dirty="0">
              <a:ln>
                <a:noFill/>
              </a:ln>
              <a:solidFill>
                <a:srgbClr val="FFFFFF">
                  <a:lumMod val="75000"/>
                </a:srgbClr>
              </a:solidFill>
              <a:effectLst/>
              <a:uLnTx/>
              <a:uFillTx/>
              <a:latin typeface="Arial" panose="020B0604020202020204" pitchFamily="34" charset="0"/>
              <a:ea typeface="宋体" panose="02010600030101010101" pitchFamily="2" charset="-122"/>
              <a:cs typeface="+mn-cs"/>
            </a:endParaRPr>
          </a:p>
        </p:txBody>
      </p:sp>
      <p:grpSp>
        <p:nvGrpSpPr>
          <p:cNvPr id="8202" name="Group 53"/>
          <p:cNvGrpSpPr/>
          <p:nvPr/>
        </p:nvGrpSpPr>
        <p:grpSpPr>
          <a:xfrm>
            <a:off x="1523365" y="1985328"/>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3" name="Group 60"/>
          <p:cNvGrpSpPr/>
          <p:nvPr/>
        </p:nvGrpSpPr>
        <p:grpSpPr>
          <a:xfrm>
            <a:off x="2056765" y="3074988"/>
            <a:ext cx="381000" cy="381000"/>
            <a:chOff x="2078" y="1680"/>
            <a:chExt cx="1615" cy="1615"/>
          </a:xfrm>
        </p:grpSpPr>
        <p:sp>
          <p:nvSpPr>
            <p:cNvPr id="2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2133600" y="3913188"/>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5" name="Group 74"/>
          <p:cNvGrpSpPr/>
          <p:nvPr/>
        </p:nvGrpSpPr>
        <p:grpSpPr>
          <a:xfrm>
            <a:off x="1905635" y="4826953"/>
            <a:ext cx="381000" cy="381000"/>
            <a:chOff x="2078" y="1680"/>
            <a:chExt cx="1615" cy="1615"/>
          </a:xfrm>
        </p:grpSpPr>
        <p:sp>
          <p:nvSpPr>
            <p:cNvPr id="34" name="Oval 75"/>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5" name="Oval 76"/>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6" name="Oval 77"/>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7" name="Oval 78"/>
            <p:cNvSpPr>
              <a:spLocks noChangeArrowheads="1"/>
            </p:cNvSpPr>
            <p:nvPr/>
          </p:nvSpPr>
          <p:spPr bwMode="gray">
            <a:xfrm>
              <a:off x="2253" y="1855"/>
              <a:ext cx="1265" cy="1265"/>
            </a:xfrm>
            <a:prstGeom prst="ellipse">
              <a:avLst/>
            </a:prstGeom>
            <a:gradFill rotWithShape="1">
              <a:gsLst>
                <a:gs pos="0">
                  <a:srgbClr val="8D67E1">
                    <a:gamma/>
                    <a:shade val="0"/>
                    <a:invGamma/>
                  </a:srgbClr>
                </a:gs>
                <a:gs pos="100000">
                  <a:srgbClr val="8D67E1"/>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8" name="Oval 79"/>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9" name="Oval 80"/>
            <p:cNvSpPr>
              <a:spLocks noChangeArrowheads="1"/>
            </p:cNvSpPr>
            <p:nvPr/>
          </p:nvSpPr>
          <p:spPr bwMode="gray">
            <a:xfrm>
              <a:off x="2334" y="1936"/>
              <a:ext cx="1097" cy="1104"/>
            </a:xfrm>
            <a:prstGeom prst="ellipse">
              <a:avLst/>
            </a:prstGeom>
            <a:gradFill rotWithShape="1">
              <a:gsLst>
                <a:gs pos="0">
                  <a:srgbClr val="8D67E1"/>
                </a:gs>
                <a:gs pos="100000">
                  <a:srgbClr val="8D67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997089" y="170408"/>
            <a:ext cx="2933737" cy="685800"/>
          </a:xfrm>
        </p:spPr>
        <p:txBody>
          <a:bodyPr/>
          <a:lstStyle/>
          <a:p>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的构造</a:t>
            </a:r>
            <a:endParaRPr lang="zh-CN" altLang="en-US" sz="2400" dirty="0">
              <a:sym typeface="+mn-ea"/>
            </a:endParaRPr>
          </a:p>
        </p:txBody>
      </p:sp>
      <p:sp>
        <p:nvSpPr>
          <p:cNvPr id="7" name="文本框 6"/>
          <p:cNvSpPr txBox="1"/>
          <p:nvPr/>
        </p:nvSpPr>
        <p:spPr>
          <a:xfrm>
            <a:off x="472728" y="1592221"/>
            <a:ext cx="8458098" cy="955903"/>
          </a:xfrm>
          <a:prstGeom prst="rect">
            <a:avLst/>
          </a:prstGeom>
          <a:noFill/>
        </p:spPr>
        <p:txBody>
          <a:bodyPr wrap="square">
            <a:spAutoFit/>
          </a:bodyPr>
          <a:lstStyle/>
          <a:p>
            <a:pPr>
              <a:lnSpc>
                <a:spcPct val="150000"/>
              </a:lnSpc>
            </a:pPr>
            <a:r>
              <a:rPr kumimoji="0" lang="en-US" altLang="zh-CN" sz="2000" b="0" i="0" strike="noStrike" kern="1200" cap="none" spc="0" normalizeH="0" baseline="0" noProof="0" dirty="0">
                <a:ln>
                  <a:noFill/>
                </a:ln>
                <a:solidFill>
                  <a:srgbClr val="000000"/>
                </a:solidFill>
                <a:effectLst/>
                <a:uLnTx/>
                <a:uFillTx/>
                <a:latin typeface="+mn-lt"/>
                <a:ea typeface="黑体" panose="02010609060101010101" pitchFamily="49" charset="-122"/>
                <a:cs typeface="+mn-cs"/>
              </a:rPr>
              <a:t>     </a:t>
            </a:r>
            <a:r>
              <a:rPr kumimoji="0" lang="en-US" altLang="zh-CN" sz="2000" b="0" i="0" u="sng" strike="noStrike" kern="1200" cap="none" spc="0" normalizeH="0" baseline="0" noProof="0" dirty="0">
                <a:ln>
                  <a:noFill/>
                </a:ln>
                <a:solidFill>
                  <a:srgbClr val="000000"/>
                </a:solidFill>
                <a:effectLst/>
                <a:uLnTx/>
                <a:uFillTx/>
                <a:latin typeface="+mn-lt"/>
                <a:ea typeface="黑体" panose="02010609060101010101" pitchFamily="49" charset="-122"/>
                <a:cs typeface="+mn-cs"/>
              </a:rPr>
              <a:t> Polar</a:t>
            </a:r>
            <a:r>
              <a:rPr kumimoji="0" lang="zh-CN" altLang="en-US" sz="2000" b="0" i="0" u="sng" strike="noStrike" kern="1200" cap="none" spc="0" normalizeH="0" baseline="0" noProof="0" dirty="0">
                <a:ln>
                  <a:noFill/>
                </a:ln>
                <a:solidFill>
                  <a:srgbClr val="000000"/>
                </a:solidFill>
                <a:effectLst/>
                <a:uLnTx/>
                <a:uFillTx/>
                <a:latin typeface="+mn-lt"/>
                <a:ea typeface="黑体" panose="02010609060101010101" pitchFamily="49" charset="-122"/>
                <a:cs typeface="+mn-cs"/>
              </a:rPr>
              <a:t>码构造</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是指为</a:t>
            </a:r>
            <a:r>
              <a:rPr kumimoji="0" lang="en-US" altLang="zh-CN"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Polar</a:t>
            </a:r>
            <a:r>
              <a:rPr kumimoji="0"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码能够良好工作设计</a:t>
            </a:r>
            <a:r>
              <a:rPr kumimoji="0" lang="zh-CN" altLang="en-US" sz="20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的框架，其中包括</a:t>
            </a:r>
            <a:r>
              <a:rPr kumimoji="0" lang="zh-CN" altLang="en-US" sz="2000" b="0" i="0" u="sng"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编码矩阵生成</a:t>
            </a:r>
            <a:r>
              <a:rPr kumimoji="0" lang="zh-CN" altLang="en-US" sz="20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t>
            </a:r>
            <a:r>
              <a:rPr kumimoji="0" lang="zh-CN" altLang="en-US" sz="2000" b="0" i="0" u="sng"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序列</a:t>
            </a:r>
            <a:r>
              <a:rPr kumimoji="0" lang="zh-CN" altLang="en-US" sz="20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t>
            </a:r>
            <a:r>
              <a:rPr kumimoji="0" lang="zh-CN" altLang="en-US" sz="2000" b="0" i="0" u="sng"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速率匹配</a:t>
            </a:r>
            <a:r>
              <a:rPr kumimoji="0" lang="zh-CN" altLang="en-US" sz="20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t>
            </a:r>
            <a:r>
              <a:rPr kumimoji="0" lang="zh-CN" altLang="en-US" sz="2000" b="0" i="0" u="sng"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交织</a:t>
            </a:r>
            <a:endParaRPr lang="zh-CN" altLang="en-US" u="sng" dirty="0"/>
          </a:p>
        </p:txBody>
      </p:sp>
      <p:cxnSp>
        <p:nvCxnSpPr>
          <p:cNvPr id="11" name="直接箭头连接符 10"/>
          <p:cNvCxnSpPr/>
          <p:nvPr/>
        </p:nvCxnSpPr>
        <p:spPr bwMode="auto">
          <a:xfrm>
            <a:off x="1039944" y="3890803"/>
            <a:ext cx="83817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文本框 11"/>
          <p:cNvSpPr txBox="1"/>
          <p:nvPr/>
        </p:nvSpPr>
        <p:spPr>
          <a:xfrm>
            <a:off x="849449" y="3583026"/>
            <a:ext cx="1219168" cy="307777"/>
          </a:xfrm>
          <a:prstGeom prst="rect">
            <a:avLst/>
          </a:prstGeom>
          <a:noFill/>
        </p:spPr>
        <p:txBody>
          <a:bodyPr wrap="square" rtlCol="0" anchor="t">
            <a:spAutoFit/>
          </a:bodyPr>
          <a:lstStyle/>
          <a:p>
            <a:r>
              <a:rPr lang="zh-CN" altLang="en-US" sz="1400" b="1" dirty="0">
                <a:latin typeface="黑体" panose="02010609060101010101" pitchFamily="49" charset="-122"/>
                <a:ea typeface="黑体" panose="02010609060101010101" pitchFamily="49" charset="-122"/>
                <a:sym typeface="+mn-ea"/>
              </a:rPr>
              <a:t>待编码信息</a:t>
            </a:r>
            <a:endParaRPr lang="zh-CN" altLang="en-US" sz="1400" b="1" dirty="0">
              <a:latin typeface="黑体" panose="02010609060101010101" pitchFamily="49" charset="-122"/>
              <a:ea typeface="黑体" panose="02010609060101010101" pitchFamily="49" charset="-122"/>
              <a:sym typeface="+mn-ea"/>
            </a:endParaRPr>
          </a:p>
        </p:txBody>
      </p:sp>
      <p:sp>
        <p:nvSpPr>
          <p:cNvPr id="15" name="矩形 14"/>
          <p:cNvSpPr/>
          <p:nvPr/>
        </p:nvSpPr>
        <p:spPr>
          <a:xfrm>
            <a:off x="1920067" y="3675964"/>
            <a:ext cx="1295366" cy="42057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编码矩阵生成</a:t>
            </a:r>
            <a:endParaRPr lang="zh-CN" altLang="en-US" sz="1400" dirty="0"/>
          </a:p>
        </p:txBody>
      </p:sp>
      <p:cxnSp>
        <p:nvCxnSpPr>
          <p:cNvPr id="16" name="直接箭头连接符 15"/>
          <p:cNvCxnSpPr/>
          <p:nvPr/>
        </p:nvCxnSpPr>
        <p:spPr bwMode="auto">
          <a:xfrm>
            <a:off x="3215433" y="3873966"/>
            <a:ext cx="45718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p:nvPr/>
        </p:nvCxnSpPr>
        <p:spPr bwMode="auto">
          <a:xfrm flipV="1">
            <a:off x="4362249" y="3873966"/>
            <a:ext cx="743137" cy="122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p:cNvCxnSpPr/>
          <p:nvPr/>
        </p:nvCxnSpPr>
        <p:spPr bwMode="auto">
          <a:xfrm flipV="1">
            <a:off x="6095960" y="3886178"/>
            <a:ext cx="34349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p:nvPr/>
        </p:nvCxnSpPr>
        <p:spPr bwMode="auto">
          <a:xfrm>
            <a:off x="7220112" y="3886178"/>
            <a:ext cx="83817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矩形 20"/>
          <p:cNvSpPr/>
          <p:nvPr/>
        </p:nvSpPr>
        <p:spPr>
          <a:xfrm>
            <a:off x="3676467" y="3675964"/>
            <a:ext cx="685782" cy="42057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序列</a:t>
            </a:r>
            <a:endParaRPr lang="zh-CN" altLang="en-US" sz="1400" dirty="0"/>
          </a:p>
        </p:txBody>
      </p:sp>
      <p:sp>
        <p:nvSpPr>
          <p:cNvPr id="22" name="矩形 21"/>
          <p:cNvSpPr/>
          <p:nvPr/>
        </p:nvSpPr>
        <p:spPr>
          <a:xfrm>
            <a:off x="5105386" y="3675889"/>
            <a:ext cx="990574" cy="42057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速率匹配</a:t>
            </a:r>
            <a:endParaRPr lang="zh-CN" altLang="en-US" sz="1400" dirty="0"/>
          </a:p>
        </p:txBody>
      </p:sp>
      <p:sp>
        <p:nvSpPr>
          <p:cNvPr id="23" name="矩形 22"/>
          <p:cNvSpPr/>
          <p:nvPr/>
        </p:nvSpPr>
        <p:spPr>
          <a:xfrm>
            <a:off x="6454369" y="3675889"/>
            <a:ext cx="751701" cy="42057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交织</a:t>
            </a:r>
            <a:endParaRPr lang="zh-CN" altLang="en-US" sz="1400" dirty="0"/>
          </a:p>
        </p:txBody>
      </p:sp>
      <p:sp>
        <p:nvSpPr>
          <p:cNvPr id="24" name="文本框 23"/>
          <p:cNvSpPr txBox="1"/>
          <p:nvPr/>
        </p:nvSpPr>
        <p:spPr>
          <a:xfrm>
            <a:off x="7220112" y="3583026"/>
            <a:ext cx="1371564" cy="307777"/>
          </a:xfrm>
          <a:prstGeom prst="rect">
            <a:avLst/>
          </a:prstGeom>
          <a:noFill/>
        </p:spPr>
        <p:txBody>
          <a:bodyPr wrap="square" rtlCol="0" anchor="t">
            <a:spAutoFit/>
          </a:bodyPr>
          <a:lstStyle/>
          <a:p>
            <a:r>
              <a:rPr lang="zh-CN" altLang="en-US" sz="1400" b="1" dirty="0">
                <a:latin typeface="黑体" panose="02010609060101010101" pitchFamily="49" charset="-122"/>
                <a:ea typeface="黑体" panose="02010609060101010101" pitchFamily="49" charset="-122"/>
                <a:sym typeface="+mn-ea"/>
              </a:rPr>
              <a:t>编码后的比特</a:t>
            </a:r>
            <a:endParaRPr lang="zh-CN" altLang="en-US" sz="1400" b="1" dirty="0">
              <a:latin typeface="黑体" panose="02010609060101010101" pitchFamily="49" charset="-122"/>
              <a:ea typeface="黑体" panose="02010609060101010101" pitchFamily="49" charset="-122"/>
              <a:sym typeface="+mn-ea"/>
            </a:endParaRPr>
          </a:p>
        </p:txBody>
      </p:sp>
      <p:sp>
        <p:nvSpPr>
          <p:cNvPr id="28" name="椭圆 27"/>
          <p:cNvSpPr/>
          <p:nvPr/>
        </p:nvSpPr>
        <p:spPr>
          <a:xfrm>
            <a:off x="4472839" y="3467092"/>
            <a:ext cx="453342" cy="838171"/>
          </a:xfrm>
          <a:prstGeom prst="ellipse">
            <a:avLst/>
          </a:prstGeom>
          <a:noFill/>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31" name="文本框 30"/>
          <p:cNvSpPr txBox="1"/>
          <p:nvPr/>
        </p:nvSpPr>
        <p:spPr>
          <a:xfrm>
            <a:off x="4489826" y="3631628"/>
            <a:ext cx="461665" cy="673635"/>
          </a:xfrm>
          <a:prstGeom prst="rect">
            <a:avLst/>
          </a:prstGeom>
          <a:noFill/>
        </p:spPr>
        <p:txBody>
          <a:bodyPr vert="eaVert" wrap="square" rtlCol="0" anchor="t">
            <a:spAutoFit/>
          </a:bodyPr>
          <a:lstStyle/>
          <a:p>
            <a:r>
              <a:rPr lang="zh-CN" altLang="en-US" b="1" dirty="0">
                <a:latin typeface="黑体" panose="02010609060101010101" pitchFamily="49" charset="-122"/>
                <a:ea typeface="黑体" panose="02010609060101010101" pitchFamily="49" charset="-122"/>
                <a:sym typeface="+mn-ea"/>
              </a:rPr>
              <a:t>编码</a:t>
            </a:r>
            <a:endParaRPr lang="zh-CN" altLang="en-US" b="1" dirty="0">
              <a:latin typeface="黑体" panose="02010609060101010101" pitchFamily="49" charset="-122"/>
              <a:ea typeface="黑体" panose="02010609060101010101" pitchFamily="49" charset="-122"/>
              <a:sym typeface="+mn-ea"/>
            </a:endParaRPr>
          </a:p>
        </p:txBody>
      </p:sp>
      <p:sp>
        <p:nvSpPr>
          <p:cNvPr id="33" name="文本框 32"/>
          <p:cNvSpPr txBox="1"/>
          <p:nvPr/>
        </p:nvSpPr>
        <p:spPr>
          <a:xfrm>
            <a:off x="3933759" y="4959300"/>
            <a:ext cx="1752554" cy="369332"/>
          </a:xfrm>
          <a:prstGeom prst="rect">
            <a:avLst/>
          </a:prstGeom>
          <a:noFill/>
        </p:spPr>
        <p:txBody>
          <a:bodyPr wrap="square" rtlCol="0" anchor="t">
            <a:spAutoFit/>
          </a:bodyPr>
          <a:lstStyle/>
          <a:p>
            <a:r>
              <a:rPr lang="en-US" altLang="zh-CN" b="1" dirty="0">
                <a:solidFill>
                  <a:schemeClr val="accent2"/>
                </a:solidFill>
                <a:latin typeface="黑体" panose="02010609060101010101" pitchFamily="49" charset="-122"/>
                <a:ea typeface="黑体" panose="02010609060101010101" pitchFamily="49" charset="-122"/>
                <a:sym typeface="+mn-ea"/>
              </a:rPr>
              <a:t>Polar</a:t>
            </a:r>
            <a:r>
              <a:rPr lang="zh-CN" altLang="en-US" b="1" dirty="0">
                <a:solidFill>
                  <a:schemeClr val="accent2"/>
                </a:solidFill>
                <a:latin typeface="黑体" panose="02010609060101010101" pitchFamily="49" charset="-122"/>
                <a:ea typeface="黑体" panose="02010609060101010101" pitchFamily="49" charset="-122"/>
                <a:sym typeface="+mn-ea"/>
              </a:rPr>
              <a:t>码构造</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114812" y="120346"/>
            <a:ext cx="4800474" cy="685800"/>
          </a:xfrm>
        </p:spPr>
        <p:txBody>
          <a:bodyPr/>
          <a:lstStyle/>
          <a:p>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的构造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编码矩阵生成</a:t>
            </a:r>
            <a:endParaRPr lang="zh-CN" altLang="en-US" sz="2400" dirty="0">
              <a:sym typeface="+mn-ea"/>
            </a:endParaRPr>
          </a:p>
        </p:txBody>
      </p:sp>
      <mc:AlternateContent xmlns:mc="http://schemas.openxmlformats.org/markup-compatibility/2006">
        <mc:Choice xmlns:a14="http://schemas.microsoft.com/office/drawing/2010/main" Requires="a14">
          <p:sp>
            <p:nvSpPr>
              <p:cNvPr id="5" name="文本框 4"/>
              <p:cNvSpPr txBox="1"/>
              <p:nvPr/>
            </p:nvSpPr>
            <p:spPr>
              <a:xfrm>
                <a:off x="838298" y="1024295"/>
                <a:ext cx="7467404" cy="5713359"/>
              </a:xfrm>
              <a:prstGeom prst="rect">
                <a:avLst/>
              </a:prstGeom>
              <a:noFill/>
            </p:spPr>
            <p:txBody>
              <a:bodyPr wrap="square">
                <a:spAutoFit/>
              </a:bodyPr>
              <a:lstStyle/>
              <a:p>
                <a:pPr>
                  <a:lnSpc>
                    <a:spcPct val="150000"/>
                  </a:lnSpc>
                </a:pPr>
                <a:r>
                  <a:rPr lang="en-US" altLang="zh-CN" sz="2000" dirty="0">
                    <a:solidFill>
                      <a:srgbClr val="000000"/>
                    </a:solidFill>
                    <a:latin typeface="+mn-lt"/>
                    <a:ea typeface="黑体" panose="02010609060101010101" pitchFamily="49" charset="-122"/>
                    <a:cs typeface="+mn-cs"/>
                  </a:rPr>
                  <a:t>    Polar</a:t>
                </a:r>
                <a:r>
                  <a:rPr lang="zh-CN" altLang="en-US" sz="2000" dirty="0">
                    <a:solidFill>
                      <a:srgbClr val="000000"/>
                    </a:solidFill>
                    <a:latin typeface="+mn-lt"/>
                    <a:ea typeface="黑体" panose="02010609060101010101" pitchFamily="49" charset="-122"/>
                    <a:cs typeface="+mn-cs"/>
                  </a:rPr>
                  <a:t>码的编码矩阵是指在进行极化编码时用来计算编码字的矩阵（</a:t>
                </a:r>
                <a:r>
                  <a:rPr lang="en-US" altLang="zh-CN" sz="2000" dirty="0">
                    <a:solidFill>
                      <a:srgbClr val="000000"/>
                    </a:solidFill>
                    <a:latin typeface="+mn-lt"/>
                    <a:ea typeface="黑体" panose="02010609060101010101" pitchFamily="49" charset="-122"/>
                    <a:cs typeface="+mn-cs"/>
                  </a:rPr>
                  <a:t>c=</a:t>
                </a:r>
                <a:r>
                  <a:rPr lang="en-US" altLang="zh-CN" sz="2000" dirty="0" err="1">
                    <a:solidFill>
                      <a:srgbClr val="000000"/>
                    </a:solidFill>
                    <a:latin typeface="+mn-lt"/>
                    <a:ea typeface="黑体" panose="02010609060101010101" pitchFamily="49" charset="-122"/>
                    <a:cs typeface="+mn-cs"/>
                  </a:rPr>
                  <a:t>u·G</a:t>
                </a:r>
                <a:r>
                  <a:rPr lang="zh-CN" altLang="en-US" sz="2000" dirty="0">
                    <a:solidFill>
                      <a:srgbClr val="000000"/>
                    </a:solidFill>
                    <a:latin typeface="+mn-lt"/>
                    <a:ea typeface="黑体" panose="02010609060101010101" pitchFamily="49" charset="-122"/>
                    <a:cs typeface="+mn-cs"/>
                  </a:rPr>
                  <a:t>中的</a:t>
                </a:r>
                <a:r>
                  <a:rPr lang="en-US" altLang="zh-CN" sz="2000" dirty="0">
                    <a:solidFill>
                      <a:srgbClr val="000000"/>
                    </a:solidFill>
                    <a:latin typeface="+mn-lt"/>
                    <a:ea typeface="黑体" panose="02010609060101010101" pitchFamily="49" charset="-122"/>
                    <a:cs typeface="+mn-cs"/>
                  </a:rPr>
                  <a:t>G</a:t>
                </a:r>
                <a:r>
                  <a:rPr lang="zh-CN" altLang="en-US" sz="2000" dirty="0">
                    <a:solidFill>
                      <a:srgbClr val="000000"/>
                    </a:solidFill>
                    <a:latin typeface="+mn-lt"/>
                    <a:ea typeface="黑体" panose="02010609060101010101" pitchFamily="49" charset="-122"/>
                    <a:cs typeface="+mn-cs"/>
                  </a:rPr>
                  <a:t>）编码矩阵是通常是事先存储好而不需要动态改变的。一个母码长度为</a:t>
                </a:r>
                <a14:m>
                  <m:oMath xmlns:m="http://schemas.openxmlformats.org/officeDocument/2006/math">
                    <m:r>
                      <m:rPr>
                        <m:sty m:val="p"/>
                      </m:rPr>
                      <a:rPr lang="en-US" altLang="zh-CN" sz="2000" b="0" i="0" smtClean="0">
                        <a:solidFill>
                          <a:srgbClr val="000000"/>
                        </a:solidFill>
                        <a:latin typeface="Cambria Math" panose="02040503050406030204" pitchFamily="18" charset="0"/>
                        <a:cs typeface="+mn-cs"/>
                      </a:rPr>
                      <m:t>N</m:t>
                    </m:r>
                    <m:r>
                      <a:rPr lang="zh-CN" altLang="en-US" sz="2000" i="1" smtClean="0">
                        <a:solidFill>
                          <a:srgbClr val="000000"/>
                        </a:solidFill>
                        <a:latin typeface="Cambria Math" panose="02040503050406030204" pitchFamily="18" charset="0"/>
                        <a:cs typeface="+mn-cs"/>
                      </a:rPr>
                      <m:t>=</m:t>
                    </m:r>
                    <m:sSup>
                      <m:sSupPr>
                        <m:ctrlPr>
                          <a:rPr lang="zh-CN" altLang="en-US" sz="2000" i="1" smtClean="0">
                            <a:solidFill>
                              <a:srgbClr val="000000"/>
                            </a:solidFill>
                            <a:latin typeface="Cambria Math" panose="02040503050406030204" pitchFamily="18" charset="0"/>
                            <a:cs typeface="+mn-cs"/>
                          </a:rPr>
                        </m:ctrlPr>
                      </m:sSupPr>
                      <m:e>
                        <m:r>
                          <a:rPr lang="zh-CN" altLang="en-US" sz="2000" i="1" smtClean="0">
                            <a:solidFill>
                              <a:srgbClr val="000000"/>
                            </a:solidFill>
                            <a:latin typeface="Cambria Math" panose="02040503050406030204" pitchFamily="18" charset="0"/>
                            <a:cs typeface="+mn-cs"/>
                          </a:rPr>
                          <m:t>2</m:t>
                        </m:r>
                      </m:e>
                      <m:sup>
                        <m:r>
                          <a:rPr lang="zh-CN" altLang="en-US" sz="2000" i="1" smtClean="0">
                            <a:solidFill>
                              <a:srgbClr val="000000"/>
                            </a:solidFill>
                            <a:latin typeface="Cambria Math" panose="02040503050406030204" pitchFamily="18" charset="0"/>
                            <a:cs typeface="+mn-cs"/>
                          </a:rPr>
                          <m:t>𝑛</m:t>
                        </m:r>
                      </m:sup>
                    </m:sSup>
                  </m:oMath>
                </a14:m>
                <a:r>
                  <a:rPr lang="zh-CN" altLang="en-US" sz="2000" dirty="0">
                    <a:solidFill>
                      <a:srgbClr val="000000"/>
                    </a:solidFill>
                    <a:latin typeface="+mn-lt"/>
                    <a:ea typeface="黑体" panose="02010609060101010101" pitchFamily="49" charset="-122"/>
                    <a:cs typeface="+mn-cs"/>
                  </a:rPr>
                  <a:t>的极化码，其编码矩阵可由：</a:t>
                </a:r>
                <a:endParaRPr lang="en-US" altLang="zh-CN" sz="2000" dirty="0">
                  <a:solidFill>
                    <a:srgbClr val="000000"/>
                  </a:solidFill>
                  <a:latin typeface="+mn-lt"/>
                  <a:ea typeface="黑体" panose="02010609060101010101" pitchFamily="49" charset="-122"/>
                  <a:cs typeface="+mn-cs"/>
                </a:endParaRPr>
              </a:p>
              <a:p>
                <a:pPr algn="ctr">
                  <a:lnSpc>
                    <a:spcPct val="150000"/>
                  </a:lnSpc>
                </a:pPr>
                <a:r>
                  <a:rPr lang="en-US" altLang="zh-CN" sz="2000" dirty="0" err="1">
                    <a:solidFill>
                      <a:srgbClr val="000000"/>
                    </a:solidFill>
                    <a:latin typeface="+mn-lt"/>
                    <a:ea typeface="黑体" panose="02010609060101010101" pitchFamily="49" charset="-122"/>
                    <a:cs typeface="+mn-cs"/>
                  </a:rPr>
                  <a:t>Arikan</a:t>
                </a:r>
                <a:r>
                  <a:rPr lang="zh-CN" altLang="en-US" sz="2000" dirty="0">
                    <a:solidFill>
                      <a:srgbClr val="000000"/>
                    </a:solidFill>
                    <a:latin typeface="+mn-lt"/>
                    <a:ea typeface="黑体" panose="02010609060101010101" pitchFamily="49" charset="-122"/>
                    <a:cs typeface="+mn-cs"/>
                  </a:rPr>
                  <a:t>核</a:t>
                </a:r>
                <a14:m>
                  <m:oMath xmlns:m="http://schemas.openxmlformats.org/officeDocument/2006/math">
                    <m:r>
                      <a:rPr lang="zh-CN" altLang="en-US" sz="2000" i="1" smtClean="0">
                        <a:solidFill>
                          <a:srgbClr val="000000"/>
                        </a:solidFill>
                        <a:latin typeface="Cambria Math" panose="02040503050406030204" pitchFamily="18" charset="0"/>
                        <a:cs typeface="+mn-cs"/>
                      </a:rPr>
                      <m:t>𝐹</m:t>
                    </m:r>
                    <m:r>
                      <a:rPr lang="zh-CN" altLang="en-US" sz="2000" i="1" smtClean="0">
                        <a:solidFill>
                          <a:srgbClr val="000000"/>
                        </a:solidFill>
                        <a:latin typeface="Cambria Math" panose="02040503050406030204" pitchFamily="18" charset="0"/>
                        <a:cs typeface="+mn-cs"/>
                      </a:rPr>
                      <m:t>=</m:t>
                    </m:r>
                    <m:d>
                      <m:dPr>
                        <m:begChr m:val="["/>
                        <m:endChr m:val="]"/>
                        <m:ctrlPr>
                          <a:rPr lang="zh-CN" altLang="en-US" sz="2000" i="1" smtClean="0">
                            <a:solidFill>
                              <a:srgbClr val="000000"/>
                            </a:solidFill>
                            <a:latin typeface="Cambria Math" panose="02040503050406030204" pitchFamily="18" charset="0"/>
                            <a:cs typeface="+mn-cs"/>
                          </a:rPr>
                        </m:ctrlPr>
                      </m:dPr>
                      <m:e>
                        <m:m>
                          <m:mPr>
                            <m:mcs>
                              <m:mc>
                                <m:mcPr>
                                  <m:count m:val="2"/>
                                  <m:mcJc m:val="center"/>
                                </m:mcPr>
                              </m:mc>
                            </m:mcs>
                            <m:plcHide m:val="on"/>
                            <m:ctrlPr>
                              <a:rPr lang="zh-CN" altLang="en-US" sz="2000" i="1" smtClean="0">
                                <a:solidFill>
                                  <a:srgbClr val="000000"/>
                                </a:solidFill>
                                <a:latin typeface="Cambria Math" panose="02040503050406030204" pitchFamily="18" charset="0"/>
                                <a:cs typeface="+mn-cs"/>
                              </a:rPr>
                            </m:ctrlPr>
                          </m:mPr>
                          <m:mr>
                            <m:e>
                              <m:r>
                                <a:rPr lang="zh-CN" altLang="en-US" sz="2000" i="1" smtClean="0">
                                  <a:solidFill>
                                    <a:srgbClr val="000000"/>
                                  </a:solidFill>
                                  <a:latin typeface="Cambria Math" panose="02040503050406030204" pitchFamily="18" charset="0"/>
                                  <a:cs typeface="+mn-cs"/>
                                </a:rPr>
                                <m:t>1</m:t>
                              </m:r>
                            </m:e>
                            <m:e>
                              <m:r>
                                <a:rPr lang="zh-CN" altLang="en-US" sz="2000" i="1" smtClean="0">
                                  <a:solidFill>
                                    <a:srgbClr val="000000"/>
                                  </a:solidFill>
                                  <a:latin typeface="Cambria Math" panose="02040503050406030204" pitchFamily="18" charset="0"/>
                                  <a:cs typeface="+mn-cs"/>
                                </a:rPr>
                                <m:t>0</m:t>
                              </m:r>
                            </m:e>
                          </m:mr>
                          <m:mr>
                            <m:e>
                              <m:r>
                                <a:rPr lang="zh-CN" altLang="en-US" sz="2000" i="1" smtClean="0">
                                  <a:solidFill>
                                    <a:srgbClr val="000000"/>
                                  </a:solidFill>
                                  <a:latin typeface="Cambria Math" panose="02040503050406030204" pitchFamily="18" charset="0"/>
                                  <a:cs typeface="+mn-cs"/>
                                </a:rPr>
                                <m:t>1</m:t>
                              </m:r>
                            </m:e>
                            <m:e>
                              <m:r>
                                <a:rPr lang="zh-CN" altLang="en-US" sz="2000" i="1" smtClean="0">
                                  <a:solidFill>
                                    <a:srgbClr val="000000"/>
                                  </a:solidFill>
                                  <a:latin typeface="Cambria Math" panose="02040503050406030204" pitchFamily="18" charset="0"/>
                                  <a:cs typeface="+mn-cs"/>
                                </a:rPr>
                                <m:t>1</m:t>
                              </m:r>
                            </m:e>
                          </m:mr>
                        </m:m>
                      </m:e>
                    </m:d>
                  </m:oMath>
                </a14:m>
                <a:endParaRPr lang="en-US" altLang="zh-CN" sz="2000" dirty="0">
                  <a:solidFill>
                    <a:srgbClr val="000000"/>
                  </a:solidFill>
                  <a:latin typeface="+mn-lt"/>
                  <a:ea typeface="黑体" panose="02010609060101010101" pitchFamily="49" charset="-122"/>
                  <a:cs typeface="+mn-cs"/>
                </a:endParaRPr>
              </a:p>
              <a:p>
                <a:pPr algn="ctr">
                  <a:lnSpc>
                    <a:spcPct val="150000"/>
                  </a:lnSpc>
                </a:pPr>
                <a:endParaRPr lang="en-US" altLang="zh-CN" sz="2000" dirty="0">
                  <a:solidFill>
                    <a:srgbClr val="000000"/>
                  </a:solidFill>
                  <a:latin typeface="+mn-lt"/>
                  <a:ea typeface="黑体" panose="02010609060101010101" pitchFamily="49" charset="-122"/>
                  <a:cs typeface="+mn-cs"/>
                </a:endParaRPr>
              </a:p>
              <a:p>
                <a:pPr>
                  <a:lnSpc>
                    <a:spcPct val="150000"/>
                  </a:lnSpc>
                </a:pPr>
                <a:r>
                  <a:rPr lang="zh-CN" altLang="en-US" sz="2000" dirty="0">
                    <a:solidFill>
                      <a:srgbClr val="000000"/>
                    </a:solidFill>
                    <a:latin typeface="+mn-lt"/>
                    <a:ea typeface="黑体" panose="02010609060101010101" pitchFamily="49" charset="-122"/>
                    <a:cs typeface="+mn-cs"/>
                  </a:rPr>
                  <a:t>计算出来</a:t>
                </a:r>
                <a14:m>
                  <m:oMath xmlns:m="http://schemas.openxmlformats.org/officeDocument/2006/math">
                    <m:sSub>
                      <m:sSubPr>
                        <m:ctrlPr>
                          <a:rPr lang="zh-CN" altLang="en-US" sz="2000" i="1" smtClean="0">
                            <a:solidFill>
                              <a:srgbClr val="000000"/>
                            </a:solidFill>
                            <a:latin typeface="Cambria Math" panose="02040503050406030204" pitchFamily="18" charset="0"/>
                            <a:cs typeface="+mn-cs"/>
                          </a:rPr>
                        </m:ctrlPr>
                      </m:sSubPr>
                      <m:e>
                        <m:r>
                          <a:rPr lang="zh-CN" altLang="en-US" sz="2000" i="1" smtClean="0">
                            <a:solidFill>
                              <a:srgbClr val="000000"/>
                            </a:solidFill>
                            <a:latin typeface="Cambria Math" panose="02040503050406030204" pitchFamily="18" charset="0"/>
                            <a:cs typeface="+mn-cs"/>
                          </a:rPr>
                          <m:t>𝐺</m:t>
                        </m:r>
                      </m:e>
                      <m:sub>
                        <m:r>
                          <a:rPr lang="zh-CN" altLang="en-US" sz="2000" i="1" smtClean="0">
                            <a:solidFill>
                              <a:srgbClr val="000000"/>
                            </a:solidFill>
                            <a:latin typeface="Cambria Math" panose="02040503050406030204" pitchFamily="18" charset="0"/>
                            <a:cs typeface="+mn-cs"/>
                          </a:rPr>
                          <m:t>𝑁</m:t>
                        </m:r>
                      </m:sub>
                    </m:sSub>
                    <m:r>
                      <a:rPr lang="zh-CN" altLang="en-US" sz="2000" i="1" smtClean="0">
                        <a:solidFill>
                          <a:srgbClr val="000000"/>
                        </a:solidFill>
                        <a:latin typeface="Cambria Math" panose="02040503050406030204" pitchFamily="18" charset="0"/>
                        <a:cs typeface="+mn-cs"/>
                      </a:rPr>
                      <m:t>=</m:t>
                    </m:r>
                    <m:sSup>
                      <m:sSupPr>
                        <m:ctrlPr>
                          <a:rPr lang="en-US" altLang="zh-CN" sz="2000" i="1" smtClean="0">
                            <a:solidFill>
                              <a:srgbClr val="000000"/>
                            </a:solidFill>
                            <a:latin typeface="Cambria Math" panose="02040503050406030204" pitchFamily="18" charset="0"/>
                            <a:cs typeface="+mn-cs"/>
                          </a:rPr>
                        </m:ctrlPr>
                      </m:sSupPr>
                      <m:e>
                        <m:r>
                          <a:rPr lang="zh-CN" altLang="en-US" sz="2000" i="1" smtClean="0">
                            <a:solidFill>
                              <a:srgbClr val="000000"/>
                            </a:solidFill>
                            <a:latin typeface="Cambria Math" panose="02040503050406030204" pitchFamily="18" charset="0"/>
                            <a:cs typeface="+mn-cs"/>
                          </a:rPr>
                          <m:t>𝐹</m:t>
                        </m:r>
                      </m:e>
                      <m: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𝑛</m:t>
                        </m:r>
                      </m:sup>
                    </m:sSup>
                    <m:r>
                      <a:rPr lang="zh-CN" altLang="en-US" sz="2000" i="1">
                        <a:solidFill>
                          <a:srgbClr val="000000"/>
                        </a:solidFill>
                        <a:latin typeface="Cambria Math" panose="02040503050406030204" pitchFamily="18" charset="0"/>
                        <a:cs typeface="+mn-cs"/>
                      </a:rPr>
                      <m:t>，</m:t>
                    </m:r>
                  </m:oMath>
                </a14:m>
                <a:r>
                  <a:rPr lang="zh-CN" altLang="en-US" sz="2000" dirty="0">
                    <a:solidFill>
                      <a:srgbClr val="000000"/>
                    </a:solidFill>
                    <a:latin typeface="+mn-lt"/>
                    <a:ea typeface="黑体" panose="02010609060101010101" pitchFamily="49" charset="-122"/>
                    <a:cs typeface="+mn-cs"/>
                  </a:rPr>
                  <a:t>其中</a:t>
                </a:r>
                <a14:m>
                  <m:oMath xmlns:m="http://schemas.openxmlformats.org/officeDocument/2006/math">
                    <m:r>
                      <a:rPr lang="zh-CN" altLang="en-US" sz="2000" i="1">
                        <a:solidFill>
                          <a:srgbClr val="000000"/>
                        </a:solidFill>
                        <a:latin typeface="Cambria Math" panose="02040503050406030204" pitchFamily="18" charset="0"/>
                      </a:rPr>
                      <m:t>⊗</m:t>
                    </m:r>
                  </m:oMath>
                </a14:m>
                <a:r>
                  <a:rPr lang="zh-CN" altLang="en-US" sz="2000" dirty="0">
                    <a:solidFill>
                      <a:srgbClr val="000000"/>
                    </a:solidFill>
                    <a:latin typeface="+mn-lt"/>
                    <a:ea typeface="黑体" panose="02010609060101010101" pitchFamily="49" charset="-122"/>
                    <a:cs typeface="+mn-cs"/>
                  </a:rPr>
                  <a:t>表示张量积。</a:t>
                </a:r>
                <a:endParaRPr lang="en-US" altLang="zh-CN" sz="2000" dirty="0">
                  <a:solidFill>
                    <a:srgbClr val="000000"/>
                  </a:solidFill>
                  <a:latin typeface="+mn-lt"/>
                  <a:ea typeface="黑体" panose="02010609060101010101" pitchFamily="49" charset="-122"/>
                  <a:cs typeface="+mn-cs"/>
                </a:endParaRPr>
              </a:p>
              <a:p>
                <a:pPr>
                  <a:lnSpc>
                    <a:spcPct val="150000"/>
                  </a:lnSpc>
                </a:pPr>
                <a:r>
                  <a:rPr lang="zh-CN" altLang="en-US" sz="2000" dirty="0">
                    <a:solidFill>
                      <a:srgbClr val="000000"/>
                    </a:solidFill>
                    <a:latin typeface="+mn-lt"/>
                    <a:ea typeface="黑体" panose="02010609060101010101" pitchFamily="49" charset="-122"/>
                    <a:cs typeface="+mn-cs"/>
                  </a:rPr>
                  <a:t>例如：</a:t>
                </a:r>
                <a14:m>
                  <m:oMath xmlns:m="http://schemas.openxmlformats.org/officeDocument/2006/math">
                    <m:sSub>
                      <m:sSubPr>
                        <m:ctrlPr>
                          <a:rPr lang="zh-CN" altLang="en-US" sz="2000" i="1" smtClean="0">
                            <a:solidFill>
                              <a:srgbClr val="000000"/>
                            </a:solidFill>
                            <a:latin typeface="Cambria Math" panose="02040503050406030204" pitchFamily="18" charset="0"/>
                            <a:cs typeface="+mn-cs"/>
                          </a:rPr>
                        </m:ctrlPr>
                      </m:sSubPr>
                      <m:e>
                        <m:r>
                          <a:rPr lang="zh-CN" altLang="en-US" sz="2000" i="1" smtClean="0">
                            <a:solidFill>
                              <a:srgbClr val="000000"/>
                            </a:solidFill>
                            <a:latin typeface="Cambria Math" panose="02040503050406030204" pitchFamily="18" charset="0"/>
                            <a:cs typeface="+mn-cs"/>
                          </a:rPr>
                          <m:t>𝐺</m:t>
                        </m:r>
                      </m:e>
                      <m:sub>
                        <m:r>
                          <a:rPr lang="zh-CN" altLang="en-US" sz="2000" i="1" smtClean="0">
                            <a:solidFill>
                              <a:srgbClr val="000000"/>
                            </a:solidFill>
                            <a:latin typeface="Cambria Math" panose="02040503050406030204" pitchFamily="18" charset="0"/>
                            <a:cs typeface="+mn-cs"/>
                          </a:rPr>
                          <m:t>2</m:t>
                        </m:r>
                      </m:sub>
                    </m:sSub>
                    <m:r>
                      <a:rPr lang="zh-CN" altLang="en-US" sz="2000" i="1" smtClean="0">
                        <a:solidFill>
                          <a:srgbClr val="000000"/>
                        </a:solidFill>
                        <a:latin typeface="Cambria Math" panose="02040503050406030204" pitchFamily="18" charset="0"/>
                        <a:cs typeface="+mn-cs"/>
                      </a:rPr>
                      <m:t>=</m:t>
                    </m:r>
                    <m:r>
                      <a:rPr lang="zh-CN" altLang="en-US" sz="2000" i="1" smtClean="0">
                        <a:solidFill>
                          <a:srgbClr val="000000"/>
                        </a:solidFill>
                        <a:latin typeface="Cambria Math" panose="02040503050406030204" pitchFamily="18" charset="0"/>
                        <a:cs typeface="+mn-cs"/>
                      </a:rPr>
                      <m:t>𝐹</m:t>
                    </m:r>
                    <m:r>
                      <a:rPr lang="zh-CN" altLang="en-US" sz="2000" i="1" smtClean="0">
                        <a:solidFill>
                          <a:srgbClr val="000000"/>
                        </a:solidFill>
                        <a:latin typeface="Cambria Math" panose="02040503050406030204" pitchFamily="18" charset="0"/>
                        <a:cs typeface="+mn-cs"/>
                      </a:rPr>
                      <m:t>=</m:t>
                    </m:r>
                    <m:d>
                      <m:dPr>
                        <m:begChr m:val="["/>
                        <m:endChr m:val="]"/>
                        <m:ctrlPr>
                          <a:rPr lang="zh-CN" altLang="en-US" sz="2000" i="1" smtClean="0">
                            <a:solidFill>
                              <a:srgbClr val="000000"/>
                            </a:solidFill>
                            <a:latin typeface="Cambria Math" panose="02040503050406030204" pitchFamily="18" charset="0"/>
                            <a:cs typeface="+mn-cs"/>
                          </a:rPr>
                        </m:ctrlPr>
                      </m:dPr>
                      <m:e>
                        <m:m>
                          <m:mPr>
                            <m:mcs>
                              <m:mc>
                                <m:mcPr>
                                  <m:count m:val="2"/>
                                  <m:mcJc m:val="center"/>
                                </m:mcPr>
                              </m:mc>
                            </m:mcs>
                            <m:plcHide m:val="on"/>
                            <m:ctrlPr>
                              <a:rPr lang="zh-CN" altLang="en-US" sz="2000" i="1" smtClean="0">
                                <a:solidFill>
                                  <a:srgbClr val="000000"/>
                                </a:solidFill>
                                <a:latin typeface="Cambria Math" panose="02040503050406030204" pitchFamily="18" charset="0"/>
                                <a:cs typeface="+mn-cs"/>
                              </a:rPr>
                            </m:ctrlPr>
                          </m:mPr>
                          <m:mr>
                            <m:e>
                              <m:r>
                                <a:rPr lang="zh-CN" altLang="en-US" sz="2000" i="1" smtClean="0">
                                  <a:solidFill>
                                    <a:srgbClr val="000000"/>
                                  </a:solidFill>
                                  <a:latin typeface="Cambria Math" panose="02040503050406030204" pitchFamily="18" charset="0"/>
                                  <a:cs typeface="+mn-cs"/>
                                </a:rPr>
                                <m:t>1</m:t>
                              </m:r>
                            </m:e>
                            <m:e>
                              <m:r>
                                <a:rPr lang="zh-CN" altLang="en-US" sz="2000" i="1" smtClean="0">
                                  <a:solidFill>
                                    <a:srgbClr val="000000"/>
                                  </a:solidFill>
                                  <a:latin typeface="Cambria Math" panose="02040503050406030204" pitchFamily="18" charset="0"/>
                                  <a:cs typeface="+mn-cs"/>
                                </a:rPr>
                                <m:t>0</m:t>
                              </m:r>
                            </m:e>
                          </m:mr>
                          <m:mr>
                            <m:e>
                              <m:r>
                                <a:rPr lang="zh-CN" altLang="en-US" sz="2000" i="1" smtClean="0">
                                  <a:solidFill>
                                    <a:srgbClr val="000000"/>
                                  </a:solidFill>
                                  <a:latin typeface="Cambria Math" panose="02040503050406030204" pitchFamily="18" charset="0"/>
                                  <a:cs typeface="+mn-cs"/>
                                </a:rPr>
                                <m:t>1</m:t>
                              </m:r>
                            </m:e>
                            <m:e>
                              <m:r>
                                <a:rPr lang="zh-CN" altLang="en-US" sz="2000" i="1" smtClean="0">
                                  <a:solidFill>
                                    <a:srgbClr val="000000"/>
                                  </a:solidFill>
                                  <a:latin typeface="Cambria Math" panose="02040503050406030204" pitchFamily="18" charset="0"/>
                                  <a:cs typeface="+mn-cs"/>
                                </a:rPr>
                                <m:t>1</m:t>
                              </m:r>
                            </m:e>
                          </m:mr>
                        </m:m>
                      </m:e>
                    </m:d>
                  </m:oMath>
                </a14:m>
                <a:r>
                  <a:rPr lang="zh-CN" altLang="en-US" sz="2000" dirty="0">
                    <a:solidFill>
                      <a:srgbClr val="000000"/>
                    </a:solidFill>
                    <a:latin typeface="+mn-lt"/>
                    <a:ea typeface="黑体" panose="02010609060101010101" pitchFamily="49" charset="-122"/>
                    <a:cs typeface="+mn-cs"/>
                  </a:rPr>
                  <a:t>，</a:t>
                </a:r>
                <a:r>
                  <a:rPr lang="zh-CN" altLang="en-US" sz="2000" dirty="0">
                    <a:solidFill>
                      <a:srgbClr val="000000"/>
                    </a:solidFill>
                    <a:latin typeface="+mn-lt"/>
                  </a:rPr>
                  <a:t> </a:t>
                </a:r>
                <a14:m>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𝐺</m:t>
                        </m:r>
                      </m:e>
                      <m:sub>
                        <m:r>
                          <a:rPr lang="en-US" altLang="zh-CN" sz="2000" b="0" i="1" smtClean="0">
                            <a:solidFill>
                              <a:srgbClr val="000000"/>
                            </a:solidFill>
                            <a:latin typeface="Cambria Math" panose="02040503050406030204" pitchFamily="18" charset="0"/>
                          </a:rPr>
                          <m:t>4</m:t>
                        </m:r>
                      </m:sub>
                    </m:sSub>
                    <m:r>
                      <a:rPr lang="zh-CN" altLang="en-US" sz="2000" i="1">
                        <a:solidFill>
                          <a:srgbClr val="000000"/>
                        </a:solidFill>
                        <a:latin typeface="Cambria Math" panose="02040503050406030204" pitchFamily="18" charset="0"/>
                      </a:rPr>
                      <m:t>=</m:t>
                    </m:r>
                    <m:sSup>
                      <m:sSupPr>
                        <m:ctrlPr>
                          <a:rPr lang="en-US" altLang="zh-CN"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𝐹</m:t>
                        </m:r>
                      </m:e>
                      <m:sup>
                        <m:r>
                          <a:rPr lang="zh-CN" altLang="en-US" sz="2000" i="1">
                            <a:solidFill>
                              <a:srgbClr val="000000"/>
                            </a:solidFill>
                            <a:latin typeface="Cambria Math" panose="02040503050406030204" pitchFamily="18" charset="0"/>
                          </a:rPr>
                          <m:t>⊗</m:t>
                        </m:r>
                        <m:r>
                          <a:rPr lang="en-US" altLang="zh-CN" sz="2000" b="0" i="1" smtClean="0">
                            <a:solidFill>
                              <a:srgbClr val="000000"/>
                            </a:solidFill>
                            <a:latin typeface="Cambria Math" panose="02040503050406030204" pitchFamily="18" charset="0"/>
                          </a:rPr>
                          <m:t>2</m:t>
                        </m:r>
                      </m:sup>
                    </m:sSup>
                    <m:r>
                      <a:rPr lang="en-US" altLang="zh-CN" sz="2000" i="1">
                        <a:solidFill>
                          <a:srgbClr val="000000"/>
                        </a:solidFill>
                        <a:latin typeface="Cambria Math" panose="02040503050406030204" pitchFamily="18" charset="0"/>
                      </a:rPr>
                      <m:t>=</m:t>
                    </m:r>
                    <m:r>
                      <a:rPr lang="en-US" altLang="zh-CN" sz="2000" i="1" dirty="0" smtClean="0">
                        <a:solidFill>
                          <a:srgbClr val="000000"/>
                        </a:solidFill>
                        <a:latin typeface="Cambria Math" panose="02040503050406030204" pitchFamily="18" charset="0"/>
                        <a:cs typeface="+mn-cs"/>
                      </a:rPr>
                      <m:t>𝐹</m:t>
                    </m:r>
                    <m:r>
                      <a:rPr lang="en-US" altLang="zh-CN" sz="2000" i="0" dirty="0" smtClean="0">
                        <a:solidFill>
                          <a:srgbClr val="000000"/>
                        </a:solidFill>
                        <a:latin typeface="Cambria Math" panose="02040503050406030204" pitchFamily="18" charset="0"/>
                        <a:cs typeface="+mn-cs"/>
                      </a:rPr>
                      <m:t>⊗</m:t>
                    </m:r>
                    <m:r>
                      <a:rPr lang="en-US" altLang="zh-CN" sz="2000" i="1" dirty="0" smtClean="0">
                        <a:solidFill>
                          <a:srgbClr val="000000"/>
                        </a:solidFill>
                        <a:latin typeface="Cambria Math" panose="02040503050406030204" pitchFamily="18" charset="0"/>
                        <a:cs typeface="+mn-cs"/>
                      </a:rPr>
                      <m:t>𝐹</m:t>
                    </m:r>
                    <m:r>
                      <a:rPr lang="en-US" altLang="zh-CN" sz="2000" i="1" dirty="0">
                        <a:solidFill>
                          <a:srgbClr val="000000"/>
                        </a:solidFill>
                        <a:latin typeface="Cambria Math" panose="02040503050406030204" pitchFamily="18" charset="0"/>
                        <a:cs typeface="+mn-cs"/>
                      </a:rPr>
                      <m:t>=</m:t>
                    </m:r>
                    <m:d>
                      <m:dPr>
                        <m:begChr m:val="["/>
                        <m:endChr m:val="]"/>
                        <m:ctrlPr>
                          <a:rPr lang="en-US" altLang="zh-CN" sz="2000" i="1" dirty="0" smtClean="0">
                            <a:solidFill>
                              <a:srgbClr val="000000"/>
                            </a:solidFill>
                            <a:latin typeface="Cambria Math" panose="02040503050406030204" pitchFamily="18" charset="0"/>
                            <a:cs typeface="+mn-cs"/>
                          </a:rPr>
                        </m:ctrlPr>
                      </m:dPr>
                      <m:e>
                        <m:m>
                          <m:mPr>
                            <m:mcs>
                              <m:mc>
                                <m:mcPr>
                                  <m:count m:val="4"/>
                                  <m:mcJc m:val="center"/>
                                </m:mcPr>
                              </m:mc>
                            </m:mcs>
                            <m:plcHide m:val="on"/>
                            <m:ctrlPr>
                              <a:rPr lang="en-US" altLang="zh-CN" sz="2000" i="1" dirty="0" smtClean="0">
                                <a:solidFill>
                                  <a:srgbClr val="000000"/>
                                </a:solidFill>
                                <a:latin typeface="Cambria Math" panose="02040503050406030204" pitchFamily="18" charset="0"/>
                                <a:cs typeface="+mn-cs"/>
                              </a:rPr>
                            </m:ctrlPr>
                          </m:mPr>
                          <m:mr>
                            <m:e>
                              <m:r>
                                <a:rPr lang="en-US" altLang="zh-CN" sz="2000" dirty="0" smtClean="0">
                                  <a:solidFill>
                                    <a:srgbClr val="000000"/>
                                  </a:solidFill>
                                  <a:latin typeface="Cambria Math" panose="02040503050406030204" pitchFamily="18" charset="0"/>
                                  <a:cs typeface="+mn-cs"/>
                                </a:rPr>
                                <m:t>1</m:t>
                              </m:r>
                            </m:e>
                            <m:e>
                              <m:r>
                                <a:rPr lang="en-US" altLang="zh-CN" sz="2000" i="0" dirty="0" smtClean="0">
                                  <a:solidFill>
                                    <a:srgbClr val="000000"/>
                                  </a:solidFill>
                                  <a:latin typeface="Cambria Math" panose="02040503050406030204" pitchFamily="18" charset="0"/>
                                  <a:cs typeface="+mn-cs"/>
                                </a:rPr>
                                <m:t>0</m:t>
                              </m:r>
                            </m:e>
                            <m:e>
                              <m:r>
                                <a:rPr lang="en-US" altLang="zh-CN" sz="2000" i="0" dirty="0" smtClean="0">
                                  <a:solidFill>
                                    <a:srgbClr val="000000"/>
                                  </a:solidFill>
                                  <a:latin typeface="Cambria Math" panose="02040503050406030204" pitchFamily="18" charset="0"/>
                                  <a:cs typeface="+mn-cs"/>
                                </a:rPr>
                                <m:t>0</m:t>
                              </m:r>
                            </m:e>
                            <m:e>
                              <m:r>
                                <a:rPr lang="en-US" altLang="zh-CN" sz="2000" i="0" dirty="0" smtClean="0">
                                  <a:solidFill>
                                    <a:srgbClr val="000000"/>
                                  </a:solidFill>
                                  <a:latin typeface="Cambria Math" panose="02040503050406030204" pitchFamily="18" charset="0"/>
                                  <a:cs typeface="+mn-cs"/>
                                </a:rPr>
                                <m:t>0</m:t>
                              </m:r>
                            </m:e>
                          </m:mr>
                          <m:mr>
                            <m:e>
                              <m:r>
                                <a:rPr lang="en-US" altLang="zh-CN" sz="2000" i="0" dirty="0" smtClean="0">
                                  <a:solidFill>
                                    <a:srgbClr val="000000"/>
                                  </a:solidFill>
                                  <a:latin typeface="Cambria Math" panose="02040503050406030204" pitchFamily="18" charset="0"/>
                                  <a:cs typeface="+mn-cs"/>
                                </a:rPr>
                                <m:t>1</m:t>
                              </m:r>
                            </m:e>
                            <m:e>
                              <m:r>
                                <a:rPr lang="en-US" altLang="zh-CN" sz="2000" i="0" dirty="0" smtClean="0">
                                  <a:solidFill>
                                    <a:srgbClr val="000000"/>
                                  </a:solidFill>
                                  <a:latin typeface="Cambria Math" panose="02040503050406030204" pitchFamily="18" charset="0"/>
                                  <a:cs typeface="+mn-cs"/>
                                </a:rPr>
                                <m:t>1</m:t>
                              </m:r>
                            </m:e>
                            <m:e>
                              <m:r>
                                <a:rPr lang="en-US" altLang="zh-CN" sz="2000" i="0" dirty="0" smtClean="0">
                                  <a:solidFill>
                                    <a:srgbClr val="000000"/>
                                  </a:solidFill>
                                  <a:latin typeface="Cambria Math" panose="02040503050406030204" pitchFamily="18" charset="0"/>
                                  <a:cs typeface="+mn-cs"/>
                                </a:rPr>
                                <m:t>0</m:t>
                              </m:r>
                            </m:e>
                            <m:e>
                              <m:r>
                                <a:rPr lang="en-US" altLang="zh-CN" sz="2000" i="0" dirty="0" smtClean="0">
                                  <a:solidFill>
                                    <a:srgbClr val="000000"/>
                                  </a:solidFill>
                                  <a:latin typeface="Cambria Math" panose="02040503050406030204" pitchFamily="18" charset="0"/>
                                  <a:cs typeface="+mn-cs"/>
                                </a:rPr>
                                <m:t>0</m:t>
                              </m:r>
                            </m:e>
                          </m:mr>
                          <m:mr>
                            <m:e>
                              <m:r>
                                <a:rPr lang="en-US" altLang="zh-CN" sz="2000" i="0" dirty="0" smtClean="0">
                                  <a:solidFill>
                                    <a:srgbClr val="000000"/>
                                  </a:solidFill>
                                  <a:latin typeface="Cambria Math" panose="02040503050406030204" pitchFamily="18" charset="0"/>
                                  <a:cs typeface="+mn-cs"/>
                                </a:rPr>
                                <m:t>1</m:t>
                              </m:r>
                            </m:e>
                            <m:e>
                              <m:r>
                                <a:rPr lang="en-US" altLang="zh-CN" sz="2000" i="0" dirty="0" smtClean="0">
                                  <a:solidFill>
                                    <a:srgbClr val="000000"/>
                                  </a:solidFill>
                                  <a:latin typeface="Cambria Math" panose="02040503050406030204" pitchFamily="18" charset="0"/>
                                  <a:cs typeface="+mn-cs"/>
                                </a:rPr>
                                <m:t>0</m:t>
                              </m:r>
                            </m:e>
                            <m:e>
                              <m:r>
                                <a:rPr lang="en-US" altLang="zh-CN" sz="2000" i="0" dirty="0" smtClean="0">
                                  <a:solidFill>
                                    <a:srgbClr val="000000"/>
                                  </a:solidFill>
                                  <a:latin typeface="Cambria Math" panose="02040503050406030204" pitchFamily="18" charset="0"/>
                                  <a:cs typeface="+mn-cs"/>
                                </a:rPr>
                                <m:t>1</m:t>
                              </m:r>
                            </m:e>
                            <m:e>
                              <m:r>
                                <a:rPr lang="en-US" altLang="zh-CN" sz="2000" i="0" dirty="0" smtClean="0">
                                  <a:solidFill>
                                    <a:srgbClr val="000000"/>
                                  </a:solidFill>
                                  <a:latin typeface="Cambria Math" panose="02040503050406030204" pitchFamily="18" charset="0"/>
                                  <a:cs typeface="+mn-cs"/>
                                </a:rPr>
                                <m:t>0</m:t>
                              </m:r>
                            </m:e>
                          </m:mr>
                          <m:mr>
                            <m:e>
                              <m:r>
                                <a:rPr lang="en-US" altLang="zh-CN" sz="2000" i="0" dirty="0" smtClean="0">
                                  <a:solidFill>
                                    <a:srgbClr val="000000"/>
                                  </a:solidFill>
                                  <a:latin typeface="Cambria Math" panose="02040503050406030204" pitchFamily="18" charset="0"/>
                                  <a:cs typeface="+mn-cs"/>
                                </a:rPr>
                                <m:t>1</m:t>
                              </m:r>
                            </m:e>
                            <m:e>
                              <m:r>
                                <a:rPr lang="en-US" altLang="zh-CN" sz="2000" i="0" dirty="0" smtClean="0">
                                  <a:solidFill>
                                    <a:srgbClr val="000000"/>
                                  </a:solidFill>
                                  <a:latin typeface="Cambria Math" panose="02040503050406030204" pitchFamily="18" charset="0"/>
                                  <a:cs typeface="+mn-cs"/>
                                </a:rPr>
                                <m:t>1</m:t>
                              </m:r>
                            </m:e>
                            <m:e>
                              <m:r>
                                <a:rPr lang="en-US" altLang="zh-CN" sz="2000" i="0" dirty="0" smtClean="0">
                                  <a:solidFill>
                                    <a:srgbClr val="000000"/>
                                  </a:solidFill>
                                  <a:latin typeface="Cambria Math" panose="02040503050406030204" pitchFamily="18" charset="0"/>
                                  <a:cs typeface="+mn-cs"/>
                                </a:rPr>
                                <m:t>1</m:t>
                              </m:r>
                            </m:e>
                            <m:e>
                              <m:r>
                                <a:rPr lang="en-US" altLang="zh-CN" sz="2000" i="0" dirty="0" smtClean="0">
                                  <a:solidFill>
                                    <a:srgbClr val="000000"/>
                                  </a:solidFill>
                                  <a:latin typeface="Cambria Math" panose="02040503050406030204" pitchFamily="18" charset="0"/>
                                  <a:cs typeface="+mn-cs"/>
                                </a:rPr>
                                <m:t>1</m:t>
                              </m:r>
                            </m:e>
                          </m:mr>
                        </m:m>
                      </m:e>
                    </m:d>
                    <m:r>
                      <a:rPr lang="zh-CN" altLang="en-US" sz="2000" i="1" dirty="0">
                        <a:solidFill>
                          <a:srgbClr val="000000"/>
                        </a:solidFill>
                        <a:latin typeface="Cambria Math" panose="02040503050406030204" pitchFamily="18" charset="0"/>
                        <a:cs typeface="+mn-cs"/>
                      </a:rPr>
                      <m:t>。</m:t>
                    </m:r>
                  </m:oMath>
                </a14:m>
                <a:endParaRPr lang="en-US" altLang="zh-CN" sz="2000" dirty="0">
                  <a:solidFill>
                    <a:srgbClr val="000000"/>
                  </a:solidFill>
                  <a:latin typeface="+mn-lt"/>
                  <a:ea typeface="黑体" panose="02010609060101010101" pitchFamily="49" charset="-122"/>
                  <a:cs typeface="+mn-cs"/>
                </a:endParaRPr>
              </a:p>
              <a:p>
                <a:pPr>
                  <a:lnSpc>
                    <a:spcPct val="150000"/>
                  </a:lnSpc>
                </a:pPr>
                <a:endParaRPr lang="en-US" altLang="zh-CN" sz="2000" dirty="0">
                  <a:solidFill>
                    <a:srgbClr val="000000"/>
                  </a:solidFill>
                  <a:latin typeface="黑体" panose="02010609060101010101" pitchFamily="49" charset="-122"/>
                  <a:ea typeface="黑体" panose="02010609060101010101" pitchFamily="49" charset="-122"/>
                  <a:cs typeface="+mn-cs"/>
                </a:endParaRPr>
              </a:p>
              <a:p>
                <a:pPr>
                  <a:lnSpc>
                    <a:spcPct val="150000"/>
                  </a:lnSpc>
                </a:pPr>
                <a:endParaRPr lang="zh-CN" altLang="en-US" dirty="0"/>
              </a:p>
            </p:txBody>
          </p:sp>
        </mc:Choice>
        <mc:Fallback>
          <p:sp>
            <p:nvSpPr>
              <p:cNvPr id="5" name="文本框 4"/>
              <p:cNvSpPr txBox="1">
                <a:spLocks noRot="1" noChangeAspect="1" noMove="1" noResize="1" noEditPoints="1" noAdjustHandles="1" noChangeArrowheads="1" noChangeShapeType="1" noTextEdit="1"/>
              </p:cNvSpPr>
              <p:nvPr/>
            </p:nvSpPr>
            <p:spPr>
              <a:xfrm>
                <a:off x="838298" y="1024295"/>
                <a:ext cx="7467404" cy="5713359"/>
              </a:xfrm>
              <a:prstGeom prst="rect">
                <a:avLst/>
              </a:prstGeom>
              <a:blipFill rotWithShape="1">
                <a:blip r:embed="rId1"/>
                <a:stretch>
                  <a:fillRect l="-1" t="-1" r="7" b="5"/>
                </a:stretch>
              </a:blipFill>
            </p:spPr>
            <p:txBody>
              <a:bodyPr/>
              <a:lstStyle/>
              <a:p>
                <a:r>
                  <a:rPr lang="zh-CN"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257782" y="152468"/>
            <a:ext cx="3733702" cy="685800"/>
          </a:xfrm>
        </p:spPr>
        <p:txBody>
          <a:bodyPr/>
          <a:lstStyle/>
          <a:p>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码的</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码序列</a:t>
            </a:r>
            <a:endParaRPr lang="zh-CN" altLang="en-US" sz="2400" dirty="0">
              <a:sym typeface="+mn-ea"/>
            </a:endParaRPr>
          </a:p>
        </p:txBody>
      </p:sp>
      <p:sp>
        <p:nvSpPr>
          <p:cNvPr id="5" name="文本框 4"/>
          <p:cNvSpPr txBox="1"/>
          <p:nvPr/>
        </p:nvSpPr>
        <p:spPr>
          <a:xfrm>
            <a:off x="190615" y="1524050"/>
            <a:ext cx="8762770" cy="4149854"/>
          </a:xfrm>
          <a:prstGeom prst="rect">
            <a:avLst/>
          </a:prstGeom>
          <a:noFill/>
        </p:spPr>
        <p:txBody>
          <a:bodyPr wrap="square">
            <a:spAutoFit/>
          </a:bodyPr>
          <a:lstStyle/>
          <a:p>
            <a:pPr>
              <a:lnSpc>
                <a:spcPct val="200000"/>
              </a:lnSpc>
            </a:pPr>
            <a:r>
              <a:rPr lang="en-US" altLang="zh-CN" sz="2000" dirty="0">
                <a:solidFill>
                  <a:srgbClr val="000000"/>
                </a:solidFill>
                <a:latin typeface="黑体" panose="02010609060101010101" pitchFamily="49" charset="-122"/>
                <a:ea typeface="黑体" panose="02010609060101010101" pitchFamily="49" charset="-122"/>
                <a:cs typeface="+mn-cs"/>
              </a:rPr>
              <a:t>    </a:t>
            </a:r>
            <a:r>
              <a:rPr lang="en-US" altLang="zh-CN" sz="2000" dirty="0">
                <a:solidFill>
                  <a:srgbClr val="000000"/>
                </a:solidFill>
                <a:latin typeface="+mn-lt"/>
                <a:ea typeface="黑体" panose="02010609060101010101" pitchFamily="49" charset="-122"/>
                <a:cs typeface="+mn-cs"/>
              </a:rPr>
              <a:t>Polar</a:t>
            </a:r>
            <a:r>
              <a:rPr lang="zh-CN" altLang="en-US" sz="2000" dirty="0">
                <a:solidFill>
                  <a:srgbClr val="000000"/>
                </a:solidFill>
                <a:latin typeface="+mn-lt"/>
                <a:ea typeface="黑体" panose="02010609060101010101" pitchFamily="49" charset="-122"/>
                <a:cs typeface="+mn-cs"/>
              </a:rPr>
              <a:t>码序列也称为“好信道选择”。用于指示</a:t>
            </a:r>
            <a:r>
              <a:rPr lang="en-US" altLang="zh-CN" sz="2000" dirty="0">
                <a:solidFill>
                  <a:srgbClr val="000000"/>
                </a:solidFill>
                <a:latin typeface="+mn-lt"/>
                <a:ea typeface="黑体" panose="02010609060101010101" pitchFamily="49" charset="-122"/>
                <a:cs typeface="+mn-cs"/>
              </a:rPr>
              <a:t>Polar</a:t>
            </a:r>
            <a:r>
              <a:rPr lang="zh-CN" altLang="en-US" sz="2000" dirty="0">
                <a:solidFill>
                  <a:srgbClr val="000000"/>
                </a:solidFill>
                <a:latin typeface="+mn-lt"/>
                <a:ea typeface="黑体" panose="02010609060101010101" pitchFamily="49" charset="-122"/>
                <a:cs typeface="+mn-cs"/>
              </a:rPr>
              <a:t>码编码前的比特选择顺序。</a:t>
            </a:r>
            <a:r>
              <a:rPr lang="en-US" altLang="zh-CN" sz="2000" dirty="0">
                <a:solidFill>
                  <a:srgbClr val="000000"/>
                </a:solidFill>
                <a:latin typeface="+mn-lt"/>
                <a:ea typeface="黑体" panose="02010609060101010101" pitchFamily="49" charset="-122"/>
                <a:cs typeface="+mn-cs"/>
              </a:rPr>
              <a:t>Polar</a:t>
            </a:r>
            <a:r>
              <a:rPr lang="zh-CN" altLang="en-US" sz="2000" dirty="0">
                <a:solidFill>
                  <a:srgbClr val="000000"/>
                </a:solidFill>
                <a:latin typeface="+mn-lt"/>
                <a:ea typeface="黑体" panose="02010609060101010101" pitchFamily="49" charset="-122"/>
                <a:cs typeface="+mn-cs"/>
              </a:rPr>
              <a:t>码可以按照信道的可靠度</a:t>
            </a:r>
            <a:r>
              <a:rPr lang="zh-CN" altLang="en-US" sz="2000" u="sng" dirty="0">
                <a:solidFill>
                  <a:srgbClr val="000000"/>
                </a:solidFill>
                <a:latin typeface="+mn-lt"/>
                <a:ea typeface="黑体" panose="02010609060101010101" pitchFamily="49" charset="-122"/>
                <a:cs typeface="+mn-cs"/>
              </a:rPr>
              <a:t>从低到高</a:t>
            </a:r>
            <a:r>
              <a:rPr lang="zh-CN" altLang="en-US" sz="2000" dirty="0">
                <a:solidFill>
                  <a:srgbClr val="000000"/>
                </a:solidFill>
                <a:latin typeface="+mn-lt"/>
                <a:ea typeface="黑体" panose="02010609060101010101" pitchFamily="49" charset="-122"/>
                <a:cs typeface="+mn-cs"/>
              </a:rPr>
              <a:t>排列（默认用</a:t>
            </a:r>
            <a:r>
              <a:rPr lang="en-US" altLang="zh-CN" sz="2000" dirty="0">
                <a:solidFill>
                  <a:srgbClr val="000000"/>
                </a:solidFill>
                <a:latin typeface="+mn-lt"/>
                <a:ea typeface="黑体" panose="02010609060101010101" pitchFamily="49" charset="-122"/>
                <a:cs typeface="+mn-cs"/>
              </a:rPr>
              <a:t>3GPP</a:t>
            </a:r>
            <a:r>
              <a:rPr lang="zh-CN" altLang="en-US" sz="2000" dirty="0">
                <a:solidFill>
                  <a:srgbClr val="000000"/>
                </a:solidFill>
                <a:latin typeface="+mn-lt"/>
                <a:ea typeface="黑体" panose="02010609060101010101" pitchFamily="49" charset="-122"/>
                <a:cs typeface="+mn-cs"/>
              </a:rPr>
              <a:t>方式），也可以按照可靠度从高到低排列。</a:t>
            </a:r>
            <a:endParaRPr lang="en-US" altLang="zh-CN" sz="2000" dirty="0">
              <a:solidFill>
                <a:srgbClr val="000000"/>
              </a:solidFill>
              <a:latin typeface="+mn-lt"/>
              <a:ea typeface="黑体" panose="02010609060101010101" pitchFamily="49" charset="-122"/>
              <a:cs typeface="+mn-cs"/>
            </a:endParaRPr>
          </a:p>
          <a:p>
            <a:pPr>
              <a:lnSpc>
                <a:spcPct val="200000"/>
              </a:lnSpc>
            </a:pPr>
            <a:r>
              <a:rPr lang="en-US" altLang="zh-CN" sz="2000" dirty="0">
                <a:solidFill>
                  <a:srgbClr val="000000"/>
                </a:solidFill>
                <a:latin typeface="+mn-lt"/>
                <a:ea typeface="黑体" panose="02010609060101010101" pitchFamily="49" charset="-122"/>
                <a:cs typeface="+mn-cs"/>
              </a:rPr>
              <a:t>        </a:t>
            </a:r>
            <a:r>
              <a:rPr lang="zh-CN" altLang="en-US" sz="2000" dirty="0">
                <a:solidFill>
                  <a:srgbClr val="000000"/>
                </a:solidFill>
                <a:latin typeface="+mn-lt"/>
                <a:ea typeface="黑体" panose="02010609060101010101" pitchFamily="49" charset="-122"/>
                <a:cs typeface="+mn-cs"/>
              </a:rPr>
              <a:t>通常使用行权重（</a:t>
            </a:r>
            <a:r>
              <a:rPr lang="en-US" altLang="zh-CN" sz="2000" dirty="0">
                <a:solidFill>
                  <a:srgbClr val="000000"/>
                </a:solidFill>
                <a:latin typeface="+mn-lt"/>
                <a:ea typeface="黑体" panose="02010609060101010101" pitchFamily="49" charset="-122"/>
                <a:cs typeface="+mn-cs"/>
              </a:rPr>
              <a:t>RW</a:t>
            </a:r>
            <a:r>
              <a:rPr lang="zh-CN" altLang="en-US" sz="2000" dirty="0">
                <a:solidFill>
                  <a:srgbClr val="000000"/>
                </a:solidFill>
                <a:latin typeface="+mn-lt"/>
                <a:ea typeface="黑体" panose="02010609060101010101" pitchFamily="49" charset="-122"/>
                <a:cs typeface="+mn-cs"/>
              </a:rPr>
              <a:t>）序列，对于生成矩阵</a:t>
            </a:r>
            <a:r>
              <a:rPr lang="en-US" altLang="zh-CN" sz="2000" dirty="0">
                <a:solidFill>
                  <a:srgbClr val="000000"/>
                </a:solidFill>
                <a:latin typeface="+mn-lt"/>
                <a:ea typeface="黑体" panose="02010609060101010101" pitchFamily="49" charset="-122"/>
                <a:cs typeface="+mn-cs"/>
              </a:rPr>
              <a:t>G</a:t>
            </a:r>
            <a:r>
              <a:rPr lang="zh-CN" altLang="en-US" sz="2000" dirty="0">
                <a:solidFill>
                  <a:srgbClr val="000000"/>
                </a:solidFill>
                <a:latin typeface="+mn-lt"/>
                <a:ea typeface="黑体" panose="02010609060101010101" pitchFamily="49" charset="-122"/>
                <a:cs typeface="+mn-cs"/>
              </a:rPr>
              <a:t>的每一行，计算出所有元素的总和得到各行的行权重，然后对行权重由低到高排序（越大可靠度越高），则各行权重对应行号为所述</a:t>
            </a:r>
            <a:r>
              <a:rPr lang="en-US" altLang="zh-CN" sz="2000" dirty="0">
                <a:solidFill>
                  <a:srgbClr val="000000"/>
                </a:solidFill>
                <a:latin typeface="+mn-lt"/>
                <a:ea typeface="黑体" panose="02010609060101010101" pitchFamily="49" charset="-122"/>
                <a:cs typeface="+mn-cs"/>
              </a:rPr>
              <a:t>RW</a:t>
            </a:r>
            <a:r>
              <a:rPr lang="zh-CN" altLang="en-US" sz="2000" dirty="0">
                <a:solidFill>
                  <a:srgbClr val="000000"/>
                </a:solidFill>
                <a:latin typeface="+mn-lt"/>
                <a:ea typeface="黑体" panose="02010609060101010101" pitchFamily="49" charset="-122"/>
                <a:cs typeface="+mn-cs"/>
              </a:rPr>
              <a:t>序列。</a:t>
            </a:r>
            <a:endParaRPr lang="en-US" altLang="zh-CN" sz="2000" dirty="0">
              <a:solidFill>
                <a:srgbClr val="000000"/>
              </a:solidFill>
              <a:latin typeface="+mn-lt"/>
              <a:ea typeface="黑体" panose="02010609060101010101" pitchFamily="49" charset="-122"/>
              <a:cs typeface="+mn-cs"/>
            </a:endParaRPr>
          </a:p>
          <a:p>
            <a:pPr>
              <a:lnSpc>
                <a:spcPct val="150000"/>
              </a:lnSpc>
            </a:pP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257782" y="152468"/>
            <a:ext cx="3733702" cy="685800"/>
          </a:xfrm>
        </p:spPr>
        <p:txBody>
          <a:bodyPr/>
          <a:lstStyle/>
          <a:p>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的构造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码序列</a:t>
            </a:r>
            <a:endParaRPr lang="zh-CN" altLang="en-US" sz="2400" dirty="0">
              <a:sym typeface="+mn-ea"/>
            </a:endParaRPr>
          </a:p>
        </p:txBody>
      </p:sp>
      <mc:AlternateContent xmlns:mc="http://schemas.openxmlformats.org/markup-compatibility/2006">
        <mc:Choice xmlns:a14="http://schemas.microsoft.com/office/drawing/2010/main" Requires="a14">
          <p:sp>
            <p:nvSpPr>
              <p:cNvPr id="5" name="文本框 4"/>
              <p:cNvSpPr txBox="1"/>
              <p:nvPr/>
            </p:nvSpPr>
            <p:spPr>
              <a:xfrm>
                <a:off x="228714" y="983524"/>
                <a:ext cx="8762770" cy="918200"/>
              </a:xfrm>
              <a:prstGeom prst="rect">
                <a:avLst/>
              </a:prstGeom>
              <a:noFill/>
            </p:spPr>
            <p:txBody>
              <a:bodyPr wrap="square">
                <a:spAutoFit/>
              </a:bodyPr>
              <a:lstStyle/>
              <a:p>
                <a:pPr>
                  <a:lnSpc>
                    <a:spcPct val="150000"/>
                  </a:lnSpc>
                </a:pPr>
                <a:r>
                  <a:rPr lang="zh-CN" altLang="en-US" sz="2000" dirty="0">
                    <a:solidFill>
                      <a:srgbClr val="000000"/>
                    </a:solidFill>
                    <a:latin typeface="黑体" panose="02010609060101010101" pitchFamily="49" charset="-122"/>
                    <a:ea typeface="黑体" panose="02010609060101010101" pitchFamily="49" charset="-122"/>
                    <a:cs typeface="+mn-cs"/>
                  </a:rPr>
                  <a:t>    例如，</a:t>
                </a:r>
                <a:r>
                  <a:rPr lang="zh-CN" altLang="en-US" sz="2000" dirty="0">
                    <a:solidFill>
                      <a:srgbClr val="000000"/>
                    </a:solidFill>
                    <a:latin typeface="+mn-lt"/>
                    <a:ea typeface="黑体" panose="02010609060101010101" pitchFamily="49" charset="-122"/>
                    <a:cs typeface="+mn-cs"/>
                  </a:rPr>
                  <a:t>对于</a:t>
                </a:r>
                <a14:m>
                  <m:oMath xmlns:m="http://schemas.openxmlformats.org/officeDocument/2006/math">
                    <m:sSub>
                      <m:sSubPr>
                        <m:ctrlPr>
                          <a:rPr lang="zh-CN" altLang="en-US" sz="2000" i="1" smtClean="0">
                            <a:solidFill>
                              <a:srgbClr val="000000"/>
                            </a:solidFill>
                            <a:latin typeface="Cambria Math" panose="02040503050406030204" pitchFamily="18" charset="0"/>
                            <a:cs typeface="+mn-cs"/>
                          </a:rPr>
                        </m:ctrlPr>
                      </m:sSubPr>
                      <m:e>
                        <m:r>
                          <a:rPr lang="zh-CN" altLang="en-US" sz="2000" i="1" smtClean="0">
                            <a:solidFill>
                              <a:srgbClr val="000000"/>
                            </a:solidFill>
                            <a:latin typeface="Cambria Math" panose="02040503050406030204" pitchFamily="18" charset="0"/>
                            <a:cs typeface="+mn-cs"/>
                          </a:rPr>
                          <m:t>𝐺</m:t>
                        </m:r>
                      </m:e>
                      <m:sub>
                        <m:r>
                          <a:rPr lang="zh-CN" altLang="en-US" sz="2000" i="1" smtClean="0">
                            <a:solidFill>
                              <a:srgbClr val="000000"/>
                            </a:solidFill>
                            <a:latin typeface="Cambria Math" panose="02040503050406030204" pitchFamily="18" charset="0"/>
                            <a:cs typeface="+mn-cs"/>
                          </a:rPr>
                          <m:t>8</m:t>
                        </m:r>
                      </m:sub>
                    </m:sSub>
                  </m:oMath>
                </a14:m>
                <a:r>
                  <a:rPr lang="en-US" altLang="zh-CN" sz="2000" dirty="0">
                    <a:solidFill>
                      <a:srgbClr val="000000"/>
                    </a:solidFill>
                    <a:latin typeface="+mn-lt"/>
                    <a:ea typeface="黑体" panose="02010609060101010101" pitchFamily="49" charset="-122"/>
                    <a:cs typeface="+mn-cs"/>
                  </a:rPr>
                  <a:t> Polar</a:t>
                </a:r>
                <a:r>
                  <a:rPr lang="zh-CN" altLang="en-US" sz="2000" dirty="0">
                    <a:solidFill>
                      <a:srgbClr val="000000"/>
                    </a:solidFill>
                    <a:latin typeface="+mn-lt"/>
                    <a:ea typeface="黑体" panose="02010609060101010101" pitchFamily="49" charset="-122"/>
                    <a:cs typeface="+mn-cs"/>
                  </a:rPr>
                  <a:t>码，其生成矩阵为</a:t>
                </a:r>
                <a:r>
                  <a:rPr lang="zh-CN" altLang="en-US" sz="2000" dirty="0">
                    <a:solidFill>
                      <a:srgbClr val="000000"/>
                    </a:solidFill>
                    <a:latin typeface="黑体" panose="02010609060101010101" pitchFamily="49" charset="-122"/>
                    <a:ea typeface="黑体" panose="02010609060101010101" pitchFamily="49" charset="-122"/>
                    <a:cs typeface="+mn-cs"/>
                  </a:rPr>
                  <a:t>：</a:t>
                </a:r>
                <a:endParaRPr lang="en-US" altLang="zh-CN" sz="2000" dirty="0">
                  <a:solidFill>
                    <a:srgbClr val="000000"/>
                  </a:solidFill>
                  <a:latin typeface="黑体" panose="02010609060101010101" pitchFamily="49" charset="-122"/>
                  <a:ea typeface="黑体" panose="02010609060101010101" pitchFamily="49" charset="-122"/>
                  <a:cs typeface="+mn-cs"/>
                </a:endParaRPr>
              </a:p>
              <a:p>
                <a:pPr>
                  <a:lnSpc>
                    <a:spcPct val="150000"/>
                  </a:lnSpc>
                </a:pPr>
                <a:endParaRPr lang="zh-CN" altLang="en-US" dirty="0"/>
              </a:p>
            </p:txBody>
          </p:sp>
        </mc:Choice>
        <mc:Fallback>
          <p:sp>
            <p:nvSpPr>
              <p:cNvPr id="5" name="文本框 4"/>
              <p:cNvSpPr txBox="1">
                <a:spLocks noRot="1" noChangeAspect="1" noMove="1" noResize="1" noEditPoints="1" noAdjustHandles="1" noChangeArrowheads="1" noChangeShapeType="1" noTextEdit="1"/>
              </p:cNvSpPr>
              <p:nvPr/>
            </p:nvSpPr>
            <p:spPr>
              <a:xfrm>
                <a:off x="228714" y="983524"/>
                <a:ext cx="8762770" cy="918200"/>
              </a:xfrm>
              <a:prstGeom prst="rect">
                <a:avLst/>
              </a:prstGeom>
              <a:blipFill rotWithShape="1">
                <a:blip r:embed="rId1"/>
                <a:stretch>
                  <a:fillRect l="-1" t="-59" r="6" b="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2514654" y="1901724"/>
                <a:ext cx="3545137" cy="2044470"/>
              </a:xfrm>
              <a:prstGeom prst="rect">
                <a:avLst/>
              </a:prstGeom>
              <a:noFill/>
            </p:spPr>
            <p:txBody>
              <a:bodyPr wrap="none" lIns="0" tIns="0" rIns="0" bIns="0" rtlCol="0" anchor="t">
                <a:spAutoFit/>
              </a:bodyPr>
              <a:lstStyle/>
              <a:p>
                <a14:m>
                  <m:oMathPara xmlns:m="http://schemas.openxmlformats.org/officeDocument/2006/math">
                    <m:oMathParaPr>
                      <m:jc m:val="centerGroup"/>
                    </m:oMathParaPr>
                    <m:oMath xmlns:m="http://schemas.openxmlformats.org/officeDocument/2006/math">
                      <m:sSub>
                        <m:sSubPr>
                          <m:ctrlPr>
                            <a:rPr lang="zh-CN" altLang="en-US" b="1" i="1" smtClean="0">
                              <a:solidFill>
                                <a:schemeClr val="tx1"/>
                              </a:solidFill>
                              <a:latin typeface="Cambria Math" panose="02040503050406030204" pitchFamily="18" charset="0"/>
                              <a:sym typeface="+mn-ea"/>
                            </a:rPr>
                          </m:ctrlPr>
                        </m:sSubPr>
                        <m:e>
                          <m:r>
                            <a:rPr lang="zh-CN" altLang="en-US" b="1" i="1" smtClean="0">
                              <a:solidFill>
                                <a:schemeClr val="tx1"/>
                              </a:solidFill>
                              <a:latin typeface="Cambria Math" panose="02040503050406030204" pitchFamily="18" charset="0"/>
                              <a:sym typeface="+mn-ea"/>
                            </a:rPr>
                            <m:t>𝑮</m:t>
                          </m:r>
                        </m:e>
                        <m:sub>
                          <m:r>
                            <a:rPr lang="zh-CN" altLang="en-US" b="1" i="1" smtClean="0">
                              <a:solidFill>
                                <a:schemeClr val="tx1"/>
                              </a:solidFill>
                              <a:latin typeface="Cambria Math" panose="02040503050406030204" pitchFamily="18" charset="0"/>
                              <a:sym typeface="+mn-ea"/>
                            </a:rPr>
                            <m:t>𝟖</m:t>
                          </m:r>
                        </m:sub>
                      </m:sSub>
                      <m:r>
                        <a:rPr lang="zh-CN" altLang="en-US" b="1" i="1" smtClean="0">
                          <a:solidFill>
                            <a:schemeClr val="tx1"/>
                          </a:solidFill>
                          <a:latin typeface="Cambria Math" panose="02040503050406030204" pitchFamily="18" charset="0"/>
                          <a:sym typeface="+mn-ea"/>
                        </a:rPr>
                        <m:t>=</m:t>
                      </m:r>
                      <m:d>
                        <m:dPr>
                          <m:begChr m:val="["/>
                          <m:endChr m:val="]"/>
                          <m:ctrlPr>
                            <a:rPr lang="zh-CN" altLang="en-US" b="1" i="1" smtClean="0">
                              <a:solidFill>
                                <a:schemeClr val="tx1"/>
                              </a:solidFill>
                              <a:latin typeface="Cambria Math" panose="02040503050406030204" pitchFamily="18" charset="0"/>
                              <a:sym typeface="+mn-ea"/>
                            </a:rPr>
                          </m:ctrlPr>
                        </m:dPr>
                        <m:e>
                          <m:m>
                            <m:mPr>
                              <m:mcs>
                                <m:mc>
                                  <m:mcPr>
                                    <m:count m:val="8"/>
                                    <m:mcJc m:val="center"/>
                                  </m:mcPr>
                                </m:mc>
                              </m:mcs>
                              <m:plcHide m:val="on"/>
                              <m:ctrlPr>
                                <a:rPr lang="zh-CN" altLang="en-US" b="1" i="1" smtClean="0">
                                  <a:solidFill>
                                    <a:schemeClr val="tx1"/>
                                  </a:solidFill>
                                  <a:latin typeface="Cambria Math" panose="02040503050406030204" pitchFamily="18" charset="0"/>
                                  <a:sym typeface="+mn-ea"/>
                                </a:rPr>
                              </m:ctrlPr>
                            </m:mPr>
                            <m:mr>
                              <m:e>
                                <m:eqArr>
                                  <m:eqArrPr>
                                    <m:ctrlPr>
                                      <a:rPr lang="zh-CN" altLang="en-US" b="1" i="1" smtClean="0">
                                        <a:solidFill>
                                          <a:schemeClr val="tx1"/>
                                        </a:solidFill>
                                        <a:latin typeface="Cambria Math" panose="02040503050406030204" pitchFamily="18" charset="0"/>
                                        <a:sym typeface="+mn-ea"/>
                                      </a:rPr>
                                    </m:ctrlPr>
                                  </m:eqArrPr>
                                  <m:e>
                                    <m:r>
                                      <a:rPr lang="zh-CN" altLang="en-US"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𝟏</m:t>
                                    </m:r>
                                  </m:e>
                                </m:eqArr>
                              </m:e>
                              <m:e>
                                <m:eqArr>
                                  <m:eqArrPr>
                                    <m:ctrlPr>
                                      <a:rPr lang="zh-CN" altLang="en-US" b="1" i="1" smtClean="0">
                                        <a:solidFill>
                                          <a:schemeClr val="tx1"/>
                                        </a:solidFill>
                                        <a:latin typeface="Cambria Math" panose="02040503050406030204" pitchFamily="18" charset="0"/>
                                        <a:sym typeface="+mn-ea"/>
                                      </a:rPr>
                                    </m:ctrlPr>
                                  </m:eqArrPr>
                                  <m:e>
                                    <m:r>
                                      <a:rPr lang="zh-CN" altLang="en-US"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𝟎</m:t>
                                    </m:r>
                                  </m:e>
                                </m:eqArr>
                              </m:e>
                              <m:e>
                                <m:eqArr>
                                  <m:eqArrPr>
                                    <m:ctrlPr>
                                      <a:rPr lang="zh-CN" altLang="en-US" b="1" i="1" smtClean="0">
                                        <a:solidFill>
                                          <a:schemeClr val="tx1"/>
                                        </a:solidFill>
                                        <a:latin typeface="Cambria Math" panose="02040503050406030204" pitchFamily="18" charset="0"/>
                                        <a:sym typeface="+mn-ea"/>
                                      </a:rPr>
                                    </m:ctrlPr>
                                  </m:eqArrPr>
                                  <m:e>
                                    <m:r>
                                      <a:rPr lang="zh-CN" altLang="en-US"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𝟏</m:t>
                                    </m:r>
                                  </m:e>
                                </m:eqArr>
                              </m:e>
                              <m:e>
                                <m:eqArr>
                                  <m:eqArrPr>
                                    <m:ctrlPr>
                                      <a:rPr lang="zh-CN" altLang="en-US" b="1" i="1" smtClean="0">
                                        <a:solidFill>
                                          <a:schemeClr val="tx1"/>
                                        </a:solidFill>
                                        <a:latin typeface="Cambria Math" panose="02040503050406030204" pitchFamily="18" charset="0"/>
                                        <a:sym typeface="+mn-ea"/>
                                      </a:rPr>
                                    </m:ctrlPr>
                                  </m:eqArrPr>
                                  <m:e>
                                    <m:r>
                                      <a:rPr lang="zh-CN" altLang="en-US"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qArr>
                              </m:e>
                              <m:e>
                                <m:eqArr>
                                  <m:eqArrPr>
                                    <m:ctrlPr>
                                      <a:rPr lang="zh-CN" altLang="en-US" b="1" i="1" smtClean="0">
                                        <a:solidFill>
                                          <a:schemeClr val="tx1"/>
                                        </a:solidFill>
                                        <a:latin typeface="Cambria Math" panose="02040503050406030204" pitchFamily="18" charset="0"/>
                                        <a:sym typeface="+mn-ea"/>
                                      </a:rPr>
                                    </m:ctrlPr>
                                  </m:eqArrPr>
                                  <m:e>
                                    <m:r>
                                      <a:rPr lang="zh-CN" altLang="en-US"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𝟏</m:t>
                                    </m:r>
                                  </m:e>
                                </m:eqArr>
                              </m:e>
                              <m:e>
                                <m:eqArr>
                                  <m:eqArrPr>
                                    <m:ctrlPr>
                                      <a:rPr lang="zh-CN" altLang="en-US" b="1" i="1" smtClean="0">
                                        <a:solidFill>
                                          <a:schemeClr val="tx1"/>
                                        </a:solidFill>
                                        <a:latin typeface="Cambria Math" panose="02040503050406030204" pitchFamily="18" charset="0"/>
                                        <a:sym typeface="+mn-ea"/>
                                      </a:rPr>
                                    </m:ctrlPr>
                                  </m:eqArrPr>
                                  <m:e>
                                    <m:r>
                                      <a:rPr lang="zh-CN" altLang="en-US"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qArr>
                              </m:e>
                              <m:e>
                                <m:eqArr>
                                  <m:eqArrPr>
                                    <m:ctrlPr>
                                      <a:rPr lang="zh-CN" altLang="en-US" b="1" i="1" smtClean="0">
                                        <a:solidFill>
                                          <a:schemeClr val="tx1"/>
                                        </a:solidFill>
                                        <a:latin typeface="Cambria Math" panose="02040503050406030204" pitchFamily="18" charset="0"/>
                                        <a:sym typeface="+mn-ea"/>
                                      </a:rPr>
                                    </m:ctrlPr>
                                  </m:eqArrPr>
                                  <m:e>
                                    <m:r>
                                      <a:rPr lang="zh-CN" altLang="en-US"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𝟏</m:t>
                                    </m:r>
                                  </m:e>
                                </m:eqArr>
                              </m:e>
                              <m:e>
                                <m:eqArr>
                                  <m:eqArrPr>
                                    <m:ctrlPr>
                                      <a:rPr lang="zh-CN" altLang="en-US" b="1" i="1" smtClean="0">
                                        <a:solidFill>
                                          <a:schemeClr val="tx1"/>
                                        </a:solidFill>
                                        <a:latin typeface="Cambria Math" panose="02040503050406030204" pitchFamily="18" charset="0"/>
                                        <a:sym typeface="+mn-ea"/>
                                      </a:rPr>
                                    </m:ctrlPr>
                                  </m:eqArrPr>
                                  <m:e>
                                    <m:r>
                                      <a:rPr lang="zh-CN" altLang="en-US"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
                                    <m:r>
                                      <a:rPr lang="en-US" altLang="zh-CN" b="1" i="1" smtClean="0">
                                        <a:solidFill>
                                          <a:schemeClr val="tx1"/>
                                        </a:solidFill>
                                        <a:latin typeface="Cambria Math" panose="02040503050406030204" pitchFamily="18" charset="0"/>
                                        <a:sym typeface="+mn-ea"/>
                                      </a:rPr>
                                      <m:t>𝟎</m:t>
                                    </m:r>
                                  </m:e>
                                </m:eqArr>
                              </m:e>
                            </m:mr>
                            <m:mr>
                              <m:e>
                                <m:r>
                                  <a:rPr lang="zh-CN" altLang="en-US"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𝟏</m:t>
                                </m:r>
                              </m:e>
                              <m:e>
                                <m:r>
                                  <a:rPr lang="en-US" altLang="zh-CN" b="1" i="1" smtClean="0">
                                    <a:solidFill>
                                      <a:schemeClr val="tx1"/>
                                    </a:solidFill>
                                    <a:latin typeface="Cambria Math" panose="02040503050406030204" pitchFamily="18" charset="0"/>
                                    <a:sym typeface="+mn-ea"/>
                                  </a:rPr>
                                  <m:t>𝟏</m:t>
                                </m:r>
                              </m:e>
                            </m:mr>
                          </m:m>
                        </m:e>
                      </m:d>
                    </m:oMath>
                  </m:oMathPara>
                </a14:m>
                <a:endParaRPr lang="zh-CN" altLang="en-US" b="1" dirty="0">
                  <a:solidFill>
                    <a:schemeClr val="tx1"/>
                  </a:solidFill>
                  <a:latin typeface="黑体" panose="02010609060101010101" pitchFamily="49" charset="-122"/>
                  <a:ea typeface="黑体" panose="02010609060101010101" pitchFamily="49" charset="-122"/>
                  <a:sym typeface="+mn-ea"/>
                </a:endParaRPr>
              </a:p>
            </p:txBody>
          </p:sp>
        </mc:Choice>
        <mc:Fallback>
          <p:sp>
            <p:nvSpPr>
              <p:cNvPr id="7" name="文本框 6"/>
              <p:cNvSpPr txBox="1">
                <a:spLocks noRot="1" noChangeAspect="1" noMove="1" noResize="1" noEditPoints="1" noAdjustHandles="1" noChangeArrowheads="1" noChangeShapeType="1" noTextEdit="1"/>
              </p:cNvSpPr>
              <p:nvPr/>
            </p:nvSpPr>
            <p:spPr>
              <a:xfrm>
                <a:off x="2514654" y="1901724"/>
                <a:ext cx="3545137" cy="2044470"/>
              </a:xfrm>
              <a:prstGeom prst="rect">
                <a:avLst/>
              </a:prstGeom>
              <a:blipFill rotWithShape="1">
                <a:blip r:embed="rId2"/>
                <a:stretch>
                  <a:fillRect l="-2" t="-26" r="-1326" b="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609704" y="4445879"/>
                <a:ext cx="7695998" cy="1405193"/>
              </a:xfrm>
              <a:prstGeom prst="rect">
                <a:avLst/>
              </a:prstGeom>
              <a:noFill/>
            </p:spPr>
            <p:txBody>
              <a:bodyPr wrap="square">
                <a:spAutoFit/>
              </a:bodyPr>
              <a:lstStyle/>
              <a:p>
                <a:pPr>
                  <a:lnSpc>
                    <a:spcPct val="150000"/>
                  </a:lnSpc>
                </a:pPr>
                <a:r>
                  <a:rPr lang="zh-CN" altLang="en-US" sz="2000" dirty="0">
                    <a:solidFill>
                      <a:srgbClr val="000000"/>
                    </a:solidFill>
                    <a:latin typeface="黑体" panose="02010609060101010101" pitchFamily="49" charset="-122"/>
                    <a:ea typeface="黑体" panose="02010609060101010101" pitchFamily="49" charset="-122"/>
                    <a:cs typeface="+mn-cs"/>
                  </a:rPr>
                  <a:t> 各行的权重</a:t>
                </a:r>
                <a:r>
                  <a:rPr lang="zh-CN" altLang="en-US" sz="2000" dirty="0">
                    <a:solidFill>
                      <a:srgbClr val="000000"/>
                    </a:solidFill>
                    <a:latin typeface="+mn-lt"/>
                    <a:ea typeface="黑体" panose="02010609060101010101" pitchFamily="49" charset="-122"/>
                    <a:cs typeface="+mn-cs"/>
                  </a:rPr>
                  <a:t>分别为</a:t>
                </a:r>
                <a:r>
                  <a:rPr lang="en-US" altLang="zh-CN" sz="2000" dirty="0">
                    <a:solidFill>
                      <a:srgbClr val="000000"/>
                    </a:solidFill>
                    <a:latin typeface="+mn-lt"/>
                    <a:ea typeface="黑体" panose="02010609060101010101" pitchFamily="49" charset="-122"/>
                    <a:cs typeface="+mn-cs"/>
                  </a:rPr>
                  <a:t>1</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2</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2</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4</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2</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4</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4</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8</a:t>
                </a:r>
                <a:r>
                  <a:rPr lang="zh-CN" altLang="en-US" sz="2000" dirty="0">
                    <a:solidFill>
                      <a:srgbClr val="000000"/>
                    </a:solidFill>
                    <a:latin typeface="+mn-lt"/>
                    <a:ea typeface="黑体" panose="02010609060101010101" pitchFamily="49" charset="-122"/>
                    <a:cs typeface="+mn-cs"/>
                  </a:rPr>
                  <a:t>那么</a:t>
                </a:r>
                <a14:m>
                  <m:oMath xmlns:m="http://schemas.openxmlformats.org/officeDocument/2006/math">
                    <m:sSub>
                      <m:sSubPr>
                        <m:ctrlPr>
                          <a:rPr lang="en-US" altLang="zh-CN" sz="2000" i="1" smtClean="0">
                            <a:solidFill>
                              <a:srgbClr val="000000"/>
                            </a:solidFill>
                            <a:latin typeface="Cambria Math" panose="02040503050406030204" pitchFamily="18" charset="0"/>
                            <a:ea typeface="黑体" panose="02010609060101010101" pitchFamily="49" charset="-122"/>
                            <a:cs typeface="+mn-cs"/>
                            <a:sym typeface="+mn-ea"/>
                          </a:rPr>
                        </m:ctrlPr>
                      </m:sSubPr>
                      <m:e>
                        <m:r>
                          <a:rPr lang="en-US" altLang="zh-CN" sz="2000" b="0" i="1" smtClean="0">
                            <a:solidFill>
                              <a:srgbClr val="000000"/>
                            </a:solidFill>
                            <a:latin typeface="Cambria Math" panose="02040503050406030204" pitchFamily="18" charset="0"/>
                            <a:ea typeface="黑体" panose="02010609060101010101" pitchFamily="49" charset="-122"/>
                            <a:cs typeface="+mn-cs"/>
                            <a:sym typeface="+mn-ea"/>
                          </a:rPr>
                          <m:t>𝐺</m:t>
                        </m:r>
                      </m:e>
                      <m:sub>
                        <m:r>
                          <a:rPr lang="en-US" altLang="zh-CN" sz="2000" b="0" i="1" smtClean="0">
                            <a:solidFill>
                              <a:srgbClr val="000000"/>
                            </a:solidFill>
                            <a:latin typeface="Cambria Math" panose="02040503050406030204" pitchFamily="18" charset="0"/>
                            <a:ea typeface="黑体" panose="02010609060101010101" pitchFamily="49" charset="-122"/>
                            <a:cs typeface="+mn-cs"/>
                            <a:sym typeface="+mn-ea"/>
                          </a:rPr>
                          <m:t>8</m:t>
                        </m:r>
                      </m:sub>
                    </m:sSub>
                  </m:oMath>
                </a14:m>
                <a:r>
                  <a:rPr lang="zh-CN" altLang="en-US" sz="2000" dirty="0">
                    <a:solidFill>
                      <a:srgbClr val="000000"/>
                    </a:solidFill>
                    <a:latin typeface="+mn-lt"/>
                    <a:ea typeface="黑体" panose="02010609060101010101" pitchFamily="49" charset="-122"/>
                    <a:cs typeface="+mn-cs"/>
                  </a:rPr>
                  <a:t>的</a:t>
                </a:r>
                <a:r>
                  <a:rPr lang="en-US" altLang="zh-CN" sz="2000" dirty="0">
                    <a:solidFill>
                      <a:srgbClr val="000000"/>
                    </a:solidFill>
                    <a:latin typeface="+mn-lt"/>
                    <a:ea typeface="黑体" panose="02010609060101010101" pitchFamily="49" charset="-122"/>
                    <a:cs typeface="+mn-cs"/>
                  </a:rPr>
                  <a:t>Polar</a:t>
                </a:r>
                <a:r>
                  <a:rPr lang="zh-CN" altLang="en-US" sz="2000" dirty="0">
                    <a:solidFill>
                      <a:srgbClr val="000000"/>
                    </a:solidFill>
                    <a:latin typeface="+mn-lt"/>
                    <a:ea typeface="黑体" panose="02010609060101010101" pitchFamily="49" charset="-122"/>
                    <a:cs typeface="+mn-cs"/>
                  </a:rPr>
                  <a:t>码的（</a:t>
                </a:r>
                <a:r>
                  <a:rPr lang="en-US" altLang="zh-CN" sz="2000" dirty="0">
                    <a:solidFill>
                      <a:srgbClr val="000000"/>
                    </a:solidFill>
                    <a:latin typeface="+mn-lt"/>
                    <a:ea typeface="黑体" panose="02010609060101010101" pitchFamily="49" charset="-122"/>
                    <a:cs typeface="+mn-cs"/>
                  </a:rPr>
                  <a:t>RW</a:t>
                </a:r>
                <a:r>
                  <a:rPr lang="zh-CN" altLang="en-US" sz="2000" dirty="0">
                    <a:solidFill>
                      <a:srgbClr val="000000"/>
                    </a:solidFill>
                    <a:latin typeface="+mn-lt"/>
                    <a:ea typeface="黑体" panose="02010609060101010101" pitchFamily="49" charset="-122"/>
                    <a:cs typeface="+mn-cs"/>
                  </a:rPr>
                  <a:t>）序列为</a:t>
                </a:r>
                <a:r>
                  <a:rPr lang="en-US" altLang="zh-CN" sz="2000" dirty="0">
                    <a:solidFill>
                      <a:srgbClr val="FF0000"/>
                    </a:solidFill>
                    <a:latin typeface="+mn-lt"/>
                    <a:ea typeface="黑体" panose="02010609060101010101" pitchFamily="49" charset="-122"/>
                    <a:cs typeface="+mn-cs"/>
                  </a:rPr>
                  <a:t>{0</a:t>
                </a:r>
                <a:r>
                  <a:rPr lang="zh-CN" altLang="en-US" sz="2000" dirty="0">
                    <a:solidFill>
                      <a:srgbClr val="FF0000"/>
                    </a:solidFill>
                    <a:latin typeface="+mn-lt"/>
                    <a:ea typeface="黑体" panose="02010609060101010101" pitchFamily="49" charset="-122"/>
                    <a:cs typeface="+mn-cs"/>
                  </a:rPr>
                  <a:t>，</a:t>
                </a:r>
                <a:r>
                  <a:rPr lang="en-US" altLang="zh-CN" sz="2000" dirty="0">
                    <a:solidFill>
                      <a:srgbClr val="FF0000"/>
                    </a:solidFill>
                    <a:latin typeface="+mn-lt"/>
                    <a:ea typeface="黑体" panose="02010609060101010101" pitchFamily="49" charset="-122"/>
                    <a:cs typeface="+mn-cs"/>
                  </a:rPr>
                  <a:t>1</a:t>
                </a:r>
                <a:r>
                  <a:rPr lang="zh-CN" altLang="en-US" sz="2000" dirty="0">
                    <a:solidFill>
                      <a:srgbClr val="FF0000"/>
                    </a:solidFill>
                    <a:latin typeface="+mn-lt"/>
                    <a:ea typeface="黑体" panose="02010609060101010101" pitchFamily="49" charset="-122"/>
                    <a:cs typeface="+mn-cs"/>
                  </a:rPr>
                  <a:t>，</a:t>
                </a:r>
                <a:r>
                  <a:rPr lang="en-US" altLang="zh-CN" sz="2000" dirty="0">
                    <a:solidFill>
                      <a:srgbClr val="FF0000"/>
                    </a:solidFill>
                    <a:latin typeface="+mn-lt"/>
                    <a:ea typeface="黑体" panose="02010609060101010101" pitchFamily="49" charset="-122"/>
                    <a:cs typeface="+mn-cs"/>
                  </a:rPr>
                  <a:t>2</a:t>
                </a:r>
                <a:r>
                  <a:rPr lang="zh-CN" altLang="en-US" sz="2000" dirty="0">
                    <a:solidFill>
                      <a:srgbClr val="FF0000"/>
                    </a:solidFill>
                    <a:latin typeface="+mn-lt"/>
                    <a:ea typeface="黑体" panose="02010609060101010101" pitchFamily="49" charset="-122"/>
                    <a:cs typeface="+mn-cs"/>
                  </a:rPr>
                  <a:t>，</a:t>
                </a:r>
                <a:r>
                  <a:rPr lang="en-US" altLang="zh-CN" sz="2000" dirty="0">
                    <a:solidFill>
                      <a:srgbClr val="FF0000"/>
                    </a:solidFill>
                    <a:latin typeface="+mn-lt"/>
                    <a:ea typeface="黑体" panose="02010609060101010101" pitchFamily="49" charset="-122"/>
                    <a:cs typeface="+mn-cs"/>
                  </a:rPr>
                  <a:t>4</a:t>
                </a:r>
                <a:r>
                  <a:rPr lang="zh-CN" altLang="en-US" sz="2000" dirty="0">
                    <a:solidFill>
                      <a:srgbClr val="FF0000"/>
                    </a:solidFill>
                    <a:latin typeface="+mn-lt"/>
                    <a:ea typeface="黑体" panose="02010609060101010101" pitchFamily="49" charset="-122"/>
                    <a:cs typeface="+mn-cs"/>
                  </a:rPr>
                  <a:t>，</a:t>
                </a:r>
                <a:r>
                  <a:rPr lang="en-US" altLang="zh-CN" sz="2000" dirty="0">
                    <a:solidFill>
                      <a:srgbClr val="FF0000"/>
                    </a:solidFill>
                    <a:latin typeface="+mn-lt"/>
                    <a:ea typeface="黑体" panose="02010609060101010101" pitchFamily="49" charset="-122"/>
                    <a:cs typeface="+mn-cs"/>
                  </a:rPr>
                  <a:t>3</a:t>
                </a:r>
                <a:r>
                  <a:rPr lang="zh-CN" altLang="en-US" sz="2000" dirty="0">
                    <a:solidFill>
                      <a:srgbClr val="FF0000"/>
                    </a:solidFill>
                    <a:latin typeface="+mn-lt"/>
                    <a:ea typeface="黑体" panose="02010609060101010101" pitchFamily="49" charset="-122"/>
                    <a:cs typeface="+mn-cs"/>
                  </a:rPr>
                  <a:t>，</a:t>
                </a:r>
                <a:r>
                  <a:rPr lang="en-US" altLang="zh-CN" sz="2000" dirty="0">
                    <a:solidFill>
                      <a:srgbClr val="FF0000"/>
                    </a:solidFill>
                    <a:latin typeface="+mn-lt"/>
                    <a:ea typeface="黑体" panose="02010609060101010101" pitchFamily="49" charset="-122"/>
                    <a:cs typeface="+mn-cs"/>
                  </a:rPr>
                  <a:t>5</a:t>
                </a:r>
                <a:r>
                  <a:rPr lang="zh-CN" altLang="en-US" sz="2000" dirty="0">
                    <a:solidFill>
                      <a:srgbClr val="FF0000"/>
                    </a:solidFill>
                    <a:latin typeface="+mn-lt"/>
                    <a:ea typeface="黑体" panose="02010609060101010101" pitchFamily="49" charset="-122"/>
                    <a:cs typeface="+mn-cs"/>
                  </a:rPr>
                  <a:t>，</a:t>
                </a:r>
                <a:r>
                  <a:rPr lang="en-US" altLang="zh-CN" sz="2000" dirty="0">
                    <a:solidFill>
                      <a:srgbClr val="FF0000"/>
                    </a:solidFill>
                    <a:latin typeface="+mn-lt"/>
                    <a:ea typeface="黑体" panose="02010609060101010101" pitchFamily="49" charset="-122"/>
                    <a:cs typeface="+mn-cs"/>
                  </a:rPr>
                  <a:t>6</a:t>
                </a:r>
                <a:r>
                  <a:rPr lang="zh-CN" altLang="en-US" sz="2000" dirty="0">
                    <a:solidFill>
                      <a:srgbClr val="FF0000"/>
                    </a:solidFill>
                    <a:latin typeface="+mn-lt"/>
                    <a:ea typeface="黑体" panose="02010609060101010101" pitchFamily="49" charset="-122"/>
                    <a:cs typeface="+mn-cs"/>
                  </a:rPr>
                  <a:t>，</a:t>
                </a:r>
                <a:r>
                  <a:rPr lang="en-US" altLang="zh-CN" sz="2000" dirty="0">
                    <a:solidFill>
                      <a:srgbClr val="FF0000"/>
                    </a:solidFill>
                    <a:latin typeface="+mn-lt"/>
                    <a:ea typeface="黑体" panose="02010609060101010101" pitchFamily="49" charset="-122"/>
                    <a:cs typeface="+mn-cs"/>
                  </a:rPr>
                  <a:t>7}</a:t>
                </a:r>
                <a:r>
                  <a:rPr lang="zh-CN" altLang="en-US" sz="2000" dirty="0">
                    <a:solidFill>
                      <a:srgbClr val="000000"/>
                    </a:solidFill>
                    <a:latin typeface="+mn-lt"/>
                    <a:ea typeface="黑体" panose="02010609060101010101" pitchFamily="49" charset="-122"/>
                    <a:cs typeface="+mn-cs"/>
                  </a:rPr>
                  <a:t>。如果有两行权重相同，则行号大的排在后面（也可排在前面）</a:t>
                </a:r>
                <a:endParaRPr lang="en-US" altLang="zh-CN" sz="2000" dirty="0">
                  <a:solidFill>
                    <a:srgbClr val="000000"/>
                  </a:solidFill>
                  <a:latin typeface="+mn-lt"/>
                  <a:ea typeface="黑体" panose="02010609060101010101" pitchFamily="49" charset="-122"/>
                  <a:cs typeface="+mn-cs"/>
                </a:endParaRPr>
              </a:p>
            </p:txBody>
          </p:sp>
        </mc:Choice>
        <mc:Fallback>
          <p:sp>
            <p:nvSpPr>
              <p:cNvPr id="9" name="文本框 8"/>
              <p:cNvSpPr txBox="1">
                <a:spLocks noRot="1" noChangeAspect="1" noMove="1" noResize="1" noEditPoints="1" noAdjustHandles="1" noChangeArrowheads="1" noChangeShapeType="1" noTextEdit="1"/>
              </p:cNvSpPr>
              <p:nvPr/>
            </p:nvSpPr>
            <p:spPr>
              <a:xfrm>
                <a:off x="609704" y="4445879"/>
                <a:ext cx="7695998" cy="1405193"/>
              </a:xfrm>
              <a:prstGeom prst="rect">
                <a:avLst/>
              </a:prstGeom>
              <a:blipFill rotWithShape="1">
                <a:blip r:embed="rId3"/>
                <a:stretch>
                  <a:fillRect l="-1" t="-17" r="7" b="-846"/>
                </a:stretch>
              </a:blipFill>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816994" y="194505"/>
            <a:ext cx="4114692" cy="685800"/>
          </a:xfrm>
        </p:spPr>
        <p:txBody>
          <a:bodyPr/>
          <a:lstStyle/>
          <a:p>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码的</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码序列特性</a:t>
            </a:r>
            <a:endParaRPr kumimoji="0" lang="zh-CN" altLang="en-US" sz="2400" b="1" kern="0" dirty="0">
              <a:solidFill>
                <a:srgbClr val="000000"/>
              </a:solidFill>
              <a:latin typeface="Arial" panose="020B0604020202020204" pitchFamily="34" charset="0"/>
              <a:ea typeface="宋体" panose="02010600030101010101" pitchFamily="2" charset="-122"/>
              <a:cs typeface="+mn-cs"/>
              <a:sym typeface="+mn-ea"/>
            </a:endParaRPr>
          </a:p>
        </p:txBody>
      </p:sp>
      <p:sp>
        <p:nvSpPr>
          <p:cNvPr id="5" name="文本框 4"/>
          <p:cNvSpPr txBox="1"/>
          <p:nvPr/>
        </p:nvSpPr>
        <p:spPr>
          <a:xfrm>
            <a:off x="381110" y="1066862"/>
            <a:ext cx="8534176" cy="5534849"/>
          </a:xfrm>
          <a:prstGeom prst="rect">
            <a:avLst/>
          </a:prstGeom>
          <a:noFill/>
        </p:spPr>
        <p:txBody>
          <a:bodyPr wrap="square">
            <a:spAutoFit/>
          </a:bodyPr>
          <a:lstStyle/>
          <a:p>
            <a:pPr>
              <a:lnSpc>
                <a:spcPct val="150000"/>
              </a:lnSpc>
            </a:pPr>
            <a:r>
              <a:rPr lang="en-US" altLang="zh-CN" sz="2000" dirty="0">
                <a:solidFill>
                  <a:srgbClr val="000000"/>
                </a:solidFill>
                <a:latin typeface="+mn-lt"/>
                <a:ea typeface="黑体" panose="02010609060101010101" pitchFamily="49" charset="-122"/>
                <a:cs typeface="+mn-cs"/>
              </a:rPr>
              <a:t>1</a:t>
            </a:r>
            <a:r>
              <a:rPr lang="zh-CN" altLang="en-US" sz="2000" dirty="0">
                <a:solidFill>
                  <a:srgbClr val="000000"/>
                </a:solidFill>
                <a:latin typeface="+mn-lt"/>
                <a:ea typeface="黑体" panose="02010609060101010101" pitchFamily="49" charset="-122"/>
                <a:cs typeface="+mn-cs"/>
              </a:rPr>
              <a:t>、在线计算</a:t>
            </a:r>
            <a:endParaRPr lang="en-US" altLang="zh-CN" sz="2000" dirty="0">
              <a:solidFill>
                <a:srgbClr val="000000"/>
              </a:solidFill>
              <a:latin typeface="+mn-lt"/>
              <a:ea typeface="黑体" panose="02010609060101010101" pitchFamily="49" charset="-122"/>
              <a:cs typeface="+mn-cs"/>
            </a:endParaRPr>
          </a:p>
          <a:p>
            <a:pPr>
              <a:lnSpc>
                <a:spcPct val="150000"/>
              </a:lnSpc>
            </a:pPr>
            <a:r>
              <a:rPr lang="en-US" altLang="zh-CN" sz="2000" dirty="0">
                <a:solidFill>
                  <a:srgbClr val="000000"/>
                </a:solidFill>
                <a:latin typeface="+mn-lt"/>
                <a:ea typeface="黑体" panose="02010609060101010101" pitchFamily="49" charset="-122"/>
                <a:cs typeface="+mn-cs"/>
              </a:rPr>
              <a:t>   </a:t>
            </a:r>
            <a:r>
              <a:rPr lang="zh-CN" altLang="en-US" sz="2000" dirty="0">
                <a:solidFill>
                  <a:srgbClr val="000000"/>
                </a:solidFill>
                <a:latin typeface="+mn-lt"/>
                <a:ea typeface="黑体" panose="02010609060101010101" pitchFamily="49" charset="-122"/>
                <a:cs typeface="+mn-cs"/>
              </a:rPr>
              <a:t>不用存储数据或只需存储少量数据即可，但是需要消耗计算量，若计算量较大会产生时延。</a:t>
            </a:r>
            <a:endParaRPr lang="en-US" altLang="zh-CN" sz="2000" dirty="0">
              <a:solidFill>
                <a:srgbClr val="000000"/>
              </a:solidFill>
              <a:latin typeface="+mn-lt"/>
              <a:ea typeface="黑体" panose="02010609060101010101" pitchFamily="49" charset="-122"/>
              <a:cs typeface="+mn-cs"/>
            </a:endParaRPr>
          </a:p>
          <a:p>
            <a:pPr>
              <a:lnSpc>
                <a:spcPct val="150000"/>
              </a:lnSpc>
            </a:pPr>
            <a:r>
              <a:rPr lang="en-US" altLang="zh-CN" sz="2000" dirty="0">
                <a:solidFill>
                  <a:srgbClr val="000000"/>
                </a:solidFill>
                <a:latin typeface="+mn-lt"/>
                <a:ea typeface="黑体" panose="02010609060101010101" pitchFamily="49" charset="-122"/>
                <a:cs typeface="+mn-cs"/>
              </a:rPr>
              <a:t>2</a:t>
            </a:r>
            <a:r>
              <a:rPr lang="zh-CN" altLang="en-US" sz="2000" dirty="0">
                <a:solidFill>
                  <a:srgbClr val="000000"/>
                </a:solidFill>
                <a:latin typeface="+mn-lt"/>
                <a:ea typeface="黑体" panose="02010609060101010101" pitchFamily="49" charset="-122"/>
                <a:cs typeface="+mn-cs"/>
              </a:rPr>
              <a:t>、嵌套性</a:t>
            </a:r>
            <a:endParaRPr lang="en-US" altLang="zh-CN" sz="2000" dirty="0">
              <a:solidFill>
                <a:srgbClr val="000000"/>
              </a:solidFill>
              <a:latin typeface="+mn-lt"/>
              <a:ea typeface="黑体" panose="02010609060101010101" pitchFamily="49" charset="-122"/>
              <a:cs typeface="+mn-cs"/>
            </a:endParaRPr>
          </a:p>
          <a:p>
            <a:pPr>
              <a:lnSpc>
                <a:spcPct val="150000"/>
              </a:lnSpc>
            </a:pPr>
            <a:r>
              <a:rPr lang="en-US" altLang="zh-CN" sz="2000" dirty="0">
                <a:solidFill>
                  <a:srgbClr val="000000"/>
                </a:solidFill>
                <a:latin typeface="+mn-lt"/>
                <a:ea typeface="黑体" panose="02010609060101010101" pitchFamily="49" charset="-122"/>
                <a:cs typeface="+mn-cs"/>
              </a:rPr>
              <a:t>   </a:t>
            </a:r>
            <a:r>
              <a:rPr lang="zh-CN" altLang="en-US" sz="2000" dirty="0">
                <a:solidFill>
                  <a:srgbClr val="000000"/>
                </a:solidFill>
                <a:latin typeface="+mn-lt"/>
                <a:ea typeface="黑体" panose="02010609060101010101" pitchFamily="49" charset="-122"/>
                <a:cs typeface="+mn-cs"/>
              </a:rPr>
              <a:t>在母码长度为</a:t>
            </a:r>
            <a:r>
              <a:rPr lang="en-US" altLang="zh-CN" sz="2000" dirty="0">
                <a:solidFill>
                  <a:srgbClr val="000000"/>
                </a:solidFill>
                <a:latin typeface="+mn-lt"/>
                <a:ea typeface="黑体" panose="02010609060101010101" pitchFamily="49" charset="-122"/>
                <a:cs typeface="+mn-cs"/>
              </a:rPr>
              <a:t>N</a:t>
            </a:r>
            <a:r>
              <a:rPr lang="zh-CN" altLang="en-US" sz="2000" dirty="0">
                <a:solidFill>
                  <a:srgbClr val="000000"/>
                </a:solidFill>
                <a:latin typeface="+mn-lt"/>
                <a:ea typeface="黑体" panose="02010609060101010101" pitchFamily="49" charset="-122"/>
                <a:cs typeface="+mn-cs"/>
              </a:rPr>
              <a:t>的序列中，删除大于或等于</a:t>
            </a:r>
            <a:r>
              <a:rPr lang="en-US" altLang="zh-CN" sz="2000" dirty="0">
                <a:solidFill>
                  <a:srgbClr val="000000"/>
                </a:solidFill>
                <a:latin typeface="+mn-lt"/>
                <a:ea typeface="黑体" panose="02010609060101010101" pitchFamily="49" charset="-122"/>
                <a:cs typeface="+mn-cs"/>
              </a:rPr>
              <a:t>N/2</a:t>
            </a:r>
            <a:r>
              <a:rPr lang="zh-CN" altLang="en-US" sz="2000" dirty="0">
                <a:solidFill>
                  <a:srgbClr val="000000"/>
                </a:solidFill>
                <a:latin typeface="+mn-lt"/>
                <a:ea typeface="黑体" panose="02010609060101010101" pitchFamily="49" charset="-122"/>
                <a:cs typeface="+mn-cs"/>
              </a:rPr>
              <a:t>的元素而保持剩下的元素顺序，得到母码长度为</a:t>
            </a:r>
            <a:r>
              <a:rPr lang="en-US" altLang="zh-CN" sz="2000" dirty="0">
                <a:solidFill>
                  <a:srgbClr val="000000"/>
                </a:solidFill>
                <a:latin typeface="+mn-lt"/>
                <a:ea typeface="黑体" panose="02010609060101010101" pitchFamily="49" charset="-122"/>
                <a:cs typeface="+mn-cs"/>
              </a:rPr>
              <a:t>N/2</a:t>
            </a:r>
            <a:r>
              <a:rPr lang="zh-CN" altLang="en-US" sz="2000" dirty="0">
                <a:solidFill>
                  <a:srgbClr val="000000"/>
                </a:solidFill>
                <a:latin typeface="+mn-lt"/>
                <a:ea typeface="黑体" panose="02010609060101010101" pitchFamily="49" charset="-122"/>
                <a:cs typeface="+mn-cs"/>
              </a:rPr>
              <a:t>的序列，则称母码长度为</a:t>
            </a:r>
            <a:r>
              <a:rPr lang="en-US" altLang="zh-CN" sz="2000" dirty="0">
                <a:solidFill>
                  <a:srgbClr val="000000"/>
                </a:solidFill>
                <a:latin typeface="+mn-lt"/>
                <a:ea typeface="黑体" panose="02010609060101010101" pitchFamily="49" charset="-122"/>
                <a:cs typeface="+mn-cs"/>
              </a:rPr>
              <a:t>N/2</a:t>
            </a:r>
            <a:r>
              <a:rPr lang="zh-CN" altLang="en-US" sz="2000" dirty="0">
                <a:solidFill>
                  <a:srgbClr val="000000"/>
                </a:solidFill>
                <a:latin typeface="+mn-lt"/>
                <a:ea typeface="黑体" panose="02010609060101010101" pitchFamily="49" charset="-122"/>
                <a:cs typeface="+mn-cs"/>
              </a:rPr>
              <a:t>的序列是嵌套在母码长度为</a:t>
            </a:r>
            <a:r>
              <a:rPr lang="en-US" altLang="zh-CN" sz="2000" dirty="0">
                <a:solidFill>
                  <a:srgbClr val="000000"/>
                </a:solidFill>
                <a:latin typeface="+mn-lt"/>
                <a:ea typeface="黑体" panose="02010609060101010101" pitchFamily="49" charset="-122"/>
                <a:cs typeface="+mn-cs"/>
              </a:rPr>
              <a:t>N</a:t>
            </a:r>
            <a:r>
              <a:rPr lang="zh-CN" altLang="en-US" sz="2000" dirty="0">
                <a:solidFill>
                  <a:srgbClr val="000000"/>
                </a:solidFill>
                <a:latin typeface="+mn-lt"/>
                <a:ea typeface="黑体" panose="02010609060101010101" pitchFamily="49" charset="-122"/>
                <a:cs typeface="+mn-cs"/>
              </a:rPr>
              <a:t>的序列中的。</a:t>
            </a:r>
            <a:endParaRPr lang="en-US" altLang="zh-CN" sz="2000" dirty="0">
              <a:solidFill>
                <a:srgbClr val="000000"/>
              </a:solidFill>
              <a:latin typeface="+mn-lt"/>
              <a:ea typeface="黑体" panose="02010609060101010101" pitchFamily="49" charset="-122"/>
              <a:cs typeface="+mn-cs"/>
            </a:endParaRPr>
          </a:p>
          <a:p>
            <a:pPr>
              <a:lnSpc>
                <a:spcPct val="150000"/>
              </a:lnSpc>
            </a:pPr>
            <a:r>
              <a:rPr lang="en-US" altLang="zh-CN" sz="2000" dirty="0">
                <a:solidFill>
                  <a:srgbClr val="000000"/>
                </a:solidFill>
                <a:latin typeface="+mn-lt"/>
                <a:ea typeface="黑体" panose="02010609060101010101" pitchFamily="49" charset="-122"/>
                <a:cs typeface="+mn-cs"/>
              </a:rPr>
              <a:t>   </a:t>
            </a:r>
            <a:r>
              <a:rPr lang="zh-CN" altLang="en-US" sz="2000" dirty="0">
                <a:solidFill>
                  <a:srgbClr val="000000"/>
                </a:solidFill>
                <a:latin typeface="+mn-lt"/>
                <a:ea typeface="黑体" panose="02010609060101010101" pitchFamily="49" charset="-122"/>
                <a:cs typeface="+mn-cs"/>
              </a:rPr>
              <a:t>嵌套的好处在于不需要重新计算，不需要重新排序，只需一个查找表。</a:t>
            </a:r>
            <a:endParaRPr lang="en-US" altLang="zh-CN" sz="2000" dirty="0">
              <a:solidFill>
                <a:srgbClr val="000000"/>
              </a:solidFill>
              <a:latin typeface="+mn-lt"/>
              <a:ea typeface="黑体" panose="02010609060101010101" pitchFamily="49" charset="-122"/>
              <a:cs typeface="+mn-cs"/>
            </a:endParaRPr>
          </a:p>
          <a:p>
            <a:pPr>
              <a:lnSpc>
                <a:spcPct val="150000"/>
              </a:lnSpc>
            </a:pPr>
            <a:r>
              <a:rPr lang="en-US" altLang="zh-CN" sz="2000" dirty="0">
                <a:solidFill>
                  <a:srgbClr val="000000"/>
                </a:solidFill>
                <a:latin typeface="+mn-lt"/>
                <a:ea typeface="黑体" panose="02010609060101010101" pitchFamily="49" charset="-122"/>
                <a:cs typeface="+mn-cs"/>
              </a:rPr>
              <a:t>3</a:t>
            </a:r>
            <a:r>
              <a:rPr lang="zh-CN" altLang="en-US" sz="2000" dirty="0">
                <a:solidFill>
                  <a:srgbClr val="000000"/>
                </a:solidFill>
                <a:latin typeface="+mn-lt"/>
                <a:ea typeface="黑体" panose="02010609060101010101" pitchFamily="49" charset="-122"/>
                <a:cs typeface="+mn-cs"/>
              </a:rPr>
              <a:t>、对称性</a:t>
            </a:r>
            <a:endParaRPr lang="en-US" altLang="zh-CN" sz="2000" dirty="0">
              <a:solidFill>
                <a:srgbClr val="000000"/>
              </a:solidFill>
              <a:latin typeface="+mn-lt"/>
              <a:ea typeface="黑体" panose="02010609060101010101" pitchFamily="49" charset="-122"/>
              <a:cs typeface="+mn-cs"/>
            </a:endParaRPr>
          </a:p>
          <a:p>
            <a:pPr>
              <a:lnSpc>
                <a:spcPct val="150000"/>
              </a:lnSpc>
            </a:pPr>
            <a:r>
              <a:rPr lang="zh-CN" altLang="en-US" sz="2000" dirty="0">
                <a:solidFill>
                  <a:srgbClr val="000000"/>
                </a:solidFill>
                <a:latin typeface="+mn-lt"/>
                <a:ea typeface="黑体" panose="02010609060101010101" pitchFamily="49" charset="-122"/>
                <a:cs typeface="+mn-cs"/>
              </a:rPr>
              <a:t>    在母码长度为</a:t>
            </a:r>
            <a:r>
              <a:rPr lang="en-US" altLang="zh-CN" sz="2000" dirty="0">
                <a:solidFill>
                  <a:srgbClr val="000000"/>
                </a:solidFill>
                <a:latin typeface="+mn-lt"/>
                <a:ea typeface="黑体" panose="02010609060101010101" pitchFamily="49" charset="-122"/>
                <a:cs typeface="+mn-cs"/>
              </a:rPr>
              <a:t>N</a:t>
            </a:r>
            <a:r>
              <a:rPr lang="zh-CN" altLang="en-US" sz="2000" dirty="0">
                <a:solidFill>
                  <a:srgbClr val="000000"/>
                </a:solidFill>
                <a:latin typeface="+mn-lt"/>
                <a:ea typeface="黑体" panose="02010609060101010101" pitchFamily="49" charset="-122"/>
                <a:cs typeface="+mn-cs"/>
              </a:rPr>
              <a:t>的序列中，前后</a:t>
            </a:r>
            <a:r>
              <a:rPr lang="en-US" altLang="zh-CN" sz="2000" dirty="0">
                <a:solidFill>
                  <a:srgbClr val="000000"/>
                </a:solidFill>
                <a:latin typeface="+mn-lt"/>
                <a:ea typeface="黑体" panose="02010609060101010101" pitchFamily="49" charset="-122"/>
                <a:cs typeface="+mn-cs"/>
              </a:rPr>
              <a:t>N/2</a:t>
            </a:r>
            <a:r>
              <a:rPr lang="zh-CN" altLang="en-US" sz="2000" dirty="0">
                <a:solidFill>
                  <a:srgbClr val="000000"/>
                </a:solidFill>
                <a:latin typeface="+mn-lt"/>
                <a:ea typeface="黑体" panose="02010609060101010101" pitchFamily="49" charset="-122"/>
                <a:cs typeface="+mn-cs"/>
              </a:rPr>
              <a:t>是元素关于母码长度对称，对称性可以减少存储量。</a:t>
            </a:r>
            <a:endParaRPr lang="en-US" altLang="zh-CN" sz="2000" dirty="0">
              <a:solidFill>
                <a:srgbClr val="000000"/>
              </a:solidFill>
              <a:latin typeface="+mn-lt"/>
              <a:ea typeface="黑体" panose="02010609060101010101" pitchFamily="49" charset="-122"/>
              <a:cs typeface="+mn-cs"/>
            </a:endParaRPr>
          </a:p>
          <a:p>
            <a:pPr>
              <a:lnSpc>
                <a:spcPct val="150000"/>
              </a:lnSpc>
            </a:pP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242907" y="152486"/>
            <a:ext cx="1562173"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编码方法</a:t>
            </a:r>
            <a:endParaRPr lang="zh-CN" altLang="en-US" sz="2400" dirty="0">
              <a:sym typeface="+mn-ea"/>
            </a:endParaRPr>
          </a:p>
        </p:txBody>
      </p:sp>
      <p:sp>
        <p:nvSpPr>
          <p:cNvPr id="3" name="内容占位符 2"/>
          <p:cNvSpPr>
            <a:spLocks noGrp="1"/>
          </p:cNvSpPr>
          <p:nvPr>
            <p:ph idx="1"/>
          </p:nvPr>
        </p:nvSpPr>
        <p:spPr>
          <a:xfrm>
            <a:off x="343011" y="1638347"/>
            <a:ext cx="8457978" cy="3581306"/>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200000"/>
              </a:lnSpc>
              <a:spcBef>
                <a:spcPts val="0"/>
              </a:spcBef>
              <a:spcAft>
                <a:spcPts val="0"/>
              </a:spcAft>
              <a:buNone/>
            </a:pPr>
            <a:r>
              <a:rPr lang="zh-CN" altLang="en-US" sz="2000" dirty="0">
                <a:solidFill>
                  <a:schemeClr val="dk1"/>
                </a:solidFill>
              </a:rPr>
              <a:t>    </a:t>
            </a:r>
            <a:r>
              <a:rPr lang="en-US" altLang="zh-CN" sz="2000" dirty="0"/>
              <a:t>Polar</a:t>
            </a:r>
            <a:r>
              <a:rPr lang="zh-CN" altLang="en-US" sz="2000" dirty="0"/>
              <a:t>码编码需选择合适的承载数据信道和放置其他信道（冻结比特）的子信道，然后进行逻辑运算的过程。通常选用承载数据的信道应选用信道容量高或可靠度高的信道。</a:t>
            </a:r>
            <a:r>
              <a:rPr lang="en-US" altLang="zh-CN" sz="2000" dirty="0">
                <a:solidFill>
                  <a:schemeClr val="tx1"/>
                </a:solidFill>
              </a:rPr>
              <a:t>   </a:t>
            </a:r>
            <a:endParaRPr lang="en-US" altLang="zh-CN" sz="2000" dirty="0">
              <a:solidFill>
                <a:schemeClr val="tx1"/>
              </a:solidFill>
            </a:endParaRPr>
          </a:p>
          <a:p>
            <a:pPr marL="0" indent="0">
              <a:lnSpc>
                <a:spcPct val="200000"/>
              </a:lnSpc>
              <a:spcBef>
                <a:spcPts val="0"/>
              </a:spcBef>
              <a:spcAft>
                <a:spcPts val="0"/>
              </a:spcAft>
              <a:buNone/>
            </a:pPr>
            <a:r>
              <a:rPr lang="en-US" altLang="zh-CN" sz="2000" dirty="0">
                <a:solidFill>
                  <a:schemeClr val="tx1"/>
                </a:solidFill>
              </a:rPr>
              <a:t>                -----</a:t>
            </a:r>
            <a:r>
              <a:rPr lang="zh-CN" altLang="en-US" sz="2000" dirty="0">
                <a:solidFill>
                  <a:schemeClr val="tx1"/>
                </a:solidFill>
              </a:rPr>
              <a:t>根据行权重进行选取</a:t>
            </a:r>
            <a:r>
              <a:rPr lang="zh-CN" altLang="en-US" sz="2000" dirty="0">
                <a:solidFill>
                  <a:srgbClr val="FFC000"/>
                </a:solidFill>
              </a:rPr>
              <a:t>（码序列选择）</a:t>
            </a:r>
            <a:endParaRPr lang="en-US" altLang="zh-CN" sz="2000" dirty="0">
              <a:solidFill>
                <a:srgbClr val="FFC000"/>
              </a:solidFill>
            </a:endParaRPr>
          </a:p>
          <a:p>
            <a:pPr marL="0" indent="0">
              <a:lnSpc>
                <a:spcPct val="200000"/>
              </a:lnSpc>
              <a:spcBef>
                <a:spcPts val="0"/>
              </a:spcBef>
              <a:spcAft>
                <a:spcPts val="0"/>
              </a:spcAft>
              <a:buNone/>
            </a:pPr>
            <a:endParaRPr lang="en-US" altLang="zh-CN" sz="2000" dirty="0">
              <a:solidFill>
                <a:schemeClr val="tx1"/>
              </a:solidFill>
              <a:latin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391326" y="204781"/>
            <a:ext cx="1562173"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编码方法</a:t>
            </a:r>
            <a:endParaRPr lang="zh-CN" altLang="en-US" sz="2400" dirty="0">
              <a:sym typeface="+mn-ea"/>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343011" y="784874"/>
                <a:ext cx="8457978" cy="1523960"/>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150000"/>
                  </a:lnSpc>
                  <a:spcBef>
                    <a:spcPts val="0"/>
                  </a:spcBef>
                  <a:spcAft>
                    <a:spcPts val="0"/>
                  </a:spcAft>
                  <a:buNone/>
                </a:pPr>
                <a:r>
                  <a:rPr lang="zh-CN" altLang="en-US" sz="2000" dirty="0">
                    <a:solidFill>
                      <a:srgbClr val="FF0000"/>
                    </a:solidFill>
                  </a:rPr>
                  <a:t>例</a:t>
                </a:r>
                <a:r>
                  <a:rPr lang="en-US" altLang="zh-CN" sz="2000" dirty="0">
                    <a:solidFill>
                      <a:srgbClr val="FF0000"/>
                    </a:solidFill>
                  </a:rPr>
                  <a:t>1</a:t>
                </a:r>
                <a:r>
                  <a:rPr lang="zh-CN" altLang="en-US" sz="2000" dirty="0">
                    <a:solidFill>
                      <a:srgbClr val="FF0000"/>
                    </a:solidFill>
                  </a:rPr>
                  <a:t>：</a:t>
                </a:r>
                <a:r>
                  <a:rPr lang="zh-CN" altLang="en-US" sz="2000" dirty="0">
                    <a:solidFill>
                      <a:schemeClr val="dk1"/>
                    </a:solidFill>
                  </a:rPr>
                  <a:t>选用</a:t>
                </a:r>
                <a:r>
                  <a:rPr lang="en-US" altLang="zh-CN" sz="2000" dirty="0">
                    <a:solidFill>
                      <a:schemeClr val="dk1"/>
                    </a:solidFill>
                  </a:rPr>
                  <a:t>N=8</a:t>
                </a:r>
                <a:r>
                  <a:rPr lang="zh-CN" altLang="en-US" sz="2000" dirty="0">
                    <a:solidFill>
                      <a:schemeClr val="dk1"/>
                    </a:solidFill>
                  </a:rPr>
                  <a:t>、</a:t>
                </a:r>
                <a:r>
                  <a:rPr lang="en-US" altLang="zh-CN" sz="2000" dirty="0">
                    <a:solidFill>
                      <a:schemeClr val="dk1"/>
                    </a:solidFill>
                  </a:rPr>
                  <a:t>R=1</a:t>
                </a:r>
                <a:r>
                  <a:rPr lang="en-US" altLang="zh-CN" sz="2000" dirty="0"/>
                  <a:t>/2</a:t>
                </a:r>
                <a:r>
                  <a:rPr lang="zh-CN" altLang="en-US" sz="2000" dirty="0"/>
                  <a:t>的编码，则应选用</a:t>
                </a:r>
                <a14:m>
                  <m:oMath xmlns:m="http://schemas.openxmlformats.org/officeDocument/2006/math">
                    <m:sSub>
                      <m:sSubPr>
                        <m:ctrlPr>
                          <a:rPr lang="zh-CN" altLang="en-US" sz="2000" i="1" smtClean="0">
                            <a:solidFill>
                              <a:srgbClr val="FF0000"/>
                            </a:solidFill>
                            <a:latin typeface="Cambria Math" panose="02040503050406030204" pitchFamily="18" charset="0"/>
                            <a:ea typeface="黑体" panose="02010609060101010101" pitchFamily="49" charset="-122"/>
                          </a:rPr>
                        </m:ctrlPr>
                      </m:sSubPr>
                      <m:e>
                        <m:r>
                          <m:rPr>
                            <m:sty m:val="p"/>
                          </m:rPr>
                          <a:rPr lang="en-US" altLang="zh-CN" sz="2000" i="1">
                            <a:solidFill>
                              <a:srgbClr val="FF0000"/>
                            </a:solidFill>
                            <a:latin typeface="Cambria Math" panose="02040503050406030204" pitchFamily="18" charset="0"/>
                            <a:ea typeface="黑体" panose="02010609060101010101" pitchFamily="49" charset="-122"/>
                          </a:rPr>
                          <m:t>u</m:t>
                        </m:r>
                      </m:e>
                      <m:sub>
                        <m:r>
                          <a:rPr lang="en-US" altLang="zh-CN" sz="2000" b="0" i="0" smtClean="0">
                            <a:solidFill>
                              <a:srgbClr val="FF0000"/>
                            </a:solidFill>
                            <a:latin typeface="Cambria Math" panose="02040503050406030204" pitchFamily="18" charset="0"/>
                            <a:ea typeface="黑体" panose="02010609060101010101" pitchFamily="49" charset="-122"/>
                          </a:rPr>
                          <m:t>4</m:t>
                        </m:r>
                      </m:sub>
                    </m:sSub>
                    <m:sSub>
                      <m:sSubPr>
                        <m:ctrlPr>
                          <a:rPr lang="zh-CN" altLang="en-US" sz="2000" i="1" smtClean="0">
                            <a:solidFill>
                              <a:srgbClr val="FF0000"/>
                            </a:solidFill>
                            <a:latin typeface="Cambria Math" panose="02040503050406030204" pitchFamily="18" charset="0"/>
                            <a:ea typeface="黑体" panose="02010609060101010101" pitchFamily="49" charset="-122"/>
                          </a:rPr>
                        </m:ctrlPr>
                      </m:sSubPr>
                      <m:e>
                        <m:r>
                          <a:rPr lang="en-US" altLang="zh-CN" sz="2000">
                            <a:solidFill>
                              <a:srgbClr val="FF0000"/>
                            </a:solidFill>
                            <a:latin typeface="Cambria Math" panose="02040503050406030204" pitchFamily="18" charset="0"/>
                            <a:ea typeface="黑体" panose="02010609060101010101" pitchFamily="49" charset="-122"/>
                          </a:rPr>
                          <m:t>,</m:t>
                        </m:r>
                        <m:r>
                          <m:rPr>
                            <m:sty m:val="p"/>
                          </m:rPr>
                          <a:rPr lang="en-US" altLang="zh-CN" sz="2000" i="1">
                            <a:solidFill>
                              <a:srgbClr val="FF0000"/>
                            </a:solidFill>
                            <a:latin typeface="Cambria Math" panose="02040503050406030204" pitchFamily="18" charset="0"/>
                            <a:ea typeface="黑体" panose="02010609060101010101" pitchFamily="49" charset="-122"/>
                          </a:rPr>
                          <m:t>u</m:t>
                        </m:r>
                      </m:e>
                      <m:sub>
                        <m:r>
                          <a:rPr lang="en-US" altLang="zh-CN" sz="2000" b="0" i="0" smtClean="0">
                            <a:solidFill>
                              <a:srgbClr val="FF0000"/>
                            </a:solidFill>
                            <a:latin typeface="Cambria Math" panose="02040503050406030204" pitchFamily="18" charset="0"/>
                            <a:ea typeface="黑体" panose="02010609060101010101" pitchFamily="49" charset="-122"/>
                          </a:rPr>
                          <m:t>6</m:t>
                        </m:r>
                      </m:sub>
                    </m:sSub>
                    <m:sSub>
                      <m:sSubPr>
                        <m:ctrlPr>
                          <a:rPr lang="zh-CN" altLang="en-US" sz="2000" i="1">
                            <a:solidFill>
                              <a:srgbClr val="FF0000"/>
                            </a:solidFill>
                            <a:latin typeface="Cambria Math" panose="02040503050406030204" pitchFamily="18" charset="0"/>
                            <a:ea typeface="黑体" panose="02010609060101010101" pitchFamily="49" charset="-122"/>
                          </a:rPr>
                        </m:ctrlPr>
                      </m:sSubPr>
                      <m:e>
                        <m:r>
                          <a:rPr lang="en-US" altLang="zh-CN" sz="2000">
                            <a:solidFill>
                              <a:srgbClr val="FF0000"/>
                            </a:solidFill>
                            <a:latin typeface="Cambria Math" panose="02040503050406030204" pitchFamily="18" charset="0"/>
                            <a:ea typeface="黑体" panose="02010609060101010101" pitchFamily="49" charset="-122"/>
                          </a:rPr>
                          <m:t>,</m:t>
                        </m:r>
                        <m:r>
                          <m:rPr>
                            <m:sty m:val="p"/>
                          </m:rPr>
                          <a:rPr lang="en-US" altLang="zh-CN" sz="2000" i="1">
                            <a:solidFill>
                              <a:srgbClr val="FF0000"/>
                            </a:solidFill>
                            <a:latin typeface="Cambria Math" panose="02040503050406030204" pitchFamily="18" charset="0"/>
                            <a:ea typeface="黑体" panose="02010609060101010101" pitchFamily="49" charset="-122"/>
                          </a:rPr>
                          <m:t>u</m:t>
                        </m:r>
                      </m:e>
                      <m:sub>
                        <m:r>
                          <a:rPr lang="en-US" altLang="zh-CN" sz="2000" b="0" i="0" smtClean="0">
                            <a:solidFill>
                              <a:srgbClr val="FF0000"/>
                            </a:solidFill>
                            <a:latin typeface="Cambria Math" panose="02040503050406030204" pitchFamily="18" charset="0"/>
                            <a:ea typeface="黑体" panose="02010609060101010101" pitchFamily="49" charset="-122"/>
                          </a:rPr>
                          <m:t>7</m:t>
                        </m:r>
                      </m:sub>
                    </m:sSub>
                    <m:r>
                      <a:rPr lang="en-US" altLang="zh-CN" sz="2000" b="0" i="0" smtClean="0">
                        <a:solidFill>
                          <a:srgbClr val="FF0000"/>
                        </a:solidFill>
                        <a:latin typeface="Cambria Math" panose="02040503050406030204" pitchFamily="18" charset="0"/>
                        <a:ea typeface="黑体" panose="02010609060101010101" pitchFamily="49" charset="-122"/>
                      </a:rPr>
                      <m:t>,</m:t>
                    </m:r>
                    <m:sSub>
                      <m:sSubPr>
                        <m:ctrlPr>
                          <a:rPr lang="zh-CN" altLang="en-US" sz="2000" i="1">
                            <a:solidFill>
                              <a:srgbClr val="FF0000"/>
                            </a:solidFill>
                            <a:latin typeface="Cambria Math" panose="02040503050406030204" pitchFamily="18" charset="0"/>
                          </a:rPr>
                        </m:ctrlPr>
                      </m:sSubPr>
                      <m:e>
                        <m:r>
                          <m:rPr>
                            <m:sty m:val="p"/>
                          </m:rPr>
                          <a:rPr lang="en-US" altLang="zh-CN" sz="2000" i="1">
                            <a:solidFill>
                              <a:srgbClr val="FF0000"/>
                            </a:solidFill>
                            <a:latin typeface="Cambria Math" panose="02040503050406030204" pitchFamily="18" charset="0"/>
                          </a:rPr>
                          <m:t>u</m:t>
                        </m:r>
                      </m:e>
                      <m:sub>
                        <m:r>
                          <a:rPr lang="en-US" altLang="zh-CN" sz="2000" b="0" i="0" smtClean="0">
                            <a:solidFill>
                              <a:srgbClr val="FF0000"/>
                            </a:solidFill>
                            <a:latin typeface="Cambria Math" panose="02040503050406030204" pitchFamily="18" charset="0"/>
                          </a:rPr>
                          <m:t>8</m:t>
                        </m:r>
                      </m:sub>
                    </m:sSub>
                  </m:oMath>
                </a14:m>
                <a:r>
                  <a:rPr lang="zh-CN" altLang="en-US" sz="2000" dirty="0">
                    <a:solidFill>
                      <a:schemeClr val="dk1"/>
                    </a:solidFill>
                  </a:rPr>
                  <a:t>（</a:t>
                </a:r>
                <a:r>
                  <a:rPr lang="en-US" altLang="zh-CN" sz="2000" dirty="0">
                    <a:solidFill>
                      <a:schemeClr val="dk1"/>
                    </a:solidFill>
                  </a:rPr>
                  <a:t>0,1,0,1</a:t>
                </a:r>
                <a:r>
                  <a:rPr lang="zh-CN" altLang="en-US" sz="2000" dirty="0">
                    <a:solidFill>
                      <a:schemeClr val="dk1"/>
                    </a:solidFill>
                  </a:rPr>
                  <a:t>）来进行编码。由于要发射的比特数不一定刚好是编码之后的比特数（如要发射</a:t>
                </a:r>
                <a:r>
                  <a:rPr lang="en-US" altLang="zh-CN" sz="2000" dirty="0">
                    <a:solidFill>
                      <a:schemeClr val="dk1"/>
                    </a:solidFill>
                  </a:rPr>
                  <a:t>12</a:t>
                </a:r>
                <a:r>
                  <a:rPr lang="zh-CN" altLang="en-US" sz="2000" dirty="0">
                    <a:solidFill>
                      <a:schemeClr val="dk1"/>
                    </a:solidFill>
                  </a:rPr>
                  <a:t>个比特），因此，在编码结束后，还要进行比特选择过程（后续讲解）。</a:t>
                </a:r>
                <a:endParaRPr lang="zh-CN" altLang="en-US" sz="2000" dirty="0">
                  <a:solidFill>
                    <a:schemeClr val="dk1"/>
                  </a:solidFill>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343011" y="784874"/>
                <a:ext cx="8457978" cy="1523960"/>
              </a:xfrm>
              <a:blipFill rotWithShape="1">
                <a:blip r:embed="rId1"/>
                <a:stretch>
                  <a:fillRect l="-1" t="-1" r="6" b="40"/>
                </a:stretch>
              </a:blipFill>
              <a:ln>
                <a:noFill/>
              </a:ln>
            </p:spPr>
            <p:style>
              <a:lnRef idx="0">
                <a:scrgbClr r="0" g="0" b="0"/>
              </a:lnRef>
              <a:fillRef idx="0">
                <a:scrgbClr r="0" g="0" b="0"/>
              </a:fillRef>
              <a:effectRef idx="0">
                <a:scrgbClr r="0" g="0" b="0"/>
              </a:effectRef>
              <a:fontRef idx="minor">
                <a:schemeClr val="dk1"/>
              </a:fontRef>
            </p:style>
            <p:txBody>
              <a:bodyPr/>
              <a:lstStyle/>
              <a:p>
                <a:r>
                  <a:rPr lang="zh-CN" altLang="en-US">
                    <a:noFill/>
                  </a:rPr>
                  <a:t> </a:t>
                </a:r>
              </a:p>
            </p:txBody>
          </p:sp>
        </mc:Fallback>
      </mc:AlternateContent>
      <p:pic>
        <p:nvPicPr>
          <p:cNvPr id="5" name="图片 4"/>
          <p:cNvPicPr>
            <a:picLocks noChangeAspect="1"/>
          </p:cNvPicPr>
          <p:nvPr/>
        </p:nvPicPr>
        <p:blipFill>
          <a:blip r:embed="rId2"/>
          <a:stretch>
            <a:fillRect/>
          </a:stretch>
        </p:blipFill>
        <p:spPr>
          <a:xfrm>
            <a:off x="152516" y="2545517"/>
            <a:ext cx="6089710" cy="3429000"/>
          </a:xfrm>
          <a:prstGeom prst="rect">
            <a:avLst/>
          </a:prstGeom>
        </p:spPr>
      </p:pic>
      <p:sp>
        <p:nvSpPr>
          <p:cNvPr id="11" name="矩形 10"/>
          <p:cNvSpPr/>
          <p:nvPr/>
        </p:nvSpPr>
        <p:spPr>
          <a:xfrm>
            <a:off x="304912" y="4046673"/>
            <a:ext cx="380990" cy="2285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04912" y="4961049"/>
            <a:ext cx="380990" cy="2285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304912" y="5342039"/>
            <a:ext cx="380990" cy="2285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304912" y="5664001"/>
            <a:ext cx="380990" cy="22859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394622" y="3355677"/>
            <a:ext cx="2666930" cy="2308324"/>
          </a:xfrm>
          <a:prstGeom prst="rect">
            <a:avLst/>
          </a:prstGeom>
          <a:noFill/>
        </p:spPr>
        <p:txBody>
          <a:bodyPr wrap="square">
            <a:spAutoFit/>
          </a:bodyPr>
          <a:lstStyle/>
          <a:p>
            <a:r>
              <a:rPr lang="en-US" altLang="zh-CN" dirty="0">
                <a:solidFill>
                  <a:schemeClr val="dk1"/>
                </a:solidFill>
                <a:latin typeface="+mn-lt"/>
              </a:rPr>
              <a:t>0,0,0,0,0,1,0,1(</a:t>
            </a:r>
            <a:r>
              <a:rPr lang="zh-CN" altLang="en-US" dirty="0">
                <a:solidFill>
                  <a:schemeClr val="dk1"/>
                </a:solidFill>
                <a:latin typeface="+mn-lt"/>
              </a:rPr>
              <a:t>原</a:t>
            </a:r>
            <a:r>
              <a:rPr lang="en-US" altLang="zh-CN" dirty="0">
                <a:solidFill>
                  <a:schemeClr val="dk1"/>
                </a:solidFill>
                <a:latin typeface="+mn-lt"/>
              </a:rPr>
              <a:t>)</a:t>
            </a:r>
            <a:endParaRPr lang="en-US" altLang="zh-CN" dirty="0">
              <a:solidFill>
                <a:schemeClr val="dk1"/>
              </a:solidFill>
              <a:latin typeface="+mn-lt"/>
            </a:endParaRPr>
          </a:p>
          <a:p>
            <a:endParaRPr lang="en-US" altLang="zh-CN" dirty="0">
              <a:solidFill>
                <a:schemeClr val="dk1"/>
              </a:solidFill>
              <a:latin typeface="+mn-lt"/>
            </a:endParaRPr>
          </a:p>
          <a:p>
            <a:r>
              <a:rPr lang="en-US" altLang="zh-CN" dirty="0">
                <a:solidFill>
                  <a:schemeClr val="dk1"/>
                </a:solidFill>
                <a:latin typeface="+mn-lt"/>
              </a:rPr>
              <a:t>0,0,0,0,0,1,1,1(</a:t>
            </a:r>
            <a:r>
              <a:rPr lang="zh-CN" altLang="en-US" dirty="0">
                <a:solidFill>
                  <a:schemeClr val="dk1"/>
                </a:solidFill>
                <a:latin typeface="+mn-lt"/>
              </a:rPr>
              <a:t>一级编码</a:t>
            </a:r>
            <a:r>
              <a:rPr lang="en-US" altLang="zh-CN" dirty="0">
                <a:solidFill>
                  <a:schemeClr val="dk1"/>
                </a:solidFill>
                <a:latin typeface="+mn-lt"/>
              </a:rPr>
              <a:t>)</a:t>
            </a:r>
            <a:endParaRPr lang="en-US" altLang="zh-CN" dirty="0">
              <a:solidFill>
                <a:schemeClr val="dk1"/>
              </a:solidFill>
              <a:latin typeface="+mn-lt"/>
            </a:endParaRPr>
          </a:p>
          <a:p>
            <a:endParaRPr lang="en-US" altLang="zh-CN" dirty="0">
              <a:solidFill>
                <a:schemeClr val="dk1"/>
              </a:solidFill>
              <a:latin typeface="+mn-lt"/>
            </a:endParaRPr>
          </a:p>
          <a:p>
            <a:r>
              <a:rPr lang="en-US" altLang="zh-CN" dirty="0">
                <a:solidFill>
                  <a:schemeClr val="dk1"/>
                </a:solidFill>
                <a:latin typeface="+mn-lt"/>
              </a:rPr>
              <a:t>0,0,0,0,0,0,1,1(</a:t>
            </a:r>
            <a:r>
              <a:rPr lang="zh-CN" altLang="en-US" dirty="0">
                <a:solidFill>
                  <a:schemeClr val="dk1"/>
                </a:solidFill>
                <a:latin typeface="+mn-lt"/>
              </a:rPr>
              <a:t>二级编码</a:t>
            </a:r>
            <a:r>
              <a:rPr lang="en-US" altLang="zh-CN" dirty="0">
                <a:solidFill>
                  <a:schemeClr val="dk1"/>
                </a:solidFill>
                <a:latin typeface="+mn-lt"/>
              </a:rPr>
              <a:t>)</a:t>
            </a:r>
            <a:endParaRPr lang="en-US" altLang="zh-CN" dirty="0">
              <a:solidFill>
                <a:schemeClr val="dk1"/>
              </a:solidFill>
              <a:latin typeface="+mn-lt"/>
            </a:endParaRPr>
          </a:p>
          <a:p>
            <a:endParaRPr lang="en-US" altLang="zh-CN" dirty="0">
              <a:solidFill>
                <a:schemeClr val="dk1"/>
              </a:solidFill>
              <a:latin typeface="+mn-lt"/>
            </a:endParaRPr>
          </a:p>
          <a:p>
            <a:r>
              <a:rPr lang="en-US" altLang="zh-CN" dirty="0">
                <a:solidFill>
                  <a:schemeClr val="dk1"/>
                </a:solidFill>
                <a:latin typeface="+mn-lt"/>
              </a:rPr>
              <a:t>0,0,1,1,0,0,1,1(</a:t>
            </a:r>
            <a:r>
              <a:rPr lang="zh-CN" altLang="en-US" dirty="0">
                <a:solidFill>
                  <a:schemeClr val="dk1"/>
                </a:solidFill>
                <a:latin typeface="+mn-lt"/>
              </a:rPr>
              <a:t>三级编码</a:t>
            </a:r>
            <a:r>
              <a:rPr lang="en-US" altLang="zh-CN" dirty="0">
                <a:solidFill>
                  <a:schemeClr val="dk1"/>
                </a:solidFill>
                <a:latin typeface="+mn-lt"/>
              </a:rPr>
              <a:t>)</a:t>
            </a:r>
            <a:endParaRPr lang="zh-CN" altLang="en-US" dirty="0">
              <a:latin typeface="+mn-lt"/>
            </a:endParaRPr>
          </a:p>
          <a:p>
            <a:endParaRPr lang="zh-CN" altLang="en-US" dirty="0"/>
          </a:p>
        </p:txBody>
      </p:sp>
      <p:sp>
        <p:nvSpPr>
          <p:cNvPr id="17" name="箭头: 下 16"/>
          <p:cNvSpPr/>
          <p:nvPr/>
        </p:nvSpPr>
        <p:spPr>
          <a:xfrm>
            <a:off x="7258352" y="3737682"/>
            <a:ext cx="191637" cy="228594"/>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下 18"/>
          <p:cNvSpPr/>
          <p:nvPr/>
        </p:nvSpPr>
        <p:spPr>
          <a:xfrm>
            <a:off x="7258352" y="4824808"/>
            <a:ext cx="191637" cy="228594"/>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下 19"/>
          <p:cNvSpPr/>
          <p:nvPr/>
        </p:nvSpPr>
        <p:spPr>
          <a:xfrm>
            <a:off x="7258352" y="4281245"/>
            <a:ext cx="191637" cy="228594"/>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467524" y="152486"/>
            <a:ext cx="1562173"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编码方法</a:t>
            </a:r>
            <a:endParaRPr lang="zh-CN" altLang="en-US" sz="2400" dirty="0">
              <a:sym typeface="+mn-ea"/>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15342" y="1066862"/>
                <a:ext cx="7785783" cy="5333860"/>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150000"/>
                  </a:lnSpc>
                  <a:spcBef>
                    <a:spcPts val="0"/>
                  </a:spcBef>
                  <a:spcAft>
                    <a:spcPts val="0"/>
                  </a:spcAft>
                  <a:buNone/>
                </a:pPr>
                <a14:m>
                  <m:oMath xmlns:m="http://schemas.openxmlformats.org/officeDocument/2006/math">
                    <m:r>
                      <a:rPr lang="zh-CN" altLang="en-US" sz="2000" i="1" smtClean="0">
                        <a:solidFill>
                          <a:srgbClr val="FF0000"/>
                        </a:solidFill>
                        <a:latin typeface="Cambria Math" panose="02040503050406030204" pitchFamily="18" charset="0"/>
                        <a:ea typeface="黑体" panose="02010609060101010101" pitchFamily="49" charset="-122"/>
                      </a:rPr>
                      <m:t>例</m:t>
                    </m:r>
                  </m:oMath>
                </a14:m>
                <a:r>
                  <a:rPr lang="en-US" altLang="zh-CN" sz="2000" dirty="0">
                    <a:solidFill>
                      <a:srgbClr val="FF0000"/>
                    </a:solidFill>
                  </a:rPr>
                  <a:t>2</a:t>
                </a:r>
                <a:r>
                  <a:rPr lang="zh-CN" altLang="en-US" sz="2000" dirty="0">
                    <a:solidFill>
                      <a:srgbClr val="FF0000"/>
                    </a:solidFill>
                    <a:sym typeface="Wingdings" panose="05000000000000000000" pitchFamily="2" charset="2"/>
                  </a:rPr>
                  <a:t>：</a:t>
                </a:r>
                <a:r>
                  <a:rPr lang="zh-CN" altLang="en-US" sz="2000" dirty="0">
                    <a:sym typeface="Wingdings" panose="05000000000000000000" pitchFamily="2" charset="2"/>
                  </a:rPr>
                  <a:t>（计算）设码长</a:t>
                </a:r>
                <a:r>
                  <a:rPr lang="en-US" altLang="zh-CN" sz="2000" dirty="0">
                    <a:sym typeface="Wingdings" panose="05000000000000000000" pitchFamily="2" charset="2"/>
                  </a:rPr>
                  <a:t>N=8</a:t>
                </a:r>
                <a:r>
                  <a:rPr lang="zh-CN" altLang="en-US" sz="2000" dirty="0">
                    <a:sym typeface="Wingdings" panose="05000000000000000000" pitchFamily="2" charset="2"/>
                  </a:rPr>
                  <a:t>，消息比特数</a:t>
                </a:r>
                <a:r>
                  <a:rPr lang="en-US" altLang="zh-CN" sz="2000" dirty="0">
                    <a:sym typeface="Wingdings" panose="05000000000000000000" pitchFamily="2" charset="2"/>
                  </a:rPr>
                  <a:t>k=4 </a:t>
                </a:r>
                <a:r>
                  <a:rPr lang="zh-CN" altLang="en-US" sz="2000" dirty="0">
                    <a:sym typeface="Wingdings" panose="05000000000000000000" pitchFamily="2" charset="2"/>
                  </a:rPr>
                  <a:t>。</a:t>
                </a:r>
                <a:r>
                  <a:rPr lang="en-US" altLang="zh-CN" sz="2000" dirty="0">
                    <a:sym typeface="Wingdings" panose="05000000000000000000" pitchFamily="2" charset="2"/>
                  </a:rPr>
                  <a:t>(</a:t>
                </a:r>
                <a:r>
                  <a:rPr lang="zh-CN" altLang="en-US" sz="2000" dirty="0">
                    <a:sym typeface="Wingdings" panose="05000000000000000000" pitchFamily="2" charset="2"/>
                  </a:rPr>
                  <a:t>部分教材极化码用</a:t>
                </a:r>
                <a:r>
                  <a:rPr lang="en-US" altLang="zh-CN" sz="2000" dirty="0">
                    <a:sym typeface="Wingdings" panose="05000000000000000000" pitchFamily="2" charset="2"/>
                  </a:rPr>
                  <a:t>c</a:t>
                </a:r>
                <a:r>
                  <a:rPr lang="zh-CN" altLang="en-US" sz="2000" dirty="0">
                    <a:sym typeface="Wingdings" panose="05000000000000000000" pitchFamily="2" charset="2"/>
                  </a:rPr>
                  <a:t>表示，也可用</a:t>
                </a:r>
                <a:r>
                  <a:rPr lang="en-US" altLang="zh-CN" sz="2000" dirty="0">
                    <a:sym typeface="Wingdings" panose="05000000000000000000" pitchFamily="2" charset="2"/>
                  </a:rPr>
                  <a:t>x</a:t>
                </a:r>
                <a:r>
                  <a:rPr lang="zh-CN" altLang="en-US" sz="2000" dirty="0">
                    <a:sym typeface="Wingdings" panose="05000000000000000000" pitchFamily="2" charset="2"/>
                  </a:rPr>
                  <a:t>表示</a:t>
                </a:r>
                <a:r>
                  <a:rPr lang="en-US" altLang="zh-CN" sz="2000" dirty="0">
                    <a:sym typeface="Wingdings" panose="05000000000000000000" pitchFamily="2" charset="2"/>
                  </a:rPr>
                  <a:t>)</a:t>
                </a:r>
                <a:endParaRPr lang="en-US" altLang="zh-CN" sz="2000" dirty="0">
                  <a:sym typeface="Wingdings" panose="05000000000000000000" pitchFamily="2" charset="2"/>
                </a:endParaRPr>
              </a:p>
              <a:p>
                <a:pPr marL="0" indent="0" algn="just">
                  <a:lnSpc>
                    <a:spcPct val="150000"/>
                  </a:lnSpc>
                  <a:buNone/>
                </a:pPr>
                <a:r>
                  <a:rPr lang="zh-CN" altLang="en-US" sz="2000" dirty="0">
                    <a:sym typeface="Wingdings" panose="05000000000000000000" pitchFamily="2" charset="2"/>
                  </a:rPr>
                  <a:t>      需要的公式：</a:t>
                </a:r>
                <a:endParaRPr lang="en-US" altLang="zh-CN" sz="2000" dirty="0">
                  <a:sym typeface="Wingdings" panose="05000000000000000000" pitchFamily="2" charset="2"/>
                </a:endParaRPr>
              </a:p>
              <a:p>
                <a:pPr marL="0" indent="0" algn="just">
                  <a:lnSpc>
                    <a:spcPts val="4500"/>
                  </a:lnSpc>
                  <a:buNone/>
                </a:pPr>
                <a14:m>
                  <m:oMathPara xmlns:m="http://schemas.openxmlformats.org/officeDocument/2006/math">
                    <m:oMathParaPr>
                      <m:jc m:val="centerGroup"/>
                    </m:oMathParaPr>
                    <m:oMath xmlns:m="http://schemas.openxmlformats.org/officeDocument/2006/math">
                      <m:sSubSup>
                        <m:sSubSupPr>
                          <m:ctrlPr>
                            <a:rPr lang="zh-CN" altLang="zh-CN" sz="1800" i="1" kern="100" smtClean="0">
                              <a:effectLst/>
                              <a:latin typeface="Cambria Math" panose="02040503050406030204" pitchFamily="18" charset="0"/>
                              <a:ea typeface="Cambria Math" panose="02040503050406030204" pitchFamily="18" charset="0"/>
                            </a:rPr>
                          </m:ctrlPr>
                        </m:sSubSupPr>
                        <m:e>
                          <m:r>
                            <m:rPr>
                              <m:nor/>
                            </m:rPr>
                            <a:rPr lang="en-US" altLang="zh-CN" sz="1800" kern="100">
                              <a:effectLst/>
                              <a:latin typeface="Cambria Math" panose="02040503050406030204" pitchFamily="18" charset="0"/>
                              <a:ea typeface="宋体" panose="02010600030101010101" pitchFamily="2" charset="-122"/>
                            </a:rPr>
                            <m:t>c</m:t>
                          </m:r>
                        </m:e>
                        <m:sub>
                          <m:r>
                            <m:rPr>
                              <m:nor/>
                            </m:rPr>
                            <a:rPr lang="en-US" altLang="zh-CN" sz="1800" kern="100">
                              <a:effectLst/>
                              <a:latin typeface="Cambria Math" panose="02040503050406030204" pitchFamily="18" charset="0"/>
                              <a:ea typeface="宋体" panose="02010600030101010101" pitchFamily="2" charset="-122"/>
                            </a:rPr>
                            <m:t>1</m:t>
                          </m:r>
                        </m:sub>
                        <m:sup>
                          <m:r>
                            <m:rPr>
                              <m:nor/>
                            </m:rPr>
                            <a:rPr lang="en-US" altLang="zh-CN" sz="1800" kern="100">
                              <a:effectLst/>
                              <a:latin typeface="Cambria Math" panose="02040503050406030204" pitchFamily="18" charset="0"/>
                              <a:ea typeface="宋体" panose="02010600030101010101" pitchFamily="2" charset="-122"/>
                            </a:rPr>
                            <m:t>N</m:t>
                          </m:r>
                        </m:sup>
                      </m:sSubSup>
                      <m:r>
                        <m:rPr>
                          <m:nor/>
                        </m:rPr>
                        <a:rPr lang="en-US" altLang="zh-CN" sz="1800"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m:rPr>
                              <m:nor/>
                            </m:rPr>
                            <a:rPr lang="en-US" altLang="zh-CN" sz="1800" kern="100">
                              <a:effectLst/>
                              <a:latin typeface="Cambria Math" panose="02040503050406030204" pitchFamily="18" charset="0"/>
                              <a:ea typeface="宋体" panose="02010600030101010101" pitchFamily="2" charset="-122"/>
                            </a:rPr>
                            <m:t>u</m:t>
                          </m:r>
                        </m:e>
                        <m:sub>
                          <m:r>
                            <m:rPr>
                              <m:nor/>
                            </m:rPr>
                            <a:rPr lang="en-US" altLang="zh-CN" sz="1800" kern="100">
                              <a:effectLst/>
                              <a:latin typeface="Cambria Math" panose="02040503050406030204" pitchFamily="18" charset="0"/>
                              <a:ea typeface="宋体" panose="02010600030101010101" pitchFamily="2" charset="-122"/>
                            </a:rPr>
                            <m:t>1</m:t>
                          </m:r>
                        </m:sub>
                        <m:sup>
                          <m:r>
                            <m:rPr>
                              <m:nor/>
                            </m:rPr>
                            <a:rPr lang="en-US" altLang="zh-CN" sz="1800" kern="100">
                              <a:effectLst/>
                              <a:latin typeface="Cambria Math" panose="02040503050406030204" pitchFamily="18" charset="0"/>
                              <a:ea typeface="宋体" panose="02010600030101010101" pitchFamily="2" charset="-122"/>
                            </a:rPr>
                            <m:t>N</m:t>
                          </m:r>
                        </m:sup>
                      </m:sSubSup>
                      <m:sSub>
                        <m:sSubPr>
                          <m:ctrlPr>
                            <a:rPr lang="zh-CN" altLang="zh-CN" sz="1800" i="1" kern="100">
                              <a:effectLst/>
                              <a:latin typeface="Cambria Math" panose="02040503050406030204" pitchFamily="18" charset="0"/>
                              <a:ea typeface="Cambria Math" panose="02040503050406030204" pitchFamily="18" charset="0"/>
                            </a:rPr>
                          </m:ctrlPr>
                        </m:sSubPr>
                        <m:e>
                          <m:r>
                            <m:rPr>
                              <m:nor/>
                            </m:rPr>
                            <a:rPr lang="en-US" altLang="zh-CN" sz="1800" kern="100">
                              <a:effectLst/>
                              <a:latin typeface="Cambria Math" panose="02040503050406030204" pitchFamily="18" charset="0"/>
                              <a:ea typeface="宋体" panose="02010600030101010101" pitchFamily="2" charset="-122"/>
                            </a:rPr>
                            <m:t>G</m:t>
                          </m:r>
                        </m:e>
                        <m:sub>
                          <m:r>
                            <m:rPr>
                              <m:nor/>
                            </m:rPr>
                            <a:rPr lang="en-US" altLang="zh-CN" sz="1800" kern="100">
                              <a:effectLst/>
                              <a:latin typeface="Cambria Math" panose="02040503050406030204" pitchFamily="18" charset="0"/>
                              <a:ea typeface="宋体" panose="02010600030101010101" pitchFamily="2" charset="-122"/>
                            </a:rPr>
                            <m:t>N</m:t>
                          </m:r>
                        </m:sub>
                      </m:sSub>
                    </m:oMath>
                  </m:oMathPara>
                </a14:m>
                <a:endParaRPr lang="zh-CN" altLang="zh-CN" sz="1800" kern="100" dirty="0">
                  <a:effectLst/>
                  <a:ea typeface="宋体" panose="02010600030101010101" pitchFamily="2" charset="-122"/>
                </a:endParaRPr>
              </a:p>
              <a:p>
                <a:pPr marL="0" indent="0" algn="just">
                  <a:lnSpc>
                    <a:spcPts val="4500"/>
                  </a:lnSpc>
                  <a:buNone/>
                </a:pPr>
                <a14:m>
                  <m:oMathPara xmlns:m="http://schemas.openxmlformats.org/officeDocument/2006/math">
                    <m:oMathParaPr>
                      <m:jc m:val="centerGroup"/>
                    </m:oMathParaPr>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rPr>
                          </m:ctrlPr>
                        </m:sSubPr>
                        <m:e>
                          <m:r>
                            <m:rPr>
                              <m:nor/>
                            </m:rPr>
                            <a:rPr lang="en-US" altLang="zh-CN" sz="1800" kern="100">
                              <a:effectLst/>
                              <a:latin typeface="Cambria Math" panose="02040503050406030204" pitchFamily="18" charset="0"/>
                              <a:ea typeface="宋体" panose="02010600030101010101" pitchFamily="2" charset="-122"/>
                            </a:rPr>
                            <m:t>G</m:t>
                          </m:r>
                        </m:e>
                        <m:sub>
                          <m:r>
                            <m:rPr>
                              <m:nor/>
                            </m:rPr>
                            <a:rPr lang="en-US" altLang="zh-CN" sz="1800" kern="100">
                              <a:effectLst/>
                              <a:latin typeface="Cambria Math" panose="02040503050406030204" pitchFamily="18" charset="0"/>
                              <a:ea typeface="宋体" panose="02010600030101010101" pitchFamily="2" charset="-122"/>
                            </a:rPr>
                            <m:t>N</m:t>
                          </m:r>
                        </m:sub>
                      </m:sSub>
                      <m:r>
                        <m:rPr>
                          <m:nor/>
                        </m:rPr>
                        <a:rPr lang="en-US" altLang="zh-CN" sz="1800" i="0" kern="100">
                          <a:effectLst/>
                          <a:latin typeface="Cambria Math" panose="02040503050406030204" pitchFamily="18" charset="0"/>
                          <a:ea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rPr>
                          </m:ctrlPr>
                        </m:sSubPr>
                        <m:e>
                          <m:r>
                            <m:rPr>
                              <m:nor/>
                            </m:rPr>
                            <a:rPr lang="en-US" altLang="zh-CN" sz="1800" kern="100">
                              <a:effectLst/>
                              <a:latin typeface="Cambria Math" panose="02040503050406030204" pitchFamily="18" charset="0"/>
                              <a:ea typeface="宋体" panose="02010600030101010101" pitchFamily="2" charset="-122"/>
                            </a:rPr>
                            <m:t>B</m:t>
                          </m:r>
                        </m:e>
                        <m:sub>
                          <m:r>
                            <m:rPr>
                              <m:nor/>
                            </m:rPr>
                            <a:rPr lang="en-US" altLang="zh-CN" sz="1800" kern="100">
                              <a:effectLst/>
                              <a:latin typeface="Cambria Math" panose="02040503050406030204" pitchFamily="18" charset="0"/>
                              <a:ea typeface="宋体" panose="02010600030101010101" pitchFamily="2" charset="-122"/>
                            </a:rPr>
                            <m:t>N</m:t>
                          </m:r>
                        </m:sub>
                      </m:sSub>
                      <m:sSup>
                        <m:sSupPr>
                          <m:ctrlPr>
                            <a:rPr lang="zh-CN" altLang="zh-CN" sz="1800" i="1" kern="100">
                              <a:effectLst/>
                              <a:latin typeface="Cambria Math" panose="02040503050406030204" pitchFamily="18" charset="0"/>
                              <a:ea typeface="Cambria Math" panose="02040503050406030204" pitchFamily="18" charset="0"/>
                            </a:rPr>
                          </m:ctrlPr>
                        </m:sSupPr>
                        <m:e>
                          <m:r>
                            <m:rPr>
                              <m:nor/>
                            </m:rPr>
                            <a:rPr lang="en-US" altLang="zh-CN" sz="1800" kern="100">
                              <a:effectLst/>
                              <a:latin typeface="Cambria Math" panose="02040503050406030204" pitchFamily="18" charset="0"/>
                              <a:ea typeface="宋体" panose="02010600030101010101" pitchFamily="2" charset="-122"/>
                            </a:rPr>
                            <m:t>F</m:t>
                          </m:r>
                        </m:e>
                        <m:sup>
                          <m:r>
                            <m:rPr>
                              <m:nor/>
                            </m:rPr>
                            <a:rPr lang="zh-CN" altLang="zh-CN" sz="1800" kern="100">
                              <a:effectLst/>
                              <a:latin typeface="Cambria Math" panose="02040503050406030204" pitchFamily="18" charset="0"/>
                              <a:ea typeface="MS Gothic" panose="020B0609070205080204" pitchFamily="49" charset="-128"/>
                              <a:cs typeface="MS Gothic" panose="020B0609070205080204" pitchFamily="49" charset="-128"/>
                            </a:rPr>
                            <m:t>⊗</m:t>
                          </m:r>
                          <m:r>
                            <m:rPr>
                              <m:nor/>
                            </m:rPr>
                            <a:rPr lang="en-US" altLang="zh-CN" sz="1800" kern="100">
                              <a:effectLst/>
                              <a:latin typeface="Cambria Math" panose="02040503050406030204" pitchFamily="18" charset="0"/>
                              <a:ea typeface="宋体" panose="02010600030101010101" pitchFamily="2" charset="-122"/>
                            </a:rPr>
                            <m:t>n</m:t>
                          </m:r>
                        </m:sup>
                      </m:sSup>
                    </m:oMath>
                  </m:oMathPara>
                </a14:m>
                <a:endParaRPr lang="zh-CN" altLang="zh-CN" sz="1800" kern="100" dirty="0">
                  <a:effectLst/>
                  <a:ea typeface="宋体" panose="02010600030101010101" pitchFamily="2" charset="-122"/>
                </a:endParaRPr>
              </a:p>
              <a:p>
                <a:pPr marL="0" indent="0" algn="just">
                  <a:lnSpc>
                    <a:spcPts val="4500"/>
                  </a:lnSpc>
                  <a:buNone/>
                </a:pPr>
                <a14:m>
                  <m:oMathPara xmlns:m="http://schemas.openxmlformats.org/officeDocument/2006/math">
                    <m:oMathParaPr>
                      <m:jc m:val="centerGroup"/>
                    </m:oMathParaPr>
                    <m:oMath xmlns:m="http://schemas.openxmlformats.org/officeDocument/2006/math">
                      <m:sSup>
                        <m:sSupPr>
                          <m:ctrlPr>
                            <a:rPr lang="zh-CN" altLang="zh-CN" sz="1800" i="1" kern="100">
                              <a:effectLst/>
                              <a:latin typeface="Cambria Math" panose="02040503050406030204" pitchFamily="18" charset="0"/>
                              <a:ea typeface="Cambria Math" panose="02040503050406030204" pitchFamily="18" charset="0"/>
                            </a:rPr>
                          </m:ctrlPr>
                        </m:sSupPr>
                        <m:e>
                          <m:r>
                            <m:rPr>
                              <m:nor/>
                            </m:rPr>
                            <a:rPr lang="en-US" altLang="zh-CN" sz="1800" kern="100">
                              <a:effectLst/>
                              <a:latin typeface="Cambria Math" panose="02040503050406030204" pitchFamily="18" charset="0"/>
                              <a:ea typeface="宋体" panose="02010600030101010101" pitchFamily="2" charset="-122"/>
                            </a:rPr>
                            <m:t>F</m:t>
                          </m:r>
                        </m:e>
                        <m:sup>
                          <m:r>
                            <m:rPr>
                              <m:nor/>
                            </m:rPr>
                            <a:rPr lang="zh-CN" altLang="zh-CN" sz="1800" kern="100">
                              <a:effectLst/>
                              <a:latin typeface="Cambria Math" panose="02040503050406030204" pitchFamily="18" charset="0"/>
                              <a:ea typeface="MS Gothic" panose="020B0609070205080204" pitchFamily="49" charset="-128"/>
                              <a:cs typeface="MS Gothic" panose="020B0609070205080204" pitchFamily="49" charset="-128"/>
                            </a:rPr>
                            <m:t>⊗</m:t>
                          </m:r>
                          <m:r>
                            <m:rPr>
                              <m:nor/>
                            </m:rPr>
                            <a:rPr lang="en-US" altLang="zh-CN" sz="1800" kern="100">
                              <a:effectLst/>
                              <a:latin typeface="Cambria Math" panose="02040503050406030204" pitchFamily="18" charset="0"/>
                              <a:ea typeface="宋体" panose="02010600030101010101" pitchFamily="2" charset="-122"/>
                            </a:rPr>
                            <m:t>n</m:t>
                          </m:r>
                        </m:sup>
                      </m:sSup>
                      <m:r>
                        <m:rPr>
                          <m:nor/>
                        </m:rPr>
                        <a:rPr lang="en-US" altLang="zh-CN" sz="1800" kern="100">
                          <a:effectLst/>
                          <a:latin typeface="Cambria Math" panose="02040503050406030204" pitchFamily="18" charset="0"/>
                          <a:ea typeface="宋体" panose="02010600030101010101" pitchFamily="2" charset="-122"/>
                        </a:rPr>
                        <m:t>=</m:t>
                      </m:r>
                      <m:r>
                        <m:rPr>
                          <m:nor/>
                        </m:rPr>
                        <a:rPr lang="en-US" altLang="zh-CN" sz="1800" kern="100">
                          <a:effectLst/>
                          <a:latin typeface="Cambria Math" panose="02040503050406030204" pitchFamily="18" charset="0"/>
                          <a:ea typeface="宋体" panose="02010600030101010101" pitchFamily="2" charset="-122"/>
                        </a:rPr>
                        <m:t>F</m:t>
                      </m:r>
                      <m:r>
                        <m:rPr>
                          <m:nor/>
                        </m:rPr>
                        <a:rPr lang="zh-CN" altLang="zh-CN" sz="1800" kern="100">
                          <a:effectLst/>
                          <a:latin typeface="Cambria Math" panose="02040503050406030204" pitchFamily="18" charset="0"/>
                          <a:ea typeface="MS Gothic" panose="020B0609070205080204" pitchFamily="49" charset="-128"/>
                          <a:cs typeface="MS Gothic" panose="020B0609070205080204" pitchFamily="49" charset="-128"/>
                        </a:rPr>
                        <m:t>⊗</m:t>
                      </m:r>
                      <m:r>
                        <m:rPr>
                          <m:nor/>
                        </m:rPr>
                        <a:rPr lang="zh-CN" altLang="zh-CN" sz="1800" kern="100">
                          <a:effectLst/>
                          <a:latin typeface="Cambria Math" panose="02040503050406030204" pitchFamily="18" charset="0"/>
                          <a:ea typeface="宋体" panose="02010600030101010101" pitchFamily="2" charset="-122"/>
                        </a:rPr>
                        <m:t> </m:t>
                      </m:r>
                      <m:sSup>
                        <m:sSupPr>
                          <m:ctrlPr>
                            <a:rPr lang="zh-CN" altLang="zh-CN" sz="1800" i="1" kern="100">
                              <a:effectLst/>
                              <a:latin typeface="Cambria Math" panose="02040503050406030204" pitchFamily="18" charset="0"/>
                              <a:ea typeface="Cambria Math" panose="02040503050406030204" pitchFamily="18" charset="0"/>
                            </a:rPr>
                          </m:ctrlPr>
                        </m:sSupPr>
                        <m:e>
                          <m:r>
                            <m:rPr>
                              <m:nor/>
                            </m:rPr>
                            <a:rPr lang="en-US" altLang="zh-CN" sz="1800" kern="100">
                              <a:effectLst/>
                              <a:latin typeface="Cambria Math" panose="02040503050406030204" pitchFamily="18" charset="0"/>
                              <a:ea typeface="宋体" panose="02010600030101010101" pitchFamily="2" charset="-122"/>
                            </a:rPr>
                            <m:t>F</m:t>
                          </m:r>
                        </m:e>
                        <m:sup>
                          <m:r>
                            <m:rPr>
                              <m:nor/>
                            </m:rPr>
                            <a:rPr lang="zh-CN" altLang="zh-CN" sz="1800" kern="100">
                              <a:effectLst/>
                              <a:latin typeface="Cambria Math" panose="02040503050406030204" pitchFamily="18" charset="0"/>
                              <a:ea typeface="MS Gothic" panose="020B0609070205080204" pitchFamily="49" charset="-128"/>
                              <a:cs typeface="MS Gothic" panose="020B0609070205080204" pitchFamily="49" charset="-128"/>
                            </a:rPr>
                            <m:t>⊗</m:t>
                          </m:r>
                          <m:r>
                            <m:rPr>
                              <m:nor/>
                            </m:rPr>
                            <a:rPr lang="en-US" altLang="zh-CN" sz="1800" kern="100">
                              <a:effectLst/>
                              <a:latin typeface="Cambria Math" panose="02040503050406030204" pitchFamily="18" charset="0"/>
                              <a:ea typeface="等线" panose="02010600030101010101" pitchFamily="2" charset="-122"/>
                            </a:rPr>
                            <m:t>(</m:t>
                          </m:r>
                          <m:r>
                            <m:rPr>
                              <m:nor/>
                            </m:rPr>
                            <a:rPr lang="en-US" altLang="zh-CN" sz="1800" kern="100">
                              <a:effectLst/>
                              <a:latin typeface="Cambria Math" panose="02040503050406030204" pitchFamily="18" charset="0"/>
                              <a:ea typeface="宋体" panose="02010600030101010101" pitchFamily="2" charset="-122"/>
                            </a:rPr>
                            <m:t>n</m:t>
                          </m:r>
                          <m:r>
                            <m:rPr>
                              <m:nor/>
                            </m:rPr>
                            <a:rPr lang="en-US" altLang="zh-CN" sz="1800" i="1" kern="100">
                              <a:effectLst/>
                              <a:latin typeface="Cambria Math" panose="02040503050406030204" pitchFamily="18" charset="0"/>
                              <a:ea typeface="宋体" panose="02010600030101010101" pitchFamily="2" charset="-122"/>
                            </a:rPr>
                            <m:t>−</m:t>
                          </m:r>
                          <m:r>
                            <m:rPr>
                              <m:nor/>
                            </m:rPr>
                            <a:rPr lang="en-US" altLang="zh-CN" sz="1800" kern="100">
                              <a:effectLst/>
                              <a:latin typeface="Cambria Math" panose="02040503050406030204" pitchFamily="18" charset="0"/>
                              <a:ea typeface="宋体" panose="02010600030101010101" pitchFamily="2" charset="-122"/>
                            </a:rPr>
                            <m:t>1</m:t>
                          </m:r>
                          <m:r>
                            <m:rPr>
                              <m:nor/>
                            </m:rPr>
                            <a:rPr lang="en-US" altLang="zh-CN" sz="1800" kern="100">
                              <a:effectLst/>
                              <a:latin typeface="Cambria Math" panose="02040503050406030204" pitchFamily="18" charset="0"/>
                              <a:ea typeface="宋体" panose="02010600030101010101" pitchFamily="2" charset="-122"/>
                            </a:rPr>
                            <m:t>)</m:t>
                          </m:r>
                        </m:sup>
                      </m:sSup>
                    </m:oMath>
                  </m:oMathPara>
                </a14:m>
                <a:endParaRPr lang="zh-CN" altLang="zh-CN" sz="1800" kern="100" dirty="0">
                  <a:effectLst/>
                  <a:ea typeface="宋体" panose="02010600030101010101" pitchFamily="2" charset="-122"/>
                </a:endParaRPr>
              </a:p>
              <a:p>
                <a:pPr marL="0" indent="0" algn="just">
                  <a:lnSpc>
                    <a:spcPts val="4500"/>
                  </a:lnSpc>
                  <a:buNone/>
                </a:pPr>
                <a14:m>
                  <m:oMathPara xmlns:m="http://schemas.openxmlformats.org/officeDocument/2006/math">
                    <m:oMathParaPr>
                      <m:jc m:val="centerGroup"/>
                    </m:oMathParaPr>
                    <m:oMath xmlns:m="http://schemas.openxmlformats.org/officeDocument/2006/math">
                      <m:r>
                        <m:rPr>
                          <m:nor/>
                        </m:rPr>
                        <a:rPr lang="en-US" altLang="zh-CN" sz="1800" kern="100">
                          <a:effectLst/>
                          <a:latin typeface="Cambria Math" panose="02040503050406030204" pitchFamily="18" charset="0"/>
                          <a:ea typeface="宋体" panose="02010600030101010101" pitchFamily="2" charset="-122"/>
                        </a:rPr>
                        <m:t>F</m:t>
                      </m:r>
                      <m:r>
                        <m:rPr>
                          <m:nor/>
                        </m:rPr>
                        <a:rPr lang="en-US" altLang="zh-CN" sz="1800" kern="100">
                          <a:effectLst/>
                          <a:latin typeface="Cambria Math" panose="02040503050406030204" pitchFamily="18" charset="0"/>
                          <a:ea typeface="宋体" panose="02010600030101010101" pitchFamily="2" charset="-122"/>
                        </a:rPr>
                        <m:t>=</m:t>
                      </m:r>
                      <m:d>
                        <m:dPr>
                          <m:begChr m:val="["/>
                          <m:endChr m:val="]"/>
                          <m:ctrlPr>
                            <a:rPr lang="zh-CN" altLang="zh-CN" sz="1800" i="1" kern="100">
                              <a:effectLst/>
                              <a:latin typeface="Cambria Math" panose="02040503050406030204" pitchFamily="18" charset="0"/>
                              <a:ea typeface="Cambria Math" panose="02040503050406030204" pitchFamily="18" charset="0"/>
                            </a:rPr>
                          </m:ctrlPr>
                        </m:dPr>
                        <m:e>
                          <m:m>
                            <m:mPr>
                              <m:mcs>
                                <m:mc>
                                  <m:mcPr>
                                    <m:count m:val="2"/>
                                    <m:mcJc m:val="center"/>
                                  </m:mcPr>
                                </m:mc>
                              </m:mcs>
                              <m:plcHide m:val="on"/>
                              <m:ctrlPr>
                                <a:rPr lang="zh-CN" altLang="zh-CN" sz="1800" i="1" kern="100">
                                  <a:effectLst/>
                                  <a:latin typeface="Cambria Math" panose="02040503050406030204" pitchFamily="18" charset="0"/>
                                  <a:ea typeface="Cambria Math" panose="02040503050406030204" pitchFamily="18" charset="0"/>
                                </a:rPr>
                              </m:ctrlPr>
                            </m:mPr>
                            <m:mr>
                              <m:e>
                                <m:r>
                                  <m:rPr>
                                    <m:nor/>
                                  </m:rPr>
                                  <a:rPr lang="en-US" altLang="zh-CN" sz="1800" kern="100">
                                    <a:effectLst/>
                                    <a:latin typeface="Cambria Math" panose="02040503050406030204" pitchFamily="18" charset="0"/>
                                    <a:ea typeface="宋体" panose="02010600030101010101" pitchFamily="2" charset="-122"/>
                                  </a:rPr>
                                  <m:t>1</m:t>
                                </m:r>
                              </m:e>
                              <m:e>
                                <m:r>
                                  <m:rPr>
                                    <m:nor/>
                                  </m:rPr>
                                  <a:rPr lang="en-US" altLang="zh-CN" sz="1800" kern="100">
                                    <a:effectLst/>
                                    <a:latin typeface="Cambria Math" panose="02040503050406030204" pitchFamily="18" charset="0"/>
                                    <a:ea typeface="宋体" panose="02010600030101010101" pitchFamily="2" charset="-122"/>
                                  </a:rPr>
                                  <m:t>0</m:t>
                                </m:r>
                              </m:e>
                            </m:mr>
                            <m:mr>
                              <m:e>
                                <m:r>
                                  <m:rPr>
                                    <m:nor/>
                                  </m:rPr>
                                  <a:rPr lang="en-US" altLang="zh-CN" sz="1800" kern="100">
                                    <a:effectLst/>
                                    <a:latin typeface="Cambria Math" panose="02040503050406030204" pitchFamily="18" charset="0"/>
                                    <a:ea typeface="宋体" panose="02010600030101010101" pitchFamily="2" charset="-122"/>
                                  </a:rPr>
                                  <m:t>1</m:t>
                                </m:r>
                              </m:e>
                              <m:e>
                                <m:r>
                                  <m:rPr>
                                    <m:nor/>
                                  </m:rPr>
                                  <a:rPr lang="en-US" altLang="zh-CN" sz="1800" kern="100">
                                    <a:effectLst/>
                                    <a:latin typeface="Cambria Math" panose="02040503050406030204" pitchFamily="18" charset="0"/>
                                    <a:ea typeface="宋体" panose="02010600030101010101" pitchFamily="2" charset="-122"/>
                                  </a:rPr>
                                  <m:t>1</m:t>
                                </m:r>
                              </m:e>
                            </m:mr>
                          </m:m>
                        </m:e>
                      </m:d>
                    </m:oMath>
                  </m:oMathPara>
                </a14:m>
                <a:endParaRPr lang="zh-CN" altLang="zh-CN" sz="1800" kern="100" dirty="0">
                  <a:effectLst/>
                  <a:ea typeface="宋体" panose="02010600030101010101" pitchFamily="2" charset="-122"/>
                </a:endParaRPr>
              </a:p>
              <a:p>
                <a:pPr marL="0" indent="0" algn="just">
                  <a:lnSpc>
                    <a:spcPts val="4500"/>
                  </a:lnSpc>
                  <a:buNone/>
                </a:pPr>
                <a14:m>
                  <m:oMathPara xmlns:m="http://schemas.openxmlformats.org/officeDocument/2006/math">
                    <m:oMathParaPr>
                      <m:jc m:val="centerGroup"/>
                    </m:oMathParaPr>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rPr>
                          </m:ctrlPr>
                        </m:sSubPr>
                        <m:e>
                          <m:r>
                            <m:rPr>
                              <m:nor/>
                            </m:rPr>
                            <a:rPr lang="en-US" altLang="zh-CN" sz="1800" kern="100">
                              <a:effectLst/>
                              <a:latin typeface="Cambria Math" panose="02040503050406030204" pitchFamily="18" charset="0"/>
                              <a:ea typeface="宋体" panose="02010600030101010101" pitchFamily="2" charset="-122"/>
                            </a:rPr>
                            <m:t>B</m:t>
                          </m:r>
                        </m:e>
                        <m:sub>
                          <m:r>
                            <m:rPr>
                              <m:nor/>
                            </m:rPr>
                            <a:rPr lang="en-US" altLang="zh-CN" sz="1800" kern="100">
                              <a:effectLst/>
                              <a:latin typeface="Cambria Math" panose="02040503050406030204" pitchFamily="18" charset="0"/>
                              <a:ea typeface="宋体" panose="02010600030101010101" pitchFamily="2" charset="-122"/>
                            </a:rPr>
                            <m:t>N</m:t>
                          </m:r>
                        </m:sub>
                      </m:sSub>
                      <m:r>
                        <m:rPr>
                          <m:nor/>
                        </m:rPr>
                        <a:rPr lang="en-US" altLang="zh-CN" sz="1800" kern="100">
                          <a:effectLst/>
                          <a:latin typeface="Cambria Math" panose="02040503050406030204" pitchFamily="18" charset="0"/>
                          <a:ea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rPr>
                          </m:ctrlPr>
                        </m:sSubPr>
                        <m:e>
                          <m:r>
                            <m:rPr>
                              <m:nor/>
                            </m:rPr>
                            <a:rPr lang="en-US" altLang="zh-CN" sz="1800" kern="100">
                              <a:effectLst/>
                              <a:latin typeface="Cambria Math" panose="02040503050406030204" pitchFamily="18" charset="0"/>
                              <a:ea typeface="宋体" panose="02010600030101010101" pitchFamily="2" charset="-122"/>
                            </a:rPr>
                            <m:t>R</m:t>
                          </m:r>
                        </m:e>
                        <m:sub>
                          <m:r>
                            <m:rPr>
                              <m:nor/>
                            </m:rPr>
                            <a:rPr lang="en-US" altLang="zh-CN" sz="1800" kern="100">
                              <a:effectLst/>
                              <a:latin typeface="Cambria Math" panose="02040503050406030204" pitchFamily="18" charset="0"/>
                              <a:ea typeface="宋体" panose="02010600030101010101" pitchFamily="2" charset="-122"/>
                            </a:rPr>
                            <m:t>N</m:t>
                          </m:r>
                        </m:sub>
                      </m:sSub>
                      <m:d>
                        <m:dPr>
                          <m:ctrlPr>
                            <a:rPr lang="zh-CN" altLang="zh-CN" sz="1800" i="1" kern="100">
                              <a:effectLst/>
                              <a:latin typeface="Cambria Math" panose="02040503050406030204" pitchFamily="18" charset="0"/>
                              <a:ea typeface="Cambria Math" panose="02040503050406030204" pitchFamily="18" charset="0"/>
                            </a:rPr>
                          </m:ctrlPr>
                        </m:dPr>
                        <m:e>
                          <m:sSub>
                            <m:sSubPr>
                              <m:ctrlPr>
                                <a:rPr lang="zh-CN" altLang="zh-CN" sz="1800" i="1" kern="100">
                                  <a:effectLst/>
                                  <a:latin typeface="Cambria Math" panose="02040503050406030204" pitchFamily="18" charset="0"/>
                                  <a:ea typeface="Cambria Math" panose="02040503050406030204" pitchFamily="18" charset="0"/>
                                </a:rPr>
                              </m:ctrlPr>
                            </m:sSubPr>
                            <m:e>
                              <m:r>
                                <m:rPr>
                                  <m:nor/>
                                </m:rPr>
                                <a:rPr lang="en-US" altLang="zh-CN" sz="1800" kern="100">
                                  <a:effectLst/>
                                  <a:latin typeface="Cambria Math" panose="02040503050406030204" pitchFamily="18" charset="0"/>
                                  <a:ea typeface="宋体" panose="02010600030101010101" pitchFamily="2" charset="-122"/>
                                </a:rPr>
                                <m:t>I</m:t>
                              </m:r>
                            </m:e>
                            <m:sub>
                              <m:r>
                                <m:rPr>
                                  <m:nor/>
                                </m:rPr>
                                <a:rPr lang="en-US" altLang="zh-CN" sz="1800" kern="100">
                                  <a:effectLst/>
                                  <a:latin typeface="Cambria Math" panose="02040503050406030204" pitchFamily="18" charset="0"/>
                                  <a:ea typeface="宋体" panose="02010600030101010101" pitchFamily="2" charset="-122"/>
                                </a:rPr>
                                <m:t>2</m:t>
                              </m:r>
                            </m:sub>
                          </m:sSub>
                          <m:r>
                            <m:rPr>
                              <m:nor/>
                            </m:rPr>
                            <a:rPr lang="zh-CN" altLang="zh-CN" sz="1800" kern="100">
                              <a:effectLst/>
                              <a:latin typeface="Cambria Math" panose="02040503050406030204" pitchFamily="18" charset="0"/>
                              <a:ea typeface="MS Gothic" panose="020B0609070205080204" pitchFamily="49" charset="-128"/>
                              <a:cs typeface="MS Gothic" panose="020B0609070205080204" pitchFamily="49" charset="-128"/>
                            </a:rPr>
                            <m:t>⊗</m:t>
                          </m:r>
                          <m:sSub>
                            <m:sSubPr>
                              <m:ctrlPr>
                                <a:rPr lang="zh-CN" altLang="zh-CN" sz="1800" i="1" kern="100">
                                  <a:effectLst/>
                                  <a:latin typeface="Cambria Math" panose="02040503050406030204" pitchFamily="18" charset="0"/>
                                  <a:ea typeface="Cambria Math" panose="02040503050406030204" pitchFamily="18" charset="0"/>
                                </a:rPr>
                              </m:ctrlPr>
                            </m:sSubPr>
                            <m:e>
                              <m:r>
                                <m:rPr>
                                  <m:nor/>
                                </m:rPr>
                                <a:rPr lang="en-US" altLang="zh-CN" sz="1800" kern="100">
                                  <a:effectLst/>
                                  <a:latin typeface="Cambria Math" panose="02040503050406030204" pitchFamily="18" charset="0"/>
                                  <a:ea typeface="宋体" panose="02010600030101010101" pitchFamily="2" charset="-122"/>
                                </a:rPr>
                                <m:t>B</m:t>
                              </m:r>
                            </m:e>
                            <m:sub>
                              <m:r>
                                <m:rPr>
                                  <m:nor/>
                                </m:rPr>
                                <a:rPr lang="en-US" altLang="zh-CN" sz="1800" kern="100">
                                  <a:effectLst/>
                                  <a:latin typeface="Cambria Math" panose="02040503050406030204" pitchFamily="18" charset="0"/>
                                  <a:ea typeface="宋体" panose="02010600030101010101" pitchFamily="2" charset="-122"/>
                                </a:rPr>
                                <m:t>N</m:t>
                              </m:r>
                              <m:r>
                                <m:rPr>
                                  <m:nor/>
                                </m:rPr>
                                <a:rPr lang="en-US" altLang="zh-CN" sz="1800" kern="100">
                                  <a:effectLst/>
                                  <a:latin typeface="Cambria Math" panose="02040503050406030204" pitchFamily="18" charset="0"/>
                                  <a:ea typeface="宋体" panose="02010600030101010101" pitchFamily="2" charset="-122"/>
                                </a:rPr>
                                <m:t>∕</m:t>
                              </m:r>
                              <m:r>
                                <m:rPr>
                                  <m:nor/>
                                </m:rPr>
                                <a:rPr lang="en-US" altLang="zh-CN" sz="1800" kern="100">
                                  <a:effectLst/>
                                  <a:latin typeface="Cambria Math" panose="02040503050406030204" pitchFamily="18" charset="0"/>
                                  <a:ea typeface="宋体" panose="02010600030101010101" pitchFamily="2" charset="-122"/>
                                </a:rPr>
                                <m:t>2</m:t>
                              </m:r>
                            </m:sub>
                          </m:sSub>
                        </m:e>
                      </m:d>
                    </m:oMath>
                  </m:oMathPara>
                </a14:m>
                <a:endParaRPr lang="zh-CN" altLang="zh-CN" sz="1800" kern="100" dirty="0">
                  <a:effectLst/>
                  <a:ea typeface="宋体" panose="02010600030101010101" pitchFamily="2" charset="-122"/>
                </a:endParaRPr>
              </a:p>
              <a:p>
                <a:pPr marL="0" indent="0" algn="just">
                  <a:lnSpc>
                    <a:spcPts val="4500"/>
                  </a:lnSpc>
                  <a:buNone/>
                </a:pPr>
                <a14:m>
                  <m:oMathPara xmlns:m="http://schemas.openxmlformats.org/officeDocument/2006/math">
                    <m:oMathParaPr>
                      <m:jc m:val="centerGroup"/>
                    </m:oMathParaPr>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rPr>
                          </m:ctrlPr>
                        </m:sSubPr>
                        <m:e>
                          <m:r>
                            <m:rPr>
                              <m:nor/>
                            </m:rPr>
                            <a:rPr lang="en-US" altLang="zh-CN" sz="1800" kern="100">
                              <a:effectLst/>
                              <a:latin typeface="Cambria Math" panose="02040503050406030204" pitchFamily="18" charset="0"/>
                              <a:ea typeface="宋体" panose="02010600030101010101" pitchFamily="2" charset="-122"/>
                            </a:rPr>
                            <m:t>B</m:t>
                          </m:r>
                        </m:e>
                        <m:sub>
                          <m:r>
                            <m:rPr>
                              <m:nor/>
                            </m:rPr>
                            <a:rPr lang="en-US" altLang="zh-CN" sz="1800" kern="100">
                              <a:effectLst/>
                              <a:latin typeface="Cambria Math" panose="02040503050406030204" pitchFamily="18" charset="0"/>
                              <a:ea typeface="宋体" panose="02010600030101010101" pitchFamily="2" charset="-122"/>
                            </a:rPr>
                            <m:t>2</m:t>
                          </m:r>
                        </m:sub>
                      </m:sSub>
                      <m:r>
                        <m:rPr>
                          <m:nor/>
                        </m:rPr>
                        <a:rPr lang="en-US" altLang="zh-CN" sz="1800" i="0" kern="100">
                          <a:effectLst/>
                          <a:latin typeface="Cambria Math" panose="02040503050406030204" pitchFamily="18" charset="0"/>
                          <a:ea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rPr>
                          </m:ctrlPr>
                        </m:sSubPr>
                        <m:e>
                          <m:r>
                            <m:rPr>
                              <m:nor/>
                            </m:rPr>
                            <a:rPr lang="en-US" altLang="zh-CN" sz="1800" kern="100">
                              <a:effectLst/>
                              <a:latin typeface="Cambria Math" panose="02040503050406030204" pitchFamily="18" charset="0"/>
                              <a:ea typeface="宋体" panose="02010600030101010101" pitchFamily="2" charset="-122"/>
                            </a:rPr>
                            <m:t>I</m:t>
                          </m:r>
                        </m:e>
                        <m:sub>
                          <m:r>
                            <m:rPr>
                              <m:nor/>
                            </m:rPr>
                            <a:rPr lang="en-US" altLang="zh-CN" sz="1800" kern="100">
                              <a:effectLst/>
                              <a:latin typeface="Cambria Math" panose="02040503050406030204" pitchFamily="18" charset="0"/>
                              <a:ea typeface="宋体" panose="02010600030101010101" pitchFamily="2" charset="-122"/>
                            </a:rPr>
                            <m:t>2</m:t>
                          </m:r>
                        </m:sub>
                      </m:sSub>
                    </m:oMath>
                  </m:oMathPara>
                </a14:m>
                <a:endParaRPr lang="zh-CN" altLang="zh-CN" sz="1800" kern="100" dirty="0">
                  <a:effectLst/>
                  <a:ea typeface="宋体" panose="02010600030101010101" pitchFamily="2" charset="-122"/>
                </a:endParaRPr>
              </a:p>
              <a:p>
                <a:pPr marL="0" indent="0">
                  <a:lnSpc>
                    <a:spcPct val="150000"/>
                  </a:lnSpc>
                  <a:spcBef>
                    <a:spcPts val="0"/>
                  </a:spcBef>
                  <a:spcAft>
                    <a:spcPts val="0"/>
                  </a:spcAft>
                  <a:buNone/>
                </a:pPr>
                <a:endParaRPr lang="zh-CN" altLang="en-US" sz="2000" dirty="0">
                  <a:solidFill>
                    <a:schemeClr val="dk1"/>
                  </a:solidFill>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615342" y="1066862"/>
                <a:ext cx="7785783" cy="5333860"/>
              </a:xfrm>
              <a:blipFill rotWithShape="1">
                <a:blip r:embed="rId1"/>
                <a:stretch>
                  <a:fillRect t="-1" r="1" b="-7037"/>
                </a:stretch>
              </a:blipFill>
              <a:ln>
                <a:noFill/>
              </a:ln>
            </p:spPr>
            <p:style>
              <a:lnRef idx="0">
                <a:scrgbClr r="0" g="0" b="0"/>
              </a:lnRef>
              <a:fillRef idx="0">
                <a:scrgbClr r="0" g="0" b="0"/>
              </a:fillRef>
              <a:effectRef idx="0">
                <a:scrgbClr r="0" g="0" b="0"/>
              </a:effectRef>
              <a:fontRef idx="minor">
                <a:schemeClr val="dk1"/>
              </a:fontRef>
            </p:style>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467524" y="152486"/>
            <a:ext cx="1562173"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编码方法</a:t>
            </a:r>
            <a:endParaRPr lang="zh-CN" altLang="en-US" sz="2400" dirty="0">
              <a:sym typeface="+mn-ea"/>
            </a:endParaRPr>
          </a:p>
        </p:txBody>
      </p:sp>
      <mc:AlternateContent xmlns:mc="http://schemas.openxmlformats.org/markup-compatibility/2006">
        <mc:Choice xmlns:a14="http://schemas.microsoft.com/office/drawing/2010/main" Requires="a14">
          <p:sp>
            <p:nvSpPr>
              <p:cNvPr id="7" name="文本框 6"/>
              <p:cNvSpPr txBox="1"/>
              <p:nvPr/>
            </p:nvSpPr>
            <p:spPr>
              <a:xfrm>
                <a:off x="689131" y="685872"/>
                <a:ext cx="8317674" cy="3580788"/>
              </a:xfrm>
              <a:prstGeom prst="rect">
                <a:avLst/>
              </a:prstGeom>
              <a:noFill/>
            </p:spPr>
            <p:txBody>
              <a:bodyPr wrap="square" rtlCol="0" anchor="t">
                <a:spAutoFit/>
              </a:bodyPr>
              <a:lstStyle/>
              <a:p>
                <a:pPr>
                  <a:lnSpc>
                    <a:spcPct val="150000"/>
                  </a:lnSpc>
                </a:pPr>
                <a:r>
                  <a:rPr kumimoji="1" lang="en-US" altLang="zh-CN" sz="2000" dirty="0">
                    <a:solidFill>
                      <a:schemeClr val="dk1"/>
                    </a:solidFill>
                    <a:latin typeface="+mn-lt"/>
                    <a:ea typeface="+mn-ea"/>
                    <a:cs typeface="+mn-cs"/>
                    <a:sym typeface="+mn-ea"/>
                  </a:rPr>
                  <a:t>1</a:t>
                </a:r>
                <a:r>
                  <a:rPr kumimoji="1" lang="zh-CN" altLang="en-US" sz="2000" dirty="0">
                    <a:solidFill>
                      <a:schemeClr val="dk1"/>
                    </a:solidFill>
                    <a:latin typeface="+mn-lt"/>
                    <a:ea typeface="+mn-ea"/>
                    <a:cs typeface="+mn-cs"/>
                    <a:sym typeface="+mn-ea"/>
                  </a:rPr>
                  <a:t>、假设得到的码序列选择出的四个子信道序号为“</a:t>
                </a:r>
                <a:r>
                  <a:rPr kumimoji="1" lang="en-US" altLang="zh-CN" sz="2000" dirty="0">
                    <a:solidFill>
                      <a:schemeClr val="dk1"/>
                    </a:solidFill>
                    <a:latin typeface="+mn-lt"/>
                    <a:ea typeface="+mn-ea"/>
                    <a:cs typeface="+mn-cs"/>
                    <a:sym typeface="+mn-ea"/>
                  </a:rPr>
                  <a:t>4,6,7,8</a:t>
                </a:r>
                <a:r>
                  <a:rPr kumimoji="1" lang="zh-CN" altLang="en-US" sz="2000" dirty="0">
                    <a:solidFill>
                      <a:schemeClr val="dk1"/>
                    </a:solidFill>
                    <a:latin typeface="+mn-lt"/>
                    <a:ea typeface="+mn-ea"/>
                    <a:cs typeface="+mn-cs"/>
                    <a:sym typeface="+mn-ea"/>
                  </a:rPr>
                  <a:t>”记作</a:t>
                </a:r>
                <a:endParaRPr kumimoji="1" lang="en-US" altLang="zh-CN" sz="2000" dirty="0">
                  <a:solidFill>
                    <a:schemeClr val="dk1"/>
                  </a:solidFill>
                  <a:latin typeface="+mn-lt"/>
                  <a:ea typeface="+mn-ea"/>
                  <a:cs typeface="+mn-cs"/>
                  <a:sym typeface="+mn-ea"/>
                </a:endParaRPr>
              </a:p>
              <a:p>
                <a:pPr algn="ctr">
                  <a:lnSpc>
                    <a:spcPct val="150000"/>
                  </a:lnSpc>
                </a:pPr>
                <a:r>
                  <a:rPr kumimoji="1" lang="en-US" altLang="zh-CN" sz="2000" dirty="0">
                    <a:solidFill>
                      <a:schemeClr val="dk1"/>
                    </a:solidFill>
                    <a:latin typeface="+mn-lt"/>
                    <a:ea typeface="+mn-ea"/>
                    <a:cs typeface="+mn-cs"/>
                    <a:sym typeface="+mn-ea"/>
                  </a:rPr>
                  <a:t>A={4,6,7,8}</a:t>
                </a:r>
                <a:endParaRPr kumimoji="1" lang="en-US" altLang="zh-CN" sz="2000" dirty="0">
                  <a:solidFill>
                    <a:schemeClr val="dk1"/>
                  </a:solidFill>
                  <a:latin typeface="+mn-lt"/>
                  <a:ea typeface="+mn-ea"/>
                  <a:cs typeface="+mn-cs"/>
                  <a:sym typeface="+mn-ea"/>
                </a:endParaRPr>
              </a:p>
              <a:p>
                <a:pPr>
                  <a:lnSpc>
                    <a:spcPct val="150000"/>
                  </a:lnSpc>
                </a:pPr>
                <a:r>
                  <a:rPr kumimoji="1" lang="zh-CN" altLang="en-US" sz="2000" dirty="0">
                    <a:solidFill>
                      <a:schemeClr val="dk1"/>
                    </a:solidFill>
                    <a:latin typeface="+mn-lt"/>
                    <a:ea typeface="+mn-ea"/>
                    <a:cs typeface="+mn-cs"/>
                    <a:sym typeface="+mn-ea"/>
                  </a:rPr>
                  <a:t>固定比特序号集合为</a:t>
                </a:r>
                <a:endParaRPr kumimoji="1" lang="en-US" altLang="zh-CN" sz="2000" dirty="0">
                  <a:solidFill>
                    <a:schemeClr val="dk1"/>
                  </a:solidFill>
                  <a:latin typeface="+mn-lt"/>
                  <a:ea typeface="+mn-ea"/>
                  <a:cs typeface="+mn-cs"/>
                  <a:sym typeface="+mn-ea"/>
                </a:endParaRPr>
              </a:p>
              <a:p>
                <a:pPr algn="ctr">
                  <a:lnSpc>
                    <a:spcPct val="150000"/>
                  </a:lnSpc>
                </a:pPr>
                <a14:m>
                  <m:oMath xmlns:m="http://schemas.openxmlformats.org/officeDocument/2006/math">
                    <m:sSup>
                      <m:sSupPr>
                        <m:ctrlPr>
                          <a:rPr kumimoji="1" lang="zh-CN" altLang="en-US" sz="2000" b="0" i="1" u="none" strike="noStrike" kern="1200" cap="none" spc="0" normalizeH="0" baseline="0" noProof="0" dirty="0" smtClean="0">
                            <a:ln>
                              <a:noFill/>
                            </a:ln>
                            <a:solidFill>
                              <a:srgbClr val="000000"/>
                            </a:solidFill>
                            <a:effectLst/>
                            <a:uLnTx/>
                            <a:uFillTx/>
                            <a:latin typeface="Cambria Math" panose="02040503050406030204" pitchFamily="18" charset="0"/>
                            <a:cs typeface="+mn-cs"/>
                          </a:rPr>
                        </m:ctrlPr>
                      </m:sSupPr>
                      <m:e>
                        <m: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cs typeface="+mn-cs"/>
                          </a:rPr>
                          <m:t>𝐴</m:t>
                        </m:r>
                      </m:e>
                      <m:sup>
                        <m:r>
                          <m:rPr>
                            <m:sty m:val="p"/>
                          </m:rPr>
                          <a:rPr kumimoji="1" lang="en-US" altLang="zh-CN" sz="2000" i="1" dirty="0">
                            <a:solidFill>
                              <a:srgbClr val="000000"/>
                            </a:solidFill>
                            <a:latin typeface="Cambria Math" panose="02040503050406030204" pitchFamily="18" charset="0"/>
                            <a:cs typeface="+mn-cs"/>
                          </a:rPr>
                          <m:t>c</m:t>
                        </m:r>
                      </m:sup>
                    </m:sSup>
                  </m:oMath>
                </a14:m>
                <a:r>
                  <a:rPr kumimoji="1" lang="en-US" altLang="zh-CN" sz="2000" dirty="0">
                    <a:solidFill>
                      <a:schemeClr val="dk1"/>
                    </a:solidFill>
                    <a:latin typeface="+mn-lt"/>
                    <a:ea typeface="+mn-ea"/>
                    <a:cs typeface="+mn-cs"/>
                    <a:sym typeface="+mn-ea"/>
                  </a:rPr>
                  <a:t>={1,2,3,5}</a:t>
                </a:r>
                <a:endParaRPr kumimoji="1" lang="en-US" altLang="zh-CN" sz="2000" dirty="0">
                  <a:solidFill>
                    <a:schemeClr val="dk1"/>
                  </a:solidFill>
                  <a:latin typeface="+mn-lt"/>
                  <a:ea typeface="+mn-ea"/>
                  <a:cs typeface="+mn-cs"/>
                  <a:sym typeface="+mn-ea"/>
                </a:endParaRPr>
              </a:p>
              <a:p>
                <a:pPr algn="ctr">
                  <a:lnSpc>
                    <a:spcPct val="150000"/>
                  </a:lnSpc>
                </a:pPr>
                <a:r>
                  <a:rPr kumimoji="1" lang="zh-CN" altLang="en-US" sz="2000" dirty="0">
                    <a:solidFill>
                      <a:schemeClr val="dk1"/>
                    </a:solidFill>
                    <a:latin typeface="+mn-lt"/>
                    <a:ea typeface="+mn-ea"/>
                    <a:cs typeface="+mn-cs"/>
                    <a:sym typeface="+mn-ea"/>
                  </a:rPr>
                  <a:t>得到</a:t>
                </a:r>
                <a14:m>
                  <m:oMath xmlns:m="http://schemas.openxmlformats.org/officeDocument/2006/math">
                    <m:sSubSup>
                      <m:sSubSupPr>
                        <m:ctrlPr>
                          <a:rPr lang="zh-CN" altLang="en-US" sz="2000" i="1" smtClean="0">
                            <a:solidFill>
                              <a:srgbClr val="000000"/>
                            </a:solidFill>
                            <a:latin typeface="Cambria Math" panose="02040503050406030204" pitchFamily="18" charset="0"/>
                            <a:ea typeface="黑体" panose="02010609060101010101" pitchFamily="49" charset="-122"/>
                            <a:cs typeface="+mn-cs"/>
                          </a:rPr>
                        </m:ctrlPr>
                      </m:sSubSupPr>
                      <m:e>
                        <m:r>
                          <m:rPr>
                            <m:sty m:val="p"/>
                          </m:rPr>
                          <a:rPr lang="en-US" altLang="zh-CN" sz="2000" i="1">
                            <a:solidFill>
                              <a:srgbClr val="000000"/>
                            </a:solidFill>
                            <a:latin typeface="Cambria Math" panose="02040503050406030204" pitchFamily="18" charset="0"/>
                            <a:ea typeface="黑体" panose="02010609060101010101" pitchFamily="49" charset="-122"/>
                            <a:cs typeface="+mn-cs"/>
                          </a:rPr>
                          <m:t>u</m:t>
                        </m:r>
                      </m:e>
                      <m:sub>
                        <m:r>
                          <a:rPr lang="zh-CN" altLang="en-US" sz="2000">
                            <a:solidFill>
                              <a:srgbClr val="000000"/>
                            </a:solidFill>
                            <a:latin typeface="Cambria Math" panose="02040503050406030204" pitchFamily="18" charset="0"/>
                            <a:ea typeface="黑体" panose="02010609060101010101" pitchFamily="49" charset="-122"/>
                            <a:cs typeface="+mn-cs"/>
                          </a:rPr>
                          <m:t>1</m:t>
                        </m:r>
                      </m:sub>
                      <m:sup>
                        <m:r>
                          <a:rPr lang="en-US" altLang="zh-CN" sz="2000" b="0" i="1" smtClean="0">
                            <a:solidFill>
                              <a:srgbClr val="000000"/>
                            </a:solidFill>
                            <a:latin typeface="Cambria Math" panose="02040503050406030204" pitchFamily="18" charset="0"/>
                            <a:ea typeface="黑体" panose="02010609060101010101" pitchFamily="49" charset="-122"/>
                            <a:cs typeface="+mn-cs"/>
                          </a:rPr>
                          <m:t>8</m:t>
                        </m:r>
                      </m:sup>
                    </m:sSubSup>
                  </m:oMath>
                </a14:m>
                <a:r>
                  <a:rPr kumimoji="1" lang="en-US" altLang="zh-CN" sz="2000" dirty="0">
                    <a:solidFill>
                      <a:schemeClr val="dk1"/>
                    </a:solidFill>
                    <a:latin typeface="+mn-lt"/>
                    <a:ea typeface="+mn-ea"/>
                    <a:cs typeface="+mn-cs"/>
                    <a:sym typeface="+mn-ea"/>
                  </a:rPr>
                  <a:t>=[0,0,0,1,0,1,1,1]</a:t>
                </a:r>
                <a:endParaRPr kumimoji="1" lang="en-US" altLang="zh-CN" sz="2000" dirty="0">
                  <a:solidFill>
                    <a:schemeClr val="dk1"/>
                  </a:solidFill>
                  <a:latin typeface="+mn-lt"/>
                  <a:ea typeface="+mn-ea"/>
                  <a:cs typeface="+mn-cs"/>
                  <a:sym typeface="+mn-ea"/>
                </a:endParaRPr>
              </a:p>
              <a:p>
                <a:pPr>
                  <a:lnSpc>
                    <a:spcPct val="200000"/>
                  </a:lnSpc>
                </a:pPr>
                <a:r>
                  <a:rPr kumimoji="1" lang="en-US" altLang="zh-CN" sz="2000" dirty="0">
                    <a:solidFill>
                      <a:schemeClr val="dk1"/>
                    </a:solidFill>
                    <a:latin typeface="+mn-lt"/>
                    <a:ea typeface="+mn-ea"/>
                    <a:cs typeface="+mn-cs"/>
                    <a:sym typeface="+mn-ea"/>
                  </a:rPr>
                  <a:t>2</a:t>
                </a:r>
                <a:r>
                  <a:rPr kumimoji="1" lang="zh-CN" altLang="en-US" sz="2000" dirty="0">
                    <a:solidFill>
                      <a:schemeClr val="dk1"/>
                    </a:solidFill>
                    <a:latin typeface="+mn-lt"/>
                    <a:ea typeface="+mn-ea"/>
                    <a:cs typeface="+mn-cs"/>
                    <a:sym typeface="+mn-ea"/>
                  </a:rPr>
                  <a:t>、构造矩阵，根据公式 </a:t>
                </a:r>
                <a14:m>
                  <m:oMath xmlns:m="http://schemas.openxmlformats.org/officeDocument/2006/math">
                    <m:sSub>
                      <m:sSubPr>
                        <m:ctrlPr>
                          <a:rPr kumimoji="1" lang="zh-CN" altLang="zh-CN" i="1" kern="100">
                            <a:solidFill>
                              <a:srgbClr val="000000"/>
                            </a:solidFill>
                            <a:latin typeface="Cambria Math" panose="02040503050406030204" pitchFamily="18" charset="0"/>
                            <a:ea typeface="Cambria Math" panose="02040503050406030204" pitchFamily="18" charset="0"/>
                            <a:cs typeface="+mn-cs"/>
                          </a:rPr>
                        </m:ctrlPr>
                      </m:sSubPr>
                      <m:e>
                        <m:r>
                          <m:rPr>
                            <m:nor/>
                          </m:rPr>
                          <a:rPr kumimoji="1" lang="en-US" altLang="zh-CN" kern="100">
                            <a:solidFill>
                              <a:srgbClr val="000000"/>
                            </a:solidFill>
                            <a:latin typeface="Times New Roman" panose="02020603050405020304"/>
                            <a:cs typeface="+mn-cs"/>
                          </a:rPr>
                          <m:t>B</m:t>
                        </m:r>
                      </m:e>
                      <m:sub>
                        <m:r>
                          <m:rPr>
                            <m:nor/>
                          </m:rPr>
                          <a:rPr kumimoji="1" lang="en-US" altLang="zh-CN" kern="100">
                            <a:solidFill>
                              <a:srgbClr val="000000"/>
                            </a:solidFill>
                            <a:latin typeface="Times New Roman" panose="02020603050405020304"/>
                            <a:cs typeface="+mn-cs"/>
                          </a:rPr>
                          <m:t>N</m:t>
                        </m:r>
                      </m:sub>
                    </m:sSub>
                    <m:r>
                      <m:rPr>
                        <m:nor/>
                      </m:rPr>
                      <a:rPr kumimoji="1" lang="en-US" altLang="zh-CN" kern="100">
                        <a:solidFill>
                          <a:srgbClr val="000000"/>
                        </a:solidFill>
                        <a:latin typeface="Times New Roman" panose="02020603050405020304"/>
                        <a:cs typeface="+mn-cs"/>
                      </a:rPr>
                      <m:t>=</m:t>
                    </m:r>
                    <m:sSub>
                      <m:sSubPr>
                        <m:ctrlPr>
                          <a:rPr kumimoji="1" lang="zh-CN" altLang="zh-CN" i="1" kern="100">
                            <a:solidFill>
                              <a:srgbClr val="000000"/>
                            </a:solidFill>
                            <a:latin typeface="Cambria Math" panose="02040503050406030204" pitchFamily="18" charset="0"/>
                            <a:ea typeface="Cambria Math" panose="02040503050406030204" pitchFamily="18" charset="0"/>
                            <a:cs typeface="+mn-cs"/>
                          </a:rPr>
                        </m:ctrlPr>
                      </m:sSubPr>
                      <m:e>
                        <m:r>
                          <m:rPr>
                            <m:nor/>
                          </m:rPr>
                          <a:rPr kumimoji="1" lang="en-US" altLang="zh-CN" kern="100">
                            <a:solidFill>
                              <a:srgbClr val="000000"/>
                            </a:solidFill>
                            <a:latin typeface="Times New Roman" panose="02020603050405020304"/>
                            <a:cs typeface="+mn-cs"/>
                          </a:rPr>
                          <m:t>R</m:t>
                        </m:r>
                      </m:e>
                      <m:sub>
                        <m:r>
                          <m:rPr>
                            <m:nor/>
                          </m:rPr>
                          <a:rPr kumimoji="1" lang="en-US" altLang="zh-CN" kern="100">
                            <a:solidFill>
                              <a:srgbClr val="000000"/>
                            </a:solidFill>
                            <a:latin typeface="Times New Roman" panose="02020603050405020304"/>
                            <a:cs typeface="+mn-cs"/>
                          </a:rPr>
                          <m:t>N</m:t>
                        </m:r>
                      </m:sub>
                    </m:sSub>
                    <m:d>
                      <m:dPr>
                        <m:ctrlPr>
                          <a:rPr kumimoji="1" lang="zh-CN" altLang="zh-CN" i="1" kern="100">
                            <a:solidFill>
                              <a:srgbClr val="000000"/>
                            </a:solidFill>
                            <a:latin typeface="Cambria Math" panose="02040503050406030204" pitchFamily="18" charset="0"/>
                            <a:ea typeface="Cambria Math" panose="02040503050406030204" pitchFamily="18" charset="0"/>
                            <a:cs typeface="+mn-cs"/>
                          </a:rPr>
                        </m:ctrlPr>
                      </m:dPr>
                      <m:e>
                        <m:sSub>
                          <m:sSubPr>
                            <m:ctrlPr>
                              <a:rPr kumimoji="1" lang="zh-CN" altLang="zh-CN" i="1" kern="100">
                                <a:solidFill>
                                  <a:srgbClr val="000000"/>
                                </a:solidFill>
                                <a:latin typeface="Cambria Math" panose="02040503050406030204" pitchFamily="18" charset="0"/>
                                <a:ea typeface="Cambria Math" panose="02040503050406030204" pitchFamily="18" charset="0"/>
                                <a:cs typeface="+mn-cs"/>
                              </a:rPr>
                            </m:ctrlPr>
                          </m:sSubPr>
                          <m:e>
                            <m:r>
                              <m:rPr>
                                <m:nor/>
                              </m:rPr>
                              <a:rPr kumimoji="1" lang="en-US" altLang="zh-CN" kern="100">
                                <a:solidFill>
                                  <a:srgbClr val="000000"/>
                                </a:solidFill>
                                <a:latin typeface="Times New Roman" panose="02020603050405020304"/>
                                <a:cs typeface="+mn-cs"/>
                              </a:rPr>
                              <m:t>I</m:t>
                            </m:r>
                          </m:e>
                          <m:sub>
                            <m:r>
                              <m:rPr>
                                <m:nor/>
                              </m:rPr>
                              <a:rPr kumimoji="1" lang="en-US" altLang="zh-CN" kern="100">
                                <a:solidFill>
                                  <a:srgbClr val="000000"/>
                                </a:solidFill>
                                <a:latin typeface="Times New Roman" panose="02020603050405020304"/>
                                <a:cs typeface="+mn-cs"/>
                              </a:rPr>
                              <m:t>2</m:t>
                            </m:r>
                          </m:sub>
                        </m:sSub>
                        <m:r>
                          <m:rPr>
                            <m:nor/>
                          </m:rPr>
                          <a:rPr kumimoji="1" lang="zh-CN" altLang="zh-CN" kern="100">
                            <a:solidFill>
                              <a:srgbClr val="000000"/>
                            </a:solidFill>
                            <a:latin typeface="Times New Roman" panose="02020603050405020304"/>
                            <a:ea typeface="MS Gothic" panose="020B0609070205080204" pitchFamily="49" charset="-128"/>
                            <a:cs typeface="MS Gothic" panose="020B0609070205080204" pitchFamily="49" charset="-128"/>
                          </a:rPr>
                          <m:t>⊗</m:t>
                        </m:r>
                        <m:sSub>
                          <m:sSubPr>
                            <m:ctrlPr>
                              <a:rPr kumimoji="1" lang="zh-CN" altLang="zh-CN" i="1" kern="100">
                                <a:solidFill>
                                  <a:srgbClr val="000000"/>
                                </a:solidFill>
                                <a:latin typeface="Cambria Math" panose="02040503050406030204" pitchFamily="18" charset="0"/>
                                <a:ea typeface="Cambria Math" panose="02040503050406030204" pitchFamily="18" charset="0"/>
                                <a:cs typeface="+mn-cs"/>
                              </a:rPr>
                            </m:ctrlPr>
                          </m:sSubPr>
                          <m:e>
                            <m:r>
                              <m:rPr>
                                <m:nor/>
                              </m:rPr>
                              <a:rPr kumimoji="1" lang="en-US" altLang="zh-CN" kern="100">
                                <a:solidFill>
                                  <a:srgbClr val="000000"/>
                                </a:solidFill>
                                <a:latin typeface="Times New Roman" panose="02020603050405020304"/>
                                <a:cs typeface="+mn-cs"/>
                              </a:rPr>
                              <m:t>B</m:t>
                            </m:r>
                          </m:e>
                          <m:sub>
                            <m:r>
                              <m:rPr>
                                <m:nor/>
                              </m:rPr>
                              <a:rPr kumimoji="1" lang="en-US" altLang="zh-CN" kern="100">
                                <a:solidFill>
                                  <a:srgbClr val="000000"/>
                                </a:solidFill>
                                <a:latin typeface="Times New Roman" panose="02020603050405020304"/>
                                <a:cs typeface="+mn-cs"/>
                              </a:rPr>
                              <m:t>N</m:t>
                            </m:r>
                            <m:r>
                              <m:rPr>
                                <m:nor/>
                              </m:rPr>
                              <a:rPr kumimoji="1" lang="en-US" altLang="zh-CN" kern="100">
                                <a:solidFill>
                                  <a:srgbClr val="000000"/>
                                </a:solidFill>
                                <a:latin typeface="Times New Roman" panose="02020603050405020304"/>
                                <a:cs typeface="+mn-cs"/>
                              </a:rPr>
                              <m:t>∕</m:t>
                            </m:r>
                            <m:r>
                              <m:rPr>
                                <m:nor/>
                              </m:rPr>
                              <a:rPr kumimoji="1" lang="en-US" altLang="zh-CN" kern="100">
                                <a:solidFill>
                                  <a:srgbClr val="000000"/>
                                </a:solidFill>
                                <a:latin typeface="Times New Roman" panose="02020603050405020304"/>
                                <a:cs typeface="+mn-cs"/>
                              </a:rPr>
                              <m:t>2</m:t>
                            </m:r>
                          </m:sub>
                        </m:sSub>
                      </m:e>
                    </m:d>
                  </m:oMath>
                </a14:m>
                <a:r>
                  <a:rPr kumimoji="1" lang="zh-CN" altLang="en-US" sz="2000" dirty="0">
                    <a:solidFill>
                      <a:schemeClr val="dk1"/>
                    </a:solidFill>
                    <a:latin typeface="+mn-lt"/>
                    <a:ea typeface="+mn-ea"/>
                    <a:cs typeface="+mn-cs"/>
                    <a:sym typeface="+mn-ea"/>
                  </a:rPr>
                  <a:t>    计算</a:t>
                </a:r>
                <a14:m>
                  <m:oMath xmlns:m="http://schemas.openxmlformats.org/officeDocument/2006/math">
                    <m:sSub>
                      <m:sSubPr>
                        <m:ctrlPr>
                          <a:rPr kumimoji="1" lang="zh-CN" altLang="en-US" sz="2000" i="1" smtClean="0">
                            <a:solidFill>
                              <a:schemeClr val="dk1"/>
                            </a:solidFill>
                            <a:latin typeface="Cambria Math" panose="02040503050406030204" pitchFamily="18" charset="0"/>
                            <a:ea typeface="+mn-ea"/>
                            <a:cs typeface="+mn-cs"/>
                            <a:sym typeface="+mn-ea"/>
                          </a:rPr>
                        </m:ctrlPr>
                      </m:sSubPr>
                      <m:e>
                        <m:r>
                          <a:rPr kumimoji="1" lang="zh-CN" altLang="en-US" sz="2000" i="1" smtClean="0">
                            <a:solidFill>
                              <a:schemeClr val="dk1"/>
                            </a:solidFill>
                            <a:latin typeface="Cambria Math" panose="02040503050406030204" pitchFamily="18" charset="0"/>
                            <a:ea typeface="+mn-ea"/>
                            <a:cs typeface="+mn-cs"/>
                            <a:sym typeface="+mn-ea"/>
                          </a:rPr>
                          <m:t>𝐵</m:t>
                        </m:r>
                      </m:e>
                      <m:sub>
                        <m:r>
                          <a:rPr kumimoji="1" lang="zh-CN" altLang="en-US" sz="2000" i="1" smtClean="0">
                            <a:solidFill>
                              <a:schemeClr val="dk1"/>
                            </a:solidFill>
                            <a:latin typeface="Cambria Math" panose="02040503050406030204" pitchFamily="18" charset="0"/>
                            <a:ea typeface="+mn-ea"/>
                            <a:cs typeface="+mn-cs"/>
                            <a:sym typeface="+mn-ea"/>
                          </a:rPr>
                          <m:t>𝑁</m:t>
                        </m:r>
                      </m:sub>
                    </m:sSub>
                  </m:oMath>
                </a14:m>
                <a:endParaRPr kumimoji="1" lang="en-US" altLang="zh-CN" sz="2000" dirty="0">
                  <a:solidFill>
                    <a:schemeClr val="dk1"/>
                  </a:solidFill>
                  <a:latin typeface="+mn-lt"/>
                  <a:ea typeface="+mn-ea"/>
                  <a:cs typeface="+mn-cs"/>
                  <a:sym typeface="+mn-ea"/>
                </a:endParaRPr>
              </a:p>
              <a:p>
                <a:pPr>
                  <a:lnSpc>
                    <a:spcPct val="200000"/>
                  </a:lnSpc>
                </a:pPr>
                <a:r>
                  <a:rPr kumimoji="1" lang="en-US" altLang="zh-CN" sz="2000" dirty="0">
                    <a:solidFill>
                      <a:schemeClr val="dk1"/>
                    </a:solidFill>
                    <a:latin typeface="+mn-lt"/>
                    <a:ea typeface="+mn-ea"/>
                    <a:cs typeface="+mn-cs"/>
                  </a:rPr>
                  <a:t>          </a:t>
                </a:r>
                <a:r>
                  <a:rPr kumimoji="1" lang="zh-CN" altLang="en-US" sz="2000" dirty="0">
                    <a:solidFill>
                      <a:schemeClr val="dk1"/>
                    </a:solidFill>
                    <a:latin typeface="+mn-lt"/>
                    <a:ea typeface="+mn-ea"/>
                    <a:cs typeface="+mn-cs"/>
                  </a:rPr>
                  <a:t>首先</a:t>
                </a:r>
                <a14:m>
                  <m:oMath xmlns:m="http://schemas.openxmlformats.org/officeDocument/2006/math">
                    <m:sSub>
                      <m:sSubPr>
                        <m:ctrlPr>
                          <a:rPr lang="zh-CN" altLang="zh-CN" sz="2000" i="1" kern="100" smtClean="0">
                            <a:effectLst/>
                            <a:latin typeface="Cambria Math" panose="02040503050406030204" pitchFamily="18" charset="0"/>
                            <a:ea typeface="Cambria Math" panose="02040503050406030204" pitchFamily="18" charset="0"/>
                          </a:rPr>
                        </m:ctrlPr>
                      </m:sSubPr>
                      <m:e>
                        <m:r>
                          <m:rPr>
                            <m:nor/>
                          </m:rPr>
                          <a:rPr lang="en-US" altLang="zh-CN" sz="2000" kern="100">
                            <a:effectLst/>
                            <a:latin typeface="+mn-lt"/>
                          </a:rPr>
                          <m:t>B</m:t>
                        </m:r>
                      </m:e>
                      <m:sub>
                        <m:r>
                          <m:rPr>
                            <m:nor/>
                          </m:rPr>
                          <a:rPr lang="en-US" altLang="zh-CN" sz="2000" kern="100">
                            <a:effectLst/>
                            <a:latin typeface="+mn-lt"/>
                          </a:rPr>
                          <m:t>2</m:t>
                        </m:r>
                      </m:sub>
                    </m:sSub>
                    <m:r>
                      <m:rPr>
                        <m:nor/>
                      </m:rPr>
                      <a:rPr lang="en-US" altLang="zh-CN" sz="2000" i="0" kern="100">
                        <a:effectLst/>
                        <a:latin typeface="+mn-lt"/>
                      </a:rPr>
                      <m:t>=</m:t>
                    </m:r>
                    <m:sSub>
                      <m:sSubPr>
                        <m:ctrlPr>
                          <a:rPr lang="zh-CN" altLang="zh-CN" sz="2000" i="1" kern="100">
                            <a:effectLst/>
                            <a:latin typeface="Cambria Math" panose="02040503050406030204" pitchFamily="18" charset="0"/>
                            <a:ea typeface="Cambria Math" panose="02040503050406030204" pitchFamily="18" charset="0"/>
                          </a:rPr>
                        </m:ctrlPr>
                      </m:sSubPr>
                      <m:e>
                        <m:r>
                          <m:rPr>
                            <m:nor/>
                          </m:rPr>
                          <a:rPr lang="en-US" altLang="zh-CN" sz="2000" kern="100">
                            <a:effectLst/>
                            <a:latin typeface="+mn-lt"/>
                          </a:rPr>
                          <m:t>I</m:t>
                        </m:r>
                      </m:e>
                      <m:sub>
                        <m:r>
                          <m:rPr>
                            <m:nor/>
                          </m:rPr>
                          <a:rPr lang="en-US" altLang="zh-CN" sz="2000" kern="100">
                            <a:effectLst/>
                            <a:latin typeface="+mn-lt"/>
                          </a:rPr>
                          <m:t>2</m:t>
                        </m:r>
                      </m:sub>
                    </m:sSub>
                  </m:oMath>
                </a14:m>
                <a:endParaRPr kumimoji="1" lang="zh-CN" altLang="en-US" sz="2000" dirty="0">
                  <a:solidFill>
                    <a:schemeClr val="dk1"/>
                  </a:solidFill>
                  <a:latin typeface="+mn-lt"/>
                  <a:ea typeface="+mn-ea"/>
                  <a:cs typeface="+mn-cs"/>
                  <a:sym typeface="+mn-ea"/>
                </a:endParaRPr>
              </a:p>
            </p:txBody>
          </p:sp>
        </mc:Choice>
        <mc:Fallback>
          <p:sp>
            <p:nvSpPr>
              <p:cNvPr id="7" name="文本框 6"/>
              <p:cNvSpPr txBox="1">
                <a:spLocks noRot="1" noChangeAspect="1" noMove="1" noResize="1" noEditPoints="1" noAdjustHandles="1" noChangeArrowheads="1" noChangeShapeType="1" noTextEdit="1"/>
              </p:cNvSpPr>
              <p:nvPr/>
            </p:nvSpPr>
            <p:spPr>
              <a:xfrm>
                <a:off x="689131" y="685872"/>
                <a:ext cx="8317674" cy="3580788"/>
              </a:xfrm>
              <a:prstGeom prst="rect">
                <a:avLst/>
              </a:prstGeom>
              <a:blipFill rotWithShape="1">
                <a:blip r:embed="rId1"/>
                <a:stretch>
                  <a:fillRect l="-2" t="-2" r="7" b="-3012"/>
                </a:stretch>
              </a:blipFill>
            </p:spPr>
            <p:txBody>
              <a:bodyPr/>
              <a:lstStyle/>
              <a:p>
                <a:r>
                  <a:rPr lang="zh-CN" altLang="en-US">
                    <a:noFill/>
                  </a:rPr>
                  <a:t> </a:t>
                </a:r>
              </a:p>
            </p:txBody>
          </p:sp>
        </mc:Fallback>
      </mc:AlternateContent>
      <p:pic>
        <p:nvPicPr>
          <p:cNvPr id="3" name="图片 2"/>
          <p:cNvPicPr>
            <a:picLocks noChangeAspect="1"/>
          </p:cNvPicPr>
          <p:nvPr/>
        </p:nvPicPr>
        <p:blipFill rotWithShape="1">
          <a:blip r:embed="rId2"/>
          <a:srcRect l="1348" t="612" r="-1348" b="68209"/>
          <a:stretch>
            <a:fillRect/>
          </a:stretch>
        </p:blipFill>
        <p:spPr>
          <a:xfrm>
            <a:off x="2819445" y="3657594"/>
            <a:ext cx="3333363" cy="914376"/>
          </a:xfrm>
          <a:prstGeom prst="rect">
            <a:avLst/>
          </a:prstGeom>
        </p:spPr>
      </p:pic>
      <p:pic>
        <p:nvPicPr>
          <p:cNvPr id="9" name="图片 8"/>
          <p:cNvPicPr>
            <a:picLocks noChangeAspect="1"/>
          </p:cNvPicPr>
          <p:nvPr/>
        </p:nvPicPr>
        <p:blipFill rotWithShape="1">
          <a:blip r:embed="rId2"/>
          <a:srcRect l="1348" t="47515" r="-1348" b="-612"/>
          <a:stretch>
            <a:fillRect/>
          </a:stretch>
        </p:blipFill>
        <p:spPr>
          <a:xfrm>
            <a:off x="2819445" y="4724366"/>
            <a:ext cx="3333363" cy="155719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391326" y="172912"/>
            <a:ext cx="1562173"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编码方法</a:t>
            </a:r>
            <a:endParaRPr lang="zh-CN" altLang="en-US" sz="2400" dirty="0">
              <a:sym typeface="+mn-ea"/>
            </a:endParaRPr>
          </a:p>
        </p:txBody>
      </p:sp>
      <mc:AlternateContent xmlns:mc="http://schemas.openxmlformats.org/markup-compatibility/2006">
        <mc:Choice xmlns:a14="http://schemas.microsoft.com/office/drawing/2010/main" Requires="a14">
          <p:sp>
            <p:nvSpPr>
              <p:cNvPr id="10" name="文本框 9"/>
              <p:cNvSpPr txBox="1"/>
              <p:nvPr/>
            </p:nvSpPr>
            <p:spPr>
              <a:xfrm>
                <a:off x="685902" y="1051460"/>
                <a:ext cx="7315008" cy="400110"/>
              </a:xfrm>
              <a:prstGeom prst="rect">
                <a:avLst/>
              </a:prstGeom>
              <a:noFill/>
            </p:spPr>
            <p:txBody>
              <a:bodyPr wrap="square">
                <a:spAutoFit/>
              </a:bodyPr>
              <a:lstStyle/>
              <a:p>
                <a14:m>
                  <m:oMath xmlns:m="http://schemas.openxmlformats.org/officeDocument/2006/math">
                    <m:sSub>
                      <m:sSubPr>
                        <m:ctrlPr>
                          <a:rPr lang="en-US" altLang="zh-CN" sz="2000" i="1" smtClean="0">
                            <a:solidFill>
                              <a:schemeClr val="tx1"/>
                            </a:solidFill>
                            <a:latin typeface="Cambria Math" panose="02040503050406030204" pitchFamily="18" charset="0"/>
                            <a:cs typeface="+mn-cs"/>
                          </a:rPr>
                        </m:ctrlPr>
                      </m:sSubPr>
                      <m:e>
                        <m:r>
                          <a:rPr lang="en-US" altLang="zh-CN" sz="2000" b="0" i="1" smtClean="0">
                            <a:solidFill>
                              <a:schemeClr val="tx1"/>
                            </a:solidFill>
                            <a:latin typeface="Cambria Math" panose="02040503050406030204" pitchFamily="18" charset="0"/>
                            <a:cs typeface="+mn-cs"/>
                          </a:rPr>
                          <m:t>𝑅</m:t>
                        </m:r>
                      </m:e>
                      <m:sub>
                        <m:r>
                          <a:rPr lang="en-US" altLang="zh-CN" sz="2000" b="0" i="1" smtClean="0">
                            <a:solidFill>
                              <a:schemeClr val="tx1"/>
                            </a:solidFill>
                            <a:latin typeface="Cambria Math" panose="02040503050406030204" pitchFamily="18" charset="0"/>
                            <a:cs typeface="+mn-cs"/>
                          </a:rPr>
                          <m:t>4</m:t>
                        </m:r>
                      </m:sub>
                    </m:sSub>
                  </m:oMath>
                </a14:m>
                <a:r>
                  <a:rPr kumimoji="1" lang="zh-CN" altLang="en-US" sz="2000" dirty="0">
                    <a:solidFill>
                      <a:schemeClr val="dk1"/>
                    </a:solidFill>
                    <a:latin typeface="+mn-lt"/>
                    <a:ea typeface="+mn-ea"/>
                    <a:cs typeface="+mn-cs"/>
                  </a:rPr>
                  <a:t>由</a:t>
                </a:r>
                <a14:m>
                  <m:oMath xmlns:m="http://schemas.openxmlformats.org/officeDocument/2006/math">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𝐼</m:t>
                        </m:r>
                      </m:e>
                      <m:sub>
                        <m:r>
                          <a:rPr lang="en-US" altLang="zh-CN" sz="2000" i="1">
                            <a:latin typeface="Cambria Math" panose="02040503050406030204" pitchFamily="18" charset="0"/>
                          </a:rPr>
                          <m:t>4</m:t>
                        </m:r>
                      </m:sub>
                    </m:sSub>
                  </m:oMath>
                </a14:m>
                <a:r>
                  <a:rPr kumimoji="1" lang="zh-CN" altLang="en-US" sz="2000" dirty="0">
                    <a:solidFill>
                      <a:schemeClr val="dk1"/>
                    </a:solidFill>
                    <a:latin typeface="+mn-lt"/>
                    <a:ea typeface="+mn-ea"/>
                    <a:cs typeface="+mn-cs"/>
                  </a:rPr>
                  <a:t>变换得来，先排</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𝐼</m:t>
                        </m:r>
                      </m:e>
                      <m:sub>
                        <m:r>
                          <a:rPr lang="en-US" altLang="zh-CN" sz="2000" i="1">
                            <a:latin typeface="Cambria Math" panose="02040503050406030204" pitchFamily="18" charset="0"/>
                          </a:rPr>
                          <m:t>4</m:t>
                        </m:r>
                      </m:sub>
                    </m:sSub>
                  </m:oMath>
                </a14:m>
                <a:r>
                  <a:rPr kumimoji="1" lang="zh-CN" altLang="en-US" sz="2000" dirty="0">
                    <a:solidFill>
                      <a:schemeClr val="dk1"/>
                    </a:solidFill>
                    <a:latin typeface="+mn-lt"/>
                    <a:ea typeface="+mn-ea"/>
                    <a:cs typeface="+mn-cs"/>
                  </a:rPr>
                  <a:t>的奇数列，再排</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𝐼</m:t>
                        </m:r>
                      </m:e>
                      <m:sub>
                        <m:r>
                          <a:rPr lang="en-US" altLang="zh-CN" sz="2000" i="1">
                            <a:latin typeface="Cambria Math" panose="02040503050406030204" pitchFamily="18" charset="0"/>
                          </a:rPr>
                          <m:t>4</m:t>
                        </m:r>
                      </m:sub>
                    </m:sSub>
                  </m:oMath>
                </a14:m>
                <a:r>
                  <a:rPr kumimoji="1" lang="zh-CN" altLang="en-US" sz="2000" dirty="0">
                    <a:solidFill>
                      <a:schemeClr val="dk1"/>
                    </a:solidFill>
                    <a:latin typeface="+mn-lt"/>
                    <a:ea typeface="+mn-ea"/>
                    <a:cs typeface="+mn-cs"/>
                  </a:rPr>
                  <a:t>的偶数列：</a:t>
                </a:r>
                <a:endParaRPr kumimoji="1" lang="zh-CN" altLang="en-US" sz="2000" dirty="0">
                  <a:solidFill>
                    <a:schemeClr val="dk1"/>
                  </a:solidFill>
                  <a:latin typeface="+mn-lt"/>
                  <a:ea typeface="+mn-ea"/>
                  <a:cs typeface="+mn-cs"/>
                </a:endParaRPr>
              </a:p>
            </p:txBody>
          </p:sp>
        </mc:Choice>
        <mc:Fallback>
          <p:sp>
            <p:nvSpPr>
              <p:cNvPr id="10" name="文本框 9"/>
              <p:cNvSpPr txBox="1">
                <a:spLocks noRot="1" noChangeAspect="1" noMove="1" noResize="1" noEditPoints="1" noAdjustHandles="1" noChangeArrowheads="1" noChangeShapeType="1" noTextEdit="1"/>
              </p:cNvSpPr>
              <p:nvPr/>
            </p:nvSpPr>
            <p:spPr>
              <a:xfrm>
                <a:off x="685902" y="1051460"/>
                <a:ext cx="7315008" cy="400110"/>
              </a:xfrm>
              <a:prstGeom prst="rect">
                <a:avLst/>
              </a:prstGeom>
              <a:blipFill rotWithShape="1">
                <a:blip r:embed="rId1"/>
                <a:stretch>
                  <a:fillRect l="-1" t="-134" r="7" b="149"/>
                </a:stretch>
              </a:blipFill>
            </p:spPr>
            <p:txBody>
              <a:bodyPr/>
              <a:lstStyle/>
              <a:p>
                <a:r>
                  <a:rPr lang="zh-CN" altLang="en-US">
                    <a:noFill/>
                  </a:rPr>
                  <a:t> </a:t>
                </a:r>
              </a:p>
            </p:txBody>
          </p:sp>
        </mc:Fallback>
      </mc:AlternateContent>
      <p:pic>
        <p:nvPicPr>
          <p:cNvPr id="12" name="图片 11"/>
          <p:cNvPicPr>
            <a:picLocks noChangeAspect="1"/>
          </p:cNvPicPr>
          <p:nvPr/>
        </p:nvPicPr>
        <p:blipFill>
          <a:blip r:embed="rId2"/>
          <a:stretch>
            <a:fillRect/>
          </a:stretch>
        </p:blipFill>
        <p:spPr>
          <a:xfrm>
            <a:off x="1076596" y="1644318"/>
            <a:ext cx="6611445" cy="504077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467524" y="152486"/>
            <a:ext cx="1562173"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编码方法</a:t>
            </a:r>
            <a:endParaRPr lang="zh-CN" altLang="en-US" sz="2400" dirty="0">
              <a:sym typeface="+mn-ea"/>
            </a:endParaRPr>
          </a:p>
        </p:txBody>
      </p:sp>
      <mc:AlternateContent xmlns:mc="http://schemas.openxmlformats.org/markup-compatibility/2006">
        <mc:Choice xmlns:a14="http://schemas.microsoft.com/office/drawing/2010/main" Requires="a14">
          <p:sp>
            <p:nvSpPr>
              <p:cNvPr id="10" name="文本框 9"/>
              <p:cNvSpPr txBox="1"/>
              <p:nvPr/>
            </p:nvSpPr>
            <p:spPr>
              <a:xfrm>
                <a:off x="800199" y="1051598"/>
                <a:ext cx="7315008" cy="400110"/>
              </a:xfrm>
              <a:prstGeom prst="rect">
                <a:avLst/>
              </a:prstGeom>
              <a:noFill/>
            </p:spPr>
            <p:txBody>
              <a:bodyPr wrap="square">
                <a:spAutoFit/>
              </a:bodyPr>
              <a:lstStyle/>
              <a:p>
                <a14:m>
                  <m:oMath xmlns:m="http://schemas.openxmlformats.org/officeDocument/2006/math">
                    <m:sSub>
                      <m:sSubPr>
                        <m:ctrlPr>
                          <a:rPr lang="en-US" altLang="zh-CN" sz="2000" i="1" smtClean="0">
                            <a:solidFill>
                              <a:schemeClr val="tx1"/>
                            </a:solidFill>
                            <a:latin typeface="Cambria Math" panose="02040503050406030204" pitchFamily="18" charset="0"/>
                            <a:cs typeface="+mn-cs"/>
                          </a:rPr>
                        </m:ctrlPr>
                      </m:sSubPr>
                      <m:e>
                        <m:r>
                          <a:rPr lang="en-US" altLang="zh-CN" sz="2000" b="0" i="1" smtClean="0">
                            <a:solidFill>
                              <a:schemeClr val="tx1"/>
                            </a:solidFill>
                            <a:latin typeface="Cambria Math" panose="02040503050406030204" pitchFamily="18" charset="0"/>
                            <a:cs typeface="+mn-cs"/>
                          </a:rPr>
                          <m:t>𝑅</m:t>
                        </m:r>
                      </m:e>
                      <m:sub>
                        <m:r>
                          <a:rPr lang="en-US" altLang="zh-CN" sz="2000" b="0" i="1" smtClean="0">
                            <a:solidFill>
                              <a:schemeClr val="tx1"/>
                            </a:solidFill>
                            <a:latin typeface="Cambria Math" panose="02040503050406030204" pitchFamily="18" charset="0"/>
                            <a:cs typeface="+mn-cs"/>
                          </a:rPr>
                          <m:t>8</m:t>
                        </m:r>
                      </m:sub>
                    </m:sSub>
                  </m:oMath>
                </a14:m>
                <a:r>
                  <a:rPr kumimoji="1" lang="zh-CN" altLang="en-US" sz="2000" dirty="0">
                    <a:solidFill>
                      <a:schemeClr val="dk1"/>
                    </a:solidFill>
                    <a:latin typeface="+mn-lt"/>
                    <a:ea typeface="+mn-ea"/>
                    <a:cs typeface="+mn-cs"/>
                  </a:rPr>
                  <a:t>由</a:t>
                </a:r>
                <a14:m>
                  <m:oMath xmlns:m="http://schemas.openxmlformats.org/officeDocument/2006/math">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𝐼</m:t>
                        </m:r>
                      </m:e>
                      <m:sub>
                        <m:r>
                          <a:rPr lang="en-US" altLang="zh-CN" sz="2000" b="0" i="1" smtClean="0">
                            <a:latin typeface="Cambria Math" panose="02040503050406030204" pitchFamily="18" charset="0"/>
                          </a:rPr>
                          <m:t>8</m:t>
                        </m:r>
                      </m:sub>
                    </m:sSub>
                  </m:oMath>
                </a14:m>
                <a:r>
                  <a:rPr kumimoji="1" lang="zh-CN" altLang="en-US" sz="2000" dirty="0">
                    <a:solidFill>
                      <a:schemeClr val="dk1"/>
                    </a:solidFill>
                    <a:latin typeface="+mn-lt"/>
                    <a:ea typeface="+mn-ea"/>
                    <a:cs typeface="+mn-cs"/>
                  </a:rPr>
                  <a:t>变换得来，先排</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𝐼</m:t>
                        </m:r>
                      </m:e>
                      <m:sub>
                        <m:r>
                          <a:rPr lang="en-US" altLang="zh-CN" sz="2000" i="1">
                            <a:latin typeface="Cambria Math" panose="02040503050406030204" pitchFamily="18" charset="0"/>
                          </a:rPr>
                          <m:t>8</m:t>
                        </m:r>
                      </m:sub>
                    </m:sSub>
                  </m:oMath>
                </a14:m>
                <a:r>
                  <a:rPr kumimoji="1" lang="zh-CN" altLang="en-US" sz="2000" dirty="0">
                    <a:solidFill>
                      <a:schemeClr val="dk1"/>
                    </a:solidFill>
                    <a:latin typeface="+mn-lt"/>
                    <a:ea typeface="+mn-ea"/>
                    <a:cs typeface="+mn-cs"/>
                  </a:rPr>
                  <a:t>的奇数列，再排</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𝐼</m:t>
                        </m:r>
                      </m:e>
                      <m:sub>
                        <m:r>
                          <a:rPr lang="en-US" altLang="zh-CN" sz="2000" i="1">
                            <a:latin typeface="Cambria Math" panose="02040503050406030204" pitchFamily="18" charset="0"/>
                          </a:rPr>
                          <m:t>8</m:t>
                        </m:r>
                      </m:sub>
                    </m:sSub>
                  </m:oMath>
                </a14:m>
                <a:r>
                  <a:rPr kumimoji="1" lang="zh-CN" altLang="en-US" sz="2000" dirty="0">
                    <a:solidFill>
                      <a:schemeClr val="dk1"/>
                    </a:solidFill>
                    <a:latin typeface="+mn-lt"/>
                    <a:ea typeface="+mn-ea"/>
                    <a:cs typeface="+mn-cs"/>
                  </a:rPr>
                  <a:t>的偶数列：</a:t>
                </a:r>
                <a:endParaRPr kumimoji="1" lang="zh-CN" altLang="en-US" sz="2000" dirty="0">
                  <a:solidFill>
                    <a:schemeClr val="dk1"/>
                  </a:solidFill>
                  <a:latin typeface="+mn-lt"/>
                  <a:ea typeface="+mn-ea"/>
                  <a:cs typeface="+mn-cs"/>
                </a:endParaRPr>
              </a:p>
            </p:txBody>
          </p:sp>
        </mc:Choice>
        <mc:Fallback>
          <p:sp>
            <p:nvSpPr>
              <p:cNvPr id="10" name="文本框 9"/>
              <p:cNvSpPr txBox="1">
                <a:spLocks noRot="1" noChangeAspect="1" noMove="1" noResize="1" noEditPoints="1" noAdjustHandles="1" noChangeArrowheads="1" noChangeShapeType="1" noTextEdit="1"/>
              </p:cNvSpPr>
              <p:nvPr/>
            </p:nvSpPr>
            <p:spPr>
              <a:xfrm>
                <a:off x="800199" y="1051598"/>
                <a:ext cx="7315008" cy="400110"/>
              </a:xfrm>
              <a:prstGeom prst="rect">
                <a:avLst/>
              </a:prstGeom>
              <a:blipFill rotWithShape="1">
                <a:blip r:embed="rId1"/>
                <a:stretch>
                  <a:fillRect l="-1" t="-9" r="7" b="24"/>
                </a:stretch>
              </a:blipFill>
            </p:spPr>
            <p:txBody>
              <a:bodyPr/>
              <a:lstStyle/>
              <a:p>
                <a:r>
                  <a:rPr lang="zh-CN" altLang="en-US">
                    <a:noFill/>
                  </a:rPr>
                  <a:t> </a:t>
                </a:r>
              </a:p>
            </p:txBody>
          </p:sp>
        </mc:Fallback>
      </mc:AlternateContent>
      <p:pic>
        <p:nvPicPr>
          <p:cNvPr id="14" name="图片 13"/>
          <p:cNvPicPr>
            <a:picLocks noChangeAspect="1"/>
          </p:cNvPicPr>
          <p:nvPr/>
        </p:nvPicPr>
        <p:blipFill>
          <a:blip r:embed="rId2"/>
          <a:stretch>
            <a:fillRect/>
          </a:stretch>
        </p:blipFill>
        <p:spPr>
          <a:xfrm>
            <a:off x="1600278" y="1489746"/>
            <a:ext cx="5714850" cy="539233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391326" y="179181"/>
            <a:ext cx="1562173"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编码方法</a:t>
            </a:r>
            <a:endParaRPr lang="zh-CN" altLang="en-US" sz="2400" dirty="0">
              <a:sym typeface="+mn-ea"/>
            </a:endParaRPr>
          </a:p>
        </p:txBody>
      </p:sp>
      <mc:AlternateContent xmlns:mc="http://schemas.openxmlformats.org/markup-compatibility/2006">
        <mc:Choice xmlns:a14="http://schemas.microsoft.com/office/drawing/2010/main" Requires="a14">
          <p:sp>
            <p:nvSpPr>
              <p:cNvPr id="10" name="文本框 9"/>
              <p:cNvSpPr txBox="1"/>
              <p:nvPr/>
            </p:nvSpPr>
            <p:spPr>
              <a:xfrm>
                <a:off x="417551" y="1143060"/>
                <a:ext cx="7315008" cy="424796"/>
              </a:xfrm>
              <a:prstGeom prst="rect">
                <a:avLst/>
              </a:prstGeom>
              <a:noFill/>
            </p:spPr>
            <p:txBody>
              <a:bodyPr wrap="square">
                <a:spAutoFit/>
              </a:bodyPr>
              <a:lstStyle/>
              <a:p>
                <a14:m>
                  <m:oMath xmlns:m="http://schemas.openxmlformats.org/officeDocument/2006/math">
                    <m:r>
                      <a:rPr lang="en-US" altLang="zh-CN" sz="2000" b="0" i="1" smtClean="0">
                        <a:solidFill>
                          <a:schemeClr val="tx1"/>
                        </a:solidFill>
                        <a:latin typeface="Cambria Math" panose="02040503050406030204" pitchFamily="18" charset="0"/>
                        <a:cs typeface="+mn-cs"/>
                      </a:rPr>
                      <m:t>3</m:t>
                    </m:r>
                    <m:r>
                      <a:rPr lang="zh-CN" altLang="en-US" sz="2000" i="1">
                        <a:latin typeface="Cambria Math" panose="02040503050406030204" pitchFamily="18" charset="0"/>
                        <a:cs typeface="+mn-cs"/>
                      </a:rPr>
                      <m:t>、</m:t>
                    </m:r>
                  </m:oMath>
                </a14:m>
                <a:r>
                  <a:rPr kumimoji="1" lang="zh-CN" altLang="en-US" sz="2000" dirty="0">
                    <a:solidFill>
                      <a:schemeClr val="dk1"/>
                    </a:solidFill>
                    <a:latin typeface="+mn-lt"/>
                    <a:ea typeface="+mn-ea"/>
                    <a:cs typeface="+mn-cs"/>
                  </a:rPr>
                  <a:t>求</a:t>
                </a:r>
                <a:r>
                  <a:rPr kumimoji="1" lang="en-US" altLang="zh-CN" sz="2000" dirty="0">
                    <a:solidFill>
                      <a:schemeClr val="dk1"/>
                    </a:solidFill>
                    <a:latin typeface="+mn-lt"/>
                    <a:ea typeface="+mn-ea"/>
                    <a:cs typeface="+mn-cs"/>
                  </a:rPr>
                  <a:t>F</a:t>
                </a:r>
                <a:r>
                  <a:rPr kumimoji="1" lang="zh-CN" altLang="en-US" sz="2000" dirty="0">
                    <a:solidFill>
                      <a:schemeClr val="dk1"/>
                    </a:solidFill>
                    <a:latin typeface="+mn-lt"/>
                    <a:ea typeface="+mn-ea"/>
                    <a:cs typeface="+mn-cs"/>
                  </a:rPr>
                  <a:t>的</a:t>
                </a:r>
                <a:r>
                  <a:rPr kumimoji="1" lang="en-US" altLang="zh-CN" sz="2000" dirty="0">
                    <a:solidFill>
                      <a:schemeClr val="dk1"/>
                    </a:solidFill>
                    <a:latin typeface="+mn-lt"/>
                    <a:ea typeface="+mn-ea"/>
                    <a:cs typeface="+mn-cs"/>
                  </a:rPr>
                  <a:t>n</a:t>
                </a:r>
                <a:r>
                  <a:rPr kumimoji="1" lang="zh-CN" altLang="en-US" sz="2000" dirty="0">
                    <a:solidFill>
                      <a:schemeClr val="dk1"/>
                    </a:solidFill>
                    <a:latin typeface="+mn-lt"/>
                    <a:ea typeface="+mn-ea"/>
                    <a:cs typeface="+mn-cs"/>
                  </a:rPr>
                  <a:t>次克罗内克积  </a:t>
                </a:r>
                <a14:m>
                  <m:oMath xmlns:m="http://schemas.openxmlformats.org/officeDocument/2006/math">
                    <m:sSup>
                      <m:sSupPr>
                        <m:ctrlPr>
                          <a:rPr kumimoji="1" lang="zh-CN" altLang="zh-CN" i="1" kern="100">
                            <a:solidFill>
                              <a:srgbClr val="000000"/>
                            </a:solidFill>
                            <a:latin typeface="Cambria Math" panose="02040503050406030204" pitchFamily="18" charset="0"/>
                            <a:ea typeface="Cambria Math" panose="02040503050406030204" pitchFamily="18" charset="0"/>
                            <a:cs typeface="+mn-cs"/>
                          </a:rPr>
                        </m:ctrlPr>
                      </m:sSupPr>
                      <m:e>
                        <m:r>
                          <m:rPr>
                            <m:nor/>
                          </m:rPr>
                          <a:rPr kumimoji="1" lang="en-US" altLang="zh-CN" kern="100">
                            <a:solidFill>
                              <a:srgbClr val="000000"/>
                            </a:solidFill>
                            <a:latin typeface="Times New Roman" panose="02020603050405020304"/>
                            <a:cs typeface="+mn-cs"/>
                          </a:rPr>
                          <m:t>F</m:t>
                        </m:r>
                      </m:e>
                      <m:sup>
                        <m:r>
                          <m:rPr>
                            <m:nor/>
                          </m:rPr>
                          <a:rPr kumimoji="1" lang="zh-CN" altLang="zh-CN" kern="100">
                            <a:solidFill>
                              <a:srgbClr val="000000"/>
                            </a:solidFill>
                            <a:latin typeface="Times New Roman" panose="02020603050405020304"/>
                            <a:ea typeface="MS Gothic" panose="020B0609070205080204" pitchFamily="49" charset="-128"/>
                            <a:cs typeface="MS Gothic" panose="020B0609070205080204" pitchFamily="49" charset="-128"/>
                          </a:rPr>
                          <m:t>⊗</m:t>
                        </m:r>
                        <m:r>
                          <m:rPr>
                            <m:nor/>
                          </m:rPr>
                          <a:rPr kumimoji="1" lang="en-US" altLang="zh-CN" kern="100">
                            <a:solidFill>
                              <a:srgbClr val="000000"/>
                            </a:solidFill>
                            <a:latin typeface="Times New Roman" panose="02020603050405020304"/>
                            <a:cs typeface="+mn-cs"/>
                          </a:rPr>
                          <m:t>n</m:t>
                        </m:r>
                      </m:sup>
                    </m:sSup>
                    <m:r>
                      <m:rPr>
                        <m:nor/>
                      </m:rPr>
                      <a:rPr kumimoji="1" lang="en-US" altLang="zh-CN" kern="100">
                        <a:solidFill>
                          <a:srgbClr val="000000"/>
                        </a:solidFill>
                        <a:latin typeface="Times New Roman" panose="02020603050405020304"/>
                        <a:cs typeface="+mn-cs"/>
                      </a:rPr>
                      <m:t>=</m:t>
                    </m:r>
                    <m:r>
                      <m:rPr>
                        <m:nor/>
                      </m:rPr>
                      <a:rPr kumimoji="1" lang="en-US" altLang="zh-CN" kern="100">
                        <a:solidFill>
                          <a:srgbClr val="000000"/>
                        </a:solidFill>
                        <a:latin typeface="Times New Roman" panose="02020603050405020304"/>
                        <a:cs typeface="+mn-cs"/>
                      </a:rPr>
                      <m:t>F</m:t>
                    </m:r>
                    <m:r>
                      <m:rPr>
                        <m:nor/>
                      </m:rPr>
                      <a:rPr kumimoji="1" lang="zh-CN" altLang="zh-CN" kern="100">
                        <a:solidFill>
                          <a:srgbClr val="000000"/>
                        </a:solidFill>
                        <a:latin typeface="Times New Roman" panose="02020603050405020304"/>
                        <a:ea typeface="MS Gothic" panose="020B0609070205080204" pitchFamily="49" charset="-128"/>
                        <a:cs typeface="MS Gothic" panose="020B0609070205080204" pitchFamily="49" charset="-128"/>
                      </a:rPr>
                      <m:t>⊗</m:t>
                    </m:r>
                    <m:r>
                      <m:rPr>
                        <m:nor/>
                      </m:rPr>
                      <a:rPr kumimoji="1" lang="zh-CN" altLang="zh-CN" kern="100">
                        <a:solidFill>
                          <a:srgbClr val="000000"/>
                        </a:solidFill>
                        <a:latin typeface="Times New Roman" panose="02020603050405020304"/>
                        <a:cs typeface="+mn-cs"/>
                      </a:rPr>
                      <m:t> </m:t>
                    </m:r>
                    <m:sSup>
                      <m:sSupPr>
                        <m:ctrlPr>
                          <a:rPr kumimoji="1" lang="zh-CN" altLang="zh-CN" i="1" kern="100">
                            <a:solidFill>
                              <a:srgbClr val="000000"/>
                            </a:solidFill>
                            <a:latin typeface="Cambria Math" panose="02040503050406030204" pitchFamily="18" charset="0"/>
                            <a:ea typeface="Cambria Math" panose="02040503050406030204" pitchFamily="18" charset="0"/>
                            <a:cs typeface="+mn-cs"/>
                          </a:rPr>
                        </m:ctrlPr>
                      </m:sSupPr>
                      <m:e>
                        <m:r>
                          <m:rPr>
                            <m:nor/>
                          </m:rPr>
                          <a:rPr kumimoji="1" lang="en-US" altLang="zh-CN" kern="100">
                            <a:solidFill>
                              <a:srgbClr val="000000"/>
                            </a:solidFill>
                            <a:latin typeface="Times New Roman" panose="02020603050405020304"/>
                            <a:cs typeface="+mn-cs"/>
                          </a:rPr>
                          <m:t>F</m:t>
                        </m:r>
                      </m:e>
                      <m:sup>
                        <m:r>
                          <m:rPr>
                            <m:nor/>
                          </m:rPr>
                          <a:rPr kumimoji="1" lang="zh-CN" altLang="zh-CN" kern="100">
                            <a:solidFill>
                              <a:srgbClr val="000000"/>
                            </a:solidFill>
                            <a:latin typeface="Times New Roman" panose="02020603050405020304"/>
                            <a:ea typeface="MS Gothic" panose="020B0609070205080204" pitchFamily="49" charset="-128"/>
                            <a:cs typeface="MS Gothic" panose="020B0609070205080204" pitchFamily="49" charset="-128"/>
                          </a:rPr>
                          <m:t>⊗</m:t>
                        </m:r>
                        <m:r>
                          <m:rPr>
                            <m:nor/>
                          </m:rPr>
                          <a:rPr kumimoji="1" lang="en-US" altLang="zh-CN" kern="100">
                            <a:solidFill>
                              <a:srgbClr val="000000"/>
                            </a:solidFill>
                            <a:latin typeface="Times New Roman" panose="02020603050405020304"/>
                            <a:ea typeface="等线" panose="02010600030101010101" pitchFamily="2" charset="-122"/>
                            <a:cs typeface="+mn-cs"/>
                          </a:rPr>
                          <m:t>(</m:t>
                        </m:r>
                        <m:r>
                          <m:rPr>
                            <m:nor/>
                          </m:rPr>
                          <a:rPr kumimoji="1" lang="en-US" altLang="zh-CN" kern="100">
                            <a:solidFill>
                              <a:srgbClr val="000000"/>
                            </a:solidFill>
                            <a:latin typeface="Times New Roman" panose="02020603050405020304"/>
                            <a:cs typeface="+mn-cs"/>
                          </a:rPr>
                          <m:t>n</m:t>
                        </m:r>
                        <m:r>
                          <m:rPr>
                            <m:nor/>
                          </m:rPr>
                          <a:rPr kumimoji="1" lang="en-US" altLang="zh-CN" i="1" kern="100">
                            <a:solidFill>
                              <a:srgbClr val="000000"/>
                            </a:solidFill>
                            <a:latin typeface="Times New Roman" panose="02020603050405020304"/>
                            <a:cs typeface="+mn-cs"/>
                          </a:rPr>
                          <m:t>−</m:t>
                        </m:r>
                        <m:r>
                          <m:rPr>
                            <m:nor/>
                          </m:rPr>
                          <a:rPr kumimoji="1" lang="en-US" altLang="zh-CN" kern="100">
                            <a:solidFill>
                              <a:srgbClr val="000000"/>
                            </a:solidFill>
                            <a:latin typeface="Times New Roman" panose="02020603050405020304"/>
                            <a:cs typeface="+mn-cs"/>
                          </a:rPr>
                          <m:t>1</m:t>
                        </m:r>
                        <m:r>
                          <m:rPr>
                            <m:nor/>
                          </m:rPr>
                          <a:rPr kumimoji="1" lang="en-US" altLang="zh-CN" kern="100">
                            <a:solidFill>
                              <a:srgbClr val="000000"/>
                            </a:solidFill>
                            <a:latin typeface="Times New Roman" panose="02020603050405020304"/>
                            <a:cs typeface="+mn-cs"/>
                          </a:rPr>
                          <m:t>)</m:t>
                        </m:r>
                      </m:sup>
                    </m:sSup>
                  </m:oMath>
                </a14:m>
                <a:endParaRPr kumimoji="1" lang="zh-CN" altLang="en-US" sz="2000" dirty="0">
                  <a:solidFill>
                    <a:schemeClr val="dk1"/>
                  </a:solidFill>
                  <a:latin typeface="+mn-lt"/>
                  <a:ea typeface="+mn-ea"/>
                  <a:cs typeface="+mn-cs"/>
                </a:endParaRPr>
              </a:p>
            </p:txBody>
          </p:sp>
        </mc:Choice>
        <mc:Fallback>
          <p:sp>
            <p:nvSpPr>
              <p:cNvPr id="10" name="文本框 9"/>
              <p:cNvSpPr txBox="1">
                <a:spLocks noRot="1" noChangeAspect="1" noMove="1" noResize="1" noEditPoints="1" noAdjustHandles="1" noChangeArrowheads="1" noChangeShapeType="1" noTextEdit="1"/>
              </p:cNvSpPr>
              <p:nvPr/>
            </p:nvSpPr>
            <p:spPr>
              <a:xfrm>
                <a:off x="417551" y="1143060"/>
                <a:ext cx="7315008" cy="424796"/>
              </a:xfrm>
              <a:prstGeom prst="rect">
                <a:avLst/>
              </a:prstGeom>
              <a:blipFill rotWithShape="1">
                <a:blip r:embed="rId1"/>
                <a:stretch>
                  <a:fillRect l="-5" t="-14" r="2" b="10"/>
                </a:stretch>
              </a:blipFill>
            </p:spPr>
            <p:txBody>
              <a:bodyPr/>
              <a:lstStyle/>
              <a:p>
                <a:r>
                  <a:rPr lang="zh-CN" altLang="en-US">
                    <a:noFill/>
                  </a:rPr>
                  <a:t> </a:t>
                </a:r>
              </a:p>
            </p:txBody>
          </p:sp>
        </mc:Fallback>
      </mc:AlternateContent>
      <p:pic>
        <p:nvPicPr>
          <p:cNvPr id="8" name="图片 7"/>
          <p:cNvPicPr>
            <a:picLocks noChangeAspect="1"/>
          </p:cNvPicPr>
          <p:nvPr/>
        </p:nvPicPr>
        <p:blipFill>
          <a:blip r:embed="rId2"/>
          <a:stretch>
            <a:fillRect/>
          </a:stretch>
        </p:blipFill>
        <p:spPr>
          <a:xfrm>
            <a:off x="447939" y="1714949"/>
            <a:ext cx="7856673" cy="4790846"/>
          </a:xfrm>
          <a:prstGeom prst="rect">
            <a:avLst/>
          </a:prstGeom>
        </p:spPr>
      </p:pic>
      <p:pic>
        <p:nvPicPr>
          <p:cNvPr id="6" name="图片 5"/>
          <p:cNvPicPr>
            <a:picLocks noChangeAspect="1"/>
          </p:cNvPicPr>
          <p:nvPr/>
        </p:nvPicPr>
        <p:blipFill>
          <a:blip r:embed="rId3"/>
          <a:stretch>
            <a:fillRect/>
          </a:stretch>
        </p:blipFill>
        <p:spPr>
          <a:xfrm>
            <a:off x="6213187" y="1095738"/>
            <a:ext cx="2133898" cy="1238423"/>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775138" y="1372699"/>
            <a:ext cx="7617804" cy="5390938"/>
          </a:xfrm>
          <a:prstGeom prst="rect">
            <a:avLst/>
          </a:prstGeom>
        </p:spPr>
      </p:pic>
      <p:sp>
        <p:nvSpPr>
          <p:cNvPr id="4" name="标题 1"/>
          <p:cNvSpPr>
            <a:spLocks noGrp="1"/>
          </p:cNvSpPr>
          <p:nvPr>
            <p:ph type="title"/>
          </p:nvPr>
        </p:nvSpPr>
        <p:spPr>
          <a:xfrm>
            <a:off x="7391326" y="212332"/>
            <a:ext cx="1562173"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编码方法</a:t>
            </a:r>
            <a:endParaRPr lang="zh-CN" altLang="en-US" sz="2400" dirty="0">
              <a:sym typeface="+mn-ea"/>
            </a:endParaRPr>
          </a:p>
        </p:txBody>
      </p:sp>
      <mc:AlternateContent xmlns:mc="http://schemas.openxmlformats.org/markup-compatibility/2006">
        <mc:Choice xmlns:a14="http://schemas.microsoft.com/office/drawing/2010/main" Requires="a14">
          <p:sp>
            <p:nvSpPr>
              <p:cNvPr id="10" name="文本框 9"/>
              <p:cNvSpPr txBox="1"/>
              <p:nvPr/>
            </p:nvSpPr>
            <p:spPr>
              <a:xfrm>
                <a:off x="417551" y="1143060"/>
                <a:ext cx="7315008" cy="400110"/>
              </a:xfrm>
              <a:prstGeom prst="rect">
                <a:avLst/>
              </a:prstGeom>
              <a:noFill/>
            </p:spPr>
            <p:txBody>
              <a:bodyPr wrap="square">
                <a:spAutoFit/>
              </a:bodyPr>
              <a:lstStyle/>
              <a:p>
                <a14:m>
                  <m:oMath xmlns:m="http://schemas.openxmlformats.org/officeDocument/2006/math">
                    <m:r>
                      <a:rPr lang="en-US" altLang="zh-CN" sz="2000" i="1" smtClean="0">
                        <a:latin typeface="Cambria Math" panose="02040503050406030204" pitchFamily="18" charset="0"/>
                        <a:cs typeface="+mn-cs"/>
                      </a:rPr>
                      <m:t>4</m:t>
                    </m:r>
                    <m:r>
                      <a:rPr lang="zh-CN" altLang="en-US" sz="2000" i="1">
                        <a:latin typeface="Cambria Math" panose="02040503050406030204" pitchFamily="18" charset="0"/>
                        <a:cs typeface="+mn-cs"/>
                      </a:rPr>
                      <m:t>、</m:t>
                    </m:r>
                  </m:oMath>
                </a14:m>
                <a:r>
                  <a:rPr kumimoji="1" lang="zh-CN" altLang="en-US" sz="2000" dirty="0">
                    <a:solidFill>
                      <a:schemeClr val="dk1"/>
                    </a:solidFill>
                    <a:latin typeface="+mn-lt"/>
                    <a:ea typeface="+mn-ea"/>
                    <a:cs typeface="+mn-cs"/>
                  </a:rPr>
                  <a:t>求生成矩阵</a:t>
                </a:r>
                <a14:m>
                  <m:oMath xmlns:m="http://schemas.openxmlformats.org/officeDocument/2006/math">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𝐺</m:t>
                        </m:r>
                      </m:e>
                      <m:sub>
                        <m:r>
                          <a:rPr lang="en-US" altLang="zh-CN" sz="2000" b="0" i="1" smtClean="0">
                            <a:latin typeface="Cambria Math" panose="02040503050406030204" pitchFamily="18" charset="0"/>
                          </a:rPr>
                          <m:t>𝑁</m:t>
                        </m:r>
                      </m:sub>
                    </m:sSub>
                  </m:oMath>
                </a14:m>
                <a:endParaRPr kumimoji="1" lang="zh-CN" altLang="en-US" sz="2000" dirty="0">
                  <a:solidFill>
                    <a:schemeClr val="dk1"/>
                  </a:solidFill>
                  <a:latin typeface="+mn-lt"/>
                  <a:ea typeface="+mn-ea"/>
                  <a:cs typeface="+mn-cs"/>
                </a:endParaRPr>
              </a:p>
            </p:txBody>
          </p:sp>
        </mc:Choice>
        <mc:Fallback>
          <p:sp>
            <p:nvSpPr>
              <p:cNvPr id="10" name="文本框 9"/>
              <p:cNvSpPr txBox="1">
                <a:spLocks noRot="1" noChangeAspect="1" noMove="1" noResize="1" noEditPoints="1" noAdjustHandles="1" noChangeArrowheads="1" noChangeShapeType="1" noTextEdit="1"/>
              </p:cNvSpPr>
              <p:nvPr/>
            </p:nvSpPr>
            <p:spPr>
              <a:xfrm>
                <a:off x="417551" y="1143060"/>
                <a:ext cx="7315008" cy="400110"/>
              </a:xfrm>
              <a:prstGeom prst="rect">
                <a:avLst/>
              </a:prstGeom>
              <a:blipFill rotWithShape="1">
                <a:blip r:embed="rId2"/>
                <a:stretch>
                  <a:fillRect l="-5" t="-15" r="2" b="30"/>
                </a:stretch>
              </a:blipFill>
            </p:spPr>
            <p:txBody>
              <a:bodyPr/>
              <a:lstStyle/>
              <a:p>
                <a:r>
                  <a:rPr lang="zh-CN" altLang="en-US">
                    <a:noFill/>
                  </a:rPr>
                  <a:t> </a:t>
                </a:r>
              </a:p>
            </p:txBody>
          </p:sp>
        </mc:Fallback>
      </mc:AlternateContent>
      <p:pic>
        <p:nvPicPr>
          <p:cNvPr id="9" name="图片 8"/>
          <p:cNvPicPr>
            <a:picLocks noChangeAspect="1"/>
          </p:cNvPicPr>
          <p:nvPr/>
        </p:nvPicPr>
        <p:blipFill>
          <a:blip r:embed="rId3"/>
          <a:stretch>
            <a:fillRect/>
          </a:stretch>
        </p:blipFill>
        <p:spPr>
          <a:xfrm>
            <a:off x="2895644" y="1192710"/>
            <a:ext cx="1590897" cy="41915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391326" y="228684"/>
            <a:ext cx="1562173"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编码方法</a:t>
            </a:r>
            <a:endParaRPr lang="zh-CN" altLang="en-US" sz="2400" dirty="0">
              <a:sym typeface="+mn-ea"/>
            </a:endParaRPr>
          </a:p>
        </p:txBody>
      </p:sp>
      <mc:AlternateContent xmlns:mc="http://schemas.openxmlformats.org/markup-compatibility/2006">
        <mc:Choice xmlns:a14="http://schemas.microsoft.com/office/drawing/2010/main" Requires="a14">
          <p:sp>
            <p:nvSpPr>
              <p:cNvPr id="10" name="文本框 9"/>
              <p:cNvSpPr txBox="1"/>
              <p:nvPr/>
            </p:nvSpPr>
            <p:spPr>
              <a:xfrm>
                <a:off x="417551" y="1143060"/>
                <a:ext cx="7315008" cy="400110"/>
              </a:xfrm>
              <a:prstGeom prst="rect">
                <a:avLst/>
              </a:prstGeom>
              <a:noFill/>
            </p:spPr>
            <p:txBody>
              <a:bodyPr wrap="square">
                <a:spAutoFit/>
              </a:bodyPr>
              <a:lstStyle/>
              <a:p>
                <a14:m>
                  <m:oMath xmlns:m="http://schemas.openxmlformats.org/officeDocument/2006/math">
                    <m:r>
                      <a:rPr lang="en-US" altLang="zh-CN" sz="2000" i="1">
                        <a:latin typeface="Cambria Math" panose="02040503050406030204" pitchFamily="18" charset="0"/>
                        <a:cs typeface="+mn-cs"/>
                      </a:rPr>
                      <m:t>5</m:t>
                    </m:r>
                    <m:r>
                      <a:rPr lang="zh-CN" altLang="en-US" sz="2000" i="1">
                        <a:latin typeface="Cambria Math" panose="02040503050406030204" pitchFamily="18" charset="0"/>
                        <a:cs typeface="+mn-cs"/>
                      </a:rPr>
                      <m:t>、</m:t>
                    </m:r>
                  </m:oMath>
                </a14:m>
                <a:r>
                  <a:rPr kumimoji="1" lang="zh-CN" altLang="en-US" sz="2000" dirty="0">
                    <a:solidFill>
                      <a:schemeClr val="dk1"/>
                    </a:solidFill>
                    <a:latin typeface="+mn-lt"/>
                    <a:ea typeface="+mn-ea"/>
                    <a:cs typeface="+mn-cs"/>
                  </a:rPr>
                  <a:t>生成极化码</a:t>
                </a:r>
                <a:endParaRPr kumimoji="1" lang="zh-CN" altLang="en-US" sz="2000" dirty="0">
                  <a:solidFill>
                    <a:schemeClr val="dk1"/>
                  </a:solidFill>
                  <a:latin typeface="+mn-lt"/>
                  <a:ea typeface="+mn-ea"/>
                  <a:cs typeface="+mn-cs"/>
                </a:endParaRPr>
              </a:p>
            </p:txBody>
          </p:sp>
        </mc:Choice>
        <mc:Fallback>
          <p:sp>
            <p:nvSpPr>
              <p:cNvPr id="10" name="文本框 9"/>
              <p:cNvSpPr txBox="1">
                <a:spLocks noRot="1" noChangeAspect="1" noMove="1" noResize="1" noEditPoints="1" noAdjustHandles="1" noChangeArrowheads="1" noChangeShapeType="1" noTextEdit="1"/>
              </p:cNvSpPr>
              <p:nvPr/>
            </p:nvSpPr>
            <p:spPr>
              <a:xfrm>
                <a:off x="417551" y="1143060"/>
                <a:ext cx="7315008" cy="400110"/>
              </a:xfrm>
              <a:prstGeom prst="rect">
                <a:avLst/>
              </a:prstGeom>
              <a:blipFill rotWithShape="1">
                <a:blip r:embed="rId1"/>
                <a:stretch>
                  <a:fillRect l="-5" t="-15" r="2" b="30"/>
                </a:stretch>
              </a:blipFill>
            </p:spPr>
            <p:txBody>
              <a:bodyPr/>
              <a:lstStyle/>
              <a:p>
                <a:r>
                  <a:rPr lang="zh-CN" altLang="en-US">
                    <a:noFill/>
                  </a:rPr>
                  <a:t> </a:t>
                </a:r>
              </a:p>
            </p:txBody>
          </p:sp>
        </mc:Fallback>
      </mc:AlternateContent>
      <p:pic>
        <p:nvPicPr>
          <p:cNvPr id="3" name="图片 2"/>
          <p:cNvPicPr>
            <a:picLocks noChangeAspect="1"/>
          </p:cNvPicPr>
          <p:nvPr/>
        </p:nvPicPr>
        <p:blipFill>
          <a:blip r:embed="rId2"/>
          <a:stretch>
            <a:fillRect/>
          </a:stretch>
        </p:blipFill>
        <p:spPr>
          <a:xfrm>
            <a:off x="2743299" y="1121755"/>
            <a:ext cx="1324160" cy="466790"/>
          </a:xfrm>
          <a:prstGeom prst="rect">
            <a:avLst/>
          </a:prstGeom>
        </p:spPr>
      </p:pic>
      <p:pic>
        <p:nvPicPr>
          <p:cNvPr id="7" name="图片 6"/>
          <p:cNvPicPr>
            <a:picLocks noChangeAspect="1"/>
          </p:cNvPicPr>
          <p:nvPr/>
        </p:nvPicPr>
        <p:blipFill>
          <a:blip r:embed="rId3"/>
          <a:stretch>
            <a:fillRect/>
          </a:stretch>
        </p:blipFill>
        <p:spPr>
          <a:xfrm>
            <a:off x="275625" y="1633919"/>
            <a:ext cx="8592749" cy="406774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800594" y="152486"/>
            <a:ext cx="4114692" cy="685800"/>
          </a:xfrm>
        </p:spPr>
        <p:txBody>
          <a:bodyPr/>
          <a:lstStyle/>
          <a:p>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的构造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速率匹配</a:t>
            </a:r>
            <a:endParaRPr lang="zh-CN" altLang="en-US" sz="2400" dirty="0">
              <a:sym typeface="+mn-ea"/>
            </a:endParaRPr>
          </a:p>
        </p:txBody>
      </p:sp>
      <mc:AlternateContent xmlns:mc="http://schemas.openxmlformats.org/markup-compatibility/2006">
        <mc:Choice xmlns:a14="http://schemas.microsoft.com/office/drawing/2010/main" Requires="a14">
          <p:sp>
            <p:nvSpPr>
              <p:cNvPr id="5" name="文本框 4"/>
              <p:cNvSpPr txBox="1"/>
              <p:nvPr/>
            </p:nvSpPr>
            <p:spPr>
              <a:xfrm>
                <a:off x="457308" y="1956962"/>
                <a:ext cx="8229384" cy="2328523"/>
              </a:xfrm>
              <a:prstGeom prst="rect">
                <a:avLst/>
              </a:prstGeom>
              <a:noFill/>
            </p:spPr>
            <p:txBody>
              <a:bodyPr wrap="square">
                <a:spAutoFit/>
              </a:bodyPr>
              <a:lstStyle/>
              <a:p>
                <a:pPr>
                  <a:lnSpc>
                    <a:spcPct val="200000"/>
                  </a:lnSpc>
                </a:pPr>
                <a:r>
                  <a:rPr lang="zh-CN" altLang="en-US" sz="2000" dirty="0">
                    <a:solidFill>
                      <a:srgbClr val="000000"/>
                    </a:solidFill>
                    <a:latin typeface="黑体" panose="02010609060101010101" pitchFamily="49" charset="-122"/>
                    <a:ea typeface="黑体" panose="02010609060101010101" pitchFamily="49" charset="-122"/>
                    <a:cs typeface="+mn-cs"/>
                  </a:rPr>
                  <a:t>    </a:t>
                </a:r>
                <a:r>
                  <a:rPr lang="zh-CN" altLang="en-US" sz="2000" dirty="0">
                    <a:solidFill>
                      <a:srgbClr val="000000"/>
                    </a:solidFill>
                    <a:latin typeface="+mn-lt"/>
                    <a:ea typeface="黑体" panose="02010609060101010101" pitchFamily="49" charset="-122"/>
                    <a:cs typeface="+mn-cs"/>
                  </a:rPr>
                  <a:t>速率匹配是把</a:t>
                </a:r>
                <a:r>
                  <a:rPr lang="en-US" altLang="zh-CN" sz="2000" dirty="0">
                    <a:solidFill>
                      <a:srgbClr val="000000"/>
                    </a:solidFill>
                    <a:latin typeface="+mn-lt"/>
                    <a:ea typeface="黑体" panose="02010609060101010101" pitchFamily="49" charset="-122"/>
                    <a:cs typeface="+mn-cs"/>
                  </a:rPr>
                  <a:t>Polar</a:t>
                </a:r>
                <a:r>
                  <a:rPr lang="zh-CN" altLang="en-US" sz="2000" dirty="0">
                    <a:solidFill>
                      <a:srgbClr val="000000"/>
                    </a:solidFill>
                    <a:latin typeface="+mn-lt"/>
                    <a:ea typeface="黑体" panose="02010609060101010101" pitchFamily="49" charset="-122"/>
                    <a:cs typeface="+mn-cs"/>
                  </a:rPr>
                  <a:t>码编码后的比特数量</a:t>
                </a:r>
                <a14:m>
                  <m:oMath xmlns:m="http://schemas.openxmlformats.org/officeDocument/2006/math">
                    <m:r>
                      <a:rPr lang="zh-CN" altLang="en-US" sz="2000">
                        <a:solidFill>
                          <a:srgbClr val="000000"/>
                        </a:solidFill>
                        <a:latin typeface="Cambria Math" panose="02040503050406030204" pitchFamily="18" charset="0"/>
                        <a:ea typeface="黑体" panose="02010609060101010101" pitchFamily="49" charset="-122"/>
                        <a:cs typeface="+mn-cs"/>
                      </a:rPr>
                      <m:t>𝑁</m:t>
                    </m:r>
                    <m:r>
                      <a:rPr lang="zh-CN" altLang="en-US" sz="2000">
                        <a:solidFill>
                          <a:srgbClr val="000000"/>
                        </a:solidFill>
                        <a:latin typeface="Cambria Math" panose="02040503050406030204" pitchFamily="18" charset="0"/>
                        <a:ea typeface="黑体" panose="02010609060101010101" pitchFamily="49" charset="-122"/>
                        <a:cs typeface="+mn-cs"/>
                      </a:rPr>
                      <m:t>=</m:t>
                    </m:r>
                    <m:sSup>
                      <m:sSupPr>
                        <m:ctrlPr>
                          <a:rPr lang="zh-CN" altLang="en-US" sz="2000" i="1">
                            <a:solidFill>
                              <a:srgbClr val="000000"/>
                            </a:solidFill>
                            <a:latin typeface="Cambria Math" panose="02040503050406030204" pitchFamily="18" charset="0"/>
                            <a:ea typeface="黑体" panose="02010609060101010101" pitchFamily="49" charset="-122"/>
                            <a:cs typeface="+mn-cs"/>
                          </a:rPr>
                        </m:ctrlPr>
                      </m:sSupPr>
                      <m:e>
                        <m:r>
                          <a:rPr lang="zh-CN" altLang="en-US" sz="2000">
                            <a:solidFill>
                              <a:srgbClr val="000000"/>
                            </a:solidFill>
                            <a:latin typeface="Cambria Math" panose="02040503050406030204" pitchFamily="18" charset="0"/>
                            <a:ea typeface="黑体" panose="02010609060101010101" pitchFamily="49" charset="-122"/>
                            <a:cs typeface="+mn-cs"/>
                          </a:rPr>
                          <m:t>2</m:t>
                        </m:r>
                      </m:e>
                      <m:sup>
                        <m:r>
                          <a:rPr lang="zh-CN" altLang="en-US" sz="2000">
                            <a:solidFill>
                              <a:srgbClr val="000000"/>
                            </a:solidFill>
                            <a:latin typeface="Cambria Math" panose="02040503050406030204" pitchFamily="18" charset="0"/>
                            <a:ea typeface="黑体" panose="02010609060101010101" pitchFamily="49" charset="-122"/>
                            <a:cs typeface="+mn-cs"/>
                          </a:rPr>
                          <m:t>𝑛</m:t>
                        </m:r>
                      </m:sup>
                    </m:sSup>
                    <m:r>
                      <a:rPr lang="zh-CN" altLang="en-US" sz="2000">
                        <a:solidFill>
                          <a:srgbClr val="000000"/>
                        </a:solidFill>
                        <a:latin typeface="Cambria Math" panose="02040503050406030204" pitchFamily="18" charset="0"/>
                        <a:ea typeface="黑体" panose="02010609060101010101" pitchFamily="49" charset="-122"/>
                        <a:cs typeface="+mn-cs"/>
                      </a:rPr>
                      <m:t>通过</m:t>
                    </m:r>
                  </m:oMath>
                </a14:m>
                <a:r>
                  <a:rPr lang="zh-CN" altLang="en-US" sz="2000" dirty="0">
                    <a:solidFill>
                      <a:srgbClr val="000000"/>
                    </a:solidFill>
                    <a:latin typeface="+mn-lt"/>
                    <a:ea typeface="黑体" panose="02010609060101010101" pitchFamily="49" charset="-122"/>
                    <a:cs typeface="+mn-cs"/>
                  </a:rPr>
                  <a:t>调整（增加或减少比特数量），适配到对应的物理资源（所承载的比特数量）上。</a:t>
                </a:r>
                <a:endParaRPr lang="en-US" altLang="zh-CN" sz="2000" dirty="0">
                  <a:solidFill>
                    <a:srgbClr val="000000"/>
                  </a:solidFill>
                  <a:latin typeface="+mn-lt"/>
                  <a:ea typeface="黑体" panose="02010609060101010101" pitchFamily="49" charset="-122"/>
                  <a:cs typeface="+mn-cs"/>
                </a:endParaRPr>
              </a:p>
              <a:p>
                <a:pPr>
                  <a:lnSpc>
                    <a:spcPct val="200000"/>
                  </a:lnSpc>
                </a:pPr>
                <a:r>
                  <a:rPr lang="en-US" altLang="zh-CN" sz="2000" dirty="0">
                    <a:solidFill>
                      <a:srgbClr val="000000"/>
                    </a:solidFill>
                    <a:latin typeface="+mn-lt"/>
                    <a:ea typeface="黑体" panose="02010609060101010101" pitchFamily="49" charset="-122"/>
                    <a:cs typeface="+mn-cs"/>
                  </a:rPr>
                  <a:t>        </a:t>
                </a:r>
                <a:r>
                  <a:rPr lang="zh-CN" altLang="en-US" sz="2000" dirty="0">
                    <a:solidFill>
                      <a:srgbClr val="000000"/>
                    </a:solidFill>
                    <a:latin typeface="+mn-lt"/>
                    <a:ea typeface="黑体" panose="02010609060101010101" pitchFamily="49" charset="-122"/>
                    <a:cs typeface="+mn-cs"/>
                  </a:rPr>
                  <a:t>速率匹配包括两个操作，一是</a:t>
                </a:r>
                <a:r>
                  <a:rPr lang="zh-CN" altLang="en-US" sz="2000" u="sng" dirty="0">
                    <a:solidFill>
                      <a:srgbClr val="000000"/>
                    </a:solidFill>
                    <a:latin typeface="+mn-lt"/>
                    <a:ea typeface="黑体" panose="02010609060101010101" pitchFamily="49" charset="-122"/>
                    <a:cs typeface="+mn-cs"/>
                  </a:rPr>
                  <a:t>交织</a:t>
                </a:r>
                <a:r>
                  <a:rPr lang="zh-CN" altLang="en-US" sz="2000" dirty="0">
                    <a:solidFill>
                      <a:srgbClr val="000000"/>
                    </a:solidFill>
                    <a:latin typeface="+mn-lt"/>
                    <a:ea typeface="黑体" panose="02010609060101010101" pitchFamily="49" charset="-122"/>
                    <a:cs typeface="+mn-cs"/>
                  </a:rPr>
                  <a:t>，二是按照一定方式</a:t>
                </a:r>
                <a:r>
                  <a:rPr lang="zh-CN" altLang="en-US" sz="2000" u="sng" dirty="0">
                    <a:solidFill>
                      <a:srgbClr val="000000"/>
                    </a:solidFill>
                    <a:latin typeface="+mn-lt"/>
                    <a:ea typeface="黑体" panose="02010609060101010101" pitchFamily="49" charset="-122"/>
                    <a:cs typeface="+mn-cs"/>
                  </a:rPr>
                  <a:t>选取比特</a:t>
                </a:r>
                <a:r>
                  <a:rPr lang="zh-CN" altLang="en-US" sz="2000" dirty="0">
                    <a:solidFill>
                      <a:srgbClr val="000000"/>
                    </a:solidFill>
                    <a:latin typeface="+mn-lt"/>
                    <a:ea typeface="黑体" panose="02010609060101010101" pitchFamily="49" charset="-122"/>
                    <a:cs typeface="+mn-cs"/>
                  </a:rPr>
                  <a:t>。</a:t>
                </a:r>
                <a:endParaRPr lang="en-US" altLang="zh-CN" sz="2000" dirty="0">
                  <a:solidFill>
                    <a:srgbClr val="000000"/>
                  </a:solidFill>
                  <a:latin typeface="+mn-lt"/>
                  <a:ea typeface="黑体" panose="02010609060101010101" pitchFamily="49" charset="-122"/>
                  <a:cs typeface="+mn-cs"/>
                </a:endParaRPr>
              </a:p>
              <a:p>
                <a:pPr>
                  <a:lnSpc>
                    <a:spcPct val="150000"/>
                  </a:lnSpc>
                </a:pPr>
                <a:endParaRPr lang="zh-CN" altLang="en-US" sz="2000" dirty="0">
                  <a:solidFill>
                    <a:srgbClr val="000000"/>
                  </a:solidFill>
                  <a:latin typeface="黑体" panose="02010609060101010101" pitchFamily="49" charset="-122"/>
                  <a:ea typeface="黑体" panose="02010609060101010101" pitchFamily="49" charset="-122"/>
                  <a:cs typeface="+mn-cs"/>
                </a:endParaRPr>
              </a:p>
            </p:txBody>
          </p:sp>
        </mc:Choice>
        <mc:Fallback>
          <p:sp>
            <p:nvSpPr>
              <p:cNvPr id="5" name="文本框 4"/>
              <p:cNvSpPr txBox="1">
                <a:spLocks noRot="1" noChangeAspect="1" noMove="1" noResize="1" noEditPoints="1" noAdjustHandles="1" noChangeArrowheads="1" noChangeShapeType="1" noTextEdit="1"/>
              </p:cNvSpPr>
              <p:nvPr/>
            </p:nvSpPr>
            <p:spPr>
              <a:xfrm>
                <a:off x="457308" y="1956962"/>
                <a:ext cx="8229384" cy="2328523"/>
              </a:xfrm>
              <a:prstGeom prst="rect">
                <a:avLst/>
              </a:prstGeom>
              <a:blipFill rotWithShape="1">
                <a:blip r:embed="rId1"/>
                <a:stretch>
                  <a:fillRect l="-1" t="-23" r="6" b="-687"/>
                </a:stretch>
              </a:blipFill>
            </p:spPr>
            <p:txBody>
              <a:bodyPr/>
              <a:lstStyle/>
              <a:p>
                <a:r>
                  <a:rPr lang="zh-CN" altLang="en-US">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800594" y="152486"/>
            <a:ext cx="4114692" cy="685800"/>
          </a:xfrm>
        </p:spPr>
        <p:txBody>
          <a:bodyPr/>
          <a:lstStyle/>
          <a:p>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的构造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速率匹配</a:t>
            </a:r>
            <a:endParaRPr lang="zh-CN" altLang="en-US" sz="2400" dirty="0">
              <a:sym typeface="+mn-ea"/>
            </a:endParaRPr>
          </a:p>
        </p:txBody>
      </p:sp>
      <mc:AlternateContent xmlns:mc="http://schemas.openxmlformats.org/markup-compatibility/2006">
        <mc:Choice xmlns:a14="http://schemas.microsoft.com/office/drawing/2010/main" Requires="a14">
          <p:sp>
            <p:nvSpPr>
              <p:cNvPr id="5" name="文本框 4"/>
              <p:cNvSpPr txBox="1"/>
              <p:nvPr/>
            </p:nvSpPr>
            <p:spPr>
              <a:xfrm>
                <a:off x="685902" y="1371654"/>
                <a:ext cx="8381780" cy="4636847"/>
              </a:xfrm>
              <a:prstGeom prst="rect">
                <a:avLst/>
              </a:prstGeom>
              <a:noFill/>
            </p:spPr>
            <p:txBody>
              <a:bodyPr wrap="square">
                <a:spAutoFit/>
              </a:bodyPr>
              <a:lstStyle/>
              <a:p>
                <a:pPr>
                  <a:lnSpc>
                    <a:spcPct val="150000"/>
                  </a:lnSpc>
                </a:pPr>
                <a:r>
                  <a:rPr lang="zh-CN" altLang="en-US" sz="2000" dirty="0">
                    <a:solidFill>
                      <a:srgbClr val="000000"/>
                    </a:solidFill>
                    <a:latin typeface="+mn-lt"/>
                    <a:ea typeface="黑体" panose="02010609060101010101" pitchFamily="49" charset="-122"/>
                    <a:cs typeface="+mn-cs"/>
                  </a:rPr>
                  <a:t>速率匹配需要几个参数：</a:t>
                </a:r>
                <a:endParaRPr lang="en-US" altLang="zh-CN" sz="2000" dirty="0">
                  <a:solidFill>
                    <a:srgbClr val="000000"/>
                  </a:solidFill>
                  <a:latin typeface="+mn-lt"/>
                  <a:ea typeface="黑体" panose="02010609060101010101" pitchFamily="49" charset="-122"/>
                  <a:cs typeface="+mn-cs"/>
                </a:endParaRPr>
              </a:p>
              <a:p>
                <a:pPr>
                  <a:lnSpc>
                    <a:spcPct val="150000"/>
                  </a:lnSpc>
                </a:pPr>
                <a:r>
                  <a:rPr lang="en-US" altLang="zh-CN" sz="2000" dirty="0">
                    <a:solidFill>
                      <a:srgbClr val="000000"/>
                    </a:solidFill>
                    <a:latin typeface="+mn-lt"/>
                    <a:ea typeface="黑体" panose="02010609060101010101" pitchFamily="49" charset="-122"/>
                    <a:cs typeface="+mn-cs"/>
                  </a:rPr>
                  <a:t>K</a:t>
                </a:r>
                <a:r>
                  <a:rPr lang="zh-CN" altLang="en-US" sz="2000" dirty="0">
                    <a:solidFill>
                      <a:srgbClr val="000000"/>
                    </a:solidFill>
                    <a:latin typeface="+mn-lt"/>
                    <a:ea typeface="黑体" panose="02010609060101010101" pitchFamily="49" charset="-122"/>
                    <a:cs typeface="+mn-cs"/>
                  </a:rPr>
                  <a:t>：   （分段后）编码前的信息比特长度。</a:t>
                </a:r>
                <a:endParaRPr lang="en-US" altLang="zh-CN" sz="2000" dirty="0">
                  <a:solidFill>
                    <a:srgbClr val="000000"/>
                  </a:solidFill>
                  <a:latin typeface="+mn-lt"/>
                  <a:ea typeface="黑体" panose="02010609060101010101" pitchFamily="49" charset="-122"/>
                  <a:cs typeface="+mn-cs"/>
                </a:endParaRPr>
              </a:p>
              <a:p>
                <a:pPr>
                  <a:lnSpc>
                    <a:spcPct val="150000"/>
                  </a:lnSpc>
                </a:pPr>
                <a:r>
                  <a:rPr lang="en-US" altLang="zh-CN" sz="2000" dirty="0">
                    <a:solidFill>
                      <a:srgbClr val="000000"/>
                    </a:solidFill>
                    <a:latin typeface="+mn-lt"/>
                    <a:ea typeface="黑体" panose="02010609060101010101" pitchFamily="49" charset="-122"/>
                    <a:cs typeface="+mn-cs"/>
                  </a:rPr>
                  <a:t>M</a:t>
                </a:r>
                <a:r>
                  <a:rPr lang="zh-CN" altLang="en-US" sz="2000" dirty="0">
                    <a:solidFill>
                      <a:srgbClr val="000000"/>
                    </a:solidFill>
                    <a:latin typeface="+mn-lt"/>
                    <a:ea typeface="黑体" panose="02010609060101010101" pitchFamily="49" charset="-122"/>
                    <a:cs typeface="+mn-cs"/>
                  </a:rPr>
                  <a:t>：     对应资源所承载的比特数。</a:t>
                </a:r>
                <a:endParaRPr lang="en-US" altLang="zh-CN" sz="2000" dirty="0">
                  <a:solidFill>
                    <a:srgbClr val="000000"/>
                  </a:solidFill>
                  <a:latin typeface="+mn-lt"/>
                  <a:ea typeface="黑体" panose="02010609060101010101" pitchFamily="49" charset="-122"/>
                  <a:cs typeface="+mn-cs"/>
                </a:endParaRPr>
              </a:p>
              <a:p>
                <a:pPr>
                  <a:lnSpc>
                    <a:spcPct val="150000"/>
                  </a:lnSpc>
                </a:pPr>
                <a14:m>
                  <m:oMath xmlns:m="http://schemas.openxmlformats.org/officeDocument/2006/math">
                    <m:sSub>
                      <m:sSubPr>
                        <m:ctrlPr>
                          <a:rPr lang="en-US" altLang="zh-CN" sz="2000" i="1" smtClean="0">
                            <a:solidFill>
                              <a:srgbClr val="000000"/>
                            </a:solidFill>
                            <a:latin typeface="Cambria Math" panose="02040503050406030204" pitchFamily="18" charset="0"/>
                            <a:cs typeface="+mn-cs"/>
                          </a:rPr>
                        </m:ctrlPr>
                      </m:sSubPr>
                      <m:e>
                        <m:r>
                          <a:rPr lang="en-US" altLang="zh-CN" sz="2000" i="1" smtClean="0">
                            <a:solidFill>
                              <a:srgbClr val="000000"/>
                            </a:solidFill>
                            <a:latin typeface="Cambria Math" panose="02040503050406030204" pitchFamily="18" charset="0"/>
                            <a:cs typeface="+mn-cs"/>
                          </a:rPr>
                          <m:t>𝑅</m:t>
                        </m:r>
                      </m:e>
                      <m:sub>
                        <m:r>
                          <m:rPr>
                            <m:sty m:val="p"/>
                          </m:rPr>
                          <a:rPr lang="en-US" altLang="zh-CN" sz="2000" i="1">
                            <a:solidFill>
                              <a:srgbClr val="000000"/>
                            </a:solidFill>
                            <a:latin typeface="Cambria Math" panose="02040503050406030204" pitchFamily="18" charset="0"/>
                            <a:cs typeface="+mn-cs"/>
                          </a:rPr>
                          <m:t>mi</m:t>
                        </m:r>
                        <m:r>
                          <a:rPr lang="en-US" altLang="zh-CN" sz="2000" i="1" smtClean="0">
                            <a:solidFill>
                              <a:srgbClr val="000000"/>
                            </a:solidFill>
                            <a:latin typeface="Cambria Math" panose="02040503050406030204" pitchFamily="18" charset="0"/>
                            <a:cs typeface="+mn-cs"/>
                          </a:rPr>
                          <m:t>𝑛</m:t>
                        </m:r>
                      </m:sub>
                    </m:sSub>
                  </m:oMath>
                </a14:m>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1/8</a:t>
                </a:r>
                <a:r>
                  <a:rPr lang="zh-CN" altLang="en-US" sz="2000" dirty="0">
                    <a:solidFill>
                      <a:srgbClr val="000000"/>
                    </a:solidFill>
                    <a:latin typeface="+mn-lt"/>
                    <a:ea typeface="黑体" panose="02010609060101010101" pitchFamily="49" charset="-122"/>
                    <a:cs typeface="+mn-cs"/>
                  </a:rPr>
                  <a:t>（最小码率）</a:t>
                </a:r>
                <a:endParaRPr lang="en-US" altLang="zh-CN" sz="2000" dirty="0">
                  <a:solidFill>
                    <a:srgbClr val="000000"/>
                  </a:solidFill>
                  <a:latin typeface="+mn-lt"/>
                  <a:ea typeface="黑体" panose="02010609060101010101" pitchFamily="49" charset="-122"/>
                  <a:cs typeface="+mn-cs"/>
                </a:endParaRPr>
              </a:p>
              <a:p>
                <a:pPr>
                  <a:lnSpc>
                    <a:spcPct val="150000"/>
                  </a:lnSpc>
                </a:pPr>
                <a14:m>
                  <m:oMath xmlns:m="http://schemas.openxmlformats.org/officeDocument/2006/math">
                    <m:sSub>
                      <m:sSubPr>
                        <m:ctrlPr>
                          <a:rPr lang="en-US" altLang="zh-CN" sz="2000" i="1" smtClean="0">
                            <a:solidFill>
                              <a:srgbClr val="000000"/>
                            </a:solidFill>
                            <a:latin typeface="Cambria Math" panose="02040503050406030204" pitchFamily="18" charset="0"/>
                            <a:cs typeface="+mn-cs"/>
                          </a:rPr>
                        </m:ctrlPr>
                      </m:sSubPr>
                      <m:e>
                        <m:r>
                          <a:rPr lang="en-US" altLang="zh-CN" sz="2000" b="0" i="1" smtClean="0">
                            <a:solidFill>
                              <a:srgbClr val="000000"/>
                            </a:solidFill>
                            <a:latin typeface="Cambria Math" panose="02040503050406030204" pitchFamily="18" charset="0"/>
                            <a:cs typeface="+mn-cs"/>
                          </a:rPr>
                          <m:t>𝑁</m:t>
                        </m:r>
                      </m:e>
                      <m:sub>
                        <m:r>
                          <m:rPr>
                            <m:sty m:val="p"/>
                          </m:rPr>
                          <a:rPr lang="en-US" altLang="zh-CN" sz="2000" i="1">
                            <a:solidFill>
                              <a:srgbClr val="000000"/>
                            </a:solidFill>
                            <a:latin typeface="Cambria Math" panose="02040503050406030204" pitchFamily="18" charset="0"/>
                            <a:cs typeface="+mn-cs"/>
                          </a:rPr>
                          <m:t>max</m:t>
                        </m:r>
                      </m:sub>
                    </m:sSub>
                  </m:oMath>
                </a14:m>
                <a:r>
                  <a:rPr lang="zh-CN" altLang="en-US" sz="2000" dirty="0">
                    <a:solidFill>
                      <a:srgbClr val="000000"/>
                    </a:solidFill>
                    <a:latin typeface="+mn-lt"/>
                    <a:ea typeface="黑体" panose="02010609060101010101" pitchFamily="49" charset="-122"/>
                    <a:cs typeface="+mn-cs"/>
                  </a:rPr>
                  <a:t>：最大母码长度。下行方向为</a:t>
                </a:r>
                <a:r>
                  <a:rPr lang="en-US" altLang="zh-CN" sz="2000" dirty="0">
                    <a:solidFill>
                      <a:srgbClr val="000000"/>
                    </a:solidFill>
                    <a:latin typeface="+mn-lt"/>
                    <a:ea typeface="黑体" panose="02010609060101010101" pitchFamily="49" charset="-122"/>
                    <a:cs typeface="+mn-cs"/>
                  </a:rPr>
                  <a:t>512</a:t>
                </a:r>
                <a:r>
                  <a:rPr lang="zh-CN" altLang="en-US" sz="2000" dirty="0">
                    <a:solidFill>
                      <a:srgbClr val="000000"/>
                    </a:solidFill>
                    <a:latin typeface="+mn-lt"/>
                    <a:ea typeface="黑体" panose="02010609060101010101" pitchFamily="49" charset="-122"/>
                    <a:cs typeface="+mn-cs"/>
                  </a:rPr>
                  <a:t>，上行方向是</a:t>
                </a:r>
                <a:r>
                  <a:rPr lang="en-US" altLang="zh-CN" sz="2000" dirty="0">
                    <a:solidFill>
                      <a:srgbClr val="000000"/>
                    </a:solidFill>
                    <a:latin typeface="+mn-lt"/>
                    <a:ea typeface="黑体" panose="02010609060101010101" pitchFamily="49" charset="-122"/>
                    <a:cs typeface="+mn-cs"/>
                  </a:rPr>
                  <a:t>1024.</a:t>
                </a:r>
                <a:endParaRPr lang="en-US" altLang="zh-CN" sz="2000" dirty="0">
                  <a:solidFill>
                    <a:srgbClr val="000000"/>
                  </a:solidFill>
                  <a:latin typeface="+mn-lt"/>
                  <a:ea typeface="黑体" panose="02010609060101010101" pitchFamily="49" charset="-122"/>
                  <a:cs typeface="+mn-cs"/>
                </a:endParaRPr>
              </a:p>
              <a:p>
                <a:pPr>
                  <a:lnSpc>
                    <a:spcPct val="150000"/>
                  </a:lnSpc>
                </a:pPr>
                <a14:m>
                  <m:oMath xmlns:m="http://schemas.openxmlformats.org/officeDocument/2006/math">
                    <m:sSub>
                      <m:sSubPr>
                        <m:ctrlPr>
                          <a:rPr lang="en-US" altLang="zh-CN" sz="2000" i="1" smtClean="0">
                            <a:solidFill>
                              <a:srgbClr val="000000"/>
                            </a:solidFill>
                            <a:latin typeface="Cambria Math" panose="02040503050406030204" pitchFamily="18" charset="0"/>
                            <a:cs typeface="+mn-cs"/>
                          </a:rPr>
                        </m:ctrlPr>
                      </m:sSubPr>
                      <m:e>
                        <m:r>
                          <a:rPr lang="en-US" altLang="zh-CN" sz="2000" b="0" i="1" smtClean="0">
                            <a:solidFill>
                              <a:srgbClr val="000000"/>
                            </a:solidFill>
                            <a:latin typeface="Cambria Math" panose="02040503050406030204" pitchFamily="18" charset="0"/>
                            <a:cs typeface="+mn-cs"/>
                          </a:rPr>
                          <m:t>𝑁</m:t>
                        </m:r>
                      </m:e>
                      <m:sub>
                        <m:r>
                          <m:rPr>
                            <m:sty m:val="p"/>
                          </m:rPr>
                          <a:rPr lang="en-US" altLang="zh-CN" sz="2000" i="1">
                            <a:solidFill>
                              <a:srgbClr val="000000"/>
                            </a:solidFill>
                            <a:latin typeface="Cambria Math" panose="02040503050406030204" pitchFamily="18" charset="0"/>
                            <a:cs typeface="+mn-cs"/>
                          </a:rPr>
                          <m:t>min</m:t>
                        </m:r>
                      </m:sub>
                    </m:sSub>
                  </m:oMath>
                </a14:m>
                <a:r>
                  <a:rPr lang="zh-CN" altLang="en-US" sz="2000" dirty="0">
                    <a:solidFill>
                      <a:srgbClr val="000000"/>
                    </a:solidFill>
                    <a:latin typeface="+mn-lt"/>
                    <a:ea typeface="黑体" panose="02010609060101010101" pitchFamily="49" charset="-122"/>
                    <a:cs typeface="+mn-cs"/>
                  </a:rPr>
                  <a:t>：最小母码长度。固定为</a:t>
                </a:r>
                <a:r>
                  <a:rPr lang="en-US" altLang="zh-CN" sz="2000" dirty="0">
                    <a:solidFill>
                      <a:srgbClr val="000000"/>
                    </a:solidFill>
                    <a:latin typeface="+mn-lt"/>
                    <a:ea typeface="黑体" panose="02010609060101010101" pitchFamily="49" charset="-122"/>
                    <a:cs typeface="+mn-cs"/>
                  </a:rPr>
                  <a:t>32</a:t>
                </a:r>
                <a:r>
                  <a:rPr lang="zh-CN" altLang="en-US" sz="2000" dirty="0">
                    <a:solidFill>
                      <a:srgbClr val="000000"/>
                    </a:solidFill>
                    <a:latin typeface="+mn-lt"/>
                    <a:ea typeface="黑体" panose="02010609060101010101" pitchFamily="49" charset="-122"/>
                    <a:cs typeface="+mn-cs"/>
                  </a:rPr>
                  <a:t>。</a:t>
                </a:r>
                <a:endParaRPr lang="en-US" altLang="zh-CN" sz="2000" dirty="0">
                  <a:solidFill>
                    <a:srgbClr val="000000"/>
                  </a:solidFill>
                  <a:latin typeface="+mn-lt"/>
                  <a:ea typeface="黑体" panose="02010609060101010101" pitchFamily="49" charset="-122"/>
                  <a:cs typeface="+mn-cs"/>
                </a:endParaRPr>
              </a:p>
              <a:p>
                <a:pPr>
                  <a:lnSpc>
                    <a:spcPct val="150000"/>
                  </a:lnSpc>
                </a:pPr>
                <a14:m>
                  <m:oMath xmlns:m="http://schemas.openxmlformats.org/officeDocument/2006/math">
                    <m:sSub>
                      <m:sSubPr>
                        <m:ctrlPr>
                          <a:rPr lang="en-US" altLang="zh-CN" sz="2000" i="1" smtClean="0">
                            <a:solidFill>
                              <a:srgbClr val="000000"/>
                            </a:solidFill>
                            <a:latin typeface="Cambria Math" panose="02040503050406030204" pitchFamily="18" charset="0"/>
                            <a:cs typeface="+mn-cs"/>
                          </a:rPr>
                        </m:ctrlPr>
                      </m:sSubPr>
                      <m:e>
                        <m:r>
                          <a:rPr lang="en-US" altLang="zh-CN" sz="2000" b="0" i="1" smtClean="0">
                            <a:solidFill>
                              <a:srgbClr val="000000"/>
                            </a:solidFill>
                            <a:latin typeface="Cambria Math" panose="02040503050406030204" pitchFamily="18" charset="0"/>
                            <a:cs typeface="+mn-cs"/>
                          </a:rPr>
                          <m:t>𝑁</m:t>
                        </m:r>
                      </m:e>
                      <m:sub>
                        <m:r>
                          <m:rPr>
                            <m:sty m:val="p"/>
                          </m:rPr>
                          <a:rPr lang="en-US" altLang="zh-CN" sz="2000" i="1">
                            <a:solidFill>
                              <a:srgbClr val="000000"/>
                            </a:solidFill>
                            <a:latin typeface="Cambria Math" panose="02040503050406030204" pitchFamily="18" charset="0"/>
                            <a:cs typeface="+mn-cs"/>
                          </a:rPr>
                          <m:t>dm</m:t>
                        </m:r>
                      </m:sub>
                    </m:sSub>
                  </m:oMath>
                </a14:m>
                <a:r>
                  <a:rPr lang="zh-CN" altLang="en-US" sz="2000" dirty="0">
                    <a:solidFill>
                      <a:srgbClr val="000000"/>
                    </a:solidFill>
                    <a:latin typeface="+mn-lt"/>
                    <a:ea typeface="黑体" panose="02010609060101010101" pitchFamily="49" charset="-122"/>
                    <a:cs typeface="+mn-cs"/>
                  </a:rPr>
                  <a:t>： 大于或等于</a:t>
                </a:r>
                <a:r>
                  <a:rPr lang="en-US" altLang="zh-CN" sz="2000" dirty="0">
                    <a:solidFill>
                      <a:srgbClr val="000000"/>
                    </a:solidFill>
                    <a:latin typeface="+mn-lt"/>
                    <a:ea typeface="黑体" panose="02010609060101010101" pitchFamily="49" charset="-122"/>
                    <a:cs typeface="+mn-cs"/>
                  </a:rPr>
                  <a:t>M</a:t>
                </a:r>
                <a:r>
                  <a:rPr lang="zh-CN" altLang="en-US" sz="2000" dirty="0">
                    <a:solidFill>
                      <a:srgbClr val="000000"/>
                    </a:solidFill>
                    <a:latin typeface="+mn-lt"/>
                    <a:ea typeface="黑体" panose="02010609060101010101" pitchFamily="49" charset="-122"/>
                    <a:cs typeface="+mn-cs"/>
                  </a:rPr>
                  <a:t>并且是</a:t>
                </a:r>
                <a:r>
                  <a:rPr lang="en-US" altLang="zh-CN" sz="2000" dirty="0">
                    <a:solidFill>
                      <a:srgbClr val="000000"/>
                    </a:solidFill>
                    <a:latin typeface="+mn-lt"/>
                    <a:ea typeface="黑体" panose="02010609060101010101" pitchFamily="49" charset="-122"/>
                    <a:cs typeface="+mn-cs"/>
                  </a:rPr>
                  <a:t>2</a:t>
                </a:r>
                <a:r>
                  <a:rPr lang="zh-CN" altLang="en-US" sz="2000" dirty="0">
                    <a:solidFill>
                      <a:srgbClr val="000000"/>
                    </a:solidFill>
                    <a:latin typeface="+mn-lt"/>
                    <a:ea typeface="黑体" panose="02010609060101010101" pitchFamily="49" charset="-122"/>
                    <a:cs typeface="+mn-cs"/>
                  </a:rPr>
                  <a:t>的幂的数。</a:t>
                </a:r>
                <a:endParaRPr lang="en-US" altLang="zh-CN" sz="2000" dirty="0">
                  <a:solidFill>
                    <a:srgbClr val="000000"/>
                  </a:solidFill>
                  <a:latin typeface="+mn-lt"/>
                  <a:ea typeface="黑体" panose="02010609060101010101" pitchFamily="49" charset="-122"/>
                  <a:cs typeface="+mn-cs"/>
                </a:endParaRPr>
              </a:p>
              <a:p>
                <a:pPr>
                  <a:lnSpc>
                    <a:spcPct val="150000"/>
                  </a:lnSpc>
                </a:pPr>
                <a14:m>
                  <m:oMath xmlns:m="http://schemas.openxmlformats.org/officeDocument/2006/math">
                    <m:sSub>
                      <m:sSubPr>
                        <m:ctrlPr>
                          <a:rPr lang="en-US" altLang="zh-CN" sz="2000" i="1" smtClean="0">
                            <a:solidFill>
                              <a:srgbClr val="000000"/>
                            </a:solidFill>
                            <a:latin typeface="Cambria Math" panose="02040503050406030204" pitchFamily="18" charset="0"/>
                            <a:cs typeface="+mn-cs"/>
                          </a:rPr>
                        </m:ctrlPr>
                      </m:sSubPr>
                      <m:e>
                        <m:r>
                          <a:rPr lang="en-US" altLang="zh-CN" sz="2000" b="0" i="1" smtClean="0">
                            <a:solidFill>
                              <a:srgbClr val="000000"/>
                            </a:solidFill>
                            <a:latin typeface="Cambria Math" panose="02040503050406030204" pitchFamily="18" charset="0"/>
                            <a:cs typeface="+mn-cs"/>
                          </a:rPr>
                          <m:t>𝑁</m:t>
                        </m:r>
                      </m:e>
                      <m:sub>
                        <m:r>
                          <m:rPr>
                            <m:sty m:val="p"/>
                          </m:rPr>
                          <a:rPr lang="en-US" altLang="zh-CN" sz="2000" i="1">
                            <a:solidFill>
                              <a:srgbClr val="000000"/>
                            </a:solidFill>
                            <a:latin typeface="Cambria Math" panose="02040503050406030204" pitchFamily="18" charset="0"/>
                            <a:cs typeface="+mn-cs"/>
                          </a:rPr>
                          <m:t>m</m:t>
                        </m:r>
                      </m:sub>
                    </m:sSub>
                  </m:oMath>
                </a14:m>
                <a:r>
                  <a:rPr lang="zh-CN" altLang="en-US" sz="2000" dirty="0">
                    <a:solidFill>
                      <a:srgbClr val="000000"/>
                    </a:solidFill>
                    <a:latin typeface="+mn-lt"/>
                    <a:ea typeface="黑体" panose="02010609060101010101" pitchFamily="49" charset="-122"/>
                    <a:cs typeface="+mn-cs"/>
                  </a:rPr>
                  <a:t>：   另一个候选的母码长度。若</a:t>
                </a:r>
                <a14:m>
                  <m:oMath xmlns:m="http://schemas.openxmlformats.org/officeDocument/2006/math">
                    <m:r>
                      <a:rPr lang="zh-CN" altLang="en-US" sz="2000" i="1" smtClean="0">
                        <a:solidFill>
                          <a:srgbClr val="000000"/>
                        </a:solidFill>
                        <a:latin typeface="Cambria Math" panose="02040503050406030204" pitchFamily="18" charset="0"/>
                        <a:cs typeface="+mn-cs"/>
                      </a:rPr>
                      <m:t>𝑀</m:t>
                    </m:r>
                    <m:r>
                      <a:rPr lang="zh-CN" altLang="en-US" sz="2000" i="1" smtClean="0">
                        <a:solidFill>
                          <a:srgbClr val="000000"/>
                        </a:solidFill>
                        <a:latin typeface="Cambria Math" panose="02040503050406030204" pitchFamily="18" charset="0"/>
                        <a:cs typeface="+mn-cs"/>
                      </a:rPr>
                      <m:t>≤</m:t>
                    </m:r>
                    <m:d>
                      <m:dPr>
                        <m:ctrlPr>
                          <a:rPr lang="zh-CN" altLang="en-US" sz="2000" i="1" smtClean="0">
                            <a:solidFill>
                              <a:srgbClr val="000000"/>
                            </a:solidFill>
                            <a:latin typeface="Cambria Math" panose="02040503050406030204" pitchFamily="18" charset="0"/>
                            <a:cs typeface="+mn-cs"/>
                          </a:rPr>
                        </m:ctrlPr>
                      </m:dPr>
                      <m:e>
                        <m:f>
                          <m:fPr>
                            <m:type m:val="lin"/>
                            <m:ctrlPr>
                              <a:rPr lang="zh-CN" altLang="en-US" sz="2000" i="1" smtClean="0">
                                <a:solidFill>
                                  <a:srgbClr val="000000"/>
                                </a:solidFill>
                                <a:latin typeface="Cambria Math" panose="02040503050406030204" pitchFamily="18" charset="0"/>
                                <a:cs typeface="+mn-cs"/>
                              </a:rPr>
                            </m:ctrlPr>
                          </m:fPr>
                          <m:num>
                            <m:r>
                              <a:rPr lang="zh-CN" altLang="en-US" sz="2000" i="1" smtClean="0">
                                <a:solidFill>
                                  <a:srgbClr val="000000"/>
                                </a:solidFill>
                                <a:latin typeface="Cambria Math" panose="02040503050406030204" pitchFamily="18" charset="0"/>
                                <a:cs typeface="+mn-cs"/>
                              </a:rPr>
                              <m:t>9</m:t>
                            </m:r>
                          </m:num>
                          <m:den>
                            <m:r>
                              <a:rPr lang="zh-CN" altLang="en-US" sz="2000" i="1" smtClean="0">
                                <a:solidFill>
                                  <a:srgbClr val="000000"/>
                                </a:solidFill>
                                <a:latin typeface="Cambria Math" panose="02040503050406030204" pitchFamily="18" charset="0"/>
                                <a:cs typeface="+mn-cs"/>
                              </a:rPr>
                              <m:t>8</m:t>
                            </m:r>
                          </m:den>
                        </m:f>
                      </m:e>
                    </m:d>
                    <m:f>
                      <m:fPr>
                        <m:type m:val="lin"/>
                        <m:ctrlPr>
                          <a:rPr lang="zh-CN" altLang="en-US" sz="2000" i="1" smtClean="0">
                            <a:solidFill>
                              <a:srgbClr val="000000"/>
                            </a:solidFill>
                            <a:latin typeface="Cambria Math" panose="02040503050406030204" pitchFamily="18" charset="0"/>
                            <a:cs typeface="+mn-cs"/>
                          </a:rPr>
                        </m:ctrlPr>
                      </m:fPr>
                      <m:num>
                        <m:r>
                          <a:rPr lang="en-US" altLang="zh-CN" sz="2000" i="1">
                            <a:solidFill>
                              <a:srgbClr val="000000"/>
                            </a:solidFill>
                            <a:latin typeface="Cambria Math" panose="02040503050406030204" pitchFamily="18" charset="0"/>
                            <a:cs typeface="+mn-cs"/>
                          </a:rPr>
                          <m:t>×</m:t>
                        </m:r>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𝑁</m:t>
                            </m:r>
                          </m:e>
                          <m:sub>
                            <m:r>
                              <m:rPr>
                                <m:sty m:val="p"/>
                              </m:rPr>
                              <a:rPr lang="en-US" altLang="zh-CN" sz="2000" i="1">
                                <a:solidFill>
                                  <a:srgbClr val="000000"/>
                                </a:solidFill>
                                <a:latin typeface="Cambria Math" panose="02040503050406030204" pitchFamily="18" charset="0"/>
                              </a:rPr>
                              <m:t>dm</m:t>
                            </m:r>
                          </m:sub>
                        </m:sSub>
                      </m:num>
                      <m:den>
                        <m:r>
                          <a:rPr lang="zh-CN" altLang="en-US" sz="2000" i="1" smtClean="0">
                            <a:solidFill>
                              <a:srgbClr val="000000"/>
                            </a:solidFill>
                            <a:latin typeface="Cambria Math" panose="02040503050406030204" pitchFamily="18" charset="0"/>
                            <a:cs typeface="+mn-cs"/>
                          </a:rPr>
                          <m:t>2</m:t>
                        </m:r>
                      </m:den>
                    </m:f>
                  </m:oMath>
                </a14:m>
                <a:r>
                  <a:rPr lang="zh-CN" altLang="en-US" sz="2000" dirty="0">
                    <a:solidFill>
                      <a:srgbClr val="000000"/>
                    </a:solidFill>
                    <a:latin typeface="+mn-lt"/>
                    <a:ea typeface="黑体" panose="02010609060101010101" pitchFamily="49" charset="-122"/>
                    <a:cs typeface="+mn-cs"/>
                  </a:rPr>
                  <a:t>且</a:t>
                </a:r>
                <a:r>
                  <a:rPr lang="en-US" altLang="zh-CN" sz="2000" dirty="0">
                    <a:solidFill>
                      <a:srgbClr val="000000"/>
                    </a:solidFill>
                    <a:latin typeface="+mn-lt"/>
                    <a:ea typeface="黑体" panose="02010609060101010101" pitchFamily="49" charset="-122"/>
                    <a:cs typeface="+mn-cs"/>
                  </a:rPr>
                  <a:t>K/M </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9/16 </a:t>
                </a:r>
                <a:r>
                  <a:rPr lang="zh-CN" altLang="en-US" sz="2000" dirty="0">
                    <a:solidFill>
                      <a:srgbClr val="000000"/>
                    </a:solidFill>
                    <a:latin typeface="+mn-lt"/>
                    <a:ea typeface="黑体" panose="02010609060101010101" pitchFamily="49" charset="-122"/>
                    <a:cs typeface="+mn-cs"/>
                  </a:rPr>
                  <a:t>） </a:t>
                </a:r>
                <a:endParaRPr lang="en-US" altLang="zh-CN" sz="2000" dirty="0">
                  <a:solidFill>
                    <a:srgbClr val="000000"/>
                  </a:solidFill>
                  <a:latin typeface="+mn-lt"/>
                  <a:ea typeface="黑体" panose="02010609060101010101" pitchFamily="49" charset="-122"/>
                  <a:cs typeface="+mn-cs"/>
                </a:endParaRPr>
              </a:p>
              <a:p>
                <a:pPr>
                  <a:lnSpc>
                    <a:spcPct val="150000"/>
                  </a:lnSpc>
                </a:pPr>
                <a:r>
                  <a:rPr lang="en-US" altLang="zh-CN" sz="2000" dirty="0">
                    <a:solidFill>
                      <a:srgbClr val="000000"/>
                    </a:solidFill>
                    <a:latin typeface="+mn-lt"/>
                    <a:ea typeface="黑体" panose="02010609060101010101" pitchFamily="49" charset="-122"/>
                    <a:cs typeface="+mn-cs"/>
                  </a:rPr>
                  <a:t>            </a:t>
                </a:r>
                <a:r>
                  <a:rPr lang="zh-CN" altLang="en-US" sz="2000" dirty="0">
                    <a:solidFill>
                      <a:srgbClr val="000000"/>
                    </a:solidFill>
                    <a:latin typeface="+mn-lt"/>
                    <a:ea typeface="黑体" panose="02010609060101010101" pitchFamily="49" charset="-122"/>
                    <a:cs typeface="+mn-cs"/>
                  </a:rPr>
                  <a:t>则</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𝑁</m:t>
                        </m:r>
                      </m:e>
                      <m:sub>
                        <m:r>
                          <m:rPr>
                            <m:sty m:val="p"/>
                          </m:rPr>
                          <a:rPr lang="en-US" altLang="zh-CN" sz="2000" i="1">
                            <a:solidFill>
                              <a:srgbClr val="000000"/>
                            </a:solidFill>
                            <a:latin typeface="Cambria Math" panose="02040503050406030204" pitchFamily="18" charset="0"/>
                          </a:rPr>
                          <m:t>m</m:t>
                        </m:r>
                      </m:sub>
                    </m:sSub>
                  </m:oMath>
                </a14:m>
                <a:r>
                  <a:rPr lang="en-US" altLang="zh-CN"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rPr>
                  <a:t> </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𝑁</m:t>
                        </m:r>
                      </m:e>
                      <m:sub>
                        <m:r>
                          <m:rPr>
                            <m:sty m:val="p"/>
                          </m:rPr>
                          <a:rPr lang="en-US" altLang="zh-CN" sz="2000" i="1">
                            <a:solidFill>
                              <a:srgbClr val="000000"/>
                            </a:solidFill>
                            <a:latin typeface="Cambria Math" panose="02040503050406030204" pitchFamily="18" charset="0"/>
                          </a:rPr>
                          <m:t>dm</m:t>
                        </m:r>
                      </m:sub>
                    </m:sSub>
                  </m:oMath>
                </a14:m>
                <a:r>
                  <a:rPr lang="en-US" altLang="zh-CN" sz="2000" dirty="0">
                    <a:solidFill>
                      <a:srgbClr val="000000"/>
                    </a:solidFill>
                    <a:latin typeface="+mn-lt"/>
                    <a:ea typeface="黑体" panose="02010609060101010101" pitchFamily="49" charset="-122"/>
                    <a:cs typeface="+mn-cs"/>
                  </a:rPr>
                  <a:t>/2</a:t>
                </a:r>
                <a:r>
                  <a:rPr lang="zh-CN" altLang="en-US" sz="2000" dirty="0">
                    <a:solidFill>
                      <a:srgbClr val="000000"/>
                    </a:solidFill>
                    <a:latin typeface="+mn-lt"/>
                    <a:ea typeface="黑体" panose="02010609060101010101" pitchFamily="49" charset="-122"/>
                    <a:cs typeface="+mn-cs"/>
                  </a:rPr>
                  <a:t>；否则，</a:t>
                </a:r>
                <a:r>
                  <a:rPr lang="en-US" altLang="zh-CN" sz="2000" dirty="0">
                    <a:solidFill>
                      <a:srgbClr val="000000"/>
                    </a:solidFill>
                    <a:latin typeface="+mn-lt"/>
                  </a:rPr>
                  <a:t> </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𝑁</m:t>
                        </m:r>
                      </m:e>
                      <m:sub>
                        <m:r>
                          <m:rPr>
                            <m:sty m:val="p"/>
                          </m:rPr>
                          <a:rPr lang="en-US" altLang="zh-CN" sz="2000" i="1">
                            <a:solidFill>
                              <a:srgbClr val="000000"/>
                            </a:solidFill>
                            <a:latin typeface="Cambria Math" panose="02040503050406030204" pitchFamily="18" charset="0"/>
                          </a:rPr>
                          <m:t>m</m:t>
                        </m:r>
                      </m:sub>
                    </m:sSub>
                  </m:oMath>
                </a14:m>
                <a:r>
                  <a:rPr lang="en-US" altLang="zh-CN" sz="2000" dirty="0">
                    <a:solidFill>
                      <a:srgbClr val="000000"/>
                    </a:solidFill>
                    <a:latin typeface="+mn-lt"/>
                    <a:ea typeface="黑体" panose="02010609060101010101" pitchFamily="49" charset="-122"/>
                  </a:rPr>
                  <a:t>=</a:t>
                </a:r>
                <a:r>
                  <a:rPr lang="en-US" altLang="zh-CN" sz="2000" dirty="0">
                    <a:solidFill>
                      <a:srgbClr val="000000"/>
                    </a:solidFill>
                    <a:latin typeface="+mn-lt"/>
                  </a:rPr>
                  <a:t> </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𝑁</m:t>
                        </m:r>
                      </m:e>
                      <m:sub>
                        <m:r>
                          <m:rPr>
                            <m:sty m:val="p"/>
                          </m:rPr>
                          <a:rPr lang="en-US" altLang="zh-CN" sz="2000" i="1">
                            <a:solidFill>
                              <a:srgbClr val="000000"/>
                            </a:solidFill>
                            <a:latin typeface="Cambria Math" panose="02040503050406030204" pitchFamily="18" charset="0"/>
                          </a:rPr>
                          <m:t>dm</m:t>
                        </m:r>
                      </m:sub>
                    </m:sSub>
                  </m:oMath>
                </a14:m>
                <a:r>
                  <a:rPr lang="zh-CN" altLang="en-US" sz="2000" dirty="0">
                    <a:solidFill>
                      <a:srgbClr val="000000"/>
                    </a:solidFill>
                    <a:latin typeface="+mn-lt"/>
                    <a:ea typeface="黑体" panose="02010609060101010101" pitchFamily="49" charset="-122"/>
                    <a:cs typeface="+mn-cs"/>
                  </a:rPr>
                  <a:t>。</a:t>
                </a:r>
                <a:endParaRPr lang="en-US" altLang="zh-CN" sz="2000" dirty="0">
                  <a:solidFill>
                    <a:srgbClr val="000000"/>
                  </a:solidFill>
                  <a:latin typeface="+mn-lt"/>
                  <a:ea typeface="黑体" panose="02010609060101010101" pitchFamily="49" charset="-122"/>
                  <a:cs typeface="+mn-cs"/>
                </a:endParaRPr>
              </a:p>
              <a:p>
                <a:pPr>
                  <a:lnSpc>
                    <a:spcPct val="150000"/>
                  </a:lnSpc>
                </a:pPr>
                <a:endParaRPr lang="zh-CN" altLang="en-US" sz="2000" dirty="0">
                  <a:solidFill>
                    <a:srgbClr val="000000"/>
                  </a:solidFill>
                  <a:latin typeface="黑体" panose="02010609060101010101" pitchFamily="49" charset="-122"/>
                  <a:ea typeface="黑体" panose="02010609060101010101" pitchFamily="49" charset="-122"/>
                  <a:cs typeface="+mn-cs"/>
                </a:endParaRPr>
              </a:p>
            </p:txBody>
          </p:sp>
        </mc:Choice>
        <mc:Fallback>
          <p:sp>
            <p:nvSpPr>
              <p:cNvPr id="5" name="文本框 4"/>
              <p:cNvSpPr txBox="1">
                <a:spLocks noRot="1" noChangeAspect="1" noMove="1" noResize="1" noEditPoints="1" noAdjustHandles="1" noChangeArrowheads="1" noChangeShapeType="1" noTextEdit="1"/>
              </p:cNvSpPr>
              <p:nvPr/>
            </p:nvSpPr>
            <p:spPr>
              <a:xfrm>
                <a:off x="685902" y="1371654"/>
                <a:ext cx="8381780" cy="4636847"/>
              </a:xfrm>
              <a:prstGeom prst="rect">
                <a:avLst/>
              </a:prstGeom>
              <a:blipFill rotWithShape="1">
                <a:blip r:embed="rId1"/>
                <a:stretch>
                  <a:fillRect l="-1" t="-1" r="6" b="3"/>
                </a:stretch>
              </a:blipFill>
            </p:spPr>
            <p:txBody>
              <a:bodyPr/>
              <a:lstStyle/>
              <a:p>
                <a:r>
                  <a:rPr lang="zh-CN" altLang="en-US">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876792" y="103089"/>
            <a:ext cx="4114692" cy="685800"/>
          </a:xfrm>
        </p:spPr>
        <p:txBody>
          <a:bodyPr/>
          <a:lstStyle/>
          <a:p>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的构造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速率匹配</a:t>
            </a:r>
            <a:endParaRPr lang="zh-CN" altLang="en-US" sz="2400" dirty="0">
              <a:sym typeface="+mn-ea"/>
            </a:endParaRPr>
          </a:p>
        </p:txBody>
      </p:sp>
      <p:sp>
        <p:nvSpPr>
          <p:cNvPr id="5" name="文本框 4"/>
          <p:cNvSpPr txBox="1"/>
          <p:nvPr/>
        </p:nvSpPr>
        <p:spPr>
          <a:xfrm>
            <a:off x="342981" y="914466"/>
            <a:ext cx="8458038" cy="3367268"/>
          </a:xfrm>
          <a:prstGeom prst="rect">
            <a:avLst/>
          </a:prstGeom>
          <a:noFill/>
        </p:spPr>
        <p:txBody>
          <a:bodyPr wrap="square">
            <a:spAutoFit/>
          </a:bodyPr>
          <a:lstStyle/>
          <a:p>
            <a:pPr>
              <a:lnSpc>
                <a:spcPct val="150000"/>
              </a:lnSpc>
            </a:pPr>
            <a:r>
              <a:rPr lang="zh-CN" altLang="en-US" sz="2000" dirty="0">
                <a:solidFill>
                  <a:srgbClr val="000000"/>
                </a:solidFill>
                <a:latin typeface="黑体" panose="02010609060101010101" pitchFamily="49" charset="-122"/>
                <a:ea typeface="黑体" panose="02010609060101010101" pitchFamily="49" charset="-122"/>
                <a:cs typeface="+mn-cs"/>
              </a:rPr>
              <a:t>速率匹配（选取比特）过程</a:t>
            </a:r>
            <a:r>
              <a:rPr lang="en-US" altLang="zh-CN" sz="2000" dirty="0">
                <a:solidFill>
                  <a:srgbClr val="000000"/>
                </a:solidFill>
                <a:latin typeface="黑体" panose="02010609060101010101" pitchFamily="49" charset="-122"/>
                <a:ea typeface="黑体" panose="02010609060101010101" pitchFamily="49" charset="-122"/>
                <a:cs typeface="+mn-cs"/>
              </a:rPr>
              <a:t>:</a:t>
            </a:r>
            <a:endParaRPr lang="en-US" altLang="zh-CN" sz="2000" dirty="0">
              <a:solidFill>
                <a:srgbClr val="000000"/>
              </a:solidFill>
              <a:latin typeface="黑体" panose="02010609060101010101" pitchFamily="49" charset="-122"/>
              <a:ea typeface="黑体" panose="02010609060101010101" pitchFamily="49" charset="-122"/>
              <a:cs typeface="+mn-cs"/>
            </a:endParaRPr>
          </a:p>
          <a:p>
            <a:pPr>
              <a:lnSpc>
                <a:spcPct val="150000"/>
              </a:lnSpc>
            </a:pPr>
            <a:endParaRPr lang="en-US" altLang="zh-CN" sz="2000" dirty="0">
              <a:solidFill>
                <a:srgbClr val="000000"/>
              </a:solidFill>
              <a:latin typeface="黑体" panose="02010609060101010101" pitchFamily="49" charset="-122"/>
              <a:ea typeface="黑体" panose="02010609060101010101" pitchFamily="49" charset="-122"/>
              <a:cs typeface="+mn-cs"/>
            </a:endParaRPr>
          </a:p>
          <a:p>
            <a:pPr>
              <a:lnSpc>
                <a:spcPct val="200000"/>
              </a:lnSpc>
            </a:pPr>
            <a:r>
              <a:rPr lang="zh-CN" altLang="en-US" sz="2000" dirty="0">
                <a:solidFill>
                  <a:srgbClr val="000000"/>
                </a:solidFill>
                <a:highlight>
                  <a:srgbClr val="FFFF00"/>
                </a:highlight>
                <a:latin typeface="+mn-lt"/>
                <a:ea typeface="黑体" panose="02010609060101010101" pitchFamily="49" charset="-122"/>
                <a:cs typeface="+mn-cs"/>
              </a:rPr>
              <a:t>第一步</a:t>
            </a:r>
            <a:r>
              <a:rPr lang="zh-CN" altLang="en-US" sz="2000" dirty="0">
                <a:solidFill>
                  <a:srgbClr val="000000"/>
                </a:solidFill>
                <a:latin typeface="+mn-lt"/>
                <a:ea typeface="黑体" panose="02010609060101010101" pitchFamily="49" charset="-122"/>
                <a:cs typeface="+mn-cs"/>
              </a:rPr>
              <a:t>：将编码之后的比特写入循环缓冲区。</a:t>
            </a:r>
            <a:endParaRPr lang="en-US" altLang="zh-CN" sz="2000" dirty="0">
              <a:solidFill>
                <a:srgbClr val="000000"/>
              </a:solidFill>
              <a:latin typeface="+mn-lt"/>
              <a:ea typeface="黑体" panose="02010609060101010101" pitchFamily="49" charset="-122"/>
              <a:cs typeface="+mn-cs"/>
            </a:endParaRPr>
          </a:p>
          <a:p>
            <a:pPr>
              <a:lnSpc>
                <a:spcPct val="200000"/>
              </a:lnSpc>
            </a:pPr>
            <a:r>
              <a:rPr lang="zh-CN" altLang="en-US" sz="2000" dirty="0">
                <a:solidFill>
                  <a:srgbClr val="000000"/>
                </a:solidFill>
                <a:highlight>
                  <a:srgbClr val="FFFF00"/>
                </a:highlight>
                <a:latin typeface="+mn-lt"/>
                <a:ea typeface="黑体" panose="02010609060101010101" pitchFamily="49" charset="-122"/>
                <a:cs typeface="+mn-cs"/>
              </a:rPr>
              <a:t>第二步</a:t>
            </a:r>
            <a:r>
              <a:rPr lang="zh-CN" altLang="en-US" sz="2000" dirty="0">
                <a:solidFill>
                  <a:srgbClr val="000000"/>
                </a:solidFill>
                <a:latin typeface="+mn-lt"/>
                <a:ea typeface="黑体" panose="02010609060101010101" pitchFamily="49" charset="-122"/>
                <a:cs typeface="+mn-cs"/>
              </a:rPr>
              <a:t>：若</a:t>
            </a:r>
            <a:r>
              <a:rPr lang="en-US" altLang="zh-CN" sz="2000" dirty="0">
                <a:solidFill>
                  <a:srgbClr val="000000"/>
                </a:solidFill>
                <a:latin typeface="+mn-lt"/>
                <a:ea typeface="黑体" panose="02010609060101010101" pitchFamily="49" charset="-122"/>
                <a:cs typeface="+mn-cs"/>
              </a:rPr>
              <a:t>M=N</a:t>
            </a:r>
            <a:r>
              <a:rPr lang="zh-CN" altLang="en-US" sz="2000" dirty="0">
                <a:solidFill>
                  <a:srgbClr val="000000"/>
                </a:solidFill>
                <a:latin typeface="+mn-lt"/>
                <a:ea typeface="黑体" panose="02010609060101010101" pitchFamily="49" charset="-122"/>
                <a:cs typeface="+mn-cs"/>
              </a:rPr>
              <a:t>，则没有操作。</a:t>
            </a:r>
            <a:endParaRPr lang="en-US" altLang="zh-CN" sz="2000" dirty="0">
              <a:solidFill>
                <a:srgbClr val="000000"/>
              </a:solidFill>
              <a:latin typeface="+mn-lt"/>
              <a:ea typeface="黑体" panose="02010609060101010101" pitchFamily="49" charset="-122"/>
              <a:cs typeface="+mn-cs"/>
            </a:endParaRPr>
          </a:p>
          <a:p>
            <a:pPr>
              <a:lnSpc>
                <a:spcPct val="200000"/>
              </a:lnSpc>
            </a:pPr>
            <a:r>
              <a:rPr lang="zh-CN" altLang="en-US" sz="2000" dirty="0">
                <a:solidFill>
                  <a:srgbClr val="000000"/>
                </a:solidFill>
                <a:highlight>
                  <a:srgbClr val="FFFF00"/>
                </a:highlight>
                <a:latin typeface="+mn-lt"/>
                <a:ea typeface="黑体" panose="02010609060101010101" pitchFamily="49" charset="-122"/>
                <a:cs typeface="+mn-cs"/>
              </a:rPr>
              <a:t>第三步</a:t>
            </a:r>
            <a:r>
              <a:rPr lang="zh-CN" altLang="en-US" sz="2000" dirty="0">
                <a:solidFill>
                  <a:srgbClr val="000000"/>
                </a:solidFill>
                <a:latin typeface="+mn-lt"/>
                <a:ea typeface="黑体" panose="02010609060101010101" pitchFamily="49" charset="-122"/>
                <a:cs typeface="+mn-cs"/>
              </a:rPr>
              <a:t>：若</a:t>
            </a:r>
            <a:r>
              <a:rPr lang="en-US" altLang="zh-CN" sz="2000" dirty="0">
                <a:solidFill>
                  <a:srgbClr val="000000"/>
                </a:solidFill>
                <a:latin typeface="+mn-lt"/>
                <a:ea typeface="黑体" panose="02010609060101010101" pitchFamily="49" charset="-122"/>
                <a:cs typeface="+mn-cs"/>
              </a:rPr>
              <a:t>M</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N</a:t>
            </a:r>
            <a:r>
              <a:rPr lang="zh-CN" altLang="en-US" sz="2000" dirty="0">
                <a:solidFill>
                  <a:srgbClr val="000000"/>
                </a:solidFill>
                <a:latin typeface="+mn-lt"/>
                <a:ea typeface="黑体" panose="02010609060101010101" pitchFamily="49" charset="-122"/>
                <a:cs typeface="+mn-cs"/>
              </a:rPr>
              <a:t>，并且码率</a:t>
            </a:r>
            <a:r>
              <a:rPr lang="en-US" altLang="zh-CN" sz="2000" dirty="0">
                <a:solidFill>
                  <a:srgbClr val="000000"/>
                </a:solidFill>
                <a:latin typeface="+mn-lt"/>
                <a:ea typeface="黑体" panose="02010609060101010101" pitchFamily="49" charset="-122"/>
                <a:cs typeface="+mn-cs"/>
              </a:rPr>
              <a:t>K/M</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7/16</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a:t>
            </a:r>
            <a:r>
              <a:rPr lang="zh-CN" altLang="en-US" sz="2000" dirty="0">
                <a:solidFill>
                  <a:srgbClr val="000000"/>
                </a:solidFill>
                <a:latin typeface="+mn-lt"/>
                <a:ea typeface="黑体" panose="02010609060101010101" pitchFamily="49" charset="-122"/>
                <a:cs typeface="+mn-cs"/>
              </a:rPr>
              <a:t>使用打孔方式。即从第</a:t>
            </a:r>
            <a:r>
              <a:rPr lang="en-US" altLang="zh-CN" sz="2000" dirty="0">
                <a:solidFill>
                  <a:srgbClr val="000000"/>
                </a:solidFill>
                <a:latin typeface="+mn-lt"/>
                <a:ea typeface="黑体" panose="02010609060101010101" pitchFamily="49" charset="-122"/>
                <a:cs typeface="+mn-cs"/>
              </a:rPr>
              <a:t>N-M+1</a:t>
            </a:r>
            <a:r>
              <a:rPr lang="zh-CN" altLang="en-US" sz="2000" dirty="0">
                <a:solidFill>
                  <a:srgbClr val="000000"/>
                </a:solidFill>
                <a:latin typeface="+mn-lt"/>
                <a:ea typeface="黑体" panose="02010609060101010101" pitchFamily="49" charset="-122"/>
                <a:cs typeface="+mn-cs"/>
              </a:rPr>
              <a:t>个比特开始选取，直到最后一个比特。</a:t>
            </a:r>
            <a:endParaRPr lang="en-US" altLang="zh-CN" sz="2000" dirty="0">
              <a:solidFill>
                <a:srgbClr val="000000"/>
              </a:solidFill>
              <a:latin typeface="+mn-lt"/>
              <a:ea typeface="黑体" panose="02010609060101010101" pitchFamily="49" charset="-122"/>
              <a:cs typeface="+mn-cs"/>
            </a:endParaRPr>
          </a:p>
        </p:txBody>
      </p:sp>
      <p:pic>
        <p:nvPicPr>
          <p:cNvPr id="3" name="图片 2"/>
          <p:cNvPicPr>
            <a:picLocks noChangeAspect="1"/>
          </p:cNvPicPr>
          <p:nvPr/>
        </p:nvPicPr>
        <p:blipFill>
          <a:blip r:embed="rId1"/>
          <a:stretch>
            <a:fillRect/>
          </a:stretch>
        </p:blipFill>
        <p:spPr>
          <a:xfrm>
            <a:off x="2209862" y="4376781"/>
            <a:ext cx="4921558" cy="228597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876792" y="103089"/>
            <a:ext cx="4114692" cy="685800"/>
          </a:xfrm>
        </p:spPr>
        <p:txBody>
          <a:bodyPr/>
          <a:lstStyle/>
          <a:p>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码的</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速率匹配</a:t>
            </a:r>
            <a:endParaRPr lang="zh-CN" altLang="en-US" sz="2400" dirty="0">
              <a:sym typeface="+mn-ea"/>
            </a:endParaRPr>
          </a:p>
        </p:txBody>
      </p:sp>
      <p:sp>
        <p:nvSpPr>
          <p:cNvPr id="5" name="文本框 4"/>
          <p:cNvSpPr txBox="1"/>
          <p:nvPr/>
        </p:nvSpPr>
        <p:spPr>
          <a:xfrm>
            <a:off x="342981" y="1015613"/>
            <a:ext cx="8458038" cy="2443939"/>
          </a:xfrm>
          <a:prstGeom prst="rect">
            <a:avLst/>
          </a:prstGeom>
          <a:noFill/>
        </p:spPr>
        <p:txBody>
          <a:bodyPr wrap="square">
            <a:spAutoFit/>
          </a:bodyPr>
          <a:lstStyle/>
          <a:p>
            <a:pPr>
              <a:lnSpc>
                <a:spcPct val="200000"/>
              </a:lnSpc>
            </a:pPr>
            <a:r>
              <a:rPr lang="zh-CN" altLang="en-US" sz="2000" dirty="0">
                <a:solidFill>
                  <a:srgbClr val="000000"/>
                </a:solidFill>
                <a:highlight>
                  <a:srgbClr val="FFFF00"/>
                </a:highlight>
                <a:latin typeface="+mn-lt"/>
                <a:ea typeface="黑体" panose="02010609060101010101" pitchFamily="49" charset="-122"/>
                <a:cs typeface="+mn-cs"/>
              </a:rPr>
              <a:t>第四步</a:t>
            </a:r>
            <a:r>
              <a:rPr lang="zh-CN" altLang="en-US" sz="2000" dirty="0">
                <a:solidFill>
                  <a:srgbClr val="000000"/>
                </a:solidFill>
                <a:latin typeface="+mn-lt"/>
                <a:ea typeface="黑体" panose="02010609060101010101" pitchFamily="49" charset="-122"/>
                <a:cs typeface="+mn-cs"/>
              </a:rPr>
              <a:t>：若</a:t>
            </a:r>
            <a:r>
              <a:rPr lang="en-US" altLang="zh-CN" sz="2000" dirty="0">
                <a:solidFill>
                  <a:srgbClr val="000000"/>
                </a:solidFill>
                <a:latin typeface="+mn-lt"/>
                <a:ea typeface="黑体" panose="02010609060101010101" pitchFamily="49" charset="-122"/>
                <a:cs typeface="+mn-cs"/>
              </a:rPr>
              <a:t>M</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N</a:t>
            </a:r>
            <a:r>
              <a:rPr lang="zh-CN" altLang="en-US" sz="2000" dirty="0">
                <a:solidFill>
                  <a:srgbClr val="000000"/>
                </a:solidFill>
                <a:latin typeface="+mn-lt"/>
                <a:ea typeface="黑体" panose="02010609060101010101" pitchFamily="49" charset="-122"/>
                <a:cs typeface="+mn-cs"/>
              </a:rPr>
              <a:t>，并且码率</a:t>
            </a:r>
            <a:r>
              <a:rPr lang="en-US" altLang="zh-CN" sz="2000" dirty="0">
                <a:solidFill>
                  <a:srgbClr val="000000"/>
                </a:solidFill>
                <a:latin typeface="+mn-lt"/>
                <a:ea typeface="黑体" panose="02010609060101010101" pitchFamily="49" charset="-122"/>
                <a:cs typeface="+mn-cs"/>
              </a:rPr>
              <a:t>K/M</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7/16</a:t>
            </a:r>
            <a:r>
              <a:rPr lang="zh-CN" altLang="en-US" sz="2000" dirty="0">
                <a:solidFill>
                  <a:srgbClr val="000000"/>
                </a:solidFill>
                <a:latin typeface="+mn-lt"/>
                <a:ea typeface="黑体" panose="02010609060101010101" pitchFamily="49" charset="-122"/>
                <a:cs typeface="+mn-cs"/>
              </a:rPr>
              <a:t>），使用缩短方式。即从第一个比特开始选取，直到第</a:t>
            </a:r>
            <a:r>
              <a:rPr lang="en-US" altLang="zh-CN" sz="2000" dirty="0">
                <a:solidFill>
                  <a:srgbClr val="000000"/>
                </a:solidFill>
                <a:latin typeface="+mn-lt"/>
                <a:ea typeface="黑体" panose="02010609060101010101" pitchFamily="49" charset="-122"/>
                <a:cs typeface="+mn-cs"/>
              </a:rPr>
              <a:t>M</a:t>
            </a:r>
            <a:r>
              <a:rPr lang="zh-CN" altLang="en-US" sz="2000" dirty="0">
                <a:solidFill>
                  <a:srgbClr val="000000"/>
                </a:solidFill>
                <a:latin typeface="+mn-lt"/>
                <a:ea typeface="黑体" panose="02010609060101010101" pitchFamily="49" charset="-122"/>
                <a:cs typeface="+mn-cs"/>
              </a:rPr>
              <a:t>个比特。</a:t>
            </a:r>
            <a:endParaRPr lang="en-US" altLang="zh-CN" sz="2000" dirty="0">
              <a:solidFill>
                <a:srgbClr val="000000"/>
              </a:solidFill>
              <a:latin typeface="+mn-lt"/>
              <a:ea typeface="黑体" panose="02010609060101010101" pitchFamily="49" charset="-122"/>
              <a:cs typeface="+mn-cs"/>
            </a:endParaRPr>
          </a:p>
          <a:p>
            <a:pPr>
              <a:lnSpc>
                <a:spcPct val="200000"/>
              </a:lnSpc>
            </a:pPr>
            <a:r>
              <a:rPr lang="zh-CN" altLang="en-US" sz="2000" dirty="0">
                <a:solidFill>
                  <a:srgbClr val="000000"/>
                </a:solidFill>
                <a:highlight>
                  <a:srgbClr val="FFFF00"/>
                </a:highlight>
                <a:latin typeface="+mn-lt"/>
                <a:ea typeface="黑体" panose="02010609060101010101" pitchFamily="49" charset="-122"/>
                <a:cs typeface="+mn-cs"/>
              </a:rPr>
              <a:t>第五步</a:t>
            </a:r>
            <a:r>
              <a:rPr lang="zh-CN" altLang="en-US" sz="2000" dirty="0">
                <a:solidFill>
                  <a:srgbClr val="000000"/>
                </a:solidFill>
                <a:latin typeface="+mn-lt"/>
                <a:ea typeface="黑体" panose="02010609060101010101" pitchFamily="49" charset="-122"/>
                <a:cs typeface="+mn-cs"/>
              </a:rPr>
              <a:t>：若</a:t>
            </a:r>
            <a:r>
              <a:rPr lang="en-US" altLang="zh-CN" sz="2000" dirty="0">
                <a:solidFill>
                  <a:srgbClr val="000000"/>
                </a:solidFill>
                <a:latin typeface="+mn-lt"/>
                <a:ea typeface="黑体" panose="02010609060101010101" pitchFamily="49" charset="-122"/>
                <a:cs typeface="+mn-cs"/>
              </a:rPr>
              <a:t>M</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N</a:t>
            </a:r>
            <a:r>
              <a:rPr lang="zh-CN" altLang="en-US" sz="2000" dirty="0">
                <a:solidFill>
                  <a:srgbClr val="000000"/>
                </a:solidFill>
                <a:latin typeface="+mn-lt"/>
                <a:ea typeface="黑体" panose="02010609060101010101" pitchFamily="49" charset="-122"/>
                <a:cs typeface="+mn-cs"/>
              </a:rPr>
              <a:t>，则使用重复方式。除去要取出</a:t>
            </a:r>
            <a:r>
              <a:rPr lang="en-US" altLang="zh-CN" sz="2000" dirty="0">
                <a:solidFill>
                  <a:srgbClr val="000000"/>
                </a:solidFill>
                <a:latin typeface="+mn-lt"/>
                <a:ea typeface="黑体" panose="02010609060101010101" pitchFamily="49" charset="-122"/>
                <a:cs typeface="+mn-cs"/>
              </a:rPr>
              <a:t>N</a:t>
            </a:r>
            <a:r>
              <a:rPr lang="zh-CN" altLang="en-US" sz="2000" dirty="0">
                <a:solidFill>
                  <a:srgbClr val="000000"/>
                </a:solidFill>
                <a:latin typeface="+mn-lt"/>
                <a:ea typeface="黑体" panose="02010609060101010101" pitchFamily="49" charset="-122"/>
                <a:cs typeface="+mn-cs"/>
              </a:rPr>
              <a:t>比特之外，还需要取第一个到第</a:t>
            </a:r>
            <a:r>
              <a:rPr lang="en-US" altLang="zh-CN" sz="2000" dirty="0">
                <a:solidFill>
                  <a:srgbClr val="000000"/>
                </a:solidFill>
                <a:latin typeface="+mn-lt"/>
                <a:ea typeface="黑体" panose="02010609060101010101" pitchFamily="49" charset="-122"/>
                <a:cs typeface="+mn-cs"/>
              </a:rPr>
              <a:t>mod[(M-N),N]</a:t>
            </a:r>
            <a:r>
              <a:rPr lang="zh-CN" altLang="en-US" sz="2000" dirty="0">
                <a:solidFill>
                  <a:srgbClr val="000000"/>
                </a:solidFill>
                <a:latin typeface="+mn-lt"/>
                <a:ea typeface="黑体" panose="02010609060101010101" pitchFamily="49" charset="-122"/>
                <a:cs typeface="+mn-cs"/>
              </a:rPr>
              <a:t>个比特（对</a:t>
            </a:r>
            <a:r>
              <a:rPr lang="en-US" altLang="zh-CN" sz="2000" dirty="0">
                <a:solidFill>
                  <a:srgbClr val="000000"/>
                </a:solidFill>
                <a:latin typeface="+mn-lt"/>
                <a:ea typeface="黑体" panose="02010609060101010101" pitchFamily="49" charset="-122"/>
                <a:cs typeface="+mn-cs"/>
              </a:rPr>
              <a:t>M-N</a:t>
            </a:r>
            <a:r>
              <a:rPr lang="zh-CN" altLang="en-US" sz="2000" dirty="0">
                <a:solidFill>
                  <a:srgbClr val="000000"/>
                </a:solidFill>
                <a:latin typeface="+mn-lt"/>
                <a:ea typeface="黑体" panose="02010609060101010101" pitchFamily="49" charset="-122"/>
                <a:cs typeface="+mn-cs"/>
              </a:rPr>
              <a:t>取</a:t>
            </a:r>
            <a:r>
              <a:rPr lang="en-US" altLang="zh-CN" sz="2000" dirty="0">
                <a:solidFill>
                  <a:srgbClr val="000000"/>
                </a:solidFill>
                <a:latin typeface="+mn-lt"/>
                <a:ea typeface="黑体" panose="02010609060101010101" pitchFamily="49" charset="-122"/>
                <a:cs typeface="+mn-cs"/>
              </a:rPr>
              <a:t>N</a:t>
            </a:r>
            <a:r>
              <a:rPr lang="zh-CN" altLang="en-US" sz="2000" dirty="0">
                <a:solidFill>
                  <a:srgbClr val="000000"/>
                </a:solidFill>
                <a:latin typeface="+mn-lt"/>
                <a:ea typeface="黑体" panose="02010609060101010101" pitchFamily="49" charset="-122"/>
                <a:cs typeface="+mn-cs"/>
              </a:rPr>
              <a:t>的模）。</a:t>
            </a:r>
            <a:endParaRPr lang="en-US" altLang="zh-CN" sz="2000" dirty="0">
              <a:solidFill>
                <a:srgbClr val="000000"/>
              </a:solidFill>
              <a:latin typeface="+mn-lt"/>
              <a:ea typeface="黑体" panose="02010609060101010101" pitchFamily="49" charset="-122"/>
              <a:cs typeface="+mn-cs"/>
            </a:endParaRPr>
          </a:p>
        </p:txBody>
      </p:sp>
      <p:pic>
        <p:nvPicPr>
          <p:cNvPr id="3" name="图片 2"/>
          <p:cNvPicPr>
            <a:picLocks noChangeAspect="1"/>
          </p:cNvPicPr>
          <p:nvPr/>
        </p:nvPicPr>
        <p:blipFill>
          <a:blip r:embed="rId1"/>
          <a:stretch>
            <a:fillRect/>
          </a:stretch>
        </p:blipFill>
        <p:spPr>
          <a:xfrm>
            <a:off x="2111221" y="4114782"/>
            <a:ext cx="4921558" cy="228597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105386" y="152468"/>
            <a:ext cx="3886098" cy="685800"/>
          </a:xfrm>
        </p:spPr>
        <p:txBody>
          <a:bodyPr/>
          <a:lstStyle/>
          <a:p>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码的</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后交织</a:t>
            </a:r>
            <a:endParaRPr lang="zh-CN" altLang="en-US" sz="2400" dirty="0">
              <a:sym typeface="+mn-ea"/>
            </a:endParaRPr>
          </a:p>
        </p:txBody>
      </p:sp>
      <p:sp>
        <p:nvSpPr>
          <p:cNvPr id="6" name="文本框 5"/>
          <p:cNvSpPr txBox="1"/>
          <p:nvPr/>
        </p:nvSpPr>
        <p:spPr>
          <a:xfrm>
            <a:off x="190615" y="762000"/>
            <a:ext cx="8762770" cy="3713517"/>
          </a:xfrm>
          <a:prstGeom prst="rect">
            <a:avLst/>
          </a:prstGeom>
          <a:noFill/>
        </p:spPr>
        <p:txBody>
          <a:bodyPr wrap="square">
            <a:spAutoFit/>
          </a:bodyPr>
          <a:lstStyle/>
          <a:p>
            <a:pPr>
              <a:lnSpc>
                <a:spcPct val="150000"/>
              </a:lnSpc>
            </a:pPr>
            <a:r>
              <a:rPr lang="zh-CN" altLang="en-US" sz="2000" dirty="0">
                <a:solidFill>
                  <a:srgbClr val="000000"/>
                </a:solidFill>
                <a:latin typeface="+mn-lt"/>
                <a:ea typeface="黑体" panose="02010609060101010101" pitchFamily="49" charset="-122"/>
                <a:cs typeface="+mn-cs"/>
              </a:rPr>
              <a:t>        交织是指将信息块中的比特顺序打乱，使前后比特之间尽可能减少关联性。有助于对抗突发干扰。本部分讲述后交织（交织规模较大），对时延影响较大。</a:t>
            </a:r>
            <a:endParaRPr lang="en-US" altLang="zh-CN" sz="2000" dirty="0">
              <a:solidFill>
                <a:srgbClr val="000000"/>
              </a:solidFill>
              <a:latin typeface="+mn-lt"/>
              <a:ea typeface="黑体" panose="02010609060101010101" pitchFamily="49" charset="-122"/>
              <a:cs typeface="+mn-cs"/>
            </a:endParaRPr>
          </a:p>
          <a:p>
            <a:pPr>
              <a:lnSpc>
                <a:spcPct val="150000"/>
              </a:lnSpc>
            </a:pPr>
            <a:r>
              <a:rPr lang="zh-CN" altLang="en-US" sz="2000" dirty="0">
                <a:solidFill>
                  <a:srgbClr val="000000"/>
                </a:solidFill>
                <a:latin typeface="+mn-lt"/>
                <a:ea typeface="黑体" panose="02010609060101010101" pitchFamily="49" charset="-122"/>
                <a:cs typeface="+mn-cs"/>
              </a:rPr>
              <a:t>一、等腰直角三角形交织</a:t>
            </a:r>
            <a:endParaRPr lang="en-US" altLang="zh-CN" sz="2000" dirty="0">
              <a:solidFill>
                <a:srgbClr val="000000"/>
              </a:solidFill>
              <a:latin typeface="+mn-lt"/>
              <a:ea typeface="黑体" panose="02010609060101010101" pitchFamily="49" charset="-122"/>
              <a:cs typeface="+mn-cs"/>
            </a:endParaRPr>
          </a:p>
          <a:p>
            <a:pPr>
              <a:lnSpc>
                <a:spcPct val="150000"/>
              </a:lnSpc>
            </a:pPr>
            <a:r>
              <a:rPr lang="zh-CN" altLang="en-US" sz="2000" dirty="0">
                <a:solidFill>
                  <a:srgbClr val="000000"/>
                </a:solidFill>
                <a:latin typeface="+mn-lt"/>
                <a:ea typeface="黑体" panose="02010609060101010101" pitchFamily="49" charset="-122"/>
                <a:cs typeface="+mn-cs"/>
              </a:rPr>
              <a:t>   设直角边长</a:t>
            </a:r>
            <a:r>
              <a:rPr lang="en-US" altLang="zh-CN" sz="2000" dirty="0">
                <a:solidFill>
                  <a:srgbClr val="000000"/>
                </a:solidFill>
                <a:latin typeface="+mn-lt"/>
                <a:ea typeface="黑体" panose="02010609060101010101" pitchFamily="49" charset="-122"/>
                <a:cs typeface="+mn-cs"/>
              </a:rPr>
              <a:t>P</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3GPP</a:t>
            </a:r>
            <a:r>
              <a:rPr lang="zh-CN" altLang="en-US" sz="2000" dirty="0">
                <a:solidFill>
                  <a:srgbClr val="000000"/>
                </a:solidFill>
                <a:latin typeface="+mn-lt"/>
                <a:ea typeface="黑体" panose="02010609060101010101" pitchFamily="49" charset="-122"/>
                <a:cs typeface="+mn-cs"/>
              </a:rPr>
              <a:t>规定交织器最大</a:t>
            </a:r>
            <a:r>
              <a:rPr lang="en-US" altLang="zh-CN" sz="2000" dirty="0">
                <a:solidFill>
                  <a:srgbClr val="000000"/>
                </a:solidFill>
                <a:latin typeface="+mn-lt"/>
                <a:ea typeface="黑体" panose="02010609060101010101" pitchFamily="49" charset="-122"/>
                <a:cs typeface="+mn-cs"/>
              </a:rPr>
              <a:t>8192bit</a:t>
            </a:r>
            <a:r>
              <a:rPr lang="zh-CN" altLang="en-US" sz="2000" dirty="0">
                <a:solidFill>
                  <a:srgbClr val="000000"/>
                </a:solidFill>
                <a:latin typeface="+mn-lt"/>
                <a:ea typeface="黑体" panose="02010609060101010101" pitchFamily="49" charset="-122"/>
                <a:cs typeface="+mn-cs"/>
              </a:rPr>
              <a:t>，即</a:t>
            </a:r>
            <a:r>
              <a:rPr lang="en-US" altLang="zh-CN" sz="2000" dirty="0">
                <a:solidFill>
                  <a:srgbClr val="000000"/>
                </a:solidFill>
                <a:latin typeface="+mn-lt"/>
                <a:ea typeface="黑体" panose="02010609060101010101" pitchFamily="49" charset="-122"/>
                <a:cs typeface="+mn-cs"/>
              </a:rPr>
              <a:t>P×P/2 </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8192</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P</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128</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M</a:t>
            </a:r>
            <a:r>
              <a:rPr lang="zh-CN" altLang="en-US" sz="2000" dirty="0">
                <a:solidFill>
                  <a:srgbClr val="000000"/>
                </a:solidFill>
                <a:latin typeface="+mn-lt"/>
                <a:ea typeface="黑体" panose="02010609060101010101" pitchFamily="49" charset="-122"/>
                <a:cs typeface="+mn-cs"/>
              </a:rPr>
              <a:t>为速率匹配后的比特数，边长</a:t>
            </a:r>
            <a:r>
              <a:rPr lang="en-US" altLang="zh-CN" sz="2000" dirty="0">
                <a:solidFill>
                  <a:srgbClr val="000000"/>
                </a:solidFill>
                <a:latin typeface="+mn-lt"/>
                <a:ea typeface="黑体" panose="02010609060101010101" pitchFamily="49" charset="-122"/>
                <a:cs typeface="+mn-cs"/>
              </a:rPr>
              <a:t>P</a:t>
            </a:r>
            <a:r>
              <a:rPr lang="zh-CN" altLang="en-US" sz="2000" dirty="0">
                <a:solidFill>
                  <a:srgbClr val="000000"/>
                </a:solidFill>
                <a:latin typeface="+mn-lt"/>
                <a:ea typeface="黑体" panose="02010609060101010101" pitchFamily="49" charset="-122"/>
                <a:cs typeface="+mn-cs"/>
              </a:rPr>
              <a:t>满足</a:t>
            </a:r>
            <a:r>
              <a:rPr lang="en-US" altLang="zh-CN" sz="2000" dirty="0">
                <a:solidFill>
                  <a:srgbClr val="000000"/>
                </a:solidFill>
                <a:latin typeface="+mn-lt"/>
                <a:ea typeface="黑体" panose="02010609060101010101" pitchFamily="49" charset="-122"/>
                <a:cs typeface="+mn-cs"/>
              </a:rPr>
              <a:t>P×</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P+1</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/2</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M</a:t>
            </a:r>
            <a:r>
              <a:rPr lang="zh-CN" altLang="en-US" sz="2000" dirty="0">
                <a:solidFill>
                  <a:srgbClr val="000000"/>
                </a:solidFill>
                <a:latin typeface="+mn-lt"/>
                <a:ea typeface="黑体" panose="02010609060101010101" pitchFamily="49" charset="-122"/>
                <a:cs typeface="+mn-cs"/>
              </a:rPr>
              <a:t>。需按行写入，按列读出。如果</a:t>
            </a:r>
            <a:r>
              <a:rPr lang="en-US" altLang="zh-CN" sz="2000" dirty="0">
                <a:solidFill>
                  <a:srgbClr val="000000"/>
                </a:solidFill>
                <a:latin typeface="+mn-lt"/>
                <a:ea typeface="黑体" panose="02010609060101010101" pitchFamily="49" charset="-122"/>
                <a:cs typeface="+mn-cs"/>
              </a:rPr>
              <a:t>P×</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P+1</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/2</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M</a:t>
            </a:r>
            <a:r>
              <a:rPr lang="zh-CN" altLang="en-US" sz="2000" dirty="0">
                <a:solidFill>
                  <a:srgbClr val="000000"/>
                </a:solidFill>
                <a:latin typeface="+mn-lt"/>
                <a:ea typeface="黑体" panose="02010609060101010101" pitchFamily="49" charset="-122"/>
                <a:cs typeface="+mn-cs"/>
              </a:rPr>
              <a:t>，需要在最后添加哑元（</a:t>
            </a:r>
            <a:r>
              <a:rPr lang="en-US" altLang="zh-CN" sz="2000" dirty="0">
                <a:solidFill>
                  <a:srgbClr val="000000"/>
                </a:solidFill>
                <a:latin typeface="+mn-lt"/>
                <a:ea typeface="黑体" panose="02010609060101010101" pitchFamily="49" charset="-122"/>
                <a:cs typeface="+mn-cs"/>
              </a:rPr>
              <a:t>NULL</a:t>
            </a:r>
            <a:r>
              <a:rPr lang="zh-CN" altLang="en-US" sz="2000" dirty="0">
                <a:solidFill>
                  <a:srgbClr val="000000"/>
                </a:solidFill>
                <a:latin typeface="+mn-lt"/>
                <a:ea typeface="黑体" panose="02010609060101010101" pitchFamily="49" charset="-122"/>
                <a:cs typeface="+mn-cs"/>
              </a:rPr>
              <a:t>）</a:t>
            </a:r>
            <a:r>
              <a:rPr lang="en-US" altLang="zh-CN" sz="2000" dirty="0">
                <a:solidFill>
                  <a:srgbClr val="000000"/>
                </a:solidFill>
                <a:latin typeface="+mn-lt"/>
                <a:ea typeface="黑体" panose="02010609060101010101" pitchFamily="49" charset="-122"/>
                <a:cs typeface="+mn-cs"/>
              </a:rPr>
              <a:t>,</a:t>
            </a:r>
            <a:r>
              <a:rPr lang="zh-CN" altLang="en-US" sz="2000" dirty="0">
                <a:solidFill>
                  <a:srgbClr val="000000"/>
                </a:solidFill>
                <a:latin typeface="+mn-lt"/>
                <a:ea typeface="黑体" panose="02010609060101010101" pitchFamily="49" charset="-122"/>
                <a:cs typeface="+mn-cs"/>
              </a:rPr>
              <a:t>读出时碰到</a:t>
            </a:r>
            <a:r>
              <a:rPr lang="en-US" altLang="zh-CN" sz="2000" dirty="0">
                <a:solidFill>
                  <a:srgbClr val="000000"/>
                </a:solidFill>
                <a:latin typeface="+mn-lt"/>
                <a:ea typeface="黑体" panose="02010609060101010101" pitchFamily="49" charset="-122"/>
                <a:cs typeface="+mn-cs"/>
              </a:rPr>
              <a:t>NULL</a:t>
            </a:r>
            <a:r>
              <a:rPr lang="zh-CN" altLang="en-US" sz="2000" dirty="0">
                <a:solidFill>
                  <a:srgbClr val="000000"/>
                </a:solidFill>
                <a:latin typeface="+mn-lt"/>
                <a:ea typeface="黑体" panose="02010609060101010101" pitchFamily="49" charset="-122"/>
                <a:cs typeface="+mn-cs"/>
              </a:rPr>
              <a:t>则丢弃。</a:t>
            </a:r>
            <a:endParaRPr lang="zh-CN" altLang="en-US" sz="2000" dirty="0">
              <a:solidFill>
                <a:srgbClr val="000000"/>
              </a:solidFill>
              <a:latin typeface="+mn-lt"/>
              <a:ea typeface="黑体" panose="02010609060101010101" pitchFamily="49" charset="-122"/>
              <a:cs typeface="+mn-cs"/>
            </a:endParaRPr>
          </a:p>
        </p:txBody>
      </p:sp>
      <p:pic>
        <p:nvPicPr>
          <p:cNvPr id="7" name="图片 6"/>
          <p:cNvPicPr>
            <a:picLocks noChangeAspect="1"/>
          </p:cNvPicPr>
          <p:nvPr/>
        </p:nvPicPr>
        <p:blipFill>
          <a:blip r:embed="rId1"/>
          <a:stretch>
            <a:fillRect/>
          </a:stretch>
        </p:blipFill>
        <p:spPr>
          <a:xfrm>
            <a:off x="1752674" y="4038584"/>
            <a:ext cx="6374198" cy="2590732"/>
          </a:xfrm>
          <a:prstGeom prst="rect">
            <a:avLst/>
          </a:prstGeom>
        </p:spPr>
      </p:pic>
      <p:sp>
        <p:nvSpPr>
          <p:cNvPr id="8" name="文本框 7"/>
          <p:cNvSpPr txBox="1"/>
          <p:nvPr/>
        </p:nvSpPr>
        <p:spPr>
          <a:xfrm flipH="1">
            <a:off x="5364459" y="3990179"/>
            <a:ext cx="45719" cy="276999"/>
          </a:xfrm>
          <a:prstGeom prst="rect">
            <a:avLst/>
          </a:prstGeom>
        </p:spPr>
        <p:style>
          <a:lnRef idx="3">
            <a:schemeClr val="lt1"/>
          </a:lnRef>
          <a:fillRef idx="1">
            <a:schemeClr val="accent3"/>
          </a:fillRef>
          <a:effectRef idx="1">
            <a:schemeClr val="accent3"/>
          </a:effectRef>
          <a:fontRef idx="minor">
            <a:schemeClr val="lt1"/>
          </a:fontRef>
        </p:style>
        <p:txBody>
          <a:bodyPr wrap="square" rtlCol="0" anchor="t">
            <a:spAutoFit/>
          </a:bodyPr>
          <a:lstStyle/>
          <a:p>
            <a:r>
              <a:rPr lang="zh-CN" altLang="en-US" sz="1200" b="1" dirty="0">
                <a:solidFill>
                  <a:schemeClr val="bg1">
                    <a:lumMod val="65000"/>
                  </a:schemeClr>
                </a:solidFill>
                <a:latin typeface="黑体" panose="02010609060101010101" pitchFamily="49" charset="-122"/>
                <a:ea typeface="黑体" panose="02010609060101010101" pitchFamily="49" charset="-122"/>
                <a:sym typeface="+mn-ea"/>
              </a:rPr>
              <a:t>列</a:t>
            </a:r>
            <a:endParaRPr lang="zh-CN" altLang="en-US" sz="1200" b="1" dirty="0">
              <a:solidFill>
                <a:schemeClr val="bg1">
                  <a:lumMod val="65000"/>
                </a:schemeClr>
              </a:solidFill>
              <a:latin typeface="黑体" panose="02010609060101010101" pitchFamily="49" charset="-122"/>
              <a:ea typeface="黑体" panose="02010609060101010101" pitchFamily="49"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105386" y="164583"/>
            <a:ext cx="3886098" cy="685800"/>
          </a:xfrm>
        </p:spPr>
        <p:txBody>
          <a:bodyPr/>
          <a:lstStyle/>
          <a:p>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的构造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后交织</a:t>
            </a:r>
            <a:endParaRPr lang="zh-CN" altLang="en-US" sz="2400" dirty="0">
              <a:sym typeface="+mn-ea"/>
            </a:endParaRPr>
          </a:p>
        </p:txBody>
      </p:sp>
      <p:sp>
        <p:nvSpPr>
          <p:cNvPr id="6" name="文本框 5"/>
          <p:cNvSpPr txBox="1"/>
          <p:nvPr/>
        </p:nvSpPr>
        <p:spPr>
          <a:xfrm>
            <a:off x="190615" y="762000"/>
            <a:ext cx="8762770" cy="1866858"/>
          </a:xfrm>
          <a:prstGeom prst="rect">
            <a:avLst/>
          </a:prstGeom>
          <a:noFill/>
        </p:spPr>
        <p:txBody>
          <a:bodyPr wrap="square">
            <a:spAutoFit/>
          </a:bodyPr>
          <a:lstStyle/>
          <a:p>
            <a:pPr>
              <a:lnSpc>
                <a:spcPct val="150000"/>
              </a:lnSpc>
            </a:pPr>
            <a:r>
              <a:rPr lang="zh-CN" altLang="en-US" sz="2000" dirty="0">
                <a:solidFill>
                  <a:srgbClr val="000000"/>
                </a:solidFill>
                <a:latin typeface="黑体" panose="02010609060101010101" pitchFamily="49" charset="-122"/>
                <a:ea typeface="黑体" panose="02010609060101010101" pitchFamily="49" charset="-122"/>
                <a:cs typeface="+mn-cs"/>
              </a:rPr>
              <a:t>    </a:t>
            </a:r>
            <a:r>
              <a:rPr lang="zh-CN" altLang="en-US" sz="2000" dirty="0">
                <a:solidFill>
                  <a:srgbClr val="000000"/>
                </a:solidFill>
                <a:latin typeface="+mn-lt"/>
                <a:ea typeface="黑体" panose="02010609060101010101" pitchFamily="49" charset="-122"/>
                <a:cs typeface="+mn-cs"/>
              </a:rPr>
              <a:t>等腰三角形交织器重要性质：</a:t>
            </a:r>
            <a:endParaRPr lang="en-US" altLang="zh-CN" sz="2000" dirty="0">
              <a:solidFill>
                <a:srgbClr val="000000"/>
              </a:solidFill>
              <a:latin typeface="+mn-lt"/>
              <a:ea typeface="黑体" panose="02010609060101010101" pitchFamily="49" charset="-122"/>
              <a:cs typeface="+mn-cs"/>
            </a:endParaRPr>
          </a:p>
          <a:p>
            <a:pPr>
              <a:lnSpc>
                <a:spcPct val="150000"/>
              </a:lnSpc>
            </a:pPr>
            <a:r>
              <a:rPr lang="en-US" altLang="zh-CN" sz="2000" dirty="0">
                <a:solidFill>
                  <a:srgbClr val="000000"/>
                </a:solidFill>
                <a:latin typeface="+mn-lt"/>
                <a:ea typeface="黑体" panose="02010609060101010101" pitchFamily="49" charset="-122"/>
                <a:cs typeface="+mn-cs"/>
              </a:rPr>
              <a:t>    </a:t>
            </a:r>
            <a:r>
              <a:rPr lang="en-US" altLang="zh-CN" sz="2000" dirty="0">
                <a:solidFill>
                  <a:srgbClr val="000000"/>
                </a:solidFill>
                <a:latin typeface="+mn-ea"/>
                <a:ea typeface="+mn-ea"/>
                <a:cs typeface="+mn-cs"/>
              </a:rPr>
              <a:t>·</a:t>
            </a:r>
            <a:r>
              <a:rPr lang="zh-CN" altLang="en-US" sz="2000" dirty="0">
                <a:solidFill>
                  <a:srgbClr val="000000"/>
                </a:solidFill>
                <a:latin typeface="+mn-lt"/>
                <a:ea typeface="黑体" panose="02010609060101010101" pitchFamily="49" charset="-122"/>
                <a:cs typeface="+mn-cs"/>
              </a:rPr>
              <a:t>交织之前连续排列的数据，在交织之后它们的距离变成</a:t>
            </a:r>
            <a:r>
              <a:rPr lang="en-US" altLang="zh-CN" sz="2000" dirty="0">
                <a:solidFill>
                  <a:srgbClr val="000000"/>
                </a:solidFill>
                <a:latin typeface="+mn-lt"/>
                <a:ea typeface="黑体" panose="02010609060101010101" pitchFamily="49" charset="-122"/>
                <a:cs typeface="+mn-cs"/>
              </a:rPr>
              <a:t>P,P-1,P-2,P-3…</a:t>
            </a:r>
            <a:r>
              <a:rPr lang="zh-CN" altLang="en-US" sz="2000" dirty="0">
                <a:solidFill>
                  <a:srgbClr val="000000"/>
                </a:solidFill>
                <a:latin typeface="+mn-lt"/>
                <a:ea typeface="黑体" panose="02010609060101010101" pitchFamily="49" charset="-122"/>
                <a:cs typeface="+mn-cs"/>
              </a:rPr>
              <a:t>它们之间的距离不再相等。</a:t>
            </a:r>
            <a:endParaRPr lang="en-US" altLang="zh-CN" sz="2000" dirty="0">
              <a:solidFill>
                <a:srgbClr val="000000"/>
              </a:solidFill>
              <a:latin typeface="+mn-lt"/>
              <a:ea typeface="黑体" panose="02010609060101010101" pitchFamily="49" charset="-122"/>
              <a:cs typeface="+mn-cs"/>
            </a:endParaRPr>
          </a:p>
          <a:p>
            <a:pPr>
              <a:lnSpc>
                <a:spcPct val="150000"/>
              </a:lnSpc>
            </a:pPr>
            <a:r>
              <a:rPr lang="en-US" altLang="zh-CN" sz="2000" dirty="0">
                <a:solidFill>
                  <a:srgbClr val="000000"/>
                </a:solidFill>
                <a:latin typeface="+mn-lt"/>
                <a:ea typeface="黑体" panose="02010609060101010101" pitchFamily="49" charset="-122"/>
                <a:cs typeface="+mn-cs"/>
              </a:rPr>
              <a:t>    </a:t>
            </a:r>
            <a:r>
              <a:rPr lang="en-US" altLang="zh-CN" sz="2000" dirty="0">
                <a:solidFill>
                  <a:srgbClr val="000000"/>
                </a:solidFill>
                <a:latin typeface="+mn-ea"/>
                <a:ea typeface="+mn-ea"/>
                <a:cs typeface="+mn-cs"/>
              </a:rPr>
              <a:t>·</a:t>
            </a:r>
            <a:r>
              <a:rPr lang="zh-CN" altLang="en-US" sz="2000" dirty="0">
                <a:solidFill>
                  <a:srgbClr val="000000"/>
                </a:solidFill>
                <a:latin typeface="+mn-lt"/>
                <a:ea typeface="黑体" panose="02010609060101010101" pitchFamily="49" charset="-122"/>
                <a:cs typeface="+mn-cs"/>
              </a:rPr>
              <a:t>每一列的长度不同，从而使得每列的转置模式都不同。</a:t>
            </a:r>
            <a:endParaRPr lang="zh-CN" altLang="en-US" sz="2000" dirty="0">
              <a:solidFill>
                <a:srgbClr val="000000"/>
              </a:solidFill>
              <a:latin typeface="+mn-lt"/>
              <a:ea typeface="黑体" panose="02010609060101010101" pitchFamily="49" charset="-122"/>
              <a:cs typeface="+mn-cs"/>
            </a:endParaRPr>
          </a:p>
        </p:txBody>
      </p:sp>
      <p:pic>
        <p:nvPicPr>
          <p:cNvPr id="3" name="图片 2"/>
          <p:cNvPicPr>
            <a:picLocks noChangeAspect="1"/>
          </p:cNvPicPr>
          <p:nvPr/>
        </p:nvPicPr>
        <p:blipFill>
          <a:blip r:embed="rId1"/>
          <a:stretch>
            <a:fillRect/>
          </a:stretch>
        </p:blipFill>
        <p:spPr>
          <a:xfrm>
            <a:off x="2209862" y="2628858"/>
            <a:ext cx="5105266" cy="3933647"/>
          </a:xfrm>
          <a:prstGeom prst="rect">
            <a:avLst/>
          </a:prstGeom>
        </p:spPr>
      </p:pic>
      <p:sp>
        <p:nvSpPr>
          <p:cNvPr id="5" name="文本框 4"/>
          <p:cNvSpPr txBox="1"/>
          <p:nvPr/>
        </p:nvSpPr>
        <p:spPr>
          <a:xfrm>
            <a:off x="3657624" y="6508751"/>
            <a:ext cx="2514534" cy="369332"/>
          </a:xfrm>
          <a:prstGeom prst="rect">
            <a:avLst/>
          </a:prstGeom>
          <a:noFill/>
        </p:spPr>
        <p:txBody>
          <a:bodyPr wrap="square" rtlCol="0" anchor="t">
            <a:spAutoFit/>
          </a:bodyPr>
          <a:lstStyle/>
          <a:p>
            <a:r>
              <a:rPr lang="zh-CN" altLang="en-US" b="1" dirty="0">
                <a:solidFill>
                  <a:schemeClr val="accent2"/>
                </a:solidFill>
                <a:latin typeface="黑体" panose="02010609060101010101" pitchFamily="49" charset="-122"/>
                <a:ea typeface="黑体" panose="02010609060101010101" pitchFamily="49" charset="-122"/>
                <a:sym typeface="+mn-ea"/>
              </a:rPr>
              <a:t>等腰三角形交织器性能</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067215" y="152486"/>
            <a:ext cx="3886098" cy="685800"/>
          </a:xfrm>
        </p:spPr>
        <p:txBody>
          <a:bodyPr/>
          <a:lstStyle/>
          <a:p>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的构造</a:t>
            </a:r>
            <a:r>
              <a:rPr kumimoji="0" lang="en-US" altLang="zh-CN" sz="2400" b="1" kern="0" dirty="0">
                <a:solidFill>
                  <a:srgbClr val="000000"/>
                </a:solidFill>
                <a:latin typeface="Arial" panose="020B0604020202020204" pitchFamily="34" charset="0"/>
                <a:ea typeface="宋体" panose="02010600030101010101" pitchFamily="2" charset="-122"/>
                <a:cs typeface="+mn-cs"/>
              </a:rPr>
              <a:t>—</a:t>
            </a:r>
            <a:r>
              <a:rPr kumimoji="0" lang="zh-CN" altLang="en-US" sz="2400" b="1" kern="0" dirty="0">
                <a:solidFill>
                  <a:srgbClr val="000000"/>
                </a:solidFill>
                <a:latin typeface="Arial" panose="020B0604020202020204" pitchFamily="34" charset="0"/>
                <a:ea typeface="宋体" panose="02010600030101010101" pitchFamily="2" charset="-122"/>
                <a:cs typeface="+mn-cs"/>
              </a:rPr>
              <a:t>后交织</a:t>
            </a:r>
            <a:endParaRPr lang="zh-CN" altLang="en-US" sz="2400" dirty="0">
              <a:sym typeface="+mn-ea"/>
            </a:endParaRPr>
          </a:p>
        </p:txBody>
      </p:sp>
      <mc:AlternateContent xmlns:mc="http://schemas.openxmlformats.org/markup-compatibility/2006">
        <mc:Choice xmlns:a14="http://schemas.microsoft.com/office/drawing/2010/main" Requires="a14">
          <p:sp>
            <p:nvSpPr>
              <p:cNvPr id="6" name="文本框 5"/>
              <p:cNvSpPr txBox="1"/>
              <p:nvPr/>
            </p:nvSpPr>
            <p:spPr>
              <a:xfrm>
                <a:off x="190615" y="762000"/>
                <a:ext cx="8762770" cy="2790187"/>
              </a:xfrm>
              <a:prstGeom prst="rect">
                <a:avLst/>
              </a:prstGeom>
              <a:noFill/>
            </p:spPr>
            <p:txBody>
              <a:bodyPr wrap="square">
                <a:spAutoFit/>
              </a:bodyPr>
              <a:lstStyle/>
              <a:p>
                <a:pPr>
                  <a:lnSpc>
                    <a:spcPct val="150000"/>
                  </a:lnSpc>
                </a:pPr>
                <a:r>
                  <a:rPr lang="zh-CN" altLang="en-US" sz="2000" dirty="0">
                    <a:solidFill>
                      <a:srgbClr val="000000"/>
                    </a:solidFill>
                    <a:latin typeface="+mn-lt"/>
                    <a:ea typeface="黑体" panose="02010609060101010101" pitchFamily="49" charset="-122"/>
                    <a:cs typeface="+mn-cs"/>
                  </a:rPr>
                  <a:t>二、双矩形交织</a:t>
                </a:r>
                <a:endParaRPr lang="en-US" altLang="zh-CN" sz="2000" dirty="0">
                  <a:solidFill>
                    <a:srgbClr val="000000"/>
                  </a:solidFill>
                  <a:latin typeface="+mn-lt"/>
                  <a:ea typeface="黑体" panose="02010609060101010101" pitchFamily="49" charset="-122"/>
                  <a:cs typeface="+mn-cs"/>
                </a:endParaRPr>
              </a:p>
              <a:p>
                <a:pPr>
                  <a:lnSpc>
                    <a:spcPct val="150000"/>
                  </a:lnSpc>
                </a:pPr>
                <a:r>
                  <a:rPr lang="en-US" altLang="zh-CN" sz="2000" dirty="0">
                    <a:solidFill>
                      <a:srgbClr val="000000"/>
                    </a:solidFill>
                    <a:latin typeface="+mn-lt"/>
                    <a:ea typeface="黑体" panose="02010609060101010101" pitchFamily="49" charset="-122"/>
                    <a:cs typeface="+mn-cs"/>
                  </a:rPr>
                  <a:t>       </a:t>
                </a:r>
                <a:r>
                  <a:rPr lang="zh-CN" altLang="en-US" sz="2000" dirty="0">
                    <a:solidFill>
                      <a:srgbClr val="000000"/>
                    </a:solidFill>
                    <a:latin typeface="+mn-lt"/>
                    <a:ea typeface="黑体" panose="02010609060101010101" pitchFamily="49" charset="-122"/>
                    <a:cs typeface="+mn-cs"/>
                  </a:rPr>
                  <a:t>如图所示双矩形交织（并行矩形交织）中，首先将待交织的</a:t>
                </a:r>
                <a:r>
                  <a:rPr lang="en-US" altLang="zh-CN" sz="2000" dirty="0">
                    <a:solidFill>
                      <a:srgbClr val="000000"/>
                    </a:solidFill>
                    <a:latin typeface="+mn-lt"/>
                    <a:ea typeface="黑体" panose="02010609060101010101" pitchFamily="49" charset="-122"/>
                    <a:cs typeface="+mn-cs"/>
                  </a:rPr>
                  <a:t>M bit</a:t>
                </a:r>
                <a:r>
                  <a:rPr lang="zh-CN" altLang="en-US" sz="2000" dirty="0">
                    <a:solidFill>
                      <a:srgbClr val="000000"/>
                    </a:solidFill>
                    <a:latin typeface="+mn-lt"/>
                    <a:ea typeface="黑体" panose="02010609060101010101" pitchFamily="49" charset="-122"/>
                    <a:cs typeface="+mn-cs"/>
                  </a:rPr>
                  <a:t>数据分成两个部分：</a:t>
                </a:r>
                <a14:m>
                  <m:oMath xmlns:m="http://schemas.openxmlformats.org/officeDocument/2006/math">
                    <m:sSub>
                      <m:sSubPr>
                        <m:ctrlPr>
                          <a:rPr lang="zh-CN" altLang="en-US" sz="2000" i="1" smtClean="0">
                            <a:solidFill>
                              <a:srgbClr val="000000"/>
                            </a:solidFill>
                            <a:latin typeface="Cambria Math" panose="02040503050406030204" pitchFamily="18" charset="0"/>
                            <a:cs typeface="+mn-cs"/>
                          </a:rPr>
                        </m:ctrlPr>
                      </m:sSubPr>
                      <m:e>
                        <m:r>
                          <a:rPr lang="zh-CN" altLang="en-US" sz="2000" i="1" smtClean="0">
                            <a:solidFill>
                              <a:srgbClr val="000000"/>
                            </a:solidFill>
                            <a:latin typeface="Cambria Math" panose="02040503050406030204" pitchFamily="18" charset="0"/>
                            <a:cs typeface="+mn-cs"/>
                          </a:rPr>
                          <m:t>𝑀</m:t>
                        </m:r>
                      </m:e>
                      <m:sub>
                        <m:r>
                          <a:rPr lang="zh-CN" altLang="en-US" sz="2000" i="1" smtClean="0">
                            <a:solidFill>
                              <a:srgbClr val="000000"/>
                            </a:solidFill>
                            <a:latin typeface="Cambria Math" panose="02040503050406030204" pitchFamily="18" charset="0"/>
                            <a:cs typeface="+mn-cs"/>
                          </a:rPr>
                          <m:t>1</m:t>
                        </m:r>
                      </m:sub>
                    </m:sSub>
                    <m:r>
                      <a:rPr lang="zh-CN" altLang="en-US" sz="2000" i="1" smtClean="0">
                        <a:solidFill>
                          <a:srgbClr val="000000"/>
                        </a:solidFill>
                        <a:latin typeface="Cambria Math" panose="02040503050406030204" pitchFamily="18" charset="0"/>
                        <a:cs typeface="+mn-cs"/>
                      </a:rPr>
                      <m:t>=</m:t>
                    </m:r>
                    <m:r>
                      <a:rPr lang="zh-CN" altLang="en-US" sz="2000" i="1" smtClean="0">
                        <a:solidFill>
                          <a:srgbClr val="000000"/>
                        </a:solidFill>
                        <a:latin typeface="Cambria Math" panose="02040503050406030204" pitchFamily="18" charset="0"/>
                        <a:cs typeface="+mn-cs"/>
                      </a:rPr>
                      <m:t>1</m:t>
                    </m:r>
                    <m:r>
                      <a:rPr lang="zh-CN" altLang="en-US" sz="2000" i="1" smtClean="0">
                        <a:solidFill>
                          <a:srgbClr val="000000"/>
                        </a:solidFill>
                        <a:latin typeface="Cambria Math" panose="02040503050406030204" pitchFamily="18" charset="0"/>
                        <a:cs typeface="+mn-cs"/>
                      </a:rPr>
                      <m:t>+</m:t>
                    </m:r>
                    <m:r>
                      <m:rPr>
                        <m:sty m:val="p"/>
                      </m:rPr>
                      <a:rPr lang="en-US" altLang="zh-CN" sz="2000" i="1">
                        <a:solidFill>
                          <a:srgbClr val="000000"/>
                        </a:solidFill>
                        <a:latin typeface="Cambria Math" panose="02040503050406030204" pitchFamily="18" charset="0"/>
                        <a:cs typeface="+mn-cs"/>
                      </a:rPr>
                      <m:t>cei</m:t>
                    </m:r>
                    <m:r>
                      <a:rPr lang="zh-CN" altLang="en-US" sz="2000" i="1" smtClean="0">
                        <a:solidFill>
                          <a:srgbClr val="000000"/>
                        </a:solidFill>
                        <a:latin typeface="Cambria Math" panose="02040503050406030204" pitchFamily="18" charset="0"/>
                        <a:cs typeface="+mn-cs"/>
                      </a:rPr>
                      <m:t>𝑙</m:t>
                    </m:r>
                    <m:d>
                      <m:dPr>
                        <m:ctrlPr>
                          <a:rPr lang="zh-CN" altLang="en-US" sz="2000" i="1" smtClean="0">
                            <a:solidFill>
                              <a:srgbClr val="000000"/>
                            </a:solidFill>
                            <a:latin typeface="Cambria Math" panose="02040503050406030204" pitchFamily="18" charset="0"/>
                            <a:cs typeface="+mn-cs"/>
                          </a:rPr>
                        </m:ctrlPr>
                      </m:dPr>
                      <m:e>
                        <m:f>
                          <m:fPr>
                            <m:type m:val="lin"/>
                            <m:ctrlPr>
                              <a:rPr lang="zh-CN" altLang="en-US" sz="2000" i="1" smtClean="0">
                                <a:solidFill>
                                  <a:srgbClr val="000000"/>
                                </a:solidFill>
                                <a:latin typeface="Cambria Math" panose="02040503050406030204" pitchFamily="18" charset="0"/>
                                <a:cs typeface="+mn-cs"/>
                              </a:rPr>
                            </m:ctrlPr>
                          </m:fPr>
                          <m:num>
                            <m:r>
                              <a:rPr lang="en-US" altLang="zh-CN" sz="2000" b="0" i="1" smtClean="0">
                                <a:solidFill>
                                  <a:srgbClr val="000000"/>
                                </a:solidFill>
                                <a:latin typeface="Cambria Math" panose="02040503050406030204" pitchFamily="18" charset="0"/>
                                <a:cs typeface="+mn-cs"/>
                              </a:rPr>
                              <m:t>𝑀</m:t>
                            </m:r>
                          </m:num>
                          <m:den>
                            <m:r>
                              <a:rPr lang="zh-CN" altLang="en-US" sz="2000" i="1" smtClean="0">
                                <a:solidFill>
                                  <a:srgbClr val="000000"/>
                                </a:solidFill>
                                <a:latin typeface="Cambria Math" panose="02040503050406030204" pitchFamily="18" charset="0"/>
                                <a:cs typeface="+mn-cs"/>
                              </a:rPr>
                              <m:t>2</m:t>
                            </m:r>
                          </m:den>
                        </m:f>
                      </m:e>
                    </m:d>
                    <m:r>
                      <a:rPr lang="zh-CN" altLang="en-US" sz="2000" i="1" smtClean="0">
                        <a:solidFill>
                          <a:srgbClr val="000000"/>
                        </a:solidFill>
                        <a:latin typeface="Cambria Math" panose="02040503050406030204" pitchFamily="18" charset="0"/>
                        <a:cs typeface="+mn-cs"/>
                      </a:rPr>
                      <m:t>𝑏</m:t>
                    </m:r>
                    <m:r>
                      <m:rPr>
                        <m:sty m:val="p"/>
                      </m:rPr>
                      <a:rPr lang="en-US" altLang="zh-CN" sz="2000" i="1">
                        <a:solidFill>
                          <a:srgbClr val="000000"/>
                        </a:solidFill>
                        <a:latin typeface="Cambria Math" panose="02040503050406030204" pitchFamily="18" charset="0"/>
                        <a:cs typeface="+mn-cs"/>
                      </a:rPr>
                      <m:t>i</m:t>
                    </m:r>
                    <m:r>
                      <a:rPr lang="zh-CN" altLang="en-US" sz="2000" i="1" smtClean="0">
                        <a:solidFill>
                          <a:srgbClr val="000000"/>
                        </a:solidFill>
                        <a:latin typeface="Cambria Math" panose="02040503050406030204" pitchFamily="18" charset="0"/>
                        <a:cs typeface="+mn-cs"/>
                      </a:rPr>
                      <m:t>𝑡</m:t>
                    </m:r>
                  </m:oMath>
                </a14:m>
                <a:r>
                  <a:rPr lang="zh-CN" altLang="en-US" sz="2000" dirty="0">
                    <a:solidFill>
                      <a:srgbClr val="000000"/>
                    </a:solidFill>
                    <a:latin typeface="+mn-lt"/>
                    <a:ea typeface="黑体" panose="02010609060101010101" pitchFamily="49" charset="-122"/>
                    <a:cs typeface="+mn-cs"/>
                  </a:rPr>
                  <a:t>和</a:t>
                </a:r>
                <a14:m>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𝑀</m:t>
                        </m:r>
                      </m:e>
                      <m:sub>
                        <m:r>
                          <a:rPr lang="en-US" altLang="zh-CN" sz="2000" b="0" i="1" smtClean="0">
                            <a:solidFill>
                              <a:srgbClr val="000000"/>
                            </a:solidFill>
                            <a:latin typeface="Cambria Math" panose="02040503050406030204" pitchFamily="18" charset="0"/>
                          </a:rPr>
                          <m:t>2</m:t>
                        </m:r>
                      </m:sub>
                    </m:sSub>
                    <m:r>
                      <a:rPr lang="en-US" altLang="zh-CN"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𝑀</m:t>
                    </m:r>
                  </m:oMath>
                </a14:m>
                <a:r>
                  <a:rPr lang="en-US" altLang="zh-CN" sz="2000" dirty="0">
                    <a:solidFill>
                      <a:srgbClr val="000000"/>
                    </a:solidFill>
                    <a:latin typeface="+mn-lt"/>
                    <a:ea typeface="黑体" panose="02010609060101010101" pitchFamily="49" charset="-122"/>
                    <a:cs typeface="+mn-cs"/>
                  </a:rPr>
                  <a:t>-</a:t>
                </a:r>
                <a:r>
                  <a:rPr lang="zh-CN" altLang="en-US" sz="2000" dirty="0">
                    <a:solidFill>
                      <a:srgbClr val="000000"/>
                    </a:solidFill>
                    <a:latin typeface="+mn-lt"/>
                  </a:rPr>
                  <a:t> </a:t>
                </a:r>
                <a14:m>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𝑀</m:t>
                        </m:r>
                      </m:e>
                      <m:sub>
                        <m:r>
                          <a:rPr lang="zh-CN" altLang="en-US" sz="2000" i="1">
                            <a:solidFill>
                              <a:srgbClr val="000000"/>
                            </a:solidFill>
                            <a:latin typeface="Cambria Math" panose="02040503050406030204" pitchFamily="18" charset="0"/>
                          </a:rPr>
                          <m:t>1</m:t>
                        </m:r>
                      </m:sub>
                    </m:sSub>
                  </m:oMath>
                </a14:m>
                <a:r>
                  <a:rPr lang="en-US" altLang="zh-CN" sz="2000" dirty="0">
                    <a:solidFill>
                      <a:srgbClr val="000000"/>
                    </a:solidFill>
                    <a:latin typeface="+mn-lt"/>
                    <a:ea typeface="黑体" panose="02010609060101010101" pitchFamily="49" charset="-122"/>
                    <a:cs typeface="+mn-cs"/>
                  </a:rPr>
                  <a:t> bit</a:t>
                </a:r>
                <a:r>
                  <a:rPr lang="zh-CN" altLang="en-US" sz="2000" dirty="0">
                    <a:solidFill>
                      <a:srgbClr val="000000"/>
                    </a:solidFill>
                    <a:latin typeface="+mn-lt"/>
                    <a:ea typeface="黑体" panose="02010609060101010101" pitchFamily="49" charset="-122"/>
                    <a:cs typeface="+mn-cs"/>
                  </a:rPr>
                  <a:t>。其次，把</a:t>
                </a:r>
                <a14:m>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𝑀</m:t>
                        </m:r>
                      </m:e>
                      <m:sub>
                        <m:r>
                          <a:rPr lang="zh-CN" altLang="en-US" sz="2000" i="1">
                            <a:solidFill>
                              <a:srgbClr val="000000"/>
                            </a:solidFill>
                            <a:latin typeface="Cambria Math" panose="02040503050406030204" pitchFamily="18" charset="0"/>
                          </a:rPr>
                          <m:t>1</m:t>
                        </m:r>
                      </m:sub>
                    </m:sSub>
                  </m:oMath>
                </a14:m>
                <a:r>
                  <a:rPr lang="en-US" altLang="zh-CN" sz="2000" dirty="0">
                    <a:solidFill>
                      <a:srgbClr val="000000"/>
                    </a:solidFill>
                    <a:latin typeface="+mn-lt"/>
                    <a:ea typeface="黑体" panose="02010609060101010101" pitchFamily="49" charset="-122"/>
                    <a:cs typeface="+mn-cs"/>
                  </a:rPr>
                  <a:t> bit</a:t>
                </a:r>
                <a:r>
                  <a:rPr lang="zh-CN" altLang="en-US" sz="2000" dirty="0">
                    <a:solidFill>
                      <a:srgbClr val="000000"/>
                    </a:solidFill>
                    <a:latin typeface="+mn-lt"/>
                    <a:ea typeface="黑体" panose="02010609060101010101" pitchFamily="49" charset="-122"/>
                    <a:cs typeface="+mn-cs"/>
                  </a:rPr>
                  <a:t>按行写入深度为</a:t>
                </a:r>
                <a:r>
                  <a:rPr lang="en-US" altLang="zh-CN" sz="2000" dirty="0">
                    <a:solidFill>
                      <a:srgbClr val="000000"/>
                    </a:solidFill>
                    <a:latin typeface="+mn-lt"/>
                    <a:ea typeface="黑体" panose="02010609060101010101" pitchFamily="49" charset="-122"/>
                    <a:cs typeface="+mn-cs"/>
                  </a:rPr>
                  <a:t>5</a:t>
                </a:r>
                <a:r>
                  <a:rPr lang="zh-CN" altLang="en-US" sz="2000" dirty="0">
                    <a:solidFill>
                      <a:srgbClr val="000000"/>
                    </a:solidFill>
                    <a:latin typeface="+mn-lt"/>
                    <a:ea typeface="黑体" panose="02010609060101010101" pitchFamily="49" charset="-122"/>
                    <a:cs typeface="+mn-cs"/>
                  </a:rPr>
                  <a:t>的矩形交织器；把</a:t>
                </a:r>
                <a14:m>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𝑀</m:t>
                        </m:r>
                      </m:e>
                      <m:sub>
                        <m:r>
                          <a:rPr lang="en-US" altLang="zh-CN" sz="2000" b="0" i="1" smtClean="0">
                            <a:solidFill>
                              <a:srgbClr val="000000"/>
                            </a:solidFill>
                            <a:latin typeface="Cambria Math" panose="02040503050406030204" pitchFamily="18" charset="0"/>
                          </a:rPr>
                          <m:t>2</m:t>
                        </m:r>
                      </m:sub>
                    </m:sSub>
                  </m:oMath>
                </a14:m>
                <a:r>
                  <a:rPr lang="en-US" altLang="zh-CN" sz="2000" dirty="0">
                    <a:solidFill>
                      <a:srgbClr val="000000"/>
                    </a:solidFill>
                    <a:latin typeface="+mn-lt"/>
                    <a:ea typeface="黑体" panose="02010609060101010101" pitchFamily="49" charset="-122"/>
                  </a:rPr>
                  <a:t> bit</a:t>
                </a:r>
                <a:r>
                  <a:rPr lang="zh-CN" altLang="en-US" sz="2000" dirty="0">
                    <a:solidFill>
                      <a:srgbClr val="000000"/>
                    </a:solidFill>
                    <a:latin typeface="+mn-lt"/>
                    <a:ea typeface="黑体" panose="02010609060101010101" pitchFamily="49" charset="-122"/>
                  </a:rPr>
                  <a:t>按行写入深度为</a:t>
                </a:r>
                <a:r>
                  <a:rPr lang="en-US" altLang="zh-CN" sz="2000" dirty="0">
                    <a:solidFill>
                      <a:srgbClr val="000000"/>
                    </a:solidFill>
                    <a:latin typeface="+mn-lt"/>
                    <a:ea typeface="黑体" panose="02010609060101010101" pitchFamily="49" charset="-122"/>
                  </a:rPr>
                  <a:t>11</a:t>
                </a:r>
                <a:r>
                  <a:rPr lang="zh-CN" altLang="en-US" sz="2000" dirty="0">
                    <a:solidFill>
                      <a:srgbClr val="000000"/>
                    </a:solidFill>
                    <a:latin typeface="+mn-lt"/>
                    <a:ea typeface="黑体" panose="02010609060101010101" pitchFamily="49" charset="-122"/>
                  </a:rPr>
                  <a:t>的矩形交织器；必要时，填入</a:t>
                </a:r>
                <a:r>
                  <a:rPr lang="en-US" altLang="zh-CN" sz="2000" dirty="0">
                    <a:solidFill>
                      <a:srgbClr val="000000"/>
                    </a:solidFill>
                    <a:latin typeface="+mn-lt"/>
                    <a:ea typeface="黑体" panose="02010609060101010101" pitchFamily="49" charset="-122"/>
                  </a:rPr>
                  <a:t>NULL</a:t>
                </a:r>
                <a:r>
                  <a:rPr lang="zh-CN" altLang="en-US" sz="2000" dirty="0">
                    <a:solidFill>
                      <a:srgbClr val="000000"/>
                    </a:solidFill>
                    <a:latin typeface="+mn-lt"/>
                    <a:ea typeface="黑体" panose="02010609060101010101" pitchFamily="49" charset="-122"/>
                  </a:rPr>
                  <a:t>。然后，从这两个矩形交织器中按列读出数据。如果有</a:t>
                </a:r>
                <a:r>
                  <a:rPr lang="en-US" altLang="zh-CN" sz="2000" dirty="0">
                    <a:solidFill>
                      <a:srgbClr val="000000"/>
                    </a:solidFill>
                    <a:latin typeface="+mn-lt"/>
                    <a:ea typeface="黑体" panose="02010609060101010101" pitchFamily="49" charset="-122"/>
                  </a:rPr>
                  <a:t>NULL</a:t>
                </a:r>
                <a:r>
                  <a:rPr lang="zh-CN" altLang="en-US" sz="2000" dirty="0">
                    <a:solidFill>
                      <a:srgbClr val="000000"/>
                    </a:solidFill>
                    <a:latin typeface="+mn-lt"/>
                    <a:ea typeface="黑体" panose="02010609060101010101" pitchFamily="49" charset="-122"/>
                  </a:rPr>
                  <a:t>，则丢弃它。最后将这些数据交叠地写入一个</a:t>
                </a:r>
                <a:r>
                  <a:rPr lang="en-US" altLang="zh-CN" sz="2000" dirty="0">
                    <a:solidFill>
                      <a:srgbClr val="000000"/>
                    </a:solidFill>
                    <a:latin typeface="+mn-lt"/>
                    <a:ea typeface="黑体" panose="02010609060101010101" pitchFamily="49" charset="-122"/>
                  </a:rPr>
                  <a:t>M bit</a:t>
                </a:r>
                <a:r>
                  <a:rPr lang="zh-CN" altLang="en-US" sz="2000" dirty="0">
                    <a:solidFill>
                      <a:srgbClr val="000000"/>
                    </a:solidFill>
                    <a:latin typeface="+mn-lt"/>
                    <a:ea typeface="黑体" panose="02010609060101010101" pitchFamily="49" charset="-122"/>
                  </a:rPr>
                  <a:t>的交织器。</a:t>
                </a:r>
                <a:endParaRPr lang="en-US" altLang="zh-CN" sz="2000" dirty="0">
                  <a:solidFill>
                    <a:srgbClr val="000000"/>
                  </a:solidFill>
                  <a:latin typeface="+mn-lt"/>
                  <a:ea typeface="黑体" panose="02010609060101010101" pitchFamily="49" charset="-122"/>
                  <a:cs typeface="+mn-cs"/>
                </a:endParaRPr>
              </a:p>
            </p:txBody>
          </p:sp>
        </mc:Choice>
        <mc:Fallback>
          <p:sp>
            <p:nvSpPr>
              <p:cNvPr id="6" name="文本框 5"/>
              <p:cNvSpPr txBox="1">
                <a:spLocks noRot="1" noChangeAspect="1" noMove="1" noResize="1" noEditPoints="1" noAdjustHandles="1" noChangeArrowheads="1" noChangeShapeType="1" noTextEdit="1"/>
              </p:cNvSpPr>
              <p:nvPr/>
            </p:nvSpPr>
            <p:spPr>
              <a:xfrm>
                <a:off x="190615" y="762000"/>
                <a:ext cx="8762770" cy="2790187"/>
              </a:xfrm>
              <a:prstGeom prst="rect">
                <a:avLst/>
              </a:prstGeom>
              <a:blipFill rotWithShape="1">
                <a:blip r:embed="rId1"/>
                <a:stretch>
                  <a:fillRect l="-1" r="6" b="23"/>
                </a:stretch>
              </a:blipFill>
            </p:spPr>
            <p:txBody>
              <a:bodyPr/>
              <a:lstStyle/>
              <a:p>
                <a:r>
                  <a:rPr lang="zh-CN" altLang="en-US">
                    <a:noFill/>
                  </a:rPr>
                  <a:t> </a:t>
                </a:r>
              </a:p>
            </p:txBody>
          </p:sp>
        </mc:Fallback>
      </mc:AlternateContent>
      <p:pic>
        <p:nvPicPr>
          <p:cNvPr id="7" name="图片 6"/>
          <p:cNvPicPr>
            <a:picLocks noChangeAspect="1"/>
          </p:cNvPicPr>
          <p:nvPr/>
        </p:nvPicPr>
        <p:blipFill>
          <a:blip r:embed="rId2"/>
          <a:stretch>
            <a:fillRect/>
          </a:stretch>
        </p:blipFill>
        <p:spPr>
          <a:xfrm>
            <a:off x="2438456" y="3451818"/>
            <a:ext cx="4419484" cy="2993517"/>
          </a:xfrm>
          <a:prstGeom prst="rect">
            <a:avLst/>
          </a:prstGeom>
        </p:spPr>
      </p:pic>
      <p:sp>
        <p:nvSpPr>
          <p:cNvPr id="8" name="文本框 7"/>
          <p:cNvSpPr txBox="1"/>
          <p:nvPr/>
        </p:nvSpPr>
        <p:spPr>
          <a:xfrm>
            <a:off x="3809948" y="6445335"/>
            <a:ext cx="2514534" cy="369332"/>
          </a:xfrm>
          <a:prstGeom prst="rect">
            <a:avLst/>
          </a:prstGeom>
          <a:noFill/>
        </p:spPr>
        <p:txBody>
          <a:bodyPr wrap="square" rtlCol="0" anchor="t">
            <a:spAutoFit/>
          </a:bodyPr>
          <a:lstStyle/>
          <a:p>
            <a:r>
              <a:rPr lang="zh-CN" altLang="en-US" b="1" dirty="0">
                <a:solidFill>
                  <a:schemeClr val="accent2"/>
                </a:solidFill>
                <a:latin typeface="黑体" panose="02010609060101010101" pitchFamily="49" charset="-122"/>
                <a:ea typeface="黑体" panose="02010609060101010101" pitchFamily="49" charset="-122"/>
                <a:sym typeface="+mn-ea"/>
              </a:rPr>
              <a:t>双矩形交织器示意</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981549" y="142250"/>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码过程</a:t>
            </a:r>
            <a:endParaRPr lang="zh-CN" altLang="en-US" sz="2400" dirty="0">
              <a:sym typeface="+mn-ea"/>
            </a:endParaRPr>
          </a:p>
        </p:txBody>
      </p:sp>
      <p:sp>
        <p:nvSpPr>
          <p:cNvPr id="5" name="内容占位符 2"/>
          <p:cNvSpPr>
            <a:spLocks noGrp="1"/>
          </p:cNvSpPr>
          <p:nvPr>
            <p:ph idx="1"/>
          </p:nvPr>
        </p:nvSpPr>
        <p:spPr>
          <a:xfrm>
            <a:off x="457308" y="1371654"/>
            <a:ext cx="8457978" cy="990574"/>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150000"/>
              </a:lnSpc>
              <a:spcBef>
                <a:spcPts val="0"/>
              </a:spcBef>
              <a:spcAft>
                <a:spcPts val="0"/>
              </a:spcAft>
              <a:buNone/>
            </a:pPr>
            <a:r>
              <a:rPr lang="zh-CN" altLang="en-US" sz="2000" dirty="0">
                <a:solidFill>
                  <a:schemeClr val="dk1"/>
                </a:solidFill>
                <a:latin typeface="+mn-ea"/>
              </a:rPr>
              <a:t>    </a:t>
            </a:r>
            <a:r>
              <a:rPr lang="en-US" altLang="zh-CN" sz="2000" dirty="0">
                <a:solidFill>
                  <a:schemeClr val="dk1"/>
                </a:solidFill>
              </a:rPr>
              <a:t>Polar</a:t>
            </a:r>
            <a:r>
              <a:rPr lang="zh-CN" altLang="en-US" sz="2000" dirty="0">
                <a:solidFill>
                  <a:schemeClr val="dk1"/>
                </a:solidFill>
              </a:rPr>
              <a:t>码解码方式与编码过程一样。即对接收到的信息</a:t>
            </a:r>
            <a:r>
              <a:rPr lang="en-US" altLang="zh-CN" sz="2000" dirty="0">
                <a:solidFill>
                  <a:schemeClr val="dk1"/>
                </a:solidFill>
              </a:rPr>
              <a:t>y</a:t>
            </a:r>
            <a:r>
              <a:rPr lang="zh-CN" altLang="en-US" sz="2000" dirty="0">
                <a:solidFill>
                  <a:schemeClr val="dk1"/>
                </a:solidFill>
              </a:rPr>
              <a:t>估计成</a:t>
            </a:r>
            <a:r>
              <a:rPr lang="en-US" altLang="zh-CN" sz="2000" dirty="0"/>
              <a:t>c</a:t>
            </a:r>
            <a:r>
              <a:rPr lang="zh-CN" altLang="en-US" sz="2000" dirty="0"/>
              <a:t>，然后对</a:t>
            </a:r>
            <a:r>
              <a:rPr lang="en-US" altLang="zh-CN" sz="2000" dirty="0"/>
              <a:t>c</a:t>
            </a:r>
            <a:r>
              <a:rPr lang="zh-CN" altLang="en-US" sz="2000" dirty="0"/>
              <a:t>进行</a:t>
            </a:r>
            <a:r>
              <a:rPr lang="en-US" altLang="zh-CN" sz="2000" dirty="0"/>
              <a:t>Polar</a:t>
            </a:r>
            <a:r>
              <a:rPr lang="zh-CN" altLang="en-US" sz="2000" dirty="0"/>
              <a:t>码编码即可得到原始的原始的发送信息 </a:t>
            </a:r>
            <a:r>
              <a:rPr lang="en-US" altLang="zh-CN" sz="2000" dirty="0"/>
              <a:t>u</a:t>
            </a:r>
            <a:r>
              <a:rPr lang="zh-CN" altLang="en-US" sz="2000" dirty="0"/>
              <a:t>。</a:t>
            </a:r>
            <a:endParaRPr lang="en-US" altLang="zh-CN" sz="2000" dirty="0"/>
          </a:p>
        </p:txBody>
      </p:sp>
      <mc:AlternateContent xmlns:mc="http://schemas.openxmlformats.org/markup-compatibility/2006">
        <mc:Choice xmlns:a14="http://schemas.microsoft.com/office/drawing/2010/main" Requires="a14">
          <p:sp>
            <p:nvSpPr>
              <p:cNvPr id="8" name="文本框 7"/>
              <p:cNvSpPr txBox="1"/>
              <p:nvPr/>
            </p:nvSpPr>
            <p:spPr>
              <a:xfrm>
                <a:off x="762100" y="2743218"/>
                <a:ext cx="7848394" cy="286315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marR="0" lvl="0" indent="0" algn="l" defTabSz="914400" rtl="0" eaLnBrk="0" fontAlgn="base" latinLnBrk="0" hangingPunct="0">
                  <a:lnSpc>
                    <a:spcPct val="150000"/>
                  </a:lnSpc>
                  <a:spcBef>
                    <a:spcPts val="0"/>
                  </a:spcBef>
                  <a:spcAft>
                    <a:spcPts val="0"/>
                  </a:spcAft>
                  <a:buClrTx/>
                  <a:buSzTx/>
                  <a:buFont typeface="Wingdings" panose="05000000000000000000" pitchFamily="2" charset="2"/>
                  <a:buNone/>
                  <a:defRPr/>
                </a:pPr>
                <a:r>
                  <a:rPr kumimoji="1" lang="zh-CN" altLang="en-US" sz="2000" b="0" i="0" u="none" strike="noStrike" kern="1200" cap="none" spc="0" normalizeH="0" baseline="0" noProof="0" dirty="0">
                    <a:ln>
                      <a:noFill/>
                    </a:ln>
                    <a:solidFill>
                      <a:srgbClr val="000000"/>
                    </a:solidFill>
                    <a:effectLst/>
                    <a:uLnTx/>
                    <a:uFillTx/>
                    <a:ea typeface="黑体" panose="02010609060101010101" pitchFamily="49" charset="-122"/>
                  </a:rPr>
                  <a:t>      由于编码</a:t>
                </a:r>
                <a14:m>
                  <m:oMath xmlns:m="http://schemas.openxmlformats.org/officeDocument/2006/math">
                    <m:r>
                      <a:rPr kumimoji="1" lang="zh-CN" altLang="en-US" sz="2000">
                        <a:solidFill>
                          <a:srgbClr val="000000"/>
                        </a:solidFill>
                        <a:latin typeface="Cambria Math" panose="02040503050406030204" pitchFamily="18" charset="0"/>
                        <a:ea typeface="黑体" panose="02010609060101010101" pitchFamily="49" charset="-122"/>
                      </a:rPr>
                      <m:t>过程：</m:t>
                    </m:r>
                    <m:r>
                      <a:rPr kumimoji="1" lang="en-US" altLang="zh-CN" sz="2000">
                        <a:solidFill>
                          <a:srgbClr val="000000"/>
                        </a:solidFill>
                        <a:latin typeface="Cambria Math" panose="02040503050406030204" pitchFamily="18" charset="0"/>
                        <a:ea typeface="黑体" panose="02010609060101010101" pitchFamily="49" charset="-122"/>
                      </a:rPr>
                      <m:t>  </m:t>
                    </m:r>
                    <m:r>
                      <m:rPr>
                        <m:sty m:val="p"/>
                      </m:rPr>
                      <a:rPr kumimoji="1" lang="en-US" altLang="zh-CN" sz="2000" b="0" i="0" smtClean="0">
                        <a:solidFill>
                          <a:srgbClr val="000000"/>
                        </a:solidFill>
                        <a:latin typeface="Cambria Math" panose="02040503050406030204" pitchFamily="18" charset="0"/>
                        <a:ea typeface="黑体" panose="02010609060101010101" pitchFamily="49" charset="-122"/>
                      </a:rPr>
                      <m:t>x</m:t>
                    </m:r>
                    <m:r>
                      <a:rPr kumimoji="1" lang="zh-CN" altLang="en-US" sz="2000">
                        <a:solidFill>
                          <a:srgbClr val="000000"/>
                        </a:solidFill>
                        <a:latin typeface="Cambria Math" panose="02040503050406030204" pitchFamily="18" charset="0"/>
                        <a:ea typeface="黑体" panose="02010609060101010101" pitchFamily="49" charset="-122"/>
                      </a:rPr>
                      <m:t>=</m:t>
                    </m:r>
                    <m:r>
                      <a:rPr kumimoji="1" lang="zh-CN" altLang="en-US" sz="2000">
                        <a:solidFill>
                          <a:srgbClr val="000000"/>
                        </a:solidFill>
                        <a:latin typeface="Cambria Math" panose="02040503050406030204" pitchFamily="18" charset="0"/>
                        <a:ea typeface="黑体" panose="02010609060101010101" pitchFamily="49" charset="-122"/>
                      </a:rPr>
                      <m:t>𝑢</m:t>
                    </m:r>
                    <m:r>
                      <a:rPr kumimoji="1" lang="en-US" altLang="zh-CN" sz="2000">
                        <a:solidFill>
                          <a:srgbClr val="000000"/>
                        </a:solidFill>
                        <a:latin typeface="Cambria Math" panose="02040503050406030204" pitchFamily="18" charset="0"/>
                        <a:ea typeface="黑体" panose="02010609060101010101" pitchFamily="49" charset="-122"/>
                      </a:rPr>
                      <m:t>·</m:t>
                    </m:r>
                    <m:r>
                      <a:rPr kumimoji="1" lang="zh-CN" altLang="en-US" sz="2000">
                        <a:solidFill>
                          <a:srgbClr val="000000"/>
                        </a:solidFill>
                        <a:latin typeface="Cambria Math" panose="02040503050406030204" pitchFamily="18" charset="0"/>
                        <a:ea typeface="黑体" panose="02010609060101010101" pitchFamily="49" charset="-122"/>
                      </a:rPr>
                      <m:t>𝐺</m:t>
                    </m:r>
                  </m:oMath>
                </a14:m>
                <a:endParaRPr kumimoji="1" lang="en-US" altLang="zh-CN" sz="2000" dirty="0">
                  <a:solidFill>
                    <a:srgbClr val="000000"/>
                  </a:solidFill>
                  <a:ea typeface="黑体" panose="02010609060101010101" pitchFamily="49" charset="-122"/>
                </a:endParaRPr>
              </a:p>
              <a:p>
                <a:pPr marL="0" marR="0" lvl="0" indent="0" algn="l" defTabSz="914400" rtl="0" eaLnBrk="0" fontAlgn="base" latinLnBrk="0" hangingPunct="0">
                  <a:lnSpc>
                    <a:spcPct val="150000"/>
                  </a:lnSpc>
                  <a:spcBef>
                    <a:spcPts val="0"/>
                  </a:spcBef>
                  <a:spcAft>
                    <a:spcPts val="0"/>
                  </a:spcAft>
                  <a:buClrTx/>
                  <a:buSzTx/>
                  <a:buFont typeface="Wingdings" panose="05000000000000000000" pitchFamily="2" charset="2"/>
                  <a:buNone/>
                  <a:defRPr/>
                </a:pPr>
                <a:r>
                  <a:rPr kumimoji="1" lang="zh-CN" altLang="en-US" sz="2000" b="0" i="0" u="none" strike="noStrike" kern="1200" cap="none" spc="0" normalizeH="0" baseline="0" noProof="0" dirty="0">
                    <a:ln>
                      <a:noFill/>
                    </a:ln>
                    <a:solidFill>
                      <a:srgbClr val="000000"/>
                    </a:solidFill>
                    <a:effectLst/>
                    <a:uLnTx/>
                    <a:uFillTx/>
                    <a:ea typeface="黑体" panose="02010609060101010101" pitchFamily="49" charset="-122"/>
                  </a:rPr>
                  <a:t>   等式两边同时右乘</a:t>
                </a:r>
                <a14:m>
                  <m:oMath xmlns:m="http://schemas.openxmlformats.org/officeDocument/2006/math">
                    <m:sSup>
                      <m:sSupPr>
                        <m:ctrlPr>
                          <a:rPr kumimoji="1"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rPr>
                        </m:ctrlPr>
                      </m:sSupPr>
                      <m:e>
                        <m:r>
                          <a:rPr kumimoji="1"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rPr>
                          <m:t>𝐺</m:t>
                        </m:r>
                      </m:e>
                      <m:sup>
                        <m:r>
                          <a:rPr kumimoji="1"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rPr>
                          <m:t>−</m:t>
                        </m:r>
                        <m:r>
                          <a:rPr kumimoji="1"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rPr>
                          <m:t>1</m:t>
                        </m:r>
                      </m:sup>
                    </m:sSup>
                    <m:r>
                      <a:rPr kumimoji="1" lang="zh-CN" altLang="en-US" sz="2000" b="0" i="1" u="none" strike="noStrike" kern="1200" cap="none" spc="0" normalizeH="0" baseline="0" noProof="0">
                        <a:ln>
                          <a:noFill/>
                        </a:ln>
                        <a:solidFill>
                          <a:srgbClr val="000000"/>
                        </a:solidFill>
                        <a:effectLst/>
                        <a:uLnTx/>
                        <a:uFillTx/>
                        <a:latin typeface="Cambria Math" panose="02040503050406030204" pitchFamily="18" charset="0"/>
                      </a:rPr>
                      <m:t>得到</m:t>
                    </m:r>
                    <m:r>
                      <a:rPr kumimoji="1"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rPr>
                      <m:t>：</m:t>
                    </m:r>
                    <m:r>
                      <a:rPr kumimoji="1"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rPr>
                      <m:t>  </m:t>
                    </m:r>
                    <m:r>
                      <a:rPr kumimoji="1" lang="zh-CN" altLang="en-US" sz="2000" b="0" i="1" u="none" strike="noStrike" kern="1200" cap="none" spc="0" normalizeH="0" baseline="0" noProof="0" dirty="0" smtClean="0">
                        <a:ln>
                          <a:noFill/>
                        </a:ln>
                        <a:solidFill>
                          <a:srgbClr val="000000"/>
                        </a:solidFill>
                        <a:effectLst/>
                        <a:uLnTx/>
                        <a:uFillTx/>
                        <a:latin typeface="Cambria Math" panose="02040503050406030204" pitchFamily="18" charset="0"/>
                      </a:rPr>
                      <m:t>𝑢</m:t>
                    </m:r>
                    <m:r>
                      <a:rPr kumimoji="1" lang="zh-CN" altLang="en-US" sz="2000" b="0" i="0" u="none" strike="noStrike" kern="1200" cap="none" spc="0" normalizeH="0" baseline="0" noProof="0" dirty="0">
                        <a:ln>
                          <a:noFill/>
                        </a:ln>
                        <a:solidFill>
                          <a:srgbClr val="000000"/>
                        </a:solidFill>
                        <a:effectLst/>
                        <a:uLnTx/>
                        <a:uFillTx/>
                        <a:latin typeface="Cambria Math" panose="02040503050406030204" pitchFamily="18" charset="0"/>
                      </a:rPr>
                      <m:t>=</m:t>
                    </m:r>
                    <m: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t>𝑥</m:t>
                    </m:r>
                    <m:sSup>
                      <m:sSupPr>
                        <m:ctrlPr>
                          <a:rPr kumimoji="1" lang="zh-CN" altLang="en-US" sz="2000" b="0" i="1" u="none" strike="noStrike" kern="1200" cap="none" spc="0" normalizeH="0" baseline="0" noProof="0" dirty="0">
                            <a:ln>
                              <a:noFill/>
                            </a:ln>
                            <a:solidFill>
                              <a:srgbClr val="000000"/>
                            </a:solidFill>
                            <a:effectLst/>
                            <a:uLnTx/>
                            <a:uFillTx/>
                            <a:latin typeface="Cambria Math" panose="02040503050406030204" pitchFamily="18" charset="0"/>
                          </a:rPr>
                        </m:ctrlPr>
                      </m:sSupPr>
                      <m:e>
                        <m:r>
                          <a:rPr kumimoji="1" lang="en-US" altLang="zh-CN" sz="2000" b="0" i="1" u="none" strike="noStrike" kern="1200" cap="none" spc="0" normalizeH="0" baseline="0" noProof="0" dirty="0">
                            <a:ln>
                              <a:noFill/>
                            </a:ln>
                            <a:solidFill>
                              <a:srgbClr val="000000"/>
                            </a:solidFill>
                            <a:effectLst/>
                            <a:uLnTx/>
                            <a:uFillTx/>
                            <a:latin typeface="Cambria Math" panose="02040503050406030204" pitchFamily="18" charset="0"/>
                          </a:rPr>
                          <m:t>·</m:t>
                        </m:r>
                        <m:r>
                          <a:rPr kumimoji="1" lang="zh-CN" altLang="en-US" sz="2000" b="0" i="1" u="none" strike="noStrike" kern="1200" cap="none" spc="0" normalizeH="0" baseline="0" noProof="0" dirty="0">
                            <a:ln>
                              <a:noFill/>
                            </a:ln>
                            <a:solidFill>
                              <a:srgbClr val="000000"/>
                            </a:solidFill>
                            <a:effectLst/>
                            <a:uLnTx/>
                            <a:uFillTx/>
                            <a:latin typeface="Cambria Math" panose="02040503050406030204" pitchFamily="18" charset="0"/>
                          </a:rPr>
                          <m:t>𝐺</m:t>
                        </m:r>
                      </m:e>
                      <m:sup>
                        <m:r>
                          <a:rPr kumimoji="1" lang="zh-CN" altLang="en-US" sz="2000" b="0" i="0" u="none" strike="noStrike" kern="1200" cap="none" spc="0" normalizeH="0" baseline="0" noProof="0" dirty="0">
                            <a:ln>
                              <a:noFill/>
                            </a:ln>
                            <a:solidFill>
                              <a:srgbClr val="000000"/>
                            </a:solidFill>
                            <a:effectLst/>
                            <a:uLnTx/>
                            <a:uFillTx/>
                            <a:latin typeface="Cambria Math" panose="02040503050406030204" pitchFamily="18" charset="0"/>
                          </a:rPr>
                          <m:t>−</m:t>
                        </m:r>
                        <m:r>
                          <a:rPr kumimoji="1" lang="zh-CN" altLang="en-US" sz="2000" b="0" i="0" u="none" strike="noStrike" kern="1200" cap="none" spc="0" normalizeH="0" baseline="0" noProof="0" dirty="0">
                            <a:ln>
                              <a:noFill/>
                            </a:ln>
                            <a:solidFill>
                              <a:srgbClr val="000000"/>
                            </a:solidFill>
                            <a:effectLst/>
                            <a:uLnTx/>
                            <a:uFillTx/>
                            <a:latin typeface="Cambria Math" panose="02040503050406030204" pitchFamily="18" charset="0"/>
                          </a:rPr>
                          <m:t>1</m:t>
                        </m:r>
                      </m:sup>
                    </m:sSup>
                  </m:oMath>
                </a14:m>
                <a:r>
                  <a:rPr kumimoji="1" lang="zh-CN" altLang="en-US" sz="2000" b="0" i="0" u="none" strike="noStrike" kern="1200" cap="none" spc="0" normalizeH="0" baseline="0" noProof="0" dirty="0">
                    <a:ln>
                      <a:noFill/>
                    </a:ln>
                    <a:solidFill>
                      <a:srgbClr val="000000"/>
                    </a:solidFill>
                    <a:effectLst/>
                    <a:uLnTx/>
                    <a:uFillTx/>
                    <a:ea typeface="黑体" panose="02010609060101010101" pitchFamily="49" charset="-122"/>
                  </a:rPr>
                  <a:t>  （ </a:t>
                </a:r>
                <a14:m>
                  <m:oMath xmlns:m="http://schemas.openxmlformats.org/officeDocument/2006/math">
                    <m:sSup>
                      <m:sSupPr>
                        <m:ctrlPr>
                          <a:rPr kumimoji="1" lang="zh-CN" altLang="en-US" sz="2000" b="0" i="1" u="none" strike="noStrike" kern="1200" cap="none" spc="0" normalizeH="0" baseline="0" noProof="0" dirty="0">
                            <a:ln>
                              <a:noFill/>
                            </a:ln>
                            <a:solidFill>
                              <a:srgbClr val="000000"/>
                            </a:solidFill>
                            <a:effectLst/>
                            <a:uLnTx/>
                            <a:uFillTx/>
                            <a:latin typeface="Cambria Math" panose="02040503050406030204" pitchFamily="18" charset="0"/>
                          </a:rPr>
                        </m:ctrlPr>
                      </m:sSupPr>
                      <m:e>
                        <m:r>
                          <a:rPr kumimoji="1" lang="zh-CN" altLang="en-US" sz="2000" b="0" i="1" u="none" strike="noStrike" kern="1200" cap="none" spc="0" normalizeH="0" baseline="0" noProof="0" dirty="0">
                            <a:ln>
                              <a:noFill/>
                            </a:ln>
                            <a:solidFill>
                              <a:srgbClr val="000000"/>
                            </a:solidFill>
                            <a:effectLst/>
                            <a:uLnTx/>
                            <a:uFillTx/>
                            <a:latin typeface="Cambria Math" panose="02040503050406030204" pitchFamily="18" charset="0"/>
                          </a:rPr>
                          <m:t>𝐺</m:t>
                        </m:r>
                      </m:e>
                      <m:sup>
                        <m:r>
                          <a:rPr kumimoji="1" lang="zh-CN" altLang="en-US" sz="2000" b="0" i="0" u="none" strike="noStrike" kern="1200" cap="none" spc="0" normalizeH="0" baseline="0" noProof="0" dirty="0">
                            <a:ln>
                              <a:noFill/>
                            </a:ln>
                            <a:solidFill>
                              <a:srgbClr val="000000"/>
                            </a:solidFill>
                            <a:effectLst/>
                            <a:uLnTx/>
                            <a:uFillTx/>
                            <a:latin typeface="Cambria Math" panose="02040503050406030204" pitchFamily="18" charset="0"/>
                          </a:rPr>
                          <m:t>−</m:t>
                        </m:r>
                        <m:r>
                          <a:rPr kumimoji="1" lang="zh-CN" altLang="en-US" sz="2000" b="0" i="0" u="none" strike="noStrike" kern="1200" cap="none" spc="0" normalizeH="0" baseline="0" noProof="0" dirty="0">
                            <a:ln>
                              <a:noFill/>
                            </a:ln>
                            <a:solidFill>
                              <a:srgbClr val="000000"/>
                            </a:solidFill>
                            <a:effectLst/>
                            <a:uLnTx/>
                            <a:uFillTx/>
                            <a:latin typeface="Cambria Math" panose="02040503050406030204" pitchFamily="18" charset="0"/>
                          </a:rPr>
                          <m:t>1</m:t>
                        </m:r>
                      </m:sup>
                    </m:sSup>
                  </m:oMath>
                </a14:m>
                <a:r>
                  <a:rPr kumimoji="1" lang="zh-CN" altLang="en-US" sz="2000" b="0" i="0" u="none" strike="noStrike" kern="1200" cap="none" spc="0" normalizeH="0" baseline="0" noProof="0" dirty="0">
                    <a:ln>
                      <a:noFill/>
                    </a:ln>
                    <a:solidFill>
                      <a:srgbClr val="000000"/>
                    </a:solidFill>
                    <a:effectLst/>
                    <a:uLnTx/>
                    <a:uFillTx/>
                    <a:ea typeface="黑体" panose="02010609060101010101" pitchFamily="49" charset="-122"/>
                  </a:rPr>
                  <a:t>是</a:t>
                </a:r>
                <a14:m>
                  <m:oMath xmlns:m="http://schemas.openxmlformats.org/officeDocument/2006/math">
                    <m:r>
                      <a:rPr kumimoji="1" lang="zh-CN" altLang="en-US" sz="2000" b="0" i="1" u="none" strike="noStrike" kern="1200" cap="none" spc="0" normalizeH="0" baseline="0" noProof="0">
                        <a:ln>
                          <a:noFill/>
                        </a:ln>
                        <a:solidFill>
                          <a:srgbClr val="000000"/>
                        </a:solidFill>
                        <a:effectLst/>
                        <a:uLnTx/>
                        <a:uFillTx/>
                        <a:latin typeface="Cambria Math" panose="02040503050406030204" pitchFamily="18" charset="0"/>
                      </a:rPr>
                      <m:t>𝐺</m:t>
                    </m:r>
                  </m:oMath>
                </a14:m>
                <a:r>
                  <a:rPr kumimoji="1" lang="zh-CN" altLang="en-US" sz="2000" b="0" i="0" u="none" strike="noStrike" kern="1200" cap="none" spc="0" normalizeH="0" baseline="0" noProof="0" dirty="0">
                    <a:ln>
                      <a:noFill/>
                    </a:ln>
                    <a:solidFill>
                      <a:srgbClr val="000000"/>
                    </a:solidFill>
                    <a:effectLst/>
                    <a:uLnTx/>
                    <a:uFillTx/>
                    <a:ea typeface="黑体" panose="02010609060101010101" pitchFamily="49" charset="-122"/>
                  </a:rPr>
                  <a:t>的逆矩阵）</a:t>
                </a:r>
                <a:endParaRPr kumimoji="1" lang="en-US" altLang="zh-CN" sz="2000" b="0" i="0" u="none" strike="noStrike" kern="1200" cap="none" spc="0" normalizeH="0" baseline="0" noProof="0" dirty="0">
                  <a:ln>
                    <a:noFill/>
                  </a:ln>
                  <a:solidFill>
                    <a:srgbClr val="000000"/>
                  </a:solidFill>
                  <a:effectLst/>
                  <a:uLnTx/>
                  <a:uFillTx/>
                  <a:ea typeface="黑体" panose="02010609060101010101" pitchFamily="49" charset="-122"/>
                </a:endParaRPr>
              </a:p>
              <a:p>
                <a:pPr marL="0" marR="0" lvl="0" indent="0" algn="l" defTabSz="914400" rtl="0" eaLnBrk="0" fontAlgn="base" latinLnBrk="0" hangingPunct="0">
                  <a:lnSpc>
                    <a:spcPct val="150000"/>
                  </a:lnSpc>
                  <a:spcBef>
                    <a:spcPts val="0"/>
                  </a:spcBef>
                  <a:spcAft>
                    <a:spcPts val="0"/>
                  </a:spcAft>
                  <a:buClrTx/>
                  <a:buSzTx/>
                  <a:buFont typeface="Wingdings" panose="05000000000000000000" pitchFamily="2" charset="2"/>
                  <a:buNone/>
                  <a:defRPr/>
                </a:pPr>
                <a:r>
                  <a:rPr kumimoji="1" lang="zh-CN" altLang="en-US" sz="2000" b="0" i="0" u="none" strike="noStrike" kern="1200" cap="none" spc="0" normalizeH="0" baseline="0" noProof="0" dirty="0">
                    <a:ln>
                      <a:noFill/>
                    </a:ln>
                    <a:solidFill>
                      <a:srgbClr val="000000"/>
                    </a:solidFill>
                    <a:effectLst/>
                    <a:uLnTx/>
                    <a:uFillTx/>
                    <a:ea typeface="黑体" panose="02010609060101010101" pitchFamily="49" charset="-122"/>
                  </a:rPr>
                  <a:t>   由于</a:t>
                </a:r>
                <a14:m>
                  <m:oMath xmlns:m="http://schemas.openxmlformats.org/officeDocument/2006/math">
                    <m:sSup>
                      <m:sSupPr>
                        <m:ctrlPr>
                          <a:rPr kumimoji="1" lang="zh-CN" altLang="en-US" sz="2000" b="0" i="1" u="none" strike="noStrike" kern="1200" cap="none" spc="0" normalizeH="0" baseline="0" noProof="0" dirty="0" smtClean="0">
                            <a:ln>
                              <a:noFill/>
                            </a:ln>
                            <a:solidFill>
                              <a:srgbClr val="000000"/>
                            </a:solidFill>
                            <a:effectLst/>
                            <a:uLnTx/>
                            <a:uFillTx/>
                            <a:latin typeface="Cambria Math" panose="02040503050406030204" pitchFamily="18" charset="0"/>
                          </a:rPr>
                        </m:ctrlPr>
                      </m:sSupPr>
                      <m:e>
                        <m:r>
                          <a:rPr kumimoji="1" lang="zh-CN" altLang="en-US" sz="2000" b="0" i="1" u="none" strike="noStrike" kern="1200" cap="none" spc="0" normalizeH="0" baseline="0" noProof="0" dirty="0">
                            <a:ln>
                              <a:noFill/>
                            </a:ln>
                            <a:solidFill>
                              <a:srgbClr val="000000"/>
                            </a:solidFill>
                            <a:effectLst/>
                            <a:uLnTx/>
                            <a:uFillTx/>
                            <a:latin typeface="Cambria Math" panose="02040503050406030204" pitchFamily="18" charset="0"/>
                          </a:rPr>
                          <m:t>𝐺</m:t>
                        </m:r>
                      </m:e>
                      <m:sup>
                        <m:r>
                          <a:rPr kumimoji="1" lang="zh-CN" altLang="en-US" sz="2000" b="0" i="0" u="none" strike="noStrike" kern="1200" cap="none" spc="0" normalizeH="0" baseline="0" noProof="0" dirty="0">
                            <a:ln>
                              <a:noFill/>
                            </a:ln>
                            <a:solidFill>
                              <a:srgbClr val="000000"/>
                            </a:solidFill>
                            <a:effectLst/>
                            <a:uLnTx/>
                            <a:uFillTx/>
                            <a:latin typeface="Cambria Math" panose="02040503050406030204" pitchFamily="18" charset="0"/>
                          </a:rPr>
                          <m:t>−</m:t>
                        </m:r>
                        <m:r>
                          <a:rPr kumimoji="1" lang="zh-CN" altLang="en-US" sz="2000" b="0" i="0" u="none" strike="noStrike" kern="1200" cap="none" spc="0" normalizeH="0" baseline="0" noProof="0" dirty="0">
                            <a:ln>
                              <a:noFill/>
                            </a:ln>
                            <a:solidFill>
                              <a:srgbClr val="000000"/>
                            </a:solidFill>
                            <a:effectLst/>
                            <a:uLnTx/>
                            <a:uFillTx/>
                            <a:latin typeface="Cambria Math" panose="02040503050406030204" pitchFamily="18" charset="0"/>
                          </a:rPr>
                          <m:t>1</m:t>
                        </m:r>
                      </m:sup>
                    </m:sSup>
                  </m:oMath>
                </a14:m>
                <a:r>
                  <a:rPr kumimoji="1" lang="en-US" altLang="zh-CN" sz="2000" b="0" i="0" u="none" strike="noStrike" kern="1200" cap="none" spc="0" normalizeH="0" baseline="0" noProof="0" dirty="0">
                    <a:ln>
                      <a:noFill/>
                    </a:ln>
                    <a:solidFill>
                      <a:srgbClr val="000000"/>
                    </a:solidFill>
                    <a:effectLst/>
                    <a:uLnTx/>
                    <a:uFillTx/>
                    <a:ea typeface="黑体" panose="02010609060101010101" pitchFamily="49" charset="-122"/>
                  </a:rPr>
                  <a:t>=</a:t>
                </a:r>
                <a14:m>
                  <m:oMath xmlns:m="http://schemas.openxmlformats.org/officeDocument/2006/math">
                    <m:sSup>
                      <m:sSupPr>
                        <m:ctrlP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ctrlPr>
                      </m:sSupPr>
                      <m:e>
                        <m:d>
                          <m:dPr>
                            <m:ctrlP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ctrlPr>
                          </m:dPr>
                          <m:e>
                            <m:sSup>
                              <m:sSupPr>
                                <m:ctrlP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ctrlPr>
                              </m:sSupPr>
                              <m:e>
                                <m: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t>𝐹</m:t>
                                </m:r>
                              </m:e>
                              <m:sup>
                                <m:r>
                                  <a:rPr kumimoji="1" lang="en-US" altLang="zh-CN" sz="2000" b="0" i="1" u="none" strike="noStrike" kern="1200" cap="none" spc="0" normalizeH="0" baseline="0" noProof="0" dirty="0">
                                    <a:ln>
                                      <a:noFill/>
                                    </a:ln>
                                    <a:solidFill>
                                      <a:srgbClr val="000000"/>
                                    </a:solidFill>
                                    <a:effectLst/>
                                    <a:uLnTx/>
                                    <a:uFillTx/>
                                    <a:latin typeface="Cambria Math" panose="02040503050406030204" pitchFamily="18" charset="0"/>
                                  </a:rPr>
                                  <m:t>⊗</m:t>
                                </m:r>
                                <m:r>
                                  <a:rPr kumimoji="1" lang="en-US" altLang="zh-CN" sz="2000" b="0" i="1" u="none" strike="noStrike" kern="1200" cap="none" spc="0" normalizeH="0" baseline="0" noProof="0" dirty="0">
                                    <a:ln>
                                      <a:noFill/>
                                    </a:ln>
                                    <a:solidFill>
                                      <a:srgbClr val="000000"/>
                                    </a:solidFill>
                                    <a:effectLst/>
                                    <a:uLnTx/>
                                    <a:uFillTx/>
                                    <a:latin typeface="Cambria Math" panose="02040503050406030204" pitchFamily="18" charset="0"/>
                                  </a:rPr>
                                  <m:t>𝑛</m:t>
                                </m:r>
                              </m:sup>
                            </m:sSup>
                          </m:e>
                        </m:d>
                      </m:e>
                      <m:sup>
                        <m: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t>−</m:t>
                        </m:r>
                        <m: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t>1</m:t>
                        </m:r>
                      </m:sup>
                    </m:sSup>
                    <m: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t>=</m:t>
                    </m:r>
                    <m:sSup>
                      <m:sSupPr>
                        <m:ctrlP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ctrlPr>
                      </m:sSupPr>
                      <m:e>
                        <m:d>
                          <m:dPr>
                            <m:ctrlP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ctrlPr>
                          </m:dPr>
                          <m:e>
                            <m:sSup>
                              <m:sSupPr>
                                <m:ctrlP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ctrlPr>
                              </m:sSupPr>
                              <m:e>
                                <m: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t>𝐹</m:t>
                                </m:r>
                              </m:e>
                              <m:sup>
                                <m: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t>−</m:t>
                                </m:r>
                                <m: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t>1</m:t>
                                </m:r>
                              </m:sup>
                            </m:sSup>
                          </m:e>
                        </m:d>
                      </m:e>
                      <m:sup>
                        <m: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t>⊗</m:t>
                        </m:r>
                        <m: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t>𝑛</m:t>
                        </m:r>
                      </m:sup>
                    </m:sSup>
                    <m: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t>=</m:t>
                    </m:r>
                    <m: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t>𝐺</m:t>
                    </m:r>
                  </m:oMath>
                </a14:m>
                <a:r>
                  <a:rPr kumimoji="1" lang="zh-CN" altLang="en-US" sz="2000" b="0" i="0" u="none" strike="noStrike" kern="1200" cap="none" spc="0" normalizeH="0" baseline="0" noProof="0" dirty="0">
                    <a:ln>
                      <a:noFill/>
                    </a:ln>
                    <a:solidFill>
                      <a:srgbClr val="000000"/>
                    </a:solidFill>
                    <a:effectLst/>
                    <a:uLnTx/>
                    <a:uFillTx/>
                    <a:ea typeface="黑体" panose="02010609060101010101" pitchFamily="49" charset="-122"/>
                  </a:rPr>
                  <a:t>，</a:t>
                </a:r>
                <a:endParaRPr kumimoji="1" lang="en-US" altLang="zh-CN" sz="2000" b="0" i="0" u="none" strike="noStrike" kern="1200" cap="none" spc="0" normalizeH="0" baseline="0" noProof="0" dirty="0">
                  <a:ln>
                    <a:noFill/>
                  </a:ln>
                  <a:solidFill>
                    <a:srgbClr val="000000"/>
                  </a:solidFill>
                  <a:effectLst/>
                  <a:uLnTx/>
                  <a:uFillTx/>
                  <a:ea typeface="黑体" panose="02010609060101010101" pitchFamily="49" charset="-122"/>
                </a:endParaRPr>
              </a:p>
              <a:p>
                <a:pPr marL="0" marR="0" lvl="0" indent="0" algn="l" defTabSz="914400" rtl="0" eaLnBrk="0" fontAlgn="base" latinLnBrk="0" hangingPunct="0">
                  <a:lnSpc>
                    <a:spcPct val="150000"/>
                  </a:lnSpc>
                  <a:spcBef>
                    <a:spcPts val="0"/>
                  </a:spcBef>
                  <a:spcAft>
                    <a:spcPts val="0"/>
                  </a:spcAft>
                  <a:buClrTx/>
                  <a:buSzTx/>
                  <a:buFont typeface="Wingdings" panose="05000000000000000000" pitchFamily="2" charset="2"/>
                  <a:buNone/>
                  <a:defRPr/>
                </a:pPr>
                <a:r>
                  <a:rPr kumimoji="1" lang="en-US" altLang="zh-CN" sz="2000" b="0" i="0" u="none" strike="noStrike" kern="1200" cap="none" spc="0" normalizeH="0" baseline="0" noProof="0" dirty="0">
                    <a:ln>
                      <a:noFill/>
                    </a:ln>
                    <a:solidFill>
                      <a:srgbClr val="000000"/>
                    </a:solidFill>
                    <a:effectLst/>
                    <a:uLnTx/>
                    <a:uFillTx/>
                    <a:ea typeface="黑体" panose="02010609060101010101" pitchFamily="49" charset="-122"/>
                  </a:rPr>
                  <a:t>   </a:t>
                </a:r>
                <a:r>
                  <a:rPr kumimoji="1" lang="zh-CN" altLang="en-US" sz="2000" b="0" i="0" u="none" strike="noStrike" kern="1200" cap="none" spc="0" normalizeH="0" baseline="0" noProof="0" dirty="0">
                    <a:ln>
                      <a:noFill/>
                    </a:ln>
                    <a:solidFill>
                      <a:srgbClr val="000000"/>
                    </a:solidFill>
                    <a:effectLst/>
                    <a:uLnTx/>
                    <a:uFillTx/>
                    <a:ea typeface="黑体" panose="02010609060101010101" pitchFamily="49" charset="-122"/>
                  </a:rPr>
                  <a:t>所以，</a:t>
                </a:r>
                <a14:m>
                  <m:oMath xmlns:m="http://schemas.openxmlformats.org/officeDocument/2006/math">
                    <m:r>
                      <a:rPr kumimoji="1" lang="zh-CN" altLang="en-US" sz="2000" b="0" i="1" u="none" strike="noStrike" kern="1200" cap="none" spc="0" normalizeH="0" baseline="0" noProof="0" dirty="0">
                        <a:ln>
                          <a:noFill/>
                        </a:ln>
                        <a:solidFill>
                          <a:srgbClr val="000000"/>
                        </a:solidFill>
                        <a:effectLst/>
                        <a:uLnTx/>
                        <a:uFillTx/>
                        <a:latin typeface="Cambria Math" panose="02040503050406030204" pitchFamily="18" charset="0"/>
                      </a:rPr>
                      <m:t>𝑢</m:t>
                    </m:r>
                    <m:r>
                      <a:rPr kumimoji="1" lang="zh-CN" altLang="en-US" sz="2000" b="0" i="0" u="none" strike="noStrike" kern="1200" cap="none" spc="0" normalizeH="0" baseline="0" noProof="0" dirty="0">
                        <a:ln>
                          <a:noFill/>
                        </a:ln>
                        <a:solidFill>
                          <a:srgbClr val="000000"/>
                        </a:solidFill>
                        <a:effectLst/>
                        <a:uLnTx/>
                        <a:uFillTx/>
                        <a:latin typeface="Cambria Math" panose="02040503050406030204" pitchFamily="18" charset="0"/>
                      </a:rPr>
                      <m:t>=</m:t>
                    </m:r>
                    <m:r>
                      <a:rPr kumimoji="1" lang="en-US" altLang="zh-CN" sz="2000" b="0" i="1" u="none" strike="noStrike" kern="1200" cap="none" spc="0" normalizeH="0" baseline="0" noProof="0" dirty="0" smtClean="0">
                        <a:ln>
                          <a:noFill/>
                        </a:ln>
                        <a:solidFill>
                          <a:srgbClr val="000000"/>
                        </a:solidFill>
                        <a:effectLst/>
                        <a:uLnTx/>
                        <a:uFillTx/>
                        <a:latin typeface="Cambria Math" panose="02040503050406030204" pitchFamily="18" charset="0"/>
                      </a:rPr>
                      <m:t>𝑥</m:t>
                    </m:r>
                    <m:sSup>
                      <m:sSupPr>
                        <m:ctrlPr>
                          <a:rPr kumimoji="1" lang="zh-CN" altLang="en-US" sz="2000" b="0" i="1" u="none" strike="noStrike" kern="1200" cap="none" spc="0" normalizeH="0" baseline="0" noProof="0" dirty="0">
                            <a:ln>
                              <a:noFill/>
                            </a:ln>
                            <a:solidFill>
                              <a:srgbClr val="000000"/>
                            </a:solidFill>
                            <a:effectLst/>
                            <a:uLnTx/>
                            <a:uFillTx/>
                            <a:latin typeface="Cambria Math" panose="02040503050406030204" pitchFamily="18" charset="0"/>
                          </a:rPr>
                        </m:ctrlPr>
                      </m:sSupPr>
                      <m:e>
                        <m:r>
                          <a:rPr kumimoji="1" lang="en-US" altLang="zh-CN" sz="2000" b="0" i="1" u="none" strike="noStrike" kern="1200" cap="none" spc="0" normalizeH="0" baseline="0" noProof="0" dirty="0">
                            <a:ln>
                              <a:noFill/>
                            </a:ln>
                            <a:solidFill>
                              <a:srgbClr val="000000"/>
                            </a:solidFill>
                            <a:effectLst/>
                            <a:uLnTx/>
                            <a:uFillTx/>
                            <a:latin typeface="Cambria Math" panose="02040503050406030204" pitchFamily="18" charset="0"/>
                          </a:rPr>
                          <m:t>·</m:t>
                        </m:r>
                        <m:r>
                          <a:rPr kumimoji="1" lang="zh-CN" altLang="en-US" sz="2000" b="0" i="1" u="none" strike="noStrike" kern="1200" cap="none" spc="0" normalizeH="0" baseline="0" noProof="0" dirty="0">
                            <a:ln>
                              <a:noFill/>
                            </a:ln>
                            <a:solidFill>
                              <a:srgbClr val="000000"/>
                            </a:solidFill>
                            <a:effectLst/>
                            <a:uLnTx/>
                            <a:uFillTx/>
                            <a:latin typeface="Cambria Math" panose="02040503050406030204" pitchFamily="18" charset="0"/>
                          </a:rPr>
                          <m:t>𝐺</m:t>
                        </m:r>
                      </m:e>
                      <m:sup>
                        <m:r>
                          <a:rPr kumimoji="1" lang="zh-CN" altLang="en-US" sz="2000" b="0" i="0" u="none" strike="noStrike" kern="1200" cap="none" spc="0" normalizeH="0" baseline="0" noProof="0" dirty="0">
                            <a:ln>
                              <a:noFill/>
                            </a:ln>
                            <a:solidFill>
                              <a:srgbClr val="000000"/>
                            </a:solidFill>
                            <a:effectLst/>
                            <a:uLnTx/>
                            <a:uFillTx/>
                            <a:latin typeface="Cambria Math" panose="02040503050406030204" pitchFamily="18" charset="0"/>
                          </a:rPr>
                          <m:t>−</m:t>
                        </m:r>
                        <m:r>
                          <a:rPr kumimoji="1" lang="zh-CN" altLang="en-US" sz="2000" b="0" i="0" u="none" strike="noStrike" kern="1200" cap="none" spc="0" normalizeH="0" baseline="0" noProof="0" dirty="0">
                            <a:ln>
                              <a:noFill/>
                            </a:ln>
                            <a:solidFill>
                              <a:srgbClr val="000000"/>
                            </a:solidFill>
                            <a:effectLst/>
                            <a:uLnTx/>
                            <a:uFillTx/>
                            <a:latin typeface="Cambria Math" panose="02040503050406030204" pitchFamily="18" charset="0"/>
                          </a:rPr>
                          <m:t>1</m:t>
                        </m:r>
                      </m:sup>
                    </m:sSup>
                  </m:oMath>
                </a14:m>
                <a:r>
                  <a:rPr kumimoji="1" lang="en-US" altLang="zh-CN" sz="2000" b="0" i="0" u="none" strike="noStrike" kern="1200" cap="none" spc="0" normalizeH="0" baseline="0" noProof="0" dirty="0">
                    <a:ln>
                      <a:noFill/>
                    </a:ln>
                    <a:solidFill>
                      <a:srgbClr val="000000"/>
                    </a:solidFill>
                    <a:effectLst/>
                    <a:uLnTx/>
                    <a:uFillTx/>
                    <a:ea typeface="黑体" panose="02010609060101010101" pitchFamily="49" charset="-122"/>
                  </a:rPr>
                  <a:t>=</a:t>
                </a:r>
                <a:r>
                  <a:rPr kumimoji="1" lang="en-US" altLang="zh-CN" sz="2000" dirty="0">
                    <a:solidFill>
                      <a:srgbClr val="000000"/>
                    </a:solidFill>
                    <a:ea typeface="黑体" panose="02010609060101010101" pitchFamily="49" charset="-122"/>
                  </a:rPr>
                  <a:t>x</a:t>
                </a:r>
                <a14:m>
                  <m:oMath xmlns:m="http://schemas.openxmlformats.org/officeDocument/2006/math">
                    <m:sSup>
                      <m:sSupPr>
                        <m:ctrlPr>
                          <a:rPr kumimoji="1" lang="zh-CN" altLang="en-US" sz="2000" b="0" i="1" u="none" strike="noStrike" kern="1200" cap="none" spc="0" normalizeH="0" baseline="0" noProof="0" dirty="0">
                            <a:ln>
                              <a:noFill/>
                            </a:ln>
                            <a:solidFill>
                              <a:srgbClr val="000000"/>
                            </a:solidFill>
                            <a:effectLst/>
                            <a:uLnTx/>
                            <a:uFillTx/>
                            <a:latin typeface="Cambria Math" panose="02040503050406030204" pitchFamily="18" charset="0"/>
                          </a:rPr>
                        </m:ctrlPr>
                      </m:sSupPr>
                      <m:e>
                        <m:r>
                          <a:rPr kumimoji="1" lang="en-US" altLang="zh-CN" sz="2000" b="0" i="1" u="none" strike="noStrike" kern="1200" cap="none" spc="0" normalizeH="0" baseline="0" noProof="0" dirty="0">
                            <a:ln>
                              <a:noFill/>
                            </a:ln>
                            <a:solidFill>
                              <a:srgbClr val="000000"/>
                            </a:solidFill>
                            <a:effectLst/>
                            <a:uLnTx/>
                            <a:uFillTx/>
                            <a:latin typeface="Cambria Math" panose="02040503050406030204" pitchFamily="18" charset="0"/>
                          </a:rPr>
                          <m:t>·</m:t>
                        </m:r>
                        <m:r>
                          <a:rPr kumimoji="1" lang="zh-CN" altLang="en-US" sz="2000" b="0" i="1" u="none" strike="noStrike" kern="1200" cap="none" spc="0" normalizeH="0" baseline="0" noProof="0" dirty="0">
                            <a:ln>
                              <a:noFill/>
                            </a:ln>
                            <a:solidFill>
                              <a:srgbClr val="000000"/>
                            </a:solidFill>
                            <a:effectLst/>
                            <a:uLnTx/>
                            <a:uFillTx/>
                            <a:latin typeface="Cambria Math" panose="02040503050406030204" pitchFamily="18" charset="0"/>
                          </a:rPr>
                          <m:t>𝐺</m:t>
                        </m:r>
                      </m:e>
                      <m:sup/>
                    </m:sSup>
                  </m:oMath>
                </a14:m>
                <a:r>
                  <a:rPr kumimoji="1" lang="zh-CN" altLang="en-US" sz="2000" b="0" i="0" u="none" strike="noStrike" kern="1200" cap="none" spc="0" normalizeH="0" baseline="0" noProof="0" dirty="0">
                    <a:ln>
                      <a:noFill/>
                    </a:ln>
                    <a:solidFill>
                      <a:srgbClr val="000000"/>
                    </a:solidFill>
                    <a:effectLst/>
                    <a:uLnTx/>
                    <a:uFillTx/>
                    <a:ea typeface="黑体" panose="02010609060101010101" pitchFamily="49" charset="-122"/>
                  </a:rPr>
                  <a:t>。</a:t>
                </a:r>
                <a:endParaRPr kumimoji="1" lang="en-US" altLang="zh-CN" sz="2000" b="0" i="0" u="none" strike="noStrike" kern="1200" cap="none" spc="0" normalizeH="0" baseline="0" noProof="0" dirty="0">
                  <a:ln>
                    <a:noFill/>
                  </a:ln>
                  <a:solidFill>
                    <a:srgbClr val="000000"/>
                  </a:solidFill>
                  <a:effectLst/>
                  <a:uLnTx/>
                  <a:uFillTx/>
                  <a:ea typeface="黑体" panose="02010609060101010101" pitchFamily="49" charset="-122"/>
                </a:endParaRPr>
              </a:p>
              <a:p>
                <a:pPr marL="0" marR="0" lvl="0" indent="0" algn="l" defTabSz="914400" rtl="0" eaLnBrk="0" fontAlgn="base" latinLnBrk="0" hangingPunct="0">
                  <a:lnSpc>
                    <a:spcPct val="150000"/>
                  </a:lnSpc>
                  <a:spcBef>
                    <a:spcPts val="0"/>
                  </a:spcBef>
                  <a:spcAft>
                    <a:spcPts val="0"/>
                  </a:spcAft>
                  <a:buClrTx/>
                  <a:buSzTx/>
                  <a:buFont typeface="Wingdings" panose="05000000000000000000" pitchFamily="2" charset="2"/>
                  <a:buNone/>
                  <a:defRPr/>
                </a:pPr>
                <a:r>
                  <a:rPr kumimoji="1" lang="zh-CN" altLang="en-US" sz="2000" b="0" i="0" u="none" strike="noStrike" kern="1200" cap="none" spc="0" normalizeH="0" baseline="0" noProof="0" dirty="0">
                    <a:ln>
                      <a:noFill/>
                    </a:ln>
                    <a:solidFill>
                      <a:srgbClr val="000000"/>
                    </a:solidFill>
                    <a:effectLst/>
                    <a:uLnTx/>
                    <a:uFillTx/>
                    <a:ea typeface="黑体" panose="02010609060101010101" pitchFamily="49" charset="-122"/>
                  </a:rPr>
                  <a:t>   其中</a:t>
                </a:r>
                <a:r>
                  <a:rPr kumimoji="1" lang="en-US" altLang="zh-CN" sz="2000" b="0" i="0" u="none" strike="noStrike" kern="1200" cap="none" spc="0" normalizeH="0" baseline="0" noProof="0" dirty="0">
                    <a:ln>
                      <a:noFill/>
                    </a:ln>
                    <a:solidFill>
                      <a:srgbClr val="000000"/>
                    </a:solidFill>
                    <a:effectLst/>
                    <a:uLnTx/>
                    <a:uFillTx/>
                    <a:ea typeface="黑体" panose="02010609060101010101" pitchFamily="49" charset="-122"/>
                  </a:rPr>
                  <a:t>F</a:t>
                </a:r>
                <a:r>
                  <a:rPr kumimoji="1" lang="zh-CN" altLang="en-US" sz="2000" b="0" i="0" u="none" strike="noStrike" kern="1200" cap="none" spc="0" normalizeH="0" baseline="0" noProof="0" dirty="0">
                    <a:ln>
                      <a:noFill/>
                    </a:ln>
                    <a:solidFill>
                      <a:srgbClr val="000000"/>
                    </a:solidFill>
                    <a:effectLst/>
                    <a:uLnTx/>
                    <a:uFillTx/>
                    <a:ea typeface="黑体" panose="02010609060101010101" pitchFamily="49" charset="-122"/>
                  </a:rPr>
                  <a:t>为</a:t>
                </a:r>
                <a14:m>
                  <m:oMath xmlns:m="http://schemas.openxmlformats.org/officeDocument/2006/math">
                    <m:r>
                      <a:rPr kumimoji="1"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rPr>
                      <m:t>𝐹</m:t>
                    </m:r>
                    <m:r>
                      <a:rPr kumimoji="1"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rPr>
                      <m:t>=</m:t>
                    </m:r>
                    <m:d>
                      <m:dPr>
                        <m:begChr m:val="["/>
                        <m:endChr m:val="]"/>
                        <m:ctrlPr>
                          <a:rPr kumimoji="1"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rPr>
                        </m:ctrlPr>
                      </m:dPr>
                      <m:e>
                        <m:m>
                          <m:mPr>
                            <m:mcs>
                              <m:mc>
                                <m:mcPr>
                                  <m:count m:val="2"/>
                                  <m:mcJc m:val="center"/>
                                </m:mcPr>
                              </m:mc>
                            </m:mcs>
                            <m:plcHide m:val="on"/>
                            <m:ctrlPr>
                              <a:rPr kumimoji="1"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rPr>
                            </m:ctrlPr>
                          </m:mPr>
                          <m:mr>
                            <m:e>
                              <m:r>
                                <a:rPr kumimoji="1"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rPr>
                                <m:t>1</m:t>
                              </m:r>
                            </m:e>
                            <m:e>
                              <m:r>
                                <a:rPr kumimoji="1"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rPr>
                                <m:t>0</m:t>
                              </m:r>
                            </m:e>
                          </m:mr>
                          <m:mr>
                            <m:e>
                              <m:r>
                                <a:rPr kumimoji="1"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rPr>
                                <m:t>1</m:t>
                              </m:r>
                            </m:e>
                            <m:e>
                              <m:r>
                                <a:rPr kumimoji="1"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rPr>
                                <m:t>1</m:t>
                              </m:r>
                            </m:e>
                          </m:mr>
                        </m:m>
                      </m:e>
                    </m:d>
                    <m:r>
                      <a:rPr kumimoji="1" lang="zh-CN" altLang="en-US" sz="2000" b="0" i="1" u="none" strike="noStrike" kern="1200" cap="none" spc="0" normalizeH="0" baseline="0" noProof="0">
                        <a:ln>
                          <a:noFill/>
                        </a:ln>
                        <a:solidFill>
                          <a:srgbClr val="000000"/>
                        </a:solidFill>
                        <a:effectLst/>
                        <a:uLnTx/>
                        <a:uFillTx/>
                        <a:latin typeface="Cambria Math" panose="02040503050406030204" pitchFamily="18" charset="0"/>
                      </a:rPr>
                      <m:t>。</m:t>
                    </m:r>
                  </m:oMath>
                </a14:m>
                <a:endParaRPr lang="zh-CN" altLang="en-US" dirty="0"/>
              </a:p>
            </p:txBody>
          </p:sp>
        </mc:Choice>
        <mc:Fallback>
          <p:sp>
            <p:nvSpPr>
              <p:cNvPr id="8" name="文本框 7"/>
              <p:cNvSpPr txBox="1">
                <a:spLocks noRot="1" noChangeAspect="1" noMove="1" noResize="1" noEditPoints="1" noAdjustHandles="1" noChangeArrowheads="1" noChangeShapeType="1" noTextEdit="1"/>
              </p:cNvSpPr>
              <p:nvPr/>
            </p:nvSpPr>
            <p:spPr>
              <a:xfrm>
                <a:off x="762100" y="2743218"/>
                <a:ext cx="7848394" cy="2863156"/>
              </a:xfrm>
              <a:prstGeom prst="rect">
                <a:avLst/>
              </a:prstGeom>
              <a:blipFill rotWithShape="1">
                <a:blip r:embed="rId1"/>
                <a:stretch>
                  <a:fillRect l="-82" t="-222" r="-74" b="-201"/>
                </a:stretch>
              </a:blipFill>
            </p:spPr>
            <p:style>
              <a:lnRef idx="2">
                <a:schemeClr val="dk1"/>
              </a:lnRef>
              <a:fillRef idx="1">
                <a:schemeClr val="lt1"/>
              </a:fillRef>
              <a:effectRef idx="0">
                <a:schemeClr val="dk1"/>
              </a:effectRef>
              <a:fontRef idx="minor">
                <a:schemeClr val="dk1"/>
              </a:fontRef>
            </p:style>
            <p:txBody>
              <a:bodyPr/>
              <a:lstStyle/>
              <a:p>
                <a:r>
                  <a:rPr lang="zh-CN" altLang="en-US">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014456" y="152486"/>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码方法</a:t>
            </a:r>
            <a:endParaRPr lang="zh-CN" altLang="en-US" sz="2400" dirty="0">
              <a:sym typeface="+mn-ea"/>
            </a:endParaRPr>
          </a:p>
        </p:txBody>
      </p:sp>
      <p:sp>
        <p:nvSpPr>
          <p:cNvPr id="5" name="内容占位符 2"/>
          <p:cNvSpPr>
            <a:spLocks noGrp="1"/>
          </p:cNvSpPr>
          <p:nvPr>
            <p:ph idx="1"/>
          </p:nvPr>
        </p:nvSpPr>
        <p:spPr>
          <a:xfrm>
            <a:off x="457308" y="1371654"/>
            <a:ext cx="8457978" cy="3962206"/>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150000"/>
              </a:lnSpc>
              <a:spcBef>
                <a:spcPts val="0"/>
              </a:spcBef>
              <a:spcAft>
                <a:spcPts val="0"/>
              </a:spcAft>
              <a:buNone/>
            </a:pPr>
            <a:r>
              <a:rPr lang="zh-CN" altLang="en-US" sz="2000" dirty="0">
                <a:solidFill>
                  <a:schemeClr val="dk1"/>
                </a:solidFill>
                <a:latin typeface="+mn-ea"/>
              </a:rPr>
              <a:t>    </a:t>
            </a:r>
            <a:r>
              <a:rPr lang="en-US" altLang="zh-CN" sz="2000" dirty="0">
                <a:solidFill>
                  <a:schemeClr val="dk1"/>
                </a:solidFill>
              </a:rPr>
              <a:t>Polar</a:t>
            </a:r>
            <a:r>
              <a:rPr lang="zh-CN" altLang="en-US" sz="2000" dirty="0">
                <a:solidFill>
                  <a:schemeClr val="dk1"/>
                </a:solidFill>
              </a:rPr>
              <a:t>码解码经常使用串行消去（</a:t>
            </a:r>
            <a:r>
              <a:rPr lang="en-US" altLang="zh-CN" sz="2000" dirty="0">
                <a:solidFill>
                  <a:schemeClr val="dk1"/>
                </a:solidFill>
              </a:rPr>
              <a:t>SC</a:t>
            </a:r>
            <a:r>
              <a:rPr lang="zh-CN" altLang="en-US" sz="2000" dirty="0">
                <a:solidFill>
                  <a:schemeClr val="dk1"/>
                </a:solidFill>
              </a:rPr>
              <a:t>）解码方法。</a:t>
            </a:r>
            <a:endParaRPr lang="en-US" altLang="zh-CN" sz="2000" dirty="0">
              <a:solidFill>
                <a:schemeClr val="dk1"/>
              </a:solidFill>
            </a:endParaRPr>
          </a:p>
          <a:p>
            <a:pPr marL="0" indent="0">
              <a:lnSpc>
                <a:spcPct val="150000"/>
              </a:lnSpc>
              <a:spcBef>
                <a:spcPts val="0"/>
              </a:spcBef>
              <a:spcAft>
                <a:spcPts val="0"/>
              </a:spcAft>
              <a:buNone/>
            </a:pPr>
            <a:endParaRPr lang="en-US" altLang="zh-CN" sz="2000" dirty="0">
              <a:solidFill>
                <a:schemeClr val="dk1"/>
              </a:solidFill>
            </a:endParaRPr>
          </a:p>
          <a:p>
            <a:pPr marL="0" indent="0">
              <a:lnSpc>
                <a:spcPct val="150000"/>
              </a:lnSpc>
              <a:spcBef>
                <a:spcPts val="0"/>
              </a:spcBef>
              <a:spcAft>
                <a:spcPts val="0"/>
              </a:spcAft>
              <a:buNone/>
            </a:pPr>
            <a:r>
              <a:rPr lang="zh-CN" altLang="en-US" sz="2000" dirty="0">
                <a:solidFill>
                  <a:srgbClr val="FF0000"/>
                </a:solidFill>
              </a:rPr>
              <a:t>串行消去：</a:t>
            </a:r>
            <a:endParaRPr lang="en-US" altLang="zh-CN" sz="2000" dirty="0">
              <a:solidFill>
                <a:srgbClr val="FF0000"/>
              </a:solidFill>
            </a:endParaRPr>
          </a:p>
          <a:p>
            <a:pPr marL="0" indent="0">
              <a:lnSpc>
                <a:spcPct val="200000"/>
              </a:lnSpc>
              <a:spcBef>
                <a:spcPts val="0"/>
              </a:spcBef>
              <a:spcAft>
                <a:spcPts val="0"/>
              </a:spcAft>
              <a:buNone/>
            </a:pPr>
            <a:r>
              <a:rPr lang="zh-CN" altLang="en-US" sz="2000" dirty="0"/>
              <a:t>①  将比特索引号大的一半（</a:t>
            </a:r>
            <a:r>
              <a:rPr lang="en-US" altLang="zh-CN" sz="2000" dirty="0"/>
              <a:t>N/2</a:t>
            </a:r>
            <a:r>
              <a:rPr lang="zh-CN" altLang="en-US" sz="2000" dirty="0"/>
              <a:t>个数据）当做随机噪声，根据接收到的数据去解码比索引号小的一半（</a:t>
            </a:r>
            <a:r>
              <a:rPr lang="en-US" altLang="zh-CN" sz="2000" dirty="0"/>
              <a:t>N/2</a:t>
            </a:r>
            <a:r>
              <a:rPr lang="zh-CN" altLang="en-US" sz="2000" dirty="0"/>
              <a:t>个数据）；</a:t>
            </a:r>
            <a:endParaRPr lang="en-US" altLang="zh-CN" sz="2000" dirty="0"/>
          </a:p>
          <a:p>
            <a:pPr marL="0" indent="0">
              <a:lnSpc>
                <a:spcPct val="200000"/>
              </a:lnSpc>
              <a:spcBef>
                <a:spcPts val="0"/>
              </a:spcBef>
              <a:spcAft>
                <a:spcPts val="0"/>
              </a:spcAft>
              <a:buNone/>
            </a:pPr>
            <a:r>
              <a:rPr lang="zh-CN" altLang="en-US" sz="2000" dirty="0"/>
              <a:t>②  把解出来的比特索引号小的一半（</a:t>
            </a:r>
            <a:r>
              <a:rPr lang="en-US" altLang="zh-CN" sz="2000" dirty="0"/>
              <a:t>N/2</a:t>
            </a:r>
            <a:r>
              <a:rPr lang="zh-CN" altLang="en-US" sz="2000" dirty="0"/>
              <a:t>个数据）当做已知比特，根据接收到的数据去解码比特索引号大的一半（</a:t>
            </a:r>
            <a:r>
              <a:rPr lang="en-US" altLang="zh-CN" sz="2000" dirty="0"/>
              <a:t>N/2</a:t>
            </a:r>
            <a:r>
              <a:rPr lang="zh-CN" altLang="en-US" sz="2000" dirty="0"/>
              <a:t>个数据）。</a:t>
            </a:r>
            <a:endParaRPr lang="en-US" altLang="zh-CN" sz="2000" dirty="0"/>
          </a:p>
          <a:p>
            <a:pPr marL="0" indent="0">
              <a:lnSpc>
                <a:spcPct val="150000"/>
              </a:lnSpc>
              <a:spcBef>
                <a:spcPts val="0"/>
              </a:spcBef>
              <a:spcAft>
                <a:spcPts val="0"/>
              </a:spcAft>
              <a:buNone/>
            </a:pPr>
            <a:endParaRPr lang="en-US" altLang="zh-CN" sz="2000" dirty="0">
              <a:latin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981549" y="152486"/>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码方法</a:t>
            </a:r>
            <a:endParaRPr lang="zh-CN" altLang="en-US" sz="2400" dirty="0">
              <a:sym typeface="+mn-ea"/>
            </a:endParaRPr>
          </a:p>
        </p:txBody>
      </p:sp>
      <mc:AlternateContent xmlns:mc="http://schemas.openxmlformats.org/markup-compatibility/2006">
        <mc:Choice xmlns:a14="http://schemas.microsoft.com/office/drawing/2010/main" Requires="a14">
          <p:sp>
            <p:nvSpPr>
              <p:cNvPr id="5" name="内容占位符 2"/>
              <p:cNvSpPr>
                <a:spLocks noGrp="1"/>
              </p:cNvSpPr>
              <p:nvPr>
                <p:ph idx="1"/>
              </p:nvPr>
            </p:nvSpPr>
            <p:spPr>
              <a:xfrm>
                <a:off x="228714" y="998374"/>
                <a:ext cx="8686572" cy="5173754"/>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200000"/>
                  </a:lnSpc>
                  <a:spcBef>
                    <a:spcPts val="0"/>
                  </a:spcBef>
                  <a:spcAft>
                    <a:spcPts val="0"/>
                  </a:spcAft>
                  <a:buNone/>
                </a:pPr>
                <a:r>
                  <a:rPr lang="zh-CN" altLang="en-US" sz="2000" dirty="0">
                    <a:solidFill>
                      <a:srgbClr val="FF0000"/>
                    </a:solidFill>
                  </a:rPr>
                  <a:t>举例：</a:t>
                </a:r>
                <a:r>
                  <a:rPr lang="zh-CN" altLang="en-US" sz="2000" dirty="0">
                    <a:solidFill>
                      <a:schemeClr val="tx1"/>
                    </a:solidFill>
                  </a:rPr>
                  <a:t>假设</a:t>
                </a:r>
                <a:r>
                  <a:rPr lang="zh-CN" altLang="en-US" sz="2000" dirty="0">
                    <a:solidFill>
                      <a:schemeClr val="dk1"/>
                    </a:solidFill>
                  </a:rPr>
                  <a:t>从比特到符号的</a:t>
                </a:r>
                <a:r>
                  <a:rPr lang="en-US" altLang="zh-CN" sz="2000" dirty="0">
                    <a:solidFill>
                      <a:schemeClr val="dk1"/>
                    </a:solidFill>
                  </a:rPr>
                  <a:t>BPSK</a:t>
                </a:r>
                <a:r>
                  <a:rPr lang="zh-CN" altLang="en-US" sz="2000" dirty="0">
                    <a:solidFill>
                      <a:schemeClr val="dk1"/>
                    </a:solidFill>
                  </a:rPr>
                  <a:t>映射规则为</a:t>
                </a:r>
                <a:r>
                  <a:rPr lang="en-US" altLang="zh-CN" sz="2000" dirty="0">
                    <a:solidFill>
                      <a:schemeClr val="dk1"/>
                    </a:solidFill>
                  </a:rPr>
                  <a:t>y=2x-1</a:t>
                </a:r>
                <a:r>
                  <a:rPr lang="zh-CN" altLang="en-US" sz="2000" dirty="0">
                    <a:solidFill>
                      <a:schemeClr val="dk1"/>
                    </a:solidFill>
                  </a:rPr>
                  <a:t>（比特“</a:t>
                </a:r>
                <a:r>
                  <a:rPr lang="en-US" altLang="zh-CN" sz="2000" dirty="0">
                    <a:solidFill>
                      <a:schemeClr val="dk1"/>
                    </a:solidFill>
                  </a:rPr>
                  <a:t>0</a:t>
                </a:r>
                <a:r>
                  <a:rPr lang="zh-CN" altLang="en-US" sz="2000" dirty="0">
                    <a:solidFill>
                      <a:schemeClr val="dk1"/>
                    </a:solidFill>
                  </a:rPr>
                  <a:t>”映射为</a:t>
                </a:r>
                <a:endParaRPr lang="en-US" altLang="zh-CN" sz="2000" dirty="0">
                  <a:solidFill>
                    <a:schemeClr val="dk1"/>
                  </a:solidFill>
                </a:endParaRPr>
              </a:p>
              <a:p>
                <a:pPr marL="0" indent="0">
                  <a:lnSpc>
                    <a:spcPct val="200000"/>
                  </a:lnSpc>
                  <a:spcBef>
                    <a:spcPts val="0"/>
                  </a:spcBef>
                  <a:spcAft>
                    <a:spcPts val="0"/>
                  </a:spcAft>
                  <a:buNone/>
                </a:pPr>
                <a:r>
                  <a:rPr lang="zh-CN" altLang="en-US" sz="2000" dirty="0"/>
                  <a:t>“</a:t>
                </a:r>
                <a:r>
                  <a:rPr lang="en-US" altLang="zh-CN" sz="2000" dirty="0"/>
                  <a:t>-1</a:t>
                </a:r>
                <a:r>
                  <a:rPr lang="zh-CN" altLang="en-US" sz="2000" dirty="0"/>
                  <a:t>”，比特为“</a:t>
                </a:r>
                <a:r>
                  <a:rPr lang="en-US" altLang="zh-CN" sz="2000" dirty="0"/>
                  <a:t>1</a:t>
                </a:r>
                <a:r>
                  <a:rPr lang="zh-CN" altLang="en-US" sz="2000" dirty="0"/>
                  <a:t>”映射为“</a:t>
                </a:r>
                <a:r>
                  <a:rPr lang="en-US" altLang="zh-CN" sz="2000" dirty="0"/>
                  <a:t>+1</a:t>
                </a:r>
                <a:r>
                  <a:rPr lang="zh-CN" altLang="en-US" sz="2000" dirty="0"/>
                  <a:t>”</a:t>
                </a:r>
                <a:r>
                  <a:rPr lang="zh-CN" altLang="en-US" sz="2000" dirty="0">
                    <a:solidFill>
                      <a:schemeClr val="dk1"/>
                    </a:solidFill>
                  </a:rPr>
                  <a:t>），还假设接收到的数据为</a:t>
                </a:r>
                <a14:m>
                  <m:oMath xmlns:m="http://schemas.openxmlformats.org/officeDocument/2006/math">
                    <m:sSub>
                      <m:sSubPr>
                        <m:ctrlPr>
                          <a:rPr lang="zh-CN" altLang="en-US" sz="2000" i="1" smtClean="0">
                            <a:solidFill>
                              <a:schemeClr val="tx1"/>
                            </a:solidFill>
                            <a:latin typeface="Cambria Math" panose="02040503050406030204" pitchFamily="18" charset="0"/>
                            <a:ea typeface="黑体" panose="02010609060101010101" pitchFamily="49" charset="-122"/>
                          </a:rPr>
                        </m:ctrlPr>
                      </m:sSubPr>
                      <m:e>
                        <m:r>
                          <m:rPr>
                            <m:sty m:val="p"/>
                          </m:rPr>
                          <a:rPr lang="en-US" altLang="zh-CN" sz="2000" i="1">
                            <a:solidFill>
                              <a:schemeClr val="tx1"/>
                            </a:solidFill>
                            <a:latin typeface="Cambria Math" panose="02040503050406030204" pitchFamily="18" charset="0"/>
                            <a:ea typeface="黑体" panose="02010609060101010101" pitchFamily="49" charset="-122"/>
                          </a:rPr>
                          <m:t>y</m:t>
                        </m:r>
                      </m:e>
                      <m:sub>
                        <m:r>
                          <a:rPr lang="en-US" altLang="zh-CN" sz="2000" b="0" i="0" smtClean="0">
                            <a:solidFill>
                              <a:schemeClr val="tx1"/>
                            </a:solidFill>
                            <a:latin typeface="Cambria Math" panose="02040503050406030204" pitchFamily="18" charset="0"/>
                            <a:ea typeface="黑体" panose="02010609060101010101" pitchFamily="49" charset="-122"/>
                          </a:rPr>
                          <m:t>1</m:t>
                        </m:r>
                      </m:sub>
                    </m:sSub>
                    <m:sSub>
                      <m:sSubPr>
                        <m:ctrlPr>
                          <a:rPr lang="zh-CN" altLang="en-US" sz="2000" i="1" smtClean="0">
                            <a:solidFill>
                              <a:schemeClr val="tx1"/>
                            </a:solidFill>
                            <a:latin typeface="Cambria Math" panose="02040503050406030204" pitchFamily="18" charset="0"/>
                            <a:ea typeface="黑体" panose="02010609060101010101" pitchFamily="49" charset="-122"/>
                          </a:rPr>
                        </m:ctrlPr>
                      </m:sSubPr>
                      <m:e>
                        <m:r>
                          <a:rPr lang="en-US" altLang="zh-CN" sz="2000">
                            <a:solidFill>
                              <a:schemeClr val="tx1"/>
                            </a:solidFill>
                            <a:latin typeface="Cambria Math" panose="02040503050406030204" pitchFamily="18" charset="0"/>
                            <a:ea typeface="黑体" panose="02010609060101010101" pitchFamily="49" charset="-122"/>
                          </a:rPr>
                          <m:t>,</m:t>
                        </m:r>
                        <m:r>
                          <m:rPr>
                            <m:sty m:val="p"/>
                          </m:rPr>
                          <a:rPr lang="en-US" altLang="zh-CN" sz="2000" i="1">
                            <a:solidFill>
                              <a:schemeClr val="tx1"/>
                            </a:solidFill>
                            <a:latin typeface="Cambria Math" panose="02040503050406030204" pitchFamily="18" charset="0"/>
                            <a:ea typeface="黑体" panose="02010609060101010101" pitchFamily="49" charset="-122"/>
                          </a:rPr>
                          <m:t>y</m:t>
                        </m:r>
                      </m:e>
                      <m:sub>
                        <m:r>
                          <a:rPr lang="en-US" altLang="zh-CN" sz="2000" b="0" i="0" smtClean="0">
                            <a:solidFill>
                              <a:schemeClr val="tx1"/>
                            </a:solidFill>
                            <a:latin typeface="Cambria Math" panose="02040503050406030204" pitchFamily="18" charset="0"/>
                            <a:ea typeface="黑体" panose="02010609060101010101" pitchFamily="49" charset="-122"/>
                          </a:rPr>
                          <m:t>2</m:t>
                        </m:r>
                      </m:sub>
                    </m:sSub>
                    <m:sSub>
                      <m:sSubPr>
                        <m:ctrlPr>
                          <a:rPr lang="zh-CN" altLang="en-US" sz="2000" i="1">
                            <a:solidFill>
                              <a:schemeClr val="tx1"/>
                            </a:solidFill>
                            <a:latin typeface="Cambria Math" panose="02040503050406030204" pitchFamily="18" charset="0"/>
                            <a:ea typeface="黑体" panose="02010609060101010101" pitchFamily="49" charset="-122"/>
                          </a:rPr>
                        </m:ctrlPr>
                      </m:sSubPr>
                      <m:e>
                        <m:r>
                          <a:rPr lang="en-US" altLang="zh-CN" sz="2000">
                            <a:solidFill>
                              <a:schemeClr val="tx1"/>
                            </a:solidFill>
                            <a:latin typeface="Cambria Math" panose="02040503050406030204" pitchFamily="18" charset="0"/>
                            <a:ea typeface="黑体" panose="02010609060101010101" pitchFamily="49" charset="-122"/>
                          </a:rPr>
                          <m:t>,</m:t>
                        </m:r>
                        <m:r>
                          <m:rPr>
                            <m:sty m:val="p"/>
                          </m:rPr>
                          <a:rPr lang="en-US" altLang="zh-CN" sz="2000" i="1">
                            <a:solidFill>
                              <a:schemeClr val="tx1"/>
                            </a:solidFill>
                            <a:latin typeface="Cambria Math" panose="02040503050406030204" pitchFamily="18" charset="0"/>
                            <a:ea typeface="黑体" panose="02010609060101010101" pitchFamily="49" charset="-122"/>
                          </a:rPr>
                          <m:t>y</m:t>
                        </m:r>
                      </m:e>
                      <m:sub>
                        <m:r>
                          <a:rPr lang="en-US" altLang="zh-CN" sz="2000" b="0" i="0" smtClean="0">
                            <a:solidFill>
                              <a:schemeClr val="tx1"/>
                            </a:solidFill>
                            <a:latin typeface="Cambria Math" panose="02040503050406030204" pitchFamily="18" charset="0"/>
                            <a:ea typeface="黑体" panose="02010609060101010101" pitchFamily="49" charset="-122"/>
                          </a:rPr>
                          <m:t>3</m:t>
                        </m:r>
                      </m:sub>
                    </m:sSub>
                    <m:r>
                      <a:rPr lang="en-US" altLang="zh-CN" sz="2000" b="0" i="0" smtClean="0">
                        <a:solidFill>
                          <a:schemeClr val="tx1"/>
                        </a:solidFill>
                        <a:latin typeface="Cambria Math" panose="02040503050406030204" pitchFamily="18" charset="0"/>
                        <a:ea typeface="黑体" panose="02010609060101010101" pitchFamily="49" charset="-122"/>
                      </a:rPr>
                      <m:t>,</m:t>
                    </m:r>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y</m:t>
                        </m:r>
                      </m:e>
                      <m:sub>
                        <m:r>
                          <a:rPr lang="en-US" altLang="zh-CN" sz="2000" b="0" i="0" smtClean="0">
                            <a:solidFill>
                              <a:schemeClr val="tx1"/>
                            </a:solidFill>
                            <a:latin typeface="Cambria Math" panose="02040503050406030204" pitchFamily="18" charset="0"/>
                          </a:rPr>
                          <m:t>4</m:t>
                        </m:r>
                      </m:sub>
                    </m:sSub>
                  </m:oMath>
                </a14:m>
                <a:r>
                  <a:rPr lang="zh-CN" altLang="en-US" sz="2000" dirty="0"/>
                  <a:t>。那么，对这些接收到的数据转换成对数似然比（</a:t>
                </a:r>
                <a:r>
                  <a:rPr lang="en-US" altLang="zh-CN" sz="2000" dirty="0"/>
                  <a:t>LLR</a:t>
                </a:r>
                <a:r>
                  <a:rPr lang="zh-CN" altLang="en-US" sz="2000" dirty="0"/>
                  <a:t>）</a:t>
                </a:r>
                <a:endParaRPr lang="en-US" altLang="zh-CN" sz="2000" dirty="0"/>
              </a:p>
              <a:p>
                <a:pPr marL="0" indent="0">
                  <a:lnSpc>
                    <a:spcPct val="2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rPr>
                        <m:t>𝑥</m:t>
                      </m:r>
                      <m:r>
                        <a:rPr lang="en-US" altLang="zh-CN" sz="2000" i="1" smtClean="0">
                          <a:solidFill>
                            <a:schemeClr val="tx1"/>
                          </a:solidFill>
                          <a:latin typeface="Cambria Math" panose="02040503050406030204" pitchFamily="18" charset="0"/>
                        </a:rPr>
                        <m:t>=</m:t>
                      </m:r>
                      <m:r>
                        <a:rPr lang="en-US" altLang="zh-CN" sz="2000" i="1" smtClean="0">
                          <a:solidFill>
                            <a:schemeClr val="tx1"/>
                          </a:solidFill>
                          <a:latin typeface="Cambria Math" panose="02040503050406030204" pitchFamily="18" charset="0"/>
                        </a:rPr>
                        <m:t>𝐿𝐿𝑅</m:t>
                      </m:r>
                      <m:d>
                        <m:dPr>
                          <m:ctrlPr>
                            <a:rPr lang="en-US" altLang="zh-CN" sz="2000" i="1" smtClean="0">
                              <a:solidFill>
                                <a:schemeClr val="tx1"/>
                              </a:solidFill>
                              <a:latin typeface="Cambria Math" panose="02040503050406030204" pitchFamily="18" charset="0"/>
                            </a:rPr>
                          </m:ctrlPr>
                        </m:dPr>
                        <m:e>
                          <m:r>
                            <a:rPr lang="en-US" altLang="zh-CN" sz="2000" i="1" smtClean="0">
                              <a:solidFill>
                                <a:schemeClr val="tx1"/>
                              </a:solidFill>
                              <a:latin typeface="Cambria Math" panose="02040503050406030204" pitchFamily="18" charset="0"/>
                            </a:rPr>
                            <m:t>𝑦</m:t>
                          </m:r>
                        </m:e>
                      </m:d>
                      <m:r>
                        <a:rPr lang="en-US" altLang="zh-CN" sz="2000" i="1" smtClean="0">
                          <a:solidFill>
                            <a:schemeClr val="tx1"/>
                          </a:solidFill>
                          <a:latin typeface="Cambria Math" panose="02040503050406030204" pitchFamily="18" charset="0"/>
                        </a:rPr>
                        <m:t>=</m:t>
                      </m:r>
                      <m:func>
                        <m:funcPr>
                          <m:ctrlPr>
                            <a:rPr lang="en-US" altLang="zh-CN" sz="2000" i="1" smtClean="0">
                              <a:solidFill>
                                <a:schemeClr val="tx1"/>
                              </a:solidFill>
                              <a:latin typeface="Cambria Math" panose="02040503050406030204" pitchFamily="18" charset="0"/>
                            </a:rPr>
                          </m:ctrlPr>
                        </m:funcPr>
                        <m:fName>
                          <m:r>
                            <m:rPr>
                              <m:sty m:val="p"/>
                            </m:rPr>
                            <a:rPr lang="en-US" altLang="zh-CN" sz="2000" i="1" smtClean="0">
                              <a:solidFill>
                                <a:schemeClr val="tx1"/>
                              </a:solidFill>
                              <a:latin typeface="Cambria Math" panose="02040503050406030204" pitchFamily="18" charset="0"/>
                            </a:rPr>
                            <m:t>ln</m:t>
                          </m:r>
                        </m:fName>
                        <m:e>
                          <m:f>
                            <m:fPr>
                              <m:ctrlPr>
                                <a:rPr lang="en-US" altLang="zh-CN" sz="2000" i="1" smtClean="0">
                                  <a:solidFill>
                                    <a:schemeClr val="tx1"/>
                                  </a:solidFill>
                                  <a:latin typeface="Cambria Math" panose="02040503050406030204" pitchFamily="18" charset="0"/>
                                </a:rPr>
                              </m:ctrlPr>
                            </m:fPr>
                            <m:num>
                              <m:r>
                                <a:rPr lang="en-US" altLang="zh-CN" sz="2000" b="0" i="1" smtClean="0">
                                  <a:solidFill>
                                    <a:schemeClr val="tx1"/>
                                  </a:solidFill>
                                  <a:latin typeface="Cambria Math" panose="02040503050406030204" pitchFamily="18" charset="0"/>
                                </a:rPr>
                                <m:t>𝑊</m:t>
                              </m:r>
                              <m:d>
                                <m:dPr>
                                  <m:ctrlPr>
                                    <a:rPr lang="en-US" altLang="zh-CN" sz="2000" i="1" smtClean="0">
                                      <a:solidFill>
                                        <a:schemeClr val="tx1"/>
                                      </a:solidFill>
                                      <a:latin typeface="Cambria Math" panose="02040503050406030204" pitchFamily="18" charset="0"/>
                                    </a:rPr>
                                  </m:ctrlPr>
                                </m:dPr>
                                <m:e>
                                  <m:d>
                                    <m:dPr>
                                      <m:begChr m:val=""/>
                                      <m:endChr m:val="|"/>
                                      <m:ctrlPr>
                                        <a:rPr lang="en-US" altLang="zh-CN" sz="2000" i="1" smtClean="0">
                                          <a:solidFill>
                                            <a:schemeClr val="tx1"/>
                                          </a:solidFill>
                                          <a:latin typeface="Cambria Math" panose="02040503050406030204" pitchFamily="18" charset="0"/>
                                        </a:rPr>
                                      </m:ctrlPr>
                                    </m:dPr>
                                    <m:e>
                                      <m:r>
                                        <a:rPr lang="en-US" altLang="zh-CN" sz="2000" i="1" smtClean="0">
                                          <a:solidFill>
                                            <a:schemeClr val="tx1"/>
                                          </a:solidFill>
                                          <a:latin typeface="Cambria Math" panose="02040503050406030204" pitchFamily="18" charset="0"/>
                                        </a:rPr>
                                        <m:t>𝑦</m:t>
                                      </m:r>
                                    </m:e>
                                  </m:d>
                                  <m:r>
                                    <a:rPr lang="en-US" altLang="zh-CN" sz="2000" i="1" smtClean="0">
                                      <a:solidFill>
                                        <a:schemeClr val="tx1"/>
                                      </a:solidFill>
                                      <a:latin typeface="Cambria Math" panose="02040503050406030204" pitchFamily="18" charset="0"/>
                                    </a:rPr>
                                    <m:t>0</m:t>
                                  </m:r>
                                </m:e>
                              </m:d>
                            </m:num>
                            <m:den>
                              <m:r>
                                <a:rPr lang="en-US" altLang="zh-CN" sz="2000" b="0" i="1" smtClean="0">
                                  <a:solidFill>
                                    <a:schemeClr val="tx1"/>
                                  </a:solidFill>
                                  <a:latin typeface="Cambria Math" panose="02040503050406030204" pitchFamily="18" charset="0"/>
                                </a:rPr>
                                <m:t>𝑊</m:t>
                              </m:r>
                              <m:d>
                                <m:dPr>
                                  <m:ctrlPr>
                                    <a:rPr lang="en-US" altLang="zh-CN" sz="2000" i="1" smtClean="0">
                                      <a:solidFill>
                                        <a:schemeClr val="tx1"/>
                                      </a:solidFill>
                                      <a:latin typeface="Cambria Math" panose="02040503050406030204" pitchFamily="18" charset="0"/>
                                    </a:rPr>
                                  </m:ctrlPr>
                                </m:dPr>
                                <m:e>
                                  <m:d>
                                    <m:dPr>
                                      <m:begChr m:val=""/>
                                      <m:endChr m:val="|"/>
                                      <m:ctrlPr>
                                        <a:rPr lang="en-US" altLang="zh-CN" sz="2000" i="1" smtClean="0">
                                          <a:solidFill>
                                            <a:schemeClr val="tx1"/>
                                          </a:solidFill>
                                          <a:latin typeface="Cambria Math" panose="02040503050406030204" pitchFamily="18" charset="0"/>
                                        </a:rPr>
                                      </m:ctrlPr>
                                    </m:dPr>
                                    <m:e>
                                      <m:r>
                                        <a:rPr lang="en-US" altLang="zh-CN" sz="2000" i="1" smtClean="0">
                                          <a:solidFill>
                                            <a:schemeClr val="tx1"/>
                                          </a:solidFill>
                                          <a:latin typeface="Cambria Math" panose="02040503050406030204" pitchFamily="18" charset="0"/>
                                        </a:rPr>
                                        <m:t>𝑦</m:t>
                                      </m:r>
                                    </m:e>
                                  </m:d>
                                  <m:r>
                                    <a:rPr lang="en-US" altLang="zh-CN" sz="2000" i="1" smtClean="0">
                                      <a:solidFill>
                                        <a:schemeClr val="tx1"/>
                                      </a:solidFill>
                                      <a:latin typeface="Cambria Math" panose="02040503050406030204" pitchFamily="18" charset="0"/>
                                    </a:rPr>
                                    <m:t>1</m:t>
                                  </m:r>
                                </m:e>
                              </m:d>
                            </m:den>
                          </m:f>
                        </m:e>
                      </m:func>
                    </m:oMath>
                  </m:oMathPara>
                </a14:m>
                <a:endParaRPr lang="en-US" altLang="zh-CN" sz="2000" dirty="0"/>
              </a:p>
              <a:p>
                <a:pPr marL="0" indent="0">
                  <a:lnSpc>
                    <a:spcPct val="200000"/>
                  </a:lnSpc>
                  <a:spcBef>
                    <a:spcPts val="0"/>
                  </a:spcBef>
                  <a:spcAft>
                    <a:spcPts val="0"/>
                  </a:spcAft>
                  <a:buNone/>
                </a:pPr>
                <a:r>
                  <a:rPr lang="zh-CN" altLang="en-US" sz="2000" dirty="0"/>
                  <a:t>        其中，</a:t>
                </a:r>
                <a:r>
                  <a:rPr lang="en-US" altLang="zh-CN" sz="2000" b="0" dirty="0">
                    <a:solidFill>
                      <a:schemeClr val="tx1"/>
                    </a:solidFill>
                  </a:rPr>
                  <a:t> </a:t>
                </a:r>
                <a14:m>
                  <m:oMath xmlns:m="http://schemas.openxmlformats.org/officeDocument/2006/math">
                    <m:r>
                      <a:rPr lang="en-US" altLang="zh-CN" sz="2000" b="0" i="1" smtClean="0">
                        <a:solidFill>
                          <a:schemeClr val="tx1"/>
                        </a:solidFill>
                        <a:latin typeface="Cambria Math" panose="02040503050406030204" pitchFamily="18" charset="0"/>
                      </a:rPr>
                      <m:t>𝑊</m:t>
                    </m:r>
                    <m:d>
                      <m:dPr>
                        <m:ctrlPr>
                          <a:rPr lang="en-US" altLang="zh-CN" sz="2000" i="1" smtClean="0">
                            <a:solidFill>
                              <a:schemeClr val="tx1"/>
                            </a:solidFill>
                            <a:latin typeface="Cambria Math" panose="02040503050406030204" pitchFamily="18" charset="0"/>
                          </a:rPr>
                        </m:ctrlPr>
                      </m:dPr>
                      <m:e>
                        <m:d>
                          <m:dPr>
                            <m:begChr m:val=""/>
                            <m:endChr m:val="|"/>
                            <m:ctrlPr>
                              <a:rPr lang="en-US" altLang="zh-CN" sz="2000" i="1" smtClean="0">
                                <a:solidFill>
                                  <a:schemeClr val="tx1"/>
                                </a:solidFill>
                                <a:latin typeface="Cambria Math" panose="02040503050406030204" pitchFamily="18" charset="0"/>
                              </a:rPr>
                            </m:ctrlPr>
                          </m:dPr>
                          <m:e>
                            <m:r>
                              <a:rPr lang="en-US" altLang="zh-CN" sz="2000" i="1" smtClean="0">
                                <a:solidFill>
                                  <a:schemeClr val="tx1"/>
                                </a:solidFill>
                                <a:latin typeface="Cambria Math" panose="02040503050406030204" pitchFamily="18" charset="0"/>
                              </a:rPr>
                              <m:t>𝑦</m:t>
                            </m:r>
                          </m:e>
                        </m:d>
                        <m:r>
                          <a:rPr lang="en-US" altLang="zh-CN" sz="2000" i="1" smtClean="0">
                            <a:solidFill>
                              <a:schemeClr val="tx1"/>
                            </a:solidFill>
                            <a:latin typeface="Cambria Math" panose="02040503050406030204" pitchFamily="18" charset="0"/>
                          </a:rPr>
                          <m:t>0</m:t>
                        </m:r>
                      </m:e>
                    </m:d>
                  </m:oMath>
                </a14:m>
                <a:r>
                  <a:rPr lang="zh-CN" altLang="en-US" sz="2000" dirty="0"/>
                  <a:t>表示发射端发射的是比特“</a:t>
                </a:r>
                <a:r>
                  <a:rPr lang="en-US" altLang="zh-CN" sz="2000" dirty="0"/>
                  <a:t>0</a:t>
                </a:r>
                <a:r>
                  <a:rPr lang="zh-CN" altLang="en-US" sz="2000" dirty="0"/>
                  <a:t>”，而接收端收到的是</a:t>
                </a:r>
                <a:r>
                  <a:rPr lang="en-US" altLang="zh-CN" sz="2000" dirty="0"/>
                  <a:t>y</a:t>
                </a:r>
                <a:r>
                  <a:rPr lang="zh-CN" altLang="en-US" sz="2000" dirty="0"/>
                  <a:t>的概率，</a:t>
                </a:r>
                <a:r>
                  <a:rPr lang="en-US" altLang="zh-CN" sz="2000" dirty="0">
                    <a:solidFill>
                      <a:schemeClr val="tx1"/>
                    </a:solidFill>
                  </a:rPr>
                  <a:t> </a:t>
                </a:r>
                <a14:m>
                  <m:oMath xmlns:m="http://schemas.openxmlformats.org/officeDocument/2006/math">
                    <m:r>
                      <a:rPr lang="en-US" altLang="zh-CN" sz="2000" i="1">
                        <a:solidFill>
                          <a:schemeClr val="tx1"/>
                        </a:solidFill>
                        <a:latin typeface="Cambria Math" panose="02040503050406030204" pitchFamily="18" charset="0"/>
                      </a:rPr>
                      <m:t>𝑊</m:t>
                    </m:r>
                    <m:d>
                      <m:dPr>
                        <m:ctrlPr>
                          <a:rPr lang="en-US" altLang="zh-CN" sz="2000" i="1">
                            <a:solidFill>
                              <a:schemeClr val="tx1"/>
                            </a:solidFill>
                            <a:latin typeface="Cambria Math" panose="02040503050406030204" pitchFamily="18" charset="0"/>
                          </a:rPr>
                        </m:ctrlPr>
                      </m:dPr>
                      <m:e>
                        <m:d>
                          <m:dPr>
                            <m:begChr m:val=""/>
                            <m:endChr m:val="|"/>
                            <m:ctrlPr>
                              <a:rPr lang="en-US" altLang="zh-CN" sz="2000" i="1">
                                <a:solidFill>
                                  <a:schemeClr val="tx1"/>
                                </a:solidFill>
                                <a:latin typeface="Cambria Math" panose="02040503050406030204" pitchFamily="18" charset="0"/>
                              </a:rPr>
                            </m:ctrlPr>
                          </m:dPr>
                          <m:e>
                            <m:r>
                              <a:rPr lang="en-US" altLang="zh-CN" sz="2000" i="1">
                                <a:solidFill>
                                  <a:schemeClr val="tx1"/>
                                </a:solidFill>
                                <a:latin typeface="Cambria Math" panose="02040503050406030204" pitchFamily="18" charset="0"/>
                              </a:rPr>
                              <m:t>𝑦</m:t>
                            </m:r>
                          </m:e>
                        </m:d>
                        <m:r>
                          <a:rPr lang="en-US" altLang="zh-CN" sz="2000" i="1">
                            <a:solidFill>
                              <a:schemeClr val="tx1"/>
                            </a:solidFill>
                            <a:latin typeface="Cambria Math" panose="02040503050406030204" pitchFamily="18" charset="0"/>
                          </a:rPr>
                          <m:t>1</m:t>
                        </m:r>
                      </m:e>
                    </m:d>
                  </m:oMath>
                </a14:m>
                <a:r>
                  <a:rPr lang="zh-CN" altLang="en-US" sz="2000" dirty="0"/>
                  <a:t>表示发射端发射的是比特“</a:t>
                </a:r>
                <a:r>
                  <a:rPr lang="en-US" altLang="zh-CN" sz="2000" dirty="0"/>
                  <a:t>1</a:t>
                </a:r>
                <a:r>
                  <a:rPr lang="zh-CN" altLang="en-US" sz="2000" dirty="0"/>
                  <a:t>”，</a:t>
                </a:r>
                <a:r>
                  <a:rPr lang="en-US" altLang="zh-CN" sz="2000" dirty="0"/>
                  <a:t>ln</a:t>
                </a:r>
                <a:r>
                  <a:rPr lang="zh-CN" altLang="en-US" sz="2000" dirty="0"/>
                  <a:t>（*）表示自然对数的底</a:t>
                </a:r>
                <a:r>
                  <a:rPr lang="en-US" altLang="zh-CN" sz="2000" dirty="0"/>
                  <a:t>e</a:t>
                </a:r>
                <a:r>
                  <a:rPr lang="zh-CN" altLang="en-US" sz="2000" dirty="0"/>
                  <a:t>为底的对数。</a:t>
                </a:r>
                <a:endParaRPr lang="en-US" altLang="zh-CN" sz="2000" dirty="0"/>
              </a:p>
              <a:p>
                <a:pPr marL="0" indent="0">
                  <a:lnSpc>
                    <a:spcPct val="150000"/>
                  </a:lnSpc>
                  <a:spcBef>
                    <a:spcPts val="0"/>
                  </a:spcBef>
                  <a:spcAft>
                    <a:spcPts val="0"/>
                  </a:spcAft>
                  <a:buNone/>
                </a:pPr>
                <a:r>
                  <a:rPr lang="en-US" altLang="zh-CN" sz="2000" dirty="0"/>
                  <a:t>    </a:t>
                </a:r>
                <a:endParaRPr lang="en-US" altLang="zh-CN" sz="2000" dirty="0"/>
              </a:p>
            </p:txBody>
          </p:sp>
        </mc:Choice>
        <mc:Fallback>
          <p:sp>
            <p:nvSpPr>
              <p:cNvPr id="5" name="内容占位符 2"/>
              <p:cNvSpPr>
                <a:spLocks noRot="1" noChangeAspect="1" noMove="1" noResize="1" noEditPoints="1" noAdjustHandles="1" noChangeArrowheads="1" noChangeShapeType="1" noTextEdit="1"/>
              </p:cNvSpPr>
              <p:nvPr>
                <p:ph idx="1"/>
              </p:nvPr>
            </p:nvSpPr>
            <p:spPr>
              <a:xfrm>
                <a:off x="228714" y="998374"/>
                <a:ext cx="8686572" cy="5173754"/>
              </a:xfrm>
              <a:blipFill rotWithShape="1">
                <a:blip r:embed="rId1"/>
                <a:stretch>
                  <a:fillRect l="-1" t="-3" r="6" b="-5107"/>
                </a:stretch>
              </a:blipFill>
              <a:ln>
                <a:noFill/>
              </a:ln>
            </p:spPr>
            <p:style>
              <a:lnRef idx="0">
                <a:scrgbClr r="0" g="0" b="0"/>
              </a:lnRef>
              <a:fillRef idx="0">
                <a:scrgbClr r="0" g="0" b="0"/>
              </a:fillRef>
              <a:effectRef idx="0">
                <a:scrgbClr r="0" g="0" b="0"/>
              </a:effectRef>
              <a:fontRef idx="minor">
                <a:schemeClr val="dk1"/>
              </a:fontRef>
            </p:style>
            <p:txBody>
              <a:bodyPr/>
              <a:lstStyle/>
              <a:p>
                <a:r>
                  <a:rPr lang="zh-CN" altLang="en-US">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981549" y="152486"/>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码方法</a:t>
            </a:r>
            <a:endParaRPr lang="zh-CN" altLang="en-US" sz="2400" dirty="0">
              <a:sym typeface="+mn-ea"/>
            </a:endParaRPr>
          </a:p>
        </p:txBody>
      </p:sp>
      <mc:AlternateContent xmlns:mc="http://schemas.openxmlformats.org/markup-compatibility/2006">
        <mc:Choice xmlns:a14="http://schemas.microsoft.com/office/drawing/2010/main" Requires="a14">
          <p:sp>
            <p:nvSpPr>
              <p:cNvPr id="5" name="内容占位符 2"/>
              <p:cNvSpPr>
                <a:spLocks noGrp="1"/>
              </p:cNvSpPr>
              <p:nvPr>
                <p:ph idx="1"/>
              </p:nvPr>
            </p:nvSpPr>
            <p:spPr>
              <a:xfrm>
                <a:off x="304912" y="1447852"/>
                <a:ext cx="8648514" cy="3573596"/>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200000"/>
                  </a:lnSpc>
                  <a:spcBef>
                    <a:spcPts val="0"/>
                  </a:spcBef>
                  <a:spcAft>
                    <a:spcPts val="0"/>
                  </a:spcAft>
                  <a:buNone/>
                </a:pPr>
                <a:r>
                  <a:rPr lang="zh-CN" altLang="en-US" sz="2000" dirty="0">
                    <a:solidFill>
                      <a:srgbClr val="FF0000"/>
                    </a:solidFill>
                  </a:rPr>
                  <a:t>举例：</a:t>
                </a:r>
                <a:r>
                  <a:rPr lang="en-US" altLang="zh-CN" sz="2000" dirty="0"/>
                  <a:t>        </a:t>
                </a:r>
                <a:r>
                  <a:rPr lang="zh-CN" altLang="en-US" sz="2000" dirty="0"/>
                  <a:t>在现实计算时，</a:t>
                </a:r>
                <a:r>
                  <a:rPr lang="en-US" altLang="zh-CN" sz="2000" dirty="0">
                    <a:solidFill>
                      <a:schemeClr val="tx1"/>
                    </a:solidFill>
                  </a:rPr>
                  <a:t> </a:t>
                </a:r>
                <a14:m>
                  <m:oMath xmlns:m="http://schemas.openxmlformats.org/officeDocument/2006/math">
                    <m:r>
                      <a:rPr lang="en-US" altLang="zh-CN" sz="2000" i="1">
                        <a:solidFill>
                          <a:schemeClr val="tx1"/>
                        </a:solidFill>
                        <a:latin typeface="Cambria Math" panose="02040503050406030204" pitchFamily="18" charset="0"/>
                      </a:rPr>
                      <m:t>𝑊</m:t>
                    </m:r>
                    <m:d>
                      <m:dPr>
                        <m:ctrlPr>
                          <a:rPr lang="en-US" altLang="zh-CN" sz="2000" i="1">
                            <a:solidFill>
                              <a:schemeClr val="tx1"/>
                            </a:solidFill>
                            <a:latin typeface="Cambria Math" panose="02040503050406030204" pitchFamily="18" charset="0"/>
                          </a:rPr>
                        </m:ctrlPr>
                      </m:dPr>
                      <m:e>
                        <m:d>
                          <m:dPr>
                            <m:begChr m:val=""/>
                            <m:endChr m:val="|"/>
                            <m:ctrlPr>
                              <a:rPr lang="en-US" altLang="zh-CN" sz="2000" i="1">
                                <a:solidFill>
                                  <a:schemeClr val="tx1"/>
                                </a:solidFill>
                                <a:latin typeface="Cambria Math" panose="02040503050406030204" pitchFamily="18" charset="0"/>
                              </a:rPr>
                            </m:ctrlPr>
                          </m:dPr>
                          <m:e>
                            <m:r>
                              <a:rPr lang="en-US" altLang="zh-CN" sz="2000" i="1">
                                <a:solidFill>
                                  <a:schemeClr val="tx1"/>
                                </a:solidFill>
                                <a:latin typeface="Cambria Math" panose="02040503050406030204" pitchFamily="18" charset="0"/>
                              </a:rPr>
                              <m:t>𝑦</m:t>
                            </m:r>
                          </m:e>
                        </m:d>
                        <m:r>
                          <a:rPr lang="en-US" altLang="zh-CN" sz="2000" i="1">
                            <a:solidFill>
                              <a:schemeClr val="tx1"/>
                            </a:solidFill>
                            <a:latin typeface="Cambria Math" panose="02040503050406030204" pitchFamily="18" charset="0"/>
                          </a:rPr>
                          <m:t>1</m:t>
                        </m:r>
                      </m:e>
                    </m:d>
                  </m:oMath>
                </a14:m>
                <a:r>
                  <a:rPr lang="zh-CN" altLang="en-US" sz="2000" dirty="0"/>
                  <a:t>可用下式计算：</a:t>
                </a:r>
                <a:endParaRPr lang="en-US" altLang="zh-CN" sz="2000" dirty="0"/>
              </a:p>
              <a:p>
                <a:pPr marL="0" indent="0">
                  <a:lnSpc>
                    <a:spcPct val="2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rPr>
                        <m:t>𝑤</m:t>
                      </m:r>
                      <m:d>
                        <m:dPr>
                          <m:ctrlPr>
                            <a:rPr lang="en-US" altLang="zh-CN" sz="2000" i="1" smtClean="0">
                              <a:solidFill>
                                <a:srgbClr val="836967"/>
                              </a:solidFill>
                              <a:latin typeface="Cambria Math" panose="02040503050406030204" pitchFamily="18" charset="0"/>
                            </a:rPr>
                          </m:ctrlPr>
                        </m:dPr>
                        <m:e>
                          <m:d>
                            <m:dPr>
                              <m:begChr m:val=""/>
                              <m:endChr m:val="|"/>
                              <m:ctrlPr>
                                <a:rPr lang="en-US" altLang="zh-CN" sz="2000" i="1" smtClean="0">
                                  <a:solidFill>
                                    <a:srgbClr val="836967"/>
                                  </a:solidFill>
                                  <a:latin typeface="Cambria Math" panose="02040503050406030204" pitchFamily="18" charset="0"/>
                                </a:rPr>
                              </m:ctrlPr>
                            </m:dPr>
                            <m:e>
                              <m:r>
                                <a:rPr lang="en-US" altLang="zh-CN" sz="2000" i="1" smtClean="0">
                                  <a:latin typeface="Cambria Math" panose="02040503050406030204" pitchFamily="18" charset="0"/>
                                </a:rPr>
                                <m:t>𝑦</m:t>
                              </m:r>
                            </m:e>
                          </m:d>
                          <m:r>
                            <a:rPr lang="en-US" altLang="zh-CN" sz="2000" i="1" smtClean="0">
                              <a:latin typeface="Cambria Math" panose="02040503050406030204" pitchFamily="18" charset="0"/>
                            </a:rPr>
                            <m:t>1</m:t>
                          </m:r>
                        </m:e>
                      </m:d>
                      <m:r>
                        <a:rPr lang="en-US" altLang="zh-CN" sz="2000" i="1" smtClean="0">
                          <a:latin typeface="Cambria Math" panose="02040503050406030204" pitchFamily="18" charset="0"/>
                        </a:rPr>
                        <m:t>=</m:t>
                      </m:r>
                      <m:f>
                        <m:fPr>
                          <m:ctrlPr>
                            <a:rPr lang="en-US" altLang="zh-CN" sz="2000" i="1" smtClean="0">
                              <a:solidFill>
                                <a:srgbClr val="836967"/>
                              </a:solidFill>
                              <a:latin typeface="Cambria Math" panose="02040503050406030204" pitchFamily="18" charset="0"/>
                            </a:rPr>
                          </m:ctrlPr>
                        </m:fPr>
                        <m:num>
                          <m:r>
                            <a:rPr lang="en-US" altLang="zh-CN" sz="2000" i="1" smtClean="0">
                              <a:latin typeface="Cambria Math" panose="02040503050406030204" pitchFamily="18" charset="0"/>
                            </a:rPr>
                            <m:t>1</m:t>
                          </m:r>
                        </m:num>
                        <m:den>
                          <m:r>
                            <a:rPr lang="en-US" altLang="zh-CN" sz="2000" i="1" smtClean="0">
                              <a:latin typeface="Cambria Math" panose="02040503050406030204" pitchFamily="18" charset="0"/>
                            </a:rPr>
                            <m:t>1</m:t>
                          </m:r>
                          <m:r>
                            <a:rPr lang="en-US" altLang="zh-CN" sz="2000" i="1" smtClean="0">
                              <a:latin typeface="Cambria Math" panose="02040503050406030204" pitchFamily="18" charset="0"/>
                            </a:rPr>
                            <m:t>+</m:t>
                          </m:r>
                          <m:sSup>
                            <m:sSupPr>
                              <m:ctrlPr>
                                <a:rPr lang="en-US" altLang="zh-CN" sz="2000" i="1" smtClean="0">
                                  <a:solidFill>
                                    <a:srgbClr val="836967"/>
                                  </a:solidFill>
                                  <a:latin typeface="Cambria Math" panose="02040503050406030204" pitchFamily="18" charset="0"/>
                                </a:rPr>
                              </m:ctrlPr>
                            </m:sSupPr>
                            <m:e>
                              <m:r>
                                <a:rPr lang="en-US" altLang="zh-CN" sz="2000" i="1" smtClean="0">
                                  <a:latin typeface="Cambria Math" panose="02040503050406030204" pitchFamily="18" charset="0"/>
                                </a:rPr>
                                <m:t>ⅇ</m:t>
                              </m:r>
                            </m:e>
                            <m:sup>
                              <m:r>
                                <a:rPr lang="en-US" altLang="zh-CN" sz="2000" i="1" smtClean="0">
                                  <a:latin typeface="Cambria Math" panose="02040503050406030204" pitchFamily="18" charset="0"/>
                                </a:rPr>
                                <m:t>−</m:t>
                              </m:r>
                              <m:r>
                                <a:rPr lang="en-US" altLang="zh-CN" sz="2000" i="1" smtClean="0">
                                  <a:latin typeface="Cambria Math" panose="02040503050406030204" pitchFamily="18" charset="0"/>
                                </a:rPr>
                                <m:t>2</m:t>
                              </m:r>
                              <m:f>
                                <m:fPr>
                                  <m:type m:val="lin"/>
                                  <m:ctrlPr>
                                    <a:rPr lang="en-US" altLang="zh-CN" sz="2000" i="1" smtClean="0">
                                      <a:latin typeface="Cambria Math" panose="02040503050406030204" pitchFamily="18" charset="0"/>
                                    </a:rPr>
                                  </m:ctrlPr>
                                </m:fPr>
                                <m:num>
                                  <m:r>
                                    <a:rPr lang="en-US" altLang="zh-CN" sz="2000" i="1" smtClean="0">
                                      <a:latin typeface="Cambria Math" panose="02040503050406030204" pitchFamily="18" charset="0"/>
                                    </a:rPr>
                                    <m:t>𝑦</m:t>
                                  </m:r>
                                </m:num>
                                <m:den>
                                  <m:sSup>
                                    <m:sSupPr>
                                      <m:ctrlPr>
                                        <a:rPr lang="en-US" altLang="zh-CN" sz="2000" i="1" smtClean="0">
                                          <a:solidFill>
                                            <a:srgbClr val="836967"/>
                                          </a:solidFill>
                                          <a:latin typeface="Cambria Math" panose="02040503050406030204" pitchFamily="18" charset="0"/>
                                        </a:rPr>
                                      </m:ctrlPr>
                                    </m:sSupPr>
                                    <m:e>
                                      <m:r>
                                        <a:rPr lang="en-US" altLang="zh-CN" sz="2000" i="1" smtClean="0">
                                          <a:latin typeface="Cambria Math" panose="02040503050406030204" pitchFamily="18" charset="0"/>
                                        </a:rPr>
                                        <m:t>𝛿</m:t>
                                      </m:r>
                                    </m:e>
                                    <m:sup>
                                      <m:r>
                                        <a:rPr lang="en-US" altLang="zh-CN" sz="2000" i="1" smtClean="0">
                                          <a:latin typeface="Cambria Math" panose="02040503050406030204" pitchFamily="18" charset="0"/>
                                        </a:rPr>
                                        <m:t>2</m:t>
                                      </m:r>
                                    </m:sup>
                                  </m:sSup>
                                </m:den>
                              </m:f>
                            </m:sup>
                          </m:sSup>
                        </m:den>
                      </m:f>
                    </m:oMath>
                  </m:oMathPara>
                </a14:m>
                <a:endParaRPr lang="en-US" altLang="zh-CN" sz="2000" dirty="0"/>
              </a:p>
              <a:p>
                <a:pPr marL="0" indent="0">
                  <a:lnSpc>
                    <a:spcPct val="200000"/>
                  </a:lnSpc>
                  <a:spcBef>
                    <a:spcPts val="0"/>
                  </a:spcBef>
                  <a:spcAft>
                    <a:spcPts val="0"/>
                  </a:spcAft>
                  <a:buNone/>
                </a:pPr>
                <a:r>
                  <a:rPr lang="zh-CN" altLang="en-US" sz="2000" dirty="0"/>
                  <a:t>其中，</a:t>
                </a:r>
                <a:r>
                  <a:rPr lang="en-US" altLang="zh-CN" sz="2000" dirty="0">
                    <a:solidFill>
                      <a:srgbClr val="836967"/>
                    </a:solidFill>
                  </a:rPr>
                  <a:t> </a:t>
                </a:r>
                <a14:m>
                  <m:oMath xmlns:m="http://schemas.openxmlformats.org/officeDocument/2006/math">
                    <m:sSup>
                      <m:sSupPr>
                        <m:ctrlPr>
                          <a:rPr lang="en-US" altLang="zh-CN" sz="2000" i="1" smtClean="0">
                            <a:solidFill>
                              <a:srgbClr val="836967"/>
                            </a:solidFill>
                            <a:latin typeface="Cambria Math" panose="02040503050406030204" pitchFamily="18" charset="0"/>
                          </a:rPr>
                        </m:ctrlPr>
                      </m:sSupPr>
                      <m:e>
                        <m:r>
                          <a:rPr lang="en-US" altLang="zh-CN" sz="2000" i="1" smtClean="0">
                            <a:latin typeface="Cambria Math" panose="02040503050406030204" pitchFamily="18" charset="0"/>
                          </a:rPr>
                          <m:t>𝛿</m:t>
                        </m:r>
                      </m:e>
                      <m:sup>
                        <m:r>
                          <a:rPr lang="en-US" altLang="zh-CN" sz="2000" i="1" smtClean="0">
                            <a:latin typeface="Cambria Math" panose="02040503050406030204" pitchFamily="18" charset="0"/>
                          </a:rPr>
                          <m:t>2</m:t>
                        </m:r>
                      </m:sup>
                    </m:sSup>
                  </m:oMath>
                </a14:m>
                <a:r>
                  <a:rPr lang="zh-CN" altLang="en-US" sz="2000" dirty="0"/>
                  <a:t>为噪声方差（可通过对接收到的数据</a:t>
                </a:r>
                <a:r>
                  <a:rPr lang="en-US" altLang="zh-CN" sz="2000" dirty="0"/>
                  <a:t>y</a:t>
                </a:r>
                <a:r>
                  <a:rPr lang="zh-CN" altLang="en-US" sz="2000" dirty="0"/>
                  <a:t>统计得到，一半设置</a:t>
                </a:r>
                <a14:m>
                  <m:oMath xmlns:m="http://schemas.openxmlformats.org/officeDocument/2006/math">
                    <m:sSup>
                      <m:sSupPr>
                        <m:ctrlPr>
                          <a:rPr lang="en-US" altLang="zh-CN" sz="2000" i="1">
                            <a:solidFill>
                              <a:srgbClr val="836967"/>
                            </a:solidFill>
                            <a:latin typeface="Cambria Math" panose="02040503050406030204" pitchFamily="18" charset="0"/>
                          </a:rPr>
                        </m:ctrlPr>
                      </m:sSupPr>
                      <m:e>
                        <m:r>
                          <a:rPr lang="en-US" altLang="zh-CN" sz="2000" i="1">
                            <a:latin typeface="Cambria Math" panose="02040503050406030204" pitchFamily="18" charset="0"/>
                          </a:rPr>
                          <m:t>𝛿</m:t>
                        </m:r>
                      </m:e>
                      <m:sup>
                        <m:r>
                          <a:rPr lang="en-US" altLang="zh-CN" sz="2000" i="1">
                            <a:latin typeface="Cambria Math" panose="02040503050406030204" pitchFamily="18" charset="0"/>
                          </a:rPr>
                          <m:t>2</m:t>
                        </m:r>
                      </m:sup>
                    </m:sSup>
                    <m:r>
                      <a:rPr lang="en-US" altLang="zh-CN" sz="2000" i="1">
                        <a:latin typeface="Cambria Math" panose="02040503050406030204" pitchFamily="18" charset="0"/>
                      </a:rPr>
                      <m:t> </m:t>
                    </m:r>
                  </m:oMath>
                </a14:m>
                <a:r>
                  <a:rPr lang="en-US" altLang="zh-CN" sz="2000" dirty="0"/>
                  <a:t>=1</a:t>
                </a:r>
                <a:r>
                  <a:rPr lang="zh-CN" altLang="en-US" sz="2000" dirty="0"/>
                  <a:t>）</a:t>
                </a:r>
                <a:endParaRPr lang="en-US" altLang="zh-CN" sz="2000" dirty="0"/>
              </a:p>
              <a:p>
                <a:pPr marL="0" indent="0">
                  <a:lnSpc>
                    <a:spcPct val="200000"/>
                  </a:lnSpc>
                  <a:spcBef>
                    <a:spcPts val="0"/>
                  </a:spcBef>
                  <a:spcAft>
                    <a:spcPts val="0"/>
                  </a:spcAft>
                  <a:buNone/>
                </a:pPr>
                <a:r>
                  <a:rPr lang="zh-CN" altLang="en-US" sz="2000" b="0" dirty="0">
                    <a:solidFill>
                      <a:schemeClr val="tx1"/>
                    </a:solidFill>
                  </a:rPr>
                  <a:t>         对于</a:t>
                </a:r>
                <a14:m>
                  <m:oMath xmlns:m="http://schemas.openxmlformats.org/officeDocument/2006/math">
                    <m:r>
                      <a:rPr lang="en-US" altLang="zh-CN" sz="2000" b="0" i="1" smtClean="0">
                        <a:solidFill>
                          <a:schemeClr val="tx1"/>
                        </a:solidFill>
                        <a:latin typeface="Cambria Math" panose="02040503050406030204" pitchFamily="18" charset="0"/>
                      </a:rPr>
                      <m:t>𝑊</m:t>
                    </m:r>
                    <m:d>
                      <m:dPr>
                        <m:ctrlPr>
                          <a:rPr lang="en-US" altLang="zh-CN" sz="2000" i="1" smtClean="0">
                            <a:solidFill>
                              <a:schemeClr val="tx1"/>
                            </a:solidFill>
                            <a:latin typeface="Cambria Math" panose="02040503050406030204" pitchFamily="18" charset="0"/>
                          </a:rPr>
                        </m:ctrlPr>
                      </m:dPr>
                      <m:e>
                        <m:d>
                          <m:dPr>
                            <m:begChr m:val=""/>
                            <m:endChr m:val="|"/>
                            <m:ctrlPr>
                              <a:rPr lang="en-US" altLang="zh-CN" sz="2000" i="1" smtClean="0">
                                <a:solidFill>
                                  <a:schemeClr val="tx1"/>
                                </a:solidFill>
                                <a:latin typeface="Cambria Math" panose="02040503050406030204" pitchFamily="18" charset="0"/>
                              </a:rPr>
                            </m:ctrlPr>
                          </m:dPr>
                          <m:e>
                            <m:r>
                              <a:rPr lang="en-US" altLang="zh-CN" sz="2000" i="1" smtClean="0">
                                <a:solidFill>
                                  <a:schemeClr val="tx1"/>
                                </a:solidFill>
                                <a:latin typeface="Cambria Math" panose="02040503050406030204" pitchFamily="18" charset="0"/>
                              </a:rPr>
                              <m:t>𝑦</m:t>
                            </m:r>
                          </m:e>
                        </m:d>
                        <m:r>
                          <a:rPr lang="en-US" altLang="zh-CN" sz="2000" i="1" smtClean="0">
                            <a:solidFill>
                              <a:schemeClr val="tx1"/>
                            </a:solidFill>
                            <a:latin typeface="Cambria Math" panose="02040503050406030204" pitchFamily="18" charset="0"/>
                          </a:rPr>
                          <m:t>0</m:t>
                        </m:r>
                      </m:e>
                    </m:d>
                  </m:oMath>
                </a14:m>
                <a:r>
                  <a:rPr lang="zh-CN" altLang="en-US" sz="2000" dirty="0"/>
                  <a:t>，可用</a:t>
                </a:r>
                <a14:m>
                  <m:oMath xmlns:m="http://schemas.openxmlformats.org/officeDocument/2006/math">
                    <m:r>
                      <a:rPr lang="en-US" altLang="zh-CN" sz="2000" i="1">
                        <a:solidFill>
                          <a:schemeClr val="tx1"/>
                        </a:solidFill>
                        <a:latin typeface="Cambria Math" panose="02040503050406030204" pitchFamily="18" charset="0"/>
                      </a:rPr>
                      <m:t>𝑊</m:t>
                    </m:r>
                    <m:d>
                      <m:dPr>
                        <m:ctrlPr>
                          <a:rPr lang="en-US" altLang="zh-CN" sz="2000" i="1">
                            <a:solidFill>
                              <a:schemeClr val="tx1"/>
                            </a:solidFill>
                            <a:latin typeface="Cambria Math" panose="02040503050406030204" pitchFamily="18" charset="0"/>
                          </a:rPr>
                        </m:ctrlPr>
                      </m:dPr>
                      <m:e>
                        <m:d>
                          <m:dPr>
                            <m:begChr m:val=""/>
                            <m:endChr m:val="|"/>
                            <m:ctrlPr>
                              <a:rPr lang="en-US" altLang="zh-CN" sz="2000" i="1">
                                <a:solidFill>
                                  <a:schemeClr val="tx1"/>
                                </a:solidFill>
                                <a:latin typeface="Cambria Math" panose="02040503050406030204" pitchFamily="18" charset="0"/>
                              </a:rPr>
                            </m:ctrlPr>
                          </m:dPr>
                          <m:e>
                            <m:r>
                              <a:rPr lang="en-US" altLang="zh-CN" sz="2000" i="1">
                                <a:solidFill>
                                  <a:schemeClr val="tx1"/>
                                </a:solidFill>
                                <a:latin typeface="Cambria Math" panose="02040503050406030204" pitchFamily="18" charset="0"/>
                              </a:rPr>
                              <m:t>𝑦</m:t>
                            </m:r>
                          </m:e>
                        </m:d>
                        <m:r>
                          <a:rPr lang="en-US" altLang="zh-CN" sz="2000" i="1">
                            <a:solidFill>
                              <a:schemeClr val="tx1"/>
                            </a:solidFill>
                            <a:latin typeface="Cambria Math" panose="02040503050406030204" pitchFamily="18" charset="0"/>
                          </a:rPr>
                          <m:t>0</m:t>
                        </m:r>
                      </m:e>
                    </m:d>
                  </m:oMath>
                </a14:m>
                <a:r>
                  <a:rPr lang="en-US" altLang="zh-CN" sz="2000" dirty="0"/>
                  <a:t>=1-</a:t>
                </a:r>
                <a:r>
                  <a:rPr lang="en-US" altLang="zh-CN" sz="2000" dirty="0">
                    <a:solidFill>
                      <a:schemeClr val="tx1"/>
                    </a:solidFill>
                  </a:rPr>
                  <a:t> </a:t>
                </a:r>
                <a14:m>
                  <m:oMath xmlns:m="http://schemas.openxmlformats.org/officeDocument/2006/math">
                    <m:r>
                      <a:rPr lang="en-US" altLang="zh-CN" sz="2000" i="1">
                        <a:solidFill>
                          <a:schemeClr val="tx1"/>
                        </a:solidFill>
                        <a:latin typeface="Cambria Math" panose="02040503050406030204" pitchFamily="18" charset="0"/>
                      </a:rPr>
                      <m:t>𝑊</m:t>
                    </m:r>
                    <m:d>
                      <m:dPr>
                        <m:ctrlPr>
                          <a:rPr lang="en-US" altLang="zh-CN" sz="2000" i="1">
                            <a:solidFill>
                              <a:schemeClr val="tx1"/>
                            </a:solidFill>
                            <a:latin typeface="Cambria Math" panose="02040503050406030204" pitchFamily="18" charset="0"/>
                          </a:rPr>
                        </m:ctrlPr>
                      </m:dPr>
                      <m:e>
                        <m:d>
                          <m:dPr>
                            <m:begChr m:val=""/>
                            <m:endChr m:val="|"/>
                            <m:ctrlPr>
                              <a:rPr lang="en-US" altLang="zh-CN" sz="2000" i="1">
                                <a:solidFill>
                                  <a:schemeClr val="tx1"/>
                                </a:solidFill>
                                <a:latin typeface="Cambria Math" panose="02040503050406030204" pitchFamily="18" charset="0"/>
                              </a:rPr>
                            </m:ctrlPr>
                          </m:dPr>
                          <m:e>
                            <m:r>
                              <a:rPr lang="en-US" altLang="zh-CN" sz="2000" i="1">
                                <a:solidFill>
                                  <a:schemeClr val="tx1"/>
                                </a:solidFill>
                                <a:latin typeface="Cambria Math" panose="02040503050406030204" pitchFamily="18" charset="0"/>
                              </a:rPr>
                              <m:t>𝑦</m:t>
                            </m:r>
                          </m:e>
                        </m:d>
                        <m:r>
                          <a:rPr lang="en-US" altLang="zh-CN" sz="2000" i="1">
                            <a:solidFill>
                              <a:schemeClr val="tx1"/>
                            </a:solidFill>
                            <a:latin typeface="Cambria Math" panose="02040503050406030204" pitchFamily="18" charset="0"/>
                          </a:rPr>
                          <m:t>1</m:t>
                        </m:r>
                      </m:e>
                    </m:d>
                  </m:oMath>
                </a14:m>
                <a:r>
                  <a:rPr lang="zh-CN" altLang="en-US" sz="2000" dirty="0"/>
                  <a:t>计算。</a:t>
                </a:r>
                <a:endParaRPr lang="en-US" altLang="zh-CN" sz="2000" dirty="0"/>
              </a:p>
            </p:txBody>
          </p:sp>
        </mc:Choice>
        <mc:Fallback>
          <p:sp>
            <p:nvSpPr>
              <p:cNvPr id="5" name="内容占位符 2"/>
              <p:cNvSpPr>
                <a:spLocks noRot="1" noChangeAspect="1" noMove="1" noResize="1" noEditPoints="1" noAdjustHandles="1" noChangeArrowheads="1" noChangeShapeType="1" noTextEdit="1"/>
              </p:cNvSpPr>
              <p:nvPr>
                <p:ph idx="1"/>
              </p:nvPr>
            </p:nvSpPr>
            <p:spPr>
              <a:xfrm>
                <a:off x="304912" y="1447852"/>
                <a:ext cx="8648514" cy="3573596"/>
              </a:xfrm>
              <a:blipFill rotWithShape="1">
                <a:blip r:embed="rId1"/>
                <a:stretch>
                  <a:fillRect l="-1" t="-1" r="6" b="14"/>
                </a:stretch>
              </a:blipFill>
              <a:ln>
                <a:noFill/>
              </a:ln>
            </p:spPr>
            <p:style>
              <a:lnRef idx="0">
                <a:scrgbClr r="0" g="0" b="0"/>
              </a:lnRef>
              <a:fillRef idx="0">
                <a:scrgbClr r="0" g="0" b="0"/>
              </a:fillRef>
              <a:effectRef idx="0">
                <a:scrgbClr r="0" g="0" b="0"/>
              </a:effectRef>
              <a:fontRef idx="minor">
                <a:schemeClr val="dk1"/>
              </a:fontRef>
            </p:style>
            <p:txBody>
              <a:bodyPr/>
              <a:lstStyle/>
              <a:p>
                <a:r>
                  <a:rPr lang="zh-CN" altLang="en-US">
                    <a:noFill/>
                  </a:rPr>
                  <a:t> </a:t>
                </a:r>
              </a:p>
            </p:txBody>
          </p:sp>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985628" y="129639"/>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码步骤</a:t>
            </a:r>
            <a:endParaRPr lang="zh-CN" altLang="en-US" sz="2400" dirty="0">
              <a:sym typeface="+mn-ea"/>
            </a:endParaRPr>
          </a:p>
        </p:txBody>
      </p:sp>
      <mc:AlternateContent xmlns:mc="http://schemas.openxmlformats.org/markup-compatibility/2006">
        <mc:Choice xmlns:a14="http://schemas.microsoft.com/office/drawing/2010/main" Requires="a14">
          <p:sp>
            <p:nvSpPr>
              <p:cNvPr id="5" name="内容占位符 2"/>
              <p:cNvSpPr>
                <a:spLocks noGrp="1"/>
              </p:cNvSpPr>
              <p:nvPr>
                <p:ph idx="1"/>
              </p:nvPr>
            </p:nvSpPr>
            <p:spPr>
              <a:xfrm>
                <a:off x="228714" y="609674"/>
                <a:ext cx="4571880" cy="5029068"/>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150000"/>
                  </a:lnSpc>
                  <a:spcBef>
                    <a:spcPts val="0"/>
                  </a:spcBef>
                  <a:spcAft>
                    <a:spcPts val="0"/>
                  </a:spcAft>
                  <a:buNone/>
                </a:pPr>
                <a:r>
                  <a:rPr lang="en-US" altLang="zh-CN" sz="2000" dirty="0">
                    <a:solidFill>
                      <a:srgbClr val="FF0000"/>
                    </a:solidFill>
                  </a:rPr>
                  <a:t>N=4</a:t>
                </a:r>
                <a:r>
                  <a:rPr lang="zh-CN" altLang="en-US" sz="2000" dirty="0">
                    <a:solidFill>
                      <a:srgbClr val="FF0000"/>
                    </a:solidFill>
                  </a:rPr>
                  <a:t>解码步骤示意：</a:t>
                </a:r>
                <a:endParaRPr lang="en-US" altLang="zh-CN" sz="2000" dirty="0">
                  <a:solidFill>
                    <a:srgbClr val="FF0000"/>
                  </a:solidFill>
                </a:endParaRPr>
              </a:p>
              <a:p>
                <a:pPr marL="0" indent="0">
                  <a:lnSpc>
                    <a:spcPct val="150000"/>
                  </a:lnSpc>
                  <a:spcBef>
                    <a:spcPts val="0"/>
                  </a:spcBef>
                  <a:spcAft>
                    <a:spcPts val="0"/>
                  </a:spcAft>
                  <a:buNone/>
                </a:pPr>
                <a:r>
                  <a:rPr lang="zh-CN" altLang="en-US" sz="1800" dirty="0">
                    <a:solidFill>
                      <a:schemeClr val="tx1"/>
                    </a:solidFill>
                  </a:rPr>
                  <a:t>第一步：解码器把来自下半部分（</a:t>
                </a:r>
                <a:r>
                  <a:rPr lang="zh-CN" altLang="en-US" sz="1800" dirty="0">
                    <a:solidFill>
                      <a:schemeClr val="tx1"/>
                    </a:solidFill>
                    <a:ea typeface="黑体" panose="02010609060101010101" pitchFamily="49" charset="-122"/>
                  </a:rPr>
                  <a:t> </a:t>
                </a:r>
                <a14:m>
                  <m:oMath xmlns:m="http://schemas.openxmlformats.org/officeDocument/2006/math">
                    <m:sSub>
                      <m:sSubPr>
                        <m:ctrlPr>
                          <a:rPr lang="zh-CN" altLang="en-US" sz="1800" i="1" smtClean="0">
                            <a:solidFill>
                              <a:schemeClr val="tx1"/>
                            </a:solidFill>
                            <a:latin typeface="Cambria Math" panose="02040503050406030204" pitchFamily="18" charset="0"/>
                            <a:ea typeface="黑体" panose="02010609060101010101" pitchFamily="49" charset="-122"/>
                          </a:rPr>
                        </m:ctrlPr>
                      </m:sSubPr>
                      <m:e>
                        <m:r>
                          <m:rPr>
                            <m:sty m:val="p"/>
                          </m:rPr>
                          <a:rPr lang="en-US" altLang="zh-CN" sz="1800" i="1">
                            <a:solidFill>
                              <a:schemeClr val="tx1"/>
                            </a:solidFill>
                            <a:latin typeface="Cambria Math" panose="02040503050406030204" pitchFamily="18" charset="0"/>
                            <a:ea typeface="黑体" panose="02010609060101010101" pitchFamily="49" charset="-122"/>
                          </a:rPr>
                          <m:t>x</m:t>
                        </m:r>
                      </m:e>
                      <m:sub>
                        <m:r>
                          <a:rPr lang="en-US" altLang="zh-CN" sz="1800" b="0" i="0" smtClean="0">
                            <a:solidFill>
                              <a:schemeClr val="tx1"/>
                            </a:solidFill>
                            <a:latin typeface="Cambria Math" panose="02040503050406030204" pitchFamily="18" charset="0"/>
                            <a:ea typeface="黑体" panose="02010609060101010101" pitchFamily="49" charset="-122"/>
                          </a:rPr>
                          <m:t>3</m:t>
                        </m:r>
                      </m:sub>
                    </m:sSub>
                    <m:sSub>
                      <m:sSubPr>
                        <m:ctrlPr>
                          <a:rPr lang="zh-CN" altLang="en-US" sz="1800" i="1" smtClean="0">
                            <a:solidFill>
                              <a:schemeClr val="tx1"/>
                            </a:solidFill>
                            <a:latin typeface="Cambria Math" panose="02040503050406030204" pitchFamily="18" charset="0"/>
                            <a:ea typeface="黑体" panose="02010609060101010101" pitchFamily="49" charset="-122"/>
                          </a:rPr>
                        </m:ctrlPr>
                      </m:sSubPr>
                      <m:e>
                        <m:r>
                          <a:rPr lang="en-US" altLang="zh-CN" sz="1800">
                            <a:solidFill>
                              <a:schemeClr val="tx1"/>
                            </a:solidFill>
                            <a:latin typeface="Cambria Math" panose="02040503050406030204" pitchFamily="18" charset="0"/>
                            <a:ea typeface="黑体" panose="02010609060101010101" pitchFamily="49" charset="-122"/>
                          </a:rPr>
                          <m:t>,</m:t>
                        </m:r>
                        <m:r>
                          <m:rPr>
                            <m:sty m:val="p"/>
                          </m:rPr>
                          <a:rPr lang="en-US" altLang="zh-CN" sz="1800" i="1">
                            <a:solidFill>
                              <a:schemeClr val="tx1"/>
                            </a:solidFill>
                            <a:latin typeface="Cambria Math" panose="02040503050406030204" pitchFamily="18" charset="0"/>
                            <a:ea typeface="黑体" panose="02010609060101010101" pitchFamily="49" charset="-122"/>
                          </a:rPr>
                          <m:t>x</m:t>
                        </m:r>
                      </m:e>
                      <m:sub>
                        <m:r>
                          <a:rPr lang="en-US" altLang="zh-CN" sz="1800" b="0" i="0" smtClean="0">
                            <a:solidFill>
                              <a:schemeClr val="tx1"/>
                            </a:solidFill>
                            <a:latin typeface="Cambria Math" panose="02040503050406030204" pitchFamily="18" charset="0"/>
                            <a:ea typeface="黑体" panose="02010609060101010101" pitchFamily="49" charset="-122"/>
                          </a:rPr>
                          <m:t>4</m:t>
                        </m:r>
                      </m:sub>
                    </m:sSub>
                    <m:r>
                      <a:rPr lang="en-US" altLang="zh-CN" sz="1800" b="0" i="1" smtClean="0">
                        <a:solidFill>
                          <a:schemeClr val="tx1"/>
                        </a:solidFill>
                        <a:latin typeface="Cambria Math" panose="02040503050406030204" pitchFamily="18" charset="0"/>
                        <a:ea typeface="黑体" panose="02010609060101010101" pitchFamily="49" charset="-122"/>
                      </a:rPr>
                      <m:t> </m:t>
                    </m:r>
                  </m:oMath>
                </a14:m>
                <a:r>
                  <a:rPr lang="zh-CN" altLang="en-US" sz="1800" dirty="0">
                    <a:solidFill>
                      <a:schemeClr val="tx1"/>
                    </a:solidFill>
                  </a:rPr>
                  <a:t>）的信息当做噪声，根据上半部分（ </a:t>
                </a:r>
                <a14:m>
                  <m:oMath xmlns:m="http://schemas.openxmlformats.org/officeDocument/2006/math">
                    <m:sSub>
                      <m:sSubPr>
                        <m:ctrlPr>
                          <a:rPr lang="zh-CN" altLang="en-US" sz="1800" i="1">
                            <a:solidFill>
                              <a:schemeClr val="tx1"/>
                            </a:solidFill>
                            <a:latin typeface="Cambria Math" panose="02040503050406030204" pitchFamily="18" charset="0"/>
                          </a:rPr>
                        </m:ctrlPr>
                      </m:sSubPr>
                      <m:e>
                        <m:r>
                          <m:rPr>
                            <m:sty m:val="p"/>
                          </m:rPr>
                          <a:rPr lang="en-US" altLang="zh-CN" sz="1800" i="1" smtClean="0">
                            <a:solidFill>
                              <a:schemeClr val="tx1"/>
                            </a:solidFill>
                            <a:latin typeface="Cambria Math" panose="02040503050406030204" pitchFamily="18" charset="0"/>
                          </a:rPr>
                          <m:t>x</m:t>
                        </m:r>
                      </m:e>
                      <m:sub>
                        <m:r>
                          <a:rPr lang="en-US" altLang="zh-CN" sz="1800">
                            <a:solidFill>
                              <a:schemeClr val="tx1"/>
                            </a:solidFill>
                            <a:latin typeface="Cambria Math" panose="02040503050406030204" pitchFamily="18" charset="0"/>
                          </a:rPr>
                          <m:t>1</m:t>
                        </m:r>
                      </m:sub>
                    </m:sSub>
                    <m:sSub>
                      <m:sSubPr>
                        <m:ctrlPr>
                          <a:rPr lang="zh-CN" altLang="en-US" sz="1800" i="1">
                            <a:solidFill>
                              <a:schemeClr val="tx1"/>
                            </a:solidFill>
                            <a:latin typeface="Cambria Math" panose="02040503050406030204" pitchFamily="18" charset="0"/>
                          </a:rPr>
                        </m:ctrlPr>
                      </m:sSubPr>
                      <m:e>
                        <m:r>
                          <a:rPr lang="en-US" altLang="zh-CN" sz="1800">
                            <a:solidFill>
                              <a:schemeClr val="tx1"/>
                            </a:solidFill>
                            <a:latin typeface="Cambria Math" panose="02040503050406030204" pitchFamily="18" charset="0"/>
                          </a:rPr>
                          <m:t>,</m:t>
                        </m:r>
                        <m:r>
                          <m:rPr>
                            <m:sty m:val="p"/>
                          </m:rPr>
                          <a:rPr lang="en-US" altLang="zh-CN" sz="1800" i="1">
                            <a:solidFill>
                              <a:schemeClr val="tx1"/>
                            </a:solidFill>
                            <a:latin typeface="Cambria Math" panose="02040503050406030204" pitchFamily="18" charset="0"/>
                          </a:rPr>
                          <m:t>x</m:t>
                        </m:r>
                      </m:e>
                      <m:sub>
                        <m:r>
                          <a:rPr lang="en-US" altLang="zh-CN" sz="1800">
                            <a:solidFill>
                              <a:schemeClr val="tx1"/>
                            </a:solidFill>
                            <a:latin typeface="Cambria Math" panose="02040503050406030204" pitchFamily="18" charset="0"/>
                          </a:rPr>
                          <m:t>2</m:t>
                        </m:r>
                      </m:sub>
                    </m:sSub>
                    <m:r>
                      <a:rPr lang="en-US" altLang="zh-CN" sz="1800" i="1">
                        <a:solidFill>
                          <a:schemeClr val="tx1"/>
                        </a:solidFill>
                        <a:latin typeface="Cambria Math" panose="02040503050406030204" pitchFamily="18" charset="0"/>
                      </a:rPr>
                      <m:t> </m:t>
                    </m:r>
                  </m:oMath>
                </a14:m>
                <a:r>
                  <a:rPr lang="zh-CN" altLang="en-US" sz="1800" dirty="0">
                    <a:solidFill>
                      <a:schemeClr val="tx1"/>
                    </a:solidFill>
                  </a:rPr>
                  <a:t>）计算出临时变量</a:t>
                </a:r>
                <a14:m>
                  <m:oMath xmlns:m="http://schemas.openxmlformats.org/officeDocument/2006/math">
                    <m:sSub>
                      <m:sSubPr>
                        <m:ctrlPr>
                          <a:rPr lang="zh-CN" altLang="en-US" sz="1800" i="1">
                            <a:solidFill>
                              <a:schemeClr val="tx1"/>
                            </a:solidFill>
                            <a:latin typeface="Cambria Math" panose="02040503050406030204" pitchFamily="18" charset="0"/>
                          </a:rPr>
                        </m:ctrlPr>
                      </m:sSubPr>
                      <m:e>
                        <m:r>
                          <m:rPr>
                            <m:sty m:val="p"/>
                          </m:rPr>
                          <a:rPr lang="en-US" altLang="zh-CN" sz="1800" i="1" smtClean="0">
                            <a:solidFill>
                              <a:schemeClr val="tx1"/>
                            </a:solidFill>
                            <a:latin typeface="Cambria Math" panose="02040503050406030204" pitchFamily="18" charset="0"/>
                          </a:rPr>
                          <m:t>t</m:t>
                        </m:r>
                      </m:e>
                      <m:sub>
                        <m:r>
                          <a:rPr lang="en-US" altLang="zh-CN" sz="1800">
                            <a:solidFill>
                              <a:schemeClr val="tx1"/>
                            </a:solidFill>
                            <a:latin typeface="Cambria Math" panose="02040503050406030204" pitchFamily="18" charset="0"/>
                          </a:rPr>
                          <m:t>1</m:t>
                        </m:r>
                      </m:sub>
                    </m:sSub>
                    <m:sSub>
                      <m:sSubPr>
                        <m:ctrlPr>
                          <a:rPr lang="zh-CN" altLang="en-US" sz="1800" i="1">
                            <a:solidFill>
                              <a:schemeClr val="tx1"/>
                            </a:solidFill>
                            <a:latin typeface="Cambria Math" panose="02040503050406030204" pitchFamily="18" charset="0"/>
                          </a:rPr>
                        </m:ctrlPr>
                      </m:sSubPr>
                      <m:e>
                        <m:r>
                          <a:rPr lang="en-US" altLang="zh-CN" sz="1800">
                            <a:solidFill>
                              <a:schemeClr val="tx1"/>
                            </a:solidFill>
                            <a:latin typeface="Cambria Math" panose="02040503050406030204" pitchFamily="18" charset="0"/>
                          </a:rPr>
                          <m:t>,</m:t>
                        </m:r>
                        <m:r>
                          <m:rPr>
                            <m:sty m:val="p"/>
                          </m:rPr>
                          <a:rPr lang="en-US" altLang="zh-CN" sz="1800" i="1">
                            <a:solidFill>
                              <a:schemeClr val="tx1"/>
                            </a:solidFill>
                            <a:latin typeface="Cambria Math" panose="02040503050406030204" pitchFamily="18" charset="0"/>
                          </a:rPr>
                          <m:t>t</m:t>
                        </m:r>
                      </m:e>
                      <m:sub>
                        <m:r>
                          <a:rPr lang="en-US" altLang="zh-CN" sz="1800">
                            <a:solidFill>
                              <a:schemeClr val="tx1"/>
                            </a:solidFill>
                            <a:latin typeface="Cambria Math" panose="02040503050406030204" pitchFamily="18" charset="0"/>
                          </a:rPr>
                          <m:t>2</m:t>
                        </m:r>
                      </m:sub>
                    </m:sSub>
                    <m:r>
                      <a:rPr lang="en-US" altLang="zh-CN" sz="1800" i="1">
                        <a:solidFill>
                          <a:schemeClr val="tx1"/>
                        </a:solidFill>
                        <a:latin typeface="Cambria Math" panose="02040503050406030204" pitchFamily="18" charset="0"/>
                      </a:rPr>
                      <m:t> </m:t>
                    </m:r>
                    <m:r>
                      <a:rPr lang="zh-CN" altLang="en-US" sz="1800" i="1">
                        <a:solidFill>
                          <a:schemeClr val="tx1"/>
                        </a:solidFill>
                        <a:latin typeface="Cambria Math" panose="02040503050406030204" pitchFamily="18" charset="0"/>
                      </a:rPr>
                      <m:t>。</m:t>
                    </m:r>
                  </m:oMath>
                </a14:m>
                <a:r>
                  <a:rPr lang="zh-CN" altLang="en-US" sz="1800" dirty="0">
                    <a:solidFill>
                      <a:schemeClr val="tx1"/>
                    </a:solidFill>
                  </a:rPr>
                  <a:t>在这里，“当做噪声”的含义是丛编码（或数据发射）角度看，有</a:t>
                </a:r>
                <a:endParaRPr lang="en-US" altLang="zh-CN" sz="1800" dirty="0">
                  <a:solidFill>
                    <a:schemeClr val="tx1"/>
                  </a:solidFill>
                </a:endParaRPr>
              </a:p>
              <a:p>
                <a:pPr marL="0" indent="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altLang="zh-CN" sz="1800" i="1" smtClean="0">
                              <a:solidFill>
                                <a:schemeClr val="tx1"/>
                              </a:solidFill>
                              <a:latin typeface="Cambria Math" panose="02040503050406030204" pitchFamily="18" charset="0"/>
                            </a:rPr>
                          </m:ctrlPr>
                        </m:sSubPr>
                        <m:e>
                          <m:r>
                            <a:rPr lang="en-US" altLang="zh-CN" sz="1800" i="1" smtClean="0">
                              <a:solidFill>
                                <a:schemeClr val="tx1"/>
                              </a:solidFill>
                              <a:latin typeface="Cambria Math" panose="02040503050406030204" pitchFamily="18" charset="0"/>
                            </a:rPr>
                            <m:t>𝑥</m:t>
                          </m:r>
                        </m:e>
                        <m:sub>
                          <m:r>
                            <a:rPr lang="en-US" altLang="zh-CN" sz="1800" i="1" smtClean="0">
                              <a:solidFill>
                                <a:schemeClr val="tx1"/>
                              </a:solidFill>
                              <a:latin typeface="Cambria Math" panose="02040503050406030204" pitchFamily="18" charset="0"/>
                            </a:rPr>
                            <m:t>1</m:t>
                          </m:r>
                        </m:sub>
                      </m:sSub>
                      <m:r>
                        <a:rPr lang="en-US" altLang="zh-CN" sz="1800" i="1" smtClean="0">
                          <a:solidFill>
                            <a:schemeClr val="tx1"/>
                          </a:solidFill>
                          <a:latin typeface="Cambria Math" panose="02040503050406030204" pitchFamily="18" charset="0"/>
                        </a:rPr>
                        <m:t>=</m:t>
                      </m:r>
                      <m:sSub>
                        <m:sSubPr>
                          <m:ctrlPr>
                            <a:rPr lang="en-US" altLang="zh-CN" sz="1800" i="1" smtClean="0">
                              <a:solidFill>
                                <a:schemeClr val="tx1"/>
                              </a:solidFill>
                              <a:latin typeface="Cambria Math" panose="02040503050406030204" pitchFamily="18" charset="0"/>
                            </a:rPr>
                          </m:ctrlPr>
                        </m:sSubPr>
                        <m:e>
                          <m:r>
                            <a:rPr lang="en-US" altLang="zh-CN" sz="1800" i="1" smtClean="0">
                              <a:solidFill>
                                <a:schemeClr val="tx1"/>
                              </a:solidFill>
                              <a:latin typeface="Cambria Math" panose="02040503050406030204" pitchFamily="18" charset="0"/>
                            </a:rPr>
                            <m:t>𝑡</m:t>
                          </m:r>
                        </m:e>
                        <m:sub>
                          <m:r>
                            <a:rPr lang="en-US" altLang="zh-CN" sz="1800" i="1" smtClean="0">
                              <a:solidFill>
                                <a:schemeClr val="tx1"/>
                              </a:solidFill>
                              <a:latin typeface="Cambria Math" panose="02040503050406030204" pitchFamily="18" charset="0"/>
                            </a:rPr>
                            <m:t>1</m:t>
                          </m:r>
                        </m:sub>
                      </m:sSub>
                      <m:r>
                        <a:rPr lang="en-US" altLang="zh-CN" sz="1800" i="1" smtClean="0">
                          <a:solidFill>
                            <a:schemeClr val="tx1"/>
                          </a:solidFill>
                          <a:latin typeface="Cambria Math" panose="02040503050406030204" pitchFamily="18" charset="0"/>
                        </a:rPr>
                        <m:t>+</m:t>
                      </m:r>
                      <m:sSub>
                        <m:sSubPr>
                          <m:ctrlPr>
                            <a:rPr lang="en-US" altLang="zh-CN" sz="1800" i="1" smtClean="0">
                              <a:solidFill>
                                <a:schemeClr val="tx1"/>
                              </a:solidFill>
                              <a:latin typeface="Cambria Math" panose="02040503050406030204" pitchFamily="18" charset="0"/>
                            </a:rPr>
                          </m:ctrlPr>
                        </m:sSubPr>
                        <m:e>
                          <m:r>
                            <a:rPr lang="en-US" altLang="zh-CN" sz="1800" i="1" smtClean="0">
                              <a:solidFill>
                                <a:schemeClr val="tx1"/>
                              </a:solidFill>
                              <a:latin typeface="Cambria Math" panose="02040503050406030204" pitchFamily="18" charset="0"/>
                            </a:rPr>
                            <m:t>𝑛</m:t>
                          </m:r>
                        </m:e>
                        <m:sub>
                          <m:r>
                            <a:rPr lang="en-US" altLang="zh-CN" sz="1800" i="1" smtClean="0">
                              <a:solidFill>
                                <a:schemeClr val="tx1"/>
                              </a:solidFill>
                              <a:latin typeface="Cambria Math" panose="02040503050406030204" pitchFamily="18" charset="0"/>
                            </a:rPr>
                            <m:t>1</m:t>
                          </m:r>
                        </m:sub>
                      </m:sSub>
                    </m:oMath>
                  </m:oMathPara>
                </a14:m>
                <a:endParaRPr lang="en-US" altLang="zh-CN" sz="1800" dirty="0">
                  <a:solidFill>
                    <a:schemeClr val="tx1"/>
                  </a:solidFill>
                </a:endParaRPr>
              </a:p>
              <a:p>
                <a:pPr marL="0" indent="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altLang="zh-CN" sz="1800" i="1" smtClean="0">
                              <a:solidFill>
                                <a:schemeClr val="tx1"/>
                              </a:solidFill>
                              <a:latin typeface="Cambria Math" panose="02040503050406030204" pitchFamily="18" charset="0"/>
                            </a:rPr>
                          </m:ctrlPr>
                        </m:sSubPr>
                        <m:e>
                          <m:r>
                            <a:rPr lang="en-US" altLang="zh-CN" sz="1800" i="1" smtClean="0">
                              <a:solidFill>
                                <a:schemeClr val="tx1"/>
                              </a:solidFill>
                              <a:latin typeface="Cambria Math" panose="02040503050406030204" pitchFamily="18" charset="0"/>
                            </a:rPr>
                            <m:t>𝑥</m:t>
                          </m:r>
                        </m:e>
                        <m:sub>
                          <m:r>
                            <a:rPr lang="en-US" altLang="zh-CN" sz="1800" b="0" i="1" smtClean="0">
                              <a:solidFill>
                                <a:schemeClr val="tx1"/>
                              </a:solidFill>
                              <a:latin typeface="Cambria Math" panose="02040503050406030204" pitchFamily="18" charset="0"/>
                            </a:rPr>
                            <m:t>2</m:t>
                          </m:r>
                        </m:sub>
                      </m:sSub>
                      <m:r>
                        <a:rPr lang="en-US" altLang="zh-CN" sz="1800" i="1" smtClean="0">
                          <a:solidFill>
                            <a:schemeClr val="tx1"/>
                          </a:solidFill>
                          <a:latin typeface="Cambria Math" panose="02040503050406030204" pitchFamily="18" charset="0"/>
                        </a:rPr>
                        <m:t>=</m:t>
                      </m:r>
                      <m:sSub>
                        <m:sSubPr>
                          <m:ctrlPr>
                            <a:rPr lang="en-US" altLang="zh-CN" sz="1800" i="1" smtClean="0">
                              <a:solidFill>
                                <a:schemeClr val="tx1"/>
                              </a:solidFill>
                              <a:latin typeface="Cambria Math" panose="02040503050406030204" pitchFamily="18" charset="0"/>
                            </a:rPr>
                          </m:ctrlPr>
                        </m:sSubPr>
                        <m:e>
                          <m:r>
                            <a:rPr lang="en-US" altLang="zh-CN" sz="1800" i="1" smtClean="0">
                              <a:solidFill>
                                <a:schemeClr val="tx1"/>
                              </a:solidFill>
                              <a:latin typeface="Cambria Math" panose="02040503050406030204" pitchFamily="18" charset="0"/>
                            </a:rPr>
                            <m:t>𝑡</m:t>
                          </m:r>
                        </m:e>
                        <m:sub>
                          <m:r>
                            <a:rPr lang="en-US" altLang="zh-CN" sz="1800" b="0" i="1" smtClean="0">
                              <a:solidFill>
                                <a:schemeClr val="tx1"/>
                              </a:solidFill>
                              <a:latin typeface="Cambria Math" panose="02040503050406030204" pitchFamily="18" charset="0"/>
                            </a:rPr>
                            <m:t>2</m:t>
                          </m:r>
                        </m:sub>
                      </m:sSub>
                      <m:r>
                        <a:rPr lang="en-US" altLang="zh-CN" sz="1800" i="1" smtClean="0">
                          <a:solidFill>
                            <a:schemeClr val="tx1"/>
                          </a:solidFill>
                          <a:latin typeface="Cambria Math" panose="02040503050406030204" pitchFamily="18" charset="0"/>
                        </a:rPr>
                        <m:t>+</m:t>
                      </m:r>
                      <m:sSub>
                        <m:sSubPr>
                          <m:ctrlPr>
                            <a:rPr lang="en-US" altLang="zh-CN" sz="1800" i="1" smtClean="0">
                              <a:solidFill>
                                <a:schemeClr val="tx1"/>
                              </a:solidFill>
                              <a:latin typeface="Cambria Math" panose="02040503050406030204" pitchFamily="18" charset="0"/>
                            </a:rPr>
                          </m:ctrlPr>
                        </m:sSubPr>
                        <m:e>
                          <m:r>
                            <a:rPr lang="en-US" altLang="zh-CN" sz="1800" i="1" smtClean="0">
                              <a:solidFill>
                                <a:schemeClr val="tx1"/>
                              </a:solidFill>
                              <a:latin typeface="Cambria Math" panose="02040503050406030204" pitchFamily="18" charset="0"/>
                            </a:rPr>
                            <m:t>𝑛</m:t>
                          </m:r>
                        </m:e>
                        <m:sub>
                          <m:r>
                            <a:rPr lang="en-US" altLang="zh-CN" sz="1800" b="0" i="1" smtClean="0">
                              <a:solidFill>
                                <a:schemeClr val="tx1"/>
                              </a:solidFill>
                              <a:latin typeface="Cambria Math" panose="02040503050406030204" pitchFamily="18" charset="0"/>
                            </a:rPr>
                            <m:t>2</m:t>
                          </m:r>
                        </m:sub>
                      </m:sSub>
                    </m:oMath>
                  </m:oMathPara>
                </a14:m>
                <a:endParaRPr lang="en-US" altLang="zh-CN" sz="1800" dirty="0">
                  <a:solidFill>
                    <a:schemeClr val="tx1"/>
                  </a:solidFill>
                </a:endParaRPr>
              </a:p>
              <a:p>
                <a:pPr marL="0" indent="0">
                  <a:lnSpc>
                    <a:spcPct val="150000"/>
                  </a:lnSpc>
                  <a:spcBef>
                    <a:spcPts val="0"/>
                  </a:spcBef>
                  <a:spcAft>
                    <a:spcPts val="0"/>
                  </a:spcAft>
                  <a:buNone/>
                </a:pPr>
                <a:r>
                  <a:rPr lang="en-US" altLang="zh-CN" sz="1800" dirty="0">
                    <a:solidFill>
                      <a:schemeClr val="tx1"/>
                    </a:solidFill>
                  </a:rPr>
                  <a:t>      </a:t>
                </a:r>
                <a:r>
                  <a:rPr lang="zh-CN" altLang="en-US" sz="1800" dirty="0">
                    <a:solidFill>
                      <a:schemeClr val="tx1"/>
                    </a:solidFill>
                  </a:rPr>
                  <a:t>其中</a:t>
                </a:r>
                <a14:m>
                  <m:oMath xmlns:m="http://schemas.openxmlformats.org/officeDocument/2006/math">
                    <m:sSub>
                      <m:sSubPr>
                        <m:ctrlPr>
                          <a:rPr lang="zh-CN" altLang="en-US" sz="1800" i="1" smtClean="0">
                            <a:solidFill>
                              <a:schemeClr val="tx1"/>
                            </a:solidFill>
                            <a:latin typeface="Cambria Math" panose="02040503050406030204" pitchFamily="18" charset="0"/>
                          </a:rPr>
                        </m:ctrlPr>
                      </m:sSubPr>
                      <m:e>
                        <m:r>
                          <m:rPr>
                            <m:sty m:val="p"/>
                          </m:rPr>
                          <a:rPr lang="en-US" altLang="zh-CN" sz="1800" i="1" smtClean="0">
                            <a:solidFill>
                              <a:schemeClr val="tx1"/>
                            </a:solidFill>
                            <a:latin typeface="Cambria Math" panose="02040503050406030204" pitchFamily="18" charset="0"/>
                          </a:rPr>
                          <m:t>t</m:t>
                        </m:r>
                      </m:e>
                      <m:sub>
                        <m:r>
                          <a:rPr lang="en-US" altLang="zh-CN" sz="1800">
                            <a:solidFill>
                              <a:schemeClr val="tx1"/>
                            </a:solidFill>
                            <a:latin typeface="Cambria Math" panose="02040503050406030204" pitchFamily="18" charset="0"/>
                          </a:rPr>
                          <m:t>1</m:t>
                        </m:r>
                      </m:sub>
                    </m:sSub>
                    <m:sSub>
                      <m:sSubPr>
                        <m:ctrlPr>
                          <a:rPr lang="zh-CN" altLang="en-US" sz="1800" i="1">
                            <a:solidFill>
                              <a:schemeClr val="tx1"/>
                            </a:solidFill>
                            <a:latin typeface="Cambria Math" panose="02040503050406030204" pitchFamily="18" charset="0"/>
                          </a:rPr>
                        </m:ctrlPr>
                      </m:sSubPr>
                      <m:e>
                        <m:r>
                          <a:rPr lang="en-US" altLang="zh-CN" sz="1800">
                            <a:solidFill>
                              <a:schemeClr val="tx1"/>
                            </a:solidFill>
                            <a:latin typeface="Cambria Math" panose="02040503050406030204" pitchFamily="18" charset="0"/>
                          </a:rPr>
                          <m:t>,</m:t>
                        </m:r>
                        <m:r>
                          <m:rPr>
                            <m:sty m:val="p"/>
                          </m:rPr>
                          <a:rPr lang="en-US" altLang="zh-CN" sz="1800" i="1">
                            <a:solidFill>
                              <a:schemeClr val="tx1"/>
                            </a:solidFill>
                            <a:latin typeface="Cambria Math" panose="02040503050406030204" pitchFamily="18" charset="0"/>
                          </a:rPr>
                          <m:t>t</m:t>
                        </m:r>
                      </m:e>
                      <m:sub>
                        <m:r>
                          <a:rPr lang="en-US" altLang="zh-CN" sz="1800">
                            <a:solidFill>
                              <a:schemeClr val="tx1"/>
                            </a:solidFill>
                            <a:latin typeface="Cambria Math" panose="02040503050406030204" pitchFamily="18" charset="0"/>
                          </a:rPr>
                          <m:t>2</m:t>
                        </m:r>
                      </m:sub>
                    </m:sSub>
                  </m:oMath>
                </a14:m>
                <a:r>
                  <a:rPr lang="zh-CN" altLang="en-US" sz="1800" dirty="0">
                    <a:solidFill>
                      <a:schemeClr val="tx1"/>
                    </a:solidFill>
                  </a:rPr>
                  <a:t>为有用数据，</a:t>
                </a:r>
                <a:r>
                  <a:rPr lang="en-US" altLang="zh-CN" sz="1800" dirty="0">
                    <a:solidFill>
                      <a:schemeClr val="tx1"/>
                    </a:solidFill>
                  </a:rPr>
                  <a:t> </a:t>
                </a:r>
                <a14:m>
                  <m:oMath xmlns:m="http://schemas.openxmlformats.org/officeDocument/2006/math">
                    <m:sSub>
                      <m:sSubPr>
                        <m:ctrlPr>
                          <a:rPr lang="en-US"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𝑛</m:t>
                        </m:r>
                      </m:e>
                      <m:sub>
                        <m:r>
                          <a:rPr lang="en-US" altLang="zh-CN" sz="1800" i="1">
                            <a:solidFill>
                              <a:schemeClr val="tx1"/>
                            </a:solidFill>
                            <a:latin typeface="Cambria Math" panose="02040503050406030204" pitchFamily="18" charset="0"/>
                          </a:rPr>
                          <m:t>1</m:t>
                        </m:r>
                      </m:sub>
                    </m:sSub>
                    <m:r>
                      <a:rPr lang="en-US" altLang="zh-CN" sz="1800" b="0" i="1" smtClean="0">
                        <a:solidFill>
                          <a:schemeClr val="tx1"/>
                        </a:solidFill>
                        <a:latin typeface="Cambria Math" panose="02040503050406030204" pitchFamily="18" charset="0"/>
                      </a:rPr>
                      <m:t>,</m:t>
                    </m:r>
                  </m:oMath>
                </a14:m>
                <a:r>
                  <a:rPr lang="en-US" altLang="zh-CN" sz="1800" dirty="0">
                    <a:solidFill>
                      <a:schemeClr val="tx1"/>
                    </a:solidFill>
                  </a:rPr>
                  <a:t> </a:t>
                </a:r>
                <a14:m>
                  <m:oMath xmlns:m="http://schemas.openxmlformats.org/officeDocument/2006/math">
                    <m:sSub>
                      <m:sSubPr>
                        <m:ctrlPr>
                          <a:rPr lang="en-US"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𝑛</m:t>
                        </m:r>
                      </m:e>
                      <m:sub>
                        <m:r>
                          <a:rPr lang="en-US" altLang="zh-CN" sz="1800" i="1">
                            <a:solidFill>
                              <a:schemeClr val="tx1"/>
                            </a:solidFill>
                            <a:latin typeface="Cambria Math" panose="02040503050406030204" pitchFamily="18" charset="0"/>
                          </a:rPr>
                          <m:t>2</m:t>
                        </m:r>
                      </m:sub>
                    </m:sSub>
                  </m:oMath>
                </a14:m>
                <a:r>
                  <a:rPr lang="zh-CN" altLang="en-US" sz="1800" dirty="0">
                    <a:solidFill>
                      <a:schemeClr val="tx1"/>
                    </a:solidFill>
                  </a:rPr>
                  <a:t>为噪声，因此在解码时为消除噪声影响需要</a:t>
                </a:r>
                <a:endParaRPr lang="en-US" altLang="zh-CN" sz="1800" dirty="0">
                  <a:solidFill>
                    <a:schemeClr val="tx1"/>
                  </a:solidFill>
                </a:endParaRPr>
              </a:p>
              <a:p>
                <a:pPr marL="0" indent="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altLang="zh-CN" sz="1800" i="1" smtClean="0">
                              <a:solidFill>
                                <a:schemeClr val="tx1"/>
                              </a:solidFill>
                              <a:latin typeface="Cambria Math" panose="02040503050406030204" pitchFamily="18" charset="0"/>
                            </a:rPr>
                          </m:ctrlPr>
                        </m:sSubPr>
                        <m:e>
                          <m:r>
                            <m:rPr>
                              <m:sty m:val="p"/>
                            </m:rPr>
                            <a:rPr lang="en-US" altLang="zh-CN" sz="1800" i="1">
                              <a:solidFill>
                                <a:schemeClr val="tx1"/>
                              </a:solidFill>
                              <a:latin typeface="Cambria Math" panose="02040503050406030204" pitchFamily="18" charset="0"/>
                            </a:rPr>
                            <m:t>t</m:t>
                          </m:r>
                        </m:e>
                        <m:sub>
                          <m:r>
                            <a:rPr lang="en-US" altLang="zh-CN" sz="1800" i="1" smtClean="0">
                              <a:solidFill>
                                <a:schemeClr val="tx1"/>
                              </a:solidFill>
                              <a:latin typeface="Cambria Math" panose="02040503050406030204" pitchFamily="18" charset="0"/>
                            </a:rPr>
                            <m:t>1</m:t>
                          </m:r>
                        </m:sub>
                      </m:sSub>
                      <m:r>
                        <a:rPr lang="en-US" altLang="zh-CN" sz="1800" i="1" smtClean="0">
                          <a:solidFill>
                            <a:schemeClr val="tx1"/>
                          </a:solidFill>
                          <a:latin typeface="Cambria Math" panose="02040503050406030204" pitchFamily="18" charset="0"/>
                        </a:rPr>
                        <m:t>=</m:t>
                      </m:r>
                      <m:sSub>
                        <m:sSubPr>
                          <m:ctrlPr>
                            <a:rPr lang="en-US" altLang="zh-CN" sz="1800" i="1" smtClean="0">
                              <a:solidFill>
                                <a:schemeClr val="tx1"/>
                              </a:solidFill>
                              <a:latin typeface="Cambria Math" panose="02040503050406030204" pitchFamily="18" charset="0"/>
                            </a:rPr>
                          </m:ctrlPr>
                        </m:sSubPr>
                        <m:e>
                          <m:r>
                            <m:rPr>
                              <m:sty m:val="p"/>
                            </m:rPr>
                            <a:rPr lang="en-US" altLang="zh-CN" sz="1800" i="1">
                              <a:solidFill>
                                <a:schemeClr val="tx1"/>
                              </a:solidFill>
                              <a:latin typeface="Cambria Math" panose="02040503050406030204" pitchFamily="18" charset="0"/>
                            </a:rPr>
                            <m:t>x</m:t>
                          </m:r>
                        </m:e>
                        <m:sub>
                          <m:r>
                            <a:rPr lang="en-US" altLang="zh-CN" sz="1800" i="1" smtClean="0">
                              <a:solidFill>
                                <a:schemeClr val="tx1"/>
                              </a:solidFill>
                              <a:latin typeface="Cambria Math" panose="02040503050406030204" pitchFamily="18" charset="0"/>
                            </a:rPr>
                            <m:t>1</m:t>
                          </m:r>
                        </m:sub>
                      </m:sSub>
                      <m:r>
                        <a:rPr lang="en-US" altLang="zh-CN" sz="1800" b="0" i="1" smtClean="0">
                          <a:solidFill>
                            <a:schemeClr val="tx1"/>
                          </a:solidFill>
                          <a:latin typeface="Cambria Math" panose="02040503050406030204" pitchFamily="18" charset="0"/>
                        </a:rPr>
                        <m:t> </m:t>
                      </m:r>
                      <m:r>
                        <a:rPr lang="en-US" altLang="zh-CN" sz="1800" i="1">
                          <a:solidFill>
                            <a:schemeClr val="tx1"/>
                          </a:solidFill>
                          <a:latin typeface="Cambria Math" panose="02040503050406030204" pitchFamily="18" charset="0"/>
                        </a:rPr>
                        <m:t>−</m:t>
                      </m:r>
                      <m:sSub>
                        <m:sSubPr>
                          <m:ctrlPr>
                            <a:rPr lang="en-US" altLang="zh-CN" sz="180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  </m:t>
                          </m:r>
                          <m:r>
                            <a:rPr lang="en-US" altLang="zh-CN" sz="1800" i="1" smtClean="0">
                              <a:solidFill>
                                <a:schemeClr val="tx1"/>
                              </a:solidFill>
                              <a:latin typeface="Cambria Math" panose="02040503050406030204" pitchFamily="18" charset="0"/>
                            </a:rPr>
                            <m:t>𝑛</m:t>
                          </m:r>
                        </m:e>
                        <m:sub>
                          <m:r>
                            <a:rPr lang="en-US" altLang="zh-CN" sz="1800" i="1" smtClean="0">
                              <a:solidFill>
                                <a:schemeClr val="tx1"/>
                              </a:solidFill>
                              <a:latin typeface="Cambria Math" panose="02040503050406030204" pitchFamily="18" charset="0"/>
                            </a:rPr>
                            <m:t>1</m:t>
                          </m:r>
                        </m:sub>
                      </m:sSub>
                    </m:oMath>
                  </m:oMathPara>
                </a14:m>
                <a:endParaRPr lang="en-US" altLang="zh-CN" sz="1800" dirty="0">
                  <a:solidFill>
                    <a:schemeClr val="tx1"/>
                  </a:solidFill>
                </a:endParaRPr>
              </a:p>
              <a:p>
                <a:pPr marL="0" indent="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altLang="zh-CN" sz="1800" i="1">
                              <a:solidFill>
                                <a:schemeClr val="tx1"/>
                              </a:solidFill>
                              <a:latin typeface="Cambria Math" panose="02040503050406030204" pitchFamily="18" charset="0"/>
                            </a:rPr>
                          </m:ctrlPr>
                        </m:sSubPr>
                        <m:e>
                          <m:r>
                            <m:rPr>
                              <m:sty m:val="p"/>
                            </m:rPr>
                            <a:rPr lang="en-US" altLang="zh-CN" sz="1800" i="1">
                              <a:solidFill>
                                <a:schemeClr val="tx1"/>
                              </a:solidFill>
                              <a:latin typeface="Cambria Math" panose="02040503050406030204" pitchFamily="18" charset="0"/>
                            </a:rPr>
                            <m:t>t</m:t>
                          </m:r>
                        </m:e>
                        <m:sub>
                          <m:r>
                            <a:rPr lang="en-US" altLang="zh-CN" sz="1800" b="0" i="1" smtClean="0">
                              <a:solidFill>
                                <a:schemeClr val="tx1"/>
                              </a:solidFill>
                              <a:latin typeface="Cambria Math" panose="02040503050406030204" pitchFamily="18" charset="0"/>
                            </a:rPr>
                            <m:t>2</m:t>
                          </m:r>
                        </m:sub>
                      </m:sSub>
                      <m:r>
                        <a:rPr lang="en-US" altLang="zh-CN" sz="1800" i="1">
                          <a:solidFill>
                            <a:schemeClr val="tx1"/>
                          </a:solidFill>
                          <a:latin typeface="Cambria Math" panose="02040503050406030204" pitchFamily="18" charset="0"/>
                        </a:rPr>
                        <m:t>=</m:t>
                      </m:r>
                      <m:sSub>
                        <m:sSubPr>
                          <m:ctrlPr>
                            <a:rPr lang="en-US" altLang="zh-CN" sz="1800" i="1">
                              <a:solidFill>
                                <a:schemeClr val="tx1"/>
                              </a:solidFill>
                              <a:latin typeface="Cambria Math" panose="02040503050406030204" pitchFamily="18" charset="0"/>
                            </a:rPr>
                          </m:ctrlPr>
                        </m:sSubPr>
                        <m:e>
                          <m:r>
                            <m:rPr>
                              <m:sty m:val="p"/>
                            </m:rPr>
                            <a:rPr lang="en-US" altLang="zh-CN" sz="1800" i="1">
                              <a:solidFill>
                                <a:schemeClr val="tx1"/>
                              </a:solidFill>
                              <a:latin typeface="Cambria Math" panose="02040503050406030204" pitchFamily="18" charset="0"/>
                            </a:rPr>
                            <m:t>x</m:t>
                          </m:r>
                        </m:e>
                        <m:sub>
                          <m:r>
                            <a:rPr lang="en-US" altLang="zh-CN" sz="1800" b="0" i="1" smtClean="0">
                              <a:solidFill>
                                <a:schemeClr val="tx1"/>
                              </a:solidFill>
                              <a:latin typeface="Cambria Math" panose="02040503050406030204" pitchFamily="18" charset="0"/>
                            </a:rPr>
                            <m:t>2</m:t>
                          </m:r>
                        </m:sub>
                      </m:sSub>
                      <m:r>
                        <a:rPr lang="en-US" altLang="zh-CN" sz="1800" i="1">
                          <a:solidFill>
                            <a:schemeClr val="tx1"/>
                          </a:solidFill>
                          <a:latin typeface="Cambria Math" panose="02040503050406030204" pitchFamily="18" charset="0"/>
                        </a:rPr>
                        <m:t> − </m:t>
                      </m:r>
                      <m:sSub>
                        <m:sSubPr>
                          <m:ctrlPr>
                            <a:rPr lang="en-US"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𝑛</m:t>
                          </m:r>
                        </m:e>
                        <m:sub>
                          <m:r>
                            <a:rPr lang="en-US" altLang="zh-CN" sz="1800" b="0" i="1" smtClean="0">
                              <a:solidFill>
                                <a:schemeClr val="tx1"/>
                              </a:solidFill>
                              <a:latin typeface="Cambria Math" panose="02040503050406030204" pitchFamily="18" charset="0"/>
                            </a:rPr>
                            <m:t>2</m:t>
                          </m:r>
                        </m:sub>
                      </m:sSub>
                    </m:oMath>
                  </m:oMathPara>
                </a14:m>
                <a:endParaRPr lang="en-US" altLang="zh-CN" sz="1800" dirty="0">
                  <a:solidFill>
                    <a:schemeClr val="tx1"/>
                  </a:solidFill>
                </a:endParaRPr>
              </a:p>
            </p:txBody>
          </p:sp>
        </mc:Choice>
        <mc:Fallback>
          <p:sp>
            <p:nvSpPr>
              <p:cNvPr id="5" name="内容占位符 2"/>
              <p:cNvSpPr>
                <a:spLocks noRot="1" noChangeAspect="1" noMove="1" noResize="1" noEditPoints="1" noAdjustHandles="1" noChangeArrowheads="1" noChangeShapeType="1" noTextEdit="1"/>
              </p:cNvSpPr>
              <p:nvPr>
                <p:ph idx="1"/>
              </p:nvPr>
            </p:nvSpPr>
            <p:spPr>
              <a:xfrm>
                <a:off x="228714" y="609674"/>
                <a:ext cx="4571880" cy="5029068"/>
              </a:xfrm>
              <a:blipFill rotWithShape="1">
                <a:blip r:embed="rId1"/>
                <a:stretch>
                  <a:fillRect l="-2" t="-1" r="14" b="11"/>
                </a:stretch>
              </a:blipFill>
              <a:ln>
                <a:noFill/>
              </a:ln>
            </p:spPr>
            <p:style>
              <a:lnRef idx="0">
                <a:scrgbClr r="0" g="0" b="0"/>
              </a:lnRef>
              <a:fillRef idx="0">
                <a:scrgbClr r="0" g="0" b="0"/>
              </a:fillRef>
              <a:effectRef idx="0">
                <a:scrgbClr r="0" g="0" b="0"/>
              </a:effectRef>
              <a:fontRef idx="minor">
                <a:schemeClr val="dk1"/>
              </a:fontRef>
            </p:style>
            <p:txBody>
              <a:bodyPr/>
              <a:lstStyle/>
              <a:p>
                <a:r>
                  <a:rPr lang="zh-CN" altLang="en-US">
                    <a:noFill/>
                  </a:rPr>
                  <a:t> </a:t>
                </a:r>
              </a:p>
            </p:txBody>
          </p:sp>
        </mc:Fallback>
      </mc:AlternateContent>
      <p:pic>
        <p:nvPicPr>
          <p:cNvPr id="3" name="图片 2"/>
          <p:cNvPicPr>
            <a:picLocks noChangeAspect="1"/>
          </p:cNvPicPr>
          <p:nvPr/>
        </p:nvPicPr>
        <p:blipFill>
          <a:blip r:embed="rId2"/>
          <a:stretch>
            <a:fillRect/>
          </a:stretch>
        </p:blipFill>
        <p:spPr>
          <a:xfrm>
            <a:off x="4800594" y="1372810"/>
            <a:ext cx="4286470" cy="3327571"/>
          </a:xfrm>
          <a:prstGeom prst="rect">
            <a:avLst/>
          </a:prstGeom>
        </p:spPr>
      </p:pic>
      <mc:AlternateContent xmlns:mc="http://schemas.openxmlformats.org/markup-compatibility/2006">
        <mc:Choice xmlns:a14="http://schemas.microsoft.com/office/drawing/2010/main" Requires="a14">
          <p:sp>
            <p:nvSpPr>
              <p:cNvPr id="9" name="文本框 8"/>
              <p:cNvSpPr txBox="1"/>
              <p:nvPr/>
            </p:nvSpPr>
            <p:spPr>
              <a:xfrm>
                <a:off x="457308" y="5410148"/>
                <a:ext cx="7905606" cy="1059393"/>
              </a:xfrm>
              <a:prstGeom prst="rect">
                <a:avLst/>
              </a:prstGeom>
              <a:noFill/>
            </p:spPr>
            <p:txBody>
              <a:bodyPr wrap="square">
                <a:spAutoFit/>
              </a:bodyPr>
              <a:lstStyle/>
              <a:p>
                <a:pPr marL="0" marR="0" lvl="0" indent="0" algn="l" defTabSz="914400" rtl="0" eaLnBrk="0" fontAlgn="base" latinLnBrk="0" hangingPunct="0">
                  <a:lnSpc>
                    <a:spcPct val="150000"/>
                  </a:lnSpc>
                  <a:spcBef>
                    <a:spcPts val="0"/>
                  </a:spcBef>
                  <a:spcAft>
                    <a:spcPts val="0"/>
                  </a:spcAft>
                  <a:buClrTx/>
                  <a:buSzTx/>
                  <a:buFont typeface="Wingdings" panose="05000000000000000000" pitchFamily="2" charset="2"/>
                  <a:buNone/>
                  <a:defRPr/>
                </a:pPr>
                <a:r>
                  <a:rPr kumimoji="1" lang="zh-CN" altLang="en-US" sz="18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 这里的“</a:t>
                </a:r>
                <a:r>
                  <a:rPr kumimoji="1" lang="en-US" altLang="zh-CN" sz="18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a:t>
                </a:r>
                <a:r>
                  <a:rPr kumimoji="1" lang="zh-CN" altLang="en-US" sz="18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”不是简单的减法，二是</a:t>
                </a:r>
                <a14:m>
                  <m:oMath xmlns:m="http://schemas.openxmlformats.org/officeDocument/2006/math">
                    <m:r>
                      <a:rPr kumimoji="1"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𝑓</m:t>
                    </m:r>
                  </m:oMath>
                </a14:m>
                <a:r>
                  <a:rPr kumimoji="1" lang="zh-CN" altLang="en-US" sz="18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运算（</a:t>
                </a:r>
                <a:r>
                  <a:rPr kumimoji="1" lang="en-US" altLang="zh-CN" sz="18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 </a:t>
                </a:r>
                <a14:m>
                  <m:oMath xmlns:m="http://schemas.openxmlformats.org/officeDocument/2006/math">
                    <m:r>
                      <a:rPr kumimoji="1" lang="zh-CN" altLang="en-US" dirty="0">
                        <a:solidFill>
                          <a:srgbClr val="000000"/>
                        </a:solidFill>
                        <a:latin typeface="Cambria Math" panose="02040503050406030204" pitchFamily="18" charset="0"/>
                        <a:ea typeface="黑体" panose="02010609060101010101" pitchFamily="49" charset="-122"/>
                        <a:cs typeface="+mn-cs"/>
                      </a:rPr>
                      <m:t>盒子</m:t>
                    </m:r>
                  </m:oMath>
                </a14:m>
                <a:r>
                  <a:rPr kumimoji="1" lang="zh-CN" altLang="en-US" sz="18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加，</a:t>
                </a:r>
                <a:r>
                  <a:rPr kumimoji="1" lang="en-US" altLang="zh-CN" sz="18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Box-plus</a:t>
                </a:r>
                <a:r>
                  <a:rPr kumimoji="1" lang="zh-CN" altLang="en-US" sz="18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），如下。</a:t>
                </a:r>
                <a:endParaRPr kumimoji="1" lang="en-US" altLang="zh-CN" sz="18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endParaRPr>
              </a:p>
              <a:p>
                <a:pPr marL="0" marR="0" lvl="0" indent="0" algn="l" defTabSz="914400" rtl="0" eaLnBrk="0" fontAlgn="base" latinLnBrk="0" hangingPunct="0">
                  <a:lnSpc>
                    <a:spcPct val="100000"/>
                  </a:lnSpc>
                  <a:spcBef>
                    <a:spcPts val="0"/>
                  </a:spcBef>
                  <a:spcAft>
                    <a:spcPts val="0"/>
                  </a:spcAft>
                  <a:buClrTx/>
                  <a:buSzTx/>
                  <a:buFont typeface="Wingdings" panose="05000000000000000000" pitchFamily="2" charset="2"/>
                  <a:buNone/>
                  <a:defRPr/>
                </a:pPr>
                <a14:m>
                  <m:oMathPara xmlns:m="http://schemas.openxmlformats.org/officeDocument/2006/math">
                    <m:oMathParaPr>
                      <m:jc m:val="centerGroup"/>
                    </m:oMathParaPr>
                    <m:oMath xmlns:m="http://schemas.openxmlformats.org/officeDocument/2006/math">
                      <m:sSub>
                        <m:sSubPr>
                          <m:ctrlP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𝑡</m:t>
                          </m:r>
                        </m:e>
                        <m:sub>
                          <m: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sub>
                      </m:sSub>
                      <m: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b>
                        <m:sSubPr>
                          <m:ctrlP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𝑥</m:t>
                          </m:r>
                        </m:e>
                        <m:sub>
                          <m: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sub>
                      </m:sSub>
                      <m: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b>
                        <m:sSubPr>
                          <m:ctrlP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𝑛</m:t>
                          </m:r>
                        </m:e>
                        <m:sub>
                          <m: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sub>
                      </m:sSub>
                      <m: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𝑓</m:t>
                      </m:r>
                      <m:d>
                        <m:dPr>
                          <m:ctrlP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sSub>
                            <m:sSubPr>
                              <m:ctrlP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𝑥</m:t>
                              </m:r>
                            </m:e>
                            <m:sub>
                              <m: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sub>
                          </m:sSub>
                          <m: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b>
                            <m:sSubPr>
                              <m:ctrlP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𝑛</m:t>
                              </m:r>
                            </m:e>
                            <m:sub>
                              <m: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sub>
                          </m:sSub>
                        </m:e>
                      </m:d>
                      <m:r>
                        <a:rPr kumimoji="1"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b>
                        <m:sSubPr>
                          <m:ctrlPr>
                            <a:rPr kumimoji="1"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cs typeface="+mn-cs"/>
                            </a:rPr>
                          </m:ctrlPr>
                        </m:sSubPr>
                        <m:e>
                          <m:r>
                            <a:rPr kumimoji="1" lang="en-US" altLang="zh-CN" sz="1800" b="0" i="1" u="none" strike="noStrike" kern="1200" cap="none" spc="0" normalizeH="0" baseline="0" noProof="0" dirty="0">
                              <a:ln>
                                <a:noFill/>
                              </a:ln>
                              <a:solidFill>
                                <a:srgbClr val="000000"/>
                              </a:solidFill>
                              <a:effectLst/>
                              <a:uLnTx/>
                              <a:uFillTx/>
                              <a:latin typeface="Cambria Math" panose="02040503050406030204" pitchFamily="18" charset="0"/>
                              <a:cs typeface="+mn-cs"/>
                            </a:rPr>
                            <m:t>𝑥</m:t>
                          </m:r>
                        </m:e>
                        <m:sub>
                          <m:r>
                            <a:rPr kumimoji="1" lang="en-US" altLang="zh-CN" sz="1800" b="0" i="0" u="none" strike="noStrike" kern="1200" cap="none" spc="0" normalizeH="0" baseline="0" noProof="0" dirty="0">
                              <a:ln>
                                <a:noFill/>
                              </a:ln>
                              <a:solidFill>
                                <a:srgbClr val="000000"/>
                              </a:solidFill>
                              <a:effectLst/>
                              <a:uLnTx/>
                              <a:uFillTx/>
                              <a:latin typeface="Cambria Math" panose="02040503050406030204" pitchFamily="18" charset="0"/>
                              <a:cs typeface="+mn-cs"/>
                            </a:rPr>
                            <m:t>1</m:t>
                          </m:r>
                        </m:sub>
                      </m:sSub>
                      <m:r>
                        <a:rPr kumimoji="1"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cs typeface="+mn-cs"/>
                        </a:rPr>
                        <m:t>⊞</m:t>
                      </m:r>
                      <m:sSub>
                        <m:sSubPr>
                          <m:ctrlPr>
                            <a:rPr kumimoji="1" lang="en-US" altLang="zh-CN" sz="1800" b="0" i="1" u="none" strike="noStrike" kern="1200" cap="none" spc="0" normalizeH="0" baseline="0" noProof="0" dirty="0">
                              <a:ln>
                                <a:noFill/>
                              </a:ln>
                              <a:solidFill>
                                <a:srgbClr val="000000"/>
                              </a:solidFill>
                              <a:effectLst/>
                              <a:uLnTx/>
                              <a:uFillTx/>
                              <a:latin typeface="Cambria Math" panose="02040503050406030204" pitchFamily="18" charset="0"/>
                              <a:cs typeface="+mn-cs"/>
                            </a:rPr>
                          </m:ctrlPr>
                        </m:sSubPr>
                        <m:e>
                          <m:r>
                            <a:rPr kumimoji="1" lang="en-US" altLang="zh-CN" sz="1800" b="0" i="1" u="none" strike="noStrike" kern="1200" cap="none" spc="0" normalizeH="0" baseline="0" noProof="0" dirty="0">
                              <a:ln>
                                <a:noFill/>
                              </a:ln>
                              <a:solidFill>
                                <a:srgbClr val="000000"/>
                              </a:solidFill>
                              <a:effectLst/>
                              <a:uLnTx/>
                              <a:uFillTx/>
                              <a:latin typeface="Cambria Math" panose="02040503050406030204" pitchFamily="18" charset="0"/>
                              <a:cs typeface="+mn-cs"/>
                            </a:rPr>
                            <m:t>𝑛</m:t>
                          </m:r>
                        </m:e>
                        <m:sub>
                          <m:r>
                            <a:rPr kumimoji="1" lang="en-US" altLang="zh-CN" sz="1800" b="0" i="0" u="none" strike="noStrike" kern="1200" cap="none" spc="0" normalizeH="0" baseline="0" noProof="0" dirty="0">
                              <a:ln>
                                <a:noFill/>
                              </a:ln>
                              <a:solidFill>
                                <a:srgbClr val="000000"/>
                              </a:solidFill>
                              <a:effectLst/>
                              <a:uLnTx/>
                              <a:uFillTx/>
                              <a:latin typeface="Cambria Math" panose="02040503050406030204" pitchFamily="18" charset="0"/>
                              <a:cs typeface="+mn-cs"/>
                            </a:rPr>
                            <m:t>1</m:t>
                          </m:r>
                        </m:sub>
                      </m:sSub>
                      <m:r>
                        <a:rPr kumimoji="1" lang="en-US" altLang="zh-CN" sz="1800" b="0" i="0" u="none" strike="noStrike" kern="1200" cap="none" spc="0" normalizeH="0" baseline="0" noProof="0" dirty="0">
                          <a:ln>
                            <a:noFill/>
                          </a:ln>
                          <a:solidFill>
                            <a:srgbClr val="000000"/>
                          </a:solidFill>
                          <a:effectLst/>
                          <a:uLnTx/>
                          <a:uFillTx/>
                          <a:latin typeface="Cambria Math" panose="02040503050406030204" pitchFamily="18" charset="0"/>
                          <a:cs typeface="+mn-cs"/>
                        </a:rPr>
                        <m:t>=</m:t>
                      </m:r>
                      <m:func>
                        <m:funcPr>
                          <m:ctrlPr>
                            <a:rPr kumimoji="1" lang="en-US" altLang="zh-CN" sz="1800" b="0" i="1" u="none" strike="noStrike" kern="1200" cap="none" spc="0" normalizeH="0" baseline="0" noProof="0" dirty="0">
                              <a:ln>
                                <a:noFill/>
                              </a:ln>
                              <a:solidFill>
                                <a:srgbClr val="000000"/>
                              </a:solidFill>
                              <a:effectLst/>
                              <a:uLnTx/>
                              <a:uFillTx/>
                              <a:latin typeface="Cambria Math" panose="02040503050406030204" pitchFamily="18" charset="0"/>
                              <a:cs typeface="+mn-cs"/>
                            </a:rPr>
                          </m:ctrlPr>
                        </m:funcPr>
                        <m:fName>
                          <m:r>
                            <m:rPr>
                              <m:sty m:val="p"/>
                            </m:rPr>
                            <a:rPr kumimoji="1" lang="en-US" altLang="zh-CN" sz="1800" b="0" i="0" u="none" strike="noStrike" kern="1200" cap="none" spc="0" normalizeH="0" baseline="0" noProof="0" dirty="0">
                              <a:ln>
                                <a:noFill/>
                              </a:ln>
                              <a:solidFill>
                                <a:srgbClr val="000000"/>
                              </a:solidFill>
                              <a:effectLst/>
                              <a:uLnTx/>
                              <a:uFillTx/>
                              <a:latin typeface="Cambria Math" panose="02040503050406030204" pitchFamily="18" charset="0"/>
                              <a:cs typeface="+mn-cs"/>
                            </a:rPr>
                            <m:t>ln</m:t>
                          </m:r>
                        </m:fName>
                        <m:e>
                          <m:f>
                            <m:fPr>
                              <m:ctrlPr>
                                <a:rPr kumimoji="1" lang="en-US" altLang="zh-CN" sz="1800" b="0" i="1" u="none" strike="noStrike" kern="1200" cap="none" spc="0" normalizeH="0" baseline="0" noProof="0" dirty="0">
                                  <a:ln>
                                    <a:noFill/>
                                  </a:ln>
                                  <a:solidFill>
                                    <a:srgbClr val="000000"/>
                                  </a:solidFill>
                                  <a:effectLst/>
                                  <a:uLnTx/>
                                  <a:uFillTx/>
                                  <a:latin typeface="Cambria Math" panose="02040503050406030204" pitchFamily="18" charset="0"/>
                                  <a:cs typeface="+mn-cs"/>
                                </a:rPr>
                              </m:ctrlPr>
                            </m:fPr>
                            <m:num>
                              <m:r>
                                <a:rPr kumimoji="1" lang="en-US" altLang="zh-CN" sz="1800" b="0" i="0" u="none" strike="noStrike" kern="1200" cap="none" spc="0" normalizeH="0" baseline="0" noProof="0" dirty="0">
                                  <a:ln>
                                    <a:noFill/>
                                  </a:ln>
                                  <a:solidFill>
                                    <a:srgbClr val="000000"/>
                                  </a:solidFill>
                                  <a:effectLst/>
                                  <a:uLnTx/>
                                  <a:uFillTx/>
                                  <a:latin typeface="Cambria Math" panose="02040503050406030204" pitchFamily="18" charset="0"/>
                                  <a:cs typeface="+mn-cs"/>
                                </a:rPr>
                                <m:t>1</m:t>
                              </m:r>
                              <m:r>
                                <a:rPr kumimoji="1" lang="en-US" altLang="zh-CN" sz="1800" b="0" i="0" u="none" strike="noStrike" kern="1200" cap="none" spc="0" normalizeH="0" baseline="0" noProof="0" dirty="0">
                                  <a:ln>
                                    <a:noFill/>
                                  </a:ln>
                                  <a:solidFill>
                                    <a:srgbClr val="000000"/>
                                  </a:solidFill>
                                  <a:effectLst/>
                                  <a:uLnTx/>
                                  <a:uFillTx/>
                                  <a:latin typeface="Cambria Math" panose="02040503050406030204" pitchFamily="18" charset="0"/>
                                  <a:cs typeface="+mn-cs"/>
                                </a:rPr>
                                <m:t>+</m:t>
                              </m:r>
                              <m:sSup>
                                <m:sSupPr>
                                  <m:ctrlPr>
                                    <a:rPr kumimoji="1" lang="en-US" altLang="zh-CN" sz="1800" b="0" i="1" u="none" strike="noStrike" kern="1200" cap="none" spc="0" normalizeH="0" baseline="0" noProof="0" dirty="0">
                                      <a:ln>
                                        <a:noFill/>
                                      </a:ln>
                                      <a:solidFill>
                                        <a:srgbClr val="000000"/>
                                      </a:solidFill>
                                      <a:effectLst/>
                                      <a:uLnTx/>
                                      <a:uFillTx/>
                                      <a:latin typeface="Cambria Math" panose="02040503050406030204" pitchFamily="18" charset="0"/>
                                      <a:cs typeface="+mn-cs"/>
                                    </a:rPr>
                                  </m:ctrlPr>
                                </m:sSupPr>
                                <m:e>
                                  <m:r>
                                    <a:rPr kumimoji="1" lang="en-US" altLang="zh-CN" sz="1800" b="0" i="0" u="none" strike="noStrike" kern="1200" cap="none" spc="0" normalizeH="0" baseline="0" noProof="0" dirty="0">
                                      <a:ln>
                                        <a:noFill/>
                                      </a:ln>
                                      <a:solidFill>
                                        <a:srgbClr val="000000"/>
                                      </a:solidFill>
                                      <a:effectLst/>
                                      <a:uLnTx/>
                                      <a:uFillTx/>
                                      <a:latin typeface="Cambria Math" panose="02040503050406030204" pitchFamily="18" charset="0"/>
                                      <a:cs typeface="+mn-cs"/>
                                    </a:rPr>
                                    <m:t>ⅇ</m:t>
                                  </m:r>
                                </m:e>
                                <m:sup>
                                  <m:sSub>
                                    <m:sSubPr>
                                      <m:ctrlPr>
                                        <a:rPr kumimoji="1" lang="en-US" altLang="zh-CN" sz="1800" b="0" i="1" u="none" strike="noStrike" kern="1200" cap="none" spc="0" normalizeH="0" baseline="0" noProof="0" dirty="0">
                                          <a:ln>
                                            <a:noFill/>
                                          </a:ln>
                                          <a:solidFill>
                                            <a:srgbClr val="000000"/>
                                          </a:solidFill>
                                          <a:effectLst/>
                                          <a:uLnTx/>
                                          <a:uFillTx/>
                                          <a:latin typeface="Cambria Math" panose="02040503050406030204" pitchFamily="18" charset="0"/>
                                          <a:cs typeface="+mn-cs"/>
                                        </a:rPr>
                                      </m:ctrlPr>
                                    </m:sSubPr>
                                    <m:e>
                                      <m:r>
                                        <a:rPr kumimoji="1" lang="en-US" altLang="zh-CN" sz="1800" b="0" i="1" u="none" strike="noStrike" kern="1200" cap="none" spc="0" normalizeH="0" baseline="0" noProof="0" dirty="0">
                                          <a:ln>
                                            <a:noFill/>
                                          </a:ln>
                                          <a:solidFill>
                                            <a:srgbClr val="000000"/>
                                          </a:solidFill>
                                          <a:effectLst/>
                                          <a:uLnTx/>
                                          <a:uFillTx/>
                                          <a:latin typeface="Cambria Math" panose="02040503050406030204" pitchFamily="18" charset="0"/>
                                          <a:cs typeface="+mn-cs"/>
                                        </a:rPr>
                                        <m:t>𝑥</m:t>
                                      </m:r>
                                    </m:e>
                                    <m:sub>
                                      <m:r>
                                        <a:rPr kumimoji="1" lang="en-US" altLang="zh-CN" sz="1800" b="0" i="0" u="none" strike="noStrike" kern="1200" cap="none" spc="0" normalizeH="0" baseline="0" noProof="0" dirty="0">
                                          <a:ln>
                                            <a:noFill/>
                                          </a:ln>
                                          <a:solidFill>
                                            <a:srgbClr val="000000"/>
                                          </a:solidFill>
                                          <a:effectLst/>
                                          <a:uLnTx/>
                                          <a:uFillTx/>
                                          <a:latin typeface="Cambria Math" panose="02040503050406030204" pitchFamily="18" charset="0"/>
                                          <a:cs typeface="+mn-cs"/>
                                        </a:rPr>
                                        <m:t>1</m:t>
                                      </m:r>
                                    </m:sub>
                                  </m:sSub>
                                  <m:r>
                                    <a:rPr kumimoji="1" lang="en-US" altLang="zh-CN" sz="1800" b="0" i="0" u="none" strike="noStrike" kern="1200" cap="none" spc="0" normalizeH="0" baseline="0" noProof="0" dirty="0">
                                      <a:ln>
                                        <a:noFill/>
                                      </a:ln>
                                      <a:solidFill>
                                        <a:srgbClr val="000000"/>
                                      </a:solidFill>
                                      <a:effectLst/>
                                      <a:uLnTx/>
                                      <a:uFillTx/>
                                      <a:latin typeface="Cambria Math" panose="02040503050406030204" pitchFamily="18" charset="0"/>
                                      <a:cs typeface="+mn-cs"/>
                                    </a:rPr>
                                    <m:t>+</m:t>
                                  </m:r>
                                  <m:sSub>
                                    <m:sSubPr>
                                      <m:ctrlPr>
                                        <a:rPr kumimoji="1" lang="en-US" altLang="zh-CN" sz="1800" b="0" i="1" u="none" strike="noStrike" kern="1200" cap="none" spc="0" normalizeH="0" baseline="0" noProof="0" dirty="0">
                                          <a:ln>
                                            <a:noFill/>
                                          </a:ln>
                                          <a:solidFill>
                                            <a:srgbClr val="000000"/>
                                          </a:solidFill>
                                          <a:effectLst/>
                                          <a:uLnTx/>
                                          <a:uFillTx/>
                                          <a:latin typeface="Cambria Math" panose="02040503050406030204" pitchFamily="18" charset="0"/>
                                          <a:cs typeface="+mn-cs"/>
                                        </a:rPr>
                                      </m:ctrlPr>
                                    </m:sSubPr>
                                    <m:e>
                                      <m:r>
                                        <a:rPr kumimoji="1" lang="en-US" altLang="zh-CN" sz="1800" b="0" i="1" u="none" strike="noStrike" kern="1200" cap="none" spc="0" normalizeH="0" baseline="0" noProof="0" dirty="0">
                                          <a:ln>
                                            <a:noFill/>
                                          </a:ln>
                                          <a:solidFill>
                                            <a:srgbClr val="000000"/>
                                          </a:solidFill>
                                          <a:effectLst/>
                                          <a:uLnTx/>
                                          <a:uFillTx/>
                                          <a:latin typeface="Cambria Math" panose="02040503050406030204" pitchFamily="18" charset="0"/>
                                          <a:cs typeface="+mn-cs"/>
                                        </a:rPr>
                                        <m:t>𝑛</m:t>
                                      </m:r>
                                    </m:e>
                                    <m:sub>
                                      <m:r>
                                        <a:rPr kumimoji="1" lang="en-US" altLang="zh-CN" sz="1800" b="0" i="0" u="none" strike="noStrike" kern="1200" cap="none" spc="0" normalizeH="0" baseline="0" noProof="0" dirty="0">
                                          <a:ln>
                                            <a:noFill/>
                                          </a:ln>
                                          <a:solidFill>
                                            <a:srgbClr val="000000"/>
                                          </a:solidFill>
                                          <a:effectLst/>
                                          <a:uLnTx/>
                                          <a:uFillTx/>
                                          <a:latin typeface="Cambria Math" panose="02040503050406030204" pitchFamily="18" charset="0"/>
                                          <a:cs typeface="+mn-cs"/>
                                        </a:rPr>
                                        <m:t>1</m:t>
                                      </m:r>
                                    </m:sub>
                                  </m:sSub>
                                </m:sup>
                              </m:sSup>
                            </m:num>
                            <m:den>
                              <m:sSup>
                                <m:sSupPr>
                                  <m:ctrlPr>
                                    <a:rPr kumimoji="1" lang="en-US" altLang="zh-CN" sz="1800" b="0" i="1" u="none" strike="noStrike" kern="1200" cap="none" spc="0" normalizeH="0" baseline="0" noProof="0" dirty="0">
                                      <a:ln>
                                        <a:noFill/>
                                      </a:ln>
                                      <a:solidFill>
                                        <a:srgbClr val="000000"/>
                                      </a:solidFill>
                                      <a:effectLst/>
                                      <a:uLnTx/>
                                      <a:uFillTx/>
                                      <a:latin typeface="Cambria Math" panose="02040503050406030204" pitchFamily="18" charset="0"/>
                                      <a:cs typeface="+mn-cs"/>
                                    </a:rPr>
                                  </m:ctrlPr>
                                </m:sSupPr>
                                <m:e>
                                  <m:r>
                                    <a:rPr kumimoji="1" lang="en-US" altLang="zh-CN" sz="1800" b="0" i="0" u="none" strike="noStrike" kern="1200" cap="none" spc="0" normalizeH="0" baseline="0" noProof="0" dirty="0">
                                      <a:ln>
                                        <a:noFill/>
                                      </a:ln>
                                      <a:solidFill>
                                        <a:srgbClr val="000000"/>
                                      </a:solidFill>
                                      <a:effectLst/>
                                      <a:uLnTx/>
                                      <a:uFillTx/>
                                      <a:latin typeface="Cambria Math" panose="02040503050406030204" pitchFamily="18" charset="0"/>
                                      <a:cs typeface="+mn-cs"/>
                                    </a:rPr>
                                    <m:t>ⅇ</m:t>
                                  </m:r>
                                </m:e>
                                <m:sup>
                                  <m:sSub>
                                    <m:sSubPr>
                                      <m:ctrlPr>
                                        <a:rPr kumimoji="1" lang="en-US" altLang="zh-CN" sz="1800" b="0" i="1" u="none" strike="noStrike" kern="1200" cap="none" spc="0" normalizeH="0" baseline="0" noProof="0" dirty="0">
                                          <a:ln>
                                            <a:noFill/>
                                          </a:ln>
                                          <a:solidFill>
                                            <a:srgbClr val="000000"/>
                                          </a:solidFill>
                                          <a:effectLst/>
                                          <a:uLnTx/>
                                          <a:uFillTx/>
                                          <a:latin typeface="Cambria Math" panose="02040503050406030204" pitchFamily="18" charset="0"/>
                                          <a:cs typeface="+mn-cs"/>
                                        </a:rPr>
                                      </m:ctrlPr>
                                    </m:sSubPr>
                                    <m:e>
                                      <m:r>
                                        <a:rPr kumimoji="1" lang="en-US" altLang="zh-CN" sz="1800" b="0" i="1" u="none" strike="noStrike" kern="1200" cap="none" spc="0" normalizeH="0" baseline="0" noProof="0" dirty="0">
                                          <a:ln>
                                            <a:noFill/>
                                          </a:ln>
                                          <a:solidFill>
                                            <a:srgbClr val="000000"/>
                                          </a:solidFill>
                                          <a:effectLst/>
                                          <a:uLnTx/>
                                          <a:uFillTx/>
                                          <a:latin typeface="Cambria Math" panose="02040503050406030204" pitchFamily="18" charset="0"/>
                                          <a:cs typeface="+mn-cs"/>
                                        </a:rPr>
                                        <m:t>𝑥</m:t>
                                      </m:r>
                                    </m:e>
                                    <m:sub>
                                      <m:r>
                                        <a:rPr kumimoji="1" lang="en-US" altLang="zh-CN" sz="1800" b="0" i="0" u="none" strike="noStrike" kern="1200" cap="none" spc="0" normalizeH="0" baseline="0" noProof="0" dirty="0">
                                          <a:ln>
                                            <a:noFill/>
                                          </a:ln>
                                          <a:solidFill>
                                            <a:srgbClr val="000000"/>
                                          </a:solidFill>
                                          <a:effectLst/>
                                          <a:uLnTx/>
                                          <a:uFillTx/>
                                          <a:latin typeface="Cambria Math" panose="02040503050406030204" pitchFamily="18" charset="0"/>
                                          <a:cs typeface="+mn-cs"/>
                                        </a:rPr>
                                        <m:t>1</m:t>
                                      </m:r>
                                    </m:sub>
                                  </m:sSub>
                                </m:sup>
                              </m:sSup>
                              <m:r>
                                <a:rPr kumimoji="1" lang="en-US" altLang="zh-CN" sz="1800" b="0" i="0" u="none" strike="noStrike" kern="1200" cap="none" spc="0" normalizeH="0" baseline="0" noProof="0" dirty="0">
                                  <a:ln>
                                    <a:noFill/>
                                  </a:ln>
                                  <a:solidFill>
                                    <a:srgbClr val="000000"/>
                                  </a:solidFill>
                                  <a:effectLst/>
                                  <a:uLnTx/>
                                  <a:uFillTx/>
                                  <a:latin typeface="Cambria Math" panose="02040503050406030204" pitchFamily="18" charset="0"/>
                                  <a:cs typeface="+mn-cs"/>
                                </a:rPr>
                                <m:t>+</m:t>
                              </m:r>
                              <m:sSup>
                                <m:sSupPr>
                                  <m:ctrlPr>
                                    <a:rPr kumimoji="1" lang="en-US" altLang="zh-CN" sz="1800" b="0" i="1" u="none" strike="noStrike" kern="1200" cap="none" spc="0" normalizeH="0" baseline="0" noProof="0" dirty="0">
                                      <a:ln>
                                        <a:noFill/>
                                      </a:ln>
                                      <a:solidFill>
                                        <a:srgbClr val="000000"/>
                                      </a:solidFill>
                                      <a:effectLst/>
                                      <a:uLnTx/>
                                      <a:uFillTx/>
                                      <a:latin typeface="Cambria Math" panose="02040503050406030204" pitchFamily="18" charset="0"/>
                                      <a:cs typeface="+mn-cs"/>
                                    </a:rPr>
                                  </m:ctrlPr>
                                </m:sSupPr>
                                <m:e>
                                  <m:r>
                                    <a:rPr kumimoji="1" lang="en-US" altLang="zh-CN" sz="1800" b="0" i="0" u="none" strike="noStrike" kern="1200" cap="none" spc="0" normalizeH="0" baseline="0" noProof="0" dirty="0">
                                      <a:ln>
                                        <a:noFill/>
                                      </a:ln>
                                      <a:solidFill>
                                        <a:srgbClr val="000000"/>
                                      </a:solidFill>
                                      <a:effectLst/>
                                      <a:uLnTx/>
                                      <a:uFillTx/>
                                      <a:latin typeface="Cambria Math" panose="02040503050406030204" pitchFamily="18" charset="0"/>
                                      <a:cs typeface="+mn-cs"/>
                                    </a:rPr>
                                    <m:t>ⅇ</m:t>
                                  </m:r>
                                </m:e>
                                <m:sup>
                                  <m:sSub>
                                    <m:sSubPr>
                                      <m:ctrlPr>
                                        <a:rPr kumimoji="1" lang="en-US" altLang="zh-CN" sz="1800" b="0" i="1" u="none" strike="noStrike" kern="1200" cap="none" spc="0" normalizeH="0" baseline="0" noProof="0" dirty="0">
                                          <a:ln>
                                            <a:noFill/>
                                          </a:ln>
                                          <a:solidFill>
                                            <a:srgbClr val="000000"/>
                                          </a:solidFill>
                                          <a:effectLst/>
                                          <a:uLnTx/>
                                          <a:uFillTx/>
                                          <a:latin typeface="Cambria Math" panose="02040503050406030204" pitchFamily="18" charset="0"/>
                                          <a:cs typeface="+mn-cs"/>
                                        </a:rPr>
                                      </m:ctrlPr>
                                    </m:sSubPr>
                                    <m:e>
                                      <m:r>
                                        <m:rPr>
                                          <m:sty m:val="p"/>
                                        </m:rPr>
                                        <a:rPr kumimoji="1" lang="en-US" altLang="zh-CN" sz="1800" b="0" i="1" u="none" strike="noStrike" kern="1200" cap="none" spc="0" normalizeH="0" baseline="0" noProof="0" dirty="0">
                                          <a:ln>
                                            <a:noFill/>
                                          </a:ln>
                                          <a:solidFill>
                                            <a:srgbClr val="000000"/>
                                          </a:solidFill>
                                          <a:effectLst/>
                                          <a:uLnTx/>
                                          <a:uFillTx/>
                                          <a:latin typeface="Cambria Math" panose="02040503050406030204" pitchFamily="18" charset="0"/>
                                          <a:cs typeface="+mn-cs"/>
                                        </a:rPr>
                                        <m:t>n</m:t>
                                      </m:r>
                                    </m:e>
                                    <m:sub>
                                      <m:r>
                                        <a:rPr kumimoji="1" lang="en-US" altLang="zh-CN" sz="1800" b="0" i="0" u="none" strike="noStrike" kern="1200" cap="none" spc="0" normalizeH="0" baseline="0" noProof="0" dirty="0">
                                          <a:ln>
                                            <a:noFill/>
                                          </a:ln>
                                          <a:solidFill>
                                            <a:srgbClr val="000000"/>
                                          </a:solidFill>
                                          <a:effectLst/>
                                          <a:uLnTx/>
                                          <a:uFillTx/>
                                          <a:latin typeface="Cambria Math" panose="02040503050406030204" pitchFamily="18" charset="0"/>
                                          <a:cs typeface="+mn-cs"/>
                                        </a:rPr>
                                        <m:t>1</m:t>
                                      </m:r>
                                    </m:sub>
                                  </m:sSub>
                                </m:sup>
                              </m:sSup>
                            </m:den>
                          </m:f>
                        </m:e>
                      </m:func>
                    </m:oMath>
                  </m:oMathPara>
                </a14:m>
                <a:endParaRPr kumimoji="1" lang="en-US" altLang="zh-CN" sz="18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endParaRPr>
              </a:p>
            </p:txBody>
          </p:sp>
        </mc:Choice>
        <mc:Fallback>
          <p:sp>
            <p:nvSpPr>
              <p:cNvPr id="9" name="文本框 8"/>
              <p:cNvSpPr txBox="1">
                <a:spLocks noRot="1" noChangeAspect="1" noMove="1" noResize="1" noEditPoints="1" noAdjustHandles="1" noChangeArrowheads="1" noChangeShapeType="1" noTextEdit="1"/>
              </p:cNvSpPr>
              <p:nvPr/>
            </p:nvSpPr>
            <p:spPr>
              <a:xfrm>
                <a:off x="457308" y="5410148"/>
                <a:ext cx="7905606" cy="1059393"/>
              </a:xfrm>
              <a:prstGeom prst="rect">
                <a:avLst/>
              </a:prstGeom>
              <a:blipFill rotWithShape="1">
                <a:blip r:embed="rId3"/>
                <a:stretch>
                  <a:fillRect l="-1" t="-55" r="8" b="15"/>
                </a:stretch>
              </a:blipFill>
            </p:spPr>
            <p:txBody>
              <a:bodyPr/>
              <a:lstStyle/>
              <a:p>
                <a:r>
                  <a:rPr lang="zh-CN" altLang="en-US">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019762" y="171558"/>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码步骤</a:t>
            </a:r>
            <a:endParaRPr lang="zh-CN" altLang="en-US" sz="2400" dirty="0">
              <a:sym typeface="+mn-ea"/>
            </a:endParaRPr>
          </a:p>
        </p:txBody>
      </p:sp>
      <mc:AlternateContent xmlns:mc="http://schemas.openxmlformats.org/markup-compatibility/2006">
        <mc:Choice xmlns:a14="http://schemas.microsoft.com/office/drawing/2010/main" Requires="a14">
          <p:sp>
            <p:nvSpPr>
              <p:cNvPr id="5" name="内容占位符 2"/>
              <p:cNvSpPr>
                <a:spLocks noGrp="1"/>
              </p:cNvSpPr>
              <p:nvPr>
                <p:ph idx="1"/>
              </p:nvPr>
            </p:nvSpPr>
            <p:spPr>
              <a:xfrm>
                <a:off x="486836" y="1722198"/>
                <a:ext cx="4466154" cy="1142970"/>
              </a:xfrm>
              <a:noFill/>
              <a:ln>
                <a:noFill/>
              </a:ln>
            </p:spPr>
            <p:style>
              <a:lnRef idx="0">
                <a:scrgbClr r="0" g="0" b="0"/>
              </a:lnRef>
              <a:fillRef idx="0">
                <a:scrgbClr r="0" g="0" b="0"/>
              </a:fillRef>
              <a:effectRef idx="0">
                <a:scrgbClr r="0" g="0" b="0"/>
              </a:effectRef>
              <a:fontRef idx="minor">
                <a:schemeClr val="dk1"/>
              </a:fontRef>
            </p:style>
            <p:txBody>
              <a:bodyPr/>
              <a:lstStyle/>
              <a:p>
                <a:pPr marL="0" indent="0">
                  <a:lnSpc>
                    <a:spcPct val="150000"/>
                  </a:lnSpc>
                  <a:spcBef>
                    <a:spcPts val="0"/>
                  </a:spcBef>
                  <a:spcAft>
                    <a:spcPts val="0"/>
                  </a:spcAft>
                  <a:buNone/>
                </a:pPr>
                <a:r>
                  <a:rPr lang="zh-CN" altLang="en-US" sz="2000" dirty="0">
                    <a:solidFill>
                      <a:schemeClr val="tx1"/>
                    </a:solidFill>
                  </a:rPr>
                  <a:t>第二步：解码器把下半部分（临时变量</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t</m:t>
                        </m:r>
                      </m:e>
                      <m:sub>
                        <m:r>
                          <a:rPr lang="en-US" altLang="zh-CN" sz="2000">
                            <a:solidFill>
                              <a:schemeClr val="tx1"/>
                            </a:solidFill>
                            <a:latin typeface="Cambria Math" panose="02040503050406030204" pitchFamily="18" charset="0"/>
                          </a:rPr>
                          <m:t>2</m:t>
                        </m:r>
                      </m:sub>
                    </m:sSub>
                    <m:r>
                      <a:rPr lang="en-US" altLang="zh-CN" sz="2000" i="1">
                        <a:solidFill>
                          <a:schemeClr val="tx1"/>
                        </a:solidFill>
                        <a:latin typeface="Cambria Math" panose="02040503050406030204" pitchFamily="18" charset="0"/>
                      </a:rPr>
                      <m:t> </m:t>
                    </m:r>
                  </m:oMath>
                </a14:m>
                <a:r>
                  <a:rPr lang="zh-CN" altLang="en-US" sz="2000" dirty="0">
                    <a:solidFill>
                      <a:schemeClr val="tx1"/>
                    </a:solidFill>
                  </a:rPr>
                  <a:t>）看成噪声，求解出</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a:solidFill>
                              <a:schemeClr val="tx1"/>
                            </a:solidFill>
                            <a:latin typeface="Cambria Math" panose="02040503050406030204" pitchFamily="18" charset="0"/>
                          </a:rPr>
                          <m:t>1</m:t>
                        </m:r>
                      </m:sub>
                    </m:sSub>
                  </m:oMath>
                </a14:m>
                <a:r>
                  <a:rPr lang="zh-CN" altLang="en-US" sz="2000" dirty="0">
                    <a:solidFill>
                      <a:schemeClr val="tx1"/>
                    </a:solidFill>
                  </a:rPr>
                  <a:t>。</a:t>
                </a:r>
                <a:endParaRPr lang="en-US" altLang="zh-CN" sz="2000" dirty="0">
                  <a:solidFill>
                    <a:schemeClr val="tx1"/>
                  </a:solidFill>
                </a:endParaRPr>
              </a:p>
            </p:txBody>
          </p:sp>
        </mc:Choice>
        <mc:Fallback>
          <p:sp>
            <p:nvSpPr>
              <p:cNvPr id="5" name="内容占位符 2"/>
              <p:cNvSpPr>
                <a:spLocks noRot="1" noChangeAspect="1" noMove="1" noResize="1" noEditPoints="1" noAdjustHandles="1" noChangeArrowheads="1" noChangeShapeType="1" noTextEdit="1"/>
              </p:cNvSpPr>
              <p:nvPr>
                <p:ph idx="1"/>
              </p:nvPr>
            </p:nvSpPr>
            <p:spPr>
              <a:xfrm>
                <a:off x="486836" y="1722198"/>
                <a:ext cx="4466154" cy="1142970"/>
              </a:xfrm>
              <a:blipFill rotWithShape="1">
                <a:blip r:embed="rId1"/>
                <a:stretch>
                  <a:fillRect l="-10" t="-7" r="14" b="4"/>
                </a:stretch>
              </a:blipFill>
              <a:ln>
                <a:noFill/>
              </a:ln>
            </p:spPr>
            <p:style>
              <a:lnRef idx="0">
                <a:scrgbClr r="0" g="0" b="0"/>
              </a:lnRef>
              <a:fillRef idx="0">
                <a:scrgbClr r="0" g="0" b="0"/>
              </a:fillRef>
              <a:effectRef idx="0">
                <a:scrgbClr r="0" g="0" b="0"/>
              </a:effectRef>
              <a:fontRef idx="minor">
                <a:schemeClr val="dk1"/>
              </a:fontRef>
            </p:style>
            <p:txBody>
              <a:bodyPr/>
              <a:lstStyle/>
              <a:p>
                <a:r>
                  <a:rPr lang="zh-CN" altLang="en-US">
                    <a:noFill/>
                  </a:rPr>
                  <a:t> </a:t>
                </a:r>
              </a:p>
            </p:txBody>
          </p:sp>
        </mc:Fallback>
      </mc:AlternateContent>
      <p:pic>
        <p:nvPicPr>
          <p:cNvPr id="3" name="图片 2"/>
          <p:cNvPicPr>
            <a:picLocks noChangeAspect="1"/>
          </p:cNvPicPr>
          <p:nvPr/>
        </p:nvPicPr>
        <p:blipFill rotWithShape="1">
          <a:blip r:embed="rId2"/>
          <a:srcRect b="56976"/>
          <a:stretch>
            <a:fillRect/>
          </a:stretch>
        </p:blipFill>
        <p:spPr>
          <a:xfrm>
            <a:off x="5243228" y="1296083"/>
            <a:ext cx="2756042" cy="1371564"/>
          </a:xfrm>
          <a:prstGeom prst="rect">
            <a:avLst/>
          </a:prstGeom>
        </p:spPr>
      </p:pic>
      <p:pic>
        <p:nvPicPr>
          <p:cNvPr id="7" name="图片 6"/>
          <p:cNvPicPr>
            <a:picLocks noChangeAspect="1"/>
          </p:cNvPicPr>
          <p:nvPr/>
        </p:nvPicPr>
        <p:blipFill>
          <a:blip r:embed="rId3"/>
          <a:stretch>
            <a:fillRect/>
          </a:stretch>
        </p:blipFill>
        <p:spPr>
          <a:xfrm>
            <a:off x="5610223" y="2576228"/>
            <a:ext cx="2267067" cy="577880"/>
          </a:xfrm>
          <a:prstGeom prst="rect">
            <a:avLst/>
          </a:prstGeom>
        </p:spPr>
      </p:pic>
      <mc:AlternateContent xmlns:mc="http://schemas.openxmlformats.org/markup-compatibility/2006">
        <mc:Choice xmlns:a14="http://schemas.microsoft.com/office/drawing/2010/main" Requires="a14">
          <p:sp>
            <p:nvSpPr>
              <p:cNvPr id="8" name="内容占位符 2"/>
              <p:cNvSpPr txBox="1"/>
              <p:nvPr/>
            </p:nvSpPr>
            <p:spPr>
              <a:xfrm>
                <a:off x="486836" y="3809990"/>
                <a:ext cx="4495682" cy="2094222"/>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None/>
                </a:pPr>
                <a:r>
                  <a:rPr lang="zh-CN" altLang="en-US" sz="2000" dirty="0">
                    <a:solidFill>
                      <a:schemeClr val="tx1"/>
                    </a:solidFill>
                  </a:rPr>
                  <a:t>第三步：把上半部分（</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a:solidFill>
                              <a:schemeClr val="tx1"/>
                            </a:solidFill>
                            <a:latin typeface="Cambria Math" panose="02040503050406030204" pitchFamily="18" charset="0"/>
                          </a:rPr>
                          <m:t>1</m:t>
                        </m:r>
                      </m:sub>
                    </m:sSub>
                  </m:oMath>
                </a14:m>
                <a:r>
                  <a:rPr lang="zh-CN" altLang="en-US" sz="2000" dirty="0">
                    <a:solidFill>
                      <a:schemeClr val="tx1"/>
                    </a:solidFill>
                  </a:rPr>
                  <a:t>）当做已知比特，去解出</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b="0" i="0" smtClean="0">
                            <a:solidFill>
                              <a:schemeClr val="tx1"/>
                            </a:solidFill>
                            <a:latin typeface="Cambria Math" panose="02040503050406030204" pitchFamily="18" charset="0"/>
                          </a:rPr>
                          <m:t>2</m:t>
                        </m:r>
                      </m:sub>
                    </m:sSub>
                  </m:oMath>
                </a14:m>
                <a:r>
                  <a:rPr lang="zh-CN" altLang="en-US" sz="2000" dirty="0">
                    <a:solidFill>
                      <a:schemeClr val="tx1"/>
                    </a:solidFill>
                  </a:rPr>
                  <a:t>。此时应根据</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a:solidFill>
                              <a:schemeClr val="tx1"/>
                            </a:solidFill>
                            <a:latin typeface="Cambria Math" panose="02040503050406030204" pitchFamily="18" charset="0"/>
                          </a:rPr>
                          <m:t>1</m:t>
                        </m:r>
                      </m:sub>
                    </m:sSub>
                    <m:r>
                      <a:rPr lang="en-US" altLang="zh-CN" sz="2000" i="1">
                        <a:solidFill>
                          <a:schemeClr val="tx1"/>
                        </a:solidFill>
                        <a:latin typeface="Cambria Math" panose="02040503050406030204" pitchFamily="18" charset="0"/>
                      </a:rPr>
                      <m:t> </m:t>
                    </m:r>
                    <m:r>
                      <a:rPr lang="zh-CN" altLang="en-US" sz="2000" i="1">
                        <a:solidFill>
                          <a:schemeClr val="tx1"/>
                        </a:solidFill>
                        <a:latin typeface="Cambria Math" panose="02040503050406030204" pitchFamily="18" charset="0"/>
                      </a:rPr>
                      <m:t>的</m:t>
                    </m:r>
                  </m:oMath>
                </a14:m>
                <a:r>
                  <a:rPr lang="zh-CN" altLang="en-US" sz="2000" dirty="0">
                    <a:solidFill>
                      <a:schemeClr val="tx1"/>
                    </a:solidFill>
                  </a:rPr>
                  <a:t>取值（</a:t>
                </a:r>
                <a:r>
                  <a:rPr lang="en-US" altLang="zh-CN" sz="2000" dirty="0">
                    <a:solidFill>
                      <a:schemeClr val="tx1"/>
                    </a:solidFill>
                  </a:rPr>
                  <a:t>0,1</a:t>
                </a:r>
                <a:r>
                  <a:rPr lang="zh-CN" altLang="en-US" sz="2000" dirty="0">
                    <a:solidFill>
                      <a:schemeClr val="tx1"/>
                    </a:solidFill>
                  </a:rPr>
                  <a:t>）来对临时变量进行</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t</m:t>
                        </m:r>
                      </m:e>
                      <m:sub>
                        <m:r>
                          <a:rPr lang="en-US" altLang="zh-CN" sz="2000">
                            <a:solidFill>
                              <a:schemeClr val="tx1"/>
                            </a:solidFill>
                            <a:latin typeface="Cambria Math" panose="02040503050406030204" pitchFamily="18" charset="0"/>
                          </a:rPr>
                          <m:t>1</m:t>
                        </m:r>
                      </m:sub>
                    </m:sSub>
                    <m:sSub>
                      <m:sSubPr>
                        <m:ctrlPr>
                          <a:rPr lang="zh-CN" altLang="en-US" sz="2000" i="1">
                            <a:solidFill>
                              <a:schemeClr val="tx1"/>
                            </a:solidFill>
                            <a:latin typeface="Cambria Math" panose="02040503050406030204" pitchFamily="18" charset="0"/>
                          </a:rPr>
                        </m:ctrlPr>
                      </m:sSubPr>
                      <m:e>
                        <m:r>
                          <a:rPr lang="en-US" altLang="zh-CN" sz="2000">
                            <a:solidFill>
                              <a:schemeClr val="tx1"/>
                            </a:solidFill>
                            <a:latin typeface="Cambria Math" panose="02040503050406030204" pitchFamily="18" charset="0"/>
                          </a:rPr>
                          <m:t>,</m:t>
                        </m:r>
                        <m:r>
                          <m:rPr>
                            <m:sty m:val="p"/>
                          </m:rPr>
                          <a:rPr lang="en-US" altLang="zh-CN" sz="2000" i="1">
                            <a:solidFill>
                              <a:schemeClr val="tx1"/>
                            </a:solidFill>
                            <a:latin typeface="Cambria Math" panose="02040503050406030204" pitchFamily="18" charset="0"/>
                          </a:rPr>
                          <m:t>t</m:t>
                        </m:r>
                      </m:e>
                      <m:sub>
                        <m:r>
                          <a:rPr lang="en-US" altLang="zh-CN" sz="2000">
                            <a:solidFill>
                              <a:schemeClr val="tx1"/>
                            </a:solidFill>
                            <a:latin typeface="Cambria Math" panose="02040503050406030204" pitchFamily="18" charset="0"/>
                          </a:rPr>
                          <m:t>2</m:t>
                        </m:r>
                      </m:sub>
                    </m:sSub>
                  </m:oMath>
                </a14:m>
                <a:r>
                  <a:rPr lang="zh-CN" altLang="en-US" sz="2000" dirty="0">
                    <a:solidFill>
                      <a:schemeClr val="tx1"/>
                    </a:solidFill>
                  </a:rPr>
                  <a:t>的操作，然后再译出</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a:solidFill>
                              <a:schemeClr val="tx1"/>
                            </a:solidFill>
                            <a:latin typeface="Cambria Math" panose="02040503050406030204" pitchFamily="18" charset="0"/>
                          </a:rPr>
                          <m:t>2</m:t>
                        </m:r>
                      </m:sub>
                    </m:sSub>
                  </m:oMath>
                </a14:m>
                <a:r>
                  <a:rPr lang="zh-CN" altLang="en-US" sz="2000" dirty="0">
                    <a:solidFill>
                      <a:schemeClr val="tx1"/>
                    </a:solidFill>
                  </a:rPr>
                  <a:t>。</a:t>
                </a:r>
                <a:endParaRPr lang="en-US" altLang="zh-CN" sz="2000" dirty="0">
                  <a:solidFill>
                    <a:schemeClr val="tx1"/>
                  </a:solidFill>
                </a:endParaRPr>
              </a:p>
            </p:txBody>
          </p:sp>
        </mc:Choice>
        <mc:Fallback>
          <p:sp>
            <p:nvSpPr>
              <p:cNvPr id="8" name="内容占位符 2"/>
              <p:cNvSpPr txBox="1">
                <a:spLocks noRot="1" noChangeAspect="1" noMove="1" noResize="1" noEditPoints="1" noAdjustHandles="1" noChangeArrowheads="1" noChangeShapeType="1" noTextEdit="1"/>
              </p:cNvSpPr>
              <p:nvPr/>
            </p:nvSpPr>
            <p:spPr>
              <a:xfrm>
                <a:off x="486836" y="3809990"/>
                <a:ext cx="4495682" cy="2094222"/>
              </a:xfrm>
              <a:prstGeom prst="rect">
                <a:avLst/>
              </a:prstGeom>
              <a:blipFill rotWithShape="1">
                <a:blip r:embed="rId4"/>
                <a:stretch>
                  <a:fillRect l="-9" t="-30" r="7" b="29"/>
                </a:stretch>
              </a:blipFill>
              <a:ln w="9525">
                <a:noFill/>
              </a:ln>
            </p:spPr>
            <p:style>
              <a:lnRef idx="0">
                <a:scrgbClr r="0" g="0" b="0"/>
              </a:lnRef>
              <a:fillRef idx="0">
                <a:scrgbClr r="0" g="0" b="0"/>
              </a:fillRef>
              <a:effectRef idx="0">
                <a:scrgbClr r="0" g="0" b="0"/>
              </a:effectRef>
              <a:fontRef idx="minor">
                <a:schemeClr val="dk1"/>
              </a:fontRef>
            </p:style>
            <p:txBody>
              <a:bodyPr/>
              <a:lstStyle/>
              <a:p>
                <a:r>
                  <a:rPr lang="zh-CN" altLang="en-US">
                    <a:noFill/>
                  </a:rPr>
                  <a:t> </a:t>
                </a:r>
              </a:p>
            </p:txBody>
          </p:sp>
        </mc:Fallback>
      </mc:AlternateContent>
      <p:pic>
        <p:nvPicPr>
          <p:cNvPr id="10" name="图片 9"/>
          <p:cNvPicPr>
            <a:picLocks noChangeAspect="1"/>
          </p:cNvPicPr>
          <p:nvPr/>
        </p:nvPicPr>
        <p:blipFill>
          <a:blip r:embed="rId5"/>
          <a:stretch>
            <a:fillRect/>
          </a:stretch>
        </p:blipFill>
        <p:spPr>
          <a:xfrm>
            <a:off x="5276888" y="4031558"/>
            <a:ext cx="3105310" cy="165108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019762" y="159376"/>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码步骤</a:t>
            </a:r>
            <a:endParaRPr lang="zh-CN" altLang="en-US" sz="2400" dirty="0">
              <a:sym typeface="+mn-ea"/>
            </a:endParaRPr>
          </a:p>
        </p:txBody>
      </p:sp>
      <mc:AlternateContent xmlns:mc="http://schemas.openxmlformats.org/markup-compatibility/2006">
        <mc:Choice xmlns:a14="http://schemas.microsoft.com/office/drawing/2010/main" Requires="a14">
          <p:sp>
            <p:nvSpPr>
              <p:cNvPr id="6" name="内容占位符 2"/>
              <p:cNvSpPr txBox="1"/>
              <p:nvPr/>
            </p:nvSpPr>
            <p:spPr>
              <a:xfrm>
                <a:off x="152516" y="990664"/>
                <a:ext cx="9219958" cy="685800"/>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None/>
                </a:pPr>
                <a:r>
                  <a:rPr lang="zh-CN" altLang="en-US" sz="2000" dirty="0">
                    <a:solidFill>
                      <a:schemeClr val="tx1"/>
                    </a:solidFill>
                  </a:rPr>
                  <a:t>第四步：计算出另一组临时变量</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s</m:t>
                        </m:r>
                      </m:e>
                      <m:sub>
                        <m:r>
                          <a:rPr lang="zh-CN" altLang="en-US" sz="2000" i="1" smtClean="0">
                            <a:solidFill>
                              <a:schemeClr val="tx1"/>
                            </a:solidFill>
                            <a:latin typeface="Cambria Math" panose="02040503050406030204" pitchFamily="18" charset="0"/>
                          </a:rPr>
                          <m:t>1</m:t>
                        </m:r>
                      </m:sub>
                    </m:sSub>
                    <m:r>
                      <a:rPr lang="zh-CN" altLang="en-US" sz="2000" i="1" smtClean="0">
                        <a:solidFill>
                          <a:schemeClr val="tx1"/>
                        </a:solidFill>
                        <a:latin typeface="Cambria Math" panose="02040503050406030204" pitchFamily="18" charset="0"/>
                      </a:rPr>
                      <m:t>=</m:t>
                    </m:r>
                    <m:sSub>
                      <m:sSubPr>
                        <m:ctrlPr>
                          <a:rPr lang="zh-CN" altLang="en-US" sz="2000" i="1" smtClean="0">
                            <a:solidFill>
                              <a:schemeClr val="tx1"/>
                            </a:solidFill>
                            <a:latin typeface="Cambria Math" panose="02040503050406030204" pitchFamily="18" charset="0"/>
                          </a:rPr>
                        </m:ctrlPr>
                      </m:sSubPr>
                      <m:e>
                        <m:r>
                          <a:rPr lang="zh-CN" altLang="en-US" sz="2000" i="1" smtClean="0">
                            <a:solidFill>
                              <a:schemeClr val="tx1"/>
                            </a:solidFill>
                            <a:latin typeface="Cambria Math" panose="02040503050406030204" pitchFamily="18" charset="0"/>
                          </a:rPr>
                          <m:t>𝑢</m:t>
                        </m:r>
                      </m:e>
                      <m:sub>
                        <m:r>
                          <a:rPr lang="zh-CN" altLang="en-US" sz="2000" i="1" smtClean="0">
                            <a:solidFill>
                              <a:schemeClr val="tx1"/>
                            </a:solidFill>
                            <a:latin typeface="Cambria Math" panose="02040503050406030204" pitchFamily="18" charset="0"/>
                          </a:rPr>
                          <m:t>1</m:t>
                        </m:r>
                      </m:sub>
                    </m:sSub>
                    <m:r>
                      <a:rPr lang="zh-CN" altLang="en-US" sz="2000" i="1" smtClean="0">
                        <a:solidFill>
                          <a:schemeClr val="tx1"/>
                        </a:solidFill>
                        <a:latin typeface="Cambria Math" panose="02040503050406030204" pitchFamily="18" charset="0"/>
                      </a:rPr>
                      <m:t>+</m:t>
                    </m:r>
                    <m:sSub>
                      <m:sSubPr>
                        <m:ctrlPr>
                          <a:rPr lang="zh-CN" altLang="en-US" sz="2000" i="1" smtClean="0">
                            <a:solidFill>
                              <a:schemeClr val="tx1"/>
                            </a:solidFill>
                            <a:latin typeface="Cambria Math" panose="02040503050406030204" pitchFamily="18" charset="0"/>
                          </a:rPr>
                        </m:ctrlPr>
                      </m:sSubPr>
                      <m:e>
                        <m:r>
                          <a:rPr lang="zh-CN" altLang="en-US" sz="2000" i="1" smtClean="0">
                            <a:solidFill>
                              <a:schemeClr val="tx1"/>
                            </a:solidFill>
                            <a:latin typeface="Cambria Math" panose="02040503050406030204" pitchFamily="18" charset="0"/>
                          </a:rPr>
                          <m:t>𝑢</m:t>
                        </m:r>
                      </m:e>
                      <m:sub>
                        <m:r>
                          <a:rPr lang="zh-CN" altLang="en-US" sz="2000" i="1" smtClean="0">
                            <a:solidFill>
                              <a:schemeClr val="tx1"/>
                            </a:solidFill>
                            <a:latin typeface="Cambria Math" panose="02040503050406030204" pitchFamily="18" charset="0"/>
                          </a:rPr>
                          <m:t>2</m:t>
                        </m:r>
                      </m:sub>
                    </m:sSub>
                  </m:oMath>
                </a14:m>
                <a:r>
                  <a:rPr lang="zh-CN" altLang="en-US" sz="2000" dirty="0">
                    <a:solidFill>
                      <a:schemeClr val="tx1"/>
                    </a:solidFill>
                  </a:rPr>
                  <a:t>（这里指模</a:t>
                </a:r>
                <a:r>
                  <a:rPr lang="en-US" altLang="zh-CN" sz="2000" dirty="0">
                    <a:solidFill>
                      <a:schemeClr val="tx1"/>
                    </a:solidFill>
                  </a:rPr>
                  <a:t>2</a:t>
                </a:r>
                <a:r>
                  <a:rPr lang="zh-CN" altLang="en-US" sz="2000" dirty="0">
                    <a:solidFill>
                      <a:schemeClr val="tx1"/>
                    </a:solidFill>
                  </a:rPr>
                  <a:t>加“</a:t>
                </a:r>
                <a14:m>
                  <m:oMath xmlns:m="http://schemas.openxmlformats.org/officeDocument/2006/math">
                    <m:r>
                      <a:rPr lang="zh-CN" altLang="en-US" sz="2000" i="1" smtClean="0">
                        <a:solidFill>
                          <a:schemeClr val="tx1"/>
                        </a:solidFill>
                        <a:latin typeface="Cambria Math" panose="02040503050406030204" pitchFamily="18" charset="0"/>
                      </a:rPr>
                      <m:t>⊕</m:t>
                    </m:r>
                  </m:oMath>
                </a14:m>
                <a:r>
                  <a:rPr lang="zh-CN" altLang="en-US" sz="2000" dirty="0">
                    <a:solidFill>
                      <a:schemeClr val="tx1"/>
                    </a:solidFill>
                  </a:rPr>
                  <a:t>”）和</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s</m:t>
                        </m:r>
                      </m:e>
                      <m:sub>
                        <m:r>
                          <a:rPr lang="zh-CN" altLang="en-US" sz="2000" i="1">
                            <a:solidFill>
                              <a:schemeClr val="tx1"/>
                            </a:solidFill>
                            <a:latin typeface="Cambria Math" panose="02040503050406030204" pitchFamily="18" charset="0"/>
                          </a:rPr>
                          <m:t>1</m:t>
                        </m:r>
                      </m:sub>
                    </m:sSub>
                    <m:r>
                      <a:rPr lang="zh-CN" altLang="en-US" sz="2000" i="1">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i="1">
                            <a:solidFill>
                              <a:schemeClr val="tx1"/>
                            </a:solidFill>
                            <a:latin typeface="Cambria Math" panose="02040503050406030204" pitchFamily="18" charset="0"/>
                          </a:rPr>
                          <m:t>𝑢</m:t>
                        </m:r>
                      </m:e>
                      <m:sub>
                        <m:r>
                          <a:rPr lang="zh-CN" altLang="en-US" sz="2000" i="1">
                            <a:solidFill>
                              <a:schemeClr val="tx1"/>
                            </a:solidFill>
                            <a:latin typeface="Cambria Math" panose="02040503050406030204" pitchFamily="18" charset="0"/>
                          </a:rPr>
                          <m:t>2</m:t>
                        </m:r>
                      </m:sub>
                    </m:sSub>
                  </m:oMath>
                </a14:m>
                <a:endParaRPr lang="en-US" altLang="zh-CN" sz="2000" dirty="0">
                  <a:solidFill>
                    <a:schemeClr val="tx1"/>
                  </a:solidFill>
                </a:endParaRPr>
              </a:p>
            </p:txBody>
          </p:sp>
        </mc:Choice>
        <mc:Fallback>
          <p:sp>
            <p:nvSpPr>
              <p:cNvPr id="6" name="内容占位符 2"/>
              <p:cNvSpPr txBox="1">
                <a:spLocks noRot="1" noChangeAspect="1" noMove="1" noResize="1" noEditPoints="1" noAdjustHandles="1" noChangeArrowheads="1" noChangeShapeType="1" noTextEdit="1"/>
              </p:cNvSpPr>
              <p:nvPr/>
            </p:nvSpPr>
            <p:spPr>
              <a:xfrm>
                <a:off x="152516" y="990664"/>
                <a:ext cx="9219958" cy="685800"/>
              </a:xfrm>
              <a:prstGeom prst="rect">
                <a:avLst/>
              </a:prstGeom>
              <a:blipFill rotWithShape="1">
                <a:blip r:embed="rId1"/>
                <a:stretch>
                  <a:fillRect l="-1" t="-9" r="6" b="9"/>
                </a:stretch>
              </a:blipFill>
              <a:ln w="9525">
                <a:noFill/>
              </a:ln>
            </p:spPr>
            <p:style>
              <a:lnRef idx="0">
                <a:scrgbClr r="0" g="0" b="0"/>
              </a:lnRef>
              <a:fillRef idx="0">
                <a:scrgbClr r="0" g="0" b="0"/>
              </a:fillRef>
              <a:effectRef idx="0">
                <a:scrgbClr r="0" g="0" b="0"/>
              </a:effectRef>
              <a:fontRef idx="minor">
                <a:schemeClr val="dk1"/>
              </a:fontRef>
            </p:style>
            <p:txBody>
              <a:bodyPr/>
              <a:lstStyle/>
              <a:p>
                <a:r>
                  <a:rPr lang="zh-CN" altLang="en-US">
                    <a:noFill/>
                  </a:rPr>
                  <a:t> </a:t>
                </a:r>
              </a:p>
            </p:txBody>
          </p:sp>
        </mc:Fallback>
      </mc:AlternateContent>
      <p:pic>
        <p:nvPicPr>
          <p:cNvPr id="8" name="图片 7"/>
          <p:cNvPicPr>
            <a:picLocks noChangeAspect="1"/>
          </p:cNvPicPr>
          <p:nvPr/>
        </p:nvPicPr>
        <p:blipFill>
          <a:blip r:embed="rId2"/>
          <a:stretch>
            <a:fillRect/>
          </a:stretch>
        </p:blipFill>
        <p:spPr>
          <a:xfrm>
            <a:off x="3048040" y="1531566"/>
            <a:ext cx="2832246" cy="1485976"/>
          </a:xfrm>
          <a:prstGeom prst="rect">
            <a:avLst/>
          </a:prstGeom>
        </p:spPr>
      </p:pic>
      <mc:AlternateContent xmlns:mc="http://schemas.openxmlformats.org/markup-compatibility/2006">
        <mc:Choice xmlns:a14="http://schemas.microsoft.com/office/drawing/2010/main" Requires="a14">
          <p:sp>
            <p:nvSpPr>
              <p:cNvPr id="9" name="内容占位符 2"/>
              <p:cNvSpPr txBox="1"/>
              <p:nvPr/>
            </p:nvSpPr>
            <p:spPr>
              <a:xfrm>
                <a:off x="129618" y="3017542"/>
                <a:ext cx="9014382" cy="1142970"/>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None/>
                </a:pPr>
                <a:r>
                  <a:rPr lang="zh-CN" altLang="en-US" sz="2000" dirty="0">
                    <a:solidFill>
                      <a:schemeClr val="tx1"/>
                    </a:solidFill>
                  </a:rPr>
                  <a:t>第五步：把上半部分（临时变量</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s</m:t>
                        </m:r>
                      </m:e>
                      <m:sub>
                        <m:r>
                          <a:rPr lang="zh-CN" altLang="en-US" sz="2000" i="1">
                            <a:solidFill>
                              <a:schemeClr val="tx1"/>
                            </a:solidFill>
                            <a:latin typeface="Cambria Math" panose="02040503050406030204" pitchFamily="18" charset="0"/>
                          </a:rPr>
                          <m:t>1</m:t>
                        </m:r>
                      </m:sub>
                    </m:sSub>
                    <m:r>
                      <a:rPr lang="zh-CN" altLang="en-US" sz="2000" i="1">
                        <a:solidFill>
                          <a:schemeClr val="tx1"/>
                        </a:solidFill>
                        <a:latin typeface="Cambria Math" panose="02040503050406030204" pitchFamily="18" charset="0"/>
                      </a:rPr>
                      <m:t> </m:t>
                    </m:r>
                  </m:oMath>
                </a14:m>
                <a:r>
                  <a:rPr lang="zh-CN" altLang="en-US" sz="2000" dirty="0">
                    <a:solidFill>
                      <a:schemeClr val="tx1"/>
                    </a:solidFill>
                  </a:rPr>
                  <a:t>和</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s</m:t>
                        </m:r>
                      </m:e>
                      <m:sub>
                        <m:r>
                          <a:rPr lang="en-US" altLang="zh-CN" sz="2000" b="0" i="1" smtClean="0">
                            <a:solidFill>
                              <a:schemeClr val="tx1"/>
                            </a:solidFill>
                            <a:latin typeface="Cambria Math" panose="02040503050406030204" pitchFamily="18" charset="0"/>
                          </a:rPr>
                          <m:t>2</m:t>
                        </m:r>
                      </m:sub>
                    </m:sSub>
                  </m:oMath>
                </a14:m>
                <a:r>
                  <a:rPr lang="zh-CN" altLang="en-US" sz="2000" dirty="0">
                    <a:solidFill>
                      <a:schemeClr val="tx1"/>
                    </a:solidFill>
                  </a:rPr>
                  <a:t>）当做已知比特，去计算又一组临时变  量</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t</m:t>
                        </m:r>
                      </m:e>
                      <m:sub>
                        <m:r>
                          <a:rPr lang="en-US" altLang="zh-CN" sz="2000" b="0" i="0" smtClean="0">
                            <a:solidFill>
                              <a:schemeClr val="tx1"/>
                            </a:solidFill>
                            <a:latin typeface="Cambria Math" panose="02040503050406030204" pitchFamily="18" charset="0"/>
                          </a:rPr>
                          <m:t>3</m:t>
                        </m:r>
                      </m:sub>
                    </m:sSub>
                    <m:sSub>
                      <m:sSubPr>
                        <m:ctrlPr>
                          <a:rPr lang="zh-CN" altLang="en-US" sz="2000" i="1">
                            <a:solidFill>
                              <a:schemeClr val="tx1"/>
                            </a:solidFill>
                            <a:latin typeface="Cambria Math" panose="02040503050406030204" pitchFamily="18" charset="0"/>
                          </a:rPr>
                        </m:ctrlPr>
                      </m:sSubPr>
                      <m:e>
                        <m:r>
                          <a:rPr lang="en-US" altLang="zh-CN" sz="2000">
                            <a:solidFill>
                              <a:schemeClr val="tx1"/>
                            </a:solidFill>
                            <a:latin typeface="Cambria Math" panose="02040503050406030204" pitchFamily="18" charset="0"/>
                          </a:rPr>
                          <m:t>,</m:t>
                        </m:r>
                        <m:r>
                          <m:rPr>
                            <m:sty m:val="p"/>
                          </m:rPr>
                          <a:rPr lang="en-US" altLang="zh-CN" sz="2000" i="1">
                            <a:solidFill>
                              <a:schemeClr val="tx1"/>
                            </a:solidFill>
                            <a:latin typeface="Cambria Math" panose="02040503050406030204" pitchFamily="18" charset="0"/>
                          </a:rPr>
                          <m:t>t</m:t>
                        </m:r>
                      </m:e>
                      <m:sub>
                        <m:r>
                          <a:rPr lang="en-US" altLang="zh-CN" sz="2000" b="0" i="0" smtClean="0">
                            <a:solidFill>
                              <a:schemeClr val="tx1"/>
                            </a:solidFill>
                            <a:latin typeface="Cambria Math" panose="02040503050406030204" pitchFamily="18" charset="0"/>
                          </a:rPr>
                          <m:t>4</m:t>
                        </m:r>
                      </m:sub>
                    </m:sSub>
                  </m:oMath>
                </a14:m>
                <a:endParaRPr lang="en-US" altLang="zh-CN" sz="2000" dirty="0">
                  <a:solidFill>
                    <a:schemeClr val="tx1"/>
                  </a:solidFill>
                </a:endParaRPr>
              </a:p>
            </p:txBody>
          </p:sp>
        </mc:Choice>
        <mc:Fallback>
          <p:sp>
            <p:nvSpPr>
              <p:cNvPr id="9" name="内容占位符 2"/>
              <p:cNvSpPr txBox="1">
                <a:spLocks noRot="1" noChangeAspect="1" noMove="1" noResize="1" noEditPoints="1" noAdjustHandles="1" noChangeArrowheads="1" noChangeShapeType="1" noTextEdit="1"/>
              </p:cNvSpPr>
              <p:nvPr/>
            </p:nvSpPr>
            <p:spPr>
              <a:xfrm>
                <a:off x="129618" y="3017542"/>
                <a:ext cx="9014382" cy="1142970"/>
              </a:xfrm>
              <a:prstGeom prst="rect">
                <a:avLst/>
              </a:prstGeom>
              <a:blipFill rotWithShape="1">
                <a:blip r:embed="rId3"/>
                <a:stretch>
                  <a:fillRect l="-1" t="-2" b="55"/>
                </a:stretch>
              </a:blipFill>
              <a:ln w="9525">
                <a:noFill/>
              </a:ln>
            </p:spPr>
            <p:style>
              <a:lnRef idx="0">
                <a:scrgbClr r="0" g="0" b="0"/>
              </a:lnRef>
              <a:fillRef idx="0">
                <a:scrgbClr r="0" g="0" b="0"/>
              </a:fillRef>
              <a:effectRef idx="0">
                <a:scrgbClr r="0" g="0" b="0"/>
              </a:effectRef>
              <a:fontRef idx="minor">
                <a:schemeClr val="dk1"/>
              </a:fontRef>
            </p:style>
            <p:txBody>
              <a:bodyPr/>
              <a:lstStyle/>
              <a:p>
                <a:r>
                  <a:rPr lang="zh-CN" altLang="en-US">
                    <a:noFill/>
                  </a:rPr>
                  <a:t> </a:t>
                </a:r>
              </a:p>
            </p:txBody>
          </p:sp>
        </mc:Fallback>
      </mc:AlternateContent>
      <p:pic>
        <p:nvPicPr>
          <p:cNvPr id="11" name="图片 10"/>
          <p:cNvPicPr>
            <a:picLocks noChangeAspect="1"/>
          </p:cNvPicPr>
          <p:nvPr/>
        </p:nvPicPr>
        <p:blipFill>
          <a:blip r:embed="rId4"/>
          <a:stretch>
            <a:fillRect/>
          </a:stretch>
        </p:blipFill>
        <p:spPr>
          <a:xfrm>
            <a:off x="2616099" y="3589027"/>
            <a:ext cx="3911801" cy="3035456"/>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019762" y="152486"/>
            <a:ext cx="293373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码步骤</a:t>
            </a:r>
            <a:endParaRPr lang="zh-CN" altLang="en-US" sz="2400" dirty="0">
              <a:sym typeface="+mn-ea"/>
            </a:endParaRPr>
          </a:p>
        </p:txBody>
      </p:sp>
      <mc:AlternateContent xmlns:mc="http://schemas.openxmlformats.org/markup-compatibility/2006">
        <mc:Choice xmlns:a14="http://schemas.microsoft.com/office/drawing/2010/main" Requires="a14">
          <p:sp>
            <p:nvSpPr>
              <p:cNvPr id="6" name="内容占位符 2"/>
              <p:cNvSpPr txBox="1"/>
              <p:nvPr/>
            </p:nvSpPr>
            <p:spPr>
              <a:xfrm>
                <a:off x="282110" y="990664"/>
                <a:ext cx="8838968" cy="685800"/>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None/>
                </a:pPr>
                <a:r>
                  <a:rPr lang="zh-CN" altLang="en-US" sz="2000" dirty="0">
                    <a:solidFill>
                      <a:schemeClr val="tx1"/>
                    </a:solidFill>
                  </a:rPr>
                  <a:t>第六步：与第二步类似，把下半部分（临时变量</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t</m:t>
                        </m:r>
                      </m:e>
                      <m:sub>
                        <m:r>
                          <a:rPr lang="en-US" altLang="zh-CN" sz="2000">
                            <a:solidFill>
                              <a:schemeClr val="tx1"/>
                            </a:solidFill>
                            <a:latin typeface="Cambria Math" panose="02040503050406030204" pitchFamily="18" charset="0"/>
                          </a:rPr>
                          <m:t>2</m:t>
                        </m:r>
                      </m:sub>
                    </m:sSub>
                    <m:r>
                      <a:rPr lang="en-US" altLang="zh-CN" sz="2000" i="1">
                        <a:solidFill>
                          <a:schemeClr val="tx1"/>
                        </a:solidFill>
                        <a:latin typeface="Cambria Math" panose="02040503050406030204" pitchFamily="18" charset="0"/>
                      </a:rPr>
                      <m:t> </m:t>
                    </m:r>
                  </m:oMath>
                </a14:m>
                <a:r>
                  <a:rPr lang="zh-CN" altLang="en-US" sz="2000" dirty="0">
                    <a:solidFill>
                      <a:schemeClr val="tx1"/>
                    </a:solidFill>
                  </a:rPr>
                  <a:t>）看成噪声，求解出</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b="0" i="0" smtClean="0">
                            <a:solidFill>
                              <a:schemeClr val="tx1"/>
                            </a:solidFill>
                            <a:latin typeface="Cambria Math" panose="02040503050406030204" pitchFamily="18" charset="0"/>
                          </a:rPr>
                          <m:t>3</m:t>
                        </m:r>
                      </m:sub>
                    </m:sSub>
                  </m:oMath>
                </a14:m>
                <a:r>
                  <a:rPr lang="zh-CN" altLang="en-US" sz="2000" dirty="0">
                    <a:solidFill>
                      <a:schemeClr val="tx1"/>
                    </a:solidFill>
                  </a:rPr>
                  <a:t>。</a:t>
                </a:r>
                <a:endParaRPr lang="en-US" altLang="zh-CN" sz="2000" dirty="0">
                  <a:solidFill>
                    <a:schemeClr val="tx1"/>
                  </a:solidFill>
                </a:endParaRPr>
              </a:p>
            </p:txBody>
          </p:sp>
        </mc:Choice>
        <mc:Fallback>
          <p:sp>
            <p:nvSpPr>
              <p:cNvPr id="6" name="内容占位符 2"/>
              <p:cNvSpPr txBox="1">
                <a:spLocks noRot="1" noChangeAspect="1" noMove="1" noResize="1" noEditPoints="1" noAdjustHandles="1" noChangeArrowheads="1" noChangeShapeType="1" noTextEdit="1"/>
              </p:cNvSpPr>
              <p:nvPr/>
            </p:nvSpPr>
            <p:spPr>
              <a:xfrm>
                <a:off x="282110" y="990664"/>
                <a:ext cx="8838968" cy="685800"/>
              </a:xfrm>
              <a:prstGeom prst="rect">
                <a:avLst/>
              </a:prstGeom>
              <a:blipFill rotWithShape="1">
                <a:blip r:embed="rId1"/>
                <a:stretch>
                  <a:fillRect l="-2" t="-9" r="6" b="9"/>
                </a:stretch>
              </a:blipFill>
              <a:ln w="9525">
                <a:noFill/>
              </a:ln>
            </p:spPr>
            <p:style>
              <a:lnRef idx="0">
                <a:scrgbClr r="0" g="0" b="0"/>
              </a:lnRef>
              <a:fillRef idx="0">
                <a:scrgbClr r="0" g="0" b="0"/>
              </a:fillRef>
              <a:effectRef idx="0">
                <a:scrgbClr r="0" g="0" b="0"/>
              </a:effectRef>
              <a:fontRef idx="minor">
                <a:schemeClr val="dk1"/>
              </a:fontRef>
            </p:style>
            <p:txBody>
              <a:bodyPr/>
              <a:lstStyle/>
              <a:p>
                <a:r>
                  <a:rPr lang="zh-CN" altLang="en-US">
                    <a:noFill/>
                  </a:rPr>
                  <a:t> </a:t>
                </a:r>
              </a:p>
            </p:txBody>
          </p:sp>
        </mc:Fallback>
      </mc:AlternateContent>
      <p:pic>
        <p:nvPicPr>
          <p:cNvPr id="8" name="图片 7"/>
          <p:cNvPicPr>
            <a:picLocks noChangeAspect="1"/>
          </p:cNvPicPr>
          <p:nvPr/>
        </p:nvPicPr>
        <p:blipFill>
          <a:blip r:embed="rId2"/>
          <a:stretch>
            <a:fillRect/>
          </a:stretch>
        </p:blipFill>
        <p:spPr>
          <a:xfrm>
            <a:off x="3343212" y="1676464"/>
            <a:ext cx="2457576" cy="1536779"/>
          </a:xfrm>
          <a:prstGeom prst="rect">
            <a:avLst/>
          </a:prstGeom>
        </p:spPr>
      </p:pic>
      <mc:AlternateContent xmlns:mc="http://schemas.openxmlformats.org/markup-compatibility/2006">
        <mc:Choice xmlns:a14="http://schemas.microsoft.com/office/drawing/2010/main" Requires="a14">
          <p:sp>
            <p:nvSpPr>
              <p:cNvPr id="11" name="内容占位符 2"/>
              <p:cNvSpPr txBox="1"/>
              <p:nvPr/>
            </p:nvSpPr>
            <p:spPr>
              <a:xfrm>
                <a:off x="270722" y="3190339"/>
                <a:ext cx="8838968" cy="685800"/>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None/>
                </a:pPr>
                <a:r>
                  <a:rPr lang="zh-CN" altLang="en-US" sz="2000" dirty="0">
                    <a:solidFill>
                      <a:schemeClr val="tx1"/>
                    </a:solidFill>
                  </a:rPr>
                  <a:t>第七步：与第三步类似，把上半部分（</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b="0" i="0" smtClean="0">
                            <a:solidFill>
                              <a:schemeClr val="tx1"/>
                            </a:solidFill>
                            <a:latin typeface="Cambria Math" panose="02040503050406030204" pitchFamily="18" charset="0"/>
                          </a:rPr>
                          <m:t>3</m:t>
                        </m:r>
                      </m:sub>
                    </m:sSub>
                  </m:oMath>
                </a14:m>
                <a:r>
                  <a:rPr lang="zh-CN" altLang="en-US" sz="2000" dirty="0">
                    <a:solidFill>
                      <a:schemeClr val="tx1"/>
                    </a:solidFill>
                  </a:rPr>
                  <a:t>）当做已知比特，去解出</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b="0" i="0" smtClean="0">
                            <a:solidFill>
                              <a:schemeClr val="tx1"/>
                            </a:solidFill>
                            <a:latin typeface="Cambria Math" panose="02040503050406030204" pitchFamily="18" charset="0"/>
                          </a:rPr>
                          <m:t>4</m:t>
                        </m:r>
                      </m:sub>
                    </m:sSub>
                  </m:oMath>
                </a14:m>
                <a:r>
                  <a:rPr lang="zh-CN" altLang="en-US" sz="2000" dirty="0">
                    <a:solidFill>
                      <a:schemeClr val="tx1"/>
                    </a:solidFill>
                  </a:rPr>
                  <a:t>。</a:t>
                </a:r>
                <a:endParaRPr lang="en-US" altLang="zh-CN" sz="2000" dirty="0">
                  <a:solidFill>
                    <a:schemeClr val="tx1"/>
                  </a:solidFill>
                </a:endParaRPr>
              </a:p>
            </p:txBody>
          </p:sp>
        </mc:Choice>
        <mc:Fallback>
          <p:sp>
            <p:nvSpPr>
              <p:cNvPr id="11" name="内容占位符 2"/>
              <p:cNvSpPr txBox="1">
                <a:spLocks noRot="1" noChangeAspect="1" noMove="1" noResize="1" noEditPoints="1" noAdjustHandles="1" noChangeArrowheads="1" noChangeShapeType="1" noTextEdit="1"/>
              </p:cNvSpPr>
              <p:nvPr/>
            </p:nvSpPr>
            <p:spPr>
              <a:xfrm>
                <a:off x="270722" y="3190339"/>
                <a:ext cx="8838968" cy="685800"/>
              </a:xfrm>
              <a:prstGeom prst="rect">
                <a:avLst/>
              </a:prstGeom>
              <a:blipFill rotWithShape="1">
                <a:blip r:embed="rId3"/>
                <a:stretch>
                  <a:fillRect l="-2" t="-14" r="7" b="14"/>
                </a:stretch>
              </a:blipFill>
              <a:ln w="9525">
                <a:noFill/>
              </a:ln>
            </p:spPr>
            <p:style>
              <a:lnRef idx="0">
                <a:scrgbClr r="0" g="0" b="0"/>
              </a:lnRef>
              <a:fillRef idx="0">
                <a:scrgbClr r="0" g="0" b="0"/>
              </a:fillRef>
              <a:effectRef idx="0">
                <a:scrgbClr r="0" g="0" b="0"/>
              </a:effectRef>
              <a:fontRef idx="minor">
                <a:schemeClr val="dk1"/>
              </a:fontRef>
            </p:style>
            <p:txBody>
              <a:bodyPr/>
              <a:lstStyle/>
              <a:p>
                <a:r>
                  <a:rPr lang="zh-CN" altLang="en-US">
                    <a:noFill/>
                  </a:rPr>
                  <a:t> </a:t>
                </a:r>
              </a:p>
            </p:txBody>
          </p:sp>
        </mc:Fallback>
      </mc:AlternateContent>
      <p:pic>
        <p:nvPicPr>
          <p:cNvPr id="13" name="图片 12"/>
          <p:cNvPicPr>
            <a:picLocks noChangeAspect="1"/>
          </p:cNvPicPr>
          <p:nvPr/>
        </p:nvPicPr>
        <p:blipFill>
          <a:blip r:embed="rId4"/>
          <a:stretch>
            <a:fillRect/>
          </a:stretch>
        </p:blipFill>
        <p:spPr>
          <a:xfrm>
            <a:off x="3209855" y="3876139"/>
            <a:ext cx="2724290" cy="175904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8812" y="201425"/>
            <a:ext cx="230028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解码示例</a:t>
            </a:r>
            <a:endParaRPr kumimoji="0" lang="zh-CN" altLang="en-US" sz="2400" b="1" kern="0" dirty="0">
              <a:solidFill>
                <a:srgbClr val="000000"/>
              </a:solidFill>
              <a:latin typeface="Arial" panose="020B0604020202020204" pitchFamily="3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4" name="内容占位符 2"/>
              <p:cNvSpPr txBox="1"/>
              <p:nvPr/>
            </p:nvSpPr>
            <p:spPr>
              <a:xfrm>
                <a:off x="144901" y="1295456"/>
                <a:ext cx="8854198" cy="1142970"/>
              </a:xfrm>
              <a:prstGeom prst="rect">
                <a:avLst/>
              </a:prstGeom>
            </p:spPr>
            <p:style>
              <a:lnRef idx="2">
                <a:schemeClr val="dk1"/>
              </a:lnRef>
              <a:fillRef idx="1">
                <a:schemeClr val="lt1"/>
              </a:fillRef>
              <a:effectRef idx="0">
                <a:schemeClr val="dk1"/>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None/>
                </a:pPr>
                <a:r>
                  <a:rPr lang="zh-CN" altLang="en-US" sz="2000" dirty="0">
                    <a:solidFill>
                      <a:srgbClr val="FF0000"/>
                    </a:solidFill>
                  </a:rPr>
                  <a:t>例</a:t>
                </a:r>
                <a:r>
                  <a:rPr lang="en-US" altLang="zh-CN" sz="2000" dirty="0">
                    <a:solidFill>
                      <a:srgbClr val="FF0000"/>
                    </a:solidFill>
                  </a:rPr>
                  <a:t>3</a:t>
                </a:r>
                <a:r>
                  <a:rPr lang="zh-CN" altLang="en-US" sz="2000" dirty="0">
                    <a:solidFill>
                      <a:srgbClr val="FF0000"/>
                    </a:solidFill>
                  </a:rPr>
                  <a:t>：</a:t>
                </a:r>
                <a:r>
                  <a:rPr lang="zh-CN" altLang="en-US" sz="2000" dirty="0">
                    <a:solidFill>
                      <a:schemeClr val="tx1"/>
                    </a:solidFill>
                  </a:rPr>
                  <a:t>假设接收到数据为</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y</m:t>
                        </m:r>
                      </m:e>
                      <m:sub>
                        <m:r>
                          <a:rPr lang="en-US" altLang="zh-CN" sz="2000">
                            <a:solidFill>
                              <a:schemeClr val="tx1"/>
                            </a:solidFill>
                            <a:latin typeface="Cambria Math" panose="02040503050406030204" pitchFamily="18" charset="0"/>
                          </a:rPr>
                          <m:t>1</m:t>
                        </m:r>
                      </m:sub>
                    </m:sSub>
                  </m:oMath>
                </a14:m>
                <a:r>
                  <a:rPr lang="en-US" altLang="zh-CN" sz="2000" dirty="0">
                    <a:solidFill>
                      <a:schemeClr val="tx1"/>
                    </a:solidFill>
                  </a:rPr>
                  <a:t>=-1.61</a:t>
                </a:r>
                <a:r>
                  <a:rPr lang="zh-CN" altLang="en-US" sz="2000" dirty="0">
                    <a:solidFill>
                      <a:schemeClr val="tx1"/>
                    </a:solidFill>
                  </a:rPr>
                  <a:t>、</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y</m:t>
                        </m:r>
                      </m:e>
                      <m:sub>
                        <m:r>
                          <a:rPr lang="en-US" altLang="zh-CN" sz="2000" b="0" i="0" smtClean="0">
                            <a:solidFill>
                              <a:schemeClr val="tx1"/>
                            </a:solidFill>
                            <a:latin typeface="Cambria Math" panose="02040503050406030204" pitchFamily="18" charset="0"/>
                          </a:rPr>
                          <m:t>2</m:t>
                        </m:r>
                      </m:sub>
                    </m:sSub>
                  </m:oMath>
                </a14:m>
                <a:r>
                  <a:rPr lang="en-US" altLang="zh-CN" sz="2000" dirty="0">
                    <a:solidFill>
                      <a:schemeClr val="tx1"/>
                    </a:solidFill>
                  </a:rPr>
                  <a:t>=-0.06</a:t>
                </a:r>
                <a:r>
                  <a:rPr lang="zh-CN" altLang="en-US" sz="2000" dirty="0">
                    <a:solidFill>
                      <a:schemeClr val="tx1"/>
                    </a:solidFill>
                  </a:rPr>
                  <a:t>、</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y</m:t>
                        </m:r>
                      </m:e>
                      <m:sub>
                        <m:r>
                          <a:rPr lang="en-US" altLang="zh-CN" sz="2000" b="0" i="0" smtClean="0">
                            <a:solidFill>
                              <a:schemeClr val="tx1"/>
                            </a:solidFill>
                            <a:latin typeface="Cambria Math" panose="02040503050406030204" pitchFamily="18" charset="0"/>
                          </a:rPr>
                          <m:t>3</m:t>
                        </m:r>
                      </m:sub>
                    </m:sSub>
                  </m:oMath>
                </a14:m>
                <a:r>
                  <a:rPr lang="en-US" altLang="zh-CN" sz="2000" dirty="0">
                    <a:solidFill>
                      <a:schemeClr val="tx1"/>
                    </a:solidFill>
                  </a:rPr>
                  <a:t>=-1.89</a:t>
                </a:r>
                <a:r>
                  <a:rPr lang="zh-CN" altLang="en-US" sz="2000" dirty="0">
                    <a:solidFill>
                      <a:schemeClr val="tx1"/>
                    </a:solidFill>
                  </a:rPr>
                  <a:t>、</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y</m:t>
                        </m:r>
                      </m:e>
                      <m:sub>
                        <m:r>
                          <a:rPr lang="en-US" altLang="zh-CN" sz="2000" b="0" i="0" smtClean="0">
                            <a:solidFill>
                              <a:schemeClr val="tx1"/>
                            </a:solidFill>
                            <a:latin typeface="Cambria Math" panose="02040503050406030204" pitchFamily="18" charset="0"/>
                          </a:rPr>
                          <m:t>4</m:t>
                        </m:r>
                      </m:sub>
                    </m:sSub>
                  </m:oMath>
                </a14:m>
                <a:r>
                  <a:rPr lang="en-US" altLang="zh-CN" sz="2000" dirty="0">
                    <a:solidFill>
                      <a:schemeClr val="tx1"/>
                    </a:solidFill>
                  </a:rPr>
                  <a:t>=1.69</a:t>
                </a:r>
                <a:r>
                  <a:rPr lang="zh-CN" altLang="en-US" sz="2000" dirty="0">
                    <a:solidFill>
                      <a:schemeClr val="tx1"/>
                    </a:solidFill>
                  </a:rPr>
                  <a:t>，因为</a:t>
                </a:r>
                <a:r>
                  <a:rPr lang="en-US" altLang="zh-CN" sz="2000" dirty="0">
                    <a:solidFill>
                      <a:schemeClr val="tx1"/>
                    </a:solidFill>
                  </a:rPr>
                  <a:t>x=LLR</a:t>
                </a:r>
                <a:r>
                  <a:rPr lang="zh-CN" altLang="en-US" sz="2000" dirty="0">
                    <a:solidFill>
                      <a:schemeClr val="tx1"/>
                    </a:solidFill>
                  </a:rPr>
                  <a:t>（</a:t>
                </a:r>
                <a:r>
                  <a:rPr lang="en-US" altLang="zh-CN" sz="2000" dirty="0">
                    <a:solidFill>
                      <a:schemeClr val="tx1"/>
                    </a:solidFill>
                  </a:rPr>
                  <a:t>y</a:t>
                </a:r>
                <a:r>
                  <a:rPr lang="zh-CN" altLang="en-US" sz="2000" dirty="0">
                    <a:solidFill>
                      <a:schemeClr val="tx1"/>
                    </a:solidFill>
                  </a:rPr>
                  <a:t>），所以</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x</m:t>
                        </m:r>
                      </m:e>
                      <m:sub>
                        <m:r>
                          <a:rPr lang="en-US" altLang="zh-CN" sz="2000">
                            <a:solidFill>
                              <a:schemeClr val="tx1"/>
                            </a:solidFill>
                            <a:latin typeface="Cambria Math" panose="02040503050406030204" pitchFamily="18" charset="0"/>
                          </a:rPr>
                          <m:t>1</m:t>
                        </m:r>
                      </m:sub>
                    </m:sSub>
                  </m:oMath>
                </a14:m>
                <a:r>
                  <a:rPr lang="en-US" altLang="zh-CN" sz="2000" dirty="0">
                    <a:solidFill>
                      <a:schemeClr val="tx1"/>
                    </a:solidFill>
                  </a:rPr>
                  <a:t>=3.22</a:t>
                </a:r>
                <a:r>
                  <a:rPr lang="zh-CN" altLang="en-US" sz="2000" dirty="0">
                    <a:solidFill>
                      <a:schemeClr val="tx1"/>
                    </a:solidFill>
                  </a:rPr>
                  <a:t>、 </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x</m:t>
                        </m:r>
                      </m:e>
                      <m:sub>
                        <m:r>
                          <a:rPr lang="en-US" altLang="zh-CN" sz="2000" b="0" i="0" smtClean="0">
                            <a:solidFill>
                              <a:schemeClr val="tx1"/>
                            </a:solidFill>
                            <a:latin typeface="Cambria Math" panose="02040503050406030204" pitchFamily="18" charset="0"/>
                          </a:rPr>
                          <m:t>2</m:t>
                        </m:r>
                      </m:sub>
                    </m:sSub>
                  </m:oMath>
                </a14:m>
                <a:r>
                  <a:rPr lang="en-US" altLang="zh-CN" sz="2000" dirty="0">
                    <a:solidFill>
                      <a:schemeClr val="tx1"/>
                    </a:solidFill>
                  </a:rPr>
                  <a:t>=0.12</a:t>
                </a:r>
                <a:r>
                  <a:rPr lang="zh-CN" altLang="en-US" sz="2000" dirty="0">
                    <a:solidFill>
                      <a:schemeClr val="tx1"/>
                    </a:solidFill>
                  </a:rPr>
                  <a:t>、 </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x</m:t>
                        </m:r>
                      </m:e>
                      <m:sub>
                        <m:r>
                          <a:rPr lang="en-US" altLang="zh-CN" sz="2000" b="0" i="0" smtClean="0">
                            <a:solidFill>
                              <a:schemeClr val="tx1"/>
                            </a:solidFill>
                            <a:latin typeface="Cambria Math" panose="02040503050406030204" pitchFamily="18" charset="0"/>
                          </a:rPr>
                          <m:t>3</m:t>
                        </m:r>
                      </m:sub>
                    </m:sSub>
                  </m:oMath>
                </a14:m>
                <a:r>
                  <a:rPr lang="en-US" altLang="zh-CN" sz="2000" dirty="0">
                    <a:solidFill>
                      <a:schemeClr val="tx1"/>
                    </a:solidFill>
                  </a:rPr>
                  <a:t>=3.78</a:t>
                </a:r>
                <a:r>
                  <a:rPr lang="zh-CN" altLang="en-US" sz="2000" dirty="0">
                    <a:solidFill>
                      <a:schemeClr val="tx1"/>
                    </a:solidFill>
                  </a:rPr>
                  <a:t>、 </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x</m:t>
                        </m:r>
                      </m:e>
                      <m:sub>
                        <m:r>
                          <a:rPr lang="en-US" altLang="zh-CN" sz="2000" b="0" i="0" smtClean="0">
                            <a:solidFill>
                              <a:schemeClr val="tx1"/>
                            </a:solidFill>
                            <a:latin typeface="Cambria Math" panose="02040503050406030204" pitchFamily="18" charset="0"/>
                          </a:rPr>
                          <m:t>4</m:t>
                        </m:r>
                      </m:sub>
                    </m:sSub>
                  </m:oMath>
                </a14:m>
                <a:r>
                  <a:rPr lang="en-US" altLang="zh-CN" sz="2000" dirty="0">
                    <a:solidFill>
                      <a:schemeClr val="tx1"/>
                    </a:solidFill>
                  </a:rPr>
                  <a:t>=-3.38</a:t>
                </a:r>
                <a:r>
                  <a:rPr lang="zh-CN" altLang="en-US" sz="2000" dirty="0">
                    <a:solidFill>
                      <a:schemeClr val="tx1"/>
                    </a:solidFill>
                  </a:rPr>
                  <a:t>。计算解码结果。</a:t>
                </a:r>
                <a:endParaRPr lang="en-US" altLang="zh-CN" sz="2000" dirty="0">
                  <a:solidFill>
                    <a:schemeClr val="tx1"/>
                  </a:solidFill>
                </a:endParaRPr>
              </a:p>
            </p:txBody>
          </p:sp>
        </mc:Choice>
        <mc:Fallback>
          <p:sp>
            <p:nvSpPr>
              <p:cNvPr id="4" name="内容占位符 2"/>
              <p:cNvSpPr txBox="1">
                <a:spLocks noRot="1" noChangeAspect="1" noMove="1" noResize="1" noEditPoints="1" noAdjustHandles="1" noChangeArrowheads="1" noChangeShapeType="1" noTextEdit="1"/>
              </p:cNvSpPr>
              <p:nvPr/>
            </p:nvSpPr>
            <p:spPr>
              <a:xfrm>
                <a:off x="144901" y="1295456"/>
                <a:ext cx="8854198" cy="1142970"/>
              </a:xfrm>
              <a:prstGeom prst="rect">
                <a:avLst/>
              </a:prstGeom>
              <a:blipFill rotWithShape="1">
                <a:blip r:embed="rId1"/>
                <a:stretch>
                  <a:fillRect l="-73" t="-560" r="-66" b="-553"/>
                </a:stretch>
              </a:blipFill>
            </p:spPr>
            <p:style>
              <a:lnRef idx="2">
                <a:schemeClr val="dk1"/>
              </a:lnRef>
              <a:fillRef idx="1">
                <a:schemeClr val="lt1"/>
              </a:fillRef>
              <a:effectRef idx="0">
                <a:schemeClr val="dk1"/>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381110" y="3200406"/>
                <a:ext cx="8160801" cy="1938992"/>
              </a:xfrm>
              <a:prstGeom prst="rect">
                <a:avLst/>
              </a:prstGeom>
              <a:noFill/>
            </p:spPr>
            <p:txBody>
              <a:bodyPr wrap="square">
                <a:spAutoFit/>
              </a:bodyPr>
              <a:lstStyle/>
              <a:p>
                <a:pPr>
                  <a:lnSpc>
                    <a:spcPct val="150000"/>
                  </a:lnSpc>
                </a:pPr>
                <a:r>
                  <a:rPr kumimoji="1" lang="zh-CN" altLang="en-US" sz="2000" dirty="0">
                    <a:highlight>
                      <a:srgbClr val="FFFF00"/>
                    </a:highlight>
                    <a:latin typeface="+mn-lt"/>
                    <a:ea typeface="+mn-ea"/>
                    <a:cs typeface="+mn-cs"/>
                  </a:rPr>
                  <a:t>第一步：</a:t>
                </a:r>
                <a:r>
                  <a:rPr kumimoji="1" lang="zh-CN" altLang="en-US" sz="2000" dirty="0">
                    <a:latin typeface="+mn-lt"/>
                    <a:ea typeface="+mn-ea"/>
                    <a:cs typeface="+mn-cs"/>
                  </a:rPr>
                  <a:t>将</a:t>
                </a:r>
                <a:r>
                  <a:rPr lang="zh-CN" altLang="en-US" sz="2000" dirty="0">
                    <a:solidFill>
                      <a:schemeClr val="tx1"/>
                    </a:solidFill>
                    <a:latin typeface="+mn-lt"/>
                    <a:ea typeface="黑体" panose="02010609060101010101" pitchFamily="49" charset="-122"/>
                  </a:rPr>
                  <a:t> </a:t>
                </a:r>
                <a14:m>
                  <m:oMath xmlns:m="http://schemas.openxmlformats.org/officeDocument/2006/math">
                    <m:sSub>
                      <m:sSubPr>
                        <m:ctrlPr>
                          <a:rPr lang="zh-CN" altLang="en-US" sz="2000" i="1" smtClean="0">
                            <a:solidFill>
                              <a:schemeClr val="tx1"/>
                            </a:solidFill>
                            <a:latin typeface="Cambria Math" panose="02040503050406030204" pitchFamily="18" charset="0"/>
                            <a:ea typeface="黑体" panose="02010609060101010101" pitchFamily="49" charset="-122"/>
                          </a:rPr>
                        </m:ctrlPr>
                      </m:sSubPr>
                      <m:e>
                        <m:r>
                          <m:rPr>
                            <m:sty m:val="p"/>
                          </m:rPr>
                          <a:rPr lang="en-US" altLang="zh-CN" sz="2000" i="1">
                            <a:solidFill>
                              <a:schemeClr val="tx1"/>
                            </a:solidFill>
                            <a:latin typeface="Cambria Math" panose="02040503050406030204" pitchFamily="18" charset="0"/>
                            <a:ea typeface="黑体" panose="02010609060101010101" pitchFamily="49" charset="-122"/>
                          </a:rPr>
                          <m:t>x</m:t>
                        </m:r>
                      </m:e>
                      <m:sub>
                        <m:r>
                          <a:rPr lang="en-US" altLang="zh-CN" sz="2000" b="0" i="0" smtClean="0">
                            <a:solidFill>
                              <a:schemeClr val="tx1"/>
                            </a:solidFill>
                            <a:latin typeface="Cambria Math" panose="02040503050406030204" pitchFamily="18" charset="0"/>
                            <a:ea typeface="黑体" panose="02010609060101010101" pitchFamily="49" charset="-122"/>
                          </a:rPr>
                          <m:t>3</m:t>
                        </m:r>
                      </m:sub>
                    </m:sSub>
                    <m:sSub>
                      <m:sSubPr>
                        <m:ctrlPr>
                          <a:rPr lang="zh-CN" altLang="en-US" sz="2000" i="1" smtClean="0">
                            <a:solidFill>
                              <a:schemeClr val="tx1"/>
                            </a:solidFill>
                            <a:latin typeface="Cambria Math" panose="02040503050406030204" pitchFamily="18" charset="0"/>
                            <a:ea typeface="黑体" panose="02010609060101010101" pitchFamily="49" charset="-122"/>
                          </a:rPr>
                        </m:ctrlPr>
                      </m:sSubPr>
                      <m:e>
                        <m:r>
                          <a:rPr lang="en-US" altLang="zh-CN" sz="2000">
                            <a:solidFill>
                              <a:schemeClr val="tx1"/>
                            </a:solidFill>
                            <a:latin typeface="Cambria Math" panose="02040503050406030204" pitchFamily="18" charset="0"/>
                            <a:ea typeface="黑体" panose="02010609060101010101" pitchFamily="49" charset="-122"/>
                          </a:rPr>
                          <m:t>,</m:t>
                        </m:r>
                        <m:r>
                          <m:rPr>
                            <m:sty m:val="p"/>
                          </m:rPr>
                          <a:rPr lang="en-US" altLang="zh-CN" sz="2000" i="1">
                            <a:solidFill>
                              <a:schemeClr val="tx1"/>
                            </a:solidFill>
                            <a:latin typeface="Cambria Math" panose="02040503050406030204" pitchFamily="18" charset="0"/>
                            <a:ea typeface="黑体" panose="02010609060101010101" pitchFamily="49" charset="-122"/>
                          </a:rPr>
                          <m:t>x</m:t>
                        </m:r>
                      </m:e>
                      <m:sub>
                        <m:r>
                          <a:rPr lang="en-US" altLang="zh-CN" sz="2000" b="0" i="0" smtClean="0">
                            <a:solidFill>
                              <a:schemeClr val="tx1"/>
                            </a:solidFill>
                            <a:latin typeface="Cambria Math" panose="02040503050406030204" pitchFamily="18" charset="0"/>
                            <a:ea typeface="黑体" panose="02010609060101010101" pitchFamily="49" charset="-122"/>
                          </a:rPr>
                          <m:t>4</m:t>
                        </m:r>
                      </m:sub>
                    </m:sSub>
                    <m:r>
                      <a:rPr lang="en-US" altLang="zh-CN" sz="2000" b="0" i="1" smtClean="0">
                        <a:solidFill>
                          <a:schemeClr val="tx1"/>
                        </a:solidFill>
                        <a:latin typeface="Cambria Math" panose="02040503050406030204" pitchFamily="18" charset="0"/>
                        <a:ea typeface="黑体" panose="02010609060101010101" pitchFamily="49" charset="-122"/>
                      </a:rPr>
                      <m:t> </m:t>
                    </m:r>
                    <m:r>
                      <a:rPr lang="zh-CN" altLang="en-US" sz="2000" i="1">
                        <a:latin typeface="Cambria Math" panose="02040503050406030204" pitchFamily="18" charset="0"/>
                        <a:ea typeface="黑体" panose="02010609060101010101" pitchFamily="49" charset="-122"/>
                      </a:rPr>
                      <m:t>当做</m:t>
                    </m:r>
                  </m:oMath>
                </a14:m>
                <a:r>
                  <a:rPr kumimoji="1" lang="zh-CN" altLang="en-US" sz="2000" dirty="0">
                    <a:latin typeface="+mn-lt"/>
                    <a:ea typeface="+mn-ea"/>
                    <a:cs typeface="+mn-cs"/>
                  </a:rPr>
                  <a:t>噪声，根据上半部分</a:t>
                </a:r>
                <a14:m>
                  <m:oMath xmlns:m="http://schemas.openxmlformats.org/officeDocument/2006/math">
                    <m:sSub>
                      <m:sSubPr>
                        <m:ctrlPr>
                          <a:rPr lang="zh-CN" altLang="en-US" sz="2000" i="1">
                            <a:latin typeface="Cambria Math" panose="02040503050406030204" pitchFamily="18" charset="0"/>
                          </a:rPr>
                        </m:ctrlPr>
                      </m:sSubPr>
                      <m:e>
                        <m:r>
                          <m:rPr>
                            <m:sty m:val="p"/>
                          </m:rPr>
                          <a:rPr lang="en-US" altLang="zh-CN" sz="2000" i="1">
                            <a:latin typeface="Cambria Math" panose="02040503050406030204" pitchFamily="18" charset="0"/>
                          </a:rPr>
                          <m:t>x</m:t>
                        </m:r>
                      </m:e>
                      <m:sub>
                        <m:r>
                          <a:rPr lang="en-US" altLang="zh-CN" sz="2000">
                            <a:latin typeface="Cambria Math" panose="02040503050406030204" pitchFamily="18" charset="0"/>
                          </a:rPr>
                          <m:t>1</m:t>
                        </m:r>
                      </m:sub>
                    </m:sSub>
                    <m:sSub>
                      <m:sSubPr>
                        <m:ctrlPr>
                          <a:rPr lang="zh-CN" altLang="en-US" sz="2000" i="1">
                            <a:latin typeface="Cambria Math" panose="02040503050406030204" pitchFamily="18" charset="0"/>
                          </a:rPr>
                        </m:ctrlPr>
                      </m:sSubPr>
                      <m:e>
                        <m:r>
                          <a:rPr lang="en-US" altLang="zh-CN" sz="2000">
                            <a:latin typeface="Cambria Math" panose="02040503050406030204" pitchFamily="18" charset="0"/>
                          </a:rPr>
                          <m:t>,</m:t>
                        </m:r>
                        <m:r>
                          <m:rPr>
                            <m:sty m:val="p"/>
                          </m:rPr>
                          <a:rPr lang="en-US" altLang="zh-CN" sz="2000" i="1">
                            <a:latin typeface="Cambria Math" panose="02040503050406030204" pitchFamily="18" charset="0"/>
                          </a:rPr>
                          <m:t>x</m:t>
                        </m:r>
                      </m:e>
                      <m:sub>
                        <m:r>
                          <a:rPr lang="en-US" altLang="zh-CN" sz="2000">
                            <a:latin typeface="Cambria Math" panose="02040503050406030204" pitchFamily="18" charset="0"/>
                          </a:rPr>
                          <m:t>2</m:t>
                        </m:r>
                      </m:sub>
                    </m:sSub>
                  </m:oMath>
                </a14:m>
                <a:r>
                  <a:rPr kumimoji="1" lang="zh-CN" altLang="en-US" sz="2000" dirty="0">
                    <a:latin typeface="+mn-lt"/>
                    <a:ea typeface="+mn-ea"/>
                    <a:cs typeface="+mn-cs"/>
                  </a:rPr>
                  <a:t>计算出临时变量</a:t>
                </a:r>
                <a14:m>
                  <m:oMath xmlns:m="http://schemas.openxmlformats.org/officeDocument/2006/math">
                    <m:sSub>
                      <m:sSubPr>
                        <m:ctrlPr>
                          <a:rPr lang="zh-CN" altLang="en-US" sz="2000" i="1">
                            <a:latin typeface="Cambria Math" panose="02040503050406030204" pitchFamily="18" charset="0"/>
                          </a:rPr>
                        </m:ctrlPr>
                      </m:sSubPr>
                      <m:e>
                        <m:r>
                          <m:rPr>
                            <m:sty m:val="p"/>
                          </m:rPr>
                          <a:rPr lang="en-US" altLang="zh-CN" sz="2000" i="1">
                            <a:latin typeface="Cambria Math" panose="02040503050406030204" pitchFamily="18" charset="0"/>
                          </a:rPr>
                          <m:t>t</m:t>
                        </m:r>
                      </m:e>
                      <m:sub>
                        <m:r>
                          <a:rPr lang="en-US" altLang="zh-CN" sz="2000">
                            <a:latin typeface="Cambria Math" panose="02040503050406030204" pitchFamily="18" charset="0"/>
                          </a:rPr>
                          <m:t>1</m:t>
                        </m:r>
                      </m:sub>
                    </m:sSub>
                    <m:sSub>
                      <m:sSubPr>
                        <m:ctrlPr>
                          <a:rPr lang="zh-CN" altLang="en-US" sz="2000" i="1">
                            <a:latin typeface="Cambria Math" panose="02040503050406030204" pitchFamily="18" charset="0"/>
                          </a:rPr>
                        </m:ctrlPr>
                      </m:sSubPr>
                      <m:e>
                        <m:r>
                          <a:rPr lang="en-US" altLang="zh-CN" sz="2000">
                            <a:latin typeface="Cambria Math" panose="02040503050406030204" pitchFamily="18" charset="0"/>
                          </a:rPr>
                          <m:t>,</m:t>
                        </m:r>
                        <m:r>
                          <m:rPr>
                            <m:sty m:val="p"/>
                          </m:rPr>
                          <a:rPr lang="en-US" altLang="zh-CN" sz="2000" i="1">
                            <a:latin typeface="Cambria Math" panose="02040503050406030204" pitchFamily="18" charset="0"/>
                          </a:rPr>
                          <m:t>t</m:t>
                        </m:r>
                      </m:e>
                      <m:sub>
                        <m:r>
                          <a:rPr lang="en-US" altLang="zh-CN" sz="2000">
                            <a:latin typeface="Cambria Math" panose="02040503050406030204" pitchFamily="18" charset="0"/>
                          </a:rPr>
                          <m:t>2</m:t>
                        </m:r>
                      </m:sub>
                    </m:sSub>
                  </m:oMath>
                </a14:m>
                <a:r>
                  <a:rPr kumimoji="1" lang="zh-CN" altLang="en-US" sz="2000" dirty="0">
                    <a:latin typeface="+mn-lt"/>
                    <a:ea typeface="+mn-ea"/>
                    <a:cs typeface="+mn-cs"/>
                  </a:rPr>
                  <a:t>。 </a:t>
                </a:r>
                <a:endParaRPr kumimoji="1" lang="en-US" altLang="zh-CN" sz="2000" dirty="0">
                  <a:latin typeface="+mn-lt"/>
                  <a:ea typeface="+mn-ea"/>
                  <a:cs typeface="+mn-cs"/>
                </a:endParaRPr>
              </a:p>
              <a:p>
                <a:pPr>
                  <a:lnSpc>
                    <a:spcPct val="150000"/>
                  </a:lnSpc>
                </a:pPr>
                <a:endParaRPr kumimoji="1" lang="en-US" altLang="zh-CN" sz="2000" i="1" dirty="0">
                  <a:solidFill>
                    <a:schemeClr val="tx1"/>
                  </a:solidFill>
                  <a:latin typeface="+mn-lt"/>
                  <a:ea typeface="+mn-ea"/>
                  <a:cs typeface="+mn-cs"/>
                </a:endParaRPr>
              </a:p>
              <a:p>
                <a:pPr>
                  <a:lnSpc>
                    <a:spcPct val="150000"/>
                  </a:lnSpc>
                </a:pPr>
                <a14:m>
                  <m:oMathPara xmlns:m="http://schemas.openxmlformats.org/officeDocument/2006/math">
                    <m:oMathParaPr>
                      <m:jc m:val="centerGroup"/>
                    </m:oMathParaPr>
                    <m:oMath xmlns:m="http://schemas.openxmlformats.org/officeDocument/2006/math">
                      <m:sSub>
                        <m:sSubPr>
                          <m:ctrlPr>
                            <a:rPr kumimoji="1" lang="en-US" altLang="zh-CN" sz="2000" i="1" smtClean="0">
                              <a:solidFill>
                                <a:schemeClr val="tx1"/>
                              </a:solidFill>
                              <a:latin typeface="Cambria Math" panose="02040503050406030204" pitchFamily="18" charset="0"/>
                              <a:ea typeface="+mn-ea"/>
                              <a:cs typeface="+mn-cs"/>
                            </a:rPr>
                          </m:ctrlPr>
                        </m:sSubPr>
                        <m:e>
                          <m:r>
                            <a:rPr kumimoji="1" lang="en-US" altLang="zh-CN" sz="2000" i="1" smtClean="0">
                              <a:solidFill>
                                <a:schemeClr val="tx1"/>
                              </a:solidFill>
                              <a:latin typeface="Cambria Math" panose="02040503050406030204" pitchFamily="18" charset="0"/>
                              <a:ea typeface="+mn-ea"/>
                              <a:cs typeface="+mn-cs"/>
                            </a:rPr>
                            <m:t>𝑡</m:t>
                          </m:r>
                        </m:e>
                        <m:sub>
                          <m:r>
                            <a:rPr kumimoji="1" lang="en-US" altLang="zh-CN" sz="2000" i="1" smtClean="0">
                              <a:solidFill>
                                <a:schemeClr val="tx1"/>
                              </a:solidFill>
                              <a:latin typeface="Cambria Math" panose="02040503050406030204" pitchFamily="18" charset="0"/>
                              <a:ea typeface="+mn-ea"/>
                              <a:cs typeface="+mn-cs"/>
                            </a:rPr>
                            <m:t>1</m:t>
                          </m:r>
                        </m:sub>
                      </m:sSub>
                      <m:r>
                        <a:rPr kumimoji="1" lang="en-US" altLang="zh-CN" sz="2000" i="1" smtClean="0">
                          <a:solidFill>
                            <a:schemeClr val="tx1"/>
                          </a:solidFill>
                          <a:latin typeface="Cambria Math" panose="02040503050406030204" pitchFamily="18" charset="0"/>
                          <a:ea typeface="+mn-ea"/>
                          <a:cs typeface="+mn-cs"/>
                        </a:rPr>
                        <m:t>=</m:t>
                      </m:r>
                      <m:r>
                        <a:rPr kumimoji="1" lang="en-US" altLang="zh-CN" sz="2000" i="1" smtClean="0">
                          <a:solidFill>
                            <a:schemeClr val="tx1"/>
                          </a:solidFill>
                          <a:latin typeface="Cambria Math" panose="02040503050406030204" pitchFamily="18" charset="0"/>
                          <a:ea typeface="+mn-ea"/>
                          <a:cs typeface="+mn-cs"/>
                        </a:rPr>
                        <m:t>𝑓</m:t>
                      </m:r>
                      <m:d>
                        <m:dPr>
                          <m:ctrlPr>
                            <a:rPr kumimoji="1" lang="en-US" altLang="zh-CN" sz="2000" i="1" smtClean="0">
                              <a:solidFill>
                                <a:schemeClr val="tx1"/>
                              </a:solidFill>
                              <a:latin typeface="Cambria Math" panose="02040503050406030204" pitchFamily="18" charset="0"/>
                              <a:ea typeface="+mn-ea"/>
                              <a:cs typeface="+mn-cs"/>
                            </a:rPr>
                          </m:ctrlPr>
                        </m:dPr>
                        <m:e>
                          <m:sSub>
                            <m:sSubPr>
                              <m:ctrlPr>
                                <a:rPr kumimoji="1" lang="en-US" altLang="zh-CN" sz="2000" i="1" smtClean="0">
                                  <a:solidFill>
                                    <a:schemeClr val="tx1"/>
                                  </a:solidFill>
                                  <a:latin typeface="Cambria Math" panose="02040503050406030204" pitchFamily="18" charset="0"/>
                                  <a:ea typeface="+mn-ea"/>
                                  <a:cs typeface="+mn-cs"/>
                                </a:rPr>
                              </m:ctrlPr>
                            </m:sSubPr>
                            <m:e>
                              <m:r>
                                <a:rPr kumimoji="1" lang="en-US" altLang="zh-CN" sz="2000" i="1" smtClean="0">
                                  <a:solidFill>
                                    <a:schemeClr val="tx1"/>
                                  </a:solidFill>
                                  <a:latin typeface="Cambria Math" panose="02040503050406030204" pitchFamily="18" charset="0"/>
                                  <a:ea typeface="+mn-ea"/>
                                  <a:cs typeface="+mn-cs"/>
                                </a:rPr>
                                <m:t>𝑥</m:t>
                              </m:r>
                            </m:e>
                            <m:sub>
                              <m:r>
                                <a:rPr kumimoji="1" lang="en-US" altLang="zh-CN" sz="2000" i="1" smtClean="0">
                                  <a:solidFill>
                                    <a:schemeClr val="tx1"/>
                                  </a:solidFill>
                                  <a:latin typeface="Cambria Math" panose="02040503050406030204" pitchFamily="18" charset="0"/>
                                  <a:ea typeface="+mn-ea"/>
                                  <a:cs typeface="+mn-cs"/>
                                </a:rPr>
                                <m:t>1</m:t>
                              </m:r>
                            </m:sub>
                          </m:sSub>
                          <m:r>
                            <a:rPr kumimoji="1" lang="en-US" altLang="zh-CN" sz="2000" i="1" smtClean="0">
                              <a:solidFill>
                                <a:schemeClr val="tx1"/>
                              </a:solidFill>
                              <a:latin typeface="Cambria Math" panose="02040503050406030204" pitchFamily="18" charset="0"/>
                              <a:ea typeface="+mn-ea"/>
                              <a:cs typeface="+mn-cs"/>
                            </a:rPr>
                            <m:t>,</m:t>
                          </m:r>
                          <m:sSub>
                            <m:sSubPr>
                              <m:ctrlPr>
                                <a:rPr kumimoji="1" lang="en-US" altLang="zh-CN" sz="2000" i="1" smtClean="0">
                                  <a:solidFill>
                                    <a:schemeClr val="tx1"/>
                                  </a:solidFill>
                                  <a:latin typeface="Cambria Math" panose="02040503050406030204" pitchFamily="18" charset="0"/>
                                  <a:ea typeface="+mn-ea"/>
                                  <a:cs typeface="+mn-cs"/>
                                </a:rPr>
                              </m:ctrlPr>
                            </m:sSubPr>
                            <m:e>
                              <m:r>
                                <a:rPr kumimoji="1" lang="en-US" altLang="zh-CN" sz="2000" i="1" smtClean="0">
                                  <a:solidFill>
                                    <a:schemeClr val="tx1"/>
                                  </a:solidFill>
                                  <a:latin typeface="Cambria Math" panose="02040503050406030204" pitchFamily="18" charset="0"/>
                                  <a:ea typeface="+mn-ea"/>
                                  <a:cs typeface="+mn-cs"/>
                                </a:rPr>
                                <m:t>𝑥</m:t>
                              </m:r>
                            </m:e>
                            <m:sub>
                              <m:r>
                                <a:rPr kumimoji="1" lang="en-US" altLang="zh-CN" sz="2000" i="1" smtClean="0">
                                  <a:solidFill>
                                    <a:schemeClr val="tx1"/>
                                  </a:solidFill>
                                  <a:latin typeface="Cambria Math" panose="02040503050406030204" pitchFamily="18" charset="0"/>
                                  <a:ea typeface="+mn-ea"/>
                                  <a:cs typeface="+mn-cs"/>
                                </a:rPr>
                                <m:t>3</m:t>
                              </m:r>
                            </m:sub>
                          </m:sSub>
                        </m:e>
                      </m:d>
                      <m:r>
                        <a:rPr kumimoji="1" lang="en-US" altLang="zh-CN" sz="2000" i="1" smtClean="0">
                          <a:solidFill>
                            <a:schemeClr val="tx1"/>
                          </a:solidFill>
                          <a:latin typeface="Cambria Math" panose="02040503050406030204" pitchFamily="18" charset="0"/>
                          <a:ea typeface="+mn-ea"/>
                          <a:cs typeface="+mn-cs"/>
                        </a:rPr>
                        <m:t>=</m:t>
                      </m:r>
                      <m:sSub>
                        <m:sSubPr>
                          <m:ctrlPr>
                            <a:rPr kumimoji="1" lang="en-US" altLang="zh-CN" sz="2000" i="1" smtClean="0">
                              <a:solidFill>
                                <a:schemeClr val="tx1"/>
                              </a:solidFill>
                              <a:latin typeface="Cambria Math" panose="02040503050406030204" pitchFamily="18" charset="0"/>
                              <a:ea typeface="+mn-ea"/>
                              <a:cs typeface="+mn-cs"/>
                            </a:rPr>
                          </m:ctrlPr>
                        </m:sSubPr>
                        <m:e>
                          <m:r>
                            <a:rPr kumimoji="1" lang="en-US" altLang="zh-CN" sz="2000" i="1" smtClean="0">
                              <a:solidFill>
                                <a:schemeClr val="tx1"/>
                              </a:solidFill>
                              <a:latin typeface="Cambria Math" panose="02040503050406030204" pitchFamily="18" charset="0"/>
                              <a:ea typeface="+mn-ea"/>
                              <a:cs typeface="+mn-cs"/>
                            </a:rPr>
                            <m:t>𝑥</m:t>
                          </m:r>
                        </m:e>
                        <m:sub>
                          <m:r>
                            <a:rPr kumimoji="1" lang="en-US" altLang="zh-CN" sz="2000" i="1" smtClean="0">
                              <a:solidFill>
                                <a:schemeClr val="tx1"/>
                              </a:solidFill>
                              <a:latin typeface="Cambria Math" panose="02040503050406030204" pitchFamily="18" charset="0"/>
                              <a:ea typeface="+mn-ea"/>
                              <a:cs typeface="+mn-cs"/>
                            </a:rPr>
                            <m:t>1</m:t>
                          </m:r>
                        </m:sub>
                      </m:sSub>
                      <m:r>
                        <a:rPr kumimoji="1" lang="en-US" altLang="zh-CN" sz="2000" i="1" dirty="0">
                          <a:solidFill>
                            <a:schemeClr val="tx1"/>
                          </a:solidFill>
                          <a:latin typeface="Cambria Math" panose="02040503050406030204" pitchFamily="18" charset="0"/>
                        </a:rPr>
                        <m:t>⊞</m:t>
                      </m:r>
                      <m:sSub>
                        <m:sSubPr>
                          <m:ctrlPr>
                            <a:rPr kumimoji="1" lang="en-US" altLang="zh-CN" sz="2000" i="1" smtClean="0">
                              <a:solidFill>
                                <a:schemeClr val="tx1"/>
                              </a:solidFill>
                              <a:latin typeface="Cambria Math" panose="02040503050406030204" pitchFamily="18" charset="0"/>
                              <a:ea typeface="+mn-ea"/>
                              <a:cs typeface="+mn-cs"/>
                            </a:rPr>
                          </m:ctrlPr>
                        </m:sSubPr>
                        <m:e>
                          <m:r>
                            <a:rPr kumimoji="1" lang="en-US" altLang="zh-CN" sz="2000" i="1" smtClean="0">
                              <a:solidFill>
                                <a:schemeClr val="tx1"/>
                              </a:solidFill>
                              <a:latin typeface="Cambria Math" panose="02040503050406030204" pitchFamily="18" charset="0"/>
                              <a:ea typeface="+mn-ea"/>
                              <a:cs typeface="+mn-cs"/>
                            </a:rPr>
                            <m:t>𝑥</m:t>
                          </m:r>
                        </m:e>
                        <m:sub>
                          <m:r>
                            <a:rPr kumimoji="1" lang="en-US" altLang="zh-CN" sz="2000" i="1" smtClean="0">
                              <a:solidFill>
                                <a:schemeClr val="tx1"/>
                              </a:solidFill>
                              <a:latin typeface="Cambria Math" panose="02040503050406030204" pitchFamily="18" charset="0"/>
                              <a:ea typeface="+mn-ea"/>
                              <a:cs typeface="+mn-cs"/>
                            </a:rPr>
                            <m:t>3</m:t>
                          </m:r>
                        </m:sub>
                      </m:sSub>
                      <m:r>
                        <a:rPr kumimoji="1" lang="en-US" altLang="zh-CN" sz="2000" i="1" smtClean="0">
                          <a:solidFill>
                            <a:schemeClr val="tx1"/>
                          </a:solidFill>
                          <a:latin typeface="Cambria Math" panose="02040503050406030204" pitchFamily="18" charset="0"/>
                          <a:ea typeface="+mn-ea"/>
                          <a:cs typeface="+mn-cs"/>
                        </a:rPr>
                        <m:t>=</m:t>
                      </m:r>
                      <m:r>
                        <a:rPr kumimoji="1" lang="en-US" altLang="zh-CN" sz="2000" b="0" i="1" smtClean="0">
                          <a:solidFill>
                            <a:schemeClr val="tx1"/>
                          </a:solidFill>
                          <a:latin typeface="Cambria Math" panose="02040503050406030204" pitchFamily="18" charset="0"/>
                          <a:ea typeface="+mn-ea"/>
                          <a:cs typeface="+mn-cs"/>
                        </a:rPr>
                        <m:t>2</m:t>
                      </m:r>
                      <m:r>
                        <a:rPr kumimoji="1" lang="en-US" altLang="zh-CN" sz="2000" b="0" i="1" smtClean="0">
                          <a:solidFill>
                            <a:schemeClr val="tx1"/>
                          </a:solidFill>
                          <a:latin typeface="Cambria Math" panose="02040503050406030204" pitchFamily="18" charset="0"/>
                          <a:ea typeface="+mn-ea"/>
                          <a:cs typeface="+mn-cs"/>
                        </a:rPr>
                        <m:t>.</m:t>
                      </m:r>
                      <m:r>
                        <a:rPr kumimoji="1" lang="en-US" altLang="zh-CN" sz="2000" b="0" i="1" smtClean="0">
                          <a:solidFill>
                            <a:schemeClr val="tx1"/>
                          </a:solidFill>
                          <a:latin typeface="Cambria Math" panose="02040503050406030204" pitchFamily="18" charset="0"/>
                          <a:ea typeface="+mn-ea"/>
                          <a:cs typeface="+mn-cs"/>
                        </a:rPr>
                        <m:t>77</m:t>
                      </m:r>
                    </m:oMath>
                  </m:oMathPara>
                </a14:m>
                <a:endParaRPr kumimoji="1" lang="en-US" altLang="zh-CN" sz="2000" i="1" dirty="0">
                  <a:solidFill>
                    <a:schemeClr val="tx1"/>
                  </a:solidFill>
                  <a:latin typeface="+mn-lt"/>
                  <a:ea typeface="+mn-ea"/>
                  <a:cs typeface="+mn-cs"/>
                </a:endParaRPr>
              </a:p>
              <a:p>
                <a:pPr>
                  <a:lnSpc>
                    <a:spcPct val="150000"/>
                  </a:lnSpc>
                </a:pPr>
                <a14:m>
                  <m:oMathPara xmlns:m="http://schemas.openxmlformats.org/officeDocument/2006/math">
                    <m:oMathParaPr>
                      <m:jc m:val="centerGroup"/>
                    </m:oMathParaPr>
                    <m:oMath xmlns:m="http://schemas.openxmlformats.org/officeDocument/2006/math">
                      <m:sSub>
                        <m:sSubPr>
                          <m:ctrlPr>
                            <a:rPr kumimoji="1" lang="en-US" altLang="zh-CN" sz="2000" i="1" smtClean="0">
                              <a:solidFill>
                                <a:schemeClr val="tx1"/>
                              </a:solidFill>
                              <a:latin typeface="Cambria Math" panose="02040503050406030204" pitchFamily="18" charset="0"/>
                              <a:ea typeface="+mn-ea"/>
                              <a:cs typeface="+mn-cs"/>
                            </a:rPr>
                          </m:ctrlPr>
                        </m:sSubPr>
                        <m:e>
                          <m:r>
                            <a:rPr kumimoji="1" lang="en-US" altLang="zh-CN" sz="2000" i="1" smtClean="0">
                              <a:solidFill>
                                <a:schemeClr val="tx1"/>
                              </a:solidFill>
                              <a:latin typeface="Cambria Math" panose="02040503050406030204" pitchFamily="18" charset="0"/>
                              <a:ea typeface="+mn-ea"/>
                              <a:cs typeface="+mn-cs"/>
                            </a:rPr>
                            <m:t>𝑡</m:t>
                          </m:r>
                        </m:e>
                        <m:sub>
                          <m:r>
                            <a:rPr kumimoji="1" lang="en-US" altLang="zh-CN" sz="2000" b="0" i="1" smtClean="0">
                              <a:solidFill>
                                <a:schemeClr val="tx1"/>
                              </a:solidFill>
                              <a:latin typeface="Cambria Math" panose="02040503050406030204" pitchFamily="18" charset="0"/>
                              <a:ea typeface="+mn-ea"/>
                              <a:cs typeface="+mn-cs"/>
                            </a:rPr>
                            <m:t>2</m:t>
                          </m:r>
                        </m:sub>
                      </m:sSub>
                      <m:r>
                        <a:rPr kumimoji="1" lang="en-US" altLang="zh-CN" sz="2000" i="1" smtClean="0">
                          <a:solidFill>
                            <a:schemeClr val="tx1"/>
                          </a:solidFill>
                          <a:latin typeface="Cambria Math" panose="02040503050406030204" pitchFamily="18" charset="0"/>
                          <a:ea typeface="+mn-ea"/>
                          <a:cs typeface="+mn-cs"/>
                        </a:rPr>
                        <m:t>=</m:t>
                      </m:r>
                      <m:r>
                        <a:rPr kumimoji="1" lang="en-US" altLang="zh-CN" sz="2000" i="1" smtClean="0">
                          <a:solidFill>
                            <a:schemeClr val="tx1"/>
                          </a:solidFill>
                          <a:latin typeface="Cambria Math" panose="02040503050406030204" pitchFamily="18" charset="0"/>
                          <a:ea typeface="+mn-ea"/>
                          <a:cs typeface="+mn-cs"/>
                        </a:rPr>
                        <m:t>𝑓</m:t>
                      </m:r>
                      <m:d>
                        <m:dPr>
                          <m:ctrlPr>
                            <a:rPr kumimoji="1" lang="en-US" altLang="zh-CN" sz="2000" i="1" smtClean="0">
                              <a:solidFill>
                                <a:schemeClr val="tx1"/>
                              </a:solidFill>
                              <a:latin typeface="Cambria Math" panose="02040503050406030204" pitchFamily="18" charset="0"/>
                              <a:ea typeface="+mn-ea"/>
                              <a:cs typeface="+mn-cs"/>
                            </a:rPr>
                          </m:ctrlPr>
                        </m:dPr>
                        <m:e>
                          <m:sSub>
                            <m:sSubPr>
                              <m:ctrlPr>
                                <a:rPr kumimoji="1" lang="en-US" altLang="zh-CN" sz="2000" i="1" smtClean="0">
                                  <a:solidFill>
                                    <a:schemeClr val="tx1"/>
                                  </a:solidFill>
                                  <a:latin typeface="Cambria Math" panose="02040503050406030204" pitchFamily="18" charset="0"/>
                                  <a:ea typeface="+mn-ea"/>
                                  <a:cs typeface="+mn-cs"/>
                                </a:rPr>
                              </m:ctrlPr>
                            </m:sSubPr>
                            <m:e>
                              <m:r>
                                <a:rPr kumimoji="1" lang="en-US" altLang="zh-CN" sz="2000" i="1" smtClean="0">
                                  <a:solidFill>
                                    <a:schemeClr val="tx1"/>
                                  </a:solidFill>
                                  <a:latin typeface="Cambria Math" panose="02040503050406030204" pitchFamily="18" charset="0"/>
                                  <a:ea typeface="+mn-ea"/>
                                  <a:cs typeface="+mn-cs"/>
                                </a:rPr>
                                <m:t>𝑥</m:t>
                              </m:r>
                            </m:e>
                            <m:sub>
                              <m:r>
                                <a:rPr kumimoji="1" lang="en-US" altLang="zh-CN" sz="2000" b="0" i="1" smtClean="0">
                                  <a:solidFill>
                                    <a:schemeClr val="tx1"/>
                                  </a:solidFill>
                                  <a:latin typeface="Cambria Math" panose="02040503050406030204" pitchFamily="18" charset="0"/>
                                  <a:ea typeface="+mn-ea"/>
                                  <a:cs typeface="+mn-cs"/>
                                </a:rPr>
                                <m:t>2</m:t>
                              </m:r>
                            </m:sub>
                          </m:sSub>
                          <m:r>
                            <a:rPr kumimoji="1" lang="en-US" altLang="zh-CN" sz="2000" i="1" smtClean="0">
                              <a:solidFill>
                                <a:schemeClr val="tx1"/>
                              </a:solidFill>
                              <a:latin typeface="Cambria Math" panose="02040503050406030204" pitchFamily="18" charset="0"/>
                              <a:ea typeface="+mn-ea"/>
                              <a:cs typeface="+mn-cs"/>
                            </a:rPr>
                            <m:t>,</m:t>
                          </m:r>
                          <m:sSub>
                            <m:sSubPr>
                              <m:ctrlPr>
                                <a:rPr kumimoji="1" lang="en-US" altLang="zh-CN" sz="2000" i="1" smtClean="0">
                                  <a:solidFill>
                                    <a:schemeClr val="tx1"/>
                                  </a:solidFill>
                                  <a:latin typeface="Cambria Math" panose="02040503050406030204" pitchFamily="18" charset="0"/>
                                  <a:ea typeface="+mn-ea"/>
                                  <a:cs typeface="+mn-cs"/>
                                </a:rPr>
                              </m:ctrlPr>
                            </m:sSubPr>
                            <m:e>
                              <m:r>
                                <a:rPr kumimoji="1" lang="en-US" altLang="zh-CN" sz="2000" i="1" smtClean="0">
                                  <a:solidFill>
                                    <a:schemeClr val="tx1"/>
                                  </a:solidFill>
                                  <a:latin typeface="Cambria Math" panose="02040503050406030204" pitchFamily="18" charset="0"/>
                                  <a:ea typeface="+mn-ea"/>
                                  <a:cs typeface="+mn-cs"/>
                                </a:rPr>
                                <m:t>𝑥</m:t>
                              </m:r>
                            </m:e>
                            <m:sub>
                              <m:r>
                                <a:rPr kumimoji="1" lang="en-US" altLang="zh-CN" sz="2000" b="0" i="1" smtClean="0">
                                  <a:solidFill>
                                    <a:schemeClr val="tx1"/>
                                  </a:solidFill>
                                  <a:latin typeface="Cambria Math" panose="02040503050406030204" pitchFamily="18" charset="0"/>
                                  <a:ea typeface="+mn-ea"/>
                                  <a:cs typeface="+mn-cs"/>
                                </a:rPr>
                                <m:t>4</m:t>
                              </m:r>
                            </m:sub>
                          </m:sSub>
                        </m:e>
                      </m:d>
                      <m:r>
                        <a:rPr kumimoji="1" lang="en-US" altLang="zh-CN" sz="2000" i="1" smtClean="0">
                          <a:solidFill>
                            <a:schemeClr val="tx1"/>
                          </a:solidFill>
                          <a:latin typeface="Cambria Math" panose="02040503050406030204" pitchFamily="18" charset="0"/>
                          <a:ea typeface="+mn-ea"/>
                          <a:cs typeface="+mn-cs"/>
                        </a:rPr>
                        <m:t>=</m:t>
                      </m:r>
                      <m:sSub>
                        <m:sSubPr>
                          <m:ctrlPr>
                            <a:rPr kumimoji="1" lang="en-US" altLang="zh-CN" sz="2000" i="1" smtClean="0">
                              <a:solidFill>
                                <a:schemeClr val="tx1"/>
                              </a:solidFill>
                              <a:latin typeface="Cambria Math" panose="02040503050406030204" pitchFamily="18" charset="0"/>
                              <a:ea typeface="+mn-ea"/>
                              <a:cs typeface="+mn-cs"/>
                            </a:rPr>
                          </m:ctrlPr>
                        </m:sSubPr>
                        <m:e>
                          <m:r>
                            <a:rPr kumimoji="1" lang="en-US" altLang="zh-CN" sz="2000" i="1" smtClean="0">
                              <a:solidFill>
                                <a:schemeClr val="tx1"/>
                              </a:solidFill>
                              <a:latin typeface="Cambria Math" panose="02040503050406030204" pitchFamily="18" charset="0"/>
                              <a:ea typeface="+mn-ea"/>
                              <a:cs typeface="+mn-cs"/>
                            </a:rPr>
                            <m:t>𝑥</m:t>
                          </m:r>
                        </m:e>
                        <m:sub>
                          <m:r>
                            <a:rPr kumimoji="1" lang="en-US" altLang="zh-CN" sz="2000" b="0" i="1" smtClean="0">
                              <a:solidFill>
                                <a:schemeClr val="tx1"/>
                              </a:solidFill>
                              <a:latin typeface="Cambria Math" panose="02040503050406030204" pitchFamily="18" charset="0"/>
                              <a:ea typeface="+mn-ea"/>
                              <a:cs typeface="+mn-cs"/>
                            </a:rPr>
                            <m:t>2</m:t>
                          </m:r>
                        </m:sub>
                      </m:sSub>
                      <m:r>
                        <a:rPr kumimoji="1" lang="en-US" altLang="zh-CN" sz="2000" i="1" dirty="0">
                          <a:solidFill>
                            <a:schemeClr val="tx1"/>
                          </a:solidFill>
                          <a:latin typeface="Cambria Math" panose="02040503050406030204" pitchFamily="18" charset="0"/>
                        </a:rPr>
                        <m:t>⊞</m:t>
                      </m:r>
                      <m:sSub>
                        <m:sSubPr>
                          <m:ctrlPr>
                            <a:rPr kumimoji="1" lang="en-US" altLang="zh-CN" sz="2000" i="1" smtClean="0">
                              <a:solidFill>
                                <a:schemeClr val="tx1"/>
                              </a:solidFill>
                              <a:latin typeface="Cambria Math" panose="02040503050406030204" pitchFamily="18" charset="0"/>
                              <a:ea typeface="+mn-ea"/>
                              <a:cs typeface="+mn-cs"/>
                            </a:rPr>
                          </m:ctrlPr>
                        </m:sSubPr>
                        <m:e>
                          <m:r>
                            <a:rPr kumimoji="1" lang="en-US" altLang="zh-CN" sz="2000" i="1" smtClean="0">
                              <a:solidFill>
                                <a:schemeClr val="tx1"/>
                              </a:solidFill>
                              <a:latin typeface="Cambria Math" panose="02040503050406030204" pitchFamily="18" charset="0"/>
                              <a:ea typeface="+mn-ea"/>
                              <a:cs typeface="+mn-cs"/>
                            </a:rPr>
                            <m:t>𝑥</m:t>
                          </m:r>
                        </m:e>
                        <m:sub>
                          <m:r>
                            <a:rPr kumimoji="1" lang="en-US" altLang="zh-CN" sz="2000" b="0" i="1" smtClean="0">
                              <a:solidFill>
                                <a:schemeClr val="tx1"/>
                              </a:solidFill>
                              <a:latin typeface="Cambria Math" panose="02040503050406030204" pitchFamily="18" charset="0"/>
                              <a:ea typeface="+mn-ea"/>
                              <a:cs typeface="+mn-cs"/>
                            </a:rPr>
                            <m:t>4</m:t>
                          </m:r>
                        </m:sub>
                      </m:sSub>
                      <m:r>
                        <a:rPr kumimoji="1" lang="en-US" altLang="zh-CN" sz="2000" i="1" smtClean="0">
                          <a:solidFill>
                            <a:schemeClr val="tx1"/>
                          </a:solidFill>
                          <a:latin typeface="Cambria Math" panose="02040503050406030204" pitchFamily="18" charset="0"/>
                          <a:ea typeface="+mn-ea"/>
                          <a:cs typeface="+mn-cs"/>
                        </a:rPr>
                        <m:t>=</m:t>
                      </m:r>
                      <m:r>
                        <a:rPr kumimoji="1" lang="en-US" altLang="zh-CN" sz="2000" i="1">
                          <a:solidFill>
                            <a:schemeClr val="tx1"/>
                          </a:solidFill>
                          <a:latin typeface="Cambria Math" panose="02040503050406030204" pitchFamily="18" charset="0"/>
                          <a:ea typeface="+mn-ea"/>
                          <a:cs typeface="+mn-cs"/>
                        </a:rPr>
                        <m:t>−</m:t>
                      </m:r>
                      <m:r>
                        <a:rPr kumimoji="1" lang="en-US" altLang="zh-CN" sz="2000" b="0" i="0" smtClean="0">
                          <a:solidFill>
                            <a:schemeClr val="tx1"/>
                          </a:solidFill>
                          <a:latin typeface="Cambria Math" panose="02040503050406030204" pitchFamily="18" charset="0"/>
                          <a:ea typeface="+mn-ea"/>
                          <a:cs typeface="+mn-cs"/>
                        </a:rPr>
                        <m:t>0</m:t>
                      </m:r>
                      <m:r>
                        <a:rPr kumimoji="1" lang="en-US" altLang="zh-CN" sz="2000" b="0" i="0" smtClean="0">
                          <a:solidFill>
                            <a:schemeClr val="tx1"/>
                          </a:solidFill>
                          <a:latin typeface="Cambria Math" panose="02040503050406030204" pitchFamily="18" charset="0"/>
                          <a:ea typeface="+mn-ea"/>
                          <a:cs typeface="+mn-cs"/>
                        </a:rPr>
                        <m:t>.</m:t>
                      </m:r>
                      <m:r>
                        <a:rPr kumimoji="1" lang="en-US" altLang="zh-CN" sz="2000" b="0" i="0" smtClean="0">
                          <a:solidFill>
                            <a:schemeClr val="tx1"/>
                          </a:solidFill>
                          <a:latin typeface="Cambria Math" panose="02040503050406030204" pitchFamily="18" charset="0"/>
                          <a:ea typeface="+mn-ea"/>
                          <a:cs typeface="+mn-cs"/>
                        </a:rPr>
                        <m:t>11</m:t>
                      </m:r>
                    </m:oMath>
                  </m:oMathPara>
                </a14:m>
                <a:endParaRPr kumimoji="1" lang="en-US" altLang="zh-CN" sz="2000" dirty="0">
                  <a:solidFill>
                    <a:schemeClr val="tx1"/>
                  </a:solidFill>
                  <a:latin typeface="+mn-lt"/>
                  <a:ea typeface="+mn-ea"/>
                  <a:cs typeface="+mn-cs"/>
                </a:endParaRPr>
              </a:p>
            </p:txBody>
          </p:sp>
        </mc:Choice>
        <mc:Fallback>
          <p:sp>
            <p:nvSpPr>
              <p:cNvPr id="6" name="文本框 5"/>
              <p:cNvSpPr txBox="1">
                <a:spLocks noRot="1" noChangeAspect="1" noMove="1" noResize="1" noEditPoints="1" noAdjustHandles="1" noChangeArrowheads="1" noChangeShapeType="1" noTextEdit="1"/>
              </p:cNvSpPr>
              <p:nvPr/>
            </p:nvSpPr>
            <p:spPr>
              <a:xfrm>
                <a:off x="381110" y="3200406"/>
                <a:ext cx="8160801" cy="1938992"/>
              </a:xfrm>
              <a:prstGeom prst="rect">
                <a:avLst/>
              </a:prstGeom>
              <a:blipFill rotWithShape="1">
                <a:blip r:embed="rId2"/>
                <a:stretch>
                  <a:fillRect l="-1" r="6" b="18"/>
                </a:stretch>
              </a:blipFill>
            </p:spPr>
            <p:txBody>
              <a:bodyPr/>
              <a:lstStyle/>
              <a:p>
                <a:r>
                  <a:rPr lang="zh-CN" altLang="en-US">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8812" y="201425"/>
            <a:ext cx="230028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解码示例</a:t>
            </a:r>
            <a:endParaRPr kumimoji="0" lang="zh-CN" altLang="en-US" sz="2400" b="1" kern="0" dirty="0">
              <a:solidFill>
                <a:srgbClr val="000000"/>
              </a:solidFill>
              <a:latin typeface="Arial" panose="020B0604020202020204" pitchFamily="3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6" name="文本框 5"/>
              <p:cNvSpPr txBox="1"/>
              <p:nvPr/>
            </p:nvSpPr>
            <p:spPr>
              <a:xfrm>
                <a:off x="244430" y="1066862"/>
                <a:ext cx="8655140" cy="4919873"/>
              </a:xfrm>
              <a:prstGeom prst="rect">
                <a:avLst/>
              </a:prstGeom>
              <a:noFill/>
            </p:spPr>
            <p:txBody>
              <a:bodyPr wrap="square">
                <a:spAutoFit/>
              </a:bodyPr>
              <a:lstStyle/>
              <a:p>
                <a:pPr>
                  <a:lnSpc>
                    <a:spcPct val="200000"/>
                  </a:lnSpc>
                </a:pPr>
                <a:r>
                  <a:rPr kumimoji="1" lang="zh-CN" altLang="en-US" sz="2000" dirty="0">
                    <a:highlight>
                      <a:srgbClr val="FFFF00"/>
                    </a:highlight>
                    <a:latin typeface="+mn-lt"/>
                    <a:ea typeface="+mn-ea"/>
                    <a:cs typeface="+mn-cs"/>
                  </a:rPr>
                  <a:t>第二步：</a:t>
                </a:r>
                <a:r>
                  <a:rPr kumimoji="1"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解码器把下半部分（临时变量</a:t>
                </a:r>
                <a14:m>
                  <m:oMath xmlns:m="http://schemas.openxmlformats.org/officeDocument/2006/math">
                    <m:sSub>
                      <m:sSubPr>
                        <m:ctrlPr>
                          <a:rPr kumimoji="1"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m:rPr>
                            <m:sty m:val="p"/>
                          </m:rPr>
                          <a:rPr kumimoji="1"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mn-cs"/>
                          </a:rPr>
                          <m:t>t</m:t>
                        </m:r>
                      </m:e>
                      <m:sub>
                        <m:r>
                          <a:rPr kumimoji="1" lang="en-US" altLang="zh-CN" sz="2000" b="0" i="0" u="none" strike="noStrike" kern="1200" cap="none" spc="0" normalizeH="0" baseline="0" noProof="0">
                            <a:ln>
                              <a:noFill/>
                            </a:ln>
                            <a:solidFill>
                              <a:srgbClr val="000000"/>
                            </a:solidFill>
                            <a:effectLst/>
                            <a:uLnTx/>
                            <a:uFillTx/>
                            <a:latin typeface="Cambria Math" panose="02040503050406030204" pitchFamily="18" charset="0"/>
                            <a:cs typeface="+mn-cs"/>
                          </a:rPr>
                          <m:t>2</m:t>
                        </m:r>
                      </m:sub>
                    </m:sSub>
                    <m:r>
                      <a:rPr kumimoji="1"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mn-cs"/>
                      </a:rPr>
                      <m:t> </m:t>
                    </m:r>
                  </m:oMath>
                </a14:m>
                <a:r>
                  <a:rPr kumimoji="1"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）看成噪声，求解出</a:t>
                </a:r>
                <a14:m>
                  <m:oMath xmlns:m="http://schemas.openxmlformats.org/officeDocument/2006/math">
                    <m:sSub>
                      <m:sSubPr>
                        <m:ctrlPr>
                          <a:rPr kumimoji="1"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m:rPr>
                            <m:sty m:val="p"/>
                          </m:rPr>
                          <a:rPr kumimoji="1" lang="en-US" altLang="zh-CN" sz="2000" b="0" i="1" u="none" strike="noStrike" kern="1200" cap="none" spc="0" normalizeH="0" baseline="0" noProof="0">
                            <a:ln>
                              <a:noFill/>
                            </a:ln>
                            <a:solidFill>
                              <a:srgbClr val="000000"/>
                            </a:solidFill>
                            <a:effectLst/>
                            <a:uLnTx/>
                            <a:uFillTx/>
                            <a:latin typeface="Cambria Math" panose="02040503050406030204" pitchFamily="18" charset="0"/>
                            <a:cs typeface="+mn-cs"/>
                          </a:rPr>
                          <m:t>u</m:t>
                        </m:r>
                      </m:e>
                      <m:sub>
                        <m:r>
                          <a:rPr kumimoji="1" lang="en-US" altLang="zh-CN" sz="2000" b="0" i="0"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oMath>
                </a14:m>
                <a:r>
                  <a:rPr kumimoji="1" lang="zh-CN" altLang="en-US" sz="2000" b="0" i="0" u="none" strike="noStrike" kern="1200" cap="none" spc="0" normalizeH="0" baseline="0" noProof="0" dirty="0">
                    <a:ln>
                      <a:noFill/>
                    </a:ln>
                    <a:solidFill>
                      <a:srgbClr val="000000"/>
                    </a:solidFill>
                    <a:effectLst/>
                    <a:uLnTx/>
                    <a:uFillTx/>
                    <a:latin typeface="+mn-lt"/>
                    <a:ea typeface="黑体" panose="02010609060101010101" pitchFamily="49" charset="-122"/>
                    <a:cs typeface="+mn-cs"/>
                  </a:rPr>
                  <a:t>。</a:t>
                </a:r>
                <a:r>
                  <a:rPr kumimoji="1" lang="zh-CN" altLang="en-US" sz="2000" dirty="0">
                    <a:solidFill>
                      <a:srgbClr val="000000"/>
                    </a:solidFill>
                    <a:latin typeface="+mn-lt"/>
                    <a:ea typeface="黑体" panose="02010609060101010101" pitchFamily="49" charset="-122"/>
                    <a:cs typeface="+mn-cs"/>
                  </a:rPr>
                  <a:t>那么，</a:t>
                </a:r>
                <a:endParaRPr kumimoji="1" lang="en-US" altLang="zh-CN" sz="2000" dirty="0">
                  <a:solidFill>
                    <a:srgbClr val="000000"/>
                  </a:solidFill>
                  <a:latin typeface="+mn-lt"/>
                  <a:ea typeface="黑体" panose="02010609060101010101" pitchFamily="49" charset="-122"/>
                  <a:cs typeface="+mn-cs"/>
                </a:endParaRPr>
              </a:p>
              <a:p>
                <a:pPr>
                  <a:lnSpc>
                    <a:spcPct val="200000"/>
                  </a:lnSpc>
                </a:pPr>
                <a14:m>
                  <m:oMathPara xmlns:m="http://schemas.openxmlformats.org/officeDocument/2006/math">
                    <m:oMathParaPr>
                      <m:jc m:val="centerGroup"/>
                    </m:oMathParaPr>
                    <m:oMath xmlns:m="http://schemas.openxmlformats.org/officeDocument/2006/math">
                      <m:sSub>
                        <m:sSubPr>
                          <m:ctrlPr>
                            <a:rPr kumimoji="1" lang="en-US" altLang="zh-CN" sz="2000" i="1" smtClean="0">
                              <a:solidFill>
                                <a:schemeClr val="tx1"/>
                              </a:solidFill>
                              <a:latin typeface="Cambria Math" panose="02040503050406030204" pitchFamily="18" charset="0"/>
                              <a:ea typeface="+mn-ea"/>
                              <a:cs typeface="+mn-cs"/>
                            </a:rPr>
                          </m:ctrlPr>
                        </m:sSubPr>
                        <m:e>
                          <m:r>
                            <m:rPr>
                              <m:sty m:val="p"/>
                            </m:rPr>
                            <a:rPr kumimoji="1" lang="en-US" altLang="zh-CN" sz="2000" i="1">
                              <a:solidFill>
                                <a:schemeClr val="tx1"/>
                              </a:solidFill>
                              <a:latin typeface="Cambria Math" panose="02040503050406030204" pitchFamily="18" charset="0"/>
                              <a:ea typeface="+mn-ea"/>
                              <a:cs typeface="+mn-cs"/>
                            </a:rPr>
                            <m:t>z</m:t>
                          </m:r>
                        </m:e>
                        <m:sub>
                          <m:r>
                            <a:rPr kumimoji="1" lang="en-US" altLang="zh-CN" sz="2000" b="0" i="1" smtClean="0">
                              <a:solidFill>
                                <a:schemeClr val="tx1"/>
                              </a:solidFill>
                              <a:latin typeface="Cambria Math" panose="02040503050406030204" pitchFamily="18" charset="0"/>
                              <a:ea typeface="+mn-ea"/>
                              <a:cs typeface="+mn-cs"/>
                            </a:rPr>
                            <m:t>1</m:t>
                          </m:r>
                        </m:sub>
                      </m:sSub>
                      <m:r>
                        <a:rPr kumimoji="1" lang="en-US" altLang="zh-CN" sz="2000" i="1" smtClean="0">
                          <a:solidFill>
                            <a:schemeClr val="tx1"/>
                          </a:solidFill>
                          <a:latin typeface="Cambria Math" panose="02040503050406030204" pitchFamily="18" charset="0"/>
                          <a:ea typeface="+mn-ea"/>
                          <a:cs typeface="+mn-cs"/>
                        </a:rPr>
                        <m:t>=</m:t>
                      </m:r>
                      <m:r>
                        <a:rPr kumimoji="1" lang="en-US" altLang="zh-CN" sz="2000" i="1" smtClean="0">
                          <a:solidFill>
                            <a:schemeClr val="tx1"/>
                          </a:solidFill>
                          <a:latin typeface="Cambria Math" panose="02040503050406030204" pitchFamily="18" charset="0"/>
                          <a:ea typeface="+mn-ea"/>
                          <a:cs typeface="+mn-cs"/>
                        </a:rPr>
                        <m:t>𝑓</m:t>
                      </m:r>
                      <m:d>
                        <m:dPr>
                          <m:ctrlPr>
                            <a:rPr kumimoji="1" lang="en-US" altLang="zh-CN" sz="2000" i="1" smtClean="0">
                              <a:solidFill>
                                <a:schemeClr val="tx1"/>
                              </a:solidFill>
                              <a:latin typeface="Cambria Math" panose="02040503050406030204" pitchFamily="18" charset="0"/>
                              <a:ea typeface="+mn-ea"/>
                              <a:cs typeface="+mn-cs"/>
                            </a:rPr>
                          </m:ctrlPr>
                        </m:dPr>
                        <m:e>
                          <m:sSub>
                            <m:sSubPr>
                              <m:ctrlPr>
                                <a:rPr kumimoji="1" lang="en-US" altLang="zh-CN" sz="2000" i="1" smtClean="0">
                                  <a:solidFill>
                                    <a:schemeClr val="tx1"/>
                                  </a:solidFill>
                                  <a:latin typeface="Cambria Math" panose="02040503050406030204" pitchFamily="18" charset="0"/>
                                  <a:ea typeface="+mn-ea"/>
                                  <a:cs typeface="+mn-cs"/>
                                </a:rPr>
                              </m:ctrlPr>
                            </m:sSubPr>
                            <m:e>
                              <m:r>
                                <m:rPr>
                                  <m:sty m:val="p"/>
                                </m:rPr>
                                <a:rPr kumimoji="1" lang="en-US" altLang="zh-CN" sz="2000" i="1">
                                  <a:solidFill>
                                    <a:schemeClr val="tx1"/>
                                  </a:solidFill>
                                  <a:latin typeface="Cambria Math" panose="02040503050406030204" pitchFamily="18" charset="0"/>
                                  <a:ea typeface="+mn-ea"/>
                                  <a:cs typeface="+mn-cs"/>
                                </a:rPr>
                                <m:t>t</m:t>
                              </m:r>
                            </m:e>
                            <m:sub>
                              <m:r>
                                <a:rPr kumimoji="1" lang="en-US" altLang="zh-CN" sz="2000" b="0" i="1" smtClean="0">
                                  <a:solidFill>
                                    <a:schemeClr val="tx1"/>
                                  </a:solidFill>
                                  <a:latin typeface="Cambria Math" panose="02040503050406030204" pitchFamily="18" charset="0"/>
                                  <a:ea typeface="+mn-ea"/>
                                  <a:cs typeface="+mn-cs"/>
                                </a:rPr>
                                <m:t>1</m:t>
                              </m:r>
                            </m:sub>
                          </m:sSub>
                          <m:r>
                            <a:rPr kumimoji="1" lang="en-US" altLang="zh-CN" sz="2000" i="1" smtClean="0">
                              <a:solidFill>
                                <a:schemeClr val="tx1"/>
                              </a:solidFill>
                              <a:latin typeface="Cambria Math" panose="02040503050406030204" pitchFamily="18" charset="0"/>
                              <a:ea typeface="+mn-ea"/>
                              <a:cs typeface="+mn-cs"/>
                            </a:rPr>
                            <m:t>,</m:t>
                          </m:r>
                          <m:sSub>
                            <m:sSubPr>
                              <m:ctrlPr>
                                <a:rPr kumimoji="1" lang="en-US" altLang="zh-CN" sz="2000" i="1" smtClean="0">
                                  <a:solidFill>
                                    <a:schemeClr val="tx1"/>
                                  </a:solidFill>
                                  <a:latin typeface="Cambria Math" panose="02040503050406030204" pitchFamily="18" charset="0"/>
                                  <a:ea typeface="+mn-ea"/>
                                  <a:cs typeface="+mn-cs"/>
                                </a:rPr>
                              </m:ctrlPr>
                            </m:sSubPr>
                            <m:e>
                              <m:r>
                                <m:rPr>
                                  <m:sty m:val="p"/>
                                </m:rPr>
                                <a:rPr kumimoji="1" lang="en-US" altLang="zh-CN" sz="2000" i="1">
                                  <a:solidFill>
                                    <a:schemeClr val="tx1"/>
                                  </a:solidFill>
                                  <a:latin typeface="Cambria Math" panose="02040503050406030204" pitchFamily="18" charset="0"/>
                                  <a:ea typeface="+mn-ea"/>
                                  <a:cs typeface="+mn-cs"/>
                                </a:rPr>
                                <m:t>t</m:t>
                              </m:r>
                            </m:e>
                            <m:sub>
                              <m:r>
                                <a:rPr kumimoji="1" lang="en-US" altLang="zh-CN" sz="2000" b="0" i="1" smtClean="0">
                                  <a:solidFill>
                                    <a:schemeClr val="tx1"/>
                                  </a:solidFill>
                                  <a:latin typeface="Cambria Math" panose="02040503050406030204" pitchFamily="18" charset="0"/>
                                  <a:ea typeface="+mn-ea"/>
                                  <a:cs typeface="+mn-cs"/>
                                </a:rPr>
                                <m:t>2</m:t>
                              </m:r>
                            </m:sub>
                          </m:sSub>
                        </m:e>
                      </m:d>
                      <m:r>
                        <a:rPr kumimoji="1" lang="en-US" altLang="zh-CN" sz="2000" i="1" smtClean="0">
                          <a:solidFill>
                            <a:schemeClr val="tx1"/>
                          </a:solidFill>
                          <a:latin typeface="Cambria Math" panose="02040503050406030204" pitchFamily="18" charset="0"/>
                          <a:ea typeface="+mn-ea"/>
                          <a:cs typeface="+mn-cs"/>
                        </a:rPr>
                        <m:t>=</m:t>
                      </m:r>
                      <m:sSub>
                        <m:sSubPr>
                          <m:ctrlPr>
                            <a:rPr kumimoji="1" lang="en-US" altLang="zh-CN" sz="2000" i="1" smtClean="0">
                              <a:solidFill>
                                <a:schemeClr val="tx1"/>
                              </a:solidFill>
                              <a:latin typeface="Cambria Math" panose="02040503050406030204" pitchFamily="18" charset="0"/>
                              <a:ea typeface="+mn-ea"/>
                              <a:cs typeface="+mn-cs"/>
                            </a:rPr>
                          </m:ctrlPr>
                        </m:sSubPr>
                        <m:e>
                          <m:r>
                            <m:rPr>
                              <m:sty m:val="p"/>
                            </m:rPr>
                            <a:rPr kumimoji="1" lang="en-US" altLang="zh-CN" sz="2000" i="1">
                              <a:solidFill>
                                <a:schemeClr val="tx1"/>
                              </a:solidFill>
                              <a:latin typeface="Cambria Math" panose="02040503050406030204" pitchFamily="18" charset="0"/>
                              <a:ea typeface="+mn-ea"/>
                              <a:cs typeface="+mn-cs"/>
                            </a:rPr>
                            <m:t>t</m:t>
                          </m:r>
                        </m:e>
                        <m:sub>
                          <m:r>
                            <a:rPr kumimoji="1" lang="en-US" altLang="zh-CN" sz="2000" b="0" i="1" smtClean="0">
                              <a:solidFill>
                                <a:schemeClr val="tx1"/>
                              </a:solidFill>
                              <a:latin typeface="Cambria Math" panose="02040503050406030204" pitchFamily="18" charset="0"/>
                              <a:ea typeface="+mn-ea"/>
                              <a:cs typeface="+mn-cs"/>
                            </a:rPr>
                            <m:t>1</m:t>
                          </m:r>
                        </m:sub>
                      </m:sSub>
                      <m:r>
                        <a:rPr kumimoji="1" lang="en-US" altLang="zh-CN" sz="2000" i="1" dirty="0">
                          <a:solidFill>
                            <a:schemeClr val="tx1"/>
                          </a:solidFill>
                          <a:latin typeface="Cambria Math" panose="02040503050406030204" pitchFamily="18" charset="0"/>
                        </a:rPr>
                        <m:t>⊞</m:t>
                      </m:r>
                      <m:sSub>
                        <m:sSubPr>
                          <m:ctrlPr>
                            <a:rPr kumimoji="1" lang="en-US" altLang="zh-CN" sz="2000" i="1" smtClean="0">
                              <a:solidFill>
                                <a:schemeClr val="tx1"/>
                              </a:solidFill>
                              <a:latin typeface="Cambria Math" panose="02040503050406030204" pitchFamily="18" charset="0"/>
                              <a:ea typeface="+mn-ea"/>
                              <a:cs typeface="+mn-cs"/>
                            </a:rPr>
                          </m:ctrlPr>
                        </m:sSubPr>
                        <m:e>
                          <m:r>
                            <m:rPr>
                              <m:sty m:val="p"/>
                            </m:rPr>
                            <a:rPr kumimoji="1" lang="en-US" altLang="zh-CN" sz="2000" i="1">
                              <a:solidFill>
                                <a:schemeClr val="tx1"/>
                              </a:solidFill>
                              <a:latin typeface="Cambria Math" panose="02040503050406030204" pitchFamily="18" charset="0"/>
                              <a:ea typeface="+mn-ea"/>
                              <a:cs typeface="+mn-cs"/>
                            </a:rPr>
                            <m:t>t</m:t>
                          </m:r>
                        </m:e>
                        <m:sub>
                          <m:r>
                            <a:rPr kumimoji="1" lang="en-US" altLang="zh-CN" sz="2000" b="0" i="1" smtClean="0">
                              <a:solidFill>
                                <a:schemeClr val="tx1"/>
                              </a:solidFill>
                              <a:latin typeface="Cambria Math" panose="02040503050406030204" pitchFamily="18" charset="0"/>
                              <a:ea typeface="+mn-ea"/>
                              <a:cs typeface="+mn-cs"/>
                            </a:rPr>
                            <m:t>2</m:t>
                          </m:r>
                        </m:sub>
                      </m:sSub>
                      <m:r>
                        <a:rPr kumimoji="1" lang="en-US" altLang="zh-CN" sz="2000" i="1" smtClean="0">
                          <a:solidFill>
                            <a:schemeClr val="tx1"/>
                          </a:solidFill>
                          <a:latin typeface="Cambria Math" panose="02040503050406030204" pitchFamily="18" charset="0"/>
                          <a:ea typeface="+mn-ea"/>
                          <a:cs typeface="+mn-cs"/>
                        </a:rPr>
                        <m:t>=</m:t>
                      </m:r>
                      <m:r>
                        <a:rPr kumimoji="1" lang="en-US" altLang="zh-CN" sz="2000" i="1">
                          <a:solidFill>
                            <a:schemeClr val="tx1"/>
                          </a:solidFill>
                          <a:latin typeface="Cambria Math" panose="02040503050406030204" pitchFamily="18" charset="0"/>
                          <a:ea typeface="+mn-ea"/>
                          <a:cs typeface="+mn-cs"/>
                        </a:rPr>
                        <m:t>−</m:t>
                      </m:r>
                      <m:r>
                        <a:rPr kumimoji="1" lang="en-US" altLang="zh-CN" sz="2000" b="0" i="0" smtClean="0">
                          <a:solidFill>
                            <a:schemeClr val="tx1"/>
                          </a:solidFill>
                          <a:latin typeface="Cambria Math" panose="02040503050406030204" pitchFamily="18" charset="0"/>
                          <a:ea typeface="+mn-ea"/>
                          <a:cs typeface="+mn-cs"/>
                        </a:rPr>
                        <m:t>0</m:t>
                      </m:r>
                      <m:r>
                        <a:rPr kumimoji="1" lang="en-US" altLang="zh-CN" sz="2000" b="0" i="0" smtClean="0">
                          <a:solidFill>
                            <a:schemeClr val="tx1"/>
                          </a:solidFill>
                          <a:latin typeface="Cambria Math" panose="02040503050406030204" pitchFamily="18" charset="0"/>
                          <a:ea typeface="+mn-ea"/>
                          <a:cs typeface="+mn-cs"/>
                        </a:rPr>
                        <m:t>.</m:t>
                      </m:r>
                      <m:r>
                        <a:rPr kumimoji="1" lang="en-US" altLang="zh-CN" sz="2000" b="0" i="0" smtClean="0">
                          <a:solidFill>
                            <a:schemeClr val="tx1"/>
                          </a:solidFill>
                          <a:latin typeface="Cambria Math" panose="02040503050406030204" pitchFamily="18" charset="0"/>
                          <a:ea typeface="+mn-ea"/>
                          <a:cs typeface="+mn-cs"/>
                        </a:rPr>
                        <m:t>09</m:t>
                      </m:r>
                    </m:oMath>
                  </m:oMathPara>
                </a14:m>
                <a:endParaRPr kumimoji="1" lang="en-US" altLang="zh-CN" sz="20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p>
                <a:pPr>
                  <a:lnSpc>
                    <a:spcPct val="200000"/>
                  </a:lnSpc>
                </a:pPr>
                <a:r>
                  <a:rPr kumimoji="1" lang="zh-CN" altLang="en-US" sz="2000" dirty="0">
                    <a:latin typeface="+mn-lt"/>
                    <a:ea typeface="黑体" panose="02010609060101010101" pitchFamily="49" charset="-122"/>
                    <a:cs typeface="+mn-cs"/>
                  </a:rPr>
                  <a:t>       对</a:t>
                </a:r>
                <a14:m>
                  <m:oMath xmlns:m="http://schemas.openxmlformats.org/officeDocument/2006/math">
                    <m:sSub>
                      <m:sSubPr>
                        <m:ctrlPr>
                          <a:rPr kumimoji="1" lang="en-US" altLang="zh-CN" sz="2000" i="1" smtClean="0">
                            <a:solidFill>
                              <a:schemeClr val="tx1"/>
                            </a:solidFill>
                            <a:latin typeface="Cambria Math" panose="02040503050406030204" pitchFamily="18" charset="0"/>
                            <a:ea typeface="+mn-ea"/>
                            <a:cs typeface="+mn-cs"/>
                          </a:rPr>
                        </m:ctrlPr>
                      </m:sSubPr>
                      <m:e>
                        <m:r>
                          <m:rPr>
                            <m:sty m:val="p"/>
                          </m:rPr>
                          <a:rPr kumimoji="1" lang="en-US" altLang="zh-CN" sz="2000" i="1">
                            <a:solidFill>
                              <a:schemeClr val="tx1"/>
                            </a:solidFill>
                            <a:latin typeface="Cambria Math" panose="02040503050406030204" pitchFamily="18" charset="0"/>
                            <a:ea typeface="+mn-ea"/>
                            <a:cs typeface="+mn-cs"/>
                          </a:rPr>
                          <m:t>z</m:t>
                        </m:r>
                      </m:e>
                      <m:sub>
                        <m:r>
                          <a:rPr kumimoji="1" lang="en-US" altLang="zh-CN" sz="2000" b="0" i="1" smtClean="0">
                            <a:solidFill>
                              <a:schemeClr val="tx1"/>
                            </a:solidFill>
                            <a:latin typeface="Cambria Math" panose="02040503050406030204" pitchFamily="18" charset="0"/>
                            <a:ea typeface="+mn-ea"/>
                            <a:cs typeface="+mn-cs"/>
                          </a:rPr>
                          <m:t>1</m:t>
                        </m:r>
                      </m:sub>
                    </m:sSub>
                  </m:oMath>
                </a14:m>
                <a:r>
                  <a:rPr kumimoji="1" lang="zh-CN" altLang="en-US" sz="20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进行判决（若是冻结比特，则无需判决，直接输出冻结比特值），得到</a:t>
                </a:r>
                <a14:m>
                  <m:oMath xmlns:m="http://schemas.openxmlformats.org/officeDocument/2006/math">
                    <m:sSub>
                      <m:sSubPr>
                        <m:ctrlPr>
                          <a:rPr kumimoji="1" lang="zh-CN" altLang="en-US" sz="2000" i="1">
                            <a:solidFill>
                              <a:srgbClr val="000000"/>
                            </a:solidFill>
                            <a:latin typeface="Cambria Math" panose="02040503050406030204" pitchFamily="18" charset="0"/>
                          </a:rPr>
                        </m:ctrlPr>
                      </m:sSubPr>
                      <m:e>
                        <m:r>
                          <m:rPr>
                            <m:sty m:val="p"/>
                          </m:rPr>
                          <a:rPr kumimoji="1" lang="en-US" altLang="zh-CN" sz="2000" i="1">
                            <a:solidFill>
                              <a:srgbClr val="000000"/>
                            </a:solidFill>
                            <a:latin typeface="Cambria Math" panose="02040503050406030204" pitchFamily="18" charset="0"/>
                          </a:rPr>
                          <m:t>u</m:t>
                        </m:r>
                      </m:e>
                      <m:sub>
                        <m:r>
                          <a:rPr kumimoji="1" lang="en-US" altLang="zh-CN" sz="2000">
                            <a:solidFill>
                              <a:srgbClr val="000000"/>
                            </a:solidFill>
                            <a:latin typeface="Cambria Math" panose="02040503050406030204" pitchFamily="18" charset="0"/>
                          </a:rPr>
                          <m:t>1</m:t>
                        </m:r>
                      </m:sub>
                    </m:sSub>
                  </m:oMath>
                </a14:m>
                <a:r>
                  <a:rPr kumimoji="1" lang="en-US" altLang="zh-CN" sz="2000" b="0" i="0" strike="noStrike" kern="1200" cap="none" spc="0" normalizeH="0" baseline="0" noProof="0" dirty="0">
                    <a:ln>
                      <a:noFill/>
                    </a:ln>
                    <a:solidFill>
                      <a:schemeClr val="tx1"/>
                    </a:solidFill>
                    <a:effectLst/>
                    <a:uLnTx/>
                    <a:uFillTx/>
                    <a:latin typeface="+mn-lt"/>
                    <a:ea typeface="黑体" panose="02010609060101010101" pitchFamily="49" charset="-122"/>
                    <a:cs typeface="+mn-cs"/>
                  </a:rPr>
                  <a:t>=1</a:t>
                </a:r>
                <a:r>
                  <a:rPr kumimoji="1" lang="zh-CN" altLang="en-US" sz="20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（这一比特解码错误；从仿真程序看，</a:t>
                </a:r>
                <a:r>
                  <a:rPr kumimoji="1" lang="en-US" altLang="zh-CN" sz="20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SNR=0dB</a:t>
                </a:r>
                <a:r>
                  <a:rPr kumimoji="1" lang="zh-CN" altLang="en-US" sz="20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，下同；考虑码长</a:t>
                </a:r>
                <a:r>
                  <a:rPr kumimoji="1" lang="en-US" altLang="zh-CN" sz="20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N=4</a:t>
                </a:r>
                <a:r>
                  <a:rPr kumimoji="1" lang="zh-CN" altLang="en-US" sz="20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不够大，极化现象不明显，且码率</a:t>
                </a:r>
                <a:r>
                  <a:rPr kumimoji="1" lang="en-US" altLang="zh-CN" sz="20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R=1</a:t>
                </a:r>
                <a:r>
                  <a:rPr kumimoji="1" lang="zh-CN" altLang="en-US" sz="20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，有错误正常）</a:t>
                </a:r>
                <a:endParaRPr kumimoji="1" lang="en-US" altLang="zh-CN" sz="20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p>
                <a:pPr>
                  <a:lnSpc>
                    <a:spcPct val="200000"/>
                  </a:lnSpc>
                </a:pPr>
                <a:r>
                  <a:rPr kumimoji="1" lang="en-US" altLang="zh-CN" sz="20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                                                     0</a:t>
                </a:r>
                <a:r>
                  <a:rPr kumimoji="1" lang="zh-CN" altLang="en-US" sz="20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，如果</a:t>
                </a:r>
                <a:r>
                  <a:rPr kumimoji="1" lang="en-US" altLang="zh-CN" sz="20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LL</a:t>
                </a:r>
                <a14:m>
                  <m:oMath xmlns:m="http://schemas.openxmlformats.org/officeDocument/2006/math">
                    <m:sSub>
                      <m:sSubPr>
                        <m:ctrlPr>
                          <a:rPr kumimoji="1" lang="en-US" altLang="zh-CN" sz="2000" b="0" i="1" u="none" strike="noStrike" kern="1200" cap="none" spc="0" normalizeH="0" baseline="0" noProof="0" dirty="0" smtClean="0">
                            <a:ln>
                              <a:noFill/>
                            </a:ln>
                            <a:solidFill>
                              <a:schemeClr val="tx1"/>
                            </a:solidFill>
                            <a:effectLst/>
                            <a:uLnTx/>
                            <a:uFillTx/>
                            <a:latin typeface="Cambria Math" panose="02040503050406030204" pitchFamily="18" charset="0"/>
                            <a:ea typeface="黑体" panose="02010609060101010101" pitchFamily="49" charset="-122"/>
                            <a:cs typeface="+mn-cs"/>
                          </a:rPr>
                        </m:ctrlPr>
                      </m:sSubPr>
                      <m:e>
                        <m:r>
                          <a:rPr kumimoji="1" lang="en-US" altLang="zh-CN" sz="2000" b="0" i="1" u="none" strike="noStrike" kern="1200" cap="none" spc="0" normalizeH="0" baseline="0" noProof="0" dirty="0" smtClean="0">
                            <a:ln>
                              <a:noFill/>
                            </a:ln>
                            <a:solidFill>
                              <a:schemeClr val="tx1"/>
                            </a:solidFill>
                            <a:effectLst/>
                            <a:uLnTx/>
                            <a:uFillTx/>
                            <a:latin typeface="Cambria Math" panose="02040503050406030204" pitchFamily="18" charset="0"/>
                            <a:ea typeface="黑体" panose="02010609060101010101" pitchFamily="49" charset="-122"/>
                            <a:cs typeface="+mn-cs"/>
                          </a:rPr>
                          <m:t>𝑅</m:t>
                        </m:r>
                      </m:e>
                      <m:sub>
                        <m:r>
                          <m:rPr>
                            <m:sty m:val="p"/>
                          </m:rPr>
                          <a:rPr kumimoji="1" lang="en-US" altLang="zh-CN" sz="2000" i="1" dirty="0">
                            <a:latin typeface="Cambria Math" panose="02040503050406030204" pitchFamily="18" charset="0"/>
                            <a:ea typeface="黑体" panose="02010609060101010101" pitchFamily="49" charset="-122"/>
                            <a:cs typeface="+mn-cs"/>
                          </a:rPr>
                          <m:t>i</m:t>
                        </m:r>
                      </m:sub>
                    </m:sSub>
                    <m:r>
                      <a:rPr kumimoji="1" lang="zh-CN" altLang="en-US" sz="2000" i="1" dirty="0">
                        <a:latin typeface="Cambria Math" panose="02040503050406030204" pitchFamily="18" charset="0"/>
                        <a:ea typeface="黑体" panose="02010609060101010101" pitchFamily="49" charset="-122"/>
                        <a:cs typeface="+mn-cs"/>
                      </a:rPr>
                      <m:t>≥</m:t>
                    </m:r>
                  </m:oMath>
                </a14:m>
                <a:r>
                  <a:rPr kumimoji="1" lang="en-US" altLang="zh-CN" sz="20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rPr>
                  <a:t>0</a:t>
                </a:r>
                <a:endParaRPr kumimoji="1" lang="en-US" altLang="zh-CN" sz="20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p>
                <a:pPr>
                  <a:lnSpc>
                    <a:spcPct val="200000"/>
                  </a:lnSpc>
                </a:pPr>
                <a:r>
                  <a:rPr kumimoji="1" lang="zh-CN" altLang="en-US" sz="2000" dirty="0">
                    <a:latin typeface="+mn-lt"/>
                    <a:ea typeface="黑体" panose="02010609060101010101" pitchFamily="49" charset="-122"/>
                    <a:cs typeface="+mn-cs"/>
                  </a:rPr>
                  <a:t>      判别</a:t>
                </a:r>
                <a14:m>
                  <m:oMath xmlns:m="http://schemas.openxmlformats.org/officeDocument/2006/math">
                    <m:r>
                      <a:rPr kumimoji="1" lang="zh-CN" altLang="en-US" sz="2000">
                        <a:latin typeface="Cambria Math" panose="02040503050406030204" pitchFamily="18" charset="0"/>
                        <a:ea typeface="黑体" panose="02010609060101010101" pitchFamily="49" charset="-122"/>
                        <a:cs typeface="+mn-cs"/>
                      </a:rPr>
                      <m:t>条件</m:t>
                    </m:r>
                    <m:r>
                      <a:rPr kumimoji="1" lang="zh-CN" altLang="en-US" sz="2000" i="1" smtClean="0">
                        <a:latin typeface="Cambria Math" panose="02040503050406030204" pitchFamily="18" charset="0"/>
                        <a:ea typeface="黑体" panose="02010609060101010101" pitchFamily="49" charset="-122"/>
                        <a:cs typeface="+mn-cs"/>
                      </a:rPr>
                      <m:t>：</m:t>
                    </m:r>
                    <m:r>
                      <a:rPr kumimoji="1" lang="en-US" altLang="zh-CN" sz="2000">
                        <a:latin typeface="Cambria Math" panose="02040503050406030204" pitchFamily="18" charset="0"/>
                        <a:ea typeface="黑体" panose="02010609060101010101" pitchFamily="49" charset="-122"/>
                        <a:cs typeface="+mn-cs"/>
                      </a:rPr>
                      <m:t> </m:t>
                    </m:r>
                    <m:r>
                      <a:rPr kumimoji="1" lang="en-US" altLang="zh-CN" sz="2000" b="0" i="0" smtClean="0">
                        <a:latin typeface="Cambria Math" panose="02040503050406030204" pitchFamily="18" charset="0"/>
                        <a:ea typeface="黑体" panose="02010609060101010101" pitchFamily="49" charset="-122"/>
                        <a:cs typeface="+mn-cs"/>
                      </a:rPr>
                      <m:t>     </m:t>
                    </m:r>
                    <m:sSub>
                      <m:sSubPr>
                        <m:ctrlPr>
                          <a:rPr kumimoji="1" lang="zh-CN" altLang="en-US" sz="2000" i="1">
                            <a:latin typeface="Cambria Math" panose="02040503050406030204" pitchFamily="18" charset="0"/>
                            <a:ea typeface="黑体" panose="02010609060101010101" pitchFamily="49" charset="-122"/>
                            <a:cs typeface="+mn-cs"/>
                          </a:rPr>
                        </m:ctrlPr>
                      </m:sSubPr>
                      <m:e>
                        <m:r>
                          <m:rPr>
                            <m:sty m:val="p"/>
                          </m:rPr>
                          <a:rPr kumimoji="1" lang="en-US" altLang="zh-CN" sz="2000">
                            <a:latin typeface="Cambria Math" panose="02040503050406030204" pitchFamily="18" charset="0"/>
                            <a:ea typeface="黑体" panose="02010609060101010101" pitchFamily="49" charset="-122"/>
                            <a:cs typeface="+mn-cs"/>
                          </a:rPr>
                          <m:t>u</m:t>
                        </m:r>
                      </m:e>
                      <m:sub>
                        <m:r>
                          <m:rPr>
                            <m:sty m:val="p"/>
                          </m:rPr>
                          <a:rPr kumimoji="1" lang="en-US" altLang="zh-CN" sz="2000">
                            <a:latin typeface="Cambria Math" panose="02040503050406030204" pitchFamily="18" charset="0"/>
                            <a:ea typeface="黑体" panose="02010609060101010101" pitchFamily="49" charset="-122"/>
                            <a:cs typeface="+mn-cs"/>
                          </a:rPr>
                          <m:t>i</m:t>
                        </m:r>
                      </m:sub>
                    </m:sSub>
                    <m:r>
                      <a:rPr kumimoji="1" lang="en-US" altLang="zh-CN" sz="2000" i="1">
                        <a:latin typeface="Cambria Math" panose="02040503050406030204" pitchFamily="18" charset="0"/>
                        <a:ea typeface="黑体" panose="02010609060101010101" pitchFamily="49" charset="-122"/>
                        <a:cs typeface="+mn-cs"/>
                      </a:rPr>
                      <m:t>=</m:t>
                    </m:r>
                  </m:oMath>
                </a14:m>
                <a:endParaRPr kumimoji="1" lang="en-US" altLang="zh-CN" sz="2000" b="0" i="0" u="none" strike="noStrike" kern="1200" cap="none" spc="0" normalizeH="0" baseline="0" noProof="0" dirty="0">
                  <a:ln>
                    <a:noFill/>
                  </a:ln>
                  <a:solidFill>
                    <a:schemeClr val="tx1"/>
                  </a:solidFill>
                  <a:effectLst/>
                  <a:uLnTx/>
                  <a:uFillTx/>
                  <a:latin typeface="+mn-lt"/>
                  <a:ea typeface="黑体" panose="02010609060101010101" pitchFamily="49" charset="-122"/>
                  <a:cs typeface="+mn-cs"/>
                </a:endParaRPr>
              </a:p>
              <a:p>
                <a:pPr>
                  <a:lnSpc>
                    <a:spcPct val="200000"/>
                  </a:lnSpc>
                </a:pPr>
                <a:r>
                  <a:rPr kumimoji="1" lang="en-US" altLang="zh-CN" sz="2000" dirty="0">
                    <a:latin typeface="+mn-lt"/>
                    <a:ea typeface="+mn-ea"/>
                    <a:cs typeface="+mn-cs"/>
                  </a:rPr>
                  <a:t>                                                     1</a:t>
                </a:r>
                <a:r>
                  <a:rPr kumimoji="1" lang="zh-CN" altLang="en-US" sz="2000" dirty="0">
                    <a:latin typeface="+mn-lt"/>
                    <a:ea typeface="+mn-ea"/>
                    <a:cs typeface="+mn-cs"/>
                  </a:rPr>
                  <a:t>，其他</a:t>
                </a:r>
                <a:endParaRPr kumimoji="1" lang="en-US" altLang="zh-CN" sz="2000" dirty="0">
                  <a:latin typeface="+mn-lt"/>
                  <a:ea typeface="+mn-ea"/>
                  <a:cs typeface="+mn-cs"/>
                </a:endParaRPr>
              </a:p>
            </p:txBody>
          </p:sp>
        </mc:Choice>
        <mc:Fallback>
          <p:sp>
            <p:nvSpPr>
              <p:cNvPr id="6" name="文本框 5"/>
              <p:cNvSpPr txBox="1">
                <a:spLocks noRot="1" noChangeAspect="1" noMove="1" noResize="1" noEditPoints="1" noAdjustHandles="1" noChangeArrowheads="1" noChangeShapeType="1" noTextEdit="1"/>
              </p:cNvSpPr>
              <p:nvPr/>
            </p:nvSpPr>
            <p:spPr>
              <a:xfrm>
                <a:off x="244430" y="1066862"/>
                <a:ext cx="8655140" cy="4919873"/>
              </a:xfrm>
              <a:prstGeom prst="rect">
                <a:avLst/>
              </a:prstGeom>
              <a:blipFill rotWithShape="1">
                <a:blip r:embed="rId1"/>
                <a:stretch>
                  <a:fillRect l="-7" t="-1" r="1" b="-827"/>
                </a:stretch>
              </a:blipFill>
            </p:spPr>
            <p:txBody>
              <a:bodyPr/>
              <a:lstStyle/>
              <a:p>
                <a:r>
                  <a:rPr lang="zh-CN" altLang="en-US">
                    <a:noFill/>
                  </a:rPr>
                  <a:t> </a:t>
                </a:r>
              </a:p>
            </p:txBody>
          </p:sp>
        </mc:Fallback>
      </mc:AlternateContent>
      <p:sp>
        <p:nvSpPr>
          <p:cNvPr id="7" name="左大括号 6"/>
          <p:cNvSpPr/>
          <p:nvPr/>
        </p:nvSpPr>
        <p:spPr bwMode="auto">
          <a:xfrm>
            <a:off x="3124238" y="4533840"/>
            <a:ext cx="228594" cy="1295366"/>
          </a:xfrm>
          <a:prstGeom prst="leftBrace">
            <a:avLst/>
          </a:prstGeom>
          <a:ln w="12700"/>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v"/>
            </a:pPr>
            <a:endParaRPr kumimoji="1" lang="zh-CN" altLang="en-US" sz="2800" b="0" i="0" u="none" strike="noStrike" cap="none" normalizeH="0" baseline="0" dirty="0">
              <a:ln>
                <a:noFill/>
              </a:ln>
              <a:solidFill>
                <a:srgbClr val="336699"/>
              </a:solidFill>
              <a:effectLst/>
              <a:latin typeface="黑体" panose="02010609060101010101" pitchFamily="49" charset="-122"/>
              <a:ea typeface="黑体" panose="02010609060101010101" pitchFamily="49"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705544" y="224221"/>
            <a:ext cx="230028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解码示例</a:t>
            </a:r>
            <a:endParaRPr kumimoji="0" lang="zh-CN" altLang="en-US" sz="2400" b="1" kern="0" dirty="0">
              <a:solidFill>
                <a:srgbClr val="000000"/>
              </a:solidFill>
              <a:latin typeface="Arial" panose="020B0604020202020204" pitchFamily="3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4" name="内容占位符 2"/>
              <p:cNvSpPr txBox="1"/>
              <p:nvPr/>
            </p:nvSpPr>
            <p:spPr>
              <a:xfrm>
                <a:off x="381110" y="1371654"/>
                <a:ext cx="8118895" cy="4648078"/>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200000"/>
                  </a:lnSpc>
                  <a:spcBef>
                    <a:spcPts val="0"/>
                  </a:spcBef>
                  <a:spcAft>
                    <a:spcPts val="0"/>
                  </a:spcAft>
                  <a:buNone/>
                </a:pPr>
                <a:r>
                  <a:rPr lang="zh-CN" altLang="en-US" sz="2000" dirty="0">
                    <a:solidFill>
                      <a:schemeClr val="tx1"/>
                    </a:solidFill>
                    <a:highlight>
                      <a:srgbClr val="FFFF00"/>
                    </a:highlight>
                  </a:rPr>
                  <a:t>第三步：</a:t>
                </a:r>
                <a:r>
                  <a:rPr lang="zh-CN" altLang="en-US" sz="2000" dirty="0">
                    <a:solidFill>
                      <a:schemeClr val="tx1"/>
                    </a:solidFill>
                  </a:rPr>
                  <a:t>把上半部分（</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a:solidFill>
                              <a:schemeClr val="tx1"/>
                            </a:solidFill>
                            <a:latin typeface="Cambria Math" panose="02040503050406030204" pitchFamily="18" charset="0"/>
                          </a:rPr>
                          <m:t>1</m:t>
                        </m:r>
                      </m:sub>
                    </m:sSub>
                  </m:oMath>
                </a14:m>
                <a:r>
                  <a:rPr lang="zh-CN" altLang="en-US" sz="2000" dirty="0">
                    <a:solidFill>
                      <a:schemeClr val="tx1"/>
                    </a:solidFill>
                  </a:rPr>
                  <a:t>）当做已知比特，去解出</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b="0" i="0" smtClean="0">
                            <a:solidFill>
                              <a:schemeClr val="tx1"/>
                            </a:solidFill>
                            <a:latin typeface="Cambria Math" panose="02040503050406030204" pitchFamily="18" charset="0"/>
                          </a:rPr>
                          <m:t>2</m:t>
                        </m:r>
                      </m:sub>
                    </m:sSub>
                  </m:oMath>
                </a14:m>
                <a:r>
                  <a:rPr lang="zh-CN" altLang="en-US" sz="2000" dirty="0">
                    <a:solidFill>
                      <a:schemeClr val="tx1"/>
                    </a:solidFill>
                  </a:rPr>
                  <a:t>。此时应根据</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a:solidFill>
                              <a:schemeClr val="tx1"/>
                            </a:solidFill>
                            <a:latin typeface="Cambria Math" panose="02040503050406030204" pitchFamily="18" charset="0"/>
                          </a:rPr>
                          <m:t>1</m:t>
                        </m:r>
                      </m:sub>
                    </m:sSub>
                    <m:r>
                      <a:rPr lang="en-US" altLang="zh-CN" sz="2000" i="1">
                        <a:solidFill>
                          <a:schemeClr val="tx1"/>
                        </a:solidFill>
                        <a:latin typeface="Cambria Math" panose="02040503050406030204" pitchFamily="18" charset="0"/>
                      </a:rPr>
                      <m:t> </m:t>
                    </m:r>
                    <m:r>
                      <a:rPr lang="zh-CN" altLang="en-US" sz="2000" i="1">
                        <a:solidFill>
                          <a:schemeClr val="tx1"/>
                        </a:solidFill>
                        <a:latin typeface="Cambria Math" panose="02040503050406030204" pitchFamily="18" charset="0"/>
                      </a:rPr>
                      <m:t>的</m:t>
                    </m:r>
                  </m:oMath>
                </a14:m>
                <a:r>
                  <a:rPr lang="zh-CN" altLang="en-US" sz="2000" dirty="0">
                    <a:solidFill>
                      <a:schemeClr val="tx1"/>
                    </a:solidFill>
                  </a:rPr>
                  <a:t>取值（</a:t>
                </a:r>
                <a:r>
                  <a:rPr lang="en-US" altLang="zh-CN" sz="2000" dirty="0">
                    <a:solidFill>
                      <a:schemeClr val="tx1"/>
                    </a:solidFill>
                  </a:rPr>
                  <a:t>0,1</a:t>
                </a:r>
                <a:r>
                  <a:rPr lang="zh-CN" altLang="en-US" sz="2000" dirty="0">
                    <a:solidFill>
                      <a:schemeClr val="tx1"/>
                    </a:solidFill>
                  </a:rPr>
                  <a:t>）来对临时变量进行</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t</m:t>
                        </m:r>
                      </m:e>
                      <m:sub>
                        <m:r>
                          <a:rPr lang="en-US" altLang="zh-CN" sz="2000">
                            <a:solidFill>
                              <a:schemeClr val="tx1"/>
                            </a:solidFill>
                            <a:latin typeface="Cambria Math" panose="02040503050406030204" pitchFamily="18" charset="0"/>
                          </a:rPr>
                          <m:t>1</m:t>
                        </m:r>
                      </m:sub>
                    </m:sSub>
                    <m:sSub>
                      <m:sSubPr>
                        <m:ctrlPr>
                          <a:rPr lang="zh-CN" altLang="en-US" sz="2000" i="1">
                            <a:solidFill>
                              <a:schemeClr val="tx1"/>
                            </a:solidFill>
                            <a:latin typeface="Cambria Math" panose="02040503050406030204" pitchFamily="18" charset="0"/>
                          </a:rPr>
                        </m:ctrlPr>
                      </m:sSubPr>
                      <m:e>
                        <m:r>
                          <a:rPr lang="en-US" altLang="zh-CN" sz="2000">
                            <a:solidFill>
                              <a:schemeClr val="tx1"/>
                            </a:solidFill>
                            <a:latin typeface="Cambria Math" panose="02040503050406030204" pitchFamily="18" charset="0"/>
                          </a:rPr>
                          <m:t>,</m:t>
                        </m:r>
                        <m:r>
                          <m:rPr>
                            <m:sty m:val="p"/>
                          </m:rPr>
                          <a:rPr lang="en-US" altLang="zh-CN" sz="2000" i="1">
                            <a:solidFill>
                              <a:schemeClr val="tx1"/>
                            </a:solidFill>
                            <a:latin typeface="Cambria Math" panose="02040503050406030204" pitchFamily="18" charset="0"/>
                          </a:rPr>
                          <m:t>t</m:t>
                        </m:r>
                      </m:e>
                      <m:sub>
                        <m:r>
                          <a:rPr lang="en-US" altLang="zh-CN" sz="2000">
                            <a:solidFill>
                              <a:schemeClr val="tx1"/>
                            </a:solidFill>
                            <a:latin typeface="Cambria Math" panose="02040503050406030204" pitchFamily="18" charset="0"/>
                          </a:rPr>
                          <m:t>2</m:t>
                        </m:r>
                      </m:sub>
                    </m:sSub>
                  </m:oMath>
                </a14:m>
                <a:r>
                  <a:rPr lang="zh-CN" altLang="en-US" sz="2000" dirty="0">
                    <a:solidFill>
                      <a:schemeClr val="tx1"/>
                    </a:solidFill>
                  </a:rPr>
                  <a:t>的操作，然后再译出</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a:solidFill>
                              <a:schemeClr val="tx1"/>
                            </a:solidFill>
                            <a:latin typeface="Cambria Math" panose="02040503050406030204" pitchFamily="18" charset="0"/>
                          </a:rPr>
                          <m:t>2</m:t>
                        </m:r>
                      </m:sub>
                    </m:sSub>
                  </m:oMath>
                </a14:m>
                <a:r>
                  <a:rPr lang="zh-CN" altLang="en-US" sz="2000" dirty="0">
                    <a:solidFill>
                      <a:schemeClr val="tx1"/>
                    </a:solidFill>
                  </a:rPr>
                  <a:t>。</a:t>
                </a:r>
                <a:endParaRPr lang="en-US" altLang="zh-CN" sz="2000" dirty="0">
                  <a:solidFill>
                    <a:schemeClr val="tx1"/>
                  </a:solidFill>
                </a:endParaRPr>
              </a:p>
              <a:p>
                <a:pPr marL="0" indent="0">
                  <a:lnSpc>
                    <a:spcPct val="200000"/>
                  </a:lnSpc>
                  <a:spcBef>
                    <a:spcPts val="0"/>
                  </a:spcBef>
                  <a:spcAft>
                    <a:spcPts val="0"/>
                  </a:spcAft>
                  <a:buNone/>
                </a:pPr>
                <a:r>
                  <a:rPr lang="en-US" altLang="zh-CN" sz="2000" dirty="0">
                    <a:solidFill>
                      <a:schemeClr val="tx1"/>
                    </a:solidFill>
                  </a:rPr>
                  <a:t>        </a:t>
                </a:r>
                <a:r>
                  <a:rPr lang="zh-CN" altLang="en-US" sz="2000" dirty="0">
                    <a:solidFill>
                      <a:schemeClr val="tx1"/>
                    </a:solidFill>
                  </a:rPr>
                  <a:t>根据编码规则，如果</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a:solidFill>
                              <a:schemeClr val="tx1"/>
                            </a:solidFill>
                            <a:latin typeface="Cambria Math" panose="02040503050406030204" pitchFamily="18" charset="0"/>
                          </a:rPr>
                          <m:t>1</m:t>
                        </m:r>
                      </m:sub>
                    </m:sSub>
                  </m:oMath>
                </a14:m>
                <a:r>
                  <a:rPr lang="en-US" altLang="zh-CN" sz="2000" dirty="0">
                    <a:solidFill>
                      <a:schemeClr val="tx1"/>
                    </a:solidFill>
                  </a:rPr>
                  <a:t>=0</a:t>
                </a:r>
                <a:r>
                  <a:rPr lang="zh-CN" altLang="en-US" sz="2000" dirty="0">
                    <a:solidFill>
                      <a:schemeClr val="tx1"/>
                    </a:solidFill>
                  </a:rPr>
                  <a:t>，则编码之后有</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t</m:t>
                        </m:r>
                      </m:e>
                      <m:sub>
                        <m:r>
                          <a:rPr lang="en-US" altLang="zh-CN" sz="2000">
                            <a:solidFill>
                              <a:schemeClr val="tx1"/>
                            </a:solidFill>
                            <a:latin typeface="Cambria Math" panose="02040503050406030204" pitchFamily="18" charset="0"/>
                          </a:rPr>
                          <m:t>1</m:t>
                        </m:r>
                      </m:sub>
                    </m:sSub>
                    <m:sSub>
                      <m:sSubPr>
                        <m:ctrlPr>
                          <a:rPr lang="zh-CN" altLang="en-US" sz="2000" i="1">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m:t>
                        </m:r>
                        <m:r>
                          <m:rPr>
                            <m:sty m:val="p"/>
                          </m:rPr>
                          <a:rPr lang="en-US" altLang="zh-CN" sz="2000" i="1">
                            <a:solidFill>
                              <a:schemeClr val="tx1"/>
                            </a:solidFill>
                            <a:latin typeface="Cambria Math" panose="02040503050406030204" pitchFamily="18" charset="0"/>
                          </a:rPr>
                          <m:t>t</m:t>
                        </m:r>
                      </m:e>
                      <m:sub>
                        <m:r>
                          <a:rPr lang="en-US" altLang="zh-CN" sz="2000">
                            <a:solidFill>
                              <a:schemeClr val="tx1"/>
                            </a:solidFill>
                            <a:latin typeface="Cambria Math" panose="02040503050406030204" pitchFamily="18" charset="0"/>
                          </a:rPr>
                          <m:t>2</m:t>
                        </m:r>
                      </m:sub>
                    </m:sSub>
                  </m:oMath>
                </a14:m>
                <a:r>
                  <a:rPr lang="zh-CN" altLang="en-US" sz="2000" dirty="0">
                    <a:solidFill>
                      <a:schemeClr val="tx1"/>
                    </a:solidFill>
                  </a:rPr>
                  <a:t>，那么对</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a:solidFill>
                              <a:schemeClr val="tx1"/>
                            </a:solidFill>
                            <a:latin typeface="Cambria Math" panose="02040503050406030204" pitchFamily="18" charset="0"/>
                          </a:rPr>
                          <m:t>2</m:t>
                        </m:r>
                      </m:sub>
                    </m:sSub>
                  </m:oMath>
                </a14:m>
                <a:r>
                  <a:rPr lang="zh-CN" altLang="en-US" sz="2000" dirty="0">
                    <a:solidFill>
                      <a:schemeClr val="tx1"/>
                    </a:solidFill>
                  </a:rPr>
                  <a:t>进行解码时，</a:t>
                </a:r>
                <a14:m>
                  <m:oMath xmlns:m="http://schemas.openxmlformats.org/officeDocument/2006/math">
                    <m:sSub>
                      <m:sSubPr>
                        <m:ctrlPr>
                          <a:rPr lang="en-US" altLang="zh-CN" sz="2000" i="1">
                            <a:solidFill>
                              <a:schemeClr val="tx1"/>
                            </a:solidFill>
                            <a:latin typeface="Cambria Math" panose="02040503050406030204" pitchFamily="18" charset="0"/>
                          </a:rPr>
                        </m:ctrlPr>
                      </m:sSubPr>
                      <m:e>
                        <m:r>
                          <m:rPr>
                            <m:sty m:val="p"/>
                          </m:rPr>
                          <a:rPr lang="en-US" altLang="zh-CN" sz="2000" i="1" smtClean="0">
                            <a:solidFill>
                              <a:schemeClr val="tx1"/>
                            </a:solidFill>
                            <a:latin typeface="Cambria Math" panose="02040503050406030204" pitchFamily="18" charset="0"/>
                          </a:rPr>
                          <m:t>z</m:t>
                        </m:r>
                      </m:e>
                      <m:sub>
                        <m:r>
                          <a:rPr lang="en-US" altLang="zh-CN" sz="2000" b="0" i="1" smtClean="0">
                            <a:solidFill>
                              <a:schemeClr val="tx1"/>
                            </a:solidFill>
                            <a:latin typeface="Cambria Math" panose="02040503050406030204" pitchFamily="18" charset="0"/>
                          </a:rPr>
                          <m:t>2</m:t>
                        </m:r>
                      </m:sub>
                    </m:sSub>
                    <m:r>
                      <a:rPr lang="en-US" altLang="zh-CN" sz="2000" i="1">
                        <a:solidFill>
                          <a:schemeClr val="tx1"/>
                        </a:solidFill>
                        <a:latin typeface="Cambria Math" panose="02040503050406030204" pitchFamily="18" charset="0"/>
                      </a:rPr>
                      <m:t>=</m:t>
                    </m:r>
                    <m:sSub>
                      <m:sSubPr>
                        <m:ctrlPr>
                          <a:rPr lang="en-US" altLang="zh-CN" sz="2000" i="1">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𝑡</m:t>
                        </m:r>
                      </m:e>
                      <m:sub>
                        <m:r>
                          <a:rPr lang="en-US" altLang="zh-CN" sz="2000" i="1">
                            <a:solidFill>
                              <a:schemeClr val="tx1"/>
                            </a:solidFill>
                            <a:latin typeface="Cambria Math" panose="02040503050406030204" pitchFamily="18" charset="0"/>
                          </a:rPr>
                          <m:t>1</m:t>
                        </m:r>
                      </m:sub>
                    </m:sSub>
                    <m:r>
                      <a:rPr lang="en-US" altLang="zh-CN" sz="2000" i="1">
                        <a:solidFill>
                          <a:schemeClr val="tx1"/>
                        </a:solidFill>
                        <a:latin typeface="Cambria Math" panose="02040503050406030204" pitchFamily="18" charset="0"/>
                      </a:rPr>
                      <m:t>+</m:t>
                    </m:r>
                    <m:sSub>
                      <m:sSubPr>
                        <m:ctrlPr>
                          <a:rPr lang="en-US" altLang="zh-CN" sz="2000" i="1">
                            <a:solidFill>
                              <a:schemeClr val="tx1"/>
                            </a:solidFill>
                            <a:latin typeface="Cambria Math" panose="02040503050406030204" pitchFamily="18" charset="0"/>
                          </a:rPr>
                        </m:ctrlPr>
                      </m:sSubPr>
                      <m:e>
                        <m:r>
                          <m:rPr>
                            <m:sty m:val="p"/>
                          </m:rPr>
                          <a:rPr lang="en-US" altLang="zh-CN" sz="2000" i="1" smtClean="0">
                            <a:solidFill>
                              <a:schemeClr val="tx1"/>
                            </a:solidFill>
                            <a:latin typeface="Cambria Math" panose="02040503050406030204" pitchFamily="18" charset="0"/>
                          </a:rPr>
                          <m:t>t</m:t>
                        </m:r>
                      </m:e>
                      <m:sub>
                        <m:r>
                          <a:rPr lang="en-US" altLang="zh-CN" sz="2000" b="0" i="1" smtClean="0">
                            <a:solidFill>
                              <a:schemeClr val="tx1"/>
                            </a:solidFill>
                            <a:latin typeface="Cambria Math" panose="02040503050406030204" pitchFamily="18" charset="0"/>
                          </a:rPr>
                          <m:t>2</m:t>
                        </m:r>
                      </m:sub>
                    </m:sSub>
                  </m:oMath>
                </a14:m>
                <a:r>
                  <a:rPr lang="zh-CN" altLang="en-US" sz="2000" dirty="0">
                    <a:solidFill>
                      <a:schemeClr val="tx1"/>
                    </a:solidFill>
                  </a:rPr>
                  <a:t>，对</a:t>
                </a:r>
                <a14:m>
                  <m:oMath xmlns:m="http://schemas.openxmlformats.org/officeDocument/2006/math">
                    <m:sSub>
                      <m:sSubPr>
                        <m:ctrlPr>
                          <a:rPr lang="en-US" altLang="zh-CN"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z</m:t>
                        </m:r>
                      </m:e>
                      <m:sub>
                        <m:r>
                          <a:rPr lang="en-US" altLang="zh-CN" sz="2000" i="1">
                            <a:solidFill>
                              <a:schemeClr val="tx1"/>
                            </a:solidFill>
                            <a:latin typeface="Cambria Math" panose="02040503050406030204" pitchFamily="18" charset="0"/>
                          </a:rPr>
                          <m:t>2</m:t>
                        </m:r>
                      </m:sub>
                    </m:sSub>
                  </m:oMath>
                </a14:m>
                <a:r>
                  <a:rPr lang="zh-CN" altLang="en-US" sz="2000" dirty="0">
                    <a:solidFill>
                      <a:schemeClr val="tx1"/>
                    </a:solidFill>
                  </a:rPr>
                  <a:t>进行判决得到</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a:solidFill>
                              <a:schemeClr val="tx1"/>
                            </a:solidFill>
                            <a:latin typeface="Cambria Math" panose="02040503050406030204" pitchFamily="18" charset="0"/>
                          </a:rPr>
                          <m:t>2</m:t>
                        </m:r>
                      </m:sub>
                    </m:sSub>
                  </m:oMath>
                </a14:m>
                <a:r>
                  <a:rPr lang="zh-CN" altLang="en-US" sz="2000" dirty="0">
                    <a:solidFill>
                      <a:schemeClr val="tx1"/>
                    </a:solidFill>
                  </a:rPr>
                  <a:t>；</a:t>
                </a:r>
                <a:endParaRPr lang="en-US" altLang="zh-CN" sz="2000" dirty="0">
                  <a:solidFill>
                    <a:schemeClr val="tx1"/>
                  </a:solidFill>
                </a:endParaRPr>
              </a:p>
              <a:p>
                <a:pPr marL="0" indent="0">
                  <a:lnSpc>
                    <a:spcPct val="200000"/>
                  </a:lnSpc>
                  <a:spcBef>
                    <a:spcPts val="0"/>
                  </a:spcBef>
                  <a:spcAft>
                    <a:spcPts val="0"/>
                  </a:spcAft>
                  <a:buNone/>
                </a:pPr>
                <a:r>
                  <a:rPr lang="en-US" altLang="zh-CN" sz="2000" dirty="0">
                    <a:solidFill>
                      <a:schemeClr val="tx1"/>
                    </a:solidFill>
                  </a:rPr>
                  <a:t>        </a:t>
                </a:r>
                <a:r>
                  <a:rPr lang="zh-CN" altLang="en-US" sz="2000" dirty="0">
                    <a:solidFill>
                      <a:schemeClr val="tx1"/>
                    </a:solidFill>
                  </a:rPr>
                  <a:t>若</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a:solidFill>
                              <a:schemeClr val="tx1"/>
                            </a:solidFill>
                            <a:latin typeface="Cambria Math" panose="02040503050406030204" pitchFamily="18" charset="0"/>
                          </a:rPr>
                          <m:t>1</m:t>
                        </m:r>
                      </m:sub>
                    </m:sSub>
                  </m:oMath>
                </a14:m>
                <a:r>
                  <a:rPr lang="en-US" altLang="zh-CN" sz="2000" dirty="0">
                    <a:solidFill>
                      <a:schemeClr val="tx1"/>
                    </a:solidFill>
                  </a:rPr>
                  <a:t>=1</a:t>
                </a:r>
                <a:r>
                  <a:rPr lang="zh-CN" altLang="en-US" sz="2000" dirty="0">
                    <a:solidFill>
                      <a:schemeClr val="tx1"/>
                    </a:solidFill>
                  </a:rPr>
                  <a:t>，则在编码之后有</a:t>
                </a:r>
                <a14:m>
                  <m:oMath xmlns:m="http://schemas.openxmlformats.org/officeDocument/2006/math">
                    <m:sSub>
                      <m:sSubPr>
                        <m:ctrlPr>
                          <a:rPr lang="en-US" altLang="zh-CN"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t</m:t>
                        </m:r>
                      </m:e>
                      <m:sub>
                        <m:r>
                          <a:rPr lang="en-US" altLang="zh-CN" sz="2000" b="0" i="1" smtClean="0">
                            <a:solidFill>
                              <a:schemeClr val="tx1"/>
                            </a:solidFill>
                            <a:latin typeface="Cambria Math" panose="02040503050406030204" pitchFamily="18" charset="0"/>
                          </a:rPr>
                          <m:t>1</m:t>
                        </m:r>
                      </m:sub>
                    </m:sSub>
                    <m:r>
                      <a:rPr lang="en-US" altLang="zh-CN" sz="2000" i="1">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1</m:t>
                    </m:r>
                    <m:r>
                      <a:rPr lang="en-US" altLang="zh-CN" sz="2000" i="1">
                        <a:solidFill>
                          <a:schemeClr val="tx1"/>
                        </a:solidFill>
                        <a:latin typeface="Cambria Math" panose="02040503050406030204" pitchFamily="18" charset="0"/>
                      </a:rPr>
                      <m:t> − </m:t>
                    </m:r>
                    <m:sSub>
                      <m:sSubPr>
                        <m:ctrlPr>
                          <a:rPr lang="en-US" altLang="zh-CN"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t</m:t>
                        </m:r>
                      </m:e>
                      <m:sub>
                        <m:r>
                          <a:rPr lang="en-US" altLang="zh-CN" sz="2000" i="1">
                            <a:solidFill>
                              <a:schemeClr val="tx1"/>
                            </a:solidFill>
                            <a:latin typeface="Cambria Math" panose="02040503050406030204" pitchFamily="18" charset="0"/>
                          </a:rPr>
                          <m:t>2</m:t>
                        </m:r>
                      </m:sub>
                    </m:sSub>
                  </m:oMath>
                </a14:m>
                <a:r>
                  <a:rPr lang="zh-CN" altLang="en-US" sz="2000" dirty="0">
                    <a:solidFill>
                      <a:schemeClr val="tx1"/>
                    </a:solidFill>
                  </a:rPr>
                  <a:t>（经</a:t>
                </a:r>
                <a:r>
                  <a:rPr lang="en-US" altLang="zh-CN" sz="2000" dirty="0">
                    <a:solidFill>
                      <a:schemeClr val="tx1"/>
                    </a:solidFill>
                  </a:rPr>
                  <a:t>BPSK</a:t>
                </a:r>
                <a:r>
                  <a:rPr lang="zh-CN" altLang="en-US" sz="2000" dirty="0">
                    <a:solidFill>
                      <a:schemeClr val="tx1"/>
                    </a:solidFill>
                  </a:rPr>
                  <a:t>后</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t</m:t>
                        </m:r>
                      </m:e>
                      <m:sub>
                        <m:r>
                          <a:rPr lang="en-US" altLang="zh-CN" sz="2000">
                            <a:solidFill>
                              <a:schemeClr val="tx1"/>
                            </a:solidFill>
                            <a:latin typeface="Cambria Math" panose="02040503050406030204" pitchFamily="18" charset="0"/>
                          </a:rPr>
                          <m:t>1</m:t>
                        </m:r>
                      </m:sub>
                    </m:sSub>
                    <m:sSub>
                      <m:sSubPr>
                        <m:ctrlPr>
                          <a:rPr lang="zh-CN" altLang="en-US" sz="2000" i="1">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 </m:t>
                        </m:r>
                        <m:r>
                          <m:rPr>
                            <m:sty m:val="p"/>
                          </m:rPr>
                          <a:rPr lang="en-US" altLang="zh-CN" sz="2000" i="1">
                            <a:solidFill>
                              <a:schemeClr val="tx1"/>
                            </a:solidFill>
                            <a:latin typeface="Cambria Math" panose="02040503050406030204" pitchFamily="18" charset="0"/>
                          </a:rPr>
                          <m:t>t</m:t>
                        </m:r>
                      </m:e>
                      <m:sub>
                        <m:r>
                          <a:rPr lang="en-US" altLang="zh-CN" sz="2000">
                            <a:solidFill>
                              <a:schemeClr val="tx1"/>
                            </a:solidFill>
                            <a:latin typeface="Cambria Math" panose="02040503050406030204" pitchFamily="18" charset="0"/>
                          </a:rPr>
                          <m:t>2</m:t>
                        </m:r>
                      </m:sub>
                    </m:sSub>
                    <m:r>
                      <a:rPr lang="en-US" altLang="zh-CN" sz="2000" i="1">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0</m:t>
                    </m:r>
                    <m:r>
                      <a:rPr lang="en-US" altLang="zh-CN" sz="2000" i="1">
                        <a:solidFill>
                          <a:schemeClr val="tx1"/>
                        </a:solidFill>
                        <a:latin typeface="Cambria Math" panose="02040503050406030204" pitchFamily="18" charset="0"/>
                      </a:rPr>
                      <m:t> </m:t>
                    </m:r>
                  </m:oMath>
                </a14:m>
                <a:r>
                  <a:rPr lang="zh-CN" altLang="en-US" sz="2000" dirty="0">
                    <a:solidFill>
                      <a:schemeClr val="tx1"/>
                    </a:solidFill>
                  </a:rPr>
                  <a:t>），那么对</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a:solidFill>
                              <a:schemeClr val="tx1"/>
                            </a:solidFill>
                            <a:latin typeface="Cambria Math" panose="02040503050406030204" pitchFamily="18" charset="0"/>
                          </a:rPr>
                          <m:t>2</m:t>
                        </m:r>
                      </m:sub>
                    </m:sSub>
                  </m:oMath>
                </a14:m>
                <a:r>
                  <a:rPr lang="zh-CN" altLang="en-US" sz="2000" dirty="0">
                    <a:solidFill>
                      <a:schemeClr val="tx1"/>
                    </a:solidFill>
                  </a:rPr>
                  <a:t>解码时，有</a:t>
                </a:r>
                <a14:m>
                  <m:oMath xmlns:m="http://schemas.openxmlformats.org/officeDocument/2006/math">
                    <m:sSub>
                      <m:sSubPr>
                        <m:ctrlPr>
                          <a:rPr lang="en-US" altLang="zh-CN"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z</m:t>
                        </m:r>
                      </m:e>
                      <m:sub>
                        <m:r>
                          <a:rPr lang="en-US" altLang="zh-CN" sz="2000" i="1">
                            <a:solidFill>
                              <a:schemeClr val="tx1"/>
                            </a:solidFill>
                            <a:latin typeface="Cambria Math" panose="02040503050406030204" pitchFamily="18" charset="0"/>
                          </a:rPr>
                          <m:t>2</m:t>
                        </m:r>
                      </m:sub>
                    </m:sSub>
                    <m:r>
                      <a:rPr lang="en-US" altLang="zh-CN" sz="2000" i="1">
                        <a:solidFill>
                          <a:schemeClr val="tx1"/>
                        </a:solidFill>
                        <a:latin typeface="Cambria Math" panose="02040503050406030204" pitchFamily="18" charset="0"/>
                      </a:rPr>
                      <m:t>=</m:t>
                    </m:r>
                    <m:sSub>
                      <m:sSubPr>
                        <m:ctrlPr>
                          <a:rPr lang="en-US" altLang="zh-CN" sz="2000" i="1">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𝑡</m:t>
                        </m:r>
                      </m:e>
                      <m:sub>
                        <m:r>
                          <a:rPr lang="en-US" altLang="zh-CN" sz="2000" b="0" i="1" smtClean="0">
                            <a:solidFill>
                              <a:schemeClr val="tx1"/>
                            </a:solidFill>
                            <a:latin typeface="Cambria Math" panose="02040503050406030204" pitchFamily="18" charset="0"/>
                          </a:rPr>
                          <m:t>2</m:t>
                        </m:r>
                      </m:sub>
                    </m:sSub>
                    <m:r>
                      <a:rPr lang="en-US" altLang="zh-CN" sz="2000" i="1">
                        <a:solidFill>
                          <a:schemeClr val="tx1"/>
                        </a:solidFill>
                        <a:latin typeface="Cambria Math" panose="02040503050406030204" pitchFamily="18" charset="0"/>
                      </a:rPr>
                      <m:t>−</m:t>
                    </m:r>
                    <m:sSub>
                      <m:sSubPr>
                        <m:ctrlPr>
                          <a:rPr lang="en-US" altLang="zh-CN"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t</m:t>
                        </m:r>
                      </m:e>
                      <m:sub>
                        <m:r>
                          <a:rPr lang="en-US" altLang="zh-CN" sz="2000" b="0" i="1" smtClean="0">
                            <a:solidFill>
                              <a:schemeClr val="tx1"/>
                            </a:solidFill>
                            <a:latin typeface="Cambria Math" panose="02040503050406030204" pitchFamily="18" charset="0"/>
                          </a:rPr>
                          <m:t>1</m:t>
                        </m:r>
                      </m:sub>
                    </m:sSub>
                  </m:oMath>
                </a14:m>
                <a:r>
                  <a:rPr lang="zh-CN" altLang="en-US" sz="2000" dirty="0">
                    <a:solidFill>
                      <a:schemeClr val="tx1"/>
                    </a:solidFill>
                  </a:rPr>
                  <a:t>，对</a:t>
                </a:r>
                <a14:m>
                  <m:oMath xmlns:m="http://schemas.openxmlformats.org/officeDocument/2006/math">
                    <m:sSub>
                      <m:sSubPr>
                        <m:ctrlPr>
                          <a:rPr lang="en-US" altLang="zh-CN"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z</m:t>
                        </m:r>
                      </m:e>
                      <m:sub>
                        <m:r>
                          <a:rPr lang="en-US" altLang="zh-CN" sz="2000" i="1">
                            <a:solidFill>
                              <a:schemeClr val="tx1"/>
                            </a:solidFill>
                            <a:latin typeface="Cambria Math" panose="02040503050406030204" pitchFamily="18" charset="0"/>
                          </a:rPr>
                          <m:t>2</m:t>
                        </m:r>
                      </m:sub>
                    </m:sSub>
                  </m:oMath>
                </a14:m>
                <a:r>
                  <a:rPr lang="zh-CN" altLang="en-US" sz="2000" dirty="0">
                    <a:solidFill>
                      <a:schemeClr val="tx1"/>
                    </a:solidFill>
                  </a:rPr>
                  <a:t>进行判决，得到</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b="0" i="0" smtClean="0">
                            <a:solidFill>
                              <a:schemeClr val="tx1"/>
                            </a:solidFill>
                            <a:latin typeface="Cambria Math" panose="02040503050406030204" pitchFamily="18" charset="0"/>
                          </a:rPr>
                          <m:t>2</m:t>
                        </m:r>
                      </m:sub>
                    </m:sSub>
                  </m:oMath>
                </a14:m>
                <a:r>
                  <a:rPr lang="en-US" altLang="zh-CN" sz="2000" dirty="0">
                    <a:solidFill>
                      <a:schemeClr val="tx1"/>
                    </a:solidFill>
                  </a:rPr>
                  <a:t>=1</a:t>
                </a:r>
                <a:r>
                  <a:rPr lang="zh-CN" altLang="en-US" sz="2000" dirty="0">
                    <a:solidFill>
                      <a:schemeClr val="tx1"/>
                    </a:solidFill>
                  </a:rPr>
                  <a:t>（解码正确）</a:t>
                </a:r>
                <a:endParaRPr lang="en-US" altLang="zh-CN" sz="2000" dirty="0">
                  <a:solidFill>
                    <a:schemeClr val="tx1"/>
                  </a:solidFill>
                </a:endParaRPr>
              </a:p>
              <a:p>
                <a:pPr marL="0" indent="0" algn="ctr">
                  <a:lnSpc>
                    <a:spcPct val="150000"/>
                  </a:lnSpc>
                  <a:spcBef>
                    <a:spcPts val="0"/>
                  </a:spcBef>
                  <a:spcAft>
                    <a:spcPts val="0"/>
                  </a:spcAft>
                  <a:buNone/>
                </a:pPr>
                <a:endParaRPr lang="en-US" altLang="zh-CN" sz="2000" dirty="0">
                  <a:solidFill>
                    <a:schemeClr val="tx1"/>
                  </a:solidFill>
                  <a:latin typeface="+mn-ea"/>
                </a:endParaRPr>
              </a:p>
              <a:p>
                <a:pPr marL="0" indent="0">
                  <a:lnSpc>
                    <a:spcPct val="150000"/>
                  </a:lnSpc>
                  <a:spcBef>
                    <a:spcPts val="0"/>
                  </a:spcBef>
                  <a:spcAft>
                    <a:spcPts val="0"/>
                  </a:spcAft>
                  <a:buNone/>
                </a:pPr>
                <a:endParaRPr lang="en-US" altLang="zh-CN" sz="2000" dirty="0">
                  <a:solidFill>
                    <a:schemeClr val="tx1"/>
                  </a:solidFill>
                  <a:latin typeface="+mn-ea"/>
                </a:endParaRPr>
              </a:p>
              <a:p>
                <a:pPr marL="0" indent="0">
                  <a:lnSpc>
                    <a:spcPct val="150000"/>
                  </a:lnSpc>
                  <a:spcBef>
                    <a:spcPts val="0"/>
                  </a:spcBef>
                  <a:spcAft>
                    <a:spcPts val="0"/>
                  </a:spcAft>
                  <a:buNone/>
                </a:pPr>
                <a:endParaRPr lang="en-US" altLang="zh-CN" sz="2000" dirty="0">
                  <a:solidFill>
                    <a:schemeClr val="tx1"/>
                  </a:solidFill>
                  <a:latin typeface="+mn-ea"/>
                </a:endParaRPr>
              </a:p>
            </p:txBody>
          </p:sp>
        </mc:Choice>
        <mc:Fallback>
          <p:sp>
            <p:nvSpPr>
              <p:cNvPr id="4" name="内容占位符 2"/>
              <p:cNvSpPr txBox="1">
                <a:spLocks noRot="1" noChangeAspect="1" noMove="1" noResize="1" noEditPoints="1" noAdjustHandles="1" noChangeArrowheads="1" noChangeShapeType="1" noTextEdit="1"/>
              </p:cNvSpPr>
              <p:nvPr/>
            </p:nvSpPr>
            <p:spPr>
              <a:xfrm>
                <a:off x="381110" y="1371654"/>
                <a:ext cx="8118895" cy="4648078"/>
              </a:xfrm>
              <a:prstGeom prst="rect">
                <a:avLst/>
              </a:prstGeom>
              <a:blipFill rotWithShape="1">
                <a:blip r:embed="rId1"/>
                <a:stretch>
                  <a:fillRect l="-1" t="-1" r="7" b="-22420"/>
                </a:stretch>
              </a:blipFill>
              <a:ln w="9525">
                <a:noFill/>
              </a:ln>
            </p:spPr>
            <p:style>
              <a:lnRef idx="0">
                <a:scrgbClr r="0" g="0" b="0"/>
              </a:lnRef>
              <a:fillRef idx="0">
                <a:scrgbClr r="0" g="0" b="0"/>
              </a:fillRef>
              <a:effectRef idx="0">
                <a:scrgbClr r="0" g="0" b="0"/>
              </a:effectRef>
              <a:fontRef idx="minor">
                <a:schemeClr val="dk1"/>
              </a:fontRef>
            </p:style>
            <p:txBody>
              <a:bodyPr/>
              <a:lstStyle/>
              <a:p>
                <a:r>
                  <a:rPr lang="zh-CN" altLang="en-US">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705544" y="224221"/>
            <a:ext cx="230028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解码示例</a:t>
            </a:r>
            <a:endParaRPr kumimoji="0" lang="zh-CN" altLang="en-US" sz="2400" b="1" kern="0" dirty="0">
              <a:solidFill>
                <a:srgbClr val="000000"/>
              </a:solidFill>
              <a:latin typeface="Arial" panose="020B0604020202020204" pitchFamily="3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4" name="内容占位符 2"/>
              <p:cNvSpPr txBox="1"/>
              <p:nvPr/>
            </p:nvSpPr>
            <p:spPr>
              <a:xfrm>
                <a:off x="263005" y="1371654"/>
                <a:ext cx="8617989" cy="4381385"/>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200000"/>
                  </a:lnSpc>
                  <a:spcBef>
                    <a:spcPts val="3000"/>
                  </a:spcBef>
                  <a:spcAft>
                    <a:spcPts val="3000"/>
                  </a:spcAft>
                  <a:buNone/>
                </a:pPr>
                <a:r>
                  <a:rPr lang="zh-CN" altLang="en-US" sz="2000" dirty="0">
                    <a:solidFill>
                      <a:schemeClr val="tx1"/>
                    </a:solidFill>
                    <a:highlight>
                      <a:srgbClr val="FFFF00"/>
                    </a:highlight>
                  </a:rPr>
                  <a:t>第四步：</a:t>
                </a:r>
                <a:r>
                  <a:rPr lang="zh-CN" altLang="en-US" sz="2000" dirty="0">
                    <a:solidFill>
                      <a:schemeClr val="tx1"/>
                    </a:solidFill>
                  </a:rPr>
                  <a:t>计算出另一组临时变量</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s</m:t>
                        </m:r>
                      </m:e>
                      <m:sub>
                        <m:r>
                          <a:rPr lang="zh-CN" altLang="en-US" sz="2000" i="1" smtClean="0">
                            <a:solidFill>
                              <a:schemeClr val="tx1"/>
                            </a:solidFill>
                            <a:latin typeface="Cambria Math" panose="02040503050406030204" pitchFamily="18" charset="0"/>
                          </a:rPr>
                          <m:t>1</m:t>
                        </m:r>
                      </m:sub>
                    </m:sSub>
                    <m:r>
                      <a:rPr lang="zh-CN" altLang="en-US" sz="2000" i="1" smtClean="0">
                        <a:solidFill>
                          <a:schemeClr val="tx1"/>
                        </a:solidFill>
                        <a:latin typeface="Cambria Math" panose="02040503050406030204" pitchFamily="18" charset="0"/>
                      </a:rPr>
                      <m:t>=</m:t>
                    </m:r>
                    <m:sSub>
                      <m:sSubPr>
                        <m:ctrlPr>
                          <a:rPr lang="zh-CN" altLang="en-US" sz="2000" i="1" smtClean="0">
                            <a:solidFill>
                              <a:schemeClr val="tx1"/>
                            </a:solidFill>
                            <a:latin typeface="Cambria Math" panose="02040503050406030204" pitchFamily="18" charset="0"/>
                          </a:rPr>
                        </m:ctrlPr>
                      </m:sSubPr>
                      <m:e>
                        <m:r>
                          <a:rPr lang="zh-CN" altLang="en-US" sz="2000" i="1" smtClean="0">
                            <a:solidFill>
                              <a:schemeClr val="tx1"/>
                            </a:solidFill>
                            <a:latin typeface="Cambria Math" panose="02040503050406030204" pitchFamily="18" charset="0"/>
                          </a:rPr>
                          <m:t>𝑢</m:t>
                        </m:r>
                      </m:e>
                      <m:sub>
                        <m:r>
                          <a:rPr lang="zh-CN" altLang="en-US" sz="2000" i="1" smtClean="0">
                            <a:solidFill>
                              <a:schemeClr val="tx1"/>
                            </a:solidFill>
                            <a:latin typeface="Cambria Math" panose="02040503050406030204" pitchFamily="18" charset="0"/>
                          </a:rPr>
                          <m:t>1</m:t>
                        </m:r>
                      </m:sub>
                    </m:sSub>
                    <m:r>
                      <a:rPr lang="zh-CN" altLang="en-US" sz="2000" i="1">
                        <a:solidFill>
                          <a:schemeClr val="tx1"/>
                        </a:solidFill>
                        <a:latin typeface="Cambria Math" panose="02040503050406030204" pitchFamily="18" charset="0"/>
                      </a:rPr>
                      <m:t>⊕</m:t>
                    </m:r>
                    <m:sSub>
                      <m:sSubPr>
                        <m:ctrlPr>
                          <a:rPr lang="zh-CN" altLang="en-US" sz="2000" i="1" smtClean="0">
                            <a:solidFill>
                              <a:schemeClr val="tx1"/>
                            </a:solidFill>
                            <a:latin typeface="Cambria Math" panose="02040503050406030204" pitchFamily="18" charset="0"/>
                          </a:rPr>
                        </m:ctrlPr>
                      </m:sSubPr>
                      <m:e>
                        <m:r>
                          <a:rPr lang="zh-CN" altLang="en-US" sz="2000" i="1" smtClean="0">
                            <a:solidFill>
                              <a:schemeClr val="tx1"/>
                            </a:solidFill>
                            <a:latin typeface="Cambria Math" panose="02040503050406030204" pitchFamily="18" charset="0"/>
                          </a:rPr>
                          <m:t>𝑢</m:t>
                        </m:r>
                      </m:e>
                      <m:sub>
                        <m:r>
                          <a:rPr lang="zh-CN" altLang="en-US" sz="2000" i="1" smtClean="0">
                            <a:solidFill>
                              <a:schemeClr val="tx1"/>
                            </a:solidFill>
                            <a:latin typeface="Cambria Math" panose="02040503050406030204" pitchFamily="18" charset="0"/>
                          </a:rPr>
                          <m:t>2</m:t>
                        </m:r>
                      </m:sub>
                    </m:sSub>
                  </m:oMath>
                </a14:m>
                <a:r>
                  <a:rPr lang="zh-CN" altLang="en-US" sz="2000" dirty="0">
                    <a:solidFill>
                      <a:schemeClr val="tx1"/>
                    </a:solidFill>
                  </a:rPr>
                  <a:t>和</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s</m:t>
                        </m:r>
                      </m:e>
                      <m:sub>
                        <m:r>
                          <a:rPr lang="zh-CN" altLang="en-US" sz="2000" i="1">
                            <a:solidFill>
                              <a:schemeClr val="tx1"/>
                            </a:solidFill>
                            <a:latin typeface="Cambria Math" panose="02040503050406030204" pitchFamily="18" charset="0"/>
                          </a:rPr>
                          <m:t>1</m:t>
                        </m:r>
                      </m:sub>
                    </m:sSub>
                    <m:r>
                      <a:rPr lang="zh-CN" altLang="en-US" sz="2000" i="1">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i="1">
                            <a:solidFill>
                              <a:schemeClr val="tx1"/>
                            </a:solidFill>
                            <a:latin typeface="Cambria Math" panose="02040503050406030204" pitchFamily="18" charset="0"/>
                          </a:rPr>
                          <m:t>𝑢</m:t>
                        </m:r>
                      </m:e>
                      <m:sub>
                        <m:r>
                          <a:rPr lang="zh-CN" altLang="en-US" sz="2000" i="1">
                            <a:solidFill>
                              <a:schemeClr val="tx1"/>
                            </a:solidFill>
                            <a:latin typeface="Cambria Math" panose="02040503050406030204" pitchFamily="18" charset="0"/>
                          </a:rPr>
                          <m:t>2</m:t>
                        </m:r>
                      </m:sub>
                    </m:sSub>
                  </m:oMath>
                </a14:m>
                <a:r>
                  <a:rPr lang="zh-CN" altLang="en-US" sz="2000" dirty="0">
                    <a:solidFill>
                      <a:schemeClr val="tx1"/>
                    </a:solidFill>
                  </a:rPr>
                  <a:t>。根据上面第</a:t>
                </a:r>
                <a:r>
                  <a:rPr lang="en-US" altLang="zh-CN" sz="2000" dirty="0">
                    <a:solidFill>
                      <a:schemeClr val="tx1"/>
                    </a:solidFill>
                  </a:rPr>
                  <a:t>2~3</a:t>
                </a:r>
                <a:r>
                  <a:rPr lang="zh-CN" altLang="en-US" sz="2000" dirty="0">
                    <a:solidFill>
                      <a:schemeClr val="tx1"/>
                    </a:solidFill>
                  </a:rPr>
                  <a:t>步结果得到</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s</m:t>
                        </m:r>
                      </m:e>
                      <m:sub>
                        <m:r>
                          <a:rPr lang="zh-CN" altLang="en-US" sz="2000" i="1">
                            <a:solidFill>
                              <a:schemeClr val="tx1"/>
                            </a:solidFill>
                            <a:latin typeface="Cambria Math" panose="02040503050406030204" pitchFamily="18" charset="0"/>
                          </a:rPr>
                          <m:t>1</m:t>
                        </m:r>
                      </m:sub>
                    </m:sSub>
                  </m:oMath>
                </a14:m>
                <a:r>
                  <a:rPr lang="en-US" altLang="zh-CN" sz="2000" dirty="0">
                    <a:solidFill>
                      <a:schemeClr val="tx1"/>
                    </a:solidFill>
                  </a:rPr>
                  <a:t>=0</a:t>
                </a:r>
                <a:r>
                  <a:rPr lang="zh-CN" altLang="en-US" sz="2000" dirty="0">
                    <a:solidFill>
                      <a:schemeClr val="tx1"/>
                    </a:solidFill>
                  </a:rPr>
                  <a:t>， </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s</m:t>
                        </m:r>
                      </m:e>
                      <m:sub>
                        <m:r>
                          <a:rPr lang="en-US" altLang="zh-CN" sz="2000" b="0" i="1" smtClean="0">
                            <a:solidFill>
                              <a:schemeClr val="tx1"/>
                            </a:solidFill>
                            <a:latin typeface="Cambria Math" panose="02040503050406030204" pitchFamily="18" charset="0"/>
                          </a:rPr>
                          <m:t>2</m:t>
                        </m:r>
                      </m:sub>
                    </m:sSub>
                  </m:oMath>
                </a14:m>
                <a:r>
                  <a:rPr lang="en-US" altLang="zh-CN" sz="2000" dirty="0">
                    <a:solidFill>
                      <a:schemeClr val="tx1"/>
                    </a:solidFill>
                  </a:rPr>
                  <a:t>=1</a:t>
                </a:r>
                <a:r>
                  <a:rPr lang="zh-CN" altLang="en-US" sz="2000" dirty="0">
                    <a:solidFill>
                      <a:schemeClr val="tx1"/>
                    </a:solidFill>
                  </a:rPr>
                  <a:t>。</a:t>
                </a:r>
                <a:endParaRPr lang="en-US" altLang="zh-CN" sz="2000" dirty="0">
                  <a:solidFill>
                    <a:schemeClr val="tx1"/>
                  </a:solidFill>
                </a:endParaRPr>
              </a:p>
              <a:p>
                <a:pPr marL="0" indent="0">
                  <a:lnSpc>
                    <a:spcPct val="200000"/>
                  </a:lnSpc>
                  <a:spcBef>
                    <a:spcPts val="0"/>
                  </a:spcBef>
                  <a:spcAft>
                    <a:spcPts val="0"/>
                  </a:spcAft>
                  <a:buNone/>
                </a:pPr>
                <a:r>
                  <a:rPr lang="zh-CN" altLang="en-US" sz="2000" dirty="0">
                    <a:solidFill>
                      <a:schemeClr val="tx1"/>
                    </a:solidFill>
                    <a:highlight>
                      <a:srgbClr val="FFFF00"/>
                    </a:highlight>
                  </a:rPr>
                  <a:t>第五步：</a:t>
                </a:r>
                <a:r>
                  <a:rPr lang="zh-CN" altLang="en-US" sz="2000" dirty="0">
                    <a:solidFill>
                      <a:schemeClr val="tx1"/>
                    </a:solidFill>
                  </a:rPr>
                  <a:t>把上半部分（临时变量</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s</m:t>
                        </m:r>
                      </m:e>
                      <m:sub>
                        <m:r>
                          <a:rPr lang="zh-CN" altLang="en-US" sz="2000" i="1">
                            <a:solidFill>
                              <a:schemeClr val="tx1"/>
                            </a:solidFill>
                            <a:latin typeface="Cambria Math" panose="02040503050406030204" pitchFamily="18" charset="0"/>
                          </a:rPr>
                          <m:t>1</m:t>
                        </m:r>
                      </m:sub>
                    </m:sSub>
                    <m:r>
                      <a:rPr lang="zh-CN" altLang="en-US" sz="2000" i="1">
                        <a:solidFill>
                          <a:schemeClr val="tx1"/>
                        </a:solidFill>
                        <a:latin typeface="Cambria Math" panose="02040503050406030204" pitchFamily="18" charset="0"/>
                      </a:rPr>
                      <m:t> </m:t>
                    </m:r>
                  </m:oMath>
                </a14:m>
                <a:r>
                  <a:rPr lang="zh-CN" altLang="en-US" sz="2000" dirty="0">
                    <a:solidFill>
                      <a:schemeClr val="tx1"/>
                    </a:solidFill>
                  </a:rPr>
                  <a:t>和</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s</m:t>
                        </m:r>
                      </m:e>
                      <m:sub>
                        <m:r>
                          <a:rPr lang="en-US" altLang="zh-CN" sz="2000" b="0" i="1" smtClean="0">
                            <a:solidFill>
                              <a:schemeClr val="tx1"/>
                            </a:solidFill>
                            <a:latin typeface="Cambria Math" panose="02040503050406030204" pitchFamily="18" charset="0"/>
                          </a:rPr>
                          <m:t>2</m:t>
                        </m:r>
                      </m:sub>
                    </m:sSub>
                  </m:oMath>
                </a14:m>
                <a:r>
                  <a:rPr lang="zh-CN" altLang="en-US" sz="2000" dirty="0">
                    <a:solidFill>
                      <a:schemeClr val="tx1"/>
                    </a:solidFill>
                  </a:rPr>
                  <a:t>）当做已知比特，去计算又一组临时变  量</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t</m:t>
                        </m:r>
                      </m:e>
                      <m:sub>
                        <m:r>
                          <a:rPr lang="en-US" altLang="zh-CN" sz="2000" b="0" i="0" smtClean="0">
                            <a:solidFill>
                              <a:schemeClr val="tx1"/>
                            </a:solidFill>
                            <a:latin typeface="Cambria Math" panose="02040503050406030204" pitchFamily="18" charset="0"/>
                          </a:rPr>
                          <m:t>3</m:t>
                        </m:r>
                      </m:sub>
                    </m:sSub>
                    <m:sSub>
                      <m:sSubPr>
                        <m:ctrlPr>
                          <a:rPr lang="zh-CN" altLang="en-US" sz="2000" i="1">
                            <a:solidFill>
                              <a:schemeClr val="tx1"/>
                            </a:solidFill>
                            <a:latin typeface="Cambria Math" panose="02040503050406030204" pitchFamily="18" charset="0"/>
                          </a:rPr>
                        </m:ctrlPr>
                      </m:sSubPr>
                      <m:e>
                        <m:r>
                          <a:rPr lang="en-US" altLang="zh-CN" sz="2000">
                            <a:solidFill>
                              <a:schemeClr val="tx1"/>
                            </a:solidFill>
                            <a:latin typeface="Cambria Math" panose="02040503050406030204" pitchFamily="18" charset="0"/>
                          </a:rPr>
                          <m:t>,</m:t>
                        </m:r>
                        <m:r>
                          <m:rPr>
                            <m:sty m:val="p"/>
                          </m:rPr>
                          <a:rPr lang="en-US" altLang="zh-CN" sz="2000" i="1">
                            <a:solidFill>
                              <a:schemeClr val="tx1"/>
                            </a:solidFill>
                            <a:latin typeface="Cambria Math" panose="02040503050406030204" pitchFamily="18" charset="0"/>
                          </a:rPr>
                          <m:t>t</m:t>
                        </m:r>
                      </m:e>
                      <m:sub>
                        <m:r>
                          <a:rPr lang="en-US" altLang="zh-CN" sz="2000" b="0" i="0" smtClean="0">
                            <a:solidFill>
                              <a:schemeClr val="tx1"/>
                            </a:solidFill>
                            <a:latin typeface="Cambria Math" panose="02040503050406030204" pitchFamily="18" charset="0"/>
                          </a:rPr>
                          <m:t>4</m:t>
                        </m:r>
                      </m:sub>
                    </m:sSub>
                  </m:oMath>
                </a14:m>
                <a:r>
                  <a:rPr lang="zh-CN" altLang="en-US" sz="2000" dirty="0">
                    <a:solidFill>
                      <a:schemeClr val="tx1"/>
                    </a:solidFill>
                  </a:rPr>
                  <a:t>。类似于第三步，有</a:t>
                </a:r>
                <a:endParaRPr lang="en-US" altLang="zh-CN" sz="2000" dirty="0">
                  <a:solidFill>
                    <a:schemeClr val="tx1"/>
                  </a:solidFill>
                </a:endParaRPr>
              </a:p>
              <a:p>
                <a:pPr marL="0" indent="0" algn="ctr">
                  <a:lnSpc>
                    <a:spcPct val="200000"/>
                  </a:lnSpc>
                  <a:spcBef>
                    <a:spcPts val="0"/>
                  </a:spcBef>
                  <a:spcAft>
                    <a:spcPts val="0"/>
                  </a:spcAft>
                  <a:buNone/>
                </a:pPr>
                <a14:m>
                  <m:oMath xmlns:m="http://schemas.openxmlformats.org/officeDocument/2006/math">
                    <m:sSub>
                      <m:sSubPr>
                        <m:ctrlPr>
                          <a:rPr lang="en-US" altLang="zh-CN" sz="2000" i="1">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𝑡</m:t>
                        </m:r>
                      </m:e>
                      <m:sub>
                        <m:r>
                          <a:rPr lang="en-US" altLang="zh-CN" sz="2000" b="0" i="1" smtClean="0">
                            <a:solidFill>
                              <a:schemeClr val="tx1"/>
                            </a:solidFill>
                            <a:latin typeface="Cambria Math" panose="02040503050406030204" pitchFamily="18" charset="0"/>
                          </a:rPr>
                          <m:t>3</m:t>
                        </m:r>
                      </m:sub>
                    </m:sSub>
                    <m:r>
                      <a:rPr lang="en-US" altLang="zh-CN" sz="2000" i="1" smtClean="0">
                        <a:solidFill>
                          <a:schemeClr val="tx1"/>
                        </a:solidFill>
                        <a:latin typeface="Cambria Math" panose="02040503050406030204" pitchFamily="18" charset="0"/>
                      </a:rPr>
                      <m:t>=</m:t>
                    </m:r>
                  </m:oMath>
                </a14:m>
                <a:r>
                  <a:rPr lang="en-US" altLang="zh-CN" sz="2000" dirty="0">
                    <a:solidFill>
                      <a:schemeClr val="tx1"/>
                    </a:solidFill>
                  </a:rPr>
                  <a:t> </a:t>
                </a:r>
                <a14:m>
                  <m:oMath xmlns:m="http://schemas.openxmlformats.org/officeDocument/2006/math">
                    <m:sSub>
                      <m:sSubPr>
                        <m:ctrlPr>
                          <a:rPr lang="en-US" altLang="zh-CN"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x</m:t>
                        </m:r>
                      </m:e>
                      <m:sub>
                        <m:r>
                          <a:rPr lang="en-US" altLang="zh-CN" sz="2000" i="1">
                            <a:solidFill>
                              <a:schemeClr val="tx1"/>
                            </a:solidFill>
                            <a:latin typeface="Cambria Math" panose="02040503050406030204" pitchFamily="18" charset="0"/>
                          </a:rPr>
                          <m:t>3</m:t>
                        </m:r>
                      </m:sub>
                    </m:sSub>
                  </m:oMath>
                </a14:m>
                <a:r>
                  <a:rPr lang="en-US" altLang="zh-CN" sz="2000" dirty="0">
                    <a:solidFill>
                      <a:schemeClr val="tx1"/>
                    </a:solidFill>
                  </a:rPr>
                  <a:t>+</a:t>
                </a:r>
                <a:r>
                  <a:rPr lang="zh-CN" altLang="en-US" sz="2000" dirty="0">
                    <a:solidFill>
                      <a:schemeClr val="tx1"/>
                    </a:solidFill>
                  </a:rPr>
                  <a:t>（</a:t>
                </a:r>
                <a:r>
                  <a:rPr lang="en-US" altLang="zh-CN" sz="2000" dirty="0">
                    <a:solidFill>
                      <a:schemeClr val="tx1"/>
                    </a:solidFill>
                  </a:rPr>
                  <a:t>1-2×</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s</m:t>
                        </m:r>
                      </m:e>
                      <m:sub>
                        <m:r>
                          <a:rPr lang="zh-CN" altLang="en-US" sz="2000" i="1">
                            <a:solidFill>
                              <a:schemeClr val="tx1"/>
                            </a:solidFill>
                            <a:latin typeface="Cambria Math" panose="02040503050406030204" pitchFamily="18" charset="0"/>
                          </a:rPr>
                          <m:t>1</m:t>
                        </m:r>
                      </m:sub>
                    </m:sSub>
                    <m:r>
                      <a:rPr lang="zh-CN" altLang="en-US" sz="2000" i="1">
                        <a:solidFill>
                          <a:schemeClr val="tx1"/>
                        </a:solidFill>
                        <a:latin typeface="Cambria Math" panose="02040503050406030204" pitchFamily="18" charset="0"/>
                      </a:rPr>
                      <m:t>）</m:t>
                    </m:r>
                  </m:oMath>
                </a14:m>
                <a:r>
                  <a:rPr lang="en-US" altLang="zh-CN" sz="2000" dirty="0">
                    <a:solidFill>
                      <a:schemeClr val="tx1"/>
                    </a:solidFill>
                  </a:rPr>
                  <a:t>-</a:t>
                </a:r>
                <a:r>
                  <a:rPr lang="zh-CN" altLang="en-US" sz="2000" dirty="0">
                    <a:solidFill>
                      <a:schemeClr val="tx1"/>
                    </a:solidFill>
                  </a:rPr>
                  <a:t> </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x</m:t>
                        </m:r>
                      </m:e>
                      <m:sub>
                        <m:r>
                          <a:rPr lang="zh-CN" altLang="en-US" sz="2000" i="1">
                            <a:solidFill>
                              <a:schemeClr val="tx1"/>
                            </a:solidFill>
                            <a:latin typeface="Cambria Math" panose="02040503050406030204" pitchFamily="18" charset="0"/>
                          </a:rPr>
                          <m:t>1</m:t>
                        </m:r>
                      </m:sub>
                    </m:sSub>
                  </m:oMath>
                </a14:m>
                <a:r>
                  <a:rPr lang="en-US" altLang="zh-CN" sz="2000" dirty="0">
                    <a:solidFill>
                      <a:schemeClr val="tx1"/>
                    </a:solidFill>
                  </a:rPr>
                  <a:t>=3.78+</a:t>
                </a:r>
                <a:r>
                  <a:rPr lang="zh-CN" altLang="en-US" sz="2000" dirty="0">
                    <a:solidFill>
                      <a:schemeClr val="tx1"/>
                    </a:solidFill>
                  </a:rPr>
                  <a:t>（</a:t>
                </a:r>
                <a:r>
                  <a:rPr lang="en-US" altLang="zh-CN" sz="2000" dirty="0">
                    <a:solidFill>
                      <a:schemeClr val="tx1"/>
                    </a:solidFill>
                  </a:rPr>
                  <a:t>1-2×0</a:t>
                </a:r>
                <a:r>
                  <a:rPr lang="zh-CN" altLang="en-US" sz="2000" dirty="0">
                    <a:solidFill>
                      <a:schemeClr val="tx1"/>
                    </a:solidFill>
                  </a:rPr>
                  <a:t>）</a:t>
                </a:r>
                <a:r>
                  <a:rPr lang="en-US" altLang="zh-CN" sz="2000" dirty="0">
                    <a:solidFill>
                      <a:schemeClr val="tx1"/>
                    </a:solidFill>
                  </a:rPr>
                  <a:t>×3.22=7.00</a:t>
                </a:r>
                <a:endParaRPr lang="en-US" altLang="zh-CN" sz="2000" dirty="0">
                  <a:solidFill>
                    <a:schemeClr val="tx1"/>
                  </a:solidFill>
                </a:endParaRPr>
              </a:p>
              <a:p>
                <a:pPr marL="0" indent="0" algn="ctr">
                  <a:lnSpc>
                    <a:spcPct val="200000"/>
                  </a:lnSpc>
                  <a:spcBef>
                    <a:spcPts val="0"/>
                  </a:spcBef>
                  <a:spcAft>
                    <a:spcPts val="0"/>
                  </a:spcAft>
                  <a:buNone/>
                </a:pPr>
                <a14:m>
                  <m:oMath xmlns:m="http://schemas.openxmlformats.org/officeDocument/2006/math">
                    <m:sSub>
                      <m:sSubPr>
                        <m:ctrlPr>
                          <a:rPr lang="en-US" altLang="zh-CN" sz="2000" i="1" smtClean="0">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𝑡</m:t>
                        </m:r>
                      </m:e>
                      <m:sub>
                        <m:r>
                          <a:rPr lang="en-US" altLang="zh-CN" sz="2000" b="0" i="1" smtClean="0">
                            <a:solidFill>
                              <a:schemeClr val="tx1"/>
                            </a:solidFill>
                            <a:latin typeface="Cambria Math" panose="02040503050406030204" pitchFamily="18" charset="0"/>
                          </a:rPr>
                          <m:t>4</m:t>
                        </m:r>
                      </m:sub>
                    </m:sSub>
                    <m:r>
                      <a:rPr lang="en-US" altLang="zh-CN" sz="2000" i="1" smtClean="0">
                        <a:solidFill>
                          <a:schemeClr val="tx1"/>
                        </a:solidFill>
                        <a:latin typeface="Cambria Math" panose="02040503050406030204" pitchFamily="18" charset="0"/>
                      </a:rPr>
                      <m:t>=</m:t>
                    </m:r>
                  </m:oMath>
                </a14:m>
                <a:r>
                  <a:rPr lang="en-US" altLang="zh-CN" sz="2000" dirty="0">
                    <a:solidFill>
                      <a:schemeClr val="tx1"/>
                    </a:solidFill>
                  </a:rPr>
                  <a:t> </a:t>
                </a:r>
                <a14:m>
                  <m:oMath xmlns:m="http://schemas.openxmlformats.org/officeDocument/2006/math">
                    <m:sSub>
                      <m:sSubPr>
                        <m:ctrlPr>
                          <a:rPr lang="en-US" altLang="zh-CN"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x</m:t>
                        </m:r>
                      </m:e>
                      <m:sub>
                        <m:r>
                          <a:rPr lang="en-US" altLang="zh-CN" sz="2000" b="0" i="1" smtClean="0">
                            <a:solidFill>
                              <a:schemeClr val="tx1"/>
                            </a:solidFill>
                            <a:latin typeface="Cambria Math" panose="02040503050406030204" pitchFamily="18" charset="0"/>
                          </a:rPr>
                          <m:t>4</m:t>
                        </m:r>
                      </m:sub>
                    </m:sSub>
                  </m:oMath>
                </a14:m>
                <a:r>
                  <a:rPr lang="en-US" altLang="zh-CN" sz="2000" dirty="0">
                    <a:solidFill>
                      <a:schemeClr val="tx1"/>
                    </a:solidFill>
                  </a:rPr>
                  <a:t>+</a:t>
                </a:r>
                <a:r>
                  <a:rPr lang="zh-CN" altLang="en-US" sz="2000" dirty="0">
                    <a:solidFill>
                      <a:schemeClr val="tx1"/>
                    </a:solidFill>
                  </a:rPr>
                  <a:t>（</a:t>
                </a:r>
                <a:r>
                  <a:rPr lang="en-US" altLang="zh-CN" sz="2000" dirty="0">
                    <a:solidFill>
                      <a:schemeClr val="tx1"/>
                    </a:solidFill>
                  </a:rPr>
                  <a:t>1-2×</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s</m:t>
                        </m:r>
                      </m:e>
                      <m:sub>
                        <m:r>
                          <a:rPr lang="en-US" altLang="zh-CN" sz="2000" b="0" i="1" smtClean="0">
                            <a:solidFill>
                              <a:schemeClr val="tx1"/>
                            </a:solidFill>
                            <a:latin typeface="Cambria Math" panose="02040503050406030204" pitchFamily="18" charset="0"/>
                          </a:rPr>
                          <m:t>2</m:t>
                        </m:r>
                      </m:sub>
                    </m:sSub>
                    <m:r>
                      <a:rPr lang="zh-CN" altLang="en-US" sz="2000" i="1">
                        <a:solidFill>
                          <a:schemeClr val="tx1"/>
                        </a:solidFill>
                        <a:latin typeface="Cambria Math" panose="02040503050406030204" pitchFamily="18" charset="0"/>
                      </a:rPr>
                      <m:t>）</m:t>
                    </m:r>
                  </m:oMath>
                </a14:m>
                <a:r>
                  <a:rPr lang="en-US" altLang="zh-CN" sz="2000" dirty="0">
                    <a:solidFill>
                      <a:schemeClr val="tx1"/>
                    </a:solidFill>
                  </a:rPr>
                  <a:t>-</a:t>
                </a:r>
                <a:r>
                  <a:rPr lang="zh-CN" altLang="en-US" sz="2000" dirty="0">
                    <a:solidFill>
                      <a:schemeClr val="tx1"/>
                    </a:solidFill>
                  </a:rPr>
                  <a:t> </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x</m:t>
                        </m:r>
                      </m:e>
                      <m:sub>
                        <m:r>
                          <a:rPr lang="en-US" altLang="zh-CN" sz="2000" b="0" i="1" smtClean="0">
                            <a:solidFill>
                              <a:schemeClr val="tx1"/>
                            </a:solidFill>
                            <a:latin typeface="Cambria Math" panose="02040503050406030204" pitchFamily="18" charset="0"/>
                          </a:rPr>
                          <m:t>2</m:t>
                        </m:r>
                      </m:sub>
                    </m:sSub>
                  </m:oMath>
                </a14:m>
                <a:r>
                  <a:rPr lang="en-US" altLang="zh-CN" sz="2000" dirty="0">
                    <a:solidFill>
                      <a:schemeClr val="tx1"/>
                    </a:solidFill>
                  </a:rPr>
                  <a:t>=-3.38+</a:t>
                </a:r>
                <a:r>
                  <a:rPr lang="zh-CN" altLang="en-US" sz="2000" dirty="0">
                    <a:solidFill>
                      <a:schemeClr val="tx1"/>
                    </a:solidFill>
                  </a:rPr>
                  <a:t>（</a:t>
                </a:r>
                <a:r>
                  <a:rPr lang="en-US" altLang="zh-CN" sz="2000" dirty="0">
                    <a:solidFill>
                      <a:schemeClr val="tx1"/>
                    </a:solidFill>
                  </a:rPr>
                  <a:t>1-2×1</a:t>
                </a:r>
                <a:r>
                  <a:rPr lang="zh-CN" altLang="en-US" sz="2000" dirty="0">
                    <a:solidFill>
                      <a:schemeClr val="tx1"/>
                    </a:solidFill>
                  </a:rPr>
                  <a:t>）</a:t>
                </a:r>
                <a:r>
                  <a:rPr lang="en-US" altLang="zh-CN" sz="2000" dirty="0">
                    <a:solidFill>
                      <a:schemeClr val="tx1"/>
                    </a:solidFill>
                  </a:rPr>
                  <a:t>×0.12=-3.50</a:t>
                </a:r>
                <a:endParaRPr lang="en-US" altLang="zh-CN" sz="2000" dirty="0">
                  <a:solidFill>
                    <a:schemeClr val="tx1"/>
                  </a:solidFill>
                </a:endParaRPr>
              </a:p>
              <a:p>
                <a:pPr marL="0" indent="0" algn="ctr">
                  <a:lnSpc>
                    <a:spcPct val="150000"/>
                  </a:lnSpc>
                  <a:spcBef>
                    <a:spcPts val="0"/>
                  </a:spcBef>
                  <a:spcAft>
                    <a:spcPts val="0"/>
                  </a:spcAft>
                  <a:buNone/>
                </a:pPr>
                <a:endParaRPr lang="en-US" altLang="zh-CN" sz="2000" dirty="0">
                  <a:solidFill>
                    <a:schemeClr val="tx1"/>
                  </a:solidFill>
                  <a:latin typeface="+mn-ea"/>
                </a:endParaRPr>
              </a:p>
              <a:p>
                <a:pPr marL="0" indent="0">
                  <a:lnSpc>
                    <a:spcPct val="150000"/>
                  </a:lnSpc>
                  <a:spcBef>
                    <a:spcPts val="0"/>
                  </a:spcBef>
                  <a:spcAft>
                    <a:spcPts val="0"/>
                  </a:spcAft>
                  <a:buNone/>
                </a:pPr>
                <a:endParaRPr lang="en-US" altLang="zh-CN" sz="2000" dirty="0">
                  <a:solidFill>
                    <a:schemeClr val="tx1"/>
                  </a:solidFill>
                  <a:latin typeface="+mn-ea"/>
                </a:endParaRPr>
              </a:p>
              <a:p>
                <a:pPr marL="0" indent="0">
                  <a:lnSpc>
                    <a:spcPct val="150000"/>
                  </a:lnSpc>
                  <a:spcBef>
                    <a:spcPts val="0"/>
                  </a:spcBef>
                  <a:spcAft>
                    <a:spcPts val="0"/>
                  </a:spcAft>
                  <a:buNone/>
                </a:pPr>
                <a:endParaRPr lang="en-US" altLang="zh-CN" sz="2000" dirty="0">
                  <a:solidFill>
                    <a:schemeClr val="tx1"/>
                  </a:solidFill>
                  <a:latin typeface="+mn-ea"/>
                </a:endParaRPr>
              </a:p>
            </p:txBody>
          </p:sp>
        </mc:Choice>
        <mc:Fallback>
          <p:sp>
            <p:nvSpPr>
              <p:cNvPr id="4" name="内容占位符 2"/>
              <p:cNvSpPr txBox="1">
                <a:spLocks noRot="1" noChangeAspect="1" noMove="1" noResize="1" noEditPoints="1" noAdjustHandles="1" noChangeArrowheads="1" noChangeShapeType="1" noTextEdit="1"/>
              </p:cNvSpPr>
              <p:nvPr/>
            </p:nvSpPr>
            <p:spPr>
              <a:xfrm>
                <a:off x="263005" y="1371654"/>
                <a:ext cx="8617989" cy="4381385"/>
              </a:xfrm>
              <a:prstGeom prst="rect">
                <a:avLst/>
              </a:prstGeom>
              <a:blipFill rotWithShape="1">
                <a:blip r:embed="rId1"/>
                <a:stretch>
                  <a:fillRect l="-1" t="-1" r="6" b="-24988"/>
                </a:stretch>
              </a:blipFill>
              <a:ln w="9525">
                <a:noFill/>
              </a:ln>
            </p:spPr>
            <p:style>
              <a:lnRef idx="0">
                <a:scrgbClr r="0" g="0" b="0"/>
              </a:lnRef>
              <a:fillRef idx="0">
                <a:scrgbClr r="0" g="0" b="0"/>
              </a:fillRef>
              <a:effectRef idx="0">
                <a:scrgbClr r="0" g="0" b="0"/>
              </a:effectRef>
              <a:fontRef idx="minor">
                <a:schemeClr val="dk1"/>
              </a:fontRef>
            </p:style>
            <p:txBody>
              <a:bodyPr/>
              <a:lstStyle/>
              <a:p>
                <a:r>
                  <a:rPr lang="zh-CN" altLang="en-US">
                    <a:noFill/>
                  </a:rPr>
                  <a:t> </a:t>
                </a:r>
              </a:p>
            </p:txBody>
          </p:sp>
        </mc:Fallback>
      </mc:AlternateContent>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705544" y="152486"/>
            <a:ext cx="230028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解码示例</a:t>
            </a:r>
            <a:endParaRPr kumimoji="0" lang="zh-CN" altLang="en-US" sz="2400" b="1" kern="0" dirty="0">
              <a:solidFill>
                <a:srgbClr val="000000"/>
              </a:solidFill>
              <a:latin typeface="Arial" panose="020B0604020202020204" pitchFamily="3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4" name="内容占位符 2"/>
              <p:cNvSpPr txBox="1"/>
              <p:nvPr/>
            </p:nvSpPr>
            <p:spPr>
              <a:xfrm>
                <a:off x="289802" y="1524050"/>
                <a:ext cx="8854198" cy="4038494"/>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200000"/>
                  </a:lnSpc>
                  <a:spcBef>
                    <a:spcPts val="0"/>
                  </a:spcBef>
                  <a:spcAft>
                    <a:spcPts val="0"/>
                  </a:spcAft>
                  <a:buNone/>
                </a:pPr>
                <a:r>
                  <a:rPr lang="zh-CN" altLang="en-US" sz="2000" dirty="0">
                    <a:solidFill>
                      <a:schemeClr val="tx1"/>
                    </a:solidFill>
                    <a:highlight>
                      <a:srgbClr val="FFFF00"/>
                    </a:highlight>
                  </a:rPr>
                  <a:t>第六步：</a:t>
                </a:r>
                <a:r>
                  <a:rPr lang="zh-CN" altLang="en-US" sz="2000" dirty="0">
                    <a:solidFill>
                      <a:schemeClr val="tx1"/>
                    </a:solidFill>
                  </a:rPr>
                  <a:t>与第二步类似，把下半部分（临时变量</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t</m:t>
                        </m:r>
                      </m:e>
                      <m:sub>
                        <m:r>
                          <a:rPr lang="en-US" altLang="zh-CN" sz="2000">
                            <a:solidFill>
                              <a:schemeClr val="tx1"/>
                            </a:solidFill>
                            <a:latin typeface="Cambria Math" panose="02040503050406030204" pitchFamily="18" charset="0"/>
                          </a:rPr>
                          <m:t>2</m:t>
                        </m:r>
                      </m:sub>
                    </m:sSub>
                    <m:r>
                      <a:rPr lang="en-US" altLang="zh-CN" sz="2000" i="1">
                        <a:solidFill>
                          <a:schemeClr val="tx1"/>
                        </a:solidFill>
                        <a:latin typeface="Cambria Math" panose="02040503050406030204" pitchFamily="18" charset="0"/>
                      </a:rPr>
                      <m:t> </m:t>
                    </m:r>
                  </m:oMath>
                </a14:m>
                <a:r>
                  <a:rPr lang="zh-CN" altLang="en-US" sz="2000" dirty="0">
                    <a:solidFill>
                      <a:schemeClr val="tx1"/>
                    </a:solidFill>
                  </a:rPr>
                  <a:t>）看成噪声，求解出</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b="0" i="0" smtClean="0">
                            <a:solidFill>
                              <a:schemeClr val="tx1"/>
                            </a:solidFill>
                            <a:latin typeface="Cambria Math" panose="02040503050406030204" pitchFamily="18" charset="0"/>
                          </a:rPr>
                          <m:t>3</m:t>
                        </m:r>
                      </m:sub>
                    </m:sSub>
                  </m:oMath>
                </a14:m>
                <a:r>
                  <a:rPr lang="zh-CN" altLang="en-US" sz="2000" dirty="0">
                    <a:solidFill>
                      <a:schemeClr val="tx1"/>
                    </a:solidFill>
                  </a:rPr>
                  <a:t>。</a:t>
                </a:r>
                <a:endParaRPr lang="en-US" altLang="zh-CN" sz="2000" dirty="0">
                  <a:solidFill>
                    <a:schemeClr val="tx1"/>
                  </a:solidFill>
                </a:endParaRPr>
              </a:p>
              <a:p>
                <a:pPr marL="0" indent="0">
                  <a:lnSpc>
                    <a:spcPct val="200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altLang="zh-CN" sz="2000" i="1" smtClean="0">
                              <a:solidFill>
                                <a:schemeClr val="tx1"/>
                              </a:solidFill>
                              <a:latin typeface="Cambria Math" panose="02040503050406030204" pitchFamily="18" charset="0"/>
                            </a:rPr>
                          </m:ctrlPr>
                        </m:sSubPr>
                        <m:e>
                          <m:r>
                            <a:rPr lang="en-US" altLang="zh-CN" sz="2000" i="1" smtClean="0">
                              <a:solidFill>
                                <a:schemeClr val="tx1"/>
                              </a:solidFill>
                              <a:latin typeface="Cambria Math" panose="02040503050406030204" pitchFamily="18" charset="0"/>
                            </a:rPr>
                            <m:t>𝑧</m:t>
                          </m:r>
                        </m:e>
                        <m:sub>
                          <m:r>
                            <a:rPr lang="en-US" altLang="zh-CN" sz="2000" i="1" smtClean="0">
                              <a:solidFill>
                                <a:schemeClr val="tx1"/>
                              </a:solidFill>
                              <a:latin typeface="Cambria Math" panose="02040503050406030204" pitchFamily="18" charset="0"/>
                            </a:rPr>
                            <m:t>3</m:t>
                          </m:r>
                        </m:sub>
                      </m:sSub>
                      <m:r>
                        <a:rPr lang="en-US" altLang="zh-CN" sz="2000" i="1" smtClean="0">
                          <a:solidFill>
                            <a:schemeClr val="tx1"/>
                          </a:solidFill>
                          <a:latin typeface="Cambria Math" panose="02040503050406030204" pitchFamily="18" charset="0"/>
                        </a:rPr>
                        <m:t>=</m:t>
                      </m:r>
                      <m:r>
                        <a:rPr lang="en-US" altLang="zh-CN" sz="2000" i="1" smtClean="0">
                          <a:solidFill>
                            <a:schemeClr val="tx1"/>
                          </a:solidFill>
                          <a:latin typeface="Cambria Math" panose="02040503050406030204" pitchFamily="18" charset="0"/>
                        </a:rPr>
                        <m:t>𝑓</m:t>
                      </m:r>
                      <m:d>
                        <m:dPr>
                          <m:ctrlPr>
                            <a:rPr lang="en-US" altLang="zh-CN" sz="2000" i="1" smtClean="0">
                              <a:solidFill>
                                <a:schemeClr val="tx1"/>
                              </a:solidFill>
                              <a:latin typeface="Cambria Math" panose="02040503050406030204" pitchFamily="18" charset="0"/>
                            </a:rPr>
                          </m:ctrlPr>
                        </m:dPr>
                        <m:e>
                          <m:sSub>
                            <m:sSubPr>
                              <m:ctrlPr>
                                <a:rPr lang="en-US" altLang="zh-CN" sz="2000" i="1" smtClean="0">
                                  <a:solidFill>
                                    <a:schemeClr val="tx1"/>
                                  </a:solidFill>
                                  <a:latin typeface="Cambria Math" panose="02040503050406030204" pitchFamily="18" charset="0"/>
                                </a:rPr>
                              </m:ctrlPr>
                            </m:sSubPr>
                            <m:e>
                              <m:r>
                                <a:rPr lang="en-US" altLang="zh-CN" sz="2000" i="1" smtClean="0">
                                  <a:solidFill>
                                    <a:schemeClr val="tx1"/>
                                  </a:solidFill>
                                  <a:latin typeface="Cambria Math" panose="02040503050406030204" pitchFamily="18" charset="0"/>
                                </a:rPr>
                                <m:t>𝑡</m:t>
                              </m:r>
                            </m:e>
                            <m:sub>
                              <m:r>
                                <a:rPr lang="en-US" altLang="zh-CN" sz="2000" i="1" smtClean="0">
                                  <a:solidFill>
                                    <a:schemeClr val="tx1"/>
                                  </a:solidFill>
                                  <a:latin typeface="Cambria Math" panose="02040503050406030204" pitchFamily="18" charset="0"/>
                                </a:rPr>
                                <m:t>3</m:t>
                              </m:r>
                            </m:sub>
                          </m:sSub>
                          <m:sSub>
                            <m:sSubPr>
                              <m:ctrlPr>
                                <a:rPr lang="en-US" altLang="zh-CN" sz="2000" i="1" smtClean="0">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m:t>
                              </m:r>
                              <m:r>
                                <a:rPr lang="en-US" altLang="zh-CN" sz="2000" i="1" smtClean="0">
                                  <a:solidFill>
                                    <a:schemeClr val="tx1"/>
                                  </a:solidFill>
                                  <a:latin typeface="Cambria Math" panose="02040503050406030204" pitchFamily="18" charset="0"/>
                                </a:rPr>
                                <m:t>𝑡</m:t>
                              </m:r>
                            </m:e>
                            <m:sub>
                              <m:r>
                                <a:rPr lang="en-US" altLang="zh-CN" sz="2000" i="1" smtClean="0">
                                  <a:solidFill>
                                    <a:schemeClr val="tx1"/>
                                  </a:solidFill>
                                  <a:latin typeface="Cambria Math" panose="02040503050406030204" pitchFamily="18" charset="0"/>
                                </a:rPr>
                                <m:t>4</m:t>
                              </m:r>
                            </m:sub>
                          </m:sSub>
                        </m:e>
                      </m:d>
                      <m:r>
                        <a:rPr lang="en-US" altLang="zh-CN" sz="2000" i="1" smtClean="0">
                          <a:solidFill>
                            <a:schemeClr val="tx1"/>
                          </a:solidFill>
                          <a:latin typeface="Cambria Math" panose="02040503050406030204" pitchFamily="18" charset="0"/>
                        </a:rPr>
                        <m:t>=</m:t>
                      </m:r>
                      <m:sSub>
                        <m:sSubPr>
                          <m:ctrlPr>
                            <a:rPr lang="en-US" altLang="zh-CN" sz="2000" i="1" smtClean="0">
                              <a:solidFill>
                                <a:schemeClr val="tx1"/>
                              </a:solidFill>
                              <a:latin typeface="Cambria Math" panose="02040503050406030204" pitchFamily="18" charset="0"/>
                            </a:rPr>
                          </m:ctrlPr>
                        </m:sSubPr>
                        <m:e>
                          <m:r>
                            <a:rPr lang="en-US" altLang="zh-CN" sz="2000" i="1" smtClean="0">
                              <a:solidFill>
                                <a:schemeClr val="tx1"/>
                              </a:solidFill>
                              <a:latin typeface="Cambria Math" panose="02040503050406030204" pitchFamily="18" charset="0"/>
                            </a:rPr>
                            <m:t>𝑡</m:t>
                          </m:r>
                        </m:e>
                        <m:sub>
                          <m:r>
                            <a:rPr lang="en-US" altLang="zh-CN" sz="2000" i="1" smtClean="0">
                              <a:solidFill>
                                <a:schemeClr val="tx1"/>
                              </a:solidFill>
                              <a:latin typeface="Cambria Math" panose="02040503050406030204" pitchFamily="18" charset="0"/>
                            </a:rPr>
                            <m:t>3</m:t>
                          </m:r>
                        </m:sub>
                      </m:sSub>
                      <m:r>
                        <a:rPr lang="en-US" altLang="zh-CN" sz="2000" i="1" dirty="0">
                          <a:solidFill>
                            <a:srgbClr val="000000"/>
                          </a:solidFill>
                          <a:latin typeface="Cambria Math" panose="02040503050406030204" pitchFamily="18" charset="0"/>
                        </a:rPr>
                        <m:t>⊞</m:t>
                      </m:r>
                      <m:sSub>
                        <m:sSubPr>
                          <m:ctrlPr>
                            <a:rPr lang="en-US" altLang="zh-CN" sz="2000" i="1" smtClean="0">
                              <a:solidFill>
                                <a:schemeClr val="tx1"/>
                              </a:solidFill>
                              <a:latin typeface="Cambria Math" panose="02040503050406030204" pitchFamily="18" charset="0"/>
                            </a:rPr>
                          </m:ctrlPr>
                        </m:sSubPr>
                        <m:e>
                          <m:r>
                            <a:rPr lang="en-US" altLang="zh-CN" sz="2000" i="1" smtClean="0">
                              <a:solidFill>
                                <a:schemeClr val="tx1"/>
                              </a:solidFill>
                              <a:latin typeface="Cambria Math" panose="02040503050406030204" pitchFamily="18" charset="0"/>
                            </a:rPr>
                            <m:t>𝑡</m:t>
                          </m:r>
                        </m:e>
                        <m:sub>
                          <m:r>
                            <a:rPr lang="en-US" altLang="zh-CN" sz="2000" i="1" smtClean="0">
                              <a:solidFill>
                                <a:schemeClr val="tx1"/>
                              </a:solidFill>
                              <a:latin typeface="Cambria Math" panose="02040503050406030204" pitchFamily="18" charset="0"/>
                            </a:rPr>
                            <m:t>4</m:t>
                          </m:r>
                        </m:sub>
                      </m:sSub>
                      <m:r>
                        <a:rPr lang="en-US" altLang="zh-CN" sz="200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3</m:t>
                      </m:r>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47</m:t>
                      </m:r>
                    </m:oMath>
                  </m:oMathPara>
                </a14:m>
                <a:endParaRPr lang="en-US" altLang="zh-CN" sz="2000" b="0" dirty="0">
                  <a:solidFill>
                    <a:schemeClr val="tx1"/>
                  </a:solidFill>
                </a:endParaRPr>
              </a:p>
              <a:p>
                <a:pPr marL="0" indent="0">
                  <a:lnSpc>
                    <a:spcPct val="200000"/>
                  </a:lnSpc>
                  <a:spcBef>
                    <a:spcPts val="0"/>
                  </a:spcBef>
                  <a:spcAft>
                    <a:spcPts val="0"/>
                  </a:spcAft>
                  <a:buNone/>
                </a:pPr>
                <a:r>
                  <a:rPr lang="zh-CN" altLang="en-US" sz="2000" dirty="0">
                    <a:solidFill>
                      <a:schemeClr val="tx1"/>
                    </a:solidFill>
                  </a:rPr>
                  <a:t>对</a:t>
                </a:r>
                <a14:m>
                  <m:oMath xmlns:m="http://schemas.openxmlformats.org/officeDocument/2006/math">
                    <m:sSub>
                      <m:sSubPr>
                        <m:ctrlPr>
                          <a:rPr lang="en-US" altLang="zh-CN" sz="2000" i="1" smtClean="0">
                            <a:solidFill>
                              <a:schemeClr val="tx1"/>
                            </a:solidFill>
                            <a:latin typeface="Cambria Math" panose="02040503050406030204" pitchFamily="18" charset="0"/>
                          </a:rPr>
                        </m:ctrlPr>
                      </m:sSubPr>
                      <m:e>
                        <m:r>
                          <a:rPr lang="en-US" altLang="zh-CN" sz="2000" i="1" smtClean="0">
                            <a:solidFill>
                              <a:schemeClr val="tx1"/>
                            </a:solidFill>
                            <a:latin typeface="Cambria Math" panose="02040503050406030204" pitchFamily="18" charset="0"/>
                          </a:rPr>
                          <m:t>𝑧</m:t>
                        </m:r>
                      </m:e>
                      <m:sub>
                        <m:r>
                          <a:rPr lang="en-US" altLang="zh-CN" sz="2000" i="1" smtClean="0">
                            <a:solidFill>
                              <a:schemeClr val="tx1"/>
                            </a:solidFill>
                            <a:latin typeface="Cambria Math" panose="02040503050406030204" pitchFamily="18" charset="0"/>
                          </a:rPr>
                          <m:t>3</m:t>
                        </m:r>
                      </m:sub>
                    </m:sSub>
                  </m:oMath>
                </a14:m>
                <a:r>
                  <a:rPr lang="zh-CN" altLang="en-US" sz="2000" dirty="0">
                    <a:solidFill>
                      <a:schemeClr val="tx1"/>
                    </a:solidFill>
                  </a:rPr>
                  <a:t>进行判决，得到</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b="0" i="0" smtClean="0">
                            <a:solidFill>
                              <a:schemeClr val="tx1"/>
                            </a:solidFill>
                            <a:latin typeface="Cambria Math" panose="02040503050406030204" pitchFamily="18" charset="0"/>
                          </a:rPr>
                          <m:t>3</m:t>
                        </m:r>
                      </m:sub>
                    </m:sSub>
                  </m:oMath>
                </a14:m>
                <a:r>
                  <a:rPr lang="en-US" altLang="zh-CN" sz="2000" dirty="0">
                    <a:solidFill>
                      <a:schemeClr val="tx1"/>
                    </a:solidFill>
                  </a:rPr>
                  <a:t>=1</a:t>
                </a:r>
                <a:r>
                  <a:rPr lang="zh-CN" altLang="en-US" sz="2000" dirty="0">
                    <a:solidFill>
                      <a:schemeClr val="tx1"/>
                    </a:solidFill>
                  </a:rPr>
                  <a:t>（解码错误）</a:t>
                </a:r>
                <a:endParaRPr lang="en-US" altLang="zh-CN" sz="2000" dirty="0">
                  <a:solidFill>
                    <a:schemeClr val="tx1"/>
                  </a:solidFill>
                </a:endParaRPr>
              </a:p>
              <a:p>
                <a:pPr marL="0" indent="0">
                  <a:lnSpc>
                    <a:spcPct val="200000"/>
                  </a:lnSpc>
                  <a:spcBef>
                    <a:spcPts val="0"/>
                  </a:spcBef>
                  <a:spcAft>
                    <a:spcPts val="0"/>
                  </a:spcAft>
                  <a:buNone/>
                </a:pPr>
                <a:r>
                  <a:rPr lang="zh-CN" altLang="en-US" sz="2000" dirty="0">
                    <a:solidFill>
                      <a:schemeClr val="tx1"/>
                    </a:solidFill>
                    <a:highlight>
                      <a:srgbClr val="FFFF00"/>
                    </a:highlight>
                  </a:rPr>
                  <a:t>第七步：</a:t>
                </a:r>
                <a:r>
                  <a:rPr lang="zh-CN" altLang="en-US" sz="2000" dirty="0">
                    <a:solidFill>
                      <a:schemeClr val="tx1"/>
                    </a:solidFill>
                  </a:rPr>
                  <a:t>与第三步类似，把上半部分（</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b="0" i="0" smtClean="0">
                            <a:solidFill>
                              <a:schemeClr val="tx1"/>
                            </a:solidFill>
                            <a:latin typeface="Cambria Math" panose="02040503050406030204" pitchFamily="18" charset="0"/>
                          </a:rPr>
                          <m:t>3</m:t>
                        </m:r>
                      </m:sub>
                    </m:sSub>
                  </m:oMath>
                </a14:m>
                <a:r>
                  <a:rPr lang="zh-CN" altLang="en-US" sz="2000" dirty="0">
                    <a:solidFill>
                      <a:schemeClr val="tx1"/>
                    </a:solidFill>
                  </a:rPr>
                  <a:t>）当做已知比特，去解出</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b="0" i="0" smtClean="0">
                            <a:solidFill>
                              <a:schemeClr val="tx1"/>
                            </a:solidFill>
                            <a:latin typeface="Cambria Math" panose="02040503050406030204" pitchFamily="18" charset="0"/>
                          </a:rPr>
                          <m:t>4</m:t>
                        </m:r>
                      </m:sub>
                    </m:sSub>
                  </m:oMath>
                </a14:m>
                <a:r>
                  <a:rPr lang="zh-CN" altLang="en-US" sz="2000" dirty="0">
                    <a:solidFill>
                      <a:schemeClr val="tx1"/>
                    </a:solidFill>
                  </a:rPr>
                  <a:t>。</a:t>
                </a:r>
                <a:endParaRPr lang="en-US" altLang="zh-CN" sz="2000" dirty="0">
                  <a:solidFill>
                    <a:schemeClr val="tx1"/>
                  </a:solidFill>
                </a:endParaRPr>
              </a:p>
              <a:p>
                <a:pPr marL="0" indent="0" algn="ctr">
                  <a:lnSpc>
                    <a:spcPct val="200000"/>
                  </a:lnSpc>
                  <a:spcBef>
                    <a:spcPts val="0"/>
                  </a:spcBef>
                  <a:spcAft>
                    <a:spcPts val="0"/>
                  </a:spcAft>
                  <a:buNone/>
                </a:pPr>
                <a14:m>
                  <m:oMath xmlns:m="http://schemas.openxmlformats.org/officeDocument/2006/math">
                    <m:sSub>
                      <m:sSubPr>
                        <m:ctrlPr>
                          <a:rPr lang="en-US" altLang="zh-CN"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z</m:t>
                        </m:r>
                      </m:e>
                      <m:sub>
                        <m:r>
                          <a:rPr lang="en-US" altLang="zh-CN" sz="2000" b="0" i="1" smtClean="0">
                            <a:solidFill>
                              <a:schemeClr val="tx1"/>
                            </a:solidFill>
                            <a:latin typeface="Cambria Math" panose="02040503050406030204" pitchFamily="18" charset="0"/>
                          </a:rPr>
                          <m:t>4</m:t>
                        </m:r>
                      </m:sub>
                    </m:sSub>
                    <m:r>
                      <a:rPr lang="en-US" altLang="zh-CN" sz="2000" i="1" smtClean="0">
                        <a:solidFill>
                          <a:schemeClr val="tx1"/>
                        </a:solidFill>
                        <a:latin typeface="Cambria Math" panose="02040503050406030204" pitchFamily="18" charset="0"/>
                      </a:rPr>
                      <m:t>=</m:t>
                    </m:r>
                  </m:oMath>
                </a14:m>
                <a:r>
                  <a:rPr lang="en-US" altLang="zh-CN" sz="2000" dirty="0">
                    <a:solidFill>
                      <a:schemeClr val="tx1"/>
                    </a:solidFill>
                  </a:rPr>
                  <a:t> </a:t>
                </a:r>
                <a14:m>
                  <m:oMath xmlns:m="http://schemas.openxmlformats.org/officeDocument/2006/math">
                    <m:sSub>
                      <m:sSubPr>
                        <m:ctrlPr>
                          <a:rPr lang="en-US" altLang="zh-CN"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t</m:t>
                        </m:r>
                      </m:e>
                      <m:sub>
                        <m:r>
                          <a:rPr lang="en-US" altLang="zh-CN" sz="2000" b="0" i="1" smtClean="0">
                            <a:solidFill>
                              <a:schemeClr val="tx1"/>
                            </a:solidFill>
                            <a:latin typeface="Cambria Math" panose="02040503050406030204" pitchFamily="18" charset="0"/>
                          </a:rPr>
                          <m:t>4</m:t>
                        </m:r>
                      </m:sub>
                    </m:sSub>
                  </m:oMath>
                </a14:m>
                <a:r>
                  <a:rPr lang="en-US" altLang="zh-CN" sz="2000" dirty="0">
                    <a:solidFill>
                      <a:schemeClr val="tx1"/>
                    </a:solidFill>
                  </a:rPr>
                  <a:t>+</a:t>
                </a:r>
                <a:r>
                  <a:rPr lang="zh-CN" altLang="en-US" sz="2000" dirty="0">
                    <a:solidFill>
                      <a:schemeClr val="tx1"/>
                    </a:solidFill>
                  </a:rPr>
                  <a:t>（</a:t>
                </a:r>
                <a:r>
                  <a:rPr lang="en-US" altLang="zh-CN" sz="2000" dirty="0">
                    <a:solidFill>
                      <a:schemeClr val="tx1"/>
                    </a:solidFill>
                  </a:rPr>
                  <a:t>1-2×</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b="0" i="1" smtClean="0">
                            <a:solidFill>
                              <a:schemeClr val="tx1"/>
                            </a:solidFill>
                            <a:latin typeface="Cambria Math" panose="02040503050406030204" pitchFamily="18" charset="0"/>
                          </a:rPr>
                          <m:t>3</m:t>
                        </m:r>
                      </m:sub>
                    </m:sSub>
                    <m:r>
                      <a:rPr lang="zh-CN" altLang="en-US" sz="2000" i="1">
                        <a:solidFill>
                          <a:schemeClr val="tx1"/>
                        </a:solidFill>
                        <a:latin typeface="Cambria Math" panose="02040503050406030204" pitchFamily="18" charset="0"/>
                      </a:rPr>
                      <m:t>）</m:t>
                    </m:r>
                  </m:oMath>
                </a14:m>
                <a:r>
                  <a:rPr lang="en-US" altLang="zh-CN" sz="2000" dirty="0">
                    <a:solidFill>
                      <a:schemeClr val="tx1"/>
                    </a:solidFill>
                  </a:rPr>
                  <a:t>×</a:t>
                </a:r>
                <a:r>
                  <a:rPr lang="zh-CN" altLang="en-US" sz="2000" dirty="0">
                    <a:solidFill>
                      <a:schemeClr val="tx1"/>
                    </a:solidFill>
                  </a:rPr>
                  <a:t> </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t</m:t>
                        </m:r>
                      </m:e>
                      <m:sub>
                        <m:r>
                          <a:rPr lang="en-US" altLang="zh-CN" sz="2000" b="0" i="1" smtClean="0">
                            <a:solidFill>
                              <a:schemeClr val="tx1"/>
                            </a:solidFill>
                            <a:latin typeface="Cambria Math" panose="02040503050406030204" pitchFamily="18" charset="0"/>
                          </a:rPr>
                          <m:t>3</m:t>
                        </m:r>
                      </m:sub>
                    </m:sSub>
                  </m:oMath>
                </a14:m>
                <a:r>
                  <a:rPr lang="en-US" altLang="zh-CN" sz="2000" dirty="0">
                    <a:solidFill>
                      <a:schemeClr val="tx1"/>
                    </a:solidFill>
                  </a:rPr>
                  <a:t>=-3.50+</a:t>
                </a:r>
                <a:r>
                  <a:rPr lang="zh-CN" altLang="en-US" sz="2000" dirty="0">
                    <a:solidFill>
                      <a:schemeClr val="tx1"/>
                    </a:solidFill>
                  </a:rPr>
                  <a:t>（</a:t>
                </a:r>
                <a:r>
                  <a:rPr lang="en-US" altLang="zh-CN" sz="2000" dirty="0">
                    <a:solidFill>
                      <a:schemeClr val="tx1"/>
                    </a:solidFill>
                  </a:rPr>
                  <a:t>1-2×1</a:t>
                </a:r>
                <a:r>
                  <a:rPr lang="zh-CN" altLang="en-US" sz="2000" dirty="0">
                    <a:solidFill>
                      <a:schemeClr val="tx1"/>
                    </a:solidFill>
                  </a:rPr>
                  <a:t>）</a:t>
                </a:r>
                <a:r>
                  <a:rPr lang="en-US" altLang="zh-CN" sz="2000" dirty="0">
                    <a:solidFill>
                      <a:schemeClr val="tx1"/>
                    </a:solidFill>
                  </a:rPr>
                  <a:t>×7.00=-10.50</a:t>
                </a:r>
                <a:endParaRPr lang="en-US" altLang="zh-CN" sz="2000" dirty="0">
                  <a:solidFill>
                    <a:schemeClr val="tx1"/>
                  </a:solidFill>
                </a:endParaRPr>
              </a:p>
              <a:p>
                <a:pPr marL="0" indent="0">
                  <a:lnSpc>
                    <a:spcPct val="200000"/>
                  </a:lnSpc>
                  <a:spcBef>
                    <a:spcPts val="0"/>
                  </a:spcBef>
                  <a:spcAft>
                    <a:spcPts val="0"/>
                  </a:spcAft>
                  <a:buNone/>
                </a:pPr>
                <a:r>
                  <a:rPr lang="zh-CN" altLang="en-US" sz="2000" dirty="0">
                    <a:solidFill>
                      <a:schemeClr val="tx1"/>
                    </a:solidFill>
                  </a:rPr>
                  <a:t>对</a:t>
                </a:r>
                <a14:m>
                  <m:oMath xmlns:m="http://schemas.openxmlformats.org/officeDocument/2006/math">
                    <m:sSub>
                      <m:sSubPr>
                        <m:ctrlPr>
                          <a:rPr lang="en-US" altLang="zh-CN"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z</m:t>
                        </m:r>
                      </m:e>
                      <m:sub>
                        <m:r>
                          <a:rPr lang="en-US" altLang="zh-CN" sz="2000" b="0" i="1" smtClean="0">
                            <a:solidFill>
                              <a:schemeClr val="tx1"/>
                            </a:solidFill>
                            <a:latin typeface="Cambria Math" panose="02040503050406030204" pitchFamily="18" charset="0"/>
                          </a:rPr>
                          <m:t>4</m:t>
                        </m:r>
                      </m:sub>
                    </m:sSub>
                  </m:oMath>
                </a14:m>
                <a:r>
                  <a:rPr lang="zh-CN" altLang="en-US" sz="2000" dirty="0">
                    <a:solidFill>
                      <a:schemeClr val="tx1"/>
                    </a:solidFill>
                  </a:rPr>
                  <a:t>进行判决，得到</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a:solidFill>
                              <a:schemeClr val="tx1"/>
                            </a:solidFill>
                            <a:latin typeface="Cambria Math" panose="02040503050406030204" pitchFamily="18" charset="0"/>
                          </a:rPr>
                          <m:t>4</m:t>
                        </m:r>
                      </m:sub>
                    </m:sSub>
                  </m:oMath>
                </a14:m>
                <a:r>
                  <a:rPr lang="en-US" altLang="zh-CN" sz="2000" dirty="0">
                    <a:solidFill>
                      <a:schemeClr val="tx1"/>
                    </a:solidFill>
                  </a:rPr>
                  <a:t>=1</a:t>
                </a:r>
                <a:r>
                  <a:rPr lang="zh-CN" altLang="en-US" sz="2000" dirty="0">
                    <a:solidFill>
                      <a:schemeClr val="tx1"/>
                    </a:solidFill>
                  </a:rPr>
                  <a:t>（解码正确）</a:t>
                </a:r>
                <a:endParaRPr lang="en-US" altLang="zh-CN" sz="2000" dirty="0">
                  <a:solidFill>
                    <a:schemeClr val="tx1"/>
                  </a:solidFill>
                </a:endParaRPr>
              </a:p>
              <a:p>
                <a:pPr marL="0" indent="0">
                  <a:lnSpc>
                    <a:spcPct val="150000"/>
                  </a:lnSpc>
                  <a:spcBef>
                    <a:spcPts val="0"/>
                  </a:spcBef>
                  <a:spcAft>
                    <a:spcPts val="0"/>
                  </a:spcAft>
                  <a:buNone/>
                </a:pPr>
                <a:endParaRPr lang="en-US" altLang="zh-CN" sz="2000" dirty="0">
                  <a:solidFill>
                    <a:schemeClr val="tx1"/>
                  </a:solidFill>
                </a:endParaRPr>
              </a:p>
              <a:p>
                <a:pPr marL="0" indent="0">
                  <a:lnSpc>
                    <a:spcPct val="150000"/>
                  </a:lnSpc>
                  <a:spcBef>
                    <a:spcPts val="0"/>
                  </a:spcBef>
                  <a:spcAft>
                    <a:spcPts val="0"/>
                  </a:spcAft>
                  <a:buNone/>
                </a:pPr>
                <a:endParaRPr lang="en-US" altLang="zh-CN" sz="2000" dirty="0">
                  <a:solidFill>
                    <a:schemeClr val="tx1"/>
                  </a:solidFill>
                  <a:latin typeface="+mn-ea"/>
                </a:endParaRPr>
              </a:p>
              <a:p>
                <a:pPr marL="0" indent="0">
                  <a:lnSpc>
                    <a:spcPct val="150000"/>
                  </a:lnSpc>
                  <a:spcBef>
                    <a:spcPts val="0"/>
                  </a:spcBef>
                  <a:spcAft>
                    <a:spcPts val="0"/>
                  </a:spcAft>
                  <a:buNone/>
                </a:pPr>
                <a:endParaRPr lang="en-US" altLang="zh-CN" sz="2000" dirty="0">
                  <a:solidFill>
                    <a:schemeClr val="tx1"/>
                  </a:solidFill>
                  <a:latin typeface="+mn-ea"/>
                </a:endParaRPr>
              </a:p>
            </p:txBody>
          </p:sp>
        </mc:Choice>
        <mc:Fallback>
          <p:sp>
            <p:nvSpPr>
              <p:cNvPr id="4" name="内容占位符 2"/>
              <p:cNvSpPr txBox="1">
                <a:spLocks noRot="1" noChangeAspect="1" noMove="1" noResize="1" noEditPoints="1" noAdjustHandles="1" noChangeArrowheads="1" noChangeShapeType="1" noTextEdit="1"/>
              </p:cNvSpPr>
              <p:nvPr/>
            </p:nvSpPr>
            <p:spPr>
              <a:xfrm>
                <a:off x="289802" y="1524050"/>
                <a:ext cx="8854198" cy="4038494"/>
              </a:xfrm>
              <a:prstGeom prst="rect">
                <a:avLst/>
              </a:prstGeom>
              <a:blipFill rotWithShape="1">
                <a:blip r:embed="rId1"/>
                <a:stretch>
                  <a:fillRect l="-3" t="-1" b="-25694"/>
                </a:stretch>
              </a:blipFill>
              <a:ln w="9525">
                <a:noFill/>
              </a:ln>
            </p:spPr>
            <p:style>
              <a:lnRef idx="0">
                <a:scrgbClr r="0" g="0" b="0"/>
              </a:lnRef>
              <a:fillRef idx="0">
                <a:scrgbClr r="0" g="0" b="0"/>
              </a:fillRef>
              <a:effectRef idx="0">
                <a:scrgbClr r="0" g="0" b="0"/>
              </a:effectRef>
              <a:fontRef idx="minor">
                <a:schemeClr val="dk1"/>
              </a:fontRef>
            </p:style>
            <p:txBody>
              <a:bodyPr/>
              <a:lstStyle/>
              <a:p>
                <a:r>
                  <a:rPr lang="zh-CN" altLang="en-US">
                    <a:noFill/>
                  </a:rPr>
                  <a:t> </a:t>
                </a:r>
              </a:p>
            </p:txBody>
          </p:sp>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705544" y="152486"/>
            <a:ext cx="2300287" cy="685800"/>
          </a:xfrm>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解码示例</a:t>
            </a:r>
            <a:endParaRPr kumimoji="0" lang="zh-CN" altLang="en-US" sz="2400" b="1" kern="0" dirty="0">
              <a:solidFill>
                <a:srgbClr val="000000"/>
              </a:solidFill>
              <a:latin typeface="Arial" panose="020B0604020202020204" pitchFamily="3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4" name="内容占位符 2"/>
              <p:cNvSpPr txBox="1"/>
              <p:nvPr/>
            </p:nvSpPr>
            <p:spPr>
              <a:xfrm>
                <a:off x="189685" y="1333555"/>
                <a:ext cx="8854198" cy="4190890"/>
              </a:xfrm>
              <a:prstGeom prst="rect">
                <a:avLst/>
              </a:prstGeom>
              <a:ln w="9525">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chemeClr val="dk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chemeClr val="dk1"/>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dk1"/>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chemeClr val="dk1"/>
                    </a:solidFill>
                    <a:latin typeface="+mn-lt"/>
                    <a:ea typeface="+mn-ea"/>
                    <a:cs typeface="+mn-cs"/>
                  </a:defRPr>
                </a:lvl4pPr>
                <a:lvl5pPr marL="2057400" indent="-228600" algn="l" rtl="0" eaLnBrk="0" fontAlgn="base" hangingPunct="0">
                  <a:spcBef>
                    <a:spcPct val="20000"/>
                  </a:spcBef>
                  <a:spcAft>
                    <a:spcPct val="0"/>
                  </a:spcAft>
                  <a:defRPr kumimoji="1" sz="14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50000"/>
                  </a:lnSpc>
                  <a:spcBef>
                    <a:spcPts val="0"/>
                  </a:spcBef>
                  <a:spcAft>
                    <a:spcPts val="0"/>
                  </a:spcAft>
                  <a:buNone/>
                </a:pPr>
                <a:endParaRPr lang="en-US" altLang="zh-CN" sz="2000" dirty="0">
                  <a:solidFill>
                    <a:schemeClr val="tx1"/>
                  </a:solidFill>
                  <a:latin typeface="+mn-ea"/>
                </a:endParaRPr>
              </a:p>
              <a:p>
                <a:pPr marL="0" indent="0">
                  <a:lnSpc>
                    <a:spcPct val="200000"/>
                  </a:lnSpc>
                  <a:spcBef>
                    <a:spcPts val="0"/>
                  </a:spcBef>
                  <a:spcAft>
                    <a:spcPts val="0"/>
                  </a:spcAft>
                  <a:buNone/>
                </a:pPr>
                <a:r>
                  <a:rPr lang="zh-CN" altLang="en-US" sz="2000" dirty="0">
                    <a:solidFill>
                      <a:schemeClr val="tx1"/>
                    </a:solidFill>
                  </a:rPr>
                  <a:t> 小结：</a:t>
                </a:r>
                <a:endParaRPr lang="en-US" altLang="zh-CN" sz="2000" dirty="0">
                  <a:solidFill>
                    <a:schemeClr val="tx1"/>
                  </a:solidFill>
                </a:endParaRPr>
              </a:p>
              <a:p>
                <a:pPr marL="0" indent="0">
                  <a:lnSpc>
                    <a:spcPct val="200000"/>
                  </a:lnSpc>
                  <a:spcBef>
                    <a:spcPts val="0"/>
                  </a:spcBef>
                  <a:spcAft>
                    <a:spcPts val="0"/>
                  </a:spcAft>
                  <a:buNone/>
                </a:pPr>
                <a:r>
                  <a:rPr lang="en-US" altLang="zh-CN" sz="2000" dirty="0">
                    <a:solidFill>
                      <a:schemeClr val="tx1"/>
                    </a:solidFill>
                  </a:rPr>
                  <a:t>       </a:t>
                </a:r>
                <a:r>
                  <a:rPr lang="zh-CN" altLang="en-US" sz="2000" dirty="0">
                    <a:solidFill>
                      <a:schemeClr val="tx1"/>
                    </a:solidFill>
                  </a:rPr>
                  <a:t>上述解码方法是串行进行的（先解</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b="0" i="0" smtClean="0">
                            <a:solidFill>
                              <a:schemeClr val="tx1"/>
                            </a:solidFill>
                            <a:latin typeface="Cambria Math" panose="02040503050406030204" pitchFamily="18" charset="0"/>
                          </a:rPr>
                          <m:t>1</m:t>
                        </m:r>
                      </m:sub>
                    </m:sSub>
                    <m:r>
                      <a:rPr lang="en-US" altLang="zh-CN" sz="2000" i="1">
                        <a:solidFill>
                          <a:schemeClr val="tx1"/>
                        </a:solidFill>
                        <a:latin typeface="Cambria Math" panose="02040503050406030204" pitchFamily="18" charset="0"/>
                      </a:rPr>
                      <m:t> </m:t>
                    </m:r>
                  </m:oMath>
                </a14:m>
                <a:r>
                  <a:rPr lang="zh-CN" altLang="en-US" sz="2000" dirty="0">
                    <a:solidFill>
                      <a:schemeClr val="tx1"/>
                    </a:solidFill>
                  </a:rPr>
                  <a:t>，然后解</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b="0" i="0" smtClean="0">
                            <a:solidFill>
                              <a:schemeClr val="tx1"/>
                            </a:solidFill>
                            <a:latin typeface="Cambria Math" panose="02040503050406030204" pitchFamily="18" charset="0"/>
                          </a:rPr>
                          <m:t>2</m:t>
                        </m:r>
                      </m:sub>
                    </m:sSub>
                    <m:r>
                      <a:rPr lang="en-US" altLang="zh-CN" sz="2000" i="1">
                        <a:solidFill>
                          <a:schemeClr val="tx1"/>
                        </a:solidFill>
                        <a:latin typeface="Cambria Math" panose="02040503050406030204" pitchFamily="18" charset="0"/>
                      </a:rPr>
                      <m:t> </m:t>
                    </m:r>
                    <m:r>
                      <a:rPr lang="zh-CN" altLang="en-US" sz="2000" i="1">
                        <a:solidFill>
                          <a:schemeClr val="tx1"/>
                        </a:solidFill>
                        <a:latin typeface="Cambria Math" panose="02040503050406030204" pitchFamily="18" charset="0"/>
                      </a:rPr>
                      <m:t>，</m:t>
                    </m:r>
                  </m:oMath>
                </a14:m>
                <a:r>
                  <a:rPr lang="zh-CN" altLang="en-US" sz="2000" dirty="0">
                    <a:solidFill>
                      <a:schemeClr val="tx1"/>
                    </a:solidFill>
                  </a:rPr>
                  <a:t>再解</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b="0" i="0" smtClean="0">
                            <a:solidFill>
                              <a:schemeClr val="tx1"/>
                            </a:solidFill>
                            <a:latin typeface="Cambria Math" panose="02040503050406030204" pitchFamily="18" charset="0"/>
                          </a:rPr>
                          <m:t>3</m:t>
                        </m:r>
                      </m:sub>
                    </m:sSub>
                    <m:r>
                      <a:rPr lang="en-US" altLang="zh-CN" sz="2000" i="1">
                        <a:solidFill>
                          <a:schemeClr val="tx1"/>
                        </a:solidFill>
                        <a:latin typeface="Cambria Math" panose="02040503050406030204" pitchFamily="18" charset="0"/>
                      </a:rPr>
                      <m:t> </m:t>
                    </m:r>
                  </m:oMath>
                </a14:m>
                <a:r>
                  <a:rPr lang="zh-CN" altLang="en-US" sz="2000" dirty="0">
                    <a:solidFill>
                      <a:schemeClr val="tx1"/>
                    </a:solidFill>
                  </a:rPr>
                  <a:t>，最后解</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a:solidFill>
                              <a:schemeClr val="tx1"/>
                            </a:solidFill>
                            <a:latin typeface="Cambria Math" panose="02040503050406030204" pitchFamily="18" charset="0"/>
                          </a:rPr>
                          <m:t>4</m:t>
                        </m:r>
                      </m:sub>
                    </m:sSub>
                    <m:r>
                      <a:rPr lang="en-US" altLang="zh-CN" sz="2000" i="1">
                        <a:solidFill>
                          <a:schemeClr val="tx1"/>
                        </a:solidFill>
                        <a:latin typeface="Cambria Math" panose="02040503050406030204" pitchFamily="18" charset="0"/>
                      </a:rPr>
                      <m:t> </m:t>
                    </m:r>
                  </m:oMath>
                </a14:m>
                <a:r>
                  <a:rPr lang="zh-CN" altLang="en-US" sz="2000" dirty="0">
                    <a:solidFill>
                      <a:schemeClr val="tx1"/>
                    </a:solidFill>
                  </a:rPr>
                  <a:t>）并且在解码后面的比特（如</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b="0" i="0" smtClean="0">
                            <a:solidFill>
                              <a:schemeClr val="tx1"/>
                            </a:solidFill>
                            <a:latin typeface="Cambria Math" panose="02040503050406030204" pitchFamily="18" charset="0"/>
                          </a:rPr>
                          <m:t>2</m:t>
                        </m:r>
                      </m:sub>
                    </m:sSub>
                  </m:oMath>
                </a14:m>
                <a:r>
                  <a:rPr lang="zh-CN" altLang="en-US" sz="2000" dirty="0">
                    <a:solidFill>
                      <a:schemeClr val="tx1"/>
                    </a:solidFill>
                  </a:rPr>
                  <a:t>）时，充分考虑了前面比特（ </a:t>
                </a:r>
                <a14:m>
                  <m:oMath xmlns:m="http://schemas.openxmlformats.org/officeDocument/2006/math">
                    <m:sSub>
                      <m:sSubPr>
                        <m:ctrlPr>
                          <a:rPr lang="zh-CN" altLang="en-US"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u</m:t>
                        </m:r>
                      </m:e>
                      <m:sub>
                        <m:r>
                          <a:rPr lang="en-US" altLang="zh-CN" sz="2000" b="0" i="0" smtClean="0">
                            <a:solidFill>
                              <a:schemeClr val="tx1"/>
                            </a:solidFill>
                            <a:latin typeface="Cambria Math" panose="02040503050406030204" pitchFamily="18" charset="0"/>
                          </a:rPr>
                          <m:t>1</m:t>
                        </m:r>
                      </m:sub>
                    </m:sSub>
                    <m:r>
                      <a:rPr lang="en-US" altLang="zh-CN" sz="2000" i="1">
                        <a:solidFill>
                          <a:schemeClr val="tx1"/>
                        </a:solidFill>
                        <a:latin typeface="Cambria Math" panose="02040503050406030204" pitchFamily="18" charset="0"/>
                      </a:rPr>
                      <m:t> </m:t>
                    </m:r>
                  </m:oMath>
                </a14:m>
                <a:r>
                  <a:rPr lang="zh-CN" altLang="en-US" sz="2000" dirty="0">
                    <a:solidFill>
                      <a:schemeClr val="tx1"/>
                    </a:solidFill>
                  </a:rPr>
                  <a:t>）的影响，从而逐步消除前面比特的影响，故称之为串行消除算法。</a:t>
                </a:r>
                <a:endParaRPr lang="en-US" altLang="zh-CN" sz="2000" dirty="0">
                  <a:solidFill>
                    <a:schemeClr val="tx1"/>
                  </a:solidFill>
                </a:endParaRPr>
              </a:p>
              <a:p>
                <a:pPr marL="0" indent="0">
                  <a:lnSpc>
                    <a:spcPct val="200000"/>
                  </a:lnSpc>
                  <a:spcBef>
                    <a:spcPts val="0"/>
                  </a:spcBef>
                  <a:spcAft>
                    <a:spcPts val="0"/>
                  </a:spcAft>
                  <a:buNone/>
                </a:pPr>
                <a:r>
                  <a:rPr lang="zh-CN" altLang="en-US" sz="2000" dirty="0">
                    <a:solidFill>
                      <a:schemeClr val="tx1"/>
                    </a:solidFill>
                  </a:rPr>
                  <a:t>       当母码长度更大的时候，需要执行多次上面这些步骤。</a:t>
                </a:r>
                <a:endParaRPr lang="en-US" altLang="zh-CN" sz="2000" dirty="0">
                  <a:solidFill>
                    <a:schemeClr val="tx1"/>
                  </a:solidFill>
                </a:endParaRPr>
              </a:p>
              <a:p>
                <a:pPr marL="0" indent="0">
                  <a:lnSpc>
                    <a:spcPct val="150000"/>
                  </a:lnSpc>
                  <a:spcBef>
                    <a:spcPts val="0"/>
                  </a:spcBef>
                  <a:spcAft>
                    <a:spcPts val="0"/>
                  </a:spcAft>
                  <a:buNone/>
                </a:pPr>
                <a:endParaRPr lang="en-US" altLang="zh-CN" sz="2000" dirty="0">
                  <a:solidFill>
                    <a:schemeClr val="tx1"/>
                  </a:solidFill>
                  <a:latin typeface="+mn-ea"/>
                </a:endParaRPr>
              </a:p>
              <a:p>
                <a:pPr marL="0" indent="0">
                  <a:lnSpc>
                    <a:spcPct val="150000"/>
                  </a:lnSpc>
                  <a:spcBef>
                    <a:spcPts val="0"/>
                  </a:spcBef>
                  <a:spcAft>
                    <a:spcPts val="0"/>
                  </a:spcAft>
                  <a:buNone/>
                </a:pPr>
                <a:endParaRPr lang="en-US" altLang="zh-CN" sz="2000" dirty="0">
                  <a:solidFill>
                    <a:schemeClr val="tx1"/>
                  </a:solidFill>
                  <a:latin typeface="+mn-ea"/>
                </a:endParaRPr>
              </a:p>
            </p:txBody>
          </p:sp>
        </mc:Choice>
        <mc:Fallback>
          <p:sp>
            <p:nvSpPr>
              <p:cNvPr id="4" name="内容占位符 2"/>
              <p:cNvSpPr txBox="1">
                <a:spLocks noRot="1" noChangeAspect="1" noMove="1" noResize="1" noEditPoints="1" noAdjustHandles="1" noChangeArrowheads="1" noChangeShapeType="1" noTextEdit="1"/>
              </p:cNvSpPr>
              <p:nvPr/>
            </p:nvSpPr>
            <p:spPr>
              <a:xfrm>
                <a:off x="189685" y="1333555"/>
                <a:ext cx="8854198" cy="4190890"/>
              </a:xfrm>
              <a:prstGeom prst="rect">
                <a:avLst/>
              </a:prstGeom>
              <a:blipFill rotWithShape="1">
                <a:blip r:embed="rId1"/>
                <a:stretch>
                  <a:fillRect l="-5" t="-1" r="2" b="-6547"/>
                </a:stretch>
              </a:blipFill>
              <a:ln w="9525">
                <a:noFill/>
              </a:ln>
            </p:spPr>
            <p:style>
              <a:lnRef idx="0">
                <a:scrgbClr r="0" g="0" b="0"/>
              </a:lnRef>
              <a:fillRef idx="0">
                <a:scrgbClr r="0" g="0" b="0"/>
              </a:fillRef>
              <a:effectRef idx="0">
                <a:scrgbClr r="0" g="0" b="0"/>
              </a:effectRef>
              <a:fontRef idx="minor">
                <a:schemeClr val="dk1"/>
              </a:fontRef>
            </p:style>
            <p:txBody>
              <a:bodyPr/>
              <a:lstStyle/>
              <a:p>
                <a:r>
                  <a:rPr lang="zh-CN" altLang="en-US">
                    <a:noFill/>
                  </a:rPr>
                  <a:t> </a:t>
                </a:r>
              </a:p>
            </p:txBody>
          </p:sp>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978905" y="190555"/>
            <a:ext cx="2933737"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解码算法</a:t>
            </a:r>
            <a:endParaRPr lang="zh-CN" altLang="en-US" sz="2400" dirty="0">
              <a:sym typeface="+mn-ea"/>
            </a:endParaRPr>
          </a:p>
        </p:txBody>
      </p:sp>
      <p:sp>
        <p:nvSpPr>
          <p:cNvPr id="5" name="文本框 4"/>
          <p:cNvSpPr txBox="1"/>
          <p:nvPr/>
        </p:nvSpPr>
        <p:spPr>
          <a:xfrm>
            <a:off x="247733" y="1219258"/>
            <a:ext cx="8648533" cy="955903"/>
          </a:xfrm>
          <a:prstGeom prst="rect">
            <a:avLst/>
          </a:prstGeom>
          <a:noFill/>
        </p:spPr>
        <p:txBody>
          <a:bodyPr wrap="square">
            <a:spAutoFit/>
          </a:bodyPr>
          <a:lstStyle/>
          <a:p>
            <a:pPr>
              <a:lnSpc>
                <a:spcPct val="150000"/>
              </a:lnSpc>
            </a:pPr>
            <a:r>
              <a:rPr lang="zh-CN" altLang="en-US" sz="2000" dirty="0">
                <a:solidFill>
                  <a:srgbClr val="000000"/>
                </a:solidFill>
                <a:latin typeface="+mn-lt"/>
                <a:ea typeface="黑体" panose="02010609060101010101" pitchFamily="49" charset="-122"/>
                <a:cs typeface="+mn-cs"/>
              </a:rPr>
              <a:t>       普通</a:t>
            </a:r>
            <a:r>
              <a:rPr lang="en-US" altLang="zh-CN" sz="2000" dirty="0">
                <a:solidFill>
                  <a:srgbClr val="000000"/>
                </a:solidFill>
                <a:latin typeface="+mn-lt"/>
                <a:ea typeface="黑体" panose="02010609060101010101" pitchFamily="49" charset="-122"/>
                <a:cs typeface="+mn-cs"/>
              </a:rPr>
              <a:t>SC</a:t>
            </a:r>
            <a:r>
              <a:rPr lang="zh-CN" altLang="en-US" sz="2000" dirty="0">
                <a:solidFill>
                  <a:srgbClr val="000000"/>
                </a:solidFill>
                <a:latin typeface="+mn-lt"/>
                <a:ea typeface="黑体" panose="02010609060101010101" pitchFamily="49" charset="-122"/>
                <a:cs typeface="+mn-cs"/>
              </a:rPr>
              <a:t>算法解码方式主要通过后验概率进行判决，总是通过最大后验概率的路径进行分析，但通过</a:t>
            </a:r>
            <a:r>
              <a:rPr lang="en-US" altLang="zh-CN" sz="2000" dirty="0">
                <a:solidFill>
                  <a:srgbClr val="000000"/>
                </a:solidFill>
                <a:latin typeface="+mn-lt"/>
                <a:ea typeface="黑体" panose="02010609060101010101" pitchFamily="49" charset="-122"/>
                <a:cs typeface="+mn-cs"/>
              </a:rPr>
              <a:t>SC</a:t>
            </a:r>
            <a:r>
              <a:rPr lang="zh-CN" altLang="en-US" sz="2000" dirty="0">
                <a:solidFill>
                  <a:srgbClr val="000000"/>
                </a:solidFill>
                <a:latin typeface="+mn-lt"/>
                <a:ea typeface="黑体" panose="02010609060101010101" pitchFamily="49" charset="-122"/>
                <a:cs typeface="+mn-cs"/>
              </a:rPr>
              <a:t>算法，有时可能会走错。（码树进行表示）</a:t>
            </a:r>
            <a:endParaRPr lang="zh-CN" altLang="en-US" dirty="0">
              <a:latin typeface="+mn-lt"/>
            </a:endParaRPr>
          </a:p>
        </p:txBody>
      </p:sp>
      <p:pic>
        <p:nvPicPr>
          <p:cNvPr id="6" name="图片 5"/>
          <p:cNvPicPr>
            <a:picLocks noChangeAspect="1"/>
          </p:cNvPicPr>
          <p:nvPr/>
        </p:nvPicPr>
        <p:blipFill>
          <a:blip r:embed="rId1"/>
          <a:stretch>
            <a:fillRect/>
          </a:stretch>
        </p:blipFill>
        <p:spPr>
          <a:xfrm>
            <a:off x="533445" y="2175167"/>
            <a:ext cx="8077108" cy="4108688"/>
          </a:xfrm>
          <a:prstGeom prst="rect">
            <a:avLst/>
          </a:prstGeom>
        </p:spPr>
      </p:pic>
      <p:sp>
        <p:nvSpPr>
          <p:cNvPr id="7" name="文本框 6"/>
          <p:cNvSpPr txBox="1"/>
          <p:nvPr/>
        </p:nvSpPr>
        <p:spPr>
          <a:xfrm>
            <a:off x="3962416" y="6386963"/>
            <a:ext cx="1904950" cy="369332"/>
          </a:xfrm>
          <a:prstGeom prst="rect">
            <a:avLst/>
          </a:prstGeom>
          <a:noFill/>
        </p:spPr>
        <p:txBody>
          <a:bodyPr wrap="square" rtlCol="0" anchor="t">
            <a:spAutoFit/>
          </a:bodyPr>
          <a:lstStyle/>
          <a:p>
            <a:r>
              <a:rPr lang="en-US" altLang="zh-CN" b="1" dirty="0">
                <a:solidFill>
                  <a:schemeClr val="accent2"/>
                </a:solidFill>
                <a:latin typeface="黑体" panose="02010609060101010101" pitchFamily="49" charset="-122"/>
                <a:ea typeface="黑体" panose="02010609060101010101" pitchFamily="49" charset="-122"/>
                <a:sym typeface="+mn-ea"/>
              </a:rPr>
              <a:t>SC</a:t>
            </a:r>
            <a:r>
              <a:rPr lang="zh-CN" altLang="en-US" b="1" dirty="0">
                <a:solidFill>
                  <a:schemeClr val="accent2"/>
                </a:solidFill>
                <a:latin typeface="黑体" panose="02010609060101010101" pitchFamily="49" charset="-122"/>
                <a:ea typeface="黑体" panose="02010609060101010101" pitchFamily="49" charset="-122"/>
                <a:sym typeface="+mn-ea"/>
              </a:rPr>
              <a:t>算法码树表示</a:t>
            </a:r>
            <a:endParaRPr lang="zh-CN" altLang="en-US" b="1" dirty="0">
              <a:solidFill>
                <a:schemeClr val="accent2"/>
              </a:solidFill>
              <a:latin typeface="黑体" panose="02010609060101010101" pitchFamily="49" charset="-122"/>
              <a:ea typeface="黑体" panose="02010609060101010101" pitchFamily="49" charset="-122"/>
              <a:sym typeface="+mn-e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019762" y="152486"/>
            <a:ext cx="2933737"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解码算法</a:t>
            </a:r>
            <a:endParaRPr lang="zh-CN" altLang="en-US" sz="2400" dirty="0">
              <a:sym typeface="+mn-ea"/>
            </a:endParaRPr>
          </a:p>
        </p:txBody>
      </p:sp>
      <mc:AlternateContent xmlns:mc="http://schemas.openxmlformats.org/markup-compatibility/2006">
        <mc:Choice xmlns:a14="http://schemas.microsoft.com/office/drawing/2010/main" Requires="a14">
          <p:sp>
            <p:nvSpPr>
              <p:cNvPr id="5" name="文本框 4"/>
              <p:cNvSpPr txBox="1"/>
              <p:nvPr/>
            </p:nvSpPr>
            <p:spPr>
              <a:xfrm>
                <a:off x="304912" y="955277"/>
                <a:ext cx="8381780" cy="4947445"/>
              </a:xfrm>
              <a:prstGeom prst="rect">
                <a:avLst/>
              </a:prstGeom>
              <a:noFill/>
            </p:spPr>
            <p:txBody>
              <a:bodyPr wrap="square">
                <a:spAutoFit/>
              </a:bodyPr>
              <a:lstStyle/>
              <a:p>
                <a:pPr>
                  <a:lnSpc>
                    <a:spcPct val="200000"/>
                  </a:lnSpc>
                </a:pPr>
                <a:r>
                  <a:rPr lang="zh-CN" altLang="en-US" sz="2000" dirty="0">
                    <a:solidFill>
                      <a:srgbClr val="000000"/>
                    </a:solidFill>
                    <a:highlight>
                      <a:srgbClr val="FFFF00"/>
                    </a:highlight>
                    <a:latin typeface="+mn-lt"/>
                    <a:ea typeface="黑体" panose="02010609060101010101" pitchFamily="49" charset="-122"/>
                    <a:cs typeface="+mn-cs"/>
                  </a:rPr>
                  <a:t>第二种方式</a:t>
                </a:r>
                <a:r>
                  <a:rPr lang="en-US" altLang="zh-CN" sz="2000" dirty="0">
                    <a:solidFill>
                      <a:srgbClr val="000000"/>
                    </a:solidFill>
                    <a:highlight>
                      <a:srgbClr val="FFFF00"/>
                    </a:highlight>
                    <a:latin typeface="+mn-lt"/>
                    <a:ea typeface="黑体" panose="02010609060101010101" pitchFamily="49" charset="-122"/>
                    <a:cs typeface="+mn-cs"/>
                  </a:rPr>
                  <a:t>:SC-L</a:t>
                </a:r>
                <a:r>
                  <a:rPr lang="zh-CN" altLang="en-US" sz="2000" dirty="0">
                    <a:solidFill>
                      <a:srgbClr val="000000"/>
                    </a:solidFill>
                    <a:highlight>
                      <a:srgbClr val="FFFF00"/>
                    </a:highlight>
                    <a:latin typeface="+mn-lt"/>
                    <a:ea typeface="黑体" panose="02010609060101010101" pitchFamily="49" charset="-122"/>
                    <a:cs typeface="+mn-cs"/>
                  </a:rPr>
                  <a:t>算法</a:t>
                </a:r>
                <a:endParaRPr lang="en-US" altLang="zh-CN" sz="2000" dirty="0">
                  <a:solidFill>
                    <a:srgbClr val="000000"/>
                  </a:solidFill>
                  <a:highlight>
                    <a:srgbClr val="FFFF00"/>
                  </a:highlight>
                  <a:latin typeface="+mn-lt"/>
                  <a:ea typeface="黑体" panose="02010609060101010101" pitchFamily="49" charset="-122"/>
                  <a:cs typeface="+mn-cs"/>
                </a:endParaRPr>
              </a:p>
              <a:p>
                <a:pPr>
                  <a:lnSpc>
                    <a:spcPct val="200000"/>
                  </a:lnSpc>
                </a:pPr>
                <a:r>
                  <a:rPr lang="en-US" altLang="zh-CN" sz="2000" dirty="0">
                    <a:solidFill>
                      <a:srgbClr val="000000"/>
                    </a:solidFill>
                    <a:latin typeface="+mn-lt"/>
                    <a:ea typeface="黑体" panose="02010609060101010101" pitchFamily="49" charset="-122"/>
                    <a:cs typeface="+mn-cs"/>
                  </a:rPr>
                  <a:t>        SC-L</a:t>
                </a:r>
                <a:r>
                  <a:rPr lang="zh-CN" altLang="en-US" sz="2000" dirty="0">
                    <a:solidFill>
                      <a:srgbClr val="000000"/>
                    </a:solidFill>
                    <a:latin typeface="+mn-lt"/>
                    <a:ea typeface="黑体" panose="02010609060101010101" pitchFamily="49" charset="-122"/>
                    <a:cs typeface="+mn-cs"/>
                  </a:rPr>
                  <a:t>算法是在</a:t>
                </a:r>
                <a:r>
                  <a:rPr lang="en-US" altLang="zh-CN" sz="2000" dirty="0">
                    <a:solidFill>
                      <a:srgbClr val="000000"/>
                    </a:solidFill>
                    <a:latin typeface="+mn-lt"/>
                    <a:ea typeface="黑体" panose="02010609060101010101" pitchFamily="49" charset="-122"/>
                    <a:cs typeface="+mn-cs"/>
                  </a:rPr>
                  <a:t>SC</a:t>
                </a:r>
                <a:r>
                  <a:rPr lang="zh-CN" altLang="en-US" sz="2000" dirty="0">
                    <a:solidFill>
                      <a:srgbClr val="000000"/>
                    </a:solidFill>
                    <a:latin typeface="+mn-lt"/>
                    <a:ea typeface="黑体" panose="02010609060101010101" pitchFamily="49" charset="-122"/>
                    <a:cs typeface="+mn-cs"/>
                  </a:rPr>
                  <a:t>算法的基础上，通过保存</a:t>
                </a:r>
                <a:r>
                  <a:rPr lang="en-US" altLang="zh-CN" sz="2000" dirty="0">
                    <a:solidFill>
                      <a:srgbClr val="000000"/>
                    </a:solidFill>
                    <a:latin typeface="+mn-lt"/>
                    <a:ea typeface="黑体" panose="02010609060101010101" pitchFamily="49" charset="-122"/>
                    <a:cs typeface="+mn-cs"/>
                  </a:rPr>
                  <a:t>L</a:t>
                </a:r>
                <a:r>
                  <a:rPr lang="zh-CN" altLang="en-US" sz="2000" dirty="0">
                    <a:solidFill>
                      <a:srgbClr val="000000"/>
                    </a:solidFill>
                    <a:latin typeface="+mn-lt"/>
                    <a:ea typeface="黑体" panose="02010609060101010101" pitchFamily="49" charset="-122"/>
                    <a:cs typeface="+mn-cs"/>
                  </a:rPr>
                  <a:t>条具有最大后验概率的路径来进行下一层的解码，算法在最后选取一条具有最大后验概率的路径。即相对</a:t>
                </a:r>
                <a:r>
                  <a:rPr lang="en-US" altLang="zh-CN" sz="2000" dirty="0">
                    <a:solidFill>
                      <a:srgbClr val="000000"/>
                    </a:solidFill>
                    <a:latin typeface="+mn-lt"/>
                    <a:ea typeface="黑体" panose="02010609060101010101" pitchFamily="49" charset="-122"/>
                    <a:cs typeface="+mn-cs"/>
                  </a:rPr>
                  <a:t>SC</a:t>
                </a:r>
                <a:r>
                  <a:rPr lang="zh-CN" altLang="en-US" sz="2000" dirty="0">
                    <a:solidFill>
                      <a:srgbClr val="000000"/>
                    </a:solidFill>
                    <a:latin typeface="+mn-lt"/>
                    <a:ea typeface="黑体" panose="02010609060101010101" pitchFamily="49" charset="-122"/>
                    <a:cs typeface="+mn-cs"/>
                  </a:rPr>
                  <a:t>算法，</a:t>
                </a:r>
                <a:r>
                  <a:rPr lang="en-US" altLang="zh-CN" sz="2000" dirty="0">
                    <a:solidFill>
                      <a:srgbClr val="000000"/>
                    </a:solidFill>
                    <a:latin typeface="+mn-lt"/>
                    <a:ea typeface="黑体" panose="02010609060101010101" pitchFamily="49" charset="-122"/>
                    <a:cs typeface="+mn-cs"/>
                  </a:rPr>
                  <a:t>SC-L</a:t>
                </a:r>
                <a:r>
                  <a:rPr lang="zh-CN" altLang="en-US" sz="2000" dirty="0">
                    <a:solidFill>
                      <a:srgbClr val="000000"/>
                    </a:solidFill>
                    <a:latin typeface="+mn-lt"/>
                    <a:ea typeface="黑体" panose="02010609060101010101" pitchFamily="49" charset="-122"/>
                    <a:cs typeface="+mn-cs"/>
                  </a:rPr>
                  <a:t>算法增加了路径保存和回退功能。</a:t>
                </a:r>
                <a:endParaRPr lang="en-US" altLang="zh-CN" sz="2000" dirty="0">
                  <a:solidFill>
                    <a:srgbClr val="000000"/>
                  </a:solidFill>
                  <a:latin typeface="+mn-lt"/>
                  <a:ea typeface="黑体" panose="02010609060101010101" pitchFamily="49" charset="-122"/>
                  <a:cs typeface="+mn-cs"/>
                </a:endParaRPr>
              </a:p>
              <a:p>
                <a:pPr>
                  <a:lnSpc>
                    <a:spcPct val="200000"/>
                  </a:lnSpc>
                </a:pPr>
                <a:r>
                  <a:rPr lang="zh-CN" altLang="en-US" sz="2000" dirty="0">
                    <a:solidFill>
                      <a:srgbClr val="000000"/>
                    </a:solidFill>
                    <a:latin typeface="+mn-lt"/>
                    <a:ea typeface="黑体" panose="02010609060101010101" pitchFamily="49" charset="-122"/>
                    <a:cs typeface="+mn-cs"/>
                  </a:rPr>
                  <a:t>        当列表深度</a:t>
                </a:r>
                <a:r>
                  <a:rPr lang="en-US" altLang="zh-CN" sz="2000" dirty="0">
                    <a:solidFill>
                      <a:srgbClr val="000000"/>
                    </a:solidFill>
                    <a:latin typeface="+mn-lt"/>
                    <a:ea typeface="黑体" panose="02010609060101010101" pitchFamily="49" charset="-122"/>
                    <a:cs typeface="+mn-cs"/>
                  </a:rPr>
                  <a:t>L=1</a:t>
                </a:r>
                <a:r>
                  <a:rPr lang="zh-CN" altLang="en-US" sz="2000" dirty="0">
                    <a:solidFill>
                      <a:srgbClr val="000000"/>
                    </a:solidFill>
                    <a:latin typeface="+mn-lt"/>
                    <a:ea typeface="黑体" panose="02010609060101010101" pitchFamily="49" charset="-122"/>
                    <a:cs typeface="+mn-cs"/>
                  </a:rPr>
                  <a:t>时，</a:t>
                </a:r>
                <a:r>
                  <a:rPr lang="en-US" altLang="zh-CN" sz="2000" dirty="0">
                    <a:solidFill>
                      <a:srgbClr val="000000"/>
                    </a:solidFill>
                    <a:latin typeface="+mn-lt"/>
                    <a:ea typeface="黑体" panose="02010609060101010101" pitchFamily="49" charset="-122"/>
                    <a:cs typeface="+mn-cs"/>
                  </a:rPr>
                  <a:t>SC-L</a:t>
                </a:r>
                <a:r>
                  <a:rPr lang="zh-CN" altLang="en-US" sz="2000" dirty="0">
                    <a:solidFill>
                      <a:srgbClr val="000000"/>
                    </a:solidFill>
                    <a:latin typeface="+mn-lt"/>
                    <a:ea typeface="黑体" panose="02010609060101010101" pitchFamily="49" charset="-122"/>
                    <a:cs typeface="+mn-cs"/>
                  </a:rPr>
                  <a:t>算法等同于</a:t>
                </a:r>
                <a:r>
                  <a:rPr lang="en-US" altLang="zh-CN" sz="2000" dirty="0">
                    <a:solidFill>
                      <a:srgbClr val="000000"/>
                    </a:solidFill>
                    <a:latin typeface="+mn-lt"/>
                    <a:ea typeface="黑体" panose="02010609060101010101" pitchFamily="49" charset="-122"/>
                    <a:cs typeface="+mn-cs"/>
                  </a:rPr>
                  <a:t>SC</a:t>
                </a:r>
                <a:r>
                  <a:rPr lang="zh-CN" altLang="en-US" sz="2000" dirty="0">
                    <a:solidFill>
                      <a:srgbClr val="000000"/>
                    </a:solidFill>
                    <a:latin typeface="+mn-lt"/>
                    <a:ea typeface="黑体" panose="02010609060101010101" pitchFamily="49" charset="-122"/>
                    <a:cs typeface="+mn-cs"/>
                  </a:rPr>
                  <a:t>算法；</a:t>
                </a:r>
                <a:endParaRPr lang="en-US" altLang="zh-CN" sz="2000" dirty="0">
                  <a:solidFill>
                    <a:srgbClr val="000000"/>
                  </a:solidFill>
                  <a:latin typeface="+mn-lt"/>
                  <a:ea typeface="黑体" panose="02010609060101010101" pitchFamily="49" charset="-122"/>
                  <a:cs typeface="+mn-cs"/>
                </a:endParaRPr>
              </a:p>
              <a:p>
                <a:pPr>
                  <a:lnSpc>
                    <a:spcPct val="200000"/>
                  </a:lnSpc>
                </a:pPr>
                <a:r>
                  <a:rPr lang="en-US" altLang="zh-CN" sz="2000" dirty="0">
                    <a:solidFill>
                      <a:srgbClr val="000000"/>
                    </a:solidFill>
                    <a:latin typeface="+mn-lt"/>
                    <a:ea typeface="黑体" panose="02010609060101010101" pitchFamily="49" charset="-122"/>
                    <a:cs typeface="+mn-cs"/>
                  </a:rPr>
                  <a:t>        </a:t>
                </a:r>
                <a:r>
                  <a:rPr lang="zh-CN" altLang="en-US" sz="2000" dirty="0">
                    <a:solidFill>
                      <a:srgbClr val="000000"/>
                    </a:solidFill>
                    <a:latin typeface="+mn-lt"/>
                    <a:ea typeface="黑体" panose="02010609060101010101" pitchFamily="49" charset="-122"/>
                    <a:cs typeface="+mn-cs"/>
                  </a:rPr>
                  <a:t>当列表</a:t>
                </a:r>
                <a:r>
                  <a:rPr lang="en-US" altLang="zh-CN" sz="2000" dirty="0">
                    <a:solidFill>
                      <a:srgbClr val="000000"/>
                    </a:solidFill>
                    <a:latin typeface="+mn-lt"/>
                    <a:ea typeface="黑体" panose="02010609060101010101" pitchFamily="49" charset="-122"/>
                    <a:cs typeface="+mn-cs"/>
                  </a:rPr>
                  <a:t>L=min</a:t>
                </a:r>
                <a:r>
                  <a:rPr lang="zh-CN" altLang="en-US" sz="2000" dirty="0">
                    <a:solidFill>
                      <a:srgbClr val="000000"/>
                    </a:solidFill>
                    <a:latin typeface="+mn-lt"/>
                    <a:ea typeface="黑体" panose="02010609060101010101" pitchFamily="49" charset="-122"/>
                    <a:cs typeface="+mn-cs"/>
                  </a:rPr>
                  <a:t>（</a:t>
                </a:r>
                <a14:m>
                  <m:oMath xmlns:m="http://schemas.openxmlformats.org/officeDocument/2006/math">
                    <m:sSup>
                      <m:sSupPr>
                        <m:ctrlPr>
                          <a:rPr lang="zh-CN" altLang="en-US" sz="2000" i="1" smtClean="0">
                            <a:solidFill>
                              <a:srgbClr val="000000"/>
                            </a:solidFill>
                            <a:latin typeface="Cambria Math" panose="02040503050406030204" pitchFamily="18" charset="0"/>
                            <a:cs typeface="+mn-cs"/>
                          </a:rPr>
                        </m:ctrlPr>
                      </m:sSupPr>
                      <m:e>
                        <m:r>
                          <a:rPr lang="zh-CN" altLang="en-US" sz="2000" i="1" smtClean="0">
                            <a:solidFill>
                              <a:srgbClr val="000000"/>
                            </a:solidFill>
                            <a:latin typeface="Cambria Math" panose="02040503050406030204" pitchFamily="18" charset="0"/>
                            <a:cs typeface="+mn-cs"/>
                          </a:rPr>
                          <m:t>2</m:t>
                        </m:r>
                      </m:e>
                      <m:sup>
                        <m:r>
                          <a:rPr lang="zh-CN" altLang="en-US" sz="2000" i="1" smtClean="0">
                            <a:solidFill>
                              <a:srgbClr val="000000"/>
                            </a:solidFill>
                            <a:latin typeface="Cambria Math" panose="02040503050406030204" pitchFamily="18" charset="0"/>
                            <a:cs typeface="+mn-cs"/>
                          </a:rPr>
                          <m:t>𝑁</m:t>
                        </m:r>
                      </m:sup>
                    </m:sSup>
                    <m:r>
                      <a:rPr lang="zh-CN" altLang="en-US" sz="2000" i="1">
                        <a:solidFill>
                          <a:srgbClr val="000000"/>
                        </a:solidFill>
                        <a:latin typeface="Cambria Math" panose="02040503050406030204" pitchFamily="18" charset="0"/>
                        <a:cs typeface="+mn-cs"/>
                      </a:rPr>
                      <m:t>，</m:t>
                    </m:r>
                    <m:sSup>
                      <m:sSupPr>
                        <m:ctrlPr>
                          <a:rPr lang="zh-CN" altLang="en-US" sz="2000" i="1" dirty="0" smtClean="0">
                            <a:solidFill>
                              <a:srgbClr val="000000"/>
                            </a:solidFill>
                            <a:latin typeface="Cambria Math" panose="02040503050406030204" pitchFamily="18" charset="0"/>
                            <a:cs typeface="+mn-cs"/>
                          </a:rPr>
                        </m:ctrlPr>
                      </m:sSupPr>
                      <m:e>
                        <m:r>
                          <a:rPr lang="zh-CN" altLang="en-US" sz="2000" dirty="0" smtClean="0">
                            <a:solidFill>
                              <a:srgbClr val="000000"/>
                            </a:solidFill>
                            <a:latin typeface="Cambria Math" panose="02040503050406030204" pitchFamily="18" charset="0"/>
                            <a:cs typeface="+mn-cs"/>
                          </a:rPr>
                          <m:t>2</m:t>
                        </m:r>
                      </m:e>
                      <m:sup>
                        <m:r>
                          <a:rPr lang="en-US" altLang="zh-CN" sz="2000" b="0" i="1" dirty="0" smtClean="0">
                            <a:solidFill>
                              <a:srgbClr val="000000"/>
                            </a:solidFill>
                            <a:latin typeface="Cambria Math" panose="02040503050406030204" pitchFamily="18" charset="0"/>
                            <a:cs typeface="+mn-cs"/>
                          </a:rPr>
                          <m:t>𝐿</m:t>
                        </m:r>
                        <m:r>
                          <m:rPr>
                            <m:sty m:val="p"/>
                          </m:rPr>
                          <a:rPr lang="en-US" altLang="zh-CN" sz="2000" i="1" dirty="0">
                            <a:solidFill>
                              <a:srgbClr val="000000"/>
                            </a:solidFill>
                            <a:latin typeface="Cambria Math" panose="02040503050406030204" pitchFamily="18" charset="0"/>
                            <a:cs typeface="+mn-cs"/>
                          </a:rPr>
                          <m:t>ength</m:t>
                        </m:r>
                        <m:r>
                          <a:rPr lang="en-US" altLang="zh-CN" sz="2000" b="0" i="1" dirty="0" smtClean="0">
                            <a:solidFill>
                              <a:srgbClr val="000000"/>
                            </a:solidFill>
                            <a:latin typeface="Cambria Math" panose="02040503050406030204" pitchFamily="18" charset="0"/>
                            <a:cs typeface="+mn-cs"/>
                          </a:rPr>
                          <m:t>(</m:t>
                        </m:r>
                        <m:r>
                          <a:rPr lang="en-US" altLang="zh-CN" sz="2000" b="0" i="1" dirty="0" smtClean="0">
                            <a:solidFill>
                              <a:srgbClr val="000000"/>
                            </a:solidFill>
                            <a:latin typeface="Cambria Math" panose="02040503050406030204" pitchFamily="18" charset="0"/>
                            <a:cs typeface="+mn-cs"/>
                          </a:rPr>
                          <m:t>𝐴</m:t>
                        </m:r>
                        <m:r>
                          <a:rPr lang="en-US" altLang="zh-CN" sz="2000" b="0" i="1" dirty="0" smtClean="0">
                            <a:solidFill>
                              <a:srgbClr val="000000"/>
                            </a:solidFill>
                            <a:latin typeface="Cambria Math" panose="02040503050406030204" pitchFamily="18" charset="0"/>
                            <a:cs typeface="+mn-cs"/>
                          </a:rPr>
                          <m:t>)</m:t>
                        </m:r>
                      </m:sup>
                    </m:sSup>
                  </m:oMath>
                </a14:m>
                <a:r>
                  <a:rPr lang="zh-CN" altLang="en-US" sz="2000" dirty="0">
                    <a:solidFill>
                      <a:srgbClr val="000000"/>
                    </a:solidFill>
                    <a:latin typeface="+mn-lt"/>
                    <a:ea typeface="黑体" panose="02010609060101010101" pitchFamily="49" charset="-122"/>
                    <a:cs typeface="+mn-cs"/>
                  </a:rPr>
                  <a:t>）时，</a:t>
                </a:r>
                <a:r>
                  <a:rPr lang="en-US" altLang="zh-CN" sz="2000" dirty="0">
                    <a:solidFill>
                      <a:srgbClr val="000000"/>
                    </a:solidFill>
                    <a:latin typeface="+mn-lt"/>
                    <a:ea typeface="黑体" panose="02010609060101010101" pitchFamily="49" charset="-122"/>
                    <a:cs typeface="+mn-cs"/>
                  </a:rPr>
                  <a:t>SC-L</a:t>
                </a:r>
                <a:r>
                  <a:rPr lang="zh-CN" altLang="en-US" sz="2000" dirty="0">
                    <a:solidFill>
                      <a:srgbClr val="000000"/>
                    </a:solidFill>
                    <a:latin typeface="+mn-lt"/>
                    <a:ea typeface="黑体" panose="02010609060101010101" pitchFamily="49" charset="-122"/>
                    <a:cs typeface="+mn-cs"/>
                  </a:rPr>
                  <a:t>算法就变成了</a:t>
                </a:r>
                <a:r>
                  <a:rPr lang="en-US" altLang="zh-CN" sz="2000" dirty="0">
                    <a:solidFill>
                      <a:srgbClr val="000000"/>
                    </a:solidFill>
                    <a:latin typeface="+mn-lt"/>
                    <a:ea typeface="黑体" panose="02010609060101010101" pitchFamily="49" charset="-122"/>
                    <a:cs typeface="+mn-cs"/>
                  </a:rPr>
                  <a:t>ML</a:t>
                </a:r>
                <a:r>
                  <a:rPr lang="zh-CN" altLang="en-US" sz="2000" dirty="0">
                    <a:solidFill>
                      <a:srgbClr val="000000"/>
                    </a:solidFill>
                    <a:latin typeface="+mn-lt"/>
                    <a:ea typeface="黑体" panose="02010609060101010101" pitchFamily="49" charset="-122"/>
                    <a:cs typeface="+mn-cs"/>
                  </a:rPr>
                  <a:t>算法。</a:t>
                </a:r>
                <a:r>
                  <a:rPr lang="en-US" altLang="zh-CN" dirty="0">
                    <a:solidFill>
                      <a:srgbClr val="000000"/>
                    </a:solidFill>
                    <a:latin typeface="+mn-lt"/>
                  </a:rPr>
                  <a:t> </a:t>
                </a:r>
                <a14:m>
                  <m:oMath xmlns:m="http://schemas.openxmlformats.org/officeDocument/2006/math">
                    <m:r>
                      <a:rPr lang="en-US" altLang="zh-CN" sz="2000" dirty="0">
                        <a:solidFill>
                          <a:srgbClr val="000000"/>
                        </a:solidFill>
                        <a:latin typeface="Cambria Math" panose="02040503050406030204" pitchFamily="18" charset="0"/>
                        <a:ea typeface="黑体" panose="02010609060101010101" pitchFamily="49" charset="-122"/>
                        <a:cs typeface="+mn-cs"/>
                      </a:rPr>
                      <m:t>𝐿</m:t>
                    </m:r>
                    <m:r>
                      <m:rPr>
                        <m:sty m:val="p"/>
                      </m:rPr>
                      <a:rPr lang="en-US" altLang="zh-CN" sz="2000" dirty="0">
                        <a:solidFill>
                          <a:srgbClr val="000000"/>
                        </a:solidFill>
                        <a:latin typeface="Cambria Math" panose="02040503050406030204" pitchFamily="18" charset="0"/>
                        <a:ea typeface="黑体" panose="02010609060101010101" pitchFamily="49" charset="-122"/>
                        <a:cs typeface="+mn-cs"/>
                      </a:rPr>
                      <m:t>ength</m:t>
                    </m:r>
                    <m:r>
                      <a:rPr lang="en-US" altLang="zh-CN" sz="2000" dirty="0">
                        <a:solidFill>
                          <a:srgbClr val="000000"/>
                        </a:solidFill>
                        <a:latin typeface="Cambria Math" panose="02040503050406030204" pitchFamily="18" charset="0"/>
                        <a:ea typeface="黑体" panose="02010609060101010101" pitchFamily="49" charset="-122"/>
                        <a:cs typeface="+mn-cs"/>
                      </a:rPr>
                      <m:t>(</m:t>
                    </m:r>
                    <m:r>
                      <a:rPr lang="en-US" altLang="zh-CN" sz="2000" dirty="0">
                        <a:solidFill>
                          <a:srgbClr val="000000"/>
                        </a:solidFill>
                        <a:latin typeface="Cambria Math" panose="02040503050406030204" pitchFamily="18" charset="0"/>
                        <a:ea typeface="黑体" panose="02010609060101010101" pitchFamily="49" charset="-122"/>
                        <a:cs typeface="+mn-cs"/>
                      </a:rPr>
                      <m:t>𝐴</m:t>
                    </m:r>
                    <m:r>
                      <a:rPr lang="en-US" altLang="zh-CN" sz="2000" dirty="0">
                        <a:solidFill>
                          <a:srgbClr val="000000"/>
                        </a:solidFill>
                        <a:latin typeface="Cambria Math" panose="02040503050406030204" pitchFamily="18" charset="0"/>
                        <a:ea typeface="黑体" panose="02010609060101010101" pitchFamily="49" charset="-122"/>
                        <a:cs typeface="+mn-cs"/>
                      </a:rPr>
                      <m:t>)</m:t>
                    </m:r>
                    <m:r>
                      <a:rPr lang="zh-CN" altLang="en-US" sz="2000" dirty="0">
                        <a:solidFill>
                          <a:srgbClr val="000000"/>
                        </a:solidFill>
                        <a:latin typeface="Cambria Math" panose="02040503050406030204" pitchFamily="18" charset="0"/>
                        <a:ea typeface="黑体" panose="02010609060101010101" pitchFamily="49" charset="-122"/>
                        <a:cs typeface="+mn-cs"/>
                      </a:rPr>
                      <m:t>为</m:t>
                    </m:r>
                  </m:oMath>
                </a14:m>
                <a:r>
                  <a:rPr lang="zh-CN" altLang="en-US" sz="2000" dirty="0">
                    <a:solidFill>
                      <a:srgbClr val="000000"/>
                    </a:solidFill>
                    <a:latin typeface="+mn-lt"/>
                    <a:ea typeface="黑体" panose="02010609060101010101" pitchFamily="49" charset="-122"/>
                    <a:cs typeface="+mn-cs"/>
                  </a:rPr>
                  <a:t>信息集的长度。当列表长度</a:t>
                </a:r>
                <a:r>
                  <a:rPr lang="en-US" altLang="zh-CN" sz="2000" dirty="0">
                    <a:solidFill>
                      <a:srgbClr val="000000"/>
                    </a:solidFill>
                    <a:latin typeface="+mn-lt"/>
                    <a:ea typeface="黑体" panose="02010609060101010101" pitchFamily="49" charset="-122"/>
                    <a:cs typeface="+mn-cs"/>
                  </a:rPr>
                  <a:t>L=32</a:t>
                </a:r>
                <a:r>
                  <a:rPr lang="zh-CN" altLang="en-US" sz="2000" dirty="0">
                    <a:solidFill>
                      <a:srgbClr val="000000"/>
                    </a:solidFill>
                    <a:latin typeface="+mn-lt"/>
                    <a:ea typeface="黑体" panose="02010609060101010101" pitchFamily="49" charset="-122"/>
                    <a:cs typeface="+mn-cs"/>
                  </a:rPr>
                  <a:t>时，</a:t>
                </a:r>
                <a:r>
                  <a:rPr lang="en-US" altLang="zh-CN" sz="2000" dirty="0">
                    <a:solidFill>
                      <a:srgbClr val="000000"/>
                    </a:solidFill>
                    <a:latin typeface="+mn-lt"/>
                    <a:ea typeface="黑体" panose="02010609060101010101" pitchFamily="49" charset="-122"/>
                    <a:cs typeface="+mn-cs"/>
                  </a:rPr>
                  <a:t>SC-L</a:t>
                </a:r>
                <a:r>
                  <a:rPr lang="zh-CN" altLang="en-US" sz="2000" dirty="0">
                    <a:solidFill>
                      <a:srgbClr val="000000"/>
                    </a:solidFill>
                    <a:latin typeface="+mn-lt"/>
                    <a:ea typeface="黑体" panose="02010609060101010101" pitchFamily="49" charset="-122"/>
                    <a:cs typeface="+mn-cs"/>
                  </a:rPr>
                  <a:t>算法已经与</a:t>
                </a:r>
                <a:r>
                  <a:rPr lang="en-US" altLang="zh-CN" sz="2000" dirty="0">
                    <a:solidFill>
                      <a:srgbClr val="000000"/>
                    </a:solidFill>
                    <a:latin typeface="+mn-lt"/>
                    <a:ea typeface="黑体" panose="02010609060101010101" pitchFamily="49" charset="-122"/>
                    <a:cs typeface="+mn-cs"/>
                  </a:rPr>
                  <a:t>ML</a:t>
                </a:r>
                <a:r>
                  <a:rPr lang="zh-CN" altLang="en-US" sz="2000" dirty="0">
                    <a:solidFill>
                      <a:srgbClr val="000000"/>
                    </a:solidFill>
                    <a:latin typeface="+mn-lt"/>
                    <a:ea typeface="黑体" panose="02010609060101010101" pitchFamily="49" charset="-122"/>
                    <a:cs typeface="+mn-cs"/>
                  </a:rPr>
                  <a:t>非常接近了。</a:t>
                </a:r>
                <a:endParaRPr lang="zh-CN" altLang="en-US" sz="2000" dirty="0">
                  <a:solidFill>
                    <a:srgbClr val="000000"/>
                  </a:solidFill>
                  <a:latin typeface="+mn-lt"/>
                  <a:ea typeface="黑体" panose="02010609060101010101" pitchFamily="49" charset="-122"/>
                  <a:cs typeface="+mn-cs"/>
                </a:endParaRPr>
              </a:p>
            </p:txBody>
          </p:sp>
        </mc:Choice>
        <mc:Fallback>
          <p:sp>
            <p:nvSpPr>
              <p:cNvPr id="5" name="文本框 4"/>
              <p:cNvSpPr txBox="1">
                <a:spLocks noRot="1" noChangeAspect="1" noMove="1" noResize="1" noEditPoints="1" noAdjustHandles="1" noChangeArrowheads="1" noChangeShapeType="1" noTextEdit="1"/>
              </p:cNvSpPr>
              <p:nvPr/>
            </p:nvSpPr>
            <p:spPr>
              <a:xfrm>
                <a:off x="304912" y="955277"/>
                <a:ext cx="8381780" cy="4947445"/>
              </a:xfrm>
              <a:prstGeom prst="rect">
                <a:avLst/>
              </a:prstGeom>
              <a:blipFill rotWithShape="1">
                <a:blip r:embed="rId1"/>
                <a:stretch>
                  <a:fillRect l="-1" t="-5" r="6" b="-1173"/>
                </a:stretch>
              </a:blipFill>
            </p:spPr>
            <p:txBody>
              <a:bodyPr/>
              <a:lstStyle/>
              <a:p>
                <a:r>
                  <a:rPr lang="zh-CN" altLang="en-US">
                    <a:noFill/>
                  </a:rPr>
                  <a:t> </a:t>
                </a:r>
              </a:p>
            </p:txBody>
          </p:sp>
        </mc:Fallback>
      </mc:AlternateContent>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095960" y="195519"/>
            <a:ext cx="2933737"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解码算法</a:t>
            </a:r>
            <a:endParaRPr lang="zh-CN" altLang="en-US" sz="2400" dirty="0">
              <a:sym typeface="+mn-ea"/>
            </a:endParaRPr>
          </a:p>
        </p:txBody>
      </p:sp>
      <p:pic>
        <p:nvPicPr>
          <p:cNvPr id="3" name="图片 2"/>
          <p:cNvPicPr>
            <a:picLocks noChangeAspect="1"/>
          </p:cNvPicPr>
          <p:nvPr/>
        </p:nvPicPr>
        <p:blipFill>
          <a:blip r:embed="rId1"/>
          <a:stretch>
            <a:fillRect/>
          </a:stretch>
        </p:blipFill>
        <p:spPr>
          <a:xfrm>
            <a:off x="1295486" y="1051041"/>
            <a:ext cx="6781622" cy="5672129"/>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038697" y="101780"/>
            <a:ext cx="2933737"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解码算法</a:t>
            </a:r>
            <a:endParaRPr lang="zh-CN" altLang="en-US" sz="2400" dirty="0">
              <a:sym typeface="+mn-ea"/>
            </a:endParaRPr>
          </a:p>
        </p:txBody>
      </p:sp>
      <p:sp>
        <p:nvSpPr>
          <p:cNvPr id="5" name="文本框 4"/>
          <p:cNvSpPr txBox="1"/>
          <p:nvPr/>
        </p:nvSpPr>
        <p:spPr>
          <a:xfrm>
            <a:off x="114327" y="685872"/>
            <a:ext cx="8915346" cy="5587427"/>
          </a:xfrm>
          <a:prstGeom prst="rect">
            <a:avLst/>
          </a:prstGeom>
          <a:noFill/>
        </p:spPr>
        <p:txBody>
          <a:bodyPr wrap="square">
            <a:spAutoFit/>
          </a:bodyPr>
          <a:lstStyle/>
          <a:p>
            <a:pPr>
              <a:lnSpc>
                <a:spcPct val="250000"/>
              </a:lnSpc>
            </a:pPr>
            <a:r>
              <a:rPr lang="zh-CN" altLang="en-US" sz="2000" dirty="0">
                <a:solidFill>
                  <a:srgbClr val="000000"/>
                </a:solidFill>
                <a:latin typeface="+mn-lt"/>
                <a:ea typeface="黑体" panose="02010609060101010101" pitchFamily="49" charset="-122"/>
                <a:cs typeface="+mn-cs"/>
              </a:rPr>
              <a:t>        以母码长度</a:t>
            </a:r>
            <a:r>
              <a:rPr lang="en-US" altLang="zh-CN" sz="2000" dirty="0">
                <a:solidFill>
                  <a:srgbClr val="000000"/>
                </a:solidFill>
                <a:latin typeface="+mn-lt"/>
                <a:ea typeface="黑体" panose="02010609060101010101" pitchFamily="49" charset="-122"/>
                <a:cs typeface="+mn-cs"/>
              </a:rPr>
              <a:t>N=4</a:t>
            </a:r>
            <a:r>
              <a:rPr lang="zh-CN" altLang="en-US" sz="2000" dirty="0">
                <a:solidFill>
                  <a:srgbClr val="000000"/>
                </a:solidFill>
                <a:latin typeface="+mn-lt"/>
                <a:ea typeface="黑体" panose="02010609060101010101" pitchFamily="49" charset="-122"/>
                <a:cs typeface="+mn-cs"/>
              </a:rPr>
              <a:t>为例，用码树表示，设列表深度</a:t>
            </a:r>
            <a:r>
              <a:rPr lang="en-US" altLang="zh-CN" sz="2000" dirty="0">
                <a:solidFill>
                  <a:srgbClr val="000000"/>
                </a:solidFill>
                <a:latin typeface="+mn-lt"/>
                <a:ea typeface="黑体" panose="02010609060101010101" pitchFamily="49" charset="-122"/>
                <a:cs typeface="+mn-cs"/>
              </a:rPr>
              <a:t>L=2</a:t>
            </a:r>
            <a:r>
              <a:rPr lang="zh-CN" altLang="en-US" sz="2000" dirty="0">
                <a:solidFill>
                  <a:srgbClr val="000000"/>
                </a:solidFill>
                <a:latin typeface="+mn-lt"/>
                <a:ea typeface="黑体" panose="02010609060101010101" pitchFamily="49" charset="-122"/>
                <a:cs typeface="+mn-cs"/>
              </a:rPr>
              <a:t>。</a:t>
            </a:r>
            <a:endParaRPr lang="en-US" altLang="zh-CN" sz="2000" dirty="0">
              <a:solidFill>
                <a:srgbClr val="000000"/>
              </a:solidFill>
              <a:latin typeface="+mn-lt"/>
              <a:ea typeface="黑体" panose="02010609060101010101" pitchFamily="49" charset="-122"/>
              <a:cs typeface="+mn-cs"/>
            </a:endParaRPr>
          </a:p>
          <a:p>
            <a:pPr>
              <a:lnSpc>
                <a:spcPct val="250000"/>
              </a:lnSpc>
            </a:pPr>
            <a:r>
              <a:rPr lang="zh-CN" altLang="en-US" dirty="0">
                <a:solidFill>
                  <a:srgbClr val="000000"/>
                </a:solidFill>
                <a:latin typeface="+mn-lt"/>
                <a:ea typeface="黑体" panose="02010609060101010101" pitchFamily="49" charset="-122"/>
                <a:cs typeface="+mn-cs"/>
              </a:rPr>
              <a:t>第一层，</a:t>
            </a:r>
            <a:r>
              <a:rPr lang="en-US" altLang="zh-CN" dirty="0">
                <a:solidFill>
                  <a:srgbClr val="000000"/>
                </a:solidFill>
                <a:latin typeface="+mn-lt"/>
                <a:ea typeface="黑体" panose="02010609060101010101" pitchFamily="49" charset="-122"/>
                <a:cs typeface="+mn-cs"/>
              </a:rPr>
              <a:t>SC-L</a:t>
            </a:r>
            <a:r>
              <a:rPr lang="zh-CN" altLang="en-US" dirty="0">
                <a:solidFill>
                  <a:srgbClr val="000000"/>
                </a:solidFill>
                <a:latin typeface="+mn-lt"/>
                <a:ea typeface="黑体" panose="02010609060101010101" pitchFamily="49" charset="-122"/>
                <a:cs typeface="+mn-cs"/>
              </a:rPr>
              <a:t>算法按照最大</a:t>
            </a:r>
            <a:r>
              <a:rPr lang="en-US" altLang="zh-CN" dirty="0">
                <a:solidFill>
                  <a:srgbClr val="000000"/>
                </a:solidFill>
                <a:latin typeface="+mn-lt"/>
                <a:ea typeface="黑体" panose="02010609060101010101" pitchFamily="49" charset="-122"/>
                <a:cs typeface="+mn-cs"/>
              </a:rPr>
              <a:t>APP</a:t>
            </a:r>
            <a:r>
              <a:rPr lang="zh-CN" altLang="en-US" dirty="0">
                <a:solidFill>
                  <a:srgbClr val="000000"/>
                </a:solidFill>
                <a:latin typeface="+mn-lt"/>
                <a:ea typeface="黑体" panose="02010609060101010101" pitchFamily="49" charset="-122"/>
                <a:cs typeface="+mn-cs"/>
              </a:rPr>
              <a:t>找到左边路径</a:t>
            </a:r>
            <a:r>
              <a:rPr lang="en-US" altLang="zh-CN" dirty="0">
                <a:solidFill>
                  <a:srgbClr val="000000"/>
                </a:solidFill>
                <a:latin typeface="+mn-lt"/>
                <a:ea typeface="黑体" panose="02010609060101010101" pitchFamily="49" charset="-122"/>
                <a:cs typeface="+mn-cs"/>
              </a:rPr>
              <a:t>{0</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x</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x</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x}</a:t>
            </a:r>
            <a:r>
              <a:rPr lang="zh-CN" altLang="en-US" dirty="0">
                <a:solidFill>
                  <a:srgbClr val="000000"/>
                </a:solidFill>
                <a:latin typeface="+mn-lt"/>
                <a:ea typeface="黑体" panose="02010609060101010101" pitchFamily="49" charset="-122"/>
                <a:cs typeface="+mn-cs"/>
              </a:rPr>
              <a:t>和右边路径</a:t>
            </a:r>
            <a:r>
              <a:rPr lang="en-US" altLang="zh-CN" dirty="0">
                <a:solidFill>
                  <a:srgbClr val="000000"/>
                </a:solidFill>
                <a:latin typeface="+mn-lt"/>
                <a:ea typeface="黑体" panose="02010609060101010101" pitchFamily="49" charset="-122"/>
                <a:cs typeface="+mn-cs"/>
              </a:rPr>
              <a:t>{1</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x</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x</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x}</a:t>
            </a:r>
            <a:r>
              <a:rPr lang="zh-CN" altLang="en-US" dirty="0">
                <a:solidFill>
                  <a:srgbClr val="000000"/>
                </a:solidFill>
                <a:latin typeface="+mn-lt"/>
                <a:ea typeface="黑体" panose="02010609060101010101" pitchFamily="49" charset="-122"/>
                <a:cs typeface="+mn-cs"/>
              </a:rPr>
              <a:t>。找到这样两条路径，并保存到</a:t>
            </a:r>
            <a:r>
              <a:rPr lang="en-US" altLang="zh-CN" dirty="0">
                <a:solidFill>
                  <a:srgbClr val="000000"/>
                </a:solidFill>
                <a:latin typeface="+mn-lt"/>
                <a:ea typeface="黑体" panose="02010609060101010101" pitchFamily="49" charset="-122"/>
                <a:cs typeface="+mn-cs"/>
              </a:rPr>
              <a:t>L=2</a:t>
            </a:r>
            <a:r>
              <a:rPr lang="zh-CN" altLang="en-US" dirty="0">
                <a:solidFill>
                  <a:srgbClr val="000000"/>
                </a:solidFill>
                <a:latin typeface="+mn-lt"/>
                <a:ea typeface="黑体" panose="02010609060101010101" pitchFamily="49" charset="-122"/>
                <a:cs typeface="+mn-cs"/>
              </a:rPr>
              <a:t>条列表中。</a:t>
            </a:r>
            <a:endParaRPr lang="en-US" altLang="zh-CN" dirty="0">
              <a:solidFill>
                <a:srgbClr val="000000"/>
              </a:solidFill>
              <a:latin typeface="+mn-lt"/>
              <a:ea typeface="黑体" panose="02010609060101010101" pitchFamily="49" charset="-122"/>
              <a:cs typeface="+mn-cs"/>
            </a:endParaRPr>
          </a:p>
          <a:p>
            <a:pPr>
              <a:lnSpc>
                <a:spcPct val="250000"/>
              </a:lnSpc>
            </a:pPr>
            <a:r>
              <a:rPr lang="zh-CN" altLang="en-US" dirty="0">
                <a:solidFill>
                  <a:srgbClr val="000000"/>
                </a:solidFill>
                <a:latin typeface="+mn-lt"/>
                <a:ea typeface="黑体" panose="02010609060101010101" pitchFamily="49" charset="-122"/>
                <a:cs typeface="+mn-cs"/>
              </a:rPr>
              <a:t>第二层，</a:t>
            </a:r>
            <a:r>
              <a:rPr lang="en-US" altLang="zh-CN" dirty="0">
                <a:solidFill>
                  <a:srgbClr val="000000"/>
                </a:solidFill>
                <a:latin typeface="+mn-lt"/>
                <a:ea typeface="黑体" panose="02010609060101010101" pitchFamily="49" charset="-122"/>
                <a:cs typeface="+mn-cs"/>
              </a:rPr>
              <a:t>SC-L</a:t>
            </a:r>
            <a:r>
              <a:rPr lang="zh-CN" altLang="en-US" dirty="0">
                <a:solidFill>
                  <a:srgbClr val="000000"/>
                </a:solidFill>
                <a:latin typeface="+mn-lt"/>
                <a:ea typeface="黑体" panose="02010609060101010101" pitchFamily="49" charset="-122"/>
                <a:cs typeface="+mn-cs"/>
              </a:rPr>
              <a:t>算法按照最大</a:t>
            </a:r>
            <a:r>
              <a:rPr lang="en-US" altLang="zh-CN" dirty="0">
                <a:solidFill>
                  <a:srgbClr val="000000"/>
                </a:solidFill>
                <a:latin typeface="+mn-lt"/>
                <a:ea typeface="黑体" panose="02010609060101010101" pitchFamily="49" charset="-122"/>
                <a:cs typeface="+mn-cs"/>
              </a:rPr>
              <a:t>APP</a:t>
            </a:r>
            <a:r>
              <a:rPr lang="zh-CN" altLang="en-US" dirty="0">
                <a:solidFill>
                  <a:srgbClr val="000000"/>
                </a:solidFill>
                <a:latin typeface="+mn-lt"/>
                <a:ea typeface="黑体" panose="02010609060101010101" pitchFamily="49" charset="-122"/>
                <a:cs typeface="+mn-cs"/>
              </a:rPr>
              <a:t>找到左边路径</a:t>
            </a:r>
            <a:r>
              <a:rPr lang="en-US" altLang="zh-CN" dirty="0">
                <a:solidFill>
                  <a:srgbClr val="000000"/>
                </a:solidFill>
                <a:latin typeface="+mn-lt"/>
                <a:ea typeface="黑体" panose="02010609060101010101" pitchFamily="49" charset="-122"/>
                <a:cs typeface="+mn-cs"/>
              </a:rPr>
              <a:t>{0</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0</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x</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x}</a:t>
            </a:r>
            <a:r>
              <a:rPr lang="zh-CN" altLang="en-US" dirty="0">
                <a:solidFill>
                  <a:srgbClr val="000000"/>
                </a:solidFill>
                <a:latin typeface="+mn-lt"/>
                <a:ea typeface="黑体" panose="02010609060101010101" pitchFamily="49" charset="-122"/>
                <a:cs typeface="+mn-cs"/>
              </a:rPr>
              <a:t>和右边路径</a:t>
            </a:r>
            <a:r>
              <a:rPr lang="en-US" altLang="zh-CN" dirty="0">
                <a:solidFill>
                  <a:srgbClr val="000000"/>
                </a:solidFill>
                <a:latin typeface="+mn-lt"/>
                <a:ea typeface="黑体" panose="02010609060101010101" pitchFamily="49" charset="-122"/>
                <a:cs typeface="+mn-cs"/>
              </a:rPr>
              <a:t>{1</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0</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x</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x}</a:t>
            </a:r>
            <a:r>
              <a:rPr lang="zh-CN" altLang="en-US" dirty="0">
                <a:solidFill>
                  <a:srgbClr val="000000"/>
                </a:solidFill>
                <a:latin typeface="+mn-lt"/>
                <a:ea typeface="黑体" panose="02010609060101010101" pitchFamily="49" charset="-122"/>
                <a:cs typeface="+mn-cs"/>
              </a:rPr>
              <a:t>。</a:t>
            </a:r>
            <a:endParaRPr lang="en-US" altLang="zh-CN" dirty="0">
              <a:solidFill>
                <a:srgbClr val="000000"/>
              </a:solidFill>
              <a:latin typeface="+mn-lt"/>
              <a:ea typeface="黑体" panose="02010609060101010101" pitchFamily="49" charset="-122"/>
              <a:cs typeface="+mn-cs"/>
            </a:endParaRPr>
          </a:p>
          <a:p>
            <a:pPr>
              <a:lnSpc>
                <a:spcPct val="250000"/>
              </a:lnSpc>
            </a:pPr>
            <a:r>
              <a:rPr lang="zh-CN" altLang="en-US" dirty="0">
                <a:solidFill>
                  <a:srgbClr val="000000"/>
                </a:solidFill>
                <a:latin typeface="+mn-lt"/>
                <a:ea typeface="黑体" panose="02010609060101010101" pitchFamily="49" charset="-122"/>
                <a:cs typeface="+mn-cs"/>
              </a:rPr>
              <a:t>第三层，</a:t>
            </a:r>
            <a:r>
              <a:rPr lang="en-US" altLang="zh-CN" dirty="0">
                <a:solidFill>
                  <a:srgbClr val="000000"/>
                </a:solidFill>
                <a:latin typeface="+mn-lt"/>
                <a:ea typeface="黑体" panose="02010609060101010101" pitchFamily="49" charset="-122"/>
                <a:cs typeface="+mn-cs"/>
              </a:rPr>
              <a:t>SC-L</a:t>
            </a:r>
            <a:r>
              <a:rPr lang="zh-CN" altLang="en-US" dirty="0">
                <a:solidFill>
                  <a:srgbClr val="000000"/>
                </a:solidFill>
                <a:latin typeface="+mn-lt"/>
                <a:ea typeface="黑体" panose="02010609060101010101" pitchFamily="49" charset="-122"/>
                <a:cs typeface="+mn-cs"/>
              </a:rPr>
              <a:t>算法按照最大</a:t>
            </a:r>
            <a:r>
              <a:rPr lang="en-US" altLang="zh-CN" dirty="0">
                <a:solidFill>
                  <a:srgbClr val="000000"/>
                </a:solidFill>
                <a:latin typeface="+mn-lt"/>
                <a:ea typeface="黑体" panose="02010609060101010101" pitchFamily="49" charset="-122"/>
                <a:cs typeface="+mn-cs"/>
              </a:rPr>
              <a:t>APP</a:t>
            </a:r>
            <a:r>
              <a:rPr lang="zh-CN" altLang="en-US" dirty="0">
                <a:solidFill>
                  <a:srgbClr val="000000"/>
                </a:solidFill>
                <a:latin typeface="+mn-lt"/>
                <a:ea typeface="黑体" panose="02010609060101010101" pitchFamily="49" charset="-122"/>
                <a:cs typeface="+mn-cs"/>
              </a:rPr>
              <a:t>找到左边路径</a:t>
            </a:r>
            <a:r>
              <a:rPr lang="en-US" altLang="zh-CN" dirty="0">
                <a:solidFill>
                  <a:srgbClr val="000000"/>
                </a:solidFill>
                <a:latin typeface="+mn-lt"/>
                <a:ea typeface="黑体" panose="02010609060101010101" pitchFamily="49" charset="-122"/>
                <a:cs typeface="+mn-cs"/>
              </a:rPr>
              <a:t>{0</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0</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1</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x}</a:t>
            </a:r>
            <a:r>
              <a:rPr lang="zh-CN" altLang="en-US" dirty="0">
                <a:solidFill>
                  <a:srgbClr val="000000"/>
                </a:solidFill>
                <a:latin typeface="+mn-lt"/>
                <a:ea typeface="黑体" panose="02010609060101010101" pitchFamily="49" charset="-122"/>
                <a:cs typeface="+mn-cs"/>
              </a:rPr>
              <a:t>和右边路径</a:t>
            </a:r>
            <a:r>
              <a:rPr lang="en-US" altLang="zh-CN" dirty="0">
                <a:solidFill>
                  <a:srgbClr val="000000"/>
                </a:solidFill>
                <a:latin typeface="+mn-lt"/>
                <a:ea typeface="黑体" panose="02010609060101010101" pitchFamily="49" charset="-122"/>
                <a:cs typeface="+mn-cs"/>
              </a:rPr>
              <a:t>{1</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0</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0</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x}</a:t>
            </a:r>
            <a:r>
              <a:rPr lang="zh-CN" altLang="en-US" dirty="0">
                <a:solidFill>
                  <a:srgbClr val="000000"/>
                </a:solidFill>
                <a:latin typeface="+mn-lt"/>
                <a:ea typeface="黑体" panose="02010609060101010101" pitchFamily="49" charset="-122"/>
                <a:cs typeface="+mn-cs"/>
              </a:rPr>
              <a:t>。</a:t>
            </a:r>
            <a:endParaRPr lang="en-US" altLang="zh-CN" dirty="0">
              <a:solidFill>
                <a:srgbClr val="000000"/>
              </a:solidFill>
              <a:latin typeface="+mn-lt"/>
              <a:ea typeface="黑体" panose="02010609060101010101" pitchFamily="49" charset="-122"/>
              <a:cs typeface="+mn-cs"/>
            </a:endParaRPr>
          </a:p>
          <a:p>
            <a:pPr>
              <a:lnSpc>
                <a:spcPct val="250000"/>
              </a:lnSpc>
            </a:pPr>
            <a:r>
              <a:rPr lang="zh-CN" altLang="en-US" dirty="0">
                <a:solidFill>
                  <a:srgbClr val="000000"/>
                </a:solidFill>
                <a:latin typeface="+mn-lt"/>
                <a:ea typeface="黑体" panose="02010609060101010101" pitchFamily="49" charset="-122"/>
                <a:cs typeface="+mn-cs"/>
              </a:rPr>
              <a:t>第四层，</a:t>
            </a:r>
            <a:r>
              <a:rPr lang="en-US" altLang="zh-CN" dirty="0">
                <a:solidFill>
                  <a:srgbClr val="000000"/>
                </a:solidFill>
                <a:latin typeface="+mn-lt"/>
                <a:ea typeface="黑体" panose="02010609060101010101" pitchFamily="49" charset="-122"/>
                <a:cs typeface="+mn-cs"/>
              </a:rPr>
              <a:t>SC-L</a:t>
            </a:r>
            <a:r>
              <a:rPr lang="zh-CN" altLang="en-US" dirty="0">
                <a:solidFill>
                  <a:srgbClr val="000000"/>
                </a:solidFill>
                <a:latin typeface="+mn-lt"/>
                <a:ea typeface="黑体" panose="02010609060101010101" pitchFamily="49" charset="-122"/>
                <a:cs typeface="+mn-cs"/>
              </a:rPr>
              <a:t>算法按照最大</a:t>
            </a:r>
            <a:r>
              <a:rPr lang="en-US" altLang="zh-CN" dirty="0">
                <a:solidFill>
                  <a:srgbClr val="000000"/>
                </a:solidFill>
                <a:latin typeface="+mn-lt"/>
                <a:ea typeface="黑体" panose="02010609060101010101" pitchFamily="49" charset="-122"/>
                <a:cs typeface="+mn-cs"/>
              </a:rPr>
              <a:t>APP</a:t>
            </a:r>
            <a:r>
              <a:rPr lang="zh-CN" altLang="en-US" dirty="0">
                <a:solidFill>
                  <a:srgbClr val="000000"/>
                </a:solidFill>
                <a:latin typeface="+mn-lt"/>
                <a:ea typeface="黑体" panose="02010609060101010101" pitchFamily="49" charset="-122"/>
                <a:cs typeface="+mn-cs"/>
              </a:rPr>
              <a:t>找到左边路径</a:t>
            </a:r>
            <a:r>
              <a:rPr lang="en-US" altLang="zh-CN" dirty="0">
                <a:solidFill>
                  <a:srgbClr val="000000"/>
                </a:solidFill>
                <a:latin typeface="+mn-lt"/>
                <a:ea typeface="黑体" panose="02010609060101010101" pitchFamily="49" charset="-122"/>
                <a:cs typeface="+mn-cs"/>
              </a:rPr>
              <a:t>{0</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0</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1</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1}</a:t>
            </a:r>
            <a:r>
              <a:rPr lang="zh-CN" altLang="en-US" dirty="0">
                <a:solidFill>
                  <a:srgbClr val="000000"/>
                </a:solidFill>
                <a:latin typeface="+mn-lt"/>
                <a:ea typeface="黑体" panose="02010609060101010101" pitchFamily="49" charset="-122"/>
                <a:cs typeface="+mn-cs"/>
              </a:rPr>
              <a:t>和右边路径</a:t>
            </a:r>
            <a:r>
              <a:rPr lang="en-US" altLang="zh-CN" dirty="0">
                <a:solidFill>
                  <a:srgbClr val="000000"/>
                </a:solidFill>
                <a:latin typeface="+mn-lt"/>
                <a:ea typeface="黑体" panose="02010609060101010101" pitchFamily="49" charset="-122"/>
                <a:cs typeface="+mn-cs"/>
              </a:rPr>
              <a:t>{1</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0</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0</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0}</a:t>
            </a:r>
            <a:r>
              <a:rPr lang="zh-CN" altLang="en-US" dirty="0">
                <a:solidFill>
                  <a:srgbClr val="000000"/>
                </a:solidFill>
                <a:latin typeface="+mn-lt"/>
                <a:ea typeface="黑体" panose="02010609060101010101" pitchFamily="49" charset="-122"/>
                <a:cs typeface="+mn-cs"/>
              </a:rPr>
              <a:t>。         </a:t>
            </a:r>
            <a:endParaRPr lang="en-US" altLang="zh-CN" dirty="0">
              <a:solidFill>
                <a:srgbClr val="000000"/>
              </a:solidFill>
              <a:latin typeface="+mn-lt"/>
              <a:ea typeface="黑体" panose="02010609060101010101" pitchFamily="49" charset="-122"/>
              <a:cs typeface="+mn-cs"/>
            </a:endParaRPr>
          </a:p>
          <a:p>
            <a:pPr>
              <a:lnSpc>
                <a:spcPct val="250000"/>
              </a:lnSpc>
            </a:pPr>
            <a:r>
              <a:rPr lang="en-US" altLang="zh-CN" dirty="0">
                <a:solidFill>
                  <a:srgbClr val="000000"/>
                </a:solidFill>
                <a:latin typeface="+mn-lt"/>
                <a:ea typeface="黑体" panose="02010609060101010101" pitchFamily="49" charset="-122"/>
                <a:cs typeface="+mn-cs"/>
              </a:rPr>
              <a:t>          </a:t>
            </a:r>
            <a:r>
              <a:rPr lang="zh-CN" altLang="en-US" dirty="0">
                <a:solidFill>
                  <a:srgbClr val="000000"/>
                </a:solidFill>
                <a:latin typeface="+mn-lt"/>
                <a:ea typeface="黑体" panose="02010609060101010101" pitchFamily="49" charset="-122"/>
                <a:cs typeface="+mn-cs"/>
              </a:rPr>
              <a:t>因为右边路径的</a:t>
            </a:r>
            <a:r>
              <a:rPr lang="en-US" altLang="zh-CN" dirty="0">
                <a:solidFill>
                  <a:srgbClr val="000000"/>
                </a:solidFill>
                <a:latin typeface="+mn-lt"/>
                <a:ea typeface="黑体" panose="02010609060101010101" pitchFamily="49" charset="-122"/>
                <a:cs typeface="+mn-cs"/>
              </a:rPr>
              <a:t>APP</a:t>
            </a:r>
            <a:r>
              <a:rPr lang="zh-CN" altLang="en-US" dirty="0">
                <a:solidFill>
                  <a:srgbClr val="000000"/>
                </a:solidFill>
                <a:latin typeface="+mn-lt"/>
                <a:ea typeface="黑体" panose="02010609060101010101" pitchFamily="49" charset="-122"/>
                <a:cs typeface="+mn-cs"/>
              </a:rPr>
              <a:t>超过左边路径，因此</a:t>
            </a:r>
            <a:r>
              <a:rPr lang="en-US" altLang="zh-CN" dirty="0">
                <a:solidFill>
                  <a:srgbClr val="000000"/>
                </a:solidFill>
                <a:latin typeface="+mn-lt"/>
                <a:ea typeface="黑体" panose="02010609060101010101" pitchFamily="49" charset="-122"/>
                <a:cs typeface="+mn-cs"/>
              </a:rPr>
              <a:t>SC-L</a:t>
            </a:r>
            <a:r>
              <a:rPr lang="zh-CN" altLang="en-US" dirty="0">
                <a:solidFill>
                  <a:srgbClr val="000000"/>
                </a:solidFill>
                <a:latin typeface="+mn-lt"/>
                <a:ea typeface="黑体" panose="02010609060101010101" pitchFamily="49" charset="-122"/>
                <a:cs typeface="+mn-cs"/>
              </a:rPr>
              <a:t>算法选择右面路径输出解码比特</a:t>
            </a:r>
            <a:r>
              <a:rPr lang="en-US" altLang="zh-CN" dirty="0">
                <a:solidFill>
                  <a:srgbClr val="000000"/>
                </a:solidFill>
                <a:latin typeface="+mn-lt"/>
                <a:ea typeface="黑体" panose="02010609060101010101" pitchFamily="49" charset="-122"/>
                <a:cs typeface="+mn-cs"/>
              </a:rPr>
              <a:t>{1</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0</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0</a:t>
            </a:r>
            <a:r>
              <a:rPr lang="zh-CN" altLang="en-US" dirty="0">
                <a:solidFill>
                  <a:srgbClr val="000000"/>
                </a:solidFill>
                <a:latin typeface="+mn-lt"/>
                <a:ea typeface="黑体" panose="02010609060101010101" pitchFamily="49" charset="-122"/>
                <a:cs typeface="+mn-cs"/>
              </a:rPr>
              <a:t>，</a:t>
            </a:r>
            <a:r>
              <a:rPr lang="en-US" altLang="zh-CN" dirty="0">
                <a:solidFill>
                  <a:srgbClr val="000000"/>
                </a:solidFill>
                <a:latin typeface="+mn-lt"/>
                <a:ea typeface="黑体" panose="02010609060101010101" pitchFamily="49" charset="-122"/>
                <a:cs typeface="+mn-cs"/>
              </a:rPr>
              <a:t>0}</a:t>
            </a:r>
            <a:r>
              <a:rPr lang="zh-CN" altLang="en-US" dirty="0">
                <a:solidFill>
                  <a:srgbClr val="000000"/>
                </a:solidFill>
                <a:latin typeface="+mn-lt"/>
                <a:ea typeface="黑体" panose="02010609060101010101" pitchFamily="49" charset="-122"/>
                <a:cs typeface="+mn-cs"/>
              </a:rPr>
              <a:t>，从而完成解码。</a:t>
            </a:r>
            <a:endParaRPr lang="en-US" altLang="zh-CN" dirty="0">
              <a:solidFill>
                <a:srgbClr val="000000"/>
              </a:solidFill>
              <a:latin typeface="+mn-lt"/>
              <a:ea typeface="黑体" panose="02010609060101010101" pitchFamily="49" charset="-122"/>
              <a:cs typeface="+mn-c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038697" y="101780"/>
            <a:ext cx="2933737" cy="685800"/>
          </a:xfrm>
        </p:spPr>
        <p:txBody>
          <a:bodyPr/>
          <a:lstStyle/>
          <a:p>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解码算法</a:t>
            </a:r>
            <a:endParaRPr lang="zh-CN" altLang="en-US" sz="2400" dirty="0">
              <a:sym typeface="+mn-ea"/>
            </a:endParaRPr>
          </a:p>
        </p:txBody>
      </p:sp>
      <p:pic>
        <p:nvPicPr>
          <p:cNvPr id="3" name="图片 2"/>
          <p:cNvPicPr>
            <a:picLocks noChangeAspect="1"/>
          </p:cNvPicPr>
          <p:nvPr/>
        </p:nvPicPr>
        <p:blipFill rotWithShape="1">
          <a:blip r:embed="rId1"/>
          <a:srcRect t="2336" b="1872"/>
          <a:stretch>
            <a:fillRect/>
          </a:stretch>
        </p:blipFill>
        <p:spPr>
          <a:xfrm>
            <a:off x="133379" y="1524050"/>
            <a:ext cx="8839055" cy="4419484"/>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749817" y="228666"/>
            <a:ext cx="1371564" cy="685800"/>
          </a:xfrm>
        </p:spPr>
        <p: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复杂度</a:t>
            </a:r>
            <a:endPar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5" name="文本框 4"/>
              <p:cNvSpPr txBox="1"/>
              <p:nvPr/>
            </p:nvSpPr>
            <p:spPr>
              <a:xfrm>
                <a:off x="533506" y="1143060"/>
                <a:ext cx="8505602" cy="5098512"/>
              </a:xfrm>
              <a:prstGeom prst="rect">
                <a:avLst/>
              </a:prstGeom>
              <a:noFill/>
            </p:spPr>
            <p:txBody>
              <a:bodyPr wrap="square">
                <a:spAutoFit/>
              </a:bodyPr>
              <a:lstStyle/>
              <a:p>
                <a:pPr>
                  <a:lnSpc>
                    <a:spcPct val="150000"/>
                  </a:lnSpc>
                </a:pPr>
                <a:r>
                  <a:rPr lang="zh-CN" altLang="en-US" sz="2000" dirty="0">
                    <a:solidFill>
                      <a:srgbClr val="000000"/>
                    </a:solidFill>
                    <a:latin typeface="黑体" panose="02010609060101010101" pitchFamily="49" charset="-122"/>
                    <a:ea typeface="黑体" panose="02010609060101010101" pitchFamily="49" charset="-122"/>
                    <a:cs typeface="+mn-cs"/>
                  </a:rPr>
                  <a:t>    </a:t>
                </a:r>
                <a:r>
                  <a:rPr lang="zh-CN" altLang="en-US" sz="2000" dirty="0">
                    <a:solidFill>
                      <a:srgbClr val="000000"/>
                    </a:solidFill>
                    <a:latin typeface="+mn-lt"/>
                    <a:ea typeface="黑体" panose="02010609060101010101" pitchFamily="49" charset="-122"/>
                    <a:cs typeface="+mn-cs"/>
                  </a:rPr>
                  <a:t>复杂度是指一种编码方案实现需要多大的计算量、存储量，其中包含编码的复杂度（大）与解码的复杂度（小），复杂度与吞吐量存在一定的平衡点。</a:t>
                </a:r>
                <a:endParaRPr lang="en-US" altLang="zh-CN" sz="2000" dirty="0">
                  <a:solidFill>
                    <a:srgbClr val="000000"/>
                  </a:solidFill>
                  <a:latin typeface="+mn-lt"/>
                  <a:ea typeface="黑体" panose="02010609060101010101" pitchFamily="49" charset="-122"/>
                  <a:cs typeface="+mn-cs"/>
                </a:endParaRPr>
              </a:p>
              <a:p>
                <a:pPr>
                  <a:lnSpc>
                    <a:spcPct val="150000"/>
                  </a:lnSpc>
                </a:pPr>
                <a:r>
                  <a:rPr lang="en-US" altLang="zh-CN" sz="2000" dirty="0">
                    <a:solidFill>
                      <a:srgbClr val="000000"/>
                    </a:solidFill>
                    <a:highlight>
                      <a:srgbClr val="FFFF00"/>
                    </a:highlight>
                    <a:latin typeface="+mn-lt"/>
                    <a:ea typeface="黑体" panose="02010609060101010101" pitchFamily="49" charset="-122"/>
                    <a:cs typeface="+mn-cs"/>
                  </a:rPr>
                  <a:t>SC</a:t>
                </a:r>
                <a:r>
                  <a:rPr lang="zh-CN" altLang="en-US" sz="2000" dirty="0">
                    <a:solidFill>
                      <a:srgbClr val="000000"/>
                    </a:solidFill>
                    <a:highlight>
                      <a:srgbClr val="FFFF00"/>
                    </a:highlight>
                    <a:latin typeface="+mn-lt"/>
                    <a:ea typeface="黑体" panose="02010609060101010101" pitchFamily="49" charset="-122"/>
                    <a:cs typeface="+mn-cs"/>
                  </a:rPr>
                  <a:t>算法</a:t>
                </a:r>
                <a:r>
                  <a:rPr lang="en-US" altLang="zh-CN" sz="2000" dirty="0">
                    <a:solidFill>
                      <a:srgbClr val="000000"/>
                    </a:solidFill>
                    <a:highlight>
                      <a:srgbClr val="FFFF00"/>
                    </a:highlight>
                    <a:latin typeface="+mn-lt"/>
                    <a:ea typeface="黑体" panose="02010609060101010101" pitchFamily="49" charset="-122"/>
                    <a:cs typeface="+mn-cs"/>
                  </a:rPr>
                  <a:t>:</a:t>
                </a:r>
                <a:r>
                  <a:rPr lang="zh-CN" altLang="en-US" sz="2000" dirty="0">
                    <a:solidFill>
                      <a:srgbClr val="000000"/>
                    </a:solidFill>
                    <a:latin typeface="+mn-lt"/>
                    <a:ea typeface="黑体" panose="02010609060101010101" pitchFamily="49" charset="-122"/>
                    <a:cs typeface="+mn-cs"/>
                  </a:rPr>
                  <a:t>编码复杂度和解码复杂度都是</a:t>
                </a:r>
                <a14:m>
                  <m:oMath xmlns:m="http://schemas.openxmlformats.org/officeDocument/2006/math">
                    <m:r>
                      <m:rPr>
                        <m:sty m:val="p"/>
                      </m:rPr>
                      <a:rPr lang="en-US" altLang="zh-CN" sz="2000" i="1">
                        <a:solidFill>
                          <a:srgbClr val="000000"/>
                        </a:solidFill>
                        <a:latin typeface="Cambria Math" panose="02040503050406030204" pitchFamily="18" charset="0"/>
                        <a:cs typeface="+mn-cs"/>
                      </a:rPr>
                      <m:t>O</m:t>
                    </m:r>
                    <m:d>
                      <m:dPr>
                        <m:begChr m:val="["/>
                        <m:endChr m:val="]"/>
                        <m:ctrlPr>
                          <a:rPr lang="zh-CN" altLang="en-US" sz="2000" i="1" smtClean="0">
                            <a:solidFill>
                              <a:srgbClr val="000000"/>
                            </a:solidFill>
                            <a:latin typeface="Cambria Math" panose="02040503050406030204" pitchFamily="18" charset="0"/>
                            <a:cs typeface="+mn-cs"/>
                          </a:rPr>
                        </m:ctrlPr>
                      </m:dPr>
                      <m:e>
                        <m:r>
                          <a:rPr lang="zh-CN" altLang="en-US" sz="2000" i="1" smtClean="0">
                            <a:solidFill>
                              <a:srgbClr val="000000"/>
                            </a:solidFill>
                            <a:latin typeface="Cambria Math" panose="02040503050406030204" pitchFamily="18" charset="0"/>
                            <a:cs typeface="+mn-cs"/>
                          </a:rPr>
                          <m:t>𝑁</m:t>
                        </m:r>
                        <m:r>
                          <a:rPr lang="zh-CN" altLang="en-US" sz="2000" i="1" smtClean="0">
                            <a:solidFill>
                              <a:srgbClr val="000000"/>
                            </a:solidFill>
                            <a:latin typeface="Cambria Math" panose="02040503050406030204" pitchFamily="18" charset="0"/>
                            <a:cs typeface="+mn-cs"/>
                          </a:rPr>
                          <m:t>⋅</m:t>
                        </m:r>
                        <m:func>
                          <m:funcPr>
                            <m:ctrlPr>
                              <a:rPr lang="zh-CN" altLang="en-US" sz="2000" i="1" smtClean="0">
                                <a:solidFill>
                                  <a:srgbClr val="000000"/>
                                </a:solidFill>
                                <a:latin typeface="Cambria Math" panose="02040503050406030204" pitchFamily="18" charset="0"/>
                                <a:cs typeface="+mn-cs"/>
                              </a:rPr>
                            </m:ctrlPr>
                          </m:funcPr>
                          <m:fName>
                            <m:sSub>
                              <m:sSubPr>
                                <m:ctrlPr>
                                  <a:rPr lang="zh-CN" altLang="en-US" sz="2000" i="1" smtClean="0">
                                    <a:solidFill>
                                      <a:srgbClr val="000000"/>
                                    </a:solidFill>
                                    <a:latin typeface="Cambria Math" panose="02040503050406030204" pitchFamily="18" charset="0"/>
                                    <a:cs typeface="+mn-cs"/>
                                  </a:rPr>
                                </m:ctrlPr>
                              </m:sSubPr>
                              <m:e>
                                <m:r>
                                  <m:rPr>
                                    <m:sty m:val="p"/>
                                  </m:rPr>
                                  <a:rPr lang="zh-CN" altLang="en-US" sz="2000" i="1" smtClean="0">
                                    <a:solidFill>
                                      <a:srgbClr val="000000"/>
                                    </a:solidFill>
                                    <a:latin typeface="Cambria Math" panose="02040503050406030204" pitchFamily="18" charset="0"/>
                                    <a:cs typeface="+mn-cs"/>
                                  </a:rPr>
                                  <m:t>log</m:t>
                                </m:r>
                              </m:e>
                              <m:sub>
                                <m:r>
                                  <a:rPr lang="zh-CN" altLang="en-US" sz="2000" i="1" smtClean="0">
                                    <a:solidFill>
                                      <a:srgbClr val="000000"/>
                                    </a:solidFill>
                                    <a:latin typeface="Cambria Math" panose="02040503050406030204" pitchFamily="18" charset="0"/>
                                    <a:cs typeface="+mn-cs"/>
                                  </a:rPr>
                                  <m:t>2</m:t>
                                </m:r>
                              </m:sub>
                            </m:sSub>
                          </m:fName>
                          <m:e>
                            <m:d>
                              <m:dPr>
                                <m:ctrlPr>
                                  <a:rPr lang="zh-CN" altLang="en-US" sz="2000" i="1" smtClean="0">
                                    <a:solidFill>
                                      <a:srgbClr val="000000"/>
                                    </a:solidFill>
                                    <a:latin typeface="Cambria Math" panose="02040503050406030204" pitchFamily="18" charset="0"/>
                                    <a:cs typeface="+mn-cs"/>
                                  </a:rPr>
                                </m:ctrlPr>
                              </m:dPr>
                              <m:e>
                                <m:r>
                                  <a:rPr lang="zh-CN" altLang="en-US" sz="2000" i="1" smtClean="0">
                                    <a:solidFill>
                                      <a:srgbClr val="000000"/>
                                    </a:solidFill>
                                    <a:latin typeface="Cambria Math" panose="02040503050406030204" pitchFamily="18" charset="0"/>
                                    <a:cs typeface="+mn-cs"/>
                                  </a:rPr>
                                  <m:t>𝑁</m:t>
                                </m:r>
                              </m:e>
                            </m:d>
                          </m:e>
                        </m:func>
                      </m:e>
                    </m:d>
                  </m:oMath>
                </a14:m>
                <a:endParaRPr lang="en-US" altLang="zh-CN" sz="2000" dirty="0">
                  <a:solidFill>
                    <a:srgbClr val="000000"/>
                  </a:solidFill>
                  <a:latin typeface="+mn-lt"/>
                  <a:cs typeface="+mn-cs"/>
                </a:endParaRPr>
              </a:p>
              <a:p>
                <a:pPr>
                  <a:lnSpc>
                    <a:spcPct val="150000"/>
                  </a:lnSpc>
                </a:pPr>
                <a:r>
                  <a:rPr lang="zh-CN" altLang="en-US" sz="2000" dirty="0">
                    <a:solidFill>
                      <a:srgbClr val="000000"/>
                    </a:solidFill>
                    <a:latin typeface="+mn-lt"/>
                    <a:ea typeface="黑体" panose="02010609060101010101" pitchFamily="49" charset="-122"/>
                    <a:cs typeface="+mn-cs"/>
                  </a:rPr>
                  <a:t>        因为长度为</a:t>
                </a:r>
                <a:r>
                  <a:rPr lang="en-US" altLang="zh-CN" sz="2000" dirty="0">
                    <a:solidFill>
                      <a:srgbClr val="000000"/>
                    </a:solidFill>
                    <a:latin typeface="+mn-lt"/>
                    <a:ea typeface="黑体" panose="02010609060101010101" pitchFamily="49" charset="-122"/>
                    <a:cs typeface="+mn-cs"/>
                  </a:rPr>
                  <a:t>N</a:t>
                </a:r>
                <a:r>
                  <a:rPr lang="zh-CN" altLang="en-US" sz="2000" dirty="0">
                    <a:solidFill>
                      <a:srgbClr val="000000"/>
                    </a:solidFill>
                    <a:latin typeface="+mn-lt"/>
                    <a:ea typeface="黑体" panose="02010609060101010101" pitchFamily="49" charset="-122"/>
                    <a:cs typeface="+mn-cs"/>
                  </a:rPr>
                  <a:t>的</a:t>
                </a:r>
                <a:r>
                  <a:rPr lang="en-US" altLang="zh-CN" sz="2000" dirty="0">
                    <a:solidFill>
                      <a:srgbClr val="000000"/>
                    </a:solidFill>
                    <a:latin typeface="+mn-lt"/>
                    <a:ea typeface="黑体" panose="02010609060101010101" pitchFamily="49" charset="-122"/>
                    <a:cs typeface="+mn-cs"/>
                  </a:rPr>
                  <a:t>Polar</a:t>
                </a:r>
                <a:r>
                  <a:rPr lang="zh-CN" altLang="en-US" sz="2000" dirty="0">
                    <a:solidFill>
                      <a:srgbClr val="000000"/>
                    </a:solidFill>
                    <a:latin typeface="+mn-lt"/>
                    <a:ea typeface="黑体" panose="02010609060101010101" pitchFamily="49" charset="-122"/>
                    <a:cs typeface="+mn-cs"/>
                  </a:rPr>
                  <a:t>码，有</a:t>
                </a:r>
                <a14:m>
                  <m:oMath xmlns:m="http://schemas.openxmlformats.org/officeDocument/2006/math">
                    <m:func>
                      <m:funcPr>
                        <m:ctrlPr>
                          <a:rPr lang="zh-CN" altLang="en-US" sz="2000" i="1" smtClean="0">
                            <a:solidFill>
                              <a:srgbClr val="000000"/>
                            </a:solidFill>
                            <a:latin typeface="Cambria Math" panose="02040503050406030204" pitchFamily="18" charset="0"/>
                            <a:cs typeface="+mn-cs"/>
                          </a:rPr>
                        </m:ctrlPr>
                      </m:funcPr>
                      <m:fName>
                        <m:sSub>
                          <m:sSubPr>
                            <m:ctrlPr>
                              <a:rPr lang="zh-CN" altLang="en-US" sz="2000" i="1" smtClean="0">
                                <a:solidFill>
                                  <a:srgbClr val="000000"/>
                                </a:solidFill>
                                <a:latin typeface="Cambria Math" panose="02040503050406030204" pitchFamily="18" charset="0"/>
                                <a:cs typeface="+mn-cs"/>
                              </a:rPr>
                            </m:ctrlPr>
                          </m:sSubPr>
                          <m:e>
                            <m:r>
                              <m:rPr>
                                <m:sty m:val="p"/>
                              </m:rPr>
                              <a:rPr lang="zh-CN" altLang="en-US" sz="2000" i="1" smtClean="0">
                                <a:solidFill>
                                  <a:srgbClr val="000000"/>
                                </a:solidFill>
                                <a:latin typeface="Cambria Math" panose="02040503050406030204" pitchFamily="18" charset="0"/>
                                <a:cs typeface="+mn-cs"/>
                              </a:rPr>
                              <m:t>log</m:t>
                            </m:r>
                          </m:e>
                          <m:sub>
                            <m:r>
                              <a:rPr lang="zh-CN" altLang="en-US" sz="2000" i="1" smtClean="0">
                                <a:solidFill>
                                  <a:srgbClr val="000000"/>
                                </a:solidFill>
                                <a:latin typeface="Cambria Math" panose="02040503050406030204" pitchFamily="18" charset="0"/>
                                <a:cs typeface="+mn-cs"/>
                              </a:rPr>
                              <m:t>2</m:t>
                            </m:r>
                          </m:sub>
                        </m:sSub>
                      </m:fName>
                      <m:e>
                        <m:d>
                          <m:dPr>
                            <m:ctrlPr>
                              <a:rPr lang="zh-CN" altLang="en-US" sz="2000" i="1" smtClean="0">
                                <a:solidFill>
                                  <a:srgbClr val="000000"/>
                                </a:solidFill>
                                <a:latin typeface="Cambria Math" panose="02040503050406030204" pitchFamily="18" charset="0"/>
                                <a:cs typeface="+mn-cs"/>
                              </a:rPr>
                            </m:ctrlPr>
                          </m:dPr>
                          <m:e>
                            <m:r>
                              <a:rPr lang="zh-CN" altLang="en-US" sz="2000" i="1" smtClean="0">
                                <a:solidFill>
                                  <a:srgbClr val="000000"/>
                                </a:solidFill>
                                <a:latin typeface="Cambria Math" panose="02040503050406030204" pitchFamily="18" charset="0"/>
                                <a:cs typeface="+mn-cs"/>
                              </a:rPr>
                              <m:t>𝑁</m:t>
                            </m:r>
                          </m:e>
                        </m:d>
                      </m:e>
                    </m:func>
                  </m:oMath>
                </a14:m>
                <a:r>
                  <a:rPr lang="zh-CN" altLang="en-US" sz="2000" dirty="0">
                    <a:solidFill>
                      <a:srgbClr val="000000"/>
                    </a:solidFill>
                    <a:latin typeface="+mn-lt"/>
                    <a:ea typeface="黑体" panose="02010609060101010101" pitchFamily="49" charset="-122"/>
                    <a:cs typeface="+mn-cs"/>
                  </a:rPr>
                  <a:t>个层分支，在编码时需要进行</a:t>
                </a:r>
                <a14:m>
                  <m:oMath xmlns:m="http://schemas.openxmlformats.org/officeDocument/2006/math">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a:rPr lang="en-US" altLang="zh-CN" sz="2000" b="0" i="1" smtClean="0">
                                <a:solidFill>
                                  <a:srgbClr val="000000"/>
                                </a:solidFill>
                                <a:latin typeface="Cambria Math" panose="02040503050406030204" pitchFamily="18" charset="0"/>
                              </a:rPr>
                              <m:t>(</m:t>
                            </m:r>
                            <m:r>
                              <m:rPr>
                                <m:sty m:val="p"/>
                              </m:rPr>
                              <a:rPr lang="zh-CN" altLang="en-US" sz="2000" i="1">
                                <a:solidFill>
                                  <a:srgbClr val="000000"/>
                                </a:solidFill>
                                <a:latin typeface="Cambria Math" panose="02040503050406030204" pitchFamily="18" charset="0"/>
                              </a:rPr>
                              <m:t>log</m:t>
                            </m:r>
                          </m:e>
                          <m:sub>
                            <m:r>
                              <a:rPr lang="zh-CN" altLang="en-US" sz="2000" i="1">
                                <a:solidFill>
                                  <a:srgbClr val="000000"/>
                                </a:solidFill>
                                <a:latin typeface="Cambria Math" panose="02040503050406030204" pitchFamily="18" charset="0"/>
                              </a:rPr>
                              <m:t>2</m:t>
                            </m:r>
                          </m:sub>
                        </m:sSub>
                      </m:fName>
                      <m:e>
                        <m:r>
                          <a:rPr lang="en-US" altLang="zh-CN" sz="2000" b="0" i="1" smtClean="0">
                            <a:solidFill>
                              <a:srgbClr val="000000"/>
                            </a:solidFill>
                            <a:latin typeface="Cambria Math" panose="02040503050406030204" pitchFamily="18" charset="0"/>
                          </a:rPr>
                          <m:t>𝑁</m:t>
                        </m:r>
                        <m:r>
                          <a:rPr lang="en-US" altLang="zh-CN" sz="2000" b="0" i="1" smtClean="0">
                            <a:solidFill>
                              <a:srgbClr val="000000"/>
                            </a:solidFill>
                            <a:latin typeface="Cambria Math" panose="02040503050406030204" pitchFamily="18" charset="0"/>
                          </a:rPr>
                          <m:t>)</m:t>
                        </m:r>
                      </m:e>
                    </m:func>
                    <m:r>
                      <a:rPr lang="zh-CN" altLang="en-US" sz="2000" i="1">
                        <a:solidFill>
                          <a:srgbClr val="000000"/>
                        </a:solidFill>
                        <a:latin typeface="Cambria Math" panose="02040503050406030204" pitchFamily="18" charset="0"/>
                      </a:rPr>
                      <m:t>⋅</m:t>
                    </m:r>
                  </m:oMath>
                </a14:m>
                <a:r>
                  <a:rPr lang="en-US" altLang="zh-CN" sz="2000" dirty="0">
                    <a:solidFill>
                      <a:srgbClr val="000000"/>
                    </a:solidFill>
                    <a:latin typeface="+mn-lt"/>
                  </a:rPr>
                  <a:t> </a:t>
                </a:r>
                <a14:m>
                  <m:oMath xmlns:m="http://schemas.openxmlformats.org/officeDocument/2006/math">
                    <m:r>
                      <a:rPr lang="en-US" altLang="zh-CN" sz="2000" i="1">
                        <a:solidFill>
                          <a:srgbClr val="000000"/>
                        </a:solidFill>
                        <a:latin typeface="Cambria Math" panose="02040503050406030204" pitchFamily="18" charset="0"/>
                      </a:rPr>
                      <m:t>𝑁</m:t>
                    </m:r>
                    <m:r>
                      <a:rPr lang="en-US" altLang="zh-CN" sz="2000" b="0" i="0" smtClean="0">
                        <a:solidFill>
                          <a:srgbClr val="000000"/>
                        </a:solidFill>
                        <a:latin typeface="Cambria Math" panose="02040503050406030204" pitchFamily="18" charset="0"/>
                      </a:rPr>
                      <m:t>/</m:t>
                    </m:r>
                    <m:r>
                      <a:rPr lang="en-US" altLang="zh-CN" sz="2000" b="0" i="0" smtClean="0">
                        <a:solidFill>
                          <a:srgbClr val="000000"/>
                        </a:solidFill>
                        <a:latin typeface="Cambria Math" panose="02040503050406030204" pitchFamily="18" charset="0"/>
                      </a:rPr>
                      <m:t>2</m:t>
                    </m:r>
                  </m:oMath>
                </a14:m>
                <a:r>
                  <a:rPr lang="zh-CN" altLang="en-US" sz="2000" dirty="0">
                    <a:solidFill>
                      <a:srgbClr val="000000"/>
                    </a:solidFill>
                    <a:latin typeface="+mn-lt"/>
                    <a:ea typeface="黑体" panose="02010609060101010101" pitchFamily="49" charset="-122"/>
                    <a:cs typeface="+mn-cs"/>
                  </a:rPr>
                  <a:t>次模</a:t>
                </a:r>
                <a:r>
                  <a:rPr lang="en-US" altLang="zh-CN" sz="2000" dirty="0">
                    <a:solidFill>
                      <a:srgbClr val="000000"/>
                    </a:solidFill>
                    <a:latin typeface="+mn-lt"/>
                    <a:ea typeface="黑体" panose="02010609060101010101" pitchFamily="49" charset="-122"/>
                    <a:cs typeface="+mn-cs"/>
                  </a:rPr>
                  <a:t>2</a:t>
                </a:r>
                <a:r>
                  <a:rPr lang="zh-CN" altLang="en-US" sz="2000" dirty="0">
                    <a:solidFill>
                      <a:srgbClr val="000000"/>
                    </a:solidFill>
                    <a:latin typeface="+mn-lt"/>
                    <a:ea typeface="黑体" panose="02010609060101010101" pitchFamily="49" charset="-122"/>
                    <a:cs typeface="+mn-cs"/>
                  </a:rPr>
                  <a:t>加操作，即编码复杂度</a:t>
                </a:r>
                <a14:m>
                  <m:oMath xmlns:m="http://schemas.openxmlformats.org/officeDocument/2006/math">
                    <m:r>
                      <m:rPr>
                        <m:sty m:val="p"/>
                      </m:rPr>
                      <a:rPr lang="en-US" altLang="zh-CN" sz="2000" i="1">
                        <a:solidFill>
                          <a:srgbClr val="000000"/>
                        </a:solidFill>
                        <a:latin typeface="Cambria Math" panose="02040503050406030204" pitchFamily="18" charset="0"/>
                      </a:rPr>
                      <m:t>O</m:t>
                    </m:r>
                    <m:d>
                      <m:dPr>
                        <m:begChr m:val="["/>
                        <m:endChr m:val="]"/>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r>
                          <a:rPr lang="zh-CN" altLang="en-US"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log</m:t>
                                </m:r>
                              </m:e>
                              <m:sub>
                                <m:r>
                                  <a:rPr lang="zh-CN" altLang="en-US" sz="2000" i="1">
                                    <a:solidFill>
                                      <a:srgbClr val="000000"/>
                                    </a:solidFill>
                                    <a:latin typeface="Cambria Math" panose="02040503050406030204" pitchFamily="18" charset="0"/>
                                  </a:rPr>
                                  <m:t>2</m:t>
                                </m:r>
                              </m:sub>
                            </m:sSub>
                          </m:fName>
                          <m:e>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e>
                            </m:d>
                          </m:e>
                        </m:func>
                      </m:e>
                    </m:d>
                  </m:oMath>
                </a14:m>
                <a:r>
                  <a:rPr lang="zh-CN" altLang="en-US" sz="2000" dirty="0">
                    <a:solidFill>
                      <a:srgbClr val="000000"/>
                    </a:solidFill>
                    <a:latin typeface="+mn-lt"/>
                    <a:ea typeface="黑体" panose="02010609060101010101" pitchFamily="49" charset="-122"/>
                    <a:cs typeface="+mn-cs"/>
                  </a:rPr>
                  <a:t>；</a:t>
                </a:r>
                <a:endParaRPr lang="en-US" altLang="zh-CN" sz="2000" dirty="0">
                  <a:solidFill>
                    <a:srgbClr val="000000"/>
                  </a:solidFill>
                  <a:latin typeface="+mn-lt"/>
                  <a:ea typeface="黑体" panose="02010609060101010101" pitchFamily="49" charset="-122"/>
                  <a:cs typeface="+mn-cs"/>
                </a:endParaRPr>
              </a:p>
              <a:p>
                <a:pPr>
                  <a:lnSpc>
                    <a:spcPct val="150000"/>
                  </a:lnSpc>
                </a:pPr>
                <a:r>
                  <a:rPr lang="en-US" altLang="zh-CN" sz="2000" dirty="0">
                    <a:solidFill>
                      <a:srgbClr val="000000"/>
                    </a:solidFill>
                    <a:latin typeface="+mn-lt"/>
                    <a:ea typeface="黑体" panose="02010609060101010101" pitchFamily="49" charset="-122"/>
                    <a:cs typeface="+mn-cs"/>
                  </a:rPr>
                  <a:t>        </a:t>
                </a:r>
                <a:r>
                  <a:rPr lang="zh-CN" altLang="en-US" sz="2000" dirty="0">
                    <a:solidFill>
                      <a:srgbClr val="000000"/>
                    </a:solidFill>
                    <a:latin typeface="+mn-lt"/>
                    <a:ea typeface="黑体" panose="02010609060101010101" pitchFamily="49" charset="-122"/>
                    <a:cs typeface="+mn-cs"/>
                  </a:rPr>
                  <a:t>解码时，需要</a:t>
                </a:r>
                <a14:m>
                  <m:oMath xmlns:m="http://schemas.openxmlformats.org/officeDocument/2006/math">
                    <m:r>
                      <a:rPr lang="zh-CN" altLang="en-US" sz="2000" i="1">
                        <a:solidFill>
                          <a:srgbClr val="000000"/>
                        </a:solidFill>
                        <a:latin typeface="Cambria Math" panose="02040503050406030204" pitchFamily="18" charset="0"/>
                      </a:rPr>
                      <m:t>𝑁</m:t>
                    </m:r>
                    <m:r>
                      <a:rPr lang="zh-CN" altLang="en-US"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log</m:t>
                            </m:r>
                          </m:e>
                          <m:sub>
                            <m:r>
                              <a:rPr lang="zh-CN" altLang="en-US" sz="2000" i="1">
                                <a:solidFill>
                                  <a:srgbClr val="000000"/>
                                </a:solidFill>
                                <a:latin typeface="Cambria Math" panose="02040503050406030204" pitchFamily="18" charset="0"/>
                              </a:rPr>
                              <m:t>2</m:t>
                            </m:r>
                          </m:sub>
                        </m:sSub>
                      </m:fName>
                      <m:e>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e>
                        </m:d>
                      </m:e>
                    </m:func>
                  </m:oMath>
                </a14:m>
                <a:r>
                  <a:rPr lang="en-US" altLang="zh-CN" sz="2000" dirty="0">
                    <a:solidFill>
                      <a:srgbClr val="000000"/>
                    </a:solidFill>
                    <a:latin typeface="+mn-lt"/>
                    <a:ea typeface="黑体" panose="02010609060101010101" pitchFamily="49" charset="-122"/>
                    <a:cs typeface="+mn-cs"/>
                  </a:rPr>
                  <a:t>/2</a:t>
                </a:r>
                <a:r>
                  <a:rPr lang="zh-CN" altLang="en-US" sz="2000" dirty="0">
                    <a:solidFill>
                      <a:srgbClr val="000000"/>
                    </a:solidFill>
                    <a:latin typeface="+mn-lt"/>
                    <a:ea typeface="黑体" panose="02010609060101010101" pitchFamily="49" charset="-122"/>
                    <a:cs typeface="+mn-cs"/>
                  </a:rPr>
                  <a:t>次效验节点操作和</a:t>
                </a:r>
                <a14:m>
                  <m:oMath xmlns:m="http://schemas.openxmlformats.org/officeDocument/2006/math">
                    <m:r>
                      <a:rPr lang="zh-CN" altLang="en-US" sz="2000" i="1">
                        <a:solidFill>
                          <a:srgbClr val="000000"/>
                        </a:solidFill>
                        <a:latin typeface="Cambria Math" panose="02040503050406030204" pitchFamily="18" charset="0"/>
                      </a:rPr>
                      <m:t>𝑁</m:t>
                    </m:r>
                    <m:r>
                      <a:rPr lang="zh-CN" altLang="en-US"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log</m:t>
                            </m:r>
                          </m:e>
                          <m:sub>
                            <m:r>
                              <a:rPr lang="zh-CN" altLang="en-US" sz="2000" i="1">
                                <a:solidFill>
                                  <a:srgbClr val="000000"/>
                                </a:solidFill>
                                <a:latin typeface="Cambria Math" panose="02040503050406030204" pitchFamily="18" charset="0"/>
                              </a:rPr>
                              <m:t>2</m:t>
                            </m:r>
                          </m:sub>
                        </m:sSub>
                      </m:fName>
                      <m:e>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e>
                        </m:d>
                      </m:e>
                    </m:func>
                  </m:oMath>
                </a14:m>
                <a:r>
                  <a:rPr lang="en-US" altLang="zh-CN" sz="2000" dirty="0">
                    <a:solidFill>
                      <a:srgbClr val="000000"/>
                    </a:solidFill>
                    <a:latin typeface="+mn-lt"/>
                    <a:ea typeface="黑体" panose="02010609060101010101" pitchFamily="49" charset="-122"/>
                  </a:rPr>
                  <a:t>/2</a:t>
                </a:r>
                <a:r>
                  <a:rPr lang="zh-CN" altLang="en-US" sz="2000" dirty="0">
                    <a:solidFill>
                      <a:srgbClr val="000000"/>
                    </a:solidFill>
                    <a:latin typeface="+mn-lt"/>
                    <a:ea typeface="黑体" panose="02010609060101010101" pitchFamily="49" charset="-122"/>
                  </a:rPr>
                  <a:t>次变量节点操作，复杂度同样为</a:t>
                </a:r>
                <a14:m>
                  <m:oMath xmlns:m="http://schemas.openxmlformats.org/officeDocument/2006/math">
                    <m:r>
                      <m:rPr>
                        <m:sty m:val="p"/>
                      </m:rPr>
                      <a:rPr lang="en-US" altLang="zh-CN" sz="2000" i="1">
                        <a:solidFill>
                          <a:srgbClr val="000000"/>
                        </a:solidFill>
                        <a:latin typeface="Cambria Math" panose="02040503050406030204" pitchFamily="18" charset="0"/>
                      </a:rPr>
                      <m:t>O</m:t>
                    </m:r>
                    <m:d>
                      <m:dPr>
                        <m:begChr m:val="["/>
                        <m:endChr m:val="]"/>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r>
                          <a:rPr lang="zh-CN" altLang="en-US"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log</m:t>
                                </m:r>
                              </m:e>
                              <m:sub>
                                <m:r>
                                  <a:rPr lang="zh-CN" altLang="en-US" sz="2000" i="1">
                                    <a:solidFill>
                                      <a:srgbClr val="000000"/>
                                    </a:solidFill>
                                    <a:latin typeface="Cambria Math" panose="02040503050406030204" pitchFamily="18" charset="0"/>
                                  </a:rPr>
                                  <m:t>2</m:t>
                                </m:r>
                              </m:sub>
                            </m:sSub>
                          </m:fName>
                          <m:e>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e>
                            </m:d>
                          </m:e>
                        </m:func>
                      </m:e>
                    </m:d>
                  </m:oMath>
                </a14:m>
                <a:endParaRPr lang="en-US" altLang="zh-CN" sz="2000" dirty="0">
                  <a:solidFill>
                    <a:srgbClr val="000000"/>
                  </a:solidFill>
                  <a:latin typeface="+mn-lt"/>
                  <a:ea typeface="黑体" panose="02010609060101010101" pitchFamily="49" charset="-122"/>
                  <a:cs typeface="+mn-cs"/>
                </a:endParaRPr>
              </a:p>
              <a:p>
                <a:pPr>
                  <a:lnSpc>
                    <a:spcPct val="150000"/>
                  </a:lnSpc>
                </a:pPr>
                <a:r>
                  <a:rPr lang="en-US" altLang="zh-CN" sz="2000" dirty="0">
                    <a:solidFill>
                      <a:srgbClr val="000000"/>
                    </a:solidFill>
                    <a:highlight>
                      <a:srgbClr val="FFFF00"/>
                    </a:highlight>
                    <a:latin typeface="+mn-lt"/>
                    <a:ea typeface="黑体" panose="02010609060101010101" pitchFamily="49" charset="-122"/>
                    <a:cs typeface="+mn-cs"/>
                  </a:rPr>
                  <a:t>SC-L</a:t>
                </a:r>
                <a:r>
                  <a:rPr lang="zh-CN" altLang="en-US" sz="2000" dirty="0">
                    <a:solidFill>
                      <a:srgbClr val="000000"/>
                    </a:solidFill>
                    <a:highlight>
                      <a:srgbClr val="FFFF00"/>
                    </a:highlight>
                    <a:latin typeface="+mn-lt"/>
                    <a:ea typeface="黑体" panose="02010609060101010101" pitchFamily="49" charset="-122"/>
                    <a:cs typeface="+mn-cs"/>
                  </a:rPr>
                  <a:t>算法</a:t>
                </a:r>
                <a:r>
                  <a:rPr lang="en-US" altLang="zh-CN" sz="2000" dirty="0">
                    <a:solidFill>
                      <a:srgbClr val="000000"/>
                    </a:solidFill>
                    <a:highlight>
                      <a:srgbClr val="FFFF00"/>
                    </a:highlight>
                    <a:latin typeface="+mn-lt"/>
                    <a:ea typeface="黑体" panose="02010609060101010101" pitchFamily="49" charset="-122"/>
                    <a:cs typeface="+mn-cs"/>
                  </a:rPr>
                  <a:t>:</a:t>
                </a:r>
                <a:r>
                  <a:rPr lang="zh-CN" altLang="en-US" sz="2000" dirty="0">
                    <a:solidFill>
                      <a:srgbClr val="000000"/>
                    </a:solidFill>
                    <a:latin typeface="+mn-lt"/>
                    <a:ea typeface="黑体" panose="02010609060101010101" pitchFamily="49" charset="-122"/>
                    <a:cs typeface="+mn-cs"/>
                  </a:rPr>
                  <a:t>解码复杂度是</a:t>
                </a:r>
                <a14:m>
                  <m:oMath xmlns:m="http://schemas.openxmlformats.org/officeDocument/2006/math">
                    <m:r>
                      <m:rPr>
                        <m:sty m:val="p"/>
                      </m:rPr>
                      <a:rPr lang="en-US" altLang="zh-CN" sz="2000" i="1">
                        <a:solidFill>
                          <a:srgbClr val="000000"/>
                        </a:solidFill>
                        <a:latin typeface="Cambria Math" panose="02040503050406030204" pitchFamily="18" charset="0"/>
                        <a:cs typeface="+mn-cs"/>
                      </a:rPr>
                      <m:t>O</m:t>
                    </m:r>
                    <m:d>
                      <m:dPr>
                        <m:begChr m:val="["/>
                        <m:endChr m:val="]"/>
                        <m:ctrlPr>
                          <a:rPr lang="zh-CN" altLang="en-US" sz="2000" i="1" smtClean="0">
                            <a:solidFill>
                              <a:srgbClr val="000000"/>
                            </a:solidFill>
                            <a:latin typeface="Cambria Math" panose="02040503050406030204" pitchFamily="18" charset="0"/>
                            <a:cs typeface="+mn-cs"/>
                          </a:rPr>
                        </m:ctrlPr>
                      </m:dPr>
                      <m:e>
                        <m:r>
                          <a:rPr lang="en-US" altLang="zh-CN" sz="2000" b="0" i="1" smtClean="0">
                            <a:solidFill>
                              <a:srgbClr val="000000"/>
                            </a:solidFill>
                            <a:latin typeface="Cambria Math" panose="02040503050406030204" pitchFamily="18" charset="0"/>
                            <a:cs typeface="+mn-cs"/>
                          </a:rPr>
                          <m:t>𝐿</m:t>
                        </m:r>
                        <m:r>
                          <a:rPr lang="zh-CN" altLang="en-US" sz="2000" i="1">
                            <a:solidFill>
                              <a:srgbClr val="000000"/>
                            </a:solidFill>
                            <a:latin typeface="Cambria Math" panose="02040503050406030204" pitchFamily="18" charset="0"/>
                          </a:rPr>
                          <m:t>⋅</m:t>
                        </m:r>
                        <m:r>
                          <a:rPr lang="zh-CN" altLang="en-US" sz="2000" i="1" smtClean="0">
                            <a:solidFill>
                              <a:srgbClr val="000000"/>
                            </a:solidFill>
                            <a:latin typeface="Cambria Math" panose="02040503050406030204" pitchFamily="18" charset="0"/>
                            <a:cs typeface="+mn-cs"/>
                          </a:rPr>
                          <m:t>𝑁</m:t>
                        </m:r>
                        <m:r>
                          <a:rPr lang="zh-CN" altLang="en-US" sz="2000" i="1" smtClean="0">
                            <a:solidFill>
                              <a:srgbClr val="000000"/>
                            </a:solidFill>
                            <a:latin typeface="Cambria Math" panose="02040503050406030204" pitchFamily="18" charset="0"/>
                            <a:cs typeface="+mn-cs"/>
                          </a:rPr>
                          <m:t>⋅</m:t>
                        </m:r>
                        <m:func>
                          <m:funcPr>
                            <m:ctrlPr>
                              <a:rPr lang="zh-CN" altLang="en-US" sz="2000" i="1" smtClean="0">
                                <a:solidFill>
                                  <a:srgbClr val="000000"/>
                                </a:solidFill>
                                <a:latin typeface="Cambria Math" panose="02040503050406030204" pitchFamily="18" charset="0"/>
                                <a:cs typeface="+mn-cs"/>
                              </a:rPr>
                            </m:ctrlPr>
                          </m:funcPr>
                          <m:fName>
                            <m:sSub>
                              <m:sSubPr>
                                <m:ctrlPr>
                                  <a:rPr lang="zh-CN" altLang="en-US" sz="2000" i="1" smtClean="0">
                                    <a:solidFill>
                                      <a:srgbClr val="000000"/>
                                    </a:solidFill>
                                    <a:latin typeface="Cambria Math" panose="02040503050406030204" pitchFamily="18" charset="0"/>
                                    <a:cs typeface="+mn-cs"/>
                                  </a:rPr>
                                </m:ctrlPr>
                              </m:sSubPr>
                              <m:e>
                                <m:r>
                                  <m:rPr>
                                    <m:sty m:val="p"/>
                                  </m:rPr>
                                  <a:rPr lang="zh-CN" altLang="en-US" sz="2000" i="1" smtClean="0">
                                    <a:solidFill>
                                      <a:srgbClr val="000000"/>
                                    </a:solidFill>
                                    <a:latin typeface="Cambria Math" panose="02040503050406030204" pitchFamily="18" charset="0"/>
                                    <a:cs typeface="+mn-cs"/>
                                  </a:rPr>
                                  <m:t>log</m:t>
                                </m:r>
                              </m:e>
                              <m:sub>
                                <m:r>
                                  <a:rPr lang="zh-CN" altLang="en-US" sz="2000" i="1" smtClean="0">
                                    <a:solidFill>
                                      <a:srgbClr val="000000"/>
                                    </a:solidFill>
                                    <a:latin typeface="Cambria Math" panose="02040503050406030204" pitchFamily="18" charset="0"/>
                                    <a:cs typeface="+mn-cs"/>
                                  </a:rPr>
                                  <m:t>2</m:t>
                                </m:r>
                              </m:sub>
                            </m:sSub>
                          </m:fName>
                          <m:e>
                            <m:d>
                              <m:dPr>
                                <m:ctrlPr>
                                  <a:rPr lang="zh-CN" altLang="en-US" sz="2000" i="1" smtClean="0">
                                    <a:solidFill>
                                      <a:srgbClr val="000000"/>
                                    </a:solidFill>
                                    <a:latin typeface="Cambria Math" panose="02040503050406030204" pitchFamily="18" charset="0"/>
                                    <a:cs typeface="+mn-cs"/>
                                  </a:rPr>
                                </m:ctrlPr>
                              </m:dPr>
                              <m:e>
                                <m:r>
                                  <a:rPr lang="zh-CN" altLang="en-US" sz="2000" i="1" smtClean="0">
                                    <a:solidFill>
                                      <a:srgbClr val="000000"/>
                                    </a:solidFill>
                                    <a:latin typeface="Cambria Math" panose="02040503050406030204" pitchFamily="18" charset="0"/>
                                    <a:cs typeface="+mn-cs"/>
                                  </a:rPr>
                                  <m:t>𝑁</m:t>
                                </m:r>
                              </m:e>
                            </m:d>
                          </m:e>
                        </m:func>
                      </m:e>
                    </m:d>
                  </m:oMath>
                </a14:m>
                <a:endParaRPr lang="en-US" altLang="zh-CN" sz="2000" dirty="0">
                  <a:solidFill>
                    <a:srgbClr val="000000"/>
                  </a:solidFill>
                  <a:latin typeface="+mn-lt"/>
                  <a:cs typeface="+mn-cs"/>
                </a:endParaRPr>
              </a:p>
              <a:p>
                <a:pPr>
                  <a:lnSpc>
                    <a:spcPct val="150000"/>
                  </a:lnSpc>
                </a:pPr>
                <a:r>
                  <a:rPr lang="zh-CN" altLang="en-US" sz="2000" dirty="0">
                    <a:solidFill>
                      <a:srgbClr val="000000"/>
                    </a:solidFill>
                    <a:latin typeface="+mn-lt"/>
                    <a:ea typeface="黑体" panose="02010609060101010101" pitchFamily="49" charset="-122"/>
                    <a:cs typeface="+mn-cs"/>
                  </a:rPr>
                  <a:t>        </a:t>
                </a:r>
                <a:r>
                  <a:rPr lang="en-US" altLang="zh-CN" sz="2000" dirty="0">
                    <a:solidFill>
                      <a:srgbClr val="000000"/>
                    </a:solidFill>
                    <a:latin typeface="+mn-lt"/>
                    <a:ea typeface="黑体" panose="02010609060101010101" pitchFamily="49" charset="-122"/>
                    <a:cs typeface="+mn-cs"/>
                  </a:rPr>
                  <a:t>L</a:t>
                </a:r>
                <a:r>
                  <a:rPr lang="zh-CN" altLang="en-US" sz="2000" dirty="0">
                    <a:solidFill>
                      <a:srgbClr val="000000"/>
                    </a:solidFill>
                    <a:latin typeface="+mn-lt"/>
                    <a:ea typeface="黑体" panose="02010609060101010101" pitchFamily="49" charset="-122"/>
                    <a:cs typeface="+mn-cs"/>
                  </a:rPr>
                  <a:t>为列表深度。</a:t>
                </a:r>
                <a:endParaRPr lang="en-US" altLang="zh-CN" sz="2000" dirty="0">
                  <a:solidFill>
                    <a:srgbClr val="000000"/>
                  </a:solidFill>
                  <a:latin typeface="+mn-lt"/>
                  <a:ea typeface="黑体" panose="02010609060101010101" pitchFamily="49" charset="-122"/>
                  <a:cs typeface="+mn-cs"/>
                </a:endParaRPr>
              </a:p>
              <a:p>
                <a:pPr>
                  <a:lnSpc>
                    <a:spcPct val="150000"/>
                  </a:lnSpc>
                </a:pPr>
                <a:endParaRPr lang="en-US" altLang="zh-CN" sz="2000" dirty="0">
                  <a:solidFill>
                    <a:srgbClr val="000000"/>
                  </a:solidFill>
                  <a:latin typeface="黑体" panose="02010609060101010101" pitchFamily="49" charset="-122"/>
                  <a:ea typeface="黑体" panose="02010609060101010101" pitchFamily="49" charset="-122"/>
                  <a:cs typeface="+mn-cs"/>
                </a:endParaRPr>
              </a:p>
            </p:txBody>
          </p:sp>
        </mc:Choice>
        <mc:Fallback>
          <p:sp>
            <p:nvSpPr>
              <p:cNvPr id="5" name="文本框 4"/>
              <p:cNvSpPr txBox="1">
                <a:spLocks noRot="1" noChangeAspect="1" noMove="1" noResize="1" noEditPoints="1" noAdjustHandles="1" noChangeArrowheads="1" noChangeShapeType="1" noTextEdit="1"/>
              </p:cNvSpPr>
              <p:nvPr/>
            </p:nvSpPr>
            <p:spPr>
              <a:xfrm>
                <a:off x="533506" y="1143060"/>
                <a:ext cx="8505602" cy="5098512"/>
              </a:xfrm>
              <a:prstGeom prst="rect">
                <a:avLst/>
              </a:prstGeom>
              <a:blipFill rotWithShape="1">
                <a:blip r:embed="rId1"/>
                <a:stretch>
                  <a:fillRect l="-1" t="-1" r="6" b="3"/>
                </a:stretch>
              </a:blipFill>
            </p:spPr>
            <p:txBody>
              <a:bodyPr/>
              <a:lstStyle/>
              <a:p>
                <a:r>
                  <a:rPr lang="zh-CN" altLang="en-US">
                    <a:noFill/>
                  </a:rPr>
                  <a:t> </a:t>
                </a:r>
              </a:p>
            </p:txBody>
          </p:sp>
        </mc:Fallback>
      </mc:AlternateContent>
      <p:sp>
        <p:nvSpPr>
          <p:cNvPr id="6" name="文本框 5"/>
          <p:cNvSpPr txBox="1"/>
          <p:nvPr/>
        </p:nvSpPr>
        <p:spPr>
          <a:xfrm>
            <a:off x="2209862" y="5965319"/>
            <a:ext cx="5333860" cy="400110"/>
          </a:xfrm>
          <a:prstGeom prst="rect">
            <a:avLst/>
          </a:prstGeom>
          <a:noFill/>
        </p:spPr>
        <p:txBody>
          <a:bodyPr wrap="square">
            <a:spAutoFit/>
          </a:bodyPr>
          <a:lstStyle/>
          <a:p>
            <a:r>
              <a:rPr lang="en-US" altLang="zh-CN" sz="2000" dirty="0">
                <a:solidFill>
                  <a:srgbClr val="FF0000"/>
                </a:solidFill>
                <a:latin typeface="+mn-lt"/>
                <a:ea typeface="黑体" panose="02010609060101010101" pitchFamily="49" charset="-122"/>
                <a:cs typeface="+mn-cs"/>
              </a:rPr>
              <a:t>Polar</a:t>
            </a:r>
            <a:r>
              <a:rPr lang="zh-CN" altLang="en-US" sz="2000" dirty="0">
                <a:solidFill>
                  <a:srgbClr val="FF0000"/>
                </a:solidFill>
                <a:latin typeface="+mn-lt"/>
                <a:ea typeface="黑体" panose="02010609060101010101" pitchFamily="49" charset="-122"/>
                <a:cs typeface="+mn-cs"/>
              </a:rPr>
              <a:t>码解码算法复杂度与信噪比基本无关</a:t>
            </a:r>
            <a:endParaRPr lang="zh-CN" altLang="en-US" sz="2000" dirty="0">
              <a:solidFill>
                <a:srgbClr val="FF0000"/>
              </a:solidFill>
              <a:latin typeface="+mn-lt"/>
              <a:ea typeface="黑体" panose="02010609060101010101" pitchFamily="49" charset="-122"/>
              <a:cs typeface="+mn-c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724396" y="156961"/>
            <a:ext cx="4114692" cy="685800"/>
          </a:xfrm>
        </p:spPr>
        <p:txBody>
          <a:bodyPr/>
          <a:lstStyle/>
          <a:p>
            <a:pPr marL="0" marR="0" lvl="0" indent="0"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复杂度</a:t>
            </a:r>
            <a:endPar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6" name="文本框 5"/>
              <p:cNvSpPr txBox="1"/>
              <p:nvPr/>
            </p:nvSpPr>
            <p:spPr>
              <a:xfrm>
                <a:off x="419209" y="1447852"/>
                <a:ext cx="8305582" cy="2328523"/>
              </a:xfrm>
              <a:prstGeom prst="rect">
                <a:avLst/>
              </a:prstGeom>
              <a:noFill/>
            </p:spPr>
            <p:txBody>
              <a:bodyPr wrap="square">
                <a:spAutoFit/>
              </a:bodyPr>
              <a:lstStyle/>
              <a:p>
                <a:pPr>
                  <a:lnSpc>
                    <a:spcPct val="150000"/>
                  </a:lnSpc>
                </a:pPr>
                <a:r>
                  <a:rPr lang="en-US" altLang="zh-CN" sz="2000" dirty="0">
                    <a:solidFill>
                      <a:srgbClr val="000000"/>
                    </a:solidFill>
                    <a:highlight>
                      <a:srgbClr val="FFFF00"/>
                    </a:highlight>
                    <a:latin typeface="+mn-lt"/>
                    <a:ea typeface="黑体" panose="02010609060101010101" pitchFamily="49" charset="-122"/>
                    <a:cs typeface="+mn-cs"/>
                  </a:rPr>
                  <a:t>SC</a:t>
                </a:r>
                <a:r>
                  <a:rPr lang="zh-CN" altLang="en-US" sz="2000" dirty="0">
                    <a:solidFill>
                      <a:srgbClr val="000000"/>
                    </a:solidFill>
                    <a:highlight>
                      <a:srgbClr val="FFFF00"/>
                    </a:highlight>
                    <a:latin typeface="+mn-lt"/>
                    <a:ea typeface="黑体" panose="02010609060101010101" pitchFamily="49" charset="-122"/>
                    <a:cs typeface="+mn-cs"/>
                  </a:rPr>
                  <a:t>算法</a:t>
                </a:r>
                <a:r>
                  <a:rPr lang="en-US" altLang="zh-CN" sz="2000" dirty="0">
                    <a:solidFill>
                      <a:srgbClr val="000000"/>
                    </a:solidFill>
                    <a:highlight>
                      <a:srgbClr val="FFFF00"/>
                    </a:highlight>
                    <a:latin typeface="+mn-lt"/>
                    <a:ea typeface="黑体" panose="02010609060101010101" pitchFamily="49" charset="-122"/>
                    <a:cs typeface="+mn-cs"/>
                  </a:rPr>
                  <a:t>:</a:t>
                </a:r>
                <a:r>
                  <a:rPr lang="zh-CN" altLang="en-US" sz="2000" dirty="0">
                    <a:solidFill>
                      <a:srgbClr val="000000"/>
                    </a:solidFill>
                    <a:latin typeface="+mn-lt"/>
                    <a:ea typeface="黑体" panose="02010609060101010101" pitchFamily="49" charset="-122"/>
                    <a:cs typeface="+mn-cs"/>
                  </a:rPr>
                  <a:t>存储复杂度为</a:t>
                </a:r>
                <a14:m>
                  <m:oMath xmlns:m="http://schemas.openxmlformats.org/officeDocument/2006/math">
                    <m:r>
                      <m:rPr>
                        <m:sty m:val="p"/>
                      </m:rPr>
                      <a:rPr lang="en-US" altLang="zh-CN" sz="2000" i="1">
                        <a:solidFill>
                          <a:srgbClr val="000000"/>
                        </a:solidFill>
                        <a:latin typeface="Cambria Math" panose="02040503050406030204" pitchFamily="18" charset="0"/>
                        <a:cs typeface="+mn-cs"/>
                      </a:rPr>
                      <m:t>O</m:t>
                    </m:r>
                    <m:d>
                      <m:dPr>
                        <m:begChr m:val="["/>
                        <m:endChr m:val="]"/>
                        <m:ctrlPr>
                          <a:rPr lang="zh-CN" altLang="en-US" sz="2000" i="1" smtClean="0">
                            <a:solidFill>
                              <a:srgbClr val="000000"/>
                            </a:solidFill>
                            <a:latin typeface="Cambria Math" panose="02040503050406030204" pitchFamily="18" charset="0"/>
                            <a:cs typeface="+mn-cs"/>
                          </a:rPr>
                        </m:ctrlPr>
                      </m:dPr>
                      <m:e>
                        <m:r>
                          <a:rPr lang="zh-CN" altLang="en-US" sz="2000" i="1" smtClean="0">
                            <a:solidFill>
                              <a:srgbClr val="000000"/>
                            </a:solidFill>
                            <a:latin typeface="Cambria Math" panose="02040503050406030204" pitchFamily="18" charset="0"/>
                            <a:cs typeface="+mn-cs"/>
                          </a:rPr>
                          <m:t>𝑁</m:t>
                        </m:r>
                        <m:r>
                          <a:rPr lang="zh-CN" altLang="en-US" sz="2000" i="1" smtClean="0">
                            <a:solidFill>
                              <a:srgbClr val="000000"/>
                            </a:solidFill>
                            <a:latin typeface="Cambria Math" panose="02040503050406030204" pitchFamily="18" charset="0"/>
                            <a:cs typeface="+mn-cs"/>
                          </a:rPr>
                          <m:t>⋅</m:t>
                        </m:r>
                        <m:func>
                          <m:funcPr>
                            <m:ctrlPr>
                              <a:rPr lang="zh-CN" altLang="en-US" sz="2000" i="1" smtClean="0">
                                <a:solidFill>
                                  <a:srgbClr val="000000"/>
                                </a:solidFill>
                                <a:latin typeface="Cambria Math" panose="02040503050406030204" pitchFamily="18" charset="0"/>
                                <a:cs typeface="+mn-cs"/>
                              </a:rPr>
                            </m:ctrlPr>
                          </m:funcPr>
                          <m:fName>
                            <m:r>
                              <m:rPr>
                                <m:sty m:val="p"/>
                              </m:rPr>
                              <a:rPr lang="zh-CN" altLang="en-US" sz="2000" i="1" smtClean="0">
                                <a:solidFill>
                                  <a:srgbClr val="000000"/>
                                </a:solidFill>
                                <a:latin typeface="Cambria Math" panose="02040503050406030204" pitchFamily="18" charset="0"/>
                                <a:cs typeface="+mn-cs"/>
                              </a:rPr>
                              <m:t>log</m:t>
                            </m:r>
                          </m:fName>
                          <m:e>
                            <m:d>
                              <m:dPr>
                                <m:ctrlPr>
                                  <a:rPr lang="zh-CN" altLang="en-US" sz="2000" i="1" smtClean="0">
                                    <a:solidFill>
                                      <a:srgbClr val="000000"/>
                                    </a:solidFill>
                                    <a:latin typeface="Cambria Math" panose="02040503050406030204" pitchFamily="18" charset="0"/>
                                    <a:cs typeface="+mn-cs"/>
                                  </a:rPr>
                                </m:ctrlPr>
                              </m:dPr>
                              <m:e>
                                <m:r>
                                  <a:rPr lang="zh-CN" altLang="en-US" sz="2000" i="1" smtClean="0">
                                    <a:solidFill>
                                      <a:srgbClr val="000000"/>
                                    </a:solidFill>
                                    <a:latin typeface="Cambria Math" panose="02040503050406030204" pitchFamily="18" charset="0"/>
                                    <a:cs typeface="+mn-cs"/>
                                  </a:rPr>
                                  <m:t>𝑁</m:t>
                                </m:r>
                              </m:e>
                            </m:d>
                          </m:e>
                        </m:func>
                      </m:e>
                    </m:d>
                  </m:oMath>
                </a14:m>
                <a:endParaRPr lang="en-US" altLang="zh-CN" sz="2000" dirty="0">
                  <a:solidFill>
                    <a:srgbClr val="000000"/>
                  </a:solidFill>
                  <a:latin typeface="+mn-lt"/>
                  <a:cs typeface="+mn-cs"/>
                </a:endParaRPr>
              </a:p>
              <a:p>
                <a:pPr>
                  <a:lnSpc>
                    <a:spcPct val="150000"/>
                  </a:lnSpc>
                </a:pPr>
                <a:r>
                  <a:rPr lang="en-US" altLang="zh-CN" sz="2000" dirty="0">
                    <a:solidFill>
                      <a:srgbClr val="000000"/>
                    </a:solidFill>
                    <a:latin typeface="+mn-lt"/>
                    <a:ea typeface="黑体" panose="02010609060101010101" pitchFamily="49" charset="-122"/>
                    <a:cs typeface="+mn-cs"/>
                  </a:rPr>
                  <a:t>      </a:t>
                </a:r>
                <a:r>
                  <a:rPr lang="zh-CN" altLang="en-US" sz="2000" dirty="0">
                    <a:solidFill>
                      <a:srgbClr val="000000"/>
                    </a:solidFill>
                    <a:latin typeface="+mn-lt"/>
                    <a:ea typeface="黑体" panose="02010609060101010101" pitchFamily="49" charset="-122"/>
                    <a:cs typeface="+mn-cs"/>
                  </a:rPr>
                  <a:t>对于长度为</a:t>
                </a:r>
                <a:r>
                  <a:rPr lang="en-US" altLang="zh-CN" sz="2000" dirty="0">
                    <a:solidFill>
                      <a:srgbClr val="000000"/>
                    </a:solidFill>
                    <a:latin typeface="+mn-lt"/>
                    <a:ea typeface="黑体" panose="02010609060101010101" pitchFamily="49" charset="-122"/>
                    <a:cs typeface="+mn-cs"/>
                  </a:rPr>
                  <a:t>N</a:t>
                </a:r>
                <a:r>
                  <a:rPr lang="zh-CN" altLang="en-US" sz="2000" dirty="0">
                    <a:solidFill>
                      <a:srgbClr val="000000"/>
                    </a:solidFill>
                    <a:latin typeface="+mn-lt"/>
                    <a:ea typeface="黑体" panose="02010609060101010101" pitchFamily="49" charset="-122"/>
                    <a:cs typeface="+mn-cs"/>
                  </a:rPr>
                  <a:t>的</a:t>
                </a:r>
                <a:r>
                  <a:rPr lang="en-US" altLang="zh-CN" sz="2000" dirty="0">
                    <a:solidFill>
                      <a:srgbClr val="000000"/>
                    </a:solidFill>
                    <a:latin typeface="+mn-lt"/>
                    <a:ea typeface="黑体" panose="02010609060101010101" pitchFamily="49" charset="-122"/>
                    <a:cs typeface="+mn-cs"/>
                  </a:rPr>
                  <a:t>Polar</a:t>
                </a:r>
                <a:r>
                  <a:rPr lang="zh-CN" altLang="en-US" sz="2000" dirty="0">
                    <a:solidFill>
                      <a:srgbClr val="000000"/>
                    </a:solidFill>
                    <a:latin typeface="+mn-lt"/>
                    <a:ea typeface="黑体" panose="02010609060101010101" pitchFamily="49" charset="-122"/>
                    <a:cs typeface="+mn-cs"/>
                  </a:rPr>
                  <a:t>码，有</a:t>
                </a:r>
                <a14:m>
                  <m:oMath xmlns:m="http://schemas.openxmlformats.org/officeDocument/2006/math">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log</m:t>
                            </m:r>
                          </m:e>
                          <m:sub>
                            <m:r>
                              <a:rPr lang="zh-CN" altLang="en-US" sz="2000" i="1">
                                <a:solidFill>
                                  <a:srgbClr val="000000"/>
                                </a:solidFill>
                                <a:latin typeface="Cambria Math" panose="02040503050406030204" pitchFamily="18" charset="0"/>
                              </a:rPr>
                              <m:t>2</m:t>
                            </m:r>
                          </m:sub>
                        </m:sSub>
                      </m:fName>
                      <m:e>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e>
                        </m:d>
                      </m:e>
                    </m:func>
                  </m:oMath>
                </a14:m>
                <a:r>
                  <a:rPr lang="zh-CN" altLang="en-US" sz="2000" dirty="0">
                    <a:solidFill>
                      <a:srgbClr val="000000"/>
                    </a:solidFill>
                    <a:latin typeface="+mn-lt"/>
                    <a:ea typeface="黑体" panose="02010609060101010101" pitchFamily="49" charset="-122"/>
                    <a:cs typeface="+mn-cs"/>
                  </a:rPr>
                  <a:t>个层分支，每层存储</a:t>
                </a:r>
                <a:r>
                  <a:rPr lang="en-US" altLang="zh-CN" sz="2000" dirty="0">
                    <a:solidFill>
                      <a:srgbClr val="000000"/>
                    </a:solidFill>
                    <a:latin typeface="+mn-lt"/>
                    <a:ea typeface="黑体" panose="02010609060101010101" pitchFamily="49" charset="-122"/>
                    <a:cs typeface="+mn-cs"/>
                  </a:rPr>
                  <a:t>N</a:t>
                </a:r>
                <a:r>
                  <a:rPr lang="zh-CN" altLang="en-US" sz="2000" dirty="0">
                    <a:solidFill>
                      <a:srgbClr val="000000"/>
                    </a:solidFill>
                    <a:latin typeface="+mn-lt"/>
                    <a:ea typeface="黑体" panose="02010609060101010101" pitchFamily="49" charset="-122"/>
                    <a:cs typeface="+mn-cs"/>
                  </a:rPr>
                  <a:t>个似然比值，为找出原始发射路径，需存储</a:t>
                </a:r>
                <a14:m>
                  <m:oMath xmlns:m="http://schemas.openxmlformats.org/officeDocument/2006/math">
                    <m:r>
                      <a:rPr lang="zh-CN" altLang="en-US" sz="2000" i="1">
                        <a:solidFill>
                          <a:srgbClr val="000000"/>
                        </a:solidFill>
                        <a:latin typeface="Cambria Math" panose="02040503050406030204" pitchFamily="18" charset="0"/>
                      </a:rPr>
                      <m:t>𝑁</m:t>
                    </m:r>
                    <m:r>
                      <a:rPr lang="en-US" altLang="zh-CN" sz="2000" i="1">
                        <a:solidFill>
                          <a:srgbClr val="000000"/>
                        </a:solidFill>
                        <a:latin typeface="Cambria Math" panose="02040503050406030204" pitchFamily="18" charset="0"/>
                      </a:rPr>
                      <m:t>×</m:t>
                    </m:r>
                    <m:func>
                      <m:funcPr>
                        <m:ctrlPr>
                          <a:rPr lang="zh-CN" altLang="en-US" sz="2000" i="1">
                            <a:solidFill>
                              <a:srgbClr val="000000"/>
                            </a:solidFill>
                            <a:latin typeface="Cambria Math" panose="02040503050406030204" pitchFamily="18" charset="0"/>
                          </a:rPr>
                        </m:ctrlPr>
                      </m:funcPr>
                      <m:fName>
                        <m:sSub>
                          <m:sSubPr>
                            <m:ctrlPr>
                              <a:rPr lang="zh-CN" altLang="en-US" sz="2000" i="1">
                                <a:solidFill>
                                  <a:srgbClr val="000000"/>
                                </a:solidFill>
                                <a:latin typeface="Cambria Math" panose="02040503050406030204" pitchFamily="18" charset="0"/>
                              </a:rPr>
                            </m:ctrlPr>
                          </m:sSubPr>
                          <m:e>
                            <m:r>
                              <m:rPr>
                                <m:sty m:val="p"/>
                              </m:rPr>
                              <a:rPr lang="zh-CN" altLang="en-US" sz="2000" i="1">
                                <a:solidFill>
                                  <a:srgbClr val="000000"/>
                                </a:solidFill>
                                <a:latin typeface="Cambria Math" panose="02040503050406030204" pitchFamily="18" charset="0"/>
                              </a:rPr>
                              <m:t>log</m:t>
                            </m:r>
                          </m:e>
                          <m:sub>
                            <m:r>
                              <a:rPr lang="zh-CN" altLang="en-US" sz="2000" i="1">
                                <a:solidFill>
                                  <a:srgbClr val="000000"/>
                                </a:solidFill>
                                <a:latin typeface="Cambria Math" panose="02040503050406030204" pitchFamily="18" charset="0"/>
                              </a:rPr>
                              <m:t>2</m:t>
                            </m:r>
                          </m:sub>
                        </m:sSub>
                      </m:fName>
                      <m:e>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𝑁</m:t>
                            </m:r>
                          </m:e>
                        </m:d>
                      </m:e>
                    </m:func>
                  </m:oMath>
                </a14:m>
                <a:r>
                  <a:rPr lang="zh-CN" altLang="en-US" sz="2000" dirty="0">
                    <a:solidFill>
                      <a:srgbClr val="000000"/>
                    </a:solidFill>
                    <a:latin typeface="+mn-lt"/>
                    <a:ea typeface="黑体" panose="02010609060101010101" pitchFamily="49" charset="-122"/>
                    <a:cs typeface="+mn-cs"/>
                  </a:rPr>
                  <a:t>个似然比值。</a:t>
                </a:r>
                <a:endParaRPr lang="en-US" altLang="zh-CN" sz="2000" dirty="0">
                  <a:solidFill>
                    <a:srgbClr val="000000"/>
                  </a:solidFill>
                  <a:latin typeface="+mn-lt"/>
                  <a:ea typeface="黑体" panose="02010609060101010101" pitchFamily="49" charset="-122"/>
                  <a:cs typeface="+mn-cs"/>
                </a:endParaRPr>
              </a:p>
              <a:p>
                <a:pPr>
                  <a:lnSpc>
                    <a:spcPct val="150000"/>
                  </a:lnSpc>
                </a:pPr>
                <a:r>
                  <a:rPr lang="en-US" altLang="zh-CN" sz="2000" dirty="0">
                    <a:solidFill>
                      <a:srgbClr val="000000"/>
                    </a:solidFill>
                    <a:highlight>
                      <a:srgbClr val="FFFF00"/>
                    </a:highlight>
                    <a:latin typeface="+mn-lt"/>
                    <a:ea typeface="黑体" panose="02010609060101010101" pitchFamily="49" charset="-122"/>
                    <a:cs typeface="+mn-cs"/>
                  </a:rPr>
                  <a:t>SC-L</a:t>
                </a:r>
                <a:r>
                  <a:rPr lang="zh-CN" altLang="en-US" sz="2000" dirty="0">
                    <a:solidFill>
                      <a:srgbClr val="000000"/>
                    </a:solidFill>
                    <a:highlight>
                      <a:srgbClr val="FFFF00"/>
                    </a:highlight>
                    <a:latin typeface="+mn-lt"/>
                    <a:ea typeface="黑体" panose="02010609060101010101" pitchFamily="49" charset="-122"/>
                    <a:cs typeface="+mn-cs"/>
                  </a:rPr>
                  <a:t>算法：</a:t>
                </a:r>
                <a:r>
                  <a:rPr lang="zh-CN" altLang="en-US" sz="2000" dirty="0">
                    <a:solidFill>
                      <a:srgbClr val="000000"/>
                    </a:solidFill>
                    <a:latin typeface="+mn-lt"/>
                    <a:ea typeface="黑体" panose="02010609060101010101" pitchFamily="49" charset="-122"/>
                    <a:cs typeface="+mn-cs"/>
                  </a:rPr>
                  <a:t>存储复杂度为</a:t>
                </a:r>
                <a14:m>
                  <m:oMath xmlns:m="http://schemas.openxmlformats.org/officeDocument/2006/math">
                    <m:r>
                      <m:rPr>
                        <m:sty m:val="p"/>
                      </m:rPr>
                      <a:rPr lang="en-US" altLang="zh-CN" sz="2000" i="1" smtClean="0">
                        <a:solidFill>
                          <a:srgbClr val="000000"/>
                        </a:solidFill>
                        <a:latin typeface="Cambria Math" panose="02040503050406030204" pitchFamily="18" charset="0"/>
                        <a:cs typeface="+mn-cs"/>
                      </a:rPr>
                      <m:t>O</m:t>
                    </m:r>
                    <m:d>
                      <m:dPr>
                        <m:begChr m:val="["/>
                        <m:endChr m:val="]"/>
                        <m:ctrlPr>
                          <a:rPr lang="zh-CN" altLang="en-US" sz="2000" i="1" smtClean="0">
                            <a:solidFill>
                              <a:srgbClr val="000000"/>
                            </a:solidFill>
                            <a:latin typeface="Cambria Math" panose="02040503050406030204" pitchFamily="18" charset="0"/>
                            <a:cs typeface="+mn-cs"/>
                          </a:rPr>
                        </m:ctrlPr>
                      </m:dPr>
                      <m:e>
                        <m:r>
                          <a:rPr lang="en-US" altLang="zh-CN" sz="2000" i="1">
                            <a:solidFill>
                              <a:srgbClr val="000000"/>
                            </a:solidFill>
                            <a:latin typeface="Cambria Math" panose="02040503050406030204" pitchFamily="18" charset="0"/>
                          </a:rPr>
                          <m:t>𝐿</m:t>
                        </m:r>
                        <m:r>
                          <a:rPr lang="zh-CN" altLang="en-US" sz="2000" i="1">
                            <a:solidFill>
                              <a:srgbClr val="000000"/>
                            </a:solidFill>
                            <a:latin typeface="Cambria Math" panose="02040503050406030204" pitchFamily="18" charset="0"/>
                          </a:rPr>
                          <m:t>⋅</m:t>
                        </m:r>
                        <m:r>
                          <a:rPr lang="zh-CN" altLang="en-US" sz="2000" i="1" smtClean="0">
                            <a:solidFill>
                              <a:srgbClr val="000000"/>
                            </a:solidFill>
                            <a:latin typeface="Cambria Math" panose="02040503050406030204" pitchFamily="18" charset="0"/>
                            <a:cs typeface="+mn-cs"/>
                          </a:rPr>
                          <m:t>𝑁</m:t>
                        </m:r>
                        <m:r>
                          <a:rPr lang="zh-CN" altLang="en-US" sz="2000" i="1" smtClean="0">
                            <a:solidFill>
                              <a:srgbClr val="000000"/>
                            </a:solidFill>
                            <a:latin typeface="Cambria Math" panose="02040503050406030204" pitchFamily="18" charset="0"/>
                            <a:cs typeface="+mn-cs"/>
                          </a:rPr>
                          <m:t>⋅</m:t>
                        </m:r>
                        <m:func>
                          <m:funcPr>
                            <m:ctrlPr>
                              <a:rPr lang="zh-CN" altLang="en-US" sz="2000" i="1" smtClean="0">
                                <a:solidFill>
                                  <a:srgbClr val="000000"/>
                                </a:solidFill>
                                <a:latin typeface="Cambria Math" panose="02040503050406030204" pitchFamily="18" charset="0"/>
                                <a:cs typeface="+mn-cs"/>
                              </a:rPr>
                            </m:ctrlPr>
                          </m:funcPr>
                          <m:fName>
                            <m:r>
                              <m:rPr>
                                <m:sty m:val="p"/>
                              </m:rPr>
                              <a:rPr lang="zh-CN" altLang="en-US" sz="2000" i="1" smtClean="0">
                                <a:solidFill>
                                  <a:srgbClr val="000000"/>
                                </a:solidFill>
                                <a:latin typeface="Cambria Math" panose="02040503050406030204" pitchFamily="18" charset="0"/>
                                <a:cs typeface="+mn-cs"/>
                              </a:rPr>
                              <m:t>log</m:t>
                            </m:r>
                          </m:fName>
                          <m:e>
                            <m:d>
                              <m:dPr>
                                <m:ctrlPr>
                                  <a:rPr lang="zh-CN" altLang="en-US" sz="2000" i="1" smtClean="0">
                                    <a:solidFill>
                                      <a:srgbClr val="000000"/>
                                    </a:solidFill>
                                    <a:latin typeface="Cambria Math" panose="02040503050406030204" pitchFamily="18" charset="0"/>
                                    <a:cs typeface="+mn-cs"/>
                                  </a:rPr>
                                </m:ctrlPr>
                              </m:dPr>
                              <m:e>
                                <m:r>
                                  <a:rPr lang="zh-CN" altLang="en-US" sz="2000" i="1" smtClean="0">
                                    <a:solidFill>
                                      <a:srgbClr val="000000"/>
                                    </a:solidFill>
                                    <a:latin typeface="Cambria Math" panose="02040503050406030204" pitchFamily="18" charset="0"/>
                                    <a:cs typeface="+mn-cs"/>
                                  </a:rPr>
                                  <m:t>𝑁</m:t>
                                </m:r>
                              </m:e>
                            </m:d>
                          </m:e>
                        </m:func>
                      </m:e>
                    </m:d>
                  </m:oMath>
                </a14:m>
                <a:endParaRPr lang="en-US" altLang="zh-CN" sz="2000" dirty="0">
                  <a:solidFill>
                    <a:srgbClr val="000000"/>
                  </a:solidFill>
                  <a:latin typeface="+mn-lt"/>
                  <a:ea typeface="黑体" panose="02010609060101010101" pitchFamily="49" charset="-122"/>
                  <a:cs typeface="+mn-cs"/>
                </a:endParaRPr>
              </a:p>
              <a:p>
                <a:pPr>
                  <a:lnSpc>
                    <a:spcPct val="150000"/>
                  </a:lnSpc>
                </a:pPr>
                <a:r>
                  <a:rPr lang="en-US" altLang="zh-CN" sz="2000" dirty="0">
                    <a:solidFill>
                      <a:srgbClr val="000000"/>
                    </a:solidFill>
                    <a:latin typeface="+mn-lt"/>
                    <a:ea typeface="黑体" panose="02010609060101010101" pitchFamily="49" charset="-122"/>
                    <a:cs typeface="+mn-cs"/>
                  </a:rPr>
                  <a:t>      </a:t>
                </a:r>
                <a:r>
                  <a:rPr lang="zh-CN" altLang="en-US" sz="2000" dirty="0">
                    <a:solidFill>
                      <a:srgbClr val="000000"/>
                    </a:solidFill>
                    <a:latin typeface="+mn-lt"/>
                    <a:ea typeface="黑体" panose="02010609060101010101" pitchFamily="49" charset="-122"/>
                    <a:cs typeface="+mn-cs"/>
                  </a:rPr>
                  <a:t>因为每一个列表都要有一份后验概率值。</a:t>
                </a:r>
                <a:endParaRPr lang="en-US" altLang="zh-CN" sz="2000" dirty="0">
                  <a:solidFill>
                    <a:srgbClr val="000000"/>
                  </a:solidFill>
                  <a:latin typeface="+mn-lt"/>
                  <a:ea typeface="黑体" panose="02010609060101010101" pitchFamily="49" charset="-122"/>
                  <a:cs typeface="+mn-cs"/>
                </a:endParaRPr>
              </a:p>
            </p:txBody>
          </p:sp>
        </mc:Choice>
        <mc:Fallback>
          <p:sp>
            <p:nvSpPr>
              <p:cNvPr id="6" name="文本框 5"/>
              <p:cNvSpPr txBox="1">
                <a:spLocks noRot="1" noChangeAspect="1" noMove="1" noResize="1" noEditPoints="1" noAdjustHandles="1" noChangeArrowheads="1" noChangeShapeType="1" noTextEdit="1"/>
              </p:cNvSpPr>
              <p:nvPr/>
            </p:nvSpPr>
            <p:spPr>
              <a:xfrm>
                <a:off x="419209" y="1447852"/>
                <a:ext cx="8305582" cy="2328523"/>
              </a:xfrm>
              <a:prstGeom prst="rect">
                <a:avLst/>
              </a:prstGeom>
              <a:blipFill rotWithShape="1">
                <a:blip r:embed="rId1"/>
                <a:stretch>
                  <a:fillRect l="-1" t="-2" r="6" b="-135"/>
                </a:stretch>
              </a:blipFill>
            </p:spPr>
            <p:txBody>
              <a:bodyPr/>
              <a:lstStyle/>
              <a:p>
                <a:r>
                  <a:rPr lang="zh-CN" altLang="en-US">
                    <a:noFill/>
                  </a:rPr>
                  <a:t> </a:t>
                </a:r>
              </a:p>
            </p:txBody>
          </p:sp>
        </mc:Fallback>
      </mc:AlternateContent>
      <p:sp>
        <p:nvSpPr>
          <p:cNvPr id="7" name="文本框 6"/>
          <p:cNvSpPr txBox="1"/>
          <p:nvPr/>
        </p:nvSpPr>
        <p:spPr>
          <a:xfrm>
            <a:off x="2133664" y="4648168"/>
            <a:ext cx="5333860" cy="400110"/>
          </a:xfrm>
          <a:prstGeom prst="rect">
            <a:avLst/>
          </a:prstGeom>
          <a:noFill/>
        </p:spPr>
        <p:txBody>
          <a:bodyPr wrap="square">
            <a:spAutoFit/>
          </a:bodyPr>
          <a:lstStyle/>
          <a:p>
            <a:r>
              <a:rPr lang="zh-CN" altLang="en-US" sz="2000" dirty="0">
                <a:solidFill>
                  <a:srgbClr val="FF0000"/>
                </a:solidFill>
                <a:latin typeface="+mn-lt"/>
                <a:ea typeface="黑体" panose="02010609060101010101" pitchFamily="49" charset="-122"/>
                <a:cs typeface="+mn-cs"/>
              </a:rPr>
              <a:t>总结来说，</a:t>
            </a:r>
            <a:r>
              <a:rPr lang="en-US" altLang="zh-CN" sz="2000" dirty="0">
                <a:solidFill>
                  <a:srgbClr val="FF0000"/>
                </a:solidFill>
                <a:latin typeface="+mn-lt"/>
                <a:ea typeface="黑体" panose="02010609060101010101" pitchFamily="49" charset="-122"/>
                <a:cs typeface="+mn-cs"/>
              </a:rPr>
              <a:t>Polar</a:t>
            </a:r>
            <a:r>
              <a:rPr lang="zh-CN" altLang="en-US" sz="2000" dirty="0">
                <a:solidFill>
                  <a:srgbClr val="FF0000"/>
                </a:solidFill>
                <a:latin typeface="+mn-lt"/>
                <a:ea typeface="黑体" panose="02010609060101010101" pitchFamily="49" charset="-122"/>
                <a:cs typeface="+mn-cs"/>
              </a:rPr>
              <a:t>码对于存储量的要求较低</a:t>
            </a:r>
            <a:endParaRPr lang="zh-CN" altLang="en-US" sz="2000" dirty="0">
              <a:solidFill>
                <a:srgbClr val="FF0000"/>
              </a:solidFill>
              <a:latin typeface="+mn-lt"/>
              <a:ea typeface="黑体" panose="02010609060101010101" pitchFamily="49" charset="-122"/>
              <a:cs typeface="+mn-c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6652578" y="104775"/>
            <a:ext cx="2300287" cy="685800"/>
          </a:xfrm>
        </p:spPr>
        <p:txBody>
          <a:bodyPr vert="horz" wrap="square" lIns="91440" tIns="45720" rIns="91440" bIns="45720" anchor="ctr"/>
          <a:lstStyle/>
          <a:p>
            <a:r>
              <a:rPr lang="zh-CN" altLang="en-US" sz="2400" dirty="0"/>
              <a:t>内容提要</a:t>
            </a:r>
            <a:endParaRPr lang="zh-CN" altLang="en-US" sz="2400" dirty="0"/>
          </a:p>
        </p:txBody>
      </p:sp>
      <p:sp>
        <p:nvSpPr>
          <p:cNvPr id="5" name="AutoShape 46"/>
          <p:cNvSpPr>
            <a:spLocks noChangeArrowheads="1"/>
          </p:cNvSpPr>
          <p:nvPr/>
        </p:nvSpPr>
        <p:spPr bwMode="ltGray">
          <a:xfrm rot="5400000">
            <a:off x="-2422525" y="147478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rgbClr val="C0C0C0">
                  <a:gamma/>
                  <a:tint val="45490"/>
                  <a:invGamma/>
                </a:srgbClr>
              </a:gs>
              <a:gs pos="50000">
                <a:srgbClr val="C0C0C0"/>
              </a:gs>
              <a:gs pos="100000">
                <a:srgbClr val="C0C0C0">
                  <a:gamma/>
                  <a:tint val="45490"/>
                  <a:invGamma/>
                </a:srgbClr>
              </a:gs>
            </a:gsLst>
            <a:lin ang="0" scaled="1"/>
          </a:gradFill>
          <a:ln w="9525"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6" name="AutoShape 47"/>
          <p:cNvSpPr>
            <a:spLocks noChangeArrowheads="1"/>
          </p:cNvSpPr>
          <p:nvPr/>
        </p:nvSpPr>
        <p:spPr bwMode="ltGray">
          <a:xfrm rot="5400000" flipH="1">
            <a:off x="-2016919" y="1910556"/>
            <a:ext cx="4032250" cy="3929063"/>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6699FF">
                  <a:alpha val="56000"/>
                </a:srgbClr>
              </a:gs>
              <a:gs pos="100000">
                <a:srgbClr val="6699FF">
                  <a:gamma/>
                  <a:tint val="0"/>
                  <a:invGamma/>
                  <a:alpha val="48000"/>
                </a:srgbClr>
              </a:gs>
            </a:gsLst>
            <a:lin ang="5400000" scaled="1"/>
          </a:gradFill>
          <a:ln w="0" algn="ctr">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8198" name="AutoShape 49"/>
          <p:cNvSpPr/>
          <p:nvPr/>
        </p:nvSpPr>
        <p:spPr>
          <a:xfrm>
            <a:off x="2242185" y="4801235"/>
            <a:ext cx="5530850" cy="647065"/>
          </a:xfrm>
          <a:prstGeom prst="roundRect">
            <a:avLst>
              <a:gd name="adj" fmla="val 50000"/>
            </a:avLst>
          </a:prstGeom>
          <a:noFill/>
          <a:ln w="28575" cap="flat" cmpd="sng">
            <a:solidFill>
              <a:srgbClr val="C0C0C0"/>
            </a:solidFill>
            <a:prstDash val="solid"/>
            <a:headEnd type="none" w="med" len="med"/>
            <a:tailEnd type="none" w="med" len="med"/>
          </a:ln>
        </p:spPr>
        <p:txBody>
          <a:bodyPr wrap="none"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800" b="1" i="0" u="none" strike="noStrike" kern="0" cap="none" spc="0" normalizeH="0" baseline="0" noProof="0" dirty="0">
                <a:ln>
                  <a:noFill/>
                </a:ln>
                <a:effectLst/>
                <a:uLnTx/>
                <a:uFillTx/>
                <a:latin typeface="+mn-lt"/>
                <a:ea typeface="宋体" panose="02010600030101010101" pitchFamily="2" charset="-122"/>
                <a:cs typeface="+mn-cs"/>
              </a:rPr>
              <a:t>Polar</a:t>
            </a:r>
            <a:r>
              <a:rPr kumimoji="0" lang="zh-CN" altLang="en-US" sz="2800" b="1" i="0" u="none" strike="noStrike" kern="0" cap="none" spc="0" normalizeH="0" baseline="0" noProof="0" dirty="0">
                <a:ln>
                  <a:noFill/>
                </a:ln>
                <a:effectLst/>
                <a:uLnTx/>
                <a:uFillTx/>
                <a:latin typeface="Arial" panose="020B0604020202020204" pitchFamily="34" charset="0"/>
                <a:ea typeface="宋体" panose="02010600030101010101" pitchFamily="2" charset="-122"/>
                <a:cs typeface="+mn-cs"/>
              </a:rPr>
              <a:t>码应用</a:t>
            </a:r>
            <a:r>
              <a:rPr kumimoji="0" lang="zh-CN" altLang="en-US" sz="2800" b="1" i="0" u="none" strike="noStrike" kern="0" cap="none" spc="0" normalizeH="0" baseline="0" noProof="0" dirty="0">
                <a:ln>
                  <a:noFill/>
                </a:ln>
                <a:effectLst/>
                <a:uLnTx/>
                <a:uFillTx/>
                <a:latin typeface="Arial" panose="020B0604020202020204" pitchFamily="34" charset="0"/>
                <a:ea typeface="宋体" panose="02010600030101010101" pitchFamily="2" charset="-122"/>
                <a:cs typeface="+mn-cs"/>
                <a:sym typeface="+mn-ea"/>
              </a:rPr>
              <a:t>及发展趋势</a:t>
            </a:r>
            <a:endParaRPr kumimoji="0" lang="zh-CN" altLang="en-US" sz="2800" b="1" i="0" u="none" strike="noStrike" kern="0" cap="none" spc="0" normalizeH="0" baseline="0" noProof="0" dirty="0">
              <a:ln>
                <a:noFill/>
              </a:ln>
              <a:effectLst/>
              <a:uLnTx/>
              <a:uFillTx/>
              <a:latin typeface="Arial" panose="020B0604020202020204" pitchFamily="34" charset="0"/>
              <a:ea typeface="宋体" panose="02010600030101010101" pitchFamily="2" charset="-122"/>
              <a:cs typeface="+mn-cs"/>
            </a:endParaRPr>
          </a:p>
        </p:txBody>
      </p:sp>
      <p:sp>
        <p:nvSpPr>
          <p:cNvPr id="9" name="AutoShape 50"/>
          <p:cNvSpPr>
            <a:spLocks noChangeArrowheads="1"/>
          </p:cNvSpPr>
          <p:nvPr/>
        </p:nvSpPr>
        <p:spPr bwMode="gray">
          <a:xfrm>
            <a:off x="2438400" y="3837305"/>
            <a:ext cx="6172200" cy="647065"/>
          </a:xfrm>
          <a:prstGeom prst="roundRect">
            <a:avLst>
              <a:gd name="adj" fmla="val 50000"/>
            </a:avLst>
          </a:prstGeom>
          <a:noFill/>
          <a:ln w="28575" algn="ctr">
            <a:solidFill>
              <a:srgbClr val="C0C0C0"/>
            </a:solidFill>
            <a:rou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rgbClr val="FFFFFF">
                    <a:lumMod val="75000"/>
                  </a:srgbClr>
                </a:solidFill>
                <a:effectLst/>
                <a:uLnTx/>
                <a:uFillTx/>
                <a:latin typeface="Arial" panose="020B0604020202020204" pitchFamily="34" charset="0"/>
                <a:ea typeface="宋体" panose="02010600030101010101" pitchFamily="2" charset="-122"/>
                <a:cs typeface="+mn-cs"/>
                <a:sym typeface="+mn-ea"/>
              </a:rPr>
              <a:t>极化码的构造（编译码）</a:t>
            </a:r>
            <a:endParaRPr kumimoji="0" lang="zh-CN" altLang="en-US" sz="2800" b="1" i="0" u="none" strike="noStrike" kern="0" cap="none" spc="0" normalizeH="0" baseline="0" noProof="0" dirty="0">
              <a:ln>
                <a:noFill/>
              </a:ln>
              <a:solidFill>
                <a:srgbClr val="FFFFFF">
                  <a:lumMod val="75000"/>
                </a:srgbClr>
              </a:solidFill>
              <a:effectLst/>
              <a:uLnTx/>
              <a:uFillTx/>
              <a:latin typeface="Arial" panose="020B0604020202020204" pitchFamily="34" charset="0"/>
              <a:ea typeface="宋体" panose="02010600030101010101" pitchFamily="2" charset="-122"/>
              <a:cs typeface="+mn-cs"/>
              <a:sym typeface="+mn-ea"/>
            </a:endParaRPr>
          </a:p>
        </p:txBody>
      </p:sp>
      <p:sp>
        <p:nvSpPr>
          <p:cNvPr id="10" name="AutoShape 51"/>
          <p:cNvSpPr>
            <a:spLocks noChangeArrowheads="1"/>
          </p:cNvSpPr>
          <p:nvPr/>
        </p:nvSpPr>
        <p:spPr bwMode="gray">
          <a:xfrm>
            <a:off x="2437130" y="2893060"/>
            <a:ext cx="5486400" cy="698500"/>
          </a:xfrm>
          <a:prstGeom prst="roundRect">
            <a:avLst>
              <a:gd name="adj" fmla="val 50000"/>
            </a:avLst>
          </a:prstGeom>
          <a:noFill/>
          <a:ln w="28575" algn="ctr">
            <a:solidFill>
              <a:srgbClr val="C0C0C0"/>
            </a:solidFill>
            <a:round/>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0" cap="none" spc="0" normalizeH="0" baseline="0" noProof="0" dirty="0">
                <a:ln>
                  <a:noFill/>
                </a:ln>
                <a:solidFill>
                  <a:schemeClr val="bg1">
                    <a:lumMod val="75000"/>
                  </a:schemeClr>
                </a:solidFill>
                <a:effectLst/>
                <a:uLnTx/>
                <a:uFillTx/>
                <a:latin typeface="Arial" panose="020B0604020202020204" pitchFamily="34" charset="0"/>
                <a:ea typeface="宋体" panose="02010600030101010101" pitchFamily="2" charset="-122"/>
                <a:cs typeface="+mn-cs"/>
              </a:rPr>
              <a:t>极化码的基本原理</a:t>
            </a:r>
            <a:endParaRPr kumimoji="0" lang="zh-CN" altLang="en-US" sz="2800" b="1" i="0" u="none" strike="noStrike" kern="0" cap="none" spc="0" normalizeH="0" baseline="0" noProof="0" dirty="0">
              <a:ln>
                <a:noFill/>
              </a:ln>
              <a:solidFill>
                <a:schemeClr val="bg1">
                  <a:lumMod val="75000"/>
                </a:schemeClr>
              </a:solidFill>
              <a:effectLst/>
              <a:uLnTx/>
              <a:uFillTx/>
              <a:latin typeface="Arial" panose="020B0604020202020204" pitchFamily="34" charset="0"/>
              <a:ea typeface="宋体" panose="02010600030101010101" pitchFamily="2" charset="-122"/>
              <a:cs typeface="+mn-cs"/>
            </a:endParaRPr>
          </a:p>
        </p:txBody>
      </p:sp>
      <p:sp>
        <p:nvSpPr>
          <p:cNvPr id="11" name="AutoShape 52"/>
          <p:cNvSpPr>
            <a:spLocks noChangeArrowheads="1"/>
          </p:cNvSpPr>
          <p:nvPr/>
        </p:nvSpPr>
        <p:spPr bwMode="gray">
          <a:xfrm>
            <a:off x="1840865" y="1821180"/>
            <a:ext cx="5426710" cy="675005"/>
          </a:xfrm>
          <a:prstGeom prst="roundRect">
            <a:avLst>
              <a:gd name="adj" fmla="val 50000"/>
            </a:avLst>
          </a:prstGeom>
          <a:noFill/>
          <a:ln w="28575" algn="ctr">
            <a:solidFill>
              <a:srgbClr val="C0C0C0"/>
            </a:solidFill>
            <a:round/>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800" b="1" i="0" u="none" strike="noStrike" kern="0" cap="none" spc="0" normalizeH="0" baseline="0" noProof="0" dirty="0">
                <a:ln>
                  <a:noFill/>
                </a:ln>
                <a:solidFill>
                  <a:srgbClr val="FFFFFF">
                    <a:lumMod val="75000"/>
                  </a:srgbClr>
                </a:solidFill>
                <a:effectLst/>
                <a:uLnTx/>
                <a:uFillTx/>
                <a:latin typeface="Arial" panose="020B0604020202020204" pitchFamily="34" charset="0"/>
                <a:ea typeface="宋体" panose="02010600030101010101" pitchFamily="2" charset="-122"/>
                <a:cs typeface="+mn-cs"/>
              </a:rPr>
              <a:t>极化码概述与研究现状</a:t>
            </a:r>
            <a:endParaRPr kumimoji="0" lang="zh-CN" altLang="en-US" sz="4000" b="1" i="0" u="none" strike="noStrike" kern="0" cap="none" spc="0" normalizeH="0" baseline="0" noProof="0" dirty="0">
              <a:ln>
                <a:noFill/>
              </a:ln>
              <a:solidFill>
                <a:srgbClr val="FFFFFF">
                  <a:lumMod val="75000"/>
                </a:srgbClr>
              </a:solidFill>
              <a:effectLst/>
              <a:uLnTx/>
              <a:uFillTx/>
              <a:latin typeface="Arial" panose="020B0604020202020204" pitchFamily="34" charset="0"/>
              <a:ea typeface="宋体" panose="02010600030101010101" pitchFamily="2" charset="-122"/>
              <a:cs typeface="+mn-cs"/>
            </a:endParaRPr>
          </a:p>
        </p:txBody>
      </p:sp>
      <p:grpSp>
        <p:nvGrpSpPr>
          <p:cNvPr id="8202" name="Group 53"/>
          <p:cNvGrpSpPr/>
          <p:nvPr/>
        </p:nvGrpSpPr>
        <p:grpSpPr>
          <a:xfrm>
            <a:off x="1523365" y="1985328"/>
            <a:ext cx="381000" cy="381000"/>
            <a:chOff x="2078" y="1680"/>
            <a:chExt cx="1615" cy="1615"/>
          </a:xfrm>
        </p:grpSpPr>
        <p:sp>
          <p:nvSpPr>
            <p:cNvPr id="13" name="Oval 54"/>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4" name="Oval 55"/>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5" name="Oval 56"/>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6" name="Oval 57"/>
            <p:cNvSpPr>
              <a:spLocks noChangeArrowheads="1"/>
            </p:cNvSpPr>
            <p:nvPr/>
          </p:nvSpPr>
          <p:spPr bwMode="gray">
            <a:xfrm>
              <a:off x="2253" y="1855"/>
              <a:ext cx="1265" cy="1265"/>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7" name="Oval 58"/>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18" name="Oval 59"/>
            <p:cNvSpPr>
              <a:spLocks noChangeArrowheads="1"/>
            </p:cNvSpPr>
            <p:nvPr/>
          </p:nvSpPr>
          <p:spPr bwMode="gray">
            <a:xfrm>
              <a:off x="2334" y="1936"/>
              <a:ext cx="1097" cy="1104"/>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3" name="Group 60"/>
          <p:cNvGrpSpPr/>
          <p:nvPr/>
        </p:nvGrpSpPr>
        <p:grpSpPr>
          <a:xfrm>
            <a:off x="2056765" y="3074988"/>
            <a:ext cx="381000" cy="381000"/>
            <a:chOff x="2078" y="1680"/>
            <a:chExt cx="1615" cy="1615"/>
          </a:xfrm>
        </p:grpSpPr>
        <p:sp>
          <p:nvSpPr>
            <p:cNvPr id="20" name="Oval 61"/>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1" name="Oval 62"/>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2" name="Oval 63"/>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3" name="Oval 64"/>
            <p:cNvSpPr>
              <a:spLocks noChangeArrowheads="1"/>
            </p:cNvSpPr>
            <p:nvPr/>
          </p:nvSpPr>
          <p:spPr bwMode="gray">
            <a:xfrm>
              <a:off x="2253" y="1855"/>
              <a:ext cx="1265" cy="1265"/>
            </a:xfrm>
            <a:prstGeom prst="ellipse">
              <a:avLst/>
            </a:prstGeom>
            <a:gradFill rotWithShape="1">
              <a:gsLst>
                <a:gs pos="0">
                  <a:srgbClr val="48BE67">
                    <a:gamma/>
                    <a:shade val="0"/>
                    <a:invGamma/>
                  </a:srgbClr>
                </a:gs>
                <a:gs pos="100000">
                  <a:srgbClr val="48BE67"/>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4" name="Oval 65"/>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5" name="Oval 66"/>
            <p:cNvSpPr>
              <a:spLocks noChangeArrowheads="1"/>
            </p:cNvSpPr>
            <p:nvPr/>
          </p:nvSpPr>
          <p:spPr bwMode="gray">
            <a:xfrm>
              <a:off x="2334" y="1936"/>
              <a:ext cx="1097" cy="1104"/>
            </a:xfrm>
            <a:prstGeom prst="ellipse">
              <a:avLst/>
            </a:prstGeom>
            <a:gradFill rotWithShape="1">
              <a:gsLst>
                <a:gs pos="0">
                  <a:srgbClr val="48BE67"/>
                </a:gs>
                <a:gs pos="100000">
                  <a:srgbClr val="48BE67">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4" name="Group 67"/>
          <p:cNvGrpSpPr/>
          <p:nvPr/>
        </p:nvGrpSpPr>
        <p:grpSpPr>
          <a:xfrm>
            <a:off x="2133600" y="3913188"/>
            <a:ext cx="381000" cy="381000"/>
            <a:chOff x="2078" y="1680"/>
            <a:chExt cx="1615" cy="1615"/>
          </a:xfrm>
        </p:grpSpPr>
        <p:sp>
          <p:nvSpPr>
            <p:cNvPr id="27" name="Oval 68"/>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8" name="Oval 69"/>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29" name="Oval 70"/>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0" name="Oval 71"/>
            <p:cNvSpPr>
              <a:spLocks noChangeArrowheads="1"/>
            </p:cNvSpPr>
            <p:nvPr/>
          </p:nvSpPr>
          <p:spPr bwMode="gray">
            <a:xfrm>
              <a:off x="2253" y="1855"/>
              <a:ext cx="1265" cy="1265"/>
            </a:xfrm>
            <a:prstGeom prst="ellipse">
              <a:avLst/>
            </a:prstGeom>
            <a:gradFill rotWithShape="1">
              <a:gsLst>
                <a:gs pos="0">
                  <a:srgbClr val="21B3E1"/>
                </a:gs>
                <a:gs pos="100000">
                  <a:srgbClr val="21B3E1">
                    <a:gamma/>
                    <a:shade val="46275"/>
                    <a:invGamma/>
                  </a:srgbClr>
                </a:gs>
              </a:gsLst>
              <a:lin ang="54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1" name="Oval 72"/>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2" name="Oval 73"/>
            <p:cNvSpPr>
              <a:spLocks noChangeArrowheads="1"/>
            </p:cNvSpPr>
            <p:nvPr/>
          </p:nvSpPr>
          <p:spPr bwMode="gray">
            <a:xfrm>
              <a:off x="2334" y="1936"/>
              <a:ext cx="1097" cy="1104"/>
            </a:xfrm>
            <a:prstGeom prst="ellipse">
              <a:avLst/>
            </a:prstGeom>
            <a:gradFill rotWithShape="1">
              <a:gsLst>
                <a:gs pos="0">
                  <a:srgbClr val="21B3E1"/>
                </a:gs>
                <a:gs pos="100000">
                  <a:srgbClr val="21B3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grpSp>
        <p:nvGrpSpPr>
          <p:cNvPr id="8205" name="Group 74"/>
          <p:cNvGrpSpPr/>
          <p:nvPr/>
        </p:nvGrpSpPr>
        <p:grpSpPr>
          <a:xfrm>
            <a:off x="1905635" y="4826953"/>
            <a:ext cx="381000" cy="381000"/>
            <a:chOff x="2078" y="1680"/>
            <a:chExt cx="1615" cy="1615"/>
          </a:xfrm>
        </p:grpSpPr>
        <p:sp>
          <p:nvSpPr>
            <p:cNvPr id="34" name="Oval 75"/>
            <p:cNvSpPr>
              <a:spLocks noChangeArrowheads="1"/>
            </p:cNvSpPr>
            <p:nvPr/>
          </p:nvSpPr>
          <p:spPr bwMode="gray">
            <a:xfrm>
              <a:off x="2078" y="168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5" name="Oval 76"/>
            <p:cNvSpPr>
              <a:spLocks noChangeArrowheads="1"/>
            </p:cNvSpPr>
            <p:nvPr/>
          </p:nvSpPr>
          <p:spPr bwMode="gray">
            <a:xfrm>
              <a:off x="2172" y="1774"/>
              <a:ext cx="1427" cy="1427"/>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6" name="Oval 77"/>
            <p:cNvSpPr>
              <a:spLocks noChangeArrowheads="1"/>
            </p:cNvSpPr>
            <p:nvPr/>
          </p:nvSpPr>
          <p:spPr bwMode="gray">
            <a:xfrm>
              <a:off x="2253" y="1855"/>
              <a:ext cx="1265" cy="1265"/>
            </a:xfrm>
            <a:prstGeom prst="ellipse">
              <a:avLst/>
            </a:prstGeom>
            <a:gradFill rotWithShape="1">
              <a:gsLst>
                <a:gs pos="0">
                  <a:srgbClr val="6699FF">
                    <a:gamma/>
                    <a:tint val="0"/>
                    <a:invGamma/>
                  </a:srgbClr>
                </a:gs>
                <a:gs pos="50000">
                  <a:srgbClr val="6699FF"/>
                </a:gs>
                <a:gs pos="100000">
                  <a:srgbClr val="6699FF">
                    <a:gamma/>
                    <a:tint val="0"/>
                    <a:invGamma/>
                  </a:srgb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7" name="Oval 78"/>
            <p:cNvSpPr>
              <a:spLocks noChangeArrowheads="1"/>
            </p:cNvSpPr>
            <p:nvPr/>
          </p:nvSpPr>
          <p:spPr bwMode="gray">
            <a:xfrm>
              <a:off x="2253" y="1855"/>
              <a:ext cx="1265" cy="1265"/>
            </a:xfrm>
            <a:prstGeom prst="ellipse">
              <a:avLst/>
            </a:prstGeom>
            <a:gradFill rotWithShape="1">
              <a:gsLst>
                <a:gs pos="0">
                  <a:srgbClr val="8D67E1">
                    <a:gamma/>
                    <a:shade val="0"/>
                    <a:invGamma/>
                  </a:srgbClr>
                </a:gs>
                <a:gs pos="100000">
                  <a:srgbClr val="8D67E1"/>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8" name="Oval 79"/>
            <p:cNvSpPr>
              <a:spLocks noChangeArrowheads="1"/>
            </p:cNvSpPr>
            <p:nvPr/>
          </p:nvSpPr>
          <p:spPr bwMode="gray">
            <a:xfrm>
              <a:off x="2334" y="1936"/>
              <a:ext cx="1097" cy="1104"/>
            </a:xfrm>
            <a:prstGeom prst="ellipse">
              <a:avLst/>
            </a:prstGeom>
            <a:gradFill rotWithShape="1">
              <a:gsLst>
                <a:gs pos="0">
                  <a:srgbClr val="6699FF">
                    <a:gamma/>
                    <a:shade val="54118"/>
                    <a:invGamma/>
                  </a:srgbClr>
                </a:gs>
                <a:gs pos="50000">
                  <a:srgbClr val="6699FF"/>
                </a:gs>
                <a:gs pos="100000">
                  <a:srgbClr val="6699FF">
                    <a:gamma/>
                    <a:shade val="54118"/>
                    <a:invGamma/>
                  </a:srgb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sp>
          <p:nvSpPr>
            <p:cNvPr id="39" name="Oval 80"/>
            <p:cNvSpPr>
              <a:spLocks noChangeArrowheads="1"/>
            </p:cNvSpPr>
            <p:nvPr/>
          </p:nvSpPr>
          <p:spPr bwMode="gray">
            <a:xfrm>
              <a:off x="2334" y="1936"/>
              <a:ext cx="1097" cy="1104"/>
            </a:xfrm>
            <a:prstGeom prst="ellipse">
              <a:avLst/>
            </a:prstGeom>
            <a:gradFill rotWithShape="1">
              <a:gsLst>
                <a:gs pos="0">
                  <a:srgbClr val="8D67E1"/>
                </a:gs>
                <a:gs pos="100000">
                  <a:srgbClr val="8D67E1">
                    <a:gamma/>
                    <a:shade val="48627"/>
                    <a:invGamma/>
                  </a:srgb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163794"/>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748906" y="144027"/>
            <a:ext cx="4114692" cy="685800"/>
          </a:xfrm>
        </p:spPr>
        <p:txBody>
          <a:bodyPr/>
          <a:lstStyle/>
          <a:p>
            <a:pPr marL="0" marR="0" lvl="0" indent="0"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a:t>
            </a:r>
            <a:r>
              <a:rPr kumimoji="0" lang="zh-CN" altLang="en-US" sz="2400" b="1" kern="0" dirty="0">
                <a:solidFill>
                  <a:srgbClr val="000000"/>
                </a:solidFill>
                <a:latin typeface="Arial" panose="020B0604020202020204" pitchFamily="34" charset="0"/>
                <a:ea typeface="宋体" panose="02010600030101010101" pitchFamily="2" charset="-122"/>
                <a:cs typeface="+mn-cs"/>
              </a:rPr>
              <a:t>应用</a:t>
            </a:r>
            <a:endPar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文本框 4"/>
          <p:cNvSpPr txBox="1"/>
          <p:nvPr/>
        </p:nvSpPr>
        <p:spPr>
          <a:xfrm>
            <a:off x="2933743" y="1071004"/>
            <a:ext cx="3276514" cy="523220"/>
          </a:xfrm>
          <a:prstGeom prst="rect">
            <a:avLst/>
          </a:prstGeom>
          <a:noFill/>
        </p:spPr>
        <p:txBody>
          <a:bodyPr wrap="square">
            <a:spAutoFit/>
          </a:bodyPr>
          <a:lstStyle/>
          <a:p>
            <a:pPr algn="just"/>
            <a:r>
              <a:rPr lang="zh-CN" altLang="en-US" sz="2800" b="1" i="0" dirty="0">
                <a:solidFill>
                  <a:schemeClr val="accent6">
                    <a:lumMod val="75000"/>
                  </a:schemeClr>
                </a:solidFill>
                <a:effectLst/>
                <a:latin typeface="微软雅黑" panose="020B0503020204020204" charset="-122"/>
                <a:ea typeface="微软雅黑" panose="020B0503020204020204" charset="-122"/>
              </a:rPr>
              <a:t>华为与极化码相遇</a:t>
            </a:r>
            <a:endParaRPr lang="zh-CN" altLang="en-US" sz="2800" b="1" i="0" dirty="0">
              <a:solidFill>
                <a:schemeClr val="accent6">
                  <a:lumMod val="75000"/>
                </a:schemeClr>
              </a:solidFill>
              <a:effectLst/>
              <a:latin typeface="微软雅黑" panose="020B0503020204020204" charset="-122"/>
              <a:ea typeface="微软雅黑" panose="020B0503020204020204" charset="-122"/>
            </a:endParaRPr>
          </a:p>
        </p:txBody>
      </p:sp>
      <p:sp>
        <p:nvSpPr>
          <p:cNvPr id="12" name="文本框 11"/>
          <p:cNvSpPr txBox="1"/>
          <p:nvPr/>
        </p:nvSpPr>
        <p:spPr>
          <a:xfrm>
            <a:off x="152516" y="1874849"/>
            <a:ext cx="8838968" cy="1578317"/>
          </a:xfrm>
          <a:prstGeom prst="rect">
            <a:avLst/>
          </a:prstGeom>
          <a:noFill/>
        </p:spPr>
        <p:txBody>
          <a:bodyPr wrap="square">
            <a:spAutoFit/>
          </a:bodyPr>
          <a:lstStyle/>
          <a:p>
            <a:pPr algn="l">
              <a:lnSpc>
                <a:spcPts val="3000"/>
              </a:lnSpc>
            </a:pPr>
            <a:r>
              <a:rPr lang="zh-CN" altLang="en-US" sz="2000" dirty="0">
                <a:solidFill>
                  <a:srgbClr val="000000"/>
                </a:solidFill>
                <a:latin typeface="+mn-lt"/>
                <a:ea typeface="黑体" panose="02010609060101010101" pitchFamily="49" charset="-122"/>
                <a:cs typeface="+mn-cs"/>
              </a:rPr>
              <a:t>        华为</a:t>
            </a:r>
            <a:r>
              <a:rPr lang="en-US" altLang="zh-CN" sz="2000" dirty="0">
                <a:solidFill>
                  <a:srgbClr val="000000"/>
                </a:solidFill>
                <a:latin typeface="+mn-lt"/>
                <a:ea typeface="黑体" panose="02010609060101010101" pitchFamily="49" charset="-122"/>
                <a:cs typeface="+mn-cs"/>
              </a:rPr>
              <a:t>5G</a:t>
            </a:r>
            <a:r>
              <a:rPr lang="zh-CN" altLang="en-US" sz="2000" dirty="0">
                <a:solidFill>
                  <a:srgbClr val="000000"/>
                </a:solidFill>
                <a:latin typeface="+mn-lt"/>
                <a:ea typeface="黑体" panose="02010609060101010101" pitchFamily="49" charset="-122"/>
                <a:cs typeface="+mn-cs"/>
              </a:rPr>
              <a:t>研究最早是从</a:t>
            </a:r>
            <a:r>
              <a:rPr lang="en-US" altLang="zh-CN" sz="2000" dirty="0">
                <a:solidFill>
                  <a:srgbClr val="000000"/>
                </a:solidFill>
                <a:latin typeface="+mn-lt"/>
                <a:ea typeface="黑体" panose="02010609060101010101" pitchFamily="49" charset="-122"/>
                <a:cs typeface="+mn-cs"/>
              </a:rPr>
              <a:t>2009</a:t>
            </a:r>
            <a:r>
              <a:rPr lang="zh-CN" altLang="en-US" sz="2000" dirty="0">
                <a:solidFill>
                  <a:srgbClr val="000000"/>
                </a:solidFill>
                <a:latin typeface="+mn-lt"/>
                <a:ea typeface="黑体" panose="02010609060101010101" pitchFamily="49" charset="-122"/>
                <a:cs typeface="+mn-cs"/>
              </a:rPr>
              <a:t>年开始的，恰好也就是</a:t>
            </a:r>
            <a:r>
              <a:rPr lang="en-US" altLang="zh-CN" sz="2000" dirty="0" err="1">
                <a:solidFill>
                  <a:srgbClr val="000000"/>
                </a:solidFill>
                <a:latin typeface="+mn-lt"/>
                <a:ea typeface="黑体" panose="02010609060101010101" pitchFamily="49" charset="-122"/>
                <a:cs typeface="+mn-cs"/>
              </a:rPr>
              <a:t>Arikan</a:t>
            </a:r>
            <a:r>
              <a:rPr lang="zh-CN" altLang="en-US" sz="2000" dirty="0">
                <a:solidFill>
                  <a:srgbClr val="000000"/>
                </a:solidFill>
                <a:latin typeface="+mn-lt"/>
                <a:ea typeface="黑体" panose="02010609060101010101" pitchFamily="49" charset="-122"/>
                <a:cs typeface="+mn-cs"/>
              </a:rPr>
              <a:t>教授关于</a:t>
            </a:r>
            <a:r>
              <a:rPr lang="en-US" altLang="zh-CN" sz="2000" dirty="0">
                <a:solidFill>
                  <a:srgbClr val="000000"/>
                </a:solidFill>
                <a:latin typeface="+mn-lt"/>
                <a:ea typeface="黑体" panose="02010609060101010101" pitchFamily="49" charset="-122"/>
                <a:cs typeface="+mn-cs"/>
              </a:rPr>
              <a:t>Polar</a:t>
            </a:r>
            <a:r>
              <a:rPr lang="zh-CN" altLang="en-US" sz="2000" dirty="0">
                <a:solidFill>
                  <a:srgbClr val="000000"/>
                </a:solidFill>
                <a:latin typeface="+mn-lt"/>
                <a:ea typeface="黑体" panose="02010609060101010101" pitchFamily="49" charset="-122"/>
                <a:cs typeface="+mn-cs"/>
              </a:rPr>
              <a:t>码的论文在</a:t>
            </a:r>
            <a:r>
              <a:rPr lang="en-US" altLang="zh-CN" sz="2000" dirty="0">
                <a:solidFill>
                  <a:srgbClr val="000000"/>
                </a:solidFill>
                <a:latin typeface="+mn-lt"/>
                <a:ea typeface="黑体" panose="02010609060101010101" pitchFamily="49" charset="-122"/>
                <a:cs typeface="+mn-cs"/>
              </a:rPr>
              <a:t>IEEE</a:t>
            </a:r>
            <a:r>
              <a:rPr lang="zh-CN" altLang="en-US" sz="2000" dirty="0">
                <a:solidFill>
                  <a:srgbClr val="000000"/>
                </a:solidFill>
                <a:latin typeface="+mn-lt"/>
                <a:ea typeface="黑体" panose="02010609060101010101" pitchFamily="49" charset="-122"/>
                <a:cs typeface="+mn-cs"/>
              </a:rPr>
              <a:t>正式发表的那一年。</a:t>
            </a:r>
            <a:endParaRPr lang="en-US" altLang="zh-CN" sz="2000" dirty="0">
              <a:solidFill>
                <a:srgbClr val="000000"/>
              </a:solidFill>
              <a:latin typeface="+mn-lt"/>
              <a:ea typeface="黑体" panose="02010609060101010101" pitchFamily="49" charset="-122"/>
              <a:cs typeface="+mn-cs"/>
            </a:endParaRPr>
          </a:p>
          <a:p>
            <a:pPr algn="l">
              <a:lnSpc>
                <a:spcPts val="3000"/>
              </a:lnSpc>
            </a:pPr>
            <a:r>
              <a:rPr lang="en-US" altLang="zh-CN" sz="2000" dirty="0">
                <a:solidFill>
                  <a:srgbClr val="000000"/>
                </a:solidFill>
                <a:latin typeface="+mn-lt"/>
                <a:ea typeface="黑体" panose="02010609060101010101" pitchFamily="49" charset="-122"/>
                <a:cs typeface="+mn-cs"/>
              </a:rPr>
              <a:t>       </a:t>
            </a:r>
            <a:r>
              <a:rPr lang="zh-CN" altLang="en-US" sz="2000" dirty="0">
                <a:solidFill>
                  <a:srgbClr val="000000"/>
                </a:solidFill>
                <a:latin typeface="+mn-lt"/>
                <a:ea typeface="黑体" panose="02010609060101010101" pitchFamily="49" charset="-122"/>
                <a:cs typeface="+mn-cs"/>
              </a:rPr>
              <a:t>华为认为，极化码有作为优秀信道编码技术的潜力。到了</a:t>
            </a:r>
            <a:r>
              <a:rPr lang="en-US" altLang="zh-CN" sz="2000" dirty="0">
                <a:solidFill>
                  <a:srgbClr val="000000"/>
                </a:solidFill>
                <a:latin typeface="+mn-lt"/>
                <a:ea typeface="黑体" panose="02010609060101010101" pitchFamily="49" charset="-122"/>
                <a:cs typeface="+mn-cs"/>
              </a:rPr>
              <a:t>2013</a:t>
            </a:r>
            <a:r>
              <a:rPr lang="zh-CN" altLang="en-US" sz="2000" dirty="0">
                <a:solidFill>
                  <a:srgbClr val="000000"/>
                </a:solidFill>
                <a:latin typeface="+mn-lt"/>
                <a:ea typeface="黑体" panose="02010609060101010101" pitchFamily="49" charset="-122"/>
                <a:cs typeface="+mn-cs"/>
              </a:rPr>
              <a:t>年，华为的</a:t>
            </a:r>
            <a:r>
              <a:rPr lang="en-US" altLang="zh-CN" sz="2000" dirty="0">
                <a:solidFill>
                  <a:srgbClr val="000000"/>
                </a:solidFill>
                <a:latin typeface="+mn-lt"/>
                <a:ea typeface="黑体" panose="02010609060101010101" pitchFamily="49" charset="-122"/>
                <a:cs typeface="+mn-cs"/>
              </a:rPr>
              <a:t>5G</a:t>
            </a:r>
            <a:r>
              <a:rPr lang="zh-CN" altLang="en-US" sz="2000" dirty="0">
                <a:solidFill>
                  <a:srgbClr val="000000"/>
                </a:solidFill>
                <a:latin typeface="+mn-lt"/>
                <a:ea typeface="黑体" panose="02010609060101010101" pitchFamily="49" charset="-122"/>
                <a:cs typeface="+mn-cs"/>
              </a:rPr>
              <a:t>研究投入达到</a:t>
            </a:r>
            <a:r>
              <a:rPr lang="en-US" altLang="zh-CN" sz="2000" dirty="0">
                <a:solidFill>
                  <a:srgbClr val="000000"/>
                </a:solidFill>
                <a:latin typeface="+mn-lt"/>
                <a:ea typeface="黑体" panose="02010609060101010101" pitchFamily="49" charset="-122"/>
                <a:cs typeface="+mn-cs"/>
              </a:rPr>
              <a:t>6</a:t>
            </a:r>
            <a:r>
              <a:rPr lang="zh-CN" altLang="en-US" sz="2000" dirty="0">
                <a:solidFill>
                  <a:srgbClr val="000000"/>
                </a:solidFill>
                <a:latin typeface="+mn-lt"/>
                <a:ea typeface="黑体" panose="02010609060101010101" pitchFamily="49" charset="-122"/>
                <a:cs typeface="+mn-cs"/>
              </a:rPr>
              <a:t>亿美元。</a:t>
            </a:r>
            <a:endParaRPr lang="zh-CN" altLang="en-US" sz="2000" dirty="0">
              <a:solidFill>
                <a:srgbClr val="000000"/>
              </a:solidFill>
              <a:latin typeface="+mn-lt"/>
              <a:ea typeface="黑体" panose="02010609060101010101" pitchFamily="49" charset="-122"/>
              <a:cs typeface="+mn-cs"/>
            </a:endParaRPr>
          </a:p>
        </p:txBody>
      </p:sp>
      <p:pic>
        <p:nvPicPr>
          <p:cNvPr id="15" name="图片 14"/>
          <p:cNvPicPr>
            <a:picLocks noChangeAspect="1"/>
          </p:cNvPicPr>
          <p:nvPr/>
        </p:nvPicPr>
        <p:blipFill>
          <a:blip r:embed="rId1"/>
          <a:stretch>
            <a:fillRect/>
          </a:stretch>
        </p:blipFill>
        <p:spPr>
          <a:xfrm>
            <a:off x="2333394" y="3733791"/>
            <a:ext cx="4495682" cy="2832175"/>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837616" y="247172"/>
            <a:ext cx="4114692" cy="685800"/>
          </a:xfrm>
        </p:spPr>
        <p:txBody>
          <a:bodyPr/>
          <a:lstStyle/>
          <a:p>
            <a:pPr marL="0" marR="0" lvl="0" indent="0"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a:t>
            </a:r>
            <a:r>
              <a:rPr kumimoji="0" lang="zh-CN" altLang="en-US" sz="2400" b="1" kern="0" dirty="0">
                <a:solidFill>
                  <a:srgbClr val="000000"/>
                </a:solidFill>
                <a:latin typeface="Arial" panose="020B0604020202020204" pitchFamily="34" charset="0"/>
                <a:ea typeface="宋体" panose="02010600030101010101" pitchFamily="2" charset="-122"/>
                <a:cs typeface="+mn-cs"/>
              </a:rPr>
              <a:t>应用</a:t>
            </a:r>
            <a:endPar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文本框 4"/>
          <p:cNvSpPr txBox="1"/>
          <p:nvPr/>
        </p:nvSpPr>
        <p:spPr>
          <a:xfrm>
            <a:off x="342921" y="762000"/>
            <a:ext cx="8458158" cy="3713517"/>
          </a:xfrm>
          <a:prstGeom prst="rect">
            <a:avLst/>
          </a:prstGeom>
          <a:noFill/>
        </p:spPr>
        <p:txBody>
          <a:bodyPr wrap="square">
            <a:spAutoFit/>
          </a:bodyPr>
          <a:lstStyle/>
          <a:p>
            <a:pPr algn="l">
              <a:lnSpc>
                <a:spcPct val="150000"/>
              </a:lnSpc>
            </a:pPr>
            <a:r>
              <a:rPr lang="en-US" altLang="zh-CN" sz="2000" dirty="0">
                <a:solidFill>
                  <a:srgbClr val="000000"/>
                </a:solidFill>
                <a:latin typeface="+mn-lt"/>
                <a:ea typeface="黑体" panose="02010609060101010101" pitchFamily="49" charset="-122"/>
                <a:cs typeface="+mn-cs"/>
              </a:rPr>
              <a:t>      2016</a:t>
            </a:r>
            <a:r>
              <a:rPr lang="zh-CN" altLang="en-US" sz="2000" dirty="0">
                <a:solidFill>
                  <a:srgbClr val="000000"/>
                </a:solidFill>
                <a:latin typeface="+mn-lt"/>
                <a:ea typeface="黑体" panose="02010609060101010101" pitchFamily="49" charset="-122"/>
                <a:cs typeface="+mn-cs"/>
              </a:rPr>
              <a:t>年</a:t>
            </a:r>
            <a:r>
              <a:rPr lang="en-US" altLang="zh-CN" sz="2000" dirty="0">
                <a:solidFill>
                  <a:srgbClr val="000000"/>
                </a:solidFill>
                <a:latin typeface="+mn-lt"/>
                <a:ea typeface="黑体" panose="02010609060101010101" pitchFamily="49" charset="-122"/>
                <a:cs typeface="+mn-cs"/>
              </a:rPr>
              <a:t>11</a:t>
            </a:r>
            <a:r>
              <a:rPr lang="zh-CN" altLang="en-US" sz="2000" dirty="0">
                <a:solidFill>
                  <a:srgbClr val="000000"/>
                </a:solidFill>
                <a:latin typeface="+mn-lt"/>
                <a:ea typeface="黑体" panose="02010609060101010101" pitchFamily="49" charset="-122"/>
                <a:cs typeface="+mn-cs"/>
              </a:rPr>
              <a:t>月</a:t>
            </a:r>
            <a:r>
              <a:rPr lang="en-US" altLang="zh-CN" sz="2000" dirty="0">
                <a:solidFill>
                  <a:srgbClr val="000000"/>
                </a:solidFill>
                <a:latin typeface="+mn-lt"/>
                <a:ea typeface="黑体" panose="02010609060101010101" pitchFamily="49" charset="-122"/>
                <a:cs typeface="+mn-cs"/>
              </a:rPr>
              <a:t>14</a:t>
            </a:r>
            <a:r>
              <a:rPr lang="zh-CN" altLang="en-US" sz="2000" dirty="0">
                <a:solidFill>
                  <a:srgbClr val="000000"/>
                </a:solidFill>
                <a:latin typeface="+mn-lt"/>
                <a:ea typeface="黑体" panose="02010609060101010101" pitchFamily="49" charset="-122"/>
                <a:cs typeface="+mn-cs"/>
              </a:rPr>
              <a:t>日至</a:t>
            </a:r>
            <a:r>
              <a:rPr lang="en-US" altLang="zh-CN" sz="2000" dirty="0">
                <a:solidFill>
                  <a:srgbClr val="000000"/>
                </a:solidFill>
                <a:latin typeface="+mn-lt"/>
                <a:ea typeface="黑体" panose="02010609060101010101" pitchFamily="49" charset="-122"/>
                <a:cs typeface="+mn-cs"/>
              </a:rPr>
              <a:t>18</a:t>
            </a:r>
            <a:r>
              <a:rPr lang="zh-CN" altLang="en-US" sz="2000" dirty="0">
                <a:solidFill>
                  <a:srgbClr val="000000"/>
                </a:solidFill>
                <a:latin typeface="+mn-lt"/>
                <a:ea typeface="黑体" panose="02010609060101010101" pitchFamily="49" charset="-122"/>
                <a:cs typeface="+mn-cs"/>
              </a:rPr>
              <a:t>日期间，国际无线标准化机构（</a:t>
            </a:r>
            <a:r>
              <a:rPr lang="en-US" altLang="zh-CN" sz="2000" dirty="0">
                <a:solidFill>
                  <a:srgbClr val="000000"/>
                </a:solidFill>
                <a:latin typeface="+mn-lt"/>
                <a:ea typeface="黑体" panose="02010609060101010101" pitchFamily="49" charset="-122"/>
                <a:cs typeface="+mn-cs"/>
              </a:rPr>
              <a:t>3GPP</a:t>
            </a:r>
            <a:r>
              <a:rPr lang="zh-CN" altLang="en-US" sz="2000" dirty="0">
                <a:solidFill>
                  <a:srgbClr val="000000"/>
                </a:solidFill>
                <a:latin typeface="+mn-lt"/>
                <a:ea typeface="黑体" panose="02010609060101010101" pitchFamily="49" charset="-122"/>
                <a:cs typeface="+mn-cs"/>
              </a:rPr>
              <a:t>）无线物理层</a:t>
            </a:r>
            <a:r>
              <a:rPr lang="en-US" altLang="zh-CN" sz="2000" dirty="0">
                <a:solidFill>
                  <a:srgbClr val="000000"/>
                </a:solidFill>
                <a:latin typeface="+mn-lt"/>
                <a:ea typeface="黑体" panose="02010609060101010101" pitchFamily="49" charset="-122"/>
                <a:cs typeface="+mn-cs"/>
              </a:rPr>
              <a:t>( RAN1) </a:t>
            </a:r>
            <a:r>
              <a:rPr lang="zh-CN" altLang="en-US" sz="2000" dirty="0">
                <a:solidFill>
                  <a:srgbClr val="000000"/>
                </a:solidFill>
                <a:latin typeface="+mn-lt"/>
                <a:ea typeface="黑体" panose="02010609060101010101" pitchFamily="49" charset="-122"/>
                <a:cs typeface="+mn-cs"/>
              </a:rPr>
              <a:t>第</a:t>
            </a:r>
            <a:r>
              <a:rPr lang="en-US" altLang="zh-CN" sz="2000" dirty="0">
                <a:solidFill>
                  <a:srgbClr val="000000"/>
                </a:solidFill>
                <a:latin typeface="+mn-lt"/>
                <a:ea typeface="黑体" panose="02010609060101010101" pitchFamily="49" charset="-122"/>
                <a:cs typeface="+mn-cs"/>
              </a:rPr>
              <a:t>87</a:t>
            </a:r>
            <a:r>
              <a:rPr lang="zh-CN" altLang="en-US" sz="2000" dirty="0">
                <a:solidFill>
                  <a:srgbClr val="000000"/>
                </a:solidFill>
                <a:latin typeface="+mn-lt"/>
                <a:ea typeface="黑体" panose="02010609060101010101" pitchFamily="49" charset="-122"/>
                <a:cs typeface="+mn-cs"/>
              </a:rPr>
              <a:t>会议在美国</a:t>
            </a:r>
            <a:r>
              <a:rPr lang="en-US" altLang="zh-CN" sz="2000" dirty="0">
                <a:solidFill>
                  <a:srgbClr val="000000"/>
                </a:solidFill>
                <a:latin typeface="+mn-lt"/>
                <a:ea typeface="黑体" panose="02010609060101010101" pitchFamily="49" charset="-122"/>
                <a:cs typeface="+mn-cs"/>
              </a:rPr>
              <a:t>Reno</a:t>
            </a:r>
            <a:r>
              <a:rPr lang="zh-CN" altLang="en-US" sz="2000" dirty="0">
                <a:solidFill>
                  <a:srgbClr val="000000"/>
                </a:solidFill>
                <a:latin typeface="+mn-lt"/>
                <a:ea typeface="黑体" panose="02010609060101010101" pitchFamily="49" charset="-122"/>
                <a:cs typeface="+mn-cs"/>
              </a:rPr>
              <a:t>召开，会议上，经过激烈的竞争，华为等中国企业主推的极化码（</a:t>
            </a:r>
            <a:r>
              <a:rPr lang="en-US" altLang="zh-CN" sz="2000" dirty="0">
                <a:solidFill>
                  <a:srgbClr val="000000"/>
                </a:solidFill>
                <a:latin typeface="+mn-lt"/>
                <a:ea typeface="黑体" panose="02010609060101010101" pitchFamily="49" charset="-122"/>
                <a:cs typeface="+mn-cs"/>
              </a:rPr>
              <a:t>Polar Code</a:t>
            </a:r>
            <a:r>
              <a:rPr lang="zh-CN" altLang="en-US" sz="2000" dirty="0">
                <a:solidFill>
                  <a:srgbClr val="000000"/>
                </a:solidFill>
                <a:latin typeface="+mn-lt"/>
                <a:ea typeface="黑体" panose="02010609060101010101" pitchFamily="49" charset="-122"/>
                <a:cs typeface="+mn-cs"/>
              </a:rPr>
              <a:t>）击败美国主推的</a:t>
            </a:r>
            <a:r>
              <a:rPr lang="en-US" altLang="zh-CN" sz="2000" dirty="0">
                <a:solidFill>
                  <a:srgbClr val="000000"/>
                </a:solidFill>
                <a:latin typeface="+mn-lt"/>
                <a:ea typeface="黑体" panose="02010609060101010101" pitchFamily="49" charset="-122"/>
                <a:cs typeface="+mn-cs"/>
              </a:rPr>
              <a:t>LDPC</a:t>
            </a:r>
            <a:r>
              <a:rPr lang="zh-CN" altLang="en-US" sz="2000" dirty="0">
                <a:solidFill>
                  <a:srgbClr val="000000"/>
                </a:solidFill>
                <a:latin typeface="+mn-lt"/>
                <a:ea typeface="黑体" panose="02010609060101010101" pitchFamily="49" charset="-122"/>
                <a:cs typeface="+mn-cs"/>
              </a:rPr>
              <a:t>码和法国主推的</a:t>
            </a:r>
            <a:r>
              <a:rPr lang="en-US" altLang="zh-CN" sz="2000" dirty="0">
                <a:solidFill>
                  <a:srgbClr val="000000"/>
                </a:solidFill>
                <a:latin typeface="+mn-lt"/>
                <a:ea typeface="黑体" panose="02010609060101010101" pitchFamily="49" charset="-122"/>
                <a:cs typeface="+mn-cs"/>
              </a:rPr>
              <a:t>Turbo</a:t>
            </a:r>
            <a:r>
              <a:rPr lang="zh-CN" altLang="en-US" sz="2000" dirty="0">
                <a:solidFill>
                  <a:srgbClr val="000000"/>
                </a:solidFill>
                <a:latin typeface="+mn-lt"/>
                <a:ea typeface="黑体" panose="02010609060101010101" pitchFamily="49" charset="-122"/>
                <a:cs typeface="+mn-cs"/>
              </a:rPr>
              <a:t>码，成为</a:t>
            </a:r>
            <a:r>
              <a:rPr lang="en-US" altLang="zh-CN" sz="2000" dirty="0">
                <a:solidFill>
                  <a:srgbClr val="000000"/>
                </a:solidFill>
                <a:latin typeface="+mn-lt"/>
                <a:ea typeface="黑体" panose="02010609060101010101" pitchFamily="49" charset="-122"/>
                <a:cs typeface="+mn-cs"/>
              </a:rPr>
              <a:t>5G </a:t>
            </a:r>
            <a:r>
              <a:rPr lang="en-US" altLang="zh-CN" sz="2000" dirty="0" err="1">
                <a:solidFill>
                  <a:srgbClr val="000000"/>
                </a:solidFill>
                <a:latin typeface="+mn-lt"/>
                <a:ea typeface="黑体" panose="02010609060101010101" pitchFamily="49" charset="-122"/>
                <a:cs typeface="+mn-cs"/>
              </a:rPr>
              <a:t>eMBB</a:t>
            </a:r>
            <a:r>
              <a:rPr lang="zh-CN" altLang="en-US" sz="2000" dirty="0">
                <a:solidFill>
                  <a:srgbClr val="000000"/>
                </a:solidFill>
                <a:latin typeface="+mn-lt"/>
                <a:ea typeface="黑体" panose="02010609060101010101" pitchFamily="49" charset="-122"/>
                <a:cs typeface="+mn-cs"/>
              </a:rPr>
              <a:t>场景在短码上的控制信道编码方案。</a:t>
            </a:r>
            <a:endParaRPr lang="en-US" altLang="zh-CN" sz="2000" dirty="0">
              <a:solidFill>
                <a:srgbClr val="000000"/>
              </a:solidFill>
              <a:latin typeface="+mn-lt"/>
              <a:ea typeface="黑体" panose="02010609060101010101" pitchFamily="49" charset="-122"/>
              <a:cs typeface="+mn-cs"/>
            </a:endParaRPr>
          </a:p>
          <a:p>
            <a:pPr algn="l">
              <a:lnSpc>
                <a:spcPct val="150000"/>
              </a:lnSpc>
            </a:pPr>
            <a:r>
              <a:rPr lang="en-US" altLang="zh-CN" sz="2000" dirty="0">
                <a:solidFill>
                  <a:srgbClr val="000000"/>
                </a:solidFill>
                <a:latin typeface="+mn-lt"/>
                <a:ea typeface="黑体" panose="02010609060101010101" pitchFamily="49" charset="-122"/>
                <a:cs typeface="+mn-cs"/>
              </a:rPr>
              <a:t>      </a:t>
            </a:r>
            <a:r>
              <a:rPr lang="zh-CN" altLang="en-US" sz="2000" dirty="0">
                <a:solidFill>
                  <a:srgbClr val="000000"/>
                </a:solidFill>
                <a:latin typeface="+mn-lt"/>
                <a:ea typeface="黑体" panose="02010609060101010101" pitchFamily="49" charset="-122"/>
                <a:cs typeface="+mn-cs"/>
              </a:rPr>
              <a:t>自此，在</a:t>
            </a:r>
            <a:r>
              <a:rPr lang="en-US" altLang="zh-CN" sz="2000" dirty="0">
                <a:solidFill>
                  <a:srgbClr val="000000"/>
                </a:solidFill>
                <a:latin typeface="+mn-lt"/>
                <a:ea typeface="黑体" panose="02010609060101010101" pitchFamily="49" charset="-122"/>
                <a:cs typeface="+mn-cs"/>
              </a:rPr>
              <a:t>5G </a:t>
            </a:r>
            <a:r>
              <a:rPr lang="en-US" altLang="zh-CN" sz="2000" dirty="0" err="1">
                <a:solidFill>
                  <a:srgbClr val="000000"/>
                </a:solidFill>
                <a:latin typeface="+mn-lt"/>
                <a:ea typeface="黑体" panose="02010609060101010101" pitchFamily="49" charset="-122"/>
                <a:cs typeface="+mn-cs"/>
              </a:rPr>
              <a:t>eMBB</a:t>
            </a:r>
            <a:r>
              <a:rPr lang="zh-CN" altLang="en-US" sz="2000" dirty="0">
                <a:solidFill>
                  <a:srgbClr val="000000"/>
                </a:solidFill>
                <a:latin typeface="+mn-lt"/>
                <a:ea typeface="黑体" panose="02010609060101010101" pitchFamily="49" charset="-122"/>
                <a:cs typeface="+mn-cs"/>
              </a:rPr>
              <a:t>场景上，</a:t>
            </a:r>
            <a:r>
              <a:rPr lang="en-US" altLang="zh-CN" sz="2000" u="sng" dirty="0">
                <a:solidFill>
                  <a:srgbClr val="000000"/>
                </a:solidFill>
                <a:latin typeface="+mn-lt"/>
                <a:ea typeface="黑体" panose="02010609060101010101" pitchFamily="49" charset="-122"/>
                <a:cs typeface="+mn-cs"/>
              </a:rPr>
              <a:t>Polar</a:t>
            </a:r>
            <a:r>
              <a:rPr lang="zh-CN" altLang="en-US" sz="2000" u="sng" dirty="0">
                <a:solidFill>
                  <a:srgbClr val="000000"/>
                </a:solidFill>
                <a:latin typeface="+mn-lt"/>
                <a:ea typeface="黑体" panose="02010609060101010101" pitchFamily="49" charset="-122"/>
                <a:cs typeface="+mn-cs"/>
              </a:rPr>
              <a:t>码</a:t>
            </a:r>
            <a:r>
              <a:rPr lang="zh-CN" altLang="en-US" sz="2000" dirty="0">
                <a:solidFill>
                  <a:srgbClr val="000000"/>
                </a:solidFill>
                <a:latin typeface="+mn-lt"/>
                <a:ea typeface="黑体" panose="02010609060101010101" pitchFamily="49" charset="-122"/>
                <a:cs typeface="+mn-cs"/>
              </a:rPr>
              <a:t>和 </a:t>
            </a:r>
            <a:r>
              <a:rPr lang="en-US" altLang="zh-CN" sz="2000" u="sng" dirty="0">
                <a:solidFill>
                  <a:srgbClr val="000000"/>
                </a:solidFill>
                <a:latin typeface="+mn-lt"/>
                <a:ea typeface="黑体" panose="02010609060101010101" pitchFamily="49" charset="-122"/>
                <a:cs typeface="+mn-cs"/>
              </a:rPr>
              <a:t>LDPC </a:t>
            </a:r>
            <a:r>
              <a:rPr lang="zh-CN" altLang="en-US" sz="2000" u="sng" dirty="0">
                <a:solidFill>
                  <a:srgbClr val="000000"/>
                </a:solidFill>
                <a:latin typeface="+mn-lt"/>
                <a:ea typeface="黑体" panose="02010609060101010101" pitchFamily="49" charset="-122"/>
                <a:cs typeface="+mn-cs"/>
              </a:rPr>
              <a:t>码</a:t>
            </a:r>
            <a:r>
              <a:rPr lang="zh-CN" altLang="en-US" sz="2000" dirty="0">
                <a:solidFill>
                  <a:srgbClr val="000000"/>
                </a:solidFill>
                <a:latin typeface="+mn-lt"/>
                <a:ea typeface="黑体" panose="02010609060101010101" pitchFamily="49" charset="-122"/>
                <a:cs typeface="+mn-cs"/>
              </a:rPr>
              <a:t>二分天下，</a:t>
            </a:r>
            <a:endParaRPr lang="en-US" altLang="zh-CN" sz="2000" dirty="0">
              <a:solidFill>
                <a:srgbClr val="000000"/>
              </a:solidFill>
              <a:latin typeface="+mn-lt"/>
              <a:ea typeface="黑体" panose="02010609060101010101" pitchFamily="49" charset="-122"/>
              <a:cs typeface="+mn-cs"/>
            </a:endParaRPr>
          </a:p>
          <a:p>
            <a:pPr algn="l">
              <a:lnSpc>
                <a:spcPct val="150000"/>
              </a:lnSpc>
            </a:pPr>
            <a:endParaRPr lang="en-US" altLang="zh-CN" sz="2000" dirty="0">
              <a:solidFill>
                <a:srgbClr val="000000"/>
              </a:solidFill>
              <a:latin typeface="+mn-lt"/>
              <a:ea typeface="黑体" panose="02010609060101010101" pitchFamily="49" charset="-122"/>
              <a:cs typeface="+mn-cs"/>
            </a:endParaRPr>
          </a:p>
          <a:p>
            <a:pPr algn="l">
              <a:lnSpc>
                <a:spcPct val="150000"/>
              </a:lnSpc>
            </a:pPr>
            <a:r>
              <a:rPr lang="en-US" altLang="zh-CN" sz="2000" dirty="0">
                <a:solidFill>
                  <a:srgbClr val="000000"/>
                </a:solidFill>
                <a:latin typeface="+mn-lt"/>
                <a:ea typeface="黑体" panose="02010609060101010101" pitchFamily="49" charset="-122"/>
                <a:cs typeface="+mn-cs"/>
              </a:rPr>
              <a:t>     </a:t>
            </a:r>
            <a:r>
              <a:rPr lang="en-US" altLang="zh-CN" sz="2000" dirty="0">
                <a:solidFill>
                  <a:srgbClr val="000000"/>
                </a:solidFill>
                <a:highlight>
                  <a:srgbClr val="FFFF00"/>
                </a:highlight>
                <a:latin typeface="+mj-ea"/>
                <a:ea typeface="+mj-ea"/>
                <a:cs typeface="+mn-cs"/>
              </a:rPr>
              <a:t>·</a:t>
            </a:r>
            <a:r>
              <a:rPr lang="en-US" altLang="zh-CN" sz="2000" dirty="0">
                <a:solidFill>
                  <a:srgbClr val="000000"/>
                </a:solidFill>
                <a:highlight>
                  <a:srgbClr val="FFFF00"/>
                </a:highlight>
                <a:latin typeface="+mn-lt"/>
                <a:ea typeface="黑体" panose="02010609060101010101" pitchFamily="49" charset="-122"/>
                <a:cs typeface="+mn-cs"/>
              </a:rPr>
              <a:t>Polar</a:t>
            </a:r>
            <a:r>
              <a:rPr lang="zh-CN" altLang="en-US" sz="2000" dirty="0">
                <a:solidFill>
                  <a:srgbClr val="000000"/>
                </a:solidFill>
                <a:highlight>
                  <a:srgbClr val="FFFF00"/>
                </a:highlight>
                <a:latin typeface="+mn-lt"/>
                <a:ea typeface="黑体" panose="02010609060101010101" pitchFamily="49" charset="-122"/>
                <a:cs typeface="+mn-cs"/>
              </a:rPr>
              <a:t>码历史性地与</a:t>
            </a:r>
            <a:r>
              <a:rPr lang="en-US" altLang="zh-CN" sz="2000" dirty="0">
                <a:solidFill>
                  <a:srgbClr val="000000"/>
                </a:solidFill>
                <a:highlight>
                  <a:srgbClr val="FFFF00"/>
                </a:highlight>
                <a:latin typeface="+mn-lt"/>
                <a:ea typeface="黑体" panose="02010609060101010101" pitchFamily="49" charset="-122"/>
                <a:cs typeface="+mn-cs"/>
              </a:rPr>
              <a:t>LDPC</a:t>
            </a:r>
            <a:r>
              <a:rPr lang="zh-CN" altLang="en-US" sz="2000" dirty="0">
                <a:solidFill>
                  <a:srgbClr val="000000"/>
                </a:solidFill>
                <a:highlight>
                  <a:srgbClr val="FFFF00"/>
                </a:highlight>
                <a:latin typeface="+mn-lt"/>
                <a:ea typeface="黑体" panose="02010609060101010101" pitchFamily="49" charset="-122"/>
                <a:cs typeface="+mn-cs"/>
              </a:rPr>
              <a:t>码一起走进蜂窝移动通信系统。</a:t>
            </a:r>
            <a:endParaRPr lang="zh-CN" altLang="en-US" sz="2000" dirty="0">
              <a:solidFill>
                <a:srgbClr val="000000"/>
              </a:solidFill>
              <a:highlight>
                <a:srgbClr val="FFFF00"/>
              </a:highlight>
              <a:latin typeface="+mn-lt"/>
              <a:ea typeface="黑体" panose="02010609060101010101" pitchFamily="49" charset="-122"/>
              <a:cs typeface="+mn-cs"/>
            </a:endParaRPr>
          </a:p>
          <a:p>
            <a:pPr algn="l">
              <a:lnSpc>
                <a:spcPct val="150000"/>
              </a:lnSpc>
            </a:pPr>
            <a:r>
              <a:rPr lang="en-US" altLang="zh-CN" sz="2000" dirty="0">
                <a:solidFill>
                  <a:srgbClr val="000000"/>
                </a:solidFill>
                <a:latin typeface="+mn-lt"/>
                <a:ea typeface="黑体" panose="02010609060101010101" pitchFamily="49" charset="-122"/>
                <a:cs typeface="+mn-cs"/>
              </a:rPr>
              <a:t>     </a:t>
            </a:r>
            <a:r>
              <a:rPr lang="en-US" altLang="zh-CN" sz="2000" dirty="0">
                <a:solidFill>
                  <a:srgbClr val="000000"/>
                </a:solidFill>
                <a:highlight>
                  <a:srgbClr val="FFFF00"/>
                </a:highlight>
                <a:latin typeface="+mj-ea"/>
                <a:ea typeface="+mj-ea"/>
                <a:cs typeface="+mn-cs"/>
              </a:rPr>
              <a:t>·</a:t>
            </a:r>
            <a:r>
              <a:rPr lang="en-US" altLang="zh-CN" sz="2000" dirty="0">
                <a:solidFill>
                  <a:srgbClr val="000000"/>
                </a:solidFill>
                <a:highlight>
                  <a:srgbClr val="FFFF00"/>
                </a:highlight>
                <a:latin typeface="+mn-lt"/>
                <a:ea typeface="黑体" panose="02010609060101010101" pitchFamily="49" charset="-122"/>
                <a:cs typeface="+mn-cs"/>
              </a:rPr>
              <a:t>Polar</a:t>
            </a:r>
            <a:r>
              <a:rPr lang="zh-CN" altLang="en-US" sz="2000" dirty="0">
                <a:solidFill>
                  <a:srgbClr val="000000"/>
                </a:solidFill>
                <a:highlight>
                  <a:srgbClr val="FFFF00"/>
                </a:highlight>
                <a:latin typeface="+mn-lt"/>
                <a:ea typeface="黑体" panose="02010609060101010101" pitchFamily="49" charset="-122"/>
                <a:cs typeface="+mn-cs"/>
              </a:rPr>
              <a:t>码入选</a:t>
            </a:r>
            <a:r>
              <a:rPr lang="en-US" altLang="zh-CN" sz="2000" dirty="0">
                <a:solidFill>
                  <a:srgbClr val="000000"/>
                </a:solidFill>
                <a:highlight>
                  <a:srgbClr val="FFFF00"/>
                </a:highlight>
                <a:latin typeface="+mn-lt"/>
                <a:ea typeface="黑体" panose="02010609060101010101" pitchFamily="49" charset="-122"/>
                <a:cs typeface="+mn-cs"/>
              </a:rPr>
              <a:t>5G</a:t>
            </a:r>
            <a:r>
              <a:rPr lang="zh-CN" altLang="en-US" sz="2000" dirty="0">
                <a:solidFill>
                  <a:srgbClr val="000000"/>
                </a:solidFill>
                <a:highlight>
                  <a:srgbClr val="FFFF00"/>
                </a:highlight>
                <a:latin typeface="+mn-lt"/>
                <a:ea typeface="黑体" panose="02010609060101010101" pitchFamily="49" charset="-122"/>
                <a:cs typeface="+mn-cs"/>
              </a:rPr>
              <a:t>标准意味着中国通讯企业第一次迈入世界顶尖领域。</a:t>
            </a:r>
            <a:endParaRPr lang="zh-CN" altLang="en-US" sz="2000" dirty="0">
              <a:solidFill>
                <a:srgbClr val="000000"/>
              </a:solidFill>
              <a:highlight>
                <a:srgbClr val="FFFF00"/>
              </a:highlight>
              <a:latin typeface="+mn-lt"/>
              <a:ea typeface="黑体" panose="02010609060101010101" pitchFamily="49" charset="-122"/>
              <a:cs typeface="+mn-cs"/>
            </a:endParaRPr>
          </a:p>
        </p:txBody>
      </p:sp>
      <p:sp>
        <p:nvSpPr>
          <p:cNvPr id="8" name="文本框 7"/>
          <p:cNvSpPr txBox="1"/>
          <p:nvPr/>
        </p:nvSpPr>
        <p:spPr>
          <a:xfrm>
            <a:off x="2743188" y="3244334"/>
            <a:ext cx="2057406"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800" dirty="0">
                <a:solidFill>
                  <a:srgbClr val="000000"/>
                </a:solidFill>
                <a:latin typeface="黑体" panose="02010609060101010101" pitchFamily="49" charset="-122"/>
                <a:ea typeface="黑体" panose="02010609060101010101" pitchFamily="49" charset="-122"/>
                <a:cs typeface="+mn-cs"/>
              </a:rPr>
              <a:t>信令信道编码方案</a:t>
            </a:r>
            <a:endParaRPr lang="zh-CN" altLang="en-US" dirty="0"/>
          </a:p>
        </p:txBody>
      </p:sp>
      <p:sp>
        <p:nvSpPr>
          <p:cNvPr id="10" name="文本框 9"/>
          <p:cNvSpPr txBox="1"/>
          <p:nvPr/>
        </p:nvSpPr>
        <p:spPr>
          <a:xfrm>
            <a:off x="5219677" y="3236646"/>
            <a:ext cx="2057406"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800" dirty="0">
                <a:solidFill>
                  <a:srgbClr val="000000"/>
                </a:solidFill>
                <a:latin typeface="黑体" panose="02010609060101010101" pitchFamily="49" charset="-122"/>
                <a:ea typeface="黑体" panose="02010609060101010101" pitchFamily="49" charset="-122"/>
                <a:cs typeface="+mn-cs"/>
              </a:rPr>
              <a:t>数据信道编码方案</a:t>
            </a:r>
            <a:endParaRPr lang="zh-CN" altLang="en-US" dirty="0"/>
          </a:p>
        </p:txBody>
      </p:sp>
      <p:cxnSp>
        <p:nvCxnSpPr>
          <p:cNvPr id="12" name="直接连接符 11"/>
          <p:cNvCxnSpPr>
            <a:endCxn id="8" idx="0"/>
          </p:cNvCxnSpPr>
          <p:nvPr/>
        </p:nvCxnSpPr>
        <p:spPr bwMode="auto">
          <a:xfrm flipH="1">
            <a:off x="3771891" y="3047940"/>
            <a:ext cx="419119" cy="1963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a:endCxn id="10" idx="0"/>
          </p:cNvCxnSpPr>
          <p:nvPr/>
        </p:nvCxnSpPr>
        <p:spPr bwMode="auto">
          <a:xfrm>
            <a:off x="5505404" y="2993741"/>
            <a:ext cx="742976" cy="242905"/>
          </a:xfrm>
          <a:prstGeom prst="line">
            <a:avLst/>
          </a:prstGeom>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1"/>
          <a:stretch>
            <a:fillRect/>
          </a:stretch>
        </p:blipFill>
        <p:spPr>
          <a:xfrm>
            <a:off x="2757590" y="4616931"/>
            <a:ext cx="3109872" cy="1956827"/>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z="2400" b="1" kern="0" dirty="0">
                <a:solidFill>
                  <a:srgbClr val="000000"/>
                </a:solidFill>
                <a:latin typeface="Arial" panose="020B0604020202020204" pitchFamily="34" charset="0"/>
                <a:ea typeface="宋体" panose="02010600030101010101" pitchFamily="2" charset="-122"/>
                <a:cs typeface="+mn-cs"/>
              </a:rPr>
              <a:t>思考题解答</a:t>
            </a:r>
            <a:endParaRPr kumimoji="0" lang="zh-CN" altLang="en-US" sz="2400" b="1" kern="0" dirty="0">
              <a:solidFill>
                <a:srgbClr val="000000"/>
              </a:solidFill>
              <a:latin typeface="Arial" panose="020B0604020202020204" pitchFamily="34" charset="0"/>
              <a:ea typeface="宋体" panose="02010600030101010101" pitchFamily="2" charset="-122"/>
              <a:cs typeface="+mn-cs"/>
            </a:endParaRPr>
          </a:p>
        </p:txBody>
      </p:sp>
      <p:sp>
        <p:nvSpPr>
          <p:cNvPr id="4" name="文本框 3"/>
          <p:cNvSpPr txBox="1"/>
          <p:nvPr/>
        </p:nvSpPr>
        <p:spPr>
          <a:xfrm>
            <a:off x="533506" y="3581396"/>
            <a:ext cx="8000790" cy="1405193"/>
          </a:xfrm>
          <a:prstGeom prst="rect">
            <a:avLst/>
          </a:prstGeom>
          <a:noFill/>
        </p:spPr>
        <p:txBody>
          <a:bodyPr wrap="square">
            <a:spAutoFit/>
          </a:bodyPr>
          <a:lstStyle/>
          <a:p>
            <a:pPr>
              <a:lnSpc>
                <a:spcPct val="150000"/>
              </a:lnSpc>
            </a:pPr>
            <a:r>
              <a:rPr kumimoji="1" lang="zh-CN" altLang="en-US" sz="2000" dirty="0">
                <a:solidFill>
                  <a:srgbClr val="000000"/>
                </a:solidFill>
                <a:latin typeface="+mn-lt"/>
                <a:ea typeface="黑体" panose="02010609060101010101" pitchFamily="49" charset="-122"/>
                <a:cs typeface="+mn-cs"/>
              </a:rPr>
              <a:t>      极化码的优势是计算量小，用小规模的芯片就可以实现，比较适应于</a:t>
            </a:r>
            <a:r>
              <a:rPr kumimoji="1" lang="en-US" altLang="zh-CN" sz="2000" dirty="0">
                <a:solidFill>
                  <a:srgbClr val="000000"/>
                </a:solidFill>
                <a:latin typeface="+mn-lt"/>
                <a:ea typeface="黑体" panose="02010609060101010101" pitchFamily="49" charset="-122"/>
                <a:cs typeface="+mn-cs"/>
              </a:rPr>
              <a:t>5G</a:t>
            </a:r>
            <a:r>
              <a:rPr kumimoji="1" lang="zh-CN" altLang="en-US" sz="2000" dirty="0">
                <a:solidFill>
                  <a:srgbClr val="000000"/>
                </a:solidFill>
                <a:latin typeface="+mn-lt"/>
                <a:ea typeface="黑体" panose="02010609060101010101" pitchFamily="49" charset="-122"/>
                <a:cs typeface="+mn-cs"/>
              </a:rPr>
              <a:t>的小基站，而且采用这种编码方法的硬件商业化后设备成本低，因此也极具竞争力。</a:t>
            </a:r>
            <a:endParaRPr kumimoji="1" lang="zh-CN" altLang="en-US" sz="2000" dirty="0">
              <a:solidFill>
                <a:srgbClr val="000000"/>
              </a:solidFill>
              <a:latin typeface="+mn-lt"/>
              <a:ea typeface="黑体" panose="02010609060101010101" pitchFamily="49" charset="-122"/>
              <a:cs typeface="+mn-cs"/>
            </a:endParaRPr>
          </a:p>
        </p:txBody>
      </p:sp>
      <p:sp>
        <p:nvSpPr>
          <p:cNvPr id="5" name="内容占位符 2"/>
          <p:cNvSpPr txBox="1"/>
          <p:nvPr/>
        </p:nvSpPr>
        <p:spPr>
          <a:xfrm>
            <a:off x="973188" y="1271609"/>
            <a:ext cx="7197623" cy="1828752"/>
          </a:xfrm>
          <a:prstGeom prst="rect">
            <a:avLst/>
          </a:prstGeom>
        </p:spPr>
        <p:style>
          <a:lnRef idx="2">
            <a:schemeClr val="dk1"/>
          </a:lnRef>
          <a:fillRef idx="1">
            <a:schemeClr val="lt1"/>
          </a:fillRef>
          <a:effectRef idx="0">
            <a:schemeClr val="dk1"/>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rgbClr val="000066"/>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rgbClr val="336699"/>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rgbClr val="000066"/>
                </a:solidFill>
                <a:latin typeface="+mn-lt"/>
                <a:ea typeface="+mn-ea"/>
                <a:cs typeface="+mn-cs"/>
              </a:defRPr>
            </a:lvl4pPr>
            <a:lvl5pPr marL="2057400" indent="-228600" algn="l" rtl="0" eaLnBrk="0" fontAlgn="base" hangingPunct="0">
              <a:spcBef>
                <a:spcPct val="20000"/>
              </a:spcBef>
              <a:spcAft>
                <a:spcPct val="0"/>
              </a:spcAft>
              <a:defRPr kumimoji="1" sz="1400"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200000"/>
              </a:lnSpc>
              <a:spcBef>
                <a:spcPts val="0"/>
              </a:spcBef>
              <a:spcAft>
                <a:spcPts val="0"/>
              </a:spcAft>
              <a:buFont typeface="Wingdings" panose="05000000000000000000" pitchFamily="2" charset="2"/>
              <a:buNone/>
            </a:pPr>
            <a:r>
              <a:rPr lang="zh-CN" altLang="en-US" dirty="0">
                <a:solidFill>
                  <a:srgbClr val="FF0000"/>
                </a:solidFill>
                <a:latin typeface="黑体" panose="02010609060101010101" pitchFamily="49" charset="-122"/>
                <a:ea typeface="黑体" panose="02010609060101010101" pitchFamily="49" charset="-122"/>
              </a:rPr>
              <a:t>课前思考答案</a:t>
            </a:r>
            <a:endParaRPr lang="en-US" altLang="zh-CN" sz="2000" dirty="0">
              <a:solidFill>
                <a:srgbClr val="000000"/>
              </a:solidFill>
              <a:latin typeface="黑体" panose="02010609060101010101" pitchFamily="49" charset="-122"/>
              <a:ea typeface="黑体" panose="02010609060101010101" pitchFamily="49" charset="-122"/>
            </a:endParaRPr>
          </a:p>
          <a:p>
            <a:pPr>
              <a:lnSpc>
                <a:spcPct val="200000"/>
              </a:lnSpc>
              <a:spcBef>
                <a:spcPts val="0"/>
              </a:spcBef>
              <a:spcAft>
                <a:spcPts val="0"/>
              </a:spcAft>
            </a:pPr>
            <a:r>
              <a:rPr lang="zh-CN" altLang="en-US" sz="2000" dirty="0">
                <a:solidFill>
                  <a:srgbClr val="000000"/>
                </a:solidFill>
                <a:latin typeface="黑体" panose="02010609060101010101" pitchFamily="49" charset="-122"/>
                <a:ea typeface="黑体" panose="02010609060101010101" pitchFamily="49" charset="-122"/>
              </a:rPr>
              <a:t>为什么目前</a:t>
            </a:r>
            <a:r>
              <a:rPr lang="zh-CN" altLang="en-US" sz="2000" dirty="0">
                <a:solidFill>
                  <a:srgbClr val="000000"/>
                </a:solidFill>
                <a:ea typeface="黑体" panose="02010609060101010101" pitchFamily="49" charset="-122"/>
              </a:rPr>
              <a:t>我国</a:t>
            </a:r>
            <a:r>
              <a:rPr lang="en-US" altLang="zh-CN" sz="2000" dirty="0">
                <a:solidFill>
                  <a:srgbClr val="000000"/>
                </a:solidFill>
                <a:ea typeface="黑体" panose="02010609060101010101" pitchFamily="49" charset="-122"/>
              </a:rPr>
              <a:t>5G</a:t>
            </a:r>
            <a:r>
              <a:rPr lang="zh-CN" altLang="en-US" sz="2000" dirty="0">
                <a:solidFill>
                  <a:srgbClr val="000000"/>
                </a:solidFill>
                <a:ea typeface="黑体" panose="02010609060101010101" pitchFamily="49" charset="-122"/>
              </a:rPr>
              <a:t>基</a:t>
            </a:r>
            <a:r>
              <a:rPr lang="zh-CN" altLang="en-US" sz="2000" dirty="0">
                <a:solidFill>
                  <a:srgbClr val="000000"/>
                </a:solidFill>
                <a:latin typeface="黑体" panose="02010609060101010101" pitchFamily="49" charset="-122"/>
                <a:ea typeface="黑体" panose="02010609060101010101" pitchFamily="49" charset="-122"/>
              </a:rPr>
              <a:t>站的信道编码方式选用极化码？</a:t>
            </a:r>
            <a:endParaRPr lang="en-US" altLang="zh-CN" sz="2000" dirty="0">
              <a:solidFill>
                <a:srgbClr val="000000"/>
              </a:solidFill>
              <a:latin typeface="黑体" panose="02010609060101010101" pitchFamily="49" charset="-122"/>
              <a:ea typeface="黑体" panose="02010609060101010101" pitchFamily="49"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876792" y="169390"/>
            <a:ext cx="4114692" cy="685800"/>
          </a:xfrm>
        </p:spPr>
        <p:txBody>
          <a:bodyPr/>
          <a:lstStyle/>
          <a:p>
            <a:pPr marL="0" marR="0" lvl="0" indent="0"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a:t>
            </a:r>
            <a:r>
              <a:rPr kumimoji="0" lang="zh-CN" altLang="en-US" sz="2400" b="1" kern="0" dirty="0">
                <a:solidFill>
                  <a:srgbClr val="000000"/>
                </a:solidFill>
                <a:latin typeface="Arial" panose="020B0604020202020204" pitchFamily="34" charset="0"/>
                <a:ea typeface="宋体" panose="02010600030101010101" pitchFamily="2" charset="-122"/>
                <a:cs typeface="+mn-cs"/>
              </a:rPr>
              <a:t>应用</a:t>
            </a:r>
            <a:endPar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2" name="文本框 11"/>
          <p:cNvSpPr txBox="1"/>
          <p:nvPr/>
        </p:nvSpPr>
        <p:spPr>
          <a:xfrm>
            <a:off x="152516" y="1153586"/>
            <a:ext cx="8838968" cy="2347759"/>
          </a:xfrm>
          <a:prstGeom prst="rect">
            <a:avLst/>
          </a:prstGeom>
          <a:noFill/>
        </p:spPr>
        <p:txBody>
          <a:bodyPr wrap="square">
            <a:spAutoFit/>
          </a:bodyPr>
          <a:lstStyle/>
          <a:p>
            <a:pPr algn="l">
              <a:lnSpc>
                <a:spcPts val="3000"/>
              </a:lnSpc>
            </a:pPr>
            <a:r>
              <a:rPr lang="en-US" altLang="zh-CN" sz="2000" dirty="0">
                <a:solidFill>
                  <a:srgbClr val="000000"/>
                </a:solidFill>
                <a:latin typeface="+mn-lt"/>
                <a:ea typeface="黑体" panose="02010609060101010101" pitchFamily="49" charset="-122"/>
                <a:cs typeface="+mn-cs"/>
              </a:rPr>
              <a:t>       2018</a:t>
            </a:r>
            <a:r>
              <a:rPr lang="zh-CN" altLang="en-US" sz="2000" dirty="0">
                <a:solidFill>
                  <a:srgbClr val="000000"/>
                </a:solidFill>
                <a:latin typeface="+mn-lt"/>
                <a:ea typeface="黑体" panose="02010609060101010101" pitchFamily="49" charset="-122"/>
                <a:cs typeface="+mn-cs"/>
              </a:rPr>
              <a:t>年</a:t>
            </a:r>
            <a:r>
              <a:rPr lang="en-US" altLang="zh-CN" sz="2000" dirty="0">
                <a:solidFill>
                  <a:srgbClr val="000000"/>
                </a:solidFill>
                <a:latin typeface="+mn-lt"/>
                <a:ea typeface="黑体" panose="02010609060101010101" pitchFamily="49" charset="-122"/>
                <a:cs typeface="+mn-cs"/>
              </a:rPr>
              <a:t>7</a:t>
            </a:r>
            <a:r>
              <a:rPr lang="zh-CN" altLang="en-US" sz="2000" dirty="0">
                <a:solidFill>
                  <a:srgbClr val="000000"/>
                </a:solidFill>
                <a:latin typeface="+mn-lt"/>
                <a:ea typeface="黑体" panose="02010609060101010101" pitchFamily="49" charset="-122"/>
                <a:cs typeface="+mn-cs"/>
              </a:rPr>
              <a:t>月</a:t>
            </a:r>
            <a:r>
              <a:rPr lang="en-US" altLang="zh-CN" sz="2000" dirty="0">
                <a:solidFill>
                  <a:srgbClr val="000000"/>
                </a:solidFill>
                <a:latin typeface="+mn-lt"/>
                <a:ea typeface="黑体" panose="02010609060101010101" pitchFamily="49" charset="-122"/>
                <a:cs typeface="+mn-cs"/>
              </a:rPr>
              <a:t>26</a:t>
            </a:r>
            <a:r>
              <a:rPr lang="zh-CN" altLang="en-US" sz="2000" dirty="0">
                <a:solidFill>
                  <a:srgbClr val="000000"/>
                </a:solidFill>
                <a:latin typeface="+mn-lt"/>
                <a:ea typeface="黑体" panose="02010609060101010101" pitchFamily="49" charset="-122"/>
                <a:cs typeface="+mn-cs"/>
              </a:rPr>
              <a:t>日，华在深圳坂田举行了</a:t>
            </a:r>
            <a:r>
              <a:rPr lang="en-US" altLang="zh-CN" sz="2000" dirty="0">
                <a:solidFill>
                  <a:srgbClr val="000000"/>
                </a:solidFill>
                <a:latin typeface="+mn-lt"/>
                <a:ea typeface="黑体" panose="02010609060101010101" pitchFamily="49" charset="-122"/>
                <a:cs typeface="+mn-cs"/>
              </a:rPr>
              <a:t>5G</a:t>
            </a:r>
            <a:r>
              <a:rPr lang="zh-CN" altLang="en-US" sz="2000" dirty="0">
                <a:solidFill>
                  <a:srgbClr val="000000"/>
                </a:solidFill>
                <a:latin typeface="+mn-lt"/>
                <a:ea typeface="黑体" panose="02010609060101010101" pitchFamily="49" charset="-122"/>
                <a:cs typeface="+mn-cs"/>
              </a:rPr>
              <a:t>极化码与基础研究贡献奖颁奖大会。极化码创始人</a:t>
            </a:r>
            <a:r>
              <a:rPr lang="en-US" altLang="zh-CN" sz="2000" dirty="0" err="1">
                <a:solidFill>
                  <a:srgbClr val="000000"/>
                </a:solidFill>
                <a:latin typeface="+mn-lt"/>
                <a:ea typeface="黑体" panose="02010609060101010101" pitchFamily="49" charset="-122"/>
                <a:cs typeface="+mn-cs"/>
              </a:rPr>
              <a:t>Arikan</a:t>
            </a:r>
            <a:r>
              <a:rPr lang="zh-CN" altLang="en-US" sz="2000" dirty="0">
                <a:solidFill>
                  <a:srgbClr val="000000"/>
                </a:solidFill>
                <a:latin typeface="+mn-lt"/>
                <a:ea typeface="黑体" panose="02010609060101010101" pitchFamily="49" charset="-122"/>
                <a:cs typeface="+mn-cs"/>
              </a:rPr>
              <a:t>教授被邀请授予特别奖项。</a:t>
            </a:r>
            <a:endParaRPr lang="en-US" altLang="zh-CN" sz="2000" dirty="0">
              <a:solidFill>
                <a:srgbClr val="000000"/>
              </a:solidFill>
              <a:latin typeface="+mn-lt"/>
              <a:ea typeface="黑体" panose="02010609060101010101" pitchFamily="49" charset="-122"/>
              <a:cs typeface="+mn-cs"/>
            </a:endParaRPr>
          </a:p>
          <a:p>
            <a:pPr algn="l">
              <a:lnSpc>
                <a:spcPts val="3000"/>
              </a:lnSpc>
            </a:pPr>
            <a:r>
              <a:rPr lang="zh-CN" altLang="en-US" sz="2000" dirty="0">
                <a:solidFill>
                  <a:srgbClr val="000000"/>
                </a:solidFill>
                <a:latin typeface="+mn-lt"/>
                <a:ea typeface="黑体" panose="02010609060101010101" pitchFamily="49" charset="-122"/>
                <a:cs typeface="+mn-cs"/>
              </a:rPr>
              <a:t>       在致辞中，华为轮值 </a:t>
            </a:r>
            <a:r>
              <a:rPr lang="en-US" altLang="zh-CN" sz="2000" dirty="0">
                <a:solidFill>
                  <a:srgbClr val="000000"/>
                </a:solidFill>
                <a:latin typeface="+mn-lt"/>
                <a:ea typeface="黑体" panose="02010609060101010101" pitchFamily="49" charset="-122"/>
                <a:cs typeface="+mn-cs"/>
              </a:rPr>
              <a:t>CEO </a:t>
            </a:r>
            <a:r>
              <a:rPr lang="zh-CN" altLang="en-US" sz="2000" dirty="0">
                <a:solidFill>
                  <a:srgbClr val="000000"/>
                </a:solidFill>
                <a:latin typeface="+mn-lt"/>
                <a:ea typeface="黑体" panose="02010609060101010101" pitchFamily="49" charset="-122"/>
                <a:cs typeface="+mn-cs"/>
              </a:rPr>
              <a:t>徐直军将极化码技术的成功称为“产学研紧密合作创造的奇迹”。</a:t>
            </a:r>
            <a:endParaRPr lang="zh-CN" altLang="en-US" sz="2000" dirty="0">
              <a:solidFill>
                <a:srgbClr val="000000"/>
              </a:solidFill>
              <a:latin typeface="+mn-lt"/>
              <a:ea typeface="黑体" panose="02010609060101010101" pitchFamily="49" charset="-122"/>
              <a:cs typeface="+mn-cs"/>
            </a:endParaRPr>
          </a:p>
          <a:p>
            <a:pPr algn="l">
              <a:lnSpc>
                <a:spcPts val="3000"/>
              </a:lnSpc>
            </a:pPr>
            <a:r>
              <a:rPr lang="zh-CN" altLang="en-US" sz="2000" dirty="0">
                <a:solidFill>
                  <a:srgbClr val="000000"/>
                </a:solidFill>
                <a:latin typeface="+mn-lt"/>
                <a:ea typeface="黑体" panose="02010609060101010101" pitchFamily="49" charset="-122"/>
                <a:cs typeface="+mn-cs"/>
              </a:rPr>
              <a:t>     “今天这个相聚的邀请函，可以说是在</a:t>
            </a:r>
            <a:r>
              <a:rPr lang="en-US" altLang="zh-CN" sz="2000" dirty="0">
                <a:solidFill>
                  <a:srgbClr val="000000"/>
                </a:solidFill>
                <a:latin typeface="+mn-lt"/>
                <a:ea typeface="黑体" panose="02010609060101010101" pitchFamily="49" charset="-122"/>
                <a:cs typeface="+mn-cs"/>
              </a:rPr>
              <a:t>2008</a:t>
            </a:r>
            <a:r>
              <a:rPr lang="zh-CN" altLang="en-US" sz="2000" dirty="0">
                <a:solidFill>
                  <a:srgbClr val="000000"/>
                </a:solidFill>
                <a:latin typeface="+mn-lt"/>
                <a:ea typeface="黑体" panose="02010609060101010101" pitchFamily="49" charset="-122"/>
                <a:cs typeface="+mn-cs"/>
              </a:rPr>
              <a:t>年</a:t>
            </a:r>
            <a:r>
              <a:rPr lang="en-US" altLang="zh-CN" sz="2000" dirty="0">
                <a:solidFill>
                  <a:srgbClr val="000000"/>
                </a:solidFill>
                <a:latin typeface="+mn-lt"/>
                <a:ea typeface="黑体" panose="02010609060101010101" pitchFamily="49" charset="-122"/>
                <a:cs typeface="+mn-cs"/>
              </a:rPr>
              <a:t>7</a:t>
            </a:r>
            <a:r>
              <a:rPr lang="zh-CN" altLang="en-US" sz="2000" dirty="0">
                <a:solidFill>
                  <a:srgbClr val="000000"/>
                </a:solidFill>
                <a:latin typeface="+mn-lt"/>
                <a:ea typeface="黑体" panose="02010609060101010101" pitchFamily="49" charset="-122"/>
                <a:cs typeface="+mn-cs"/>
              </a:rPr>
              <a:t>月</a:t>
            </a:r>
            <a:r>
              <a:rPr lang="en-US" altLang="zh-CN" sz="2000" dirty="0">
                <a:solidFill>
                  <a:srgbClr val="000000"/>
                </a:solidFill>
                <a:latin typeface="+mn-lt"/>
                <a:ea typeface="黑体" panose="02010609060101010101" pitchFamily="49" charset="-122"/>
                <a:cs typeface="+mn-cs"/>
              </a:rPr>
              <a:t>24</a:t>
            </a:r>
            <a:r>
              <a:rPr lang="zh-CN" altLang="en-US" sz="2000" dirty="0">
                <a:solidFill>
                  <a:srgbClr val="000000"/>
                </a:solidFill>
                <a:latin typeface="+mn-lt"/>
                <a:ea typeface="黑体" panose="02010609060101010101" pitchFamily="49" charset="-122"/>
                <a:cs typeface="+mn-cs"/>
              </a:rPr>
              <a:t>日就发出了，因为这是我们最早看到</a:t>
            </a:r>
            <a:r>
              <a:rPr lang="en-US" altLang="zh-CN" sz="2000" dirty="0" err="1">
                <a:solidFill>
                  <a:srgbClr val="000000"/>
                </a:solidFill>
                <a:latin typeface="+mn-lt"/>
                <a:ea typeface="黑体" panose="02010609060101010101" pitchFamily="49" charset="-122"/>
                <a:cs typeface="+mn-cs"/>
              </a:rPr>
              <a:t>Arikan</a:t>
            </a:r>
            <a:r>
              <a:rPr lang="zh-CN" altLang="en-US" sz="2000" dirty="0">
                <a:solidFill>
                  <a:srgbClr val="000000"/>
                </a:solidFill>
                <a:latin typeface="+mn-lt"/>
                <a:ea typeface="黑体" panose="02010609060101010101" pitchFamily="49" charset="-122"/>
                <a:cs typeface="+mn-cs"/>
              </a:rPr>
              <a:t>（阿里坎）的</a:t>
            </a:r>
            <a:r>
              <a:rPr lang="en-US" altLang="zh-CN" sz="2000" dirty="0">
                <a:solidFill>
                  <a:srgbClr val="000000"/>
                </a:solidFill>
                <a:latin typeface="+mn-lt"/>
                <a:ea typeface="黑体" panose="02010609060101010101" pitchFamily="49" charset="-122"/>
                <a:cs typeface="+mn-cs"/>
              </a:rPr>
              <a:t>Polar</a:t>
            </a:r>
            <a:r>
              <a:rPr lang="zh-CN" altLang="en-US" sz="2000" dirty="0">
                <a:solidFill>
                  <a:srgbClr val="000000"/>
                </a:solidFill>
                <a:latin typeface="+mn-lt"/>
                <a:ea typeface="黑体" panose="02010609060101010101" pitchFamily="49" charset="-122"/>
                <a:cs typeface="+mn-cs"/>
              </a:rPr>
              <a:t>码论文的日子。”</a:t>
            </a:r>
            <a:endParaRPr lang="zh-CN" altLang="en-US" sz="2000" dirty="0">
              <a:solidFill>
                <a:srgbClr val="000000"/>
              </a:solidFill>
              <a:latin typeface="+mn-lt"/>
              <a:ea typeface="黑体" panose="02010609060101010101" pitchFamily="49" charset="-122"/>
              <a:cs typeface="+mn-cs"/>
            </a:endParaRPr>
          </a:p>
        </p:txBody>
      </p:sp>
      <p:pic>
        <p:nvPicPr>
          <p:cNvPr id="13" name="图片 12"/>
          <p:cNvPicPr>
            <a:picLocks noChangeAspect="1"/>
          </p:cNvPicPr>
          <p:nvPr/>
        </p:nvPicPr>
        <p:blipFill>
          <a:blip r:embed="rId1"/>
          <a:stretch>
            <a:fillRect/>
          </a:stretch>
        </p:blipFill>
        <p:spPr>
          <a:xfrm>
            <a:off x="2171763" y="3657594"/>
            <a:ext cx="4800474" cy="3031016"/>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876792" y="152486"/>
            <a:ext cx="4114692" cy="685800"/>
          </a:xfrm>
        </p:spPr>
        <p:txBody>
          <a:bodyPr/>
          <a:lstStyle/>
          <a:p>
            <a:pPr marL="0" marR="0" lvl="0" indent="0"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a:t>
            </a:r>
            <a:r>
              <a:rPr kumimoji="0" lang="zh-CN" altLang="en-US" sz="2400" b="1" kern="0" dirty="0">
                <a:solidFill>
                  <a:srgbClr val="000000"/>
                </a:solidFill>
                <a:latin typeface="Arial" panose="020B0604020202020204" pitchFamily="34" charset="0"/>
                <a:ea typeface="宋体" panose="02010600030101010101" pitchFamily="2" charset="-122"/>
                <a:cs typeface="+mn-cs"/>
              </a:rPr>
              <a:t>应用</a:t>
            </a:r>
            <a:endPar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2895644" y="2057436"/>
            <a:ext cx="3886098" cy="584775"/>
          </a:xfrm>
          <a:prstGeom prst="rect">
            <a:avLst/>
          </a:prstGeom>
          <a:noFill/>
        </p:spPr>
        <p:txBody>
          <a:bodyPr wrap="square" rtlCol="0" anchor="t">
            <a:spAutoFit/>
          </a:bodyPr>
          <a:lstStyle/>
          <a:p>
            <a:r>
              <a:rPr lang="zh-CN" altLang="en-US" sz="3200" b="1" dirty="0">
                <a:solidFill>
                  <a:schemeClr val="accent2"/>
                </a:solidFill>
                <a:latin typeface="黑体" panose="02010609060101010101" pitchFamily="49" charset="-122"/>
                <a:ea typeface="黑体" panose="02010609060101010101" pitchFamily="49" charset="-122"/>
                <a:sym typeface="+mn-ea"/>
              </a:rPr>
              <a:t>视频</a:t>
            </a:r>
            <a:endParaRPr lang="zh-CN" altLang="en-US" sz="3200" b="1" dirty="0">
              <a:solidFill>
                <a:schemeClr val="accent2"/>
              </a:solidFill>
              <a:latin typeface="黑体" panose="02010609060101010101" pitchFamily="49" charset="-122"/>
              <a:ea typeface="黑体" panose="02010609060101010101" pitchFamily="49" charset="-122"/>
              <a:sym typeface="+mn-e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81110" y="1447852"/>
            <a:ext cx="8112125" cy="4114692"/>
          </a:xfrm>
        </p:spPr>
        <p:txBody>
          <a:bodyPr/>
          <a:lstStyle/>
          <a:p>
            <a:pPr marL="0" indent="0">
              <a:lnSpc>
                <a:spcPct val="150000"/>
              </a:lnSpc>
              <a:spcBef>
                <a:spcPts val="0"/>
              </a:spcBef>
              <a:spcAft>
                <a:spcPts val="0"/>
              </a:spcAft>
              <a:buNone/>
            </a:pPr>
            <a:r>
              <a:rPr lang="zh-CN" altLang="en-US" sz="2400" dirty="0">
                <a:solidFill>
                  <a:srgbClr val="FF0000"/>
                </a:solidFill>
              </a:rPr>
              <a:t>思政学习</a:t>
            </a:r>
            <a:endParaRPr lang="en-US" altLang="zh-CN" sz="2000" dirty="0">
              <a:solidFill>
                <a:srgbClr val="FF0000"/>
              </a:solidFill>
            </a:endParaRPr>
          </a:p>
          <a:p>
            <a:pPr marL="0" indent="0">
              <a:lnSpc>
                <a:spcPct val="150000"/>
              </a:lnSpc>
              <a:spcBef>
                <a:spcPts val="0"/>
              </a:spcBef>
              <a:spcAft>
                <a:spcPts val="0"/>
              </a:spcAft>
              <a:buNone/>
            </a:pPr>
            <a:r>
              <a:rPr lang="zh-CN" altLang="en-US" sz="2000" dirty="0"/>
              <a:t>      虽然极化码的原始方案不是由华为首提的，但是从商业与应用角度来讲，这是中国通信技术的一次巨大成功。中国公司首次进入基础通信框架协议领域，最重要的意义在于加大了中国企业在全球通信领域的话语权。</a:t>
            </a:r>
            <a:endParaRPr lang="en-US" altLang="zh-CN" sz="2000" dirty="0"/>
          </a:p>
          <a:p>
            <a:pPr marL="0" indent="0">
              <a:lnSpc>
                <a:spcPct val="150000"/>
              </a:lnSpc>
              <a:spcBef>
                <a:spcPts val="0"/>
              </a:spcBef>
              <a:spcAft>
                <a:spcPts val="0"/>
              </a:spcAft>
              <a:buNone/>
            </a:pPr>
            <a:r>
              <a:rPr lang="zh-CN" altLang="en-US" sz="2000" dirty="0"/>
              <a:t>       华为主导推动的极化码被</a:t>
            </a:r>
            <a:r>
              <a:rPr lang="en-US" altLang="zh-CN" sz="2000" dirty="0"/>
              <a:t>3GPP</a:t>
            </a:r>
            <a:r>
              <a:rPr lang="zh-CN" altLang="en-US" sz="2000" dirty="0"/>
              <a:t>采纳，是中国在</a:t>
            </a:r>
            <a:r>
              <a:rPr lang="en-US" altLang="zh-CN" sz="2000" dirty="0"/>
              <a:t>5G</a:t>
            </a:r>
            <a:r>
              <a:rPr lang="zh-CN" altLang="en-US" sz="2000" dirty="0"/>
              <a:t>通信技术研究和标准化上的重要进展。期待中国在接下来的技术角逐中能够有更多的表现和收获。</a:t>
            </a:r>
            <a:endParaRPr lang="en-US" altLang="zh-CN" sz="2000" dirty="0"/>
          </a:p>
          <a:p>
            <a:pPr marL="0" indent="0">
              <a:lnSpc>
                <a:spcPct val="100000"/>
              </a:lnSpc>
              <a:spcBef>
                <a:spcPts val="0"/>
              </a:spcBef>
              <a:spcAft>
                <a:spcPts val="0"/>
              </a:spcAft>
              <a:buNone/>
            </a:pPr>
            <a:r>
              <a:rPr lang="zh-CN" altLang="en-US" sz="2000" dirty="0"/>
              <a:t>      </a:t>
            </a:r>
            <a:endParaRPr lang="zh-CN" altLang="en-US" sz="2000" dirty="0"/>
          </a:p>
        </p:txBody>
      </p:sp>
      <p:sp>
        <p:nvSpPr>
          <p:cNvPr id="4" name="标题 1"/>
          <p:cNvSpPr>
            <a:spLocks noGrp="1"/>
          </p:cNvSpPr>
          <p:nvPr>
            <p:ph type="title"/>
          </p:nvPr>
        </p:nvSpPr>
        <p:spPr>
          <a:xfrm>
            <a:off x="4876792" y="152486"/>
            <a:ext cx="4114692" cy="685800"/>
          </a:xfrm>
        </p:spPr>
        <p:txBody>
          <a:bodyPr/>
          <a:lstStyle/>
          <a:p>
            <a:pPr marL="0" marR="0" lvl="0" indent="0"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a:t>
            </a:r>
            <a:r>
              <a:rPr kumimoji="0" lang="zh-CN" altLang="en-US" sz="2400" b="1" kern="0" dirty="0">
                <a:solidFill>
                  <a:srgbClr val="000000"/>
                </a:solidFill>
                <a:latin typeface="Arial" panose="020B0604020202020204" pitchFamily="34" charset="0"/>
                <a:ea typeface="宋体" panose="02010600030101010101" pitchFamily="2" charset="-122"/>
                <a:cs typeface="+mn-cs"/>
              </a:rPr>
              <a:t>应用</a:t>
            </a:r>
            <a:endPar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9739" y="1219258"/>
            <a:ext cx="8112125" cy="4724276"/>
          </a:xfrm>
        </p:spPr>
        <p:txBody>
          <a:bodyPr/>
          <a:lstStyle/>
          <a:p>
            <a:pPr marL="0" indent="0">
              <a:lnSpc>
                <a:spcPct val="150000"/>
              </a:lnSpc>
              <a:spcBef>
                <a:spcPts val="0"/>
              </a:spcBef>
              <a:spcAft>
                <a:spcPts val="0"/>
              </a:spcAft>
              <a:buNone/>
            </a:pPr>
            <a:r>
              <a:rPr lang="zh-CN" altLang="en-US" sz="2400" dirty="0">
                <a:solidFill>
                  <a:srgbClr val="FF0000"/>
                </a:solidFill>
              </a:rPr>
              <a:t>思政学习</a:t>
            </a:r>
            <a:endParaRPr lang="en-US" altLang="zh-CN" sz="2000" dirty="0">
              <a:solidFill>
                <a:srgbClr val="FF0000"/>
              </a:solidFill>
            </a:endParaRPr>
          </a:p>
          <a:p>
            <a:pPr marL="0" indent="0">
              <a:lnSpc>
                <a:spcPct val="150000"/>
              </a:lnSpc>
              <a:spcBef>
                <a:spcPts val="0"/>
              </a:spcBef>
              <a:spcAft>
                <a:spcPts val="0"/>
              </a:spcAft>
              <a:buNone/>
            </a:pPr>
            <a:r>
              <a:rPr lang="zh-CN" altLang="en-US" sz="2000" dirty="0"/>
              <a:t>       今天，华为不光研发出了中国自己的</a:t>
            </a:r>
            <a:r>
              <a:rPr lang="en-US" altLang="zh-CN" sz="2000" dirty="0"/>
              <a:t>5G</a:t>
            </a:r>
            <a:r>
              <a:rPr lang="zh-CN" altLang="en-US" sz="2000" dirty="0"/>
              <a:t>标准，更研发出了携有</a:t>
            </a:r>
            <a:r>
              <a:rPr lang="en-US" altLang="zh-CN" sz="2000" dirty="0"/>
              <a:t>5G</a:t>
            </a:r>
            <a:r>
              <a:rPr lang="zh-CN" altLang="en-US" sz="2000" dirty="0"/>
              <a:t>网络基带的国产芯片！作为华为，乃至中国的第一代智能芯片，不仅彻底打破了国外大企业的垄断，更是将中国的移动网络安全，重新掌控到了自己的手里。</a:t>
            </a:r>
            <a:endParaRPr lang="en-US" altLang="zh-CN" sz="2000" dirty="0"/>
          </a:p>
          <a:p>
            <a:pPr marL="0" indent="0">
              <a:lnSpc>
                <a:spcPct val="150000"/>
              </a:lnSpc>
              <a:spcBef>
                <a:spcPts val="0"/>
              </a:spcBef>
              <a:spcAft>
                <a:spcPts val="0"/>
              </a:spcAft>
              <a:buNone/>
            </a:pPr>
            <a:r>
              <a:rPr lang="zh-CN" altLang="en-US" sz="2000" dirty="0"/>
              <a:t>      华为公司的科研人员以严谨科学的态度和自立自强的勇气，践行“严谨求实、团结协作、拼搏奉献、勇攀高峰”的精神，为科技创新树立了典范。</a:t>
            </a:r>
            <a:endParaRPr lang="en-US" altLang="zh-CN" sz="2000" dirty="0"/>
          </a:p>
          <a:p>
            <a:pPr marL="0" indent="0">
              <a:lnSpc>
                <a:spcPct val="150000"/>
              </a:lnSpc>
              <a:spcBef>
                <a:spcPts val="0"/>
              </a:spcBef>
              <a:spcAft>
                <a:spcPts val="0"/>
              </a:spcAft>
              <a:buNone/>
            </a:pPr>
            <a:r>
              <a:rPr lang="zh-CN" altLang="en-US" sz="2000" dirty="0"/>
              <a:t>      这一次，中国要用自己的实际行动郑告整个世界：中国，要引领新的时代！</a:t>
            </a:r>
            <a:endParaRPr lang="zh-CN" altLang="en-US" sz="2000" dirty="0"/>
          </a:p>
        </p:txBody>
      </p:sp>
      <p:sp>
        <p:nvSpPr>
          <p:cNvPr id="4" name="标题 1"/>
          <p:cNvSpPr>
            <a:spLocks noGrp="1"/>
          </p:cNvSpPr>
          <p:nvPr>
            <p:ph type="title"/>
          </p:nvPr>
        </p:nvSpPr>
        <p:spPr>
          <a:xfrm>
            <a:off x="4876792" y="190652"/>
            <a:ext cx="4114692" cy="685800"/>
          </a:xfrm>
        </p:spPr>
        <p:txBody>
          <a:bodyPr/>
          <a:lstStyle/>
          <a:p>
            <a:pPr marL="0" marR="0" lvl="0" indent="0"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Polar</a:t>
            </a:r>
            <a:r>
              <a:rPr kumimoji="0" lang="zh-CN" altLang="en-US" sz="2400" b="1" i="0" u="none" strike="noStrike" kern="0" cap="none" spc="0" normalizeH="0" baseline="0" noProof="0" dirty="0">
                <a:ln>
                  <a:noFill/>
                </a:ln>
                <a:solidFill>
                  <a:srgbClr val="000000"/>
                </a:solidFill>
                <a:effectLst/>
                <a:uLnTx/>
                <a:uFillTx/>
                <a:latin typeface="+mn-lt"/>
                <a:ea typeface="宋体" panose="02010600030101010101" pitchFamily="2" charset="-122"/>
                <a:cs typeface="+mn-cs"/>
              </a:rPr>
              <a:t>码</a:t>
            </a:r>
            <a:r>
              <a:rPr kumimoji="0" lang="zh-CN" altLang="en-US" sz="2400" b="1" kern="0" dirty="0">
                <a:solidFill>
                  <a:srgbClr val="000000"/>
                </a:solidFill>
                <a:latin typeface="Arial" panose="020B0604020202020204" pitchFamily="34" charset="0"/>
                <a:ea typeface="宋体" panose="02010600030101010101" pitchFamily="2" charset="-122"/>
                <a:cs typeface="+mn-cs"/>
              </a:rPr>
              <a:t>应用</a:t>
            </a:r>
            <a:endPar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6837437" y="152486"/>
            <a:ext cx="2285940" cy="685800"/>
          </a:xfrm>
        </p:spPr>
        <p: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未来发展趋势</a:t>
            </a:r>
            <a:endPar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内容占位符 2"/>
          <p:cNvSpPr txBox="1"/>
          <p:nvPr/>
        </p:nvSpPr>
        <p:spPr>
          <a:xfrm>
            <a:off x="609704" y="1600248"/>
            <a:ext cx="8112125" cy="3047920"/>
          </a:xfrm>
          <a:prstGeom prst="rect">
            <a:avLst/>
          </a:prstGeom>
          <a:noFill/>
          <a:ln w="9525">
            <a:noFill/>
          </a:ln>
        </p:spPr>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rgbClr val="000066"/>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rgbClr val="336699"/>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rgbClr val="000066"/>
                </a:solidFill>
                <a:latin typeface="+mn-lt"/>
                <a:ea typeface="+mn-ea"/>
                <a:cs typeface="+mn-cs"/>
              </a:defRPr>
            </a:lvl4pPr>
            <a:lvl5pPr marL="2057400" indent="-228600" algn="l" rtl="0" eaLnBrk="0" fontAlgn="base" hangingPunct="0">
              <a:spcBef>
                <a:spcPct val="20000"/>
              </a:spcBef>
              <a:spcAft>
                <a:spcPct val="0"/>
              </a:spcAft>
              <a:defRPr kumimoji="1" sz="1400"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50000"/>
              </a:lnSpc>
              <a:spcBef>
                <a:spcPts val="0"/>
              </a:spcBef>
              <a:spcAft>
                <a:spcPts val="0"/>
              </a:spcAft>
              <a:buFont typeface="Wingdings" panose="05000000000000000000" pitchFamily="2" charset="2"/>
              <a:buNone/>
            </a:pPr>
            <a:r>
              <a:rPr lang="zh-CN" altLang="en-US" sz="2000" dirty="0">
                <a:solidFill>
                  <a:srgbClr val="000000"/>
                </a:solidFill>
                <a:ea typeface="黑体" panose="02010609060101010101" pitchFamily="49" charset="-122"/>
              </a:rPr>
              <a:t>发展方向 ：</a:t>
            </a:r>
            <a:endParaRPr lang="en-US" altLang="zh-CN" sz="2000" dirty="0">
              <a:solidFill>
                <a:srgbClr val="000000"/>
              </a:solidFill>
              <a:ea typeface="黑体" panose="02010609060101010101" pitchFamily="49" charset="-122"/>
            </a:endParaRPr>
          </a:p>
          <a:p>
            <a:pPr marL="0" indent="0">
              <a:lnSpc>
                <a:spcPct val="150000"/>
              </a:lnSpc>
              <a:spcBef>
                <a:spcPts val="0"/>
              </a:spcBef>
              <a:spcAft>
                <a:spcPts val="0"/>
              </a:spcAft>
              <a:buFont typeface="Wingdings" panose="05000000000000000000" pitchFamily="2" charset="2"/>
              <a:buNone/>
            </a:pPr>
            <a:r>
              <a:rPr lang="en-US" altLang="zh-CN" sz="2000" dirty="0">
                <a:solidFill>
                  <a:srgbClr val="000000"/>
                </a:solidFill>
                <a:ea typeface="黑体" panose="02010609060101010101" pitchFamily="49" charset="-122"/>
              </a:rPr>
              <a:t>1</a:t>
            </a:r>
            <a:r>
              <a:rPr lang="zh-CN" altLang="en-US" sz="2000" dirty="0">
                <a:solidFill>
                  <a:srgbClr val="000000"/>
                </a:solidFill>
                <a:ea typeface="黑体" panose="02010609060101010101" pitchFamily="49" charset="-122"/>
              </a:rPr>
              <a:t>、不同于</a:t>
            </a:r>
            <a:r>
              <a:rPr lang="en-US" altLang="zh-CN" sz="2000" dirty="0" err="1">
                <a:solidFill>
                  <a:srgbClr val="000000"/>
                </a:solidFill>
                <a:ea typeface="黑体" panose="02010609060101010101" pitchFamily="49" charset="-122"/>
              </a:rPr>
              <a:t>Arikan</a:t>
            </a:r>
            <a:r>
              <a:rPr lang="zh-CN" altLang="en-US" sz="2000" dirty="0">
                <a:solidFill>
                  <a:srgbClr val="000000"/>
                </a:solidFill>
                <a:ea typeface="黑体" panose="02010609060101010101" pitchFamily="49" charset="-122"/>
              </a:rPr>
              <a:t>核的极化核，可采用高维的极化核加快极化速度（可能导致多个极化值）</a:t>
            </a:r>
            <a:endParaRPr lang="en-US" altLang="zh-CN" sz="2000" dirty="0">
              <a:solidFill>
                <a:srgbClr val="000000"/>
              </a:solidFill>
              <a:ea typeface="黑体" panose="02010609060101010101" pitchFamily="49" charset="-122"/>
            </a:endParaRPr>
          </a:p>
          <a:p>
            <a:pPr marL="0" indent="0">
              <a:lnSpc>
                <a:spcPct val="150000"/>
              </a:lnSpc>
              <a:spcBef>
                <a:spcPts val="0"/>
              </a:spcBef>
              <a:spcAft>
                <a:spcPts val="0"/>
              </a:spcAft>
              <a:buFont typeface="Wingdings" panose="05000000000000000000" pitchFamily="2" charset="2"/>
              <a:buNone/>
            </a:pPr>
            <a:r>
              <a:rPr lang="en-US" altLang="zh-CN" sz="2000" dirty="0">
                <a:solidFill>
                  <a:srgbClr val="000000"/>
                </a:solidFill>
                <a:ea typeface="黑体" panose="02010609060101010101" pitchFamily="49" charset="-122"/>
              </a:rPr>
              <a:t>2</a:t>
            </a:r>
            <a:r>
              <a:rPr lang="zh-CN" altLang="en-US" sz="2000" dirty="0">
                <a:solidFill>
                  <a:srgbClr val="000000"/>
                </a:solidFill>
                <a:ea typeface="黑体" panose="02010609060101010101" pitchFamily="49" charset="-122"/>
              </a:rPr>
              <a:t>、空时极化编码，把各个天线发射的码流用</a:t>
            </a:r>
            <a:r>
              <a:rPr lang="en-US" altLang="zh-CN" sz="2000" dirty="0">
                <a:solidFill>
                  <a:srgbClr val="000000"/>
                </a:solidFill>
                <a:ea typeface="黑体" panose="02010609060101010101" pitchFamily="49" charset="-122"/>
              </a:rPr>
              <a:t>Polar</a:t>
            </a:r>
            <a:r>
              <a:rPr lang="zh-CN" altLang="en-US" sz="2000" dirty="0">
                <a:solidFill>
                  <a:srgbClr val="000000"/>
                </a:solidFill>
                <a:ea typeface="黑体" panose="02010609060101010101" pitchFamily="49" charset="-122"/>
              </a:rPr>
              <a:t>码方式进行编码。</a:t>
            </a:r>
            <a:endParaRPr lang="en-US" altLang="zh-CN" sz="2000" dirty="0">
              <a:solidFill>
                <a:srgbClr val="000000"/>
              </a:solidFill>
              <a:ea typeface="黑体" panose="02010609060101010101" pitchFamily="49" charset="-122"/>
            </a:endParaRPr>
          </a:p>
          <a:p>
            <a:pPr marL="0" indent="0">
              <a:lnSpc>
                <a:spcPct val="150000"/>
              </a:lnSpc>
              <a:spcBef>
                <a:spcPts val="0"/>
              </a:spcBef>
              <a:spcAft>
                <a:spcPts val="0"/>
              </a:spcAft>
              <a:buFont typeface="Wingdings" panose="05000000000000000000" pitchFamily="2" charset="2"/>
              <a:buNone/>
            </a:pPr>
            <a:r>
              <a:rPr lang="en-US" altLang="zh-CN" sz="2000" dirty="0">
                <a:solidFill>
                  <a:srgbClr val="000000"/>
                </a:solidFill>
                <a:ea typeface="黑体" panose="02010609060101010101" pitchFamily="49" charset="-122"/>
              </a:rPr>
              <a:t>3</a:t>
            </a:r>
            <a:r>
              <a:rPr lang="zh-CN" altLang="en-US" sz="2000" dirty="0">
                <a:solidFill>
                  <a:srgbClr val="000000"/>
                </a:solidFill>
                <a:ea typeface="黑体" panose="02010609060101010101" pitchFamily="49" charset="-122"/>
              </a:rPr>
              <a:t>、增加外码，如</a:t>
            </a:r>
            <a:r>
              <a:rPr lang="en-US" altLang="zh-CN" sz="2000" dirty="0">
                <a:solidFill>
                  <a:srgbClr val="000000"/>
                </a:solidFill>
                <a:ea typeface="黑体" panose="02010609060101010101" pitchFamily="49" charset="-122"/>
              </a:rPr>
              <a:t>RS</a:t>
            </a:r>
            <a:r>
              <a:rPr lang="zh-CN" altLang="en-US" sz="2000" dirty="0">
                <a:solidFill>
                  <a:srgbClr val="000000"/>
                </a:solidFill>
                <a:ea typeface="黑体" panose="02010609060101010101" pitchFamily="49" charset="-122"/>
              </a:rPr>
              <a:t>码，有助于进一步提升系统性能。</a:t>
            </a:r>
            <a:endParaRPr lang="en-US" altLang="zh-CN" sz="2000" dirty="0">
              <a:solidFill>
                <a:srgbClr val="000000"/>
              </a:solidFill>
              <a:ea typeface="黑体" panose="02010609060101010101" pitchFamily="49" charset="-122"/>
            </a:endParaRPr>
          </a:p>
          <a:p>
            <a:pPr marL="0" indent="0">
              <a:lnSpc>
                <a:spcPct val="150000"/>
              </a:lnSpc>
              <a:spcBef>
                <a:spcPts val="0"/>
              </a:spcBef>
              <a:spcAft>
                <a:spcPts val="0"/>
              </a:spcAft>
              <a:buFont typeface="Wingdings" panose="05000000000000000000" pitchFamily="2" charset="2"/>
              <a:buNone/>
            </a:pPr>
            <a:r>
              <a:rPr lang="en-US" altLang="zh-CN" sz="2000" dirty="0">
                <a:solidFill>
                  <a:srgbClr val="000000"/>
                </a:solidFill>
                <a:ea typeface="黑体" panose="02010609060101010101" pitchFamily="49" charset="-122"/>
              </a:rPr>
              <a:t>4</a:t>
            </a:r>
            <a:r>
              <a:rPr lang="zh-CN" altLang="en-US" sz="2000" dirty="0">
                <a:solidFill>
                  <a:srgbClr val="000000"/>
                </a:solidFill>
                <a:ea typeface="黑体" panose="02010609060101010101" pitchFamily="49" charset="-122"/>
              </a:rPr>
              <a:t>、采取低复杂度并行解码。</a:t>
            </a:r>
            <a:endParaRPr lang="en-US" altLang="zh-CN" sz="2000" dirty="0">
              <a:solidFill>
                <a:srgbClr val="000000"/>
              </a:solidFill>
              <a:ea typeface="黑体" panose="02010609060101010101" pitchFamily="49" charset="-122"/>
            </a:endParaRPr>
          </a:p>
          <a:p>
            <a:pPr marL="0" indent="0">
              <a:lnSpc>
                <a:spcPct val="150000"/>
              </a:lnSpc>
              <a:spcBef>
                <a:spcPts val="0"/>
              </a:spcBef>
              <a:spcAft>
                <a:spcPts val="0"/>
              </a:spcAft>
              <a:buFont typeface="Wingdings" panose="05000000000000000000" pitchFamily="2" charset="2"/>
              <a:buNone/>
            </a:pPr>
            <a:endParaRPr lang="en-US" altLang="zh-CN" sz="2000" dirty="0">
              <a:solidFill>
                <a:srgbClr val="000000"/>
              </a:solidFill>
              <a:latin typeface="黑体" panose="02010609060101010101" pitchFamily="49" charset="-122"/>
              <a:ea typeface="黑体" panose="02010609060101010101" pitchFamily="49"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8077108" y="152486"/>
            <a:ext cx="914376" cy="685800"/>
          </a:xfrm>
        </p:spPr>
        <p: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思考</a:t>
            </a:r>
            <a:endPar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内容占位符 2"/>
          <p:cNvSpPr txBox="1"/>
          <p:nvPr/>
        </p:nvSpPr>
        <p:spPr>
          <a:xfrm>
            <a:off x="1219288" y="1287898"/>
            <a:ext cx="7197623" cy="1828752"/>
          </a:xfrm>
          <a:prstGeom prst="rect">
            <a:avLst/>
          </a:prstGeom>
          <a:noFill/>
          <a:ln>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rgbClr val="000066"/>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rgbClr val="336699"/>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rgbClr val="000066"/>
                </a:solidFill>
                <a:latin typeface="+mn-lt"/>
                <a:ea typeface="+mn-ea"/>
                <a:cs typeface="+mn-cs"/>
              </a:defRPr>
            </a:lvl4pPr>
            <a:lvl5pPr marL="2057400" indent="-228600" algn="l" rtl="0" eaLnBrk="0" fontAlgn="base" hangingPunct="0">
              <a:spcBef>
                <a:spcPct val="20000"/>
              </a:spcBef>
              <a:spcAft>
                <a:spcPct val="0"/>
              </a:spcAft>
              <a:defRPr kumimoji="1" sz="1400"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spcAft>
                <a:spcPts val="0"/>
              </a:spcAft>
              <a:buFont typeface="Wingdings" panose="05000000000000000000" pitchFamily="2" charset="2"/>
              <a:buNone/>
            </a:pPr>
            <a:r>
              <a:rPr lang="zh-CN" altLang="en-US" dirty="0">
                <a:solidFill>
                  <a:srgbClr val="FF0000"/>
                </a:solidFill>
                <a:latin typeface="黑体" panose="02010609060101010101" pitchFamily="49" charset="-122"/>
                <a:ea typeface="黑体" panose="02010609060101010101" pitchFamily="49" charset="-122"/>
              </a:rPr>
              <a:t>思考？</a:t>
            </a:r>
            <a:endParaRPr lang="en-US" altLang="zh-CN" dirty="0">
              <a:solidFill>
                <a:srgbClr val="FF0000"/>
              </a:solidFill>
              <a:latin typeface="黑体" panose="02010609060101010101" pitchFamily="49" charset="-122"/>
              <a:ea typeface="黑体" panose="02010609060101010101" pitchFamily="49" charset="-122"/>
            </a:endParaRPr>
          </a:p>
          <a:p>
            <a:pPr marL="0" indent="0">
              <a:lnSpc>
                <a:spcPct val="150000"/>
              </a:lnSpc>
              <a:spcBef>
                <a:spcPts val="0"/>
              </a:spcBef>
              <a:spcAft>
                <a:spcPts val="0"/>
              </a:spcAft>
              <a:buNone/>
            </a:pPr>
            <a:endParaRPr lang="en-US" altLang="zh-CN" sz="2000" dirty="0">
              <a:solidFill>
                <a:srgbClr val="000000"/>
              </a:solidFill>
              <a:latin typeface="黑体" panose="02010609060101010101" pitchFamily="49" charset="-122"/>
              <a:ea typeface="黑体" panose="02010609060101010101" pitchFamily="49" charset="-122"/>
            </a:endParaRPr>
          </a:p>
          <a:p>
            <a:pPr>
              <a:lnSpc>
                <a:spcPct val="150000"/>
              </a:lnSpc>
              <a:spcBef>
                <a:spcPts val="0"/>
              </a:spcBef>
              <a:spcAft>
                <a:spcPts val="0"/>
              </a:spcAft>
            </a:pPr>
            <a:r>
              <a:rPr lang="zh-CN" altLang="en-US" sz="2000" dirty="0">
                <a:solidFill>
                  <a:srgbClr val="000000"/>
                </a:solidFill>
                <a:latin typeface="黑体" panose="02010609060101010101" pitchFamily="49" charset="-122"/>
                <a:ea typeface="黑体" panose="02010609060101010101" pitchFamily="49" charset="-122"/>
              </a:rPr>
              <a:t>目前极化码如何在短码情况下提高解码性能？</a:t>
            </a:r>
            <a:endParaRPr lang="en-US" altLang="zh-CN" sz="2000" dirty="0">
              <a:solidFill>
                <a:srgbClr val="00000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stretch>
            <a:fillRect/>
          </a:stretch>
        </p:blipFill>
        <p:spPr>
          <a:xfrm>
            <a:off x="3063279" y="3733792"/>
            <a:ext cx="3017442" cy="2514535"/>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391326" y="152486"/>
            <a:ext cx="1600158" cy="685800"/>
          </a:xfrm>
        </p:spPr>
        <p: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参考文献</a:t>
            </a:r>
            <a:endPar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内容占位符 2"/>
          <p:cNvSpPr txBox="1"/>
          <p:nvPr/>
        </p:nvSpPr>
        <p:spPr>
          <a:xfrm>
            <a:off x="571605" y="1371654"/>
            <a:ext cx="8000790" cy="4495682"/>
          </a:xfrm>
          <a:prstGeom prst="rect">
            <a:avLst/>
          </a:prstGeom>
          <a:noFill/>
          <a:ln>
            <a:noFill/>
          </a:ln>
        </p:spPr>
        <p:style>
          <a:lnRef idx="0">
            <a:scrgbClr r="0" g="0" b="0"/>
          </a:lnRef>
          <a:fillRef idx="0">
            <a:scrgbClr r="0" g="0" b="0"/>
          </a:fillRef>
          <a:effectRef idx="0">
            <a:scrgbClr r="0" g="0" b="0"/>
          </a:effectRef>
          <a:fontRef idx="minor">
            <a:schemeClr val="dk1"/>
          </a:fontRef>
        </p:style>
        <p:txBody>
          <a:bodyPr/>
          <a:lstStyle>
            <a:lvl1pPr marL="342900" indent="-342900" algn="l" rtl="0" eaLnBrk="0" fontAlgn="base" hangingPunct="0">
              <a:lnSpc>
                <a:spcPct val="110000"/>
              </a:lnSpc>
              <a:spcBef>
                <a:spcPct val="40000"/>
              </a:spcBef>
              <a:spcAft>
                <a:spcPct val="10000"/>
              </a:spcAft>
              <a:buFont typeface="Wingdings" panose="05000000000000000000" pitchFamily="2" charset="2"/>
              <a:buChar char="Ø"/>
              <a:defRPr kumimoji="1" sz="2800" kern="1200">
                <a:solidFill>
                  <a:srgbClr val="000066"/>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q"/>
              <a:defRPr kumimoji="1" sz="2400" kern="1200">
                <a:solidFill>
                  <a:srgbClr val="336699"/>
                </a:solidFill>
                <a:latin typeface="+mn-lt"/>
                <a:ea typeface="+mn-ea"/>
                <a:cs typeface="+mn-cs"/>
              </a:defRPr>
            </a:lvl2pPr>
            <a:lvl3pPr marL="1143000" indent="-228600" algn="l" rtl="0" eaLnBrk="0" fontAlgn="base" hangingPunct="0">
              <a:spcBef>
                <a:spcPct val="20000"/>
              </a:spcBef>
              <a:spcAft>
                <a:spcPct val="0"/>
              </a:spcAft>
              <a:buFont typeface="Wingdings" panose="05000000000000000000" pitchFamily="2" charset="2"/>
              <a:buChar char="§"/>
              <a:defRPr kumimoji="1" sz="2000" kern="1200">
                <a:solidFill>
                  <a:schemeClr val="accent2"/>
                </a:solidFill>
                <a:latin typeface="+mn-lt"/>
                <a:ea typeface="+mn-ea"/>
                <a:cs typeface="+mn-cs"/>
              </a:defRPr>
            </a:lvl3pPr>
            <a:lvl4pPr marL="1600200" indent="-228600" algn="l" rtl="0" eaLnBrk="0" fontAlgn="base" hangingPunct="0">
              <a:spcBef>
                <a:spcPct val="20000"/>
              </a:spcBef>
              <a:spcAft>
                <a:spcPct val="0"/>
              </a:spcAft>
              <a:buChar char="–"/>
              <a:defRPr kumimoji="1" sz="1600" kern="1200">
                <a:solidFill>
                  <a:srgbClr val="000066"/>
                </a:solidFill>
                <a:latin typeface="+mn-lt"/>
                <a:ea typeface="+mn-ea"/>
                <a:cs typeface="+mn-cs"/>
              </a:defRPr>
            </a:lvl4pPr>
            <a:lvl5pPr marL="2057400" indent="-228600" algn="l" rtl="0" eaLnBrk="0" fontAlgn="base" hangingPunct="0">
              <a:spcBef>
                <a:spcPct val="20000"/>
              </a:spcBef>
              <a:spcAft>
                <a:spcPct val="0"/>
              </a:spcAft>
              <a:defRPr kumimoji="1" sz="1400"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spcBef>
                <a:spcPts val="0"/>
              </a:spcBef>
              <a:spcAft>
                <a:spcPts val="0"/>
              </a:spcAft>
              <a:buFont typeface="Wingdings" panose="05000000000000000000" pitchFamily="2" charset="2"/>
              <a:buNone/>
            </a:pPr>
            <a:r>
              <a:rPr lang="zh-CN" altLang="en-US" sz="2000" dirty="0">
                <a:solidFill>
                  <a:srgbClr val="000000"/>
                </a:solidFill>
                <a:latin typeface="黑体" panose="02010609060101010101" pitchFamily="49" charset="-122"/>
                <a:ea typeface="黑体" panose="02010609060101010101" pitchFamily="49" charset="-122"/>
              </a:rPr>
              <a:t>参考文献：</a:t>
            </a:r>
            <a:endParaRPr lang="en-US" altLang="zh-CN" sz="2000" dirty="0">
              <a:solidFill>
                <a:srgbClr val="000000"/>
              </a:solidFill>
              <a:latin typeface="黑体" panose="02010609060101010101" pitchFamily="49" charset="-122"/>
              <a:ea typeface="黑体" panose="02010609060101010101" pitchFamily="49" charset="-122"/>
            </a:endParaRPr>
          </a:p>
          <a:p>
            <a:pPr marL="0" indent="0">
              <a:lnSpc>
                <a:spcPct val="200000"/>
              </a:lnSpc>
              <a:spcBef>
                <a:spcPts val="0"/>
              </a:spcBef>
              <a:spcAft>
                <a:spcPts val="0"/>
              </a:spcAft>
              <a:buFont typeface="Wingdings" panose="05000000000000000000" pitchFamily="2" charset="2"/>
              <a:buNone/>
            </a:pPr>
            <a:r>
              <a:rPr lang="en-US" altLang="zh-CN" sz="1800" dirty="0">
                <a:solidFill>
                  <a:srgbClr val="000000"/>
                </a:solidFill>
                <a:latin typeface="黑体" panose="02010609060101010101" pitchFamily="49" charset="-122"/>
                <a:ea typeface="黑体" panose="02010609060101010101" pitchFamily="49" charset="-122"/>
              </a:rPr>
              <a:t>[1]</a:t>
            </a:r>
            <a:r>
              <a:rPr lang="zh-CN" altLang="en-US" sz="1800" dirty="0">
                <a:solidFill>
                  <a:srgbClr val="000000"/>
                </a:solidFill>
                <a:latin typeface="黑体" panose="02010609060101010101" pitchFamily="49" charset="-122"/>
                <a:ea typeface="黑体" panose="02010609060101010101" pitchFamily="49" charset="-122"/>
              </a:rPr>
              <a:t>徐俊 袁弋非</a:t>
            </a:r>
            <a:r>
              <a:rPr lang="en-US" altLang="zh-CN" sz="1800" dirty="0">
                <a:solidFill>
                  <a:srgbClr val="000000"/>
                </a:solidFill>
                <a:ea typeface="黑体" panose="02010609060101010101" pitchFamily="49" charset="-122"/>
              </a:rPr>
              <a:t>. 5G-NR </a:t>
            </a:r>
            <a:r>
              <a:rPr lang="zh-CN" altLang="en-US" sz="1800" dirty="0">
                <a:solidFill>
                  <a:srgbClr val="000000"/>
                </a:solidFill>
                <a:ea typeface="黑体" panose="02010609060101010101" pitchFamily="49" charset="-122"/>
              </a:rPr>
              <a:t>信道编码</a:t>
            </a:r>
            <a:r>
              <a:rPr lang="en-US" altLang="zh-CN" sz="1800" dirty="0">
                <a:solidFill>
                  <a:srgbClr val="000000"/>
                </a:solidFill>
                <a:ea typeface="黑体" panose="02010609060101010101" pitchFamily="49" charset="-122"/>
              </a:rPr>
              <a:t>[M]. 1. </a:t>
            </a:r>
            <a:r>
              <a:rPr lang="zh-CN" altLang="en-US" sz="1800" dirty="0">
                <a:solidFill>
                  <a:srgbClr val="000000"/>
                </a:solidFill>
                <a:ea typeface="黑体" panose="02010609060101010101" pitchFamily="49" charset="-122"/>
              </a:rPr>
              <a:t>北京</a:t>
            </a:r>
            <a:r>
              <a:rPr lang="en-US" altLang="zh-CN" sz="1800" dirty="0">
                <a:solidFill>
                  <a:srgbClr val="000000"/>
                </a:solidFill>
                <a:ea typeface="黑体" panose="02010609060101010101" pitchFamily="49" charset="-122"/>
              </a:rPr>
              <a:t>:</a:t>
            </a:r>
            <a:r>
              <a:rPr lang="zh-CN" altLang="en-US" sz="1800" dirty="0">
                <a:solidFill>
                  <a:srgbClr val="000000"/>
                </a:solidFill>
                <a:ea typeface="黑体" panose="02010609060101010101" pitchFamily="49" charset="-122"/>
              </a:rPr>
              <a:t>人民邮电出版社</a:t>
            </a:r>
            <a:r>
              <a:rPr lang="en-US" altLang="zh-CN" sz="1800" dirty="0">
                <a:solidFill>
                  <a:srgbClr val="000000"/>
                </a:solidFill>
                <a:ea typeface="黑体" panose="02010609060101010101" pitchFamily="49" charset="-122"/>
              </a:rPr>
              <a:t>, 2018 :99-175.</a:t>
            </a:r>
            <a:endParaRPr lang="en-US" altLang="zh-CN" sz="1800" dirty="0">
              <a:solidFill>
                <a:srgbClr val="000000"/>
              </a:solidFill>
              <a:ea typeface="黑体" panose="02010609060101010101" pitchFamily="49" charset="-122"/>
            </a:endParaRPr>
          </a:p>
          <a:p>
            <a:pPr marL="0" indent="0">
              <a:lnSpc>
                <a:spcPct val="200000"/>
              </a:lnSpc>
              <a:spcBef>
                <a:spcPts val="0"/>
              </a:spcBef>
              <a:spcAft>
                <a:spcPts val="0"/>
              </a:spcAft>
              <a:buFont typeface="Wingdings" panose="05000000000000000000" pitchFamily="2" charset="2"/>
              <a:buNone/>
            </a:pPr>
            <a:r>
              <a:rPr lang="en-US" altLang="zh-CN" sz="1800" dirty="0">
                <a:solidFill>
                  <a:srgbClr val="000000"/>
                </a:solidFill>
                <a:latin typeface="黑体" panose="02010609060101010101" pitchFamily="49" charset="-122"/>
                <a:ea typeface="黑体" panose="02010609060101010101" pitchFamily="49" charset="-122"/>
              </a:rPr>
              <a:t>[2]</a:t>
            </a:r>
            <a:r>
              <a:rPr lang="en-US" altLang="zh-CN" sz="1800" dirty="0">
                <a:solidFill>
                  <a:srgbClr val="000000"/>
                </a:solidFill>
                <a:ea typeface="黑体" panose="02010609060101010101" pitchFamily="49" charset="-122"/>
              </a:rPr>
              <a:t>E. </a:t>
            </a:r>
            <a:r>
              <a:rPr lang="en-US" altLang="zh-CN" sz="1800" dirty="0" err="1">
                <a:solidFill>
                  <a:srgbClr val="000000"/>
                </a:solidFill>
                <a:ea typeface="黑体" panose="02010609060101010101" pitchFamily="49" charset="-122"/>
              </a:rPr>
              <a:t>Arikan</a:t>
            </a:r>
            <a:r>
              <a:rPr lang="en-US" altLang="zh-CN" sz="1800" dirty="0">
                <a:solidFill>
                  <a:srgbClr val="000000"/>
                </a:solidFill>
                <a:ea typeface="黑体" panose="02010609060101010101" pitchFamily="49" charset="-122"/>
              </a:rPr>
              <a:t> . Channel polarization : A method for constructing capacity achieving codes for symmetric binary-input memoryless channels . IEEE Trans.Inform.Theory,vol.55.July 2009,pp.3051-3073.</a:t>
            </a:r>
            <a:endParaRPr lang="en-US" altLang="zh-CN" sz="1800" dirty="0">
              <a:solidFill>
                <a:srgbClr val="000000"/>
              </a:solidFill>
              <a:ea typeface="黑体" panose="02010609060101010101" pitchFamily="49" charset="-122"/>
            </a:endParaRPr>
          </a:p>
          <a:p>
            <a:pPr marL="0" indent="0">
              <a:lnSpc>
                <a:spcPct val="200000"/>
              </a:lnSpc>
              <a:spcBef>
                <a:spcPts val="0"/>
              </a:spcBef>
              <a:spcAft>
                <a:spcPts val="0"/>
              </a:spcAft>
              <a:buFont typeface="Wingdings" panose="05000000000000000000" pitchFamily="2" charset="2"/>
              <a:buNone/>
            </a:pPr>
            <a:r>
              <a:rPr lang="en-US" altLang="zh-CN" sz="1800" dirty="0">
                <a:solidFill>
                  <a:srgbClr val="000000"/>
                </a:solidFill>
                <a:ea typeface="黑体" panose="02010609060101010101" pitchFamily="49" charset="-122"/>
              </a:rPr>
              <a:t>[3]</a:t>
            </a:r>
            <a:r>
              <a:rPr lang="zh-CN" altLang="en-US" sz="1800" dirty="0">
                <a:solidFill>
                  <a:srgbClr val="000000"/>
                </a:solidFill>
                <a:ea typeface="黑体" panose="02010609060101010101" pitchFamily="49" charset="-122"/>
              </a:rPr>
              <a:t> 刘晓峰等著</a:t>
            </a:r>
            <a:r>
              <a:rPr lang="en-US" altLang="zh-CN" sz="1800" dirty="0">
                <a:solidFill>
                  <a:srgbClr val="000000"/>
                </a:solidFill>
                <a:ea typeface="黑体" panose="02010609060101010101" pitchFamily="49" charset="-122"/>
              </a:rPr>
              <a:t>.5G</a:t>
            </a:r>
            <a:r>
              <a:rPr lang="zh-CN" altLang="en-US" sz="1800" dirty="0">
                <a:solidFill>
                  <a:srgbClr val="000000"/>
                </a:solidFill>
                <a:ea typeface="黑体" panose="02010609060101010101" pitchFamily="49" charset="-122"/>
              </a:rPr>
              <a:t>无线系统设计与国际标准</a:t>
            </a:r>
            <a:r>
              <a:rPr lang="en-US" altLang="zh-CN" sz="1800" dirty="0">
                <a:solidFill>
                  <a:srgbClr val="000000"/>
                </a:solidFill>
                <a:ea typeface="黑体" panose="02010609060101010101" pitchFamily="49" charset="-122"/>
              </a:rPr>
              <a:t>[M].</a:t>
            </a:r>
            <a:r>
              <a:rPr lang="zh-CN" altLang="en-US" sz="1800" dirty="0">
                <a:solidFill>
                  <a:srgbClr val="000000"/>
                </a:solidFill>
                <a:ea typeface="黑体" panose="02010609060101010101" pitchFamily="49" charset="-122"/>
              </a:rPr>
              <a:t>北京</a:t>
            </a:r>
            <a:r>
              <a:rPr lang="en-US" altLang="zh-CN" sz="1800" dirty="0">
                <a:solidFill>
                  <a:srgbClr val="000000"/>
                </a:solidFill>
                <a:ea typeface="黑体" panose="02010609060101010101" pitchFamily="49" charset="-122"/>
              </a:rPr>
              <a:t>:</a:t>
            </a:r>
            <a:r>
              <a:rPr lang="zh-CN" altLang="en-US" sz="1800" dirty="0">
                <a:solidFill>
                  <a:srgbClr val="000000"/>
                </a:solidFill>
                <a:ea typeface="黑体" panose="02010609060101010101" pitchFamily="49" charset="-122"/>
              </a:rPr>
              <a:t>人民邮电出版社</a:t>
            </a:r>
            <a:r>
              <a:rPr lang="en-US" altLang="zh-CN" sz="1800" dirty="0">
                <a:solidFill>
                  <a:srgbClr val="000000"/>
                </a:solidFill>
                <a:ea typeface="黑体" panose="02010609060101010101" pitchFamily="49" charset="-122"/>
              </a:rPr>
              <a:t>,2019</a:t>
            </a:r>
            <a:endParaRPr lang="en-US" altLang="zh-CN" sz="1800" dirty="0">
              <a:solidFill>
                <a:srgbClr val="000000"/>
              </a:solidFill>
              <a:ea typeface="黑体" panose="02010609060101010101" pitchFamily="49" charset="-122"/>
            </a:endParaRPr>
          </a:p>
          <a:p>
            <a:pPr marL="0" indent="0">
              <a:lnSpc>
                <a:spcPct val="200000"/>
              </a:lnSpc>
              <a:spcBef>
                <a:spcPts val="0"/>
              </a:spcBef>
              <a:spcAft>
                <a:spcPts val="0"/>
              </a:spcAft>
              <a:buFont typeface="Wingdings" panose="05000000000000000000" pitchFamily="2" charset="2"/>
              <a:buNone/>
            </a:pPr>
            <a:r>
              <a:rPr lang="en-US" altLang="zh-CN" sz="1800" dirty="0">
                <a:solidFill>
                  <a:srgbClr val="000000"/>
                </a:solidFill>
                <a:ea typeface="黑体" panose="02010609060101010101" pitchFamily="49" charset="-122"/>
              </a:rPr>
              <a:t>[4] E. </a:t>
            </a:r>
            <a:r>
              <a:rPr lang="en-US" altLang="zh-CN" sz="1800" dirty="0" err="1">
                <a:solidFill>
                  <a:srgbClr val="000000"/>
                </a:solidFill>
                <a:ea typeface="黑体" panose="02010609060101010101" pitchFamily="49" charset="-122"/>
              </a:rPr>
              <a:t>Arikan</a:t>
            </a:r>
            <a:r>
              <a:rPr lang="en-US" altLang="zh-CN" sz="1800" dirty="0">
                <a:solidFill>
                  <a:srgbClr val="000000"/>
                </a:solidFill>
                <a:ea typeface="黑体" panose="02010609060101010101" pitchFamily="49" charset="-122"/>
              </a:rPr>
              <a:t> .Polar Coding Tutorial . Simons </a:t>
            </a:r>
            <a:r>
              <a:rPr lang="en-US" altLang="zh-CN" sz="1800" dirty="0" err="1">
                <a:solidFill>
                  <a:srgbClr val="000000"/>
                </a:solidFill>
                <a:ea typeface="黑体" panose="02010609060101010101" pitchFamily="49" charset="-122"/>
              </a:rPr>
              <a:t>Instiutute</a:t>
            </a:r>
            <a:r>
              <a:rPr lang="en-US" altLang="zh-CN" sz="1800" dirty="0">
                <a:solidFill>
                  <a:srgbClr val="000000"/>
                </a:solidFill>
                <a:ea typeface="黑体" panose="02010609060101010101" pitchFamily="49" charset="-122"/>
              </a:rPr>
              <a:t> UC Berkeley , Jan .15.2015.</a:t>
            </a:r>
            <a:endParaRPr lang="en-US" altLang="zh-CN" sz="1800" dirty="0">
              <a:solidFill>
                <a:srgbClr val="000000"/>
              </a:solidFill>
              <a:ea typeface="黑体" panose="02010609060101010101" pitchFamily="49"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438456" y="2590822"/>
            <a:ext cx="4419484" cy="1322070"/>
          </a:xfrm>
          <a:prstGeom prst="rect">
            <a:avLst/>
          </a:prstGeom>
          <a:noFill/>
        </p:spPr>
        <p:txBody>
          <a:bodyPr wrap="square" rtlCol="0" anchor="t">
            <a:spAutoFit/>
          </a:bodyPr>
          <a:lstStyle/>
          <a:p>
            <a:r>
              <a:rPr lang="zh-CN" altLang="en-US" sz="8000" b="1" dirty="0">
                <a:solidFill>
                  <a:schemeClr val="accent2"/>
                </a:solidFill>
                <a:latin typeface="黑体" panose="02010609060101010101" pitchFamily="49" charset="-122"/>
                <a:ea typeface="黑体" panose="02010609060101010101" pitchFamily="49" charset="-122"/>
                <a:sym typeface="+mn-ea"/>
              </a:rPr>
              <a:t>谢谢聆听</a:t>
            </a:r>
            <a:endParaRPr lang="zh-CN" altLang="en-US" sz="8000" b="1" dirty="0">
              <a:solidFill>
                <a:schemeClr val="accent2"/>
              </a:solidFill>
              <a:latin typeface="黑体" panose="02010609060101010101" pitchFamily="49" charset="-122"/>
              <a:ea typeface="黑体" panose="02010609060101010101" pitchFamily="49" charset="-122"/>
              <a:sym typeface="+mn-ea"/>
            </a:endParaRPr>
          </a:p>
        </p:txBody>
      </p:sp>
    </p:spTree>
  </p:cSld>
  <p:clrMapOvr>
    <a:masterClrMapping/>
  </p:clrMapOvr>
</p:sld>
</file>

<file path=ppt/tags/tag1.xml><?xml version="1.0" encoding="utf-8"?>
<p:tagLst xmlns:p="http://schemas.openxmlformats.org/presentationml/2006/main">
  <p:tag name="KSO_WPP_MARK_KEY" val="0adcb5e3-1b20-4cac-b5ca-874d946638ea"/>
  <p:tag name="COMMONDATA" val="eyJoZGlkIjoiZWE4ZGVmYTFkZmJiMzI3ODViY2NmMWY3ODJhZTY3MDAifQ=="/>
  <p:tag name="commondata" val="eyJoZGlkIjoiYTI1ODE0ODU1YTU1NThjYzg2NDQwMzM1MzA4YzFkNjEifQ=="/>
</p:tagLst>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华文中宋"/>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orronto 0110">
  <a:themeElements>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orronto 0110">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0C0"/>
        </a:solidFill>
        <a:ln>
          <a:solidFill>
            <a:srgbClr val="0070C0"/>
          </a:solidFill>
        </a:ln>
      </a:spPr>
      <a:bodyPr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342900" marR="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v"/>
          <a:defRPr kumimoji="1" lang="en-US" sz="2800" b="0" i="0" u="none" strike="noStrike" cap="none" normalizeH="0" baseline="0" smtClean="0">
            <a:ln>
              <a:noFill/>
            </a:ln>
            <a:solidFill>
              <a:srgbClr val="336699"/>
            </a:solidFill>
            <a:effectLst/>
            <a:latin typeface="黑体" panose="02010609060101010101" pitchFamily="49" charset="-122"/>
            <a:ea typeface="黑体" panose="02010609060101010101" pitchFamily="49" charset="-122"/>
          </a:defRPr>
        </a:defPPr>
      </a:lstStyle>
    </a:lnDef>
    <a:txDef>
      <a:spPr>
        <a:noFill/>
      </a:spPr>
      <a:bodyPr wrap="square" rtlCol="0" anchor="t">
        <a:spAutoFit/>
      </a:bodyPr>
      <a:lstStyle>
        <a:defPPr>
          <a:defRPr lang="zh-CN" altLang="en-US" b="1" dirty="0">
            <a:solidFill>
              <a:schemeClr val="accent2"/>
            </a:solidFill>
            <a:latin typeface="黑体" panose="02010609060101010101" pitchFamily="49" charset="-122"/>
            <a:ea typeface="黑体" panose="02010609060101010101" pitchFamily="49" charset="-122"/>
            <a:sym typeface="+mn-ea"/>
          </a:defRPr>
        </a:defPPr>
      </a:lstStyle>
    </a:txDef>
  </a:objectDefaults>
  <a:extraClrSchemeLst>
    <a:extraClrScheme>
      <a:clrScheme name="Sorronto 0110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orronto 011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orronto 0110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orronto 0110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orronto 0110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orronto 0110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orronto 0110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12854</Words>
  <Application>WPS 演示</Application>
  <PresentationFormat>全屏显示(4:3)</PresentationFormat>
  <Paragraphs>633</Paragraphs>
  <Slides>81</Slides>
  <Notes>8</Notes>
  <HiddenSlides>0</HiddenSlides>
  <MMClips>0</MMClips>
  <ScaleCrop>false</ScaleCrop>
  <HeadingPairs>
    <vt:vector size="6" baseType="variant">
      <vt:variant>
        <vt:lpstr>已用的字体</vt:lpstr>
      </vt:variant>
      <vt:variant>
        <vt:i4>17</vt:i4>
      </vt:variant>
      <vt:variant>
        <vt:lpstr>主题</vt:lpstr>
      </vt:variant>
      <vt:variant>
        <vt:i4>4</vt:i4>
      </vt:variant>
      <vt:variant>
        <vt:lpstr>幻灯片标题</vt:lpstr>
      </vt:variant>
      <vt:variant>
        <vt:i4>81</vt:i4>
      </vt:variant>
    </vt:vector>
  </HeadingPairs>
  <TitlesOfParts>
    <vt:vector size="102" baseType="lpstr">
      <vt:lpstr>Arial</vt:lpstr>
      <vt:lpstr>宋体</vt:lpstr>
      <vt:lpstr>Wingdings</vt:lpstr>
      <vt:lpstr>Calibri</vt:lpstr>
      <vt:lpstr>华文中宋</vt:lpstr>
      <vt:lpstr>黑体</vt:lpstr>
      <vt:lpstr>FuturaA Md BT</vt:lpstr>
      <vt:lpstr>Segoe Print</vt:lpstr>
      <vt:lpstr>隶书</vt:lpstr>
      <vt:lpstr>Times New Roman</vt:lpstr>
      <vt:lpstr>Cambria Math</vt:lpstr>
      <vt:lpstr>微软雅黑</vt:lpstr>
      <vt:lpstr>Arial Unicode MS</vt:lpstr>
      <vt:lpstr>Symbol</vt:lpstr>
      <vt:lpstr>MS Gothic</vt:lpstr>
      <vt:lpstr>等线</vt:lpstr>
      <vt:lpstr>Times New Roman</vt:lpstr>
      <vt:lpstr>1_自定义设计方案</vt:lpstr>
      <vt:lpstr>自定义设计方案</vt:lpstr>
      <vt:lpstr>1_默认设计模板</vt:lpstr>
      <vt:lpstr>Sorronto 0110</vt:lpstr>
      <vt:lpstr>第十章 极化码</vt:lpstr>
      <vt:lpstr>内容提要</vt:lpstr>
      <vt:lpstr>内容提要</vt:lpstr>
      <vt:lpstr>极化（Polar）码起源</vt:lpstr>
      <vt:lpstr>极化码优缺点</vt:lpstr>
      <vt:lpstr>极化码优缺点</vt:lpstr>
      <vt:lpstr>思考</vt:lpstr>
      <vt:lpstr>国外研究现状</vt:lpstr>
      <vt:lpstr>国内研究现状</vt:lpstr>
      <vt:lpstr>极化（Polar）码起源</vt:lpstr>
      <vt:lpstr>极化（Polar）码起源</vt:lpstr>
      <vt:lpstr>内容提要</vt:lpstr>
      <vt:lpstr>极化码基本原理</vt:lpstr>
      <vt:lpstr>极化码基本原理</vt:lpstr>
      <vt:lpstr>极化码基本原理</vt:lpstr>
      <vt:lpstr>极化码基本原理</vt:lpstr>
      <vt:lpstr>极化码基本原理</vt:lpstr>
      <vt:lpstr>极化码基本原理</vt:lpstr>
      <vt:lpstr>极化码基本原理</vt:lpstr>
      <vt:lpstr>极化码基本原理</vt:lpstr>
      <vt:lpstr>极化码基本原理</vt:lpstr>
      <vt:lpstr>极化码基本原理</vt:lpstr>
      <vt:lpstr>极化码基本原理</vt:lpstr>
      <vt:lpstr>极化码基本原理</vt:lpstr>
      <vt:lpstr>极化码基本原理</vt:lpstr>
      <vt:lpstr>极化码基本原理</vt:lpstr>
      <vt:lpstr>内容提要</vt:lpstr>
      <vt:lpstr>Polar码的构造</vt:lpstr>
      <vt:lpstr>Polar码的构造—编码矩阵生成</vt:lpstr>
      <vt:lpstr>Polar码的构造—码序列</vt:lpstr>
      <vt:lpstr>Polar码的构造—码序列</vt:lpstr>
      <vt:lpstr>Polar码的构造—码序列特性</vt:lpstr>
      <vt:lpstr>编码方法</vt:lpstr>
      <vt:lpstr>编码方法</vt:lpstr>
      <vt:lpstr>编码方法</vt:lpstr>
      <vt:lpstr>编码方法</vt:lpstr>
      <vt:lpstr>编码方法</vt:lpstr>
      <vt:lpstr>编码方法</vt:lpstr>
      <vt:lpstr>编码方法</vt:lpstr>
      <vt:lpstr>编码方法</vt:lpstr>
      <vt:lpstr>编码方法</vt:lpstr>
      <vt:lpstr>Polar码的构造—速率匹配</vt:lpstr>
      <vt:lpstr>Polar码的构造—速率匹配</vt:lpstr>
      <vt:lpstr>Polar码的构造—速率匹配</vt:lpstr>
      <vt:lpstr>Polar码的构造—速率匹配</vt:lpstr>
      <vt:lpstr>Polar码的构造—后交织</vt:lpstr>
      <vt:lpstr>Polar码的构造—后交织</vt:lpstr>
      <vt:lpstr>Polar码的构造—后交织</vt:lpstr>
      <vt:lpstr>解码过程</vt:lpstr>
      <vt:lpstr>解码方法</vt:lpstr>
      <vt:lpstr>解码方法</vt:lpstr>
      <vt:lpstr>解码方法</vt:lpstr>
      <vt:lpstr>解码步骤</vt:lpstr>
      <vt:lpstr>解码步骤</vt:lpstr>
      <vt:lpstr>解码步骤</vt:lpstr>
      <vt:lpstr>解码步骤</vt:lpstr>
      <vt:lpstr>解码示例</vt:lpstr>
      <vt:lpstr>解码示例</vt:lpstr>
      <vt:lpstr>解码示例</vt:lpstr>
      <vt:lpstr>解码示例</vt:lpstr>
      <vt:lpstr>解码示例</vt:lpstr>
      <vt:lpstr>解码示例</vt:lpstr>
      <vt:lpstr>解码算法</vt:lpstr>
      <vt:lpstr>解码算法</vt:lpstr>
      <vt:lpstr>解码算法</vt:lpstr>
      <vt:lpstr>解码算法</vt:lpstr>
      <vt:lpstr>解码算法</vt:lpstr>
      <vt:lpstr>复杂度</vt:lpstr>
      <vt:lpstr>复杂度</vt:lpstr>
      <vt:lpstr>内容提要</vt:lpstr>
      <vt:lpstr>Polar码应用</vt:lpstr>
      <vt:lpstr>Polar码应用</vt:lpstr>
      <vt:lpstr>思考题解答</vt:lpstr>
      <vt:lpstr>Polar码应用</vt:lpstr>
      <vt:lpstr>Polar码应用</vt:lpstr>
      <vt:lpstr>Polar码应用</vt:lpstr>
      <vt:lpstr>Polar码应用</vt:lpstr>
      <vt:lpstr>未来发展趋势</vt:lpstr>
      <vt:lpstr>思考</vt:lpstr>
      <vt:lpstr>参考文献</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wjt</dc:creator>
  <cp:lastModifiedBy>无</cp:lastModifiedBy>
  <cp:revision>1279</cp:revision>
  <cp:lastPrinted>2016-01-06T13:31:00Z</cp:lastPrinted>
  <dcterms:created xsi:type="dcterms:W3CDTF">2014-12-11T02:08:00Z</dcterms:created>
  <dcterms:modified xsi:type="dcterms:W3CDTF">2024-11-19T04:52:29Z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2052-12.1.0.18608</vt:lpwstr>
  </property>
  <property fmtid="{D5CDD505-2E9C-101B-9397-08002B2CF9AE}" pid="4" name="ICV">
    <vt:lpwstr>32FFB17C974E4B559F5E914B955C1125</vt:lpwstr>
  </property>
</Properties>
</file>