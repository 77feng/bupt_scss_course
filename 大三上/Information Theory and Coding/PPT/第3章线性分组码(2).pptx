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7"/>
  </p:notesMasterIdLst>
  <p:handoutMasterIdLst>
    <p:handoutMasterId r:id="rId68"/>
  </p:handoutMasterIdLst>
  <p:sldIdLst>
    <p:sldId id="256" r:id="rId6"/>
    <p:sldId id="2328" r:id="rId8"/>
    <p:sldId id="2371" r:id="rId9"/>
    <p:sldId id="2360" r:id="rId10"/>
    <p:sldId id="2326" r:id="rId11"/>
    <p:sldId id="2327" r:id="rId12"/>
    <p:sldId id="2414" r:id="rId13"/>
    <p:sldId id="2331" r:id="rId14"/>
    <p:sldId id="2332" r:id="rId15"/>
    <p:sldId id="2334" r:id="rId16"/>
    <p:sldId id="2340" r:id="rId17"/>
    <p:sldId id="2341" r:id="rId18"/>
    <p:sldId id="2342" r:id="rId19"/>
    <p:sldId id="2343" r:id="rId20"/>
    <p:sldId id="2344" r:id="rId21"/>
    <p:sldId id="2345" r:id="rId22"/>
    <p:sldId id="2346" r:id="rId23"/>
    <p:sldId id="2349" r:id="rId24"/>
    <p:sldId id="2351" r:id="rId25"/>
    <p:sldId id="2353" r:id="rId26"/>
    <p:sldId id="2355" r:id="rId27"/>
    <p:sldId id="2357" r:id="rId28"/>
    <p:sldId id="2358" r:id="rId29"/>
    <p:sldId id="2359" r:id="rId30"/>
    <p:sldId id="2361" r:id="rId31"/>
    <p:sldId id="2367" r:id="rId32"/>
    <p:sldId id="2368" r:id="rId33"/>
    <p:sldId id="2369" r:id="rId34"/>
    <p:sldId id="2453" r:id="rId35"/>
    <p:sldId id="2454" r:id="rId36"/>
    <p:sldId id="2455" r:id="rId37"/>
    <p:sldId id="1939" r:id="rId38"/>
    <p:sldId id="2330" r:id="rId39"/>
    <p:sldId id="2347" r:id="rId40"/>
    <p:sldId id="2417" r:id="rId41"/>
    <p:sldId id="2348" r:id="rId42"/>
    <p:sldId id="2350" r:id="rId43"/>
    <p:sldId id="2352" r:id="rId44"/>
    <p:sldId id="2354" r:id="rId45"/>
    <p:sldId id="2356" r:id="rId46"/>
    <p:sldId id="2362" r:id="rId47"/>
    <p:sldId id="2363" r:id="rId48"/>
    <p:sldId id="2364" r:id="rId49"/>
    <p:sldId id="2365" r:id="rId50"/>
    <p:sldId id="2366" r:id="rId51"/>
    <p:sldId id="2370" r:id="rId52"/>
    <p:sldId id="2457" r:id="rId53"/>
    <p:sldId id="2477" r:id="rId54"/>
    <p:sldId id="2475" r:id="rId55"/>
    <p:sldId id="2474" r:id="rId56"/>
    <p:sldId id="2476" r:id="rId57"/>
    <p:sldId id="2478" r:id="rId58"/>
    <p:sldId id="2479" r:id="rId59"/>
    <p:sldId id="2480" r:id="rId60"/>
    <p:sldId id="2481" r:id="rId61"/>
    <p:sldId id="2482" r:id="rId62"/>
    <p:sldId id="2483" r:id="rId63"/>
    <p:sldId id="2484" r:id="rId64"/>
    <p:sldId id="2485" r:id="rId65"/>
    <p:sldId id="2486" r:id="rId66"/>
    <p:sldId id="2487" r:id="rId67"/>
  </p:sldIdLst>
  <p:sldSz cx="9144000" cy="6858000" type="screen4x3"/>
  <p:notesSz cx="9942195" cy="6760845"/>
  <p:custDataLst>
    <p:tags r:id="rId72"/>
  </p:custDataLst>
  <p:defaultTextStyle>
    <a:defPPr>
      <a:defRPr lang="zh-CN"/>
    </a:defPPr>
    <a:lvl1pPr marL="0" lvl="0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450" userDrawn="1">
          <p15:clr>
            <a:srgbClr val="A4A3A4"/>
          </p15:clr>
        </p15:guide>
        <p15:guide id="2" pos="2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AC"/>
    <a:srgbClr val="F3A5FA"/>
    <a:srgbClr val="F6B9EB"/>
    <a:srgbClr val="A70A03"/>
    <a:srgbClr val="D508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/>
    <p:restoredTop sz="87368"/>
  </p:normalViewPr>
  <p:slideViewPr>
    <p:cSldViewPr showGuides="1">
      <p:cViewPr varScale="1">
        <p:scale>
          <a:sx n="99" d="100"/>
          <a:sy n="99" d="100"/>
        </p:scale>
        <p:origin x="1950" y="90"/>
      </p:cViewPr>
      <p:guideLst>
        <p:guide orient="horz" pos="2450"/>
        <p:guide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2" Type="http://schemas.openxmlformats.org/officeDocument/2006/relationships/tags" Target="tags/tag3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68" Type="http://schemas.openxmlformats.org/officeDocument/2006/relationships/handoutMaster" Target="handoutMasters/handoutMaster1.xml"/><Relationship Id="rId67" Type="http://schemas.openxmlformats.org/officeDocument/2006/relationships/slide" Target="slides/slide61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27.vml.rels><?xml version="1.0" encoding="UTF-8" standalone="yes"?>
<Relationships xmlns="http://schemas.openxmlformats.org/package/2006/relationships"><Relationship Id="rId4" Type="http://schemas.openxmlformats.org/officeDocument/2006/relationships/image" Target="../media/image59.w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8475" cy="338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2450" y="0"/>
            <a:ext cx="4308475" cy="338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21438"/>
            <a:ext cx="4308475" cy="338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2450" y="6421438"/>
            <a:ext cx="4308475" cy="338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8475" cy="338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2450" y="0"/>
            <a:ext cx="4308475" cy="338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79775" y="506413"/>
            <a:ext cx="3382963" cy="2536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3775" y="3211513"/>
            <a:ext cx="7954963" cy="3043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21438"/>
            <a:ext cx="4308475" cy="338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2450" y="6421438"/>
            <a:ext cx="4308475" cy="338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7.jpeg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jpe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6685" y="123825"/>
            <a:ext cx="8540115" cy="678815"/>
          </a:xfrm>
          <a:ln w="12700" cmpd="sng">
            <a:noFill/>
            <a:prstDash val="solid"/>
          </a:ln>
        </p:spPr>
        <p:txBody>
          <a:bodyPr/>
          <a:lstStyle>
            <a:lvl1pPr algn="l">
              <a:defRPr/>
            </a:lvl1pPr>
          </a:lstStyle>
          <a:p>
            <a:r>
              <a:rPr lang="zh-CN" altLang="en-US"/>
              <a:t>      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5760" y="920115"/>
            <a:ext cx="8321040" cy="52063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685" y="123825"/>
            <a:ext cx="657225" cy="6667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7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0" y="3175"/>
            <a:ext cx="914400" cy="91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90600" y="838200"/>
            <a:ext cx="39243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67300" y="838200"/>
            <a:ext cx="39243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91350" y="152400"/>
            <a:ext cx="200025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90600" y="152400"/>
            <a:ext cx="584835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875" y="5973763"/>
            <a:ext cx="2435225" cy="601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Line 2"/>
          <p:cNvSpPr/>
          <p:nvPr userDrawn="1"/>
        </p:nvSpPr>
        <p:spPr>
          <a:xfrm flipV="1">
            <a:off x="323850" y="1268413"/>
            <a:ext cx="8496300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48" name="Rectangle 6"/>
          <p:cNvSpPr/>
          <p:nvPr userDrawn="1"/>
        </p:nvSpPr>
        <p:spPr>
          <a:xfrm>
            <a:off x="8374063" y="6453188"/>
            <a:ext cx="769937" cy="241300"/>
          </a:xfrm>
          <a:prstGeom prst="rect">
            <a:avLst/>
          </a:prstGeom>
          <a:noFill/>
          <a:ln w="9525">
            <a:noFill/>
          </a:ln>
        </p:spPr>
        <p:txBody>
          <a:bodyPr wrap="none" lIns="90488" tIns="44450" rIns="90488" bIns="44450">
            <a:spAutoFit/>
          </a:bodyPr>
          <a:lstStyle/>
          <a:p>
            <a:pPr lvl="0" algn="r"/>
            <a:r>
              <a:rPr lang="zh-CN" altLang="en-US" sz="1000" dirty="0">
                <a:solidFill>
                  <a:srgbClr val="000000"/>
                </a:solidFill>
                <a:latin typeface="FuturaA Md BT" charset="0"/>
              </a:rPr>
              <a:t>   </a:t>
            </a:r>
            <a:r>
              <a:rPr lang="en-US" altLang="zh-CN" sz="1000" dirty="0">
                <a:solidFill>
                  <a:srgbClr val="000000"/>
                </a:solidFill>
                <a:latin typeface="FuturaA Md BT" charset="0"/>
              </a:rPr>
              <a:t>Page </a:t>
            </a:r>
            <a:fld id="{9A0DB2DC-4C9A-4742-B13C-FB6460FD3503}" type="slidenum">
              <a:rPr lang="en-US" altLang="zh-CN" sz="1000" dirty="0">
                <a:solidFill>
                  <a:srgbClr val="000000"/>
                </a:solidFill>
                <a:latin typeface="FuturaA Md BT" charset="0"/>
              </a:rPr>
            </a:fld>
            <a:endParaRPr lang="en-US" altLang="zh-CN" sz="1000" dirty="0">
              <a:solidFill>
                <a:srgbClr val="000000"/>
              </a:solidFill>
              <a:latin typeface="FuturaA Md BT" charset="0"/>
            </a:endParaRPr>
          </a:p>
        </p:txBody>
      </p:sp>
      <p:grpSp>
        <p:nvGrpSpPr>
          <p:cNvPr id="6149" name="Group 10"/>
          <p:cNvGrpSpPr/>
          <p:nvPr userDrawn="1"/>
        </p:nvGrpSpPr>
        <p:grpSpPr>
          <a:xfrm>
            <a:off x="827088" y="5516563"/>
            <a:ext cx="8315325" cy="1360487"/>
            <a:chOff x="249" y="2341"/>
            <a:chExt cx="5178" cy="1613"/>
          </a:xfrm>
        </p:grpSpPr>
        <p:pic>
          <p:nvPicPr>
            <p:cNvPr id="6157" name="Picture 11" descr="未命名-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" y="2341"/>
              <a:ext cx="5178" cy="143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Rectangle 12"/>
            <p:cNvSpPr>
              <a:spLocks noChangeArrowheads="1"/>
            </p:cNvSpPr>
            <p:nvPr/>
          </p:nvSpPr>
          <p:spPr bwMode="gray">
            <a:xfrm>
              <a:off x="1877" y="3593"/>
              <a:ext cx="115" cy="361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6150" name="Picture 16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4463" y="333375"/>
            <a:ext cx="3348037" cy="719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1" name="Picture 1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79388" y="5734050"/>
            <a:ext cx="1079500" cy="1057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2" name="Rectangle 13"/>
          <p:cNvSpPr/>
          <p:nvPr userDrawn="1"/>
        </p:nvSpPr>
        <p:spPr>
          <a:xfrm>
            <a:off x="8374063" y="6453188"/>
            <a:ext cx="769937" cy="241300"/>
          </a:xfrm>
          <a:prstGeom prst="rect">
            <a:avLst/>
          </a:prstGeom>
          <a:noFill/>
          <a:ln w="9525">
            <a:noFill/>
          </a:ln>
        </p:spPr>
        <p:txBody>
          <a:bodyPr wrap="none" lIns="90488" tIns="44450" rIns="90488" bIns="44450">
            <a:spAutoFit/>
          </a:bodyPr>
          <a:lstStyle/>
          <a:p>
            <a:pPr lvl="0" algn="r"/>
            <a:r>
              <a:rPr lang="zh-CN" altLang="en-US" sz="1000" dirty="0">
                <a:solidFill>
                  <a:srgbClr val="000000"/>
                </a:solidFill>
                <a:latin typeface="FuturaA Md BT" charset="0"/>
              </a:rPr>
              <a:t>   </a:t>
            </a:r>
            <a:r>
              <a:rPr lang="en-US" altLang="zh-CN" sz="1000" dirty="0">
                <a:solidFill>
                  <a:srgbClr val="000000"/>
                </a:solidFill>
                <a:latin typeface="FuturaA Md BT" charset="0"/>
              </a:rPr>
              <a:t>Page </a:t>
            </a:r>
            <a:fld id="{9A0DB2DC-4C9A-4742-B13C-FB6460FD3503}" type="slidenum">
              <a:rPr lang="en-US" altLang="zh-CN" sz="1000" dirty="0">
                <a:solidFill>
                  <a:srgbClr val="000000"/>
                </a:solidFill>
                <a:latin typeface="FuturaA Md BT" charset="0"/>
              </a:rPr>
            </a:fld>
            <a:endParaRPr lang="en-US" altLang="zh-CN" sz="1000" dirty="0">
              <a:solidFill>
                <a:srgbClr val="000000"/>
              </a:solidFill>
              <a:latin typeface="FuturaA Md BT" charset="0"/>
            </a:endParaRPr>
          </a:p>
        </p:txBody>
      </p:sp>
      <p:pic>
        <p:nvPicPr>
          <p:cNvPr id="6153" name="Picture 14" descr="蓝色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4925" y="188913"/>
            <a:ext cx="3673475" cy="86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4" name="Picture 15" descr="教3楼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3789363"/>
            <a:ext cx="9144000" cy="3095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992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73175"/>
            <a:ext cx="7772400" cy="1470025"/>
          </a:xfrm>
        </p:spPr>
        <p:txBody>
          <a:bodyPr/>
          <a:lstStyle>
            <a:lvl1pPr algn="ctr">
              <a:defRPr sz="4400">
                <a:solidFill>
                  <a:srgbClr val="FF3300"/>
                </a:solidFill>
                <a:ea typeface="华文中宋" panose="02010600040101010101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29992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02895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rgbClr val="0000FF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90575" y="1219200"/>
            <a:ext cx="381000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52975" y="1219200"/>
            <a:ext cx="381000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40000"/>
              </a:spcBef>
              <a:spcAft>
                <a:spcPct val="1000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6413" y="104775"/>
            <a:ext cx="2020887" cy="59912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0575" y="104775"/>
            <a:ext cx="5913438" cy="59912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1" Type="http://schemas.openxmlformats.org/officeDocument/2006/relationships/theme" Target="../theme/theme3.xml"/><Relationship Id="rId20" Type="http://schemas.openxmlformats.org/officeDocument/2006/relationships/image" Target="../media/image11.png"/><Relationship Id="rId2" Type="http://schemas.openxmlformats.org/officeDocument/2006/relationships/slideLayout" Target="../slideLayouts/slideLayout24.xml"/><Relationship Id="rId19" Type="http://schemas.openxmlformats.org/officeDocument/2006/relationships/image" Target="../media/image10.jpeg"/><Relationship Id="rId18" Type="http://schemas.openxmlformats.org/officeDocument/2006/relationships/image" Target="../media/image9.jpeg"/><Relationship Id="rId17" Type="http://schemas.openxmlformats.org/officeDocument/2006/relationships/image" Target="../media/image8.jpeg"/><Relationship Id="rId16" Type="http://schemas.openxmlformats.org/officeDocument/2006/relationships/image" Target="../media/image7.jpeg"/><Relationship Id="rId15" Type="http://schemas.openxmlformats.org/officeDocument/2006/relationships/image" Target="../media/image6.jpeg"/><Relationship Id="rId14" Type="http://schemas.openxmlformats.org/officeDocument/2006/relationships/image" Target="../media/image5.jpeg"/><Relationship Id="rId13" Type="http://schemas.openxmlformats.org/officeDocument/2006/relationships/image" Target="../media/image4.pn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4.jpe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</a:rPr>
            </a:fld>
            <a:endParaRPr lang="zh-CN" altLang="en-US" sz="1200" dirty="0">
              <a:solidFill>
                <a:srgbClr val="898989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0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12" descr="a_1"/>
          <p:cNvPicPr>
            <a:picLocks noChangeAspect="1"/>
          </p:cNvPicPr>
          <p:nvPr userDrawn="1"/>
        </p:nvPicPr>
        <p:blipFill>
          <a:blip r:embed="rId13"/>
          <a:srcRect l="2174"/>
          <a:stretch>
            <a:fillRect/>
          </a:stretch>
        </p:blipFill>
        <p:spPr>
          <a:xfrm>
            <a:off x="0" y="0"/>
            <a:ext cx="9144000" cy="5308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2" name="Rectangle 22"/>
          <p:cNvSpPr>
            <a:spLocks noChangeArrowheads="1"/>
          </p:cNvSpPr>
          <p:nvPr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14" descr="mao1-1"/>
          <p:cNvSpPr>
            <a:spLocks noChangeAspect="1" noChangeArrowheads="1"/>
          </p:cNvSpPr>
          <p:nvPr/>
        </p:nvSpPr>
        <p:spPr bwMode="auto">
          <a:xfrm>
            <a:off x="8153400" y="4967288"/>
            <a:ext cx="969963" cy="900113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 w="22225" cmpd="sng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15" descr="xmy2-1"/>
          <p:cNvSpPr>
            <a:spLocks noChangeAspect="1" noChangeArrowheads="1"/>
          </p:cNvSpPr>
          <p:nvPr/>
        </p:nvSpPr>
        <p:spPr bwMode="auto">
          <a:xfrm>
            <a:off x="8153400" y="3976688"/>
            <a:ext cx="969963" cy="900113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 cmpd="sng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16" descr="xm-1"/>
          <p:cNvSpPr>
            <a:spLocks noChangeArrowheads="1"/>
          </p:cNvSpPr>
          <p:nvPr/>
        </p:nvSpPr>
        <p:spPr bwMode="auto">
          <a:xfrm>
            <a:off x="6019800" y="5957888"/>
            <a:ext cx="1066800" cy="900113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 cmpd="sng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6" name="Rectangle 17" descr="xue2-1"/>
          <p:cNvSpPr>
            <a:spLocks noChangeAspect="1" noChangeArrowheads="1"/>
          </p:cNvSpPr>
          <p:nvPr/>
        </p:nvSpPr>
        <p:spPr bwMode="auto">
          <a:xfrm>
            <a:off x="7134225" y="5943600"/>
            <a:ext cx="969963" cy="900113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 cmpd="sng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18" descr="mao-1"/>
          <p:cNvSpPr>
            <a:spLocks noChangeAspect="1" noChangeArrowheads="1"/>
          </p:cNvSpPr>
          <p:nvPr/>
        </p:nvSpPr>
        <p:spPr bwMode="auto">
          <a:xfrm>
            <a:off x="7107238" y="496728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 cmpd="sng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19" descr="xiaoxun-1"/>
          <p:cNvSpPr>
            <a:spLocks noChangeAspect="1" noChangeArrowheads="1"/>
          </p:cNvSpPr>
          <p:nvPr/>
        </p:nvSpPr>
        <p:spPr bwMode="auto">
          <a:xfrm>
            <a:off x="8153400" y="5943600"/>
            <a:ext cx="969963" cy="900113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 cmpd="sng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3" name="Line 26"/>
          <p:cNvSpPr/>
          <p:nvPr userDrawn="1"/>
        </p:nvSpPr>
        <p:spPr>
          <a:xfrm>
            <a:off x="0" y="3657600"/>
            <a:ext cx="9144000" cy="0"/>
          </a:xfrm>
          <a:prstGeom prst="line">
            <a:avLst/>
          </a:prstGeom>
          <a:ln w="38100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84" name="Line 27"/>
          <p:cNvSpPr/>
          <p:nvPr userDrawn="1"/>
        </p:nvSpPr>
        <p:spPr>
          <a:xfrm>
            <a:off x="0" y="2590800"/>
            <a:ext cx="9144000" cy="0"/>
          </a:xfrm>
          <a:prstGeom prst="line">
            <a:avLst/>
          </a:prstGeom>
          <a:ln w="38100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61" name="Rectangle 29"/>
          <p:cNvSpPr>
            <a:spLocks noChangeArrowheads="1"/>
          </p:cNvSpPr>
          <p:nvPr/>
        </p:nvSpPr>
        <p:spPr bwMode="auto">
          <a:xfrm>
            <a:off x="0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2" name="Rectangle 33"/>
          <p:cNvSpPr>
            <a:spLocks noChangeArrowheads="1"/>
          </p:cNvSpPr>
          <p:nvPr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87" name="Picture 31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905000" y="1219200"/>
            <a:ext cx="5562600" cy="992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8" name="Line 34"/>
          <p:cNvSpPr/>
          <p:nvPr userDrawn="1"/>
        </p:nvSpPr>
        <p:spPr>
          <a:xfrm>
            <a:off x="0" y="2590800"/>
            <a:ext cx="9144000" cy="0"/>
          </a:xfrm>
          <a:prstGeom prst="line">
            <a:avLst/>
          </a:prstGeom>
          <a:ln w="38100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89" name="Rectangle 3"/>
          <p:cNvSpPr>
            <a:spLocks noGrp="1"/>
          </p:cNvSpPr>
          <p:nvPr>
            <p:ph type="body" idx="1"/>
          </p:nvPr>
        </p:nvSpPr>
        <p:spPr>
          <a:xfrm>
            <a:off x="990600" y="838200"/>
            <a:ext cx="8001000" cy="5181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090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6096000" cy="381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6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/>
          </p:cNvSpPr>
          <p:nvPr>
            <p:ph type="title"/>
          </p:nvPr>
        </p:nvSpPr>
        <p:spPr>
          <a:xfrm>
            <a:off x="6577013" y="104775"/>
            <a:ext cx="2300287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母版标题</a:t>
            </a:r>
            <a:endParaRPr lang="zh-CN" altLang="en-US" dirty="0"/>
          </a:p>
        </p:txBody>
      </p:sp>
      <p:sp>
        <p:nvSpPr>
          <p:cNvPr id="4099" name="Rectangle 5"/>
          <p:cNvSpPr>
            <a:spLocks noGrp="1"/>
          </p:cNvSpPr>
          <p:nvPr>
            <p:ph type="body" idx="1"/>
          </p:nvPr>
        </p:nvSpPr>
        <p:spPr>
          <a:xfrm>
            <a:off x="450850" y="931545"/>
            <a:ext cx="8112125" cy="516445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1" name="Rectangle 2"/>
          <p:cNvSpPr/>
          <p:nvPr userDrawn="1"/>
        </p:nvSpPr>
        <p:spPr>
          <a:xfrm>
            <a:off x="8408988" y="6453188"/>
            <a:ext cx="735012" cy="241300"/>
          </a:xfrm>
          <a:prstGeom prst="rect">
            <a:avLst/>
          </a:prstGeom>
          <a:noFill/>
          <a:ln w="9525">
            <a:noFill/>
          </a:ln>
        </p:spPr>
        <p:txBody>
          <a:bodyPr wrap="none" lIns="90488" tIns="44450" rIns="90488" bIns="44450">
            <a:spAutoFit/>
          </a:bodyPr>
          <a:lstStyle/>
          <a:p>
            <a:pPr lvl="0" algn="r"/>
            <a:r>
              <a:rPr lang="zh-CN" altLang="en-US" sz="1000" dirty="0">
                <a:solidFill>
                  <a:srgbClr val="000000"/>
                </a:solidFill>
                <a:latin typeface="FuturaA Md BT" charset="0"/>
                <a:ea typeface="宋体" panose="02010600030101010101" pitchFamily="2" charset="-122"/>
              </a:rPr>
              <a:t>  </a:t>
            </a:r>
            <a:r>
              <a:rPr lang="en-US" altLang="zh-CN" sz="1000" dirty="0">
                <a:solidFill>
                  <a:srgbClr val="000000"/>
                </a:solidFill>
                <a:latin typeface="FuturaA Md BT" charset="0"/>
                <a:ea typeface="宋体" panose="02010600030101010101" pitchFamily="2" charset="-122"/>
              </a:rPr>
              <a:t>Page </a:t>
            </a:r>
            <a:fld id="{9A0DB2DC-4C9A-4742-B13C-FB6460FD3503}" type="slidenum">
              <a:rPr lang="en-US" altLang="zh-CN" sz="1000" dirty="0">
                <a:solidFill>
                  <a:srgbClr val="000000"/>
                </a:solidFill>
                <a:latin typeface="FuturaA Md BT" charset="0"/>
                <a:ea typeface="宋体" panose="02010600030101010101" pitchFamily="2" charset="-122"/>
              </a:rPr>
            </a:fld>
            <a:endParaRPr lang="en-US" altLang="zh-CN" sz="1000" dirty="0">
              <a:solidFill>
                <a:srgbClr val="000000"/>
              </a:solidFill>
              <a:latin typeface="FuturaA Md BT" charset="0"/>
              <a:ea typeface="宋体" panose="02010600030101010101" pitchFamily="2" charset="-122"/>
            </a:endParaRPr>
          </a:p>
        </p:txBody>
      </p:sp>
      <p:sp>
        <p:nvSpPr>
          <p:cNvPr id="4102" name="Line 4"/>
          <p:cNvSpPr/>
          <p:nvPr userDrawn="1"/>
        </p:nvSpPr>
        <p:spPr>
          <a:xfrm>
            <a:off x="179388" y="765175"/>
            <a:ext cx="8713787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31" name="Rectangle 5"/>
          <p:cNvSpPr>
            <a:spLocks noChangeArrowheads="1"/>
          </p:cNvSpPr>
          <p:nvPr/>
        </p:nvSpPr>
        <p:spPr bwMode="auto">
          <a:xfrm>
            <a:off x="0" y="6237288"/>
            <a:ext cx="91440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v"/>
              <a:defRPr kumimoji="1" sz="280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v"/>
              <a:defRPr kumimoji="1" sz="280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v"/>
              <a:defRPr kumimoji="1" sz="280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v"/>
              <a:defRPr kumimoji="1" sz="280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v"/>
              <a:defRPr kumimoji="1" sz="280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280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280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280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280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436ACB"/>
                </a:solidFill>
                <a:effectLst/>
                <a:uLnTx/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rPr>
              <a:t>      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turaA Md BT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4104" name="Picture 10" descr="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44463" y="115888"/>
            <a:ext cx="2698750" cy="5048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kumimoji="1"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40000"/>
        </a:spcBef>
        <a:spcAft>
          <a:spcPct val="10000"/>
        </a:spcAft>
        <a:buFont typeface="Wingdings" panose="05000000000000000000" pitchFamily="2" charset="2"/>
        <a:buChar char="Ø"/>
        <a:defRPr kumimoji="1" sz="2800" kern="12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0000"/>
        </a:spcBef>
        <a:spcAft>
          <a:spcPct val="0"/>
        </a:spcAft>
        <a:buFont typeface="Wingdings" panose="05000000000000000000" pitchFamily="2" charset="2"/>
        <a:buChar char="q"/>
        <a:defRPr kumimoji="1" sz="2400" kern="1200">
          <a:solidFill>
            <a:srgbClr val="33669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0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 kern="1200">
          <a:solidFill>
            <a:srgbClr val="00006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kumimoji="1" sz="1400" kern="1200">
          <a:solidFill>
            <a:srgbClr val="0000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35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9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12.bin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35.xml"/><Relationship Id="rId3" Type="http://schemas.openxmlformats.org/officeDocument/2006/relationships/tags" Target="../tags/tag2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13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35.xml"/><Relationship Id="rId4" Type="http://schemas.openxmlformats.org/officeDocument/2006/relationships/image" Target="../media/image30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4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16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35.xml"/><Relationship Id="rId4" Type="http://schemas.openxmlformats.org/officeDocument/2006/relationships/image" Target="../media/image33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17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35.xml"/><Relationship Id="rId4" Type="http://schemas.openxmlformats.org/officeDocument/2006/relationships/image" Target="../media/image35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19.bin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21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37.wmf"/><Relationship Id="rId1" Type="http://schemas.openxmlformats.org/officeDocument/2006/relationships/oleObject" Target="../embeddings/oleObject22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35.xml"/><Relationship Id="rId4" Type="http://schemas.openxmlformats.org/officeDocument/2006/relationships/image" Target="../media/image39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23.bin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35.xml"/><Relationship Id="rId4" Type="http://schemas.openxmlformats.org/officeDocument/2006/relationships/image" Target="../media/image41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40.wmf"/><Relationship Id="rId1" Type="http://schemas.openxmlformats.org/officeDocument/2006/relationships/oleObject" Target="../embeddings/oleObject25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35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42.wmf"/><Relationship Id="rId1" Type="http://schemas.openxmlformats.org/officeDocument/2006/relationships/oleObject" Target="../embeddings/oleObject27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35.xml"/><Relationship Id="rId4" Type="http://schemas.openxmlformats.org/officeDocument/2006/relationships/image" Target="../media/image46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45.wmf"/><Relationship Id="rId1" Type="http://schemas.openxmlformats.org/officeDocument/2006/relationships/oleObject" Target="../embeddings/oleObject30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8.xml"/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35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32.bin"/></Relationships>
</file>

<file path=ppt/slides/_rels/slide5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9.xml"/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35.xml"/><Relationship Id="rId4" Type="http://schemas.openxmlformats.org/officeDocument/2006/relationships/image" Target="../media/image51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35.bin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52.wmf"/><Relationship Id="rId1" Type="http://schemas.openxmlformats.org/officeDocument/2006/relationships/oleObject" Target="../embeddings/oleObject37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1.xml"/><Relationship Id="rId8" Type="http://schemas.openxmlformats.org/officeDocument/2006/relationships/vmlDrawing" Target="../drawings/vmlDrawing26.vml"/><Relationship Id="rId7" Type="http://schemas.openxmlformats.org/officeDocument/2006/relationships/slideLayout" Target="../slideLayouts/slideLayout35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53.wmf"/><Relationship Id="rId1" Type="http://schemas.openxmlformats.org/officeDocument/2006/relationships/oleObject" Target="../embeddings/oleObject38.bin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5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image" Target="../media/image59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7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56.wmf"/><Relationship Id="rId11" Type="http://schemas.openxmlformats.org/officeDocument/2006/relationships/notesSlide" Target="../notesSlides/notesSlide44.xml"/><Relationship Id="rId10" Type="http://schemas.openxmlformats.org/officeDocument/2006/relationships/vmlDrawing" Target="../drawings/vmlDrawing27.vml"/><Relationship Id="rId1" Type="http://schemas.openxmlformats.org/officeDocument/2006/relationships/oleObject" Target="../embeddings/oleObject4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ctrTitle"/>
          </p:nvPr>
        </p:nvSpPr>
        <p:spPr>
          <a:xfrm>
            <a:off x="177165" y="2819400"/>
            <a:ext cx="8738235" cy="685800"/>
          </a:xfrm>
        </p:spPr>
        <p:txBody>
          <a:bodyPr vert="horz" wrap="square" lIns="91440" tIns="45720" rIns="91440" bIns="45720" anchor="ctr"/>
          <a:lstStyle>
            <a:lvl1pPr lvl="0">
              <a:defRPr kern="1200"/>
            </a:lvl1pPr>
          </a:lstStyle>
          <a:p>
            <a:pPr lvl="0" algn="ctr" eaLnBrk="1" hangingPunct="1"/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第</a:t>
            </a:r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三章 线性分组码</a:t>
            </a:r>
            <a:endParaRPr lang="zh-CN" altLang="en-US" sz="3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05685" y="3879850"/>
            <a:ext cx="481520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500"/>
              </a:lnSpc>
            </a:pP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李丽香，彭海朋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ts val="4500"/>
              </a:lnSpc>
            </a:pP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北京邮电大学网络空间安全学院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l">
              <a:lnSpc>
                <a:spcPts val="4500"/>
              </a:lnSpc>
            </a:pP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网络与交换技术国家重点实验室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6652578" y="104775"/>
            <a:ext cx="2300287" cy="685800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sz="2800" dirty="0"/>
              <a:t>内容提要</a:t>
            </a:r>
            <a:endParaRPr lang="zh-CN" altLang="en-US" sz="2800" dirty="0"/>
          </a:p>
        </p:txBody>
      </p:sp>
      <p:sp>
        <p:nvSpPr>
          <p:cNvPr id="5" name="AutoShape 46"/>
          <p:cNvSpPr>
            <a:spLocks noChangeArrowheads="1"/>
          </p:cNvSpPr>
          <p:nvPr/>
        </p:nvSpPr>
        <p:spPr bwMode="ltGray">
          <a:xfrm rot="5400000">
            <a:off x="-2422525" y="147478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rgbClr val="C0C0C0">
                  <a:gamma/>
                  <a:tint val="45490"/>
                  <a:invGamma/>
                </a:srgbClr>
              </a:gs>
              <a:gs pos="50000">
                <a:srgbClr val="C0C0C0"/>
              </a:gs>
              <a:gs pos="100000">
                <a:srgbClr val="C0C0C0">
                  <a:gamma/>
                  <a:tint val="45490"/>
                  <a:invGamma/>
                </a:srgbClr>
              </a:gs>
            </a:gsLst>
            <a:lin ang="0" scaled="1"/>
          </a:gra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163794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AutoShape 47"/>
          <p:cNvSpPr>
            <a:spLocks noChangeArrowheads="1"/>
          </p:cNvSpPr>
          <p:nvPr/>
        </p:nvSpPr>
        <p:spPr bwMode="ltGray">
          <a:xfrm rot="5400000" flipH="1">
            <a:off x="-2016919" y="1910556"/>
            <a:ext cx="4032250" cy="3929063"/>
          </a:xfrm>
          <a:custGeom>
            <a:avLst/>
            <a:gdLst>
              <a:gd name="G0" fmla="+- 56 0 0"/>
              <a:gd name="G1" fmla="+- 11796480 0 0"/>
              <a:gd name="G2" fmla="+- 0 0 11796480"/>
              <a:gd name="T0" fmla="*/ 0 256 1"/>
              <a:gd name="T1" fmla="*/ 180 256 1"/>
              <a:gd name="G3" fmla="+- 11796480 T0 T1"/>
              <a:gd name="T2" fmla="*/ 0 256 1"/>
              <a:gd name="T3" fmla="*/ 90 256 1"/>
              <a:gd name="G4" fmla="+- 11796480 T2 T3"/>
              <a:gd name="G5" fmla="*/ G4 2 1"/>
              <a:gd name="T4" fmla="*/ 90 256 1"/>
              <a:gd name="T5" fmla="*/ 0 256 1"/>
              <a:gd name="G6" fmla="+- 11796480 T4 T5"/>
              <a:gd name="G7" fmla="*/ G6 2 1"/>
              <a:gd name="G8" fmla="abs 1179648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56"/>
              <a:gd name="G18" fmla="*/ 56 1 2"/>
              <a:gd name="G19" fmla="+- G18 5400 0"/>
              <a:gd name="G20" fmla="cos G19 11796480"/>
              <a:gd name="G21" fmla="sin G19 11796480"/>
              <a:gd name="G22" fmla="+- G20 10800 0"/>
              <a:gd name="G23" fmla="+- G21 10800 0"/>
              <a:gd name="G24" fmla="+- 10800 0 G20"/>
              <a:gd name="G25" fmla="+- 56 10800 0"/>
              <a:gd name="G26" fmla="?: G9 G17 G25"/>
              <a:gd name="G27" fmla="?: G9 0 21600"/>
              <a:gd name="G28" fmla="cos 10800 11796480"/>
              <a:gd name="G29" fmla="sin 10800 11796480"/>
              <a:gd name="G30" fmla="sin 56 11796480"/>
              <a:gd name="G31" fmla="+- G28 10800 0"/>
              <a:gd name="G32" fmla="+- G29 10800 0"/>
              <a:gd name="G33" fmla="+- G30 10800 0"/>
              <a:gd name="G34" fmla="?: G4 0 G31"/>
              <a:gd name="G35" fmla="?: 11796480 G34 0"/>
              <a:gd name="G36" fmla="?: G6 G35 G31"/>
              <a:gd name="G37" fmla="+- 21600 0 G36"/>
              <a:gd name="G38" fmla="?: G4 0 G33"/>
              <a:gd name="G39" fmla="?: 1179648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5372 w 21600"/>
              <a:gd name="T15" fmla="*/ 10800 h 21600"/>
              <a:gd name="T16" fmla="*/ 10800 w 21600"/>
              <a:gd name="T17" fmla="*/ 10744 h 21600"/>
              <a:gd name="T18" fmla="*/ 16228 w 21600"/>
              <a:gd name="T19" fmla="*/ 10800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gradFill rotWithShape="1">
            <a:gsLst>
              <a:gs pos="0">
                <a:srgbClr val="6699FF">
                  <a:alpha val="56000"/>
                </a:srgbClr>
              </a:gs>
              <a:gs pos="100000">
                <a:srgbClr val="6699FF">
                  <a:gamma/>
                  <a:tint val="0"/>
                  <a:invGamma/>
                  <a:alpha val="48000"/>
                </a:srgbClr>
              </a:gs>
            </a:gsLst>
            <a:lin ang="540000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163794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AutoShape 50"/>
          <p:cNvSpPr>
            <a:spLocks noChangeArrowheads="1"/>
          </p:cNvSpPr>
          <p:nvPr/>
        </p:nvSpPr>
        <p:spPr bwMode="gray">
          <a:xfrm>
            <a:off x="2275205" y="4648200"/>
            <a:ext cx="5123815" cy="647065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C0C0C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800">
                <a:sym typeface="+mn-ea"/>
              </a:rPr>
              <a:t>线性分组码的译码</a:t>
            </a:r>
            <a:r>
              <a:rPr lang="zh-CN" altLang="en-US" sz="2800">
                <a:sym typeface="+mn-ea"/>
              </a:rPr>
              <a:t>方法</a:t>
            </a:r>
            <a:endParaRPr lang="zh-CN" altLang="en-US" sz="2800">
              <a:sym typeface="+mn-ea"/>
            </a:endParaRPr>
          </a:p>
        </p:txBody>
      </p:sp>
      <p:sp>
        <p:nvSpPr>
          <p:cNvPr id="10" name="AutoShape 51"/>
          <p:cNvSpPr>
            <a:spLocks noChangeArrowheads="1"/>
          </p:cNvSpPr>
          <p:nvPr/>
        </p:nvSpPr>
        <p:spPr bwMode="gray">
          <a:xfrm>
            <a:off x="2438400" y="3352800"/>
            <a:ext cx="5486400" cy="6985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C0C0C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800" dirty="0">
                <a:sym typeface="+mn-ea"/>
              </a:rPr>
              <a:t>生成矩阵、汉明距离、汉明</a:t>
            </a:r>
            <a:r>
              <a:rPr lang="zh-CN" altLang="en-US" sz="2800" dirty="0">
                <a:sym typeface="+mn-ea"/>
              </a:rPr>
              <a:t>重量</a:t>
            </a:r>
            <a:endParaRPr lang="zh-CN" altLang="en-US" sz="2800" dirty="0">
              <a:sym typeface="+mn-ea"/>
            </a:endParaRPr>
          </a:p>
        </p:txBody>
      </p:sp>
      <p:sp>
        <p:nvSpPr>
          <p:cNvPr id="11" name="AutoShape 52"/>
          <p:cNvSpPr>
            <a:spLocks noChangeArrowheads="1"/>
          </p:cNvSpPr>
          <p:nvPr/>
        </p:nvSpPr>
        <p:spPr bwMode="gray">
          <a:xfrm>
            <a:off x="2057400" y="2045970"/>
            <a:ext cx="5478780" cy="675005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C0C0C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i="0" u="none" strike="noStrike" cap="none" spc="0" normalizeH="0" baseline="0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线性分组码、线性系统分组码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202" name="Group 53"/>
          <p:cNvGrpSpPr/>
          <p:nvPr/>
        </p:nvGrpSpPr>
        <p:grpSpPr>
          <a:xfrm>
            <a:off x="1692275" y="2225358"/>
            <a:ext cx="381000" cy="381000"/>
            <a:chOff x="2078" y="1680"/>
            <a:chExt cx="1615" cy="1615"/>
          </a:xfrm>
        </p:grpSpPr>
        <p:sp>
          <p:nvSpPr>
            <p:cNvPr id="13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Oval 55"/>
            <p:cNvSpPr>
              <a:spLocks noChangeArrowheads="1"/>
            </p:cNvSpPr>
            <p:nvPr/>
          </p:nvSpPr>
          <p:spPr bwMode="gray">
            <a:xfrm>
              <a:off x="2172" y="1774"/>
              <a:ext cx="1427" cy="1427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Oval 56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rgbClr val="6699FF">
                    <a:gamma/>
                    <a:tint val="0"/>
                    <a:invGamma/>
                  </a:srgbClr>
                </a:gs>
                <a:gs pos="50000">
                  <a:srgbClr val="6699FF"/>
                </a:gs>
                <a:gs pos="100000">
                  <a:srgbClr val="6699FF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Oval 57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rgbClr val="FFCC00">
                    <a:gamma/>
                    <a:shade val="0"/>
                    <a:invGamma/>
                  </a:srgbClr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Oval 58"/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rgbClr val="6699FF">
                    <a:gamma/>
                    <a:shade val="54118"/>
                    <a:invGamma/>
                  </a:srgbClr>
                </a:gs>
                <a:gs pos="50000">
                  <a:srgbClr val="6699FF"/>
                </a:gs>
                <a:gs pos="100000">
                  <a:srgbClr val="6699FF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Oval 59"/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00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203" name="Group 60"/>
          <p:cNvGrpSpPr/>
          <p:nvPr/>
        </p:nvGrpSpPr>
        <p:grpSpPr>
          <a:xfrm>
            <a:off x="2117725" y="3444558"/>
            <a:ext cx="381000" cy="381000"/>
            <a:chOff x="2078" y="1680"/>
            <a:chExt cx="1615" cy="1615"/>
          </a:xfrm>
        </p:grpSpPr>
        <p:sp>
          <p:nvSpPr>
            <p:cNvPr id="20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Oval 62"/>
            <p:cNvSpPr>
              <a:spLocks noChangeArrowheads="1"/>
            </p:cNvSpPr>
            <p:nvPr/>
          </p:nvSpPr>
          <p:spPr bwMode="gray">
            <a:xfrm>
              <a:off x="2172" y="1774"/>
              <a:ext cx="1427" cy="1427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Oval 6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rgbClr val="6699FF">
                    <a:gamma/>
                    <a:tint val="0"/>
                    <a:invGamma/>
                  </a:srgbClr>
                </a:gs>
                <a:gs pos="50000">
                  <a:srgbClr val="6699FF"/>
                </a:gs>
                <a:gs pos="100000">
                  <a:srgbClr val="6699FF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Oval 64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rgbClr val="48BE67">
                    <a:gamma/>
                    <a:shade val="0"/>
                    <a:invGamma/>
                  </a:srgbClr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Oval 65"/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rgbClr val="6699FF">
                    <a:gamma/>
                    <a:shade val="54118"/>
                    <a:invGamma/>
                  </a:srgbClr>
                </a:gs>
                <a:gs pos="50000">
                  <a:srgbClr val="6699FF"/>
                </a:gs>
                <a:gs pos="100000">
                  <a:srgbClr val="6699FF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Oval 66"/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48BE67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204" name="Group 67"/>
          <p:cNvGrpSpPr/>
          <p:nvPr/>
        </p:nvGrpSpPr>
        <p:grpSpPr>
          <a:xfrm>
            <a:off x="1903730" y="4816158"/>
            <a:ext cx="381000" cy="381000"/>
            <a:chOff x="2078" y="1680"/>
            <a:chExt cx="1615" cy="1615"/>
          </a:xfrm>
        </p:grpSpPr>
        <p:sp>
          <p:nvSpPr>
            <p:cNvPr id="27" name="Oval 6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Oval 69"/>
            <p:cNvSpPr>
              <a:spLocks noChangeArrowheads="1"/>
            </p:cNvSpPr>
            <p:nvPr/>
          </p:nvSpPr>
          <p:spPr bwMode="gray">
            <a:xfrm>
              <a:off x="2172" y="1774"/>
              <a:ext cx="1427" cy="1427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Oval 7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rgbClr val="6699FF">
                    <a:gamma/>
                    <a:tint val="0"/>
                    <a:invGamma/>
                  </a:srgbClr>
                </a:gs>
                <a:gs pos="50000">
                  <a:srgbClr val="6699FF"/>
                </a:gs>
                <a:gs pos="100000">
                  <a:srgbClr val="6699FF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Oval 71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Oval 72"/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rgbClr val="6699FF">
                    <a:gamma/>
                    <a:shade val="54118"/>
                    <a:invGamma/>
                  </a:srgbClr>
                </a:gs>
                <a:gs pos="50000">
                  <a:srgbClr val="6699FF"/>
                </a:gs>
                <a:gs pos="100000">
                  <a:srgbClr val="6699FF">
                    <a:gamma/>
                    <a:shade val="54118"/>
                    <a:invGamma/>
                  </a:srgb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Oval 73"/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6379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课堂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思政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122" name="文本占位符 120834"/>
          <p:cNvSpPr>
            <a:spLocks noGrp="1" noRot="1"/>
          </p:cNvSpPr>
          <p:nvPr>
            <p:ph idx="1"/>
          </p:nvPr>
        </p:nvSpPr>
        <p:spPr>
          <a:xfrm>
            <a:off x="477520" y="5602605"/>
            <a:ext cx="8271510" cy="869315"/>
          </a:xfrm>
        </p:spPr>
        <p:txBody>
          <a:bodyPr anchor="t" anchorCtr="0"/>
          <a:p>
            <a:pPr marL="0" indent="5080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b="1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数学是一种有趣的智力运动，但不允许它阻挡获取关于物理过程的有用信息</a:t>
            </a:r>
            <a:r>
              <a:rPr lang="zh-CN" altLang="en-US" sz="20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。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————Richard W. Hamming</a:t>
            </a:r>
            <a:endParaRPr lang="en-US" altLang="zh-CN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510540" y="1143000"/>
          <a:ext cx="2071370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206500" imgH="1581150" progId="Paint.Picture">
                  <p:embed/>
                </p:oleObj>
              </mc:Choice>
              <mc:Fallback>
                <p:oleObj name="" r:id="rId1" imgW="1206500" imgH="1581150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0540" y="1143000"/>
                        <a:ext cx="2071370" cy="247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41930" y="975360"/>
            <a:ext cx="6062345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08000" algn="just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1986年3月7日，</a:t>
            </a:r>
            <a:r>
              <a:rPr lang="zh-CN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汉明</a:t>
            </a: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在贝尔通信研究中心给200</a:t>
            </a:r>
            <a:r>
              <a:rPr sz="2000">
                <a:sym typeface="+mn-ea"/>
              </a:rPr>
              <a:t>多名科学家们，做了一次演讲，题目</a:t>
            </a:r>
            <a:r>
              <a:rPr lang="en-US" sz="2000">
                <a:sym typeface="+mn-ea"/>
              </a:rPr>
              <a:t>:</a:t>
            </a:r>
            <a:r>
              <a:rPr sz="2000">
                <a:sym typeface="+mn-ea"/>
              </a:rPr>
              <a:t>《你和你的研究》。他试图回答下面这样一个问题：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</a:t>
            </a:r>
            <a:r>
              <a:rPr sz="2000" b="1">
                <a:solidFill>
                  <a:srgbClr val="0070C0"/>
                </a:solidFill>
                <a:sym typeface="+mn-ea"/>
              </a:rPr>
              <a:t>为什么有的科学家做出了影响深远的重大成果，而大多数其他人的成果都被历史遗忘了？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</a:t>
            </a:r>
            <a:r>
              <a:rPr sz="2000">
                <a:sym typeface="+mn-ea"/>
              </a:rPr>
              <a:t>这篇演讲非常有名，每一个从事创造性工作的人，都应该读一下。</a:t>
            </a:r>
            <a:endParaRPr sz="20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0" y="3785870"/>
            <a:ext cx="387794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要有做大事的想法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年轻的时候就要有勇气追求答案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忍受不确定的状态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比别人多努力10%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全力投入重要的问题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33925" y="3509010"/>
            <a:ext cx="426021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敞开办公室大门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做可以成为他人基石的工作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重视推销和表达自己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阅读方法比数量更重要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重视写书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l"/>
            <a:r>
              <a:rPr sz="2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远见超出你的能力时，才去做管理</a:t>
            </a:r>
            <a:endParaRPr sz="20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分组码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1666875" y="1196975"/>
            <a:ext cx="5885815" cy="82232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96440" y="1374775"/>
            <a:ext cx="53708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分组码：将消息序列分组进行编码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4435" y="2420620"/>
            <a:ext cx="65189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每组消息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有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个信息位，共有2</a:t>
            </a:r>
            <a:r>
              <a:rPr sz="2400" i="1" baseline="300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个不同的消息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381000" y="3218815"/>
            <a:ext cx="8394065" cy="140271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3431540"/>
            <a:ext cx="806831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码字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：编码器按照一定规则将每个输入消息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变换成二元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重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&gt;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，这个二元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重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称作消息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的码字或码矢。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20570" y="4994910"/>
            <a:ext cx="55067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所有2</a:t>
            </a:r>
            <a:r>
              <a:rPr sz="2400" i="1" baseline="300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个码字组成的集合称作是分组码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10690" y="5711190"/>
            <a:ext cx="6113780" cy="5702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73580" y="5737860"/>
            <a:ext cx="57372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buSzPct val="65000"/>
            </a:pPr>
            <a:r>
              <a:rPr sz="20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思考题：</a:t>
            </a:r>
            <a:r>
              <a:rPr lang="zh-CN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为什么在分组码中码字的个数是</a:t>
            </a:r>
            <a:r>
              <a:rPr sz="20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sz="2000" i="1" baseline="300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sz="20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</a:t>
            </a:r>
            <a:r>
              <a:rPr 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en-US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线性分组码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96440" y="1072515"/>
            <a:ext cx="51295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zh-CN"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即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具有线性性质的分组码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526415" y="2387600"/>
            <a:ext cx="3714750" cy="306895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8655" y="2449195"/>
            <a:ext cx="3322955" cy="2968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定义：长为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有2</a:t>
            </a:r>
            <a:r>
              <a:rPr sz="2400" i="1" baseline="300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个码字的分组码，当且仅当其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sz="2400" i="1" baseline="300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个码字构成GF(2)上所有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重矢量空间的一个</a:t>
            </a:r>
            <a:r>
              <a:rPr sz="2400" i="1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维子空间时，称作</a:t>
            </a:r>
            <a:r>
              <a:rPr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线性(</a:t>
            </a:r>
            <a:r>
              <a:rPr sz="2400" i="1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sz="2400" i="1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)分组码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3" name="内容占位符 2"/>
          <p:cNvGraphicFramePr/>
          <p:nvPr>
            <p:ph idx="1"/>
            <p:custDataLst>
              <p:tags r:id="rId1"/>
            </p:custDataLst>
          </p:nvPr>
        </p:nvGraphicFramePr>
        <p:xfrm>
          <a:off x="4983480" y="2072640"/>
          <a:ext cx="3620770" cy="4260850"/>
        </p:xfrm>
        <a:graphic>
          <a:graphicData uri="http://schemas.openxmlformats.org/drawingml/2006/table">
            <a:tbl>
              <a:tblPr/>
              <a:tblGrid>
                <a:gridCol w="1810385"/>
                <a:gridCol w="1810385"/>
              </a:tblGrid>
              <a:tr h="426085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Char char="v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message</a:t>
                      </a:r>
                      <a:endParaRPr lang="en-US" altLang="zh-CN" sz="1400" b="1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0 0 0 0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1 0 0 0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0 1 0 0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1 1 0 0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0 0 1 0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1 0 1 0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0 1 1 0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1 1 1 0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0 0 0 1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1 0 0 1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0 1 0 1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1 1 0 1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0 0 1 1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0 1 1 1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1 1 1 1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Char char="v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Code words</a:t>
                      </a:r>
                      <a:endParaRPr lang="en-US" altLang="zh-CN" sz="1400" b="1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0 0 0 0 0 0 0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1 1 0 1 0 0 0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0 1 1 0 1 0 0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1 0 1 1 1 0 0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1 1 1 0 0 1 0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0 0 1 1 0 1 0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1 0 0 0 1 1 0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0 1 0 1 1 1 0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1 0 1 0 0 0 1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0 1 1 1 0 0 1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1 1 0 0 1 0 1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0 0 0 1 1 0 1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0 1 0 0 0 1 1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0 0 1 0 1 1 1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1 1 1 1 1 1 1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1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327650" y="1724025"/>
            <a:ext cx="30753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6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表</a:t>
            </a:r>
            <a:r>
              <a:rPr lang="en-US" altLang="zh-CN" sz="16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 </a:t>
            </a:r>
            <a:r>
              <a:rPr lang="zh-CN" altLang="en-US" sz="16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一个</a:t>
            </a:r>
            <a:r>
              <a:rPr lang="en-US" altLang="zh-CN" sz="16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(7,4)线性分组码</a:t>
            </a:r>
            <a:r>
              <a:rPr lang="zh-CN" altLang="en-US" sz="16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的例子</a:t>
            </a:r>
            <a:endParaRPr lang="zh-CN" altLang="en-US" sz="16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生成矩阵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3905" y="1673860"/>
            <a:ext cx="7779385" cy="1714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∵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分组码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是一个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维子空间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∴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在码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中能找到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个线性独立的码字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使得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中的每个码字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都是这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个码字的一种线性组合，即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		   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+…+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endParaRPr lang="en-US" altLang="zh-CN" sz="2400" baseline="-250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381000" y="3521075"/>
            <a:ext cx="8394065" cy="274066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3658235"/>
            <a:ext cx="806831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生成矩阵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将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个线性独立的码字作为行，得到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sym typeface="+mn-ea"/>
              </a:rPr>
              <a:t>×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阶矩阵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61820" y="1026160"/>
            <a:ext cx="5298440" cy="5702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049145" y="1052830"/>
            <a:ext cx="49898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buSzPct val="65000"/>
            </a:pPr>
            <a:r>
              <a:rPr sz="20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思考题：</a:t>
            </a:r>
            <a:r>
              <a:rPr lang="zh-CN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在线性分组码中，如何</a:t>
            </a:r>
            <a:r>
              <a:rPr lang="zh-CN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进行编码</a:t>
            </a:r>
            <a:r>
              <a:rPr 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en-US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12950" y="4229735"/>
          <a:ext cx="4413250" cy="184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501900" imgH="939800" progId="Equation.KSEE3">
                  <p:embed/>
                </p:oleObj>
              </mc:Choice>
              <mc:Fallback>
                <p:oleObj name="" r:id="rId1" imgW="2501900" imgH="939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12950" y="4229735"/>
                        <a:ext cx="4413250" cy="184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362065" y="2562860"/>
            <a:ext cx="1641475" cy="12509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2525" y="104775"/>
            <a:ext cx="39147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一致校验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监督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)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矩阵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160" y="918210"/>
            <a:ext cx="5116195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∵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线性码有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个校验码元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∴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必须有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个独立的线性方程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381000" y="2119630"/>
            <a:ext cx="5035550" cy="249237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7510" y="2146935"/>
            <a:ext cx="511556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zh-CN"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校验矩阵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该矩阵由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行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列组成，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即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48753" y="2680970"/>
          <a:ext cx="3024505" cy="184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" imgW="1714500" imgH="939800" progId="Equation.KSEE3">
                  <p:embed/>
                </p:oleObj>
              </mc:Choice>
              <mc:Fallback>
                <p:oleObj name="" r:id="rId1" imgW="1714500" imgH="939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8753" y="2680970"/>
                        <a:ext cx="3024505" cy="184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407660" y="1355725"/>
            <a:ext cx="28498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∵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iG,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∴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GH</a:t>
            </a:r>
            <a:r>
              <a:rPr lang="en-US" sz="2400" i="1" baseline="30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=0</a:t>
            </a:r>
            <a:endParaRPr 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78450" y="900430"/>
            <a:ext cx="354647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对于任一码字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有</a:t>
            </a:r>
            <a:r>
              <a:rPr lang="en-US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cH</a:t>
            </a:r>
            <a:r>
              <a:rPr lang="en-US" sz="2400" i="1" baseline="30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=0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14490" y="2689860"/>
            <a:ext cx="114109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cH</a:t>
            </a:r>
            <a:r>
              <a:rPr lang="en-US" sz="2400" i="1" baseline="30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=0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68135" y="3220720"/>
            <a:ext cx="121539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GH</a:t>
            </a:r>
            <a:r>
              <a:rPr lang="en-US" sz="2400" i="1" baseline="30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=0</a:t>
            </a:r>
            <a:endParaRPr 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44550" y="5276850"/>
            <a:ext cx="785304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一致校验矩阵的标准形式：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经过初等变换，得到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=[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]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698500" y="5118100"/>
            <a:ext cx="7932420" cy="788035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线性系统分组码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834390" y="1027430"/>
            <a:ext cx="7576185" cy="128206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2030" y="1164590"/>
            <a:ext cx="726757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zh-CN"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若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的生成矩阵形如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=[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]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或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=[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]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，此时称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为线性系统分组码。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1805" y="2666365"/>
          <a:ext cx="8272145" cy="229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4648200" imgH="1168400" progId="Equation.KSEE3">
                  <p:embed/>
                </p:oleObj>
              </mc:Choice>
              <mc:Fallback>
                <p:oleObj name="" r:id="rId1" imgW="4648200" imgH="1168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1805" y="2666365"/>
                        <a:ext cx="8272145" cy="229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8145" y="5296535"/>
            <a:ext cx="834580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此时，如果用任意消息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u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同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做乘法，就会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发现每个码字都可以被分成两个部分：消息部分和冗余部分。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25450" y="5474970"/>
            <a:ext cx="847979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上面两个式子正好反映系统的组成特性，最后这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个方程称为码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一致校验方程。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23415" y="4885055"/>
            <a:ext cx="5298440" cy="59817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一致校验方程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6700" y="1371600"/>
          <a:ext cx="8611235" cy="229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4838700" imgH="1168400" progId="Equation.KSEE3">
                  <p:embed/>
                </p:oleObj>
              </mc:Choice>
              <mc:Fallback>
                <p:oleObj name="" r:id="rId1" imgW="4838700" imgH="1168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700" y="1371600"/>
                        <a:ext cx="8611235" cy="229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66700" y="3785235"/>
            <a:ext cx="861123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对应于消息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的码字是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en-US" sz="2400" i="1" err="1">
                <a:sym typeface="+mn-ea"/>
              </a:rPr>
              <a:t>·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，即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3220" y="909320"/>
            <a:ext cx="31172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对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于线性系统分组码</a:t>
            </a:r>
            <a:endParaRPr lang="zh-CN"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5145" y="4290060"/>
            <a:ext cx="847979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 		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n-k+i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0</a:t>
            </a:r>
            <a:r>
              <a:rPr lang="en-US" altLang="zh-CN" sz="2400">
                <a:sym typeface="+mn-ea"/>
              </a:rPr>
              <a:t>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>
                <a:sym typeface="+mn-ea"/>
              </a:rPr>
              <a:t>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endParaRPr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		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+…+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0</a:t>
            </a:r>
            <a:r>
              <a:rPr lang="en-US" altLang="zh-CN" sz="2400">
                <a:sym typeface="+mn-ea"/>
              </a:rPr>
              <a:t>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en-US" altLang="zh-CN" sz="2400">
                <a:sym typeface="+mn-ea"/>
              </a:rPr>
              <a:t>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n-k-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      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710565" y="3382010"/>
            <a:ext cx="7797800" cy="11963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61695" y="3510280"/>
            <a:ext cx="734949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是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中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的一个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维子空间，则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的对偶空间的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维数是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对偶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291465" y="1178560"/>
            <a:ext cx="8509635" cy="174752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2275" y="1315720"/>
            <a:ext cx="8256270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</a:t>
            </a:r>
            <a:r>
              <a:rPr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是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维子空间，并令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是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中这样矢量的集合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，即对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中的任意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中的任意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，有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en-US" sz="2400" err="1">
                <a:latin typeface="Times New Roman" panose="02020603050405020304" pitchFamily="18" charset="0"/>
                <a:sym typeface="+mn-ea"/>
              </a:rPr>
              <a:t>·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，则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也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是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一个子空间，它称为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对偶空间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或零化空间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342900" y="5083810"/>
            <a:ext cx="8509635" cy="110299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3710" y="5145405"/>
            <a:ext cx="825627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对偶码：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以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为生成矩阵得到的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n,n-k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码称为码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的对偶码，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记为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i="1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6782435" y="3572510"/>
            <a:ext cx="1050290" cy="20574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786255" y="3717925"/>
            <a:ext cx="1371600" cy="1612265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25450" y="1092200"/>
            <a:ext cx="847979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若码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的生成矩阵具有系统形式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=[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]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或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[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]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，则其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一致校验矩阵形如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=[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P</a:t>
            </a:r>
            <a:r>
              <a:rPr lang="en-US" altLang="zh-CN" sz="2400" i="1" baseline="30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]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或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=[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2400" i="1" baseline="30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]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。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12995" y="104775"/>
            <a:ext cx="39643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系统码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的一致校验矩阵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8568" y="3698875"/>
          <a:ext cx="6690360" cy="179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3759200" imgH="914400" progId="Equation.KSEE3">
                  <p:embed/>
                </p:oleObj>
              </mc:Choice>
              <mc:Fallback>
                <p:oleObj name="" r:id="rId1" imgW="3759200" imgH="914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38568" y="3698875"/>
                        <a:ext cx="6690360" cy="1794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75335" y="2428240"/>
            <a:ext cx="784034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举例：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某个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(7,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)系统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线性码的生成矩阵和一致校验矩阵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3276600" y="3216275"/>
            <a:ext cx="20320" cy="2626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6652895" y="3216275"/>
            <a:ext cx="20320" cy="2626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912620" y="5904230"/>
            <a:ext cx="610044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有的书中把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=[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]</a:t>
            </a:r>
            <a:r>
              <a:rPr 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称为标准型生成矩阵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。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14" grpId="0" bldLvl="0" animBg="1"/>
      <p:bldP spid="1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伴随式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2820" y="865505"/>
            <a:ext cx="7653655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3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设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的生成矩阵为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，其校验矩阵为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endParaRPr lang="zh-CN" altLang="en-US" sz="2400" i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just" defTabSz="914400">
              <a:lnSpc>
                <a:spcPct val="13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是经有扰信道传送的码字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just" defTabSz="914400">
              <a:lnSpc>
                <a:spcPct val="13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是信道输出端的接收矢量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just" defTabSz="914400">
              <a:lnSpc>
                <a:spcPct val="13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称矢量和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v+r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错误矢量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5765" y="4989830"/>
            <a:ext cx="830961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当且仅当是一个码字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即无传输错误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时有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=0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，否则错误矢量本身就是一个码字，此时出现了不可检错误。只要码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设计适当，就几乎不会出现不可检错误。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428750" y="3046095"/>
            <a:ext cx="6455410" cy="174752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55750" y="3129280"/>
            <a:ext cx="624395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伴随式：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当接收到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后，译码器计算下述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重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30000"/>
              </a:lnSpc>
            </a:pP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96310" y="3634105"/>
            <a:ext cx="333756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en-US" sz="2400" i="1" err="1">
                <a:latin typeface="Times New Roman" panose="02020603050405020304" pitchFamily="18" charset="0"/>
                <a:sym typeface="+mn-ea"/>
              </a:rPr>
              <a:t>·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400" i="1" baseline="30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83205" y="4126230"/>
            <a:ext cx="3358515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则称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的伴随式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伴随式纠错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9330" y="865505"/>
            <a:ext cx="38227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根据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伴随式定义， 我们有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00" y="4612005"/>
            <a:ext cx="8309610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可以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看出，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伴随式是错误图样的组合，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即伴随式包含了一定程度的错误图样信息，因而可以用来纠错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——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伴随式纠错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61540" y="1367155"/>
            <a:ext cx="473075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en-US" sz="2400" i="1" err="1">
                <a:latin typeface="Times New Roman" panose="02020603050405020304" pitchFamily="18" charset="0"/>
                <a:sym typeface="+mn-ea"/>
              </a:rPr>
              <a:t>·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400" i="1" baseline="30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v+e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en-US" altLang="en-US" sz="2400" i="1" err="1">
                <a:latin typeface="Times New Roman" panose="02020603050405020304" pitchFamily="18" charset="0"/>
                <a:sym typeface="+mn-ea"/>
              </a:rPr>
              <a:t>·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en-US" sz="2400" i="1" err="1">
                <a:latin typeface="Times New Roman" panose="02020603050405020304" pitchFamily="18" charset="0"/>
                <a:sym typeface="+mn-ea"/>
              </a:rPr>
              <a:t>·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+e</a:t>
            </a:r>
            <a:r>
              <a:rPr lang="en-US" altLang="en-US" sz="2400" i="1" err="1">
                <a:latin typeface="Times New Roman" panose="02020603050405020304" pitchFamily="18" charset="0"/>
                <a:sym typeface="+mn-ea"/>
              </a:rPr>
              <a:t>·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en-US" sz="2400" i="1" err="1">
                <a:latin typeface="Times New Roman" panose="02020603050405020304" pitchFamily="18" charset="0"/>
                <a:sym typeface="+mn-ea"/>
              </a:rPr>
              <a:t>·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69645" y="1859280"/>
            <a:ext cx="2983865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展开后，可以得到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47800" y="2477453"/>
          <a:ext cx="637476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3581400" imgH="965200" progId="Equation.KSEE3">
                  <p:embed/>
                </p:oleObj>
              </mc:Choice>
              <mc:Fallback>
                <p:oleObj name="" r:id="rId1" imgW="3581400" imgH="965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7800" y="2477453"/>
                        <a:ext cx="637476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伴随式纠错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00" y="909320"/>
            <a:ext cx="8474075" cy="2968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上述方程有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i="1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个解，即对同一个伴随式，存在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i="1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个可能的错误图样，因此，上述方程虽然包含错误图样的信息，但是实际应用起来纠错困难。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实际中的纠错，都是如何有效地从这些错误图样中选取真正的错误图样，从而得到正确的发送矢量。对于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BSC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信道，最可能的错误图样是非零数字最少的那个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伴随式纠错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00" y="909320"/>
            <a:ext cx="847407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08000" algn="just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考虑某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(7,3)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码，该码的生成矩阵</a:t>
            </a:r>
            <a:r>
              <a:rPr lang="en-US" altLang="zh-CN" sz="20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0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0200" y="3378835"/>
            <a:ext cx="8474075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08000" algn="just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令</a:t>
            </a:r>
            <a:r>
              <a:rPr lang="en-US" altLang="zh-CN" sz="20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u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=(101),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=(1001101)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是发送码字，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=(0001101)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是接收矢量，收到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后首先计算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en-US" sz="2000" i="1" err="1">
                <a:latin typeface="Times New Roman" panose="02020603050405020304" pitchFamily="18" charset="0"/>
                <a:sym typeface="+mn-ea"/>
              </a:rPr>
              <a:t>·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0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000" i="1" baseline="30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=(1000)</a:t>
            </a:r>
            <a:r>
              <a:rPr lang="en-US" altLang="zh-CN" sz="2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≠0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，由伴随式和错误图样的关系方程有：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1=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5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6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0=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4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6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0=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4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5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6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0=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4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5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则得到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000" baseline="30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=8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个错误图样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(1000000), (1010111), (1101011), ... ...,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其中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1000000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是非零分量最少的图样，考虑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BSC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信道，则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1000000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是最为可能的错误矢量，因而确定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0001101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)+ (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1000000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)=(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1001101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endParaRPr lang="en-US" altLang="zh-CN" sz="200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18883" y="1524000"/>
          <a:ext cx="6690360" cy="179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" imgW="3759200" imgH="914400" progId="Equation.KSEE3">
                  <p:embed/>
                </p:oleObj>
              </mc:Choice>
              <mc:Fallback>
                <p:oleObj name="" r:id="rId1" imgW="3759200" imgH="914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8883" y="1524000"/>
                        <a:ext cx="6690360" cy="1794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汉明重量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342900" y="1381125"/>
            <a:ext cx="8509635" cy="110299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3710" y="1442720"/>
            <a:ext cx="825627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汉明重量：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是二元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重，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的汉明重量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	     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定义为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中非零分量的个数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394335" y="4379595"/>
            <a:ext cx="8509635" cy="160147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5145" y="4441190"/>
            <a:ext cx="825627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重量分布：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对于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码长为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一个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分组码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不同的码字可能具有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相同的汉明重量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若记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为该码中汉明重量为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 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码字个数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称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{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}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是该码的重量分布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6460" y="2806065"/>
            <a:ext cx="760095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举例：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设有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两个码字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{0100,1111}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则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它们的汉明重量为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(0100)=1,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(1111)=4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汉明距离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342900" y="1154430"/>
            <a:ext cx="8509635" cy="120205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9275" y="1216025"/>
            <a:ext cx="8256270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定义：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是两个二元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重，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则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之间的汉明距离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定义为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u+v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的汉明重量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6460" y="2503805"/>
            <a:ext cx="760095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举例：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设有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两个码字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{0100,1111}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则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它们的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汉明距离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(0100, 1111)=3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57045" y="3810000"/>
            <a:ext cx="6217285" cy="26155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09445" y="3962400"/>
            <a:ext cx="5999480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汉明距离的性质：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lvl="1" algn="just"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1)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非负性，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en-US" altLang="en-US" sz="2400">
                <a:sym typeface="+mn-ea"/>
              </a:rPr>
              <a:t>≥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；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lvl="1" algn="just"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2)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)=0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，当且仅当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的时候；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lvl="1" algn="just"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3)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对称性：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 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；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lvl="1" algn="just"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4)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三角不等式：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en-US" altLang="en-US" sz="2400" err="1">
                <a:latin typeface="Times New Roman" panose="02020603050405020304" pitchFamily="18" charset="0"/>
                <a:sym typeface="+mn-ea"/>
              </a:rPr>
              <a:t>≥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距离分布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342900" y="1154430"/>
            <a:ext cx="8509635" cy="269367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9275" y="1216025"/>
            <a:ext cx="8256270" cy="2489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定义：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在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码中，任意两个码字之间都有一个汉明距离，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两组不同码字之间可能有相同的汉明距离。若记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(0</a:t>
            </a:r>
            <a:r>
              <a:rPr lang="en-US" altLang="en-US" sz="2400">
                <a:sym typeface="+mn-ea"/>
              </a:rPr>
              <a:t>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en-US" sz="2400" i="1">
                <a:sym typeface="+mn-ea"/>
              </a:rPr>
              <a:t>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为距离为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的码字组数，那么称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{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	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}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为此分组码的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距离分布，并且称能够使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i="1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≠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的那个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最小整数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为该码的最小码间距离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69645" y="4050665"/>
            <a:ext cx="660146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特别的，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对于线性分组码，有如下定理：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4770755"/>
            <a:ext cx="7797800" cy="140779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1695" y="4870450"/>
            <a:ext cx="73494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线性码的最小码间距离等于非零码字的最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小汉明重量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纠错和检错能力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6075" y="952500"/>
            <a:ext cx="859155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分组码的最小码间距离是决定该码纠错和检错能力的重要指标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3100" y="1752600"/>
            <a:ext cx="7797800" cy="303974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1695" y="1847850"/>
            <a:ext cx="747014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设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的最小码间距离为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，则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若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en-US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≥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，则码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能检测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个随机错误；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若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en-US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≥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+1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，则码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能纠正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个随机错误；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若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en-US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≥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t+e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，则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能纠正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 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en-US" sz="2400" i="1" err="1">
                <a:sym typeface="+mn-ea"/>
              </a:rPr>
              <a:t>≤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个随机错误，同时还能检测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随机错误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6625" y="5257800"/>
            <a:ext cx="7274560" cy="90995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16965" y="5284470"/>
            <a:ext cx="686054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buSzPct val="65000"/>
            </a:pPr>
            <a:r>
              <a:rPr sz="20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思考题：</a:t>
            </a:r>
            <a:r>
              <a:rPr lang="zh-CN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分组码的最小汉明距离同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该码的纠错和检错能力有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什么关系</a:t>
            </a:r>
            <a:r>
              <a:rPr 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en-US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最大距离可分码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79550" y="2085975"/>
            <a:ext cx="3474085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该定理给出了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的上界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5600" y="1072515"/>
            <a:ext cx="8212455" cy="8280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41680" y="1136650"/>
            <a:ext cx="77711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k,d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*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的最小码间距离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*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满足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*</a:t>
            </a:r>
            <a:r>
              <a:rPr lang="en-US" altLang="en-US" sz="2400">
                <a:sym typeface="+mn-ea"/>
              </a:rPr>
              <a:t>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n-k+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418465" y="3194685"/>
            <a:ext cx="8509635" cy="110299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9275" y="3256280"/>
            <a:ext cx="825627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定义：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若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线性码的最小码间距离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满足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n-k+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，那么称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该码为最大距离可分码，简称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MDS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码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标准阵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2910" y="952500"/>
            <a:ext cx="850709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08000" defTabSz="914400">
              <a:lnSpc>
                <a:spcPct val="13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令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线性码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的所有码字是接收矢量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是一个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重，则按如下的方式构造码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的标准阵：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90800" y="1524000"/>
          <a:ext cx="4346575" cy="192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" imgW="3035300" imgH="1168400" progId="Equation.KSEE3">
                  <p:embed/>
                </p:oleObj>
              </mc:Choice>
              <mc:Fallback>
                <p:oleObj name="" r:id="rId1" imgW="3035300" imgH="1168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0800" y="1524000"/>
                        <a:ext cx="4346575" cy="1920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5510" y="3637280"/>
            <a:ext cx="73183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举例：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考虑码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C={0000,1011,0101,1110}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，对应的标准阵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03905" y="4269105"/>
          <a:ext cx="3281680" cy="155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1663700" imgH="889000" progId="Equation.KSEE3">
                  <p:embed/>
                </p:oleObj>
              </mc:Choice>
              <mc:Fallback>
                <p:oleObj name="" r:id="rId3" imgW="1663700" imgH="8890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3905" y="4269105"/>
                        <a:ext cx="3281680" cy="1551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683385" y="4274820"/>
            <a:ext cx="1527175" cy="398780"/>
            <a:chOff x="2651" y="6732"/>
            <a:chExt cx="2405" cy="628"/>
          </a:xfrm>
        </p:grpSpPr>
        <p:sp>
          <p:nvSpPr>
            <p:cNvPr id="43012" name="右箭头 357381"/>
            <p:cNvSpPr/>
            <p:nvPr/>
          </p:nvSpPr>
          <p:spPr>
            <a:xfrm flipV="1">
              <a:off x="4148" y="6845"/>
              <a:ext cx="908" cy="340"/>
            </a:xfrm>
            <a:prstGeom prst="rightArrow">
              <a:avLst>
                <a:gd name="adj1" fmla="val 50000"/>
                <a:gd name="adj2" fmla="val 6669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14" name="文本框 357383"/>
            <p:cNvSpPr txBox="1"/>
            <p:nvPr/>
          </p:nvSpPr>
          <p:spPr>
            <a:xfrm>
              <a:off x="2651" y="6732"/>
              <a:ext cx="1588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码字</a:t>
              </a:r>
              <a:endPara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770505" y="5833745"/>
            <a:ext cx="1654810" cy="736600"/>
            <a:chOff x="4363" y="9187"/>
            <a:chExt cx="2606" cy="1160"/>
          </a:xfrm>
        </p:grpSpPr>
        <p:sp>
          <p:nvSpPr>
            <p:cNvPr id="43015" name="文本框 357384"/>
            <p:cNvSpPr txBox="1"/>
            <p:nvPr/>
          </p:nvSpPr>
          <p:spPr>
            <a:xfrm>
              <a:off x="4363" y="9719"/>
              <a:ext cx="2607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陪集首</a:t>
              </a:r>
              <a:endPara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" name="上箭头 357382"/>
            <p:cNvSpPr/>
            <p:nvPr/>
          </p:nvSpPr>
          <p:spPr>
            <a:xfrm>
              <a:off x="5379" y="9187"/>
              <a:ext cx="532" cy="431"/>
            </a:xfrm>
            <a:prstGeom prst="upArrow">
              <a:avLst>
                <a:gd name="adj1" fmla="val 50000"/>
                <a:gd name="adj2" fmla="val 62328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标准阵的性质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5600" y="1072515"/>
            <a:ext cx="8212455" cy="194437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3870" y="1136650"/>
            <a:ext cx="802894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性质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同一行中任意两个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重之和为一个码字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性质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在标准阵中，同一行没有两个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重是相同的，每个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重在且仅在一行中出现。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0200" y="3227705"/>
            <a:ext cx="8474075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性质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的证明：</a:t>
            </a:r>
            <a:endParaRPr lang="zh-CN" altLang="en-US" sz="2000" dirty="0">
              <a:ea typeface="黑体" panose="02010609060101010101" pitchFamily="49" charset="-122"/>
              <a:sym typeface="+mn-ea"/>
            </a:endParaRPr>
          </a:p>
          <a:p>
            <a:pPr lvl="1" algn="just">
              <a:lnSpc>
                <a:spcPct val="130000"/>
              </a:lnSpc>
            </a:pP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1) 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假设第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行有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个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重是相同的，如对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en-US" sz="2000" i="1" err="1">
                <a:sym typeface="+mn-ea"/>
              </a:rPr>
              <a:t>≠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有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，即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，这与标准阵的构造相矛盾，故性质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的第一句话得证。</a:t>
            </a:r>
            <a:endParaRPr lang="zh-CN" altLang="en-US" sz="2000" dirty="0">
              <a:ea typeface="黑体" panose="02010609060101010101" pitchFamily="49" charset="-122"/>
              <a:sym typeface="+mn-ea"/>
            </a:endParaRPr>
          </a:p>
          <a:p>
            <a:pPr lvl="1" algn="just">
              <a:lnSpc>
                <a:spcPct val="130000"/>
              </a:lnSpc>
            </a:pP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2) 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首先由定义知每个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重至少出现一次，假设一个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重在第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行和第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行</a:t>
            </a:r>
            <a:r>
              <a:rPr lang="en-US" altLang="zh-CN" sz="2000"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l&lt;m</a:t>
            </a:r>
            <a:r>
              <a:rPr lang="en-US" altLang="zh-CN" sz="2000"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都出现，则必存在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，使得该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重等于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，且存在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，使得该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重等于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，即有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)=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+v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，这意味着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0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在第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行，这与标准阵的构造定义相矛盾。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94930" y="104775"/>
            <a:ext cx="1182370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陪集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267335" y="1078865"/>
            <a:ext cx="8509635" cy="168148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8145" y="1140460"/>
            <a:ext cx="8256270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定义：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标准阵中共有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i="1" baseline="30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行，它们称为码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的陪集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陪集首：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每个陪集中的第一个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重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称为陪集首。陪集中的任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	   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何一个元素都可以作为陪集首，需要做置换操作。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145" y="2925445"/>
            <a:ext cx="8533130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609600" algn="just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对于一个码字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如果信道造成的错误图样是陪集首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则接收矢量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在陪集中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此时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可以将接收矢量正确的译码为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;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否则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若信道造成的错误图样不是陪集首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则会造成错误译码。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6730" y="4775200"/>
            <a:ext cx="8212455" cy="13258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7875" y="4839335"/>
            <a:ext cx="78860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陪集首是可纠正的错误图样，共有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i="1" baseline="30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个可纠正的错误图样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683385" y="3840480"/>
            <a:ext cx="819785" cy="34036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470910" y="3383280"/>
            <a:ext cx="795655" cy="37401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3505200" y="3807460"/>
            <a:ext cx="685800" cy="38100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8090" y="104775"/>
            <a:ext cx="3839210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基于标准阵的译码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方法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267335" y="1078865"/>
            <a:ext cx="8509635" cy="122110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8145" y="1140460"/>
            <a:ext cx="8256270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方法：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如果接收矢量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落在标准阵中的第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行第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列，那么就将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	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译码为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，同时错误图样为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，即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+v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j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05510" y="2635885"/>
            <a:ext cx="73183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举例：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考虑码</a:t>
            </a: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C={0000,1011,0101,1110}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，对应的标准阵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00225" y="3462020"/>
          <a:ext cx="3281680" cy="155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1663700" imgH="889000" progId="Equation.KSEE3">
                  <p:embed/>
                </p:oleObj>
              </mc:Choice>
              <mc:Fallback>
                <p:oleObj name="" r:id="rId1" imgW="1663700" imgH="8890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00225" y="3462020"/>
                        <a:ext cx="3281680" cy="1551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348615" y="3443605"/>
            <a:ext cx="1350645" cy="398586"/>
            <a:chOff x="2651" y="6732"/>
            <a:chExt cx="2405" cy="694"/>
          </a:xfrm>
        </p:grpSpPr>
        <p:sp>
          <p:nvSpPr>
            <p:cNvPr id="43012" name="右箭头 357381"/>
            <p:cNvSpPr/>
            <p:nvPr/>
          </p:nvSpPr>
          <p:spPr>
            <a:xfrm flipV="1">
              <a:off x="4148" y="6845"/>
              <a:ext cx="908" cy="340"/>
            </a:xfrm>
            <a:prstGeom prst="rightArrow">
              <a:avLst>
                <a:gd name="adj1" fmla="val 50000"/>
                <a:gd name="adj2" fmla="val 6669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14" name="文本框 357383"/>
            <p:cNvSpPr txBox="1"/>
            <p:nvPr/>
          </p:nvSpPr>
          <p:spPr>
            <a:xfrm>
              <a:off x="2651" y="6732"/>
              <a:ext cx="1588" cy="6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码字</a:t>
              </a:r>
              <a:endPara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259205" y="5002530"/>
            <a:ext cx="1654810" cy="736600"/>
            <a:chOff x="4363" y="9187"/>
            <a:chExt cx="2606" cy="1160"/>
          </a:xfrm>
        </p:grpSpPr>
        <p:sp>
          <p:nvSpPr>
            <p:cNvPr id="43015" name="文本框 357384"/>
            <p:cNvSpPr txBox="1"/>
            <p:nvPr/>
          </p:nvSpPr>
          <p:spPr>
            <a:xfrm>
              <a:off x="4363" y="9719"/>
              <a:ext cx="2607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陪集首</a:t>
              </a:r>
              <a:endPara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5" name="上箭头 357382"/>
            <p:cNvSpPr/>
            <p:nvPr/>
          </p:nvSpPr>
          <p:spPr>
            <a:xfrm>
              <a:off x="5379" y="9187"/>
              <a:ext cx="532" cy="431"/>
            </a:xfrm>
            <a:prstGeom prst="upArrow">
              <a:avLst>
                <a:gd name="adj1" fmla="val 50000"/>
                <a:gd name="adj2" fmla="val 62328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339715" y="3745230"/>
            <a:ext cx="33147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08000"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如果接收矢量是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1101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endParaRPr lang="en-US" altLang="zh-CN" sz="20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636895" y="4250055"/>
            <a:ext cx="30689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那么估计的码字是</a:t>
            </a: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0101</a:t>
            </a:r>
            <a:r>
              <a:rPr lang="zh-CN" altLang="en-US" sz="20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endParaRPr lang="zh-CN" altLang="en-US" sz="20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12765" y="4754880"/>
            <a:ext cx="30689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错误图样就是</a:t>
            </a:r>
            <a:r>
              <a:rPr lang="en-US" altLang="zh-CN" sz="20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1000</a:t>
            </a:r>
            <a:r>
              <a:rPr lang="zh-CN" altLang="en-US" sz="20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0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8" grpId="1" animBg="1"/>
      <p:bldP spid="20" grpId="0" bldLvl="0" animBg="1"/>
      <p:bldP spid="20" grpId="1" animBg="1"/>
      <p:bldP spid="21" grpId="0" bldLvl="0" animBg="1"/>
      <p:bldP spid="2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8090" y="104775"/>
            <a:ext cx="3839210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最小距离译码方法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267335" y="1078865"/>
            <a:ext cx="8509635" cy="174117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8145" y="1140460"/>
            <a:ext cx="8256270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方法：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对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BSC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信道，为了使译码错误概率最小，可以选择汉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明重量最小的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重做为陪集首，即将接收矢量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译码为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与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的汉明距离最小的那个码字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0680" y="3013710"/>
            <a:ext cx="8347710" cy="3192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举例：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考虑码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={00000,01010,10101,11111}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该码的最小距离是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       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如果传输的码字是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11111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，接收的矢量是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11110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，那么，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	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(11110, 00000)=4,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(11110, 01010)=2,</a:t>
            </a:r>
            <a:endParaRPr lang="en-US" altLang="zh-CN" sz="240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		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(11110, 10101)=3,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(11110, 11111)=1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用最小距离译码方法可以得出传输的码字就是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11111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这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样的结论。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1905" y="104775"/>
            <a:ext cx="506539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基于标准阵的译码方法的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缺点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2780" y="909320"/>
            <a:ext cx="786320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缺点：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当所考虑的码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的值都很大的时候，标准阵列的长度就变得非常的巨大，此时，用标准阵来译码就变得不实用了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0690" y="2990850"/>
            <a:ext cx="6113780" cy="5702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73580" y="3017520"/>
            <a:ext cx="57372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buSzPct val="65000"/>
            </a:pPr>
            <a:r>
              <a:rPr sz="20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思考题：</a:t>
            </a:r>
            <a:r>
              <a:rPr sz="2000">
                <a:latin typeface="Times New Roman" panose="02020603050405020304" pitchFamily="18" charset="0"/>
                <a:ea typeface="黑体" panose="02010609060101010101" pitchFamily="49" charset="-122"/>
              </a:rPr>
              <a:t>有办法来给标准阵降阶么</a:t>
            </a:r>
            <a:r>
              <a:rPr 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en-US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6460" y="3939540"/>
            <a:ext cx="7600950" cy="1641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提示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结合前面计算伴随式的例子，可以知道伴随式比标准阵的长度短很多。因此，可以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用伴随式译码来代替标准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阵译码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方法。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19075" y="963930"/>
            <a:ext cx="8576945" cy="11963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89255" y="1092200"/>
            <a:ext cx="823531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一个陪集的所有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i="1" baseline="30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重有同样的伴随式。不同陪集的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伴随式不同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伴随式译码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8180" y="2428240"/>
            <a:ext cx="52343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buClr>
                <a:schemeClr val="hlink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证明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如果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x,y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属于同一个陪集，那么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ea"/>
            </a:endParaRPr>
          </a:p>
        </p:txBody>
      </p:sp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76600" y="3048000"/>
          <a:ext cx="2321560" cy="2915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" imgW="1079500" imgH="1155700" progId="Equation.KSEE3">
                  <p:embed/>
                </p:oleObj>
              </mc:Choice>
              <mc:Fallback>
                <p:oleObj name="" r:id="rId1" imgW="1079500" imgH="1155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3048000"/>
                        <a:ext cx="2321560" cy="2915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10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伴随式译码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举例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3070" y="765810"/>
            <a:ext cx="830262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举例：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考虑码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C={0000,1011,0101,1110}</a:t>
            </a:r>
            <a:r>
              <a:rPr lang="zh-CN" altLang="en-US" sz="2400" dirty="0">
                <a:sym typeface="+mn-ea"/>
              </a:rPr>
              <a:t>，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对应的标准阵就是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77595" y="1678940"/>
          <a:ext cx="3858260" cy="155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955800" imgH="889000" progId="Equation.KSEE3">
                  <p:embed/>
                </p:oleObj>
              </mc:Choice>
              <mc:Fallback>
                <p:oleObj name="" r:id="rId1" imgW="1955800" imgH="8890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7595" y="1678940"/>
                        <a:ext cx="3858260" cy="1551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右箭头 357381"/>
          <p:cNvSpPr/>
          <p:nvPr/>
        </p:nvSpPr>
        <p:spPr>
          <a:xfrm flipV="1">
            <a:off x="709930" y="1664970"/>
            <a:ext cx="338455" cy="302260"/>
          </a:xfrm>
          <a:prstGeom prst="rightArrow">
            <a:avLst>
              <a:gd name="adj1" fmla="val 50000"/>
              <a:gd name="adj2" fmla="val 6669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4" name="文本框 357383"/>
          <p:cNvSpPr txBox="1"/>
          <p:nvPr/>
        </p:nvSpPr>
        <p:spPr>
          <a:xfrm>
            <a:off x="151130" y="1600200"/>
            <a:ext cx="586740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码字</a:t>
            </a:r>
            <a:endParaRPr lang="zh-CN" altLang="en-US" sz="2000" b="1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79120" y="3188970"/>
            <a:ext cx="1654810" cy="736600"/>
            <a:chOff x="4363" y="9187"/>
            <a:chExt cx="2606" cy="1160"/>
          </a:xfrm>
        </p:grpSpPr>
        <p:sp>
          <p:nvSpPr>
            <p:cNvPr id="43015" name="文本框 357384"/>
            <p:cNvSpPr txBox="1"/>
            <p:nvPr/>
          </p:nvSpPr>
          <p:spPr>
            <a:xfrm>
              <a:off x="4363" y="9719"/>
              <a:ext cx="2607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陪集首</a:t>
              </a:r>
              <a:endPara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" name="上箭头 357382"/>
            <p:cNvSpPr/>
            <p:nvPr/>
          </p:nvSpPr>
          <p:spPr>
            <a:xfrm>
              <a:off x="5379" y="9187"/>
              <a:ext cx="532" cy="431"/>
            </a:xfrm>
            <a:prstGeom prst="upArrow">
              <a:avLst>
                <a:gd name="adj1" fmla="val 50000"/>
                <a:gd name="adj2" fmla="val 62328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879850" y="3240405"/>
            <a:ext cx="1655445" cy="736600"/>
            <a:chOff x="4363" y="9187"/>
            <a:chExt cx="2607" cy="1160"/>
          </a:xfrm>
        </p:grpSpPr>
        <p:sp>
          <p:nvSpPr>
            <p:cNvPr id="13" name="文本框 357384"/>
            <p:cNvSpPr txBox="1"/>
            <p:nvPr/>
          </p:nvSpPr>
          <p:spPr>
            <a:xfrm>
              <a:off x="4363" y="9719"/>
              <a:ext cx="2607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伴随</a:t>
              </a:r>
              <a:r>
                <a:rPr lang="zh-CN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式</a:t>
              </a:r>
              <a:endPara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6" name="上箭头 357382"/>
            <p:cNvSpPr/>
            <p:nvPr/>
          </p:nvSpPr>
          <p:spPr>
            <a:xfrm>
              <a:off x="5379" y="9187"/>
              <a:ext cx="532" cy="431"/>
            </a:xfrm>
            <a:prstGeom prst="upArrow">
              <a:avLst>
                <a:gd name="adj1" fmla="val 50000"/>
                <a:gd name="adj2" fmla="val 62328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algn="ctr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382895" y="1402715"/>
            <a:ext cx="3352800" cy="4225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609600" algn="just"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如果接收矢量是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=(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1101)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，先通过公式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vH</a:t>
            </a:r>
            <a:r>
              <a:rPr lang="en-US" altLang="zh-CN" sz="2400" i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求出伴随式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(11)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，确定对应的陪集首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(1000)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，这就是错误向量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。然后根据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=(1000)+(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1101)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求出传输的码字为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(0101)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10690" y="5711190"/>
            <a:ext cx="6113780" cy="5702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973580" y="5737860"/>
            <a:ext cx="57372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buSzPct val="65000"/>
            </a:pPr>
            <a:r>
              <a:rPr sz="20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思</a:t>
            </a:r>
            <a:r>
              <a:rPr sz="20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+mn-ea"/>
              </a:rPr>
              <a:t>考题</a:t>
            </a: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：</a:t>
            </a:r>
            <a:r>
              <a:rPr sz="2000">
                <a:latin typeface="Times New Roman" panose="02020603050405020304" pitchFamily="18" charset="0"/>
                <a:ea typeface="黑体" panose="02010609060101010101" pitchFamily="49" charset="-122"/>
                <a:cs typeface="+mn-ea"/>
              </a:rPr>
              <a:t>伴随式译码的步骤是什</a:t>
            </a:r>
            <a:r>
              <a:rPr sz="2000">
                <a:latin typeface="Times New Roman" panose="02020603050405020304" pitchFamily="18" charset="0"/>
                <a:ea typeface="黑体" panose="02010609060101010101" pitchFamily="49" charset="-122"/>
              </a:rPr>
              <a:t>么</a:t>
            </a:r>
            <a:r>
              <a:rPr 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en-US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464820" y="4559300"/>
          <a:ext cx="462026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410"/>
                <a:gridCol w="771525"/>
                <a:gridCol w="1020445"/>
                <a:gridCol w="820420"/>
                <a:gridCol w="886460"/>
              </a:tblGrid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0">
                          <a:solidFill>
                            <a:schemeClr val="dk1"/>
                          </a:solidFill>
                        </a:rPr>
                        <a:t>错误图样</a:t>
                      </a: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5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0">
                          <a:solidFill>
                            <a:schemeClr val="dk1"/>
                          </a:solidFill>
                        </a:rPr>
                        <a:t>0000</a:t>
                      </a: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5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0">
                          <a:solidFill>
                            <a:schemeClr val="dk1"/>
                          </a:solidFill>
                        </a:rPr>
                        <a:t>1000</a:t>
                      </a: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5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0">
                          <a:solidFill>
                            <a:schemeClr val="dk1"/>
                          </a:solidFill>
                        </a:rPr>
                        <a:t>0100</a:t>
                      </a: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5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0">
                          <a:solidFill>
                            <a:schemeClr val="dk1"/>
                          </a:solidFill>
                        </a:rPr>
                        <a:t>0010</a:t>
                      </a:r>
                      <a:endParaRPr lang="zh-CN" altLang="en-US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accent5">
                        <a:alpha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伴随</a:t>
                      </a:r>
                      <a:r>
                        <a:rPr lang="zh-CN" altLang="en-US"/>
                        <a:t>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00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11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01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10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260600" y="4174490"/>
            <a:ext cx="1627505" cy="435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简化译码表</a:t>
            </a: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完备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381000" y="1027430"/>
            <a:ext cx="8394065" cy="254063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1164590"/>
            <a:ext cx="806831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zh-CN"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</a:t>
            </a:r>
            <a:r>
              <a:rPr sz="24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一个能达到汉明界的码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称为完备码，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满足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76400" y="1828800"/>
          <a:ext cx="5958840" cy="94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3377565" imgH="482600" progId="Equation.KSEE3">
                  <p:embed/>
                </p:oleObj>
              </mc:Choice>
              <mc:Fallback>
                <p:oleObj name="" r:id="rId1" imgW="3377565" imgH="482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6400" y="1828800"/>
                        <a:ext cx="5958840" cy="946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515110" y="2896870"/>
            <a:ext cx="690181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其中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为码字数目,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是</a:t>
            </a:r>
            <a:r>
              <a:rPr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元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是码长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是纠错能力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4285" y="4686300"/>
            <a:ext cx="49784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特殊的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对于二元完备码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满足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06073" y="4517390"/>
          <a:ext cx="1501775" cy="897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3" imgW="850900" imgH="457200" progId="Equation.KSEE3">
                  <p:embed/>
                </p:oleObj>
              </mc:Choice>
              <mc:Fallback>
                <p:oleObj name="" r:id="rId3" imgW="850900" imgH="457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06073" y="4517390"/>
                        <a:ext cx="1501775" cy="897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汉明码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28725" y="3879215"/>
            <a:ext cx="697674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特殊的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对于二元汉明码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满足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)=(2</a:t>
            </a:r>
            <a:r>
              <a:rPr lang="en-US" altLang="zh-CN" sz="2400" i="1" baseline="30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-1, 2</a:t>
            </a:r>
            <a:r>
              <a:rPr lang="en-US" altLang="zh-CN" sz="2400" i="1" baseline="30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-1-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1170" y="2003425"/>
            <a:ext cx="8212455" cy="13258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42315" y="2067560"/>
            <a:ext cx="78860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en-US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元汉明码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Ham(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是参数为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的线性码，其中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	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=(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en-US" altLang="zh-CN" sz="2400" i="1" baseline="30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-1)/(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-1),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en-US" altLang="zh-CN" sz="2400" i="1" baseline="30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-1)/(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-1)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min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=3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73630" y="1110615"/>
            <a:ext cx="465518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汉明码是可以纠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个错的完备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码。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2635" y="4921885"/>
            <a:ext cx="787590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提示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为啥汉明码是完备码，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要根据完备码的定义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考虑。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汉明码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1170" y="1172210"/>
            <a:ext cx="8212455" cy="218059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86765" y="1263015"/>
            <a:ext cx="7554595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构造汉明码的两种方法：</a:t>
            </a:r>
            <a:endParaRPr lang="zh-CN" altLang="en-US" sz="2400" dirty="0">
              <a:ea typeface="黑体" panose="02010609060101010101" pitchFamily="49" charset="-122"/>
              <a:sym typeface="+mn-ea"/>
            </a:endParaRPr>
          </a:p>
          <a:p>
            <a:pPr lvl="1" algn="just">
              <a:lnSpc>
                <a:spcPct val="130000"/>
              </a:lnSpc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1)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构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造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阵的标准形式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=[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 I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], Q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是构造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后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剩下的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 i="1" baseline="30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-1-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列任意排列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ea typeface="黑体" panose="02010609060101010101" pitchFamily="49" charset="-122"/>
              <a:sym typeface="+mn-ea"/>
            </a:endParaRPr>
          </a:p>
          <a:p>
            <a:pPr lvl="1" algn="just">
              <a:lnSpc>
                <a:spcPct val="130000"/>
              </a:lnSpc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2)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阵的列是按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重表示的二进制数的顺序排列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23620" y="3663950"/>
            <a:ext cx="664146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4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举例：</a:t>
            </a:r>
            <a:r>
              <a:rPr 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(7, 4)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码的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阵的列为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001, 010, ... , 111,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即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47671" y="4495800"/>
          <a:ext cx="3232785" cy="1395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816100" imgH="711200" progId="Equation.KSEE3">
                  <p:embed/>
                </p:oleObj>
              </mc:Choice>
              <mc:Fallback>
                <p:oleObj name="" r:id="rId1" imgW="18161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47671" y="4495800"/>
                        <a:ext cx="3232785" cy="1395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44930" y="2112010"/>
            <a:ext cx="642493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谢谢聆听</a:t>
            </a:r>
            <a:endParaRPr lang="zh-CN" altLang="en-US" sz="80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ctr"/>
            <a:r>
              <a:rPr lang="zh-CN" altLang="en-US" sz="8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敬请</a:t>
            </a:r>
            <a:r>
              <a:rPr lang="zh-CN" altLang="en-US" sz="8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批评指正</a:t>
            </a:r>
            <a:endParaRPr lang="zh-CN" altLang="en-US" sz="80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815975" y="5354955"/>
            <a:ext cx="7437120" cy="8178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5485" y="104775"/>
            <a:ext cx="436181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根据生成矩阵计算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码字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3905" y="1069340"/>
            <a:ext cx="594614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假设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某线性分组码有如下的生成矩阵：</a:t>
            </a:r>
            <a:endParaRPr lang="en-US" altLang="zh-CN" sz="2400" baseline="-250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38083" y="1971040"/>
          <a:ext cx="4010025" cy="184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2273300" imgH="939800" progId="Equation.KSEE3">
                  <p:embed/>
                </p:oleObj>
              </mc:Choice>
              <mc:Fallback>
                <p:oleObj name="" r:id="rId1" imgW="2273300" imgH="939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083" y="1971040"/>
                        <a:ext cx="4010025" cy="184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90905" y="4294505"/>
            <a:ext cx="264668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若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=(1101)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，则</a:t>
            </a:r>
            <a:endParaRPr lang="en-US" altLang="zh-CN" sz="2400" baseline="-250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24200" y="4342765"/>
          <a:ext cx="4823460" cy="448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3" imgW="2298700" imgH="228600" progId="Equation.KSEE3">
                  <p:embed/>
                </p:oleObj>
              </mc:Choice>
              <mc:Fallback>
                <p:oleObj name="" r:id="rId3" imgW="22987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4342765"/>
                        <a:ext cx="4823460" cy="448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990600" y="5527675"/>
            <a:ext cx="751713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+mn-ea"/>
                <a:sym typeface="+mn-ea"/>
              </a:rPr>
              <a:t>做题方法：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根据公式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+…+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u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k-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进行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计算</a:t>
            </a: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5485" y="104775"/>
            <a:ext cx="4361815" cy="685800"/>
          </a:xfrm>
        </p:spPr>
        <p:txBody>
          <a:bodyPr/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Macwilliam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恒等式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9230" y="1121410"/>
            <a:ext cx="85401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609600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若将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与其对偶码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的重量分布分别记为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{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}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{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}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，又记多项式</a:t>
            </a:r>
            <a:endParaRPr lang="en-US" altLang="zh-CN" sz="2400" baseline="-250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95601" y="2436178"/>
          <a:ext cx="3181350" cy="847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1803400" imgH="431800" progId="Equation.KSEE3">
                  <p:embed/>
                </p:oleObj>
              </mc:Choice>
              <mc:Fallback>
                <p:oleObj name="" r:id="rId1" imgW="18034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5601" y="2436178"/>
                        <a:ext cx="3181350" cy="847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48995" y="3453130"/>
            <a:ext cx="723392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>
              <a:lnSpc>
                <a:spcPct val="11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那么多项式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z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z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之间满足如下关系：</a:t>
            </a:r>
            <a:endParaRPr lang="en-US" altLang="zh-CN" sz="2400" baseline="-250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84133" y="4187508"/>
          <a:ext cx="3758565" cy="84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3" imgW="1790700" imgH="431800" progId="Equation.KSEE3">
                  <p:embed/>
                </p:oleObj>
              </mc:Choice>
              <mc:Fallback>
                <p:oleObj name="" r:id="rId3" imgW="17907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4133" y="4187508"/>
                        <a:ext cx="3758565" cy="848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一致校验矩阵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0565" y="3230880"/>
            <a:ext cx="7797800" cy="215074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1695" y="3359150"/>
            <a:ext cx="744093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如果线性码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是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矩阵的零化空间，则对每一个重量为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的码矢，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中有相应的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列线性相关。反之，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中若有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列线性相关，那么就有相应的重量为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的一个码矢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71483" y="5443538"/>
          <a:ext cx="481457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705100" imgH="431800" progId="Equation.KSEE3">
                  <p:embed/>
                </p:oleObj>
              </mc:Choice>
              <mc:Fallback>
                <p:oleObj name="" r:id="rId1" imgW="27051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71483" y="5443538"/>
                        <a:ext cx="4814570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45565" y="5669915"/>
            <a:ext cx="17030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这是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由于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291465" y="1027430"/>
            <a:ext cx="8509635" cy="154559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2275" y="1089025"/>
            <a:ext cx="825627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zh-CN"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</a:t>
            </a:r>
            <a:r>
              <a:rPr sz="24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的生成矩阵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相对应有一个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	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en-US" altLang="zh-CN" sz="2400" err="1">
                <a:sym typeface="+mn-ea"/>
              </a:rPr>
              <a:t>×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阶矩阵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，它的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n-k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个行是码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的对偶空间的一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组基底，该矩阵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称为码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一致校验矩阵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sz="2400" dirty="0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85800" y="1219200"/>
            <a:ext cx="7797800" cy="26111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61695" y="1318895"/>
            <a:ext cx="734949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是一致校验矩阵为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线性码，对于汉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明重量为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的每个码矢，在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中都有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列，使得这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列的矢量和为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，反之，若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中存在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列，其矢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量和为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，则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中必有一个汉明重量为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l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的码矢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58210" y="104775"/>
            <a:ext cx="5419090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一致校验矩阵与汉明重量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0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举例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69645" y="876935"/>
            <a:ext cx="660146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特别的，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对于线性分组码，有如下定理：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1597025"/>
            <a:ext cx="7797800" cy="140779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1695" y="1696720"/>
            <a:ext cx="73494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线性码的最小码间距离等于非零码字的最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小汉明重量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00" y="3251835"/>
            <a:ext cx="8474075" cy="2896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例如：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={0000, 1010, 0101, 1111},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其中分组长度为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=4</a:t>
            </a:r>
            <a:r>
              <a:rPr lang="zh-CN" altLang="en-US" sz="2400" dirty="0">
                <a:latin typeface="Times New Roman" panose="02020603050405020304" pitchFamily="18" charset="0"/>
                <a:sym typeface="+mn-ea"/>
              </a:rPr>
              <a:t>，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计算码字之间的汉明距离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2400">
                <a:sym typeface="+mn-ea"/>
              </a:rPr>
              <a:t>   </a:t>
            </a:r>
            <a:r>
              <a:rPr lang="en-US" altLang="zh-CN" sz="2400">
                <a:sym typeface="+mn-ea"/>
              </a:rPr>
              <a:t>	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(0000, 1010) = 2, 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(0000, 0101) = 2,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   	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(0000, 1111) = 4, 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(1010, 0101) = 4,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   	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(1010, 1111) = 2, 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(0101, 1111) = 2.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该码的最小距离是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并且该码的最小重量也是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所以最小距离和最小重量是相等的。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18965" y="104775"/>
            <a:ext cx="445833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纠错和检错能力举例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00" y="1136015"/>
            <a:ext cx="847407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={000,111}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，码的最小距离是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，因此重量为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个错误图样可以被检测出来，即错误图样如果为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{011,101,110,001, 010,100}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，就可以被检测出来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6070" y="3378835"/>
            <a:ext cx="8474075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对于码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={001,110,101}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，码的最小距离是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，由于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-1=0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，所以我们什么都不能说。重量为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的错误图样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010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可以被检测出来，但是该码不能检测所有重量为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的错误图样，比如错误图样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100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就不能被检测出来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一致校验矩阵与码间最小距离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00" y="909320"/>
            <a:ext cx="847407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令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是一致校验矩阵为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的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8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8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线性码：</a:t>
            </a:r>
            <a:endParaRPr lang="zh-CN" altLang="en-US" sz="2800"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1)</a:t>
            </a:r>
            <a:r>
              <a:rPr lang="en-US" altLang="zh-CN" sz="280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若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中没有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列或者更少的列矢量和为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，则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的最小码间距离至少为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;</a:t>
            </a:r>
            <a:endParaRPr lang="en-US" altLang="zh-CN" sz="2800" i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2)</a:t>
            </a:r>
            <a:r>
              <a:rPr lang="en-US" altLang="zh-CN" sz="280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的最小码间距离等于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中和为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的最小列数。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构造标准阵的步骤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00" y="909320"/>
            <a:ext cx="847407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步骤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在第一行写下所有合法的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i="1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个码字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={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v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2^</a:t>
            </a:r>
            <a:r>
              <a:rPr lang="en-US" altLang="zh-CN" sz="2400" i="1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，第一个码字为全零码字；</a:t>
            </a:r>
            <a:endParaRPr lang="zh-CN" altLang="en-US" sz="2400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步骤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选择一个第一行没有出现的矢量作为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，标准阵第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行写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；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步骤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继续选择一个第一行和第二行都没有出现的矢量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，标准阵第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行写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；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步骤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依次类推，直到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GF(2</a:t>
            </a:r>
            <a:r>
              <a:rPr lang="en-US" altLang="zh-CN" sz="2400" i="1" baseline="30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中所有的矢量都被列出来一次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陪集首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6395" y="876935"/>
            <a:ext cx="845375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609600" defTabSz="914400">
              <a:lnSpc>
                <a:spcPct val="12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对转移概率为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的二元对称信道而言，陪集首的重量分布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{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,…,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i="1" baseline="-250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}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与译码错误概率之间满足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2115" y="2806065"/>
            <a:ext cx="8126730" cy="197421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3870" y="2905760"/>
            <a:ext cx="796480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对码间最小距离为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线性码，重量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w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≤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-1)/2=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重都可以被用作标准阵的陪集首，并且至少有一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个重量为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+1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重不能作为陪集首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18791" y="1831658"/>
          <a:ext cx="2934970" cy="847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1663700" imgH="431800" progId="Equation.KSEE3">
                  <p:embed/>
                </p:oleObj>
              </mc:Choice>
              <mc:Fallback>
                <p:oleObj name="" r:id="rId1" imgW="16637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18791" y="1831658"/>
                        <a:ext cx="2934970" cy="847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30200" y="4989830"/>
            <a:ext cx="847407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注：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此定理再次表明了码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能纠正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个错误，但是不能纠正所有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  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+1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个错误。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5295" y="104775"/>
            <a:ext cx="334200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陪集的性质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8790" y="1140460"/>
            <a:ext cx="8126730" cy="41960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9435" y="1243330"/>
            <a:ext cx="796480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若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是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GF(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q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上的一个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线性码，则</a:t>
            </a:r>
            <a:endParaRPr lang="zh-CN" altLang="en-US" sz="2400" dirty="0">
              <a:ea typeface="黑体" panose="02010609060101010101" pitchFamily="49" charset="-122"/>
              <a:sym typeface="+mn-ea"/>
            </a:endParaRPr>
          </a:p>
          <a:p>
            <a:pPr lvl="1"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1)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长度为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的矢量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一定在码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的某个陪集中；</a:t>
            </a:r>
            <a:endParaRPr lang="zh-CN" altLang="en-US" sz="2400" dirty="0">
              <a:ea typeface="黑体" panose="02010609060101010101" pitchFamily="49" charset="-122"/>
              <a:sym typeface="+mn-ea"/>
            </a:endParaRPr>
          </a:p>
          <a:p>
            <a:pPr lvl="1"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2)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每个陪集都包含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q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个矢量；</a:t>
            </a:r>
            <a:endParaRPr lang="zh-CN" altLang="en-US" sz="2400" dirty="0">
              <a:ea typeface="黑体" panose="02010609060101010101" pitchFamily="49" charset="-122"/>
              <a:sym typeface="+mn-ea"/>
            </a:endParaRPr>
          </a:p>
          <a:p>
            <a:pPr lvl="1"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3)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两个陪集要么是不相交的要么就是重合的</a:t>
            </a:r>
            <a:r>
              <a:rPr lang="en-US" altLang="zh-CN" sz="2400">
                <a:ea typeface="黑体" panose="02010609060101010101" pitchFamily="49" charset="-122"/>
                <a:sym typeface="+mn-ea"/>
              </a:rPr>
              <a:t>(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即相互部分重叠是不可能的</a:t>
            </a:r>
            <a:r>
              <a:rPr lang="en-US" altLang="zh-CN" sz="2400"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；</a:t>
            </a:r>
            <a:endParaRPr lang="zh-CN" altLang="en-US" sz="2400" dirty="0">
              <a:ea typeface="黑体" panose="02010609060101010101" pitchFamily="49" charset="-122"/>
              <a:sym typeface="+mn-ea"/>
            </a:endParaRPr>
          </a:p>
          <a:p>
            <a:pPr lvl="1"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4)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如果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是码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的一个陪集，且有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，那么一定有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0445" y="104775"/>
            <a:ext cx="404685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陪集的性质定理的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证明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8790" y="1218565"/>
            <a:ext cx="8126730" cy="7861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9435" y="1243330"/>
            <a:ext cx="79648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1)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长度为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的矢量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一定在码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的某个陪集中；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5850" y="2193925"/>
            <a:ext cx="3115945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证明：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+0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∈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0225" y="3159125"/>
            <a:ext cx="8126730" cy="7861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0870" y="3183890"/>
            <a:ext cx="79648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2)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每个陪集都包含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q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个矢量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；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0225" y="4134485"/>
            <a:ext cx="804481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证明：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对于所有的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x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∈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由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x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→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x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定义的映射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→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是个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一一映射，所以陪集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中矢量的个数和码集中码矢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的个数相等，即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q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0445" y="104775"/>
            <a:ext cx="404685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陪集的性质定理的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证明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8790" y="1218565"/>
            <a:ext cx="8126730" cy="125412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9435" y="1243330"/>
            <a:ext cx="79648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3)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两个陪集要么是不相交的要么就是重合的</a:t>
            </a:r>
            <a:r>
              <a:rPr lang="en-US" altLang="zh-CN" sz="2400">
                <a:ea typeface="黑体" panose="02010609060101010101" pitchFamily="49" charset="-122"/>
                <a:sym typeface="+mn-ea"/>
              </a:rPr>
              <a:t>(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即相互部分重叠是不可能的</a:t>
            </a:r>
            <a:r>
              <a:rPr lang="en-US" altLang="zh-CN" sz="2400"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；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4180" y="2571750"/>
            <a:ext cx="8311515" cy="3448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3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证明：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反证法。假设陪集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是相交的，即它们至少有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一个向量是相同的，令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en-US" altLang="en-US" sz="2400" err="1">
                <a:latin typeface="Times New Roman" panose="02020603050405020304" pitchFamily="18" charset="0"/>
                <a:sym typeface="+mn-ea"/>
              </a:rPr>
              <a:t>∩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，那么对于任意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x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y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，有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x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y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b=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a+x+y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a+z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其中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z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，这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是根据码字集合的封闭性，两个码字之和仍然是一个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码字，因此，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a+z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a+C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z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或者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                    			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。类似的，还可以得到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                     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所以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)=(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71601" y="5029201"/>
          <a:ext cx="1837690" cy="42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1041400" imgH="215900" progId="Equation.KSEE3">
                  <p:embed/>
                </p:oleObj>
              </mc:Choice>
              <mc:Fallback>
                <p:oleObj name="" r:id="rId1" imgW="1041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1601" y="5029201"/>
                        <a:ext cx="1837690" cy="423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00801" y="5105401"/>
          <a:ext cx="1837690" cy="42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" imgW="1041400" imgH="215900" progId="Equation.KSEE3">
                  <p:embed/>
                </p:oleObj>
              </mc:Choice>
              <mc:Fallback>
                <p:oleObj name="" r:id="rId3" imgW="1041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0801" y="5105401"/>
                        <a:ext cx="1837690" cy="423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30445" y="104775"/>
            <a:ext cx="404685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陪集的性质定理的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证明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8790" y="1218565"/>
            <a:ext cx="8126730" cy="125412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9435" y="1243330"/>
            <a:ext cx="79648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5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定理：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4) 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如果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是码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的一个陪集，且有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，那么一定有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；</a:t>
            </a:r>
            <a:endParaRPr lang="zh-CN" altLang="en-US" sz="2400" err="1">
              <a:uFillTx/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0680" y="3100705"/>
            <a:ext cx="8526145" cy="2489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defTabSz="914400">
              <a:lnSpc>
                <a:spcPct val="13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证明：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由于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表明对于某个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x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sym typeface="+mn-ea"/>
              </a:rPr>
              <a:t>。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接下来，如果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b+y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sym typeface="+mn-ea"/>
              </a:rPr>
              <a:t>，那么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b+y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=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)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+y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+(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x+y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)∈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即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		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            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just" defTabSz="914400">
              <a:lnSpc>
                <a:spcPct val="13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另一方面，类似的，如果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a+z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sym typeface="+mn-ea"/>
              </a:rPr>
              <a:t>，那么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a+z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=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b+x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)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+z</a:t>
            </a:r>
            <a:endParaRPr lang="en-US" altLang="zh-CN" sz="2400" i="1" err="1">
              <a:latin typeface="Times New Roman" panose="02020603050405020304" pitchFamily="18" charset="0"/>
              <a:sym typeface="+mn-ea"/>
            </a:endParaRPr>
          </a:p>
          <a:p>
            <a:pPr algn="just" defTabSz="914400">
              <a:lnSpc>
                <a:spcPct val="130000"/>
              </a:lnSpc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	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b+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x+z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)∈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zh-CN" sz="2400" i="1"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,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即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因此，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400" err="1">
                <a:latin typeface="Times New Roman" panose="02020603050405020304" pitchFamily="18" charset="0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sym typeface="+mn-ea"/>
              </a:rPr>
              <a:t>C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70013" y="4110355"/>
          <a:ext cx="1842135" cy="42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1041400" imgH="215900" progId="Equation.KSEE3">
                  <p:embed/>
                </p:oleObj>
              </mc:Choice>
              <mc:Fallback>
                <p:oleObj name="" r:id="rId1" imgW="1041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0013" y="4110355"/>
                        <a:ext cx="1842135" cy="423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37331" y="5100956"/>
          <a:ext cx="1837690" cy="42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3" imgW="1041400" imgH="215900" progId="Equation.KSEE3">
                  <p:embed/>
                </p:oleObj>
              </mc:Choice>
              <mc:Fallback>
                <p:oleObj name="" r:id="rId3" imgW="1041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7331" y="5100956"/>
                        <a:ext cx="1837690" cy="423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伴随式译码方法的步骤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00" y="909320"/>
            <a:ext cx="847407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步骤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计算接收矢量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的伴随式</a:t>
            </a:r>
            <a:r>
              <a:rPr lang="en-US" altLang="zh-CN" sz="28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en-US" sz="2800" i="1" err="1">
                <a:latin typeface="Times New Roman" panose="02020603050405020304" pitchFamily="18" charset="0"/>
                <a:sym typeface="+mn-ea"/>
              </a:rPr>
              <a:t>·</a:t>
            </a:r>
            <a:r>
              <a:rPr lang="en-US" altLang="zh-CN" sz="28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8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zh-CN" altLang="en-US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；</a:t>
            </a:r>
            <a:endParaRPr lang="en-US" altLang="zh-CN" sz="2800"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步骤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确定伴随式等于</a:t>
            </a:r>
            <a:r>
              <a:rPr lang="en-US" altLang="zh-CN" sz="28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en-US" sz="2800" i="1" err="1">
                <a:latin typeface="Times New Roman" panose="02020603050405020304" pitchFamily="18" charset="0"/>
                <a:sym typeface="+mn-ea"/>
              </a:rPr>
              <a:t>·</a:t>
            </a:r>
            <a:r>
              <a:rPr lang="en-US" altLang="zh-CN" sz="28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8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对应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的陪集首</a:t>
            </a:r>
            <a:r>
              <a:rPr lang="en-US" altLang="zh-CN" sz="28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8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，然后假</a:t>
            </a:r>
            <a:r>
              <a:rPr lang="en-US" altLang="zh-CN" sz="2800" dirty="0">
                <a:ea typeface="黑体" panose="02010609060101010101" pitchFamily="49" charset="-122"/>
                <a:sym typeface="+mn-ea"/>
              </a:rPr>
              <a:t>		    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定</a:t>
            </a:r>
            <a:r>
              <a:rPr lang="en-US" altLang="zh-CN" sz="28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e</a:t>
            </a:r>
            <a:r>
              <a:rPr lang="en-US" altLang="zh-CN" sz="28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是信道引起的错误图样；</a:t>
            </a:r>
            <a:endParaRPr lang="zh-CN" altLang="en-US" sz="2800" i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步骤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3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将接收矢量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译码为码字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v=</a:t>
            </a:r>
            <a:r>
              <a:rPr lang="en-US" altLang="zh-CN" sz="28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r+e</a:t>
            </a:r>
            <a:r>
              <a:rPr lang="en-US" altLang="zh-CN" sz="28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8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线性码在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BSC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的不可检错误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概率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00" y="909320"/>
            <a:ext cx="744029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用码长和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最小距离计算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为信道转移概率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：</a:t>
            </a:r>
            <a:endParaRPr lang="zh-CN" altLang="en-US" sz="28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18883" y="1752600"/>
          <a:ext cx="2646045" cy="922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1498600" imgH="469900" progId="Equation.KSEE3">
                  <p:embed/>
                </p:oleObj>
              </mc:Choice>
              <mc:Fallback>
                <p:oleObj name="" r:id="rId1" imgW="1498600" imgH="469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8883" y="1752600"/>
                        <a:ext cx="2646045" cy="922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33683" y="1827213"/>
          <a:ext cx="2961005" cy="897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676400" imgH="457200" progId="Equation.KSEE3">
                  <p:embed/>
                </p:oleObj>
              </mc:Choice>
              <mc:Fallback>
                <p:oleObj name="" r:id="rId3" imgW="1676400" imgH="457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3683" y="1827213"/>
                        <a:ext cx="2961005" cy="897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235450" y="1716405"/>
            <a:ext cx="67945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或</a:t>
            </a:r>
            <a:endParaRPr lang="zh-CN" altLang="en-US" sz="28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1635" y="3076575"/>
            <a:ext cx="624078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用码的重量分布计算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800" i="1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为重量分布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：</a:t>
            </a:r>
            <a:endParaRPr lang="zh-CN" altLang="en-US" sz="28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95083" y="3962083"/>
          <a:ext cx="2331085" cy="84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5" imgW="1320165" imgH="431800" progId="Equation.KSEE3">
                  <p:embed/>
                </p:oleObj>
              </mc:Choice>
              <mc:Fallback>
                <p:oleObj name="" r:id="rId5" imgW="1320165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5083" y="3962083"/>
                        <a:ext cx="2331085" cy="848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329565" y="1027430"/>
            <a:ext cx="8445500" cy="254063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扩张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2125" y="891540"/>
            <a:ext cx="806132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28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线性扩张：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设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为一个长度为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且分量在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GF(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上的向量集合。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中所有向量的线性组合称为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的线性扩张，记为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&lt;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&gt;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。即线性扩张是由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生成的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GF(</a:t>
            </a:r>
            <a:r>
              <a:rPr lang="en-US" altLang="zh-CN" sz="28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en-US" altLang="zh-CN" sz="2800" i="1" baseline="30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8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的一个子空间。</a:t>
            </a:r>
            <a:endParaRPr lang="zh-CN" altLang="en-US" sz="28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1000" y="3886200"/>
            <a:ext cx="8474075" cy="2489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609600" algn="just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给定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GF(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en-US" altLang="zh-CN" sz="2400" i="1" baseline="3000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的任意子集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，可以得到一个由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生成的线性码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=&lt;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&gt;, 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它恰好包含下列码字：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1" algn="just">
              <a:lnSpc>
                <a:spcPct val="130000"/>
              </a:lnSpc>
            </a:pP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）全零码字；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1" algn="just">
              <a:lnSpc>
                <a:spcPct val="130000"/>
              </a:lnSpc>
            </a:pP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中所有的字；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1" algn="just">
              <a:lnSpc>
                <a:spcPct val="130000"/>
              </a:lnSpc>
            </a:pP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中两个或两个以上的字的所有线性组合。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扩展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72000" y="4271645"/>
          <a:ext cx="2298065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1422400" imgH="1091565" progId="Equation.KSEE3">
                  <p:embed/>
                </p:oleObj>
              </mc:Choice>
              <mc:Fallback>
                <p:oleObj name="" r:id="rId1" imgW="1422400" imgH="10915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0" y="4271645"/>
                        <a:ext cx="2298065" cy="176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内容占位符 2"/>
          <p:cNvSpPr txBox="1"/>
          <p:nvPr/>
        </p:nvSpPr>
        <p:spPr>
          <a:xfrm>
            <a:off x="305435" y="1003300"/>
            <a:ext cx="8445500" cy="263461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54150" y="2496185"/>
            <a:ext cx="704786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则称新构造的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+1,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*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为原码的扩展码，称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为奇偶校验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位。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48001" y="2073593"/>
          <a:ext cx="2691130" cy="449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3" imgW="1524000" imgH="228600" progId="Equation.KSEE3">
                  <p:embed/>
                </p:oleObj>
              </mc:Choice>
              <mc:Fallback>
                <p:oleObj name="" r:id="rId3" imgW="15240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1" y="2073593"/>
                        <a:ext cx="2691130" cy="449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467995" y="1018540"/>
            <a:ext cx="8169910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定义：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设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是二元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线性分组码，若对每一个码字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400" b="1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=(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,...,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i="1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增加一个校验位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。满足如下校验关系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47675" y="3756660"/>
            <a:ext cx="823595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508000" algn="l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若原</a:t>
            </a: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的校验矩阵为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，则可以得到扩展码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0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的校验矩阵为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</a:t>
            </a:r>
            <a:r>
              <a:rPr lang="en-US" altLang="zh-CN" sz="20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其最小距离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000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*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或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+1</a:t>
            </a:r>
            <a:endParaRPr lang="en-US" altLang="zh-CN" sz="20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删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余码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349250" y="1024890"/>
            <a:ext cx="8445500" cy="158178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2125" y="1042670"/>
            <a:ext cx="818959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删余码</a:t>
            </a: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：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将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二元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删去一个校验元得到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     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*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为原码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删余码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其最小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    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距离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*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或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增广码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349250" y="1024890"/>
            <a:ext cx="8445500" cy="161480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2125" y="1042670"/>
            <a:ext cx="806132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定义：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设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二元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没有全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码字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在它的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矩阵上增加一组全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行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得到生成矩阵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则称由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定义的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+1,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*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为原码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增广码或增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信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删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余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码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440180" y="3046730"/>
            <a:ext cx="6777355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与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增信删余码构造过程相反的码是增余删信码。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cs typeface="+mn-ea"/>
              <a:sym typeface="+mn-ea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400685" y="3872230"/>
            <a:ext cx="8445500" cy="215074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3560" y="3890010"/>
            <a:ext cx="8061325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定义：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设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二元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的最小汉明距离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为奇数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	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则其全体偶数重量的码字组成一个新的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*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分组码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称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为原码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增余删信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码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其最小距离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*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缩短码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325120" y="925195"/>
            <a:ext cx="8445500" cy="158178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7995" y="942975"/>
            <a:ext cx="820864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缩短码：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对于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二元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选出最高位码元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	   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=0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的全体码字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并去掉这一位得到一个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长的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    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新码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，称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为原码的缩短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码。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47675" y="2925445"/>
            <a:ext cx="8235950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609600" algn="l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反复使用缩短码的方法缩短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位后，就得到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缩短的线性分组码。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延长码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325120" y="1680845"/>
            <a:ext cx="8445500" cy="158178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7995" y="1698625"/>
            <a:ext cx="820864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延长码：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二元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先进行增广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再将得到的增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   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广码进行扩展，则最后的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+1,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扩展码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就称为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   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原码的延长码。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600200" y="936625"/>
            <a:ext cx="469392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与缩短码相反的就是延长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码。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3485515" y="2121535"/>
            <a:ext cx="2200275" cy="1267460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各类码之间的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关系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600200" y="1012190"/>
            <a:ext cx="299593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以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(7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,3,4)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汉明码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为例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18230" y="2121535"/>
            <a:ext cx="19932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扩展汉明码</a:t>
            </a:r>
            <a:endParaRPr lang="zh-CN" altLang="en-US" sz="20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(2</a:t>
            </a:r>
            <a:r>
              <a:rPr lang="en-US" altLang="zh-CN" sz="20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2</a:t>
            </a:r>
            <a:r>
              <a:rPr lang="en-US" altLang="zh-CN" sz="20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-1-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4)</a:t>
            </a:r>
            <a:endParaRPr lang="en-US" altLang="zh-CN" sz="20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如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(8, 8, 4)</a:t>
            </a:r>
            <a:endParaRPr lang="en-US" altLang="zh-CN" sz="20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345565" y="4439920"/>
            <a:ext cx="2200275" cy="1267460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78280" y="4439920"/>
            <a:ext cx="19932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汉明码</a:t>
            </a:r>
            <a:endParaRPr lang="zh-CN" altLang="en-US" sz="20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(2</a:t>
            </a:r>
            <a:r>
              <a:rPr lang="en-US" altLang="zh-CN" sz="20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-1, 2</a:t>
            </a:r>
            <a:r>
              <a:rPr lang="en-US" altLang="zh-CN" sz="20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-1-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3)</a:t>
            </a:r>
            <a:endParaRPr lang="en-US" altLang="zh-CN" sz="20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如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(7, 4, 3)</a:t>
            </a:r>
            <a:endParaRPr lang="en-US" altLang="zh-CN" sz="20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01640" y="4439920"/>
            <a:ext cx="2200275" cy="1267460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34355" y="4439920"/>
            <a:ext cx="19932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增余删</a:t>
            </a: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信汉明码</a:t>
            </a:r>
            <a:endParaRPr lang="zh-CN" altLang="en-US" sz="20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0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-1, 2</a:t>
            </a:r>
            <a:r>
              <a:rPr lang="en-US" altLang="zh-CN" sz="2000" i="1" baseline="30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-2-</a:t>
            </a:r>
            <a:r>
              <a:rPr lang="en-US" altLang="zh-CN" sz="20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4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endParaRPr lang="en-US" altLang="zh-CN" sz="20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如</a:t>
            </a:r>
            <a:r>
              <a:rPr lang="en-US" altLang="zh-CN" sz="2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(7, 3, 4)</a:t>
            </a:r>
            <a:endParaRPr lang="en-US" altLang="zh-CN" sz="20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5715000" y="3274060"/>
            <a:ext cx="1144905" cy="1078230"/>
          </a:xfrm>
          <a:prstGeom prst="straightConnector1">
            <a:avLst/>
          </a:prstGeom>
          <a:noFill/>
          <a:ln>
            <a:solidFill>
              <a:srgbClr val="00B0F0"/>
            </a:solidFill>
            <a:tailEnd type="arrow"/>
          </a:ln>
        </p:spPr>
      </p:cxnSp>
      <p:sp>
        <p:nvSpPr>
          <p:cNvPr id="10" name="文本框 9"/>
          <p:cNvSpPr txBox="1"/>
          <p:nvPr/>
        </p:nvSpPr>
        <p:spPr>
          <a:xfrm>
            <a:off x="6214745" y="3347720"/>
            <a:ext cx="644525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缩短</a:t>
            </a:r>
            <a:endParaRPr lang="zh-CN" altLang="en-US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5501640" y="3426460"/>
            <a:ext cx="942340" cy="975995"/>
          </a:xfrm>
          <a:prstGeom prst="straightConnector1">
            <a:avLst/>
          </a:prstGeom>
          <a:noFill/>
          <a:ln>
            <a:solidFill>
              <a:srgbClr val="7030A0"/>
            </a:solidFill>
            <a:tailEnd type="arrow"/>
          </a:ln>
        </p:spPr>
      </p:cxnSp>
      <p:sp>
        <p:nvSpPr>
          <p:cNvPr id="12" name="文本框 11"/>
          <p:cNvSpPr txBox="1"/>
          <p:nvPr/>
        </p:nvSpPr>
        <p:spPr>
          <a:xfrm>
            <a:off x="5375910" y="3778885"/>
            <a:ext cx="796290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延长</a:t>
            </a:r>
            <a:endParaRPr lang="zh-CN" altLang="en-US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2133600" y="3121660"/>
            <a:ext cx="1371600" cy="1295400"/>
          </a:xfrm>
          <a:prstGeom prst="straightConnector1">
            <a:avLst/>
          </a:prstGeom>
          <a:noFill/>
          <a:ln>
            <a:solidFill>
              <a:srgbClr val="7030A0"/>
            </a:solidFill>
            <a:tailEnd type="arrow"/>
          </a:ln>
        </p:spPr>
      </p:cxnSp>
      <p:sp>
        <p:nvSpPr>
          <p:cNvPr id="14" name="文本框 13"/>
          <p:cNvSpPr txBox="1"/>
          <p:nvPr/>
        </p:nvSpPr>
        <p:spPr>
          <a:xfrm>
            <a:off x="2253615" y="3376930"/>
            <a:ext cx="796290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扩展</a:t>
            </a:r>
            <a:endParaRPr lang="zh-CN" altLang="en-US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2819400" y="3401060"/>
            <a:ext cx="906780" cy="1016000"/>
          </a:xfrm>
          <a:prstGeom prst="straightConnector1">
            <a:avLst/>
          </a:prstGeom>
          <a:noFill/>
          <a:ln>
            <a:solidFill>
              <a:srgbClr val="00B0F0"/>
            </a:solidFill>
            <a:tailEnd type="arrow"/>
          </a:ln>
        </p:spPr>
      </p:cxnSp>
      <p:sp>
        <p:nvSpPr>
          <p:cNvPr id="16" name="文本框 15"/>
          <p:cNvSpPr txBox="1"/>
          <p:nvPr/>
        </p:nvSpPr>
        <p:spPr>
          <a:xfrm>
            <a:off x="3319145" y="3701415"/>
            <a:ext cx="644525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删</a:t>
            </a:r>
            <a:r>
              <a:rPr lang="zh-CN" altLang="en-US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余</a:t>
            </a:r>
            <a:endParaRPr lang="zh-CN" altLang="en-US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581400" y="5257800"/>
            <a:ext cx="1905635" cy="5715"/>
          </a:xfrm>
          <a:prstGeom prst="straightConnector1">
            <a:avLst/>
          </a:prstGeom>
          <a:noFill/>
          <a:ln>
            <a:solidFill>
              <a:srgbClr val="00B0F0"/>
            </a:solidFill>
            <a:tailEnd type="arrow"/>
          </a:ln>
        </p:spPr>
      </p:cxnSp>
      <p:sp>
        <p:nvSpPr>
          <p:cNvPr id="18" name="文本框 17"/>
          <p:cNvSpPr txBox="1"/>
          <p:nvPr/>
        </p:nvSpPr>
        <p:spPr>
          <a:xfrm>
            <a:off x="4277360" y="5188585"/>
            <a:ext cx="644525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删</a:t>
            </a:r>
            <a:r>
              <a:rPr lang="zh-CN" altLang="en-US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信</a:t>
            </a:r>
            <a:endParaRPr lang="zh-CN" altLang="en-US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3581400" y="4874260"/>
            <a:ext cx="1905000" cy="2540"/>
          </a:xfrm>
          <a:prstGeom prst="straightConnector1">
            <a:avLst/>
          </a:prstGeom>
          <a:noFill/>
          <a:ln>
            <a:solidFill>
              <a:srgbClr val="7030A0"/>
            </a:solidFill>
            <a:tailEnd type="arrow"/>
          </a:ln>
        </p:spPr>
      </p:cxnSp>
      <p:sp>
        <p:nvSpPr>
          <p:cNvPr id="20" name="文本框 19"/>
          <p:cNvSpPr txBox="1"/>
          <p:nvPr/>
        </p:nvSpPr>
        <p:spPr>
          <a:xfrm>
            <a:off x="4328795" y="4408805"/>
            <a:ext cx="644525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增信</a:t>
            </a:r>
            <a:endParaRPr lang="zh-CN" altLang="en-US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直和码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325120" y="925195"/>
            <a:ext cx="8445500" cy="170116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10845" y="942975"/>
            <a:ext cx="820864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定义：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设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分别是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二元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	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且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∩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=</a:t>
            </a:r>
            <a:r>
              <a:rPr lang="zh-CN" altLang="en-US" sz="240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∅</a:t>
            </a:r>
            <a:r>
              <a:rPr lang="en-US" altLang="zh-CN" sz="240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则定义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的直和码</a:t>
            </a:r>
            <a:r>
              <a:rPr lang="zh-CN" altLang="en-US" sz="2400" i="1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是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86978" y="1981200"/>
          <a:ext cx="405574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2298700" imgH="254000" progId="Equation.KSEE3">
                  <p:embed/>
                </p:oleObj>
              </mc:Choice>
              <mc:Fallback>
                <p:oleObj name="" r:id="rId1" imgW="2298700" imgH="2540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6978" y="1981200"/>
                        <a:ext cx="4055745" cy="49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52195" y="3303270"/>
            <a:ext cx="460502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不难推导出直和码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的生成矩阵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67351" y="3123883"/>
          <a:ext cx="1075690" cy="94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609600" imgH="482600" progId="Equation.KSEE3">
                  <p:embed/>
                </p:oleObj>
              </mc:Choice>
              <mc:Fallback>
                <p:oleObj name="" r:id="rId3" imgW="609600" imgH="482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67351" y="3123883"/>
                        <a:ext cx="1075690" cy="94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23545" y="4412615"/>
            <a:ext cx="834771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609600" algn="l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由该生成矩阵可生成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其最小汉明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距离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18883" y="5105083"/>
          <a:ext cx="1703705" cy="42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5" imgW="965200" imgH="215900" progId="Equation.KSEE3">
                  <p:embed/>
                </p:oleObj>
              </mc:Choice>
              <mc:Fallback>
                <p:oleObj name="" r:id="rId5" imgW="9652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8883" y="5105083"/>
                        <a:ext cx="1703705" cy="424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笛卡尔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积码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325120" y="925195"/>
            <a:ext cx="8445500" cy="170116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10845" y="942975"/>
            <a:ext cx="826706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定义：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设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分别是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二元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	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则定义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的笛卡尔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积码</a:t>
            </a:r>
            <a:r>
              <a:rPr lang="zh-CN" altLang="en-US" sz="2400" i="1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是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20316" y="1981200"/>
          <a:ext cx="398907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2260600" imgH="254000" progId="Equation.KSEE3">
                  <p:embed/>
                </p:oleObj>
              </mc:Choice>
              <mc:Fallback>
                <p:oleObj name="" r:id="rId1" imgW="2260600" imgH="2540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20316" y="1981200"/>
                        <a:ext cx="3989070" cy="49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52195" y="3303270"/>
            <a:ext cx="460502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笛卡尔积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的生成矩阵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48201" y="3124518"/>
          <a:ext cx="1591310" cy="94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901700" imgH="482600" progId="Equation.KSEE3">
                  <p:embed/>
                </p:oleObj>
              </mc:Choice>
              <mc:Fallback>
                <p:oleObj name="" r:id="rId3" imgW="901700" imgH="482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8201" y="3124518"/>
                        <a:ext cx="1591310" cy="94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20650" y="4419600"/>
            <a:ext cx="83477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609600" algn="l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由该生成矩阵可生成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min{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})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链接码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325120" y="925195"/>
            <a:ext cx="8445500" cy="208216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10845" y="942975"/>
            <a:ext cx="826706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定义：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设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分别是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二元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	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且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则定义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的链接码</a:t>
            </a:r>
            <a:r>
              <a:rPr lang="zh-CN" altLang="en-US" sz="2400" i="1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的生成矩阵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为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2195" y="3303270"/>
            <a:ext cx="460502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笛卡尔积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码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的生成矩阵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70936" y="1992948"/>
          <a:ext cx="1412240" cy="94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800100" imgH="482600" progId="Equation.KSEE3">
                  <p:embed/>
                </p:oleObj>
              </mc:Choice>
              <mc:Fallback>
                <p:oleObj name="" r:id="rId1" imgW="800100" imgH="482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70936" y="1992948"/>
                        <a:ext cx="1412240" cy="94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20650" y="4419600"/>
            <a:ext cx="83477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609600" algn="l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由该生成矩阵可生成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+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min{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})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5120" y="3587750"/>
            <a:ext cx="8450580" cy="15367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直积码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325120" y="848360"/>
            <a:ext cx="8445500" cy="257175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10845" y="3587750"/>
            <a:ext cx="826706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直积码：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设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分别是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二元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   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码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则定义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的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直积码</a:t>
            </a:r>
            <a:r>
              <a:rPr lang="zh-CN" altLang="en-US" sz="2400" i="1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是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58403" y="4625975"/>
          <a:ext cx="410146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2324100" imgH="254000" progId="Equation.KSEE3">
                  <p:embed/>
                </p:oleObj>
              </mc:Choice>
              <mc:Fallback>
                <p:oleObj name="" r:id="rId1" imgW="2324100" imgH="2540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58403" y="4625975"/>
                        <a:ext cx="4101465" cy="49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354455" y="2849880"/>
            <a:ext cx="6022975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称为两个矩阵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A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B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的直积或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Kronecker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积。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cs typeface="+mn-ea"/>
              <a:sym typeface="+mn-ea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33801" y="5862003"/>
          <a:ext cx="1366520" cy="42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774065" imgH="215900" progId="Equation.KSEE3">
                  <p:embed/>
                </p:oleObj>
              </mc:Choice>
              <mc:Fallback>
                <p:oleObj name="" r:id="rId3" imgW="774065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33801" y="5862003"/>
                        <a:ext cx="1366520" cy="424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02665" y="5175250"/>
            <a:ext cx="7315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直积码</a:t>
            </a:r>
            <a:r>
              <a:rPr lang="zh-CN" altLang="en-US" sz="2400" i="1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C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是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k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生成矩阵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280" y="843280"/>
            <a:ext cx="826706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24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直积：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设</a:t>
            </a:r>
            <a:r>
              <a:rPr lang="en-US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A=</a:t>
            </a:r>
            <a:r>
              <a:rPr 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sz="2400" i="1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ij</a:t>
            </a:r>
            <a:r>
              <a:rPr 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×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q</a:t>
            </a:r>
            <a:r>
              <a:rPr lang="en-US" altLang="zh-CN" sz="2400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维矩阵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、</a:t>
            </a:r>
            <a:r>
              <a:rPr lang="en-US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B=</a:t>
            </a:r>
            <a:r>
              <a:rPr 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en-US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ij</a:t>
            </a:r>
            <a:r>
              <a:rPr 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为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×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q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维矩阵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则矩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	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×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q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q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维矩阵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91001" y="1479233"/>
          <a:ext cx="226568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5" imgW="1282700" imgH="736600" progId="Equation.KSEE3">
                  <p:embed/>
                </p:oleObj>
              </mc:Choice>
              <mc:Fallback>
                <p:oleObj name="" r:id="rId5" imgW="1282700" imgH="736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1001" y="1479233"/>
                        <a:ext cx="226568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400685" y="3560445"/>
            <a:ext cx="8445500" cy="259778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交织码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68630" y="1163320"/>
            <a:ext cx="8143240" cy="1770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711200" algn="l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大多数</a:t>
            </a:r>
            <a:r>
              <a:rPr lang="zh-CN" altLang="en-US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线性分组码都是用来纠正随机错误</a:t>
            </a:r>
            <a:r>
              <a:rPr lang="zh-CN" altLang="en-US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。但是在有些信道中，如衰落信道，衰落严重时，就会发生一连串的连续错误，这种错误具有突发性。</a:t>
            </a:r>
            <a:endParaRPr lang="zh-CN" altLang="en-US" sz="28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9265" y="3708400"/>
            <a:ext cx="8425815" cy="233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80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交织码的思想：</a:t>
            </a:r>
            <a:r>
              <a:rPr lang="zh-CN" altLang="en-US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通过数据交织使得突发错误在一定</a:t>
            </a:r>
            <a:r>
              <a:rPr lang="en-US" altLang="zh-CN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	</a:t>
            </a:r>
            <a:r>
              <a:rPr lang="zh-CN" altLang="en-US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程度上转变为随机错误</a:t>
            </a:r>
            <a:r>
              <a:rPr lang="en-US" altLang="zh-CN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并且使原来的突发错误分布在多个码字之间</a:t>
            </a:r>
            <a:r>
              <a:rPr lang="en-US" altLang="zh-CN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8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这样就可以用纠正随机错误的编码纠正突发错误。</a:t>
            </a:r>
            <a:endParaRPr lang="zh-CN" altLang="en-US" sz="28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交织码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0200" y="909320"/>
            <a:ext cx="8474075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交织码的编码和译码方法如下：</a:t>
            </a:r>
            <a:endParaRPr lang="zh-CN" altLang="en-US" sz="2800" dirty="0"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1)</a:t>
            </a:r>
            <a:r>
              <a:rPr lang="en-US" altLang="zh-CN" sz="280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将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分组码的码字，按每个码字为一行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排列成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行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列的码矩阵的形式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;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2)</a:t>
            </a:r>
            <a:r>
              <a:rPr lang="en-US" altLang="zh-CN" sz="280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按列将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码阵中的元素读出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并送入信道发送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;</a:t>
            </a:r>
            <a:endParaRPr lang="zh-CN" altLang="en-US" sz="2800" dirty="0">
              <a:solidFill>
                <a:schemeClr val="tx1"/>
              </a:solidFill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3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en-US" altLang="zh-CN" sz="2800"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800">
                <a:ea typeface="黑体" panose="02010609060101010101" pitchFamily="49" charset="-122"/>
                <a:sym typeface="+mn-ea"/>
              </a:rPr>
              <a:t>接收端收到接收字后，按接收顺序以每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zh-CN" altLang="en-US" sz="2800">
                <a:ea typeface="黑体" panose="02010609060101010101" pitchFamily="49" charset="-122"/>
                <a:sym typeface="+mn-ea"/>
              </a:rPr>
              <a:t>元素为一列排列成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行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列的矩阵</a:t>
            </a:r>
            <a:r>
              <a:rPr lang="zh-CN" altLang="en-US" sz="2800">
                <a:ea typeface="黑体" panose="02010609060101010101" pitchFamily="49" charset="-122"/>
                <a:sym typeface="+mn-ea"/>
              </a:rPr>
              <a:t>；</a:t>
            </a:r>
            <a:endParaRPr lang="zh-CN" altLang="en-US" sz="2800">
              <a:ea typeface="黑体" panose="02010609060101010101" pitchFamily="49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lang="en-US" altLang="zh-CN" sz="2800"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800">
                <a:ea typeface="黑体" panose="02010609060101010101" pitchFamily="49" charset="-122"/>
                <a:sym typeface="+mn-ea"/>
              </a:rPr>
              <a:t>按接收码阵的每一行</a:t>
            </a:r>
            <a:r>
              <a:rPr lang="en-US" altLang="zh-CN" sz="2800"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800">
                <a:ea typeface="黑体" panose="02010609060101010101" pitchFamily="49" charset="-122"/>
                <a:sym typeface="+mn-ea"/>
              </a:rPr>
              <a:t>用相应的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分组码的译码方法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进行译码。</a:t>
            </a:r>
            <a:endParaRPr lang="zh-CN" altLang="en-US"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9925" y="104775"/>
            <a:ext cx="5667375" cy="685800"/>
          </a:xfrm>
        </p:spPr>
        <p:txBody>
          <a:bodyPr/>
          <a:lstStyle/>
          <a:p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Hadamard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码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325120" y="848360"/>
            <a:ext cx="8445500" cy="152527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zh-CN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2110" y="3378835"/>
            <a:ext cx="310261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=2, </a:t>
            </a:r>
            <a:r>
              <a:rPr 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Hadamard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矩阵为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cs typeface="+mn-ea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2280" y="843280"/>
            <a:ext cx="826706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30000"/>
              </a:lnSpc>
            </a:pPr>
            <a:r>
              <a:rPr 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Hadamard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矩阵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400" i="1" baseline="-250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是个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×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的二元矩阵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且任意一行与其他的行中有</a:t>
            </a:r>
            <a:r>
              <a:rPr lang="en-US" altLang="zh-CN" sz="2400" i="1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/2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个位置不同。其中一行全为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，其余的行有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/2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0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/2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err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54388" y="3269933"/>
          <a:ext cx="1458595" cy="899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" imgW="825500" imgH="457200" progId="Equation.KSEE3">
                  <p:embed/>
                </p:oleObj>
              </mc:Choice>
              <mc:Fallback>
                <p:oleObj name="" r:id="rId1" imgW="825500" imgH="457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4388" y="3269933"/>
                        <a:ext cx="1458595" cy="899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72110" y="2581275"/>
            <a:ext cx="426466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从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可以按下面的规则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构造出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cs typeface="+mn-ea"/>
              <a:sym typeface="+mn-ea"/>
            </a:endParaRPr>
          </a:p>
        </p:txBody>
      </p:sp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498341" y="2447291"/>
          <a:ext cx="204216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3" imgW="1155700" imgH="482600" progId="Equation.KSEE3">
                  <p:embed/>
                </p:oleObj>
              </mc:Choice>
              <mc:Fallback>
                <p:oleObj name="" r:id="rId3" imgW="1155700" imgH="482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8341" y="2447291"/>
                        <a:ext cx="2042160" cy="949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7237730" y="2522855"/>
            <a:ext cx="153289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609600" algn="l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通过将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400" i="1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中的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0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和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1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互反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得到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cs typeface="+mn-ea"/>
              <a:sym typeface="+mn-ea"/>
            </a:endParaRPr>
          </a:p>
        </p:txBody>
      </p:sp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91400" y="2592070"/>
          <a:ext cx="497840" cy="474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5" imgW="241300" imgH="241300" progId="Equation.KSEE3">
                  <p:embed/>
                </p:oleObj>
              </mc:Choice>
              <mc:Fallback>
                <p:oleObj name="" r:id="rId5" imgW="2413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91400" y="2592070"/>
                        <a:ext cx="497840" cy="474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323850" y="4690745"/>
            <a:ext cx="2073275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从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400" baseline="-250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可以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cs typeface="+mn-ea"/>
                <a:sym typeface="+mn-ea"/>
              </a:rPr>
              <a:t>得到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cs typeface="+mn-ea"/>
              <a:sym typeface="+mn-ea"/>
            </a:endParaRPr>
          </a:p>
        </p:txBody>
      </p:sp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74266" y="4192588"/>
          <a:ext cx="4443730" cy="179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7" imgW="2514600" imgH="914400" progId="Equation.KSEE3">
                  <p:embed/>
                </p:oleObj>
              </mc:Choice>
              <mc:Fallback>
                <p:oleObj name="" r:id="rId7" imgW="2514600" imgH="914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74266" y="4192588"/>
                        <a:ext cx="4443730" cy="1798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279400" y="5981700"/>
            <a:ext cx="820039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这两个矩阵的行构成一个长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=4, 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有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400" i="1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lang="en-US" altLang="zh-CN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=8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个码字的线性二元</a:t>
            </a:r>
            <a:r>
              <a:rPr lang="zh-CN" altLang="en-US" sz="2400" err="1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码</a:t>
            </a:r>
            <a:endParaRPr lang="zh-CN" altLang="en-US" sz="2400" err="1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285*335"/>
  <p:tag name="TABLE_ENDDRAG_RECT" val="386*163*285*335"/>
</p:tagLst>
</file>

<file path=ppt/tags/tag2.xml><?xml version="1.0" encoding="utf-8"?>
<p:tagLst xmlns:p="http://schemas.openxmlformats.org/presentationml/2006/main">
  <p:tag name="KSO_WM_UNIT_TABLE_BEAUTIFY" val="smartTable{04374be0-1721-43b2-92c3-526662f8235b}"/>
  <p:tag name="TABLE_ENDDRAG_ORIGIN_RECT" val="363*100"/>
  <p:tag name="TABLE_ENDDRAG_RECT" val="102*347*363*100"/>
</p:tagLst>
</file>

<file path=ppt/tags/tag3.xml><?xml version="1.0" encoding="utf-8"?>
<p:tagLst xmlns:p="http://schemas.openxmlformats.org/presentationml/2006/main">
  <p:tag name="COMMONDATA" val="eyJoZGlkIjoiYTU3MjAzOGI1ZWM1NjI3YTE0MjIzZDIwNTMwM2NhZjEifQ==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华文中宋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orronto 0110">
  <a:themeElements>
    <a:clrScheme name="Sorronto 0110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orronto 0110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>
          <a:solidFill>
            <a:srgbClr val="0070C0"/>
          </a:solidFill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Char char="v"/>
          <a:defRPr kumimoji="1" lang="en-US" sz="2800" b="0" i="0" u="none" strike="noStrike" cap="none" normalizeH="0" baseline="0" smtClean="0">
            <a:ln>
              <a:noFill/>
            </a:ln>
            <a:solidFill>
              <a:srgbClr val="336699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  <a:txDef>
      <a:spPr>
        <a:noFill/>
      </a:spPr>
      <a:bodyPr wrap="square" rtlCol="0" anchor="t">
        <a:spAutoFit/>
      </a:bodyPr>
      <a:lstStyle>
        <a:defPPr>
          <a:defRPr lang="zh-CN" altLang="en-US" b="1" dirty="0">
            <a:solidFill>
              <a:schemeClr val="accent2"/>
            </a:solidFill>
            <a:latin typeface="黑体" panose="02010609060101010101" pitchFamily="49" charset="-122"/>
            <a:ea typeface="黑体" panose="02010609060101010101" pitchFamily="49" charset="-122"/>
            <a:sym typeface="+mn-ea"/>
          </a:defRPr>
        </a:defPPr>
      </a:lstStyle>
    </a:txDef>
  </a:objectDefaults>
  <a:extraClrSchemeLst>
    <a:extraClrScheme>
      <a:clrScheme name="Sorronto 0110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rronto 0110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rronto 0110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rronto 0110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rronto 0110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rronto 0110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rronto 0110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9670</Words>
  <Application>WPS 演示</Application>
  <PresentationFormat>全屏显示(4:3)</PresentationFormat>
  <Paragraphs>605</Paragraphs>
  <Slides>61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44</vt:i4>
      </vt:variant>
      <vt:variant>
        <vt:lpstr>幻灯片标题</vt:lpstr>
      </vt:variant>
      <vt:variant>
        <vt:i4>61</vt:i4>
      </vt:variant>
    </vt:vector>
  </HeadingPairs>
  <TitlesOfParts>
    <vt:vector size="122" baseType="lpstr">
      <vt:lpstr>Arial</vt:lpstr>
      <vt:lpstr>宋体</vt:lpstr>
      <vt:lpstr>Wingdings</vt:lpstr>
      <vt:lpstr>Calibri</vt:lpstr>
      <vt:lpstr>华文中宋</vt:lpstr>
      <vt:lpstr>黑体</vt:lpstr>
      <vt:lpstr>FuturaA Md BT</vt:lpstr>
      <vt:lpstr>Segoe Print</vt:lpstr>
      <vt:lpstr>隶书</vt:lpstr>
      <vt:lpstr>Times New Roman</vt:lpstr>
      <vt:lpstr>楷体</vt:lpstr>
      <vt:lpstr>微软雅黑</vt:lpstr>
      <vt:lpstr>Arial Unicode MS</vt:lpstr>
      <vt:lpstr>1_自定义设计方案</vt:lpstr>
      <vt:lpstr>自定义设计方案</vt:lpstr>
      <vt:lpstr>1_默认设计模板</vt:lpstr>
      <vt:lpstr>Sorronto 0110</vt:lpstr>
      <vt:lpstr>Paint.Picture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第三章 线性分组码</vt:lpstr>
      <vt:lpstr>内容提要</vt:lpstr>
      <vt:lpstr>课堂思政</vt:lpstr>
      <vt:lpstr>分组码</vt:lpstr>
      <vt:lpstr>线性分组码</vt:lpstr>
      <vt:lpstr>生成矩阵</vt:lpstr>
      <vt:lpstr>一致校验(监督)矩阵</vt:lpstr>
      <vt:lpstr>线性系统分组码</vt:lpstr>
      <vt:lpstr>一致校验方程</vt:lpstr>
      <vt:lpstr>对偶码</vt:lpstr>
      <vt:lpstr>系统码的一致校验矩阵</vt:lpstr>
      <vt:lpstr>伴随式</vt:lpstr>
      <vt:lpstr>伴随式纠错</vt:lpstr>
      <vt:lpstr>伴随式纠错</vt:lpstr>
      <vt:lpstr>伴随式纠错</vt:lpstr>
      <vt:lpstr>汉明重量</vt:lpstr>
      <vt:lpstr>汉明距离</vt:lpstr>
      <vt:lpstr>距离分布</vt:lpstr>
      <vt:lpstr>纠错和检错能力</vt:lpstr>
      <vt:lpstr>最大距离可分码</vt:lpstr>
      <vt:lpstr>标准阵</vt:lpstr>
      <vt:lpstr>标准阵的性质</vt:lpstr>
      <vt:lpstr>陪集</vt:lpstr>
      <vt:lpstr>基于标准阵的译码方法</vt:lpstr>
      <vt:lpstr>最小距离译码方法</vt:lpstr>
      <vt:lpstr>基于标准阵的译码方法的缺点</vt:lpstr>
      <vt:lpstr>伴随式译码</vt:lpstr>
      <vt:lpstr>伴随式译码举例</vt:lpstr>
      <vt:lpstr>完备码</vt:lpstr>
      <vt:lpstr>汉明码</vt:lpstr>
      <vt:lpstr>汉明码</vt:lpstr>
      <vt:lpstr>PowerPoint 演示文稿</vt:lpstr>
      <vt:lpstr>根据生成矩阵计算码字</vt:lpstr>
      <vt:lpstr>Macwilliam恒等式</vt:lpstr>
      <vt:lpstr>一致校验矩阵</vt:lpstr>
      <vt:lpstr>一致校验矩阵与汉明重量</vt:lpstr>
      <vt:lpstr>举例</vt:lpstr>
      <vt:lpstr>纠错和检错能力举例</vt:lpstr>
      <vt:lpstr>一致校验矩阵与码间最小距离</vt:lpstr>
      <vt:lpstr>构造标准阵的步骤</vt:lpstr>
      <vt:lpstr>陪集首</vt:lpstr>
      <vt:lpstr>陪集的性质</vt:lpstr>
      <vt:lpstr>陪集的性质定理的证明</vt:lpstr>
      <vt:lpstr>陪集的性质定理的证明</vt:lpstr>
      <vt:lpstr>陪集的性质定理的证明</vt:lpstr>
      <vt:lpstr>伴随式译码方法的步骤</vt:lpstr>
      <vt:lpstr>线性码在BSC的不可检错误概率</vt:lpstr>
      <vt:lpstr>扩张码</vt:lpstr>
      <vt:lpstr>扩展码</vt:lpstr>
      <vt:lpstr>删余码</vt:lpstr>
      <vt:lpstr>增广码</vt:lpstr>
      <vt:lpstr>缩短码</vt:lpstr>
      <vt:lpstr>延长码</vt:lpstr>
      <vt:lpstr>各类码之间的关系</vt:lpstr>
      <vt:lpstr>直和码</vt:lpstr>
      <vt:lpstr>笛卡尔积码</vt:lpstr>
      <vt:lpstr>链接码</vt:lpstr>
      <vt:lpstr>直积码</vt:lpstr>
      <vt:lpstr>交织码</vt:lpstr>
      <vt:lpstr>交织码</vt:lpstr>
      <vt:lpstr>Hadamard码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wjt</dc:creator>
  <cp:lastModifiedBy>无</cp:lastModifiedBy>
  <cp:revision>1273</cp:revision>
  <cp:lastPrinted>2016-01-06T13:31:00Z</cp:lastPrinted>
  <dcterms:created xsi:type="dcterms:W3CDTF">2014-12-11T02:08:00Z</dcterms:created>
  <dcterms:modified xsi:type="dcterms:W3CDTF">2023-10-11T02:06:35Z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2052-12.1.0.15404</vt:lpwstr>
  </property>
  <property fmtid="{D5CDD505-2E9C-101B-9397-08002B2CF9AE}" pid="4" name="ICV">
    <vt:lpwstr>0165D40C99FA40C2880AFB5C89F920D0</vt:lpwstr>
  </property>
</Properties>
</file>